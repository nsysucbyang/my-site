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7" r:id="rId2"/>
    <p:sldId id="258" r:id="rId3"/>
    <p:sldId id="397" r:id="rId4"/>
    <p:sldId id="260" r:id="rId5"/>
    <p:sldId id="398" r:id="rId6"/>
    <p:sldId id="399" r:id="rId7"/>
    <p:sldId id="400" r:id="rId8"/>
    <p:sldId id="401" r:id="rId9"/>
    <p:sldId id="402" r:id="rId10"/>
    <p:sldId id="355" r:id="rId11"/>
    <p:sldId id="395" r:id="rId12"/>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300" autoAdjust="0"/>
  </p:normalViewPr>
  <p:slideViewPr>
    <p:cSldViewPr>
      <p:cViewPr varScale="1">
        <p:scale>
          <a:sx n="52" d="100"/>
          <a:sy n="52" d="100"/>
        </p:scale>
        <p:origin x="1926" y="78"/>
      </p:cViewPr>
      <p:guideLst>
        <p:guide orient="horz" pos="2160"/>
        <p:guide pos="2880"/>
      </p:guideLst>
    </p:cSldViewPr>
  </p:slideViewPr>
  <p:notesTextViewPr>
    <p:cViewPr>
      <p:scale>
        <a:sx n="115" d="100"/>
        <a:sy n="11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EC598C-8F50-4D8A-A257-9F9A3D6EE20F}" type="datetimeFigureOut">
              <a:rPr lang="zh-TW" altLang="en-US" smtClean="0"/>
              <a:pPr/>
              <a:t>2021/3/2</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5A18BCC-D1EA-4D8A-929C-D092EA2B4393}"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Journal of Internet Technology </a:t>
            </a:r>
            <a:r>
              <a:rPr lang="zh-TW" altLang="en-US" dirty="0"/>
              <a:t>網際網路技術學刊 </a:t>
            </a:r>
            <a:r>
              <a:rPr lang="en-US" altLang="zh-TW" dirty="0"/>
              <a:t>2009</a:t>
            </a:r>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1</a:t>
            </a:fld>
            <a:endParaRPr lang="zh-TW" altLang="en-US"/>
          </a:p>
        </p:txBody>
      </p:sp>
    </p:spTree>
    <p:extLst>
      <p:ext uri="{BB962C8B-B14F-4D97-AF65-F5344CB8AC3E}">
        <p14:creationId xmlns:p14="http://schemas.microsoft.com/office/powerpoint/2010/main" val="2703819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en-US" altLang="zh-TW" sz="1200" dirty="0">
                <a:latin typeface="Times New Roman" pitchFamily="18" charset="0"/>
                <a:cs typeface="Times New Roman" pitchFamily="18" charset="0"/>
              </a:rPr>
              <a:t>Ʃ = sigma</a:t>
            </a:r>
          </a:p>
          <a:p>
            <a:r>
              <a:rPr lang="el-GR" altLang="zh-TW" sz="1200" dirty="0">
                <a:latin typeface="Times New Roman" pitchFamily="18" charset="0"/>
                <a:cs typeface="Times New Roman" pitchFamily="18" charset="0"/>
              </a:rPr>
              <a:t>Ε</a:t>
            </a:r>
            <a:r>
              <a:rPr lang="en-US" altLang="zh-TW" sz="1200" dirty="0">
                <a:latin typeface="Times New Roman" pitchFamily="18" charset="0"/>
                <a:cs typeface="Times New Roman" pitchFamily="18" charset="0"/>
              </a:rPr>
              <a:t> = epsilon</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en-US" altLang="zh-TW" sz="1200" dirty="0">
                <a:latin typeface="Times New Roman" pitchFamily="18" charset="0"/>
                <a:cs typeface="Times New Roman" pitchFamily="18" charset="0"/>
              </a:rPr>
              <a:t>Ʃ = sigma</a:t>
            </a:r>
          </a:p>
          <a:p>
            <a:r>
              <a:rPr lang="el-GR" altLang="zh-TW" sz="1200" dirty="0">
                <a:latin typeface="Times New Roman" pitchFamily="18" charset="0"/>
                <a:cs typeface="Times New Roman" pitchFamily="18" charset="0"/>
              </a:rPr>
              <a:t>Ε</a:t>
            </a:r>
            <a:r>
              <a:rPr lang="en-US" altLang="zh-TW" sz="1200" dirty="0">
                <a:latin typeface="Times New Roman" pitchFamily="18" charset="0"/>
                <a:cs typeface="Times New Roman" pitchFamily="18" charset="0"/>
              </a:rPr>
              <a:t> = epsilon</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3</a:t>
            </a:fld>
            <a:endParaRPr lang="zh-TW" altLang="en-US"/>
          </a:p>
        </p:txBody>
      </p:sp>
    </p:spTree>
    <p:extLst>
      <p:ext uri="{BB962C8B-B14F-4D97-AF65-F5344CB8AC3E}">
        <p14:creationId xmlns:p14="http://schemas.microsoft.com/office/powerpoint/2010/main" val="42774116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4</a:t>
            </a:fld>
            <a:endParaRPr lang="zh-TW" altLang="en-US"/>
          </a:p>
        </p:txBody>
      </p:sp>
    </p:spTree>
    <p:extLst>
      <p:ext uri="{BB962C8B-B14F-4D97-AF65-F5344CB8AC3E}">
        <p14:creationId xmlns:p14="http://schemas.microsoft.com/office/powerpoint/2010/main" val="29918177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5</a:t>
            </a:fld>
            <a:endParaRPr lang="zh-TW" altLang="en-US"/>
          </a:p>
        </p:txBody>
      </p:sp>
    </p:spTree>
    <p:extLst>
      <p:ext uri="{BB962C8B-B14F-4D97-AF65-F5344CB8AC3E}">
        <p14:creationId xmlns:p14="http://schemas.microsoft.com/office/powerpoint/2010/main" val="2395190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6</a:t>
            </a:fld>
            <a:endParaRPr lang="zh-TW" altLang="en-US"/>
          </a:p>
        </p:txBody>
      </p:sp>
    </p:spTree>
    <p:extLst>
      <p:ext uri="{BB962C8B-B14F-4D97-AF65-F5344CB8AC3E}">
        <p14:creationId xmlns:p14="http://schemas.microsoft.com/office/powerpoint/2010/main" val="29647507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7</a:t>
            </a:fld>
            <a:endParaRPr lang="zh-TW" altLang="en-US"/>
          </a:p>
        </p:txBody>
      </p:sp>
    </p:spTree>
    <p:extLst>
      <p:ext uri="{BB962C8B-B14F-4D97-AF65-F5344CB8AC3E}">
        <p14:creationId xmlns:p14="http://schemas.microsoft.com/office/powerpoint/2010/main" val="36272833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en-US" altLang="zh-TW" dirty="0"/>
              </a:p>
              <a:p>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𝑟</m:t>
                        </m:r>
                      </m:e>
                      <m:sub>
                        <m:r>
                          <a:rPr lang="en-US" altLang="zh-TW" b="0" i="1" smtClean="0">
                            <a:latin typeface="Cambria Math" panose="02040503050406030204" pitchFamily="18" charset="0"/>
                            <a:cs typeface="Times New Roman" panose="02020603050405020304" pitchFamily="18" charset="0"/>
                          </a:rPr>
                          <m:t>𝑚</m:t>
                        </m:r>
                      </m:sub>
                    </m:sSub>
                  </m:oMath>
                </a14:m>
                <a:r>
                  <a:rPr lang="en-US" altLang="zh-TW" dirty="0"/>
                  <a:t> :  </a:t>
                </a:r>
                <a:r>
                  <a:rPr lang="zh-TW" altLang="en-US" dirty="0"/>
                  <a:t>所有</a:t>
                </a:r>
                <a:r>
                  <a:rPr lang="en-US" altLang="zh-TW" dirty="0"/>
                  <a:t>m</a:t>
                </a:r>
                <a:r>
                  <a:rPr lang="zh-TW" altLang="en-US" dirty="0"/>
                  <a:t>這個叫品所能獲得的分數</a:t>
                </a:r>
                <a:endParaRPr lang="en-US" altLang="zh-TW" dirty="0"/>
              </a:p>
              <a:p>
                <a14:m>
                  <m:oMath xmlns:m="http://schemas.openxmlformats.org/officeDocument/2006/math">
                    <m:r>
                      <a:rPr lang="en-US" altLang="zh-TW" b="0" i="1" smtClean="0">
                        <a:latin typeface="Cambria Math" panose="02040503050406030204" pitchFamily="18" charset="0"/>
                      </a:rPr>
                      <m:t>𝑟</m:t>
                    </m:r>
                  </m:oMath>
                </a14:m>
                <a:r>
                  <a:rPr lang="en-US" altLang="zh-TW" dirty="0"/>
                  <a:t> :  vector c</a:t>
                </a:r>
                <a:r>
                  <a:rPr lang="zh-TW" altLang="en-US" dirty="0"/>
                  <a:t> 中的最大值減掉預測叫品在</a:t>
                </a:r>
                <a:r>
                  <a:rPr lang="en-US" altLang="zh-TW" dirty="0"/>
                  <a:t>c</a:t>
                </a:r>
                <a:r>
                  <a:rPr lang="zh-TW" altLang="en-US" dirty="0"/>
                  <a:t>中的值</a:t>
                </a:r>
              </a:p>
              <a:p>
                <a:endParaRPr lang="zh-TW" altLang="en-US" dirty="0"/>
              </a:p>
            </p:txBody>
          </p:sp>
        </mc:Choice>
        <mc:Fallback xmlns="">
          <p:sp>
            <p:nvSpPr>
              <p:cNvPr id="3" name="備忘稿版面配置區 2"/>
              <p:cNvSpPr>
                <a:spLocks noGrp="1"/>
              </p:cNvSpPr>
              <p:nvPr>
                <p:ph type="body" idx="1"/>
              </p:nvPr>
            </p:nvSpPr>
            <p:spPr/>
            <p:txBody>
              <a:bodyPr/>
              <a:lstStyle/>
              <a:p>
                <a:endParaRPr lang="en-US" altLang="zh-TW" dirty="0"/>
              </a:p>
              <a:p>
                <a:r>
                  <a:rPr lang="en-US" altLang="zh-TW" b="0" i="0">
                    <a:latin typeface="Cambria Math" panose="02040503050406030204" pitchFamily="18" charset="0"/>
                    <a:cs typeface="Times New Roman" panose="02020603050405020304" pitchFamily="18" charset="0"/>
                  </a:rPr>
                  <a:t>𝑟_𝑚</a:t>
                </a:r>
                <a:r>
                  <a:rPr lang="en-US" altLang="zh-TW" dirty="0"/>
                  <a:t> :  </a:t>
                </a:r>
                <a:r>
                  <a:rPr lang="zh-TW" altLang="en-US" dirty="0"/>
                  <a:t>所有</a:t>
                </a:r>
                <a:r>
                  <a:rPr lang="en-US" altLang="zh-TW" dirty="0"/>
                  <a:t>m</a:t>
                </a:r>
                <a:r>
                  <a:rPr lang="zh-TW" altLang="en-US" dirty="0"/>
                  <a:t>這個叫品所能獲得的分數</a:t>
                </a:r>
                <a:endParaRPr lang="en-US" altLang="zh-TW" dirty="0"/>
              </a:p>
              <a:p>
                <a:r>
                  <a:rPr lang="en-US" altLang="zh-TW" b="0" i="0">
                    <a:latin typeface="Cambria Math" panose="02040503050406030204" pitchFamily="18" charset="0"/>
                  </a:rPr>
                  <a:t>𝑟</a:t>
                </a:r>
                <a:r>
                  <a:rPr lang="en-US" altLang="zh-TW" dirty="0"/>
                  <a:t> :  vector c</a:t>
                </a:r>
                <a:r>
                  <a:rPr lang="zh-TW" altLang="en-US" dirty="0"/>
                  <a:t> 中的最大值減掉預測叫品在</a:t>
                </a:r>
                <a:r>
                  <a:rPr lang="en-US" altLang="zh-TW" dirty="0"/>
                  <a:t>c</a:t>
                </a:r>
                <a:r>
                  <a:rPr lang="zh-TW" altLang="en-US" dirty="0"/>
                  <a:t>中的值</a:t>
                </a:r>
              </a:p>
              <a:p>
                <a:endParaRPr lang="zh-TW" altLang="en-US" dirty="0"/>
              </a:p>
            </p:txBody>
          </p:sp>
        </mc:Fallback>
      </mc:AlternateContent>
      <p:sp>
        <p:nvSpPr>
          <p:cNvPr id="4" name="投影片編號版面配置區 3"/>
          <p:cNvSpPr>
            <a:spLocks noGrp="1"/>
          </p:cNvSpPr>
          <p:nvPr>
            <p:ph type="sldNum" sz="quarter" idx="5"/>
          </p:nvPr>
        </p:nvSpPr>
        <p:spPr/>
        <p:txBody>
          <a:bodyPr/>
          <a:lstStyle/>
          <a:p>
            <a:fld id="{65A18BCC-D1EA-4D8A-929C-D092EA2B4393}" type="slidenum">
              <a:rPr lang="zh-TW" altLang="en-US" smtClean="0"/>
              <a:pPr/>
              <a:t>8</a:t>
            </a:fld>
            <a:endParaRPr lang="zh-TW" altLang="en-US"/>
          </a:p>
        </p:txBody>
      </p:sp>
    </p:spTree>
    <p:extLst>
      <p:ext uri="{BB962C8B-B14F-4D97-AF65-F5344CB8AC3E}">
        <p14:creationId xmlns:p14="http://schemas.microsoft.com/office/powerpoint/2010/main" val="37421200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b="0" i="1" smtClean="0">
                            <a:latin typeface="Cambria Math" panose="02040503050406030204" pitchFamily="18" charset="0"/>
                            <a:cs typeface="Times New Roman" panose="02020603050405020304" pitchFamily="18" charset="0"/>
                          </a:rPr>
                          <m:t>𝑤</m:t>
                        </m:r>
                      </m:e>
                      <m:sub>
                        <m:r>
                          <a:rPr lang="en-US" altLang="zh-TW" b="0" i="1" smtClean="0">
                            <a:latin typeface="Cambria Math" panose="02040503050406030204" pitchFamily="18" charset="0"/>
                            <a:cs typeface="Times New Roman" panose="02020603050405020304" pitchFamily="18" charset="0"/>
                          </a:rPr>
                          <m:t>𝑚</m:t>
                        </m:r>
                      </m:sub>
                      <m:sup>
                        <m:r>
                          <a:rPr lang="en-US" altLang="zh-TW" b="0" i="1" smtClean="0">
                            <a:latin typeface="Cambria Math" panose="02040503050406030204" pitchFamily="18" charset="0"/>
                            <a:cs typeface="Times New Roman" panose="02020603050405020304" pitchFamily="18" charset="0"/>
                          </a:rPr>
                          <m:t>𝑇</m:t>
                        </m:r>
                      </m:sup>
                    </m:sSubSup>
                    <m:r>
                      <a:rPr lang="en-US" altLang="zh-TW" b="0" i="1" smtClean="0">
                        <a:latin typeface="Cambria Math" panose="02040503050406030204" pitchFamily="18" charset="0"/>
                        <a:cs typeface="Times New Roman" panose="02020603050405020304" pitchFamily="18" charset="0"/>
                      </a:rPr>
                      <m:t>𝑥</m:t>
                    </m:r>
                  </m:oMath>
                </a14:m>
                <a:r>
                  <a:rPr lang="zh-TW" altLang="en-US" dirty="0"/>
                  <a:t> </a:t>
                </a:r>
                <a:r>
                  <a:rPr lang="en-US" altLang="zh-TW" dirty="0"/>
                  <a:t>:</a:t>
                </a:r>
                <a:r>
                  <a:rPr lang="zh-TW" altLang="en-US" baseline="0" dirty="0"/>
                  <a:t>對選取第</a:t>
                </a:r>
                <a:r>
                  <a:rPr lang="en-US" altLang="zh-TW" baseline="0" dirty="0"/>
                  <a:t>m</a:t>
                </a:r>
                <a:r>
                  <a:rPr lang="zh-TW" altLang="en-US" baseline="0" dirty="0"/>
                  <a:t>個叫品，所能獲得的預估收益。</a:t>
                </a:r>
                <a:endParaRPr lang="en-US" altLang="zh-TW" baseline="0" dirty="0"/>
              </a:p>
              <a:p>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𝑇</m:t>
                    </m:r>
                  </m:oMath>
                </a14:m>
                <a:r>
                  <a:rPr lang="en-US" altLang="zh-TW" dirty="0"/>
                  <a:t> : </a:t>
                </a:r>
                <a:r>
                  <a:rPr lang="zh-TW" altLang="en-US" dirty="0"/>
                  <a:t>嘗試的次數</a:t>
                </a:r>
              </a:p>
              <a:p>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𝑇</m:t>
                        </m:r>
                      </m:e>
                      <m:sub>
                        <m:r>
                          <a:rPr lang="en-US" altLang="zh-TW" b="0" i="1" smtClean="0">
                            <a:latin typeface="Cambria Math" panose="02040503050406030204" pitchFamily="18" charset="0"/>
                            <a:cs typeface="Times New Roman" panose="02020603050405020304" pitchFamily="18" charset="0"/>
                          </a:rPr>
                          <m:t>𝑚</m:t>
                        </m:r>
                      </m:sub>
                    </m:sSub>
                  </m:oMath>
                </a14:m>
                <a:r>
                  <a:rPr lang="en-US" altLang="zh-TW" dirty="0"/>
                  <a:t> : </a:t>
                </a:r>
                <a:r>
                  <a:rPr lang="zh-TW" altLang="en-US" dirty="0"/>
                  <a:t>嘗試</a:t>
                </a:r>
                <a:r>
                  <a:rPr lang="en-US" altLang="zh-TW" dirty="0"/>
                  <a:t>m</a:t>
                </a:r>
                <a:r>
                  <a:rPr lang="zh-TW" altLang="en-US" dirty="0"/>
                  <a:t>的次數</a:t>
                </a:r>
                <a:endParaRPr lang="en-US" altLang="zh-TW" dirty="0"/>
              </a:p>
              <a:p>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𝑥</m:t>
                    </m:r>
                  </m:oMath>
                </a14:m>
                <a:r>
                  <a:rPr lang="en-US" altLang="zh-TW" dirty="0"/>
                  <a:t> : </a:t>
                </a:r>
                <a:r>
                  <a:rPr lang="zh-TW" altLang="en-US" dirty="0"/>
                  <a:t>一玩家手上的手牌</a:t>
                </a:r>
              </a:p>
              <a:p>
                <a14:m>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𝑋</m:t>
                        </m:r>
                      </m:e>
                      <m:sub>
                        <m:r>
                          <a:rPr lang="en-US" altLang="zh-TW" i="1">
                            <a:latin typeface="Cambria Math" panose="02040503050406030204" pitchFamily="18" charset="0"/>
                            <a:cs typeface="Times New Roman" panose="02020603050405020304" pitchFamily="18" charset="0"/>
                          </a:rPr>
                          <m:t>𝑚</m:t>
                        </m:r>
                      </m:sub>
                    </m:sSub>
                  </m:oMath>
                </a14:m>
                <a:r>
                  <a:rPr lang="en-US" altLang="zh-TW" dirty="0"/>
                  <a:t> : </a:t>
                </a:r>
                <a:r>
                  <a:rPr lang="zh-TW" altLang="en-US" dirty="0"/>
                  <a:t>包含所有跟</a:t>
                </a:r>
                <a:r>
                  <a:rPr lang="en-US" altLang="zh-TW" dirty="0"/>
                  <a:t>m</a:t>
                </a:r>
                <a:r>
                  <a:rPr lang="zh-TW" altLang="en-US" dirty="0"/>
                  <a:t>這個叫品相關的</a:t>
                </a:r>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𝑥</m:t>
                    </m:r>
                  </m:oMath>
                </a14:m>
                <a:endParaRPr lang="en-US" altLang="zh-TW" dirty="0"/>
              </a:p>
              <a:p>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𝑟</m:t>
                        </m:r>
                      </m:e>
                      <m:sub>
                        <m:r>
                          <a:rPr lang="en-US" altLang="zh-TW" b="0" i="1" smtClean="0">
                            <a:latin typeface="Cambria Math" panose="02040503050406030204" pitchFamily="18" charset="0"/>
                            <a:cs typeface="Times New Roman" panose="02020603050405020304" pitchFamily="18" charset="0"/>
                          </a:rPr>
                          <m:t>𝑚</m:t>
                        </m:r>
                      </m:sub>
                    </m:sSub>
                  </m:oMath>
                </a14:m>
                <a:r>
                  <a:rPr lang="en-US" altLang="zh-TW" dirty="0"/>
                  <a:t> :  </a:t>
                </a:r>
                <a:r>
                  <a:rPr lang="zh-TW" altLang="en-US" dirty="0"/>
                  <a:t>所有</a:t>
                </a:r>
                <a:r>
                  <a:rPr lang="en-US" altLang="zh-TW" dirty="0"/>
                  <a:t>m</a:t>
                </a:r>
                <a:r>
                  <a:rPr lang="zh-TW" altLang="en-US" dirty="0"/>
                  <a:t>這個叫品所能獲得的分數</a:t>
                </a:r>
                <a:endParaRPr lang="en-US" altLang="zh-TW" dirty="0"/>
              </a:p>
              <a:p>
                <a14:m>
                  <m:oMath xmlns:m="http://schemas.openxmlformats.org/officeDocument/2006/math">
                    <m:r>
                      <a:rPr lang="en-US" altLang="zh-TW" b="0" i="1" smtClean="0">
                        <a:latin typeface="Cambria Math" panose="02040503050406030204" pitchFamily="18" charset="0"/>
                      </a:rPr>
                      <m:t>𝑟</m:t>
                    </m:r>
                  </m:oMath>
                </a14:m>
                <a:r>
                  <a:rPr lang="en-US" altLang="zh-TW" dirty="0"/>
                  <a:t> :  vector c</a:t>
                </a:r>
                <a:r>
                  <a:rPr lang="zh-TW" altLang="en-US" dirty="0"/>
                  <a:t> 中的最大值減掉預測叫品在</a:t>
                </a:r>
                <a:r>
                  <a:rPr lang="en-US" altLang="zh-TW" dirty="0"/>
                  <a:t>c</a:t>
                </a:r>
                <a:r>
                  <a:rPr lang="zh-TW" altLang="en-US" dirty="0"/>
                  <a:t>中的值</a:t>
                </a:r>
              </a:p>
            </p:txBody>
          </p:sp>
        </mc:Choice>
        <mc:Fallback xmlns="">
          <p:sp>
            <p:nvSpPr>
              <p:cNvPr id="3" name="備忘稿版面配置區 2"/>
              <p:cNvSpPr>
                <a:spLocks noGrp="1"/>
              </p:cNvSpPr>
              <p:nvPr>
                <p:ph type="body" idx="1"/>
              </p:nvPr>
            </p:nvSpPr>
            <p:spPr/>
            <p:txBody>
              <a:bodyPr/>
              <a:lstStyle/>
              <a:p>
                <a:pPr/>
                <a:r>
                  <a:rPr lang="en-US" altLang="zh-TW" b="0" i="0">
                    <a:latin typeface="Cambria Math" panose="02040503050406030204" pitchFamily="18" charset="0"/>
                    <a:cs typeface="Times New Roman" panose="02020603050405020304" pitchFamily="18" charset="0"/>
                  </a:rPr>
                  <a:t>𝑤_𝑚^𝑇 𝑥</a:t>
                </a:r>
                <a:r>
                  <a:rPr lang="zh-TW" altLang="en-US" dirty="0"/>
                  <a:t> </a:t>
                </a:r>
                <a:r>
                  <a:rPr lang="en-US" altLang="zh-TW" dirty="0"/>
                  <a:t>:</a:t>
                </a:r>
                <a:r>
                  <a:rPr lang="zh-TW" altLang="en-US" baseline="0" dirty="0"/>
                  <a:t>對選取第</a:t>
                </a:r>
                <a:r>
                  <a:rPr lang="en-US" altLang="zh-TW" baseline="0" dirty="0"/>
                  <a:t>m</a:t>
                </a:r>
                <a:r>
                  <a:rPr lang="zh-TW" altLang="en-US" baseline="0" dirty="0"/>
                  <a:t>個叫品，所能獲得的預估收益。</a:t>
                </a:r>
                <a:endParaRPr lang="en-US" altLang="zh-TW" baseline="0" dirty="0"/>
              </a:p>
              <a:p>
                <a:pPr/>
                <a:r>
                  <a:rPr lang="en-US" altLang="zh-TW" b="0" i="0">
                    <a:latin typeface="Cambria Math" panose="02040503050406030204" pitchFamily="18" charset="0"/>
                    <a:cs typeface="Times New Roman" panose="02020603050405020304" pitchFamily="18" charset="0"/>
                  </a:rPr>
                  <a:t>𝑇</a:t>
                </a:r>
                <a:r>
                  <a:rPr lang="en-US" altLang="zh-TW" dirty="0"/>
                  <a:t> : </a:t>
                </a:r>
                <a:r>
                  <a:rPr lang="zh-TW" altLang="en-US" dirty="0"/>
                  <a:t>嘗試的次數</a:t>
                </a:r>
              </a:p>
              <a:p>
                <a:pPr/>
                <a:r>
                  <a:rPr lang="en-US" altLang="zh-TW" b="0" i="0">
                    <a:latin typeface="Cambria Math" panose="02040503050406030204" pitchFamily="18" charset="0"/>
                    <a:cs typeface="Times New Roman" panose="02020603050405020304" pitchFamily="18" charset="0"/>
                  </a:rPr>
                  <a:t>𝑇_𝑚</a:t>
                </a:r>
                <a:r>
                  <a:rPr lang="en-US" altLang="zh-TW" dirty="0"/>
                  <a:t> : </a:t>
                </a:r>
                <a:r>
                  <a:rPr lang="zh-TW" altLang="en-US" dirty="0"/>
                  <a:t>嘗試</a:t>
                </a:r>
                <a:r>
                  <a:rPr lang="en-US" altLang="zh-TW" dirty="0"/>
                  <a:t>m</a:t>
                </a:r>
                <a:r>
                  <a:rPr lang="zh-TW" altLang="en-US" dirty="0"/>
                  <a:t>的次數</a:t>
                </a:r>
                <a:endParaRPr lang="en-US" altLang="zh-TW" dirty="0"/>
              </a:p>
              <a:p>
                <a:pPr/>
                <a:r>
                  <a:rPr lang="en-US" altLang="zh-TW" b="0" i="0">
                    <a:latin typeface="Cambria Math" panose="02040503050406030204" pitchFamily="18" charset="0"/>
                    <a:cs typeface="Times New Roman" panose="02020603050405020304" pitchFamily="18" charset="0"/>
                  </a:rPr>
                  <a:t>𝑥</a:t>
                </a:r>
                <a:r>
                  <a:rPr lang="en-US" altLang="zh-TW" dirty="0"/>
                  <a:t> : </a:t>
                </a:r>
                <a:r>
                  <a:rPr lang="zh-TW" altLang="en-US" dirty="0"/>
                  <a:t>一玩家手上的手牌</a:t>
                </a:r>
              </a:p>
              <a:p>
                <a:pPr/>
                <a:r>
                  <a:rPr lang="en-US" altLang="zh-TW" i="0">
                    <a:latin typeface="Cambria Math" panose="02040503050406030204" pitchFamily="18" charset="0"/>
                    <a:cs typeface="Times New Roman" panose="02020603050405020304" pitchFamily="18" charset="0"/>
                  </a:rPr>
                  <a:t>𝑋_𝑚</a:t>
                </a:r>
                <a:r>
                  <a:rPr lang="en-US" altLang="zh-TW" dirty="0"/>
                  <a:t> : </a:t>
                </a:r>
                <a:r>
                  <a:rPr lang="zh-TW" altLang="en-US" dirty="0"/>
                  <a:t>包含所有跟</a:t>
                </a:r>
                <a:r>
                  <a:rPr lang="en-US" altLang="zh-TW" dirty="0"/>
                  <a:t>m</a:t>
                </a:r>
                <a:r>
                  <a:rPr lang="zh-TW" altLang="en-US" dirty="0"/>
                  <a:t>這個叫品相關的</a:t>
                </a:r>
                <a:r>
                  <a:rPr lang="en-US" altLang="zh-TW" b="0" i="0">
                    <a:latin typeface="Cambria Math" panose="02040503050406030204" pitchFamily="18" charset="0"/>
                    <a:cs typeface="Times New Roman" panose="02020603050405020304" pitchFamily="18" charset="0"/>
                  </a:rPr>
                  <a:t>𝑥</a:t>
                </a:r>
                <a:endParaRPr lang="en-US" altLang="zh-TW" dirty="0"/>
              </a:p>
              <a:p>
                <a:pPr/>
                <a:r>
                  <a:rPr lang="en-US" altLang="zh-TW" b="0" i="0">
                    <a:latin typeface="Cambria Math" panose="02040503050406030204" pitchFamily="18" charset="0"/>
                    <a:cs typeface="Times New Roman" panose="02020603050405020304" pitchFamily="18" charset="0"/>
                  </a:rPr>
                  <a:t>𝑟_𝑚</a:t>
                </a:r>
                <a:r>
                  <a:rPr lang="en-US" altLang="zh-TW" dirty="0"/>
                  <a:t> :  </a:t>
                </a:r>
                <a:r>
                  <a:rPr lang="zh-TW" altLang="en-US" dirty="0"/>
                  <a:t>所有</a:t>
                </a:r>
                <a:r>
                  <a:rPr lang="en-US" altLang="zh-TW" dirty="0"/>
                  <a:t>m</a:t>
                </a:r>
                <a:r>
                  <a:rPr lang="zh-TW" altLang="en-US" dirty="0"/>
                  <a:t>這個叫品所能獲得的分數</a:t>
                </a:r>
                <a:endParaRPr lang="en-US" altLang="zh-TW" dirty="0"/>
              </a:p>
              <a:p>
                <a:pPr/>
                <a:r>
                  <a:rPr lang="en-US" altLang="zh-TW" b="0" i="0">
                    <a:latin typeface="Cambria Math" panose="02040503050406030204" pitchFamily="18" charset="0"/>
                  </a:rPr>
                  <a:t>𝑟</a:t>
                </a:r>
                <a:r>
                  <a:rPr lang="en-US" altLang="zh-TW" dirty="0"/>
                  <a:t> :  vector c</a:t>
                </a:r>
                <a:r>
                  <a:rPr lang="zh-TW" altLang="en-US" dirty="0"/>
                  <a:t> 中的最大值減掉預測叫品在</a:t>
                </a:r>
                <a:r>
                  <a:rPr lang="en-US" altLang="zh-TW" dirty="0"/>
                  <a:t>c</a:t>
                </a:r>
                <a:r>
                  <a:rPr lang="zh-TW" altLang="en-US" dirty="0"/>
                  <a:t>中的值</a:t>
                </a:r>
              </a:p>
            </p:txBody>
          </p:sp>
        </mc:Fallback>
      </mc:AlternateContent>
      <p:sp>
        <p:nvSpPr>
          <p:cNvPr id="4" name="投影片編號版面配置區 3"/>
          <p:cNvSpPr>
            <a:spLocks noGrp="1"/>
          </p:cNvSpPr>
          <p:nvPr>
            <p:ph type="sldNum" sz="quarter" idx="5"/>
          </p:nvPr>
        </p:nvSpPr>
        <p:spPr/>
        <p:txBody>
          <a:bodyPr/>
          <a:lstStyle/>
          <a:p>
            <a:fld id="{65A18BCC-D1EA-4D8A-929C-D092EA2B4393}" type="slidenum">
              <a:rPr lang="zh-TW" altLang="en-US" smtClean="0"/>
              <a:pPr/>
              <a:t>9</a:t>
            </a:fld>
            <a:endParaRPr lang="zh-TW" altLang="en-US"/>
          </a:p>
        </p:txBody>
      </p:sp>
    </p:spTree>
    <p:extLst>
      <p:ext uri="{BB962C8B-B14F-4D97-AF65-F5344CB8AC3E}">
        <p14:creationId xmlns:p14="http://schemas.microsoft.com/office/powerpoint/2010/main" val="20896700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Wbridge5 : </a:t>
            </a:r>
            <a:r>
              <a:rPr lang="zh-TW" altLang="en-US" dirty="0"/>
              <a:t>用</a:t>
            </a:r>
            <a:r>
              <a:rPr lang="en-US" altLang="zh-TW" b="1" dirty="0">
                <a:effectLst/>
              </a:rPr>
              <a:t>2-over-1 Bidding System</a:t>
            </a:r>
          </a:p>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10</a:t>
            </a:fld>
            <a:endParaRPr lang="zh-TW" altLang="en-US"/>
          </a:p>
        </p:txBody>
      </p:sp>
    </p:spTree>
    <p:extLst>
      <p:ext uri="{BB962C8B-B14F-4D97-AF65-F5344CB8AC3E}">
        <p14:creationId xmlns:p14="http://schemas.microsoft.com/office/powerpoint/2010/main" val="25610426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zh-TW" altLang="en-US" dirty="0"/>
                  <a:t>成局以上需要特別的叫牌方式，所以</a:t>
                </a:r>
                <a:r>
                  <a:rPr lang="en-US" altLang="zh-TW" dirty="0"/>
                  <a:t>wbridge5</a:t>
                </a:r>
                <a:r>
                  <a:rPr lang="zh-TW" altLang="en-US" dirty="0"/>
                  <a:t>能有較好的成績</a:t>
                </a:r>
                <a:endParaRPr lang="en-US" altLang="zh-TW" dirty="0"/>
              </a:p>
              <a:p>
                <a:r>
                  <a:rPr lang="zh-TW" altLang="en-US" dirty="0"/>
                  <a:t>但是在成局以下的狀況，電腦提出的叫牌方法會有較好的表現</a:t>
                </a:r>
                <a:endParaRPr lang="en-US" altLang="zh-TW" dirty="0"/>
              </a:p>
            </p:txBody>
          </p:sp>
        </mc:Choice>
        <mc:Fallback xmlns="">
          <p:sp>
            <p:nvSpPr>
              <p:cNvPr id="3" name="備忘稿版面配置區 2"/>
              <p:cNvSpPr>
                <a:spLocks noGrp="1"/>
              </p:cNvSpPr>
              <p:nvPr>
                <p:ph type="body" idx="1"/>
              </p:nvPr>
            </p:nvSpPr>
            <p:spPr/>
            <p:txBody>
              <a:bodyPr/>
              <a:lstStyle/>
              <a:p>
                <a:r>
                  <a:rPr lang="en-US" altLang="zh-TW" b="0" i="0">
                    <a:latin typeface="Cambria Math" panose="02040503050406030204" pitchFamily="18" charset="0"/>
                  </a:rPr>
                  <a:t>𝐷^2 𝐹𝐴</a:t>
                </a:r>
                <a:r>
                  <a:rPr lang="en-US" altLang="zh-TW" dirty="0"/>
                  <a:t>: Delayed Input DFA, the code runs with different values of the diameter bound</a:t>
                </a:r>
              </a:p>
              <a:p>
                <a:r>
                  <a:rPr lang="en-US" altLang="zh-TW" dirty="0"/>
                  <a:t>DB: </a:t>
                </a:r>
                <a:r>
                  <a:rPr lang="zh-TW" altLang="en-US" dirty="0"/>
                  <a:t>在他的 </a:t>
                </a:r>
                <a:r>
                  <a:rPr lang="en-US" altLang="zh-TW" dirty="0"/>
                  <a:t>spanning</a:t>
                </a:r>
                <a:r>
                  <a:rPr lang="zh-TW" altLang="en-US" dirty="0"/>
                  <a:t> </a:t>
                </a:r>
                <a:r>
                  <a:rPr lang="en-US" altLang="zh-TW" dirty="0"/>
                  <a:t>tree </a:t>
                </a:r>
                <a:r>
                  <a:rPr lang="zh-TW" altLang="en-US" dirty="0"/>
                  <a:t>中，兩點的最遠距離。</a:t>
                </a:r>
                <a:endParaRPr lang="en-US" altLang="zh-TW" dirty="0"/>
              </a:p>
              <a:p>
                <a:r>
                  <a:rPr lang="zh-TW" altLang="en-US" dirty="0"/>
                  <a:t>設定</a:t>
                </a:r>
                <a:r>
                  <a:rPr lang="en-US" altLang="zh-TW" dirty="0"/>
                  <a:t>DB</a:t>
                </a:r>
                <a:r>
                  <a:rPr lang="zh-TW" altLang="en-US" dirty="0"/>
                  <a:t>是因為要找最小</a:t>
                </a:r>
                <a:r>
                  <a:rPr lang="en-US" altLang="zh-TW" b="0" i="0">
                    <a:latin typeface="Cambria Math" panose="02040503050406030204" pitchFamily="18" charset="0"/>
                  </a:rPr>
                  <a:t>𝐷^2 𝐹𝐴</a:t>
                </a:r>
                <a:r>
                  <a:rPr lang="zh-TW" altLang="en-US" dirty="0"/>
                  <a:t> 的話，會變成</a:t>
                </a:r>
                <a:r>
                  <a:rPr lang="en-US" altLang="zh-TW" dirty="0"/>
                  <a:t>NP-HARD</a:t>
                </a:r>
                <a:r>
                  <a:rPr lang="zh-TW" altLang="en-US" dirty="0"/>
                  <a:t>的問題。</a:t>
                </a:r>
                <a:endParaRPr lang="en-US" altLang="zh-TW" dirty="0"/>
              </a:p>
              <a:p>
                <a:r>
                  <a:rPr lang="en-US" altLang="zh-TW" dirty="0"/>
                  <a:t>DB</a:t>
                </a:r>
                <a:r>
                  <a:rPr lang="zh-TW" altLang="en-US" dirty="0"/>
                  <a:t>為</a:t>
                </a:r>
                <a:r>
                  <a:rPr lang="en-US" altLang="zh-TW" dirty="0"/>
                  <a:t>1</a:t>
                </a:r>
                <a:r>
                  <a:rPr lang="zh-TW" altLang="en-US" dirty="0"/>
                  <a:t>的時候，可以再 </a:t>
                </a:r>
                <a:r>
                  <a:rPr lang="en-US" altLang="zh-TW" dirty="0"/>
                  <a:t>polynomial time </a:t>
                </a:r>
                <a:r>
                  <a:rPr lang="zh-TW" altLang="en-US" dirty="0"/>
                  <a:t>轉換成</a:t>
                </a:r>
                <a:r>
                  <a:rPr lang="en-US" altLang="zh-TW" b="0" i="0">
                    <a:latin typeface="Cambria Math" panose="02040503050406030204" pitchFamily="18" charset="0"/>
                  </a:rPr>
                  <a:t>𝐷^2 𝐹𝐴</a:t>
                </a:r>
                <a:r>
                  <a:rPr lang="zh-TW" altLang="en-US" dirty="0"/>
                  <a:t>，在</a:t>
                </a:r>
                <a:r>
                  <a:rPr lang="en-US" altLang="zh-TW" dirty="0"/>
                  <a:t>DB</a:t>
                </a:r>
                <a:r>
                  <a:rPr lang="zh-TW" altLang="en-US" dirty="0"/>
                  <a:t>很大時，轉換又變成</a:t>
                </a:r>
                <a:r>
                  <a:rPr lang="en-US" altLang="zh-TW" dirty="0"/>
                  <a:t>NP-Hard</a:t>
                </a:r>
                <a:r>
                  <a:rPr lang="zh-TW" altLang="en-US" dirty="0"/>
                  <a:t> 了</a:t>
                </a:r>
                <a:endParaRPr lang="en-US" altLang="zh-TW" dirty="0"/>
              </a:p>
            </p:txBody>
          </p:sp>
        </mc:Fallback>
      </mc:AlternateContent>
      <p:sp>
        <p:nvSpPr>
          <p:cNvPr id="4" name="投影片編號版面配置區 3"/>
          <p:cNvSpPr>
            <a:spLocks noGrp="1"/>
          </p:cNvSpPr>
          <p:nvPr>
            <p:ph type="sldNum" sz="quarter" idx="5"/>
          </p:nvPr>
        </p:nvSpPr>
        <p:spPr/>
        <p:txBody>
          <a:bodyPr/>
          <a:lstStyle/>
          <a:p>
            <a:fld id="{65A18BCC-D1EA-4D8A-929C-D092EA2B4393}" type="slidenum">
              <a:rPr lang="zh-TW" altLang="en-US" smtClean="0"/>
              <a:pPr/>
              <a:t>11</a:t>
            </a:fld>
            <a:endParaRPr lang="zh-TW" altLang="en-US"/>
          </a:p>
        </p:txBody>
      </p:sp>
    </p:spTree>
    <p:extLst>
      <p:ext uri="{BB962C8B-B14F-4D97-AF65-F5344CB8AC3E}">
        <p14:creationId xmlns:p14="http://schemas.microsoft.com/office/powerpoint/2010/main" val="10455593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2021/3/2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2021/3/2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2021/3/2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2021/3/2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25BD1462-57C0-4459-9390-560953396E85}" type="datetimeFigureOut">
              <a:rPr lang="zh-TW" altLang="en-US" smtClean="0"/>
              <a:pPr/>
              <a:t>2021/3/2</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25BD1462-57C0-4459-9390-560953396E85}" type="datetimeFigureOut">
              <a:rPr lang="zh-TW" altLang="en-US" smtClean="0"/>
              <a:pPr/>
              <a:t>2021/3/2</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5BD1462-57C0-4459-9390-560953396E85}" type="datetimeFigureOut">
              <a:rPr lang="zh-TW" altLang="en-US" smtClean="0"/>
              <a:pPr/>
              <a:t>2021/3/2</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2021/3/2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2021/3/2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2021/3/2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2021/3/2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BD1462-57C0-4459-9390-560953396E85}" type="datetimeFigureOut">
              <a:rPr lang="zh-TW" altLang="en-US" smtClean="0"/>
              <a:pPr/>
              <a:t>2021/3/2</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9265B-D561-4CD1-972E-9E84754BEC82}"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B6A882-00D3-47EF-9E00-5F5448FB3E79}"/>
              </a:ext>
            </a:extLst>
          </p:cNvPr>
          <p:cNvSpPr>
            <a:spLocks noGrp="1"/>
          </p:cNvSpPr>
          <p:nvPr>
            <p:ph type="ctrTitle"/>
          </p:nvPr>
        </p:nvSpPr>
        <p:spPr>
          <a:xfrm>
            <a:off x="654342" y="1715999"/>
            <a:ext cx="7890145" cy="649317"/>
          </a:xfrm>
        </p:spPr>
        <p:txBody>
          <a:bodyPr>
            <a:noAutofit/>
          </a:bodyPr>
          <a:lstStyle/>
          <a:p>
            <a:br>
              <a:rPr lang="en-US" altLang="zh-TW" sz="3200" dirty="0">
                <a:latin typeface="Times New Roman" pitchFamily="18" charset="0"/>
                <a:cs typeface="Times New Roman" pitchFamily="18" charset="0"/>
              </a:rPr>
            </a:br>
            <a:r>
              <a:rPr lang="en-US" altLang="zh-TW" sz="3200" dirty="0">
                <a:latin typeface="Times New Roman" pitchFamily="18" charset="0"/>
                <a:cs typeface="Times New Roman" pitchFamily="18" charset="0"/>
              </a:rPr>
              <a:t>Contract Bridge Bidding by Learning</a:t>
            </a:r>
          </a:p>
        </p:txBody>
      </p:sp>
      <p:sp>
        <p:nvSpPr>
          <p:cNvPr id="3" name="副標題 2">
            <a:extLst>
              <a:ext uri="{FF2B5EF4-FFF2-40B4-BE49-F238E27FC236}">
                <a16:creationId xmlns:a16="http://schemas.microsoft.com/office/drawing/2014/main" id="{7DA53B5D-3737-4D8B-A009-A9D02CAEE169}"/>
              </a:ext>
            </a:extLst>
          </p:cNvPr>
          <p:cNvSpPr>
            <a:spLocks noGrp="1"/>
          </p:cNvSpPr>
          <p:nvPr>
            <p:ph type="subTitle" idx="1"/>
          </p:nvPr>
        </p:nvSpPr>
        <p:spPr>
          <a:xfrm>
            <a:off x="1142999" y="3003984"/>
            <a:ext cx="6858000" cy="425017"/>
          </a:xfrm>
        </p:spPr>
        <p:txBody>
          <a:bodyPr>
            <a:noAutofit/>
          </a:bodyPr>
          <a:lstStyle/>
          <a:p>
            <a:pPr fontAlgn="ctr"/>
            <a:r>
              <a:rPr lang="en-US" altLang="zh-TW" sz="2000" dirty="0">
                <a:solidFill>
                  <a:schemeClr val="tx1"/>
                </a:solidFill>
                <a:latin typeface="Times New Roman" pitchFamily="18" charset="0"/>
                <a:cs typeface="Times New Roman" pitchFamily="18" charset="0"/>
              </a:rPr>
              <a:t>Chun-Yen Ho</a:t>
            </a:r>
            <a:r>
              <a:rPr lang="zh-TW" altLang="en-US" sz="2000" dirty="0">
                <a:solidFill>
                  <a:schemeClr val="tx1"/>
                </a:solidFill>
                <a:latin typeface="Times New Roman" pitchFamily="18" charset="0"/>
                <a:cs typeface="Times New Roman" pitchFamily="18" charset="0"/>
              </a:rPr>
              <a:t> </a:t>
            </a:r>
            <a:r>
              <a:rPr lang="en-US" altLang="zh-TW" sz="2000" dirty="0">
                <a:solidFill>
                  <a:schemeClr val="tx1"/>
                </a:solidFill>
                <a:latin typeface="Times New Roman" pitchFamily="18" charset="0"/>
                <a:cs typeface="Times New Roman" pitchFamily="18" charset="0"/>
              </a:rPr>
              <a:t>and </a:t>
            </a:r>
            <a:r>
              <a:rPr lang="en-US" altLang="zh-TW" sz="2000" dirty="0" err="1">
                <a:solidFill>
                  <a:schemeClr val="tx1"/>
                </a:solidFill>
                <a:latin typeface="Times New Roman" pitchFamily="18" charset="0"/>
                <a:cs typeface="Times New Roman" pitchFamily="18" charset="0"/>
              </a:rPr>
              <a:t>Hsuan</a:t>
            </a:r>
            <a:r>
              <a:rPr lang="en-US" altLang="zh-TW" sz="2000" dirty="0">
                <a:solidFill>
                  <a:schemeClr val="tx1"/>
                </a:solidFill>
                <a:latin typeface="Times New Roman" pitchFamily="18" charset="0"/>
                <a:cs typeface="Times New Roman" pitchFamily="18" charset="0"/>
              </a:rPr>
              <a:t>-Tien Lin</a:t>
            </a:r>
          </a:p>
        </p:txBody>
      </p:sp>
      <p:sp>
        <p:nvSpPr>
          <p:cNvPr id="8" name="文字方塊 7">
            <a:extLst>
              <a:ext uri="{FF2B5EF4-FFF2-40B4-BE49-F238E27FC236}">
                <a16:creationId xmlns:a16="http://schemas.microsoft.com/office/drawing/2014/main" id="{8F2527E8-BB8F-41FB-8AF1-03DCC96BC069}"/>
              </a:ext>
            </a:extLst>
          </p:cNvPr>
          <p:cNvSpPr txBox="1"/>
          <p:nvPr/>
        </p:nvSpPr>
        <p:spPr>
          <a:xfrm>
            <a:off x="1027875" y="4005064"/>
            <a:ext cx="7143109" cy="430887"/>
          </a:xfrm>
          <a:prstGeom prst="rect">
            <a:avLst/>
          </a:prstGeom>
          <a:noFill/>
        </p:spPr>
        <p:txBody>
          <a:bodyPr wrap="none" rtlCol="0">
            <a:spAutoFit/>
          </a:bodyPr>
          <a:lstStyle/>
          <a:p>
            <a:pPr algn="ctr"/>
            <a:r>
              <a:rPr lang="en-US" altLang="zh-TW" sz="2200" dirty="0">
                <a:latin typeface="Times New Roman" panose="02020603050405020304" pitchFamily="18" charset="0"/>
                <a:cs typeface="Times New Roman" panose="02020603050405020304" pitchFamily="18" charset="0"/>
              </a:rPr>
              <a:t>2015 AAAI Workshop, Hyatt Regency in Austin, Texas, USA</a:t>
            </a:r>
          </a:p>
        </p:txBody>
      </p:sp>
      <p:sp>
        <p:nvSpPr>
          <p:cNvPr id="9" name="文字方塊 8">
            <a:extLst>
              <a:ext uri="{FF2B5EF4-FFF2-40B4-BE49-F238E27FC236}">
                <a16:creationId xmlns:a16="http://schemas.microsoft.com/office/drawing/2014/main" id="{6BC92671-3184-4146-A361-F82079153C2E}"/>
              </a:ext>
            </a:extLst>
          </p:cNvPr>
          <p:cNvSpPr txBox="1"/>
          <p:nvPr/>
        </p:nvSpPr>
        <p:spPr>
          <a:xfrm>
            <a:off x="5652120" y="5377328"/>
            <a:ext cx="315823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Jing-Ping Jan</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52A0654C-2F84-4026-9FCF-04C8DF590D5F}"/>
              </a:ext>
            </a:extLst>
          </p:cNvPr>
          <p:cNvSpPr txBox="1"/>
          <p:nvPr/>
        </p:nvSpPr>
        <p:spPr>
          <a:xfrm>
            <a:off x="5652120" y="5805264"/>
            <a:ext cx="2730235" cy="461665"/>
          </a:xfrm>
          <a:prstGeom prst="rect">
            <a:avLst/>
          </a:prstGeom>
          <a:noFill/>
        </p:spPr>
        <p:txBody>
          <a:bodyPr wrap="none" rtlCol="0">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t>Date: March 2, 2021</a:t>
            </a:r>
            <a:endParaRPr lang="zh-TW" altLang="en-US" dirty="0"/>
          </a:p>
        </p:txBody>
      </p:sp>
    </p:spTree>
    <p:extLst>
      <p:ext uri="{BB962C8B-B14F-4D97-AF65-F5344CB8AC3E}">
        <p14:creationId xmlns:p14="http://schemas.microsoft.com/office/powerpoint/2010/main" val="3557049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628649" y="260648"/>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69502" y="1052736"/>
            <a:ext cx="9004993" cy="5347657"/>
          </a:xfrm>
        </p:spPr>
        <p:txBody>
          <a:bodyPr>
            <a:noAutofit/>
          </a:bodyPr>
          <a:lstStyle/>
          <a:p>
            <a:pPr marL="0" indent="0" algn="just">
              <a:lnSpc>
                <a:spcPts val="3200"/>
              </a:lnSpc>
              <a:buNone/>
            </a:pPr>
            <a:r>
              <a:rPr lang="en-US" altLang="zh-TW" sz="2800" dirty="0">
                <a:latin typeface="Times New Roman" pitchFamily="18" charset="0"/>
                <a:cs typeface="Times New Roman" pitchFamily="18" charset="0"/>
              </a:rPr>
              <a:t>Contract bridge is an example of an incomplete information game for which computers typically do not perform better than expert human bridge players. In particular, the typical bidding decisions of human bridge players are difficult to mimic with a computer program, and thus automatic bridge bidding remains to be a challenging research problem. Currently, the possibility of automatic bidding without mimicking human players has not been fully studied. In this work, we take an initiative to study such a possibility for the specific problem of bidding without competition. We propose a novel learning framework to let a computer program learn its own bidding decisions</a:t>
            </a:r>
            <a:endParaRPr lang="fr-FR" altLang="zh-TW" sz="2800" dirty="0">
              <a:latin typeface="Times New Roman" pitchFamily="18" charset="0"/>
              <a:cs typeface="Times New Roman" pitchFamily="18" charset="0"/>
            </a:endParaRPr>
          </a:p>
        </p:txBody>
      </p:sp>
    </p:spTree>
    <p:extLst>
      <p:ext uri="{BB962C8B-B14F-4D97-AF65-F5344CB8AC3E}">
        <p14:creationId xmlns:p14="http://schemas.microsoft.com/office/powerpoint/2010/main" val="3994483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628649" y="260648"/>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69502" y="1052736"/>
            <a:ext cx="9004993" cy="5347657"/>
          </a:xfrm>
        </p:spPr>
        <p:txBody>
          <a:bodyPr>
            <a:noAutofit/>
          </a:bodyPr>
          <a:lstStyle/>
          <a:p>
            <a:pPr marL="0" indent="0" algn="just">
              <a:lnSpc>
                <a:spcPts val="3200"/>
              </a:lnSpc>
              <a:buNone/>
            </a:pPr>
            <a:r>
              <a:rPr lang="en-US" altLang="zh-TW" sz="2800" dirty="0">
                <a:latin typeface="Times New Roman" pitchFamily="18" charset="0"/>
                <a:cs typeface="Times New Roman" pitchFamily="18" charset="0"/>
              </a:rPr>
              <a:t>The framework transforms the bidding problem into a learning problem, and then solves the problem with a carefully designed model that consists of cost-sensitive classifiers and upper-confidence-bound algorithms. We validate the proposed model and find that it performs competitively to the champion computer bridge program that mimics human bidding decisions.</a:t>
            </a:r>
            <a:endParaRPr lang="fr-FR" altLang="zh-TW" sz="2800" dirty="0">
              <a:latin typeface="Times New Roman" pitchFamily="18" charset="0"/>
              <a:cs typeface="Times New Roman" pitchFamily="18" charset="0"/>
            </a:endParaRPr>
          </a:p>
        </p:txBody>
      </p:sp>
    </p:spTree>
    <p:extLst>
      <p:ext uri="{BB962C8B-B14F-4D97-AF65-F5344CB8AC3E}">
        <p14:creationId xmlns:p14="http://schemas.microsoft.com/office/powerpoint/2010/main" val="2617598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normAutofit/>
          </a:bodyPr>
          <a:lstStyle/>
          <a:p>
            <a:r>
              <a:rPr lang="en-US" altLang="zh-TW" dirty="0">
                <a:latin typeface="Times New Roman" panose="02020603050405020304" pitchFamily="18" charset="0"/>
                <a:cs typeface="Times New Roman" panose="02020603050405020304" pitchFamily="18" charset="0"/>
              </a:rPr>
              <a:t>Bidding stage</a:t>
            </a:r>
            <a:br>
              <a:rPr lang="en-US" altLang="zh-TW" dirty="0">
                <a:latin typeface="Times New Roman" panose="02020603050405020304" pitchFamily="18" charset="0"/>
                <a:cs typeface="Times New Roman" panose="02020603050405020304" pitchFamily="18" charset="0"/>
              </a:rPr>
            </a:br>
            <a:r>
              <a:rPr lang="en-US" altLang="zh-TW" sz="2200" dirty="0">
                <a:latin typeface="Times New Roman" panose="02020603050405020304" pitchFamily="18" charset="0"/>
                <a:cs typeface="Times New Roman" panose="02020603050405020304" pitchFamily="18" charset="0"/>
              </a:rPr>
              <a:t>Find the most profitable contract for the playing stage</a:t>
            </a:r>
          </a:p>
          <a:p>
            <a:r>
              <a:rPr lang="en-US" altLang="zh-TW" dirty="0">
                <a:latin typeface="Times New Roman" panose="02020603050405020304" pitchFamily="18" charset="0"/>
                <a:cs typeface="Times New Roman" panose="02020603050405020304" pitchFamily="18" charset="0"/>
              </a:rPr>
              <a:t>Playing stage</a:t>
            </a:r>
            <a:br>
              <a:rPr lang="en-US" altLang="zh-TW" dirty="0">
                <a:latin typeface="Times New Roman" panose="02020603050405020304" pitchFamily="18" charset="0"/>
                <a:cs typeface="Times New Roman" panose="02020603050405020304" pitchFamily="18" charset="0"/>
              </a:rPr>
            </a:br>
            <a:r>
              <a:rPr lang="en-US" altLang="zh-TW" sz="2200" dirty="0">
                <a:latin typeface="Times New Roman" panose="02020603050405020304" pitchFamily="18" charset="0"/>
                <a:cs typeface="Times New Roman" panose="02020603050405020304" pitchFamily="18" charset="0"/>
              </a:rPr>
              <a:t>13 rounds of a card-strength competition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a:t>
            </a:r>
            <a:r>
              <a:rPr lang="en-US" altLang="zh-TW" dirty="0">
                <a:latin typeface="Times New Roman" pitchFamily="18" charset="0"/>
                <a:cs typeface="Times New Roman" pitchFamily="18" charset="0"/>
              </a:rPr>
              <a:t>-Bidding Stage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normAutofit/>
          </a:bodyPr>
          <a:lstStyle/>
          <a:p>
            <a:r>
              <a:rPr lang="en-US" altLang="zh-TW" dirty="0">
                <a:latin typeface="Times New Roman" panose="02020603050405020304" pitchFamily="18" charset="0"/>
                <a:cs typeface="Times New Roman" panose="02020603050405020304" pitchFamily="18" charset="0"/>
              </a:rPr>
              <a:t>PASS</a:t>
            </a:r>
          </a:p>
        </p:txBody>
      </p:sp>
      <p:graphicFrame>
        <p:nvGraphicFramePr>
          <p:cNvPr id="4" name="表格 4">
            <a:extLst>
              <a:ext uri="{FF2B5EF4-FFF2-40B4-BE49-F238E27FC236}">
                <a16:creationId xmlns:a16="http://schemas.microsoft.com/office/drawing/2014/main" id="{C2074AD2-714E-4798-B38E-4B981DDF16A6}"/>
              </a:ext>
            </a:extLst>
          </p:cNvPr>
          <p:cNvGraphicFramePr>
            <a:graphicFrameLocks noGrp="1"/>
          </p:cNvGraphicFramePr>
          <p:nvPr>
            <p:extLst>
              <p:ext uri="{D42A27DB-BD31-4B8C-83A1-F6EECF244321}">
                <p14:modId xmlns:p14="http://schemas.microsoft.com/office/powerpoint/2010/main" val="1137830050"/>
              </p:ext>
            </p:extLst>
          </p:nvPr>
        </p:nvGraphicFramePr>
        <p:xfrm>
          <a:off x="1524000" y="2564904"/>
          <a:ext cx="6096000" cy="296672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587055793"/>
                    </a:ext>
                  </a:extLst>
                </a:gridCol>
                <a:gridCol w="1016000">
                  <a:extLst>
                    <a:ext uri="{9D8B030D-6E8A-4147-A177-3AD203B41FA5}">
                      <a16:colId xmlns:a16="http://schemas.microsoft.com/office/drawing/2014/main" val="3322595425"/>
                    </a:ext>
                  </a:extLst>
                </a:gridCol>
                <a:gridCol w="1016000">
                  <a:extLst>
                    <a:ext uri="{9D8B030D-6E8A-4147-A177-3AD203B41FA5}">
                      <a16:colId xmlns:a16="http://schemas.microsoft.com/office/drawing/2014/main" val="1286273281"/>
                    </a:ext>
                  </a:extLst>
                </a:gridCol>
                <a:gridCol w="1016000">
                  <a:extLst>
                    <a:ext uri="{9D8B030D-6E8A-4147-A177-3AD203B41FA5}">
                      <a16:colId xmlns:a16="http://schemas.microsoft.com/office/drawing/2014/main" val="3412587740"/>
                    </a:ext>
                  </a:extLst>
                </a:gridCol>
                <a:gridCol w="1016000">
                  <a:extLst>
                    <a:ext uri="{9D8B030D-6E8A-4147-A177-3AD203B41FA5}">
                      <a16:colId xmlns:a16="http://schemas.microsoft.com/office/drawing/2014/main" val="3189328206"/>
                    </a:ext>
                  </a:extLst>
                </a:gridCol>
                <a:gridCol w="1016000">
                  <a:extLst>
                    <a:ext uri="{9D8B030D-6E8A-4147-A177-3AD203B41FA5}">
                      <a16:colId xmlns:a16="http://schemas.microsoft.com/office/drawing/2014/main" val="2927267542"/>
                    </a:ext>
                  </a:extLst>
                </a:gridCol>
              </a:tblGrid>
              <a:tr h="370840">
                <a:tc>
                  <a:txBody>
                    <a:bodyPr/>
                    <a:lstStyle/>
                    <a:p>
                      <a:endParaRPr lang="zh-TW"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latin typeface="Times New Roman" panose="02020603050405020304" pitchFamily="18" charset="0"/>
                          <a:cs typeface="Times New Roman" panose="02020603050405020304" pitchFamily="18" charset="0"/>
                        </a:rPr>
                        <a:t>♣</a:t>
                      </a:r>
                      <a:endParaRPr lang="zh-TW" altLang="en-US" dirty="0"/>
                    </a:p>
                  </a:txBody>
                  <a:tcPr/>
                </a:tc>
                <a:tc>
                  <a:txBody>
                    <a:bodyPr/>
                    <a:lstStyle/>
                    <a:p>
                      <a:r>
                        <a:rPr lang="en-US" altLang="zh-TW" dirty="0">
                          <a:latin typeface="Times New Roman" panose="02020603050405020304" pitchFamily="18" charset="0"/>
                          <a:cs typeface="Times New Roman" panose="02020603050405020304" pitchFamily="18" charset="0"/>
                        </a:rPr>
                        <a:t>♦</a:t>
                      </a:r>
                      <a:endParaRPr lang="zh-TW" altLang="en-US" dirty="0"/>
                    </a:p>
                  </a:txBody>
                  <a:tcPr/>
                </a:tc>
                <a:tc>
                  <a:txBody>
                    <a:bodyPr/>
                    <a:lstStyle/>
                    <a:p>
                      <a:r>
                        <a:rPr lang="en-US" altLang="zh-TW" dirty="0">
                          <a:latin typeface="Times New Roman" panose="02020603050405020304" pitchFamily="18" charset="0"/>
                          <a:cs typeface="Times New Roman" panose="02020603050405020304" pitchFamily="18" charset="0"/>
                        </a:rPr>
                        <a:t>♥</a:t>
                      </a:r>
                      <a:endParaRPr lang="zh-TW" altLang="en-US" dirty="0"/>
                    </a:p>
                  </a:txBody>
                  <a:tcPr/>
                </a:tc>
                <a:tc>
                  <a:txBody>
                    <a:bodyPr/>
                    <a:lstStyle/>
                    <a:p>
                      <a:r>
                        <a:rPr lang="en-US" altLang="zh-TW" dirty="0">
                          <a:latin typeface="Times New Roman" panose="02020603050405020304" pitchFamily="18" charset="0"/>
                          <a:cs typeface="Times New Roman" panose="02020603050405020304" pitchFamily="18" charset="0"/>
                        </a:rPr>
                        <a:t>♠</a:t>
                      </a:r>
                      <a:endParaRPr lang="zh-TW" altLang="en-US" dirty="0"/>
                    </a:p>
                  </a:txBody>
                  <a:tcPr/>
                </a:tc>
                <a:tc>
                  <a:txBody>
                    <a:bodyPr/>
                    <a:lstStyle/>
                    <a:p>
                      <a:r>
                        <a:rPr lang="en-US" altLang="zh-TW" dirty="0">
                          <a:latin typeface="Times New Roman" panose="02020603050405020304" pitchFamily="18" charset="0"/>
                          <a:cs typeface="Times New Roman" panose="02020603050405020304" pitchFamily="18" charset="0"/>
                        </a:rPr>
                        <a:t>NT</a:t>
                      </a:r>
                      <a:endParaRPr lang="zh-TW" altLang="en-US" dirty="0"/>
                    </a:p>
                  </a:txBody>
                  <a:tcPr/>
                </a:tc>
                <a:extLst>
                  <a:ext uri="{0D108BD9-81ED-4DB2-BD59-A6C34878D82A}">
                    <a16:rowId xmlns:a16="http://schemas.microsoft.com/office/drawing/2014/main" val="507639293"/>
                  </a:ext>
                </a:extLst>
              </a:tr>
              <a:tr h="370840">
                <a:tc>
                  <a:txBody>
                    <a:bodyPr/>
                    <a:lstStyle/>
                    <a:p>
                      <a:r>
                        <a:rPr lang="en-US" altLang="zh-TW" dirty="0"/>
                        <a:t>1</a:t>
                      </a:r>
                      <a:endParaRPr lang="zh-TW" altLang="en-US" dirty="0"/>
                    </a:p>
                  </a:txBody>
                  <a:tcPr/>
                </a:tc>
                <a:tc>
                  <a:txBody>
                    <a:bodyPr/>
                    <a:lstStyle/>
                    <a:p>
                      <a:r>
                        <a:rPr lang="en-US" altLang="zh-TW" dirty="0"/>
                        <a:t>1</a:t>
                      </a:r>
                      <a:r>
                        <a:rPr lang="en-US" altLang="zh-TW" dirty="0">
                          <a:latin typeface="Times New Roman" panose="02020603050405020304" pitchFamily="18" charset="0"/>
                          <a:cs typeface="Times New Roman" panose="02020603050405020304" pitchFamily="18" charset="0"/>
                        </a:rPr>
                        <a:t>♣</a:t>
                      </a:r>
                      <a:endParaRPr lang="zh-TW" altLang="en-US" dirty="0"/>
                    </a:p>
                  </a:txBody>
                  <a:tcPr/>
                </a:tc>
                <a:tc>
                  <a:txBody>
                    <a:bodyPr/>
                    <a:lstStyle/>
                    <a:p>
                      <a:r>
                        <a:rPr lang="en-US" altLang="zh-TW" dirty="0"/>
                        <a:t>1</a:t>
                      </a:r>
                      <a:r>
                        <a:rPr lang="en-US" altLang="zh-TW" dirty="0">
                          <a:latin typeface="Times New Roman" panose="02020603050405020304" pitchFamily="18" charset="0"/>
                          <a:cs typeface="Times New Roman" panose="02020603050405020304" pitchFamily="18" charset="0"/>
                        </a:rPr>
                        <a:t>♦</a:t>
                      </a:r>
                      <a:endParaRPr lang="zh-TW" altLang="en-US" dirty="0"/>
                    </a:p>
                  </a:txBody>
                  <a:tcPr/>
                </a:tc>
                <a:tc>
                  <a:txBody>
                    <a:bodyPr/>
                    <a:lstStyle/>
                    <a:p>
                      <a:r>
                        <a:rPr lang="en-US" altLang="zh-TW" dirty="0"/>
                        <a:t>1</a:t>
                      </a:r>
                      <a:r>
                        <a:rPr lang="en-US" altLang="zh-TW" dirty="0">
                          <a:latin typeface="Times New Roman" panose="02020603050405020304" pitchFamily="18" charset="0"/>
                          <a:cs typeface="Times New Roman" panose="02020603050405020304" pitchFamily="18" charset="0"/>
                        </a:rPr>
                        <a:t>♥</a:t>
                      </a:r>
                      <a:endParaRPr lang="zh-TW" altLang="en-US" dirty="0"/>
                    </a:p>
                  </a:txBody>
                  <a:tcPr/>
                </a:tc>
                <a:tc>
                  <a:txBody>
                    <a:bodyPr/>
                    <a:lstStyle/>
                    <a:p>
                      <a:r>
                        <a:rPr lang="en-US" altLang="zh-TW" dirty="0"/>
                        <a:t>1</a:t>
                      </a:r>
                      <a:r>
                        <a:rPr lang="en-US" altLang="zh-TW" dirty="0">
                          <a:latin typeface="Times New Roman" panose="02020603050405020304" pitchFamily="18" charset="0"/>
                          <a:cs typeface="Times New Roman" panose="02020603050405020304" pitchFamily="18" charset="0"/>
                        </a:rPr>
                        <a:t>♠</a:t>
                      </a:r>
                      <a:endParaRPr lang="zh-TW" altLang="en-US" dirty="0"/>
                    </a:p>
                  </a:txBody>
                  <a:tcPr/>
                </a:tc>
                <a:tc>
                  <a:txBody>
                    <a:bodyPr/>
                    <a:lstStyle/>
                    <a:p>
                      <a:r>
                        <a:rPr lang="en-US" altLang="zh-TW" dirty="0"/>
                        <a:t>1</a:t>
                      </a:r>
                      <a:r>
                        <a:rPr lang="en-US" altLang="zh-TW" dirty="0">
                          <a:latin typeface="Times New Roman" panose="02020603050405020304" pitchFamily="18" charset="0"/>
                          <a:cs typeface="Times New Roman" panose="02020603050405020304" pitchFamily="18" charset="0"/>
                        </a:rPr>
                        <a:t>NT</a:t>
                      </a:r>
                      <a:endParaRPr lang="zh-TW" altLang="en-US" dirty="0"/>
                    </a:p>
                  </a:txBody>
                  <a:tcPr/>
                </a:tc>
                <a:extLst>
                  <a:ext uri="{0D108BD9-81ED-4DB2-BD59-A6C34878D82A}">
                    <a16:rowId xmlns:a16="http://schemas.microsoft.com/office/drawing/2014/main" val="2379678964"/>
                  </a:ext>
                </a:extLst>
              </a:tr>
              <a:tr h="370840">
                <a:tc>
                  <a:txBody>
                    <a:bodyPr/>
                    <a:lstStyle/>
                    <a:p>
                      <a:r>
                        <a:rPr lang="en-US" altLang="zh-TW" dirty="0"/>
                        <a:t>2</a:t>
                      </a:r>
                      <a:endParaRPr lang="zh-TW" altLang="en-US" dirty="0"/>
                    </a:p>
                  </a:txBody>
                  <a:tcPr/>
                </a:tc>
                <a:tc>
                  <a:txBody>
                    <a:bodyPr/>
                    <a:lstStyle/>
                    <a:p>
                      <a:r>
                        <a:rPr lang="en-US" altLang="zh-TW" dirty="0"/>
                        <a:t>2</a:t>
                      </a:r>
                      <a:r>
                        <a:rPr lang="en-US" altLang="zh-TW" dirty="0">
                          <a:latin typeface="Times New Roman" panose="02020603050405020304" pitchFamily="18" charset="0"/>
                          <a:cs typeface="Times New Roman" panose="02020603050405020304" pitchFamily="18" charset="0"/>
                        </a:rPr>
                        <a:t>♣</a:t>
                      </a:r>
                      <a:endParaRPr lang="zh-TW" altLang="en-US" dirty="0"/>
                    </a:p>
                  </a:txBody>
                  <a:tcPr/>
                </a:tc>
                <a:tc>
                  <a:txBody>
                    <a:bodyPr/>
                    <a:lstStyle/>
                    <a:p>
                      <a:r>
                        <a:rPr lang="en-US" altLang="zh-TW" dirty="0"/>
                        <a:t>2</a:t>
                      </a:r>
                      <a:r>
                        <a:rPr lang="en-US" altLang="zh-TW" dirty="0">
                          <a:latin typeface="Times New Roman" panose="02020603050405020304" pitchFamily="18" charset="0"/>
                          <a:cs typeface="Times New Roman" panose="02020603050405020304" pitchFamily="18" charset="0"/>
                        </a:rPr>
                        <a:t>♦</a:t>
                      </a:r>
                      <a:endParaRPr lang="zh-TW" altLang="en-US" dirty="0"/>
                    </a:p>
                  </a:txBody>
                  <a:tcPr/>
                </a:tc>
                <a:tc>
                  <a:txBody>
                    <a:bodyPr/>
                    <a:lstStyle/>
                    <a:p>
                      <a:r>
                        <a:rPr lang="en-US" altLang="zh-TW" dirty="0"/>
                        <a:t>2</a:t>
                      </a:r>
                      <a:r>
                        <a:rPr lang="en-US" altLang="zh-TW" dirty="0">
                          <a:latin typeface="Times New Roman" panose="02020603050405020304" pitchFamily="18" charset="0"/>
                          <a:cs typeface="Times New Roman" panose="02020603050405020304" pitchFamily="18" charset="0"/>
                        </a:rPr>
                        <a:t>♥</a:t>
                      </a:r>
                      <a:endParaRPr lang="zh-TW" altLang="en-US" dirty="0"/>
                    </a:p>
                  </a:txBody>
                  <a:tcPr/>
                </a:tc>
                <a:tc>
                  <a:txBody>
                    <a:bodyPr/>
                    <a:lstStyle/>
                    <a:p>
                      <a:r>
                        <a:rPr lang="en-US" altLang="zh-TW" dirty="0"/>
                        <a:t>2</a:t>
                      </a:r>
                      <a:r>
                        <a:rPr lang="en-US" altLang="zh-TW" dirty="0">
                          <a:latin typeface="Times New Roman" panose="02020603050405020304" pitchFamily="18" charset="0"/>
                          <a:cs typeface="Times New Roman" panose="02020603050405020304" pitchFamily="18" charset="0"/>
                        </a:rPr>
                        <a:t>♠</a:t>
                      </a:r>
                      <a:endParaRPr lang="zh-TW" altLang="en-US" dirty="0"/>
                    </a:p>
                  </a:txBody>
                  <a:tcPr/>
                </a:tc>
                <a:tc>
                  <a:txBody>
                    <a:bodyPr/>
                    <a:lstStyle/>
                    <a:p>
                      <a:r>
                        <a:rPr lang="en-US" altLang="zh-TW" dirty="0"/>
                        <a:t>2</a:t>
                      </a:r>
                      <a:r>
                        <a:rPr lang="en-US" altLang="zh-TW" dirty="0">
                          <a:latin typeface="Times New Roman" panose="02020603050405020304" pitchFamily="18" charset="0"/>
                          <a:cs typeface="Times New Roman" panose="02020603050405020304" pitchFamily="18" charset="0"/>
                        </a:rPr>
                        <a:t>NT</a:t>
                      </a:r>
                      <a:endParaRPr lang="zh-TW" altLang="en-US" dirty="0"/>
                    </a:p>
                  </a:txBody>
                  <a:tcPr/>
                </a:tc>
                <a:extLst>
                  <a:ext uri="{0D108BD9-81ED-4DB2-BD59-A6C34878D82A}">
                    <a16:rowId xmlns:a16="http://schemas.microsoft.com/office/drawing/2014/main" val="304591566"/>
                  </a:ext>
                </a:extLst>
              </a:tr>
              <a:tr h="370840">
                <a:tc>
                  <a:txBody>
                    <a:bodyPr/>
                    <a:lstStyle/>
                    <a:p>
                      <a:r>
                        <a:rPr lang="en-US" altLang="zh-TW" dirty="0"/>
                        <a:t>3</a:t>
                      </a:r>
                      <a:endParaRPr lang="zh-TW" altLang="en-US" dirty="0"/>
                    </a:p>
                  </a:txBody>
                  <a:tcPr/>
                </a:tc>
                <a:tc>
                  <a:txBody>
                    <a:bodyPr/>
                    <a:lstStyle/>
                    <a:p>
                      <a:r>
                        <a:rPr lang="en-US" altLang="zh-TW" dirty="0"/>
                        <a:t>3</a:t>
                      </a:r>
                      <a:r>
                        <a:rPr lang="en-US" altLang="zh-TW" dirty="0">
                          <a:latin typeface="Times New Roman" panose="02020603050405020304" pitchFamily="18" charset="0"/>
                          <a:cs typeface="Times New Roman" panose="02020603050405020304" pitchFamily="18" charset="0"/>
                        </a:rPr>
                        <a:t>♣</a:t>
                      </a:r>
                      <a:endParaRPr lang="zh-TW" altLang="en-US" dirty="0"/>
                    </a:p>
                  </a:txBody>
                  <a:tcPr/>
                </a:tc>
                <a:tc>
                  <a:txBody>
                    <a:bodyPr/>
                    <a:lstStyle/>
                    <a:p>
                      <a:r>
                        <a:rPr lang="en-US" altLang="zh-TW" dirty="0"/>
                        <a:t>3</a:t>
                      </a:r>
                      <a:r>
                        <a:rPr lang="en-US" altLang="zh-TW" dirty="0">
                          <a:latin typeface="Times New Roman" panose="02020603050405020304" pitchFamily="18" charset="0"/>
                          <a:cs typeface="Times New Roman" panose="02020603050405020304" pitchFamily="18" charset="0"/>
                        </a:rPr>
                        <a:t>♦</a:t>
                      </a:r>
                      <a:endParaRPr lang="zh-TW" altLang="en-US" dirty="0"/>
                    </a:p>
                  </a:txBody>
                  <a:tcPr/>
                </a:tc>
                <a:tc>
                  <a:txBody>
                    <a:bodyPr/>
                    <a:lstStyle/>
                    <a:p>
                      <a:r>
                        <a:rPr lang="en-US" altLang="zh-TW" dirty="0"/>
                        <a:t>3</a:t>
                      </a:r>
                      <a:r>
                        <a:rPr lang="en-US" altLang="zh-TW" dirty="0">
                          <a:latin typeface="Times New Roman" panose="02020603050405020304" pitchFamily="18" charset="0"/>
                          <a:cs typeface="Times New Roman" panose="02020603050405020304" pitchFamily="18" charset="0"/>
                        </a:rPr>
                        <a:t>♥</a:t>
                      </a:r>
                      <a:endParaRPr lang="zh-TW" altLang="en-US" dirty="0"/>
                    </a:p>
                  </a:txBody>
                  <a:tcPr/>
                </a:tc>
                <a:tc>
                  <a:txBody>
                    <a:bodyPr/>
                    <a:lstStyle/>
                    <a:p>
                      <a:r>
                        <a:rPr lang="en-US" altLang="zh-TW" dirty="0"/>
                        <a:t>3</a:t>
                      </a:r>
                      <a:r>
                        <a:rPr lang="en-US" altLang="zh-TW" dirty="0">
                          <a:latin typeface="Times New Roman" panose="02020603050405020304" pitchFamily="18" charset="0"/>
                          <a:cs typeface="Times New Roman" panose="02020603050405020304" pitchFamily="18" charset="0"/>
                        </a:rPr>
                        <a:t>♠</a:t>
                      </a:r>
                      <a:endParaRPr lang="zh-TW" altLang="en-US" dirty="0"/>
                    </a:p>
                  </a:txBody>
                  <a:tcPr/>
                </a:tc>
                <a:tc>
                  <a:txBody>
                    <a:bodyPr/>
                    <a:lstStyle/>
                    <a:p>
                      <a:r>
                        <a:rPr lang="en-US" altLang="zh-TW" dirty="0"/>
                        <a:t>3</a:t>
                      </a:r>
                      <a:r>
                        <a:rPr lang="en-US" altLang="zh-TW" dirty="0">
                          <a:latin typeface="Times New Roman" panose="02020603050405020304" pitchFamily="18" charset="0"/>
                          <a:cs typeface="Times New Roman" panose="02020603050405020304" pitchFamily="18" charset="0"/>
                        </a:rPr>
                        <a:t>NT</a:t>
                      </a:r>
                      <a:endParaRPr lang="zh-TW" altLang="en-US" dirty="0"/>
                    </a:p>
                  </a:txBody>
                  <a:tcPr/>
                </a:tc>
                <a:extLst>
                  <a:ext uri="{0D108BD9-81ED-4DB2-BD59-A6C34878D82A}">
                    <a16:rowId xmlns:a16="http://schemas.microsoft.com/office/drawing/2014/main" val="1683374679"/>
                  </a:ext>
                </a:extLst>
              </a:tr>
              <a:tr h="370840">
                <a:tc>
                  <a:txBody>
                    <a:bodyPr/>
                    <a:lstStyle/>
                    <a:p>
                      <a:r>
                        <a:rPr lang="en-US" altLang="zh-TW" dirty="0"/>
                        <a:t>4</a:t>
                      </a:r>
                      <a:endParaRPr lang="zh-TW" altLang="en-US" dirty="0"/>
                    </a:p>
                  </a:txBody>
                  <a:tcPr/>
                </a:tc>
                <a:tc>
                  <a:txBody>
                    <a:bodyPr/>
                    <a:lstStyle/>
                    <a:p>
                      <a:r>
                        <a:rPr lang="en-US" altLang="zh-TW" dirty="0"/>
                        <a:t>4</a:t>
                      </a:r>
                      <a:r>
                        <a:rPr lang="en-US" altLang="zh-TW" dirty="0">
                          <a:latin typeface="Times New Roman" panose="02020603050405020304" pitchFamily="18" charset="0"/>
                          <a:cs typeface="Times New Roman" panose="02020603050405020304" pitchFamily="18" charset="0"/>
                        </a:rPr>
                        <a:t>♣</a:t>
                      </a:r>
                      <a:endParaRPr lang="zh-TW" altLang="en-US" dirty="0"/>
                    </a:p>
                  </a:txBody>
                  <a:tcPr/>
                </a:tc>
                <a:tc>
                  <a:txBody>
                    <a:bodyPr/>
                    <a:lstStyle/>
                    <a:p>
                      <a:r>
                        <a:rPr lang="en-US" altLang="zh-TW" dirty="0"/>
                        <a:t>4</a:t>
                      </a:r>
                      <a:r>
                        <a:rPr lang="en-US" altLang="zh-TW" dirty="0">
                          <a:latin typeface="Times New Roman" panose="02020603050405020304" pitchFamily="18" charset="0"/>
                          <a:cs typeface="Times New Roman" panose="02020603050405020304" pitchFamily="18" charset="0"/>
                        </a:rPr>
                        <a:t>♦</a:t>
                      </a:r>
                      <a:endParaRPr lang="zh-TW" altLang="en-US" dirty="0"/>
                    </a:p>
                  </a:txBody>
                  <a:tcPr/>
                </a:tc>
                <a:tc>
                  <a:txBody>
                    <a:bodyPr/>
                    <a:lstStyle/>
                    <a:p>
                      <a:r>
                        <a:rPr lang="en-US" altLang="zh-TW" dirty="0"/>
                        <a:t>4</a:t>
                      </a:r>
                      <a:r>
                        <a:rPr lang="en-US" altLang="zh-TW" dirty="0">
                          <a:latin typeface="Times New Roman" panose="02020603050405020304" pitchFamily="18" charset="0"/>
                          <a:cs typeface="Times New Roman" panose="02020603050405020304" pitchFamily="18" charset="0"/>
                        </a:rPr>
                        <a:t>♥</a:t>
                      </a:r>
                      <a:endParaRPr lang="zh-TW" altLang="en-US" dirty="0"/>
                    </a:p>
                  </a:txBody>
                  <a:tcPr/>
                </a:tc>
                <a:tc>
                  <a:txBody>
                    <a:bodyPr/>
                    <a:lstStyle/>
                    <a:p>
                      <a:r>
                        <a:rPr lang="en-US" altLang="zh-TW" dirty="0"/>
                        <a:t>4</a:t>
                      </a:r>
                      <a:r>
                        <a:rPr lang="en-US" altLang="zh-TW" dirty="0">
                          <a:latin typeface="Times New Roman" panose="02020603050405020304" pitchFamily="18" charset="0"/>
                          <a:cs typeface="Times New Roman" panose="02020603050405020304" pitchFamily="18" charset="0"/>
                        </a:rPr>
                        <a:t>♠</a:t>
                      </a:r>
                      <a:endParaRPr lang="zh-TW" altLang="en-US" dirty="0"/>
                    </a:p>
                  </a:txBody>
                  <a:tcPr/>
                </a:tc>
                <a:tc>
                  <a:txBody>
                    <a:bodyPr/>
                    <a:lstStyle/>
                    <a:p>
                      <a:r>
                        <a:rPr lang="en-US" altLang="zh-TW" dirty="0"/>
                        <a:t>4</a:t>
                      </a:r>
                      <a:r>
                        <a:rPr lang="en-US" altLang="zh-TW" dirty="0">
                          <a:latin typeface="Times New Roman" panose="02020603050405020304" pitchFamily="18" charset="0"/>
                          <a:cs typeface="Times New Roman" panose="02020603050405020304" pitchFamily="18" charset="0"/>
                        </a:rPr>
                        <a:t>NT</a:t>
                      </a:r>
                      <a:endParaRPr lang="zh-TW" altLang="en-US" dirty="0"/>
                    </a:p>
                  </a:txBody>
                  <a:tcPr/>
                </a:tc>
                <a:extLst>
                  <a:ext uri="{0D108BD9-81ED-4DB2-BD59-A6C34878D82A}">
                    <a16:rowId xmlns:a16="http://schemas.microsoft.com/office/drawing/2014/main" val="87527879"/>
                  </a:ext>
                </a:extLst>
              </a:tr>
              <a:tr h="370840">
                <a:tc>
                  <a:txBody>
                    <a:bodyPr/>
                    <a:lstStyle/>
                    <a:p>
                      <a:r>
                        <a:rPr lang="en-US" altLang="zh-TW" dirty="0"/>
                        <a:t>5</a:t>
                      </a:r>
                      <a:endParaRPr lang="zh-TW" altLang="en-US" dirty="0"/>
                    </a:p>
                  </a:txBody>
                  <a:tcPr/>
                </a:tc>
                <a:tc>
                  <a:txBody>
                    <a:bodyPr/>
                    <a:lstStyle/>
                    <a:p>
                      <a:r>
                        <a:rPr lang="en-US" altLang="zh-TW" dirty="0"/>
                        <a:t>5</a:t>
                      </a:r>
                      <a:r>
                        <a:rPr lang="en-US" altLang="zh-TW" dirty="0">
                          <a:latin typeface="Times New Roman" panose="02020603050405020304" pitchFamily="18" charset="0"/>
                          <a:cs typeface="Times New Roman" panose="02020603050405020304" pitchFamily="18" charset="0"/>
                        </a:rPr>
                        <a:t>♣</a:t>
                      </a:r>
                      <a:endParaRPr lang="zh-TW" altLang="en-US" dirty="0"/>
                    </a:p>
                  </a:txBody>
                  <a:tcPr/>
                </a:tc>
                <a:tc>
                  <a:txBody>
                    <a:bodyPr/>
                    <a:lstStyle/>
                    <a:p>
                      <a:r>
                        <a:rPr lang="en-US" altLang="zh-TW" dirty="0"/>
                        <a:t>5</a:t>
                      </a:r>
                      <a:r>
                        <a:rPr lang="en-US" altLang="zh-TW" dirty="0">
                          <a:latin typeface="Times New Roman" panose="02020603050405020304" pitchFamily="18" charset="0"/>
                          <a:cs typeface="Times New Roman" panose="02020603050405020304" pitchFamily="18" charset="0"/>
                        </a:rPr>
                        <a:t>♦</a:t>
                      </a:r>
                      <a:endParaRPr lang="zh-TW" altLang="en-US" dirty="0"/>
                    </a:p>
                  </a:txBody>
                  <a:tcPr/>
                </a:tc>
                <a:tc>
                  <a:txBody>
                    <a:bodyPr/>
                    <a:lstStyle/>
                    <a:p>
                      <a:r>
                        <a:rPr lang="en-US" altLang="zh-TW" dirty="0"/>
                        <a:t>5</a:t>
                      </a:r>
                      <a:r>
                        <a:rPr lang="en-US" altLang="zh-TW" dirty="0">
                          <a:latin typeface="Times New Roman" panose="02020603050405020304" pitchFamily="18" charset="0"/>
                          <a:cs typeface="Times New Roman" panose="02020603050405020304" pitchFamily="18" charset="0"/>
                        </a:rPr>
                        <a:t>♥</a:t>
                      </a:r>
                      <a:endParaRPr lang="zh-TW" altLang="en-US" dirty="0"/>
                    </a:p>
                  </a:txBody>
                  <a:tcPr/>
                </a:tc>
                <a:tc>
                  <a:txBody>
                    <a:bodyPr/>
                    <a:lstStyle/>
                    <a:p>
                      <a:r>
                        <a:rPr lang="en-US" altLang="zh-TW" dirty="0"/>
                        <a:t>5</a:t>
                      </a:r>
                      <a:r>
                        <a:rPr lang="en-US" altLang="zh-TW" dirty="0">
                          <a:latin typeface="Times New Roman" panose="02020603050405020304" pitchFamily="18" charset="0"/>
                          <a:cs typeface="Times New Roman" panose="02020603050405020304" pitchFamily="18" charset="0"/>
                        </a:rPr>
                        <a:t>♠</a:t>
                      </a:r>
                      <a:endParaRPr lang="zh-TW" altLang="en-US" dirty="0"/>
                    </a:p>
                  </a:txBody>
                  <a:tcPr/>
                </a:tc>
                <a:tc>
                  <a:txBody>
                    <a:bodyPr/>
                    <a:lstStyle/>
                    <a:p>
                      <a:r>
                        <a:rPr lang="en-US" altLang="zh-TW" dirty="0"/>
                        <a:t>5</a:t>
                      </a:r>
                      <a:r>
                        <a:rPr lang="en-US" altLang="zh-TW" dirty="0">
                          <a:latin typeface="Times New Roman" panose="02020603050405020304" pitchFamily="18" charset="0"/>
                          <a:cs typeface="Times New Roman" panose="02020603050405020304" pitchFamily="18" charset="0"/>
                        </a:rPr>
                        <a:t>NT</a:t>
                      </a:r>
                      <a:endParaRPr lang="zh-TW" altLang="en-US" dirty="0"/>
                    </a:p>
                  </a:txBody>
                  <a:tcPr/>
                </a:tc>
                <a:extLst>
                  <a:ext uri="{0D108BD9-81ED-4DB2-BD59-A6C34878D82A}">
                    <a16:rowId xmlns:a16="http://schemas.microsoft.com/office/drawing/2014/main" val="3289204243"/>
                  </a:ext>
                </a:extLst>
              </a:tr>
              <a:tr h="370840">
                <a:tc>
                  <a:txBody>
                    <a:bodyPr/>
                    <a:lstStyle/>
                    <a:p>
                      <a:r>
                        <a:rPr lang="en-US" altLang="zh-TW" dirty="0"/>
                        <a:t>6</a:t>
                      </a:r>
                      <a:endParaRPr lang="zh-TW" altLang="en-US" dirty="0"/>
                    </a:p>
                  </a:txBody>
                  <a:tcPr/>
                </a:tc>
                <a:tc>
                  <a:txBody>
                    <a:bodyPr/>
                    <a:lstStyle/>
                    <a:p>
                      <a:r>
                        <a:rPr lang="en-US" altLang="zh-TW" dirty="0"/>
                        <a:t>6</a:t>
                      </a:r>
                      <a:r>
                        <a:rPr lang="en-US" altLang="zh-TW" dirty="0">
                          <a:latin typeface="Times New Roman" panose="02020603050405020304" pitchFamily="18" charset="0"/>
                          <a:cs typeface="Times New Roman" panose="02020603050405020304" pitchFamily="18" charset="0"/>
                        </a:rPr>
                        <a:t>♣</a:t>
                      </a:r>
                      <a:endParaRPr lang="zh-TW" altLang="en-US" dirty="0"/>
                    </a:p>
                  </a:txBody>
                  <a:tcPr/>
                </a:tc>
                <a:tc>
                  <a:txBody>
                    <a:bodyPr/>
                    <a:lstStyle/>
                    <a:p>
                      <a:r>
                        <a:rPr lang="en-US" altLang="zh-TW" dirty="0"/>
                        <a:t>6</a:t>
                      </a:r>
                      <a:r>
                        <a:rPr lang="en-US" altLang="zh-TW" dirty="0">
                          <a:latin typeface="Times New Roman" panose="02020603050405020304" pitchFamily="18" charset="0"/>
                          <a:cs typeface="Times New Roman" panose="02020603050405020304" pitchFamily="18" charset="0"/>
                        </a:rPr>
                        <a:t>♦</a:t>
                      </a:r>
                      <a:endParaRPr lang="zh-TW" altLang="en-US" dirty="0"/>
                    </a:p>
                  </a:txBody>
                  <a:tcPr/>
                </a:tc>
                <a:tc>
                  <a:txBody>
                    <a:bodyPr/>
                    <a:lstStyle/>
                    <a:p>
                      <a:r>
                        <a:rPr lang="en-US" altLang="zh-TW" dirty="0"/>
                        <a:t>6</a:t>
                      </a:r>
                      <a:r>
                        <a:rPr lang="en-US" altLang="zh-TW" dirty="0">
                          <a:latin typeface="Times New Roman" panose="02020603050405020304" pitchFamily="18" charset="0"/>
                          <a:cs typeface="Times New Roman" panose="02020603050405020304" pitchFamily="18" charset="0"/>
                        </a:rPr>
                        <a:t>♥</a:t>
                      </a:r>
                      <a:endParaRPr lang="zh-TW" altLang="en-US" dirty="0"/>
                    </a:p>
                  </a:txBody>
                  <a:tcPr/>
                </a:tc>
                <a:tc>
                  <a:txBody>
                    <a:bodyPr/>
                    <a:lstStyle/>
                    <a:p>
                      <a:r>
                        <a:rPr lang="en-US" altLang="zh-TW" dirty="0"/>
                        <a:t>6</a:t>
                      </a:r>
                      <a:r>
                        <a:rPr lang="en-US" altLang="zh-TW" dirty="0">
                          <a:latin typeface="Times New Roman" panose="02020603050405020304" pitchFamily="18" charset="0"/>
                          <a:cs typeface="Times New Roman" panose="02020603050405020304" pitchFamily="18" charset="0"/>
                        </a:rPr>
                        <a:t>♠</a:t>
                      </a:r>
                      <a:endParaRPr lang="zh-TW" altLang="en-US" dirty="0"/>
                    </a:p>
                  </a:txBody>
                  <a:tcPr/>
                </a:tc>
                <a:tc>
                  <a:txBody>
                    <a:bodyPr/>
                    <a:lstStyle/>
                    <a:p>
                      <a:r>
                        <a:rPr lang="en-US" altLang="zh-TW" dirty="0"/>
                        <a:t>6</a:t>
                      </a:r>
                      <a:r>
                        <a:rPr lang="en-US" altLang="zh-TW" dirty="0">
                          <a:latin typeface="Times New Roman" panose="02020603050405020304" pitchFamily="18" charset="0"/>
                          <a:cs typeface="Times New Roman" panose="02020603050405020304" pitchFamily="18" charset="0"/>
                        </a:rPr>
                        <a:t>NT</a:t>
                      </a:r>
                      <a:endParaRPr lang="zh-TW" altLang="en-US" dirty="0"/>
                    </a:p>
                  </a:txBody>
                  <a:tcPr/>
                </a:tc>
                <a:extLst>
                  <a:ext uri="{0D108BD9-81ED-4DB2-BD59-A6C34878D82A}">
                    <a16:rowId xmlns:a16="http://schemas.microsoft.com/office/drawing/2014/main" val="1819582470"/>
                  </a:ext>
                </a:extLst>
              </a:tr>
              <a:tr h="370840">
                <a:tc>
                  <a:txBody>
                    <a:bodyPr/>
                    <a:lstStyle/>
                    <a:p>
                      <a:r>
                        <a:rPr lang="en-US" altLang="zh-TW" dirty="0"/>
                        <a:t>7</a:t>
                      </a:r>
                      <a:endParaRPr lang="zh-TW" altLang="en-US" dirty="0"/>
                    </a:p>
                  </a:txBody>
                  <a:tcPr/>
                </a:tc>
                <a:tc>
                  <a:txBody>
                    <a:bodyPr/>
                    <a:lstStyle/>
                    <a:p>
                      <a:r>
                        <a:rPr lang="en-US" altLang="zh-TW" dirty="0"/>
                        <a:t>7</a:t>
                      </a:r>
                      <a:r>
                        <a:rPr lang="en-US" altLang="zh-TW" dirty="0">
                          <a:latin typeface="Times New Roman" panose="02020603050405020304" pitchFamily="18" charset="0"/>
                          <a:cs typeface="Times New Roman" panose="02020603050405020304" pitchFamily="18" charset="0"/>
                        </a:rPr>
                        <a:t>♣</a:t>
                      </a:r>
                      <a:endParaRPr lang="zh-TW" altLang="en-US" dirty="0"/>
                    </a:p>
                  </a:txBody>
                  <a:tcPr/>
                </a:tc>
                <a:tc>
                  <a:txBody>
                    <a:bodyPr/>
                    <a:lstStyle/>
                    <a:p>
                      <a:r>
                        <a:rPr lang="en-US" altLang="zh-TW" dirty="0"/>
                        <a:t>7</a:t>
                      </a:r>
                      <a:r>
                        <a:rPr lang="en-US" altLang="zh-TW" dirty="0">
                          <a:latin typeface="Times New Roman" panose="02020603050405020304" pitchFamily="18" charset="0"/>
                          <a:cs typeface="Times New Roman" panose="02020603050405020304" pitchFamily="18" charset="0"/>
                        </a:rPr>
                        <a:t>♦</a:t>
                      </a:r>
                      <a:endParaRPr lang="zh-TW" altLang="en-US" dirty="0"/>
                    </a:p>
                  </a:txBody>
                  <a:tcPr/>
                </a:tc>
                <a:tc>
                  <a:txBody>
                    <a:bodyPr/>
                    <a:lstStyle/>
                    <a:p>
                      <a:r>
                        <a:rPr lang="en-US" altLang="zh-TW" dirty="0"/>
                        <a:t>7</a:t>
                      </a:r>
                      <a:r>
                        <a:rPr lang="en-US" altLang="zh-TW" dirty="0">
                          <a:latin typeface="Times New Roman" panose="02020603050405020304" pitchFamily="18" charset="0"/>
                          <a:cs typeface="Times New Roman" panose="02020603050405020304" pitchFamily="18" charset="0"/>
                        </a:rPr>
                        <a:t>♥</a:t>
                      </a:r>
                      <a:endParaRPr lang="zh-TW" altLang="en-US" dirty="0"/>
                    </a:p>
                  </a:txBody>
                  <a:tcPr/>
                </a:tc>
                <a:tc>
                  <a:txBody>
                    <a:bodyPr/>
                    <a:lstStyle/>
                    <a:p>
                      <a:r>
                        <a:rPr lang="en-US" altLang="zh-TW" dirty="0"/>
                        <a:t>7</a:t>
                      </a:r>
                      <a:r>
                        <a:rPr lang="en-US" altLang="zh-TW" dirty="0">
                          <a:latin typeface="Times New Roman" panose="02020603050405020304" pitchFamily="18" charset="0"/>
                          <a:cs typeface="Times New Roman" panose="02020603050405020304" pitchFamily="18" charset="0"/>
                        </a:rPr>
                        <a:t>♠</a:t>
                      </a:r>
                      <a:endParaRPr lang="zh-TW" altLang="en-US" dirty="0"/>
                    </a:p>
                  </a:txBody>
                  <a:tcPr/>
                </a:tc>
                <a:tc>
                  <a:txBody>
                    <a:bodyPr/>
                    <a:lstStyle/>
                    <a:p>
                      <a:r>
                        <a:rPr lang="en-US" altLang="zh-TW" dirty="0"/>
                        <a:t>7</a:t>
                      </a:r>
                      <a:r>
                        <a:rPr lang="en-US" altLang="zh-TW" dirty="0">
                          <a:latin typeface="Times New Roman" panose="02020603050405020304" pitchFamily="18" charset="0"/>
                          <a:cs typeface="Times New Roman" panose="02020603050405020304" pitchFamily="18" charset="0"/>
                        </a:rPr>
                        <a:t>NT</a:t>
                      </a:r>
                      <a:endParaRPr lang="zh-TW" altLang="en-US" dirty="0"/>
                    </a:p>
                  </a:txBody>
                  <a:tcPr/>
                </a:tc>
                <a:extLst>
                  <a:ext uri="{0D108BD9-81ED-4DB2-BD59-A6C34878D82A}">
                    <a16:rowId xmlns:a16="http://schemas.microsoft.com/office/drawing/2014/main" val="389484198"/>
                  </a:ext>
                </a:extLst>
              </a:tr>
            </a:tbl>
          </a:graphicData>
        </a:graphic>
      </p:graphicFrame>
    </p:spTree>
    <p:extLst>
      <p:ext uri="{BB962C8B-B14F-4D97-AF65-F5344CB8AC3E}">
        <p14:creationId xmlns:p14="http://schemas.microsoft.com/office/powerpoint/2010/main" val="2270524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Problem</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normAutofit/>
          </a:bodyPr>
          <a:lstStyle/>
          <a:p>
            <a:r>
              <a:rPr lang="en-US" altLang="zh-TW" dirty="0">
                <a:latin typeface="Times New Roman" panose="02020603050405020304" pitchFamily="18" charset="0"/>
                <a:cs typeface="Times New Roman" panose="02020603050405020304" pitchFamily="18" charset="0"/>
              </a:rPr>
              <a:t>Goal : learn a bidding strategy G(</a:t>
            </a:r>
            <a:r>
              <a:rPr lang="en-US" altLang="zh-TW" dirty="0" err="1">
                <a:latin typeface="Times New Roman" panose="02020603050405020304" pitchFamily="18" charset="0"/>
                <a:cs typeface="Times New Roman" panose="02020603050405020304" pitchFamily="18" charset="0"/>
              </a:rPr>
              <a:t>x</a:t>
            </a:r>
            <a:r>
              <a:rPr lang="en-US" altLang="zh-TW" baseline="-25000" dirty="0" err="1">
                <a:latin typeface="Times New Roman" panose="02020603050405020304" pitchFamily="18" charset="0"/>
                <a:cs typeface="Times New Roman" panose="02020603050405020304" pitchFamily="18" charset="0"/>
              </a:rPr>
              <a:t>n</a:t>
            </a:r>
            <a:r>
              <a:rPr lang="en-US" altLang="zh-TW" dirty="0" err="1">
                <a:latin typeface="Times New Roman" panose="02020603050405020304" pitchFamily="18" charset="0"/>
                <a:cs typeface="Times New Roman" panose="02020603050405020304" pitchFamily="18" charset="0"/>
              </a:rPr>
              <a:t>,x</a:t>
            </a:r>
            <a:r>
              <a:rPr lang="en-US" altLang="zh-TW" baseline="-25000" dirty="0" err="1">
                <a:latin typeface="Times New Roman" panose="02020603050405020304" pitchFamily="18" charset="0"/>
                <a:cs typeface="Times New Roman" panose="02020603050405020304" pitchFamily="18" charset="0"/>
              </a:rPr>
              <a:t>s</a:t>
            </a:r>
            <a:r>
              <a:rPr lang="en-US" altLang="zh-TW" dirty="0">
                <a:latin typeface="Times New Roman" panose="02020603050405020304" pitchFamily="18" charset="0"/>
                <a:cs typeface="Times New Roman" panose="02020603050405020304" pitchFamily="18" charset="0"/>
              </a:rPr>
              <a:t>) for predicting B</a:t>
            </a:r>
          </a:p>
          <a:p>
            <a:r>
              <a:rPr lang="en-US" altLang="zh-TW" dirty="0">
                <a:latin typeface="Times New Roman" panose="02020603050405020304" pitchFamily="18" charset="0"/>
                <a:cs typeface="Times New Roman" panose="02020603050405020304" pitchFamily="18" charset="0"/>
              </a:rPr>
              <a:t>x : the cards of a player</a:t>
            </a:r>
          </a:p>
          <a:p>
            <a:r>
              <a:rPr lang="en-US" altLang="zh-TW" dirty="0">
                <a:latin typeface="Times New Roman" panose="02020603050405020304" pitchFamily="18" charset="0"/>
                <a:cs typeface="Times New Roman" panose="02020603050405020304" pitchFamily="18" charset="0"/>
              </a:rPr>
              <a:t>B</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the bids of that player and the bids of her/his teammate</a:t>
            </a:r>
          </a:p>
          <a:p>
            <a:endParaRPr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1269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Problem</a:t>
            </a:r>
            <a:endParaRPr lang="zh-TW" alt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fontScale="85000" lnSpcReduction="10000"/>
              </a:bodyPr>
              <a:lstStyle/>
              <a:p>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𝐺</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𝑥</m:t>
                        </m:r>
                        <m:r>
                          <a:rPr lang="en-US" altLang="zh-TW" b="0" i="1" smtClean="0">
                            <a:latin typeface="Cambria Math" panose="02040503050406030204" pitchFamily="18" charset="0"/>
                            <a:cs typeface="Times New Roman" panose="02020603050405020304" pitchFamily="18" charset="0"/>
                          </a:rPr>
                          <m:t>,</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𝑏</m:t>
                            </m:r>
                          </m:e>
                          <m:sup>
                            <m:r>
                              <a:rPr lang="en-US" altLang="zh-TW" b="0" i="1" smtClean="0">
                                <a:latin typeface="Cambria Math" panose="02040503050406030204" pitchFamily="18" charset="0"/>
                                <a:cs typeface="Times New Roman" panose="02020603050405020304" pitchFamily="18" charset="0"/>
                              </a:rPr>
                              <m:t>𝑘</m:t>
                            </m:r>
                          </m:sup>
                        </m:sSup>
                      </m:e>
                    </m:d>
                    <m: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𝐵</m:t>
                    </m:r>
                  </m:oMath>
                </a14:m>
                <a:endParaRPr lang="en-US" altLang="zh-TW" b="0" dirty="0">
                  <a:latin typeface="Times New Roman" panose="02020603050405020304" pitchFamily="18" charset="0"/>
                  <a:ea typeface="Cambria Math" panose="02040503050406030204" pitchFamily="18" charset="0"/>
                  <a:cs typeface="Times New Roman" panose="02020603050405020304" pitchFamily="18" charset="0"/>
                </a:endParaRPr>
              </a:p>
              <a:p>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𝑏</m:t>
                    </m:r>
                    <m:d>
                      <m:dPr>
                        <m:begChr m:val="["/>
                        <m:endChr m:val="]"/>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1</m:t>
                        </m:r>
                      </m:e>
                    </m:d>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𝑔</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𝑥</m:t>
                        </m:r>
                        <m:r>
                          <a:rPr lang="en-US" altLang="zh-TW" b="0" i="1" smtClean="0">
                            <a:latin typeface="Cambria Math" panose="02040503050406030204" pitchFamily="18" charset="0"/>
                            <a:cs typeface="Times New Roman" panose="02020603050405020304" pitchFamily="18" charset="0"/>
                          </a:rPr>
                          <m:t>,</m:t>
                        </m:r>
                        <m:r>
                          <a:rPr lang="zh-TW" altLang="en-US" b="0" i="1" smtClean="0">
                            <a:latin typeface="Cambria Math" panose="02040503050406030204" pitchFamily="18" charset="0"/>
                            <a:cs typeface="Times New Roman" panose="02020603050405020304" pitchFamily="18" charset="0"/>
                          </a:rPr>
                          <m:t>𝜙</m:t>
                        </m:r>
                      </m:e>
                    </m:d>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𝑏</m:t>
                    </m:r>
                    <m:d>
                      <m:dPr>
                        <m:begChr m:val="["/>
                        <m:endChr m:val="]"/>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2</m:t>
                        </m:r>
                      </m:e>
                    </m:d>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𝑔</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𝑥</m:t>
                        </m:r>
                        <m:r>
                          <a:rPr lang="en-US" altLang="zh-TW" b="0" i="1" smtClean="0">
                            <a:latin typeface="Cambria Math" panose="02040503050406030204" pitchFamily="18" charset="0"/>
                            <a:cs typeface="Times New Roman" panose="02020603050405020304" pitchFamily="18" charset="0"/>
                          </a:rPr>
                          <m:t>,</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𝑏</m:t>
                            </m:r>
                          </m:e>
                          <m:sup>
                            <m:r>
                              <a:rPr lang="en-US" altLang="zh-TW" b="0" i="1" smtClean="0">
                                <a:latin typeface="Cambria Math" panose="02040503050406030204" pitchFamily="18" charset="0"/>
                                <a:cs typeface="Times New Roman" panose="02020603050405020304" pitchFamily="18" charset="0"/>
                              </a:rPr>
                              <m:t>1</m:t>
                            </m:r>
                          </m:sup>
                        </m:sSup>
                      </m:e>
                    </m:d>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𝑏</m:t>
                    </m:r>
                    <m:d>
                      <m:dPr>
                        <m:begChr m:val="["/>
                        <m:endChr m:val="]"/>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𝑙</m:t>
                        </m:r>
                      </m:e>
                    </m:d>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𝑔</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𝑥</m:t>
                    </m:r>
                    <m:r>
                      <a:rPr lang="en-US" altLang="zh-TW" b="0" i="1" smtClean="0">
                        <a:latin typeface="Cambria Math" panose="02040503050406030204" pitchFamily="18" charset="0"/>
                        <a:cs typeface="Times New Roman" panose="02020603050405020304" pitchFamily="18" charset="0"/>
                      </a:rPr>
                      <m:t>,</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𝑏</m:t>
                        </m:r>
                      </m:e>
                      <m:sup>
                        <m:r>
                          <a:rPr lang="en-US" altLang="zh-TW" b="0" i="1" smtClean="0">
                            <a:latin typeface="Cambria Math" panose="02040503050406030204" pitchFamily="18" charset="0"/>
                            <a:cs typeface="Times New Roman" panose="02020603050405020304" pitchFamily="18" charset="0"/>
                          </a:rPr>
                          <m:t>𝑙</m:t>
                        </m:r>
                        <m:r>
                          <a:rPr lang="en-US" altLang="zh-TW" b="0" i="1" smtClean="0">
                            <a:latin typeface="Cambria Math" panose="02040503050406030204" pitchFamily="18" charset="0"/>
                            <a:cs typeface="Times New Roman" panose="02020603050405020304" pitchFamily="18" charset="0"/>
                          </a:rPr>
                          <m:t>−1</m:t>
                        </m:r>
                      </m:sup>
                    </m:sSup>
                    <m:r>
                      <a:rPr lang="en-US" altLang="zh-TW" b="0" i="1" smtClean="0">
                        <a:latin typeface="Cambria Math" panose="02040503050406030204" pitchFamily="18" charset="0"/>
                        <a:cs typeface="Times New Roman" panose="02020603050405020304" pitchFamily="18" charset="0"/>
                      </a:rPr>
                      <m:t>)</m:t>
                    </m:r>
                  </m:oMath>
                </a14:m>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Obtain the score of all possible contracts through Double Dummy Analysis and store the distance between best score as a cost vector C</a:t>
                </a:r>
              </a:p>
              <a:p>
                <a:r>
                  <a:rPr lang="en-US" altLang="zh-TW" dirty="0">
                    <a:latin typeface="Times New Roman" panose="02020603050405020304" pitchFamily="18" charset="0"/>
                    <a:cs typeface="Times New Roman" panose="02020603050405020304" pitchFamily="18" charset="0"/>
                  </a:rPr>
                  <a:t>Learn the bidding strategy G(</a:t>
                </a:r>
                <a:r>
                  <a:rPr lang="en-US" altLang="zh-TW" dirty="0" err="1">
                    <a:latin typeface="Times New Roman" panose="02020603050405020304" pitchFamily="18" charset="0"/>
                    <a:cs typeface="Times New Roman" panose="02020603050405020304" pitchFamily="18" charset="0"/>
                  </a:rPr>
                  <a:t>X</a:t>
                </a:r>
                <a:r>
                  <a:rPr lang="en-US" altLang="zh-TW" baseline="-25000" dirty="0" err="1">
                    <a:latin typeface="Times New Roman" panose="02020603050405020304" pitchFamily="18" charset="0"/>
                    <a:cs typeface="Times New Roman" panose="02020603050405020304" pitchFamily="18" charset="0"/>
                  </a:rPr>
                  <a:t>n</a:t>
                </a:r>
                <a:r>
                  <a:rPr lang="en-US" altLang="zh-TW" dirty="0" err="1">
                    <a:latin typeface="Times New Roman" panose="02020603050405020304" pitchFamily="18" charset="0"/>
                    <a:cs typeface="Times New Roman" panose="02020603050405020304" pitchFamily="18" charset="0"/>
                  </a:rPr>
                  <a:t>,X</a:t>
                </a:r>
                <a:r>
                  <a:rPr lang="en-US" altLang="zh-TW" baseline="-25000" dirty="0" err="1">
                    <a:latin typeface="Times New Roman" panose="02020603050405020304" pitchFamily="18" charset="0"/>
                    <a:cs typeface="Times New Roman" panose="02020603050405020304" pitchFamily="18" charset="0"/>
                  </a:rPr>
                  <a:t>s</a:t>
                </a:r>
                <a:r>
                  <a:rPr lang="en-US" altLang="zh-TW" dirty="0">
                    <a:latin typeface="Times New Roman" panose="02020603050405020304" pitchFamily="18" charset="0"/>
                    <a:cs typeface="Times New Roman" panose="02020603050405020304" pitchFamily="18" charset="0"/>
                  </a:rPr>
                  <a:t>) that minimizes the average cost of the predicted contracts</a:t>
                </a:r>
              </a:p>
              <a:p>
                <a14:m>
                  <m:oMath xmlns:m="http://schemas.openxmlformats.org/officeDocument/2006/math">
                    <m:f>
                      <m:fPr>
                        <m:ctrlPr>
                          <a:rPr lang="en-US" altLang="zh-TW" i="1" smtClean="0">
                            <a:latin typeface="Cambria Math" panose="02040503050406030204" pitchFamily="18" charset="0"/>
                            <a:cs typeface="Times New Roman" panose="02020603050405020304" pitchFamily="18" charset="0"/>
                          </a:rPr>
                        </m:ctrlPr>
                      </m:fPr>
                      <m:num>
                        <m:r>
                          <a:rPr lang="en-US" altLang="zh-TW" b="0" i="1" smtClean="0">
                            <a:latin typeface="Cambria Math" panose="02040503050406030204" pitchFamily="18" charset="0"/>
                            <a:cs typeface="Times New Roman" panose="02020603050405020304" pitchFamily="18" charset="0"/>
                          </a:rPr>
                          <m:t>1</m:t>
                        </m:r>
                      </m:num>
                      <m:den>
                        <m:r>
                          <a:rPr lang="en-US" altLang="zh-TW" b="0" i="1" smtClean="0">
                            <a:latin typeface="Cambria Math" panose="02040503050406030204" pitchFamily="18" charset="0"/>
                            <a:cs typeface="Times New Roman" panose="02020603050405020304" pitchFamily="18" charset="0"/>
                          </a:rPr>
                          <m:t>𝑁</m:t>
                        </m:r>
                      </m:den>
                    </m:f>
                    <m:nary>
                      <m:naryPr>
                        <m:chr m:val="∑"/>
                        <m:limLoc m:val="subSup"/>
                        <m:ctrlPr>
                          <a:rPr lang="en-US" altLang="zh-TW" i="1" smtClean="0">
                            <a:latin typeface="Cambria Math" panose="02040503050406030204" pitchFamily="18" charset="0"/>
                            <a:cs typeface="Times New Roman" panose="02020603050405020304" pitchFamily="18" charset="0"/>
                          </a:rPr>
                        </m:ctrlPr>
                      </m:naryPr>
                      <m:sub>
                        <m:r>
                          <m:rPr>
                            <m:brk m:alnAt="25"/>
                          </m:rPr>
                          <a:rPr lang="en-US" altLang="zh-TW" b="0" i="1" smtClean="0">
                            <a:latin typeface="Cambria Math" panose="02040503050406030204" pitchFamily="18" charset="0"/>
                            <a:cs typeface="Times New Roman" panose="02020603050405020304" pitchFamily="18" charset="0"/>
                          </a:rPr>
                          <m:t>𝑖</m:t>
                        </m:r>
                        <m:r>
                          <a:rPr lang="en-US" altLang="zh-TW" b="0" i="1" smtClean="0">
                            <a:latin typeface="Cambria Math" panose="02040503050406030204" pitchFamily="18" charset="0"/>
                            <a:cs typeface="Times New Roman" panose="02020603050405020304" pitchFamily="18" charset="0"/>
                          </a:rPr>
                          <m:t>=1</m:t>
                        </m:r>
                      </m:sub>
                      <m:sup>
                        <m:r>
                          <a:rPr lang="en-US" altLang="zh-TW" b="0" i="1" smtClean="0">
                            <a:latin typeface="Cambria Math" panose="02040503050406030204" pitchFamily="18" charset="0"/>
                            <a:cs typeface="Times New Roman" panose="02020603050405020304" pitchFamily="18" charset="0"/>
                          </a:rPr>
                          <m:t>𝑁</m:t>
                        </m:r>
                      </m:sup>
                      <m:e>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𝑐</m:t>
                            </m:r>
                          </m:e>
                          <m:sub>
                            <m:r>
                              <a:rPr lang="en-US" altLang="zh-TW" b="0" i="1" smtClean="0">
                                <a:latin typeface="Cambria Math" panose="02040503050406030204" pitchFamily="18" charset="0"/>
                                <a:cs typeface="Times New Roman" panose="02020603050405020304" pitchFamily="18" charset="0"/>
                              </a:rPr>
                              <m:t>𝑖</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𝑏</m:t>
                            </m:r>
                          </m:e>
                          <m:sub>
                            <m:r>
                              <a:rPr lang="en-US" altLang="zh-TW" b="0" i="1" smtClean="0">
                                <a:latin typeface="Cambria Math" panose="02040503050406030204" pitchFamily="18" charset="0"/>
                                <a:cs typeface="Times New Roman" panose="02020603050405020304" pitchFamily="18" charset="0"/>
                              </a:rPr>
                              <m:t>𝑖</m:t>
                            </m:r>
                          </m:sub>
                        </m:sSub>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𝑙</m:t>
                        </m:r>
                        <m:r>
                          <a:rPr lang="en-US" altLang="zh-TW" b="0" i="1" smtClean="0">
                            <a:latin typeface="Cambria Math" panose="02040503050406030204" pitchFamily="18" charset="0"/>
                            <a:cs typeface="Times New Roman" panose="02020603050405020304" pitchFamily="18" charset="0"/>
                          </a:rPr>
                          <m:t>]]</m:t>
                        </m:r>
                      </m:e>
                    </m:nary>
                  </m:oMath>
                </a14:m>
                <a:r>
                  <a:rPr lang="en-US" altLang="zh-TW" dirty="0">
                    <a:latin typeface="Times New Roman" panose="02020603050405020304" pitchFamily="18" charset="0"/>
                    <a:cs typeface="Times New Roman" panose="02020603050405020304" pitchFamily="18" charset="0"/>
                  </a:rPr>
                  <a:t> </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a:blip r:embed="rId3"/>
                <a:stretch>
                  <a:fillRect l="-1259" r="-88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5242704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Algorithm</a:t>
            </a:r>
            <a:endParaRPr lang="zh-TW" altLang="en-US" dirty="0">
              <a:latin typeface="Times New Roman" pitchFamily="18" charset="0"/>
              <a:cs typeface="Times New Roman" pitchFamily="18" charset="0"/>
            </a:endParaRPr>
          </a:p>
        </p:txBody>
      </p:sp>
      <p:pic>
        <p:nvPicPr>
          <p:cNvPr id="5" name="內容版面配置區 4">
            <a:extLst>
              <a:ext uri="{FF2B5EF4-FFF2-40B4-BE49-F238E27FC236}">
                <a16:creationId xmlns:a16="http://schemas.microsoft.com/office/drawing/2014/main" id="{886A03AF-0F94-44EE-9057-290B0CCC800E}"/>
              </a:ext>
            </a:extLst>
          </p:cNvPr>
          <p:cNvPicPr>
            <a:picLocks noGrp="1" noChangeAspect="1"/>
          </p:cNvPicPr>
          <p:nvPr>
            <p:ph idx="1"/>
          </p:nvPr>
        </p:nvPicPr>
        <p:blipFill>
          <a:blip r:embed="rId3"/>
          <a:stretch>
            <a:fillRect/>
          </a:stretch>
        </p:blipFill>
        <p:spPr>
          <a:xfrm>
            <a:off x="2111286" y="1417638"/>
            <a:ext cx="4921427" cy="5270465"/>
          </a:xfrm>
        </p:spPr>
      </p:pic>
    </p:spTree>
    <p:extLst>
      <p:ext uri="{BB962C8B-B14F-4D97-AF65-F5344CB8AC3E}">
        <p14:creationId xmlns:p14="http://schemas.microsoft.com/office/powerpoint/2010/main" val="236378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Upper Confidence Bound (UCB)</a:t>
            </a:r>
            <a:endParaRPr lang="zh-TW" alt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id="{013E5576-B4B5-48D1-BDF9-45FAF128CEF1}"/>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UCB1 : </a:t>
                </a: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b="0" i="1" smtClean="0">
                            <a:latin typeface="Cambria Math" panose="02040503050406030204" pitchFamily="18" charset="0"/>
                            <a:cs typeface="Times New Roman" panose="02020603050405020304" pitchFamily="18" charset="0"/>
                          </a:rPr>
                          <m:t>𝑤</m:t>
                        </m:r>
                      </m:e>
                      <m:sub>
                        <m:r>
                          <a:rPr lang="en-US" altLang="zh-TW" b="0" i="1" smtClean="0">
                            <a:latin typeface="Cambria Math" panose="02040503050406030204" pitchFamily="18" charset="0"/>
                            <a:cs typeface="Times New Roman" panose="02020603050405020304" pitchFamily="18" charset="0"/>
                          </a:rPr>
                          <m:t>𝑚</m:t>
                        </m:r>
                      </m:sub>
                      <m:sup>
                        <m:r>
                          <a:rPr lang="en-US" altLang="zh-TW" b="0" i="1" smtClean="0">
                            <a:latin typeface="Cambria Math" panose="02040503050406030204" pitchFamily="18" charset="0"/>
                            <a:cs typeface="Times New Roman" panose="02020603050405020304" pitchFamily="18" charset="0"/>
                          </a:rPr>
                          <m:t>𝑇</m:t>
                        </m:r>
                      </m:sup>
                    </m:sSubSup>
                    <m:r>
                      <a:rPr lang="en-US" altLang="zh-TW" b="0" i="1" smtClean="0">
                        <a:latin typeface="Cambria Math" panose="02040503050406030204" pitchFamily="18" charset="0"/>
                        <a:cs typeface="Times New Roman" panose="02020603050405020304" pitchFamily="18" charset="0"/>
                      </a:rPr>
                      <m:t>𝑥</m:t>
                    </m:r>
                    <m:r>
                      <a:rPr lang="en-US" altLang="zh-TW" b="0" i="1" smtClean="0">
                        <a:latin typeface="Cambria Math" panose="02040503050406030204" pitchFamily="18" charset="0"/>
                        <a:cs typeface="Times New Roman" panose="02020603050405020304" pitchFamily="18" charset="0"/>
                      </a:rPr>
                      <m:t>+</m:t>
                    </m:r>
                    <m:rad>
                      <m:radPr>
                        <m:degHide m:val="on"/>
                        <m:ctrlPr>
                          <a:rPr lang="zh-TW" altLang="en-US" b="0" i="1" smtClean="0">
                            <a:latin typeface="Cambria Math" panose="02040503050406030204" pitchFamily="18" charset="0"/>
                            <a:cs typeface="Times New Roman" panose="02020603050405020304" pitchFamily="18" charset="0"/>
                          </a:rPr>
                        </m:ctrlPr>
                      </m:radPr>
                      <m:deg/>
                      <m:e>
                        <m:f>
                          <m:fPr>
                            <m:ctrlPr>
                              <a:rPr lang="en-US" altLang="zh-TW" b="0" i="1" smtClean="0">
                                <a:latin typeface="Cambria Math" panose="02040503050406030204" pitchFamily="18" charset="0"/>
                                <a:cs typeface="Times New Roman" panose="02020603050405020304" pitchFamily="18" charset="0"/>
                              </a:rPr>
                            </m:ctrlPr>
                          </m:fPr>
                          <m:num>
                            <m:r>
                              <a:rPr lang="en-US" altLang="zh-TW" b="0" i="1" smtClean="0">
                                <a:latin typeface="Cambria Math" panose="02040503050406030204" pitchFamily="18" charset="0"/>
                                <a:cs typeface="Times New Roman" panose="02020603050405020304" pitchFamily="18" charset="0"/>
                              </a:rPr>
                              <m:t>2</m:t>
                            </m:r>
                            <m:func>
                              <m:funcPr>
                                <m:ctrlPr>
                                  <a:rPr lang="en-US" altLang="zh-TW" b="0" i="1" smtClean="0">
                                    <a:latin typeface="Cambria Math" panose="02040503050406030204" pitchFamily="18" charset="0"/>
                                    <a:cs typeface="Times New Roman" panose="02020603050405020304" pitchFamily="18" charset="0"/>
                                  </a:rPr>
                                </m:ctrlPr>
                              </m:funcPr>
                              <m:fName>
                                <m:r>
                                  <m:rPr>
                                    <m:sty m:val="p"/>
                                  </m:rPr>
                                  <a:rPr lang="en-US" altLang="zh-TW" b="0" i="0" smtClean="0">
                                    <a:latin typeface="Cambria Math" panose="02040503050406030204" pitchFamily="18" charset="0"/>
                                    <a:cs typeface="Times New Roman" panose="02020603050405020304" pitchFamily="18" charset="0"/>
                                  </a:rPr>
                                  <m:t>ln</m:t>
                                </m:r>
                              </m:fName>
                              <m:e>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𝑇</m:t>
                                </m:r>
                                <m:r>
                                  <a:rPr lang="en-US" altLang="zh-TW" b="0" i="1" smtClean="0">
                                    <a:latin typeface="Cambria Math" panose="02040503050406030204" pitchFamily="18" charset="0"/>
                                    <a:cs typeface="Times New Roman" panose="02020603050405020304" pitchFamily="18" charset="0"/>
                                  </a:rPr>
                                  <m:t>)</m:t>
                                </m:r>
                              </m:e>
                            </m:func>
                          </m:num>
                          <m:den>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𝑇</m:t>
                                </m:r>
                              </m:e>
                              <m:sub>
                                <m:r>
                                  <a:rPr lang="en-US" altLang="zh-TW" b="0" i="1" smtClean="0">
                                    <a:latin typeface="Cambria Math" panose="02040503050406030204" pitchFamily="18" charset="0"/>
                                    <a:cs typeface="Times New Roman" panose="02020603050405020304" pitchFamily="18" charset="0"/>
                                  </a:rPr>
                                  <m:t>𝑚</m:t>
                                </m:r>
                              </m:sub>
                            </m:sSub>
                          </m:den>
                        </m:f>
                      </m:e>
                    </m:rad>
                  </m:oMath>
                </a14:m>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LinUCB : </a:t>
                </a: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b="0" i="1" smtClean="0">
                            <a:latin typeface="Cambria Math" panose="02040503050406030204" pitchFamily="18" charset="0"/>
                            <a:cs typeface="Times New Roman" panose="02020603050405020304" pitchFamily="18" charset="0"/>
                          </a:rPr>
                          <m:t>𝑤</m:t>
                        </m:r>
                      </m:e>
                      <m:sub>
                        <m:r>
                          <a:rPr lang="en-US" altLang="zh-TW" b="0" i="1" smtClean="0">
                            <a:latin typeface="Cambria Math" panose="02040503050406030204" pitchFamily="18" charset="0"/>
                            <a:cs typeface="Times New Roman" panose="02020603050405020304" pitchFamily="18" charset="0"/>
                          </a:rPr>
                          <m:t>𝑚</m:t>
                        </m:r>
                      </m:sub>
                      <m:sup>
                        <m:r>
                          <a:rPr lang="en-US" altLang="zh-TW" b="0" i="1" smtClean="0">
                            <a:latin typeface="Cambria Math" panose="02040503050406030204" pitchFamily="18" charset="0"/>
                            <a:cs typeface="Times New Roman" panose="02020603050405020304" pitchFamily="18" charset="0"/>
                          </a:rPr>
                          <m:t>𝑇</m:t>
                        </m:r>
                      </m:sup>
                    </m:sSubSup>
                    <m:r>
                      <a:rPr lang="en-US" altLang="zh-TW" b="0" i="1" smtClean="0">
                        <a:latin typeface="Cambria Math" panose="02040503050406030204" pitchFamily="18" charset="0"/>
                        <a:cs typeface="Times New Roman" panose="02020603050405020304" pitchFamily="18" charset="0"/>
                      </a:rPr>
                      <m:t>𝑥</m:t>
                    </m:r>
                    <m:r>
                      <a:rPr lang="en-US" altLang="zh-TW" b="0" i="1" smtClean="0">
                        <a:latin typeface="Cambria Math" panose="02040503050406030204" pitchFamily="18" charset="0"/>
                        <a:cs typeface="Times New Roman" panose="02020603050405020304" pitchFamily="18" charset="0"/>
                      </a:rPr>
                      <m:t>+</m:t>
                    </m:r>
                    <m:r>
                      <a:rPr lang="zh-TW" altLang="en-US" b="0" i="1" smtClean="0">
                        <a:latin typeface="Cambria Math" panose="02040503050406030204" pitchFamily="18" charset="0"/>
                        <a:cs typeface="Times New Roman" panose="02020603050405020304" pitchFamily="18" charset="0"/>
                      </a:rPr>
                      <m:t>𝛼</m:t>
                    </m:r>
                    <m:rad>
                      <m:radPr>
                        <m:degHide m:val="on"/>
                        <m:ctrlPr>
                          <a:rPr lang="zh-TW" altLang="en-US" b="0" i="1" smtClean="0">
                            <a:latin typeface="Cambria Math" panose="02040503050406030204" pitchFamily="18" charset="0"/>
                            <a:cs typeface="Times New Roman" panose="02020603050405020304" pitchFamily="18" charset="0"/>
                          </a:rPr>
                        </m:ctrlPr>
                      </m:radPr>
                      <m:deg/>
                      <m:e>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𝑥</m:t>
                            </m:r>
                          </m:e>
                          <m:sup>
                            <m:r>
                              <a:rPr lang="en-US" altLang="zh-TW" b="0" i="1" smtClean="0">
                                <a:latin typeface="Cambria Math" panose="02040503050406030204" pitchFamily="18" charset="0"/>
                                <a:cs typeface="Times New Roman" panose="02020603050405020304" pitchFamily="18" charset="0"/>
                              </a:rPr>
                              <m:t>𝑇</m:t>
                            </m:r>
                          </m:sup>
                        </m:sSup>
                        <m:sSup>
                          <m:sSupPr>
                            <m:ctrlPr>
                              <a:rPr lang="en-US" altLang="zh-TW" b="0" i="1" smtClean="0">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m:t>
                            </m:r>
                            <m:sSubSup>
                              <m:sSubSupPr>
                                <m:ctrlPr>
                                  <a:rPr lang="en-US" altLang="zh-TW" i="1">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𝑋</m:t>
                                </m:r>
                              </m:e>
                              <m:sub>
                                <m:r>
                                  <a:rPr lang="en-US" altLang="zh-TW" i="1">
                                    <a:latin typeface="Cambria Math" panose="02040503050406030204" pitchFamily="18" charset="0"/>
                                    <a:cs typeface="Times New Roman" panose="02020603050405020304" pitchFamily="18" charset="0"/>
                                  </a:rPr>
                                  <m:t>𝑚</m:t>
                                </m:r>
                              </m:sub>
                              <m:sup>
                                <m:r>
                                  <a:rPr lang="en-US" altLang="zh-TW" i="1">
                                    <a:latin typeface="Cambria Math" panose="02040503050406030204" pitchFamily="18" charset="0"/>
                                    <a:cs typeface="Times New Roman" panose="02020603050405020304" pitchFamily="18" charset="0"/>
                                  </a:rPr>
                                  <m:t>𝑇</m:t>
                                </m:r>
                              </m:sup>
                            </m:sSubSup>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𝑋</m:t>
                                </m:r>
                              </m:e>
                              <m:sub>
                                <m:r>
                                  <a:rPr lang="en-US" altLang="zh-TW" i="1">
                                    <a:latin typeface="Cambria Math" panose="02040503050406030204" pitchFamily="18" charset="0"/>
                                    <a:cs typeface="Times New Roman" panose="02020603050405020304" pitchFamily="18" charset="0"/>
                                  </a:rPr>
                                  <m:t>𝑚</m:t>
                                </m:r>
                              </m:sub>
                            </m:sSub>
                            <m:r>
                              <a:rPr lang="en-US" altLang="zh-TW" i="1">
                                <a:latin typeface="Cambria Math" panose="02040503050406030204" pitchFamily="18" charset="0"/>
                                <a:cs typeface="Times New Roman" panose="02020603050405020304" pitchFamily="18" charset="0"/>
                              </a:rPr>
                              <m:t>+</m:t>
                            </m:r>
                            <m:r>
                              <a:rPr lang="zh-TW" altLang="en-US" i="1">
                                <a:latin typeface="Cambria Math" panose="02040503050406030204" pitchFamily="18" charset="0"/>
                                <a:cs typeface="Times New Roman" panose="02020603050405020304" pitchFamily="18" charset="0"/>
                              </a:rPr>
                              <m:t>𝜆</m:t>
                            </m:r>
                            <m:r>
                              <a:rPr lang="en-US" altLang="zh-TW" i="1">
                                <a:latin typeface="Cambria Math" panose="02040503050406030204" pitchFamily="18" charset="0"/>
                                <a:cs typeface="Times New Roman" panose="02020603050405020304" pitchFamily="18" charset="0"/>
                              </a:rPr>
                              <m:t>𝐼</m:t>
                            </m:r>
                            <m:r>
                              <a:rPr lang="en-US" altLang="zh-TW" i="1">
                                <a:latin typeface="Cambria Math" panose="02040503050406030204" pitchFamily="18" charset="0"/>
                                <a:cs typeface="Times New Roman" panose="02020603050405020304" pitchFamily="18" charset="0"/>
                              </a:rPr>
                              <m:t>)</m:t>
                            </m:r>
                          </m:e>
                          <m:sup>
                            <m:r>
                              <a:rPr lang="en-US" altLang="zh-TW" b="0" i="1" smtClean="0">
                                <a:latin typeface="Cambria Math" panose="02040503050406030204" pitchFamily="18" charset="0"/>
                                <a:cs typeface="Times New Roman" panose="02020603050405020304" pitchFamily="18" charset="0"/>
                              </a:rPr>
                              <m:t>−1</m:t>
                            </m:r>
                          </m:sup>
                        </m:sSup>
                        <m:r>
                          <a:rPr lang="en-US" altLang="zh-TW" b="0" i="1" smtClean="0">
                            <a:latin typeface="Cambria Math" panose="02040503050406030204" pitchFamily="18" charset="0"/>
                            <a:cs typeface="Times New Roman" panose="02020603050405020304" pitchFamily="18" charset="0"/>
                          </a:rPr>
                          <m:t>𝑥</m:t>
                        </m:r>
                      </m:e>
                    </m:rad>
                  </m:oMath>
                </a14:m>
                <a:endParaRPr lang="en-US" altLang="zh-TW" dirty="0">
                  <a:latin typeface="Times New Roman" panose="02020603050405020304" pitchFamily="18" charset="0"/>
                  <a:cs typeface="Times New Roman" panose="02020603050405020304" pitchFamily="18" charset="0"/>
                </a:endParaRPr>
              </a:p>
              <a:p>
                <a:r>
                  <a:rPr lang="en-US" altLang="zh-TW" dirty="0" err="1">
                    <a:latin typeface="Times New Roman" panose="02020603050405020304" pitchFamily="18" charset="0"/>
                    <a:cs typeface="Times New Roman" panose="02020603050405020304" pitchFamily="18" charset="0"/>
                  </a:rPr>
                  <a:t>w</a:t>
                </a:r>
                <a:r>
                  <a:rPr lang="en-US" altLang="zh-TW" baseline="-25000" dirty="0" err="1">
                    <a:latin typeface="Times New Roman" panose="02020603050405020304" pitchFamily="18" charset="0"/>
                    <a:cs typeface="Times New Roman" panose="02020603050405020304" pitchFamily="18" charset="0"/>
                  </a:rPr>
                  <a:t>m</a:t>
                </a:r>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sSup>
                      <m:sSupPr>
                        <m:ctrlPr>
                          <a:rPr lang="en-US" altLang="zh-TW" i="1" smtClean="0">
                            <a:latin typeface="Cambria Math" panose="02040503050406030204" pitchFamily="18" charset="0"/>
                            <a:cs typeface="Times New Roman" panose="02020603050405020304" pitchFamily="18" charset="0"/>
                          </a:rPr>
                        </m:ctrlPr>
                      </m:sSupPr>
                      <m:e>
                        <m:d>
                          <m:dPr>
                            <m:ctrlPr>
                              <a:rPr lang="en-US" altLang="zh-TW" b="0" i="1" smtClean="0">
                                <a:latin typeface="Cambria Math" panose="02040503050406030204" pitchFamily="18" charset="0"/>
                                <a:cs typeface="Times New Roman" panose="02020603050405020304" pitchFamily="18" charset="0"/>
                              </a:rPr>
                            </m:ctrlPr>
                          </m:dPr>
                          <m:e>
                            <m:sSubSup>
                              <m:sSubSupPr>
                                <m:ctrlPr>
                                  <a:rPr lang="en-US" altLang="zh-TW" b="0" i="1" smtClean="0">
                                    <a:latin typeface="Cambria Math" panose="02040503050406030204" pitchFamily="18" charset="0"/>
                                    <a:cs typeface="Times New Roman" panose="02020603050405020304" pitchFamily="18" charset="0"/>
                                  </a:rPr>
                                </m:ctrlPr>
                              </m:sSubSupPr>
                              <m:e>
                                <m:r>
                                  <a:rPr lang="en-US" altLang="zh-TW" b="0" i="1" smtClean="0">
                                    <a:latin typeface="Cambria Math" panose="02040503050406030204" pitchFamily="18" charset="0"/>
                                    <a:cs typeface="Times New Roman" panose="02020603050405020304" pitchFamily="18" charset="0"/>
                                  </a:rPr>
                                  <m:t>𝑋</m:t>
                                </m:r>
                              </m:e>
                              <m:sub>
                                <m:r>
                                  <a:rPr lang="en-US" altLang="zh-TW" b="0" i="1" smtClean="0">
                                    <a:latin typeface="Cambria Math" panose="02040503050406030204" pitchFamily="18" charset="0"/>
                                    <a:cs typeface="Times New Roman" panose="02020603050405020304" pitchFamily="18" charset="0"/>
                                  </a:rPr>
                                  <m:t>𝑚</m:t>
                                </m:r>
                              </m:sub>
                              <m:sup>
                                <m:r>
                                  <a:rPr lang="en-US" altLang="zh-TW" b="0" i="1" smtClean="0">
                                    <a:latin typeface="Cambria Math" panose="02040503050406030204" pitchFamily="18" charset="0"/>
                                    <a:cs typeface="Times New Roman" panose="02020603050405020304" pitchFamily="18" charset="0"/>
                                  </a:rPr>
                                  <m:t>𝑇</m:t>
                                </m:r>
                              </m:sup>
                            </m:sSubSup>
                            <m:sSubSup>
                              <m:sSubSupPr>
                                <m:ctrlPr>
                                  <a:rPr lang="en-US" altLang="zh-TW" b="0" i="1" smtClean="0">
                                    <a:latin typeface="Cambria Math" panose="02040503050406030204" pitchFamily="18" charset="0"/>
                                    <a:cs typeface="Times New Roman" panose="02020603050405020304" pitchFamily="18" charset="0"/>
                                  </a:rPr>
                                </m:ctrlPr>
                              </m:sSubSupPr>
                              <m:e>
                                <m:r>
                                  <a:rPr lang="en-US" altLang="zh-TW" b="0" i="1" smtClean="0">
                                    <a:latin typeface="Cambria Math" panose="02040503050406030204" pitchFamily="18" charset="0"/>
                                    <a:cs typeface="Times New Roman" panose="02020603050405020304" pitchFamily="18" charset="0"/>
                                  </a:rPr>
                                  <m:t>𝑋</m:t>
                                </m:r>
                              </m:e>
                              <m:sub>
                                <m:r>
                                  <a:rPr lang="en-US" altLang="zh-TW" b="0" i="1" smtClean="0">
                                    <a:latin typeface="Cambria Math" panose="02040503050406030204" pitchFamily="18" charset="0"/>
                                    <a:cs typeface="Times New Roman" panose="02020603050405020304" pitchFamily="18" charset="0"/>
                                  </a:rPr>
                                  <m:t>𝑚</m:t>
                                </m:r>
                              </m:sub>
                              <m:sup/>
                            </m:sSubSup>
                            <m:r>
                              <a:rPr lang="en-US" altLang="zh-TW" b="0" i="1" smtClean="0">
                                <a:latin typeface="Cambria Math" panose="02040503050406030204" pitchFamily="18" charset="0"/>
                                <a:cs typeface="Times New Roman" panose="02020603050405020304" pitchFamily="18" charset="0"/>
                              </a:rPr>
                              <m:t>+</m:t>
                            </m:r>
                            <m:r>
                              <a:rPr lang="zh-TW" altLang="en-US" b="0" i="1" smtClean="0">
                                <a:latin typeface="Cambria Math" panose="02040503050406030204" pitchFamily="18" charset="0"/>
                                <a:cs typeface="Times New Roman" panose="02020603050405020304" pitchFamily="18" charset="0"/>
                              </a:rPr>
                              <m:t>𝜆</m:t>
                            </m:r>
                            <m:r>
                              <a:rPr lang="en-US" altLang="zh-TW" b="0" i="1" smtClean="0">
                                <a:latin typeface="Cambria Math" panose="02040503050406030204" pitchFamily="18" charset="0"/>
                                <a:cs typeface="Times New Roman" panose="02020603050405020304" pitchFamily="18" charset="0"/>
                              </a:rPr>
                              <m:t>𝐼</m:t>
                            </m:r>
                          </m:e>
                        </m:d>
                      </m:e>
                      <m:sup>
                        <m:r>
                          <a:rPr lang="en-US" altLang="zh-TW" b="0" i="1" smtClean="0">
                            <a:latin typeface="Cambria Math" panose="02040503050406030204" pitchFamily="18" charset="0"/>
                            <a:cs typeface="Times New Roman" panose="02020603050405020304" pitchFamily="18" charset="0"/>
                          </a:rPr>
                          <m:t>−1</m:t>
                        </m:r>
                      </m:sup>
                    </m:sSup>
                    <m:r>
                      <a:rPr lang="en-US" altLang="zh-TW" b="0" i="1" smtClean="0">
                        <a:latin typeface="Cambria Math" panose="02040503050406030204" pitchFamily="18" charset="0"/>
                        <a:cs typeface="Times New Roman" panose="02020603050405020304" pitchFamily="18" charset="0"/>
                      </a:rPr>
                      <m:t>(</m:t>
                    </m:r>
                    <m:sSubSup>
                      <m:sSubSupPr>
                        <m:ctrlPr>
                          <a:rPr lang="en-US" altLang="zh-TW" b="0" i="1" smtClean="0">
                            <a:latin typeface="Cambria Math" panose="02040503050406030204" pitchFamily="18" charset="0"/>
                            <a:cs typeface="Times New Roman" panose="02020603050405020304" pitchFamily="18" charset="0"/>
                          </a:rPr>
                        </m:ctrlPr>
                      </m:sSubSupPr>
                      <m:e>
                        <m:r>
                          <a:rPr lang="en-US" altLang="zh-TW" b="0" i="1" smtClean="0">
                            <a:latin typeface="Cambria Math" panose="02040503050406030204" pitchFamily="18" charset="0"/>
                            <a:cs typeface="Times New Roman" panose="02020603050405020304" pitchFamily="18" charset="0"/>
                          </a:rPr>
                          <m:t>𝑋</m:t>
                        </m:r>
                      </m:e>
                      <m:sub>
                        <m:r>
                          <a:rPr lang="en-US" altLang="zh-TW" b="0" i="1" smtClean="0">
                            <a:latin typeface="Cambria Math" panose="02040503050406030204" pitchFamily="18" charset="0"/>
                            <a:cs typeface="Times New Roman" panose="02020603050405020304" pitchFamily="18" charset="0"/>
                          </a:rPr>
                          <m:t>𝑚</m:t>
                        </m:r>
                      </m:sub>
                      <m:sup>
                        <m:r>
                          <a:rPr lang="en-US" altLang="zh-TW" b="0" i="1" smtClean="0">
                            <a:latin typeface="Cambria Math" panose="02040503050406030204" pitchFamily="18" charset="0"/>
                            <a:cs typeface="Times New Roman" panose="02020603050405020304" pitchFamily="18" charset="0"/>
                          </a:rPr>
                          <m:t>𝑇</m:t>
                        </m:r>
                      </m:sup>
                    </m:sSubSup>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𝑟</m:t>
                        </m:r>
                      </m:e>
                      <m:sub>
                        <m:r>
                          <a:rPr lang="en-US" altLang="zh-TW" b="0" i="1" smtClean="0">
                            <a:latin typeface="Cambria Math" panose="02040503050406030204" pitchFamily="18" charset="0"/>
                            <a:cs typeface="Times New Roman" panose="02020603050405020304" pitchFamily="18" charset="0"/>
                          </a:rPr>
                          <m:t>𝑚</m:t>
                        </m:r>
                      </m:sub>
                    </m:sSub>
                    <m:r>
                      <a:rPr lang="en-US" altLang="zh-TW" b="0" i="1" smtClean="0">
                        <a:latin typeface="Cambria Math" panose="02040503050406030204" pitchFamily="18" charset="0"/>
                        <a:cs typeface="Times New Roman" panose="02020603050405020304" pitchFamily="18" charset="0"/>
                      </a:rPr>
                      <m:t>)</m:t>
                    </m:r>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4" name="內容版面配置區 3">
                <a:extLst>
                  <a:ext uri="{FF2B5EF4-FFF2-40B4-BE49-F238E27FC236}">
                    <a16:creationId xmlns:a16="http://schemas.microsoft.com/office/drawing/2014/main" id="{013E5576-B4B5-48D1-BDF9-45FAF128CEF1}"/>
                  </a:ext>
                </a:extLst>
              </p:cNvPr>
              <p:cNvSpPr>
                <a:spLocks noGrp="1" noRot="1" noChangeAspect="1" noMove="1" noResize="1" noEditPoints="1" noAdjustHandles="1" noChangeArrowheads="1" noChangeShapeType="1" noTextEdit="1"/>
              </p:cNvSpPr>
              <p:nvPr>
                <p:ph idx="1"/>
              </p:nvPr>
            </p:nvSpPr>
            <p:spPr>
              <a:blipFill>
                <a:blip r:embed="rId3"/>
                <a:stretch>
                  <a:fillRect l="-170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0424110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標題 1">
            <a:extLst>
              <a:ext uri="{FF2B5EF4-FFF2-40B4-BE49-F238E27FC236}">
                <a16:creationId xmlns:a16="http://schemas.microsoft.com/office/drawing/2014/main" id="{CD911A08-F300-47CE-9B52-3B8538892F4B}"/>
              </a:ext>
            </a:extLst>
          </p:cNvPr>
          <p:cNvSpPr>
            <a:spLocks noGrp="1"/>
          </p:cNvSpPr>
          <p:nvPr>
            <p:ph type="title"/>
          </p:nvPr>
        </p:nvSpPr>
        <p:spPr>
          <a:xfrm>
            <a:off x="457200" y="274638"/>
            <a:ext cx="8229600" cy="1143000"/>
          </a:xfrm>
        </p:spPr>
        <p:txBody>
          <a:bodyPr>
            <a:normAutofit/>
          </a:bodyPr>
          <a:lstStyle/>
          <a:p>
            <a:pPr algn="l"/>
            <a:r>
              <a:rPr lang="en-US" altLang="zh-TW" sz="4000" dirty="0">
                <a:latin typeface="Times New Roman" pitchFamily="18" charset="0"/>
                <a:cs typeface="Times New Roman" pitchFamily="18" charset="0"/>
              </a:rPr>
              <a:t>Experimental Results</a:t>
            </a:r>
            <a:endParaRPr lang="zh-TW" altLang="en-US" sz="4000" dirty="0">
              <a:latin typeface="Times New Roman" pitchFamily="18" charset="0"/>
              <a:cs typeface="Times New Roman" pitchFamily="18" charset="0"/>
            </a:endParaRPr>
          </a:p>
        </p:txBody>
      </p:sp>
      <p:pic>
        <p:nvPicPr>
          <p:cNvPr id="6" name="圖片 5">
            <a:extLst>
              <a:ext uri="{FF2B5EF4-FFF2-40B4-BE49-F238E27FC236}">
                <a16:creationId xmlns:a16="http://schemas.microsoft.com/office/drawing/2014/main" id="{12B310D0-EDE9-4518-9108-24BC09530B30}"/>
              </a:ext>
            </a:extLst>
          </p:cNvPr>
          <p:cNvPicPr>
            <a:picLocks noChangeAspect="1"/>
          </p:cNvPicPr>
          <p:nvPr/>
        </p:nvPicPr>
        <p:blipFill>
          <a:blip r:embed="rId3"/>
          <a:stretch>
            <a:fillRect/>
          </a:stretch>
        </p:blipFill>
        <p:spPr>
          <a:xfrm>
            <a:off x="180975" y="1881187"/>
            <a:ext cx="8782050" cy="3095625"/>
          </a:xfrm>
          <a:prstGeom prst="rect">
            <a:avLst/>
          </a:prstGeom>
        </p:spPr>
      </p:pic>
      <p:sp>
        <p:nvSpPr>
          <p:cNvPr id="8" name="矩形 7">
            <a:extLst>
              <a:ext uri="{FF2B5EF4-FFF2-40B4-BE49-F238E27FC236}">
                <a16:creationId xmlns:a16="http://schemas.microsoft.com/office/drawing/2014/main" id="{92CC2008-08F3-4DBA-B417-35C92D3E8C70}"/>
              </a:ext>
            </a:extLst>
          </p:cNvPr>
          <p:cNvSpPr/>
          <p:nvPr/>
        </p:nvSpPr>
        <p:spPr>
          <a:xfrm>
            <a:off x="2195736" y="2649269"/>
            <a:ext cx="6767289" cy="2880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52386803-949E-4790-8574-507605AE412F}"/>
              </a:ext>
            </a:extLst>
          </p:cNvPr>
          <p:cNvSpPr/>
          <p:nvPr/>
        </p:nvSpPr>
        <p:spPr>
          <a:xfrm>
            <a:off x="2197199" y="3140968"/>
            <a:ext cx="6767289" cy="2880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7" name="圖片 6">
            <a:extLst>
              <a:ext uri="{FF2B5EF4-FFF2-40B4-BE49-F238E27FC236}">
                <a16:creationId xmlns:a16="http://schemas.microsoft.com/office/drawing/2014/main" id="{397D2AAA-04FA-4512-ACC6-FB4E52EA5E4A}"/>
              </a:ext>
            </a:extLst>
          </p:cNvPr>
          <p:cNvPicPr>
            <a:picLocks noChangeAspect="1"/>
          </p:cNvPicPr>
          <p:nvPr/>
        </p:nvPicPr>
        <p:blipFill>
          <a:blip r:embed="rId4"/>
          <a:stretch>
            <a:fillRect/>
          </a:stretch>
        </p:blipFill>
        <p:spPr>
          <a:xfrm>
            <a:off x="2942653" y="1600200"/>
            <a:ext cx="3258693" cy="4525963"/>
          </a:xfrm>
          <a:prstGeom prst="rect">
            <a:avLst/>
          </a:prstGeom>
          <a:noFill/>
        </p:spPr>
      </p:pic>
    </p:spTree>
    <p:extLst>
      <p:ext uri="{BB962C8B-B14F-4D97-AF65-F5344CB8AC3E}">
        <p14:creationId xmlns:p14="http://schemas.microsoft.com/office/powerpoint/2010/main" val="2480829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標題 1">
            <a:extLst>
              <a:ext uri="{FF2B5EF4-FFF2-40B4-BE49-F238E27FC236}">
                <a16:creationId xmlns:a16="http://schemas.microsoft.com/office/drawing/2014/main" id="{CD911A08-F300-47CE-9B52-3B8538892F4B}"/>
              </a:ext>
            </a:extLst>
          </p:cNvPr>
          <p:cNvSpPr>
            <a:spLocks noGrp="1"/>
          </p:cNvSpPr>
          <p:nvPr>
            <p:ph type="title"/>
          </p:nvPr>
        </p:nvSpPr>
        <p:spPr>
          <a:xfrm>
            <a:off x="457200" y="274638"/>
            <a:ext cx="8229600" cy="1143000"/>
          </a:xfrm>
        </p:spPr>
        <p:txBody>
          <a:bodyPr>
            <a:normAutofit/>
          </a:bodyPr>
          <a:lstStyle/>
          <a:p>
            <a:pPr algn="l"/>
            <a:r>
              <a:rPr lang="en-US" altLang="zh-TW" sz="4000">
                <a:latin typeface="Times New Roman" pitchFamily="18" charset="0"/>
                <a:cs typeface="Times New Roman" pitchFamily="18" charset="0"/>
              </a:rPr>
              <a:t>Experimental Results</a:t>
            </a:r>
            <a:endParaRPr lang="zh-TW" altLang="en-US" sz="4000" dirty="0">
              <a:latin typeface="Times New Roman" pitchFamily="18" charset="0"/>
              <a:cs typeface="Times New Roman" pitchFamily="18" charset="0"/>
            </a:endParaRPr>
          </a:p>
        </p:txBody>
      </p:sp>
      <p:pic>
        <p:nvPicPr>
          <p:cNvPr id="3" name="圖片 2">
            <a:extLst>
              <a:ext uri="{FF2B5EF4-FFF2-40B4-BE49-F238E27FC236}">
                <a16:creationId xmlns:a16="http://schemas.microsoft.com/office/drawing/2014/main" id="{F97C9377-F3D2-4451-87D2-C92560FFBA25}"/>
              </a:ext>
            </a:extLst>
          </p:cNvPr>
          <p:cNvPicPr>
            <a:picLocks noChangeAspect="1"/>
          </p:cNvPicPr>
          <p:nvPr/>
        </p:nvPicPr>
        <p:blipFill>
          <a:blip r:embed="rId3"/>
          <a:stretch>
            <a:fillRect/>
          </a:stretch>
        </p:blipFill>
        <p:spPr>
          <a:xfrm>
            <a:off x="359532" y="2010603"/>
            <a:ext cx="8424936" cy="2836794"/>
          </a:xfrm>
          <a:prstGeom prst="rect">
            <a:avLst/>
          </a:prstGeom>
        </p:spPr>
      </p:pic>
    </p:spTree>
    <p:extLst>
      <p:ext uri="{BB962C8B-B14F-4D97-AF65-F5344CB8AC3E}">
        <p14:creationId xmlns:p14="http://schemas.microsoft.com/office/powerpoint/2010/main" val="261434911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2483</TotalTime>
  <Words>615</Words>
  <Application>Microsoft Office PowerPoint</Application>
  <PresentationFormat>如螢幕大小 (4:3)</PresentationFormat>
  <Paragraphs>107</Paragraphs>
  <Slides>11</Slides>
  <Notes>11</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11</vt:i4>
      </vt:variant>
    </vt:vector>
  </HeadingPairs>
  <TitlesOfParts>
    <vt:vector size="16" baseType="lpstr">
      <vt:lpstr>Arial</vt:lpstr>
      <vt:lpstr>Calibri</vt:lpstr>
      <vt:lpstr>Cambria Math</vt:lpstr>
      <vt:lpstr>Times New Roman</vt:lpstr>
      <vt:lpstr>Office 佈景主題</vt:lpstr>
      <vt:lpstr> Contract Bridge Bidding by Learning</vt:lpstr>
      <vt:lpstr>Abstract</vt:lpstr>
      <vt:lpstr>Abstract</vt:lpstr>
      <vt:lpstr>Introduction</vt:lpstr>
      <vt:lpstr>Introduction-Bidding Stage</vt:lpstr>
      <vt:lpstr>Problem</vt:lpstr>
      <vt:lpstr>Problem</vt:lpstr>
      <vt:lpstr>Algorithm</vt:lpstr>
      <vt:lpstr>Upper Confidence Bound (UCB)</vt:lpstr>
      <vt:lpstr>Experimental Results</vt:lpstr>
      <vt:lpstr>Experimental 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faster algorithm for finding shortest substring matches of a regular expression</dc:title>
  <dc:creator>M093040098</dc:creator>
  <cp:lastModifiedBy>pplab</cp:lastModifiedBy>
  <cp:revision>101</cp:revision>
  <dcterms:created xsi:type="dcterms:W3CDTF">2020-10-30T08:30:28Z</dcterms:created>
  <dcterms:modified xsi:type="dcterms:W3CDTF">2021-03-02T11:26:01Z</dcterms:modified>
</cp:coreProperties>
</file>