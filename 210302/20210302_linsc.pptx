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57" r:id="rId4"/>
    <p:sldId id="258" r:id="rId5"/>
    <p:sldId id="263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TW" sz="1800" b="0" strike="noStrike" spc="-1">
                <a:solidFill>
                  <a:srgbClr val="000000"/>
                </a:solidFill>
                <a:latin typeface="Calibri"/>
              </a:rPr>
              <a:t>請按這裡移動投影片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zh-TW" sz="2000" b="0" strike="noStrike" spc="-1">
                <a:latin typeface="Arial"/>
              </a:rPr>
              <a:t>請按這裡編輯備註格式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&lt;頁首&gt;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&lt;日期/時間&gt;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&lt;頁尾&gt;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31962A5-A15B-4472-A253-73015B2EE908}" type="slidenum">
              <a:rPr lang="en-US" sz="1400" b="0" strike="noStrike" spc="-1">
                <a:latin typeface="Times New Roman"/>
              </a:rPr>
              <a:pPr algn="r"/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FEC21A0-76F1-4091-8A4E-3D3682A4EBBE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3/1/2021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9C6C588-69D4-483A-BFC4-1F3BDC423AB1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第二個大綱層次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第三個大綱層次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第六個大綱層次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第七個大綱層次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TW" sz="4400" b="0" strike="noStrike" spc="-1">
                <a:solidFill>
                  <a:srgbClr val="000000"/>
                </a:solidFill>
                <a:latin typeface="Calibri"/>
              </a:rPr>
              <a:t>按一下以編輯母片標題樣式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TW" sz="3200" b="0" strike="noStrike" spc="-1">
                <a:solidFill>
                  <a:srgbClr val="000000"/>
                </a:solidFill>
                <a:latin typeface="Calibri"/>
              </a:rPr>
              <a:t>按一下以編輯母片文字樣式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zh-TW" sz="2800" b="0" strike="noStrike" spc="-1">
                <a:solidFill>
                  <a:srgbClr val="000000"/>
                </a:solidFill>
                <a:latin typeface="Calibri"/>
              </a:rPr>
              <a:t>第二層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zh-TW" sz="2400" b="0" strike="noStrike" spc="-1">
                <a:solidFill>
                  <a:srgbClr val="000000"/>
                </a:solidFill>
                <a:latin typeface="Calibri"/>
              </a:rPr>
              <a:t>第三層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第四層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zh-TW" sz="2000" b="0" strike="noStrike" spc="-1">
                <a:solidFill>
                  <a:srgbClr val="000000"/>
                </a:solidFill>
                <a:latin typeface="Calibri"/>
              </a:rPr>
              <a:t>第五層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893CB700-50AD-45C2-BC70-355D01B635CF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pPr>
                <a:lnSpc>
                  <a:spcPct val="100000"/>
                </a:lnSpc>
              </a:pPr>
              <a:t>3/1/2021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57483DBB-7CD5-4C5C-8456-C41942324498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pPr algn="r">
                <a:lnSpc>
                  <a:spcPct val="100000"/>
                </a:lnSpc>
              </a:p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714240" y="128592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US" altLang="zh-TW" sz="3200" dirty="0" smtClean="0">
                <a:latin typeface="Times New Roman" pitchFamily="18" charset="0"/>
                <a:cs typeface="Times New Roman" pitchFamily="18" charset="0"/>
              </a:rPr>
              <a:t>A diagonal-based algorithm for the longest common increasing subsequence problem</a:t>
            </a:r>
            <a:endParaRPr lang="en-US" sz="32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214280" y="3357720"/>
            <a:ext cx="6786360" cy="207144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Shou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-Fu Lo,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Kuo-Tsung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 Tseng, Chang-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Biau</a:t>
            </a:r>
            <a:r>
              <a:rPr lang="zh-TW" altLang="en-US" sz="24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Yang and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Kuo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-Si Huang</a:t>
            </a: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en-US" sz="2000" spc="-1" dirty="0" smtClean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400"/>
              </a:spcBef>
              <a:tabLst>
                <a:tab pos="0" algn="l"/>
              </a:tabLst>
            </a:pPr>
            <a:r>
              <a:rPr lang="en-US" sz="20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spc="-1" dirty="0" smtClean="0">
                <a:solidFill>
                  <a:srgbClr val="000000"/>
                </a:solidFill>
                <a:latin typeface="Times New Roman"/>
              </a:rPr>
              <a:t>Theoretical Computer Science, </a:t>
            </a:r>
            <a:r>
              <a:rPr lang="en-US" sz="2200" b="0" strike="noStrike" spc="-1" dirty="0" smtClean="0">
                <a:solidFill>
                  <a:srgbClr val="000000"/>
                </a:solidFill>
                <a:latin typeface="Times New Roman"/>
              </a:rPr>
              <a:t>Volume 815,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200" b="0" strike="noStrike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spc="-1" dirty="0" smtClean="0">
                <a:solidFill>
                  <a:srgbClr val="000000"/>
                </a:solidFill>
                <a:latin typeface="Times New Roman"/>
              </a:rPr>
              <a:t>May</a:t>
            </a:r>
            <a:r>
              <a:rPr lang="en-US" sz="2200" b="0" strike="noStrike" spc="-1" dirty="0" smtClean="0">
                <a:solidFill>
                  <a:srgbClr val="000000"/>
                </a:solidFill>
                <a:latin typeface="Times New Roman"/>
              </a:rPr>
              <a:t> 2020, Pages 69-78.</a:t>
            </a:r>
            <a:endParaRPr lang="en-US" sz="2200" b="0" strike="noStrike" spc="-1" dirty="0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5786280" y="5643720"/>
            <a:ext cx="3114360" cy="103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Presenter: Shin-Cheng Lin</a:t>
            </a:r>
            <a:endParaRPr lang="en-US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Date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: </a:t>
            </a:r>
            <a:r>
              <a:rPr lang="en-US" sz="2000" spc="-1" smtClean="0">
                <a:solidFill>
                  <a:srgbClr val="000000"/>
                </a:solidFill>
                <a:latin typeface="Times New Roman"/>
              </a:rPr>
              <a:t>Mar</a:t>
            </a:r>
            <a:r>
              <a:rPr lang="en-US" sz="2000" b="0" strike="noStrike" spc="-1" smtClean="0">
                <a:solidFill>
                  <a:srgbClr val="000000"/>
                </a:solidFill>
                <a:latin typeface="Times New Roman"/>
              </a:rPr>
              <a:t>. </a:t>
            </a:r>
            <a:r>
              <a:rPr lang="en-US" sz="2000" spc="-1" dirty="0" smtClean="0">
                <a:solidFill>
                  <a:srgbClr val="000000"/>
                </a:solidFill>
                <a:latin typeface="Times New Roman"/>
              </a:rPr>
              <a:t>02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/>
              </a:rPr>
              <a:t>, 2021</a:t>
            </a:r>
            <a:endParaRPr lang="en-US" sz="20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(1/2)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The longest common increasing subsequences(LCIS) problem is to find out a common increasing subsequence with the maximal length of two given sequences A and B. In this paper, we propose an algorithm for solving the LCIS problem with O((n +L(m −L))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loglog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|</a:t>
            </a:r>
            <a:r>
              <a:rPr lang="el-GR" sz="2800" spc="-1" dirty="0" smtClean="0">
                <a:solidFill>
                  <a:srgbClr val="000000"/>
                </a:solidFill>
                <a:latin typeface="Times New Roman"/>
              </a:rPr>
              <a:t>Σ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|)time and O(n)</a:t>
            </a:r>
            <a:r>
              <a:rPr lang="zh-TW" alt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space, where m</a:t>
            </a:r>
            <a:r>
              <a:rPr lang="zh-TW" alt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and n</a:t>
            </a:r>
            <a:r>
              <a:rPr lang="zh-TW" alt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denote the lengths of A</a:t>
            </a:r>
            <a:r>
              <a:rPr lang="zh-TW" alt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and B, respectively, m ≤n, L</a:t>
            </a:r>
            <a:r>
              <a:rPr lang="zh-TW" alt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denotes the LCIS length, and </a:t>
            </a:r>
            <a:r>
              <a:rPr lang="el-GR" sz="2800" spc="-1" dirty="0" smtClean="0">
                <a:solidFill>
                  <a:srgbClr val="000000"/>
                </a:solidFill>
                <a:latin typeface="Times New Roman"/>
              </a:rPr>
              <a:t>Σ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denotes the alphabet set. The main idea of our algorithm is to extend the answer from some previously feasible solutions, in which the domination function is invoked.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0" strike="noStrike" spc="-1" dirty="0" smtClean="0">
                <a:solidFill>
                  <a:srgbClr val="000000"/>
                </a:solidFill>
                <a:latin typeface="Times New Roman"/>
              </a:rPr>
              <a:t>Abstract</a:t>
            </a:r>
            <a:r>
              <a:rPr lang="en-US" altLang="zh-TW" sz="4400" spc="-1" dirty="0" smtClean="0">
                <a:solidFill>
                  <a:srgbClr val="000000"/>
                </a:solidFill>
                <a:latin typeface="Times New Roman"/>
              </a:rPr>
              <a:t>(2/2)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TextShape 2"/>
          <p:cNvSpPr txBox="1"/>
          <p:nvPr/>
        </p:nvSpPr>
        <p:spPr>
          <a:xfrm>
            <a:off x="457200" y="1600200"/>
            <a:ext cx="8229240" cy="511452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To accomplish the extension and domination functions, the data structure of the van </a:t>
            </a:r>
            <a:r>
              <a:rPr lang="en-US" sz="2800" spc="-1" dirty="0" err="1" smtClean="0">
                <a:solidFill>
                  <a:srgbClr val="000000"/>
                </a:solidFill>
                <a:latin typeface="Times New Roman"/>
              </a:rPr>
              <a:t>Emde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 Boas tree is utilized. From the time complexity, it is obvious that our algorithm is extremely efficient when L</a:t>
            </a:r>
            <a:r>
              <a:rPr lang="zh-TW" alt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is very small or L</a:t>
            </a:r>
            <a:r>
              <a:rPr lang="zh-TW" altLang="en-US" sz="2800" spc="-1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is close to m. Some experiments are performed to demonstrate the efficiency of our algorithm.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323850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214950"/>
            <a:ext cx="3400420" cy="1214446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,5,1,4,8)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B=(1,5,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,7,2,5,8,4)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85860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,5,1,4,8)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B=(1,5,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,7,2,5,8,4)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4400552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1, length 1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72066" y="2857496"/>
            <a:ext cx="571504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85860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,1,4,8)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B=(1,5,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,|7,2,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1, length 2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29388" y="2857496"/>
            <a:ext cx="571504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85860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,4,8)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B=(1,5,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,7,2,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1, length 3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786710" y="2857496"/>
            <a:ext cx="571504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85860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,4,8)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B=(1,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,7,2,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2, length 1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072066" y="3571876"/>
            <a:ext cx="571504" cy="857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1" name="直線單箭頭接點 30"/>
          <p:cNvCxnSpPr/>
          <p:nvPr/>
        </p:nvCxnSpPr>
        <p:spPr>
          <a:xfrm rot="5400000">
            <a:off x="4643438" y="3714752"/>
            <a:ext cx="714380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52544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,4,8)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B=(1,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,7,2,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2, length 2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500826" y="3500438"/>
            <a:ext cx="571504" cy="642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 rot="5400000">
            <a:off x="6071404" y="3714752"/>
            <a:ext cx="714380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52544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,4,8)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,7,2,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3, length 1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072066" y="4500570"/>
            <a:ext cx="571504" cy="1071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 rot="5400000">
            <a:off x="4357686" y="4572008"/>
            <a:ext cx="1285884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>
          <a:xfrm rot="5400000">
            <a:off x="4286248" y="4857760"/>
            <a:ext cx="1285884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52544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,8)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</a:t>
            </a:r>
            <a:r>
              <a:rPr lang="en-US" sz="2800" spc="-1" dirty="0" smtClean="0"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,7,2,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,8,4)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3, length 2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29388" y="4500570"/>
            <a:ext cx="571504" cy="857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單箭頭接點 8"/>
          <p:cNvCxnSpPr/>
          <p:nvPr/>
        </p:nvCxnSpPr>
        <p:spPr>
          <a:xfrm rot="5400000">
            <a:off x="5715802" y="4642652"/>
            <a:ext cx="1285884" cy="158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118" y="1252544"/>
            <a:ext cx="8069410" cy="446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Shape 2"/>
          <p:cNvSpPr txBox="1"/>
          <p:nvPr/>
        </p:nvSpPr>
        <p:spPr>
          <a:xfrm>
            <a:off x="457200" y="5786454"/>
            <a:ext cx="3400420" cy="92869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A=(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8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B=(</a:t>
            </a:r>
            <a:r>
              <a:rPr lang="en-US" sz="2800" spc="-1" dirty="0" smtClean="0">
                <a:latin typeface="Times New Roman"/>
              </a:rPr>
              <a:t>1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latin typeface="Times New Roman"/>
              </a:rPr>
              <a:t>4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,|7,2,</a:t>
            </a:r>
            <a:r>
              <a:rPr lang="en-US" sz="2800" spc="-1" dirty="0" smtClean="0">
                <a:latin typeface="Times New Roman"/>
              </a:rPr>
              <a:t>5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</a:t>
            </a:r>
            <a:r>
              <a:rPr lang="en-US" sz="2800" spc="-1" dirty="0" smtClean="0">
                <a:solidFill>
                  <a:srgbClr val="FF0000"/>
                </a:solidFill>
                <a:latin typeface="Times New Roman"/>
              </a:rPr>
              <a:t>8</a:t>
            </a:r>
            <a:r>
              <a:rPr lang="en-US" sz="2800" spc="-1" dirty="0" smtClean="0">
                <a:solidFill>
                  <a:srgbClr val="000000"/>
                </a:solidFill>
                <a:latin typeface="Times New Roman"/>
              </a:rPr>
              <a:t>,4) 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4400" b="0" strike="noStrike" spc="-1" dirty="0" smtClean="0">
                <a:solidFill>
                  <a:srgbClr val="000000"/>
                </a:solidFill>
                <a:latin typeface="Times New Roman"/>
              </a:rPr>
              <a:t>Round 3, length 3</a:t>
            </a:r>
            <a:endParaRPr lang="en-US" sz="4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858148" y="4500570"/>
            <a:ext cx="57150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TextShape 1"/>
          <p:cNvSpPr txBox="1"/>
          <p:nvPr/>
        </p:nvSpPr>
        <p:spPr>
          <a:xfrm>
            <a:off x="6858016" y="1071914"/>
            <a:ext cx="2114536" cy="4282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TW" sz="2000" b="0" strike="noStrike" spc="-1" dirty="0" err="1" smtClean="0">
                <a:solidFill>
                  <a:srgbClr val="000000"/>
                </a:solidFill>
                <a:latin typeface="Times New Roman"/>
              </a:rPr>
              <a:t>D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b="0" strike="noStrike" spc="-1" baseline="-25000" dirty="0" err="1" smtClean="0">
                <a:solidFill>
                  <a:srgbClr val="000000"/>
                </a:solidFill>
                <a:latin typeface="Times New Roman"/>
              </a:rPr>
              <a:t>,s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={(B</a:t>
            </a:r>
            <a:r>
              <a:rPr lang="en-US" altLang="zh-TW" sz="2000" spc="-1" baseline="-25000" dirty="0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(=</a:t>
            </a:r>
            <a:r>
              <a:rPr lang="en-US" altLang="zh-TW" sz="2000" spc="-1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baseline="-25000" dirty="0" err="1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000" spc="-1" dirty="0" smtClean="0">
                <a:solidFill>
                  <a:srgbClr val="000000"/>
                </a:solidFill>
                <a:latin typeface="Times New Roman"/>
              </a:rPr>
              <a:t>), b}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6505" y="1457326"/>
            <a:ext cx="8914651" cy="3400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4" y="428604"/>
            <a:ext cx="8643966" cy="3883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肘形接點 5"/>
          <p:cNvCxnSpPr/>
          <p:nvPr/>
        </p:nvCxnSpPr>
        <p:spPr>
          <a:xfrm>
            <a:off x="3643306" y="4500570"/>
            <a:ext cx="5000660" cy="1588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肘形接點 7"/>
          <p:cNvCxnSpPr/>
          <p:nvPr/>
        </p:nvCxnSpPr>
        <p:spPr>
          <a:xfrm rot="5400000">
            <a:off x="2178827" y="2678107"/>
            <a:ext cx="2643206" cy="1588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6072198" y="450057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2989657" y="2285992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m-L</a:t>
            </a:r>
            <a:endParaRPr lang="zh-TW" altLang="en-US" dirty="0"/>
          </a:p>
        </p:txBody>
      </p:sp>
      <p:sp>
        <p:nvSpPr>
          <p:cNvPr id="12" name="TextShape 2"/>
          <p:cNvSpPr txBox="1"/>
          <p:nvPr/>
        </p:nvSpPr>
        <p:spPr>
          <a:xfrm>
            <a:off x="428596" y="4714884"/>
            <a:ext cx="8358246" cy="2000264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L(m-L) steps, each step needs insertion or deletion.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E</a:t>
            </a:r>
            <a:r>
              <a:rPr lang="en-US" sz="2400" b="0" strike="noStrike" spc="-1" dirty="0" smtClean="0">
                <a:solidFill>
                  <a:srgbClr val="000000"/>
                </a:solidFill>
                <a:latin typeface="Times New Roman"/>
              </a:rPr>
              <a:t>ach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insertion or deletion takes O(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loglog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|</a:t>
            </a:r>
            <a:r>
              <a:rPr lang="el-GR" sz="2400" spc="-1" dirty="0" smtClean="0">
                <a:solidFill>
                  <a:srgbClr val="000000"/>
                </a:solidFill>
                <a:latin typeface="Times New Roman"/>
              </a:rPr>
              <a:t>Σ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|)) using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/>
              </a:rPr>
              <a:t>next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/>
              </a:rPr>
              <a:t>table.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Construct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next</a:t>
            </a:r>
            <a:r>
              <a:rPr lang="en-US" sz="2400" spc="-1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spc="-1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table takes O(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nloglog</a:t>
            </a: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|)</a:t>
            </a:r>
          </a:p>
          <a:p>
            <a:pPr marL="343080" indent="-34272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complexity : O(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n+L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(m-L)</a:t>
            </a: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loglog</a:t>
            </a: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l-GR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5758</TotalTime>
  <Words>468</Words>
  <Application>LibreOffice/6.4.6.2$Windows_X86_64 LibreOffice_project/0ce51a4fd21bff07a5c061082cc82c5ed232f115</Application>
  <PresentationFormat>如螢幕大小 (4:3)</PresentationFormat>
  <Paragraphs>51</Paragraphs>
  <Slides>14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14</vt:i4>
      </vt:variant>
    </vt:vector>
  </HeadingPairs>
  <TitlesOfParts>
    <vt:vector size="16" baseType="lpstr">
      <vt:lpstr>Office Theme</vt:lpstr>
      <vt:lpstr>Office Theme</vt:lpstr>
      <vt:lpstr>投影片 1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  <vt:lpstr>投影片 12</vt:lpstr>
      <vt:lpstr>投影片 13</vt:lpstr>
      <vt:lpstr>投影片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Parallel Pairwise Local Sequence Alignment Algorithm</dc:title>
  <dc:subject/>
  <dc:creator>super</dc:creator>
  <dc:description/>
  <cp:lastModifiedBy>super</cp:lastModifiedBy>
  <cp:revision>954</cp:revision>
  <dcterms:created xsi:type="dcterms:W3CDTF">2020-09-11T11:13:53Z</dcterms:created>
  <dcterms:modified xsi:type="dcterms:W3CDTF">2021-03-01T12:45:17Z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如螢幕大小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