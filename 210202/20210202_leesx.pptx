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1" r:id="rId4"/>
    <p:sldId id="262" r:id="rId5"/>
    <p:sldId id="278" r:id="rId6"/>
    <p:sldId id="263" r:id="rId7"/>
    <p:sldId id="264" r:id="rId8"/>
    <p:sldId id="270" r:id="rId9"/>
    <p:sldId id="268" r:id="rId10"/>
    <p:sldId id="269" r:id="rId11"/>
    <p:sldId id="272" r:id="rId12"/>
    <p:sldId id="273" r:id="rId13"/>
    <p:sldId id="274" r:id="rId14"/>
    <p:sldId id="271" r:id="rId15"/>
    <p:sldId id="277" r:id="rId16"/>
    <p:sldId id="276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BC249-6D5E-4233-8688-FD827ED5C83B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136FF-DB72-4373-9101-37182DC7C0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363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136FF-DB72-4373-9101-37182DC7C0B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9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31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76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D0D01A-56B3-4D29-9607-254AE5AE9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E1489E4-2AD0-4C13-8C80-12552E238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4F4752-04C4-44EB-8448-F13614C1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2ED311-97F2-499C-90FC-A254E51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8E7CBE-6CBA-4B91-B145-3C2DB930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43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C68D6-F28B-4387-B642-5988BE69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AE8F8B-E4A5-4AC0-9A07-67471C08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3DCCF7-8B31-42A7-8868-12679DE7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281C3F-28F4-4112-A4E7-D817D499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014F08-E49E-450B-ADFA-CA9CB438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21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AEFC62-01BB-41E0-BE38-B56DA41D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38E3F4-CD43-422F-8824-1058A163D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8975AD-8445-4C74-9253-F44EABC4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7A4A5-E994-46FE-AE6E-3DDAD89D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73F681-80CA-4DA9-8E4E-4747EC47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28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EFFF2-0546-4730-ACC8-B1FE407C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0C946A-1D91-44E1-A774-5B91E69C3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4BA874-2C07-4550-89D6-9D0A9E196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BCF980-0D40-45DB-A088-8B54D3B7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B22DC8-1FC0-4B5D-BEA0-06866514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186B5A-32F2-4028-9774-0ED6BE72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32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5A385-E59C-4E35-A8EA-8A5A402C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1482A1-4738-4CA0-9441-1223B3B5E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040326-831E-4ED6-87A5-7DE56DEAE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63B3C50-6550-47D4-87BB-D7488AB9E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6BEB09-DE6E-4EBB-8CB7-2D949505F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BF4CEBD-3E2B-4A55-B065-C616A14B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B2C141-7201-4F6B-98B7-5C384779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0BD5CE3-B553-4836-B9D1-5549766C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89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B7915A-09FE-424E-B61E-C310011B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CB08E3-9438-4D59-A662-2F27C6A4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3D718B-7E9D-40B0-8124-980CC407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6B64E0-CAA5-4001-B0E5-157175F4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94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D19963-9D7A-46F6-926B-C40F1DC6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04678D-2721-4E3D-9808-8CC364F1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DBBDE4-FD5D-444C-933F-1B913030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5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9549C-D068-45CF-ACD5-C0CD9215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F7EAB0-1747-46DF-8975-3E9015C8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3F10A8-3C3E-4C40-B80A-E272D1A14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1434C-CDA2-4459-974A-29FD4DC9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F5B41F-9457-4754-B9F6-E8F9618E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8A51B-86CB-4F66-8D16-5A81BD8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66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22BBE-AB91-42BA-8427-33A84AA0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19F07A7-C875-4C02-B818-647870292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540880-937F-48DB-9464-849325913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28337B-E191-43A4-8149-9D60601B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DB097-4957-4900-B461-F11B03D7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CACC60-6338-4C75-BA5E-88AF5DDE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44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209544-2337-4ADD-8692-AE573230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A2B757-138C-4745-9A55-56F32113F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0658B1-0BFB-4BEC-9B1D-36BB15D0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C69D3F-E2AE-42E7-807C-371BCF97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C92BBC-435F-4861-8352-5D705407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01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E706573-4742-4CFB-91A9-BF6A04585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49AF6D-8AD3-4FA3-A440-D3EB0671F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205278-E081-4768-A7A1-9E83AF62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2EC5CF-5661-47CA-AF7F-B94BCBBF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4992CE-D19A-4131-B640-92377940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3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BF11017-54FE-4E8D-AD14-BDF7BF19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679412-EB55-4BAF-82B0-AA8FC43C6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FA93F4-D1AA-4825-845F-DEF287C80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59B1B-7281-4C2D-B890-F28FDDE4F39D}" type="datetimeFigureOut">
              <a:rPr lang="zh-TW" altLang="en-US" smtClean="0"/>
              <a:t>2021/2/2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DFF307-1710-455E-A73A-A34BB7B16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D3B2B4-6581-4BCC-9310-7325E017D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29825-3615-4A45-A7AB-E46E658C77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896409-E407-40C9-AE56-E688816A0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643" y="1378450"/>
            <a:ext cx="9910713" cy="1909571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Subquadratic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Alignment Algorithm for Unrestricted Scoring Matrices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BD117A-181C-4B7C-8DE6-939712F1D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706" y="2694887"/>
            <a:ext cx="9618650" cy="2486320"/>
          </a:xfrm>
        </p:spPr>
        <p:txBody>
          <a:bodyPr/>
          <a:lstStyle/>
          <a:p>
            <a:pPr algn="l">
              <a:lnSpc>
                <a:spcPct val="10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Crochemore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Gad M. Landau, and Michal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Ziv-Ukelson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zh-TW" b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SIAM Journal on Computing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32, No. 6, pp. 1654–1673, 2003.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E417BB-EFC2-4D01-B027-B33617259BBD}"/>
              </a:ext>
            </a:extLst>
          </p:cNvPr>
          <p:cNvSpPr/>
          <p:nvPr/>
        </p:nvSpPr>
        <p:spPr>
          <a:xfrm>
            <a:off x="8251595" y="5367846"/>
            <a:ext cx="356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Feb. 2, 2021</a:t>
            </a:r>
          </a:p>
        </p:txBody>
      </p:sp>
    </p:spTree>
    <p:extLst>
      <p:ext uri="{BB962C8B-B14F-4D97-AF65-F5344CB8AC3E}">
        <p14:creationId xmlns:p14="http://schemas.microsoft.com/office/powerpoint/2010/main" val="184647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8F074DA-6C52-4040-B426-D5BFC700C759}"/>
              </a:ext>
            </a:extLst>
          </p:cNvPr>
          <p:cNvSpPr/>
          <p:nvPr/>
        </p:nvSpPr>
        <p:spPr>
          <a:xfrm>
            <a:off x="388575" y="466629"/>
            <a:ext cx="15760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7E59FC5-B49F-4F0B-9493-96899FFC4EC6}"/>
                  </a:ext>
                </a:extLst>
              </p:cNvPr>
              <p:cNvSpPr txBox="1"/>
              <p:nvPr/>
            </p:nvSpPr>
            <p:spPr>
              <a:xfrm>
                <a:off x="869343" y="1138597"/>
                <a:ext cx="10697346" cy="5318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strings of size n over a constant alphabet, the classical algorithm for computing the similarity between two sequences uses a dynamic programming matrix and compares the two strings in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time. We address the challenge of computing the similarity of two strings in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subquadratic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for metrics which use a scoring matrix of unrestricted weights. Our algorithm applies to both local and global similarity computations. The speed-up is achieved by dividing the dynamic programming matrix into variable sized blocks, as induced by Lempel–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Ziv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parsing of both strings, and utilizing the inherent periodic nature of both strings. This leads to an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log n), algorithm for an input of constant alphabet size. For most texts, the time complexity is actually O(h</a:t>
                </a:r>
                <a:r>
                  <a:rPr lang="en-US" altLang="zh-TW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log n), where h ≤ 1 is the entropy of the text.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7E59FC5-B49F-4F0B-9493-96899FFC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43" y="1138597"/>
                <a:ext cx="10697346" cy="5318762"/>
              </a:xfrm>
              <a:prstGeom prst="rect">
                <a:avLst/>
              </a:prstGeom>
              <a:blipFill>
                <a:blip r:embed="rId3"/>
                <a:stretch>
                  <a:fillRect l="-1197" t="-1261" r="-969" b="-11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9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59D3E58-5939-4D08-990B-332775A22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60" y="80899"/>
            <a:ext cx="5186190" cy="67771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73B215-136C-4FA3-9B50-22B415877624}"/>
              </a:ext>
            </a:extLst>
          </p:cNvPr>
          <p:cNvSpPr txBox="1"/>
          <p:nvPr/>
        </p:nvSpPr>
        <p:spPr>
          <a:xfrm>
            <a:off x="8524164" y="475409"/>
            <a:ext cx="30990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t a c g a g a   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g a c g a</a:t>
            </a:r>
          </a:p>
        </p:txBody>
      </p:sp>
    </p:spTree>
    <p:extLst>
      <p:ext uri="{BB962C8B-B14F-4D97-AF65-F5344CB8AC3E}">
        <p14:creationId xmlns:p14="http://schemas.microsoft.com/office/powerpoint/2010/main" val="100292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16CB7E-AB65-40DD-8744-D618DD06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19" y="84497"/>
            <a:ext cx="7526367" cy="653114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4374469-87BD-4981-8DEF-BCB1071BA917}"/>
              </a:ext>
            </a:extLst>
          </p:cNvPr>
          <p:cNvSpPr txBox="1"/>
          <p:nvPr/>
        </p:nvSpPr>
        <p:spPr>
          <a:xfrm>
            <a:off x="8769260" y="484835"/>
            <a:ext cx="30990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t a c g a g a   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g a c g a</a:t>
            </a:r>
          </a:p>
        </p:txBody>
      </p:sp>
    </p:spTree>
    <p:extLst>
      <p:ext uri="{BB962C8B-B14F-4D97-AF65-F5344CB8AC3E}">
        <p14:creationId xmlns:p14="http://schemas.microsoft.com/office/powerpoint/2010/main" val="213051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16CB7E-AB65-40DD-8744-D618DD06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19" y="84497"/>
            <a:ext cx="7526367" cy="653114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4374469-87BD-4981-8DEF-BCB1071BA917}"/>
              </a:ext>
            </a:extLst>
          </p:cNvPr>
          <p:cNvSpPr txBox="1"/>
          <p:nvPr/>
        </p:nvSpPr>
        <p:spPr>
          <a:xfrm>
            <a:off x="8769260" y="484835"/>
            <a:ext cx="30990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c t a c g a g a   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g a c g a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335D5F9-DD2C-49A1-B92B-C210061B37F9}"/>
              </a:ext>
            </a:extLst>
          </p:cNvPr>
          <p:cNvSpPr/>
          <p:nvPr/>
        </p:nvSpPr>
        <p:spPr>
          <a:xfrm>
            <a:off x="7386701" y="5135251"/>
            <a:ext cx="946593" cy="831915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4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FBBDE9-CAE9-4373-996D-705206B8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124" y="-156259"/>
            <a:ext cx="4948726" cy="68123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AAE3A33-3C37-493B-93EF-28C399D0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3" y="2883795"/>
            <a:ext cx="3599234" cy="28427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7E4B046-14E7-4C20-BA91-6208ED7FC906}"/>
                  </a:ext>
                </a:extLst>
              </p:cNvPr>
              <p:cNvSpPr txBox="1"/>
              <p:nvPr/>
            </p:nvSpPr>
            <p:spPr>
              <a:xfrm>
                <a:off x="422621" y="4408719"/>
                <a:ext cx="4243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7E4B046-14E7-4C20-BA91-6208ED7FC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1" y="4408719"/>
                <a:ext cx="4243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205E3F7-0571-45AB-9E6F-D9ED1BB20405}"/>
                  </a:ext>
                </a:extLst>
              </p:cNvPr>
              <p:cNvSpPr txBox="1"/>
              <p:nvPr/>
            </p:nvSpPr>
            <p:spPr>
              <a:xfrm>
                <a:off x="422621" y="3974205"/>
                <a:ext cx="4218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205E3F7-0571-45AB-9E6F-D9ED1BB20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1" y="3974205"/>
                <a:ext cx="4218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1085E9A-7F00-48B1-8A50-46F8F973C41F}"/>
                  </a:ext>
                </a:extLst>
              </p:cNvPr>
              <p:cNvSpPr txBox="1"/>
              <p:nvPr/>
            </p:nvSpPr>
            <p:spPr>
              <a:xfrm>
                <a:off x="1340964" y="2633947"/>
                <a:ext cx="7046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1085E9A-7F00-48B1-8A50-46F8F973C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964" y="2633947"/>
                <a:ext cx="7046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7915D4E-16FE-4BC0-AD70-A3FC9C948BCA}"/>
                  </a:ext>
                </a:extLst>
              </p:cNvPr>
              <p:cNvSpPr txBox="1"/>
              <p:nvPr/>
            </p:nvSpPr>
            <p:spPr>
              <a:xfrm>
                <a:off x="1883048" y="2633947"/>
                <a:ext cx="4878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7915D4E-16FE-4BC0-AD70-A3FC9C948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048" y="2633947"/>
                <a:ext cx="4878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BA7163D-E704-4F0B-A8CB-DB3DB66A2F37}"/>
                  </a:ext>
                </a:extLst>
              </p:cNvPr>
              <p:cNvSpPr txBox="1"/>
              <p:nvPr/>
            </p:nvSpPr>
            <p:spPr>
              <a:xfrm>
                <a:off x="2294729" y="263394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BA7163D-E704-4F0B-A8CB-DB3DB66A2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729" y="2633947"/>
                <a:ext cx="45955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F3C56C4-519F-4196-9785-5A2562B13C94}"/>
                  </a:ext>
                </a:extLst>
              </p:cNvPr>
              <p:cNvSpPr txBox="1"/>
              <p:nvPr/>
            </p:nvSpPr>
            <p:spPr>
              <a:xfrm>
                <a:off x="2683191" y="263394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F3C56C4-519F-4196-9785-5A2562B13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191" y="2633947"/>
                <a:ext cx="45955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9BB5958-BBBD-4417-9C5B-BBD8F7D8A00A}"/>
                  </a:ext>
                </a:extLst>
              </p:cNvPr>
              <p:cNvSpPr txBox="1"/>
              <p:nvPr/>
            </p:nvSpPr>
            <p:spPr>
              <a:xfrm>
                <a:off x="1463512" y="5679558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9BB5958-BBBD-4417-9C5B-BBD8F7D8A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512" y="5679558"/>
                <a:ext cx="45955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75E3FCF-A303-46C3-BAC8-1DAE537D219D}"/>
                  </a:ext>
                </a:extLst>
              </p:cNvPr>
              <p:cNvSpPr txBox="1"/>
              <p:nvPr/>
            </p:nvSpPr>
            <p:spPr>
              <a:xfrm>
                <a:off x="5078587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75E3FCF-A303-46C3-BAC8-1DAE537D2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587" y="2146077"/>
                <a:ext cx="45955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9F541E-0B65-45E7-9777-79F1FFF58EB7}"/>
                  </a:ext>
                </a:extLst>
              </p:cNvPr>
              <p:cNvSpPr txBox="1"/>
              <p:nvPr/>
            </p:nvSpPr>
            <p:spPr>
              <a:xfrm>
                <a:off x="1923068" y="5679558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9F541E-0B65-45E7-9777-79F1FFF58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8" y="5679558"/>
                <a:ext cx="45955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4589AC0-4F82-4E29-AFE6-FDE52FC835D5}"/>
                  </a:ext>
                </a:extLst>
              </p:cNvPr>
              <p:cNvSpPr txBox="1"/>
              <p:nvPr/>
            </p:nvSpPr>
            <p:spPr>
              <a:xfrm>
                <a:off x="2360940" y="5679558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4589AC0-4F82-4E29-AFE6-FDE52FC83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940" y="5679558"/>
                <a:ext cx="45955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000C5F3-0883-47E6-95B4-E69B0385112F}"/>
                  </a:ext>
                </a:extLst>
              </p:cNvPr>
              <p:cNvSpPr txBox="1"/>
              <p:nvPr/>
            </p:nvSpPr>
            <p:spPr>
              <a:xfrm>
                <a:off x="2765707" y="5679558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000C5F3-0883-47E6-95B4-E69B0385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707" y="5679558"/>
                <a:ext cx="45955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1CA1BA4-F3A5-4880-AC63-BAB807698DC3}"/>
                  </a:ext>
                </a:extLst>
              </p:cNvPr>
              <p:cNvSpPr txBox="1"/>
              <p:nvPr/>
            </p:nvSpPr>
            <p:spPr>
              <a:xfrm>
                <a:off x="3761031" y="4158871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1CA1BA4-F3A5-4880-AC63-BAB807698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031" y="4158871"/>
                <a:ext cx="45955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BC16780-1FE3-4769-B8FA-2DBC71940C09}"/>
                  </a:ext>
                </a:extLst>
              </p:cNvPr>
              <p:cNvSpPr txBox="1"/>
              <p:nvPr/>
            </p:nvSpPr>
            <p:spPr>
              <a:xfrm>
                <a:off x="3761031" y="3589164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7BC16780-1FE3-4769-B8FA-2DBC71940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031" y="3589164"/>
                <a:ext cx="45955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637AA86-1FA0-42E3-B724-CC31763C6878}"/>
                  </a:ext>
                </a:extLst>
              </p:cNvPr>
              <p:cNvSpPr txBox="1"/>
              <p:nvPr/>
            </p:nvSpPr>
            <p:spPr>
              <a:xfrm>
                <a:off x="5625589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637AA86-1FA0-42E3-B724-CC31763C6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589" y="2146077"/>
                <a:ext cx="45955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1A5CEA3-7806-4902-A546-AB0D12EB74D3}"/>
                  </a:ext>
                </a:extLst>
              </p:cNvPr>
              <p:cNvSpPr txBox="1"/>
              <p:nvPr/>
            </p:nvSpPr>
            <p:spPr>
              <a:xfrm>
                <a:off x="6134337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1A5CEA3-7806-4902-A546-AB0D12EB7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37" y="2146077"/>
                <a:ext cx="45955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F1DD1BAF-5E2C-4BF2-B900-E3932E284304}"/>
                  </a:ext>
                </a:extLst>
              </p:cNvPr>
              <p:cNvSpPr txBox="1"/>
              <p:nvPr/>
            </p:nvSpPr>
            <p:spPr>
              <a:xfrm>
                <a:off x="6683898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F1DD1BAF-5E2C-4BF2-B900-E3932E284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898" y="2146077"/>
                <a:ext cx="45955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230335-3D63-41C4-992C-3F1F57A36B13}"/>
                  </a:ext>
                </a:extLst>
              </p:cNvPr>
              <p:cNvSpPr txBox="1"/>
              <p:nvPr/>
            </p:nvSpPr>
            <p:spPr>
              <a:xfrm>
                <a:off x="7166579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8230335-3D63-41C4-992C-3F1F57A36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579" y="2146077"/>
                <a:ext cx="45955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8933CA6-4D4C-421B-B3AC-DE047C0E4E6F}"/>
                  </a:ext>
                </a:extLst>
              </p:cNvPr>
              <p:cNvSpPr txBox="1"/>
              <p:nvPr/>
            </p:nvSpPr>
            <p:spPr>
              <a:xfrm>
                <a:off x="7714817" y="2146077"/>
                <a:ext cx="4595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8933CA6-4D4C-421B-B3AC-DE047C0E4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817" y="2146077"/>
                <a:ext cx="45955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40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50EEEF4-C9B2-4564-A313-A85C5937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519" y="169683"/>
            <a:ext cx="8800460" cy="633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2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FC5F7B9-6A42-4F12-9199-661C2A5F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97" y="284851"/>
            <a:ext cx="8214465" cy="591441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4DD504C-66F0-4001-A55E-998803470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862" y="474764"/>
            <a:ext cx="2525801" cy="359244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AF3C6AA-B632-4176-A6A1-DB1157B00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637" y="4024049"/>
            <a:ext cx="5098200" cy="25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19DA290-18CF-42AD-A48F-98F4605BC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29" y="284851"/>
            <a:ext cx="8214465" cy="591441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7F52EAF-2E95-4C30-AAD7-43BDA2D5A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616" y="284851"/>
            <a:ext cx="3621073" cy="316020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F4F4C41-F520-4C1A-A194-71A9E621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89" y="3935255"/>
            <a:ext cx="5098200" cy="25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9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A1DFE29-F3A2-4DAD-97A5-BE1F7695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79" y="72074"/>
            <a:ext cx="2384981" cy="19874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391BCE-F728-44D7-B138-57AE8859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138" y="-155822"/>
            <a:ext cx="8214465" cy="5914415"/>
          </a:xfrm>
          <a:prstGeom prst="rect">
            <a:avLst/>
          </a:prstGeom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F6AC145-BAD3-4384-8EB7-F9E880A46538}"/>
              </a:ext>
            </a:extLst>
          </p:cNvPr>
          <p:cNvSpPr/>
          <p:nvPr/>
        </p:nvSpPr>
        <p:spPr>
          <a:xfrm>
            <a:off x="10088883" y="1165833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2645738-ABA0-48A7-9866-F3CE83A1F377}"/>
              </a:ext>
            </a:extLst>
          </p:cNvPr>
          <p:cNvSpPr/>
          <p:nvPr/>
        </p:nvSpPr>
        <p:spPr>
          <a:xfrm>
            <a:off x="10106641" y="1741160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3E7E52E-AAE9-4E50-B7BA-AAA6DCC3A6C3}"/>
              </a:ext>
            </a:extLst>
          </p:cNvPr>
          <p:cNvSpPr/>
          <p:nvPr/>
        </p:nvSpPr>
        <p:spPr>
          <a:xfrm>
            <a:off x="10633408" y="1214187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5F7CD44-814F-4E6C-A0B8-2EF8E5D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28" y="3820944"/>
            <a:ext cx="1969620" cy="2801386"/>
          </a:xfrm>
          <a:prstGeom prst="rect">
            <a:avLst/>
          </a:prstGeom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8981B11-5417-4980-A0FD-D892BA638C10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9142618" y="1300899"/>
            <a:ext cx="564676" cy="2112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20">
            <a:extLst>
              <a:ext uri="{FF2B5EF4-FFF2-40B4-BE49-F238E27FC236}">
                <a16:creationId xmlns:a16="http://schemas.microsoft.com/office/drawing/2014/main" id="{8D8F83C3-7FD1-440C-8867-2D1AC75BA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505339"/>
              </p:ext>
            </p:extLst>
          </p:nvPr>
        </p:nvGraphicFramePr>
        <p:xfrm>
          <a:off x="8972345" y="3429000"/>
          <a:ext cx="447249" cy="170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FBE9DF68-4500-4222-BEC7-68A1A26747A8}"/>
              </a:ext>
            </a:extLst>
          </p:cNvPr>
          <p:cNvSpPr/>
          <p:nvPr/>
        </p:nvSpPr>
        <p:spPr>
          <a:xfrm>
            <a:off x="9142619" y="649070"/>
            <a:ext cx="1129350" cy="65182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99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A1DFE29-F3A2-4DAD-97A5-BE1F7695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79" y="72074"/>
            <a:ext cx="2384981" cy="19874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391BCE-F728-44D7-B138-57AE8859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138" y="-155822"/>
            <a:ext cx="8214465" cy="5914415"/>
          </a:xfrm>
          <a:prstGeom prst="rect">
            <a:avLst/>
          </a:prstGeom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F6AC145-BAD3-4384-8EB7-F9E880A46538}"/>
              </a:ext>
            </a:extLst>
          </p:cNvPr>
          <p:cNvSpPr/>
          <p:nvPr/>
        </p:nvSpPr>
        <p:spPr>
          <a:xfrm>
            <a:off x="10088883" y="1165833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2645738-ABA0-48A7-9866-F3CE83A1F377}"/>
              </a:ext>
            </a:extLst>
          </p:cNvPr>
          <p:cNvSpPr/>
          <p:nvPr/>
        </p:nvSpPr>
        <p:spPr>
          <a:xfrm>
            <a:off x="10106641" y="1741160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3E7E52E-AAE9-4E50-B7BA-AAA6DCC3A6C3}"/>
              </a:ext>
            </a:extLst>
          </p:cNvPr>
          <p:cNvSpPr/>
          <p:nvPr/>
        </p:nvSpPr>
        <p:spPr>
          <a:xfrm>
            <a:off x="10633408" y="1214187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5F7CD44-814F-4E6C-A0B8-2EF8E5D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28" y="3820944"/>
            <a:ext cx="1969620" cy="2801386"/>
          </a:xfrm>
          <a:prstGeom prst="rect">
            <a:avLst/>
          </a:prstGeom>
        </p:spPr>
      </p:pic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8981B11-5417-4980-A0FD-D892BA638C10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9142618" y="1300899"/>
            <a:ext cx="564676" cy="2112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517665D-8A35-48C9-AFA6-70CB4B05EE59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0568787" y="1353173"/>
            <a:ext cx="793131" cy="21539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0">
            <a:extLst>
              <a:ext uri="{FF2B5EF4-FFF2-40B4-BE49-F238E27FC236}">
                <a16:creationId xmlns:a16="http://schemas.microsoft.com/office/drawing/2014/main" id="{F8729DDB-AD9D-445B-A16C-5E2AE81B07FE}"/>
              </a:ext>
            </a:extLst>
          </p:cNvPr>
          <p:cNvGraphicFramePr>
            <a:graphicFrameLocks noGrp="1"/>
          </p:cNvGraphicFramePr>
          <p:nvPr/>
        </p:nvGraphicFramePr>
        <p:xfrm>
          <a:off x="11138294" y="3507158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graphicFrame>
        <p:nvGraphicFramePr>
          <p:cNvPr id="40" name="表格 20">
            <a:extLst>
              <a:ext uri="{FF2B5EF4-FFF2-40B4-BE49-F238E27FC236}">
                <a16:creationId xmlns:a16="http://schemas.microsoft.com/office/drawing/2014/main" id="{8D8F83C3-7FD1-440C-8867-2D1AC75BA872}"/>
              </a:ext>
            </a:extLst>
          </p:cNvPr>
          <p:cNvGraphicFramePr>
            <a:graphicFrameLocks noGrp="1"/>
          </p:cNvGraphicFramePr>
          <p:nvPr/>
        </p:nvGraphicFramePr>
        <p:xfrm>
          <a:off x="8972345" y="3429000"/>
          <a:ext cx="447249" cy="170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</a:tbl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D1385572-8C2A-411D-913B-A259BF838D6C}"/>
              </a:ext>
            </a:extLst>
          </p:cNvPr>
          <p:cNvSpPr/>
          <p:nvPr/>
        </p:nvSpPr>
        <p:spPr>
          <a:xfrm>
            <a:off x="9195969" y="685342"/>
            <a:ext cx="1675616" cy="63155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E9DF68-4500-4222-BEC7-68A1A26747A8}"/>
              </a:ext>
            </a:extLst>
          </p:cNvPr>
          <p:cNvSpPr/>
          <p:nvPr/>
        </p:nvSpPr>
        <p:spPr>
          <a:xfrm>
            <a:off x="9142619" y="649070"/>
            <a:ext cx="1129350" cy="65182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25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A1DFE29-F3A2-4DAD-97A5-BE1F7695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79" y="72074"/>
            <a:ext cx="2384981" cy="19874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391BCE-F728-44D7-B138-57AE8859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138" y="-155822"/>
            <a:ext cx="8214465" cy="5914415"/>
          </a:xfrm>
          <a:prstGeom prst="rect">
            <a:avLst/>
          </a:prstGeom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F6AC145-BAD3-4384-8EB7-F9E880A46538}"/>
              </a:ext>
            </a:extLst>
          </p:cNvPr>
          <p:cNvSpPr/>
          <p:nvPr/>
        </p:nvSpPr>
        <p:spPr>
          <a:xfrm>
            <a:off x="10088883" y="1165833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2645738-ABA0-48A7-9866-F3CE83A1F377}"/>
              </a:ext>
            </a:extLst>
          </p:cNvPr>
          <p:cNvSpPr/>
          <p:nvPr/>
        </p:nvSpPr>
        <p:spPr>
          <a:xfrm>
            <a:off x="10106641" y="1741160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3E7E52E-AAE9-4E50-B7BA-AAA6DCC3A6C3}"/>
              </a:ext>
            </a:extLst>
          </p:cNvPr>
          <p:cNvSpPr/>
          <p:nvPr/>
        </p:nvSpPr>
        <p:spPr>
          <a:xfrm>
            <a:off x="10633408" y="1214187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5F7CD44-814F-4E6C-A0B8-2EF8E5D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28" y="3820944"/>
            <a:ext cx="1969620" cy="2801386"/>
          </a:xfrm>
          <a:prstGeom prst="rect">
            <a:avLst/>
          </a:prstGeom>
        </p:spPr>
      </p:pic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861899-6D77-40A4-9874-42D892764D1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962574" y="1905734"/>
            <a:ext cx="367691" cy="110567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2FC02DB4-4408-407F-813F-E744C29E1341}"/>
              </a:ext>
            </a:extLst>
          </p:cNvPr>
          <p:cNvGraphicFramePr>
            <a:graphicFrameLocks noGrp="1"/>
          </p:cNvGraphicFramePr>
          <p:nvPr/>
        </p:nvGraphicFramePr>
        <p:xfrm>
          <a:off x="10106641" y="3011412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8981B11-5417-4980-A0FD-D892BA638C10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9142618" y="1300899"/>
            <a:ext cx="564676" cy="2112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517665D-8A35-48C9-AFA6-70CB4B05EE59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0568787" y="1353173"/>
            <a:ext cx="793131" cy="21539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0">
            <a:extLst>
              <a:ext uri="{FF2B5EF4-FFF2-40B4-BE49-F238E27FC236}">
                <a16:creationId xmlns:a16="http://schemas.microsoft.com/office/drawing/2014/main" id="{F8729DDB-AD9D-445B-A16C-5E2AE81B07FE}"/>
              </a:ext>
            </a:extLst>
          </p:cNvPr>
          <p:cNvGraphicFramePr>
            <a:graphicFrameLocks noGrp="1"/>
          </p:cNvGraphicFramePr>
          <p:nvPr/>
        </p:nvGraphicFramePr>
        <p:xfrm>
          <a:off x="11138294" y="3507158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graphicFrame>
        <p:nvGraphicFramePr>
          <p:cNvPr id="40" name="表格 20">
            <a:extLst>
              <a:ext uri="{FF2B5EF4-FFF2-40B4-BE49-F238E27FC236}">
                <a16:creationId xmlns:a16="http://schemas.microsoft.com/office/drawing/2014/main" id="{8D8F83C3-7FD1-440C-8867-2D1AC75BA872}"/>
              </a:ext>
            </a:extLst>
          </p:cNvPr>
          <p:cNvGraphicFramePr>
            <a:graphicFrameLocks noGrp="1"/>
          </p:cNvGraphicFramePr>
          <p:nvPr/>
        </p:nvGraphicFramePr>
        <p:xfrm>
          <a:off x="8972345" y="3429000"/>
          <a:ext cx="447249" cy="170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</a:tbl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D1385572-8C2A-411D-913B-A259BF838D6C}"/>
              </a:ext>
            </a:extLst>
          </p:cNvPr>
          <p:cNvSpPr/>
          <p:nvPr/>
        </p:nvSpPr>
        <p:spPr>
          <a:xfrm>
            <a:off x="9195969" y="685342"/>
            <a:ext cx="1675616" cy="63155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8A6E122-9CF3-4177-8570-99CD492628A1}"/>
              </a:ext>
            </a:extLst>
          </p:cNvPr>
          <p:cNvSpPr/>
          <p:nvPr/>
        </p:nvSpPr>
        <p:spPr>
          <a:xfrm>
            <a:off x="9111858" y="598641"/>
            <a:ext cx="1129350" cy="1257987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E9DF68-4500-4222-BEC7-68A1A26747A8}"/>
              </a:ext>
            </a:extLst>
          </p:cNvPr>
          <p:cNvSpPr/>
          <p:nvPr/>
        </p:nvSpPr>
        <p:spPr>
          <a:xfrm>
            <a:off x="9142619" y="649070"/>
            <a:ext cx="1129350" cy="65182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32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A1DFE29-F3A2-4DAD-97A5-BE1F7695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79" y="72074"/>
            <a:ext cx="2384981" cy="19874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391BCE-F728-44D7-B138-57AE8859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138" y="-155822"/>
            <a:ext cx="8214465" cy="5914415"/>
          </a:xfrm>
          <a:prstGeom prst="rect">
            <a:avLst/>
          </a:prstGeom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F6AC145-BAD3-4384-8EB7-F9E880A46538}"/>
              </a:ext>
            </a:extLst>
          </p:cNvPr>
          <p:cNvSpPr/>
          <p:nvPr/>
        </p:nvSpPr>
        <p:spPr>
          <a:xfrm>
            <a:off x="10088883" y="1165833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2645738-ABA0-48A7-9866-F3CE83A1F377}"/>
              </a:ext>
            </a:extLst>
          </p:cNvPr>
          <p:cNvSpPr/>
          <p:nvPr/>
        </p:nvSpPr>
        <p:spPr>
          <a:xfrm>
            <a:off x="10106641" y="1741160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3E7E52E-AAE9-4E50-B7BA-AAA6DCC3A6C3}"/>
              </a:ext>
            </a:extLst>
          </p:cNvPr>
          <p:cNvSpPr/>
          <p:nvPr/>
        </p:nvSpPr>
        <p:spPr>
          <a:xfrm>
            <a:off x="10633408" y="1214187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5F7CD44-814F-4E6C-A0B8-2EF8E5D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28" y="3820944"/>
            <a:ext cx="1969620" cy="2801386"/>
          </a:xfrm>
          <a:prstGeom prst="rect">
            <a:avLst/>
          </a:prstGeom>
        </p:spPr>
      </p:pic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861899-6D77-40A4-9874-42D892764D18}"/>
              </a:ext>
            </a:extLst>
          </p:cNvPr>
          <p:cNvCxnSpPr>
            <a:cxnSpLocks/>
            <a:stCxn id="12" idx="4"/>
            <a:endCxn id="20" idx="0"/>
          </p:cNvCxnSpPr>
          <p:nvPr/>
        </p:nvCxnSpPr>
        <p:spPr>
          <a:xfrm>
            <a:off x="10289726" y="2143471"/>
            <a:ext cx="40539" cy="86794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2FC02DB4-4408-407F-813F-E744C29E1341}"/>
              </a:ext>
            </a:extLst>
          </p:cNvPr>
          <p:cNvGraphicFramePr>
            <a:graphicFrameLocks noGrp="1"/>
          </p:cNvGraphicFramePr>
          <p:nvPr/>
        </p:nvGraphicFramePr>
        <p:xfrm>
          <a:off x="10106641" y="3011412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8981B11-5417-4980-A0FD-D892BA638C10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142619" y="1366989"/>
            <a:ext cx="946264" cy="204600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517665D-8A35-48C9-AFA6-70CB4B05EE59}"/>
              </a:ext>
            </a:extLst>
          </p:cNvPr>
          <p:cNvCxnSpPr>
            <a:cxnSpLocks/>
            <a:stCxn id="13" idx="5"/>
            <a:endCxn id="31" idx="0"/>
          </p:cNvCxnSpPr>
          <p:nvPr/>
        </p:nvCxnSpPr>
        <p:spPr>
          <a:xfrm>
            <a:off x="10945954" y="1557581"/>
            <a:ext cx="415964" cy="194957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0">
            <a:extLst>
              <a:ext uri="{FF2B5EF4-FFF2-40B4-BE49-F238E27FC236}">
                <a16:creationId xmlns:a16="http://schemas.microsoft.com/office/drawing/2014/main" id="{F8729DDB-AD9D-445B-A16C-5E2AE81B07FE}"/>
              </a:ext>
            </a:extLst>
          </p:cNvPr>
          <p:cNvGraphicFramePr>
            <a:graphicFrameLocks noGrp="1"/>
          </p:cNvGraphicFramePr>
          <p:nvPr/>
        </p:nvGraphicFramePr>
        <p:xfrm>
          <a:off x="11138294" y="3507158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graphicFrame>
        <p:nvGraphicFramePr>
          <p:cNvPr id="40" name="表格 20">
            <a:extLst>
              <a:ext uri="{FF2B5EF4-FFF2-40B4-BE49-F238E27FC236}">
                <a16:creationId xmlns:a16="http://schemas.microsoft.com/office/drawing/2014/main" id="{8D8F83C3-7FD1-440C-8867-2D1AC75BA872}"/>
              </a:ext>
            </a:extLst>
          </p:cNvPr>
          <p:cNvGraphicFramePr>
            <a:graphicFrameLocks noGrp="1"/>
          </p:cNvGraphicFramePr>
          <p:nvPr/>
        </p:nvGraphicFramePr>
        <p:xfrm>
          <a:off x="8972345" y="3429000"/>
          <a:ext cx="447249" cy="170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93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A1DFE29-F3A2-4DAD-97A5-BE1F7695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79" y="72074"/>
            <a:ext cx="2384981" cy="198748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1391BCE-F728-44D7-B138-57AE8859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138" y="-155822"/>
            <a:ext cx="8214465" cy="5914415"/>
          </a:xfrm>
          <a:prstGeom prst="rect">
            <a:avLst/>
          </a:prstGeom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6F6AC145-BAD3-4384-8EB7-F9E880A46538}"/>
              </a:ext>
            </a:extLst>
          </p:cNvPr>
          <p:cNvSpPr/>
          <p:nvPr/>
        </p:nvSpPr>
        <p:spPr>
          <a:xfrm>
            <a:off x="10088883" y="1165833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2645738-ABA0-48A7-9866-F3CE83A1F377}"/>
              </a:ext>
            </a:extLst>
          </p:cNvPr>
          <p:cNvSpPr/>
          <p:nvPr/>
        </p:nvSpPr>
        <p:spPr>
          <a:xfrm>
            <a:off x="10106641" y="1741160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3E7E52E-AAE9-4E50-B7BA-AAA6DCC3A6C3}"/>
              </a:ext>
            </a:extLst>
          </p:cNvPr>
          <p:cNvSpPr/>
          <p:nvPr/>
        </p:nvSpPr>
        <p:spPr>
          <a:xfrm>
            <a:off x="10633408" y="1214187"/>
            <a:ext cx="366170" cy="402311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5F7CD44-814F-4E6C-A0B8-2EF8E5D5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28" y="3820944"/>
            <a:ext cx="1969620" cy="2801386"/>
          </a:xfrm>
          <a:prstGeom prst="rect">
            <a:avLst/>
          </a:prstGeom>
        </p:spPr>
      </p:pic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861899-6D77-40A4-9874-42D892764D18}"/>
              </a:ext>
            </a:extLst>
          </p:cNvPr>
          <p:cNvCxnSpPr>
            <a:cxnSpLocks/>
            <a:stCxn id="12" idx="4"/>
            <a:endCxn id="20" idx="0"/>
          </p:cNvCxnSpPr>
          <p:nvPr/>
        </p:nvCxnSpPr>
        <p:spPr>
          <a:xfrm>
            <a:off x="10289726" y="2143471"/>
            <a:ext cx="40539" cy="86794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20">
            <a:extLst>
              <a:ext uri="{FF2B5EF4-FFF2-40B4-BE49-F238E27FC236}">
                <a16:creationId xmlns:a16="http://schemas.microsoft.com/office/drawing/2014/main" id="{2FC02DB4-4408-407F-813F-E744C29E1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10592"/>
              </p:ext>
            </p:extLst>
          </p:nvPr>
        </p:nvGraphicFramePr>
        <p:xfrm>
          <a:off x="10106641" y="3011412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8981B11-5417-4980-A0FD-D892BA638C10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142619" y="1366989"/>
            <a:ext cx="946264" cy="204600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517665D-8A35-48C9-AFA6-70CB4B05EE59}"/>
              </a:ext>
            </a:extLst>
          </p:cNvPr>
          <p:cNvCxnSpPr>
            <a:cxnSpLocks/>
            <a:stCxn id="13" idx="5"/>
            <a:endCxn id="31" idx="0"/>
          </p:cNvCxnSpPr>
          <p:nvPr/>
        </p:nvCxnSpPr>
        <p:spPr>
          <a:xfrm>
            <a:off x="10945954" y="1557581"/>
            <a:ext cx="415964" cy="194957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20">
            <a:extLst>
              <a:ext uri="{FF2B5EF4-FFF2-40B4-BE49-F238E27FC236}">
                <a16:creationId xmlns:a16="http://schemas.microsoft.com/office/drawing/2014/main" id="{F8729DDB-AD9D-445B-A16C-5E2AE81B0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59981"/>
              </p:ext>
            </p:extLst>
          </p:nvPr>
        </p:nvGraphicFramePr>
        <p:xfrm>
          <a:off x="11138294" y="3507158"/>
          <a:ext cx="447249" cy="2136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2118"/>
                  </a:ext>
                </a:extLst>
              </a:tr>
            </a:tbl>
          </a:graphicData>
        </a:graphic>
      </p:graphicFrame>
      <p:graphicFrame>
        <p:nvGraphicFramePr>
          <p:cNvPr id="40" name="表格 20">
            <a:extLst>
              <a:ext uri="{FF2B5EF4-FFF2-40B4-BE49-F238E27FC236}">
                <a16:creationId xmlns:a16="http://schemas.microsoft.com/office/drawing/2014/main" id="{8D8F83C3-7FD1-440C-8867-2D1AC75BA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407158"/>
              </p:ext>
            </p:extLst>
          </p:nvPr>
        </p:nvGraphicFramePr>
        <p:xfrm>
          <a:off x="8972345" y="3429000"/>
          <a:ext cx="447249" cy="170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2121928024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6391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814130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540337"/>
                  </a:ext>
                </a:extLst>
              </a:tr>
              <a:tr h="42733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29131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94E42CF4-5EAC-4587-B383-A6D456A97D97}"/>
              </a:ext>
            </a:extLst>
          </p:cNvPr>
          <p:cNvSpPr/>
          <p:nvPr/>
        </p:nvSpPr>
        <p:spPr>
          <a:xfrm>
            <a:off x="2064470" y="3621938"/>
            <a:ext cx="641023" cy="2136655"/>
          </a:xfrm>
          <a:prstGeom prst="ellipse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36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31975" y="329938"/>
            <a:ext cx="4577711" cy="67592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24050" y="1571550"/>
                <a:ext cx="9973335" cy="4687848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LZ78 factorization algorithm : O(n).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phrases in both A and B : O(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/log n).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blocks in the alignment graph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ct val="50000"/>
                  </a:spcBef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ct val="5000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block:</a:t>
                </a:r>
              </a:p>
              <a:p>
                <a:pPr marL="457200" indent="-457200">
                  <a:spcBef>
                    <a:spcPct val="50000"/>
                  </a:spcBef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Updating the encoding structure for G : in O(t)</a:t>
                </a:r>
              </a:p>
              <a:p>
                <a:pPr marL="457200" indent="-457200">
                  <a:spcBef>
                    <a:spcPct val="50000"/>
                  </a:spcBef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Maintaining direct access to DIST columns : O(t).</a:t>
                </a:r>
              </a:p>
              <a:p>
                <a:pPr marL="457200" indent="-457200">
                  <a:spcBef>
                    <a:spcPct val="50000"/>
                  </a:spcBef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Propagating I/O values across the block : O(t)</a:t>
                </a:r>
              </a:p>
            </p:txBody>
          </p:sp>
        </mc:Choice>
        <mc:Fallback xmlns="">
          <p:sp>
            <p:nvSpPr>
              <p:cNvPr id="152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4050" y="1571550"/>
                <a:ext cx="9973335" cy="4687848"/>
              </a:xfrm>
              <a:blipFill>
                <a:blip r:embed="rId3"/>
                <a:stretch>
                  <a:fillRect l="-978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18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98990" y="1341287"/>
                <a:ext cx="6184235" cy="68141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complexity : </a:t>
                </a:r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O(h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/(log n))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990" y="1341287"/>
                <a:ext cx="6184235" cy="681412"/>
              </a:xfrm>
              <a:blipFill>
                <a:blip r:embed="rId3"/>
                <a:stretch>
                  <a:fillRect l="-1381"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451585" y="3083307"/>
                <a:ext cx="5803392" cy="1299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TW" sz="4000" i="1">
                                <a:latin typeface="Cambria Math" panose="02040503050406030204" pitchFamily="18" charset="0"/>
                              </a:rPr>
                              <m:t>𝑙𝑜𝑔𝑛</m:t>
                            </m:r>
                            <m:r>
                              <a:rPr lang="en-US" altLang="zh-TW" sz="4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x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TW" sz="4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4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TW" sz="4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TW" sz="4000" i="1">
                                <a:latin typeface="Cambria Math" panose="02040503050406030204" pitchFamily="18" charset="0"/>
                              </a:rPr>
                              <m:t>𝑙𝑜𝑔𝑛</m:t>
                            </m:r>
                          </m:den>
                        </m:f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TW" alt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4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sz="4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𝑙𝑜𝑔𝑛</m:t>
                        </m:r>
                        <m:r>
                          <a:rPr lang="en-US" altLang="zh-TW" sz="4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585" y="3083307"/>
                <a:ext cx="5803392" cy="12990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Group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83176"/>
              </p:ext>
            </p:extLst>
          </p:nvPr>
        </p:nvGraphicFramePr>
        <p:xfrm>
          <a:off x="1378823" y="2358128"/>
          <a:ext cx="3341688" cy="3553972"/>
        </p:xfrm>
        <a:graphic>
          <a:graphicData uri="http://schemas.openxmlformats.org/drawingml/2006/table">
            <a:tbl>
              <a:tblPr rtl="1"/>
              <a:tblGrid>
                <a:gridCol w="53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8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acg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g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ac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c</a:t>
                      </a:r>
                    </a:p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g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</a:t>
                      </a:r>
                    </a:p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g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 (Hebrew)" charset="-79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1pPr>
                      <a:lvl2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2pPr>
                      <a:lvl3pP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5pPr>
                      <a:lvl6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6pPr>
                      <a:lvl7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7pPr>
                      <a:lvl8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8pPr>
                      <a:lvl9pPr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 (Hebrew)" charset="-79"/>
                        </a:defRPr>
                      </a:lvl9pPr>
                    </a:lstStyle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 (Hebrew)" charset="-79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0" name="直線接點 39"/>
          <p:cNvCxnSpPr/>
          <p:nvPr/>
        </p:nvCxnSpPr>
        <p:spPr>
          <a:xfrm>
            <a:off x="1642230" y="3166657"/>
            <a:ext cx="39489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rot="-60000" flipH="1">
            <a:off x="2033632" y="2741750"/>
            <a:ext cx="6978" cy="404704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標題 1">
            <a:extLst>
              <a:ext uri="{FF2B5EF4-FFF2-40B4-BE49-F238E27FC236}">
                <a16:creationId xmlns:a16="http://schemas.microsoft.com/office/drawing/2014/main" id="{621C4C99-5A87-4AEF-A144-6B96044B03BD}"/>
              </a:ext>
            </a:extLst>
          </p:cNvPr>
          <p:cNvSpPr txBox="1">
            <a:spLocks/>
          </p:cNvSpPr>
          <p:nvPr/>
        </p:nvSpPr>
        <p:spPr>
          <a:xfrm>
            <a:off x="-131975" y="329938"/>
            <a:ext cx="4577711" cy="67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710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505</Words>
  <Application>Microsoft Office PowerPoint</Application>
  <PresentationFormat>寬螢幕</PresentationFormat>
  <Paragraphs>114</Paragraphs>
  <Slides>16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Office 佈景主題</vt:lpstr>
      <vt:lpstr>A Subquadratic Sequence Alignment Algorithm for Unrestricted Scoring Matrices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Subquadratic Sequence Alignment Algorithm for Unrestricted Scoring Matrices </dc:title>
  <dc:creator>M083040080</dc:creator>
  <cp:lastModifiedBy>pplab</cp:lastModifiedBy>
  <cp:revision>21</cp:revision>
  <dcterms:created xsi:type="dcterms:W3CDTF">2021-02-01T13:16:00Z</dcterms:created>
  <dcterms:modified xsi:type="dcterms:W3CDTF">2021-02-02T08:05:50Z</dcterms:modified>
</cp:coreProperties>
</file>