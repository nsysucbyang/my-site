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9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76" r:id="rId14"/>
    <p:sldId id="264" r:id="rId15"/>
    <p:sldId id="277" r:id="rId16"/>
    <p:sldId id="278" r:id="rId17"/>
    <p:sldId id="279" r:id="rId18"/>
    <p:sldId id="280" r:id="rId19"/>
    <p:sldId id="281" r:id="rId20"/>
    <p:sldId id="283" r:id="rId21"/>
    <p:sldId id="284" r:id="rId22"/>
    <p:sldId id="285" r:id="rId23"/>
    <p:sldId id="286" r:id="rId24"/>
    <p:sldId id="287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" clrIdx="0">
    <p:extLst>
      <p:ext uri="{19B8F6BF-5375-455C-9EA6-DF929625EA0E}">
        <p15:presenceInfo xmlns:p15="http://schemas.microsoft.com/office/powerpoint/2012/main" userId="Ale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31BAE-DF9E-4871-96A8-38DFDD0FDC7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DF358-BF30-42EC-A6B2-4EB430228D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18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bbab</a:t>
            </a:r>
            <a:r>
              <a:rPr lang="zh-TW" altLang="en-US" dirty="0"/>
              <a:t>中的</a:t>
            </a:r>
            <a:r>
              <a:rPr lang="en-US" altLang="zh-TW" dirty="0"/>
              <a:t>bb</a:t>
            </a:r>
            <a:r>
              <a:rPr lang="zh-TW" altLang="en-US" dirty="0"/>
              <a:t>是</a:t>
            </a:r>
            <a:r>
              <a:rPr lang="en-US" altLang="zh-TW" dirty="0"/>
              <a:t>P</a:t>
            </a:r>
            <a:r>
              <a:rPr lang="zh-TW" altLang="en-US" dirty="0"/>
              <a:t>的第一個</a:t>
            </a:r>
            <a:r>
              <a:rPr lang="en-US" altLang="zh-TW" dirty="0"/>
              <a:t>run</a:t>
            </a:r>
            <a:r>
              <a:rPr lang="zh-TW" altLang="en-US" dirty="0"/>
              <a:t>，那麼他一定會在</a:t>
            </a:r>
            <a:r>
              <a:rPr lang="en-US" altLang="zh-TW" dirty="0"/>
              <a:t>X</a:t>
            </a:r>
            <a:r>
              <a:rPr lang="zh-TW" altLang="en-US" dirty="0"/>
              <a:t>或</a:t>
            </a:r>
            <a:r>
              <a:rPr lang="en-US" altLang="zh-TW" dirty="0"/>
              <a:t>Y</a:t>
            </a:r>
            <a:r>
              <a:rPr lang="zh-TW" altLang="en-US" dirty="0"/>
              <a:t>的某個</a:t>
            </a:r>
            <a:r>
              <a:rPr lang="en-US" altLang="zh-TW" dirty="0"/>
              <a:t>run</a:t>
            </a:r>
            <a:r>
              <a:rPr lang="zh-TW" altLang="en-US" dirty="0"/>
              <a:t>中的結尾結束，如果沒有的話代表找到的</a:t>
            </a:r>
            <a:r>
              <a:rPr lang="en-US" altLang="zh-TW" dirty="0"/>
              <a:t>interval</a:t>
            </a:r>
            <a:r>
              <a:rPr lang="zh-TW" altLang="en-US" dirty="0"/>
              <a:t>不夠小。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F358-BF30-42EC-A6B2-4EB430228DD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56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43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08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20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35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85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6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25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62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28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35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58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714A7-3569-44DC-8C65-F7F05C7AA1B9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B7E27-7B42-4119-A68E-D798ECC4B0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42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STR-IC-LCS computation via RLE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Keita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Kuboi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Yuta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Fujishige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Hideo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Masayuki Takeda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1703.04954 (15 March 2017 )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Sung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Feb, 2, 2021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1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constrained LCS problem asks one to find a longest common subsequence of two input strings A and B with some constraints. The STR-IC-LCS problem is a variant of the constrained LCS problem, where the solution must include a given constraint string C as a substring. Given two strings A and B of respective lengths m and n, and a constraint string C of length at most min{m, n}, the best known algorithm for the STR-IC-LCS problem, proposed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(Inf. Process. Lett., 11:423–426, 2012), runs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In this work, we present an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Nm)-time solution to the STR-IC-LCS problem, where M and N denote the sizes of the run-length encodings of A and B, respectively. Since M ≤ m and N ≤ n always hold, our algorithm is always as fast as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Deorowicz’s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algorithm, and is faster when input strings are compressible via RLE.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40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abbaabbbbab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bbaaabbbaab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Candara" panose="020E0502030303020204" pitchFamily="34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>
                <a:latin typeface="Candara" panose="020E0502030303020204" pitchFamily="34" charset="0"/>
              </a:rPr>
              <a:t>bbaabbbab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STR-IC-LCS(X,Y,P)</a:t>
            </a:r>
            <a:r>
              <a:rPr lang="en-US" altLang="zh-TW" dirty="0">
                <a:latin typeface="Candara" panose="020E0502030303020204" pitchFamily="34" charset="0"/>
              </a:rPr>
              <a:t> =  </a:t>
            </a:r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bab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endParaRPr lang="zh-TW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8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Candara" panose="020E0502030303020204" pitchFamily="34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abbaabbbbab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bbbab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abbaabbb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bbaaabbbaab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bbaab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bbaaabb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049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Step1. 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向右移動，找到一個最左的點使得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之間包含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95998"/>
              </p:ext>
            </p:extLst>
          </p:nvPr>
        </p:nvGraphicFramePr>
        <p:xfrm>
          <a:off x="1900196" y="1897676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1549656" y="2268516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1368423" y="27792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278849"/>
              </p:ext>
            </p:extLst>
          </p:nvPr>
        </p:nvGraphicFramePr>
        <p:xfrm>
          <a:off x="1900196" y="4205049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V="1">
            <a:off x="1837038" y="4575889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655805" y="508665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1845747" y="2268516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673223" y="27744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5455450" y="460373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5239383" y="508665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6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Step2.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向右移動，找到一個最右的點且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之間需包含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246108"/>
              </p:ext>
            </p:extLst>
          </p:nvPr>
        </p:nvGraphicFramePr>
        <p:xfrm>
          <a:off x="1900196" y="1897676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1837038" y="2268516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1655805" y="27792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71635"/>
              </p:ext>
            </p:extLst>
          </p:nvPr>
        </p:nvGraphicFramePr>
        <p:xfrm>
          <a:off x="1900196" y="4205049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V="1">
            <a:off x="3089189" y="4575889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907956" y="508665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5449330" y="4575889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268097" y="508665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5449330" y="228066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5268097" y="279143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1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Step1. 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向右移動，找到一個最左的點使得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之間包含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576307"/>
              </p:ext>
            </p:extLst>
          </p:nvPr>
        </p:nvGraphicFramePr>
        <p:xfrm>
          <a:off x="1900196" y="1897676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3630531" y="228066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78863"/>
              </p:ext>
            </p:extLst>
          </p:nvPr>
        </p:nvGraphicFramePr>
        <p:xfrm>
          <a:off x="1900196" y="4205049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V="1">
            <a:off x="3674076" y="4575889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3457536" y="279143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8410836" y="4593711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8241957" y="50963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01081" y="50963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3869314" y="228066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700435" y="27933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6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Step2. 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向右邊移動，找到一個最右的點且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之間需包含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246093"/>
              </p:ext>
            </p:extLst>
          </p:nvPr>
        </p:nvGraphicFramePr>
        <p:xfrm>
          <a:off x="1900196" y="1897676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4860325" y="2268516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720281" y="280823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933491"/>
              </p:ext>
            </p:extLst>
          </p:nvPr>
        </p:nvGraphicFramePr>
        <p:xfrm>
          <a:off x="1900196" y="4205049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 flipV="1">
            <a:off x="6647934" y="460373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6483178" y="510153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8427310" y="4603734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8266670" y="510153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8427310" y="2268516"/>
            <a:ext cx="0" cy="48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8266670" y="280823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3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latin typeface="Candara" panose="020E0502030303020204" pitchFamily="34" charset="0"/>
              </a:rPr>
              <a:t>ab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bbbab</a:t>
            </a:r>
            <a:r>
              <a:rPr lang="en-US" altLang="zh-TW" dirty="0">
                <a:latin typeface="Candara" panose="020E0502030303020204" pitchFamily="34" charset="0"/>
              </a:rPr>
              <a:t> &amp; b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Candara" panose="020E0502030303020204" pitchFamily="34" charset="0"/>
                <a:cs typeface="Times New Roman" panose="02020603050405020304" pitchFamily="18" charset="0"/>
              </a:rPr>
              <a:t>ab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latin typeface="Candara" panose="020E0502030303020204" pitchFamily="34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+ 3 + LCS(</a:t>
            </a:r>
            <a:r>
              <a:rPr lang="en-US" altLang="zh-TW" dirty="0" err="1">
                <a:latin typeface="Candara" panose="020E0502030303020204" pitchFamily="34" charset="0"/>
                <a:cs typeface="Times New Roman" panose="02020603050405020304" pitchFamily="18" charset="0"/>
              </a:rPr>
              <a:t>bbbab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latin typeface="Candara" panose="020E0502030303020204" pitchFamily="34" charset="0"/>
                <a:cs typeface="Times New Roman" panose="02020603050405020304" pitchFamily="18" charset="0"/>
              </a:rPr>
              <a:t>bbaab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Candara" panose="020E0502030303020204" pitchFamily="34" charset="0"/>
              </a:rPr>
              <a:t>ab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bbbab</a:t>
            </a:r>
            <a:r>
              <a:rPr lang="en-US" altLang="zh-TW" dirty="0">
                <a:latin typeface="Candara" panose="020E0502030303020204" pitchFamily="34" charset="0"/>
              </a:rPr>
              <a:t> &amp; </a:t>
            </a:r>
            <a:r>
              <a:rPr lang="en-US" altLang="zh-TW" dirty="0" err="1">
                <a:latin typeface="Candara" panose="020E0502030303020204" pitchFamily="34" charset="0"/>
              </a:rPr>
              <a:t>bbaaabb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>
                <a:latin typeface="Candara" panose="020E0502030303020204" pitchFamily="34" charset="0"/>
              </a:rPr>
              <a:t>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 + LCS(</a:t>
            </a:r>
            <a:r>
              <a:rPr lang="en-US" altLang="zh-TW" dirty="0" err="1">
                <a:latin typeface="Candara" panose="020E0502030303020204" pitchFamily="34" charset="0"/>
              </a:rPr>
              <a:t>bbbab</a:t>
            </a:r>
            <a:r>
              <a:rPr lang="en-US" altLang="zh-TW" dirty="0">
                <a:latin typeface="Candara" panose="020E0502030303020204" pitchFamily="34" charset="0"/>
              </a:rPr>
              <a:t>,</a:t>
            </a:r>
            <a:r>
              <a:rPr lang="el-GR" altLang="zh-TW" dirty="0"/>
              <a:t> 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Candara" panose="020E0502030303020204" pitchFamily="34" charset="0"/>
              </a:rPr>
              <a:t>abbaabbb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Candara" panose="020E0502030303020204" pitchFamily="34" charset="0"/>
              </a:rPr>
              <a:t> &amp; b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Candara" panose="020E0502030303020204" pitchFamily="34" charset="0"/>
              </a:rPr>
              <a:t>abbaabbb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 + LCS(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Candara" panose="020E0502030303020204" pitchFamily="34" charset="0"/>
              </a:rPr>
              <a:t>, </a:t>
            </a:r>
            <a:r>
              <a:rPr lang="en-US" altLang="zh-TW" dirty="0" err="1">
                <a:latin typeface="Candara" panose="020E0502030303020204" pitchFamily="34" charset="0"/>
              </a:rPr>
              <a:t>bbaab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Candara" panose="020E0502030303020204" pitchFamily="34" charset="0"/>
              </a:rPr>
              <a:t>abbaabbb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Candara" panose="020E0502030303020204" pitchFamily="34" charset="0"/>
              </a:rPr>
              <a:t> &amp; </a:t>
            </a:r>
            <a:r>
              <a:rPr lang="en-US" altLang="zh-TW" dirty="0" err="1">
                <a:latin typeface="Candara" panose="020E0502030303020204" pitchFamily="34" charset="0"/>
              </a:rPr>
              <a:t>bbaaabb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ba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Candara" panose="020E0502030303020204" pitchFamily="34" charset="0"/>
              </a:rPr>
              <a:t> 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Candara" panose="020E0502030303020204" pitchFamily="34" charset="0"/>
              </a:rPr>
              <a:t>abbaabbb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 + LCS(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Candara" panose="020E0502030303020204" pitchFamily="34" charset="0"/>
              </a:rPr>
              <a:t>,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70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192309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728642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240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O(m*n)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最多只有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O(m)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最多只有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O(n)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Table create : O(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0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 via RLE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Candara" panose="020E0502030303020204" pitchFamily="34" charset="0"/>
              </a:rPr>
              <a:t>abbaabbbbab</a:t>
            </a:r>
            <a:r>
              <a:rPr lang="en-US" altLang="zh-TW" dirty="0">
                <a:latin typeface="Candara" panose="020E0502030303020204" pitchFamily="34" charset="0"/>
              </a:rPr>
              <a:t> = a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</a:t>
            </a:r>
            <a:r>
              <a:rPr lang="en-US" altLang="zh-TW" dirty="0"/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bbaaabbbaab</a:t>
            </a:r>
            <a:r>
              <a:rPr lang="en-US" altLang="zh-TW" dirty="0">
                <a:latin typeface="Candara" panose="020E0502030303020204" pitchFamily="34" charset="0"/>
              </a:rPr>
              <a:t>  = b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r>
              <a:rPr lang="en-US" altLang="zh-TW" dirty="0">
                <a:latin typeface="Candara" panose="020E0502030303020204" pitchFamily="34" charset="0"/>
              </a:rPr>
              <a:t> = b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</a:p>
          <a:p>
            <a:pPr marL="457200" lvl="1" indent="0">
              <a:buNone/>
            </a:pPr>
            <a:endParaRPr lang="en-US" altLang="zh-TW" baseline="30000" dirty="0"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en-US" altLang="zh-TW" baseline="30000" dirty="0">
              <a:latin typeface="Candara" panose="020E0502030303020204" pitchFamily="34" charset="0"/>
            </a:endParaRPr>
          </a:p>
          <a:p>
            <a:endParaRPr lang="en-US" altLang="zh-TW" dirty="0">
              <a:latin typeface="Candara" panose="020E0502030303020204" pitchFamily="34" charset="0"/>
            </a:endParaRPr>
          </a:p>
          <a:p>
            <a:endParaRPr lang="en-US" altLang="zh-TW" dirty="0">
              <a:latin typeface="Candara" panose="020E0502030303020204" pitchFamily="34" charset="0"/>
            </a:endParaRPr>
          </a:p>
          <a:p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62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&gt; 1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最多只有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O(M)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 of X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 of Y</a:t>
            </a:r>
          </a:p>
          <a:p>
            <a:endParaRPr lang="en-US" altLang="zh-TW" dirty="0"/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10441"/>
              </p:ext>
            </p:extLst>
          </p:nvPr>
        </p:nvGraphicFramePr>
        <p:xfrm>
          <a:off x="1504781" y="2863594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11613"/>
              </p:ext>
            </p:extLst>
          </p:nvPr>
        </p:nvGraphicFramePr>
        <p:xfrm>
          <a:off x="1504781" y="3493788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91355"/>
              </p:ext>
            </p:extLst>
          </p:nvPr>
        </p:nvGraphicFramePr>
        <p:xfrm>
          <a:off x="1504781" y="4902545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45263"/>
              </p:ext>
            </p:extLst>
          </p:nvPr>
        </p:nvGraphicFramePr>
        <p:xfrm>
          <a:off x="1504781" y="5539754"/>
          <a:ext cx="65271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3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6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 LCS Table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484105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8746599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LCS(a,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 +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bbbab,bbaab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565573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262588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098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LCS(a,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 +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5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499580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4582391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38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 + LCS(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19292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3492133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772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abbaabb,bbaaab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 + LCS(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939183"/>
              </p:ext>
            </p:extLst>
          </p:nvPr>
        </p:nvGraphicFramePr>
        <p:xfrm>
          <a:off x="50044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564390"/>
              </p:ext>
            </p:extLst>
          </p:nvPr>
        </p:nvGraphicFramePr>
        <p:xfrm>
          <a:off x="6518183" y="1438447"/>
          <a:ext cx="47445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49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21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05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Candara" panose="020E0502030303020204" pitchFamily="34" charset="0"/>
              </a:rPr>
              <a:t>abbaabbbbab</a:t>
            </a:r>
            <a:r>
              <a:rPr lang="en-US" altLang="zh-TW" dirty="0">
                <a:latin typeface="Candara" panose="020E0502030303020204" pitchFamily="34" charset="0"/>
              </a:rPr>
              <a:t> = a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</a:t>
            </a:r>
            <a:r>
              <a:rPr lang="en-US" altLang="zh-TW" dirty="0"/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bbaaabbbaab</a:t>
            </a:r>
            <a:r>
              <a:rPr lang="en-US" altLang="zh-TW" dirty="0">
                <a:latin typeface="Candara" panose="020E0502030303020204" pitchFamily="34" charset="0"/>
              </a:rPr>
              <a:t>  = b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3</a:t>
            </a:r>
            <a:r>
              <a:rPr lang="en-US" altLang="zh-TW" dirty="0">
                <a:latin typeface="Candara" panose="020E0502030303020204" pitchFamily="34" charset="0"/>
              </a:rPr>
              <a:t>a</a:t>
            </a:r>
            <a:r>
              <a:rPr lang="en-US" altLang="zh-TW" baseline="30000" dirty="0">
                <a:latin typeface="Candara" panose="020E0502030303020204" pitchFamily="34" charset="0"/>
              </a:rPr>
              <a:t>2</a:t>
            </a:r>
            <a:r>
              <a:rPr lang="en-US" altLang="zh-TW" dirty="0">
                <a:latin typeface="Candara" panose="020E0502030303020204" pitchFamily="34" charset="0"/>
              </a:rPr>
              <a:t>b</a:t>
            </a:r>
            <a:r>
              <a:rPr lang="en-US" altLang="zh-TW" baseline="30000" dirty="0">
                <a:latin typeface="Candara" panose="020E0502030303020204" pitchFamily="34" charset="0"/>
              </a:rPr>
              <a:t>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=</a:t>
            </a:r>
            <a:r>
              <a:rPr lang="en-US" altLang="zh-TW" dirty="0">
                <a:latin typeface="Candara" panose="020E0502030303020204" pitchFamily="34" charset="0"/>
              </a:rPr>
              <a:t> </a:t>
            </a:r>
            <a:r>
              <a:rPr lang="en-US" altLang="zh-TW" dirty="0" err="1">
                <a:latin typeface="Candara" panose="020E0502030303020204" pitchFamily="34" charset="0"/>
              </a:rPr>
              <a:t>bbbb</a:t>
            </a:r>
            <a:r>
              <a:rPr lang="en-US" altLang="zh-TW" dirty="0">
                <a:latin typeface="Candara" panose="020E0502030303020204" pitchFamily="34" charset="0"/>
              </a:rPr>
              <a:t> = b</a:t>
            </a:r>
            <a:r>
              <a:rPr lang="en-US" altLang="zh-TW" baseline="30000" dirty="0">
                <a:latin typeface="Candara" panose="020E0502030303020204" pitchFamily="34" charset="0"/>
              </a:rPr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9150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bbbb</a:t>
            </a:r>
            <a:r>
              <a:rPr lang="en-US" altLang="zh-TW" dirty="0" err="1">
                <a:latin typeface="Candara" panose="020E0502030303020204" pitchFamily="34" charset="0"/>
              </a:rPr>
              <a:t>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/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bbaaa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marL="457200" lvl="1" indent="0">
              <a:buNone/>
            </a:pP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04109" y="1827420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={[2,7],[3,8]}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={[7,11]}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004109" y="3943373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={[1,7],[2,8]} 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4764505" y="2196752"/>
            <a:ext cx="28876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4764505" y="2196752"/>
            <a:ext cx="577516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764505" y="2196752"/>
            <a:ext cx="1761423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4793381" y="2196752"/>
            <a:ext cx="548640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342021" y="2196752"/>
            <a:ext cx="0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342021" y="2196752"/>
            <a:ext cx="1183907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H="1">
            <a:off x="5342021" y="2196752"/>
            <a:ext cx="1183907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525928" y="2196752"/>
            <a:ext cx="0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4793381" y="2196752"/>
            <a:ext cx="2800952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>
            <a:off x="4793381" y="2196752"/>
            <a:ext cx="1732547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H="1">
            <a:off x="5342021" y="2196752"/>
            <a:ext cx="2252312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6525928" y="2196752"/>
            <a:ext cx="1068405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04109" y="47778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[2,7][1,7]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LCS(a,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“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+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bbab,baab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8196794" y="3067977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49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/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aab</a:t>
            </a:r>
            <a:endParaRPr lang="en-US" altLang="zh-TW" dirty="0">
              <a:latin typeface="Candara" panose="020E0502030303020204" pitchFamily="34" charset="0"/>
            </a:endParaRPr>
          </a:p>
          <a:p>
            <a:pPr marL="457200" lvl="1" indent="0">
              <a:buNone/>
            </a:pP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04109" y="2271561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={[2,7],[3,8]}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004109" y="4001294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={[1,7],[2,8]}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4754880" y="2640893"/>
            <a:ext cx="38501" cy="1440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4764505" y="2640893"/>
            <a:ext cx="577516" cy="1440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H="1">
            <a:off x="4801001" y="2640893"/>
            <a:ext cx="444767" cy="1440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477802" y="2271561"/>
            <a:ext cx="4764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[2,7][1,7]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LCS(a,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“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+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bbab,baab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LCS(ab,</a:t>
            </a:r>
            <a:r>
              <a:rPr lang="el-GR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Candara" panose="020E0502030303020204" pitchFamily="34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‘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+ 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bab,aab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Calculate[3,8][2,8]</a:t>
            </a:r>
          </a:p>
        </p:txBody>
      </p:sp>
    </p:spTree>
    <p:extLst>
      <p:ext uri="{BB962C8B-B14F-4D97-AF65-F5344CB8AC3E}">
        <p14:creationId xmlns:p14="http://schemas.microsoft.com/office/powerpoint/2010/main" val="1911342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bbbb</a:t>
            </a:r>
            <a:r>
              <a:rPr lang="en-US" altLang="zh-TW" dirty="0" err="1">
                <a:latin typeface="Candara" panose="020E0502030303020204" pitchFamily="34" charset="0"/>
              </a:rPr>
              <a:t>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/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bbaaa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marL="457200" lvl="1" indent="0">
              <a:buNone/>
            </a:pP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04109" y="2271561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={[2,7],[3,8]}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={[7,11]}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004109" y="4387514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={[1,7],[2,8]} 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4764505" y="2632184"/>
            <a:ext cx="28876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764505" y="2640893"/>
            <a:ext cx="1761423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4793381" y="2640893"/>
            <a:ext cx="548640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342021" y="2640893"/>
            <a:ext cx="1183907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525928" y="2640893"/>
            <a:ext cx="0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4793381" y="2640893"/>
            <a:ext cx="2800952" cy="18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>
            <a:off x="4793381" y="2640893"/>
            <a:ext cx="1732547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6525928" y="2640893"/>
            <a:ext cx="1068405" cy="18252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8099659" y="3604872"/>
            <a:ext cx="117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62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bab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bbbb</a:t>
            </a:r>
            <a:r>
              <a:rPr lang="en-US" altLang="zh-TW" dirty="0" err="1">
                <a:latin typeface="Candara" panose="020E0502030303020204" pitchFamily="34" charset="0"/>
              </a:rPr>
              <a:t>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abbaab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/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</a:t>
            </a:r>
            <a:r>
              <a:rPr lang="en-US" altLang="zh-TW" dirty="0" err="1">
                <a:latin typeface="Candara" panose="020E0502030303020204" pitchFamily="34" charset="0"/>
              </a:rPr>
              <a:t>baab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r>
              <a:rPr lang="en-US" altLang="zh-TW" dirty="0" err="1">
                <a:latin typeface="Candara" panose="020E0502030303020204" pitchFamily="34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aab</a:t>
            </a:r>
            <a:endParaRPr lang="en-US" altLang="zh-TW" dirty="0">
              <a:latin typeface="Candara" panose="020E0502030303020204" pitchFamily="34" charset="0"/>
            </a:endParaRPr>
          </a:p>
          <a:p>
            <a:pPr lvl="1"/>
            <a:r>
              <a:rPr lang="en-US" altLang="zh-TW" dirty="0" err="1">
                <a:latin typeface="Candara" panose="020E0502030303020204" pitchFamily="34" charset="0"/>
              </a:rPr>
              <a:t>bbaaa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bbb</a:t>
            </a:r>
            <a:r>
              <a:rPr lang="en-US" altLang="zh-TW" dirty="0" err="1">
                <a:latin typeface="Candara" panose="020E0502030303020204" pitchFamily="34" charset="0"/>
              </a:rPr>
              <a:t>aa</a:t>
            </a:r>
            <a:r>
              <a:rPr lang="en-US" altLang="zh-TW" dirty="0" err="1">
                <a:solidFill>
                  <a:srgbClr val="FF0000"/>
                </a:solidFill>
                <a:latin typeface="Candara" panose="020E0502030303020204" pitchFamily="34" charset="0"/>
              </a:rPr>
              <a:t>b</a:t>
            </a: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marL="457200" lvl="1" indent="0">
              <a:buNone/>
            </a:pPr>
            <a:endParaRPr lang="en-US" altLang="zh-TW" dirty="0">
              <a:solidFill>
                <a:srgbClr val="FF0000"/>
              </a:solidFill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pPr lvl="1"/>
            <a:endParaRPr lang="en-US" altLang="zh-TW" dirty="0">
              <a:latin typeface="Candara" panose="020E0502030303020204" pitchFamily="34" charset="0"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004109" y="2271561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={[2,7],[3,8]}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 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={[7,11]}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004109" y="4387514"/>
            <a:ext cx="6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={[1,7],[2,8]} G’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={[6,10]}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99659" y="3604872"/>
            <a:ext cx="1174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>
          <a:xfrm flipH="1" flipV="1">
            <a:off x="4764505" y="2640893"/>
            <a:ext cx="96253" cy="18348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4774131" y="2640893"/>
            <a:ext cx="587141" cy="184448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 flipV="1">
            <a:off x="4764505" y="2640893"/>
            <a:ext cx="1751798" cy="18348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4860758" y="2640893"/>
            <a:ext cx="1501541" cy="184448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endCxn id="4" idx="2"/>
          </p:cNvCxnSpPr>
          <p:nvPr/>
        </p:nvCxnSpPr>
        <p:spPr>
          <a:xfrm flipV="1">
            <a:off x="4860758" y="2640893"/>
            <a:ext cx="2618071" cy="18348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5361272" y="2640893"/>
            <a:ext cx="1001027" cy="18348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4" idx="2"/>
          </p:cNvCxnSpPr>
          <p:nvPr/>
        </p:nvCxnSpPr>
        <p:spPr>
          <a:xfrm flipV="1">
            <a:off x="5361272" y="2640893"/>
            <a:ext cx="2117557" cy="183485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685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= 1 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mN+Mn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|RLE(P)| &gt; 1 : O(MN)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create 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mN+Mn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7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2748</Words>
  <Application>Microsoft Office PowerPoint</Application>
  <PresentationFormat>寬螢幕</PresentationFormat>
  <Paragraphs>1996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Candara</vt:lpstr>
      <vt:lpstr>Times New Roman</vt:lpstr>
      <vt:lpstr>Office 佈景主題</vt:lpstr>
      <vt:lpstr>Faster STR-IC-LCS computation via RLE</vt:lpstr>
      <vt:lpstr>Abstract</vt:lpstr>
      <vt:lpstr>STR-IC-LCS</vt:lpstr>
      <vt:lpstr>STR-IC-LCS</vt:lpstr>
      <vt:lpstr>Interval </vt:lpstr>
      <vt:lpstr>Interval </vt:lpstr>
      <vt:lpstr>Interval </vt:lpstr>
      <vt:lpstr>Interval </vt:lpstr>
      <vt:lpstr>STR-IC-LCS</vt:lpstr>
      <vt:lpstr>STR-IC-LCS</vt:lpstr>
      <vt:lpstr>Time Complexity</vt:lpstr>
      <vt:lpstr>STR-IC via RLE</vt:lpstr>
      <vt:lpstr>|RLE(P)| &gt; 1  </vt:lpstr>
      <vt:lpstr>RLE LCS Table</vt:lpstr>
      <vt:lpstr>LCS(a, Φ) + 4 + LCS(bbbab,bbaab) = 8</vt:lpstr>
      <vt:lpstr>LCS(a, bbaaab) + 4 + LCS(bbbab, Φ) = 5</vt:lpstr>
      <vt:lpstr>LCS(abbaabb, Φ) + 4 + LCS(Φ, bbaab) = 4 </vt:lpstr>
      <vt:lpstr>LCS(abbaabb,bbaaab) + 4 + LCS(Φ, Φ) = 9 </vt:lpstr>
      <vt:lpstr>|RLE(P)| = 1 </vt:lpstr>
      <vt:lpstr>|RLE(P)| = 1 </vt:lpstr>
      <vt:lpstr>|RLE(P)| = 1 </vt:lpstr>
      <vt:lpstr>|RLE(P)| = 1 </vt:lpstr>
      <vt:lpstr>|RLE(P)| = 1 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M083040074</cp:lastModifiedBy>
  <cp:revision>48</cp:revision>
  <dcterms:created xsi:type="dcterms:W3CDTF">2021-01-31T07:37:49Z</dcterms:created>
  <dcterms:modified xsi:type="dcterms:W3CDTF">2021-02-02T07:18:30Z</dcterms:modified>
</cp:coreProperties>
</file>