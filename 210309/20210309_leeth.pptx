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65" r:id="rId2"/>
    <p:sldId id="311" r:id="rId3"/>
    <p:sldId id="384" r:id="rId4"/>
    <p:sldId id="403" r:id="rId5"/>
    <p:sldId id="406" r:id="rId6"/>
    <p:sldId id="404" r:id="rId7"/>
    <p:sldId id="407" r:id="rId8"/>
    <p:sldId id="405" r:id="rId9"/>
    <p:sldId id="408" r:id="rId10"/>
    <p:sldId id="409" r:id="rId11"/>
    <p:sldId id="41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0328" autoAdjust="0"/>
  </p:normalViewPr>
  <p:slideViewPr>
    <p:cSldViewPr snapToGrid="0">
      <p:cViewPr varScale="1">
        <p:scale>
          <a:sx n="92" d="100"/>
          <a:sy n="92" d="100"/>
        </p:scale>
        <p:origin x="2184"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2021/3/9</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62777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ea typeface="Tahoma" panose="020B0604030504040204" pitchFamily="34" charset="0"/>
                <a:cs typeface="Times New Roman" panose="02020603050405020304" pitchFamily="18" charset="0"/>
              </a:rPr>
              <a:t>a protein domain family database</a:t>
            </a:r>
          </a:p>
          <a:p>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997744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468045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en-US" altLang="zh-TW" dirty="0"/>
              <a:t>Each family contains at least 1000 sequences and has at least one representative of an experimentally determined structure.</a:t>
            </a:r>
            <a:endParaRPr lang="en-US" altLang="zh-TW" b="1" dirty="0"/>
          </a:p>
          <a:p>
            <a:pPr algn="just"/>
            <a:endParaRPr lang="en-US" altLang="zh-TW" b="1" i="0" dirty="0">
              <a:solidFill>
                <a:srgbClr val="616161"/>
              </a:solidFill>
              <a:effectLst/>
              <a:latin typeface="Roboto"/>
            </a:endParaRPr>
          </a:p>
          <a:p>
            <a:pPr algn="just"/>
            <a:r>
              <a:rPr lang="zh-TW" altLang="en-US" b="0" i="0" dirty="0">
                <a:solidFill>
                  <a:srgbClr val="616161"/>
                </a:solidFill>
                <a:effectLst/>
                <a:latin typeface="Roboto"/>
              </a:rPr>
              <a:t>共演化，指的是胺基酸之間因為在三維空間的交互作用，雙方產生相對應改變的演化過程。</a:t>
            </a:r>
          </a:p>
          <a:p>
            <a:endParaRPr lang="en-US" altLang="zh-TW" dirty="0"/>
          </a:p>
          <a:p>
            <a:r>
              <a:rPr lang="en-US" altLang="zh-TW" dirty="0"/>
              <a:t>“</a:t>
            </a:r>
            <a:r>
              <a:rPr lang="en-US" altLang="zh-TW" dirty="0" err="1"/>
              <a:t>ungapped</a:t>
            </a:r>
            <a:r>
              <a:rPr lang="en-US" altLang="zh-TW" dirty="0"/>
              <a:t>” position is defined as a position containing fewer than 10% of gaps.</a:t>
            </a:r>
            <a:br>
              <a:rPr lang="zh-TW" altLang="en-US" dirty="0"/>
            </a:b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097902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en-US" altLang="zh-TW" dirty="0"/>
              <a:t>Each family contains at least 1000 sequences and has at least one representative of an experimentally determined structure.</a:t>
            </a:r>
            <a:endParaRPr lang="en-US" altLang="zh-TW" b="1" dirty="0"/>
          </a:p>
          <a:p>
            <a:pPr algn="just"/>
            <a:endParaRPr lang="en-US" altLang="zh-TW" b="1" i="0" dirty="0">
              <a:solidFill>
                <a:srgbClr val="616161"/>
              </a:solidFill>
              <a:effectLst/>
              <a:latin typeface="Roboto"/>
            </a:endParaRPr>
          </a:p>
          <a:p>
            <a:pPr algn="just"/>
            <a:r>
              <a:rPr lang="zh-TW" altLang="en-US" b="0" i="0" dirty="0">
                <a:solidFill>
                  <a:srgbClr val="616161"/>
                </a:solidFill>
                <a:effectLst/>
                <a:latin typeface="Roboto"/>
              </a:rPr>
              <a:t>共演化，指的是胺基酸之間因為在三維空間的交互作用，雙方產生相對應改變的演化過程。</a:t>
            </a:r>
          </a:p>
          <a:p>
            <a:endParaRPr lang="en-US" altLang="zh-TW" dirty="0"/>
          </a:p>
          <a:p>
            <a:r>
              <a:rPr lang="en-US" altLang="zh-TW" dirty="0"/>
              <a:t>“</a:t>
            </a:r>
            <a:r>
              <a:rPr lang="en-US" altLang="zh-TW" dirty="0" err="1"/>
              <a:t>ungapped</a:t>
            </a:r>
            <a:r>
              <a:rPr lang="en-US" altLang="zh-TW" dirty="0"/>
              <a:t>” position is defined as a position containing fewer than 10% of gaps.</a:t>
            </a:r>
            <a:br>
              <a:rPr lang="zh-TW" altLang="en-US" dirty="0"/>
            </a:br>
            <a:endParaRPr lang="en-US" altLang="zh-TW" dirty="0"/>
          </a:p>
          <a:p>
            <a:r>
              <a:rPr lang="en-US" altLang="zh-TW" dirty="0"/>
              <a:t>2.4</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203488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compared with BLOSUM62, there are 63 out of the 210 elements changed</a:t>
            </a:r>
          </a:p>
          <a:p>
            <a:endParaRPr lang="en-US" altLang="zh-TW" dirty="0"/>
          </a:p>
          <a:p>
            <a:r>
              <a:rPr lang="en-US" altLang="zh-TW" dirty="0"/>
              <a:t>.A total of 139 of the 210 scores are changed (59 increases, 80 decreases) from VTML200</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146765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extract in total 2002 nonredundant pairs of sequences from the CATHS20 dataset</a:t>
            </a:r>
          </a:p>
          <a:p>
            <a:endParaRPr lang="en-US" altLang="zh-TW" dirty="0"/>
          </a:p>
          <a:p>
            <a:pPr marL="228600" indent="-228600">
              <a:buAutoNum type="alphaLcParenBoth"/>
            </a:pPr>
            <a:r>
              <a:rPr lang="en-US" altLang="zh-TW" dirty="0"/>
              <a:t>there are at least two pairs of sequences selected from each homolog family; and</a:t>
            </a:r>
          </a:p>
          <a:p>
            <a:pPr marL="0" indent="0">
              <a:buNone/>
            </a:pPr>
            <a:r>
              <a:rPr lang="en-US" altLang="zh-TW" dirty="0"/>
              <a:t>(b) the selected sequences do not contain any </a:t>
            </a:r>
            <a:r>
              <a:rPr lang="en-US" altLang="zh-TW" dirty="0" err="1"/>
              <a:t>Pfam</a:t>
            </a:r>
            <a:r>
              <a:rPr lang="en-US" altLang="zh-TW" dirty="0"/>
              <a:t> domains used in deriving the new matrix.</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909811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 summary of sequence alignments for all 2002 cases under a default gap penalties (gap opening: 10, gap extension: 0.5)</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42587595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twilight zone &lt;20%</a:t>
            </a:r>
            <a:r>
              <a:rPr lang="zh-TW" altLang="en-US" dirty="0"/>
              <a:t> </a:t>
            </a:r>
            <a:r>
              <a:rPr lang="en-US" altLang="zh-TW" dirty="0"/>
              <a:t>sequence identity</a:t>
            </a:r>
          </a:p>
          <a:p>
            <a:endParaRPr lang="en-US" altLang="zh-TW" dirty="0"/>
          </a:p>
          <a:p>
            <a:r>
              <a:rPr lang="en-US" altLang="zh-TW" dirty="0"/>
              <a:t>with no greater than 20% identity</a:t>
            </a:r>
          </a:p>
          <a:p>
            <a:endParaRPr lang="en-US" altLang="zh-TW" dirty="0"/>
          </a:p>
          <a:p>
            <a:r>
              <a:rPr lang="en-US" altLang="zh-TW" dirty="0"/>
              <a:t>“errors per query” (EPQ), which shows the number of non-homologous sequences above the threshold divided by the number of queries</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455834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2021/3/9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899" y="1614258"/>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New Amino Acid Substitution Matrix brings Sequence Alignments into Agreement with Structure Matches</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7" y="3070388"/>
            <a:ext cx="8536249" cy="717223"/>
          </a:xfrm>
        </p:spPr>
        <p:txBody>
          <a:bodyPr>
            <a:noAutofit/>
          </a:bodyPr>
          <a:lstStyle/>
          <a:p>
            <a:r>
              <a:rPr lang="en-US" altLang="zh-TW" sz="2800" dirty="0" err="1">
                <a:latin typeface="Times New Roman" panose="02020603050405020304" pitchFamily="18" charset="0"/>
                <a:cs typeface="Times New Roman" panose="02020603050405020304" pitchFamily="18" charset="0"/>
              </a:rPr>
              <a:t>Kejue</a:t>
            </a:r>
            <a:r>
              <a:rPr lang="en-US" altLang="zh-TW" sz="2800" dirty="0">
                <a:latin typeface="Times New Roman" panose="02020603050405020304" pitchFamily="18" charset="0"/>
                <a:cs typeface="Times New Roman" panose="02020603050405020304" pitchFamily="18" charset="0"/>
              </a:rPr>
              <a:t> Jia, Robert L. Jernigan and Roy J. Carver</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Tzu-Hsu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Mar. 09, 2021.</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48" y="4066229"/>
            <a:ext cx="7622889" cy="461665"/>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Proteins: Structure, Function, and Bioinformatics, 2021</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Protein sequence matching presently fails to identify many structures that are highly similar, even when they are known to have the same function. The high packing densities in globular proteins lead to interdependent substitutions, which have not previously been considered for amino acid similarities. At present, sequence matching compares sequences based only upon the similarities of single amino acids, ignoring the fact that in densely packed protein, there are additional conservative substitutions representing exchanges between two interacting amino acids, such as a small-large pair changing to a large-small pair substitutions that are not individually so conservative.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Here we show that including information for such pairs of substitutions yields improved sequence matches, and that these yield significant gains in the agreements between sequence alignments and structure matches of the same protein pair. The result shows sequence segments matched where structure segments are aligned. There are gains for all 2002 collected cases where the sequence alignments that were not previously congruent with the structure matches. Our results also demonstrate a significant gain in detecting homology for “twilight zone” protein sequences. The amino acid substitution metrics derived have many other potential applications, for annotations, protein design, mutagenesis design, and empirical potential derivation.</a:t>
            </a:r>
          </a:p>
        </p:txBody>
      </p:sp>
    </p:spTree>
    <p:extLst>
      <p:ext uri="{BB962C8B-B14F-4D97-AF65-F5344CB8AC3E}">
        <p14:creationId xmlns:p14="http://schemas.microsoft.com/office/powerpoint/2010/main" val="3465235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Datasets(1/2)</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1357132"/>
            <a:ext cx="8168703" cy="3416320"/>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Training set :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Pfam</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Test set :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1.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CATH database : contains 4184 homolog families with a total of 8901 protein       	   sequences in CATHS20.</a:t>
            </a: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2.    SCOP database : contains 1454 homolog families and a total of 4066</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sequences in ASTRAL20.</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754156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Datasets(2/2)</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4B7A0250-0E4B-4A56-AEDD-CE09DADDCE01}"/>
              </a:ext>
            </a:extLst>
          </p:cNvPr>
          <p:cNvPicPr>
            <a:picLocks noChangeAspect="1"/>
          </p:cNvPicPr>
          <p:nvPr/>
        </p:nvPicPr>
        <p:blipFill>
          <a:blip r:embed="rId3"/>
          <a:stretch>
            <a:fillRect/>
          </a:stretch>
        </p:blipFill>
        <p:spPr>
          <a:xfrm>
            <a:off x="0" y="1592730"/>
            <a:ext cx="9144000" cy="4215149"/>
          </a:xfrm>
          <a:prstGeom prst="rect">
            <a:avLst/>
          </a:prstGeom>
        </p:spPr>
      </p:pic>
    </p:spTree>
    <p:extLst>
      <p:ext uri="{BB962C8B-B14F-4D97-AF65-F5344CB8AC3E}">
        <p14:creationId xmlns:p14="http://schemas.microsoft.com/office/powerpoint/2010/main" val="7452927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254312" y="401193"/>
            <a:ext cx="8696251"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Extract Coevolution Correlations from</a:t>
            </a:r>
            <a:r>
              <a:rPr lang="zh-TW" altLang="en-US" sz="3200" b="1" dirty="0">
                <a:latin typeface="Times New Roman" panose="02020603050405020304" pitchFamily="18" charset="0"/>
                <a:cs typeface="Times New Roman" panose="02020603050405020304" pitchFamily="18" charset="0"/>
              </a:rPr>
              <a:t> </a:t>
            </a:r>
            <a:r>
              <a:rPr lang="en-US" altLang="zh-TW" sz="3200" b="1" dirty="0">
                <a:latin typeface="Times New Roman" panose="02020603050405020304" pitchFamily="18" charset="0"/>
                <a:cs typeface="Times New Roman" panose="02020603050405020304" pitchFamily="18" charset="0"/>
              </a:rPr>
              <a:t>Multiple Sequence Alignments</a:t>
            </a:r>
            <a:endParaRPr lang="zh-TW" altLang="en-US"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文字方塊 5">
                <a:extLst>
                  <a:ext uri="{FF2B5EF4-FFF2-40B4-BE49-F238E27FC236}">
                    <a16:creationId xmlns:a16="http://schemas.microsoft.com/office/drawing/2014/main" id="{1B8471E5-F010-4148-BA5F-6F76FBF442FC}"/>
                  </a:ext>
                </a:extLst>
              </p:cNvPr>
              <p:cNvSpPr txBox="1"/>
              <p:nvPr/>
            </p:nvSpPr>
            <p:spPr>
              <a:xfrm>
                <a:off x="304552" y="1707098"/>
                <a:ext cx="8168703" cy="4247317"/>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U</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sing 2320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Pfam</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MSAs, in</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each MSA, only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ungapped</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positions are considered in the calculation.</a:t>
                </a: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M</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utual information (between two positions) :</a:t>
                </a: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where q = 21, is the number of amino acid types. f(</a:t>
                </a:r>
                <a14:m>
                  <m:oMath xmlns:m="http://schemas.openxmlformats.org/officeDocument/2006/math">
                    <m:sSub>
                      <m:sSubPr>
                        <m:ctrlPr>
                          <a:rPr lang="en-US" altLang="zh-TW" sz="1800" dirty="0" smtClean="0">
                            <a:solidFill>
                              <a:srgbClr val="836967"/>
                            </a:solidFill>
                            <a:latin typeface="Cambria Math" panose="02040503050406030204" pitchFamily="18" charset="0"/>
                          </a:rPr>
                        </m:ctrlPr>
                      </m:sSubPr>
                      <m:e>
                        <m:r>
                          <a:rPr lang="en-US" altLang="zh-TW" sz="1800" i="1" dirty="0" smtClean="0">
                            <a:latin typeface="Cambria Math" panose="02040503050406030204" pitchFamily="18" charset="0"/>
                          </a:rPr>
                          <m:t>𝐴</m:t>
                        </m:r>
                      </m:e>
                      <m:sub>
                        <m:r>
                          <a:rPr lang="en-US" altLang="zh-TW" sz="1800" i="1" dirty="0" smtClean="0">
                            <a:latin typeface="Cambria Math" panose="02040503050406030204" pitchFamily="18" charset="0"/>
                          </a:rPr>
                          <m:t>𝑖</m:t>
                        </m:r>
                      </m:sub>
                    </m:sSub>
                  </m:oMath>
                </a14:m>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is the frequency of a single</a:t>
                </a: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amino acid type A observed at position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i</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f(</a:t>
                </a:r>
                <a14:m>
                  <m:oMath xmlns:m="http://schemas.openxmlformats.org/officeDocument/2006/math">
                    <m:sSub>
                      <m:sSubPr>
                        <m:ctrlPr>
                          <a:rPr lang="en-US" altLang="zh-TW" sz="1800" i="1" dirty="0" smtClean="0">
                            <a:solidFill>
                              <a:srgbClr val="836967"/>
                            </a:solidFill>
                            <a:latin typeface="Cambria Math" panose="02040503050406030204" pitchFamily="18" charset="0"/>
                          </a:rPr>
                        </m:ctrlPr>
                      </m:sSubPr>
                      <m:e>
                        <m:r>
                          <a:rPr lang="en-US" altLang="zh-TW" sz="1800" i="1" dirty="0" smtClean="0">
                            <a:latin typeface="Cambria Math" panose="02040503050406030204" pitchFamily="18" charset="0"/>
                          </a:rPr>
                          <m:t>𝐴</m:t>
                        </m:r>
                      </m:e>
                      <m:sub>
                        <m:r>
                          <a:rPr lang="en-US" altLang="zh-TW" sz="1800" i="1" dirty="0" smtClean="0">
                            <a:latin typeface="Cambria Math" panose="02040503050406030204" pitchFamily="18" charset="0"/>
                          </a:rPr>
                          <m:t>𝑖</m:t>
                        </m:r>
                      </m:sub>
                    </m:sSub>
                  </m:oMath>
                </a14:m>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sSub>
                      <m:sSubPr>
                        <m:ctrlPr>
                          <a:rPr lang="en-US" altLang="zh-TW" i="1" dirty="0">
                            <a:solidFill>
                              <a:srgbClr val="836967"/>
                            </a:solidFill>
                            <a:latin typeface="Cambria Math" panose="02040503050406030204" pitchFamily="18" charset="0"/>
                          </a:rPr>
                        </m:ctrlPr>
                      </m:sSubPr>
                      <m:e>
                        <m:r>
                          <a:rPr lang="en-US" altLang="zh-TW" b="0" i="1" dirty="0" smtClean="0">
                            <a:solidFill>
                              <a:srgbClr val="836967"/>
                            </a:solidFill>
                            <a:latin typeface="Cambria Math" panose="02040503050406030204" pitchFamily="18" charset="0"/>
                          </a:rPr>
                          <m:t>𝐵</m:t>
                        </m:r>
                      </m:e>
                      <m:sub>
                        <m:r>
                          <a:rPr lang="en-US" altLang="zh-TW" b="0" i="1" dirty="0" smtClean="0">
                            <a:latin typeface="Cambria Math" panose="02040503050406030204" pitchFamily="18" charset="0"/>
                          </a:rPr>
                          <m:t>𝑗</m:t>
                        </m:r>
                      </m:sub>
                    </m:sSub>
                  </m:oMath>
                </a14:m>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is the joint frequency for</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observing the co-occurrence of two amino acid types A and B at positions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i</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and j.</a:t>
                </a: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p:txBody>
          </p:sp>
        </mc:Choice>
        <mc:Fallback>
          <p:sp>
            <p:nvSpPr>
              <p:cNvPr id="6" name="文字方塊 5">
                <a:extLst>
                  <a:ext uri="{FF2B5EF4-FFF2-40B4-BE49-F238E27FC236}">
                    <a16:creationId xmlns:a16="http://schemas.microsoft.com/office/drawing/2014/main" id="{1B8471E5-F010-4148-BA5F-6F76FBF442FC}"/>
                  </a:ext>
                </a:extLst>
              </p:cNvPr>
              <p:cNvSpPr txBox="1">
                <a:spLocks noRot="1" noChangeAspect="1" noMove="1" noResize="1" noEditPoints="1" noAdjustHandles="1" noChangeArrowheads="1" noChangeShapeType="1" noTextEdit="1"/>
              </p:cNvSpPr>
              <p:nvPr/>
            </p:nvSpPr>
            <p:spPr>
              <a:xfrm>
                <a:off x="304552" y="1707098"/>
                <a:ext cx="8168703" cy="4247317"/>
              </a:xfrm>
              <a:prstGeom prst="rect">
                <a:avLst/>
              </a:prstGeom>
              <a:blipFill>
                <a:blip r:embed="rId3"/>
                <a:stretch>
                  <a:fillRect l="-522" t="-717"/>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B760041D-B12A-490C-AD91-54310C7F29F6}"/>
              </a:ext>
            </a:extLst>
          </p:cNvPr>
          <p:cNvPicPr>
            <a:picLocks noChangeAspect="1"/>
          </p:cNvPicPr>
          <p:nvPr/>
        </p:nvPicPr>
        <p:blipFill>
          <a:blip r:embed="rId4"/>
          <a:stretch>
            <a:fillRect/>
          </a:stretch>
        </p:blipFill>
        <p:spPr>
          <a:xfrm>
            <a:off x="2603188" y="3197185"/>
            <a:ext cx="3571429" cy="961905"/>
          </a:xfrm>
          <a:prstGeom prst="rect">
            <a:avLst/>
          </a:prstGeom>
        </p:spPr>
      </p:pic>
    </p:spTree>
    <p:extLst>
      <p:ext uri="{BB962C8B-B14F-4D97-AF65-F5344CB8AC3E}">
        <p14:creationId xmlns:p14="http://schemas.microsoft.com/office/powerpoint/2010/main" val="3625533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55279" y="378687"/>
            <a:ext cx="9100703"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Derive a New Matrix from Contextual Substitutions</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304550" y="1676953"/>
            <a:ext cx="8168703" cy="2031325"/>
          </a:xfrm>
          <a:prstGeom prst="rect">
            <a:avLst/>
          </a:prstGeom>
          <a:noFill/>
        </p:spPr>
        <p:txBody>
          <a:bodyPr wrap="square">
            <a:spAutoFit/>
          </a:bodyPr>
          <a:lstStyle/>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where f(A, B) is the joint frequencies and f(A)f(B) are the expected single amino</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acid type frequencies. λ is a scalar factor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5" name="圖片 4">
            <a:extLst>
              <a:ext uri="{FF2B5EF4-FFF2-40B4-BE49-F238E27FC236}">
                <a16:creationId xmlns:a16="http://schemas.microsoft.com/office/drawing/2014/main" id="{B61FDEA3-2310-46B4-81E9-E95B46300AB0}"/>
              </a:ext>
            </a:extLst>
          </p:cNvPr>
          <p:cNvPicPr>
            <a:picLocks noChangeAspect="1"/>
          </p:cNvPicPr>
          <p:nvPr/>
        </p:nvPicPr>
        <p:blipFill>
          <a:blip r:embed="rId3"/>
          <a:stretch>
            <a:fillRect/>
          </a:stretch>
        </p:blipFill>
        <p:spPr>
          <a:xfrm>
            <a:off x="2807948" y="1676953"/>
            <a:ext cx="3161905" cy="1123810"/>
          </a:xfrm>
          <a:prstGeom prst="rect">
            <a:avLst/>
          </a:prstGeom>
        </p:spPr>
      </p:pic>
    </p:spTree>
    <p:extLst>
      <p:ext uri="{BB962C8B-B14F-4D97-AF65-F5344CB8AC3E}">
        <p14:creationId xmlns:p14="http://schemas.microsoft.com/office/powerpoint/2010/main" val="35182635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Result(1/4)</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1FD5893D-33CB-4F79-B32C-3F53CF80D208}"/>
              </a:ext>
            </a:extLst>
          </p:cNvPr>
          <p:cNvPicPr>
            <a:picLocks noChangeAspect="1"/>
          </p:cNvPicPr>
          <p:nvPr/>
        </p:nvPicPr>
        <p:blipFill>
          <a:blip r:embed="rId3"/>
          <a:stretch>
            <a:fillRect/>
          </a:stretch>
        </p:blipFill>
        <p:spPr>
          <a:xfrm>
            <a:off x="0" y="1198840"/>
            <a:ext cx="9144000" cy="5308209"/>
          </a:xfrm>
          <a:prstGeom prst="rect">
            <a:avLst/>
          </a:prstGeom>
        </p:spPr>
      </p:pic>
    </p:spTree>
    <p:extLst>
      <p:ext uri="{BB962C8B-B14F-4D97-AF65-F5344CB8AC3E}">
        <p14:creationId xmlns:p14="http://schemas.microsoft.com/office/powerpoint/2010/main" val="26460816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Result(2/4)</a:t>
            </a:r>
            <a:endParaRPr lang="zh-TW" altLang="en-US" sz="3200" b="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BD7B7EC7-CB9C-4E8E-B78C-287A7E6F1FFA}"/>
              </a:ext>
            </a:extLst>
          </p:cNvPr>
          <p:cNvPicPr>
            <a:picLocks noChangeAspect="1"/>
          </p:cNvPicPr>
          <p:nvPr/>
        </p:nvPicPr>
        <p:blipFill>
          <a:blip r:embed="rId3"/>
          <a:stretch>
            <a:fillRect/>
          </a:stretch>
        </p:blipFill>
        <p:spPr>
          <a:xfrm>
            <a:off x="0" y="843883"/>
            <a:ext cx="8721969" cy="5814646"/>
          </a:xfrm>
          <a:prstGeom prst="rect">
            <a:avLst/>
          </a:prstGeom>
        </p:spPr>
      </p:pic>
    </p:spTree>
    <p:extLst>
      <p:ext uri="{BB962C8B-B14F-4D97-AF65-F5344CB8AC3E}">
        <p14:creationId xmlns:p14="http://schemas.microsoft.com/office/powerpoint/2010/main" val="202304881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Result(3/4)</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25D83A47-BC59-4E63-B181-CF663AD1B219}"/>
              </a:ext>
            </a:extLst>
          </p:cNvPr>
          <p:cNvPicPr>
            <a:picLocks noChangeAspect="1"/>
          </p:cNvPicPr>
          <p:nvPr/>
        </p:nvPicPr>
        <p:blipFill>
          <a:blip r:embed="rId3"/>
          <a:stretch>
            <a:fillRect/>
          </a:stretch>
        </p:blipFill>
        <p:spPr>
          <a:xfrm>
            <a:off x="1597547" y="1186806"/>
            <a:ext cx="5285714" cy="2914286"/>
          </a:xfrm>
          <a:prstGeom prst="rect">
            <a:avLst/>
          </a:prstGeom>
        </p:spPr>
      </p:pic>
      <p:pic>
        <p:nvPicPr>
          <p:cNvPr id="7" name="圖片 6">
            <a:extLst>
              <a:ext uri="{FF2B5EF4-FFF2-40B4-BE49-F238E27FC236}">
                <a16:creationId xmlns:a16="http://schemas.microsoft.com/office/drawing/2014/main" id="{B05B6C67-53F3-4303-A4B0-EEAD4D50F4EB}"/>
              </a:ext>
            </a:extLst>
          </p:cNvPr>
          <p:cNvPicPr>
            <a:picLocks noChangeAspect="1"/>
          </p:cNvPicPr>
          <p:nvPr/>
        </p:nvPicPr>
        <p:blipFill>
          <a:blip r:embed="rId4"/>
          <a:stretch>
            <a:fillRect/>
          </a:stretch>
        </p:blipFill>
        <p:spPr>
          <a:xfrm>
            <a:off x="0" y="4353580"/>
            <a:ext cx="9144000" cy="2239512"/>
          </a:xfrm>
          <a:prstGeom prst="rect">
            <a:avLst/>
          </a:prstGeom>
        </p:spPr>
      </p:pic>
    </p:spTree>
    <p:extLst>
      <p:ext uri="{BB962C8B-B14F-4D97-AF65-F5344CB8AC3E}">
        <p14:creationId xmlns:p14="http://schemas.microsoft.com/office/powerpoint/2010/main" val="16096516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Result(4/4)</a:t>
            </a:r>
            <a:endParaRPr lang="zh-TW" altLang="en-US" sz="3200" b="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738B30E4-9559-452A-8C82-6B22B459C7DD}"/>
              </a:ext>
            </a:extLst>
          </p:cNvPr>
          <p:cNvPicPr>
            <a:picLocks noChangeAspect="1"/>
          </p:cNvPicPr>
          <p:nvPr/>
        </p:nvPicPr>
        <p:blipFill>
          <a:blip r:embed="rId3"/>
          <a:stretch>
            <a:fillRect/>
          </a:stretch>
        </p:blipFill>
        <p:spPr>
          <a:xfrm>
            <a:off x="0" y="1708041"/>
            <a:ext cx="9144000" cy="3862062"/>
          </a:xfrm>
          <a:prstGeom prst="rect">
            <a:avLst/>
          </a:prstGeom>
        </p:spPr>
      </p:pic>
    </p:spTree>
    <p:extLst>
      <p:ext uri="{BB962C8B-B14F-4D97-AF65-F5344CB8AC3E}">
        <p14:creationId xmlns:p14="http://schemas.microsoft.com/office/powerpoint/2010/main" val="313088753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93415</TotalTime>
  <Words>779</Words>
  <Application>Microsoft Office PowerPoint</Application>
  <PresentationFormat>如螢幕大小 (4:3)</PresentationFormat>
  <Paragraphs>86</Paragraphs>
  <Slides>11</Slides>
  <Notes>11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Roboto</vt:lpstr>
      <vt:lpstr>Arial</vt:lpstr>
      <vt:lpstr>Calibri</vt:lpstr>
      <vt:lpstr>Calibri Light</vt:lpstr>
      <vt:lpstr>Cambria Math</vt:lpstr>
      <vt:lpstr>Times New Roman</vt:lpstr>
      <vt:lpstr>Office 佈景主題</vt:lpstr>
      <vt:lpstr>New Amino Acid Substitution Matrix brings Sequence Alignments into Agreement with Structure Matches</vt:lpstr>
      <vt:lpstr>Abstract(1/2)</vt:lpstr>
      <vt:lpstr>Abstract(2/2)</vt:lpstr>
      <vt:lpstr>Datasets(1/2)</vt:lpstr>
      <vt:lpstr>Datasets(2/2)</vt:lpstr>
      <vt:lpstr>Extract Coevolution Correlations from Multiple Sequence Alignments</vt:lpstr>
      <vt:lpstr>Derive a New Matrix from Contextual Substitutions</vt:lpstr>
      <vt:lpstr>Result(1/4)</vt:lpstr>
      <vt:lpstr>Result(2/4)</vt:lpstr>
      <vt:lpstr>Result(3/4)</vt:lpstr>
      <vt:lpstr>Result(4/4)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BBOBBOX</cp:lastModifiedBy>
  <cp:revision>1012</cp:revision>
  <dcterms:created xsi:type="dcterms:W3CDTF">2017-09-25T08:45:50Z</dcterms:created>
  <dcterms:modified xsi:type="dcterms:W3CDTF">2021-03-09T10:16:21Z</dcterms:modified>
</cp:coreProperties>
</file>