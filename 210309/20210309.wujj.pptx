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6" r:id="rId2"/>
    <p:sldId id="257" r:id="rId3"/>
    <p:sldId id="258" r:id="rId4"/>
    <p:sldId id="269" r:id="rId5"/>
    <p:sldId id="274" r:id="rId6"/>
    <p:sldId id="278" r:id="rId7"/>
    <p:sldId id="275" r:id="rId8"/>
    <p:sldId id="277" r:id="rId9"/>
    <p:sldId id="279" r:id="rId10"/>
    <p:sldId id="286" r:id="rId11"/>
    <p:sldId id="288" r:id="rId12"/>
    <p:sldId id="287" r:id="rId13"/>
    <p:sldId id="285" r:id="rId14"/>
    <p:sldId id="290" r:id="rId15"/>
    <p:sldId id="284" r:id="rId16"/>
    <p:sldId id="291" r:id="rId17"/>
    <p:sldId id="292" r:id="rId18"/>
    <p:sldId id="300" r:id="rId19"/>
    <p:sldId id="289" r:id="rId20"/>
    <p:sldId id="268" r:id="rId21"/>
    <p:sldId id="296" r:id="rId22"/>
    <p:sldId id="295" r:id="rId23"/>
    <p:sldId id="297" r:id="rId24"/>
    <p:sldId id="298" r:id="rId25"/>
    <p:sldId id="261" r:id="rId26"/>
    <p:sldId id="299" r:id="rId27"/>
    <p:sldId id="283" r:id="rId28"/>
    <p:sldId id="270" r:id="rId2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ujj" initials="w" lastIdx="1" clrIdx="0">
    <p:extLst>
      <p:ext uri="{19B8F6BF-5375-455C-9EA6-DF929625EA0E}">
        <p15:presenceInfo xmlns:p15="http://schemas.microsoft.com/office/powerpoint/2012/main" userId="wujj"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1" autoAdjust="0"/>
    <p:restoredTop sz="80902" autoAdjust="0"/>
  </p:normalViewPr>
  <p:slideViewPr>
    <p:cSldViewPr snapToGrid="0">
      <p:cViewPr varScale="1">
        <p:scale>
          <a:sx n="92" d="100"/>
          <a:sy n="92" d="100"/>
        </p:scale>
        <p:origin x="1314" y="84"/>
      </p:cViewPr>
      <p:guideLst/>
    </p:cSldViewPr>
  </p:slideViewPr>
  <p:notesTextViewPr>
    <p:cViewPr>
      <p:scale>
        <a:sx n="1" d="1"/>
        <a:sy n="1" d="1"/>
      </p:scale>
      <p:origin x="0" y="0"/>
    </p:cViewPr>
  </p:notesTextViewPr>
  <p:notesViewPr>
    <p:cSldViewPr snapToGrid="0">
      <p:cViewPr varScale="1">
        <p:scale>
          <a:sx n="54" d="100"/>
          <a:sy n="54" d="100"/>
        </p:scale>
        <p:origin x="2886"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FEABEEEB-E92A-4563-88B4-4B5E6C0AA7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75454E00-EF39-461B-910C-96330D2E60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432DF4-2827-49EC-8F5C-66DFB3F4117F}" type="datetimeFigureOut">
              <a:rPr lang="zh-TW" altLang="en-US" smtClean="0"/>
              <a:t>2021/3/9</a:t>
            </a:fld>
            <a:endParaRPr lang="zh-TW" altLang="en-US"/>
          </a:p>
        </p:txBody>
      </p:sp>
      <p:sp>
        <p:nvSpPr>
          <p:cNvPr id="4" name="頁尾版面配置區 3">
            <a:extLst>
              <a:ext uri="{FF2B5EF4-FFF2-40B4-BE49-F238E27FC236}">
                <a16:creationId xmlns:a16="http://schemas.microsoft.com/office/drawing/2014/main" id="{688BC1D8-A7F5-4C12-9369-60E28B0BF4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C8A10C21-C815-4B24-9B73-25CB17927B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6A8B0F-89F9-4938-AC88-78059ED81FC1}" type="slidenum">
              <a:rPr lang="zh-TW" altLang="en-US" smtClean="0"/>
              <a:t>‹#›</a:t>
            </a:fld>
            <a:endParaRPr lang="zh-TW" altLang="en-US"/>
          </a:p>
        </p:txBody>
      </p:sp>
    </p:spTree>
    <p:extLst>
      <p:ext uri="{BB962C8B-B14F-4D97-AF65-F5344CB8AC3E}">
        <p14:creationId xmlns:p14="http://schemas.microsoft.com/office/powerpoint/2010/main" val="2924384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9A9FA-D871-409D-A69B-0C4F1DAE4662}" type="datetimeFigureOut">
              <a:rPr lang="zh-TW" altLang="en-US" smtClean="0"/>
              <a:t>2021/3/9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EBA7C3-DFF5-486A-A5E5-A43A427B10F5}" type="slidenum">
              <a:rPr lang="zh-TW" altLang="en-US" smtClean="0"/>
              <a:t>‹#›</a:t>
            </a:fld>
            <a:endParaRPr lang="zh-TW" altLang="en-US"/>
          </a:p>
        </p:txBody>
      </p:sp>
    </p:spTree>
    <p:extLst>
      <p:ext uri="{BB962C8B-B14F-4D97-AF65-F5344CB8AC3E}">
        <p14:creationId xmlns:p14="http://schemas.microsoft.com/office/powerpoint/2010/main" val="3122607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zh.wikipedia.org/wiki/%E6%AC%A7%E6%B4%B2"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zh.wikipedia.org/wiki/%E5%86%85%E9%99%86%E5%9B%BD%E5%AE%B6" TargetMode="External"/><Relationship Id="rId4" Type="http://schemas.openxmlformats.org/officeDocument/2006/relationships/hyperlink" Target="https://zh.wikipedia.org/wiki/%E5%B7%B4%E5%B0%94%E5%B9%B2%E5%8D%8A%E5%B2%9B"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effectLst/>
                <a:latin typeface="arial" panose="020B0604020202020204" pitchFamily="34" charset="0"/>
              </a:rPr>
              <a:t>北馬其頓 </a:t>
            </a:r>
            <a:r>
              <a:rPr lang="en-US" altLang="zh-TW" b="0" i="0" dirty="0">
                <a:effectLst/>
                <a:latin typeface="arial" panose="020B0604020202020204" pitchFamily="34" charset="0"/>
              </a:rPr>
              <a:t>(North Macedonia) </a:t>
            </a:r>
            <a:r>
              <a:rPr lang="zh-TW" altLang="en-US" b="0" i="0" dirty="0">
                <a:solidFill>
                  <a:srgbClr val="202122"/>
                </a:solidFill>
                <a:effectLst/>
                <a:latin typeface="Arial" panose="020B0604020202020204" pitchFamily="34" charset="0"/>
              </a:rPr>
              <a:t>東南</a:t>
            </a:r>
            <a:r>
              <a:rPr lang="zh-TW" altLang="en-US" b="0" i="0" u="none" strike="noStrike" dirty="0">
                <a:solidFill>
                  <a:srgbClr val="0645AD"/>
                </a:solidFill>
                <a:effectLst/>
                <a:latin typeface="Arial" panose="020B0604020202020204" pitchFamily="34" charset="0"/>
                <a:hlinkClick r:id="rId3" tooltip="歐洲"/>
              </a:rPr>
              <a:t>歐</a:t>
            </a:r>
            <a:r>
              <a:rPr lang="zh-TW" altLang="en-US" b="0" i="0" dirty="0">
                <a:solidFill>
                  <a:srgbClr val="202122"/>
                </a:solidFill>
                <a:effectLst/>
                <a:latin typeface="Arial" panose="020B0604020202020204" pitchFamily="34" charset="0"/>
              </a:rPr>
              <a:t>的</a:t>
            </a:r>
            <a:r>
              <a:rPr lang="zh-TW" altLang="en-US" b="0" i="0" u="none" strike="noStrike" dirty="0">
                <a:solidFill>
                  <a:srgbClr val="0645AD"/>
                </a:solidFill>
                <a:effectLst/>
                <a:latin typeface="Arial" panose="020B0604020202020204" pitchFamily="34" charset="0"/>
                <a:hlinkClick r:id="rId4" tooltip="巴爾幹半島"/>
              </a:rPr>
              <a:t>巴爾幹半島</a:t>
            </a:r>
            <a:r>
              <a:rPr lang="zh-TW" altLang="en-US" b="0" i="0" dirty="0">
                <a:solidFill>
                  <a:srgbClr val="202122"/>
                </a:solidFill>
                <a:effectLst/>
                <a:latin typeface="Arial" panose="020B0604020202020204" pitchFamily="34" charset="0"/>
              </a:rPr>
              <a:t>南部的</a:t>
            </a:r>
            <a:r>
              <a:rPr lang="zh-TW" altLang="en-US" b="0" i="0" u="sng" dirty="0">
                <a:solidFill>
                  <a:srgbClr val="0645AD"/>
                </a:solidFill>
                <a:effectLst/>
                <a:latin typeface="Arial" panose="020B0604020202020204" pitchFamily="34" charset="0"/>
                <a:hlinkClick r:id="rId5"/>
              </a:rPr>
              <a:t>內陸國家</a:t>
            </a:r>
            <a:r>
              <a:rPr lang="en-US" altLang="zh-TW" b="0" i="0" u="sng" dirty="0">
                <a:solidFill>
                  <a:srgbClr val="0645AD"/>
                </a:solidFill>
                <a:effectLst/>
                <a:latin typeface="Arial" panose="020B0604020202020204" pitchFamily="34" charset="0"/>
              </a:rPr>
              <a:t> (</a:t>
            </a:r>
            <a:r>
              <a:rPr lang="en-US" altLang="zh-TW" b="0" i="0" dirty="0">
                <a:effectLst/>
                <a:latin typeface="arial" panose="020B0604020202020204" pitchFamily="34" charset="0"/>
              </a:rPr>
              <a:t>South East European University)</a:t>
            </a:r>
            <a:endParaRPr lang="zh-TW"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任務調度可能會對系統的性能產生重大影響，並且當云資源由於執行速度，內存容量和處理器之間的通信速率不同而在計算，內存和通信特性方面異構時。</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我們提出了一種針對異構資源的雲環境的新型動態任務調度算法。它利用以往的任務執行經驗擴展了異構最早完成時間（</a:t>
            </a:r>
            <a:r>
              <a:rPr lang="en-US" altLang="zh-TW" dirty="0"/>
              <a:t>HEFT</a:t>
            </a:r>
            <a:r>
              <a:rPr lang="zh-TW" altLang="en-US" dirty="0"/>
              <a:t>）算法</a:t>
            </a:r>
            <a:endParaRPr lang="en-US" altLang="zh-TW" dirty="0"/>
          </a:p>
          <a:p>
            <a:r>
              <a:rPr lang="zh-TW" altLang="en-US" dirty="0"/>
              <a:t>新的雲環境任務調度算法，該參數指定每個相關任務的最小平均執行時間資源</a:t>
            </a:r>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1</a:t>
            </a:fld>
            <a:endParaRPr lang="zh-TW" altLang="en-US"/>
          </a:p>
        </p:txBody>
      </p:sp>
    </p:spTree>
    <p:extLst>
      <p:ext uri="{BB962C8B-B14F-4D97-AF65-F5344CB8AC3E}">
        <p14:creationId xmlns:p14="http://schemas.microsoft.com/office/powerpoint/2010/main" val="3990110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666666"/>
                </a:solidFill>
                <a:effectLst/>
                <a:latin typeface="Microsoft JhengHei" panose="020B0604030504040204" pitchFamily="34" charset="-120"/>
                <a:ea typeface="Microsoft JhengHei" panose="020B0604030504040204" pitchFamily="34" charset="-120"/>
              </a:rPr>
              <a:t>Acronym</a:t>
            </a:r>
            <a:r>
              <a:rPr lang="zh-TW" altLang="en-US" b="0" i="0" dirty="0">
                <a:solidFill>
                  <a:srgbClr val="666666"/>
                </a:solidFill>
                <a:effectLst/>
                <a:latin typeface="Microsoft JhengHei" panose="020B0604030504040204" pitchFamily="34" charset="-120"/>
                <a:ea typeface="Microsoft JhengHei" panose="020B0604030504040204" pitchFamily="34" charset="-120"/>
              </a:rPr>
              <a:t>   </a:t>
            </a:r>
            <a:r>
              <a:rPr lang="en-US" altLang="zh-TW" b="0" i="0" dirty="0">
                <a:solidFill>
                  <a:srgbClr val="666666"/>
                </a:solidFill>
                <a:effectLst/>
                <a:latin typeface="Microsoft JhengHei" panose="020B0604030504040204" pitchFamily="34" charset="-120"/>
                <a:ea typeface="Microsoft JhengHei" panose="020B0604030504040204" pitchFamily="34" charset="-120"/>
              </a:rPr>
              <a:t>a cru num</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雲環境中的任務調度是在可用雲資源上分配和執行計算任務的問題。 有效的任務調度方法可減少任務完成時間，提高資源利用效率，並提高服務質量和系統整體性能</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它考慮了先前任務執行的經驗以確定資源的工作量，用於指定任務在所有相關資源上的先前運行的最小平均執行時間。 </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實驗結果表明，所提出的</a:t>
            </a:r>
            <a:r>
              <a:rPr lang="en-US" altLang="zh-TW" dirty="0"/>
              <a:t>EHEFT</a:t>
            </a:r>
            <a:r>
              <a:rPr lang="zh-TW" altLang="en-US" dirty="0"/>
              <a:t>算法的性能優於</a:t>
            </a:r>
            <a:r>
              <a:rPr lang="en-US" altLang="zh-TW" dirty="0"/>
              <a:t>HEFT</a:t>
            </a:r>
            <a:r>
              <a:rPr lang="zh-TW" altLang="en-US" dirty="0"/>
              <a:t>，</a:t>
            </a:r>
            <a:r>
              <a:rPr lang="en-US" altLang="zh-TW" dirty="0"/>
              <a:t>CPOP</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2</a:t>
            </a:fld>
            <a:endParaRPr lang="zh-TW" altLang="en-US"/>
          </a:p>
        </p:txBody>
      </p:sp>
    </p:spTree>
    <p:extLst>
      <p:ext uri="{BB962C8B-B14F-4D97-AF65-F5344CB8AC3E}">
        <p14:creationId xmlns:p14="http://schemas.microsoft.com/office/powerpoint/2010/main" val="1133740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我們提出了一種針對異構資源的雲環境的新型動態任務調度算法。它利用以往的任務執行經驗擴展了異構最早完成時間（</a:t>
            </a:r>
            <a:r>
              <a:rPr lang="en-US" altLang="zh-TW" dirty="0"/>
              <a:t>HEFT</a:t>
            </a:r>
            <a:r>
              <a:rPr lang="zh-TW" altLang="en-US" dirty="0"/>
              <a:t>）算法，因此我們將其稱為體驗性</a:t>
            </a:r>
            <a:r>
              <a:rPr lang="en-US" altLang="zh-TW" dirty="0"/>
              <a:t>HEFT</a:t>
            </a:r>
            <a:r>
              <a:rPr lang="zh-TW" altLang="en-US" dirty="0"/>
              <a:t>（</a:t>
            </a:r>
            <a:r>
              <a:rPr lang="en-US" altLang="zh-TW" dirty="0"/>
              <a:t>EHEFT</a:t>
            </a:r>
            <a:r>
              <a:rPr lang="zh-TW" altLang="en-US" dirty="0"/>
              <a:t>）算法。</a:t>
            </a:r>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3</a:t>
            </a:fld>
            <a:endParaRPr lang="zh-TW" altLang="en-US"/>
          </a:p>
        </p:txBody>
      </p:sp>
    </p:spTree>
    <p:extLst>
      <p:ext uri="{BB962C8B-B14F-4D97-AF65-F5344CB8AC3E}">
        <p14:creationId xmlns:p14="http://schemas.microsoft.com/office/powerpoint/2010/main" val="239096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4</a:t>
            </a:fld>
            <a:endParaRPr lang="zh-TW" altLang="en-US"/>
          </a:p>
        </p:txBody>
      </p:sp>
    </p:spTree>
    <p:extLst>
      <p:ext uri="{BB962C8B-B14F-4D97-AF65-F5344CB8AC3E}">
        <p14:creationId xmlns:p14="http://schemas.microsoft.com/office/powerpoint/2010/main" val="1113277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Task</a:t>
            </a:r>
            <a:r>
              <a:rPr lang="zh-TW" altLang="en-US" dirty="0"/>
              <a:t>平均處理時間</a:t>
            </a:r>
            <a:r>
              <a:rPr lang="en-US" altLang="zh-TW" dirty="0"/>
              <a:t>+</a:t>
            </a:r>
            <a:r>
              <a:rPr lang="zh-TW" altLang="en-US" dirty="0"/>
              <a:t>平均接收時間</a:t>
            </a:r>
            <a:r>
              <a:rPr lang="en-US" altLang="zh-TW" dirty="0"/>
              <a:t>+</a:t>
            </a:r>
            <a:r>
              <a:rPr lang="zh-TW" altLang="en-US" dirty="0"/>
              <a:t>傳輸時間  下往上疊加</a:t>
            </a:r>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5</a:t>
            </a:fld>
            <a:endParaRPr lang="zh-TW" altLang="en-US"/>
          </a:p>
        </p:txBody>
      </p:sp>
    </p:spTree>
    <p:extLst>
      <p:ext uri="{BB962C8B-B14F-4D97-AF65-F5344CB8AC3E}">
        <p14:creationId xmlns:p14="http://schemas.microsoft.com/office/powerpoint/2010/main" val="3708845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Task</a:t>
            </a:r>
            <a:r>
              <a:rPr lang="zh-TW" altLang="en-US" dirty="0"/>
              <a:t>平均處理時間</a:t>
            </a:r>
            <a:r>
              <a:rPr lang="en-US" altLang="zh-TW" dirty="0"/>
              <a:t>+</a:t>
            </a:r>
            <a:r>
              <a:rPr lang="zh-TW" altLang="en-US" dirty="0"/>
              <a:t>平均接收時間</a:t>
            </a:r>
            <a:r>
              <a:rPr lang="en-US" altLang="zh-TW" dirty="0"/>
              <a:t>+</a:t>
            </a:r>
            <a:r>
              <a:rPr lang="zh-TW" altLang="en-US" dirty="0"/>
              <a:t>傳輸時間  下往上疊加</a:t>
            </a:r>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6</a:t>
            </a:fld>
            <a:endParaRPr lang="zh-TW" altLang="en-US"/>
          </a:p>
        </p:txBody>
      </p:sp>
    </p:spTree>
    <p:extLst>
      <p:ext uri="{BB962C8B-B14F-4D97-AF65-F5344CB8AC3E}">
        <p14:creationId xmlns:p14="http://schemas.microsoft.com/office/powerpoint/2010/main" val="2188257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Critical-Path-on-a-Processor (CPOP) algorithm</a:t>
            </a:r>
            <a:endParaRPr lang="zh-TW" altLang="en-US" dirty="0"/>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11</a:t>
            </a:fld>
            <a:endParaRPr lang="zh-TW" altLang="en-US"/>
          </a:p>
        </p:txBody>
      </p:sp>
    </p:spTree>
    <p:extLst>
      <p:ext uri="{BB962C8B-B14F-4D97-AF65-F5344CB8AC3E}">
        <p14:creationId xmlns:p14="http://schemas.microsoft.com/office/powerpoint/2010/main" val="2304091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Critical-Path-on-a-Processor (CPOP) algorithm</a:t>
            </a:r>
            <a:r>
              <a:rPr lang="zh-TW" altLang="en-US" dirty="0"/>
              <a:t> </a:t>
            </a:r>
            <a:endParaRPr lang="en-US" altLang="zh-TW" dirty="0"/>
          </a:p>
          <a:p>
            <a:r>
              <a:rPr lang="en-US" altLang="zh-TW" dirty="0"/>
              <a:t>O(v</a:t>
            </a:r>
            <a:r>
              <a:rPr lang="zh-TW" altLang="en-US" dirty="0"/>
              <a:t>*</a:t>
            </a:r>
            <a:r>
              <a:rPr lang="en-US" altLang="zh-TW" dirty="0"/>
              <a:t>v*p)  v:task   , p:procesor</a:t>
            </a:r>
            <a:endParaRPr lang="zh-TW" altLang="en-US" dirty="0"/>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13</a:t>
            </a:fld>
            <a:endParaRPr lang="zh-TW" altLang="en-US"/>
          </a:p>
        </p:txBody>
      </p:sp>
    </p:spTree>
    <p:extLst>
      <p:ext uri="{BB962C8B-B14F-4D97-AF65-F5344CB8AC3E}">
        <p14:creationId xmlns:p14="http://schemas.microsoft.com/office/powerpoint/2010/main" val="1009059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16</a:t>
            </a:fld>
            <a:endParaRPr lang="zh-TW" altLang="en-US"/>
          </a:p>
        </p:txBody>
      </p:sp>
    </p:spTree>
    <p:extLst>
      <p:ext uri="{BB962C8B-B14F-4D97-AF65-F5344CB8AC3E}">
        <p14:creationId xmlns:p14="http://schemas.microsoft.com/office/powerpoint/2010/main" val="10072060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原本</a:t>
            </a:r>
            <a:r>
              <a:rPr lang="en-US" altLang="zh-TW" dirty="0"/>
              <a:t>:</a:t>
            </a:r>
            <a:r>
              <a:rPr lang="zh-TW" altLang="en-US" dirty="0"/>
              <a:t>任務優先</a:t>
            </a:r>
            <a:r>
              <a:rPr lang="en-US" altLang="zh-TW" dirty="0"/>
              <a:t>(rank) ,</a:t>
            </a:r>
            <a:r>
              <a:rPr lang="zh-TW" altLang="en-US" dirty="0"/>
              <a:t>再來是處理器的選擇</a:t>
            </a:r>
            <a:endParaRPr lang="en-US" altLang="zh-TW" dirty="0"/>
          </a:p>
          <a:p>
            <a:r>
              <a:rPr lang="zh-TW" altLang="en-US" dirty="0"/>
              <a:t>它使原始的</a:t>
            </a:r>
            <a:r>
              <a:rPr lang="en-US" altLang="zh-TW" dirty="0"/>
              <a:t>HEFT</a:t>
            </a:r>
            <a:r>
              <a:rPr lang="zh-TW" altLang="en-US" dirty="0"/>
              <a:t>算法能夠在將任務分配給處理器時    </a:t>
            </a:r>
            <a:r>
              <a:rPr lang="en-US" altLang="zh-TW" dirty="0"/>
              <a:t>.</a:t>
            </a:r>
            <a:r>
              <a:rPr lang="zh-TW" altLang="en-US" dirty="0"/>
              <a:t>考慮資源的工作量和計算能力</a:t>
            </a:r>
            <a:endParaRPr lang="en-US" altLang="zh-TW" dirty="0"/>
          </a:p>
          <a:p>
            <a:r>
              <a:rPr lang="zh-TW" altLang="en-US" dirty="0"/>
              <a:t>附加參數來計算任務在所有相關資源上 ，過去運行的最小平均執行時間</a:t>
            </a:r>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17</a:t>
            </a:fld>
            <a:endParaRPr lang="zh-TW" altLang="en-US"/>
          </a:p>
        </p:txBody>
      </p:sp>
    </p:spTree>
    <p:extLst>
      <p:ext uri="{BB962C8B-B14F-4D97-AF65-F5344CB8AC3E}">
        <p14:creationId xmlns:p14="http://schemas.microsoft.com/office/powerpoint/2010/main" val="9794787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resource</a:t>
            </a:r>
            <a:r>
              <a:rPr lang="zh-TW" altLang="en-US" dirty="0"/>
              <a:t>異構性 ，雲中的資源（即處理器）數量，</a:t>
            </a:r>
            <a:r>
              <a:rPr lang="en-US" altLang="zh-TW" dirty="0"/>
              <a:t>DAG</a:t>
            </a:r>
            <a:r>
              <a:rPr lang="zh-TW" altLang="en-US" dirty="0"/>
              <a:t>節點（即任務）數量，任務之間的連接性，以及每個任務的先前運行統計信息。</a:t>
            </a:r>
            <a:endParaRPr lang="en-US" altLang="zh-TW" dirty="0"/>
          </a:p>
          <a:p>
            <a:r>
              <a:rPr lang="zh-TW" altLang="en-US" dirty="0"/>
              <a:t>通過在模擬器中設置</a:t>
            </a:r>
            <a:r>
              <a:rPr lang="en-US" altLang="zh-TW" dirty="0"/>
              <a:t>Beta</a:t>
            </a:r>
            <a:r>
              <a:rPr lang="zh-TW" altLang="en-US" dirty="0"/>
              <a:t>參數可以實現資源異構性。</a:t>
            </a:r>
            <a:endParaRPr lang="en-US" altLang="zh-TW" dirty="0"/>
          </a:p>
          <a:p>
            <a:r>
              <a:rPr lang="zh-TW" altLang="en-US" dirty="0"/>
              <a:t>它的值定義了雲中資源之間處理能力差異的比率。</a:t>
            </a:r>
          </a:p>
          <a:p>
            <a:r>
              <a:rPr lang="zh-TW" altLang="en-US" dirty="0"/>
              <a:t>為模擬器提供不同的輸入值，以測試算法在不同條件下的有效期和運行時間方面的差異。</a:t>
            </a:r>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20</a:t>
            </a:fld>
            <a:endParaRPr lang="zh-TW" altLang="en-US"/>
          </a:p>
        </p:txBody>
      </p:sp>
    </p:spTree>
    <p:extLst>
      <p:ext uri="{BB962C8B-B14F-4D97-AF65-F5344CB8AC3E}">
        <p14:creationId xmlns:p14="http://schemas.microsoft.com/office/powerpoint/2010/main" val="1250475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scheduling length ratio and runtime </a:t>
            </a:r>
          </a:p>
          <a:p>
            <a:r>
              <a:rPr lang="zh-TW" altLang="en-US" dirty="0"/>
              <a:t>此演算法較佳</a:t>
            </a:r>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21</a:t>
            </a:fld>
            <a:endParaRPr lang="zh-TW" altLang="en-US"/>
          </a:p>
        </p:txBody>
      </p:sp>
    </p:spTree>
    <p:extLst>
      <p:ext uri="{BB962C8B-B14F-4D97-AF65-F5344CB8AC3E}">
        <p14:creationId xmlns:p14="http://schemas.microsoft.com/office/powerpoint/2010/main" val="4199668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分母是關鍵路徑任務的最小計算成本，表示為</a:t>
            </a:r>
            <a:r>
              <a:rPr lang="en-US" altLang="zh-TW" dirty="0"/>
              <a:t>CPMIN</a:t>
            </a:r>
            <a:r>
              <a:rPr lang="zh-TW" altLang="en-US" dirty="0"/>
              <a:t>。</a:t>
            </a:r>
            <a:endParaRPr lang="en-US" altLang="zh-TW" dirty="0"/>
          </a:p>
          <a:p>
            <a:r>
              <a:rPr lang="zh-TW" altLang="en-US" dirty="0"/>
              <a:t>考慮到使用了大量具有不同屬性的任務圖，計劃長度 應歸一化為下限，</a:t>
            </a:r>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22</a:t>
            </a:fld>
            <a:endParaRPr lang="zh-TW" altLang="en-US"/>
          </a:p>
        </p:txBody>
      </p:sp>
    </p:spTree>
    <p:extLst>
      <p:ext uri="{BB962C8B-B14F-4D97-AF65-F5344CB8AC3E}">
        <p14:creationId xmlns:p14="http://schemas.microsoft.com/office/powerpoint/2010/main" val="33901960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EHEFT</a:t>
            </a:r>
            <a:r>
              <a:rPr lang="zh-TW" altLang="en-US" dirty="0"/>
              <a:t>將任務分配給過去更適合執行此類任務的資源。</a:t>
            </a:r>
            <a:endParaRPr lang="en-US" altLang="zh-TW" dirty="0"/>
          </a:p>
          <a:p>
            <a:r>
              <a:rPr lang="zh-TW" altLang="en-US" dirty="0"/>
              <a:t>參數</a:t>
            </a:r>
            <a:r>
              <a:rPr lang="en-US" altLang="zh-TW" dirty="0"/>
              <a:t>:</a:t>
            </a:r>
            <a:r>
              <a:rPr lang="zh-TW" altLang="en-US" dirty="0"/>
              <a:t>任務分配給處理器時考慮到工作負載和</a:t>
            </a:r>
            <a:r>
              <a:rPr lang="en-US" altLang="zh-TW" dirty="0"/>
              <a:t>resource</a:t>
            </a:r>
            <a:r>
              <a:rPr lang="zh-TW" altLang="en-US" dirty="0"/>
              <a:t>處理能力的能力。</a:t>
            </a:r>
            <a:endParaRPr lang="en-US" altLang="zh-TW" dirty="0"/>
          </a:p>
          <a:p>
            <a:r>
              <a:rPr lang="zh-TW" altLang="en-US" dirty="0"/>
              <a:t>為了區分過去以更有效的方式執行了給定任務的處理器的優先級，存儲了雲中每個資源的任務的先前執行時間的總和和計數。  </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24</a:t>
            </a:fld>
            <a:endParaRPr lang="zh-TW" altLang="en-US"/>
          </a:p>
        </p:txBody>
      </p:sp>
    </p:spTree>
    <p:extLst>
      <p:ext uri="{BB962C8B-B14F-4D97-AF65-F5344CB8AC3E}">
        <p14:creationId xmlns:p14="http://schemas.microsoft.com/office/powerpoint/2010/main" val="33193530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每個相關資源上的最小平均執行時間來計算等級</a:t>
            </a:r>
          </a:p>
        </p:txBody>
      </p:sp>
      <p:sp>
        <p:nvSpPr>
          <p:cNvPr id="4" name="投影片編號版面配置區 3"/>
          <p:cNvSpPr>
            <a:spLocks noGrp="1"/>
          </p:cNvSpPr>
          <p:nvPr>
            <p:ph type="sldNum" sz="quarter" idx="5"/>
          </p:nvPr>
        </p:nvSpPr>
        <p:spPr/>
        <p:txBody>
          <a:bodyPr/>
          <a:lstStyle/>
          <a:p>
            <a:fld id="{C8EBA7C3-DFF5-486A-A5E5-A43A427B10F5}" type="slidenum">
              <a:rPr lang="zh-TW" altLang="en-US" smtClean="0"/>
              <a:t>27</a:t>
            </a:fld>
            <a:endParaRPr lang="zh-TW" altLang="en-US"/>
          </a:p>
        </p:txBody>
      </p:sp>
    </p:spTree>
    <p:extLst>
      <p:ext uri="{BB962C8B-B14F-4D97-AF65-F5344CB8AC3E}">
        <p14:creationId xmlns:p14="http://schemas.microsoft.com/office/powerpoint/2010/main" val="2242530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E4E00A8-EA41-4931-9079-5B3178A17E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9E67CF05-9599-4E8D-852E-817607CEF3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36E2D94-3E7E-49CF-BA9D-0A9C027098DF}"/>
              </a:ext>
            </a:extLst>
          </p:cNvPr>
          <p:cNvSpPr>
            <a:spLocks noGrp="1"/>
          </p:cNvSpPr>
          <p:nvPr>
            <p:ph type="dt" sz="half" idx="10"/>
          </p:nvPr>
        </p:nvSpPr>
        <p:spPr/>
        <p:txBody>
          <a:bodyPr/>
          <a:lstStyle/>
          <a:p>
            <a:fld id="{658A181B-F53D-40E4-9ED3-E49AF8549C8B}" type="datetimeFigureOut">
              <a:rPr lang="zh-TW" altLang="en-US" smtClean="0"/>
              <a:t>2021/3/9</a:t>
            </a:fld>
            <a:endParaRPr lang="zh-TW" altLang="en-US"/>
          </a:p>
        </p:txBody>
      </p:sp>
      <p:sp>
        <p:nvSpPr>
          <p:cNvPr id="5" name="頁尾版面配置區 4">
            <a:extLst>
              <a:ext uri="{FF2B5EF4-FFF2-40B4-BE49-F238E27FC236}">
                <a16:creationId xmlns:a16="http://schemas.microsoft.com/office/drawing/2014/main" id="{69B30352-CDF1-4FC8-A31B-F48141154F0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D760CDB-3988-41B0-B1AF-609796BDCC5F}"/>
              </a:ext>
            </a:extLst>
          </p:cNvPr>
          <p:cNvSpPr>
            <a:spLocks noGrp="1"/>
          </p:cNvSpPr>
          <p:nvPr>
            <p:ph type="sldNum" sz="quarter" idx="12"/>
          </p:nvPr>
        </p:nvSpPr>
        <p:spPr/>
        <p:txBody>
          <a:bodyPr/>
          <a:lstStyle/>
          <a:p>
            <a:fld id="{CA77A414-C60E-4739-887E-35E8A3028C26}" type="slidenum">
              <a:rPr lang="zh-TW" altLang="en-US" smtClean="0"/>
              <a:t>‹#›</a:t>
            </a:fld>
            <a:endParaRPr lang="zh-TW" altLang="en-US"/>
          </a:p>
        </p:txBody>
      </p:sp>
    </p:spTree>
    <p:extLst>
      <p:ext uri="{BB962C8B-B14F-4D97-AF65-F5344CB8AC3E}">
        <p14:creationId xmlns:p14="http://schemas.microsoft.com/office/powerpoint/2010/main" val="1463081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088858-C21A-49EE-B010-32B22EA6669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E64DAC7-8F6A-4DF1-A1D4-10846B58452C}"/>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87A2C55-AD91-4A45-94D0-585D7C37DC86}"/>
              </a:ext>
            </a:extLst>
          </p:cNvPr>
          <p:cNvSpPr>
            <a:spLocks noGrp="1"/>
          </p:cNvSpPr>
          <p:nvPr>
            <p:ph type="dt" sz="half" idx="10"/>
          </p:nvPr>
        </p:nvSpPr>
        <p:spPr/>
        <p:txBody>
          <a:bodyPr/>
          <a:lstStyle/>
          <a:p>
            <a:fld id="{658A181B-F53D-40E4-9ED3-E49AF8549C8B}" type="datetimeFigureOut">
              <a:rPr lang="zh-TW" altLang="en-US" smtClean="0"/>
              <a:t>2021/3/9</a:t>
            </a:fld>
            <a:endParaRPr lang="zh-TW" altLang="en-US"/>
          </a:p>
        </p:txBody>
      </p:sp>
      <p:sp>
        <p:nvSpPr>
          <p:cNvPr id="5" name="頁尾版面配置區 4">
            <a:extLst>
              <a:ext uri="{FF2B5EF4-FFF2-40B4-BE49-F238E27FC236}">
                <a16:creationId xmlns:a16="http://schemas.microsoft.com/office/drawing/2014/main" id="{EB8B5325-2C38-44B0-ABA2-195E533726E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B1E33A3-FD3D-4644-AEE1-E78D1AEB7A7C}"/>
              </a:ext>
            </a:extLst>
          </p:cNvPr>
          <p:cNvSpPr>
            <a:spLocks noGrp="1"/>
          </p:cNvSpPr>
          <p:nvPr>
            <p:ph type="sldNum" sz="quarter" idx="12"/>
          </p:nvPr>
        </p:nvSpPr>
        <p:spPr/>
        <p:txBody>
          <a:bodyPr/>
          <a:lstStyle/>
          <a:p>
            <a:fld id="{CA77A414-C60E-4739-887E-35E8A3028C26}" type="slidenum">
              <a:rPr lang="zh-TW" altLang="en-US" smtClean="0"/>
              <a:t>‹#›</a:t>
            </a:fld>
            <a:endParaRPr lang="zh-TW" altLang="en-US"/>
          </a:p>
        </p:txBody>
      </p:sp>
    </p:spTree>
    <p:extLst>
      <p:ext uri="{BB962C8B-B14F-4D97-AF65-F5344CB8AC3E}">
        <p14:creationId xmlns:p14="http://schemas.microsoft.com/office/powerpoint/2010/main" val="2806107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20876B-7226-4A50-9B0F-B90EB505D2FA}"/>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1B5D318-DD99-4720-BF0B-5697D6E1C8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4B84DC4C-C2BA-4450-BA9D-EF2952FD2A76}"/>
              </a:ext>
            </a:extLst>
          </p:cNvPr>
          <p:cNvSpPr>
            <a:spLocks noGrp="1"/>
          </p:cNvSpPr>
          <p:nvPr>
            <p:ph type="dt" sz="half" idx="10"/>
          </p:nvPr>
        </p:nvSpPr>
        <p:spPr/>
        <p:txBody>
          <a:bodyPr/>
          <a:lstStyle/>
          <a:p>
            <a:fld id="{658A181B-F53D-40E4-9ED3-E49AF8549C8B}" type="datetimeFigureOut">
              <a:rPr lang="zh-TW" altLang="en-US" smtClean="0"/>
              <a:t>2021/3/9</a:t>
            </a:fld>
            <a:endParaRPr lang="zh-TW" altLang="en-US"/>
          </a:p>
        </p:txBody>
      </p:sp>
      <p:sp>
        <p:nvSpPr>
          <p:cNvPr id="5" name="頁尾版面配置區 4">
            <a:extLst>
              <a:ext uri="{FF2B5EF4-FFF2-40B4-BE49-F238E27FC236}">
                <a16:creationId xmlns:a16="http://schemas.microsoft.com/office/drawing/2014/main" id="{BBAA9361-FC54-4178-A808-35EC6F41BC2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9081053-FD4F-48E4-AFD7-F7A9DF337CBB}"/>
              </a:ext>
            </a:extLst>
          </p:cNvPr>
          <p:cNvSpPr>
            <a:spLocks noGrp="1"/>
          </p:cNvSpPr>
          <p:nvPr>
            <p:ph type="sldNum" sz="quarter" idx="12"/>
          </p:nvPr>
        </p:nvSpPr>
        <p:spPr/>
        <p:txBody>
          <a:bodyPr/>
          <a:lstStyle/>
          <a:p>
            <a:fld id="{CA77A414-C60E-4739-887E-35E8A3028C26}" type="slidenum">
              <a:rPr lang="zh-TW" altLang="en-US" smtClean="0"/>
              <a:t>‹#›</a:t>
            </a:fld>
            <a:endParaRPr lang="zh-TW" altLang="en-US"/>
          </a:p>
        </p:txBody>
      </p:sp>
    </p:spTree>
    <p:extLst>
      <p:ext uri="{BB962C8B-B14F-4D97-AF65-F5344CB8AC3E}">
        <p14:creationId xmlns:p14="http://schemas.microsoft.com/office/powerpoint/2010/main" val="3087725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63CF41-3A24-4207-A1C9-0D9DDD287EC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6CCB0C2-662D-435B-A26E-384DC7FEA48C}"/>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7F3CFD31-50D8-4A1A-AB69-B002EC2A65A8}"/>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DE042532-A62E-4375-AD4E-3BB18581AED4}"/>
              </a:ext>
            </a:extLst>
          </p:cNvPr>
          <p:cNvSpPr>
            <a:spLocks noGrp="1"/>
          </p:cNvSpPr>
          <p:nvPr>
            <p:ph type="dt" sz="half" idx="10"/>
          </p:nvPr>
        </p:nvSpPr>
        <p:spPr/>
        <p:txBody>
          <a:bodyPr/>
          <a:lstStyle/>
          <a:p>
            <a:fld id="{658A181B-F53D-40E4-9ED3-E49AF8549C8B}" type="datetimeFigureOut">
              <a:rPr lang="zh-TW" altLang="en-US" smtClean="0"/>
              <a:t>2021/3/9</a:t>
            </a:fld>
            <a:endParaRPr lang="zh-TW" altLang="en-US"/>
          </a:p>
        </p:txBody>
      </p:sp>
      <p:sp>
        <p:nvSpPr>
          <p:cNvPr id="6" name="頁尾版面配置區 5">
            <a:extLst>
              <a:ext uri="{FF2B5EF4-FFF2-40B4-BE49-F238E27FC236}">
                <a16:creationId xmlns:a16="http://schemas.microsoft.com/office/drawing/2014/main" id="{18327097-BA85-4905-8B29-D230069F0E2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BA301F6-A8D7-4CDE-B5CA-ED7FEDFDCB75}"/>
              </a:ext>
            </a:extLst>
          </p:cNvPr>
          <p:cNvSpPr>
            <a:spLocks noGrp="1"/>
          </p:cNvSpPr>
          <p:nvPr>
            <p:ph type="sldNum" sz="quarter" idx="12"/>
          </p:nvPr>
        </p:nvSpPr>
        <p:spPr/>
        <p:txBody>
          <a:bodyPr/>
          <a:lstStyle/>
          <a:p>
            <a:fld id="{CA77A414-C60E-4739-887E-35E8A3028C26}" type="slidenum">
              <a:rPr lang="zh-TW" altLang="en-US" smtClean="0"/>
              <a:t>‹#›</a:t>
            </a:fld>
            <a:endParaRPr lang="zh-TW" altLang="en-US"/>
          </a:p>
        </p:txBody>
      </p:sp>
    </p:spTree>
    <p:extLst>
      <p:ext uri="{BB962C8B-B14F-4D97-AF65-F5344CB8AC3E}">
        <p14:creationId xmlns:p14="http://schemas.microsoft.com/office/powerpoint/2010/main" val="3407166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39D89E-894F-48DF-89C7-DC7D71F2291F}"/>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A7E321F-E4FC-4CD5-B39C-B5D60E5517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5A5ACB5C-1E3A-4321-9547-F006136BF900}"/>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C76472E-2DFA-4516-BF01-3178D681E4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72272CA9-A8DD-4B80-9210-A543A19784AD}"/>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4DD277F-14A5-421D-8F29-0B5AF1990622}"/>
              </a:ext>
            </a:extLst>
          </p:cNvPr>
          <p:cNvSpPr>
            <a:spLocks noGrp="1"/>
          </p:cNvSpPr>
          <p:nvPr>
            <p:ph type="dt" sz="half" idx="10"/>
          </p:nvPr>
        </p:nvSpPr>
        <p:spPr/>
        <p:txBody>
          <a:bodyPr/>
          <a:lstStyle/>
          <a:p>
            <a:fld id="{658A181B-F53D-40E4-9ED3-E49AF8549C8B}" type="datetimeFigureOut">
              <a:rPr lang="zh-TW" altLang="en-US" smtClean="0"/>
              <a:t>2021/3/9</a:t>
            </a:fld>
            <a:endParaRPr lang="zh-TW" altLang="en-US"/>
          </a:p>
        </p:txBody>
      </p:sp>
      <p:sp>
        <p:nvSpPr>
          <p:cNvPr id="8" name="頁尾版面配置區 7">
            <a:extLst>
              <a:ext uri="{FF2B5EF4-FFF2-40B4-BE49-F238E27FC236}">
                <a16:creationId xmlns:a16="http://schemas.microsoft.com/office/drawing/2014/main" id="{E5274484-F74E-4E66-86FA-1F8B72485C44}"/>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423F21E4-A96A-49FD-8BFF-EC80B1625135}"/>
              </a:ext>
            </a:extLst>
          </p:cNvPr>
          <p:cNvSpPr>
            <a:spLocks noGrp="1"/>
          </p:cNvSpPr>
          <p:nvPr>
            <p:ph type="sldNum" sz="quarter" idx="12"/>
          </p:nvPr>
        </p:nvSpPr>
        <p:spPr/>
        <p:txBody>
          <a:bodyPr/>
          <a:lstStyle/>
          <a:p>
            <a:fld id="{CA77A414-C60E-4739-887E-35E8A3028C26}" type="slidenum">
              <a:rPr lang="zh-TW" altLang="en-US" smtClean="0"/>
              <a:t>‹#›</a:t>
            </a:fld>
            <a:endParaRPr lang="zh-TW" altLang="en-US"/>
          </a:p>
        </p:txBody>
      </p:sp>
    </p:spTree>
    <p:extLst>
      <p:ext uri="{BB962C8B-B14F-4D97-AF65-F5344CB8AC3E}">
        <p14:creationId xmlns:p14="http://schemas.microsoft.com/office/powerpoint/2010/main" val="2913241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F64CF7-13FF-489C-BF6F-B974832D6BF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DDA27EB-62D2-4EE1-8A8C-D044CC1F3CC0}"/>
              </a:ext>
            </a:extLst>
          </p:cNvPr>
          <p:cNvSpPr>
            <a:spLocks noGrp="1"/>
          </p:cNvSpPr>
          <p:nvPr>
            <p:ph type="dt" sz="half" idx="10"/>
          </p:nvPr>
        </p:nvSpPr>
        <p:spPr/>
        <p:txBody>
          <a:bodyPr/>
          <a:lstStyle/>
          <a:p>
            <a:fld id="{658A181B-F53D-40E4-9ED3-E49AF8549C8B}" type="datetimeFigureOut">
              <a:rPr lang="zh-TW" altLang="en-US" smtClean="0"/>
              <a:t>2021/3/9</a:t>
            </a:fld>
            <a:endParaRPr lang="zh-TW" altLang="en-US"/>
          </a:p>
        </p:txBody>
      </p:sp>
      <p:sp>
        <p:nvSpPr>
          <p:cNvPr id="4" name="頁尾版面配置區 3">
            <a:extLst>
              <a:ext uri="{FF2B5EF4-FFF2-40B4-BE49-F238E27FC236}">
                <a16:creationId xmlns:a16="http://schemas.microsoft.com/office/drawing/2014/main" id="{41DBDC44-35E7-4DBA-8143-239832C4A33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904CE8A4-64E6-47A7-9484-A053ED3A050E}"/>
              </a:ext>
            </a:extLst>
          </p:cNvPr>
          <p:cNvSpPr>
            <a:spLocks noGrp="1"/>
          </p:cNvSpPr>
          <p:nvPr>
            <p:ph type="sldNum" sz="quarter" idx="12"/>
          </p:nvPr>
        </p:nvSpPr>
        <p:spPr/>
        <p:txBody>
          <a:bodyPr/>
          <a:lstStyle/>
          <a:p>
            <a:fld id="{CA77A414-C60E-4739-887E-35E8A3028C26}" type="slidenum">
              <a:rPr lang="zh-TW" altLang="en-US" smtClean="0"/>
              <a:t>‹#›</a:t>
            </a:fld>
            <a:endParaRPr lang="zh-TW" altLang="en-US"/>
          </a:p>
        </p:txBody>
      </p:sp>
    </p:spTree>
    <p:extLst>
      <p:ext uri="{BB962C8B-B14F-4D97-AF65-F5344CB8AC3E}">
        <p14:creationId xmlns:p14="http://schemas.microsoft.com/office/powerpoint/2010/main" val="2076024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CD705F-CCC8-4741-AC3B-EDD5ACCE2CA2}"/>
              </a:ext>
            </a:extLst>
          </p:cNvPr>
          <p:cNvSpPr>
            <a:spLocks noGrp="1"/>
          </p:cNvSpPr>
          <p:nvPr>
            <p:ph type="dt" sz="half" idx="10"/>
          </p:nvPr>
        </p:nvSpPr>
        <p:spPr/>
        <p:txBody>
          <a:bodyPr/>
          <a:lstStyle/>
          <a:p>
            <a:fld id="{658A181B-F53D-40E4-9ED3-E49AF8549C8B}" type="datetimeFigureOut">
              <a:rPr lang="zh-TW" altLang="en-US" smtClean="0"/>
              <a:t>2021/3/9</a:t>
            </a:fld>
            <a:endParaRPr lang="zh-TW" altLang="en-US"/>
          </a:p>
        </p:txBody>
      </p:sp>
      <p:sp>
        <p:nvSpPr>
          <p:cNvPr id="3" name="頁尾版面配置區 2">
            <a:extLst>
              <a:ext uri="{FF2B5EF4-FFF2-40B4-BE49-F238E27FC236}">
                <a16:creationId xmlns:a16="http://schemas.microsoft.com/office/drawing/2014/main" id="{7B6E6A97-9BE7-4E8B-BDE7-47A0F4E7C0DA}"/>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7E9ADD3D-0393-4D86-9BF4-88B481799605}"/>
              </a:ext>
            </a:extLst>
          </p:cNvPr>
          <p:cNvSpPr>
            <a:spLocks noGrp="1"/>
          </p:cNvSpPr>
          <p:nvPr>
            <p:ph type="sldNum" sz="quarter" idx="12"/>
          </p:nvPr>
        </p:nvSpPr>
        <p:spPr/>
        <p:txBody>
          <a:bodyPr/>
          <a:lstStyle/>
          <a:p>
            <a:fld id="{CA77A414-C60E-4739-887E-35E8A3028C26}" type="slidenum">
              <a:rPr lang="zh-TW" altLang="en-US" smtClean="0"/>
              <a:t>‹#›</a:t>
            </a:fld>
            <a:endParaRPr lang="zh-TW" altLang="en-US"/>
          </a:p>
        </p:txBody>
      </p:sp>
    </p:spTree>
    <p:extLst>
      <p:ext uri="{BB962C8B-B14F-4D97-AF65-F5344CB8AC3E}">
        <p14:creationId xmlns:p14="http://schemas.microsoft.com/office/powerpoint/2010/main" val="2297392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484641-6954-4F40-BA9E-EA6F3A86F35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9C73DDCE-CA1F-454C-B755-A9B5D09F18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06F9260-D0E3-42D3-B0DE-347435D4FF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CEEA120-E22E-498C-B429-FE046197FBD9}"/>
              </a:ext>
            </a:extLst>
          </p:cNvPr>
          <p:cNvSpPr>
            <a:spLocks noGrp="1"/>
          </p:cNvSpPr>
          <p:nvPr>
            <p:ph type="dt" sz="half" idx="10"/>
          </p:nvPr>
        </p:nvSpPr>
        <p:spPr/>
        <p:txBody>
          <a:bodyPr/>
          <a:lstStyle/>
          <a:p>
            <a:fld id="{658A181B-F53D-40E4-9ED3-E49AF8549C8B}" type="datetimeFigureOut">
              <a:rPr lang="zh-TW" altLang="en-US" smtClean="0"/>
              <a:t>2021/3/9</a:t>
            </a:fld>
            <a:endParaRPr lang="zh-TW" altLang="en-US"/>
          </a:p>
        </p:txBody>
      </p:sp>
      <p:sp>
        <p:nvSpPr>
          <p:cNvPr id="6" name="頁尾版面配置區 5">
            <a:extLst>
              <a:ext uri="{FF2B5EF4-FFF2-40B4-BE49-F238E27FC236}">
                <a16:creationId xmlns:a16="http://schemas.microsoft.com/office/drawing/2014/main" id="{C786B410-7510-4A8A-89CD-87CDF53BA83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6CB3EF4-8464-424A-9DD4-5B1459C3775A}"/>
              </a:ext>
            </a:extLst>
          </p:cNvPr>
          <p:cNvSpPr>
            <a:spLocks noGrp="1"/>
          </p:cNvSpPr>
          <p:nvPr>
            <p:ph type="sldNum" sz="quarter" idx="12"/>
          </p:nvPr>
        </p:nvSpPr>
        <p:spPr/>
        <p:txBody>
          <a:bodyPr/>
          <a:lstStyle/>
          <a:p>
            <a:fld id="{CA77A414-C60E-4739-887E-35E8A3028C26}" type="slidenum">
              <a:rPr lang="zh-TW" altLang="en-US" smtClean="0"/>
              <a:t>‹#›</a:t>
            </a:fld>
            <a:endParaRPr lang="zh-TW" altLang="en-US"/>
          </a:p>
        </p:txBody>
      </p:sp>
    </p:spTree>
    <p:extLst>
      <p:ext uri="{BB962C8B-B14F-4D97-AF65-F5344CB8AC3E}">
        <p14:creationId xmlns:p14="http://schemas.microsoft.com/office/powerpoint/2010/main" val="2101770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983473-F23F-4D62-88D4-3F5C6FE15AA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681645D5-24EA-46C4-B637-411EB4471A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28AB4CD1-24D5-4BEB-9064-8FD2A3C2C7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943A464-EEBA-471C-981A-554644698055}"/>
              </a:ext>
            </a:extLst>
          </p:cNvPr>
          <p:cNvSpPr>
            <a:spLocks noGrp="1"/>
          </p:cNvSpPr>
          <p:nvPr>
            <p:ph type="dt" sz="half" idx="10"/>
          </p:nvPr>
        </p:nvSpPr>
        <p:spPr/>
        <p:txBody>
          <a:bodyPr/>
          <a:lstStyle/>
          <a:p>
            <a:fld id="{658A181B-F53D-40E4-9ED3-E49AF8549C8B}" type="datetimeFigureOut">
              <a:rPr lang="zh-TW" altLang="en-US" smtClean="0"/>
              <a:t>2021/3/9</a:t>
            </a:fld>
            <a:endParaRPr lang="zh-TW" altLang="en-US"/>
          </a:p>
        </p:txBody>
      </p:sp>
      <p:sp>
        <p:nvSpPr>
          <p:cNvPr id="6" name="頁尾版面配置區 5">
            <a:extLst>
              <a:ext uri="{FF2B5EF4-FFF2-40B4-BE49-F238E27FC236}">
                <a16:creationId xmlns:a16="http://schemas.microsoft.com/office/drawing/2014/main" id="{131F6769-FBA9-4CA9-BF75-B98BBD362C0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74BC441-A328-427D-87C2-47AB1C05CD8F}"/>
              </a:ext>
            </a:extLst>
          </p:cNvPr>
          <p:cNvSpPr>
            <a:spLocks noGrp="1"/>
          </p:cNvSpPr>
          <p:nvPr>
            <p:ph type="sldNum" sz="quarter" idx="12"/>
          </p:nvPr>
        </p:nvSpPr>
        <p:spPr/>
        <p:txBody>
          <a:bodyPr/>
          <a:lstStyle/>
          <a:p>
            <a:fld id="{CA77A414-C60E-4739-887E-35E8A3028C26}" type="slidenum">
              <a:rPr lang="zh-TW" altLang="en-US" smtClean="0"/>
              <a:t>‹#›</a:t>
            </a:fld>
            <a:endParaRPr lang="zh-TW" altLang="en-US"/>
          </a:p>
        </p:txBody>
      </p:sp>
    </p:spTree>
    <p:extLst>
      <p:ext uri="{BB962C8B-B14F-4D97-AF65-F5344CB8AC3E}">
        <p14:creationId xmlns:p14="http://schemas.microsoft.com/office/powerpoint/2010/main" val="3980379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ADA0EC-257A-4DBE-9706-A5228D79DF20}"/>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51E4A1E9-C5C0-4A08-ABAF-8C8C3A0E4616}"/>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3C651B2-999E-4803-ADA0-330E79E05C97}"/>
              </a:ext>
            </a:extLst>
          </p:cNvPr>
          <p:cNvSpPr>
            <a:spLocks noGrp="1"/>
          </p:cNvSpPr>
          <p:nvPr>
            <p:ph type="dt" sz="half" idx="10"/>
          </p:nvPr>
        </p:nvSpPr>
        <p:spPr/>
        <p:txBody>
          <a:bodyPr/>
          <a:lstStyle/>
          <a:p>
            <a:fld id="{658A181B-F53D-40E4-9ED3-E49AF8549C8B}" type="datetimeFigureOut">
              <a:rPr lang="zh-TW" altLang="en-US" smtClean="0"/>
              <a:t>2021/3/9</a:t>
            </a:fld>
            <a:endParaRPr lang="zh-TW" altLang="en-US"/>
          </a:p>
        </p:txBody>
      </p:sp>
      <p:sp>
        <p:nvSpPr>
          <p:cNvPr id="5" name="頁尾版面配置區 4">
            <a:extLst>
              <a:ext uri="{FF2B5EF4-FFF2-40B4-BE49-F238E27FC236}">
                <a16:creationId xmlns:a16="http://schemas.microsoft.com/office/drawing/2014/main" id="{19B7C7BC-23A3-488A-8E00-1250F42883C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F2F2057-FA5A-460B-B68B-88D033179CEE}"/>
              </a:ext>
            </a:extLst>
          </p:cNvPr>
          <p:cNvSpPr>
            <a:spLocks noGrp="1"/>
          </p:cNvSpPr>
          <p:nvPr>
            <p:ph type="sldNum" sz="quarter" idx="12"/>
          </p:nvPr>
        </p:nvSpPr>
        <p:spPr/>
        <p:txBody>
          <a:bodyPr/>
          <a:lstStyle/>
          <a:p>
            <a:fld id="{CA77A414-C60E-4739-887E-35E8A3028C26}" type="slidenum">
              <a:rPr lang="zh-TW" altLang="en-US" smtClean="0"/>
              <a:t>‹#›</a:t>
            </a:fld>
            <a:endParaRPr lang="zh-TW" altLang="en-US"/>
          </a:p>
        </p:txBody>
      </p:sp>
    </p:spTree>
    <p:extLst>
      <p:ext uri="{BB962C8B-B14F-4D97-AF65-F5344CB8AC3E}">
        <p14:creationId xmlns:p14="http://schemas.microsoft.com/office/powerpoint/2010/main" val="2806464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6BED546-32AC-4AEE-B2A5-F43F53E3867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B591F438-0D7A-43F4-A327-3069EB87607A}"/>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FA65EC-3E28-4590-9E13-4EB327D57EF5}"/>
              </a:ext>
            </a:extLst>
          </p:cNvPr>
          <p:cNvSpPr>
            <a:spLocks noGrp="1"/>
          </p:cNvSpPr>
          <p:nvPr>
            <p:ph type="dt" sz="half" idx="10"/>
          </p:nvPr>
        </p:nvSpPr>
        <p:spPr/>
        <p:txBody>
          <a:bodyPr/>
          <a:lstStyle/>
          <a:p>
            <a:fld id="{658A181B-F53D-40E4-9ED3-E49AF8549C8B}" type="datetimeFigureOut">
              <a:rPr lang="zh-TW" altLang="en-US" smtClean="0"/>
              <a:t>2021/3/9</a:t>
            </a:fld>
            <a:endParaRPr lang="zh-TW" altLang="en-US"/>
          </a:p>
        </p:txBody>
      </p:sp>
      <p:sp>
        <p:nvSpPr>
          <p:cNvPr id="5" name="頁尾版面配置區 4">
            <a:extLst>
              <a:ext uri="{FF2B5EF4-FFF2-40B4-BE49-F238E27FC236}">
                <a16:creationId xmlns:a16="http://schemas.microsoft.com/office/drawing/2014/main" id="{80F1077D-94C0-4156-8DD1-81FC61AE059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4C7EE17-10A1-4318-BC1F-CFF735FFC570}"/>
              </a:ext>
            </a:extLst>
          </p:cNvPr>
          <p:cNvSpPr>
            <a:spLocks noGrp="1"/>
          </p:cNvSpPr>
          <p:nvPr>
            <p:ph type="sldNum" sz="quarter" idx="12"/>
          </p:nvPr>
        </p:nvSpPr>
        <p:spPr/>
        <p:txBody>
          <a:bodyPr/>
          <a:lstStyle/>
          <a:p>
            <a:fld id="{CA77A414-C60E-4739-887E-35E8A3028C26}" type="slidenum">
              <a:rPr lang="zh-TW" altLang="en-US" smtClean="0"/>
              <a:t>‹#›</a:t>
            </a:fld>
            <a:endParaRPr lang="zh-TW" altLang="en-US"/>
          </a:p>
        </p:txBody>
      </p:sp>
    </p:spTree>
    <p:extLst>
      <p:ext uri="{BB962C8B-B14F-4D97-AF65-F5344CB8AC3E}">
        <p14:creationId xmlns:p14="http://schemas.microsoft.com/office/powerpoint/2010/main" val="3839422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6AD67D3B-D6BA-41A6-8D6F-178E3D2C98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endParaRPr lang="zh-TW" altLang="en-US" dirty="0"/>
          </a:p>
        </p:txBody>
      </p:sp>
      <p:sp>
        <p:nvSpPr>
          <p:cNvPr id="3" name="文字版面配置區 2">
            <a:extLst>
              <a:ext uri="{FF2B5EF4-FFF2-40B4-BE49-F238E27FC236}">
                <a16:creationId xmlns:a16="http://schemas.microsoft.com/office/drawing/2014/main" id="{BE205BB7-F9F9-4026-8D78-F6BD89911D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A44EDF8-3FE7-4B9D-A25C-27FF450992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8A181B-F53D-40E4-9ED3-E49AF8549C8B}" type="datetimeFigureOut">
              <a:rPr lang="zh-TW" altLang="en-US" smtClean="0"/>
              <a:t>2021/3/9</a:t>
            </a:fld>
            <a:endParaRPr lang="zh-TW" altLang="en-US"/>
          </a:p>
        </p:txBody>
      </p:sp>
      <p:sp>
        <p:nvSpPr>
          <p:cNvPr id="5" name="頁尾版面配置區 4">
            <a:extLst>
              <a:ext uri="{FF2B5EF4-FFF2-40B4-BE49-F238E27FC236}">
                <a16:creationId xmlns:a16="http://schemas.microsoft.com/office/drawing/2014/main" id="{D1CBCB84-D6E2-4493-9281-6B2B71AA91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123779CB-C73D-4413-8BA2-394E452EB0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77A414-C60E-4739-887E-35E8A3028C26}" type="slidenum">
              <a:rPr lang="zh-TW" altLang="en-US" smtClean="0"/>
              <a:t>‹#›</a:t>
            </a:fld>
            <a:endParaRPr lang="zh-TW" altLang="en-US"/>
          </a:p>
        </p:txBody>
      </p:sp>
    </p:spTree>
    <p:extLst>
      <p:ext uri="{BB962C8B-B14F-4D97-AF65-F5344CB8AC3E}">
        <p14:creationId xmlns:p14="http://schemas.microsoft.com/office/powerpoint/2010/main" val="2224330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901737-7F8D-47E5-ABA7-417BBF51A0B0}"/>
              </a:ext>
            </a:extLst>
          </p:cNvPr>
          <p:cNvSpPr>
            <a:spLocks noGrp="1"/>
          </p:cNvSpPr>
          <p:nvPr>
            <p:ph type="ctrTitle"/>
          </p:nvPr>
        </p:nvSpPr>
        <p:spPr>
          <a:xfrm>
            <a:off x="484094" y="406400"/>
            <a:ext cx="10762129" cy="2387600"/>
          </a:xfrm>
        </p:spPr>
        <p:txBody>
          <a:bodyPr>
            <a:normAutofit fontScale="90000"/>
          </a:bodyPr>
          <a:lstStyle/>
          <a:p>
            <a:r>
              <a:rPr lang="en-US" altLang="zh-TW" dirty="0"/>
              <a:t>The Experiential Heterogeneous Earliest Finish Time Algorithm for Task Scheduling in Clouds </a:t>
            </a:r>
            <a:endParaRPr lang="zh-TW" altLang="en-US" dirty="0"/>
          </a:p>
        </p:txBody>
      </p:sp>
      <p:sp>
        <p:nvSpPr>
          <p:cNvPr id="3" name="副標題 2">
            <a:extLst>
              <a:ext uri="{FF2B5EF4-FFF2-40B4-BE49-F238E27FC236}">
                <a16:creationId xmlns:a16="http://schemas.microsoft.com/office/drawing/2014/main" id="{651097C8-44A8-498C-A1FE-58E473CD4C57}"/>
              </a:ext>
            </a:extLst>
          </p:cNvPr>
          <p:cNvSpPr>
            <a:spLocks noGrp="1"/>
          </p:cNvSpPr>
          <p:nvPr>
            <p:ph type="subTitle" idx="1"/>
          </p:nvPr>
        </p:nvSpPr>
        <p:spPr>
          <a:xfrm>
            <a:off x="1524000" y="2955707"/>
            <a:ext cx="9144000" cy="1655762"/>
          </a:xfrm>
        </p:spPr>
        <p:txBody>
          <a:bodyPr/>
          <a:lstStyle/>
          <a:p>
            <a:r>
              <a:rPr lang="en-US" altLang="zh-TW" dirty="0" err="1"/>
              <a:t>Artan</a:t>
            </a:r>
            <a:r>
              <a:rPr lang="en-US" altLang="zh-TW" dirty="0"/>
              <a:t> </a:t>
            </a:r>
            <a:r>
              <a:rPr lang="en-US" altLang="zh-TW" dirty="0" err="1"/>
              <a:t>Mazrekaj</a:t>
            </a:r>
            <a:r>
              <a:rPr lang="en-US" altLang="zh-TW" dirty="0"/>
              <a:t>, Arlinda </a:t>
            </a:r>
            <a:r>
              <a:rPr lang="en-US" altLang="zh-TW" dirty="0" err="1"/>
              <a:t>Sheholli</a:t>
            </a:r>
            <a:r>
              <a:rPr lang="en-US" altLang="zh-TW" dirty="0"/>
              <a:t>, Dorian </a:t>
            </a:r>
            <a:r>
              <a:rPr lang="en-US" altLang="zh-TW" dirty="0" err="1"/>
              <a:t>Minarolli</a:t>
            </a:r>
            <a:r>
              <a:rPr lang="en-US" altLang="zh-TW" dirty="0"/>
              <a:t>, Bernd </a:t>
            </a:r>
            <a:r>
              <a:rPr lang="en-US" altLang="zh-TW" dirty="0" err="1"/>
              <a:t>Freisleben</a:t>
            </a:r>
            <a:r>
              <a:rPr lang="en-US" altLang="zh-TW" dirty="0"/>
              <a:t> Faculty of </a:t>
            </a:r>
            <a:r>
              <a:rPr lang="en-US" altLang="zh-TW" dirty="0" err="1"/>
              <a:t>Contemporay</a:t>
            </a:r>
            <a:r>
              <a:rPr lang="en-US" altLang="zh-TW" dirty="0"/>
              <a:t> Sciences and Technologies, SEEU University, Tetovo, Republic of North Macedonia</a:t>
            </a:r>
            <a:endParaRPr lang="zh-TW" altLang="en-US" dirty="0"/>
          </a:p>
          <a:p>
            <a:endParaRPr lang="zh-TW" altLang="en-US" dirty="0"/>
          </a:p>
        </p:txBody>
      </p:sp>
      <p:sp>
        <p:nvSpPr>
          <p:cNvPr id="4" name="文字方塊 3">
            <a:extLst>
              <a:ext uri="{FF2B5EF4-FFF2-40B4-BE49-F238E27FC236}">
                <a16:creationId xmlns:a16="http://schemas.microsoft.com/office/drawing/2014/main" id="{46767822-9E52-497A-939D-0AFA183EF8BC}"/>
              </a:ext>
            </a:extLst>
          </p:cNvPr>
          <p:cNvSpPr txBox="1"/>
          <p:nvPr/>
        </p:nvSpPr>
        <p:spPr>
          <a:xfrm>
            <a:off x="8567225" y="4994031"/>
            <a:ext cx="3474720" cy="1200329"/>
          </a:xfrm>
          <a:prstGeom prst="rect">
            <a:avLst/>
          </a:prstGeom>
          <a:noFill/>
        </p:spPr>
        <p:txBody>
          <a:bodyPr wrap="square" rtlCol="0">
            <a:spAutoFit/>
          </a:bodyPr>
          <a:lstStyle/>
          <a:p>
            <a:r>
              <a:rPr lang="en-US" altLang="zh-TW" dirty="0" err="1">
                <a:latin typeface="Times New Roman" panose="02020603050405020304" pitchFamily="18" charset="0"/>
                <a:cs typeface="Times New Roman" panose="02020603050405020304" pitchFamily="18" charset="0"/>
              </a:rPr>
              <a:t>Persenter</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Jue</a:t>
            </a:r>
            <a:r>
              <a:rPr lang="en-US" altLang="zh-TW" dirty="0">
                <a:latin typeface="Times New Roman" panose="02020603050405020304" pitchFamily="18" charset="0"/>
                <a:cs typeface="Times New Roman" panose="02020603050405020304" pitchFamily="18" charset="0"/>
              </a:rPr>
              <a:t>-Jun Wu</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Date :  Mar. 9</a:t>
            </a:r>
            <a:r>
              <a:rPr lang="en-US" altLang="zh-TW" baseline="30000" dirty="0">
                <a:latin typeface="Times New Roman" panose="02020603050405020304" pitchFamily="18" charset="0"/>
                <a:cs typeface="Times New Roman" panose="02020603050405020304" pitchFamily="18" charset="0"/>
              </a:rPr>
              <a:t>th</a:t>
            </a:r>
            <a:r>
              <a:rPr lang="en-US" altLang="zh-TW" dirty="0">
                <a:latin typeface="Times New Roman" panose="02020603050405020304" pitchFamily="18" charset="0"/>
                <a:cs typeface="Times New Roman" panose="02020603050405020304" pitchFamily="18" charset="0"/>
              </a:rPr>
              <a:t> , 2021</a:t>
            </a:r>
            <a:endParaRPr lang="zh-TW" altLang="en-US" dirty="0">
              <a:latin typeface="Times New Roman" panose="02020603050405020304" pitchFamily="18" charset="0"/>
              <a:cs typeface="Times New Roman" panose="02020603050405020304" pitchFamily="18" charset="0"/>
            </a:endParaRPr>
          </a:p>
          <a:p>
            <a:endParaRPr lang="zh-TW" altLang="en-US" dirty="0"/>
          </a:p>
        </p:txBody>
      </p:sp>
      <p:sp>
        <p:nvSpPr>
          <p:cNvPr id="5" name="文字方塊 4">
            <a:extLst>
              <a:ext uri="{FF2B5EF4-FFF2-40B4-BE49-F238E27FC236}">
                <a16:creationId xmlns:a16="http://schemas.microsoft.com/office/drawing/2014/main" id="{6AF9FC16-1F6A-4EEE-B908-AFF4C3218BB4}"/>
              </a:ext>
            </a:extLst>
          </p:cNvPr>
          <p:cNvSpPr txBox="1"/>
          <p:nvPr/>
        </p:nvSpPr>
        <p:spPr>
          <a:xfrm>
            <a:off x="1099931" y="4320908"/>
            <a:ext cx="10806758" cy="369332"/>
          </a:xfrm>
          <a:prstGeom prst="rect">
            <a:avLst/>
          </a:prstGeom>
          <a:noFill/>
        </p:spPr>
        <p:txBody>
          <a:bodyPr wrap="square" rtlCol="0">
            <a:spAutoFit/>
          </a:bodyPr>
          <a:lstStyle/>
          <a:p>
            <a:r>
              <a:rPr lang="en-US" altLang="zh-TW" dirty="0"/>
              <a:t>9th International Conference on Cloud Computing and Services Science (CLOSER 2019), pages 371-379</a:t>
            </a:r>
            <a:endParaRPr lang="zh-TW" altLang="en-US" dirty="0"/>
          </a:p>
        </p:txBody>
      </p:sp>
    </p:spTree>
    <p:extLst>
      <p:ext uri="{BB962C8B-B14F-4D97-AF65-F5344CB8AC3E}">
        <p14:creationId xmlns:p14="http://schemas.microsoft.com/office/powerpoint/2010/main" val="109521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5BF4CA-8340-44DC-9B11-BD9FB89B355C}"/>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F6CF6781-9ACC-4F67-ADC8-12ED20DD823F}"/>
              </a:ext>
            </a:extLst>
          </p:cNvPr>
          <p:cNvSpPr>
            <a:spLocks noGrp="1"/>
          </p:cNvSpPr>
          <p:nvPr>
            <p:ph idx="1"/>
          </p:nvPr>
        </p:nvSpPr>
        <p:spPr>
          <a:xfrm>
            <a:off x="397566" y="1465401"/>
            <a:ext cx="11264348" cy="5493026"/>
          </a:xfrm>
        </p:spPr>
        <p:txBody>
          <a:bodyPr>
            <a:normAutofit lnSpcReduction="10000"/>
          </a:bodyPr>
          <a:lstStyle/>
          <a:p>
            <a:pPr marL="0" indent="0">
              <a:buNone/>
            </a:pPr>
            <a:r>
              <a:rPr lang="en-US" altLang="zh-TW" dirty="0"/>
              <a:t>	Task scheduling in cloud environments is the problem of assigning and executing computational tasks on the available cloud resources. Effective task scheduling approaches reduce the task completion time, increase the efficiency of resource utilization, and improve the quality of service and the overall performance of the system. In this paper, we present a novel task scheduling algorithm for cloud environments based on the Heterogeneous Earliest Finish Time (HEFT) algorithm, called experiential HEFT. </a:t>
            </a:r>
          </a:p>
          <a:p>
            <a:pPr marL="0" indent="0">
              <a:buNone/>
            </a:pPr>
            <a:r>
              <a:rPr lang="en-US" altLang="zh-TW" dirty="0"/>
              <a:t>	It considers experiences with previous executions of tasks to determine the workload of resources. To realize the experiential HEFT algorithm, we propose a novel way of HEFT rank calculation to specify the minimum average execution time of previous runs of a task on all relevant resources. Experimental results indicate that the proposed experiential HEFT algorithm performs better than HEFT and the popular Critical-Path-on-a-Processor (CPOP) algorithm considered in our comparison.</a:t>
            </a:r>
            <a:endParaRPr lang="zh-TW" altLang="en-US" dirty="0"/>
          </a:p>
          <a:p>
            <a:endParaRPr lang="zh-TW" altLang="en-US" dirty="0"/>
          </a:p>
        </p:txBody>
      </p:sp>
    </p:spTree>
    <p:extLst>
      <p:ext uri="{BB962C8B-B14F-4D97-AF65-F5344CB8AC3E}">
        <p14:creationId xmlns:p14="http://schemas.microsoft.com/office/powerpoint/2010/main" val="114793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D02CF2-9515-4502-B4DD-0F1EE304222D}"/>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2CEA6AE1-8663-4D6F-808B-5F353C516476}"/>
              </a:ext>
            </a:extLst>
          </p:cNvPr>
          <p:cNvSpPr>
            <a:spLocks noGrp="1"/>
          </p:cNvSpPr>
          <p:nvPr>
            <p:ph idx="1"/>
          </p:nvPr>
        </p:nvSpPr>
        <p:spPr/>
        <p:txBody>
          <a:bodyPr/>
          <a:lstStyle/>
          <a:p>
            <a:r>
              <a:rPr lang="en-US" altLang="zh-TW" dirty="0"/>
              <a:t>Heterogeneous Earliest Finish Time (HEFT) algorithm</a:t>
            </a:r>
          </a:p>
          <a:p>
            <a:r>
              <a:rPr lang="en-US" altLang="zh-TW" dirty="0"/>
              <a:t>Critical-Path-on-a-Processor (CPOP) algorithm</a:t>
            </a:r>
          </a:p>
          <a:p>
            <a:r>
              <a:rPr lang="en-US" altLang="zh-TW" dirty="0"/>
              <a:t>Experiential HEFT</a:t>
            </a:r>
          </a:p>
          <a:p>
            <a:r>
              <a:rPr lang="en-US" altLang="zh-TW" dirty="0" err="1"/>
              <a:t>Experimential</a:t>
            </a:r>
            <a:r>
              <a:rPr lang="en-US" altLang="zh-TW" dirty="0"/>
              <a:t> Results</a:t>
            </a:r>
          </a:p>
          <a:p>
            <a:r>
              <a:rPr lang="en-US" altLang="zh-TW" dirty="0"/>
              <a:t>Conclusion</a:t>
            </a:r>
            <a:endParaRPr lang="zh-TW" altLang="en-US" dirty="0"/>
          </a:p>
        </p:txBody>
      </p:sp>
    </p:spTree>
    <p:extLst>
      <p:ext uri="{BB962C8B-B14F-4D97-AF65-F5344CB8AC3E}">
        <p14:creationId xmlns:p14="http://schemas.microsoft.com/office/powerpoint/2010/main" val="2904894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2B8238-483C-4273-97FC-6920DCA9D6AB}"/>
              </a:ext>
            </a:extLst>
          </p:cNvPr>
          <p:cNvSpPr>
            <a:spLocks noGrp="1"/>
          </p:cNvSpPr>
          <p:nvPr>
            <p:ph type="title"/>
          </p:nvPr>
        </p:nvSpPr>
        <p:spPr/>
        <p:txBody>
          <a:bodyPr/>
          <a:lstStyle/>
          <a:p>
            <a:r>
              <a:rPr lang="en-US" altLang="zh-TW" dirty="0"/>
              <a:t>HEFT</a:t>
            </a:r>
            <a:endParaRPr lang="zh-TW" altLang="en-US" dirty="0"/>
          </a:p>
        </p:txBody>
      </p:sp>
      <p:pic>
        <p:nvPicPr>
          <p:cNvPr id="18" name="圖片 17" descr="一張含有 文字, 裝置, 收據 的圖片&#10;&#10;自動產生的描述">
            <a:extLst>
              <a:ext uri="{FF2B5EF4-FFF2-40B4-BE49-F238E27FC236}">
                <a16:creationId xmlns:a16="http://schemas.microsoft.com/office/drawing/2014/main" id="{7D101182-6E4E-4D08-BD6A-1A916E3CEB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4048" y="3429000"/>
            <a:ext cx="3057952" cy="3515216"/>
          </a:xfrm>
          <a:prstGeom prst="rect">
            <a:avLst/>
          </a:prstGeom>
        </p:spPr>
      </p:pic>
      <p:graphicFrame>
        <p:nvGraphicFramePr>
          <p:cNvPr id="20" name="表格 20">
            <a:extLst>
              <a:ext uri="{FF2B5EF4-FFF2-40B4-BE49-F238E27FC236}">
                <a16:creationId xmlns:a16="http://schemas.microsoft.com/office/drawing/2014/main" id="{78466628-B1A8-4EA8-A3B9-AC271F048177}"/>
              </a:ext>
            </a:extLst>
          </p:cNvPr>
          <p:cNvGraphicFramePr>
            <a:graphicFrameLocks noGrp="1"/>
          </p:cNvGraphicFramePr>
          <p:nvPr>
            <p:extLst>
              <p:ext uri="{D42A27DB-BD31-4B8C-83A1-F6EECF244321}">
                <p14:modId xmlns:p14="http://schemas.microsoft.com/office/powerpoint/2010/main" val="2461262601"/>
              </p:ext>
            </p:extLst>
          </p:nvPr>
        </p:nvGraphicFramePr>
        <p:xfrm>
          <a:off x="571499" y="1898337"/>
          <a:ext cx="1467315" cy="4405809"/>
        </p:xfrm>
        <a:graphic>
          <a:graphicData uri="http://schemas.openxmlformats.org/drawingml/2006/table">
            <a:tbl>
              <a:tblPr firstRow="1" bandRow="1">
                <a:tableStyleId>{5C22544A-7EE6-4342-B048-85BDC9FD1C3A}</a:tableStyleId>
              </a:tblPr>
              <a:tblGrid>
                <a:gridCol w="729560">
                  <a:extLst>
                    <a:ext uri="{9D8B030D-6E8A-4147-A177-3AD203B41FA5}">
                      <a16:colId xmlns:a16="http://schemas.microsoft.com/office/drawing/2014/main" val="1708107604"/>
                    </a:ext>
                  </a:extLst>
                </a:gridCol>
                <a:gridCol w="737755">
                  <a:extLst>
                    <a:ext uri="{9D8B030D-6E8A-4147-A177-3AD203B41FA5}">
                      <a16:colId xmlns:a16="http://schemas.microsoft.com/office/drawing/2014/main" val="4051893694"/>
                    </a:ext>
                  </a:extLst>
                </a:gridCol>
              </a:tblGrid>
              <a:tr h="158111">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472647">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472647">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472647">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472647">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472647">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282971">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282971">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472647">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472647">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pic>
        <p:nvPicPr>
          <p:cNvPr id="5" name="內容版面配置區 4">
            <a:extLst>
              <a:ext uri="{FF2B5EF4-FFF2-40B4-BE49-F238E27FC236}">
                <a16:creationId xmlns:a16="http://schemas.microsoft.com/office/drawing/2014/main" id="{28476934-5581-4332-8E86-BD456F563F42}"/>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7767083" y="-117500"/>
            <a:ext cx="4553702" cy="4031673"/>
          </a:xfrm>
        </p:spPr>
      </p:pic>
    </p:spTree>
    <p:extLst>
      <p:ext uri="{BB962C8B-B14F-4D97-AF65-F5344CB8AC3E}">
        <p14:creationId xmlns:p14="http://schemas.microsoft.com/office/powerpoint/2010/main" val="3195016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2B8238-483C-4273-97FC-6920DCA9D6AB}"/>
              </a:ext>
            </a:extLst>
          </p:cNvPr>
          <p:cNvSpPr>
            <a:spLocks noGrp="1"/>
          </p:cNvSpPr>
          <p:nvPr>
            <p:ph type="title"/>
          </p:nvPr>
        </p:nvSpPr>
        <p:spPr/>
        <p:txBody>
          <a:bodyPr/>
          <a:lstStyle/>
          <a:p>
            <a:r>
              <a:rPr lang="en-US" altLang="zh-TW" dirty="0"/>
              <a:t>HEFT</a:t>
            </a:r>
            <a:endParaRPr lang="zh-TW" altLang="en-US" dirty="0"/>
          </a:p>
        </p:txBody>
      </p:sp>
      <p:pic>
        <p:nvPicPr>
          <p:cNvPr id="18" name="圖片 17" descr="一張含有 文字, 裝置, 收據 的圖片&#10;&#10;自動產生的描述">
            <a:extLst>
              <a:ext uri="{FF2B5EF4-FFF2-40B4-BE49-F238E27FC236}">
                <a16:creationId xmlns:a16="http://schemas.microsoft.com/office/drawing/2014/main" id="{7D101182-6E4E-4D08-BD6A-1A916E3CEB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4048" y="3444558"/>
            <a:ext cx="3057952" cy="3515216"/>
          </a:xfrm>
          <a:prstGeom prst="rect">
            <a:avLst/>
          </a:prstGeom>
        </p:spPr>
      </p:pic>
      <p:graphicFrame>
        <p:nvGraphicFramePr>
          <p:cNvPr id="20" name="表格 20">
            <a:extLst>
              <a:ext uri="{FF2B5EF4-FFF2-40B4-BE49-F238E27FC236}">
                <a16:creationId xmlns:a16="http://schemas.microsoft.com/office/drawing/2014/main" id="{78466628-B1A8-4EA8-A3B9-AC271F048177}"/>
              </a:ext>
            </a:extLst>
          </p:cNvPr>
          <p:cNvGraphicFramePr>
            <a:graphicFrameLocks noGrp="1"/>
          </p:cNvGraphicFramePr>
          <p:nvPr>
            <p:extLst>
              <p:ext uri="{D42A27DB-BD31-4B8C-83A1-F6EECF244321}">
                <p14:modId xmlns:p14="http://schemas.microsoft.com/office/powerpoint/2010/main" val="2908773689"/>
              </p:ext>
            </p:extLst>
          </p:nvPr>
        </p:nvGraphicFramePr>
        <p:xfrm>
          <a:off x="301336" y="1236518"/>
          <a:ext cx="8084127" cy="5413663"/>
        </p:xfrm>
        <a:graphic>
          <a:graphicData uri="http://schemas.openxmlformats.org/drawingml/2006/table">
            <a:tbl>
              <a:tblPr firstRow="1" bandRow="1">
                <a:tableStyleId>{5C22544A-7EE6-4342-B048-85BDC9FD1C3A}</a:tableStyleId>
              </a:tblPr>
              <a:tblGrid>
                <a:gridCol w="562962">
                  <a:extLst>
                    <a:ext uri="{9D8B030D-6E8A-4147-A177-3AD203B41FA5}">
                      <a16:colId xmlns:a16="http://schemas.microsoft.com/office/drawing/2014/main" val="1708107604"/>
                    </a:ext>
                  </a:extLst>
                </a:gridCol>
                <a:gridCol w="720591">
                  <a:extLst>
                    <a:ext uri="{9D8B030D-6E8A-4147-A177-3AD203B41FA5}">
                      <a16:colId xmlns:a16="http://schemas.microsoft.com/office/drawing/2014/main" val="4051893694"/>
                    </a:ext>
                  </a:extLst>
                </a:gridCol>
                <a:gridCol w="6800574">
                  <a:extLst>
                    <a:ext uri="{9D8B030D-6E8A-4147-A177-3AD203B41FA5}">
                      <a16:colId xmlns:a16="http://schemas.microsoft.com/office/drawing/2014/main" val="96082981"/>
                    </a:ext>
                  </a:extLst>
                </a:gridCol>
              </a:tblGrid>
              <a:tr h="449429">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580768">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80768">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580768">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580768">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80768">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449429">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449429">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580768">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580768">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0+14.6+0=14.6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pic>
        <p:nvPicPr>
          <p:cNvPr id="5" name="內容版面配置區 4">
            <a:extLst>
              <a:ext uri="{FF2B5EF4-FFF2-40B4-BE49-F238E27FC236}">
                <a16:creationId xmlns:a16="http://schemas.microsoft.com/office/drawing/2014/main" id="{28476934-5581-4332-8E86-BD456F563F42}"/>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7798256" y="0"/>
            <a:ext cx="4553702" cy="4031673"/>
          </a:xfrm>
        </p:spPr>
      </p:pic>
      <p:sp>
        <p:nvSpPr>
          <p:cNvPr id="3" name="橢圓 2">
            <a:extLst>
              <a:ext uri="{FF2B5EF4-FFF2-40B4-BE49-F238E27FC236}">
                <a16:creationId xmlns:a16="http://schemas.microsoft.com/office/drawing/2014/main" id="{6F1D5F0B-E23E-41A0-820B-F1D1E5D8D4E1}"/>
              </a:ext>
            </a:extLst>
          </p:cNvPr>
          <p:cNvSpPr/>
          <p:nvPr/>
        </p:nvSpPr>
        <p:spPr>
          <a:xfrm>
            <a:off x="914400" y="6120245"/>
            <a:ext cx="540328" cy="351848"/>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a:extLst>
              <a:ext uri="{FF2B5EF4-FFF2-40B4-BE49-F238E27FC236}">
                <a16:creationId xmlns:a16="http://schemas.microsoft.com/office/drawing/2014/main" id="{C97DC76C-4222-430B-A77C-B083F1CF4EB5}"/>
              </a:ext>
            </a:extLst>
          </p:cNvPr>
          <p:cNvSpPr/>
          <p:nvPr/>
        </p:nvSpPr>
        <p:spPr>
          <a:xfrm>
            <a:off x="1797628" y="6099463"/>
            <a:ext cx="540328" cy="351848"/>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169938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2B8238-483C-4273-97FC-6920DCA9D6AB}"/>
              </a:ext>
            </a:extLst>
          </p:cNvPr>
          <p:cNvSpPr>
            <a:spLocks noGrp="1"/>
          </p:cNvSpPr>
          <p:nvPr>
            <p:ph type="title"/>
          </p:nvPr>
        </p:nvSpPr>
        <p:spPr/>
        <p:txBody>
          <a:bodyPr/>
          <a:lstStyle/>
          <a:p>
            <a:r>
              <a:rPr lang="en-US" altLang="zh-TW" dirty="0"/>
              <a:t>HEFT</a:t>
            </a:r>
            <a:endParaRPr lang="zh-TW" altLang="en-US" dirty="0"/>
          </a:p>
        </p:txBody>
      </p:sp>
      <p:pic>
        <p:nvPicPr>
          <p:cNvPr id="18" name="圖片 17" descr="一張含有 文字, 裝置, 收據 的圖片&#10;&#10;自動產生的描述">
            <a:extLst>
              <a:ext uri="{FF2B5EF4-FFF2-40B4-BE49-F238E27FC236}">
                <a16:creationId xmlns:a16="http://schemas.microsoft.com/office/drawing/2014/main" id="{7D101182-6E4E-4D08-BD6A-1A916E3CEB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4048" y="3444558"/>
            <a:ext cx="3057952" cy="3515216"/>
          </a:xfrm>
          <a:prstGeom prst="rect">
            <a:avLst/>
          </a:prstGeom>
        </p:spPr>
      </p:pic>
      <p:graphicFrame>
        <p:nvGraphicFramePr>
          <p:cNvPr id="20" name="表格 20">
            <a:extLst>
              <a:ext uri="{FF2B5EF4-FFF2-40B4-BE49-F238E27FC236}">
                <a16:creationId xmlns:a16="http://schemas.microsoft.com/office/drawing/2014/main" id="{78466628-B1A8-4EA8-A3B9-AC271F048177}"/>
              </a:ext>
            </a:extLst>
          </p:cNvPr>
          <p:cNvGraphicFramePr>
            <a:graphicFrameLocks noGrp="1"/>
          </p:cNvGraphicFramePr>
          <p:nvPr>
            <p:extLst>
              <p:ext uri="{D42A27DB-BD31-4B8C-83A1-F6EECF244321}">
                <p14:modId xmlns:p14="http://schemas.microsoft.com/office/powerpoint/2010/main" val="149547201"/>
              </p:ext>
            </p:extLst>
          </p:nvPr>
        </p:nvGraphicFramePr>
        <p:xfrm>
          <a:off x="301336" y="1236518"/>
          <a:ext cx="8084127" cy="5413663"/>
        </p:xfrm>
        <a:graphic>
          <a:graphicData uri="http://schemas.openxmlformats.org/drawingml/2006/table">
            <a:tbl>
              <a:tblPr firstRow="1" bandRow="1">
                <a:tableStyleId>{5C22544A-7EE6-4342-B048-85BDC9FD1C3A}</a:tableStyleId>
              </a:tblPr>
              <a:tblGrid>
                <a:gridCol w="562962">
                  <a:extLst>
                    <a:ext uri="{9D8B030D-6E8A-4147-A177-3AD203B41FA5}">
                      <a16:colId xmlns:a16="http://schemas.microsoft.com/office/drawing/2014/main" val="1708107604"/>
                    </a:ext>
                  </a:extLst>
                </a:gridCol>
                <a:gridCol w="720591">
                  <a:extLst>
                    <a:ext uri="{9D8B030D-6E8A-4147-A177-3AD203B41FA5}">
                      <a16:colId xmlns:a16="http://schemas.microsoft.com/office/drawing/2014/main" val="4051893694"/>
                    </a:ext>
                  </a:extLst>
                </a:gridCol>
                <a:gridCol w="6800574">
                  <a:extLst>
                    <a:ext uri="{9D8B030D-6E8A-4147-A177-3AD203B41FA5}">
                      <a16:colId xmlns:a16="http://schemas.microsoft.com/office/drawing/2014/main" val="96082981"/>
                    </a:ext>
                  </a:extLst>
                </a:gridCol>
              </a:tblGrid>
              <a:tr h="449429">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580768">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80768">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580768">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580768">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80768">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449429">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449429">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580768">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13+16.6+14.6=44.2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580768">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0+14.6+0=14.6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pic>
        <p:nvPicPr>
          <p:cNvPr id="5" name="內容版面配置區 4">
            <a:extLst>
              <a:ext uri="{FF2B5EF4-FFF2-40B4-BE49-F238E27FC236}">
                <a16:creationId xmlns:a16="http://schemas.microsoft.com/office/drawing/2014/main" id="{28476934-5581-4332-8E86-BD456F563F42}"/>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7798256" y="0"/>
            <a:ext cx="4553702" cy="4031673"/>
          </a:xfrm>
        </p:spPr>
      </p:pic>
      <p:sp>
        <p:nvSpPr>
          <p:cNvPr id="3" name="橢圓 2">
            <a:extLst>
              <a:ext uri="{FF2B5EF4-FFF2-40B4-BE49-F238E27FC236}">
                <a16:creationId xmlns:a16="http://schemas.microsoft.com/office/drawing/2014/main" id="{6F1D5F0B-E23E-41A0-820B-F1D1E5D8D4E1}"/>
              </a:ext>
            </a:extLst>
          </p:cNvPr>
          <p:cNvSpPr/>
          <p:nvPr/>
        </p:nvSpPr>
        <p:spPr>
          <a:xfrm>
            <a:off x="943716" y="5507181"/>
            <a:ext cx="540328" cy="351848"/>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a:extLst>
              <a:ext uri="{FF2B5EF4-FFF2-40B4-BE49-F238E27FC236}">
                <a16:creationId xmlns:a16="http://schemas.microsoft.com/office/drawing/2014/main" id="{C97DC76C-4222-430B-A77C-B083F1CF4EB5}"/>
              </a:ext>
            </a:extLst>
          </p:cNvPr>
          <p:cNvSpPr/>
          <p:nvPr/>
        </p:nvSpPr>
        <p:spPr>
          <a:xfrm>
            <a:off x="1962465" y="5538354"/>
            <a:ext cx="540328" cy="351848"/>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 name="直線單箭頭接點 5">
            <a:extLst>
              <a:ext uri="{FF2B5EF4-FFF2-40B4-BE49-F238E27FC236}">
                <a16:creationId xmlns:a16="http://schemas.microsoft.com/office/drawing/2014/main" id="{8773468C-F06E-42A9-8F46-E66A31DB41D8}"/>
              </a:ext>
            </a:extLst>
          </p:cNvPr>
          <p:cNvCxnSpPr>
            <a:cxnSpLocks/>
          </p:cNvCxnSpPr>
          <p:nvPr/>
        </p:nvCxnSpPr>
        <p:spPr>
          <a:xfrm flipH="1" flipV="1">
            <a:off x="2797658" y="5733617"/>
            <a:ext cx="158854" cy="3131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54A05E0E-2893-4A96-87D1-8C641CE1907F}"/>
              </a:ext>
            </a:extLst>
          </p:cNvPr>
          <p:cNvCxnSpPr/>
          <p:nvPr/>
        </p:nvCxnSpPr>
        <p:spPr>
          <a:xfrm flipH="1">
            <a:off x="1776845" y="3096491"/>
            <a:ext cx="8886179" cy="2441863"/>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3117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2B8238-483C-4273-97FC-6920DCA9D6AB}"/>
              </a:ext>
            </a:extLst>
          </p:cNvPr>
          <p:cNvSpPr>
            <a:spLocks noGrp="1"/>
          </p:cNvSpPr>
          <p:nvPr>
            <p:ph type="title"/>
          </p:nvPr>
        </p:nvSpPr>
        <p:spPr/>
        <p:txBody>
          <a:bodyPr/>
          <a:lstStyle/>
          <a:p>
            <a:r>
              <a:rPr lang="en-US" altLang="zh-TW" dirty="0"/>
              <a:t>HEFT</a:t>
            </a:r>
            <a:endParaRPr lang="zh-TW" altLang="en-US" dirty="0"/>
          </a:p>
        </p:txBody>
      </p:sp>
      <p:pic>
        <p:nvPicPr>
          <p:cNvPr id="18" name="圖片 17" descr="一張含有 文字, 裝置, 收據 的圖片&#10;&#10;自動產生的描述">
            <a:extLst>
              <a:ext uri="{FF2B5EF4-FFF2-40B4-BE49-F238E27FC236}">
                <a16:creationId xmlns:a16="http://schemas.microsoft.com/office/drawing/2014/main" id="{7D101182-6E4E-4D08-BD6A-1A916E3CEB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4048" y="3444558"/>
            <a:ext cx="3057952" cy="3515216"/>
          </a:xfrm>
          <a:prstGeom prst="rect">
            <a:avLst/>
          </a:prstGeom>
        </p:spPr>
      </p:pic>
      <p:graphicFrame>
        <p:nvGraphicFramePr>
          <p:cNvPr id="20" name="表格 20">
            <a:extLst>
              <a:ext uri="{FF2B5EF4-FFF2-40B4-BE49-F238E27FC236}">
                <a16:creationId xmlns:a16="http://schemas.microsoft.com/office/drawing/2014/main" id="{78466628-B1A8-4EA8-A3B9-AC271F048177}"/>
              </a:ext>
            </a:extLst>
          </p:cNvPr>
          <p:cNvGraphicFramePr>
            <a:graphicFrameLocks noGrp="1"/>
          </p:cNvGraphicFramePr>
          <p:nvPr>
            <p:extLst>
              <p:ext uri="{D42A27DB-BD31-4B8C-83A1-F6EECF244321}">
                <p14:modId xmlns:p14="http://schemas.microsoft.com/office/powerpoint/2010/main" val="1753404417"/>
              </p:ext>
            </p:extLst>
          </p:nvPr>
        </p:nvGraphicFramePr>
        <p:xfrm>
          <a:off x="301336" y="1236518"/>
          <a:ext cx="8084127" cy="5413663"/>
        </p:xfrm>
        <a:graphic>
          <a:graphicData uri="http://schemas.openxmlformats.org/drawingml/2006/table">
            <a:tbl>
              <a:tblPr firstRow="1" bandRow="1">
                <a:tableStyleId>{5C22544A-7EE6-4342-B048-85BDC9FD1C3A}</a:tableStyleId>
              </a:tblPr>
              <a:tblGrid>
                <a:gridCol w="562962">
                  <a:extLst>
                    <a:ext uri="{9D8B030D-6E8A-4147-A177-3AD203B41FA5}">
                      <a16:colId xmlns:a16="http://schemas.microsoft.com/office/drawing/2014/main" val="1708107604"/>
                    </a:ext>
                  </a:extLst>
                </a:gridCol>
                <a:gridCol w="720591">
                  <a:extLst>
                    <a:ext uri="{9D8B030D-6E8A-4147-A177-3AD203B41FA5}">
                      <a16:colId xmlns:a16="http://schemas.microsoft.com/office/drawing/2014/main" val="4051893694"/>
                    </a:ext>
                  </a:extLst>
                </a:gridCol>
                <a:gridCol w="6800574">
                  <a:extLst>
                    <a:ext uri="{9D8B030D-6E8A-4147-A177-3AD203B41FA5}">
                      <a16:colId xmlns:a16="http://schemas.microsoft.com/office/drawing/2014/main" val="96082981"/>
                    </a:ext>
                  </a:extLst>
                </a:gridCol>
              </a:tblGrid>
              <a:tr h="449429">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580768">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80768">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580768">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580768">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80768">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449429">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17+11+14.6=42.6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449429">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11+10+14.6=35.6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580768">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13+16.6+14.6=44.2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580768">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0+14.6+0=14.6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pic>
        <p:nvPicPr>
          <p:cNvPr id="5" name="內容版面配置區 4">
            <a:extLst>
              <a:ext uri="{FF2B5EF4-FFF2-40B4-BE49-F238E27FC236}">
                <a16:creationId xmlns:a16="http://schemas.microsoft.com/office/drawing/2014/main" id="{28476934-5581-4332-8E86-BD456F563F4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844604" y="-2801"/>
            <a:ext cx="4553702" cy="4031673"/>
          </a:xfrm>
        </p:spPr>
      </p:pic>
      <p:cxnSp>
        <p:nvCxnSpPr>
          <p:cNvPr id="6" name="直線單箭頭接點 5">
            <a:extLst>
              <a:ext uri="{FF2B5EF4-FFF2-40B4-BE49-F238E27FC236}">
                <a16:creationId xmlns:a16="http://schemas.microsoft.com/office/drawing/2014/main" id="{D91EB915-7206-45FC-ADAC-5A39792827BE}"/>
              </a:ext>
            </a:extLst>
          </p:cNvPr>
          <p:cNvCxnSpPr>
            <a:cxnSpLocks/>
          </p:cNvCxnSpPr>
          <p:nvPr/>
        </p:nvCxnSpPr>
        <p:spPr>
          <a:xfrm flipH="1" flipV="1">
            <a:off x="2735313" y="5764789"/>
            <a:ext cx="194924" cy="4074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a:extLst>
              <a:ext uri="{FF2B5EF4-FFF2-40B4-BE49-F238E27FC236}">
                <a16:creationId xmlns:a16="http://schemas.microsoft.com/office/drawing/2014/main" id="{D5BD08D7-B107-4EC1-81EF-7CF0B0CB4FDE}"/>
              </a:ext>
            </a:extLst>
          </p:cNvPr>
          <p:cNvCxnSpPr>
            <a:cxnSpLocks/>
          </p:cNvCxnSpPr>
          <p:nvPr/>
        </p:nvCxnSpPr>
        <p:spPr>
          <a:xfrm flipH="1" flipV="1">
            <a:off x="2694956" y="5286807"/>
            <a:ext cx="274351" cy="88539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3F1F529B-788C-4B4B-9314-AC32D893C03E}"/>
              </a:ext>
            </a:extLst>
          </p:cNvPr>
          <p:cNvCxnSpPr>
            <a:cxnSpLocks/>
          </p:cNvCxnSpPr>
          <p:nvPr/>
        </p:nvCxnSpPr>
        <p:spPr>
          <a:xfrm flipH="1" flipV="1">
            <a:off x="2772934" y="4891231"/>
            <a:ext cx="253569" cy="128096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439C769E-0482-4109-9F6C-1C28D0B35AC5}"/>
              </a:ext>
            </a:extLst>
          </p:cNvPr>
          <p:cNvCxnSpPr>
            <a:cxnSpLocks/>
          </p:cNvCxnSpPr>
          <p:nvPr/>
        </p:nvCxnSpPr>
        <p:spPr>
          <a:xfrm flipH="1">
            <a:off x="1929245" y="3147045"/>
            <a:ext cx="7940387" cy="199100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7CE99BF4-495C-4F71-9462-FA0FC4F206AC}"/>
              </a:ext>
            </a:extLst>
          </p:cNvPr>
          <p:cNvCxnSpPr/>
          <p:nvPr/>
        </p:nvCxnSpPr>
        <p:spPr>
          <a:xfrm flipH="1">
            <a:off x="1843410" y="3163371"/>
            <a:ext cx="8886179" cy="244186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248CF966-764D-4614-A101-1584C3C841FE}"/>
              </a:ext>
            </a:extLst>
          </p:cNvPr>
          <p:cNvCxnSpPr>
            <a:cxnSpLocks/>
          </p:cNvCxnSpPr>
          <p:nvPr/>
        </p:nvCxnSpPr>
        <p:spPr>
          <a:xfrm flipH="1">
            <a:off x="1680254" y="3096491"/>
            <a:ext cx="7380619" cy="156899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7131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圖片 17" descr="一張含有 文字, 裝置, 收據 的圖片&#10;&#10;自動產生的描述">
            <a:extLst>
              <a:ext uri="{FF2B5EF4-FFF2-40B4-BE49-F238E27FC236}">
                <a16:creationId xmlns:a16="http://schemas.microsoft.com/office/drawing/2014/main" id="{7D101182-6E4E-4D08-BD6A-1A916E3CEB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4048" y="3444558"/>
            <a:ext cx="3057952" cy="3515216"/>
          </a:xfrm>
          <a:prstGeom prst="rect">
            <a:avLst/>
          </a:prstGeom>
        </p:spPr>
      </p:pic>
      <p:graphicFrame>
        <p:nvGraphicFramePr>
          <p:cNvPr id="20" name="表格 20">
            <a:extLst>
              <a:ext uri="{FF2B5EF4-FFF2-40B4-BE49-F238E27FC236}">
                <a16:creationId xmlns:a16="http://schemas.microsoft.com/office/drawing/2014/main" id="{78466628-B1A8-4EA8-A3B9-AC271F048177}"/>
              </a:ext>
            </a:extLst>
          </p:cNvPr>
          <p:cNvGraphicFramePr>
            <a:graphicFrameLocks noGrp="1"/>
          </p:cNvGraphicFramePr>
          <p:nvPr>
            <p:extLst>
              <p:ext uri="{D42A27DB-BD31-4B8C-83A1-F6EECF244321}">
                <p14:modId xmlns:p14="http://schemas.microsoft.com/office/powerpoint/2010/main" val="842828913"/>
              </p:ext>
            </p:extLst>
          </p:nvPr>
        </p:nvGraphicFramePr>
        <p:xfrm>
          <a:off x="351681" y="156051"/>
          <a:ext cx="8084127" cy="6545898"/>
        </p:xfrm>
        <a:graphic>
          <a:graphicData uri="http://schemas.openxmlformats.org/drawingml/2006/table">
            <a:tbl>
              <a:tblPr firstRow="1" bandRow="1">
                <a:tableStyleId>{5C22544A-7EE6-4342-B048-85BDC9FD1C3A}</a:tableStyleId>
              </a:tblPr>
              <a:tblGrid>
                <a:gridCol w="562962">
                  <a:extLst>
                    <a:ext uri="{9D8B030D-6E8A-4147-A177-3AD203B41FA5}">
                      <a16:colId xmlns:a16="http://schemas.microsoft.com/office/drawing/2014/main" val="1708107604"/>
                    </a:ext>
                  </a:extLst>
                </a:gridCol>
                <a:gridCol w="720591">
                  <a:extLst>
                    <a:ext uri="{9D8B030D-6E8A-4147-A177-3AD203B41FA5}">
                      <a16:colId xmlns:a16="http://schemas.microsoft.com/office/drawing/2014/main" val="4051893694"/>
                    </a:ext>
                  </a:extLst>
                </a:gridCol>
                <a:gridCol w="6800574">
                  <a:extLst>
                    <a:ext uri="{9D8B030D-6E8A-4147-A177-3AD203B41FA5}">
                      <a16:colId xmlns:a16="http://schemas.microsoft.com/office/drawing/2014/main" val="96082981"/>
                    </a:ext>
                  </a:extLst>
                </a:gridCol>
              </a:tblGrid>
              <a:tr h="449429">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b="0" dirty="0">
                          <a:solidFill>
                            <a:schemeClr val="tx1"/>
                          </a:solidFill>
                        </a:rPr>
                        <a:t>18+13+76.8=</a:t>
                      </a:r>
                      <a:r>
                        <a:rPr lang="en-US" altLang="zh-TW" b="0" dirty="0">
                          <a:solidFill>
                            <a:srgbClr val="0070C0"/>
                          </a:solidFill>
                        </a:rPr>
                        <a:t>107.8</a:t>
                      </a:r>
                    </a:p>
                    <a:p>
                      <a:pPr algn="l"/>
                      <a:r>
                        <a:rPr lang="en-US" altLang="zh-TW" b="0" dirty="0">
                          <a:solidFill>
                            <a:schemeClr val="tx1"/>
                          </a:solidFill>
                        </a:rPr>
                        <a:t>12+13+79.9=104.9</a:t>
                      </a:r>
                    </a:p>
                    <a:p>
                      <a:pPr algn="l"/>
                      <a:r>
                        <a:rPr lang="en-US" altLang="zh-TW" b="0" dirty="0">
                          <a:solidFill>
                            <a:schemeClr val="tx1"/>
                          </a:solidFill>
                        </a:rPr>
                        <a:t>9+13+79.8=101.8</a:t>
                      </a:r>
                    </a:p>
                    <a:p>
                      <a:pPr algn="l"/>
                      <a:r>
                        <a:rPr lang="en-US" altLang="zh-TW" b="0" dirty="0">
                          <a:solidFill>
                            <a:schemeClr val="tx1"/>
                          </a:solidFill>
                        </a:rPr>
                        <a:t>11+13+68.8=92.8</a:t>
                      </a:r>
                    </a:p>
                    <a:p>
                      <a:pPr algn="l"/>
                      <a:r>
                        <a:rPr lang="en-US" altLang="zh-TW" b="0" dirty="0">
                          <a:solidFill>
                            <a:schemeClr val="tx1"/>
                          </a:solidFill>
                        </a:rPr>
                        <a:t>14+13+63.2=90.2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580768">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19+16.6+35.6=71.2</a:t>
                      </a:r>
                    </a:p>
                    <a:p>
                      <a:pPr algn="l"/>
                      <a:r>
                        <a:rPr lang="en-US" altLang="zh-TW" dirty="0"/>
                        <a:t>16+16.6+44.2=</a:t>
                      </a:r>
                      <a:r>
                        <a:rPr lang="en-US" altLang="zh-TW" dirty="0">
                          <a:solidFill>
                            <a:srgbClr val="0070C0"/>
                          </a:solidFill>
                        </a:rPr>
                        <a:t>76.8</a:t>
                      </a:r>
                      <a:endParaRPr lang="zh-TW" alt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80768">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23+14.3+42.6=79.9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580768">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27+12.6+35.6=75.2</a:t>
                      </a:r>
                    </a:p>
                    <a:p>
                      <a:pPr algn="l"/>
                      <a:r>
                        <a:rPr lang="en-US" altLang="zh-TW" dirty="0"/>
                        <a:t>23+12.6+44.2=</a:t>
                      </a:r>
                      <a:r>
                        <a:rPr lang="en-US" altLang="zh-TW" dirty="0">
                          <a:solidFill>
                            <a:srgbClr val="0070C0"/>
                          </a:solidFill>
                        </a:rPr>
                        <a:t>79.8</a:t>
                      </a:r>
                      <a:endParaRPr lang="zh-TW" alt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580768">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13+11.6+44.2=68.8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80768">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15+12.6+35.6=63.2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449429">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17+11+14.6=42.6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449429">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11+10+14.6=35.6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580768">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13+16.6+14.6=44.2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580768">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0+14.6+0=14.6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pic>
        <p:nvPicPr>
          <p:cNvPr id="5" name="內容版面配置區 4">
            <a:extLst>
              <a:ext uri="{FF2B5EF4-FFF2-40B4-BE49-F238E27FC236}">
                <a16:creationId xmlns:a16="http://schemas.microsoft.com/office/drawing/2014/main" id="{28476934-5581-4332-8E86-BD456F563F4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798256" y="0"/>
            <a:ext cx="4553702" cy="4031673"/>
          </a:xfrm>
        </p:spPr>
      </p:pic>
    </p:spTree>
    <p:extLst>
      <p:ext uri="{BB962C8B-B14F-4D97-AF65-F5344CB8AC3E}">
        <p14:creationId xmlns:p14="http://schemas.microsoft.com/office/powerpoint/2010/main" val="266890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圖片 17" descr="一張含有 文字, 裝置, 收據 的圖片&#10;&#10;自動產生的描述">
            <a:extLst>
              <a:ext uri="{FF2B5EF4-FFF2-40B4-BE49-F238E27FC236}">
                <a16:creationId xmlns:a16="http://schemas.microsoft.com/office/drawing/2014/main" id="{7D101182-6E4E-4D08-BD6A-1A916E3CEB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4048" y="3444558"/>
            <a:ext cx="3057952" cy="3515216"/>
          </a:xfrm>
          <a:prstGeom prst="rect">
            <a:avLst/>
          </a:prstGeom>
        </p:spPr>
      </p:pic>
      <p:graphicFrame>
        <p:nvGraphicFramePr>
          <p:cNvPr id="20" name="表格 20">
            <a:extLst>
              <a:ext uri="{FF2B5EF4-FFF2-40B4-BE49-F238E27FC236}">
                <a16:creationId xmlns:a16="http://schemas.microsoft.com/office/drawing/2014/main" id="{78466628-B1A8-4EA8-A3B9-AC271F048177}"/>
              </a:ext>
            </a:extLst>
          </p:cNvPr>
          <p:cNvGraphicFramePr>
            <a:graphicFrameLocks noGrp="1"/>
          </p:cNvGraphicFramePr>
          <p:nvPr>
            <p:extLst>
              <p:ext uri="{D42A27DB-BD31-4B8C-83A1-F6EECF244321}">
                <p14:modId xmlns:p14="http://schemas.microsoft.com/office/powerpoint/2010/main" val="992147585"/>
              </p:ext>
            </p:extLst>
          </p:nvPr>
        </p:nvGraphicFramePr>
        <p:xfrm>
          <a:off x="351681" y="0"/>
          <a:ext cx="8084127" cy="6995327"/>
        </p:xfrm>
        <a:graphic>
          <a:graphicData uri="http://schemas.openxmlformats.org/drawingml/2006/table">
            <a:tbl>
              <a:tblPr firstRow="1" bandRow="1">
                <a:tableStyleId>{5C22544A-7EE6-4342-B048-85BDC9FD1C3A}</a:tableStyleId>
              </a:tblPr>
              <a:tblGrid>
                <a:gridCol w="521155">
                  <a:extLst>
                    <a:ext uri="{9D8B030D-6E8A-4147-A177-3AD203B41FA5}">
                      <a16:colId xmlns:a16="http://schemas.microsoft.com/office/drawing/2014/main" val="1708107604"/>
                    </a:ext>
                  </a:extLst>
                </a:gridCol>
                <a:gridCol w="727364">
                  <a:extLst>
                    <a:ext uri="{9D8B030D-6E8A-4147-A177-3AD203B41FA5}">
                      <a16:colId xmlns:a16="http://schemas.microsoft.com/office/drawing/2014/main" val="4051893694"/>
                    </a:ext>
                  </a:extLst>
                </a:gridCol>
                <a:gridCol w="3142104">
                  <a:extLst>
                    <a:ext uri="{9D8B030D-6E8A-4147-A177-3AD203B41FA5}">
                      <a16:colId xmlns:a16="http://schemas.microsoft.com/office/drawing/2014/main" val="96082981"/>
                    </a:ext>
                  </a:extLst>
                </a:gridCol>
                <a:gridCol w="3693504">
                  <a:extLst>
                    <a:ext uri="{9D8B030D-6E8A-4147-A177-3AD203B41FA5}">
                      <a16:colId xmlns:a16="http://schemas.microsoft.com/office/drawing/2014/main" val="3468498251"/>
                    </a:ext>
                  </a:extLst>
                </a:gridCol>
              </a:tblGrid>
              <a:tr h="449429">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b="0" dirty="0">
                          <a:solidFill>
                            <a:srgbClr val="002060"/>
                          </a:solidFill>
                        </a:rPr>
                        <a:t>rank</a:t>
                      </a:r>
                      <a:endParaRPr lang="zh-TW" altLang="en-US" b="0"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2261248"/>
                  </a:ext>
                </a:extLst>
              </a:tr>
              <a:tr h="449429">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b="0" dirty="0">
                          <a:solidFill>
                            <a:schemeClr val="tx1"/>
                          </a:solidFill>
                        </a:rPr>
                        <a:t>18+13+76.8=</a:t>
                      </a:r>
                      <a:r>
                        <a:rPr lang="en-US" altLang="zh-TW" b="0" dirty="0">
                          <a:solidFill>
                            <a:srgbClr val="0070C0"/>
                          </a:solidFill>
                        </a:rPr>
                        <a:t>107.8</a:t>
                      </a:r>
                    </a:p>
                    <a:p>
                      <a:pPr algn="l"/>
                      <a:r>
                        <a:rPr lang="en-US" altLang="zh-TW" b="0" dirty="0">
                          <a:solidFill>
                            <a:schemeClr val="tx1"/>
                          </a:solidFill>
                        </a:rPr>
                        <a:t>12+13+79.9=104.9</a:t>
                      </a:r>
                    </a:p>
                    <a:p>
                      <a:pPr algn="l"/>
                      <a:r>
                        <a:rPr lang="en-US" altLang="zh-TW" b="0" dirty="0">
                          <a:solidFill>
                            <a:schemeClr val="tx1"/>
                          </a:solidFill>
                        </a:rPr>
                        <a:t>9+13+79.8=101.8</a:t>
                      </a:r>
                    </a:p>
                    <a:p>
                      <a:pPr algn="l"/>
                      <a:r>
                        <a:rPr lang="en-US" altLang="zh-TW" b="0" dirty="0">
                          <a:solidFill>
                            <a:schemeClr val="tx1"/>
                          </a:solidFill>
                        </a:rPr>
                        <a:t>11+13+68.8=92.8</a:t>
                      </a:r>
                    </a:p>
                    <a:p>
                      <a:pPr algn="l"/>
                      <a:r>
                        <a:rPr lang="en-US" altLang="zh-TW" b="0" dirty="0">
                          <a:solidFill>
                            <a:schemeClr val="tx1"/>
                          </a:solidFill>
                        </a:rPr>
                        <a:t>14+13+63.2=90.2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b="0" dirty="0">
                          <a:solidFill>
                            <a:srgbClr val="002060"/>
                          </a:solidFill>
                        </a:rPr>
                        <a:t>1</a:t>
                      </a:r>
                      <a:endParaRPr lang="zh-TW" altLang="en-US" b="0"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580768">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19+16.6+35.6=71.2</a:t>
                      </a:r>
                    </a:p>
                    <a:p>
                      <a:pPr algn="l"/>
                      <a:r>
                        <a:rPr lang="en-US" altLang="zh-TW" dirty="0"/>
                        <a:t>16+16.6+44.2=</a:t>
                      </a:r>
                      <a:r>
                        <a:rPr lang="en-US" altLang="zh-TW" dirty="0">
                          <a:solidFill>
                            <a:srgbClr val="0070C0"/>
                          </a:solidFill>
                        </a:rPr>
                        <a:t>76.8</a:t>
                      </a:r>
                      <a:endParaRPr lang="zh-TW" alt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4</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80768">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23+14.3+42.6=79.9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580768">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27+12.6+35.6=75.2</a:t>
                      </a:r>
                    </a:p>
                    <a:p>
                      <a:pPr algn="l"/>
                      <a:r>
                        <a:rPr lang="en-US" altLang="zh-TW" dirty="0"/>
                        <a:t>23+12.6+44.2=</a:t>
                      </a:r>
                      <a:r>
                        <a:rPr lang="en-US" altLang="zh-TW" dirty="0">
                          <a:solidFill>
                            <a:srgbClr val="0070C0"/>
                          </a:solidFill>
                        </a:rPr>
                        <a:t>79.8</a:t>
                      </a:r>
                      <a:endParaRPr lang="zh-TW" alt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3</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580768">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13+11.6+44.2=68.8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5</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80768">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15+12.6+35.6=63.2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6</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449429">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17+11+14.6=42.6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8</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449429">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11+10+14.6=35.6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9</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580768">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13+16.6+14.6=44.2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7</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580768">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t>0+14.6+0=14.6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dirty="0">
                          <a:solidFill>
                            <a:srgbClr val="002060"/>
                          </a:solidFill>
                        </a:rPr>
                        <a:t>10</a:t>
                      </a:r>
                      <a:endParaRPr lang="zh-TW"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pic>
        <p:nvPicPr>
          <p:cNvPr id="5" name="內容版面配置區 4">
            <a:extLst>
              <a:ext uri="{FF2B5EF4-FFF2-40B4-BE49-F238E27FC236}">
                <a16:creationId xmlns:a16="http://schemas.microsoft.com/office/drawing/2014/main" id="{28476934-5581-4332-8E86-BD456F563F4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798256" y="0"/>
            <a:ext cx="4553702" cy="4031673"/>
          </a:xfrm>
        </p:spPr>
      </p:pic>
    </p:spTree>
    <p:extLst>
      <p:ext uri="{BB962C8B-B14F-4D97-AF65-F5344CB8AC3E}">
        <p14:creationId xmlns:p14="http://schemas.microsoft.com/office/powerpoint/2010/main" val="2910559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A480CC-01D2-4611-86B0-FD4613785F7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21656C3-F66A-4B5D-B93B-3DFE0181339D}"/>
              </a:ext>
            </a:extLst>
          </p:cNvPr>
          <p:cNvSpPr>
            <a:spLocks noGrp="1"/>
          </p:cNvSpPr>
          <p:nvPr>
            <p:ph idx="1"/>
          </p:nvPr>
        </p:nvSpPr>
        <p:spPr/>
        <p:txBody>
          <a:bodyPr/>
          <a:lstStyle/>
          <a:p>
            <a:endParaRPr lang="zh-TW" altLang="en-US" dirty="0"/>
          </a:p>
        </p:txBody>
      </p:sp>
      <p:graphicFrame>
        <p:nvGraphicFramePr>
          <p:cNvPr id="4" name="表格 20">
            <a:extLst>
              <a:ext uri="{FF2B5EF4-FFF2-40B4-BE49-F238E27FC236}">
                <a16:creationId xmlns:a16="http://schemas.microsoft.com/office/drawing/2014/main" id="{072D3139-33E7-416F-89DC-806F848CB33A}"/>
              </a:ext>
            </a:extLst>
          </p:cNvPr>
          <p:cNvGraphicFramePr>
            <a:graphicFrameLocks noGrp="1"/>
          </p:cNvGraphicFramePr>
          <p:nvPr>
            <p:extLst>
              <p:ext uri="{D42A27DB-BD31-4B8C-83A1-F6EECF244321}">
                <p14:modId xmlns:p14="http://schemas.microsoft.com/office/powerpoint/2010/main" val="499998921"/>
              </p:ext>
            </p:extLst>
          </p:nvPr>
        </p:nvGraphicFramePr>
        <p:xfrm>
          <a:off x="190713" y="-20381"/>
          <a:ext cx="8946586" cy="7004394"/>
        </p:xfrm>
        <a:graphic>
          <a:graphicData uri="http://schemas.openxmlformats.org/drawingml/2006/table">
            <a:tbl>
              <a:tblPr firstRow="1" bandRow="1">
                <a:tableStyleId>{5C22544A-7EE6-4342-B048-85BDC9FD1C3A}</a:tableStyleId>
              </a:tblPr>
              <a:tblGrid>
                <a:gridCol w="653866">
                  <a:extLst>
                    <a:ext uri="{9D8B030D-6E8A-4147-A177-3AD203B41FA5}">
                      <a16:colId xmlns:a16="http://schemas.microsoft.com/office/drawing/2014/main" val="1708107604"/>
                    </a:ext>
                  </a:extLst>
                </a:gridCol>
                <a:gridCol w="831608">
                  <a:extLst>
                    <a:ext uri="{9D8B030D-6E8A-4147-A177-3AD203B41FA5}">
                      <a16:colId xmlns:a16="http://schemas.microsoft.com/office/drawing/2014/main" val="702232932"/>
                    </a:ext>
                  </a:extLst>
                </a:gridCol>
                <a:gridCol w="550718">
                  <a:extLst>
                    <a:ext uri="{9D8B030D-6E8A-4147-A177-3AD203B41FA5}">
                      <a16:colId xmlns:a16="http://schemas.microsoft.com/office/drawing/2014/main" val="3607116572"/>
                    </a:ext>
                  </a:extLst>
                </a:gridCol>
                <a:gridCol w="690854">
                  <a:extLst>
                    <a:ext uri="{9D8B030D-6E8A-4147-A177-3AD203B41FA5}">
                      <a16:colId xmlns:a16="http://schemas.microsoft.com/office/drawing/2014/main" val="305408827"/>
                    </a:ext>
                  </a:extLst>
                </a:gridCol>
                <a:gridCol w="812577">
                  <a:extLst>
                    <a:ext uri="{9D8B030D-6E8A-4147-A177-3AD203B41FA5}">
                      <a16:colId xmlns:a16="http://schemas.microsoft.com/office/drawing/2014/main" val="3729757115"/>
                    </a:ext>
                  </a:extLst>
                </a:gridCol>
                <a:gridCol w="569543">
                  <a:extLst>
                    <a:ext uri="{9D8B030D-6E8A-4147-A177-3AD203B41FA5}">
                      <a16:colId xmlns:a16="http://schemas.microsoft.com/office/drawing/2014/main" val="3450162339"/>
                    </a:ext>
                  </a:extLst>
                </a:gridCol>
                <a:gridCol w="691060">
                  <a:extLst>
                    <a:ext uri="{9D8B030D-6E8A-4147-A177-3AD203B41FA5}">
                      <a16:colId xmlns:a16="http://schemas.microsoft.com/office/drawing/2014/main" val="3531016683"/>
                    </a:ext>
                  </a:extLst>
                </a:gridCol>
                <a:gridCol w="838361">
                  <a:extLst>
                    <a:ext uri="{9D8B030D-6E8A-4147-A177-3AD203B41FA5}">
                      <a16:colId xmlns:a16="http://schemas.microsoft.com/office/drawing/2014/main" val="4060969492"/>
                    </a:ext>
                  </a:extLst>
                </a:gridCol>
                <a:gridCol w="543759">
                  <a:extLst>
                    <a:ext uri="{9D8B030D-6E8A-4147-A177-3AD203B41FA5}">
                      <a16:colId xmlns:a16="http://schemas.microsoft.com/office/drawing/2014/main" val="4249052222"/>
                    </a:ext>
                  </a:extLst>
                </a:gridCol>
                <a:gridCol w="691060">
                  <a:extLst>
                    <a:ext uri="{9D8B030D-6E8A-4147-A177-3AD203B41FA5}">
                      <a16:colId xmlns:a16="http://schemas.microsoft.com/office/drawing/2014/main" val="687650053"/>
                    </a:ext>
                  </a:extLst>
                </a:gridCol>
                <a:gridCol w="846613">
                  <a:extLst>
                    <a:ext uri="{9D8B030D-6E8A-4147-A177-3AD203B41FA5}">
                      <a16:colId xmlns:a16="http://schemas.microsoft.com/office/drawing/2014/main" val="3978933958"/>
                    </a:ext>
                  </a:extLst>
                </a:gridCol>
                <a:gridCol w="535507">
                  <a:extLst>
                    <a:ext uri="{9D8B030D-6E8A-4147-A177-3AD203B41FA5}">
                      <a16:colId xmlns:a16="http://schemas.microsoft.com/office/drawing/2014/main" val="2126929990"/>
                    </a:ext>
                  </a:extLst>
                </a:gridCol>
                <a:gridCol w="691060">
                  <a:extLst>
                    <a:ext uri="{9D8B030D-6E8A-4147-A177-3AD203B41FA5}">
                      <a16:colId xmlns:a16="http://schemas.microsoft.com/office/drawing/2014/main" val="56450038"/>
                    </a:ext>
                  </a:extLst>
                </a:gridCol>
              </a:tblGrid>
              <a:tr h="0">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400" b="0" dirty="0">
                          <a:solidFill>
                            <a:schemeClr val="tx1"/>
                          </a:solidFill>
                        </a:rPr>
                        <a:t>P1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400" b="0" dirty="0">
                          <a:solidFill>
                            <a:schemeClr val="tx1"/>
                          </a:solidFill>
                        </a:rPr>
                        <a:t>P2</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400" b="0" dirty="0">
                          <a:solidFill>
                            <a:schemeClr val="tx1"/>
                          </a:solidFill>
                        </a:rPr>
                        <a:t>P3</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0" dirty="0">
                          <a:solidFill>
                            <a:schemeClr val="tx1"/>
                          </a:solidFill>
                        </a:rPr>
                        <a:t>choice</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4761348"/>
                  </a:ext>
                </a:extLst>
              </a:tr>
              <a:tr h="208067">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7711569"/>
                  </a:ext>
                </a:extLst>
              </a:tr>
              <a:tr h="387284">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500462">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9+12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32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9+12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28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00462">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9+9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31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9+9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45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500462">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9+18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40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9+18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500462">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38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00462">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47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387284">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a:t>
                      </a:r>
                    </a:p>
                    <a:p>
                      <a:pPr algn="ctr"/>
                      <a:r>
                        <a:rPr lang="en-US" altLang="zh-TW" dirty="0"/>
                        <a:t>38+13</a:t>
                      </a:r>
                    </a:p>
                    <a:p>
                      <a:pPr algn="ctr"/>
                      <a:r>
                        <a:rPr lang="en-US" altLang="zh-TW" dirty="0"/>
                        <a:t>25+26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58</a:t>
                      </a:r>
                    </a:p>
                    <a:p>
                      <a:pPr algn="ctr"/>
                      <a:r>
                        <a:rPr lang="en-US" altLang="zh-TW" dirty="0">
                          <a:solidFill>
                            <a:schemeClr val="accent1"/>
                          </a:solidFill>
                        </a:rPr>
                        <a:t>72</a:t>
                      </a:r>
                    </a:p>
                    <a:p>
                      <a:pPr algn="ctr"/>
                      <a:r>
                        <a:rPr lang="en-US" altLang="zh-TW" dirty="0"/>
                        <a:t>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40+16</a:t>
                      </a:r>
                    </a:p>
                    <a:p>
                      <a:pPr algn="ctr"/>
                      <a:r>
                        <a:rPr lang="en-US" altLang="zh-TW" dirty="0"/>
                        <a:t>38+13</a:t>
                      </a:r>
                    </a:p>
                    <a:p>
                      <a:pPr algn="ctr"/>
                      <a:r>
                        <a:rPr lang="en-US" altLang="zh-TW" dirty="0"/>
                        <a:t>42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solidFill>
                            <a:schemeClr val="accent1"/>
                          </a:solidFill>
                        </a:rPr>
                        <a:t>68</a:t>
                      </a:r>
                    </a:p>
                    <a:p>
                      <a:pPr algn="ctr"/>
                      <a:r>
                        <a:rPr lang="en-US" altLang="zh-TW" dirty="0"/>
                        <a:t>63</a:t>
                      </a:r>
                    </a:p>
                    <a:p>
                      <a:pPr algn="ctr"/>
                      <a:r>
                        <a:rPr lang="en-US" altLang="zh-TW" dirty="0"/>
                        <a:t>54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40+16</a:t>
                      </a:r>
                    </a:p>
                    <a:p>
                      <a:pPr algn="ctr"/>
                      <a:r>
                        <a:rPr lang="en-US" altLang="zh-TW" dirty="0"/>
                        <a:t>38+13</a:t>
                      </a:r>
                    </a:p>
                    <a:p>
                      <a:pPr algn="ctr"/>
                      <a:r>
                        <a:rPr lang="en-US" altLang="zh-TW" dirty="0"/>
                        <a:t>25+23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20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solidFill>
                            <a:schemeClr val="accent1"/>
                          </a:solidFill>
                        </a:rPr>
                        <a:t>76</a:t>
                      </a:r>
                    </a:p>
                    <a:p>
                      <a:pPr algn="ctr"/>
                      <a:r>
                        <a:rPr lang="en-US" altLang="zh-TW" dirty="0"/>
                        <a:t>71</a:t>
                      </a:r>
                    </a:p>
                    <a:p>
                      <a:pPr algn="ctr"/>
                      <a:r>
                        <a:rPr lang="en-US" altLang="zh-TW" dirty="0"/>
                        <a:t>68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387284">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28+23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28+23</a:t>
                      </a:r>
                    </a:p>
                    <a:p>
                      <a:pPr algn="ctr"/>
                      <a:r>
                        <a:rPr lang="en-US" altLang="zh-TW" dirty="0"/>
                        <a:t>68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83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49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500462">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a:t>
                      </a:r>
                    </a:p>
                    <a:p>
                      <a:pPr algn="ctr"/>
                      <a:r>
                        <a:rPr lang="en-US" altLang="zh-TW" dirty="0"/>
                        <a:t>25+27</a:t>
                      </a:r>
                    </a:p>
                    <a:p>
                      <a:pPr algn="ctr"/>
                      <a:r>
                        <a:rPr lang="en-US" altLang="zh-TW" dirty="0"/>
                        <a:t>42+15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45</a:t>
                      </a:r>
                    </a:p>
                    <a:p>
                      <a:pPr algn="ctr"/>
                      <a:r>
                        <a:rPr lang="en-US" altLang="zh-TW" dirty="0"/>
                        <a:t>57</a:t>
                      </a:r>
                    </a:p>
                    <a:p>
                      <a:pPr algn="ctr"/>
                      <a:r>
                        <a:rPr lang="en-US" altLang="zh-TW" dirty="0">
                          <a:solidFill>
                            <a:schemeClr val="accent1"/>
                          </a:solidFill>
                        </a:rPr>
                        <a:t>62</a:t>
                      </a:r>
                      <a:endParaRPr lang="zh-TW" altLang="en-US"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40+16</a:t>
                      </a:r>
                    </a:p>
                    <a:p>
                      <a:pPr algn="ctr"/>
                      <a:r>
                        <a:rPr lang="en-US" altLang="zh-TW" dirty="0"/>
                        <a:t>68</a:t>
                      </a:r>
                    </a:p>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67</a:t>
                      </a:r>
                    </a:p>
                    <a:p>
                      <a:pPr algn="ctr"/>
                      <a:r>
                        <a:rPr lang="en-US" altLang="zh-TW" dirty="0">
                          <a:solidFill>
                            <a:schemeClr val="accent1"/>
                          </a:solidFill>
                        </a:rPr>
                        <a:t>79</a:t>
                      </a:r>
                      <a:endParaRPr lang="zh-TW" altLang="en-US"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40+16</a:t>
                      </a:r>
                    </a:p>
                    <a:p>
                      <a:pPr algn="ctr"/>
                      <a:r>
                        <a:rPr lang="en-US" altLang="zh-TW" dirty="0"/>
                        <a:t>25+27</a:t>
                      </a:r>
                    </a:p>
                    <a:p>
                      <a:pPr algn="ctr"/>
                      <a:r>
                        <a:rPr lang="en-US" altLang="zh-TW" dirty="0"/>
                        <a:t>42+15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70</a:t>
                      </a:r>
                    </a:p>
                    <a:p>
                      <a:pPr algn="ctr"/>
                      <a:r>
                        <a:rPr lang="en-US" altLang="zh-TW" dirty="0"/>
                        <a:t>66</a:t>
                      </a:r>
                    </a:p>
                    <a:p>
                      <a:pPr algn="ctr"/>
                      <a:r>
                        <a:rPr lang="en-US" altLang="zh-TW" dirty="0">
                          <a:solidFill>
                            <a:schemeClr val="accent1"/>
                          </a:solidFill>
                        </a:rPr>
                        <a:t>71</a:t>
                      </a:r>
                      <a:endParaRPr lang="zh-TW" altLang="en-US"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638698">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49+17</a:t>
                      </a:r>
                    </a:p>
                    <a:p>
                      <a:pPr algn="ctr"/>
                      <a:r>
                        <a:rPr lang="en-US" altLang="zh-TW" dirty="0"/>
                        <a:t>62</a:t>
                      </a:r>
                    </a:p>
                    <a:p>
                      <a:pPr algn="ctr"/>
                      <a:r>
                        <a:rPr lang="en-US" altLang="zh-TW" dirty="0"/>
                        <a:t>68+13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21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87</a:t>
                      </a:r>
                    </a:p>
                    <a:p>
                      <a:pPr algn="ctr"/>
                      <a:r>
                        <a:rPr lang="en-US" altLang="zh-TW" dirty="0"/>
                        <a:t>83</a:t>
                      </a:r>
                    </a:p>
                    <a:p>
                      <a:pPr algn="ctr"/>
                      <a:r>
                        <a:rPr lang="en-US" altLang="zh-TW" dirty="0">
                          <a:solidFill>
                            <a:schemeClr val="accent1"/>
                          </a:solidFill>
                        </a:rPr>
                        <a:t>102</a:t>
                      </a:r>
                      <a:endParaRPr lang="zh-TW" altLang="en-US"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49+17</a:t>
                      </a:r>
                    </a:p>
                    <a:p>
                      <a:pPr algn="ctr"/>
                      <a:r>
                        <a:rPr lang="en-US" altLang="zh-TW" dirty="0"/>
                        <a:t>62+11</a:t>
                      </a:r>
                    </a:p>
                    <a:p>
                      <a:pPr algn="ctr"/>
                      <a:r>
                        <a:rPr lang="en-US" altLang="zh-TW" dirty="0"/>
                        <a:t>68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73</a:t>
                      </a:r>
                    </a:p>
                    <a:p>
                      <a:pPr algn="ctr"/>
                      <a:r>
                        <a:rPr lang="en-US" altLang="zh-TW" dirty="0">
                          <a:solidFill>
                            <a:schemeClr val="accent1"/>
                          </a:solidFill>
                        </a:rPr>
                        <a:t>80</a:t>
                      </a:r>
                    </a:p>
                    <a:p>
                      <a:pPr algn="ctr"/>
                      <a:r>
                        <a:rPr lang="en-US" altLang="zh-TW" dirty="0"/>
                        <a:t>75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49</a:t>
                      </a:r>
                    </a:p>
                    <a:p>
                      <a:pPr algn="ctr"/>
                      <a:r>
                        <a:rPr lang="en-US" altLang="zh-TW" dirty="0"/>
                        <a:t>62+11</a:t>
                      </a:r>
                    </a:p>
                    <a:p>
                      <a:pPr algn="ctr"/>
                      <a:r>
                        <a:rPr lang="en-US" altLang="zh-TW" dirty="0"/>
                        <a:t>68+13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65</a:t>
                      </a:r>
                    </a:p>
                    <a:p>
                      <a:pPr algn="ctr"/>
                      <a:r>
                        <a:rPr lang="en-US" altLang="zh-TW" dirty="0"/>
                        <a:t>89</a:t>
                      </a:r>
                    </a:p>
                    <a:p>
                      <a:pPr algn="ctr"/>
                      <a:r>
                        <a:rPr lang="en-US" altLang="zh-TW" dirty="0">
                          <a:solidFill>
                            <a:schemeClr val="accent1"/>
                          </a:solidFill>
                        </a:rPr>
                        <a:t>97</a:t>
                      </a:r>
                      <a:endParaRPr lang="zh-TW" altLang="en-US"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pic>
        <p:nvPicPr>
          <p:cNvPr id="5" name="圖片 4" descr="一張含有 文字, 裝置, 收據 的圖片&#10;&#10;自動產生的描述">
            <a:extLst>
              <a:ext uri="{FF2B5EF4-FFF2-40B4-BE49-F238E27FC236}">
                <a16:creationId xmlns:a16="http://schemas.microsoft.com/office/drawing/2014/main" id="{91D3BD90-789F-4BEF-B906-96BBB01AE1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9322" y="3481816"/>
            <a:ext cx="3057952" cy="3515216"/>
          </a:xfrm>
          <a:prstGeom prst="rect">
            <a:avLst/>
          </a:prstGeom>
        </p:spPr>
      </p:pic>
      <p:pic>
        <p:nvPicPr>
          <p:cNvPr id="6" name="內容版面配置區 4">
            <a:extLst>
              <a:ext uri="{FF2B5EF4-FFF2-40B4-BE49-F238E27FC236}">
                <a16:creationId xmlns:a16="http://schemas.microsoft.com/office/drawing/2014/main" id="{3A7F1301-DCF0-4F95-B80E-0E1E55F747B2}"/>
              </a:ext>
            </a:extLst>
          </p:cNvPr>
          <p:cNvPicPr>
            <a:picLocks noChangeAspect="1"/>
          </p:cNvPicPr>
          <p:nvPr/>
        </p:nvPicPr>
        <p:blipFill rotWithShape="1">
          <a:blip r:embed="rId3">
            <a:extLst>
              <a:ext uri="{28A0092B-C50C-407E-A947-70E740481C1C}">
                <a14:useLocalDpi xmlns:a14="http://schemas.microsoft.com/office/drawing/2010/main" val="0"/>
              </a:ext>
            </a:extLst>
          </a:blip>
          <a:srcRect l="11069" r="8671" b="773"/>
          <a:stretch/>
        </p:blipFill>
        <p:spPr>
          <a:xfrm>
            <a:off x="8489811" y="81964"/>
            <a:ext cx="3654767" cy="4000500"/>
          </a:xfrm>
          <a:prstGeom prst="rect">
            <a:avLst/>
          </a:prstGeom>
        </p:spPr>
      </p:pic>
      <p:sp>
        <p:nvSpPr>
          <p:cNvPr id="14" name="乘號 13">
            <a:extLst>
              <a:ext uri="{FF2B5EF4-FFF2-40B4-BE49-F238E27FC236}">
                <a16:creationId xmlns:a16="http://schemas.microsoft.com/office/drawing/2014/main" id="{0F5E08F1-B4B2-49CD-91A6-C23F53B9B9C2}"/>
              </a:ext>
            </a:extLst>
          </p:cNvPr>
          <p:cNvSpPr/>
          <p:nvPr/>
        </p:nvSpPr>
        <p:spPr>
          <a:xfrm>
            <a:off x="2975769" y="4657533"/>
            <a:ext cx="650658" cy="475576"/>
          </a:xfrm>
          <a:prstGeom prst="mathMultiply">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847312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9967A52A-999A-4E58-B002-427F30DBCF06}"/>
              </a:ext>
            </a:extLst>
          </p:cNvPr>
          <p:cNvGraphicFramePr>
            <a:graphicFrameLocks noGrp="1"/>
          </p:cNvGraphicFramePr>
          <p:nvPr>
            <p:ph idx="1"/>
          </p:nvPr>
        </p:nvGraphicFramePr>
        <p:xfrm>
          <a:off x="401151" y="0"/>
          <a:ext cx="7121235" cy="7614920"/>
        </p:xfrm>
        <a:graphic>
          <a:graphicData uri="http://schemas.openxmlformats.org/drawingml/2006/table">
            <a:tbl>
              <a:tblPr firstRow="1" bandRow="1">
                <a:tableStyleId>{5C22544A-7EE6-4342-B048-85BDC9FD1C3A}</a:tableStyleId>
              </a:tblPr>
              <a:tblGrid>
                <a:gridCol w="632131">
                  <a:extLst>
                    <a:ext uri="{9D8B030D-6E8A-4147-A177-3AD203B41FA5}">
                      <a16:colId xmlns:a16="http://schemas.microsoft.com/office/drawing/2014/main" val="282190175"/>
                    </a:ext>
                  </a:extLst>
                </a:gridCol>
                <a:gridCol w="632131">
                  <a:extLst>
                    <a:ext uri="{9D8B030D-6E8A-4147-A177-3AD203B41FA5}">
                      <a16:colId xmlns:a16="http://schemas.microsoft.com/office/drawing/2014/main" val="860759584"/>
                    </a:ext>
                  </a:extLst>
                </a:gridCol>
                <a:gridCol w="2031684">
                  <a:extLst>
                    <a:ext uri="{9D8B030D-6E8A-4147-A177-3AD203B41FA5}">
                      <a16:colId xmlns:a16="http://schemas.microsoft.com/office/drawing/2014/main" val="127387840"/>
                    </a:ext>
                  </a:extLst>
                </a:gridCol>
                <a:gridCol w="2203013">
                  <a:extLst>
                    <a:ext uri="{9D8B030D-6E8A-4147-A177-3AD203B41FA5}">
                      <a16:colId xmlns:a16="http://schemas.microsoft.com/office/drawing/2014/main" val="2590283341"/>
                    </a:ext>
                  </a:extLst>
                </a:gridCol>
                <a:gridCol w="1622276">
                  <a:extLst>
                    <a:ext uri="{9D8B030D-6E8A-4147-A177-3AD203B41FA5}">
                      <a16:colId xmlns:a16="http://schemas.microsoft.com/office/drawing/2014/main" val="3517178521"/>
                    </a:ext>
                  </a:extLst>
                </a:gridCol>
              </a:tblGrid>
              <a:tr h="370840">
                <a:tc>
                  <a:txBody>
                    <a:bodyPr/>
                    <a:lstStyle/>
                    <a:p>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rank(up)</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Rank(down)</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Rank(</a:t>
                      </a:r>
                      <a:r>
                        <a:rPr lang="en-US" altLang="zh-TW" b="0" dirty="0" err="1">
                          <a:solidFill>
                            <a:schemeClr val="tx1">
                              <a:lumMod val="85000"/>
                              <a:lumOff val="15000"/>
                            </a:schemeClr>
                          </a:solidFill>
                        </a:rPr>
                        <a:t>up+down</a:t>
                      </a:r>
                      <a:r>
                        <a:rPr lang="en-US" altLang="zh-TW" b="0" dirty="0">
                          <a:solidFill>
                            <a:schemeClr val="tx1">
                              <a:lumMod val="85000"/>
                              <a:lumOff val="15000"/>
                            </a:schemeClr>
                          </a:solidFill>
                        </a:rPr>
                        <a:t>)</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4337942"/>
                  </a:ext>
                </a:extLst>
              </a:tr>
              <a:tr h="370840">
                <a:tc>
                  <a:txBody>
                    <a:bodyPr/>
                    <a:lstStyle/>
                    <a:p>
                      <a:r>
                        <a:rPr lang="en-US" altLang="zh-TW" b="0" dirty="0">
                          <a:solidFill>
                            <a:schemeClr val="tx1">
                              <a:lumMod val="85000"/>
                              <a:lumOff val="15000"/>
                            </a:schemeClr>
                          </a:solidFill>
                        </a:rPr>
                        <a:t>1</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18+77+13=108</a:t>
                      </a:r>
                    </a:p>
                    <a:p>
                      <a:r>
                        <a:rPr lang="en-US" altLang="zh-TW" b="0" dirty="0">
                          <a:solidFill>
                            <a:schemeClr val="tx1">
                              <a:lumMod val="85000"/>
                              <a:lumOff val="15000"/>
                            </a:schemeClr>
                          </a:solidFill>
                        </a:rPr>
                        <a:t>12+80+13=105</a:t>
                      </a:r>
                    </a:p>
                    <a:p>
                      <a:r>
                        <a:rPr lang="en-US" altLang="zh-TW" b="0" dirty="0">
                          <a:solidFill>
                            <a:schemeClr val="tx1">
                              <a:lumMod val="85000"/>
                              <a:lumOff val="15000"/>
                            </a:schemeClr>
                          </a:solidFill>
                        </a:rPr>
                        <a:t>9+77+13=99</a:t>
                      </a:r>
                    </a:p>
                    <a:p>
                      <a:r>
                        <a:rPr lang="en-US" altLang="zh-TW" b="0" dirty="0">
                          <a:solidFill>
                            <a:schemeClr val="tx1">
                              <a:lumMod val="85000"/>
                              <a:lumOff val="15000"/>
                            </a:schemeClr>
                          </a:solidFill>
                        </a:rPr>
                        <a:t>11+80+13=104</a:t>
                      </a:r>
                    </a:p>
                    <a:p>
                      <a:r>
                        <a:rPr lang="en-US" altLang="zh-TW" b="0" dirty="0">
                          <a:solidFill>
                            <a:schemeClr val="tx1">
                              <a:lumMod val="85000"/>
                              <a:lumOff val="15000"/>
                            </a:schemeClr>
                          </a:solidFill>
                        </a:rPr>
                        <a:t>14+68.9+13=95.9</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0</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108+0=108</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8964082"/>
                  </a:ext>
                </a:extLst>
              </a:tr>
              <a:tr h="370840">
                <a:tc>
                  <a:txBody>
                    <a:bodyPr/>
                    <a:lstStyle/>
                    <a:p>
                      <a:r>
                        <a:rPr lang="en-US" altLang="zh-TW" b="0" dirty="0">
                          <a:solidFill>
                            <a:schemeClr val="tx1">
                              <a:lumMod val="85000"/>
                              <a:lumOff val="15000"/>
                            </a:schemeClr>
                          </a:solidFill>
                        </a:rPr>
                        <a:t>2</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19+35.6+16.6=71.2</a:t>
                      </a:r>
                    </a:p>
                    <a:p>
                      <a:r>
                        <a:rPr lang="en-US" altLang="zh-TW" b="0" dirty="0">
                          <a:solidFill>
                            <a:schemeClr val="tx1">
                              <a:lumMod val="85000"/>
                              <a:lumOff val="15000"/>
                            </a:schemeClr>
                          </a:solidFill>
                        </a:rPr>
                        <a:t>16+44.3+16.6=77</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13+18=31</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77+31=108</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5747870"/>
                  </a:ext>
                </a:extLst>
              </a:tr>
              <a:tr h="370840">
                <a:tc>
                  <a:txBody>
                    <a:bodyPr/>
                    <a:lstStyle/>
                    <a:p>
                      <a:r>
                        <a:rPr lang="en-US" altLang="zh-TW" b="0" dirty="0">
                          <a:solidFill>
                            <a:schemeClr val="tx1">
                              <a:lumMod val="85000"/>
                              <a:lumOff val="15000"/>
                            </a:schemeClr>
                          </a:solidFill>
                        </a:rPr>
                        <a:t>3</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14.3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23+42.6+14.3=80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13+12=25</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80+25=105</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2398150"/>
                  </a:ext>
                </a:extLst>
              </a:tr>
              <a:tr h="370840">
                <a:tc>
                  <a:txBody>
                    <a:bodyPr/>
                    <a:lstStyle/>
                    <a:p>
                      <a:r>
                        <a:rPr lang="en-US" altLang="zh-TW" b="0" dirty="0">
                          <a:solidFill>
                            <a:schemeClr val="tx1">
                              <a:lumMod val="85000"/>
                              <a:lumOff val="15000"/>
                            </a:schemeClr>
                          </a:solidFill>
                        </a:rPr>
                        <a:t>4</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27+35.6+12.6=75.32</a:t>
                      </a:r>
                    </a:p>
                    <a:p>
                      <a:r>
                        <a:rPr lang="en-US" altLang="zh-TW" b="0" dirty="0">
                          <a:solidFill>
                            <a:schemeClr val="tx1">
                              <a:lumMod val="85000"/>
                              <a:lumOff val="15000"/>
                            </a:schemeClr>
                          </a:solidFill>
                        </a:rPr>
                        <a:t>23+44.3+12.6=80</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13+9=22</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80+22=102</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5222966"/>
                  </a:ext>
                </a:extLst>
              </a:tr>
              <a:tr h="370840">
                <a:tc>
                  <a:txBody>
                    <a:bodyPr/>
                    <a:lstStyle/>
                    <a:p>
                      <a:r>
                        <a:rPr lang="en-US" altLang="zh-TW" b="0" dirty="0">
                          <a:solidFill>
                            <a:schemeClr val="tx1">
                              <a:lumMod val="85000"/>
                              <a:lumOff val="15000"/>
                            </a:schemeClr>
                          </a:solidFill>
                        </a:rPr>
                        <a:t>5</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13+11.6+44.3=68.9</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13+11=24</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69+24=93</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067245"/>
                  </a:ext>
                </a:extLst>
              </a:tr>
              <a:tr h="370840">
                <a:tc>
                  <a:txBody>
                    <a:bodyPr/>
                    <a:lstStyle/>
                    <a:p>
                      <a:r>
                        <a:rPr lang="en-US" altLang="zh-TW" b="0" dirty="0">
                          <a:solidFill>
                            <a:schemeClr val="tx1">
                              <a:lumMod val="85000"/>
                              <a:lumOff val="15000"/>
                            </a:schemeClr>
                          </a:solidFill>
                        </a:rPr>
                        <a:t>6</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15+35.6+12.6=63.2</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13+14=27</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63.3+2=90.3</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209506"/>
                  </a:ext>
                </a:extLst>
              </a:tr>
              <a:tr h="370840">
                <a:tc>
                  <a:txBody>
                    <a:bodyPr/>
                    <a:lstStyle/>
                    <a:p>
                      <a:r>
                        <a:rPr lang="en-US" altLang="zh-TW" b="0" dirty="0">
                          <a:solidFill>
                            <a:schemeClr val="tx1">
                              <a:lumMod val="85000"/>
                              <a:lumOff val="15000"/>
                            </a:schemeClr>
                          </a:solidFill>
                        </a:rPr>
                        <a:t>7</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17+14.6+11=42.6</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25+23+14.3=62.3</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42.6+62.3=105</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8274574"/>
                  </a:ext>
                </a:extLst>
              </a:tr>
              <a:tr h="370840">
                <a:tc>
                  <a:txBody>
                    <a:bodyPr/>
                    <a:lstStyle/>
                    <a:p>
                      <a:r>
                        <a:rPr lang="en-US" altLang="zh-TW" b="0" dirty="0">
                          <a:solidFill>
                            <a:schemeClr val="tx1">
                              <a:lumMod val="85000"/>
                              <a:lumOff val="15000"/>
                            </a:schemeClr>
                          </a:solidFill>
                        </a:rPr>
                        <a:t>8</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10+14.6+11=35.6</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31+19+16.6=66.6</a:t>
                      </a:r>
                    </a:p>
                    <a:p>
                      <a:r>
                        <a:rPr lang="en-US" altLang="zh-TW" b="0" dirty="0">
                          <a:solidFill>
                            <a:schemeClr val="tx1">
                              <a:lumMod val="85000"/>
                              <a:lumOff val="15000"/>
                            </a:schemeClr>
                          </a:solidFill>
                        </a:rPr>
                        <a:t>22+27+12.6=61.6</a:t>
                      </a:r>
                    </a:p>
                    <a:p>
                      <a:r>
                        <a:rPr lang="en-US" altLang="zh-TW" b="0" dirty="0">
                          <a:solidFill>
                            <a:schemeClr val="tx1">
                              <a:lumMod val="85000"/>
                              <a:lumOff val="15000"/>
                            </a:schemeClr>
                          </a:solidFill>
                        </a:rPr>
                        <a:t>27+15+12.6=54.6</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35.6+66.6=102.3</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3582051"/>
                  </a:ext>
                </a:extLst>
              </a:tr>
              <a:tr h="370840">
                <a:tc>
                  <a:txBody>
                    <a:bodyPr/>
                    <a:lstStyle/>
                    <a:p>
                      <a:r>
                        <a:rPr lang="en-US" altLang="zh-TW" b="0" dirty="0">
                          <a:solidFill>
                            <a:schemeClr val="tx1">
                              <a:lumMod val="85000"/>
                              <a:lumOff val="15000"/>
                            </a:schemeClr>
                          </a:solidFill>
                        </a:rPr>
                        <a:t>9</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13+16.6+14.6=44.3</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21+16+16.6=63.6</a:t>
                      </a:r>
                    </a:p>
                    <a:p>
                      <a:r>
                        <a:rPr lang="en-US" altLang="zh-TW" b="0" dirty="0">
                          <a:solidFill>
                            <a:schemeClr val="tx1">
                              <a:lumMod val="85000"/>
                              <a:lumOff val="15000"/>
                            </a:schemeClr>
                          </a:solidFill>
                        </a:rPr>
                        <a:t>22+23+12.6=57.6</a:t>
                      </a:r>
                    </a:p>
                    <a:p>
                      <a:r>
                        <a:rPr lang="en-US" altLang="zh-TW" b="0" dirty="0">
                          <a:solidFill>
                            <a:schemeClr val="tx1">
                              <a:lumMod val="85000"/>
                              <a:lumOff val="15000"/>
                            </a:schemeClr>
                          </a:solidFill>
                        </a:rPr>
                        <a:t>24+13+11.6=48.6</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44.3+63.6=108</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1107250"/>
                  </a:ext>
                </a:extLst>
              </a:tr>
              <a:tr h="370840">
                <a:tc>
                  <a:txBody>
                    <a:bodyPr/>
                    <a:lstStyle/>
                    <a:p>
                      <a:r>
                        <a:rPr lang="en-US" altLang="zh-TW" b="0" dirty="0">
                          <a:solidFill>
                            <a:schemeClr val="tx1">
                              <a:lumMod val="85000"/>
                              <a:lumOff val="15000"/>
                            </a:schemeClr>
                          </a:solidFill>
                        </a:rPr>
                        <a:t>10</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0+14.6+0=14.6</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62.3+17+11=90.3</a:t>
                      </a:r>
                    </a:p>
                    <a:p>
                      <a:r>
                        <a:rPr lang="en-US" altLang="zh-TW" b="0" dirty="0">
                          <a:solidFill>
                            <a:schemeClr val="tx1">
                              <a:lumMod val="85000"/>
                              <a:lumOff val="15000"/>
                            </a:schemeClr>
                          </a:solidFill>
                        </a:rPr>
                        <a:t>66.6+11+10=87.6</a:t>
                      </a:r>
                    </a:p>
                    <a:p>
                      <a:r>
                        <a:rPr lang="en-US" altLang="zh-TW" b="0" dirty="0">
                          <a:solidFill>
                            <a:schemeClr val="tx1">
                              <a:lumMod val="85000"/>
                              <a:lumOff val="15000"/>
                            </a:schemeClr>
                          </a:solidFill>
                        </a:rPr>
                        <a:t>63.6+13+16.6=93.3</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14.6+93.3=108</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52733"/>
                  </a:ext>
                </a:extLst>
              </a:tr>
            </a:tbl>
          </a:graphicData>
        </a:graphic>
      </p:graphicFrame>
      <p:pic>
        <p:nvPicPr>
          <p:cNvPr id="5" name="圖片 4" descr="一張含有 文字, 裝置, 收據 的圖片&#10;&#10;自動產生的描述">
            <a:extLst>
              <a:ext uri="{FF2B5EF4-FFF2-40B4-BE49-F238E27FC236}">
                <a16:creationId xmlns:a16="http://schemas.microsoft.com/office/drawing/2014/main" id="{76625A29-1DE8-4779-888A-107AA4DA5F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4048" y="3429000"/>
            <a:ext cx="3057952" cy="3515216"/>
          </a:xfrm>
          <a:prstGeom prst="rect">
            <a:avLst/>
          </a:prstGeom>
        </p:spPr>
      </p:pic>
      <p:pic>
        <p:nvPicPr>
          <p:cNvPr id="6" name="內容版面配置區 4">
            <a:extLst>
              <a:ext uri="{FF2B5EF4-FFF2-40B4-BE49-F238E27FC236}">
                <a16:creationId xmlns:a16="http://schemas.microsoft.com/office/drawing/2014/main" id="{9685B0C6-F2BF-430A-8B27-AB0B12839DAE}"/>
              </a:ext>
            </a:extLst>
          </p:cNvPr>
          <p:cNvPicPr>
            <a:picLocks noChangeAspect="1"/>
          </p:cNvPicPr>
          <p:nvPr/>
        </p:nvPicPr>
        <p:blipFill rotWithShape="1">
          <a:blip r:embed="rId4">
            <a:extLst>
              <a:ext uri="{28A0092B-C50C-407E-A947-70E740481C1C}">
                <a14:useLocalDpi xmlns:a14="http://schemas.microsoft.com/office/drawing/2010/main" val="0"/>
              </a:ext>
            </a:extLst>
          </a:blip>
          <a:srcRect l="11069" r="8671" b="773"/>
          <a:stretch/>
        </p:blipFill>
        <p:spPr>
          <a:xfrm>
            <a:off x="8537233" y="0"/>
            <a:ext cx="3654767" cy="4000500"/>
          </a:xfrm>
          <a:prstGeom prst="rect">
            <a:avLst/>
          </a:prstGeom>
        </p:spPr>
      </p:pic>
    </p:spTree>
    <p:extLst>
      <p:ext uri="{BB962C8B-B14F-4D97-AF65-F5344CB8AC3E}">
        <p14:creationId xmlns:p14="http://schemas.microsoft.com/office/powerpoint/2010/main" val="2220686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62CA15-447A-43CC-AA4E-2C73DAFCC3D5}"/>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977F66DE-5111-4C9A-9918-74FE6F8BF6EE}"/>
              </a:ext>
            </a:extLst>
          </p:cNvPr>
          <p:cNvSpPr>
            <a:spLocks noGrp="1"/>
          </p:cNvSpPr>
          <p:nvPr>
            <p:ph idx="1"/>
          </p:nvPr>
        </p:nvSpPr>
        <p:spPr/>
        <p:txBody>
          <a:bodyPr/>
          <a:lstStyle/>
          <a:p>
            <a:pPr marL="0" indent="0">
              <a:buNone/>
            </a:pPr>
            <a:r>
              <a:rPr lang="en-US" altLang="zh-TW" dirty="0"/>
              <a:t>Critical path{1,2,9,10}</a:t>
            </a:r>
          </a:p>
          <a:p>
            <a:pPr marL="0" indent="0">
              <a:buNone/>
            </a:pPr>
            <a:r>
              <a:rPr lang="en-US" altLang="zh-TW" dirty="0"/>
              <a:t>P1: 14+13+18+21=60</a:t>
            </a:r>
          </a:p>
          <a:p>
            <a:pPr marL="0" indent="0">
              <a:buNone/>
            </a:pPr>
            <a:r>
              <a:rPr lang="en-US" altLang="zh-TW" dirty="0"/>
              <a:t>P2: 16+19+12+7=54</a:t>
            </a:r>
          </a:p>
          <a:p>
            <a:pPr marL="0" indent="0">
              <a:buNone/>
            </a:pPr>
            <a:r>
              <a:rPr lang="en-US" altLang="zh-TW" dirty="0"/>
              <a:t>P3: 9+18+20+16= 63</a:t>
            </a:r>
            <a:endParaRPr lang="zh-TW" altLang="en-US" dirty="0"/>
          </a:p>
        </p:txBody>
      </p:sp>
      <p:pic>
        <p:nvPicPr>
          <p:cNvPr id="4" name="圖片 3" descr="一張含有 文字, 裝置, 收據 的圖片&#10;&#10;自動產生的描述">
            <a:extLst>
              <a:ext uri="{FF2B5EF4-FFF2-40B4-BE49-F238E27FC236}">
                <a16:creationId xmlns:a16="http://schemas.microsoft.com/office/drawing/2014/main" id="{E6D52CDB-3EA1-46FA-97A8-5C00F2E55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4048" y="3429000"/>
            <a:ext cx="3057952" cy="3515216"/>
          </a:xfrm>
          <a:prstGeom prst="rect">
            <a:avLst/>
          </a:prstGeom>
        </p:spPr>
      </p:pic>
      <p:pic>
        <p:nvPicPr>
          <p:cNvPr id="5" name="內容版面配置區 4">
            <a:extLst>
              <a:ext uri="{FF2B5EF4-FFF2-40B4-BE49-F238E27FC236}">
                <a16:creationId xmlns:a16="http://schemas.microsoft.com/office/drawing/2014/main" id="{D85A39B9-AD71-4178-9CF9-7A6B13946D7F}"/>
              </a:ext>
            </a:extLst>
          </p:cNvPr>
          <p:cNvPicPr>
            <a:picLocks noChangeAspect="1"/>
          </p:cNvPicPr>
          <p:nvPr/>
        </p:nvPicPr>
        <p:blipFill rotWithShape="1">
          <a:blip r:embed="rId3">
            <a:extLst>
              <a:ext uri="{28A0092B-C50C-407E-A947-70E740481C1C}">
                <a14:useLocalDpi xmlns:a14="http://schemas.microsoft.com/office/drawing/2010/main" val="0"/>
              </a:ext>
            </a:extLst>
          </a:blip>
          <a:srcRect l="11069" r="8671" b="773"/>
          <a:stretch/>
        </p:blipFill>
        <p:spPr>
          <a:xfrm>
            <a:off x="8537233" y="0"/>
            <a:ext cx="3654767" cy="4000500"/>
          </a:xfrm>
          <a:prstGeom prst="rect">
            <a:avLst/>
          </a:prstGeom>
        </p:spPr>
      </p:pic>
    </p:spTree>
    <p:extLst>
      <p:ext uri="{BB962C8B-B14F-4D97-AF65-F5344CB8AC3E}">
        <p14:creationId xmlns:p14="http://schemas.microsoft.com/office/powerpoint/2010/main" val="2384369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9967A52A-999A-4E58-B002-427F30DBCF06}"/>
              </a:ext>
            </a:extLst>
          </p:cNvPr>
          <p:cNvGraphicFramePr>
            <a:graphicFrameLocks noGrp="1"/>
          </p:cNvGraphicFramePr>
          <p:nvPr>
            <p:ph idx="1"/>
            <p:extLst>
              <p:ext uri="{D42A27DB-BD31-4B8C-83A1-F6EECF244321}">
                <p14:modId xmlns:p14="http://schemas.microsoft.com/office/powerpoint/2010/main" val="760366675"/>
              </p:ext>
            </p:extLst>
          </p:nvPr>
        </p:nvGraphicFramePr>
        <p:xfrm>
          <a:off x="437319" y="0"/>
          <a:ext cx="8398321" cy="6851374"/>
        </p:xfrm>
        <a:graphic>
          <a:graphicData uri="http://schemas.openxmlformats.org/drawingml/2006/table">
            <a:tbl>
              <a:tblPr firstRow="1" bandRow="1">
                <a:tableStyleId>{5C22544A-7EE6-4342-B048-85BDC9FD1C3A}</a:tableStyleId>
              </a:tblPr>
              <a:tblGrid>
                <a:gridCol w="607176">
                  <a:extLst>
                    <a:ext uri="{9D8B030D-6E8A-4147-A177-3AD203B41FA5}">
                      <a16:colId xmlns:a16="http://schemas.microsoft.com/office/drawing/2014/main" val="282190175"/>
                    </a:ext>
                  </a:extLst>
                </a:gridCol>
                <a:gridCol w="607176">
                  <a:extLst>
                    <a:ext uri="{9D8B030D-6E8A-4147-A177-3AD203B41FA5}">
                      <a16:colId xmlns:a16="http://schemas.microsoft.com/office/drawing/2014/main" val="860759584"/>
                    </a:ext>
                  </a:extLst>
                </a:gridCol>
                <a:gridCol w="2081866">
                  <a:extLst>
                    <a:ext uri="{9D8B030D-6E8A-4147-A177-3AD203B41FA5}">
                      <a16:colId xmlns:a16="http://schemas.microsoft.com/office/drawing/2014/main" val="127387840"/>
                    </a:ext>
                  </a:extLst>
                </a:gridCol>
                <a:gridCol w="2004644">
                  <a:extLst>
                    <a:ext uri="{9D8B030D-6E8A-4147-A177-3AD203B41FA5}">
                      <a16:colId xmlns:a16="http://schemas.microsoft.com/office/drawing/2014/main" val="2590283341"/>
                    </a:ext>
                  </a:extLst>
                </a:gridCol>
                <a:gridCol w="1758984">
                  <a:extLst>
                    <a:ext uri="{9D8B030D-6E8A-4147-A177-3AD203B41FA5}">
                      <a16:colId xmlns:a16="http://schemas.microsoft.com/office/drawing/2014/main" val="3517178521"/>
                    </a:ext>
                  </a:extLst>
                </a:gridCol>
                <a:gridCol w="1338475">
                  <a:extLst>
                    <a:ext uri="{9D8B030D-6E8A-4147-A177-3AD203B41FA5}">
                      <a16:colId xmlns:a16="http://schemas.microsoft.com/office/drawing/2014/main" val="424796034"/>
                    </a:ext>
                  </a:extLst>
                </a:gridCol>
              </a:tblGrid>
              <a:tr h="331304">
                <a:tc>
                  <a:txBody>
                    <a:bodyPr/>
                    <a:lstStyle/>
                    <a:p>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rank(up)</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Rank(down)</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Rank(</a:t>
                      </a:r>
                      <a:r>
                        <a:rPr lang="en-US" altLang="zh-TW" sz="1600" b="0" dirty="0" err="1">
                          <a:solidFill>
                            <a:schemeClr val="tx1">
                              <a:lumMod val="85000"/>
                              <a:lumOff val="15000"/>
                            </a:schemeClr>
                          </a:solidFill>
                        </a:rPr>
                        <a:t>up+down</a:t>
                      </a:r>
                      <a:r>
                        <a:rPr lang="en-US" altLang="zh-TW" sz="1600" b="0" dirty="0">
                          <a:solidFill>
                            <a:schemeClr val="tx1">
                              <a:lumMod val="85000"/>
                              <a:lumOff val="15000"/>
                            </a:schemeClr>
                          </a:solidFill>
                        </a:rPr>
                        <a:t>)</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4337942"/>
                  </a:ext>
                </a:extLst>
              </a:tr>
              <a:tr h="1254981">
                <a:tc>
                  <a:txBody>
                    <a:bodyPr/>
                    <a:lstStyle/>
                    <a:p>
                      <a:r>
                        <a:rPr lang="en-US" altLang="zh-TW" sz="1600" b="0" dirty="0">
                          <a:solidFill>
                            <a:schemeClr val="tx1">
                              <a:lumMod val="85000"/>
                              <a:lumOff val="15000"/>
                            </a:schemeClr>
                          </a:solidFill>
                        </a:rPr>
                        <a:t>1</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b="0" dirty="0">
                          <a:solidFill>
                            <a:schemeClr val="tx1"/>
                          </a:solidFill>
                        </a:rPr>
                        <a:t>13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18+77+13=108</a:t>
                      </a:r>
                    </a:p>
                    <a:p>
                      <a:r>
                        <a:rPr lang="en-US" altLang="zh-TW" sz="1600" b="0" dirty="0">
                          <a:solidFill>
                            <a:schemeClr val="tx1">
                              <a:lumMod val="85000"/>
                              <a:lumOff val="15000"/>
                            </a:schemeClr>
                          </a:solidFill>
                        </a:rPr>
                        <a:t>12+80+13=105</a:t>
                      </a:r>
                    </a:p>
                    <a:p>
                      <a:r>
                        <a:rPr lang="en-US" altLang="zh-TW" sz="1600" b="0" dirty="0">
                          <a:solidFill>
                            <a:schemeClr val="tx1">
                              <a:lumMod val="85000"/>
                              <a:lumOff val="15000"/>
                            </a:schemeClr>
                          </a:solidFill>
                        </a:rPr>
                        <a:t>9+77+13=99</a:t>
                      </a:r>
                    </a:p>
                    <a:p>
                      <a:r>
                        <a:rPr lang="en-US" altLang="zh-TW" sz="1600" b="0" dirty="0">
                          <a:solidFill>
                            <a:schemeClr val="tx1">
                              <a:lumMod val="85000"/>
                              <a:lumOff val="15000"/>
                            </a:schemeClr>
                          </a:solidFill>
                        </a:rPr>
                        <a:t>11+80+13=104</a:t>
                      </a:r>
                    </a:p>
                    <a:p>
                      <a:r>
                        <a:rPr lang="en-US" altLang="zh-TW" sz="1600" b="0" dirty="0">
                          <a:solidFill>
                            <a:schemeClr val="tx1">
                              <a:lumMod val="85000"/>
                              <a:lumOff val="15000"/>
                            </a:schemeClr>
                          </a:solidFill>
                        </a:rPr>
                        <a:t>14+68.9+13=95.9</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0</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108+0=108</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8964082"/>
                  </a:ext>
                </a:extLst>
              </a:tr>
              <a:tr h="527437">
                <a:tc>
                  <a:txBody>
                    <a:bodyPr/>
                    <a:lstStyle/>
                    <a:p>
                      <a:r>
                        <a:rPr lang="en-US" altLang="zh-TW" sz="1600" b="0" dirty="0">
                          <a:solidFill>
                            <a:schemeClr val="tx1">
                              <a:lumMod val="85000"/>
                              <a:lumOff val="15000"/>
                            </a:schemeClr>
                          </a:solidFill>
                        </a:rPr>
                        <a:t>2</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dirty="0"/>
                        <a:t>16.6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19+35.6+16.6=71.2</a:t>
                      </a:r>
                    </a:p>
                    <a:p>
                      <a:r>
                        <a:rPr lang="en-US" altLang="zh-TW" sz="1600" b="0" dirty="0">
                          <a:solidFill>
                            <a:schemeClr val="tx1">
                              <a:lumMod val="85000"/>
                              <a:lumOff val="15000"/>
                            </a:schemeClr>
                          </a:solidFill>
                        </a:rPr>
                        <a:t>16+44.3+16.6=77</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13+18=31</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77+31=108</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5747870"/>
                  </a:ext>
                </a:extLst>
              </a:tr>
              <a:tr h="319377">
                <a:tc>
                  <a:txBody>
                    <a:bodyPr/>
                    <a:lstStyle/>
                    <a:p>
                      <a:r>
                        <a:rPr lang="en-US" altLang="zh-TW" sz="1600" b="0" dirty="0">
                          <a:solidFill>
                            <a:schemeClr val="tx1">
                              <a:lumMod val="85000"/>
                              <a:lumOff val="15000"/>
                            </a:schemeClr>
                          </a:solidFill>
                        </a:rPr>
                        <a:t>3</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dirty="0"/>
                        <a:t>14.3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23+42.6+14.3=80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13+12=25</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80+25=105</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2398150"/>
                  </a:ext>
                </a:extLst>
              </a:tr>
              <a:tr h="567193">
                <a:tc>
                  <a:txBody>
                    <a:bodyPr/>
                    <a:lstStyle/>
                    <a:p>
                      <a:r>
                        <a:rPr lang="en-US" altLang="zh-TW" sz="1600" b="0" dirty="0">
                          <a:solidFill>
                            <a:schemeClr val="tx1">
                              <a:lumMod val="85000"/>
                              <a:lumOff val="15000"/>
                            </a:schemeClr>
                          </a:solidFill>
                        </a:rPr>
                        <a:t>4</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dirty="0"/>
                        <a:t>12.6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27+35.6+12.6=75.32</a:t>
                      </a:r>
                    </a:p>
                    <a:p>
                      <a:r>
                        <a:rPr lang="en-US" altLang="zh-TW" sz="1600" b="0" dirty="0">
                          <a:solidFill>
                            <a:schemeClr val="tx1">
                              <a:lumMod val="85000"/>
                              <a:lumOff val="15000"/>
                            </a:schemeClr>
                          </a:solidFill>
                        </a:rPr>
                        <a:t>23+44.3+12.6=80</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13+9=22</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80+22=102</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5222966"/>
                  </a:ext>
                </a:extLst>
              </a:tr>
              <a:tr h="279621">
                <a:tc>
                  <a:txBody>
                    <a:bodyPr/>
                    <a:lstStyle/>
                    <a:p>
                      <a:r>
                        <a:rPr lang="en-US" altLang="zh-TW" sz="1600" b="0" dirty="0">
                          <a:solidFill>
                            <a:schemeClr val="tx1">
                              <a:lumMod val="85000"/>
                              <a:lumOff val="15000"/>
                            </a:schemeClr>
                          </a:solidFill>
                        </a:rPr>
                        <a:t>5</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dirty="0"/>
                        <a:t>11.6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13+11.6+44.3=68.9</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13+11=24</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69+24=93</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067245"/>
                  </a:ext>
                </a:extLst>
              </a:tr>
              <a:tr h="315402">
                <a:tc>
                  <a:txBody>
                    <a:bodyPr/>
                    <a:lstStyle/>
                    <a:p>
                      <a:r>
                        <a:rPr lang="en-US" altLang="zh-TW" sz="1600" b="0" dirty="0">
                          <a:solidFill>
                            <a:schemeClr val="tx1">
                              <a:lumMod val="85000"/>
                              <a:lumOff val="15000"/>
                            </a:schemeClr>
                          </a:solidFill>
                        </a:rPr>
                        <a:t>6</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dirty="0"/>
                        <a:t>12.6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15+35.6+12.6=63.2</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13+14=27</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63.3+2=90.3</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209506"/>
                  </a:ext>
                </a:extLst>
              </a:tr>
              <a:tr h="351183">
                <a:tc>
                  <a:txBody>
                    <a:bodyPr/>
                    <a:lstStyle/>
                    <a:p>
                      <a:r>
                        <a:rPr lang="en-US" altLang="zh-TW" sz="1600" b="0" dirty="0">
                          <a:solidFill>
                            <a:schemeClr val="tx1">
                              <a:lumMod val="85000"/>
                              <a:lumOff val="15000"/>
                            </a:schemeClr>
                          </a:solidFill>
                        </a:rPr>
                        <a:t>7</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dirty="0"/>
                        <a:t>11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17+14.6+11=42.6</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25+23+14.3=62.3</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42.6+62.3=105</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8274574"/>
                  </a:ext>
                </a:extLst>
              </a:tr>
              <a:tr h="781878">
                <a:tc>
                  <a:txBody>
                    <a:bodyPr/>
                    <a:lstStyle/>
                    <a:p>
                      <a:r>
                        <a:rPr lang="en-US" altLang="zh-TW" sz="1600" b="0" dirty="0">
                          <a:solidFill>
                            <a:schemeClr val="tx1">
                              <a:lumMod val="85000"/>
                              <a:lumOff val="15000"/>
                            </a:schemeClr>
                          </a:solidFill>
                        </a:rPr>
                        <a:t>8</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600" dirty="0"/>
                        <a:t>10</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10+14.6+11=35.6</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31+19+16.6=66.6</a:t>
                      </a:r>
                    </a:p>
                    <a:p>
                      <a:r>
                        <a:rPr lang="en-US" altLang="zh-TW" sz="1600" b="0" dirty="0">
                          <a:solidFill>
                            <a:schemeClr val="tx1">
                              <a:lumMod val="85000"/>
                              <a:lumOff val="15000"/>
                            </a:schemeClr>
                          </a:solidFill>
                        </a:rPr>
                        <a:t>22+27+12.6=61.6</a:t>
                      </a:r>
                    </a:p>
                    <a:p>
                      <a:r>
                        <a:rPr lang="en-US" altLang="zh-TW" sz="1600" b="0" dirty="0">
                          <a:solidFill>
                            <a:schemeClr val="tx1">
                              <a:lumMod val="85000"/>
                              <a:lumOff val="15000"/>
                            </a:schemeClr>
                          </a:solidFill>
                        </a:rPr>
                        <a:t>27+15+12.6=54.6</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lumMod val="85000"/>
                              <a:lumOff val="15000"/>
                            </a:schemeClr>
                          </a:solidFill>
                        </a:rPr>
                        <a:t>35.6+66.6=102.3</a:t>
                      </a:r>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3582051"/>
                  </a:ext>
                </a:extLst>
              </a:tr>
              <a:tr h="833561">
                <a:tc>
                  <a:txBody>
                    <a:bodyPr/>
                    <a:lstStyle/>
                    <a:p>
                      <a:r>
                        <a:rPr lang="en-US" altLang="zh-TW" b="0" dirty="0">
                          <a:solidFill>
                            <a:schemeClr val="tx1">
                              <a:lumMod val="85000"/>
                              <a:lumOff val="15000"/>
                            </a:schemeClr>
                          </a:solidFill>
                        </a:rPr>
                        <a:t>9</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13+16.6+14.6=44.3</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21+16+16.6=63.6</a:t>
                      </a:r>
                    </a:p>
                    <a:p>
                      <a:r>
                        <a:rPr lang="en-US" altLang="zh-TW" b="0" dirty="0">
                          <a:solidFill>
                            <a:schemeClr val="tx1">
                              <a:lumMod val="85000"/>
                              <a:lumOff val="15000"/>
                            </a:schemeClr>
                          </a:solidFill>
                        </a:rPr>
                        <a:t>22+23+12.6=57.6</a:t>
                      </a:r>
                    </a:p>
                    <a:p>
                      <a:r>
                        <a:rPr lang="en-US" altLang="zh-TW" b="0" dirty="0">
                          <a:solidFill>
                            <a:schemeClr val="tx1">
                              <a:lumMod val="85000"/>
                              <a:lumOff val="15000"/>
                            </a:schemeClr>
                          </a:solidFill>
                        </a:rPr>
                        <a:t>24+13+11.6=48.6</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44.3+63.6=108</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1107250"/>
                  </a:ext>
                </a:extLst>
              </a:tr>
              <a:tr h="952831">
                <a:tc>
                  <a:txBody>
                    <a:bodyPr/>
                    <a:lstStyle/>
                    <a:p>
                      <a:r>
                        <a:rPr lang="en-US" altLang="zh-TW" b="0" dirty="0">
                          <a:solidFill>
                            <a:schemeClr val="tx1">
                              <a:lumMod val="85000"/>
                              <a:lumOff val="15000"/>
                            </a:schemeClr>
                          </a:solidFill>
                        </a:rPr>
                        <a:t>10</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t>14.6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0+14.6+0=14.6</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62.3+17+11=90.3</a:t>
                      </a:r>
                    </a:p>
                    <a:p>
                      <a:r>
                        <a:rPr lang="en-US" altLang="zh-TW" b="0" dirty="0">
                          <a:solidFill>
                            <a:schemeClr val="tx1">
                              <a:lumMod val="85000"/>
                              <a:lumOff val="15000"/>
                            </a:schemeClr>
                          </a:solidFill>
                        </a:rPr>
                        <a:t>66.6+11+10=87.6</a:t>
                      </a:r>
                    </a:p>
                    <a:p>
                      <a:r>
                        <a:rPr lang="en-US" altLang="zh-TW" b="0" dirty="0">
                          <a:solidFill>
                            <a:schemeClr val="tx1">
                              <a:lumMod val="85000"/>
                              <a:lumOff val="15000"/>
                            </a:schemeClr>
                          </a:solidFill>
                        </a:rPr>
                        <a:t>63.6+13+16.6=93.3</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lumMod val="85000"/>
                              <a:lumOff val="15000"/>
                            </a:schemeClr>
                          </a:solidFill>
                        </a:rPr>
                        <a:t>14.6+93.3=108</a:t>
                      </a:r>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52733"/>
                  </a:ext>
                </a:extLst>
              </a:tr>
            </a:tbl>
          </a:graphicData>
        </a:graphic>
      </p:graphicFrame>
      <p:pic>
        <p:nvPicPr>
          <p:cNvPr id="5" name="圖片 4" descr="一張含有 文字, 裝置, 收據 的圖片&#10;&#10;自動產生的描述">
            <a:extLst>
              <a:ext uri="{FF2B5EF4-FFF2-40B4-BE49-F238E27FC236}">
                <a16:creationId xmlns:a16="http://schemas.microsoft.com/office/drawing/2014/main" id="{76625A29-1DE8-4779-888A-107AA4DA5F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4048" y="3429000"/>
            <a:ext cx="3057952" cy="3515216"/>
          </a:xfrm>
          <a:prstGeom prst="rect">
            <a:avLst/>
          </a:prstGeom>
        </p:spPr>
      </p:pic>
      <p:pic>
        <p:nvPicPr>
          <p:cNvPr id="6" name="內容版面配置區 4">
            <a:extLst>
              <a:ext uri="{FF2B5EF4-FFF2-40B4-BE49-F238E27FC236}">
                <a16:creationId xmlns:a16="http://schemas.microsoft.com/office/drawing/2014/main" id="{9685B0C6-F2BF-430A-8B27-AB0B12839DAE}"/>
              </a:ext>
            </a:extLst>
          </p:cNvPr>
          <p:cNvPicPr>
            <a:picLocks noChangeAspect="1"/>
          </p:cNvPicPr>
          <p:nvPr/>
        </p:nvPicPr>
        <p:blipFill rotWithShape="1">
          <a:blip r:embed="rId4">
            <a:extLst>
              <a:ext uri="{28A0092B-C50C-407E-A947-70E740481C1C}">
                <a14:useLocalDpi xmlns:a14="http://schemas.microsoft.com/office/drawing/2010/main" val="0"/>
              </a:ext>
            </a:extLst>
          </a:blip>
          <a:srcRect l="11069" r="8671" b="773"/>
          <a:stretch/>
        </p:blipFill>
        <p:spPr>
          <a:xfrm>
            <a:off x="8537233" y="0"/>
            <a:ext cx="3654767" cy="4000500"/>
          </a:xfrm>
          <a:prstGeom prst="rect">
            <a:avLst/>
          </a:prstGeom>
        </p:spPr>
      </p:pic>
    </p:spTree>
    <p:extLst>
      <p:ext uri="{BB962C8B-B14F-4D97-AF65-F5344CB8AC3E}">
        <p14:creationId xmlns:p14="http://schemas.microsoft.com/office/powerpoint/2010/main" val="319051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9647F2-6686-424B-8AC4-B8366750AFAD}"/>
              </a:ext>
            </a:extLst>
          </p:cNvPr>
          <p:cNvSpPr>
            <a:spLocks noGrp="1"/>
          </p:cNvSpPr>
          <p:nvPr>
            <p:ph type="title"/>
          </p:nvPr>
        </p:nvSpPr>
        <p:spPr/>
        <p:txBody>
          <a:bodyPr/>
          <a:lstStyle/>
          <a:p>
            <a:endParaRPr lang="zh-TW" altLang="en-US"/>
          </a:p>
        </p:txBody>
      </p:sp>
      <p:graphicFrame>
        <p:nvGraphicFramePr>
          <p:cNvPr id="4" name="表格 20">
            <a:extLst>
              <a:ext uri="{FF2B5EF4-FFF2-40B4-BE49-F238E27FC236}">
                <a16:creationId xmlns:a16="http://schemas.microsoft.com/office/drawing/2014/main" id="{4774A4D2-C8A0-466C-AB47-B487639E8A42}"/>
              </a:ext>
            </a:extLst>
          </p:cNvPr>
          <p:cNvGraphicFramePr>
            <a:graphicFrameLocks noGrp="1"/>
          </p:cNvGraphicFramePr>
          <p:nvPr>
            <p:extLst>
              <p:ext uri="{D42A27DB-BD31-4B8C-83A1-F6EECF244321}">
                <p14:modId xmlns:p14="http://schemas.microsoft.com/office/powerpoint/2010/main" val="2585760094"/>
              </p:ext>
            </p:extLst>
          </p:nvPr>
        </p:nvGraphicFramePr>
        <p:xfrm>
          <a:off x="437322" y="365125"/>
          <a:ext cx="2443995" cy="5763097"/>
        </p:xfrm>
        <a:graphic>
          <a:graphicData uri="http://schemas.openxmlformats.org/drawingml/2006/table">
            <a:tbl>
              <a:tblPr firstRow="1" bandRow="1">
                <a:tableStyleId>{5C22544A-7EE6-4342-B048-85BDC9FD1C3A}</a:tableStyleId>
              </a:tblPr>
              <a:tblGrid>
                <a:gridCol w="571610">
                  <a:extLst>
                    <a:ext uri="{9D8B030D-6E8A-4147-A177-3AD203B41FA5}">
                      <a16:colId xmlns:a16="http://schemas.microsoft.com/office/drawing/2014/main" val="1708107604"/>
                    </a:ext>
                  </a:extLst>
                </a:gridCol>
                <a:gridCol w="1872385">
                  <a:extLst>
                    <a:ext uri="{9D8B030D-6E8A-4147-A177-3AD203B41FA5}">
                      <a16:colId xmlns:a16="http://schemas.microsoft.com/office/drawing/2014/main" val="4060969492"/>
                    </a:ext>
                  </a:extLst>
                </a:gridCol>
              </a:tblGrid>
              <a:tr h="353279">
                <a:tc>
                  <a:txBody>
                    <a:bodyPr/>
                    <a:lstStyle/>
                    <a:p>
                      <a:pPr algn="ct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Rank(</a:t>
                      </a:r>
                      <a:r>
                        <a:rPr lang="en-US" altLang="zh-TW" sz="1800" b="0" dirty="0" err="1">
                          <a:solidFill>
                            <a:schemeClr val="tx1">
                              <a:lumMod val="85000"/>
                              <a:lumOff val="15000"/>
                            </a:schemeClr>
                          </a:solidFill>
                          <a:latin typeface="Times New Roman" panose="02020603050405020304" pitchFamily="18" charset="0"/>
                          <a:cs typeface="Times New Roman" panose="02020603050405020304" pitchFamily="18" charset="0"/>
                        </a:rPr>
                        <a:t>up+down</a:t>
                      </a: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0155"/>
                  </a:ext>
                </a:extLst>
              </a:tr>
              <a:tr h="520590">
                <a:tc>
                  <a:txBody>
                    <a:bodyPr/>
                    <a:lstStyle/>
                    <a:p>
                      <a:pPr algn="ctr">
                        <a:lnSpc>
                          <a:spcPct val="150000"/>
                        </a:lnSpc>
                      </a:pPr>
                      <a:r>
                        <a:rPr lang="en-US" altLang="zh-TW" sz="2000" b="0" dirty="0">
                          <a:solidFill>
                            <a:schemeClr val="tx1"/>
                          </a:solidFill>
                          <a:latin typeface="Times New Roman" panose="02020603050405020304" pitchFamily="18" charset="0"/>
                          <a:cs typeface="Times New Roman" panose="02020603050405020304" pitchFamily="18" charset="0"/>
                        </a:rPr>
                        <a:t>1</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108+0=108</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520590">
                <a:tc>
                  <a:txBody>
                    <a:bodyPr/>
                    <a:lstStyle/>
                    <a:p>
                      <a:pPr algn="ctr">
                        <a:lnSpc>
                          <a:spcPct val="150000"/>
                        </a:lnSpc>
                      </a:pP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77+31=108</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20590">
                <a:tc>
                  <a:txBody>
                    <a:bodyPr/>
                    <a:lstStyle/>
                    <a:p>
                      <a:pPr algn="ctr">
                        <a:lnSpc>
                          <a:spcPct val="150000"/>
                        </a:lnSpc>
                      </a:pPr>
                      <a:r>
                        <a:rPr lang="en-US" altLang="zh-TW" sz="2000" dirty="0">
                          <a:latin typeface="Times New Roman" panose="02020603050405020304" pitchFamily="18" charset="0"/>
                          <a:cs typeface="Times New Roman" panose="02020603050405020304" pitchFamily="18" charset="0"/>
                        </a:rPr>
                        <a:t>3</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80+25=105</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520590">
                <a:tc>
                  <a:txBody>
                    <a:bodyPr/>
                    <a:lstStyle/>
                    <a:p>
                      <a:pPr algn="ctr">
                        <a:lnSpc>
                          <a:spcPct val="150000"/>
                        </a:lnSpc>
                      </a:pPr>
                      <a:r>
                        <a:rPr lang="en-US" altLang="zh-TW" sz="2000" dirty="0">
                          <a:latin typeface="Times New Roman" panose="02020603050405020304" pitchFamily="18" charset="0"/>
                          <a:cs typeface="Times New Roman" panose="02020603050405020304" pitchFamily="18" charset="0"/>
                        </a:rPr>
                        <a:t>4</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80+22=102</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401598">
                <a:tc>
                  <a:txBody>
                    <a:bodyPr/>
                    <a:lstStyle/>
                    <a:p>
                      <a:pPr algn="ctr">
                        <a:lnSpc>
                          <a:spcPct val="150000"/>
                        </a:lnSpc>
                      </a:pPr>
                      <a:r>
                        <a:rPr lang="en-US" altLang="zh-TW" sz="2000" dirty="0">
                          <a:latin typeface="Times New Roman" panose="02020603050405020304" pitchFamily="18" charset="0"/>
                          <a:cs typeface="Times New Roman" panose="02020603050405020304" pitchFamily="18" charset="0"/>
                        </a:rPr>
                        <a:t>5</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69+24=93</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20590">
                <a:tc>
                  <a:txBody>
                    <a:bodyPr/>
                    <a:lstStyle/>
                    <a:p>
                      <a:pPr algn="ctr">
                        <a:lnSpc>
                          <a:spcPct val="150000"/>
                        </a:lnSpc>
                      </a:pPr>
                      <a:r>
                        <a:rPr lang="en-US" altLang="zh-TW" sz="2000" dirty="0">
                          <a:latin typeface="Times New Roman" panose="02020603050405020304" pitchFamily="18" charset="0"/>
                          <a:cs typeface="Times New Roman" panose="02020603050405020304" pitchFamily="18" charset="0"/>
                        </a:rPr>
                        <a:t>6</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63.3+2=90.3</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639582">
                <a:tc>
                  <a:txBody>
                    <a:bodyPr/>
                    <a:lstStyle/>
                    <a:p>
                      <a:pPr algn="ctr">
                        <a:lnSpc>
                          <a:spcPct val="150000"/>
                        </a:lnSpc>
                      </a:pPr>
                      <a:r>
                        <a:rPr lang="en-US" altLang="zh-TW" sz="2000" dirty="0">
                          <a:latin typeface="Times New Roman" panose="02020603050405020304" pitchFamily="18" charset="0"/>
                          <a:cs typeface="Times New Roman" panose="02020603050405020304" pitchFamily="18" charset="0"/>
                        </a:rPr>
                        <a:t>7</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42.6+62.3=105</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551341">
                <a:tc>
                  <a:txBody>
                    <a:bodyPr/>
                    <a:lstStyle/>
                    <a:p>
                      <a:pPr algn="ctr">
                        <a:lnSpc>
                          <a:spcPct val="150000"/>
                        </a:lnSpc>
                      </a:pPr>
                      <a:r>
                        <a:rPr lang="en-US" altLang="zh-TW" sz="2000" dirty="0">
                          <a:latin typeface="Times New Roman" panose="02020603050405020304" pitchFamily="18" charset="0"/>
                          <a:cs typeface="Times New Roman" panose="02020603050405020304" pitchFamily="18" charset="0"/>
                        </a:rPr>
                        <a:t>8</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pPr>
                      <a:r>
                        <a:rPr lang="en-US" altLang="zh-TW" sz="1800" b="0" dirty="0">
                          <a:solidFill>
                            <a:schemeClr val="tx1">
                              <a:lumMod val="85000"/>
                              <a:lumOff val="15000"/>
                            </a:schemeClr>
                          </a:solidFill>
                          <a:latin typeface="Times New Roman" panose="02020603050405020304" pitchFamily="18" charset="0"/>
                          <a:cs typeface="Times New Roman" panose="02020603050405020304" pitchFamily="18" charset="0"/>
                        </a:rPr>
                        <a:t>35.6+66.6=102.3</a:t>
                      </a:r>
                      <a:endParaRPr lang="zh-TW" altLang="en-US" sz="18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585304">
                <a:tc>
                  <a:txBody>
                    <a:bodyPr/>
                    <a:lstStyle/>
                    <a:p>
                      <a:pPr algn="ctr">
                        <a:lnSpc>
                          <a:spcPct val="150000"/>
                        </a:lnSpc>
                      </a:pPr>
                      <a:r>
                        <a:rPr lang="en-US" altLang="zh-TW" sz="2000" dirty="0">
                          <a:latin typeface="Times New Roman" panose="02020603050405020304" pitchFamily="18" charset="0"/>
                          <a:cs typeface="Times New Roman" panose="02020603050405020304" pitchFamily="18" charset="0"/>
                        </a:rPr>
                        <a:t>9</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pPr>
                      <a:r>
                        <a:rPr lang="en-US" altLang="zh-TW" sz="2000" b="0" dirty="0">
                          <a:solidFill>
                            <a:schemeClr val="tx1">
                              <a:lumMod val="85000"/>
                              <a:lumOff val="15000"/>
                            </a:schemeClr>
                          </a:solidFill>
                          <a:latin typeface="Times New Roman" panose="02020603050405020304" pitchFamily="18" charset="0"/>
                          <a:cs typeface="Times New Roman" panose="02020603050405020304" pitchFamily="18" charset="0"/>
                        </a:rPr>
                        <a:t>44.3+63.6=108</a:t>
                      </a:r>
                      <a:endParaRPr lang="zh-TW" altLang="en-US" sz="20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445620">
                <a:tc>
                  <a:txBody>
                    <a:bodyPr/>
                    <a:lstStyle/>
                    <a:p>
                      <a:pPr algn="ctr">
                        <a:lnSpc>
                          <a:spcPct val="150000"/>
                        </a:lnSpc>
                      </a:pPr>
                      <a:r>
                        <a:rPr lang="en-US" altLang="zh-TW" sz="2000" dirty="0">
                          <a:latin typeface="Times New Roman" panose="02020603050405020304" pitchFamily="18" charset="0"/>
                          <a:cs typeface="Times New Roman" panose="02020603050405020304" pitchFamily="18" charset="0"/>
                        </a:rPr>
                        <a:t>10</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pPr>
                      <a:r>
                        <a:rPr lang="en-US" altLang="zh-TW" sz="2000" b="0" dirty="0">
                          <a:solidFill>
                            <a:schemeClr val="tx1">
                              <a:lumMod val="85000"/>
                              <a:lumOff val="15000"/>
                            </a:schemeClr>
                          </a:solidFill>
                          <a:latin typeface="Times New Roman" panose="02020603050405020304" pitchFamily="18" charset="0"/>
                          <a:cs typeface="Times New Roman" panose="02020603050405020304" pitchFamily="18" charset="0"/>
                        </a:rPr>
                        <a:t>14.6+93.3=108</a:t>
                      </a:r>
                      <a:endParaRPr lang="zh-TW" altLang="en-US" sz="2000" b="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pic>
        <p:nvPicPr>
          <p:cNvPr id="5" name="圖片 4" descr="一張含有 文字, 裝置, 收據 的圖片&#10;&#10;自動產生的描述">
            <a:extLst>
              <a:ext uri="{FF2B5EF4-FFF2-40B4-BE49-F238E27FC236}">
                <a16:creationId xmlns:a16="http://schemas.microsoft.com/office/drawing/2014/main" id="{EA03DB07-8CD5-4B7E-870B-E379CF7DF2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9322" y="3481816"/>
            <a:ext cx="3057952" cy="3515216"/>
          </a:xfrm>
          <a:prstGeom prst="rect">
            <a:avLst/>
          </a:prstGeom>
        </p:spPr>
      </p:pic>
      <p:pic>
        <p:nvPicPr>
          <p:cNvPr id="6" name="內容版面配置區 4">
            <a:extLst>
              <a:ext uri="{FF2B5EF4-FFF2-40B4-BE49-F238E27FC236}">
                <a16:creationId xmlns:a16="http://schemas.microsoft.com/office/drawing/2014/main" id="{BBD926A3-6D0E-444C-8B78-65E83426E720}"/>
              </a:ext>
            </a:extLst>
          </p:cNvPr>
          <p:cNvPicPr>
            <a:picLocks noChangeAspect="1"/>
          </p:cNvPicPr>
          <p:nvPr/>
        </p:nvPicPr>
        <p:blipFill rotWithShape="1">
          <a:blip r:embed="rId3">
            <a:extLst>
              <a:ext uri="{28A0092B-C50C-407E-A947-70E740481C1C}">
                <a14:useLocalDpi xmlns:a14="http://schemas.microsoft.com/office/drawing/2010/main" val="0"/>
              </a:ext>
            </a:extLst>
          </a:blip>
          <a:srcRect l="11069" r="8671" b="773"/>
          <a:stretch/>
        </p:blipFill>
        <p:spPr>
          <a:xfrm>
            <a:off x="8422507" y="0"/>
            <a:ext cx="3654767" cy="4000500"/>
          </a:xfrm>
          <a:prstGeom prst="rect">
            <a:avLst/>
          </a:prstGeom>
        </p:spPr>
      </p:pic>
      <p:graphicFrame>
        <p:nvGraphicFramePr>
          <p:cNvPr id="7" name="表格 20">
            <a:extLst>
              <a:ext uri="{FF2B5EF4-FFF2-40B4-BE49-F238E27FC236}">
                <a16:creationId xmlns:a16="http://schemas.microsoft.com/office/drawing/2014/main" id="{3F161D52-FE48-4E18-B623-FF52E63DF4D1}"/>
              </a:ext>
            </a:extLst>
          </p:cNvPr>
          <p:cNvGraphicFramePr>
            <a:graphicFrameLocks noGrp="1"/>
          </p:cNvGraphicFramePr>
          <p:nvPr>
            <p:extLst>
              <p:ext uri="{D42A27DB-BD31-4B8C-83A1-F6EECF244321}">
                <p14:modId xmlns:p14="http://schemas.microsoft.com/office/powerpoint/2010/main" val="1224362483"/>
              </p:ext>
            </p:extLst>
          </p:nvPr>
        </p:nvGraphicFramePr>
        <p:xfrm>
          <a:off x="3257103" y="382328"/>
          <a:ext cx="4018340" cy="5751612"/>
        </p:xfrm>
        <a:graphic>
          <a:graphicData uri="http://schemas.openxmlformats.org/drawingml/2006/table">
            <a:tbl>
              <a:tblPr firstRow="1" bandRow="1">
                <a:tableStyleId>{5C22544A-7EE6-4342-B048-85BDC9FD1C3A}</a:tableStyleId>
              </a:tblPr>
              <a:tblGrid>
                <a:gridCol w="1997949">
                  <a:extLst>
                    <a:ext uri="{9D8B030D-6E8A-4147-A177-3AD203B41FA5}">
                      <a16:colId xmlns:a16="http://schemas.microsoft.com/office/drawing/2014/main" val="1708107604"/>
                    </a:ext>
                  </a:extLst>
                </a:gridCol>
                <a:gridCol w="2020391">
                  <a:extLst>
                    <a:ext uri="{9D8B030D-6E8A-4147-A177-3AD203B41FA5}">
                      <a16:colId xmlns:a16="http://schemas.microsoft.com/office/drawing/2014/main" val="4060969492"/>
                    </a:ext>
                  </a:extLst>
                </a:gridCol>
              </a:tblGrid>
              <a:tr h="440367">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rank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2183855"/>
                  </a:ext>
                </a:extLst>
              </a:tr>
              <a:tr h="440367">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569056">
                <a:tc>
                  <a:txBody>
                    <a:bodyPr/>
                    <a:lstStyle/>
                    <a:p>
                      <a:pPr algn="ctr"/>
                      <a:r>
                        <a:rPr lang="en-US" altLang="zh-TW" dirty="0"/>
                        <a:t>23456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69056">
                <a:tc>
                  <a:txBody>
                    <a:bodyPr/>
                    <a:lstStyle/>
                    <a:p>
                      <a:pPr algn="ctr"/>
                      <a:r>
                        <a:rPr lang="en-US" altLang="zh-TW" dirty="0"/>
                        <a:t>3456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569056">
                <a:tc>
                  <a:txBody>
                    <a:bodyPr/>
                    <a:lstStyle/>
                    <a:p>
                      <a:pPr algn="ctr"/>
                      <a:r>
                        <a:rPr lang="en-US" altLang="zh-TW" dirty="0"/>
                        <a:t>4567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569056">
                <a:tc>
                  <a:txBody>
                    <a:bodyPr/>
                    <a:lstStyle/>
                    <a:p>
                      <a:pPr algn="ctr"/>
                      <a:r>
                        <a:rPr lang="en-US" altLang="zh-TW" dirty="0"/>
                        <a:t>456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12374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69056">
                <a:tc>
                  <a:txBody>
                    <a:bodyPr/>
                    <a:lstStyle/>
                    <a:p>
                      <a:pPr algn="ctr"/>
                      <a:r>
                        <a:rPr lang="en-US" altLang="zh-TW" dirty="0"/>
                        <a:t>56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123745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440367">
                <a:tc>
                  <a:txBody>
                    <a:bodyPr/>
                    <a:lstStyle/>
                    <a:p>
                      <a:pPr algn="ctr"/>
                      <a:r>
                        <a:rPr lang="en-US" altLang="zh-TW" dirty="0"/>
                        <a:t>69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1237459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525845">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12374596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490330">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123745968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569056">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123745968 10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spTree>
    <p:extLst>
      <p:ext uri="{BB962C8B-B14F-4D97-AF65-F5344CB8AC3E}">
        <p14:creationId xmlns:p14="http://schemas.microsoft.com/office/powerpoint/2010/main" val="311881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A480CC-01D2-4611-86B0-FD4613785F7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21656C3-F66A-4B5D-B93B-3DFE0181339D}"/>
              </a:ext>
            </a:extLst>
          </p:cNvPr>
          <p:cNvSpPr>
            <a:spLocks noGrp="1"/>
          </p:cNvSpPr>
          <p:nvPr>
            <p:ph idx="1"/>
          </p:nvPr>
        </p:nvSpPr>
        <p:spPr/>
        <p:txBody>
          <a:bodyPr/>
          <a:lstStyle/>
          <a:p>
            <a:endParaRPr lang="zh-TW" altLang="en-US" dirty="0"/>
          </a:p>
        </p:txBody>
      </p:sp>
      <p:graphicFrame>
        <p:nvGraphicFramePr>
          <p:cNvPr id="4" name="表格 20">
            <a:extLst>
              <a:ext uri="{FF2B5EF4-FFF2-40B4-BE49-F238E27FC236}">
                <a16:creationId xmlns:a16="http://schemas.microsoft.com/office/drawing/2014/main" id="{072D3139-33E7-416F-89DC-806F848CB33A}"/>
              </a:ext>
            </a:extLst>
          </p:cNvPr>
          <p:cNvGraphicFramePr>
            <a:graphicFrameLocks noGrp="1"/>
          </p:cNvGraphicFramePr>
          <p:nvPr>
            <p:extLst>
              <p:ext uri="{D42A27DB-BD31-4B8C-83A1-F6EECF244321}">
                <p14:modId xmlns:p14="http://schemas.microsoft.com/office/powerpoint/2010/main" val="2779575789"/>
              </p:ext>
            </p:extLst>
          </p:nvPr>
        </p:nvGraphicFramePr>
        <p:xfrm>
          <a:off x="180774" y="81964"/>
          <a:ext cx="8946586" cy="6956002"/>
        </p:xfrm>
        <a:graphic>
          <a:graphicData uri="http://schemas.openxmlformats.org/drawingml/2006/table">
            <a:tbl>
              <a:tblPr firstRow="1" bandRow="1">
                <a:tableStyleId>{5C22544A-7EE6-4342-B048-85BDC9FD1C3A}</a:tableStyleId>
              </a:tblPr>
              <a:tblGrid>
                <a:gridCol w="653866">
                  <a:extLst>
                    <a:ext uri="{9D8B030D-6E8A-4147-A177-3AD203B41FA5}">
                      <a16:colId xmlns:a16="http://schemas.microsoft.com/office/drawing/2014/main" val="1708107604"/>
                    </a:ext>
                  </a:extLst>
                </a:gridCol>
                <a:gridCol w="808630">
                  <a:extLst>
                    <a:ext uri="{9D8B030D-6E8A-4147-A177-3AD203B41FA5}">
                      <a16:colId xmlns:a16="http://schemas.microsoft.com/office/drawing/2014/main" val="702232932"/>
                    </a:ext>
                  </a:extLst>
                </a:gridCol>
                <a:gridCol w="573490">
                  <a:extLst>
                    <a:ext uri="{9D8B030D-6E8A-4147-A177-3AD203B41FA5}">
                      <a16:colId xmlns:a16="http://schemas.microsoft.com/office/drawing/2014/main" val="3607116572"/>
                    </a:ext>
                  </a:extLst>
                </a:gridCol>
                <a:gridCol w="691060">
                  <a:extLst>
                    <a:ext uri="{9D8B030D-6E8A-4147-A177-3AD203B41FA5}">
                      <a16:colId xmlns:a16="http://schemas.microsoft.com/office/drawing/2014/main" val="305408827"/>
                    </a:ext>
                  </a:extLst>
                </a:gridCol>
                <a:gridCol w="842545">
                  <a:extLst>
                    <a:ext uri="{9D8B030D-6E8A-4147-A177-3AD203B41FA5}">
                      <a16:colId xmlns:a16="http://schemas.microsoft.com/office/drawing/2014/main" val="3729757115"/>
                    </a:ext>
                  </a:extLst>
                </a:gridCol>
                <a:gridCol w="539575">
                  <a:extLst>
                    <a:ext uri="{9D8B030D-6E8A-4147-A177-3AD203B41FA5}">
                      <a16:colId xmlns:a16="http://schemas.microsoft.com/office/drawing/2014/main" val="3450162339"/>
                    </a:ext>
                  </a:extLst>
                </a:gridCol>
                <a:gridCol w="691060">
                  <a:extLst>
                    <a:ext uri="{9D8B030D-6E8A-4147-A177-3AD203B41FA5}">
                      <a16:colId xmlns:a16="http://schemas.microsoft.com/office/drawing/2014/main" val="3531016683"/>
                    </a:ext>
                  </a:extLst>
                </a:gridCol>
                <a:gridCol w="796948">
                  <a:extLst>
                    <a:ext uri="{9D8B030D-6E8A-4147-A177-3AD203B41FA5}">
                      <a16:colId xmlns:a16="http://schemas.microsoft.com/office/drawing/2014/main" val="4060969492"/>
                    </a:ext>
                  </a:extLst>
                </a:gridCol>
                <a:gridCol w="585172">
                  <a:extLst>
                    <a:ext uri="{9D8B030D-6E8A-4147-A177-3AD203B41FA5}">
                      <a16:colId xmlns:a16="http://schemas.microsoft.com/office/drawing/2014/main" val="4249052222"/>
                    </a:ext>
                  </a:extLst>
                </a:gridCol>
                <a:gridCol w="691060">
                  <a:extLst>
                    <a:ext uri="{9D8B030D-6E8A-4147-A177-3AD203B41FA5}">
                      <a16:colId xmlns:a16="http://schemas.microsoft.com/office/drawing/2014/main" val="687650053"/>
                    </a:ext>
                  </a:extLst>
                </a:gridCol>
                <a:gridCol w="846613">
                  <a:extLst>
                    <a:ext uri="{9D8B030D-6E8A-4147-A177-3AD203B41FA5}">
                      <a16:colId xmlns:a16="http://schemas.microsoft.com/office/drawing/2014/main" val="3978933958"/>
                    </a:ext>
                  </a:extLst>
                </a:gridCol>
                <a:gridCol w="535507">
                  <a:extLst>
                    <a:ext uri="{9D8B030D-6E8A-4147-A177-3AD203B41FA5}">
                      <a16:colId xmlns:a16="http://schemas.microsoft.com/office/drawing/2014/main" val="2126929990"/>
                    </a:ext>
                  </a:extLst>
                </a:gridCol>
                <a:gridCol w="691060">
                  <a:extLst>
                    <a:ext uri="{9D8B030D-6E8A-4147-A177-3AD203B41FA5}">
                      <a16:colId xmlns:a16="http://schemas.microsoft.com/office/drawing/2014/main" val="56450038"/>
                    </a:ext>
                  </a:extLst>
                </a:gridCol>
              </a:tblGrid>
              <a:tr h="387284">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600" b="0" dirty="0">
                          <a:solidFill>
                            <a:schemeClr val="tx1"/>
                          </a:solidFill>
                        </a:rPr>
                        <a:t>P1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600" b="0" dirty="0">
                          <a:solidFill>
                            <a:schemeClr val="tx1"/>
                          </a:solidFill>
                        </a:rPr>
                        <a:t>P2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600" b="0" dirty="0">
                          <a:solidFill>
                            <a:schemeClr val="tx1"/>
                          </a:solidFill>
                        </a:rPr>
                        <a:t>P3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choice</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4761348"/>
                  </a:ext>
                </a:extLst>
              </a:tr>
              <a:tr h="387284">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7711569"/>
                  </a:ext>
                </a:extLst>
              </a:tr>
              <a:tr h="387284">
                <a:tc>
                  <a:txBody>
                    <a:bodyPr/>
                    <a:lstStyle/>
                    <a:p>
                      <a:pPr algn="ctr"/>
                      <a:r>
                        <a:rPr lang="en-US" altLang="zh-TW" sz="1600" b="0" dirty="0">
                          <a:solidFill>
                            <a:schemeClr val="tx1"/>
                          </a:solidFill>
                        </a:rPr>
                        <a:t>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14</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14</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16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16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b="0" dirty="0">
                          <a:solidFill>
                            <a:schemeClr val="tx1"/>
                          </a:solidFill>
                        </a:rPr>
                        <a:t>9</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b="0" dirty="0">
                          <a:solidFill>
                            <a:schemeClr val="tx1"/>
                          </a:solidFill>
                        </a:rPr>
                        <a:t>9</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b="0" dirty="0">
                          <a:solidFill>
                            <a:schemeClr val="tx1"/>
                          </a:solidFill>
                        </a:rPr>
                        <a:t>P2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500462">
                <a:tc>
                  <a:txBody>
                    <a:bodyPr/>
                    <a:lstStyle/>
                    <a:p>
                      <a:pPr algn="ctr"/>
                      <a:r>
                        <a:rPr lang="en-US" altLang="zh-TW" sz="1600" dirty="0"/>
                        <a:t>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16+18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47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52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00462">
                <a:tc>
                  <a:txBody>
                    <a:bodyPr/>
                    <a:lstStyle/>
                    <a:p>
                      <a:pPr algn="ctr"/>
                      <a:r>
                        <a:rPr lang="en-US" altLang="zh-TW" sz="16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16+12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16+12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47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500462">
                <a:tc>
                  <a:txBody>
                    <a:bodyPr/>
                    <a:lstStyle/>
                    <a:p>
                      <a:pPr algn="ctr"/>
                      <a:r>
                        <a:rPr lang="en-US" altLang="zh-TW" sz="1600" dirty="0"/>
                        <a:t>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46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39+23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77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29+23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73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500462">
                <a:tc>
                  <a:txBody>
                    <a:bodyPr/>
                    <a:lstStyle/>
                    <a:p>
                      <a:pPr algn="ctr"/>
                      <a:r>
                        <a:rPr lang="en-US" altLang="zh-TW" sz="1600" dirty="0"/>
                        <a:t>4</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59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42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00462">
                <a:tc>
                  <a:txBody>
                    <a:bodyPr/>
                    <a:lstStyle/>
                    <a:p>
                      <a:pPr algn="ctr"/>
                      <a:r>
                        <a:rPr lang="en-US" altLang="zh-TW" sz="1600" dirty="0"/>
                        <a:t>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58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10</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51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387284">
                <a:tc>
                  <a:txBody>
                    <a:bodyPr/>
                    <a:lstStyle/>
                    <a:p>
                      <a:pPr algn="ctr"/>
                      <a:r>
                        <a:rPr lang="en-US" altLang="zh-TW" sz="1600" dirty="0"/>
                        <a:t>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35+16</a:t>
                      </a:r>
                    </a:p>
                    <a:p>
                      <a:pPr algn="ctr"/>
                      <a:r>
                        <a:rPr lang="en-US" altLang="zh-TW" sz="1600" dirty="0"/>
                        <a:t>41+23</a:t>
                      </a:r>
                    </a:p>
                    <a:p>
                      <a:pPr algn="ctr"/>
                      <a:r>
                        <a:rPr lang="en-US" altLang="zh-TW" sz="1600" dirty="0"/>
                        <a:t>48+13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69</a:t>
                      </a:r>
                    </a:p>
                    <a:p>
                      <a:pPr algn="ctr"/>
                      <a:r>
                        <a:rPr lang="en-US" altLang="zh-TW" sz="1600" dirty="0">
                          <a:solidFill>
                            <a:schemeClr val="accent1"/>
                          </a:solidFill>
                        </a:rPr>
                        <a:t>82</a:t>
                      </a:r>
                    </a:p>
                    <a:p>
                      <a:pPr algn="ctr"/>
                      <a:r>
                        <a:rPr lang="en-US" altLang="zh-TW" sz="1600" dirty="0"/>
                        <a:t>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48</a:t>
                      </a:r>
                    </a:p>
                    <a:p>
                      <a:pPr algn="ctr"/>
                      <a:r>
                        <a:rPr lang="en-US" altLang="zh-TW" sz="1600" dirty="0"/>
                        <a:t>41+23</a:t>
                      </a:r>
                    </a:p>
                    <a:p>
                      <a:pPr algn="ctr"/>
                      <a:r>
                        <a:rPr lang="en-US" altLang="zh-TW" sz="1600" dirty="0"/>
                        <a:t>48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60</a:t>
                      </a:r>
                    </a:p>
                    <a:p>
                      <a:pPr algn="ctr"/>
                      <a:r>
                        <a:rPr lang="en-US" altLang="zh-TW" sz="1600" dirty="0">
                          <a:solidFill>
                            <a:schemeClr val="accent1"/>
                          </a:solidFill>
                        </a:rPr>
                        <a:t>76</a:t>
                      </a:r>
                    </a:p>
                    <a:p>
                      <a:pPr algn="ctr"/>
                      <a:r>
                        <a:rPr lang="en-US" altLang="zh-TW" sz="1600" dirty="0"/>
                        <a:t>60</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35+16</a:t>
                      </a:r>
                    </a:p>
                    <a:p>
                      <a:pPr algn="ctr"/>
                      <a:r>
                        <a:rPr lang="en-US" altLang="zh-TW" sz="1600" dirty="0"/>
                        <a:t>41</a:t>
                      </a:r>
                    </a:p>
                    <a:p>
                      <a:pPr algn="ctr"/>
                      <a:r>
                        <a:rPr lang="en-US" altLang="zh-TW" sz="1600" dirty="0"/>
                        <a:t>48+13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20</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71</a:t>
                      </a:r>
                    </a:p>
                    <a:p>
                      <a:pPr algn="ctr"/>
                      <a:r>
                        <a:rPr lang="en-US" altLang="zh-TW" sz="1600" dirty="0"/>
                        <a:t>61</a:t>
                      </a:r>
                    </a:p>
                    <a:p>
                      <a:pPr algn="ctr"/>
                      <a:r>
                        <a:rPr lang="en-US" altLang="zh-TW" sz="1600" dirty="0">
                          <a:solidFill>
                            <a:schemeClr val="accent1"/>
                          </a:solidFill>
                        </a:rPr>
                        <a:t>81</a:t>
                      </a:r>
                      <a:endParaRPr lang="zh-TW" altLang="en-US" sz="16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387284">
                <a:tc>
                  <a:txBody>
                    <a:bodyPr/>
                    <a:lstStyle/>
                    <a:p>
                      <a:pPr algn="ctr"/>
                      <a:r>
                        <a:rPr lang="en-US" altLang="zh-TW" sz="1600" dirty="0"/>
                        <a:t>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59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48</a:t>
                      </a:r>
                    </a:p>
                    <a:p>
                      <a:pPr algn="ctr"/>
                      <a:r>
                        <a:rPr lang="en-US" altLang="zh-TW" sz="1600" dirty="0"/>
                        <a:t>76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64</a:t>
                      </a:r>
                    </a:p>
                    <a:p>
                      <a:pPr algn="ctr"/>
                      <a:r>
                        <a:rPr lang="en-US" altLang="zh-TW" sz="1600" dirty="0">
                          <a:solidFill>
                            <a:schemeClr val="accent1"/>
                          </a:solidFill>
                        </a:rPr>
                        <a:t>82</a:t>
                      </a:r>
                      <a:endParaRPr lang="zh-TW" altLang="en-US" sz="16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51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500462">
                <a:tc>
                  <a:txBody>
                    <a:bodyPr/>
                    <a:lstStyle/>
                    <a:p>
                      <a:pPr algn="ctr"/>
                      <a:r>
                        <a:rPr lang="en-US" altLang="zh-TW" sz="1600" dirty="0"/>
                        <a:t>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35+19</a:t>
                      </a:r>
                    </a:p>
                    <a:p>
                      <a:pPr algn="ctr"/>
                      <a:r>
                        <a:rPr lang="en-US" altLang="zh-TW" sz="1600" dirty="0"/>
                        <a:t>42+27</a:t>
                      </a:r>
                    </a:p>
                    <a:p>
                      <a:pPr algn="ctr"/>
                      <a:r>
                        <a:rPr lang="en-US" altLang="zh-TW" sz="1600" dirty="0"/>
                        <a:t>51+15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59</a:t>
                      </a:r>
                    </a:p>
                    <a:p>
                      <a:pPr algn="ctr"/>
                      <a:r>
                        <a:rPr lang="en-US" altLang="zh-TW" sz="1600" dirty="0">
                          <a:solidFill>
                            <a:schemeClr val="accent1"/>
                          </a:solidFill>
                        </a:rPr>
                        <a:t>74</a:t>
                      </a:r>
                    </a:p>
                    <a:p>
                      <a:pPr algn="ctr"/>
                      <a:r>
                        <a:rPr lang="en-US" altLang="zh-TW" sz="1600" dirty="0"/>
                        <a:t>71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35</a:t>
                      </a:r>
                    </a:p>
                    <a:p>
                      <a:pPr algn="ctr"/>
                      <a:r>
                        <a:rPr lang="en-US" altLang="zh-TW" sz="1600" dirty="0"/>
                        <a:t>42+27</a:t>
                      </a:r>
                    </a:p>
                    <a:p>
                      <a:pPr algn="ctr"/>
                      <a:r>
                        <a:rPr lang="en-US" altLang="zh-TW" sz="1600" dirty="0"/>
                        <a:t>51+15</a:t>
                      </a:r>
                    </a:p>
                    <a:p>
                      <a:pPr algn="ctr"/>
                      <a:r>
                        <a:rPr lang="en-US" altLang="zh-TW" sz="1600" dirty="0"/>
                        <a:t>76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46</a:t>
                      </a:r>
                    </a:p>
                    <a:p>
                      <a:pPr algn="ctr"/>
                      <a:r>
                        <a:rPr lang="en-US" altLang="zh-TW" sz="1600" dirty="0"/>
                        <a:t>80</a:t>
                      </a:r>
                    </a:p>
                    <a:p>
                      <a:pPr algn="ctr"/>
                      <a:r>
                        <a:rPr lang="en-US" altLang="zh-TW" sz="1600" dirty="0"/>
                        <a:t>77</a:t>
                      </a:r>
                    </a:p>
                    <a:p>
                      <a:pPr algn="ctr"/>
                      <a:r>
                        <a:rPr lang="en-US" altLang="zh-TW" sz="1600" dirty="0"/>
                        <a:t>87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38+19</a:t>
                      </a:r>
                    </a:p>
                    <a:p>
                      <a:pPr algn="ctr"/>
                      <a:r>
                        <a:rPr lang="en-US" altLang="zh-TW" sz="1600" dirty="0"/>
                        <a:t>42</a:t>
                      </a:r>
                    </a:p>
                    <a:p>
                      <a:pPr algn="ctr"/>
                      <a:r>
                        <a:rPr lang="en-US" altLang="zh-TW" sz="1600" dirty="0"/>
                        <a:t>51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14</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solidFill>
                            <a:schemeClr val="accent1"/>
                          </a:solidFill>
                        </a:rPr>
                        <a:t>68</a:t>
                      </a:r>
                    </a:p>
                    <a:p>
                      <a:pPr algn="ctr"/>
                      <a:r>
                        <a:rPr lang="en-US" altLang="zh-TW" sz="1600" dirty="0"/>
                        <a:t>56</a:t>
                      </a:r>
                    </a:p>
                    <a:p>
                      <a:pPr algn="ctr"/>
                      <a:r>
                        <a:rPr lang="en-US" altLang="zh-TW" sz="1600" dirty="0"/>
                        <a:t>65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638698">
                <a:tc>
                  <a:txBody>
                    <a:bodyPr/>
                    <a:lstStyle/>
                    <a:p>
                      <a:pPr algn="ctr"/>
                      <a:r>
                        <a:rPr lang="en-US" altLang="zh-TW" sz="1600" dirty="0"/>
                        <a:t>10</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47</a:t>
                      </a:r>
                    </a:p>
                    <a:p>
                      <a:pPr algn="ctr"/>
                      <a:r>
                        <a:rPr lang="en-US" altLang="zh-TW" sz="1600" dirty="0"/>
                        <a:t>68+11</a:t>
                      </a:r>
                    </a:p>
                    <a:p>
                      <a:pPr algn="ctr"/>
                      <a:r>
                        <a:rPr lang="en-US" altLang="zh-TW" sz="1600" dirty="0"/>
                        <a:t>76+13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21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68</a:t>
                      </a:r>
                    </a:p>
                    <a:p>
                      <a:pPr algn="ctr"/>
                      <a:r>
                        <a:rPr lang="en-US" altLang="zh-TW" sz="1600" dirty="0"/>
                        <a:t>100</a:t>
                      </a:r>
                    </a:p>
                    <a:p>
                      <a:pPr algn="ctr"/>
                      <a:r>
                        <a:rPr lang="en-US" altLang="zh-TW" sz="1600" dirty="0">
                          <a:solidFill>
                            <a:schemeClr val="accent1"/>
                          </a:solidFill>
                        </a:rPr>
                        <a:t>110</a:t>
                      </a:r>
                      <a:endParaRPr lang="zh-TW" altLang="en-US" sz="16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47+17</a:t>
                      </a:r>
                    </a:p>
                    <a:p>
                      <a:pPr algn="ctr"/>
                      <a:r>
                        <a:rPr lang="en-US" altLang="zh-TW" sz="1600" dirty="0"/>
                        <a:t>68+11</a:t>
                      </a:r>
                    </a:p>
                    <a:p>
                      <a:pPr algn="ctr"/>
                      <a:r>
                        <a:rPr lang="en-US" altLang="zh-TW" sz="1600" dirty="0"/>
                        <a:t>76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71</a:t>
                      </a:r>
                    </a:p>
                    <a:p>
                      <a:pPr algn="ctr"/>
                      <a:r>
                        <a:rPr lang="en-US" altLang="zh-TW" sz="1600" dirty="0"/>
                        <a:t>86</a:t>
                      </a:r>
                    </a:p>
                    <a:p>
                      <a:pPr algn="ctr"/>
                      <a:r>
                        <a:rPr lang="en-US" altLang="zh-TW" sz="1600" dirty="0"/>
                        <a:t>83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47+17</a:t>
                      </a:r>
                    </a:p>
                    <a:p>
                      <a:pPr algn="ctr"/>
                      <a:r>
                        <a:rPr lang="en-US" altLang="zh-TW" sz="1600" dirty="0"/>
                        <a:t>68</a:t>
                      </a:r>
                    </a:p>
                    <a:p>
                      <a:pPr algn="ctr"/>
                      <a:r>
                        <a:rPr lang="en-US" altLang="zh-TW" sz="1600" dirty="0"/>
                        <a:t>76+13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80</a:t>
                      </a:r>
                    </a:p>
                    <a:p>
                      <a:pPr algn="ctr"/>
                      <a:r>
                        <a:rPr lang="en-US" altLang="zh-TW" sz="1600" dirty="0"/>
                        <a:t>84</a:t>
                      </a:r>
                    </a:p>
                    <a:p>
                      <a:pPr algn="ctr"/>
                      <a:r>
                        <a:rPr lang="en-US" altLang="zh-TW" sz="1600" dirty="0">
                          <a:solidFill>
                            <a:schemeClr val="accent1"/>
                          </a:solidFill>
                        </a:rPr>
                        <a:t>95</a:t>
                      </a:r>
                      <a:endParaRPr lang="zh-TW" altLang="en-US" sz="16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pic>
        <p:nvPicPr>
          <p:cNvPr id="5" name="圖片 4" descr="一張含有 文字, 裝置, 收據 的圖片&#10;&#10;自動產生的描述">
            <a:extLst>
              <a:ext uri="{FF2B5EF4-FFF2-40B4-BE49-F238E27FC236}">
                <a16:creationId xmlns:a16="http://schemas.microsoft.com/office/drawing/2014/main" id="{91D3BD90-789F-4BEF-B906-96BBB01AE1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9322" y="3481816"/>
            <a:ext cx="3057952" cy="3515216"/>
          </a:xfrm>
          <a:prstGeom prst="rect">
            <a:avLst/>
          </a:prstGeom>
        </p:spPr>
      </p:pic>
      <p:pic>
        <p:nvPicPr>
          <p:cNvPr id="6" name="內容版面配置區 4">
            <a:extLst>
              <a:ext uri="{FF2B5EF4-FFF2-40B4-BE49-F238E27FC236}">
                <a16:creationId xmlns:a16="http://schemas.microsoft.com/office/drawing/2014/main" id="{3A7F1301-DCF0-4F95-B80E-0E1E55F747B2}"/>
              </a:ext>
            </a:extLst>
          </p:cNvPr>
          <p:cNvPicPr>
            <a:picLocks noChangeAspect="1"/>
          </p:cNvPicPr>
          <p:nvPr/>
        </p:nvPicPr>
        <p:blipFill rotWithShape="1">
          <a:blip r:embed="rId3">
            <a:extLst>
              <a:ext uri="{28A0092B-C50C-407E-A947-70E740481C1C}">
                <a14:useLocalDpi xmlns:a14="http://schemas.microsoft.com/office/drawing/2010/main" val="0"/>
              </a:ext>
            </a:extLst>
          </a:blip>
          <a:srcRect l="11069" r="8671" b="773"/>
          <a:stretch/>
        </p:blipFill>
        <p:spPr>
          <a:xfrm>
            <a:off x="8489811" y="81964"/>
            <a:ext cx="3654767" cy="4000500"/>
          </a:xfrm>
          <a:prstGeom prst="rect">
            <a:avLst/>
          </a:prstGeom>
        </p:spPr>
      </p:pic>
      <p:sp>
        <p:nvSpPr>
          <p:cNvPr id="7" name="乘號 6">
            <a:extLst>
              <a:ext uri="{FF2B5EF4-FFF2-40B4-BE49-F238E27FC236}">
                <a16:creationId xmlns:a16="http://schemas.microsoft.com/office/drawing/2014/main" id="{DD1A35CD-4F12-4A2B-9231-A1EC2735AF96}"/>
              </a:ext>
            </a:extLst>
          </p:cNvPr>
          <p:cNvSpPr/>
          <p:nvPr/>
        </p:nvSpPr>
        <p:spPr>
          <a:xfrm>
            <a:off x="2975769" y="4558748"/>
            <a:ext cx="628822" cy="362326"/>
          </a:xfrm>
          <a:prstGeom prst="mathMultiply">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157249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A480CC-01D2-4611-86B0-FD4613785F7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21656C3-F66A-4B5D-B93B-3DFE0181339D}"/>
              </a:ext>
            </a:extLst>
          </p:cNvPr>
          <p:cNvSpPr>
            <a:spLocks noGrp="1"/>
          </p:cNvSpPr>
          <p:nvPr>
            <p:ph idx="1"/>
          </p:nvPr>
        </p:nvSpPr>
        <p:spPr/>
        <p:txBody>
          <a:bodyPr/>
          <a:lstStyle/>
          <a:p>
            <a:endParaRPr lang="zh-TW" altLang="en-US" dirty="0"/>
          </a:p>
        </p:txBody>
      </p:sp>
      <p:graphicFrame>
        <p:nvGraphicFramePr>
          <p:cNvPr id="4" name="表格 20">
            <a:extLst>
              <a:ext uri="{FF2B5EF4-FFF2-40B4-BE49-F238E27FC236}">
                <a16:creationId xmlns:a16="http://schemas.microsoft.com/office/drawing/2014/main" id="{072D3139-33E7-416F-89DC-806F848CB33A}"/>
              </a:ext>
            </a:extLst>
          </p:cNvPr>
          <p:cNvGraphicFramePr>
            <a:graphicFrameLocks noGrp="1"/>
          </p:cNvGraphicFramePr>
          <p:nvPr>
            <p:extLst>
              <p:ext uri="{D42A27DB-BD31-4B8C-83A1-F6EECF244321}">
                <p14:modId xmlns:p14="http://schemas.microsoft.com/office/powerpoint/2010/main" val="2226792008"/>
              </p:ext>
            </p:extLst>
          </p:nvPr>
        </p:nvGraphicFramePr>
        <p:xfrm>
          <a:off x="150360" y="-31173"/>
          <a:ext cx="8946586" cy="6986011"/>
        </p:xfrm>
        <a:graphic>
          <a:graphicData uri="http://schemas.openxmlformats.org/drawingml/2006/table">
            <a:tbl>
              <a:tblPr firstRow="1" bandRow="1">
                <a:tableStyleId>{5C22544A-7EE6-4342-B048-85BDC9FD1C3A}</a:tableStyleId>
              </a:tblPr>
              <a:tblGrid>
                <a:gridCol w="653866">
                  <a:extLst>
                    <a:ext uri="{9D8B030D-6E8A-4147-A177-3AD203B41FA5}">
                      <a16:colId xmlns:a16="http://schemas.microsoft.com/office/drawing/2014/main" val="1708107604"/>
                    </a:ext>
                  </a:extLst>
                </a:gridCol>
                <a:gridCol w="808630">
                  <a:extLst>
                    <a:ext uri="{9D8B030D-6E8A-4147-A177-3AD203B41FA5}">
                      <a16:colId xmlns:a16="http://schemas.microsoft.com/office/drawing/2014/main" val="702232932"/>
                    </a:ext>
                  </a:extLst>
                </a:gridCol>
                <a:gridCol w="573490">
                  <a:extLst>
                    <a:ext uri="{9D8B030D-6E8A-4147-A177-3AD203B41FA5}">
                      <a16:colId xmlns:a16="http://schemas.microsoft.com/office/drawing/2014/main" val="3607116572"/>
                    </a:ext>
                  </a:extLst>
                </a:gridCol>
                <a:gridCol w="691060">
                  <a:extLst>
                    <a:ext uri="{9D8B030D-6E8A-4147-A177-3AD203B41FA5}">
                      <a16:colId xmlns:a16="http://schemas.microsoft.com/office/drawing/2014/main" val="305408827"/>
                    </a:ext>
                  </a:extLst>
                </a:gridCol>
                <a:gridCol w="842545">
                  <a:extLst>
                    <a:ext uri="{9D8B030D-6E8A-4147-A177-3AD203B41FA5}">
                      <a16:colId xmlns:a16="http://schemas.microsoft.com/office/drawing/2014/main" val="3729757115"/>
                    </a:ext>
                  </a:extLst>
                </a:gridCol>
                <a:gridCol w="539575">
                  <a:extLst>
                    <a:ext uri="{9D8B030D-6E8A-4147-A177-3AD203B41FA5}">
                      <a16:colId xmlns:a16="http://schemas.microsoft.com/office/drawing/2014/main" val="3450162339"/>
                    </a:ext>
                  </a:extLst>
                </a:gridCol>
                <a:gridCol w="691060">
                  <a:extLst>
                    <a:ext uri="{9D8B030D-6E8A-4147-A177-3AD203B41FA5}">
                      <a16:colId xmlns:a16="http://schemas.microsoft.com/office/drawing/2014/main" val="3531016683"/>
                    </a:ext>
                  </a:extLst>
                </a:gridCol>
                <a:gridCol w="796948">
                  <a:extLst>
                    <a:ext uri="{9D8B030D-6E8A-4147-A177-3AD203B41FA5}">
                      <a16:colId xmlns:a16="http://schemas.microsoft.com/office/drawing/2014/main" val="4060969492"/>
                    </a:ext>
                  </a:extLst>
                </a:gridCol>
                <a:gridCol w="585172">
                  <a:extLst>
                    <a:ext uri="{9D8B030D-6E8A-4147-A177-3AD203B41FA5}">
                      <a16:colId xmlns:a16="http://schemas.microsoft.com/office/drawing/2014/main" val="4249052222"/>
                    </a:ext>
                  </a:extLst>
                </a:gridCol>
                <a:gridCol w="691060">
                  <a:extLst>
                    <a:ext uri="{9D8B030D-6E8A-4147-A177-3AD203B41FA5}">
                      <a16:colId xmlns:a16="http://schemas.microsoft.com/office/drawing/2014/main" val="687650053"/>
                    </a:ext>
                  </a:extLst>
                </a:gridCol>
                <a:gridCol w="846613">
                  <a:extLst>
                    <a:ext uri="{9D8B030D-6E8A-4147-A177-3AD203B41FA5}">
                      <a16:colId xmlns:a16="http://schemas.microsoft.com/office/drawing/2014/main" val="3978933958"/>
                    </a:ext>
                  </a:extLst>
                </a:gridCol>
                <a:gridCol w="535507">
                  <a:extLst>
                    <a:ext uri="{9D8B030D-6E8A-4147-A177-3AD203B41FA5}">
                      <a16:colId xmlns:a16="http://schemas.microsoft.com/office/drawing/2014/main" val="2126929990"/>
                    </a:ext>
                  </a:extLst>
                </a:gridCol>
                <a:gridCol w="691060">
                  <a:extLst>
                    <a:ext uri="{9D8B030D-6E8A-4147-A177-3AD203B41FA5}">
                      <a16:colId xmlns:a16="http://schemas.microsoft.com/office/drawing/2014/main" val="56450038"/>
                    </a:ext>
                  </a:extLst>
                </a:gridCol>
              </a:tblGrid>
              <a:tr h="417293">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600" b="0" dirty="0">
                          <a:solidFill>
                            <a:schemeClr val="tx1"/>
                          </a:solidFill>
                        </a:rPr>
                        <a:t>P1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600" b="0" dirty="0">
                          <a:solidFill>
                            <a:schemeClr val="tx1"/>
                          </a:solidFill>
                        </a:rPr>
                        <a:t>P2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600" b="0" dirty="0">
                          <a:solidFill>
                            <a:schemeClr val="tx1"/>
                          </a:solidFill>
                        </a:rPr>
                        <a:t>P3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choice</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4761348"/>
                  </a:ext>
                </a:extLst>
              </a:tr>
              <a:tr h="387284">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7711569"/>
                  </a:ext>
                </a:extLst>
              </a:tr>
              <a:tr h="387284">
                <a:tc>
                  <a:txBody>
                    <a:bodyPr/>
                    <a:lstStyle/>
                    <a:p>
                      <a:pPr algn="ctr"/>
                      <a:r>
                        <a:rPr lang="en-US" altLang="zh-TW" sz="1600" b="0" dirty="0">
                          <a:solidFill>
                            <a:schemeClr val="tx1"/>
                          </a:solidFill>
                        </a:rPr>
                        <a:t>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14</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14</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16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16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b="0" dirty="0">
                          <a:solidFill>
                            <a:schemeClr val="tx1"/>
                          </a:solidFill>
                        </a:rPr>
                        <a:t>9</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b="0" dirty="0">
                          <a:solidFill>
                            <a:schemeClr val="tx1"/>
                          </a:solidFill>
                        </a:rPr>
                        <a:t>9</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b="0" dirty="0">
                          <a:solidFill>
                            <a:schemeClr val="tx1"/>
                          </a:solidFill>
                        </a:rPr>
                        <a:t>P2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500462">
                <a:tc>
                  <a:txBody>
                    <a:bodyPr/>
                    <a:lstStyle/>
                    <a:p>
                      <a:pPr algn="ctr"/>
                      <a:r>
                        <a:rPr lang="en-US" altLang="zh-TW" sz="1600" dirty="0"/>
                        <a:t>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16+18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47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52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00462">
                <a:tc>
                  <a:txBody>
                    <a:bodyPr/>
                    <a:lstStyle/>
                    <a:p>
                      <a:pPr algn="ctr"/>
                      <a:r>
                        <a:rPr lang="en-US" altLang="zh-TW" sz="16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16+12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16+12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47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500462">
                <a:tc>
                  <a:txBody>
                    <a:bodyPr/>
                    <a:lstStyle/>
                    <a:p>
                      <a:pPr algn="ctr"/>
                      <a:r>
                        <a:rPr lang="en-US" altLang="zh-TW" sz="1600" dirty="0"/>
                        <a:t>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46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39+23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77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29+23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73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500462">
                <a:tc>
                  <a:txBody>
                    <a:bodyPr/>
                    <a:lstStyle/>
                    <a:p>
                      <a:pPr algn="ctr"/>
                      <a:r>
                        <a:rPr lang="en-US" altLang="zh-TW" sz="1600" dirty="0"/>
                        <a:t>4</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59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42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00462">
                <a:tc>
                  <a:txBody>
                    <a:bodyPr/>
                    <a:lstStyle/>
                    <a:p>
                      <a:pPr algn="ctr"/>
                      <a:r>
                        <a:rPr lang="en-US" altLang="zh-TW" sz="1600" dirty="0"/>
                        <a:t>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58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10</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51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387284">
                <a:tc>
                  <a:txBody>
                    <a:bodyPr/>
                    <a:lstStyle/>
                    <a:p>
                      <a:pPr algn="ctr"/>
                      <a:r>
                        <a:rPr lang="en-US" altLang="zh-TW" sz="1600" dirty="0"/>
                        <a:t>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35+16</a:t>
                      </a:r>
                    </a:p>
                    <a:p>
                      <a:pPr algn="ctr"/>
                      <a:r>
                        <a:rPr lang="en-US" altLang="zh-TW" sz="1600" dirty="0"/>
                        <a:t>41+23</a:t>
                      </a:r>
                    </a:p>
                    <a:p>
                      <a:pPr algn="ctr"/>
                      <a:r>
                        <a:rPr lang="en-US" altLang="zh-TW" sz="1600" dirty="0"/>
                        <a:t>48+13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69</a:t>
                      </a:r>
                    </a:p>
                    <a:p>
                      <a:pPr algn="ctr"/>
                      <a:r>
                        <a:rPr lang="en-US" altLang="zh-TW" sz="1600" dirty="0">
                          <a:solidFill>
                            <a:schemeClr val="accent1"/>
                          </a:solidFill>
                        </a:rPr>
                        <a:t>82</a:t>
                      </a:r>
                    </a:p>
                    <a:p>
                      <a:pPr algn="ctr"/>
                      <a:r>
                        <a:rPr lang="en-US" altLang="zh-TW" sz="1600" dirty="0"/>
                        <a:t>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48</a:t>
                      </a:r>
                    </a:p>
                    <a:p>
                      <a:pPr algn="ctr"/>
                      <a:r>
                        <a:rPr lang="en-US" altLang="zh-TW" sz="1600" dirty="0"/>
                        <a:t>41+23</a:t>
                      </a:r>
                    </a:p>
                    <a:p>
                      <a:pPr algn="ctr"/>
                      <a:r>
                        <a:rPr lang="en-US" altLang="zh-TW" sz="1600" dirty="0"/>
                        <a:t>48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60</a:t>
                      </a:r>
                    </a:p>
                    <a:p>
                      <a:pPr algn="ctr"/>
                      <a:r>
                        <a:rPr lang="en-US" altLang="zh-TW" sz="1600" dirty="0">
                          <a:solidFill>
                            <a:schemeClr val="accent1"/>
                          </a:solidFill>
                        </a:rPr>
                        <a:t>76</a:t>
                      </a:r>
                    </a:p>
                    <a:p>
                      <a:pPr algn="ctr"/>
                      <a:r>
                        <a:rPr lang="en-US" altLang="zh-TW" sz="1600" dirty="0"/>
                        <a:t>60</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35+16</a:t>
                      </a:r>
                    </a:p>
                    <a:p>
                      <a:pPr algn="ctr"/>
                      <a:r>
                        <a:rPr lang="en-US" altLang="zh-TW" sz="1600" dirty="0"/>
                        <a:t>41</a:t>
                      </a:r>
                    </a:p>
                    <a:p>
                      <a:pPr algn="ctr"/>
                      <a:r>
                        <a:rPr lang="en-US" altLang="zh-TW" sz="1600" dirty="0"/>
                        <a:t>48+13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20</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71</a:t>
                      </a:r>
                    </a:p>
                    <a:p>
                      <a:pPr algn="ctr"/>
                      <a:r>
                        <a:rPr lang="en-US" altLang="zh-TW" sz="1600" dirty="0"/>
                        <a:t>61</a:t>
                      </a:r>
                    </a:p>
                    <a:p>
                      <a:pPr algn="ctr"/>
                      <a:r>
                        <a:rPr lang="en-US" altLang="zh-TW" sz="1600" dirty="0">
                          <a:solidFill>
                            <a:schemeClr val="accent1"/>
                          </a:solidFill>
                        </a:rPr>
                        <a:t>81</a:t>
                      </a:r>
                      <a:endParaRPr lang="zh-TW" altLang="en-US" sz="16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387284">
                <a:tc>
                  <a:txBody>
                    <a:bodyPr/>
                    <a:lstStyle/>
                    <a:p>
                      <a:pPr algn="ctr"/>
                      <a:r>
                        <a:rPr lang="en-US" altLang="zh-TW" sz="1600" dirty="0"/>
                        <a:t>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59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48</a:t>
                      </a:r>
                    </a:p>
                    <a:p>
                      <a:pPr algn="ctr"/>
                      <a:r>
                        <a:rPr lang="en-US" altLang="zh-TW" sz="1600" dirty="0"/>
                        <a:t>76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64</a:t>
                      </a:r>
                    </a:p>
                    <a:p>
                      <a:pPr algn="ctr"/>
                      <a:r>
                        <a:rPr lang="en-US" altLang="zh-TW" sz="1600" dirty="0">
                          <a:solidFill>
                            <a:schemeClr val="accent1"/>
                          </a:solidFill>
                        </a:rPr>
                        <a:t>82</a:t>
                      </a:r>
                      <a:endParaRPr lang="zh-TW" altLang="en-US" sz="16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51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500462">
                <a:tc>
                  <a:txBody>
                    <a:bodyPr/>
                    <a:lstStyle/>
                    <a:p>
                      <a:pPr algn="ctr"/>
                      <a:r>
                        <a:rPr lang="en-US" altLang="zh-TW" sz="1600" dirty="0"/>
                        <a:t>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35+19</a:t>
                      </a:r>
                    </a:p>
                    <a:p>
                      <a:pPr algn="ctr"/>
                      <a:r>
                        <a:rPr lang="en-US" altLang="zh-TW" sz="1600" dirty="0"/>
                        <a:t>42+27</a:t>
                      </a:r>
                    </a:p>
                    <a:p>
                      <a:pPr algn="ctr"/>
                      <a:r>
                        <a:rPr lang="en-US" altLang="zh-TW" sz="1600" dirty="0"/>
                        <a:t>51+15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59</a:t>
                      </a:r>
                    </a:p>
                    <a:p>
                      <a:pPr algn="ctr"/>
                      <a:r>
                        <a:rPr lang="en-US" altLang="zh-TW" sz="1600" dirty="0">
                          <a:solidFill>
                            <a:schemeClr val="accent1"/>
                          </a:solidFill>
                        </a:rPr>
                        <a:t>74</a:t>
                      </a:r>
                    </a:p>
                    <a:p>
                      <a:pPr algn="ctr"/>
                      <a:r>
                        <a:rPr lang="en-US" altLang="zh-TW" sz="1600" dirty="0"/>
                        <a:t>71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35</a:t>
                      </a:r>
                    </a:p>
                    <a:p>
                      <a:pPr algn="ctr"/>
                      <a:r>
                        <a:rPr lang="en-US" altLang="zh-TW" sz="1600" dirty="0"/>
                        <a:t>42+27</a:t>
                      </a:r>
                    </a:p>
                    <a:p>
                      <a:pPr algn="ctr"/>
                      <a:r>
                        <a:rPr lang="en-US" altLang="zh-TW" sz="1600" dirty="0"/>
                        <a:t>51+15</a:t>
                      </a:r>
                    </a:p>
                    <a:p>
                      <a:pPr algn="ctr"/>
                      <a:r>
                        <a:rPr lang="en-US" altLang="zh-TW" sz="1600" dirty="0"/>
                        <a:t>76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11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46</a:t>
                      </a:r>
                    </a:p>
                    <a:p>
                      <a:pPr algn="ctr"/>
                      <a:r>
                        <a:rPr lang="en-US" altLang="zh-TW" sz="1600" dirty="0"/>
                        <a:t>80</a:t>
                      </a:r>
                    </a:p>
                    <a:p>
                      <a:pPr algn="ctr"/>
                      <a:r>
                        <a:rPr lang="en-US" altLang="zh-TW" sz="1600" dirty="0"/>
                        <a:t>77</a:t>
                      </a:r>
                    </a:p>
                    <a:p>
                      <a:pPr algn="ctr"/>
                      <a:r>
                        <a:rPr lang="en-US" altLang="zh-TW" sz="1600" dirty="0"/>
                        <a:t>87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38+19</a:t>
                      </a:r>
                    </a:p>
                    <a:p>
                      <a:pPr algn="ctr"/>
                      <a:r>
                        <a:rPr lang="en-US" altLang="zh-TW" sz="1600" dirty="0"/>
                        <a:t>42</a:t>
                      </a:r>
                    </a:p>
                    <a:p>
                      <a:pPr algn="ctr"/>
                      <a:r>
                        <a:rPr lang="en-US" altLang="zh-TW" sz="1600" dirty="0"/>
                        <a:t>51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14</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solidFill>
                            <a:schemeClr val="accent1"/>
                          </a:solidFill>
                        </a:rPr>
                        <a:t>68</a:t>
                      </a:r>
                    </a:p>
                    <a:p>
                      <a:pPr algn="ctr"/>
                      <a:r>
                        <a:rPr lang="en-US" altLang="zh-TW" sz="1600" dirty="0"/>
                        <a:t>56</a:t>
                      </a:r>
                    </a:p>
                    <a:p>
                      <a:pPr algn="ctr"/>
                      <a:r>
                        <a:rPr lang="en-US" altLang="zh-TW" sz="1600" dirty="0"/>
                        <a:t>65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638698">
                <a:tc>
                  <a:txBody>
                    <a:bodyPr/>
                    <a:lstStyle/>
                    <a:p>
                      <a:pPr algn="ctr"/>
                      <a:r>
                        <a:rPr lang="en-US" altLang="zh-TW" sz="1600" dirty="0"/>
                        <a:t>10</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47</a:t>
                      </a:r>
                    </a:p>
                    <a:p>
                      <a:pPr algn="ctr"/>
                      <a:r>
                        <a:rPr lang="en-US" altLang="zh-TW" sz="1600" dirty="0"/>
                        <a:t>68+11</a:t>
                      </a:r>
                    </a:p>
                    <a:p>
                      <a:pPr algn="ctr"/>
                      <a:r>
                        <a:rPr lang="en-US" altLang="zh-TW" sz="1600" dirty="0"/>
                        <a:t>76+13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21</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68</a:t>
                      </a:r>
                    </a:p>
                    <a:p>
                      <a:pPr algn="ctr"/>
                      <a:r>
                        <a:rPr lang="en-US" altLang="zh-TW" sz="1600" dirty="0"/>
                        <a:t>100</a:t>
                      </a:r>
                    </a:p>
                    <a:p>
                      <a:pPr algn="ctr"/>
                      <a:r>
                        <a:rPr lang="en-US" altLang="zh-TW" sz="1600" dirty="0">
                          <a:solidFill>
                            <a:schemeClr val="accent1"/>
                          </a:solidFill>
                        </a:rPr>
                        <a:t>110</a:t>
                      </a:r>
                      <a:endParaRPr lang="zh-TW" altLang="en-US" sz="16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dirty="0"/>
                        <a:t>47+17</a:t>
                      </a:r>
                    </a:p>
                    <a:p>
                      <a:pPr algn="ctr"/>
                      <a:r>
                        <a:rPr lang="en-US" altLang="zh-TW" sz="1600" dirty="0"/>
                        <a:t>68+11</a:t>
                      </a:r>
                    </a:p>
                    <a:p>
                      <a:pPr algn="ctr"/>
                      <a:r>
                        <a:rPr lang="en-US" altLang="zh-TW" sz="1600" dirty="0"/>
                        <a:t>76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71</a:t>
                      </a:r>
                    </a:p>
                    <a:p>
                      <a:pPr algn="ctr"/>
                      <a:r>
                        <a:rPr lang="en-US" altLang="zh-TW" sz="1600" dirty="0">
                          <a:solidFill>
                            <a:schemeClr val="accent1"/>
                          </a:solidFill>
                        </a:rPr>
                        <a:t>86</a:t>
                      </a:r>
                    </a:p>
                    <a:p>
                      <a:pPr algn="ctr"/>
                      <a:r>
                        <a:rPr lang="en-US" altLang="zh-TW" sz="1600" dirty="0"/>
                        <a:t>83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47+17</a:t>
                      </a:r>
                    </a:p>
                    <a:p>
                      <a:pPr algn="ctr"/>
                      <a:r>
                        <a:rPr lang="en-US" altLang="zh-TW" sz="1600" dirty="0"/>
                        <a:t>68</a:t>
                      </a:r>
                    </a:p>
                    <a:p>
                      <a:pPr algn="ctr"/>
                      <a:r>
                        <a:rPr lang="en-US" altLang="zh-TW" sz="1600" dirty="0"/>
                        <a:t>76+13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16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80</a:t>
                      </a:r>
                    </a:p>
                    <a:p>
                      <a:pPr algn="ctr"/>
                      <a:r>
                        <a:rPr lang="en-US" altLang="zh-TW" sz="1600" dirty="0"/>
                        <a:t>84</a:t>
                      </a:r>
                    </a:p>
                    <a:p>
                      <a:pPr algn="ctr"/>
                      <a:r>
                        <a:rPr lang="en-US" altLang="zh-TW" sz="1600" dirty="0">
                          <a:solidFill>
                            <a:schemeClr val="accent1"/>
                          </a:solidFill>
                        </a:rPr>
                        <a:t>95</a:t>
                      </a:r>
                      <a:endParaRPr lang="zh-TW" altLang="en-US" sz="16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dirty="0"/>
                        <a:t>P2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sp>
        <p:nvSpPr>
          <p:cNvPr id="7" name="乘號 6">
            <a:extLst>
              <a:ext uri="{FF2B5EF4-FFF2-40B4-BE49-F238E27FC236}">
                <a16:creationId xmlns:a16="http://schemas.microsoft.com/office/drawing/2014/main" id="{DD1A35CD-4F12-4A2B-9231-A1EC2735AF96}"/>
              </a:ext>
            </a:extLst>
          </p:cNvPr>
          <p:cNvSpPr/>
          <p:nvPr/>
        </p:nvSpPr>
        <p:spPr>
          <a:xfrm>
            <a:off x="2975769" y="4558748"/>
            <a:ext cx="628822" cy="362326"/>
          </a:xfrm>
          <a:prstGeom prst="mathMultiply">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 name="圖片 7" descr="一張含有 文字, 天空, 地圖 的圖片&#10;&#10;自動產生的描述">
            <a:extLst>
              <a:ext uri="{FF2B5EF4-FFF2-40B4-BE49-F238E27FC236}">
                <a16:creationId xmlns:a16="http://schemas.microsoft.com/office/drawing/2014/main" id="{1AF0E4B2-FEF6-4A1E-BFCB-F44E88FD0F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9105" y="81964"/>
            <a:ext cx="3880999" cy="6476268"/>
          </a:xfrm>
          <a:prstGeom prst="rect">
            <a:avLst/>
          </a:prstGeom>
        </p:spPr>
      </p:pic>
    </p:spTree>
    <p:extLst>
      <p:ext uri="{BB962C8B-B14F-4D97-AF65-F5344CB8AC3E}">
        <p14:creationId xmlns:p14="http://schemas.microsoft.com/office/powerpoint/2010/main" val="3708611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C89E8B-B791-4A65-B7D5-621094B4A491}"/>
              </a:ext>
            </a:extLst>
          </p:cNvPr>
          <p:cNvSpPr>
            <a:spLocks noGrp="1"/>
          </p:cNvSpPr>
          <p:nvPr>
            <p:ph type="title"/>
          </p:nvPr>
        </p:nvSpPr>
        <p:spPr/>
        <p:txBody>
          <a:bodyPr/>
          <a:lstStyle/>
          <a:p>
            <a:endParaRPr lang="zh-TW" altLang="en-US"/>
          </a:p>
        </p:txBody>
      </p:sp>
      <p:pic>
        <p:nvPicPr>
          <p:cNvPr id="9" name="內容版面配置區 8">
            <a:extLst>
              <a:ext uri="{FF2B5EF4-FFF2-40B4-BE49-F238E27FC236}">
                <a16:creationId xmlns:a16="http://schemas.microsoft.com/office/drawing/2014/main" id="{5DA0C855-E987-45E1-A98B-81C77F3BF07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164137" y="1618228"/>
            <a:ext cx="3027863" cy="1325562"/>
          </a:xfrm>
        </p:spPr>
      </p:pic>
      <p:pic>
        <p:nvPicPr>
          <p:cNvPr id="5" name="圖片 4">
            <a:extLst>
              <a:ext uri="{FF2B5EF4-FFF2-40B4-BE49-F238E27FC236}">
                <a16:creationId xmlns:a16="http://schemas.microsoft.com/office/drawing/2014/main" id="{0ED501C2-E556-4BF8-8C02-DCA8482C3DC9}"/>
              </a:ext>
            </a:extLst>
          </p:cNvPr>
          <p:cNvPicPr>
            <a:picLocks noChangeAspect="1"/>
          </p:cNvPicPr>
          <p:nvPr/>
        </p:nvPicPr>
        <p:blipFill>
          <a:blip r:embed="rId4"/>
          <a:stretch>
            <a:fillRect/>
          </a:stretch>
        </p:blipFill>
        <p:spPr>
          <a:xfrm>
            <a:off x="5562360" y="4038420"/>
            <a:ext cx="6943165" cy="1577992"/>
          </a:xfrm>
          <a:prstGeom prst="rect">
            <a:avLst/>
          </a:prstGeom>
        </p:spPr>
      </p:pic>
      <p:pic>
        <p:nvPicPr>
          <p:cNvPr id="7" name="圖片 6">
            <a:extLst>
              <a:ext uri="{FF2B5EF4-FFF2-40B4-BE49-F238E27FC236}">
                <a16:creationId xmlns:a16="http://schemas.microsoft.com/office/drawing/2014/main" id="{E35EC44A-9976-49D8-837D-5BF85086159D}"/>
              </a:ext>
            </a:extLst>
          </p:cNvPr>
          <p:cNvPicPr>
            <a:picLocks noChangeAspect="1"/>
          </p:cNvPicPr>
          <p:nvPr/>
        </p:nvPicPr>
        <p:blipFill>
          <a:blip r:embed="rId5"/>
          <a:stretch>
            <a:fillRect/>
          </a:stretch>
        </p:blipFill>
        <p:spPr>
          <a:xfrm>
            <a:off x="6778170" y="3002361"/>
            <a:ext cx="5413830" cy="867767"/>
          </a:xfrm>
          <a:prstGeom prst="rect">
            <a:avLst/>
          </a:prstGeom>
        </p:spPr>
      </p:pic>
      <p:pic>
        <p:nvPicPr>
          <p:cNvPr id="11" name="圖片 10" descr="一張含有 文字 的圖片&#10;&#10;自動產生的描述">
            <a:extLst>
              <a:ext uri="{FF2B5EF4-FFF2-40B4-BE49-F238E27FC236}">
                <a16:creationId xmlns:a16="http://schemas.microsoft.com/office/drawing/2014/main" id="{029694F0-343B-41FD-B17E-AAD966312F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473" y="29100"/>
            <a:ext cx="2797527" cy="1589128"/>
          </a:xfrm>
          <a:prstGeom prst="rect">
            <a:avLst/>
          </a:prstGeom>
        </p:spPr>
      </p:pic>
      <p:pic>
        <p:nvPicPr>
          <p:cNvPr id="12" name="圖片 11">
            <a:extLst>
              <a:ext uri="{FF2B5EF4-FFF2-40B4-BE49-F238E27FC236}">
                <a16:creationId xmlns:a16="http://schemas.microsoft.com/office/drawing/2014/main" id="{DB2137BA-960E-4766-94C6-17B501F046C2}"/>
              </a:ext>
            </a:extLst>
          </p:cNvPr>
          <p:cNvPicPr>
            <a:picLocks noChangeAspect="1"/>
          </p:cNvPicPr>
          <p:nvPr/>
        </p:nvPicPr>
        <p:blipFill>
          <a:blip r:embed="rId7"/>
          <a:stretch>
            <a:fillRect/>
          </a:stretch>
        </p:blipFill>
        <p:spPr>
          <a:xfrm>
            <a:off x="661975" y="29100"/>
            <a:ext cx="5133915" cy="6932182"/>
          </a:xfrm>
          <a:prstGeom prst="rect">
            <a:avLst/>
          </a:prstGeom>
        </p:spPr>
      </p:pic>
    </p:spTree>
    <p:extLst>
      <p:ext uri="{BB962C8B-B14F-4D97-AF65-F5344CB8AC3E}">
        <p14:creationId xmlns:p14="http://schemas.microsoft.com/office/powerpoint/2010/main" val="3875698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2BB67A-0092-4900-95F4-DF5EB1D01032}"/>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410D68E1-17EE-4CE1-806F-F36CC03B1486}"/>
              </a:ext>
            </a:extLst>
          </p:cNvPr>
          <p:cNvSpPr>
            <a:spLocks noGrp="1"/>
          </p:cNvSpPr>
          <p:nvPr>
            <p:ph idx="1"/>
          </p:nvPr>
        </p:nvSpPr>
        <p:spPr/>
        <p:txBody>
          <a:bodyPr/>
          <a:lstStyle/>
          <a:p>
            <a:endParaRPr lang="zh-TW" altLang="en-US"/>
          </a:p>
        </p:txBody>
      </p:sp>
      <p:graphicFrame>
        <p:nvGraphicFramePr>
          <p:cNvPr id="4" name="表格 20">
            <a:extLst>
              <a:ext uri="{FF2B5EF4-FFF2-40B4-BE49-F238E27FC236}">
                <a16:creationId xmlns:a16="http://schemas.microsoft.com/office/drawing/2014/main" id="{4B373DE5-5DDA-4984-9E33-6E35EEECDAAF}"/>
              </a:ext>
            </a:extLst>
          </p:cNvPr>
          <p:cNvGraphicFramePr>
            <a:graphicFrameLocks noGrp="1"/>
          </p:cNvGraphicFramePr>
          <p:nvPr>
            <p:extLst>
              <p:ext uri="{D42A27DB-BD31-4B8C-83A1-F6EECF244321}">
                <p14:modId xmlns:p14="http://schemas.microsoft.com/office/powerpoint/2010/main" val="4097096904"/>
              </p:ext>
            </p:extLst>
          </p:nvPr>
        </p:nvGraphicFramePr>
        <p:xfrm>
          <a:off x="103907" y="0"/>
          <a:ext cx="7439892" cy="6258359"/>
        </p:xfrm>
        <a:graphic>
          <a:graphicData uri="http://schemas.openxmlformats.org/drawingml/2006/table">
            <a:tbl>
              <a:tblPr firstRow="1" bandRow="1">
                <a:tableStyleId>{5C22544A-7EE6-4342-B048-85BDC9FD1C3A}</a:tableStyleId>
              </a:tblPr>
              <a:tblGrid>
                <a:gridCol w="592284">
                  <a:extLst>
                    <a:ext uri="{9D8B030D-6E8A-4147-A177-3AD203B41FA5}">
                      <a16:colId xmlns:a16="http://schemas.microsoft.com/office/drawing/2014/main" val="1708107604"/>
                    </a:ext>
                  </a:extLst>
                </a:gridCol>
                <a:gridCol w="6037118">
                  <a:extLst>
                    <a:ext uri="{9D8B030D-6E8A-4147-A177-3AD203B41FA5}">
                      <a16:colId xmlns:a16="http://schemas.microsoft.com/office/drawing/2014/main" val="4060969492"/>
                    </a:ext>
                  </a:extLst>
                </a:gridCol>
                <a:gridCol w="810490">
                  <a:extLst>
                    <a:ext uri="{9D8B030D-6E8A-4147-A177-3AD203B41FA5}">
                      <a16:colId xmlns:a16="http://schemas.microsoft.com/office/drawing/2014/main" val="232685275"/>
                    </a:ext>
                  </a:extLst>
                </a:gridCol>
              </a:tblGrid>
              <a:tr h="479728">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Rank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6989115"/>
                  </a:ext>
                </a:extLst>
              </a:tr>
              <a:tr h="479728">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18+13+105.9+(14+13+18+21/4,16+39/4,9+54/4)=150.65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619921">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16+16.6+60.7+(13+18+21/3,19+12+7/3,18+20+16/3)=105.9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619921">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23+14.3+61.6+(11+7+21/3,13+22/3,19+11+16/3)=110.5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619921">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23+12.6+60.7+(13+18+21/3,8+12+7/3,17+20+16/3)=105.3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619921">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13+11.6++60.7+(12+18+21/3,13+12+7/3,10+20+16/3)=103.9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619921">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15+12.6+51.6+(13+15+21/3,16+11+7/3,9+14+16/3)=90.5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479728">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17+11+21.6+(7+21/2,15+17/2,11+16/2)=61.6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479728">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11+10+21.6(5+21/2,15+17/2,11+16/2)=51.6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619921">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13+16.6+21.6+(18+21/2,12+7/2,20+16/2)=60.7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619921">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0+0+14.6+(21/1,7/1,16/1)=14.6+7=21.6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pic>
        <p:nvPicPr>
          <p:cNvPr id="5" name="圖片 4" descr="一張含有 文字, 裝置, 收據 的圖片&#10;&#10;自動產生的描述">
            <a:extLst>
              <a:ext uri="{FF2B5EF4-FFF2-40B4-BE49-F238E27FC236}">
                <a16:creationId xmlns:a16="http://schemas.microsoft.com/office/drawing/2014/main" id="{C1403A46-AB75-4F05-B41F-4FD2C62736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9322" y="3481816"/>
            <a:ext cx="3057952" cy="3515216"/>
          </a:xfrm>
          <a:prstGeom prst="rect">
            <a:avLst/>
          </a:prstGeom>
        </p:spPr>
      </p:pic>
      <p:pic>
        <p:nvPicPr>
          <p:cNvPr id="6" name="內容版面配置區 4">
            <a:extLst>
              <a:ext uri="{FF2B5EF4-FFF2-40B4-BE49-F238E27FC236}">
                <a16:creationId xmlns:a16="http://schemas.microsoft.com/office/drawing/2014/main" id="{DE8C6E68-E493-4248-9C2D-7575233ACD2B}"/>
              </a:ext>
            </a:extLst>
          </p:cNvPr>
          <p:cNvPicPr>
            <a:picLocks noChangeAspect="1"/>
          </p:cNvPicPr>
          <p:nvPr/>
        </p:nvPicPr>
        <p:blipFill rotWithShape="1">
          <a:blip r:embed="rId3">
            <a:extLst>
              <a:ext uri="{28A0092B-C50C-407E-A947-70E740481C1C}">
                <a14:useLocalDpi xmlns:a14="http://schemas.microsoft.com/office/drawing/2010/main" val="0"/>
              </a:ext>
            </a:extLst>
          </a:blip>
          <a:srcRect l="11069" r="8671" b="773"/>
          <a:stretch/>
        </p:blipFill>
        <p:spPr>
          <a:xfrm>
            <a:off x="8489811" y="81964"/>
            <a:ext cx="3654767" cy="4000500"/>
          </a:xfrm>
          <a:prstGeom prst="rect">
            <a:avLst/>
          </a:prstGeom>
        </p:spPr>
      </p:pic>
    </p:spTree>
    <p:extLst>
      <p:ext uri="{BB962C8B-B14F-4D97-AF65-F5344CB8AC3E}">
        <p14:creationId xmlns:p14="http://schemas.microsoft.com/office/powerpoint/2010/main" val="4024539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A480CC-01D2-4611-86B0-FD4613785F7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21656C3-F66A-4B5D-B93B-3DFE0181339D}"/>
              </a:ext>
            </a:extLst>
          </p:cNvPr>
          <p:cNvSpPr>
            <a:spLocks noGrp="1"/>
          </p:cNvSpPr>
          <p:nvPr>
            <p:ph idx="1"/>
          </p:nvPr>
        </p:nvSpPr>
        <p:spPr/>
        <p:txBody>
          <a:bodyPr/>
          <a:lstStyle/>
          <a:p>
            <a:endParaRPr lang="zh-TW" altLang="en-US" dirty="0"/>
          </a:p>
        </p:txBody>
      </p:sp>
      <p:graphicFrame>
        <p:nvGraphicFramePr>
          <p:cNvPr id="4" name="表格 20">
            <a:extLst>
              <a:ext uri="{FF2B5EF4-FFF2-40B4-BE49-F238E27FC236}">
                <a16:creationId xmlns:a16="http://schemas.microsoft.com/office/drawing/2014/main" id="{072D3139-33E7-416F-89DC-806F848CB33A}"/>
              </a:ext>
            </a:extLst>
          </p:cNvPr>
          <p:cNvGraphicFramePr>
            <a:graphicFrameLocks noGrp="1"/>
          </p:cNvGraphicFramePr>
          <p:nvPr>
            <p:extLst>
              <p:ext uri="{D42A27DB-BD31-4B8C-83A1-F6EECF244321}">
                <p14:modId xmlns:p14="http://schemas.microsoft.com/office/powerpoint/2010/main" val="1846256394"/>
              </p:ext>
            </p:extLst>
          </p:nvPr>
        </p:nvGraphicFramePr>
        <p:xfrm>
          <a:off x="190713" y="-73198"/>
          <a:ext cx="8946586" cy="7004394"/>
        </p:xfrm>
        <a:graphic>
          <a:graphicData uri="http://schemas.openxmlformats.org/drawingml/2006/table">
            <a:tbl>
              <a:tblPr firstRow="1" bandRow="1">
                <a:tableStyleId>{5C22544A-7EE6-4342-B048-85BDC9FD1C3A}</a:tableStyleId>
              </a:tblPr>
              <a:tblGrid>
                <a:gridCol w="653866">
                  <a:extLst>
                    <a:ext uri="{9D8B030D-6E8A-4147-A177-3AD203B41FA5}">
                      <a16:colId xmlns:a16="http://schemas.microsoft.com/office/drawing/2014/main" val="1708107604"/>
                    </a:ext>
                  </a:extLst>
                </a:gridCol>
                <a:gridCol w="831608">
                  <a:extLst>
                    <a:ext uri="{9D8B030D-6E8A-4147-A177-3AD203B41FA5}">
                      <a16:colId xmlns:a16="http://schemas.microsoft.com/office/drawing/2014/main" val="702232932"/>
                    </a:ext>
                  </a:extLst>
                </a:gridCol>
                <a:gridCol w="550718">
                  <a:extLst>
                    <a:ext uri="{9D8B030D-6E8A-4147-A177-3AD203B41FA5}">
                      <a16:colId xmlns:a16="http://schemas.microsoft.com/office/drawing/2014/main" val="3607116572"/>
                    </a:ext>
                  </a:extLst>
                </a:gridCol>
                <a:gridCol w="690854">
                  <a:extLst>
                    <a:ext uri="{9D8B030D-6E8A-4147-A177-3AD203B41FA5}">
                      <a16:colId xmlns:a16="http://schemas.microsoft.com/office/drawing/2014/main" val="305408827"/>
                    </a:ext>
                  </a:extLst>
                </a:gridCol>
                <a:gridCol w="812577">
                  <a:extLst>
                    <a:ext uri="{9D8B030D-6E8A-4147-A177-3AD203B41FA5}">
                      <a16:colId xmlns:a16="http://schemas.microsoft.com/office/drawing/2014/main" val="3729757115"/>
                    </a:ext>
                  </a:extLst>
                </a:gridCol>
                <a:gridCol w="569543">
                  <a:extLst>
                    <a:ext uri="{9D8B030D-6E8A-4147-A177-3AD203B41FA5}">
                      <a16:colId xmlns:a16="http://schemas.microsoft.com/office/drawing/2014/main" val="3450162339"/>
                    </a:ext>
                  </a:extLst>
                </a:gridCol>
                <a:gridCol w="691060">
                  <a:extLst>
                    <a:ext uri="{9D8B030D-6E8A-4147-A177-3AD203B41FA5}">
                      <a16:colId xmlns:a16="http://schemas.microsoft.com/office/drawing/2014/main" val="3531016683"/>
                    </a:ext>
                  </a:extLst>
                </a:gridCol>
                <a:gridCol w="838361">
                  <a:extLst>
                    <a:ext uri="{9D8B030D-6E8A-4147-A177-3AD203B41FA5}">
                      <a16:colId xmlns:a16="http://schemas.microsoft.com/office/drawing/2014/main" val="4060969492"/>
                    </a:ext>
                  </a:extLst>
                </a:gridCol>
                <a:gridCol w="543759">
                  <a:extLst>
                    <a:ext uri="{9D8B030D-6E8A-4147-A177-3AD203B41FA5}">
                      <a16:colId xmlns:a16="http://schemas.microsoft.com/office/drawing/2014/main" val="4249052222"/>
                    </a:ext>
                  </a:extLst>
                </a:gridCol>
                <a:gridCol w="691060">
                  <a:extLst>
                    <a:ext uri="{9D8B030D-6E8A-4147-A177-3AD203B41FA5}">
                      <a16:colId xmlns:a16="http://schemas.microsoft.com/office/drawing/2014/main" val="687650053"/>
                    </a:ext>
                  </a:extLst>
                </a:gridCol>
                <a:gridCol w="846613">
                  <a:extLst>
                    <a:ext uri="{9D8B030D-6E8A-4147-A177-3AD203B41FA5}">
                      <a16:colId xmlns:a16="http://schemas.microsoft.com/office/drawing/2014/main" val="3978933958"/>
                    </a:ext>
                  </a:extLst>
                </a:gridCol>
                <a:gridCol w="535507">
                  <a:extLst>
                    <a:ext uri="{9D8B030D-6E8A-4147-A177-3AD203B41FA5}">
                      <a16:colId xmlns:a16="http://schemas.microsoft.com/office/drawing/2014/main" val="2126929990"/>
                    </a:ext>
                  </a:extLst>
                </a:gridCol>
                <a:gridCol w="691060">
                  <a:extLst>
                    <a:ext uri="{9D8B030D-6E8A-4147-A177-3AD203B41FA5}">
                      <a16:colId xmlns:a16="http://schemas.microsoft.com/office/drawing/2014/main" val="56450038"/>
                    </a:ext>
                  </a:extLst>
                </a:gridCol>
              </a:tblGrid>
              <a:tr h="0">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400" b="0" dirty="0">
                          <a:solidFill>
                            <a:schemeClr val="tx1"/>
                          </a:solidFill>
                        </a:rPr>
                        <a:t>P1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400" b="0" dirty="0">
                          <a:solidFill>
                            <a:schemeClr val="tx1"/>
                          </a:solidFill>
                        </a:rPr>
                        <a:t>P2</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400" b="0" dirty="0">
                          <a:solidFill>
                            <a:schemeClr val="tx1"/>
                          </a:solidFill>
                        </a:rPr>
                        <a:t>P3</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0" dirty="0">
                          <a:solidFill>
                            <a:schemeClr val="tx1"/>
                          </a:solidFill>
                        </a:rPr>
                        <a:t>choice</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4761348"/>
                  </a:ext>
                </a:extLst>
              </a:tr>
              <a:tr h="208067">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start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600" b="0" dirty="0">
                          <a:solidFill>
                            <a:schemeClr val="tx1"/>
                          </a:solidFill>
                        </a:rPr>
                        <a:t>cost</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dirty="0">
                          <a:solidFill>
                            <a:schemeClr val="tx1"/>
                          </a:solidFill>
                        </a:rPr>
                        <a:t>finish</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7711569"/>
                  </a:ext>
                </a:extLst>
              </a:tr>
              <a:tr h="387284">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500462">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9+12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32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9+12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28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00462">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9+18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40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9+18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46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500462">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45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500462">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38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00462">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26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47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387284">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28+23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28+23</a:t>
                      </a:r>
                    </a:p>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66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38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49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387284">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a:t>
                      </a:r>
                    </a:p>
                    <a:p>
                      <a:pPr algn="ctr"/>
                      <a:r>
                        <a:rPr lang="en-US" altLang="zh-TW" dirty="0"/>
                        <a:t>26+23</a:t>
                      </a:r>
                    </a:p>
                    <a:p>
                      <a:pPr algn="ctr"/>
                      <a:r>
                        <a:rPr lang="en-US" altLang="zh-TW" dirty="0"/>
                        <a:t>38+13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18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58</a:t>
                      </a:r>
                    </a:p>
                    <a:p>
                      <a:pPr algn="ctr"/>
                      <a:r>
                        <a:rPr lang="en-US" altLang="zh-TW" dirty="0">
                          <a:solidFill>
                            <a:schemeClr val="tx1"/>
                          </a:solidFill>
                        </a:rPr>
                        <a:t>67</a:t>
                      </a:r>
                    </a:p>
                    <a:p>
                      <a:pPr algn="ctr"/>
                      <a:r>
                        <a:rPr lang="en-US" altLang="zh-TW" dirty="0">
                          <a:solidFill>
                            <a:schemeClr val="accent1"/>
                          </a:solidFill>
                        </a:rPr>
                        <a:t>69</a:t>
                      </a:r>
                      <a:endParaRPr lang="zh-TW" altLang="en-US"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40+16</a:t>
                      </a:r>
                    </a:p>
                    <a:p>
                      <a:pPr algn="ctr"/>
                      <a:r>
                        <a:rPr lang="en-US" altLang="zh-TW" dirty="0"/>
                        <a:t>42</a:t>
                      </a:r>
                    </a:p>
                    <a:p>
                      <a:pPr algn="ctr"/>
                      <a:r>
                        <a:rPr lang="en-US" altLang="zh-TW" dirty="0"/>
                        <a:t>38+13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solidFill>
                            <a:schemeClr val="accent1"/>
                          </a:solidFill>
                        </a:rPr>
                        <a:t>68</a:t>
                      </a:r>
                    </a:p>
                    <a:p>
                      <a:pPr algn="ctr"/>
                      <a:r>
                        <a:rPr lang="en-US" altLang="zh-TW" dirty="0"/>
                        <a:t>54</a:t>
                      </a:r>
                    </a:p>
                    <a:p>
                      <a:pPr algn="ctr"/>
                      <a:r>
                        <a:rPr lang="en-US" altLang="zh-TW" dirty="0"/>
                        <a:t>63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40+16</a:t>
                      </a:r>
                    </a:p>
                    <a:p>
                      <a:pPr algn="ctr"/>
                      <a:r>
                        <a:rPr lang="en-US" altLang="zh-TW" dirty="0"/>
                        <a:t>38+13</a:t>
                      </a:r>
                    </a:p>
                    <a:p>
                      <a:pPr algn="ctr"/>
                      <a:r>
                        <a:rPr lang="en-US" altLang="zh-TW" dirty="0"/>
                        <a:t>25+23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20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solidFill>
                            <a:schemeClr val="accent1"/>
                          </a:solidFill>
                        </a:rPr>
                        <a:t>76</a:t>
                      </a:r>
                    </a:p>
                    <a:p>
                      <a:pPr algn="ctr"/>
                      <a:r>
                        <a:rPr lang="en-US" altLang="zh-TW" dirty="0"/>
                        <a:t>71</a:t>
                      </a:r>
                    </a:p>
                    <a:p>
                      <a:pPr algn="ctr"/>
                      <a:r>
                        <a:rPr lang="en-US" altLang="zh-TW" dirty="0"/>
                        <a:t>68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9559894"/>
                  </a:ext>
                </a:extLst>
              </a:tr>
              <a:tr h="500462">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a:t>
                      </a:r>
                    </a:p>
                    <a:p>
                      <a:pPr algn="ctr"/>
                      <a:r>
                        <a:rPr lang="en-US" altLang="zh-TW" dirty="0"/>
                        <a:t>25+27</a:t>
                      </a:r>
                    </a:p>
                    <a:p>
                      <a:pPr algn="ctr"/>
                      <a:r>
                        <a:rPr lang="en-US" altLang="zh-TW" dirty="0"/>
                        <a:t>42+15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45</a:t>
                      </a:r>
                    </a:p>
                    <a:p>
                      <a:pPr algn="ctr"/>
                      <a:r>
                        <a:rPr lang="en-US" altLang="zh-TW" dirty="0"/>
                        <a:t>57</a:t>
                      </a:r>
                    </a:p>
                    <a:p>
                      <a:pPr algn="ctr"/>
                      <a:r>
                        <a:rPr lang="en-US" altLang="zh-TW" dirty="0">
                          <a:solidFill>
                            <a:schemeClr val="accent1"/>
                          </a:solidFill>
                        </a:rPr>
                        <a:t>62</a:t>
                      </a:r>
                      <a:endParaRPr lang="zh-TW" altLang="en-US"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40+16</a:t>
                      </a:r>
                    </a:p>
                    <a:p>
                      <a:pPr algn="ctr"/>
                      <a:r>
                        <a:rPr lang="en-US" altLang="zh-TW" dirty="0"/>
                        <a:t>68</a:t>
                      </a:r>
                    </a:p>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altLang="zh-TW" dirty="0"/>
                    </a:p>
                    <a:p>
                      <a:pPr algn="ctr"/>
                      <a:r>
                        <a:rPr lang="en-US" altLang="zh-TW" dirty="0">
                          <a:solidFill>
                            <a:schemeClr val="tx1"/>
                          </a:solidFill>
                        </a:rPr>
                        <a:t>79</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40+19</a:t>
                      </a:r>
                    </a:p>
                    <a:p>
                      <a:pPr algn="ctr"/>
                      <a:r>
                        <a:rPr lang="en-US" altLang="zh-TW" dirty="0"/>
                        <a:t>26+27</a:t>
                      </a:r>
                    </a:p>
                    <a:p>
                      <a:pPr algn="ctr"/>
                      <a:r>
                        <a:rPr lang="en-US" altLang="zh-TW" dirty="0"/>
                        <a:t>42+15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solidFill>
                            <a:srgbClr val="0070C0"/>
                          </a:solidFill>
                        </a:rPr>
                        <a:t>73</a:t>
                      </a:r>
                    </a:p>
                    <a:p>
                      <a:pPr algn="ctr"/>
                      <a:r>
                        <a:rPr lang="en-US" altLang="zh-TW" dirty="0"/>
                        <a:t>67</a:t>
                      </a:r>
                    </a:p>
                    <a:p>
                      <a:pPr algn="ctr"/>
                      <a:r>
                        <a:rPr lang="en-US" altLang="zh-TW" dirty="0">
                          <a:solidFill>
                            <a:schemeClr val="tx1"/>
                          </a:solidFill>
                        </a:rPr>
                        <a:t>71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638698">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49+17</a:t>
                      </a:r>
                    </a:p>
                    <a:p>
                      <a:pPr algn="ctr"/>
                      <a:r>
                        <a:rPr lang="en-US" altLang="zh-TW" dirty="0"/>
                        <a:t>62</a:t>
                      </a:r>
                    </a:p>
                    <a:p>
                      <a:pPr algn="ctr"/>
                      <a:r>
                        <a:rPr lang="en-US" altLang="zh-TW" dirty="0"/>
                        <a:t>68+13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21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87</a:t>
                      </a:r>
                    </a:p>
                    <a:p>
                      <a:pPr algn="ctr"/>
                      <a:r>
                        <a:rPr lang="en-US" altLang="zh-TW" dirty="0"/>
                        <a:t>83</a:t>
                      </a:r>
                    </a:p>
                    <a:p>
                      <a:pPr algn="ctr"/>
                      <a:r>
                        <a:rPr lang="en-US" altLang="zh-TW" dirty="0">
                          <a:solidFill>
                            <a:schemeClr val="accent1"/>
                          </a:solidFill>
                        </a:rPr>
                        <a:t>102</a:t>
                      </a:r>
                      <a:endParaRPr lang="zh-TW" altLang="en-US"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dirty="0"/>
                        <a:t>49+17</a:t>
                      </a:r>
                    </a:p>
                    <a:p>
                      <a:pPr algn="ctr"/>
                      <a:r>
                        <a:rPr lang="en-US" altLang="zh-TW" dirty="0"/>
                        <a:t>62+11</a:t>
                      </a:r>
                    </a:p>
                    <a:p>
                      <a:pPr algn="ctr"/>
                      <a:r>
                        <a:rPr lang="en-US" altLang="zh-TW" dirty="0"/>
                        <a:t>68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73</a:t>
                      </a:r>
                    </a:p>
                    <a:p>
                      <a:pPr algn="ctr"/>
                      <a:r>
                        <a:rPr lang="en-US" altLang="zh-TW" dirty="0">
                          <a:solidFill>
                            <a:schemeClr val="accent1"/>
                          </a:solidFill>
                        </a:rPr>
                        <a:t>80</a:t>
                      </a:r>
                    </a:p>
                    <a:p>
                      <a:pPr algn="ctr"/>
                      <a:r>
                        <a:rPr lang="en-US" altLang="zh-TW" dirty="0"/>
                        <a:t>75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a:t>49</a:t>
                      </a:r>
                    </a:p>
                    <a:p>
                      <a:pPr algn="ctr"/>
                      <a:r>
                        <a:rPr lang="en-US" altLang="zh-TW" dirty="0"/>
                        <a:t>62+11</a:t>
                      </a:r>
                    </a:p>
                    <a:p>
                      <a:pPr algn="ctr"/>
                      <a:r>
                        <a:rPr lang="en-US" altLang="zh-TW" dirty="0"/>
                        <a:t>68+13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65</a:t>
                      </a:r>
                    </a:p>
                    <a:p>
                      <a:pPr algn="ctr"/>
                      <a:r>
                        <a:rPr lang="en-US" altLang="zh-TW" dirty="0"/>
                        <a:t>89</a:t>
                      </a:r>
                    </a:p>
                    <a:p>
                      <a:pPr algn="ctr"/>
                      <a:r>
                        <a:rPr lang="en-US" altLang="zh-TW" dirty="0">
                          <a:solidFill>
                            <a:schemeClr val="accent1"/>
                          </a:solidFill>
                        </a:rPr>
                        <a:t>97</a:t>
                      </a:r>
                      <a:endParaRPr lang="zh-TW" altLang="en-US"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dirty="0"/>
                        <a:t>P2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sp>
        <p:nvSpPr>
          <p:cNvPr id="14" name="乘號 13">
            <a:extLst>
              <a:ext uri="{FF2B5EF4-FFF2-40B4-BE49-F238E27FC236}">
                <a16:creationId xmlns:a16="http://schemas.microsoft.com/office/drawing/2014/main" id="{0F5E08F1-B4B2-49CD-91A6-C23F53B9B9C2}"/>
              </a:ext>
            </a:extLst>
          </p:cNvPr>
          <p:cNvSpPr/>
          <p:nvPr/>
        </p:nvSpPr>
        <p:spPr>
          <a:xfrm>
            <a:off x="2975769" y="5088487"/>
            <a:ext cx="650658" cy="475576"/>
          </a:xfrm>
          <a:prstGeom prst="mathMultiply">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 name="圖片 7">
            <a:extLst>
              <a:ext uri="{FF2B5EF4-FFF2-40B4-BE49-F238E27FC236}">
                <a16:creationId xmlns:a16="http://schemas.microsoft.com/office/drawing/2014/main" id="{440F3A3B-38DE-4040-BB65-FA4CEE0EEA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7795" y="180255"/>
            <a:ext cx="3673492" cy="6497489"/>
          </a:xfrm>
          <a:prstGeom prst="rect">
            <a:avLst/>
          </a:prstGeom>
        </p:spPr>
      </p:pic>
    </p:spTree>
    <p:extLst>
      <p:ext uri="{BB962C8B-B14F-4D97-AF65-F5344CB8AC3E}">
        <p14:creationId xmlns:p14="http://schemas.microsoft.com/office/powerpoint/2010/main" val="39525160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4ADEC0-4C8A-4EB4-9296-66A9D1285380}"/>
              </a:ext>
            </a:extLst>
          </p:cNvPr>
          <p:cNvSpPr>
            <a:spLocks noGrp="1"/>
          </p:cNvSpPr>
          <p:nvPr>
            <p:ph type="title"/>
          </p:nvPr>
        </p:nvSpPr>
        <p:spPr/>
        <p:txBody>
          <a:bodyPr/>
          <a:lstStyle/>
          <a:p>
            <a:r>
              <a:rPr lang="en-US" altLang="zh-TW" dirty="0"/>
              <a:t> Five input parameters</a:t>
            </a:r>
            <a:endParaRPr lang="zh-TW" altLang="en-US" dirty="0"/>
          </a:p>
        </p:txBody>
      </p:sp>
      <p:sp>
        <p:nvSpPr>
          <p:cNvPr id="3" name="內容版面配置區 2">
            <a:extLst>
              <a:ext uri="{FF2B5EF4-FFF2-40B4-BE49-F238E27FC236}">
                <a16:creationId xmlns:a16="http://schemas.microsoft.com/office/drawing/2014/main" id="{6CA1B91D-7B8D-49A7-8BA7-ACE6B6D24DAE}"/>
              </a:ext>
            </a:extLst>
          </p:cNvPr>
          <p:cNvSpPr>
            <a:spLocks noGrp="1"/>
          </p:cNvSpPr>
          <p:nvPr>
            <p:ph idx="1"/>
          </p:nvPr>
        </p:nvSpPr>
        <p:spPr/>
        <p:txBody>
          <a:bodyPr>
            <a:normAutofit/>
          </a:bodyPr>
          <a:lstStyle/>
          <a:p>
            <a:r>
              <a:rPr lang="en-US" altLang="zh-TW" dirty="0"/>
              <a:t>Beta = {0.1, 0.2, 0.3, 0.4, 0.5, 0.6, 0.7, 0.8, 0.9, 1.0}</a:t>
            </a:r>
          </a:p>
          <a:p>
            <a:r>
              <a:rPr lang="en-US" altLang="zh-TW" dirty="0"/>
              <a:t>Number of DAG Tasks = {5, 10, 15, 20, 25}</a:t>
            </a:r>
          </a:p>
          <a:p>
            <a:r>
              <a:rPr lang="en-US" altLang="zh-TW" dirty="0"/>
              <a:t>Connectivity = {0.1, 0.2, 0.3, 0.4, 0.5, 0.6, 0.7, 0.8,0.9, 1.0}</a:t>
            </a:r>
          </a:p>
          <a:p>
            <a:r>
              <a:rPr lang="en-US" altLang="zh-TW" dirty="0"/>
              <a:t>Number of Processors = {2, 3, 4, 5, 6} for each task. </a:t>
            </a:r>
          </a:p>
          <a:p>
            <a:r>
              <a:rPr lang="en-US" altLang="zh-TW" dirty="0"/>
              <a:t>Previous information</a:t>
            </a:r>
          </a:p>
          <a:p>
            <a:endParaRPr lang="en-US" altLang="zh-TW" dirty="0"/>
          </a:p>
          <a:p>
            <a:r>
              <a:rPr lang="en-US" altLang="zh-TW" dirty="0"/>
              <a:t>Intel Core i7-6500U CPU with a 2.50 GHz × 4</a:t>
            </a:r>
            <a:r>
              <a:rPr lang="zh-TW" altLang="en-US" dirty="0"/>
              <a:t> </a:t>
            </a:r>
            <a:r>
              <a:rPr lang="en-US" altLang="zh-TW" dirty="0"/>
              <a:t>speed, 16 GB of RAM, on Ubuntu 16.04 LTS. </a:t>
            </a:r>
            <a:endParaRPr lang="zh-TW" altLang="en-US" dirty="0"/>
          </a:p>
          <a:p>
            <a:pPr marL="0" indent="0">
              <a:buNone/>
            </a:pPr>
            <a:endParaRPr lang="zh-TW" altLang="en-US" dirty="0"/>
          </a:p>
        </p:txBody>
      </p:sp>
    </p:spTree>
    <p:extLst>
      <p:ext uri="{BB962C8B-B14F-4D97-AF65-F5344CB8AC3E}">
        <p14:creationId xmlns:p14="http://schemas.microsoft.com/office/powerpoint/2010/main" val="3440778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A89540-D166-4DC9-8675-F507D4AF5058}"/>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77E51B58-F283-4BCC-A5E5-D429D488444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5705" y="-86761"/>
            <a:ext cx="5430008" cy="3534268"/>
          </a:xfrm>
        </p:spPr>
      </p:pic>
      <p:pic>
        <p:nvPicPr>
          <p:cNvPr id="7" name="圖片 6">
            <a:extLst>
              <a:ext uri="{FF2B5EF4-FFF2-40B4-BE49-F238E27FC236}">
                <a16:creationId xmlns:a16="http://schemas.microsoft.com/office/drawing/2014/main" id="{2B45EA3B-7506-4627-BE8F-6B11141954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6290" y="3409469"/>
            <a:ext cx="5377114" cy="3448531"/>
          </a:xfrm>
          <a:prstGeom prst="rect">
            <a:avLst/>
          </a:prstGeom>
        </p:spPr>
      </p:pic>
      <p:pic>
        <p:nvPicPr>
          <p:cNvPr id="9" name="圖片 8">
            <a:extLst>
              <a:ext uri="{FF2B5EF4-FFF2-40B4-BE49-F238E27FC236}">
                <a16:creationId xmlns:a16="http://schemas.microsoft.com/office/drawing/2014/main" id="{26F4E715-53E5-4321-A402-C999BC3A9826}"/>
              </a:ext>
            </a:extLst>
          </p:cNvPr>
          <p:cNvPicPr>
            <a:picLocks noChangeAspect="1"/>
          </p:cNvPicPr>
          <p:nvPr/>
        </p:nvPicPr>
        <p:blipFill rotWithShape="1">
          <a:blip r:embed="rId5">
            <a:extLst>
              <a:ext uri="{28A0092B-C50C-407E-A947-70E740481C1C}">
                <a14:useLocalDpi xmlns:a14="http://schemas.microsoft.com/office/drawing/2010/main" val="0"/>
              </a:ext>
            </a:extLst>
          </a:blip>
          <a:srcRect t="2979" r="1615"/>
          <a:stretch/>
        </p:blipFill>
        <p:spPr>
          <a:xfrm>
            <a:off x="218597" y="3447506"/>
            <a:ext cx="5220429" cy="3410493"/>
          </a:xfrm>
          <a:prstGeom prst="rect">
            <a:avLst/>
          </a:prstGeom>
        </p:spPr>
      </p:pic>
      <p:pic>
        <p:nvPicPr>
          <p:cNvPr id="11" name="圖片 10">
            <a:extLst>
              <a:ext uri="{FF2B5EF4-FFF2-40B4-BE49-F238E27FC236}">
                <a16:creationId xmlns:a16="http://schemas.microsoft.com/office/drawing/2014/main" id="{B6AC3AB1-BFEF-4727-9E88-33112118F5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05298" y="-86761"/>
            <a:ext cx="5287113" cy="3505689"/>
          </a:xfrm>
          <a:prstGeom prst="rect">
            <a:avLst/>
          </a:prstGeom>
        </p:spPr>
      </p:pic>
    </p:spTree>
    <p:extLst>
      <p:ext uri="{BB962C8B-B14F-4D97-AF65-F5344CB8AC3E}">
        <p14:creationId xmlns:p14="http://schemas.microsoft.com/office/powerpoint/2010/main" val="3708410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6FFB93-A2C6-4C52-B979-9A5B8172B61D}"/>
              </a:ext>
            </a:extLst>
          </p:cNvPr>
          <p:cNvSpPr>
            <a:spLocks noGrp="1"/>
          </p:cNvSpPr>
          <p:nvPr>
            <p:ph type="title"/>
          </p:nvPr>
        </p:nvSpPr>
        <p:spPr/>
        <p:txBody>
          <a:bodyPr/>
          <a:lstStyle/>
          <a:p>
            <a:endParaRPr lang="zh-TW" altLang="en-US"/>
          </a:p>
        </p:txBody>
      </p:sp>
      <p:pic>
        <p:nvPicPr>
          <p:cNvPr id="10" name="內容版面配置區 9">
            <a:extLst>
              <a:ext uri="{FF2B5EF4-FFF2-40B4-BE49-F238E27FC236}">
                <a16:creationId xmlns:a16="http://schemas.microsoft.com/office/drawing/2014/main" id="{4672F98B-6D9E-46C4-AC41-A6AA5E0F804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00363" y="1211323"/>
            <a:ext cx="6587279" cy="4435354"/>
          </a:xfrm>
        </p:spPr>
      </p:pic>
      <p:pic>
        <p:nvPicPr>
          <p:cNvPr id="8" name="圖片 7">
            <a:extLst>
              <a:ext uri="{FF2B5EF4-FFF2-40B4-BE49-F238E27FC236}">
                <a16:creationId xmlns:a16="http://schemas.microsoft.com/office/drawing/2014/main" id="{494F54CC-F7B8-40F5-A758-688A9665350C}"/>
              </a:ext>
            </a:extLst>
          </p:cNvPr>
          <p:cNvPicPr>
            <a:picLocks noChangeAspect="1"/>
          </p:cNvPicPr>
          <p:nvPr/>
        </p:nvPicPr>
        <p:blipFill>
          <a:blip r:embed="rId4"/>
          <a:stretch>
            <a:fillRect/>
          </a:stretch>
        </p:blipFill>
        <p:spPr>
          <a:xfrm>
            <a:off x="7035070" y="4735705"/>
            <a:ext cx="5665103" cy="1821943"/>
          </a:xfrm>
          <a:prstGeom prst="rect">
            <a:avLst/>
          </a:prstGeom>
        </p:spPr>
      </p:pic>
    </p:spTree>
    <p:extLst>
      <p:ext uri="{BB962C8B-B14F-4D97-AF65-F5344CB8AC3E}">
        <p14:creationId xmlns:p14="http://schemas.microsoft.com/office/powerpoint/2010/main" val="1584985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5B9E20-2FB3-4944-A421-0DD00C8D74BF}"/>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E9C032C1-7533-4541-B45A-71DD3BB8B66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5626" y="-57394"/>
            <a:ext cx="5134692" cy="3496163"/>
          </a:xfrm>
        </p:spPr>
      </p:pic>
      <p:pic>
        <p:nvPicPr>
          <p:cNvPr id="7" name="圖片 6">
            <a:extLst>
              <a:ext uri="{FF2B5EF4-FFF2-40B4-BE49-F238E27FC236}">
                <a16:creationId xmlns:a16="http://schemas.microsoft.com/office/drawing/2014/main" id="{8ED2DFB9-3047-4081-B390-C3FE21DE3C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564" y="3418995"/>
            <a:ext cx="4972744" cy="3439005"/>
          </a:xfrm>
          <a:prstGeom prst="rect">
            <a:avLst/>
          </a:prstGeom>
        </p:spPr>
      </p:pic>
      <p:pic>
        <p:nvPicPr>
          <p:cNvPr id="9" name="圖片 8">
            <a:extLst>
              <a:ext uri="{FF2B5EF4-FFF2-40B4-BE49-F238E27FC236}">
                <a16:creationId xmlns:a16="http://schemas.microsoft.com/office/drawing/2014/main" id="{6A7B145F-3377-440D-9E1C-ED38CCD2F9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27841" y="-172431"/>
            <a:ext cx="5134692" cy="3477110"/>
          </a:xfrm>
          <a:prstGeom prst="rect">
            <a:avLst/>
          </a:prstGeom>
        </p:spPr>
      </p:pic>
      <p:pic>
        <p:nvPicPr>
          <p:cNvPr id="11" name="圖片 10">
            <a:extLst>
              <a:ext uri="{FF2B5EF4-FFF2-40B4-BE49-F238E27FC236}">
                <a16:creationId xmlns:a16="http://schemas.microsoft.com/office/drawing/2014/main" id="{09234689-F0DB-4131-88E3-582FA2260C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1684" y="3304679"/>
            <a:ext cx="4887007" cy="3553321"/>
          </a:xfrm>
          <a:prstGeom prst="rect">
            <a:avLst/>
          </a:prstGeom>
        </p:spPr>
      </p:pic>
    </p:spTree>
    <p:extLst>
      <p:ext uri="{BB962C8B-B14F-4D97-AF65-F5344CB8AC3E}">
        <p14:creationId xmlns:p14="http://schemas.microsoft.com/office/powerpoint/2010/main" val="3029159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52F587-D291-48CB-8EC7-7EFCF96ABD7B}"/>
              </a:ext>
            </a:extLst>
          </p:cNvPr>
          <p:cNvSpPr>
            <a:spLocks noGrp="1"/>
          </p:cNvSpPr>
          <p:nvPr>
            <p:ph type="title"/>
          </p:nvPr>
        </p:nvSpPr>
        <p:spPr/>
        <p:txBody>
          <a:bodyPr/>
          <a:lstStyle/>
          <a:p>
            <a:r>
              <a:rPr lang="en-US" altLang="zh-TW" dirty="0" err="1"/>
              <a:t>Conclution</a:t>
            </a:r>
            <a:endParaRPr lang="zh-TW" altLang="en-US" dirty="0"/>
          </a:p>
        </p:txBody>
      </p:sp>
      <p:sp>
        <p:nvSpPr>
          <p:cNvPr id="3" name="內容版面配置區 2">
            <a:extLst>
              <a:ext uri="{FF2B5EF4-FFF2-40B4-BE49-F238E27FC236}">
                <a16:creationId xmlns:a16="http://schemas.microsoft.com/office/drawing/2014/main" id="{94D1A5D7-46E3-4545-8D40-6A1B32D51793}"/>
              </a:ext>
            </a:extLst>
          </p:cNvPr>
          <p:cNvSpPr>
            <a:spLocks noGrp="1"/>
          </p:cNvSpPr>
          <p:nvPr>
            <p:ph idx="1"/>
          </p:nvPr>
        </p:nvSpPr>
        <p:spPr/>
        <p:txBody>
          <a:bodyPr/>
          <a:lstStyle/>
          <a:p>
            <a:pPr marL="0" indent="0">
              <a:buNone/>
            </a:pPr>
            <a:endParaRPr lang="en-US" altLang="zh-TW" dirty="0"/>
          </a:p>
          <a:p>
            <a:pPr marL="0" indent="0">
              <a:buNone/>
            </a:pPr>
            <a:r>
              <a:rPr lang="en-US" altLang="zh-TW" dirty="0"/>
              <a:t>EHEFT algorithm is highly dependent on the value of the past execution time of the tasks and it assigns tasks to resources that were better suited to execute such tasks in the past.</a:t>
            </a:r>
          </a:p>
          <a:p>
            <a:pPr marL="0" indent="0">
              <a:buNone/>
            </a:pPr>
            <a:endParaRPr lang="en-US" altLang="zh-TW" dirty="0"/>
          </a:p>
          <a:p>
            <a:pPr marL="0" indent="0">
              <a:buNone/>
            </a:pPr>
            <a:r>
              <a:rPr lang="en-US" altLang="zh-TW" dirty="0"/>
              <a:t>For more efficient task scheduling, other factors such as availability and scalability should be considered.</a:t>
            </a:r>
            <a:endParaRPr lang="zh-TW" altLang="en-US" dirty="0"/>
          </a:p>
        </p:txBody>
      </p:sp>
    </p:spTree>
    <p:extLst>
      <p:ext uri="{BB962C8B-B14F-4D97-AF65-F5344CB8AC3E}">
        <p14:creationId xmlns:p14="http://schemas.microsoft.com/office/powerpoint/2010/main" val="2332720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64BE7C-530A-4750-9505-34E84ACD34C7}"/>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9489E1D2-1568-4F32-97C5-0DBB3CDAE9FF}"/>
              </a:ext>
            </a:extLst>
          </p:cNvPr>
          <p:cNvSpPr>
            <a:spLocks noGrp="1"/>
          </p:cNvSpPr>
          <p:nvPr>
            <p:ph idx="1"/>
          </p:nvPr>
        </p:nvSpPr>
        <p:spPr>
          <a:xfrm>
            <a:off x="1924878" y="3044825"/>
            <a:ext cx="10515600" cy="4351338"/>
          </a:xfrm>
        </p:spPr>
        <p:txBody>
          <a:bodyPr/>
          <a:lstStyle/>
          <a:p>
            <a:pPr marL="0" indent="0">
              <a:buNone/>
            </a:pPr>
            <a:r>
              <a:rPr lang="en-US" altLang="zh-TW" dirty="0"/>
              <a:t>Thanks for listening.</a:t>
            </a:r>
            <a:endParaRPr lang="zh-TW" altLang="en-US" dirty="0"/>
          </a:p>
        </p:txBody>
      </p:sp>
    </p:spTree>
    <p:extLst>
      <p:ext uri="{BB962C8B-B14F-4D97-AF65-F5344CB8AC3E}">
        <p14:creationId xmlns:p14="http://schemas.microsoft.com/office/powerpoint/2010/main" val="17462205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A480CC-01D2-4611-86B0-FD4613785F7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21656C3-F66A-4B5D-B93B-3DFE0181339D}"/>
              </a:ext>
            </a:extLst>
          </p:cNvPr>
          <p:cNvSpPr>
            <a:spLocks noGrp="1"/>
          </p:cNvSpPr>
          <p:nvPr>
            <p:ph idx="1"/>
          </p:nvPr>
        </p:nvSpPr>
        <p:spPr/>
        <p:txBody>
          <a:bodyPr/>
          <a:lstStyle/>
          <a:p>
            <a:endParaRPr lang="zh-TW" altLang="en-US" dirty="0"/>
          </a:p>
        </p:txBody>
      </p:sp>
      <p:graphicFrame>
        <p:nvGraphicFramePr>
          <p:cNvPr id="4" name="表格 20">
            <a:extLst>
              <a:ext uri="{FF2B5EF4-FFF2-40B4-BE49-F238E27FC236}">
                <a16:creationId xmlns:a16="http://schemas.microsoft.com/office/drawing/2014/main" id="{072D3139-33E7-416F-89DC-806F848CB33A}"/>
              </a:ext>
            </a:extLst>
          </p:cNvPr>
          <p:cNvGraphicFramePr>
            <a:graphicFrameLocks noGrp="1"/>
          </p:cNvGraphicFramePr>
          <p:nvPr/>
        </p:nvGraphicFramePr>
        <p:xfrm>
          <a:off x="114726" y="681037"/>
          <a:ext cx="8946586" cy="5577890"/>
        </p:xfrm>
        <a:graphic>
          <a:graphicData uri="http://schemas.openxmlformats.org/drawingml/2006/table">
            <a:tbl>
              <a:tblPr firstRow="1" bandRow="1">
                <a:tableStyleId>{5C22544A-7EE6-4342-B048-85BDC9FD1C3A}</a:tableStyleId>
              </a:tblPr>
              <a:tblGrid>
                <a:gridCol w="653866">
                  <a:extLst>
                    <a:ext uri="{9D8B030D-6E8A-4147-A177-3AD203B41FA5}">
                      <a16:colId xmlns:a16="http://schemas.microsoft.com/office/drawing/2014/main" val="1708107604"/>
                    </a:ext>
                  </a:extLst>
                </a:gridCol>
                <a:gridCol w="691060">
                  <a:extLst>
                    <a:ext uri="{9D8B030D-6E8A-4147-A177-3AD203B41FA5}">
                      <a16:colId xmlns:a16="http://schemas.microsoft.com/office/drawing/2014/main" val="702232932"/>
                    </a:ext>
                  </a:extLst>
                </a:gridCol>
                <a:gridCol w="691060">
                  <a:extLst>
                    <a:ext uri="{9D8B030D-6E8A-4147-A177-3AD203B41FA5}">
                      <a16:colId xmlns:a16="http://schemas.microsoft.com/office/drawing/2014/main" val="3607116572"/>
                    </a:ext>
                  </a:extLst>
                </a:gridCol>
                <a:gridCol w="691060">
                  <a:extLst>
                    <a:ext uri="{9D8B030D-6E8A-4147-A177-3AD203B41FA5}">
                      <a16:colId xmlns:a16="http://schemas.microsoft.com/office/drawing/2014/main" val="305408827"/>
                    </a:ext>
                  </a:extLst>
                </a:gridCol>
                <a:gridCol w="691060">
                  <a:extLst>
                    <a:ext uri="{9D8B030D-6E8A-4147-A177-3AD203B41FA5}">
                      <a16:colId xmlns:a16="http://schemas.microsoft.com/office/drawing/2014/main" val="3729757115"/>
                    </a:ext>
                  </a:extLst>
                </a:gridCol>
                <a:gridCol w="691060">
                  <a:extLst>
                    <a:ext uri="{9D8B030D-6E8A-4147-A177-3AD203B41FA5}">
                      <a16:colId xmlns:a16="http://schemas.microsoft.com/office/drawing/2014/main" val="3450162339"/>
                    </a:ext>
                  </a:extLst>
                </a:gridCol>
                <a:gridCol w="691060">
                  <a:extLst>
                    <a:ext uri="{9D8B030D-6E8A-4147-A177-3AD203B41FA5}">
                      <a16:colId xmlns:a16="http://schemas.microsoft.com/office/drawing/2014/main" val="3531016683"/>
                    </a:ext>
                  </a:extLst>
                </a:gridCol>
                <a:gridCol w="691060">
                  <a:extLst>
                    <a:ext uri="{9D8B030D-6E8A-4147-A177-3AD203B41FA5}">
                      <a16:colId xmlns:a16="http://schemas.microsoft.com/office/drawing/2014/main" val="4060969492"/>
                    </a:ext>
                  </a:extLst>
                </a:gridCol>
                <a:gridCol w="691060">
                  <a:extLst>
                    <a:ext uri="{9D8B030D-6E8A-4147-A177-3AD203B41FA5}">
                      <a16:colId xmlns:a16="http://schemas.microsoft.com/office/drawing/2014/main" val="4249052222"/>
                    </a:ext>
                  </a:extLst>
                </a:gridCol>
                <a:gridCol w="691060">
                  <a:extLst>
                    <a:ext uri="{9D8B030D-6E8A-4147-A177-3AD203B41FA5}">
                      <a16:colId xmlns:a16="http://schemas.microsoft.com/office/drawing/2014/main" val="687650053"/>
                    </a:ext>
                  </a:extLst>
                </a:gridCol>
                <a:gridCol w="846613">
                  <a:extLst>
                    <a:ext uri="{9D8B030D-6E8A-4147-A177-3AD203B41FA5}">
                      <a16:colId xmlns:a16="http://schemas.microsoft.com/office/drawing/2014/main" val="3978933958"/>
                    </a:ext>
                  </a:extLst>
                </a:gridCol>
                <a:gridCol w="535507">
                  <a:extLst>
                    <a:ext uri="{9D8B030D-6E8A-4147-A177-3AD203B41FA5}">
                      <a16:colId xmlns:a16="http://schemas.microsoft.com/office/drawing/2014/main" val="2126929990"/>
                    </a:ext>
                  </a:extLst>
                </a:gridCol>
                <a:gridCol w="691060">
                  <a:extLst>
                    <a:ext uri="{9D8B030D-6E8A-4147-A177-3AD203B41FA5}">
                      <a16:colId xmlns:a16="http://schemas.microsoft.com/office/drawing/2014/main" val="56450038"/>
                    </a:ext>
                  </a:extLst>
                </a:gridCol>
              </a:tblGrid>
              <a:tr h="387284">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b="0" dirty="0">
                          <a:solidFill>
                            <a:schemeClr val="tx1"/>
                          </a:solidFill>
                        </a:rPr>
                        <a:t>P1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b="0" dirty="0">
                          <a:solidFill>
                            <a:schemeClr val="tx1"/>
                          </a:solidFill>
                        </a:rPr>
                        <a:t>P2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choice</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4761348"/>
                  </a:ext>
                </a:extLst>
              </a:tr>
              <a:tr h="387284">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start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cost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rPr>
                        <a:t>start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cost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rPr>
                        <a:t>start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b="0" dirty="0">
                          <a:solidFill>
                            <a:schemeClr val="tx1"/>
                          </a:solidFill>
                        </a:rPr>
                        <a:t>cost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7711569"/>
                  </a:ext>
                </a:extLst>
              </a:tr>
              <a:tr h="387284">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500462">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500462">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500462">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500462">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500462">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387284">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387284">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500462">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638698">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pic>
        <p:nvPicPr>
          <p:cNvPr id="5" name="圖片 4" descr="一張含有 文字, 裝置, 收據 的圖片&#10;&#10;自動產生的描述">
            <a:extLst>
              <a:ext uri="{FF2B5EF4-FFF2-40B4-BE49-F238E27FC236}">
                <a16:creationId xmlns:a16="http://schemas.microsoft.com/office/drawing/2014/main" id="{91D3BD90-789F-4BEF-B906-96BBB01AE1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9322" y="3481816"/>
            <a:ext cx="3057952" cy="3515216"/>
          </a:xfrm>
          <a:prstGeom prst="rect">
            <a:avLst/>
          </a:prstGeom>
        </p:spPr>
      </p:pic>
      <p:pic>
        <p:nvPicPr>
          <p:cNvPr id="6" name="內容版面配置區 4">
            <a:extLst>
              <a:ext uri="{FF2B5EF4-FFF2-40B4-BE49-F238E27FC236}">
                <a16:creationId xmlns:a16="http://schemas.microsoft.com/office/drawing/2014/main" id="{3A7F1301-DCF0-4F95-B80E-0E1E55F747B2}"/>
              </a:ext>
            </a:extLst>
          </p:cNvPr>
          <p:cNvPicPr>
            <a:picLocks noChangeAspect="1"/>
          </p:cNvPicPr>
          <p:nvPr/>
        </p:nvPicPr>
        <p:blipFill rotWithShape="1">
          <a:blip r:embed="rId3">
            <a:extLst>
              <a:ext uri="{28A0092B-C50C-407E-A947-70E740481C1C}">
                <a14:useLocalDpi xmlns:a14="http://schemas.microsoft.com/office/drawing/2010/main" val="0"/>
              </a:ext>
            </a:extLst>
          </a:blip>
          <a:srcRect l="11069" r="8671" b="773"/>
          <a:stretch/>
        </p:blipFill>
        <p:spPr>
          <a:xfrm>
            <a:off x="8489811" y="81964"/>
            <a:ext cx="3654767" cy="4000500"/>
          </a:xfrm>
          <a:prstGeom prst="rect">
            <a:avLst/>
          </a:prstGeom>
        </p:spPr>
      </p:pic>
    </p:spTree>
    <p:extLst>
      <p:ext uri="{BB962C8B-B14F-4D97-AF65-F5344CB8AC3E}">
        <p14:creationId xmlns:p14="http://schemas.microsoft.com/office/powerpoint/2010/main" val="1086414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A480CC-01D2-4611-86B0-FD4613785F7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21656C3-F66A-4B5D-B93B-3DFE0181339D}"/>
              </a:ext>
            </a:extLst>
          </p:cNvPr>
          <p:cNvSpPr>
            <a:spLocks noGrp="1"/>
          </p:cNvSpPr>
          <p:nvPr>
            <p:ph idx="1"/>
          </p:nvPr>
        </p:nvSpPr>
        <p:spPr/>
        <p:txBody>
          <a:bodyPr/>
          <a:lstStyle/>
          <a:p>
            <a:endParaRPr lang="zh-TW" altLang="en-US" dirty="0"/>
          </a:p>
        </p:txBody>
      </p:sp>
      <p:graphicFrame>
        <p:nvGraphicFramePr>
          <p:cNvPr id="4" name="表格 20">
            <a:extLst>
              <a:ext uri="{FF2B5EF4-FFF2-40B4-BE49-F238E27FC236}">
                <a16:creationId xmlns:a16="http://schemas.microsoft.com/office/drawing/2014/main" id="{072D3139-33E7-416F-89DC-806F848CB33A}"/>
              </a:ext>
            </a:extLst>
          </p:cNvPr>
          <p:cNvGraphicFramePr>
            <a:graphicFrameLocks noGrp="1"/>
          </p:cNvGraphicFramePr>
          <p:nvPr>
            <p:extLst>
              <p:ext uri="{D42A27DB-BD31-4B8C-83A1-F6EECF244321}">
                <p14:modId xmlns:p14="http://schemas.microsoft.com/office/powerpoint/2010/main" val="3184325087"/>
              </p:ext>
            </p:extLst>
          </p:nvPr>
        </p:nvGraphicFramePr>
        <p:xfrm>
          <a:off x="5432" y="22224"/>
          <a:ext cx="10052968" cy="6753814"/>
        </p:xfrm>
        <a:graphic>
          <a:graphicData uri="http://schemas.openxmlformats.org/drawingml/2006/table">
            <a:tbl>
              <a:tblPr firstRow="1" bandRow="1">
                <a:tableStyleId>{5C22544A-7EE6-4342-B048-85BDC9FD1C3A}</a:tableStyleId>
              </a:tblPr>
              <a:tblGrid>
                <a:gridCol w="410204">
                  <a:extLst>
                    <a:ext uri="{9D8B030D-6E8A-4147-A177-3AD203B41FA5}">
                      <a16:colId xmlns:a16="http://schemas.microsoft.com/office/drawing/2014/main" val="1708107604"/>
                    </a:ext>
                  </a:extLst>
                </a:gridCol>
                <a:gridCol w="1153889">
                  <a:extLst>
                    <a:ext uri="{9D8B030D-6E8A-4147-A177-3AD203B41FA5}">
                      <a16:colId xmlns:a16="http://schemas.microsoft.com/office/drawing/2014/main" val="702232932"/>
                    </a:ext>
                  </a:extLst>
                </a:gridCol>
                <a:gridCol w="723674">
                  <a:extLst>
                    <a:ext uri="{9D8B030D-6E8A-4147-A177-3AD203B41FA5}">
                      <a16:colId xmlns:a16="http://schemas.microsoft.com/office/drawing/2014/main" val="3607116572"/>
                    </a:ext>
                  </a:extLst>
                </a:gridCol>
                <a:gridCol w="776520">
                  <a:extLst>
                    <a:ext uri="{9D8B030D-6E8A-4147-A177-3AD203B41FA5}">
                      <a16:colId xmlns:a16="http://schemas.microsoft.com/office/drawing/2014/main" val="305408827"/>
                    </a:ext>
                  </a:extLst>
                </a:gridCol>
                <a:gridCol w="776520">
                  <a:extLst>
                    <a:ext uri="{9D8B030D-6E8A-4147-A177-3AD203B41FA5}">
                      <a16:colId xmlns:a16="http://schemas.microsoft.com/office/drawing/2014/main" val="3729757115"/>
                    </a:ext>
                  </a:extLst>
                </a:gridCol>
                <a:gridCol w="776520">
                  <a:extLst>
                    <a:ext uri="{9D8B030D-6E8A-4147-A177-3AD203B41FA5}">
                      <a16:colId xmlns:a16="http://schemas.microsoft.com/office/drawing/2014/main" val="3450162339"/>
                    </a:ext>
                  </a:extLst>
                </a:gridCol>
                <a:gridCol w="776520">
                  <a:extLst>
                    <a:ext uri="{9D8B030D-6E8A-4147-A177-3AD203B41FA5}">
                      <a16:colId xmlns:a16="http://schemas.microsoft.com/office/drawing/2014/main" val="3531016683"/>
                    </a:ext>
                  </a:extLst>
                </a:gridCol>
                <a:gridCol w="776520">
                  <a:extLst>
                    <a:ext uri="{9D8B030D-6E8A-4147-A177-3AD203B41FA5}">
                      <a16:colId xmlns:a16="http://schemas.microsoft.com/office/drawing/2014/main" val="4060969492"/>
                    </a:ext>
                  </a:extLst>
                </a:gridCol>
                <a:gridCol w="776520">
                  <a:extLst>
                    <a:ext uri="{9D8B030D-6E8A-4147-A177-3AD203B41FA5}">
                      <a16:colId xmlns:a16="http://schemas.microsoft.com/office/drawing/2014/main" val="4249052222"/>
                    </a:ext>
                  </a:extLst>
                </a:gridCol>
                <a:gridCol w="776520">
                  <a:extLst>
                    <a:ext uri="{9D8B030D-6E8A-4147-A177-3AD203B41FA5}">
                      <a16:colId xmlns:a16="http://schemas.microsoft.com/office/drawing/2014/main" val="687650053"/>
                    </a:ext>
                  </a:extLst>
                </a:gridCol>
                <a:gridCol w="951310">
                  <a:extLst>
                    <a:ext uri="{9D8B030D-6E8A-4147-A177-3AD203B41FA5}">
                      <a16:colId xmlns:a16="http://schemas.microsoft.com/office/drawing/2014/main" val="3978933958"/>
                    </a:ext>
                  </a:extLst>
                </a:gridCol>
                <a:gridCol w="601731">
                  <a:extLst>
                    <a:ext uri="{9D8B030D-6E8A-4147-A177-3AD203B41FA5}">
                      <a16:colId xmlns:a16="http://schemas.microsoft.com/office/drawing/2014/main" val="2126929990"/>
                    </a:ext>
                  </a:extLst>
                </a:gridCol>
                <a:gridCol w="776520">
                  <a:extLst>
                    <a:ext uri="{9D8B030D-6E8A-4147-A177-3AD203B41FA5}">
                      <a16:colId xmlns:a16="http://schemas.microsoft.com/office/drawing/2014/main" val="56450038"/>
                    </a:ext>
                  </a:extLst>
                </a:gridCol>
              </a:tblGrid>
              <a:tr h="446313">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400" b="0" dirty="0">
                          <a:solidFill>
                            <a:schemeClr val="tx1"/>
                          </a:solidFill>
                        </a:rPr>
                        <a:t>P1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400" b="0" dirty="0">
                          <a:solidFill>
                            <a:schemeClr val="tx1"/>
                          </a:solidFill>
                        </a:rPr>
                        <a:t>P2</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TW" sz="1400" b="0" dirty="0">
                          <a:solidFill>
                            <a:schemeClr val="tx1"/>
                          </a:solidFill>
                        </a:rPr>
                        <a:t>P3</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0" dirty="0">
                          <a:solidFill>
                            <a:schemeClr val="tx1"/>
                          </a:solidFill>
                        </a:rPr>
                        <a:t>choice</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4761348"/>
                  </a:ext>
                </a:extLst>
              </a:tr>
              <a:tr h="446313">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0" dirty="0">
                          <a:solidFill>
                            <a:schemeClr val="tx1"/>
                          </a:solidFill>
                        </a:rPr>
                        <a:t>start</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400" b="0" dirty="0">
                          <a:solidFill>
                            <a:schemeClr val="tx1"/>
                          </a:solidFill>
                        </a:rPr>
                        <a:t>cost</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1400" b="0" dirty="0">
                          <a:solidFill>
                            <a:schemeClr val="tx1"/>
                          </a:solidFill>
                        </a:rPr>
                        <a:t>finish</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start</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0" dirty="0">
                          <a:solidFill>
                            <a:schemeClr val="tx1"/>
                          </a:solidFill>
                        </a:rPr>
                        <a:t>cost</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finish</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start</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400" b="0" dirty="0">
                          <a:solidFill>
                            <a:schemeClr val="tx1"/>
                          </a:solidFill>
                        </a:rPr>
                        <a:t>cost</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finish</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7711569"/>
                  </a:ext>
                </a:extLst>
              </a:tr>
              <a:tr h="472578">
                <a:tc>
                  <a:txBody>
                    <a:bodyPr/>
                    <a:lstStyle/>
                    <a:p>
                      <a:pPr algn="ctr"/>
                      <a:r>
                        <a:rPr lang="en-US" altLang="zh-TW" sz="1600" b="0" dirty="0">
                          <a:solidFill>
                            <a:schemeClr val="tx1"/>
                          </a:solidFill>
                        </a:rPr>
                        <a:t>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610682">
                <a:tc>
                  <a:txBody>
                    <a:bodyPr/>
                    <a:lstStyle/>
                    <a:p>
                      <a:pPr algn="ctr"/>
                      <a:r>
                        <a:rPr lang="en-US" altLang="zh-TW" sz="1600" dirty="0"/>
                        <a:t>3</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610682">
                <a:tc>
                  <a:txBody>
                    <a:bodyPr/>
                    <a:lstStyle/>
                    <a:p>
                      <a:pPr algn="ctr"/>
                      <a:r>
                        <a:rPr lang="en-US" altLang="zh-TW" sz="1600" dirty="0"/>
                        <a:t>4</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610682">
                <a:tc>
                  <a:txBody>
                    <a:bodyPr/>
                    <a:lstStyle/>
                    <a:p>
                      <a:pPr algn="ctr"/>
                      <a:r>
                        <a:rPr lang="en-US" altLang="zh-TW" sz="1600" dirty="0"/>
                        <a:t>2</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610682">
                <a:tc>
                  <a:txBody>
                    <a:bodyPr/>
                    <a:lstStyle/>
                    <a:p>
                      <a:pPr algn="ctr"/>
                      <a:r>
                        <a:rPr lang="en-US" altLang="zh-TW" sz="1600" dirty="0"/>
                        <a:t>5</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610682">
                <a:tc>
                  <a:txBody>
                    <a:bodyPr/>
                    <a:lstStyle/>
                    <a:p>
                      <a:pPr algn="ctr"/>
                      <a:r>
                        <a:rPr lang="en-US" altLang="zh-TW" sz="1600" dirty="0"/>
                        <a:t>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472578">
                <a:tc>
                  <a:txBody>
                    <a:bodyPr/>
                    <a:lstStyle/>
                    <a:p>
                      <a:pPr algn="ctr"/>
                      <a:r>
                        <a:rPr lang="en-US" altLang="zh-TW" sz="1600" dirty="0"/>
                        <a:t>9</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472578">
                <a:tc>
                  <a:txBody>
                    <a:bodyPr/>
                    <a:lstStyle/>
                    <a:p>
                      <a:pPr algn="ctr"/>
                      <a:r>
                        <a:rPr lang="en-US" altLang="zh-TW" sz="1600" dirty="0"/>
                        <a:t>7</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610682">
                <a:tc>
                  <a:txBody>
                    <a:bodyPr/>
                    <a:lstStyle/>
                    <a:p>
                      <a:pPr algn="ctr"/>
                      <a:r>
                        <a:rPr lang="en-US" altLang="zh-TW" sz="1600" dirty="0"/>
                        <a:t>8</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779362">
                <a:tc>
                  <a:txBody>
                    <a:bodyPr/>
                    <a:lstStyle/>
                    <a:p>
                      <a:pPr algn="ctr"/>
                      <a:r>
                        <a:rPr lang="en-US" altLang="zh-TW" sz="1600" dirty="0"/>
                        <a:t>10</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0+14.6</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pic>
        <p:nvPicPr>
          <p:cNvPr id="5" name="圖片 4" descr="一張含有 文字, 裝置, 收據 的圖片&#10;&#10;自動產生的描述">
            <a:extLst>
              <a:ext uri="{FF2B5EF4-FFF2-40B4-BE49-F238E27FC236}">
                <a16:creationId xmlns:a16="http://schemas.microsoft.com/office/drawing/2014/main" id="{91D3BD90-789F-4BEF-B906-96BBB01AE1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9322" y="3481816"/>
            <a:ext cx="3057952" cy="3515216"/>
          </a:xfrm>
          <a:prstGeom prst="rect">
            <a:avLst/>
          </a:prstGeom>
        </p:spPr>
      </p:pic>
      <p:pic>
        <p:nvPicPr>
          <p:cNvPr id="6" name="內容版面配置區 4">
            <a:extLst>
              <a:ext uri="{FF2B5EF4-FFF2-40B4-BE49-F238E27FC236}">
                <a16:creationId xmlns:a16="http://schemas.microsoft.com/office/drawing/2014/main" id="{3A7F1301-DCF0-4F95-B80E-0E1E55F747B2}"/>
              </a:ext>
            </a:extLst>
          </p:cNvPr>
          <p:cNvPicPr>
            <a:picLocks noChangeAspect="1"/>
          </p:cNvPicPr>
          <p:nvPr/>
        </p:nvPicPr>
        <p:blipFill rotWithShape="1">
          <a:blip r:embed="rId4">
            <a:extLst>
              <a:ext uri="{28A0092B-C50C-407E-A947-70E740481C1C}">
                <a14:useLocalDpi xmlns:a14="http://schemas.microsoft.com/office/drawing/2010/main" val="0"/>
              </a:ext>
            </a:extLst>
          </a:blip>
          <a:srcRect l="11069" r="8671" b="773"/>
          <a:stretch/>
        </p:blipFill>
        <p:spPr>
          <a:xfrm>
            <a:off x="8489811" y="81964"/>
            <a:ext cx="3654767" cy="4000500"/>
          </a:xfrm>
          <a:prstGeom prst="rect">
            <a:avLst/>
          </a:prstGeom>
        </p:spPr>
      </p:pic>
    </p:spTree>
    <p:extLst>
      <p:ext uri="{BB962C8B-B14F-4D97-AF65-F5344CB8AC3E}">
        <p14:creationId xmlns:p14="http://schemas.microsoft.com/office/powerpoint/2010/main" val="1277312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E98C53-6039-47A7-9609-CB169EC25C8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79DC2151-3C98-4341-8144-AD2C7DA139B1}"/>
              </a:ext>
            </a:extLst>
          </p:cNvPr>
          <p:cNvSpPr>
            <a:spLocks noGrp="1"/>
          </p:cNvSpPr>
          <p:nvPr>
            <p:ph idx="1"/>
          </p:nvPr>
        </p:nvSpPr>
        <p:spPr/>
        <p:txBody>
          <a:bodyPr/>
          <a:lstStyle/>
          <a:p>
            <a:endParaRPr lang="zh-TW" altLang="en-US"/>
          </a:p>
        </p:txBody>
      </p:sp>
      <p:pic>
        <p:nvPicPr>
          <p:cNvPr id="4" name="圖片 3">
            <a:extLst>
              <a:ext uri="{FF2B5EF4-FFF2-40B4-BE49-F238E27FC236}">
                <a16:creationId xmlns:a16="http://schemas.microsoft.com/office/drawing/2014/main" id="{015FF2DE-7445-4B5E-B72E-A924C43503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2407" y="485484"/>
            <a:ext cx="3048425" cy="5391902"/>
          </a:xfrm>
          <a:prstGeom prst="rect">
            <a:avLst/>
          </a:prstGeom>
        </p:spPr>
      </p:pic>
      <p:graphicFrame>
        <p:nvGraphicFramePr>
          <p:cNvPr id="5" name="表格 20">
            <a:extLst>
              <a:ext uri="{FF2B5EF4-FFF2-40B4-BE49-F238E27FC236}">
                <a16:creationId xmlns:a16="http://schemas.microsoft.com/office/drawing/2014/main" id="{C61AE6F0-9FFA-4878-8655-3A755CEC876C}"/>
              </a:ext>
            </a:extLst>
          </p:cNvPr>
          <p:cNvGraphicFramePr>
            <a:graphicFrameLocks noGrp="1"/>
          </p:cNvGraphicFramePr>
          <p:nvPr/>
        </p:nvGraphicFramePr>
        <p:xfrm>
          <a:off x="571499" y="1690688"/>
          <a:ext cx="976393" cy="4405809"/>
        </p:xfrm>
        <a:graphic>
          <a:graphicData uri="http://schemas.openxmlformats.org/drawingml/2006/table">
            <a:tbl>
              <a:tblPr firstRow="1" bandRow="1">
                <a:tableStyleId>{5C22544A-7EE6-4342-B048-85BDC9FD1C3A}</a:tableStyleId>
              </a:tblPr>
              <a:tblGrid>
                <a:gridCol w="485470">
                  <a:extLst>
                    <a:ext uri="{9D8B030D-6E8A-4147-A177-3AD203B41FA5}">
                      <a16:colId xmlns:a16="http://schemas.microsoft.com/office/drawing/2014/main" val="1708107604"/>
                    </a:ext>
                  </a:extLst>
                </a:gridCol>
                <a:gridCol w="490923">
                  <a:extLst>
                    <a:ext uri="{9D8B030D-6E8A-4147-A177-3AD203B41FA5}">
                      <a16:colId xmlns:a16="http://schemas.microsoft.com/office/drawing/2014/main" val="4060969492"/>
                    </a:ext>
                  </a:extLst>
                </a:gridCol>
              </a:tblGrid>
              <a:tr h="282971">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243551"/>
                  </a:ext>
                </a:extLst>
              </a:tr>
              <a:tr h="472647">
                <a:tc>
                  <a:txBody>
                    <a:bodyPr/>
                    <a:lstStyle/>
                    <a:p>
                      <a:pPr algn="ctr"/>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08535817"/>
                  </a:ext>
                </a:extLst>
              </a:tr>
              <a:tr h="472647">
                <a:tc>
                  <a:txBody>
                    <a:bodyPr/>
                    <a:lstStyle/>
                    <a:p>
                      <a:pPr algn="ctr"/>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2712971"/>
                  </a:ext>
                </a:extLst>
              </a:tr>
              <a:tr h="472647">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734693"/>
                  </a:ext>
                </a:extLst>
              </a:tr>
              <a:tr h="472647">
                <a:tc>
                  <a:txBody>
                    <a:bodyPr/>
                    <a:lstStyle/>
                    <a:p>
                      <a:pPr algn="ctr"/>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5280097"/>
                  </a:ext>
                </a:extLst>
              </a:tr>
              <a:tr h="472647">
                <a:tc>
                  <a:txBody>
                    <a:bodyPr/>
                    <a:lstStyle/>
                    <a:p>
                      <a:pPr algn="ctr"/>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573196"/>
                  </a:ext>
                </a:extLst>
              </a:tr>
              <a:tr h="282971">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0640740"/>
                  </a:ext>
                </a:extLst>
              </a:tr>
              <a:tr h="282971">
                <a:tc>
                  <a:txBody>
                    <a:bodyPr/>
                    <a:lstStyle/>
                    <a:p>
                      <a:pPr algn="ctr"/>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783088"/>
                  </a:ext>
                </a:extLst>
              </a:tr>
              <a:tr h="472647">
                <a:tc>
                  <a:txBody>
                    <a:bodyPr/>
                    <a:lstStyle/>
                    <a:p>
                      <a:pPr algn="ctr"/>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634813"/>
                  </a:ext>
                </a:extLst>
              </a:tr>
              <a:tr h="472647">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5180827"/>
                  </a:ext>
                </a:extLst>
              </a:tr>
            </a:tbl>
          </a:graphicData>
        </a:graphic>
      </p:graphicFrame>
    </p:spTree>
    <p:extLst>
      <p:ext uri="{BB962C8B-B14F-4D97-AF65-F5344CB8AC3E}">
        <p14:creationId xmlns:p14="http://schemas.microsoft.com/office/powerpoint/2010/main" val="259817712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1462</TotalTime>
  <Words>2165</Words>
  <Application>Microsoft Office PowerPoint</Application>
  <PresentationFormat>寬螢幕</PresentationFormat>
  <Paragraphs>1151</Paragraphs>
  <Slides>28</Slides>
  <Notes>15</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28</vt:i4>
      </vt:variant>
    </vt:vector>
  </HeadingPairs>
  <TitlesOfParts>
    <vt:vector size="34" baseType="lpstr">
      <vt:lpstr>Microsoft JhengHei</vt:lpstr>
      <vt:lpstr>Arial</vt:lpstr>
      <vt:lpstr>Arial</vt:lpstr>
      <vt:lpstr>Calibri</vt:lpstr>
      <vt:lpstr>Times New Roman</vt:lpstr>
      <vt:lpstr>Office 佈景主題</vt:lpstr>
      <vt:lpstr>The Experiential Heterogeneous Earliest Finish Time Algorithm for Task Scheduling in Clouds </vt:lpstr>
      <vt:lpstr>Abstract</vt:lpstr>
      <vt:lpstr>Outline</vt:lpstr>
      <vt:lpstr>HEFT</vt:lpstr>
      <vt:lpstr>HEFT</vt:lpstr>
      <vt:lpstr>HEFT</vt:lpstr>
      <vt:lpstr>HEFT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 Five input parameters</vt:lpstr>
      <vt:lpstr>PowerPoint 簡報</vt:lpstr>
      <vt:lpstr>PowerPoint 簡報</vt:lpstr>
      <vt:lpstr>PowerPoint 簡報</vt:lpstr>
      <vt:lpstr>Conclution</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wujj</dc:creator>
  <cp:lastModifiedBy>wujj</cp:lastModifiedBy>
  <cp:revision>35</cp:revision>
  <dcterms:created xsi:type="dcterms:W3CDTF">2021-03-05T12:40:44Z</dcterms:created>
  <dcterms:modified xsi:type="dcterms:W3CDTF">2021-03-09T10:31:09Z</dcterms:modified>
</cp:coreProperties>
</file>