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2"/>
  </p:notesMasterIdLst>
  <p:sldIdLst>
    <p:sldId id="256" r:id="rId2"/>
    <p:sldId id="257" r:id="rId3"/>
    <p:sldId id="258" r:id="rId4"/>
    <p:sldId id="358" r:id="rId5"/>
    <p:sldId id="284" r:id="rId6"/>
    <p:sldId id="321" r:id="rId7"/>
    <p:sldId id="323" r:id="rId8"/>
    <p:sldId id="303" r:id="rId9"/>
    <p:sldId id="329" r:id="rId10"/>
    <p:sldId id="331" r:id="rId11"/>
    <p:sldId id="333" r:id="rId12"/>
    <p:sldId id="304" r:id="rId13"/>
    <p:sldId id="334" r:id="rId14"/>
    <p:sldId id="335" r:id="rId15"/>
    <p:sldId id="336" r:id="rId16"/>
    <p:sldId id="337" r:id="rId17"/>
    <p:sldId id="305" r:id="rId18"/>
    <p:sldId id="338" r:id="rId19"/>
    <p:sldId id="339" r:id="rId20"/>
    <p:sldId id="340" r:id="rId21"/>
    <p:sldId id="341" r:id="rId22"/>
    <p:sldId id="306" r:id="rId23"/>
    <p:sldId id="342" r:id="rId24"/>
    <p:sldId id="343" r:id="rId25"/>
    <p:sldId id="351" r:id="rId26"/>
    <p:sldId id="352" r:id="rId27"/>
    <p:sldId id="353" r:id="rId28"/>
    <p:sldId id="355" r:id="rId29"/>
    <p:sldId id="359" r:id="rId30"/>
    <p:sldId id="350"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15"/>
    <p:restoredTop sz="95728"/>
  </p:normalViewPr>
  <p:slideViewPr>
    <p:cSldViewPr snapToGrid="0" snapToObjects="1">
      <p:cViewPr varScale="1">
        <p:scale>
          <a:sx n="70" d="100"/>
          <a:sy n="70" d="100"/>
        </p:scale>
        <p:origin x="69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4A7D89-771E-1D44-8978-13D97EC93D4F}" type="datetimeFigureOut">
              <a:rPr kumimoji="1" lang="zh-TW" altLang="en-US" smtClean="0"/>
              <a:t>2022/12/28</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74DD3-B557-E04D-8E2E-EB44AD52CBB0}" type="slidenum">
              <a:rPr kumimoji="1" lang="zh-TW" altLang="en-US" smtClean="0"/>
              <a:t>‹#›</a:t>
            </a:fld>
            <a:endParaRPr kumimoji="1" lang="zh-TW" altLang="en-US"/>
          </a:p>
        </p:txBody>
      </p:sp>
    </p:spTree>
    <p:extLst>
      <p:ext uri="{BB962C8B-B14F-4D97-AF65-F5344CB8AC3E}">
        <p14:creationId xmlns:p14="http://schemas.microsoft.com/office/powerpoint/2010/main" val="250902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C7EA19-C0CF-5648-9E2D-39FD43E83147}"/>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B7ECCB4C-980C-DE4C-BB92-230480A130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8C3E4E9C-1BEF-6649-A5FA-D888461246E2}"/>
              </a:ext>
            </a:extLst>
          </p:cNvPr>
          <p:cNvSpPr>
            <a:spLocks noGrp="1"/>
          </p:cNvSpPr>
          <p:nvPr>
            <p:ph type="dt" sz="half" idx="10"/>
          </p:nvPr>
        </p:nvSpPr>
        <p:spPr/>
        <p:txBody>
          <a:bodyPr/>
          <a:lstStyle/>
          <a:p>
            <a:fld id="{E83CF20C-1BBE-7F43-8559-0F33FA4DEC76}" type="datetime1">
              <a:rPr kumimoji="1" lang="zh-TW" altLang="en-US" smtClean="0"/>
              <a:t>2022/12/28</a:t>
            </a:fld>
            <a:endParaRPr kumimoji="1" lang="zh-TW" altLang="en-US"/>
          </a:p>
        </p:txBody>
      </p:sp>
      <p:sp>
        <p:nvSpPr>
          <p:cNvPr id="5" name="頁尾版面配置區 4">
            <a:extLst>
              <a:ext uri="{FF2B5EF4-FFF2-40B4-BE49-F238E27FC236}">
                <a16:creationId xmlns:a16="http://schemas.microsoft.com/office/drawing/2014/main" id="{A20F14E0-D23A-0C4D-A0DD-A53DC2DF4EC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393EC6C-4C9E-464B-9C4F-081384858481}"/>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4185204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9BB2C-FB17-E245-B838-C175593E167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721F603-934E-324D-A53F-7FCFEA84E66B}"/>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0B077960-B4F0-9C46-9D0A-3EDC5F64CDDB}"/>
              </a:ext>
            </a:extLst>
          </p:cNvPr>
          <p:cNvSpPr>
            <a:spLocks noGrp="1"/>
          </p:cNvSpPr>
          <p:nvPr>
            <p:ph type="dt" sz="half" idx="10"/>
          </p:nvPr>
        </p:nvSpPr>
        <p:spPr/>
        <p:txBody>
          <a:bodyPr/>
          <a:lstStyle/>
          <a:p>
            <a:fld id="{E67F1631-A237-EE47-8600-D1B67BF71580}" type="datetime1">
              <a:rPr kumimoji="1" lang="zh-TW" altLang="en-US" smtClean="0"/>
              <a:t>2022/12/28</a:t>
            </a:fld>
            <a:endParaRPr kumimoji="1" lang="zh-TW" altLang="en-US"/>
          </a:p>
        </p:txBody>
      </p:sp>
      <p:sp>
        <p:nvSpPr>
          <p:cNvPr id="5" name="頁尾版面配置區 4">
            <a:extLst>
              <a:ext uri="{FF2B5EF4-FFF2-40B4-BE49-F238E27FC236}">
                <a16:creationId xmlns:a16="http://schemas.microsoft.com/office/drawing/2014/main" id="{B5AE5EE2-B16D-874E-BE7C-9C6814E9E15E}"/>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A511B9F-DBED-344D-B863-5562F5BAE031}"/>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2912094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009EBE-180E-064D-923C-0571E78E2E4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F807EA0-4865-DB4F-88CF-66E5E94A98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3023E064-0722-4B45-A341-8BBB941D45A5}"/>
              </a:ext>
            </a:extLst>
          </p:cNvPr>
          <p:cNvSpPr>
            <a:spLocks noGrp="1"/>
          </p:cNvSpPr>
          <p:nvPr>
            <p:ph type="dt" sz="half" idx="10"/>
          </p:nvPr>
        </p:nvSpPr>
        <p:spPr/>
        <p:txBody>
          <a:bodyPr/>
          <a:lstStyle/>
          <a:p>
            <a:fld id="{567C0653-CEF0-D345-AD47-98CE183D6F38}" type="datetime1">
              <a:rPr kumimoji="1" lang="zh-TW" altLang="en-US" smtClean="0"/>
              <a:t>2022/12/28</a:t>
            </a:fld>
            <a:endParaRPr kumimoji="1" lang="zh-TW" altLang="en-US"/>
          </a:p>
        </p:txBody>
      </p:sp>
      <p:sp>
        <p:nvSpPr>
          <p:cNvPr id="5" name="頁尾版面配置區 4">
            <a:extLst>
              <a:ext uri="{FF2B5EF4-FFF2-40B4-BE49-F238E27FC236}">
                <a16:creationId xmlns:a16="http://schemas.microsoft.com/office/drawing/2014/main" id="{7FD97ECD-412E-5548-BA51-3C87942152D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0A0E40A-3DC9-8342-96EF-37B4FADA263A}"/>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33535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9CFD93-AB14-6F4A-8B89-42F669AFE87E}"/>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8622B5F-3B4D-6C4B-AA5F-458EA77DE8B4}"/>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070A6655-2EC9-FE4B-B4CA-FD3BE9E4BE62}"/>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2CBB471C-9E43-1F4B-8FA6-F5EE2D1DF706}"/>
              </a:ext>
            </a:extLst>
          </p:cNvPr>
          <p:cNvSpPr>
            <a:spLocks noGrp="1"/>
          </p:cNvSpPr>
          <p:nvPr>
            <p:ph type="dt" sz="half" idx="10"/>
          </p:nvPr>
        </p:nvSpPr>
        <p:spPr/>
        <p:txBody>
          <a:bodyPr/>
          <a:lstStyle/>
          <a:p>
            <a:fld id="{19A68470-AD0E-3B47-A8F3-14A77D618BE3}" type="datetime1">
              <a:rPr kumimoji="1" lang="zh-TW" altLang="en-US" smtClean="0"/>
              <a:t>2022/12/28</a:t>
            </a:fld>
            <a:endParaRPr kumimoji="1" lang="zh-TW" altLang="en-US"/>
          </a:p>
        </p:txBody>
      </p:sp>
      <p:sp>
        <p:nvSpPr>
          <p:cNvPr id="6" name="頁尾版面配置區 5">
            <a:extLst>
              <a:ext uri="{FF2B5EF4-FFF2-40B4-BE49-F238E27FC236}">
                <a16:creationId xmlns:a16="http://schemas.microsoft.com/office/drawing/2014/main" id="{A6D5F3A8-0446-6641-BE7E-A3036A12D2F7}"/>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B766DA34-CA61-3841-97D8-34D5F2CB6057}"/>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2571080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AF44D9-6F1A-8849-94FB-58AC5E5B5C27}"/>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E2236AF-DA68-4048-978B-2B2006D278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048C51C3-FDCD-3543-BEF2-391740533E50}"/>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9465AC7-18AA-BB49-A4A6-19B9AC6B21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6DD84896-86CC-8C47-989C-E55AFDC6757A}"/>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62720A61-54EA-C342-9074-39F14F7A30F9}"/>
              </a:ext>
            </a:extLst>
          </p:cNvPr>
          <p:cNvSpPr>
            <a:spLocks noGrp="1"/>
          </p:cNvSpPr>
          <p:nvPr>
            <p:ph type="dt" sz="half" idx="10"/>
          </p:nvPr>
        </p:nvSpPr>
        <p:spPr/>
        <p:txBody>
          <a:bodyPr/>
          <a:lstStyle/>
          <a:p>
            <a:fld id="{7DAB5603-C4F2-904A-B3BA-934F8419BA51}" type="datetime1">
              <a:rPr kumimoji="1" lang="zh-TW" altLang="en-US" smtClean="0"/>
              <a:t>2022/12/28</a:t>
            </a:fld>
            <a:endParaRPr kumimoji="1" lang="zh-TW" altLang="en-US"/>
          </a:p>
        </p:txBody>
      </p:sp>
      <p:sp>
        <p:nvSpPr>
          <p:cNvPr id="8" name="頁尾版面配置區 7">
            <a:extLst>
              <a:ext uri="{FF2B5EF4-FFF2-40B4-BE49-F238E27FC236}">
                <a16:creationId xmlns:a16="http://schemas.microsoft.com/office/drawing/2014/main" id="{DC610C27-7E63-6D43-BCAB-3A7FE0EBB001}"/>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AB6A3286-50ED-CE4C-BC6A-69F05D094259}"/>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4121679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06487-88B1-3F41-90AC-7B650E58F26D}"/>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1A06AA61-D82A-A840-9BF2-C850756278EC}"/>
              </a:ext>
            </a:extLst>
          </p:cNvPr>
          <p:cNvSpPr>
            <a:spLocks noGrp="1"/>
          </p:cNvSpPr>
          <p:nvPr>
            <p:ph type="dt" sz="half" idx="10"/>
          </p:nvPr>
        </p:nvSpPr>
        <p:spPr/>
        <p:txBody>
          <a:bodyPr/>
          <a:lstStyle/>
          <a:p>
            <a:fld id="{EA534798-6B1E-6148-A82C-590E00A384BB}" type="datetime1">
              <a:rPr kumimoji="1" lang="zh-TW" altLang="en-US" smtClean="0"/>
              <a:t>2022/12/28</a:t>
            </a:fld>
            <a:endParaRPr kumimoji="1" lang="zh-TW" altLang="en-US"/>
          </a:p>
        </p:txBody>
      </p:sp>
      <p:sp>
        <p:nvSpPr>
          <p:cNvPr id="4" name="頁尾版面配置區 3">
            <a:extLst>
              <a:ext uri="{FF2B5EF4-FFF2-40B4-BE49-F238E27FC236}">
                <a16:creationId xmlns:a16="http://schemas.microsoft.com/office/drawing/2014/main" id="{3E3B46A1-4F5A-094C-B3B8-4186D00A3B09}"/>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4695BA99-A88E-DB4C-B432-ABB510019DC4}"/>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3592903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86E95456-0C90-FD47-B065-6ED16F589D81}"/>
              </a:ext>
            </a:extLst>
          </p:cNvPr>
          <p:cNvSpPr>
            <a:spLocks noGrp="1"/>
          </p:cNvSpPr>
          <p:nvPr>
            <p:ph type="dt" sz="half" idx="10"/>
          </p:nvPr>
        </p:nvSpPr>
        <p:spPr/>
        <p:txBody>
          <a:bodyPr/>
          <a:lstStyle/>
          <a:p>
            <a:fld id="{460BB6D8-56BA-204B-8F85-BAA95ED11BF3}" type="datetime1">
              <a:rPr kumimoji="1" lang="zh-TW" altLang="en-US" smtClean="0"/>
              <a:t>2022/12/28</a:t>
            </a:fld>
            <a:endParaRPr kumimoji="1" lang="zh-TW" altLang="en-US"/>
          </a:p>
        </p:txBody>
      </p:sp>
      <p:sp>
        <p:nvSpPr>
          <p:cNvPr id="3" name="頁尾版面配置區 2">
            <a:extLst>
              <a:ext uri="{FF2B5EF4-FFF2-40B4-BE49-F238E27FC236}">
                <a16:creationId xmlns:a16="http://schemas.microsoft.com/office/drawing/2014/main" id="{A7679BE5-20F3-C848-999A-7D14B2E42B63}"/>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9A96E001-1CD5-604A-8166-EDAEBED21D6E}"/>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1525970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DB4BE8-3786-BB46-8797-A42E190EB285}"/>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A2287A2-DF47-3C4F-B44D-B6B679C20F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9290F5-2644-B449-B65D-341CAADB5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5520A766-6A04-A047-8E25-1431F4E6E7FF}"/>
              </a:ext>
            </a:extLst>
          </p:cNvPr>
          <p:cNvSpPr>
            <a:spLocks noGrp="1"/>
          </p:cNvSpPr>
          <p:nvPr>
            <p:ph type="dt" sz="half" idx="10"/>
          </p:nvPr>
        </p:nvSpPr>
        <p:spPr/>
        <p:txBody>
          <a:bodyPr/>
          <a:lstStyle/>
          <a:p>
            <a:fld id="{34E55335-7F58-EE4A-8BCE-FA531FCB2340}" type="datetime1">
              <a:rPr kumimoji="1" lang="zh-TW" altLang="en-US" smtClean="0"/>
              <a:t>2022/12/28</a:t>
            </a:fld>
            <a:endParaRPr kumimoji="1" lang="zh-TW" altLang="en-US"/>
          </a:p>
        </p:txBody>
      </p:sp>
      <p:sp>
        <p:nvSpPr>
          <p:cNvPr id="6" name="頁尾版面配置區 5">
            <a:extLst>
              <a:ext uri="{FF2B5EF4-FFF2-40B4-BE49-F238E27FC236}">
                <a16:creationId xmlns:a16="http://schemas.microsoft.com/office/drawing/2014/main" id="{A3C0D4D6-5111-9049-9338-9E96EF896716}"/>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60A3434-646A-B44E-A372-9988D6E85BF5}"/>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3134024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4A0632-F17F-564F-9E40-936516F71D6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C42007C2-F2B5-0B42-9A18-848E0C50E0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84F1DE1F-C795-FF4E-A51D-B1C6B6CAC7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5732D533-4465-9540-9789-D9078471C9BF}"/>
              </a:ext>
            </a:extLst>
          </p:cNvPr>
          <p:cNvSpPr>
            <a:spLocks noGrp="1"/>
          </p:cNvSpPr>
          <p:nvPr>
            <p:ph type="dt" sz="half" idx="10"/>
          </p:nvPr>
        </p:nvSpPr>
        <p:spPr/>
        <p:txBody>
          <a:bodyPr/>
          <a:lstStyle/>
          <a:p>
            <a:fld id="{65B3A0D8-6664-2449-8C0A-C07CED0C6A8A}" type="datetime1">
              <a:rPr kumimoji="1" lang="zh-TW" altLang="en-US" smtClean="0"/>
              <a:t>2022/12/28</a:t>
            </a:fld>
            <a:endParaRPr kumimoji="1" lang="zh-TW" altLang="en-US"/>
          </a:p>
        </p:txBody>
      </p:sp>
      <p:sp>
        <p:nvSpPr>
          <p:cNvPr id="6" name="頁尾版面配置區 5">
            <a:extLst>
              <a:ext uri="{FF2B5EF4-FFF2-40B4-BE49-F238E27FC236}">
                <a16:creationId xmlns:a16="http://schemas.microsoft.com/office/drawing/2014/main" id="{5E0C101A-F177-E34F-AE27-14C36BF5AA8C}"/>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B8BC125-455C-584F-BDF3-40FEF4958A8D}"/>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550423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E71B8D-CA95-034D-A366-741889FC36AC}"/>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05D6501F-804C-6942-88DD-72BA428D89F0}"/>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60E3D778-E3BF-244D-A9E5-B460EC4413CA}"/>
              </a:ext>
            </a:extLst>
          </p:cNvPr>
          <p:cNvSpPr>
            <a:spLocks noGrp="1"/>
          </p:cNvSpPr>
          <p:nvPr>
            <p:ph type="dt" sz="half" idx="10"/>
          </p:nvPr>
        </p:nvSpPr>
        <p:spPr/>
        <p:txBody>
          <a:bodyPr/>
          <a:lstStyle/>
          <a:p>
            <a:fld id="{355A0BDD-B230-B642-A2EF-57DE47A76A51}" type="datetime1">
              <a:rPr kumimoji="1" lang="zh-TW" altLang="en-US" smtClean="0"/>
              <a:t>2022/12/28</a:t>
            </a:fld>
            <a:endParaRPr kumimoji="1" lang="zh-TW" altLang="en-US"/>
          </a:p>
        </p:txBody>
      </p:sp>
      <p:sp>
        <p:nvSpPr>
          <p:cNvPr id="5" name="頁尾版面配置區 4">
            <a:extLst>
              <a:ext uri="{FF2B5EF4-FFF2-40B4-BE49-F238E27FC236}">
                <a16:creationId xmlns:a16="http://schemas.microsoft.com/office/drawing/2014/main" id="{FDB3FD63-C652-7048-BBD7-BE919E55A3B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550984A-1569-114E-B700-2051F23671AB}"/>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427697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ACD9A89-7C4A-9748-815C-3B6438552CAF}"/>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EB0B8942-83F6-234C-A9B9-E5D14DEF0398}"/>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9852EDE-FB32-484F-8194-37DAC335C643}"/>
              </a:ext>
            </a:extLst>
          </p:cNvPr>
          <p:cNvSpPr>
            <a:spLocks noGrp="1"/>
          </p:cNvSpPr>
          <p:nvPr>
            <p:ph type="dt" sz="half" idx="10"/>
          </p:nvPr>
        </p:nvSpPr>
        <p:spPr/>
        <p:txBody>
          <a:bodyPr/>
          <a:lstStyle/>
          <a:p>
            <a:fld id="{1E29BC04-6429-EC4F-A4FE-FFC77F25E77E}" type="datetime1">
              <a:rPr kumimoji="1" lang="zh-TW" altLang="en-US" smtClean="0"/>
              <a:t>2022/12/28</a:t>
            </a:fld>
            <a:endParaRPr kumimoji="1" lang="zh-TW" altLang="en-US"/>
          </a:p>
        </p:txBody>
      </p:sp>
      <p:sp>
        <p:nvSpPr>
          <p:cNvPr id="5" name="頁尾版面配置區 4">
            <a:extLst>
              <a:ext uri="{FF2B5EF4-FFF2-40B4-BE49-F238E27FC236}">
                <a16:creationId xmlns:a16="http://schemas.microsoft.com/office/drawing/2014/main" id="{8697F451-31E7-CE4D-B436-4F2DFBF071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15E8830-74FF-D147-AA80-51CEA8626AB6}"/>
              </a:ext>
            </a:extLst>
          </p:cNvPr>
          <p:cNvSpPr>
            <a:spLocks noGrp="1"/>
          </p:cNvSpPr>
          <p:nvPr>
            <p:ph type="sldNum" sz="quarter" idx="12"/>
          </p:nvPr>
        </p:nvSpPr>
        <p:spPr/>
        <p:txBody>
          <a:body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1396187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9E36F78-EEBE-F84D-B98E-1F7224B5C6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78CFF2B-A41B-174E-8E04-ED3460ECA0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E88C828-BD33-ED41-A1C2-B18A670784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879AF-BB84-024C-9209-5A5B6722DFDC}" type="datetime1">
              <a:rPr kumimoji="1" lang="zh-TW" altLang="en-US" smtClean="0"/>
              <a:t>2022/12/28</a:t>
            </a:fld>
            <a:endParaRPr kumimoji="1" lang="zh-TW" altLang="en-US"/>
          </a:p>
        </p:txBody>
      </p:sp>
      <p:sp>
        <p:nvSpPr>
          <p:cNvPr id="5" name="頁尾版面配置區 4">
            <a:extLst>
              <a:ext uri="{FF2B5EF4-FFF2-40B4-BE49-F238E27FC236}">
                <a16:creationId xmlns:a16="http://schemas.microsoft.com/office/drawing/2014/main" id="{7DDE210A-60F3-734C-83A7-D3B3DBC492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16B7991-6DEF-8D42-81DB-CDD2E23109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64E18F-1489-4A4A-8DD8-AC372572ADE5}" type="slidenum">
              <a:rPr kumimoji="1" lang="zh-TW" altLang="en-US" smtClean="0"/>
              <a:t>‹#›</a:t>
            </a:fld>
            <a:endParaRPr kumimoji="1" lang="zh-TW" altLang="en-US"/>
          </a:p>
        </p:txBody>
      </p:sp>
    </p:spTree>
    <p:extLst>
      <p:ext uri="{BB962C8B-B14F-4D97-AF65-F5344CB8AC3E}">
        <p14:creationId xmlns:p14="http://schemas.microsoft.com/office/powerpoint/2010/main" val="374404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A3D42C-35F4-A946-BA5F-D526C35AEEF6}"/>
              </a:ext>
            </a:extLst>
          </p:cNvPr>
          <p:cNvSpPr>
            <a:spLocks noGrp="1"/>
          </p:cNvSpPr>
          <p:nvPr>
            <p:ph type="ctrTitle"/>
          </p:nvPr>
        </p:nvSpPr>
        <p:spPr/>
        <p:txBody>
          <a:bodyPr>
            <a:normAutofit/>
          </a:bodyPr>
          <a:lstStyle/>
          <a:p>
            <a:r>
              <a:rPr kumimoji="0" lang="en-US" altLang="zh-TW" sz="4800" b="0" i="0" u="none" strike="noStrike" kern="1200" cap="none" spc="0" normalizeH="0" baseline="0" noProof="0" dirty="0">
                <a:ln>
                  <a:noFill/>
                </a:ln>
                <a:solidFill>
                  <a:prstClr val="black"/>
                </a:solidFill>
                <a:effectLst/>
                <a:uLnTx/>
                <a:uFillTx/>
                <a:latin typeface="Times New Roman"/>
                <a:ea typeface="標楷體"/>
                <a:cs typeface="+mj-cs"/>
              </a:rPr>
              <a:t>Hand Strength Evaluation in Bridge Games with the Evolutionary Algorithms</a:t>
            </a:r>
            <a:endParaRPr kumimoji="1" lang="zh-TW" altLang="en-US" sz="4800" dirty="0"/>
          </a:p>
        </p:txBody>
      </p:sp>
      <p:sp>
        <p:nvSpPr>
          <p:cNvPr id="3" name="副標題 2">
            <a:extLst>
              <a:ext uri="{FF2B5EF4-FFF2-40B4-BE49-F238E27FC236}">
                <a16:creationId xmlns:a16="http://schemas.microsoft.com/office/drawing/2014/main" id="{3D952425-6304-B641-934D-5D961140DE2C}"/>
              </a:ext>
            </a:extLst>
          </p:cNvPr>
          <p:cNvSpPr>
            <a:spLocks noGrp="1"/>
          </p:cNvSpPr>
          <p:nvPr>
            <p:ph type="subTitle" idx="1"/>
          </p:nvPr>
        </p:nvSpPr>
        <p:spPr>
          <a:xfrm>
            <a:off x="1523999" y="3923614"/>
            <a:ext cx="9144000" cy="1655762"/>
          </a:xfrm>
        </p:spPr>
        <p:txBody>
          <a:bodyPr/>
          <a:lstStyle/>
          <a:p>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Jing-Ping Jan</a:t>
            </a:r>
          </a:p>
          <a:p>
            <a:r>
              <a:rPr kumimoji="1" lang="en" altLang="zh-TW" sz="2000" dirty="0">
                <a:solidFill>
                  <a:srgbClr val="000000"/>
                </a:solidFill>
                <a:latin typeface="Times New Roman" panose="02020603050405020304" pitchFamily="18" charset="0"/>
                <a:cs typeface="Times New Roman" panose="02020603050405020304" pitchFamily="18" charset="0"/>
              </a:rPr>
              <a:t>Master’s Thesis Department of Computer Science and Engineering,</a:t>
            </a:r>
          </a:p>
          <a:p>
            <a:r>
              <a:rPr kumimoji="1" lang="en" altLang="zh-TW" sz="2000" dirty="0">
                <a:solidFill>
                  <a:srgbClr val="000000"/>
                </a:solidFill>
                <a:latin typeface="Times New Roman" panose="02020603050405020304" pitchFamily="18" charset="0"/>
                <a:cs typeface="Times New Roman" panose="02020603050405020304" pitchFamily="18" charset="0"/>
              </a:rPr>
              <a:t> National Sun Yat-Sen University, 2022</a:t>
            </a:r>
            <a:endParaRPr kumimoji="1" lang="zh-TW" altLang="en-US" sz="20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05D060A-6183-C140-9243-DDE7E8B1D957}"/>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 Dec. 27, 2022</a:t>
            </a:r>
            <a:endParaRPr kumimoji="1" lang="zh-TW" altLang="en-US" dirty="0">
              <a:latin typeface="Times" pitchFamily="2" charset="0"/>
            </a:endParaRPr>
          </a:p>
        </p:txBody>
      </p:sp>
    </p:spTree>
    <p:extLst>
      <p:ext uri="{BB962C8B-B14F-4D97-AF65-F5344CB8AC3E}">
        <p14:creationId xmlns:p14="http://schemas.microsoft.com/office/powerpoint/2010/main" val="1617021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BED451-53F8-2840-8995-1865059DB67C}"/>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71BD6685-51EA-464C-B015-079E89BFAFD7}"/>
              </a:ext>
            </a:extLst>
          </p:cNvPr>
          <p:cNvSpPr>
            <a:spLocks noGrp="1"/>
          </p:cNvSpPr>
          <p:nvPr>
            <p:ph idx="1"/>
          </p:nvPr>
        </p:nvSpPr>
        <p:spPr/>
        <p:txBody>
          <a:bodyPr>
            <a:normAutofit fontScale="92500" lnSpcReduction="10000"/>
          </a:bodyPr>
          <a:lstStyle/>
          <a:p>
            <a:pPr marL="0" indent="0" algn="just">
              <a:lnSpc>
                <a:spcPct val="150000"/>
              </a:lnSpc>
              <a:buNone/>
            </a:pPr>
            <a:r>
              <a:rPr kumimoji="1" lang="en" altLang="zh-TW" sz="2400" dirty="0">
                <a:latin typeface="Times" pitchFamily="2" charset="0"/>
              </a:rPr>
              <a:t>In the contract bridge game, the evaluation of hand strength could significantly affect the decision of bids, and even the final contract. The commonly used methods by human players involve the combination of the high card point (HCP), extra strength in a long suit and a short suit method. However, the parameters (such as A=4, K=3, Q=2 and J=1) in the commonly used methods may not be optimal. The goal of this thesis is to design a better hand strength evaluation method. To achieve our goal, we examine many previously used formulas, and generalize them to become more flexible by adding some parameters to these formulas. These formulas may be linear or non-linear. Then, we train the parameters of these formulas by the genetic algorithm (GA).</a:t>
            </a:r>
            <a:endParaRPr kumimoji="1" lang="zh-TW" altLang="en-US" sz="2400" dirty="0">
              <a:latin typeface="Times" pitchFamily="2" charset="0"/>
            </a:endParaRPr>
          </a:p>
        </p:txBody>
      </p:sp>
      <p:sp>
        <p:nvSpPr>
          <p:cNvPr id="4" name="投影片編號版面配置區 3">
            <a:extLst>
              <a:ext uri="{FF2B5EF4-FFF2-40B4-BE49-F238E27FC236}">
                <a16:creationId xmlns:a16="http://schemas.microsoft.com/office/drawing/2014/main" id="{8F93108D-A40C-AF4D-A448-070355368FD2}"/>
              </a:ext>
            </a:extLst>
          </p:cNvPr>
          <p:cNvSpPr>
            <a:spLocks noGrp="1"/>
          </p:cNvSpPr>
          <p:nvPr>
            <p:ph type="sldNum" sz="quarter" idx="12"/>
          </p:nvPr>
        </p:nvSpPr>
        <p:spPr/>
        <p:txBody>
          <a:bodyPr/>
          <a:lstStyle/>
          <a:p>
            <a:fld id="{9964E18F-1489-4A4A-8DD8-AC372572ADE5}" type="slidenum">
              <a:rPr kumimoji="1" lang="zh-TW" altLang="en-US" smtClean="0"/>
              <a:t>2</a:t>
            </a:fld>
            <a:endParaRPr kumimoji="1" lang="zh-TW" altLang="en-US"/>
          </a:p>
        </p:txBody>
      </p:sp>
    </p:spTree>
    <p:extLst>
      <p:ext uri="{BB962C8B-B14F-4D97-AF65-F5344CB8AC3E}">
        <p14:creationId xmlns:p14="http://schemas.microsoft.com/office/powerpoint/2010/main" val="491562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BED451-53F8-2840-8995-1865059DB67C}"/>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71BD6685-51EA-464C-B015-079E89BFAFD7}"/>
              </a:ext>
            </a:extLst>
          </p:cNvPr>
          <p:cNvSpPr>
            <a:spLocks noGrp="1"/>
          </p:cNvSpPr>
          <p:nvPr>
            <p:ph idx="1"/>
          </p:nvPr>
        </p:nvSpPr>
        <p:spPr/>
        <p:txBody>
          <a:bodyPr>
            <a:normAutofit lnSpcReduction="10000"/>
          </a:bodyPr>
          <a:lstStyle/>
          <a:p>
            <a:pPr marL="0" indent="0" algn="just">
              <a:lnSpc>
                <a:spcPct val="150000"/>
              </a:lnSpc>
              <a:buNone/>
            </a:pPr>
            <a:r>
              <a:rPr kumimoji="1" lang="en" altLang="zh-TW" sz="2400" dirty="0">
                <a:latin typeface="Times New Roman" panose="02020603050405020304" pitchFamily="18" charset="0"/>
                <a:cs typeface="Times New Roman" panose="02020603050405020304" pitchFamily="18" charset="0"/>
              </a:rPr>
              <a:t>The fitness is measured by the correlation coefficient between the hand strength and the number of win tricks, obtained by the double-dummy solver. After getting better combined formulas, we further adjust the parameters manually so that the point resolution is 0.5. With this resolution, human players can really apply our evaluation formula in a real bridge game. The experimental datasets come from the </a:t>
            </a:r>
            <a:r>
              <a:rPr kumimoji="1" lang="en" altLang="zh-TW" sz="2400" dirty="0" err="1">
                <a:latin typeface="Times New Roman" panose="02020603050405020304" pitchFamily="18" charset="0"/>
                <a:cs typeface="Times New Roman" panose="02020603050405020304" pitchFamily="18" charset="0"/>
              </a:rPr>
              <a:t>Vugraph</a:t>
            </a:r>
            <a:r>
              <a:rPr kumimoji="1" lang="en" altLang="zh-TW" sz="2400" dirty="0">
                <a:latin typeface="Times New Roman" panose="02020603050405020304" pitchFamily="18" charset="0"/>
                <a:cs typeface="Times New Roman" panose="02020603050405020304" pitchFamily="18" charset="0"/>
              </a:rPr>
              <a:t> project in which the boards were really played in bridge games in the world. In the trump contract, the correlation coefficient is improved from 0.859 made the Goren point count to 0.923 made by our formula.</a:t>
            </a:r>
            <a:endParaRPr kumimoji="1"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CE4B244D-D712-074A-8674-BB1FA6FA319A}"/>
              </a:ext>
            </a:extLst>
          </p:cNvPr>
          <p:cNvSpPr>
            <a:spLocks noGrp="1"/>
          </p:cNvSpPr>
          <p:nvPr>
            <p:ph type="sldNum" sz="quarter" idx="12"/>
          </p:nvPr>
        </p:nvSpPr>
        <p:spPr/>
        <p:txBody>
          <a:bodyPr/>
          <a:lstStyle/>
          <a:p>
            <a:fld id="{9964E18F-1489-4A4A-8DD8-AC372572ADE5}" type="slidenum">
              <a:rPr kumimoji="1" lang="zh-TW" altLang="en-US" smtClean="0"/>
              <a:t>3</a:t>
            </a:fld>
            <a:endParaRPr kumimoji="1" lang="zh-TW" altLang="en-US"/>
          </a:p>
        </p:txBody>
      </p:sp>
    </p:spTree>
    <p:extLst>
      <p:ext uri="{BB962C8B-B14F-4D97-AF65-F5344CB8AC3E}">
        <p14:creationId xmlns:p14="http://schemas.microsoft.com/office/powerpoint/2010/main" val="471428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4897C7-5CF0-8B42-8581-CEB0FF1E008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Training Process</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147A2D2-5A28-0A45-BB28-71EC87E7F339}"/>
              </a:ext>
            </a:extLst>
          </p:cNvPr>
          <p:cNvSpPr>
            <a:spLocks noGrp="1"/>
          </p:cNvSpPr>
          <p:nvPr>
            <p:ph idx="1"/>
          </p:nvPr>
        </p:nvSpPr>
        <p:spPr/>
        <p:txBody>
          <a:bodyPr>
            <a:normAutofit/>
          </a:bodyPr>
          <a:lstStyle/>
          <a:p>
            <a:r>
              <a:rPr kumimoji="1" lang="en" altLang="zh-TW" dirty="0">
                <a:latin typeface="Times New Roman" panose="02020603050405020304" pitchFamily="18" charset="0"/>
                <a:cs typeface="Times New Roman" panose="02020603050405020304" pitchFamily="18" charset="0"/>
              </a:rPr>
              <a:t>Design the various formulas of hand strength evaluation methods</a:t>
            </a:r>
          </a:p>
          <a:p>
            <a:pPr lvl="1"/>
            <a:r>
              <a:rPr kumimoji="1" lang="en" altLang="zh-TW" dirty="0">
                <a:latin typeface="Times New Roman" panose="02020603050405020304" pitchFamily="18" charset="0"/>
                <a:cs typeface="Times New Roman" panose="02020603050405020304" pitchFamily="18" charset="0"/>
              </a:rPr>
              <a:t>Honor cards in the long suit</a:t>
            </a:r>
          </a:p>
          <a:p>
            <a:pPr lvl="1"/>
            <a:r>
              <a:rPr kumimoji="1" lang="en" altLang="zh-TW" dirty="0">
                <a:latin typeface="Times New Roman" panose="02020603050405020304" pitchFamily="18" charset="0"/>
                <a:cs typeface="Times New Roman" panose="02020603050405020304" pitchFamily="18" charset="0"/>
              </a:rPr>
              <a:t>Opponent’s bid</a:t>
            </a:r>
          </a:p>
          <a:p>
            <a:r>
              <a:rPr kumimoji="1" lang="en" altLang="zh-TW" dirty="0">
                <a:latin typeface="Times New Roman" panose="02020603050405020304" pitchFamily="18" charset="0"/>
                <a:cs typeface="Times New Roman" panose="02020603050405020304" pitchFamily="18" charset="0"/>
              </a:rPr>
              <a:t>Build datasets with different sizes</a:t>
            </a:r>
            <a:r>
              <a:rPr kumimoji="1" lang="zh-TW" altLang="en-US" dirty="0">
                <a:latin typeface="Times New Roman" panose="02020603050405020304" pitchFamily="18" charset="0"/>
                <a:cs typeface="Times New Roman" panose="02020603050405020304" pitchFamily="18" charset="0"/>
              </a:rPr>
              <a:t> </a:t>
            </a:r>
            <a:r>
              <a:rPr kumimoji="0" lang="en-US" altLang="zh-TW" sz="2800" b="0" i="0" u="none" strike="noStrike" kern="1200" cap="none" spc="0" normalizeH="0" baseline="0" noProof="0" dirty="0">
                <a:ln>
                  <a:noFill/>
                </a:ln>
                <a:effectLst/>
                <a:uLnTx/>
                <a:uFillTx/>
                <a:latin typeface="Times New Roman"/>
                <a:ea typeface="標楷體"/>
                <a:cs typeface="+mn-cs"/>
              </a:rPr>
              <a:t>for different stage of training</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Find better formula combinations</a:t>
            </a:r>
            <a:r>
              <a:rPr kumimoji="1" lang="zh-TW" altLang="en-US" dirty="0">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and the hyperparameters of GA</a:t>
            </a:r>
          </a:p>
          <a:p>
            <a:r>
              <a:rPr kumimoji="1" lang="en" altLang="zh-TW" dirty="0">
                <a:latin typeface="Times New Roman" panose="02020603050405020304" pitchFamily="18" charset="0"/>
                <a:cs typeface="Times New Roman" panose="02020603050405020304" pitchFamily="18" charset="0"/>
              </a:rPr>
              <a:t>Select the best combination from the 25 better formula combinations</a:t>
            </a:r>
          </a:p>
          <a:p>
            <a:r>
              <a:rPr kumimoji="1" lang="en" altLang="zh-TW" dirty="0">
                <a:latin typeface="Times New Roman" panose="02020603050405020304" pitchFamily="18" charset="0"/>
                <a:cs typeface="Times New Roman" panose="02020603050405020304" pitchFamily="18" charset="0"/>
              </a:rPr>
              <a:t>Make the formula more easily to memorize and calculate</a:t>
            </a:r>
          </a:p>
        </p:txBody>
      </p:sp>
      <p:sp>
        <p:nvSpPr>
          <p:cNvPr id="4" name="投影片編號版面配置區 3">
            <a:extLst>
              <a:ext uri="{FF2B5EF4-FFF2-40B4-BE49-F238E27FC236}">
                <a16:creationId xmlns:a16="http://schemas.microsoft.com/office/drawing/2014/main" id="{586CF462-A207-EC4B-944D-ECF67A4AB790}"/>
              </a:ext>
            </a:extLst>
          </p:cNvPr>
          <p:cNvSpPr>
            <a:spLocks noGrp="1"/>
          </p:cNvSpPr>
          <p:nvPr>
            <p:ph type="sldNum" sz="quarter" idx="12"/>
          </p:nvPr>
        </p:nvSpPr>
        <p:spPr/>
        <p:txBody>
          <a:bodyPr/>
          <a:lstStyle/>
          <a:p>
            <a:fld id="{9964E18F-1489-4A4A-8DD8-AC372572ADE5}" type="slidenum">
              <a:rPr kumimoji="1" lang="zh-TW" altLang="en-US" smtClean="0"/>
              <a:t>4</a:t>
            </a:fld>
            <a:endParaRPr kumimoji="1" lang="zh-TW" altLang="en-US"/>
          </a:p>
        </p:txBody>
      </p:sp>
    </p:spTree>
    <p:extLst>
      <p:ext uri="{BB962C8B-B14F-4D97-AF65-F5344CB8AC3E}">
        <p14:creationId xmlns:p14="http://schemas.microsoft.com/office/powerpoint/2010/main" val="2425385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39DB0B-86A5-461A-A512-5088B4145A3F}"/>
              </a:ext>
            </a:extLst>
          </p:cNvPr>
          <p:cNvSpPr>
            <a:spLocks noGrp="1"/>
          </p:cNvSpPr>
          <p:nvPr>
            <p:ph type="title"/>
          </p:nvPr>
        </p:nvSpPr>
        <p:spPr/>
        <p:txBody>
          <a:bodyPr/>
          <a:lstStyle/>
          <a:p>
            <a:r>
              <a:rPr lang="en-US" altLang="zh-TW" dirty="0">
                <a:latin typeface="Times" pitchFamily="2" charset="0"/>
              </a:rPr>
              <a:t>Genetic Algorithm</a:t>
            </a:r>
            <a:endParaRPr lang="zh-TW" altLang="en-US" dirty="0">
              <a:latin typeface="Times" pitchFamily="2" charset="0"/>
            </a:endParaRPr>
          </a:p>
        </p:txBody>
      </p:sp>
      <p:sp>
        <p:nvSpPr>
          <p:cNvPr id="3" name="內容版面配置區 2">
            <a:extLst>
              <a:ext uri="{FF2B5EF4-FFF2-40B4-BE49-F238E27FC236}">
                <a16:creationId xmlns:a16="http://schemas.microsoft.com/office/drawing/2014/main" id="{105F682F-457F-4BFA-917D-AE672D0DC7A4}"/>
              </a:ext>
            </a:extLst>
          </p:cNvPr>
          <p:cNvSpPr>
            <a:spLocks noGrp="1"/>
          </p:cNvSpPr>
          <p:nvPr>
            <p:ph idx="1"/>
          </p:nvPr>
        </p:nvSpPr>
        <p:spPr/>
        <p:txBody>
          <a:bodyPr>
            <a:normAutofit/>
          </a:bodyPr>
          <a:lstStyle/>
          <a:p>
            <a:r>
              <a:rPr lang="en-US" altLang="zh-TW" sz="2400" dirty="0">
                <a:latin typeface="Times" pitchFamily="2" charset="0"/>
              </a:rPr>
              <a:t>Crossover</a:t>
            </a:r>
          </a:p>
          <a:p>
            <a:endParaRPr lang="en-US" altLang="zh-TW" sz="2400" dirty="0">
              <a:latin typeface="Times" pitchFamily="2" charset="0"/>
            </a:endParaRPr>
          </a:p>
          <a:p>
            <a:endParaRPr lang="en-US" altLang="zh-TW" sz="2400" dirty="0">
              <a:latin typeface="Times" pitchFamily="2" charset="0"/>
            </a:endParaRPr>
          </a:p>
          <a:p>
            <a:pPr marL="0" indent="0">
              <a:buNone/>
            </a:pPr>
            <a:endParaRPr lang="en-US" altLang="zh-TW" sz="2400" dirty="0">
              <a:latin typeface="Times" pitchFamily="2" charset="0"/>
            </a:endParaRPr>
          </a:p>
          <a:p>
            <a:pPr marL="0" indent="0">
              <a:buNone/>
            </a:pPr>
            <a:endParaRPr lang="en-US" altLang="zh-TW" sz="2400" dirty="0">
              <a:latin typeface="Times" pitchFamily="2" charset="0"/>
            </a:endParaRPr>
          </a:p>
          <a:p>
            <a:endParaRPr lang="en-US" altLang="zh-TW" sz="2400" dirty="0">
              <a:latin typeface="Times" pitchFamily="2" charset="0"/>
            </a:endParaRPr>
          </a:p>
          <a:p>
            <a:r>
              <a:rPr lang="en-US" altLang="zh-TW" sz="2400" dirty="0">
                <a:latin typeface="Times" pitchFamily="2" charset="0"/>
              </a:rPr>
              <a:t>Mutation</a:t>
            </a:r>
            <a:endParaRPr lang="zh-TW" altLang="en-US" sz="2400" dirty="0">
              <a:latin typeface="Times" pitchFamily="2" charset="0"/>
            </a:endParaRPr>
          </a:p>
        </p:txBody>
      </p:sp>
      <p:graphicFrame>
        <p:nvGraphicFramePr>
          <p:cNvPr id="4" name="表格 4">
            <a:extLst>
              <a:ext uri="{FF2B5EF4-FFF2-40B4-BE49-F238E27FC236}">
                <a16:creationId xmlns:a16="http://schemas.microsoft.com/office/drawing/2014/main" id="{E216DFE2-C351-4720-A060-B12E3731530A}"/>
              </a:ext>
            </a:extLst>
          </p:cNvPr>
          <p:cNvGraphicFramePr>
            <a:graphicFrameLocks noGrp="1"/>
          </p:cNvGraphicFramePr>
          <p:nvPr>
            <p:extLst>
              <p:ext uri="{D42A27DB-BD31-4B8C-83A1-F6EECF244321}">
                <p14:modId xmlns:p14="http://schemas.microsoft.com/office/powerpoint/2010/main" val="901009692"/>
              </p:ext>
            </p:extLst>
          </p:nvPr>
        </p:nvGraphicFramePr>
        <p:xfrm>
          <a:off x="2032000" y="2412285"/>
          <a:ext cx="5698836" cy="752772"/>
        </p:xfrm>
        <a:graphic>
          <a:graphicData uri="http://schemas.openxmlformats.org/drawingml/2006/table">
            <a:tbl>
              <a:tblPr firstRow="1" bandRow="1">
                <a:tableStyleId>{5C22544A-7EE6-4342-B048-85BDC9FD1C3A}</a:tableStyleId>
              </a:tblPr>
              <a:tblGrid>
                <a:gridCol w="949806">
                  <a:extLst>
                    <a:ext uri="{9D8B030D-6E8A-4147-A177-3AD203B41FA5}">
                      <a16:colId xmlns:a16="http://schemas.microsoft.com/office/drawing/2014/main" val="819529753"/>
                    </a:ext>
                  </a:extLst>
                </a:gridCol>
                <a:gridCol w="949806">
                  <a:extLst>
                    <a:ext uri="{9D8B030D-6E8A-4147-A177-3AD203B41FA5}">
                      <a16:colId xmlns:a16="http://schemas.microsoft.com/office/drawing/2014/main" val="2515256532"/>
                    </a:ext>
                  </a:extLst>
                </a:gridCol>
                <a:gridCol w="949806">
                  <a:extLst>
                    <a:ext uri="{9D8B030D-6E8A-4147-A177-3AD203B41FA5}">
                      <a16:colId xmlns:a16="http://schemas.microsoft.com/office/drawing/2014/main" val="102618906"/>
                    </a:ext>
                  </a:extLst>
                </a:gridCol>
                <a:gridCol w="949806">
                  <a:extLst>
                    <a:ext uri="{9D8B030D-6E8A-4147-A177-3AD203B41FA5}">
                      <a16:colId xmlns:a16="http://schemas.microsoft.com/office/drawing/2014/main" val="2857401098"/>
                    </a:ext>
                  </a:extLst>
                </a:gridCol>
                <a:gridCol w="949806">
                  <a:extLst>
                    <a:ext uri="{9D8B030D-6E8A-4147-A177-3AD203B41FA5}">
                      <a16:colId xmlns:a16="http://schemas.microsoft.com/office/drawing/2014/main" val="758452034"/>
                    </a:ext>
                  </a:extLst>
                </a:gridCol>
                <a:gridCol w="949806">
                  <a:extLst>
                    <a:ext uri="{9D8B030D-6E8A-4147-A177-3AD203B41FA5}">
                      <a16:colId xmlns:a16="http://schemas.microsoft.com/office/drawing/2014/main" val="2369757967"/>
                    </a:ext>
                  </a:extLst>
                </a:gridCol>
              </a:tblGrid>
              <a:tr h="376386">
                <a:tc>
                  <a:txBody>
                    <a:bodyPr/>
                    <a:lstStyle/>
                    <a:p>
                      <a:pPr algn="ctr"/>
                      <a:r>
                        <a:rPr lang="en-US" altLang="zh-TW" b="0" dirty="0">
                          <a:solidFill>
                            <a:schemeClr val="tx1"/>
                          </a:solidFill>
                        </a:rPr>
                        <a:t>A</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0137096"/>
                  </a:ext>
                </a:extLst>
              </a:tr>
              <a:tr h="376386">
                <a:tc>
                  <a:txBody>
                    <a:bodyPr/>
                    <a:lstStyle/>
                    <a:p>
                      <a:pPr algn="ctr"/>
                      <a:r>
                        <a:rPr lang="en-US" altLang="zh-TW" dirty="0">
                          <a:solidFill>
                            <a:schemeClr val="tx1"/>
                          </a:solidFill>
                        </a:rPr>
                        <a:t>B</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6</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7</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8</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9</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10</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921481"/>
                  </a:ext>
                </a:extLst>
              </a:tr>
            </a:tbl>
          </a:graphicData>
        </a:graphic>
      </p:graphicFrame>
      <p:graphicFrame>
        <p:nvGraphicFramePr>
          <p:cNvPr id="5" name="表格 4">
            <a:extLst>
              <a:ext uri="{FF2B5EF4-FFF2-40B4-BE49-F238E27FC236}">
                <a16:creationId xmlns:a16="http://schemas.microsoft.com/office/drawing/2014/main" id="{10943BC9-6C64-4618-BEF1-C02CC4378A92}"/>
              </a:ext>
            </a:extLst>
          </p:cNvPr>
          <p:cNvGraphicFramePr>
            <a:graphicFrameLocks noGrp="1"/>
          </p:cNvGraphicFramePr>
          <p:nvPr>
            <p:extLst>
              <p:ext uri="{D42A27DB-BD31-4B8C-83A1-F6EECF244321}">
                <p14:modId xmlns:p14="http://schemas.microsoft.com/office/powerpoint/2010/main" val="1876437944"/>
              </p:ext>
            </p:extLst>
          </p:nvPr>
        </p:nvGraphicFramePr>
        <p:xfrm>
          <a:off x="2032000" y="3270113"/>
          <a:ext cx="5698824" cy="731520"/>
        </p:xfrm>
        <a:graphic>
          <a:graphicData uri="http://schemas.openxmlformats.org/drawingml/2006/table">
            <a:tbl>
              <a:tblPr firstRow="1" bandRow="1">
                <a:tableStyleId>{5C22544A-7EE6-4342-B048-85BDC9FD1C3A}</a:tableStyleId>
              </a:tblPr>
              <a:tblGrid>
                <a:gridCol w="949804">
                  <a:extLst>
                    <a:ext uri="{9D8B030D-6E8A-4147-A177-3AD203B41FA5}">
                      <a16:colId xmlns:a16="http://schemas.microsoft.com/office/drawing/2014/main" val="1223050821"/>
                    </a:ext>
                  </a:extLst>
                </a:gridCol>
                <a:gridCol w="949804">
                  <a:extLst>
                    <a:ext uri="{9D8B030D-6E8A-4147-A177-3AD203B41FA5}">
                      <a16:colId xmlns:a16="http://schemas.microsoft.com/office/drawing/2014/main" val="2515256532"/>
                    </a:ext>
                  </a:extLst>
                </a:gridCol>
                <a:gridCol w="949804">
                  <a:extLst>
                    <a:ext uri="{9D8B030D-6E8A-4147-A177-3AD203B41FA5}">
                      <a16:colId xmlns:a16="http://schemas.microsoft.com/office/drawing/2014/main" val="102618906"/>
                    </a:ext>
                  </a:extLst>
                </a:gridCol>
                <a:gridCol w="949804">
                  <a:extLst>
                    <a:ext uri="{9D8B030D-6E8A-4147-A177-3AD203B41FA5}">
                      <a16:colId xmlns:a16="http://schemas.microsoft.com/office/drawing/2014/main" val="2857401098"/>
                    </a:ext>
                  </a:extLst>
                </a:gridCol>
                <a:gridCol w="949804">
                  <a:extLst>
                    <a:ext uri="{9D8B030D-6E8A-4147-A177-3AD203B41FA5}">
                      <a16:colId xmlns:a16="http://schemas.microsoft.com/office/drawing/2014/main" val="758452034"/>
                    </a:ext>
                  </a:extLst>
                </a:gridCol>
                <a:gridCol w="949804">
                  <a:extLst>
                    <a:ext uri="{9D8B030D-6E8A-4147-A177-3AD203B41FA5}">
                      <a16:colId xmlns:a16="http://schemas.microsoft.com/office/drawing/2014/main" val="2369757967"/>
                    </a:ext>
                  </a:extLst>
                </a:gridCol>
              </a:tblGrid>
              <a:tr h="361594">
                <a:tc>
                  <a:txBody>
                    <a:bodyPr/>
                    <a:lstStyle/>
                    <a:p>
                      <a:pPr algn="ctr"/>
                      <a:r>
                        <a:rPr lang="en-US" altLang="zh-TW" b="0" dirty="0">
                          <a:solidFill>
                            <a:schemeClr val="tx1"/>
                          </a:solidFill>
                        </a:rPr>
                        <a:t>A</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9</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137096"/>
                  </a:ext>
                </a:extLst>
              </a:tr>
              <a:tr h="361594">
                <a:tc>
                  <a:txBody>
                    <a:bodyPr/>
                    <a:lstStyle/>
                    <a:p>
                      <a:pPr algn="ctr"/>
                      <a:r>
                        <a:rPr lang="en-US" altLang="zh-TW" dirty="0">
                          <a:solidFill>
                            <a:schemeClr val="tx1"/>
                          </a:solidFill>
                        </a:rPr>
                        <a:t>B</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6</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7</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8</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5</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4921481"/>
                  </a:ext>
                </a:extLst>
              </a:tr>
            </a:tbl>
          </a:graphicData>
        </a:graphic>
      </p:graphicFrame>
      <p:cxnSp>
        <p:nvCxnSpPr>
          <p:cNvPr id="9" name="直線接點 8">
            <a:extLst>
              <a:ext uri="{FF2B5EF4-FFF2-40B4-BE49-F238E27FC236}">
                <a16:creationId xmlns:a16="http://schemas.microsoft.com/office/drawing/2014/main" id="{BCC2E897-FBBA-4189-8C84-27E970780DE4}"/>
              </a:ext>
            </a:extLst>
          </p:cNvPr>
          <p:cNvCxnSpPr>
            <a:cxnSpLocks/>
          </p:cNvCxnSpPr>
          <p:nvPr/>
        </p:nvCxnSpPr>
        <p:spPr>
          <a:xfrm>
            <a:off x="5836791" y="2402125"/>
            <a:ext cx="0" cy="1599508"/>
          </a:xfrm>
          <a:prstGeom prst="line">
            <a:avLst/>
          </a:prstGeom>
          <a:ln w="762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3" name="表格 4">
            <a:extLst>
              <a:ext uri="{FF2B5EF4-FFF2-40B4-BE49-F238E27FC236}">
                <a16:creationId xmlns:a16="http://schemas.microsoft.com/office/drawing/2014/main" id="{57806052-8569-4C18-8A95-29BF81F6C64D}"/>
              </a:ext>
            </a:extLst>
          </p:cNvPr>
          <p:cNvGraphicFramePr>
            <a:graphicFrameLocks noGrp="1"/>
          </p:cNvGraphicFramePr>
          <p:nvPr>
            <p:extLst>
              <p:ext uri="{D42A27DB-BD31-4B8C-83A1-F6EECF244321}">
                <p14:modId xmlns:p14="http://schemas.microsoft.com/office/powerpoint/2010/main" val="927060105"/>
              </p:ext>
            </p:extLst>
          </p:nvPr>
        </p:nvGraphicFramePr>
        <p:xfrm>
          <a:off x="2032000" y="5050205"/>
          <a:ext cx="5698818" cy="365760"/>
        </p:xfrm>
        <a:graphic>
          <a:graphicData uri="http://schemas.openxmlformats.org/drawingml/2006/table">
            <a:tbl>
              <a:tblPr firstRow="1" bandRow="1">
                <a:tableStyleId>{5C22544A-7EE6-4342-B048-85BDC9FD1C3A}</a:tableStyleId>
              </a:tblPr>
              <a:tblGrid>
                <a:gridCol w="949803">
                  <a:extLst>
                    <a:ext uri="{9D8B030D-6E8A-4147-A177-3AD203B41FA5}">
                      <a16:colId xmlns:a16="http://schemas.microsoft.com/office/drawing/2014/main" val="1031834263"/>
                    </a:ext>
                  </a:extLst>
                </a:gridCol>
                <a:gridCol w="949803">
                  <a:extLst>
                    <a:ext uri="{9D8B030D-6E8A-4147-A177-3AD203B41FA5}">
                      <a16:colId xmlns:a16="http://schemas.microsoft.com/office/drawing/2014/main" val="2515256532"/>
                    </a:ext>
                  </a:extLst>
                </a:gridCol>
                <a:gridCol w="949803">
                  <a:extLst>
                    <a:ext uri="{9D8B030D-6E8A-4147-A177-3AD203B41FA5}">
                      <a16:colId xmlns:a16="http://schemas.microsoft.com/office/drawing/2014/main" val="102618906"/>
                    </a:ext>
                  </a:extLst>
                </a:gridCol>
                <a:gridCol w="949803">
                  <a:extLst>
                    <a:ext uri="{9D8B030D-6E8A-4147-A177-3AD203B41FA5}">
                      <a16:colId xmlns:a16="http://schemas.microsoft.com/office/drawing/2014/main" val="2857401098"/>
                    </a:ext>
                  </a:extLst>
                </a:gridCol>
                <a:gridCol w="949803">
                  <a:extLst>
                    <a:ext uri="{9D8B030D-6E8A-4147-A177-3AD203B41FA5}">
                      <a16:colId xmlns:a16="http://schemas.microsoft.com/office/drawing/2014/main" val="758452034"/>
                    </a:ext>
                  </a:extLst>
                </a:gridCol>
                <a:gridCol w="949803">
                  <a:extLst>
                    <a:ext uri="{9D8B030D-6E8A-4147-A177-3AD203B41FA5}">
                      <a16:colId xmlns:a16="http://schemas.microsoft.com/office/drawing/2014/main" val="2369757967"/>
                    </a:ext>
                  </a:extLst>
                </a:gridCol>
              </a:tblGrid>
              <a:tr h="357428">
                <a:tc>
                  <a:txBody>
                    <a:bodyPr/>
                    <a:lstStyle/>
                    <a:p>
                      <a:pPr algn="ctr"/>
                      <a:r>
                        <a:rPr lang="en-US" altLang="zh-TW" dirty="0">
                          <a:solidFill>
                            <a:schemeClr val="tx1"/>
                          </a:solidFill>
                          <a:latin typeface="Times" pitchFamily="2" charset="0"/>
                        </a:rPr>
                        <a:t>A</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1</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2</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3</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4</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5</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0137096"/>
                  </a:ext>
                </a:extLst>
              </a:tr>
            </a:tbl>
          </a:graphicData>
        </a:graphic>
      </p:graphicFrame>
      <p:graphicFrame>
        <p:nvGraphicFramePr>
          <p:cNvPr id="15" name="表格 4">
            <a:extLst>
              <a:ext uri="{FF2B5EF4-FFF2-40B4-BE49-F238E27FC236}">
                <a16:creationId xmlns:a16="http://schemas.microsoft.com/office/drawing/2014/main" id="{993CFB98-7A71-47BE-A046-C62E2ADFDC1C}"/>
              </a:ext>
            </a:extLst>
          </p:cNvPr>
          <p:cNvGraphicFramePr>
            <a:graphicFrameLocks noGrp="1"/>
          </p:cNvGraphicFramePr>
          <p:nvPr>
            <p:extLst>
              <p:ext uri="{D42A27DB-BD31-4B8C-83A1-F6EECF244321}">
                <p14:modId xmlns:p14="http://schemas.microsoft.com/office/powerpoint/2010/main" val="3872136227"/>
              </p:ext>
            </p:extLst>
          </p:nvPr>
        </p:nvGraphicFramePr>
        <p:xfrm>
          <a:off x="2032000" y="5641004"/>
          <a:ext cx="5698818" cy="365760"/>
        </p:xfrm>
        <a:graphic>
          <a:graphicData uri="http://schemas.openxmlformats.org/drawingml/2006/table">
            <a:tbl>
              <a:tblPr firstRow="1" bandRow="1">
                <a:tableStyleId>{5C22544A-7EE6-4342-B048-85BDC9FD1C3A}</a:tableStyleId>
              </a:tblPr>
              <a:tblGrid>
                <a:gridCol w="949803">
                  <a:extLst>
                    <a:ext uri="{9D8B030D-6E8A-4147-A177-3AD203B41FA5}">
                      <a16:colId xmlns:a16="http://schemas.microsoft.com/office/drawing/2014/main" val="1031834263"/>
                    </a:ext>
                  </a:extLst>
                </a:gridCol>
                <a:gridCol w="949803">
                  <a:extLst>
                    <a:ext uri="{9D8B030D-6E8A-4147-A177-3AD203B41FA5}">
                      <a16:colId xmlns:a16="http://schemas.microsoft.com/office/drawing/2014/main" val="2515256532"/>
                    </a:ext>
                  </a:extLst>
                </a:gridCol>
                <a:gridCol w="949803">
                  <a:extLst>
                    <a:ext uri="{9D8B030D-6E8A-4147-A177-3AD203B41FA5}">
                      <a16:colId xmlns:a16="http://schemas.microsoft.com/office/drawing/2014/main" val="102618906"/>
                    </a:ext>
                  </a:extLst>
                </a:gridCol>
                <a:gridCol w="949803">
                  <a:extLst>
                    <a:ext uri="{9D8B030D-6E8A-4147-A177-3AD203B41FA5}">
                      <a16:colId xmlns:a16="http://schemas.microsoft.com/office/drawing/2014/main" val="2857401098"/>
                    </a:ext>
                  </a:extLst>
                </a:gridCol>
                <a:gridCol w="949803">
                  <a:extLst>
                    <a:ext uri="{9D8B030D-6E8A-4147-A177-3AD203B41FA5}">
                      <a16:colId xmlns:a16="http://schemas.microsoft.com/office/drawing/2014/main" val="758452034"/>
                    </a:ext>
                  </a:extLst>
                </a:gridCol>
                <a:gridCol w="949803">
                  <a:extLst>
                    <a:ext uri="{9D8B030D-6E8A-4147-A177-3AD203B41FA5}">
                      <a16:colId xmlns:a16="http://schemas.microsoft.com/office/drawing/2014/main" val="2369757967"/>
                    </a:ext>
                  </a:extLst>
                </a:gridCol>
              </a:tblGrid>
              <a:tr h="343307">
                <a:tc>
                  <a:txBody>
                    <a:bodyPr/>
                    <a:lstStyle/>
                    <a:p>
                      <a:pPr algn="ctr"/>
                      <a:r>
                        <a:rPr lang="en-US" altLang="zh-TW" dirty="0">
                          <a:solidFill>
                            <a:schemeClr val="tx1"/>
                          </a:solidFill>
                          <a:latin typeface="Times" pitchFamily="2" charset="0"/>
                        </a:rPr>
                        <a:t>A</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rgbClr val="FF0000"/>
                          </a:solidFill>
                          <a:latin typeface="Times" pitchFamily="2" charset="0"/>
                        </a:rPr>
                        <a:t>2</a:t>
                      </a:r>
                      <a:endParaRPr lang="zh-TW" altLang="en-US" dirty="0">
                        <a:solidFill>
                          <a:srgbClr val="FF0000"/>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2</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rgbClr val="FF0000"/>
                          </a:solidFill>
                          <a:latin typeface="Times" pitchFamily="2" charset="0"/>
                        </a:rPr>
                        <a:t>4</a:t>
                      </a:r>
                      <a:endParaRPr lang="zh-TW" altLang="en-US" dirty="0">
                        <a:solidFill>
                          <a:srgbClr val="FF0000"/>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latin typeface="Times" pitchFamily="2" charset="0"/>
                        </a:rPr>
                        <a:t>4</a:t>
                      </a:r>
                      <a:endParaRPr lang="zh-TW" altLang="en-US" dirty="0">
                        <a:solidFill>
                          <a:schemeClr val="tx1"/>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rgbClr val="FF0000"/>
                          </a:solidFill>
                          <a:latin typeface="Times" pitchFamily="2" charset="0"/>
                        </a:rPr>
                        <a:t>4</a:t>
                      </a:r>
                      <a:endParaRPr lang="zh-TW" altLang="en-US" dirty="0">
                        <a:solidFill>
                          <a:srgbClr val="FF0000"/>
                        </a:solidFill>
                        <a:latin typeface="Times"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0137096"/>
                  </a:ext>
                </a:extLst>
              </a:tr>
            </a:tbl>
          </a:graphicData>
        </a:graphic>
      </p:graphicFrame>
      <p:sp>
        <p:nvSpPr>
          <p:cNvPr id="7" name="箭號: 迴轉箭號 6">
            <a:extLst>
              <a:ext uri="{FF2B5EF4-FFF2-40B4-BE49-F238E27FC236}">
                <a16:creationId xmlns:a16="http://schemas.microsoft.com/office/drawing/2014/main" id="{04E6B5F4-4E14-4CF6-A83C-C50D39DD03E3}"/>
              </a:ext>
            </a:extLst>
          </p:cNvPr>
          <p:cNvSpPr/>
          <p:nvPr/>
        </p:nvSpPr>
        <p:spPr>
          <a:xfrm rot="5400000" flipV="1">
            <a:off x="1181818" y="2918080"/>
            <a:ext cx="1035584" cy="664779"/>
          </a:xfrm>
          <a:prstGeom prst="uturnArrow">
            <a:avLst>
              <a:gd name="adj1" fmla="val 13933"/>
              <a:gd name="adj2" fmla="val 25000"/>
              <a:gd name="adj3" fmla="val 25000"/>
              <a:gd name="adj4" fmla="val 43750"/>
              <a:gd name="adj5" fmla="val 100000"/>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solidFill>
                <a:schemeClr val="tx1"/>
              </a:solidFill>
              <a:latin typeface="Times" pitchFamily="2" charset="0"/>
            </a:endParaRPr>
          </a:p>
        </p:txBody>
      </p:sp>
      <p:sp>
        <p:nvSpPr>
          <p:cNvPr id="11" name="箭號: 迴轉箭號 10">
            <a:extLst>
              <a:ext uri="{FF2B5EF4-FFF2-40B4-BE49-F238E27FC236}">
                <a16:creationId xmlns:a16="http://schemas.microsoft.com/office/drawing/2014/main" id="{91B9AA45-4CFA-42EF-8DAA-3FA06090B9E0}"/>
              </a:ext>
            </a:extLst>
          </p:cNvPr>
          <p:cNvSpPr/>
          <p:nvPr/>
        </p:nvSpPr>
        <p:spPr>
          <a:xfrm rot="5400000" flipV="1">
            <a:off x="1328771" y="5281081"/>
            <a:ext cx="741679" cy="664779"/>
          </a:xfrm>
          <a:prstGeom prst="uturnArrow">
            <a:avLst>
              <a:gd name="adj1" fmla="val 13933"/>
              <a:gd name="adj2" fmla="val 25000"/>
              <a:gd name="adj3" fmla="val 25000"/>
              <a:gd name="adj4" fmla="val 43750"/>
              <a:gd name="adj5" fmla="val 100000"/>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Times" pitchFamily="2" charset="0"/>
            </a:endParaRPr>
          </a:p>
        </p:txBody>
      </p:sp>
      <p:sp>
        <p:nvSpPr>
          <p:cNvPr id="8" name="投影片編號版面配置區 7">
            <a:extLst>
              <a:ext uri="{FF2B5EF4-FFF2-40B4-BE49-F238E27FC236}">
                <a16:creationId xmlns:a16="http://schemas.microsoft.com/office/drawing/2014/main" id="{3EAFD42F-7333-2443-9E71-F268119E8236}"/>
              </a:ext>
            </a:extLst>
          </p:cNvPr>
          <p:cNvSpPr>
            <a:spLocks noGrp="1"/>
          </p:cNvSpPr>
          <p:nvPr>
            <p:ph type="sldNum" sz="quarter" idx="12"/>
          </p:nvPr>
        </p:nvSpPr>
        <p:spPr/>
        <p:txBody>
          <a:bodyPr/>
          <a:lstStyle/>
          <a:p>
            <a:fld id="{9964E18F-1489-4A4A-8DD8-AC372572ADE5}" type="slidenum">
              <a:rPr kumimoji="1" lang="zh-TW" altLang="en-US" smtClean="0"/>
              <a:t>5</a:t>
            </a:fld>
            <a:endParaRPr kumimoji="1" lang="zh-TW" altLang="en-US"/>
          </a:p>
        </p:txBody>
      </p:sp>
      <p:pic>
        <p:nvPicPr>
          <p:cNvPr id="17" name="圖片 16">
            <a:extLst>
              <a:ext uri="{FF2B5EF4-FFF2-40B4-BE49-F238E27FC236}">
                <a16:creationId xmlns:a16="http://schemas.microsoft.com/office/drawing/2014/main" id="{84D77EF2-3AFA-5246-8F5B-58B5714CE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2896" y="1034950"/>
            <a:ext cx="2082487" cy="4971814"/>
          </a:xfrm>
          <a:prstGeom prst="rect">
            <a:avLst/>
          </a:prstGeom>
        </p:spPr>
      </p:pic>
    </p:spTree>
    <p:extLst>
      <p:ext uri="{BB962C8B-B14F-4D97-AF65-F5344CB8AC3E}">
        <p14:creationId xmlns:p14="http://schemas.microsoft.com/office/powerpoint/2010/main" val="2271277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21ED40-D37A-4246-B370-5B98A7B90C6C}"/>
              </a:ext>
            </a:extLst>
          </p:cNvPr>
          <p:cNvSpPr>
            <a:spLocks noGrp="1"/>
          </p:cNvSpPr>
          <p:nvPr>
            <p:ph type="title"/>
          </p:nvPr>
        </p:nvSpPr>
        <p:spPr/>
        <p:txBody>
          <a:bodyPr/>
          <a:lstStyle/>
          <a:p>
            <a:r>
              <a:rPr lang="en-US" altLang="zh-TW" dirty="0">
                <a:latin typeface="Times" pitchFamily="2" charset="0"/>
              </a:rPr>
              <a:t>Strength of the Hand</a:t>
            </a:r>
            <a:endParaRPr lang="zh-TW" altLang="en-US" dirty="0">
              <a:latin typeface="Times" pitchFamily="2" charset="0"/>
            </a:endParaRPr>
          </a:p>
        </p:txBody>
      </p:sp>
      <p:graphicFrame>
        <p:nvGraphicFramePr>
          <p:cNvPr id="4" name="表格 4">
            <a:extLst>
              <a:ext uri="{FF2B5EF4-FFF2-40B4-BE49-F238E27FC236}">
                <a16:creationId xmlns:a16="http://schemas.microsoft.com/office/drawing/2014/main" id="{61EFFBE2-B7DA-8B50-65A1-7393F0215CF6}"/>
              </a:ext>
            </a:extLst>
          </p:cNvPr>
          <p:cNvGraphicFramePr>
            <a:graphicFrameLocks noGrp="1"/>
          </p:cNvGraphicFramePr>
          <p:nvPr>
            <p:extLst>
              <p:ext uri="{D42A27DB-BD31-4B8C-83A1-F6EECF244321}">
                <p14:modId xmlns:p14="http://schemas.microsoft.com/office/powerpoint/2010/main" val="2050096461"/>
              </p:ext>
            </p:extLst>
          </p:nvPr>
        </p:nvGraphicFramePr>
        <p:xfrm>
          <a:off x="2031998" y="2171859"/>
          <a:ext cx="8128004" cy="3703320"/>
        </p:xfrm>
        <a:graphic>
          <a:graphicData uri="http://schemas.openxmlformats.org/drawingml/2006/table">
            <a:tbl>
              <a:tblPr firstRow="1" bandRow="1">
                <a:tableStyleId>{5C22544A-7EE6-4342-B048-85BDC9FD1C3A}</a:tableStyleId>
              </a:tblPr>
              <a:tblGrid>
                <a:gridCol w="2501054">
                  <a:extLst>
                    <a:ext uri="{9D8B030D-6E8A-4147-A177-3AD203B41FA5}">
                      <a16:colId xmlns:a16="http://schemas.microsoft.com/office/drawing/2014/main" val="365665237"/>
                    </a:ext>
                  </a:extLst>
                </a:gridCol>
                <a:gridCol w="1125390">
                  <a:extLst>
                    <a:ext uri="{9D8B030D-6E8A-4147-A177-3AD203B41FA5}">
                      <a16:colId xmlns:a16="http://schemas.microsoft.com/office/drawing/2014/main" val="3386892941"/>
                    </a:ext>
                  </a:extLst>
                </a:gridCol>
                <a:gridCol w="1125390">
                  <a:extLst>
                    <a:ext uri="{9D8B030D-6E8A-4147-A177-3AD203B41FA5}">
                      <a16:colId xmlns:a16="http://schemas.microsoft.com/office/drawing/2014/main" val="708314126"/>
                    </a:ext>
                  </a:extLst>
                </a:gridCol>
                <a:gridCol w="1125390">
                  <a:extLst>
                    <a:ext uri="{9D8B030D-6E8A-4147-A177-3AD203B41FA5}">
                      <a16:colId xmlns:a16="http://schemas.microsoft.com/office/drawing/2014/main" val="1310696630"/>
                    </a:ext>
                  </a:extLst>
                </a:gridCol>
                <a:gridCol w="1125390">
                  <a:extLst>
                    <a:ext uri="{9D8B030D-6E8A-4147-A177-3AD203B41FA5}">
                      <a16:colId xmlns:a16="http://schemas.microsoft.com/office/drawing/2014/main" val="2338031613"/>
                    </a:ext>
                  </a:extLst>
                </a:gridCol>
                <a:gridCol w="1125390">
                  <a:extLst>
                    <a:ext uri="{9D8B030D-6E8A-4147-A177-3AD203B41FA5}">
                      <a16:colId xmlns:a16="http://schemas.microsoft.com/office/drawing/2014/main" val="3590444872"/>
                    </a:ext>
                  </a:extLst>
                </a:gridCol>
              </a:tblGrid>
              <a:tr h="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Evaluation method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Q</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8733855"/>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Goren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7445794"/>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Bamberger</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271605"/>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Collet</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657862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Four Aces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489059"/>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Polish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1757279"/>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Reith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71031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Robertson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6695110"/>
                  </a:ext>
                </a:extLst>
              </a:tr>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Vernes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452814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AKQ</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8965106"/>
                  </a:ext>
                </a:extLst>
              </a:tr>
            </a:tbl>
          </a:graphicData>
        </a:graphic>
      </p:graphicFrame>
      <p:sp>
        <p:nvSpPr>
          <p:cNvPr id="5" name="投影片編號版面配置區 4">
            <a:extLst>
              <a:ext uri="{FF2B5EF4-FFF2-40B4-BE49-F238E27FC236}">
                <a16:creationId xmlns:a16="http://schemas.microsoft.com/office/drawing/2014/main" id="{6B3DF0A3-D236-C441-995B-9B6182E671C0}"/>
              </a:ext>
            </a:extLst>
          </p:cNvPr>
          <p:cNvSpPr>
            <a:spLocks noGrp="1"/>
          </p:cNvSpPr>
          <p:nvPr>
            <p:ph type="sldNum" sz="quarter" idx="12"/>
          </p:nvPr>
        </p:nvSpPr>
        <p:spPr/>
        <p:txBody>
          <a:bodyPr/>
          <a:lstStyle/>
          <a:p>
            <a:fld id="{9964E18F-1489-4A4A-8DD8-AC372572ADE5}" type="slidenum">
              <a:rPr kumimoji="1" lang="zh-TW" altLang="en-US" smtClean="0"/>
              <a:t>6</a:t>
            </a:fld>
            <a:endParaRPr kumimoji="1" lang="zh-TW" altLang="en-US"/>
          </a:p>
        </p:txBody>
      </p:sp>
    </p:spTree>
    <p:extLst>
      <p:ext uri="{BB962C8B-B14F-4D97-AF65-F5344CB8AC3E}">
        <p14:creationId xmlns:p14="http://schemas.microsoft.com/office/powerpoint/2010/main" val="332040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D096C0-6297-4413-B30F-28BBDC583213}"/>
              </a:ext>
            </a:extLst>
          </p:cNvPr>
          <p:cNvSpPr>
            <a:spLocks noGrp="1"/>
          </p:cNvSpPr>
          <p:nvPr>
            <p:ph type="title"/>
          </p:nvPr>
        </p:nvSpPr>
        <p:spPr/>
        <p:txBody>
          <a:bodyPr/>
          <a:lstStyle/>
          <a:p>
            <a:r>
              <a:rPr lang="en-US" altLang="zh-TW" dirty="0">
                <a:latin typeface="Times" pitchFamily="2" charset="0"/>
              </a:rPr>
              <a:t>Strength of the Hand</a:t>
            </a:r>
            <a:endParaRPr lang="zh-TW" altLang="en-US" dirty="0">
              <a:latin typeface="Times" pitchFamily="2" charset="0"/>
            </a:endParaRPr>
          </a:p>
        </p:txBody>
      </p:sp>
      <p:graphicFrame>
        <p:nvGraphicFramePr>
          <p:cNvPr id="10" name="表格 4">
            <a:extLst>
              <a:ext uri="{FF2B5EF4-FFF2-40B4-BE49-F238E27FC236}">
                <a16:creationId xmlns:a16="http://schemas.microsoft.com/office/drawing/2014/main" id="{2677D93B-0C70-A058-15D1-9C8A2E55ABC7}"/>
              </a:ext>
            </a:extLst>
          </p:cNvPr>
          <p:cNvGraphicFramePr>
            <a:graphicFrameLocks noGrp="1"/>
          </p:cNvGraphicFramePr>
          <p:nvPr>
            <p:extLst>
              <p:ext uri="{D42A27DB-BD31-4B8C-83A1-F6EECF244321}">
                <p14:modId xmlns:p14="http://schemas.microsoft.com/office/powerpoint/2010/main" val="1824261262"/>
              </p:ext>
            </p:extLst>
          </p:nvPr>
        </p:nvGraphicFramePr>
        <p:xfrm>
          <a:off x="5738447" y="1432376"/>
          <a:ext cx="4923692" cy="4603910"/>
        </p:xfrm>
        <a:graphic>
          <a:graphicData uri="http://schemas.openxmlformats.org/drawingml/2006/table">
            <a:tbl>
              <a:tblPr firstRow="1" bandRow="1">
                <a:tableStyleId>{2D5ABB26-0587-4C30-8999-92F81FD0307C}</a:tableStyleId>
              </a:tblPr>
              <a:tblGrid>
                <a:gridCol w="1132796">
                  <a:extLst>
                    <a:ext uri="{9D8B030D-6E8A-4147-A177-3AD203B41FA5}">
                      <a16:colId xmlns:a16="http://schemas.microsoft.com/office/drawing/2014/main" val="2559691016"/>
                    </a:ext>
                  </a:extLst>
                </a:gridCol>
                <a:gridCol w="644769">
                  <a:extLst>
                    <a:ext uri="{9D8B030D-6E8A-4147-A177-3AD203B41FA5}">
                      <a16:colId xmlns:a16="http://schemas.microsoft.com/office/drawing/2014/main" val="3443406315"/>
                    </a:ext>
                  </a:extLst>
                </a:gridCol>
                <a:gridCol w="1467710">
                  <a:extLst>
                    <a:ext uri="{9D8B030D-6E8A-4147-A177-3AD203B41FA5}">
                      <a16:colId xmlns:a16="http://schemas.microsoft.com/office/drawing/2014/main" val="264596855"/>
                    </a:ext>
                  </a:extLst>
                </a:gridCol>
                <a:gridCol w="1678417">
                  <a:extLst>
                    <a:ext uri="{9D8B030D-6E8A-4147-A177-3AD203B41FA5}">
                      <a16:colId xmlns:a16="http://schemas.microsoft.com/office/drawing/2014/main" val="3317424169"/>
                    </a:ext>
                  </a:extLst>
                </a:gridCol>
              </a:tblGrid>
              <a:tr h="1296115">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US" altLang="zh-TW" b="0" dirty="0">
                          <a:solidFill>
                            <a:schemeClr val="tx1"/>
                          </a:solidFill>
                          <a:latin typeface="Times New Roman" panose="02020603050405020304" pitchFamily="18" charset="0"/>
                          <a:cs typeface="Times New Roman" panose="02020603050405020304" pitchFamily="18" charset="0"/>
                        </a:rPr>
                        <a:t>S 42</a:t>
                      </a:r>
                    </a:p>
                    <a:p>
                      <a:pPr algn="l"/>
                      <a:r>
                        <a:rPr lang="en-US" altLang="zh-TW" b="0" dirty="0">
                          <a:solidFill>
                            <a:schemeClr val="tx1"/>
                          </a:solidFill>
                          <a:latin typeface="Times New Roman" panose="02020603050405020304" pitchFamily="18" charset="0"/>
                          <a:cs typeface="Times New Roman" panose="02020603050405020304" pitchFamily="18" charset="0"/>
                        </a:rPr>
                        <a:t>H AT74</a:t>
                      </a:r>
                    </a:p>
                    <a:p>
                      <a:pPr algn="l"/>
                      <a:r>
                        <a:rPr lang="en-US" altLang="zh-TW" b="0" dirty="0">
                          <a:solidFill>
                            <a:schemeClr val="tx1"/>
                          </a:solidFill>
                          <a:latin typeface="Times New Roman" panose="02020603050405020304" pitchFamily="18" charset="0"/>
                          <a:cs typeface="Times New Roman" panose="02020603050405020304" pitchFamily="18" charset="0"/>
                        </a:rPr>
                        <a:t>D 853</a:t>
                      </a:r>
                    </a:p>
                    <a:p>
                      <a:pPr algn="l"/>
                      <a:r>
                        <a:rPr lang="en-US" altLang="zh-TW" b="0" dirty="0">
                          <a:solidFill>
                            <a:schemeClr val="tx1"/>
                          </a:solidFill>
                          <a:latin typeface="Times New Roman" panose="02020603050405020304" pitchFamily="18" charset="0"/>
                          <a:cs typeface="Times New Roman" panose="02020603050405020304" pitchFamily="18" charset="0"/>
                        </a:rPr>
                        <a:t>C QJ95</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4647893"/>
                  </a:ext>
                </a:extLst>
              </a:tr>
              <a:tr h="1759107">
                <a:tc>
                  <a:txBody>
                    <a:bodyPr/>
                    <a:lstStyle/>
                    <a:p>
                      <a:pPr algn="l"/>
                      <a:endParaRPr lang="en-US" altLang="zh-TW" b="0" dirty="0">
                        <a:solidFill>
                          <a:schemeClr val="tx1"/>
                        </a:solidFill>
                        <a:latin typeface="Times New Roman" panose="02020603050405020304" pitchFamily="18" charset="0"/>
                        <a:cs typeface="Times New Roman" panose="02020603050405020304" pitchFamily="18" charset="0"/>
                      </a:endParaRPr>
                    </a:p>
                    <a:p>
                      <a:pPr algn="l"/>
                      <a:r>
                        <a:rPr lang="en-US" altLang="zh-TW" b="0" dirty="0">
                          <a:solidFill>
                            <a:schemeClr val="tx1"/>
                          </a:solidFill>
                          <a:latin typeface="Times New Roman" panose="02020603050405020304" pitchFamily="18" charset="0"/>
                          <a:cs typeface="Times New Roman" panose="02020603050405020304" pitchFamily="18" charset="0"/>
                        </a:rPr>
                        <a:t>S 853</a:t>
                      </a:r>
                    </a:p>
                    <a:p>
                      <a:pPr algn="l"/>
                      <a:r>
                        <a:rPr lang="en-US" altLang="zh-TW" b="0" dirty="0">
                          <a:solidFill>
                            <a:schemeClr val="tx1"/>
                          </a:solidFill>
                          <a:latin typeface="Times New Roman" panose="02020603050405020304" pitchFamily="18" charset="0"/>
                          <a:cs typeface="Times New Roman" panose="02020603050405020304" pitchFamily="18" charset="0"/>
                        </a:rPr>
                        <a:t>H K832</a:t>
                      </a:r>
                    </a:p>
                    <a:p>
                      <a:pPr algn="l"/>
                      <a:r>
                        <a:rPr lang="en-US" altLang="zh-TW" b="0" dirty="0">
                          <a:solidFill>
                            <a:schemeClr val="tx1"/>
                          </a:solidFill>
                          <a:latin typeface="Times New Roman" panose="02020603050405020304" pitchFamily="18" charset="0"/>
                          <a:cs typeface="Times New Roman" panose="02020603050405020304" pitchFamily="18" charset="0"/>
                        </a:rPr>
                        <a:t>D 9</a:t>
                      </a:r>
                    </a:p>
                    <a:p>
                      <a:pPr algn="l"/>
                      <a:r>
                        <a:rPr lang="en-US" altLang="zh-TW" b="0" dirty="0">
                          <a:solidFill>
                            <a:schemeClr val="tx1"/>
                          </a:solidFill>
                          <a:latin typeface="Times New Roman" panose="02020603050405020304" pitchFamily="18" charset="0"/>
                          <a:cs typeface="Times New Roman" panose="02020603050405020304" pitchFamily="18" charset="0"/>
                        </a:rPr>
                        <a:t>C 87642</a:t>
                      </a:r>
                    </a:p>
                    <a:p>
                      <a:pPr algn="l"/>
                      <a:endParaRPr lang="en-US" altLang="zh-TW" b="0" dirty="0">
                        <a:solidFill>
                          <a:schemeClr val="tx1"/>
                        </a:solidFill>
                        <a:latin typeface="Times New Roman" panose="02020603050405020304" pitchFamily="18" charset="0"/>
                        <a:cs typeface="Times New Roman" panose="02020603050405020304" pitchFamily="18" charset="0"/>
                      </a:endParaRPr>
                    </a:p>
                    <a:p>
                      <a:pPr algn="l"/>
                      <a:endParaRPr lang="en-US" altLang="zh-TW" b="0" dirty="0">
                        <a:solidFill>
                          <a:schemeClr val="tx1"/>
                        </a:solidFill>
                        <a:latin typeface="Times New Roman" panose="02020603050405020304" pitchFamily="18" charset="0"/>
                        <a:cs typeface="Times New Roman" panose="02020603050405020304" pitchFamily="18" charset="0"/>
                      </a:endParaRPr>
                    </a:p>
                  </a:txBody>
                  <a:tcPr/>
                </a:tc>
                <a:tc gridSpan="2">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tc>
                <a:tc hMerge="1">
                  <a:txBody>
                    <a:bodyPr/>
                    <a:lstStyle/>
                    <a:p>
                      <a:endParaRPr lang="zh-TW" altLang="en-US"/>
                    </a:p>
                  </a:txBody>
                  <a:tcPr/>
                </a:tc>
                <a:tc>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tx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5647339"/>
                  </a:ext>
                </a:extLst>
              </a:tr>
              <a:tr h="1296115">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AKQ96</a:t>
                      </a:r>
                    </a:p>
                    <a:p>
                      <a:r>
                        <a:rPr lang="en-US" altLang="zh-TW" b="0" dirty="0">
                          <a:solidFill>
                            <a:schemeClr val="tx1"/>
                          </a:solidFill>
                          <a:latin typeface="Times New Roman" panose="02020603050405020304" pitchFamily="18" charset="0"/>
                          <a:cs typeface="Times New Roman" panose="02020603050405020304" pitchFamily="18" charset="0"/>
                        </a:rPr>
                        <a:t>H Q965</a:t>
                      </a:r>
                    </a:p>
                    <a:p>
                      <a:r>
                        <a:rPr lang="en-US" altLang="zh-TW" b="0" dirty="0">
                          <a:solidFill>
                            <a:schemeClr val="tx1"/>
                          </a:solidFill>
                          <a:latin typeface="Times New Roman" panose="02020603050405020304" pitchFamily="18" charset="0"/>
                          <a:cs typeface="Times New Roman" panose="02020603050405020304" pitchFamily="18" charset="0"/>
                        </a:rPr>
                        <a:t>D QT</a:t>
                      </a:r>
                    </a:p>
                    <a:p>
                      <a:r>
                        <a:rPr lang="en-US" altLang="zh-TW" b="0" dirty="0">
                          <a:solidFill>
                            <a:schemeClr val="tx1"/>
                          </a:solidFill>
                          <a:latin typeface="Times New Roman" panose="02020603050405020304" pitchFamily="18" charset="0"/>
                          <a:cs typeface="Times New Roman" panose="02020603050405020304" pitchFamily="18" charset="0"/>
                        </a:rPr>
                        <a:t>C K3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600" b="0" dirty="0">
                        <a:solidFill>
                          <a:schemeClr val="accent6">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92936413"/>
                  </a:ext>
                </a:extLst>
              </a:tr>
            </a:tbl>
          </a:graphicData>
        </a:graphic>
      </p:graphicFrame>
      <p:sp>
        <p:nvSpPr>
          <p:cNvPr id="5" name="內容版面配置區 2">
            <a:extLst>
              <a:ext uri="{FF2B5EF4-FFF2-40B4-BE49-F238E27FC236}">
                <a16:creationId xmlns:a16="http://schemas.microsoft.com/office/drawing/2014/main" id="{FE2C7C36-01FB-0F4C-A0CA-FE1AFFDAE0B7}"/>
              </a:ext>
            </a:extLst>
          </p:cNvPr>
          <p:cNvSpPr>
            <a:spLocks noGrp="1"/>
          </p:cNvSpPr>
          <p:nvPr>
            <p:ph idx="1"/>
          </p:nvPr>
        </p:nvSpPr>
        <p:spPr>
          <a:xfrm>
            <a:off x="838200" y="1825625"/>
            <a:ext cx="10515600" cy="4351338"/>
          </a:xfrm>
        </p:spPr>
        <p:txBody>
          <a:bodyPr>
            <a:normAutofit/>
          </a:bodyPr>
          <a:lstStyle/>
          <a:p>
            <a:pPr algn="just">
              <a:lnSpc>
                <a:spcPct val="150000"/>
              </a:lnSpc>
            </a:pPr>
            <a:r>
              <a:rPr kumimoji="1" lang="en-US" altLang="zh-TW" sz="2400" dirty="0">
                <a:latin typeface="Times" pitchFamily="2" charset="0"/>
              </a:rPr>
              <a:t>Goren(HCP)</a:t>
            </a:r>
          </a:p>
          <a:p>
            <a:pPr algn="just">
              <a:lnSpc>
                <a:spcPct val="150000"/>
              </a:lnSpc>
            </a:pPr>
            <a:r>
              <a:rPr kumimoji="1" lang="en-US" altLang="zh-TW" sz="2400" dirty="0">
                <a:latin typeface="Times" pitchFamily="2" charset="0"/>
              </a:rPr>
              <a:t>Long suit method</a:t>
            </a:r>
          </a:p>
          <a:p>
            <a:pPr algn="just">
              <a:lnSpc>
                <a:spcPct val="150000"/>
              </a:lnSpc>
            </a:pPr>
            <a:r>
              <a:rPr kumimoji="1" lang="en-US" altLang="zh-TW" sz="2400" dirty="0">
                <a:latin typeface="Times" pitchFamily="2" charset="0"/>
              </a:rPr>
              <a:t>Short suit method</a:t>
            </a:r>
          </a:p>
          <a:p>
            <a:pPr marL="457200" lvl="1" indent="0" algn="just">
              <a:lnSpc>
                <a:spcPct val="100000"/>
              </a:lnSpc>
              <a:buNone/>
            </a:pPr>
            <a:r>
              <a:rPr kumimoji="1" lang="en-US" altLang="zh-TW" sz="2000" dirty="0">
                <a:latin typeface="Times" pitchFamily="2" charset="0"/>
              </a:rPr>
              <a:t>Void = 3</a:t>
            </a:r>
          </a:p>
          <a:p>
            <a:pPr marL="457200" lvl="1" indent="0" algn="just">
              <a:lnSpc>
                <a:spcPct val="100000"/>
              </a:lnSpc>
              <a:buNone/>
            </a:pPr>
            <a:r>
              <a:rPr kumimoji="1" lang="en-US" altLang="zh-TW" sz="2000" dirty="0">
                <a:latin typeface="Times" pitchFamily="2" charset="0"/>
              </a:rPr>
              <a:t>Singleton = 2</a:t>
            </a:r>
          </a:p>
          <a:p>
            <a:pPr marL="457200" lvl="1" indent="0" algn="just">
              <a:lnSpc>
                <a:spcPct val="100000"/>
              </a:lnSpc>
              <a:buNone/>
            </a:pPr>
            <a:r>
              <a:rPr kumimoji="1" lang="en-US" altLang="zh-TW" sz="2000" dirty="0">
                <a:latin typeface="Times" pitchFamily="2" charset="0"/>
              </a:rPr>
              <a:t>Doubleton = 1</a:t>
            </a:r>
          </a:p>
          <a:p>
            <a:pPr algn="just">
              <a:lnSpc>
                <a:spcPct val="150000"/>
              </a:lnSpc>
            </a:pPr>
            <a:r>
              <a:rPr lang="en-US" altLang="zh-TW" sz="2400" dirty="0" err="1">
                <a:latin typeface="Times" pitchFamily="2" charset="0"/>
              </a:rPr>
              <a:t>Pavlicek</a:t>
            </a:r>
            <a:r>
              <a:rPr lang="en-US" altLang="zh-TW" sz="2400" dirty="0">
                <a:latin typeface="Times" pitchFamily="2" charset="0"/>
              </a:rPr>
              <a:t> Point Count</a:t>
            </a:r>
            <a:endParaRPr kumimoji="1" lang="en-US" altLang="zh-TW" sz="2400" dirty="0">
              <a:latin typeface="Times" pitchFamily="2" charset="0"/>
            </a:endParaRPr>
          </a:p>
          <a:p>
            <a:pPr marL="0" indent="0" algn="just">
              <a:lnSpc>
                <a:spcPct val="150000"/>
              </a:lnSpc>
              <a:buNone/>
            </a:pPr>
            <a:endParaRPr kumimoji="1" lang="en-US" altLang="zh-TW" sz="2400" dirty="0">
              <a:latin typeface="Times" pitchFamily="2" charset="0"/>
            </a:endParaRPr>
          </a:p>
          <a:p>
            <a:pPr marL="0" indent="0" algn="just">
              <a:lnSpc>
                <a:spcPct val="150000"/>
              </a:lnSpc>
              <a:buNone/>
            </a:pPr>
            <a:endParaRPr kumimoji="1" lang="en-US" altLang="zh-TW" sz="2400" dirty="0">
              <a:latin typeface="Times" pitchFamily="2" charset="0"/>
            </a:endParaRPr>
          </a:p>
          <a:p>
            <a:pPr marL="0" indent="0" algn="just">
              <a:lnSpc>
                <a:spcPct val="150000"/>
              </a:lnSpc>
              <a:buNone/>
            </a:pPr>
            <a:endParaRPr kumimoji="1" lang="en-US" altLang="zh-TW" sz="2400" dirty="0">
              <a:latin typeface="Times" pitchFamily="2" charset="0"/>
            </a:endParaRPr>
          </a:p>
          <a:p>
            <a:pPr marL="0" indent="0" algn="just">
              <a:lnSpc>
                <a:spcPct val="150000"/>
              </a:lnSpc>
              <a:buNone/>
            </a:pPr>
            <a:endParaRPr kumimoji="1" lang="zh-TW" altLang="en-US" sz="2400" dirty="0">
              <a:latin typeface="Times" pitchFamily="2" charset="0"/>
            </a:endParaRPr>
          </a:p>
        </p:txBody>
      </p:sp>
      <p:sp>
        <p:nvSpPr>
          <p:cNvPr id="3" name="投影片編號版面配置區 2">
            <a:extLst>
              <a:ext uri="{FF2B5EF4-FFF2-40B4-BE49-F238E27FC236}">
                <a16:creationId xmlns:a16="http://schemas.microsoft.com/office/drawing/2014/main" id="{0C9508A8-3F54-D247-BDCF-8A025A205EC0}"/>
              </a:ext>
            </a:extLst>
          </p:cNvPr>
          <p:cNvSpPr>
            <a:spLocks noGrp="1"/>
          </p:cNvSpPr>
          <p:nvPr>
            <p:ph type="sldNum" sz="quarter" idx="12"/>
          </p:nvPr>
        </p:nvSpPr>
        <p:spPr/>
        <p:txBody>
          <a:bodyPr/>
          <a:lstStyle/>
          <a:p>
            <a:fld id="{9964E18F-1489-4A4A-8DD8-AC372572ADE5}" type="slidenum">
              <a:rPr kumimoji="1" lang="zh-TW" altLang="en-US" smtClean="0"/>
              <a:t>7</a:t>
            </a:fld>
            <a:endParaRPr kumimoji="1" lang="zh-TW" altLang="en-US"/>
          </a:p>
        </p:txBody>
      </p:sp>
      <p:sp>
        <p:nvSpPr>
          <p:cNvPr id="6" name="文字方塊 5">
            <a:extLst>
              <a:ext uri="{FF2B5EF4-FFF2-40B4-BE49-F238E27FC236}">
                <a16:creationId xmlns:a16="http://schemas.microsoft.com/office/drawing/2014/main" id="{4F9BFB82-61C1-E347-85D2-4236CE79F5B0}"/>
              </a:ext>
            </a:extLst>
          </p:cNvPr>
          <p:cNvSpPr txBox="1"/>
          <p:nvPr/>
        </p:nvSpPr>
        <p:spPr>
          <a:xfrm>
            <a:off x="10202909" y="4001294"/>
            <a:ext cx="161012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accent6">
                    <a:lumMod val="50000"/>
                  </a:schemeClr>
                </a:solidFill>
                <a:latin typeface="Times New Roman" panose="02020603050405020304" pitchFamily="18" charset="0"/>
                <a:cs typeface="Times New Roman" panose="02020603050405020304" pitchFamily="18" charset="0"/>
              </a:rPr>
              <a:t>Short + HCP =17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dirty="0" err="1">
                <a:solidFill>
                  <a:schemeClr val="accent6">
                    <a:lumMod val="50000"/>
                  </a:schemeClr>
                </a:solidFill>
                <a:latin typeface="Times New Roman" panose="02020603050405020304" pitchFamily="18" charset="0"/>
                <a:cs typeface="Times New Roman" panose="02020603050405020304" pitchFamily="18" charset="0"/>
              </a:rPr>
              <a:t>Pavlicek</a:t>
            </a:r>
            <a:r>
              <a:rPr lang="en-US" altLang="zh-TW" sz="1600" b="0" dirty="0">
                <a:solidFill>
                  <a:schemeClr val="accent6">
                    <a:lumMod val="50000"/>
                  </a:schemeClr>
                </a:solidFill>
                <a:latin typeface="Times New Roman" panose="02020603050405020304" pitchFamily="18" charset="0"/>
                <a:cs typeface="Times New Roman" panose="02020603050405020304" pitchFamily="18" charset="0"/>
              </a:rPr>
              <a:t> = 16</a:t>
            </a:r>
            <a:endParaRPr lang="zh-TW" altLang="en-US" sz="1600" b="0"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18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Individual Card Strength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893235361"/>
                  </p:ext>
                </p:extLst>
              </p:nvPr>
            </p:nvGraphicFramePr>
            <p:xfrm>
              <a:off x="1386052" y="2165096"/>
              <a:ext cx="9419896" cy="3731133"/>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𝐻</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e>
                                    </m:nary>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41270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𝐻𝑇</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m:rPr>
                                        <m:brk m:alnAt="7"/>
                                      </m:rP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r>
                                                      <a:rPr lang="en-US" altLang="zh-TW" b="0" i="1" smtClean="0">
                                                        <a:solidFill>
                                                          <a:schemeClr val="tx1"/>
                                                        </a:solidFill>
                                                        <a:latin typeface="Cambria Math" panose="02040503050406030204" pitchFamily="18" charset="0"/>
                                                      </a:rPr>
                                                      <m:t>𝑡</m:t>
                                                    </m:r>
                                                  </m:sub>
                                                  <m:sup>
                                                    <m:r>
                                                      <a:rPr lang="en-US" altLang="zh-TW" b="0" i="1" smtClean="0">
                                                        <a:solidFill>
                                                          <a:schemeClr val="tx1"/>
                                                        </a:solidFill>
                                                        <a:latin typeface="Cambria Math" panose="02040503050406030204" pitchFamily="18" charset="0"/>
                                                      </a:rPr>
                                                      <m:t>𝐻𝑇</m:t>
                                                    </m:r>
                                                  </m:sup>
                                                </m:sSub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up>
                                                    <m:r>
                                                      <a:rPr lang="en-US" altLang="zh-TW" b="0" i="1" smtClean="0">
                                                        <a:solidFill>
                                                          <a:schemeClr val="tx1"/>
                                                        </a:solidFill>
                                                        <a:latin typeface="Cambria Math" panose="02040503050406030204" pitchFamily="18" charset="0"/>
                                                      </a:rPr>
                                                      <m:t>𝐻𝑇</m:t>
                                                    </m:r>
                                                  </m:sup>
                                                </m:sSub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qArr>
                                          </m:e>
                                        </m:d>
                                      </m:e>
                                    </m:nary>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3702356"/>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𝑠𝐻</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𝑐𝑎𝑟𝑑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𝑠𝐻</m:t>
                                                            </m:r>
                                                          </m:sup>
                                                        </m:s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e>
                                                    </m:nary>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𝑠𝐻</m:t>
                                                            </m:r>
                                                          </m:sup>
                                                        </m:s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e>
                                                    </m:nary>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8830415"/>
                      </a:ext>
                    </a:extLst>
                  </a:tr>
                </a:tbl>
              </a:graphicData>
            </a:graphic>
          </p:graphicFrame>
        </mc:Choice>
        <mc:Fallback xmlns="">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893235361"/>
                  </p:ext>
                </p:extLst>
              </p:nvPr>
            </p:nvGraphicFramePr>
            <p:xfrm>
              <a:off x="1386052" y="2165096"/>
              <a:ext cx="9419896" cy="3754946"/>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757174">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23333" r="-841772" b="-513333"/>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23333" r="-360" b="-513333"/>
                          </a:stretch>
                        </a:blipFill>
                      </a:tcPr>
                    </a:tc>
                    <a:extLst>
                      <a:ext uri="{0D108BD9-81ED-4DB2-BD59-A6C34878D82A}">
                        <a16:rowId xmlns:a16="http://schemas.microsoft.com/office/drawing/2014/main" val="1742412707"/>
                      </a:ext>
                    </a:extLst>
                  </a:tr>
                  <a:tr h="82257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206154" r="-841772" b="-373846"/>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206154" r="-360" b="-373846"/>
                          </a:stretch>
                        </a:blipFill>
                      </a:tcPr>
                    </a:tc>
                    <a:extLst>
                      <a:ext uri="{0D108BD9-81ED-4DB2-BD59-A6C34878D82A}">
                        <a16:rowId xmlns:a16="http://schemas.microsoft.com/office/drawing/2014/main" val="2013702356"/>
                      </a:ext>
                    </a:extLst>
                  </a:tr>
                  <a:tr h="1804353">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39161" r="-841772" b="-6993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39161" r="-360" b="-69930"/>
                          </a:stretch>
                        </a:blipFill>
                      </a:tcPr>
                    </a:tc>
                    <a:extLst>
                      <a:ext uri="{0D108BD9-81ED-4DB2-BD59-A6C34878D82A}">
                        <a16:rowId xmlns:a16="http://schemas.microsoft.com/office/drawing/2014/main" val="2978830415"/>
                      </a:ext>
                    </a:extLst>
                  </a:tr>
                </a:tbl>
              </a:graphicData>
            </a:graphic>
          </p:graphicFrame>
        </mc:Fallback>
      </mc:AlternateContent>
      <p:sp>
        <p:nvSpPr>
          <p:cNvPr id="3" name="投影片編號版面配置區 2">
            <a:extLst>
              <a:ext uri="{FF2B5EF4-FFF2-40B4-BE49-F238E27FC236}">
                <a16:creationId xmlns:a16="http://schemas.microsoft.com/office/drawing/2014/main" id="{EBADD562-1B29-3548-BB5E-846342041190}"/>
              </a:ext>
            </a:extLst>
          </p:cNvPr>
          <p:cNvSpPr>
            <a:spLocks noGrp="1"/>
          </p:cNvSpPr>
          <p:nvPr>
            <p:ph type="sldNum" sz="quarter" idx="12"/>
          </p:nvPr>
        </p:nvSpPr>
        <p:spPr/>
        <p:txBody>
          <a:bodyPr/>
          <a:lstStyle/>
          <a:p>
            <a:fld id="{9964E18F-1489-4A4A-8DD8-AC372572ADE5}" type="slidenum">
              <a:rPr kumimoji="1" lang="zh-TW" altLang="en-US" smtClean="0"/>
              <a:t>8</a:t>
            </a:fld>
            <a:endParaRPr kumimoji="1" lang="zh-TW" altLang="en-US"/>
          </a:p>
        </p:txBody>
      </p:sp>
    </p:spTree>
    <p:extLst>
      <p:ext uri="{BB962C8B-B14F-4D97-AF65-F5344CB8AC3E}">
        <p14:creationId xmlns:p14="http://schemas.microsoft.com/office/powerpoint/2010/main" val="116311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Individual Card Strength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3966915729"/>
                  </p:ext>
                </p:extLst>
              </p:nvPr>
            </p:nvGraphicFramePr>
            <p:xfrm>
              <a:off x="1765738" y="1690688"/>
              <a:ext cx="8639503" cy="4211177"/>
            </p:xfrm>
            <a:graphic>
              <a:graphicData uri="http://schemas.openxmlformats.org/drawingml/2006/table">
                <a:tbl>
                  <a:tblPr firstRow="1" bandRow="1">
                    <a:tableStyleId>{5C22544A-7EE6-4342-B048-85BDC9FD1C3A}</a:tableStyleId>
                  </a:tblPr>
                  <a:tblGrid>
                    <a:gridCol w="1240221">
                      <a:extLst>
                        <a:ext uri="{9D8B030D-6E8A-4147-A177-3AD203B41FA5}">
                          <a16:colId xmlns:a16="http://schemas.microsoft.com/office/drawing/2014/main" val="2900614783"/>
                        </a:ext>
                      </a:extLst>
                    </a:gridCol>
                    <a:gridCol w="1964098">
                      <a:extLst>
                        <a:ext uri="{9D8B030D-6E8A-4147-A177-3AD203B41FA5}">
                          <a16:colId xmlns:a16="http://schemas.microsoft.com/office/drawing/2014/main" val="3013778250"/>
                        </a:ext>
                      </a:extLst>
                    </a:gridCol>
                    <a:gridCol w="2230843">
                      <a:extLst>
                        <a:ext uri="{9D8B030D-6E8A-4147-A177-3AD203B41FA5}">
                          <a16:colId xmlns:a16="http://schemas.microsoft.com/office/drawing/2014/main" val="3443406315"/>
                        </a:ext>
                      </a:extLst>
                    </a:gridCol>
                    <a:gridCol w="1277620">
                      <a:extLst>
                        <a:ext uri="{9D8B030D-6E8A-4147-A177-3AD203B41FA5}">
                          <a16:colId xmlns:a16="http://schemas.microsoft.com/office/drawing/2014/main" val="534721396"/>
                        </a:ext>
                      </a:extLst>
                    </a:gridCol>
                    <a:gridCol w="208280">
                      <a:extLst>
                        <a:ext uri="{9D8B030D-6E8A-4147-A177-3AD203B41FA5}">
                          <a16:colId xmlns:a16="http://schemas.microsoft.com/office/drawing/2014/main" val="3317424169"/>
                        </a:ext>
                      </a:extLst>
                    </a:gridCol>
                    <a:gridCol w="1718441">
                      <a:extLst>
                        <a:ext uri="{9D8B030D-6E8A-4147-A177-3AD203B41FA5}">
                          <a16:colId xmlns:a16="http://schemas.microsoft.com/office/drawing/2014/main" val="778252328"/>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𝐻</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#parameters: 5</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𝐻</m:t>
                                </m:r>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rgbClr val="FF0000"/>
                                                </a:solidFill>
                                                <a:latin typeface="Cambria Math" panose="02040503050406030204" pitchFamily="18" charset="0"/>
                                              </a:rPr>
                                            </m:ctrlPr>
                                          </m:sSupPr>
                                          <m:e>
                                            <m:r>
                                              <a:rPr lang="en-US" altLang="zh-TW" b="0" i="1" smtClean="0">
                                                <a:solidFill>
                                                  <a:srgbClr val="FF0000"/>
                                                </a:solidFill>
                                                <a:latin typeface="Cambria Math" panose="02040503050406030204" pitchFamily="18" charset="0"/>
                                              </a:rPr>
                                              <m:t>𝑀</m:t>
                                            </m:r>
                                          </m:e>
                                          <m:sup>
                                            <m:r>
                                              <a:rPr lang="en-US" altLang="zh-TW" b="0" i="1" smtClean="0">
                                                <a:solidFill>
                                                  <a:srgbClr val="FF0000"/>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e>
                                    </m:nary>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956999">
                    <a:tc rowSpan="3"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2~8</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𝐻</m:t>
                                  </m:r>
                                </m:sup>
                              </m:sSup>
                              <m:r>
                                <a:rPr lang="en-US" altLang="zh-TW" b="0" i="1" smtClean="0">
                                  <a:solidFill>
                                    <a:schemeClr val="tx1"/>
                                  </a:solidFill>
                                  <a:latin typeface="Cambria Math" panose="02040503050406030204" pitchFamily="18" charset="0"/>
                                  <a:cs typeface="Times New Roman" panose="02020603050405020304" pitchFamily="18" charset="0"/>
                                </a:rPr>
                                <m:t>[0]</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9~10</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𝐻</m:t>
                                  </m:r>
                                </m:sup>
                              </m:sSup>
                              <m:r>
                                <a:rPr lang="en-US" altLang="zh-TW" b="0" i="1" smtClean="0">
                                  <a:solidFill>
                                    <a:schemeClr val="tx1"/>
                                  </a:solidFill>
                                  <a:latin typeface="Cambria Math" panose="02040503050406030204" pitchFamily="18" charset="0"/>
                                  <a:cs typeface="Times New Roman" panose="02020603050405020304" pitchFamily="18" charset="0"/>
                                </a:rPr>
                                <m:t>[1]</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J</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𝐻</m:t>
                                  </m:r>
                                </m:sup>
                              </m:sSup>
                              <m:r>
                                <a:rPr lang="en-US" altLang="zh-TW" b="0" i="1" smtClean="0">
                                  <a:solidFill>
                                    <a:schemeClr val="tx1"/>
                                  </a:solidFill>
                                  <a:latin typeface="Cambria Math" panose="02040503050406030204" pitchFamily="18" charset="0"/>
                                  <a:cs typeface="Times New Roman" panose="02020603050405020304" pitchFamily="18" charset="0"/>
                                </a:rPr>
                                <m:t>[2]</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Q</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𝐻</m:t>
                                  </m:r>
                                </m:sup>
                              </m:sSup>
                              <m:r>
                                <a:rPr lang="en-US" altLang="zh-TW" b="0" i="1" smtClean="0">
                                  <a:solidFill>
                                    <a:schemeClr val="tx1"/>
                                  </a:solidFill>
                                  <a:latin typeface="Cambria Math" panose="02040503050406030204" pitchFamily="18" charset="0"/>
                                  <a:cs typeface="Times New Roman" panose="02020603050405020304" pitchFamily="18" charset="0"/>
                                </a:rPr>
                                <m:t>[3]</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K =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𝐻</m:t>
                                  </m:r>
                                </m:sup>
                              </m:sSup>
                              <m:r>
                                <a:rPr lang="en-US" altLang="zh-TW" b="0" i="1" smtClean="0">
                                  <a:solidFill>
                                    <a:schemeClr val="tx1"/>
                                  </a:solidFill>
                                  <a:latin typeface="Cambria Math" panose="02040503050406030204" pitchFamily="18" charset="0"/>
                                  <a:cs typeface="Times New Roman" panose="02020603050405020304" pitchFamily="18" charset="0"/>
                                </a:rPr>
                                <m:t>[4]</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A = 4</a:t>
                          </a:r>
                        </a:p>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𝐻</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=14</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3966915729"/>
                  </p:ext>
                </p:extLst>
              </p:nvPr>
            </p:nvGraphicFramePr>
            <p:xfrm>
              <a:off x="1765738" y="1690688"/>
              <a:ext cx="8639503" cy="4211177"/>
            </p:xfrm>
            <a:graphic>
              <a:graphicData uri="http://schemas.openxmlformats.org/drawingml/2006/table">
                <a:tbl>
                  <a:tblPr firstRow="1" bandRow="1">
                    <a:tableStyleId>{5C22544A-7EE6-4342-B048-85BDC9FD1C3A}</a:tableStyleId>
                  </a:tblPr>
                  <a:tblGrid>
                    <a:gridCol w="1240221">
                      <a:extLst>
                        <a:ext uri="{9D8B030D-6E8A-4147-A177-3AD203B41FA5}">
                          <a16:colId xmlns:a16="http://schemas.microsoft.com/office/drawing/2014/main" val="2900614783"/>
                        </a:ext>
                      </a:extLst>
                    </a:gridCol>
                    <a:gridCol w="1964098">
                      <a:extLst>
                        <a:ext uri="{9D8B030D-6E8A-4147-A177-3AD203B41FA5}">
                          <a16:colId xmlns:a16="http://schemas.microsoft.com/office/drawing/2014/main" val="3013778250"/>
                        </a:ext>
                      </a:extLst>
                    </a:gridCol>
                    <a:gridCol w="2230843">
                      <a:extLst>
                        <a:ext uri="{9D8B030D-6E8A-4147-A177-3AD203B41FA5}">
                          <a16:colId xmlns:a16="http://schemas.microsoft.com/office/drawing/2014/main" val="3443406315"/>
                        </a:ext>
                      </a:extLst>
                    </a:gridCol>
                    <a:gridCol w="1277620">
                      <a:extLst>
                        <a:ext uri="{9D8B030D-6E8A-4147-A177-3AD203B41FA5}">
                          <a16:colId xmlns:a16="http://schemas.microsoft.com/office/drawing/2014/main" val="534721396"/>
                        </a:ext>
                      </a:extLst>
                    </a:gridCol>
                    <a:gridCol w="208280">
                      <a:extLst>
                        <a:ext uri="{9D8B030D-6E8A-4147-A177-3AD203B41FA5}">
                          <a16:colId xmlns:a16="http://schemas.microsoft.com/office/drawing/2014/main" val="3317424169"/>
                        </a:ext>
                      </a:extLst>
                    </a:gridCol>
                    <a:gridCol w="1718441">
                      <a:extLst>
                        <a:ext uri="{9D8B030D-6E8A-4147-A177-3AD203B41FA5}">
                          <a16:colId xmlns:a16="http://schemas.microsoft.com/office/drawing/2014/main" val="778252328"/>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20" t="-258621" r="-594898" b="-1048276"/>
                          </a:stretch>
                        </a:blipFill>
                      </a:tcPr>
                    </a:tc>
                    <a:tc>
                      <a:txBody>
                        <a:bodyPr/>
                        <a:lstStyle/>
                        <a:p>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#parameters: 5</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endParaRPr lang="zh-TW"/>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346" t="-72115" b="-220192"/>
                          </a:stretch>
                        </a:blipFill>
                      </a:tcPr>
                    </a:tc>
                    <a:tc rowSpan="2" hMerge="1">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956999">
                    <a:tc rowSpan="3" gridSpan="2">
                      <a:txBody>
                        <a:bodyPr/>
                        <a:lstStyle/>
                        <a:p>
                          <a:endParaRPr lang="zh-TW"/>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95" t="-34323" r="-169170" b="-330"/>
                          </a:stretch>
                        </a:blip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05185" t="-142063" b="-81746"/>
                          </a:stretch>
                        </a:blip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9">
                <a:extLst>
                  <a:ext uri="{FF2B5EF4-FFF2-40B4-BE49-F238E27FC236}">
                    <a16:creationId xmlns:a16="http://schemas.microsoft.com/office/drawing/2014/main" id="{E07B5CFB-52FD-2CCF-F8B0-B41E27A2BE17}"/>
                  </a:ext>
                </a:extLst>
              </p:cNvPr>
              <p:cNvGraphicFramePr>
                <a:graphicFrameLocks noGrp="1"/>
              </p:cNvGraphicFramePr>
              <p:nvPr>
                <p:extLst>
                  <p:ext uri="{D42A27DB-BD31-4B8C-83A1-F6EECF244321}">
                    <p14:modId xmlns:p14="http://schemas.microsoft.com/office/powerpoint/2010/main" val="410353443"/>
                  </p:ext>
                </p:extLst>
              </p:nvPr>
            </p:nvGraphicFramePr>
            <p:xfrm>
              <a:off x="2032000" y="5167312"/>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875205383"/>
                        </a:ext>
                      </a:extLst>
                    </a:gridCol>
                    <a:gridCol w="1625600">
                      <a:extLst>
                        <a:ext uri="{9D8B030D-6E8A-4147-A177-3AD203B41FA5}">
                          <a16:colId xmlns:a16="http://schemas.microsoft.com/office/drawing/2014/main" val="3806261155"/>
                        </a:ext>
                      </a:extLst>
                    </a:gridCol>
                    <a:gridCol w="1625600">
                      <a:extLst>
                        <a:ext uri="{9D8B030D-6E8A-4147-A177-3AD203B41FA5}">
                          <a16:colId xmlns:a16="http://schemas.microsoft.com/office/drawing/2014/main" val="339709873"/>
                        </a:ext>
                      </a:extLst>
                    </a:gridCol>
                    <a:gridCol w="1625600">
                      <a:extLst>
                        <a:ext uri="{9D8B030D-6E8A-4147-A177-3AD203B41FA5}">
                          <a16:colId xmlns:a16="http://schemas.microsoft.com/office/drawing/2014/main" val="1634282937"/>
                        </a:ext>
                      </a:extLst>
                    </a:gridCol>
                    <a:gridCol w="1625600">
                      <a:extLst>
                        <a:ext uri="{9D8B030D-6E8A-4147-A177-3AD203B41FA5}">
                          <a16:colId xmlns:a16="http://schemas.microsoft.com/office/drawing/2014/main" val="3527124469"/>
                        </a:ext>
                      </a:extLst>
                    </a:gridCol>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[0]</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[1]</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[2]</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[3]</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[4]</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bl>
              </a:graphicData>
            </a:graphic>
          </p:graphicFrame>
        </mc:Choice>
        <mc:Fallback xmlns="">
          <p:graphicFrame>
            <p:nvGraphicFramePr>
              <p:cNvPr id="9" name="表格 9">
                <a:extLst>
                  <a:ext uri="{FF2B5EF4-FFF2-40B4-BE49-F238E27FC236}">
                    <a16:creationId xmlns:a16="http://schemas.microsoft.com/office/drawing/2014/main" id="{E07B5CFB-52FD-2CCF-F8B0-B41E27A2BE17}"/>
                  </a:ext>
                </a:extLst>
              </p:cNvPr>
              <p:cNvGraphicFramePr>
                <a:graphicFrameLocks noGrp="1"/>
              </p:cNvGraphicFramePr>
              <p:nvPr>
                <p:extLst>
                  <p:ext uri="{D42A27DB-BD31-4B8C-83A1-F6EECF244321}">
                    <p14:modId xmlns:p14="http://schemas.microsoft.com/office/powerpoint/2010/main" val="410353443"/>
                  </p:ext>
                </p:extLst>
              </p:nvPr>
            </p:nvGraphicFramePr>
            <p:xfrm>
              <a:off x="2032000" y="5167312"/>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875205383"/>
                        </a:ext>
                      </a:extLst>
                    </a:gridCol>
                    <a:gridCol w="1625600">
                      <a:extLst>
                        <a:ext uri="{9D8B030D-6E8A-4147-A177-3AD203B41FA5}">
                          <a16:colId xmlns:a16="http://schemas.microsoft.com/office/drawing/2014/main" val="3806261155"/>
                        </a:ext>
                      </a:extLst>
                    </a:gridCol>
                    <a:gridCol w="1625600">
                      <a:extLst>
                        <a:ext uri="{9D8B030D-6E8A-4147-A177-3AD203B41FA5}">
                          <a16:colId xmlns:a16="http://schemas.microsoft.com/office/drawing/2014/main" val="339709873"/>
                        </a:ext>
                      </a:extLst>
                    </a:gridCol>
                    <a:gridCol w="1625600">
                      <a:extLst>
                        <a:ext uri="{9D8B030D-6E8A-4147-A177-3AD203B41FA5}">
                          <a16:colId xmlns:a16="http://schemas.microsoft.com/office/drawing/2014/main" val="1634282937"/>
                        </a:ext>
                      </a:extLst>
                    </a:gridCol>
                    <a:gridCol w="1625600">
                      <a:extLst>
                        <a:ext uri="{9D8B030D-6E8A-4147-A177-3AD203B41FA5}">
                          <a16:colId xmlns:a16="http://schemas.microsoft.com/office/drawing/2014/main" val="3527124469"/>
                        </a:ext>
                      </a:extLst>
                    </a:gridCol>
                  </a:tblGrid>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1" r="-401563" b="-1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81" r="-301563" b="-1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81" r="-201563" b="-1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81" r="-101563" b="-1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781" r="-1563" b="-120000"/>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bl>
              </a:graphicData>
            </a:graphic>
          </p:graphicFrame>
        </mc:Fallback>
      </mc:AlternateContent>
      <p:sp>
        <p:nvSpPr>
          <p:cNvPr id="3" name="投影片編號版面配置區 2">
            <a:extLst>
              <a:ext uri="{FF2B5EF4-FFF2-40B4-BE49-F238E27FC236}">
                <a16:creationId xmlns:a16="http://schemas.microsoft.com/office/drawing/2014/main" id="{FBFFFFD4-D404-8E4F-9B41-A12067BC1791}"/>
              </a:ext>
            </a:extLst>
          </p:cNvPr>
          <p:cNvSpPr>
            <a:spLocks noGrp="1"/>
          </p:cNvSpPr>
          <p:nvPr>
            <p:ph type="sldNum" sz="quarter" idx="12"/>
          </p:nvPr>
        </p:nvSpPr>
        <p:spPr/>
        <p:txBody>
          <a:bodyPr/>
          <a:lstStyle/>
          <a:p>
            <a:fld id="{9964E18F-1489-4A4A-8DD8-AC372572ADE5}" type="slidenum">
              <a:rPr kumimoji="1" lang="zh-TW" altLang="en-US" smtClean="0"/>
              <a:t>9</a:t>
            </a:fld>
            <a:endParaRPr kumimoji="1" lang="zh-TW" altLang="en-US"/>
          </a:p>
        </p:txBody>
      </p:sp>
    </p:spTree>
    <p:extLst>
      <p:ext uri="{BB962C8B-B14F-4D97-AF65-F5344CB8AC3E}">
        <p14:creationId xmlns:p14="http://schemas.microsoft.com/office/powerpoint/2010/main" val="1740605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Individual Card Strength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3629624654"/>
                  </p:ext>
                </p:extLst>
              </p:nvPr>
            </p:nvGraphicFramePr>
            <p:xfrm>
              <a:off x="618332" y="1722668"/>
              <a:ext cx="10735467" cy="3862912"/>
            </p:xfrm>
            <a:graphic>
              <a:graphicData uri="http://schemas.openxmlformats.org/drawingml/2006/table">
                <a:tbl>
                  <a:tblPr firstRow="1" bandRow="1">
                    <a:tableStyleId>{5C22544A-7EE6-4342-B048-85BDC9FD1C3A}</a:tableStyleId>
                  </a:tblPr>
                  <a:tblGrid>
                    <a:gridCol w="1237101">
                      <a:extLst>
                        <a:ext uri="{9D8B030D-6E8A-4147-A177-3AD203B41FA5}">
                          <a16:colId xmlns:a16="http://schemas.microsoft.com/office/drawing/2014/main" val="2900614783"/>
                        </a:ext>
                      </a:extLst>
                    </a:gridCol>
                    <a:gridCol w="659167">
                      <a:extLst>
                        <a:ext uri="{9D8B030D-6E8A-4147-A177-3AD203B41FA5}">
                          <a16:colId xmlns:a16="http://schemas.microsoft.com/office/drawing/2014/main" val="3013778250"/>
                        </a:ext>
                      </a:extLst>
                    </a:gridCol>
                    <a:gridCol w="1829194">
                      <a:extLst>
                        <a:ext uri="{9D8B030D-6E8A-4147-A177-3AD203B41FA5}">
                          <a16:colId xmlns:a16="http://schemas.microsoft.com/office/drawing/2014/main" val="4212433692"/>
                        </a:ext>
                      </a:extLst>
                    </a:gridCol>
                    <a:gridCol w="1652127">
                      <a:extLst>
                        <a:ext uri="{9D8B030D-6E8A-4147-A177-3AD203B41FA5}">
                          <a16:colId xmlns:a16="http://schemas.microsoft.com/office/drawing/2014/main" val="3443406315"/>
                        </a:ext>
                      </a:extLst>
                    </a:gridCol>
                    <a:gridCol w="1122480">
                      <a:extLst>
                        <a:ext uri="{9D8B030D-6E8A-4147-A177-3AD203B41FA5}">
                          <a16:colId xmlns:a16="http://schemas.microsoft.com/office/drawing/2014/main" val="3317424169"/>
                        </a:ext>
                      </a:extLst>
                    </a:gridCol>
                    <a:gridCol w="2854371">
                      <a:extLst>
                        <a:ext uri="{9D8B030D-6E8A-4147-A177-3AD203B41FA5}">
                          <a16:colId xmlns:a16="http://schemas.microsoft.com/office/drawing/2014/main" val="1162832883"/>
                        </a:ext>
                      </a:extLst>
                    </a:gridCol>
                    <a:gridCol w="1381027">
                      <a:extLst>
                        <a:ext uri="{9D8B030D-6E8A-4147-A177-3AD203B41FA5}">
                          <a16:colId xmlns:a16="http://schemas.microsoft.com/office/drawing/2014/main" val="2490149114"/>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𝐻𝑇</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11</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tc>
                    <a:tc rowSpan="2" gridSpan="3">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𝐻𝑇</m:t>
                                </m:r>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m:rPr>
                                        <m:brk m:alnAt="7"/>
                                      </m:rP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𝑀</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𝐻𝑇</m:t>
                                                    </m:r>
                                                  </m:sup>
                                                </m:sSub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𝑀</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up>
                                                    <m:r>
                                                      <a:rPr lang="en-US" altLang="zh-TW" b="0" i="1" smtClean="0">
                                                        <a:solidFill>
                                                          <a:srgbClr val="FF0000"/>
                                                        </a:solidFill>
                                                        <a:latin typeface="Cambria Math" panose="02040503050406030204" pitchFamily="18" charset="0"/>
                                                      </a:rPr>
                                                      <m:t>𝐻𝑇</m:t>
                                                    </m:r>
                                                  </m:sup>
                                                </m:sSub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qArr>
                                          </m:e>
                                        </m:d>
                                      </m:e>
                                    </m:nary>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73930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Trump</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Not trump</a:t>
                          </a:r>
                        </a:p>
                      </a:txBody>
                      <a:tcPr anchor="ctr">
                        <a:lnL w="12700" cap="flat" cmpd="sng" algn="ctr">
                          <a:solidFill>
                            <a:schemeClr val="tx1"/>
                          </a:solid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24981430"/>
                      </a:ext>
                    </a:extLst>
                  </a:tr>
                  <a:tr h="1187056">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2~8</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[0]</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9~10</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[1]</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J</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[2]</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Q</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[3]</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K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[4]</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A = 4</a:t>
                          </a:r>
                        </a:p>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2~8</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[0]</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9~10</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[1]</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J</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[2]</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Q</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[3]</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K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[4]</m:t>
                              </m:r>
                            </m:oMath>
                          </a14:m>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A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𝐻𝑇</m:t>
                                  </m:r>
                                </m:sup>
                              </m:sSubSup>
                              <m:r>
                                <a:rPr lang="en-US" altLang="zh-TW" b="0" i="1" smtClean="0">
                                  <a:solidFill>
                                    <a:schemeClr val="tx1"/>
                                  </a:solidFill>
                                  <a:latin typeface="Cambria Math" panose="02040503050406030204" pitchFamily="18" charset="0"/>
                                  <a:cs typeface="Times New Roman" panose="02020603050405020304" pitchFamily="18" charset="0"/>
                                </a:rPr>
                                <m:t>[5]</m:t>
                              </m:r>
                            </m:oMath>
                          </a14:m>
                          <a:endParaRPr lang="en-US" altLang="zh-TW"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3630334"/>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vMerge="1">
                      <a:txBody>
                        <a:bodyPr/>
                        <a:lstStyle/>
                        <a:p>
                          <a:endParaRPr lang="zh-TW" altLang="en-US"/>
                        </a:p>
                      </a:txBody>
                      <a:tcPr>
                        <a:lnT w="12700" cmpd="sng">
                          <a:noFill/>
                        </a:lnT>
                      </a:tcPr>
                    </a:tc>
                    <a:tc gridSpan="2">
                      <a:txBody>
                        <a:bodyPr/>
                        <a:lstStyle/>
                        <a:p>
                          <a:endParaRPr lang="zh-TW" altLang="en-US" b="0" dirty="0">
                            <a:solidFill>
                              <a:schemeClr val="accent1"/>
                            </a:solidFill>
                            <a:latin typeface="Times New Roman" panose="02020603050405020304" pitchFamily="18" charset="0"/>
                            <a:cs typeface="Times New Roman" panose="02020603050405020304" pitchFamily="18" charset="0"/>
                          </a:endParaRPr>
                        </a:p>
                      </a:txBody>
                      <a:tcPr>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en-US" altLang="zh-TW" b="0" dirty="0">
                            <a:solidFill>
                              <a:schemeClr val="accent6">
                                <a:lumMod val="50000"/>
                              </a:schemeClr>
                            </a:solidFill>
                            <a:latin typeface="Times New Roman" panose="02020603050405020304" pitchFamily="18" charset="0"/>
                            <a:cs typeface="Times New Roman" panose="02020603050405020304" pitchFamily="18" charset="0"/>
                          </a:endParaRPr>
                        </a:p>
                        <a:p>
                          <a:r>
                            <a:rPr lang="zh-TW" altLang="en-US" b="0" dirty="0">
                              <a:solidFill>
                                <a:schemeClr val="accent6">
                                  <a:lumMod val="75000"/>
                                </a:schemeClr>
                              </a:solidFill>
                              <a:latin typeface="Times New Roman" panose="02020603050405020304" pitchFamily="18" charset="0"/>
                              <a:cs typeface="Times New Roman" panose="02020603050405020304" pitchFamily="18" charset="0"/>
                            </a:rPr>
                            <a:t>𝐻𝑇</a:t>
                          </a:r>
                          <a:r>
                            <a:rPr lang="en-US" altLang="zh-TW" b="0" dirty="0">
                              <a:solidFill>
                                <a:schemeClr val="accent6">
                                  <a:lumMod val="75000"/>
                                </a:schemeClr>
                              </a:solidFill>
                              <a:latin typeface="Times New Roman" panose="02020603050405020304" pitchFamily="18" charset="0"/>
                              <a:cs typeface="Times New Roman" panose="02020603050405020304" pitchFamily="18" charset="0"/>
                            </a:rPr>
                            <a:t>=1+1+11+3.5=16.5</a:t>
                          </a:r>
                        </a:p>
                        <a:p>
                          <a:endParaRPr lang="en-US" altLang="zh-TW" b="0" dirty="0">
                            <a:solidFill>
                              <a:schemeClr val="accent1"/>
                            </a:solidFill>
                            <a:latin typeface="Times New Roman" panose="02020603050405020304" pitchFamily="18" charset="0"/>
                            <a:cs typeface="Times New Roman" panose="02020603050405020304" pitchFamily="18" charset="0"/>
                          </a:endParaRPr>
                        </a:p>
                      </a:txBody>
                      <a:tcPr>
                        <a:lnL w="12700" cmpd="sng">
                          <a:noFill/>
                        </a:lnL>
                        <a:lnT w="12700" cmpd="sng">
                          <a:noFill/>
                        </a:lnT>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3629624654"/>
                  </p:ext>
                </p:extLst>
              </p:nvPr>
            </p:nvGraphicFramePr>
            <p:xfrm>
              <a:off x="618332" y="1722668"/>
              <a:ext cx="10735467" cy="3862912"/>
            </p:xfrm>
            <a:graphic>
              <a:graphicData uri="http://schemas.openxmlformats.org/drawingml/2006/table">
                <a:tbl>
                  <a:tblPr firstRow="1" bandRow="1">
                    <a:tableStyleId>{5C22544A-7EE6-4342-B048-85BDC9FD1C3A}</a:tableStyleId>
                  </a:tblPr>
                  <a:tblGrid>
                    <a:gridCol w="1237101">
                      <a:extLst>
                        <a:ext uri="{9D8B030D-6E8A-4147-A177-3AD203B41FA5}">
                          <a16:colId xmlns:a16="http://schemas.microsoft.com/office/drawing/2014/main" val="2900614783"/>
                        </a:ext>
                      </a:extLst>
                    </a:gridCol>
                    <a:gridCol w="659167">
                      <a:extLst>
                        <a:ext uri="{9D8B030D-6E8A-4147-A177-3AD203B41FA5}">
                          <a16:colId xmlns:a16="http://schemas.microsoft.com/office/drawing/2014/main" val="3013778250"/>
                        </a:ext>
                      </a:extLst>
                    </a:gridCol>
                    <a:gridCol w="1829194">
                      <a:extLst>
                        <a:ext uri="{9D8B030D-6E8A-4147-A177-3AD203B41FA5}">
                          <a16:colId xmlns:a16="http://schemas.microsoft.com/office/drawing/2014/main" val="4212433692"/>
                        </a:ext>
                      </a:extLst>
                    </a:gridCol>
                    <a:gridCol w="1652127">
                      <a:extLst>
                        <a:ext uri="{9D8B030D-6E8A-4147-A177-3AD203B41FA5}">
                          <a16:colId xmlns:a16="http://schemas.microsoft.com/office/drawing/2014/main" val="3443406315"/>
                        </a:ext>
                      </a:extLst>
                    </a:gridCol>
                    <a:gridCol w="1122480">
                      <a:extLst>
                        <a:ext uri="{9D8B030D-6E8A-4147-A177-3AD203B41FA5}">
                          <a16:colId xmlns:a16="http://schemas.microsoft.com/office/drawing/2014/main" val="3317424169"/>
                        </a:ext>
                      </a:extLst>
                    </a:gridCol>
                    <a:gridCol w="2854371">
                      <a:extLst>
                        <a:ext uri="{9D8B030D-6E8A-4147-A177-3AD203B41FA5}">
                          <a16:colId xmlns:a16="http://schemas.microsoft.com/office/drawing/2014/main" val="1162832883"/>
                        </a:ext>
                      </a:extLst>
                    </a:gridCol>
                    <a:gridCol w="1381027">
                      <a:extLst>
                        <a:ext uri="{9D8B030D-6E8A-4147-A177-3AD203B41FA5}">
                          <a16:colId xmlns:a16="http://schemas.microsoft.com/office/drawing/2014/main" val="2490149114"/>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431034" r="-774227" b="-958621"/>
                          </a:stretch>
                        </a:blipFill>
                      </a:tcPr>
                    </a:tc>
                    <a:tc gridSpan="2">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11</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tc>
                    <a:tc rowSpan="2" gridSpan="3">
                      <a:txBody>
                        <a:bodyPr/>
                        <a:lstStyle/>
                        <a:p>
                          <a:endParaRPr lang="zh-TW"/>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66366" t="-143678" r="-25056" b="-252874"/>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73930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Trump</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Not trump</a:t>
                          </a:r>
                        </a:p>
                      </a:txBody>
                      <a:tcPr anchor="ctr">
                        <a:lnL w="12700" cap="flat" cmpd="sng" algn="ctr">
                          <a:solidFill>
                            <a:schemeClr val="tx1"/>
                          </a:solid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24981430"/>
                      </a:ext>
                    </a:extLst>
                  </a:tr>
                  <a:tr h="1463040">
                    <a:tc rowSpan="2" gridSpan="2">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97248" r="-469128" b="-917"/>
                          </a:stretch>
                        </a:blipFill>
                      </a:tcPr>
                    </a:tc>
                    <a:tc rowSpan="2" hMerge="1">
                      <a:txBody>
                        <a:bodyPr/>
                        <a:lstStyle/>
                        <a:p>
                          <a:endParaRPr lang="zh-TW" altLang="en-US"/>
                        </a:p>
                      </a:txBody>
                      <a:tcPr/>
                    </a:tc>
                    <a:tc rowSpan="2">
                      <a:txBody>
                        <a:bodyPr/>
                        <a:lstStyle/>
                        <a:p>
                          <a:endParaRPr lang="zh-TW"/>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102759" t="-97248" r="-382069" b="-917"/>
                          </a:stretch>
                        </a:blipFill>
                      </a:tcPr>
                    </a:tc>
                    <a:tc>
                      <a:txBody>
                        <a:bodyPr/>
                        <a:lstStyle/>
                        <a:p>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3630334"/>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vMerge="1">
                      <a:txBody>
                        <a:bodyPr/>
                        <a:lstStyle/>
                        <a:p>
                          <a:endParaRPr lang="zh-TW" altLang="en-US"/>
                        </a:p>
                      </a:txBody>
                      <a:tcPr>
                        <a:lnT w="12700" cmpd="sng">
                          <a:noFill/>
                        </a:lnT>
                      </a:tcPr>
                    </a:tc>
                    <a:tc gridSpan="2">
                      <a:txBody>
                        <a:bodyPr/>
                        <a:lstStyle/>
                        <a:p>
                          <a:endParaRPr lang="zh-TW" altLang="en-US" b="0" dirty="0">
                            <a:solidFill>
                              <a:schemeClr val="accent1"/>
                            </a:solidFill>
                            <a:latin typeface="Times New Roman" panose="02020603050405020304" pitchFamily="18" charset="0"/>
                            <a:cs typeface="Times New Roman" panose="02020603050405020304" pitchFamily="18" charset="0"/>
                          </a:endParaRPr>
                        </a:p>
                      </a:txBody>
                      <a:tcPr>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en-US" altLang="zh-TW" b="0" dirty="0">
                            <a:solidFill>
                              <a:schemeClr val="accent6">
                                <a:lumMod val="50000"/>
                              </a:schemeClr>
                            </a:solidFill>
                            <a:latin typeface="Times New Roman" panose="02020603050405020304" pitchFamily="18" charset="0"/>
                            <a:cs typeface="Times New Roman" panose="02020603050405020304" pitchFamily="18" charset="0"/>
                          </a:endParaRPr>
                        </a:p>
                        <a:p>
                          <a:r>
                            <a:rPr lang="zh-TW" altLang="en-US" b="0" dirty="0">
                              <a:solidFill>
                                <a:schemeClr val="accent6">
                                  <a:lumMod val="75000"/>
                                </a:schemeClr>
                              </a:solidFill>
                              <a:latin typeface="Times New Roman" panose="02020603050405020304" pitchFamily="18" charset="0"/>
                              <a:cs typeface="Times New Roman" panose="02020603050405020304" pitchFamily="18" charset="0"/>
                            </a:rPr>
                            <a:t>𝐻𝑇</a:t>
                          </a:r>
                          <a:r>
                            <a:rPr lang="en-US" altLang="zh-TW" b="0" dirty="0">
                              <a:solidFill>
                                <a:schemeClr val="accent6">
                                  <a:lumMod val="75000"/>
                                </a:schemeClr>
                              </a:solidFill>
                              <a:latin typeface="Times New Roman" panose="02020603050405020304" pitchFamily="18" charset="0"/>
                              <a:cs typeface="Times New Roman" panose="02020603050405020304" pitchFamily="18" charset="0"/>
                            </a:rPr>
                            <a:t>=1+1+11+3.5=16.5</a:t>
                          </a:r>
                        </a:p>
                        <a:p>
                          <a:endParaRPr lang="en-US" altLang="zh-TW" b="0" dirty="0">
                            <a:solidFill>
                              <a:schemeClr val="accent1"/>
                            </a:solidFill>
                            <a:latin typeface="Times New Roman" panose="02020603050405020304" pitchFamily="18" charset="0"/>
                            <a:cs typeface="Times New Roman" panose="02020603050405020304" pitchFamily="18" charset="0"/>
                          </a:endParaRPr>
                        </a:p>
                      </a:txBody>
                      <a:tcPr>
                        <a:lnL w="12700" cmpd="sng">
                          <a:noFill/>
                        </a:lnL>
                        <a:lnT w="12700" cmpd="sng">
                          <a:noFill/>
                        </a:lnT>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9">
                <a:extLst>
                  <a:ext uri="{FF2B5EF4-FFF2-40B4-BE49-F238E27FC236}">
                    <a16:creationId xmlns:a16="http://schemas.microsoft.com/office/drawing/2014/main" id="{E07B5CFB-52FD-2CCF-F8B0-B41E27A2BE17}"/>
                  </a:ext>
                </a:extLst>
              </p:cNvPr>
              <p:cNvGraphicFramePr>
                <a:graphicFrameLocks noGrp="1"/>
              </p:cNvGraphicFramePr>
              <p:nvPr>
                <p:extLst>
                  <p:ext uri="{D42A27DB-BD31-4B8C-83A1-F6EECF244321}">
                    <p14:modId xmlns:p14="http://schemas.microsoft.com/office/powerpoint/2010/main" val="3763929544"/>
                  </p:ext>
                </p:extLst>
              </p:nvPr>
            </p:nvGraphicFramePr>
            <p:xfrm>
              <a:off x="3847306" y="5114640"/>
              <a:ext cx="7726362" cy="1005840"/>
            </p:xfrm>
            <a:graphic>
              <a:graphicData uri="http://schemas.openxmlformats.org/drawingml/2006/table">
                <a:tbl>
                  <a:tblPr firstRow="1" bandRow="1">
                    <a:tableStyleId>{5C22544A-7EE6-4342-B048-85BDC9FD1C3A}</a:tableStyleId>
                  </a:tblPr>
                  <a:tblGrid>
                    <a:gridCol w="1103766">
                      <a:extLst>
                        <a:ext uri="{9D8B030D-6E8A-4147-A177-3AD203B41FA5}">
                          <a16:colId xmlns:a16="http://schemas.microsoft.com/office/drawing/2014/main" val="3954870805"/>
                        </a:ext>
                      </a:extLst>
                    </a:gridCol>
                    <a:gridCol w="1103766">
                      <a:extLst>
                        <a:ext uri="{9D8B030D-6E8A-4147-A177-3AD203B41FA5}">
                          <a16:colId xmlns:a16="http://schemas.microsoft.com/office/drawing/2014/main" val="875205383"/>
                        </a:ext>
                      </a:extLst>
                    </a:gridCol>
                    <a:gridCol w="1103766">
                      <a:extLst>
                        <a:ext uri="{9D8B030D-6E8A-4147-A177-3AD203B41FA5}">
                          <a16:colId xmlns:a16="http://schemas.microsoft.com/office/drawing/2014/main" val="3806261155"/>
                        </a:ext>
                      </a:extLst>
                    </a:gridCol>
                    <a:gridCol w="1103766">
                      <a:extLst>
                        <a:ext uri="{9D8B030D-6E8A-4147-A177-3AD203B41FA5}">
                          <a16:colId xmlns:a16="http://schemas.microsoft.com/office/drawing/2014/main" val="339709873"/>
                        </a:ext>
                      </a:extLst>
                    </a:gridCol>
                    <a:gridCol w="1103766">
                      <a:extLst>
                        <a:ext uri="{9D8B030D-6E8A-4147-A177-3AD203B41FA5}">
                          <a16:colId xmlns:a16="http://schemas.microsoft.com/office/drawing/2014/main" val="1634282937"/>
                        </a:ext>
                      </a:extLst>
                    </a:gridCol>
                    <a:gridCol w="1103766">
                      <a:extLst>
                        <a:ext uri="{9D8B030D-6E8A-4147-A177-3AD203B41FA5}">
                          <a16:colId xmlns:a16="http://schemas.microsoft.com/office/drawing/2014/main" val="3527124469"/>
                        </a:ext>
                      </a:extLst>
                    </a:gridCol>
                    <a:gridCol w="1103766">
                      <a:extLst>
                        <a:ext uri="{9D8B030D-6E8A-4147-A177-3AD203B41FA5}">
                          <a16:colId xmlns:a16="http://schemas.microsoft.com/office/drawing/2014/main" val="2454144911"/>
                        </a:ext>
                      </a:extLst>
                    </a:gridCol>
                  </a:tblGrid>
                  <a:tr h="257059">
                    <a:tc>
                      <a:txBody>
                        <a:bodyPr/>
                        <a:lstStyle/>
                        <a:p>
                          <a:pPr algn="ct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600" b="0" i="1" smtClean="0">
                                        <a:solidFill>
                                          <a:schemeClr val="tx1"/>
                                        </a:solidFill>
                                        <a:latin typeface="Cambria Math" panose="02040503050406030204" pitchFamily="18" charset="0"/>
                                      </a:rPr>
                                    </m:ctrlPr>
                                  </m:sSupPr>
                                  <m:e>
                                    <m:r>
                                      <a:rPr lang="en-US" altLang="zh-TW" sz="1600" b="0" i="1" smtClean="0">
                                        <a:solidFill>
                                          <a:schemeClr val="tx1"/>
                                        </a:solidFill>
                                        <a:latin typeface="Cambria Math" panose="02040503050406030204" pitchFamily="18" charset="0"/>
                                      </a:rPr>
                                      <m:t>𝑀</m:t>
                                    </m:r>
                                  </m:e>
                                  <m:sup>
                                    <m:r>
                                      <a:rPr lang="en-US" altLang="zh-TW" sz="1600" b="0" i="1" smtClean="0">
                                        <a:solidFill>
                                          <a:schemeClr val="tx1"/>
                                        </a:solidFill>
                                        <a:latin typeface="Cambria Math" panose="02040503050406030204" pitchFamily="18" charset="0"/>
                                      </a:rPr>
                                      <m:t>𝐻𝑇</m:t>
                                    </m:r>
                                  </m:sup>
                                </m:sSup>
                                <m:r>
                                  <a:rPr lang="en-US" altLang="zh-TW" sz="1600" b="0" i="1" smtClean="0">
                                    <a:solidFill>
                                      <a:schemeClr val="tx1"/>
                                    </a:solidFill>
                                    <a:latin typeface="Cambria Math" panose="02040503050406030204" pitchFamily="18" charset="0"/>
                                  </a:rPr>
                                  <m:t>[0]</m:t>
                                </m:r>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600" b="0" i="1" smtClean="0">
                                        <a:solidFill>
                                          <a:schemeClr val="tx1"/>
                                        </a:solidFill>
                                        <a:latin typeface="Cambria Math" panose="02040503050406030204" pitchFamily="18" charset="0"/>
                                      </a:rPr>
                                    </m:ctrlPr>
                                  </m:sSupPr>
                                  <m:e>
                                    <m:r>
                                      <a:rPr lang="en-US" altLang="zh-TW" sz="1600" b="0" i="1" smtClean="0">
                                        <a:solidFill>
                                          <a:schemeClr val="tx1"/>
                                        </a:solidFill>
                                        <a:latin typeface="Cambria Math" panose="02040503050406030204" pitchFamily="18" charset="0"/>
                                      </a:rPr>
                                      <m:t>𝑀</m:t>
                                    </m:r>
                                  </m:e>
                                  <m:sup>
                                    <m:r>
                                      <a:rPr lang="en-US" altLang="zh-TW" sz="1600" b="0" i="1" smtClean="0">
                                        <a:solidFill>
                                          <a:schemeClr val="tx1"/>
                                        </a:solidFill>
                                        <a:latin typeface="Cambria Math" panose="02040503050406030204" pitchFamily="18" charset="0"/>
                                      </a:rPr>
                                      <m:t>𝐻𝑇</m:t>
                                    </m:r>
                                  </m:sup>
                                </m:sSup>
                                <m:r>
                                  <a:rPr lang="en-US" altLang="zh-TW" sz="1600" b="0" i="1" smtClean="0">
                                    <a:solidFill>
                                      <a:schemeClr val="tx1"/>
                                    </a:solidFill>
                                    <a:latin typeface="Cambria Math" panose="02040503050406030204" pitchFamily="18" charset="0"/>
                                  </a:rPr>
                                  <m:t>[1]</m:t>
                                </m:r>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600" b="0" i="1" smtClean="0">
                                        <a:solidFill>
                                          <a:schemeClr val="tx1"/>
                                        </a:solidFill>
                                        <a:latin typeface="Cambria Math" panose="02040503050406030204" pitchFamily="18" charset="0"/>
                                      </a:rPr>
                                    </m:ctrlPr>
                                  </m:sSupPr>
                                  <m:e>
                                    <m:r>
                                      <a:rPr lang="en-US" altLang="zh-TW" sz="1600" b="0" i="1" smtClean="0">
                                        <a:solidFill>
                                          <a:schemeClr val="tx1"/>
                                        </a:solidFill>
                                        <a:latin typeface="Cambria Math" panose="02040503050406030204" pitchFamily="18" charset="0"/>
                                      </a:rPr>
                                      <m:t>𝑀</m:t>
                                    </m:r>
                                  </m:e>
                                  <m:sup>
                                    <m:r>
                                      <a:rPr lang="en-US" altLang="zh-TW" sz="1600" b="0" i="1" smtClean="0">
                                        <a:solidFill>
                                          <a:schemeClr val="tx1"/>
                                        </a:solidFill>
                                        <a:latin typeface="Cambria Math" panose="02040503050406030204" pitchFamily="18" charset="0"/>
                                      </a:rPr>
                                      <m:t>𝐻𝑇</m:t>
                                    </m:r>
                                  </m:sup>
                                </m:sSup>
                                <m:r>
                                  <a:rPr lang="en-US" altLang="zh-TW" sz="1600" b="0" i="1" smtClean="0">
                                    <a:solidFill>
                                      <a:schemeClr val="tx1"/>
                                    </a:solidFill>
                                    <a:latin typeface="Cambria Math" panose="02040503050406030204" pitchFamily="18" charset="0"/>
                                  </a:rPr>
                                  <m:t>[2]</m:t>
                                </m:r>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600" b="0" i="1" smtClean="0">
                                        <a:solidFill>
                                          <a:schemeClr val="tx1"/>
                                        </a:solidFill>
                                        <a:latin typeface="Cambria Math" panose="02040503050406030204" pitchFamily="18" charset="0"/>
                                      </a:rPr>
                                    </m:ctrlPr>
                                  </m:sSupPr>
                                  <m:e>
                                    <m:r>
                                      <a:rPr lang="en-US" altLang="zh-TW" sz="1600" b="0" i="1" smtClean="0">
                                        <a:solidFill>
                                          <a:schemeClr val="tx1"/>
                                        </a:solidFill>
                                        <a:latin typeface="Cambria Math" panose="02040503050406030204" pitchFamily="18" charset="0"/>
                                      </a:rPr>
                                      <m:t>𝑀</m:t>
                                    </m:r>
                                  </m:e>
                                  <m:sup>
                                    <m:r>
                                      <a:rPr lang="en-US" altLang="zh-TW" sz="1600" b="0" i="1" smtClean="0">
                                        <a:solidFill>
                                          <a:schemeClr val="tx1"/>
                                        </a:solidFill>
                                        <a:latin typeface="Cambria Math" panose="02040503050406030204" pitchFamily="18" charset="0"/>
                                      </a:rPr>
                                      <m:t>𝐻𝑇</m:t>
                                    </m:r>
                                  </m:sup>
                                </m:sSup>
                                <m:r>
                                  <a:rPr lang="en-US" altLang="zh-TW" sz="1600" b="0" i="1" smtClean="0">
                                    <a:solidFill>
                                      <a:schemeClr val="tx1"/>
                                    </a:solidFill>
                                    <a:latin typeface="Cambria Math" panose="02040503050406030204" pitchFamily="18" charset="0"/>
                                  </a:rPr>
                                  <m:t>[3]</m:t>
                                </m:r>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600" b="0" i="1" smtClean="0">
                                        <a:solidFill>
                                          <a:schemeClr val="tx1"/>
                                        </a:solidFill>
                                        <a:latin typeface="Cambria Math" panose="02040503050406030204" pitchFamily="18" charset="0"/>
                                      </a:rPr>
                                    </m:ctrlPr>
                                  </m:sSupPr>
                                  <m:e>
                                    <m:r>
                                      <a:rPr lang="en-US" altLang="zh-TW" sz="1600" b="0" i="1" smtClean="0">
                                        <a:solidFill>
                                          <a:schemeClr val="tx1"/>
                                        </a:solidFill>
                                        <a:latin typeface="Cambria Math" panose="02040503050406030204" pitchFamily="18" charset="0"/>
                                      </a:rPr>
                                      <m:t>𝑀</m:t>
                                    </m:r>
                                  </m:e>
                                  <m:sup>
                                    <m:r>
                                      <a:rPr lang="en-US" altLang="zh-TW" sz="1600" b="0" i="1" smtClean="0">
                                        <a:solidFill>
                                          <a:schemeClr val="tx1"/>
                                        </a:solidFill>
                                        <a:latin typeface="Cambria Math" panose="02040503050406030204" pitchFamily="18" charset="0"/>
                                      </a:rPr>
                                      <m:t>𝐻𝑇</m:t>
                                    </m:r>
                                  </m:sup>
                                </m:sSup>
                                <m:r>
                                  <a:rPr lang="en-US" altLang="zh-TW" sz="1600" b="0" i="1" smtClean="0">
                                    <a:solidFill>
                                      <a:schemeClr val="tx1"/>
                                    </a:solidFill>
                                    <a:latin typeface="Cambria Math" panose="02040503050406030204" pitchFamily="18" charset="0"/>
                                  </a:rPr>
                                  <m:t>[4]</m:t>
                                </m:r>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600" b="0" i="1" smtClean="0">
                                        <a:solidFill>
                                          <a:schemeClr val="tx1"/>
                                        </a:solidFill>
                                        <a:latin typeface="Cambria Math" panose="02040503050406030204" pitchFamily="18" charset="0"/>
                                      </a:rPr>
                                    </m:ctrlPr>
                                  </m:sSupPr>
                                  <m:e>
                                    <m:r>
                                      <a:rPr lang="en-US" altLang="zh-TW" sz="1600" b="0" i="1" smtClean="0">
                                        <a:solidFill>
                                          <a:schemeClr val="tx1"/>
                                        </a:solidFill>
                                        <a:latin typeface="Cambria Math" panose="02040503050406030204" pitchFamily="18" charset="0"/>
                                      </a:rPr>
                                      <m:t>𝑀</m:t>
                                    </m:r>
                                  </m:e>
                                  <m:sup>
                                    <m:r>
                                      <a:rPr lang="en-US" altLang="zh-TW" sz="1600" b="0" i="1" smtClean="0">
                                        <a:solidFill>
                                          <a:schemeClr val="tx1"/>
                                        </a:solidFill>
                                        <a:latin typeface="Cambria Math" panose="02040503050406030204" pitchFamily="18" charset="0"/>
                                      </a:rPr>
                                      <m:t>𝐻𝑇</m:t>
                                    </m:r>
                                  </m:sup>
                                </m:sSup>
                                <m:r>
                                  <a:rPr lang="en-US" altLang="zh-TW" sz="1600" b="0" i="1" smtClean="0">
                                    <a:solidFill>
                                      <a:schemeClr val="tx1"/>
                                    </a:solidFill>
                                    <a:latin typeface="Cambria Math" panose="02040503050406030204" pitchFamily="18" charset="0"/>
                                  </a:rPr>
                                  <m:t>[5]</m:t>
                                </m:r>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257059">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Trump</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3795883818"/>
                      </a:ext>
                    </a:extLst>
                  </a:tr>
                  <a:tr h="252643">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Not trump</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9" name="表格 9">
                <a:extLst>
                  <a:ext uri="{FF2B5EF4-FFF2-40B4-BE49-F238E27FC236}">
                    <a16:creationId xmlns:a16="http://schemas.microsoft.com/office/drawing/2014/main" id="{E07B5CFB-52FD-2CCF-F8B0-B41E27A2BE17}"/>
                  </a:ext>
                </a:extLst>
              </p:cNvPr>
              <p:cNvGraphicFramePr>
                <a:graphicFrameLocks noGrp="1"/>
              </p:cNvGraphicFramePr>
              <p:nvPr>
                <p:extLst>
                  <p:ext uri="{D42A27DB-BD31-4B8C-83A1-F6EECF244321}">
                    <p14:modId xmlns:p14="http://schemas.microsoft.com/office/powerpoint/2010/main" val="3763929544"/>
                  </p:ext>
                </p:extLst>
              </p:nvPr>
            </p:nvGraphicFramePr>
            <p:xfrm>
              <a:off x="3847306" y="5114640"/>
              <a:ext cx="7726362" cy="1005840"/>
            </p:xfrm>
            <a:graphic>
              <a:graphicData uri="http://schemas.openxmlformats.org/drawingml/2006/table">
                <a:tbl>
                  <a:tblPr firstRow="1" bandRow="1">
                    <a:tableStyleId>{5C22544A-7EE6-4342-B048-85BDC9FD1C3A}</a:tableStyleId>
                  </a:tblPr>
                  <a:tblGrid>
                    <a:gridCol w="1103766">
                      <a:extLst>
                        <a:ext uri="{9D8B030D-6E8A-4147-A177-3AD203B41FA5}">
                          <a16:colId xmlns:a16="http://schemas.microsoft.com/office/drawing/2014/main" val="3954870805"/>
                        </a:ext>
                      </a:extLst>
                    </a:gridCol>
                    <a:gridCol w="1103766">
                      <a:extLst>
                        <a:ext uri="{9D8B030D-6E8A-4147-A177-3AD203B41FA5}">
                          <a16:colId xmlns:a16="http://schemas.microsoft.com/office/drawing/2014/main" val="875205383"/>
                        </a:ext>
                      </a:extLst>
                    </a:gridCol>
                    <a:gridCol w="1103766">
                      <a:extLst>
                        <a:ext uri="{9D8B030D-6E8A-4147-A177-3AD203B41FA5}">
                          <a16:colId xmlns:a16="http://schemas.microsoft.com/office/drawing/2014/main" val="3806261155"/>
                        </a:ext>
                      </a:extLst>
                    </a:gridCol>
                    <a:gridCol w="1103766">
                      <a:extLst>
                        <a:ext uri="{9D8B030D-6E8A-4147-A177-3AD203B41FA5}">
                          <a16:colId xmlns:a16="http://schemas.microsoft.com/office/drawing/2014/main" val="339709873"/>
                        </a:ext>
                      </a:extLst>
                    </a:gridCol>
                    <a:gridCol w="1103766">
                      <a:extLst>
                        <a:ext uri="{9D8B030D-6E8A-4147-A177-3AD203B41FA5}">
                          <a16:colId xmlns:a16="http://schemas.microsoft.com/office/drawing/2014/main" val="1634282937"/>
                        </a:ext>
                      </a:extLst>
                    </a:gridCol>
                    <a:gridCol w="1103766">
                      <a:extLst>
                        <a:ext uri="{9D8B030D-6E8A-4147-A177-3AD203B41FA5}">
                          <a16:colId xmlns:a16="http://schemas.microsoft.com/office/drawing/2014/main" val="3527124469"/>
                        </a:ext>
                      </a:extLst>
                    </a:gridCol>
                    <a:gridCol w="1103766">
                      <a:extLst>
                        <a:ext uri="{9D8B030D-6E8A-4147-A177-3AD203B41FA5}">
                          <a16:colId xmlns:a16="http://schemas.microsoft.com/office/drawing/2014/main" val="2454144911"/>
                        </a:ext>
                      </a:extLst>
                    </a:gridCol>
                  </a:tblGrid>
                  <a:tr h="335280">
                    <a:tc>
                      <a:txBody>
                        <a:bodyPr/>
                        <a:lstStyle/>
                        <a:p>
                          <a:pPr algn="ct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3704" r="-502299" b="-218519"/>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704" r="-402299" b="-218519"/>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6591" t="-3704" r="-297727" b="-218519"/>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149" t="-3704" r="-201149" b="-218519"/>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149" t="-3704" r="-101149" b="-218519"/>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149" t="-3704" r="-1149" b="-218519"/>
                          </a:stretch>
                        </a:blipFill>
                      </a:tcPr>
                    </a:tc>
                    <a:extLst>
                      <a:ext uri="{0D108BD9-81ED-4DB2-BD59-A6C34878D82A}">
                        <a16:rowId xmlns:a16="http://schemas.microsoft.com/office/drawing/2014/main" val="200786440"/>
                      </a:ext>
                    </a:extLst>
                  </a:tr>
                  <a:tr h="335280">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Trump</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3795883818"/>
                      </a:ext>
                    </a:extLst>
                  </a:tr>
                  <a:tr h="335280">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Not trump</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3" name="投影片編號版面配置區 2">
            <a:extLst>
              <a:ext uri="{FF2B5EF4-FFF2-40B4-BE49-F238E27FC236}">
                <a16:creationId xmlns:a16="http://schemas.microsoft.com/office/drawing/2014/main" id="{CAFCEC9C-AD17-7B46-B95C-2B73D5087739}"/>
              </a:ext>
            </a:extLst>
          </p:cNvPr>
          <p:cNvSpPr>
            <a:spLocks noGrp="1"/>
          </p:cNvSpPr>
          <p:nvPr>
            <p:ph type="sldNum" sz="quarter" idx="12"/>
          </p:nvPr>
        </p:nvSpPr>
        <p:spPr/>
        <p:txBody>
          <a:bodyPr/>
          <a:lstStyle/>
          <a:p>
            <a:fld id="{9964E18F-1489-4A4A-8DD8-AC372572ADE5}" type="slidenum">
              <a:rPr kumimoji="1" lang="zh-TW" altLang="en-US" smtClean="0"/>
              <a:t>10</a:t>
            </a:fld>
            <a:endParaRPr kumimoji="1" lang="zh-TW" altLang="en-US"/>
          </a:p>
        </p:txBody>
      </p:sp>
    </p:spTree>
    <p:extLst>
      <p:ext uri="{BB962C8B-B14F-4D97-AF65-F5344CB8AC3E}">
        <p14:creationId xmlns:p14="http://schemas.microsoft.com/office/powerpoint/2010/main" val="211290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Individual Card Strength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622602537"/>
                  </p:ext>
                </p:extLst>
              </p:nvPr>
            </p:nvGraphicFramePr>
            <p:xfrm>
              <a:off x="1378356" y="1690688"/>
              <a:ext cx="9435288" cy="4969630"/>
            </p:xfrm>
            <a:graphic>
              <a:graphicData uri="http://schemas.openxmlformats.org/drawingml/2006/table">
                <a:tbl>
                  <a:tblPr firstRow="1" bandRow="1">
                    <a:tableStyleId>{5C22544A-7EE6-4342-B048-85BDC9FD1C3A}</a:tableStyleId>
                  </a:tblPr>
                  <a:tblGrid>
                    <a:gridCol w="1354458">
                      <a:extLst>
                        <a:ext uri="{9D8B030D-6E8A-4147-A177-3AD203B41FA5}">
                          <a16:colId xmlns:a16="http://schemas.microsoft.com/office/drawing/2014/main" val="2900614783"/>
                        </a:ext>
                      </a:extLst>
                    </a:gridCol>
                    <a:gridCol w="2145011">
                      <a:extLst>
                        <a:ext uri="{9D8B030D-6E8A-4147-A177-3AD203B41FA5}">
                          <a16:colId xmlns:a16="http://schemas.microsoft.com/office/drawing/2014/main" val="3013778250"/>
                        </a:ext>
                      </a:extLst>
                    </a:gridCol>
                    <a:gridCol w="2388261">
                      <a:extLst>
                        <a:ext uri="{9D8B030D-6E8A-4147-A177-3AD203B41FA5}">
                          <a16:colId xmlns:a16="http://schemas.microsoft.com/office/drawing/2014/main" val="3443406315"/>
                        </a:ext>
                      </a:extLst>
                    </a:gridCol>
                    <a:gridCol w="1876295">
                      <a:extLst>
                        <a:ext uri="{9D8B030D-6E8A-4147-A177-3AD203B41FA5}">
                          <a16:colId xmlns:a16="http://schemas.microsoft.com/office/drawing/2014/main" val="3317424169"/>
                        </a:ext>
                      </a:extLst>
                    </a:gridCol>
                    <a:gridCol w="1671263">
                      <a:extLst>
                        <a:ext uri="{9D8B030D-6E8A-4147-A177-3AD203B41FA5}">
                          <a16:colId xmlns:a16="http://schemas.microsoft.com/office/drawing/2014/main" val="1162832883"/>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𝑠𝐻</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4</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𝑠𝐻</m:t>
                                </m:r>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𝑐𝑎𝑟𝑑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𝑠𝐻</m:t>
                                                            </m:r>
                                                          </m:sup>
                                                        </m:s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e>
                                                    </m:nary>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𝑠𝐻</m:t>
                                                            </m:r>
                                                          </m:sup>
                                                        </m:s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e>
                                                    </m:nary>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1715452">
                    <a:tc rowSpan="3"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2~8</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9~10</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baseline="0" dirty="0">
                              <a:solidFill>
                                <a:schemeClr val="tx1"/>
                              </a:solidFill>
                              <a:latin typeface="Times New Roman" panose="02020603050405020304" pitchFamily="18" charset="0"/>
                              <a:cs typeface="Times New Roman" panose="02020603050405020304" pitchFamily="18" charset="0"/>
                            </a:rPr>
                            <a:t> 0</a:t>
                          </a:r>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J</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Q</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baseline="0" dirty="0">
                              <a:solidFill>
                                <a:schemeClr val="tx1"/>
                              </a:solidFill>
                              <a:latin typeface="Times New Roman" panose="02020603050405020304" pitchFamily="18" charset="0"/>
                              <a:cs typeface="Times New Roman" panose="02020603050405020304" pitchFamily="18" charset="0"/>
                            </a:rPr>
                            <a:t> 2</a:t>
                          </a:r>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K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A = 4</a:t>
                          </a:r>
                        </a:p>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accent6">
                                <a:lumMod val="75000"/>
                              </a:schemeClr>
                            </a:solidFill>
                            <a:latin typeface="Cambria Math" panose="020405030504060302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𝑠𝐻</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=4</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622602537"/>
                  </p:ext>
                </p:extLst>
              </p:nvPr>
            </p:nvGraphicFramePr>
            <p:xfrm>
              <a:off x="1378356" y="1690688"/>
              <a:ext cx="9435288" cy="4969630"/>
            </p:xfrm>
            <a:graphic>
              <a:graphicData uri="http://schemas.openxmlformats.org/drawingml/2006/table">
                <a:tbl>
                  <a:tblPr firstRow="1" bandRow="1">
                    <a:tableStyleId>{5C22544A-7EE6-4342-B048-85BDC9FD1C3A}</a:tableStyleId>
                  </a:tblPr>
                  <a:tblGrid>
                    <a:gridCol w="1354458">
                      <a:extLst>
                        <a:ext uri="{9D8B030D-6E8A-4147-A177-3AD203B41FA5}">
                          <a16:colId xmlns:a16="http://schemas.microsoft.com/office/drawing/2014/main" val="2900614783"/>
                        </a:ext>
                      </a:extLst>
                    </a:gridCol>
                    <a:gridCol w="2145011">
                      <a:extLst>
                        <a:ext uri="{9D8B030D-6E8A-4147-A177-3AD203B41FA5}">
                          <a16:colId xmlns:a16="http://schemas.microsoft.com/office/drawing/2014/main" val="3013778250"/>
                        </a:ext>
                      </a:extLst>
                    </a:gridCol>
                    <a:gridCol w="2388261">
                      <a:extLst>
                        <a:ext uri="{9D8B030D-6E8A-4147-A177-3AD203B41FA5}">
                          <a16:colId xmlns:a16="http://schemas.microsoft.com/office/drawing/2014/main" val="3443406315"/>
                        </a:ext>
                      </a:extLst>
                    </a:gridCol>
                    <a:gridCol w="1876295">
                      <a:extLst>
                        <a:ext uri="{9D8B030D-6E8A-4147-A177-3AD203B41FA5}">
                          <a16:colId xmlns:a16="http://schemas.microsoft.com/office/drawing/2014/main" val="3317424169"/>
                        </a:ext>
                      </a:extLst>
                    </a:gridCol>
                    <a:gridCol w="1671263">
                      <a:extLst>
                        <a:ext uri="{9D8B030D-6E8A-4147-A177-3AD203B41FA5}">
                          <a16:colId xmlns:a16="http://schemas.microsoft.com/office/drawing/2014/main" val="1162832883"/>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10345" r="-597196" b="-1255172"/>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4</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8974" t="-37195" r="-427" b="-139634"/>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1715452">
                    <a:tc rowSpan="3"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2~8</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9~10</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baseline="0" dirty="0">
                              <a:solidFill>
                                <a:schemeClr val="tx1"/>
                              </a:solidFill>
                              <a:latin typeface="Times New Roman" panose="02020603050405020304" pitchFamily="18" charset="0"/>
                              <a:cs typeface="Times New Roman" panose="02020603050405020304" pitchFamily="18" charset="0"/>
                            </a:rPr>
                            <a:t> 0</a:t>
                          </a:r>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J</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Q</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baseline="0" dirty="0">
                              <a:solidFill>
                                <a:schemeClr val="tx1"/>
                              </a:solidFill>
                              <a:latin typeface="Times New Roman" panose="02020603050405020304" pitchFamily="18" charset="0"/>
                              <a:cs typeface="Times New Roman" panose="02020603050405020304" pitchFamily="18" charset="0"/>
                            </a:rPr>
                            <a:t> 2</a:t>
                          </a:r>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K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cs typeface="Times New Roman" panose="02020603050405020304" pitchFamily="18" charset="0"/>
                            </a:rPr>
                            <a:t>A = 4</a:t>
                          </a:r>
                        </a:p>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8974" t="-344118" r="-427"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989A95FA-1A04-6EC6-51C2-F7CFC5F83EEF}"/>
                  </a:ext>
                </a:extLst>
              </p:cNvPr>
              <p:cNvGraphicFramePr>
                <a:graphicFrameLocks noGrp="1"/>
              </p:cNvGraphicFramePr>
              <p:nvPr>
                <p:extLst>
                  <p:ext uri="{D42A27DB-BD31-4B8C-83A1-F6EECF244321}">
                    <p14:modId xmlns:p14="http://schemas.microsoft.com/office/powerpoint/2010/main" val="1957754343"/>
                  </p:ext>
                </p:extLst>
              </p:nvPr>
            </p:nvGraphicFramePr>
            <p:xfrm>
              <a:off x="1577795" y="4611052"/>
              <a:ext cx="3483429"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954870805"/>
                        </a:ext>
                      </a:extLst>
                    </a:gridCol>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989A95FA-1A04-6EC6-51C2-F7CFC5F83EEF}"/>
                  </a:ext>
                </a:extLst>
              </p:cNvPr>
              <p:cNvGraphicFramePr>
                <a:graphicFrameLocks noGrp="1"/>
              </p:cNvGraphicFramePr>
              <p:nvPr>
                <p:extLst>
                  <p:ext uri="{D42A27DB-BD31-4B8C-83A1-F6EECF244321}">
                    <p14:modId xmlns:p14="http://schemas.microsoft.com/office/powerpoint/2010/main" val="1957754343"/>
                  </p:ext>
                </p:extLst>
              </p:nvPr>
            </p:nvGraphicFramePr>
            <p:xfrm>
              <a:off x="1577795" y="4611052"/>
              <a:ext cx="3483429"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954870805"/>
                        </a:ext>
                      </a:extLst>
                    </a:gridCol>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198" t="-3448" r="-102198"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448" r="-1087" b="-227586"/>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43EC6DA8-B422-604E-95FA-3DE9114B6886}"/>
              </a:ext>
            </a:extLst>
          </p:cNvPr>
          <p:cNvSpPr>
            <a:spLocks noGrp="1"/>
          </p:cNvSpPr>
          <p:nvPr>
            <p:ph type="sldNum" sz="quarter" idx="12"/>
          </p:nvPr>
        </p:nvSpPr>
        <p:spPr/>
        <p:txBody>
          <a:bodyPr/>
          <a:lstStyle/>
          <a:p>
            <a:fld id="{9964E18F-1489-4A4A-8DD8-AC372572ADE5}" type="slidenum">
              <a:rPr kumimoji="1" lang="zh-TW" altLang="en-US" smtClean="0"/>
              <a:t>11</a:t>
            </a:fld>
            <a:endParaRPr kumimoji="1" lang="zh-TW" altLang="en-US"/>
          </a:p>
        </p:txBody>
      </p:sp>
    </p:spTree>
    <p:extLst>
      <p:ext uri="{BB962C8B-B14F-4D97-AF65-F5344CB8AC3E}">
        <p14:creationId xmlns:p14="http://schemas.microsoft.com/office/powerpoint/2010/main" val="1433227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Short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3607444673"/>
                  </p:ext>
                </p:extLst>
              </p:nvPr>
            </p:nvGraphicFramePr>
            <p:xfrm>
              <a:off x="1386052" y="1634045"/>
              <a:ext cx="9419896" cy="4470527"/>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𝑆</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3−</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3−</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≥3</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9861928"/>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𝐷𝑆</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r>
                                              <a:rPr lang="en-US" altLang="zh-TW" b="0" i="1" smtClean="0">
                                                <a:solidFill>
                                                  <a:schemeClr val="tx1"/>
                                                </a:solidFill>
                                                <a:latin typeface="Cambria Math" panose="02040503050406030204" pitchFamily="18" charset="0"/>
                                              </a:rPr>
                                              <m:t>𝑡</m:t>
                                            </m:r>
                                          </m:sub>
                                          <m:sup>
                                            <m:r>
                                              <a:rPr lang="en-US" altLang="zh-TW" b="0" i="1" smtClean="0">
                                                <a:solidFill>
                                                  <a:schemeClr val="tx1"/>
                                                </a:solidFill>
                                                <a:latin typeface="Cambria Math" panose="02040503050406030204" pitchFamily="18" charset="0"/>
                                              </a:rPr>
                                              <m:t>𝐷𝑆</m:t>
                                            </m:r>
                                          </m:sup>
                                        </m:sSubSup>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up>
                                            <m:r>
                                              <a:rPr lang="en-US" altLang="zh-TW" b="0" i="1" smtClean="0">
                                                <a:solidFill>
                                                  <a:schemeClr val="tx1"/>
                                                </a:solidFill>
                                                <a:latin typeface="Cambria Math" panose="02040503050406030204" pitchFamily="18" charset="0"/>
                                              </a:rPr>
                                              <m:t>𝐷𝑆</m:t>
                                            </m:r>
                                          </m:sup>
                                        </m:sSubSup>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≥3</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412707"/>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𝑠</m:t>
                                    </m:r>
                                  </m:e>
                                  <m:sup>
                                    <m:r>
                                      <a:rPr lang="en-US" altLang="zh-TW" b="0" i="1" smtClean="0">
                                        <a:solidFill>
                                          <a:schemeClr val="tx1"/>
                                        </a:solidFill>
                                        <a:latin typeface="Cambria Math" panose="02040503050406030204" pitchFamily="18" charset="0"/>
                                      </a:rPr>
                                      <m:t>∗</m:t>
                                    </m:r>
                                  </m:sup>
                                </m:sSup>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𝑜𝑡h𝑒𝑟𝑤𝑖𝑠𝑒</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8830415"/>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𝑁𝐿</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𝑁𝐿</m:t>
                                        </m:r>
                                      </m:sup>
                                    </m:sSup>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491166"/>
                      </a:ext>
                    </a:extLst>
                  </a:tr>
                </a:tbl>
              </a:graphicData>
            </a:graphic>
          </p:graphicFrame>
        </mc:Choice>
        <mc:Fallback xmlns="">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3607444673"/>
                  </p:ext>
                </p:extLst>
              </p:nvPr>
            </p:nvGraphicFramePr>
            <p:xfrm>
              <a:off x="1386052" y="1634045"/>
              <a:ext cx="9419896" cy="4470527"/>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1107186">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211364" r="-841772" b="-468182"/>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211364" r="-360" b="-468182"/>
                          </a:stretch>
                        </a:blipFill>
                      </a:tcPr>
                    </a:tc>
                    <a:extLst>
                      <a:ext uri="{0D108BD9-81ED-4DB2-BD59-A6C34878D82A}">
                        <a16:rowId xmlns:a16="http://schemas.microsoft.com/office/drawing/2014/main" val="1969861928"/>
                      </a:ext>
                    </a:extLst>
                  </a:tr>
                  <a:tr h="1107186">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314943" r="-841772" b="-373563"/>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314943" r="-360" b="-373563"/>
                          </a:stretch>
                        </a:blipFill>
                      </a:tcPr>
                    </a:tc>
                    <a:extLst>
                      <a:ext uri="{0D108BD9-81ED-4DB2-BD59-A6C34878D82A}">
                        <a16:rowId xmlns:a16="http://schemas.microsoft.com/office/drawing/2014/main" val="1742412707"/>
                      </a:ext>
                    </a:extLst>
                  </a:tr>
                  <a:tr h="1107186">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410227" r="-841772" b="-269318"/>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410227" r="-360" b="-269318"/>
                          </a:stretch>
                        </a:blipFill>
                      </a:tcPr>
                    </a:tc>
                    <a:extLst>
                      <a:ext uri="{0D108BD9-81ED-4DB2-BD59-A6C34878D82A}">
                        <a16:rowId xmlns:a16="http://schemas.microsoft.com/office/drawing/2014/main" val="2978830415"/>
                      </a:ext>
                    </a:extLst>
                  </a:tr>
                  <a:tr h="77812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736066" r="-841772" b="-288525"/>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736066" r="-360" b="-288525"/>
                          </a:stretch>
                        </a:blipFill>
                      </a:tcPr>
                    </a:tc>
                    <a:extLst>
                      <a:ext uri="{0D108BD9-81ED-4DB2-BD59-A6C34878D82A}">
                        <a16:rowId xmlns:a16="http://schemas.microsoft.com/office/drawing/2014/main" val="4032491166"/>
                      </a:ext>
                    </a:extLst>
                  </a:tr>
                </a:tbl>
              </a:graphicData>
            </a:graphic>
          </p:graphicFrame>
        </mc:Fallback>
      </mc:AlternateContent>
      <p:sp>
        <p:nvSpPr>
          <p:cNvPr id="3" name="投影片編號版面配置區 2">
            <a:extLst>
              <a:ext uri="{FF2B5EF4-FFF2-40B4-BE49-F238E27FC236}">
                <a16:creationId xmlns:a16="http://schemas.microsoft.com/office/drawing/2014/main" id="{8F8636FB-9DF1-D24D-AA4F-048AEDE5C104}"/>
              </a:ext>
            </a:extLst>
          </p:cNvPr>
          <p:cNvSpPr>
            <a:spLocks noGrp="1"/>
          </p:cNvSpPr>
          <p:nvPr>
            <p:ph type="sldNum" sz="quarter" idx="12"/>
          </p:nvPr>
        </p:nvSpPr>
        <p:spPr/>
        <p:txBody>
          <a:bodyPr/>
          <a:lstStyle/>
          <a:p>
            <a:fld id="{9964E18F-1489-4A4A-8DD8-AC372572ADE5}" type="slidenum">
              <a:rPr kumimoji="1" lang="zh-TW" altLang="en-US" smtClean="0"/>
              <a:t>12</a:t>
            </a:fld>
            <a:endParaRPr kumimoji="1" lang="zh-TW" altLang="en-US"/>
          </a:p>
        </p:txBody>
      </p:sp>
    </p:spTree>
    <p:extLst>
      <p:ext uri="{BB962C8B-B14F-4D97-AF65-F5344CB8AC3E}">
        <p14:creationId xmlns:p14="http://schemas.microsoft.com/office/powerpoint/2010/main" val="3984679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Short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2195120127"/>
                  </p:ext>
                </p:extLst>
              </p:nvPr>
            </p:nvGraphicFramePr>
            <p:xfrm>
              <a:off x="1112079" y="1695451"/>
              <a:ext cx="9967841" cy="4650542"/>
            </p:xfrm>
            <a:graphic>
              <a:graphicData uri="http://schemas.openxmlformats.org/drawingml/2006/table">
                <a:tbl>
                  <a:tblPr firstRow="1" bandRow="1">
                    <a:tableStyleId>{5C22544A-7EE6-4342-B048-85BDC9FD1C3A}</a:tableStyleId>
                  </a:tblPr>
                  <a:tblGrid>
                    <a:gridCol w="1430907">
                      <a:extLst>
                        <a:ext uri="{9D8B030D-6E8A-4147-A177-3AD203B41FA5}">
                          <a16:colId xmlns:a16="http://schemas.microsoft.com/office/drawing/2014/main" val="2900614783"/>
                        </a:ext>
                      </a:extLst>
                    </a:gridCol>
                    <a:gridCol w="2266081">
                      <a:extLst>
                        <a:ext uri="{9D8B030D-6E8A-4147-A177-3AD203B41FA5}">
                          <a16:colId xmlns:a16="http://schemas.microsoft.com/office/drawing/2014/main" val="3013778250"/>
                        </a:ext>
                      </a:extLst>
                    </a:gridCol>
                    <a:gridCol w="2523061">
                      <a:extLst>
                        <a:ext uri="{9D8B030D-6E8A-4147-A177-3AD203B41FA5}">
                          <a16:colId xmlns:a16="http://schemas.microsoft.com/office/drawing/2014/main" val="3443406315"/>
                        </a:ext>
                      </a:extLst>
                    </a:gridCol>
                    <a:gridCol w="2097156">
                      <a:extLst>
                        <a:ext uri="{9D8B030D-6E8A-4147-A177-3AD203B41FA5}">
                          <a16:colId xmlns:a16="http://schemas.microsoft.com/office/drawing/2014/main" val="3317424169"/>
                        </a:ext>
                      </a:extLst>
                    </a:gridCol>
                    <a:gridCol w="1650636">
                      <a:extLst>
                        <a:ext uri="{9D8B030D-6E8A-4147-A177-3AD203B41FA5}">
                          <a16:colId xmlns:a16="http://schemas.microsoft.com/office/drawing/2014/main" val="1162832883"/>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𝑆</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4</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𝑆</m:t>
                                </m:r>
                                <m:r>
                                  <a:rPr lang="en-US" altLang="zh-TW" b="0" i="1" dirty="0" smtClean="0">
                                    <a:solidFill>
                                      <a:schemeClr val="tx1"/>
                                    </a:solidFill>
                                    <a:latin typeface="Cambria Math" panose="02040503050406030204" pitchFamily="18" charset="0"/>
                                  </a:rPr>
                                  <m:t>=</m:t>
                                </m:r>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3−</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3−</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≥3</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1396364">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r>
                            <a:rPr lang="en-US" altLang="zh-TW" b="0">
                              <a:solidFill>
                                <a:schemeClr val="tx1"/>
                              </a:solidFill>
                              <a:latin typeface="Times New Roman" panose="02020603050405020304" pitchFamily="18" charset="0"/>
                              <a:cs typeface="Times New Roman" panose="02020603050405020304" pitchFamily="18" charset="0"/>
                            </a:rPr>
                            <a:t>N</a:t>
                          </a:r>
                        </a:p>
                        <a:p>
                          <a:pPr algn="dist"/>
                          <a:endParaRPr lang="en-US" altLang="zh-TW" b="0">
                            <a:solidFill>
                              <a:schemeClr val="tx1"/>
                            </a:solidFill>
                            <a:latin typeface="Times New Roman" panose="02020603050405020304" pitchFamily="18" charset="0"/>
                            <a:cs typeface="Times New Roman" panose="02020603050405020304" pitchFamily="18" charset="0"/>
                          </a:endParaRPr>
                        </a:p>
                        <a:p>
                          <a:pPr algn="ctr"/>
                          <a:r>
                            <a:rPr lang="en-US" altLang="zh-TW" b="0">
                              <a:solidFill>
                                <a:schemeClr val="tx1"/>
                              </a:solidFill>
                              <a:latin typeface="Times New Roman" panose="02020603050405020304" pitchFamily="18" charset="0"/>
                              <a:cs typeface="Times New Roman" panose="02020603050405020304" pitchFamily="18" charset="0"/>
                            </a:rPr>
                            <a:t>W</a:t>
                          </a:r>
                          <a:r>
                            <a:rPr lang="zh-TW" altLang="en-US" b="0">
                              <a:solidFill>
                                <a:schemeClr val="tx1"/>
                              </a:solidFill>
                              <a:latin typeface="Times New Roman" panose="02020603050405020304" pitchFamily="18" charset="0"/>
                              <a:cs typeface="Times New Roman" panose="02020603050405020304" pitchFamily="18" charset="0"/>
                            </a:rPr>
                            <a:t>            </a:t>
                          </a:r>
                          <a:r>
                            <a:rPr lang="en-US" altLang="zh-TW" b="0">
                              <a:solidFill>
                                <a:schemeClr val="tx1"/>
                              </a:solidFill>
                              <a:latin typeface="Times New Roman" panose="02020603050405020304" pitchFamily="18" charset="0"/>
                              <a:cs typeface="Times New Roman" panose="02020603050405020304" pitchFamily="18" charset="0"/>
                            </a:rPr>
                            <a:t>E</a:t>
                          </a:r>
                        </a:p>
                        <a:p>
                          <a:pPr algn="dist"/>
                          <a:endParaRPr lang="en-US" altLang="zh-TW" b="0">
                            <a:solidFill>
                              <a:schemeClr val="tx1"/>
                            </a:solidFill>
                            <a:latin typeface="Times New Roman" panose="02020603050405020304" pitchFamily="18" charset="0"/>
                            <a:cs typeface="Times New Roman" panose="02020603050405020304" pitchFamily="18" charset="0"/>
                          </a:endParaRPr>
                        </a:p>
                        <a:p>
                          <a:pPr algn="dist"/>
                          <a:r>
                            <a:rPr lang="en-US" altLang="zh-TW" b="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accent6">
                                <a:lumMod val="75000"/>
                              </a:schemeClr>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𝑆</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=0+4+0+1=5</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2195120127"/>
                  </p:ext>
                </p:extLst>
              </p:nvPr>
            </p:nvGraphicFramePr>
            <p:xfrm>
              <a:off x="1112079" y="1695451"/>
              <a:ext cx="9967841" cy="4650542"/>
            </p:xfrm>
            <a:graphic>
              <a:graphicData uri="http://schemas.openxmlformats.org/drawingml/2006/table">
                <a:tbl>
                  <a:tblPr firstRow="1" bandRow="1">
                    <a:tableStyleId>{5C22544A-7EE6-4342-B048-85BDC9FD1C3A}</a:tableStyleId>
                  </a:tblPr>
                  <a:tblGrid>
                    <a:gridCol w="1430907">
                      <a:extLst>
                        <a:ext uri="{9D8B030D-6E8A-4147-A177-3AD203B41FA5}">
                          <a16:colId xmlns:a16="http://schemas.microsoft.com/office/drawing/2014/main" val="2900614783"/>
                        </a:ext>
                      </a:extLst>
                    </a:gridCol>
                    <a:gridCol w="2266081">
                      <a:extLst>
                        <a:ext uri="{9D8B030D-6E8A-4147-A177-3AD203B41FA5}">
                          <a16:colId xmlns:a16="http://schemas.microsoft.com/office/drawing/2014/main" val="3013778250"/>
                        </a:ext>
                      </a:extLst>
                    </a:gridCol>
                    <a:gridCol w="2523061">
                      <a:extLst>
                        <a:ext uri="{9D8B030D-6E8A-4147-A177-3AD203B41FA5}">
                          <a16:colId xmlns:a16="http://schemas.microsoft.com/office/drawing/2014/main" val="3443406315"/>
                        </a:ext>
                      </a:extLst>
                    </a:gridCol>
                    <a:gridCol w="2097156">
                      <a:extLst>
                        <a:ext uri="{9D8B030D-6E8A-4147-A177-3AD203B41FA5}">
                          <a16:colId xmlns:a16="http://schemas.microsoft.com/office/drawing/2014/main" val="3317424169"/>
                        </a:ext>
                      </a:extLst>
                    </a:gridCol>
                    <a:gridCol w="1650636">
                      <a:extLst>
                        <a:ext uri="{9D8B030D-6E8A-4147-A177-3AD203B41FA5}">
                          <a16:colId xmlns:a16="http://schemas.microsoft.com/office/drawing/2014/main" val="1162832883"/>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644828" r="-597345" b="-1168966"/>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4</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109" t="-134532" r="-405" b="-164748"/>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1396364">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r>
                            <a:rPr lang="en-US" altLang="zh-TW" b="0">
                              <a:solidFill>
                                <a:schemeClr val="tx1"/>
                              </a:solidFill>
                              <a:latin typeface="Times New Roman" panose="02020603050405020304" pitchFamily="18" charset="0"/>
                              <a:cs typeface="Times New Roman" panose="02020603050405020304" pitchFamily="18" charset="0"/>
                            </a:rPr>
                            <a:t>N</a:t>
                          </a:r>
                        </a:p>
                        <a:p>
                          <a:pPr algn="dist"/>
                          <a:endParaRPr lang="en-US" altLang="zh-TW" b="0">
                            <a:solidFill>
                              <a:schemeClr val="tx1"/>
                            </a:solidFill>
                            <a:latin typeface="Times New Roman" panose="02020603050405020304" pitchFamily="18" charset="0"/>
                            <a:cs typeface="Times New Roman" panose="02020603050405020304" pitchFamily="18" charset="0"/>
                          </a:endParaRPr>
                        </a:p>
                        <a:p>
                          <a:pPr algn="ctr"/>
                          <a:r>
                            <a:rPr lang="en-US" altLang="zh-TW" b="0">
                              <a:solidFill>
                                <a:schemeClr val="tx1"/>
                              </a:solidFill>
                              <a:latin typeface="Times New Roman" panose="02020603050405020304" pitchFamily="18" charset="0"/>
                              <a:cs typeface="Times New Roman" panose="02020603050405020304" pitchFamily="18" charset="0"/>
                            </a:rPr>
                            <a:t>W</a:t>
                          </a:r>
                          <a:r>
                            <a:rPr lang="zh-TW" altLang="en-US" b="0">
                              <a:solidFill>
                                <a:schemeClr val="tx1"/>
                              </a:solidFill>
                              <a:latin typeface="Times New Roman" panose="02020603050405020304" pitchFamily="18" charset="0"/>
                              <a:cs typeface="Times New Roman" panose="02020603050405020304" pitchFamily="18" charset="0"/>
                            </a:rPr>
                            <a:t>            </a:t>
                          </a:r>
                          <a:r>
                            <a:rPr lang="en-US" altLang="zh-TW" b="0">
                              <a:solidFill>
                                <a:schemeClr val="tx1"/>
                              </a:solidFill>
                              <a:latin typeface="Times New Roman" panose="02020603050405020304" pitchFamily="18" charset="0"/>
                              <a:cs typeface="Times New Roman" panose="02020603050405020304" pitchFamily="18" charset="0"/>
                            </a:rPr>
                            <a:t>E</a:t>
                          </a:r>
                        </a:p>
                        <a:p>
                          <a:pPr algn="dist"/>
                          <a:endParaRPr lang="en-US" altLang="zh-TW" b="0">
                            <a:solidFill>
                              <a:schemeClr val="tx1"/>
                            </a:solidFill>
                            <a:latin typeface="Times New Roman" panose="02020603050405020304" pitchFamily="18" charset="0"/>
                            <a:cs typeface="Times New Roman" panose="02020603050405020304" pitchFamily="18" charset="0"/>
                          </a:endParaRPr>
                        </a:p>
                        <a:p>
                          <a:pPr algn="dist"/>
                          <a:r>
                            <a:rPr lang="en-US" altLang="zh-TW" b="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109" t="-443137" r="-405"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3777292537"/>
                  </p:ext>
                </p:extLst>
              </p:nvPr>
            </p:nvGraphicFramePr>
            <p:xfrm>
              <a:off x="838200" y="4743767"/>
              <a:ext cx="3483429"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954870805"/>
                        </a:ext>
                      </a:extLst>
                    </a:gridCol>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3777292537"/>
                  </p:ext>
                </p:extLst>
              </p:nvPr>
            </p:nvGraphicFramePr>
            <p:xfrm>
              <a:off x="838200" y="4743767"/>
              <a:ext cx="3483429"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954870805"/>
                        </a:ext>
                      </a:extLst>
                    </a:gridCol>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198" t="-3333" r="-102198" b="-2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333" r="-1087" b="-220000"/>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7AE09034-578C-624A-9BB5-08527D4AD375}"/>
              </a:ext>
            </a:extLst>
          </p:cNvPr>
          <p:cNvSpPr>
            <a:spLocks noGrp="1"/>
          </p:cNvSpPr>
          <p:nvPr>
            <p:ph type="sldNum" sz="quarter" idx="12"/>
          </p:nvPr>
        </p:nvSpPr>
        <p:spPr/>
        <p:txBody>
          <a:bodyPr/>
          <a:lstStyle/>
          <a:p>
            <a:fld id="{9964E18F-1489-4A4A-8DD8-AC372572ADE5}" type="slidenum">
              <a:rPr kumimoji="1" lang="zh-TW" altLang="en-US" smtClean="0"/>
              <a:t>13</a:t>
            </a:fld>
            <a:endParaRPr kumimoji="1" lang="zh-TW" altLang="en-US"/>
          </a:p>
        </p:txBody>
      </p:sp>
    </p:spTree>
    <p:extLst>
      <p:ext uri="{BB962C8B-B14F-4D97-AF65-F5344CB8AC3E}">
        <p14:creationId xmlns:p14="http://schemas.microsoft.com/office/powerpoint/2010/main" val="4012826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Short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4213090307"/>
                  </p:ext>
                </p:extLst>
              </p:nvPr>
            </p:nvGraphicFramePr>
            <p:xfrm>
              <a:off x="1370128" y="1907047"/>
              <a:ext cx="9983672" cy="4355084"/>
            </p:xfrm>
            <a:graphic>
              <a:graphicData uri="http://schemas.openxmlformats.org/drawingml/2006/table">
                <a:tbl>
                  <a:tblPr firstRow="1" bandRow="1">
                    <a:tableStyleId>{5C22544A-7EE6-4342-B048-85BDC9FD1C3A}</a:tableStyleId>
                  </a:tblPr>
                  <a:tblGrid>
                    <a:gridCol w="2180018">
                      <a:extLst>
                        <a:ext uri="{9D8B030D-6E8A-4147-A177-3AD203B41FA5}">
                          <a16:colId xmlns:a16="http://schemas.microsoft.com/office/drawing/2014/main" val="2315340377"/>
                        </a:ext>
                      </a:extLst>
                    </a:gridCol>
                    <a:gridCol w="314110">
                      <a:extLst>
                        <a:ext uri="{9D8B030D-6E8A-4147-A177-3AD203B41FA5}">
                          <a16:colId xmlns:a16="http://schemas.microsoft.com/office/drawing/2014/main" val="4220167433"/>
                        </a:ext>
                      </a:extLst>
                    </a:gridCol>
                    <a:gridCol w="2024373">
                      <a:extLst>
                        <a:ext uri="{9D8B030D-6E8A-4147-A177-3AD203B41FA5}">
                          <a16:colId xmlns:a16="http://schemas.microsoft.com/office/drawing/2014/main" val="3013778250"/>
                        </a:ext>
                      </a:extLst>
                    </a:gridCol>
                    <a:gridCol w="1183684">
                      <a:extLst>
                        <a:ext uri="{9D8B030D-6E8A-4147-A177-3AD203B41FA5}">
                          <a16:colId xmlns:a16="http://schemas.microsoft.com/office/drawing/2014/main" val="3443406315"/>
                        </a:ext>
                      </a:extLst>
                    </a:gridCol>
                    <a:gridCol w="2146733">
                      <a:extLst>
                        <a:ext uri="{9D8B030D-6E8A-4147-A177-3AD203B41FA5}">
                          <a16:colId xmlns:a16="http://schemas.microsoft.com/office/drawing/2014/main" val="3317424169"/>
                        </a:ext>
                      </a:extLst>
                    </a:gridCol>
                    <a:gridCol w="2134754">
                      <a:extLst>
                        <a:ext uri="{9D8B030D-6E8A-4147-A177-3AD203B41FA5}">
                          <a16:colId xmlns:a16="http://schemas.microsoft.com/office/drawing/2014/main" val="1162832883"/>
                        </a:ext>
                      </a:extLst>
                    </a:gridCol>
                  </a:tblGrid>
                  <a:tr h="347266">
                    <a:tc gridSpan="2">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𝐷𝑆</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gridSpan="3">
                      <a:txBody>
                        <a:bodyPr/>
                        <a:lstStyle/>
                        <a:p>
                          <a:pP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𝐷𝑆</m:t>
                                </m:r>
                                <m:r>
                                  <a:rPr lang="en-US" altLang="zh-TW" b="0" i="1" dirty="0" smtClean="0">
                                    <a:solidFill>
                                      <a:schemeClr val="tx1"/>
                                    </a:solidFill>
                                    <a:latin typeface="Cambria Math" panose="02040503050406030204" pitchFamily="18" charset="0"/>
                                  </a:rPr>
                                  <m:t>=</m:t>
                                </m:r>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𝑀</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𝐷𝑆</m:t>
                                            </m:r>
                                          </m:sup>
                                        </m:sSubSup>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𝑀</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up>
                                            <m:r>
                                              <a:rPr lang="en-US" altLang="zh-TW" b="0" i="1" smtClean="0">
                                                <a:solidFill>
                                                  <a:srgbClr val="FF0000"/>
                                                </a:solidFill>
                                                <a:latin typeface="Cambria Math" panose="02040503050406030204" pitchFamily="18" charset="0"/>
                                              </a:rPr>
                                              <m:t>𝐷𝑆</m:t>
                                            </m:r>
                                          </m:sup>
                                        </m:sSubSup>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≥3</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zh-TW" altLang="en-US"/>
                        </a:p>
                      </a:txBody>
                      <a:tcPr>
                        <a:lnL w="12700" cmpd="sng">
                          <a:noFill/>
                        </a:lnL>
                      </a:tcPr>
                    </a:tc>
                    <a:extLst>
                      <a:ext uri="{0D108BD9-81ED-4DB2-BD59-A6C34878D82A}">
                        <a16:rowId xmlns:a16="http://schemas.microsoft.com/office/drawing/2014/main" val="4054647893"/>
                      </a:ext>
                    </a:extLst>
                  </a:tr>
                  <a:tr h="64205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dirty="0"/>
                        </a:p>
                      </a:txBody>
                      <a:tcPr anchor="ctr">
                        <a:lnL w="12700" cap="flat" cmpd="sng" algn="ctr">
                          <a:solidFill>
                            <a:schemeClr val="tx1"/>
                          </a:solid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604900">
                    <a:tc rowSpan="3">
                      <a:txBody>
                        <a:bodyPr/>
                        <a:lstStyle/>
                        <a:p>
                          <a:r>
                            <a:rPr lang="en-US" altLang="zh-TW" b="0" dirty="0">
                              <a:solidFill>
                                <a:schemeClr val="tx1"/>
                              </a:solidFill>
                              <a:latin typeface="Times New Roman" panose="02020603050405020304" pitchFamily="18" charset="0"/>
                              <a:cs typeface="Times New Roman" panose="02020603050405020304" pitchFamily="18" charset="0"/>
                            </a:rPr>
                            <a:t>Void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𝐷𝑆</m:t>
                                  </m:r>
                                </m:sup>
                              </m:sSubSup>
                              <m:r>
                                <a:rPr lang="en-US" altLang="zh-TW" b="0" i="1" smtClean="0">
                                  <a:solidFill>
                                    <a:schemeClr val="tx1"/>
                                  </a:solidFill>
                                  <a:latin typeface="Cambria Math" panose="02040503050406030204" pitchFamily="18" charset="0"/>
                                  <a:cs typeface="Times New Roman" panose="02020603050405020304" pitchFamily="18" charset="0"/>
                                </a:rPr>
                                <m:t>[0]</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Singleton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𝐷𝑆</m:t>
                                  </m:r>
                                </m:sup>
                              </m:sSubSup>
                              <m:r>
                                <a:rPr lang="en-US" altLang="zh-TW" b="0" i="1" smtClean="0">
                                  <a:solidFill>
                                    <a:schemeClr val="tx1"/>
                                  </a:solidFill>
                                  <a:latin typeface="Cambria Math" panose="02040503050406030204" pitchFamily="18" charset="0"/>
                                  <a:cs typeface="Times New Roman" panose="02020603050405020304" pitchFamily="18" charset="0"/>
                                </a:rPr>
                                <m:t>[1]</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Doubleton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r>
                                    <a:rPr lang="en-US" altLang="zh-TW" b="0" i="1" smtClean="0">
                                      <a:solidFill>
                                        <a:schemeClr val="tx1"/>
                                      </a:solidFill>
                                      <a:latin typeface="Cambria Math" panose="02040503050406030204" pitchFamily="18" charset="0"/>
                                      <a:cs typeface="Times New Roman" panose="02020603050405020304" pitchFamily="18" charset="0"/>
                                    </a:rPr>
                                    <m:t>𝑡</m:t>
                                  </m:r>
                                </m:sub>
                                <m:sup>
                                  <m:r>
                                    <a:rPr lang="en-US" altLang="zh-TW" b="0" i="1" smtClean="0">
                                      <a:solidFill>
                                        <a:schemeClr val="tx1"/>
                                      </a:solidFill>
                                      <a:latin typeface="Cambria Math" panose="02040503050406030204" pitchFamily="18" charset="0"/>
                                      <a:cs typeface="Times New Roman" panose="02020603050405020304" pitchFamily="18" charset="0"/>
                                    </a:rPr>
                                    <m:t>𝐷𝑆</m:t>
                                  </m:r>
                                </m:sup>
                              </m:sSubSup>
                              <m:r>
                                <a:rPr lang="en-US" altLang="zh-TW" b="0" i="1" smtClean="0">
                                  <a:solidFill>
                                    <a:schemeClr val="tx1"/>
                                  </a:solidFill>
                                  <a:latin typeface="Cambria Math" panose="02040503050406030204" pitchFamily="18" charset="0"/>
                                  <a:cs typeface="Times New Roman" panose="02020603050405020304" pitchFamily="18" charset="0"/>
                                </a:rPr>
                                <m:t>[2]</m:t>
                              </m:r>
                            </m:oMath>
                          </a14:m>
                          <a:r>
                            <a:rPr lang="en-US" altLang="zh-TW" b="0" dirty="0">
                              <a:solidFill>
                                <a:schemeClr val="tx1"/>
                              </a:solidFill>
                              <a:latin typeface="Times New Roman" panose="02020603050405020304" pitchFamily="18" charset="0"/>
                              <a:cs typeface="Times New Roman" panose="02020603050405020304" pitchFamily="18" charset="0"/>
                            </a:rPr>
                            <a:t> </a:t>
                          </a:r>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solidFill>
                          <a:schemeClr val="bg1"/>
                        </a:solidFill>
                      </a:tcPr>
                    </a:tc>
                    <a:tc rowSpan="3" gridSpan="2">
                      <a:txBody>
                        <a:bodyPr/>
                        <a:lstStyle/>
                        <a:p>
                          <a:r>
                            <a:rPr lang="en-US" altLang="zh-TW" b="0" dirty="0">
                              <a:solidFill>
                                <a:schemeClr val="tx1"/>
                              </a:solidFill>
                              <a:latin typeface="Times New Roman" panose="02020603050405020304" pitchFamily="18" charset="0"/>
                              <a:cs typeface="Times New Roman" panose="02020603050405020304" pitchFamily="18" charset="0"/>
                            </a:rPr>
                            <a:t>Void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𝐷𝑆</m:t>
                                  </m:r>
                                </m:sup>
                              </m:sSubSup>
                              <m:r>
                                <a:rPr lang="en-US" altLang="zh-TW" b="0" i="1" smtClean="0">
                                  <a:solidFill>
                                    <a:schemeClr val="tx1"/>
                                  </a:solidFill>
                                  <a:latin typeface="Cambria Math" panose="02040503050406030204" pitchFamily="18" charset="0"/>
                                  <a:cs typeface="Times New Roman" panose="02020603050405020304" pitchFamily="18" charset="0"/>
                                </a:rPr>
                                <m:t>[0]</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Singleton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𝐷𝑆</m:t>
                                  </m:r>
                                </m:sup>
                              </m:sSubSup>
                              <m:r>
                                <a:rPr lang="en-US" altLang="zh-TW" b="0" i="1" smtClean="0">
                                  <a:solidFill>
                                    <a:schemeClr val="tx1"/>
                                  </a:solidFill>
                                  <a:latin typeface="Cambria Math" panose="02040503050406030204" pitchFamily="18" charset="0"/>
                                  <a:cs typeface="Times New Roman" panose="02020603050405020304" pitchFamily="18" charset="0"/>
                                </a:rPr>
                                <m:t>[1]</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Doubleton = </a:t>
                          </a:r>
                          <a14:m>
                            <m:oMath xmlns:m="http://schemas.openxmlformats.org/officeDocument/2006/math">
                              <m:sSubSup>
                                <m:sSubSupPr>
                                  <m:ctrlPr>
                                    <a:rPr lang="en-US" altLang="zh-TW" b="0" i="1" smtClean="0">
                                      <a:solidFill>
                                        <a:schemeClr val="tx1"/>
                                      </a:solidFill>
                                      <a:latin typeface="Cambria Math" panose="02040503050406030204" pitchFamily="18" charset="0"/>
                                      <a:cs typeface="Times New Roman" panose="02020603050405020304" pitchFamily="18" charset="0"/>
                                    </a:rPr>
                                  </m:ctrlPr>
                                </m:sSubSupPr>
                                <m:e>
                                  <m:r>
                                    <a:rPr lang="en-US" altLang="zh-TW" b="0" i="1" smtClean="0">
                                      <a:solidFill>
                                        <a:schemeClr val="tx1"/>
                                      </a:solidFill>
                                      <a:latin typeface="Cambria Math" panose="02040503050406030204" pitchFamily="18" charset="0"/>
                                      <a:cs typeface="Times New Roman" panose="02020603050405020304" pitchFamily="18" charset="0"/>
                                    </a:rPr>
                                    <m:t>𝑀</m:t>
                                  </m:r>
                                </m:e>
                                <m:sub>
                                  <m:acc>
                                    <m:accPr>
                                      <m:chr m:val="̅"/>
                                      <m:ctrlPr>
                                        <a:rPr lang="en-US" altLang="zh-TW" b="0" i="1" smtClean="0">
                                          <a:solidFill>
                                            <a:schemeClr val="tx1"/>
                                          </a:solidFill>
                                          <a:latin typeface="Cambria Math" panose="02040503050406030204" pitchFamily="18" charset="0"/>
                                          <a:cs typeface="Times New Roman" panose="02020603050405020304" pitchFamily="18" charset="0"/>
                                        </a:rPr>
                                      </m:ctrlPr>
                                    </m:accPr>
                                    <m:e>
                                      <m:r>
                                        <a:rPr lang="en-US" altLang="zh-TW" b="0" i="1" smtClean="0">
                                          <a:solidFill>
                                            <a:schemeClr val="tx1"/>
                                          </a:solidFill>
                                          <a:latin typeface="Cambria Math" panose="02040503050406030204" pitchFamily="18" charset="0"/>
                                          <a:cs typeface="Times New Roman" panose="02020603050405020304" pitchFamily="18" charset="0"/>
                                        </a:rPr>
                                        <m:t>𝑡</m:t>
                                      </m:r>
                                    </m:e>
                                  </m:acc>
                                </m:sub>
                                <m:sup>
                                  <m:r>
                                    <a:rPr lang="en-US" altLang="zh-TW" b="0" i="1" smtClean="0">
                                      <a:solidFill>
                                        <a:schemeClr val="tx1"/>
                                      </a:solidFill>
                                      <a:latin typeface="Cambria Math" panose="02040503050406030204" pitchFamily="18" charset="0"/>
                                      <a:cs typeface="Times New Roman" panose="02020603050405020304" pitchFamily="18" charset="0"/>
                                    </a:rPr>
                                    <m:t>𝐷𝑆</m:t>
                                  </m:r>
                                </m:sup>
                              </m:sSubSup>
                              <m:r>
                                <a:rPr lang="en-US" altLang="zh-TW" b="0" i="1" smtClean="0">
                                  <a:solidFill>
                                    <a:schemeClr val="tx1"/>
                                  </a:solidFill>
                                  <a:latin typeface="Cambria Math" panose="02040503050406030204" pitchFamily="18" charset="0"/>
                                  <a:cs typeface="Times New Roman" panose="02020603050405020304" pitchFamily="18" charset="0"/>
                                </a:rPr>
                                <m:t>[2]</m:t>
                              </m:r>
                            </m:oMath>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zh-TW" altLang="en-US"/>
                        </a:p>
                      </a:txBody>
                      <a:tcPr>
                        <a:lnT w="12700" cmpd="sng">
                          <a:noFill/>
                        </a:lnT>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2747832627"/>
                      </a:ext>
                    </a:extLst>
                  </a:tr>
                  <a:tr h="1513034">
                    <a:tc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a:txBody>
                        <a:bodyPr/>
                        <a:lstStyle/>
                        <a:p>
                          <a:pPr algn="dist"/>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29340">
                    <a:tc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𝐷𝑆</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=0+2+0+1=3</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4213090307"/>
                  </p:ext>
                </p:extLst>
              </p:nvPr>
            </p:nvGraphicFramePr>
            <p:xfrm>
              <a:off x="1370128" y="1907047"/>
              <a:ext cx="9983672" cy="4355084"/>
            </p:xfrm>
            <a:graphic>
              <a:graphicData uri="http://schemas.openxmlformats.org/drawingml/2006/table">
                <a:tbl>
                  <a:tblPr firstRow="1" bandRow="1">
                    <a:tableStyleId>{5C22544A-7EE6-4342-B048-85BDC9FD1C3A}</a:tableStyleId>
                  </a:tblPr>
                  <a:tblGrid>
                    <a:gridCol w="2180018">
                      <a:extLst>
                        <a:ext uri="{9D8B030D-6E8A-4147-A177-3AD203B41FA5}">
                          <a16:colId xmlns:a16="http://schemas.microsoft.com/office/drawing/2014/main" val="2315340377"/>
                        </a:ext>
                      </a:extLst>
                    </a:gridCol>
                    <a:gridCol w="314110">
                      <a:extLst>
                        <a:ext uri="{9D8B030D-6E8A-4147-A177-3AD203B41FA5}">
                          <a16:colId xmlns:a16="http://schemas.microsoft.com/office/drawing/2014/main" val="4220167433"/>
                        </a:ext>
                      </a:extLst>
                    </a:gridCol>
                    <a:gridCol w="2024373">
                      <a:extLst>
                        <a:ext uri="{9D8B030D-6E8A-4147-A177-3AD203B41FA5}">
                          <a16:colId xmlns:a16="http://schemas.microsoft.com/office/drawing/2014/main" val="3013778250"/>
                        </a:ext>
                      </a:extLst>
                    </a:gridCol>
                    <a:gridCol w="1183684">
                      <a:extLst>
                        <a:ext uri="{9D8B030D-6E8A-4147-A177-3AD203B41FA5}">
                          <a16:colId xmlns:a16="http://schemas.microsoft.com/office/drawing/2014/main" val="3443406315"/>
                        </a:ext>
                      </a:extLst>
                    </a:gridCol>
                    <a:gridCol w="2146733">
                      <a:extLst>
                        <a:ext uri="{9D8B030D-6E8A-4147-A177-3AD203B41FA5}">
                          <a16:colId xmlns:a16="http://schemas.microsoft.com/office/drawing/2014/main" val="3317424169"/>
                        </a:ext>
                      </a:extLst>
                    </a:gridCol>
                    <a:gridCol w="2134754">
                      <a:extLst>
                        <a:ext uri="{9D8B030D-6E8A-4147-A177-3AD203B41FA5}">
                          <a16:colId xmlns:a16="http://schemas.microsoft.com/office/drawing/2014/main" val="1162832883"/>
                        </a:ext>
                      </a:extLst>
                    </a:gridCol>
                  </a:tblGrid>
                  <a:tr h="365760">
                    <a:tc gridSpan="2">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644828" r="-300508" b="-1089655"/>
                          </a:stretch>
                        </a:blipFill>
                      </a:tcPr>
                    </a:tc>
                    <a:tc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gridSpan="3">
                      <a:txBody>
                        <a:bodyPr/>
                        <a:lstStyle/>
                        <a:p>
                          <a:endParaRPr lang="zh-TW"/>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82599" t="-147244" r="-464" b="-171654"/>
                          </a:stretch>
                        </a:blipFill>
                      </a:tcPr>
                    </a:tc>
                    <a:tc rowSpan="3"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zh-TW" altLang="en-US"/>
                        </a:p>
                      </a:txBody>
                      <a:tcPr>
                        <a:lnL w="12700" cmpd="sng">
                          <a:noFill/>
                        </a:lnL>
                      </a:tcPr>
                    </a:tc>
                    <a:extLst>
                      <a:ext uri="{0D108BD9-81ED-4DB2-BD59-A6C34878D82A}">
                        <a16:rowId xmlns:a16="http://schemas.microsoft.com/office/drawing/2014/main" val="4054647893"/>
                      </a:ext>
                    </a:extLst>
                  </a:tr>
                  <a:tr h="64205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dirty="0"/>
                        </a:p>
                      </a:txBody>
                      <a:tcPr anchor="ctr">
                        <a:lnL w="12700" cap="flat" cmpd="sng" algn="ctr">
                          <a:solidFill>
                            <a:schemeClr val="tx1"/>
                          </a:solid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604900">
                    <a:tc rowSpan="3">
                      <a:txBody>
                        <a:bodyPr/>
                        <a:lstStyle/>
                        <a:p>
                          <a:endParaRPr lang="zh-TW"/>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blipFill>
                          <a:blip r:embed="rId2"/>
                          <a:stretch>
                            <a:fillRect t="-101136" r="-358721" b="-379"/>
                          </a:stretch>
                        </a:blipFill>
                      </a:tcPr>
                    </a:tc>
                    <a:tc rowSpan="3" gridSpan="2">
                      <a:txBody>
                        <a:bodyPr/>
                        <a:lstStyle/>
                        <a:p>
                          <a:endParaRPr lang="zh-TW"/>
                        </a:p>
                      </a:txBody>
                      <a:tcPr>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3478" t="-101136" r="-235326" b="-379"/>
                          </a:stretch>
                        </a:blipFill>
                      </a:tcPr>
                    </a:tc>
                    <a:tc rowSpan="3" hMerge="1">
                      <a:txBody>
                        <a:bodyPr/>
                        <a:lstStyle/>
                        <a:p>
                          <a:endParaRPr lang="zh-TW" altLang="en-US"/>
                        </a:p>
                      </a:txBody>
                      <a:tcPr>
                        <a:lnT w="12700" cmpd="sng">
                          <a:noFill/>
                        </a:lnT>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2747832627"/>
                      </a:ext>
                    </a:extLst>
                  </a:tr>
                  <a:tr h="1513034">
                    <a:tc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a:txBody>
                        <a:bodyPr/>
                        <a:lstStyle/>
                        <a:p>
                          <a:pPr algn="dist"/>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29340">
                    <a:tc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82599" t="-447423" r="-464" b="-1031"/>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971041227"/>
                  </p:ext>
                </p:extLst>
              </p:nvPr>
            </p:nvGraphicFramePr>
            <p:xfrm>
              <a:off x="1370128" y="5005704"/>
              <a:ext cx="4663592" cy="1112520"/>
            </p:xfrm>
            <a:graphic>
              <a:graphicData uri="http://schemas.openxmlformats.org/drawingml/2006/table">
                <a:tbl>
                  <a:tblPr firstRow="1" bandRow="1">
                    <a:tableStyleId>{5C22544A-7EE6-4342-B048-85BDC9FD1C3A}</a:tableStyleId>
                  </a:tblPr>
                  <a:tblGrid>
                    <a:gridCol w="1165898">
                      <a:extLst>
                        <a:ext uri="{9D8B030D-6E8A-4147-A177-3AD203B41FA5}">
                          <a16:colId xmlns:a16="http://schemas.microsoft.com/office/drawing/2014/main" val="3954870805"/>
                        </a:ext>
                      </a:extLst>
                    </a:gridCol>
                    <a:gridCol w="1165898">
                      <a:extLst>
                        <a:ext uri="{9D8B030D-6E8A-4147-A177-3AD203B41FA5}">
                          <a16:colId xmlns:a16="http://schemas.microsoft.com/office/drawing/2014/main" val="875205383"/>
                        </a:ext>
                      </a:extLst>
                    </a:gridCol>
                    <a:gridCol w="1165898">
                      <a:extLst>
                        <a:ext uri="{9D8B030D-6E8A-4147-A177-3AD203B41FA5}">
                          <a16:colId xmlns:a16="http://schemas.microsoft.com/office/drawing/2014/main" val="3806261155"/>
                        </a:ext>
                      </a:extLst>
                    </a:gridCol>
                    <a:gridCol w="1165898">
                      <a:extLst>
                        <a:ext uri="{9D8B030D-6E8A-4147-A177-3AD203B41FA5}">
                          <a16:colId xmlns:a16="http://schemas.microsoft.com/office/drawing/2014/main" val="2096497139"/>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dirty="0" smtClean="0">
                                        <a:solidFill>
                                          <a:schemeClr val="tx1"/>
                                        </a:solidFill>
                                        <a:latin typeface="Cambria Math" panose="02040503050406030204" pitchFamily="18" charset="0"/>
                                      </a:rPr>
                                    </m:ctrlPr>
                                  </m:sSupPr>
                                  <m:e>
                                    <m:r>
                                      <a:rPr lang="en-US" altLang="zh-TW" b="0" i="1" dirty="0" smtClean="0">
                                        <a:solidFill>
                                          <a:schemeClr val="tx1"/>
                                        </a:solidFill>
                                        <a:latin typeface="Cambria Math" panose="02040503050406030204" pitchFamily="18" charset="0"/>
                                      </a:rPr>
                                      <m:t>𝑀</m:t>
                                    </m:r>
                                  </m:e>
                                  <m:sup>
                                    <m:r>
                                      <a:rPr lang="en-US" altLang="zh-TW" b="0" i="1" dirty="0" smtClean="0">
                                        <a:solidFill>
                                          <a:schemeClr val="tx1"/>
                                        </a:solidFill>
                                        <a:latin typeface="Cambria Math" panose="02040503050406030204" pitchFamily="18" charset="0"/>
                                      </a:rPr>
                                      <m:t>𝐷𝑆</m:t>
                                    </m:r>
                                  </m:sup>
                                </m:sSup>
                                <m:r>
                                  <a:rPr lang="en-US" altLang="zh-TW" b="0" i="1" dirty="0" smtClean="0">
                                    <a:solidFill>
                                      <a:schemeClr val="tx1"/>
                                    </a:solidFill>
                                    <a:latin typeface="Cambria Math" panose="02040503050406030204" pitchFamily="18" charset="0"/>
                                  </a:rPr>
                                  <m:t>[0]</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dirty="0" smtClean="0">
                                        <a:solidFill>
                                          <a:schemeClr val="tx1"/>
                                        </a:solidFill>
                                        <a:latin typeface="Cambria Math" panose="02040503050406030204" pitchFamily="18" charset="0"/>
                                      </a:rPr>
                                    </m:ctrlPr>
                                  </m:sSupPr>
                                  <m:e>
                                    <m:r>
                                      <a:rPr lang="en-US" altLang="zh-TW" b="0" i="1" dirty="0" smtClean="0">
                                        <a:solidFill>
                                          <a:schemeClr val="tx1"/>
                                        </a:solidFill>
                                        <a:latin typeface="Cambria Math" panose="02040503050406030204" pitchFamily="18" charset="0"/>
                                      </a:rPr>
                                      <m:t>𝑀</m:t>
                                    </m:r>
                                  </m:e>
                                  <m:sup>
                                    <m:r>
                                      <a:rPr lang="en-US" altLang="zh-TW" b="0" i="1" dirty="0" smtClean="0">
                                        <a:solidFill>
                                          <a:schemeClr val="tx1"/>
                                        </a:solidFill>
                                        <a:latin typeface="Cambria Math" panose="02040503050406030204" pitchFamily="18" charset="0"/>
                                      </a:rPr>
                                      <m:t>𝐷𝑆</m:t>
                                    </m:r>
                                  </m:sup>
                                </m:sSup>
                                <m:r>
                                  <a:rPr lang="en-US" altLang="zh-TW" b="0" i="1" dirty="0" smtClean="0">
                                    <a:solidFill>
                                      <a:schemeClr val="tx1"/>
                                    </a:solidFill>
                                    <a:latin typeface="Cambria Math" panose="02040503050406030204" pitchFamily="18" charset="0"/>
                                  </a:rPr>
                                  <m:t>[1]</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dirty="0" smtClean="0">
                                        <a:solidFill>
                                          <a:schemeClr val="tx1"/>
                                        </a:solidFill>
                                        <a:latin typeface="Cambria Math" panose="02040503050406030204" pitchFamily="18" charset="0"/>
                                      </a:rPr>
                                    </m:ctrlPr>
                                  </m:sSupPr>
                                  <m:e>
                                    <m:r>
                                      <a:rPr lang="en-US" altLang="zh-TW" b="0" i="1" dirty="0" smtClean="0">
                                        <a:solidFill>
                                          <a:schemeClr val="tx1"/>
                                        </a:solidFill>
                                        <a:latin typeface="Cambria Math" panose="02040503050406030204" pitchFamily="18" charset="0"/>
                                      </a:rPr>
                                      <m:t>𝑀</m:t>
                                    </m:r>
                                  </m:e>
                                  <m:sup>
                                    <m:r>
                                      <a:rPr lang="en-US" altLang="zh-TW" b="0" i="1" dirty="0" smtClean="0">
                                        <a:solidFill>
                                          <a:schemeClr val="tx1"/>
                                        </a:solidFill>
                                        <a:latin typeface="Cambria Math" panose="02040503050406030204" pitchFamily="18" charset="0"/>
                                      </a:rPr>
                                      <m:t>𝐷𝑆</m:t>
                                    </m:r>
                                  </m:sup>
                                </m:sSup>
                                <m:r>
                                  <a:rPr lang="en-US" altLang="zh-TW" b="0" i="1" dirty="0" smtClean="0">
                                    <a:solidFill>
                                      <a:schemeClr val="tx1"/>
                                    </a:solidFill>
                                    <a:latin typeface="Cambria Math" panose="02040503050406030204" pitchFamily="18" charset="0"/>
                                  </a:rPr>
                                  <m:t>[2]</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971041227"/>
                  </p:ext>
                </p:extLst>
              </p:nvPr>
            </p:nvGraphicFramePr>
            <p:xfrm>
              <a:off x="1370128" y="5005704"/>
              <a:ext cx="4663592" cy="1112520"/>
            </p:xfrm>
            <a:graphic>
              <a:graphicData uri="http://schemas.openxmlformats.org/drawingml/2006/table">
                <a:tbl>
                  <a:tblPr firstRow="1" bandRow="1">
                    <a:tableStyleId>{5C22544A-7EE6-4342-B048-85BDC9FD1C3A}</a:tableStyleId>
                  </a:tblPr>
                  <a:tblGrid>
                    <a:gridCol w="1165898">
                      <a:extLst>
                        <a:ext uri="{9D8B030D-6E8A-4147-A177-3AD203B41FA5}">
                          <a16:colId xmlns:a16="http://schemas.microsoft.com/office/drawing/2014/main" val="3954870805"/>
                        </a:ext>
                      </a:extLst>
                    </a:gridCol>
                    <a:gridCol w="1165898">
                      <a:extLst>
                        <a:ext uri="{9D8B030D-6E8A-4147-A177-3AD203B41FA5}">
                          <a16:colId xmlns:a16="http://schemas.microsoft.com/office/drawing/2014/main" val="875205383"/>
                        </a:ext>
                      </a:extLst>
                    </a:gridCol>
                    <a:gridCol w="1165898">
                      <a:extLst>
                        <a:ext uri="{9D8B030D-6E8A-4147-A177-3AD203B41FA5}">
                          <a16:colId xmlns:a16="http://schemas.microsoft.com/office/drawing/2014/main" val="3806261155"/>
                        </a:ext>
                      </a:extLst>
                    </a:gridCol>
                    <a:gridCol w="1165898">
                      <a:extLst>
                        <a:ext uri="{9D8B030D-6E8A-4147-A177-3AD203B41FA5}">
                          <a16:colId xmlns:a16="http://schemas.microsoft.com/office/drawing/2014/main" val="2096497139"/>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925" t="-3448" r="-198925"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087" t="-3448" r="-101087"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87" t="-3448" r="-1087" b="-227586"/>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7CAB3F44-FBA2-F548-82D1-701474AFA36D}"/>
              </a:ext>
            </a:extLst>
          </p:cNvPr>
          <p:cNvSpPr>
            <a:spLocks noGrp="1"/>
          </p:cNvSpPr>
          <p:nvPr>
            <p:ph type="sldNum" sz="quarter" idx="12"/>
          </p:nvPr>
        </p:nvSpPr>
        <p:spPr/>
        <p:txBody>
          <a:bodyPr/>
          <a:lstStyle/>
          <a:p>
            <a:fld id="{9964E18F-1489-4A4A-8DD8-AC372572ADE5}" type="slidenum">
              <a:rPr kumimoji="1" lang="zh-TW" altLang="en-US" smtClean="0"/>
              <a:t>14</a:t>
            </a:fld>
            <a:endParaRPr kumimoji="1" lang="zh-TW" altLang="en-US"/>
          </a:p>
        </p:txBody>
      </p:sp>
    </p:spTree>
    <p:extLst>
      <p:ext uri="{BB962C8B-B14F-4D97-AF65-F5344CB8AC3E}">
        <p14:creationId xmlns:p14="http://schemas.microsoft.com/office/powerpoint/2010/main" val="773669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Short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930103420"/>
                  </p:ext>
                </p:extLst>
              </p:nvPr>
            </p:nvGraphicFramePr>
            <p:xfrm>
              <a:off x="1106214" y="1917930"/>
              <a:ext cx="10247586" cy="4470926"/>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1071469">
                      <a:extLst>
                        <a:ext uri="{9D8B030D-6E8A-4147-A177-3AD203B41FA5}">
                          <a16:colId xmlns:a16="http://schemas.microsoft.com/office/drawing/2014/main" val="3317424169"/>
                        </a:ext>
                      </a:extLst>
                    </a:gridCol>
                    <a:gridCol w="2021459">
                      <a:extLst>
                        <a:ext uri="{9D8B030D-6E8A-4147-A177-3AD203B41FA5}">
                          <a16:colId xmlns:a16="http://schemas.microsoft.com/office/drawing/2014/main" val="1162832883"/>
                        </a:ext>
                      </a:extLst>
                    </a:gridCol>
                    <a:gridCol w="2021459">
                      <a:extLst>
                        <a:ext uri="{9D8B030D-6E8A-4147-A177-3AD203B41FA5}">
                          <a16:colId xmlns:a16="http://schemas.microsoft.com/office/drawing/2014/main" val="1817355260"/>
                        </a:ext>
                      </a:extLst>
                    </a:gridCol>
                  </a:tblGrid>
                  <a:tr h="337809">
                    <a:tc>
                      <a:txBody>
                        <a:bodyPr/>
                        <a:lstStyle/>
                        <a:p>
                          <a:pP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𝑆</m:t>
                                    </m:r>
                                  </m:e>
                                  <m:sup>
                                    <m:r>
                                      <a:rPr lang="en-US" altLang="zh-TW" b="0" i="1" smtClean="0">
                                        <a:solidFill>
                                          <a:schemeClr val="tx1"/>
                                        </a:solidFill>
                                        <a:latin typeface="Cambria Math" panose="02040503050406030204" pitchFamily="18" charset="0"/>
                                        <a:cs typeface="Times New Roman" panose="02020603050405020304" pitchFamily="18" charset="0"/>
                                      </a:rPr>
                                      <m:t>∗</m:t>
                                    </m:r>
                                  </m:sup>
                                </m:sSup>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pPr/>
                          <a14:m>
                            <m:oMathPara xmlns:m="http://schemas.openxmlformats.org/officeDocument/2006/math">
                              <m:oMathParaPr>
                                <m:jc m:val="centerGroup"/>
                              </m:oMathParaPr>
                              <m:oMath xmlns:m="http://schemas.openxmlformats.org/officeDocument/2006/math">
                                <m:sSup>
                                  <m:sSupPr>
                                    <m:ctrlPr>
                                      <a:rPr lang="en-US" altLang="zh-TW" b="0" i="1" dirty="0" smtClean="0">
                                        <a:solidFill>
                                          <a:schemeClr val="tx1"/>
                                        </a:solidFill>
                                        <a:latin typeface="Cambria Math" panose="02040503050406030204" pitchFamily="18" charset="0"/>
                                      </a:rPr>
                                    </m:ctrlPr>
                                  </m:sSupPr>
                                  <m:e>
                                    <m:r>
                                      <a:rPr lang="en-US" altLang="zh-TW" b="0" i="1" dirty="0" smtClean="0">
                                        <a:solidFill>
                                          <a:schemeClr val="tx1"/>
                                        </a:solidFill>
                                        <a:latin typeface="Cambria Math" panose="02040503050406030204" pitchFamily="18" charset="0"/>
                                      </a:rPr>
                                      <m:t>𝑆</m:t>
                                    </m:r>
                                  </m:e>
                                  <m:sup>
                                    <m:r>
                                      <a:rPr lang="en-US" altLang="zh-TW" b="0" i="1" dirty="0" smtClean="0">
                                        <a:solidFill>
                                          <a:schemeClr val="tx1"/>
                                        </a:solidFill>
                                        <a:latin typeface="Cambria Math" panose="02040503050406030204" pitchFamily="18" charset="0"/>
                                      </a:rPr>
                                      <m:t>∗</m:t>
                                    </m:r>
                                  </m:sup>
                                </m:sSup>
                                <m:r>
                                  <a:rPr lang="en-US" altLang="zh-TW" b="0" i="1" dirty="0" smtClean="0">
                                    <a:solidFill>
                                      <a:schemeClr val="tx1"/>
                                    </a:solidFill>
                                    <a:latin typeface="Cambria Math" panose="02040503050406030204" pitchFamily="18" charset="0"/>
                                  </a:rPr>
                                  <m:t>=</m:t>
                                </m:r>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𝑜𝑡h𝑒𝑟𝑤𝑖𝑠𝑒</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1216748">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𝑆</m:t>
                                    </m:r>
                                  </m:e>
                                  <m:sup>
                                    <m:r>
                                      <a:rPr lang="en-US" altLang="zh-TW" b="0" i="1" smtClean="0">
                                        <a:solidFill>
                                          <a:schemeClr val="tx1"/>
                                        </a:solidFill>
                                        <a:latin typeface="Cambria Math" panose="02040503050406030204" pitchFamily="18" charset="0"/>
                                        <a:cs typeface="Times New Roman" panose="02020603050405020304" pitchFamily="18" charset="0"/>
                                      </a:rPr>
                                      <m:t>∗</m:t>
                                    </m:r>
                                  </m:sup>
                                </m:sSup>
                                <m:r>
                                  <a:rPr lang="en-US" altLang="zh-TW" b="0" i="1" smtClean="0">
                                    <a:solidFill>
                                      <a:schemeClr val="tx1"/>
                                    </a:solidFill>
                                    <a:latin typeface="Cambria Math" panose="02040503050406030204" pitchFamily="18" charset="0"/>
                                    <a:cs typeface="Times New Roman" panose="02020603050405020304" pitchFamily="18" charset="0"/>
                                  </a:rPr>
                                  <m:t>=1+9+</m:t>
                                </m:r>
                                <m:r>
                                  <a:rPr lang="en-US" altLang="zh-TW" b="0" i="1" smtClean="0">
                                    <a:solidFill>
                                      <a:schemeClr val="accent1"/>
                                    </a:solidFill>
                                    <a:latin typeface="Cambria Math" panose="02040503050406030204" pitchFamily="18" charset="0"/>
                                    <a:cs typeface="Times New Roman" panose="02020603050405020304" pitchFamily="18" charset="0"/>
                                  </a:rPr>
                                  <m:t>0</m:t>
                                </m:r>
                                <m:r>
                                  <a:rPr lang="en-US" altLang="zh-TW" b="0" i="1" smtClean="0">
                                    <a:solidFill>
                                      <a:schemeClr val="tx1"/>
                                    </a:solidFill>
                                    <a:latin typeface="Cambria Math" panose="02040503050406030204" pitchFamily="18" charset="0"/>
                                    <a:cs typeface="Times New Roman" panose="02020603050405020304" pitchFamily="18" charset="0"/>
                                  </a:rPr>
                                  <m:t>+4=14</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930103420"/>
                  </p:ext>
                </p:extLst>
              </p:nvPr>
            </p:nvGraphicFramePr>
            <p:xfrm>
              <a:off x="1106214" y="1917930"/>
              <a:ext cx="10247586" cy="4470926"/>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1071469">
                      <a:extLst>
                        <a:ext uri="{9D8B030D-6E8A-4147-A177-3AD203B41FA5}">
                          <a16:colId xmlns:a16="http://schemas.microsoft.com/office/drawing/2014/main" val="3317424169"/>
                        </a:ext>
                      </a:extLst>
                    </a:gridCol>
                    <a:gridCol w="2021459">
                      <a:extLst>
                        <a:ext uri="{9D8B030D-6E8A-4147-A177-3AD203B41FA5}">
                          <a16:colId xmlns:a16="http://schemas.microsoft.com/office/drawing/2014/main" val="1162832883"/>
                        </a:ext>
                      </a:extLst>
                    </a:gridCol>
                    <a:gridCol w="2021459">
                      <a:extLst>
                        <a:ext uri="{9D8B030D-6E8A-4147-A177-3AD203B41FA5}">
                          <a16:colId xmlns:a16="http://schemas.microsoft.com/office/drawing/2014/main" val="1817355260"/>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75" t="-644828" r="-770968" b="-1120690"/>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endParaRPr lang="zh-TW"/>
                        </a:p>
                      </a:txBody>
                      <a:tcPr>
                        <a:lnL w="12700" cmpd="sng">
                          <a:noFill/>
                        </a:lnL>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blipFill>
                          <a:blip r:embed="rId2"/>
                          <a:stretch>
                            <a:fillRect l="-42504" t="-149600" r="-529" b="-183200"/>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1216748">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069" t="-429412" r="-39706"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1972371225"/>
                  </p:ext>
                </p:extLst>
              </p:nvPr>
            </p:nvGraphicFramePr>
            <p:xfrm>
              <a:off x="1106214" y="5016587"/>
              <a:ext cx="4737164" cy="1112520"/>
            </p:xfrm>
            <a:graphic>
              <a:graphicData uri="http://schemas.openxmlformats.org/drawingml/2006/table">
                <a:tbl>
                  <a:tblPr firstRow="1" bandRow="1">
                    <a:tableStyleId>{5C22544A-7EE6-4342-B048-85BDC9FD1C3A}</a:tableStyleId>
                  </a:tblPr>
                  <a:tblGrid>
                    <a:gridCol w="1184291">
                      <a:extLst>
                        <a:ext uri="{9D8B030D-6E8A-4147-A177-3AD203B41FA5}">
                          <a16:colId xmlns:a16="http://schemas.microsoft.com/office/drawing/2014/main" val="3954870805"/>
                        </a:ext>
                      </a:extLst>
                    </a:gridCol>
                    <a:gridCol w="1184291">
                      <a:extLst>
                        <a:ext uri="{9D8B030D-6E8A-4147-A177-3AD203B41FA5}">
                          <a16:colId xmlns:a16="http://schemas.microsoft.com/office/drawing/2014/main" val="875205383"/>
                        </a:ext>
                      </a:extLst>
                    </a:gridCol>
                    <a:gridCol w="1184291">
                      <a:extLst>
                        <a:ext uri="{9D8B030D-6E8A-4147-A177-3AD203B41FA5}">
                          <a16:colId xmlns:a16="http://schemas.microsoft.com/office/drawing/2014/main" val="3806261155"/>
                        </a:ext>
                      </a:extLst>
                    </a:gridCol>
                    <a:gridCol w="1184291">
                      <a:extLst>
                        <a:ext uri="{9D8B030D-6E8A-4147-A177-3AD203B41FA5}">
                          <a16:colId xmlns:a16="http://schemas.microsoft.com/office/drawing/2014/main" val="19547567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1972371225"/>
                  </p:ext>
                </p:extLst>
              </p:nvPr>
            </p:nvGraphicFramePr>
            <p:xfrm>
              <a:off x="1106214" y="5016587"/>
              <a:ext cx="4737164" cy="1112520"/>
            </p:xfrm>
            <a:graphic>
              <a:graphicData uri="http://schemas.openxmlformats.org/drawingml/2006/table">
                <a:tbl>
                  <a:tblPr firstRow="1" bandRow="1">
                    <a:tableStyleId>{5C22544A-7EE6-4342-B048-85BDC9FD1C3A}</a:tableStyleId>
                  </a:tblPr>
                  <a:tblGrid>
                    <a:gridCol w="1184291">
                      <a:extLst>
                        <a:ext uri="{9D8B030D-6E8A-4147-A177-3AD203B41FA5}">
                          <a16:colId xmlns:a16="http://schemas.microsoft.com/office/drawing/2014/main" val="3954870805"/>
                        </a:ext>
                      </a:extLst>
                    </a:gridCol>
                    <a:gridCol w="1184291">
                      <a:extLst>
                        <a:ext uri="{9D8B030D-6E8A-4147-A177-3AD203B41FA5}">
                          <a16:colId xmlns:a16="http://schemas.microsoft.com/office/drawing/2014/main" val="875205383"/>
                        </a:ext>
                      </a:extLst>
                    </a:gridCol>
                    <a:gridCol w="1184291">
                      <a:extLst>
                        <a:ext uri="{9D8B030D-6E8A-4147-A177-3AD203B41FA5}">
                          <a16:colId xmlns:a16="http://schemas.microsoft.com/office/drawing/2014/main" val="3806261155"/>
                        </a:ext>
                      </a:extLst>
                    </a:gridCol>
                    <a:gridCol w="1184291">
                      <a:extLst>
                        <a:ext uri="{9D8B030D-6E8A-4147-A177-3AD203B41FA5}">
                          <a16:colId xmlns:a16="http://schemas.microsoft.com/office/drawing/2014/main" val="19547567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151" t="-3448" r="-202151"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448" r="-100000"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3226" t="-3448" r="-1075" b="-227586"/>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2CB3C265-1DD3-B341-A558-F4ED0A4C1503}"/>
              </a:ext>
            </a:extLst>
          </p:cNvPr>
          <p:cNvSpPr>
            <a:spLocks noGrp="1"/>
          </p:cNvSpPr>
          <p:nvPr>
            <p:ph type="sldNum" sz="quarter" idx="12"/>
          </p:nvPr>
        </p:nvSpPr>
        <p:spPr/>
        <p:txBody>
          <a:bodyPr/>
          <a:lstStyle/>
          <a:p>
            <a:fld id="{9964E18F-1489-4A4A-8DD8-AC372572ADE5}" type="slidenum">
              <a:rPr kumimoji="1" lang="zh-TW" altLang="en-US" smtClean="0"/>
              <a:t>15</a:t>
            </a:fld>
            <a:endParaRPr kumimoji="1" lang="zh-TW" altLang="en-US"/>
          </a:p>
        </p:txBody>
      </p:sp>
    </p:spTree>
    <p:extLst>
      <p:ext uri="{BB962C8B-B14F-4D97-AF65-F5344CB8AC3E}">
        <p14:creationId xmlns:p14="http://schemas.microsoft.com/office/powerpoint/2010/main" val="472066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Short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218795941"/>
                  </p:ext>
                </p:extLst>
              </p:nvPr>
            </p:nvGraphicFramePr>
            <p:xfrm>
              <a:off x="1963956" y="1917930"/>
              <a:ext cx="8264087" cy="4211177"/>
            </p:xfrm>
            <a:graphic>
              <a:graphicData uri="http://schemas.openxmlformats.org/drawingml/2006/table">
                <a:tbl>
                  <a:tblPr firstRow="1" bandRow="1">
                    <a:tableStyleId>{5C22544A-7EE6-4342-B048-85BDC9FD1C3A}</a:tableStyleId>
                  </a:tblPr>
                  <a:tblGrid>
                    <a:gridCol w="1186329">
                      <a:extLst>
                        <a:ext uri="{9D8B030D-6E8A-4147-A177-3AD203B41FA5}">
                          <a16:colId xmlns:a16="http://schemas.microsoft.com/office/drawing/2014/main" val="2900614783"/>
                        </a:ext>
                      </a:extLst>
                    </a:gridCol>
                    <a:gridCol w="1878751">
                      <a:extLst>
                        <a:ext uri="{9D8B030D-6E8A-4147-A177-3AD203B41FA5}">
                          <a16:colId xmlns:a16="http://schemas.microsoft.com/office/drawing/2014/main" val="3013778250"/>
                        </a:ext>
                      </a:extLst>
                    </a:gridCol>
                    <a:gridCol w="2091806">
                      <a:extLst>
                        <a:ext uri="{9D8B030D-6E8A-4147-A177-3AD203B41FA5}">
                          <a16:colId xmlns:a16="http://schemas.microsoft.com/office/drawing/2014/main" val="3443406315"/>
                        </a:ext>
                      </a:extLst>
                    </a:gridCol>
                    <a:gridCol w="1494692">
                      <a:extLst>
                        <a:ext uri="{9D8B030D-6E8A-4147-A177-3AD203B41FA5}">
                          <a16:colId xmlns:a16="http://schemas.microsoft.com/office/drawing/2014/main" val="3317424169"/>
                        </a:ext>
                      </a:extLst>
                    </a:gridCol>
                    <a:gridCol w="1612509">
                      <a:extLst>
                        <a:ext uri="{9D8B030D-6E8A-4147-A177-3AD203B41FA5}">
                          <a16:colId xmlns:a16="http://schemas.microsoft.com/office/drawing/2014/main" val="1162832883"/>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𝑁𝐿</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3</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𝑁𝐿</m:t>
                                </m:r>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sub>
                                  <m:sup/>
                                  <m:e>
                                    <m:sSup>
                                      <m:sSupPr>
                                        <m:ctrlPr>
                                          <a:rPr lang="en-US" altLang="zh-TW" b="0" i="1" smtClean="0">
                                            <a:solidFill>
                                              <a:srgbClr val="FF0000"/>
                                            </a:solidFill>
                                            <a:latin typeface="Cambria Math" panose="02040503050406030204" pitchFamily="18" charset="0"/>
                                          </a:rPr>
                                        </m:ctrlPr>
                                      </m:sSupPr>
                                      <m:e>
                                        <m:r>
                                          <a:rPr lang="en-US" altLang="zh-TW" b="0" i="1" smtClean="0">
                                            <a:solidFill>
                                              <a:srgbClr val="FF0000"/>
                                            </a:solidFill>
                                            <a:latin typeface="Cambria Math" panose="02040503050406030204" pitchFamily="18" charset="0"/>
                                          </a:rPr>
                                          <m:t>𝑀</m:t>
                                        </m:r>
                                      </m:e>
                                      <m:sup>
                                        <m:r>
                                          <a:rPr lang="en-US" altLang="zh-TW" b="0" i="1" smtClean="0">
                                            <a:solidFill>
                                              <a:srgbClr val="FF0000"/>
                                            </a:solidFill>
                                            <a:latin typeface="Cambria Math" panose="02040503050406030204" pitchFamily="18" charset="0"/>
                                          </a:rPr>
                                          <m:t>𝑁𝐿</m:t>
                                        </m:r>
                                      </m:sup>
                                    </m:sSup>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r>
                            <a:rPr lang="en-US" altLang="zh-TW" b="0" dirty="0">
                              <a:solidFill>
                                <a:schemeClr val="tx1"/>
                              </a:solidFill>
                              <a:latin typeface="Times New Roman" panose="02020603050405020304" pitchFamily="18" charset="0"/>
                              <a:cs typeface="Times New Roman" panose="02020603050405020304" pitchFamily="18" charset="0"/>
                            </a:rPr>
                            <a:t>Void =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𝑁𝐿</m:t>
                                  </m:r>
                                </m:sup>
                              </m:sSup>
                              <m:r>
                                <a:rPr lang="en-US" altLang="zh-TW" b="0" i="1" smtClean="0">
                                  <a:solidFill>
                                    <a:schemeClr val="tx1"/>
                                  </a:solidFill>
                                  <a:latin typeface="Cambria Math" panose="02040503050406030204" pitchFamily="18" charset="0"/>
                                  <a:cs typeface="Times New Roman" panose="02020603050405020304" pitchFamily="18" charset="0"/>
                                </a:rPr>
                                <m:t>[0]</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Singleton =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𝑁𝐿</m:t>
                                  </m:r>
                                </m:sup>
                              </m:sSup>
                              <m:r>
                                <a:rPr lang="en-US" altLang="zh-TW" b="0" i="1" smtClean="0">
                                  <a:solidFill>
                                    <a:schemeClr val="tx1"/>
                                  </a:solidFill>
                                  <a:latin typeface="Cambria Math" panose="02040503050406030204" pitchFamily="18" charset="0"/>
                                  <a:cs typeface="Times New Roman" panose="02020603050405020304" pitchFamily="18" charset="0"/>
                                </a:rPr>
                                <m:t>[1]</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Doubleton =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𝑁𝐿</m:t>
                                  </m:r>
                                </m:sup>
                              </m:sSup>
                              <m:r>
                                <a:rPr lang="en-US" altLang="zh-TW" b="0" i="1" smtClean="0">
                                  <a:solidFill>
                                    <a:schemeClr val="tx1"/>
                                  </a:solidFill>
                                  <a:latin typeface="Cambria Math" panose="02040503050406030204" pitchFamily="18" charset="0"/>
                                  <a:cs typeface="Times New Roman" panose="02020603050405020304" pitchFamily="18" charset="0"/>
                                </a:rPr>
                                <m:t>[2]</m:t>
                              </m:r>
                            </m:oMath>
                          </a14:m>
                          <a:endParaRPr lang="en-US" altLang="zh-TW" b="0" dirty="0">
                            <a:solidFill>
                              <a:schemeClr val="tx1"/>
                            </a:solidFill>
                            <a:latin typeface="Times New Roman" panose="02020603050405020304" pitchFamily="18" charset="0"/>
                            <a:cs typeface="Times New Roman" panose="02020603050405020304" pitchFamily="18" charset="0"/>
                          </a:endParaRPr>
                        </a:p>
                        <a:p>
                          <a:r>
                            <a:rPr lang="en-US" altLang="zh-TW" b="0" dirty="0">
                              <a:solidFill>
                                <a:schemeClr val="tx1"/>
                              </a:solidFill>
                              <a:latin typeface="Times New Roman" panose="02020603050405020304" pitchFamily="18" charset="0"/>
                              <a:cs typeface="Times New Roman" panose="02020603050405020304" pitchFamily="18" charset="0"/>
                            </a:rPr>
                            <a:t>otherwise = 0</a:t>
                          </a: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𝑁𝐿</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=0+2+0.5=2.5</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218795941"/>
                  </p:ext>
                </p:extLst>
              </p:nvPr>
            </p:nvGraphicFramePr>
            <p:xfrm>
              <a:off x="1963956" y="1917930"/>
              <a:ext cx="8264087" cy="4211177"/>
            </p:xfrm>
            <a:graphic>
              <a:graphicData uri="http://schemas.openxmlformats.org/drawingml/2006/table">
                <a:tbl>
                  <a:tblPr firstRow="1" bandRow="1">
                    <a:tableStyleId>{5C22544A-7EE6-4342-B048-85BDC9FD1C3A}</a:tableStyleId>
                  </a:tblPr>
                  <a:tblGrid>
                    <a:gridCol w="1186329">
                      <a:extLst>
                        <a:ext uri="{9D8B030D-6E8A-4147-A177-3AD203B41FA5}">
                          <a16:colId xmlns:a16="http://schemas.microsoft.com/office/drawing/2014/main" val="2900614783"/>
                        </a:ext>
                      </a:extLst>
                    </a:gridCol>
                    <a:gridCol w="1878751">
                      <a:extLst>
                        <a:ext uri="{9D8B030D-6E8A-4147-A177-3AD203B41FA5}">
                          <a16:colId xmlns:a16="http://schemas.microsoft.com/office/drawing/2014/main" val="3013778250"/>
                        </a:ext>
                      </a:extLst>
                    </a:gridCol>
                    <a:gridCol w="2091806">
                      <a:extLst>
                        <a:ext uri="{9D8B030D-6E8A-4147-A177-3AD203B41FA5}">
                          <a16:colId xmlns:a16="http://schemas.microsoft.com/office/drawing/2014/main" val="3443406315"/>
                        </a:ext>
                      </a:extLst>
                    </a:gridCol>
                    <a:gridCol w="1494692">
                      <a:extLst>
                        <a:ext uri="{9D8B030D-6E8A-4147-A177-3AD203B41FA5}">
                          <a16:colId xmlns:a16="http://schemas.microsoft.com/office/drawing/2014/main" val="3317424169"/>
                        </a:ext>
                      </a:extLst>
                    </a:gridCol>
                    <a:gridCol w="1612509">
                      <a:extLst>
                        <a:ext uri="{9D8B030D-6E8A-4147-A177-3AD203B41FA5}">
                          <a16:colId xmlns:a16="http://schemas.microsoft.com/office/drawing/2014/main" val="1162832883"/>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58621" r="-594681" b="-1048276"/>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3</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024" t="-72115" r="-244" b="-220192"/>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zh-TW"/>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4323" r="-169835" b="-330"/>
                          </a:stretch>
                        </a:blip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024" t="-299020" r="-244"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226078448"/>
                  </p:ext>
                </p:extLst>
              </p:nvPr>
            </p:nvGraphicFramePr>
            <p:xfrm>
              <a:off x="1963956" y="4943157"/>
              <a:ext cx="3292743" cy="741680"/>
            </p:xfrm>
            <a:graphic>
              <a:graphicData uri="http://schemas.openxmlformats.org/drawingml/2006/table">
                <a:tbl>
                  <a:tblPr firstRow="1" bandRow="1">
                    <a:tableStyleId>{5C22544A-7EE6-4342-B048-85BDC9FD1C3A}</a:tableStyleId>
                  </a:tblPr>
                  <a:tblGrid>
                    <a:gridCol w="1097581">
                      <a:extLst>
                        <a:ext uri="{9D8B030D-6E8A-4147-A177-3AD203B41FA5}">
                          <a16:colId xmlns:a16="http://schemas.microsoft.com/office/drawing/2014/main" val="875205383"/>
                        </a:ext>
                      </a:extLst>
                    </a:gridCol>
                    <a:gridCol w="1097581">
                      <a:extLst>
                        <a:ext uri="{9D8B030D-6E8A-4147-A177-3AD203B41FA5}">
                          <a16:colId xmlns:a16="http://schemas.microsoft.com/office/drawing/2014/main" val="3806261155"/>
                        </a:ext>
                      </a:extLst>
                    </a:gridCol>
                    <a:gridCol w="1097581">
                      <a:extLst>
                        <a:ext uri="{9D8B030D-6E8A-4147-A177-3AD203B41FA5}">
                          <a16:colId xmlns:a16="http://schemas.microsoft.com/office/drawing/2014/main" val="2022085249"/>
                        </a:ext>
                      </a:extLst>
                    </a:gridCol>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𝑁𝐿</m:t>
                                    </m:r>
                                  </m:sup>
                                </m:sSup>
                                <m:r>
                                  <a:rPr lang="en-US" altLang="zh-TW" b="0" i="1" smtClean="0">
                                    <a:solidFill>
                                      <a:schemeClr val="tx1"/>
                                    </a:solidFill>
                                    <a:latin typeface="Cambria Math" panose="02040503050406030204" pitchFamily="18" charset="0"/>
                                    <a:cs typeface="Times New Roman" panose="02020603050405020304" pitchFamily="18" charset="0"/>
                                  </a:rPr>
                                  <m:t>[0]</m:t>
                                </m:r>
                              </m:oMath>
                            </m:oMathPara>
                          </a14:m>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𝑁𝐿</m:t>
                                    </m:r>
                                  </m:sup>
                                </m:sSup>
                                <m:r>
                                  <a:rPr lang="en-US" altLang="zh-TW"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𝑀</m:t>
                                  </m:r>
                                </m:e>
                                <m:sup>
                                  <m:r>
                                    <a:rPr lang="en-US" altLang="zh-TW" b="0" i="1" smtClean="0">
                                      <a:solidFill>
                                        <a:schemeClr val="tx1"/>
                                      </a:solidFill>
                                      <a:latin typeface="Cambria Math" panose="02040503050406030204" pitchFamily="18" charset="0"/>
                                      <a:cs typeface="Times New Roman" panose="02020603050405020304" pitchFamily="18" charset="0"/>
                                    </a:rPr>
                                    <m:t>𝑁𝐿</m:t>
                                  </m:r>
                                </m:sup>
                              </m:sSup>
                              <m:r>
                                <a:rPr lang="en-US" altLang="zh-TW" b="0" i="1" smtClean="0">
                                  <a:solidFill>
                                    <a:schemeClr val="tx1"/>
                                  </a:solidFill>
                                  <a:latin typeface="Cambria Math" panose="02040503050406030204" pitchFamily="18" charset="0"/>
                                  <a:cs typeface="Times New Roman" panose="02020603050405020304" pitchFamily="18" charset="0"/>
                                </a:rPr>
                                <m:t>[2]</m:t>
                              </m:r>
                            </m:oMath>
                          </a14:m>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226078448"/>
                  </p:ext>
                </p:extLst>
              </p:nvPr>
            </p:nvGraphicFramePr>
            <p:xfrm>
              <a:off x="1963956" y="4943157"/>
              <a:ext cx="3292743" cy="741680"/>
            </p:xfrm>
            <a:graphic>
              <a:graphicData uri="http://schemas.openxmlformats.org/drawingml/2006/table">
                <a:tbl>
                  <a:tblPr firstRow="1" bandRow="1">
                    <a:tableStyleId>{5C22544A-7EE6-4342-B048-85BDC9FD1C3A}</a:tableStyleId>
                  </a:tblPr>
                  <a:tblGrid>
                    <a:gridCol w="1097581">
                      <a:extLst>
                        <a:ext uri="{9D8B030D-6E8A-4147-A177-3AD203B41FA5}">
                          <a16:colId xmlns:a16="http://schemas.microsoft.com/office/drawing/2014/main" val="875205383"/>
                        </a:ext>
                      </a:extLst>
                    </a:gridCol>
                    <a:gridCol w="1097581">
                      <a:extLst>
                        <a:ext uri="{9D8B030D-6E8A-4147-A177-3AD203B41FA5}">
                          <a16:colId xmlns:a16="http://schemas.microsoft.com/office/drawing/2014/main" val="3806261155"/>
                        </a:ext>
                      </a:extLst>
                    </a:gridCol>
                    <a:gridCol w="1097581">
                      <a:extLst>
                        <a:ext uri="{9D8B030D-6E8A-4147-A177-3AD203B41FA5}">
                          <a16:colId xmlns:a16="http://schemas.microsoft.com/office/drawing/2014/main" val="2022085249"/>
                        </a:ext>
                      </a:extLst>
                    </a:gridCol>
                  </a:tblGrid>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t="-3333" r="-201149" b="-12333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1163" t="-3333" r="-103488" b="-12333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851" t="-3333" r="-2299" b="-123333"/>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bl>
              </a:graphicData>
            </a:graphic>
          </p:graphicFrame>
        </mc:Fallback>
      </mc:AlternateContent>
      <p:sp>
        <p:nvSpPr>
          <p:cNvPr id="5" name="投影片編號版面配置區 4">
            <a:extLst>
              <a:ext uri="{FF2B5EF4-FFF2-40B4-BE49-F238E27FC236}">
                <a16:creationId xmlns:a16="http://schemas.microsoft.com/office/drawing/2014/main" id="{7228B2D6-36C5-734A-A700-89C928B732C4}"/>
              </a:ext>
            </a:extLst>
          </p:cNvPr>
          <p:cNvSpPr>
            <a:spLocks noGrp="1"/>
          </p:cNvSpPr>
          <p:nvPr>
            <p:ph type="sldNum" sz="quarter" idx="12"/>
          </p:nvPr>
        </p:nvSpPr>
        <p:spPr/>
        <p:txBody>
          <a:bodyPr/>
          <a:lstStyle/>
          <a:p>
            <a:fld id="{9964E18F-1489-4A4A-8DD8-AC372572ADE5}" type="slidenum">
              <a:rPr kumimoji="1" lang="zh-TW" altLang="en-US" smtClean="0"/>
              <a:t>16</a:t>
            </a:fld>
            <a:endParaRPr kumimoji="1" lang="zh-TW" altLang="en-US"/>
          </a:p>
        </p:txBody>
      </p:sp>
    </p:spTree>
    <p:extLst>
      <p:ext uri="{BB962C8B-B14F-4D97-AF65-F5344CB8AC3E}">
        <p14:creationId xmlns:p14="http://schemas.microsoft.com/office/powerpoint/2010/main" val="3841553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2399322641"/>
                  </p:ext>
                </p:extLst>
              </p:nvPr>
            </p:nvGraphicFramePr>
            <p:xfrm>
              <a:off x="1386052" y="1634045"/>
              <a:ext cx="9419896" cy="4866005"/>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𝐿</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dirty="0" smtClean="0">
                                        <a:solidFill>
                                          <a:schemeClr val="tx1"/>
                                        </a:solidFill>
                                        <a:latin typeface="Cambria Math" panose="02040503050406030204" pitchFamily="18" charset="0"/>
                                      </a:rPr>
                                    </m:ctrlPr>
                                  </m:naryPr>
                                  <m:sub>
                                    <m:r>
                                      <a:rPr lang="en-US" altLang="zh-TW" b="0" i="1" dirty="0" smtClean="0">
                                        <a:solidFill>
                                          <a:schemeClr val="tx1"/>
                                        </a:solidFill>
                                        <a:latin typeface="Cambria Math" panose="02040503050406030204" pitchFamily="18" charset="0"/>
                                      </a:rPr>
                                      <m:t>𝑠𝑢𝑖𝑡</m:t>
                                    </m:r>
                                    <m:r>
                                      <a:rPr lang="en-US" altLang="zh-TW" b="0"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h𝑎𝑛𝑑</m:t>
                                    </m:r>
                                  </m:sub>
                                  <m:sup/>
                                  <m:e>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986192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4</m:t>
                                    </m:r>
                                  </m:sub>
                                </m:sSub>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eqAr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eqAr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&lt;4</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412707"/>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𝐿</m:t>
                                    </m:r>
                                  </m:e>
                                  <m:sup>
                                    <m:r>
                                      <a:rPr lang="en-US" altLang="zh-TW" b="0" i="1" smtClean="0">
                                        <a:solidFill>
                                          <a:schemeClr val="tx1"/>
                                        </a:solidFill>
                                        <a:latin typeface="Cambria Math" panose="02040503050406030204" pitchFamily="18" charset="0"/>
                                      </a:rPr>
                                      <m:t>∗</m:t>
                                    </m:r>
                                  </m:sup>
                                </m:sSup>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𝑜𝑡h𝑒𝑟𝑤𝑖𝑠𝑒</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8830415"/>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a:t>
                          </a:r>
                          <a14:m>
                            <m:oMath xmlns:m="http://schemas.openxmlformats.org/officeDocument/2006/math">
                              <m:r>
                                <a:rPr lang="en-US" altLang="zh-TW" b="0" i="1" smtClean="0">
                                  <a:solidFill>
                                    <a:schemeClr val="tx1"/>
                                  </a:solidFill>
                                  <a:latin typeface="Cambria Math" panose="02040503050406030204" pitchFamily="18" charset="0"/>
                                </a:rPr>
                                <m:t>𝐿</m:t>
                              </m:r>
                            </m:oMath>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𝑏</m:t>
                                </m:r>
                                <m:r>
                                  <a:rPr lang="en-US" altLang="zh-TW" b="0" i="1" smtClean="0">
                                    <a:solidFill>
                                      <a:schemeClr val="tx1"/>
                                    </a:solidFill>
                                    <a:latin typeface="Cambria Math" panose="02040503050406030204" pitchFamily="18" charset="0"/>
                                  </a:rPr>
                                  <m:t>)</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491166"/>
                      </a:ext>
                    </a:extLst>
                  </a:tr>
                </a:tbl>
              </a:graphicData>
            </a:graphic>
          </p:graphicFrame>
        </mc:Choice>
        <mc:Fallback xmlns="">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2399322641"/>
                  </p:ext>
                </p:extLst>
              </p:nvPr>
            </p:nvGraphicFramePr>
            <p:xfrm>
              <a:off x="1386052" y="1634045"/>
              <a:ext cx="9419896" cy="4889818"/>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1107186">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211364" r="-841772" b="-54090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211364" r="-360" b="-540909"/>
                          </a:stretch>
                        </a:blipFill>
                      </a:tcPr>
                    </a:tc>
                    <a:extLst>
                      <a:ext uri="{0D108BD9-81ED-4DB2-BD59-A6C34878D82A}">
                        <a16:rowId xmlns:a16="http://schemas.microsoft.com/office/drawing/2014/main" val="1969861928"/>
                      </a:ext>
                    </a:extLst>
                  </a:tr>
                  <a:tr h="1933766">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80263" r="-841772" b="-213158"/>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80263" r="-360" b="-213158"/>
                          </a:stretch>
                        </a:blipFill>
                      </a:tcPr>
                    </a:tc>
                    <a:extLst>
                      <a:ext uri="{0D108BD9-81ED-4DB2-BD59-A6C34878D82A}">
                        <a16:rowId xmlns:a16="http://schemas.microsoft.com/office/drawing/2014/main" val="1742412707"/>
                      </a:ext>
                    </a:extLst>
                  </a:tr>
                  <a:tr h="1107186">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484091" r="-841772" b="-268182"/>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484091" r="-360" b="-268182"/>
                          </a:stretch>
                        </a:blipFill>
                      </a:tcPr>
                    </a:tc>
                    <a:extLst>
                      <a:ext uri="{0D108BD9-81ED-4DB2-BD59-A6C34878D82A}">
                        <a16:rowId xmlns:a16="http://schemas.microsoft.com/office/drawing/2014/main" val="2978830415"/>
                      </a:ext>
                    </a:extLst>
                  </a:tr>
                  <a:tr h="3708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772414" r="-841772" b="-713793"/>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772414" r="-360" b="-713793"/>
                          </a:stretch>
                        </a:blipFill>
                      </a:tcPr>
                    </a:tc>
                    <a:extLst>
                      <a:ext uri="{0D108BD9-81ED-4DB2-BD59-A6C34878D82A}">
                        <a16:rowId xmlns:a16="http://schemas.microsoft.com/office/drawing/2014/main" val="4032491166"/>
                      </a:ext>
                    </a:extLst>
                  </a:tr>
                </a:tbl>
              </a:graphicData>
            </a:graphic>
          </p:graphicFrame>
        </mc:Fallback>
      </mc:AlternateContent>
      <p:sp>
        <p:nvSpPr>
          <p:cNvPr id="3" name="投影片編號版面配置區 2">
            <a:extLst>
              <a:ext uri="{FF2B5EF4-FFF2-40B4-BE49-F238E27FC236}">
                <a16:creationId xmlns:a16="http://schemas.microsoft.com/office/drawing/2014/main" id="{6D1322C4-0EB1-4F47-8E17-54CB69E2AC37}"/>
              </a:ext>
            </a:extLst>
          </p:cNvPr>
          <p:cNvSpPr>
            <a:spLocks noGrp="1"/>
          </p:cNvSpPr>
          <p:nvPr>
            <p:ph type="sldNum" sz="quarter" idx="12"/>
          </p:nvPr>
        </p:nvSpPr>
        <p:spPr/>
        <p:txBody>
          <a:bodyPr/>
          <a:lstStyle/>
          <a:p>
            <a:fld id="{9964E18F-1489-4A4A-8DD8-AC372572ADE5}" type="slidenum">
              <a:rPr kumimoji="1" lang="zh-TW" altLang="en-US" smtClean="0"/>
              <a:t>17</a:t>
            </a:fld>
            <a:endParaRPr kumimoji="1" lang="zh-TW" altLang="en-US"/>
          </a:p>
        </p:txBody>
      </p:sp>
    </p:spTree>
    <p:extLst>
      <p:ext uri="{BB962C8B-B14F-4D97-AF65-F5344CB8AC3E}">
        <p14:creationId xmlns:p14="http://schemas.microsoft.com/office/powerpoint/2010/main" val="2391556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556352808"/>
                  </p:ext>
                </p:extLst>
              </p:nvPr>
            </p:nvGraphicFramePr>
            <p:xfrm>
              <a:off x="1577702" y="1690688"/>
              <a:ext cx="10247586" cy="4641018"/>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1430676">
                      <a:extLst>
                        <a:ext uri="{9D8B030D-6E8A-4147-A177-3AD203B41FA5}">
                          <a16:colId xmlns:a16="http://schemas.microsoft.com/office/drawing/2014/main" val="3317424169"/>
                        </a:ext>
                      </a:extLst>
                    </a:gridCol>
                    <a:gridCol w="1662252">
                      <a:extLst>
                        <a:ext uri="{9D8B030D-6E8A-4147-A177-3AD203B41FA5}">
                          <a16:colId xmlns:a16="http://schemas.microsoft.com/office/drawing/2014/main" val="1162832883"/>
                        </a:ext>
                      </a:extLst>
                    </a:gridCol>
                    <a:gridCol w="2021459">
                      <a:extLst>
                        <a:ext uri="{9D8B030D-6E8A-4147-A177-3AD203B41FA5}">
                          <a16:colId xmlns:a16="http://schemas.microsoft.com/office/drawing/2014/main" val="1817355260"/>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𝐿</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4</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pP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𝐿</m:t>
                                </m:r>
                                <m:r>
                                  <a:rPr lang="en-US" altLang="zh-TW" b="0" i="1" dirty="0" smtClean="0">
                                    <a:solidFill>
                                      <a:schemeClr val="tx1"/>
                                    </a:solidFill>
                                    <a:latin typeface="Cambria Math" panose="02040503050406030204" pitchFamily="18" charset="0"/>
                                  </a:rPr>
                                  <m:t>=</m:t>
                                </m:r>
                                <m:nary>
                                  <m:naryPr>
                                    <m:chr m:val="∑"/>
                                    <m:supHide m:val="on"/>
                                    <m:ctrlPr>
                                      <a:rPr lang="en-US" altLang="zh-TW" b="0" i="1" dirty="0" smtClean="0">
                                        <a:solidFill>
                                          <a:schemeClr val="tx1"/>
                                        </a:solidFill>
                                        <a:latin typeface="Cambria Math" panose="02040503050406030204" pitchFamily="18" charset="0"/>
                                      </a:rPr>
                                    </m:ctrlPr>
                                  </m:naryPr>
                                  <m:sub>
                                    <m:r>
                                      <a:rPr lang="en-US" altLang="zh-TW" b="0" i="1" dirty="0" smtClean="0">
                                        <a:solidFill>
                                          <a:schemeClr val="tx1"/>
                                        </a:solidFill>
                                        <a:latin typeface="Cambria Math" panose="02040503050406030204" pitchFamily="18" charset="0"/>
                                      </a:rPr>
                                      <m:t>𝑠𝑢𝑖𝑡</m:t>
                                    </m:r>
                                    <m:r>
                                      <a:rPr lang="en-US" altLang="zh-TW" b="0"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h𝑎𝑛𝑑</m:t>
                                    </m:r>
                                  </m:sub>
                                  <m:sup/>
                                  <m:e>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1386840">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𝐿</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=0+0+9+0=9</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556352808"/>
                  </p:ext>
                </p:extLst>
              </p:nvPr>
            </p:nvGraphicFramePr>
            <p:xfrm>
              <a:off x="1577702" y="1690688"/>
              <a:ext cx="10247586" cy="4641018"/>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1430676">
                      <a:extLst>
                        <a:ext uri="{9D8B030D-6E8A-4147-A177-3AD203B41FA5}">
                          <a16:colId xmlns:a16="http://schemas.microsoft.com/office/drawing/2014/main" val="3317424169"/>
                        </a:ext>
                      </a:extLst>
                    </a:gridCol>
                    <a:gridCol w="1662252">
                      <a:extLst>
                        <a:ext uri="{9D8B030D-6E8A-4147-A177-3AD203B41FA5}">
                          <a16:colId xmlns:a16="http://schemas.microsoft.com/office/drawing/2014/main" val="1162832883"/>
                        </a:ext>
                      </a:extLst>
                    </a:gridCol>
                    <a:gridCol w="2021459">
                      <a:extLst>
                        <a:ext uri="{9D8B030D-6E8A-4147-A177-3AD203B41FA5}">
                          <a16:colId xmlns:a16="http://schemas.microsoft.com/office/drawing/2014/main" val="1817355260"/>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75" t="-644828" r="-770968" b="-1165517"/>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4</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endParaRPr lang="zh-TW"/>
                        </a:p>
                      </a:txBody>
                      <a:tcPr>
                        <a:lnL w="12700" cmpd="sng">
                          <a:noFill/>
                        </a:lnL>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blipFill>
                          <a:blip r:embed="rId2"/>
                          <a:stretch>
                            <a:fillRect l="-42681" t="-135507" r="-353" b="-165942"/>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1386840">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314" t="-442157" r="-39461"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4020002826"/>
                  </p:ext>
                </p:extLst>
              </p:nvPr>
            </p:nvGraphicFramePr>
            <p:xfrm>
              <a:off x="1765738" y="4789345"/>
              <a:ext cx="3483429"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954870805"/>
                        </a:ext>
                      </a:extLst>
                    </a:gridCol>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4020002826"/>
                  </p:ext>
                </p:extLst>
              </p:nvPr>
            </p:nvGraphicFramePr>
            <p:xfrm>
              <a:off x="1765738" y="4789345"/>
              <a:ext cx="3483429"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954870805"/>
                        </a:ext>
                      </a:extLst>
                    </a:gridCol>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198" t="-3448" r="-102198"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448" r="-1087" b="-227586"/>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4C8C2DAA-7984-CE48-9223-D9E125F59D05}"/>
              </a:ext>
            </a:extLst>
          </p:cNvPr>
          <p:cNvSpPr>
            <a:spLocks noGrp="1"/>
          </p:cNvSpPr>
          <p:nvPr>
            <p:ph type="sldNum" sz="quarter" idx="12"/>
          </p:nvPr>
        </p:nvSpPr>
        <p:spPr/>
        <p:txBody>
          <a:bodyPr/>
          <a:lstStyle/>
          <a:p>
            <a:fld id="{9964E18F-1489-4A4A-8DD8-AC372572ADE5}" type="slidenum">
              <a:rPr kumimoji="1" lang="zh-TW" altLang="en-US" smtClean="0"/>
              <a:t>18</a:t>
            </a:fld>
            <a:endParaRPr kumimoji="1" lang="zh-TW" altLang="en-US"/>
          </a:p>
        </p:txBody>
      </p:sp>
    </p:spTree>
    <p:extLst>
      <p:ext uri="{BB962C8B-B14F-4D97-AF65-F5344CB8AC3E}">
        <p14:creationId xmlns:p14="http://schemas.microsoft.com/office/powerpoint/2010/main" val="1782089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885815027"/>
                  </p:ext>
                </p:extLst>
              </p:nvPr>
            </p:nvGraphicFramePr>
            <p:xfrm>
              <a:off x="1418709" y="1572266"/>
              <a:ext cx="10247586" cy="5059477"/>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2006305">
                      <a:extLst>
                        <a:ext uri="{9D8B030D-6E8A-4147-A177-3AD203B41FA5}">
                          <a16:colId xmlns:a16="http://schemas.microsoft.com/office/drawing/2014/main" val="3317424169"/>
                        </a:ext>
                      </a:extLst>
                    </a:gridCol>
                    <a:gridCol w="2185987">
                      <a:extLst>
                        <a:ext uri="{9D8B030D-6E8A-4147-A177-3AD203B41FA5}">
                          <a16:colId xmlns:a16="http://schemas.microsoft.com/office/drawing/2014/main" val="1162832883"/>
                        </a:ext>
                      </a:extLst>
                    </a:gridCol>
                    <a:gridCol w="922095">
                      <a:extLst>
                        <a:ext uri="{9D8B030D-6E8A-4147-A177-3AD203B41FA5}">
                          <a16:colId xmlns:a16="http://schemas.microsoft.com/office/drawing/2014/main" val="1817355260"/>
                        </a:ext>
                      </a:extLst>
                    </a:gridCol>
                  </a:tblGrid>
                  <a:tr h="337809">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𝐿</m:t>
                                    </m:r>
                                  </m:e>
                                  <m:sub>
                                    <m:r>
                                      <a:rPr lang="en-US" altLang="zh-TW" b="0" i="1" smtClean="0">
                                        <a:solidFill>
                                          <a:schemeClr val="tx1"/>
                                        </a:solidFill>
                                        <a:latin typeface="Cambria Math" panose="02040503050406030204" pitchFamily="18" charset="0"/>
                                        <a:cs typeface="Times New Roman" panose="02020603050405020304" pitchFamily="18" charset="0"/>
                                      </a:rPr>
                                      <m:t>4</m:t>
                                    </m:r>
                                  </m:sub>
                                </m:sSub>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4</m:t>
                                    </m:r>
                                  </m:sub>
                                </m:sSub>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eqAr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&gt;4</m:t>
                                                    </m:r>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=4</m:t>
                                                    </m:r>
                                                  </m:e>
                                                </m:eqAr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&lt;4</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18052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endParaRPr lang="en-US" altLang="zh-TW"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𝐿</m:t>
                                    </m:r>
                                  </m:e>
                                  <m:sub>
                                    <m:r>
                                      <a:rPr lang="en-US" altLang="zh-TW" b="0" i="1" smtClean="0">
                                        <a:solidFill>
                                          <a:schemeClr val="tx1"/>
                                        </a:solidFill>
                                        <a:latin typeface="Cambria Math" panose="02040503050406030204" pitchFamily="18" charset="0"/>
                                        <a:cs typeface="Times New Roman" panose="02020603050405020304" pitchFamily="18" charset="0"/>
                                      </a:rPr>
                                      <m:t>4</m:t>
                                    </m:r>
                                  </m:sub>
                                </m:sSub>
                                <m:r>
                                  <a:rPr lang="en-US" altLang="zh-TW" b="0" i="1" smtClean="0">
                                    <a:solidFill>
                                      <a:schemeClr val="tx1"/>
                                    </a:solidFill>
                                    <a:latin typeface="Cambria Math" panose="02040503050406030204" pitchFamily="18" charset="0"/>
                                    <a:cs typeface="Times New Roman" panose="02020603050405020304" pitchFamily="18" charset="0"/>
                                  </a:rPr>
                                  <m:t>=0+0+</m:t>
                                </m:r>
                                <m:r>
                                  <a:rPr lang="en-US" altLang="zh-TW" b="0" i="1" smtClean="0">
                                    <a:solidFill>
                                      <a:schemeClr val="accent1"/>
                                    </a:solidFill>
                                    <a:latin typeface="Cambria Math" panose="02040503050406030204" pitchFamily="18" charset="0"/>
                                    <a:cs typeface="Times New Roman" panose="02020603050405020304" pitchFamily="18" charset="0"/>
                                  </a:rPr>
                                  <m:t>9</m:t>
                                </m:r>
                                <m:r>
                                  <a:rPr lang="en-US" altLang="zh-TW" b="0" i="1" smtClean="0">
                                    <a:solidFill>
                                      <a:schemeClr val="tx1"/>
                                    </a:solidFill>
                                    <a:latin typeface="Cambria Math" panose="02040503050406030204" pitchFamily="18" charset="0"/>
                                    <a:cs typeface="Times New Roman" panose="02020603050405020304" pitchFamily="18" charset="0"/>
                                  </a:rPr>
                                  <m:t>+0=9</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885815027"/>
                  </p:ext>
                </p:extLst>
              </p:nvPr>
            </p:nvGraphicFramePr>
            <p:xfrm>
              <a:off x="1418709" y="1572266"/>
              <a:ext cx="10247586" cy="5059477"/>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2006305">
                      <a:extLst>
                        <a:ext uri="{9D8B030D-6E8A-4147-A177-3AD203B41FA5}">
                          <a16:colId xmlns:a16="http://schemas.microsoft.com/office/drawing/2014/main" val="3317424169"/>
                        </a:ext>
                      </a:extLst>
                    </a:gridCol>
                    <a:gridCol w="2185987">
                      <a:extLst>
                        <a:ext uri="{9D8B030D-6E8A-4147-A177-3AD203B41FA5}">
                          <a16:colId xmlns:a16="http://schemas.microsoft.com/office/drawing/2014/main" val="1162832883"/>
                        </a:ext>
                      </a:extLst>
                    </a:gridCol>
                    <a:gridCol w="922095">
                      <a:extLst>
                        <a:ext uri="{9D8B030D-6E8A-4147-A177-3AD203B41FA5}">
                          <a16:colId xmlns:a16="http://schemas.microsoft.com/office/drawing/2014/main" val="1817355260"/>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420690" r="-770968" b="-1279310"/>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4">
                      <a:txBody>
                        <a:bodyPr/>
                        <a:lstStyle/>
                        <a:p>
                          <a:endParaRPr lang="zh-TW"/>
                        </a:p>
                      </a:txBody>
                      <a:tcPr>
                        <a:lnL w="12700" cmpd="sng">
                          <a:noFill/>
                        </a:lnL>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blipFill>
                          <a:blip r:embed="rId2"/>
                          <a:stretch>
                            <a:fillRect l="-42504" t="-70930" r="-353" b="-132558"/>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4647893"/>
                      </a:ext>
                    </a:extLst>
                  </a:tr>
                  <a:tr h="18052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endParaRPr lang="en-US" altLang="zh-TW"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8785" t="-411765" r="-15182"/>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3284411511"/>
                  </p:ext>
                </p:extLst>
              </p:nvPr>
            </p:nvGraphicFramePr>
            <p:xfrm>
              <a:off x="838200" y="4899554"/>
              <a:ext cx="4553608" cy="1112520"/>
            </p:xfrm>
            <a:graphic>
              <a:graphicData uri="http://schemas.openxmlformats.org/drawingml/2006/table">
                <a:tbl>
                  <a:tblPr firstRow="1" bandRow="1">
                    <a:tableStyleId>{5C22544A-7EE6-4342-B048-85BDC9FD1C3A}</a:tableStyleId>
                  </a:tblPr>
                  <a:tblGrid>
                    <a:gridCol w="1138402">
                      <a:extLst>
                        <a:ext uri="{9D8B030D-6E8A-4147-A177-3AD203B41FA5}">
                          <a16:colId xmlns:a16="http://schemas.microsoft.com/office/drawing/2014/main" val="3954870805"/>
                        </a:ext>
                      </a:extLst>
                    </a:gridCol>
                    <a:gridCol w="1138402">
                      <a:extLst>
                        <a:ext uri="{9D8B030D-6E8A-4147-A177-3AD203B41FA5}">
                          <a16:colId xmlns:a16="http://schemas.microsoft.com/office/drawing/2014/main" val="875205383"/>
                        </a:ext>
                      </a:extLst>
                    </a:gridCol>
                    <a:gridCol w="1138402">
                      <a:extLst>
                        <a:ext uri="{9D8B030D-6E8A-4147-A177-3AD203B41FA5}">
                          <a16:colId xmlns:a16="http://schemas.microsoft.com/office/drawing/2014/main" val="281762147"/>
                        </a:ext>
                      </a:extLst>
                    </a:gridCol>
                    <a:gridCol w="1138402">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3284411511"/>
                  </p:ext>
                </p:extLst>
              </p:nvPr>
            </p:nvGraphicFramePr>
            <p:xfrm>
              <a:off x="838200" y="4899554"/>
              <a:ext cx="4553608" cy="1112520"/>
            </p:xfrm>
            <a:graphic>
              <a:graphicData uri="http://schemas.openxmlformats.org/drawingml/2006/table">
                <a:tbl>
                  <a:tblPr firstRow="1" bandRow="1">
                    <a:tableStyleId>{5C22544A-7EE6-4342-B048-85BDC9FD1C3A}</a:tableStyleId>
                  </a:tblPr>
                  <a:tblGrid>
                    <a:gridCol w="1138402">
                      <a:extLst>
                        <a:ext uri="{9D8B030D-6E8A-4147-A177-3AD203B41FA5}">
                          <a16:colId xmlns:a16="http://schemas.microsoft.com/office/drawing/2014/main" val="3954870805"/>
                        </a:ext>
                      </a:extLst>
                    </a:gridCol>
                    <a:gridCol w="1138402">
                      <a:extLst>
                        <a:ext uri="{9D8B030D-6E8A-4147-A177-3AD203B41FA5}">
                          <a16:colId xmlns:a16="http://schemas.microsoft.com/office/drawing/2014/main" val="875205383"/>
                        </a:ext>
                      </a:extLst>
                    </a:gridCol>
                    <a:gridCol w="1138402">
                      <a:extLst>
                        <a:ext uri="{9D8B030D-6E8A-4147-A177-3AD203B41FA5}">
                          <a16:colId xmlns:a16="http://schemas.microsoft.com/office/drawing/2014/main" val="281762147"/>
                        </a:ext>
                      </a:extLst>
                    </a:gridCol>
                    <a:gridCol w="1138402">
                      <a:extLst>
                        <a:ext uri="{9D8B030D-6E8A-4147-A177-3AD203B41FA5}">
                          <a16:colId xmlns:a16="http://schemas.microsoft.com/office/drawing/2014/main" val="38062611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1111" t="-3333" r="-200000" b="-2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3371" t="-3333" r="-102247" b="-2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3333" r="-1111" b="-220000"/>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0E692356-CBEA-2646-8D9B-717FD886402F}"/>
              </a:ext>
            </a:extLst>
          </p:cNvPr>
          <p:cNvSpPr>
            <a:spLocks noGrp="1"/>
          </p:cNvSpPr>
          <p:nvPr>
            <p:ph type="sldNum" sz="quarter" idx="12"/>
          </p:nvPr>
        </p:nvSpPr>
        <p:spPr/>
        <p:txBody>
          <a:bodyPr/>
          <a:lstStyle/>
          <a:p>
            <a:fld id="{9964E18F-1489-4A4A-8DD8-AC372572ADE5}" type="slidenum">
              <a:rPr kumimoji="1" lang="zh-TW" altLang="en-US" smtClean="0"/>
              <a:t>19</a:t>
            </a:fld>
            <a:endParaRPr kumimoji="1" lang="zh-TW" altLang="en-US"/>
          </a:p>
        </p:txBody>
      </p:sp>
    </p:spTree>
    <p:extLst>
      <p:ext uri="{BB962C8B-B14F-4D97-AF65-F5344CB8AC3E}">
        <p14:creationId xmlns:p14="http://schemas.microsoft.com/office/powerpoint/2010/main" val="1420031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277744537"/>
                  </p:ext>
                </p:extLst>
              </p:nvPr>
            </p:nvGraphicFramePr>
            <p:xfrm>
              <a:off x="1765738" y="1690688"/>
              <a:ext cx="9121338" cy="4211177"/>
            </p:xfrm>
            <a:graphic>
              <a:graphicData uri="http://schemas.openxmlformats.org/drawingml/2006/table">
                <a:tbl>
                  <a:tblPr firstRow="1" bandRow="1">
                    <a:tableStyleId>{5C22544A-7EE6-4342-B048-85BDC9FD1C3A}</a:tableStyleId>
                  </a:tblPr>
                  <a:tblGrid>
                    <a:gridCol w="1309390">
                      <a:extLst>
                        <a:ext uri="{9D8B030D-6E8A-4147-A177-3AD203B41FA5}">
                          <a16:colId xmlns:a16="http://schemas.microsoft.com/office/drawing/2014/main" val="2900614783"/>
                        </a:ext>
                      </a:extLst>
                    </a:gridCol>
                    <a:gridCol w="2073638">
                      <a:extLst>
                        <a:ext uri="{9D8B030D-6E8A-4147-A177-3AD203B41FA5}">
                          <a16:colId xmlns:a16="http://schemas.microsoft.com/office/drawing/2014/main" val="3013778250"/>
                        </a:ext>
                      </a:extLst>
                    </a:gridCol>
                    <a:gridCol w="2308794">
                      <a:extLst>
                        <a:ext uri="{9D8B030D-6E8A-4147-A177-3AD203B41FA5}">
                          <a16:colId xmlns:a16="http://schemas.microsoft.com/office/drawing/2014/main" val="3443406315"/>
                        </a:ext>
                      </a:extLst>
                    </a:gridCol>
                    <a:gridCol w="1586428">
                      <a:extLst>
                        <a:ext uri="{9D8B030D-6E8A-4147-A177-3AD203B41FA5}">
                          <a16:colId xmlns:a16="http://schemas.microsoft.com/office/drawing/2014/main" val="3317424169"/>
                        </a:ext>
                      </a:extLst>
                    </a:gridCol>
                    <a:gridCol w="1843088">
                      <a:extLst>
                        <a:ext uri="{9D8B030D-6E8A-4147-A177-3AD203B41FA5}">
                          <a16:colId xmlns:a16="http://schemas.microsoft.com/office/drawing/2014/main" val="1162832883"/>
                        </a:ext>
                      </a:extLst>
                    </a:gridCol>
                  </a:tblGrid>
                  <a:tr h="337809">
                    <a:tc>
                      <a:txBody>
                        <a:bodyPr/>
                        <a:lstStyle/>
                        <a:p>
                          <a:pP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𝐿</m:t>
                                    </m:r>
                                  </m:e>
                                  <m:sup>
                                    <m:r>
                                      <a:rPr lang="en-US" altLang="zh-TW" b="0" i="1" smtClean="0">
                                        <a:solidFill>
                                          <a:schemeClr val="tx1"/>
                                        </a:solidFill>
                                        <a:latin typeface="Cambria Math" panose="02040503050406030204" pitchFamily="18" charset="0"/>
                                        <a:cs typeface="Times New Roman" panose="02020603050405020304" pitchFamily="18" charset="0"/>
                                      </a:rPr>
                                      <m:t>∗</m:t>
                                    </m:r>
                                  </m:sup>
                                </m:sSup>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a14:m>
                            <m:oMathPara xmlns:m="http://schemas.openxmlformats.org/officeDocument/2006/math">
                              <m:oMathParaPr>
                                <m:jc m:val="centerGroup"/>
                              </m:oMathParaPr>
                              <m:oMath xmlns:m="http://schemas.openxmlformats.org/officeDocument/2006/math">
                                <m:d>
                                  <m:dPr>
                                    <m:begChr m:val="{"/>
                                    <m:endChr m:val=""/>
                                    <m:ctrlPr>
                                      <a:rPr lang="en-US" altLang="zh-TW" b="0" i="1" dirty="0" smtClean="0">
                                        <a:solidFill>
                                          <a:schemeClr val="tx1"/>
                                        </a:solidFill>
                                        <a:latin typeface="Cambria Math" panose="02040503050406030204" pitchFamily="18" charset="0"/>
                                      </a:rPr>
                                    </m:ctrlPr>
                                  </m:dPr>
                                  <m:e>
                                    <m:eqArr>
                                      <m:eqArrPr>
                                        <m:ctrlPr>
                                          <a:rPr lang="en-US" altLang="zh-TW" b="0" i="1" dirty="0"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 &amp;</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𝑜𝑡h𝑒𝑟𝑤𝑖𝑠𝑒</m:t>
                                        </m:r>
                                      </m:e>
                                    </m:eqArr>
                                  </m:e>
                                </m:d>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𝐿</m:t>
                                    </m:r>
                                  </m:e>
                                  <m:sup>
                                    <m:r>
                                      <a:rPr lang="en-US" altLang="zh-TW" b="0" i="1" smtClean="0">
                                        <a:solidFill>
                                          <a:schemeClr val="tx1"/>
                                        </a:solidFill>
                                        <a:latin typeface="Cambria Math" panose="02040503050406030204" pitchFamily="18" charset="0"/>
                                        <a:cs typeface="Times New Roman" panose="02020603050405020304" pitchFamily="18" charset="0"/>
                                      </a:rPr>
                                      <m:t>∗</m:t>
                                    </m:r>
                                  </m:sup>
                                </m:sSup>
                                <m:r>
                                  <a:rPr lang="en-US" altLang="zh-TW" b="0" i="1" smtClean="0">
                                    <a:solidFill>
                                      <a:schemeClr val="tx1"/>
                                    </a:solidFill>
                                    <a:latin typeface="Cambria Math" panose="02040503050406030204" pitchFamily="18" charset="0"/>
                                    <a:cs typeface="Times New Roman" panose="02020603050405020304" pitchFamily="18" charset="0"/>
                                  </a:rPr>
                                  <m:t>=0+0+</m:t>
                                </m:r>
                                <m:r>
                                  <a:rPr lang="en-US" altLang="zh-TW" b="0" i="1" smtClean="0">
                                    <a:solidFill>
                                      <a:schemeClr val="accent1"/>
                                    </a:solidFill>
                                    <a:latin typeface="Cambria Math" panose="02040503050406030204" pitchFamily="18" charset="0"/>
                                    <a:cs typeface="Times New Roman" panose="02020603050405020304" pitchFamily="18" charset="0"/>
                                  </a:rPr>
                                  <m:t>8</m:t>
                                </m:r>
                                <m:r>
                                  <a:rPr lang="en-US" altLang="zh-TW" b="0" i="1" smtClean="0">
                                    <a:solidFill>
                                      <a:schemeClr val="tx1"/>
                                    </a:solidFill>
                                    <a:latin typeface="Cambria Math" panose="02040503050406030204" pitchFamily="18" charset="0"/>
                                    <a:cs typeface="Times New Roman" panose="02020603050405020304" pitchFamily="18" charset="0"/>
                                  </a:rPr>
                                  <m:t>+0=8</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277744537"/>
                  </p:ext>
                </p:extLst>
              </p:nvPr>
            </p:nvGraphicFramePr>
            <p:xfrm>
              <a:off x="1765738" y="1690688"/>
              <a:ext cx="9121338" cy="4211177"/>
            </p:xfrm>
            <a:graphic>
              <a:graphicData uri="http://schemas.openxmlformats.org/drawingml/2006/table">
                <a:tbl>
                  <a:tblPr firstRow="1" bandRow="1">
                    <a:tableStyleId>{5C22544A-7EE6-4342-B048-85BDC9FD1C3A}</a:tableStyleId>
                  </a:tblPr>
                  <a:tblGrid>
                    <a:gridCol w="1309390">
                      <a:extLst>
                        <a:ext uri="{9D8B030D-6E8A-4147-A177-3AD203B41FA5}">
                          <a16:colId xmlns:a16="http://schemas.microsoft.com/office/drawing/2014/main" val="2900614783"/>
                        </a:ext>
                      </a:extLst>
                    </a:gridCol>
                    <a:gridCol w="2073638">
                      <a:extLst>
                        <a:ext uri="{9D8B030D-6E8A-4147-A177-3AD203B41FA5}">
                          <a16:colId xmlns:a16="http://schemas.microsoft.com/office/drawing/2014/main" val="3013778250"/>
                        </a:ext>
                      </a:extLst>
                    </a:gridCol>
                    <a:gridCol w="2308794">
                      <a:extLst>
                        <a:ext uri="{9D8B030D-6E8A-4147-A177-3AD203B41FA5}">
                          <a16:colId xmlns:a16="http://schemas.microsoft.com/office/drawing/2014/main" val="3443406315"/>
                        </a:ext>
                      </a:extLst>
                    </a:gridCol>
                    <a:gridCol w="1586428">
                      <a:extLst>
                        <a:ext uri="{9D8B030D-6E8A-4147-A177-3AD203B41FA5}">
                          <a16:colId xmlns:a16="http://schemas.microsoft.com/office/drawing/2014/main" val="3317424169"/>
                        </a:ext>
                      </a:extLst>
                    </a:gridCol>
                    <a:gridCol w="1843088">
                      <a:extLst>
                        <a:ext uri="{9D8B030D-6E8A-4147-A177-3AD203B41FA5}">
                          <a16:colId xmlns:a16="http://schemas.microsoft.com/office/drawing/2014/main" val="1162832883"/>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71" t="-644828" r="-600000" b="-1048276"/>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292" t="-179808" r="-442" b="-220192"/>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292" t="-408824" r="-442"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4067593768"/>
                  </p:ext>
                </p:extLst>
              </p:nvPr>
            </p:nvGraphicFramePr>
            <p:xfrm>
              <a:off x="838200" y="4789345"/>
              <a:ext cx="4737164" cy="1112520"/>
            </p:xfrm>
            <a:graphic>
              <a:graphicData uri="http://schemas.openxmlformats.org/drawingml/2006/table">
                <a:tbl>
                  <a:tblPr firstRow="1" bandRow="1">
                    <a:tableStyleId>{5C22544A-7EE6-4342-B048-85BDC9FD1C3A}</a:tableStyleId>
                  </a:tblPr>
                  <a:tblGrid>
                    <a:gridCol w="1184291">
                      <a:extLst>
                        <a:ext uri="{9D8B030D-6E8A-4147-A177-3AD203B41FA5}">
                          <a16:colId xmlns:a16="http://schemas.microsoft.com/office/drawing/2014/main" val="3954870805"/>
                        </a:ext>
                      </a:extLst>
                    </a:gridCol>
                    <a:gridCol w="1184291">
                      <a:extLst>
                        <a:ext uri="{9D8B030D-6E8A-4147-A177-3AD203B41FA5}">
                          <a16:colId xmlns:a16="http://schemas.microsoft.com/office/drawing/2014/main" val="875205383"/>
                        </a:ext>
                      </a:extLst>
                    </a:gridCol>
                    <a:gridCol w="1184291">
                      <a:extLst>
                        <a:ext uri="{9D8B030D-6E8A-4147-A177-3AD203B41FA5}">
                          <a16:colId xmlns:a16="http://schemas.microsoft.com/office/drawing/2014/main" val="3806261155"/>
                        </a:ext>
                      </a:extLst>
                    </a:gridCol>
                    <a:gridCol w="1184291">
                      <a:extLst>
                        <a:ext uri="{9D8B030D-6E8A-4147-A177-3AD203B41FA5}">
                          <a16:colId xmlns:a16="http://schemas.microsoft.com/office/drawing/2014/main" val="19547567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4067593768"/>
                  </p:ext>
                </p:extLst>
              </p:nvPr>
            </p:nvGraphicFramePr>
            <p:xfrm>
              <a:off x="838200" y="4789345"/>
              <a:ext cx="4737164" cy="1112520"/>
            </p:xfrm>
            <a:graphic>
              <a:graphicData uri="http://schemas.openxmlformats.org/drawingml/2006/table">
                <a:tbl>
                  <a:tblPr firstRow="1" bandRow="1">
                    <a:tableStyleId>{5C22544A-7EE6-4342-B048-85BDC9FD1C3A}</a:tableStyleId>
                  </a:tblPr>
                  <a:tblGrid>
                    <a:gridCol w="1184291">
                      <a:extLst>
                        <a:ext uri="{9D8B030D-6E8A-4147-A177-3AD203B41FA5}">
                          <a16:colId xmlns:a16="http://schemas.microsoft.com/office/drawing/2014/main" val="3954870805"/>
                        </a:ext>
                      </a:extLst>
                    </a:gridCol>
                    <a:gridCol w="1184291">
                      <a:extLst>
                        <a:ext uri="{9D8B030D-6E8A-4147-A177-3AD203B41FA5}">
                          <a16:colId xmlns:a16="http://schemas.microsoft.com/office/drawing/2014/main" val="875205383"/>
                        </a:ext>
                      </a:extLst>
                    </a:gridCol>
                    <a:gridCol w="1184291">
                      <a:extLst>
                        <a:ext uri="{9D8B030D-6E8A-4147-A177-3AD203B41FA5}">
                          <a16:colId xmlns:a16="http://schemas.microsoft.com/office/drawing/2014/main" val="3806261155"/>
                        </a:ext>
                      </a:extLst>
                    </a:gridCol>
                    <a:gridCol w="1184291">
                      <a:extLst>
                        <a:ext uri="{9D8B030D-6E8A-4147-A177-3AD203B41FA5}">
                          <a16:colId xmlns:a16="http://schemas.microsoft.com/office/drawing/2014/main" val="19547567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151" t="-3448" r="-202151"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448" r="-100000"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3226" t="-3448" r="-1075" b="-227586"/>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18DB9FC8-F047-9D4A-BD97-CDB973AD82DF}"/>
              </a:ext>
            </a:extLst>
          </p:cNvPr>
          <p:cNvSpPr>
            <a:spLocks noGrp="1"/>
          </p:cNvSpPr>
          <p:nvPr>
            <p:ph type="sldNum" sz="quarter" idx="12"/>
          </p:nvPr>
        </p:nvSpPr>
        <p:spPr/>
        <p:txBody>
          <a:bodyPr/>
          <a:lstStyle/>
          <a:p>
            <a:fld id="{9964E18F-1489-4A4A-8DD8-AC372572ADE5}" type="slidenum">
              <a:rPr kumimoji="1" lang="zh-TW" altLang="en-US" smtClean="0"/>
              <a:t>20</a:t>
            </a:fld>
            <a:endParaRPr kumimoji="1" lang="zh-TW" altLang="en-US"/>
          </a:p>
        </p:txBody>
      </p:sp>
    </p:spTree>
    <p:extLst>
      <p:ext uri="{BB962C8B-B14F-4D97-AF65-F5344CB8AC3E}">
        <p14:creationId xmlns:p14="http://schemas.microsoft.com/office/powerpoint/2010/main" val="933734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 suit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420736106"/>
                  </p:ext>
                </p:extLst>
              </p:nvPr>
            </p:nvGraphicFramePr>
            <p:xfrm>
              <a:off x="1535331" y="1690688"/>
              <a:ext cx="9121337" cy="4211177"/>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2059326">
                      <a:extLst>
                        <a:ext uri="{9D8B030D-6E8A-4147-A177-3AD203B41FA5}">
                          <a16:colId xmlns:a16="http://schemas.microsoft.com/office/drawing/2014/main" val="3317424169"/>
                        </a:ext>
                      </a:extLst>
                    </a:gridCol>
                    <a:gridCol w="1928812">
                      <a:extLst>
                        <a:ext uri="{9D8B030D-6E8A-4147-A177-3AD203B41FA5}">
                          <a16:colId xmlns:a16="http://schemas.microsoft.com/office/drawing/2014/main" val="1162832883"/>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𝑇𝐿</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2</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𝑇𝐿</m:t>
                                </m:r>
                                <m:r>
                                  <a:rPr lang="en-US" altLang="zh-TW" b="0" i="1" smtClean="0">
                                    <a:solidFill>
                                      <a:schemeClr val="tx1"/>
                                    </a:solidFill>
                                    <a:latin typeface="Cambria Math" panose="02040503050406030204" pitchFamily="18" charset="0"/>
                                  </a:rPr>
                                  <m:t>=</m:t>
                                </m:r>
                                <m:r>
                                  <a:rPr lang="en-US" altLang="zh-TW" b="0" i="1" smtClean="0">
                                    <a:solidFill>
                                      <a:srgbClr val="FF0000"/>
                                    </a:solidFill>
                                    <a:latin typeface="Cambria Math" panose="02040503050406030204" pitchFamily="18" charset="0"/>
                                  </a:rPr>
                                  <m:t>𝑎</m:t>
                                </m:r>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r>
                                  <a:rPr lang="en-US" altLang="zh-TW" b="0" i="1" smtClean="0">
                                    <a:solidFill>
                                      <a:srgbClr val="FF0000"/>
                                    </a:solidFill>
                                    <a:latin typeface="Cambria Math" panose="02040503050406030204" pitchFamily="18" charset="0"/>
                                  </a:rPr>
                                  <m:t>𝑏</m:t>
                                </m:r>
                                <m:r>
                                  <a:rPr lang="en-US" altLang="zh-TW" b="0" i="1" smtClean="0">
                                    <a:solidFill>
                                      <a:schemeClr val="tx1"/>
                                    </a:solidFill>
                                    <a:latin typeface="Cambria Math" panose="02040503050406030204" pitchFamily="18" charset="0"/>
                                  </a:rPr>
                                  <m:t>)</m:t>
                                </m:r>
                              </m:oMath>
                            </m:oMathPara>
                          </a14:m>
                          <a:endParaRPr lang="zh-TW" altLang="en-US" b="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1" dirty="0">
                            <a:solidFill>
                              <a:schemeClr val="tx1"/>
                            </a:solidFill>
                            <a:latin typeface="Cambria Math"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𝑇𝐿</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=5</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420736106"/>
                  </p:ext>
                </p:extLst>
              </p:nvPr>
            </p:nvGraphicFramePr>
            <p:xfrm>
              <a:off x="1535331" y="1690688"/>
              <a:ext cx="9121337" cy="4211177"/>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2059326">
                      <a:extLst>
                        <a:ext uri="{9D8B030D-6E8A-4147-A177-3AD203B41FA5}">
                          <a16:colId xmlns:a16="http://schemas.microsoft.com/office/drawing/2014/main" val="3317424169"/>
                        </a:ext>
                      </a:extLst>
                    </a:gridCol>
                    <a:gridCol w="1928812">
                      <a:extLst>
                        <a:ext uri="{9D8B030D-6E8A-4147-A177-3AD203B41FA5}">
                          <a16:colId xmlns:a16="http://schemas.microsoft.com/office/drawing/2014/main" val="1162832883"/>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6897" r="-675269" b="-1048276"/>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2</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0313" t="-1923" r="-209" b="-220192"/>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0313" t="-227451" r="-209"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9">
                <a:extLst>
                  <a:ext uri="{FF2B5EF4-FFF2-40B4-BE49-F238E27FC236}">
                    <a16:creationId xmlns:a16="http://schemas.microsoft.com/office/drawing/2014/main" id="{C3843D36-4AFE-4661-9E7D-936B5F8816EF}"/>
                  </a:ext>
                </a:extLst>
              </p:cNvPr>
              <p:cNvGraphicFramePr>
                <a:graphicFrameLocks noGrp="1"/>
              </p:cNvGraphicFramePr>
              <p:nvPr>
                <p:extLst>
                  <p:ext uri="{D42A27DB-BD31-4B8C-83A1-F6EECF244321}">
                    <p14:modId xmlns:p14="http://schemas.microsoft.com/office/powerpoint/2010/main" val="671648536"/>
                  </p:ext>
                </p:extLst>
              </p:nvPr>
            </p:nvGraphicFramePr>
            <p:xfrm>
              <a:off x="1535331" y="4637670"/>
              <a:ext cx="2322286" cy="7416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bl>
              </a:graphicData>
            </a:graphic>
          </p:graphicFrame>
        </mc:Choice>
        <mc:Fallback xmlns="">
          <p:graphicFrame>
            <p:nvGraphicFramePr>
              <p:cNvPr id="5" name="表格 9">
                <a:extLst>
                  <a:ext uri="{FF2B5EF4-FFF2-40B4-BE49-F238E27FC236}">
                    <a16:creationId xmlns:a16="http://schemas.microsoft.com/office/drawing/2014/main" id="{C3843D36-4AFE-4661-9E7D-936B5F8816EF}"/>
                  </a:ext>
                </a:extLst>
              </p:cNvPr>
              <p:cNvGraphicFramePr>
                <a:graphicFrameLocks noGrp="1"/>
              </p:cNvGraphicFramePr>
              <p:nvPr>
                <p:extLst>
                  <p:ext uri="{D42A27DB-BD31-4B8C-83A1-F6EECF244321}">
                    <p14:modId xmlns:p14="http://schemas.microsoft.com/office/powerpoint/2010/main" val="671648536"/>
                  </p:ext>
                </p:extLst>
              </p:nvPr>
            </p:nvGraphicFramePr>
            <p:xfrm>
              <a:off x="1535331" y="4637670"/>
              <a:ext cx="2322286" cy="7416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875205383"/>
                        </a:ext>
                      </a:extLst>
                    </a:gridCol>
                    <a:gridCol w="1161143">
                      <a:extLst>
                        <a:ext uri="{9D8B030D-6E8A-4147-A177-3AD203B41FA5}">
                          <a16:colId xmlns:a16="http://schemas.microsoft.com/office/drawing/2014/main" val="3806261155"/>
                        </a:ext>
                      </a:extLst>
                    </a:gridCol>
                  </a:tblGrid>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t="-3333" r="-101087" b="-120000"/>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3333" r="-1087" b="-120000"/>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bl>
              </a:graphicData>
            </a:graphic>
          </p:graphicFrame>
        </mc:Fallback>
      </mc:AlternateContent>
      <p:sp>
        <p:nvSpPr>
          <p:cNvPr id="3" name="投影片編號版面配置區 2">
            <a:extLst>
              <a:ext uri="{FF2B5EF4-FFF2-40B4-BE49-F238E27FC236}">
                <a16:creationId xmlns:a16="http://schemas.microsoft.com/office/drawing/2014/main" id="{AB1F2291-C91B-544D-BCB4-DDC862FDD3AC}"/>
              </a:ext>
            </a:extLst>
          </p:cNvPr>
          <p:cNvSpPr>
            <a:spLocks noGrp="1"/>
          </p:cNvSpPr>
          <p:nvPr>
            <p:ph type="sldNum" sz="quarter" idx="12"/>
          </p:nvPr>
        </p:nvSpPr>
        <p:spPr/>
        <p:txBody>
          <a:bodyPr/>
          <a:lstStyle/>
          <a:p>
            <a:fld id="{9964E18F-1489-4A4A-8DD8-AC372572ADE5}" type="slidenum">
              <a:rPr kumimoji="1" lang="zh-TW" altLang="en-US" smtClean="0"/>
              <a:t>21</a:t>
            </a:fld>
            <a:endParaRPr kumimoji="1" lang="zh-TW" altLang="en-US"/>
          </a:p>
        </p:txBody>
      </p:sp>
    </p:spTree>
    <p:extLst>
      <p:ext uri="{BB962C8B-B14F-4D97-AF65-F5344CB8AC3E}">
        <p14:creationId xmlns:p14="http://schemas.microsoft.com/office/powerpoint/2010/main" val="1491360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3954616783"/>
                  </p:ext>
                </p:extLst>
              </p:nvPr>
            </p:nvGraphicFramePr>
            <p:xfrm>
              <a:off x="1386052" y="2311527"/>
              <a:ext cx="9419896" cy="1965706"/>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𝐿𝑆</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r>
                                                  <a:rPr lang="en-US" altLang="zh-TW" b="0" i="1" smtClean="0">
                                                    <a:solidFill>
                                                      <a:schemeClr val="tx1"/>
                                                    </a:solidFill>
                                                    <a:latin typeface="Cambria Math" panose="02040503050406030204" pitchFamily="18" charset="0"/>
                                                  </a:rPr>
                                                  <m:t>𝑡</m:t>
                                                </m:r>
                                              </m:sub>
                                              <m:sup>
                                                <m:r>
                                                  <a:rPr lang="en-US" altLang="zh-TW" b="0" i="1" smtClean="0">
                                                    <a:solidFill>
                                                      <a:schemeClr val="tx1"/>
                                                    </a:solidFill>
                                                    <a:latin typeface="Cambria Math" panose="02040503050406030204" pitchFamily="18" charset="0"/>
                                                  </a:rPr>
                                                  <m:t>𝐿𝑆</m:t>
                                                </m:r>
                                              </m:sup>
                                            </m:sSubSup>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up>
                                                <m:r>
                                                  <a:rPr lang="en-US" altLang="zh-TW" b="0" i="1" smtClean="0">
                                                    <a:solidFill>
                                                      <a:schemeClr val="tx1"/>
                                                    </a:solidFill>
                                                    <a:latin typeface="Cambria Math" panose="02040503050406030204" pitchFamily="18" charset="0"/>
                                                  </a:rPr>
                                                  <m:t>𝐿𝑆</m:t>
                                                </m:r>
                                              </m:sup>
                                            </m:sSubSup>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9861928"/>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𝐷</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r>
                                                  <a:rPr lang="en-US" altLang="zh-TW" b="0" i="1" smtClean="0">
                                                    <a:solidFill>
                                                      <a:schemeClr val="tx1"/>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r>
                                                              <a:rPr lang="en-US" altLang="zh-TW" b="0" i="1" smtClean="0">
                                                                <a:solidFill>
                                                                  <a:schemeClr val="tx1"/>
                                                                </a:solidFill>
                                                                <a:latin typeface="Cambria Math" panose="02040503050406030204" pitchFamily="18" charset="0"/>
                                                              </a:rPr>
                                                              <m:t>𝑡</m:t>
                                                            </m:r>
                                                          </m:sub>
                                                        </m:sSub>
                                                      </m:e>
                                                    </m:d>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r>
                                                      <a:rPr lang="en-US" altLang="zh-TW" b="0" i="1" smtClean="0">
                                                        <a:solidFill>
                                                          <a:schemeClr val="tx1"/>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𝑎</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𝑏</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e>
                                                    </m:d>
                                                  </m:e>
                                                </m:d>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acc>
                                                      <m:accPr>
                                                        <m:chr m:val="̅"/>
                                                        <m:ctrlPr>
                                                          <a:rPr lang="en-US" altLang="zh-TW"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412707"/>
                      </a:ext>
                    </a:extLst>
                  </a:tr>
                </a:tbl>
              </a:graphicData>
            </a:graphic>
          </p:graphicFrame>
        </mc:Choice>
        <mc:Fallback xmlns="">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3954616783"/>
                  </p:ext>
                </p:extLst>
              </p:nvPr>
            </p:nvGraphicFramePr>
            <p:xfrm>
              <a:off x="1386052" y="2311527"/>
              <a:ext cx="9419896" cy="1965706"/>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82257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93846" r="-841772" b="-329231"/>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93846" r="-360" b="-329231"/>
                          </a:stretch>
                        </a:blipFill>
                      </a:tcPr>
                    </a:tc>
                    <a:extLst>
                      <a:ext uri="{0D108BD9-81ED-4DB2-BD59-A6C34878D82A}">
                        <a16:rowId xmlns:a16="http://schemas.microsoft.com/office/drawing/2014/main" val="1969861928"/>
                      </a:ext>
                    </a:extLst>
                  </a:tr>
                  <a:tr h="77228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313115" r="-841772" b="-25082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313115" r="-360" b="-250820"/>
                          </a:stretch>
                        </a:blipFill>
                      </a:tcPr>
                    </a:tc>
                    <a:extLst>
                      <a:ext uri="{0D108BD9-81ED-4DB2-BD59-A6C34878D82A}">
                        <a16:rowId xmlns:a16="http://schemas.microsoft.com/office/drawing/2014/main" val="1742412707"/>
                      </a:ext>
                    </a:extLst>
                  </a:tr>
                </a:tbl>
              </a:graphicData>
            </a:graphic>
          </p:graphicFrame>
        </mc:Fallback>
      </mc:AlternateContent>
      <p:sp>
        <p:nvSpPr>
          <p:cNvPr id="3" name="投影片編號版面配置區 2">
            <a:extLst>
              <a:ext uri="{FF2B5EF4-FFF2-40B4-BE49-F238E27FC236}">
                <a16:creationId xmlns:a16="http://schemas.microsoft.com/office/drawing/2014/main" id="{67692738-B5C7-BA41-B034-F0A21DF7A75F}"/>
              </a:ext>
            </a:extLst>
          </p:cNvPr>
          <p:cNvSpPr>
            <a:spLocks noGrp="1"/>
          </p:cNvSpPr>
          <p:nvPr>
            <p:ph type="sldNum" sz="quarter" idx="12"/>
          </p:nvPr>
        </p:nvSpPr>
        <p:spPr/>
        <p:txBody>
          <a:bodyPr/>
          <a:lstStyle/>
          <a:p>
            <a:fld id="{9964E18F-1489-4A4A-8DD8-AC372572ADE5}" type="slidenum">
              <a:rPr kumimoji="1" lang="zh-TW" altLang="en-US" smtClean="0"/>
              <a:t>22</a:t>
            </a:fld>
            <a:endParaRPr kumimoji="1" lang="zh-TW" altLang="en-US"/>
          </a:p>
        </p:txBody>
      </p:sp>
    </p:spTree>
    <p:extLst>
      <p:ext uri="{BB962C8B-B14F-4D97-AF65-F5344CB8AC3E}">
        <p14:creationId xmlns:p14="http://schemas.microsoft.com/office/powerpoint/2010/main" val="801619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713072393"/>
                  </p:ext>
                </p:extLst>
              </p:nvPr>
            </p:nvGraphicFramePr>
            <p:xfrm>
              <a:off x="1982936" y="1704976"/>
              <a:ext cx="8226127" cy="4211177"/>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1816438">
                      <a:extLst>
                        <a:ext uri="{9D8B030D-6E8A-4147-A177-3AD203B41FA5}">
                          <a16:colId xmlns:a16="http://schemas.microsoft.com/office/drawing/2014/main" val="3317424169"/>
                        </a:ext>
                      </a:extLst>
                    </a:gridCol>
                    <a:gridCol w="1276490">
                      <a:extLst>
                        <a:ext uri="{9D8B030D-6E8A-4147-A177-3AD203B41FA5}">
                          <a16:colId xmlns:a16="http://schemas.microsoft.com/office/drawing/2014/main" val="1162832883"/>
                        </a:ext>
                      </a:extLst>
                    </a:gridCol>
                  </a:tblGrid>
                  <a:tr h="33780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𝐿𝑆</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28</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𝐿𝑆</m:t>
                                </m:r>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𝑀</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𝐿𝑆</m:t>
                                                </m:r>
                                              </m:sup>
                                            </m:sSubSup>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𝑀</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up>
                                                <m:r>
                                                  <a:rPr lang="en-US" altLang="zh-TW" b="0" i="1" smtClean="0">
                                                    <a:solidFill>
                                                      <a:srgbClr val="FF0000"/>
                                                    </a:solidFill>
                                                    <a:latin typeface="Cambria Math" panose="02040503050406030204" pitchFamily="18" charset="0"/>
                                                  </a:rPr>
                                                  <m:t>𝐿𝑆</m:t>
                                                </m:r>
                                              </m:sup>
                                            </m:sSubSup>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𝐿𝑆</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=0.5+2+3+1=6.5</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dirty="0"/>
                        </a:p>
                      </a:txBody>
                      <a:tcPr/>
                    </a:tc>
                    <a:tc gridSpan="3">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dirty="0"/>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713072393"/>
                  </p:ext>
                </p:extLst>
              </p:nvPr>
            </p:nvGraphicFramePr>
            <p:xfrm>
              <a:off x="1982936" y="1704976"/>
              <a:ext cx="8226127" cy="4211177"/>
            </p:xfrm>
            <a:graphic>
              <a:graphicData uri="http://schemas.openxmlformats.org/drawingml/2006/table">
                <a:tbl>
                  <a:tblPr firstRow="1" bandRow="1">
                    <a:tableStyleId>{5C22544A-7EE6-4342-B048-85BDC9FD1C3A}</a:tableStyleId>
                  </a:tblPr>
                  <a:tblGrid>
                    <a:gridCol w="1180880">
                      <a:extLst>
                        <a:ext uri="{9D8B030D-6E8A-4147-A177-3AD203B41FA5}">
                          <a16:colId xmlns:a16="http://schemas.microsoft.com/office/drawing/2014/main" val="2900614783"/>
                        </a:ext>
                      </a:extLst>
                    </a:gridCol>
                    <a:gridCol w="1870121">
                      <a:extLst>
                        <a:ext uri="{9D8B030D-6E8A-4147-A177-3AD203B41FA5}">
                          <a16:colId xmlns:a16="http://schemas.microsoft.com/office/drawing/2014/main" val="3013778250"/>
                        </a:ext>
                      </a:extLst>
                    </a:gridCol>
                    <a:gridCol w="2082198">
                      <a:extLst>
                        <a:ext uri="{9D8B030D-6E8A-4147-A177-3AD203B41FA5}">
                          <a16:colId xmlns:a16="http://schemas.microsoft.com/office/drawing/2014/main" val="3443406315"/>
                        </a:ext>
                      </a:extLst>
                    </a:gridCol>
                    <a:gridCol w="1816438">
                      <a:extLst>
                        <a:ext uri="{9D8B030D-6E8A-4147-A177-3AD203B41FA5}">
                          <a16:colId xmlns:a16="http://schemas.microsoft.com/office/drawing/2014/main" val="3317424169"/>
                        </a:ext>
                      </a:extLst>
                    </a:gridCol>
                    <a:gridCol w="1276490">
                      <a:extLst>
                        <a:ext uri="{9D8B030D-6E8A-4147-A177-3AD203B41FA5}">
                          <a16:colId xmlns:a16="http://schemas.microsoft.com/office/drawing/2014/main" val="1162832883"/>
                        </a:ext>
                      </a:extLst>
                    </a:gridCol>
                  </a:tblGrid>
                  <a:tr h="365760">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434483" r="-598925" b="-1048276"/>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28</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8824" t="-121154" r="-490" b="-220192"/>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6999">
                    <a:tc rowSpan="3" gridSpan="2">
                      <a:txBody>
                        <a:bodyPr/>
                        <a:lstStyle/>
                        <a:p>
                          <a:endParaRPr lang="zh-TW"/>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51155" r="-170833" b="-330"/>
                          </a:stretch>
                        </a:blip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3610">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4808">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dirty="0"/>
                        </a:p>
                      </a:txBody>
                      <a:tcPr/>
                    </a:tc>
                    <a:tc gridSpan="3">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dirty="0"/>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2221837547"/>
                  </p:ext>
                </p:extLst>
              </p:nvPr>
            </p:nvGraphicFramePr>
            <p:xfrm>
              <a:off x="178676" y="5016588"/>
              <a:ext cx="11834650" cy="1112520"/>
            </p:xfrm>
            <a:graphic>
              <a:graphicData uri="http://schemas.openxmlformats.org/drawingml/2006/table">
                <a:tbl>
                  <a:tblPr firstRow="1" bandRow="1">
                    <a:tableStyleId>{5C22544A-7EE6-4342-B048-85BDC9FD1C3A}</a:tableStyleId>
                  </a:tblPr>
                  <a:tblGrid>
                    <a:gridCol w="1066970">
                      <a:extLst>
                        <a:ext uri="{9D8B030D-6E8A-4147-A177-3AD203B41FA5}">
                          <a16:colId xmlns:a16="http://schemas.microsoft.com/office/drawing/2014/main" val="3954870805"/>
                        </a:ext>
                      </a:extLst>
                    </a:gridCol>
                    <a:gridCol w="743590">
                      <a:extLst>
                        <a:ext uri="{9D8B030D-6E8A-4147-A177-3AD203B41FA5}">
                          <a16:colId xmlns:a16="http://schemas.microsoft.com/office/drawing/2014/main" val="875205383"/>
                        </a:ext>
                      </a:extLst>
                    </a:gridCol>
                    <a:gridCol w="743590">
                      <a:extLst>
                        <a:ext uri="{9D8B030D-6E8A-4147-A177-3AD203B41FA5}">
                          <a16:colId xmlns:a16="http://schemas.microsoft.com/office/drawing/2014/main" val="3806261155"/>
                        </a:ext>
                      </a:extLst>
                    </a:gridCol>
                    <a:gridCol w="743590">
                      <a:extLst>
                        <a:ext uri="{9D8B030D-6E8A-4147-A177-3AD203B41FA5}">
                          <a16:colId xmlns:a16="http://schemas.microsoft.com/office/drawing/2014/main" val="1954756755"/>
                        </a:ext>
                      </a:extLst>
                    </a:gridCol>
                    <a:gridCol w="743590">
                      <a:extLst>
                        <a:ext uri="{9D8B030D-6E8A-4147-A177-3AD203B41FA5}">
                          <a16:colId xmlns:a16="http://schemas.microsoft.com/office/drawing/2014/main" val="1221724677"/>
                        </a:ext>
                      </a:extLst>
                    </a:gridCol>
                    <a:gridCol w="743590">
                      <a:extLst>
                        <a:ext uri="{9D8B030D-6E8A-4147-A177-3AD203B41FA5}">
                          <a16:colId xmlns:a16="http://schemas.microsoft.com/office/drawing/2014/main" val="834593358"/>
                        </a:ext>
                      </a:extLst>
                    </a:gridCol>
                    <a:gridCol w="743590">
                      <a:extLst>
                        <a:ext uri="{9D8B030D-6E8A-4147-A177-3AD203B41FA5}">
                          <a16:colId xmlns:a16="http://schemas.microsoft.com/office/drawing/2014/main" val="3907262925"/>
                        </a:ext>
                      </a:extLst>
                    </a:gridCol>
                    <a:gridCol w="743590">
                      <a:extLst>
                        <a:ext uri="{9D8B030D-6E8A-4147-A177-3AD203B41FA5}">
                          <a16:colId xmlns:a16="http://schemas.microsoft.com/office/drawing/2014/main" val="1444926589"/>
                        </a:ext>
                      </a:extLst>
                    </a:gridCol>
                    <a:gridCol w="743590">
                      <a:extLst>
                        <a:ext uri="{9D8B030D-6E8A-4147-A177-3AD203B41FA5}">
                          <a16:colId xmlns:a16="http://schemas.microsoft.com/office/drawing/2014/main" val="361702419"/>
                        </a:ext>
                      </a:extLst>
                    </a:gridCol>
                    <a:gridCol w="743590">
                      <a:extLst>
                        <a:ext uri="{9D8B030D-6E8A-4147-A177-3AD203B41FA5}">
                          <a16:colId xmlns:a16="http://schemas.microsoft.com/office/drawing/2014/main" val="152320123"/>
                        </a:ext>
                      </a:extLst>
                    </a:gridCol>
                    <a:gridCol w="743590">
                      <a:extLst>
                        <a:ext uri="{9D8B030D-6E8A-4147-A177-3AD203B41FA5}">
                          <a16:colId xmlns:a16="http://schemas.microsoft.com/office/drawing/2014/main" val="493840866"/>
                        </a:ext>
                      </a:extLst>
                    </a:gridCol>
                    <a:gridCol w="832945">
                      <a:extLst>
                        <a:ext uri="{9D8B030D-6E8A-4147-A177-3AD203B41FA5}">
                          <a16:colId xmlns:a16="http://schemas.microsoft.com/office/drawing/2014/main" val="1162998739"/>
                        </a:ext>
                      </a:extLst>
                    </a:gridCol>
                    <a:gridCol w="832945">
                      <a:extLst>
                        <a:ext uri="{9D8B030D-6E8A-4147-A177-3AD203B41FA5}">
                          <a16:colId xmlns:a16="http://schemas.microsoft.com/office/drawing/2014/main" val="1814767999"/>
                        </a:ext>
                      </a:extLst>
                    </a:gridCol>
                    <a:gridCol w="832945">
                      <a:extLst>
                        <a:ext uri="{9D8B030D-6E8A-4147-A177-3AD203B41FA5}">
                          <a16:colId xmlns:a16="http://schemas.microsoft.com/office/drawing/2014/main" val="3616722227"/>
                        </a:ext>
                      </a:extLst>
                    </a:gridCol>
                    <a:gridCol w="832945">
                      <a:extLst>
                        <a:ext uri="{9D8B030D-6E8A-4147-A177-3AD203B41FA5}">
                          <a16:colId xmlns:a16="http://schemas.microsoft.com/office/drawing/2014/main" val="1518272358"/>
                        </a:ext>
                      </a:extLst>
                    </a:gridCol>
                  </a:tblGrid>
                  <a:tr h="370840">
                    <a:tc>
                      <a:txBody>
                        <a:bodyPr/>
                        <a:lstStyle/>
                        <a:p>
                          <a:pPr algn="ct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[0]</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[1]</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[2]</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[3]</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[4]</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[5]</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[6]</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[7]</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[8]</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[9]</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[10]</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[11]</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[12]</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400" b="0" i="1" smtClean="0">
                                        <a:solidFill>
                                          <a:schemeClr val="tx1"/>
                                        </a:solidFill>
                                        <a:latin typeface="Cambria Math" panose="02040503050406030204" pitchFamily="18" charset="0"/>
                                      </a:rPr>
                                    </m:ctrlPr>
                                  </m:sSupPr>
                                  <m:e>
                                    <m:r>
                                      <a:rPr lang="en-US" altLang="zh-TW" sz="1400" b="0" i="1" smtClean="0">
                                        <a:solidFill>
                                          <a:schemeClr val="tx1"/>
                                        </a:solidFill>
                                        <a:latin typeface="Cambria Math" panose="02040503050406030204" pitchFamily="18" charset="0"/>
                                      </a:rPr>
                                      <m:t>𝑀</m:t>
                                    </m:r>
                                  </m:e>
                                  <m:sup>
                                    <m:r>
                                      <a:rPr lang="en-US" altLang="zh-TW" sz="1400" b="0" i="1" smtClean="0">
                                        <a:solidFill>
                                          <a:schemeClr val="tx1"/>
                                        </a:solidFill>
                                        <a:latin typeface="Cambria Math" panose="02040503050406030204" pitchFamily="18" charset="0"/>
                                      </a:rPr>
                                      <m:t>𝐿𝑆</m:t>
                                    </m:r>
                                  </m:sup>
                                </m:sSup>
                                <m:r>
                                  <a:rPr lang="en-US" altLang="zh-TW" sz="1400" b="0" i="1" smtClean="0">
                                    <a:solidFill>
                                      <a:schemeClr val="tx1"/>
                                    </a:solidFill>
                                    <a:latin typeface="Cambria Math" panose="02040503050406030204" pitchFamily="18" charset="0"/>
                                  </a:rPr>
                                  <m:t>[13]</m:t>
                                </m:r>
                              </m:oMath>
                            </m:oMathPara>
                          </a14:m>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Trump</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0.5</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1</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2</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3</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4</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5</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6</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7</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8</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9</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Not trump</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3</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2</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1</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0.5</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72EA0DA8-3BDE-AF02-FECB-D29B67102CC9}"/>
                  </a:ext>
                </a:extLst>
              </p:cNvPr>
              <p:cNvGraphicFramePr>
                <a:graphicFrameLocks noGrp="1"/>
              </p:cNvGraphicFramePr>
              <p:nvPr>
                <p:extLst>
                  <p:ext uri="{D42A27DB-BD31-4B8C-83A1-F6EECF244321}">
                    <p14:modId xmlns:p14="http://schemas.microsoft.com/office/powerpoint/2010/main" val="2221837547"/>
                  </p:ext>
                </p:extLst>
              </p:nvPr>
            </p:nvGraphicFramePr>
            <p:xfrm>
              <a:off x="178676" y="5016588"/>
              <a:ext cx="11834650" cy="1112520"/>
            </p:xfrm>
            <a:graphic>
              <a:graphicData uri="http://schemas.openxmlformats.org/drawingml/2006/table">
                <a:tbl>
                  <a:tblPr firstRow="1" bandRow="1">
                    <a:tableStyleId>{5C22544A-7EE6-4342-B048-85BDC9FD1C3A}</a:tableStyleId>
                  </a:tblPr>
                  <a:tblGrid>
                    <a:gridCol w="1066970">
                      <a:extLst>
                        <a:ext uri="{9D8B030D-6E8A-4147-A177-3AD203B41FA5}">
                          <a16:colId xmlns:a16="http://schemas.microsoft.com/office/drawing/2014/main" val="3954870805"/>
                        </a:ext>
                      </a:extLst>
                    </a:gridCol>
                    <a:gridCol w="743590">
                      <a:extLst>
                        <a:ext uri="{9D8B030D-6E8A-4147-A177-3AD203B41FA5}">
                          <a16:colId xmlns:a16="http://schemas.microsoft.com/office/drawing/2014/main" val="875205383"/>
                        </a:ext>
                      </a:extLst>
                    </a:gridCol>
                    <a:gridCol w="743590">
                      <a:extLst>
                        <a:ext uri="{9D8B030D-6E8A-4147-A177-3AD203B41FA5}">
                          <a16:colId xmlns:a16="http://schemas.microsoft.com/office/drawing/2014/main" val="3806261155"/>
                        </a:ext>
                      </a:extLst>
                    </a:gridCol>
                    <a:gridCol w="743590">
                      <a:extLst>
                        <a:ext uri="{9D8B030D-6E8A-4147-A177-3AD203B41FA5}">
                          <a16:colId xmlns:a16="http://schemas.microsoft.com/office/drawing/2014/main" val="1954756755"/>
                        </a:ext>
                      </a:extLst>
                    </a:gridCol>
                    <a:gridCol w="743590">
                      <a:extLst>
                        <a:ext uri="{9D8B030D-6E8A-4147-A177-3AD203B41FA5}">
                          <a16:colId xmlns:a16="http://schemas.microsoft.com/office/drawing/2014/main" val="1221724677"/>
                        </a:ext>
                      </a:extLst>
                    </a:gridCol>
                    <a:gridCol w="743590">
                      <a:extLst>
                        <a:ext uri="{9D8B030D-6E8A-4147-A177-3AD203B41FA5}">
                          <a16:colId xmlns:a16="http://schemas.microsoft.com/office/drawing/2014/main" val="834593358"/>
                        </a:ext>
                      </a:extLst>
                    </a:gridCol>
                    <a:gridCol w="743590">
                      <a:extLst>
                        <a:ext uri="{9D8B030D-6E8A-4147-A177-3AD203B41FA5}">
                          <a16:colId xmlns:a16="http://schemas.microsoft.com/office/drawing/2014/main" val="3907262925"/>
                        </a:ext>
                      </a:extLst>
                    </a:gridCol>
                    <a:gridCol w="743590">
                      <a:extLst>
                        <a:ext uri="{9D8B030D-6E8A-4147-A177-3AD203B41FA5}">
                          <a16:colId xmlns:a16="http://schemas.microsoft.com/office/drawing/2014/main" val="1444926589"/>
                        </a:ext>
                      </a:extLst>
                    </a:gridCol>
                    <a:gridCol w="743590">
                      <a:extLst>
                        <a:ext uri="{9D8B030D-6E8A-4147-A177-3AD203B41FA5}">
                          <a16:colId xmlns:a16="http://schemas.microsoft.com/office/drawing/2014/main" val="361702419"/>
                        </a:ext>
                      </a:extLst>
                    </a:gridCol>
                    <a:gridCol w="743590">
                      <a:extLst>
                        <a:ext uri="{9D8B030D-6E8A-4147-A177-3AD203B41FA5}">
                          <a16:colId xmlns:a16="http://schemas.microsoft.com/office/drawing/2014/main" val="152320123"/>
                        </a:ext>
                      </a:extLst>
                    </a:gridCol>
                    <a:gridCol w="743590">
                      <a:extLst>
                        <a:ext uri="{9D8B030D-6E8A-4147-A177-3AD203B41FA5}">
                          <a16:colId xmlns:a16="http://schemas.microsoft.com/office/drawing/2014/main" val="493840866"/>
                        </a:ext>
                      </a:extLst>
                    </a:gridCol>
                    <a:gridCol w="832945">
                      <a:extLst>
                        <a:ext uri="{9D8B030D-6E8A-4147-A177-3AD203B41FA5}">
                          <a16:colId xmlns:a16="http://schemas.microsoft.com/office/drawing/2014/main" val="1162998739"/>
                        </a:ext>
                      </a:extLst>
                    </a:gridCol>
                    <a:gridCol w="832945">
                      <a:extLst>
                        <a:ext uri="{9D8B030D-6E8A-4147-A177-3AD203B41FA5}">
                          <a16:colId xmlns:a16="http://schemas.microsoft.com/office/drawing/2014/main" val="1814767999"/>
                        </a:ext>
                      </a:extLst>
                    </a:gridCol>
                    <a:gridCol w="832945">
                      <a:extLst>
                        <a:ext uri="{9D8B030D-6E8A-4147-A177-3AD203B41FA5}">
                          <a16:colId xmlns:a16="http://schemas.microsoft.com/office/drawing/2014/main" val="3616722227"/>
                        </a:ext>
                      </a:extLst>
                    </a:gridCol>
                    <a:gridCol w="832945">
                      <a:extLst>
                        <a:ext uri="{9D8B030D-6E8A-4147-A177-3AD203B41FA5}">
                          <a16:colId xmlns:a16="http://schemas.microsoft.com/office/drawing/2014/main" val="1518272358"/>
                        </a:ext>
                      </a:extLst>
                    </a:gridCol>
                  </a:tblGrid>
                  <a:tr h="370840">
                    <a:tc>
                      <a:txBody>
                        <a:bodyPr/>
                        <a:lstStyle/>
                        <a:p>
                          <a:pPr algn="ct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4068" t="-3448" r="-1340678"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276" t="-3448" r="-1263793"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2373" t="-3448" r="-1142373"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0000" t="-3448" r="-1062069"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0678" t="-3448" r="-944068"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1724" t="-3448" r="-860345"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38983" t="-3448" r="-745763"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53448" t="-3448" r="-658621"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7288" t="-3448" r="-547458"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7288" t="-3448" r="-447458"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2308" t="-3448" r="-306154"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15152" t="-3448" r="-201515"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33846" t="-3448" r="-104615" b="-20689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13636" t="-3448" r="-3030" b="-206897"/>
                          </a:stretch>
                        </a:blipFill>
                      </a:tcPr>
                    </a:tc>
                    <a:extLst>
                      <a:ext uri="{0D108BD9-81ED-4DB2-BD59-A6C34878D82A}">
                        <a16:rowId xmlns:a16="http://schemas.microsoft.com/office/drawing/2014/main" val="200786440"/>
                      </a:ext>
                    </a:extLst>
                  </a:tr>
                  <a:tr h="370840">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Trump</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0.5</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1</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2</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3</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4</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5</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6</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7</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8</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9</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Not trump</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3</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2</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1</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0.5</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0</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69245159-FE28-BE45-B0EF-48BBFDEC82A3}"/>
              </a:ext>
            </a:extLst>
          </p:cNvPr>
          <p:cNvSpPr>
            <a:spLocks noGrp="1"/>
          </p:cNvSpPr>
          <p:nvPr>
            <p:ph type="sldNum" sz="quarter" idx="12"/>
          </p:nvPr>
        </p:nvSpPr>
        <p:spPr/>
        <p:txBody>
          <a:bodyPr/>
          <a:lstStyle/>
          <a:p>
            <a:fld id="{9964E18F-1489-4A4A-8DD8-AC372572ADE5}" type="slidenum">
              <a:rPr kumimoji="1" lang="zh-TW" altLang="en-US" smtClean="0"/>
              <a:t>23</a:t>
            </a:fld>
            <a:endParaRPr kumimoji="1" lang="zh-TW" altLang="en-US"/>
          </a:p>
        </p:txBody>
      </p:sp>
    </p:spTree>
    <p:extLst>
      <p:ext uri="{BB962C8B-B14F-4D97-AF65-F5344CB8AC3E}">
        <p14:creationId xmlns:p14="http://schemas.microsoft.com/office/powerpoint/2010/main" val="3694004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Length formula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775754298"/>
                  </p:ext>
                </p:extLst>
              </p:nvPr>
            </p:nvGraphicFramePr>
            <p:xfrm>
              <a:off x="1765738" y="1690689"/>
              <a:ext cx="9221350" cy="4224336"/>
            </p:xfrm>
            <a:graphic>
              <a:graphicData uri="http://schemas.openxmlformats.org/drawingml/2006/table">
                <a:tbl>
                  <a:tblPr firstRow="1" bandRow="1">
                    <a:tableStyleId>{5C22544A-7EE6-4342-B048-85BDC9FD1C3A}</a:tableStyleId>
                  </a:tblPr>
                  <a:tblGrid>
                    <a:gridCol w="1323746">
                      <a:extLst>
                        <a:ext uri="{9D8B030D-6E8A-4147-A177-3AD203B41FA5}">
                          <a16:colId xmlns:a16="http://schemas.microsoft.com/office/drawing/2014/main" val="2900614783"/>
                        </a:ext>
                      </a:extLst>
                    </a:gridCol>
                    <a:gridCol w="2096374">
                      <a:extLst>
                        <a:ext uri="{9D8B030D-6E8A-4147-A177-3AD203B41FA5}">
                          <a16:colId xmlns:a16="http://schemas.microsoft.com/office/drawing/2014/main" val="3013778250"/>
                        </a:ext>
                      </a:extLst>
                    </a:gridCol>
                    <a:gridCol w="2334109">
                      <a:extLst>
                        <a:ext uri="{9D8B030D-6E8A-4147-A177-3AD203B41FA5}">
                          <a16:colId xmlns:a16="http://schemas.microsoft.com/office/drawing/2014/main" val="3443406315"/>
                        </a:ext>
                      </a:extLst>
                    </a:gridCol>
                    <a:gridCol w="1731892">
                      <a:extLst>
                        <a:ext uri="{9D8B030D-6E8A-4147-A177-3AD203B41FA5}">
                          <a16:colId xmlns:a16="http://schemas.microsoft.com/office/drawing/2014/main" val="3317424169"/>
                        </a:ext>
                      </a:extLst>
                    </a:gridCol>
                    <a:gridCol w="1735229">
                      <a:extLst>
                        <a:ext uri="{9D8B030D-6E8A-4147-A177-3AD203B41FA5}">
                          <a16:colId xmlns:a16="http://schemas.microsoft.com/office/drawing/2014/main" val="1162832883"/>
                        </a:ext>
                      </a:extLst>
                    </a:gridCol>
                  </a:tblGrid>
                  <a:tr h="371599">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𝐷</m:t>
                                </m:r>
                              </m:oMath>
                            </m:oMathPara>
                          </a14:m>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𝐷</m:t>
                                </m:r>
                                <m:r>
                                  <a:rPr lang="en-US" altLang="zh-TW" b="0" i="1" smtClean="0">
                                    <a:solidFill>
                                      <a:schemeClr val="tx1"/>
                                    </a:solidFill>
                                    <a:latin typeface="Cambria Math" panose="02040503050406030204" pitchFamily="18" charset="0"/>
                                  </a:rPr>
                                  <m:t>=</m:t>
                                </m:r>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𝑡</m:t>
                                                </m:r>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Sub>
                                                      </m:e>
                                                    </m:d>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r>
                                                      <a:rPr lang="en-US" altLang="zh-TW" b="0" i="1" smtClean="0">
                                                        <a:solidFill>
                                                          <a:srgbClr val="FF0000"/>
                                                        </a:solidFill>
                                                        <a:latin typeface="Cambria Math" panose="02040503050406030204" pitchFamily="18" charset="0"/>
                                                      </a:rPr>
                                                      <m:t>𝑡</m:t>
                                                    </m:r>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d>
                                                  <m:dPr>
                                                    <m:ctrlPr>
                                                      <a:rPr lang="en-US" altLang="zh-TW" b="0" i="1" smtClean="0">
                                                        <a:solidFill>
                                                          <a:schemeClr val="tx1"/>
                                                        </a:solidFill>
                                                        <a:latin typeface="Cambria Math" panose="02040503050406030204" pitchFamily="18" charset="0"/>
                                                      </a:rPr>
                                                    </m:ctrlPr>
                                                  </m:dPr>
                                                  <m:e>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e>
                                                    </m:d>
                                                  </m:e>
                                                </m:d>
                                              </m:e>
                                              <m:sup>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𝑐</m:t>
                                                    </m:r>
                                                  </m:e>
                                                  <m:sub>
                                                    <m:acc>
                                                      <m:accPr>
                                                        <m:chr m:val="̅"/>
                                                        <m:ctrlPr>
                                                          <a:rPr lang="en-US" altLang="zh-TW" b="0" i="1" smtClean="0">
                                                            <a:solidFill>
                                                              <a:srgbClr val="FF0000"/>
                                                            </a:solidFill>
                                                            <a:latin typeface="Cambria Math" panose="02040503050406030204" pitchFamily="18" charset="0"/>
                                                          </a:rPr>
                                                        </m:ctrlPr>
                                                      </m:accPr>
                                                      <m:e>
                                                        <m:r>
                                                          <a:rPr lang="en-US" altLang="zh-TW" b="0" i="1" smtClean="0">
                                                            <a:solidFill>
                                                              <a:srgbClr val="FF0000"/>
                                                            </a:solidFill>
                                                            <a:latin typeface="Cambria Math" panose="02040503050406030204" pitchFamily="18" charset="0"/>
                                                          </a:rPr>
                                                          <m:t>𝑡</m:t>
                                                        </m:r>
                                                      </m:e>
                                                    </m:acc>
                                                  </m:sub>
                                                </m:sSub>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𝑡</m:t>
                                            </m:r>
                                          </m:e>
                                        </m:eqArr>
                                      </m:e>
                                    </m:d>
                                  </m:e>
                                </m:nary>
                              </m:oMath>
                            </m:oMathPara>
                          </a14:m>
                          <a:endParaRPr lang="zh-TW" altLang="en-US" b="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8820">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6644">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7273">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b="0" dirty="0">
                            <a:solidFill>
                              <a:schemeClr val="accent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𝐷</m:t>
                                </m:r>
                                <m:r>
                                  <a:rPr lang="en-US" altLang="zh-TW" b="0" i="1" smtClean="0">
                                    <a:solidFill>
                                      <a:schemeClr val="accent6">
                                        <a:lumMod val="75000"/>
                                      </a:schemeClr>
                                    </a:solidFill>
                                    <a:latin typeface="Cambria Math" panose="02040503050406030204" pitchFamily="18" charset="0"/>
                                    <a:cs typeface="Times New Roman" panose="02020603050405020304" pitchFamily="18" charset="0"/>
                                  </a:rPr>
                                  <m:t>=1+2+8+2</m:t>
                                </m:r>
                              </m:oMath>
                            </m:oMathPara>
                          </a14:m>
                          <a:endParaRPr lang="zh-TW" altLang="en-US" b="0" dirty="0">
                            <a:solidFill>
                              <a:schemeClr val="accent6">
                                <a:lumMod val="75000"/>
                              </a:schemeClr>
                            </a:solidFill>
                            <a:latin typeface="Times New Roman" panose="02020603050405020304" pitchFamily="18" charset="0"/>
                            <a:cs typeface="Times New Roman" panose="02020603050405020304" pitchFamily="18" charset="0"/>
                          </a:endParaRPr>
                        </a:p>
                        <a:p>
                          <a:endParaRPr lang="zh-TW" altLang="en-US" b="0" dirty="0">
                            <a:solidFill>
                              <a:schemeClr val="tx1"/>
                            </a:solidFill>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Choice>
        <mc:Fallback xmlns="">
          <p:graphicFrame>
            <p:nvGraphicFramePr>
              <p:cNvPr id="7" name="表格 4">
                <a:extLst>
                  <a:ext uri="{FF2B5EF4-FFF2-40B4-BE49-F238E27FC236}">
                    <a16:creationId xmlns:a16="http://schemas.microsoft.com/office/drawing/2014/main" id="{BEBA149A-BF72-11FC-D6C7-168F33562127}"/>
                  </a:ext>
                </a:extLst>
              </p:cNvPr>
              <p:cNvGraphicFramePr>
                <a:graphicFrameLocks noGrp="1"/>
              </p:cNvGraphicFramePr>
              <p:nvPr>
                <p:extLst>
                  <p:ext uri="{D42A27DB-BD31-4B8C-83A1-F6EECF244321}">
                    <p14:modId xmlns:p14="http://schemas.microsoft.com/office/powerpoint/2010/main" val="1775754298"/>
                  </p:ext>
                </p:extLst>
              </p:nvPr>
            </p:nvGraphicFramePr>
            <p:xfrm>
              <a:off x="1765738" y="1690689"/>
              <a:ext cx="9221350" cy="4224336"/>
            </p:xfrm>
            <a:graphic>
              <a:graphicData uri="http://schemas.openxmlformats.org/drawingml/2006/table">
                <a:tbl>
                  <a:tblPr firstRow="1" bandRow="1">
                    <a:tableStyleId>{5C22544A-7EE6-4342-B048-85BDC9FD1C3A}</a:tableStyleId>
                  </a:tblPr>
                  <a:tblGrid>
                    <a:gridCol w="1323746">
                      <a:extLst>
                        <a:ext uri="{9D8B030D-6E8A-4147-A177-3AD203B41FA5}">
                          <a16:colId xmlns:a16="http://schemas.microsoft.com/office/drawing/2014/main" val="2900614783"/>
                        </a:ext>
                      </a:extLst>
                    </a:gridCol>
                    <a:gridCol w="2096374">
                      <a:extLst>
                        <a:ext uri="{9D8B030D-6E8A-4147-A177-3AD203B41FA5}">
                          <a16:colId xmlns:a16="http://schemas.microsoft.com/office/drawing/2014/main" val="3013778250"/>
                        </a:ext>
                      </a:extLst>
                    </a:gridCol>
                    <a:gridCol w="2334109">
                      <a:extLst>
                        <a:ext uri="{9D8B030D-6E8A-4147-A177-3AD203B41FA5}">
                          <a16:colId xmlns:a16="http://schemas.microsoft.com/office/drawing/2014/main" val="3443406315"/>
                        </a:ext>
                      </a:extLst>
                    </a:gridCol>
                    <a:gridCol w="1731892">
                      <a:extLst>
                        <a:ext uri="{9D8B030D-6E8A-4147-A177-3AD203B41FA5}">
                          <a16:colId xmlns:a16="http://schemas.microsoft.com/office/drawing/2014/main" val="3317424169"/>
                        </a:ext>
                      </a:extLst>
                    </a:gridCol>
                    <a:gridCol w="1735229">
                      <a:extLst>
                        <a:ext uri="{9D8B030D-6E8A-4147-A177-3AD203B41FA5}">
                          <a16:colId xmlns:a16="http://schemas.microsoft.com/office/drawing/2014/main" val="1162832883"/>
                        </a:ext>
                      </a:extLst>
                    </a:gridCol>
                  </a:tblGrid>
                  <a:tr h="371599">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62" t="-300000" r="-600000" b="-1051724"/>
                          </a:stretch>
                        </a:blip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#parameters: 6</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300" t="-82857" r="-219" b="-218095"/>
                          </a:stretch>
                        </a:blipFill>
                      </a:tcPr>
                    </a:tc>
                    <a:tc rowSpan="2"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zh-TW" altLang="en-US"/>
                        </a:p>
                      </a:txBody>
                      <a:tcPr>
                        <a:lnL w="12700" cmpd="sng">
                          <a:noFill/>
                        </a:lnL>
                      </a:tcPr>
                    </a:tc>
                    <a:extLst>
                      <a:ext uri="{0D108BD9-81ED-4DB2-BD59-A6C34878D82A}">
                        <a16:rowId xmlns:a16="http://schemas.microsoft.com/office/drawing/2014/main" val="4054647893"/>
                      </a:ext>
                    </a:extLst>
                  </a:tr>
                  <a:tr h="958820">
                    <a:tc rowSpan="3" gridSpan="2">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hMerge="1">
                      <a:txBody>
                        <a:bodyPr/>
                        <a:lstStyle/>
                        <a:p>
                          <a:endParaRPr lang="en-US" altLang="zh-TW"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381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3524981430"/>
                      </a:ext>
                    </a:extLst>
                  </a:tr>
                  <a:tr h="1596644">
                    <a:tc gridSpan="2" vMerge="1">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a:txBody>
                        <a:bodyPr/>
                        <a:lstStyle/>
                        <a:p>
                          <a:pPr algn="dist"/>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TW" b="0" dirty="0">
                              <a:solidFill>
                                <a:schemeClr val="tx1"/>
                              </a:solidFill>
                              <a:latin typeface="Times New Roman" panose="02020603050405020304" pitchFamily="18" charset="0"/>
                              <a:cs typeface="Times New Roman" panose="02020603050405020304" pitchFamily="18" charset="0"/>
                            </a:rPr>
                            <a:t>N</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ctr"/>
                          <a:r>
                            <a:rPr lang="en-US" altLang="zh-TW" b="0" dirty="0">
                              <a:solidFill>
                                <a:schemeClr val="tx1"/>
                              </a:solidFill>
                              <a:latin typeface="Times New Roman" panose="02020603050405020304" pitchFamily="18" charset="0"/>
                              <a:cs typeface="Times New Roman" panose="02020603050405020304" pitchFamily="18" charset="0"/>
                            </a:rPr>
                            <a:t>W</a:t>
                          </a:r>
                          <a:r>
                            <a:rPr lang="zh-TW" altLang="en-US" b="0" dirty="0">
                              <a:solidFill>
                                <a:schemeClr val="tx1"/>
                              </a:solidFill>
                              <a:latin typeface="Times New Roman" panose="02020603050405020304" pitchFamily="18" charset="0"/>
                              <a:cs typeface="Times New Roman" panose="02020603050405020304" pitchFamily="18" charset="0"/>
                            </a:rPr>
                            <a:t>            </a:t>
                          </a:r>
                          <a:r>
                            <a:rPr lang="en-US" altLang="zh-TW" b="0" dirty="0">
                              <a:solidFill>
                                <a:schemeClr val="tx1"/>
                              </a:solidFill>
                              <a:latin typeface="Times New Roman" panose="02020603050405020304" pitchFamily="18" charset="0"/>
                              <a:cs typeface="Times New Roman" panose="02020603050405020304" pitchFamily="18" charset="0"/>
                            </a:rPr>
                            <a:t>E</a:t>
                          </a:r>
                        </a:p>
                        <a:p>
                          <a:pPr algn="dist"/>
                          <a:endParaRPr lang="en-US" altLang="zh-TW" b="0" dirty="0">
                            <a:solidFill>
                              <a:schemeClr val="tx1"/>
                            </a:solidFill>
                            <a:latin typeface="Times New Roman" panose="02020603050405020304" pitchFamily="18" charset="0"/>
                            <a:cs typeface="Times New Roman" panose="02020603050405020304" pitchFamily="18" charset="0"/>
                          </a:endParaRPr>
                        </a:p>
                        <a:p>
                          <a:pPr algn="dist"/>
                          <a:r>
                            <a:rPr lang="en-US" altLang="zh-TW" b="0" dirty="0">
                              <a:solidFill>
                                <a:schemeClr val="tx1"/>
                              </a:solidFill>
                              <a:latin typeface="Times New Roman" panose="02020603050405020304" pitchFamily="18" charset="0"/>
                              <a:cs typeface="Times New Roman" panose="02020603050405020304" pitchFamily="18" charset="0"/>
                            </a:rPr>
                            <a:t>S</a:t>
                          </a:r>
                          <a:endParaRPr lang="zh-TW" altLang="en-US" dirty="0"/>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S JT7</a:t>
                          </a:r>
                        </a:p>
                        <a:p>
                          <a:r>
                            <a:rPr lang="en-US" altLang="zh-TW" b="0" dirty="0">
                              <a:solidFill>
                                <a:schemeClr val="tx1"/>
                              </a:solidFill>
                              <a:latin typeface="Times New Roman" panose="02020603050405020304" pitchFamily="18" charset="0"/>
                              <a:cs typeface="Times New Roman" panose="02020603050405020304" pitchFamily="18" charset="0"/>
                            </a:rPr>
                            <a:t>H J</a:t>
                          </a:r>
                        </a:p>
                        <a:p>
                          <a:r>
                            <a:rPr lang="en-US" altLang="zh-TW" b="0" dirty="0">
                              <a:solidFill>
                                <a:schemeClr val="accent1"/>
                              </a:solidFill>
                              <a:latin typeface="Times New Roman" panose="02020603050405020304" pitchFamily="18" charset="0"/>
                              <a:cs typeface="Times New Roman" panose="02020603050405020304" pitchFamily="18" charset="0"/>
                            </a:rPr>
                            <a:t>D AKJ7642</a:t>
                          </a:r>
                        </a:p>
                        <a:p>
                          <a:r>
                            <a:rPr lang="en-US" altLang="zh-TW" b="0" dirty="0">
                              <a:solidFill>
                                <a:schemeClr val="tx1"/>
                              </a:solidFill>
                              <a:latin typeface="Times New Roman" panose="02020603050405020304" pitchFamily="18" charset="0"/>
                              <a:cs typeface="Times New Roman" panose="02020603050405020304" pitchFamily="18" charset="0"/>
                            </a:rPr>
                            <a:t>C AT</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647339"/>
                      </a:ext>
                    </a:extLst>
                  </a:tr>
                  <a:tr h="1297273">
                    <a:tc gridSpan="2" v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endParaRPr lang="zh-TW"/>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9300" t="-311765" r="-219" b="-980"/>
                          </a:stretch>
                        </a:blipFill>
                      </a:tcPr>
                    </a:tc>
                    <a:tc hMerge="1">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TW" altLang="en-US"/>
                        </a:p>
                      </a:txBody>
                      <a:tcPr>
                        <a:lnL w="12700" cmpd="sng">
                          <a:noFill/>
                        </a:lnL>
                        <a:lnT w="12700" cmpd="sng">
                          <a:noFill/>
                        </a:lnT>
                      </a:tcPr>
                    </a:tc>
                    <a:extLst>
                      <a:ext uri="{0D108BD9-81ED-4DB2-BD59-A6C34878D82A}">
                        <a16:rowId xmlns:a16="http://schemas.microsoft.com/office/drawing/2014/main" val="29929364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9">
                <a:extLst>
                  <a:ext uri="{FF2B5EF4-FFF2-40B4-BE49-F238E27FC236}">
                    <a16:creationId xmlns:a16="http://schemas.microsoft.com/office/drawing/2014/main" id="{2C7DBE7A-24C0-7B96-C3F9-620BB7CA9ED7}"/>
                  </a:ext>
                </a:extLst>
              </p:cNvPr>
              <p:cNvGraphicFramePr>
                <a:graphicFrameLocks noGrp="1"/>
              </p:cNvGraphicFramePr>
              <p:nvPr>
                <p:extLst>
                  <p:ext uri="{D42A27DB-BD31-4B8C-83A1-F6EECF244321}">
                    <p14:modId xmlns:p14="http://schemas.microsoft.com/office/powerpoint/2010/main" val="476277232"/>
                  </p:ext>
                </p:extLst>
              </p:nvPr>
            </p:nvGraphicFramePr>
            <p:xfrm>
              <a:off x="1204912" y="4712016"/>
              <a:ext cx="4737164" cy="1112520"/>
            </p:xfrm>
            <a:graphic>
              <a:graphicData uri="http://schemas.openxmlformats.org/drawingml/2006/table">
                <a:tbl>
                  <a:tblPr firstRow="1" bandRow="1">
                    <a:tableStyleId>{5C22544A-7EE6-4342-B048-85BDC9FD1C3A}</a:tableStyleId>
                  </a:tblPr>
                  <a:tblGrid>
                    <a:gridCol w="1184291">
                      <a:extLst>
                        <a:ext uri="{9D8B030D-6E8A-4147-A177-3AD203B41FA5}">
                          <a16:colId xmlns:a16="http://schemas.microsoft.com/office/drawing/2014/main" val="3954870805"/>
                        </a:ext>
                      </a:extLst>
                    </a:gridCol>
                    <a:gridCol w="1184291">
                      <a:extLst>
                        <a:ext uri="{9D8B030D-6E8A-4147-A177-3AD203B41FA5}">
                          <a16:colId xmlns:a16="http://schemas.microsoft.com/office/drawing/2014/main" val="875205383"/>
                        </a:ext>
                      </a:extLst>
                    </a:gridCol>
                    <a:gridCol w="1184291">
                      <a:extLst>
                        <a:ext uri="{9D8B030D-6E8A-4147-A177-3AD203B41FA5}">
                          <a16:colId xmlns:a16="http://schemas.microsoft.com/office/drawing/2014/main" val="3806261155"/>
                        </a:ext>
                      </a:extLst>
                    </a:gridCol>
                    <a:gridCol w="1184291">
                      <a:extLst>
                        <a:ext uri="{9D8B030D-6E8A-4147-A177-3AD203B41FA5}">
                          <a16:colId xmlns:a16="http://schemas.microsoft.com/office/drawing/2014/main" val="19547567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𝑏</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Choice>
        <mc:Fallback xmlns="">
          <p:graphicFrame>
            <p:nvGraphicFramePr>
              <p:cNvPr id="3" name="表格 9">
                <a:extLst>
                  <a:ext uri="{FF2B5EF4-FFF2-40B4-BE49-F238E27FC236}">
                    <a16:creationId xmlns:a16="http://schemas.microsoft.com/office/drawing/2014/main" id="{2C7DBE7A-24C0-7B96-C3F9-620BB7CA9ED7}"/>
                  </a:ext>
                </a:extLst>
              </p:cNvPr>
              <p:cNvGraphicFramePr>
                <a:graphicFrameLocks noGrp="1"/>
              </p:cNvGraphicFramePr>
              <p:nvPr>
                <p:extLst>
                  <p:ext uri="{D42A27DB-BD31-4B8C-83A1-F6EECF244321}">
                    <p14:modId xmlns:p14="http://schemas.microsoft.com/office/powerpoint/2010/main" val="476277232"/>
                  </p:ext>
                </p:extLst>
              </p:nvPr>
            </p:nvGraphicFramePr>
            <p:xfrm>
              <a:off x="1204912" y="4712016"/>
              <a:ext cx="4737164" cy="1112520"/>
            </p:xfrm>
            <a:graphic>
              <a:graphicData uri="http://schemas.openxmlformats.org/drawingml/2006/table">
                <a:tbl>
                  <a:tblPr firstRow="1" bandRow="1">
                    <a:tableStyleId>{5C22544A-7EE6-4342-B048-85BDC9FD1C3A}</a:tableStyleId>
                  </a:tblPr>
                  <a:tblGrid>
                    <a:gridCol w="1184291">
                      <a:extLst>
                        <a:ext uri="{9D8B030D-6E8A-4147-A177-3AD203B41FA5}">
                          <a16:colId xmlns:a16="http://schemas.microsoft.com/office/drawing/2014/main" val="3954870805"/>
                        </a:ext>
                      </a:extLst>
                    </a:gridCol>
                    <a:gridCol w="1184291">
                      <a:extLst>
                        <a:ext uri="{9D8B030D-6E8A-4147-A177-3AD203B41FA5}">
                          <a16:colId xmlns:a16="http://schemas.microsoft.com/office/drawing/2014/main" val="875205383"/>
                        </a:ext>
                      </a:extLst>
                    </a:gridCol>
                    <a:gridCol w="1184291">
                      <a:extLst>
                        <a:ext uri="{9D8B030D-6E8A-4147-A177-3AD203B41FA5}">
                          <a16:colId xmlns:a16="http://schemas.microsoft.com/office/drawing/2014/main" val="3806261155"/>
                        </a:ext>
                      </a:extLst>
                    </a:gridCol>
                    <a:gridCol w="1184291">
                      <a:extLst>
                        <a:ext uri="{9D8B030D-6E8A-4147-A177-3AD203B41FA5}">
                          <a16:colId xmlns:a16="http://schemas.microsoft.com/office/drawing/2014/main" val="1954756755"/>
                        </a:ext>
                      </a:extLst>
                    </a:gridCol>
                  </a:tblGrid>
                  <a:tr h="370840">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1075" t="-3448" r="-202151"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936" t="-3448" r="-100000" b="-227586"/>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2151" t="-3448" r="-1075" b="-227586"/>
                          </a:stretch>
                        </a:blipFill>
                      </a:tcPr>
                    </a:tc>
                    <a:extLst>
                      <a:ext uri="{0D108BD9-81ED-4DB2-BD59-A6C34878D82A}">
                        <a16:rowId xmlns:a16="http://schemas.microsoft.com/office/drawing/2014/main" val="20078644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883818"/>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Not trump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3941364"/>
                      </a:ext>
                    </a:extLst>
                  </a:tr>
                </a:tbl>
              </a:graphicData>
            </a:graphic>
          </p:graphicFrame>
        </mc:Fallback>
      </mc:AlternateContent>
      <p:sp>
        <p:nvSpPr>
          <p:cNvPr id="5" name="投影片編號版面配置區 4">
            <a:extLst>
              <a:ext uri="{FF2B5EF4-FFF2-40B4-BE49-F238E27FC236}">
                <a16:creationId xmlns:a16="http://schemas.microsoft.com/office/drawing/2014/main" id="{D6FAEEDB-080E-9942-8054-9870907DE637}"/>
              </a:ext>
            </a:extLst>
          </p:cNvPr>
          <p:cNvSpPr>
            <a:spLocks noGrp="1"/>
          </p:cNvSpPr>
          <p:nvPr>
            <p:ph type="sldNum" sz="quarter" idx="12"/>
          </p:nvPr>
        </p:nvSpPr>
        <p:spPr/>
        <p:txBody>
          <a:bodyPr/>
          <a:lstStyle/>
          <a:p>
            <a:fld id="{9964E18F-1489-4A4A-8DD8-AC372572ADE5}" type="slidenum">
              <a:rPr kumimoji="1" lang="zh-TW" altLang="en-US" smtClean="0"/>
              <a:t>24</a:t>
            </a:fld>
            <a:endParaRPr kumimoji="1" lang="zh-TW" altLang="en-US"/>
          </a:p>
        </p:txBody>
      </p:sp>
    </p:spTree>
    <p:extLst>
      <p:ext uri="{BB962C8B-B14F-4D97-AF65-F5344CB8AC3E}">
        <p14:creationId xmlns:p14="http://schemas.microsoft.com/office/powerpoint/2010/main" val="3699481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Fine-Tune if the East Bids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2693442818"/>
                  </p:ext>
                </p:extLst>
              </p:nvPr>
            </p:nvGraphicFramePr>
            <p:xfrm>
              <a:off x="1386052" y="2735929"/>
              <a:ext cx="9419896" cy="2305939"/>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𝑐𝐻</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r>
                                                  <a:rPr lang="en-US" altLang="zh-TW" b="0" i="1" smtClean="0">
                                                    <a:solidFill>
                                                      <a:schemeClr val="tx1"/>
                                                    </a:solidFill>
                                                    <a:latin typeface="Cambria Math" panose="02040503050406030204" pitchFamily="18" charset="0"/>
                                                  </a:rPr>
                                                  <m:t>𝐿𝐻𝑂</m:t>
                                                </m:r>
                                              </m:sub>
                                              <m:sup>
                                                <m:r>
                                                  <a:rPr lang="en-US" altLang="zh-TW" b="0" i="1" smtClean="0">
                                                    <a:solidFill>
                                                      <a:schemeClr val="tx1"/>
                                                    </a:solidFill>
                                                    <a:latin typeface="Cambria Math" panose="02040503050406030204" pitchFamily="18" charset="0"/>
                                                  </a:rPr>
                                                  <m:t>𝑐𝐻</m:t>
                                                </m:r>
                                              </m:sup>
                                            </m:sSub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𝐿𝐻𝑂</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𝑏𝑖𝑑𝑠</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e>
                                          <m:e>
                                            <m:sSubSup>
                                              <m:sSubSupPr>
                                                <m:ctrlPr>
                                                  <a:rPr lang="en-US" altLang="zh-TW" b="0"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𝑀</m:t>
                                                </m:r>
                                              </m:e>
                                              <m:sub>
                                                <m:r>
                                                  <a:rPr lang="en-US" altLang="zh-TW" b="0" i="1" smtClean="0">
                                                    <a:solidFill>
                                                      <a:schemeClr val="tx1"/>
                                                    </a:solidFill>
                                                    <a:latin typeface="Cambria Math" panose="02040503050406030204" pitchFamily="18" charset="0"/>
                                                  </a:rPr>
                                                  <m:t>𝑅𝐻𝑂</m:t>
                                                </m:r>
                                              </m:sub>
                                              <m:sup>
                                                <m:r>
                                                  <a:rPr lang="en-US" altLang="zh-TW" b="0" i="1" smtClean="0">
                                                    <a:solidFill>
                                                      <a:schemeClr val="tx1"/>
                                                    </a:solidFill>
                                                    <a:latin typeface="Cambria Math" panose="02040503050406030204" pitchFamily="18" charset="0"/>
                                                  </a:rPr>
                                                  <m:t>𝑐𝐻</m:t>
                                                </m:r>
                                              </m:sup>
                                            </m:sSubSup>
                                            <m:d>
                                              <m:dPr>
                                                <m:begChr m:val="["/>
                                                <m:endChr m:val="]"/>
                                                <m:ctrlPr>
                                                  <a:rPr lang="en-US" altLang="zh-TW" b="0"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𝑐𝑎𝑟𝑑</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𝑅𝐻𝑂</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𝑏𝑖𝑑𝑠</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9861928"/>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𝑐𝑆</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𝑐𝑆</m:t>
                                    </m:r>
                                  </m:sup>
                                </m:sSup>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&lt;3 </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𝑒𝑎𝑠𝑡</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𝑏𝑖𝑑𝑠</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41270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𝑐𝐷</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r>
                                  <a:rPr lang="en-US" altLang="zh-TW" b="0" i="1" smtClean="0">
                                    <a:solidFill>
                                      <a:schemeClr val="tx1"/>
                                    </a:solidFill>
                                    <a:latin typeface="Cambria Math" panose="02040503050406030204" pitchFamily="18" charset="0"/>
                                  </a:rPr>
                                  <m:t>×</m:t>
                                </m:r>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𝑏</m:t>
                                    </m:r>
                                    <m:r>
                                      <a:rPr lang="en-US" altLang="zh-TW" b="0" i="1" smtClean="0">
                                        <a:solidFill>
                                          <a:schemeClr val="tx1"/>
                                        </a:solidFill>
                                        <a:latin typeface="Cambria Math" panose="02040503050406030204" pitchFamily="18" charset="0"/>
                                      </a:rPr>
                                      <m:t>|)</m:t>
                                    </m:r>
                                  </m:e>
                                  <m:sup>
                                    <m:r>
                                      <a:rPr lang="en-US" altLang="zh-TW" b="0" i="1" smtClean="0">
                                        <a:solidFill>
                                          <a:schemeClr val="tx1"/>
                                        </a:solidFill>
                                        <a:latin typeface="Cambria Math" panose="02040503050406030204" pitchFamily="18" charset="0"/>
                                      </a:rPr>
                                      <m:t>𝑐</m:t>
                                    </m:r>
                                  </m:sup>
                                </m:sSup>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𝑒𝑎𝑠𝑡</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𝑏𝑖𝑑𝑠</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639781"/>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𝑐𝐿</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𝑎</m:t>
                                </m:r>
                                <m:r>
                                  <a:rPr lang="en-US" altLang="zh-TW" b="0" i="1" smtClean="0">
                                    <a:solidFill>
                                      <a:schemeClr val="tx1"/>
                                    </a:solidFill>
                                    <a:latin typeface="Cambria Math" panose="02040503050406030204" pitchFamily="18" charset="0"/>
                                  </a:rPr>
                                  <m:t>×</m:t>
                                </m:r>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𝑏</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m:t>
                                </m:r>
                                <m:r>
                                  <a:rPr lang="en-US" altLang="zh-TW" b="0" i="1" smtClean="0">
                                    <a:solidFill>
                                      <a:schemeClr val="tx1"/>
                                    </a:solidFill>
                                    <a:latin typeface="Cambria Math" panose="02040503050406030204" pitchFamily="18" charset="0"/>
                                  </a:rPr>
                                  <m:t>𝑏</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𝑒𝑎𝑠𝑡</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𝑏𝑖𝑑𝑠</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𝑡h𝑒</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𝑠𝑢𝑖𝑡</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8381776"/>
                      </a:ext>
                    </a:extLst>
                  </a:tr>
                </a:tbl>
              </a:graphicData>
            </a:graphic>
          </p:graphicFrame>
        </mc:Choice>
        <mc:Fallback xmlns="">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2693442818"/>
                  </p:ext>
                </p:extLst>
              </p:nvPr>
            </p:nvGraphicFramePr>
            <p:xfrm>
              <a:off x="1386052" y="2735929"/>
              <a:ext cx="9419896" cy="2305939"/>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82257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92308" r="-841772" b="-261538"/>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92308" r="-360" b="-261538"/>
                          </a:stretch>
                        </a:blipFill>
                      </a:tcPr>
                    </a:tc>
                    <a:extLst>
                      <a:ext uri="{0D108BD9-81ED-4DB2-BD59-A6C34878D82A}">
                        <a16:rowId xmlns:a16="http://schemas.microsoft.com/office/drawing/2014/main" val="1969861928"/>
                      </a:ext>
                    </a:extLst>
                  </a:tr>
                  <a:tr h="3708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655172" r="-841772" b="-486207"/>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655172" r="-360" b="-486207"/>
                          </a:stretch>
                        </a:blipFill>
                      </a:tcPr>
                    </a:tc>
                    <a:extLst>
                      <a:ext uri="{0D108BD9-81ED-4DB2-BD59-A6C34878D82A}">
                        <a16:rowId xmlns:a16="http://schemas.microsoft.com/office/drawing/2014/main" val="1742412707"/>
                      </a:ext>
                    </a:extLst>
                  </a:tr>
                  <a:tr h="3708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730000" r="-841772" b="-37000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730000" r="-360" b="-370000"/>
                          </a:stretch>
                        </a:blipFill>
                      </a:tcPr>
                    </a:tc>
                    <a:extLst>
                      <a:ext uri="{0D108BD9-81ED-4DB2-BD59-A6C34878D82A}">
                        <a16:rowId xmlns:a16="http://schemas.microsoft.com/office/drawing/2014/main" val="1065639781"/>
                      </a:ext>
                    </a:extLst>
                  </a:tr>
                  <a:tr h="3708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858621" r="-841772" b="-28275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858621" r="-360" b="-282759"/>
                          </a:stretch>
                        </a:blipFill>
                      </a:tcPr>
                    </a:tc>
                    <a:extLst>
                      <a:ext uri="{0D108BD9-81ED-4DB2-BD59-A6C34878D82A}">
                        <a16:rowId xmlns:a16="http://schemas.microsoft.com/office/drawing/2014/main" val="3428381776"/>
                      </a:ext>
                    </a:extLst>
                  </a:tr>
                </a:tbl>
              </a:graphicData>
            </a:graphic>
          </p:graphicFrame>
        </mc:Fallback>
      </mc:AlternateContent>
      <p:sp>
        <p:nvSpPr>
          <p:cNvPr id="3" name="投影片編號版面配置區 2">
            <a:extLst>
              <a:ext uri="{FF2B5EF4-FFF2-40B4-BE49-F238E27FC236}">
                <a16:creationId xmlns:a16="http://schemas.microsoft.com/office/drawing/2014/main" id="{03D22305-17FB-374D-917E-91CF75A5D4EA}"/>
              </a:ext>
            </a:extLst>
          </p:cNvPr>
          <p:cNvSpPr>
            <a:spLocks noGrp="1"/>
          </p:cNvSpPr>
          <p:nvPr>
            <p:ph type="sldNum" sz="quarter" idx="12"/>
          </p:nvPr>
        </p:nvSpPr>
        <p:spPr/>
        <p:txBody>
          <a:bodyPr/>
          <a:lstStyle/>
          <a:p>
            <a:fld id="{9964E18F-1489-4A4A-8DD8-AC372572ADE5}" type="slidenum">
              <a:rPr kumimoji="1" lang="zh-TW" altLang="en-US" smtClean="0"/>
              <a:t>25</a:t>
            </a:fld>
            <a:endParaRPr kumimoji="1" lang="zh-TW" altLang="en-US"/>
          </a:p>
        </p:txBody>
      </p:sp>
    </p:spTree>
    <p:extLst>
      <p:ext uri="{BB962C8B-B14F-4D97-AF65-F5344CB8AC3E}">
        <p14:creationId xmlns:p14="http://schemas.microsoft.com/office/powerpoint/2010/main" val="1750543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D24E6-B37A-4DED-9A08-99B1DCDCA7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 Trump Contract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1531234539"/>
                  </p:ext>
                </p:extLst>
              </p:nvPr>
            </p:nvGraphicFramePr>
            <p:xfrm>
              <a:off x="1386052" y="2455164"/>
              <a:ext cx="9419896" cy="2672588"/>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𝐻</m:t>
                                </m: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𝑠𝑢𝑖𝑡</m:t>
                                        </m:r>
                                      </m:sub>
                                      <m:sup/>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r>
                                              <a:rPr lang="en-US" altLang="zh-TW" b="0" i="1" smtClean="0">
                                                <a:solidFill>
                                                  <a:schemeClr val="tx1"/>
                                                </a:solidFill>
                                                <a:latin typeface="Cambria Math" panose="02040503050406030204" pitchFamily="18" charset="0"/>
                                              </a:rPr>
                                              <m:t>𝐻</m:t>
                                            </m:r>
                                          </m:sup>
                                        </m:sSup>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𝑐𝑎𝑟𝑑</m:t>
                                        </m:r>
                                        <m:r>
                                          <a:rPr lang="en-US" altLang="zh-TW" b="0" i="1" smtClean="0">
                                            <a:solidFill>
                                              <a:schemeClr val="tx1"/>
                                            </a:solidFill>
                                            <a:latin typeface="Cambria Math" panose="02040503050406030204" pitchFamily="18" charset="0"/>
                                          </a:rPr>
                                          <m:t>]</m:t>
                                        </m:r>
                                      </m:e>
                                    </m:nary>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986192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𝑆</m:t>
                                    </m:r>
                                  </m:e>
                                  <m:sub>
                                    <m:r>
                                      <a:rPr lang="en-US" altLang="zh-TW" b="0" i="1" smtClean="0">
                                        <a:solidFill>
                                          <a:schemeClr val="tx1"/>
                                        </a:solidFill>
                                        <a:latin typeface="Cambria Math" panose="02040503050406030204" pitchFamily="18" charset="0"/>
                                      </a:rPr>
                                      <m:t>𝑤h</m:t>
                                    </m:r>
                                  </m:sub>
                                </m:sSub>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sSup>
                                              <m:sSupPr>
                                                <m:ctrlPr>
                                                  <a:rPr lang="en-US" altLang="zh-TW" b="0" i="1" smtClean="0">
                                                    <a:solidFill>
                                                      <a:schemeClr val="tx1"/>
                                                    </a:solidFill>
                                                    <a:latin typeface="Cambria Math" panose="02040503050406030204" pitchFamily="18" charset="0"/>
                                                  </a:rPr>
                                                </m:ctrlPr>
                                              </m:sSupPr>
                                              <m:e>
                                                <m:r>
                                                  <a:rPr lang="en-US" altLang="zh-TW" b="0" i="1" smtClean="0">
                                                    <a:solidFill>
                                                      <a:schemeClr val="tx1"/>
                                                    </a:solidFill>
                                                    <a:latin typeface="Cambria Math" panose="02040503050406030204" pitchFamily="18" charset="0"/>
                                                  </a:rPr>
                                                  <m:t>𝑀</m:t>
                                                </m:r>
                                              </m:e>
                                              <m:sup>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𝑆</m:t>
                                                    </m:r>
                                                  </m:e>
                                                  <m:sub>
                                                    <m:r>
                                                      <a:rPr lang="en-US" altLang="zh-TW" b="0" i="1" smtClean="0">
                                                        <a:solidFill>
                                                          <a:schemeClr val="tx1"/>
                                                        </a:solidFill>
                                                        <a:latin typeface="Cambria Math" panose="02040503050406030204" pitchFamily="18" charset="0"/>
                                                      </a:rPr>
                                                      <m:t>𝑤h</m:t>
                                                    </m:r>
                                                  </m:sub>
                                                </m:sSub>
                                              </m:sup>
                                            </m:sSup>
                                            <m:d>
                                              <m:dPr>
                                                <m:begChr m:val="["/>
                                                <m:endChr m:val="]"/>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e>
                                            </m:d>
                                            <m:r>
                                              <a:rPr lang="en-US" altLang="zh-TW" b="0" i="1" smtClean="0">
                                                <a:solidFill>
                                                  <a:schemeClr val="tx1"/>
                                                </a:solidFill>
                                                <a:latin typeface="Cambria Math" panose="02040503050406030204" pitchFamily="18" charset="0"/>
                                              </a:rPr>
                                              <m:t> ,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2≥</m:t>
                                            </m:r>
                                            <m:sSub>
                                              <m:sSubPr>
                                                <m:ctrlPr>
                                                  <a:rPr lang="en-US" altLang="zh-TW" b="0" i="1" smtClean="0">
                                                    <a:solidFill>
                                                      <a:schemeClr val="tx1"/>
                                                    </a:solidFill>
                                                    <a:latin typeface="Cambria Math" panose="02040503050406030204" pitchFamily="18" charset="0"/>
                                                    <a:ea typeface="Cambria Math" panose="02040503050406030204" pitchFamily="18" charset="0"/>
                                                  </a:rPr>
                                                </m:ctrlPr>
                                              </m:sSubPr>
                                              <m:e>
                                                <m:r>
                                                  <a:rPr lang="en-US" altLang="zh-TW" b="0" i="1" smtClean="0">
                                                    <a:solidFill>
                                                      <a:schemeClr val="tx1"/>
                                                    </a:solidFill>
                                                    <a:latin typeface="Cambria Math" panose="02040503050406030204" pitchFamily="18" charset="0"/>
                                                    <a:ea typeface="Cambria Math" panose="02040503050406030204" pitchFamily="18" charset="0"/>
                                                  </a:rPr>
                                                  <m:t>𝐿</m:t>
                                                </m:r>
                                              </m:e>
                                              <m:sub>
                                                <m:r>
                                                  <a:rPr lang="en-US" altLang="zh-TW" b="0" i="1" smtClean="0">
                                                    <a:solidFill>
                                                      <a:schemeClr val="tx1"/>
                                                    </a:solidFill>
                                                    <a:latin typeface="Cambria Math" panose="02040503050406030204" pitchFamily="18" charset="0"/>
                                                    <a:ea typeface="Cambria Math" panose="02040503050406030204" pitchFamily="18" charset="0"/>
                                                  </a:rPr>
                                                  <m:t>𝑠𝑢𝑖𝑡</m:t>
                                                </m:r>
                                              </m:sub>
                                            </m:sSub>
                                            <m:r>
                                              <a:rPr lang="en-US" altLang="zh-TW" b="0" i="1" smtClean="0">
                                                <a:solidFill>
                                                  <a:schemeClr val="tx1"/>
                                                </a:solidFill>
                                                <a:latin typeface="Cambria Math" panose="02040503050406030204" pitchFamily="18" charset="0"/>
                                                <a:ea typeface="Cambria Math" panose="02040503050406030204" pitchFamily="18" charset="0"/>
                                              </a:rPr>
                                              <m:t>≥1, </m:t>
                                            </m:r>
                                            <m:r>
                                              <a:rPr lang="en-US" altLang="zh-TW" b="0" i="1" smtClean="0">
                                                <a:solidFill>
                                                  <a:schemeClr val="tx1"/>
                                                </a:solidFill>
                                                <a:latin typeface="Cambria Math" panose="02040503050406030204" pitchFamily="18" charset="0"/>
                                                <a:ea typeface="Cambria Math" panose="02040503050406030204" pitchFamily="18" charset="0"/>
                                              </a:rPr>
                                              <m:t>𝑤𝑖𝑡h</m:t>
                                            </m:r>
                                            <m:r>
                                              <a:rPr lang="en-US" altLang="zh-TW" b="0" i="1" smtClean="0">
                                                <a:solidFill>
                                                  <a:schemeClr val="tx1"/>
                                                </a:solidFill>
                                                <a:latin typeface="Cambria Math" panose="02040503050406030204" pitchFamily="18" charset="0"/>
                                                <a:ea typeface="Cambria Math" panose="02040503050406030204" pitchFamily="18" charset="0"/>
                                              </a:rPr>
                                              <m:t> </m:t>
                                            </m:r>
                                            <m:r>
                                              <a:rPr lang="en-US" altLang="zh-TW" b="0" i="1" smtClean="0">
                                                <a:solidFill>
                                                  <a:schemeClr val="tx1"/>
                                                </a:solidFill>
                                                <a:latin typeface="Cambria Math" panose="02040503050406030204" pitchFamily="18" charset="0"/>
                                                <a:ea typeface="Cambria Math" panose="02040503050406030204" pitchFamily="18" charset="0"/>
                                              </a:rPr>
                                              <m:t>h𝑜𝑛𝑜𝑟𝑠</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𝑜𝑡h𝑒𝑟𝑤𝑖𝑠𝑒</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412707"/>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𝑤h</m:t>
                                    </m:r>
                                  </m:sub>
                                </m:sSub>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nary>
                                  <m:naryPr>
                                    <m:chr m:val="∑"/>
                                    <m:supHide m:val="on"/>
                                    <m:ctrlPr>
                                      <a:rPr lang="en-US" altLang="zh-TW" b="0" i="1" smtClean="0">
                                        <a:solidFill>
                                          <a:schemeClr val="tx1"/>
                                        </a:solidFill>
                                        <a:latin typeface="Cambria Math" panose="02040503050406030204" pitchFamily="18" charset="0"/>
                                      </a:rPr>
                                    </m:ctrlPr>
                                  </m:naryPr>
                                  <m:sub>
                                    <m:r>
                                      <a:rPr lang="en-US" altLang="zh-TW" b="0" i="1" smtClean="0">
                                        <a:solidFill>
                                          <a:schemeClr val="tx1"/>
                                        </a:solidFill>
                                        <a:latin typeface="Cambria Math" panose="02040503050406030204" pitchFamily="18" charset="0"/>
                                      </a:rPr>
                                      <m:t>𝑠𝑢𝑖𝑡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h𝑎𝑛𝑑</m:t>
                                    </m:r>
                                  </m:sub>
                                  <m:sup/>
                                  <m:e>
                                    <m:d>
                                      <m:dPr>
                                        <m:begChr m:val="{"/>
                                        <m:endChr m:val=""/>
                                        <m:ctrlPr>
                                          <a:rPr lang="en-US" altLang="zh-TW" b="0" i="1" smtClean="0">
                                            <a:solidFill>
                                              <a:schemeClr val="tx1"/>
                                            </a:solidFill>
                                            <a:latin typeface="Cambria Math" panose="02040503050406030204" pitchFamily="18" charset="0"/>
                                          </a:rPr>
                                        </m:ctrlPr>
                                      </m:dPr>
                                      <m:e>
                                        <m:eqArr>
                                          <m:eqArrPr>
                                            <m:ctrlPr>
                                              <a:rPr lang="en-US" altLang="zh-TW" b="0" i="1" smtClean="0">
                                                <a:solidFill>
                                                  <a:schemeClr val="tx1"/>
                                                </a:solidFill>
                                                <a:latin typeface="Cambria Math" panose="02040503050406030204" pitchFamily="18" charset="0"/>
                                              </a:rPr>
                                            </m:ctrlPr>
                                          </m:eqArrPr>
                                          <m:e>
                                            <m:r>
                                              <a:rPr lang="en-US" altLang="zh-TW" b="0" i="1" smtClean="0">
                                                <a:solidFill>
                                                  <a:schemeClr val="tx1"/>
                                                </a:solidFill>
                                                <a:latin typeface="Cambria Math" panose="02040503050406030204" pitchFamily="18" charset="0"/>
                                              </a:rPr>
                                              <m:t>𝑎</m:t>
                                            </m:r>
                                            <m:r>
                                              <a:rPr lang="en-US" altLang="zh-TW" b="0" i="1" smtClean="0">
                                                <a:solidFill>
                                                  <a:schemeClr val="tx1"/>
                                                </a:solidFill>
                                                <a:latin typeface="Cambria Math" panose="02040503050406030204" pitchFamily="18" charset="0"/>
                                              </a:rPr>
                                              <m:t>×</m:t>
                                            </m:r>
                                            <m:d>
                                              <m:dPr>
                                                <m:ctrlPr>
                                                  <a:rPr lang="en-US" altLang="zh-TW" b="0" i="1" smtClean="0">
                                                    <a:solidFill>
                                                      <a:schemeClr val="tx1"/>
                                                    </a:solidFill>
                                                    <a:latin typeface="Cambria Math" panose="02040503050406030204" pitchFamily="18" charset="0"/>
                                                  </a:rPr>
                                                </m:ctrlPr>
                                              </m:dPr>
                                              <m:e>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𝑏</m:t>
                                                </m:r>
                                              </m:e>
                                            </m:d>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𝑖𝑓</m:t>
                                            </m:r>
                                            <m:r>
                                              <a:rPr lang="en-US" altLang="zh-TW" b="0" i="1" smtClean="0">
                                                <a:solidFill>
                                                  <a:schemeClr val="tx1"/>
                                                </a:solidFill>
                                                <a:latin typeface="Cambria Math" panose="02040503050406030204" pitchFamily="18" charset="0"/>
                                              </a:rPr>
                                              <m:t> </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𝐿</m:t>
                                                </m:r>
                                              </m:e>
                                              <m:sub>
                                                <m:r>
                                                  <a:rPr lang="en-US" altLang="zh-TW" b="0" i="1" smtClean="0">
                                                    <a:solidFill>
                                                      <a:schemeClr val="tx1"/>
                                                    </a:solidFill>
                                                    <a:latin typeface="Cambria Math" panose="02040503050406030204" pitchFamily="18" charset="0"/>
                                                  </a:rPr>
                                                  <m:t>𝑠𝑢𝑖𝑡</m:t>
                                                </m:r>
                                              </m:sub>
                                            </m:sSub>
                                            <m:r>
                                              <a:rPr lang="en-US" altLang="zh-TW" b="0" i="1" smtClean="0">
                                                <a:solidFill>
                                                  <a:schemeClr val="tx1"/>
                                                </a:solidFill>
                                                <a:latin typeface="Cambria Math" panose="02040503050406030204" pitchFamily="18" charset="0"/>
                                              </a:rPr>
                                              <m:t>&gt;</m:t>
                                            </m:r>
                                            <m:r>
                                              <a:rPr lang="en-US" altLang="zh-TW" b="0" i="1" smtClean="0">
                                                <a:solidFill>
                                                  <a:schemeClr val="tx1"/>
                                                </a:solidFill>
                                                <a:latin typeface="Cambria Math" panose="02040503050406030204" pitchFamily="18" charset="0"/>
                                              </a:rPr>
                                              <m:t>𝑏</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𝑎𝑛𝑑</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𝑤𝑖𝑡h</m:t>
                                            </m:r>
                                            <m:r>
                                              <a:rPr lang="en-US" altLang="zh-TW" b="0" i="1" smtClean="0">
                                                <a:solidFill>
                                                  <a:schemeClr val="tx1"/>
                                                </a:solidFill>
                                                <a:latin typeface="Cambria Math" panose="02040503050406030204" pitchFamily="18" charset="0"/>
                                              </a:rPr>
                                              <m:t> </m:t>
                                            </m:r>
                                            <m:r>
                                              <a:rPr lang="en-US" altLang="zh-TW" b="0" i="1" smtClean="0">
                                                <a:solidFill>
                                                  <a:schemeClr val="tx1"/>
                                                </a:solidFill>
                                                <a:latin typeface="Cambria Math" panose="02040503050406030204" pitchFamily="18" charset="0"/>
                                              </a:rPr>
                                              <m:t>h𝑜𝑛𝑜𝑟𝑠</m:t>
                                            </m:r>
                                          </m:e>
                                          <m:e>
                                            <m:r>
                                              <a:rPr lang="en-US" altLang="zh-TW" b="0" i="1" smtClean="0">
                                                <a:solidFill>
                                                  <a:schemeClr val="tx1"/>
                                                </a:solidFill>
                                                <a:latin typeface="Cambria Math" panose="02040503050406030204" pitchFamily="18" charset="0"/>
                                              </a:rPr>
                                              <m:t>0, </m:t>
                                            </m:r>
                                            <m:r>
                                              <a:rPr lang="en-US" altLang="zh-TW" b="0" i="1" smtClean="0">
                                                <a:solidFill>
                                                  <a:schemeClr val="tx1"/>
                                                </a:solidFill>
                                                <a:latin typeface="Cambria Math" panose="02040503050406030204" pitchFamily="18" charset="0"/>
                                              </a:rPr>
                                              <m:t>𝑜𝑡h𝑒𝑟𝑤𝑖𝑠𝑒</m:t>
                                            </m:r>
                                          </m:e>
                                        </m:eqArr>
                                      </m:e>
                                    </m:d>
                                  </m:e>
                                </m:nary>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8381776"/>
                      </a:ext>
                    </a:extLst>
                  </a:tr>
                </a:tbl>
              </a:graphicData>
            </a:graphic>
          </p:graphicFrame>
        </mc:Choice>
        <mc:Fallback xmlns="">
          <p:graphicFrame>
            <p:nvGraphicFramePr>
              <p:cNvPr id="5" name="表格 5">
                <a:extLst>
                  <a:ext uri="{FF2B5EF4-FFF2-40B4-BE49-F238E27FC236}">
                    <a16:creationId xmlns:a16="http://schemas.microsoft.com/office/drawing/2014/main" id="{D9F8C45F-2A9F-ADEE-FBEF-D3B306BBD70A}"/>
                  </a:ext>
                </a:extLst>
              </p:cNvPr>
              <p:cNvGraphicFramePr>
                <a:graphicFrameLocks noGrp="1"/>
              </p:cNvGraphicFramePr>
              <p:nvPr>
                <p:ph idx="1"/>
                <p:extLst>
                  <p:ext uri="{D42A27DB-BD31-4B8C-83A1-F6EECF244321}">
                    <p14:modId xmlns:p14="http://schemas.microsoft.com/office/powerpoint/2010/main" val="1531234539"/>
                  </p:ext>
                </p:extLst>
              </p:nvPr>
            </p:nvGraphicFramePr>
            <p:xfrm>
              <a:off x="1386052" y="2455164"/>
              <a:ext cx="9419896" cy="2672588"/>
            </p:xfrm>
            <a:graphic>
              <a:graphicData uri="http://schemas.openxmlformats.org/drawingml/2006/table">
                <a:tbl>
                  <a:tblPr firstRow="1" bandRow="1">
                    <a:tableStyleId>{5C22544A-7EE6-4342-B048-85BDC9FD1C3A}</a:tableStyleId>
                  </a:tblPr>
                  <a:tblGrid>
                    <a:gridCol w="1000364">
                      <a:extLst>
                        <a:ext uri="{9D8B030D-6E8A-4147-A177-3AD203B41FA5}">
                          <a16:colId xmlns:a16="http://schemas.microsoft.com/office/drawing/2014/main" val="2752637096"/>
                        </a:ext>
                      </a:extLst>
                    </a:gridCol>
                    <a:gridCol w="1355787">
                      <a:extLst>
                        <a:ext uri="{9D8B030D-6E8A-4147-A177-3AD203B41FA5}">
                          <a16:colId xmlns:a16="http://schemas.microsoft.com/office/drawing/2014/main" val="2986285788"/>
                        </a:ext>
                      </a:extLst>
                    </a:gridCol>
                    <a:gridCol w="7063745">
                      <a:extLst>
                        <a:ext uri="{9D8B030D-6E8A-4147-A177-3AD203B41FA5}">
                          <a16:colId xmlns:a16="http://schemas.microsoft.com/office/drawing/2014/main" val="279860802"/>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Formula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#parameters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Description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6911767"/>
                      </a:ext>
                    </a:extLst>
                  </a:tr>
                  <a:tr h="757174">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125000" r="-841772" b="-458333"/>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125000" r="-360" b="-458333"/>
                          </a:stretch>
                        </a:blipFill>
                      </a:tcPr>
                    </a:tc>
                    <a:extLst>
                      <a:ext uri="{0D108BD9-81ED-4DB2-BD59-A6C34878D82A}">
                        <a16:rowId xmlns:a16="http://schemas.microsoft.com/office/drawing/2014/main" val="1969861928"/>
                      </a:ext>
                    </a:extLst>
                  </a:tr>
                  <a:tr h="77228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221311" r="-841772" b="-35082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221311" r="-360" b="-350820"/>
                          </a:stretch>
                        </a:blipFill>
                      </a:tcPr>
                    </a:tc>
                    <a:extLst>
                      <a:ext uri="{0D108BD9-81ED-4DB2-BD59-A6C34878D82A}">
                        <a16:rowId xmlns:a16="http://schemas.microsoft.com/office/drawing/2014/main" val="1742412707"/>
                      </a:ext>
                    </a:extLst>
                  </a:tr>
                  <a:tr h="77228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6" t="-321311" r="-841772" b="-25082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33" t="-321311" r="-360" b="-250820"/>
                          </a:stretch>
                        </a:blipFill>
                      </a:tcPr>
                    </a:tc>
                    <a:extLst>
                      <a:ext uri="{0D108BD9-81ED-4DB2-BD59-A6C34878D82A}">
                        <a16:rowId xmlns:a16="http://schemas.microsoft.com/office/drawing/2014/main" val="3428381776"/>
                      </a:ext>
                    </a:extLst>
                  </a:tr>
                </a:tbl>
              </a:graphicData>
            </a:graphic>
          </p:graphicFrame>
        </mc:Fallback>
      </mc:AlternateContent>
      <p:sp>
        <p:nvSpPr>
          <p:cNvPr id="3" name="投影片編號版面配置區 2">
            <a:extLst>
              <a:ext uri="{FF2B5EF4-FFF2-40B4-BE49-F238E27FC236}">
                <a16:creationId xmlns:a16="http://schemas.microsoft.com/office/drawing/2014/main" id="{B9197E57-6358-6145-A7F7-7F13842C61BD}"/>
              </a:ext>
            </a:extLst>
          </p:cNvPr>
          <p:cNvSpPr>
            <a:spLocks noGrp="1"/>
          </p:cNvSpPr>
          <p:nvPr>
            <p:ph type="sldNum" sz="quarter" idx="12"/>
          </p:nvPr>
        </p:nvSpPr>
        <p:spPr/>
        <p:txBody>
          <a:bodyPr/>
          <a:lstStyle/>
          <a:p>
            <a:fld id="{9964E18F-1489-4A4A-8DD8-AC372572ADE5}" type="slidenum">
              <a:rPr kumimoji="1" lang="zh-TW" altLang="en-US" smtClean="0"/>
              <a:t>26</a:t>
            </a:fld>
            <a:endParaRPr kumimoji="1" lang="zh-TW" altLang="en-US"/>
          </a:p>
        </p:txBody>
      </p:sp>
    </p:spTree>
    <p:extLst>
      <p:ext uri="{BB962C8B-B14F-4D97-AF65-F5344CB8AC3E}">
        <p14:creationId xmlns:p14="http://schemas.microsoft.com/office/powerpoint/2010/main" val="380533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AD07D996-5AB2-C4FB-87CC-D56F39CCE0CB}"/>
              </a:ext>
            </a:extLst>
          </p:cNvPr>
          <p:cNvSpPr>
            <a:spLocks noGrp="1"/>
          </p:cNvSpPr>
          <p:nvPr>
            <p:ph type="title"/>
          </p:nvPr>
        </p:nvSpPr>
        <p:spPr>
          <a:xfrm>
            <a:off x="838200" y="365125"/>
            <a:ext cx="10515600" cy="1325563"/>
          </a:xfrm>
        </p:spPr>
        <p:txBody>
          <a:bodyPr/>
          <a:lstStyle/>
          <a:p>
            <a:r>
              <a:rPr lang="en-US" altLang="zh-TW" dirty="0">
                <a:latin typeface="Times" pitchFamily="2" charset="0"/>
              </a:rPr>
              <a:t>Results</a:t>
            </a:r>
            <a:endParaRPr lang="zh-TW" altLang="en-US" dirty="0">
              <a:latin typeface="Times" pitchFamily="2" charset="0"/>
            </a:endParaRPr>
          </a:p>
        </p:txBody>
      </p:sp>
      <mc:AlternateContent xmlns:mc="http://schemas.openxmlformats.org/markup-compatibility/2006" xmlns:a14="http://schemas.microsoft.com/office/drawing/2010/main">
        <mc:Choice Requires="a14">
          <p:sp>
            <p:nvSpPr>
              <p:cNvPr id="2" name="內容版面配置區 2">
                <a:extLst>
                  <a:ext uri="{FF2B5EF4-FFF2-40B4-BE49-F238E27FC236}">
                    <a16:creationId xmlns:a16="http://schemas.microsoft.com/office/drawing/2014/main" id="{279175EC-BF56-E1EF-8B67-C2C3F88F7DE1}"/>
                  </a:ext>
                </a:extLst>
              </p:cNvPr>
              <p:cNvSpPr txBox="1">
                <a:spLocks/>
              </p:cNvSpPr>
              <p:nvPr/>
            </p:nvSpPr>
            <p:spPr>
              <a:xfrm>
                <a:off x="838200" y="159439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𝐻</m:t>
                      </m:r>
                      <m:r>
                        <a:rPr lang="en-US" altLang="zh-TW" b="0" i="1" smtClean="0">
                          <a:latin typeface="Cambria Math" panose="02040503050406030204" pitchFamily="18" charset="0"/>
                        </a:rPr>
                        <m:t>+</m:t>
                      </m:r>
                      <m:r>
                        <a:rPr lang="en-US" altLang="zh-TW" b="0" i="1" smtClean="0">
                          <a:latin typeface="Cambria Math" panose="02040503050406030204" pitchFamily="18" charset="0"/>
                        </a:rPr>
                        <m:t>𝑇𝐿</m:t>
                      </m:r>
                      <m:r>
                        <a:rPr lang="en-US" altLang="zh-TW" b="0" i="1" smtClean="0">
                          <a:latin typeface="Cambria Math" panose="02040503050406030204" pitchFamily="18" charset="0"/>
                        </a:rPr>
                        <m:t>+</m:t>
                      </m:r>
                      <m:r>
                        <a:rPr lang="en-US" altLang="zh-TW" b="0" i="1" smtClean="0">
                          <a:latin typeface="Cambria Math" panose="02040503050406030204" pitchFamily="18" charset="0"/>
                        </a:rPr>
                        <m:t>𝑁𝐿</m:t>
                      </m:r>
                    </m:oMath>
                  </m:oMathPara>
                </a14:m>
                <a:endParaRPr lang="en-US" altLang="zh-TW" dirty="0"/>
              </a:p>
            </p:txBody>
          </p:sp>
        </mc:Choice>
        <mc:Fallback xmlns="">
          <p:sp>
            <p:nvSpPr>
              <p:cNvPr id="2" name="內容版面配置區 2">
                <a:extLst>
                  <a:ext uri="{FF2B5EF4-FFF2-40B4-BE49-F238E27FC236}">
                    <a16:creationId xmlns:a16="http://schemas.microsoft.com/office/drawing/2014/main" id="{279175EC-BF56-E1EF-8B67-C2C3F88F7DE1}"/>
                  </a:ext>
                </a:extLst>
              </p:cNvPr>
              <p:cNvSpPr txBox="1">
                <a:spLocks noRot="1" noChangeAspect="1" noMove="1" noResize="1" noEditPoints="1" noAdjustHandles="1" noChangeArrowheads="1" noChangeShapeType="1" noTextEdit="1"/>
              </p:cNvSpPr>
              <p:nvPr/>
            </p:nvSpPr>
            <p:spPr>
              <a:xfrm>
                <a:off x="838200" y="1594397"/>
                <a:ext cx="10515600" cy="4351338"/>
              </a:xfrm>
              <a:prstGeom prst="rect">
                <a:avLst/>
              </a:prstGeom>
              <a:blipFill>
                <a:blip r:embed="rId2"/>
                <a:stretch>
                  <a:fillRect l="-362"/>
                </a:stretch>
              </a:blipFill>
            </p:spPr>
            <p:txBody>
              <a:bodyPr/>
              <a:lstStyle/>
              <a:p>
                <a:r>
                  <a:rPr lang="zh-TW" altLang="en-US">
                    <a:noFill/>
                  </a:rPr>
                  <a:t> </a:t>
                </a:r>
              </a:p>
            </p:txBody>
          </p:sp>
        </mc:Fallback>
      </mc:AlternateContent>
      <p:sp>
        <p:nvSpPr>
          <p:cNvPr id="3" name="圓角矩形 2">
            <a:extLst>
              <a:ext uri="{FF2B5EF4-FFF2-40B4-BE49-F238E27FC236}">
                <a16:creationId xmlns:a16="http://schemas.microsoft.com/office/drawing/2014/main" id="{F9C55D02-13CB-6B46-80B9-29E0192542D3}"/>
              </a:ext>
            </a:extLst>
          </p:cNvPr>
          <p:cNvSpPr/>
          <p:nvPr/>
        </p:nvSpPr>
        <p:spPr>
          <a:xfrm>
            <a:off x="7643812" y="3784354"/>
            <a:ext cx="952500" cy="285750"/>
          </a:xfrm>
          <a:prstGeom prst="round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noFill/>
            </a:endParaRPr>
          </a:p>
        </p:txBody>
      </p:sp>
      <p:pic>
        <p:nvPicPr>
          <p:cNvPr id="10" name="圖片 9">
            <a:extLst>
              <a:ext uri="{FF2B5EF4-FFF2-40B4-BE49-F238E27FC236}">
                <a16:creationId xmlns:a16="http://schemas.microsoft.com/office/drawing/2014/main" id="{7BB10102-74D1-8544-A786-4E273F6E30AD}"/>
              </a:ext>
            </a:extLst>
          </p:cNvPr>
          <p:cNvPicPr>
            <a:picLocks noChangeAspect="1"/>
          </p:cNvPicPr>
          <p:nvPr/>
        </p:nvPicPr>
        <p:blipFill rotWithShape="1">
          <a:blip r:embed="rId3">
            <a:extLst>
              <a:ext uri="{28A0092B-C50C-407E-A947-70E740481C1C}">
                <a14:useLocalDpi xmlns:a14="http://schemas.microsoft.com/office/drawing/2010/main" val="0"/>
              </a:ext>
            </a:extLst>
          </a:blip>
          <a:srcRect t="1" b="48717"/>
          <a:stretch/>
        </p:blipFill>
        <p:spPr bwMode="auto">
          <a:xfrm>
            <a:off x="645281" y="2832760"/>
            <a:ext cx="10901437" cy="2474688"/>
          </a:xfrm>
          <a:prstGeom prst="rect">
            <a:avLst/>
          </a:prstGeom>
          <a:ln>
            <a:noFill/>
          </a:ln>
          <a:extLst>
            <a:ext uri="{53640926-AAD7-44D8-BBD7-CCE9431645EC}">
              <a14:shadowObscured xmlns:a14="http://schemas.microsoft.com/office/drawing/2010/main"/>
            </a:ext>
          </a:extLst>
        </p:spPr>
      </p:pic>
      <p:sp>
        <p:nvSpPr>
          <p:cNvPr id="11" name="投影片編號版面配置區 10">
            <a:extLst>
              <a:ext uri="{FF2B5EF4-FFF2-40B4-BE49-F238E27FC236}">
                <a16:creationId xmlns:a16="http://schemas.microsoft.com/office/drawing/2014/main" id="{10ED251E-5D14-1247-9715-982CE912AA8E}"/>
              </a:ext>
            </a:extLst>
          </p:cNvPr>
          <p:cNvSpPr>
            <a:spLocks noGrp="1"/>
          </p:cNvSpPr>
          <p:nvPr>
            <p:ph type="sldNum" sz="quarter" idx="12"/>
          </p:nvPr>
        </p:nvSpPr>
        <p:spPr/>
        <p:txBody>
          <a:bodyPr/>
          <a:lstStyle/>
          <a:p>
            <a:fld id="{9964E18F-1489-4A4A-8DD8-AC372572ADE5}" type="slidenum">
              <a:rPr kumimoji="1" lang="zh-TW" altLang="en-US" smtClean="0"/>
              <a:t>27</a:t>
            </a:fld>
            <a:endParaRPr kumimoji="1" lang="zh-TW" altLang="en-US"/>
          </a:p>
        </p:txBody>
      </p:sp>
      <p:sp>
        <p:nvSpPr>
          <p:cNvPr id="12" name="矩形 11">
            <a:extLst>
              <a:ext uri="{FF2B5EF4-FFF2-40B4-BE49-F238E27FC236}">
                <a16:creationId xmlns:a16="http://schemas.microsoft.com/office/drawing/2014/main" id="{72D3E83A-69DD-9649-AC39-E051F2FB8D48}"/>
              </a:ext>
            </a:extLst>
          </p:cNvPr>
          <p:cNvSpPr/>
          <p:nvPr/>
        </p:nvSpPr>
        <p:spPr>
          <a:xfrm>
            <a:off x="645282" y="4560277"/>
            <a:ext cx="7338134" cy="375138"/>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TW" altLang="en-US"/>
          </a:p>
        </p:txBody>
      </p:sp>
    </p:spTree>
    <p:extLst>
      <p:ext uri="{BB962C8B-B14F-4D97-AF65-F5344CB8AC3E}">
        <p14:creationId xmlns:p14="http://schemas.microsoft.com/office/powerpoint/2010/main" val="2584721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AD07D996-5AB2-C4FB-87CC-D56F39CCE0CB}"/>
              </a:ext>
            </a:extLst>
          </p:cNvPr>
          <p:cNvSpPr>
            <a:spLocks noGrp="1"/>
          </p:cNvSpPr>
          <p:nvPr>
            <p:ph type="title"/>
          </p:nvPr>
        </p:nvSpPr>
        <p:spPr>
          <a:xfrm>
            <a:off x="838200" y="365125"/>
            <a:ext cx="10515600" cy="1325563"/>
          </a:xfrm>
        </p:spPr>
        <p:txBody>
          <a:bodyPr/>
          <a:lstStyle/>
          <a:p>
            <a:r>
              <a:rPr lang="en-US" altLang="zh-TW" dirty="0">
                <a:latin typeface="Times" pitchFamily="2" charset="0"/>
              </a:rPr>
              <a:t>Results</a:t>
            </a:r>
            <a:endParaRPr lang="zh-TW" altLang="en-US" dirty="0">
              <a:latin typeface="Times" pitchFamily="2" charset="0"/>
            </a:endParaRPr>
          </a:p>
        </p:txBody>
      </p:sp>
      <p:pic>
        <p:nvPicPr>
          <p:cNvPr id="7" name="內容版面配置區 6">
            <a:extLst>
              <a:ext uri="{FF2B5EF4-FFF2-40B4-BE49-F238E27FC236}">
                <a16:creationId xmlns:a16="http://schemas.microsoft.com/office/drawing/2014/main" id="{63557207-E999-22CF-ADEA-B351F3E7FA6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09069" y="2005012"/>
            <a:ext cx="6975564" cy="4352400"/>
          </a:xfrm>
        </p:spPr>
      </p:pic>
      <p:sp>
        <p:nvSpPr>
          <p:cNvPr id="3" name="投影片編號版面配置區 2">
            <a:extLst>
              <a:ext uri="{FF2B5EF4-FFF2-40B4-BE49-F238E27FC236}">
                <a16:creationId xmlns:a16="http://schemas.microsoft.com/office/drawing/2014/main" id="{49CFA8A0-607C-5C46-940A-EFC42639C305}"/>
              </a:ext>
            </a:extLst>
          </p:cNvPr>
          <p:cNvSpPr>
            <a:spLocks noGrp="1"/>
          </p:cNvSpPr>
          <p:nvPr>
            <p:ph type="sldNum" sz="quarter" idx="12"/>
          </p:nvPr>
        </p:nvSpPr>
        <p:spPr/>
        <p:txBody>
          <a:bodyPr/>
          <a:lstStyle/>
          <a:p>
            <a:fld id="{9964E18F-1489-4A4A-8DD8-AC372572ADE5}" type="slidenum">
              <a:rPr kumimoji="1" lang="zh-TW" altLang="en-US" smtClean="0"/>
              <a:t>28</a:t>
            </a:fld>
            <a:endParaRPr kumimoji="1" lang="zh-TW" altLang="en-US"/>
          </a:p>
        </p:txBody>
      </p:sp>
      <p:sp>
        <p:nvSpPr>
          <p:cNvPr id="5" name="矩形 4">
            <a:extLst>
              <a:ext uri="{FF2B5EF4-FFF2-40B4-BE49-F238E27FC236}">
                <a16:creationId xmlns:a16="http://schemas.microsoft.com/office/drawing/2014/main" id="{86E15AF5-3DC8-EB4E-91AE-22E49D7C1C5D}"/>
              </a:ext>
            </a:extLst>
          </p:cNvPr>
          <p:cNvSpPr/>
          <p:nvPr/>
        </p:nvSpPr>
        <p:spPr>
          <a:xfrm>
            <a:off x="8292085" y="2372693"/>
            <a:ext cx="797051" cy="2150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ysClr val="windowText" lastClr="000000"/>
                </a:solidFill>
                <a:latin typeface="Times New Roman" panose="02020603050405020304" pitchFamily="18" charset="0"/>
                <a:cs typeface="Times New Roman" panose="02020603050405020304" pitchFamily="18" charset="0"/>
              </a:rPr>
              <a:t>resolution</a:t>
            </a:r>
            <a:endParaRPr kumimoji="1" lang="zh-TW" altLang="en-US" sz="12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803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AD07D996-5AB2-C4FB-87CC-D56F39CCE0CB}"/>
              </a:ext>
            </a:extLst>
          </p:cNvPr>
          <p:cNvSpPr>
            <a:spLocks noGrp="1"/>
          </p:cNvSpPr>
          <p:nvPr>
            <p:ph type="title"/>
          </p:nvPr>
        </p:nvSpPr>
        <p:spPr>
          <a:xfrm>
            <a:off x="838200" y="365125"/>
            <a:ext cx="10515600" cy="1325563"/>
          </a:xfrm>
        </p:spPr>
        <p:txBody>
          <a:bodyPr/>
          <a:lstStyle/>
          <a:p>
            <a:r>
              <a:rPr lang="en-US" altLang="zh-TW" dirty="0">
                <a:latin typeface="Times" pitchFamily="2" charset="0"/>
              </a:rPr>
              <a:t>Results</a:t>
            </a:r>
            <a:endParaRPr lang="zh-TW" altLang="en-US" dirty="0">
              <a:latin typeface="Times" pitchFamily="2" charset="0"/>
            </a:endParaRPr>
          </a:p>
        </p:txBody>
      </p:sp>
      <p:pic>
        <p:nvPicPr>
          <p:cNvPr id="9" name="圖形 8">
            <a:extLst>
              <a:ext uri="{FF2B5EF4-FFF2-40B4-BE49-F238E27FC236}">
                <a16:creationId xmlns:a16="http://schemas.microsoft.com/office/drawing/2014/main" id="{83C925F0-8AB0-2844-87B0-76C8A9774A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968" y="1731098"/>
            <a:ext cx="5875643" cy="4411718"/>
          </a:xfrm>
          <a:prstGeom prst="rect">
            <a:avLst/>
          </a:prstGeom>
        </p:spPr>
      </p:pic>
      <p:pic>
        <p:nvPicPr>
          <p:cNvPr id="11" name="圖形 10">
            <a:extLst>
              <a:ext uri="{FF2B5EF4-FFF2-40B4-BE49-F238E27FC236}">
                <a16:creationId xmlns:a16="http://schemas.microsoft.com/office/drawing/2014/main" id="{21F7AB6F-F125-5E4F-A435-60BB022B17B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73457" y="1731098"/>
            <a:ext cx="5875643" cy="4411718"/>
          </a:xfrm>
          <a:prstGeom prst="rect">
            <a:avLst/>
          </a:prstGeom>
        </p:spPr>
      </p:pic>
      <p:sp>
        <p:nvSpPr>
          <p:cNvPr id="5" name="投影片編號版面配置區 4">
            <a:extLst>
              <a:ext uri="{FF2B5EF4-FFF2-40B4-BE49-F238E27FC236}">
                <a16:creationId xmlns:a16="http://schemas.microsoft.com/office/drawing/2014/main" id="{82444999-23EF-5149-B5D7-DD653B942340}"/>
              </a:ext>
            </a:extLst>
          </p:cNvPr>
          <p:cNvSpPr>
            <a:spLocks noGrp="1"/>
          </p:cNvSpPr>
          <p:nvPr>
            <p:ph type="sldNum" sz="quarter" idx="12"/>
          </p:nvPr>
        </p:nvSpPr>
        <p:spPr/>
        <p:txBody>
          <a:bodyPr/>
          <a:lstStyle/>
          <a:p>
            <a:fld id="{9964E18F-1489-4A4A-8DD8-AC372572ADE5}" type="slidenum">
              <a:rPr kumimoji="1" lang="zh-TW" altLang="en-US" smtClean="0"/>
              <a:t>29</a:t>
            </a:fld>
            <a:endParaRPr kumimoji="1" lang="zh-TW" altLang="en-US"/>
          </a:p>
        </p:txBody>
      </p:sp>
      <p:sp>
        <p:nvSpPr>
          <p:cNvPr id="6" name="文字方塊 5">
            <a:extLst>
              <a:ext uri="{FF2B5EF4-FFF2-40B4-BE49-F238E27FC236}">
                <a16:creationId xmlns:a16="http://schemas.microsoft.com/office/drawing/2014/main" id="{594978A4-50AD-3944-B480-2830F1CB8353}"/>
              </a:ext>
            </a:extLst>
          </p:cNvPr>
          <p:cNvSpPr txBox="1"/>
          <p:nvPr/>
        </p:nvSpPr>
        <p:spPr>
          <a:xfrm>
            <a:off x="6487531" y="1904222"/>
            <a:ext cx="5284178" cy="307777"/>
          </a:xfrm>
          <a:prstGeom prst="rect">
            <a:avLst/>
          </a:prstGeom>
          <a:noFill/>
        </p:spPr>
        <p:txBody>
          <a:bodyPr wrap="square" rtlCol="0">
            <a:spAutoFit/>
          </a:bodyPr>
          <a:lstStyle/>
          <a:p>
            <a:r>
              <a:rPr kumimoji="1" lang="en-US" altLang="zh-TW" sz="1400" dirty="0">
                <a:latin typeface="Times New Roman" panose="02020603050405020304" pitchFamily="18" charset="0"/>
                <a:cs typeface="Times New Roman" panose="02020603050405020304" pitchFamily="18" charset="0"/>
              </a:rPr>
              <a:t>Goren point count + short method(void=5, singleton=3, doubleton=1) </a:t>
            </a:r>
            <a:endParaRPr kumimoji="1" lang="zh-TW" altLang="en-US" sz="1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B4D3EED-7427-A346-936C-E28755400182}"/>
              </a:ext>
            </a:extLst>
          </p:cNvPr>
          <p:cNvSpPr txBox="1"/>
          <p:nvPr/>
        </p:nvSpPr>
        <p:spPr>
          <a:xfrm>
            <a:off x="1760458" y="1909306"/>
            <a:ext cx="3358662" cy="307777"/>
          </a:xfrm>
          <a:prstGeom prst="rect">
            <a:avLst/>
          </a:prstGeom>
          <a:noFill/>
        </p:spPr>
        <p:txBody>
          <a:bodyPr wrap="square" rtlCol="0">
            <a:spAutoFit/>
          </a:bodyPr>
          <a:lstStyle/>
          <a:p>
            <a:r>
              <a:rPr kumimoji="1" lang="en-US" altLang="zh-TW" sz="1400" dirty="0">
                <a:latin typeface="Times New Roman" panose="02020603050405020304" pitchFamily="18" charset="0"/>
                <a:cs typeface="Times New Roman" panose="02020603050405020304" pitchFamily="18" charset="0"/>
              </a:rPr>
              <a:t>fine-tune H + TL + NL  with resolution=0.5  </a:t>
            </a:r>
            <a:endParaRPr kumimoji="1" lang="zh-TW"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888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A48638E-E2F2-4AB4-A1D5-7CA1D8365857}"/>
              </a:ext>
            </a:extLst>
          </p:cNvPr>
          <p:cNvSpPr>
            <a:spLocks noGrp="1"/>
          </p:cNvSpPr>
          <p:nvPr>
            <p:ph type="sldNum" sz="quarter" idx="12"/>
          </p:nvPr>
        </p:nvSpPr>
        <p:spPr/>
        <p:txBody>
          <a:bodyPr/>
          <a:lstStyle/>
          <a:p>
            <a:fld id="{3843C69C-988C-419E-A803-21E6F70EF7E9}" type="slidenum">
              <a:rPr lang="zh-TW" altLang="en-US" smtClean="0"/>
              <a:t>30</a:t>
            </a:fld>
            <a:endParaRPr lang="zh-TW" altLang="en-US"/>
          </a:p>
        </p:txBody>
      </p:sp>
      <p:sp>
        <p:nvSpPr>
          <p:cNvPr id="8" name="標題 1">
            <a:extLst>
              <a:ext uri="{FF2B5EF4-FFF2-40B4-BE49-F238E27FC236}">
                <a16:creationId xmlns:a16="http://schemas.microsoft.com/office/drawing/2014/main" id="{AD07D996-5AB2-C4FB-87CC-D56F39CCE0CB}"/>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Conclusion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7686072-7623-92D0-018C-AEB2AB0222B9}"/>
                  </a:ext>
                </a:extLst>
              </p:cNvPr>
              <p:cNvSpPr>
                <a:spLocks noGrp="1"/>
              </p:cNvSpPr>
              <p:nvPr>
                <p:ph idx="1"/>
              </p:nvPr>
            </p:nvSpPr>
            <p:spPr/>
            <p:txBody>
              <a:bodyPr>
                <a:normAutofit/>
              </a:bodyPr>
              <a:lstStyle/>
              <a:p>
                <a14:m>
                  <m:oMath xmlns:m="http://schemas.openxmlformats.org/officeDocument/2006/math">
                    <m:r>
                      <a:rPr lang="en-US" altLang="zh-TW" sz="3200" b="0" i="1" smtClean="0">
                        <a:latin typeface="Cambria Math" panose="02040503050406030204" pitchFamily="18" charset="0"/>
                      </a:rPr>
                      <m:t>𝐻</m:t>
                    </m:r>
                    <m:r>
                      <a:rPr lang="en-US" altLang="zh-TW" sz="3200" b="0" i="1" smtClean="0">
                        <a:latin typeface="Cambria Math" panose="02040503050406030204" pitchFamily="18" charset="0"/>
                      </a:rPr>
                      <m:t>+</m:t>
                    </m:r>
                    <m:r>
                      <m:rPr>
                        <m:sty m:val="p"/>
                      </m:rPr>
                      <a:rPr lang="en-US" altLang="zh-TW" sz="3200" i="1">
                        <a:latin typeface="Cambria Math" panose="02040503050406030204" pitchFamily="18" charset="0"/>
                      </a:rPr>
                      <m:t>T</m:t>
                    </m:r>
                    <m:r>
                      <a:rPr lang="en-US" altLang="zh-TW" sz="3200" b="0" i="1" smtClean="0">
                        <a:latin typeface="Cambria Math" panose="02040503050406030204" pitchFamily="18" charset="0"/>
                      </a:rPr>
                      <m:t>𝐿</m:t>
                    </m:r>
                    <m:r>
                      <a:rPr lang="en-US" altLang="zh-TW" sz="3200" b="0" i="1" smtClean="0">
                        <a:latin typeface="Cambria Math" panose="02040503050406030204" pitchFamily="18" charset="0"/>
                      </a:rPr>
                      <m:t>+</m:t>
                    </m:r>
                    <m:r>
                      <m:rPr>
                        <m:sty m:val="p"/>
                      </m:rPr>
                      <a:rPr lang="en-US" altLang="zh-TW" sz="3200" i="1">
                        <a:latin typeface="Cambria Math" panose="02040503050406030204" pitchFamily="18" charset="0"/>
                      </a:rPr>
                      <m:t>N</m:t>
                    </m:r>
                    <m:r>
                      <a:rPr lang="en-US" altLang="zh-TW" sz="3200" b="0" i="1" smtClean="0">
                        <a:latin typeface="Cambria Math" panose="02040503050406030204" pitchFamily="18" charset="0"/>
                      </a:rPr>
                      <m:t>𝐿</m:t>
                    </m:r>
                  </m:oMath>
                </a14:m>
                <a:endParaRPr lang="en-US" altLang="zh-TW" sz="2800" dirty="0">
                  <a:latin typeface="Times New Roman" panose="02020603050405020304" pitchFamily="18" charset="0"/>
                  <a:cs typeface="Times New Roman" panose="02020603050405020304" pitchFamily="18" charset="0"/>
                </a:endParaRPr>
              </a:p>
              <a:p>
                <a:r>
                  <a:rPr lang="en-US" altLang="zh-TW" sz="3200" dirty="0">
                    <a:latin typeface="Times New Roman" panose="02020603050405020304" pitchFamily="18" charset="0"/>
                    <a:cs typeface="Times New Roman" panose="02020603050405020304" pitchFamily="18" charset="0"/>
                  </a:rPr>
                  <a:t>Increase the correlation coefficient from 0.859 to 0.918.</a:t>
                </a:r>
              </a:p>
            </p:txBody>
          </p:sp>
        </mc:Choice>
        <mc:Fallback xmlns="">
          <p:sp>
            <p:nvSpPr>
              <p:cNvPr id="3" name="內容版面配置區 2">
                <a:extLst>
                  <a:ext uri="{FF2B5EF4-FFF2-40B4-BE49-F238E27FC236}">
                    <a16:creationId xmlns:a16="http://schemas.microsoft.com/office/drawing/2014/main" id="{97686072-7623-92D0-018C-AEB2AB0222B9}"/>
                  </a:ext>
                </a:extLst>
              </p:cNvPr>
              <p:cNvSpPr>
                <a:spLocks noGrp="1" noRot="1" noChangeAspect="1" noMove="1" noResize="1" noEditPoints="1" noAdjustHandles="1" noChangeArrowheads="1" noChangeShapeType="1" noTextEdit="1"/>
              </p:cNvSpPr>
              <p:nvPr>
                <p:ph idx="1"/>
              </p:nvPr>
            </p:nvSpPr>
            <p:spPr>
              <a:blipFill>
                <a:blip r:embed="rId2"/>
                <a:stretch>
                  <a:fillRect l="-1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3055803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4332</TotalTime>
  <Words>1570</Words>
  <Application>Microsoft Office PowerPoint</Application>
  <PresentationFormat>寬螢幕</PresentationFormat>
  <Paragraphs>680</Paragraphs>
  <Slides>30</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30</vt:i4>
      </vt:variant>
    </vt:vector>
  </HeadingPairs>
  <TitlesOfParts>
    <vt:vector size="37" baseType="lpstr">
      <vt:lpstr>Arial</vt:lpstr>
      <vt:lpstr>Calibri</vt:lpstr>
      <vt:lpstr>Calibri Light</vt:lpstr>
      <vt:lpstr>Cambria Math</vt:lpstr>
      <vt:lpstr>Times</vt:lpstr>
      <vt:lpstr>Times New Roman</vt:lpstr>
      <vt:lpstr>Office 佈景主題</vt:lpstr>
      <vt:lpstr>Hand Strength Evaluation in Bridge Games with the Evolutionary Algorithms</vt:lpstr>
      <vt:lpstr>Abstract</vt:lpstr>
      <vt:lpstr>Abstract</vt:lpstr>
      <vt:lpstr>Training Process</vt:lpstr>
      <vt:lpstr>Genetic Algorithm</vt:lpstr>
      <vt:lpstr>Strength of the Hand</vt:lpstr>
      <vt:lpstr>Strength of the Hand</vt:lpstr>
      <vt:lpstr>Individual Card Strength Formula</vt:lpstr>
      <vt:lpstr>Individual Card Strength Formula</vt:lpstr>
      <vt:lpstr>Individual Card Strength Formula</vt:lpstr>
      <vt:lpstr>Individual Card Strength Formula</vt:lpstr>
      <vt:lpstr>Short suit formula</vt:lpstr>
      <vt:lpstr>Short suit formula</vt:lpstr>
      <vt:lpstr>Short suit formula</vt:lpstr>
      <vt:lpstr>Short suit formula</vt:lpstr>
      <vt:lpstr>Short suit formula</vt:lpstr>
      <vt:lpstr>Long suit formula</vt:lpstr>
      <vt:lpstr>Long suit formula</vt:lpstr>
      <vt:lpstr>Long suit formula</vt:lpstr>
      <vt:lpstr>Long suit formula</vt:lpstr>
      <vt:lpstr>Long suit formula</vt:lpstr>
      <vt:lpstr>Length formula</vt:lpstr>
      <vt:lpstr>Length formula</vt:lpstr>
      <vt:lpstr>Length formula</vt:lpstr>
      <vt:lpstr>Fine-Tune if the East Bids</vt:lpstr>
      <vt:lpstr>No Trump Contract</vt:lpstr>
      <vt:lpstr>Results</vt:lpstr>
      <vt:lpstr>Results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pplab</cp:lastModifiedBy>
  <cp:revision>137</cp:revision>
  <dcterms:created xsi:type="dcterms:W3CDTF">2022-12-24T05:46:44Z</dcterms:created>
  <dcterms:modified xsi:type="dcterms:W3CDTF">2022-12-28T00:17:38Z</dcterms:modified>
</cp:coreProperties>
</file>