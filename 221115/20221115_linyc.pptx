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2022/11/15</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2022/11/15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心揆 陳松 尚言盧</a:t>
            </a:r>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Fu </a:t>
            </a:r>
            <a:r>
              <a:rPr lang="en-US" altLang="zh-TW" dirty="0" err="1"/>
              <a:t>gi</a:t>
            </a:r>
            <a:r>
              <a:rPr lang="en-US" altLang="zh-TW" dirty="0"/>
              <a:t> </a:t>
            </a:r>
            <a:r>
              <a:rPr lang="en-US" altLang="zh-TW" dirty="0" err="1"/>
              <a:t>tive</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2022/11/15</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2022/11/15</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2022/11/15</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2022/11/15</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2022/11/15</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2022/11/15</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2022/11/15</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2022/11/15</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2022/11/15</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2022/11/15</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2022/11/15</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2022/11/15</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287865"/>
            <a:ext cx="9144000" cy="2387600"/>
          </a:xfrm>
        </p:spPr>
        <p:txBody>
          <a:bodyPr>
            <a:normAutofit/>
          </a:bodyPr>
          <a:lstStyle/>
          <a:p>
            <a:r>
              <a:rPr lang="en-US" altLang="zh-TW" sz="4400" b="1" dirty="0">
                <a:latin typeface="Times New Roman" panose="02020603050405020304" pitchFamily="18" charset="0"/>
                <a:cs typeface="Times New Roman" panose="02020603050405020304" pitchFamily="18" charset="0"/>
              </a:rPr>
              <a:t>Parallel Local Alignment Algorithm for Multiple Sequences on Heterogeneous Cluster Systems</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p:txBody>
          <a:bodyPr/>
          <a:lstStyle/>
          <a:p>
            <a:r>
              <a:rPr lang="it-IT" altLang="zh-TW" dirty="0">
                <a:latin typeface="Times New Roman" panose="02020603050405020304" pitchFamily="18" charset="0"/>
                <a:cs typeface="Times New Roman" panose="02020603050405020304" pitchFamily="18" charset="0"/>
              </a:rPr>
              <a:t>Xin Cui,Cheng Zhong,Xiang-Yan Lu</a:t>
            </a:r>
          </a:p>
          <a:p>
            <a:r>
              <a:rPr lang="en-US" altLang="zh-TW" dirty="0">
                <a:latin typeface="Times New Roman" panose="02020603050405020304" pitchFamily="18" charset="0"/>
                <a:cs typeface="Times New Roman" panose="02020603050405020304" pitchFamily="18" charset="0"/>
              </a:rPr>
              <a:t>3rd International Symposium on Parallel Architectures, Algorithms and Programming, December 2010, Liaoning, China</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Nov.</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15</a:t>
            </a:r>
            <a:r>
              <a:rPr lang="zh-TW" sz="2000" dirty="0">
                <a:latin typeface="Times New Roman"/>
                <a:ea typeface="Times New Roman"/>
                <a:cs typeface="Times New Roman"/>
                <a:sym typeface="Times New Roman"/>
              </a:rPr>
              <a:t>, 2022</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	By taking into account communication startup overhead and the assigned processor distribution order and by applying hashing technique, a novel sequence distribution strategy is presented and the parallel local alignment algorithm for multiple sequences is designed on the heterogeneous cluster system that the computing nodes have different computing speeds and communication capabilities based on divisible load principle.</a:t>
            </a:r>
          </a:p>
          <a:p>
            <a:pPr marL="0" indent="0">
              <a:buNone/>
            </a:pPr>
            <a:r>
              <a:rPr lang="en-US" altLang="zh-TW" sz="2400" dirty="0">
                <a:latin typeface="Times New Roman" panose="02020603050405020304" pitchFamily="18" charset="0"/>
                <a:cs typeface="Times New Roman" panose="02020603050405020304" pitchFamily="18" charset="0"/>
              </a:rPr>
              <a:t>	The experimental results on the cluster system with heterogeneous personal computers show that, compared with the parallel algorithm with the average sequence distribution approach, the parallel local alignment algorithm for multiple sequences with the presented sequence distribution strategy can decrease the execution time of 13%~35%, and it can obtain good speedup and scalability.</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Basic concept of Bioinformatics</a:t>
            </a:r>
            <a:endParaRPr lang="zh-TW" altLang="en-US" b="1" dirty="0"/>
          </a:p>
        </p:txBody>
      </p:sp>
      <p:sp>
        <p:nvSpPr>
          <p:cNvPr id="3" name="內容版面配置區 2">
            <a:extLst>
              <a:ext uri="{FF2B5EF4-FFF2-40B4-BE49-F238E27FC236}">
                <a16:creationId xmlns:a16="http://schemas.microsoft.com/office/drawing/2014/main" id="{2D67AB59-DF5D-4C2F-969F-2B3C9FA9238D}"/>
              </a:ext>
            </a:extLst>
          </p:cNvPr>
          <p:cNvSpPr>
            <a:spLocks noGrp="1"/>
          </p:cNvSpPr>
          <p:nvPr>
            <p:ph idx="1"/>
          </p:nvPr>
        </p:nvSpPr>
        <p:spPr/>
        <p:txBody>
          <a:bodyPr/>
          <a:lstStyle/>
          <a:p>
            <a:pPr marL="0" indent="0">
              <a:buNone/>
            </a:pPr>
            <a:r>
              <a:rPr lang="en-US" altLang="zh-TW" sz="2400" dirty="0">
                <a:latin typeface="Times New Roman" panose="02020603050405020304" pitchFamily="18" charset="0"/>
                <a:cs typeface="Times New Roman" panose="02020603050405020304" pitchFamily="18" charset="0"/>
              </a:rPr>
              <a:t>	In bioinformatics, when we find a new sequence looking for its possible function, we usually compare the sequence with the sequence in the database first, then compare the results according to the sequence similarity.</a:t>
            </a:r>
          </a:p>
          <a:p>
            <a:pPr marL="0" indent="0">
              <a:buNone/>
            </a:pPr>
            <a:r>
              <a:rPr lang="en-US" altLang="zh-TW" dirty="0"/>
              <a:t>	</a:t>
            </a:r>
            <a:r>
              <a:rPr lang="en-US" altLang="zh-TW" sz="2400" dirty="0">
                <a:latin typeface="Times New Roman" panose="02020603050405020304" pitchFamily="18" charset="0"/>
                <a:cs typeface="Times New Roman" panose="02020603050405020304" pitchFamily="18" charset="0"/>
              </a:rPr>
              <a:t>Therefore we can determine whether this unknown sequence has homology with the existing sequence, and then predict the possible function of the unknown sequence based on the characteristics of the known sequence.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pic>
        <p:nvPicPr>
          <p:cNvPr id="5" name="圖片 4">
            <a:extLst>
              <a:ext uri="{FF2B5EF4-FFF2-40B4-BE49-F238E27FC236}">
                <a16:creationId xmlns:a16="http://schemas.microsoft.com/office/drawing/2014/main" id="{629C4ED8-BDB8-4A23-8159-971954D49C83}"/>
              </a:ext>
            </a:extLst>
          </p:cNvPr>
          <p:cNvPicPr>
            <a:picLocks noChangeAspect="1"/>
          </p:cNvPicPr>
          <p:nvPr/>
        </p:nvPicPr>
        <p:blipFill rotWithShape="1">
          <a:blip r:embed="rId2"/>
          <a:srcRect l="-1084" t="13199" r="1084" b="3030"/>
          <a:stretch/>
        </p:blipFill>
        <p:spPr>
          <a:xfrm>
            <a:off x="3469924" y="4224654"/>
            <a:ext cx="5140676" cy="2314258"/>
          </a:xfrm>
          <a:prstGeom prst="rect">
            <a:avLst/>
          </a:prstGeom>
        </p:spPr>
      </p:pic>
    </p:spTree>
    <p:extLst>
      <p:ext uri="{BB962C8B-B14F-4D97-AF65-F5344CB8AC3E}">
        <p14:creationId xmlns:p14="http://schemas.microsoft.com/office/powerpoint/2010/main" val="173693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D38783-BA35-44B2-BBCB-F44A5EBF5872}"/>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BLAST(1)</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0891C1D-5305-48D9-95CD-2BCA58F6FF47}"/>
              </a:ext>
            </a:extLst>
          </p:cNvPr>
          <p:cNvSpPr>
            <a:spLocks noGrp="1"/>
          </p:cNvSpPr>
          <p:nvPr>
            <p:ph idx="1"/>
          </p:nvPr>
        </p:nvSpPr>
        <p:spPr>
          <a:xfrm>
            <a:off x="838200" y="1363986"/>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In bioinformatics, </a:t>
            </a:r>
            <a:r>
              <a:rPr lang="en-US" altLang="zh-TW" sz="2400" b="1" dirty="0">
                <a:latin typeface="Times New Roman" panose="02020603050405020304" pitchFamily="18" charset="0"/>
                <a:cs typeface="Times New Roman" panose="02020603050405020304" pitchFamily="18" charset="0"/>
              </a:rPr>
              <a:t>BLAST</a:t>
            </a:r>
            <a:r>
              <a:rPr lang="en-US" altLang="zh-TW" sz="2400" dirty="0">
                <a:latin typeface="Times New Roman" panose="02020603050405020304" pitchFamily="18" charset="0"/>
                <a:cs typeface="Times New Roman" panose="02020603050405020304" pitchFamily="18" charset="0"/>
              </a:rPr>
              <a:t> (</a:t>
            </a:r>
            <a:r>
              <a:rPr lang="en-US" altLang="zh-TW" sz="2400" b="1" dirty="0">
                <a:latin typeface="Times New Roman" panose="02020603050405020304" pitchFamily="18" charset="0"/>
                <a:cs typeface="Times New Roman" panose="02020603050405020304" pitchFamily="18" charset="0"/>
              </a:rPr>
              <a:t>basic local alignment search tool</a:t>
            </a:r>
            <a:r>
              <a:rPr lang="en-US" altLang="zh-TW" sz="2400" dirty="0">
                <a:latin typeface="Times New Roman" panose="02020603050405020304" pitchFamily="18" charset="0"/>
                <a:cs typeface="Times New Roman" panose="02020603050405020304" pitchFamily="18" charset="0"/>
              </a:rPr>
              <a:t>) is an algorithm and program for comparing primary biological sequence information, such as the amino-acid sequences of proteins or the nucleotides of DNA and/or RNA sequences.</a:t>
            </a:r>
          </a:p>
          <a:p>
            <a:r>
              <a:rPr lang="en-US" altLang="zh-TW" sz="2400" dirty="0">
                <a:latin typeface="Times New Roman" panose="02020603050405020304" pitchFamily="18" charset="0"/>
                <a:cs typeface="Times New Roman" panose="02020603050405020304" pitchFamily="18" charset="0"/>
              </a:rPr>
              <a:t>Using a scoring function to measure the similarity among the sequences. This score is calculated by using </a:t>
            </a:r>
            <a:r>
              <a:rPr lang="en-US" altLang="zh-TW" sz="2400" dirty="0" err="1">
                <a:latin typeface="Times New Roman" panose="02020603050405020304" pitchFamily="18" charset="0"/>
                <a:cs typeface="Times New Roman" panose="02020603050405020304" pitchFamily="18" charset="0"/>
              </a:rPr>
              <a:t>Karlin-Altschul</a:t>
            </a:r>
            <a:r>
              <a:rPr lang="en-US" altLang="zh-TW" sz="2400" dirty="0">
                <a:latin typeface="Times New Roman" panose="02020603050405020304" pitchFamily="18" charset="0"/>
                <a:cs typeface="Times New Roman" panose="02020603050405020304" pitchFamily="18" charset="0"/>
              </a:rPr>
              <a:t> algorithm. The obtained Poisson probability shows the possibility of the random similarity among the sequences.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34C4C1CC-B9A8-4BAF-AD11-892F67225C09}"/>
              </a:ext>
            </a:extLst>
          </p:cNvPr>
          <p:cNvSpPr>
            <a:spLocks noGrp="1"/>
          </p:cNvSpPr>
          <p:nvPr>
            <p:ph type="sldNum" sz="quarter" idx="12"/>
          </p:nvPr>
        </p:nvSpPr>
        <p:spPr/>
        <p:txBody>
          <a:bodyPr/>
          <a:lstStyle/>
          <a:p>
            <a:fld id="{55935506-5D51-4B07-8BDD-18CEF4E05E0A}" type="slidenum">
              <a:rPr lang="zh-TW" altLang="en-US" smtClean="0"/>
              <a:t>4</a:t>
            </a:fld>
            <a:endParaRPr lang="zh-TW" altLang="en-US"/>
          </a:p>
        </p:txBody>
      </p:sp>
    </p:spTree>
    <p:extLst>
      <p:ext uri="{BB962C8B-B14F-4D97-AF65-F5344CB8AC3E}">
        <p14:creationId xmlns:p14="http://schemas.microsoft.com/office/powerpoint/2010/main" val="3373492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2E1570-7270-444B-9388-3D62B74E172E}"/>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BLAST(2)</a:t>
            </a:r>
            <a:endParaRPr lang="zh-TW" altLang="en-US" dirty="0"/>
          </a:p>
        </p:txBody>
      </p:sp>
      <p:sp>
        <p:nvSpPr>
          <p:cNvPr id="3" name="內容版面配置區 2">
            <a:extLst>
              <a:ext uri="{FF2B5EF4-FFF2-40B4-BE49-F238E27FC236}">
                <a16:creationId xmlns:a16="http://schemas.microsoft.com/office/drawing/2014/main" id="{036BA82F-F368-4730-90B2-01AC86E7BF4F}"/>
              </a:ext>
            </a:extLst>
          </p:cNvPr>
          <p:cNvSpPr>
            <a:spLocks noGrp="1"/>
          </p:cNvSpPr>
          <p:nvPr>
            <p:ph idx="1"/>
          </p:nvPr>
        </p:nvSpPr>
        <p:spPr>
          <a:xfrm>
            <a:off x="838200" y="1346229"/>
            <a:ext cx="10515600" cy="523212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Step 1: </a:t>
            </a:r>
          </a:p>
          <a:p>
            <a:pPr marL="0" indent="0">
              <a:buNone/>
            </a:pPr>
            <a:r>
              <a:rPr lang="en-US" altLang="zh-TW" sz="2400" dirty="0">
                <a:latin typeface="Times New Roman" panose="02020603050405020304" pitchFamily="18" charset="0"/>
                <a:cs typeface="Times New Roman" panose="02020603050405020304" pitchFamily="18" charset="0"/>
              </a:rPr>
              <a:t>length </a:t>
            </a:r>
            <a:r>
              <a:rPr lang="en-US" altLang="zh-TW" sz="2400" b="1" i="1" dirty="0">
                <a:latin typeface="Times New Roman" panose="02020603050405020304" pitchFamily="18" charset="0"/>
                <a:cs typeface="Times New Roman" panose="02020603050405020304" pitchFamily="18" charset="0"/>
              </a:rPr>
              <a:t>W</a:t>
            </a:r>
            <a:r>
              <a:rPr lang="en-US" altLang="zh-TW" sz="2400" dirty="0">
                <a:latin typeface="Times New Roman" panose="02020603050405020304" pitchFamily="18" charset="0"/>
                <a:cs typeface="Times New Roman" panose="02020603050405020304" pitchFamily="18" charset="0"/>
              </a:rPr>
              <a:t> of a string is predetermined and each word of length </a:t>
            </a:r>
            <a:r>
              <a:rPr lang="en-US" altLang="zh-TW" sz="2400" b="1" i="1" dirty="0">
                <a:latin typeface="Times New Roman" panose="02020603050405020304" pitchFamily="18" charset="0"/>
                <a:cs typeface="Times New Roman" panose="02020603050405020304" pitchFamily="18" charset="0"/>
              </a:rPr>
              <a:t>W</a:t>
            </a:r>
            <a:r>
              <a:rPr lang="en-US" altLang="zh-TW" sz="2400" dirty="0">
                <a:latin typeface="Times New Roman" panose="02020603050405020304" pitchFamily="18" charset="0"/>
                <a:cs typeface="Times New Roman" panose="02020603050405020304" pitchFamily="18" charset="0"/>
              </a:rPr>
              <a:t> in the sequence is listed. </a:t>
            </a:r>
          </a:p>
          <a:p>
            <a:pPr marL="0" indent="0">
              <a:buNone/>
            </a:pPr>
            <a:r>
              <a:rPr lang="en-US" altLang="zh-TW" sz="2400" dirty="0">
                <a:latin typeface="Times New Roman" panose="02020603050405020304" pitchFamily="18" charset="0"/>
                <a:cs typeface="Times New Roman" panose="02020603050405020304" pitchFamily="18" charset="0"/>
              </a:rPr>
              <a:t>Step 2: </a:t>
            </a:r>
          </a:p>
          <a:p>
            <a:pPr marL="0" indent="0">
              <a:buNone/>
            </a:pPr>
            <a:r>
              <a:rPr lang="en-US" altLang="zh-TW" sz="2400" dirty="0">
                <a:latin typeface="Times New Roman" panose="02020603050405020304" pitchFamily="18" charset="0"/>
                <a:cs typeface="Times New Roman" panose="02020603050405020304" pitchFamily="18" charset="0"/>
              </a:rPr>
              <a:t>For every word </a:t>
            </a:r>
            <a:r>
              <a:rPr lang="en-US" altLang="zh-TW" sz="2400" b="1" i="1" dirty="0" err="1">
                <a:latin typeface="Times New Roman" panose="02020603050405020304" pitchFamily="18" charset="0"/>
                <a:cs typeface="Times New Roman" panose="02020603050405020304" pitchFamily="18" charset="0"/>
              </a:rPr>
              <a:t>wi</a:t>
            </a:r>
            <a:r>
              <a:rPr lang="en-US" altLang="zh-TW" sz="2400" dirty="0">
                <a:latin typeface="Times New Roman" panose="02020603050405020304" pitchFamily="18" charset="0"/>
                <a:cs typeface="Times New Roman" panose="02020603050405020304" pitchFamily="18" charset="0"/>
              </a:rPr>
              <a:t> of length </a:t>
            </a:r>
            <a:r>
              <a:rPr lang="en-US" altLang="zh-TW" sz="2400" b="1" i="1" dirty="0">
                <a:latin typeface="Times New Roman" panose="02020603050405020304" pitchFamily="18" charset="0"/>
                <a:cs typeface="Times New Roman" panose="02020603050405020304" pitchFamily="18" charset="0"/>
              </a:rPr>
              <a:t>W</a:t>
            </a:r>
            <a:r>
              <a:rPr lang="en-US" altLang="zh-TW" sz="2400" dirty="0">
                <a:latin typeface="Times New Roman" panose="02020603050405020304" pitchFamily="18" charset="0"/>
                <a:cs typeface="Times New Roman" panose="02020603050405020304" pitchFamily="18" charset="0"/>
              </a:rPr>
              <a:t> in the query sequence of length </a:t>
            </a:r>
            <a:r>
              <a:rPr lang="en-US" altLang="zh-TW" sz="2400" b="1"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where 1</a:t>
            </a:r>
            <a:r>
              <a:rPr lang="zh-TW" altLang="en-US" sz="2400" dirty="0"/>
              <a:t>≤</a:t>
            </a:r>
            <a:r>
              <a:rPr lang="en-US" altLang="zh-TW" sz="2400" dirty="0">
                <a:latin typeface="Times New Roman" panose="02020603050405020304" pitchFamily="18" charset="0"/>
                <a:cs typeface="Times New Roman" panose="02020603050405020304" pitchFamily="18" charset="0"/>
              </a:rPr>
              <a:t> </a:t>
            </a:r>
            <a:r>
              <a:rPr lang="en-US" altLang="zh-TW" sz="2400" b="1" i="1"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a:t>
            </a:r>
            <a:r>
              <a:rPr lang="zh-TW" altLang="en-US" sz="2400" dirty="0"/>
              <a:t>≤</a:t>
            </a:r>
            <a:r>
              <a:rPr lang="en-US" altLang="zh-TW" sz="2400" b="1"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a:t>
            </a:r>
            <a:r>
              <a:rPr lang="en-US" altLang="zh-TW" sz="2400" b="1" i="1" dirty="0">
                <a:latin typeface="Times New Roman" panose="02020603050405020304" pitchFamily="18" charset="0"/>
                <a:cs typeface="Times New Roman" panose="02020603050405020304" pitchFamily="18" charset="0"/>
              </a:rPr>
              <a:t>W</a:t>
            </a:r>
            <a:r>
              <a:rPr lang="en-US" altLang="zh-TW" sz="2400" dirty="0">
                <a:latin typeface="Times New Roman" panose="02020603050405020304" pitchFamily="18" charset="0"/>
                <a:cs typeface="Times New Roman" panose="02020603050405020304" pitchFamily="18" charset="0"/>
              </a:rPr>
              <a:t>+1 , all the possible alignments are scored by a scoring matrix and the words whose score is larger than a given value of  </a:t>
            </a:r>
            <a:r>
              <a:rPr lang="en-US" altLang="zh-TW" sz="2400" b="1" i="1" dirty="0">
                <a:latin typeface="Times New Roman" panose="02020603050405020304" pitchFamily="18" charset="0"/>
                <a:cs typeface="Times New Roman" panose="02020603050405020304" pitchFamily="18" charset="0"/>
              </a:rPr>
              <a:t>T</a:t>
            </a:r>
            <a:r>
              <a:rPr lang="en-US" altLang="zh-TW" sz="2400" dirty="0">
                <a:latin typeface="Times New Roman" panose="02020603050405020304" pitchFamily="18" charset="0"/>
                <a:cs typeface="Times New Roman" panose="02020603050405020304" pitchFamily="18" charset="0"/>
              </a:rPr>
              <a:t> are kept.</a:t>
            </a:r>
          </a:p>
          <a:p>
            <a:pPr marL="0" indent="0">
              <a:buNone/>
            </a:pPr>
            <a:r>
              <a:rPr lang="en-US" altLang="zh-TW" sz="2400" dirty="0">
                <a:latin typeface="Times New Roman" panose="02020603050405020304" pitchFamily="18" charset="0"/>
                <a:cs typeface="Times New Roman" panose="02020603050405020304" pitchFamily="18" charset="0"/>
              </a:rPr>
              <a:t>Step 3: </a:t>
            </a:r>
          </a:p>
          <a:p>
            <a:pPr marL="0" indent="0">
              <a:buNone/>
            </a:pPr>
            <a:r>
              <a:rPr lang="en-US" altLang="zh-TW" sz="2400" dirty="0">
                <a:latin typeface="Times New Roman" panose="02020603050405020304" pitchFamily="18" charset="0"/>
                <a:cs typeface="Times New Roman" panose="02020603050405020304" pitchFamily="18" charset="0"/>
              </a:rPr>
              <a:t>The algorithm searches the fields matching with some words in the word list for each sequence in the database.</a:t>
            </a:r>
            <a:endParaRPr lang="zh-TW" altLang="en-US" sz="2400" dirty="0">
              <a:latin typeface="Times New Roman" panose="02020603050405020304" pitchFamily="18" charset="0"/>
              <a:cs typeface="Times New Roman" panose="02020603050405020304" pitchFamily="18" charset="0"/>
            </a:endParaRPr>
          </a:p>
        </p:txBody>
      </p:sp>
      <p:sp>
        <p:nvSpPr>
          <p:cNvPr id="9" name="投影片編號版面配置區 8">
            <a:extLst>
              <a:ext uri="{FF2B5EF4-FFF2-40B4-BE49-F238E27FC236}">
                <a16:creationId xmlns:a16="http://schemas.microsoft.com/office/drawing/2014/main" id="{6243268C-462B-47A5-A8A0-4B8EEF231741}"/>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spTree>
    <p:extLst>
      <p:ext uri="{BB962C8B-B14F-4D97-AF65-F5344CB8AC3E}">
        <p14:creationId xmlns:p14="http://schemas.microsoft.com/office/powerpoint/2010/main" val="3216871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2E1570-7270-444B-9388-3D62B74E172E}"/>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BLAST(3)</a:t>
            </a:r>
            <a:endParaRPr lang="zh-TW" altLang="en-US" dirty="0"/>
          </a:p>
        </p:txBody>
      </p:sp>
      <p:sp>
        <p:nvSpPr>
          <p:cNvPr id="3" name="內容版面配置區 2">
            <a:extLst>
              <a:ext uri="{FF2B5EF4-FFF2-40B4-BE49-F238E27FC236}">
                <a16:creationId xmlns:a16="http://schemas.microsoft.com/office/drawing/2014/main" id="{036BA82F-F368-4730-90B2-01AC86E7BF4F}"/>
              </a:ext>
            </a:extLst>
          </p:cNvPr>
          <p:cNvSpPr>
            <a:spLocks noGrp="1"/>
          </p:cNvSpPr>
          <p:nvPr>
            <p:ph idx="1"/>
          </p:nvPr>
        </p:nvSpPr>
        <p:spPr>
          <a:xfrm>
            <a:off x="838200" y="1346229"/>
            <a:ext cx="10515600" cy="523212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Step 4: </a:t>
            </a:r>
          </a:p>
          <a:p>
            <a:pPr marL="0" indent="0">
              <a:buNone/>
            </a:pPr>
            <a:r>
              <a:rPr lang="en-US" altLang="zh-TW" sz="2400" dirty="0">
                <a:latin typeface="Times New Roman" panose="02020603050405020304" pitchFamily="18" charset="0"/>
                <a:cs typeface="Times New Roman" panose="02020603050405020304" pitchFamily="18" charset="0"/>
              </a:rPr>
              <a:t>The matched fields are extended to the left and right sides, and the corresponding nucleotides are compared until the score is lower than the given value of </a:t>
            </a:r>
            <a:r>
              <a:rPr lang="en-US" altLang="zh-TW" sz="2400" b="1" i="1" dirty="0">
                <a:latin typeface="Times New Roman" panose="02020603050405020304" pitchFamily="18" charset="0"/>
                <a:cs typeface="Times New Roman" panose="02020603050405020304" pitchFamily="18" charset="0"/>
              </a:rPr>
              <a:t>S</a:t>
            </a:r>
            <a:r>
              <a:rPr lang="en-US" altLang="zh-TW" sz="2400" dirty="0">
                <a:latin typeface="Times New Roman" panose="02020603050405020304" pitchFamily="18" charset="0"/>
                <a:cs typeface="Times New Roman" panose="02020603050405020304" pitchFamily="18" charset="0"/>
              </a:rPr>
              <a:t>.</a:t>
            </a:r>
          </a:p>
          <a:p>
            <a:pPr marL="0" indent="0">
              <a:buNone/>
            </a:pPr>
            <a:r>
              <a:rPr lang="en-US" altLang="zh-TW" sz="2400" dirty="0">
                <a:latin typeface="Times New Roman" panose="02020603050405020304" pitchFamily="18" charset="0"/>
                <a:cs typeface="Times New Roman" panose="02020603050405020304" pitchFamily="18" charset="0"/>
              </a:rPr>
              <a:t>Step 5: </a:t>
            </a:r>
          </a:p>
          <a:p>
            <a:pPr marL="0" indent="0">
              <a:buNone/>
            </a:pPr>
            <a:r>
              <a:rPr lang="en-US" altLang="zh-TW" sz="2400" dirty="0">
                <a:latin typeface="Times New Roman" panose="02020603050405020304" pitchFamily="18" charset="0"/>
                <a:cs typeface="Times New Roman" panose="02020603050405020304" pitchFamily="18" charset="0"/>
              </a:rPr>
              <a:t>A probability of random generation with high scoring pair is determined. It represents the statistical significance of the score.</a:t>
            </a:r>
            <a:endParaRPr lang="zh-TW" altLang="en-US"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3985EAE-AC2C-4236-A0BB-AD6AE349FFE6}"/>
              </a:ext>
            </a:extLst>
          </p:cNvPr>
          <p:cNvPicPr>
            <a:picLocks noChangeAspect="1"/>
          </p:cNvPicPr>
          <p:nvPr/>
        </p:nvPicPr>
        <p:blipFill>
          <a:blip r:embed="rId2"/>
          <a:stretch>
            <a:fillRect/>
          </a:stretch>
        </p:blipFill>
        <p:spPr>
          <a:xfrm>
            <a:off x="1247664" y="3987840"/>
            <a:ext cx="4715717" cy="2658862"/>
          </a:xfrm>
          <a:prstGeom prst="rect">
            <a:avLst/>
          </a:prstGeom>
        </p:spPr>
      </p:pic>
      <p:pic>
        <p:nvPicPr>
          <p:cNvPr id="5" name="圖片 4">
            <a:extLst>
              <a:ext uri="{FF2B5EF4-FFF2-40B4-BE49-F238E27FC236}">
                <a16:creationId xmlns:a16="http://schemas.microsoft.com/office/drawing/2014/main" id="{18B55AAC-8673-44B3-B652-71A1267BA0FB}"/>
              </a:ext>
            </a:extLst>
          </p:cNvPr>
          <p:cNvPicPr>
            <a:picLocks noChangeAspect="1"/>
          </p:cNvPicPr>
          <p:nvPr/>
        </p:nvPicPr>
        <p:blipFill>
          <a:blip r:embed="rId3"/>
          <a:stretch>
            <a:fillRect/>
          </a:stretch>
        </p:blipFill>
        <p:spPr>
          <a:xfrm>
            <a:off x="6372845" y="3931018"/>
            <a:ext cx="4147798" cy="2772505"/>
          </a:xfrm>
          <a:prstGeom prst="rect">
            <a:avLst/>
          </a:prstGeom>
        </p:spPr>
      </p:pic>
      <p:sp>
        <p:nvSpPr>
          <p:cNvPr id="6" name="投影片編號版面配置區 5">
            <a:extLst>
              <a:ext uri="{FF2B5EF4-FFF2-40B4-BE49-F238E27FC236}">
                <a16:creationId xmlns:a16="http://schemas.microsoft.com/office/drawing/2014/main" id="{A6A2D50D-3C8A-407C-94D5-2A2E35F4E7C4}"/>
              </a:ext>
            </a:extLst>
          </p:cNvPr>
          <p:cNvSpPr>
            <a:spLocks noGrp="1"/>
          </p:cNvSpPr>
          <p:nvPr>
            <p:ph type="sldNum" sz="quarter" idx="12"/>
          </p:nvPr>
        </p:nvSpPr>
        <p:spPr/>
        <p:txBody>
          <a:bodyPr/>
          <a:lstStyle/>
          <a:p>
            <a:fld id="{55935506-5D51-4B07-8BDD-18CEF4E05E0A}" type="slidenum">
              <a:rPr lang="zh-TW" altLang="en-US" smtClean="0"/>
              <a:t>6</a:t>
            </a:fld>
            <a:endParaRPr lang="zh-TW" altLang="en-US"/>
          </a:p>
        </p:txBody>
      </p:sp>
    </p:spTree>
    <p:extLst>
      <p:ext uri="{BB962C8B-B14F-4D97-AF65-F5344CB8AC3E}">
        <p14:creationId xmlns:p14="http://schemas.microsoft.com/office/powerpoint/2010/main" val="4290110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03B601-D69C-4B93-8F6F-CA1EB5702228}"/>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Sequences Distribution Strategy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AB2CCFD-068C-42CC-8987-82ADC63A707E}"/>
              </a:ext>
            </a:extLst>
          </p:cNvPr>
          <p:cNvSpPr>
            <a:spLocks noGrp="1"/>
          </p:cNvSpPr>
          <p:nvPr>
            <p:ph idx="1"/>
          </p:nvPr>
        </p:nvSpPr>
        <p:spPr>
          <a:xfrm>
            <a:off x="838200" y="1825625"/>
            <a:ext cx="10515600" cy="4805994"/>
          </a:xfrm>
        </p:spPr>
        <p:txBody>
          <a:bodyPr>
            <a:normAutofit/>
          </a:bodyPr>
          <a:lstStyle/>
          <a:p>
            <a:r>
              <a:rPr lang="en-US" altLang="zh-TW" sz="2400" dirty="0">
                <a:latin typeface="Times New Roman" panose="02020603050405020304" pitchFamily="18" charset="0"/>
                <a:cs typeface="Times New Roman" panose="02020603050405020304" pitchFamily="18" charset="0"/>
              </a:rPr>
              <a:t>Determine the number of the sequences which is distributed to each salve processor with different computing, communication and storage capability on the heterogeneous cluster system by computing the number of the segments in the sequences.</a:t>
            </a:r>
          </a:p>
          <a:p>
            <a:r>
              <a:rPr lang="en-US" altLang="zh-TW" sz="2400" dirty="0">
                <a:latin typeface="Times New Roman" panose="02020603050405020304" pitchFamily="18" charset="0"/>
                <a:cs typeface="Times New Roman" panose="02020603050405020304" pitchFamily="18" charset="0"/>
              </a:rPr>
              <a:t>The required processing time is makes of three parts:</a:t>
            </a:r>
          </a:p>
          <a:p>
            <a:pPr marL="457200" lvl="1" indent="0">
              <a:buNone/>
            </a:pPr>
            <a:r>
              <a:rPr lang="en-US" altLang="zh-TW" dirty="0">
                <a:latin typeface="Times New Roman" panose="02020603050405020304" pitchFamily="18" charset="0"/>
                <a:cs typeface="Times New Roman" panose="02020603050405020304" pitchFamily="18" charset="0"/>
              </a:rPr>
              <a:t>1. The master processor sends the given query sequence and sequence database to each slave processor.</a:t>
            </a:r>
          </a:p>
          <a:p>
            <a:pPr marL="457200" lvl="1" indent="0">
              <a:buNone/>
            </a:pPr>
            <a:r>
              <a:rPr lang="en-US" altLang="zh-TW" dirty="0">
                <a:latin typeface="Times New Roman" panose="02020603050405020304" pitchFamily="18" charset="0"/>
                <a:cs typeface="Times New Roman" panose="02020603050405020304" pitchFamily="18" charset="0"/>
              </a:rPr>
              <a:t>2. Each salve processor computes local alignment for multiple sequences.</a:t>
            </a:r>
          </a:p>
          <a:p>
            <a:pPr marL="457200" lvl="1" indent="0">
              <a:buNone/>
            </a:pPr>
            <a:r>
              <a:rPr lang="en-US" altLang="zh-TW" dirty="0">
                <a:latin typeface="Times New Roman" panose="02020603050405020304" pitchFamily="18" charset="0"/>
                <a:cs typeface="Times New Roman" panose="02020603050405020304" pitchFamily="18" charset="0"/>
              </a:rPr>
              <a:t>3. Each salve processor returns its local results to the master processor and the master processor generates the optimal local alignment results.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3FBED739-9862-499F-A70B-7FF6F89FDED2}"/>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spTree>
    <p:extLst>
      <p:ext uri="{BB962C8B-B14F-4D97-AF65-F5344CB8AC3E}">
        <p14:creationId xmlns:p14="http://schemas.microsoft.com/office/powerpoint/2010/main" val="76328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28D0CE1A-8A7B-418E-AFA1-67A7E35560BD}"/>
              </a:ext>
            </a:extLst>
          </p:cNvPr>
          <p:cNvPicPr>
            <a:picLocks noChangeAspect="1"/>
          </p:cNvPicPr>
          <p:nvPr/>
        </p:nvPicPr>
        <p:blipFill>
          <a:blip r:embed="rId2"/>
          <a:stretch>
            <a:fillRect/>
          </a:stretch>
        </p:blipFill>
        <p:spPr>
          <a:xfrm>
            <a:off x="6012315" y="2117324"/>
            <a:ext cx="5904477" cy="4483223"/>
          </a:xfrm>
          <a:prstGeom prst="rect">
            <a:avLst/>
          </a:prstGeom>
        </p:spPr>
      </p:pic>
      <p:sp>
        <p:nvSpPr>
          <p:cNvPr id="3" name="內容版面配置區 2">
            <a:extLst>
              <a:ext uri="{FF2B5EF4-FFF2-40B4-BE49-F238E27FC236}">
                <a16:creationId xmlns:a16="http://schemas.microsoft.com/office/drawing/2014/main" id="{EA61F7B9-FE90-498B-AB1C-172CBC5B3707}"/>
              </a:ext>
            </a:extLst>
          </p:cNvPr>
          <p:cNvSpPr>
            <a:spLocks noGrp="1"/>
          </p:cNvSpPr>
          <p:nvPr>
            <p:ph idx="1"/>
          </p:nvPr>
        </p:nvSpPr>
        <p:spPr>
          <a:xfrm>
            <a:off x="838200" y="651666"/>
            <a:ext cx="10515600" cy="4351338"/>
          </a:xfrm>
        </p:spPr>
        <p:txBody>
          <a:bodyPr>
            <a:normAutofit/>
          </a:bodyPr>
          <a:lstStyle/>
          <a:p>
            <a:r>
              <a:rPr lang="el-GR" altLang="zh-TW" sz="2400" dirty="0">
                <a:latin typeface="Times New Roman" panose="02020603050405020304" pitchFamily="18" charset="0"/>
                <a:cs typeface="Times New Roman" panose="02020603050405020304" pitchFamily="18" charset="0"/>
              </a:rPr>
              <a:t>α</a:t>
            </a:r>
            <a:r>
              <a:rPr lang="en-US" altLang="zh-TW" sz="2400" dirty="0">
                <a:latin typeface="Times New Roman" panose="02020603050405020304" pitchFamily="18" charset="0"/>
                <a:cs typeface="Times New Roman" panose="02020603050405020304" pitchFamily="18" charset="0"/>
              </a:rPr>
              <a:t>i:The amount of the segments allocated to slave processor Pi</a:t>
            </a:r>
          </a:p>
          <a:p>
            <a:r>
              <a:rPr lang="en-US" altLang="zh-TW" sz="2400" dirty="0" err="1">
                <a:latin typeface="Times New Roman" panose="02020603050405020304" pitchFamily="18" charset="0"/>
                <a:cs typeface="Times New Roman" panose="02020603050405020304" pitchFamily="18" charset="0"/>
              </a:rPr>
              <a:t>Gi:Start</a:t>
            </a:r>
            <a:r>
              <a:rPr lang="en-US" altLang="zh-TW" sz="2400" dirty="0">
                <a:latin typeface="Times New Roman" panose="02020603050405020304" pitchFamily="18" charset="0"/>
                <a:cs typeface="Times New Roman" panose="02020603050405020304" pitchFamily="18" charset="0"/>
              </a:rPr>
              <a:t> time for the communication</a:t>
            </a:r>
          </a:p>
          <a:p>
            <a:r>
              <a:rPr lang="en-US" altLang="zh-TW" sz="2400" dirty="0" err="1">
                <a:latin typeface="Times New Roman" panose="02020603050405020304" pitchFamily="18" charset="0"/>
                <a:cs typeface="Times New Roman" panose="02020603050405020304" pitchFamily="18" charset="0"/>
              </a:rPr>
              <a:t>Ci:Required</a:t>
            </a:r>
            <a:r>
              <a:rPr lang="en-US" altLang="zh-TW" sz="2400" dirty="0">
                <a:latin typeface="Times New Roman" panose="02020603050405020304" pitchFamily="18" charset="0"/>
                <a:cs typeface="Times New Roman" panose="02020603050405020304" pitchFamily="18" charset="0"/>
              </a:rPr>
              <a:t> time that P0 sends a segment to Pi in link</a:t>
            </a:r>
          </a:p>
          <a:p>
            <a:r>
              <a:rPr lang="en-US" altLang="zh-TW" sz="2400" dirty="0" err="1">
                <a:latin typeface="Times New Roman" panose="02020603050405020304" pitchFamily="18" charset="0"/>
                <a:cs typeface="Times New Roman" panose="02020603050405020304" pitchFamily="18" charset="0"/>
              </a:rPr>
              <a:t>Ei:Required</a:t>
            </a:r>
            <a:r>
              <a:rPr lang="en-US" altLang="zh-TW" sz="2400" dirty="0">
                <a:latin typeface="Times New Roman" panose="02020603050405020304" pitchFamily="18" charset="0"/>
                <a:cs typeface="Times New Roman" panose="02020603050405020304" pitchFamily="18" charset="0"/>
              </a:rPr>
              <a:t> time that Pi computes one segment</a:t>
            </a:r>
            <a:endParaRPr lang="zh-TW" altLang="en-US"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25403065-EDCE-46FF-8AFF-053A1A97AB27}"/>
              </a:ext>
            </a:extLst>
          </p:cNvPr>
          <p:cNvPicPr>
            <a:picLocks noChangeAspect="1"/>
          </p:cNvPicPr>
          <p:nvPr/>
        </p:nvPicPr>
        <p:blipFill>
          <a:blip r:embed="rId3"/>
          <a:stretch>
            <a:fillRect/>
          </a:stretch>
        </p:blipFill>
        <p:spPr>
          <a:xfrm>
            <a:off x="341051" y="4425316"/>
            <a:ext cx="5839640" cy="1257475"/>
          </a:xfrm>
          <a:prstGeom prst="rect">
            <a:avLst/>
          </a:prstGeom>
        </p:spPr>
      </p:pic>
      <p:sp>
        <p:nvSpPr>
          <p:cNvPr id="12" name="投影片編號版面配置區 11">
            <a:extLst>
              <a:ext uri="{FF2B5EF4-FFF2-40B4-BE49-F238E27FC236}">
                <a16:creationId xmlns:a16="http://schemas.microsoft.com/office/drawing/2014/main" id="{A0F4CA0B-46C0-4345-8F49-894D6851DC98}"/>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spTree>
    <p:extLst>
      <p:ext uri="{BB962C8B-B14F-4D97-AF65-F5344CB8AC3E}">
        <p14:creationId xmlns:p14="http://schemas.microsoft.com/office/powerpoint/2010/main" val="3861399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79D4E00-472D-4643-8B95-B5A53780CF03}"/>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The experimental platform is a cluster system with heterogeneous personal computers connected via 100Mbps Ethernet, which each computing node runs Red Hat Linux 9.0 operating system.</a:t>
            </a:r>
            <a:endParaRPr lang="zh-TW" altLang="en-US"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0AF089A-A209-4620-B4D0-F2882DE317E9}"/>
              </a:ext>
            </a:extLst>
          </p:cNvPr>
          <p:cNvSpPr>
            <a:spLocks noGrp="1" noChangeArrowheads="1"/>
          </p:cNvSpPr>
          <p:nvPr>
            <p:ph type="title"/>
          </p:nvPr>
        </p:nvSpPr>
        <p:spPr bwMode="auto">
          <a:xfrm>
            <a:off x="838199" y="550853"/>
            <a:ext cx="10515599" cy="9583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zh-TW" b="1" dirty="0">
                <a:latin typeface="Times New Roman" panose="02020603050405020304" pitchFamily="18" charset="0"/>
                <a:cs typeface="Times New Roman" panose="02020603050405020304" pitchFamily="18" charset="0"/>
              </a:rPr>
              <a:t>Experiments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5" name="圖片 4">
            <a:extLst>
              <a:ext uri="{FF2B5EF4-FFF2-40B4-BE49-F238E27FC236}">
                <a16:creationId xmlns:a16="http://schemas.microsoft.com/office/drawing/2014/main" id="{F6453076-B298-4C34-9A1D-7506017723A7}"/>
              </a:ext>
            </a:extLst>
          </p:cNvPr>
          <p:cNvPicPr>
            <a:picLocks noChangeAspect="1"/>
          </p:cNvPicPr>
          <p:nvPr/>
        </p:nvPicPr>
        <p:blipFill>
          <a:blip r:embed="rId2"/>
          <a:stretch>
            <a:fillRect/>
          </a:stretch>
        </p:blipFill>
        <p:spPr>
          <a:xfrm>
            <a:off x="1623386" y="3768169"/>
            <a:ext cx="8945223" cy="1771897"/>
          </a:xfrm>
          <a:prstGeom prst="rect">
            <a:avLst/>
          </a:prstGeom>
        </p:spPr>
      </p:pic>
      <p:sp>
        <p:nvSpPr>
          <p:cNvPr id="6" name="投影片編號版面配置區 5">
            <a:extLst>
              <a:ext uri="{FF2B5EF4-FFF2-40B4-BE49-F238E27FC236}">
                <a16:creationId xmlns:a16="http://schemas.microsoft.com/office/drawing/2014/main" id="{1F237D79-C85C-4AAE-81B4-CC8B2AE77EEB}"/>
              </a:ext>
            </a:extLst>
          </p:cNvPr>
          <p:cNvSpPr>
            <a:spLocks noGrp="1"/>
          </p:cNvSpPr>
          <p:nvPr>
            <p:ph type="sldNum" sz="quarter" idx="12"/>
          </p:nvPr>
        </p:nvSpPr>
        <p:spPr/>
        <p:txBody>
          <a:bodyPr/>
          <a:lstStyle/>
          <a:p>
            <a:fld id="{55935506-5D51-4B07-8BDD-18CEF4E05E0A}" type="slidenum">
              <a:rPr lang="zh-TW" altLang="en-US" smtClean="0"/>
              <a:t>9</a:t>
            </a:fld>
            <a:endParaRPr lang="zh-TW" altLang="en-US"/>
          </a:p>
        </p:txBody>
      </p:sp>
    </p:spTree>
    <p:extLst>
      <p:ext uri="{BB962C8B-B14F-4D97-AF65-F5344CB8AC3E}">
        <p14:creationId xmlns:p14="http://schemas.microsoft.com/office/powerpoint/2010/main" val="2963006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262ECDB-A4E5-47E2-8C26-AF188289E6AD}"/>
              </a:ext>
            </a:extLst>
          </p:cNvPr>
          <p:cNvSpPr>
            <a:spLocks noGrp="1"/>
          </p:cNvSpPr>
          <p:nvPr>
            <p:ph idx="1"/>
          </p:nvPr>
        </p:nvSpPr>
        <p:spPr>
          <a:xfrm>
            <a:off x="838199" y="546100"/>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The result is evaluating the required execution time of the presented parallel local alignment using </a:t>
            </a:r>
            <a:r>
              <a:rPr lang="en-US" altLang="zh-TW" sz="2400" b="1" dirty="0">
                <a:latin typeface="Times New Roman" panose="02020603050405020304" pitchFamily="18" charset="0"/>
                <a:cs typeface="Times New Roman" panose="02020603050405020304" pitchFamily="18" charset="0"/>
              </a:rPr>
              <a:t>the optimal sequence distribution strategy</a:t>
            </a:r>
            <a:r>
              <a:rPr lang="en-US" altLang="zh-TW" sz="2400" dirty="0">
                <a:latin typeface="Times New Roman" panose="02020603050405020304" pitchFamily="18" charset="0"/>
                <a:cs typeface="Times New Roman" panose="02020603050405020304" pitchFamily="18" charset="0"/>
              </a:rPr>
              <a:t> and the required execution time of the parallel multi-sequence local alignment algorithm using </a:t>
            </a:r>
            <a:r>
              <a:rPr lang="en-US" altLang="zh-TW" sz="2400" b="1" dirty="0">
                <a:latin typeface="Times New Roman" panose="02020603050405020304" pitchFamily="18" charset="0"/>
                <a:cs typeface="Times New Roman" panose="02020603050405020304" pitchFamily="18" charset="0"/>
              </a:rPr>
              <a:t>the average distribution approach</a:t>
            </a:r>
            <a:r>
              <a:rPr lang="en-US" altLang="zh-TW" sz="2400" dirty="0">
                <a:latin typeface="Times New Roman" panose="02020603050405020304" pitchFamily="18" charset="0"/>
                <a:cs typeface="Times New Roman" panose="02020603050405020304" pitchFamily="18" charset="0"/>
              </a:rPr>
              <a:t> respectively.</a:t>
            </a:r>
          </a:p>
          <a:p>
            <a:r>
              <a:rPr lang="en-US" altLang="zh-TW" sz="2400" dirty="0">
                <a:latin typeface="Times New Roman" panose="02020603050405020304" pitchFamily="18" charset="0"/>
                <a:cs typeface="Times New Roman" panose="02020603050405020304" pitchFamily="18" charset="0"/>
              </a:rPr>
              <a:t>The presented parallel local alignment algorithm using the presented sequence distribution strategy is faster than the one with the average sequence distribution approach.</a:t>
            </a:r>
            <a:endParaRPr lang="zh-TW" altLang="en-US"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635E696F-E43A-4A99-99D0-89DA651DFE45}"/>
              </a:ext>
            </a:extLst>
          </p:cNvPr>
          <p:cNvPicPr>
            <a:picLocks noChangeAspect="1"/>
          </p:cNvPicPr>
          <p:nvPr/>
        </p:nvPicPr>
        <p:blipFill>
          <a:blip r:embed="rId2"/>
          <a:stretch>
            <a:fillRect/>
          </a:stretch>
        </p:blipFill>
        <p:spPr>
          <a:xfrm>
            <a:off x="703790" y="3723176"/>
            <a:ext cx="5705888" cy="2567131"/>
          </a:xfrm>
          <a:prstGeom prst="rect">
            <a:avLst/>
          </a:prstGeom>
        </p:spPr>
      </p:pic>
      <p:sp>
        <p:nvSpPr>
          <p:cNvPr id="5" name="文字方塊 4">
            <a:extLst>
              <a:ext uri="{FF2B5EF4-FFF2-40B4-BE49-F238E27FC236}">
                <a16:creationId xmlns:a16="http://schemas.microsoft.com/office/drawing/2014/main" id="{F602626F-A6A7-44C5-8D2C-E1A9DACE4497}"/>
              </a:ext>
            </a:extLst>
          </p:cNvPr>
          <p:cNvSpPr txBox="1"/>
          <p:nvPr/>
        </p:nvSpPr>
        <p:spPr>
          <a:xfrm>
            <a:off x="6676141" y="4188741"/>
            <a:ext cx="4411194"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#upper line is average distribution approach </a:t>
            </a:r>
            <a:endParaRPr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3CD7717D-040B-4F55-AB43-2C537C426D20}"/>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spTree>
    <p:extLst>
      <p:ext uri="{BB962C8B-B14F-4D97-AF65-F5344CB8AC3E}">
        <p14:creationId xmlns:p14="http://schemas.microsoft.com/office/powerpoint/2010/main" val="617758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A742385-5CF5-431C-AE16-35E667F56064}"/>
              </a:ext>
            </a:extLst>
          </p:cNvPr>
          <p:cNvSpPr>
            <a:spLocks noGrp="1"/>
          </p:cNvSpPr>
          <p:nvPr>
            <p:ph idx="1"/>
          </p:nvPr>
        </p:nvSpPr>
        <p:spPr>
          <a:xfrm>
            <a:off x="838200" y="786937"/>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The result is the required execution time of presented parallel local alignment when the size of the sequence database is 1.5MB, 3.5MB and 5.5MB respectively.</a:t>
            </a:r>
          </a:p>
          <a:p>
            <a:r>
              <a:rPr lang="en-US" altLang="zh-TW" sz="2400" dirty="0">
                <a:latin typeface="Times New Roman" panose="02020603050405020304" pitchFamily="18" charset="0"/>
                <a:cs typeface="Times New Roman" panose="02020603050405020304" pitchFamily="18" charset="0"/>
              </a:rPr>
              <a:t>For fixed query sequence and different size of sequence database, the required execution time of the presented parallel local alignment is significantly reduced when the number of used nodes is increased.</a:t>
            </a:r>
            <a:endParaRPr lang="zh-TW" altLang="en-US"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5494C24-CD75-46F9-AF9A-EE0E6E272D77}"/>
              </a:ext>
            </a:extLst>
          </p:cNvPr>
          <p:cNvPicPr>
            <a:picLocks noChangeAspect="1"/>
          </p:cNvPicPr>
          <p:nvPr/>
        </p:nvPicPr>
        <p:blipFill>
          <a:blip r:embed="rId2"/>
          <a:stretch>
            <a:fillRect/>
          </a:stretch>
        </p:blipFill>
        <p:spPr>
          <a:xfrm>
            <a:off x="524598" y="3623704"/>
            <a:ext cx="5896211" cy="2714951"/>
          </a:xfrm>
          <a:prstGeom prst="rect">
            <a:avLst/>
          </a:prstGeom>
        </p:spPr>
      </p:pic>
      <p:sp>
        <p:nvSpPr>
          <p:cNvPr id="5" name="文字方塊 4">
            <a:extLst>
              <a:ext uri="{FF2B5EF4-FFF2-40B4-BE49-F238E27FC236}">
                <a16:creationId xmlns:a16="http://schemas.microsoft.com/office/drawing/2014/main" id="{D06F7045-E72B-425E-9080-9EC67B739059}"/>
              </a:ext>
            </a:extLst>
          </p:cNvPr>
          <p:cNvSpPr txBox="1"/>
          <p:nvPr/>
        </p:nvSpPr>
        <p:spPr>
          <a:xfrm>
            <a:off x="6826928" y="4918229"/>
            <a:ext cx="5140171" cy="369332"/>
          </a:xfrm>
          <a:prstGeom prst="rect">
            <a:avLst/>
          </a:prstGeom>
          <a:noFill/>
        </p:spPr>
        <p:txBody>
          <a:bodyPr wrap="square" rtlCol="0">
            <a:spAutoFit/>
          </a:bodyPr>
          <a:lstStyle/>
          <a:p>
            <a:r>
              <a:rPr lang="en-US" altLang="zh-TW" dirty="0"/>
              <a:t>#from top to down is 5.5MB,3.5MB,1.5MB</a:t>
            </a:r>
            <a:endParaRPr lang="zh-TW" altLang="en-US" dirty="0"/>
          </a:p>
        </p:txBody>
      </p:sp>
      <p:sp>
        <p:nvSpPr>
          <p:cNvPr id="6" name="投影片編號版面配置區 5">
            <a:extLst>
              <a:ext uri="{FF2B5EF4-FFF2-40B4-BE49-F238E27FC236}">
                <a16:creationId xmlns:a16="http://schemas.microsoft.com/office/drawing/2014/main" id="{83E77DB2-7E0E-4D81-AC85-A2BA5E08B328}"/>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spTree>
    <p:extLst>
      <p:ext uri="{BB962C8B-B14F-4D97-AF65-F5344CB8AC3E}">
        <p14:creationId xmlns:p14="http://schemas.microsoft.com/office/powerpoint/2010/main" val="3432075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052C116F-719F-4D6A-BFA5-B9ED4B6A3A56}"/>
              </a:ext>
            </a:extLst>
          </p:cNvPr>
          <p:cNvPicPr>
            <a:picLocks noChangeAspect="1"/>
          </p:cNvPicPr>
          <p:nvPr/>
        </p:nvPicPr>
        <p:blipFill>
          <a:blip r:embed="rId2"/>
          <a:stretch>
            <a:fillRect/>
          </a:stretch>
        </p:blipFill>
        <p:spPr>
          <a:xfrm>
            <a:off x="504248" y="4020983"/>
            <a:ext cx="6056350" cy="2726943"/>
          </a:xfrm>
          <a:prstGeom prst="rect">
            <a:avLst/>
          </a:prstGeom>
        </p:spPr>
      </p:pic>
      <p:sp>
        <p:nvSpPr>
          <p:cNvPr id="3" name="內容版面配置區 2">
            <a:extLst>
              <a:ext uri="{FF2B5EF4-FFF2-40B4-BE49-F238E27FC236}">
                <a16:creationId xmlns:a16="http://schemas.microsoft.com/office/drawing/2014/main" id="{F345BE98-BF58-45E5-86B1-CCBF832AA8A0}"/>
              </a:ext>
            </a:extLst>
          </p:cNvPr>
          <p:cNvSpPr>
            <a:spLocks noGrp="1"/>
          </p:cNvSpPr>
          <p:nvPr>
            <p:ph idx="1"/>
          </p:nvPr>
        </p:nvSpPr>
        <p:spPr>
          <a:xfrm>
            <a:off x="838200" y="387443"/>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The result is the speedup of presented parallel local alignment with the increase of used computing nodes when the size of the sequence database is 1.5MB, 3.5MB and 5.5MB respectively.</a:t>
            </a:r>
          </a:p>
          <a:p>
            <a:r>
              <a:rPr lang="en-US" altLang="zh-TW" sz="2400" dirty="0">
                <a:latin typeface="Times New Roman" panose="02020603050405020304" pitchFamily="18" charset="0"/>
                <a:cs typeface="Times New Roman" panose="02020603050405020304" pitchFamily="18" charset="0"/>
              </a:rPr>
              <a:t>For fixed query sequence and different size of sequence database, the speedup of the presented parallel algorithm is getting higher when the used computing nodes are increasing.</a:t>
            </a:r>
          </a:p>
          <a:p>
            <a:r>
              <a:rPr lang="en-US" altLang="zh-TW" sz="2400" dirty="0">
                <a:latin typeface="Times New Roman" panose="02020603050405020304" pitchFamily="18" charset="0"/>
                <a:cs typeface="Times New Roman" panose="02020603050405020304" pitchFamily="18" charset="0"/>
              </a:rPr>
              <a:t>The larger the size of sequence database is, the higher speedup meaning that the parallel local alignment algorithm using the presented sequence distribution strategy can be efficiently applied to the </a:t>
            </a:r>
            <a:r>
              <a:rPr lang="en-US" altLang="zh-TW" sz="2400" b="1" dirty="0">
                <a:latin typeface="Times New Roman" panose="02020603050405020304" pitchFamily="18" charset="0"/>
                <a:cs typeface="Times New Roman" panose="02020603050405020304" pitchFamily="18" charset="0"/>
              </a:rPr>
              <a:t>largescale applications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B1686C45-B9DF-46DE-8A5B-8074C062FFF2}"/>
              </a:ext>
            </a:extLst>
          </p:cNvPr>
          <p:cNvSpPr>
            <a:spLocks noGrp="1"/>
          </p:cNvSpPr>
          <p:nvPr>
            <p:ph type="sldNum" sz="quarter" idx="12"/>
          </p:nvPr>
        </p:nvSpPr>
        <p:spPr/>
        <p:txBody>
          <a:bodyPr/>
          <a:lstStyle/>
          <a:p>
            <a:fld id="{55935506-5D51-4B07-8BDD-18CEF4E05E0A}" type="slidenum">
              <a:rPr lang="zh-TW" altLang="en-US" smtClean="0"/>
              <a:t>12</a:t>
            </a:fld>
            <a:endParaRPr lang="zh-TW" altLang="en-US"/>
          </a:p>
        </p:txBody>
      </p:sp>
    </p:spTree>
    <p:extLst>
      <p:ext uri="{BB962C8B-B14F-4D97-AF65-F5344CB8AC3E}">
        <p14:creationId xmlns:p14="http://schemas.microsoft.com/office/powerpoint/2010/main" val="4154316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7AA1923-A5DA-42BA-9911-7DCCD5C899D7}"/>
              </a:ext>
            </a:extLst>
          </p:cNvPr>
          <p:cNvSpPr>
            <a:spLocks noGrp="1"/>
          </p:cNvSpPr>
          <p:nvPr>
            <p:ph idx="1"/>
          </p:nvPr>
        </p:nvSpPr>
        <p:spPr>
          <a:xfrm>
            <a:off x="838200" y="1071023"/>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The scalability of parallel algorithms is one of the important issues in parallel computing discipline.</a:t>
            </a:r>
          </a:p>
          <a:p>
            <a:r>
              <a:rPr lang="en-US" altLang="zh-TW" sz="2400" dirty="0">
                <a:latin typeface="Times New Roman" panose="02020603050405020304" pitchFamily="18" charset="0"/>
                <a:cs typeface="Times New Roman" panose="02020603050405020304" pitchFamily="18" charset="0"/>
              </a:rPr>
              <a:t>f denote the proportion of the sequential execution time</a:t>
            </a:r>
          </a:p>
          <a:p>
            <a:r>
              <a:rPr lang="en-US" altLang="zh-TW" sz="2400" dirty="0">
                <a:latin typeface="Times New Roman" panose="02020603050405020304" pitchFamily="18" charset="0"/>
                <a:cs typeface="Times New Roman" panose="02020603050405020304" pitchFamily="18" charset="0"/>
              </a:rPr>
              <a:t>m denote the number of processor</a:t>
            </a:r>
          </a:p>
          <a:p>
            <a:r>
              <a:rPr lang="en-US" altLang="zh-TW" sz="2400" dirty="0">
                <a:latin typeface="Times New Roman" panose="02020603050405020304" pitchFamily="18" charset="0"/>
                <a:cs typeface="Times New Roman" panose="02020603050405020304" pitchFamily="18" charset="0"/>
              </a:rPr>
              <a:t>With increase of amount m of computing nodes, the value of ratio f is decreasing. Therefore, the presented parallel local alignment algorithm for multiple sequences on the heterogeneous cluster achieves good </a:t>
            </a:r>
            <a:r>
              <a:rPr lang="en-US" altLang="zh-TW" sz="2400" b="1" dirty="0">
                <a:latin typeface="Times New Roman" panose="02020603050405020304" pitchFamily="18" charset="0"/>
                <a:cs typeface="Times New Roman" panose="02020603050405020304" pitchFamily="18" charset="0"/>
              </a:rPr>
              <a:t>scalability</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2068FF2F-B712-486B-963A-C8E27805EFF7}"/>
              </a:ext>
            </a:extLst>
          </p:cNvPr>
          <p:cNvPicPr>
            <a:picLocks noChangeAspect="1"/>
          </p:cNvPicPr>
          <p:nvPr/>
        </p:nvPicPr>
        <p:blipFill>
          <a:blip r:embed="rId2"/>
          <a:stretch>
            <a:fillRect/>
          </a:stretch>
        </p:blipFill>
        <p:spPr>
          <a:xfrm>
            <a:off x="1561467" y="4157489"/>
            <a:ext cx="9069066" cy="1810003"/>
          </a:xfrm>
          <a:prstGeom prst="rect">
            <a:avLst/>
          </a:prstGeom>
        </p:spPr>
      </p:pic>
      <p:sp>
        <p:nvSpPr>
          <p:cNvPr id="7" name="投影片編號版面配置區 6">
            <a:extLst>
              <a:ext uri="{FF2B5EF4-FFF2-40B4-BE49-F238E27FC236}">
                <a16:creationId xmlns:a16="http://schemas.microsoft.com/office/drawing/2014/main" id="{2A41D462-90B7-4B0F-B806-72F5C338AEA2}"/>
              </a:ext>
            </a:extLst>
          </p:cNvPr>
          <p:cNvSpPr>
            <a:spLocks noGrp="1"/>
          </p:cNvSpPr>
          <p:nvPr>
            <p:ph type="sldNum" sz="quarter" idx="12"/>
          </p:nvPr>
        </p:nvSpPr>
        <p:spPr/>
        <p:txBody>
          <a:bodyPr/>
          <a:lstStyle/>
          <a:p>
            <a:fld id="{55935506-5D51-4B07-8BDD-18CEF4E05E0A}" type="slidenum">
              <a:rPr lang="zh-TW" altLang="en-US" smtClean="0"/>
              <a:t>13</a:t>
            </a:fld>
            <a:endParaRPr lang="zh-TW" altLang="en-US"/>
          </a:p>
        </p:txBody>
      </p:sp>
    </p:spTree>
    <p:extLst>
      <p:ext uri="{BB962C8B-B14F-4D97-AF65-F5344CB8AC3E}">
        <p14:creationId xmlns:p14="http://schemas.microsoft.com/office/powerpoint/2010/main" val="2223561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 analysis and experimental results show that the presented parallel local alignment algorithm for multiple sequences obtains good speedup and scalability, and it can be efficiently applied to the large-scale applications.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87283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TotalTime>
  <Words>1046</Words>
  <Application>Microsoft Office PowerPoint</Application>
  <PresentationFormat>寬螢幕</PresentationFormat>
  <Paragraphs>70</Paragraphs>
  <Slides>14</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新細明體</vt:lpstr>
      <vt:lpstr>Arial</vt:lpstr>
      <vt:lpstr>Calibri</vt:lpstr>
      <vt:lpstr>Calibri Light</vt:lpstr>
      <vt:lpstr>Times New Roman</vt:lpstr>
      <vt:lpstr>Office 佈景主題</vt:lpstr>
      <vt:lpstr>Parallel Local Alignment Algorithm for Multiple Sequences on Heterogeneous Cluster Systems</vt:lpstr>
      <vt:lpstr>Abstract</vt:lpstr>
      <vt:lpstr>Basic concept of Bioinformatics</vt:lpstr>
      <vt:lpstr>BLAST(1)</vt:lpstr>
      <vt:lpstr>BLAST(2)</vt:lpstr>
      <vt:lpstr>BLAST(3)</vt:lpstr>
      <vt:lpstr>Sequences Distribution Strategy</vt:lpstr>
      <vt:lpstr>PowerPoint 簡報</vt:lpstr>
      <vt:lpstr>Experiments </vt:lpstr>
      <vt:lpstr>PowerPoint 簡報</vt:lpstr>
      <vt:lpstr>PowerPoint 簡報</vt:lpstr>
      <vt:lpstr>PowerPoint 簡報</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師老爸</cp:lastModifiedBy>
  <cp:revision>21</cp:revision>
  <dcterms:created xsi:type="dcterms:W3CDTF">2022-11-14T21:21:39Z</dcterms:created>
  <dcterms:modified xsi:type="dcterms:W3CDTF">2022-11-15T10:24:07Z</dcterms:modified>
</cp:coreProperties>
</file>