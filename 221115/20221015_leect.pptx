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63" r:id="rId2"/>
    <p:sldId id="257" r:id="rId3"/>
    <p:sldId id="291" r:id="rId4"/>
    <p:sldId id="260" r:id="rId5"/>
    <p:sldId id="292" r:id="rId6"/>
    <p:sldId id="305" r:id="rId7"/>
    <p:sldId id="306" r:id="rId8"/>
    <p:sldId id="307" r:id="rId9"/>
    <p:sldId id="308" r:id="rId10"/>
    <p:sldId id="310" r:id="rId11"/>
    <p:sldId id="309" r:id="rId12"/>
    <p:sldId id="312" r:id="rId13"/>
    <p:sldId id="311" r:id="rId14"/>
    <p:sldId id="314" r:id="rId15"/>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9093" autoAdjust="0"/>
  </p:normalViewPr>
  <p:slideViewPr>
    <p:cSldViewPr>
      <p:cViewPr varScale="1">
        <p:scale>
          <a:sx n="67" d="100"/>
          <a:sy n="67" d="100"/>
        </p:scale>
        <p:origin x="1891" y="67"/>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8C2939-B1A7-4514-8535-C0FA2719FDF5}" type="datetimeFigureOut">
              <a:rPr lang="zh-TW" altLang="en-US" smtClean="0"/>
              <a:pPr/>
              <a:t>2022/11/15</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05C87CB-DD22-4F6F-BC7E-D0042601E3D6}"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1</a:t>
            </a:fld>
            <a:endParaRPr lang="zh-TW" altLang="en-US"/>
          </a:p>
        </p:txBody>
      </p:sp>
    </p:spTree>
    <p:extLst>
      <p:ext uri="{BB962C8B-B14F-4D97-AF65-F5344CB8AC3E}">
        <p14:creationId xmlns:p14="http://schemas.microsoft.com/office/powerpoint/2010/main" val="2615635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2</a:t>
            </a:fld>
            <a:endParaRPr lang="zh-TW" altLang="en-US"/>
          </a:p>
        </p:txBody>
      </p:sp>
    </p:spTree>
    <p:extLst>
      <p:ext uri="{BB962C8B-B14F-4D97-AF65-F5344CB8AC3E}">
        <p14:creationId xmlns:p14="http://schemas.microsoft.com/office/powerpoint/2010/main" val="36829702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1" i="0" dirty="0">
                <a:solidFill>
                  <a:srgbClr val="993300"/>
                </a:solidFill>
                <a:effectLst/>
                <a:latin typeface="inherit"/>
              </a:rPr>
              <a:t>Squared</a:t>
            </a:r>
          </a:p>
          <a:p>
            <a:r>
              <a:rPr lang="en-US" altLang="zh-TW" b="1" i="0" dirty="0">
                <a:solidFill>
                  <a:srgbClr val="993300"/>
                </a:solidFill>
                <a:effectLst/>
                <a:latin typeface="inherit"/>
              </a:rPr>
              <a:t>cubed</a:t>
            </a:r>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3</a:t>
            </a:fld>
            <a:endParaRPr lang="zh-TW" altLang="en-US"/>
          </a:p>
        </p:txBody>
      </p:sp>
    </p:spTree>
    <p:extLst>
      <p:ext uri="{BB962C8B-B14F-4D97-AF65-F5344CB8AC3E}">
        <p14:creationId xmlns:p14="http://schemas.microsoft.com/office/powerpoint/2010/main" val="21611014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5</a:t>
            </a:fld>
            <a:endParaRPr lang="zh-TW" altLang="en-US"/>
          </a:p>
        </p:txBody>
      </p:sp>
    </p:spTree>
    <p:extLst>
      <p:ext uri="{BB962C8B-B14F-4D97-AF65-F5344CB8AC3E}">
        <p14:creationId xmlns:p14="http://schemas.microsoft.com/office/powerpoint/2010/main" val="14876799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S1</a:t>
            </a:r>
            <a:r>
              <a:rPr lang="zh-TW" altLang="en-US" dirty="0"/>
              <a:t>拿掉前面</a:t>
            </a:r>
            <a:r>
              <a:rPr lang="en-US" altLang="zh-TW" dirty="0"/>
              <a:t>0</a:t>
            </a:r>
            <a:r>
              <a:rPr lang="zh-TW" altLang="en-US" dirty="0"/>
              <a:t>個字元</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S1</a:t>
            </a:r>
            <a:r>
              <a:rPr lang="zh-TW" altLang="en-US" dirty="0"/>
              <a:t>拿掉前面</a:t>
            </a:r>
            <a:r>
              <a:rPr lang="en-US" altLang="zh-TW" dirty="0"/>
              <a:t>1</a:t>
            </a:r>
            <a:r>
              <a:rPr lang="zh-TW" altLang="en-US" dirty="0"/>
              <a:t>個字元</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S1</a:t>
            </a:r>
            <a:r>
              <a:rPr lang="zh-TW" altLang="en-US" dirty="0"/>
              <a:t>拿掉前面</a:t>
            </a:r>
            <a:r>
              <a:rPr lang="en-US" altLang="zh-TW" dirty="0"/>
              <a:t>2</a:t>
            </a:r>
            <a:r>
              <a:rPr lang="zh-TW" altLang="en-US" dirty="0"/>
              <a:t>個字元</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S1</a:t>
            </a:r>
            <a:r>
              <a:rPr lang="zh-TW" altLang="en-US" dirty="0"/>
              <a:t>拿掉前面</a:t>
            </a:r>
            <a:r>
              <a:rPr lang="en-US" altLang="zh-TW" dirty="0"/>
              <a:t>3</a:t>
            </a:r>
            <a:r>
              <a:rPr lang="zh-TW" altLang="en-US" dirty="0"/>
              <a:t>個字元</a:t>
            </a:r>
            <a:endParaRPr lang="en-US" altLang="zh-TW" dirty="0"/>
          </a:p>
          <a:p>
            <a:endParaRPr lang="en-US" altLang="zh-TW"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11</a:t>
            </a:fld>
            <a:endParaRPr lang="zh-TW" altLang="en-US"/>
          </a:p>
        </p:txBody>
      </p:sp>
    </p:spTree>
    <p:extLst>
      <p:ext uri="{BB962C8B-B14F-4D97-AF65-F5344CB8AC3E}">
        <p14:creationId xmlns:p14="http://schemas.microsoft.com/office/powerpoint/2010/main" val="22743692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枚舉後面接</a:t>
            </a:r>
            <a:r>
              <a:rPr lang="en-US" altLang="zh-TW" dirty="0"/>
              <a:t>s1,s2,s3</a:t>
            </a:r>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13</a:t>
            </a:fld>
            <a:endParaRPr lang="zh-TW" altLang="en-US"/>
          </a:p>
        </p:txBody>
      </p:sp>
    </p:spTree>
    <p:extLst>
      <p:ext uri="{BB962C8B-B14F-4D97-AF65-F5344CB8AC3E}">
        <p14:creationId xmlns:p14="http://schemas.microsoft.com/office/powerpoint/2010/main" val="42075366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2022/11/15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2022/11/15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2022/11/15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BA57A5FF-B09D-4861-A15A-3127FCDEB20B}" type="datetimeFigureOut">
              <a:rPr lang="zh-TW" altLang="en-US" smtClean="0"/>
              <a:pPr/>
              <a:t>2022/11/15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BA57A5FF-B09D-4861-A15A-3127FCDEB20B}" type="datetimeFigureOut">
              <a:rPr lang="zh-TW" altLang="en-US" smtClean="0"/>
              <a:pPr/>
              <a:t>2022/11/15</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BA57A5FF-B09D-4861-A15A-3127FCDEB20B}" type="datetimeFigureOut">
              <a:rPr lang="zh-TW" altLang="en-US" smtClean="0"/>
              <a:pPr/>
              <a:t>2022/11/15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BA57A5FF-B09D-4861-A15A-3127FCDEB20B}" type="datetimeFigureOut">
              <a:rPr lang="zh-TW" altLang="en-US" smtClean="0"/>
              <a:pPr/>
              <a:t>2022/11/15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BA57A5FF-B09D-4861-A15A-3127FCDEB20B}" type="datetimeFigureOut">
              <a:rPr lang="zh-TW" altLang="en-US" smtClean="0"/>
              <a:pPr/>
              <a:t>2022/11/15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BA57A5FF-B09D-4861-A15A-3127FCDEB20B}" type="datetimeFigureOut">
              <a:rPr lang="zh-TW" altLang="en-US" smtClean="0"/>
              <a:pPr/>
              <a:t>2022/11/15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2022/11/15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2022/11/15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57A5FF-B09D-4861-A15A-3127FCDEB20B}" type="datetimeFigureOut">
              <a:rPr lang="zh-TW" altLang="en-US" smtClean="0"/>
              <a:pPr/>
              <a:t>2022/11/15</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2DDFCA-1BA1-4113-A59F-BE40A323E13E}"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70.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6C020BB-2F3A-40BC-8D8D-94312CEA4980}"/>
              </a:ext>
            </a:extLst>
          </p:cNvPr>
          <p:cNvSpPr>
            <a:spLocks noGrp="1"/>
          </p:cNvSpPr>
          <p:nvPr>
            <p:ph type="ctrTitle"/>
          </p:nvPr>
        </p:nvSpPr>
        <p:spPr>
          <a:xfrm>
            <a:off x="364920" y="672353"/>
            <a:ext cx="8625823" cy="2837610"/>
          </a:xfrm>
        </p:spPr>
        <p:txBody>
          <a:bodyPr anchor="t">
            <a:noAutofit/>
          </a:bodyPr>
          <a:lstStyle/>
          <a:p>
            <a:r>
              <a:rPr lang="en-US" altLang="zh-TW" dirty="0">
                <a:latin typeface="Times New Roman" panose="02020603050405020304" pitchFamily="18" charset="0"/>
                <a:cs typeface="Times New Roman" panose="02020603050405020304" pitchFamily="18" charset="0"/>
              </a:rPr>
              <a:t>Dynamic Programming Algorithms for The Mosaic Longest Common Subsequence Problem</a:t>
            </a:r>
            <a:br>
              <a:rPr lang="zh-TW" altLang="en-US" sz="4400" dirty="0">
                <a:latin typeface="Times New Roman" panose="02020603050405020304" pitchFamily="18" charset="0"/>
                <a:ea typeface="Arial Unicode MS" pitchFamily="34" charset="-120"/>
                <a:cs typeface="Times New Roman" panose="02020603050405020304" pitchFamily="18" charset="0"/>
              </a:rPr>
            </a:br>
            <a:endParaRPr lang="zh-TW" altLang="en-US" dirty="0"/>
          </a:p>
        </p:txBody>
      </p:sp>
      <p:sp>
        <p:nvSpPr>
          <p:cNvPr id="9" name="文字方塊 8">
            <a:extLst>
              <a:ext uri="{FF2B5EF4-FFF2-40B4-BE49-F238E27FC236}">
                <a16:creationId xmlns:a16="http://schemas.microsoft.com/office/drawing/2014/main" id="{B9014221-E47C-4C31-898A-DB1330B1B844}"/>
              </a:ext>
            </a:extLst>
          </p:cNvPr>
          <p:cNvSpPr txBox="1"/>
          <p:nvPr/>
        </p:nvSpPr>
        <p:spPr>
          <a:xfrm>
            <a:off x="6084168" y="5862481"/>
            <a:ext cx="2775670" cy="646331"/>
          </a:xfrm>
          <a:prstGeom prst="rect">
            <a:avLst/>
          </a:prstGeom>
          <a:noFill/>
        </p:spPr>
        <p:txBody>
          <a:bodyPr wrap="square">
            <a:spAutoFit/>
          </a:bodyPr>
          <a:lstStyle/>
          <a:p>
            <a:r>
              <a:rPr lang="en-US" altLang="zh-TW" dirty="0"/>
              <a:t>Presenter: </a:t>
            </a:r>
            <a:r>
              <a:rPr lang="en-US" altLang="zh-TW" dirty="0" err="1"/>
              <a:t>Chien</a:t>
            </a:r>
            <a:r>
              <a:rPr lang="en-US" altLang="zh-TW" dirty="0"/>
              <a:t>-Ting Lee</a:t>
            </a:r>
          </a:p>
          <a:p>
            <a:pPr marR="0" lvl="0" indent="0" fontAlgn="auto">
              <a:lnSpc>
                <a:spcPct val="100000"/>
              </a:lnSpc>
              <a:spcBef>
                <a:spcPts val="0"/>
              </a:spcBef>
              <a:spcAft>
                <a:spcPts val="0"/>
              </a:spcAft>
              <a:buClrTx/>
              <a:buSzTx/>
              <a:buFontTx/>
              <a:buNone/>
              <a:tabLst/>
              <a:defRPr/>
            </a:pPr>
            <a:r>
              <a:rPr lang="x-none" altLang="zh-TW" dirty="0"/>
              <a:t>Date:</a:t>
            </a:r>
            <a:r>
              <a:rPr lang="zh-TW" altLang="en-US" dirty="0"/>
              <a:t> </a:t>
            </a:r>
            <a:r>
              <a:rPr lang="en-US" altLang="zh-TW" dirty="0"/>
              <a:t>Nov</a:t>
            </a:r>
            <a:r>
              <a:rPr lang="x-none" altLang="zh-TW" dirty="0"/>
              <a:t>. </a:t>
            </a:r>
            <a:r>
              <a:rPr lang="en-US" altLang="zh-TW" dirty="0"/>
              <a:t>15</a:t>
            </a:r>
            <a:r>
              <a:rPr lang="x-none" altLang="zh-TW" dirty="0"/>
              <a:t>, 202</a:t>
            </a:r>
            <a:r>
              <a:rPr lang="en-US" altLang="zh-TW" dirty="0"/>
              <a:t>2</a:t>
            </a:r>
            <a:endParaRPr lang="x-none" altLang="zh-TW" dirty="0"/>
          </a:p>
        </p:txBody>
      </p:sp>
      <p:sp>
        <p:nvSpPr>
          <p:cNvPr id="4" name="副標題 2">
            <a:extLst>
              <a:ext uri="{FF2B5EF4-FFF2-40B4-BE49-F238E27FC236}">
                <a16:creationId xmlns:a16="http://schemas.microsoft.com/office/drawing/2014/main" id="{C2097824-8D05-480F-BF6D-DD8BBC3EFED6}"/>
              </a:ext>
            </a:extLst>
          </p:cNvPr>
          <p:cNvSpPr>
            <a:spLocks noGrp="1"/>
          </p:cNvSpPr>
          <p:nvPr>
            <p:ph type="subTitle" idx="1"/>
          </p:nvPr>
        </p:nvSpPr>
        <p:spPr>
          <a:xfrm>
            <a:off x="8760" y="3509962"/>
            <a:ext cx="9144000" cy="2133615"/>
          </a:xfrm>
        </p:spPr>
        <p:txBody>
          <a:bodyPr>
            <a:normAutofit/>
          </a:bodyPr>
          <a:lstStyle/>
          <a:p>
            <a:r>
              <a:rPr lang="en-US" altLang="zh-TW" sz="2400" dirty="0" err="1">
                <a:solidFill>
                  <a:schemeClr val="tx1"/>
                </a:solidFill>
                <a:latin typeface="Times New Roman" panose="02020603050405020304" pitchFamily="18" charset="0"/>
                <a:cs typeface="Times New Roman" panose="02020603050405020304" pitchFamily="18" charset="0"/>
              </a:rPr>
              <a:t>Kuo</a:t>
            </a:r>
            <a:r>
              <a:rPr lang="en-US" altLang="zh-TW" sz="2400" dirty="0">
                <a:solidFill>
                  <a:schemeClr val="tx1"/>
                </a:solidFill>
                <a:latin typeface="Times New Roman" panose="02020603050405020304" pitchFamily="18" charset="0"/>
                <a:cs typeface="Times New Roman" panose="02020603050405020304" pitchFamily="18" charset="0"/>
              </a:rPr>
              <a:t>-Si Huang, Chang-</a:t>
            </a:r>
            <a:r>
              <a:rPr lang="en-US" altLang="zh-TW" sz="2400" dirty="0" err="1">
                <a:solidFill>
                  <a:schemeClr val="tx1"/>
                </a:solidFill>
                <a:latin typeface="Times New Roman" panose="02020603050405020304" pitchFamily="18" charset="0"/>
                <a:cs typeface="Times New Roman" panose="02020603050405020304" pitchFamily="18" charset="0"/>
              </a:rPr>
              <a:t>Biau</a:t>
            </a:r>
            <a:r>
              <a:rPr lang="en-US" altLang="zh-TW" sz="2400" dirty="0">
                <a:solidFill>
                  <a:schemeClr val="tx1"/>
                </a:solidFill>
                <a:latin typeface="Times New Roman" panose="02020603050405020304" pitchFamily="18" charset="0"/>
                <a:cs typeface="Times New Roman" panose="02020603050405020304" pitchFamily="18" charset="0"/>
              </a:rPr>
              <a:t> Yang, </a:t>
            </a:r>
            <a:r>
              <a:rPr lang="en-US" altLang="zh-TW" sz="2400" dirty="0" err="1">
                <a:solidFill>
                  <a:schemeClr val="tx1"/>
                </a:solidFill>
                <a:latin typeface="Times New Roman" panose="02020603050405020304" pitchFamily="18" charset="0"/>
                <a:cs typeface="Times New Roman" panose="02020603050405020304" pitchFamily="18" charset="0"/>
              </a:rPr>
              <a:t>Kuo</a:t>
            </a:r>
            <a:r>
              <a:rPr lang="en-US" altLang="zh-TW" sz="2400" dirty="0">
                <a:solidFill>
                  <a:schemeClr val="tx1"/>
                </a:solidFill>
                <a:latin typeface="Times New Roman" panose="02020603050405020304" pitchFamily="18" charset="0"/>
                <a:cs typeface="Times New Roman" panose="02020603050405020304" pitchFamily="18" charset="0"/>
              </a:rPr>
              <a:t>-Tsung Tseng, </a:t>
            </a:r>
          </a:p>
          <a:p>
            <a:r>
              <a:rPr lang="en-US" altLang="zh-TW" sz="2400" dirty="0">
                <a:solidFill>
                  <a:schemeClr val="tx1"/>
                </a:solidFill>
                <a:latin typeface="Times New Roman" panose="02020603050405020304" pitchFamily="18" charset="0"/>
                <a:cs typeface="Times New Roman" panose="02020603050405020304" pitchFamily="18" charset="0"/>
              </a:rPr>
              <a:t>Yung-</a:t>
            </a:r>
            <a:r>
              <a:rPr lang="en-US" altLang="zh-TW" sz="2400" dirty="0" err="1">
                <a:solidFill>
                  <a:schemeClr val="tx1"/>
                </a:solidFill>
                <a:latin typeface="Times New Roman" panose="02020603050405020304" pitchFamily="18" charset="0"/>
                <a:cs typeface="Times New Roman" panose="02020603050405020304" pitchFamily="18" charset="0"/>
              </a:rPr>
              <a:t>Hsing</a:t>
            </a:r>
            <a:r>
              <a:rPr lang="en-US" altLang="zh-TW" sz="2400" dirty="0">
                <a:solidFill>
                  <a:schemeClr val="tx1"/>
                </a:solidFill>
                <a:latin typeface="Times New Roman" panose="02020603050405020304" pitchFamily="18" charset="0"/>
                <a:cs typeface="Times New Roman" panose="02020603050405020304" pitchFamily="18" charset="0"/>
              </a:rPr>
              <a:t> Peng, </a:t>
            </a:r>
            <a:r>
              <a:rPr lang="en-US" altLang="zh-TW" sz="2400" dirty="0" err="1">
                <a:solidFill>
                  <a:schemeClr val="tx1"/>
                </a:solidFill>
                <a:latin typeface="Times New Roman" panose="02020603050405020304" pitchFamily="18" charset="0"/>
                <a:cs typeface="Times New Roman" panose="02020603050405020304" pitchFamily="18" charset="0"/>
              </a:rPr>
              <a:t>Hsing</a:t>
            </a:r>
            <a:r>
              <a:rPr lang="en-US" altLang="zh-TW" sz="2400" dirty="0">
                <a:solidFill>
                  <a:schemeClr val="tx1"/>
                </a:solidFill>
                <a:latin typeface="Times New Roman" panose="02020603050405020304" pitchFamily="18" charset="0"/>
                <a:cs typeface="Times New Roman" panose="02020603050405020304" pitchFamily="18" charset="0"/>
              </a:rPr>
              <a:t>-Yen Ann</a:t>
            </a:r>
          </a:p>
          <a:p>
            <a:r>
              <a:rPr lang="en-US" altLang="zh-TW" sz="2400" dirty="0">
                <a:solidFill>
                  <a:schemeClr val="tx1"/>
                </a:solidFill>
                <a:latin typeface="Times New Roman" panose="02020603050405020304" pitchFamily="18" charset="0"/>
                <a:cs typeface="Times New Roman" panose="02020603050405020304" pitchFamily="18" charset="0"/>
              </a:rPr>
              <a:t>Information Processing Letters</a:t>
            </a:r>
            <a:r>
              <a:rPr lang="zh-TW" altLang="en-US" sz="2400" dirty="0">
                <a:solidFill>
                  <a:schemeClr val="tx1"/>
                </a:solidFill>
                <a:latin typeface="Times New Roman" panose="02020603050405020304" pitchFamily="18" charset="0"/>
                <a:cs typeface="Times New Roman" panose="02020603050405020304" pitchFamily="18" charset="0"/>
              </a:rPr>
              <a:t> </a:t>
            </a:r>
            <a:endParaRPr lang="en-US" altLang="zh-TW" sz="2400" dirty="0">
              <a:solidFill>
                <a:schemeClr val="tx1"/>
              </a:solidFill>
              <a:latin typeface="Times New Roman" panose="02020603050405020304" pitchFamily="18" charset="0"/>
              <a:cs typeface="Times New Roman" panose="02020603050405020304" pitchFamily="18" charset="0"/>
            </a:endParaRPr>
          </a:p>
          <a:p>
            <a:r>
              <a:rPr lang="en-US" altLang="zh-TW" sz="2400" dirty="0">
                <a:solidFill>
                  <a:schemeClr val="tx1"/>
                </a:solidFill>
                <a:latin typeface="Times New Roman" panose="02020603050405020304" pitchFamily="18" charset="0"/>
                <a:cs typeface="Times New Roman" panose="02020603050405020304" pitchFamily="18" charset="0"/>
              </a:rPr>
              <a:t>Volume 102,Issue 2-3,April 2007 pp 99–103</a:t>
            </a:r>
          </a:p>
          <a:p>
            <a:pPr>
              <a:lnSpc>
                <a:spcPct val="110000"/>
              </a:lnSpc>
              <a:spcBef>
                <a:spcPts val="1000"/>
              </a:spcBef>
            </a:pPr>
            <a:endParaRPr lang="en-US" altLang="zh-TW" sz="2400" dirty="0">
              <a:solidFill>
                <a:schemeClr val="tx1"/>
              </a:solidFill>
            </a:endParaRPr>
          </a:p>
          <a:p>
            <a:pPr>
              <a:lnSpc>
                <a:spcPct val="110000"/>
              </a:lnSpc>
              <a:spcBef>
                <a:spcPts val="1000"/>
              </a:spcBef>
            </a:pPr>
            <a:endParaRPr lang="en-US" altLang="zh-TW" sz="2400" dirty="0">
              <a:solidFill>
                <a:schemeClr val="tx1"/>
              </a:solidFill>
            </a:endParaRPr>
          </a:p>
        </p:txBody>
      </p:sp>
    </p:spTree>
    <p:extLst>
      <p:ext uri="{BB962C8B-B14F-4D97-AF65-F5344CB8AC3E}">
        <p14:creationId xmlns:p14="http://schemas.microsoft.com/office/powerpoint/2010/main" val="149436323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Abstract(1/2)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457200" y="1196752"/>
            <a:ext cx="8229600" cy="4929411"/>
          </a:xfrm>
        </p:spPr>
        <p:txBody>
          <a:bodyPr>
            <a:noAutofit/>
          </a:bodyPr>
          <a:lstStyle/>
          <a:p>
            <a:pPr marL="0" indent="0" algn="just">
              <a:lnSpc>
                <a:spcPct val="150000"/>
              </a:lnSpc>
              <a:buNone/>
            </a:pPr>
            <a:r>
              <a:rPr lang="en-US" altLang="zh-TW" sz="2400" dirty="0">
                <a:latin typeface="Times New Roman" panose="02020603050405020304" pitchFamily="18" charset="0"/>
                <a:cs typeface="Times New Roman" panose="02020603050405020304" pitchFamily="18" charset="0"/>
              </a:rPr>
              <a:t>The longest common subsequence (LCS) problem can be used to measure the relationship between sequences. In general, the inputs of the LCS problem are two sequences. For finding the relationship between one sequence and a set of sequences, we cannot apply the traditional LCS algorithms immediately. In this paper, we define the mosaic LCS (MLCS) problem of finding a mosaic sequence C, composed of repeatable k sequences in source sequence set S, such that the LCS of C and the target sequence T is maximal.</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146387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Abstract(2/2)</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457200" y="1196752"/>
                <a:ext cx="8229600" cy="4929411"/>
              </a:xfrm>
            </p:spPr>
            <p:txBody>
              <a:bodyPr>
                <a:noAutofit/>
              </a:bodyPr>
              <a:lstStyle/>
              <a:p>
                <a:pPr marL="0" indent="0" algn="just">
                  <a:lnSpc>
                    <a:spcPct val="110000"/>
                  </a:lnSpc>
                  <a:buNone/>
                </a:pPr>
                <a:r>
                  <a:rPr lang="en-US" altLang="zh-TW" sz="2400" dirty="0">
                    <a:latin typeface="Times New Roman" panose="02020603050405020304" pitchFamily="18" charset="0"/>
                    <a:cs typeface="Times New Roman" panose="02020603050405020304" pitchFamily="18" charset="0"/>
                  </a:rPr>
                  <a:t>Based on the concept of break points in sequence T, we first propose a divide-and-conquer algorithm with </a:t>
                </a:r>
                <a14:m>
                  <m:oMath xmlns:m="http://schemas.openxmlformats.org/officeDocument/2006/math">
                    <m:r>
                      <a:rPr lang="en-US" altLang="zh-TW" sz="2400">
                        <a:latin typeface="Cambria Math" panose="02040503050406030204" pitchFamily="18" charset="0"/>
                        <a:cs typeface="Times New Roman" panose="02020603050405020304" pitchFamily="18" charset="0"/>
                      </a:rPr>
                      <m:t>𝑂</m:t>
                    </m:r>
                    <m:r>
                      <a:rPr lang="en-US" altLang="zh-TW" sz="2400">
                        <a:latin typeface="Cambria Math" panose="02040503050406030204" pitchFamily="18" charset="0"/>
                        <a:cs typeface="Times New Roman" panose="02020603050405020304" pitchFamily="18" charset="0"/>
                      </a:rPr>
                      <m:t>(</m:t>
                    </m:r>
                    <m:sSup>
                      <m:sSupPr>
                        <m:ctrlPr>
                          <a:rPr lang="en-US" altLang="zh-TW" sz="2400" i="1">
                            <a:latin typeface="Cambria Math" panose="02040503050406030204" pitchFamily="18" charset="0"/>
                            <a:cs typeface="Times New Roman" panose="02020603050405020304" pitchFamily="18" charset="0"/>
                          </a:rPr>
                        </m:ctrlPr>
                      </m:sSupPr>
                      <m:e>
                        <m:r>
                          <a:rPr lang="en-US" altLang="zh-TW" sz="2400">
                            <a:latin typeface="Cambria Math" panose="02040503050406030204" pitchFamily="18" charset="0"/>
                            <a:cs typeface="Times New Roman" panose="02020603050405020304" pitchFamily="18" charset="0"/>
                          </a:rPr>
                          <m:t>𝑛</m:t>
                        </m:r>
                      </m:e>
                      <m:sup>
                        <m:r>
                          <a:rPr lang="en-US" altLang="zh-TW" sz="2400">
                            <a:latin typeface="Cambria Math" panose="02040503050406030204" pitchFamily="18" charset="0"/>
                            <a:cs typeface="Times New Roman" panose="02020603050405020304" pitchFamily="18" charset="0"/>
                          </a:rPr>
                          <m:t>2</m:t>
                        </m:r>
                      </m:sup>
                    </m:sSup>
                    <m:r>
                      <a:rPr lang="en-US" altLang="zh-TW" sz="2400">
                        <a:latin typeface="Cambria Math" panose="02040503050406030204" pitchFamily="18" charset="0"/>
                        <a:cs typeface="Times New Roman" panose="02020603050405020304" pitchFamily="18" charset="0"/>
                      </a:rPr>
                      <m:t>𝑚</m:t>
                    </m:r>
                    <m:d>
                      <m:dPr>
                        <m:begChr m:val="|"/>
                        <m:endChr m:val="|"/>
                        <m:ctrlPr>
                          <a:rPr lang="en-US" altLang="zh-TW" sz="2400" i="1">
                            <a:latin typeface="Cambria Math" panose="02040503050406030204" pitchFamily="18" charset="0"/>
                            <a:cs typeface="Times New Roman" panose="02020603050405020304" pitchFamily="18" charset="0"/>
                          </a:rPr>
                        </m:ctrlPr>
                      </m:dPr>
                      <m:e>
                        <m:r>
                          <a:rPr lang="en-US" altLang="zh-TW" sz="2400">
                            <a:latin typeface="Cambria Math" panose="02040503050406030204" pitchFamily="18" charset="0"/>
                            <a:cs typeface="Times New Roman" panose="02020603050405020304" pitchFamily="18" charset="0"/>
                          </a:rPr>
                          <m:t>𝑆</m:t>
                        </m:r>
                      </m:e>
                    </m:d>
                    <m:r>
                      <a:rPr lang="en-US" altLang="zh-TW" sz="2400">
                        <a:latin typeface="Cambria Math" panose="02040503050406030204" pitchFamily="18" charset="0"/>
                        <a:cs typeface="Times New Roman" panose="02020603050405020304" pitchFamily="18" charset="0"/>
                      </a:rPr>
                      <m:t>+</m:t>
                    </m:r>
                    <m:sSup>
                      <m:sSupPr>
                        <m:ctrlPr>
                          <a:rPr lang="zh-TW" altLang="en-US" sz="2400" i="1" dirty="0">
                            <a:latin typeface="Cambria Math" panose="02040503050406030204" pitchFamily="18" charset="0"/>
                            <a:cs typeface="Times New Roman" panose="02020603050405020304" pitchFamily="18" charset="0"/>
                          </a:rPr>
                        </m:ctrlPr>
                      </m:sSupPr>
                      <m:e>
                        <m:r>
                          <a:rPr lang="en-US" altLang="zh-TW" sz="2400" dirty="0">
                            <a:latin typeface="Cambria Math" panose="02040503050406030204" pitchFamily="18" charset="0"/>
                            <a:cs typeface="Times New Roman" panose="02020603050405020304" pitchFamily="18" charset="0"/>
                          </a:rPr>
                          <m:t>𝑛</m:t>
                        </m:r>
                      </m:e>
                      <m:sup>
                        <m:r>
                          <a:rPr lang="en-US" altLang="zh-TW" sz="2400" dirty="0">
                            <a:latin typeface="Cambria Math" panose="02040503050406030204" pitchFamily="18" charset="0"/>
                            <a:cs typeface="Times New Roman" panose="02020603050405020304" pitchFamily="18" charset="0"/>
                          </a:rPr>
                          <m:t>3</m:t>
                        </m:r>
                      </m:sup>
                    </m:sSup>
                    <m:func>
                      <m:funcPr>
                        <m:ctrlPr>
                          <a:rPr lang="en-US" altLang="zh-TW" sz="2400" i="1" dirty="0">
                            <a:latin typeface="Cambria Math" panose="02040503050406030204" pitchFamily="18" charset="0"/>
                            <a:cs typeface="Times New Roman" panose="02020603050405020304" pitchFamily="18" charset="0"/>
                          </a:rPr>
                        </m:ctrlPr>
                      </m:funcPr>
                      <m:fName>
                        <m:r>
                          <m:rPr>
                            <m:sty m:val="p"/>
                          </m:rPr>
                          <a:rPr lang="en-US" altLang="zh-TW" sz="2400" dirty="0">
                            <a:latin typeface="Cambria Math" panose="02040503050406030204" pitchFamily="18" charset="0"/>
                            <a:cs typeface="Times New Roman" panose="02020603050405020304" pitchFamily="18" charset="0"/>
                          </a:rPr>
                          <m:t>log</m:t>
                        </m:r>
                      </m:fName>
                      <m:e>
                        <m:r>
                          <a:rPr lang="en-US" altLang="zh-TW" sz="2400" dirty="0">
                            <a:latin typeface="Cambria Math" panose="02040503050406030204" pitchFamily="18" charset="0"/>
                            <a:cs typeface="Times New Roman" panose="02020603050405020304" pitchFamily="18" charset="0"/>
                          </a:rPr>
                          <m:t>𝑘</m:t>
                        </m:r>
                      </m:e>
                    </m:func>
                    <m:r>
                      <a:rPr lang="en-US" altLang="zh-TW" sz="2400">
                        <a:latin typeface="Cambria Math" panose="02040503050406030204" pitchFamily="18" charset="0"/>
                        <a:cs typeface="Times New Roman" panose="02020603050405020304" pitchFamily="18" charset="0"/>
                      </a:rPr>
                      <m:t>)</m:t>
                    </m:r>
                  </m:oMath>
                </a14:m>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time for solving this problem, where n and m are the length of T and maximal length of sequences in S, respectively. Furthermore, an improved algorithm with </a:t>
                </a:r>
                <a14:m>
                  <m:oMath xmlns:m="http://schemas.openxmlformats.org/officeDocument/2006/math">
                    <m:r>
                      <a:rPr lang="en-US" altLang="zh-TW" sz="2400">
                        <a:latin typeface="Cambria Math" panose="02040503050406030204" pitchFamily="18" charset="0"/>
                        <a:cs typeface="Times New Roman" panose="02020603050405020304" pitchFamily="18" charset="0"/>
                      </a:rPr>
                      <m:t>𝑂</m:t>
                    </m:r>
                    <m:r>
                      <a:rPr lang="en-US" altLang="zh-TW" sz="2400">
                        <a:latin typeface="Cambria Math" panose="02040503050406030204" pitchFamily="18" charset="0"/>
                        <a:cs typeface="Times New Roman" panose="02020603050405020304" pitchFamily="18" charset="0"/>
                      </a:rPr>
                      <m:t>(</m:t>
                    </m:r>
                    <m:r>
                      <a:rPr lang="en-US" altLang="zh-TW" sz="2400">
                        <a:latin typeface="Cambria Math" panose="02040503050406030204" pitchFamily="18" charset="0"/>
                        <a:cs typeface="Times New Roman" panose="02020603050405020304" pitchFamily="18" charset="0"/>
                      </a:rPr>
                      <m:t>𝑛</m:t>
                    </m:r>
                    <m:d>
                      <m:dPr>
                        <m:ctrlPr>
                          <a:rPr lang="en-US" altLang="zh-TW" sz="2400" i="1">
                            <a:latin typeface="Cambria Math" panose="02040503050406030204" pitchFamily="18" charset="0"/>
                            <a:cs typeface="Times New Roman" panose="02020603050405020304" pitchFamily="18" charset="0"/>
                          </a:rPr>
                        </m:ctrlPr>
                      </m:dPr>
                      <m:e>
                        <m:r>
                          <a:rPr lang="en-US" altLang="zh-TW" sz="2400">
                            <a:latin typeface="Cambria Math" panose="02040503050406030204" pitchFamily="18" charset="0"/>
                            <a:cs typeface="Times New Roman" panose="02020603050405020304" pitchFamily="18" charset="0"/>
                          </a:rPr>
                          <m:t>𝑚</m:t>
                        </m:r>
                        <m:r>
                          <a:rPr lang="en-US" altLang="zh-TW" sz="2400">
                            <a:latin typeface="Cambria Math" panose="02040503050406030204" pitchFamily="18" charset="0"/>
                            <a:cs typeface="Times New Roman" panose="02020603050405020304" pitchFamily="18" charset="0"/>
                          </a:rPr>
                          <m:t>+</m:t>
                        </m:r>
                        <m:r>
                          <a:rPr lang="en-US" altLang="zh-TW" sz="2400">
                            <a:latin typeface="Cambria Math" panose="02040503050406030204" pitchFamily="18" charset="0"/>
                            <a:cs typeface="Times New Roman" panose="02020603050405020304" pitchFamily="18" charset="0"/>
                          </a:rPr>
                          <m:t>𝑘</m:t>
                        </m:r>
                      </m:e>
                    </m:d>
                    <m:d>
                      <m:dPr>
                        <m:begChr m:val="|"/>
                        <m:endChr m:val="|"/>
                        <m:ctrlPr>
                          <a:rPr lang="en-US" altLang="zh-TW" sz="2400" i="1">
                            <a:latin typeface="Cambria Math" panose="02040503050406030204" pitchFamily="18" charset="0"/>
                            <a:cs typeface="Times New Roman" panose="02020603050405020304" pitchFamily="18" charset="0"/>
                          </a:rPr>
                        </m:ctrlPr>
                      </m:dPr>
                      <m:e>
                        <m:r>
                          <a:rPr lang="en-US" altLang="zh-TW" sz="2400">
                            <a:latin typeface="Cambria Math" panose="02040503050406030204" pitchFamily="18" charset="0"/>
                            <a:cs typeface="Times New Roman" panose="02020603050405020304" pitchFamily="18" charset="0"/>
                          </a:rPr>
                          <m:t>𝑆</m:t>
                        </m:r>
                      </m:e>
                    </m:d>
                    <m:r>
                      <a:rPr lang="en-US" altLang="zh-TW" sz="2400">
                        <a:latin typeface="Cambria Math" panose="02040503050406030204" pitchFamily="18" charset="0"/>
                        <a:cs typeface="Times New Roman" panose="02020603050405020304" pitchFamily="18" charset="0"/>
                      </a:rPr>
                      <m:t>)</m:t>
                    </m:r>
                  </m:oMath>
                </a14:m>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time is proposed by applying an efficient preprocessing for the MLCS problem.</a:t>
                </a:r>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457200" y="1196752"/>
                <a:ext cx="8229600" cy="4929411"/>
              </a:xfrm>
              <a:blipFill>
                <a:blip r:embed="rId3"/>
                <a:stretch>
                  <a:fillRect l="-1111" t="-742" r="-111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9615652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4000" dirty="0">
                <a:latin typeface="Times New Roman" panose="02020603050405020304" pitchFamily="18" charset="0"/>
                <a:cs typeface="Times New Roman" panose="02020603050405020304" pitchFamily="18" charset="0"/>
              </a:rPr>
              <a:t>LCS</a:t>
            </a:r>
            <a:r>
              <a:rPr lang="en-US" altLang="zh-TW" dirty="0">
                <a:latin typeface="Times New Roman" panose="02020603050405020304" pitchFamily="18" charset="0"/>
                <a:cs typeface="Times New Roman" panose="02020603050405020304" pitchFamily="18" charset="0"/>
              </a:rPr>
              <a:t> Problem</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pPr marL="0" indent="0">
              <a:buNone/>
            </a:pPr>
            <a:r>
              <a:rPr lang="en-US" altLang="zh-TW" dirty="0">
                <a:solidFill>
                  <a:schemeClr val="tx1"/>
                </a:solidFill>
                <a:latin typeface="Times New Roman" panose="02020603050405020304" pitchFamily="18" charset="0"/>
                <a:cs typeface="Times New Roman" panose="02020603050405020304" pitchFamily="18" charset="0"/>
              </a:rPr>
              <a:t>Sequence </a:t>
            </a:r>
            <a:r>
              <a:rPr lang="en-US" altLang="zh-TW" dirty="0">
                <a:latin typeface="Times New Roman" panose="02020603050405020304" pitchFamily="18" charset="0"/>
                <a:cs typeface="Times New Roman" panose="02020603050405020304" pitchFamily="18" charset="0"/>
              </a:rPr>
              <a:t>S1</a:t>
            </a:r>
            <a:r>
              <a:rPr lang="en-US" altLang="zh-TW" dirty="0">
                <a:solidFill>
                  <a:schemeClr val="tx1"/>
                </a:solidFill>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agaca</a:t>
            </a: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solidFill>
                  <a:schemeClr val="tx1"/>
                </a:solidFill>
                <a:latin typeface="Times New Roman" panose="02020603050405020304" pitchFamily="18" charset="0"/>
                <a:cs typeface="Times New Roman" panose="02020603050405020304" pitchFamily="18" charset="0"/>
              </a:rPr>
              <a:t>Sequence S2: </a:t>
            </a:r>
            <a:r>
              <a:rPr lang="en-US" altLang="zh-TW" dirty="0" err="1">
                <a:latin typeface="Times New Roman" panose="02020603050405020304" pitchFamily="18" charset="0"/>
                <a:cs typeface="Times New Roman" panose="02020603050405020304" pitchFamily="18" charset="0"/>
              </a:rPr>
              <a:t>tagtc</a:t>
            </a: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Common Subsequence : ag, ac, </a:t>
            </a:r>
            <a:r>
              <a:rPr lang="en-US" altLang="zh-TW" dirty="0" err="1">
                <a:latin typeface="Times New Roman" panose="02020603050405020304" pitchFamily="18" charset="0"/>
                <a:cs typeface="Times New Roman" panose="02020603050405020304" pitchFamily="18" charset="0"/>
              </a:rPr>
              <a:t>agc</a:t>
            </a:r>
            <a:r>
              <a:rPr lang="en-US" altLang="zh-TW" dirty="0">
                <a:latin typeface="Times New Roman" panose="02020603050405020304" pitchFamily="18" charset="0"/>
                <a:cs typeface="Times New Roman" panose="02020603050405020304" pitchFamily="18" charset="0"/>
              </a:rPr>
              <a:t>…</a:t>
            </a:r>
          </a:p>
          <a:p>
            <a:pPr marL="0" indent="0">
              <a:buNone/>
            </a:pPr>
            <a:r>
              <a:rPr lang="en-US" altLang="zh-TW" dirty="0">
                <a:solidFill>
                  <a:schemeClr val="tx1"/>
                </a:solidFill>
                <a:latin typeface="Times New Roman" panose="02020603050405020304" pitchFamily="18" charset="0"/>
                <a:cs typeface="Times New Roman" panose="02020603050405020304" pitchFamily="18" charset="0"/>
              </a:rPr>
              <a:t>Longest Common Subsequence :</a:t>
            </a:r>
            <a:r>
              <a:rPr lang="en-US" altLang="zh-TW" dirty="0" err="1">
                <a:solidFill>
                  <a:schemeClr val="tx1"/>
                </a:solidFill>
                <a:latin typeface="Times New Roman" panose="02020603050405020304" pitchFamily="18" charset="0"/>
                <a:cs typeface="Times New Roman" panose="02020603050405020304" pitchFamily="18" charset="0"/>
              </a:rPr>
              <a:t>agc</a:t>
            </a:r>
            <a:endParaRPr lang="en-US" altLang="zh-TW"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3893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E3ED40-E010-4D63-8AA9-2C69AC1DFBDF}"/>
              </a:ext>
            </a:extLst>
          </p:cNvPr>
          <p:cNvSpPr>
            <a:spLocks noGrp="1"/>
          </p:cNvSpPr>
          <p:nvPr>
            <p:ph type="title"/>
          </p:nvPr>
        </p:nvSpPr>
        <p:spPr/>
        <p:txBody>
          <a:bodyPr>
            <a:normAutofit fontScale="90000"/>
          </a:bodyPr>
          <a:lstStyle/>
          <a:p>
            <a:r>
              <a:rPr lang="en-US" altLang="zh-TW" dirty="0"/>
              <a:t>Mosaic Longest Common Subsequence (MLCS) Problem</a:t>
            </a:r>
            <a:endParaRPr lang="zh-TW" altLang="en-US" dirty="0"/>
          </a:p>
        </p:txBody>
      </p:sp>
      <mc:AlternateContent xmlns:mc="http://schemas.openxmlformats.org/markup-compatibility/2006" xmlns:a14="http://schemas.microsoft.com/office/drawing/2010/main">
        <mc:Choice Requires="a14">
          <p:sp>
            <p:nvSpPr>
              <p:cNvPr id="4" name="內容版面配置區 2">
                <a:extLst>
                  <a:ext uri="{FF2B5EF4-FFF2-40B4-BE49-F238E27FC236}">
                    <a16:creationId xmlns:a16="http://schemas.microsoft.com/office/drawing/2014/main" id="{6C3890DE-7274-4F39-9187-B48411280658}"/>
                  </a:ext>
                </a:extLst>
              </p:cNvPr>
              <p:cNvSpPr>
                <a:spLocks noGrp="1"/>
              </p:cNvSpPr>
              <p:nvPr>
                <p:ph idx="1"/>
              </p:nvPr>
            </p:nvSpPr>
            <p:spPr>
              <a:xfrm>
                <a:off x="457200" y="1600200"/>
                <a:ext cx="8229600" cy="4525963"/>
              </a:xfrm>
            </p:spPr>
            <p:txBody>
              <a:bodyPr/>
              <a:lstStyle/>
              <a:p>
                <a:pPr marL="0" indent="0">
                  <a:buNone/>
                </a:pPr>
                <a:r>
                  <a:rPr lang="en-US" altLang="zh-TW" dirty="0">
                    <a:latin typeface="Times New Roman" panose="02020603050405020304" pitchFamily="18" charset="0"/>
                    <a:cs typeface="Times New Roman" panose="02020603050405020304" pitchFamily="18" charset="0"/>
                  </a:rPr>
                  <a:t>Input : Target sequence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𝑇</m:t>
                    </m:r>
                  </m:oMath>
                </a14:m>
                <a:r>
                  <a:rPr lang="en-US" altLang="zh-TW" dirty="0">
                    <a:latin typeface="Times New Roman" panose="02020603050405020304" pitchFamily="18" charset="0"/>
                    <a:cs typeface="Times New Roman" panose="02020603050405020304" pitchFamily="18" charset="0"/>
                  </a:rPr>
                  <a:t>, mosaic number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𝑘</m:t>
                    </m:r>
                  </m:oMath>
                </a14:m>
                <a:r>
                  <a:rPr lang="en-US" altLang="zh-TW" dirty="0">
                    <a:latin typeface="Times New Roman" panose="02020603050405020304" pitchFamily="18" charset="0"/>
                    <a:cs typeface="Times New Roman" panose="02020603050405020304" pitchFamily="18" charset="0"/>
                  </a:rPr>
                  <a:t>, a set of source sequences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𝑆</m:t>
                    </m:r>
                  </m:oMath>
                </a14:m>
                <a:r>
                  <a:rPr lang="en-US" altLang="zh-TW" dirty="0">
                    <a:latin typeface="Times New Roman" panose="02020603050405020304" pitchFamily="18" charset="0"/>
                    <a:cs typeface="Times New Roman" panose="02020603050405020304" pitchFamily="18" charset="0"/>
                  </a:rPr>
                  <a:t>.</a:t>
                </a: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Output : find a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𝑘</m:t>
                    </m:r>
                  </m:oMath>
                </a14:m>
                <a:r>
                  <a:rPr lang="en-US" altLang="zh-TW" dirty="0">
                    <a:latin typeface="Times New Roman" panose="02020603050405020304" pitchFamily="18" charset="0"/>
                    <a:cs typeface="Times New Roman" panose="02020603050405020304" pitchFamily="18" charset="0"/>
                  </a:rPr>
                  <a:t>-mosaic sequence </a:t>
                </a:r>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𝐶</m:t>
                    </m:r>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𝐶</m:t>
                        </m:r>
                      </m:e>
                      <m:sub>
                        <m:r>
                          <a:rPr lang="en-US" altLang="zh-TW" b="0" i="1" smtClean="0">
                            <a:latin typeface="Cambria Math" panose="02040503050406030204" pitchFamily="18" charset="0"/>
                            <a:cs typeface="Times New Roman" panose="02020603050405020304" pitchFamily="18" charset="0"/>
                          </a:rPr>
                          <m:t>1</m:t>
                        </m:r>
                      </m:sub>
                    </m:sSub>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𝐶</m:t>
                        </m:r>
                      </m:e>
                      <m:sub>
                        <m:r>
                          <a:rPr lang="en-US" altLang="zh-TW" b="0" i="1" smtClean="0">
                            <a:latin typeface="Cambria Math" panose="02040503050406030204" pitchFamily="18" charset="0"/>
                            <a:cs typeface="Times New Roman" panose="02020603050405020304" pitchFamily="18" charset="0"/>
                          </a:rPr>
                          <m:t>2</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𝐶</m:t>
                        </m:r>
                      </m:e>
                      <m:sub>
                        <m:r>
                          <a:rPr lang="en-US" altLang="zh-TW" b="0" i="1" smtClean="0">
                            <a:latin typeface="Cambria Math" panose="02040503050406030204" pitchFamily="18" charset="0"/>
                            <a:cs typeface="Times New Roman" panose="02020603050405020304" pitchFamily="18" charset="0"/>
                          </a:rPr>
                          <m:t>𝑘</m:t>
                        </m:r>
                      </m:sub>
                    </m:sSub>
                  </m:oMath>
                </a14:m>
                <a:r>
                  <a:rPr lang="en-US" altLang="zh-TW"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𝐶</m:t>
                        </m:r>
                      </m:e>
                      <m:sub>
                        <m:r>
                          <a:rPr lang="en-US" altLang="zh-TW" b="0" i="1" smtClean="0">
                            <a:latin typeface="Cambria Math" panose="02040503050406030204" pitchFamily="18" charset="0"/>
                            <a:cs typeface="Times New Roman" panose="02020603050405020304" pitchFamily="18" charset="0"/>
                          </a:rPr>
                          <m:t>𝑖</m:t>
                        </m:r>
                      </m:sub>
                    </m:sSub>
                    <m:r>
                      <a:rPr lang="en-US" altLang="zh-TW"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𝑆</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𝑎𝑛𝑑</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 1≤</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𝑖</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𝑘</m:t>
                    </m:r>
                  </m:oMath>
                </a14:m>
                <a:r>
                  <a:rPr lang="en-US" altLang="zh-TW" dirty="0">
                    <a:latin typeface="Times New Roman" panose="02020603050405020304" pitchFamily="18" charset="0"/>
                    <a:cs typeface="Times New Roman" panose="02020603050405020304" pitchFamily="18" charset="0"/>
                  </a:rPr>
                  <a:t>, such that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𝐿𝐶𝑆</m:t>
                    </m:r>
                    <m:r>
                      <a:rPr lang="en-US" altLang="zh-TW" i="1" dirty="0" smtClean="0">
                        <a:latin typeface="Cambria Math" panose="02040503050406030204" pitchFamily="18" charset="0"/>
                        <a:cs typeface="Times New Roman" panose="02020603050405020304" pitchFamily="18" charset="0"/>
                      </a:rPr>
                      <m:t>(</m:t>
                    </m:r>
                    <m:r>
                      <a:rPr lang="en-US" altLang="zh-TW" i="1" dirty="0" smtClean="0">
                        <a:latin typeface="Cambria Math" panose="02040503050406030204" pitchFamily="18" charset="0"/>
                        <a:cs typeface="Times New Roman" panose="02020603050405020304" pitchFamily="18" charset="0"/>
                      </a:rPr>
                      <m:t>𝑇</m:t>
                    </m:r>
                    <m:r>
                      <a:rPr lang="en-US" altLang="zh-TW" i="1" dirty="0" smtClean="0">
                        <a:latin typeface="Cambria Math" panose="02040503050406030204" pitchFamily="18" charset="0"/>
                        <a:cs typeface="Times New Roman" panose="02020603050405020304" pitchFamily="18" charset="0"/>
                      </a:rPr>
                      <m:t>,</m:t>
                    </m:r>
                    <m:r>
                      <a:rPr lang="en-US" altLang="zh-TW" i="1" dirty="0" smtClean="0">
                        <a:latin typeface="Cambria Math" panose="02040503050406030204" pitchFamily="18" charset="0"/>
                        <a:cs typeface="Times New Roman" panose="02020603050405020304" pitchFamily="18" charset="0"/>
                      </a:rPr>
                      <m:t>𝐶</m:t>
                    </m:r>
                    <m:r>
                      <a:rPr lang="en-US" altLang="zh-TW" i="1" dirty="0" smtClean="0">
                        <a:latin typeface="Cambria Math" panose="02040503050406030204" pitchFamily="18" charset="0"/>
                        <a:cs typeface="Times New Roman" panose="02020603050405020304" pitchFamily="18" charset="0"/>
                      </a:rPr>
                      <m:t>)</m:t>
                    </m:r>
                  </m:oMath>
                </a14:m>
                <a:r>
                  <a:rPr lang="en-US" altLang="zh-TW" dirty="0">
                    <a:latin typeface="Times New Roman" panose="02020603050405020304" pitchFamily="18" charset="0"/>
                    <a:cs typeface="Times New Roman" panose="02020603050405020304" pitchFamily="18" charset="0"/>
                  </a:rPr>
                  <a:t> is maximal.</a:t>
                </a:r>
              </a:p>
              <a:p>
                <a:pPr marL="0" indent="0">
                  <a:buNone/>
                </a:pPr>
                <a:endParaRPr lang="en-US" altLang="zh-TW" dirty="0">
                  <a:latin typeface="Times New Roman" panose="02020603050405020304" pitchFamily="18" charset="0"/>
                  <a:cs typeface="Times New Roman" panose="02020603050405020304" pitchFamily="18" charset="0"/>
                </a:endParaRPr>
              </a:p>
            </p:txBody>
          </p:sp>
        </mc:Choice>
        <mc:Fallback xmlns="">
          <p:sp>
            <p:nvSpPr>
              <p:cNvPr id="4" name="內容版面配置區 2">
                <a:extLst>
                  <a:ext uri="{FF2B5EF4-FFF2-40B4-BE49-F238E27FC236}">
                    <a16:creationId xmlns:a16="http://schemas.microsoft.com/office/drawing/2014/main" id="{6C3890DE-7274-4F39-9187-B48411280658}"/>
                  </a:ext>
                </a:extLst>
              </p:cNvPr>
              <p:cNvSpPr>
                <a:spLocks noGrp="1" noRot="1" noChangeAspect="1" noMove="1" noResize="1" noEditPoints="1" noAdjustHandles="1" noChangeArrowheads="1" noChangeShapeType="1" noTextEdit="1"/>
              </p:cNvSpPr>
              <p:nvPr>
                <p:ph idx="1"/>
              </p:nvPr>
            </p:nvSpPr>
            <p:spPr>
              <a:xfrm>
                <a:off x="457200" y="1600200"/>
                <a:ext cx="8229600" cy="4525963"/>
              </a:xfrm>
              <a:blipFill>
                <a:blip r:embed="rId3"/>
                <a:stretch>
                  <a:fillRect l="-1852" t="-188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856619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E3ED40-E010-4D63-8AA9-2C69AC1DFBDF}"/>
              </a:ext>
            </a:extLst>
          </p:cNvPr>
          <p:cNvSpPr>
            <a:spLocks noGrp="1"/>
          </p:cNvSpPr>
          <p:nvPr>
            <p:ph type="title"/>
          </p:nvPr>
        </p:nvSpPr>
        <p:spPr/>
        <p:txBody>
          <a:bodyPr>
            <a:normAutofit fontScale="90000"/>
          </a:bodyPr>
          <a:lstStyle/>
          <a:p>
            <a:r>
              <a:rPr lang="en-US" altLang="zh-TW" dirty="0"/>
              <a:t>Mosaic Longest Common Subsequence (MLCS) Problem</a:t>
            </a:r>
            <a:endParaRPr lang="zh-TW" altLang="en-US" dirty="0"/>
          </a:p>
        </p:txBody>
      </p:sp>
      <mc:AlternateContent xmlns:mc="http://schemas.openxmlformats.org/markup-compatibility/2006" xmlns:a14="http://schemas.microsoft.com/office/drawing/2010/main">
        <mc:Choice Requires="a14">
          <p:sp>
            <p:nvSpPr>
              <p:cNvPr id="6" name="內容版面配置區 2">
                <a:extLst>
                  <a:ext uri="{FF2B5EF4-FFF2-40B4-BE49-F238E27FC236}">
                    <a16:creationId xmlns:a16="http://schemas.microsoft.com/office/drawing/2014/main" id="{052E4E07-B657-4A1A-9D2B-47E75EA17AF9}"/>
                  </a:ext>
                </a:extLst>
              </p:cNvPr>
              <p:cNvSpPr txBox="1">
                <a:spLocks/>
              </p:cNvSpPr>
              <p:nvPr/>
            </p:nvSpPr>
            <p:spPr>
              <a:xfrm>
                <a:off x="609600" y="1752600"/>
                <a:ext cx="822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altLang="zh-TW" dirty="0">
                    <a:latin typeface="Times New Roman" panose="02020603050405020304" pitchFamily="18" charset="0"/>
                    <a:cs typeface="Times New Roman" panose="02020603050405020304" pitchFamily="18" charset="0"/>
                  </a:rPr>
                  <a:t>Example :</a:t>
                </a:r>
              </a:p>
              <a:p>
                <a:pPr marL="0" indent="0">
                  <a:buNone/>
                </a:pPr>
                <a:r>
                  <a:rPr lang="en-US" altLang="zh-TW" dirty="0">
                    <a:latin typeface="Times New Roman" panose="02020603050405020304" pitchFamily="18" charset="0"/>
                    <a:cs typeface="Times New Roman" panose="02020603050405020304" pitchFamily="18" charset="0"/>
                  </a:rPr>
                  <a:t>Target sequence </a:t>
                </a:r>
                <a14:m>
                  <m:oMath xmlns:m="http://schemas.openxmlformats.org/officeDocument/2006/math">
                    <m:r>
                      <m:rPr>
                        <m:sty m:val="p"/>
                      </m:rPr>
                      <a:rPr lang="en-US" altLang="zh-TW" i="0" dirty="0" smtClean="0">
                        <a:latin typeface="Cambria Math" panose="02040503050406030204" pitchFamily="18" charset="0"/>
                        <a:cs typeface="Times New Roman" panose="02020603050405020304" pitchFamily="18" charset="0"/>
                      </a:rPr>
                      <m:t>T</m:t>
                    </m:r>
                    <m:r>
                      <a:rPr lang="en-US" altLang="zh-TW" i="0" dirty="0" smtClean="0">
                        <a:latin typeface="Cambria Math" panose="02040503050406030204" pitchFamily="18" charset="0"/>
                        <a:cs typeface="Times New Roman" panose="02020603050405020304" pitchFamily="18" charset="0"/>
                      </a:rPr>
                      <m:t>=</m:t>
                    </m:r>
                    <m:r>
                      <m:rPr>
                        <m:nor/>
                      </m:rPr>
                      <a:rPr lang="en-US" altLang="zh-TW"/>
                      <m:t>agactagtc</m:t>
                    </m:r>
                  </m:oMath>
                </a14:m>
                <a:endParaRPr lang="en-US" altLang="zh-TW" dirty="0">
                  <a:latin typeface="Times New Roman" panose="02020603050405020304" pitchFamily="18" charset="0"/>
                  <a:cs typeface="Times New Roman" panose="02020603050405020304" pitchFamily="18" charset="0"/>
                </a:endParaRPr>
              </a:p>
              <a:p>
                <a:pPr marL="0" indent="0">
                  <a:buFont typeface="Arial" pitchFamily="34" charset="0"/>
                  <a:buNone/>
                </a:pPr>
                <a:r>
                  <a:rPr lang="en-US" altLang="zh-TW" dirty="0">
                    <a:latin typeface="Times New Roman" panose="02020603050405020304" pitchFamily="18" charset="0"/>
                    <a:cs typeface="Times New Roman" panose="02020603050405020304" pitchFamily="18" charset="0"/>
                  </a:rPr>
                  <a:t>mosaic number </a:t>
                </a:r>
                <a14:m>
                  <m:oMath xmlns:m="http://schemas.openxmlformats.org/officeDocument/2006/math">
                    <m:r>
                      <m:rPr>
                        <m:sty m:val="p"/>
                      </m:rPr>
                      <a:rPr lang="en-US" altLang="zh-TW" i="0" dirty="0" smtClean="0">
                        <a:latin typeface="Cambria Math" panose="02040503050406030204" pitchFamily="18" charset="0"/>
                        <a:cs typeface="Times New Roman" panose="02020603050405020304" pitchFamily="18" charset="0"/>
                      </a:rPr>
                      <m:t>k</m:t>
                    </m:r>
                    <m:r>
                      <a:rPr lang="en-US" altLang="zh-TW" i="0" dirty="0" smtClean="0">
                        <a:latin typeface="Cambria Math" panose="02040503050406030204" pitchFamily="18" charset="0"/>
                        <a:cs typeface="Times New Roman" panose="02020603050405020304" pitchFamily="18" charset="0"/>
                      </a:rPr>
                      <m:t>=3</m:t>
                    </m:r>
                  </m:oMath>
                </a14:m>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a set of source sequences </a:t>
                </a:r>
                <a14:m>
                  <m:oMath xmlns:m="http://schemas.openxmlformats.org/officeDocument/2006/math">
                    <m:r>
                      <m:rPr>
                        <m:sty m:val="p"/>
                      </m:rPr>
                      <a:rPr lang="en-US" altLang="zh-TW" i="0" dirty="0" smtClean="0">
                        <a:latin typeface="Cambria Math" panose="02040503050406030204" pitchFamily="18" charset="0"/>
                        <a:cs typeface="Times New Roman" panose="02020603050405020304" pitchFamily="18" charset="0"/>
                      </a:rPr>
                      <m:t>S</m:t>
                    </m:r>
                    <m:r>
                      <m:rPr>
                        <m:nor/>
                      </m:rPr>
                      <a:rPr lang="en-US" altLang="zh-TW" b="0" dirty="0" smtClean="0">
                        <a:latin typeface="Cambria Math" panose="02040503050406030204" pitchFamily="18" charset="0"/>
                        <a:cs typeface="Times New Roman" panose="02020603050405020304" pitchFamily="18" charset="0"/>
                      </a:rPr>
                      <m:t>=</m:t>
                    </m:r>
                    <m:r>
                      <m:rPr>
                        <m:nor/>
                      </m:rPr>
                      <a:rPr lang="en-US" altLang="zh-TW"/>
                      <m:t>{</m:t>
                    </m:r>
                    <m:r>
                      <m:rPr>
                        <m:nor/>
                      </m:rPr>
                      <a:rPr lang="en-US" altLang="zh-TW"/>
                      <m:t>S</m:t>
                    </m:r>
                    <m:r>
                      <m:rPr>
                        <m:nor/>
                      </m:rPr>
                      <a:rPr lang="en-US" altLang="zh-TW"/>
                      <m:t>1 = </m:t>
                    </m:r>
                    <m:r>
                      <m:rPr>
                        <m:nor/>
                      </m:rPr>
                      <a:rPr lang="en-US" altLang="zh-TW"/>
                      <m:t>agc</m:t>
                    </m:r>
                    <m:r>
                      <m:rPr>
                        <m:nor/>
                      </m:rPr>
                      <a:rPr lang="en-US" altLang="zh-TW"/>
                      <m:t>, </m:t>
                    </m:r>
                    <m:r>
                      <m:rPr>
                        <m:nor/>
                      </m:rPr>
                      <a:rPr lang="en-US" altLang="zh-TW"/>
                      <m:t>S</m:t>
                    </m:r>
                    <m:r>
                      <m:rPr>
                        <m:nor/>
                      </m:rPr>
                      <a:rPr lang="en-US" altLang="zh-TW"/>
                      <m:t>2 = </m:t>
                    </m:r>
                    <m:r>
                      <m:rPr>
                        <m:nor/>
                      </m:rPr>
                      <a:rPr lang="en-US" altLang="zh-TW"/>
                      <m:t>act</m:t>
                    </m:r>
                    <m:r>
                      <m:rPr>
                        <m:nor/>
                      </m:rPr>
                      <a:rPr lang="en-US" altLang="zh-TW"/>
                      <m:t>, </m:t>
                    </m:r>
                    <m:r>
                      <m:rPr>
                        <m:nor/>
                      </m:rPr>
                      <a:rPr lang="en-US" altLang="zh-TW"/>
                      <m:t>S</m:t>
                    </m:r>
                    <m:r>
                      <m:rPr>
                        <m:nor/>
                      </m:rPr>
                      <a:rPr lang="en-US" altLang="zh-TW"/>
                      <m:t>3 = </m:t>
                    </m:r>
                    <m:r>
                      <m:rPr>
                        <m:nor/>
                      </m:rPr>
                      <a:rPr lang="en-US" altLang="zh-TW"/>
                      <m:t>aatg</m:t>
                    </m:r>
                    <m:r>
                      <m:rPr>
                        <m:nor/>
                      </m:rPr>
                      <a:rPr lang="en-US" altLang="zh-TW"/>
                      <m:t>, </m:t>
                    </m:r>
                    <m:r>
                      <m:rPr>
                        <m:nor/>
                      </m:rPr>
                      <a:rPr lang="en-US" altLang="zh-TW"/>
                      <m:t>S</m:t>
                    </m:r>
                    <m:r>
                      <m:rPr>
                        <m:nor/>
                      </m:rPr>
                      <a:rPr lang="en-US" altLang="zh-TW"/>
                      <m:t>4 = </m:t>
                    </m:r>
                    <m:r>
                      <m:rPr>
                        <m:nor/>
                      </m:rPr>
                      <a:rPr lang="en-US" altLang="zh-TW"/>
                      <m:t>ttcg</m:t>
                    </m:r>
                    <m:r>
                      <m:rPr>
                        <m:nor/>
                      </m:rPr>
                      <a:rPr lang="en-US" altLang="zh-TW"/>
                      <m:t>}</m:t>
                    </m:r>
                  </m:oMath>
                </a14:m>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t>C = </a:t>
                </a:r>
                <a:r>
                  <a:rPr lang="en-US" altLang="zh-TW" dirty="0" err="1"/>
                  <a:t>agc</a:t>
                </a:r>
                <a:r>
                  <a:rPr lang="en-US" altLang="zh-TW" dirty="0"/>
                  <a:t> act </a:t>
                </a:r>
                <a:r>
                  <a:rPr lang="en-US" altLang="zh-TW" dirty="0" err="1"/>
                  <a:t>agc</a:t>
                </a:r>
                <a:r>
                  <a:rPr lang="en-US" altLang="zh-TW" dirty="0"/>
                  <a:t> such that LCS(T , C) = </a:t>
                </a:r>
                <a:r>
                  <a:rPr lang="en-US" altLang="zh-TW" dirty="0" err="1"/>
                  <a:t>agactagc</a:t>
                </a:r>
                <a:r>
                  <a:rPr lang="en-US" altLang="zh-TW" dirty="0"/>
                  <a:t> with length 8.</a:t>
                </a:r>
                <a:endParaRPr lang="en-US" altLang="zh-TW" dirty="0">
                  <a:latin typeface="Times New Roman" panose="02020603050405020304" pitchFamily="18" charset="0"/>
                  <a:cs typeface="Times New Roman" panose="02020603050405020304" pitchFamily="18" charset="0"/>
                </a:endParaRPr>
              </a:p>
            </p:txBody>
          </p:sp>
        </mc:Choice>
        <mc:Fallback xmlns="">
          <p:sp>
            <p:nvSpPr>
              <p:cNvPr id="6" name="內容版面配置區 2">
                <a:extLst>
                  <a:ext uri="{FF2B5EF4-FFF2-40B4-BE49-F238E27FC236}">
                    <a16:creationId xmlns:a16="http://schemas.microsoft.com/office/drawing/2014/main" id="{052E4E07-B657-4A1A-9D2B-47E75EA17AF9}"/>
                  </a:ext>
                </a:extLst>
              </p:cNvPr>
              <p:cNvSpPr txBox="1">
                <a:spLocks noRot="1" noChangeAspect="1" noMove="1" noResize="1" noEditPoints="1" noAdjustHandles="1" noChangeArrowheads="1" noChangeShapeType="1" noTextEdit="1"/>
              </p:cNvSpPr>
              <p:nvPr/>
            </p:nvSpPr>
            <p:spPr>
              <a:xfrm>
                <a:off x="609600" y="1752600"/>
                <a:ext cx="8229600" cy="4525963"/>
              </a:xfrm>
              <a:prstGeom prst="rect">
                <a:avLst/>
              </a:prstGeom>
              <a:blipFill>
                <a:blip r:embed="rId2"/>
                <a:stretch>
                  <a:fillRect l="-1852" t="-188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890699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sz="4000" dirty="0">
                <a:latin typeface="Times New Roman" panose="02020603050405020304" pitchFamily="18" charset="0"/>
                <a:cs typeface="Times New Roman" panose="02020603050405020304" pitchFamily="18" charset="0"/>
              </a:rPr>
              <a:t>Method</a:t>
            </a:r>
            <a:r>
              <a:rPr lang="en-US" altLang="zh-TW" dirty="0">
                <a:latin typeface="Times New Roman" panose="02020603050405020304" pitchFamily="18" charset="0"/>
                <a:cs typeface="Times New Roman" panose="02020603050405020304" pitchFamily="18" charset="0"/>
              </a:rPr>
              <a:t> 1 : Brute Force</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Compute all situation.</a:t>
                </a: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cs typeface="Times New Roman" panose="02020603050405020304" pitchFamily="18" charset="0"/>
                        </a:rPr>
                        <m:t>𝐿𝐶𝑆</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𝑇</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𝐶</m:t>
                          </m:r>
                        </m:e>
                      </m:d>
                      <m:r>
                        <a:rPr lang="en-US" altLang="zh-TW" b="0" i="1" smtClean="0">
                          <a:latin typeface="Cambria Math" panose="02040503050406030204" pitchFamily="18" charset="0"/>
                          <a:cs typeface="Times New Roman" panose="02020603050405020304" pitchFamily="18" charset="0"/>
                        </a:rPr>
                        <m:t>=</m:t>
                      </m:r>
                      <m:r>
                        <m:rPr>
                          <m:sty m:val="p"/>
                        </m:rPr>
                        <a:rPr lang="en-US" altLang="zh-TW" b="0" i="0" smtClean="0">
                          <a:latin typeface="Cambria Math" panose="02040503050406030204" pitchFamily="18" charset="0"/>
                          <a:cs typeface="Times New Roman" panose="02020603050405020304" pitchFamily="18" charset="0"/>
                        </a:rPr>
                        <m:t>max</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𝐿𝐶𝑆</m:t>
                      </m:r>
                      <m:d>
                        <m:dPr>
                          <m:endChr m:val="}"/>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𝑇</m:t>
                          </m:r>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𝑃</m:t>
                              </m:r>
                            </m:e>
                            <m:sub>
                              <m:r>
                                <a:rPr lang="en-US" altLang="zh-TW" b="0" i="1" smtClean="0">
                                  <a:latin typeface="Cambria Math" panose="02040503050406030204" pitchFamily="18" charset="0"/>
                                  <a:cs typeface="Times New Roman" panose="02020603050405020304" pitchFamily="18" charset="0"/>
                                </a:rPr>
                                <m:t>𝑖</m:t>
                              </m:r>
                            </m:sub>
                          </m:sSub>
                          <m:r>
                            <a:rPr lang="en-US" altLang="zh-TW" b="0" i="1" smtClean="0">
                              <a:latin typeface="Cambria Math" panose="02040503050406030204" pitchFamily="18" charset="0"/>
                              <a:cs typeface="Times New Roman" panose="02020603050405020304" pitchFamily="18" charset="0"/>
                            </a:rPr>
                            <m:t>)</m:t>
                          </m:r>
                        </m:e>
                      </m:d>
                    </m:oMath>
                  </m:oMathPara>
                </a14:m>
                <a:endParaRPr lang="en-US" altLang="zh-TW" b="0" dirty="0">
                  <a:latin typeface="Times New Roman" panose="02020603050405020304" pitchFamily="18" charset="0"/>
                  <a:cs typeface="Times New Roman" panose="02020603050405020304" pitchFamily="18" charset="0"/>
                </a:endParaRPr>
              </a:p>
              <a:p>
                <a:pPr marL="0" indent="0">
                  <a:buNone/>
                </a:pPr>
                <a:endParaRPr lang="en-US" altLang="zh-TW" i="1"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Time complexity : </a:t>
                </a:r>
                <a14:m>
                  <m:oMath xmlns:m="http://schemas.openxmlformats.org/officeDocument/2006/math">
                    <m:r>
                      <m:rPr>
                        <m:sty m:val="p"/>
                      </m:rPr>
                      <a:rPr lang="en-US" altLang="zh-TW" b="0" i="0" smtClean="0">
                        <a:latin typeface="Cambria Math" panose="02040503050406030204" pitchFamily="18" charset="0"/>
                        <a:cs typeface="Times New Roman" panose="02020603050405020304" pitchFamily="18" charset="0"/>
                      </a:rPr>
                      <m:t>O</m:t>
                    </m:r>
                    <m:r>
                      <a:rPr lang="en-US" altLang="zh-TW" b="0" i="0" smtClean="0">
                        <a:latin typeface="Cambria Math" panose="02040503050406030204" pitchFamily="18" charset="0"/>
                        <a:cs typeface="Times New Roman" panose="02020603050405020304" pitchFamily="18" charset="0"/>
                      </a:rPr>
                      <m:t>(</m:t>
                    </m:r>
                    <m:r>
                      <m:rPr>
                        <m:nor/>
                      </m:rPr>
                      <a:rPr lang="en-US" altLang="zh-TW" smtClean="0">
                        <a:latin typeface="Times New Roman" panose="02020603050405020304" pitchFamily="18" charset="0"/>
                        <a:cs typeface="Times New Roman" panose="02020603050405020304" pitchFamily="18" charset="0"/>
                      </a:rPr>
                      <m:t>mnk</m:t>
                    </m:r>
                    <m:sSup>
                      <m:sSupPr>
                        <m:ctrlPr>
                          <a:rPr lang="en-US" altLang="zh-TW" b="0" i="1" smtClean="0">
                            <a:solidFill>
                              <a:srgbClr val="0070C0"/>
                            </a:solidFill>
                            <a:latin typeface="Cambria Math" panose="02040503050406030204" pitchFamily="18" charset="0"/>
                            <a:cs typeface="Times New Roman" panose="02020603050405020304" pitchFamily="18" charset="0"/>
                          </a:rPr>
                        </m:ctrlPr>
                      </m:sSupPr>
                      <m:e>
                        <m:r>
                          <a:rPr lang="en-US" altLang="zh-TW" b="0" i="0" smtClean="0">
                            <a:solidFill>
                              <a:srgbClr val="0070C0"/>
                            </a:solidFill>
                            <a:latin typeface="Cambria Math" panose="02040503050406030204" pitchFamily="18" charset="0"/>
                            <a:cs typeface="Times New Roman" panose="02020603050405020304" pitchFamily="18" charset="0"/>
                          </a:rPr>
                          <m:t>|</m:t>
                        </m:r>
                        <m:r>
                          <m:rPr>
                            <m:sty m:val="p"/>
                          </m:rPr>
                          <a:rPr lang="en-US" altLang="zh-TW" b="0" i="0" smtClean="0">
                            <a:solidFill>
                              <a:srgbClr val="0070C0"/>
                            </a:solidFill>
                            <a:latin typeface="Cambria Math" panose="02040503050406030204" pitchFamily="18" charset="0"/>
                            <a:cs typeface="Times New Roman" panose="02020603050405020304" pitchFamily="18" charset="0"/>
                          </a:rPr>
                          <m:t>S</m:t>
                        </m:r>
                        <m:r>
                          <a:rPr lang="en-US" altLang="zh-TW" b="0" i="0" smtClean="0">
                            <a:solidFill>
                              <a:srgbClr val="0070C0"/>
                            </a:solidFill>
                            <a:latin typeface="Cambria Math" panose="02040503050406030204" pitchFamily="18" charset="0"/>
                            <a:cs typeface="Times New Roman" panose="02020603050405020304" pitchFamily="18" charset="0"/>
                          </a:rPr>
                          <m:t>|</m:t>
                        </m:r>
                      </m:e>
                      <m:sup>
                        <m:r>
                          <m:rPr>
                            <m:sty m:val="p"/>
                          </m:rPr>
                          <a:rPr lang="en-US" altLang="zh-TW" b="0" i="0" smtClean="0">
                            <a:solidFill>
                              <a:srgbClr val="0070C0"/>
                            </a:solidFill>
                            <a:latin typeface="Cambria Math" panose="02040503050406030204" pitchFamily="18" charset="0"/>
                            <a:cs typeface="Times New Roman" panose="02020603050405020304" pitchFamily="18" charset="0"/>
                          </a:rPr>
                          <m:t>k</m:t>
                        </m:r>
                      </m:sup>
                    </m:sSup>
                    <m:r>
                      <a:rPr lang="en-US" altLang="zh-TW" b="0" i="0" smtClean="0">
                        <a:latin typeface="Cambria Math" panose="02040503050406030204" pitchFamily="18" charset="0"/>
                        <a:cs typeface="Times New Roman" panose="02020603050405020304" pitchFamily="18" charset="0"/>
                      </a:rPr>
                      <m:t>)</m:t>
                    </m:r>
                  </m:oMath>
                </a14:m>
                <a:endParaRPr lang="en-US" altLang="zh-TW"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
                    </m:oMathParaPr>
                    <m:oMath xmlns:m="http://schemas.openxmlformats.org/officeDocument/2006/math">
                      <m:r>
                        <m:rPr>
                          <m:sty m:val="p"/>
                        </m:rPr>
                        <a:rPr lang="en-US" altLang="zh-TW" i="0" smtClean="0">
                          <a:latin typeface="Cambria Math" panose="02040503050406030204" pitchFamily="18" charset="0"/>
                          <a:cs typeface="Times New Roman" panose="02020603050405020304" pitchFamily="18" charset="0"/>
                        </a:rPr>
                        <m:t>n</m:t>
                      </m:r>
                      <m:r>
                        <a:rPr lang="en-US" altLang="zh-TW" i="0" smtClean="0">
                          <a:latin typeface="Cambria Math" panose="02040503050406030204" pitchFamily="18" charset="0"/>
                          <a:cs typeface="Times New Roman" panose="02020603050405020304" pitchFamily="18" charset="0"/>
                        </a:rPr>
                        <m:t>=</m:t>
                      </m:r>
                      <m:d>
                        <m:dPr>
                          <m:begChr m:val="|"/>
                          <m:endChr m:val="|"/>
                          <m:ctrlPr>
                            <a:rPr lang="en-US" altLang="zh-TW" i="1">
                              <a:latin typeface="Cambria Math" panose="02040503050406030204" pitchFamily="18" charset="0"/>
                              <a:cs typeface="Times New Roman" panose="02020603050405020304" pitchFamily="18" charset="0"/>
                            </a:rPr>
                          </m:ctrlPr>
                        </m:dPr>
                        <m:e>
                          <m:r>
                            <m:rPr>
                              <m:sty m:val="p"/>
                            </m:rPr>
                            <a:rPr lang="en-US" altLang="zh-TW" i="0" smtClean="0">
                              <a:latin typeface="Cambria Math" panose="02040503050406030204" pitchFamily="18" charset="0"/>
                              <a:cs typeface="Times New Roman" panose="02020603050405020304" pitchFamily="18" charset="0"/>
                            </a:rPr>
                            <m:t>T</m:t>
                          </m:r>
                        </m:e>
                      </m:d>
                      <m:r>
                        <a:rPr lang="en-US" altLang="zh-TW" i="0" smtClean="0">
                          <a:latin typeface="Cambria Math" panose="02040503050406030204" pitchFamily="18" charset="0"/>
                          <a:cs typeface="Times New Roman" panose="02020603050405020304" pitchFamily="18" charset="0"/>
                        </a:rPr>
                        <m:t>                                                                           </m:t>
                      </m:r>
                    </m:oMath>
                  </m:oMathPara>
                </a14:m>
                <a:endParaRPr lang="en-US" altLang="zh-TW"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left"/>
                    </m:oMathParaPr>
                    <m:oMath xmlns:m="http://schemas.openxmlformats.org/officeDocument/2006/math">
                      <m:r>
                        <m:rPr>
                          <m:sty m:val="p"/>
                        </m:rPr>
                        <a:rPr lang="en-US" altLang="zh-TW" b="0" i="0" smtClean="0">
                          <a:latin typeface="Cambria Math" panose="02040503050406030204" pitchFamily="18" charset="0"/>
                          <a:cs typeface="Times New Roman" panose="02020603050405020304" pitchFamily="18" charset="0"/>
                        </a:rPr>
                        <m:t>m</m:t>
                      </m:r>
                      <m:r>
                        <a:rPr lang="en-US" altLang="zh-TW" b="0" i="0" smtClean="0">
                          <a:latin typeface="Cambria Math" panose="02040503050406030204" pitchFamily="18" charset="0"/>
                          <a:cs typeface="Times New Roman" panose="02020603050405020304" pitchFamily="18" charset="0"/>
                        </a:rPr>
                        <m:t>=</m:t>
                      </m:r>
                      <m:r>
                        <m:rPr>
                          <m:sty m:val="p"/>
                        </m:rPr>
                        <a:rPr lang="en-US" altLang="zh-TW" b="0" i="0" smtClean="0">
                          <a:latin typeface="Cambria Math" panose="02040503050406030204" pitchFamily="18" charset="0"/>
                          <a:cs typeface="Times New Roman" panose="02020603050405020304" pitchFamily="18" charset="0"/>
                        </a:rPr>
                        <m:t>the</m:t>
                      </m:r>
                      <m:r>
                        <a:rPr lang="en-US" altLang="zh-TW" b="0" i="0" smtClean="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length</m:t>
                      </m:r>
                      <m:r>
                        <a:rPr lang="en-US" altLang="zh-TW" b="0" i="0" smtClean="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of</m:t>
                      </m:r>
                      <m:r>
                        <a:rPr lang="en-US" altLang="zh-TW" b="0" i="0" smtClean="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the</m:t>
                      </m:r>
                      <m:r>
                        <a:rPr lang="en-US" altLang="zh-TW" b="0" i="0" smtClean="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longest</m:t>
                      </m:r>
                      <m:r>
                        <a:rPr lang="en-US" altLang="zh-TW" b="0" i="0" smtClean="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sequence</m:t>
                      </m:r>
                      <m:r>
                        <a:rPr lang="en-US" altLang="zh-TW" b="0" i="0" smtClean="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in</m:t>
                      </m:r>
                      <m:r>
                        <a:rPr lang="en-US" altLang="zh-TW" b="0" i="0" smtClean="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S</m:t>
                      </m:r>
                    </m:oMath>
                  </m:oMathPara>
                </a14:m>
                <a:endParaRPr lang="en-US" altLang="zh-TW" dirty="0">
                  <a:latin typeface="Broadway" panose="04040905080B02020502" pitchFamily="82" charset="0"/>
                  <a:cs typeface="Times New Roman" panose="02020603050405020304" pitchFamily="18" charset="0"/>
                </a:endParaRPr>
              </a:p>
              <a:p>
                <a:pPr marL="0" indent="0">
                  <a:buNone/>
                </a:pPr>
                <a14:m>
                  <m:oMath xmlns:m="http://schemas.openxmlformats.org/officeDocument/2006/math">
                    <m:sSup>
                      <m:sSupPr>
                        <m:ctrlPr>
                          <a:rPr lang="en-US" altLang="zh-TW" i="1">
                            <a:latin typeface="Cambria Math" panose="02040503050406030204" pitchFamily="18" charset="0"/>
                            <a:cs typeface="Times New Roman" panose="02020603050405020304" pitchFamily="18" charset="0"/>
                          </a:rPr>
                        </m:ctrlPr>
                      </m:sSupPr>
                      <m:e>
                        <m:r>
                          <a:rPr lang="en-US" altLang="zh-TW" i="0" smtClean="0">
                            <a:latin typeface="Cambria Math" panose="02040503050406030204" pitchFamily="18" charset="0"/>
                            <a:cs typeface="Times New Roman" panose="02020603050405020304" pitchFamily="18" charset="0"/>
                          </a:rPr>
                          <m:t>|</m:t>
                        </m:r>
                        <m:r>
                          <m:rPr>
                            <m:sty m:val="p"/>
                          </m:rPr>
                          <a:rPr lang="en-US" altLang="zh-TW" i="0" smtClean="0">
                            <a:latin typeface="Cambria Math" panose="02040503050406030204" pitchFamily="18" charset="0"/>
                            <a:cs typeface="Times New Roman" panose="02020603050405020304" pitchFamily="18" charset="0"/>
                          </a:rPr>
                          <m:t>S</m:t>
                        </m:r>
                        <m:r>
                          <a:rPr lang="en-US" altLang="zh-TW" i="0" smtClean="0">
                            <a:latin typeface="Cambria Math" panose="02040503050406030204" pitchFamily="18" charset="0"/>
                            <a:cs typeface="Times New Roman" panose="02020603050405020304" pitchFamily="18" charset="0"/>
                          </a:rPr>
                          <m:t>|</m:t>
                        </m:r>
                      </m:e>
                      <m:sup>
                        <m:r>
                          <m:rPr>
                            <m:sty m:val="p"/>
                          </m:rPr>
                          <a:rPr lang="en-US" altLang="zh-TW" i="0" smtClean="0">
                            <a:latin typeface="Cambria Math" panose="02040503050406030204" pitchFamily="18" charset="0"/>
                            <a:cs typeface="Times New Roman" panose="02020603050405020304" pitchFamily="18" charset="0"/>
                          </a:rPr>
                          <m:t>k</m:t>
                        </m:r>
                      </m:sup>
                    </m:sSup>
                  </m:oMath>
                </a14:m>
                <a:r>
                  <a:rPr lang="en-US" altLang="zh-TW" dirty="0">
                    <a:latin typeface="Times New Roman" panose="02020603050405020304" pitchFamily="18" charset="0"/>
                    <a:cs typeface="Times New Roman" panose="02020603050405020304" pitchFamily="18" charset="0"/>
                  </a:rPr>
                  <a:t>= possible mosaic sequences</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a:blip r:embed="rId2"/>
                <a:stretch>
                  <a:fillRect l="-1852" t="-1887" b="-229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8175734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sz="4000" dirty="0">
                <a:latin typeface="Times New Roman" panose="02020603050405020304" pitchFamily="18" charset="0"/>
                <a:cs typeface="Times New Roman" panose="02020603050405020304" pitchFamily="18" charset="0"/>
              </a:rPr>
              <a:t>Method</a:t>
            </a:r>
            <a:r>
              <a:rPr lang="en-US" altLang="zh-TW" dirty="0">
                <a:latin typeface="Times New Roman" panose="02020603050405020304" pitchFamily="18" charset="0"/>
                <a:cs typeface="Times New Roman" panose="02020603050405020304" pitchFamily="18" charset="0"/>
              </a:rPr>
              <a:t> 2 : Divide-and-Conquer</a:t>
            </a:r>
            <a:endParaRPr lang="zh-TW" altLang="en-US" dirty="0">
              <a:latin typeface="Times New Roman" panose="02020603050405020304" pitchFamily="18" charset="0"/>
              <a:cs typeface="Times New Roman" panose="02020603050405020304" pitchFamily="18" charset="0"/>
            </a:endParaRPr>
          </a:p>
        </p:txBody>
      </p:sp>
      <p:cxnSp>
        <p:nvCxnSpPr>
          <p:cNvPr id="5" name="直線接點 4"/>
          <p:cNvCxnSpPr/>
          <p:nvPr/>
        </p:nvCxnSpPr>
        <p:spPr>
          <a:xfrm>
            <a:off x="1689709" y="2505155"/>
            <a:ext cx="5400000" cy="0"/>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線接點 6"/>
          <p:cNvCxnSpPr/>
          <p:nvPr/>
        </p:nvCxnSpPr>
        <p:spPr>
          <a:xfrm>
            <a:off x="1689709" y="3685587"/>
            <a:ext cx="5400000" cy="0"/>
          </a:xfrm>
          <a:prstGeom prst="line">
            <a:avLst/>
          </a:prstGeom>
          <a:ln w="635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 name="直線接點 7"/>
          <p:cNvCxnSpPr/>
          <p:nvPr/>
        </p:nvCxnSpPr>
        <p:spPr>
          <a:xfrm flipV="1">
            <a:off x="4029727" y="3421110"/>
            <a:ext cx="5719" cy="528953"/>
          </a:xfrm>
          <a:prstGeom prst="line">
            <a:avLst/>
          </a:prstGeom>
          <a:ln w="635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 name="直線接點 9"/>
          <p:cNvCxnSpPr/>
          <p:nvPr/>
        </p:nvCxnSpPr>
        <p:spPr>
          <a:xfrm flipV="1">
            <a:off x="4770850" y="2306639"/>
            <a:ext cx="5719" cy="528953"/>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文字方塊 10"/>
          <p:cNvSpPr txBox="1"/>
          <p:nvPr/>
        </p:nvSpPr>
        <p:spPr>
          <a:xfrm>
            <a:off x="1198988" y="2232382"/>
            <a:ext cx="375424" cy="1815882"/>
          </a:xfrm>
          <a:prstGeom prst="rect">
            <a:avLst/>
          </a:prstGeom>
          <a:noFill/>
        </p:spPr>
        <p:txBody>
          <a:bodyPr wrap="none" rtlCol="0">
            <a:spAutoFit/>
          </a:bodyPr>
          <a:lstStyle/>
          <a:p>
            <a:r>
              <a:rPr lang="en-US" altLang="zh-TW" sz="2800" dirty="0"/>
              <a:t>T</a:t>
            </a:r>
          </a:p>
          <a:p>
            <a:endParaRPr lang="en-US" altLang="zh-TW" sz="2800" dirty="0"/>
          </a:p>
          <a:p>
            <a:endParaRPr lang="en-US" altLang="zh-TW" sz="2800" dirty="0"/>
          </a:p>
          <a:p>
            <a:r>
              <a:rPr lang="en-US" altLang="zh-TW" sz="2800" dirty="0"/>
              <a:t>C</a:t>
            </a:r>
          </a:p>
        </p:txBody>
      </p:sp>
      <mc:AlternateContent xmlns:mc="http://schemas.openxmlformats.org/markup-compatibility/2006" xmlns:a14="http://schemas.microsoft.com/office/drawing/2010/main">
        <mc:Choice Requires="a14">
          <p:sp>
            <p:nvSpPr>
              <p:cNvPr id="21" name="文字方塊 20"/>
              <p:cNvSpPr txBox="1"/>
              <p:nvPr/>
            </p:nvSpPr>
            <p:spPr>
              <a:xfrm>
                <a:off x="198444" y="4342642"/>
                <a:ext cx="883511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𝐿𝐶𝑆</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𝑇</m:t>
                          </m:r>
                          <m:r>
                            <a:rPr lang="en-US" altLang="zh-TW" sz="2800" b="0" i="1" smtClean="0">
                              <a:latin typeface="Cambria Math" panose="02040503050406030204" pitchFamily="18" charset="0"/>
                            </a:rPr>
                            <m:t>[1,</m:t>
                          </m:r>
                          <m:r>
                            <a:rPr lang="en-US" altLang="zh-TW" sz="2800" b="0" i="1" smtClean="0">
                              <a:latin typeface="Cambria Math" panose="02040503050406030204" pitchFamily="18" charset="0"/>
                            </a:rPr>
                            <m:t>𝑛</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𝐶</m:t>
                          </m:r>
                        </m:e>
                      </m:d>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𝐿𝐶𝑆</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𝑇</m:t>
                          </m:r>
                          <m:d>
                            <m:dPr>
                              <m:begChr m:val="["/>
                              <m:endChr m:val="]"/>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1,</m:t>
                              </m:r>
                              <m:r>
                                <a:rPr lang="en-US" altLang="zh-TW" sz="2800" b="0" i="1" smtClean="0">
                                  <a:latin typeface="Cambria Math" panose="02040503050406030204" pitchFamily="18" charset="0"/>
                                </a:rPr>
                                <m:t>𝑟</m:t>
                              </m:r>
                            </m:e>
                          </m:d>
                          <m:r>
                            <a:rPr lang="en-US" altLang="zh-TW" sz="2800" b="0" i="1" smtClean="0">
                              <a:latin typeface="Cambria Math" panose="02040503050406030204" pitchFamily="18" charset="0"/>
                            </a:rPr>
                            <m:t>,</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𝐶</m:t>
                              </m:r>
                            </m:e>
                            <m:sub>
                              <m:r>
                                <a:rPr lang="en-US" altLang="zh-TW" sz="2800" b="0" i="1" smtClean="0">
                                  <a:latin typeface="Cambria Math" panose="02040503050406030204" pitchFamily="18" charset="0"/>
                                </a:rPr>
                                <m:t>1</m:t>
                              </m:r>
                            </m:sub>
                          </m:sSub>
                        </m:e>
                      </m:d>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𝐿𝐶𝑆</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𝑇</m:t>
                      </m:r>
                      <m:d>
                        <m:dPr>
                          <m:begChr m:val="["/>
                          <m:endChr m:val="]"/>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𝑟</m:t>
                          </m:r>
                          <m:r>
                            <a:rPr lang="en-US" altLang="zh-TW" sz="2800" b="0" i="1" smtClean="0">
                              <a:latin typeface="Cambria Math" panose="02040503050406030204" pitchFamily="18" charset="0"/>
                            </a:rPr>
                            <m:t>+1,</m:t>
                          </m:r>
                          <m:r>
                            <a:rPr lang="en-US" altLang="zh-TW" sz="2800" b="0" i="1" smtClean="0">
                              <a:latin typeface="Cambria Math" panose="02040503050406030204" pitchFamily="18" charset="0"/>
                            </a:rPr>
                            <m:t>𝑛</m:t>
                          </m:r>
                        </m:e>
                      </m:d>
                      <m:r>
                        <a:rPr lang="en-US" altLang="zh-TW" sz="2800" b="0" i="1" smtClean="0">
                          <a:latin typeface="Cambria Math" panose="02040503050406030204" pitchFamily="18" charset="0"/>
                        </a:rPr>
                        <m:t>,</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𝐶</m:t>
                          </m:r>
                        </m:e>
                        <m:sub>
                          <m:r>
                            <a:rPr lang="en-US" altLang="zh-TW" sz="2800" b="0" i="1" smtClean="0">
                              <a:latin typeface="Cambria Math" panose="02040503050406030204" pitchFamily="18" charset="0"/>
                            </a:rPr>
                            <m:t>2</m:t>
                          </m:r>
                        </m:sub>
                      </m:sSub>
                      <m:r>
                        <a:rPr lang="en-US" altLang="zh-TW" sz="2800" b="0" i="1" smtClean="0">
                          <a:latin typeface="Cambria Math" panose="02040503050406030204" pitchFamily="18" charset="0"/>
                        </a:rPr>
                        <m:t>)</m:t>
                      </m:r>
                    </m:oMath>
                  </m:oMathPara>
                </a14:m>
                <a:endParaRPr lang="zh-TW" altLang="en-US" sz="2800" dirty="0"/>
              </a:p>
            </p:txBody>
          </p:sp>
        </mc:Choice>
        <mc:Fallback xmlns="">
          <p:sp>
            <p:nvSpPr>
              <p:cNvPr id="21" name="文字方塊 20"/>
              <p:cNvSpPr txBox="1">
                <a:spLocks noRot="1" noChangeAspect="1" noMove="1" noResize="1" noEditPoints="1" noAdjustHandles="1" noChangeArrowheads="1" noChangeShapeType="1" noTextEdit="1"/>
              </p:cNvSpPr>
              <p:nvPr/>
            </p:nvSpPr>
            <p:spPr>
              <a:xfrm>
                <a:off x="198444" y="4342642"/>
                <a:ext cx="8835111" cy="523220"/>
              </a:xfrm>
              <a:prstGeom prst="rect">
                <a:avLst/>
              </a:prstGeom>
              <a:blipFill>
                <a:blip r:embed="rId2"/>
                <a:stretch>
                  <a:fillRect/>
                </a:stretch>
              </a:blipFill>
            </p:spPr>
            <p:txBody>
              <a:bodyPr/>
              <a:lstStyle/>
              <a:p>
                <a:r>
                  <a:rPr lang="zh-TW" altLang="en-US">
                    <a:noFill/>
                  </a:rPr>
                  <a:t> </a:t>
                </a:r>
              </a:p>
            </p:txBody>
          </p:sp>
        </mc:Fallback>
      </mc:AlternateContent>
      <p:sp>
        <p:nvSpPr>
          <p:cNvPr id="23" name="文字方塊 22">
            <a:extLst>
              <a:ext uri="{FF2B5EF4-FFF2-40B4-BE49-F238E27FC236}">
                <a16:creationId xmlns:a16="http://schemas.microsoft.com/office/drawing/2014/main" id="{AAC3150C-1F60-4E07-ABB7-9D1CEE15D745}"/>
              </a:ext>
            </a:extLst>
          </p:cNvPr>
          <p:cNvSpPr txBox="1"/>
          <p:nvPr/>
        </p:nvSpPr>
        <p:spPr>
          <a:xfrm>
            <a:off x="4616000" y="2737527"/>
            <a:ext cx="309700" cy="523220"/>
          </a:xfrm>
          <a:prstGeom prst="rect">
            <a:avLst/>
          </a:prstGeom>
          <a:noFill/>
        </p:spPr>
        <p:txBody>
          <a:bodyPr wrap="none" rtlCol="0">
            <a:spAutoFit/>
          </a:bodyPr>
          <a:lstStyle/>
          <a:p>
            <a:r>
              <a:rPr lang="en-US" altLang="zh-TW" sz="2800" dirty="0"/>
              <a:t>r</a:t>
            </a:r>
          </a:p>
        </p:txBody>
      </p:sp>
      <p:sp>
        <p:nvSpPr>
          <p:cNvPr id="24" name="文字方塊 23">
            <a:extLst>
              <a:ext uri="{FF2B5EF4-FFF2-40B4-BE49-F238E27FC236}">
                <a16:creationId xmlns:a16="http://schemas.microsoft.com/office/drawing/2014/main" id="{D9148F53-AA42-47EF-A1D6-6B0455BE610C}"/>
              </a:ext>
            </a:extLst>
          </p:cNvPr>
          <p:cNvSpPr txBox="1"/>
          <p:nvPr/>
        </p:nvSpPr>
        <p:spPr>
          <a:xfrm>
            <a:off x="6788434" y="2737527"/>
            <a:ext cx="373820" cy="523220"/>
          </a:xfrm>
          <a:prstGeom prst="rect">
            <a:avLst/>
          </a:prstGeom>
          <a:noFill/>
        </p:spPr>
        <p:txBody>
          <a:bodyPr wrap="none" rtlCol="0">
            <a:spAutoFit/>
          </a:bodyPr>
          <a:lstStyle/>
          <a:p>
            <a:r>
              <a:rPr lang="en-US" altLang="zh-TW" sz="2800" dirty="0"/>
              <a:t>n</a:t>
            </a:r>
          </a:p>
        </p:txBody>
      </p:sp>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F104743A-027D-474C-9453-C15D0E8516DC}"/>
                  </a:ext>
                </a:extLst>
              </p:cNvPr>
              <p:cNvSpPr txBox="1"/>
              <p:nvPr/>
            </p:nvSpPr>
            <p:spPr>
              <a:xfrm>
                <a:off x="2590888" y="3664059"/>
                <a:ext cx="61908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𝐶</m:t>
                          </m:r>
                        </m:e>
                        <m:sub>
                          <m:r>
                            <a:rPr lang="en-US" altLang="zh-TW" sz="2800" b="0" i="1" smtClean="0">
                              <a:latin typeface="Cambria Math" panose="02040503050406030204" pitchFamily="18" charset="0"/>
                            </a:rPr>
                            <m:t>1</m:t>
                          </m:r>
                        </m:sub>
                      </m:sSub>
                    </m:oMath>
                  </m:oMathPara>
                </a14:m>
                <a:endParaRPr lang="en-US" altLang="zh-TW" sz="2800" dirty="0"/>
              </a:p>
            </p:txBody>
          </p:sp>
        </mc:Choice>
        <mc:Fallback xmlns="">
          <p:sp>
            <p:nvSpPr>
              <p:cNvPr id="25" name="文字方塊 24">
                <a:extLst>
                  <a:ext uri="{FF2B5EF4-FFF2-40B4-BE49-F238E27FC236}">
                    <a16:creationId xmlns:a16="http://schemas.microsoft.com/office/drawing/2014/main" id="{F104743A-027D-474C-9453-C15D0E8516DC}"/>
                  </a:ext>
                </a:extLst>
              </p:cNvPr>
              <p:cNvSpPr txBox="1">
                <a:spLocks noRot="1" noChangeAspect="1" noMove="1" noResize="1" noEditPoints="1" noAdjustHandles="1" noChangeArrowheads="1" noChangeShapeType="1" noTextEdit="1"/>
              </p:cNvSpPr>
              <p:nvPr/>
            </p:nvSpPr>
            <p:spPr>
              <a:xfrm>
                <a:off x="2590888" y="3664059"/>
                <a:ext cx="619080" cy="523220"/>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DAC566F6-FED9-4F56-BA5B-74CC9680EAC4}"/>
                  </a:ext>
                </a:extLst>
              </p:cNvPr>
              <p:cNvSpPr txBox="1"/>
              <p:nvPr/>
            </p:nvSpPr>
            <p:spPr>
              <a:xfrm>
                <a:off x="5355743" y="3664059"/>
                <a:ext cx="62735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𝐶</m:t>
                          </m:r>
                        </m:e>
                        <m:sub>
                          <m:r>
                            <a:rPr lang="en-US" altLang="zh-TW" sz="2800" b="0" i="1" smtClean="0">
                              <a:latin typeface="Cambria Math" panose="02040503050406030204" pitchFamily="18" charset="0"/>
                            </a:rPr>
                            <m:t>2</m:t>
                          </m:r>
                        </m:sub>
                      </m:sSub>
                    </m:oMath>
                  </m:oMathPara>
                </a14:m>
                <a:endParaRPr lang="en-US" altLang="zh-TW" sz="2800" dirty="0"/>
              </a:p>
            </p:txBody>
          </p:sp>
        </mc:Choice>
        <mc:Fallback xmlns="">
          <p:sp>
            <p:nvSpPr>
              <p:cNvPr id="27" name="文字方塊 26">
                <a:extLst>
                  <a:ext uri="{FF2B5EF4-FFF2-40B4-BE49-F238E27FC236}">
                    <a16:creationId xmlns:a16="http://schemas.microsoft.com/office/drawing/2014/main" id="{DAC566F6-FED9-4F56-BA5B-74CC9680EAC4}"/>
                  </a:ext>
                </a:extLst>
              </p:cNvPr>
              <p:cNvSpPr txBox="1">
                <a:spLocks noRot="1" noChangeAspect="1" noMove="1" noResize="1" noEditPoints="1" noAdjustHandles="1" noChangeArrowheads="1" noChangeShapeType="1" noTextEdit="1"/>
              </p:cNvSpPr>
              <p:nvPr/>
            </p:nvSpPr>
            <p:spPr>
              <a:xfrm>
                <a:off x="5355743" y="3664059"/>
                <a:ext cx="627351" cy="523220"/>
              </a:xfrm>
              <a:prstGeom prst="rect">
                <a:avLst/>
              </a:prstGeom>
              <a:blipFill>
                <a:blip r:embed="rId4"/>
                <a:stretch>
                  <a:fillRect/>
                </a:stretch>
              </a:blipFill>
            </p:spPr>
            <p:txBody>
              <a:bodyPr/>
              <a:lstStyle/>
              <a:p>
                <a:r>
                  <a:rPr lang="zh-TW" altLang="en-US">
                    <a:noFill/>
                  </a:rPr>
                  <a:t> </a:t>
                </a:r>
              </a:p>
            </p:txBody>
          </p:sp>
        </mc:Fallback>
      </mc:AlternateContent>
      <p:sp>
        <p:nvSpPr>
          <p:cNvPr id="28" name="文字方塊 27">
            <a:extLst>
              <a:ext uri="{FF2B5EF4-FFF2-40B4-BE49-F238E27FC236}">
                <a16:creationId xmlns:a16="http://schemas.microsoft.com/office/drawing/2014/main" id="{96C74649-A074-4AD5-80D4-732B23B2DDA5}"/>
              </a:ext>
            </a:extLst>
          </p:cNvPr>
          <p:cNvSpPr txBox="1"/>
          <p:nvPr/>
        </p:nvSpPr>
        <p:spPr>
          <a:xfrm>
            <a:off x="154444" y="1507905"/>
            <a:ext cx="710451" cy="523220"/>
          </a:xfrm>
          <a:prstGeom prst="rect">
            <a:avLst/>
          </a:prstGeom>
          <a:noFill/>
        </p:spPr>
        <p:txBody>
          <a:bodyPr wrap="none" rtlCol="0">
            <a:spAutoFit/>
          </a:bodyPr>
          <a:lstStyle/>
          <a:p>
            <a:r>
              <a:rPr lang="en-US" altLang="zh-TW" sz="2800" dirty="0"/>
              <a:t>k=2</a:t>
            </a:r>
            <a:endParaRPr lang="zh-TW" altLang="en-US" sz="2800" dirty="0"/>
          </a:p>
        </p:txBody>
      </p:sp>
    </p:spTree>
    <p:extLst>
      <p:ext uri="{BB962C8B-B14F-4D97-AF65-F5344CB8AC3E}">
        <p14:creationId xmlns:p14="http://schemas.microsoft.com/office/powerpoint/2010/main" val="3970293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sz="4000" dirty="0">
                <a:latin typeface="Times New Roman" panose="02020603050405020304" pitchFamily="18" charset="0"/>
                <a:cs typeface="Times New Roman" panose="02020603050405020304" pitchFamily="18" charset="0"/>
              </a:rPr>
              <a:t>Method</a:t>
            </a:r>
            <a:r>
              <a:rPr lang="en-US" altLang="zh-TW" dirty="0">
                <a:latin typeface="Times New Roman" panose="02020603050405020304" pitchFamily="18" charset="0"/>
                <a:cs typeface="Times New Roman" panose="02020603050405020304" pitchFamily="18" charset="0"/>
              </a:rPr>
              <a:t> 2 : Divide-and-Conquer</a:t>
            </a:r>
            <a:endParaRPr lang="zh-TW" altLang="en-US" dirty="0">
              <a:latin typeface="Times New Roman" panose="02020603050405020304" pitchFamily="18" charset="0"/>
              <a:cs typeface="Times New Roman" panose="02020603050405020304" pitchFamily="18" charset="0"/>
            </a:endParaRPr>
          </a:p>
        </p:txBody>
      </p:sp>
      <p:cxnSp>
        <p:nvCxnSpPr>
          <p:cNvPr id="12" name="直線接點 11"/>
          <p:cNvCxnSpPr/>
          <p:nvPr/>
        </p:nvCxnSpPr>
        <p:spPr>
          <a:xfrm>
            <a:off x="1689709" y="2092901"/>
            <a:ext cx="5400000" cy="0"/>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a:off x="1689709" y="2948943"/>
            <a:ext cx="5400000" cy="0"/>
          </a:xfrm>
          <a:prstGeom prst="line">
            <a:avLst/>
          </a:prstGeom>
          <a:ln w="635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4" name="直線接點 13"/>
          <p:cNvCxnSpPr/>
          <p:nvPr/>
        </p:nvCxnSpPr>
        <p:spPr>
          <a:xfrm flipV="1">
            <a:off x="6239527" y="2684465"/>
            <a:ext cx="5719" cy="528953"/>
          </a:xfrm>
          <a:prstGeom prst="line">
            <a:avLst/>
          </a:prstGeom>
          <a:ln w="63500">
            <a:solidFill>
              <a:srgbClr val="00B0F0"/>
            </a:solidFill>
          </a:ln>
        </p:spPr>
        <p:style>
          <a:lnRef idx="1">
            <a:schemeClr val="accent1"/>
          </a:lnRef>
          <a:fillRef idx="0">
            <a:schemeClr val="accent1"/>
          </a:fillRef>
          <a:effectRef idx="0">
            <a:schemeClr val="accent1"/>
          </a:effectRef>
          <a:fontRef idx="minor">
            <a:schemeClr val="tx1"/>
          </a:fontRef>
        </p:style>
      </p:cxnSp>
      <p:sp>
        <p:nvSpPr>
          <p:cNvPr id="16" name="文字方塊 15"/>
          <p:cNvSpPr txBox="1"/>
          <p:nvPr/>
        </p:nvSpPr>
        <p:spPr>
          <a:xfrm>
            <a:off x="1190625" y="1828424"/>
            <a:ext cx="375424" cy="1384995"/>
          </a:xfrm>
          <a:prstGeom prst="rect">
            <a:avLst/>
          </a:prstGeom>
          <a:noFill/>
        </p:spPr>
        <p:txBody>
          <a:bodyPr wrap="none" rtlCol="0">
            <a:spAutoFit/>
          </a:bodyPr>
          <a:lstStyle/>
          <a:p>
            <a:r>
              <a:rPr lang="en-US" altLang="zh-TW" sz="2800" dirty="0"/>
              <a:t>T</a:t>
            </a:r>
          </a:p>
          <a:p>
            <a:endParaRPr lang="en-US" altLang="zh-TW" sz="2800" dirty="0"/>
          </a:p>
          <a:p>
            <a:r>
              <a:rPr lang="en-US" altLang="zh-TW" sz="2800" dirty="0"/>
              <a:t>C</a:t>
            </a:r>
          </a:p>
        </p:txBody>
      </p:sp>
      <p:cxnSp>
        <p:nvCxnSpPr>
          <p:cNvPr id="17" name="直線接點 16"/>
          <p:cNvCxnSpPr/>
          <p:nvPr/>
        </p:nvCxnSpPr>
        <p:spPr>
          <a:xfrm flipV="1">
            <a:off x="3899928" y="1793944"/>
            <a:ext cx="5719" cy="528953"/>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flipV="1">
            <a:off x="5163202" y="2684465"/>
            <a:ext cx="5719" cy="528953"/>
          </a:xfrm>
          <a:prstGeom prst="line">
            <a:avLst/>
          </a:prstGeom>
          <a:ln w="635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直線接點 18"/>
          <p:cNvCxnSpPr/>
          <p:nvPr/>
        </p:nvCxnSpPr>
        <p:spPr>
          <a:xfrm flipV="1">
            <a:off x="2792168" y="2684465"/>
            <a:ext cx="5719" cy="528953"/>
          </a:xfrm>
          <a:prstGeom prst="line">
            <a:avLst/>
          </a:prstGeom>
          <a:ln w="635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0" name="直線接點 19"/>
          <p:cNvCxnSpPr/>
          <p:nvPr/>
        </p:nvCxnSpPr>
        <p:spPr>
          <a:xfrm flipV="1">
            <a:off x="3637375" y="2684465"/>
            <a:ext cx="5719" cy="528953"/>
          </a:xfrm>
          <a:prstGeom prst="line">
            <a:avLst/>
          </a:prstGeom>
          <a:ln w="63500">
            <a:solidFill>
              <a:srgbClr val="00B0F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文字方塊 21"/>
              <p:cNvSpPr txBox="1"/>
              <p:nvPr/>
            </p:nvSpPr>
            <p:spPr>
              <a:xfrm>
                <a:off x="160795" y="3615631"/>
                <a:ext cx="8907054" cy="2174378"/>
              </a:xfrm>
              <a:prstGeom prst="rect">
                <a:avLst/>
              </a:prstGeom>
              <a:noFill/>
            </p:spPr>
            <p:txBody>
              <a:bodyPr wrap="none" rtlCol="0">
                <a:spAutoFit/>
              </a:bodyPr>
              <a:lstStyle/>
              <a:p>
                <a14:m>
                  <m:oMath xmlns:m="http://schemas.openxmlformats.org/officeDocument/2006/math">
                    <m:r>
                      <a:rPr lang="en-US" altLang="zh-TW" sz="2800" i="1" dirty="0" smtClean="0">
                        <a:latin typeface="Cambria Math" panose="02040503050406030204" pitchFamily="18" charset="0"/>
                      </a:rPr>
                      <m:t>𝐹𝑖𝑛𝑑</m:t>
                    </m:r>
                    <m:r>
                      <a:rPr lang="en-US" altLang="zh-TW" sz="2800" i="1" dirty="0" smtClean="0">
                        <a:latin typeface="Cambria Math" panose="02040503050406030204" pitchFamily="18" charset="0"/>
                      </a:rPr>
                      <m:t> </m:t>
                    </m:r>
                    <m:r>
                      <a:rPr lang="en-US" altLang="zh-TW" sz="2800" i="1" dirty="0" smtClean="0">
                        <a:latin typeface="Cambria Math" panose="02040503050406030204" pitchFamily="18" charset="0"/>
                      </a:rPr>
                      <m:t>𝑎</m:t>
                    </m:r>
                    <m:r>
                      <a:rPr lang="en-US" altLang="zh-TW" sz="2800" i="1" dirty="0" smtClean="0">
                        <a:latin typeface="Cambria Math" panose="02040503050406030204" pitchFamily="18" charset="0"/>
                      </a:rPr>
                      <m:t> </m:t>
                    </m:r>
                    <m:r>
                      <a:rPr lang="en-US" altLang="zh-TW" sz="2800" i="1" dirty="0" smtClean="0">
                        <a:latin typeface="Cambria Math" panose="02040503050406030204" pitchFamily="18" charset="0"/>
                      </a:rPr>
                      <m:t>𝑣𝑒𝑐𝑡𝑜𝑟</m:t>
                    </m:r>
                    <m:r>
                      <a:rPr lang="en-US" altLang="zh-TW" sz="2800" i="1" dirty="0" smtClean="0">
                        <a:latin typeface="Cambria Math" panose="02040503050406030204" pitchFamily="18" charset="0"/>
                      </a:rPr>
                      <m:t> </m:t>
                    </m:r>
                    <m:r>
                      <a:rPr lang="en-US" altLang="zh-TW" sz="2800" i="1" dirty="0" smtClean="0">
                        <a:latin typeface="Cambria Math" panose="02040503050406030204" pitchFamily="18" charset="0"/>
                      </a:rPr>
                      <m:t>𝑜𝑓</m:t>
                    </m:r>
                    <m:r>
                      <a:rPr lang="en-US" altLang="zh-TW" sz="2800" i="1" dirty="0" smtClean="0">
                        <a:latin typeface="Cambria Math" panose="02040503050406030204" pitchFamily="18" charset="0"/>
                      </a:rPr>
                      <m:t> </m:t>
                    </m:r>
                    <m:r>
                      <a:rPr lang="en-US" altLang="zh-TW" sz="2800" i="1" dirty="0" smtClean="0">
                        <a:latin typeface="Cambria Math" panose="02040503050406030204" pitchFamily="18" charset="0"/>
                      </a:rPr>
                      <m:t>𝑏𝑟𝑒𝑎𝑘</m:t>
                    </m:r>
                    <m:r>
                      <a:rPr lang="en-US" altLang="zh-TW" sz="2800" i="1" dirty="0" smtClean="0">
                        <a:latin typeface="Cambria Math" panose="02040503050406030204" pitchFamily="18" charset="0"/>
                      </a:rPr>
                      <m:t> </m:t>
                    </m:r>
                    <m:r>
                      <a:rPr lang="en-US" altLang="zh-TW" sz="2800" i="1" dirty="0" smtClean="0">
                        <a:latin typeface="Cambria Math" panose="02040503050406030204" pitchFamily="18" charset="0"/>
                      </a:rPr>
                      <m:t>𝑝𝑜𝑖𝑛𝑡𝑠</m:t>
                    </m:r>
                    <m:r>
                      <a:rPr lang="en-US" altLang="zh-TW" sz="2800" i="1" dirty="0" smtClean="0">
                        <a:latin typeface="Cambria Math" panose="02040503050406030204" pitchFamily="18" charset="0"/>
                      </a:rPr>
                      <m:t> </m:t>
                    </m:r>
                    <m:r>
                      <a:rPr lang="en-US" altLang="zh-TW" sz="2800" i="1" dirty="0" smtClean="0">
                        <a:latin typeface="Cambria Math" panose="02040503050406030204" pitchFamily="18" charset="0"/>
                      </a:rPr>
                      <m:t>𝑟</m:t>
                    </m:r>
                    <m:r>
                      <a:rPr lang="en-US" altLang="zh-TW" sz="2800" i="1" dirty="0" smtClean="0">
                        <a:latin typeface="Cambria Math" panose="02040503050406030204" pitchFamily="18" charset="0"/>
                      </a:rPr>
                      <m:t>=(</m:t>
                    </m:r>
                    <m:sSub>
                      <m:sSubPr>
                        <m:ctrlPr>
                          <a:rPr lang="en-US" altLang="zh-TW" sz="2800" i="1" dirty="0" smtClean="0">
                            <a:latin typeface="Cambria Math" panose="02040503050406030204" pitchFamily="18" charset="0"/>
                          </a:rPr>
                        </m:ctrlPr>
                      </m:sSubPr>
                      <m:e>
                        <m:r>
                          <a:rPr lang="en-US" altLang="zh-TW" sz="2800" b="0" i="1" dirty="0" smtClean="0">
                            <a:latin typeface="Cambria Math" panose="02040503050406030204" pitchFamily="18" charset="0"/>
                          </a:rPr>
                          <m:t>𝑟</m:t>
                        </m:r>
                      </m:e>
                      <m:sub>
                        <m:r>
                          <a:rPr lang="en-US" altLang="zh-TW" sz="2800" b="0" i="1" dirty="0" smtClean="0">
                            <a:latin typeface="Cambria Math" panose="02040503050406030204" pitchFamily="18" charset="0"/>
                          </a:rPr>
                          <m:t>0</m:t>
                        </m:r>
                      </m:sub>
                    </m:sSub>
                    <m:r>
                      <a:rPr lang="en-US" altLang="zh-TW" sz="2800" b="0" i="1" dirty="0" smtClean="0">
                        <a:latin typeface="Cambria Math" panose="02040503050406030204" pitchFamily="18" charset="0"/>
                      </a:rPr>
                      <m:t>,</m:t>
                    </m:r>
                    <m:sSub>
                      <m:sSubPr>
                        <m:ctrlPr>
                          <a:rPr lang="en-US" altLang="zh-TW" sz="2800" i="1" dirty="0" smtClean="0">
                            <a:latin typeface="Cambria Math" panose="02040503050406030204" pitchFamily="18" charset="0"/>
                          </a:rPr>
                        </m:ctrlPr>
                      </m:sSubPr>
                      <m:e>
                        <m:r>
                          <a:rPr lang="en-US" altLang="zh-TW" sz="2800" b="0" i="1" dirty="0" smtClean="0">
                            <a:latin typeface="Cambria Math" panose="02040503050406030204" pitchFamily="18" charset="0"/>
                          </a:rPr>
                          <m:t>𝑟</m:t>
                        </m:r>
                      </m:e>
                      <m:sub>
                        <m:r>
                          <a:rPr lang="en-US" altLang="zh-TW" sz="2800" b="0" i="1" dirty="0" smtClean="0">
                            <a:latin typeface="Cambria Math" panose="02040503050406030204" pitchFamily="18" charset="0"/>
                          </a:rPr>
                          <m:t>1</m:t>
                        </m:r>
                      </m:sub>
                    </m:sSub>
                    <m:r>
                      <a:rPr lang="en-US" altLang="zh-TW" sz="2800" b="0" i="1" dirty="0" smtClean="0">
                        <a:latin typeface="Cambria Math" panose="02040503050406030204" pitchFamily="18" charset="0"/>
                      </a:rPr>
                      <m:t>…</m:t>
                    </m:r>
                    <m:sSub>
                      <m:sSubPr>
                        <m:ctrlPr>
                          <a:rPr lang="en-US" altLang="zh-TW" sz="2800" b="0" i="1" dirty="0" smtClean="0">
                            <a:latin typeface="Cambria Math" panose="02040503050406030204" pitchFamily="18" charset="0"/>
                          </a:rPr>
                        </m:ctrlPr>
                      </m:sSubPr>
                      <m:e>
                        <m:r>
                          <a:rPr lang="en-US" altLang="zh-TW" sz="2800" b="0" i="1" dirty="0" smtClean="0">
                            <a:latin typeface="Cambria Math" panose="02040503050406030204" pitchFamily="18" charset="0"/>
                          </a:rPr>
                          <m:t>𝑟</m:t>
                        </m:r>
                      </m:e>
                      <m:sub>
                        <m:r>
                          <a:rPr lang="en-US" altLang="zh-TW" sz="2800" b="0" i="1" dirty="0" smtClean="0">
                            <a:latin typeface="Cambria Math" panose="02040503050406030204" pitchFamily="18" charset="0"/>
                          </a:rPr>
                          <m:t>𝑘</m:t>
                        </m:r>
                      </m:sub>
                    </m:sSub>
                    <m:r>
                      <a:rPr lang="en-US" altLang="zh-TW" sz="2800" b="0" i="1" dirty="0" smtClean="0">
                        <a:latin typeface="Cambria Math" panose="02040503050406030204" pitchFamily="18" charset="0"/>
                      </a:rPr>
                      <m:t>)</m:t>
                    </m:r>
                  </m:oMath>
                </a14:m>
                <a:r>
                  <a:rPr lang="en-US" altLang="zh-TW" sz="2800" b="0" dirty="0">
                    <a:latin typeface="Cambria Math" panose="02040503050406030204" pitchFamily="18" charset="0"/>
                  </a:rPr>
                  <a:t> </a:t>
                </a:r>
                <a:r>
                  <a:rPr lang="en-US" altLang="zh-TW" sz="2800" b="0" i="1" dirty="0">
                    <a:latin typeface="Cambria Math" panose="02040503050406030204" pitchFamily="18" charset="0"/>
                  </a:rPr>
                  <a:t>such that</a:t>
                </a:r>
              </a:p>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𝐿𝐶𝑆</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𝑇</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𝐶</m:t>
                          </m:r>
                          <m:r>
                            <a:rPr lang="en-US" altLang="zh-TW" sz="2800" b="0" i="1" smtClean="0">
                              <a:latin typeface="Cambria Math" panose="02040503050406030204" pitchFamily="18" charset="0"/>
                            </a:rPr>
                            <m:t>(1,</m:t>
                          </m:r>
                          <m:r>
                            <a:rPr lang="en-US" altLang="zh-TW" sz="2800" b="0" i="1" smtClean="0">
                              <a:latin typeface="Cambria Math" panose="02040503050406030204" pitchFamily="18" charset="0"/>
                            </a:rPr>
                            <m:t>𝑘</m:t>
                          </m:r>
                          <m:r>
                            <a:rPr lang="en-US" altLang="zh-TW" sz="2800" b="0" i="1" smtClean="0">
                              <a:latin typeface="Cambria Math" panose="02040503050406030204" pitchFamily="18" charset="0"/>
                            </a:rPr>
                            <m:t>)</m:t>
                          </m:r>
                        </m:e>
                      </m:d>
                      <m:r>
                        <a:rPr lang="en-US" altLang="zh-TW" sz="2800" b="0" i="1" smtClean="0">
                          <a:latin typeface="Cambria Math" panose="02040503050406030204" pitchFamily="18" charset="0"/>
                        </a:rPr>
                        <m:t>=</m:t>
                      </m:r>
                      <m:r>
                        <m:rPr>
                          <m:sty m:val="p"/>
                        </m:rPr>
                        <a:rPr lang="en-US" altLang="zh-TW" sz="2800" b="0" i="0" smtClean="0">
                          <a:latin typeface="Cambria Math" panose="02040503050406030204" pitchFamily="18" charset="0"/>
                        </a:rPr>
                        <m:t>max</m:t>
                      </m:r>
                      <m:r>
                        <a:rPr lang="en-US" altLang="zh-TW" sz="2800" b="0" i="1" smtClean="0">
                          <a:latin typeface="Cambria Math" panose="02040503050406030204" pitchFamily="18" charset="0"/>
                        </a:rPr>
                        <m:t>⁡{</m:t>
                      </m:r>
                      <m:nary>
                        <m:naryPr>
                          <m:chr m:val="∑"/>
                          <m:ctrlPr>
                            <a:rPr lang="en-US" altLang="zh-TW" sz="2800" b="0" i="1" smtClean="0">
                              <a:latin typeface="Cambria Math" panose="02040503050406030204" pitchFamily="18" charset="0"/>
                            </a:rPr>
                          </m:ctrlPr>
                        </m:naryPr>
                        <m:sub>
                          <m:r>
                            <m:rPr>
                              <m:brk m:alnAt="23"/>
                            </m:rPr>
                            <a:rPr lang="en-US" altLang="zh-TW" sz="2800" b="0" i="1" smtClean="0">
                              <a:latin typeface="Cambria Math" panose="02040503050406030204" pitchFamily="18" charset="0"/>
                            </a:rPr>
                            <m:t>𝑖</m:t>
                          </m:r>
                          <m:r>
                            <a:rPr lang="en-US" altLang="zh-TW" sz="2800" b="0" i="1" smtClean="0">
                              <a:latin typeface="Cambria Math" panose="02040503050406030204" pitchFamily="18" charset="0"/>
                            </a:rPr>
                            <m:t>=1</m:t>
                          </m:r>
                        </m:sub>
                        <m:sup>
                          <m:r>
                            <a:rPr lang="en-US" altLang="zh-TW" sz="2800" b="0" i="1" smtClean="0">
                              <a:latin typeface="Cambria Math" panose="02040503050406030204" pitchFamily="18" charset="0"/>
                            </a:rPr>
                            <m:t>𝑘</m:t>
                          </m:r>
                        </m:sup>
                        <m:e>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𝐿𝐶𝑆</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𝑇</m:t>
                          </m:r>
                        </m:e>
                      </m:nary>
                      <m:d>
                        <m:dPr>
                          <m:begChr m:val="["/>
                          <m:endChr m:val="]"/>
                          <m:ctrlPr>
                            <a:rPr lang="en-US" altLang="zh-TW" sz="2800" b="0" i="1" smtClean="0">
                              <a:latin typeface="Cambria Math" panose="02040503050406030204" pitchFamily="18" charset="0"/>
                            </a:rPr>
                          </m:ctrlPr>
                        </m:dPr>
                        <m:e>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𝑟</m:t>
                              </m:r>
                            </m:e>
                            <m:sub>
                              <m:r>
                                <a:rPr lang="en-US" altLang="zh-TW" sz="2800" b="0" i="1" smtClean="0">
                                  <a:latin typeface="Cambria Math" panose="02040503050406030204" pitchFamily="18" charset="0"/>
                                </a:rPr>
                                <m:t>𝑖</m:t>
                              </m:r>
                              <m:r>
                                <a:rPr lang="en-US" altLang="zh-TW" sz="2800" b="0" i="1" smtClean="0">
                                  <a:latin typeface="Cambria Math" panose="02040503050406030204" pitchFamily="18" charset="0"/>
                                </a:rPr>
                                <m:t>−1</m:t>
                              </m:r>
                            </m:sub>
                          </m:sSub>
                          <m:r>
                            <a:rPr lang="en-US" altLang="zh-TW" sz="2800" b="0" i="1" smtClean="0">
                              <a:latin typeface="Cambria Math" panose="02040503050406030204" pitchFamily="18" charset="0"/>
                            </a:rPr>
                            <m:t>+1,</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𝑟</m:t>
                              </m:r>
                            </m:e>
                            <m:sub>
                              <m:r>
                                <a:rPr lang="en-US" altLang="zh-TW" sz="2800" b="0" i="1" smtClean="0">
                                  <a:latin typeface="Cambria Math" panose="02040503050406030204" pitchFamily="18" charset="0"/>
                                </a:rPr>
                                <m:t>𝑖</m:t>
                              </m:r>
                            </m:sub>
                          </m:sSub>
                        </m:e>
                      </m:d>
                      <m:r>
                        <a:rPr lang="en-US" altLang="zh-TW" sz="2800" b="0" i="1" smtClean="0">
                          <a:latin typeface="Cambria Math" panose="02040503050406030204" pitchFamily="18" charset="0"/>
                        </a:rPr>
                        <m:t>,</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𝐶</m:t>
                          </m:r>
                        </m:e>
                        <m:sub>
                          <m:r>
                            <a:rPr lang="en-US" altLang="zh-TW" sz="2800" b="0" i="1" smtClean="0">
                              <a:latin typeface="Cambria Math" panose="02040503050406030204" pitchFamily="18" charset="0"/>
                            </a:rPr>
                            <m:t>𝑖</m:t>
                          </m:r>
                        </m:sub>
                      </m:sSub>
                      <m:r>
                        <a:rPr lang="en-US" altLang="zh-TW" sz="2800" b="0" i="1" smtClean="0">
                          <a:latin typeface="Cambria Math" panose="02040503050406030204" pitchFamily="18" charset="0"/>
                        </a:rPr>
                        <m:t>)}</m:t>
                      </m:r>
                    </m:oMath>
                  </m:oMathPara>
                </a14:m>
                <a:endParaRPr lang="en-US" altLang="zh-TW" sz="28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𝑤h𝑒𝑟𝑒</m:t>
                      </m:r>
                      <m:r>
                        <a:rPr lang="en-US" altLang="zh-TW" sz="2800" b="0" i="1" smtClean="0">
                          <a:latin typeface="Cambria Math" panose="02040503050406030204" pitchFamily="18" charset="0"/>
                        </a:rPr>
                        <m:t> </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𝑟</m:t>
                          </m:r>
                        </m:e>
                        <m:sub>
                          <m:r>
                            <a:rPr lang="en-US" altLang="zh-TW" sz="2800" b="0" i="1" smtClean="0">
                              <a:latin typeface="Cambria Math" panose="02040503050406030204" pitchFamily="18" charset="0"/>
                            </a:rPr>
                            <m:t>0</m:t>
                          </m:r>
                        </m:sub>
                      </m:sSub>
                      <m:r>
                        <a:rPr lang="en-US" altLang="zh-TW" sz="2800" b="0" i="1" smtClean="0">
                          <a:latin typeface="Cambria Math" panose="02040503050406030204" pitchFamily="18" charset="0"/>
                        </a:rPr>
                        <m:t>=0,</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𝑟</m:t>
                          </m:r>
                        </m:e>
                        <m:sub>
                          <m:r>
                            <a:rPr lang="en-US" altLang="zh-TW" sz="2800" b="0" i="1" smtClean="0">
                              <a:latin typeface="Cambria Math" panose="02040503050406030204" pitchFamily="18" charset="0"/>
                            </a:rPr>
                            <m:t>𝑘</m:t>
                          </m:r>
                        </m:sub>
                      </m:sSub>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𝑛</m:t>
                      </m:r>
                      <m:r>
                        <a:rPr lang="en-US" altLang="zh-TW" sz="2800" b="0" i="1" smtClean="0">
                          <a:latin typeface="Cambria Math" panose="02040503050406030204" pitchFamily="18" charset="0"/>
                        </a:rPr>
                        <m:t>,</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𝐶</m:t>
                          </m:r>
                        </m:e>
                        <m:sub>
                          <m:r>
                            <a:rPr lang="en-US" altLang="zh-TW" sz="2800" b="0" i="1" smtClean="0">
                              <a:latin typeface="Cambria Math" panose="02040503050406030204" pitchFamily="18" charset="0"/>
                            </a:rPr>
                            <m:t>𝑖</m:t>
                          </m:r>
                        </m:sub>
                      </m:sSub>
                      <m:r>
                        <a:rPr lang="en-US" altLang="zh-TW" sz="2800" b="0" i="1" smtClean="0">
                          <a:latin typeface="Cambria Math" panose="02040503050406030204" pitchFamily="18" charset="0"/>
                          <a:ea typeface="Cambria Math" panose="02040503050406030204" pitchFamily="18" charset="0"/>
                        </a:rPr>
                        <m:t>∈</m:t>
                      </m:r>
                      <m:r>
                        <a:rPr lang="en-US" altLang="zh-TW" sz="2800" b="0" i="1" smtClean="0">
                          <a:latin typeface="Cambria Math" panose="02040503050406030204" pitchFamily="18" charset="0"/>
                          <a:ea typeface="Cambria Math" panose="02040503050406030204" pitchFamily="18" charset="0"/>
                        </a:rPr>
                        <m:t>𝑆</m:t>
                      </m:r>
                    </m:oMath>
                  </m:oMathPara>
                </a14:m>
                <a:endParaRPr lang="en-US" altLang="zh-TW" sz="2800" b="0" i="1" dirty="0">
                  <a:latin typeface="Cambria Math" panose="02040503050406030204" pitchFamily="18" charset="0"/>
                </a:endParaRPr>
              </a:p>
            </p:txBody>
          </p:sp>
        </mc:Choice>
        <mc:Fallback xmlns="">
          <p:sp>
            <p:nvSpPr>
              <p:cNvPr id="22" name="文字方塊 21"/>
              <p:cNvSpPr txBox="1">
                <a:spLocks noRot="1" noChangeAspect="1" noMove="1" noResize="1" noEditPoints="1" noAdjustHandles="1" noChangeArrowheads="1" noChangeShapeType="1" noTextEdit="1"/>
              </p:cNvSpPr>
              <p:nvPr/>
            </p:nvSpPr>
            <p:spPr>
              <a:xfrm>
                <a:off x="160795" y="3615631"/>
                <a:ext cx="8907054" cy="2174378"/>
              </a:xfrm>
              <a:prstGeom prst="rect">
                <a:avLst/>
              </a:prstGeom>
              <a:blipFill rotWithShape="0">
                <a:blip r:embed="rId2"/>
                <a:stretch>
                  <a:fillRect t="-2801" r="-410"/>
                </a:stretch>
              </a:blipFill>
            </p:spPr>
            <p:txBody>
              <a:bodyPr/>
              <a:lstStyle/>
              <a:p>
                <a:r>
                  <a:rPr lang="zh-TW" altLang="en-US">
                    <a:noFill/>
                  </a:rPr>
                  <a:t> </a:t>
                </a:r>
              </a:p>
            </p:txBody>
          </p:sp>
        </mc:Fallback>
      </mc:AlternateContent>
      <p:cxnSp>
        <p:nvCxnSpPr>
          <p:cNvPr id="23" name="直線接點 22"/>
          <p:cNvCxnSpPr/>
          <p:nvPr/>
        </p:nvCxnSpPr>
        <p:spPr>
          <a:xfrm flipV="1">
            <a:off x="3258990" y="1790860"/>
            <a:ext cx="5719" cy="528953"/>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直線接點 23"/>
          <p:cNvCxnSpPr/>
          <p:nvPr/>
        </p:nvCxnSpPr>
        <p:spPr>
          <a:xfrm flipV="1">
            <a:off x="4960168" y="1790860"/>
            <a:ext cx="5719" cy="528953"/>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直線接點 24"/>
          <p:cNvCxnSpPr/>
          <p:nvPr/>
        </p:nvCxnSpPr>
        <p:spPr>
          <a:xfrm flipV="1">
            <a:off x="6561209" y="1790861"/>
            <a:ext cx="5719" cy="528953"/>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直線接點 25"/>
          <p:cNvCxnSpPr/>
          <p:nvPr/>
        </p:nvCxnSpPr>
        <p:spPr>
          <a:xfrm flipV="1">
            <a:off x="1689709" y="1787782"/>
            <a:ext cx="5719" cy="528953"/>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直線接點 26"/>
          <p:cNvCxnSpPr/>
          <p:nvPr/>
        </p:nvCxnSpPr>
        <p:spPr>
          <a:xfrm flipV="1">
            <a:off x="7049928" y="1790861"/>
            <a:ext cx="5719" cy="528953"/>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文字方塊 20">
            <a:extLst>
              <a:ext uri="{FF2B5EF4-FFF2-40B4-BE49-F238E27FC236}">
                <a16:creationId xmlns:a16="http://schemas.microsoft.com/office/drawing/2014/main" id="{12EAEBFB-6687-46A5-96A1-464FBF262C85}"/>
              </a:ext>
            </a:extLst>
          </p:cNvPr>
          <p:cNvSpPr txBox="1"/>
          <p:nvPr/>
        </p:nvSpPr>
        <p:spPr>
          <a:xfrm>
            <a:off x="160795" y="1156028"/>
            <a:ext cx="736099" cy="523220"/>
          </a:xfrm>
          <a:prstGeom prst="rect">
            <a:avLst/>
          </a:prstGeom>
          <a:noFill/>
        </p:spPr>
        <p:txBody>
          <a:bodyPr wrap="none" rtlCol="0">
            <a:spAutoFit/>
          </a:bodyPr>
          <a:lstStyle/>
          <a:p>
            <a:r>
              <a:rPr lang="en-US" altLang="zh-TW" sz="2800" dirty="0"/>
              <a:t>k</a:t>
            </a:r>
            <a:r>
              <a:rPr lang="zh-TW" altLang="en-US" sz="2800" b="0" i="0" dirty="0">
                <a:solidFill>
                  <a:srgbClr val="000000"/>
                </a:solidFill>
                <a:effectLst/>
                <a:latin typeface="Open Sans" panose="020B0606030504020204" pitchFamily="34" charset="0"/>
              </a:rPr>
              <a:t>≥</a:t>
            </a:r>
            <a:r>
              <a:rPr lang="en-US" altLang="zh-TW" sz="2800" dirty="0"/>
              <a:t>2</a:t>
            </a:r>
            <a:endParaRPr lang="zh-TW" altLang="en-US" sz="2800" dirty="0"/>
          </a:p>
        </p:txBody>
      </p:sp>
    </p:spTree>
    <p:extLst>
      <p:ext uri="{BB962C8B-B14F-4D97-AF65-F5344CB8AC3E}">
        <p14:creationId xmlns:p14="http://schemas.microsoft.com/office/powerpoint/2010/main" val="2238367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pPr algn="just"/>
            <a:r>
              <a:rPr lang="en-US" altLang="zh-TW" sz="4000" dirty="0">
                <a:latin typeface="Times New Roman" panose="02020603050405020304" pitchFamily="18" charset="0"/>
                <a:cs typeface="Times New Roman" panose="02020603050405020304" pitchFamily="18" charset="0"/>
              </a:rPr>
              <a:t>Method</a:t>
            </a:r>
            <a:r>
              <a:rPr lang="en-US" altLang="zh-TW" dirty="0">
                <a:latin typeface="Times New Roman" panose="02020603050405020304" pitchFamily="18" charset="0"/>
                <a:cs typeface="Times New Roman" panose="02020603050405020304" pitchFamily="18" charset="0"/>
              </a:rPr>
              <a:t> 2 : Divide-and-Conquer</a:t>
            </a:r>
            <a:endParaRPr lang="zh-TW" altLang="en-US" dirty="0">
              <a:latin typeface="Times New Roman" panose="02020603050405020304" pitchFamily="18" charset="0"/>
              <a:cs typeface="Times New Roman" panose="02020603050405020304" pitchFamily="18" charset="0"/>
            </a:endParaRPr>
          </a:p>
        </p:txBody>
      </p:sp>
      <p:pic>
        <p:nvPicPr>
          <p:cNvPr id="3" name="圖片 2"/>
          <p:cNvPicPr>
            <a:picLocks noChangeAspect="1"/>
          </p:cNvPicPr>
          <p:nvPr/>
        </p:nvPicPr>
        <p:blipFill>
          <a:blip r:embed="rId2"/>
          <a:stretch>
            <a:fillRect/>
          </a:stretch>
        </p:blipFill>
        <p:spPr>
          <a:xfrm>
            <a:off x="2209799" y="1471444"/>
            <a:ext cx="5676227" cy="4749035"/>
          </a:xfrm>
          <a:prstGeom prst="rect">
            <a:avLst/>
          </a:prstGeom>
        </p:spPr>
      </p:pic>
      <mc:AlternateContent xmlns:mc="http://schemas.openxmlformats.org/markup-compatibility/2006" xmlns:a14="http://schemas.microsoft.com/office/drawing/2010/main">
        <mc:Choice Requires="a14">
          <p:sp>
            <p:nvSpPr>
              <p:cNvPr id="4" name="文字方塊 3"/>
              <p:cNvSpPr txBox="1"/>
              <p:nvPr/>
            </p:nvSpPr>
            <p:spPr>
              <a:xfrm>
                <a:off x="199434" y="3463752"/>
                <a:ext cx="1928413"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𝑂</m:t>
                      </m:r>
                      <m:r>
                        <a:rPr lang="en-US" altLang="zh-TW" sz="2800" b="0" i="1" smtClean="0">
                          <a:latin typeface="Cambria Math" panose="02040503050406030204" pitchFamily="18" charset="0"/>
                        </a:rPr>
                        <m:t>(</m:t>
                      </m:r>
                      <m:sSup>
                        <m:sSupPr>
                          <m:ctrlPr>
                            <a:rPr lang="en-US" altLang="zh-TW" sz="2800" b="0" i="1" smtClean="0">
                              <a:latin typeface="Cambria Math" panose="02040503050406030204" pitchFamily="18" charset="0"/>
                            </a:rPr>
                          </m:ctrlPr>
                        </m:sSupPr>
                        <m:e>
                          <m:r>
                            <a:rPr lang="en-US" altLang="zh-TW" sz="2800" b="0" i="1" smtClean="0">
                              <a:latin typeface="Cambria Math" panose="02040503050406030204" pitchFamily="18" charset="0"/>
                            </a:rPr>
                            <m:t>𝑛</m:t>
                          </m:r>
                        </m:e>
                        <m:sup>
                          <m:r>
                            <a:rPr lang="en-US" altLang="zh-TW" sz="2800" b="0" i="1" smtClean="0">
                              <a:latin typeface="Cambria Math" panose="02040503050406030204" pitchFamily="18" charset="0"/>
                            </a:rPr>
                            <m:t>2</m:t>
                          </m:r>
                        </m:sup>
                      </m:sSup>
                      <m:r>
                        <a:rPr lang="en-US" altLang="zh-TW" sz="2800" b="0" i="1" smtClean="0">
                          <a:latin typeface="Cambria Math" panose="02040503050406030204" pitchFamily="18" charset="0"/>
                        </a:rPr>
                        <m:t>𝑚</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𝑆</m:t>
                      </m:r>
                      <m:r>
                        <a:rPr lang="en-US" altLang="zh-TW" sz="2800" b="0" i="1" smtClean="0">
                          <a:latin typeface="Cambria Math" panose="02040503050406030204" pitchFamily="18" charset="0"/>
                        </a:rPr>
                        <m:t>|)</m:t>
                      </m:r>
                    </m:oMath>
                  </m:oMathPara>
                </a14:m>
                <a:endParaRPr lang="zh-TW" altLang="en-US" sz="2800" dirty="0"/>
              </a:p>
            </p:txBody>
          </p:sp>
        </mc:Choice>
        <mc:Fallback xmlns="">
          <p:sp>
            <p:nvSpPr>
              <p:cNvPr id="4" name="文字方塊 3"/>
              <p:cNvSpPr txBox="1">
                <a:spLocks noRot="1" noChangeAspect="1" noMove="1" noResize="1" noEditPoints="1" noAdjustHandles="1" noChangeArrowheads="1" noChangeShapeType="1" noTextEdit="1"/>
              </p:cNvSpPr>
              <p:nvPr/>
            </p:nvSpPr>
            <p:spPr>
              <a:xfrm>
                <a:off x="199434" y="3463752"/>
                <a:ext cx="1928413" cy="523220"/>
              </a:xfrm>
              <a:prstGeom prst="rect">
                <a:avLst/>
              </a:prstGeom>
              <a:blipFill rotWithShape="0">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文字方塊 20"/>
              <p:cNvSpPr txBox="1"/>
              <p:nvPr/>
            </p:nvSpPr>
            <p:spPr>
              <a:xfrm>
                <a:off x="395642" y="2569213"/>
                <a:ext cx="173220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𝑂</m:t>
                      </m:r>
                      <m:r>
                        <a:rPr lang="en-US" altLang="zh-TW" sz="2800" b="0" i="1" smtClean="0">
                          <a:latin typeface="Cambria Math" panose="02040503050406030204" pitchFamily="18" charset="0"/>
                        </a:rPr>
                        <m:t>(</m:t>
                      </m:r>
                      <m:func>
                        <m:funcPr>
                          <m:ctrlPr>
                            <a:rPr lang="en-US" altLang="zh-TW" sz="2800" b="0" i="1" smtClean="0">
                              <a:latin typeface="Cambria Math" panose="02040503050406030204" pitchFamily="18" charset="0"/>
                            </a:rPr>
                          </m:ctrlPr>
                        </m:funcPr>
                        <m:fName>
                          <m:sSub>
                            <m:sSubPr>
                              <m:ctrlPr>
                                <a:rPr lang="en-US" altLang="zh-TW" sz="2800" b="0" i="1" smtClean="0">
                                  <a:latin typeface="Cambria Math" panose="02040503050406030204" pitchFamily="18" charset="0"/>
                                </a:rPr>
                              </m:ctrlPr>
                            </m:sSubPr>
                            <m:e>
                              <m:r>
                                <m:rPr>
                                  <m:sty m:val="p"/>
                                </m:rPr>
                                <a:rPr lang="en-US" altLang="zh-TW" sz="2800" b="0" i="0" smtClean="0">
                                  <a:latin typeface="Cambria Math" panose="02040503050406030204" pitchFamily="18" charset="0"/>
                                </a:rPr>
                                <m:t>log</m:t>
                              </m:r>
                            </m:e>
                            <m:sub>
                              <m:r>
                                <a:rPr lang="en-US" altLang="zh-TW" sz="2800" b="0" i="1" smtClean="0">
                                  <a:latin typeface="Cambria Math" panose="02040503050406030204" pitchFamily="18" charset="0"/>
                                </a:rPr>
                                <m:t>2</m:t>
                              </m:r>
                            </m:sub>
                          </m:sSub>
                        </m:fName>
                        <m:e>
                          <m:r>
                            <a:rPr lang="en-US" altLang="zh-TW" sz="2800" b="0" i="1" smtClean="0">
                              <a:latin typeface="Cambria Math" panose="02040503050406030204" pitchFamily="18" charset="0"/>
                            </a:rPr>
                            <m:t>𝑘</m:t>
                          </m:r>
                        </m:e>
                      </m:func>
                      <m:r>
                        <a:rPr lang="en-US" altLang="zh-TW" sz="2800" b="0" i="1" smtClean="0">
                          <a:latin typeface="Cambria Math" panose="02040503050406030204" pitchFamily="18" charset="0"/>
                        </a:rPr>
                        <m:t>)</m:t>
                      </m:r>
                    </m:oMath>
                  </m:oMathPara>
                </a14:m>
                <a:endParaRPr lang="zh-TW" altLang="en-US" sz="2800" dirty="0"/>
              </a:p>
            </p:txBody>
          </p:sp>
        </mc:Choice>
        <mc:Fallback xmlns="">
          <p:sp>
            <p:nvSpPr>
              <p:cNvPr id="21" name="文字方塊 20"/>
              <p:cNvSpPr txBox="1">
                <a:spLocks noRot="1" noChangeAspect="1" noMove="1" noResize="1" noEditPoints="1" noAdjustHandles="1" noChangeArrowheads="1" noChangeShapeType="1" noTextEdit="1"/>
              </p:cNvSpPr>
              <p:nvPr/>
            </p:nvSpPr>
            <p:spPr>
              <a:xfrm>
                <a:off x="395642" y="2569213"/>
                <a:ext cx="1732205" cy="523220"/>
              </a:xfrm>
              <a:prstGeom prst="rect">
                <a:avLst/>
              </a:prstGeom>
              <a:blipFill rotWithShape="0">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7"/>
              <p:cNvSpPr txBox="1"/>
              <p:nvPr/>
            </p:nvSpPr>
            <p:spPr>
              <a:xfrm>
                <a:off x="136917" y="4019652"/>
                <a:ext cx="199093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𝑂</m:t>
                      </m:r>
                      <m:r>
                        <a:rPr lang="en-US" altLang="zh-TW" sz="2800" b="0" i="1" smtClean="0">
                          <a:latin typeface="Cambria Math" panose="02040503050406030204" pitchFamily="18" charset="0"/>
                        </a:rPr>
                        <m:t>(</m:t>
                      </m:r>
                      <m:sSup>
                        <m:sSupPr>
                          <m:ctrlPr>
                            <a:rPr lang="en-US" altLang="zh-TW" sz="2800" b="0" i="1" smtClean="0">
                              <a:latin typeface="Cambria Math" panose="02040503050406030204" pitchFamily="18" charset="0"/>
                            </a:rPr>
                          </m:ctrlPr>
                        </m:sSupPr>
                        <m:e>
                          <m:r>
                            <a:rPr lang="en-US" altLang="zh-TW" sz="2800" b="0" i="1" smtClean="0">
                              <a:latin typeface="Cambria Math" panose="02040503050406030204" pitchFamily="18" charset="0"/>
                            </a:rPr>
                            <m:t>𝑛</m:t>
                          </m:r>
                        </m:e>
                        <m:sup>
                          <m:r>
                            <a:rPr lang="en-US" altLang="zh-TW" sz="2800" b="0" i="1" smtClean="0">
                              <a:latin typeface="Cambria Math" panose="02040503050406030204" pitchFamily="18" charset="0"/>
                            </a:rPr>
                            <m:t>3</m:t>
                          </m:r>
                        </m:sup>
                      </m:sSup>
                      <m:func>
                        <m:funcPr>
                          <m:ctrlPr>
                            <a:rPr lang="en-US" altLang="zh-TW" sz="2800" b="0" i="1" smtClean="0">
                              <a:latin typeface="Cambria Math" panose="02040503050406030204" pitchFamily="18" charset="0"/>
                            </a:rPr>
                          </m:ctrlPr>
                        </m:funcPr>
                        <m:fName>
                          <m:r>
                            <m:rPr>
                              <m:sty m:val="p"/>
                            </m:rPr>
                            <a:rPr lang="en-US" altLang="zh-TW" sz="2800" b="0" i="0" smtClean="0">
                              <a:latin typeface="Cambria Math" panose="02040503050406030204" pitchFamily="18" charset="0"/>
                            </a:rPr>
                            <m:t>log</m:t>
                          </m:r>
                        </m:fName>
                        <m:e>
                          <m:r>
                            <a:rPr lang="en-US" altLang="zh-TW" sz="2800" b="0" i="1" smtClean="0">
                              <a:latin typeface="Cambria Math" panose="02040503050406030204" pitchFamily="18" charset="0"/>
                            </a:rPr>
                            <m:t>𝑘</m:t>
                          </m:r>
                        </m:e>
                      </m:func>
                      <m:r>
                        <a:rPr lang="en-US" altLang="zh-TW" sz="2800" b="0" i="1" smtClean="0">
                          <a:latin typeface="Cambria Math" panose="02040503050406030204" pitchFamily="18" charset="0"/>
                        </a:rPr>
                        <m:t>)</m:t>
                      </m:r>
                    </m:oMath>
                  </m:oMathPara>
                </a14:m>
                <a:endParaRPr lang="zh-TW" altLang="en-US" sz="2800" dirty="0"/>
              </a:p>
            </p:txBody>
          </p:sp>
        </mc:Choice>
        <mc:Fallback xmlns="">
          <p:sp>
            <p:nvSpPr>
              <p:cNvPr id="28" name="文字方塊 27"/>
              <p:cNvSpPr txBox="1">
                <a:spLocks noRot="1" noChangeAspect="1" noMove="1" noResize="1" noEditPoints="1" noAdjustHandles="1" noChangeArrowheads="1" noChangeShapeType="1" noTextEdit="1"/>
              </p:cNvSpPr>
              <p:nvPr/>
            </p:nvSpPr>
            <p:spPr>
              <a:xfrm>
                <a:off x="136917" y="4019652"/>
                <a:ext cx="1990930" cy="523220"/>
              </a:xfrm>
              <a:prstGeom prst="rect">
                <a:avLst/>
              </a:prstGeom>
              <a:blipFill rotWithShape="0">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p:cNvSpPr txBox="1"/>
              <p:nvPr/>
            </p:nvSpPr>
            <p:spPr>
              <a:xfrm>
                <a:off x="136917" y="4767811"/>
                <a:ext cx="199093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𝑂</m:t>
                      </m:r>
                      <m:r>
                        <a:rPr lang="en-US" altLang="zh-TW" sz="2800" b="0" i="1" smtClean="0">
                          <a:latin typeface="Cambria Math" panose="02040503050406030204" pitchFamily="18" charset="0"/>
                        </a:rPr>
                        <m:t>(</m:t>
                      </m:r>
                      <m:sSup>
                        <m:sSupPr>
                          <m:ctrlPr>
                            <a:rPr lang="en-US" altLang="zh-TW" sz="2800" b="0" i="1" smtClean="0">
                              <a:latin typeface="Cambria Math" panose="02040503050406030204" pitchFamily="18" charset="0"/>
                            </a:rPr>
                          </m:ctrlPr>
                        </m:sSupPr>
                        <m:e>
                          <m:r>
                            <a:rPr lang="en-US" altLang="zh-TW" sz="2800" b="0" i="1" smtClean="0">
                              <a:latin typeface="Cambria Math" panose="02040503050406030204" pitchFamily="18" charset="0"/>
                            </a:rPr>
                            <m:t>𝑛</m:t>
                          </m:r>
                        </m:e>
                        <m:sup>
                          <m:r>
                            <a:rPr lang="en-US" altLang="zh-TW" sz="2800" b="0" i="1" smtClean="0">
                              <a:latin typeface="Cambria Math" panose="02040503050406030204" pitchFamily="18" charset="0"/>
                            </a:rPr>
                            <m:t>3</m:t>
                          </m:r>
                        </m:sup>
                      </m:sSup>
                      <m:func>
                        <m:funcPr>
                          <m:ctrlPr>
                            <a:rPr lang="en-US" altLang="zh-TW" sz="2800" b="0" i="1" smtClean="0">
                              <a:latin typeface="Cambria Math" panose="02040503050406030204" pitchFamily="18" charset="0"/>
                            </a:rPr>
                          </m:ctrlPr>
                        </m:funcPr>
                        <m:fName>
                          <m:r>
                            <m:rPr>
                              <m:sty m:val="p"/>
                            </m:rPr>
                            <a:rPr lang="en-US" altLang="zh-TW" sz="2800" b="0" i="0" smtClean="0">
                              <a:latin typeface="Cambria Math" panose="02040503050406030204" pitchFamily="18" charset="0"/>
                            </a:rPr>
                            <m:t>log</m:t>
                          </m:r>
                        </m:fName>
                        <m:e>
                          <m:r>
                            <a:rPr lang="en-US" altLang="zh-TW" sz="2800" b="0" i="1" smtClean="0">
                              <a:latin typeface="Cambria Math" panose="02040503050406030204" pitchFamily="18" charset="0"/>
                            </a:rPr>
                            <m:t>𝑘</m:t>
                          </m:r>
                        </m:e>
                      </m:func>
                      <m:r>
                        <a:rPr lang="en-US" altLang="zh-TW" sz="2800" b="0" i="1" smtClean="0">
                          <a:latin typeface="Cambria Math" panose="02040503050406030204" pitchFamily="18" charset="0"/>
                        </a:rPr>
                        <m:t>)</m:t>
                      </m:r>
                    </m:oMath>
                  </m:oMathPara>
                </a14:m>
                <a:endParaRPr lang="zh-TW" altLang="en-US" sz="2800" dirty="0"/>
              </a:p>
            </p:txBody>
          </p:sp>
        </mc:Choice>
        <mc:Fallback xmlns="">
          <p:sp>
            <p:nvSpPr>
              <p:cNvPr id="29" name="文字方塊 28"/>
              <p:cNvSpPr txBox="1">
                <a:spLocks noRot="1" noChangeAspect="1" noMove="1" noResize="1" noEditPoints="1" noAdjustHandles="1" noChangeArrowheads="1" noChangeShapeType="1" noTextEdit="1"/>
              </p:cNvSpPr>
              <p:nvPr/>
            </p:nvSpPr>
            <p:spPr>
              <a:xfrm>
                <a:off x="136917" y="4767811"/>
                <a:ext cx="1990930" cy="523220"/>
              </a:xfrm>
              <a:prstGeom prst="rect">
                <a:avLst/>
              </a:prstGeom>
              <a:blipFill rotWithShape="0">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文字方塊 29"/>
              <p:cNvSpPr txBox="1"/>
              <p:nvPr/>
            </p:nvSpPr>
            <p:spPr>
              <a:xfrm>
                <a:off x="1261744" y="6206293"/>
                <a:ext cx="637943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𝑇𝑖𝑚𝑒</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𝑐𝑜𝑚𝑝𝑙𝑒𝑥𝑖𝑡𝑦</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𝑂</m:t>
                      </m:r>
                      <m:r>
                        <a:rPr lang="en-US" altLang="zh-TW" sz="2800" b="0" i="1" smtClean="0">
                          <a:latin typeface="Cambria Math" panose="02040503050406030204" pitchFamily="18" charset="0"/>
                        </a:rPr>
                        <m:t>(</m:t>
                      </m:r>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𝑛</m:t>
                          </m:r>
                        </m:e>
                        <m:sup>
                          <m:r>
                            <a:rPr lang="en-US" altLang="zh-TW" sz="2800" i="1">
                              <a:latin typeface="Cambria Math" panose="02040503050406030204" pitchFamily="18" charset="0"/>
                            </a:rPr>
                            <m:t>2</m:t>
                          </m:r>
                        </m:sup>
                      </m:sSup>
                      <m:r>
                        <a:rPr lang="en-US" altLang="zh-TW" sz="2800" i="1">
                          <a:latin typeface="Cambria Math" panose="02040503050406030204" pitchFamily="18" charset="0"/>
                        </a:rPr>
                        <m:t>𝑚</m:t>
                      </m:r>
                      <m:d>
                        <m:dPr>
                          <m:begChr m:val="|"/>
                          <m:endChr m:val="|"/>
                          <m:ctrlPr>
                            <a:rPr lang="en-US" altLang="zh-TW" sz="2800" i="1">
                              <a:latin typeface="Cambria Math" panose="02040503050406030204" pitchFamily="18" charset="0"/>
                            </a:rPr>
                          </m:ctrlPr>
                        </m:dPr>
                        <m:e>
                          <m:r>
                            <a:rPr lang="en-US" altLang="zh-TW" sz="2800" i="1">
                              <a:latin typeface="Cambria Math" panose="02040503050406030204" pitchFamily="18" charset="0"/>
                            </a:rPr>
                            <m:t>𝑆</m:t>
                          </m:r>
                        </m:e>
                      </m:d>
                      <m:r>
                        <a:rPr lang="en-US" altLang="zh-TW" sz="2800" b="0" i="1" smtClean="0">
                          <a:latin typeface="Cambria Math" panose="02040503050406030204" pitchFamily="18" charset="0"/>
                        </a:rPr>
                        <m:t>+</m:t>
                      </m:r>
                      <m:sSup>
                        <m:sSupPr>
                          <m:ctrlPr>
                            <a:rPr lang="en-US" altLang="zh-TW" sz="2800" b="0" i="1" smtClean="0">
                              <a:latin typeface="Cambria Math" panose="02040503050406030204" pitchFamily="18" charset="0"/>
                            </a:rPr>
                          </m:ctrlPr>
                        </m:sSupPr>
                        <m:e>
                          <m:r>
                            <a:rPr lang="en-US" altLang="zh-TW" sz="2800" b="0" i="1" smtClean="0">
                              <a:latin typeface="Cambria Math" panose="02040503050406030204" pitchFamily="18" charset="0"/>
                            </a:rPr>
                            <m:t>𝑛</m:t>
                          </m:r>
                        </m:e>
                        <m:sup>
                          <m:r>
                            <a:rPr lang="en-US" altLang="zh-TW" sz="2800" b="0" i="1" smtClean="0">
                              <a:latin typeface="Cambria Math" panose="02040503050406030204" pitchFamily="18" charset="0"/>
                            </a:rPr>
                            <m:t>3</m:t>
                          </m:r>
                        </m:sup>
                      </m:sSup>
                      <m:func>
                        <m:funcPr>
                          <m:ctrlPr>
                            <a:rPr lang="en-US" altLang="zh-TW" sz="2800" b="0" i="1" smtClean="0">
                              <a:latin typeface="Cambria Math" panose="02040503050406030204" pitchFamily="18" charset="0"/>
                            </a:rPr>
                          </m:ctrlPr>
                        </m:funcPr>
                        <m:fName>
                          <m:r>
                            <m:rPr>
                              <m:sty m:val="p"/>
                            </m:rPr>
                            <a:rPr lang="en-US" altLang="zh-TW" sz="2800" b="0" i="0" smtClean="0">
                              <a:latin typeface="Cambria Math" panose="02040503050406030204" pitchFamily="18" charset="0"/>
                            </a:rPr>
                            <m:t>log</m:t>
                          </m:r>
                        </m:fName>
                        <m:e>
                          <m:r>
                            <a:rPr lang="en-US" altLang="zh-TW" sz="2800" b="0" i="1" smtClean="0">
                              <a:latin typeface="Cambria Math" panose="02040503050406030204" pitchFamily="18" charset="0"/>
                            </a:rPr>
                            <m:t>𝑘</m:t>
                          </m:r>
                        </m:e>
                      </m:func>
                      <m:r>
                        <a:rPr lang="en-US" altLang="zh-TW" sz="2800" b="0" i="1" smtClean="0">
                          <a:latin typeface="Cambria Math" panose="02040503050406030204" pitchFamily="18" charset="0"/>
                        </a:rPr>
                        <m:t>)</m:t>
                      </m:r>
                    </m:oMath>
                  </m:oMathPara>
                </a14:m>
                <a:endParaRPr lang="zh-TW" altLang="en-US" sz="2800" dirty="0"/>
              </a:p>
            </p:txBody>
          </p:sp>
        </mc:Choice>
        <mc:Fallback xmlns="">
          <p:sp>
            <p:nvSpPr>
              <p:cNvPr id="30" name="文字方塊 29"/>
              <p:cNvSpPr txBox="1">
                <a:spLocks noRot="1" noChangeAspect="1" noMove="1" noResize="1" noEditPoints="1" noAdjustHandles="1" noChangeArrowheads="1" noChangeShapeType="1" noTextEdit="1"/>
              </p:cNvSpPr>
              <p:nvPr/>
            </p:nvSpPr>
            <p:spPr>
              <a:xfrm>
                <a:off x="1261744" y="6206293"/>
                <a:ext cx="6379439" cy="523220"/>
              </a:xfrm>
              <a:prstGeom prst="rect">
                <a:avLst/>
              </a:prstGeom>
              <a:blipFill rotWithShape="0">
                <a:blip r:embed="rId7"/>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0914723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latin typeface="Times New Roman" panose="02020603050405020304" pitchFamily="18" charset="0"/>
                <a:cs typeface="Times New Roman" panose="02020603050405020304" pitchFamily="18" charset="0"/>
              </a:rPr>
              <a:t>Method 3 : S-table</a:t>
            </a:r>
            <a:endParaRPr lang="zh-TW" altLang="en-US" dirty="0">
              <a:latin typeface="Times New Roman" panose="02020603050405020304" pitchFamily="18" charset="0"/>
              <a:cs typeface="Times New Roman" panose="02020603050405020304" pitchFamily="18" charset="0"/>
            </a:endParaRPr>
          </a:p>
        </p:txBody>
      </p:sp>
      <p:graphicFrame>
        <p:nvGraphicFramePr>
          <p:cNvPr id="19" name="表格 18"/>
          <p:cNvGraphicFramePr>
            <a:graphicFrameLocks noGrp="1"/>
          </p:cNvGraphicFramePr>
          <p:nvPr>
            <p:extLst>
              <p:ext uri="{D42A27DB-BD31-4B8C-83A1-F6EECF244321}">
                <p14:modId xmlns:p14="http://schemas.microsoft.com/office/powerpoint/2010/main" val="4211097019"/>
              </p:ext>
            </p:extLst>
          </p:nvPr>
        </p:nvGraphicFramePr>
        <p:xfrm>
          <a:off x="2914474" y="2481219"/>
          <a:ext cx="3315052" cy="3096345"/>
        </p:xfrm>
        <a:graphic>
          <a:graphicData uri="http://schemas.openxmlformats.org/drawingml/2006/table">
            <a:tbl>
              <a:tblPr firstRow="1" bandRow="1">
                <a:tableStyleId>{5940675A-B579-460E-94D1-54222C63F5DA}</a:tableStyleId>
              </a:tblPr>
              <a:tblGrid>
                <a:gridCol w="828763">
                  <a:extLst>
                    <a:ext uri="{9D8B030D-6E8A-4147-A177-3AD203B41FA5}">
                      <a16:colId xmlns:a16="http://schemas.microsoft.com/office/drawing/2014/main" val="20000"/>
                    </a:ext>
                  </a:extLst>
                </a:gridCol>
                <a:gridCol w="828763">
                  <a:extLst>
                    <a:ext uri="{9D8B030D-6E8A-4147-A177-3AD203B41FA5}">
                      <a16:colId xmlns:a16="http://schemas.microsoft.com/office/drawing/2014/main" val="20001"/>
                    </a:ext>
                  </a:extLst>
                </a:gridCol>
                <a:gridCol w="828763">
                  <a:extLst>
                    <a:ext uri="{9D8B030D-6E8A-4147-A177-3AD203B41FA5}">
                      <a16:colId xmlns:a16="http://schemas.microsoft.com/office/drawing/2014/main" val="20002"/>
                    </a:ext>
                  </a:extLst>
                </a:gridCol>
                <a:gridCol w="828763">
                  <a:extLst>
                    <a:ext uri="{9D8B030D-6E8A-4147-A177-3AD203B41FA5}">
                      <a16:colId xmlns:a16="http://schemas.microsoft.com/office/drawing/2014/main" val="20003"/>
                    </a:ext>
                  </a:extLst>
                </a:gridCol>
              </a:tblGrid>
              <a:tr h="619269">
                <a:tc>
                  <a:txBody>
                    <a:bodyPr/>
                    <a:lstStyle/>
                    <a:p>
                      <a:pPr algn="ctr"/>
                      <a:r>
                        <a:rPr lang="en-US" altLang="zh-TW" dirty="0" err="1"/>
                        <a:t>i</a:t>
                      </a:r>
                      <a:r>
                        <a:rPr lang="en-US" altLang="zh-TW" dirty="0"/>
                        <a:t>/l</a:t>
                      </a:r>
                      <a:endParaRPr lang="zh-TW" altLang="en-US" dirty="0"/>
                    </a:p>
                  </a:txBody>
                  <a:tcPr>
                    <a:solidFill>
                      <a:schemeClr val="bg1"/>
                    </a:solidFill>
                  </a:tcPr>
                </a:tc>
                <a:tc>
                  <a:txBody>
                    <a:bodyPr/>
                    <a:lstStyle/>
                    <a:p>
                      <a:pPr algn="ctr"/>
                      <a:r>
                        <a:rPr lang="en-US" altLang="zh-TW" dirty="0"/>
                        <a:t>1</a:t>
                      </a:r>
                      <a:endParaRPr lang="zh-TW" altLang="en-US" dirty="0"/>
                    </a:p>
                  </a:txBody>
                  <a:tcPr>
                    <a:solidFill>
                      <a:schemeClr val="bg1"/>
                    </a:solidFill>
                  </a:tcPr>
                </a:tc>
                <a:tc>
                  <a:txBody>
                    <a:bodyPr/>
                    <a:lstStyle/>
                    <a:p>
                      <a:pPr algn="ctr"/>
                      <a:r>
                        <a:rPr lang="en-US" altLang="zh-TW" dirty="0"/>
                        <a:t>2</a:t>
                      </a:r>
                      <a:endParaRPr lang="zh-TW" altLang="en-US" dirty="0"/>
                    </a:p>
                  </a:txBody>
                  <a:tcPr>
                    <a:solidFill>
                      <a:schemeClr val="bg1"/>
                    </a:solidFill>
                  </a:tcPr>
                </a:tc>
                <a:tc>
                  <a:txBody>
                    <a:bodyPr/>
                    <a:lstStyle/>
                    <a:p>
                      <a:pPr algn="ctr"/>
                      <a:r>
                        <a:rPr lang="en-US" altLang="zh-TW" dirty="0"/>
                        <a:t>3</a:t>
                      </a:r>
                      <a:endParaRPr lang="zh-TW" altLang="en-US" dirty="0"/>
                    </a:p>
                  </a:txBody>
                  <a:tcPr>
                    <a:solidFill>
                      <a:schemeClr val="bg1"/>
                    </a:solidFill>
                  </a:tcPr>
                </a:tc>
                <a:extLst>
                  <a:ext uri="{0D108BD9-81ED-4DB2-BD59-A6C34878D82A}">
                    <a16:rowId xmlns:a16="http://schemas.microsoft.com/office/drawing/2014/main" val="10000"/>
                  </a:ext>
                </a:extLst>
              </a:tr>
              <a:tr h="619269">
                <a:tc>
                  <a:txBody>
                    <a:bodyPr/>
                    <a:lstStyle/>
                    <a:p>
                      <a:pPr algn="ctr"/>
                      <a:r>
                        <a:rPr lang="en-US" altLang="zh-TW" dirty="0"/>
                        <a:t>0</a:t>
                      </a:r>
                      <a:endParaRPr lang="zh-TW" altLang="en-US" dirty="0"/>
                    </a:p>
                  </a:txBody>
                  <a:tcPr>
                    <a:solidFill>
                      <a:schemeClr val="bg1"/>
                    </a:solidFill>
                  </a:tcPr>
                </a:tc>
                <a:tc>
                  <a:txBody>
                    <a:bodyPr/>
                    <a:lstStyle/>
                    <a:p>
                      <a:pPr algn="ctr"/>
                      <a:r>
                        <a:rPr lang="en-US" altLang="zh-TW" dirty="0">
                          <a:solidFill>
                            <a:srgbClr val="00B0F0"/>
                          </a:solidFill>
                        </a:rPr>
                        <a:t>1</a:t>
                      </a:r>
                      <a:endParaRPr lang="zh-TW" altLang="en-US" dirty="0">
                        <a:solidFill>
                          <a:srgbClr val="00B0F0"/>
                        </a:solidFill>
                      </a:endParaRPr>
                    </a:p>
                  </a:txBody>
                  <a:tcPr>
                    <a:solidFill>
                      <a:schemeClr val="bg1"/>
                    </a:solidFill>
                  </a:tcPr>
                </a:tc>
                <a:tc>
                  <a:txBody>
                    <a:bodyPr/>
                    <a:lstStyle/>
                    <a:p>
                      <a:pPr algn="ctr"/>
                      <a:r>
                        <a:rPr lang="en-US" altLang="zh-TW" dirty="0">
                          <a:solidFill>
                            <a:srgbClr val="FF00FF"/>
                          </a:solidFill>
                        </a:rPr>
                        <a:t>2</a:t>
                      </a:r>
                      <a:endParaRPr lang="zh-TW" altLang="en-US" dirty="0">
                        <a:solidFill>
                          <a:srgbClr val="FF00FF"/>
                        </a:solidFill>
                      </a:endParaRPr>
                    </a:p>
                  </a:txBody>
                  <a:tcPr>
                    <a:solidFill>
                      <a:schemeClr val="bg1"/>
                    </a:solidFill>
                  </a:tcPr>
                </a:tc>
                <a:tc>
                  <a:txBody>
                    <a:bodyPr/>
                    <a:lstStyle/>
                    <a:p>
                      <a:pPr algn="ctr"/>
                      <a:r>
                        <a:rPr lang="en-US" altLang="zh-TW" dirty="0">
                          <a:solidFill>
                            <a:srgbClr val="00B050"/>
                          </a:solidFill>
                        </a:rPr>
                        <a:t>4</a:t>
                      </a:r>
                      <a:endParaRPr lang="zh-TW" altLang="en-US" dirty="0">
                        <a:solidFill>
                          <a:srgbClr val="00B050"/>
                        </a:solidFill>
                      </a:endParaRPr>
                    </a:p>
                  </a:txBody>
                  <a:tcPr>
                    <a:solidFill>
                      <a:schemeClr val="bg1"/>
                    </a:solidFill>
                  </a:tcPr>
                </a:tc>
                <a:extLst>
                  <a:ext uri="{0D108BD9-81ED-4DB2-BD59-A6C34878D82A}">
                    <a16:rowId xmlns:a16="http://schemas.microsoft.com/office/drawing/2014/main" val="10001"/>
                  </a:ext>
                </a:extLst>
              </a:tr>
              <a:tr h="619269">
                <a:tc>
                  <a:txBody>
                    <a:bodyPr/>
                    <a:lstStyle/>
                    <a:p>
                      <a:pPr algn="ctr"/>
                      <a:r>
                        <a:rPr lang="en-US" altLang="zh-TW" dirty="0"/>
                        <a:t>1</a:t>
                      </a:r>
                      <a:endParaRPr lang="zh-TW" altLang="en-US" dirty="0"/>
                    </a:p>
                  </a:txBody>
                  <a:tcPr>
                    <a:solidFill>
                      <a:schemeClr val="bg1"/>
                    </a:solidFill>
                  </a:tcPr>
                </a:tc>
                <a:tc>
                  <a:txBody>
                    <a:bodyPr/>
                    <a:lstStyle/>
                    <a:p>
                      <a:pPr algn="ctr"/>
                      <a:r>
                        <a:rPr lang="en-US" altLang="zh-TW" dirty="0">
                          <a:solidFill>
                            <a:srgbClr val="00B0F0"/>
                          </a:solidFill>
                        </a:rPr>
                        <a:t>2</a:t>
                      </a:r>
                      <a:endParaRPr lang="zh-TW" altLang="en-US" dirty="0">
                        <a:solidFill>
                          <a:srgbClr val="00B0F0"/>
                        </a:solidFill>
                      </a:endParaRPr>
                    </a:p>
                  </a:txBody>
                  <a:tcPr>
                    <a:solidFill>
                      <a:schemeClr val="bg1"/>
                    </a:solidFill>
                  </a:tcPr>
                </a:tc>
                <a:tc>
                  <a:txBody>
                    <a:bodyPr/>
                    <a:lstStyle/>
                    <a:p>
                      <a:pPr algn="ctr"/>
                      <a:r>
                        <a:rPr lang="en-US" altLang="zh-TW" dirty="0">
                          <a:solidFill>
                            <a:srgbClr val="FF00FF"/>
                          </a:solidFill>
                        </a:rPr>
                        <a:t>4</a:t>
                      </a:r>
                      <a:endParaRPr lang="zh-TW" altLang="en-US" dirty="0">
                        <a:solidFill>
                          <a:srgbClr val="FF00FF"/>
                        </a:solidFill>
                      </a:endParaRPr>
                    </a:p>
                  </a:txBody>
                  <a:tcPr>
                    <a:solidFill>
                      <a:schemeClr val="bg1"/>
                    </a:solidFill>
                  </a:tcPr>
                </a:tc>
                <a:tc>
                  <a:txBody>
                    <a:bodyPr/>
                    <a:lstStyle/>
                    <a:p>
                      <a:pPr algn="ctr"/>
                      <a:endParaRPr lang="zh-TW" altLang="en-US" dirty="0"/>
                    </a:p>
                  </a:txBody>
                  <a:tcPr>
                    <a:solidFill>
                      <a:schemeClr val="bg1"/>
                    </a:solidFill>
                  </a:tcPr>
                </a:tc>
                <a:extLst>
                  <a:ext uri="{0D108BD9-81ED-4DB2-BD59-A6C34878D82A}">
                    <a16:rowId xmlns:a16="http://schemas.microsoft.com/office/drawing/2014/main" val="10002"/>
                  </a:ext>
                </a:extLst>
              </a:tr>
              <a:tr h="619269">
                <a:tc>
                  <a:txBody>
                    <a:bodyPr/>
                    <a:lstStyle/>
                    <a:p>
                      <a:pPr algn="ctr"/>
                      <a:r>
                        <a:rPr lang="en-US" altLang="zh-TW" dirty="0"/>
                        <a:t>2</a:t>
                      </a:r>
                      <a:endParaRPr lang="zh-TW" altLang="en-US" dirty="0"/>
                    </a:p>
                  </a:txBody>
                  <a:tcPr>
                    <a:solidFill>
                      <a:schemeClr val="bg1"/>
                    </a:solidFill>
                  </a:tcPr>
                </a:tc>
                <a:tc>
                  <a:txBody>
                    <a:bodyPr/>
                    <a:lstStyle/>
                    <a:p>
                      <a:pPr algn="ctr"/>
                      <a:r>
                        <a:rPr lang="en-US" altLang="zh-TW" dirty="0">
                          <a:solidFill>
                            <a:srgbClr val="00B0F0"/>
                          </a:solidFill>
                        </a:rPr>
                        <a:t>3</a:t>
                      </a:r>
                      <a:endParaRPr lang="zh-TW" altLang="en-US" dirty="0">
                        <a:solidFill>
                          <a:srgbClr val="00B0F0"/>
                        </a:solidFill>
                      </a:endParaRPr>
                    </a:p>
                  </a:txBody>
                  <a:tcPr>
                    <a:solidFill>
                      <a:schemeClr val="bg1"/>
                    </a:solidFill>
                  </a:tcPr>
                </a:tc>
                <a:tc>
                  <a:txBody>
                    <a:bodyPr/>
                    <a:lstStyle/>
                    <a:p>
                      <a:pPr algn="ctr"/>
                      <a:r>
                        <a:rPr lang="en-US" altLang="zh-TW" dirty="0">
                          <a:solidFill>
                            <a:srgbClr val="FF00FF"/>
                          </a:solidFill>
                        </a:rPr>
                        <a:t>4</a:t>
                      </a:r>
                      <a:endParaRPr lang="zh-TW" altLang="en-US" dirty="0">
                        <a:solidFill>
                          <a:srgbClr val="FF00FF"/>
                        </a:solidFill>
                      </a:endParaRPr>
                    </a:p>
                  </a:txBody>
                  <a:tcPr>
                    <a:solidFill>
                      <a:schemeClr val="bg1"/>
                    </a:solidFill>
                  </a:tcPr>
                </a:tc>
                <a:tc>
                  <a:txBody>
                    <a:bodyPr/>
                    <a:lstStyle/>
                    <a:p>
                      <a:pPr algn="ctr"/>
                      <a:endParaRPr lang="zh-TW" altLang="en-US" dirty="0"/>
                    </a:p>
                  </a:txBody>
                  <a:tcPr>
                    <a:solidFill>
                      <a:schemeClr val="bg1"/>
                    </a:solidFill>
                  </a:tcPr>
                </a:tc>
                <a:extLst>
                  <a:ext uri="{0D108BD9-81ED-4DB2-BD59-A6C34878D82A}">
                    <a16:rowId xmlns:a16="http://schemas.microsoft.com/office/drawing/2014/main" val="10003"/>
                  </a:ext>
                </a:extLst>
              </a:tr>
              <a:tr h="619269">
                <a:tc>
                  <a:txBody>
                    <a:bodyPr/>
                    <a:lstStyle/>
                    <a:p>
                      <a:pPr algn="ctr"/>
                      <a:r>
                        <a:rPr lang="en-US" altLang="zh-TW" dirty="0"/>
                        <a:t>3</a:t>
                      </a:r>
                      <a:endParaRPr lang="zh-TW" altLang="en-US" dirty="0"/>
                    </a:p>
                  </a:txBody>
                  <a:tcPr>
                    <a:solidFill>
                      <a:schemeClr val="bg1"/>
                    </a:solidFill>
                  </a:tcPr>
                </a:tc>
                <a:tc>
                  <a:txBody>
                    <a:bodyPr/>
                    <a:lstStyle/>
                    <a:p>
                      <a:pPr algn="ctr"/>
                      <a:r>
                        <a:rPr lang="en-US" altLang="zh-TW" dirty="0">
                          <a:solidFill>
                            <a:srgbClr val="00B0F0"/>
                          </a:solidFill>
                        </a:rPr>
                        <a:t>4</a:t>
                      </a:r>
                      <a:endParaRPr lang="zh-TW" altLang="en-US" dirty="0">
                        <a:solidFill>
                          <a:srgbClr val="00B0F0"/>
                        </a:solidFill>
                      </a:endParaRPr>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extLst>
                  <a:ext uri="{0D108BD9-81ED-4DB2-BD59-A6C34878D82A}">
                    <a16:rowId xmlns:a16="http://schemas.microsoft.com/office/drawing/2014/main" val="10004"/>
                  </a:ext>
                </a:extLst>
              </a:tr>
            </a:tbl>
          </a:graphicData>
        </a:graphic>
      </p:graphicFrame>
      <p:sp>
        <p:nvSpPr>
          <p:cNvPr id="11" name="內容版面配置區 10">
            <a:extLst>
              <a:ext uri="{FF2B5EF4-FFF2-40B4-BE49-F238E27FC236}">
                <a16:creationId xmlns:a16="http://schemas.microsoft.com/office/drawing/2014/main" id="{4443088B-880F-4F8C-9152-01EAF42326AC}"/>
              </a:ext>
            </a:extLst>
          </p:cNvPr>
          <p:cNvSpPr>
            <a:spLocks noGrp="1"/>
          </p:cNvSpPr>
          <p:nvPr>
            <p:ph idx="1"/>
          </p:nvPr>
        </p:nvSpPr>
        <p:spPr>
          <a:xfrm>
            <a:off x="457200" y="1600201"/>
            <a:ext cx="8229600" cy="4858382"/>
          </a:xfrm>
        </p:spPr>
        <p:txBody>
          <a:bodyPr/>
          <a:lstStyle/>
          <a:p>
            <a:r>
              <a:rPr lang="en-US" altLang="zh-TW" dirty="0"/>
              <a:t>S1:TACA   	S2:TCA</a:t>
            </a:r>
            <a:endParaRPr lang="zh-TW" altLang="en-US" dirty="0"/>
          </a:p>
        </p:txBody>
      </p:sp>
      <mc:AlternateContent xmlns:mc="http://schemas.openxmlformats.org/markup-compatibility/2006" xmlns:a14="http://schemas.microsoft.com/office/drawing/2010/main">
        <mc:Choice Requires="a14">
          <p:sp>
            <p:nvSpPr>
              <p:cNvPr id="18" name="文字方塊 17">
                <a:extLst>
                  <a:ext uri="{FF2B5EF4-FFF2-40B4-BE49-F238E27FC236}">
                    <a16:creationId xmlns:a16="http://schemas.microsoft.com/office/drawing/2014/main" id="{9CE5A1C4-BB25-440E-A43D-97E81A767F0A}"/>
                  </a:ext>
                </a:extLst>
              </p:cNvPr>
              <p:cNvSpPr txBox="1"/>
              <p:nvPr/>
            </p:nvSpPr>
            <p:spPr>
              <a:xfrm>
                <a:off x="2195736" y="5725686"/>
                <a:ext cx="4572000" cy="5847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3200" b="0" i="1" smtClean="0">
                          <a:latin typeface="Cambria Math" panose="02040503050406030204" pitchFamily="18" charset="0"/>
                        </a:rPr>
                        <m:t>𝑂</m:t>
                      </m:r>
                      <m:r>
                        <a:rPr lang="en-US" altLang="zh-TW" sz="3200" b="0" i="1" smtClean="0">
                          <a:latin typeface="Cambria Math" panose="02040503050406030204" pitchFamily="18" charset="0"/>
                        </a:rPr>
                        <m:t>(</m:t>
                      </m:r>
                      <m:r>
                        <a:rPr lang="en-US" altLang="zh-TW" sz="3200" b="0" i="1" smtClean="0">
                          <a:latin typeface="Cambria Math" panose="02040503050406030204" pitchFamily="18" charset="0"/>
                        </a:rPr>
                        <m:t>𝑚𝑛</m:t>
                      </m:r>
                      <m:r>
                        <a:rPr lang="en-US" altLang="zh-TW" sz="3200" b="0" i="1" smtClean="0">
                          <a:latin typeface="Cambria Math" panose="02040503050406030204" pitchFamily="18" charset="0"/>
                        </a:rPr>
                        <m:t>)</m:t>
                      </m:r>
                    </m:oMath>
                  </m:oMathPara>
                </a14:m>
                <a:endParaRPr lang="zh-TW" altLang="en-US" sz="3200" dirty="0"/>
              </a:p>
            </p:txBody>
          </p:sp>
        </mc:Choice>
        <mc:Fallback xmlns="">
          <p:sp>
            <p:nvSpPr>
              <p:cNvPr id="18" name="文字方塊 17">
                <a:extLst>
                  <a:ext uri="{FF2B5EF4-FFF2-40B4-BE49-F238E27FC236}">
                    <a16:creationId xmlns:a16="http://schemas.microsoft.com/office/drawing/2014/main" id="{9CE5A1C4-BB25-440E-A43D-97E81A767F0A}"/>
                  </a:ext>
                </a:extLst>
              </p:cNvPr>
              <p:cNvSpPr txBox="1">
                <a:spLocks noRot="1" noChangeAspect="1" noMove="1" noResize="1" noEditPoints="1" noAdjustHandles="1" noChangeArrowheads="1" noChangeShapeType="1" noTextEdit="1"/>
              </p:cNvSpPr>
              <p:nvPr/>
            </p:nvSpPr>
            <p:spPr>
              <a:xfrm>
                <a:off x="2195736" y="5725686"/>
                <a:ext cx="4572000" cy="584775"/>
              </a:xfrm>
              <a:prstGeom prst="rect">
                <a:avLst/>
              </a:prstGeom>
              <a:blipFill>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805470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4000" dirty="0">
                <a:latin typeface="Times New Roman" panose="02020603050405020304" pitchFamily="18" charset="0"/>
                <a:cs typeface="Times New Roman" panose="02020603050405020304" pitchFamily="18" charset="0"/>
              </a:rPr>
              <a:t>Method 3</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內容版面配置區 7"/>
              <p:cNvSpPr>
                <a:spLocks noGrp="1"/>
              </p:cNvSpPr>
              <p:nvPr>
                <p:ph idx="1"/>
              </p:nvPr>
            </p:nvSpPr>
            <p:spPr>
              <a:xfrm>
                <a:off x="179512" y="1417638"/>
                <a:ext cx="7886700" cy="4351338"/>
              </a:xfrm>
            </p:spPr>
            <p:txBody>
              <a:bodyPr/>
              <a:lstStyle/>
              <a:p>
                <a:pPr marL="0" indent="0">
                  <a:buNone/>
                </a:pPr>
                <a14:m>
                  <m:oMathPara xmlns:m="http://schemas.openxmlformats.org/officeDocument/2006/math">
                    <m:oMathParaPr>
                      <m:jc m:val="left"/>
                    </m:oMathParaPr>
                    <m:oMath xmlns:m="http://schemas.openxmlformats.org/officeDocument/2006/math">
                      <m:r>
                        <a:rPr lang="en-US" altLang="zh-TW" b="0" i="1" smtClean="0">
                          <a:latin typeface="Cambria Math" panose="02040503050406030204" pitchFamily="18" charset="0"/>
                        </a:rPr>
                        <m:t>𝑇</m:t>
                      </m:r>
                      <m:r>
                        <a:rPr lang="en-US" altLang="zh-TW" b="0" i="1" smtClean="0">
                          <a:latin typeface="Cambria Math" panose="02040503050406030204" pitchFamily="18" charset="0"/>
                        </a:rPr>
                        <m:t>=</m:t>
                      </m:r>
                      <m:r>
                        <a:rPr lang="en-US" altLang="zh-TW" b="0" i="1" smtClean="0">
                          <a:latin typeface="Cambria Math" panose="02040503050406030204" pitchFamily="18" charset="0"/>
                        </a:rPr>
                        <m:t>𝑎𝑔𝑎𝑐𝑡𝑎𝑔𝑡𝑐</m:t>
                      </m:r>
                    </m:oMath>
                  </m:oMathPara>
                </a14:m>
                <a:endParaRPr lang="en-US" altLang="zh-TW" b="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TW" b="0" i="1" smtClean="0">
                          <a:latin typeface="Cambria Math" panose="02040503050406030204" pitchFamily="18" charset="0"/>
                        </a:rPr>
                        <m:t>𝑆</m:t>
                      </m:r>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𝑎𝑔𝑐</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𝑎𝑐𝑡</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𝑎𝑎𝑡𝑔</m:t>
                          </m:r>
                        </m:e>
                      </m:d>
                    </m:oMath>
                  </m:oMathPara>
                </a14:m>
                <a:endParaRPr lang="en-US" altLang="zh-TW" b="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0</m:t>
                          </m:r>
                        </m:sub>
                      </m:sSub>
                      <m:r>
                        <a:rPr lang="en-US" altLang="zh-TW" b="0" i="1" smtClean="0">
                          <a:latin typeface="Cambria Math" panose="02040503050406030204" pitchFamily="18" charset="0"/>
                        </a:rPr>
                        <m:t>=(0) </m:t>
                      </m:r>
                    </m:oMath>
                  </m:oMathPara>
                </a14:m>
                <a:endParaRPr lang="en-US" altLang="zh-TW" b="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𝑚𝑖𝑛𝐸</m:t>
                      </m:r>
                      <m:d>
                        <m:dPr>
                          <m:begChr m:val="{"/>
                          <m:endChr m:val="}"/>
                          <m:ctrlPr>
                            <a:rPr lang="en-US" altLang="zh-TW" b="0" i="1" smtClean="0">
                              <a:latin typeface="Cambria Math" panose="02040503050406030204" pitchFamily="18" charset="0"/>
                            </a:rPr>
                          </m:ctrlPr>
                        </m:dPr>
                        <m:e>
                          <m:eqArr>
                            <m:eqArrPr>
                              <m:ctrlPr>
                                <a:rPr lang="en-US" altLang="zh-TW" b="0" i="1" smtClean="0">
                                  <a:latin typeface="Cambria Math" panose="02040503050406030204" pitchFamily="18" charset="0"/>
                                </a:rPr>
                              </m:ctrlPr>
                            </m:eqArrPr>
                            <m:e>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0,1,2,4</m:t>
                                  </m:r>
                                </m:e>
                              </m:d>
                            </m:e>
                            <m:e>
                              <m:eqArr>
                                <m:eqArrPr>
                                  <m:ctrlPr>
                                    <a:rPr lang="en-US" altLang="zh-TW" b="0" i="1" smtClean="0">
                                      <a:latin typeface="Cambria Math" panose="02040503050406030204" pitchFamily="18" charset="0"/>
                                    </a:rPr>
                                  </m:ctrlPr>
                                </m:eqArrPr>
                                <m:e>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0,1,4,5</m:t>
                                      </m:r>
                                    </m:e>
                                  </m:d>
                                </m:e>
                                <m:e>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0,1,2,5,7</m:t>
                                      </m:r>
                                    </m:e>
                                  </m:d>
                                </m:e>
                              </m:eqArr>
                            </m:e>
                          </m:eqArr>
                        </m:e>
                      </m:d>
                    </m:oMath>
                  </m:oMathPara>
                </a14:m>
                <a:endParaRPr lang="en-US" altLang="zh-TW" b="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TW" b="0" i="1" smtClean="0">
                          <a:latin typeface="Cambria Math" panose="02040503050406030204" pitchFamily="18" charset="0"/>
                        </a:rPr>
                        <m:t>=(0,1,2,4,7)</m:t>
                      </m:r>
                    </m:oMath>
                  </m:oMathPara>
                </a14:m>
                <a:endParaRPr lang="en-US" altLang="zh-TW" b="0" i="1" dirty="0">
                  <a:latin typeface="Cambria Math" panose="02040503050406030204" pitchFamily="18" charset="0"/>
                </a:endParaRPr>
              </a:p>
              <a:p>
                <a:pPr marL="0" indent="0">
                  <a:buNone/>
                </a:pPr>
                <a:endParaRPr lang="en-US" altLang="zh-TW" b="0" i="1" dirty="0">
                  <a:latin typeface="Cambria Math" panose="02040503050406030204" pitchFamily="18" charset="0"/>
                </a:endParaRPr>
              </a:p>
              <a:p>
                <a:pPr marL="0" indent="0">
                  <a:buNone/>
                </a:pPr>
                <a:endParaRPr lang="en-US" altLang="zh-TW" b="0" dirty="0"/>
              </a:p>
              <a:p>
                <a:pPr marL="0" indent="0">
                  <a:buNone/>
                </a:pPr>
                <a:endParaRPr lang="en-US" altLang="zh-TW" b="0" dirty="0"/>
              </a:p>
            </p:txBody>
          </p:sp>
        </mc:Choice>
        <mc:Fallback xmlns="">
          <p:sp>
            <p:nvSpPr>
              <p:cNvPr id="8" name="內容版面配置區 7"/>
              <p:cNvSpPr>
                <a:spLocks noGrp="1" noRot="1" noChangeAspect="1" noMove="1" noResize="1" noEditPoints="1" noAdjustHandles="1" noChangeArrowheads="1" noChangeShapeType="1" noTextEdit="1"/>
              </p:cNvSpPr>
              <p:nvPr>
                <p:ph idx="1"/>
              </p:nvPr>
            </p:nvSpPr>
            <p:spPr>
              <a:xfrm>
                <a:off x="179512" y="1417638"/>
                <a:ext cx="7886700" cy="4351338"/>
              </a:xfrm>
              <a:blipFill>
                <a:blip r:embed="rId2"/>
                <a:stretch>
                  <a:fillRect/>
                </a:stretch>
              </a:blipFill>
            </p:spPr>
            <p:txBody>
              <a:bodyPr/>
              <a:lstStyle/>
              <a:p>
                <a:r>
                  <a:rPr lang="zh-TW" altLang="en-US">
                    <a:noFill/>
                  </a:rPr>
                  <a:t> </a:t>
                </a:r>
              </a:p>
            </p:txBody>
          </p:sp>
        </mc:Fallback>
      </mc:AlternateContent>
      <p:graphicFrame>
        <p:nvGraphicFramePr>
          <p:cNvPr id="3" name="表格 2"/>
          <p:cNvGraphicFramePr>
            <a:graphicFrameLocks noGrp="1"/>
          </p:cNvGraphicFramePr>
          <p:nvPr/>
        </p:nvGraphicFramePr>
        <p:xfrm>
          <a:off x="4565198" y="2492379"/>
          <a:ext cx="4169231" cy="3851270"/>
        </p:xfrm>
        <a:graphic>
          <a:graphicData uri="http://schemas.openxmlformats.org/drawingml/2006/table">
            <a:tbl>
              <a:tblPr firstRow="1" bandRow="1">
                <a:tableStyleId>{5940675A-B579-460E-94D1-54222C63F5DA}</a:tableStyleId>
              </a:tblPr>
              <a:tblGrid>
                <a:gridCol w="379021">
                  <a:extLst>
                    <a:ext uri="{9D8B030D-6E8A-4147-A177-3AD203B41FA5}">
                      <a16:colId xmlns:a16="http://schemas.microsoft.com/office/drawing/2014/main" val="20000"/>
                    </a:ext>
                  </a:extLst>
                </a:gridCol>
                <a:gridCol w="379021">
                  <a:extLst>
                    <a:ext uri="{9D8B030D-6E8A-4147-A177-3AD203B41FA5}">
                      <a16:colId xmlns:a16="http://schemas.microsoft.com/office/drawing/2014/main" val="20001"/>
                    </a:ext>
                  </a:extLst>
                </a:gridCol>
                <a:gridCol w="379021">
                  <a:extLst>
                    <a:ext uri="{9D8B030D-6E8A-4147-A177-3AD203B41FA5}">
                      <a16:colId xmlns:a16="http://schemas.microsoft.com/office/drawing/2014/main" val="20002"/>
                    </a:ext>
                  </a:extLst>
                </a:gridCol>
                <a:gridCol w="379021">
                  <a:extLst>
                    <a:ext uri="{9D8B030D-6E8A-4147-A177-3AD203B41FA5}">
                      <a16:colId xmlns:a16="http://schemas.microsoft.com/office/drawing/2014/main" val="20003"/>
                    </a:ext>
                  </a:extLst>
                </a:gridCol>
                <a:gridCol w="379021">
                  <a:extLst>
                    <a:ext uri="{9D8B030D-6E8A-4147-A177-3AD203B41FA5}">
                      <a16:colId xmlns:a16="http://schemas.microsoft.com/office/drawing/2014/main" val="20004"/>
                    </a:ext>
                  </a:extLst>
                </a:gridCol>
                <a:gridCol w="379021">
                  <a:extLst>
                    <a:ext uri="{9D8B030D-6E8A-4147-A177-3AD203B41FA5}">
                      <a16:colId xmlns:a16="http://schemas.microsoft.com/office/drawing/2014/main" val="20005"/>
                    </a:ext>
                  </a:extLst>
                </a:gridCol>
                <a:gridCol w="379021">
                  <a:extLst>
                    <a:ext uri="{9D8B030D-6E8A-4147-A177-3AD203B41FA5}">
                      <a16:colId xmlns:a16="http://schemas.microsoft.com/office/drawing/2014/main" val="20006"/>
                    </a:ext>
                  </a:extLst>
                </a:gridCol>
                <a:gridCol w="379021">
                  <a:extLst>
                    <a:ext uri="{9D8B030D-6E8A-4147-A177-3AD203B41FA5}">
                      <a16:colId xmlns:a16="http://schemas.microsoft.com/office/drawing/2014/main" val="20007"/>
                    </a:ext>
                  </a:extLst>
                </a:gridCol>
                <a:gridCol w="379021">
                  <a:extLst>
                    <a:ext uri="{9D8B030D-6E8A-4147-A177-3AD203B41FA5}">
                      <a16:colId xmlns:a16="http://schemas.microsoft.com/office/drawing/2014/main" val="20008"/>
                    </a:ext>
                  </a:extLst>
                </a:gridCol>
                <a:gridCol w="379021">
                  <a:extLst>
                    <a:ext uri="{9D8B030D-6E8A-4147-A177-3AD203B41FA5}">
                      <a16:colId xmlns:a16="http://schemas.microsoft.com/office/drawing/2014/main" val="20009"/>
                    </a:ext>
                  </a:extLst>
                </a:gridCol>
                <a:gridCol w="379021">
                  <a:extLst>
                    <a:ext uri="{9D8B030D-6E8A-4147-A177-3AD203B41FA5}">
                      <a16:colId xmlns:a16="http://schemas.microsoft.com/office/drawing/2014/main" val="20010"/>
                    </a:ext>
                  </a:extLst>
                </a:gridCol>
              </a:tblGrid>
              <a:tr h="385127">
                <a:tc>
                  <a:txBody>
                    <a:bodyPr/>
                    <a:lstStyle/>
                    <a:p>
                      <a:pPr algn="ctr"/>
                      <a:endParaRPr lang="zh-TW" altLang="en-US" dirty="0"/>
                    </a:p>
                  </a:txBody>
                  <a:tcP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pPr algn="ctr"/>
                      <a:r>
                        <a:rPr lang="en-US" altLang="zh-TW" dirty="0"/>
                        <a:t>1</a:t>
                      </a:r>
                      <a:endParaRPr lang="zh-TW" altLang="en-US" dirty="0"/>
                    </a:p>
                  </a:txBody>
                  <a:tcP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pPr algn="ctr"/>
                      <a:r>
                        <a:rPr lang="en-US" altLang="zh-TW" dirty="0"/>
                        <a:t>2</a:t>
                      </a:r>
                      <a:endParaRPr lang="zh-TW" altLang="en-US" dirty="0"/>
                    </a:p>
                  </a:txBody>
                  <a:tcPr>
                    <a:lnB w="38100" cap="flat" cmpd="sng" algn="ctr">
                      <a:solidFill>
                        <a:schemeClr val="tx1"/>
                      </a:solidFill>
                      <a:prstDash val="solid"/>
                      <a:round/>
                      <a:headEnd type="none" w="med" len="med"/>
                      <a:tailEnd type="none" w="med" len="med"/>
                    </a:lnB>
                  </a:tcPr>
                </a:tc>
                <a:tc>
                  <a:txBody>
                    <a:bodyPr/>
                    <a:lstStyle/>
                    <a:p>
                      <a:pPr algn="ctr"/>
                      <a:r>
                        <a:rPr lang="en-US" altLang="zh-TW" dirty="0"/>
                        <a:t>3</a:t>
                      </a:r>
                      <a:endParaRPr lang="zh-TW" altLang="en-US" dirty="0"/>
                    </a:p>
                  </a:txBody>
                  <a:tcP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pPr algn="ctr"/>
                      <a:r>
                        <a:rPr lang="en-US" altLang="zh-TW" dirty="0"/>
                        <a:t>1</a:t>
                      </a:r>
                      <a:endParaRPr lang="zh-TW" altLang="en-US" dirty="0"/>
                    </a:p>
                  </a:txBody>
                  <a:tcP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pPr algn="ctr"/>
                      <a:r>
                        <a:rPr lang="en-US" altLang="zh-TW" dirty="0"/>
                        <a:t>2</a:t>
                      </a:r>
                      <a:endParaRPr lang="zh-TW" altLang="en-US" dirty="0"/>
                    </a:p>
                  </a:txBody>
                  <a:tcPr>
                    <a:lnB w="38100" cap="flat" cmpd="sng" algn="ctr">
                      <a:solidFill>
                        <a:schemeClr val="tx1"/>
                      </a:solidFill>
                      <a:prstDash val="solid"/>
                      <a:round/>
                      <a:headEnd type="none" w="med" len="med"/>
                      <a:tailEnd type="none" w="med" len="med"/>
                    </a:lnB>
                  </a:tcPr>
                </a:tc>
                <a:tc>
                  <a:txBody>
                    <a:bodyPr/>
                    <a:lstStyle/>
                    <a:p>
                      <a:pPr algn="ctr"/>
                      <a:r>
                        <a:rPr lang="en-US" altLang="zh-TW" dirty="0"/>
                        <a:t>3</a:t>
                      </a:r>
                      <a:endParaRPr lang="zh-TW" altLang="en-US" dirty="0"/>
                    </a:p>
                  </a:txBody>
                  <a:tcP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pPr algn="ctr"/>
                      <a:r>
                        <a:rPr lang="en-US" altLang="zh-TW" dirty="0"/>
                        <a:t>1</a:t>
                      </a:r>
                      <a:endParaRPr lang="zh-TW" altLang="en-US" dirty="0"/>
                    </a:p>
                  </a:txBody>
                  <a:tcP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pPr algn="ctr"/>
                      <a:r>
                        <a:rPr lang="en-US" altLang="zh-TW" dirty="0"/>
                        <a:t>2</a:t>
                      </a:r>
                      <a:endParaRPr lang="zh-TW" altLang="en-US" dirty="0"/>
                    </a:p>
                  </a:txBody>
                  <a:tcPr>
                    <a:lnB w="38100" cap="flat" cmpd="sng" algn="ctr">
                      <a:solidFill>
                        <a:schemeClr val="tx1"/>
                      </a:solidFill>
                      <a:prstDash val="solid"/>
                      <a:round/>
                      <a:headEnd type="none" w="med" len="med"/>
                      <a:tailEnd type="none" w="med" len="med"/>
                    </a:lnB>
                  </a:tcPr>
                </a:tc>
                <a:tc>
                  <a:txBody>
                    <a:bodyPr/>
                    <a:lstStyle/>
                    <a:p>
                      <a:pPr algn="ctr"/>
                      <a:r>
                        <a:rPr lang="en-US" altLang="zh-TW" dirty="0"/>
                        <a:t>3</a:t>
                      </a:r>
                      <a:endParaRPr lang="zh-TW" altLang="en-US" dirty="0"/>
                    </a:p>
                  </a:txBody>
                  <a:tcPr>
                    <a:lnB w="38100" cap="flat" cmpd="sng" algn="ctr">
                      <a:solidFill>
                        <a:schemeClr val="tx1"/>
                      </a:solidFill>
                      <a:prstDash val="solid"/>
                      <a:round/>
                      <a:headEnd type="none" w="med" len="med"/>
                      <a:tailEnd type="none" w="med" len="med"/>
                    </a:lnB>
                  </a:tcPr>
                </a:tc>
                <a:tc>
                  <a:txBody>
                    <a:bodyPr/>
                    <a:lstStyle/>
                    <a:p>
                      <a:pPr algn="ctr"/>
                      <a:r>
                        <a:rPr lang="en-US" altLang="zh-TW" dirty="0"/>
                        <a:t>4</a:t>
                      </a:r>
                      <a:endParaRPr lang="zh-TW" altLang="en-US" dirty="0"/>
                    </a:p>
                  </a:txBody>
                  <a:tcP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85127">
                <a:tc>
                  <a:txBody>
                    <a:bodyPr/>
                    <a:lstStyle/>
                    <a:p>
                      <a:pPr algn="ctr"/>
                      <a:r>
                        <a:rPr lang="en-US" altLang="zh-TW" dirty="0"/>
                        <a:t>0</a:t>
                      </a:r>
                      <a:endParaRPr lang="zh-TW" altLang="en-US" dirty="0"/>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pPr algn="ctr"/>
                      <a:r>
                        <a:rPr lang="en-US" altLang="zh-TW" dirty="0"/>
                        <a:t>1</a:t>
                      </a:r>
                      <a:endParaRPr lang="zh-TW" altLang="en-US" dirty="0"/>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rgbClr val="FFFF00"/>
                    </a:solidFill>
                  </a:tcPr>
                </a:tc>
                <a:tc>
                  <a:txBody>
                    <a:bodyPr/>
                    <a:lstStyle/>
                    <a:p>
                      <a:pPr algn="ctr"/>
                      <a:r>
                        <a:rPr lang="en-US" altLang="zh-TW" dirty="0"/>
                        <a:t>2</a:t>
                      </a:r>
                      <a:endParaRPr lang="zh-TW" altLang="en-US" dirty="0"/>
                    </a:p>
                  </a:txBody>
                  <a:tcPr>
                    <a:lnT w="38100" cap="flat" cmpd="sng" algn="ctr">
                      <a:solidFill>
                        <a:schemeClr val="tx1"/>
                      </a:solidFill>
                      <a:prstDash val="solid"/>
                      <a:round/>
                      <a:headEnd type="none" w="med" len="med"/>
                      <a:tailEnd type="none" w="med" len="med"/>
                    </a:lnT>
                    <a:solidFill>
                      <a:srgbClr val="FFFF00"/>
                    </a:solidFill>
                  </a:tcPr>
                </a:tc>
                <a:tc>
                  <a:txBody>
                    <a:bodyPr/>
                    <a:lstStyle/>
                    <a:p>
                      <a:pPr algn="ctr"/>
                      <a:r>
                        <a:rPr lang="en-US" altLang="zh-TW" dirty="0"/>
                        <a:t>4</a:t>
                      </a:r>
                      <a:endParaRPr lang="zh-TW" altLang="en-US" dirty="0"/>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rgbClr val="FFFF00"/>
                    </a:solidFill>
                  </a:tcPr>
                </a:tc>
                <a:tc>
                  <a:txBody>
                    <a:bodyPr/>
                    <a:lstStyle/>
                    <a:p>
                      <a:pPr algn="ctr"/>
                      <a:r>
                        <a:rPr lang="en-US" altLang="zh-TW" dirty="0"/>
                        <a:t>1</a:t>
                      </a:r>
                      <a:endParaRPr lang="zh-TW" altLang="en-US" dirty="0"/>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rgbClr val="FFFF00"/>
                    </a:solidFill>
                  </a:tcPr>
                </a:tc>
                <a:tc>
                  <a:txBody>
                    <a:bodyPr/>
                    <a:lstStyle/>
                    <a:p>
                      <a:pPr algn="ctr"/>
                      <a:r>
                        <a:rPr lang="en-US" altLang="zh-TW" dirty="0"/>
                        <a:t>4</a:t>
                      </a:r>
                      <a:endParaRPr lang="zh-TW" altLang="en-US" dirty="0"/>
                    </a:p>
                  </a:txBody>
                  <a:tcPr>
                    <a:lnT w="38100" cap="flat" cmpd="sng" algn="ctr">
                      <a:solidFill>
                        <a:schemeClr val="tx1"/>
                      </a:solidFill>
                      <a:prstDash val="solid"/>
                      <a:round/>
                      <a:headEnd type="none" w="med" len="med"/>
                      <a:tailEnd type="none" w="med" len="med"/>
                    </a:lnT>
                    <a:solidFill>
                      <a:srgbClr val="FFFF00"/>
                    </a:solidFill>
                  </a:tcPr>
                </a:tc>
                <a:tc>
                  <a:txBody>
                    <a:bodyPr/>
                    <a:lstStyle/>
                    <a:p>
                      <a:pPr algn="ctr"/>
                      <a:r>
                        <a:rPr lang="en-US" altLang="zh-TW" dirty="0"/>
                        <a:t>5</a:t>
                      </a:r>
                      <a:endParaRPr lang="zh-TW" altLang="en-US" dirty="0"/>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rgbClr val="FFFF00"/>
                    </a:solidFill>
                  </a:tcPr>
                </a:tc>
                <a:tc>
                  <a:txBody>
                    <a:bodyPr/>
                    <a:lstStyle/>
                    <a:p>
                      <a:pPr algn="ctr"/>
                      <a:r>
                        <a:rPr lang="en-US" altLang="zh-TW" dirty="0"/>
                        <a:t>1</a:t>
                      </a:r>
                      <a:endParaRPr lang="zh-TW" altLang="en-US" dirty="0"/>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rgbClr val="FFFF00"/>
                    </a:solidFill>
                  </a:tcPr>
                </a:tc>
                <a:tc>
                  <a:txBody>
                    <a:bodyPr/>
                    <a:lstStyle/>
                    <a:p>
                      <a:pPr algn="ctr"/>
                      <a:r>
                        <a:rPr lang="en-US" altLang="zh-TW" dirty="0"/>
                        <a:t>2</a:t>
                      </a:r>
                      <a:endParaRPr lang="zh-TW" altLang="en-US" dirty="0"/>
                    </a:p>
                  </a:txBody>
                  <a:tcPr>
                    <a:lnT w="38100" cap="flat" cmpd="sng" algn="ctr">
                      <a:solidFill>
                        <a:schemeClr val="tx1"/>
                      </a:solidFill>
                      <a:prstDash val="solid"/>
                      <a:round/>
                      <a:headEnd type="none" w="med" len="med"/>
                      <a:tailEnd type="none" w="med" len="med"/>
                    </a:lnT>
                    <a:solidFill>
                      <a:srgbClr val="FFFF00"/>
                    </a:solidFill>
                  </a:tcPr>
                </a:tc>
                <a:tc>
                  <a:txBody>
                    <a:bodyPr/>
                    <a:lstStyle/>
                    <a:p>
                      <a:pPr algn="ctr"/>
                      <a:r>
                        <a:rPr lang="en-US" altLang="zh-TW" dirty="0"/>
                        <a:t>5</a:t>
                      </a:r>
                      <a:endParaRPr lang="zh-TW" altLang="en-US" dirty="0"/>
                    </a:p>
                  </a:txBody>
                  <a:tcPr>
                    <a:lnT w="38100" cap="flat" cmpd="sng" algn="ctr">
                      <a:solidFill>
                        <a:schemeClr val="tx1"/>
                      </a:solidFill>
                      <a:prstDash val="solid"/>
                      <a:round/>
                      <a:headEnd type="none" w="med" len="med"/>
                      <a:tailEnd type="none" w="med" len="med"/>
                    </a:lnT>
                    <a:solidFill>
                      <a:srgbClr val="FFFF00"/>
                    </a:solidFill>
                  </a:tcPr>
                </a:tc>
                <a:tc>
                  <a:txBody>
                    <a:bodyPr/>
                    <a:lstStyle/>
                    <a:p>
                      <a:pPr algn="ctr"/>
                      <a:r>
                        <a:rPr lang="en-US" altLang="zh-TW" dirty="0"/>
                        <a:t>7</a:t>
                      </a:r>
                      <a:endParaRPr lang="zh-TW" altLang="en-US" dirty="0"/>
                    </a:p>
                  </a:txBody>
                  <a:tcPr>
                    <a:lnT w="38100" cap="flat" cmpd="sng" algn="ctr">
                      <a:solidFill>
                        <a:schemeClr val="tx1"/>
                      </a:solidFill>
                      <a:prstDash val="solid"/>
                      <a:round/>
                      <a:headEnd type="none" w="med" len="med"/>
                      <a:tailEnd type="none" w="med" len="med"/>
                    </a:lnT>
                    <a:solidFill>
                      <a:srgbClr val="FFFF00"/>
                    </a:solidFill>
                  </a:tcPr>
                </a:tc>
                <a:extLst>
                  <a:ext uri="{0D108BD9-81ED-4DB2-BD59-A6C34878D82A}">
                    <a16:rowId xmlns:a16="http://schemas.microsoft.com/office/drawing/2014/main" val="10001"/>
                  </a:ext>
                </a:extLst>
              </a:tr>
              <a:tr h="385127">
                <a:tc>
                  <a:txBody>
                    <a:bodyPr/>
                    <a:lstStyle/>
                    <a:p>
                      <a:pPr algn="ctr"/>
                      <a:r>
                        <a:rPr lang="en-US" altLang="zh-TW" dirty="0"/>
                        <a:t>1</a:t>
                      </a: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a:t>2</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r>
                        <a:rPr lang="en-US" altLang="zh-TW" dirty="0"/>
                        <a:t>4</a:t>
                      </a:r>
                      <a:endParaRPr lang="zh-TW" altLang="en-US" dirty="0"/>
                    </a:p>
                  </a:txBody>
                  <a:tcPr/>
                </a:tc>
                <a:tc>
                  <a:txBody>
                    <a:bodyPr/>
                    <a:lstStyle/>
                    <a:p>
                      <a:pPr algn="ctr"/>
                      <a:r>
                        <a:rPr lang="en-US" altLang="zh-TW" dirty="0"/>
                        <a:t>9</a:t>
                      </a: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a:t>3</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a:t>2</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r>
                        <a:rPr lang="en-US" altLang="zh-TW" dirty="0"/>
                        <a:t>5</a:t>
                      </a:r>
                      <a:endParaRPr lang="zh-TW" altLang="en-US" dirty="0"/>
                    </a:p>
                  </a:txBody>
                  <a:tcPr/>
                </a:tc>
                <a:tc>
                  <a:txBody>
                    <a:bodyPr/>
                    <a:lstStyle/>
                    <a:p>
                      <a:pPr algn="ctr"/>
                      <a:r>
                        <a:rPr lang="en-US" altLang="zh-TW" dirty="0"/>
                        <a:t>7</a:t>
                      </a: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10002"/>
                  </a:ext>
                </a:extLst>
              </a:tr>
              <a:tr h="385127">
                <a:tc>
                  <a:txBody>
                    <a:bodyPr/>
                    <a:lstStyle/>
                    <a:p>
                      <a:pPr algn="ctr"/>
                      <a:r>
                        <a:rPr lang="en-US" altLang="zh-TW" dirty="0"/>
                        <a:t>2</a:t>
                      </a: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a:t>3</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r>
                        <a:rPr lang="en-US" altLang="zh-TW" dirty="0"/>
                        <a:t>4</a:t>
                      </a:r>
                      <a:endParaRPr lang="zh-TW" altLang="en-US" dirty="0"/>
                    </a:p>
                  </a:txBody>
                  <a:tcPr/>
                </a:tc>
                <a:tc>
                  <a:txBody>
                    <a:bodyPr/>
                    <a:lstStyle/>
                    <a:p>
                      <a:pPr algn="ctr"/>
                      <a:r>
                        <a:rPr lang="en-US" altLang="zh-TW" dirty="0"/>
                        <a:t>9</a:t>
                      </a:r>
                      <a:endParaRPr lang="zh-TW" altLang="en-US" dirty="0"/>
                    </a:p>
                  </a:txBody>
                  <a:tcPr>
                    <a:lnR w="38100" cap="flat" cmpd="sng" algn="ctr">
                      <a:solidFill>
                        <a:schemeClr val="tx1"/>
                      </a:solidFill>
                      <a:prstDash val="solid"/>
                      <a:round/>
                      <a:headEnd type="none" w="med" len="med"/>
                      <a:tailEnd type="none" w="med" len="med"/>
                    </a:lnR>
                  </a:tcPr>
                </a:tc>
                <a:tc>
                  <a:txBody>
                    <a:bodyPr/>
                    <a:lstStyle/>
                    <a:p>
                      <a:r>
                        <a:rPr lang="en-US" altLang="zh-TW" dirty="0"/>
                        <a:t>3</a:t>
                      </a:r>
                      <a:endParaRPr lang="zh-TW" altLang="en-US" dirty="0"/>
                    </a:p>
                  </a:txBody>
                  <a:tcPr>
                    <a:lnL w="38100" cap="flat" cmpd="sng" algn="ctr">
                      <a:solidFill>
                        <a:schemeClr val="tx1"/>
                      </a:solidFill>
                      <a:prstDash val="solid"/>
                      <a:round/>
                      <a:headEnd type="none" w="med" len="med"/>
                      <a:tailEnd type="none" w="med" len="med"/>
                    </a:lnL>
                  </a:tcPr>
                </a:tc>
                <a:tc>
                  <a:txBody>
                    <a:bodyPr/>
                    <a:lstStyle/>
                    <a:p>
                      <a:r>
                        <a:rPr lang="en-US" altLang="zh-TW" dirty="0"/>
                        <a:t>4</a:t>
                      </a:r>
                      <a:endParaRPr lang="zh-TW" altLang="en-US" dirty="0"/>
                    </a:p>
                  </a:txBody>
                  <a:tcPr/>
                </a:tc>
                <a:tc>
                  <a:txBody>
                    <a:bodyPr/>
                    <a:lstStyle/>
                    <a:p>
                      <a:pPr algn="ctr"/>
                      <a:r>
                        <a:rPr lang="en-US" altLang="zh-TW" dirty="0"/>
                        <a:t>5</a:t>
                      </a: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a:t>3</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r>
                        <a:rPr lang="en-US" altLang="zh-TW" dirty="0"/>
                        <a:t>5</a:t>
                      </a:r>
                      <a:endParaRPr lang="zh-TW" altLang="en-US" dirty="0"/>
                    </a:p>
                  </a:txBody>
                  <a:tcPr/>
                </a:tc>
                <a:tc>
                  <a:txBody>
                    <a:bodyPr/>
                    <a:lstStyle/>
                    <a:p>
                      <a:pPr algn="ctr"/>
                      <a:r>
                        <a:rPr lang="en-US" altLang="zh-TW" dirty="0"/>
                        <a:t>7</a:t>
                      </a: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10003"/>
                  </a:ext>
                </a:extLst>
              </a:tr>
              <a:tr h="385127">
                <a:tc>
                  <a:txBody>
                    <a:bodyPr/>
                    <a:lstStyle/>
                    <a:p>
                      <a:pPr algn="ctr"/>
                      <a:r>
                        <a:rPr lang="en-US" altLang="zh-TW" dirty="0"/>
                        <a:t>3</a:t>
                      </a: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a:t>4</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r>
                        <a:rPr lang="en-US" altLang="zh-TW" dirty="0"/>
                        <a:t>7</a:t>
                      </a:r>
                      <a:endParaRPr lang="zh-TW" altLang="en-US" dirty="0"/>
                    </a:p>
                  </a:txBody>
                  <a:tcPr/>
                </a:tc>
                <a:tc>
                  <a:txBody>
                    <a:bodyPr/>
                    <a:lstStyle/>
                    <a:p>
                      <a:pPr algn="ctr"/>
                      <a:r>
                        <a:rPr lang="en-US" altLang="zh-TW" dirty="0"/>
                        <a:t>9</a:t>
                      </a: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a:t>4</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r>
                        <a:rPr lang="en-US" altLang="zh-TW" dirty="0"/>
                        <a:t>5</a:t>
                      </a:r>
                      <a:endParaRPr lang="zh-TW" altLang="en-US" dirty="0"/>
                    </a:p>
                  </a:txBody>
                  <a:tcPr/>
                </a:tc>
                <a:tc>
                  <a:txBody>
                    <a:bodyPr/>
                    <a:lstStyle/>
                    <a:p>
                      <a:pPr algn="ct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a:t>5</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r>
                        <a:rPr lang="en-US" altLang="zh-TW" dirty="0"/>
                        <a:t>7</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10004"/>
                  </a:ext>
                </a:extLst>
              </a:tr>
              <a:tr h="385127">
                <a:tc>
                  <a:txBody>
                    <a:bodyPr/>
                    <a:lstStyle/>
                    <a:p>
                      <a:pPr algn="ctr"/>
                      <a:r>
                        <a:rPr lang="en-US" altLang="zh-TW" dirty="0"/>
                        <a:t>4</a:t>
                      </a: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a:t>6</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r>
                        <a:rPr lang="en-US" altLang="zh-TW" dirty="0"/>
                        <a:t>7</a:t>
                      </a:r>
                      <a:endParaRPr lang="zh-TW" altLang="en-US" dirty="0"/>
                    </a:p>
                  </a:txBody>
                  <a:tcPr/>
                </a:tc>
                <a:tc>
                  <a:txBody>
                    <a:bodyPr/>
                    <a:lstStyle/>
                    <a:p>
                      <a:pPr algn="ctr"/>
                      <a:r>
                        <a:rPr lang="en-US" altLang="zh-TW" dirty="0"/>
                        <a:t>9</a:t>
                      </a: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a:t>5</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r>
                        <a:rPr lang="en-US" altLang="zh-TW" dirty="0"/>
                        <a:t>8</a:t>
                      </a:r>
                      <a:endParaRPr lang="zh-TW" altLang="en-US" dirty="0"/>
                    </a:p>
                  </a:txBody>
                  <a:tcPr/>
                </a:tc>
                <a:tc>
                  <a:txBody>
                    <a:bodyPr/>
                    <a:lstStyle/>
                    <a:p>
                      <a:pPr algn="ct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a:t>5</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r>
                        <a:rPr lang="en-US" altLang="zh-TW" dirty="0"/>
                        <a:t>7</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10005"/>
                  </a:ext>
                </a:extLst>
              </a:tr>
              <a:tr h="385127">
                <a:tc>
                  <a:txBody>
                    <a:bodyPr/>
                    <a:lstStyle/>
                    <a:p>
                      <a:pPr algn="ctr"/>
                      <a:r>
                        <a:rPr lang="en-US" altLang="zh-TW" dirty="0"/>
                        <a:t>5</a:t>
                      </a: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a:t>6</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r>
                        <a:rPr lang="en-US" altLang="zh-TW" dirty="0"/>
                        <a:t>7</a:t>
                      </a:r>
                      <a:endParaRPr lang="zh-TW" altLang="en-US" dirty="0"/>
                    </a:p>
                  </a:txBody>
                  <a:tcPr/>
                </a:tc>
                <a:tc>
                  <a:txBody>
                    <a:bodyPr/>
                    <a:lstStyle/>
                    <a:p>
                      <a:pPr algn="ctr"/>
                      <a:r>
                        <a:rPr lang="en-US" altLang="zh-TW" dirty="0"/>
                        <a:t>9</a:t>
                      </a: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a:t>6</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r>
                        <a:rPr lang="en-US" altLang="zh-TW" dirty="0"/>
                        <a:t>8</a:t>
                      </a:r>
                      <a:endParaRPr lang="zh-TW" altLang="en-US" dirty="0"/>
                    </a:p>
                  </a:txBody>
                  <a:tcPr/>
                </a:tc>
                <a:tc>
                  <a:txBody>
                    <a:bodyPr/>
                    <a:lstStyle/>
                    <a:p>
                      <a:pPr algn="ct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a:t>6</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r>
                        <a:rPr lang="en-US" altLang="zh-TW" dirty="0"/>
                        <a:t>7</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10006"/>
                  </a:ext>
                </a:extLst>
              </a:tr>
              <a:tr h="385127">
                <a:tc>
                  <a:txBody>
                    <a:bodyPr/>
                    <a:lstStyle/>
                    <a:p>
                      <a:pPr algn="ctr"/>
                      <a:r>
                        <a:rPr lang="en-US" altLang="zh-TW" dirty="0"/>
                        <a:t>6</a:t>
                      </a: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a:t>7</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r>
                        <a:rPr lang="en-US" altLang="zh-TW" dirty="0"/>
                        <a:t>9</a:t>
                      </a:r>
                      <a:endParaRPr lang="zh-TW" altLang="en-US" dirty="0"/>
                    </a:p>
                  </a:txBody>
                  <a:tcPr/>
                </a:tc>
                <a:tc>
                  <a:txBody>
                    <a:bodyPr/>
                    <a:lstStyle/>
                    <a:p>
                      <a:pPr algn="ct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a:t>8</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a:t>7</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10007"/>
                  </a:ext>
                </a:extLst>
              </a:tr>
              <a:tr h="385127">
                <a:tc>
                  <a:txBody>
                    <a:bodyPr/>
                    <a:lstStyle/>
                    <a:p>
                      <a:pPr algn="ctr"/>
                      <a:r>
                        <a:rPr lang="en-US" altLang="zh-TW" dirty="0"/>
                        <a:t>7</a:t>
                      </a: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a:t>9</a:t>
                      </a:r>
                      <a:r>
                        <a:rPr lang="zh-TW" altLang="en-US" dirty="0"/>
                        <a:t> </a:t>
                      </a:r>
                    </a:p>
                  </a:txBody>
                  <a:tcPr>
                    <a:lnL w="38100" cap="flat" cmpd="sng" algn="ctr">
                      <a:solidFill>
                        <a:schemeClr val="tx1"/>
                      </a:solidFill>
                      <a:prstDash val="solid"/>
                      <a:round/>
                      <a:headEnd type="none" w="med" len="med"/>
                      <a:tailEnd type="none" w="med" len="med"/>
                    </a:lnL>
                  </a:tcPr>
                </a:tc>
                <a:tc>
                  <a:txBody>
                    <a:bodyPr/>
                    <a:lstStyle/>
                    <a:p>
                      <a:pPr algn="ctr"/>
                      <a:endParaRPr lang="zh-TW" altLang="en-US" dirty="0"/>
                    </a:p>
                  </a:txBody>
                  <a:tcPr/>
                </a:tc>
                <a:tc>
                  <a:txBody>
                    <a:bodyPr/>
                    <a:lstStyle/>
                    <a:p>
                      <a:pPr algn="ct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a:t>8</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endParaRPr lang="zh-TW" altLang="en-US" dirty="0"/>
                    </a:p>
                  </a:txBody>
                  <a:tcPr/>
                </a:tc>
                <a:tc>
                  <a:txBody>
                    <a:bodyPr/>
                    <a:lstStyle/>
                    <a:p>
                      <a:pPr algn="ct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a:t>8</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10008"/>
                  </a:ext>
                </a:extLst>
              </a:tr>
              <a:tr h="385127">
                <a:tc>
                  <a:txBody>
                    <a:bodyPr/>
                    <a:lstStyle/>
                    <a:p>
                      <a:pPr algn="ctr"/>
                      <a:r>
                        <a:rPr lang="en-US" altLang="zh-TW" dirty="0"/>
                        <a:t>8</a:t>
                      </a: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a:t>9</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endParaRPr lang="zh-TW" altLang="en-US" dirty="0"/>
                    </a:p>
                  </a:txBody>
                  <a:tcPr/>
                </a:tc>
                <a:tc>
                  <a:txBody>
                    <a:bodyPr/>
                    <a:lstStyle/>
                    <a:p>
                      <a:pPr algn="ct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a:t>9</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endParaRPr lang="zh-TW" altLang="en-US" dirty="0"/>
                    </a:p>
                  </a:txBody>
                  <a:tcPr/>
                </a:tc>
                <a:tc>
                  <a:txBody>
                    <a:bodyPr/>
                    <a:lstStyle/>
                    <a:p>
                      <a:pPr algn="ct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2219906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4000" dirty="0">
                <a:latin typeface="Times New Roman" panose="02020603050405020304" pitchFamily="18" charset="0"/>
                <a:cs typeface="Times New Roman" panose="02020603050405020304" pitchFamily="18" charset="0"/>
              </a:rPr>
              <a:t>Method 3</a:t>
            </a:r>
            <a:endParaRPr lang="zh-TW" altLang="en-US" dirty="0">
              <a:latin typeface="Times New Roman" panose="02020603050405020304" pitchFamily="18" charset="0"/>
              <a:cs typeface="Times New Roman" panose="02020603050405020304" pitchFamily="18" charset="0"/>
            </a:endParaRPr>
          </a:p>
        </p:txBody>
      </p:sp>
      <p:pic>
        <p:nvPicPr>
          <p:cNvPr id="4" name="圖片 3"/>
          <p:cNvPicPr>
            <a:picLocks noChangeAspect="1"/>
          </p:cNvPicPr>
          <p:nvPr/>
        </p:nvPicPr>
        <p:blipFill>
          <a:blip r:embed="rId3"/>
          <a:stretch>
            <a:fillRect/>
          </a:stretch>
        </p:blipFill>
        <p:spPr>
          <a:xfrm>
            <a:off x="1467174" y="2747964"/>
            <a:ext cx="6209652" cy="3929061"/>
          </a:xfrm>
          <a:prstGeom prst="rect">
            <a:avLst/>
          </a:prstGeom>
        </p:spPr>
      </p:pic>
      <p:sp>
        <p:nvSpPr>
          <p:cNvPr id="5" name="文字方塊 4"/>
          <p:cNvSpPr txBox="1"/>
          <p:nvPr/>
        </p:nvSpPr>
        <p:spPr>
          <a:xfrm>
            <a:off x="2033912" y="3001932"/>
            <a:ext cx="1478290" cy="400110"/>
          </a:xfrm>
          <a:prstGeom prst="rect">
            <a:avLst/>
          </a:prstGeom>
          <a:noFill/>
        </p:spPr>
        <p:txBody>
          <a:bodyPr wrap="none" rtlCol="0">
            <a:spAutoFit/>
          </a:bodyPr>
          <a:lstStyle/>
          <a:p>
            <a:r>
              <a:rPr lang="en-US" altLang="zh-TW" sz="2000" b="1" dirty="0">
                <a:solidFill>
                  <a:srgbClr val="FF0000"/>
                </a:solidFill>
              </a:rPr>
              <a:t>(0, 1, 2, 3, 4)</a:t>
            </a:r>
            <a:endParaRPr lang="zh-TW" altLang="en-US" sz="2000" b="1" dirty="0">
              <a:solidFill>
                <a:srgbClr val="FF0000"/>
              </a:solidFill>
            </a:endParaRPr>
          </a:p>
        </p:txBody>
      </p:sp>
      <p:sp>
        <p:nvSpPr>
          <p:cNvPr id="7" name="文字方塊 6"/>
          <p:cNvSpPr txBox="1"/>
          <p:nvPr/>
        </p:nvSpPr>
        <p:spPr>
          <a:xfrm>
            <a:off x="3093710" y="5973732"/>
            <a:ext cx="1600118" cy="400110"/>
          </a:xfrm>
          <a:prstGeom prst="rect">
            <a:avLst/>
          </a:prstGeom>
          <a:noFill/>
        </p:spPr>
        <p:txBody>
          <a:bodyPr wrap="none" rtlCol="0">
            <a:spAutoFit/>
          </a:bodyPr>
          <a:lstStyle/>
          <a:p>
            <a:r>
              <a:rPr lang="en-US" altLang="zh-TW" sz="2000" b="1" dirty="0">
                <a:solidFill>
                  <a:srgbClr val="FF0000"/>
                </a:solidFill>
              </a:rPr>
              <a:t>(0 1 2 3 4 5 6)</a:t>
            </a:r>
            <a:endParaRPr lang="zh-TW" altLang="en-US" sz="2000" b="1" dirty="0">
              <a:solidFill>
                <a:srgbClr val="FF0000"/>
              </a:solidFill>
            </a:endParaRPr>
          </a:p>
        </p:txBody>
      </p:sp>
      <mc:AlternateContent xmlns:mc="http://schemas.openxmlformats.org/markup-compatibility/2006" xmlns:a14="http://schemas.microsoft.com/office/drawing/2010/main">
        <mc:Choice Requires="a14">
          <p:sp>
            <p:nvSpPr>
              <p:cNvPr id="8" name="內容版面配置區 7"/>
              <p:cNvSpPr>
                <a:spLocks noGrp="1"/>
              </p:cNvSpPr>
              <p:nvPr>
                <p:ph idx="1"/>
              </p:nvPr>
            </p:nvSpPr>
            <p:spPr>
              <a:xfrm>
                <a:off x="628650" y="1690689"/>
                <a:ext cx="7886700" cy="4351338"/>
              </a:xfrm>
            </p:spPr>
            <p:txBody>
              <a:bodyPr/>
              <a:lstStyle/>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𝑇</m:t>
                      </m:r>
                      <m:r>
                        <a:rPr lang="en-US" altLang="zh-TW" b="0" i="1" smtClean="0">
                          <a:latin typeface="Cambria Math" panose="02040503050406030204" pitchFamily="18" charset="0"/>
                        </a:rPr>
                        <m:t>=</m:t>
                      </m:r>
                      <m:r>
                        <a:rPr lang="en-US" altLang="zh-TW" b="0" i="1" smtClean="0">
                          <a:latin typeface="Cambria Math" panose="02040503050406030204" pitchFamily="18" charset="0"/>
                        </a:rPr>
                        <m:t>𝑎𝑔𝑎𝑐𝑡𝑎𝑔𝑡𝑐</m:t>
                      </m:r>
                    </m:oMath>
                  </m:oMathPara>
                </a14:m>
                <a:endParaRPr lang="en-US" altLang="zh-TW"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𝑆</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𝑎𝑔𝑐</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𝑎𝑐𝑡</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𝑎𝑎𝑡𝑔</m:t>
                      </m:r>
                      <m:r>
                        <a:rPr lang="en-US" altLang="zh-TW" b="0" i="1" smtClean="0">
                          <a:latin typeface="Cambria Math" panose="02040503050406030204" pitchFamily="18" charset="0"/>
                        </a:rPr>
                        <m:t>}</m:t>
                      </m:r>
                    </m:oMath>
                  </m:oMathPara>
                </a14:m>
                <a:endParaRPr lang="zh-TW" altLang="en-US" dirty="0"/>
              </a:p>
            </p:txBody>
          </p:sp>
        </mc:Choice>
        <mc:Fallback xmlns="">
          <p:sp>
            <p:nvSpPr>
              <p:cNvPr id="8" name="內容版面配置區 7"/>
              <p:cNvSpPr>
                <a:spLocks noGrp="1" noRot="1" noChangeAspect="1" noMove="1" noResize="1" noEditPoints="1" noAdjustHandles="1" noChangeArrowheads="1" noChangeShapeType="1" noTextEdit="1"/>
              </p:cNvSpPr>
              <p:nvPr>
                <p:ph idx="1"/>
              </p:nvPr>
            </p:nvSpPr>
            <p:spPr>
              <a:xfrm>
                <a:off x="628650" y="1690689"/>
                <a:ext cx="7886700" cy="4351338"/>
              </a:xfrm>
              <a:blipFill rotWithShape="0">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687240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4000" dirty="0">
                <a:latin typeface="Times New Roman" panose="02020603050405020304" pitchFamily="18" charset="0"/>
                <a:cs typeface="Times New Roman" panose="02020603050405020304" pitchFamily="18" charset="0"/>
              </a:rPr>
              <a:t>Method 3</a:t>
            </a:r>
            <a:endParaRPr lang="zh-TW" altLang="en-US" dirty="0">
              <a:latin typeface="Times New Roman" panose="02020603050405020304" pitchFamily="18" charset="0"/>
              <a:cs typeface="Times New Roman" panose="02020603050405020304" pitchFamily="18" charset="0"/>
            </a:endParaRPr>
          </a:p>
        </p:txBody>
      </p:sp>
      <p:pic>
        <p:nvPicPr>
          <p:cNvPr id="6" name="圖片 5"/>
          <p:cNvPicPr>
            <a:picLocks noChangeAspect="1"/>
          </p:cNvPicPr>
          <p:nvPr/>
        </p:nvPicPr>
        <p:blipFill>
          <a:blip r:embed="rId2"/>
          <a:stretch>
            <a:fillRect/>
          </a:stretch>
        </p:blipFill>
        <p:spPr>
          <a:xfrm>
            <a:off x="2095498" y="2028825"/>
            <a:ext cx="6505576" cy="2897014"/>
          </a:xfrm>
          <a:prstGeom prst="rect">
            <a:avLst/>
          </a:prstGeom>
        </p:spPr>
      </p:pic>
      <mc:AlternateContent xmlns:mc="http://schemas.openxmlformats.org/markup-compatibility/2006" xmlns:a14="http://schemas.microsoft.com/office/drawing/2010/main">
        <mc:Choice Requires="a14">
          <p:sp>
            <p:nvSpPr>
              <p:cNvPr id="9" name="文字方塊 8"/>
              <p:cNvSpPr txBox="1"/>
              <p:nvPr/>
            </p:nvSpPr>
            <p:spPr>
              <a:xfrm>
                <a:off x="106092" y="3349452"/>
                <a:ext cx="1755096"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𝑂</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𝑛𝑚</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𝑆</m:t>
                      </m:r>
                      <m:r>
                        <a:rPr lang="en-US" altLang="zh-TW" sz="2800" b="0" i="1" smtClean="0">
                          <a:latin typeface="Cambria Math" panose="02040503050406030204" pitchFamily="18" charset="0"/>
                        </a:rPr>
                        <m:t>|)</m:t>
                      </m:r>
                    </m:oMath>
                  </m:oMathPara>
                </a14:m>
                <a:endParaRPr lang="zh-TW" altLang="en-US" sz="2800" dirty="0"/>
              </a:p>
            </p:txBody>
          </p:sp>
        </mc:Choice>
        <mc:Fallback xmlns="">
          <p:sp>
            <p:nvSpPr>
              <p:cNvPr id="9" name="文字方塊 8"/>
              <p:cNvSpPr txBox="1">
                <a:spLocks noRot="1" noChangeAspect="1" noMove="1" noResize="1" noEditPoints="1" noAdjustHandles="1" noChangeArrowheads="1" noChangeShapeType="1" noTextEdit="1"/>
              </p:cNvSpPr>
              <p:nvPr/>
            </p:nvSpPr>
            <p:spPr>
              <a:xfrm>
                <a:off x="106092" y="3349452"/>
                <a:ext cx="1755096" cy="523220"/>
              </a:xfrm>
              <a:prstGeom prst="rect">
                <a:avLst/>
              </a:prstGeom>
              <a:blipFill rotWithShape="0">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p:cNvSpPr txBox="1"/>
              <p:nvPr/>
            </p:nvSpPr>
            <p:spPr>
              <a:xfrm>
                <a:off x="137232" y="3940002"/>
                <a:ext cx="1656864"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𝑂</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𝑛𝑘</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𝑆</m:t>
                      </m:r>
                      <m:r>
                        <a:rPr lang="en-US" altLang="zh-TW" sz="2800" b="0" i="1" smtClean="0">
                          <a:latin typeface="Cambria Math" panose="02040503050406030204" pitchFamily="18" charset="0"/>
                        </a:rPr>
                        <m:t>|)</m:t>
                      </m:r>
                    </m:oMath>
                  </m:oMathPara>
                </a14:m>
                <a:endParaRPr lang="zh-TW" altLang="en-US" sz="2800" dirty="0"/>
              </a:p>
            </p:txBody>
          </p:sp>
        </mc:Choice>
        <mc:Fallback xmlns="">
          <p:sp>
            <p:nvSpPr>
              <p:cNvPr id="10" name="文字方塊 9"/>
              <p:cNvSpPr txBox="1">
                <a:spLocks noRot="1" noChangeAspect="1" noMove="1" noResize="1" noEditPoints="1" noAdjustHandles="1" noChangeArrowheads="1" noChangeShapeType="1" noTextEdit="1"/>
              </p:cNvSpPr>
              <p:nvPr/>
            </p:nvSpPr>
            <p:spPr>
              <a:xfrm>
                <a:off x="137232" y="3940002"/>
                <a:ext cx="1656864" cy="523220"/>
              </a:xfrm>
              <a:prstGeom prst="rect">
                <a:avLst/>
              </a:prstGeom>
              <a:blipFill rotWithShape="0">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p:cNvSpPr txBox="1"/>
              <p:nvPr/>
            </p:nvSpPr>
            <p:spPr>
              <a:xfrm>
                <a:off x="1382280" y="5531435"/>
                <a:ext cx="554421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𝑇𝑖𝑚𝑒</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𝑐𝑜𝑚𝑝𝑙𝑒𝑥𝑖𝑡𝑦</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𝑂</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𝑛</m:t>
                      </m:r>
                      <m:r>
                        <a:rPr lang="en-US" altLang="zh-TW" sz="2800" b="0" i="1" smtClean="0">
                          <a:latin typeface="Cambria Math" panose="02040503050406030204" pitchFamily="18" charset="0"/>
                        </a:rPr>
                        <m:t>(</m:t>
                      </m:r>
                      <m:r>
                        <a:rPr lang="en-US" altLang="zh-TW" sz="2800" i="1">
                          <a:latin typeface="Cambria Math" panose="02040503050406030204" pitchFamily="18" charset="0"/>
                        </a:rPr>
                        <m:t>𝑚</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𝑘</m:t>
                      </m:r>
                      <m:r>
                        <a:rPr lang="en-US" altLang="zh-TW" sz="2800" b="0" i="1" smtClean="0">
                          <a:latin typeface="Cambria Math" panose="02040503050406030204" pitchFamily="18" charset="0"/>
                        </a:rPr>
                        <m:t>)</m:t>
                      </m:r>
                      <m:d>
                        <m:dPr>
                          <m:begChr m:val="|"/>
                          <m:endChr m:val="|"/>
                          <m:ctrlPr>
                            <a:rPr lang="en-US" altLang="zh-TW" sz="2800" i="1">
                              <a:latin typeface="Cambria Math" panose="02040503050406030204" pitchFamily="18" charset="0"/>
                            </a:rPr>
                          </m:ctrlPr>
                        </m:dPr>
                        <m:e>
                          <m:r>
                            <a:rPr lang="en-US" altLang="zh-TW" sz="2800" i="1">
                              <a:latin typeface="Cambria Math" panose="02040503050406030204" pitchFamily="18" charset="0"/>
                            </a:rPr>
                            <m:t>𝑆</m:t>
                          </m:r>
                        </m:e>
                      </m:d>
                      <m:r>
                        <a:rPr lang="en-US" altLang="zh-TW" sz="2800" b="0" i="1" smtClean="0">
                          <a:latin typeface="Cambria Math" panose="02040503050406030204" pitchFamily="18" charset="0"/>
                        </a:rPr>
                        <m:t>)</m:t>
                      </m:r>
                    </m:oMath>
                  </m:oMathPara>
                </a14:m>
                <a:endParaRPr lang="zh-TW" altLang="en-US" sz="2800" dirty="0"/>
              </a:p>
            </p:txBody>
          </p:sp>
        </mc:Choice>
        <mc:Fallback xmlns="">
          <p:sp>
            <p:nvSpPr>
              <p:cNvPr id="12" name="文字方塊 11"/>
              <p:cNvSpPr txBox="1">
                <a:spLocks noRot="1" noChangeAspect="1" noMove="1" noResize="1" noEditPoints="1" noAdjustHandles="1" noChangeArrowheads="1" noChangeShapeType="1" noTextEdit="1"/>
              </p:cNvSpPr>
              <p:nvPr/>
            </p:nvSpPr>
            <p:spPr>
              <a:xfrm>
                <a:off x="1382280" y="5531435"/>
                <a:ext cx="5544210" cy="523220"/>
              </a:xfrm>
              <a:prstGeom prst="rect">
                <a:avLst/>
              </a:prstGeom>
              <a:blipFill rotWithShape="0">
                <a:blip r:embed="rId5"/>
                <a:stretch>
                  <a:fillRect/>
                </a:stretch>
              </a:blipFill>
            </p:spPr>
            <p:txBody>
              <a:bodyPr/>
              <a:lstStyle/>
              <a:p>
                <a:r>
                  <a:rPr lang="zh-TW" altLang="en-US">
                    <a:noFill/>
                  </a:rPr>
                  <a:t> </a:t>
                </a:r>
              </a:p>
            </p:txBody>
          </p:sp>
        </mc:Fallback>
      </mc:AlternateContent>
      <p:cxnSp>
        <p:nvCxnSpPr>
          <p:cNvPr id="14" name="直線單箭頭接點 13"/>
          <p:cNvCxnSpPr/>
          <p:nvPr/>
        </p:nvCxnSpPr>
        <p:spPr>
          <a:xfrm>
            <a:off x="1794096" y="3600450"/>
            <a:ext cx="295275" cy="1333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p:cNvCxnSpPr>
            <a:stCxn id="10" idx="3"/>
          </p:cNvCxnSpPr>
          <p:nvPr/>
        </p:nvCxnSpPr>
        <p:spPr>
          <a:xfrm flipV="1">
            <a:off x="1794096" y="4049344"/>
            <a:ext cx="331885" cy="15226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8191147"/>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4077</TotalTime>
  <Words>777</Words>
  <Application>Microsoft Office PowerPoint</Application>
  <PresentationFormat>如螢幕大小 (4:3)</PresentationFormat>
  <Paragraphs>187</Paragraphs>
  <Slides>14</Slides>
  <Notes>6</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14</vt:i4>
      </vt:variant>
    </vt:vector>
  </HeadingPairs>
  <TitlesOfParts>
    <vt:vector size="22" baseType="lpstr">
      <vt:lpstr>inherit</vt:lpstr>
      <vt:lpstr>Arial</vt:lpstr>
      <vt:lpstr>Broadway</vt:lpstr>
      <vt:lpstr>Calibri</vt:lpstr>
      <vt:lpstr>Cambria Math</vt:lpstr>
      <vt:lpstr>Open Sans</vt:lpstr>
      <vt:lpstr>Times New Roman</vt:lpstr>
      <vt:lpstr>Office 佈景主題</vt:lpstr>
      <vt:lpstr>Dynamic Programming Algorithms for The Mosaic Longest Common Subsequence Problem </vt:lpstr>
      <vt:lpstr>Abstract(1/2)</vt:lpstr>
      <vt:lpstr>Abstract(2/2)</vt:lpstr>
      <vt:lpstr>LCS Problem</vt:lpstr>
      <vt:lpstr>Mosaic Longest Common Subsequence (MLCS) Problem</vt:lpstr>
      <vt:lpstr>Mosaic Longest Common Subsequence (MLCS) Problem</vt:lpstr>
      <vt:lpstr>Method 1 : Brute Force</vt:lpstr>
      <vt:lpstr>Method 2 : Divide-and-Conquer</vt:lpstr>
      <vt:lpstr>Method 2 : Divide-and-Conquer</vt:lpstr>
      <vt:lpstr>Method 2 : Divide-and-Conquer</vt:lpstr>
      <vt:lpstr>Method 3 : S-table</vt:lpstr>
      <vt:lpstr>Method 3</vt:lpstr>
      <vt:lpstr>Method 3</vt:lpstr>
      <vt:lpstr>Method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dc:creator>李健廷</dc:creator>
  <cp:lastModifiedBy>健廷 李</cp:lastModifiedBy>
  <cp:revision>285</cp:revision>
  <dcterms:created xsi:type="dcterms:W3CDTF">2022-02-04T17:32:31Z</dcterms:created>
  <dcterms:modified xsi:type="dcterms:W3CDTF">2022-11-15T12:03:54Z</dcterms:modified>
</cp:coreProperties>
</file>