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6" r:id="rId4"/>
    <p:sldId id="270" r:id="rId5"/>
    <p:sldId id="260" r:id="rId6"/>
    <p:sldId id="267" r:id="rId7"/>
    <p:sldId id="268" r:id="rId8"/>
    <p:sldId id="278" r:id="rId9"/>
    <p:sldId id="276" r:id="rId10"/>
    <p:sldId id="272" r:id="rId11"/>
    <p:sldId id="277" r:id="rId12"/>
    <p:sldId id="279" r:id="rId13"/>
    <p:sldId id="275" r:id="rId14"/>
    <p:sldId id="28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77"/>
    <p:restoredTop sz="95788"/>
  </p:normalViewPr>
  <p:slideViewPr>
    <p:cSldViewPr snapToGrid="0" snapToObjects="1">
      <p:cViewPr varScale="1">
        <p:scale>
          <a:sx n="127" d="100"/>
          <a:sy n="127" d="100"/>
        </p:scale>
        <p:origin x="216"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17B75-B1D5-CD46-87C9-1FF2CA32E14F}" type="datetimeFigureOut">
              <a:rPr lang="en-US" smtClean="0"/>
              <a:t>11/19/22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55FE7A-5BAE-5D47-A7A4-2D91E3343CFE}" type="slidenum">
              <a:rPr lang="en-US" smtClean="0"/>
              <a:t>‹#›</a:t>
            </a:fld>
            <a:endParaRPr lang="en-US"/>
          </a:p>
        </p:txBody>
      </p:sp>
    </p:spTree>
    <p:extLst>
      <p:ext uri="{BB962C8B-B14F-4D97-AF65-F5344CB8AC3E}">
        <p14:creationId xmlns:p14="http://schemas.microsoft.com/office/powerpoint/2010/main" val="236114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9377A-D5E9-224B-AD82-D15977FF75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44F2E2-963D-594E-987C-747AED6517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B3D96F-FFC3-C647-A4B8-DE0705E8B5F5}"/>
              </a:ext>
            </a:extLst>
          </p:cNvPr>
          <p:cNvSpPr>
            <a:spLocks noGrp="1"/>
          </p:cNvSpPr>
          <p:nvPr>
            <p:ph type="dt" sz="half" idx="10"/>
          </p:nvPr>
        </p:nvSpPr>
        <p:spPr/>
        <p:txBody>
          <a:bodyPr/>
          <a:lstStyle/>
          <a:p>
            <a:fld id="{3182CD58-B911-8246-89C0-09211B20C2FB}" type="datetime1">
              <a:rPr lang="en-US" smtClean="0"/>
              <a:t>11/19/22</a:t>
            </a:fld>
            <a:endParaRPr lang="en-US"/>
          </a:p>
        </p:txBody>
      </p:sp>
      <p:sp>
        <p:nvSpPr>
          <p:cNvPr id="5" name="Footer Placeholder 4">
            <a:extLst>
              <a:ext uri="{FF2B5EF4-FFF2-40B4-BE49-F238E27FC236}">
                <a16:creationId xmlns:a16="http://schemas.microsoft.com/office/drawing/2014/main" id="{38B208EC-168B-AB4A-A72A-2413F97E97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BC734-95AE-D746-B2D3-AEA163D70449}"/>
              </a:ext>
            </a:extLst>
          </p:cNvPr>
          <p:cNvSpPr>
            <a:spLocks noGrp="1"/>
          </p:cNvSpPr>
          <p:nvPr>
            <p:ph type="sldNum" sz="quarter" idx="12"/>
          </p:nvPr>
        </p:nvSpPr>
        <p:spPr>
          <a:xfrm>
            <a:off x="9006840" y="6092190"/>
            <a:ext cx="2743200" cy="365125"/>
          </a:xfrm>
          <a:prstGeom prst="rect">
            <a:avLst/>
          </a:prstGeom>
        </p:spPr>
        <p:txBody>
          <a:bodyPr/>
          <a:lstStyle>
            <a:lvl1pPr>
              <a:defRPr sz="2000">
                <a:solidFill>
                  <a:schemeClr val="tx1"/>
                </a:solidFill>
                <a:latin typeface="Times New Roman" panose="02020603050405020304" pitchFamily="18" charset="0"/>
                <a:cs typeface="Times New Roman" panose="02020603050405020304" pitchFamily="18" charset="0"/>
              </a:defRPr>
            </a:lvl1pPr>
          </a:lstStyle>
          <a:p>
            <a:fld id="{F9DDDC59-FC01-2D42-94CE-E0F67132EEBA}" type="slidenum">
              <a:rPr lang="en-US" smtClean="0"/>
              <a:pPr/>
              <a:t>‹#›</a:t>
            </a:fld>
            <a:endParaRPr lang="en-US" dirty="0"/>
          </a:p>
        </p:txBody>
      </p:sp>
    </p:spTree>
    <p:extLst>
      <p:ext uri="{BB962C8B-B14F-4D97-AF65-F5344CB8AC3E}">
        <p14:creationId xmlns:p14="http://schemas.microsoft.com/office/powerpoint/2010/main" val="1827138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3414-EAF7-444B-B975-9D9AE6B49F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515823-A680-D841-9214-E12D1573891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876712-87AE-0346-A898-0363813A70CC}"/>
              </a:ext>
            </a:extLst>
          </p:cNvPr>
          <p:cNvSpPr>
            <a:spLocks noGrp="1"/>
          </p:cNvSpPr>
          <p:nvPr>
            <p:ph type="dt" sz="half" idx="10"/>
          </p:nvPr>
        </p:nvSpPr>
        <p:spPr/>
        <p:txBody>
          <a:bodyPr/>
          <a:lstStyle/>
          <a:p>
            <a:fld id="{6B7CF193-5912-7D42-81D3-344393EB92E7}" type="datetime1">
              <a:rPr lang="en-US" smtClean="0"/>
              <a:t>11/19/22</a:t>
            </a:fld>
            <a:endParaRPr lang="en-US"/>
          </a:p>
        </p:txBody>
      </p:sp>
      <p:sp>
        <p:nvSpPr>
          <p:cNvPr id="5" name="Footer Placeholder 4">
            <a:extLst>
              <a:ext uri="{FF2B5EF4-FFF2-40B4-BE49-F238E27FC236}">
                <a16:creationId xmlns:a16="http://schemas.microsoft.com/office/drawing/2014/main" id="{C897111D-A435-094E-BAB7-66421AC8E9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F45CA-8018-B44D-B633-9A629748DEEE}"/>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259730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BA3C9-B32F-B84D-9E06-34D8CB2A84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50F54E-713A-D04B-A275-A985E58B83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5F0FE3C-AF46-2F45-AA85-D945A65A03D9}"/>
              </a:ext>
            </a:extLst>
          </p:cNvPr>
          <p:cNvSpPr>
            <a:spLocks noGrp="1"/>
          </p:cNvSpPr>
          <p:nvPr>
            <p:ph type="dt" sz="half" idx="10"/>
          </p:nvPr>
        </p:nvSpPr>
        <p:spPr/>
        <p:txBody>
          <a:bodyPr/>
          <a:lstStyle/>
          <a:p>
            <a:fld id="{34D7B3D9-2BBE-B846-B2E7-7FCAC2BEB4AE}" type="datetime1">
              <a:rPr lang="en-US" smtClean="0"/>
              <a:t>11/19/22</a:t>
            </a:fld>
            <a:endParaRPr lang="en-US"/>
          </a:p>
        </p:txBody>
      </p:sp>
      <p:sp>
        <p:nvSpPr>
          <p:cNvPr id="5" name="Footer Placeholder 4">
            <a:extLst>
              <a:ext uri="{FF2B5EF4-FFF2-40B4-BE49-F238E27FC236}">
                <a16:creationId xmlns:a16="http://schemas.microsoft.com/office/drawing/2014/main" id="{B4E02F9F-85AC-3F48-88A1-C03AD92EE7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F37FC7-9BF7-1546-B19D-F10A758E2906}"/>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328782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86D78-C2D3-3F4E-9041-53338652AB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494E72-2DA9-E741-B024-5505951D294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C8E92C-B602-CD45-8491-47504B53785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483D3C-E4A0-A94A-A747-1BE6922D8D52}"/>
              </a:ext>
            </a:extLst>
          </p:cNvPr>
          <p:cNvSpPr>
            <a:spLocks noGrp="1"/>
          </p:cNvSpPr>
          <p:nvPr>
            <p:ph type="dt" sz="half" idx="10"/>
          </p:nvPr>
        </p:nvSpPr>
        <p:spPr/>
        <p:txBody>
          <a:bodyPr/>
          <a:lstStyle/>
          <a:p>
            <a:fld id="{4B251184-3531-1C4B-983A-C9FF9D37A9FD}" type="datetime1">
              <a:rPr lang="en-US" smtClean="0"/>
              <a:t>11/19/22</a:t>
            </a:fld>
            <a:endParaRPr lang="en-US"/>
          </a:p>
        </p:txBody>
      </p:sp>
      <p:sp>
        <p:nvSpPr>
          <p:cNvPr id="6" name="Footer Placeholder 5">
            <a:extLst>
              <a:ext uri="{FF2B5EF4-FFF2-40B4-BE49-F238E27FC236}">
                <a16:creationId xmlns:a16="http://schemas.microsoft.com/office/drawing/2014/main" id="{CEEA50FF-F880-A14C-8E1A-ED2633700C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B34E29-2ABD-0A4A-B908-BFE5BB6308FE}"/>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2031254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53041-32DB-9B49-84D5-BC86B05F68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F56F2A-D924-1844-9852-46A64E30C8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05BFBF-B8E4-D344-9414-40AB20C63AA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12B3BD-F98B-924D-B461-1439ED481A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6872248-C777-7F42-8427-97AA476B434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3D2B5D-595C-5D4F-BA87-88A210F67DF5}"/>
              </a:ext>
            </a:extLst>
          </p:cNvPr>
          <p:cNvSpPr>
            <a:spLocks noGrp="1"/>
          </p:cNvSpPr>
          <p:nvPr>
            <p:ph type="dt" sz="half" idx="10"/>
          </p:nvPr>
        </p:nvSpPr>
        <p:spPr/>
        <p:txBody>
          <a:bodyPr/>
          <a:lstStyle/>
          <a:p>
            <a:fld id="{D0773E50-1244-B24B-92E2-778C26D652CF}" type="datetime1">
              <a:rPr lang="en-US" smtClean="0"/>
              <a:t>11/19/22</a:t>
            </a:fld>
            <a:endParaRPr lang="en-US"/>
          </a:p>
        </p:txBody>
      </p:sp>
      <p:sp>
        <p:nvSpPr>
          <p:cNvPr id="8" name="Footer Placeholder 7">
            <a:extLst>
              <a:ext uri="{FF2B5EF4-FFF2-40B4-BE49-F238E27FC236}">
                <a16:creationId xmlns:a16="http://schemas.microsoft.com/office/drawing/2014/main" id="{DE102985-B2B8-694C-95E4-9A549B928F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74D5EA-9820-C342-8854-F159B548F156}"/>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3079164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F1507-AA5D-B346-AED1-1FE513B22A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BFBB03-B856-7243-8B47-A10ECD55A76B}"/>
              </a:ext>
            </a:extLst>
          </p:cNvPr>
          <p:cNvSpPr>
            <a:spLocks noGrp="1"/>
          </p:cNvSpPr>
          <p:nvPr>
            <p:ph type="dt" sz="half" idx="10"/>
          </p:nvPr>
        </p:nvSpPr>
        <p:spPr/>
        <p:txBody>
          <a:bodyPr/>
          <a:lstStyle/>
          <a:p>
            <a:fld id="{F87888FA-E176-A74E-AEF4-ED368A5D7743}" type="datetime1">
              <a:rPr lang="en-US" smtClean="0"/>
              <a:t>11/19/22</a:t>
            </a:fld>
            <a:endParaRPr lang="en-US"/>
          </a:p>
        </p:txBody>
      </p:sp>
      <p:sp>
        <p:nvSpPr>
          <p:cNvPr id="4" name="Footer Placeholder 3">
            <a:extLst>
              <a:ext uri="{FF2B5EF4-FFF2-40B4-BE49-F238E27FC236}">
                <a16:creationId xmlns:a16="http://schemas.microsoft.com/office/drawing/2014/main" id="{080769CC-8B59-9B4A-AEAC-E42A4918D2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E92023-E677-7D45-8196-486A2900ABB6}"/>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72052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2518F7-5F80-C640-95AE-601CC1F50811}"/>
              </a:ext>
            </a:extLst>
          </p:cNvPr>
          <p:cNvSpPr>
            <a:spLocks noGrp="1"/>
          </p:cNvSpPr>
          <p:nvPr>
            <p:ph type="dt" sz="half" idx="10"/>
          </p:nvPr>
        </p:nvSpPr>
        <p:spPr/>
        <p:txBody>
          <a:bodyPr/>
          <a:lstStyle/>
          <a:p>
            <a:fld id="{002C846C-7824-C34C-A7EB-93535BEA8099}" type="datetime1">
              <a:rPr lang="en-US" smtClean="0"/>
              <a:t>11/19/22</a:t>
            </a:fld>
            <a:endParaRPr lang="en-US"/>
          </a:p>
        </p:txBody>
      </p:sp>
      <p:sp>
        <p:nvSpPr>
          <p:cNvPr id="3" name="Footer Placeholder 2">
            <a:extLst>
              <a:ext uri="{FF2B5EF4-FFF2-40B4-BE49-F238E27FC236}">
                <a16:creationId xmlns:a16="http://schemas.microsoft.com/office/drawing/2014/main" id="{6C4B2DB2-3D04-A542-9DD4-966A4433AA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0EB29A-034B-A54C-A004-132A585CB25E}"/>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2483252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A1167-FF94-154B-9450-B4B22CC238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753F87-2FF0-7F45-B037-B78043F4F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21170A-28C5-0244-8B72-9161888A10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CE1CAD2-4A73-0A41-B4AC-65DE6848FD0C}"/>
              </a:ext>
            </a:extLst>
          </p:cNvPr>
          <p:cNvSpPr>
            <a:spLocks noGrp="1"/>
          </p:cNvSpPr>
          <p:nvPr>
            <p:ph type="dt" sz="half" idx="10"/>
          </p:nvPr>
        </p:nvSpPr>
        <p:spPr/>
        <p:txBody>
          <a:bodyPr/>
          <a:lstStyle/>
          <a:p>
            <a:fld id="{80DABF2C-2120-A149-8EB2-F682244ABB89}" type="datetime1">
              <a:rPr lang="en-US" smtClean="0"/>
              <a:t>11/19/22</a:t>
            </a:fld>
            <a:endParaRPr lang="en-US"/>
          </a:p>
        </p:txBody>
      </p:sp>
      <p:sp>
        <p:nvSpPr>
          <p:cNvPr id="6" name="Footer Placeholder 5">
            <a:extLst>
              <a:ext uri="{FF2B5EF4-FFF2-40B4-BE49-F238E27FC236}">
                <a16:creationId xmlns:a16="http://schemas.microsoft.com/office/drawing/2014/main" id="{BD405371-115C-1B47-97F8-905C36E59B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B87D2D-F65E-FA43-8CC0-A17CD208FEE4}"/>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3190712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C15BC-C5B5-684C-B7A2-9C77306A6D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6400F8-CB11-344B-8C54-F52A295F36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2EDB6B-6856-2847-A3CB-6F8815CCC4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5ACF4C1-A19F-DF45-B0CE-9A26E35BB3B8}"/>
              </a:ext>
            </a:extLst>
          </p:cNvPr>
          <p:cNvSpPr>
            <a:spLocks noGrp="1"/>
          </p:cNvSpPr>
          <p:nvPr>
            <p:ph type="dt" sz="half" idx="10"/>
          </p:nvPr>
        </p:nvSpPr>
        <p:spPr/>
        <p:txBody>
          <a:bodyPr/>
          <a:lstStyle/>
          <a:p>
            <a:fld id="{233FFE68-77E6-8C47-BC53-18BF6A12E67E}" type="datetime1">
              <a:rPr lang="en-US" smtClean="0"/>
              <a:t>11/19/22</a:t>
            </a:fld>
            <a:endParaRPr lang="en-US"/>
          </a:p>
        </p:txBody>
      </p:sp>
      <p:sp>
        <p:nvSpPr>
          <p:cNvPr id="6" name="Footer Placeholder 5">
            <a:extLst>
              <a:ext uri="{FF2B5EF4-FFF2-40B4-BE49-F238E27FC236}">
                <a16:creationId xmlns:a16="http://schemas.microsoft.com/office/drawing/2014/main" id="{3D8E0627-78C6-D64D-A159-8F103BAD68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763263-AC07-E54B-9F4A-95287729C6CA}"/>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2126488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B65BF-447A-C14A-BA91-A9D53D2D27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EBF5CC-8643-5442-85BF-B88738223B3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9EEDB-A28F-5649-9CC3-1B65F0799FA5}"/>
              </a:ext>
            </a:extLst>
          </p:cNvPr>
          <p:cNvSpPr>
            <a:spLocks noGrp="1"/>
          </p:cNvSpPr>
          <p:nvPr>
            <p:ph type="dt" sz="half" idx="10"/>
          </p:nvPr>
        </p:nvSpPr>
        <p:spPr/>
        <p:txBody>
          <a:bodyPr/>
          <a:lstStyle/>
          <a:p>
            <a:fld id="{32315E8A-E561-EB4D-A10D-EB84CD82E42D}" type="datetime1">
              <a:rPr lang="en-US" smtClean="0"/>
              <a:t>11/19/22</a:t>
            </a:fld>
            <a:endParaRPr lang="en-US"/>
          </a:p>
        </p:txBody>
      </p:sp>
      <p:sp>
        <p:nvSpPr>
          <p:cNvPr id="5" name="Footer Placeholder 4">
            <a:extLst>
              <a:ext uri="{FF2B5EF4-FFF2-40B4-BE49-F238E27FC236}">
                <a16:creationId xmlns:a16="http://schemas.microsoft.com/office/drawing/2014/main" id="{AB6FF055-E690-9649-A215-7EF67B4D5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F7D414-F059-D740-8A2B-2F9E694328BA}"/>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1176685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67B5C3-FB06-F346-A140-3B2935948C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7D71D-26F8-7141-ADFC-04F5FD842FB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C94D17-3BA1-8849-ACC3-EBBB3A3ACB7A}"/>
              </a:ext>
            </a:extLst>
          </p:cNvPr>
          <p:cNvSpPr>
            <a:spLocks noGrp="1"/>
          </p:cNvSpPr>
          <p:nvPr>
            <p:ph type="dt" sz="half" idx="10"/>
          </p:nvPr>
        </p:nvSpPr>
        <p:spPr/>
        <p:txBody>
          <a:bodyPr/>
          <a:lstStyle/>
          <a:p>
            <a:fld id="{2ABD1D1C-9F67-DD41-87C5-56CF9BCB0414}" type="datetime1">
              <a:rPr lang="en-US" smtClean="0"/>
              <a:t>11/19/22</a:t>
            </a:fld>
            <a:endParaRPr lang="en-US"/>
          </a:p>
        </p:txBody>
      </p:sp>
      <p:sp>
        <p:nvSpPr>
          <p:cNvPr id="5" name="Footer Placeholder 4">
            <a:extLst>
              <a:ext uri="{FF2B5EF4-FFF2-40B4-BE49-F238E27FC236}">
                <a16:creationId xmlns:a16="http://schemas.microsoft.com/office/drawing/2014/main" id="{50F345CA-0D29-7248-8EBC-B2209B1F7A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AE8A43-B160-2C48-9864-8DEC2CD39002}"/>
              </a:ext>
            </a:extLst>
          </p:cNvPr>
          <p:cNvSpPr>
            <a:spLocks noGrp="1"/>
          </p:cNvSpPr>
          <p:nvPr>
            <p:ph type="sldNum" sz="quarter" idx="12"/>
          </p:nvPr>
        </p:nvSpPr>
        <p:spPr>
          <a:xfrm>
            <a:off x="8610600" y="6356350"/>
            <a:ext cx="2743200" cy="365125"/>
          </a:xfrm>
          <a:prstGeom prst="rect">
            <a:avLst/>
          </a:prstGeom>
        </p:spPr>
        <p:txBody>
          <a:bodyPr/>
          <a:lstStyle/>
          <a:p>
            <a:fld id="{F9DDDC59-FC01-2D42-94CE-E0F67132EEBA}" type="slidenum">
              <a:rPr lang="en-US" smtClean="0"/>
              <a:t>‹#›</a:t>
            </a:fld>
            <a:endParaRPr lang="en-US"/>
          </a:p>
        </p:txBody>
      </p:sp>
    </p:spTree>
    <p:extLst>
      <p:ext uri="{BB962C8B-B14F-4D97-AF65-F5344CB8AC3E}">
        <p14:creationId xmlns:p14="http://schemas.microsoft.com/office/powerpoint/2010/main" val="1605843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5B99F1-BDD8-5F46-9BCE-3DD4806C98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B8F5F9-A4FD-F047-B0E0-7C11AAEB55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A767E4-E3AC-A841-A47D-DFB924D80E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197AF-F139-8541-85E8-71D871453702}" type="datetime1">
              <a:rPr lang="en-US" smtClean="0"/>
              <a:t>11/19/22</a:t>
            </a:fld>
            <a:endParaRPr lang="en-US"/>
          </a:p>
        </p:txBody>
      </p:sp>
      <p:sp>
        <p:nvSpPr>
          <p:cNvPr id="5" name="Footer Placeholder 4">
            <a:extLst>
              <a:ext uri="{FF2B5EF4-FFF2-40B4-BE49-F238E27FC236}">
                <a16:creationId xmlns:a16="http://schemas.microsoft.com/office/drawing/2014/main" id="{F62D132B-52D0-D145-94CF-102DEB9C4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7" name="Slide Number Placeholder 5">
            <a:extLst>
              <a:ext uri="{FF2B5EF4-FFF2-40B4-BE49-F238E27FC236}">
                <a16:creationId xmlns:a16="http://schemas.microsoft.com/office/drawing/2014/main" id="{C6DFF2CF-3E1F-EC4B-86C2-EC6F95A5C9D1}"/>
              </a:ext>
            </a:extLst>
          </p:cNvPr>
          <p:cNvSpPr txBox="1">
            <a:spLocks/>
          </p:cNvSpPr>
          <p:nvPr userDrawn="1"/>
        </p:nvSpPr>
        <p:spPr>
          <a:xfrm>
            <a:off x="9006840" y="6092190"/>
            <a:ext cx="2743200" cy="365125"/>
          </a:xfrm>
          <a:prstGeom prst="rect">
            <a:avLst/>
          </a:prstGeom>
        </p:spPr>
        <p:txBody>
          <a:bodyPr/>
          <a:lstStyle>
            <a:defPPr>
              <a:defRPr lang="en-US"/>
            </a:defPPr>
            <a:lvl1pPr marL="0" algn="l" defTabSz="914400" rtl="0" eaLnBrk="1" latinLnBrk="0" hangingPunct="1">
              <a:defRPr sz="20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9DDDC59-FC01-2D42-94CE-E0F67132EEBA}" type="slidenum">
              <a:rPr lang="en-US" smtClean="0"/>
              <a:pPr algn="r"/>
              <a:t>‹#›</a:t>
            </a:fld>
            <a:endParaRPr lang="en-US" dirty="0"/>
          </a:p>
        </p:txBody>
      </p:sp>
    </p:spTree>
    <p:extLst>
      <p:ext uri="{BB962C8B-B14F-4D97-AF65-F5344CB8AC3E}">
        <p14:creationId xmlns:p14="http://schemas.microsoft.com/office/powerpoint/2010/main" val="3873945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42B4C-8D59-5B4A-8E2F-8D3DC4E402CC}"/>
              </a:ext>
            </a:extLst>
          </p:cNvPr>
          <p:cNvSpPr>
            <a:spLocks noGrp="1"/>
          </p:cNvSpPr>
          <p:nvPr>
            <p:ph type="ctrTitle"/>
          </p:nvPr>
        </p:nvSpPr>
        <p:spPr>
          <a:xfrm>
            <a:off x="1523999" y="1519700"/>
            <a:ext cx="9144000" cy="2387600"/>
          </a:xfrm>
        </p:spPr>
        <p:txBody>
          <a:bodyPr>
            <a:normAutofit fontScale="90000"/>
          </a:bodyPr>
          <a:lstStyle/>
          <a:p>
            <a:r>
              <a:rPr lang="en-US" dirty="0">
                <a:latin typeface="Times New Roman" panose="02020603050405020304" pitchFamily="18" charset="0"/>
                <a:cs typeface="Times New Roman" panose="02020603050405020304" pitchFamily="18" charset="0"/>
              </a:rPr>
              <a:t>Automatic Bridge Bidding Using Deep Reinforcement Learning</a:t>
            </a:r>
          </a:p>
        </p:txBody>
      </p:sp>
      <p:sp>
        <p:nvSpPr>
          <p:cNvPr id="3" name="Subtitle 2">
            <a:extLst>
              <a:ext uri="{FF2B5EF4-FFF2-40B4-BE49-F238E27FC236}">
                <a16:creationId xmlns:a16="http://schemas.microsoft.com/office/drawing/2014/main" id="{5714D6E9-8AA0-AC4E-AABA-A9DDED2B5BCA}"/>
              </a:ext>
            </a:extLst>
          </p:cNvPr>
          <p:cNvSpPr>
            <a:spLocks noGrp="1"/>
          </p:cNvSpPr>
          <p:nvPr>
            <p:ph type="subTitle" idx="1"/>
          </p:nvPr>
        </p:nvSpPr>
        <p:spPr>
          <a:xfrm>
            <a:off x="204354" y="3907300"/>
            <a:ext cx="11783291" cy="1655762"/>
          </a:xfrm>
        </p:spPr>
        <p:txBody>
          <a:bodyPr/>
          <a:lstStyle/>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Chih-Kuan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Yeh</a:t>
            </a:r>
            <a:r>
              <a:rPr lang="en-US" dirty="0">
                <a:latin typeface="Times New Roman" panose="02020603050405020304" pitchFamily="18" charset="0"/>
                <a:cs typeface="Times New Roman" panose="02020603050405020304" pitchFamily="18" charset="0"/>
              </a:rPr>
              <a:t>, Cheng-Yu Hsieh, and </a:t>
            </a:r>
            <a:r>
              <a:rPr lang="en-US" dirty="0" err="1">
                <a:latin typeface="Times New Roman" panose="02020603050405020304" pitchFamily="18" charset="0"/>
                <a:cs typeface="Times New Roman" panose="02020603050405020304" pitchFamily="18" charset="0"/>
              </a:rPr>
              <a:t>Hsuan</a:t>
            </a:r>
            <a:r>
              <a:rPr lang="en-US" dirty="0">
                <a:latin typeface="Times New Roman" panose="02020603050405020304" pitchFamily="18" charset="0"/>
                <a:cs typeface="Times New Roman" panose="02020603050405020304" pitchFamily="18" charset="0"/>
              </a:rPr>
              <a:t>-Tien Lin</a:t>
            </a:r>
          </a:p>
          <a:p>
            <a:r>
              <a:rPr lang="en-US" dirty="0">
                <a:latin typeface="Times New Roman" panose="02020603050405020304" pitchFamily="18" charset="0"/>
                <a:cs typeface="Times New Roman" panose="02020603050405020304" pitchFamily="18" charset="0"/>
              </a:rPr>
              <a:t>IEEE Transactions on Games, vol. 10, no. 4, Dec. 2018</a:t>
            </a:r>
          </a:p>
        </p:txBody>
      </p:sp>
      <p:sp>
        <p:nvSpPr>
          <p:cNvPr id="4" name="TextBox 3">
            <a:extLst>
              <a:ext uri="{FF2B5EF4-FFF2-40B4-BE49-F238E27FC236}">
                <a16:creationId xmlns:a16="http://schemas.microsoft.com/office/drawing/2014/main" id="{445217F6-5BC6-7041-B7BC-7974A5B74989}"/>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Nov. 22, 2022</a:t>
            </a:r>
          </a:p>
        </p:txBody>
      </p:sp>
    </p:spTree>
    <p:extLst>
      <p:ext uri="{BB962C8B-B14F-4D97-AF65-F5344CB8AC3E}">
        <p14:creationId xmlns:p14="http://schemas.microsoft.com/office/powerpoint/2010/main" val="3281282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200" y="1825624"/>
            <a:ext cx="10515600" cy="4668693"/>
          </a:xfrm>
        </p:spPr>
        <p:txBody>
          <a:bodyPr>
            <a:normAutofit/>
          </a:bodyPr>
          <a:lstStyle/>
          <a:p>
            <a:pPr marL="0" indent="0">
              <a:lnSpc>
                <a:spcPct val="100000"/>
              </a:lnSpc>
              <a:buNone/>
            </a:pPr>
            <a:r>
              <a:rPr lang="en-US" dirty="0">
                <a:latin typeface="Times New Roman" panose="02020603050405020304" pitchFamily="18" charset="0"/>
                <a:cs typeface="Times New Roman" panose="02020603050405020304" pitchFamily="18" charset="0"/>
              </a:rPr>
              <a:t>Bridge is among the zero-sum games for which artificial intelligence has not yet outperformed expert human players. The main difficulty lies in the bidding phase of bridge, which requires cooperative decision making with partial information. Existing artificial intelligence systems for bridge bidding rely on, and are thus restricted by, human-designed bidding systems or features. In this work, we propose a flexible and pioneering bridge-bidding system, which can learn either with or without the aid of human domain knowledge. The system is based on a novel deep reinforcement learning model, which extracts sophisticated features and learns to bid automatically based on raw card data.</a:t>
            </a:r>
          </a:p>
        </p:txBody>
      </p:sp>
    </p:spTree>
    <p:extLst>
      <p:ext uri="{BB962C8B-B14F-4D97-AF65-F5344CB8AC3E}">
        <p14:creationId xmlns:p14="http://schemas.microsoft.com/office/powerpoint/2010/main" val="2344336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r>
              <a:rPr lang="zh-Hant" altLang="en-US" dirty="0">
                <a:latin typeface="Times New Roman" panose="02020603050405020304" pitchFamily="18" charset="0"/>
                <a:cs typeface="Times New Roman" panose="02020603050405020304" pitchFamily="18" charset="0"/>
              </a:rPr>
              <a:t> </a:t>
            </a:r>
            <a:r>
              <a:rPr lang="en-US" altLang="zh-Hant" dirty="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200" y="1825624"/>
            <a:ext cx="10515600" cy="4668693"/>
          </a:xfrm>
        </p:spPr>
        <p:txBody>
          <a:bodyPr>
            <a:normAutofit/>
          </a:bodyPr>
          <a:lstStyle/>
          <a:p>
            <a:pPr marL="0" indent="0">
              <a:lnSpc>
                <a:spcPct val="100000"/>
              </a:lnSpc>
              <a:buNone/>
            </a:pPr>
            <a:r>
              <a:rPr lang="en-US" dirty="0">
                <a:latin typeface="Times New Roman" panose="02020603050405020304" pitchFamily="18" charset="0"/>
                <a:cs typeface="Times New Roman" panose="02020603050405020304" pitchFamily="18" charset="0"/>
              </a:rPr>
              <a:t>The model includes an upper-confidence-bound algorithm and additional techniques to achieve a balance between exploration and exploitation. We further study how different pieces of human knowledge can be exploited to assist the model. Our experiments demonstrate the promising performance of our proposed model. In particular, the model can advance from having no knowledge on bidding to achieving a superior performance compared with a champion-winning computer bridge program that implements a human-designed bidding system. In addition, further synergies can be extracted by incorporating expert knowledge into the proposed model.</a:t>
            </a:r>
          </a:p>
        </p:txBody>
      </p:sp>
    </p:spTree>
    <p:extLst>
      <p:ext uri="{BB962C8B-B14F-4D97-AF65-F5344CB8AC3E}">
        <p14:creationId xmlns:p14="http://schemas.microsoft.com/office/powerpoint/2010/main" val="392872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Setup</a:t>
            </a: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5"/>
            <a:ext cx="10955483" cy="4814166"/>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A bidding system without competitive bidding</a:t>
            </a:r>
          </a:p>
          <a:p>
            <a:pPr>
              <a:lnSpc>
                <a:spcPct val="100000"/>
              </a:lnSpc>
            </a:pPr>
            <a:r>
              <a:rPr lang="en-US" dirty="0">
                <a:latin typeface="Times New Roman" panose="02020603050405020304" pitchFamily="18" charset="0"/>
                <a:cs typeface="Times New Roman" panose="02020603050405020304" pitchFamily="18" charset="0"/>
              </a:rPr>
              <a:t>Information at some state:</a:t>
            </a:r>
          </a:p>
          <a:p>
            <a:pPr lvl="1">
              <a:lnSpc>
                <a:spcPct val="100000"/>
              </a:lnSpc>
            </a:pPr>
            <a:r>
              <a:rPr lang="en-US" dirty="0">
                <a:latin typeface="Times New Roman" panose="02020603050405020304" pitchFamily="18" charset="0"/>
                <a:cs typeface="Times New Roman" panose="02020603050405020304" pitchFamily="18" charset="0"/>
              </a:rPr>
              <a:t>player’s own hand (North or South)</a:t>
            </a:r>
          </a:p>
          <a:p>
            <a:pPr lvl="1">
              <a:lnSpc>
                <a:spcPct val="100000"/>
              </a:lnSpc>
            </a:pPr>
            <a:r>
              <a:rPr lang="en-US" dirty="0">
                <a:latin typeface="Times New Roman" panose="02020603050405020304" pitchFamily="18" charset="0"/>
                <a:cs typeface="Times New Roman" panose="02020603050405020304" pitchFamily="18" charset="0"/>
              </a:rPr>
              <a:t>history bidding sequence</a:t>
            </a:r>
          </a:p>
          <a:p>
            <a:pPr>
              <a:lnSpc>
                <a:spcPct val="100000"/>
              </a:lnSpc>
            </a:pPr>
            <a:r>
              <a:rPr lang="en-US" dirty="0">
                <a:latin typeface="Times New Roman" panose="02020603050405020304" pitchFamily="18" charset="0"/>
                <a:cs typeface="Times New Roman" panose="02020603050405020304" pitchFamily="18" charset="0"/>
              </a:rPr>
              <a:t>Double Dummy Analysis</a:t>
            </a:r>
          </a:p>
          <a:p>
            <a:pPr lvl="1">
              <a:lnSpc>
                <a:spcPct val="100000"/>
              </a:lnSpc>
            </a:pPr>
            <a:r>
              <a:rPr lang="en-US" dirty="0">
                <a:latin typeface="Times New Roman" panose="02020603050405020304" pitchFamily="18" charset="0"/>
                <a:cs typeface="Times New Roman" panose="02020603050405020304" pitchFamily="18" charset="0"/>
              </a:rPr>
              <a:t>Compute each contract’s highest score.</a:t>
            </a:r>
          </a:p>
          <a:p>
            <a:pPr lvl="1">
              <a:lnSpc>
                <a:spcPct val="100000"/>
              </a:lnSpc>
            </a:pPr>
            <a:r>
              <a:rPr lang="en-US" dirty="0">
                <a:latin typeface="Times New Roman" panose="02020603050405020304" pitchFamily="18" charset="0"/>
                <a:cs typeface="Times New Roman" panose="02020603050405020304" pitchFamily="18" charset="0"/>
              </a:rPr>
              <a:t>Calculate the average score by 5 different East-West hands.</a:t>
            </a:r>
          </a:p>
          <a:p>
            <a:pPr lvl="1">
              <a:lnSpc>
                <a:spcPct val="100000"/>
              </a:lnSpc>
            </a:pPr>
            <a:r>
              <a:rPr lang="en-US" dirty="0">
                <a:latin typeface="Times New Roman" panose="02020603050405020304" pitchFamily="18" charset="0"/>
                <a:cs typeface="Times New Roman" panose="02020603050405020304" pitchFamily="18" charset="0"/>
              </a:rPr>
              <a:t>cost = highest score over all contracts – average score</a:t>
            </a:r>
          </a:p>
          <a:p>
            <a:pPr>
              <a:lnSpc>
                <a:spcPct val="1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07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Methods</a:t>
            </a: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5"/>
            <a:ext cx="10955483" cy="4814166"/>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Bandit algorithm (Exploration &amp; Exploitation)</a:t>
            </a:r>
          </a:p>
          <a:p>
            <a:pPr lvl="1">
              <a:lnSpc>
                <a:spcPct val="100000"/>
              </a:lnSpc>
            </a:pPr>
            <a:r>
              <a:rPr lang="el-GR" dirty="0">
                <a:latin typeface="Times New Roman" panose="02020603050405020304" pitchFamily="18" charset="0"/>
                <a:cs typeface="Times New Roman" panose="02020603050405020304" pitchFamily="18" charset="0"/>
              </a:rPr>
              <a:t>ε</a:t>
            </a:r>
            <a:r>
              <a:rPr lang="en-US" dirty="0">
                <a:latin typeface="Times New Roman" panose="02020603050405020304" pitchFamily="18" charset="0"/>
                <a:cs typeface="Times New Roman" panose="02020603050405020304" pitchFamily="18" charset="0"/>
              </a:rPr>
              <a:t>-Greedy</a:t>
            </a:r>
          </a:p>
          <a:p>
            <a:pPr lvl="1">
              <a:lnSpc>
                <a:spcPct val="100000"/>
              </a:lnSpc>
            </a:pPr>
            <a:r>
              <a:rPr lang="en-US" dirty="0">
                <a:latin typeface="Times New Roman" panose="02020603050405020304" pitchFamily="18" charset="0"/>
                <a:cs typeface="Times New Roman" panose="02020603050405020304" pitchFamily="18" charset="0"/>
              </a:rPr>
              <a:t>UCB (upper-confidence-bound)</a:t>
            </a:r>
          </a:p>
          <a:p>
            <a:pPr>
              <a:lnSpc>
                <a:spcPct val="100000"/>
              </a:lnSpc>
            </a:pPr>
            <a:r>
              <a:rPr lang="en-US" dirty="0">
                <a:latin typeface="Times New Roman" panose="02020603050405020304" pitchFamily="18" charset="0"/>
                <a:cs typeface="Times New Roman" panose="02020603050405020304" pitchFamily="18" charset="0"/>
              </a:rPr>
              <a:t>Reinforcement learning</a:t>
            </a:r>
          </a:p>
          <a:p>
            <a:pPr lvl="1">
              <a:lnSpc>
                <a:spcPct val="100000"/>
              </a:lnSpc>
            </a:pPr>
            <a:r>
              <a:rPr lang="en-US" dirty="0">
                <a:latin typeface="Times New Roman" panose="02020603050405020304" pitchFamily="18" charset="0"/>
                <a:cs typeface="Times New Roman" panose="02020603050405020304" pitchFamily="18" charset="0"/>
              </a:rPr>
              <a:t>Q-learning</a:t>
            </a:r>
          </a:p>
          <a:p>
            <a:pPr lvl="1">
              <a:lnSpc>
                <a:spcPct val="100000"/>
              </a:lnSpc>
            </a:pPr>
            <a:r>
              <a:rPr lang="en-US" dirty="0">
                <a:latin typeface="Times New Roman" panose="02020603050405020304" pitchFamily="18" charset="0"/>
                <a:cs typeface="Times New Roman" panose="02020603050405020304" pitchFamily="18" charset="0"/>
              </a:rPr>
              <a:t>Bellman equation</a:t>
            </a:r>
          </a:p>
          <a:p>
            <a:pPr lvl="1">
              <a:lnSpc>
                <a:spcPct val="100000"/>
              </a:lnSpc>
            </a:pPr>
            <a:r>
              <a:rPr lang="en-US" dirty="0">
                <a:latin typeface="Times New Roman" panose="02020603050405020304" pitchFamily="18" charset="0"/>
                <a:cs typeface="Times New Roman" panose="02020603050405020304" pitchFamily="18" charset="0"/>
              </a:rPr>
              <a:t>Penetrative Bellman equation</a:t>
            </a:r>
          </a:p>
          <a:p>
            <a:pPr>
              <a:lnSpc>
                <a:spcPct val="1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985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Bandit Algorithm</a:t>
            </a: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4"/>
            <a:ext cx="10204939" cy="5032375"/>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Trade-off between Exploration and Exploitation</a:t>
            </a:r>
          </a:p>
          <a:p>
            <a:pPr lvl="1">
              <a:lnSpc>
                <a:spcPct val="100000"/>
              </a:lnSpc>
            </a:pPr>
            <a:r>
              <a:rPr lang="en-US" sz="2000" dirty="0">
                <a:latin typeface="Times New Roman" panose="02020603050405020304" pitchFamily="18" charset="0"/>
                <a:cs typeface="Times New Roman" panose="02020603050405020304" pitchFamily="18" charset="0"/>
              </a:rPr>
              <a:t>Multiple slot machines, no information which one has highest profit.</a:t>
            </a:r>
          </a:p>
          <a:p>
            <a:pPr lvl="1">
              <a:lnSpc>
                <a:spcPct val="100000"/>
              </a:lnSpc>
            </a:pPr>
            <a:r>
              <a:rPr lang="en-US" sz="2000" dirty="0">
                <a:latin typeface="Times New Roman" panose="02020603050405020304" pitchFamily="18" charset="0"/>
                <a:cs typeface="Times New Roman" panose="02020603050405020304" pitchFamily="18" charset="0"/>
              </a:rPr>
              <a:t>Exploration: try other slot machines to find a better one.</a:t>
            </a:r>
          </a:p>
          <a:p>
            <a:pPr lvl="1">
              <a:lnSpc>
                <a:spcPct val="100000"/>
              </a:lnSpc>
            </a:pPr>
            <a:r>
              <a:rPr lang="en-US" sz="2000" dirty="0">
                <a:latin typeface="Times New Roman" panose="02020603050405020304" pitchFamily="18" charset="0"/>
                <a:cs typeface="Times New Roman" panose="02020603050405020304" pitchFamily="18" charset="0"/>
              </a:rPr>
              <a:t>Exploitation: play slot machine whose profit is highest based on experience.</a:t>
            </a:r>
          </a:p>
          <a:p>
            <a:pPr>
              <a:lnSpc>
                <a:spcPct val="100000"/>
              </a:lnSpc>
            </a:pPr>
            <a:r>
              <a:rPr lang="el-GR" dirty="0">
                <a:latin typeface="Times New Roman" panose="02020603050405020304" pitchFamily="18" charset="0"/>
                <a:cs typeface="Times New Roman" panose="02020603050405020304" pitchFamily="18" charset="0"/>
              </a:rPr>
              <a:t>ε-</a:t>
            </a:r>
            <a:r>
              <a:rPr lang="en-US" dirty="0">
                <a:latin typeface="Times New Roman" panose="02020603050405020304" pitchFamily="18" charset="0"/>
                <a:cs typeface="Times New Roman" panose="02020603050405020304" pitchFamily="18" charset="0"/>
              </a:rPr>
              <a:t>Greedy</a:t>
            </a:r>
          </a:p>
          <a:p>
            <a:pPr lvl="1">
              <a:lnSpc>
                <a:spcPct val="100000"/>
              </a:lnSpc>
            </a:pPr>
            <a:r>
              <a:rPr lang="en-US" sz="2000" dirty="0">
                <a:latin typeface="Times New Roman" panose="02020603050405020304" pitchFamily="18" charset="0"/>
                <a:cs typeface="Times New Roman" panose="02020603050405020304" pitchFamily="18" charset="0"/>
              </a:rPr>
              <a:t>Do Exploration with probability </a:t>
            </a:r>
            <a:r>
              <a:rPr lang="el-GR" sz="2000" dirty="0">
                <a:latin typeface="Times New Roman" panose="02020603050405020304" pitchFamily="18" charset="0"/>
                <a:cs typeface="Times New Roman" panose="02020603050405020304" pitchFamily="18" charset="0"/>
              </a:rPr>
              <a:t>ε</a:t>
            </a:r>
            <a:r>
              <a:rPr lang="en-US" sz="2000" dirty="0">
                <a:latin typeface="Times New Roman" panose="02020603050405020304" pitchFamily="18" charset="0"/>
                <a:cs typeface="Times New Roman" panose="02020603050405020304" pitchFamily="18" charset="0"/>
              </a:rPr>
              <a:t>; do Exploitation with probability (1 -</a:t>
            </a:r>
            <a:r>
              <a:rPr lang="el-GR" sz="2000" dirty="0">
                <a:latin typeface="Times New Roman" panose="02020603050405020304" pitchFamily="18" charset="0"/>
                <a:cs typeface="Times New Roman" panose="02020603050405020304" pitchFamily="18" charset="0"/>
              </a:rPr>
              <a:t> ε</a:t>
            </a:r>
            <a:r>
              <a:rPr lang="en-US" sz="2000" dirty="0">
                <a:latin typeface="Times New Roman" panose="02020603050405020304" pitchFamily="18" charset="0"/>
                <a:cs typeface="Times New Roman" panose="02020603050405020304" pitchFamily="18" charset="0"/>
              </a:rPr>
              <a:t>).</a:t>
            </a:r>
          </a:p>
          <a:p>
            <a:pPr lvl="1">
              <a:lnSpc>
                <a:spcPct val="100000"/>
              </a:lnSpc>
            </a:pPr>
            <a:r>
              <a:rPr lang="en-US" sz="2000" dirty="0">
                <a:latin typeface="Times New Roman" panose="02020603050405020304" pitchFamily="18" charset="0"/>
                <a:cs typeface="Times New Roman" panose="02020603050405020304" pitchFamily="18" charset="0"/>
              </a:rPr>
              <a:t>Choose any actions with equal probability during Exploration.</a:t>
            </a:r>
          </a:p>
          <a:p>
            <a:pPr>
              <a:lnSpc>
                <a:spcPct val="100000"/>
              </a:lnSpc>
            </a:pPr>
            <a:r>
              <a:rPr lang="en-US" dirty="0">
                <a:latin typeface="Times New Roman" panose="02020603050405020304" pitchFamily="18" charset="0"/>
                <a:cs typeface="Times New Roman" panose="02020603050405020304" pitchFamily="18" charset="0"/>
              </a:rPr>
              <a:t>UCB (upper confidence bound)</a:t>
            </a:r>
          </a:p>
          <a:p>
            <a:pPr lvl="1">
              <a:lnSpc>
                <a:spcPct val="100000"/>
              </a:lnSpc>
            </a:pPr>
            <a:r>
              <a:rPr lang="en-US" sz="2000" dirty="0">
                <a:latin typeface="Times New Roman" panose="02020603050405020304" pitchFamily="18" charset="0"/>
                <a:cs typeface="Times New Roman" panose="02020603050405020304" pitchFamily="18" charset="0"/>
              </a:rPr>
              <a:t>Find all choices’ confidence intervals based on their reward’s distribution.</a:t>
            </a:r>
          </a:p>
          <a:p>
            <a:pPr lvl="1">
              <a:lnSpc>
                <a:spcPct val="100000"/>
              </a:lnSpc>
            </a:pPr>
            <a:r>
              <a:rPr lang="en-US" sz="2000" dirty="0">
                <a:latin typeface="Times New Roman" panose="02020603050405020304" pitchFamily="18" charset="0"/>
                <a:cs typeface="Times New Roman" panose="02020603050405020304" pitchFamily="18" charset="0"/>
              </a:rPr>
              <a:t>Use upper confidence bound to determine which choice should select during Exploration (select the one with highest potential reward).</a:t>
            </a:r>
          </a:p>
          <a:p>
            <a:pPr lvl="1">
              <a:lnSpc>
                <a:spcPct val="100000"/>
              </a:lnSpc>
            </a:pPr>
            <a:r>
              <a:rPr lang="en-US" sz="2000" dirty="0">
                <a:latin typeface="Times New Roman" panose="02020603050405020304" pitchFamily="18" charset="0"/>
                <a:cs typeface="Times New Roman" panose="02020603050405020304" pitchFamily="18" charset="0"/>
              </a:rPr>
              <a:t>mean(Exploitation) + </a:t>
            </a:r>
            <a:r>
              <a:rPr lang="el-GR" sz="2000" dirty="0">
                <a:latin typeface="Times New Roman" panose="02020603050405020304" pitchFamily="18" charset="0"/>
                <a:cs typeface="Times New Roman" panose="02020603050405020304" pitchFamily="18" charset="0"/>
              </a:rPr>
              <a:t>α</a:t>
            </a:r>
            <a:r>
              <a:rPr lang="en-US" sz="2000" dirty="0">
                <a:latin typeface="Times New Roman" panose="02020603050405020304" pitchFamily="18" charset="0"/>
                <a:cs typeface="Times New Roman" panose="02020603050405020304" pitchFamily="18" charset="0"/>
              </a:rPr>
              <a:t> * standard deviation(Exploration), </a:t>
            </a:r>
            <a:r>
              <a:rPr lang="el-GR" sz="2000" dirty="0">
                <a:latin typeface="Times New Roman" panose="02020603050405020304" pitchFamily="18" charset="0"/>
                <a:cs typeface="Times New Roman" panose="02020603050405020304" pitchFamily="18" charset="0"/>
              </a:rPr>
              <a:t>α</a:t>
            </a:r>
            <a:r>
              <a:rPr lang="en-US" sz="2000" dirty="0">
                <a:latin typeface="Times New Roman" panose="02020603050405020304" pitchFamily="18" charset="0"/>
                <a:cs typeface="Times New Roman" panose="02020603050405020304" pitchFamily="18" charset="0"/>
              </a:rPr>
              <a:t> is exploration rate.</a:t>
            </a:r>
          </a:p>
        </p:txBody>
      </p:sp>
      <p:pic>
        <p:nvPicPr>
          <p:cNvPr id="5" name="Picture 4">
            <a:extLst>
              <a:ext uri="{FF2B5EF4-FFF2-40B4-BE49-F238E27FC236}">
                <a16:creationId xmlns:a16="http://schemas.microsoft.com/office/drawing/2014/main" id="{D10D1A18-EE1F-FC4A-B663-82773DD3DA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8101" y="0"/>
            <a:ext cx="2301072" cy="1925509"/>
          </a:xfrm>
          <a:prstGeom prst="rect">
            <a:avLst/>
          </a:prstGeom>
        </p:spPr>
      </p:pic>
      <p:pic>
        <p:nvPicPr>
          <p:cNvPr id="7" name="Picture 6">
            <a:extLst>
              <a:ext uri="{FF2B5EF4-FFF2-40B4-BE49-F238E27FC236}">
                <a16:creationId xmlns:a16="http://schemas.microsoft.com/office/drawing/2014/main" id="{C4611F46-7AA4-1944-9FC6-640ABA0D0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2333" y="168782"/>
            <a:ext cx="1625497" cy="1587944"/>
          </a:xfrm>
          <a:prstGeom prst="rect">
            <a:avLst/>
          </a:prstGeom>
        </p:spPr>
      </p:pic>
      <p:sp>
        <p:nvSpPr>
          <p:cNvPr id="8" name="Right Arrow 7">
            <a:extLst>
              <a:ext uri="{FF2B5EF4-FFF2-40B4-BE49-F238E27FC236}">
                <a16:creationId xmlns:a16="http://schemas.microsoft.com/office/drawing/2014/main" id="{8F4324CC-C4AA-624A-A8EB-0BE24B0069AF}"/>
              </a:ext>
            </a:extLst>
          </p:cNvPr>
          <p:cNvSpPr/>
          <p:nvPr/>
        </p:nvSpPr>
        <p:spPr>
          <a:xfrm>
            <a:off x="9807191" y="897364"/>
            <a:ext cx="512676" cy="13078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E85194C-62E2-3A45-9184-485624C75E75}"/>
              </a:ext>
            </a:extLst>
          </p:cNvPr>
          <p:cNvSpPr txBox="1"/>
          <p:nvPr/>
        </p:nvSpPr>
        <p:spPr>
          <a:xfrm>
            <a:off x="9987225" y="1687124"/>
            <a:ext cx="1990411"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image credit: </a:t>
            </a:r>
            <a:r>
              <a:rPr lang="en-US" sz="1200" dirty="0" err="1">
                <a:latin typeface="Times New Roman" panose="02020603050405020304" pitchFamily="18" charset="0"/>
                <a:cs typeface="Times New Roman" panose="02020603050405020304" pitchFamily="18" charset="0"/>
              </a:rPr>
              <a:t>geeksforfgeeks</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1954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Reinforcement Learning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4"/>
                <a:ext cx="10797793" cy="5032375"/>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Q-learning</a:t>
                </a:r>
              </a:p>
              <a:p>
                <a:pPr lvl="1">
                  <a:lnSpc>
                    <a:spcPct val="100000"/>
                  </a:lnSpc>
                </a:pPr>
                <a:r>
                  <a:rPr lang="en-US" sz="2000" dirty="0">
                    <a:latin typeface="Cambria Math" panose="02040503050406030204" pitchFamily="18" charset="0"/>
                    <a:ea typeface="Cambria Math" panose="02040503050406030204" pitchFamily="18" charset="0"/>
                    <a:cs typeface="Times New Roman" panose="02020603050405020304" pitchFamily="18" charset="0"/>
                  </a:rPr>
                  <a:t>Q(s, a) ← (1 - </a:t>
                </a:r>
                <a:r>
                  <a:rPr lang="el-GR" sz="2000" dirty="0">
                    <a:latin typeface="Cambria Math" panose="02040503050406030204" pitchFamily="18" charset="0"/>
                    <a:ea typeface="Cambria Math" panose="02040503050406030204" pitchFamily="18" charset="0"/>
                    <a:cs typeface="Times New Roman" panose="02020603050405020304" pitchFamily="18" charset="0"/>
                  </a:rPr>
                  <a:t>α</a:t>
                </a:r>
                <a:r>
                  <a:rPr lang="en-US" sz="2000" dirty="0">
                    <a:latin typeface="Cambria Math" panose="02040503050406030204" pitchFamily="18" charset="0"/>
                    <a:ea typeface="Cambria Math" panose="02040503050406030204" pitchFamily="18" charset="0"/>
                    <a:cs typeface="Times New Roman" panose="02020603050405020304" pitchFamily="18" charset="0"/>
                  </a:rPr>
                  <a:t>)Q(s, a) + </a:t>
                </a:r>
                <a:r>
                  <a:rPr lang="el-GR" sz="2000" dirty="0">
                    <a:latin typeface="Cambria Math" panose="02040503050406030204" pitchFamily="18" charset="0"/>
                    <a:ea typeface="Cambria Math" panose="02040503050406030204" pitchFamily="18" charset="0"/>
                    <a:cs typeface="Times New Roman" panose="02020603050405020304" pitchFamily="18" charset="0"/>
                  </a:rPr>
                  <a:t>α</a:t>
                </a:r>
                <a:r>
                  <a:rPr lang="en-US" sz="2000" dirty="0">
                    <a:latin typeface="Cambria Math" panose="02040503050406030204" pitchFamily="18" charset="0"/>
                    <a:ea typeface="Cambria Math" panose="02040503050406030204" pitchFamily="18" charset="0"/>
                    <a:cs typeface="Times New Roman" panose="02020603050405020304" pitchFamily="18" charset="0"/>
                  </a:rPr>
                  <a:t>[ r + </a:t>
                </a:r>
                <a:r>
                  <a:rPr lang="el-GR" sz="2000" dirty="0">
                    <a:latin typeface="Cambria Math" panose="02040503050406030204" pitchFamily="18" charset="0"/>
                    <a:ea typeface="Cambria Math" panose="02040503050406030204" pitchFamily="18" charset="0"/>
                    <a:cs typeface="Times New Roman" panose="02020603050405020304" pitchFamily="18" charset="0"/>
                  </a:rPr>
                  <a:t>γ</a:t>
                </a:r>
                <a:r>
                  <a:rPr lang="en-US" sz="2000"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func>
                      <m:func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sz="2000">
                                <a:latin typeface="Cambria Math" panose="02040503050406030204" pitchFamily="18" charset="0"/>
                                <a:ea typeface="Cambria Math" panose="02040503050406030204" pitchFamily="18" charset="0"/>
                                <a:cs typeface="Times New Roman" panose="02020603050405020304" pitchFamily="18" charset="0"/>
                              </a:rPr>
                              <m:t>max</m:t>
                            </m:r>
                          </m:e>
                          <m:lim>
                            <m:r>
                              <a:rPr lang="en-US" sz="2000" i="1">
                                <a:latin typeface="Cambria Math" panose="02040503050406030204" pitchFamily="18" charset="0"/>
                                <a:ea typeface="Cambria Math" panose="02040503050406030204" pitchFamily="18" charset="0"/>
                                <a:cs typeface="Times New Roman" panose="02020603050405020304" pitchFamily="18" charset="0"/>
                              </a:rPr>
                              <m:t>𝑎</m:t>
                            </m:r>
                            <m:r>
                              <a:rPr lang="en-US" sz="2000" i="1">
                                <a:latin typeface="Cambria Math" panose="02040503050406030204" pitchFamily="18" charset="0"/>
                                <a:ea typeface="Cambria Math" panose="02040503050406030204" pitchFamily="18" charset="0"/>
                                <a:cs typeface="Times New Roman" panose="02020603050405020304" pitchFamily="18" charset="0"/>
                              </a:rPr>
                              <m:t>′</m:t>
                            </m:r>
                          </m:lim>
                        </m:limLow>
                      </m:fName>
                      <m:e>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Q</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s</m:t>
                        </m:r>
                        <m:r>
                          <a:rPr 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 </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a</m:t>
                        </m:r>
                        <m:r>
                          <a:rPr 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m:t>
                        </m:r>
                      </m:e>
                    </m:func>
                  </m:oMath>
                </a14:m>
                <a:r>
                  <a:rPr lang="en-US" sz="2000" dirty="0">
                    <a:latin typeface="Cambria Math" panose="02040503050406030204" pitchFamily="18" charset="0"/>
                    <a:ea typeface="Cambria Math" panose="02040503050406030204" pitchFamily="18" charset="0"/>
                    <a:cs typeface="Times New Roman" panose="02020603050405020304" pitchFamily="18" charset="0"/>
                  </a:rPr>
                  <a:t>]</a:t>
                </a:r>
              </a:p>
              <a:p>
                <a:pPr lvl="1">
                  <a:lnSpc>
                    <a:spcPct val="100000"/>
                  </a:lnSpc>
                </a:pPr>
                <a:r>
                  <a:rPr lang="en-US" sz="2000" dirty="0">
                    <a:latin typeface="Times New Roman" panose="02020603050405020304" pitchFamily="18" charset="0"/>
                    <a:ea typeface="Cambria Math" panose="02040503050406030204" pitchFamily="18" charset="0"/>
                    <a:cs typeface="Times New Roman" panose="02020603050405020304" pitchFamily="18" charset="0"/>
                  </a:rPr>
                  <a:t>at state </a:t>
                </a:r>
                <a:r>
                  <a:rPr lang="en-US" sz="2000" dirty="0">
                    <a:latin typeface="Cambria Math" panose="02040503050406030204" pitchFamily="18" charset="0"/>
                    <a:ea typeface="Cambria Math" panose="02040503050406030204" pitchFamily="18" charset="0"/>
                    <a:cs typeface="Times New Roman" panose="02020603050405020304" pitchFamily="18" charset="0"/>
                  </a:rPr>
                  <a:t>s</a:t>
                </a:r>
                <a:r>
                  <a:rPr lang="en-US" sz="2000" dirty="0">
                    <a:latin typeface="Times New Roman" panose="02020603050405020304" pitchFamily="18" charset="0"/>
                    <a:ea typeface="Cambria Math" panose="02040503050406030204" pitchFamily="18" charset="0"/>
                    <a:cs typeface="Times New Roman" panose="02020603050405020304" pitchFamily="18" charset="0"/>
                  </a:rPr>
                  <a:t>, take action </a:t>
                </a:r>
                <a:r>
                  <a:rPr lang="en-US" sz="2000" dirty="0">
                    <a:latin typeface="Cambria Math" panose="02040503050406030204" pitchFamily="18" charset="0"/>
                    <a:ea typeface="Cambria Math" panose="02040503050406030204" pitchFamily="18" charset="0"/>
                    <a:cs typeface="Times New Roman" panose="02020603050405020304" pitchFamily="18" charset="0"/>
                  </a:rPr>
                  <a:t>a</a:t>
                </a:r>
                <a:r>
                  <a:rPr lang="en-US" sz="2000"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latin typeface="Times New Roman" panose="02020603050405020304" pitchFamily="18" charset="0"/>
                    <a:ea typeface="Cambria Math" panose="02040503050406030204" pitchFamily="18" charset="0"/>
                    <a:cs typeface="Times New Roman" panose="02020603050405020304" pitchFamily="18" charset="0"/>
                  </a:rPr>
                  <a:t> get reward </a:t>
                </a:r>
                <a:r>
                  <a:rPr lang="en-US" sz="2000" dirty="0">
                    <a:latin typeface="Cambria Math" panose="02040503050406030204" pitchFamily="18" charset="0"/>
                    <a:ea typeface="Cambria Math" panose="02040503050406030204" pitchFamily="18" charset="0"/>
                    <a:cs typeface="Times New Roman" panose="02020603050405020304" pitchFamily="18" charset="0"/>
                  </a:rPr>
                  <a:t>r</a:t>
                </a:r>
                <a:r>
                  <a:rPr lang="en-US" sz="2000" dirty="0">
                    <a:latin typeface="Times New Roman" panose="02020603050405020304" pitchFamily="18" charset="0"/>
                    <a:ea typeface="Cambria Math" panose="02040503050406030204" pitchFamily="18" charset="0"/>
                    <a:cs typeface="Times New Roman" panose="02020603050405020304" pitchFamily="18" charset="0"/>
                  </a:rPr>
                  <a:t> and go to state </a:t>
                </a:r>
                <a:r>
                  <a:rPr lang="en-US" sz="2000" dirty="0">
                    <a:latin typeface="Cambria Math" panose="02040503050406030204" pitchFamily="18" charset="0"/>
                    <a:ea typeface="Cambria Math" panose="02040503050406030204" pitchFamily="18" charset="0"/>
                    <a:cs typeface="Times New Roman" panose="02020603050405020304" pitchFamily="18" charset="0"/>
                  </a:rPr>
                  <a:t>s’</a:t>
                </a:r>
              </a:p>
              <a:p>
                <a:pPr lvl="1">
                  <a:lnSpc>
                    <a:spcPct val="100000"/>
                  </a:lnSpc>
                </a:pPr>
                <a:r>
                  <a:rPr lang="en-US" sz="2000" dirty="0">
                    <a:latin typeface="Cambria Math" panose="02040503050406030204" pitchFamily="18" charset="0"/>
                    <a:ea typeface="Cambria Math" panose="02040503050406030204" pitchFamily="18" charset="0"/>
                    <a:cs typeface="Times New Roman" panose="02020603050405020304" pitchFamily="18" charset="0"/>
                  </a:rPr>
                  <a:t>Q(s, a)</a:t>
                </a:r>
                <a:r>
                  <a:rPr lang="en-US" sz="2000" dirty="0">
                    <a:latin typeface="Times New Roman" panose="02020603050405020304" pitchFamily="18" charset="0"/>
                    <a:ea typeface="Cambria Math" panose="02040503050406030204" pitchFamily="18" charset="0"/>
                    <a:cs typeface="Times New Roman" panose="02020603050405020304" pitchFamily="18" charset="0"/>
                  </a:rPr>
                  <a:t>: the current value  (there’s a Q-table to store Q-value)</a:t>
                </a:r>
              </a:p>
              <a:p>
                <a:pPr lvl="1">
                  <a:lnSpc>
                    <a:spcPct val="100000"/>
                  </a:lnSpc>
                </a:pPr>
                <a:r>
                  <a:rPr lang="el-GR" sz="2000" dirty="0">
                    <a:latin typeface="Cambria Math" panose="02040503050406030204" pitchFamily="18" charset="0"/>
                    <a:ea typeface="Cambria Math" panose="02040503050406030204" pitchFamily="18" charset="0"/>
                    <a:cs typeface="Times New Roman" panose="02020603050405020304" pitchFamily="18" charset="0"/>
                  </a:rPr>
                  <a:t>α</a:t>
                </a:r>
                <a:r>
                  <a:rPr lang="en-US" sz="2000" dirty="0">
                    <a:latin typeface="Times New Roman" panose="02020603050405020304" pitchFamily="18" charset="0"/>
                    <a:ea typeface="Cambria Math" panose="02040503050406030204" pitchFamily="18" charset="0"/>
                    <a:cs typeface="Times New Roman" panose="02020603050405020304" pitchFamily="18" charset="0"/>
                  </a:rPr>
                  <a:t>: learning rate, </a:t>
                </a:r>
                <a:r>
                  <a:rPr lang="el-GR" sz="2000" dirty="0">
                    <a:latin typeface="Cambria Math" panose="02040503050406030204" pitchFamily="18" charset="0"/>
                    <a:ea typeface="Cambria Math" panose="02040503050406030204" pitchFamily="18" charset="0"/>
                    <a:cs typeface="Times New Roman" panose="02020603050405020304" pitchFamily="18" charset="0"/>
                  </a:rPr>
                  <a:t>γ</a:t>
                </a:r>
                <a:r>
                  <a:rPr lang="en-US" sz="2000" dirty="0">
                    <a:latin typeface="Times New Roman" panose="02020603050405020304" pitchFamily="18" charset="0"/>
                    <a:ea typeface="Cambria Math" panose="02040503050406030204" pitchFamily="18" charset="0"/>
                    <a:cs typeface="Times New Roman" panose="02020603050405020304" pitchFamily="18" charset="0"/>
                  </a:rPr>
                  <a:t>: discount rate</a:t>
                </a:r>
              </a:p>
              <a:p>
                <a:pPr>
                  <a:lnSpc>
                    <a:spcPct val="100000"/>
                  </a:lnSpc>
                </a:pPr>
                <a:r>
                  <a:rPr lang="en-US" dirty="0">
                    <a:latin typeface="Times New Roman" panose="02020603050405020304" pitchFamily="18" charset="0"/>
                    <a:cs typeface="Times New Roman" panose="02020603050405020304" pitchFamily="18" charset="0"/>
                  </a:rPr>
                  <a:t>Bellman equation</a:t>
                </a:r>
              </a:p>
              <a:p>
                <a:pPr lvl="1">
                  <a:lnSpc>
                    <a:spcPct val="100000"/>
                  </a:lnSpc>
                </a:pPr>
                <a:r>
                  <a:rPr lang="en-US" sz="2000" dirty="0">
                    <a:latin typeface="Cambria Math" panose="02040503050406030204" pitchFamily="18" charset="0"/>
                    <a:ea typeface="Cambria Math" panose="02040503050406030204" pitchFamily="18" charset="0"/>
                    <a:cs typeface="Times New Roman" panose="02020603050405020304" pitchFamily="18" charset="0"/>
                  </a:rPr>
                  <a:t>Q*(s, a) = E</a:t>
                </a:r>
                <a:r>
                  <a:rPr lang="en-US" sz="2000" baseline="-25000" dirty="0">
                    <a:latin typeface="Cambria Math" panose="02040503050406030204" pitchFamily="18" charset="0"/>
                    <a:ea typeface="Cambria Math" panose="02040503050406030204" pitchFamily="18" charset="0"/>
                    <a:cs typeface="Times New Roman" panose="02020603050405020304" pitchFamily="18" charset="0"/>
                  </a:rPr>
                  <a:t>s’</a:t>
                </a:r>
                <a:r>
                  <a:rPr lang="en-US" sz="2000" dirty="0">
                    <a:latin typeface="Cambria Math" panose="02040503050406030204" pitchFamily="18" charset="0"/>
                    <a:ea typeface="Cambria Math" panose="02040503050406030204" pitchFamily="18" charset="0"/>
                    <a:cs typeface="Times New Roman" panose="02020603050405020304" pitchFamily="18" charset="0"/>
                  </a:rPr>
                  <a:t> [ r + </a:t>
                </a:r>
                <a:r>
                  <a:rPr lang="el-GR" sz="2000" dirty="0">
                    <a:latin typeface="Cambria Math" panose="02040503050406030204" pitchFamily="18" charset="0"/>
                    <a:ea typeface="Cambria Math" panose="02040503050406030204" pitchFamily="18" charset="0"/>
                    <a:cs typeface="Times New Roman" panose="02020603050405020304" pitchFamily="18" charset="0"/>
                  </a:rPr>
                  <a:t>γ</a:t>
                </a:r>
                <a:r>
                  <a:rPr lang="en-US" sz="2000"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func>
                      <m:func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sz="2000">
                                <a:latin typeface="Cambria Math" panose="02040503050406030204" pitchFamily="18" charset="0"/>
                                <a:ea typeface="Cambria Math" panose="02040503050406030204" pitchFamily="18" charset="0"/>
                                <a:cs typeface="Times New Roman" panose="02020603050405020304" pitchFamily="18" charset="0"/>
                              </a:rPr>
                              <m:t>max</m:t>
                            </m:r>
                          </m:e>
                          <m:lim>
                            <m:r>
                              <a:rPr lang="en-US" sz="2000" i="1">
                                <a:latin typeface="Cambria Math" panose="02040503050406030204" pitchFamily="18" charset="0"/>
                                <a:ea typeface="Cambria Math" panose="02040503050406030204" pitchFamily="18" charset="0"/>
                                <a:cs typeface="Times New Roman" panose="02020603050405020304" pitchFamily="18" charset="0"/>
                              </a:rPr>
                              <m:t>𝑎</m:t>
                            </m:r>
                            <m:r>
                              <a:rPr lang="en-US" sz="2000" i="1">
                                <a:latin typeface="Cambria Math" panose="02040503050406030204" pitchFamily="18" charset="0"/>
                                <a:ea typeface="Cambria Math" panose="02040503050406030204" pitchFamily="18" charset="0"/>
                                <a:cs typeface="Times New Roman" panose="02020603050405020304" pitchFamily="18" charset="0"/>
                              </a:rPr>
                              <m:t>′</m:t>
                            </m:r>
                          </m:lim>
                        </m:limLow>
                      </m:fName>
                      <m:e>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Q</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s</m:t>
                        </m:r>
                        <m:r>
                          <a:rPr 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 </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a</m:t>
                        </m:r>
                        <m:r>
                          <a:rPr 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m:t>
                        </m:r>
                      </m:e>
                    </m:func>
                  </m:oMath>
                </a14:m>
                <a:r>
                  <a:rPr lang="en-US" sz="2000" dirty="0">
                    <a:latin typeface="Cambria Math" panose="02040503050406030204" pitchFamily="18" charset="0"/>
                    <a:ea typeface="Cambria Math" panose="02040503050406030204" pitchFamily="18" charset="0"/>
                    <a:cs typeface="Times New Roman" panose="02020603050405020304" pitchFamily="18" charset="0"/>
                  </a:rPr>
                  <a:t> ]</a:t>
                </a:r>
                <a:r>
                  <a:rPr lang="en-US" sz="2000" dirty="0">
                    <a:latin typeface="Times New Roman" panose="02020603050405020304" pitchFamily="18" charset="0"/>
                    <a:ea typeface="Cambria Math" panose="02040503050406030204" pitchFamily="18" charset="0"/>
                    <a:cs typeface="Times New Roman" panose="02020603050405020304" pitchFamily="18" charset="0"/>
                  </a:rPr>
                  <a:t>  (</a:t>
                </a:r>
                <a:r>
                  <a:rPr lang="en-US" sz="2000"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a:t>
                </a:r>
                <a:r>
                  <a:rPr lang="en-US" sz="2000"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 means optimal</a:t>
                </a:r>
                <a:r>
                  <a:rPr lang="en-US" sz="2000" dirty="0">
                    <a:latin typeface="Times New Roman" panose="02020603050405020304" pitchFamily="18" charset="0"/>
                    <a:ea typeface="Cambria Math" panose="02040503050406030204" pitchFamily="18" charset="0"/>
                    <a:cs typeface="Times New Roman" panose="02020603050405020304" pitchFamily="18" charset="0"/>
                  </a:rPr>
                  <a:t>)</a:t>
                </a:r>
                <a:endParaRPr lang="en-US" sz="2000" dirty="0">
                  <a:latin typeface="Cambria Math" panose="02040503050406030204" pitchFamily="18" charset="0"/>
                  <a:ea typeface="Cambria Math" panose="02040503050406030204" pitchFamily="18" charset="0"/>
                  <a:cs typeface="Times New Roman" panose="02020603050405020304" pitchFamily="18" charset="0"/>
                </a:endParaRPr>
              </a:p>
              <a:p>
                <a:pPr lvl="1">
                  <a:lnSpc>
                    <a:spcPct val="100000"/>
                  </a:lnSpc>
                </a:pPr>
                <a:r>
                  <a:rPr lang="en-US" sz="2000" dirty="0">
                    <a:latin typeface="Times New Roman" panose="02020603050405020304" pitchFamily="18" charset="0"/>
                    <a:cs typeface="Times New Roman" panose="02020603050405020304" pitchFamily="18" charset="0"/>
                  </a:rPr>
                  <a:t>Overestimation of Q-value because of two consecutive states have different hands</a:t>
                </a:r>
                <a:r>
                  <a:rPr lang="en-US" sz="2000" dirty="0">
                    <a:latin typeface="Times New Roman" panose="02020603050405020304" pitchFamily="18" charset="0"/>
                    <a:ea typeface="Cambria Math" panose="020405030504060302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Penetrative Bellman equation</a:t>
                </a:r>
              </a:p>
              <a:p>
                <a:pPr lvl="1">
                  <a:lnSpc>
                    <a:spcPct val="100000"/>
                  </a:lnSpc>
                </a:pPr>
                <a:r>
                  <a:rPr lang="en-US" sz="2000" dirty="0">
                    <a:latin typeface="Times New Roman" panose="02020603050405020304" pitchFamily="18" charset="0"/>
                    <a:ea typeface="Cambria Math" panose="02040503050406030204" pitchFamily="18" charset="0"/>
                    <a:cs typeface="Times New Roman" panose="02020603050405020304" pitchFamily="18" charset="0"/>
                  </a:rPr>
                  <a:t>Let r = 0 and </a:t>
                </a:r>
                <a:r>
                  <a:rPr lang="el-GR" sz="2000" dirty="0">
                    <a:latin typeface="Cambria Math" panose="02040503050406030204" pitchFamily="18" charset="0"/>
                    <a:ea typeface="Cambria Math" panose="02040503050406030204" pitchFamily="18" charset="0"/>
                    <a:cs typeface="Times New Roman" panose="02020603050405020304" pitchFamily="18" charset="0"/>
                  </a:rPr>
                  <a:t>γ</a:t>
                </a:r>
                <a:r>
                  <a:rPr lang="en-US" sz="2000" dirty="0">
                    <a:latin typeface="Times New Roman" panose="02020603050405020304" pitchFamily="18" charset="0"/>
                    <a:ea typeface="Cambria Math" panose="02040503050406030204" pitchFamily="18" charset="0"/>
                    <a:cs typeface="Times New Roman" panose="02020603050405020304" pitchFamily="18" charset="0"/>
                  </a:rPr>
                  <a:t> = 1, </a:t>
                </a:r>
                <a:r>
                  <a:rPr lang="en-US" sz="2000" dirty="0">
                    <a:latin typeface="Cambria Math" panose="02040503050406030204" pitchFamily="18" charset="0"/>
                    <a:ea typeface="Cambria Math" panose="02040503050406030204" pitchFamily="18" charset="0"/>
                    <a:cs typeface="Times New Roman" panose="02020603050405020304" pitchFamily="18" charset="0"/>
                  </a:rPr>
                  <a:t>Q</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a:t>
                </a:r>
                <a:r>
                  <a:rPr lang="en-US" sz="2000" baseline="30000" dirty="0" err="1">
                    <a:latin typeface="Cambria Math" panose="02040503050406030204" pitchFamily="18" charset="0"/>
                    <a:ea typeface="Cambria Math" panose="02040503050406030204" pitchFamily="18" charset="0"/>
                    <a:cs typeface="Times New Roman" panose="02020603050405020304" pitchFamily="18" charset="0"/>
                  </a:rPr>
                  <a:t>i</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a:t>
                </a:r>
                <a:r>
                  <a:rPr lang="en-US" sz="2000" dirty="0">
                    <a:latin typeface="Cambria Math" panose="02040503050406030204" pitchFamily="18" charset="0"/>
                    <a:ea typeface="Cambria Math" panose="02040503050406030204" pitchFamily="18" charset="0"/>
                    <a:cs typeface="Times New Roman" panose="02020603050405020304" pitchFamily="18" charset="0"/>
                  </a:rPr>
                  <a:t>*(s, a) = </a:t>
                </a:r>
                <a14:m>
                  <m:oMath xmlns:m="http://schemas.openxmlformats.org/officeDocument/2006/math">
                    <m:func>
                      <m:func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sz="2000">
                                <a:latin typeface="Cambria Math" panose="02040503050406030204" pitchFamily="18" charset="0"/>
                                <a:ea typeface="Cambria Math" panose="02040503050406030204" pitchFamily="18" charset="0"/>
                                <a:cs typeface="Times New Roman" panose="02020603050405020304" pitchFamily="18" charset="0"/>
                              </a:rPr>
                              <m:t>max</m:t>
                            </m:r>
                          </m:e>
                          <m:lim>
                            <m:r>
                              <a:rPr lang="en-US" sz="2000" i="1">
                                <a:latin typeface="Cambria Math" panose="02040503050406030204" pitchFamily="18" charset="0"/>
                                <a:ea typeface="Cambria Math" panose="02040503050406030204" pitchFamily="18" charset="0"/>
                                <a:cs typeface="Times New Roman" panose="02020603050405020304" pitchFamily="18" charset="0"/>
                              </a:rPr>
                              <m:t>𝑎</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(1)</m:t>
                            </m:r>
                          </m:lim>
                        </m:limLow>
                      </m:fName>
                      <m:e>
                        <m:r>
                          <m:rPr>
                            <m:nor/>
                          </m:rPr>
                          <a:rPr lang="en-US" sz="2000" b="0" i="0" smtClean="0">
                            <a:latin typeface="Cambria Math" panose="02040503050406030204" pitchFamily="18" charset="0"/>
                            <a:ea typeface="Cambria Math" panose="02040503050406030204" pitchFamily="18" charset="0"/>
                            <a:cs typeface="Times New Roman" panose="02020603050405020304" pitchFamily="18" charset="0"/>
                          </a:rPr>
                          <m:t>[ </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Q</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i</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+1)*(</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s</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b="0" i="0" baseline="30000" dirty="0" smtClean="0">
                            <a:latin typeface="Cambria Math" panose="02040503050406030204" pitchFamily="18" charset="0"/>
                            <a:ea typeface="Cambria Math" panose="02040503050406030204" pitchFamily="18" charset="0"/>
                            <a:cs typeface="Times New Roman" panose="02020603050405020304" pitchFamily="18" charset="0"/>
                          </a:rPr>
                          <m:t>1</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 </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a</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b="0" i="0" baseline="30000" dirty="0" smtClean="0">
                            <a:latin typeface="Cambria Math" panose="02040503050406030204" pitchFamily="18" charset="0"/>
                            <a:ea typeface="Cambria Math" panose="02040503050406030204" pitchFamily="18" charset="0"/>
                            <a:cs typeface="Times New Roman" panose="02020603050405020304" pitchFamily="18" charset="0"/>
                          </a:rPr>
                          <m:t>1</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b="0" i="0" dirty="0" smtClean="0">
                            <a:latin typeface="Cambria Math" panose="02040503050406030204" pitchFamily="18" charset="0"/>
                            <a:ea typeface="Cambria Math" panose="02040503050406030204" pitchFamily="18" charset="0"/>
                            <a:cs typeface="Times New Roman" panose="02020603050405020304" pitchFamily="18" charset="0"/>
                          </a:rPr>
                          <m:t> ]</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 </m:t>
                        </m:r>
                      </m:e>
                    </m:func>
                  </m:oMath>
                </a14:m>
                <a:r>
                  <a:rPr lang="en-US" sz="2000" dirty="0">
                    <a:latin typeface="Cambria Math" panose="02040503050406030204" pitchFamily="18" charset="0"/>
                    <a:ea typeface="Cambria Math" panose="02040503050406030204" pitchFamily="18" charset="0"/>
                    <a:cs typeface="Times New Roman" panose="02020603050405020304" pitchFamily="18" charset="0"/>
                  </a:rPr>
                  <a:t> = Q</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(i+1)</a:t>
                </a:r>
                <a:r>
                  <a:rPr lang="en-US" sz="2000" dirty="0">
                    <a:latin typeface="Cambria Math" panose="02040503050406030204" pitchFamily="18" charset="0"/>
                    <a:ea typeface="Cambria Math" panose="02040503050406030204" pitchFamily="18" charset="0"/>
                    <a:cs typeface="Times New Roman" panose="02020603050405020304" pitchFamily="18" charset="0"/>
                  </a:rPr>
                  <a:t>*(s</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(1)</a:t>
                </a:r>
                <a:r>
                  <a:rPr lang="en-US" sz="2000" dirty="0">
                    <a:latin typeface="Cambria Math" panose="02040503050406030204" pitchFamily="18" charset="0"/>
                    <a:ea typeface="Cambria Math" panose="02040503050406030204" pitchFamily="18" charset="0"/>
                    <a:cs typeface="Times New Roman" panose="02020603050405020304" pitchFamily="18" charset="0"/>
                  </a:rPr>
                  <a:t>, a*</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(1)</a:t>
                </a:r>
                <a:r>
                  <a:rPr lang="en-US" sz="2000" dirty="0">
                    <a:latin typeface="Cambria Math" panose="02040503050406030204" pitchFamily="18" charset="0"/>
                    <a:ea typeface="Cambria Math" panose="02040503050406030204" pitchFamily="18" charset="0"/>
                    <a:cs typeface="Times New Roman" panose="02020603050405020304" pitchFamily="18" charset="0"/>
                  </a:rPr>
                  <a:t>)</a:t>
                </a:r>
              </a:p>
              <a:p>
                <a:pPr lvl="1">
                  <a:lnSpc>
                    <a:spcPct val="100000"/>
                  </a:lnSpc>
                </a:pPr>
                <a:r>
                  <a:rPr lang="en-US" sz="2000" dirty="0">
                    <a:latin typeface="Cambria Math" panose="02040503050406030204" pitchFamily="18" charset="0"/>
                    <a:ea typeface="Cambria Math" panose="02040503050406030204" pitchFamily="18" charset="0"/>
                    <a:cs typeface="Times New Roman" panose="02020603050405020304" pitchFamily="18" charset="0"/>
                  </a:rPr>
                  <a:t>Q</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a:t>
                </a:r>
                <a:r>
                  <a:rPr lang="en-US" sz="2000" baseline="30000" dirty="0" err="1">
                    <a:latin typeface="Cambria Math" panose="02040503050406030204" pitchFamily="18" charset="0"/>
                    <a:ea typeface="Cambria Math" panose="02040503050406030204" pitchFamily="18" charset="0"/>
                    <a:cs typeface="Times New Roman" panose="02020603050405020304" pitchFamily="18" charset="0"/>
                  </a:rPr>
                  <a:t>i</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a:t>
                </a:r>
                <a:r>
                  <a:rPr lang="en-US" sz="2000" dirty="0">
                    <a:latin typeface="Cambria Math" panose="02040503050406030204" pitchFamily="18" charset="0"/>
                    <a:ea typeface="Cambria Math" panose="02040503050406030204" pitchFamily="18" charset="0"/>
                    <a:cs typeface="Times New Roman" panose="02020603050405020304" pitchFamily="18" charset="0"/>
                  </a:rPr>
                  <a:t>*(s, a) = Q</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a:t>
                </a:r>
                <a:r>
                  <a:rPr lang="en-US" sz="2000" baseline="30000" dirty="0" err="1">
                    <a:latin typeface="Cambria Math" panose="02040503050406030204" pitchFamily="18" charset="0"/>
                    <a:ea typeface="Cambria Math" panose="02040503050406030204" pitchFamily="18" charset="0"/>
                    <a:cs typeface="Times New Roman" panose="02020603050405020304" pitchFamily="18" charset="0"/>
                  </a:rPr>
                  <a:t>i+t</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a:t>
                </a:r>
                <a:r>
                  <a:rPr lang="en-US" sz="2000" dirty="0">
                    <a:latin typeface="Cambria Math" panose="02040503050406030204" pitchFamily="18" charset="0"/>
                    <a:ea typeface="Cambria Math" panose="02040503050406030204" pitchFamily="18" charset="0"/>
                    <a:cs typeface="Times New Roman" panose="02020603050405020304" pitchFamily="18" charset="0"/>
                  </a:rPr>
                  <a:t>*(s</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(t)</a:t>
                </a:r>
                <a:r>
                  <a:rPr lang="en-US" sz="2000" dirty="0">
                    <a:latin typeface="Cambria Math" panose="02040503050406030204" pitchFamily="18" charset="0"/>
                    <a:ea typeface="Cambria Math" panose="02040503050406030204" pitchFamily="18" charset="0"/>
                    <a:cs typeface="Times New Roman" panose="02020603050405020304" pitchFamily="18" charset="0"/>
                  </a:rPr>
                  <a:t>, a*</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(t)</a:t>
                </a:r>
                <a:r>
                  <a:rPr lang="en-US" sz="2000" dirty="0">
                    <a:latin typeface="Cambria Math" panose="02040503050406030204" pitchFamily="18" charset="0"/>
                    <a:ea typeface="Cambria Math" panose="02040503050406030204" pitchFamily="18" charset="0"/>
                    <a:cs typeface="Times New Roman" panose="02020603050405020304" pitchFamily="18" charset="0"/>
                  </a:rPr>
                  <a:t>) = c(a*</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(t)</a:t>
                </a:r>
                <a:r>
                  <a:rPr lang="en-US" sz="2000" dirty="0">
                    <a:latin typeface="Cambria Math" panose="02040503050406030204" pitchFamily="18" charset="0"/>
                    <a:ea typeface="Cambria Math" panose="02040503050406030204" pitchFamily="18" charset="0"/>
                    <a:cs typeface="Times New Roman" panose="02020603050405020304" pitchFamily="18" charset="0"/>
                  </a:rPr>
                  <a:t>)</a:t>
                </a:r>
                <a:r>
                  <a:rPr lang="en-US" sz="2000" dirty="0">
                    <a:latin typeface="Times New Roman" panose="02020603050405020304" pitchFamily="18" charset="0"/>
                    <a:ea typeface="Cambria Math" panose="02040503050406030204" pitchFamily="18" charset="0"/>
                    <a:cs typeface="Times New Roman" panose="02020603050405020304" pitchFamily="18" charset="0"/>
                  </a:rPr>
                  <a:t>, c is cost function.</a:t>
                </a:r>
                <a:endParaRPr lang="en-US" sz="20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17B565CE-CAB5-AD47-993F-3375C1012477}"/>
                  </a:ext>
                </a:extLst>
              </p:cNvPr>
              <p:cNvSpPr>
                <a:spLocks noGrp="1" noRot="1" noChangeAspect="1" noMove="1" noResize="1" noEditPoints="1" noAdjustHandles="1" noChangeArrowheads="1" noChangeShapeType="1" noTextEdit="1"/>
              </p:cNvSpPr>
              <p:nvPr>
                <p:ph idx="1"/>
              </p:nvPr>
            </p:nvSpPr>
            <p:spPr>
              <a:xfrm>
                <a:off x="838198" y="1825624"/>
                <a:ext cx="10797793" cy="5032375"/>
              </a:xfrm>
              <a:blipFill>
                <a:blip r:embed="rId2"/>
                <a:stretch>
                  <a:fillRect l="-940" t="-1515"/>
                </a:stretch>
              </a:blipFill>
            </p:spPr>
            <p:txBody>
              <a:bodyPr/>
              <a:lstStyle/>
              <a:p>
                <a:r>
                  <a:rPr lang="en-US">
                    <a:noFill/>
                  </a:rPr>
                  <a:t> </a:t>
                </a:r>
              </a:p>
            </p:txBody>
          </p:sp>
        </mc:Fallback>
      </mc:AlternateContent>
    </p:spTree>
    <p:extLst>
      <p:ext uri="{BB962C8B-B14F-4D97-AF65-F5344CB8AC3E}">
        <p14:creationId xmlns:p14="http://schemas.microsoft.com/office/powerpoint/2010/main" val="3708332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Experiment</a:t>
            </a: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5"/>
            <a:ext cx="10955483" cy="4814166"/>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Dataset: 140,000 North-South hands.</a:t>
            </a:r>
          </a:p>
          <a:p>
            <a:pPr lvl="1">
              <a:lnSpc>
                <a:spcPct val="100000"/>
              </a:lnSpc>
            </a:pPr>
            <a:r>
              <a:rPr lang="en-US" dirty="0">
                <a:latin typeface="Times New Roman" panose="02020603050405020304" pitchFamily="18" charset="0"/>
                <a:cs typeface="Times New Roman" panose="02020603050405020304" pitchFamily="18" charset="0"/>
              </a:rPr>
              <a:t>training: 100,000</a:t>
            </a:r>
          </a:p>
          <a:p>
            <a:pPr lvl="1">
              <a:lnSpc>
                <a:spcPct val="100000"/>
              </a:lnSpc>
            </a:pPr>
            <a:r>
              <a:rPr lang="en-US" dirty="0">
                <a:latin typeface="Times New Roman" panose="02020603050405020304" pitchFamily="18" charset="0"/>
                <a:cs typeface="Times New Roman" panose="02020603050405020304" pitchFamily="18" charset="0"/>
              </a:rPr>
              <a:t>validation: 20,000</a:t>
            </a:r>
          </a:p>
          <a:p>
            <a:pPr lvl="1">
              <a:lnSpc>
                <a:spcPct val="100000"/>
              </a:lnSpc>
            </a:pPr>
            <a:r>
              <a:rPr lang="en-US" dirty="0">
                <a:latin typeface="Times New Roman" panose="02020603050405020304" pitchFamily="18" charset="0"/>
                <a:cs typeface="Times New Roman" panose="02020603050405020304" pitchFamily="18" charset="0"/>
              </a:rPr>
              <a:t>testing: 20,000</a:t>
            </a:r>
          </a:p>
          <a:p>
            <a:pPr>
              <a:lnSpc>
                <a:spcPct val="100000"/>
              </a:lnSpc>
            </a:pPr>
            <a:r>
              <a:rPr lang="en-US" dirty="0">
                <a:latin typeface="Times New Roman" panose="02020603050405020304" pitchFamily="18" charset="0"/>
                <a:cs typeface="Times New Roman" panose="02020603050405020304" pitchFamily="18" charset="0"/>
              </a:rPr>
              <a:t>average cost = average of “(IMP of optimal contract – IMP of a contract)”</a:t>
            </a:r>
          </a:p>
        </p:txBody>
      </p:sp>
    </p:spTree>
    <p:extLst>
      <p:ext uri="{BB962C8B-B14F-4D97-AF65-F5344CB8AC3E}">
        <p14:creationId xmlns:p14="http://schemas.microsoft.com/office/powerpoint/2010/main" val="3945362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4"/>
                <a:ext cx="10955483" cy="5137883"/>
              </a:xfrm>
            </p:spPr>
            <p:txBody>
              <a:bodyPr>
                <a:normAutofit/>
              </a:bodyPr>
              <a:lstStyle/>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UCB1</a:t>
                </a:r>
              </a:p>
              <a:p>
                <a:pPr lvl="1">
                  <a:lnSpc>
                    <a:spcPct val="100000"/>
                  </a:lnSpc>
                </a:pPr>
                <a:r>
                  <a:rPr lang="en-US" sz="2000" dirty="0">
                    <a:latin typeface="Cambria Math" panose="02040503050406030204" pitchFamily="18" charset="0"/>
                    <a:ea typeface="Cambria Math" panose="02040503050406030204" pitchFamily="18" charset="0"/>
                    <a:cs typeface="Times New Roman" panose="02020603050405020304" pitchFamily="18" charset="0"/>
                  </a:rPr>
                  <a:t>a</a:t>
                </a:r>
                <a: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 </a:t>
                </a:r>
                <a:r>
                  <a:rPr lang="en-US" sz="2000" dirty="0">
                    <a:latin typeface="Cambria Math" panose="02040503050406030204" pitchFamily="18" charset="0"/>
                    <a:ea typeface="Cambria Math" panose="020405030504060302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func>
                      <m:funcPr>
                        <m:ctrlPr>
                          <a:rPr lang="en-US" sz="2000" i="1" smtClean="0">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sz="2000">
                                <a:latin typeface="Cambria Math" panose="02040503050406030204" pitchFamily="18" charset="0"/>
                                <a:ea typeface="Cambria Math" panose="02040503050406030204" pitchFamily="18" charset="0"/>
                                <a:cs typeface="Times New Roman" panose="02020603050405020304" pitchFamily="18" charset="0"/>
                              </a:rPr>
                              <m:t>max</m:t>
                            </m:r>
                          </m:e>
                          <m:lim>
                            <m:r>
                              <a:rPr lang="en-US" sz="2000" i="1">
                                <a:latin typeface="Cambria Math" panose="02040503050406030204" pitchFamily="18" charset="0"/>
                                <a:ea typeface="Cambria Math" panose="02040503050406030204" pitchFamily="18" charset="0"/>
                                <a:cs typeface="Times New Roman" panose="02020603050405020304" pitchFamily="18" charset="0"/>
                              </a:rPr>
                              <m:t>𝑎</m:t>
                            </m:r>
                            <m:r>
                              <a:rPr lang="en-US" sz="2000" i="1">
                                <a:latin typeface="Cambria Math" panose="02040503050406030204" pitchFamily="18" charset="0"/>
                                <a:ea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n-US" sz="2000" i="1">
                                <a:latin typeface="Cambria Math" panose="02040503050406030204" pitchFamily="18" charset="0"/>
                                <a:ea typeface="Cambria Math" panose="02040503050406030204" pitchFamily="18" charset="0"/>
                                <a:cs typeface="Times New Roman" panose="02020603050405020304" pitchFamily="18" charset="0"/>
                              </a:rPr>
                              <m:t>)</m:t>
                            </m:r>
                          </m:lim>
                        </m:limLow>
                      </m:fName>
                      <m:e>
                        <m:r>
                          <m:rPr>
                            <m:nor/>
                          </m:rPr>
                          <a:rPr lang="en-US" sz="20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Q</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s</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b="0" i="0" baseline="30000" dirty="0" smtClean="0">
                            <a:latin typeface="Cambria Math" panose="02040503050406030204" pitchFamily="18" charset="0"/>
                            <a:ea typeface="Cambria Math" panose="02040503050406030204" pitchFamily="18" charset="0"/>
                            <a:cs typeface="Times New Roman" panose="02020603050405020304" pitchFamily="18" charset="0"/>
                          </a:rPr>
                          <m:t>t</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 </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a</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b="0" i="0" baseline="30000" dirty="0" smtClean="0">
                            <a:latin typeface="Cambria Math" panose="02040503050406030204" pitchFamily="18" charset="0"/>
                            <a:ea typeface="Cambria Math" panose="02040503050406030204" pitchFamily="18" charset="0"/>
                            <a:cs typeface="Times New Roman" panose="02020603050405020304" pitchFamily="18" charset="0"/>
                          </a:rPr>
                          <m:t>t</m:t>
                        </m:r>
                        <m:r>
                          <m:rPr>
                            <m:nor/>
                          </m:rPr>
                          <a:rPr lang="en-US" sz="2000" baseline="30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b="0" i="0" dirty="0" smtClean="0">
                            <a:latin typeface="Cambria Math" panose="02040503050406030204" pitchFamily="18" charset="0"/>
                            <a:ea typeface="Cambria Math" panose="02040503050406030204" pitchFamily="18" charset="0"/>
                            <a:cs typeface="Times New Roman" panose="02020603050405020304" pitchFamily="18" charset="0"/>
                          </a:rPr>
                          <m:t> + </m:t>
                        </m:r>
                        <m:r>
                          <m:rPr>
                            <m:nor/>
                          </m:rPr>
                          <a:rPr lang="el-GR" sz="2000" dirty="0">
                            <a:latin typeface="Times New Roman" panose="02020603050405020304" pitchFamily="18" charset="0"/>
                            <a:cs typeface="Times New Roman" panose="02020603050405020304" pitchFamily="18" charset="0"/>
                          </a:rPr>
                          <m:t>α</m:t>
                        </m:r>
                        <m:rad>
                          <m:radPr>
                            <m:degHide m:val="on"/>
                            <m:ctrlPr>
                              <a:rPr lang="en-US" sz="2000" i="1" dirty="0">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n-US" sz="2000" i="1" dirty="0">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dirty="0">
                                    <a:latin typeface="Cambria Math" panose="02040503050406030204" pitchFamily="18" charset="0"/>
                                    <a:ea typeface="Cambria Math" panose="02040503050406030204" pitchFamily="18" charset="0"/>
                                    <a:cs typeface="Times New Roman" panose="02020603050405020304" pitchFamily="18" charset="0"/>
                                  </a:rPr>
                                  <m:t>2</m:t>
                                </m:r>
                                <m:r>
                                  <m:rPr>
                                    <m:sty m:val="p"/>
                                  </m:rPr>
                                  <a:rPr lang="en-US" sz="2000" i="0" dirty="0">
                                    <a:latin typeface="Cambria Math" panose="02040503050406030204" pitchFamily="18" charset="0"/>
                                    <a:ea typeface="Cambria Math" panose="02040503050406030204" pitchFamily="18" charset="0"/>
                                    <a:cs typeface="Times New Roman" panose="02020603050405020304" pitchFamily="18" charset="0"/>
                                  </a:rPr>
                                  <m:t>ln</m:t>
                                </m:r>
                                <m:r>
                                  <a:rPr 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latin typeface="Cambria Math" panose="02040503050406030204" pitchFamily="18" charset="0"/>
                                    <a:ea typeface="Cambria Math" panose="02040503050406030204" pitchFamily="18" charset="0"/>
                                    <a:cs typeface="Times New Roman" panose="02020603050405020304" pitchFamily="18" charset="0"/>
                                  </a:rPr>
                                  <m:t>𝑇</m:t>
                                </m:r>
                                <m:r>
                                  <a:rPr 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num>
                              <m:den>
                                <m:r>
                                  <a:rPr lang="en-US" sz="2000" i="1" dirty="0">
                                    <a:latin typeface="Cambria Math" panose="02040503050406030204" pitchFamily="18" charset="0"/>
                                    <a:ea typeface="Cambria Math" panose="02040503050406030204" pitchFamily="18" charset="0"/>
                                    <a:cs typeface="Times New Roman" panose="02020603050405020304" pitchFamily="18" charset="0"/>
                                  </a:rPr>
                                  <m:t>𝑇</m:t>
                                </m:r>
                                <m:r>
                                  <a:rPr lang="en-US" sz="2000" i="1" baseline="-25000" dirty="0">
                                    <a:latin typeface="Cambria Math" panose="02040503050406030204" pitchFamily="18" charset="0"/>
                                    <a:ea typeface="Cambria Math" panose="02040503050406030204" pitchFamily="18" charset="0"/>
                                    <a:cs typeface="Times New Roman" panose="02020603050405020304" pitchFamily="18" charset="0"/>
                                  </a:rPr>
                                  <m:t>𝑎</m:t>
                                </m:r>
                              </m:den>
                            </m:f>
                          </m:e>
                        </m:rad>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sz="2000" dirty="0">
                            <a:latin typeface="Cambria Math" panose="02040503050406030204" pitchFamily="18" charset="0"/>
                            <a:ea typeface="Cambria Math" panose="02040503050406030204" pitchFamily="18" charset="0"/>
                            <a:cs typeface="Times New Roman" panose="02020603050405020304" pitchFamily="18" charset="0"/>
                          </a:rPr>
                          <m:t> </m:t>
                        </m:r>
                      </m:e>
                    </m:func>
                  </m:oMath>
                </a14:m>
                <a:endParaRPr lang="en-US" sz="2000" dirty="0">
                  <a:latin typeface="Times New Roman" panose="02020603050405020304" pitchFamily="18" charset="0"/>
                  <a:cs typeface="Times New Roman" panose="02020603050405020304" pitchFamily="18" charset="0"/>
                </a:endParaRPr>
              </a:p>
              <a:p>
                <a:pPr lvl="1">
                  <a:lnSpc>
                    <a:spcPct val="100000"/>
                  </a:lnSpc>
                </a:pPr>
                <a:r>
                  <a:rPr lang="en-US" sz="2000" dirty="0">
                    <a:latin typeface="Cambria Math" panose="02040503050406030204" pitchFamily="18" charset="0"/>
                    <a:ea typeface="Cambria Math" panose="02040503050406030204" pitchFamily="18" charset="0"/>
                    <a:cs typeface="Times New Roman" panose="02020603050405020304" pitchFamily="18" charset="0"/>
                  </a:rPr>
                  <a:t>T</a:t>
                </a:r>
                <a:r>
                  <a:rPr lang="en-US" sz="2000" dirty="0">
                    <a:latin typeface="Times New Roman" panose="02020603050405020304" pitchFamily="18" charset="0"/>
                    <a:ea typeface="Cambria Math" panose="02040503050406030204" pitchFamily="18" charset="0"/>
                    <a:cs typeface="Times New Roman" panose="02020603050405020304" pitchFamily="18" charset="0"/>
                  </a:rPr>
                  <a:t> is # of total moves; </a:t>
                </a:r>
                <a:r>
                  <a:rPr lang="en-US" sz="2000" dirty="0">
                    <a:latin typeface="Cambria Math" panose="02040503050406030204" pitchFamily="18" charset="0"/>
                    <a:ea typeface="Cambria Math" panose="02040503050406030204" pitchFamily="18" charset="0"/>
                    <a:cs typeface="Times New Roman" panose="02020603050405020304" pitchFamily="18" charset="0"/>
                  </a:rPr>
                  <a:t>T</a:t>
                </a:r>
                <a:r>
                  <a:rPr lang="en-US" sz="2000" baseline="-25000" dirty="0">
                    <a:latin typeface="Cambria Math" panose="02040503050406030204" pitchFamily="18" charset="0"/>
                    <a:ea typeface="Cambria Math" panose="02040503050406030204" pitchFamily="18" charset="0"/>
                    <a:cs typeface="Times New Roman" panose="02020603050405020304" pitchFamily="18" charset="0"/>
                  </a:rPr>
                  <a:t>a</a:t>
                </a:r>
                <a:r>
                  <a:rPr lang="en-US" sz="2000" dirty="0">
                    <a:latin typeface="Times New Roman" panose="02020603050405020304" pitchFamily="18" charset="0"/>
                    <a:ea typeface="Cambria Math" panose="02040503050406030204" pitchFamily="18" charset="0"/>
                    <a:cs typeface="Times New Roman" panose="02020603050405020304" pitchFamily="18" charset="0"/>
                  </a:rPr>
                  <a:t> is # of moves selected action a.</a:t>
                </a:r>
                <a:endParaRPr lang="en-US" sz="2000" baseline="-250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17B565CE-CAB5-AD47-993F-3375C1012477}"/>
                  </a:ext>
                </a:extLst>
              </p:cNvPr>
              <p:cNvSpPr>
                <a:spLocks noGrp="1" noRot="1" noChangeAspect="1" noMove="1" noResize="1" noEditPoints="1" noAdjustHandles="1" noChangeArrowheads="1" noChangeShapeType="1" noTextEdit="1"/>
              </p:cNvSpPr>
              <p:nvPr>
                <p:ph idx="1"/>
              </p:nvPr>
            </p:nvSpPr>
            <p:spPr>
              <a:xfrm>
                <a:off x="838198" y="1825624"/>
                <a:ext cx="10955483" cy="5137883"/>
              </a:xfrm>
              <a:blipFill>
                <a:blip r:embed="rId2"/>
                <a:stretch>
                  <a:fillRect l="-92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6AB265F-24F6-994D-BC31-AC6CCF13EE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79673"/>
            <a:ext cx="12192000" cy="3721027"/>
          </a:xfrm>
          <a:prstGeom prst="rect">
            <a:avLst/>
          </a:prstGeom>
        </p:spPr>
      </p:pic>
    </p:spTree>
    <p:extLst>
      <p:ext uri="{BB962C8B-B14F-4D97-AF65-F5344CB8AC3E}">
        <p14:creationId xmlns:p14="http://schemas.microsoft.com/office/powerpoint/2010/main" val="618773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a:t>
            </a:r>
          </a:p>
        </p:txBody>
      </p:sp>
      <p:pic>
        <p:nvPicPr>
          <p:cNvPr id="5" name="Content Placeholder 4">
            <a:extLst>
              <a:ext uri="{FF2B5EF4-FFF2-40B4-BE49-F238E27FC236}">
                <a16:creationId xmlns:a16="http://schemas.microsoft.com/office/drawing/2014/main" id="{4E71C711-1530-9A4C-B83F-0D5C6089F6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4750" y="2002186"/>
            <a:ext cx="8842500" cy="2603073"/>
          </a:xfrm>
        </p:spPr>
      </p:pic>
    </p:spTree>
    <p:extLst>
      <p:ext uri="{BB962C8B-B14F-4D97-AF65-F5344CB8AC3E}">
        <p14:creationId xmlns:p14="http://schemas.microsoft.com/office/powerpoint/2010/main" val="3427323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a:t>
            </a: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5"/>
            <a:ext cx="11353802" cy="4814166"/>
          </a:xfrm>
        </p:spPr>
        <p:txBody>
          <a:bodyPr>
            <a:normAutofit/>
          </a:bodyPr>
          <a:lstStyle/>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marL="0" indent="0">
              <a:lnSpc>
                <a:spcPct val="100000"/>
              </a:lnSpc>
              <a:buNone/>
            </a:pPr>
            <a:endParaRPr lang="en-US" dirty="0">
              <a:latin typeface="Times New Roman" panose="02020603050405020304" pitchFamily="18" charset="0"/>
              <a:cs typeface="Times New Roman" panose="02020603050405020304" pitchFamily="18" charset="0"/>
            </a:endParaRPr>
          </a:p>
          <a:p>
            <a:pPr marL="0" indent="0">
              <a:lnSpc>
                <a:spcPct val="100000"/>
              </a:lnSpc>
              <a:buNone/>
            </a:pPr>
            <a:endParaRPr lang="en-US"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[2]: Contract Bridge Bidding by Learning, Ho and Lin, 2015</a:t>
            </a:r>
          </a:p>
          <a:p>
            <a:pPr lvl="1">
              <a:lnSpc>
                <a:spcPct val="100000"/>
              </a:lnSpc>
            </a:pPr>
            <a:r>
              <a:rPr lang="en-US" sz="2000" dirty="0">
                <a:latin typeface="Times New Roman" panose="02020603050405020304" pitchFamily="18" charset="0"/>
                <a:cs typeface="Times New Roman" panose="02020603050405020304" pitchFamily="18" charset="0"/>
              </a:rPr>
              <a:t>tree model with UCB1</a:t>
            </a:r>
          </a:p>
        </p:txBody>
      </p:sp>
      <p:pic>
        <p:nvPicPr>
          <p:cNvPr id="5" name="Picture 4">
            <a:extLst>
              <a:ext uri="{FF2B5EF4-FFF2-40B4-BE49-F238E27FC236}">
                <a16:creationId xmlns:a16="http://schemas.microsoft.com/office/drawing/2014/main" id="{20BA92B6-DA8D-4D44-802E-B25C1A40AC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046" y="1690688"/>
            <a:ext cx="8366773" cy="3911981"/>
          </a:xfrm>
          <a:prstGeom prst="rect">
            <a:avLst/>
          </a:prstGeom>
        </p:spPr>
      </p:pic>
      <p:pic>
        <p:nvPicPr>
          <p:cNvPr id="7" name="Picture 6">
            <a:extLst>
              <a:ext uri="{FF2B5EF4-FFF2-40B4-BE49-F238E27FC236}">
                <a16:creationId xmlns:a16="http://schemas.microsoft.com/office/drawing/2014/main" id="{7983FDB4-645D-5A48-9A50-B59CE81FF5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7059" y="3660164"/>
            <a:ext cx="3104941" cy="2132003"/>
          </a:xfrm>
          <a:prstGeom prst="rect">
            <a:avLst/>
          </a:prstGeom>
        </p:spPr>
      </p:pic>
    </p:spTree>
    <p:extLst>
      <p:ext uri="{BB962C8B-B14F-4D97-AF65-F5344CB8AC3E}">
        <p14:creationId xmlns:p14="http://schemas.microsoft.com/office/powerpoint/2010/main" val="2434786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a:t>
            </a: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4"/>
            <a:ext cx="10955483" cy="4836433"/>
          </a:xfrm>
        </p:spPr>
        <p:txBody>
          <a:bodyPr>
            <a:normAutofit/>
          </a:bodyPr>
          <a:lstStyle/>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sz="1600" dirty="0">
              <a:latin typeface="Times New Roman" panose="02020603050405020304" pitchFamily="18" charset="0"/>
              <a:cs typeface="Times New Roman" panose="02020603050405020304" pitchFamily="18" charset="0"/>
            </a:endParaRPr>
          </a:p>
          <a:p>
            <a:pPr>
              <a:lnSpc>
                <a:spcPct val="100000"/>
              </a:lnSpc>
            </a:pPr>
            <a:r>
              <a:rPr lang="el-GR" dirty="0">
                <a:latin typeface="Times New Roman" panose="02020603050405020304" pitchFamily="18" charset="0"/>
                <a:cs typeface="Times New Roman" panose="02020603050405020304" pitchFamily="18" charset="0"/>
              </a:rPr>
              <a:t>ε-</a:t>
            </a:r>
            <a:r>
              <a:rPr lang="en-US" dirty="0">
                <a:latin typeface="Times New Roman" panose="02020603050405020304" pitchFamily="18" charset="0"/>
                <a:cs typeface="Times New Roman" panose="02020603050405020304" pitchFamily="18" charset="0"/>
              </a:rPr>
              <a:t>human: the probability uses human bidding system to bid opening bid</a:t>
            </a:r>
          </a:p>
          <a:p>
            <a:pPr>
              <a:lnSpc>
                <a:spcPct val="100000"/>
              </a:lnSpc>
            </a:pPr>
            <a:r>
              <a:rPr lang="en-US" dirty="0">
                <a:latin typeface="Times New Roman" panose="02020603050405020304" pitchFamily="18" charset="0"/>
                <a:cs typeface="Times New Roman" panose="02020603050405020304" pitchFamily="18" charset="0"/>
              </a:rPr>
              <a:t>UCB1 with </a:t>
            </a:r>
            <a:r>
              <a:rPr lang="el-GR" dirty="0">
                <a:latin typeface="Cambria Math" panose="02040503050406030204" pitchFamily="18" charset="0"/>
                <a:ea typeface="Cambria Math" panose="02040503050406030204" pitchFamily="18" charset="0"/>
                <a:cs typeface="Times New Roman" panose="02020603050405020304" pitchFamily="18" charset="0"/>
              </a:rPr>
              <a:t>α</a:t>
            </a:r>
            <a:r>
              <a:rPr lang="en-US" dirty="0">
                <a:latin typeface="Cambria Math" panose="02040503050406030204" pitchFamily="18" charset="0"/>
                <a:ea typeface="Cambria Math" panose="02040503050406030204" pitchFamily="18" charset="0"/>
                <a:cs typeface="Times New Roman" panose="02020603050405020304" pitchFamily="18" charset="0"/>
              </a:rPr>
              <a:t> = 0.1</a:t>
            </a: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69F8DF0-FF75-2540-872A-0E2D4D54E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222" y="1690688"/>
            <a:ext cx="8097556" cy="3858567"/>
          </a:xfrm>
          <a:prstGeom prst="rect">
            <a:avLst/>
          </a:prstGeom>
        </p:spPr>
      </p:pic>
    </p:spTree>
    <p:extLst>
      <p:ext uri="{BB962C8B-B14F-4D97-AF65-F5344CB8AC3E}">
        <p14:creationId xmlns:p14="http://schemas.microsoft.com/office/powerpoint/2010/main" val="2365578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a:t>
            </a:r>
          </a:p>
        </p:txBody>
      </p:sp>
      <p:pic>
        <p:nvPicPr>
          <p:cNvPr id="5" name="Content Placeholder 4">
            <a:extLst>
              <a:ext uri="{FF2B5EF4-FFF2-40B4-BE49-F238E27FC236}">
                <a16:creationId xmlns:a16="http://schemas.microsoft.com/office/drawing/2014/main" id="{13BB0DDE-89B9-FA42-90CB-2ECE479315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72" y="1690688"/>
            <a:ext cx="12085256" cy="4074196"/>
          </a:xfrm>
        </p:spPr>
      </p:pic>
    </p:spTree>
    <p:extLst>
      <p:ext uri="{BB962C8B-B14F-4D97-AF65-F5344CB8AC3E}">
        <p14:creationId xmlns:p14="http://schemas.microsoft.com/office/powerpoint/2010/main" val="1719056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2FD8-4CB3-A145-8E9C-0573499C592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a:t>
            </a:r>
          </a:p>
        </p:txBody>
      </p:sp>
      <p:sp>
        <p:nvSpPr>
          <p:cNvPr id="3" name="Content Placeholder 2">
            <a:extLst>
              <a:ext uri="{FF2B5EF4-FFF2-40B4-BE49-F238E27FC236}">
                <a16:creationId xmlns:a16="http://schemas.microsoft.com/office/drawing/2014/main" id="{17B565CE-CAB5-AD47-993F-3375C1012477}"/>
              </a:ext>
            </a:extLst>
          </p:cNvPr>
          <p:cNvSpPr>
            <a:spLocks noGrp="1"/>
          </p:cNvSpPr>
          <p:nvPr>
            <p:ph idx="1"/>
          </p:nvPr>
        </p:nvSpPr>
        <p:spPr>
          <a:xfrm>
            <a:off x="838198" y="1825624"/>
            <a:ext cx="10955483" cy="5032375"/>
          </a:xfrm>
        </p:spPr>
        <p:txBody>
          <a:bodyPr>
            <a:normAutofit/>
          </a:bodyPr>
          <a:lstStyle/>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sz="2000"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lowest</a:t>
            </a:r>
          </a:p>
          <a:p>
            <a:pPr lvl="1">
              <a:lnSpc>
                <a:spcPct val="100000"/>
              </a:lnSpc>
            </a:pPr>
            <a:r>
              <a:rPr lang="en-US" sz="2000" dirty="0">
                <a:latin typeface="Times New Roman" panose="02020603050405020304" pitchFamily="18" charset="0"/>
                <a:cs typeface="Times New Roman" panose="02020603050405020304" pitchFamily="18" charset="0"/>
              </a:rPr>
              <a:t>the length of each suit and the presence of honors(AKQJ) in each suit</a:t>
            </a:r>
          </a:p>
          <a:p>
            <a:pPr>
              <a:lnSpc>
                <a:spcPct val="100000"/>
              </a:lnSpc>
            </a:pPr>
            <a:r>
              <a:rPr lang="en-US" dirty="0">
                <a:latin typeface="Times New Roman" panose="02020603050405020304" pitchFamily="18" charset="0"/>
                <a:cs typeface="Times New Roman" panose="02020603050405020304" pitchFamily="18" charset="0"/>
              </a:rPr>
              <a:t>median</a:t>
            </a:r>
          </a:p>
          <a:p>
            <a:pPr lvl="1">
              <a:lnSpc>
                <a:spcPct val="100000"/>
              </a:lnSpc>
            </a:pPr>
            <a:r>
              <a:rPr lang="en-US" sz="2000" dirty="0">
                <a:latin typeface="Times New Roman" panose="02020603050405020304" pitchFamily="18" charset="0"/>
                <a:cs typeface="Times New Roman" panose="02020603050405020304" pitchFamily="18" charset="0"/>
              </a:rPr>
              <a:t>the length of each suit and HCP system (A=4, K=3, Q=2, J=1)</a:t>
            </a:r>
          </a:p>
          <a:p>
            <a:pPr>
              <a:lnSpc>
                <a:spcPct val="100000"/>
              </a:lnSpc>
            </a:pPr>
            <a:r>
              <a:rPr lang="en-US" dirty="0">
                <a:latin typeface="Times New Roman" panose="02020603050405020304" pitchFamily="18" charset="0"/>
                <a:cs typeface="Times New Roman" panose="02020603050405020304" pitchFamily="18" charset="0"/>
              </a:rPr>
              <a:t>highest</a:t>
            </a:r>
          </a:p>
          <a:p>
            <a:pPr lvl="1">
              <a:lnSpc>
                <a:spcPct val="100000"/>
              </a:lnSpc>
            </a:pPr>
            <a:r>
              <a:rPr lang="en-US" sz="2000" dirty="0">
                <a:latin typeface="Times New Roman" panose="02020603050405020304" pitchFamily="18" charset="0"/>
                <a:cs typeface="Times New Roman" panose="02020603050405020304" pitchFamily="18" charset="0"/>
              </a:rPr>
              <a:t>features of median and the strength of each suit</a:t>
            </a:r>
          </a:p>
        </p:txBody>
      </p:sp>
      <p:pic>
        <p:nvPicPr>
          <p:cNvPr id="9" name="Picture 8">
            <a:extLst>
              <a:ext uri="{FF2B5EF4-FFF2-40B4-BE49-F238E27FC236}">
                <a16:creationId xmlns:a16="http://schemas.microsoft.com/office/drawing/2014/main" id="{17CB700A-95ED-3340-9CCE-CF65B8BFF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0822" y="1690688"/>
            <a:ext cx="7930233" cy="2660248"/>
          </a:xfrm>
          <a:prstGeom prst="rect">
            <a:avLst/>
          </a:prstGeom>
        </p:spPr>
      </p:pic>
    </p:spTree>
    <p:extLst>
      <p:ext uri="{BB962C8B-B14F-4D97-AF65-F5344CB8AC3E}">
        <p14:creationId xmlns:p14="http://schemas.microsoft.com/office/powerpoint/2010/main" val="2177427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7458</TotalTime>
  <Words>789</Words>
  <Application>Microsoft Macintosh PowerPoint</Application>
  <PresentationFormat>Widescreen</PresentationFormat>
  <Paragraphs>101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新細明體</vt:lpstr>
      <vt:lpstr>Arial</vt:lpstr>
      <vt:lpstr>Calibri</vt:lpstr>
      <vt:lpstr>Calibri Light</vt:lpstr>
      <vt:lpstr>Cambria Math</vt:lpstr>
      <vt:lpstr>Times New Roman</vt:lpstr>
      <vt:lpstr>Office Theme</vt:lpstr>
      <vt:lpstr>Automatic Bridge Bidding Using Deep Reinforcement Learning</vt:lpstr>
      <vt:lpstr>Abstract</vt:lpstr>
      <vt:lpstr>Abstract (Cont.)</vt:lpstr>
      <vt:lpstr>Problem Setup</vt:lpstr>
      <vt:lpstr>Methods</vt:lpstr>
      <vt:lpstr>Bandit Algorithm</vt:lpstr>
      <vt:lpstr>Reinforcement Learning </vt:lpstr>
      <vt:lpstr>Experiment</vt:lpstr>
      <vt:lpstr>Result</vt:lpstr>
      <vt:lpstr>Result</vt:lpstr>
      <vt:lpstr>Result</vt:lpstr>
      <vt:lpstr>Result</vt:lpstr>
      <vt:lpstr>Result</vt:lpstr>
      <vt:lpstr>Result</vt:lpstr>
    </vt:vector>
  </TitlesOfParts>
  <Company/>
  <LinksUpToDate>false</LinksUpToDate>
  <SharedDoc>false</SharedDoc>
  <HyperlinksChanged>false</HyperlinksChanged>
  <AppVersion>16.0009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Boosting a Bridge Artificial Intelligence</dc:title>
  <dc:creator>Microsoft Office 使用者</dc:creator>
  <cp:lastModifiedBy>Microsoft Office 使用者</cp:lastModifiedBy>
  <cp:revision>128</cp:revision>
  <dcterms:created xsi:type="dcterms:W3CDTF">2022-09-25T10:55:58Z</dcterms:created>
  <dcterms:modified xsi:type="dcterms:W3CDTF">2022-11-22T06:48:41Z</dcterms:modified>
</cp:coreProperties>
</file>