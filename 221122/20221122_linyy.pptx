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630" r:id="rId4"/>
    <p:sldId id="631" r:id="rId5"/>
    <p:sldId id="632" r:id="rId6"/>
    <p:sldId id="633" r:id="rId7"/>
    <p:sldId id="634" r:id="rId8"/>
    <p:sldId id="635" r:id="rId9"/>
    <p:sldId id="637" r:id="rId10"/>
    <p:sldId id="639" r:id="rId11"/>
    <p:sldId id="646" r:id="rId12"/>
    <p:sldId id="640" r:id="rId13"/>
    <p:sldId id="641" r:id="rId14"/>
    <p:sldId id="642" r:id="rId15"/>
    <p:sldId id="644" r:id="rId16"/>
    <p:sldId id="645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5E"/>
    <a:srgbClr val="6FC282"/>
    <a:srgbClr val="006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14"/>
    <p:restoredTop sz="97059"/>
  </p:normalViewPr>
  <p:slideViewPr>
    <p:cSldViewPr snapToGrid="0" snapToObjects="1">
      <p:cViewPr varScale="1">
        <p:scale>
          <a:sx n="117" d="100"/>
          <a:sy n="117" d="100"/>
        </p:scale>
        <p:origin x="648" y="16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6ACD4-E003-2242-B9CA-E02B5AF3FB40}" type="datetimeFigureOut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3EC9A-E9ED-9349-8355-BBED17A59AE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275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0166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8319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7438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0143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6060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412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74511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1387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13572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01285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43922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910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2980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056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AEA1F-A529-C543-B122-C79D75A9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DD9FD8-F935-E844-A72C-FAE789896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D9A1-7770-C641-A8C0-606BF98C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FBFA9-06E6-D94C-BFAB-00CD3E67D7CA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BCB7AA-EFDA-274E-84A3-EA456969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44F54-1A74-754B-AE80-2EB58A8C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0472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CB43F-26AB-CF45-BC2B-42C35EFC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E32C75-2052-DB40-A461-36210C8B9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B5B8BB-C487-024F-8342-82E120D7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A9F56-7251-2A4E-B88C-9FA56DA971A2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DB6457-5B1C-5C43-993D-27829244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62B42F-8467-404B-993B-90C6AB09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636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170811-0E27-3F4A-9FC4-E738C4884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E5B833-DE7E-514A-A3BB-498EA25F8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9012DC-A094-0C49-AF63-77A9BC0C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ABE05-D7D8-CE48-BED7-FADBCDD058D3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681F3F-8B18-5E4A-B94C-E0F04F6D7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F5FF4F-5214-DD4B-855C-6B9371D13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304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882D9-952A-8D49-808D-F9C724C4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B7EE43-F00B-574A-B051-D41906747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37477A-8891-A04E-BAB7-2A9063F3A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D9D3DB-CD12-0D44-BC6B-9E01517E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8AEDC-7C8B-3540-9A2F-CC1D71E85B37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F5FDC-A454-3542-889C-DB427845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C0BA6C-365F-7247-8F1F-800FCF56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513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1E6E4-8C26-9845-A608-845A29D9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D56C9F-BAB2-A44F-9FB7-0DD4FABE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49941A-4AF2-DE4C-8872-DB58DD0FD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13D1809-F7A2-1442-945E-4020E7A08E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06F2CD3-B24B-3A49-8455-4F00DFEAF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8489589-56C1-5A4B-AFBA-BFF118CFC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8F2B-828C-4346-A20E-816C69F070C7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B040059-A5AC-E542-9B5A-8610AC2B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ACD37C-461B-F740-AEBD-13A5C588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8261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A07EF-BD14-6A4E-9E7A-01112770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516926-65AB-2B43-8956-806D63E4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5EDE7-124B-8648-A6E1-0F7BD60577D5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1506ED5-ACE4-8543-AB63-CAD9A1CF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937CF-BB72-C745-9D22-A91A17D4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81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D695AD6-1153-9040-AB1D-B2D44ABA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F867-330B-B940-B03B-359E64A64E91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15C32C-4453-0C45-8886-0FE61DFFE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6D8C40-590C-6948-B426-EEC75AA4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44866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C40CD-D888-CE44-8EA1-870871B2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717B6F-F2B3-E74B-A6AC-1F8A73FEF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026A48-EF1D-AC4D-BBCE-6A5E3F68C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9D3DA3-4F7A-E84C-8D0C-4136384AA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C841B-36FA-B747-9C29-B2CC33419BAD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622E9-EF61-B240-BCA9-ED4FEE18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45D1D9-45C8-2747-A836-4C540ADA4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705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F1945-5D1A-FA42-B151-1902F077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AE12B54-DEE8-CD44-80D0-699B3EC76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32D9B0-9463-9A41-950F-9BF96DB3B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17CBBB-F497-3F47-A634-7E1C26A6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611F8-3573-2C4D-942C-15D8B1AFD37A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72FF00-F770-D24D-BC3C-96839028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E96447-76E1-3441-BF93-0AD4F6A3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792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EADACA-591C-894C-8A56-E9039DC8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34F77E-58B2-F642-A872-DFADE8503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7DD8E6-742C-0046-98FB-C68B25E9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C2E09-2527-7F4B-A110-6FBD9BD98EA4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1A71D3-388B-514F-8378-18AAC64F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9FA401-5A1D-EB45-897D-9BC4EA39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871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F60141-0602-B742-8666-ECC19E88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AE28AB-9E4D-BC42-8236-186DA1B7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D0288D-DAAC-F54F-BFDB-B956C149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37416-B0F7-124A-B838-350974E17640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7B70EB-CA3F-B94B-BE42-35D4ACFD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C76C1B-159C-6448-A7AB-D9F42BF9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4621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E7502D-DE5C-784A-9CEB-7BE7BC05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1151CC-D4D4-2743-A29A-CC244CCF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53E478-1C82-2041-9B51-0C1B1A0E5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F2B49-F11D-2146-BF8E-8F79505A16F7}" type="datetime1">
              <a:rPr kumimoji="1" lang="zh-TW" altLang="en-US" smtClean="0"/>
              <a:t>2022/11/22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56AFCE-4718-5242-B260-6133B61B1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F70ED3-ECE3-3A4A-A44B-2CD3BC618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7E222-40AC-AD4D-BFFA-C06E99EC547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0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and Nested Subgame Solving for</a:t>
            </a:r>
            <a:r>
              <a:rPr kumimoji="1" lang="zh-TW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Imperfect-Information Games</a:t>
            </a:r>
            <a:endParaRPr kumimoji="1" lang="en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fontAlgn="ctr"/>
            <a:r>
              <a:rPr lang="en-US" altLang="zh-TW" dirty="0"/>
              <a:t>Noam Brown, </a:t>
            </a:r>
            <a:r>
              <a:rPr lang="en-US" altLang="zh-TW" dirty="0" err="1"/>
              <a:t>Tuomas</a:t>
            </a:r>
            <a:r>
              <a:rPr lang="en-US" altLang="zh-TW" dirty="0"/>
              <a:t> </a:t>
            </a:r>
            <a:r>
              <a:rPr lang="en-US" altLang="zh-TW" dirty="0" err="1"/>
              <a:t>Sandholm</a:t>
            </a:r>
            <a:endParaRPr lang="en-US" altLang="zh-TW" dirty="0"/>
          </a:p>
          <a:p>
            <a:pPr fontAlgn="ctr"/>
            <a:r>
              <a:rPr lang="en-US" altLang="zh-TW" dirty="0">
                <a:latin typeface="Times New Roman"/>
                <a:ea typeface="+mn-lt"/>
                <a:cs typeface="+mn-lt"/>
              </a:rPr>
              <a:t>the 31st International Conference on Neural Information Processing Systems, December 2017, pp. 689-699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Ying-Yu Lin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Nov.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</a:t>
            </a: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456"/>
            <a:ext cx="10863804" cy="510362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imperfect-information games, the optimal strategy in a subgame may depend on the strategy in other, unreached subgames. Thus a subgame cannot be solved in isolation and must instead consider the strategy for the entire game as a whole, unlike perfect-information games. Nevertheless, it is possible to first approximate a solution for the whole game and then improve it in individual subgames. This is referred to as subgame solving. We introduce subgame-solving techniques that outperform prior methods both in theory and practice. We also show how to adapt them, and past subgame-solving techniques, to respond to opponent actions that are outside the original action abstraction; this significantly outperforms the prior state-of-the-art approach, action translation. Finally, we show that subgame solving can be repeated as the game progresses down the game tree, leading to far lower exploitability. These techniques were a key component of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Libratus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first AI to defeat top humans in heads-up no-limit Texas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hold'em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poker.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Why are imperfect-information games hard?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Because an optimal strategy for a subgame cannot be determined from that subgame alone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595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Coin Toss - Case1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4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593304" y="1619104"/>
            <a:ext cx="5511621" cy="4212546"/>
            <a:chOff x="4023584" y="1619104"/>
            <a:chExt cx="5511621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920968" y="312235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316259" y="315278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847732" y="434134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963773" y="438448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777819" y="440320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878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P2 always guess Heads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P1:in average $0.75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0.5*0.5+0.5*1=0.75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CD4DC6-1630-73A8-C749-39E7CF8B8C56}"/>
              </a:ext>
            </a:extLst>
          </p:cNvPr>
          <p:cNvSpPr txBox="1"/>
          <p:nvPr/>
        </p:nvSpPr>
        <p:spPr>
          <a:xfrm rot="19288165">
            <a:off x="5662043" y="3151582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Sell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54B0D1-0E05-5702-8D44-204D269892F4}"/>
              </a:ext>
            </a:extLst>
          </p:cNvPr>
          <p:cNvSpPr txBox="1"/>
          <p:nvPr/>
        </p:nvSpPr>
        <p:spPr>
          <a:xfrm rot="2276392">
            <a:off x="9705556" y="3162534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Play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10F0AAF-6146-C6C8-1958-E97806867BD6}"/>
              </a:ext>
            </a:extLst>
          </p:cNvPr>
          <p:cNvSpPr txBox="1"/>
          <p:nvPr/>
        </p:nvSpPr>
        <p:spPr>
          <a:xfrm rot="17340842">
            <a:off x="9204837" y="438448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Heads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726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Coin Toss – Case2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5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593304" y="1619104"/>
            <a:ext cx="5511621" cy="4212546"/>
            <a:chOff x="4023584" y="1619104"/>
            <a:chExt cx="5511621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4092323" y="3151582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135836" y="3162534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847732" y="434134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635117" y="4384481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777819" y="440320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878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P2 always guess Tails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P1:in average $0.25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0.5*1+0.5*(-0.5)=0.25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F0A4A22-FBE3-7EC5-9D63-F662512D5E60}"/>
              </a:ext>
            </a:extLst>
          </p:cNvPr>
          <p:cNvSpPr txBox="1"/>
          <p:nvPr/>
        </p:nvSpPr>
        <p:spPr>
          <a:xfrm rot="2276392">
            <a:off x="6885979" y="31527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Play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8B6860A-9EC5-35C2-222F-1C6A21696CC3}"/>
              </a:ext>
            </a:extLst>
          </p:cNvPr>
          <p:cNvSpPr txBox="1"/>
          <p:nvPr/>
        </p:nvSpPr>
        <p:spPr>
          <a:xfrm rot="4407779">
            <a:off x="7533493" y="438448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Tails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D449F88-51BB-8B9B-5FA3-ED1E1A19FB9B}"/>
              </a:ext>
            </a:extLst>
          </p:cNvPr>
          <p:cNvSpPr txBox="1"/>
          <p:nvPr/>
        </p:nvSpPr>
        <p:spPr>
          <a:xfrm rot="19288165">
            <a:off x="8490688" y="3122356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Sell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613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Coin Toss – Case3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6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593304" y="1619104"/>
            <a:ext cx="5511621" cy="4212546"/>
            <a:chOff x="4023584" y="1619104"/>
            <a:chExt cx="5511621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4092323" y="3151582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920968" y="312235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316259" y="315278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135836" y="3162534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847732" y="434134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635117" y="4384481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963773" y="438448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777819" y="440320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878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P2 guess Heads with 25% and Tails with 75%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P1:in average $0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6FC4703-B436-BB63-0C68-3AEE888EEF6A}"/>
              </a:ext>
            </a:extLst>
          </p:cNvPr>
          <p:cNvSpPr txBox="1"/>
          <p:nvPr/>
        </p:nvSpPr>
        <p:spPr>
          <a:xfrm>
            <a:off x="6986624" y="3679021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BB12E5-580C-6C37-75F3-A1F0E4DD7F91}"/>
              </a:ext>
            </a:extLst>
          </p:cNvPr>
          <p:cNvSpPr txBox="1"/>
          <p:nvPr/>
        </p:nvSpPr>
        <p:spPr>
          <a:xfrm>
            <a:off x="9704506" y="3721350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76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Coin Toss – Case4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7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593304" y="1619104"/>
            <a:ext cx="5511621" cy="4212546"/>
            <a:chOff x="4023584" y="1619104"/>
            <a:chExt cx="5511621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4092323" y="3151582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920968" y="312235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316259" y="315278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135836" y="3162534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847732" y="4341349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635117" y="4384481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963773" y="4384480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777819" y="440320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9544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878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P2’ s optimal strategy is to guess Heads with 75% and to guess Tails with 25%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This show that a player’ s optimal strategy in a subgame can depend on the strategies and outcomes in other parts of the game.</a:t>
            </a:r>
          </a:p>
        </p:txBody>
      </p:sp>
    </p:spTree>
    <p:extLst>
      <p:ext uri="{BB962C8B-B14F-4D97-AF65-F5344CB8AC3E}">
        <p14:creationId xmlns:p14="http://schemas.microsoft.com/office/powerpoint/2010/main" val="1238310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Unsafe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8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918336" y="1619104"/>
            <a:ext cx="5537109" cy="4212546"/>
            <a:chOff x="3998096" y="1619104"/>
            <a:chExt cx="5537109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3998096" y="289627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P=0.2</a:t>
              </a:r>
            </a:p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828191" y="288921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P=0.7</a:t>
              </a:r>
            </a:p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411631" y="290607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P=0.8</a:t>
              </a:r>
            </a:p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222541" y="2918658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P=0.3</a:t>
              </a:r>
            </a:p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998250" y="4334215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766061" y="4360564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P=1.0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816832" y="4356796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602711" y="43790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P=0.0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8714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Estimate the opponent’ s strategy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This gives a belief distribution over states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Update beliefs via Bayes Rule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D62B3B-1DFC-404B-D748-3FB4276286C2}"/>
              </a:ext>
            </a:extLst>
          </p:cNvPr>
          <p:cNvSpPr txBox="1"/>
          <p:nvPr/>
        </p:nvSpPr>
        <p:spPr>
          <a:xfrm>
            <a:off x="6117696" y="2001419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50%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AA94DE5-70A1-BB35-004E-2DC58CF1419A}"/>
              </a:ext>
            </a:extLst>
          </p:cNvPr>
          <p:cNvSpPr txBox="1"/>
          <p:nvPr/>
        </p:nvSpPr>
        <p:spPr>
          <a:xfrm>
            <a:off x="9791296" y="1964640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50%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2A7D187-F39D-3A66-00C0-952B0CD71988}"/>
              </a:ext>
            </a:extLst>
          </p:cNvPr>
          <p:cNvSpPr txBox="1"/>
          <p:nvPr/>
        </p:nvSpPr>
        <p:spPr>
          <a:xfrm>
            <a:off x="5835264" y="3907136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73%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4B0159-5630-581D-6E99-EFFA69279349}"/>
              </a:ext>
            </a:extLst>
          </p:cNvPr>
          <p:cNvSpPr txBox="1"/>
          <p:nvPr/>
        </p:nvSpPr>
        <p:spPr>
          <a:xfrm>
            <a:off x="10903878" y="3570905"/>
            <a:ext cx="1192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6F5E"/>
                </a:solidFill>
              </a:rPr>
              <a:t>27% Probability</a:t>
            </a:r>
            <a:endParaRPr lang="zh-TW" altLang="en-US" dirty="0">
              <a:solidFill>
                <a:srgbClr val="FF6F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739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Safe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9</a:t>
            </a:fld>
            <a:endParaRPr kumimoji="1" lang="zh-TW" altLang="en-US"/>
          </a:p>
        </p:txBody>
      </p:sp>
      <p:grpSp>
        <p:nvGrpSpPr>
          <p:cNvPr id="80" name="群組 79">
            <a:extLst>
              <a:ext uri="{FF2B5EF4-FFF2-40B4-BE49-F238E27FC236}">
                <a16:creationId xmlns:a16="http://schemas.microsoft.com/office/drawing/2014/main" id="{7C43AB98-62D7-3B40-9699-73FFE4DD4365}"/>
              </a:ext>
            </a:extLst>
          </p:cNvPr>
          <p:cNvGrpSpPr/>
          <p:nvPr/>
        </p:nvGrpSpPr>
        <p:grpSpPr>
          <a:xfrm>
            <a:off x="5943824" y="1619104"/>
            <a:ext cx="5511621" cy="4212546"/>
            <a:chOff x="4023584" y="1619104"/>
            <a:chExt cx="5511621" cy="4212546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45155BCB-B3C3-830E-AC4D-381B9394CDBB}"/>
                </a:ext>
              </a:extLst>
            </p:cNvPr>
            <p:cNvSpPr/>
            <p:nvPr/>
          </p:nvSpPr>
          <p:spPr>
            <a:xfrm>
              <a:off x="6092931" y="1619104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2F1BA44-BB39-4FE2-E8E6-D44B91A4BBEA}"/>
                </a:ext>
              </a:extLst>
            </p:cNvPr>
            <p:cNvSpPr/>
            <p:nvPr/>
          </p:nvSpPr>
          <p:spPr>
            <a:xfrm>
              <a:off x="4694299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5DF5744F-0FB0-830B-017F-5766A2D57A5B}"/>
                </a:ext>
              </a:extLst>
            </p:cNvPr>
            <p:cNvSpPr/>
            <p:nvPr/>
          </p:nvSpPr>
          <p:spPr>
            <a:xfrm>
              <a:off x="7491562" y="263204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DFCB683-FB37-5596-A9B1-6F87A8F18530}"/>
                </a:ext>
              </a:extLst>
            </p:cNvPr>
            <p:cNvCxnSpPr>
              <a:cxnSpLocks/>
              <a:stCxn id="5" idx="3"/>
              <a:endCxn id="6" idx="7"/>
            </p:cNvCxnSpPr>
            <p:nvPr/>
          </p:nvCxnSpPr>
          <p:spPr>
            <a:xfrm flipH="1">
              <a:off x="5374543" y="2299348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14BDB301-76C5-7DB3-BD00-066617F78E2E}"/>
                </a:ext>
              </a:extLst>
            </p:cNvPr>
            <p:cNvCxnSpPr>
              <a:cxnSpLocks/>
              <a:stCxn id="5" idx="5"/>
              <a:endCxn id="7" idx="1"/>
            </p:cNvCxnSpPr>
            <p:nvPr/>
          </p:nvCxnSpPr>
          <p:spPr>
            <a:xfrm>
              <a:off x="6773175" y="2299348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0D11A9AB-B291-2A21-A31B-0F08004CDB51}"/>
                </a:ext>
              </a:extLst>
            </p:cNvPr>
            <p:cNvSpPr/>
            <p:nvPr/>
          </p:nvSpPr>
          <p:spPr>
            <a:xfrm>
              <a:off x="5416904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197D2E68-187F-AC2B-2854-ED0A75C3F317}"/>
                </a:ext>
              </a:extLst>
            </p:cNvPr>
            <p:cNvCxnSpPr>
              <a:cxnSpLocks/>
              <a:stCxn id="6" idx="5"/>
              <a:endCxn id="14" idx="0"/>
            </p:cNvCxnSpPr>
            <p:nvPr/>
          </p:nvCxnSpPr>
          <p:spPr>
            <a:xfrm>
              <a:off x="5374543" y="3312289"/>
              <a:ext cx="44083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81C29B23-E738-4B4D-79C5-27CEFAC5795C}"/>
                </a:ext>
              </a:extLst>
            </p:cNvPr>
            <p:cNvSpPr/>
            <p:nvPr/>
          </p:nvSpPr>
          <p:spPr>
            <a:xfrm>
              <a:off x="8186683" y="364498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直線單箭頭接點 27">
              <a:extLst>
                <a:ext uri="{FF2B5EF4-FFF2-40B4-BE49-F238E27FC236}">
                  <a16:creationId xmlns:a16="http://schemas.microsoft.com/office/drawing/2014/main" id="{BE332051-1703-0676-D18A-CD7D9034D10C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393462" y="3312289"/>
              <a:ext cx="417548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5051FFE2-5C70-57C8-F45D-FB314D997E1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190724" y="3312289"/>
              <a:ext cx="417549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單箭頭接點 31">
              <a:extLst>
                <a:ext uri="{FF2B5EF4-FFF2-40B4-BE49-F238E27FC236}">
                  <a16:creationId xmlns:a16="http://schemas.microsoft.com/office/drawing/2014/main" id="{E7C36216-B0F4-69BF-325F-63FFEF2BFA21}"/>
                </a:ext>
              </a:extLst>
            </p:cNvPr>
            <p:cNvCxnSpPr>
              <a:cxnSpLocks/>
              <a:stCxn id="7" idx="5"/>
            </p:cNvCxnSpPr>
            <p:nvPr/>
          </p:nvCxnSpPr>
          <p:spPr>
            <a:xfrm>
              <a:off x="8171806" y="3312289"/>
              <a:ext cx="455694" cy="33269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E4D4CD4F-8203-5CB5-E886-5CB955E80C8F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H="1">
              <a:off x="5270385" y="4325229"/>
              <a:ext cx="263230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>
              <a:extLst>
                <a:ext uri="{FF2B5EF4-FFF2-40B4-BE49-F238E27FC236}">
                  <a16:creationId xmlns:a16="http://schemas.microsoft.com/office/drawing/2014/main" id="{77018CA8-EF3B-231C-8B72-55F86E751BD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6097148" y="4325229"/>
              <a:ext cx="21948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C1A08F42-7DF7-86EC-1431-E208D47FFCC7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8056928" y="4325229"/>
              <a:ext cx="246466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>
              <a:extLst>
                <a:ext uri="{FF2B5EF4-FFF2-40B4-BE49-F238E27FC236}">
                  <a16:creationId xmlns:a16="http://schemas.microsoft.com/office/drawing/2014/main" id="{663A6752-17C3-0E4E-2E9C-FAA404780C80}"/>
                </a:ext>
              </a:extLst>
            </p:cNvPr>
            <p:cNvCxnSpPr>
              <a:cxnSpLocks/>
              <a:stCxn id="24" idx="5"/>
            </p:cNvCxnSpPr>
            <p:nvPr/>
          </p:nvCxnSpPr>
          <p:spPr>
            <a:xfrm>
              <a:off x="8866927" y="4325229"/>
              <a:ext cx="269801" cy="7094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E2A13B0-11E1-912F-980F-71C6D1145272}"/>
                </a:ext>
              </a:extLst>
            </p:cNvPr>
            <p:cNvSpPr txBox="1"/>
            <p:nvPr/>
          </p:nvSpPr>
          <p:spPr>
            <a:xfrm rot="1710687">
              <a:off x="6920967" y="1900481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569DD834-516D-B0F6-57F5-6CBFC4670E97}"/>
                </a:ext>
              </a:extLst>
            </p:cNvPr>
            <p:cNvSpPr txBox="1"/>
            <p:nvPr/>
          </p:nvSpPr>
          <p:spPr>
            <a:xfrm rot="19915633">
              <a:off x="5269344" y="1893077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D0485FD-593E-3557-082F-F546EB63346F}"/>
                </a:ext>
              </a:extLst>
            </p:cNvPr>
            <p:cNvSpPr txBox="1"/>
            <p:nvPr/>
          </p:nvSpPr>
          <p:spPr>
            <a:xfrm rot="19288165">
              <a:off x="4105510" y="3143611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A7B94F32-E787-387C-152B-BA8D4486A63D}"/>
                </a:ext>
              </a:extLst>
            </p:cNvPr>
            <p:cNvSpPr txBox="1"/>
            <p:nvPr/>
          </p:nvSpPr>
          <p:spPr>
            <a:xfrm rot="19288165">
              <a:off x="6892343" y="3148588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Sell</a:t>
              </a:r>
              <a:endParaRPr lang="zh-TW" altLang="en-US" dirty="0"/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D0A8A067-EACC-E1AB-C7D2-86CDFE7EBA06}"/>
                </a:ext>
              </a:extLst>
            </p:cNvPr>
            <p:cNvSpPr txBox="1"/>
            <p:nvPr/>
          </p:nvSpPr>
          <p:spPr>
            <a:xfrm rot="2276392">
              <a:off x="5305753" y="3150637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F260503-338D-E974-E4B2-20F4ED7550AF}"/>
                </a:ext>
              </a:extLst>
            </p:cNvPr>
            <p:cNvSpPr txBox="1"/>
            <p:nvPr/>
          </p:nvSpPr>
          <p:spPr>
            <a:xfrm rot="2276392">
              <a:off x="8117464" y="3163416"/>
              <a:ext cx="7969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Play</a:t>
              </a:r>
              <a:endParaRPr lang="zh-TW" altLang="en-US" dirty="0"/>
            </a:p>
          </p:txBody>
        </p: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074808F5-BB6C-AFD1-09BC-A150B0F1A91D}"/>
                </a:ext>
              </a:extLst>
            </p:cNvPr>
            <p:cNvCxnSpPr>
              <a:stCxn id="14" idx="6"/>
              <a:endCxn id="24" idx="2"/>
            </p:cNvCxnSpPr>
            <p:nvPr/>
          </p:nvCxnSpPr>
          <p:spPr>
            <a:xfrm>
              <a:off x="6213859" y="4043463"/>
              <a:ext cx="1972824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A0C71575-0349-F513-C17E-C3FE40CE1B9D}"/>
                </a:ext>
              </a:extLst>
            </p:cNvPr>
            <p:cNvSpPr txBox="1"/>
            <p:nvPr/>
          </p:nvSpPr>
          <p:spPr>
            <a:xfrm rot="17482236">
              <a:off x="4944549" y="4370867"/>
              <a:ext cx="8756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P=0.75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07FB05D9-A137-B137-F0B6-318EDF78DA17}"/>
                </a:ext>
              </a:extLst>
            </p:cNvPr>
            <p:cNvSpPr txBox="1"/>
            <p:nvPr/>
          </p:nvSpPr>
          <p:spPr>
            <a:xfrm rot="17340842">
              <a:off x="7733935" y="4315513"/>
              <a:ext cx="8922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P=0.75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D4AAF4F-4816-9CF2-136B-D8BB3F72F162}"/>
                </a:ext>
              </a:extLst>
            </p:cNvPr>
            <p:cNvSpPr txBox="1"/>
            <p:nvPr/>
          </p:nvSpPr>
          <p:spPr>
            <a:xfrm rot="4407779">
              <a:off x="5774915" y="4412967"/>
              <a:ext cx="9141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P=0.25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F81EBB5C-3F0A-AB6E-72D0-73EF00B41F4E}"/>
                </a:ext>
              </a:extLst>
            </p:cNvPr>
            <p:cNvSpPr txBox="1"/>
            <p:nvPr/>
          </p:nvSpPr>
          <p:spPr>
            <a:xfrm rot="4200141">
              <a:off x="8564973" y="4432932"/>
              <a:ext cx="911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P=0.25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68" name="橢圓 67">
              <a:extLst>
                <a:ext uri="{FF2B5EF4-FFF2-40B4-BE49-F238E27FC236}">
                  <a16:creationId xmlns:a16="http://schemas.microsoft.com/office/drawing/2014/main" id="{496625C8-0975-B6E8-F777-719A112A397D}"/>
                </a:ext>
              </a:extLst>
            </p:cNvPr>
            <p:cNvSpPr/>
            <p:nvPr/>
          </p:nvSpPr>
          <p:spPr>
            <a:xfrm>
              <a:off x="4870035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E13FB1DC-89FD-6822-F49F-F0F1A8CBF478}"/>
                </a:ext>
              </a:extLst>
            </p:cNvPr>
            <p:cNvSpPr/>
            <p:nvPr/>
          </p:nvSpPr>
          <p:spPr>
            <a:xfrm>
              <a:off x="5963772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D9201F20-9278-DC2D-E3CA-0AAEE3B3D8CE}"/>
                </a:ext>
              </a:extLst>
            </p:cNvPr>
            <p:cNvSpPr/>
            <p:nvPr/>
          </p:nvSpPr>
          <p:spPr>
            <a:xfrm>
              <a:off x="7635116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E7000EB2-E132-750A-5EEC-2DAC554BD213}"/>
                </a:ext>
              </a:extLst>
            </p:cNvPr>
            <p:cNvSpPr/>
            <p:nvPr/>
          </p:nvSpPr>
          <p:spPr>
            <a:xfrm>
              <a:off x="8738250" y="5034695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-1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990343D5-BEEE-201C-5FD7-BB9F2A4326F2}"/>
                </a:ext>
              </a:extLst>
            </p:cNvPr>
            <p:cNvSpPr txBox="1"/>
            <p:nvPr/>
          </p:nvSpPr>
          <p:spPr>
            <a:xfrm>
              <a:off x="4023584" y="3644985"/>
              <a:ext cx="900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EV=-0.5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B5EDBFC-5D63-B932-CF55-8066C5AB1C33}"/>
                </a:ext>
              </a:extLst>
            </p:cNvPr>
            <p:cNvSpPr txBox="1"/>
            <p:nvPr/>
          </p:nvSpPr>
          <p:spPr>
            <a:xfrm>
              <a:off x="6794875" y="3644985"/>
              <a:ext cx="934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accent1"/>
                  </a:solidFill>
                </a:rPr>
                <a:t>EV=0.5</a:t>
              </a:r>
              <a:endParaRPr lang="zh-TW" altLang="en-U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Estimate what the expected value is for the opponent’ s subgame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018FEF7-E60F-B3BF-FDA4-7A1B6D1C7CAC}"/>
              </a:ext>
            </a:extLst>
          </p:cNvPr>
          <p:cNvSpPr txBox="1"/>
          <p:nvPr/>
        </p:nvSpPr>
        <p:spPr>
          <a:xfrm>
            <a:off x="7301951" y="3711880"/>
            <a:ext cx="900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812F481-ED7A-EB5B-F059-9AD6F61170A2}"/>
              </a:ext>
            </a:extLst>
          </p:cNvPr>
          <p:cNvSpPr txBox="1"/>
          <p:nvPr/>
        </p:nvSpPr>
        <p:spPr>
          <a:xfrm>
            <a:off x="10095496" y="3713489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83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Reach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10</a:t>
            </a:fld>
            <a:endParaRPr kumimoji="1" lang="zh-TW" altLang="en-US"/>
          </a:p>
        </p:txBody>
      </p: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P1:in average $0.25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0.5*0.5+0.5*0=0.25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8989A2FD-9F49-EEBE-80F3-AA33BAB1E66E}"/>
              </a:ext>
            </a:extLst>
          </p:cNvPr>
          <p:cNvSpPr/>
          <p:nvPr/>
        </p:nvSpPr>
        <p:spPr>
          <a:xfrm>
            <a:off x="7111754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41AE51CB-81A3-A1CB-60A6-18A3A3DDBE9B}"/>
              </a:ext>
            </a:extLst>
          </p:cNvPr>
          <p:cNvSpPr/>
          <p:nvPr/>
        </p:nvSpPr>
        <p:spPr>
          <a:xfrm>
            <a:off x="9909017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B914B122-29AA-EC5F-71CB-D9905FA4DC16}"/>
              </a:ext>
            </a:extLst>
          </p:cNvPr>
          <p:cNvSpPr/>
          <p:nvPr/>
        </p:nvSpPr>
        <p:spPr>
          <a:xfrm>
            <a:off x="7834359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4107B6DB-EF99-5FB1-8251-097222043775}"/>
              </a:ext>
            </a:extLst>
          </p:cNvPr>
          <p:cNvCxnSpPr>
            <a:cxnSpLocks/>
            <a:stCxn id="136" idx="5"/>
            <a:endCxn id="138" idx="0"/>
          </p:cNvCxnSpPr>
          <p:nvPr/>
        </p:nvCxnSpPr>
        <p:spPr>
          <a:xfrm>
            <a:off x="7791998" y="3771977"/>
            <a:ext cx="440839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橢圓 139">
            <a:extLst>
              <a:ext uri="{FF2B5EF4-FFF2-40B4-BE49-F238E27FC236}">
                <a16:creationId xmlns:a16="http://schemas.microsoft.com/office/drawing/2014/main" id="{713AB1CE-E678-A515-2478-764F5A173C22}"/>
              </a:ext>
            </a:extLst>
          </p:cNvPr>
          <p:cNvSpPr/>
          <p:nvPr/>
        </p:nvSpPr>
        <p:spPr>
          <a:xfrm>
            <a:off x="10604138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4F4B3325-8509-03DD-62EA-23227991DA4B}"/>
              </a:ext>
            </a:extLst>
          </p:cNvPr>
          <p:cNvCxnSpPr>
            <a:cxnSpLocks/>
            <a:stCxn id="136" idx="3"/>
          </p:cNvCxnSpPr>
          <p:nvPr/>
        </p:nvCxnSpPr>
        <p:spPr>
          <a:xfrm flipH="1">
            <a:off x="6810917" y="3771977"/>
            <a:ext cx="417548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>
            <a:extLst>
              <a:ext uri="{FF2B5EF4-FFF2-40B4-BE49-F238E27FC236}">
                <a16:creationId xmlns:a16="http://schemas.microsoft.com/office/drawing/2014/main" id="{059DA20B-2B03-C8F1-76FF-9EF7E8891B78}"/>
              </a:ext>
            </a:extLst>
          </p:cNvPr>
          <p:cNvCxnSpPr>
            <a:cxnSpLocks/>
            <a:stCxn id="137" idx="3"/>
          </p:cNvCxnSpPr>
          <p:nvPr/>
        </p:nvCxnSpPr>
        <p:spPr>
          <a:xfrm flipH="1">
            <a:off x="9608179" y="3771977"/>
            <a:ext cx="417549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>
            <a:extLst>
              <a:ext uri="{FF2B5EF4-FFF2-40B4-BE49-F238E27FC236}">
                <a16:creationId xmlns:a16="http://schemas.microsoft.com/office/drawing/2014/main" id="{C7C60F7D-3990-8B25-A8AE-59FD1257879D}"/>
              </a:ext>
            </a:extLst>
          </p:cNvPr>
          <p:cNvCxnSpPr>
            <a:cxnSpLocks/>
            <a:stCxn id="137" idx="5"/>
          </p:cNvCxnSpPr>
          <p:nvPr/>
        </p:nvCxnSpPr>
        <p:spPr>
          <a:xfrm>
            <a:off x="10589261" y="3771977"/>
            <a:ext cx="455694" cy="332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>
            <a:extLst>
              <a:ext uri="{FF2B5EF4-FFF2-40B4-BE49-F238E27FC236}">
                <a16:creationId xmlns:a16="http://schemas.microsoft.com/office/drawing/2014/main" id="{C4ACCA6E-5F61-64D2-04AE-790A829895CB}"/>
              </a:ext>
            </a:extLst>
          </p:cNvPr>
          <p:cNvCxnSpPr>
            <a:cxnSpLocks/>
            <a:stCxn id="138" idx="3"/>
          </p:cNvCxnSpPr>
          <p:nvPr/>
        </p:nvCxnSpPr>
        <p:spPr>
          <a:xfrm flipH="1">
            <a:off x="7687840" y="4784917"/>
            <a:ext cx="263230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875B7AC2-48E4-41E3-1BB1-19B1F95FB383}"/>
              </a:ext>
            </a:extLst>
          </p:cNvPr>
          <p:cNvCxnSpPr>
            <a:cxnSpLocks/>
            <a:stCxn id="138" idx="5"/>
          </p:cNvCxnSpPr>
          <p:nvPr/>
        </p:nvCxnSpPr>
        <p:spPr>
          <a:xfrm>
            <a:off x="8514603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6D9DAC5E-D2C4-E39F-A457-CEFD0D9607CA}"/>
              </a:ext>
            </a:extLst>
          </p:cNvPr>
          <p:cNvCxnSpPr>
            <a:cxnSpLocks/>
            <a:stCxn id="140" idx="3"/>
          </p:cNvCxnSpPr>
          <p:nvPr/>
        </p:nvCxnSpPr>
        <p:spPr>
          <a:xfrm flipH="1">
            <a:off x="10474383" y="4784917"/>
            <a:ext cx="246466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>
            <a:extLst>
              <a:ext uri="{FF2B5EF4-FFF2-40B4-BE49-F238E27FC236}">
                <a16:creationId xmlns:a16="http://schemas.microsoft.com/office/drawing/2014/main" id="{87E8C679-349D-EA42-252F-E90C31D1305C}"/>
              </a:ext>
            </a:extLst>
          </p:cNvPr>
          <p:cNvCxnSpPr>
            <a:cxnSpLocks/>
            <a:stCxn id="140" idx="5"/>
          </p:cNvCxnSpPr>
          <p:nvPr/>
        </p:nvCxnSpPr>
        <p:spPr>
          <a:xfrm>
            <a:off x="11284382" y="4784917"/>
            <a:ext cx="26980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AAA6CDFD-208D-12D5-D0B0-5828224C4F77}"/>
              </a:ext>
            </a:extLst>
          </p:cNvPr>
          <p:cNvSpPr txBox="1"/>
          <p:nvPr/>
        </p:nvSpPr>
        <p:spPr>
          <a:xfrm rot="19288165">
            <a:off x="6509778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Sell</a:t>
            </a:r>
            <a:endParaRPr lang="zh-TW" altLang="en-US" dirty="0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9EBFD926-EE5A-AB43-C3FE-C1BDAB5B9B45}"/>
              </a:ext>
            </a:extLst>
          </p:cNvPr>
          <p:cNvSpPr txBox="1"/>
          <p:nvPr/>
        </p:nvSpPr>
        <p:spPr>
          <a:xfrm rot="19288165">
            <a:off x="9338423" y="3582044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Sell</a:t>
            </a:r>
            <a:endParaRPr lang="zh-TW" altLang="en-US" dirty="0"/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0CD3094C-DDD6-BD09-BF93-867F5CC229BB}"/>
              </a:ext>
            </a:extLst>
          </p:cNvPr>
          <p:cNvSpPr txBox="1"/>
          <p:nvPr/>
        </p:nvSpPr>
        <p:spPr>
          <a:xfrm rot="2276392">
            <a:off x="7733714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51D965CC-FA70-5E8E-8E26-C0B27D83E4C1}"/>
              </a:ext>
            </a:extLst>
          </p:cNvPr>
          <p:cNvCxnSpPr>
            <a:stCxn id="138" idx="6"/>
            <a:endCxn id="140" idx="2"/>
          </p:cNvCxnSpPr>
          <p:nvPr/>
        </p:nvCxnSpPr>
        <p:spPr>
          <a:xfrm>
            <a:off x="8631314" y="4503151"/>
            <a:ext cx="19728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99FA6F79-4D88-2316-CBB2-07AD39DBA9ED}"/>
              </a:ext>
            </a:extLst>
          </p:cNvPr>
          <p:cNvSpPr txBox="1"/>
          <p:nvPr/>
        </p:nvSpPr>
        <p:spPr>
          <a:xfrm rot="17482236">
            <a:off x="7143267" y="4662538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ADCEFEF6-66B6-C18B-E84A-B6B0DA82489B}"/>
              </a:ext>
            </a:extLst>
          </p:cNvPr>
          <p:cNvSpPr txBox="1"/>
          <p:nvPr/>
        </p:nvSpPr>
        <p:spPr>
          <a:xfrm rot="17340842">
            <a:off x="9919670" y="4661737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F620B5CC-AD00-ABF9-57DE-1D66F8EAD5D0}"/>
              </a:ext>
            </a:extLst>
          </p:cNvPr>
          <p:cNvSpPr txBox="1"/>
          <p:nvPr/>
        </p:nvSpPr>
        <p:spPr>
          <a:xfrm rot="4407779">
            <a:off x="8523345" y="4662537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918D5066-DAFF-7049-7364-24F17074A9F8}"/>
              </a:ext>
            </a:extLst>
          </p:cNvPr>
          <p:cNvSpPr txBox="1"/>
          <p:nvPr/>
        </p:nvSpPr>
        <p:spPr>
          <a:xfrm rot="4200141">
            <a:off x="11325856" y="4686249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23DDBD45-273F-7F10-88A9-68966158FCE9}"/>
              </a:ext>
            </a:extLst>
          </p:cNvPr>
          <p:cNvSpPr/>
          <p:nvPr/>
        </p:nvSpPr>
        <p:spPr>
          <a:xfrm>
            <a:off x="7287490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-1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8" name="橢圓 157">
            <a:extLst>
              <a:ext uri="{FF2B5EF4-FFF2-40B4-BE49-F238E27FC236}">
                <a16:creationId xmlns:a16="http://schemas.microsoft.com/office/drawing/2014/main" id="{46F8E387-7FA8-EF11-77D7-D6A347C8FD0A}"/>
              </a:ext>
            </a:extLst>
          </p:cNvPr>
          <p:cNvSpPr/>
          <p:nvPr/>
        </p:nvSpPr>
        <p:spPr>
          <a:xfrm>
            <a:off x="8381227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9" name="橢圓 158">
            <a:extLst>
              <a:ext uri="{FF2B5EF4-FFF2-40B4-BE49-F238E27FC236}">
                <a16:creationId xmlns:a16="http://schemas.microsoft.com/office/drawing/2014/main" id="{6DFB1EC9-1A69-C6EF-859A-09EBC0B1A89B}"/>
              </a:ext>
            </a:extLst>
          </p:cNvPr>
          <p:cNvSpPr/>
          <p:nvPr/>
        </p:nvSpPr>
        <p:spPr>
          <a:xfrm>
            <a:off x="10052571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767B0464-EEAD-AF31-8BD5-E81816E2D03A}"/>
              </a:ext>
            </a:extLst>
          </p:cNvPr>
          <p:cNvSpPr/>
          <p:nvPr/>
        </p:nvSpPr>
        <p:spPr>
          <a:xfrm>
            <a:off x="11155705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-1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813495FA-1767-563F-D28A-94A300BBA35D}"/>
              </a:ext>
            </a:extLst>
          </p:cNvPr>
          <p:cNvSpPr txBox="1"/>
          <p:nvPr/>
        </p:nvSpPr>
        <p:spPr>
          <a:xfrm>
            <a:off x="6441039" y="4104673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5145A30A-6585-D097-0DD1-E6AD9133EA71}"/>
              </a:ext>
            </a:extLst>
          </p:cNvPr>
          <p:cNvSpPr txBox="1"/>
          <p:nvPr/>
        </p:nvSpPr>
        <p:spPr>
          <a:xfrm>
            <a:off x="9212330" y="4104673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9E125871-C944-4DB4-A209-E1B815ED67DE}"/>
              </a:ext>
            </a:extLst>
          </p:cNvPr>
          <p:cNvGrpSpPr/>
          <p:nvPr/>
        </p:nvGrpSpPr>
        <p:grpSpPr>
          <a:xfrm>
            <a:off x="7117974" y="934546"/>
            <a:ext cx="3594218" cy="2157187"/>
            <a:chOff x="7167078" y="1018366"/>
            <a:chExt cx="3594218" cy="2157187"/>
          </a:xfrm>
        </p:grpSpPr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A7AC834D-AA2D-041A-ACC3-D876FDC98AAB}"/>
                </a:ext>
              </a:extLst>
            </p:cNvPr>
            <p:cNvSpPr/>
            <p:nvPr/>
          </p:nvSpPr>
          <p:spPr>
            <a:xfrm>
              <a:off x="8565710" y="1018366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B7446961-C0EC-02B9-5E31-A17F5F9C65A0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 flipH="1">
              <a:off x="7847322" y="1698610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284A3551-3C25-4275-ED9E-7C6A8932C28A}"/>
                </a:ext>
              </a:extLst>
            </p:cNvPr>
            <p:cNvCxnSpPr>
              <a:cxnSpLocks/>
              <a:stCxn id="61" idx="5"/>
            </p:cNvCxnSpPr>
            <p:nvPr/>
          </p:nvCxnSpPr>
          <p:spPr>
            <a:xfrm>
              <a:off x="9245954" y="1698610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00101D65-8DA9-334D-3109-189A74372273}"/>
                </a:ext>
              </a:extLst>
            </p:cNvPr>
            <p:cNvSpPr txBox="1"/>
            <p:nvPr/>
          </p:nvSpPr>
          <p:spPr>
            <a:xfrm rot="1710687">
              <a:off x="9393746" y="1299743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2B7215E9-91A1-0410-5971-ED48FC695FE5}"/>
                </a:ext>
              </a:extLst>
            </p:cNvPr>
            <p:cNvSpPr txBox="1"/>
            <p:nvPr/>
          </p:nvSpPr>
          <p:spPr>
            <a:xfrm rot="19915633">
              <a:off x="7742123" y="12923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F65F89F3-12B3-7DED-E900-064742221866}"/>
                </a:ext>
              </a:extLst>
            </p:cNvPr>
            <p:cNvSpPr/>
            <p:nvPr/>
          </p:nvSpPr>
          <p:spPr>
            <a:xfrm>
              <a:off x="7167078" y="2031307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5C15AB0E-D62C-A7FD-3A88-083478276C8B}"/>
                </a:ext>
              </a:extLst>
            </p:cNvPr>
            <p:cNvSpPr/>
            <p:nvPr/>
          </p:nvSpPr>
          <p:spPr>
            <a:xfrm>
              <a:off x="9964341" y="2031307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7" name="直線單箭頭接點 166">
              <a:extLst>
                <a:ext uri="{FF2B5EF4-FFF2-40B4-BE49-F238E27FC236}">
                  <a16:creationId xmlns:a16="http://schemas.microsoft.com/office/drawing/2014/main" id="{9DFE0B12-AAE3-A807-E2F0-5F3C93FA8758}"/>
                </a:ext>
              </a:extLst>
            </p:cNvPr>
            <p:cNvCxnSpPr>
              <a:stCxn id="106" idx="4"/>
              <a:endCxn id="136" idx="0"/>
            </p:cNvCxnSpPr>
            <p:nvPr/>
          </p:nvCxnSpPr>
          <p:spPr>
            <a:xfrm flipH="1">
              <a:off x="7559336" y="2828262"/>
              <a:ext cx="6220" cy="34729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單箭頭接點 168">
              <a:extLst>
                <a:ext uri="{FF2B5EF4-FFF2-40B4-BE49-F238E27FC236}">
                  <a16:creationId xmlns:a16="http://schemas.microsoft.com/office/drawing/2014/main" id="{51D802C8-E1E2-5230-0944-4833FA1C4B1E}"/>
                </a:ext>
              </a:extLst>
            </p:cNvPr>
            <p:cNvCxnSpPr>
              <a:stCxn id="107" idx="4"/>
              <a:endCxn id="137" idx="0"/>
            </p:cNvCxnSpPr>
            <p:nvPr/>
          </p:nvCxnSpPr>
          <p:spPr>
            <a:xfrm flipH="1">
              <a:off x="10356599" y="2828262"/>
              <a:ext cx="6220" cy="34729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1A2380CA-3FD9-7182-A470-D533045FB8C9}"/>
              </a:ext>
            </a:extLst>
          </p:cNvPr>
          <p:cNvSpPr txBox="1"/>
          <p:nvPr/>
        </p:nvSpPr>
        <p:spPr>
          <a:xfrm>
            <a:off x="7889583" y="412753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4EC05F14-5386-E437-24A6-805C2D62F8EC}"/>
              </a:ext>
            </a:extLst>
          </p:cNvPr>
          <p:cNvSpPr txBox="1"/>
          <p:nvPr/>
        </p:nvSpPr>
        <p:spPr>
          <a:xfrm>
            <a:off x="10693607" y="412753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4B6F0B7-B0EB-1E93-6D20-E1A317FB3780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6600813" y="2627731"/>
            <a:ext cx="633872" cy="580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6F2064-6C3F-0014-F5B8-E02CC2A73EFD}"/>
              </a:ext>
            </a:extLst>
          </p:cNvPr>
          <p:cNvSpPr txBox="1"/>
          <p:nvPr/>
        </p:nvSpPr>
        <p:spPr>
          <a:xfrm>
            <a:off x="6264257" y="3226879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92C9AF45-0D53-714F-B8EA-2CF9CB500336}"/>
              </a:ext>
            </a:extLst>
          </p:cNvPr>
          <p:cNvSpPr txBox="1"/>
          <p:nvPr/>
        </p:nvSpPr>
        <p:spPr>
          <a:xfrm rot="19065430">
            <a:off x="6238662" y="2665188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Deviate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F56F060-605F-7B43-80EE-2604C96EB5AD}"/>
              </a:ext>
            </a:extLst>
          </p:cNvPr>
          <p:cNvSpPr txBox="1"/>
          <p:nvPr/>
        </p:nvSpPr>
        <p:spPr>
          <a:xfrm rot="2276392">
            <a:off x="10553291" y="3622222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Play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13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Reach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11</a:t>
            </a:fld>
            <a:endParaRPr kumimoji="1" lang="zh-TW" altLang="en-US"/>
          </a:p>
        </p:txBody>
      </p: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P2 guess Heads with 25% and Tails with 75%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TW" dirty="0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8989A2FD-9F49-EEBE-80F3-AA33BAB1E66E}"/>
              </a:ext>
            </a:extLst>
          </p:cNvPr>
          <p:cNvSpPr/>
          <p:nvPr/>
        </p:nvSpPr>
        <p:spPr>
          <a:xfrm>
            <a:off x="7111754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41AE51CB-81A3-A1CB-60A6-18A3A3DDBE9B}"/>
              </a:ext>
            </a:extLst>
          </p:cNvPr>
          <p:cNvSpPr/>
          <p:nvPr/>
        </p:nvSpPr>
        <p:spPr>
          <a:xfrm>
            <a:off x="9909017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B914B122-29AA-EC5F-71CB-D9905FA4DC16}"/>
              </a:ext>
            </a:extLst>
          </p:cNvPr>
          <p:cNvSpPr/>
          <p:nvPr/>
        </p:nvSpPr>
        <p:spPr>
          <a:xfrm>
            <a:off x="7834359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4107B6DB-EF99-5FB1-8251-097222043775}"/>
              </a:ext>
            </a:extLst>
          </p:cNvPr>
          <p:cNvCxnSpPr>
            <a:cxnSpLocks/>
            <a:stCxn id="136" idx="5"/>
            <a:endCxn id="138" idx="0"/>
          </p:cNvCxnSpPr>
          <p:nvPr/>
        </p:nvCxnSpPr>
        <p:spPr>
          <a:xfrm>
            <a:off x="7791998" y="3771977"/>
            <a:ext cx="440839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橢圓 139">
            <a:extLst>
              <a:ext uri="{FF2B5EF4-FFF2-40B4-BE49-F238E27FC236}">
                <a16:creationId xmlns:a16="http://schemas.microsoft.com/office/drawing/2014/main" id="{713AB1CE-E678-A515-2478-764F5A173C22}"/>
              </a:ext>
            </a:extLst>
          </p:cNvPr>
          <p:cNvSpPr/>
          <p:nvPr/>
        </p:nvSpPr>
        <p:spPr>
          <a:xfrm>
            <a:off x="10604138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4F4B3325-8509-03DD-62EA-23227991DA4B}"/>
              </a:ext>
            </a:extLst>
          </p:cNvPr>
          <p:cNvCxnSpPr>
            <a:cxnSpLocks/>
            <a:stCxn id="136" idx="3"/>
          </p:cNvCxnSpPr>
          <p:nvPr/>
        </p:nvCxnSpPr>
        <p:spPr>
          <a:xfrm flipH="1">
            <a:off x="6810917" y="3771977"/>
            <a:ext cx="417548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單箭頭接點 141">
            <a:extLst>
              <a:ext uri="{FF2B5EF4-FFF2-40B4-BE49-F238E27FC236}">
                <a16:creationId xmlns:a16="http://schemas.microsoft.com/office/drawing/2014/main" id="{059DA20B-2B03-C8F1-76FF-9EF7E8891B78}"/>
              </a:ext>
            </a:extLst>
          </p:cNvPr>
          <p:cNvCxnSpPr>
            <a:cxnSpLocks/>
            <a:stCxn id="137" idx="3"/>
          </p:cNvCxnSpPr>
          <p:nvPr/>
        </p:nvCxnSpPr>
        <p:spPr>
          <a:xfrm flipH="1">
            <a:off x="9608179" y="3771977"/>
            <a:ext cx="417549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142">
            <a:extLst>
              <a:ext uri="{FF2B5EF4-FFF2-40B4-BE49-F238E27FC236}">
                <a16:creationId xmlns:a16="http://schemas.microsoft.com/office/drawing/2014/main" id="{C7C60F7D-3990-8B25-A8AE-59FD1257879D}"/>
              </a:ext>
            </a:extLst>
          </p:cNvPr>
          <p:cNvCxnSpPr>
            <a:cxnSpLocks/>
            <a:stCxn id="137" idx="5"/>
          </p:cNvCxnSpPr>
          <p:nvPr/>
        </p:nvCxnSpPr>
        <p:spPr>
          <a:xfrm>
            <a:off x="10589261" y="3771977"/>
            <a:ext cx="455694" cy="332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143">
            <a:extLst>
              <a:ext uri="{FF2B5EF4-FFF2-40B4-BE49-F238E27FC236}">
                <a16:creationId xmlns:a16="http://schemas.microsoft.com/office/drawing/2014/main" id="{C4ACCA6E-5F61-64D2-04AE-790A829895CB}"/>
              </a:ext>
            </a:extLst>
          </p:cNvPr>
          <p:cNvCxnSpPr>
            <a:cxnSpLocks/>
            <a:stCxn id="138" idx="3"/>
          </p:cNvCxnSpPr>
          <p:nvPr/>
        </p:nvCxnSpPr>
        <p:spPr>
          <a:xfrm flipH="1">
            <a:off x="7687840" y="4784917"/>
            <a:ext cx="263230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875B7AC2-48E4-41E3-1BB1-19B1F95FB383}"/>
              </a:ext>
            </a:extLst>
          </p:cNvPr>
          <p:cNvCxnSpPr>
            <a:cxnSpLocks/>
            <a:stCxn id="138" idx="5"/>
          </p:cNvCxnSpPr>
          <p:nvPr/>
        </p:nvCxnSpPr>
        <p:spPr>
          <a:xfrm>
            <a:off x="8514603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>
            <a:extLst>
              <a:ext uri="{FF2B5EF4-FFF2-40B4-BE49-F238E27FC236}">
                <a16:creationId xmlns:a16="http://schemas.microsoft.com/office/drawing/2014/main" id="{6D9DAC5E-D2C4-E39F-A457-CEFD0D9607CA}"/>
              </a:ext>
            </a:extLst>
          </p:cNvPr>
          <p:cNvCxnSpPr>
            <a:cxnSpLocks/>
            <a:stCxn id="140" idx="3"/>
          </p:cNvCxnSpPr>
          <p:nvPr/>
        </p:nvCxnSpPr>
        <p:spPr>
          <a:xfrm flipH="1">
            <a:off x="10474383" y="4784917"/>
            <a:ext cx="246466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>
            <a:extLst>
              <a:ext uri="{FF2B5EF4-FFF2-40B4-BE49-F238E27FC236}">
                <a16:creationId xmlns:a16="http://schemas.microsoft.com/office/drawing/2014/main" id="{87E8C679-349D-EA42-252F-E90C31D1305C}"/>
              </a:ext>
            </a:extLst>
          </p:cNvPr>
          <p:cNvCxnSpPr>
            <a:cxnSpLocks/>
            <a:stCxn id="140" idx="5"/>
          </p:cNvCxnSpPr>
          <p:nvPr/>
        </p:nvCxnSpPr>
        <p:spPr>
          <a:xfrm>
            <a:off x="11284382" y="4784917"/>
            <a:ext cx="26980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字方塊 147">
            <a:extLst>
              <a:ext uri="{FF2B5EF4-FFF2-40B4-BE49-F238E27FC236}">
                <a16:creationId xmlns:a16="http://schemas.microsoft.com/office/drawing/2014/main" id="{AAA6CDFD-208D-12D5-D0B0-5828224C4F77}"/>
              </a:ext>
            </a:extLst>
          </p:cNvPr>
          <p:cNvSpPr txBox="1"/>
          <p:nvPr/>
        </p:nvSpPr>
        <p:spPr>
          <a:xfrm rot="19288165">
            <a:off x="6509778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Sell</a:t>
            </a:r>
            <a:endParaRPr lang="zh-TW" altLang="en-US" dirty="0"/>
          </a:p>
        </p:txBody>
      </p:sp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9EBFD926-EE5A-AB43-C3FE-C1BDAB5B9B45}"/>
              </a:ext>
            </a:extLst>
          </p:cNvPr>
          <p:cNvSpPr txBox="1"/>
          <p:nvPr/>
        </p:nvSpPr>
        <p:spPr>
          <a:xfrm rot="19288165">
            <a:off x="9338423" y="3582044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Sell</a:t>
            </a:r>
            <a:endParaRPr lang="zh-TW" altLang="en-US" dirty="0"/>
          </a:p>
        </p:txBody>
      </p:sp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0CD3094C-DDD6-BD09-BF93-867F5CC229BB}"/>
              </a:ext>
            </a:extLst>
          </p:cNvPr>
          <p:cNvSpPr txBox="1"/>
          <p:nvPr/>
        </p:nvSpPr>
        <p:spPr>
          <a:xfrm rot="2276392">
            <a:off x="7733714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cxnSp>
        <p:nvCxnSpPr>
          <p:cNvPr id="152" name="直線接點 151">
            <a:extLst>
              <a:ext uri="{FF2B5EF4-FFF2-40B4-BE49-F238E27FC236}">
                <a16:creationId xmlns:a16="http://schemas.microsoft.com/office/drawing/2014/main" id="{51D965CC-FA70-5E8E-8E26-C0B27D83E4C1}"/>
              </a:ext>
            </a:extLst>
          </p:cNvPr>
          <p:cNvCxnSpPr>
            <a:stCxn id="138" idx="6"/>
            <a:endCxn id="140" idx="2"/>
          </p:cNvCxnSpPr>
          <p:nvPr/>
        </p:nvCxnSpPr>
        <p:spPr>
          <a:xfrm>
            <a:off x="8631314" y="4503151"/>
            <a:ext cx="197282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99FA6F79-4D88-2316-CBB2-07AD39DBA9ED}"/>
              </a:ext>
            </a:extLst>
          </p:cNvPr>
          <p:cNvSpPr txBox="1"/>
          <p:nvPr/>
        </p:nvSpPr>
        <p:spPr>
          <a:xfrm rot="17482236">
            <a:off x="7120135" y="4678326"/>
            <a:ext cx="830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P=0.25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ADCEFEF6-66B6-C18B-E84A-B6B0DA82489B}"/>
              </a:ext>
            </a:extLst>
          </p:cNvPr>
          <p:cNvSpPr txBox="1"/>
          <p:nvPr/>
        </p:nvSpPr>
        <p:spPr>
          <a:xfrm rot="17340842">
            <a:off x="9872943" y="4695058"/>
            <a:ext cx="867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P=0.25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F620B5CC-AD00-ABF9-57DE-1D66F8EAD5D0}"/>
              </a:ext>
            </a:extLst>
          </p:cNvPr>
          <p:cNvSpPr txBox="1"/>
          <p:nvPr/>
        </p:nvSpPr>
        <p:spPr>
          <a:xfrm rot="4407779">
            <a:off x="8494877" y="4700686"/>
            <a:ext cx="876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P=0.75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918D5066-DAFF-7049-7364-24F17074A9F8}"/>
              </a:ext>
            </a:extLst>
          </p:cNvPr>
          <p:cNvSpPr txBox="1"/>
          <p:nvPr/>
        </p:nvSpPr>
        <p:spPr>
          <a:xfrm rot="4200141">
            <a:off x="11281495" y="4749599"/>
            <a:ext cx="931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P=0.75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157" name="橢圓 156">
            <a:extLst>
              <a:ext uri="{FF2B5EF4-FFF2-40B4-BE49-F238E27FC236}">
                <a16:creationId xmlns:a16="http://schemas.microsoft.com/office/drawing/2014/main" id="{23DDBD45-273F-7F10-88A9-68966158FCE9}"/>
              </a:ext>
            </a:extLst>
          </p:cNvPr>
          <p:cNvSpPr/>
          <p:nvPr/>
        </p:nvSpPr>
        <p:spPr>
          <a:xfrm>
            <a:off x="7287490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-1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8" name="橢圓 157">
            <a:extLst>
              <a:ext uri="{FF2B5EF4-FFF2-40B4-BE49-F238E27FC236}">
                <a16:creationId xmlns:a16="http://schemas.microsoft.com/office/drawing/2014/main" id="{46F8E387-7FA8-EF11-77D7-D6A347C8FD0A}"/>
              </a:ext>
            </a:extLst>
          </p:cNvPr>
          <p:cNvSpPr/>
          <p:nvPr/>
        </p:nvSpPr>
        <p:spPr>
          <a:xfrm>
            <a:off x="8381227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9" name="橢圓 158">
            <a:extLst>
              <a:ext uri="{FF2B5EF4-FFF2-40B4-BE49-F238E27FC236}">
                <a16:creationId xmlns:a16="http://schemas.microsoft.com/office/drawing/2014/main" id="{6DFB1EC9-1A69-C6EF-859A-09EBC0B1A89B}"/>
              </a:ext>
            </a:extLst>
          </p:cNvPr>
          <p:cNvSpPr/>
          <p:nvPr/>
        </p:nvSpPr>
        <p:spPr>
          <a:xfrm>
            <a:off x="10052571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0" name="橢圓 159">
            <a:extLst>
              <a:ext uri="{FF2B5EF4-FFF2-40B4-BE49-F238E27FC236}">
                <a16:creationId xmlns:a16="http://schemas.microsoft.com/office/drawing/2014/main" id="{767B0464-EEAD-AF31-8BD5-E81816E2D03A}"/>
              </a:ext>
            </a:extLst>
          </p:cNvPr>
          <p:cNvSpPr/>
          <p:nvPr/>
        </p:nvSpPr>
        <p:spPr>
          <a:xfrm>
            <a:off x="11155705" y="549438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-1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1" name="文字方塊 160">
            <a:extLst>
              <a:ext uri="{FF2B5EF4-FFF2-40B4-BE49-F238E27FC236}">
                <a16:creationId xmlns:a16="http://schemas.microsoft.com/office/drawing/2014/main" id="{813495FA-1767-563F-D28A-94A300BBA35D}"/>
              </a:ext>
            </a:extLst>
          </p:cNvPr>
          <p:cNvSpPr txBox="1"/>
          <p:nvPr/>
        </p:nvSpPr>
        <p:spPr>
          <a:xfrm>
            <a:off x="6441039" y="4104673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5145A30A-6585-D097-0DD1-E6AD9133EA71}"/>
              </a:ext>
            </a:extLst>
          </p:cNvPr>
          <p:cNvSpPr txBox="1"/>
          <p:nvPr/>
        </p:nvSpPr>
        <p:spPr>
          <a:xfrm>
            <a:off x="9212330" y="4104673"/>
            <a:ext cx="934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grpSp>
        <p:nvGrpSpPr>
          <p:cNvPr id="170" name="群組 169">
            <a:extLst>
              <a:ext uri="{FF2B5EF4-FFF2-40B4-BE49-F238E27FC236}">
                <a16:creationId xmlns:a16="http://schemas.microsoft.com/office/drawing/2014/main" id="{9E125871-C944-4DB4-A209-E1B815ED67DE}"/>
              </a:ext>
            </a:extLst>
          </p:cNvPr>
          <p:cNvGrpSpPr/>
          <p:nvPr/>
        </p:nvGrpSpPr>
        <p:grpSpPr>
          <a:xfrm>
            <a:off x="7117974" y="934546"/>
            <a:ext cx="3594218" cy="2157187"/>
            <a:chOff x="7167078" y="1018366"/>
            <a:chExt cx="3594218" cy="2157187"/>
          </a:xfrm>
        </p:grpSpPr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A7AC834D-AA2D-041A-ACC3-D876FDC98AAB}"/>
                </a:ext>
              </a:extLst>
            </p:cNvPr>
            <p:cNvSpPr/>
            <p:nvPr/>
          </p:nvSpPr>
          <p:spPr>
            <a:xfrm>
              <a:off x="8565710" y="1018366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0" name="直線單箭頭接點 69">
              <a:extLst>
                <a:ext uri="{FF2B5EF4-FFF2-40B4-BE49-F238E27FC236}">
                  <a16:creationId xmlns:a16="http://schemas.microsoft.com/office/drawing/2014/main" id="{B7446961-C0EC-02B9-5E31-A17F5F9C65A0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 flipH="1">
              <a:off x="7847322" y="1698610"/>
              <a:ext cx="835099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單箭頭接點 70">
              <a:extLst>
                <a:ext uri="{FF2B5EF4-FFF2-40B4-BE49-F238E27FC236}">
                  <a16:creationId xmlns:a16="http://schemas.microsoft.com/office/drawing/2014/main" id="{284A3551-3C25-4275-ED9E-7C6A8932C28A}"/>
                </a:ext>
              </a:extLst>
            </p:cNvPr>
            <p:cNvCxnSpPr>
              <a:cxnSpLocks/>
              <a:stCxn id="61" idx="5"/>
            </p:cNvCxnSpPr>
            <p:nvPr/>
          </p:nvCxnSpPr>
          <p:spPr>
            <a:xfrm>
              <a:off x="9245954" y="1698610"/>
              <a:ext cx="835098" cy="4494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00101D65-8DA9-334D-3109-189A74372273}"/>
                </a:ext>
              </a:extLst>
            </p:cNvPr>
            <p:cNvSpPr txBox="1"/>
            <p:nvPr/>
          </p:nvSpPr>
          <p:spPr>
            <a:xfrm rot="1710687">
              <a:off x="9393746" y="1299743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Tails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2B7215E9-91A1-0410-5971-ED48FC695FE5}"/>
                </a:ext>
              </a:extLst>
            </p:cNvPr>
            <p:cNvSpPr txBox="1"/>
            <p:nvPr/>
          </p:nvSpPr>
          <p:spPr>
            <a:xfrm rot="19915633">
              <a:off x="7742123" y="1292339"/>
              <a:ext cx="7969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P=0.5</a:t>
              </a:r>
            </a:p>
            <a:p>
              <a:pPr algn="ctr"/>
              <a:r>
                <a:rPr lang="en-US" altLang="zh-TW" dirty="0"/>
                <a:t>Heads</a:t>
              </a:r>
              <a:endParaRPr lang="zh-TW" altLang="en-US" dirty="0"/>
            </a:p>
          </p:txBody>
        </p:sp>
        <p:sp>
          <p:nvSpPr>
            <p:cNvPr id="106" name="橢圓 105">
              <a:extLst>
                <a:ext uri="{FF2B5EF4-FFF2-40B4-BE49-F238E27FC236}">
                  <a16:creationId xmlns:a16="http://schemas.microsoft.com/office/drawing/2014/main" id="{F65F89F3-12B3-7DED-E900-064742221866}"/>
                </a:ext>
              </a:extLst>
            </p:cNvPr>
            <p:cNvSpPr/>
            <p:nvPr/>
          </p:nvSpPr>
          <p:spPr>
            <a:xfrm>
              <a:off x="7167078" y="2031307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7" name="橢圓 106">
              <a:extLst>
                <a:ext uri="{FF2B5EF4-FFF2-40B4-BE49-F238E27FC236}">
                  <a16:creationId xmlns:a16="http://schemas.microsoft.com/office/drawing/2014/main" id="{5C15AB0E-D62C-A7FD-3A88-083478276C8B}"/>
                </a:ext>
              </a:extLst>
            </p:cNvPr>
            <p:cNvSpPr/>
            <p:nvPr/>
          </p:nvSpPr>
          <p:spPr>
            <a:xfrm>
              <a:off x="9964341" y="2031307"/>
              <a:ext cx="796955" cy="796955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P1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7" name="直線單箭頭接點 166">
              <a:extLst>
                <a:ext uri="{FF2B5EF4-FFF2-40B4-BE49-F238E27FC236}">
                  <a16:creationId xmlns:a16="http://schemas.microsoft.com/office/drawing/2014/main" id="{9DFE0B12-AAE3-A807-E2F0-5F3C93FA8758}"/>
                </a:ext>
              </a:extLst>
            </p:cNvPr>
            <p:cNvCxnSpPr>
              <a:stCxn id="106" idx="4"/>
              <a:endCxn id="136" idx="0"/>
            </p:cNvCxnSpPr>
            <p:nvPr/>
          </p:nvCxnSpPr>
          <p:spPr>
            <a:xfrm flipH="1">
              <a:off x="7559336" y="2828262"/>
              <a:ext cx="6220" cy="34729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單箭頭接點 168">
              <a:extLst>
                <a:ext uri="{FF2B5EF4-FFF2-40B4-BE49-F238E27FC236}">
                  <a16:creationId xmlns:a16="http://schemas.microsoft.com/office/drawing/2014/main" id="{51D802C8-E1E2-5230-0944-4833FA1C4B1E}"/>
                </a:ext>
              </a:extLst>
            </p:cNvPr>
            <p:cNvCxnSpPr>
              <a:stCxn id="107" idx="4"/>
              <a:endCxn id="137" idx="0"/>
            </p:cNvCxnSpPr>
            <p:nvPr/>
          </p:nvCxnSpPr>
          <p:spPr>
            <a:xfrm flipH="1">
              <a:off x="10356599" y="2828262"/>
              <a:ext cx="6220" cy="34729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文字方塊 171">
            <a:extLst>
              <a:ext uri="{FF2B5EF4-FFF2-40B4-BE49-F238E27FC236}">
                <a16:creationId xmlns:a16="http://schemas.microsoft.com/office/drawing/2014/main" id="{1A2380CA-3FD9-7182-A470-D533045FB8C9}"/>
              </a:ext>
            </a:extLst>
          </p:cNvPr>
          <p:cNvSpPr txBox="1"/>
          <p:nvPr/>
        </p:nvSpPr>
        <p:spPr>
          <a:xfrm>
            <a:off x="7822471" y="412753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4EC05F14-5386-E437-24A6-805C2D62F8EC}"/>
              </a:ext>
            </a:extLst>
          </p:cNvPr>
          <p:cNvSpPr txBox="1"/>
          <p:nvPr/>
        </p:nvSpPr>
        <p:spPr>
          <a:xfrm>
            <a:off x="10568681" y="4161086"/>
            <a:ext cx="94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4B6F0B7-B0EB-1E93-6D20-E1A317FB3780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6600813" y="2627731"/>
            <a:ext cx="633872" cy="5807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6F2064-6C3F-0014-F5B8-E02CC2A73EFD}"/>
              </a:ext>
            </a:extLst>
          </p:cNvPr>
          <p:cNvSpPr txBox="1"/>
          <p:nvPr/>
        </p:nvSpPr>
        <p:spPr>
          <a:xfrm>
            <a:off x="6264257" y="3226879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9F210F0-DAF7-884C-8FFB-ED479A133BC9}"/>
              </a:ext>
            </a:extLst>
          </p:cNvPr>
          <p:cNvSpPr txBox="1"/>
          <p:nvPr/>
        </p:nvSpPr>
        <p:spPr>
          <a:xfrm rot="19065430">
            <a:off x="6238662" y="2665188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Deviate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301887B2-36B8-704F-BE5F-FC857F72F74C}"/>
              </a:ext>
            </a:extLst>
          </p:cNvPr>
          <p:cNvSpPr txBox="1"/>
          <p:nvPr/>
        </p:nvSpPr>
        <p:spPr>
          <a:xfrm rot="2276392">
            <a:off x="10553291" y="3622222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Play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013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Reach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The node C is public chance nodes whose outcomes are seen by both P1 and P2.</a:t>
            </a:r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8989A2FD-9F49-EEBE-80F3-AA33BAB1E66E}"/>
              </a:ext>
            </a:extLst>
          </p:cNvPr>
          <p:cNvSpPr/>
          <p:nvPr/>
        </p:nvSpPr>
        <p:spPr>
          <a:xfrm>
            <a:off x="7113596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B914B122-29AA-EC5F-71CB-D9905FA4DC16}"/>
              </a:ext>
            </a:extLst>
          </p:cNvPr>
          <p:cNvSpPr/>
          <p:nvPr/>
        </p:nvSpPr>
        <p:spPr>
          <a:xfrm>
            <a:off x="7834359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4107B6DB-EF99-5FB1-8251-097222043775}"/>
              </a:ext>
            </a:extLst>
          </p:cNvPr>
          <p:cNvCxnSpPr>
            <a:cxnSpLocks/>
            <a:stCxn id="136" idx="5"/>
            <a:endCxn id="138" idx="0"/>
          </p:cNvCxnSpPr>
          <p:nvPr/>
        </p:nvCxnSpPr>
        <p:spPr>
          <a:xfrm>
            <a:off x="779384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4F4B3325-8509-03DD-62EA-23227991DA4B}"/>
              </a:ext>
            </a:extLst>
          </p:cNvPr>
          <p:cNvCxnSpPr>
            <a:cxnSpLocks/>
            <a:stCxn id="136" idx="3"/>
            <a:endCxn id="14" idx="0"/>
          </p:cNvCxnSpPr>
          <p:nvPr/>
        </p:nvCxnSpPr>
        <p:spPr>
          <a:xfrm flipH="1">
            <a:off x="679131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875B7AC2-48E4-41E3-1BB1-19B1F95FB383}"/>
              </a:ext>
            </a:extLst>
          </p:cNvPr>
          <p:cNvCxnSpPr>
            <a:cxnSpLocks/>
            <a:stCxn id="138" idx="5"/>
          </p:cNvCxnSpPr>
          <p:nvPr/>
        </p:nvCxnSpPr>
        <p:spPr>
          <a:xfrm>
            <a:off x="8514603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F620B5CC-AD00-ABF9-57DE-1D66F8EAD5D0}"/>
              </a:ext>
            </a:extLst>
          </p:cNvPr>
          <p:cNvSpPr txBox="1"/>
          <p:nvPr/>
        </p:nvSpPr>
        <p:spPr>
          <a:xfrm rot="4407779">
            <a:off x="8400905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7AC834D-AA2D-041A-ACC3-D876FDC98AAB}"/>
              </a:ext>
            </a:extLst>
          </p:cNvPr>
          <p:cNvSpPr/>
          <p:nvPr/>
        </p:nvSpPr>
        <p:spPr>
          <a:xfrm>
            <a:off x="8516606" y="934546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B7446961-C0EC-02B9-5E31-A17F5F9C65A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798218" y="1614790"/>
            <a:ext cx="835099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284A3551-3C25-4275-ED9E-7C6A8932C28A}"/>
              </a:ext>
            </a:extLst>
          </p:cNvPr>
          <p:cNvCxnSpPr>
            <a:cxnSpLocks/>
            <a:stCxn id="61" idx="5"/>
          </p:cNvCxnSpPr>
          <p:nvPr/>
        </p:nvCxnSpPr>
        <p:spPr>
          <a:xfrm>
            <a:off x="9196850" y="1614790"/>
            <a:ext cx="835098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00101D65-8DA9-334D-3109-189A74372273}"/>
              </a:ext>
            </a:extLst>
          </p:cNvPr>
          <p:cNvSpPr txBox="1"/>
          <p:nvPr/>
        </p:nvSpPr>
        <p:spPr>
          <a:xfrm rot="1710687">
            <a:off x="9344642" y="1215923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</a:rPr>
              <a:t>Tails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2B7215E9-91A1-0410-5971-ED48FC695FE5}"/>
              </a:ext>
            </a:extLst>
          </p:cNvPr>
          <p:cNvSpPr txBox="1"/>
          <p:nvPr/>
        </p:nvSpPr>
        <p:spPr>
          <a:xfrm rot="19915633">
            <a:off x="7693019" y="1208519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>
                <a:solidFill>
                  <a:srgbClr val="FF0000"/>
                </a:solidFill>
              </a:rPr>
              <a:t>Heads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F65F89F3-12B3-7DED-E900-064742221866}"/>
              </a:ext>
            </a:extLst>
          </p:cNvPr>
          <p:cNvSpPr/>
          <p:nvPr/>
        </p:nvSpPr>
        <p:spPr>
          <a:xfrm>
            <a:off x="7117974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5C15AB0E-D62C-A7FD-3A88-083478276C8B}"/>
              </a:ext>
            </a:extLst>
          </p:cNvPr>
          <p:cNvSpPr/>
          <p:nvPr/>
        </p:nvSpPr>
        <p:spPr>
          <a:xfrm>
            <a:off x="9915237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9DFE0B12-AAE3-A807-E2F0-5F3C93FA8758}"/>
              </a:ext>
            </a:extLst>
          </p:cNvPr>
          <p:cNvCxnSpPr>
            <a:stCxn id="106" idx="4"/>
            <a:endCxn id="136" idx="0"/>
          </p:cNvCxnSpPr>
          <p:nvPr/>
        </p:nvCxnSpPr>
        <p:spPr>
          <a:xfrm flipH="1">
            <a:off x="7512074" y="2744442"/>
            <a:ext cx="4378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1D802C8-E1E2-5230-0944-4833FA1C4B1E}"/>
              </a:ext>
            </a:extLst>
          </p:cNvPr>
          <p:cNvCxnSpPr>
            <a:cxnSpLocks/>
            <a:stCxn id="107" idx="4"/>
            <a:endCxn id="52" idx="0"/>
          </p:cNvCxnSpPr>
          <p:nvPr/>
        </p:nvCxnSpPr>
        <p:spPr>
          <a:xfrm flipH="1">
            <a:off x="10307495" y="2744442"/>
            <a:ext cx="6220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4B6F0B7-B0EB-1E93-6D20-E1A317FB3780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6600813" y="2627731"/>
            <a:ext cx="633872" cy="580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072F92-C86D-0E68-C626-AD812E7D4B9B}"/>
              </a:ext>
            </a:extLst>
          </p:cNvPr>
          <p:cNvSpPr txBox="1"/>
          <p:nvPr/>
        </p:nvSpPr>
        <p:spPr>
          <a:xfrm rot="19065430">
            <a:off x="6238662" y="2665188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6F2064-6C3F-0014-F5B8-E02CC2A73EFD}"/>
              </a:ext>
            </a:extLst>
          </p:cNvPr>
          <p:cNvSpPr txBox="1"/>
          <p:nvPr/>
        </p:nvSpPr>
        <p:spPr>
          <a:xfrm>
            <a:off x="6264257" y="3226879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15B530C-1660-92AD-6F1D-373D6C8EF5AE}"/>
              </a:ext>
            </a:extLst>
          </p:cNvPr>
          <p:cNvCxnSpPr>
            <a:cxnSpLocks/>
            <a:stCxn id="107" idx="5"/>
          </p:cNvCxnSpPr>
          <p:nvPr/>
        </p:nvCxnSpPr>
        <p:spPr>
          <a:xfrm>
            <a:off x="10595481" y="2627731"/>
            <a:ext cx="897742" cy="46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2DF6FB-9619-FCF7-1220-2DC986843D1A}"/>
              </a:ext>
            </a:extLst>
          </p:cNvPr>
          <p:cNvSpPr txBox="1"/>
          <p:nvPr/>
        </p:nvSpPr>
        <p:spPr>
          <a:xfrm rot="1635757">
            <a:off x="10619969" y="2494106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E731D3-F8F9-5833-D071-2B6CF7FD4207}"/>
              </a:ext>
            </a:extLst>
          </p:cNvPr>
          <p:cNvSpPr txBox="1"/>
          <p:nvPr/>
        </p:nvSpPr>
        <p:spPr>
          <a:xfrm>
            <a:off x="7773803" y="2959998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69D84F6-5F7E-5ED8-3FD8-9F86D7BBAA7F}"/>
              </a:ext>
            </a:extLst>
          </p:cNvPr>
          <p:cNvSpPr txBox="1"/>
          <p:nvPr/>
        </p:nvSpPr>
        <p:spPr>
          <a:xfrm>
            <a:off x="11129349" y="3091733"/>
            <a:ext cx="103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E9697E-6BAE-D311-CF44-11EA2625A534}"/>
              </a:ext>
            </a:extLst>
          </p:cNvPr>
          <p:cNvSpPr/>
          <p:nvPr/>
        </p:nvSpPr>
        <p:spPr>
          <a:xfrm>
            <a:off x="6392832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E61F8-C7C7-1253-57B9-AE84F41F209D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7073076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327DB1-7CFC-1943-FA95-C5290BB718DE}"/>
              </a:ext>
            </a:extLst>
          </p:cNvPr>
          <p:cNvSpPr txBox="1"/>
          <p:nvPr/>
        </p:nvSpPr>
        <p:spPr>
          <a:xfrm rot="4407779">
            <a:off x="6972012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Play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F2D477F-695E-71BB-252E-D3F88370BBC1}"/>
              </a:ext>
            </a:extLst>
          </p:cNvPr>
          <p:cNvSpPr txBox="1"/>
          <p:nvPr/>
        </p:nvSpPr>
        <p:spPr>
          <a:xfrm rot="19288165">
            <a:off x="6509778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8C09F6E-EDA1-AB73-0E4F-28EA570003B9}"/>
              </a:ext>
            </a:extLst>
          </p:cNvPr>
          <p:cNvSpPr txBox="1"/>
          <p:nvPr/>
        </p:nvSpPr>
        <p:spPr>
          <a:xfrm rot="2276392">
            <a:off x="7733714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29D18D-80E0-B7E6-C826-11866691B743}"/>
              </a:ext>
            </a:extLst>
          </p:cNvPr>
          <p:cNvSpPr txBox="1"/>
          <p:nvPr/>
        </p:nvSpPr>
        <p:spPr>
          <a:xfrm>
            <a:off x="688915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14E4949-A313-FB11-CE0A-076CC1149069}"/>
              </a:ext>
            </a:extLst>
          </p:cNvPr>
          <p:cNvSpPr txBox="1"/>
          <p:nvPr/>
        </p:nvSpPr>
        <p:spPr>
          <a:xfrm>
            <a:off x="838594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1DA7408D-16A2-6B09-5748-2811E8A458D0}"/>
              </a:ext>
            </a:extLst>
          </p:cNvPr>
          <p:cNvSpPr/>
          <p:nvPr/>
        </p:nvSpPr>
        <p:spPr>
          <a:xfrm>
            <a:off x="9909017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FA2641F7-A605-8320-84D9-27017B27E955}"/>
              </a:ext>
            </a:extLst>
          </p:cNvPr>
          <p:cNvSpPr/>
          <p:nvPr/>
        </p:nvSpPr>
        <p:spPr>
          <a:xfrm>
            <a:off x="10629780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3750B6F4-C098-E686-2160-E599C2FF3231}"/>
              </a:ext>
            </a:extLst>
          </p:cNvPr>
          <p:cNvCxnSpPr>
            <a:cxnSpLocks/>
            <a:stCxn id="52" idx="5"/>
            <a:endCxn id="53" idx="0"/>
          </p:cNvCxnSpPr>
          <p:nvPr/>
        </p:nvCxnSpPr>
        <p:spPr>
          <a:xfrm>
            <a:off x="1058926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8C735CA-64C6-9FDF-E3FA-978DB28104C8}"/>
              </a:ext>
            </a:extLst>
          </p:cNvPr>
          <p:cNvCxnSpPr>
            <a:cxnSpLocks/>
            <a:stCxn id="52" idx="3"/>
            <a:endCxn id="58" idx="0"/>
          </p:cNvCxnSpPr>
          <p:nvPr/>
        </p:nvCxnSpPr>
        <p:spPr>
          <a:xfrm flipH="1">
            <a:off x="958673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8573862-6F84-49E6-7F6F-024134D9D470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11310024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107D107-6501-B92C-BBC1-AEE5A1C71666}"/>
              </a:ext>
            </a:extLst>
          </p:cNvPr>
          <p:cNvSpPr txBox="1"/>
          <p:nvPr/>
        </p:nvSpPr>
        <p:spPr>
          <a:xfrm rot="4407779">
            <a:off x="11196326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E0279523-F828-8F63-9807-36DB2F8B076B}"/>
              </a:ext>
            </a:extLst>
          </p:cNvPr>
          <p:cNvSpPr/>
          <p:nvPr/>
        </p:nvSpPr>
        <p:spPr>
          <a:xfrm>
            <a:off x="9188253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8EE14601-8D93-1756-A8C6-515A158045E8}"/>
              </a:ext>
            </a:extLst>
          </p:cNvPr>
          <p:cNvCxnSpPr>
            <a:cxnSpLocks/>
            <a:stCxn id="58" idx="5"/>
          </p:cNvCxnSpPr>
          <p:nvPr/>
        </p:nvCxnSpPr>
        <p:spPr>
          <a:xfrm>
            <a:off x="9868497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BCC3E22-4C00-3DD5-C7BE-5AD9C0F42C5D}"/>
              </a:ext>
            </a:extLst>
          </p:cNvPr>
          <p:cNvSpPr txBox="1"/>
          <p:nvPr/>
        </p:nvSpPr>
        <p:spPr>
          <a:xfrm rot="4407779">
            <a:off x="9767433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Play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E913559-2A58-CC95-6FE3-34AC1ACEA13D}"/>
              </a:ext>
            </a:extLst>
          </p:cNvPr>
          <p:cNvSpPr txBox="1"/>
          <p:nvPr/>
        </p:nvSpPr>
        <p:spPr>
          <a:xfrm rot="19288165">
            <a:off x="9305199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E5F3866-52AC-9125-5DE5-950D44D07C74}"/>
              </a:ext>
            </a:extLst>
          </p:cNvPr>
          <p:cNvSpPr txBox="1"/>
          <p:nvPr/>
        </p:nvSpPr>
        <p:spPr>
          <a:xfrm rot="2276392">
            <a:off x="10529135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E9A6265-37EF-AB9A-1A7C-58C239E22BA0}"/>
              </a:ext>
            </a:extLst>
          </p:cNvPr>
          <p:cNvSpPr txBox="1"/>
          <p:nvPr/>
        </p:nvSpPr>
        <p:spPr>
          <a:xfrm>
            <a:off x="9684579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B4F2047C-8850-D0FC-FA50-AD66508DC586}"/>
              </a:ext>
            </a:extLst>
          </p:cNvPr>
          <p:cNvSpPr txBox="1"/>
          <p:nvPr/>
        </p:nvSpPr>
        <p:spPr>
          <a:xfrm>
            <a:off x="11181369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C42815E-B9FE-8359-E9EE-249DE6C0917A}"/>
              </a:ext>
            </a:extLst>
          </p:cNvPr>
          <p:cNvSpPr txBox="1"/>
          <p:nvPr/>
        </p:nvSpPr>
        <p:spPr>
          <a:xfrm>
            <a:off x="9546457" y="2806381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EV=0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270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Reach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P2 always guess Tails.</a:t>
            </a:r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8989A2FD-9F49-EEBE-80F3-AA33BAB1E66E}"/>
              </a:ext>
            </a:extLst>
          </p:cNvPr>
          <p:cNvSpPr/>
          <p:nvPr/>
        </p:nvSpPr>
        <p:spPr>
          <a:xfrm>
            <a:off x="7113596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B914B122-29AA-EC5F-71CB-D9905FA4DC16}"/>
              </a:ext>
            </a:extLst>
          </p:cNvPr>
          <p:cNvSpPr/>
          <p:nvPr/>
        </p:nvSpPr>
        <p:spPr>
          <a:xfrm>
            <a:off x="7834359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4107B6DB-EF99-5FB1-8251-097222043775}"/>
              </a:ext>
            </a:extLst>
          </p:cNvPr>
          <p:cNvCxnSpPr>
            <a:cxnSpLocks/>
            <a:stCxn id="136" idx="5"/>
            <a:endCxn id="138" idx="0"/>
          </p:cNvCxnSpPr>
          <p:nvPr/>
        </p:nvCxnSpPr>
        <p:spPr>
          <a:xfrm>
            <a:off x="779384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4F4B3325-8509-03DD-62EA-23227991DA4B}"/>
              </a:ext>
            </a:extLst>
          </p:cNvPr>
          <p:cNvCxnSpPr>
            <a:cxnSpLocks/>
            <a:stCxn id="136" idx="3"/>
            <a:endCxn id="14" idx="0"/>
          </p:cNvCxnSpPr>
          <p:nvPr/>
        </p:nvCxnSpPr>
        <p:spPr>
          <a:xfrm flipH="1">
            <a:off x="679131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875B7AC2-48E4-41E3-1BB1-19B1F95FB383}"/>
              </a:ext>
            </a:extLst>
          </p:cNvPr>
          <p:cNvCxnSpPr>
            <a:cxnSpLocks/>
            <a:stCxn id="138" idx="5"/>
          </p:cNvCxnSpPr>
          <p:nvPr/>
        </p:nvCxnSpPr>
        <p:spPr>
          <a:xfrm>
            <a:off x="8514603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F620B5CC-AD00-ABF9-57DE-1D66F8EAD5D0}"/>
              </a:ext>
            </a:extLst>
          </p:cNvPr>
          <p:cNvSpPr txBox="1"/>
          <p:nvPr/>
        </p:nvSpPr>
        <p:spPr>
          <a:xfrm rot="4407779">
            <a:off x="8400905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7AC834D-AA2D-041A-ACC3-D876FDC98AAB}"/>
              </a:ext>
            </a:extLst>
          </p:cNvPr>
          <p:cNvSpPr/>
          <p:nvPr/>
        </p:nvSpPr>
        <p:spPr>
          <a:xfrm>
            <a:off x="8516606" y="934546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B7446961-C0EC-02B9-5E31-A17F5F9C65A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798218" y="1614790"/>
            <a:ext cx="835099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284A3551-3C25-4275-ED9E-7C6A8932C28A}"/>
              </a:ext>
            </a:extLst>
          </p:cNvPr>
          <p:cNvCxnSpPr>
            <a:cxnSpLocks/>
            <a:stCxn id="61" idx="5"/>
          </p:cNvCxnSpPr>
          <p:nvPr/>
        </p:nvCxnSpPr>
        <p:spPr>
          <a:xfrm>
            <a:off x="9196850" y="1614790"/>
            <a:ext cx="835098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00101D65-8DA9-334D-3109-189A74372273}"/>
              </a:ext>
            </a:extLst>
          </p:cNvPr>
          <p:cNvSpPr txBox="1"/>
          <p:nvPr/>
        </p:nvSpPr>
        <p:spPr>
          <a:xfrm rot="1710687">
            <a:off x="9344642" y="1215923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2B7215E9-91A1-0410-5971-ED48FC695FE5}"/>
              </a:ext>
            </a:extLst>
          </p:cNvPr>
          <p:cNvSpPr txBox="1"/>
          <p:nvPr/>
        </p:nvSpPr>
        <p:spPr>
          <a:xfrm rot="19915633">
            <a:off x="7693019" y="1208519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F65F89F3-12B3-7DED-E900-064742221866}"/>
              </a:ext>
            </a:extLst>
          </p:cNvPr>
          <p:cNvSpPr/>
          <p:nvPr/>
        </p:nvSpPr>
        <p:spPr>
          <a:xfrm>
            <a:off x="7117974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5C15AB0E-D62C-A7FD-3A88-083478276C8B}"/>
              </a:ext>
            </a:extLst>
          </p:cNvPr>
          <p:cNvSpPr/>
          <p:nvPr/>
        </p:nvSpPr>
        <p:spPr>
          <a:xfrm>
            <a:off x="9915237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9DFE0B12-AAE3-A807-E2F0-5F3C93FA8758}"/>
              </a:ext>
            </a:extLst>
          </p:cNvPr>
          <p:cNvCxnSpPr>
            <a:stCxn id="106" idx="4"/>
            <a:endCxn id="136" idx="0"/>
          </p:cNvCxnSpPr>
          <p:nvPr/>
        </p:nvCxnSpPr>
        <p:spPr>
          <a:xfrm flipH="1">
            <a:off x="7512074" y="2744442"/>
            <a:ext cx="4378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1D802C8-E1E2-5230-0944-4833FA1C4B1E}"/>
              </a:ext>
            </a:extLst>
          </p:cNvPr>
          <p:cNvCxnSpPr>
            <a:cxnSpLocks/>
            <a:stCxn id="107" idx="4"/>
            <a:endCxn id="52" idx="0"/>
          </p:cNvCxnSpPr>
          <p:nvPr/>
        </p:nvCxnSpPr>
        <p:spPr>
          <a:xfrm flipH="1">
            <a:off x="10307495" y="2744442"/>
            <a:ext cx="6220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4B6F0B7-B0EB-1E93-6D20-E1A317FB3780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6600813" y="2627731"/>
            <a:ext cx="633872" cy="580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072F92-C86D-0E68-C626-AD812E7D4B9B}"/>
              </a:ext>
            </a:extLst>
          </p:cNvPr>
          <p:cNvSpPr txBox="1"/>
          <p:nvPr/>
        </p:nvSpPr>
        <p:spPr>
          <a:xfrm rot="19065430">
            <a:off x="6238662" y="2665188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6F2064-6C3F-0014-F5B8-E02CC2A73EFD}"/>
              </a:ext>
            </a:extLst>
          </p:cNvPr>
          <p:cNvSpPr txBox="1"/>
          <p:nvPr/>
        </p:nvSpPr>
        <p:spPr>
          <a:xfrm>
            <a:off x="6264257" y="3226879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15B530C-1660-92AD-6F1D-373D6C8EF5AE}"/>
              </a:ext>
            </a:extLst>
          </p:cNvPr>
          <p:cNvCxnSpPr>
            <a:cxnSpLocks/>
            <a:stCxn id="107" idx="5"/>
          </p:cNvCxnSpPr>
          <p:nvPr/>
        </p:nvCxnSpPr>
        <p:spPr>
          <a:xfrm>
            <a:off x="10595481" y="2627731"/>
            <a:ext cx="897742" cy="46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2DF6FB-9619-FCF7-1220-2DC986843D1A}"/>
              </a:ext>
            </a:extLst>
          </p:cNvPr>
          <p:cNvSpPr txBox="1"/>
          <p:nvPr/>
        </p:nvSpPr>
        <p:spPr>
          <a:xfrm rot="1635757">
            <a:off x="10619969" y="2494106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E731D3-F8F9-5833-D071-2B6CF7FD4207}"/>
              </a:ext>
            </a:extLst>
          </p:cNvPr>
          <p:cNvSpPr txBox="1"/>
          <p:nvPr/>
        </p:nvSpPr>
        <p:spPr>
          <a:xfrm>
            <a:off x="7773803" y="2959998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69D84F6-5F7E-5ED8-3FD8-9F86D7BBAA7F}"/>
              </a:ext>
            </a:extLst>
          </p:cNvPr>
          <p:cNvSpPr txBox="1"/>
          <p:nvPr/>
        </p:nvSpPr>
        <p:spPr>
          <a:xfrm>
            <a:off x="11129349" y="3091733"/>
            <a:ext cx="103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E9697E-6BAE-D311-CF44-11EA2625A534}"/>
              </a:ext>
            </a:extLst>
          </p:cNvPr>
          <p:cNvSpPr/>
          <p:nvPr/>
        </p:nvSpPr>
        <p:spPr>
          <a:xfrm>
            <a:off x="6392832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E61F8-C7C7-1253-57B9-AE84F41F209D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7073076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327DB1-7CFC-1943-FA95-C5290BB718DE}"/>
              </a:ext>
            </a:extLst>
          </p:cNvPr>
          <p:cNvSpPr txBox="1"/>
          <p:nvPr/>
        </p:nvSpPr>
        <p:spPr>
          <a:xfrm rot="4407779">
            <a:off x="6972012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F2D477F-695E-71BB-252E-D3F88370BBC1}"/>
              </a:ext>
            </a:extLst>
          </p:cNvPr>
          <p:cNvSpPr txBox="1"/>
          <p:nvPr/>
        </p:nvSpPr>
        <p:spPr>
          <a:xfrm rot="19288165">
            <a:off x="6509778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8C09F6E-EDA1-AB73-0E4F-28EA570003B9}"/>
              </a:ext>
            </a:extLst>
          </p:cNvPr>
          <p:cNvSpPr txBox="1"/>
          <p:nvPr/>
        </p:nvSpPr>
        <p:spPr>
          <a:xfrm rot="2276392">
            <a:off x="7733714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29D18D-80E0-B7E6-C826-11866691B743}"/>
              </a:ext>
            </a:extLst>
          </p:cNvPr>
          <p:cNvSpPr txBox="1"/>
          <p:nvPr/>
        </p:nvSpPr>
        <p:spPr>
          <a:xfrm>
            <a:off x="688915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EV=1.0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14E4949-A313-FB11-CE0A-076CC1149069}"/>
              </a:ext>
            </a:extLst>
          </p:cNvPr>
          <p:cNvSpPr txBox="1"/>
          <p:nvPr/>
        </p:nvSpPr>
        <p:spPr>
          <a:xfrm>
            <a:off x="838594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1DA7408D-16A2-6B09-5748-2811E8A458D0}"/>
              </a:ext>
            </a:extLst>
          </p:cNvPr>
          <p:cNvSpPr/>
          <p:nvPr/>
        </p:nvSpPr>
        <p:spPr>
          <a:xfrm>
            <a:off x="9909017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FA2641F7-A605-8320-84D9-27017B27E955}"/>
              </a:ext>
            </a:extLst>
          </p:cNvPr>
          <p:cNvSpPr/>
          <p:nvPr/>
        </p:nvSpPr>
        <p:spPr>
          <a:xfrm>
            <a:off x="10629780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3750B6F4-C098-E686-2160-E599C2FF3231}"/>
              </a:ext>
            </a:extLst>
          </p:cNvPr>
          <p:cNvCxnSpPr>
            <a:cxnSpLocks/>
            <a:stCxn id="52" idx="5"/>
            <a:endCxn id="53" idx="0"/>
          </p:cNvCxnSpPr>
          <p:nvPr/>
        </p:nvCxnSpPr>
        <p:spPr>
          <a:xfrm>
            <a:off x="1058926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8C735CA-64C6-9FDF-E3FA-978DB28104C8}"/>
              </a:ext>
            </a:extLst>
          </p:cNvPr>
          <p:cNvCxnSpPr>
            <a:cxnSpLocks/>
            <a:stCxn id="52" idx="3"/>
            <a:endCxn id="58" idx="0"/>
          </p:cNvCxnSpPr>
          <p:nvPr/>
        </p:nvCxnSpPr>
        <p:spPr>
          <a:xfrm flipH="1">
            <a:off x="958673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8573862-6F84-49E6-7F6F-024134D9D470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11310024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107D107-6501-B92C-BBC1-AEE5A1C71666}"/>
              </a:ext>
            </a:extLst>
          </p:cNvPr>
          <p:cNvSpPr txBox="1"/>
          <p:nvPr/>
        </p:nvSpPr>
        <p:spPr>
          <a:xfrm rot="4407779">
            <a:off x="11196326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E0279523-F828-8F63-9807-36DB2F8B076B}"/>
              </a:ext>
            </a:extLst>
          </p:cNvPr>
          <p:cNvSpPr/>
          <p:nvPr/>
        </p:nvSpPr>
        <p:spPr>
          <a:xfrm>
            <a:off x="9188253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8EE14601-8D93-1756-A8C6-515A158045E8}"/>
              </a:ext>
            </a:extLst>
          </p:cNvPr>
          <p:cNvCxnSpPr>
            <a:cxnSpLocks/>
            <a:stCxn id="58" idx="5"/>
          </p:cNvCxnSpPr>
          <p:nvPr/>
        </p:nvCxnSpPr>
        <p:spPr>
          <a:xfrm>
            <a:off x="9868497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BCC3E22-4C00-3DD5-C7BE-5AD9C0F42C5D}"/>
              </a:ext>
            </a:extLst>
          </p:cNvPr>
          <p:cNvSpPr txBox="1"/>
          <p:nvPr/>
        </p:nvSpPr>
        <p:spPr>
          <a:xfrm rot="4407779">
            <a:off x="9767433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E913559-2A58-CC95-6FE3-34AC1ACEA13D}"/>
              </a:ext>
            </a:extLst>
          </p:cNvPr>
          <p:cNvSpPr txBox="1"/>
          <p:nvPr/>
        </p:nvSpPr>
        <p:spPr>
          <a:xfrm rot="19288165">
            <a:off x="9305199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P=0.5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E5F3866-52AC-9125-5DE5-950D44D07C74}"/>
              </a:ext>
            </a:extLst>
          </p:cNvPr>
          <p:cNvSpPr txBox="1"/>
          <p:nvPr/>
        </p:nvSpPr>
        <p:spPr>
          <a:xfrm rot="2276392">
            <a:off x="10529135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E9A6265-37EF-AB9A-1A7C-58C239E22BA0}"/>
              </a:ext>
            </a:extLst>
          </p:cNvPr>
          <p:cNvSpPr txBox="1"/>
          <p:nvPr/>
        </p:nvSpPr>
        <p:spPr>
          <a:xfrm>
            <a:off x="9586731" y="5410090"/>
            <a:ext cx="9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EV=-1.0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B4F2047C-8850-D0FC-FA50-AD66508DC586}"/>
              </a:ext>
            </a:extLst>
          </p:cNvPr>
          <p:cNvSpPr txBox="1"/>
          <p:nvPr/>
        </p:nvSpPr>
        <p:spPr>
          <a:xfrm>
            <a:off x="11181369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C42815E-B9FE-8359-E9EE-249DE6C0917A}"/>
              </a:ext>
            </a:extLst>
          </p:cNvPr>
          <p:cNvSpPr txBox="1"/>
          <p:nvPr/>
        </p:nvSpPr>
        <p:spPr>
          <a:xfrm>
            <a:off x="9485641" y="2806381"/>
            <a:ext cx="932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EV=-0.5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554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Reach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14</a:t>
            </a:fld>
            <a:endParaRPr kumimoji="1" lang="zh-TW" altLang="en-US"/>
          </a:p>
        </p:txBody>
      </p: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US" altLang="zh-TW" dirty="0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8989A2FD-9F49-EEBE-80F3-AA33BAB1E66E}"/>
              </a:ext>
            </a:extLst>
          </p:cNvPr>
          <p:cNvSpPr/>
          <p:nvPr/>
        </p:nvSpPr>
        <p:spPr>
          <a:xfrm>
            <a:off x="7113596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B914B122-29AA-EC5F-71CB-D9905FA4DC16}"/>
              </a:ext>
            </a:extLst>
          </p:cNvPr>
          <p:cNvSpPr/>
          <p:nvPr/>
        </p:nvSpPr>
        <p:spPr>
          <a:xfrm>
            <a:off x="7834359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4107B6DB-EF99-5FB1-8251-097222043775}"/>
              </a:ext>
            </a:extLst>
          </p:cNvPr>
          <p:cNvCxnSpPr>
            <a:cxnSpLocks/>
            <a:stCxn id="136" idx="5"/>
            <a:endCxn id="138" idx="0"/>
          </p:cNvCxnSpPr>
          <p:nvPr/>
        </p:nvCxnSpPr>
        <p:spPr>
          <a:xfrm>
            <a:off x="779384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4F4B3325-8509-03DD-62EA-23227991DA4B}"/>
              </a:ext>
            </a:extLst>
          </p:cNvPr>
          <p:cNvCxnSpPr>
            <a:cxnSpLocks/>
            <a:stCxn id="136" idx="3"/>
            <a:endCxn id="14" idx="0"/>
          </p:cNvCxnSpPr>
          <p:nvPr/>
        </p:nvCxnSpPr>
        <p:spPr>
          <a:xfrm flipH="1">
            <a:off x="679131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875B7AC2-48E4-41E3-1BB1-19B1F95FB383}"/>
              </a:ext>
            </a:extLst>
          </p:cNvPr>
          <p:cNvCxnSpPr>
            <a:cxnSpLocks/>
            <a:stCxn id="138" idx="5"/>
          </p:cNvCxnSpPr>
          <p:nvPr/>
        </p:nvCxnSpPr>
        <p:spPr>
          <a:xfrm>
            <a:off x="8514603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F620B5CC-AD00-ABF9-57DE-1D66F8EAD5D0}"/>
              </a:ext>
            </a:extLst>
          </p:cNvPr>
          <p:cNvSpPr txBox="1"/>
          <p:nvPr/>
        </p:nvSpPr>
        <p:spPr>
          <a:xfrm rot="4407779">
            <a:off x="8400905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7AC834D-AA2D-041A-ACC3-D876FDC98AAB}"/>
              </a:ext>
            </a:extLst>
          </p:cNvPr>
          <p:cNvSpPr/>
          <p:nvPr/>
        </p:nvSpPr>
        <p:spPr>
          <a:xfrm>
            <a:off x="8516606" y="934546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B7446961-C0EC-02B9-5E31-A17F5F9C65A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798218" y="1614790"/>
            <a:ext cx="835099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284A3551-3C25-4275-ED9E-7C6A8932C28A}"/>
              </a:ext>
            </a:extLst>
          </p:cNvPr>
          <p:cNvCxnSpPr>
            <a:cxnSpLocks/>
            <a:stCxn id="61" idx="5"/>
          </p:cNvCxnSpPr>
          <p:nvPr/>
        </p:nvCxnSpPr>
        <p:spPr>
          <a:xfrm>
            <a:off x="9196850" y="1614790"/>
            <a:ext cx="835098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00101D65-8DA9-334D-3109-189A74372273}"/>
              </a:ext>
            </a:extLst>
          </p:cNvPr>
          <p:cNvSpPr txBox="1"/>
          <p:nvPr/>
        </p:nvSpPr>
        <p:spPr>
          <a:xfrm rot="1710687">
            <a:off x="9344642" y="1215923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2B7215E9-91A1-0410-5971-ED48FC695FE5}"/>
              </a:ext>
            </a:extLst>
          </p:cNvPr>
          <p:cNvSpPr txBox="1"/>
          <p:nvPr/>
        </p:nvSpPr>
        <p:spPr>
          <a:xfrm rot="19915633">
            <a:off x="7693019" y="1208519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F65F89F3-12B3-7DED-E900-064742221866}"/>
              </a:ext>
            </a:extLst>
          </p:cNvPr>
          <p:cNvSpPr/>
          <p:nvPr/>
        </p:nvSpPr>
        <p:spPr>
          <a:xfrm>
            <a:off x="7117974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5C15AB0E-D62C-A7FD-3A88-083478276C8B}"/>
              </a:ext>
            </a:extLst>
          </p:cNvPr>
          <p:cNvSpPr/>
          <p:nvPr/>
        </p:nvSpPr>
        <p:spPr>
          <a:xfrm>
            <a:off x="9915237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9DFE0B12-AAE3-A807-E2F0-5F3C93FA8758}"/>
              </a:ext>
            </a:extLst>
          </p:cNvPr>
          <p:cNvCxnSpPr>
            <a:stCxn id="106" idx="4"/>
            <a:endCxn id="136" idx="0"/>
          </p:cNvCxnSpPr>
          <p:nvPr/>
        </p:nvCxnSpPr>
        <p:spPr>
          <a:xfrm flipH="1">
            <a:off x="7512074" y="2744442"/>
            <a:ext cx="4378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1D802C8-E1E2-5230-0944-4833FA1C4B1E}"/>
              </a:ext>
            </a:extLst>
          </p:cNvPr>
          <p:cNvCxnSpPr>
            <a:cxnSpLocks/>
            <a:stCxn id="107" idx="4"/>
            <a:endCxn id="52" idx="0"/>
          </p:cNvCxnSpPr>
          <p:nvPr/>
        </p:nvCxnSpPr>
        <p:spPr>
          <a:xfrm flipH="1">
            <a:off x="10307495" y="2744442"/>
            <a:ext cx="6220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4B6F0B7-B0EB-1E93-6D20-E1A317FB3780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6600813" y="2627731"/>
            <a:ext cx="633872" cy="580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072F92-C86D-0E68-C626-AD812E7D4B9B}"/>
              </a:ext>
            </a:extLst>
          </p:cNvPr>
          <p:cNvSpPr txBox="1"/>
          <p:nvPr/>
        </p:nvSpPr>
        <p:spPr>
          <a:xfrm rot="19065430">
            <a:off x="6238662" y="2665188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6F2064-6C3F-0014-F5B8-E02CC2A73EFD}"/>
              </a:ext>
            </a:extLst>
          </p:cNvPr>
          <p:cNvSpPr txBox="1"/>
          <p:nvPr/>
        </p:nvSpPr>
        <p:spPr>
          <a:xfrm>
            <a:off x="6264257" y="3226879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15B530C-1660-92AD-6F1D-373D6C8EF5AE}"/>
              </a:ext>
            </a:extLst>
          </p:cNvPr>
          <p:cNvCxnSpPr>
            <a:cxnSpLocks/>
            <a:stCxn id="107" idx="5"/>
          </p:cNvCxnSpPr>
          <p:nvPr/>
        </p:nvCxnSpPr>
        <p:spPr>
          <a:xfrm>
            <a:off x="10595481" y="2627731"/>
            <a:ext cx="897742" cy="46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2DF6FB-9619-FCF7-1220-2DC986843D1A}"/>
              </a:ext>
            </a:extLst>
          </p:cNvPr>
          <p:cNvSpPr txBox="1"/>
          <p:nvPr/>
        </p:nvSpPr>
        <p:spPr>
          <a:xfrm rot="1635757">
            <a:off x="10619969" y="2494106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E731D3-F8F9-5833-D071-2B6CF7FD4207}"/>
              </a:ext>
            </a:extLst>
          </p:cNvPr>
          <p:cNvSpPr txBox="1"/>
          <p:nvPr/>
        </p:nvSpPr>
        <p:spPr>
          <a:xfrm>
            <a:off x="7773803" y="2959998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EV=1.0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69D84F6-5F7E-5ED8-3FD8-9F86D7BBAA7F}"/>
              </a:ext>
            </a:extLst>
          </p:cNvPr>
          <p:cNvSpPr txBox="1"/>
          <p:nvPr/>
        </p:nvSpPr>
        <p:spPr>
          <a:xfrm>
            <a:off x="11129349" y="3091733"/>
            <a:ext cx="103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EV=-0.5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E9697E-6BAE-D311-CF44-11EA2625A534}"/>
              </a:ext>
            </a:extLst>
          </p:cNvPr>
          <p:cNvSpPr/>
          <p:nvPr/>
        </p:nvSpPr>
        <p:spPr>
          <a:xfrm>
            <a:off x="6392832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E61F8-C7C7-1253-57B9-AE84F41F209D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7073076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327DB1-7CFC-1943-FA95-C5290BB718DE}"/>
              </a:ext>
            </a:extLst>
          </p:cNvPr>
          <p:cNvSpPr txBox="1"/>
          <p:nvPr/>
        </p:nvSpPr>
        <p:spPr>
          <a:xfrm rot="4407779">
            <a:off x="6972012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F2D477F-695E-71BB-252E-D3F88370BBC1}"/>
              </a:ext>
            </a:extLst>
          </p:cNvPr>
          <p:cNvSpPr txBox="1"/>
          <p:nvPr/>
        </p:nvSpPr>
        <p:spPr>
          <a:xfrm rot="19288165">
            <a:off x="6509778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8C09F6E-EDA1-AB73-0E4F-28EA570003B9}"/>
              </a:ext>
            </a:extLst>
          </p:cNvPr>
          <p:cNvSpPr txBox="1"/>
          <p:nvPr/>
        </p:nvSpPr>
        <p:spPr>
          <a:xfrm rot="2276392">
            <a:off x="7733714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29D18D-80E0-B7E6-C826-11866691B743}"/>
              </a:ext>
            </a:extLst>
          </p:cNvPr>
          <p:cNvSpPr txBox="1"/>
          <p:nvPr/>
        </p:nvSpPr>
        <p:spPr>
          <a:xfrm>
            <a:off x="688915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14E4949-A313-FB11-CE0A-076CC1149069}"/>
              </a:ext>
            </a:extLst>
          </p:cNvPr>
          <p:cNvSpPr txBox="1"/>
          <p:nvPr/>
        </p:nvSpPr>
        <p:spPr>
          <a:xfrm>
            <a:off x="838594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1DA7408D-16A2-6B09-5748-2811E8A458D0}"/>
              </a:ext>
            </a:extLst>
          </p:cNvPr>
          <p:cNvSpPr/>
          <p:nvPr/>
        </p:nvSpPr>
        <p:spPr>
          <a:xfrm>
            <a:off x="9909017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FA2641F7-A605-8320-84D9-27017B27E955}"/>
              </a:ext>
            </a:extLst>
          </p:cNvPr>
          <p:cNvSpPr/>
          <p:nvPr/>
        </p:nvSpPr>
        <p:spPr>
          <a:xfrm>
            <a:off x="10629780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3750B6F4-C098-E686-2160-E599C2FF3231}"/>
              </a:ext>
            </a:extLst>
          </p:cNvPr>
          <p:cNvCxnSpPr>
            <a:cxnSpLocks/>
            <a:stCxn id="52" idx="5"/>
            <a:endCxn id="53" idx="0"/>
          </p:cNvCxnSpPr>
          <p:nvPr/>
        </p:nvCxnSpPr>
        <p:spPr>
          <a:xfrm>
            <a:off x="1058926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8C735CA-64C6-9FDF-E3FA-978DB28104C8}"/>
              </a:ext>
            </a:extLst>
          </p:cNvPr>
          <p:cNvCxnSpPr>
            <a:cxnSpLocks/>
            <a:stCxn id="52" idx="3"/>
            <a:endCxn id="58" idx="0"/>
          </p:cNvCxnSpPr>
          <p:nvPr/>
        </p:nvCxnSpPr>
        <p:spPr>
          <a:xfrm flipH="1">
            <a:off x="958673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8573862-6F84-49E6-7F6F-024134D9D470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11310024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107D107-6501-B92C-BBC1-AEE5A1C71666}"/>
              </a:ext>
            </a:extLst>
          </p:cNvPr>
          <p:cNvSpPr txBox="1"/>
          <p:nvPr/>
        </p:nvSpPr>
        <p:spPr>
          <a:xfrm rot="4407779">
            <a:off x="11196326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E0279523-F828-8F63-9807-36DB2F8B076B}"/>
              </a:ext>
            </a:extLst>
          </p:cNvPr>
          <p:cNvSpPr/>
          <p:nvPr/>
        </p:nvSpPr>
        <p:spPr>
          <a:xfrm>
            <a:off x="9188253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8EE14601-8D93-1756-A8C6-515A158045E8}"/>
              </a:ext>
            </a:extLst>
          </p:cNvPr>
          <p:cNvCxnSpPr>
            <a:cxnSpLocks/>
            <a:stCxn id="58" idx="5"/>
          </p:cNvCxnSpPr>
          <p:nvPr/>
        </p:nvCxnSpPr>
        <p:spPr>
          <a:xfrm>
            <a:off x="9868497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BCC3E22-4C00-3DD5-C7BE-5AD9C0F42C5D}"/>
              </a:ext>
            </a:extLst>
          </p:cNvPr>
          <p:cNvSpPr txBox="1"/>
          <p:nvPr/>
        </p:nvSpPr>
        <p:spPr>
          <a:xfrm rot="4407779">
            <a:off x="9767433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E913559-2A58-CC95-6FE3-34AC1ACEA13D}"/>
              </a:ext>
            </a:extLst>
          </p:cNvPr>
          <p:cNvSpPr txBox="1"/>
          <p:nvPr/>
        </p:nvSpPr>
        <p:spPr>
          <a:xfrm rot="19288165">
            <a:off x="9305199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E5F3866-52AC-9125-5DE5-950D44D07C74}"/>
              </a:ext>
            </a:extLst>
          </p:cNvPr>
          <p:cNvSpPr txBox="1"/>
          <p:nvPr/>
        </p:nvSpPr>
        <p:spPr>
          <a:xfrm rot="2276392">
            <a:off x="10529135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E9A6265-37EF-AB9A-1A7C-58C239E22BA0}"/>
              </a:ext>
            </a:extLst>
          </p:cNvPr>
          <p:cNvSpPr txBox="1"/>
          <p:nvPr/>
        </p:nvSpPr>
        <p:spPr>
          <a:xfrm>
            <a:off x="9586731" y="5410090"/>
            <a:ext cx="9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B4F2047C-8850-D0FC-FA50-AD66508DC586}"/>
              </a:ext>
            </a:extLst>
          </p:cNvPr>
          <p:cNvSpPr txBox="1"/>
          <p:nvPr/>
        </p:nvSpPr>
        <p:spPr>
          <a:xfrm>
            <a:off x="11181369" y="5410090"/>
            <a:ext cx="9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C42815E-B9FE-8359-E9EE-249DE6C0917A}"/>
              </a:ext>
            </a:extLst>
          </p:cNvPr>
          <p:cNvSpPr txBox="1"/>
          <p:nvPr/>
        </p:nvSpPr>
        <p:spPr>
          <a:xfrm>
            <a:off x="9485641" y="2806381"/>
            <a:ext cx="932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EV=-1.0</a:t>
            </a:r>
            <a:endParaRPr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20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Reach Subgame Solving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15</a:t>
            </a:fld>
            <a:endParaRPr kumimoji="1" lang="zh-TW" altLang="en-US"/>
          </a:p>
        </p:txBody>
      </p:sp>
      <p:sp>
        <p:nvSpPr>
          <p:cNvPr id="81" name="內容版面配置區 2">
            <a:extLst>
              <a:ext uri="{FF2B5EF4-FFF2-40B4-BE49-F238E27FC236}">
                <a16:creationId xmlns:a16="http://schemas.microsoft.com/office/drawing/2014/main" id="{4FCA4EE1-6709-ACAA-7A83-7E3E1C31E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09689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Reach subgame solving will not increase a safe technique’ s exploitability, and lower it if there is slack.  </a:t>
            </a:r>
          </a:p>
          <a:p>
            <a:pPr>
              <a:lnSpc>
                <a:spcPct val="120000"/>
              </a:lnSpc>
            </a:pPr>
            <a:endParaRPr lang="en-US" altLang="zh-TW" dirty="0"/>
          </a:p>
        </p:txBody>
      </p:sp>
      <p:sp>
        <p:nvSpPr>
          <p:cNvPr id="136" name="橢圓 135">
            <a:extLst>
              <a:ext uri="{FF2B5EF4-FFF2-40B4-BE49-F238E27FC236}">
                <a16:creationId xmlns:a16="http://schemas.microsoft.com/office/drawing/2014/main" id="{8989A2FD-9F49-EEBE-80F3-AA33BAB1E66E}"/>
              </a:ext>
            </a:extLst>
          </p:cNvPr>
          <p:cNvSpPr/>
          <p:nvPr/>
        </p:nvSpPr>
        <p:spPr>
          <a:xfrm>
            <a:off x="7113596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B914B122-29AA-EC5F-71CB-D9905FA4DC16}"/>
              </a:ext>
            </a:extLst>
          </p:cNvPr>
          <p:cNvSpPr/>
          <p:nvPr/>
        </p:nvSpPr>
        <p:spPr>
          <a:xfrm>
            <a:off x="7834359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9" name="直線單箭頭接點 138">
            <a:extLst>
              <a:ext uri="{FF2B5EF4-FFF2-40B4-BE49-F238E27FC236}">
                <a16:creationId xmlns:a16="http://schemas.microsoft.com/office/drawing/2014/main" id="{4107B6DB-EF99-5FB1-8251-097222043775}"/>
              </a:ext>
            </a:extLst>
          </p:cNvPr>
          <p:cNvCxnSpPr>
            <a:cxnSpLocks/>
            <a:stCxn id="136" idx="5"/>
            <a:endCxn id="138" idx="0"/>
          </p:cNvCxnSpPr>
          <p:nvPr/>
        </p:nvCxnSpPr>
        <p:spPr>
          <a:xfrm>
            <a:off x="779384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>
            <a:extLst>
              <a:ext uri="{FF2B5EF4-FFF2-40B4-BE49-F238E27FC236}">
                <a16:creationId xmlns:a16="http://schemas.microsoft.com/office/drawing/2014/main" id="{4F4B3325-8509-03DD-62EA-23227991DA4B}"/>
              </a:ext>
            </a:extLst>
          </p:cNvPr>
          <p:cNvCxnSpPr>
            <a:cxnSpLocks/>
            <a:stCxn id="136" idx="3"/>
            <a:endCxn id="14" idx="0"/>
          </p:cNvCxnSpPr>
          <p:nvPr/>
        </p:nvCxnSpPr>
        <p:spPr>
          <a:xfrm flipH="1">
            <a:off x="6791310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單箭頭接點 144">
            <a:extLst>
              <a:ext uri="{FF2B5EF4-FFF2-40B4-BE49-F238E27FC236}">
                <a16:creationId xmlns:a16="http://schemas.microsoft.com/office/drawing/2014/main" id="{875B7AC2-48E4-41E3-1BB1-19B1F95FB383}"/>
              </a:ext>
            </a:extLst>
          </p:cNvPr>
          <p:cNvCxnSpPr>
            <a:cxnSpLocks/>
            <a:stCxn id="138" idx="5"/>
          </p:cNvCxnSpPr>
          <p:nvPr/>
        </p:nvCxnSpPr>
        <p:spPr>
          <a:xfrm>
            <a:off x="8514603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F620B5CC-AD00-ABF9-57DE-1D66F8EAD5D0}"/>
              </a:ext>
            </a:extLst>
          </p:cNvPr>
          <p:cNvSpPr txBox="1"/>
          <p:nvPr/>
        </p:nvSpPr>
        <p:spPr>
          <a:xfrm rot="4407779">
            <a:off x="8400905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A7AC834D-AA2D-041A-ACC3-D876FDC98AAB}"/>
              </a:ext>
            </a:extLst>
          </p:cNvPr>
          <p:cNvSpPr/>
          <p:nvPr/>
        </p:nvSpPr>
        <p:spPr>
          <a:xfrm>
            <a:off x="8516606" y="934546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B7446961-C0EC-02B9-5E31-A17F5F9C65A0}"/>
              </a:ext>
            </a:extLst>
          </p:cNvPr>
          <p:cNvCxnSpPr>
            <a:cxnSpLocks/>
            <a:stCxn id="61" idx="3"/>
          </p:cNvCxnSpPr>
          <p:nvPr/>
        </p:nvCxnSpPr>
        <p:spPr>
          <a:xfrm flipH="1">
            <a:off x="7798218" y="1614790"/>
            <a:ext cx="835099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70">
            <a:extLst>
              <a:ext uri="{FF2B5EF4-FFF2-40B4-BE49-F238E27FC236}">
                <a16:creationId xmlns:a16="http://schemas.microsoft.com/office/drawing/2014/main" id="{284A3551-3C25-4275-ED9E-7C6A8932C28A}"/>
              </a:ext>
            </a:extLst>
          </p:cNvPr>
          <p:cNvCxnSpPr>
            <a:cxnSpLocks/>
            <a:stCxn id="61" idx="5"/>
          </p:cNvCxnSpPr>
          <p:nvPr/>
        </p:nvCxnSpPr>
        <p:spPr>
          <a:xfrm>
            <a:off x="9196850" y="1614790"/>
            <a:ext cx="835098" cy="4494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00101D65-8DA9-334D-3109-189A74372273}"/>
              </a:ext>
            </a:extLst>
          </p:cNvPr>
          <p:cNvSpPr txBox="1"/>
          <p:nvPr/>
        </p:nvSpPr>
        <p:spPr>
          <a:xfrm rot="1710687">
            <a:off x="9344642" y="1215923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Tails</a:t>
            </a:r>
            <a:endParaRPr lang="zh-TW" altLang="en-US" dirty="0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2B7215E9-91A1-0410-5971-ED48FC695FE5}"/>
              </a:ext>
            </a:extLst>
          </p:cNvPr>
          <p:cNvSpPr txBox="1"/>
          <p:nvPr/>
        </p:nvSpPr>
        <p:spPr>
          <a:xfrm rot="19915633">
            <a:off x="7693019" y="1208519"/>
            <a:ext cx="79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</a:p>
          <a:p>
            <a:pPr algn="ctr"/>
            <a:r>
              <a:rPr lang="en-US" altLang="zh-TW" dirty="0"/>
              <a:t>Heads</a:t>
            </a:r>
            <a:endParaRPr lang="zh-TW" altLang="en-US" dirty="0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F65F89F3-12B3-7DED-E900-064742221866}"/>
              </a:ext>
            </a:extLst>
          </p:cNvPr>
          <p:cNvSpPr/>
          <p:nvPr/>
        </p:nvSpPr>
        <p:spPr>
          <a:xfrm>
            <a:off x="7117974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5C15AB0E-D62C-A7FD-3A88-083478276C8B}"/>
              </a:ext>
            </a:extLst>
          </p:cNvPr>
          <p:cNvSpPr/>
          <p:nvPr/>
        </p:nvSpPr>
        <p:spPr>
          <a:xfrm>
            <a:off x="9915237" y="1947487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67" name="直線單箭頭接點 166">
            <a:extLst>
              <a:ext uri="{FF2B5EF4-FFF2-40B4-BE49-F238E27FC236}">
                <a16:creationId xmlns:a16="http://schemas.microsoft.com/office/drawing/2014/main" id="{9DFE0B12-AAE3-A807-E2F0-5F3C93FA8758}"/>
              </a:ext>
            </a:extLst>
          </p:cNvPr>
          <p:cNvCxnSpPr>
            <a:stCxn id="106" idx="4"/>
            <a:endCxn id="136" idx="0"/>
          </p:cNvCxnSpPr>
          <p:nvPr/>
        </p:nvCxnSpPr>
        <p:spPr>
          <a:xfrm flipH="1">
            <a:off x="7512074" y="2744442"/>
            <a:ext cx="4378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單箭頭接點 168">
            <a:extLst>
              <a:ext uri="{FF2B5EF4-FFF2-40B4-BE49-F238E27FC236}">
                <a16:creationId xmlns:a16="http://schemas.microsoft.com/office/drawing/2014/main" id="{51D802C8-E1E2-5230-0944-4833FA1C4B1E}"/>
              </a:ext>
            </a:extLst>
          </p:cNvPr>
          <p:cNvCxnSpPr>
            <a:cxnSpLocks/>
            <a:stCxn id="107" idx="4"/>
            <a:endCxn id="52" idx="0"/>
          </p:cNvCxnSpPr>
          <p:nvPr/>
        </p:nvCxnSpPr>
        <p:spPr>
          <a:xfrm flipH="1">
            <a:off x="10307495" y="2744442"/>
            <a:ext cx="6220" cy="34729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4B6F0B7-B0EB-1E93-6D20-E1A317FB3780}"/>
              </a:ext>
            </a:extLst>
          </p:cNvPr>
          <p:cNvCxnSpPr>
            <a:cxnSpLocks/>
            <a:stCxn id="106" idx="3"/>
          </p:cNvCxnSpPr>
          <p:nvPr/>
        </p:nvCxnSpPr>
        <p:spPr>
          <a:xfrm flipH="1">
            <a:off x="6600813" y="2627731"/>
            <a:ext cx="633872" cy="5807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072F92-C86D-0E68-C626-AD812E7D4B9B}"/>
              </a:ext>
            </a:extLst>
          </p:cNvPr>
          <p:cNvSpPr txBox="1"/>
          <p:nvPr/>
        </p:nvSpPr>
        <p:spPr>
          <a:xfrm rot="19065430">
            <a:off x="6238662" y="2665188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96F2064-6C3F-0014-F5B8-E02CC2A73EFD}"/>
              </a:ext>
            </a:extLst>
          </p:cNvPr>
          <p:cNvSpPr txBox="1"/>
          <p:nvPr/>
        </p:nvSpPr>
        <p:spPr>
          <a:xfrm>
            <a:off x="6264257" y="3226879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15B530C-1660-92AD-6F1D-373D6C8EF5AE}"/>
              </a:ext>
            </a:extLst>
          </p:cNvPr>
          <p:cNvCxnSpPr>
            <a:cxnSpLocks/>
            <a:stCxn id="107" idx="5"/>
          </p:cNvCxnSpPr>
          <p:nvPr/>
        </p:nvCxnSpPr>
        <p:spPr>
          <a:xfrm>
            <a:off x="10595481" y="2627731"/>
            <a:ext cx="897742" cy="464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C72DF6FB-9619-FCF7-1220-2DC986843D1A}"/>
              </a:ext>
            </a:extLst>
          </p:cNvPr>
          <p:cNvSpPr txBox="1"/>
          <p:nvPr/>
        </p:nvSpPr>
        <p:spPr>
          <a:xfrm rot="1635757">
            <a:off x="10619969" y="2494106"/>
            <a:ext cx="974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Deviate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E731D3-F8F9-5833-D071-2B6CF7FD4207}"/>
              </a:ext>
            </a:extLst>
          </p:cNvPr>
          <p:cNvSpPr txBox="1"/>
          <p:nvPr/>
        </p:nvSpPr>
        <p:spPr>
          <a:xfrm>
            <a:off x="7773803" y="2959998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EV=0.5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69D84F6-5F7E-5ED8-3FD8-9F86D7BBAA7F}"/>
              </a:ext>
            </a:extLst>
          </p:cNvPr>
          <p:cNvSpPr txBox="1"/>
          <p:nvPr/>
        </p:nvSpPr>
        <p:spPr>
          <a:xfrm>
            <a:off x="11129349" y="3091733"/>
            <a:ext cx="1035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4BE9697E-6BAE-D311-CF44-11EA2625A534}"/>
              </a:ext>
            </a:extLst>
          </p:cNvPr>
          <p:cNvSpPr/>
          <p:nvPr/>
        </p:nvSpPr>
        <p:spPr>
          <a:xfrm>
            <a:off x="6392832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CCE61F8-C7C7-1253-57B9-AE84F41F209D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7073076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327DB1-7CFC-1943-FA95-C5290BB718DE}"/>
              </a:ext>
            </a:extLst>
          </p:cNvPr>
          <p:cNvSpPr txBox="1"/>
          <p:nvPr/>
        </p:nvSpPr>
        <p:spPr>
          <a:xfrm rot="4407779">
            <a:off x="6972012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F2D477F-695E-71BB-252E-D3F88370BBC1}"/>
              </a:ext>
            </a:extLst>
          </p:cNvPr>
          <p:cNvSpPr txBox="1"/>
          <p:nvPr/>
        </p:nvSpPr>
        <p:spPr>
          <a:xfrm rot="19288165">
            <a:off x="6509778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8C09F6E-EDA1-AB73-0E4F-28EA570003B9}"/>
              </a:ext>
            </a:extLst>
          </p:cNvPr>
          <p:cNvSpPr txBox="1"/>
          <p:nvPr/>
        </p:nvSpPr>
        <p:spPr>
          <a:xfrm rot="2276392">
            <a:off x="7733714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A29D18D-80E0-B7E6-C826-11866691B743}"/>
              </a:ext>
            </a:extLst>
          </p:cNvPr>
          <p:cNvSpPr txBox="1"/>
          <p:nvPr/>
        </p:nvSpPr>
        <p:spPr>
          <a:xfrm>
            <a:off x="688915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14E4949-A313-FB11-CE0A-076CC1149069}"/>
              </a:ext>
            </a:extLst>
          </p:cNvPr>
          <p:cNvSpPr txBox="1"/>
          <p:nvPr/>
        </p:nvSpPr>
        <p:spPr>
          <a:xfrm>
            <a:off x="8385948" y="5410090"/>
            <a:ext cx="871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1DA7408D-16A2-6B09-5748-2811E8A458D0}"/>
              </a:ext>
            </a:extLst>
          </p:cNvPr>
          <p:cNvSpPr/>
          <p:nvPr/>
        </p:nvSpPr>
        <p:spPr>
          <a:xfrm>
            <a:off x="9909017" y="309173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FA2641F7-A605-8320-84D9-27017B27E955}"/>
              </a:ext>
            </a:extLst>
          </p:cNvPr>
          <p:cNvSpPr/>
          <p:nvPr/>
        </p:nvSpPr>
        <p:spPr>
          <a:xfrm>
            <a:off x="10629780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3750B6F4-C098-E686-2160-E599C2FF3231}"/>
              </a:ext>
            </a:extLst>
          </p:cNvPr>
          <p:cNvCxnSpPr>
            <a:cxnSpLocks/>
            <a:stCxn id="52" idx="5"/>
            <a:endCxn id="53" idx="0"/>
          </p:cNvCxnSpPr>
          <p:nvPr/>
        </p:nvCxnSpPr>
        <p:spPr>
          <a:xfrm>
            <a:off x="1058926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58C735CA-64C6-9FDF-E3FA-978DB28104C8}"/>
              </a:ext>
            </a:extLst>
          </p:cNvPr>
          <p:cNvCxnSpPr>
            <a:cxnSpLocks/>
            <a:stCxn id="52" idx="3"/>
            <a:endCxn id="58" idx="0"/>
          </p:cNvCxnSpPr>
          <p:nvPr/>
        </p:nvCxnSpPr>
        <p:spPr>
          <a:xfrm flipH="1">
            <a:off x="9586731" y="3771977"/>
            <a:ext cx="438997" cy="3326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28573862-6F84-49E6-7F6F-024134D9D470}"/>
              </a:ext>
            </a:extLst>
          </p:cNvPr>
          <p:cNvCxnSpPr>
            <a:cxnSpLocks/>
            <a:stCxn id="53" idx="5"/>
          </p:cNvCxnSpPr>
          <p:nvPr/>
        </p:nvCxnSpPr>
        <p:spPr>
          <a:xfrm>
            <a:off x="11310024" y="4784917"/>
            <a:ext cx="219481" cy="709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E107D107-6501-B92C-BBC1-AEE5A1C71666}"/>
              </a:ext>
            </a:extLst>
          </p:cNvPr>
          <p:cNvSpPr txBox="1"/>
          <p:nvPr/>
        </p:nvSpPr>
        <p:spPr>
          <a:xfrm rot="4407779">
            <a:off x="11196326" y="4873101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E0279523-F828-8F63-9807-36DB2F8B076B}"/>
              </a:ext>
            </a:extLst>
          </p:cNvPr>
          <p:cNvSpPr/>
          <p:nvPr/>
        </p:nvSpPr>
        <p:spPr>
          <a:xfrm>
            <a:off x="9188253" y="4104673"/>
            <a:ext cx="796955" cy="796955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8EE14601-8D93-1756-A8C6-515A158045E8}"/>
              </a:ext>
            </a:extLst>
          </p:cNvPr>
          <p:cNvCxnSpPr>
            <a:cxnSpLocks/>
            <a:stCxn id="58" idx="5"/>
          </p:cNvCxnSpPr>
          <p:nvPr/>
        </p:nvCxnSpPr>
        <p:spPr>
          <a:xfrm>
            <a:off x="9868497" y="4784917"/>
            <a:ext cx="232115" cy="706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BCC3E22-4C00-3DD5-C7BE-5AD9C0F42C5D}"/>
              </a:ext>
            </a:extLst>
          </p:cNvPr>
          <p:cNvSpPr txBox="1"/>
          <p:nvPr/>
        </p:nvSpPr>
        <p:spPr>
          <a:xfrm rot="4407779">
            <a:off x="9767433" y="4870089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Play</a:t>
            </a:r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E913559-2A58-CC95-6FE3-34AC1ACEA13D}"/>
              </a:ext>
            </a:extLst>
          </p:cNvPr>
          <p:cNvSpPr txBox="1"/>
          <p:nvPr/>
        </p:nvSpPr>
        <p:spPr>
          <a:xfrm rot="19288165">
            <a:off x="9305199" y="3611270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E5F3866-52AC-9125-5DE5-950D44D07C74}"/>
              </a:ext>
            </a:extLst>
          </p:cNvPr>
          <p:cNvSpPr txBox="1"/>
          <p:nvPr/>
        </p:nvSpPr>
        <p:spPr>
          <a:xfrm rot="2276392">
            <a:off x="10529135" y="3612477"/>
            <a:ext cx="7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P=0.5</a:t>
            </a:r>
            <a:endParaRPr lang="zh-TW" alt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9E9A6265-37EF-AB9A-1A7C-58C239E22BA0}"/>
              </a:ext>
            </a:extLst>
          </p:cNvPr>
          <p:cNvSpPr txBox="1"/>
          <p:nvPr/>
        </p:nvSpPr>
        <p:spPr>
          <a:xfrm>
            <a:off x="9586731" y="5410090"/>
            <a:ext cx="96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B4F2047C-8850-D0FC-FA50-AD66508DC586}"/>
              </a:ext>
            </a:extLst>
          </p:cNvPr>
          <p:cNvSpPr txBox="1"/>
          <p:nvPr/>
        </p:nvSpPr>
        <p:spPr>
          <a:xfrm>
            <a:off x="11028259" y="5410090"/>
            <a:ext cx="1024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accent1"/>
                </a:solidFill>
              </a:rPr>
              <a:t>EV=-0.5</a:t>
            </a:r>
            <a:endParaRPr lang="zh-TW" altLang="en-US" dirty="0">
              <a:solidFill>
                <a:schemeClr val="accent1"/>
              </a:solidFill>
            </a:endParaRP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C42815E-B9FE-8359-E9EE-249DE6C0917A}"/>
              </a:ext>
            </a:extLst>
          </p:cNvPr>
          <p:cNvSpPr txBox="1"/>
          <p:nvPr/>
        </p:nvSpPr>
        <p:spPr>
          <a:xfrm>
            <a:off x="9485641" y="2806381"/>
            <a:ext cx="932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EV=-0.5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69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000" b="1" dirty="0"/>
              <a:t>Experiments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16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C4649A-BAB4-E63C-C2F6-1137B687F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3804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Our best reach subgame solving technique has 3x less exploitability than the best prior safe subgame-solving technique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Nested solving is 12x less exploitable than techniques that do not use real-time reasoning</a:t>
            </a:r>
          </a:p>
          <a:p>
            <a:pPr>
              <a:lnSpc>
                <a:spcPct val="120000"/>
              </a:lnSpc>
            </a:pPr>
            <a:r>
              <a:rPr lang="en-US" altLang="zh-TW" dirty="0"/>
              <a:t>AI decisively defeated the human team by 147 </a:t>
            </a:r>
            <a:r>
              <a:rPr lang="en-US" altLang="zh-TW" dirty="0" err="1"/>
              <a:t>mbb</a:t>
            </a:r>
            <a:r>
              <a:rPr lang="en-US" altLang="zh-TW" dirty="0"/>
              <a:t>/hand</a:t>
            </a:r>
          </a:p>
        </p:txBody>
      </p:sp>
    </p:spTree>
    <p:extLst>
      <p:ext uri="{BB962C8B-B14F-4D97-AF65-F5344CB8AC3E}">
        <p14:creationId xmlns:p14="http://schemas.microsoft.com/office/powerpoint/2010/main" val="606601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12256</TotalTime>
  <Words>1138</Words>
  <Application>Microsoft Macintosh PowerPoint</Application>
  <PresentationFormat>寬螢幕</PresentationFormat>
  <Paragraphs>424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新細明體</vt:lpstr>
      <vt:lpstr>Arial</vt:lpstr>
      <vt:lpstr>Calibri</vt:lpstr>
      <vt:lpstr>Times New Roman</vt:lpstr>
      <vt:lpstr>Office 佈景主題</vt:lpstr>
      <vt:lpstr>Safe and Nested Subgame Solving for Imperfect-Information Games</vt:lpstr>
      <vt:lpstr>Abstract </vt:lpstr>
      <vt:lpstr>Why are imperfect-information games hard?</vt:lpstr>
      <vt:lpstr>Coin Toss - Case1 </vt:lpstr>
      <vt:lpstr>Coin Toss – Case2 </vt:lpstr>
      <vt:lpstr>Coin Toss – Case3 </vt:lpstr>
      <vt:lpstr>Coin Toss – Case4 </vt:lpstr>
      <vt:lpstr>Unsafe Subgame Solving</vt:lpstr>
      <vt:lpstr>Safe Subgame Solving</vt:lpstr>
      <vt:lpstr>Reach Subgame Solving</vt:lpstr>
      <vt:lpstr>Reach Subgame Solving</vt:lpstr>
      <vt:lpstr>Reach Subgame Solving</vt:lpstr>
      <vt:lpstr>Reach Subgame Solving</vt:lpstr>
      <vt:lpstr>Reach Subgame Solving</vt:lpstr>
      <vt:lpstr>Reach Subgame Solving</vt:lpstr>
      <vt:lpstr>Experiments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Deep Learning based Urban Traffic Incident Detection </dc:title>
  <dc:creator>Microsoft Office User</dc:creator>
  <cp:lastModifiedBy>Microsoft Office User</cp:lastModifiedBy>
  <cp:revision>93</cp:revision>
  <dcterms:created xsi:type="dcterms:W3CDTF">2022-05-15T13:18:58Z</dcterms:created>
  <dcterms:modified xsi:type="dcterms:W3CDTF">2022-11-22T10:52:15Z</dcterms:modified>
</cp:coreProperties>
</file>