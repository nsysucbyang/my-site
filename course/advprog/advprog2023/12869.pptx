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"/>
  </p:notesMasterIdLst>
  <p:sldIdLst>
    <p:sldId id="307" r:id="rId2"/>
    <p:sldId id="310" r:id="rId3"/>
    <p:sldId id="311" r:id="rId4"/>
  </p:sldIdLst>
  <p:sldSz cx="9144000" cy="6858000" type="screen4x3"/>
  <p:notesSz cx="6832600" cy="99631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9" autoAdjust="0"/>
    <p:restoredTop sz="92138" autoAdjust="0"/>
  </p:normalViewPr>
  <p:slideViewPr>
    <p:cSldViewPr>
      <p:cViewPr varScale="1">
        <p:scale>
          <a:sx n="105" d="100"/>
          <a:sy n="105" d="100"/>
        </p:scale>
        <p:origin x="138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7366EB4-F41B-474A-A07A-378076858A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543C499-38B7-4E14-9035-0447816D38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DB6B1AE-1259-4CF1-9F08-F34F9A9817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E5F2DEB1-8EA9-45A3-B1BB-04AD49A4CD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4A236D72-B470-475C-9B54-F994C4E3B2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FFC4446D-739F-48A5-ACDC-1B36E0F42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44149C6-61AE-46AB-BFD7-114B7B0084C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7B4AEFA-580E-4E4D-BC3D-0E21CB140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2E0800C-8DD3-47D5-BD70-598360374E1D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7D18EDA-303C-4A48-A9B9-B435432E2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6A90279-B2C6-4EA3-AB8F-55C29FB58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694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349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B035E93-D2D7-4D3C-97AE-4987F621185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576E5940-CD2F-44F1-BC0A-E16C1391E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DC2C47D-419E-428C-9DE3-9F133D825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A8EB8803-AFF1-44D0-A058-A1976894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5945846-3132-4FDE-A8B8-7ACD580D4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38AC28C7-D593-42CA-BDCE-81E7C8D2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E60D9523-7A69-4FB0-9A6A-19E6D0630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9C02889-CD57-4E63-A485-A64B72C92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4E39031C-AD5D-4E47-B011-ED226110F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466C94DA-2653-4A28-B670-00A2330F32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0AC0211-3C42-44CA-A25C-6150EBFBCD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3B69B6-6A7F-44C8-987D-AC2ED335ECD5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66F4F86-70E7-418D-8064-15D680F4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64D577A-B904-4B8B-A26E-7AACB812A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ABC43EB-01A7-4EA3-991F-58ADF908A24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78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1DA4FF0-82A5-4152-B108-887FF642F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4E7C6-3C86-4F82-B236-B235DBF8F9F4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AA4E02B-D27B-452A-B50B-6EE5FA00BA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4EB919-4E96-443F-ABD0-B34A93B9AC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B5471-C1FF-4B8B-A461-8AF6123C81A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447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7A1057E-D213-45AF-B204-73C21C7E8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FFE13-429C-44FD-94AB-0283300FCEDC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511D82-900A-4433-A272-A8B6E3DB5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52A882E-509C-4A06-847D-310C8B611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EE9A9-7C75-474A-96D2-83B54F6F2F4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685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998234D-5E2C-43F0-BDEF-9A3A1CD35A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8D109-BD8E-4218-877E-FACB9A88959E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C70D31-BBD0-445D-926D-C2EB80E2F6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C35788B-116B-4A99-90E3-DF9F02DC4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8AE7E4-04A7-4E8D-8DCC-7D73BD1A5E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006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A033B61-C948-4955-967F-2362B9D27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2EFB0-EA9D-42EF-A85D-A43A05DFAFF4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1E7D2AC-A1E0-48EB-9754-52BE9EA960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663F081-94F4-40A0-988E-E7128E7B78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41554-0D9B-4821-A2D8-85F421DBF2D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44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FC178D7-8A2C-4C43-AECC-23932E80A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7029D-76BA-4F03-A039-A4516D1FFCFB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8C166F4-7F35-4C99-BA1C-0C013AD253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4B7FCC9-C9EF-4C04-BAC4-11566C4C6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43104-B157-4666-9AFC-E0BCC7B136C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694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CCB766-6919-4699-9390-7916DADEB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4BE4A-50E2-44EE-8B45-441E502F2206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5ADB4D2-0BC9-4831-9926-05F9A4B19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F30AC5-8673-451B-81D4-D1414ADFE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D96857-00BC-40BA-B495-4E883453E1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688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523274B-F5B6-45A5-979E-B19D92503C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70BD7-FFED-4AFB-85B2-03658A5F4AF4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4DFC51-1B19-430F-8665-AD82EF39B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9BAE61E-4150-4AC3-AF8E-893C0A30D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0930D-EB19-4B70-8CD8-DEA66D03839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96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32EE945-636C-46ED-8385-2E0DD9FB19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1F76B-E033-434A-A357-C49AB5C40254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1C329D3-D167-46EA-8D96-5B597C3E0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33D005C-2C0D-4B30-A042-54720756D3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D6327-91B7-4672-A3BF-6A19883112E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437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DBC775-BA4C-456E-8EF8-F38C2F1505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7AC0D-9BE2-41C9-A056-17B6A0BA1478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FFA2A14-36A9-40A4-AF04-2FDAD09C6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FBB8050-744F-482F-99F1-4C9105C0D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937D37-3BE5-4531-BE4C-A54B34D47B9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790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95E4B58-ED38-477B-AD50-448DE5847B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4018C-FAF8-48CA-9277-4111E36ABFDF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D3A827D-B5A4-45BE-BE6C-AD6650313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11E3E8D-1280-4150-9966-D704CEC50F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66DC6-0172-44A6-948B-2CCA302BE18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730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163A0A1D-6781-49F1-817C-EB9C5DC2D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7DA0B45B-6A89-4476-9A7F-A24A702E7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3779CCB2-071C-4694-B235-7D041EFDB9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6F07F4B-4B61-40A0-8F9D-5A536BE70FB6}" type="datetime1">
              <a:rPr lang="zh-TW" altLang="en-US"/>
              <a:pPr>
                <a:defRPr/>
              </a:pPr>
              <a:t>2024/5/9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3B248EA0-7F56-4F35-81A4-4B77DCF4D5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CE05FFB4-FD8D-43FD-817B-C98CAE79CA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accent1"/>
                </a:solidFill>
              </a:defRPr>
            </a:lvl1pPr>
          </a:lstStyle>
          <a:p>
            <a:fld id="{627E0D55-5753-43DC-BEB0-ED783FC5A32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>
            <a:extLst>
              <a:ext uri="{FF2B5EF4-FFF2-40B4-BE49-F238E27FC236}">
                <a16:creationId xmlns:a16="http://schemas.microsoft.com/office/drawing/2014/main" id="{B118347F-090B-4B24-B69F-5A5C34A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E3123EA-FF01-4897-ABE0-3A2B8E32A241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3952E695-8FAA-469F-9DBA-5EAB8B997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8464" y="337344"/>
            <a:ext cx="8287072" cy="1066800"/>
          </a:xfrm>
        </p:spPr>
        <p:txBody>
          <a:bodyPr/>
          <a:lstStyle/>
          <a:p>
            <a:pPr eaLnBrk="1" hangingPunct="1"/>
            <a:r>
              <a:rPr lang="en-US" altLang="zh-TW" b="1" dirty="0">
                <a:latin typeface="Times New Roman" panose="02020603050405020304" pitchFamily="18" charset="0"/>
              </a:rPr>
              <a:t>12869: Zeros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A7AE805D-078A-44B1-9791-EFD2EC57A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★★☆☆☆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題組：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Problem Set Archive with Online Judge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題號：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12869: Zeros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解題者：</a:t>
            </a:r>
            <a:r>
              <a:rPr lang="zh-TW" altLang="en-US" sz="2400" dirty="0">
                <a:latin typeface="Times New Roman" panose="02020603050405020304" pitchFamily="18" charset="0"/>
              </a:rPr>
              <a:t>楊景翔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解題日期：</a:t>
            </a:r>
            <a:r>
              <a:rPr lang="zh-TW" altLang="en-US" sz="2400" dirty="0">
                <a:latin typeface="Times New Roman" panose="02020603050405020304" pitchFamily="18" charset="0"/>
              </a:rPr>
              <a:t>20</a:t>
            </a:r>
            <a:r>
              <a:rPr lang="en-US" altLang="zh-TW" sz="2400" dirty="0">
                <a:latin typeface="Times New Roman" panose="02020603050405020304" pitchFamily="18" charset="0"/>
              </a:rPr>
              <a:t>24</a:t>
            </a:r>
            <a:r>
              <a:rPr lang="zh-TW" altLang="en-US" sz="2400" dirty="0">
                <a:latin typeface="Times New Roman" panose="02020603050405020304" pitchFamily="18" charset="0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</a:rPr>
              <a:t>9</a:t>
            </a:r>
            <a:r>
              <a:rPr lang="zh-TW" altLang="en-US" sz="2400" dirty="0">
                <a:latin typeface="Times New Roman" panose="02020603050405020304" pitchFamily="18" charset="0"/>
              </a:rPr>
              <a:t>日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題意：</a:t>
            </a:r>
            <a:r>
              <a:rPr lang="zh-TW" altLang="en-US" sz="2400" dirty="0">
                <a:latin typeface="Times New Roman" panose="02020603050405020304" pitchFamily="18" charset="0"/>
              </a:rPr>
              <a:t>給定兩數字 </a:t>
            </a:r>
            <a:r>
              <a:rPr lang="en-US" altLang="zh-TW" sz="2400" dirty="0">
                <a:latin typeface="Times New Roman" panose="02020603050405020304" pitchFamily="18" charset="0"/>
              </a:rPr>
              <a:t>low </a:t>
            </a:r>
            <a:r>
              <a:rPr lang="zh-TW" altLang="en-US" sz="2400" dirty="0">
                <a:latin typeface="Times New Roman" panose="02020603050405020304" pitchFamily="18" charset="0"/>
              </a:rPr>
              <a:t>與 </a:t>
            </a:r>
            <a:r>
              <a:rPr lang="en-US" altLang="zh-TW" sz="2400" dirty="0">
                <a:latin typeface="Times New Roman" panose="02020603050405020304" pitchFamily="18" charset="0"/>
              </a:rPr>
              <a:t>high</a:t>
            </a:r>
            <a:r>
              <a:rPr lang="zh-TW" altLang="en-US" sz="2400" dirty="0">
                <a:latin typeface="Times New Roman" panose="02020603050405020304" pitchFamily="18" charset="0"/>
              </a:rPr>
              <a:t>。計算 </a:t>
            </a:r>
            <a:r>
              <a:rPr lang="en-US" altLang="zh-TW" sz="2400" dirty="0">
                <a:latin typeface="Times New Roman" panose="02020603050405020304" pitchFamily="18" charset="0"/>
              </a:rPr>
              <a:t>low! ~ high! </a:t>
            </a:r>
            <a:r>
              <a:rPr lang="zh-TW" altLang="en-US" sz="2400" dirty="0">
                <a:latin typeface="Times New Roman" panose="02020603050405020304" pitchFamily="18" charset="0"/>
              </a:rPr>
              <a:t>之間，不同尾數</a:t>
            </a:r>
            <a:r>
              <a:rPr lang="en-US" altLang="zh-TW" sz="2400" dirty="0">
                <a:latin typeface="Times New Roman" panose="02020603050405020304" pitchFamily="18" charset="0"/>
              </a:rPr>
              <a:t>0</a:t>
            </a:r>
            <a:r>
              <a:rPr lang="zh-TW" altLang="en-US" sz="2400" dirty="0">
                <a:latin typeface="Times New Roman" panose="02020603050405020304" pitchFamily="18" charset="0"/>
              </a:rPr>
              <a:t>的種類之數量。</a:t>
            </a:r>
            <a:endParaRPr lang="zh-TW" altLang="en-US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	1 10  </a:t>
            </a:r>
            <a:r>
              <a:rPr lang="zh-TW" altLang="en-US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</a:t>
            </a:r>
            <a:r>
              <a:rPr lang="zh-TW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zh-TW" altLang="en-US" sz="2400" dirty="0">
                <a:latin typeface="Times New Roman" panose="02020603050405020304" pitchFamily="18" charset="0"/>
              </a:rPr>
              <a:t>找規律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</a:rPr>
              <a:t>每 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 個階層尾數就會多一個 </a:t>
            </a:r>
            <a:r>
              <a:rPr lang="en-US" altLang="zh-TW" sz="2400" dirty="0">
                <a:latin typeface="Times New Roman" panose="02020603050405020304" pitchFamily="18" charset="0"/>
              </a:rPr>
              <a:t>0</a:t>
            </a:r>
            <a:r>
              <a:rPr lang="zh-TW" altLang="en-US" sz="2400" dirty="0">
                <a:latin typeface="Times New Roman" panose="02020603050405020304" pitchFamily="18" charset="0"/>
              </a:rPr>
              <a:t>。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!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120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10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!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3628800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15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!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</a:rPr>
              <a:t>1307674368000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</a:rPr>
              <a:t>對 </a:t>
            </a:r>
            <a:r>
              <a:rPr lang="en-US" altLang="zh-TW" sz="2400" dirty="0">
                <a:latin typeface="Times New Roman" panose="02020603050405020304" pitchFamily="18" charset="0"/>
              </a:rPr>
              <a:t>low  </a:t>
            </a:r>
            <a:r>
              <a:rPr lang="zh-TW" altLang="en-US" sz="2400" dirty="0">
                <a:latin typeface="Times New Roman" panose="02020603050405020304" pitchFamily="18" charset="0"/>
              </a:rPr>
              <a:t>除以 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 取整可得 </a:t>
            </a:r>
            <a:r>
              <a:rPr lang="en-US" altLang="zh-TW" sz="2400" dirty="0">
                <a:latin typeface="Times New Roman" panose="02020603050405020304" pitchFamily="18" charset="0"/>
              </a:rPr>
              <a:t>low </a:t>
            </a:r>
            <a:r>
              <a:rPr lang="zh-TW" altLang="en-US" sz="2400" dirty="0">
                <a:latin typeface="Times New Roman" panose="02020603050405020304" pitchFamily="18" charset="0"/>
              </a:rPr>
              <a:t>尾數為 </a:t>
            </a:r>
            <a:r>
              <a:rPr lang="en-US" altLang="zh-TW" sz="2400" dirty="0">
                <a:latin typeface="Times New Roman" panose="02020603050405020304" pitchFamily="18" charset="0"/>
              </a:rPr>
              <a:t>0</a:t>
            </a:r>
            <a:r>
              <a:rPr lang="zh-TW" altLang="en-US" sz="2400" dirty="0">
                <a:latin typeface="Times New Roman" panose="02020603050405020304" pitchFamily="18" charset="0"/>
              </a:rPr>
              <a:t> 的個數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a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</a:rPr>
              <a:t>對 </a:t>
            </a:r>
            <a:r>
              <a:rPr lang="en-US" altLang="zh-TW" sz="2400" dirty="0">
                <a:latin typeface="Times New Roman" panose="02020603050405020304" pitchFamily="18" charset="0"/>
              </a:rPr>
              <a:t>high </a:t>
            </a:r>
            <a:r>
              <a:rPr lang="zh-TW" altLang="en-US" sz="2400" dirty="0">
                <a:latin typeface="Times New Roman" panose="02020603050405020304" pitchFamily="18" charset="0"/>
              </a:rPr>
              <a:t>除以 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 取整可得 </a:t>
            </a:r>
            <a:r>
              <a:rPr lang="en-US" altLang="zh-TW" sz="2400" dirty="0">
                <a:latin typeface="Times New Roman" panose="02020603050405020304" pitchFamily="18" charset="0"/>
              </a:rPr>
              <a:t>high </a:t>
            </a:r>
            <a:r>
              <a:rPr lang="zh-TW" altLang="en-US" sz="2400" dirty="0">
                <a:latin typeface="Times New Roman" panose="02020603050405020304" pitchFamily="18" charset="0"/>
              </a:rPr>
              <a:t>尾數為 </a:t>
            </a:r>
            <a:r>
              <a:rPr lang="en-US" altLang="zh-TW" sz="2400" dirty="0">
                <a:latin typeface="Times New Roman" panose="02020603050405020304" pitchFamily="18" charset="0"/>
              </a:rPr>
              <a:t>0</a:t>
            </a:r>
            <a:r>
              <a:rPr lang="zh-TW" altLang="en-US" sz="2400" dirty="0">
                <a:latin typeface="Times New Roman" panose="02020603050405020304" pitchFamily="18" charset="0"/>
              </a:rPr>
              <a:t> 的個數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sym typeface="Wingdings" panose="05000000000000000000" pitchFamily="2" charset="2"/>
              </a:rPr>
              <a:t> </a:t>
            </a: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b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b – a + 1 </a:t>
            </a:r>
            <a:r>
              <a:rPr lang="zh-TW" altLang="en-US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即為所求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952F893-9898-67C4-EF9F-98AB2D1FB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910908"/>
              </p:ext>
            </p:extLst>
          </p:nvPr>
        </p:nvGraphicFramePr>
        <p:xfrm>
          <a:off x="75484" y="1581944"/>
          <a:ext cx="9036500" cy="576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03650">
                  <a:extLst>
                    <a:ext uri="{9D8B030D-6E8A-4147-A177-3AD203B41FA5}">
                      <a16:colId xmlns:a16="http://schemas.microsoft.com/office/drawing/2014/main" val="2041271389"/>
                    </a:ext>
                  </a:extLst>
                </a:gridCol>
                <a:gridCol w="903650">
                  <a:extLst>
                    <a:ext uri="{9D8B030D-6E8A-4147-A177-3AD203B41FA5}">
                      <a16:colId xmlns:a16="http://schemas.microsoft.com/office/drawing/2014/main" val="1099296593"/>
                    </a:ext>
                  </a:extLst>
                </a:gridCol>
                <a:gridCol w="903650">
                  <a:extLst>
                    <a:ext uri="{9D8B030D-6E8A-4147-A177-3AD203B41FA5}">
                      <a16:colId xmlns:a16="http://schemas.microsoft.com/office/drawing/2014/main" val="1518556120"/>
                    </a:ext>
                  </a:extLst>
                </a:gridCol>
                <a:gridCol w="903650">
                  <a:extLst>
                    <a:ext uri="{9D8B030D-6E8A-4147-A177-3AD203B41FA5}">
                      <a16:colId xmlns:a16="http://schemas.microsoft.com/office/drawing/2014/main" val="542464067"/>
                    </a:ext>
                  </a:extLst>
                </a:gridCol>
                <a:gridCol w="903650">
                  <a:extLst>
                    <a:ext uri="{9D8B030D-6E8A-4147-A177-3AD203B41FA5}">
                      <a16:colId xmlns:a16="http://schemas.microsoft.com/office/drawing/2014/main" val="3382303339"/>
                    </a:ext>
                  </a:extLst>
                </a:gridCol>
                <a:gridCol w="903650">
                  <a:extLst>
                    <a:ext uri="{9D8B030D-6E8A-4147-A177-3AD203B41FA5}">
                      <a16:colId xmlns:a16="http://schemas.microsoft.com/office/drawing/2014/main" val="1531742181"/>
                    </a:ext>
                  </a:extLst>
                </a:gridCol>
                <a:gridCol w="903650">
                  <a:extLst>
                    <a:ext uri="{9D8B030D-6E8A-4147-A177-3AD203B41FA5}">
                      <a16:colId xmlns:a16="http://schemas.microsoft.com/office/drawing/2014/main" val="96847570"/>
                    </a:ext>
                  </a:extLst>
                </a:gridCol>
                <a:gridCol w="903650">
                  <a:extLst>
                    <a:ext uri="{9D8B030D-6E8A-4147-A177-3AD203B41FA5}">
                      <a16:colId xmlns:a16="http://schemas.microsoft.com/office/drawing/2014/main" val="4214940036"/>
                    </a:ext>
                  </a:extLst>
                </a:gridCol>
                <a:gridCol w="903650">
                  <a:extLst>
                    <a:ext uri="{9D8B030D-6E8A-4147-A177-3AD203B41FA5}">
                      <a16:colId xmlns:a16="http://schemas.microsoft.com/office/drawing/2014/main" val="2680518384"/>
                    </a:ext>
                  </a:extLst>
                </a:gridCol>
                <a:gridCol w="903650">
                  <a:extLst>
                    <a:ext uri="{9D8B030D-6E8A-4147-A177-3AD203B41FA5}">
                      <a16:colId xmlns:a16="http://schemas.microsoft.com/office/drawing/2014/main" val="1953684588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720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5040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40320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362880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3628800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8830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62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B62727-E809-4814-B806-EADB711CA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8077200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r>
              <a:rPr lang="zh-TW" altLang="en-US" sz="2400" dirty="0">
                <a:latin typeface="Times New Roman" panose="02020603050405020304" pitchFamily="18" charset="0"/>
              </a:rPr>
              <a:t>不宜直接用迴圈一個一個統計，數字會太大無法處理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	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253557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2980</TotalTime>
  <Words>172</Words>
  <Application>Microsoft Office PowerPoint</Application>
  <PresentationFormat>如螢幕大小 (4:3)</PresentationFormat>
  <Paragraphs>56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Tahoma</vt:lpstr>
      <vt:lpstr>Times New Roman</vt:lpstr>
      <vt:lpstr>Wingdings</vt:lpstr>
      <vt:lpstr>Blends</vt:lpstr>
      <vt:lpstr>12869: Zeros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楊景翔</cp:lastModifiedBy>
  <cp:revision>113</cp:revision>
  <dcterms:created xsi:type="dcterms:W3CDTF">1601-01-01T00:00:00Z</dcterms:created>
  <dcterms:modified xsi:type="dcterms:W3CDTF">2024-05-08T17:42:03Z</dcterms:modified>
</cp:coreProperties>
</file>