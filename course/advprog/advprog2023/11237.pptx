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6"/>
  </p:notesMasterIdLst>
  <p:sldIdLst>
    <p:sldId id="307" r:id="rId2"/>
    <p:sldId id="309" r:id="rId3"/>
    <p:sldId id="310" r:id="rId4"/>
    <p:sldId id="311" r:id="rId5"/>
  </p:sldIdLst>
  <p:sldSz cx="9144000" cy="6858000" type="screen4x3"/>
  <p:notesSz cx="6832600" cy="996315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A943"/>
    <a:srgbClr val="20C428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45" autoAdjust="0"/>
    <p:restoredTop sz="92169" autoAdjust="0"/>
  </p:normalViewPr>
  <p:slideViewPr>
    <p:cSldViewPr>
      <p:cViewPr varScale="1">
        <p:scale>
          <a:sx n="105" d="100"/>
          <a:sy n="105" d="100"/>
        </p:scale>
        <p:origin x="1400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5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.xml"/><Relationship Id="rId2" Type="http://schemas.openxmlformats.org/officeDocument/2006/relationships/slide" Target="slides/slide2.xml"/><Relationship Id="rId1" Type="http://schemas.openxmlformats.org/officeDocument/2006/relationships/slide" Target="slides/slide1.xml"/><Relationship Id="rId4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D7366EB4-F41B-474A-A07A-378076858AE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C543C499-38B7-4E14-9035-0447816D38A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71913" y="0"/>
            <a:ext cx="2960687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DDB6B1AE-1259-4CF1-9F08-F34F9A98177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5513" y="747713"/>
            <a:ext cx="4981575" cy="3735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>
            <a:extLst>
              <a:ext uri="{FF2B5EF4-FFF2-40B4-BE49-F238E27FC236}">
                <a16:creationId xmlns:a16="http://schemas.microsoft.com/office/drawing/2014/main" id="{E5F2DEB1-8EA9-45A3-B1BB-04AD49A4CD5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732338"/>
            <a:ext cx="5010150" cy="448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53254" name="Rectangle 6">
            <a:extLst>
              <a:ext uri="{FF2B5EF4-FFF2-40B4-BE49-F238E27FC236}">
                <a16:creationId xmlns:a16="http://schemas.microsoft.com/office/drawing/2014/main" id="{4A236D72-B470-475C-9B54-F994C4E3B2D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64675"/>
            <a:ext cx="296068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3255" name="Rectangle 7">
            <a:extLst>
              <a:ext uri="{FF2B5EF4-FFF2-40B4-BE49-F238E27FC236}">
                <a16:creationId xmlns:a16="http://schemas.microsoft.com/office/drawing/2014/main" id="{FFC4446D-739F-48A5-ACDC-1B36E0F426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1913" y="9464675"/>
            <a:ext cx="2960687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44149C6-61AE-46AB-BFD7-114B7B0084C2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B7B4AEFA-580E-4E4D-BC3D-0E21CB1402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32E0800C-8DD3-47D5-BD70-598360374E1D}" type="slidenum">
              <a:rPr lang="zh-TW" altLang="en-US" sz="1200"/>
              <a:pPr eaLnBrk="1" hangingPunct="1"/>
              <a:t>1</a:t>
            </a:fld>
            <a:endParaRPr lang="en-US" altLang="zh-TW" sz="12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7D18EDA-303C-4A48-A9B9-B435432E28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6A90279-B2C6-4EA3-AB8F-55C29FB58A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2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3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1726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4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3129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FB035E93-D2D7-4D3C-97AE-4987F6211854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576E5940-CD2F-44F1-BC0A-E16C1391E7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5DC2C47D-419E-428C-9DE3-9F133D8257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A8EB8803-AFF1-44D0-A058-A1976894F1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25945846-3132-4FDE-A8B8-7ACD580D48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38AC28C7-D593-42CA-BDCE-81E7C8D2F7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E60D9523-7A69-4FB0-9A6A-19E6D06305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D9C02889-CD57-4E63-A485-A64B72C92B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4E39031C-AD5D-4E47-B011-ED226110F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466C94DA-2653-4A28-B670-00A2330F32D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/>
            </a:p>
          </p:txBody>
        </p:sp>
      </p:grpSp>
      <p:sp>
        <p:nvSpPr>
          <p:cNvPr id="718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70AC0211-3C42-44CA-A25C-6150EBFBCD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03B69B6-6A7F-44C8-987D-AC2ED335ECD5}" type="datetime1">
              <a:rPr lang="zh-TW" altLang="en-US"/>
              <a:pPr>
                <a:defRPr/>
              </a:pPr>
              <a:t>2024/5/9</a:t>
            </a:fld>
            <a:endParaRPr lang="en-US" altLang="zh-TW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366F4F86-70E7-418D-8064-15D680F4B5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362200" y="6248400"/>
            <a:ext cx="4953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zh-TW" altLang="en-US"/>
              <a:t>1</a:t>
            </a:r>
            <a:endParaRPr lang="en-US" altLang="zh-TW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264D577A-B904-4B8B-A26E-7AACB812A1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9ABC43EB-01A7-4EA3-991F-58ADF908A24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17866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21DA4FF0-82A5-4152-B108-887FF642F8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D4E7C6-3C86-4F82-B236-B235DBF8F9F4}" type="datetime1">
              <a:rPr lang="zh-TW" altLang="en-US"/>
              <a:pPr>
                <a:defRPr/>
              </a:pPr>
              <a:t>2024/5/9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AA4E02B-D27B-452A-B50B-6EE5FA00BA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94EB919-4E96-443F-ABD0-B34A93B9AC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4B5471-C1FF-4B8B-A461-8AF6123C81A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04479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7A1057E-D213-45AF-B204-73C21C7E8C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8FFE13-429C-44FD-94AB-0283300FCEDC}" type="datetime1">
              <a:rPr lang="zh-TW" altLang="en-US"/>
              <a:pPr>
                <a:defRPr/>
              </a:pPr>
              <a:t>2024/5/9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9511D82-900A-4433-A272-A8B6E3DB5B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452A882E-509C-4A06-847D-310C8B6110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AEE9A9-7C75-474A-96D2-83B54F6F2F4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7685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62000" y="15240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5240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998234D-5E2C-43F0-BDEF-9A3A1CD35A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D8D109-BD8E-4218-877E-FACB9A88959E}" type="datetime1">
              <a:rPr lang="zh-TW" altLang="en-US"/>
              <a:pPr>
                <a:defRPr/>
              </a:pPr>
              <a:t>2024/5/9</a:t>
            </a:fld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CDC70D31-BBD0-445D-926D-C2EB80E2F6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BC35788B-116B-4A99-90E3-DF9F02DC41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8AE7E4-04A7-4E8D-8DCC-7D73BD1A5E1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90066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AA033B61-C948-4955-967F-2362B9D27B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82EFB0-EA9D-42EF-A85D-A43A05DFAFF4}" type="datetime1">
              <a:rPr lang="zh-TW" altLang="en-US"/>
              <a:pPr>
                <a:defRPr/>
              </a:pPr>
              <a:t>2024/5/9</a:t>
            </a:fld>
            <a:endParaRPr lang="en-US" altLang="zh-TW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F1E7D2AC-A1E0-48EB-9754-52BE9EA960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5663F081-94F4-40A0-988E-E7128E7B78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E41554-0D9B-4821-A2D8-85F421DBF2D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2442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0FC178D7-8A2C-4C43-AECC-23932E80AC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97029D-76BA-4F03-A039-A4516D1FFCFB}" type="datetime1">
              <a:rPr lang="zh-TW" altLang="en-US"/>
              <a:pPr>
                <a:defRPr/>
              </a:pPr>
              <a:t>2024/5/9</a:t>
            </a:fld>
            <a:endParaRPr lang="en-US" altLang="zh-TW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88C166F4-7F35-4C99-BA1C-0C013AD253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C4B7FCC9-C9EF-4C04-BAC4-11566C4C69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C43104-B157-4666-9AFC-E0BCC7B136CE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96946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B4CCB766-6919-4699-9390-7916DADEBB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84BE4A-50E2-44EE-8B45-441E502F2206}" type="datetime1">
              <a:rPr lang="zh-TW" altLang="en-US"/>
              <a:pPr>
                <a:defRPr/>
              </a:pPr>
              <a:t>2024/5/9</a:t>
            </a:fld>
            <a:endParaRPr lang="en-US" altLang="zh-TW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55ADB4D2-0BC9-4831-9926-05F9A4B19C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47F30AC5-8673-451B-81D4-D1414ADFEB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D96857-00BC-40BA-B495-4E883453E12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16888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9523274B-F5B6-45A5-979E-B19D92503C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570BD7-FFED-4AFB-85B2-03658A5F4AF4}" type="datetime1">
              <a:rPr lang="zh-TW" altLang="en-US"/>
              <a:pPr>
                <a:defRPr/>
              </a:pPr>
              <a:t>2024/5/9</a:t>
            </a:fld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DD4DFC51-1B19-430F-8665-AD82EF39B6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D9BAE61E-4150-4AC3-AF8E-893C0A30DD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20930D-EB19-4B70-8CD8-DEA66D03839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55962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32EE945-636C-46ED-8385-2E0DD9FB19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F1F76B-E033-434A-A357-C49AB5C40254}" type="datetime1">
              <a:rPr lang="zh-TW" altLang="en-US"/>
              <a:pPr>
                <a:defRPr/>
              </a:pPr>
              <a:t>2024/5/9</a:t>
            </a:fld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1C329D3-D167-46EA-8D96-5B597C3E00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33D005C-2C0D-4B30-A042-54720756D3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BD6327-91B7-4672-A3BF-6A19883112E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04371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0DBC775-BA4C-456E-8EF8-F38C2F1505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E7AC0D-9BE2-41C9-A056-17B6A0BA1478}" type="datetime1">
              <a:rPr lang="zh-TW" altLang="en-US"/>
              <a:pPr>
                <a:defRPr/>
              </a:pPr>
              <a:t>2024/5/9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FFA2A14-36A9-40A4-AF04-2FDAD09C62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FBB8050-744F-482F-99F1-4C9105C0DB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937D37-3BE5-4531-BE4C-A54B34D47B9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07906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07175" y="381000"/>
            <a:ext cx="1947863" cy="57912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5692775" cy="57912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95E4B58-ED38-477B-AD50-448DE5847B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A4018C-FAF8-48CA-9277-4111E36ABFDF}" type="datetime1">
              <a:rPr lang="zh-TW" altLang="en-US"/>
              <a:pPr>
                <a:defRPr/>
              </a:pPr>
              <a:t>2024/5/9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5D3A827D-B5A4-45BE-BE6C-AD66503134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811E3E8D-1280-4150-9966-D704CEC50F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466DC6-0172-44A6-948B-2CCA302BE18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57300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>
            <a:extLst>
              <a:ext uri="{FF2B5EF4-FFF2-40B4-BE49-F238E27FC236}">
                <a16:creationId xmlns:a16="http://schemas.microsoft.com/office/drawing/2014/main" id="{163A0A1D-6781-49F1-817C-EB9C5DC2D9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381000"/>
            <a:ext cx="779303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10">
            <a:extLst>
              <a:ext uri="{FF2B5EF4-FFF2-40B4-BE49-F238E27FC236}">
                <a16:creationId xmlns:a16="http://schemas.microsoft.com/office/drawing/2014/main" id="{7DA0B45B-6A89-4476-9A7F-A24A702E73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5240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155" name="Rectangle 11">
            <a:extLst>
              <a:ext uri="{FF2B5EF4-FFF2-40B4-BE49-F238E27FC236}">
                <a16:creationId xmlns:a16="http://schemas.microsoft.com/office/drawing/2014/main" id="{3779CCB2-071C-4694-B235-7D041EFDB97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66F07F4B-4B61-40A0-8F9D-5A536BE70FB6}" type="datetime1">
              <a:rPr lang="zh-TW" altLang="en-US"/>
              <a:pPr>
                <a:defRPr/>
              </a:pPr>
              <a:t>2024/5/9</a:t>
            </a:fld>
            <a:endParaRPr lang="en-US" altLang="zh-TW"/>
          </a:p>
        </p:txBody>
      </p:sp>
      <p:sp>
        <p:nvSpPr>
          <p:cNvPr id="6156" name="Rectangle 12">
            <a:extLst>
              <a:ext uri="{FF2B5EF4-FFF2-40B4-BE49-F238E27FC236}">
                <a16:creationId xmlns:a16="http://schemas.microsoft.com/office/drawing/2014/main" id="{3B248EA0-7F56-4F35-81A4-4B77DCF4D5E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62200" y="6324600"/>
            <a:ext cx="4953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157" name="Rectangle 13">
            <a:extLst>
              <a:ext uri="{FF2B5EF4-FFF2-40B4-BE49-F238E27FC236}">
                <a16:creationId xmlns:a16="http://schemas.microsoft.com/office/drawing/2014/main" id="{CE05FFB4-FD8D-43FD-817B-C98CAE79CAC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>
                <a:solidFill>
                  <a:schemeClr val="accent1"/>
                </a:solidFill>
              </a:defRPr>
            </a:lvl1pPr>
          </a:lstStyle>
          <a:p>
            <a:fld id="{627E0D55-5753-43DC-BEB0-ED783FC5A32C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投影片編號版面配置區 5">
            <a:extLst>
              <a:ext uri="{FF2B5EF4-FFF2-40B4-BE49-F238E27FC236}">
                <a16:creationId xmlns:a16="http://schemas.microsoft.com/office/drawing/2014/main" id="{B118347F-090B-4B24-B69F-5A5C34AD2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1E3123EA-FF01-4897-ABE0-3A2B8E32A241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1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3952E695-8FAA-469F-9DBA-5EAB8B9978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7772400" cy="914400"/>
          </a:xfrm>
        </p:spPr>
        <p:txBody>
          <a:bodyPr/>
          <a:lstStyle/>
          <a:p>
            <a:pPr eaLnBrk="1" hangingPunct="1"/>
            <a:r>
              <a:rPr lang="en-US" altLang="zh-TW" b="1" dirty="0">
                <a:latin typeface="Times New Roman" panose="02020603050405020304" pitchFamily="18" charset="0"/>
              </a:rPr>
              <a:t>11234: Halloween treats</a:t>
            </a:r>
            <a:endParaRPr lang="en-US" altLang="zh-TW" dirty="0"/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A7AE805D-078A-44B1-9791-EFD2EC57A9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077200" cy="4789488"/>
          </a:xfrm>
        </p:spPr>
        <p:txBody>
          <a:bodyPr/>
          <a:lstStyle/>
          <a:p>
            <a:pPr eaLnBrk="1" hangingPunct="1"/>
            <a:r>
              <a:rPr lang="zh-TW" altLang="en-US" sz="2400" dirty="0">
                <a:solidFill>
                  <a:schemeClr val="hlink"/>
                </a:solidFill>
                <a:latin typeface="Times New Roman" panose="02020603050405020304" pitchFamily="18" charset="0"/>
              </a:rPr>
              <a:t>★★★★☆</a:t>
            </a: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題組：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Problem Set Archive with Online Judge</a:t>
            </a: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題號：</a:t>
            </a:r>
            <a:r>
              <a:rPr lang="en-US" altLang="zh-TW" sz="2400" dirty="0">
                <a:latin typeface="Times New Roman" panose="02020603050405020304" pitchFamily="18" charset="0"/>
              </a:rPr>
              <a:t>11234: Halloween treats</a:t>
            </a: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解題者：</a:t>
            </a:r>
            <a:r>
              <a:rPr lang="zh-TW" altLang="en-US" sz="2400" dirty="0">
                <a:latin typeface="Times New Roman" panose="02020603050405020304" pitchFamily="18" charset="0"/>
              </a:rPr>
              <a:t>孫世諭</a:t>
            </a:r>
            <a:endParaRPr lang="en-US" altLang="zh-TW" sz="24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解題日期：</a:t>
            </a:r>
            <a:r>
              <a:rPr lang="en-US" altLang="zh-TW" sz="2400" dirty="0">
                <a:latin typeface="Times New Roman" panose="02020603050405020304" pitchFamily="18" charset="0"/>
              </a:rPr>
              <a:t>2024</a:t>
            </a:r>
            <a:r>
              <a:rPr lang="zh-TW" altLang="en-US" sz="2400" dirty="0">
                <a:latin typeface="Times New Roman" panose="02020603050405020304" pitchFamily="18" charset="0"/>
              </a:rPr>
              <a:t>年</a:t>
            </a:r>
            <a:r>
              <a:rPr lang="en-US" altLang="zh-TW" sz="2400" dirty="0">
                <a:latin typeface="Times New Roman" panose="02020603050405020304" pitchFamily="18" charset="0"/>
              </a:rPr>
              <a:t>5</a:t>
            </a:r>
            <a:r>
              <a:rPr lang="zh-TW" altLang="en-US" sz="2400" dirty="0">
                <a:latin typeface="Times New Roman" panose="02020603050405020304" pitchFamily="18" charset="0"/>
              </a:rPr>
              <a:t>月</a:t>
            </a:r>
            <a:r>
              <a:rPr lang="en-US" altLang="zh-TW" sz="2400" dirty="0">
                <a:latin typeface="Times New Roman" panose="02020603050405020304" pitchFamily="18" charset="0"/>
              </a:rPr>
              <a:t>9</a:t>
            </a:r>
            <a:r>
              <a:rPr lang="zh-TW" altLang="en-US" sz="2400" dirty="0">
                <a:latin typeface="Times New Roman" panose="02020603050405020304" pitchFamily="18" charset="0"/>
              </a:rPr>
              <a:t>日</a:t>
            </a:r>
            <a:endParaRPr lang="zh-TW" altLang="en-US" sz="24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題意：</a:t>
            </a:r>
            <a:r>
              <a:rPr lang="zh-TW" altLang="en-US" sz="2400" dirty="0">
                <a:latin typeface="Times New Roman" panose="02020603050405020304" pitchFamily="18" charset="0"/>
              </a:rPr>
              <a:t>給定一個</a:t>
            </a:r>
            <a:r>
              <a:rPr lang="en-US" altLang="zh-TW" sz="2400" dirty="0">
                <a:latin typeface="Times New Roman" panose="02020603050405020304" pitchFamily="18" charset="0"/>
              </a:rPr>
              <a:t> c</a:t>
            </a:r>
            <a:r>
              <a:rPr lang="zh-TW" altLang="en-US" sz="2400" dirty="0">
                <a:latin typeface="Times New Roman" panose="02020603050405020304" pitchFamily="18" charset="0"/>
              </a:rPr>
              <a:t> 值，代表小朋友的數量；再給定 </a:t>
            </a:r>
            <a:r>
              <a:rPr lang="en-US" altLang="zh-TW" sz="2400" dirty="0">
                <a:latin typeface="Times New Roman" panose="02020603050405020304" pitchFamily="18" charset="0"/>
              </a:rPr>
              <a:t>n</a:t>
            </a:r>
            <a:r>
              <a:rPr lang="zh-TW" altLang="en-US" sz="2400" dirty="0">
                <a:latin typeface="Times New Roman" panose="02020603050405020304" pitchFamily="18" charset="0"/>
              </a:rPr>
              <a:t> 個值 </a:t>
            </a:r>
            <a:r>
              <a:rPr lang="en-US" altLang="zh-TW" sz="2400" dirty="0">
                <a:latin typeface="Times New Roman" panose="02020603050405020304" pitchFamily="18" charset="0"/>
              </a:rPr>
              <a:t>(n1, n2, n3 ……</a:t>
            </a:r>
            <a:r>
              <a:rPr lang="zh-TW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TW" sz="2400" dirty="0" err="1">
                <a:latin typeface="Times New Roman" panose="02020603050405020304" pitchFamily="18" charset="0"/>
              </a:rPr>
              <a:t>ni</a:t>
            </a:r>
            <a:r>
              <a:rPr lang="en-US" altLang="zh-TW" sz="2400" dirty="0">
                <a:latin typeface="Times New Roman" panose="02020603050405020304" pitchFamily="18" charset="0"/>
              </a:rPr>
              <a:t>)</a:t>
            </a:r>
            <a:r>
              <a:rPr lang="zh-TW" altLang="en-US" sz="2400" dirty="0">
                <a:latin typeface="Times New Roman" panose="02020603050405020304" pitchFamily="18" charset="0"/>
              </a:rPr>
              <a:t>，代表每個鄰居所給予的糖果數量，其中，一個鄰居只能給一次糖果並全部送出，且 </a:t>
            </a:r>
            <a:br>
              <a:rPr lang="en-US" altLang="zh-TW" sz="2400" dirty="0">
                <a:latin typeface="Times New Roman" panose="02020603050405020304" pitchFamily="18" charset="0"/>
              </a:rPr>
            </a:br>
            <a:r>
              <a:rPr lang="en-US" altLang="zh-TW" sz="2400" dirty="0">
                <a:latin typeface="Times New Roman" panose="02020603050405020304" pitchFamily="18" charset="0"/>
              </a:rPr>
              <a:t>(1 ≤ c ≤ n ≤ 100000)</a:t>
            </a:r>
            <a:r>
              <a:rPr lang="zh-TW" altLang="en-US" sz="2400" dirty="0">
                <a:latin typeface="Times New Roman" panose="02020603050405020304" pitchFamily="18" charset="0"/>
              </a:rPr>
              <a:t>。小朋友必須找出一個鄰居糖果的子集合，總和能夠被 </a:t>
            </a:r>
            <a:r>
              <a:rPr lang="en-US" altLang="zh-TW" sz="2400" dirty="0">
                <a:latin typeface="Times New Roman" panose="02020603050405020304" pitchFamily="18" charset="0"/>
              </a:rPr>
              <a:t>c</a:t>
            </a:r>
            <a:r>
              <a:rPr lang="zh-TW" altLang="en-US" sz="2400" dirty="0">
                <a:latin typeface="Times New Roman" panose="02020603050405020304" pitchFamily="18" charset="0"/>
              </a:rPr>
              <a:t> 整除。如果答案有多個，只需隨意輸出其中一個；如果沒有答案，輸出 </a:t>
            </a:r>
            <a:r>
              <a:rPr lang="en-US" altLang="zh-TW" sz="2400" dirty="0">
                <a:latin typeface="Times New Roman" panose="02020603050405020304" pitchFamily="18" charset="0"/>
              </a:rPr>
              <a:t>no sweets</a:t>
            </a:r>
            <a:r>
              <a:rPr lang="zh-TW" altLang="en-US" sz="2400" dirty="0">
                <a:latin typeface="Times New Roman" panose="02020603050405020304" pitchFamily="18" charset="0"/>
              </a:rPr>
              <a:t>。</a:t>
            </a:r>
            <a:endParaRPr lang="zh-TW" altLang="en-US" sz="240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2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99" name="Rectangle 3">
                <a:extLst>
                  <a:ext uri="{FF2B5EF4-FFF2-40B4-BE49-F238E27FC236}">
                    <a16:creationId xmlns:a16="http://schemas.microsoft.com/office/drawing/2014/main" id="{06B62727-E809-4814-B806-EADB711CAFFE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81000" y="685800"/>
                <a:ext cx="8077200" cy="5622925"/>
              </a:xfrm>
            </p:spPr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zh-TW" altLang="en-US" sz="2400" b="1" dirty="0">
                    <a:solidFill>
                      <a:srgbClr val="3BA943"/>
                    </a:solidFill>
                    <a:latin typeface="Times New Roman" panose="02020603050405020304" pitchFamily="18" charset="0"/>
                  </a:rPr>
                  <a:t>題意範例：</a:t>
                </a:r>
                <a:r>
                  <a:rPr lang="zh-TW" altLang="en-US" sz="2400" dirty="0">
                    <a:solidFill>
                      <a:srgbClr val="3BA943"/>
                    </a:solidFill>
                    <a:latin typeface="Times New Roman" panose="02020603050405020304" pitchFamily="18" charset="0"/>
                  </a:rPr>
                  <a:t>  </a:t>
                </a:r>
                <a:br>
                  <a:rPr lang="en-US" altLang="zh-TW" sz="2400" dirty="0">
                    <a:solidFill>
                      <a:srgbClr val="3BA943"/>
                    </a:solidFill>
                    <a:latin typeface="Times New Roman" panose="02020603050405020304" pitchFamily="18" charset="0"/>
                  </a:rPr>
                </a:br>
                <a:r>
                  <a:rPr lang="en-US" altLang="zh-TW" sz="2400" dirty="0">
                    <a:latin typeface="Times New Roman" panose="02020603050405020304" pitchFamily="18" charset="0"/>
                  </a:rPr>
                  <a:t>4 5</a:t>
                </a:r>
                <a:br>
                  <a:rPr lang="en-US" altLang="zh-TW" sz="2400" dirty="0">
                    <a:latin typeface="Times New Roman" panose="02020603050405020304" pitchFamily="18" charset="0"/>
                  </a:rPr>
                </a:br>
                <a:r>
                  <a:rPr lang="en-US" altLang="zh-TW" sz="2400" dirty="0">
                    <a:latin typeface="Times New Roman" panose="02020603050405020304" pitchFamily="18" charset="0"/>
                  </a:rPr>
                  <a:t>1 2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3</a:t>
                </a:r>
                <a:r>
                  <a:rPr lang="en-US" altLang="zh-TW" sz="2400" dirty="0">
                    <a:latin typeface="Times New Roman" panose="02020603050405020304" pitchFamily="18" charset="0"/>
                  </a:rPr>
                  <a:t> 7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5</a:t>
                </a:r>
                <a:r>
                  <a:rPr lang="zh-TW" altLang="zh-TW" sz="2400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</a:rPr>
                  <a:t>		</a:t>
                </a:r>
                <a:r>
                  <a:rPr lang="en-US" altLang="zh-TW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</a:t>
                </a:r>
                <a:r>
                  <a:rPr lang="zh-TW" altLang="zh-TW" sz="2400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</a:rPr>
                  <a:t>3 5</a:t>
                </a:r>
                <a:br>
                  <a:rPr lang="zh-TW" altLang="zh-TW" sz="2400" dirty="0">
                    <a:latin typeface="Times New Roman" panose="02020603050405020304" pitchFamily="18" charset="0"/>
                  </a:rPr>
                </a:br>
                <a:br>
                  <a:rPr lang="en-US" altLang="zh-TW" sz="2400" dirty="0">
                    <a:latin typeface="Times New Roman" panose="02020603050405020304" pitchFamily="18" charset="0"/>
                  </a:rPr>
                </a:br>
                <a:r>
                  <a:rPr lang="en-US" altLang="zh-TW" sz="2400" dirty="0">
                    <a:latin typeface="Times New Roman" panose="02020603050405020304" pitchFamily="18" charset="0"/>
                  </a:rPr>
                  <a:t>3 6</a:t>
                </a:r>
                <a:br>
                  <a:rPr lang="en-US" altLang="zh-TW" sz="2400" dirty="0">
                    <a:latin typeface="Times New Roman" panose="02020603050405020304" pitchFamily="18" charset="0"/>
                  </a:rPr>
                </a:br>
                <a:r>
                  <a:rPr lang="en-US" altLang="zh-TW" sz="2400" dirty="0">
                    <a:latin typeface="Times New Roman" panose="02020603050405020304" pitchFamily="18" charset="0"/>
                  </a:rPr>
                  <a:t>7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11 2 5 </a:t>
                </a:r>
                <a:r>
                  <a:rPr lang="en-US" altLang="zh-TW" sz="2400" dirty="0">
                    <a:latin typeface="Times New Roman" panose="02020603050405020304" pitchFamily="18" charset="0"/>
                  </a:rPr>
                  <a:t>13 17	</a:t>
                </a:r>
                <a:r>
                  <a:rPr lang="en-US" altLang="zh-TW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 2 3 4</a:t>
                </a:r>
                <a:endParaRPr lang="en-US" altLang="zh-TW" sz="2400" b="1" dirty="0">
                  <a:solidFill>
                    <a:srgbClr val="3BA943"/>
                  </a:solidFill>
                  <a:latin typeface="Times New Roman" panose="02020603050405020304" pitchFamily="18" charset="0"/>
                </a:endParaRPr>
              </a:p>
              <a:p>
                <a:pPr eaLnBrk="1" hangingPunct="1">
                  <a:lnSpc>
                    <a:spcPct val="90000"/>
                  </a:lnSpc>
                </a:pPr>
                <a:r>
                  <a:rPr lang="zh-TW" altLang="en-US" sz="2400" b="1" dirty="0">
                    <a:solidFill>
                      <a:srgbClr val="3BA943"/>
                    </a:solidFill>
                    <a:latin typeface="Times New Roman" panose="02020603050405020304" pitchFamily="18" charset="0"/>
                  </a:rPr>
                  <a:t>解法：</a:t>
                </a:r>
                <a:r>
                  <a:rPr lang="en-US" altLang="zh-TW" sz="2400" dirty="0">
                    <a:latin typeface="Times New Roman" panose="02020603050405020304" pitchFamily="18" charset="0"/>
                  </a:rPr>
                  <a:t> </a:t>
                </a:r>
                <a:r>
                  <a:rPr lang="zh-TW" altLang="en-US" sz="2400" dirty="0">
                    <a:latin typeface="Times New Roman" panose="02020603050405020304" pitchFamily="18" charset="0"/>
                  </a:rPr>
                  <a:t>因為條件為 </a:t>
                </a:r>
                <a:r>
                  <a:rPr lang="en-US" altLang="zh-TW" sz="2400" dirty="0">
                    <a:latin typeface="Times New Roman" panose="02020603050405020304" pitchFamily="18" charset="0"/>
                  </a:rPr>
                  <a:t>1 ≤ c ≤ n ≤ 100000</a:t>
                </a:r>
                <a:r>
                  <a:rPr lang="zh-TW" altLang="en-US" sz="2400" dirty="0">
                    <a:latin typeface="Times New Roman" panose="02020603050405020304" pitchFamily="18" charset="0"/>
                  </a:rPr>
                  <a:t>，所以使用 </a:t>
                </a:r>
                <a:r>
                  <a:rPr lang="en-US" altLang="zh-TW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Prefix Sum + </a:t>
                </a:r>
                <a:r>
                  <a:rPr lang="zh-TW" altLang="en-US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鴿籠原理。先將所有的給定的值做 </a:t>
                </a:r>
                <a:r>
                  <a:rPr lang="en-US" altLang="zh-TW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Prefix Sum</a:t>
                </a:r>
                <a:r>
                  <a:rPr lang="zh-TW" altLang="en-US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 並取</a:t>
                </a:r>
                <a:r>
                  <a:rPr lang="en-US" altLang="zh-TW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c</a:t>
                </a:r>
                <a:r>
                  <a:rPr lang="zh-TW" altLang="en-US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的餘數，如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𝑝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𝑚𝑜𝑑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𝑐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𝑝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𝑚𝑜𝑑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𝑐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…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𝑝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𝑚𝑜𝑑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𝑐</m:t>
                    </m:r>
                  </m:oMath>
                </a14:m>
                <a:r>
                  <a:rPr lang="zh-TW" altLang="en-US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，接下來觀察擁有相同的值或是為 </a:t>
                </a:r>
                <a:r>
                  <a:rPr lang="en-US" altLang="zh-TW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0</a:t>
                </a:r>
                <a:r>
                  <a:rPr lang="zh-TW" altLang="en-US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 的餘數，兩者相同值的中間區間即是答案。</a:t>
                </a:r>
                <a:endParaRPr lang="zh-TW" altLang="en-US" sz="2400" b="1" dirty="0">
                  <a:solidFill>
                    <a:srgbClr val="3BA943"/>
                  </a:solidFill>
                  <a:latin typeface="Times New Roman" panose="02020603050405020304" pitchFamily="18" charset="0"/>
                </a:endParaRPr>
              </a:p>
              <a:p>
                <a:pPr eaLnBrk="1" hangingPunct="1">
                  <a:lnSpc>
                    <a:spcPct val="90000"/>
                  </a:lnSpc>
                </a:pPr>
                <a:r>
                  <a:rPr lang="zh-TW" altLang="en-US" sz="2400" b="1" dirty="0">
                    <a:solidFill>
                      <a:srgbClr val="3BA943"/>
                    </a:solidFill>
                    <a:latin typeface="Times New Roman" panose="02020603050405020304" pitchFamily="18" charset="0"/>
                  </a:rPr>
                  <a:t>解法範例：</a:t>
                </a:r>
                <a:r>
                  <a:rPr lang="zh-TW" altLang="en-US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以第一個例子為例：</a:t>
                </a:r>
                <a:r>
                  <a:rPr lang="en-US" altLang="zh-TW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1 2 3 7 5 </a:t>
                </a:r>
                <a:br>
                  <a:rPr lang="en-US" altLang="zh-TW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</a:br>
                <a:br>
                  <a:rPr lang="en-US" altLang="zh-TW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</a:br>
                <a:endParaRPr lang="zh-TW" altLang="en-US" sz="2400" b="1" dirty="0">
                  <a:solidFill>
                    <a:srgbClr val="3BA943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099" name="Rectangle 3">
                <a:extLst>
                  <a:ext uri="{FF2B5EF4-FFF2-40B4-BE49-F238E27FC236}">
                    <a16:creationId xmlns:a16="http://schemas.microsoft.com/office/drawing/2014/main" id="{06B62727-E809-4814-B806-EADB711CAF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81000" y="685800"/>
                <a:ext cx="8077200" cy="5622925"/>
              </a:xfrm>
              <a:blipFill>
                <a:blip r:embed="rId3"/>
                <a:stretch>
                  <a:fillRect l="-314" t="-18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EB8E13D-422D-49C7-680E-F5EFF0BF42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862154"/>
              </p:ext>
            </p:extLst>
          </p:nvPr>
        </p:nvGraphicFramePr>
        <p:xfrm>
          <a:off x="2393304" y="5066896"/>
          <a:ext cx="4357392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1267">
                  <a:extLst>
                    <a:ext uri="{9D8B030D-6E8A-4147-A177-3AD203B41FA5}">
                      <a16:colId xmlns:a16="http://schemas.microsoft.com/office/drawing/2014/main" val="196930021"/>
                    </a:ext>
                  </a:extLst>
                </a:gridCol>
                <a:gridCol w="647225">
                  <a:extLst>
                    <a:ext uri="{9D8B030D-6E8A-4147-A177-3AD203B41FA5}">
                      <a16:colId xmlns:a16="http://schemas.microsoft.com/office/drawing/2014/main" val="2145808160"/>
                    </a:ext>
                  </a:extLst>
                </a:gridCol>
                <a:gridCol w="647225">
                  <a:extLst>
                    <a:ext uri="{9D8B030D-6E8A-4147-A177-3AD203B41FA5}">
                      <a16:colId xmlns:a16="http://schemas.microsoft.com/office/drawing/2014/main" val="2135075967"/>
                    </a:ext>
                  </a:extLst>
                </a:gridCol>
                <a:gridCol w="647225">
                  <a:extLst>
                    <a:ext uri="{9D8B030D-6E8A-4147-A177-3AD203B41FA5}">
                      <a16:colId xmlns:a16="http://schemas.microsoft.com/office/drawing/2014/main" val="3215519561"/>
                    </a:ext>
                  </a:extLst>
                </a:gridCol>
                <a:gridCol w="647225">
                  <a:extLst>
                    <a:ext uri="{9D8B030D-6E8A-4147-A177-3AD203B41FA5}">
                      <a16:colId xmlns:a16="http://schemas.microsoft.com/office/drawing/2014/main" val="1308920398"/>
                    </a:ext>
                  </a:extLst>
                </a:gridCol>
                <a:gridCol w="647225">
                  <a:extLst>
                    <a:ext uri="{9D8B030D-6E8A-4147-A177-3AD203B41FA5}">
                      <a16:colId xmlns:a16="http://schemas.microsoft.com/office/drawing/2014/main" val="1000748441"/>
                    </a:ext>
                  </a:extLst>
                </a:gridCol>
              </a:tblGrid>
              <a:tr h="343531">
                <a:tc>
                  <a:txBody>
                    <a:bodyPr/>
                    <a:lstStyle/>
                    <a:p>
                      <a:r>
                        <a:rPr lang="zh-TW" altLang="en-US" sz="1400" b="0" dirty="0">
                          <a:solidFill>
                            <a:schemeClr val="tx1"/>
                          </a:solidFill>
                        </a:rPr>
                        <a:t>原本的輸入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440010"/>
                  </a:ext>
                </a:extLst>
              </a:tr>
              <a:tr h="343531">
                <a:tc>
                  <a:txBody>
                    <a:bodyPr/>
                    <a:lstStyle/>
                    <a:p>
                      <a:r>
                        <a:rPr lang="en-US" altLang="zh-TW" sz="1400" b="0" dirty="0">
                          <a:solidFill>
                            <a:schemeClr val="tx1"/>
                          </a:solidFill>
                        </a:rPr>
                        <a:t>Prefix Sum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9071368"/>
                  </a:ext>
                </a:extLst>
              </a:tr>
              <a:tr h="343531">
                <a:tc>
                  <a:txBody>
                    <a:bodyPr/>
                    <a:lstStyle/>
                    <a:p>
                      <a:r>
                        <a:rPr lang="zh-TW" alt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取餘數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8562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3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528" y="1158875"/>
            <a:ext cx="8077200" cy="5622925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br>
              <a:rPr lang="en-US" altLang="zh-TW" sz="2400" kern="1200" dirty="0">
                <a:solidFill>
                  <a:srgbClr val="000000"/>
                </a:solidFill>
                <a:latin typeface="標楷體"/>
                <a:ea typeface="標楷體"/>
              </a:rPr>
            </a:br>
            <a:r>
              <a:rPr lang="zh-TW" altLang="en-US" sz="2400" kern="1200" dirty="0">
                <a:solidFill>
                  <a:srgbClr val="000000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取餘數相同代表意義如下：</a:t>
            </a:r>
            <a:br>
              <a:rPr lang="en-US" altLang="zh-TW" sz="2400" kern="1200" dirty="0">
                <a:solidFill>
                  <a:srgbClr val="000000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</a:br>
            <a:br>
              <a:rPr lang="en-US" altLang="zh-TW" sz="2400" kern="1200" dirty="0">
                <a:solidFill>
                  <a:srgbClr val="000000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</a:br>
            <a:r>
              <a:rPr lang="en-US" altLang="zh-TW" sz="2400" kern="1200" dirty="0">
                <a:solidFill>
                  <a:srgbClr val="000000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		13 = 1 + 2 + 3 + 7 	</a:t>
            </a:r>
            <a:r>
              <a:rPr lang="zh-TW" altLang="en-US" sz="2400" kern="1200" dirty="0">
                <a:solidFill>
                  <a:srgbClr val="000000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取餘數為 </a:t>
            </a:r>
            <a:r>
              <a:rPr lang="en-US" altLang="zh-TW" sz="2400" kern="1200" dirty="0">
                <a:solidFill>
                  <a:srgbClr val="000000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1</a:t>
            </a:r>
            <a:br>
              <a:rPr lang="en-US" altLang="zh-TW" sz="2400" kern="1200" dirty="0">
                <a:solidFill>
                  <a:srgbClr val="000000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</a:br>
            <a:r>
              <a:rPr lang="en-US" altLang="zh-TW" sz="2400" kern="1200" dirty="0">
                <a:solidFill>
                  <a:srgbClr val="000000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	-)	1   = 1			</a:t>
            </a:r>
            <a:r>
              <a:rPr lang="zh-TW" altLang="en-US" sz="2400" kern="1200" dirty="0">
                <a:solidFill>
                  <a:srgbClr val="000000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取餘數為 </a:t>
            </a:r>
            <a:r>
              <a:rPr lang="en-US" altLang="zh-TW" sz="2400" kern="1200" dirty="0">
                <a:solidFill>
                  <a:srgbClr val="000000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1</a:t>
            </a:r>
            <a:br>
              <a:rPr lang="en-US" altLang="zh-TW" sz="2400" kern="1200" dirty="0">
                <a:solidFill>
                  <a:srgbClr val="000000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</a:br>
            <a:r>
              <a:rPr lang="en-US" altLang="zh-TW" sz="2400" kern="1200" dirty="0">
                <a:solidFill>
                  <a:srgbClr val="000000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	---------------------------------------------------------</a:t>
            </a:r>
            <a:br>
              <a:rPr lang="en-US" altLang="zh-TW" sz="2400" kern="1200" dirty="0">
                <a:solidFill>
                  <a:srgbClr val="000000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</a:br>
            <a:r>
              <a:rPr lang="en-US" altLang="zh-TW" sz="2400" kern="1200" dirty="0">
                <a:solidFill>
                  <a:srgbClr val="000000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		</a:t>
            </a:r>
            <a:r>
              <a:rPr lang="zh-TW" altLang="en-US" sz="2400" kern="1200" dirty="0">
                <a:solidFill>
                  <a:srgbClr val="000000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             </a:t>
            </a:r>
            <a:r>
              <a:rPr lang="en-US" altLang="zh-TW" sz="2400" kern="1200" dirty="0">
                <a:solidFill>
                  <a:srgbClr val="000000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2 + 3 + 7	</a:t>
            </a:r>
            <a:r>
              <a:rPr lang="zh-TW" altLang="en-US" sz="2400" kern="1200" dirty="0">
                <a:solidFill>
                  <a:srgbClr val="000000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取餘數為 </a:t>
            </a:r>
            <a:r>
              <a:rPr lang="en-US" altLang="zh-TW" sz="2400" kern="1200" dirty="0">
                <a:solidFill>
                  <a:srgbClr val="000000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0 </a:t>
            </a:r>
            <a:r>
              <a:rPr lang="zh-TW" altLang="en-US" sz="2400" kern="1200" dirty="0">
                <a:solidFill>
                  <a:srgbClr val="FF0000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可以整除</a:t>
            </a:r>
            <a:endParaRPr lang="en-US" altLang="zh-TW" sz="2400" kern="1200" dirty="0">
              <a:solidFill>
                <a:srgbClr val="FF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TW" sz="2400" kern="120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TW" altLang="en-US" sz="2400" kern="1200" dirty="0">
                <a:solidFill>
                  <a:srgbClr val="000000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所以其中一個答案會是 </a:t>
            </a:r>
            <a:r>
              <a:rPr lang="en-US" altLang="zh-TW" sz="2400" kern="1200" dirty="0">
                <a:solidFill>
                  <a:srgbClr val="000000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2 3 4</a:t>
            </a:r>
            <a:endParaRPr lang="en-US" altLang="zh-TW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A2FF09C-2A6C-5E46-F093-2EE9EA8F0F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775589"/>
              </p:ext>
            </p:extLst>
          </p:nvPr>
        </p:nvGraphicFramePr>
        <p:xfrm>
          <a:off x="2162320" y="560019"/>
          <a:ext cx="4357392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1267">
                  <a:extLst>
                    <a:ext uri="{9D8B030D-6E8A-4147-A177-3AD203B41FA5}">
                      <a16:colId xmlns:a16="http://schemas.microsoft.com/office/drawing/2014/main" val="196930021"/>
                    </a:ext>
                  </a:extLst>
                </a:gridCol>
                <a:gridCol w="647225">
                  <a:extLst>
                    <a:ext uri="{9D8B030D-6E8A-4147-A177-3AD203B41FA5}">
                      <a16:colId xmlns:a16="http://schemas.microsoft.com/office/drawing/2014/main" val="2145808160"/>
                    </a:ext>
                  </a:extLst>
                </a:gridCol>
                <a:gridCol w="647225">
                  <a:extLst>
                    <a:ext uri="{9D8B030D-6E8A-4147-A177-3AD203B41FA5}">
                      <a16:colId xmlns:a16="http://schemas.microsoft.com/office/drawing/2014/main" val="2135075967"/>
                    </a:ext>
                  </a:extLst>
                </a:gridCol>
                <a:gridCol w="647225">
                  <a:extLst>
                    <a:ext uri="{9D8B030D-6E8A-4147-A177-3AD203B41FA5}">
                      <a16:colId xmlns:a16="http://schemas.microsoft.com/office/drawing/2014/main" val="3215519561"/>
                    </a:ext>
                  </a:extLst>
                </a:gridCol>
                <a:gridCol w="647225">
                  <a:extLst>
                    <a:ext uri="{9D8B030D-6E8A-4147-A177-3AD203B41FA5}">
                      <a16:colId xmlns:a16="http://schemas.microsoft.com/office/drawing/2014/main" val="1308920398"/>
                    </a:ext>
                  </a:extLst>
                </a:gridCol>
                <a:gridCol w="647225">
                  <a:extLst>
                    <a:ext uri="{9D8B030D-6E8A-4147-A177-3AD203B41FA5}">
                      <a16:colId xmlns:a16="http://schemas.microsoft.com/office/drawing/2014/main" val="1000748441"/>
                    </a:ext>
                  </a:extLst>
                </a:gridCol>
              </a:tblGrid>
              <a:tr h="343531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Index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071990"/>
                  </a:ext>
                </a:extLst>
              </a:tr>
              <a:tr h="343531">
                <a:tc>
                  <a:txBody>
                    <a:bodyPr/>
                    <a:lstStyle/>
                    <a:p>
                      <a:r>
                        <a:rPr lang="zh-TW" altLang="en-US" sz="1400" b="0" dirty="0">
                          <a:solidFill>
                            <a:schemeClr val="tx1"/>
                          </a:solidFill>
                        </a:rPr>
                        <a:t>原本的輸入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440010"/>
                  </a:ext>
                </a:extLst>
              </a:tr>
              <a:tr h="343531">
                <a:tc>
                  <a:txBody>
                    <a:bodyPr/>
                    <a:lstStyle/>
                    <a:p>
                      <a:r>
                        <a:rPr lang="en-US" altLang="zh-TW" sz="1400" b="0" dirty="0">
                          <a:solidFill>
                            <a:schemeClr val="tx1"/>
                          </a:solidFill>
                        </a:rPr>
                        <a:t>Prefix Sum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9071368"/>
                  </a:ext>
                </a:extLst>
              </a:tr>
              <a:tr h="343531">
                <a:tc>
                  <a:txBody>
                    <a:bodyPr/>
                    <a:lstStyle/>
                    <a:p>
                      <a:r>
                        <a:rPr lang="zh-TW" alt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取 </a:t>
                      </a: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zh-TW" alt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的餘數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TW" altLang="en-US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856212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E63B34F2-03DB-32AA-C585-FAF46C66145E}"/>
              </a:ext>
            </a:extLst>
          </p:cNvPr>
          <p:cNvSpPr txBox="1"/>
          <p:nvPr/>
        </p:nvSpPr>
        <p:spPr>
          <a:xfrm>
            <a:off x="3290393" y="2047027"/>
            <a:ext cx="2393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+mj-ea"/>
                <a:ea typeface="+mj-ea"/>
              </a:rPr>
              <a:t>↑取餘數相同↑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6ACB883-6564-F547-6BC2-A335667A95D5}"/>
              </a:ext>
            </a:extLst>
          </p:cNvPr>
          <p:cNvSpPr txBox="1"/>
          <p:nvPr/>
        </p:nvSpPr>
        <p:spPr>
          <a:xfrm>
            <a:off x="6559128" y="1708473"/>
            <a:ext cx="1905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>
                <a:latin typeface="+mn-ea"/>
                <a:ea typeface="+mn-ea"/>
              </a:rPr>
              <a:t>小朋友數量為 </a:t>
            </a:r>
            <a:r>
              <a:rPr lang="en-US" altLang="zh-TW" sz="1600" dirty="0">
                <a:latin typeface="+mn-ea"/>
                <a:ea typeface="+mn-ea"/>
              </a:rPr>
              <a:t>4</a:t>
            </a:r>
            <a:endParaRPr lang="zh-TW" altLang="en-US" sz="16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89415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4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9" name="Rectangle 3">
                <a:extLst>
                  <a:ext uri="{FF2B5EF4-FFF2-40B4-BE49-F238E27FC236}">
                    <a16:creationId xmlns:a16="http://schemas.microsoft.com/office/drawing/2014/main" id="{06B62727-E809-4814-B806-EADB711CAFFE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81000" y="685800"/>
                <a:ext cx="8077200" cy="5622925"/>
              </a:xfrm>
            </p:spPr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zh-TW" altLang="en-US" sz="2400" b="1" dirty="0">
                    <a:solidFill>
                      <a:srgbClr val="3BA943"/>
                    </a:solidFill>
                    <a:latin typeface="Times New Roman" panose="02020603050405020304" pitchFamily="18" charset="0"/>
                  </a:rPr>
                  <a:t>討論：</a:t>
                </a:r>
                <a:br>
                  <a:rPr lang="en-US" altLang="zh-TW" sz="2400" b="1" dirty="0">
                    <a:solidFill>
                      <a:srgbClr val="3BA943"/>
                    </a:solidFill>
                    <a:latin typeface="Times New Roman" panose="02020603050405020304" pitchFamily="18" charset="0"/>
                  </a:rPr>
                </a:br>
                <a:r>
                  <a:rPr lang="en-US" altLang="zh-TW" sz="240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1. </a:t>
                </a:r>
                <a:r>
                  <a:rPr lang="zh-TW" altLang="en-US" sz="240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可以發現，使用 </a:t>
                </a:r>
                <a:r>
                  <a:rPr lang="en-US" altLang="zh-TW" sz="240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Prefix Sum</a:t>
                </a:r>
                <a:r>
                  <a:rPr lang="zh-TW" altLang="en-US" sz="240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 會有問題：</a:t>
                </a:r>
                <a:br>
                  <a:rPr lang="en-US" altLang="zh-TW" sz="240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</a:br>
                <a:r>
                  <a:rPr lang="zh-TW" altLang="en-US" sz="240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這個解答必定會是一個</a:t>
                </a:r>
                <a:r>
                  <a:rPr lang="zh-TW" altLang="en-US" sz="2400" kern="1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連續的</a:t>
                </a:r>
                <a:r>
                  <a:rPr lang="zh-TW" altLang="en-US" sz="240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區間，會直接忽略</a:t>
                </a:r>
                <a:r>
                  <a:rPr lang="zh-TW" altLang="en-US" sz="2400" kern="1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不連續</a:t>
                </a:r>
                <a:r>
                  <a:rPr lang="zh-TW" altLang="en-US" sz="240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的區間，如 </a:t>
                </a:r>
                <a:r>
                  <a:rPr lang="en-US" altLang="zh-TW" sz="240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1 2 </a:t>
                </a:r>
                <a:r>
                  <a:rPr lang="en-US" altLang="zh-TW" sz="2400" kern="1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3</a:t>
                </a:r>
                <a:r>
                  <a:rPr lang="en-US" altLang="zh-TW" sz="240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 7 </a:t>
                </a:r>
                <a:r>
                  <a:rPr lang="en-US" altLang="zh-TW" sz="2400" kern="1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5</a:t>
                </a:r>
                <a:r>
                  <a:rPr lang="zh-TW" altLang="en-US" sz="240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。</a:t>
                </a:r>
                <a:br>
                  <a:rPr lang="en-US" altLang="zh-TW" sz="240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</a:br>
                <a:br>
                  <a:rPr lang="en-US" altLang="zh-TW" sz="240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</a:br>
                <a:r>
                  <a:rPr lang="zh-TW" altLang="en-US" sz="240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但是根據條件 </a:t>
                </a:r>
                <a:r>
                  <a:rPr lang="en-US" altLang="zh-TW" sz="240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1 ≤ c ≤ n ≤ 100000</a:t>
                </a:r>
                <a:r>
                  <a:rPr lang="zh-TW" altLang="en-US" sz="240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zh-TW" altLang="en-US" sz="2400" i="1" kern="12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標楷體"/>
                        <a:cs typeface="Times New Roman" panose="02020603050405020304" pitchFamily="18" charset="0"/>
                      </a:rPr>
                      <m:t>並且</m:t>
                    </m:r>
                  </m:oMath>
                </a14:m>
                <a:br>
                  <a:rPr lang="en-US" altLang="zh-TW" sz="2400" i="1" kern="1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標楷體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kern="120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標楷體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400" b="0" i="0" kern="120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標楷體"/>
                            <a:cs typeface="Times New Roman" panose="02020603050405020304" pitchFamily="18" charset="0"/>
                          </a:rPr>
                          <m:t>0 </m:t>
                        </m:r>
                        <m:r>
                          <m:rPr>
                            <m:nor/>
                          </m:rPr>
                          <a:rPr lang="en-US" altLang="zh-TW" sz="2400" kern="120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≤</m:t>
                        </m:r>
                        <m:r>
                          <a:rPr lang="zh-TW" altLang="en-US" sz="2400" i="1" kern="120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TW" sz="2400" b="0" i="1" kern="120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標楷體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2400" b="0" i="1" kern="120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標楷體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2400" b="0" i="1" kern="12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標楷體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400" b="0" i="1" kern="12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標楷體"/>
                        <a:cs typeface="Times New Roman" panose="02020603050405020304" pitchFamily="18" charset="0"/>
                      </a:rPr>
                      <m:t>𝑚𝑜𝑑</m:t>
                    </m:r>
                    <m:r>
                      <a:rPr lang="en-US" altLang="zh-TW" sz="2400" b="0" i="1" kern="12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標楷體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400" b="0" i="1" kern="12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標楷體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zh-TW" sz="2400" b="0" i="1" kern="12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標楷體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sz="2400" b="0" i="1" kern="12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標楷體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zh-TW" sz="2400" b="0" i="1" kern="12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標楷體"/>
                        <a:cs typeface="Times New Roman" panose="02020603050405020304" pitchFamily="18" charset="0"/>
                      </a:rPr>
                      <m:t>−1</m:t>
                    </m:r>
                    <m:r>
                      <a:rPr lang="zh-TW" altLang="en-US" sz="2400" i="1" kern="12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標楷體"/>
                        <a:cs typeface="Times New Roman" panose="02020603050405020304" pitchFamily="18" charset="0"/>
                      </a:rPr>
                      <m:t>，</m:t>
                    </m:r>
                  </m:oMath>
                </a14:m>
                <a:r>
                  <a:rPr lang="zh-TW" altLang="en-US" sz="2400" b="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而又根據鴿籠原理可以知道，在</a:t>
                </a:r>
                <a:br>
                  <a:rPr lang="en-US" altLang="zh-TW" sz="2400" b="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</a:br>
                <a:r>
                  <a:rPr lang="en-US" altLang="zh-TW" sz="240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 ≤ n</a:t>
                </a:r>
                <a:r>
                  <a:rPr lang="zh-TW" altLang="en-US" sz="240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的情況下，</a:t>
                </a:r>
                <a:r>
                  <a:rPr lang="zh-TW" altLang="en-US" sz="2400" b="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必定存在兩個以上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kern="12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 kern="12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2400" i="1" kern="12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2400" i="1" kern="12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400" i="1" kern="12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𝑚𝑜𝑑</m:t>
                    </m:r>
                    <m:r>
                      <a:rPr lang="en-US" altLang="zh-TW" sz="2400" i="1" kern="12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400" i="1" kern="12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zh-TW" altLang="en-US" sz="2400" b="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 相同。</a:t>
                </a:r>
                <a:br>
                  <a:rPr lang="en-US" altLang="zh-TW" sz="2400" b="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</a:br>
                <a:r>
                  <a:rPr lang="zh-TW" altLang="en-US" sz="2400" b="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所以我們完全不需要在乎不連續區間的情況，因為</a:t>
                </a:r>
                <a:r>
                  <a:rPr lang="zh-TW" altLang="en-US" sz="2400" b="0" kern="1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一定會有解</a:t>
                </a:r>
                <a:r>
                  <a:rPr lang="zh-TW" altLang="en-US" sz="240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。時間複雜度為 </a:t>
                </a:r>
                <a:r>
                  <a:rPr lang="en-US" altLang="zh-TW" sz="240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O(n)</a:t>
                </a:r>
                <a:r>
                  <a:rPr lang="zh-TW" altLang="en-US" sz="240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br>
                  <a:rPr lang="en-US" altLang="zh-TW" sz="240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altLang="zh-TW" sz="2400" kern="12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zh-TW" altLang="en-US" sz="2400" kern="1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     </a:t>
                </a:r>
                <a:r>
                  <a:rPr lang="en-US" altLang="zh-TW" sz="2400" b="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2. </a:t>
                </a:r>
                <a:r>
                  <a:rPr lang="zh-TW" altLang="en-US" sz="2400" b="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如果題目不是限制 </a:t>
                </a:r>
                <a:r>
                  <a:rPr lang="en-US" altLang="zh-TW" sz="240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1 ≤ c ≤ n ≤ 100000</a:t>
                </a:r>
                <a:r>
                  <a:rPr lang="zh-TW" altLang="en-US" sz="240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，則可以使用 </a:t>
                </a:r>
                <a:br>
                  <a:rPr lang="en-US" altLang="zh-TW" sz="240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</a:br>
                <a:r>
                  <a:rPr lang="en-US" altLang="zh-TW" sz="240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         Dynamic Programming</a:t>
                </a:r>
                <a:r>
                  <a:rPr lang="zh-TW" altLang="en-US" sz="240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  解決</a:t>
                </a:r>
                <a:r>
                  <a:rPr lang="en-US" altLang="zh-TW" sz="240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 Sum of Subset</a:t>
                </a:r>
                <a:r>
                  <a:rPr lang="zh-TW" altLang="en-US" sz="240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 的問題方式</a:t>
                </a:r>
                <a:br>
                  <a:rPr lang="en-US" altLang="zh-TW" sz="240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</a:br>
                <a:r>
                  <a:rPr lang="zh-TW" altLang="en-US" sz="240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        來處理本題目，時間複雜度為 </a:t>
                </a:r>
                <a:r>
                  <a:rPr lang="en-US" altLang="zh-TW" sz="240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0" i="1" kern="120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標楷體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kern="120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標楷體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b="0" i="1" kern="120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標楷體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240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)</a:t>
                </a:r>
                <a:r>
                  <a:rPr lang="zh-TW" altLang="en-US" sz="240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，在這題會</a:t>
                </a:r>
                <a:r>
                  <a:rPr lang="en-US" altLang="zh-TW" sz="240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TLE</a:t>
                </a:r>
                <a:r>
                  <a:rPr lang="zh-TW" altLang="en-US" sz="2400" kern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。</a:t>
                </a:r>
                <a:endParaRPr lang="en-US" altLang="zh-TW" sz="2400" b="0" kern="1200" dirty="0">
                  <a:solidFill>
                    <a:srgbClr val="000000"/>
                  </a:solidFill>
                  <a:latin typeface="Times New Roman" panose="02020603050405020304" pitchFamily="18" charset="0"/>
                  <a:ea typeface="標楷體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99" name="Rectangle 3">
                <a:extLst>
                  <a:ext uri="{FF2B5EF4-FFF2-40B4-BE49-F238E27FC236}">
                    <a16:creationId xmlns:a16="http://schemas.microsoft.com/office/drawing/2014/main" id="{06B62727-E809-4814-B806-EADB711CAF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81000" y="685800"/>
                <a:ext cx="8077200" cy="5622925"/>
              </a:xfrm>
              <a:blipFill>
                <a:blip r:embed="rId3"/>
                <a:stretch>
                  <a:fillRect l="-151" t="-15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3810714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標楷體"/>
        <a:cs typeface=""/>
      </a:majorFont>
      <a:minorFont>
        <a:latin typeface="Tahoma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2698</TotalTime>
  <Words>583</Words>
  <Application>Microsoft Macintosh PowerPoint</Application>
  <PresentationFormat>如螢幕大小 (4:3)</PresentationFormat>
  <Paragraphs>70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標楷體</vt:lpstr>
      <vt:lpstr>Cambria Math</vt:lpstr>
      <vt:lpstr>Tahoma</vt:lpstr>
      <vt:lpstr>Times New Roman</vt:lpstr>
      <vt:lpstr>Wingdings</vt:lpstr>
      <vt:lpstr>Blends</vt:lpstr>
      <vt:lpstr>11234: Halloween treats</vt:lpstr>
      <vt:lpstr>PowerPoint 簡報</vt:lpstr>
      <vt:lpstr>PowerPoint 簡報</vt:lpstr>
      <vt:lpstr>PowerPoint 簡報</vt:lpstr>
    </vt:vector>
  </TitlesOfParts>
  <Company>nsysu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 3 Greedy methods</dc:title>
  <dc:creator>cby</dc:creator>
  <cp:lastModifiedBy>世諭 孫</cp:lastModifiedBy>
  <cp:revision>138</cp:revision>
  <dcterms:created xsi:type="dcterms:W3CDTF">1601-01-01T00:00:00Z</dcterms:created>
  <dcterms:modified xsi:type="dcterms:W3CDTF">2024-05-09T06:41:47Z</dcterms:modified>
</cp:coreProperties>
</file>