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0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0555-DBF7-475B-B3C9-C414A8EC5B9B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E8BA-48E9-435B-8177-FE72B9D04E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01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0555-DBF7-475B-B3C9-C414A8EC5B9B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E8BA-48E9-435B-8177-FE72B9D04E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6949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0555-DBF7-475B-B3C9-C414A8EC5B9B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E8BA-48E9-435B-8177-FE72B9D04E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153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0555-DBF7-475B-B3C9-C414A8EC5B9B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E8BA-48E9-435B-8177-FE72B9D04E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150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0555-DBF7-475B-B3C9-C414A8EC5B9B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E8BA-48E9-435B-8177-FE72B9D04E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519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0555-DBF7-475B-B3C9-C414A8EC5B9B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E8BA-48E9-435B-8177-FE72B9D04E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7173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0555-DBF7-475B-B3C9-C414A8EC5B9B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E8BA-48E9-435B-8177-FE72B9D04E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2306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0555-DBF7-475B-B3C9-C414A8EC5B9B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E8BA-48E9-435B-8177-FE72B9D04E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4284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0555-DBF7-475B-B3C9-C414A8EC5B9B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E8BA-48E9-435B-8177-FE72B9D04E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1013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0555-DBF7-475B-B3C9-C414A8EC5B9B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E8BA-48E9-435B-8177-FE72B9D04E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039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0555-DBF7-475B-B3C9-C414A8EC5B9B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E8BA-48E9-435B-8177-FE72B9D04E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899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C0555-DBF7-475B-B3C9-C414A8EC5B9B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1E8BA-48E9-435B-8177-FE72B9D04E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2614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3568" y="188640"/>
            <a:ext cx="7772400" cy="1470025"/>
          </a:xfrm>
        </p:spPr>
        <p:txBody>
          <a:bodyPr/>
          <a:lstStyle/>
          <a:p>
            <a:r>
              <a:rPr lang="en-US" altLang="zh-TW" b="1" dirty="0" smtClean="0">
                <a:latin typeface="Times New Roman" charset="0"/>
              </a:rPr>
              <a:t>11933</a:t>
            </a:r>
            <a:r>
              <a:rPr lang="en-US" altLang="zh-TW" b="1" dirty="0" smtClean="0">
                <a:latin typeface="Times New Roman" charset="0"/>
              </a:rPr>
              <a:t>: Splitting number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3568" y="1844824"/>
            <a:ext cx="8136904" cy="453650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zh-TW" altLang="en-US" dirty="0" smtClean="0">
                <a:solidFill>
                  <a:schemeClr val="hlink"/>
                </a:solidFill>
                <a:latin typeface="Times New Roman" charset="0"/>
              </a:rPr>
              <a:t>★☆☆☆☆</a:t>
            </a:r>
          </a:p>
          <a:p>
            <a:pPr algn="l"/>
            <a:r>
              <a:rPr lang="zh-TW" altLang="en-US" b="1" dirty="0" smtClean="0">
                <a:solidFill>
                  <a:srgbClr val="3BA943"/>
                </a:solidFill>
                <a:latin typeface="Times New Roman" charset="0"/>
              </a:rPr>
              <a:t>題組：</a:t>
            </a:r>
            <a:r>
              <a:rPr lang="en-US" altLang="zh-TW" dirty="0" smtClean="0">
                <a:solidFill>
                  <a:schemeClr val="tx1"/>
                </a:solidFill>
                <a:latin typeface="Times New Roman" charset="0"/>
                <a:ea typeface="新細明體" pitchFamily="18" charset="-120"/>
              </a:rPr>
              <a:t>Problem Set Archive with Online Judge</a:t>
            </a:r>
          </a:p>
          <a:p>
            <a:pPr algn="l"/>
            <a:r>
              <a:rPr lang="zh-TW" altLang="en-US" b="1" dirty="0" smtClean="0">
                <a:solidFill>
                  <a:srgbClr val="3BA943"/>
                </a:solidFill>
                <a:latin typeface="Times New Roman" charset="0"/>
              </a:rPr>
              <a:t>題號：</a:t>
            </a:r>
            <a:r>
              <a:rPr lang="en-US" altLang="zh-TW" dirty="0" smtClean="0">
                <a:solidFill>
                  <a:schemeClr val="tx1"/>
                </a:solidFill>
                <a:latin typeface="Times New Roman" charset="0"/>
              </a:rPr>
              <a:t>11933: Splitting number</a:t>
            </a:r>
          </a:p>
          <a:p>
            <a:pPr algn="l"/>
            <a:r>
              <a:rPr lang="zh-TW" altLang="en-US" b="1" dirty="0" smtClean="0">
                <a:solidFill>
                  <a:srgbClr val="3BA943"/>
                </a:solidFill>
                <a:latin typeface="Times New Roman" charset="0"/>
              </a:rPr>
              <a:t>解題者：</a:t>
            </a:r>
            <a:r>
              <a:rPr lang="zh-TW" altLang="en-US" dirty="0">
                <a:solidFill>
                  <a:schemeClr val="tx1"/>
                </a:solidFill>
                <a:latin typeface="Times New Roman" charset="0"/>
              </a:rPr>
              <a:t>莊諭倫</a:t>
            </a:r>
            <a:endParaRPr lang="zh-TW" altLang="en-US" dirty="0" smtClean="0">
              <a:solidFill>
                <a:schemeClr val="tx1"/>
              </a:solidFill>
              <a:latin typeface="Times New Roman" charset="0"/>
              <a:ea typeface="新細明體" pitchFamily="18" charset="-120"/>
            </a:endParaRPr>
          </a:p>
          <a:p>
            <a:pPr algn="l"/>
            <a:r>
              <a:rPr lang="zh-TW" altLang="en-US" b="1" dirty="0" smtClean="0">
                <a:solidFill>
                  <a:srgbClr val="3BA943"/>
                </a:solidFill>
                <a:latin typeface="Times New Roman" charset="0"/>
              </a:rPr>
              <a:t>解題日期：</a:t>
            </a:r>
            <a:r>
              <a:rPr lang="zh-TW" altLang="en-US" dirty="0" smtClean="0">
                <a:solidFill>
                  <a:schemeClr val="tx1"/>
                </a:solidFill>
                <a:latin typeface="Times New Roman" charset="0"/>
              </a:rPr>
              <a:t>20</a:t>
            </a:r>
            <a:r>
              <a:rPr lang="en-US" altLang="zh-TW" dirty="0" smtClean="0">
                <a:solidFill>
                  <a:schemeClr val="tx1"/>
                </a:solidFill>
                <a:latin typeface="Times New Roman" charset="0"/>
              </a:rPr>
              <a:t>13</a:t>
            </a:r>
            <a:r>
              <a:rPr lang="zh-TW" altLang="en-US" dirty="0" smtClean="0">
                <a:solidFill>
                  <a:schemeClr val="tx1"/>
                </a:solidFill>
                <a:latin typeface="Times New Roman" charset="0"/>
              </a:rPr>
              <a:t>年</a:t>
            </a:r>
            <a:r>
              <a:rPr lang="en-US" altLang="zh-TW" dirty="0">
                <a:solidFill>
                  <a:schemeClr val="tx1"/>
                </a:solidFill>
                <a:latin typeface="Times New Roman" charset="0"/>
              </a:rPr>
              <a:t>3</a:t>
            </a:r>
            <a:r>
              <a:rPr lang="zh-TW" altLang="en-US" dirty="0" smtClean="0">
                <a:solidFill>
                  <a:schemeClr val="tx1"/>
                </a:solidFill>
                <a:latin typeface="Times New Roman" charset="0"/>
              </a:rPr>
              <a:t>月</a:t>
            </a:r>
            <a:r>
              <a:rPr lang="en-US" altLang="zh-TW" dirty="0">
                <a:solidFill>
                  <a:schemeClr val="tx1"/>
                </a:solidFill>
                <a:latin typeface="Times New Roman" charset="0"/>
              </a:rPr>
              <a:t>7</a:t>
            </a:r>
            <a:r>
              <a:rPr lang="zh-TW" altLang="en-US" dirty="0" smtClean="0">
                <a:solidFill>
                  <a:schemeClr val="tx1"/>
                </a:solidFill>
                <a:latin typeface="Times New Roman" charset="0"/>
              </a:rPr>
              <a:t>日</a:t>
            </a:r>
            <a:endParaRPr lang="zh-TW" altLang="en-US" dirty="0" smtClean="0">
              <a:solidFill>
                <a:schemeClr val="tx1"/>
              </a:solidFill>
              <a:latin typeface="Times New Roman" charset="0"/>
              <a:ea typeface="新細明體" pitchFamily="18" charset="-120"/>
            </a:endParaRPr>
          </a:p>
          <a:p>
            <a:pPr algn="l"/>
            <a:r>
              <a:rPr lang="zh-TW" altLang="en-US" b="1" dirty="0" smtClean="0">
                <a:solidFill>
                  <a:srgbClr val="3BA943"/>
                </a:solidFill>
                <a:latin typeface="Times New Roman" charset="0"/>
              </a:rPr>
              <a:t>題意：</a:t>
            </a:r>
            <a:r>
              <a:rPr lang="zh-TW" altLang="zh-TW" dirty="0">
                <a:solidFill>
                  <a:schemeClr val="tx1"/>
                </a:solidFill>
              </a:rPr>
              <a:t>將一正整數</a:t>
            </a:r>
            <a:r>
              <a:rPr lang="en-US" altLang="zh-TW" dirty="0">
                <a:solidFill>
                  <a:schemeClr val="tx1"/>
                </a:solidFill>
              </a:rPr>
              <a:t>n</a:t>
            </a:r>
            <a:r>
              <a:rPr lang="zh-TW" altLang="zh-TW" dirty="0">
                <a:solidFill>
                  <a:schemeClr val="tx1"/>
                </a:solidFill>
              </a:rPr>
              <a:t>分割成兩個整數的和，其分割法為，先將此數寫成</a:t>
            </a:r>
            <a:r>
              <a:rPr lang="en-US" altLang="zh-TW" dirty="0">
                <a:solidFill>
                  <a:schemeClr val="tx1"/>
                </a:solidFill>
              </a:rPr>
              <a:t>2</a:t>
            </a:r>
            <a:r>
              <a:rPr lang="zh-TW" altLang="zh-TW" dirty="0">
                <a:solidFill>
                  <a:schemeClr val="tx1"/>
                </a:solidFill>
              </a:rPr>
              <a:t>進位的形式，</a:t>
            </a:r>
            <a:r>
              <a:rPr lang="en-US" altLang="zh-TW" dirty="0">
                <a:solidFill>
                  <a:schemeClr val="tx1"/>
                </a:solidFill>
              </a:rPr>
              <a:t>n</a:t>
            </a:r>
            <a:r>
              <a:rPr lang="zh-TW" altLang="zh-TW" dirty="0">
                <a:solidFill>
                  <a:schemeClr val="tx1"/>
                </a:solidFill>
              </a:rPr>
              <a:t>由右至左依序來看，</a:t>
            </a:r>
            <a:r>
              <a:rPr lang="en-US" altLang="zh-TW" dirty="0">
                <a:solidFill>
                  <a:schemeClr val="tx1"/>
                </a:solidFill>
              </a:rPr>
              <a:t>a</a:t>
            </a:r>
            <a:r>
              <a:rPr lang="zh-TW" altLang="zh-TW" dirty="0">
                <a:solidFill>
                  <a:schemeClr val="tx1"/>
                </a:solidFill>
              </a:rPr>
              <a:t>和</a:t>
            </a:r>
            <a:r>
              <a:rPr lang="en-US" altLang="zh-TW" dirty="0">
                <a:solidFill>
                  <a:schemeClr val="tx1"/>
                </a:solidFill>
              </a:rPr>
              <a:t>b</a:t>
            </a:r>
            <a:r>
              <a:rPr lang="zh-TW" altLang="zh-TW" dirty="0">
                <a:solidFill>
                  <a:schemeClr val="tx1"/>
                </a:solidFill>
              </a:rPr>
              <a:t>的值也由右至左依序填寫，若數值為</a:t>
            </a:r>
            <a:r>
              <a:rPr lang="en-US" altLang="zh-TW" dirty="0">
                <a:solidFill>
                  <a:schemeClr val="tx1"/>
                </a:solidFill>
              </a:rPr>
              <a:t>1</a:t>
            </a:r>
            <a:r>
              <a:rPr lang="zh-TW" altLang="zh-TW" dirty="0">
                <a:solidFill>
                  <a:schemeClr val="tx1"/>
                </a:solidFill>
              </a:rPr>
              <a:t>且為第奇數次，則將</a:t>
            </a:r>
            <a:r>
              <a:rPr lang="en-US" altLang="zh-TW" dirty="0">
                <a:solidFill>
                  <a:schemeClr val="tx1"/>
                </a:solidFill>
              </a:rPr>
              <a:t>1</a:t>
            </a:r>
            <a:r>
              <a:rPr lang="zh-TW" altLang="zh-TW" dirty="0">
                <a:solidFill>
                  <a:schemeClr val="tx1"/>
                </a:solidFill>
              </a:rPr>
              <a:t>寫入</a:t>
            </a:r>
            <a:r>
              <a:rPr lang="en-US" altLang="zh-TW" dirty="0">
                <a:solidFill>
                  <a:schemeClr val="tx1"/>
                </a:solidFill>
              </a:rPr>
              <a:t>a</a:t>
            </a:r>
            <a:r>
              <a:rPr lang="zh-TW" altLang="zh-TW" dirty="0">
                <a:solidFill>
                  <a:schemeClr val="tx1"/>
                </a:solidFill>
              </a:rPr>
              <a:t>，而</a:t>
            </a:r>
            <a:r>
              <a:rPr lang="en-US" altLang="zh-TW" dirty="0">
                <a:solidFill>
                  <a:schemeClr val="tx1"/>
                </a:solidFill>
              </a:rPr>
              <a:t>0</a:t>
            </a:r>
            <a:r>
              <a:rPr lang="zh-TW" altLang="zh-TW" dirty="0">
                <a:solidFill>
                  <a:schemeClr val="tx1"/>
                </a:solidFill>
              </a:rPr>
              <a:t>寫入</a:t>
            </a:r>
            <a:r>
              <a:rPr lang="en-US" altLang="zh-TW" dirty="0">
                <a:solidFill>
                  <a:schemeClr val="tx1"/>
                </a:solidFill>
              </a:rPr>
              <a:t>b;</a:t>
            </a:r>
            <a:r>
              <a:rPr lang="zh-TW" altLang="zh-TW" dirty="0">
                <a:solidFill>
                  <a:schemeClr val="tx1"/>
                </a:solidFill>
              </a:rPr>
              <a:t>若數值為</a:t>
            </a:r>
            <a:r>
              <a:rPr lang="en-US" altLang="zh-TW" dirty="0">
                <a:solidFill>
                  <a:schemeClr val="tx1"/>
                </a:solidFill>
              </a:rPr>
              <a:t>1</a:t>
            </a:r>
            <a:r>
              <a:rPr lang="zh-TW" altLang="zh-TW" dirty="0">
                <a:solidFill>
                  <a:schemeClr val="tx1"/>
                </a:solidFill>
              </a:rPr>
              <a:t>且為第偶數次，則將</a:t>
            </a:r>
            <a:r>
              <a:rPr lang="en-US" altLang="zh-TW" dirty="0">
                <a:solidFill>
                  <a:schemeClr val="tx1"/>
                </a:solidFill>
              </a:rPr>
              <a:t>0</a:t>
            </a:r>
            <a:r>
              <a:rPr lang="zh-TW" altLang="zh-TW" dirty="0">
                <a:solidFill>
                  <a:schemeClr val="tx1"/>
                </a:solidFill>
              </a:rPr>
              <a:t>寫入</a:t>
            </a:r>
            <a:r>
              <a:rPr lang="en-US" altLang="zh-TW" dirty="0">
                <a:solidFill>
                  <a:schemeClr val="tx1"/>
                </a:solidFill>
              </a:rPr>
              <a:t>a</a:t>
            </a:r>
            <a:r>
              <a:rPr lang="zh-TW" altLang="zh-TW" dirty="0">
                <a:solidFill>
                  <a:schemeClr val="tx1"/>
                </a:solidFill>
              </a:rPr>
              <a:t>，而</a:t>
            </a:r>
            <a:r>
              <a:rPr lang="en-US" altLang="zh-TW" dirty="0">
                <a:solidFill>
                  <a:schemeClr val="tx1"/>
                </a:solidFill>
              </a:rPr>
              <a:t>1</a:t>
            </a:r>
            <a:r>
              <a:rPr lang="zh-TW" altLang="zh-TW" dirty="0">
                <a:solidFill>
                  <a:schemeClr val="tx1"/>
                </a:solidFill>
              </a:rPr>
              <a:t>寫入</a:t>
            </a:r>
            <a:r>
              <a:rPr lang="en-US" altLang="zh-TW" dirty="0">
                <a:solidFill>
                  <a:schemeClr val="tx1"/>
                </a:solidFill>
              </a:rPr>
              <a:t>b;</a:t>
            </a:r>
            <a:r>
              <a:rPr lang="zh-TW" altLang="zh-TW" dirty="0">
                <a:solidFill>
                  <a:schemeClr val="tx1"/>
                </a:solidFill>
              </a:rPr>
              <a:t>若數值為</a:t>
            </a:r>
            <a:r>
              <a:rPr lang="en-US" altLang="zh-TW" dirty="0">
                <a:solidFill>
                  <a:schemeClr val="tx1"/>
                </a:solidFill>
              </a:rPr>
              <a:t>0</a:t>
            </a:r>
            <a:r>
              <a:rPr lang="zh-TW" altLang="zh-TW" dirty="0">
                <a:solidFill>
                  <a:schemeClr val="tx1"/>
                </a:solidFill>
              </a:rPr>
              <a:t>，則將</a:t>
            </a:r>
            <a:r>
              <a:rPr lang="en-US" altLang="zh-TW" dirty="0">
                <a:solidFill>
                  <a:schemeClr val="tx1"/>
                </a:solidFill>
              </a:rPr>
              <a:t>0</a:t>
            </a:r>
            <a:r>
              <a:rPr lang="zh-TW" altLang="zh-TW" dirty="0">
                <a:solidFill>
                  <a:schemeClr val="tx1"/>
                </a:solidFill>
              </a:rPr>
              <a:t>寫入</a:t>
            </a:r>
            <a:r>
              <a:rPr lang="en-US" altLang="zh-TW" dirty="0">
                <a:solidFill>
                  <a:schemeClr val="tx1"/>
                </a:solidFill>
              </a:rPr>
              <a:t>a</a:t>
            </a:r>
            <a:r>
              <a:rPr lang="zh-TW" altLang="zh-TW" dirty="0">
                <a:solidFill>
                  <a:schemeClr val="tx1"/>
                </a:solidFill>
              </a:rPr>
              <a:t>和</a:t>
            </a:r>
            <a:r>
              <a:rPr lang="en-US" altLang="zh-TW" dirty="0">
                <a:solidFill>
                  <a:schemeClr val="tx1"/>
                </a:solidFill>
              </a:rPr>
              <a:t>b</a:t>
            </a:r>
            <a:r>
              <a:rPr lang="zh-TW" altLang="zh-TW" dirty="0">
                <a:solidFill>
                  <a:schemeClr val="tx1"/>
                </a:solidFill>
              </a:rPr>
              <a:t>。最後再將</a:t>
            </a:r>
            <a:r>
              <a:rPr lang="en-US" altLang="zh-TW" dirty="0">
                <a:solidFill>
                  <a:schemeClr val="tx1"/>
                </a:solidFill>
              </a:rPr>
              <a:t>a</a:t>
            </a:r>
            <a:r>
              <a:rPr lang="zh-TW" altLang="zh-TW" dirty="0">
                <a:solidFill>
                  <a:schemeClr val="tx1"/>
                </a:solidFill>
              </a:rPr>
              <a:t>和</a:t>
            </a:r>
            <a:r>
              <a:rPr lang="en-US" altLang="zh-TW" dirty="0">
                <a:solidFill>
                  <a:schemeClr val="tx1"/>
                </a:solidFill>
              </a:rPr>
              <a:t>b</a:t>
            </a:r>
            <a:r>
              <a:rPr lang="zh-TW" altLang="zh-TW" dirty="0">
                <a:solidFill>
                  <a:schemeClr val="tx1"/>
                </a:solidFill>
              </a:rPr>
              <a:t>由</a:t>
            </a:r>
            <a:r>
              <a:rPr lang="en-US" altLang="zh-TW" dirty="0">
                <a:solidFill>
                  <a:schemeClr val="tx1"/>
                </a:solidFill>
              </a:rPr>
              <a:t>2</a:t>
            </a:r>
            <a:r>
              <a:rPr lang="zh-TW" altLang="zh-TW" dirty="0">
                <a:solidFill>
                  <a:schemeClr val="tx1"/>
                </a:solidFill>
              </a:rPr>
              <a:t>進為轉回</a:t>
            </a:r>
            <a:r>
              <a:rPr lang="en-US" altLang="zh-TW" dirty="0">
                <a:solidFill>
                  <a:schemeClr val="tx1"/>
                </a:solidFill>
              </a:rPr>
              <a:t>10</a:t>
            </a:r>
            <a:r>
              <a:rPr lang="zh-TW" altLang="zh-TW" dirty="0">
                <a:solidFill>
                  <a:schemeClr val="tx1"/>
                </a:solidFill>
              </a:rPr>
              <a:t>進位表示出來。舉例來說，</a:t>
            </a:r>
            <a:r>
              <a:rPr lang="en-US" altLang="zh-TW" dirty="0">
                <a:solidFill>
                  <a:schemeClr val="tx1"/>
                </a:solidFill>
              </a:rPr>
              <a:t>n</a:t>
            </a:r>
            <a:r>
              <a:rPr lang="zh-TW" altLang="zh-TW" dirty="0">
                <a:solidFill>
                  <a:schemeClr val="tx1"/>
                </a:solidFill>
              </a:rPr>
              <a:t>轉成</a:t>
            </a:r>
            <a:r>
              <a:rPr lang="en-US" altLang="zh-TW" dirty="0">
                <a:solidFill>
                  <a:schemeClr val="tx1"/>
                </a:solidFill>
              </a:rPr>
              <a:t>2</a:t>
            </a:r>
            <a:r>
              <a:rPr lang="zh-TW" altLang="zh-TW" dirty="0">
                <a:solidFill>
                  <a:schemeClr val="tx1"/>
                </a:solidFill>
              </a:rPr>
              <a:t>進為寫成</a:t>
            </a:r>
            <a:r>
              <a:rPr lang="en-US" altLang="zh-TW" dirty="0">
                <a:solidFill>
                  <a:schemeClr val="tx1"/>
                </a:solidFill>
              </a:rPr>
              <a:t>110110101</a:t>
            </a:r>
            <a:r>
              <a:rPr lang="zh-TW" altLang="zh-TW" dirty="0">
                <a:solidFill>
                  <a:schemeClr val="tx1"/>
                </a:solidFill>
              </a:rPr>
              <a:t>，則</a:t>
            </a:r>
            <a:r>
              <a:rPr lang="en-US" altLang="zh-TW" dirty="0">
                <a:solidFill>
                  <a:schemeClr val="tx1"/>
                </a:solidFill>
              </a:rPr>
              <a:t>a=010010001</a:t>
            </a:r>
            <a:r>
              <a:rPr lang="zh-TW" altLang="zh-TW" dirty="0">
                <a:solidFill>
                  <a:schemeClr val="tx1"/>
                </a:solidFill>
              </a:rPr>
              <a:t>，</a:t>
            </a:r>
            <a:r>
              <a:rPr lang="en-US" altLang="zh-TW" dirty="0">
                <a:solidFill>
                  <a:schemeClr val="tx1"/>
                </a:solidFill>
              </a:rPr>
              <a:t>b=100100100</a:t>
            </a:r>
            <a:r>
              <a:rPr lang="zh-TW" altLang="zh-TW" dirty="0" smtClean="0">
                <a:solidFill>
                  <a:schemeClr val="tx1"/>
                </a:solidFill>
              </a:rPr>
              <a:t>。</a:t>
            </a:r>
            <a:endParaRPr lang="zh-TW" altLang="zh-TW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07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26469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zh-TW" altLang="en-US" b="1" dirty="0" smtClean="0">
                <a:solidFill>
                  <a:srgbClr val="3BA943"/>
                </a:solidFill>
                <a:latin typeface="Times New Roman" charset="0"/>
              </a:rPr>
              <a:t>題意範例：</a:t>
            </a:r>
            <a:r>
              <a:rPr lang="zh-TW" altLang="en-US" dirty="0" smtClean="0">
                <a:solidFill>
                  <a:srgbClr val="3BA943"/>
                </a:solidFill>
                <a:latin typeface="Times New Roman" charset="0"/>
              </a:rPr>
              <a:t>  </a:t>
            </a:r>
            <a:r>
              <a:rPr lang="en-US" altLang="zh-TW" dirty="0">
                <a:latin typeface="Times New Roman" charset="0"/>
              </a:rPr>
              <a:t>6</a:t>
            </a:r>
            <a:r>
              <a:rPr lang="zh-TW" altLang="zh-TW" dirty="0" smtClean="0">
                <a:latin typeface="Times New Roman" charset="0"/>
              </a:rPr>
              <a:t>      </a:t>
            </a:r>
            <a:r>
              <a:rPr lang="en-US" altLang="zh-TW" dirty="0" smtClean="0">
                <a:latin typeface="Times New Roman" charset="0"/>
                <a:sym typeface="Wingdings" pitchFamily="2" charset="2"/>
              </a:rPr>
              <a:t></a:t>
            </a:r>
            <a:r>
              <a:rPr lang="zh-TW" altLang="zh-TW" dirty="0" smtClean="0">
                <a:latin typeface="Times New Roman" charset="0"/>
              </a:rPr>
              <a:t> </a:t>
            </a:r>
            <a:r>
              <a:rPr lang="en-US" altLang="zh-TW" dirty="0" smtClean="0">
                <a:latin typeface="Times New Roman" charset="0"/>
              </a:rPr>
              <a:t>2</a:t>
            </a:r>
            <a:r>
              <a:rPr lang="zh-TW" altLang="en-US" dirty="0" smtClean="0">
                <a:latin typeface="Times New Roman" charset="0"/>
              </a:rPr>
              <a:t> </a:t>
            </a:r>
            <a:r>
              <a:rPr lang="en-US" altLang="zh-TW" dirty="0" smtClean="0">
                <a:latin typeface="Times New Roman" charset="0"/>
              </a:rPr>
              <a:t>4</a:t>
            </a:r>
            <a:r>
              <a:rPr lang="zh-TW" altLang="zh-TW" dirty="0" smtClean="0">
                <a:latin typeface="Times New Roman" charset="0"/>
              </a:rPr>
              <a:t>       </a:t>
            </a:r>
            <a:br>
              <a:rPr lang="zh-TW" altLang="zh-TW" dirty="0" smtClean="0">
                <a:latin typeface="Times New Roman" charset="0"/>
              </a:rPr>
            </a:br>
            <a:r>
              <a:rPr lang="zh-TW" altLang="zh-TW" dirty="0" smtClean="0">
                <a:latin typeface="Times New Roman" charset="0"/>
              </a:rPr>
              <a:t>                      </a:t>
            </a:r>
            <a:r>
              <a:rPr lang="en-US" altLang="zh-TW" dirty="0" smtClean="0">
                <a:latin typeface="Times New Roman" charset="0"/>
              </a:rPr>
              <a:t>7</a:t>
            </a:r>
            <a:r>
              <a:rPr lang="zh-TW" altLang="en-US" dirty="0" smtClean="0">
                <a:latin typeface="Times New Roman" charset="0"/>
              </a:rPr>
              <a:t>      </a:t>
            </a:r>
            <a:r>
              <a:rPr lang="en-US" altLang="zh-TW" dirty="0" smtClean="0">
                <a:latin typeface="Times New Roman" charset="0"/>
                <a:sym typeface="Wingdings" pitchFamily="2" charset="2"/>
              </a:rPr>
              <a:t></a:t>
            </a:r>
            <a:r>
              <a:rPr lang="zh-TW" altLang="zh-TW" dirty="0" smtClean="0">
                <a:latin typeface="Times New Roman" charset="0"/>
              </a:rPr>
              <a:t> </a:t>
            </a:r>
            <a:r>
              <a:rPr lang="en-US" altLang="zh-TW" dirty="0" smtClean="0">
                <a:latin typeface="Times New Roman" charset="0"/>
              </a:rPr>
              <a:t>5</a:t>
            </a:r>
            <a:r>
              <a:rPr lang="zh-TW" altLang="en-US" dirty="0" smtClean="0">
                <a:latin typeface="Times New Roman" charset="0"/>
              </a:rPr>
              <a:t> </a:t>
            </a:r>
            <a:r>
              <a:rPr lang="en-US" altLang="zh-TW" dirty="0" smtClean="0">
                <a:latin typeface="Times New Roman" charset="0"/>
              </a:rPr>
              <a:t>2</a:t>
            </a:r>
            <a:r>
              <a:rPr lang="zh-TW" altLang="zh-TW" dirty="0" smtClean="0">
                <a:latin typeface="Times New Roman" charset="0"/>
              </a:rPr>
              <a:t/>
            </a:r>
            <a:br>
              <a:rPr lang="zh-TW" altLang="zh-TW" dirty="0" smtClean="0">
                <a:latin typeface="Times New Roman" charset="0"/>
              </a:rPr>
            </a:br>
            <a:r>
              <a:rPr lang="zh-TW" altLang="zh-TW" dirty="0" smtClean="0">
                <a:latin typeface="Times New Roman" charset="0"/>
              </a:rPr>
              <a:t>                      </a:t>
            </a:r>
            <a:r>
              <a:rPr lang="en-US" altLang="zh-TW" dirty="0" smtClean="0">
                <a:latin typeface="Times New Roman" charset="0"/>
              </a:rPr>
              <a:t>13</a:t>
            </a:r>
            <a:r>
              <a:rPr lang="zh-TW" altLang="zh-TW" dirty="0" smtClean="0">
                <a:latin typeface="Times New Roman" charset="0"/>
              </a:rPr>
              <a:t>    </a:t>
            </a:r>
            <a:r>
              <a:rPr lang="en-US" altLang="zh-TW" dirty="0" smtClean="0">
                <a:latin typeface="Times New Roman" charset="0"/>
                <a:sym typeface="Wingdings" pitchFamily="2" charset="2"/>
              </a:rPr>
              <a:t></a:t>
            </a:r>
            <a:r>
              <a:rPr lang="zh-TW" altLang="zh-TW" dirty="0" smtClean="0">
                <a:latin typeface="Times New Roman" charset="0"/>
              </a:rPr>
              <a:t> </a:t>
            </a:r>
            <a:r>
              <a:rPr lang="en-US" altLang="zh-TW" dirty="0" smtClean="0">
                <a:latin typeface="Times New Roman" charset="0"/>
              </a:rPr>
              <a:t>9</a:t>
            </a:r>
            <a:r>
              <a:rPr lang="zh-TW" altLang="en-US" dirty="0" smtClean="0">
                <a:latin typeface="Times New Roman" charset="0"/>
              </a:rPr>
              <a:t> </a:t>
            </a:r>
            <a:r>
              <a:rPr lang="en-US" altLang="zh-TW" dirty="0" smtClean="0">
                <a:latin typeface="Times New Roman" charset="0"/>
              </a:rPr>
              <a:t>4</a:t>
            </a:r>
            <a:r>
              <a:rPr lang="zh-TW" altLang="zh-TW" dirty="0" smtClean="0">
                <a:latin typeface="Times New Roman" charset="0"/>
              </a:rPr>
              <a:t/>
            </a:r>
            <a:br>
              <a:rPr lang="zh-TW" altLang="zh-TW" dirty="0" smtClean="0">
                <a:latin typeface="Times New Roman" charset="0"/>
              </a:rPr>
            </a:br>
            <a:r>
              <a:rPr lang="zh-TW" altLang="zh-TW" dirty="0" smtClean="0">
                <a:latin typeface="Times New Roman" charset="0"/>
              </a:rPr>
              <a:t>                      </a:t>
            </a:r>
            <a:r>
              <a:rPr lang="en-US" altLang="zh-TW" dirty="0" smtClean="0">
                <a:latin typeface="Times New Roman" charset="0"/>
              </a:rPr>
              <a:t>0</a:t>
            </a:r>
            <a:endParaRPr lang="zh-TW" altLang="en-US" dirty="0" smtClean="0">
              <a:solidFill>
                <a:srgbClr val="3BA943"/>
              </a:solidFill>
              <a:latin typeface="Times New Roman" charset="0"/>
            </a:endParaRPr>
          </a:p>
          <a:p>
            <a:pPr>
              <a:lnSpc>
                <a:spcPct val="90000"/>
              </a:lnSpc>
            </a:pPr>
            <a:r>
              <a:rPr lang="zh-TW" altLang="en-US" b="1" dirty="0" smtClean="0">
                <a:solidFill>
                  <a:srgbClr val="3BA943"/>
                </a:solidFill>
                <a:latin typeface="Times New Roman" charset="0"/>
              </a:rPr>
              <a:t>解法：</a:t>
            </a:r>
            <a:r>
              <a:rPr lang="zh-TW" altLang="zh-TW" dirty="0"/>
              <a:t>宣告</a:t>
            </a:r>
            <a:r>
              <a:rPr lang="en-US" altLang="zh-TW" dirty="0"/>
              <a:t>5</a:t>
            </a:r>
            <a:r>
              <a:rPr lang="zh-TW" altLang="zh-TW" dirty="0"/>
              <a:t>個變數</a:t>
            </a:r>
            <a:r>
              <a:rPr lang="en-US" altLang="zh-TW" dirty="0"/>
              <a:t>a=0</a:t>
            </a:r>
            <a:r>
              <a:rPr lang="zh-TW" altLang="zh-TW" dirty="0"/>
              <a:t>、</a:t>
            </a:r>
            <a:r>
              <a:rPr lang="en-US" altLang="zh-TW" dirty="0"/>
              <a:t>b=0</a:t>
            </a:r>
            <a:r>
              <a:rPr lang="zh-TW" altLang="zh-TW" dirty="0"/>
              <a:t>、</a:t>
            </a:r>
            <a:r>
              <a:rPr lang="en-US" altLang="zh-TW" dirty="0"/>
              <a:t>n</a:t>
            </a:r>
            <a:r>
              <a:rPr lang="zh-TW" altLang="zh-TW" dirty="0"/>
              <a:t>、</a:t>
            </a:r>
            <a:r>
              <a:rPr lang="en-US" altLang="zh-TW" dirty="0"/>
              <a:t>p=0</a:t>
            </a:r>
            <a:r>
              <a:rPr lang="zh-TW" altLang="zh-TW" dirty="0"/>
              <a:t>、</a:t>
            </a:r>
            <a:r>
              <a:rPr lang="en-US" altLang="zh-TW" dirty="0"/>
              <a:t>k=1</a:t>
            </a:r>
            <a:r>
              <a:rPr lang="zh-TW" altLang="zh-TW" dirty="0"/>
              <a:t>。讓使用者輸入</a:t>
            </a:r>
            <a:r>
              <a:rPr lang="en-US" altLang="zh-TW" dirty="0"/>
              <a:t>n</a:t>
            </a:r>
            <a:r>
              <a:rPr lang="zh-TW" altLang="zh-TW" dirty="0"/>
              <a:t>的數值。進入一迴圈</a:t>
            </a:r>
            <a:r>
              <a:rPr lang="en-US" altLang="zh-TW" dirty="0"/>
              <a:t>(</a:t>
            </a:r>
            <a:r>
              <a:rPr lang="zh-TW" altLang="zh-TW" dirty="0"/>
              <a:t>若</a:t>
            </a:r>
            <a:r>
              <a:rPr lang="en-US" altLang="zh-TW" dirty="0"/>
              <a:t>n</a:t>
            </a:r>
            <a:r>
              <a:rPr lang="zh-TW" altLang="zh-TW" dirty="0"/>
              <a:t>為</a:t>
            </a:r>
            <a:r>
              <a:rPr lang="en-US" altLang="zh-TW" dirty="0"/>
              <a:t>0</a:t>
            </a:r>
            <a:r>
              <a:rPr lang="zh-TW" altLang="zh-TW" dirty="0"/>
              <a:t>則跳出</a:t>
            </a:r>
            <a:r>
              <a:rPr lang="en-US" altLang="zh-TW" dirty="0"/>
              <a:t>)</a:t>
            </a:r>
            <a:r>
              <a:rPr lang="zh-TW" altLang="zh-TW" dirty="0"/>
              <a:t>。若</a:t>
            </a:r>
            <a:r>
              <a:rPr lang="en-US" altLang="zh-TW" dirty="0"/>
              <a:t>n</a:t>
            </a:r>
            <a:r>
              <a:rPr lang="zh-TW" altLang="zh-TW" dirty="0"/>
              <a:t>除以</a:t>
            </a:r>
            <a:r>
              <a:rPr lang="en-US" altLang="zh-TW" dirty="0"/>
              <a:t>2</a:t>
            </a:r>
            <a:r>
              <a:rPr lang="zh-TW" altLang="zh-TW" dirty="0"/>
              <a:t>餘</a:t>
            </a:r>
            <a:r>
              <a:rPr lang="en-US" altLang="zh-TW" dirty="0"/>
              <a:t>1</a:t>
            </a:r>
            <a:r>
              <a:rPr lang="zh-TW" altLang="zh-TW" dirty="0"/>
              <a:t>，則更進一步判斷</a:t>
            </a:r>
            <a:r>
              <a:rPr lang="en-US" altLang="zh-TW" dirty="0"/>
              <a:t>k</a:t>
            </a:r>
            <a:r>
              <a:rPr lang="zh-TW" altLang="zh-TW" dirty="0"/>
              <a:t>的值，又若</a:t>
            </a:r>
            <a:r>
              <a:rPr lang="en-US" altLang="zh-TW" dirty="0"/>
              <a:t>k</a:t>
            </a:r>
            <a:r>
              <a:rPr lang="zh-TW" altLang="zh-TW" dirty="0"/>
              <a:t>能被</a:t>
            </a:r>
            <a:r>
              <a:rPr lang="en-US" altLang="zh-TW" dirty="0"/>
              <a:t>2</a:t>
            </a:r>
            <a:r>
              <a:rPr lang="zh-TW" altLang="zh-TW" dirty="0"/>
              <a:t>整除，則將</a:t>
            </a:r>
            <a:r>
              <a:rPr lang="en-US" altLang="zh-TW" dirty="0"/>
              <a:t>2</a:t>
            </a:r>
            <a:r>
              <a:rPr lang="zh-TW" altLang="zh-TW" dirty="0"/>
              <a:t>的</a:t>
            </a:r>
            <a:r>
              <a:rPr lang="en-US" altLang="zh-TW" dirty="0"/>
              <a:t>p</a:t>
            </a:r>
            <a:r>
              <a:rPr lang="zh-TW" altLang="zh-TW" dirty="0"/>
              <a:t>次方「累加」至</a:t>
            </a:r>
            <a:r>
              <a:rPr lang="en-US" altLang="zh-TW" dirty="0"/>
              <a:t>b</a:t>
            </a:r>
            <a:r>
              <a:rPr lang="zh-TW" altLang="zh-TW" dirty="0"/>
              <a:t>，否則則加到</a:t>
            </a:r>
            <a:r>
              <a:rPr lang="en-US" altLang="zh-TW" dirty="0"/>
              <a:t>a</a:t>
            </a:r>
            <a:r>
              <a:rPr lang="zh-TW" altLang="zh-TW" dirty="0"/>
              <a:t>，加完後再讓</a:t>
            </a:r>
            <a:r>
              <a:rPr lang="en-US" altLang="zh-TW" dirty="0"/>
              <a:t>k</a:t>
            </a:r>
            <a:r>
              <a:rPr lang="zh-TW" altLang="zh-TW" dirty="0"/>
              <a:t>多增加</a:t>
            </a:r>
            <a:r>
              <a:rPr lang="en-US" altLang="zh-TW" dirty="0"/>
              <a:t>1</a:t>
            </a:r>
            <a:r>
              <a:rPr lang="zh-TW" altLang="zh-TW" dirty="0"/>
              <a:t>，且</a:t>
            </a:r>
            <a:r>
              <a:rPr lang="en-US" altLang="zh-TW" dirty="0"/>
              <a:t>n</a:t>
            </a:r>
            <a:r>
              <a:rPr lang="zh-TW" altLang="zh-TW" dirty="0"/>
              <a:t>再減</a:t>
            </a:r>
            <a:r>
              <a:rPr lang="en-US" altLang="zh-TW" dirty="0"/>
              <a:t>1</a:t>
            </a:r>
            <a:r>
              <a:rPr lang="zh-TW" altLang="zh-TW" dirty="0"/>
              <a:t>。上述條件判斷完後讓</a:t>
            </a:r>
            <a:r>
              <a:rPr lang="en-US" altLang="zh-TW" dirty="0"/>
              <a:t>n</a:t>
            </a:r>
            <a:r>
              <a:rPr lang="zh-TW" altLang="zh-TW" dirty="0"/>
              <a:t>直接變成</a:t>
            </a:r>
            <a:r>
              <a:rPr lang="en-US" altLang="zh-TW" dirty="0"/>
              <a:t>n/2</a:t>
            </a:r>
            <a:r>
              <a:rPr lang="zh-TW" altLang="zh-TW" dirty="0"/>
              <a:t>，</a:t>
            </a:r>
            <a:r>
              <a:rPr lang="en-US" altLang="zh-TW" dirty="0"/>
              <a:t>p</a:t>
            </a:r>
            <a:r>
              <a:rPr lang="zh-TW" altLang="zh-TW" dirty="0"/>
              <a:t>多增加</a:t>
            </a:r>
            <a:r>
              <a:rPr lang="en-US" altLang="zh-TW" dirty="0"/>
              <a:t>1</a:t>
            </a:r>
            <a:r>
              <a:rPr lang="zh-TW" altLang="zh-TW" dirty="0"/>
              <a:t>。最後在迴圈「結束」之前再做一個判斷，將宣告的變數重新初始化</a:t>
            </a:r>
            <a:r>
              <a:rPr lang="en-US" altLang="zh-TW" dirty="0"/>
              <a:t>(a=0</a:t>
            </a:r>
            <a:r>
              <a:rPr lang="zh-TW" altLang="zh-TW" dirty="0"/>
              <a:t>、</a:t>
            </a:r>
            <a:r>
              <a:rPr lang="en-US" altLang="zh-TW" dirty="0"/>
              <a:t>b=0</a:t>
            </a:r>
            <a:r>
              <a:rPr lang="zh-TW" altLang="zh-TW" dirty="0"/>
              <a:t>、</a:t>
            </a:r>
            <a:r>
              <a:rPr lang="en-US" altLang="zh-TW" dirty="0"/>
              <a:t>p=0</a:t>
            </a:r>
            <a:r>
              <a:rPr lang="zh-TW" altLang="zh-TW" dirty="0"/>
              <a:t>、</a:t>
            </a:r>
            <a:r>
              <a:rPr lang="en-US" altLang="zh-TW" dirty="0"/>
              <a:t>k=1)</a:t>
            </a:r>
            <a:r>
              <a:rPr lang="zh-TW" altLang="zh-TW" dirty="0"/>
              <a:t>，並再重新輸入一個</a:t>
            </a:r>
            <a:r>
              <a:rPr lang="en-US" altLang="zh-TW" dirty="0"/>
              <a:t>n</a:t>
            </a:r>
            <a:r>
              <a:rPr lang="zh-TW" altLang="zh-TW" dirty="0"/>
              <a:t>的值。如此一來，程式會一直執行到直到將</a:t>
            </a:r>
            <a:r>
              <a:rPr lang="en-US" altLang="zh-TW" dirty="0"/>
              <a:t>n</a:t>
            </a:r>
            <a:r>
              <a:rPr lang="zh-TW" altLang="zh-TW" dirty="0"/>
              <a:t>的值輸入為</a:t>
            </a:r>
            <a:r>
              <a:rPr lang="en-US" altLang="zh-TW" dirty="0"/>
              <a:t>0</a:t>
            </a:r>
            <a:r>
              <a:rPr lang="zh-TW" altLang="zh-TW" dirty="0"/>
              <a:t>時才會跳出</a:t>
            </a:r>
            <a:r>
              <a:rPr lang="zh-TW" altLang="zh-TW" dirty="0" smtClean="0"/>
              <a:t>。</a:t>
            </a:r>
            <a:endParaRPr lang="en-US" altLang="zh-TW" dirty="0" smtClean="0"/>
          </a:p>
          <a:p>
            <a:pPr>
              <a:lnSpc>
                <a:spcPct val="90000"/>
              </a:lnSpc>
            </a:pPr>
            <a:r>
              <a:rPr lang="zh-TW" altLang="en-US" b="1" dirty="0" smtClean="0">
                <a:solidFill>
                  <a:srgbClr val="3BA943"/>
                </a:solidFill>
                <a:latin typeface="Times New Roman" charset="0"/>
              </a:rPr>
              <a:t>解法範例：</a:t>
            </a:r>
            <a:r>
              <a:rPr lang="zh-TW" altLang="en-US" dirty="0" smtClean="0">
                <a:latin typeface="Times New Roman" charset="0"/>
                <a:sym typeface="Wingdings" pitchFamily="2" charset="2"/>
              </a:rPr>
              <a:t>無</a:t>
            </a:r>
            <a:endParaRPr lang="zh-TW" altLang="en-US" b="1" dirty="0" smtClean="0">
              <a:solidFill>
                <a:srgbClr val="3BA943"/>
              </a:solidFill>
              <a:latin typeface="Times New Roman" charset="0"/>
            </a:endParaRPr>
          </a:p>
          <a:p>
            <a:pPr>
              <a:lnSpc>
                <a:spcPct val="90000"/>
              </a:lnSpc>
            </a:pPr>
            <a:r>
              <a:rPr lang="zh-TW" altLang="en-US" b="1" dirty="0" smtClean="0">
                <a:solidFill>
                  <a:srgbClr val="3BA943"/>
                </a:solidFill>
                <a:latin typeface="Times New Roman" charset="0"/>
              </a:rPr>
              <a:t>討論：</a:t>
            </a:r>
            <a:r>
              <a:rPr lang="zh-TW" altLang="en-US" dirty="0" smtClean="0"/>
              <a:t>無</a:t>
            </a:r>
            <a:endParaRPr lang="zh-TW" altLang="en-US" b="1" dirty="0" smtClean="0">
              <a:solidFill>
                <a:srgbClr val="3BA943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786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186</Words>
  <Application>Microsoft Office PowerPoint</Application>
  <PresentationFormat>如螢幕大小 (4:3)</PresentationFormat>
  <Paragraphs>11</Paragraphs>
  <Slides>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11933: Splitting number</vt:lpstr>
      <vt:lpstr>PowerPoint 簡報</vt:lpstr>
    </vt:vector>
  </TitlesOfParts>
  <Company>adm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11933: Splitting number</dc:title>
  <dc:creator>math</dc:creator>
  <cp:lastModifiedBy>math</cp:lastModifiedBy>
  <cp:revision>1</cp:revision>
  <dcterms:created xsi:type="dcterms:W3CDTF">2013-02-25T11:14:44Z</dcterms:created>
  <dcterms:modified xsi:type="dcterms:W3CDTF">2013-02-25T11:24:28Z</dcterms:modified>
</cp:coreProperties>
</file>