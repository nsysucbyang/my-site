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32600" cy="9963150"/>
  <p:embeddedFontLst>
    <p:embeddedFont>
      <p:font typeface="Tahoma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Tahoma-regular.fntdata"/><Relationship Id="rId10" Type="http://schemas.openxmlformats.org/officeDocument/2006/relationships/slide" Target="slides/slide5.xml"/><Relationship Id="rId12" Type="http://schemas.openxmlformats.org/officeDocument/2006/relationships/font" Target="fonts/Tahoma-bold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60688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900" lIns="91800" spcFirstLastPara="1" rIns="91800" wrap="square" tIns="459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71913" y="0"/>
            <a:ext cx="2960687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900" lIns="91800" spcFirstLastPara="1" rIns="91800" wrap="square" tIns="459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25513" y="747713"/>
            <a:ext cx="4981575" cy="3735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1225" y="4732338"/>
            <a:ext cx="5010150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00" lIns="91800" spcFirstLastPara="1" rIns="91800" wrap="square" tIns="459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64675"/>
            <a:ext cx="2960688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900" lIns="91800" spcFirstLastPara="1" rIns="91800" wrap="square" tIns="459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71913" y="9464675"/>
            <a:ext cx="2960687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900" lIns="91800" spcFirstLastPara="1" rIns="91800" wrap="square" tIns="459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2" type="sldNum"/>
          </p:nvPr>
        </p:nvSpPr>
        <p:spPr>
          <a:xfrm>
            <a:off x="3871913" y="9464675"/>
            <a:ext cx="2960687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900" lIns="91800" spcFirstLastPara="1" rIns="91800" wrap="square" tIns="459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925513" y="747713"/>
            <a:ext cx="4981575" cy="3735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11225" y="4732338"/>
            <a:ext cx="5010150" cy="448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900" lIns="91800" spcFirstLastPara="1" rIns="91800" wrap="square" tIns="4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227fd30a6_0_28:notes"/>
          <p:cNvSpPr txBox="1"/>
          <p:nvPr>
            <p:ph idx="12" type="sldNum"/>
          </p:nvPr>
        </p:nvSpPr>
        <p:spPr>
          <a:xfrm>
            <a:off x="3871913" y="9464675"/>
            <a:ext cx="2960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900" lIns="91800" spcFirstLastPara="1" rIns="91800" wrap="square" tIns="459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" name="Google Shape;104;g33227fd30a6_0_28:notes"/>
          <p:cNvSpPr/>
          <p:nvPr>
            <p:ph idx="2" type="sldImg"/>
          </p:nvPr>
        </p:nvSpPr>
        <p:spPr>
          <a:xfrm>
            <a:off x="925513" y="747713"/>
            <a:ext cx="4981500" cy="373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5" name="Google Shape;105;g33227fd30a6_0_28:notes"/>
          <p:cNvSpPr txBox="1"/>
          <p:nvPr>
            <p:ph idx="1" type="body"/>
          </p:nvPr>
        </p:nvSpPr>
        <p:spPr>
          <a:xfrm>
            <a:off x="911225" y="4732338"/>
            <a:ext cx="5010300" cy="448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900" lIns="91800" spcFirstLastPara="1" rIns="91800" wrap="square" tIns="4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d82e21520_0_0:notes"/>
          <p:cNvSpPr txBox="1"/>
          <p:nvPr>
            <p:ph idx="12" type="sldNum"/>
          </p:nvPr>
        </p:nvSpPr>
        <p:spPr>
          <a:xfrm>
            <a:off x="3871913" y="9464675"/>
            <a:ext cx="2960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900" lIns="91800" spcFirstLastPara="1" rIns="91800" wrap="square" tIns="459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" name="Google Shape;119;g35d82e21520_0_0:notes"/>
          <p:cNvSpPr/>
          <p:nvPr>
            <p:ph idx="2" type="sldImg"/>
          </p:nvPr>
        </p:nvSpPr>
        <p:spPr>
          <a:xfrm>
            <a:off x="925513" y="747713"/>
            <a:ext cx="4981500" cy="373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0" name="Google Shape;120;g35d82e21520_0_0:notes"/>
          <p:cNvSpPr txBox="1"/>
          <p:nvPr>
            <p:ph idx="1" type="body"/>
          </p:nvPr>
        </p:nvSpPr>
        <p:spPr>
          <a:xfrm>
            <a:off x="911225" y="4732338"/>
            <a:ext cx="5010300" cy="448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900" lIns="91800" spcFirstLastPara="1" rIns="91800" wrap="square" tIns="4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227fd30a6_0_16:notes"/>
          <p:cNvSpPr txBox="1"/>
          <p:nvPr>
            <p:ph idx="12" type="sldNum"/>
          </p:nvPr>
        </p:nvSpPr>
        <p:spPr>
          <a:xfrm>
            <a:off x="3871913" y="9464675"/>
            <a:ext cx="2960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900" lIns="91800" spcFirstLastPara="1" rIns="91800" wrap="square" tIns="459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0" name="Google Shape;140;g33227fd30a6_0_16:notes"/>
          <p:cNvSpPr/>
          <p:nvPr>
            <p:ph idx="2" type="sldImg"/>
          </p:nvPr>
        </p:nvSpPr>
        <p:spPr>
          <a:xfrm>
            <a:off x="925513" y="747713"/>
            <a:ext cx="4981500" cy="373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1" name="Google Shape;141;g33227fd30a6_0_16:notes"/>
          <p:cNvSpPr txBox="1"/>
          <p:nvPr>
            <p:ph idx="1" type="body"/>
          </p:nvPr>
        </p:nvSpPr>
        <p:spPr>
          <a:xfrm>
            <a:off x="911225" y="4732338"/>
            <a:ext cx="5010300" cy="448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900" lIns="91800" spcFirstLastPara="1" rIns="91800" wrap="square" tIns="4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d82e21520_0_69:notes"/>
          <p:cNvSpPr txBox="1"/>
          <p:nvPr>
            <p:ph idx="12" type="sldNum"/>
          </p:nvPr>
        </p:nvSpPr>
        <p:spPr>
          <a:xfrm>
            <a:off x="3871913" y="9464675"/>
            <a:ext cx="2960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900" lIns="91800" spcFirstLastPara="1" rIns="91800" wrap="square" tIns="459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g35d82e21520_0_69:notes"/>
          <p:cNvSpPr/>
          <p:nvPr>
            <p:ph idx="2" type="sldImg"/>
          </p:nvPr>
        </p:nvSpPr>
        <p:spPr>
          <a:xfrm>
            <a:off x="925513" y="747713"/>
            <a:ext cx="4981500" cy="373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6" name="Google Shape;166;g35d82e21520_0_69:notes"/>
          <p:cNvSpPr txBox="1"/>
          <p:nvPr>
            <p:ph idx="1" type="body"/>
          </p:nvPr>
        </p:nvSpPr>
        <p:spPr>
          <a:xfrm>
            <a:off x="911225" y="4732338"/>
            <a:ext cx="5010300" cy="448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900" lIns="91800" spcFirstLastPara="1" rIns="91800" wrap="square" tIns="4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3" name="Google Shape;23;p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Google Shape;24;p3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26" name="Google Shape;26;p3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7" name="Google Shape;27;p3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9" name="Google Shape;29;p3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 flipH="1" rot="10800000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32" name="Google Shape;32;p3"/>
          <p:cNvSpPr txBox="1"/>
          <p:nvPr>
            <p:ph type="ctrTitle"/>
          </p:nvPr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1" type="ftr"/>
          </p:nvPr>
        </p:nvSpPr>
        <p:spPr>
          <a:xfrm>
            <a:off x="2362200" y="62484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區段標題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type="title"/>
          </p:nvPr>
        </p:nvSpPr>
        <p:spPr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762000" y="15240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46" name="Google Shape;46;p5"/>
          <p:cNvSpPr txBox="1"/>
          <p:nvPr>
            <p:ph idx="2" type="body"/>
          </p:nvPr>
        </p:nvSpPr>
        <p:spPr>
          <a:xfrm>
            <a:off x="4724400" y="15240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47" name="Google Shape;47;p5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1" type="ftr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4" name="Google Shape;5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5" name="Google Shape;5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6" name="Google Shape;56;p6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1" type="ftr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1" type="ftr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72" name="Google Shape;72;p9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1" type="ftr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79" name="Google Shape;79;p10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1" type="ftr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 rot="5400000">
            <a:off x="2324100" y="-38100"/>
            <a:ext cx="46482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title"/>
          </p:nvPr>
        </p:nvSpPr>
        <p:spPr>
          <a:xfrm rot="5400000">
            <a:off x="4685507" y="2302668"/>
            <a:ext cx="5791200" cy="19478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" type="body"/>
          </p:nvPr>
        </p:nvSpPr>
        <p:spPr>
          <a:xfrm rot="5400000">
            <a:off x="712788" y="430213"/>
            <a:ext cx="5791200" cy="569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533400" y="381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10615 : Rooks (1) </a:t>
            </a:r>
            <a:endParaRPr/>
          </a:p>
        </p:txBody>
      </p:sp>
      <p:sp>
        <p:nvSpPr>
          <p:cNvPr id="101" name="Google Shape;101;p13"/>
          <p:cNvSpPr txBox="1"/>
          <p:nvPr>
            <p:ph idx="1" type="body"/>
          </p:nvPr>
        </p:nvSpPr>
        <p:spPr>
          <a:xfrm>
            <a:off x="381000" y="1447800"/>
            <a:ext cx="8077200" cy="4789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Font typeface="DFKai-SB"/>
              <a:buChar char="■"/>
            </a:pPr>
            <a:r>
              <a:rPr lang="zh-TW" sz="2400">
                <a:solidFill>
                  <a:schemeClr val="hlink"/>
                </a:solidFill>
                <a:latin typeface="DFKai-SB"/>
                <a:ea typeface="DFKai-SB"/>
                <a:cs typeface="DFKai-SB"/>
                <a:sym typeface="DFKai-SB"/>
              </a:rPr>
              <a:t>★★★★★</a:t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b="1" lang="zh-TW" sz="2400">
                <a:solidFill>
                  <a:srgbClr val="3BA943"/>
                </a:solidFill>
                <a:latin typeface="DFKai-SB"/>
                <a:ea typeface="DFKai-SB"/>
                <a:cs typeface="DFKai-SB"/>
                <a:sym typeface="DFKai-SB"/>
              </a:rPr>
              <a:t>題組：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Problem Set Archive with Online Judge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b="1" lang="zh-TW" sz="2400">
                <a:solidFill>
                  <a:srgbClr val="3BA943"/>
                </a:solidFill>
                <a:latin typeface="DFKai-SB"/>
                <a:ea typeface="DFKai-SB"/>
                <a:cs typeface="DFKai-SB"/>
                <a:sym typeface="DFKai-SB"/>
              </a:rPr>
              <a:t>題號：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10615 : Rooks (1)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b="1" lang="zh-TW" sz="2400">
                <a:solidFill>
                  <a:srgbClr val="3BA943"/>
                </a:solidFill>
                <a:latin typeface="DFKai-SB"/>
                <a:ea typeface="DFKai-SB"/>
                <a:cs typeface="DFKai-SB"/>
                <a:sym typeface="DFKai-SB"/>
              </a:rPr>
              <a:t>解題者：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陳冠穎</a:t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b="1" lang="zh-TW" sz="2400">
                <a:solidFill>
                  <a:srgbClr val="3BA943"/>
                </a:solidFill>
                <a:latin typeface="DFKai-SB"/>
                <a:ea typeface="DFKai-SB"/>
                <a:cs typeface="DFKai-SB"/>
                <a:sym typeface="DFKai-SB"/>
              </a:rPr>
              <a:t>解題日期：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年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月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29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日</a:t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b="1" lang="zh-TW" sz="2400">
                <a:solidFill>
                  <a:srgbClr val="3BA943"/>
                </a:solidFill>
                <a:latin typeface="DFKai-SB"/>
                <a:ea typeface="DFKai-SB"/>
                <a:cs typeface="DFKai-SB"/>
                <a:sym typeface="DFKai-SB"/>
              </a:rPr>
              <a:t>題意：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給定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一個N*N的棋盤，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’.’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代表空棋格，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’*’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代表一個rook。要求為每一個rook上色，並且同一行和同一列不可以有相同顏色。要求輸出最少上色所需顏色和上色情況，用數字代表顏色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(0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代表空棋格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。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多種輸出情況皆能接受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381000" y="685800"/>
            <a:ext cx="8077200" cy="5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b="1" lang="zh-TW" sz="2400">
                <a:solidFill>
                  <a:srgbClr val="3BA943"/>
                </a:solidFill>
                <a:latin typeface="DFKai-SB"/>
                <a:ea typeface="DFKai-SB"/>
                <a:cs typeface="DFKai-SB"/>
                <a:sym typeface="DFKai-SB"/>
              </a:rPr>
              <a:t>題意範例：</a:t>
            </a:r>
            <a:r>
              <a:rPr lang="zh-TW" sz="2400">
                <a:solidFill>
                  <a:srgbClr val="3BA943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endParaRPr sz="2400">
              <a:solidFill>
                <a:srgbClr val="3BA9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889000" y="1317325"/>
            <a:ext cx="428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2874925" y="1275425"/>
            <a:ext cx="292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254900" y="1860850"/>
            <a:ext cx="4599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551575" y="1317325"/>
            <a:ext cx="1550700" cy="22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*.*.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*.*.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***.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..**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1456925" y="2134375"/>
            <a:ext cx="1467300" cy="65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7045350" y="1317325"/>
            <a:ext cx="2050200" cy="22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zh-TW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1 0 2 0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3 0 1 0 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2 1 3 0 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0 0 4 1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5314500" y="2203525"/>
            <a:ext cx="1467300" cy="65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3284825" y="1531925"/>
            <a:ext cx="1550700" cy="22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7F6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lang="zh-TW" sz="2800">
                <a:solidFill>
                  <a:srgbClr val="7F6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zh-TW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800">
                <a:solidFill>
                  <a:srgbClr val="00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lang="zh-TW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15"/>
          <p:cNvSpPr txBox="1"/>
          <p:nvPr>
            <p:ph idx="1" type="body"/>
          </p:nvPr>
        </p:nvSpPr>
        <p:spPr>
          <a:xfrm>
            <a:off x="381000" y="685800"/>
            <a:ext cx="8077200" cy="5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BA9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b="1" lang="zh-TW" sz="2400">
                <a:solidFill>
                  <a:srgbClr val="3BA943"/>
                </a:solidFill>
                <a:latin typeface="DFKai-SB"/>
                <a:ea typeface="DFKai-SB"/>
                <a:cs typeface="DFKai-SB"/>
                <a:sym typeface="DFKai-SB"/>
              </a:rPr>
              <a:t>解法：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這個問題可以轉化為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bipartite graph(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二分圖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著色問題。每個節點不能有相同顏色的邊。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3889000" y="1317325"/>
            <a:ext cx="428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2874925" y="1275425"/>
            <a:ext cx="292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4254900" y="1860850"/>
            <a:ext cx="4599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1092700" y="2560025"/>
            <a:ext cx="2424900" cy="3226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293300" y="2560025"/>
            <a:ext cx="2424900" cy="3226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9" name="Google Shape;129;p15"/>
          <p:cNvCxnSpPr/>
          <p:nvPr/>
        </p:nvCxnSpPr>
        <p:spPr>
          <a:xfrm>
            <a:off x="1977275" y="2882650"/>
            <a:ext cx="3319800" cy="10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5"/>
          <p:cNvCxnSpPr/>
          <p:nvPr/>
        </p:nvCxnSpPr>
        <p:spPr>
          <a:xfrm>
            <a:off x="1998075" y="2893050"/>
            <a:ext cx="3413400" cy="14778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5"/>
          <p:cNvCxnSpPr/>
          <p:nvPr/>
        </p:nvCxnSpPr>
        <p:spPr>
          <a:xfrm flipH="1" rot="10800000">
            <a:off x="1935650" y="2913925"/>
            <a:ext cx="3340500" cy="697200"/>
          </a:xfrm>
          <a:prstGeom prst="straightConnector1">
            <a:avLst/>
          </a:prstGeom>
          <a:noFill/>
          <a:ln cap="flat" cmpd="sng" w="38100">
            <a:solidFill>
              <a:srgbClr val="783F0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5"/>
          <p:cNvCxnSpPr/>
          <p:nvPr/>
        </p:nvCxnSpPr>
        <p:spPr>
          <a:xfrm>
            <a:off x="1998075" y="3621525"/>
            <a:ext cx="3423900" cy="749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5"/>
          <p:cNvCxnSpPr/>
          <p:nvPr/>
        </p:nvCxnSpPr>
        <p:spPr>
          <a:xfrm flipH="1" rot="10800000">
            <a:off x="1894025" y="2903575"/>
            <a:ext cx="3392700" cy="1425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5"/>
          <p:cNvCxnSpPr/>
          <p:nvPr/>
        </p:nvCxnSpPr>
        <p:spPr>
          <a:xfrm flipH="1" rot="10800000">
            <a:off x="1925225" y="3621675"/>
            <a:ext cx="3371700" cy="717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5"/>
          <p:cNvCxnSpPr/>
          <p:nvPr/>
        </p:nvCxnSpPr>
        <p:spPr>
          <a:xfrm>
            <a:off x="1998075" y="4360400"/>
            <a:ext cx="3351000" cy="51900"/>
          </a:xfrm>
          <a:prstGeom prst="straightConnector1">
            <a:avLst/>
          </a:prstGeom>
          <a:noFill/>
          <a:ln cap="flat" cmpd="sng" w="38100">
            <a:solidFill>
              <a:srgbClr val="783F0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5"/>
          <p:cNvCxnSpPr/>
          <p:nvPr/>
        </p:nvCxnSpPr>
        <p:spPr>
          <a:xfrm flipH="1" rot="10800000">
            <a:off x="1894025" y="4391750"/>
            <a:ext cx="3444600" cy="6555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5"/>
          <p:cNvCxnSpPr/>
          <p:nvPr/>
        </p:nvCxnSpPr>
        <p:spPr>
          <a:xfrm>
            <a:off x="1946050" y="5068050"/>
            <a:ext cx="3402900" cy="4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>
            <p:ph idx="12" type="sldNum"/>
          </p:nvPr>
        </p:nvSpPr>
        <p:spPr>
          <a:xfrm>
            <a:off x="6937900" y="704267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4" name="Google Shape;144;p16"/>
          <p:cNvSpPr txBox="1"/>
          <p:nvPr>
            <p:ph idx="1" type="body"/>
          </p:nvPr>
        </p:nvSpPr>
        <p:spPr>
          <a:xfrm>
            <a:off x="533388" y="186147"/>
            <a:ext cx="8077200" cy="5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BA9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b="1" lang="zh-TW" sz="2400">
                <a:solidFill>
                  <a:srgbClr val="3BA943"/>
                </a:solidFill>
                <a:latin typeface="DFKai-SB"/>
                <a:ea typeface="DFKai-SB"/>
                <a:cs typeface="DFKai-SB"/>
                <a:sym typeface="DFKai-SB"/>
              </a:rPr>
              <a:t>解法範例：</a:t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(1)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找出給定資料中節點的最大邊數，決定之後的上色次數n</a:t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(2)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創造補邊，為了使之後上色時，每個節點都有n條邊可以上色(不會沒有配對)</a:t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BA9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140425" y="1725550"/>
            <a:ext cx="4599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1134325" y="3142800"/>
            <a:ext cx="2424900" cy="3226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334925" y="3142800"/>
            <a:ext cx="2424900" cy="3226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8" name="Google Shape;148;p16"/>
          <p:cNvCxnSpPr/>
          <p:nvPr/>
        </p:nvCxnSpPr>
        <p:spPr>
          <a:xfrm>
            <a:off x="2018900" y="3465425"/>
            <a:ext cx="3319800" cy="10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6"/>
          <p:cNvCxnSpPr/>
          <p:nvPr/>
        </p:nvCxnSpPr>
        <p:spPr>
          <a:xfrm>
            <a:off x="2039700" y="3475825"/>
            <a:ext cx="3413400" cy="147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6"/>
          <p:cNvCxnSpPr/>
          <p:nvPr/>
        </p:nvCxnSpPr>
        <p:spPr>
          <a:xfrm flipH="1" rot="10800000">
            <a:off x="1977275" y="3496700"/>
            <a:ext cx="3340500" cy="697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6"/>
          <p:cNvCxnSpPr/>
          <p:nvPr/>
        </p:nvCxnSpPr>
        <p:spPr>
          <a:xfrm>
            <a:off x="2039700" y="4204300"/>
            <a:ext cx="3423900" cy="749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16"/>
          <p:cNvCxnSpPr/>
          <p:nvPr/>
        </p:nvCxnSpPr>
        <p:spPr>
          <a:xfrm flipH="1" rot="10800000">
            <a:off x="1935650" y="3486350"/>
            <a:ext cx="3392700" cy="142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6"/>
          <p:cNvCxnSpPr/>
          <p:nvPr/>
        </p:nvCxnSpPr>
        <p:spPr>
          <a:xfrm flipH="1" rot="10800000">
            <a:off x="1966850" y="4204450"/>
            <a:ext cx="3371700" cy="717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6"/>
          <p:cNvCxnSpPr/>
          <p:nvPr/>
        </p:nvCxnSpPr>
        <p:spPr>
          <a:xfrm>
            <a:off x="2039700" y="4943175"/>
            <a:ext cx="3351000" cy="51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6"/>
          <p:cNvCxnSpPr/>
          <p:nvPr/>
        </p:nvCxnSpPr>
        <p:spPr>
          <a:xfrm flipH="1" rot="10800000">
            <a:off x="1935650" y="4974525"/>
            <a:ext cx="3444600" cy="655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6"/>
          <p:cNvCxnSpPr/>
          <p:nvPr/>
        </p:nvCxnSpPr>
        <p:spPr>
          <a:xfrm>
            <a:off x="1987675" y="5650825"/>
            <a:ext cx="3402900" cy="41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6"/>
          <p:cNvCxnSpPr/>
          <p:nvPr/>
        </p:nvCxnSpPr>
        <p:spPr>
          <a:xfrm>
            <a:off x="2050125" y="3423800"/>
            <a:ext cx="3278100" cy="780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16"/>
          <p:cNvCxnSpPr/>
          <p:nvPr/>
        </p:nvCxnSpPr>
        <p:spPr>
          <a:xfrm flipH="1" rot="10800000">
            <a:off x="2126696" y="4116863"/>
            <a:ext cx="3182100" cy="60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59" name="Google Shape;159;p16"/>
          <p:cNvSpPr txBox="1"/>
          <p:nvPr/>
        </p:nvSpPr>
        <p:spPr>
          <a:xfrm>
            <a:off x="1234676" y="3871892"/>
            <a:ext cx="36051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1549575" y="3117463"/>
            <a:ext cx="41391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17646" y="5334034"/>
            <a:ext cx="58680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62" name="Google Shape;162;p16"/>
          <p:cNvCxnSpPr/>
          <p:nvPr/>
        </p:nvCxnSpPr>
        <p:spPr>
          <a:xfrm>
            <a:off x="1923985" y="4946807"/>
            <a:ext cx="3390300" cy="69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2" type="sldNum"/>
          </p:nvPr>
        </p:nvSpPr>
        <p:spPr>
          <a:xfrm>
            <a:off x="6937900" y="704267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9" name="Google Shape;169;p17"/>
          <p:cNvSpPr txBox="1"/>
          <p:nvPr>
            <p:ph idx="1" type="body"/>
          </p:nvPr>
        </p:nvSpPr>
        <p:spPr>
          <a:xfrm>
            <a:off x="381000" y="685800"/>
            <a:ext cx="8077200" cy="5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BA9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b="1" lang="zh-TW" sz="2400">
                <a:solidFill>
                  <a:srgbClr val="3BA943"/>
                </a:solidFill>
                <a:latin typeface="DFKai-SB"/>
                <a:ea typeface="DFKai-SB"/>
                <a:cs typeface="DFKai-SB"/>
                <a:sym typeface="DFKai-SB"/>
              </a:rPr>
              <a:t>解法範例：</a:t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用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dfs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尋找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row0~row3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的最大配對，找完將真實邊上色，並將所有配對邊刪除</a:t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(4)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重複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(3) n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次</a:t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(5)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輸出儲存結果</a:t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  <a:p>
            <a:pPr indent="-36576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DFKai-SB"/>
              <a:buChar char="■"/>
            </a:pPr>
            <a:r>
              <a:rPr b="1" lang="zh-TW" sz="2400">
                <a:solidFill>
                  <a:srgbClr val="3BA943"/>
                </a:solidFill>
                <a:latin typeface="DFKai-SB"/>
                <a:ea typeface="DFKai-SB"/>
                <a:cs typeface="DFKai-SB"/>
                <a:sym typeface="DFKai-SB"/>
              </a:rPr>
              <a:t>討論：</a:t>
            </a:r>
            <a:endParaRPr>
              <a:latin typeface="DFKai-SB"/>
              <a:ea typeface="DFKai-SB"/>
              <a:cs typeface="DFKai-SB"/>
              <a:sym typeface="DFKai-SB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	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(1) Kőnig’s Edge Coloring Theorem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：在任何二分圖中，邊著色所需的最小顏色數 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zh-TW" sz="2400">
                <a:latin typeface="DFKai-SB"/>
                <a:ea typeface="DFKai-SB"/>
                <a:cs typeface="DFKai-SB"/>
                <a:sym typeface="DFKai-SB"/>
              </a:rPr>
              <a:t>圖中節點的最大度數	</a:t>
            </a:r>
            <a:endParaRPr sz="2400"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BA943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4140425" y="1725550"/>
            <a:ext cx="4599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