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"/>
  </p:notesMasterIdLst>
  <p:sldIdLst>
    <p:sldId id="307" r:id="rId2"/>
    <p:sldId id="312" r:id="rId3"/>
    <p:sldId id="313" r:id="rId4"/>
    <p:sldId id="310" r:id="rId5"/>
    <p:sldId id="311" r:id="rId6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9" autoAdjust="0"/>
    <p:restoredTop sz="92138" autoAdjust="0"/>
  </p:normalViewPr>
  <p:slideViewPr>
    <p:cSldViewPr>
      <p:cViewPr>
        <p:scale>
          <a:sx n="75" d="100"/>
          <a:sy n="75" d="100"/>
        </p:scale>
        <p:origin x="13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5" Type="http://schemas.openxmlformats.org/officeDocument/2006/relationships/slide" Target="slides/slide5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007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06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581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5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18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2022/6/1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332656"/>
            <a:ext cx="8610600" cy="914400"/>
          </a:xfrm>
        </p:spPr>
        <p:txBody>
          <a:bodyPr/>
          <a:lstStyle/>
          <a:p>
            <a:pPr eaLnBrk="1" hangingPunct="1"/>
            <a:r>
              <a:rPr lang="en-US" altLang="zh-TW" sz="4000" b="1" dirty="0">
                <a:latin typeface="Times New Roman" panose="02020603050405020304" pitchFamily="18" charset="0"/>
              </a:rPr>
              <a:t>10090: Marbles</a:t>
            </a:r>
            <a:r>
              <a:rPr lang="zh-TW" altLang="en-US" sz="4000" b="1" dirty="0">
                <a:latin typeface="Times New Roman" panose="02020603050405020304" pitchFamily="18" charset="0"/>
              </a:rPr>
              <a:t> </a:t>
            </a:r>
            <a:r>
              <a:rPr lang="en-US" altLang="zh-TW" sz="4000" b="1" dirty="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★★★★☆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Contest Volumes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zh-TW" altLang="en-US" sz="2400" dirty="0">
                <a:latin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</a:rPr>
              <a:t>0090</a:t>
            </a:r>
            <a:r>
              <a:rPr lang="zh-TW" altLang="en-US" sz="2400" dirty="0">
                <a:latin typeface="Times New Roman" panose="02020603050405020304" pitchFamily="18" charset="0"/>
              </a:rPr>
              <a:t>:</a:t>
            </a:r>
            <a:r>
              <a:rPr lang="en-US" altLang="zh-TW" sz="2400" b="1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Marbles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(1)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</a:rPr>
              <a:t>楊崑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22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6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r>
              <a:rPr lang="zh-TW" altLang="en-US" sz="2400" dirty="0">
                <a:latin typeface="Times New Roman" panose="02020603050405020304" pitchFamily="18" charset="0"/>
              </a:rPr>
              <a:t>給你</a:t>
            </a:r>
            <a:r>
              <a:rPr lang="en-US" altLang="zh-TW" sz="2400" dirty="0">
                <a:latin typeface="Times New Roman" panose="02020603050405020304" pitchFamily="18" charset="0"/>
              </a:rPr>
              <a:t>n</a:t>
            </a:r>
            <a:r>
              <a:rPr lang="zh-TW" altLang="en-US" sz="2400" dirty="0">
                <a:latin typeface="Times New Roman" panose="02020603050405020304" pitchFamily="18" charset="0"/>
              </a:rPr>
              <a:t>個球，和兩種盒子。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第一種盒子：每個盒子</a:t>
            </a:r>
            <a:r>
              <a:rPr lang="en-US" altLang="zh-TW" sz="2400" dirty="0">
                <a:latin typeface="Times New Roman" panose="02020603050405020304" pitchFamily="18" charset="0"/>
              </a:rPr>
              <a:t>c1</a:t>
            </a:r>
            <a:r>
              <a:rPr lang="zh-TW" altLang="en-US" sz="2400" dirty="0">
                <a:latin typeface="Times New Roman" panose="02020603050405020304" pitchFamily="18" charset="0"/>
              </a:rPr>
              <a:t>元，可以恰好裝</a:t>
            </a:r>
            <a:r>
              <a:rPr lang="en-US" altLang="zh-TW" sz="2400" dirty="0">
                <a:latin typeface="Times New Roman" panose="02020603050405020304" pitchFamily="18" charset="0"/>
              </a:rPr>
              <a:t>n1</a:t>
            </a:r>
            <a:r>
              <a:rPr lang="zh-TW" altLang="en-US" sz="2400" dirty="0">
                <a:latin typeface="Times New Roman" panose="02020603050405020304" pitchFamily="18" charset="0"/>
              </a:rPr>
              <a:t>個球</a:t>
            </a: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</a:p>
          <a:p>
            <a:pPr marL="0" indent="0" eaLnBrk="1" hangingPunct="1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第二種盒子：每個盒子</a:t>
            </a:r>
            <a:r>
              <a:rPr lang="en-US" altLang="zh-TW" sz="2400" dirty="0">
                <a:latin typeface="Times New Roman" panose="02020603050405020304" pitchFamily="18" charset="0"/>
              </a:rPr>
              <a:t>c2</a:t>
            </a:r>
            <a:r>
              <a:rPr lang="zh-TW" altLang="en-US" sz="2400" dirty="0">
                <a:latin typeface="Times New Roman" panose="02020603050405020304" pitchFamily="18" charset="0"/>
              </a:rPr>
              <a:t>元，可以恰好裝</a:t>
            </a:r>
            <a:r>
              <a:rPr lang="en-US" altLang="zh-TW" sz="2400" dirty="0">
                <a:latin typeface="Times New Roman" panose="02020603050405020304" pitchFamily="18" charset="0"/>
              </a:rPr>
              <a:t>n2</a:t>
            </a:r>
            <a:r>
              <a:rPr lang="zh-TW" altLang="en-US" sz="2400" dirty="0">
                <a:latin typeface="Times New Roman" panose="02020603050405020304" pitchFamily="18" charset="0"/>
              </a:rPr>
              <a:t>個球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zh-TW" altLang="en-US" sz="2400" dirty="0">
                <a:latin typeface="Times New Roman" panose="02020603050405020304" pitchFamily="18" charset="0"/>
              </a:rPr>
              <a:t>找出一種方法把這</a:t>
            </a:r>
            <a:r>
              <a:rPr lang="en-US" altLang="zh-TW" sz="2400" dirty="0">
                <a:latin typeface="Times New Roman" panose="02020603050405020304" pitchFamily="18" charset="0"/>
              </a:rPr>
              <a:t>n</a:t>
            </a:r>
            <a:r>
              <a:rPr lang="zh-TW" altLang="en-US" sz="2400" dirty="0">
                <a:latin typeface="Times New Roman" panose="02020603050405020304" pitchFamily="18" charset="0"/>
              </a:rPr>
              <a:t>個球裝進盒子，每個盒子都裝滿，並且花費最少的錢。則第一種盒子共</a:t>
            </a:r>
            <a:r>
              <a:rPr lang="en-US" altLang="zh-TW" sz="2400" dirty="0">
                <a:latin typeface="Times New Roman" panose="02020603050405020304" pitchFamily="18" charset="0"/>
              </a:rPr>
              <a:t>m1</a:t>
            </a:r>
            <a:r>
              <a:rPr lang="zh-TW" altLang="en-US" sz="2400" dirty="0">
                <a:latin typeface="Times New Roman" panose="02020603050405020304" pitchFamily="18" charset="0"/>
              </a:rPr>
              <a:t>個，第二種盒子共</a:t>
            </a:r>
            <a:r>
              <a:rPr lang="en-US" altLang="zh-TW" sz="2400" dirty="0">
                <a:latin typeface="Times New Roman" panose="02020603050405020304" pitchFamily="18" charset="0"/>
              </a:rPr>
              <a:t>m2</a:t>
            </a:r>
            <a:r>
              <a:rPr lang="zh-TW" altLang="en-US" sz="2400" dirty="0">
                <a:latin typeface="Times New Roman" panose="02020603050405020304" pitchFamily="18" charset="0"/>
              </a:rPr>
              <a:t>個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617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43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	</a:t>
            </a:r>
            <a:r>
              <a:rPr lang="zh-TW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3</a:t>
            </a:r>
            <a:r>
              <a:rPr lang="zh-TW" altLang="zh-TW" sz="2400" dirty="0">
                <a:latin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              </a:t>
            </a:r>
            <a:r>
              <a:rPr lang="en-US" altLang="zh-TW" sz="2400" dirty="0">
                <a:latin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4</a:t>
            </a:r>
            <a:r>
              <a:rPr lang="zh-TW" altLang="zh-TW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               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  13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br>
              <a:rPr lang="zh-TW" altLang="zh-TW" sz="2400" dirty="0">
                <a:latin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</a:rPr>
              <a:t>		</a:t>
            </a:r>
            <a:r>
              <a:rPr lang="zh-TW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40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9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	</a:t>
            </a:r>
            <a:r>
              <a:rPr lang="zh-TW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12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		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 failed			</a:t>
            </a:r>
            <a:endParaRPr lang="zh-TW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假設第一種盒子</a:t>
            </a:r>
            <a:r>
              <a:rPr lang="en-US" altLang="zh-TW" sz="2400" dirty="0">
                <a:latin typeface="Times New Roman" panose="02020603050405020304" pitchFamily="18" charset="0"/>
              </a:rPr>
              <a:t>m1</a:t>
            </a:r>
            <a:r>
              <a:rPr lang="zh-TW" altLang="en-US" sz="2400" dirty="0">
                <a:latin typeface="Times New Roman" panose="02020603050405020304" pitchFamily="18" charset="0"/>
              </a:rPr>
              <a:t>個，第二種盒子</a:t>
            </a:r>
            <a:r>
              <a:rPr lang="en-US" altLang="zh-TW" sz="2400" dirty="0">
                <a:latin typeface="Times New Roman" panose="02020603050405020304" pitchFamily="18" charset="0"/>
              </a:rPr>
              <a:t>m2</a:t>
            </a:r>
            <a:r>
              <a:rPr lang="zh-TW" altLang="en-US" sz="2400" dirty="0">
                <a:latin typeface="Times New Roman" panose="02020603050405020304" pitchFamily="18" charset="0"/>
              </a:rPr>
              <a:t>個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則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n1 * m1 + n2 * m2 = n  	- (1)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用擴展歐幾裡德算法可知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a * x + b * y=gcd(a, b) = g;  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-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由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(1) (2)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得知 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n % g = 0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則有整數解 ，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 % g != 0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則無整數解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且通解為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X = (n * x / g) + ( b / g) * t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	     Y = (n * y / g) + ( a / g) * t     t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為正整數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zh-TW" altLang="en-US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67570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617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假設第一種盒子</a:t>
            </a:r>
            <a:r>
              <a:rPr lang="en-US" altLang="zh-TW" sz="2400" dirty="0">
                <a:latin typeface="Times New Roman" panose="02020603050405020304" pitchFamily="18" charset="0"/>
              </a:rPr>
              <a:t>m1</a:t>
            </a:r>
            <a:r>
              <a:rPr lang="zh-TW" altLang="en-US" sz="2400" dirty="0">
                <a:latin typeface="Times New Roman" panose="02020603050405020304" pitchFamily="18" charset="0"/>
              </a:rPr>
              <a:t>個，第二種盒子</a:t>
            </a:r>
            <a:r>
              <a:rPr lang="en-US" altLang="zh-TW" sz="2400" dirty="0">
                <a:latin typeface="Times New Roman" panose="02020603050405020304" pitchFamily="18" charset="0"/>
              </a:rPr>
              <a:t>m2</a:t>
            </a:r>
            <a:r>
              <a:rPr lang="zh-TW" altLang="en-US" sz="2400" dirty="0">
                <a:latin typeface="Times New Roman" panose="02020603050405020304" pitchFamily="18" charset="0"/>
              </a:rPr>
              <a:t>個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則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n1 * m1 + n2 * m2 = n  	- (1)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用擴展歐幾裡德算法可知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a * x + b * y=gcd(a, b) = g;  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-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由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(1) (2)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得知 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n % g = 0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則有整數解 ，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 % g != 0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則無整數解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且通解為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X = (n * x / g) + ( b / g) * t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	     Y = (n * y / g) + ( a / g) * t     </a:t>
            </a:r>
            <a:r>
              <a:rPr lang="en-US" altLang="zh-TW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為整數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且</a:t>
            </a:r>
            <a:r>
              <a:rPr lang="en-US" altLang="zh-TW" sz="2400" dirty="0">
                <a:latin typeface="Times New Roman" panose="02020603050405020304" pitchFamily="18" charset="0"/>
              </a:rPr>
              <a:t>m1</a:t>
            </a:r>
            <a:r>
              <a:rPr lang="zh-TW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TW" sz="2400" dirty="0">
                <a:latin typeface="Times New Roman" panose="02020603050405020304" pitchFamily="18" charset="0"/>
              </a:rPr>
              <a:t>m2</a:t>
            </a:r>
            <a:r>
              <a:rPr lang="zh-TW" altLang="en-US" sz="2400" dirty="0">
                <a:latin typeface="Times New Roman" panose="02020603050405020304" pitchFamily="18" charset="0"/>
              </a:rPr>
              <a:t>不能是負數，</a:t>
            </a:r>
            <a:r>
              <a:rPr lang="en-US" altLang="zh-TW" sz="2400" dirty="0">
                <a:latin typeface="Times New Roman" panose="02020603050405020304" pitchFamily="18" charset="0"/>
              </a:rPr>
              <a:t>m1&gt;=0, m2&gt;=0,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所以</a:t>
            </a:r>
            <a:r>
              <a:rPr lang="en-US" altLang="zh-TW" sz="2400" dirty="0">
                <a:latin typeface="Times New Roman" panose="02020603050405020304" pitchFamily="18" charset="0"/>
              </a:rPr>
              <a:t>t</a:t>
            </a:r>
            <a:r>
              <a:rPr lang="zh-TW" altLang="en-US" sz="2400" dirty="0">
                <a:latin typeface="Times New Roman" panose="02020603050405020304" pitchFamily="18" charset="0"/>
              </a:rPr>
              <a:t>的範圍為</a:t>
            </a:r>
            <a:r>
              <a:rPr lang="en-US" altLang="zh-TW" sz="2400" dirty="0">
                <a:latin typeface="Times New Roman" panose="02020603050405020304" pitchFamily="18" charset="0"/>
              </a:rPr>
              <a:t>-nx/b &lt;= t &lt;= ny/a</a:t>
            </a:r>
            <a:r>
              <a:rPr lang="zh-TW" altLang="en-US" sz="2400" dirty="0">
                <a:latin typeface="Times New Roman" panose="02020603050405020304" pitchFamily="18" charset="0"/>
              </a:rPr>
              <a:t>，且 </a:t>
            </a:r>
            <a:r>
              <a:rPr lang="en-US" altLang="zh-TW" sz="2400" dirty="0">
                <a:latin typeface="Times New Roman" panose="02020603050405020304" pitchFamily="18" charset="0"/>
              </a:rPr>
              <a:t>t </a:t>
            </a:r>
            <a:r>
              <a:rPr lang="zh-TW" altLang="en-US" sz="2400" dirty="0">
                <a:latin typeface="Times New Roman" panose="02020603050405020304" pitchFamily="18" charset="0"/>
              </a:rPr>
              <a:t>必須是整數。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最後比較</a:t>
            </a:r>
            <a:r>
              <a:rPr lang="en-US" altLang="zh-TW" sz="2400" dirty="0">
                <a:latin typeface="Times New Roman" panose="02020603050405020304" pitchFamily="18" charset="0"/>
              </a:rPr>
              <a:t>  </a:t>
            </a:r>
            <a:r>
              <a:rPr lang="zh-TW" altLang="en-US" sz="2400" dirty="0">
                <a:latin typeface="Times New Roman" panose="02020603050405020304" pitchFamily="18" charset="0"/>
              </a:rPr>
              <a:t>第一種盒子和第二種盒子 每顆球需要的錢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若</a:t>
            </a:r>
            <a:r>
              <a:rPr lang="en-US" altLang="zh-TW" sz="2400" dirty="0">
                <a:latin typeface="Times New Roman" panose="02020603050405020304" pitchFamily="18" charset="0"/>
              </a:rPr>
              <a:t> c1/n1 &lt; c2/n2 </a:t>
            </a:r>
            <a:r>
              <a:rPr lang="zh-TW" altLang="en-US" sz="2400" dirty="0">
                <a:latin typeface="Times New Roman" panose="02020603050405020304" pitchFamily="18" charset="0"/>
              </a:rPr>
              <a:t>則 </a:t>
            </a:r>
            <a:r>
              <a:rPr lang="en-US" altLang="zh-TW" sz="2400" dirty="0">
                <a:latin typeface="Times New Roman" panose="02020603050405020304" pitchFamily="18" charset="0"/>
              </a:rPr>
              <a:t>m1 =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(n * x / g) + ( b / g) </a:t>
            </a:r>
            <a:r>
              <a:rPr lang="en-US" altLang="zh-TW" sz="2400">
                <a:latin typeface="Times New Roman" panose="02020603050405020304" pitchFamily="18" charset="0"/>
                <a:sym typeface="Wingdings" panose="05000000000000000000" pitchFamily="2" charset="2"/>
              </a:rPr>
              <a:t>* </a:t>
            </a:r>
            <a:r>
              <a:rPr lang="en-US" altLang="zh-TW" sz="2400">
                <a:latin typeface="Times New Roman" panose="02020603050405020304" pitchFamily="18" charset="0"/>
              </a:rPr>
              <a:t>ny </a:t>
            </a:r>
            <a:r>
              <a:rPr lang="en-US" altLang="zh-TW" sz="2400" dirty="0">
                <a:latin typeface="Times New Roman" panose="02020603050405020304" pitchFamily="18" charset="0"/>
              </a:rPr>
              <a:t>/ a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反之則 </a:t>
            </a:r>
            <a:r>
              <a:rPr lang="en-US" altLang="zh-TW" sz="2400" dirty="0">
                <a:latin typeface="Times New Roman" panose="02020603050405020304" pitchFamily="18" charset="0"/>
              </a:rPr>
              <a:t>m1 =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(n * x / g) + ( b / g) * -</a:t>
            </a:r>
            <a:r>
              <a:rPr lang="en-US" altLang="zh-TW" sz="2400" dirty="0">
                <a:latin typeface="Times New Roman" panose="02020603050405020304" pitchFamily="18" charset="0"/>
              </a:rPr>
              <a:t>nx / a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zh-TW" alt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090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 = 43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第一種盒子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c1 = 1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元 可裝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n1 = 3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個球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第二種盒子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c2 = 2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元 可裝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n2 = 4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個球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3*m1 + 4*m2 = 43  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3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x + 4*y = gcd(3,4) = 1    x=-1,y=1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43 % 1 = 0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有整數解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4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5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(1)</a:t>
            </a:r>
            <a:r>
              <a:rPr lang="zh-TW" altLang="en-US" sz="2400" dirty="0">
                <a:latin typeface="Times New Roman" panose="02020603050405020304" pitchFamily="18" charset="0"/>
              </a:rPr>
              <a:t> 通解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擴展歐幾裡德算法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ax + by = gcd(a,b) = g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通解為</a:t>
            </a:r>
            <a:r>
              <a:rPr lang="en-US" altLang="zh-TW" sz="2400" dirty="0">
                <a:latin typeface="Times New Roman" panose="02020603050405020304" pitchFamily="18" charset="0"/>
              </a:rPr>
              <a:t>		x = x0 + (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b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/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g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*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t	-(1)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	y = y0 - (a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/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g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*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t  	-(2)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	x0 </a:t>
            </a:r>
            <a:r>
              <a:rPr lang="zh-TW" altLang="en-US" sz="2400" dirty="0">
                <a:latin typeface="Times New Roman" panose="02020603050405020304" pitchFamily="18" charset="0"/>
              </a:rPr>
              <a:t>和 </a:t>
            </a:r>
            <a:r>
              <a:rPr lang="en-US" altLang="zh-TW" sz="2400" dirty="0">
                <a:latin typeface="Times New Roman" panose="02020603050405020304" pitchFamily="18" charset="0"/>
              </a:rPr>
              <a:t>y0 </a:t>
            </a:r>
            <a:r>
              <a:rPr lang="zh-TW" altLang="en-US" sz="2400" dirty="0">
                <a:latin typeface="Times New Roman" panose="02020603050405020304" pitchFamily="18" charset="0"/>
              </a:rPr>
              <a:t>為任意一組解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	</a:t>
            </a:r>
            <a:r>
              <a:rPr lang="zh-TW" altLang="en-US" sz="2400" dirty="0">
                <a:latin typeface="Times New Roman" panose="02020603050405020304" pitchFamily="18" charset="0"/>
              </a:rPr>
              <a:t>且由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n1 * m1 + n2 * m2 = n 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	a * x + b * y=gcd(a, b) = g </a:t>
            </a:r>
            <a:r>
              <a:rPr lang="zh-TW" altLang="en-US" sz="2400" dirty="0">
                <a:latin typeface="Times New Roman" panose="02020603050405020304" pitchFamily="18" charset="0"/>
              </a:rPr>
              <a:t>兩邊同時乘以 </a:t>
            </a:r>
            <a:r>
              <a:rPr lang="en-US" altLang="zh-TW" sz="2400" dirty="0">
                <a:latin typeface="Times New Roman" panose="02020603050405020304" pitchFamily="18" charset="0"/>
              </a:rPr>
              <a:t>n / g,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	</a:t>
            </a:r>
            <a:r>
              <a:rPr lang="zh-TW" altLang="en-US" sz="2400" dirty="0">
                <a:latin typeface="Times New Roman" panose="02020603050405020304" pitchFamily="18" charset="0"/>
              </a:rPr>
              <a:t>解出</a:t>
            </a:r>
            <a:r>
              <a:rPr lang="en-US" altLang="zh-TW" sz="2400" dirty="0">
                <a:latin typeface="Times New Roman" panose="02020603050405020304" pitchFamily="18" charset="0"/>
              </a:rPr>
              <a:t>m1= nx / g, m2 = ny / g, </a:t>
            </a:r>
            <a:r>
              <a:rPr lang="zh-TW" altLang="en-US" sz="2400" dirty="0">
                <a:latin typeface="Times New Roman" panose="02020603050405020304" pitchFamily="18" charset="0"/>
              </a:rPr>
              <a:t>為其中一解帶入 </a:t>
            </a:r>
            <a:r>
              <a:rPr lang="en-US" altLang="zh-TW" sz="2400" dirty="0">
                <a:latin typeface="Times New Roman" panose="02020603050405020304" pitchFamily="18" charset="0"/>
              </a:rPr>
              <a:t>(1)(2)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</a:rPr>
              <a:t>得通解為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為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X = (n * x / g) + ( b / g) * t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	    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Y = (n * y / g) + ( a / g) * t 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58064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2954</TotalTime>
  <Words>819</Words>
  <Application>Microsoft Office PowerPoint</Application>
  <PresentationFormat>如螢幕大小 (4:3)</PresentationFormat>
  <Paragraphs>68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Tahoma</vt:lpstr>
      <vt:lpstr>Times New Roman</vt:lpstr>
      <vt:lpstr>Wingdings</vt:lpstr>
      <vt:lpstr>Blends</vt:lpstr>
      <vt:lpstr>10090: Marbles (1)</vt:lpstr>
      <vt:lpstr>PowerPoint 簡報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B073022039</cp:lastModifiedBy>
  <cp:revision>122</cp:revision>
  <dcterms:created xsi:type="dcterms:W3CDTF">1601-01-01T00:00:00Z</dcterms:created>
  <dcterms:modified xsi:type="dcterms:W3CDTF">2022-06-01T10:18:51Z</dcterms:modified>
</cp:coreProperties>
</file>