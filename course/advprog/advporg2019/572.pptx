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6858000" type="screen4x3"/>
  <p:notesSz cx="6832600" cy="9963150"/>
  <p:embeddedFontLst>
    <p:embeddedFont>
      <p:font typeface="標楷體" panose="03000509000000000000" pitchFamily="65" charset="-120"/>
      <p:regular r:id="rId7"/>
    </p:embeddedFont>
    <p:embeddedFont>
      <p:font typeface="Tahoma" panose="020B0604030504040204" pitchFamily="3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170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00" tIns="45900" rIns="91800" bIns="459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71912" y="0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00" tIns="45900" rIns="91800" bIns="45900" anchor="t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25512" y="747712"/>
            <a:ext cx="4981575" cy="3735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1225" y="4732337"/>
            <a:ext cx="5010150" cy="44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00" tIns="45900" rIns="91800" bIns="459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64675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00" tIns="45900" rIns="91800" bIns="459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71912" y="9464675"/>
            <a:ext cx="2960687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800" tIns="45900" rIns="91800" bIns="459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zh-TW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55143f3c9e_0_32:notes"/>
          <p:cNvSpPr txBox="1">
            <a:spLocks noGrp="1"/>
          </p:cNvSpPr>
          <p:nvPr>
            <p:ph type="body" idx="1"/>
          </p:nvPr>
        </p:nvSpPr>
        <p:spPr>
          <a:xfrm>
            <a:off x="911225" y="4732337"/>
            <a:ext cx="5010300" cy="4483200"/>
          </a:xfrm>
          <a:prstGeom prst="rect">
            <a:avLst/>
          </a:prstGeom>
        </p:spPr>
        <p:txBody>
          <a:bodyPr spcFirstLastPara="1" wrap="square" lIns="91800" tIns="45900" rIns="91800" bIns="45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g55143f3c9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5513" y="747713"/>
            <a:ext cx="4981575" cy="3735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5143f3c9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5513" y="747713"/>
            <a:ext cx="4981575" cy="3735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55143f3c9e_0_15:notes"/>
          <p:cNvSpPr txBox="1">
            <a:spLocks noGrp="1"/>
          </p:cNvSpPr>
          <p:nvPr>
            <p:ph type="body" idx="1"/>
          </p:nvPr>
        </p:nvSpPr>
        <p:spPr>
          <a:xfrm>
            <a:off x="911225" y="4732337"/>
            <a:ext cx="5010300" cy="4483200"/>
          </a:xfrm>
          <a:prstGeom prst="rect">
            <a:avLst/>
          </a:prstGeom>
        </p:spPr>
        <p:txBody>
          <a:bodyPr spcFirstLastPara="1" wrap="square" lIns="91800" tIns="45900" rIns="91800" bIns="45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55143f3c9e_0_15:notes"/>
          <p:cNvSpPr txBox="1">
            <a:spLocks noGrp="1"/>
          </p:cNvSpPr>
          <p:nvPr>
            <p:ph type="sldNum" idx="12"/>
          </p:nvPr>
        </p:nvSpPr>
        <p:spPr>
          <a:xfrm>
            <a:off x="3871912" y="9464675"/>
            <a:ext cx="2960700" cy="498600"/>
          </a:xfrm>
          <a:prstGeom prst="rect">
            <a:avLst/>
          </a:prstGeom>
        </p:spPr>
        <p:txBody>
          <a:bodyPr spcFirstLastPara="1" wrap="square" lIns="91800" tIns="45900" rIns="91800" bIns="459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lang="en-US" altLang="zh-TW"/>
              <a:t>2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1225" y="4732337"/>
            <a:ext cx="5010150" cy="4483100"/>
          </a:xfrm>
          <a:prstGeom prst="rect">
            <a:avLst/>
          </a:prstGeom>
        </p:spPr>
        <p:txBody>
          <a:bodyPr spcFirstLastPara="1" wrap="square" lIns="91800" tIns="45900" rIns="91800" bIns="45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5513" y="747713"/>
            <a:ext cx="4981575" cy="3735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:notes"/>
          <p:cNvSpPr txBox="1">
            <a:spLocks noGrp="1"/>
          </p:cNvSpPr>
          <p:nvPr>
            <p:ph type="body" idx="1"/>
          </p:nvPr>
        </p:nvSpPr>
        <p:spPr>
          <a:xfrm>
            <a:off x="911225" y="4732337"/>
            <a:ext cx="5010150" cy="4483100"/>
          </a:xfrm>
          <a:prstGeom prst="rect">
            <a:avLst/>
          </a:prstGeom>
        </p:spPr>
        <p:txBody>
          <a:bodyPr spcFirstLastPara="1" wrap="square" lIns="91800" tIns="45900" rIns="91800" bIns="45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25513" y="747713"/>
            <a:ext cx="4981575" cy="37353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7930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 rot="5400000">
            <a:off x="4685507" y="2302669"/>
            <a:ext cx="5791200" cy="1947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 rot="5400000">
            <a:off x="712787" y="430212"/>
            <a:ext cx="5791200" cy="5692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7930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 rot="5400000">
            <a:off x="2324100" y="-38100"/>
            <a:ext cx="46482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9718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marL="914400" lvl="1" indent="-291465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50520" algn="l"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marL="914400" lvl="1" indent="-326390" algn="l"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marL="1371600" lvl="2" indent="-304800" algn="l"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marL="1828800" lvl="3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marL="2286000" lvl="4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marL="2743200" lvl="5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marL="3200400" lvl="6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marL="3657600" lvl="7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marL="4114800" lvl="8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7930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144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1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9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88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2004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marL="914400" lvl="1" indent="-298450" algn="l"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marL="1371600" lvl="2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marL="1828800" lvl="3" indent="-284480" algn="l"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marL="2286000" lvl="4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marL="2743200" lvl="5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marL="3200400" lvl="6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marL="3657600" lvl="7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marL="4114800" lvl="8" indent="-279400" algn="l"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7930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2"/>
          </p:nvPr>
        </p:nvSpPr>
        <p:spPr>
          <a:xfrm>
            <a:off x="4724400" y="1524000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35280" algn="l"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marL="914400" lvl="1" indent="-312419" algn="l"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marL="1371600" lvl="2" indent="-292100" algn="l"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marL="1828800" lvl="3" indent="-291464" algn="l"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marL="2286000" lvl="4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marL="2743200" lvl="5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marL="3200400" lvl="6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marL="3657600" lvl="7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marL="4114800" lvl="8" indent="-28575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62000" y="381000"/>
            <a:ext cx="77930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0520" algn="l" rtl="0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sz="32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26390" algn="l" rtl="0"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sz="28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04800" algn="l" rtl="0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98450" algn="l" rtl="0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2921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362200" y="6324600"/>
            <a:ext cx="4953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  <a:defRPr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5334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zh-TW" b="1" dirty="0">
                <a:latin typeface="Times New Roman"/>
                <a:ea typeface="Times New Roman"/>
                <a:cs typeface="Times New Roman"/>
                <a:sym typeface="Times New Roman"/>
              </a:rPr>
              <a:t>572</a:t>
            </a:r>
            <a:r>
              <a:rPr lang="zh-TW" sz="4400" b="1" i="0" u="none" dirty="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 Oil Deposits</a:t>
            </a:r>
            <a:endParaRPr dirty="0"/>
          </a:p>
        </p:txBody>
      </p:sp>
      <p:sp>
        <p:nvSpPr>
          <p:cNvPr id="84" name="Google Shape;84;p12"/>
          <p:cNvSpPr txBox="1">
            <a:spLocks noGrp="1"/>
          </p:cNvSpPr>
          <p:nvPr>
            <p:ph type="body" idx="1"/>
          </p:nvPr>
        </p:nvSpPr>
        <p:spPr>
          <a:xfrm>
            <a:off x="381000" y="1447800"/>
            <a:ext cx="80772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i="0" u="none" dirty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★★☆☆☆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題組：</a:t>
            </a:r>
            <a:r>
              <a:rPr lang="zh-TW" sz="2400" i="0" u="none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Problem Set Archive with Online Judge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BiauKa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題號：</a:t>
            </a:r>
            <a:r>
              <a:rPr 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572</a:t>
            </a:r>
            <a:r>
              <a:rPr lang="zh-TW" sz="2400" i="0" u="none" dirty="0">
                <a:solidFill>
                  <a:schemeClr val="dk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 :</a:t>
            </a:r>
            <a:r>
              <a:rPr 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 Oil Deposits</a:t>
            </a:r>
            <a:endParaRPr sz="2400" i="0" u="none" dirty="0">
              <a:solidFill>
                <a:schemeClr val="dk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BiauKa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解題者：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彭錦銘</a:t>
            </a:r>
            <a:endParaRPr sz="2400" i="0" u="none" dirty="0">
              <a:solidFill>
                <a:schemeClr val="dk1"/>
              </a:solidFill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解題日期：</a:t>
            </a:r>
            <a:r>
              <a:rPr lang="zh-TW" sz="2400" i="0" u="none" dirty="0">
                <a:solidFill>
                  <a:schemeClr val="dk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2019年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3</a:t>
            </a:r>
            <a:r>
              <a:rPr lang="zh-TW" sz="2400" i="0" u="none" dirty="0">
                <a:solidFill>
                  <a:schemeClr val="dk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月2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0</a:t>
            </a:r>
            <a:r>
              <a:rPr lang="zh-TW" sz="2400" i="0" u="none" dirty="0">
                <a:solidFill>
                  <a:schemeClr val="dk1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日</a:t>
            </a:r>
            <a:endParaRPr sz="2400" i="0" u="none" dirty="0">
              <a:solidFill>
                <a:schemeClr val="dk1"/>
              </a:solidFill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題意：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輸入文件包含一個或多個網格。 每個網格都以包含 m 和 n 的行開頭，即網格中的行數和列數，由單個空格分隔。 如果 m=0，則表示輸入結束; 否則 1 ≤ m ≤ 100 且 1 ≤ n ≤ 100。此後是 m 行，每行 n 個字符（不包括行尾字符）。 每個字符對應一個圖，並且是'*'，代表沒有油，或 '@'，代表一個油口袋。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342900" lvl="0" indent="-251459" algn="l" rtl="0"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i="0" u="none" dirty="0">
              <a:solidFill>
                <a:schemeClr val="dk1"/>
              </a:solidFill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body" idx="1"/>
          </p:nvPr>
        </p:nvSpPr>
        <p:spPr>
          <a:xfrm>
            <a:off x="762000" y="381000"/>
            <a:ext cx="7772400" cy="579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SzPts val="1440"/>
              <a:buFont typeface="BiauKai"/>
              <a:buChar char="■"/>
            </a:pPr>
            <a:r>
              <a:rPr lang="zh-TW" sz="2400" b="1" dirty="0">
                <a:solidFill>
                  <a:srgbClr val="3BA943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題意：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marR="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根據題目，模擬檢測地下石油儲量的過程。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marR="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使用傳感設備分別分析每個圖，確定相鄰地塊是否含有油田。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marR="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若兩個油田相鄰，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1143000" marR="0" lvl="2" indent="-26288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則視為該部分的油田為相同油田。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1143000" lvl="2" indent="-26288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Font typeface="BiauKai"/>
              <a:buChar char="■"/>
            </a:pPr>
            <a:r>
              <a:rPr lang="zh-TW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如右圖所示包含相鄰的 8 個方位。</a:t>
            </a:r>
            <a:br>
              <a:rPr lang="zh-TW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</a:b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marR="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輸入 2 個參數 m 與 n，以單個空格分隔。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marR="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如果 m = 0，則表示輸入結束; 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1143000" marR="0" lvl="2" indent="-26288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否則 (1 &lt;= m &lt;= 100) 且 (1 &lt;= n &lt;= 100)。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每個字符對應一個地塊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1143000" marR="0" lvl="2" indent="-26288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“ * ” = 表示 </a:t>
            </a:r>
            <a:r>
              <a:rPr lang="zh-TW" sz="2400" dirty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沒有油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；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1143000" marR="0" lvl="2" indent="-262889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“@” = 表示 </a:t>
            </a:r>
            <a:r>
              <a:rPr lang="zh-TW" sz="2400" dirty="0">
                <a:solidFill>
                  <a:schemeClr val="hlink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一個油田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  <p:grpSp>
        <p:nvGrpSpPr>
          <p:cNvPr id="92" name="Google Shape;92;p13"/>
          <p:cNvGrpSpPr/>
          <p:nvPr/>
        </p:nvGrpSpPr>
        <p:grpSpPr>
          <a:xfrm>
            <a:off x="6941479" y="1920146"/>
            <a:ext cx="1745333" cy="1672975"/>
            <a:chOff x="3501375" y="2314575"/>
            <a:chExt cx="2141250" cy="2228850"/>
          </a:xfrm>
        </p:grpSpPr>
        <p:pic>
          <p:nvPicPr>
            <p:cNvPr id="93" name="Google Shape;93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501375" y="2314575"/>
              <a:ext cx="2141250" cy="222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3"/>
            <p:cNvSpPr txBox="1"/>
            <p:nvPr/>
          </p:nvSpPr>
          <p:spPr>
            <a:xfrm>
              <a:off x="3554225" y="237347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1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4240650" y="237347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2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6" name="Google Shape;96;p13"/>
            <p:cNvSpPr txBox="1"/>
            <p:nvPr/>
          </p:nvSpPr>
          <p:spPr>
            <a:xfrm>
              <a:off x="4920525" y="236817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3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4240650" y="379012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7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3554225" y="3077100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4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9" name="Google Shape;99;p13"/>
            <p:cNvSpPr txBox="1"/>
            <p:nvPr/>
          </p:nvSpPr>
          <p:spPr>
            <a:xfrm>
              <a:off x="3554225" y="379012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6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13"/>
            <p:cNvSpPr txBox="1"/>
            <p:nvPr/>
          </p:nvSpPr>
          <p:spPr>
            <a:xfrm>
              <a:off x="4920525" y="3077100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5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4920525" y="3790125"/>
              <a:ext cx="6627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2400">
                  <a:latin typeface="Tahoma"/>
                  <a:ea typeface="Tahoma"/>
                  <a:cs typeface="Tahoma"/>
                  <a:sym typeface="Tahoma"/>
                </a:rPr>
                <a:t>8</a:t>
              </a:r>
              <a:endParaRPr sz="2400"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fld id="{00000000-1234-1234-1234-123412341234}" type="slidenum">
              <a:rPr lang="en-US" altLang="zh-TW" sz="1400" b="0" i="0" u="none" strike="noStrike" cap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3</a:t>
            </a:fld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229800" y="381000"/>
            <a:ext cx="5428200" cy="56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BiauKai"/>
                <a:ea typeface="BiauKai"/>
                <a:cs typeface="BiauKai"/>
                <a:sym typeface="BiauKai"/>
              </a:rPr>
              <a:t>題意範例：</a:t>
            </a:r>
            <a:endParaRPr sz="2400" b="1" dirty="0">
              <a:solidFill>
                <a:srgbClr val="3BA943"/>
              </a:solidFill>
              <a:latin typeface="BiauKai"/>
              <a:ea typeface="BiauKai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如右圖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m = row，n = column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“ * ” = 表示 </a:t>
            </a:r>
            <a:r>
              <a:rPr 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沒有油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；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“@” = 表示 </a:t>
            </a:r>
            <a:r>
              <a:rPr 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一個油田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輸入 m 和 n 後，再以 * 與 @ 表示該地塊的狀況。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endParaRPr sz="2400" dirty="0">
              <a:latin typeface="BiauKai"/>
              <a:ea typeface="BiauKai"/>
              <a:cs typeface="BiauKai"/>
              <a:sym typeface="BiauKai"/>
            </a:endParaRPr>
          </a:p>
          <a:p>
            <a:pPr marL="34290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BiauKai"/>
                <a:ea typeface="BiauKai"/>
                <a:cs typeface="BiauKai"/>
                <a:sym typeface="BiauKai"/>
              </a:rPr>
              <a:t>解法：</a:t>
            </a:r>
            <a:endParaRPr sz="2400" b="1" dirty="0">
              <a:solidFill>
                <a:srgbClr val="3BA943"/>
              </a:solidFill>
              <a:latin typeface="BiauKai"/>
              <a:ea typeface="BiauKai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應用 connected components 的概念找出</a:t>
            </a:r>
            <a:r>
              <a:rPr 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相同 components 的數量</a:t>
            </a: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。</a:t>
            </a:r>
            <a:endParaRPr sz="2400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BiauKai"/>
              <a:buChar char="■"/>
            </a:pPr>
            <a:r>
              <a:rPr lang="zh-TW" sz="2400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先把油田的排列放進陣列里，再以函數 deep-first-search 標記油田的數量並輸出結果。</a:t>
            </a:r>
            <a:endParaRPr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6802" y="1386625"/>
            <a:ext cx="3637200" cy="467206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657850" y="1083325"/>
            <a:ext cx="2835600" cy="3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300" b="1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Input</a:t>
            </a:r>
            <a:endParaRPr sz="2300" b="1" dirty="0"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Tahoma"/>
              <a:buNone/>
            </a:pPr>
            <a:fld id="{00000000-1234-1234-1234-123412341234}" type="slidenum">
              <a:rPr lang="en-US" altLang="zh-TW" sz="1400" b="0" i="0" u="none">
                <a:solidFill>
                  <a:schemeClr val="accent1"/>
                </a:solidFill>
                <a:latin typeface="Tahoma"/>
                <a:ea typeface="Tahoma"/>
                <a:cs typeface="Tahoma"/>
                <a:sym typeface="Tahoma"/>
              </a:rPr>
              <a:t>4</a:t>
            </a:fld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077200" cy="56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b="1" i="0" u="none" dirty="0">
                <a:solidFill>
                  <a:srgbClr val="3BA9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討論：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lvl="1" indent="-31432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lang="zh-TW" sz="2400" dirty="0">
                <a:latin typeface="Times New Roman"/>
                <a:ea typeface="Times New Roman"/>
                <a:cs typeface="Times New Roman"/>
                <a:sym typeface="Times New Roman"/>
              </a:rPr>
              <a:t>Worst case 時間複雜度：O(n*n)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4295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319</Words>
  <Application>Microsoft Office PowerPoint</Application>
  <PresentationFormat>如螢幕大小 (4:3)</PresentationFormat>
  <Paragraphs>46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Noto Sans Symbols</vt:lpstr>
      <vt:lpstr>Tahoma</vt:lpstr>
      <vt:lpstr>BiauKai</vt:lpstr>
      <vt:lpstr>標楷體</vt:lpstr>
      <vt:lpstr>Times New Roman</vt:lpstr>
      <vt:lpstr>Arial</vt:lpstr>
      <vt:lpstr>Blends</vt:lpstr>
      <vt:lpstr>572 : Oil Deposits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572 : Oil Deposits</dc:title>
  <cp:lastModifiedBy>pplabeveryone</cp:lastModifiedBy>
  <cp:revision>1</cp:revision>
  <dcterms:modified xsi:type="dcterms:W3CDTF">2019-03-27T05:11:37Z</dcterms:modified>
</cp:coreProperties>
</file>