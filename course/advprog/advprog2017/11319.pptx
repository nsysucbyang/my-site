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sldIdLst>
    <p:sldId id="307" r:id="rId2"/>
    <p:sldId id="309" r:id="rId3"/>
    <p:sldId id="310" r:id="rId4"/>
    <p:sldId id="313" r:id="rId5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29" autoAdjust="0"/>
    <p:restoredTop sz="93067" autoAdjust="0"/>
  </p:normalViewPr>
  <p:slideViewPr>
    <p:cSldViewPr>
      <p:cViewPr>
        <p:scale>
          <a:sx n="90" d="100"/>
          <a:sy n="90" d="100"/>
        </p:scale>
        <p:origin x="-2292" y="-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67C86F2-B9A6-4411-A089-014D5C83F9D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8412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497C182-C2BD-4868-AA2D-A7B7F1738DFE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2E9BA8C-11EC-4038-A584-3579CA934AB8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2E9BA8C-11EC-4038-A584-3579CA934AB8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12E9BA8C-11EC-4038-A584-3579CA934AB8}" type="slidenum">
              <a:rPr lang="zh-TW" altLang="en-US" sz="1200"/>
              <a:pPr eaLnBrk="1" hangingPunct="1"/>
              <a:t>4</a:t>
            </a:fld>
            <a:endParaRPr lang="en-US" altLang="zh-TW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887C199-6366-4ECD-BA62-97DDC3EDB58B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89D17C-1549-455C-9AFC-08159768D3B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0641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3162F-25F5-4CE4-B860-14AE2C7CF0C7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E7F06-C282-4573-B3EF-95214B8D6F7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398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F6FBE-9305-4F99-9F21-0D6806EDB4FB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78AAA-3DE9-43E8-A048-35607958538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925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E2883-5C36-48C5-94FC-B9C2DD310B8E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C057D-85A1-49D6-83D2-E8A44F26250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31430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A5A25-32D9-4F16-BFAA-D47F5CB21C5D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150C1-3F76-4646-B7B9-A5CCA9B87B5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1989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ECB5B1-B251-4140-B7A5-97AC2C91DB92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9C1EC0-EEC4-4025-99EC-996343F0DA8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9910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5C37E-8042-4C18-9DC6-02880FABB6E2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5FAE7-03FD-4A79-A8E1-4C704610394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088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84303-AE8F-4AE5-AD68-ED777FEFB672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03016-9DE7-4247-87B8-3CBBE9514BF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6751B-AEE5-4E1F-971B-9B3006BF24EA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2EBB-2D24-47E9-B4FF-FCDE23EB401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95953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69579-E65C-4F28-8D56-ED5B4987BC63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4AE13-D542-4AFB-B15C-9B04AB99914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74991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86159-098D-4103-81A5-08890071B99B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FCC36-4EE7-475F-B241-8300E95B022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6454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D1CF2E87-88F9-4E49-A3C6-81EB73C36922}" type="datetime1">
              <a:rPr lang="zh-TW" altLang="en-US"/>
              <a:pPr>
                <a:defRPr/>
              </a:pPr>
              <a:t>2017/4/23</a:t>
            </a:fld>
            <a:endParaRPr lang="en-US" altLang="zh-TW"/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15D9EEFA-905A-453F-8C3F-8BF71A9D38F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454F5CC-6F15-4422-99D6-9832D64A9105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b="1" dirty="0" smtClean="0">
                <a:latin typeface="Times New Roman" charset="0"/>
              </a:rPr>
              <a:t>11319: Stupid Sequence</a:t>
            </a:r>
            <a:endParaRPr lang="en-US" altLang="zh-TW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6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447800"/>
                <a:ext cx="8077200" cy="4789488"/>
              </a:xfrm>
            </p:spPr>
            <p:txBody>
              <a:bodyPr/>
              <a:lstStyle/>
              <a:p>
                <a:pPr eaLnBrk="1" hangingPunct="1"/>
                <a:r>
                  <a:rPr lang="zh-TW" altLang="en-US" sz="2400" dirty="0" smtClean="0">
                    <a:solidFill>
                      <a:schemeClr val="hlink"/>
                    </a:solidFill>
                    <a:latin typeface="Times New Roman" charset="0"/>
                  </a:rPr>
                  <a:t>★★★☆☆</a:t>
                </a:r>
              </a:p>
              <a:p>
                <a:pPr eaLnBrk="1" hangingPunct="1"/>
                <a:r>
                  <a:rPr lang="zh-TW" altLang="en-US" sz="2400" b="1" dirty="0" smtClean="0">
                    <a:solidFill>
                      <a:srgbClr val="3BA943"/>
                    </a:solidFill>
                    <a:latin typeface="Times New Roman" charset="0"/>
                  </a:rPr>
                  <a:t>題組：</a:t>
                </a:r>
                <a:r>
                  <a:rPr lang="en-US" altLang="zh-TW" sz="2400" dirty="0" smtClean="0">
                    <a:latin typeface="Times New Roman" charset="0"/>
                    <a:ea typeface="新細明體" pitchFamily="18" charset="-120"/>
                  </a:rPr>
                  <a:t>Problem Set Archive with Online Judge</a:t>
                </a:r>
              </a:p>
              <a:p>
                <a:pPr eaLnBrk="1" hangingPunct="1"/>
                <a:r>
                  <a:rPr lang="zh-TW" altLang="en-US" sz="2400" b="1" dirty="0" smtClean="0">
                    <a:solidFill>
                      <a:srgbClr val="3BA943"/>
                    </a:solidFill>
                    <a:latin typeface="Times New Roman" charset="0"/>
                  </a:rPr>
                  <a:t>題號：</a:t>
                </a:r>
                <a:r>
                  <a:rPr lang="en-US" altLang="zh-TW" sz="2400" dirty="0" smtClean="0">
                    <a:latin typeface="Times New Roman" charset="0"/>
                  </a:rPr>
                  <a:t>11319</a:t>
                </a:r>
                <a:r>
                  <a:rPr lang="zh-TW" altLang="en-US" sz="2400" dirty="0" smtClean="0">
                    <a:latin typeface="Times New Roman" charset="0"/>
                  </a:rPr>
                  <a:t>: </a:t>
                </a:r>
                <a:r>
                  <a:rPr lang="en-US" altLang="zh-TW" sz="2400" dirty="0" smtClean="0">
                    <a:latin typeface="Times New Roman" charset="0"/>
                  </a:rPr>
                  <a:t>Stupid Sequence</a:t>
                </a:r>
                <a:endParaRPr lang="en-US" altLang="zh-TW" sz="2400" dirty="0" smtClean="0">
                  <a:latin typeface="Times New Roman" charset="0"/>
                  <a:ea typeface="新細明體" pitchFamily="18" charset="-120"/>
                </a:endParaRPr>
              </a:p>
              <a:p>
                <a:pPr eaLnBrk="1" hangingPunct="1"/>
                <a:r>
                  <a:rPr lang="zh-TW" altLang="en-US" sz="2400" b="1" dirty="0" smtClean="0">
                    <a:solidFill>
                      <a:srgbClr val="3BA943"/>
                    </a:solidFill>
                    <a:latin typeface="Times New Roman" charset="0"/>
                  </a:rPr>
                  <a:t>解題者：</a:t>
                </a:r>
                <a:r>
                  <a:rPr lang="zh-TW" altLang="en-US" sz="2400" dirty="0">
                    <a:latin typeface="Times New Roman" charset="0"/>
                  </a:rPr>
                  <a:t>賴昱諠</a:t>
                </a:r>
                <a:endParaRPr lang="zh-TW" altLang="en-US" sz="2400" dirty="0" smtClean="0">
                  <a:latin typeface="Times New Roman" charset="0"/>
                  <a:ea typeface="新細明體" pitchFamily="18" charset="-120"/>
                </a:endParaRPr>
              </a:p>
              <a:p>
                <a:pPr eaLnBrk="1" hangingPunct="1"/>
                <a:r>
                  <a:rPr lang="zh-TW" altLang="en-US" sz="2400" b="1" dirty="0" smtClean="0">
                    <a:solidFill>
                      <a:srgbClr val="3BA943"/>
                    </a:solidFill>
                    <a:latin typeface="Times New Roman" charset="0"/>
                  </a:rPr>
                  <a:t>解題日期：</a:t>
                </a:r>
                <a:r>
                  <a:rPr lang="zh-TW" altLang="en-US" sz="2400" dirty="0" smtClean="0">
                    <a:latin typeface="Times New Roman" charset="0"/>
                  </a:rPr>
                  <a:t>20</a:t>
                </a:r>
                <a:r>
                  <a:rPr lang="en-US" altLang="zh-TW" sz="2400" dirty="0" smtClean="0">
                    <a:latin typeface="Times New Roman" charset="0"/>
                  </a:rPr>
                  <a:t>17</a:t>
                </a:r>
                <a:r>
                  <a:rPr lang="zh-TW" altLang="en-US" sz="2400" dirty="0" smtClean="0">
                    <a:latin typeface="Times New Roman" charset="0"/>
                  </a:rPr>
                  <a:t>年</a:t>
                </a:r>
                <a:r>
                  <a:rPr lang="en-US" altLang="zh-TW" sz="2400" dirty="0">
                    <a:latin typeface="Times New Roman" charset="0"/>
                  </a:rPr>
                  <a:t>4</a:t>
                </a:r>
                <a:r>
                  <a:rPr lang="zh-TW" altLang="en-US" sz="2400" dirty="0" smtClean="0">
                    <a:latin typeface="Times New Roman" charset="0"/>
                  </a:rPr>
                  <a:t>月</a:t>
                </a:r>
                <a:r>
                  <a:rPr lang="en-US" altLang="zh-TW" sz="2400" dirty="0" smtClean="0">
                    <a:latin typeface="Times New Roman" charset="0"/>
                  </a:rPr>
                  <a:t>20</a:t>
                </a:r>
                <a:r>
                  <a:rPr lang="zh-TW" altLang="en-US" sz="2400" dirty="0" smtClean="0">
                    <a:latin typeface="Times New Roman" charset="0"/>
                  </a:rPr>
                  <a:t>日</a:t>
                </a:r>
                <a:endParaRPr lang="zh-TW" altLang="en-US" sz="2400" dirty="0" smtClean="0">
                  <a:latin typeface="Times New Roman" charset="0"/>
                  <a:ea typeface="新細明體" pitchFamily="18" charset="-120"/>
                </a:endParaRPr>
              </a:p>
              <a:p>
                <a:pPr eaLnBrk="1" hangingPunct="1"/>
                <a:r>
                  <a:rPr lang="zh-TW" altLang="en-US" sz="2400" b="1" dirty="0" smtClean="0">
                    <a:solidFill>
                      <a:srgbClr val="3BA943"/>
                    </a:solidFill>
                    <a:latin typeface="Times New Roman" charset="0"/>
                  </a:rPr>
                  <a:t>題意：</a:t>
                </a:r>
                <a:r>
                  <a:rPr lang="zh-TW" altLang="en-US" sz="2400" dirty="0" smtClean="0">
                    <a:latin typeface="Times New Roman" charset="0"/>
                  </a:rPr>
                  <a:t>利用測資出六次方程式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𝑥</m:t>
                    </m:r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4</m:t>
                        </m:r>
                      </m:sub>
                    </m:sSub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5</m:t>
                        </m:r>
                      </m:sub>
                    </m:sSub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5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6</m:t>
                        </m:r>
                      </m:sub>
                    </m:sSub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TW" altLang="en-US" sz="2400" dirty="0" smtClean="0">
                    <a:latin typeface="Times New Roman" charset="0"/>
                  </a:rPr>
                  <a:t>的各項係數</a:t>
                </a:r>
                <a:r>
                  <a:rPr lang="en-US" altLang="zh-TW" sz="2400" dirty="0" smtClean="0">
                    <a:latin typeface="Times New Roman" charset="0"/>
                  </a:rPr>
                  <a:t>(0≤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charset="0"/>
                  </a:rPr>
                  <a:t>≤1000)</a:t>
                </a:r>
                <a:r>
                  <a:rPr lang="zh-TW" altLang="en-US" sz="2400" dirty="0" smtClean="0">
                    <a:latin typeface="Times New Roman" charset="0"/>
                  </a:rPr>
                  <a:t> 。第一個輸入的</a:t>
                </a:r>
                <a:r>
                  <a:rPr lang="en-US" altLang="zh-TW" sz="2400" dirty="0" smtClean="0">
                    <a:latin typeface="Times New Roman" charset="0"/>
                  </a:rPr>
                  <a:t>N</a:t>
                </a:r>
                <a:r>
                  <a:rPr lang="zh-TW" altLang="en-US" sz="2400" dirty="0" smtClean="0">
                    <a:latin typeface="Times New Roman" charset="0"/>
                  </a:rPr>
                  <a:t>為</a:t>
                </a:r>
                <a:r>
                  <a:rPr lang="en-US" altLang="zh-TW" sz="2400" dirty="0" smtClean="0">
                    <a:latin typeface="Times New Roman" charset="0"/>
                  </a:rPr>
                  <a:t>case</a:t>
                </a:r>
                <a:r>
                  <a:rPr lang="zh-TW" altLang="en-US" sz="2400" dirty="0" smtClean="0">
                    <a:latin typeface="Times New Roman" charset="0"/>
                  </a:rPr>
                  <a:t>數</a:t>
                </a:r>
                <a:r>
                  <a:rPr lang="en-US" altLang="zh-TW" sz="2400" dirty="0" smtClean="0">
                    <a:latin typeface="Times New Roman" charset="0"/>
                  </a:rPr>
                  <a:t>(0≤N≤101)</a:t>
                </a:r>
                <a:r>
                  <a:rPr lang="zh-TW" altLang="en-US" sz="2400" dirty="0" smtClean="0">
                    <a:latin typeface="Times New Roman" charset="0"/>
                  </a:rPr>
                  <a:t>，接下來會有</a:t>
                </a:r>
                <a:r>
                  <a:rPr lang="en-US" altLang="zh-TW" sz="2400" dirty="0" smtClean="0">
                    <a:latin typeface="Times New Roman" charset="0"/>
                  </a:rPr>
                  <a:t>1500</a:t>
                </a:r>
                <a:r>
                  <a:rPr lang="zh-TW" altLang="en-US" sz="2400" dirty="0" smtClean="0">
                    <a:latin typeface="Times New Roman" charset="0"/>
                  </a:rPr>
                  <a:t>行，分別代表</a:t>
                </a:r>
                <a:r>
                  <a:rPr lang="en-US" altLang="zh-TW" sz="2400" dirty="0" smtClean="0">
                    <a:latin typeface="Times New Roman" charset="0"/>
                  </a:rPr>
                  <a:t>f(1)</a:t>
                </a:r>
                <a:r>
                  <a:rPr lang="zh-TW" altLang="en-US" sz="2400" dirty="0" smtClean="0">
                    <a:latin typeface="Times New Roman" charset="0"/>
                  </a:rPr>
                  <a:t> </a:t>
                </a:r>
                <a:r>
                  <a:rPr lang="en-US" altLang="zh-TW" sz="2400" dirty="0" smtClean="0">
                    <a:latin typeface="Times New Roman" charset="0"/>
                  </a:rPr>
                  <a:t>~</a:t>
                </a:r>
                <a:r>
                  <a:rPr lang="zh-TW" altLang="en-US" sz="2400" dirty="0" smtClean="0">
                    <a:latin typeface="Times New Roman" charset="0"/>
                  </a:rPr>
                  <a:t> </a:t>
                </a:r>
                <a:r>
                  <a:rPr lang="en-US" altLang="zh-TW" sz="2400" dirty="0" smtClean="0">
                    <a:latin typeface="Times New Roman" charset="0"/>
                  </a:rPr>
                  <a:t>f(1500)</a:t>
                </a:r>
                <a:r>
                  <a:rPr lang="zh-TW" altLang="en-US" sz="2400" dirty="0" smtClean="0">
                    <a:latin typeface="Times New Roman" charset="0"/>
                  </a:rPr>
                  <a:t>的答案</a:t>
                </a:r>
                <a:r>
                  <a:rPr lang="zh-TW" altLang="en-US" sz="2400" dirty="0">
                    <a:latin typeface="Times New Roman" charset="0"/>
                  </a:rPr>
                  <a:t>，</a:t>
                </a:r>
                <a:r>
                  <a:rPr lang="zh-TW" altLang="en-US" sz="2400" dirty="0" smtClean="0">
                    <a:latin typeface="Times New Roman" charset="0"/>
                  </a:rPr>
                  <a:t>答案最大可能為</a:t>
                </a:r>
                <a:r>
                  <a:rPr lang="en-US" altLang="zh-TW" sz="2400" dirty="0" smtClean="0">
                    <a:latin typeface="Times New Roman" charset="0"/>
                  </a:rPr>
                  <a:t>64bits</a:t>
                </a:r>
                <a:r>
                  <a:rPr lang="zh-TW" altLang="en-US" sz="2400" dirty="0" smtClean="0">
                    <a:latin typeface="Times New Roman" charset="0"/>
                  </a:rPr>
                  <a:t>的無號整數，如果方程式答案找不出各項係數解，則印出</a:t>
                </a:r>
                <a:r>
                  <a:rPr lang="en-US" altLang="zh-TW" sz="2400" dirty="0" smtClean="0">
                    <a:latin typeface="Times New Roman" charset="0"/>
                  </a:rPr>
                  <a:t>”This is a smart sequence!”</a:t>
                </a:r>
                <a:r>
                  <a:rPr lang="zh-TW" altLang="en-US" sz="2400" dirty="0" smtClean="0">
                    <a:latin typeface="Times New Roman" charset="0"/>
                  </a:rPr>
                  <a:t>。</a:t>
                </a:r>
                <a:endParaRPr lang="zh-TW" altLang="en-US" sz="2400" dirty="0" smtClean="0">
                  <a:latin typeface="Times New Roman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076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447800"/>
                <a:ext cx="8077200" cy="4789488"/>
              </a:xfrm>
              <a:blipFill rotWithShape="1">
                <a:blip r:embed="rId3"/>
                <a:stretch>
                  <a:fillRect l="-151" t="-10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431899A-7626-4E8D-9207-C56B05258DA8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85800"/>
            <a:ext cx="5199112" cy="562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TW" altLang="en-US" sz="2400" b="1" dirty="0" smtClean="0">
                <a:solidFill>
                  <a:srgbClr val="3BA943"/>
                </a:solidFill>
                <a:latin typeface="Times New Roman" charset="0"/>
              </a:rPr>
              <a:t>題意範例：</a:t>
            </a:r>
            <a:r>
              <a:rPr lang="zh-TW" altLang="en-US" sz="2400" dirty="0" smtClean="0">
                <a:solidFill>
                  <a:srgbClr val="3BA943"/>
                </a:solidFill>
                <a:latin typeface="Times New Roman" charset="0"/>
              </a:rPr>
              <a:t>  </a:t>
            </a:r>
            <a:endParaRPr lang="en-US" altLang="zh-TW" sz="2400" dirty="0" smtClean="0">
              <a:solidFill>
                <a:srgbClr val="3BA943"/>
              </a:solidFill>
              <a:latin typeface="Times New Roman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3</a:t>
            </a:r>
            <a:r>
              <a:rPr lang="zh-TW" altLang="en-US" sz="2400" dirty="0" smtClean="0">
                <a:latin typeface="Times New Roman" charset="0"/>
              </a:rPr>
              <a:t>  ←</a:t>
            </a:r>
            <a:r>
              <a:rPr lang="en-US" altLang="zh-TW" sz="2400" dirty="0">
                <a:latin typeface="Times New Roman" charset="0"/>
              </a:rPr>
              <a:t> </a:t>
            </a:r>
            <a:r>
              <a:rPr lang="en-US" altLang="zh-TW" sz="2400" dirty="0" smtClean="0">
                <a:latin typeface="Times New Roman" charset="0"/>
              </a:rPr>
              <a:t>case </a:t>
            </a:r>
            <a:r>
              <a:rPr lang="zh-TW" altLang="en-US" sz="2400" dirty="0" smtClean="0">
                <a:latin typeface="Times New Roman" charset="0"/>
              </a:rPr>
              <a:t>數</a:t>
            </a:r>
            <a:r>
              <a:rPr lang="en-US" altLang="zh-TW" sz="2400" dirty="0" smtClean="0">
                <a:latin typeface="Times New Roman" charset="0"/>
              </a:rPr>
              <a:t>	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1</a:t>
            </a:r>
            <a:r>
              <a:rPr lang="zh-TW" altLang="en-US" sz="2400" dirty="0" smtClean="0">
                <a:latin typeface="Times New Roman" charset="0"/>
              </a:rPr>
              <a:t>  ←</a:t>
            </a:r>
            <a:r>
              <a:rPr lang="en-US" altLang="zh-TW" sz="2400" dirty="0" smtClean="0">
                <a:latin typeface="Times New Roman" charset="0"/>
              </a:rPr>
              <a:t> f(1)	2		1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1</a:t>
            </a:r>
            <a:r>
              <a:rPr lang="zh-TW" altLang="en-US" sz="2400" dirty="0" smtClean="0">
                <a:latin typeface="Times New Roman" charset="0"/>
              </a:rPr>
              <a:t>  ←</a:t>
            </a:r>
            <a:r>
              <a:rPr lang="en-US" altLang="zh-TW" sz="2400" dirty="0" smtClean="0">
                <a:latin typeface="Times New Roman" charset="0"/>
              </a:rPr>
              <a:t> f(2)	6		64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1</a:t>
            </a:r>
            <a:r>
              <a:rPr lang="zh-TW" altLang="en-US" sz="2400" dirty="0" smtClean="0">
                <a:latin typeface="Times New Roman" charset="0"/>
              </a:rPr>
              <a:t>  ←</a:t>
            </a:r>
            <a:r>
              <a:rPr lang="en-US" altLang="zh-TW" sz="2400" dirty="0" smtClean="0">
                <a:latin typeface="Times New Roman" charset="0"/>
              </a:rPr>
              <a:t> f(3)	12		729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1	.	20		4096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1	.	30		15625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1	.	42		46656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1	.	56		117649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1	.	72		250000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1	.	90		500000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>
                <a:latin typeface="Times New Roman" charset="0"/>
              </a:rPr>
              <a:t>1</a:t>
            </a:r>
            <a:r>
              <a:rPr lang="en-US" altLang="zh-TW" sz="2400" dirty="0" smtClean="0">
                <a:latin typeface="Times New Roman" charset="0"/>
              </a:rPr>
              <a:t>	.	110		1000000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TW" sz="2400" dirty="0" smtClean="0">
                <a:latin typeface="Times New Roman" charset="0"/>
              </a:rPr>
              <a:t>…		…		…</a:t>
            </a:r>
            <a:endParaRPr lang="zh-TW" altLang="en-US" sz="2400" dirty="0" smtClean="0">
              <a:latin typeface="Times New Roman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5652120" y="1412776"/>
            <a:ext cx="3190297" cy="164352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TW" dirty="0">
                <a:latin typeface="Times New Roman" charset="0"/>
                <a:ea typeface="+mn-ea"/>
              </a:rPr>
              <a:t>Output</a:t>
            </a:r>
            <a:r>
              <a:rPr lang="en-US" altLang="zh-TW" dirty="0" smtClean="0">
                <a:latin typeface="Times New Roman" charset="0"/>
                <a:ea typeface="+mn-ea"/>
              </a:rPr>
              <a:t>: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TW" dirty="0" smtClean="0">
                <a:latin typeface="Times New Roman" charset="0"/>
                <a:ea typeface="+mn-ea"/>
              </a:rPr>
              <a:t>1 0 0 0 0 0 0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TW" dirty="0" smtClean="0">
                <a:latin typeface="Times New Roman" charset="0"/>
                <a:ea typeface="+mn-ea"/>
              </a:rPr>
              <a:t>0 1 1 0 0 0 0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TW" dirty="0" smtClean="0">
                <a:latin typeface="Times New Roman" charset="0"/>
                <a:ea typeface="+mn-ea"/>
              </a:rPr>
              <a:t>This is a smart sequence</a:t>
            </a:r>
            <a:endParaRPr lang="zh-TW" altLang="en-US" dirty="0">
              <a:latin typeface="Times New Roman" charset="0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431899A-7626-4E8D-9207-C56B05258DA8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9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685800"/>
                <a:ext cx="8763000" cy="5622925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zh-TW" altLang="en-US" sz="2400" b="1" dirty="0" smtClean="0">
                    <a:solidFill>
                      <a:srgbClr val="3BA943"/>
                    </a:solidFill>
                    <a:latin typeface="Times New Roman" charset="0"/>
                  </a:rPr>
                  <a:t>解法：</a:t>
                </a:r>
                <a:r>
                  <a:rPr lang="zh-TW" altLang="en-US" sz="2400" dirty="0" smtClean="0">
                    <a:latin typeface="Times New Roman" charset="0"/>
                    <a:sym typeface="Wingdings" pitchFamily="2" charset="2"/>
                  </a:rPr>
                  <a:t>方程式各項係數皆為</a:t>
                </a:r>
                <a:r>
                  <a:rPr lang="en-US" altLang="zh-TW" sz="2400" dirty="0" smtClean="0">
                    <a:latin typeface="Times New Roman" charset="0"/>
                    <a:sym typeface="Wingdings" pitchFamily="2" charset="2"/>
                  </a:rPr>
                  <a:t>0</a:t>
                </a:r>
                <a:r>
                  <a:rPr lang="zh-TW" altLang="en-US" sz="2400" dirty="0" smtClean="0">
                    <a:latin typeface="Times New Roman" charset="0"/>
                    <a:sym typeface="Wingdings" pitchFamily="2" charset="2"/>
                  </a:rPr>
                  <a:t>到</a:t>
                </a:r>
                <a:r>
                  <a:rPr lang="en-US" altLang="zh-TW" sz="2400" dirty="0" smtClean="0">
                    <a:latin typeface="Times New Roman" charset="0"/>
                    <a:sym typeface="Wingdings" pitchFamily="2" charset="2"/>
                  </a:rPr>
                  <a:t>1000</a:t>
                </a:r>
                <a:r>
                  <a:rPr lang="zh-TW" altLang="en-US" sz="2400" dirty="0" smtClean="0">
                    <a:latin typeface="Times New Roman" charset="0"/>
                    <a:sym typeface="Wingdings" pitchFamily="2" charset="2"/>
                  </a:rPr>
                  <a:t>，所以利用各項除</a:t>
                </a:r>
                <a:r>
                  <a:rPr lang="en-US" altLang="zh-TW" sz="2400" dirty="0" smtClean="0">
                    <a:latin typeface="Times New Roman" charset="0"/>
                    <a:sym typeface="Wingdings" pitchFamily="2" charset="2"/>
                  </a:rPr>
                  <a:t>1001</a:t>
                </a:r>
                <a:r>
                  <a:rPr lang="zh-TW" altLang="en-US" sz="2400" dirty="0" smtClean="0">
                    <a:latin typeface="Times New Roman" charset="0"/>
                    <a:sym typeface="Wingdings" pitchFamily="2" charset="2"/>
                  </a:rPr>
                  <a:t>的餘數來找到係數，使用</a:t>
                </a:r>
                <a:r>
                  <a:rPr lang="en-US" altLang="zh-TW" sz="2400" dirty="0" smtClean="0">
                    <a:latin typeface="Times New Roman" charset="0"/>
                    <a:sym typeface="Wingdings" pitchFamily="2" charset="2"/>
                  </a:rPr>
                  <a:t>1001</a:t>
                </a:r>
                <a:r>
                  <a:rPr lang="zh-TW" altLang="en-US" sz="2400" dirty="0" smtClean="0">
                    <a:latin typeface="Times New Roman" charset="0"/>
                    <a:sym typeface="Wingdings" pitchFamily="2" charset="2"/>
                  </a:rPr>
                  <a:t>就不會因為在</a:t>
                </a:r>
                <a:r>
                  <a:rPr lang="en-US" altLang="zh-TW" sz="2400" dirty="0" smtClean="0">
                    <a:latin typeface="Times New Roman" charset="0"/>
                    <a:sym typeface="Wingdings" pitchFamily="2" charset="2"/>
                  </a:rPr>
                  <a:t>0~1000</a:t>
                </a:r>
                <a:r>
                  <a:rPr lang="zh-TW" altLang="en-US" sz="2400" dirty="0" smtClean="0">
                    <a:latin typeface="Times New Roman" charset="0"/>
                    <a:sym typeface="Wingdings" pitchFamily="2" charset="2"/>
                  </a:rPr>
                  <a:t>範圍內而造成有重複餘數出現的情況。</a:t>
                </a:r>
                <a:endParaRPr lang="en-US" altLang="zh-TW" sz="2400" dirty="0" smtClean="0">
                  <a:latin typeface="Times New Roman" charset="0"/>
                  <a:sym typeface="Wingdings" pitchFamily="2" charset="2"/>
                </a:endParaRPr>
              </a:p>
              <a:p>
                <a:pPr eaLnBrk="1" hangingPunct="1">
                  <a:lnSpc>
                    <a:spcPct val="90000"/>
                  </a:lnSpc>
                </a:pPr>
                <a:r>
                  <a:rPr lang="zh-TW" altLang="en-US" sz="2400" b="1" dirty="0" smtClean="0">
                    <a:solidFill>
                      <a:srgbClr val="3BA943"/>
                    </a:solidFill>
                    <a:latin typeface="Times New Roman" charset="0"/>
                  </a:rPr>
                  <a:t>解法範例：</a:t>
                </a:r>
                <a:endParaRPr lang="en-US" altLang="zh-TW" sz="2400" dirty="0">
                  <a:latin typeface="Times New Roman" charset="0"/>
                  <a:sym typeface="Wingdings" pitchFamily="2" charset="2"/>
                </a:endParaRPr>
              </a:p>
              <a:p>
                <a:pPr eaLnBrk="1" hangingPunct="1">
                  <a:lnSpc>
                    <a:spcPct val="90000"/>
                  </a:lnSpc>
                </a:pPr>
                <a:endParaRPr lang="en-US" altLang="zh-TW" sz="2400" dirty="0" smtClean="0">
                  <a:latin typeface="Times New Roman" charset="0"/>
                  <a:sym typeface="Wingdings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1001</m:t>
                          </m:r>
                        </m:e>
                      </m:d>
                      <m:r>
                        <a:rPr lang="en-US" altLang="zh-TW" sz="18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TW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zh-TW" sz="1800" b="0" i="1" smtClean="0">
                          <a:latin typeface="Cambria Math"/>
                        </a:rPr>
                        <m:t>1001+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1001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TW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1001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altLang="zh-TW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</a:rPr>
                            <m:t>4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1001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US" altLang="zh-TW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1001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US" altLang="zh-TW" sz="1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</a:rPr>
                            <m:t>6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/>
                            </a:rPr>
                            <m:t>1001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altLang="zh-TW" sz="1800" b="1" dirty="0" smtClean="0">
                  <a:solidFill>
                    <a:srgbClr val="3BA943"/>
                  </a:solidFill>
                  <a:latin typeface="Times New Roman" charset="0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zh-TW" altLang="en-US" sz="1800" b="1" dirty="0" smtClean="0">
                  <a:solidFill>
                    <a:srgbClr val="3BA943"/>
                  </a:solidFill>
                  <a:latin typeface="Times New Roman" charset="0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𝑓</m:t>
                      </m:r>
                      <m:d>
                        <m:d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1001</m:t>
                          </m:r>
                        </m:e>
                      </m:d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%1001=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0</m:t>
                          </m:r>
                        </m:sub>
                      </m:sSub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+0+0+0+…</m:t>
                      </m:r>
                    </m:oMath>
                  </m:oMathPara>
                </a14:m>
                <a:endParaRPr lang="en-US" altLang="zh-TW" sz="1800" dirty="0" smtClean="0">
                  <a:latin typeface="Times New Roman" charset="0"/>
                  <a:sym typeface="Wingdings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zh-TW" sz="1800" dirty="0" smtClean="0">
                  <a:latin typeface="Times New Roman" charset="0"/>
                  <a:sym typeface="Wingdings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1800" b="0" i="1" smtClean="0">
                                  <a:latin typeface="Cambria Math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latin typeface="Cambria Math"/>
                                  <a:sym typeface="Wingdings" pitchFamily="2" charset="2"/>
                                </a:rPr>
                                <m:t>1001</m:t>
                              </m:r>
                            </m:e>
                          </m:d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1800" b="0" i="1" smtClean="0">
                                  <a:latin typeface="Cambria Math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TW" sz="1800" b="0" i="1" smtClean="0">
                                  <a:latin typeface="Cambria Math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1800" b="0" i="1" smtClean="0">
                                  <a:latin typeface="Cambria Math"/>
                                  <a:sym typeface="Wingdings" pitchFamily="2" charset="2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TW" sz="1800" i="1">
                          <a:latin typeface="Cambria Math"/>
                          <a:ea typeface="Cambria Math"/>
                          <a:sym typeface="Wingdings" pitchFamily="2" charset="2"/>
                        </a:rPr>
                        <m:t>÷</m:t>
                      </m:r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1001=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1001+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1001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2</m:t>
                          </m:r>
                        </m:sup>
                      </m:sSup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4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1001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3</m:t>
                          </m:r>
                        </m:sup>
                      </m:sSup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1001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4</m:t>
                          </m:r>
                        </m:sup>
                      </m:sSup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+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6</m:t>
                          </m:r>
                        </m:sub>
                      </m:sSub>
                      <m:sSup>
                        <m:sSup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p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1001</m:t>
                          </m:r>
                        </m:e>
                        <m:sup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altLang="zh-TW" sz="1800" b="0" dirty="0" smtClean="0">
                  <a:latin typeface="Times New Roman" charset="0"/>
                  <a:sym typeface="Wingdings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zh-TW" sz="1800" b="0" dirty="0" smtClean="0">
                  <a:latin typeface="Times New Roman" charset="0"/>
                  <a:sym typeface="Wingdings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1800" b="0" i="1" smtClean="0">
                                  <a:latin typeface="Cambria Math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TW" sz="1800" b="0" i="1" smtClean="0">
                                  <a:latin typeface="Cambria Math"/>
                                  <a:sym typeface="Wingdings" pitchFamily="2" charset="2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TW" sz="1800" b="0" i="1" smtClean="0">
                                      <a:latin typeface="Cambria Math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800" b="0" i="1" smtClean="0">
                                      <a:latin typeface="Cambria Math"/>
                                      <a:sym typeface="Wingdings" pitchFamily="2" charset="2"/>
                                    </a:rPr>
                                    <m:t>1001</m:t>
                                  </m:r>
                                </m:e>
                              </m:d>
                              <m:r>
                                <a:rPr lang="en-US" altLang="zh-TW" sz="1800" b="0" i="1" smtClean="0">
                                  <a:latin typeface="Cambria Math"/>
                                  <a:sym typeface="Wingdings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1800" b="0" i="1" smtClean="0">
                                      <a:latin typeface="Cambria Math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smtClean="0">
                                      <a:latin typeface="Cambria Math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1800" b="0" i="1" smtClean="0">
                                      <a:latin typeface="Cambria Math"/>
                                      <a:sym typeface="Wingdings" pitchFamily="2" charset="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%1001=</m:t>
                      </m:r>
                      <m:sSub>
                        <m:sSubPr>
                          <m:ctrlP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1800" b="0" i="1" smtClean="0">
                              <a:latin typeface="Cambria Math"/>
                              <a:sym typeface="Wingdings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TW" sz="1800" b="0" i="1" smtClean="0">
                          <a:latin typeface="Cambria Math"/>
                          <a:sym typeface="Wingdings" pitchFamily="2" charset="2"/>
                        </a:rPr>
                        <m:t>+</m:t>
                      </m:r>
                      <m:r>
                        <a:rPr lang="en-US" altLang="zh-TW" sz="1800" b="0" i="0" smtClean="0">
                          <a:latin typeface="Cambria Math"/>
                          <a:sym typeface="Wingdings" pitchFamily="2" charset="2"/>
                        </a:rPr>
                        <m:t>0+0+…</m:t>
                      </m:r>
                    </m:oMath>
                  </m:oMathPara>
                </a14:m>
                <a:endParaRPr lang="en-US" altLang="zh-TW" sz="1800" b="0" dirty="0" smtClean="0">
                  <a:latin typeface="Times New Roman" charset="0"/>
                  <a:sym typeface="Wingdings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 smtClean="0">
                    <a:latin typeface="Times New Roman" charset="0"/>
                  </a:rPr>
                  <a:t>…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dirty="0">
                    <a:latin typeface="Times New Roman" charset="0"/>
                  </a:rPr>
                  <a:t>依</a:t>
                </a:r>
                <a:r>
                  <a:rPr lang="zh-TW" altLang="en-US" sz="2400" dirty="0" smtClean="0">
                    <a:latin typeface="Times New Roman" charset="0"/>
                  </a:rPr>
                  <a:t>此可得到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</a:rPr>
                      <m:t>~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zh-TW" altLang="en-US" sz="2400" dirty="0" smtClean="0">
                    <a:latin typeface="Times New Roman" charset="0"/>
                  </a:rPr>
                  <a:t>，接著利用係數帶入所有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~</m:t>
                    </m:r>
                    <m:r>
                      <a:rPr lang="en-US" altLang="zh-TW" sz="2400" b="0" i="1" smtClean="0">
                        <a:latin typeface="Cambria Math"/>
                      </a:rPr>
                      <m:t>𝑓</m:t>
                    </m:r>
                    <m:r>
                      <a:rPr lang="en-US" altLang="zh-TW" sz="2400" b="0" i="1" smtClean="0">
                        <a:latin typeface="Cambria Math"/>
                      </a:rPr>
                      <m:t>(1500)</m:t>
                    </m:r>
                  </m:oMath>
                </a14:m>
                <a:r>
                  <a:rPr lang="zh-TW" altLang="en-US" sz="2400" dirty="0" smtClean="0">
                    <a:latin typeface="Times New Roman" charset="0"/>
                  </a:rPr>
                  <a:t>，檢查係數是否成立。</a:t>
                </a:r>
                <a:endParaRPr lang="zh-TW" altLang="en-US" sz="2400" dirty="0">
                  <a:latin typeface="Times New Roman" charset="0"/>
                </a:endParaRPr>
              </a:p>
            </p:txBody>
          </p:sp>
        </mc:Choice>
        <mc:Fallback>
          <p:sp>
            <p:nvSpPr>
              <p:cNvPr id="40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685800"/>
                <a:ext cx="8763000" cy="5622925"/>
              </a:xfrm>
              <a:blipFill rotWithShape="1">
                <a:blip r:embed="rId3"/>
                <a:stretch>
                  <a:fillRect l="-1113" t="-1518" r="-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1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431899A-7626-4E8D-9207-C56B05258DA8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9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zh-TW" altLang="en-US" sz="2400" b="1" dirty="0" smtClean="0">
                    <a:solidFill>
                      <a:srgbClr val="3BA943"/>
                    </a:solidFill>
                    <a:latin typeface="Times New Roman" charset="0"/>
                  </a:rPr>
                  <a:t>討論：</a:t>
                </a:r>
              </a:p>
              <a:p>
                <a:pPr eaLnBrk="1" hangingPunct="1">
                  <a:lnSpc>
                    <a:spcPct val="90000"/>
                  </a:lnSpc>
                  <a:buFont typeface="Wingdings" pitchFamily="2" charset="2"/>
                  <a:buNone/>
                </a:pPr>
                <a:r>
                  <a:rPr lang="zh-TW" altLang="en-US" sz="2400" dirty="0" smtClean="0">
                    <a:latin typeface="Times New Roman" charset="0"/>
                  </a:rPr>
                  <a:t>	</a:t>
                </a:r>
                <a:r>
                  <a:rPr lang="en-US" altLang="zh-TW" sz="2400" dirty="0" smtClean="0">
                    <a:latin typeface="Times New Roman" charset="0"/>
                  </a:rPr>
                  <a:t>(1) </a:t>
                </a:r>
                <a:r>
                  <a:rPr lang="zh-TW" altLang="en-US" sz="2400" dirty="0" smtClean="0">
                    <a:latin typeface="Times New Roman" charset="0"/>
                  </a:rPr>
                  <a:t>因為輸入數字為</a:t>
                </a:r>
                <a:r>
                  <a:rPr lang="en-US" altLang="zh-TW" sz="2400" dirty="0" smtClean="0">
                    <a:latin typeface="Times New Roman" charset="0"/>
                  </a:rPr>
                  <a:t>64-bit</a:t>
                </a:r>
                <a:r>
                  <a:rPr lang="zh-TW" altLang="en-US" sz="2400" dirty="0" smtClean="0">
                    <a:latin typeface="Times New Roman" charset="0"/>
                  </a:rPr>
                  <a:t>，所以變數要用</a:t>
                </a:r>
                <a:r>
                  <a:rPr lang="en-US" altLang="zh-TW" sz="2400" dirty="0" smtClean="0">
                    <a:latin typeface="Times New Roman" charset="0"/>
                  </a:rPr>
                  <a:t>unsigned long </a:t>
                </a:r>
                <a:r>
                  <a:rPr lang="en-US" altLang="zh-TW" sz="2400" dirty="0" err="1" smtClean="0">
                    <a:latin typeface="Times New Roman" charset="0"/>
                  </a:rPr>
                  <a:t>long</a:t>
                </a:r>
                <a:r>
                  <a:rPr lang="en-US" altLang="zh-TW" sz="2400" dirty="0" smtClean="0">
                    <a:latin typeface="Times New Roman" charset="0"/>
                  </a:rPr>
                  <a:t> </a:t>
                </a:r>
                <a:r>
                  <a:rPr lang="en-US" altLang="zh-TW" sz="2400" dirty="0" err="1" smtClean="0">
                    <a:latin typeface="Times New Roman" charset="0"/>
                  </a:rPr>
                  <a:t>int</a:t>
                </a:r>
                <a:r>
                  <a:rPr lang="zh-TW" altLang="en-US" sz="2400" dirty="0" smtClean="0">
                    <a:latin typeface="Times New Roman" charset="0"/>
                  </a:rPr>
                  <a:t>。</a:t>
                </a:r>
              </a:p>
              <a:p>
                <a:pPr eaLnBrk="1" hangingPunct="1">
                  <a:lnSpc>
                    <a:spcPct val="90000"/>
                  </a:lnSpc>
                  <a:buFont typeface="Wingdings" pitchFamily="2" charset="2"/>
                  <a:buNone/>
                </a:pPr>
                <a:r>
                  <a:rPr lang="zh-TW" altLang="en-US" sz="2400" dirty="0" smtClean="0">
                    <a:latin typeface="Times New Roman" charset="0"/>
                  </a:rPr>
                  <a:t>	</a:t>
                </a:r>
                <a:r>
                  <a:rPr lang="en-US" altLang="zh-TW" sz="2400" dirty="0" smtClean="0">
                    <a:latin typeface="Times New Roman" charset="0"/>
                  </a:rPr>
                  <a:t>(2) </a:t>
                </a:r>
                <a:r>
                  <a:rPr lang="zh-TW" altLang="en-US" sz="2400" dirty="0" smtClean="0">
                    <a:latin typeface="Times New Roman" charset="0"/>
                  </a:rPr>
                  <a:t>運算指數不能使用</a:t>
                </a:r>
                <a:r>
                  <a:rPr lang="en-US" altLang="zh-TW" sz="2400" dirty="0" smtClean="0">
                    <a:latin typeface="Times New Roman" charset="0"/>
                  </a:rPr>
                  <a:t>pow(</a:t>
                </a:r>
                <a:r>
                  <a:rPr lang="en-US" altLang="zh-TW" sz="2400" dirty="0" err="1" smtClean="0">
                    <a:latin typeface="Times New Roman" charset="0"/>
                  </a:rPr>
                  <a:t>a,b</a:t>
                </a:r>
                <a:r>
                  <a:rPr lang="en-US" altLang="zh-TW" sz="2400" dirty="0" smtClean="0">
                    <a:latin typeface="Times New Roman" charset="0"/>
                  </a:rPr>
                  <a:t>)</a:t>
                </a:r>
                <a:r>
                  <a:rPr lang="zh-TW" altLang="en-US" sz="2400" dirty="0" smtClean="0">
                    <a:latin typeface="Times New Roman" charset="0"/>
                  </a:rPr>
                  <a:t>，因為</a:t>
                </a:r>
                <a:r>
                  <a:rPr lang="en-US" altLang="zh-TW" sz="2400" dirty="0" smtClean="0">
                    <a:latin typeface="Times New Roman" charset="0"/>
                  </a:rPr>
                  <a:t>pow</a:t>
                </a:r>
                <a:r>
                  <a:rPr lang="zh-TW" altLang="en-US" sz="2400" dirty="0" smtClean="0">
                    <a:latin typeface="Times New Roman" charset="0"/>
                  </a:rPr>
                  <a:t>函式的型態為</a:t>
                </a:r>
                <a:r>
                  <a:rPr lang="en-US" altLang="zh-TW" sz="2400" dirty="0" smtClean="0">
                    <a:latin typeface="Times New Roman" charset="0"/>
                  </a:rPr>
                  <a:t>float</a:t>
                </a:r>
                <a:r>
                  <a:rPr lang="zh-TW" altLang="en-US" sz="2400" dirty="0" smtClean="0">
                    <a:latin typeface="Times New Roman" charset="0"/>
                  </a:rPr>
                  <a:t>，所以當我們要算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1500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TW" altLang="en-US" sz="2400" dirty="0" smtClean="0">
                    <a:latin typeface="Times New Roman" charset="0"/>
                  </a:rPr>
                  <a:t>用</a:t>
                </a:r>
                <a:r>
                  <a:rPr lang="en-US" altLang="zh-TW" sz="2400" dirty="0" smtClean="0">
                    <a:latin typeface="Times New Roman" charset="0"/>
                  </a:rPr>
                  <a:t>pow(</a:t>
                </a:r>
                <a:r>
                  <a:rPr lang="en-US" altLang="zh-TW" sz="2400" dirty="0" err="1" smtClean="0">
                    <a:latin typeface="Times New Roman" charset="0"/>
                  </a:rPr>
                  <a:t>int,int</a:t>
                </a:r>
                <a:r>
                  <a:rPr lang="en-US" altLang="zh-TW" sz="2400" dirty="0" smtClean="0">
                    <a:latin typeface="Times New Roman" charset="0"/>
                  </a:rPr>
                  <a:t>)</a:t>
                </a:r>
                <a:r>
                  <a:rPr lang="zh-TW" altLang="en-US" sz="2400" dirty="0" smtClean="0">
                    <a:latin typeface="Times New Roman" charset="0"/>
                  </a:rPr>
                  <a:t>存到</a:t>
                </a:r>
                <a:r>
                  <a:rPr lang="en-US" altLang="zh-TW" sz="2400" dirty="0" smtClean="0">
                    <a:latin typeface="Times New Roman" charset="0"/>
                  </a:rPr>
                  <a:t>unsigned long </a:t>
                </a:r>
                <a:r>
                  <a:rPr lang="en-US" altLang="zh-TW" sz="2400" dirty="0" err="1" smtClean="0">
                    <a:latin typeface="Times New Roman" charset="0"/>
                  </a:rPr>
                  <a:t>long</a:t>
                </a:r>
                <a:r>
                  <a:rPr lang="en-US" altLang="zh-TW" sz="2400" dirty="0" smtClean="0">
                    <a:latin typeface="Times New Roman" charset="0"/>
                  </a:rPr>
                  <a:t> </a:t>
                </a:r>
                <a:r>
                  <a:rPr lang="en-US" altLang="zh-TW" sz="2400" dirty="0" err="1" smtClean="0">
                    <a:latin typeface="Times New Roman" charset="0"/>
                  </a:rPr>
                  <a:t>int</a:t>
                </a:r>
                <a:r>
                  <a:rPr lang="zh-TW" altLang="en-US" sz="2400" dirty="0" smtClean="0">
                    <a:latin typeface="Times New Roman" charset="0"/>
                  </a:rPr>
                  <a:t>時，型態可能會發生錯誤，所以指數運算需要自己寫</a:t>
                </a:r>
                <a:r>
                  <a:rPr lang="zh-TW" altLang="en-US" sz="2400" dirty="0" smtClean="0">
                    <a:latin typeface="Times New Roman" charset="0"/>
                  </a:rPr>
                  <a:t>。</a:t>
                </a:r>
                <a:endParaRPr lang="en-US" altLang="zh-TW" sz="2400" dirty="0" smtClean="0">
                  <a:latin typeface="Times New Roman" charset="0"/>
                </a:endParaRPr>
              </a:p>
              <a:p>
                <a:pPr eaLnBrk="1" hangingPunct="1">
                  <a:lnSpc>
                    <a:spcPct val="90000"/>
                  </a:lnSpc>
                  <a:buFont typeface="Wingdings" pitchFamily="2" charset="2"/>
                  <a:buNone/>
                </a:pPr>
                <a:r>
                  <a:rPr lang="en-US" altLang="zh-TW" sz="2400" dirty="0">
                    <a:latin typeface="Times New Roman" charset="0"/>
                  </a:rPr>
                  <a:t>	</a:t>
                </a:r>
                <a:r>
                  <a:rPr lang="en-US" altLang="zh-TW" sz="2400" dirty="0" smtClean="0">
                    <a:latin typeface="Times New Roman" charset="0"/>
                  </a:rPr>
                  <a:t>(3)</a:t>
                </a:r>
                <a:r>
                  <a:rPr lang="zh-TW" altLang="en-US" sz="2400" dirty="0" smtClean="0">
                    <a:latin typeface="Times New Roman" charset="0"/>
                  </a:rPr>
                  <a:t>計算方程式係數的方法也可用高斯消去法，可是這題數字過大，可能會算出很醜或是算不出答案，如下</a:t>
                </a:r>
                <a:endParaRPr lang="en-US" altLang="zh-TW" sz="2400" dirty="0" smtClean="0">
                  <a:latin typeface="Times New Roman" charset="0"/>
                </a:endParaRPr>
              </a:p>
              <a:p>
                <a:pPr eaLnBrk="1" hangingPunct="1">
                  <a:lnSpc>
                    <a:spcPct val="90000"/>
                  </a:lnSpc>
                  <a:buFont typeface="Wingdings" pitchFamily="2" charset="2"/>
                  <a:buNone/>
                </a:pPr>
                <a:endParaRPr lang="en-US" altLang="zh-TW" sz="2400" dirty="0" smtClean="0">
                  <a:latin typeface="Times New Roman" charset="0"/>
                </a:endParaRPr>
              </a:p>
              <a:p>
                <a:pPr eaLnBrk="1" hangingPunct="1">
                  <a:lnSpc>
                    <a:spcPct val="90000"/>
                  </a:lnSpc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4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6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7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zh-TW" altLang="en-US" sz="2400" b="0" i="1" smtClean="0">
                                    <a:latin typeface="Cambria Math"/>
                                  </a:rPr>
                                  <m:t>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9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16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25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36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49</m:t>
                                                  </m:r>
                                                </m:e>
                                              </m:mr>
                                            </m:m>
                                            <m:r>
                                              <a:rPr lang="zh-TW" altLang="en-US" sz="2400" b="0" i="1" smtClean="0">
                                                <a:latin typeface="Cambria Math"/>
                                              </a:rPr>
                                              <m:t>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zh-TW" altLang="en-US" sz="2400" b="0" i="1" smtClean="0">
                                    <a:latin typeface="Cambria Math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8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27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64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125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216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343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16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81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256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625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1296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2401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zh-TW" altLang="en-US" sz="2400" b="0" i="1" smtClean="0">
                                    <a:latin typeface="Cambria Math"/>
                                  </a:rPr>
                                  <m:t>   </m:t>
                                </m:r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32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243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1024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3125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7776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16807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i="1" smtClean="0"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b="0" i="1" smtClean="0">
                                          <a:latin typeface="Cambria Math"/>
                                        </a:rPr>
                                        <m:t>64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729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/>
                                              </a:rPr>
                                              <m:t>4096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15625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46656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US" altLang="zh-TW" sz="2400" b="0" i="1" smtClean="0">
                                                      <a:latin typeface="Cambria Math"/>
                                                    </a:rPr>
                                                    <m:t>117649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400" i="1" smtClean="0">
                          <a:latin typeface="Cambria Math"/>
                          <a:ea typeface="Cambria Math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/>
                                  <a:ea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5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6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400" i="1" smtClean="0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 smtClean="0">
                                  <a:latin typeface="Cambria Math"/>
                                  <a:ea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  <a:ea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40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40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5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40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𝑣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400" b="0" i="1" smtClean="0">
                                                    <a:latin typeface="Cambria Math"/>
                                                    <a:ea typeface="Cambria Math"/>
                                                  </a:rPr>
                                                  <m:t>6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400" dirty="0" smtClean="0">
                  <a:latin typeface="Times New Roman" charset="0"/>
                </a:endParaRPr>
              </a:p>
            </p:txBody>
          </p:sp>
        </mc:Choice>
        <mc:Fallback>
          <p:sp>
            <p:nvSpPr>
              <p:cNvPr id="40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  <a:blipFill rotWithShape="1">
                <a:blip r:embed="rId3"/>
                <a:stretch>
                  <a:fillRect l="-151" t="-1518" b="-23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30148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2607</TotalTime>
  <Words>432</Words>
  <Application>Microsoft Office PowerPoint</Application>
  <PresentationFormat>如螢幕大小 (4:3)</PresentationFormat>
  <Paragraphs>50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Blends</vt:lpstr>
      <vt:lpstr>11319: Stupid Sequence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sp</cp:lastModifiedBy>
  <cp:revision>121</cp:revision>
  <dcterms:created xsi:type="dcterms:W3CDTF">1601-01-01T00:00:00Z</dcterms:created>
  <dcterms:modified xsi:type="dcterms:W3CDTF">2017-04-23T15:31:46Z</dcterms:modified>
</cp:coreProperties>
</file>