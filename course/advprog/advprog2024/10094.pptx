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"/>
  </p:notesMasterIdLst>
  <p:sldIdLst>
    <p:sldId id="307" r:id="rId2"/>
    <p:sldId id="309" r:id="rId3"/>
    <p:sldId id="312" r:id="rId4"/>
    <p:sldId id="315" r:id="rId5"/>
  </p:sldIdLst>
  <p:sldSz cx="9144000" cy="6858000" type="screen4x3"/>
  <p:notesSz cx="6832600" cy="99631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3BA943"/>
    <a:srgbClr val="20C428"/>
    <a:srgbClr val="66FF3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29" autoAdjust="0"/>
    <p:restoredTop sz="92138" autoAdjust="0"/>
  </p:normalViewPr>
  <p:slideViewPr>
    <p:cSldViewPr>
      <p:cViewPr varScale="1">
        <p:scale>
          <a:sx n="63" d="100"/>
          <a:sy n="63" d="100"/>
        </p:scale>
        <p:origin x="-1092" y="-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53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xmlns="" id="{D7366EB4-F41B-474A-A07A-378076858A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xmlns="" id="{C543C499-38B7-4E14-9035-0447816D38A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xmlns="" id="{DDB6B1AE-1259-4CF1-9F08-F34F9A98177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7713"/>
            <a:ext cx="4981575" cy="3735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xmlns="" id="{E5F2DEB1-8EA9-45A3-B1BB-04AD49A4CD5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32338"/>
            <a:ext cx="5010150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xmlns="" id="{4A236D72-B470-475C-9B54-F994C4E3B2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4675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xmlns="" id="{FFC4446D-739F-48A5-ACDC-1B36E0F426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64675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44149C6-61AE-46AB-BFD7-114B7B0084C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xmlns="" id="{B7B4AEFA-580E-4E4D-BC3D-0E21CB1402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2E0800C-8DD3-47D5-BD70-598360374E1D}" type="slidenum">
              <a:rPr lang="zh-TW" altLang="en-US" sz="1200"/>
              <a:pPr eaLnBrk="1" hangingPunct="1"/>
              <a:t>1</a:t>
            </a:fld>
            <a:endParaRPr lang="en-US" altLang="zh-TW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xmlns="" id="{67D18EDA-303C-4A48-A9B9-B435432E28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xmlns="" id="{26A90279-B2C6-4EA3-AB8F-55C29FB58A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xmlns="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xmlns="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xmlns="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xmlns="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3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xmlns="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xmlns="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xmlns="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4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xmlns="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xmlns="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xmlns="" id="{FB035E93-D2D7-4D3C-97AE-4987F621185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xmlns="" id="{576E5940-CD2F-44F1-BC0A-E16C1391E7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xmlns="" id="{5DC2C47D-419E-428C-9DE3-9F133D825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xmlns="" id="{A8EB8803-AFF1-44D0-A058-A1976894F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xmlns="" id="{25945846-3132-4FDE-A8B8-7ACD580D4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xmlns="" id="{38AC28C7-D593-42CA-BDCE-81E7C8D2F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xmlns="" id="{E60D9523-7A69-4FB0-9A6A-19E6D0630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xmlns="" id="{D9C02889-CD57-4E63-A485-A64B72C92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xmlns="" id="{4E39031C-AD5D-4E47-B011-ED226110F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xmlns="" id="{466C94DA-2653-4A28-B670-00A2330F32D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xmlns="" id="{70AC0211-3C42-44CA-A25C-6150EBFBCD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3B69B6-6A7F-44C8-987D-AC2ED335ECD5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xmlns="" id="{366F4F86-70E7-418D-8064-15D680F4B5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362200" y="6248400"/>
            <a:ext cx="4953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zh-TW" altLang="en-US"/>
              <a:t>1</a:t>
            </a:r>
            <a:endParaRPr lang="en-US" altLang="zh-TW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xmlns="" id="{264D577A-B904-4B8B-A26E-7AACB812A1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ABC43EB-01A7-4EA3-991F-58ADF908A24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261786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21DA4FF0-82A5-4152-B108-887FF642F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4E7C6-3C86-4F82-B236-B235DBF8F9F4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xmlns="" id="{9AA4E02B-D27B-452A-B50B-6EE5FA00BA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xmlns="" id="{394EB919-4E96-443F-ABD0-B34A93B9AC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4B5471-C1FF-4B8B-A461-8AF6123C81A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340447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67A1057E-D213-45AF-B204-73C21C7E8C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8FFE13-429C-44FD-94AB-0283300FCEDC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xmlns="" id="{99511D82-900A-4433-A272-A8B6E3DB5B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xmlns="" id="{452A882E-509C-4A06-847D-310C8B6110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AEE9A9-7C75-474A-96D2-83B54F6F2F4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387685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3998234D-5E2C-43F0-BDEF-9A3A1CD35A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D8D109-BD8E-4218-877E-FACB9A88959E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xmlns="" id="{CDC70D31-BBD0-445D-926D-C2EB80E2F6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BC35788B-116B-4A99-90E3-DF9F02DC41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8AE7E4-04A7-4E8D-8DCC-7D73BD1A5E1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3090066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AA033B61-C948-4955-967F-2362B9D27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2EFB0-EA9D-42EF-A85D-A43A05DFAFF4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xmlns="" id="{F1E7D2AC-A1E0-48EB-9754-52BE9EA960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xmlns="" id="{5663F081-94F4-40A0-988E-E7128E7B78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E41554-0D9B-4821-A2D8-85F421DBF2D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20244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xmlns="" id="{0FC178D7-8A2C-4C43-AECC-23932E80AC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7029D-76BA-4F03-A039-A4516D1FFCFB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xmlns="" id="{88C166F4-7F35-4C99-BA1C-0C013AD253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xmlns="" id="{C4B7FCC9-C9EF-4C04-BAC4-11566C4C69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43104-B157-4666-9AFC-E0BCC7B136C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119694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xmlns="" id="{B4CCB766-6919-4699-9390-7916DADEBB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4BE4A-50E2-44EE-8B45-441E502F2206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xmlns="" id="{55ADB4D2-0BC9-4831-9926-05F9A4B19C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xmlns="" id="{47F30AC5-8673-451B-81D4-D1414ADFEB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D96857-00BC-40BA-B495-4E883453E12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121688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9523274B-F5B6-45A5-979E-B19D92503C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70BD7-FFED-4AFB-85B2-03658A5F4AF4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xmlns="" id="{DD4DFC51-1B19-430F-8665-AD82EF39B6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D9BAE61E-4150-4AC3-AF8E-893C0A30DD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20930D-EB19-4B70-8CD8-DEA66D03839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415596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332EE945-636C-46ED-8385-2E0DD9FB19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1F76B-E033-434A-A357-C49AB5C40254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xmlns="" id="{41C329D3-D167-46EA-8D96-5B597C3E0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A33D005C-2C0D-4B30-A042-54720756D3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BD6327-91B7-4672-A3BF-6A19883112E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210437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90DBC775-BA4C-456E-8EF8-F38C2F1505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7AC0D-9BE2-41C9-A056-17B6A0BA1478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xmlns="" id="{8FFA2A14-36A9-40A4-AF04-2FDAD09C62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xmlns="" id="{EFBB8050-744F-482F-99F1-4C9105C0DB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937D37-3BE5-4531-BE4C-A54B34D47B9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190790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07175" y="381000"/>
            <a:ext cx="1947863" cy="5791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692775" cy="5791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B95E4B58-ED38-477B-AD50-448DE5847B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4018C-FAF8-48CA-9277-4111E36ABFDF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xmlns="" id="{5D3A827D-B5A4-45BE-BE6C-AD66503134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xmlns="" id="{811E3E8D-1280-4150-9966-D704CEC50F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466DC6-0172-44A6-948B-2CCA302BE18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215730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>
            <a:extLst>
              <a:ext uri="{FF2B5EF4-FFF2-40B4-BE49-F238E27FC236}">
                <a16:creationId xmlns:a16="http://schemas.microsoft.com/office/drawing/2014/main" xmlns="" id="{163A0A1D-6781-49F1-817C-EB9C5DC2D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10">
            <a:extLst>
              <a:ext uri="{FF2B5EF4-FFF2-40B4-BE49-F238E27FC236}">
                <a16:creationId xmlns:a16="http://schemas.microsoft.com/office/drawing/2014/main" xmlns="" id="{7DA0B45B-6A89-4476-9A7F-A24A702E7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xmlns="" id="{3779CCB2-071C-4694-B235-7D041EFDB9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6F07F4B-4B61-40A0-8F9D-5A536BE70FB6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xmlns="" id="{3B248EA0-7F56-4F35-81A4-4B77DCF4D5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324600"/>
            <a:ext cx="495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xmlns="" id="{CE05FFB4-FD8D-43FD-817B-C98CAE79CAC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chemeClr val="accent1"/>
                </a:solidFill>
              </a:defRPr>
            </a:lvl1pPr>
          </a:lstStyle>
          <a:p>
            <a:fld id="{627E0D55-5753-43DC-BEB0-ED783FC5A32C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投影片編號版面配置區 5">
            <a:extLst>
              <a:ext uri="{FF2B5EF4-FFF2-40B4-BE49-F238E27FC236}">
                <a16:creationId xmlns:a16="http://schemas.microsoft.com/office/drawing/2014/main" xmlns="" id="{B118347F-090B-4B24-B69F-5A5C34AD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E3123EA-FF01-4897-ABE0-3A2B8E32A241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xmlns="" id="{3952E695-8FAA-469F-9DBA-5EAB8B997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0"/>
            <a:ext cx="7772400" cy="2016224"/>
          </a:xfrm>
        </p:spPr>
        <p:txBody>
          <a:bodyPr/>
          <a:lstStyle/>
          <a:p>
            <a:pPr eaLnBrk="1" hangingPunct="1"/>
            <a:r>
              <a:rPr lang="en-US" altLang="zh-TW" b="1" dirty="0" smtClean="0">
                <a:latin typeface="Times New Roman" panose="02020603050405020304" pitchFamily="18" charset="0"/>
              </a:rPr>
              <a:t/>
            </a:r>
            <a:br>
              <a:rPr lang="en-US" altLang="zh-TW" b="1" dirty="0" smtClean="0">
                <a:latin typeface="Times New Roman" panose="02020603050405020304" pitchFamily="18" charset="0"/>
              </a:rPr>
            </a:br>
            <a:r>
              <a:rPr lang="en-US" altLang="zh-TW" b="1" dirty="0" smtClean="0">
                <a:latin typeface="Times New Roman" panose="02020603050405020304" pitchFamily="18" charset="0"/>
              </a:rPr>
              <a:t>10094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: Place the Guards(1)</a:t>
            </a:r>
            <a:r>
              <a:rPr lang="zh-TW" altLang="zh-TW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zh-TW" dirty="0" smtClean="0">
                <a:latin typeface="Times New Roman" pitchFamily="18" charset="0"/>
                <a:cs typeface="Times New Roman" pitchFamily="18" charset="0"/>
              </a:rPr>
            </a:b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xmlns="" id="{A7AE805D-078A-44B1-9791-EFD2EC57A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077200" cy="4789488"/>
          </a:xfrm>
        </p:spPr>
        <p:txBody>
          <a:bodyPr/>
          <a:lstStyle/>
          <a:p>
            <a:pPr eaLnBrk="1" hangingPunct="1"/>
            <a:r>
              <a:rPr lang="zh-TW" altLang="en-US" sz="2400" dirty="0" smtClean="0">
                <a:solidFill>
                  <a:schemeClr val="hlink"/>
                </a:solidFill>
                <a:latin typeface="Times New Roman" panose="02020603050405020304" pitchFamily="18" charset="0"/>
              </a:rPr>
              <a:t>★★★★☆</a:t>
            </a:r>
            <a:endParaRPr lang="zh-TW" altLang="en-US" sz="2400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+mn-ea"/>
              </a:rPr>
              <a:t>題組：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Problem Set Archive with Online Judge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+mn-ea"/>
              </a:rPr>
              <a:t>題號</a:t>
            </a:r>
            <a:r>
              <a:rPr lang="zh-TW" altLang="en-US" sz="2400" b="1" dirty="0" smtClean="0">
                <a:solidFill>
                  <a:srgbClr val="3BA943"/>
                </a:solidFill>
                <a:latin typeface="+mn-ea"/>
              </a:rPr>
              <a:t>：</a:t>
            </a:r>
            <a:r>
              <a:rPr lang="zh-TW" altLang="en-US" sz="2400" dirty="0" smtClean="0"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94</a:t>
            </a:r>
            <a:r>
              <a:rPr lang="zh-TW" alt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Place the Guards(1)</a:t>
            </a: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+mn-ea"/>
              </a:rPr>
              <a:t>解題者</a:t>
            </a:r>
            <a:r>
              <a:rPr lang="zh-TW" altLang="en-US" sz="2400" b="1" dirty="0" smtClean="0">
                <a:solidFill>
                  <a:srgbClr val="3BA943"/>
                </a:solidFill>
                <a:latin typeface="+mn-ea"/>
              </a:rPr>
              <a:t>：</a:t>
            </a:r>
            <a:r>
              <a:rPr lang="zh-TW" altLang="en-US" sz="2400" dirty="0" smtClean="0">
                <a:latin typeface="+mn-ea"/>
              </a:rPr>
              <a:t>林東毅</a:t>
            </a:r>
            <a:endParaRPr lang="zh-TW" altLang="en-US" sz="2400" dirty="0">
              <a:latin typeface="+mn-ea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+mn-ea"/>
              </a:rPr>
              <a:t>解題日期：</a:t>
            </a:r>
            <a:r>
              <a:rPr lang="zh-TW" altLang="en-US" sz="2400" dirty="0" smtClean="0">
                <a:latin typeface="Times New Roman" pitchFamily="18" charset="0"/>
                <a:cs typeface="Times New Roman" pitchFamily="18" charset="0"/>
              </a:rPr>
              <a:t>20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zh-TW" altLang="en-US" sz="2400" dirty="0" smtClean="0">
                <a:latin typeface="Times New Roman" pitchFamily="18" charset="0"/>
                <a:cs typeface="Times New Roman" pitchFamily="18" charset="0"/>
              </a:rPr>
              <a:t> 年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zh-TW" altLang="en-US" sz="2400" dirty="0" smtClean="0">
                <a:latin typeface="Times New Roman" pitchFamily="18" charset="0"/>
                <a:cs typeface="Times New Roman" pitchFamily="18" charset="0"/>
              </a:rPr>
              <a:t> 月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zh-TW" altLang="en-US" sz="2400" dirty="0" smtClean="0">
                <a:latin typeface="Times New Roman" pitchFamily="18" charset="0"/>
                <a:cs typeface="Times New Roman" pitchFamily="18" charset="0"/>
              </a:rPr>
              <a:t> 日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+mn-ea"/>
              </a:rPr>
              <a:t>題意</a:t>
            </a:r>
            <a:r>
              <a:rPr lang="zh-TW" altLang="en-US" sz="2400" b="1" dirty="0" smtClean="0">
                <a:solidFill>
                  <a:srgbClr val="3BA943"/>
                </a:solidFill>
                <a:latin typeface="+mn-ea"/>
              </a:rPr>
              <a:t>：</a:t>
            </a:r>
            <a:r>
              <a:rPr lang="zh-TW" altLang="en-US" sz="2400" dirty="0" smtClean="0">
                <a:latin typeface="+mn-ea"/>
              </a:rPr>
              <a:t>給定一個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n*n </a:t>
            </a:r>
            <a:r>
              <a:rPr lang="zh-TW" altLang="en-US" sz="2400" dirty="0" smtClean="0">
                <a:latin typeface="+mn-ea"/>
              </a:rPr>
              <a:t>的方格和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400" dirty="0" smtClean="0">
                <a:latin typeface="+mn-ea"/>
              </a:rPr>
              <a:t> </a:t>
            </a:r>
            <a:r>
              <a:rPr lang="zh-TW" altLang="en-US" sz="2400" dirty="0" smtClean="0">
                <a:latin typeface="+mn-ea"/>
              </a:rPr>
              <a:t>個守衛，找出一種排法使守衛不會看見彼此。</a:t>
            </a:r>
            <a:endParaRPr lang="zh-TW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zh-TW" altLang="en-US" sz="2400" dirty="0">
              <a:latin typeface="細明體" pitchFamily="49" charset="-120"/>
              <a:ea typeface="細明體" pitchFamily="49" charset="-120"/>
              <a:sym typeface="Wingdings" panose="05000000000000000000" pitchFamily="2" charset="2"/>
            </a:endParaRPr>
          </a:p>
        </p:txBody>
      </p:sp>
      <p:pic>
        <p:nvPicPr>
          <p:cNvPr id="5" name="圖片 4" descr="螢幕擷取畫面 (404).png"/>
          <p:cNvPicPr>
            <a:picLocks noChangeAspect="1"/>
          </p:cNvPicPr>
          <p:nvPr/>
        </p:nvPicPr>
        <p:blipFill>
          <a:blip r:embed="rId3" cstate="print"/>
          <a:srcRect l="28738" t="37799" r="26375" b="25801"/>
          <a:stretch>
            <a:fillRect/>
          </a:stretch>
        </p:blipFill>
        <p:spPr>
          <a:xfrm>
            <a:off x="3851920" y="4293096"/>
            <a:ext cx="4735911" cy="216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xmlns="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xmlns="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r>
              <a:rPr lang="zh-TW" altLang="en-US" sz="2400" b="1" dirty="0">
                <a:solidFill>
                  <a:srgbClr val="3BA943"/>
                </a:solidFill>
                <a:latin typeface="+mn-ea"/>
              </a:rPr>
              <a:t>題意範例</a:t>
            </a:r>
            <a:r>
              <a:rPr lang="zh-TW" altLang="en-US" sz="2400" b="1" dirty="0" smtClean="0">
                <a:solidFill>
                  <a:srgbClr val="3BA943"/>
                </a:solidFill>
                <a:latin typeface="+mn-ea"/>
              </a:rPr>
              <a:t>：</a:t>
            </a:r>
            <a:r>
              <a:rPr lang="zh-TW" altLang="en-US" sz="2400" dirty="0">
                <a:solidFill>
                  <a:srgbClr val="3BA943"/>
                </a:solidFill>
                <a:latin typeface="+mn-ea"/>
              </a:rPr>
              <a:t> </a:t>
            </a:r>
            <a:endParaRPr lang="en-US" altLang="zh-TW" sz="2400" dirty="0" smtClean="0">
              <a:solidFill>
                <a:srgbClr val="3BA943"/>
              </a:solidFill>
              <a:latin typeface="+mn-ea"/>
            </a:endParaRPr>
          </a:p>
          <a:p>
            <a:pPr>
              <a:buNone/>
            </a:pPr>
            <a:r>
              <a:rPr lang="zh-TW" altLang="en-US" sz="2400" dirty="0" smtClean="0">
                <a:solidFill>
                  <a:srgbClr val="3BA943"/>
                </a:solidFill>
                <a:latin typeface="+mn-ea"/>
              </a:rPr>
              <a:t>           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4         2 4 1 3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			8         4 6 8 2 7 1 3 5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		           10        2 4 6 8 10 1 3 5 7 9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                      14        7 9 11 13 1 3 5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10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12 14 2 4 6 8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                      15        7 9 11 13 1 3 5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10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12 14 2 4 6 8 15</a:t>
            </a:r>
          </a:p>
          <a:p>
            <a:r>
              <a:rPr lang="zh-TW" altLang="en-US" sz="2400" b="1" dirty="0" smtClean="0">
                <a:solidFill>
                  <a:srgbClr val="3BA943"/>
                </a:solidFill>
                <a:latin typeface="+mn-ea"/>
              </a:rPr>
              <a:t>解法：</a:t>
            </a:r>
            <a:r>
              <a:rPr lang="zh-TW" altLang="en-US" sz="2400" dirty="0" smtClean="0">
                <a:latin typeface="+mn-ea"/>
              </a:rPr>
              <a:t>把奇數偶數分開排</a:t>
            </a:r>
            <a:endParaRPr lang="en-US" altLang="zh-TW" sz="2400" dirty="0" smtClean="0">
              <a:latin typeface="+mn-ea"/>
            </a:endParaRPr>
          </a:p>
          <a:p>
            <a:pPr>
              <a:buNone/>
            </a:pPr>
            <a:r>
              <a:rPr lang="zh-TW" altLang="en-US" sz="2400" b="1" dirty="0" smtClean="0">
                <a:solidFill>
                  <a:srgbClr val="3BA943"/>
                </a:solidFill>
                <a:latin typeface="+mn-ea"/>
              </a:rPr>
              <a:t>         </a:t>
            </a:r>
            <a:endParaRPr lang="en-US" altLang="zh-TW" sz="2400" b="1" dirty="0" smtClean="0">
              <a:solidFill>
                <a:srgbClr val="3BA943"/>
              </a:solidFill>
              <a:latin typeface="+mn-ea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TW" altLang="en-US" sz="2400" dirty="0" smtClean="0">
                <a:latin typeface="+mn-ea"/>
              </a:rPr>
              <a:t>遇到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n=2+6i</a:t>
            </a:r>
            <a:r>
              <a:rPr lang="zh-TW" altLang="en-US" sz="2400" dirty="0" smtClean="0">
                <a:latin typeface="+mn-ea"/>
              </a:rPr>
              <a:t>：除了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 smtClean="0">
                <a:latin typeface="+mn-ea"/>
              </a:rPr>
              <a:t> </a:t>
            </a:r>
            <a:r>
              <a:rPr lang="zh-TW" altLang="en-US" sz="2400" dirty="0" smtClean="0">
                <a:latin typeface="+mn-ea"/>
              </a:rPr>
              <a:t>是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impossible</a:t>
            </a:r>
            <a:r>
              <a:rPr lang="zh-TW" altLang="en-US" sz="2400" dirty="0" smtClean="0">
                <a:latin typeface="+mn-ea"/>
              </a:rPr>
              <a:t>，其餘則從</a:t>
            </a:r>
            <a:r>
              <a:rPr lang="en-US" altLang="zh-TW" sz="2400" dirty="0" smtClean="0">
                <a:latin typeface="+mn-ea"/>
              </a:rPr>
              <a:t>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n/2</a:t>
            </a:r>
            <a:r>
              <a:rPr lang="en-US" altLang="zh-TW" sz="2400" dirty="0" smtClean="0">
                <a:latin typeface="+mn-ea"/>
              </a:rPr>
              <a:t> </a:t>
            </a:r>
            <a:r>
              <a:rPr lang="zh-TW" altLang="en-US" sz="2400" dirty="0" smtClean="0">
                <a:latin typeface="+mn-ea"/>
              </a:rPr>
              <a:t>開</a:t>
            </a:r>
            <a:endParaRPr lang="en-US" altLang="zh-TW" sz="2400" dirty="0" smtClean="0">
              <a:latin typeface="+mn-ea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400" dirty="0" smtClean="0">
                <a:latin typeface="+mn-ea"/>
              </a:rPr>
              <a:t>             </a:t>
            </a:r>
            <a:r>
              <a:rPr lang="zh-TW" altLang="en-US" sz="2400" dirty="0" smtClean="0">
                <a:latin typeface="+mn-ea"/>
              </a:rPr>
              <a:t>始，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n/2 +1</a:t>
            </a:r>
            <a:r>
              <a:rPr lang="en-US" altLang="zh-TW" sz="2400" dirty="0" smtClean="0">
                <a:latin typeface="+mn-ea"/>
              </a:rPr>
              <a:t> </a:t>
            </a:r>
            <a:r>
              <a:rPr lang="zh-TW" altLang="en-US" sz="2400" dirty="0" smtClean="0">
                <a:latin typeface="+mn-ea"/>
              </a:rPr>
              <a:t>結束，若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n/2</a:t>
            </a:r>
            <a:r>
              <a:rPr lang="en-US" altLang="zh-TW" sz="2400" dirty="0" smtClean="0">
                <a:latin typeface="+mn-ea"/>
              </a:rPr>
              <a:t> </a:t>
            </a:r>
            <a:r>
              <a:rPr lang="zh-TW" altLang="en-US" sz="2400" dirty="0" smtClean="0">
                <a:latin typeface="+mn-ea"/>
              </a:rPr>
              <a:t>為奇數，則先   </a:t>
            </a:r>
            <a:endParaRPr lang="en-US" altLang="zh-TW" sz="2400" dirty="0" smtClean="0">
              <a:latin typeface="+mn-ea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TW" altLang="en-US" sz="2400" dirty="0" smtClean="0">
                <a:latin typeface="+mn-ea"/>
              </a:rPr>
              <a:t>             排奇數，再排偶數，排法如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en-US" altLang="zh-TW" sz="2400" dirty="0" smtClean="0">
                <a:latin typeface="+mn-ea"/>
              </a:rPr>
              <a:t> </a:t>
            </a:r>
            <a:r>
              <a:rPr lang="zh-TW" altLang="en-US" sz="2400" dirty="0" smtClean="0">
                <a:latin typeface="+mn-ea"/>
              </a:rPr>
              <a:t>所示，排完 </a:t>
            </a:r>
            <a:endParaRPr lang="en-US" altLang="zh-TW" sz="2400" dirty="0" smtClean="0">
              <a:latin typeface="+mn-ea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400" dirty="0" smtClean="0">
                <a:latin typeface="+mn-ea"/>
              </a:rPr>
              <a:t>            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7~</a:t>
            </a:r>
            <a:r>
              <a:rPr lang="zh-TW" altLang="en-US" sz="2400" dirty="0" smtClean="0">
                <a:latin typeface="+mn-ea"/>
              </a:rPr>
              <a:t>最大的奇數後，從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zh-TW" altLang="en-US" sz="2400" dirty="0" smtClean="0">
                <a:latin typeface="+mn-ea"/>
              </a:rPr>
              <a:t>再排完，再從 </a:t>
            </a:r>
            <a:endParaRPr lang="en-US" altLang="zh-TW" sz="2400" dirty="0" smtClean="0">
              <a:latin typeface="+mn-ea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TW" altLang="en-US" sz="2400" dirty="0" smtClean="0">
                <a:latin typeface="+mn-ea"/>
              </a:rPr>
              <a:t>            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n/2+1+2 </a:t>
            </a:r>
            <a:r>
              <a:rPr lang="zh-TW" altLang="en-US" sz="2400" dirty="0" smtClean="0">
                <a:latin typeface="+mn-ea"/>
              </a:rPr>
              <a:t>起頭，排到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TW" altLang="en-US" sz="2400" dirty="0" smtClean="0">
                <a:latin typeface="+mn-ea"/>
              </a:rPr>
              <a:t>，再從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 smtClean="0">
                <a:latin typeface="+mn-ea"/>
              </a:rPr>
              <a:t> </a:t>
            </a:r>
            <a:r>
              <a:rPr lang="zh-TW" altLang="en-US" sz="2400" dirty="0" smtClean="0">
                <a:latin typeface="+mn-ea"/>
              </a:rPr>
              <a:t>起頭排到  </a:t>
            </a:r>
            <a:endParaRPr lang="en-US" altLang="zh-TW" sz="2400" dirty="0" smtClean="0">
              <a:latin typeface="+mn-ea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TW" altLang="en-US" sz="2400" dirty="0" smtClean="0">
                <a:latin typeface="+mn-ea"/>
              </a:rPr>
              <a:t>            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n/2</a:t>
            </a:r>
            <a:r>
              <a:rPr lang="zh-TW" altLang="en-US" sz="2400" dirty="0" smtClean="0">
                <a:latin typeface="+mn-ea"/>
              </a:rPr>
              <a:t>。奇數只是反著來。       </a:t>
            </a:r>
            <a:endParaRPr lang="zh-TW" altLang="en-US" sz="2400" dirty="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xmlns="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3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xmlns="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92696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r>
              <a:rPr lang="zh-TW" altLang="en-US" sz="2400" dirty="0" smtClean="0">
                <a:latin typeface="+mn-ea"/>
              </a:rPr>
              <a:t>遇到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n=3+6i</a:t>
            </a:r>
            <a:r>
              <a:rPr lang="zh-TW" altLang="en-US" sz="2400" dirty="0" smtClean="0">
                <a:latin typeface="+mn-ea"/>
              </a:rPr>
              <a:t>：除了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TW" sz="2400" dirty="0" smtClean="0">
                <a:latin typeface="+mn-ea"/>
              </a:rPr>
              <a:t> </a:t>
            </a:r>
            <a:r>
              <a:rPr lang="zh-TW" altLang="en-US" sz="2400" dirty="0" smtClean="0">
                <a:latin typeface="+mn-ea"/>
              </a:rPr>
              <a:t>是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impossible</a:t>
            </a:r>
            <a:r>
              <a:rPr lang="zh-TW" altLang="en-US" sz="2400" dirty="0" smtClean="0">
                <a:latin typeface="+mn-ea"/>
              </a:rPr>
              <a:t>，其餘則在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n=2+6i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TW" altLang="en-US" sz="2400" dirty="0" smtClean="0">
                <a:latin typeface="+mn-ea"/>
              </a:rPr>
              <a:t>             的輸出後，再加入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TW" altLang="en-US" sz="2400" dirty="0" smtClean="0">
                <a:latin typeface="+mn-ea"/>
              </a:rPr>
              <a:t> 即可。</a:t>
            </a:r>
            <a:endParaRPr lang="en-US" altLang="zh-TW" sz="2400" dirty="0" smtClean="0">
              <a:latin typeface="+mn-ea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TW" sz="2400" dirty="0" smtClean="0">
              <a:latin typeface="+mn-ea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TW" altLang="en-US" sz="2400" dirty="0" smtClean="0">
                <a:latin typeface="+mn-ea"/>
              </a:rPr>
              <a:t>遇到奇數：先排完奇數，再排偶數。</a:t>
            </a:r>
            <a:endParaRPr lang="en-US" altLang="zh-TW" sz="2400" dirty="0" smtClean="0">
              <a:latin typeface="+mn-ea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TW" sz="2400" dirty="0" smtClean="0">
              <a:latin typeface="+mn-ea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TW" altLang="en-US" sz="2400" dirty="0" smtClean="0">
                <a:latin typeface="+mn-ea"/>
              </a:rPr>
              <a:t>遇到偶數：先排完偶數，再排奇數。</a:t>
            </a:r>
            <a:endParaRPr lang="en-US" altLang="zh-TW" sz="2400" dirty="0" smtClean="0">
              <a:latin typeface="+mn-ea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TW" sz="2400" dirty="0" smtClean="0">
              <a:latin typeface="+mn-ea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TW" altLang="en-US" sz="2400" dirty="0" smtClean="0">
              <a:latin typeface="+mn-ea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 smtClean="0">
                <a:solidFill>
                  <a:srgbClr val="3BA943"/>
                </a:solidFill>
                <a:latin typeface="Times New Roman" pitchFamily="18" charset="0"/>
                <a:cs typeface="Times New Roman" pitchFamily="18" charset="0"/>
              </a:rPr>
              <a:t>解法範例：</a:t>
            </a:r>
            <a:r>
              <a:rPr lang="zh-TW" altLang="en-US" sz="2400" dirty="0" smtClean="0">
                <a:latin typeface="Times New Roman" pitchFamily="18" charset="0"/>
                <a:cs typeface="Times New Roman" pitchFamily="18" charset="0"/>
              </a:rPr>
              <a:t>無</a:t>
            </a:r>
            <a:endParaRPr lang="en-US" altLang="zh-TW" sz="2400" dirty="0" smtClean="0">
              <a:latin typeface="Times New Roman" pitchFamily="18" charset="0"/>
              <a:ea typeface="細明體" pitchFamily="49" charset="-12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xmlns="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4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xmlns="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92696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 smtClean="0">
                <a:solidFill>
                  <a:srgbClr val="3BA943"/>
                </a:solidFill>
                <a:latin typeface="+mn-ea"/>
              </a:rPr>
              <a:t>討論：</a:t>
            </a:r>
            <a:endParaRPr lang="en-US" altLang="zh-TW" sz="2400" dirty="0" smtClean="0">
              <a:latin typeface="+mn-ea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TW" altLang="en-US" sz="2400" dirty="0" smtClean="0">
                <a:latin typeface="+mn-ea"/>
              </a:rPr>
              <a:t>        這題程式實作上不難，但是需要一點跳躍性思維</a:t>
            </a:r>
            <a:endParaRPr lang="en-US" altLang="zh-TW" sz="2400" dirty="0" smtClean="0">
              <a:latin typeface="+mn-ea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400" dirty="0" smtClean="0">
                <a:latin typeface="+mn-ea"/>
              </a:rPr>
              <a:t>        </a:t>
            </a:r>
            <a:r>
              <a:rPr lang="zh-TW" altLang="en-US" sz="2400" dirty="0" smtClean="0">
                <a:latin typeface="+mn-ea"/>
              </a:rPr>
              <a:t>必須一開始就看出排序上的規律</a:t>
            </a:r>
            <a:endParaRPr lang="en-US" altLang="zh-TW" sz="2400" dirty="0" smtClean="0">
              <a:latin typeface="+mn-ea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TW" altLang="en-US" sz="2400" dirty="0" smtClean="0">
                <a:latin typeface="+mn-ea"/>
              </a:rPr>
              <a:t>        因為這題他能接受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zh-TW" altLang="en-US" sz="2400" dirty="0" smtClean="0">
                <a:latin typeface="+mn-ea"/>
              </a:rPr>
              <a:t>所有可能的解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zh-TW" altLang="en-US" sz="2400" dirty="0" smtClean="0">
                <a:latin typeface="Times New Roman" pitchFamily="18" charset="0"/>
                <a:cs typeface="Times New Roman" pitchFamily="18" charset="0"/>
              </a:rPr>
              <a:t>所以其實剛剛提到的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n=2+6i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TW" altLang="en-US" sz="2400" dirty="0" smtClean="0">
                <a:latin typeface="+mn-ea"/>
                <a:cs typeface="Times New Roman" pitchFamily="18" charset="0"/>
              </a:rPr>
              <a:t>        也是存在著複數個解，只是如果放著讓程式自己</a:t>
            </a:r>
            <a:endParaRPr lang="en-US" altLang="zh-TW" sz="2400" dirty="0" smtClean="0"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TW" altLang="en-US" sz="2400" dirty="0" smtClean="0">
                <a:latin typeface="+mn-ea"/>
                <a:cs typeface="Times New Roman" pitchFamily="18" charset="0"/>
              </a:rPr>
              <a:t>        找，那最終等待的結果就是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TLE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       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標楷體"/>
        <a:cs typeface=""/>
      </a:majorFont>
      <a:minorFont>
        <a:latin typeface="Tahoma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4654</TotalTime>
  <Words>195</Words>
  <Application>Microsoft Office PowerPoint</Application>
  <PresentationFormat>如螢幕大小 (4:3)</PresentationFormat>
  <Paragraphs>47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Blends</vt:lpstr>
      <vt:lpstr> 10094: Place the Guards(1) </vt:lpstr>
      <vt:lpstr>投影片 2</vt:lpstr>
      <vt:lpstr>投影片 3</vt:lpstr>
      <vt:lpstr>投影片 4</vt:lpstr>
    </vt:vector>
  </TitlesOfParts>
  <Company>nsysu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3 Greedy methods</dc:title>
  <dc:creator>cby</dc:creator>
  <cp:lastModifiedBy>LIN TUNG YI</cp:lastModifiedBy>
  <cp:revision>204</cp:revision>
  <dcterms:created xsi:type="dcterms:W3CDTF">1601-01-01T00:00:00Z</dcterms:created>
  <dcterms:modified xsi:type="dcterms:W3CDTF">2023-05-11T03:50:40Z</dcterms:modified>
</cp:coreProperties>
</file>