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"/>
  </p:notesMasterIdLst>
  <p:sldIdLst>
    <p:sldId id="307" r:id="rId2"/>
    <p:sldId id="309" r:id="rId3"/>
    <p:sldId id="313" r:id="rId4"/>
    <p:sldId id="314" r:id="rId5"/>
    <p:sldId id="316" r:id="rId6"/>
    <p:sldId id="315" r:id="rId7"/>
    <p:sldId id="311" r:id="rId8"/>
    <p:sldId id="312" r:id="rId9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8101"/>
    <a:srgbClr val="4352FF"/>
    <a:srgbClr val="66FF33"/>
    <a:srgbClr val="3572E4"/>
    <a:srgbClr val="3BA943"/>
    <a:srgbClr val="20C428"/>
    <a:srgbClr val="99599C"/>
    <a:srgbClr val="18E403"/>
    <a:srgbClr val="00E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45" autoAdjust="0"/>
    <p:restoredTop sz="92149" autoAdjust="0"/>
  </p:normalViewPr>
  <p:slideViewPr>
    <p:cSldViewPr>
      <p:cViewPr varScale="1">
        <p:scale>
          <a:sx n="116" d="100"/>
          <a:sy n="116" d="100"/>
        </p:scale>
        <p:origin x="10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5" Type="http://schemas.openxmlformats.org/officeDocument/2006/relationships/slide" Target="slides/slide5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362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321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313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6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381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7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8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2023/6/11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88640"/>
            <a:ext cx="7711008" cy="1008112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10163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:Storage Keepers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+mj-ea"/>
              </a:rPr>
              <a:t>★★★★☆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+mj-ea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itchFamily="18" charset="0"/>
              </a:rPr>
              <a:t>Problem Set Archive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+mj-ea"/>
              </a:rPr>
              <a:t>題號：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</a:rPr>
              <a:t>10163 Storage Keepers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+mj-ea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</a:rPr>
              <a:t>何彥霆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+mj-ea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itchFamily="18" charset="0"/>
              </a:rPr>
              <a:t>23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itchFamily="18" charset="0"/>
              </a:rPr>
              <a:t>18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</a:rPr>
              <a:t>日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+mj-ea"/>
              </a:rPr>
              <a:t>題意：</a:t>
            </a:r>
            <a:r>
              <a:rPr lang="en-US" altLang="zh-TW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 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為一個倉庫公司選出在最安全的條件下，公司可以支付最少錢的方案，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公司有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N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個倉庫，現在有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M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個人想擔任看守倉庫的工作，條件如下：</a:t>
            </a:r>
            <a:endParaRPr lang="en-US" altLang="zh-TW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</a:endParaRPr>
          </a:p>
          <a:p>
            <a:pPr marL="0" indent="0" eaLnBrk="1" hangingPunct="1">
              <a:buNone/>
            </a:pP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	1. 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每個保安都有一個能力值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Pi (1 ≤ Pi ≤ 1000)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。</a:t>
            </a:r>
            <a:endParaRPr lang="en-US" altLang="zh-TW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</a:endParaRPr>
          </a:p>
          <a:p>
            <a:pPr marL="0" indent="0" eaLnBrk="1" hangingPunct="1">
              <a:buNone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	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2. 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所有的倉庫都是相同的。 </a:t>
            </a:r>
            <a:endParaRPr lang="en-US" altLang="zh-TW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題意：</a:t>
            </a:r>
            <a:endParaRPr lang="en-US" altLang="zh-TW" sz="2400" b="1" dirty="0">
              <a:solidFill>
                <a:srgbClr val="3BA943"/>
              </a:solidFill>
              <a:latin typeface="+mn-ea"/>
            </a:endParaRPr>
          </a:p>
          <a:p>
            <a:pPr marL="0" indent="0" eaLnBrk="1" hangingPunct="1">
              <a:buNone/>
            </a:pPr>
            <a:r>
              <a:rPr lang="en-US" altLang="zh-TW" sz="2400" b="1" dirty="0">
                <a:solidFill>
                  <a:srgbClr val="3BA943"/>
                </a:solidFill>
                <a:latin typeface="細明體" pitchFamily="49" charset="-120"/>
                <a:ea typeface="細明體" pitchFamily="49" charset="-120"/>
              </a:rPr>
              <a:t>	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3. 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一個倉庫只能由一名保安看管，但一名保安可以看管多個倉庫。如果一名保安的能力值是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Pi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，他看管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K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個倉庫，他看管的每個倉庫的安全數為</a:t>
            </a:r>
            <a:r>
              <a:rPr lang="en-US" altLang="zh-TW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Uj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 = Pi ÷ K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。 （注意：</a:t>
            </a:r>
            <a:r>
              <a:rPr lang="en-US" altLang="zh-TW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Uj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，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Pi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和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K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都是整數）。沒有人看管的倉庫的數值為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0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。 </a:t>
            </a:r>
            <a:endParaRPr lang="en-US" altLang="zh-TW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</a:endParaRPr>
          </a:p>
          <a:p>
            <a:pPr marL="0" indent="0" eaLnBrk="1" hangingPunct="1">
              <a:buNone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	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4. 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如果所有的倉庫都被至少一名男子看管，公司將得到一個安全線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L = </a:t>
            </a:r>
            <a:r>
              <a:rPr lang="en-US" altLang="zh-TW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minUj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。 </a:t>
            </a:r>
            <a:endParaRPr lang="en-US" altLang="zh-TW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</a:endParaRPr>
          </a:p>
          <a:p>
            <a:pPr marL="0" indent="0" eaLnBrk="1" hangingPunct="1">
              <a:buNone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	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5. 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每個月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Randy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公司都會按照他的能力數給每名僱傭的保安支付工資。也就是說，如果一個保安的能力數是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Pi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，他每個月將得到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Pi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美元。公司每月需要支付給保安的總工資為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Y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</a:rPr>
              <a:t>美元。</a:t>
            </a:r>
          </a:p>
          <a:p>
            <a:pPr marL="0" indent="0">
              <a:buNone/>
            </a:pPr>
            <a:endParaRPr lang="en-US" altLang="zh-TW" sz="2400" b="1" dirty="0">
              <a:solidFill>
                <a:srgbClr val="3BA943"/>
              </a:solidFill>
              <a:latin typeface="細明體" pitchFamily="49" charset="-120"/>
              <a:ea typeface="細明體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範例</a:t>
            </a: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細明體" pitchFamily="49" charset="-120"/>
              </a:rPr>
              <a:t>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  <a:ea typeface="細明體" pitchFamily="49" charset="-120"/>
              </a:rPr>
              <a:t> </a:t>
            </a:r>
            <a:endParaRPr lang="en-US" altLang="zh-TW" sz="2400" dirty="0">
              <a:solidFill>
                <a:srgbClr val="3BA943"/>
              </a:solidFill>
              <a:latin typeface="Times New Roman" panose="02020603050405020304" pitchFamily="18" charset="0"/>
              <a:ea typeface="細明體" pitchFamily="49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細明體" pitchFamily="49" charset="-120"/>
              </a:rPr>
              <a:t>	Input				Output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細明體" pitchFamily="49" charset="-120"/>
              </a:rPr>
              <a:t>	N = </a:t>
            </a:r>
            <a:r>
              <a:rPr lang="en-US" altLang="zh-TW" sz="2400" dirty="0">
                <a:latin typeface="Times New Roman" panose="02020603050405020304" pitchFamily="18" charset="0"/>
              </a:rPr>
              <a:t>2 </a:t>
            </a:r>
            <a:r>
              <a:rPr lang="zh-TW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M = 1 		L = 3   Y = 7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Pi = 7 				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細明體" pitchFamily="49" charset="-120"/>
              </a:rPr>
              <a:t>	N = </a:t>
            </a:r>
            <a:r>
              <a:rPr lang="en-US" altLang="zh-TW" sz="2400" dirty="0">
                <a:latin typeface="Times New Roman" panose="02020603050405020304" pitchFamily="18" charset="0"/>
              </a:rPr>
              <a:t>1   M = 2 		L = 10 Y = 10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Pi = 10  9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N = 2   M = 5 		L = 8   Y = 18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Pi = 10 8 6 4 1 </a:t>
            </a:r>
            <a:endParaRPr lang="en-US" altLang="zh-TW" sz="2400" dirty="0">
              <a:latin typeface="Times New Roman" panose="02020603050405020304" pitchFamily="18" charset="0"/>
              <a:ea typeface="細明體" pitchFamily="49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解法：</a:t>
            </a:r>
            <a:endParaRPr lang="en-US" altLang="zh-TW" sz="2400" b="1" dirty="0">
              <a:solidFill>
                <a:srgbClr val="3BA943"/>
              </a:solidFill>
              <a:latin typeface="+mn-ea"/>
            </a:endParaRPr>
          </a:p>
          <a:p>
            <a:pPr marL="0" indent="0" algn="l">
              <a:buNone/>
            </a:pPr>
            <a:r>
              <a:rPr lang="zh-TW" altLang="en-US" sz="2400" dirty="0">
                <a:latin typeface="Times New Roman" panose="02020603050405020304" pitchFamily="18" charset="0"/>
              </a:rPr>
              <a:t>       </a:t>
            </a:r>
            <a:r>
              <a:rPr lang="zh-TW" altLang="en-US" sz="2400" dirty="0">
                <a:latin typeface="+mn-ea"/>
              </a:rPr>
              <a:t>題目可以簡單分成兩個部分，找到最大的安全線，以及最少的薪水，</a:t>
            </a:r>
            <a:r>
              <a:rPr lang="zh-TW" altLang="en-US" sz="2400" dirty="0">
                <a:latin typeface="Times New Roman" panose="02020603050405020304" pitchFamily="18" charset="0"/>
              </a:rPr>
              <a:t>用</a:t>
            </a:r>
            <a:r>
              <a:rPr lang="en-US" altLang="zh-TW" sz="2400" dirty="0">
                <a:latin typeface="Times New Roman" panose="02020603050405020304" pitchFamily="18" charset="0"/>
              </a:rPr>
              <a:t>DP</a:t>
            </a:r>
            <a:r>
              <a:rPr lang="zh-TW" altLang="en-US" sz="2400" dirty="0">
                <a:latin typeface="Times New Roman" panose="02020603050405020304" pitchFamily="18" charset="0"/>
              </a:rPr>
              <a:t>解。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</a:rPr>
              <a:t>	</a:t>
            </a:r>
            <a:endParaRPr lang="en-US" altLang="zh-TW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673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解法：</a:t>
            </a:r>
            <a:endParaRPr lang="en-US" altLang="zh-TW" sz="2400" b="1" dirty="0">
              <a:solidFill>
                <a:srgbClr val="3BA943"/>
              </a:solidFill>
              <a:latin typeface="+mn-ea"/>
            </a:endParaRPr>
          </a:p>
          <a:p>
            <a:pPr marL="0" indent="0" algn="l">
              <a:buNone/>
            </a:pPr>
            <a:r>
              <a:rPr lang="zh-TW" altLang="en-US" sz="2400" dirty="0">
                <a:latin typeface="+mn-ea"/>
              </a:rPr>
              <a:t>      因為要求是要先滿足最大安全線的條件，所以先找到所有可能的保安組合中的最大安全線。</a:t>
            </a:r>
            <a:endParaRPr lang="en-US" altLang="zh-TW" sz="2400" b="0" i="0" dirty="0">
              <a:effectLst/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zh-TW" altLang="en-US" sz="2400" dirty="0">
                <a:latin typeface="+mj-ea"/>
                <a:ea typeface="+mj-ea"/>
              </a:rPr>
              <a:t>      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對每個保安，選擇</a:t>
            </a:r>
            <a:r>
              <a:rPr lang="zh-TW" altLang="en-US" sz="2400" dirty="0">
                <a:latin typeface="+mj-ea"/>
                <a:ea typeface="+mj-ea"/>
              </a:rPr>
              <a:t>是否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讓他看管倉庫。第</a:t>
            </a:r>
            <a:r>
              <a:rPr lang="en-US" altLang="zh-TW" sz="2400" b="0" i="0" dirty="0">
                <a:effectLst/>
                <a:latin typeface="+mj-ea"/>
                <a:ea typeface="+mj-ea"/>
              </a:rPr>
              <a:t>i+1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個保安不看管，當下結果就與前</a:t>
            </a:r>
            <a:r>
              <a:rPr lang="en-US" altLang="zh-TW" sz="2400" b="0" i="0" dirty="0" err="1">
                <a:effectLst/>
                <a:latin typeface="+mj-ea"/>
                <a:ea typeface="+mj-ea"/>
              </a:rPr>
              <a:t>i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個結果相同，若要看管，則決定該讓他看管幾個倉庫。</a:t>
            </a:r>
            <a:endParaRPr lang="en-US" altLang="zh-TW" sz="2400" b="0" i="0" dirty="0">
              <a:effectLst/>
              <a:latin typeface="+mj-ea"/>
              <a:ea typeface="+mj-ea"/>
            </a:endParaRPr>
          </a:p>
          <a:p>
            <a:pPr marL="0" indent="0" algn="l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用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來表示</a:t>
            </a:r>
            <a:r>
              <a:rPr lang="zh-TW" alt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個保安候選人看守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個倉庫時，找到的最大安全線。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	</a:t>
            </a:r>
            <a:r>
              <a:rPr lang="zh-TW" altLang="en-US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第</a:t>
            </a:r>
            <a:r>
              <a:rPr lang="en-US" altLang="zh-TW" sz="2400" b="0" i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lang="zh-TW" altLang="en-US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個人不看管</a:t>
            </a:r>
            <a:endParaRPr lang="en-US" altLang="zh-TW" sz="2400" b="0" i="0" dirty="0"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</a:t>
            </a:r>
            <a:r>
              <a:rPr lang="en-US" altLang="zh-TW" sz="2400" b="0" i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TW" sz="2400" b="0" i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i,s</a:t>
            </a: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= max( </a:t>
            </a:r>
            <a:r>
              <a:rPr lang="en-US" altLang="zh-TW" sz="2400" b="0" i="0" dirty="0" err="1">
                <a:solidFill>
                  <a:srgbClr val="3BA943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dp</a:t>
            </a:r>
            <a:r>
              <a:rPr lang="en-US" altLang="zh-TW" sz="2400" b="0" i="0" dirty="0">
                <a:solidFill>
                  <a:srgbClr val="3BA943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(i-1, s)</a:t>
            </a: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 </a:t>
            </a:r>
            <a:r>
              <a:rPr lang="en-US" altLang="zh-TW" sz="24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max{</a:t>
            </a:r>
            <a:r>
              <a:rPr lang="en-US" altLang="zh-TW" sz="2400" b="0" i="0" dirty="0">
                <a:solidFill>
                  <a:srgbClr val="AB810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min(</a:t>
            </a:r>
            <a:r>
              <a:rPr lang="en-US" altLang="zh-TW" sz="2400" b="0" i="0" dirty="0" err="1">
                <a:solidFill>
                  <a:srgbClr val="AB810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dp</a:t>
            </a:r>
            <a:r>
              <a:rPr lang="en-US" altLang="zh-TW" sz="2400" b="0" i="0" dirty="0">
                <a:solidFill>
                  <a:srgbClr val="AB810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(i-1, s-k), Pi/k)</a:t>
            </a:r>
            <a:r>
              <a:rPr lang="en-US" altLang="zh-TW" sz="24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}</a:t>
            </a: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			  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給第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個人看管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個倉庫</a:t>
            </a:r>
            <a:endParaRPr lang="zh-TW" altLang="en-US" sz="2400" b="0" i="0" dirty="0">
              <a:effectLst/>
              <a:latin typeface="+mj-ea"/>
              <a:ea typeface="+mj-ea"/>
            </a:endParaRPr>
          </a:p>
          <a:p>
            <a:pPr marL="0" indent="0" algn="l">
              <a:buNone/>
            </a:pPr>
            <a:endParaRPr lang="en-US" altLang="zh-TW" sz="2400" b="1" dirty="0">
              <a:latin typeface="+mn-ea"/>
            </a:endParaRPr>
          </a:p>
          <a:p>
            <a:pPr marL="0" indent="0" algn="l">
              <a:buNone/>
            </a:pPr>
            <a:r>
              <a:rPr lang="en-US" altLang="zh-TW" sz="2400" dirty="0">
                <a:latin typeface="+mj-ea"/>
                <a:ea typeface="+mj-ea"/>
              </a:rPr>
              <a:t>	</a:t>
            </a:r>
            <a:endParaRPr lang="en-US" altLang="zh-TW" sz="2400" b="1" dirty="0">
              <a:latin typeface="+mn-ea"/>
            </a:endParaRPr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7D3C0446-5A30-E1AF-4678-2E6934BFB33C}"/>
              </a:ext>
            </a:extLst>
          </p:cNvPr>
          <p:cNvSpPr/>
          <p:nvPr/>
        </p:nvSpPr>
        <p:spPr bwMode="auto">
          <a:xfrm>
            <a:off x="2699792" y="4365104"/>
            <a:ext cx="1872208" cy="360040"/>
          </a:xfrm>
          <a:prstGeom prst="roundRect">
            <a:avLst/>
          </a:prstGeom>
          <a:solidFill>
            <a:srgbClr val="66FF33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5F07C87-BA69-2CED-FEF8-56FF341EA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920" y="5103248"/>
            <a:ext cx="440432" cy="179895"/>
          </a:xfrm>
          <a:prstGeom prst="rect">
            <a:avLst/>
          </a:prstGeom>
        </p:spPr>
      </p:pic>
      <p:sp>
        <p:nvSpPr>
          <p:cNvPr id="3" name="圓角矩形 2">
            <a:extLst>
              <a:ext uri="{FF2B5EF4-FFF2-40B4-BE49-F238E27FC236}">
                <a16:creationId xmlns:a16="http://schemas.microsoft.com/office/drawing/2014/main" id="{3F25B44E-DC74-02FB-D126-0A78B4FD8D40}"/>
              </a:ext>
            </a:extLst>
          </p:cNvPr>
          <p:cNvSpPr/>
          <p:nvPr/>
        </p:nvSpPr>
        <p:spPr bwMode="auto">
          <a:xfrm>
            <a:off x="5047352" y="5255874"/>
            <a:ext cx="3104728" cy="360040"/>
          </a:xfrm>
          <a:prstGeom prst="roundRect">
            <a:avLst/>
          </a:prstGeom>
          <a:solidFill>
            <a:srgbClr val="4352FF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292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解法：</a:t>
            </a:r>
            <a:endParaRPr lang="en-US" altLang="zh-TW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400" b="0" i="0" u="none" strike="noStrike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400" b="0" i="0" u="none" strike="noStrike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min(</a:t>
            </a:r>
            <a:r>
              <a:rPr lang="zh-TW" altLang="en-US" sz="2400" b="0" i="0" u="none" strike="noStrike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="0" i="0" u="none" strike="noStrike" dirty="0" err="1">
                <a:solidFill>
                  <a:srgbClr val="AB81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TW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</a:t>
            </a:r>
            <a:r>
              <a:rPr lang="en-US" altLang="zh-TW" sz="2400" b="0" i="0" u="none" strike="noStrike" dirty="0">
                <a:solidFill>
                  <a:srgbClr val="AB81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−1, s−k)</a:t>
            </a:r>
            <a:r>
              <a:rPr lang="en-US" altLang="zh-TW" sz="2400" b="0" i="0" u="none" strike="noStrike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sz="2400" b="0" i="0" u="none" strike="noStrike" dirty="0">
                <a:solidFill>
                  <a:srgbClr val="AB81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Pi/k</a:t>
            </a:r>
            <a:r>
              <a:rPr lang="zh-TW" altLang="en-US" sz="2400" b="0" i="0" u="none" strike="noStrike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="0" i="0" u="none" strike="noStrike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400" b="0" i="0" u="none" strike="noStrike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2400" b="0" i="0" u="none" strike="noStrike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給第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個人看管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個倉庫的安全線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altLang="zh-TW" sz="2400" b="0" i="0" u="none" strike="noStrike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altLang="zh-TW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給</a:t>
            </a:r>
            <a:r>
              <a:rPr lang="en-US" altLang="zh-TW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zh-TW" altLang="en-US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個人看管</a:t>
            </a:r>
            <a:r>
              <a:rPr lang="en-US" altLang="zh-TW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s-k</a:t>
            </a:r>
            <a:r>
              <a:rPr lang="zh-TW" altLang="en-US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個倉庫時的安全線</a:t>
            </a:r>
            <a:endParaRPr lang="en-US" altLang="zh-TW" sz="2400" dirty="0">
              <a:solidFill>
                <a:srgbClr val="AB810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endParaRPr lang="en-US" altLang="zh-TW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給第</a:t>
            </a:r>
            <a:r>
              <a:rPr lang="en-US" altLang="zh-TW" sz="2400" dirty="0" err="1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個人看管</a:t>
            </a:r>
            <a:r>
              <a:rPr lang="en-US" altLang="zh-TW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sz="2400" dirty="0">
                <a:solidFill>
                  <a:srgbClr val="AB8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個倉庫的安全值</a:t>
            </a:r>
            <a:endParaRPr lang="en-US" altLang="zh-TW" sz="2400" dirty="0">
              <a:solidFill>
                <a:srgbClr val="AB810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兩者中較小的那個（安全線是最小的安全值）</a:t>
            </a:r>
            <a:endParaRPr lang="en-US" altLang="zh-TW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2186B3-BF8D-3AB5-9AE7-253223479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96" y="4149080"/>
            <a:ext cx="7272808" cy="147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18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6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91155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解法：</a:t>
            </a:r>
            <a:endParaRPr lang="en-US" altLang="zh-TW" sz="2400" b="1" dirty="0">
              <a:solidFill>
                <a:srgbClr val="3BA943"/>
              </a:solidFill>
              <a:latin typeface="+mn-ea"/>
            </a:endParaRPr>
          </a:p>
          <a:p>
            <a:pPr marL="0" indent="0" algn="l">
              <a:buNone/>
            </a:pPr>
            <a:r>
              <a:rPr lang="zh-TW" altLang="en-US" sz="2400" dirty="0">
                <a:latin typeface="+mj-ea"/>
                <a:ea typeface="+mj-ea"/>
              </a:rPr>
              <a:t>      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執行到</a:t>
            </a:r>
            <a:r>
              <a:rPr lang="en-US" altLang="zh-TW" sz="2400" dirty="0" err="1">
                <a:latin typeface="+mj-ea"/>
                <a:ea typeface="+mj-ea"/>
              </a:rPr>
              <a:t>dp</a:t>
            </a:r>
            <a:r>
              <a:rPr lang="en-US" altLang="zh-TW" sz="2400" dirty="0">
                <a:latin typeface="+mj-ea"/>
                <a:ea typeface="+mj-ea"/>
              </a:rPr>
              <a:t>(M, N)</a:t>
            </a:r>
            <a:r>
              <a:rPr lang="zh-TW" altLang="en-US" sz="2400" dirty="0">
                <a:latin typeface="+mj-ea"/>
                <a:ea typeface="+mj-ea"/>
              </a:rPr>
              <a:t>後，代表已經找到前</a:t>
            </a:r>
            <a:r>
              <a:rPr lang="en-US" altLang="zh-TW" sz="2400" dirty="0">
                <a:latin typeface="+mj-ea"/>
                <a:ea typeface="+mj-ea"/>
              </a:rPr>
              <a:t>M</a:t>
            </a:r>
            <a:r>
              <a:rPr lang="zh-TW" altLang="en-US" sz="2400" dirty="0">
                <a:latin typeface="+mj-ea"/>
                <a:ea typeface="+mj-ea"/>
              </a:rPr>
              <a:t>個保安看管Ｎ個倉庫的最大安全線。接著要找的就是所有符合最大安全線的組合中，最小的薪資組合。</a:t>
            </a:r>
            <a:endParaRPr lang="en-US" altLang="zh-TW" sz="240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用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來表示</a:t>
            </a:r>
            <a:r>
              <a:rPr lang="zh-TW" alt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個保安候選人看守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個倉庫時，找到的最小薪資組合。</a:t>
            </a:r>
            <a:endParaRPr lang="en-US" altLang="zh-TW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</a:t>
            </a: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pay(</a:t>
            </a:r>
            <a:r>
              <a:rPr lang="en-US" altLang="zh-TW" sz="2400" b="0" i="0" dirty="0" err="1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i,s</a:t>
            </a: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= min( </a:t>
            </a:r>
            <a:r>
              <a:rPr lang="en-US" altLang="zh-TW" sz="2400" b="0" i="0" dirty="0">
                <a:solidFill>
                  <a:srgbClr val="3BA943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pay(i-1, s)</a:t>
            </a: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 </a:t>
            </a:r>
            <a:r>
              <a:rPr lang="en-US" altLang="zh-TW" sz="24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min{</a:t>
            </a:r>
            <a:r>
              <a:rPr lang="en-US" altLang="zh-TW" sz="2400" b="0" i="0" dirty="0">
                <a:solidFill>
                  <a:srgbClr val="AB810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pay(i-1, s-k)+Pi</a:t>
            </a:r>
            <a:r>
              <a:rPr lang="en-US" altLang="zh-TW" sz="24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}</a:t>
            </a:r>
            <a:r>
              <a:rPr lang="en-US" altLang="zh-TW" sz="2400" b="0" i="0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此外，在整個步驟中，都要確定當下的組合不會影響最大安全線，這可以透過查前面儲存的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陣列達成。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一直持續到找完所有的Ｍ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Ｎ，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最後，返回</a:t>
            </a:r>
            <a:r>
              <a:rPr lang="en-US" altLang="zh-TW" sz="2400" b="0" i="0" dirty="0" err="1">
                <a:effectLst/>
                <a:latin typeface="+mj-ea"/>
                <a:ea typeface="+mj-ea"/>
              </a:rPr>
              <a:t>dp</a:t>
            </a:r>
            <a:r>
              <a:rPr lang="en-US" altLang="zh-TW" sz="2400" b="0" i="0" dirty="0">
                <a:effectLst/>
                <a:latin typeface="+mj-ea"/>
                <a:ea typeface="+mj-ea"/>
              </a:rPr>
              <a:t>(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Ｍ</a:t>
            </a:r>
            <a:r>
              <a:rPr lang="en-US" altLang="zh-TW" sz="2400" b="0" i="0" dirty="0">
                <a:effectLst/>
                <a:latin typeface="+mj-ea"/>
                <a:ea typeface="+mj-ea"/>
              </a:rPr>
              <a:t>, </a:t>
            </a:r>
            <a:r>
              <a:rPr lang="zh-TW" altLang="en-US" sz="2400" dirty="0">
                <a:latin typeface="+mj-ea"/>
                <a:ea typeface="+mj-ea"/>
              </a:rPr>
              <a:t>Ｎ</a:t>
            </a:r>
            <a:r>
              <a:rPr lang="en-US" altLang="zh-TW" sz="2400" b="0" i="0" dirty="0">
                <a:effectLst/>
                <a:latin typeface="+mj-ea"/>
                <a:ea typeface="+mj-ea"/>
              </a:rPr>
              <a:t>)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和</a:t>
            </a:r>
            <a:r>
              <a:rPr lang="en-US" altLang="zh-TW" sz="2400" b="0" i="0" dirty="0">
                <a:effectLst/>
                <a:latin typeface="+mj-ea"/>
                <a:ea typeface="+mj-ea"/>
              </a:rPr>
              <a:t>pay(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Ｍ</a:t>
            </a:r>
            <a:r>
              <a:rPr lang="en-US" altLang="zh-TW" sz="2400" b="0" i="0" dirty="0">
                <a:effectLst/>
                <a:latin typeface="+mj-ea"/>
                <a:ea typeface="+mj-ea"/>
              </a:rPr>
              <a:t>, </a:t>
            </a:r>
            <a:r>
              <a:rPr lang="zh-TW" altLang="en-US" sz="2400" dirty="0">
                <a:latin typeface="+mj-ea"/>
                <a:ea typeface="+mj-ea"/>
              </a:rPr>
              <a:t>Ｎ</a:t>
            </a:r>
            <a:r>
              <a:rPr lang="en-US" altLang="zh-TW" sz="2400" b="0" i="0" dirty="0">
                <a:effectLst/>
                <a:latin typeface="+mj-ea"/>
                <a:ea typeface="+mj-ea"/>
              </a:rPr>
              <a:t>)</a:t>
            </a:r>
            <a:r>
              <a:rPr lang="zh-TW" altLang="en-US" sz="2400" b="0" i="0" dirty="0">
                <a:effectLst/>
                <a:latin typeface="+mj-ea"/>
                <a:ea typeface="+mj-ea"/>
              </a:rPr>
              <a:t>的值，分別代表最大安全線和需要支付的最小工資。</a:t>
            </a:r>
            <a:endParaRPr lang="en-US" altLang="zh-TW" sz="2400" b="1" dirty="0">
              <a:solidFill>
                <a:srgbClr val="3BA943"/>
              </a:solidFill>
              <a:latin typeface="+mn-ea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FF82A1D-4BE3-7856-9F25-3270E3AE1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447514"/>
            <a:ext cx="475117" cy="19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36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7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>
                <a:solidFill>
                  <a:srgbClr val="3BA943"/>
                </a:solidFill>
                <a:latin typeface="+mn-ea"/>
              </a:rPr>
              <a:t>解法</a:t>
            </a:r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範例：</a:t>
            </a:r>
            <a:endParaRPr lang="en-US" altLang="zh-TW" sz="2400" b="1" dirty="0">
              <a:solidFill>
                <a:srgbClr val="3BA943"/>
              </a:solidFill>
              <a:latin typeface="+mn-ea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N = 2, M = 5, Pi = {4, 8, 6, 10, 1}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此後確定最大安全線為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BC78D08-D42E-18F2-6F4F-2990AE7BAAF5}"/>
              </a:ext>
            </a:extLst>
          </p:cNvPr>
          <p:cNvSpPr txBox="1"/>
          <p:nvPr/>
        </p:nvSpPr>
        <p:spPr>
          <a:xfrm>
            <a:off x="3793811" y="5424196"/>
            <a:ext cx="2769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L = 8 Y = 18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97EB64B7-AB00-FBFF-4777-4521354CD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016085"/>
              </p:ext>
            </p:extLst>
          </p:nvPr>
        </p:nvGraphicFramePr>
        <p:xfrm>
          <a:off x="467544" y="1836260"/>
          <a:ext cx="609600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5677352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371422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130463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083253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837522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9828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dp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i,s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93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s=1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09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s=2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90242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D44E187-CA6B-0023-B874-A140BA0A5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52663"/>
              </p:ext>
            </p:extLst>
          </p:nvPr>
        </p:nvGraphicFramePr>
        <p:xfrm>
          <a:off x="473314" y="3888813"/>
          <a:ext cx="6096000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5677352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371422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130463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083253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837522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9828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pay(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i,s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i=5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93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s=1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09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s=2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unsafe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unsafe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unsafe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9024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8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與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0/1 Knapsack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problem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相似，所以主要的思考方向就是，是否選取此物品，差別在於一個保安能看守多個倉庫，因此需要對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Pi/k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的情況進行額外的考慮，主要是需要再額外考慮一輪一個保安看守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1, 2,…s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個倉庫的情況。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題目如果暴力解的話，時間複雜度是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O(2^M)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，而使用</a:t>
            </a:r>
            <a:r>
              <a:rPr lang="en-US" altLang="zh-TW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dp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的此解法時間複雜度是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O(N*M^2)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。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	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4871</TotalTime>
  <Words>1043</Words>
  <Application>Microsoft Macintosh PowerPoint</Application>
  <PresentationFormat>如螢幕大小 (4:3)</PresentationFormat>
  <Paragraphs>113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細明體</vt:lpstr>
      <vt:lpstr>標楷體</vt:lpstr>
      <vt:lpstr>Tahoma</vt:lpstr>
      <vt:lpstr>Times New Roman</vt:lpstr>
      <vt:lpstr>Wingdings</vt:lpstr>
      <vt:lpstr>Blends</vt:lpstr>
      <vt:lpstr>10163:Storage Keepers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宴 河</cp:lastModifiedBy>
  <cp:revision>179</cp:revision>
  <dcterms:created xsi:type="dcterms:W3CDTF">1601-01-01T00:00:00Z</dcterms:created>
  <dcterms:modified xsi:type="dcterms:W3CDTF">2023-06-11T09:41:17Z</dcterms:modified>
</cp:coreProperties>
</file>