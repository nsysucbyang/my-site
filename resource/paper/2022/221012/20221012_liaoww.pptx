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>
      <p:cViewPr varScale="1">
        <p:scale>
          <a:sx n="110" d="100"/>
          <a:sy n="110" d="100"/>
        </p:scale>
        <p:origin x="5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4138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659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522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9216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600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接下來我們使用動態規劃去找</a:t>
            </a:r>
            <a:endParaRPr lang="en-US" altLang="zh-TW" dirty="0"/>
          </a:p>
          <a:p>
            <a:r>
              <a:rPr lang="zh-TW" altLang="en-US" dirty="0"/>
              <a:t>他的邊界是</a:t>
            </a:r>
            <a:r>
              <a:rPr lang="en-US" altLang="zh-TW" dirty="0"/>
              <a:t>0</a:t>
            </a:r>
          </a:p>
          <a:p>
            <a:r>
              <a:rPr lang="zh-TW" altLang="en-US" dirty="0"/>
              <a:t>然後開始一個一格比較</a:t>
            </a:r>
            <a:endParaRPr lang="en-US" altLang="zh-TW" dirty="0"/>
          </a:p>
          <a:p>
            <a:r>
              <a:rPr lang="zh-TW" altLang="en-US" dirty="0"/>
              <a:t>如果相同的話就從左上角</a:t>
            </a:r>
            <a:r>
              <a:rPr lang="en-US" altLang="zh-TW" dirty="0"/>
              <a:t>+1</a:t>
            </a:r>
          </a:p>
          <a:p>
            <a:r>
              <a:rPr lang="zh-TW" altLang="en-US" dirty="0"/>
              <a:t>如果不相同就從上面和左邊找到大的值寫下來</a:t>
            </a:r>
            <a:endParaRPr lang="en-US" altLang="zh-TW" dirty="0"/>
          </a:p>
          <a:p>
            <a:r>
              <a:rPr lang="zh-TW" altLang="en-US" dirty="0"/>
              <a:t>最後出來的結果是</a:t>
            </a:r>
            <a:r>
              <a:rPr lang="en-US" altLang="zh-TW" dirty="0"/>
              <a:t>LCS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0181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8199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362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4361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000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22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D7D6-4DD2-469F-BAF4-F8765C021F74}" type="datetimeFigureOut">
              <a:rPr lang="zh-TW" altLang="en-US" smtClean="0"/>
              <a:t>2022/10/12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962" y="1122363"/>
            <a:ext cx="9744075" cy="238760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Substring Inclusion Constraint Longest Common Subsequence Problem Can Be Solved in Quadratic Time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6767" y="3845319"/>
            <a:ext cx="9398466" cy="1655762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Rashed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Alam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Sohel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  <a:endParaRPr lang="sv-S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Discrete Algorithms, </a:t>
            </a:r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17, </a:t>
            </a:r>
            <a:r>
              <a:rPr lang="fr-FR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December</a:t>
            </a:r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2012, pp. 67-73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Oct. 12, 2022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study some variants of the Constrained Longest Common Subsequence (CLCS) problem, namely, the substring inclusion CLCS (Substring-IC-CLCS) problem and a generalized version thereof. In the Substring-IC-CLCS problem, we are to find a longest common subsequence (LCS) of two given strings containing a third constraint string (given) as a substring. Previous solution to this problem runs in cubic time, 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O(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nmk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time, where n, m and k are the length of the 3 input strings. In this paper, we present simple O(nm) time algorithms to solve the Substring-IC-CLCS problem. We also study the Generalized Substring-IC-LCS problem where we are given two strings of length n and m respectively and an ordered list of p strings and the goal is to find an LCS containing each of them as a substring in the order they appear in the list. We present an O(</a:t>
            </a:r>
            <a:r>
              <a:rPr kumimoji="1"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nmp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algorithm for this generalized version of the problem.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34113-231D-D33A-54FF-EB0D64221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abdacbbacb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bdaccabadb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dc</a:t>
            </a:r>
          </a:p>
          <a:p>
            <a:endParaRPr kumimoji="1" lang="en-US" altLang="zh-TW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LCS(X, Y)</a:t>
            </a:r>
            <a:r>
              <a:rPr kumimoji="1"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bdacbab</a:t>
            </a:r>
            <a:endParaRPr kumimoji="1" lang="en-US" altLang="zh-TW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Substring-IC-LCS(X, Y, S) </a:t>
            </a:r>
            <a:r>
              <a:rPr kumimoji="1"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bdcbab</a:t>
            </a:r>
            <a:endParaRPr kumimoji="1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2330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8EE6-A7D4-BFF6-7892-9A9FBED7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DE51-465E-66A6-5FFB-70F08453E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abdacbbacb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bdaccabadb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dc,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LCS(X, Y)</a:t>
            </a:r>
            <a:r>
              <a:rPr kumimoji="1"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Substring-IC-LCS(X, Y, S) </a:t>
            </a:r>
            <a:r>
              <a:rPr kumimoji="1" lang="en-US" altLang="zh-TW" sz="28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bdcbab</a:t>
            </a:r>
            <a:endParaRPr kumimoji="1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11C71-C98D-6229-6CBB-4B7F3016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3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B50D-ED22-5938-786E-64CCEF06E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507E5-E865-A6C9-A322-CD4BA17E4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abdacbbacb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ab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3CA7CBF-CCEA-E74F-5283-D235684BB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681981"/>
              </p:ext>
            </p:extLst>
          </p:nvPr>
        </p:nvGraphicFramePr>
        <p:xfrm>
          <a:off x="3117850" y="3607274"/>
          <a:ext cx="8235953" cy="216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723">
                  <a:extLst>
                    <a:ext uri="{9D8B030D-6E8A-4147-A177-3AD203B41FA5}">
                      <a16:colId xmlns:a16="http://schemas.microsoft.com/office/drawing/2014/main" val="1393940595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1690211704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2059563603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3570216028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830841290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503620604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1324443106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2802927823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2196174162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1723179674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2739272835"/>
                    </a:ext>
                  </a:extLst>
                </a:gridCol>
              </a:tblGrid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695993"/>
                  </a:ext>
                </a:extLst>
              </a:tr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727157"/>
                  </a:ext>
                </a:extLst>
              </a:tr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84268"/>
                  </a:ext>
                </a:extLst>
              </a:tr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2841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6FFF85E-93D7-F400-FE3C-B88D8225B182}"/>
              </a:ext>
            </a:extLst>
          </p:cNvPr>
          <p:cNvSpPr txBox="1"/>
          <p:nvPr/>
        </p:nvSpPr>
        <p:spPr>
          <a:xfrm>
            <a:off x="4092428" y="3226077"/>
            <a:ext cx="726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  2	          3	       4	    5	 6           7           8            9         10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E3E558-363A-0F28-8058-996923FA3E71}"/>
              </a:ext>
            </a:extLst>
          </p:cNvPr>
          <p:cNvCxnSpPr>
            <a:cxnSpLocks/>
          </p:cNvCxnSpPr>
          <p:nvPr/>
        </p:nvCxnSpPr>
        <p:spPr>
          <a:xfrm>
            <a:off x="7455877" y="4592097"/>
            <a:ext cx="0" cy="1404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0E26FF-DD91-7035-8E82-ECBFAAA637DC}"/>
              </a:ext>
            </a:extLst>
          </p:cNvPr>
          <p:cNvSpPr txBox="1"/>
          <p:nvPr/>
        </p:nvSpPr>
        <p:spPr>
          <a:xfrm>
            <a:off x="6927610" y="5988773"/>
            <a:ext cx="1154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= 3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CEDACA-87D7-C062-FFB4-2508E7F11F1D}"/>
              </a:ext>
            </a:extLst>
          </p:cNvPr>
          <p:cNvCxnSpPr>
            <a:cxnSpLocks/>
          </p:cNvCxnSpPr>
          <p:nvPr/>
        </p:nvCxnSpPr>
        <p:spPr>
          <a:xfrm>
            <a:off x="9542917" y="5133975"/>
            <a:ext cx="0" cy="873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B4F200-D961-A859-A2C7-BEAFAB3B3BA5}"/>
              </a:ext>
            </a:extLst>
          </p:cNvPr>
          <p:cNvSpPr txBox="1"/>
          <p:nvPr/>
        </p:nvSpPr>
        <p:spPr>
          <a:xfrm>
            <a:off x="8973835" y="5996409"/>
            <a:ext cx="1154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= 7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F14B22D-68CF-8538-4A31-66B64297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9931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B50D-ED22-5938-786E-64CCEF06E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507E5-E865-A6C9-A322-CD4BA17E4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bdaccabadb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ab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3CA7CBF-CCEA-E74F-5283-D235684BB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454992"/>
              </p:ext>
            </p:extLst>
          </p:nvPr>
        </p:nvGraphicFramePr>
        <p:xfrm>
          <a:off x="3117850" y="3607274"/>
          <a:ext cx="8235953" cy="216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723">
                  <a:extLst>
                    <a:ext uri="{9D8B030D-6E8A-4147-A177-3AD203B41FA5}">
                      <a16:colId xmlns:a16="http://schemas.microsoft.com/office/drawing/2014/main" val="1393940595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1690211704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2059563603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3570216028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830841290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503620604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1324443106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2802927823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2196174162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1723179674"/>
                    </a:ext>
                  </a:extLst>
                </a:gridCol>
                <a:gridCol w="748723">
                  <a:extLst>
                    <a:ext uri="{9D8B030D-6E8A-4147-A177-3AD203B41FA5}">
                      <a16:colId xmlns:a16="http://schemas.microsoft.com/office/drawing/2014/main" val="2739272835"/>
                    </a:ext>
                  </a:extLst>
                </a:gridCol>
              </a:tblGrid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695993"/>
                  </a:ext>
                </a:extLst>
              </a:tr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727157"/>
                  </a:ext>
                </a:extLst>
              </a:tr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84268"/>
                  </a:ext>
                </a:extLst>
              </a:tr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2841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6FFF85E-93D7-F400-FE3C-B88D8225B182}"/>
              </a:ext>
            </a:extLst>
          </p:cNvPr>
          <p:cNvSpPr txBox="1"/>
          <p:nvPr/>
        </p:nvSpPr>
        <p:spPr>
          <a:xfrm>
            <a:off x="4092428" y="3226077"/>
            <a:ext cx="7261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     2	          3	       4	    5	 6           7           8            9         10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E3E558-363A-0F28-8058-996923FA3E71}"/>
              </a:ext>
            </a:extLst>
          </p:cNvPr>
          <p:cNvCxnSpPr>
            <a:cxnSpLocks/>
          </p:cNvCxnSpPr>
          <p:nvPr/>
        </p:nvCxnSpPr>
        <p:spPr>
          <a:xfrm flipH="1">
            <a:off x="10209320" y="5575177"/>
            <a:ext cx="603682" cy="495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0E26FF-DD91-7035-8E82-ECBFAAA637DC}"/>
              </a:ext>
            </a:extLst>
          </p:cNvPr>
          <p:cNvSpPr txBox="1"/>
          <p:nvPr/>
        </p:nvSpPr>
        <p:spPr>
          <a:xfrm>
            <a:off x="9499019" y="6070831"/>
            <a:ext cx="1284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= 9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CEDACA-87D7-C062-FFB4-2508E7F11F1D}"/>
              </a:ext>
            </a:extLst>
          </p:cNvPr>
          <p:cNvCxnSpPr>
            <a:cxnSpLocks/>
          </p:cNvCxnSpPr>
          <p:nvPr/>
        </p:nvCxnSpPr>
        <p:spPr>
          <a:xfrm>
            <a:off x="6669088" y="4580878"/>
            <a:ext cx="0" cy="1426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B4F200-D961-A859-A2C7-BEAFAB3B3BA5}"/>
              </a:ext>
            </a:extLst>
          </p:cNvPr>
          <p:cNvSpPr txBox="1"/>
          <p:nvPr/>
        </p:nvSpPr>
        <p:spPr>
          <a:xfrm>
            <a:off x="5999177" y="6007686"/>
            <a:ext cx="1156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2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F14B22D-68CF-8538-4A31-66B64297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869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8B50D-ED22-5938-786E-64CCEF06E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96E0065-144F-8038-2605-4C806C99F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6" y="1816100"/>
            <a:ext cx="10515600" cy="4351338"/>
          </a:xfrm>
        </p:spPr>
        <p:txBody>
          <a:bodyPr/>
          <a:lstStyle/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abdacbbacb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bdaccabadb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dc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E1AB32E4-2596-7191-AB61-28912C85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319942"/>
              </p:ext>
            </p:extLst>
          </p:nvPr>
        </p:nvGraphicFramePr>
        <p:xfrm>
          <a:off x="1177924" y="3613666"/>
          <a:ext cx="10175869" cy="216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079">
                  <a:extLst>
                    <a:ext uri="{9D8B030D-6E8A-4147-A177-3AD203B41FA5}">
                      <a16:colId xmlns:a16="http://schemas.microsoft.com/office/drawing/2014/main" val="1393940595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1690211704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2059563603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3570216028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830841290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503620604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1324443106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2802927823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3966841386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3016600996"/>
                    </a:ext>
                  </a:extLst>
                </a:gridCol>
                <a:gridCol w="925079">
                  <a:extLst>
                    <a:ext uri="{9D8B030D-6E8A-4147-A177-3AD203B41FA5}">
                      <a16:colId xmlns:a16="http://schemas.microsoft.com/office/drawing/2014/main" val="2621205748"/>
                    </a:ext>
                  </a:extLst>
                </a:gridCol>
              </a:tblGrid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695993"/>
                  </a:ext>
                </a:extLst>
              </a:tr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Sx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TW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727157"/>
                  </a:ext>
                </a:extLst>
              </a:tr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84268"/>
                  </a:ext>
                </a:extLst>
              </a:tr>
              <a:tr h="540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Sy[j]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07532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81F6E58-94DD-0168-810D-4D2C876C0B0F}"/>
              </a:ext>
            </a:extLst>
          </p:cNvPr>
          <p:cNvSpPr txBox="1"/>
          <p:nvPr/>
        </p:nvSpPr>
        <p:spPr>
          <a:xfrm>
            <a:off x="1523999" y="3244334"/>
            <a:ext cx="1016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             2              3              4              5              6              7              8	9             	10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11D064-7CF2-6A73-CB4B-87D80737778F}"/>
                  </a:ext>
                </a:extLst>
              </p:cNvPr>
              <p:cNvSpPr txBox="1"/>
              <p:nvPr/>
            </p:nvSpPr>
            <p:spPr>
              <a:xfrm>
                <a:off x="5796434" y="2333726"/>
                <a:ext cx="3694025" cy="532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</a:t>
                </a:r>
                <a:r>
                  <a:rPr kumimoji="1"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TW" sz="2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kumimoji="1"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F11D064-7CF2-6A73-CB4B-87D807377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434" y="2333726"/>
                <a:ext cx="3694025" cy="532966"/>
              </a:xfrm>
              <a:prstGeom prst="rect">
                <a:avLst/>
              </a:prstGeom>
              <a:blipFill>
                <a:blip r:embed="rId3"/>
                <a:stretch>
                  <a:fillRect l="-3465" t="-10345" r="-2145" b="-321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719ECE6-575A-8DCB-970A-B610CB84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5B9B4D-F9A6-2903-07B3-495660F8305E}"/>
              </a:ext>
            </a:extLst>
          </p:cNvPr>
          <p:cNvSpPr txBox="1"/>
          <p:nvPr/>
        </p:nvSpPr>
        <p:spPr>
          <a:xfrm>
            <a:off x="5796434" y="1811593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Substring-IC-LCS(X, Y, S) =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bdcbab</a:t>
            </a:r>
            <a:endParaRPr kumimoji="1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37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C23F-FF85-6B07-A109-FAE9DE2D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</a:t>
            </a:r>
            <a:r>
              <a:rPr kumimoji="1" lang="en-US" altLang="zh-TW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(DP algorithm)</a:t>
            </a:r>
            <a:endParaRPr lang="zh-TW" alt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B8D348D-6367-9E48-7D0B-8C0442867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5407473"/>
              </p:ext>
            </p:extLst>
          </p:nvPr>
        </p:nvGraphicFramePr>
        <p:xfrm>
          <a:off x="838200" y="2090798"/>
          <a:ext cx="4879428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619">
                  <a:extLst>
                    <a:ext uri="{9D8B030D-6E8A-4147-A177-3AD203B41FA5}">
                      <a16:colId xmlns:a16="http://schemas.microsoft.com/office/drawing/2014/main" val="3385060341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202734207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306531612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2702281225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1074846679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211131923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1605082410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2180374330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1986269762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3234808920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1591776169"/>
                    </a:ext>
                  </a:extLst>
                </a:gridCol>
                <a:gridCol w="406619">
                  <a:extLst>
                    <a:ext uri="{9D8B030D-6E8A-4147-A177-3AD203B41FA5}">
                      <a16:colId xmlns:a16="http://schemas.microsoft.com/office/drawing/2014/main" val="1003372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997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98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9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46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204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9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66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070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87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89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847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84334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7545E6-184A-040B-1D18-C30A8099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A1F8F-2916-91CD-A905-4160C99C3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095" y="3262793"/>
            <a:ext cx="5790991" cy="8653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EA5436-A21A-968E-87BA-21C839D2A33B}"/>
              </a:ext>
            </a:extLst>
          </p:cNvPr>
          <p:cNvSpPr txBox="1"/>
          <p:nvPr/>
        </p:nvSpPr>
        <p:spPr>
          <a:xfrm>
            <a:off x="5878095" y="209079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800" spc="-1" dirty="0">
                <a:solidFill>
                  <a:srgbClr val="000000"/>
                </a:solidFill>
                <a:latin typeface="Times New Roman"/>
                <a:cs typeface="Times New Roman" pitchFamily="18" charset="0"/>
              </a:rPr>
              <a:t>LCS(X, Y)</a:t>
            </a:r>
            <a:r>
              <a:rPr kumimoji="1" lang="en-US" altLang="zh-TW" sz="18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</a:t>
            </a:r>
            <a:endParaRPr kumimoji="1"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023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1C23F-FF85-6B07-A109-FAE9DE2D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5"/>
            <a:ext cx="10515600" cy="1325563"/>
          </a:xfrm>
        </p:spPr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</a:t>
            </a:r>
            <a:r>
              <a:rPr kumimoji="1" lang="en-US" altLang="zh-TW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(DP algorithm)</a:t>
            </a:r>
            <a:endParaRPr lang="zh-TW" alt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7545E6-184A-040B-1D18-C30A80994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00CB4-263F-04AA-6983-27946A5284AB}"/>
              </a:ext>
            </a:extLst>
          </p:cNvPr>
          <p:cNvSpPr txBox="1"/>
          <p:nvPr/>
        </p:nvSpPr>
        <p:spPr>
          <a:xfrm>
            <a:off x="838200" y="209545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7F6785-F746-3769-329D-CB4D373427DC}"/>
              </a:ext>
            </a:extLst>
          </p:cNvPr>
          <p:cNvSpPr txBox="1"/>
          <p:nvPr/>
        </p:nvSpPr>
        <p:spPr>
          <a:xfrm>
            <a:off x="6350349" y="5275609"/>
            <a:ext cx="4433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Sx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3 Sy = 2</a:t>
            </a:r>
          </a:p>
          <a:p>
            <a:r>
              <a:rPr lang="en-US" altLang="zh-TW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[5, 4] = LCS[3-1, 2-1] + k = 1+2 = 3 </a:t>
            </a:r>
            <a:endParaRPr lang="en-US" altLang="zh-TW" sz="1800" b="0" i="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67F23E-61D5-FD07-BAD1-384E8BA17DFD}"/>
              </a:ext>
            </a:extLst>
          </p:cNvPr>
          <p:cNvSpPr txBox="1"/>
          <p:nvPr/>
        </p:nvSpPr>
        <p:spPr>
          <a:xfrm>
            <a:off x="6350349" y="5997009"/>
            <a:ext cx="4433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Sx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Sy = 0</a:t>
            </a:r>
          </a:p>
          <a:p>
            <a:r>
              <a:rPr lang="en-US" altLang="zh-TW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[7, 10] = 4+1 = 5</a:t>
            </a:r>
            <a:endParaRPr lang="en-US" altLang="zh-TW" sz="1800" b="0" i="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C5B971-6DB2-8F3C-3FBA-7E57BE934AB5}"/>
              </a:ext>
            </a:extLst>
          </p:cNvPr>
          <p:cNvSpPr txBox="1"/>
          <p:nvPr/>
        </p:nvSpPr>
        <p:spPr>
          <a:xfrm>
            <a:off x="838200" y="1091228"/>
            <a:ext cx="6099048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abdacbbacb</a:t>
            </a:r>
            <a:r>
              <a:rPr kumimoji="1"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 = </a:t>
            </a:r>
            <a:r>
              <a:rPr kumimoji="1" lang="en-US" altLang="zh-TW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bdaccabadb</a:t>
            </a:r>
            <a:endParaRPr kumimoji="1" lang="en-US" altLang="zh-TW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dc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 = </a:t>
            </a:r>
            <a:r>
              <a:rPr kumimoji="1" lang="en-US" altLang="zh-TW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bdcbab</a:t>
            </a:r>
            <a:r>
              <a:rPr kumimoji="1" lang="en-US" altLang="zh-TW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303E3AA-110B-D1AD-9A3D-C6D0C3D60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922596"/>
              </p:ext>
            </p:extLst>
          </p:nvPr>
        </p:nvGraphicFramePr>
        <p:xfrm>
          <a:off x="838200" y="2495560"/>
          <a:ext cx="4433460" cy="404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55">
                  <a:extLst>
                    <a:ext uri="{9D8B030D-6E8A-4147-A177-3AD203B41FA5}">
                      <a16:colId xmlns:a16="http://schemas.microsoft.com/office/drawing/2014/main" val="3385060341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02734207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0653161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702281225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074846679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11131923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60508241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18037433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98626976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23480892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591776169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003372004"/>
                    </a:ext>
                  </a:extLst>
                </a:gridCol>
              </a:tblGrid>
              <a:tr h="336946"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997679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98213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93431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46006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204205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9822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66506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070859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87518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89745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847453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8433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632D0A-626E-DB7D-F804-780FDC172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284293"/>
              </p:ext>
            </p:extLst>
          </p:nvPr>
        </p:nvGraphicFramePr>
        <p:xfrm>
          <a:off x="6350349" y="1306232"/>
          <a:ext cx="4765519" cy="625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229">
                  <a:extLst>
                    <a:ext uri="{9D8B030D-6E8A-4147-A177-3AD203B41FA5}">
                      <a16:colId xmlns:a16="http://schemas.microsoft.com/office/drawing/2014/main" val="1393940595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1690211704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2059563603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3570216028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830841290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503620604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1324443106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2802927823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2196174162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1723179674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2739272835"/>
                    </a:ext>
                  </a:extLst>
                </a:gridCol>
              </a:tblGrid>
              <a:tr h="31261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695993"/>
                  </a:ext>
                </a:extLst>
              </a:tr>
              <a:tr h="31261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09" marR="52909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727157"/>
                  </a:ext>
                </a:extLst>
              </a:tr>
            </a:tbl>
          </a:graphicData>
        </a:graphic>
      </p:graphicFrame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74A69593-1BCC-83DC-D665-8AD912B38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010655"/>
              </p:ext>
            </p:extLst>
          </p:nvPr>
        </p:nvGraphicFramePr>
        <p:xfrm>
          <a:off x="6350349" y="1922269"/>
          <a:ext cx="4765519" cy="625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229">
                  <a:extLst>
                    <a:ext uri="{9D8B030D-6E8A-4147-A177-3AD203B41FA5}">
                      <a16:colId xmlns:a16="http://schemas.microsoft.com/office/drawing/2014/main" val="1393940595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1690211704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2059563603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3570216028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830841290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503620604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1324443106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2802927823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2196174162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1723179674"/>
                    </a:ext>
                  </a:extLst>
                </a:gridCol>
                <a:gridCol w="433229">
                  <a:extLst>
                    <a:ext uri="{9D8B030D-6E8A-4147-A177-3AD203B41FA5}">
                      <a16:colId xmlns:a16="http://schemas.microsoft.com/office/drawing/2014/main" val="2739272835"/>
                    </a:ext>
                  </a:extLst>
                </a:gridCol>
              </a:tblGrid>
              <a:tr h="31261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695993"/>
                  </a:ext>
                </a:extLst>
              </a:tr>
              <a:tr h="31261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910" marR="52910" marT="26455" marB="2645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727157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03F1CE-4C02-A119-8606-083E5BEA720A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2952925" y="4788826"/>
            <a:ext cx="3397424" cy="809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C13C6E-A1FC-4B65-CBD6-BD488E4CDF04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228111" y="5448891"/>
            <a:ext cx="1122238" cy="871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E6EEBCE3-8571-0442-DB01-80BF382E62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4689403"/>
              </p:ext>
            </p:extLst>
          </p:nvPr>
        </p:nvGraphicFramePr>
        <p:xfrm>
          <a:off x="6350349" y="2698266"/>
          <a:ext cx="2765688" cy="2522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74">
                  <a:extLst>
                    <a:ext uri="{9D8B030D-6E8A-4147-A177-3AD203B41FA5}">
                      <a16:colId xmlns:a16="http://schemas.microsoft.com/office/drawing/2014/main" val="3385060341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202734207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306531612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2702281225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1074846679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211131923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1605082410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2180374330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1986269762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3234808920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1591776169"/>
                    </a:ext>
                  </a:extLst>
                </a:gridCol>
                <a:gridCol w="230474">
                  <a:extLst>
                    <a:ext uri="{9D8B030D-6E8A-4147-A177-3AD203B41FA5}">
                      <a16:colId xmlns:a16="http://schemas.microsoft.com/office/drawing/2014/main" val="1003372004"/>
                    </a:ext>
                  </a:extLst>
                </a:gridCol>
              </a:tblGrid>
              <a:tr h="210194"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997679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98213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93431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46006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204205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9822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66506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070859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87518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89745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847453"/>
                  </a:ext>
                </a:extLst>
              </a:tr>
              <a:tr h="21019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1829" marR="51829" marT="25915" marB="259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8433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A232B43-4FC5-C808-0BE2-E26AA006CACB}"/>
              </a:ext>
            </a:extLst>
          </p:cNvPr>
          <p:cNvSpPr txBox="1"/>
          <p:nvPr/>
        </p:nvSpPr>
        <p:spPr>
          <a:xfrm>
            <a:off x="5841652" y="4010648"/>
            <a:ext cx="639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endParaRPr lang="zh-TW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90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938A-36AC-1D7C-2185-02AFBBDE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564"/>
            <a:ext cx="10515600" cy="1325563"/>
          </a:xfrm>
        </p:spPr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C1CAF-C537-7FDB-D0A6-E04F96D57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651"/>
            <a:ext cx="4879424" cy="10492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abdacbbacb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 = </a:t>
            </a:r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bdaccabadb</a:t>
            </a:r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dc, </a:t>
            </a:r>
            <a:r>
              <a:rPr kumimoji="1" lang="en-US" altLang="zh-TW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r>
              <a:rPr kumimoji="1"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 = </a:t>
            </a:r>
            <a:r>
              <a:rPr kumimoji="1" lang="en-US" altLang="zh-TW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bdcbab</a:t>
            </a:r>
            <a:r>
              <a:rPr kumimoji="1"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zh-TW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FD3BF-500C-67AC-7BE4-C67D3403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6862"/>
            <a:ext cx="2743200" cy="365125"/>
          </a:xfrm>
        </p:spPr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D0C2EA-CE04-5FF6-0E10-A31FDA6CCDFC}"/>
              </a:ext>
            </a:extLst>
          </p:cNvPr>
          <p:cNvSpPr txBox="1"/>
          <p:nvPr/>
        </p:nvSpPr>
        <p:spPr>
          <a:xfrm>
            <a:off x="838200" y="2164879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3F4866-D340-B47F-74C2-D0C618AD9833}"/>
              </a:ext>
            </a:extLst>
          </p:cNvPr>
          <p:cNvSpPr txBox="1"/>
          <p:nvPr/>
        </p:nvSpPr>
        <p:spPr>
          <a:xfrm>
            <a:off x="6710617" y="5891135"/>
            <a:ext cx="4433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Sx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 Sy = 7</a:t>
            </a:r>
          </a:p>
          <a:p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[7, 7] =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[6, 6] + k 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b="0" i="0" kern="12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3+2 = 5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1800" b="0" i="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9550972-C910-4A66-97D2-D6D577F5D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672258"/>
              </p:ext>
            </p:extLst>
          </p:nvPr>
        </p:nvGraphicFramePr>
        <p:xfrm>
          <a:off x="6158035" y="1178284"/>
          <a:ext cx="5342568" cy="700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688">
                  <a:extLst>
                    <a:ext uri="{9D8B030D-6E8A-4147-A177-3AD203B41FA5}">
                      <a16:colId xmlns:a16="http://schemas.microsoft.com/office/drawing/2014/main" val="1393940595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1690211704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2059563603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3570216028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830841290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503620604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1324443106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2802927823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2196174162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1723179674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2739272835"/>
                    </a:ext>
                  </a:extLst>
                </a:gridCol>
              </a:tblGrid>
              <a:tr h="3504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695993"/>
                  </a:ext>
                </a:extLst>
              </a:tr>
              <a:tr h="3504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84268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0F080F5-1AD0-4F10-9774-6FCB51D06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47431"/>
              </p:ext>
            </p:extLst>
          </p:nvPr>
        </p:nvGraphicFramePr>
        <p:xfrm>
          <a:off x="6158035" y="1852869"/>
          <a:ext cx="5342568" cy="700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688">
                  <a:extLst>
                    <a:ext uri="{9D8B030D-6E8A-4147-A177-3AD203B41FA5}">
                      <a16:colId xmlns:a16="http://schemas.microsoft.com/office/drawing/2014/main" val="1393940595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1690211704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2059563603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3570216028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830841290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503620604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1324443106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2802927823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2196174162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1723179674"/>
                    </a:ext>
                  </a:extLst>
                </a:gridCol>
                <a:gridCol w="485688">
                  <a:extLst>
                    <a:ext uri="{9D8B030D-6E8A-4147-A177-3AD203B41FA5}">
                      <a16:colId xmlns:a16="http://schemas.microsoft.com/office/drawing/2014/main" val="2739272835"/>
                    </a:ext>
                  </a:extLst>
                </a:gridCol>
              </a:tblGrid>
              <a:tr h="3504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6695993"/>
                  </a:ext>
                </a:extLst>
              </a:tr>
              <a:tr h="3504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316" marR="59316" marT="29658" marB="2965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18426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4E0F5F-7FA1-C2E6-784C-FD4B1FD591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766424"/>
              </p:ext>
            </p:extLst>
          </p:nvPr>
        </p:nvGraphicFramePr>
        <p:xfrm>
          <a:off x="838200" y="2547347"/>
          <a:ext cx="4433460" cy="404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55">
                  <a:extLst>
                    <a:ext uri="{9D8B030D-6E8A-4147-A177-3AD203B41FA5}">
                      <a16:colId xmlns:a16="http://schemas.microsoft.com/office/drawing/2014/main" val="3385060341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02734207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0653161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702281225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074846679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11131923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60508241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18037433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98626976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23480892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591776169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003372004"/>
                    </a:ext>
                  </a:extLst>
                </a:gridCol>
              </a:tblGrid>
              <a:tr h="336946"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997679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98213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93431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46006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204205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9822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66506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070859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87518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89745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847453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84334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BE0BFC-BF9B-EDF4-0E45-635F5AC4FF7A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298693" y="5891135"/>
            <a:ext cx="2411924" cy="32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C18638C-C7E2-8EE6-4575-D653A6C307D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441423" y="4519964"/>
            <a:ext cx="4269193" cy="1060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05AE3E0-EC30-BFA5-080D-8FDC535CA7CD}"/>
              </a:ext>
            </a:extLst>
          </p:cNvPr>
          <p:cNvSpPr txBox="1"/>
          <p:nvPr/>
        </p:nvSpPr>
        <p:spPr>
          <a:xfrm>
            <a:off x="6710616" y="5256881"/>
            <a:ext cx="4580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Sx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 Sy = 1</a:t>
            </a:r>
          </a:p>
          <a:p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[4, 3] =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0] + k = </a:t>
            </a:r>
            <a:r>
              <a:rPr lang="en-US" altLang="zh-TW" sz="1800" b="0" i="0" u="none" strike="noStrike" kern="1200" baseline="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zh-TW" altLang="en-US" sz="1800" b="0" i="0" kern="12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∞</a:t>
            </a:r>
            <a:r>
              <a:rPr lang="en-US" altLang="zh-TW" b="0" i="0" kern="12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0" i="0" kern="1200" dirty="0"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lang="en-US" altLang="zh-TW" sz="1800" b="0" i="0" u="none" strike="noStrike" kern="1200" baseline="0" dirty="0">
                <a:solidFill>
                  <a:schemeClr val="dk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lang="zh-TW" altLang="en-US" sz="1800" b="0" i="0" kern="12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∞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1800" b="0" i="0" kern="1200" dirty="0">
              <a:solidFill>
                <a:schemeClr val="dk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1BD33F-F756-1CF9-C27B-0137893EAAE6}"/>
              </a:ext>
            </a:extLst>
          </p:cNvPr>
          <p:cNvSpPr txBox="1"/>
          <p:nvPr/>
        </p:nvSpPr>
        <p:spPr>
          <a:xfrm>
            <a:off x="5643510" y="3554560"/>
            <a:ext cx="5978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868341A9-F340-D8FB-C953-1EE964928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6559911"/>
              </p:ext>
            </p:extLst>
          </p:nvPr>
        </p:nvGraphicFramePr>
        <p:xfrm>
          <a:off x="6158035" y="2664007"/>
          <a:ext cx="2843040" cy="2592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20">
                  <a:extLst>
                    <a:ext uri="{9D8B030D-6E8A-4147-A177-3AD203B41FA5}">
                      <a16:colId xmlns:a16="http://schemas.microsoft.com/office/drawing/2014/main" val="3385060341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202734207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306531612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2702281225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1074846679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211131923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1605082410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2180374330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1986269762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3234808920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1591776169"/>
                    </a:ext>
                  </a:extLst>
                </a:gridCol>
                <a:gridCol w="236920">
                  <a:extLst>
                    <a:ext uri="{9D8B030D-6E8A-4147-A177-3AD203B41FA5}">
                      <a16:colId xmlns:a16="http://schemas.microsoft.com/office/drawing/2014/main" val="1003372004"/>
                    </a:ext>
                  </a:extLst>
                </a:gridCol>
              </a:tblGrid>
              <a:tr h="216073">
                <a:tc>
                  <a:txBody>
                    <a:bodyPr/>
                    <a:lstStyle/>
                    <a:p>
                      <a:pPr algn="ctr"/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997679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98213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93431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46006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204205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9822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66506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070859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87518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89745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847453"/>
                  </a:ext>
                </a:extLst>
              </a:tr>
              <a:tr h="21607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9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277" marR="53277" marT="26639" marB="2663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84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348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9A0A4-8FF8-AE35-2F9C-4E29923FE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Non-overlapping pattern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F86E7-BA57-B649-FC22-4806DF817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abdacbbacb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bdaccabadb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dc,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BC915F-5FD9-6AF6-A57C-467BC36E9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7622AEA-0D30-0796-F211-11A74CE4C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598864"/>
              </p:ext>
            </p:extLst>
          </p:nvPr>
        </p:nvGraphicFramePr>
        <p:xfrm>
          <a:off x="838200" y="4001294"/>
          <a:ext cx="735767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41">
                  <a:extLst>
                    <a:ext uri="{9D8B030D-6E8A-4147-A177-3AD203B41FA5}">
                      <a16:colId xmlns:a16="http://schemas.microsoft.com/office/drawing/2014/main" val="2821391700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2869941193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47751278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4082554573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3353374472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1813953744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3552708921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113927621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2943963444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4214982394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2204108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9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NOVx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6851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EF41A80-E325-7F6D-5A87-987A27B89D25}"/>
              </a:ext>
            </a:extLst>
          </p:cNvPr>
          <p:cNvSpPr txBox="1"/>
          <p:nvPr/>
        </p:nvSpPr>
        <p:spPr>
          <a:xfrm>
            <a:off x="1431833" y="3631962"/>
            <a:ext cx="684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/>
              <a:t>                 1         2         3         4         5          6         7         8         9        10</a:t>
            </a:r>
            <a:endParaRPr lang="zh-TW" altLang="en-US" dirty="0"/>
          </a:p>
        </p:txBody>
      </p:sp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7EC31D9F-0362-6C98-4E56-121467BD3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249829"/>
              </p:ext>
            </p:extLst>
          </p:nvPr>
        </p:nvGraphicFramePr>
        <p:xfrm>
          <a:off x="838200" y="5306706"/>
          <a:ext cx="735767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41">
                  <a:extLst>
                    <a:ext uri="{9D8B030D-6E8A-4147-A177-3AD203B41FA5}">
                      <a16:colId xmlns:a16="http://schemas.microsoft.com/office/drawing/2014/main" val="2821391700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2869941193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47751278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4082554573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3353374472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1813953744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3552708921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113927621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2943963444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4214982394"/>
                    </a:ext>
                  </a:extLst>
                </a:gridCol>
                <a:gridCol w="600063">
                  <a:extLst>
                    <a:ext uri="{9D8B030D-6E8A-4147-A177-3AD203B41FA5}">
                      <a16:colId xmlns:a16="http://schemas.microsoft.com/office/drawing/2014/main" val="309479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9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6851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9090948-B530-AE13-D802-4F68EDB8706A}"/>
              </a:ext>
            </a:extLst>
          </p:cNvPr>
          <p:cNvSpPr txBox="1"/>
          <p:nvPr/>
        </p:nvSpPr>
        <p:spPr>
          <a:xfrm>
            <a:off x="1431833" y="4937374"/>
            <a:ext cx="684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/>
              <a:t>                 1         2         3         4         5          6         7         8         9        10</a:t>
            </a:r>
            <a:endParaRPr lang="zh-TW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DE6285-95C5-E1E0-821F-CF3BBF0EDB4D}"/>
              </a:ext>
            </a:extLst>
          </p:cNvPr>
          <p:cNvSpPr txBox="1"/>
          <p:nvPr/>
        </p:nvSpPr>
        <p:spPr>
          <a:xfrm>
            <a:off x="8870609" y="3820716"/>
            <a:ext cx="27325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</a:t>
            </a:r>
            <a:r>
              <a:rPr kumimoji="1" lang="en-US" altLang="zh-TW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acb</a:t>
            </a:r>
            <a:endParaRPr kumimoji="1" lang="en-US" altLang="zh-TW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NOVx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7] = 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82B323-00C2-56FA-127D-58A3501CB561}"/>
              </a:ext>
            </a:extLst>
          </p:cNvPr>
          <p:cNvSpPr txBox="1"/>
          <p:nvPr/>
        </p:nvSpPr>
        <p:spPr>
          <a:xfrm>
            <a:off x="8276977" y="4110524"/>
            <a:ext cx="593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562E63-8DD9-9D63-DC48-A77161FC0CCA}"/>
              </a:ext>
            </a:extLst>
          </p:cNvPr>
          <p:cNvSpPr txBox="1"/>
          <p:nvPr/>
        </p:nvSpPr>
        <p:spPr>
          <a:xfrm>
            <a:off x="8870609" y="5133282"/>
            <a:ext cx="30768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</a:t>
            </a:r>
            <a:r>
              <a:rPr kumimoji="1" lang="en-US" altLang="zh-TW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kumimoji="1" lang="en-US" altLang="zh-TW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kumimoji="1"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10] = 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21BBFA-67D4-C6B3-D493-90E4C243BAB5}"/>
              </a:ext>
            </a:extLst>
          </p:cNvPr>
          <p:cNvSpPr txBox="1"/>
          <p:nvPr/>
        </p:nvSpPr>
        <p:spPr>
          <a:xfrm>
            <a:off x="8276977" y="5423090"/>
            <a:ext cx="593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</a:p>
        </p:txBody>
      </p:sp>
    </p:spTree>
    <p:extLst>
      <p:ext uri="{BB962C8B-B14F-4D97-AF65-F5344CB8AC3E}">
        <p14:creationId xmlns:p14="http://schemas.microsoft.com/office/powerpoint/2010/main" val="194843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938A-36AC-1D7C-2185-02AFBBDE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564"/>
            <a:ext cx="10515600" cy="1325563"/>
          </a:xfrm>
        </p:spPr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Generalized Substring-IC-LCS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FD3BF-500C-67AC-7BE4-C67D3403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19410"/>
            <a:ext cx="2743200" cy="365125"/>
          </a:xfrm>
        </p:spPr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C566E8-DA8B-1B99-603C-8AACFC217019}"/>
              </a:ext>
            </a:extLst>
          </p:cNvPr>
          <p:cNvSpPr txBox="1"/>
          <p:nvPr/>
        </p:nvSpPr>
        <p:spPr>
          <a:xfrm>
            <a:off x="838200" y="2057787"/>
            <a:ext cx="10823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E87040-C89B-C033-1CE1-61424C39E32D}"/>
              </a:ext>
            </a:extLst>
          </p:cNvPr>
          <p:cNvSpPr txBox="1"/>
          <p:nvPr/>
        </p:nvSpPr>
        <p:spPr>
          <a:xfrm>
            <a:off x="6582739" y="5547362"/>
            <a:ext cx="4433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NOVx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 </a:t>
            </a:r>
            <a:r>
              <a:rPr lang="en-US" altLang="zh-TW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NOVy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[10, 10]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[8, 8] + k</a:t>
            </a:r>
          </a:p>
          <a:p>
            <a:r>
              <a:rPr lang="en-US" altLang="zh-TW" sz="1800" b="0" i="0" kern="12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</a:t>
            </a:r>
            <a:r>
              <a:rPr lang="en-US" altLang="zh-TW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+ 1</a:t>
            </a:r>
            <a:r>
              <a:rPr lang="en-US" altLang="zh-TW" sz="1800" b="0" i="0" kern="1200" dirty="0">
                <a:solidFill>
                  <a:schemeClr val="dk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6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FDED2E3A-9636-920B-2097-26BE228A5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046437"/>
              </p:ext>
            </p:extLst>
          </p:nvPr>
        </p:nvGraphicFramePr>
        <p:xfrm>
          <a:off x="6327479" y="1353867"/>
          <a:ext cx="5036595" cy="52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45">
                  <a:extLst>
                    <a:ext uri="{9D8B030D-6E8A-4147-A177-3AD203B41FA5}">
                      <a16:colId xmlns:a16="http://schemas.microsoft.com/office/drawing/2014/main" val="2821391700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2869941193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47751278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4082554573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3353374472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1813953744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3552708921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113927621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2943963444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4214982394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2204108483"/>
                    </a:ext>
                  </a:extLst>
                </a:gridCol>
              </a:tblGrid>
              <a:tr h="253854">
                <a:tc>
                  <a:txBody>
                    <a:bodyPr/>
                    <a:lstStyle/>
                    <a:p>
                      <a:pPr algn="ctr"/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910391"/>
                  </a:ext>
                </a:extLst>
              </a:tr>
              <a:tr h="25385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NOVx</a:t>
                      </a:r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</a:t>
                      </a:r>
                      <a:r>
                        <a:rPr lang="en-US" altLang="zh-TW" sz="13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685103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5901AC0-29CD-B2B9-A416-DF06A3174B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753613"/>
              </p:ext>
            </p:extLst>
          </p:nvPr>
        </p:nvGraphicFramePr>
        <p:xfrm>
          <a:off x="6327479" y="1871067"/>
          <a:ext cx="5036594" cy="507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944">
                  <a:extLst>
                    <a:ext uri="{9D8B030D-6E8A-4147-A177-3AD203B41FA5}">
                      <a16:colId xmlns:a16="http://schemas.microsoft.com/office/drawing/2014/main" val="2821391700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2869941193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47751278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4082554573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3353374472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1813953744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3552708921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113927621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2943963444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4214982394"/>
                    </a:ext>
                  </a:extLst>
                </a:gridCol>
                <a:gridCol w="410765">
                  <a:extLst>
                    <a:ext uri="{9D8B030D-6E8A-4147-A177-3AD203B41FA5}">
                      <a16:colId xmlns:a16="http://schemas.microsoft.com/office/drawing/2014/main" val="309479288"/>
                    </a:ext>
                  </a:extLst>
                </a:gridCol>
              </a:tblGrid>
              <a:tr h="253854">
                <a:tc>
                  <a:txBody>
                    <a:bodyPr/>
                    <a:lstStyle/>
                    <a:p>
                      <a:pPr algn="ctr"/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910391"/>
                  </a:ext>
                </a:extLst>
              </a:tr>
              <a:tr h="25385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</a:t>
                      </a:r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[3, </a:t>
                      </a:r>
                      <a:r>
                        <a:rPr lang="en-US" altLang="zh-TW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594" marR="62594" marT="31297" marB="312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68510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5A37E8B-3F86-7023-CFA9-C1D16D514C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0427448"/>
              </p:ext>
            </p:extLst>
          </p:nvPr>
        </p:nvGraphicFramePr>
        <p:xfrm>
          <a:off x="838200" y="2547347"/>
          <a:ext cx="4433460" cy="404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55">
                  <a:extLst>
                    <a:ext uri="{9D8B030D-6E8A-4147-A177-3AD203B41FA5}">
                      <a16:colId xmlns:a16="http://schemas.microsoft.com/office/drawing/2014/main" val="3385060341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02734207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0653161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702281225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074846679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11131923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60508241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218037433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986269762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3234808920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591776169"/>
                    </a:ext>
                  </a:extLst>
                </a:gridCol>
                <a:gridCol w="369455">
                  <a:extLst>
                    <a:ext uri="{9D8B030D-6E8A-4147-A177-3AD203B41FA5}">
                      <a16:colId xmlns:a16="http://schemas.microsoft.com/office/drawing/2014/main" val="1003372004"/>
                    </a:ext>
                  </a:extLst>
                </a:gridCol>
              </a:tblGrid>
              <a:tr h="336946"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997679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98213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93431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46006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204205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9822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66506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070859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87518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89745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847453"/>
                  </a:ext>
                </a:extLst>
              </a:tr>
              <a:tr h="33694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083" marR="83083" marT="41541" marB="415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84334"/>
                  </a:ext>
                </a:extLst>
              </a:tr>
            </a:tbl>
          </a:graphicData>
        </a:graphic>
      </p:graphicFrame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B22BBC4-7050-45F7-497B-CE49BBE51531}"/>
              </a:ext>
            </a:extLst>
          </p:cNvPr>
          <p:cNvSpPr txBox="1">
            <a:spLocks/>
          </p:cNvSpPr>
          <p:nvPr/>
        </p:nvSpPr>
        <p:spPr>
          <a:xfrm>
            <a:off x="827926" y="1115651"/>
            <a:ext cx="4879424" cy="10492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abdacbbacb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 = </a:t>
            </a:r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bdaccabadb</a:t>
            </a:r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{ dc, </a:t>
            </a:r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r>
              <a:rPr kumimoji="1"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Substring-IC-LCS = </a:t>
            </a:r>
            <a:r>
              <a:rPr kumimoji="1" lang="en-US" altLang="zh-TW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bdcbab</a:t>
            </a:r>
            <a:r>
              <a:rPr kumimoji="1" lang="en-US" altLang="zh-TW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zh-TW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5AF124-CC13-ED53-6B41-49857BF30E4F}"/>
              </a:ext>
            </a:extLst>
          </p:cNvPr>
          <p:cNvSpPr txBox="1"/>
          <p:nvPr/>
        </p:nvSpPr>
        <p:spPr>
          <a:xfrm>
            <a:off x="5707350" y="3654651"/>
            <a:ext cx="769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StrLCS</a:t>
            </a:r>
            <a:r>
              <a:rPr lang="en-US" altLang="zh-TW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E8BBAAD-819A-60A1-356A-552F95F2E3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4688566"/>
              </p:ext>
            </p:extLst>
          </p:nvPr>
        </p:nvGraphicFramePr>
        <p:xfrm>
          <a:off x="6327477" y="2571866"/>
          <a:ext cx="2994624" cy="273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52">
                  <a:extLst>
                    <a:ext uri="{9D8B030D-6E8A-4147-A177-3AD203B41FA5}">
                      <a16:colId xmlns:a16="http://schemas.microsoft.com/office/drawing/2014/main" val="3385060341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202734207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306531612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2702281225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1074846679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211131923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1605082410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2180374330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1986269762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3234808920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1591776169"/>
                    </a:ext>
                  </a:extLst>
                </a:gridCol>
                <a:gridCol w="249552">
                  <a:extLst>
                    <a:ext uri="{9D8B030D-6E8A-4147-A177-3AD203B41FA5}">
                      <a16:colId xmlns:a16="http://schemas.microsoft.com/office/drawing/2014/main" val="1003372004"/>
                    </a:ext>
                  </a:extLst>
                </a:gridCol>
              </a:tblGrid>
              <a:tr h="227593">
                <a:tc>
                  <a:txBody>
                    <a:bodyPr/>
                    <a:lstStyle/>
                    <a:p>
                      <a:pPr algn="ctr"/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997679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798213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93431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46006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204205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9822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466506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9070859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87518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889745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847453"/>
                  </a:ext>
                </a:extLst>
              </a:tr>
              <a:tr h="2275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1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9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∞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120" marR="56120" marT="28059" marB="2805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84334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ABEA3B2-43D0-C97C-F801-A0176DBCE156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5208063" y="6009027"/>
            <a:ext cx="1374676" cy="376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035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E32A-8416-A57A-A55B-17B6957E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49979-F5A7-6534-10C1-F736244053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/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[r,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], S</a:t>
                </a:r>
                <a:r>
                  <a:rPr kumimoji="1" lang="en-US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[r, j]: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TW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kumimoji="1"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</a:t>
                </a:r>
                <a:r>
                  <a:rPr kumimoji="1" lang="pt-BR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[r, i], NOV</a:t>
                </a:r>
                <a:r>
                  <a:rPr kumimoji="1" lang="pt-BR" altLang="zh-TW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kumimoji="1" lang="pt-BR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[r, j]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TW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Substring-IC-LCS: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Generalized Substring-IC-LCS: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p)</a:t>
                </a:r>
                <a:endParaRPr kumimoji="1"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049979-F5A7-6534-10C1-F736244053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459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2630</Words>
  <Application>Microsoft Office PowerPoint</Application>
  <PresentationFormat>Widescreen</PresentationFormat>
  <Paragraphs>1415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Office Theme</vt:lpstr>
      <vt:lpstr>The Substring Inclusion Constraint Longest Common Subsequence Problem Can Be Solved in Quadratic Time</vt:lpstr>
      <vt:lpstr>Abstract</vt:lpstr>
      <vt:lpstr>Substring-IC-LCS</vt:lpstr>
      <vt:lpstr>Generalized Substring-IC-LCS</vt:lpstr>
      <vt:lpstr>Substring-IC-LCS</vt:lpstr>
      <vt:lpstr>Substring-IC-LCS</vt:lpstr>
      <vt:lpstr>Substring-IC-LCS</vt:lpstr>
      <vt:lpstr>Substring-IC-LCS(DP algorithm)</vt:lpstr>
      <vt:lpstr>Substring-IC-LCS(DP algorithm)</vt:lpstr>
      <vt:lpstr>Generalized Substring-IC-LCS</vt:lpstr>
      <vt:lpstr>Non-overlapping pattern</vt:lpstr>
      <vt:lpstr>Generalized Substring-IC-LCS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31</cp:revision>
  <dcterms:created xsi:type="dcterms:W3CDTF">2022-10-11T15:33:00Z</dcterms:created>
  <dcterms:modified xsi:type="dcterms:W3CDTF">2022-10-12T11:29:03Z</dcterms:modified>
</cp:coreProperties>
</file>