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3" r:id="rId2"/>
    <p:sldId id="257" r:id="rId3"/>
    <p:sldId id="287" r:id="rId4"/>
    <p:sldId id="285" r:id="rId5"/>
    <p:sldId id="273" r:id="rId6"/>
    <p:sldId id="275" r:id="rId7"/>
    <p:sldId id="277" r:id="rId8"/>
    <p:sldId id="279" r:id="rId9"/>
    <p:sldId id="278" r:id="rId10"/>
    <p:sldId id="280" r:id="rId11"/>
    <p:sldId id="281" r:id="rId12"/>
    <p:sldId id="286" r:id="rId13"/>
    <p:sldId id="288" r:id="rId14"/>
    <p:sldId id="283" r:id="rId15"/>
    <p:sldId id="289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18" autoAdjust="0"/>
  </p:normalViewPr>
  <p:slideViewPr>
    <p:cSldViewPr>
      <p:cViewPr varScale="1">
        <p:scale>
          <a:sx n="88" d="100"/>
          <a:sy n="88" d="100"/>
        </p:scale>
        <p:origin x="2256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2939-B1A7-4514-8535-C0FA2719FDF5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C87CB-DD22-4F6F-BC7E-D0042601E3D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3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>ellipsis</a:t>
            </a:r>
            <a:endParaRPr lang="en-US" altLang="zh-TW" dirty="0"/>
          </a:p>
          <a:p>
            <a:r>
              <a:rPr lang="en-US" altLang="zh-TW" b="1" i="0" dirty="0"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Squared </a:t>
            </a:r>
          </a:p>
          <a:p>
            <a:r>
              <a:rPr lang="en-US" altLang="zh-TW" dirty="0"/>
              <a:t>multiplied by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970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所找出來的</a:t>
            </a:r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subequence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允許些微下降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892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我們會的一行行衡的去尋找是否</a:t>
            </a:r>
            <a:r>
              <a:rPr lang="en-US" altLang="zh-TW" dirty="0"/>
              <a:t>match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276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確認接在甚麼後面花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TW" sz="12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確認接在甚麼後面花</a:t>
                </a:r>
                <a:r>
                  <a:rPr lang="en-US" altLang="zh-TW" sz="1200" i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𝑐^2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763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7A5FF-B09D-4861-A15A-3127FCDEB20B}" type="datetimeFigureOut">
              <a:rPr lang="zh-TW" altLang="en-US" smtClean="0"/>
              <a:pPr/>
              <a:t>2022/10/12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22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020BB-2F3A-40BC-8D8D-94312CEA4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20" y="672353"/>
            <a:ext cx="8625823" cy="2837610"/>
          </a:xfrm>
        </p:spPr>
        <p:txBody>
          <a:bodyPr anchor="t"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 Longest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ommon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ubsequence that is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lmost Increasing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equences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Repeated Elements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014221-E47C-4C31-898A-DB1330B1B844}"/>
              </a:ext>
            </a:extLst>
          </p:cNvPr>
          <p:cNvSpPr txBox="1"/>
          <p:nvPr/>
        </p:nvSpPr>
        <p:spPr>
          <a:xfrm>
            <a:off x="6084168" y="5862481"/>
            <a:ext cx="2775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Presenter: </a:t>
            </a:r>
            <a:r>
              <a:rPr lang="en-US" altLang="zh-TW" dirty="0" err="1"/>
              <a:t>Chien</a:t>
            </a:r>
            <a:r>
              <a:rPr lang="en-US" altLang="zh-TW" dirty="0"/>
              <a:t>-Ting Lee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altLang="zh-TW" dirty="0"/>
              <a:t>Date:</a:t>
            </a:r>
            <a:r>
              <a:rPr lang="zh-TW" altLang="en-US" dirty="0"/>
              <a:t> </a:t>
            </a:r>
            <a:r>
              <a:rPr lang="en-US" altLang="zh-TW" dirty="0"/>
              <a:t>Oct</a:t>
            </a:r>
            <a:r>
              <a:rPr lang="x-none" altLang="zh-TW" dirty="0"/>
              <a:t>. </a:t>
            </a:r>
            <a:r>
              <a:rPr lang="en-US" altLang="zh-TW" dirty="0"/>
              <a:t>12</a:t>
            </a:r>
            <a:r>
              <a:rPr lang="x-none" altLang="zh-TW" dirty="0"/>
              <a:t>, 202</a:t>
            </a:r>
            <a:r>
              <a:rPr lang="en-US" altLang="zh-TW" dirty="0"/>
              <a:t>2</a:t>
            </a:r>
            <a:endParaRPr lang="x-none" altLang="zh-TW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C2097824-8D05-480F-BF6D-DD8BBC3EF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" y="3509962"/>
            <a:ext cx="9144000" cy="2133615"/>
          </a:xfrm>
        </p:spPr>
        <p:txBody>
          <a:bodyPr>
            <a:normAutofit/>
          </a:bodyPr>
          <a:lstStyle/>
          <a:p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Johra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Muhammad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Moosa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Rahman, Fatema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Zohora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Algorithms</a:t>
            </a:r>
          </a:p>
          <a:p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Volume</a:t>
            </a:r>
            <a:r>
              <a:rPr lang="en-US" altLang="zh-TW" sz="1800" dirty="0"/>
              <a:t>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 May 2013, Pages 12–20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6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two permutations A and B of [1..n] and a fixed constant c, we introduce the notion of a longest common almost increasing subsequence (LCAIS) as a longest common subsequence that can be converted to an increasing subsequence by possibly adding a value, that is at most c, to each of the elements. We present an algorithm for computing LCAIS in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space, O(n(n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 time.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  <a:blipFill>
                <a:blip r:embed="rId3"/>
                <a:stretch>
                  <a:fillRect l="-1111" r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almost increasing </a:t>
            </a:r>
            <a:r>
              <a:rPr lang="en-US" altLang="zh-TW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subequence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 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28800"/>
                <a:ext cx="8229600" cy="449736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S1= (1, 2, 5, 3, 4, 7)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LIS= 1, 2, 3, 4, 7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LAIS: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4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LAIS= 1, 2, </a:t>
                </a:r>
                <a:r>
                  <a:rPr lang="en-US" altLang="zh-TW" sz="24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4, 7 </a:t>
                </a:r>
                <a:endParaRPr lang="zh-TW" alt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zh-TW" altLang="en-US" sz="24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28800"/>
                <a:ext cx="8229600" cy="4497363"/>
              </a:xfrm>
              <a:blipFill>
                <a:blip r:embed="rId3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241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2906" y="1268760"/>
            <a:ext cx="7886700" cy="5273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Given two permutations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(20, 7, 15, 1, 14, 3, 6, 13, 11, 18, 10, 9), m = 12</a:t>
            </a:r>
            <a:endParaRPr lang="en-US" altLang="zh-TW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(7, 12, 15, 14, 21, 13, 6, 11, 10, 9), n = 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and a constant c = 3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 txBox="1">
            <a:spLocks/>
          </p:cNvSpPr>
          <p:nvPr/>
        </p:nvSpPr>
        <p:spPr>
          <a:xfrm>
            <a:off x="452906" y="583740"/>
            <a:ext cx="7886700" cy="11536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564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/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394857" y="2090057"/>
            <a:ext cx="1233713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493487" y="537029"/>
            <a:ext cx="8244114" cy="5631543"/>
            <a:chOff x="493487" y="537029"/>
            <a:chExt cx="8244114" cy="5631543"/>
          </a:xfrm>
        </p:grpSpPr>
        <p:sp>
          <p:nvSpPr>
            <p:cNvPr id="6" name="矩形 5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7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492133923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3847560-B124-5095-3756-3BA1BCC46908}"/>
                  </a:ext>
                </a:extLst>
              </p:cNvPr>
              <p:cNvSpPr txBox="1"/>
              <p:nvPr/>
            </p:nvSpPr>
            <p:spPr>
              <a:xfrm>
                <a:off x="2195736" y="593627"/>
                <a:ext cx="1825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𝑝𝑟𝑒</m:t>
                      </m:r>
                      <m:r>
                        <a:rPr lang="en-US" altLang="zh-TW" b="0" i="1" smtClean="0">
                          <a:latin typeface="Cambria Math"/>
                        </a:rPr>
                        <m:t>(7)=(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altLang="zh-TW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3847560-B124-5095-3756-3BA1BCC46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593627"/>
                <a:ext cx="182569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410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/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628570" y="2699656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493487" y="537029"/>
            <a:ext cx="8244114" cy="5631543"/>
            <a:chOff x="493487" y="537029"/>
            <a:chExt cx="8244114" cy="5631543"/>
          </a:xfrm>
        </p:grpSpPr>
        <p:sp>
          <p:nvSpPr>
            <p:cNvPr id="17" name="矩形 16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8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247449141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9" name="文字方塊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群組 11"/>
          <p:cNvGrpSpPr/>
          <p:nvPr/>
        </p:nvGrpSpPr>
        <p:grpSpPr>
          <a:xfrm>
            <a:off x="493487" y="492742"/>
            <a:ext cx="8244114" cy="5675830"/>
            <a:chOff x="493487" y="492742"/>
            <a:chExt cx="8244114" cy="5675830"/>
          </a:xfrm>
        </p:grpSpPr>
        <p:sp>
          <p:nvSpPr>
            <p:cNvPr id="13" name="矩形 12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4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95734435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19"/>
                <p:cNvSpPr txBox="1"/>
                <p:nvPr/>
              </p:nvSpPr>
              <p:spPr>
                <a:xfrm>
                  <a:off x="3931544" y="492742"/>
                  <a:ext cx="16644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0" name="文字方塊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544" y="492742"/>
                  <a:ext cx="1664495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41E13273-4DE9-46A5-4CA4-A1CE9A504D7B}"/>
                  </a:ext>
                </a:extLst>
              </p:cNvPr>
              <p:cNvSpPr txBox="1"/>
              <p:nvPr/>
            </p:nvSpPr>
            <p:spPr>
              <a:xfrm>
                <a:off x="2206724" y="515828"/>
                <a:ext cx="1825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/>
                        </a:rPr>
                        <m:t>𝑝𝑟𝑒</m:t>
                      </m:r>
                      <m:r>
                        <a:rPr lang="en-US" altLang="zh-TW" i="1">
                          <a:latin typeface="Cambria Math"/>
                        </a:rPr>
                        <m:t>(7)=(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altLang="zh-TW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41E13273-4DE9-46A5-4CA4-A1CE9A504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724" y="515828"/>
                <a:ext cx="1825693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193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/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492170" y="3222170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493487" y="537027"/>
            <a:ext cx="8244114" cy="5631543"/>
            <a:chOff x="493487" y="537029"/>
            <a:chExt cx="8244114" cy="5631543"/>
          </a:xfrm>
        </p:grpSpPr>
        <p:sp>
          <p:nvSpPr>
            <p:cNvPr id="6" name="矩形 5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7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863726896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群組 16"/>
          <p:cNvGrpSpPr/>
          <p:nvPr/>
        </p:nvGrpSpPr>
        <p:grpSpPr>
          <a:xfrm>
            <a:off x="493487" y="537028"/>
            <a:ext cx="8244114" cy="5631543"/>
            <a:chOff x="493487" y="537029"/>
            <a:chExt cx="8244114" cy="5631543"/>
          </a:xfrm>
        </p:grpSpPr>
        <p:sp>
          <p:nvSpPr>
            <p:cNvPr id="18" name="矩形 17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304667359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/>
                <p:cNvSpPr txBox="1"/>
                <p:nvPr/>
              </p:nvSpPr>
              <p:spPr>
                <a:xfrm>
                  <a:off x="2155371" y="929553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3" name="文字方塊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371" y="929553"/>
                  <a:ext cx="200753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2155371" y="563848"/>
                  <a:ext cx="1664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371" y="563848"/>
                  <a:ext cx="166449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32137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/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376054" y="2525484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493487" y="553353"/>
            <a:ext cx="8244114" cy="5631543"/>
            <a:chOff x="493487" y="537029"/>
            <a:chExt cx="8244114" cy="5631543"/>
          </a:xfrm>
        </p:grpSpPr>
        <p:sp>
          <p:nvSpPr>
            <p:cNvPr id="8" name="矩形 7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731374105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0" name="文字方塊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群組 17"/>
          <p:cNvGrpSpPr/>
          <p:nvPr/>
        </p:nvGrpSpPr>
        <p:grpSpPr>
          <a:xfrm>
            <a:off x="493487" y="553353"/>
            <a:ext cx="8244114" cy="5631543"/>
            <a:chOff x="493487" y="537029"/>
            <a:chExt cx="8244114" cy="5631543"/>
          </a:xfrm>
        </p:grpSpPr>
        <p:sp>
          <p:nvSpPr>
            <p:cNvPr id="19" name="矩形 18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0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0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898212283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1" name="文字方塊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21"/>
                <p:cNvSpPr txBox="1"/>
                <p:nvPr/>
              </p:nvSpPr>
              <p:spPr>
                <a:xfrm>
                  <a:off x="2175410" y="970942"/>
                  <a:ext cx="16644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2" name="文字方塊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410" y="970942"/>
                  <a:ext cx="1664495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22"/>
                <p:cNvSpPr txBox="1"/>
                <p:nvPr/>
              </p:nvSpPr>
              <p:spPr>
                <a:xfrm>
                  <a:off x="4099676" y="562304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3" name="文字方塊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9676" y="562304"/>
                  <a:ext cx="200753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4131321" y="932539"/>
                  <a:ext cx="15362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(6)=(7)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1321" y="932539"/>
                  <a:ext cx="1536253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8E8F359-7B75-B7F3-AAC8-95836BBB52CA}"/>
                  </a:ext>
                </a:extLst>
              </p:cNvPr>
              <p:cNvSpPr txBox="1"/>
              <p:nvPr/>
            </p:nvSpPr>
            <p:spPr>
              <a:xfrm>
                <a:off x="2173627" y="578279"/>
                <a:ext cx="1825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/>
                        </a:rPr>
                        <m:t>𝑝𝑟𝑒</m:t>
                      </m:r>
                      <m:r>
                        <a:rPr lang="en-US" altLang="zh-TW" i="1">
                          <a:latin typeface="Cambria Math"/>
                        </a:rPr>
                        <m:t>(7)=(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altLang="zh-TW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8E8F359-7B75-B7F3-AAC8-95836BBB5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627" y="578279"/>
                <a:ext cx="1825693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531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/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376054" y="2525484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147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/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376054" y="2525484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4229100" y="3200400"/>
            <a:ext cx="1285875" cy="1095375"/>
          </a:xfrm>
          <a:custGeom>
            <a:avLst/>
            <a:gdLst>
              <a:gd name="connsiteX0" fmla="*/ 0 w 1285875"/>
              <a:gd name="connsiteY0" fmla="*/ 0 h 1095375"/>
              <a:gd name="connsiteX1" fmla="*/ 342900 w 1285875"/>
              <a:gd name="connsiteY1" fmla="*/ 657225 h 1095375"/>
              <a:gd name="connsiteX2" fmla="*/ 1285875 w 1285875"/>
              <a:gd name="connsiteY2" fmla="*/ 1095375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875" h="1095375">
                <a:moveTo>
                  <a:pt x="0" y="0"/>
                </a:moveTo>
                <a:cubicBezTo>
                  <a:pt x="64294" y="237331"/>
                  <a:pt x="128588" y="474663"/>
                  <a:pt x="342900" y="657225"/>
                </a:cubicBezTo>
                <a:cubicBezTo>
                  <a:pt x="557212" y="839787"/>
                  <a:pt x="921543" y="967581"/>
                  <a:pt x="1285875" y="109537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01330" y="4511221"/>
            <a:ext cx="2082802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7, 15, 14, 13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30" name="群組 29"/>
          <p:cNvGrpSpPr/>
          <p:nvPr/>
        </p:nvGrpSpPr>
        <p:grpSpPr>
          <a:xfrm>
            <a:off x="493487" y="537028"/>
            <a:ext cx="8244114" cy="5631543"/>
            <a:chOff x="493487" y="537029"/>
            <a:chExt cx="8244114" cy="5631543"/>
          </a:xfrm>
        </p:grpSpPr>
        <p:sp>
          <p:nvSpPr>
            <p:cNvPr id="31" name="矩形 30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32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264809037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>
            <p:graphicFrame>
              <p:nvGraphicFramePr>
                <p:cNvPr id="32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264809037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/>
                <p:cNvSpPr txBox="1"/>
                <p:nvPr/>
              </p:nvSpPr>
              <p:spPr>
                <a:xfrm>
                  <a:off x="2220686" y="540656"/>
                  <a:ext cx="16644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686" y="540656"/>
                  <a:ext cx="166449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/>
                <p:cNvSpPr txBox="1"/>
                <p:nvPr/>
              </p:nvSpPr>
              <p:spPr>
                <a:xfrm>
                  <a:off x="2220685" y="909988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685" y="909988"/>
                  <a:ext cx="200753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/>
                <p:cNvSpPr txBox="1"/>
                <p:nvPr/>
              </p:nvSpPr>
              <p:spPr>
                <a:xfrm>
                  <a:off x="4235885" y="540656"/>
                  <a:ext cx="15362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(6)=(7)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885" y="540656"/>
                  <a:ext cx="153625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/>
                <p:cNvSpPr txBox="1"/>
                <p:nvPr/>
              </p:nvSpPr>
              <p:spPr>
                <a:xfrm>
                  <a:off x="4235885" y="909988"/>
                  <a:ext cx="23505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(13)=(7, 15, 14)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7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885" y="909988"/>
                  <a:ext cx="235058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63479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034533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0070C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0070C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4229100" y="3200400"/>
            <a:ext cx="1285875" cy="1095375"/>
          </a:xfrm>
          <a:custGeom>
            <a:avLst/>
            <a:gdLst>
              <a:gd name="connsiteX0" fmla="*/ 0 w 1285875"/>
              <a:gd name="connsiteY0" fmla="*/ 0 h 1095375"/>
              <a:gd name="connsiteX1" fmla="*/ 342900 w 1285875"/>
              <a:gd name="connsiteY1" fmla="*/ 657225 h 1095375"/>
              <a:gd name="connsiteX2" fmla="*/ 1285875 w 1285875"/>
              <a:gd name="connsiteY2" fmla="*/ 1095375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875" h="1095375">
                <a:moveTo>
                  <a:pt x="0" y="0"/>
                </a:moveTo>
                <a:cubicBezTo>
                  <a:pt x="64294" y="237331"/>
                  <a:pt x="128588" y="474663"/>
                  <a:pt x="342900" y="657225"/>
                </a:cubicBezTo>
                <a:cubicBezTo>
                  <a:pt x="557212" y="839787"/>
                  <a:pt x="921543" y="967581"/>
                  <a:pt x="1285875" y="109537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401330" y="4511221"/>
            <a:ext cx="2082802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7, 15, 14, 13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6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F661AFCF-9343-86A6-6A89-9EE50EDC66BB}"/>
              </a:ext>
            </a:extLst>
          </p:cNvPr>
          <p:cNvGrpSpPr/>
          <p:nvPr/>
        </p:nvGrpSpPr>
        <p:grpSpPr>
          <a:xfrm>
            <a:off x="844097" y="808725"/>
            <a:ext cx="6916966" cy="5240550"/>
            <a:chOff x="1139372" y="574342"/>
            <a:chExt cx="6916966" cy="5240550"/>
          </a:xfrm>
        </p:grpSpPr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4" name="內容版面配置區 4">
                  <a:extLst>
                    <a:ext uri="{FF2B5EF4-FFF2-40B4-BE49-F238E27FC236}">
                      <a16:creationId xmlns:a16="http://schemas.microsoft.com/office/drawing/2014/main" id="{1E568F6D-12B1-1E80-AEB0-4F8B7208B4C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584816676"/>
                    </p:ext>
                  </p:extLst>
                </p:nvPr>
              </p:nvGraphicFramePr>
              <p:xfrm>
                <a:off x="1202419" y="144899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8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accent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accent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>
            <p:graphicFrame>
              <p:nvGraphicFramePr>
                <p:cNvPr id="4" name="內容版面配置區 4">
                  <a:extLst>
                    <a:ext uri="{FF2B5EF4-FFF2-40B4-BE49-F238E27FC236}">
                      <a16:creationId xmlns:a16="http://schemas.microsoft.com/office/drawing/2014/main" id="{1E568F6D-12B1-1E80-AEB0-4F8B7208B4C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584816676"/>
                    </p:ext>
                  </p:extLst>
                </p:nvPr>
              </p:nvGraphicFramePr>
              <p:xfrm>
                <a:off x="1202419" y="144899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8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accent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accent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marL="0" algn="ctr" defTabSz="914400" rtl="0" eaLnBrk="1" latinLnBrk="0" hangingPunct="1"/>
                            <a:r>
                              <a:rPr lang="en-US" altLang="zh-TW" sz="1800" kern="1200" dirty="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14</a:t>
                            </a:r>
                            <a:endParaRPr lang="zh-TW" altLang="en-US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8AC3291C-4E95-224B-8760-FC9020A74702}"/>
                    </a:ext>
                  </a:extLst>
                </p:cNvPr>
                <p:cNvSpPr txBox="1"/>
                <p:nvPr/>
              </p:nvSpPr>
              <p:spPr>
                <a:xfrm>
                  <a:off x="1139372" y="841827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8AC3291C-4E95-224B-8760-FC9020A74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7"/>
                  <a:ext cx="728020" cy="391646"/>
                </a:xfrm>
                <a:prstGeom prst="rect">
                  <a:avLst/>
                </a:prstGeom>
                <a:blipFill>
                  <a:blip r:embed="rId2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0494F35F-8868-AAB8-98FE-5B3D3B91948D}"/>
                    </a:ext>
                  </a:extLst>
                </p:cNvPr>
                <p:cNvSpPr txBox="1"/>
                <p:nvPr/>
              </p:nvSpPr>
              <p:spPr>
                <a:xfrm>
                  <a:off x="2091872" y="591455"/>
                  <a:ext cx="1664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0494F35F-8868-AAB8-98FE-5B3D3B919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872" y="591455"/>
                  <a:ext cx="166449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CAC7CB88-6D9F-44EA-F746-96304DA9315F}"/>
                    </a:ext>
                  </a:extLst>
                </p:cNvPr>
                <p:cNvSpPr txBox="1"/>
                <p:nvPr/>
              </p:nvSpPr>
              <p:spPr>
                <a:xfrm>
                  <a:off x="2091872" y="960787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CAC7CB88-6D9F-44EA-F746-96304DA931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872" y="960787"/>
                  <a:ext cx="200753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DBD0676B-9DBD-2891-F7ED-68E3B4792BDF}"/>
                    </a:ext>
                  </a:extLst>
                </p:cNvPr>
                <p:cNvSpPr txBox="1"/>
                <p:nvPr/>
              </p:nvSpPr>
              <p:spPr>
                <a:xfrm>
                  <a:off x="4191000" y="574342"/>
                  <a:ext cx="15362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(6)=(7)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DBD0676B-9DBD-2891-F7ED-68E3B4792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574342"/>
                  <a:ext cx="1536253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41D63EE-4F93-1C92-35E1-416FCF709FEA}"/>
                    </a:ext>
                  </a:extLst>
                </p:cNvPr>
                <p:cNvSpPr txBox="1"/>
                <p:nvPr/>
              </p:nvSpPr>
              <p:spPr>
                <a:xfrm>
                  <a:off x="4191000" y="960787"/>
                  <a:ext cx="23505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(13)=(7, 15, 14)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41D63EE-4F93-1C92-35E1-416FCF709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960787"/>
                  <a:ext cx="235058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08199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群組 36"/>
          <p:cNvGrpSpPr/>
          <p:nvPr/>
        </p:nvGrpSpPr>
        <p:grpSpPr>
          <a:xfrm>
            <a:off x="539552" y="692696"/>
            <a:ext cx="8244114" cy="5631543"/>
            <a:chOff x="493487" y="537029"/>
            <a:chExt cx="8244114" cy="5631543"/>
          </a:xfrm>
        </p:grpSpPr>
        <p:sp>
          <p:nvSpPr>
            <p:cNvPr id="38" name="矩形 37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9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37364987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0" name="文字方塊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/>
                <p:cNvSpPr txBox="1"/>
                <p:nvPr/>
              </p:nvSpPr>
              <p:spPr>
                <a:xfrm>
                  <a:off x="2091872" y="591456"/>
                  <a:ext cx="1664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1" name="文字方塊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872" y="591456"/>
                  <a:ext cx="166449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/>
                <p:cNvSpPr txBox="1"/>
                <p:nvPr/>
              </p:nvSpPr>
              <p:spPr>
                <a:xfrm>
                  <a:off x="2091872" y="960788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2" name="文字方塊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872" y="960788"/>
                  <a:ext cx="200753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/>
                <p:cNvSpPr txBox="1"/>
                <p:nvPr/>
              </p:nvSpPr>
              <p:spPr>
                <a:xfrm>
                  <a:off x="4191000" y="574343"/>
                  <a:ext cx="15362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(6)=(7)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3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574343"/>
                  <a:ext cx="153625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/>
                <p:cNvSpPr txBox="1"/>
                <p:nvPr/>
              </p:nvSpPr>
              <p:spPr>
                <a:xfrm>
                  <a:off x="4191000" y="960788"/>
                  <a:ext cx="23505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(13)=(7, 15, 14)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4" name="文字方塊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960788"/>
                  <a:ext cx="235058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/>
                <p:cNvSpPr txBox="1"/>
                <p:nvPr/>
              </p:nvSpPr>
              <p:spPr>
                <a:xfrm>
                  <a:off x="6506027" y="574343"/>
                  <a:ext cx="18792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5" name="文字方塊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027" y="574343"/>
                  <a:ext cx="187929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29580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/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6703783" y="3486830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7, 6, 11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4229100" y="3200400"/>
            <a:ext cx="1285875" cy="1095375"/>
          </a:xfrm>
          <a:custGeom>
            <a:avLst/>
            <a:gdLst>
              <a:gd name="connsiteX0" fmla="*/ 0 w 1285875"/>
              <a:gd name="connsiteY0" fmla="*/ 0 h 1095375"/>
              <a:gd name="connsiteX1" fmla="*/ 342900 w 1285875"/>
              <a:gd name="connsiteY1" fmla="*/ 657225 h 1095375"/>
              <a:gd name="connsiteX2" fmla="*/ 1285875 w 1285875"/>
              <a:gd name="connsiteY2" fmla="*/ 1095375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875" h="1095375">
                <a:moveTo>
                  <a:pt x="0" y="0"/>
                </a:moveTo>
                <a:cubicBezTo>
                  <a:pt x="64294" y="237331"/>
                  <a:pt x="128588" y="474663"/>
                  <a:pt x="342900" y="657225"/>
                </a:cubicBezTo>
                <a:cubicBezTo>
                  <a:pt x="557212" y="839787"/>
                  <a:pt x="921543" y="967581"/>
                  <a:pt x="1285875" y="109537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401330" y="4511221"/>
            <a:ext cx="2082802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7, 15, 14, 13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872037" y="5429930"/>
            <a:ext cx="2417763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7, 6, 11, 10, 9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6" name="手繪多邊形 5"/>
          <p:cNvSpPr/>
          <p:nvPr/>
        </p:nvSpPr>
        <p:spPr>
          <a:xfrm>
            <a:off x="6845300" y="4686300"/>
            <a:ext cx="1308100" cy="1104900"/>
          </a:xfrm>
          <a:custGeom>
            <a:avLst/>
            <a:gdLst>
              <a:gd name="connsiteX0" fmla="*/ 0 w 1308100"/>
              <a:gd name="connsiteY0" fmla="*/ 0 h 1104900"/>
              <a:gd name="connsiteX1" fmla="*/ 127000 w 1308100"/>
              <a:gd name="connsiteY1" fmla="*/ 495300 h 1104900"/>
              <a:gd name="connsiteX2" fmla="*/ 647700 w 1308100"/>
              <a:gd name="connsiteY2" fmla="*/ 736600 h 1104900"/>
              <a:gd name="connsiteX3" fmla="*/ 1041400 w 1308100"/>
              <a:gd name="connsiteY3" fmla="*/ 838200 h 1104900"/>
              <a:gd name="connsiteX4" fmla="*/ 1308100 w 1308100"/>
              <a:gd name="connsiteY4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8100" h="1104900">
                <a:moveTo>
                  <a:pt x="0" y="0"/>
                </a:moveTo>
                <a:cubicBezTo>
                  <a:pt x="9525" y="186266"/>
                  <a:pt x="19050" y="372533"/>
                  <a:pt x="127000" y="495300"/>
                </a:cubicBezTo>
                <a:cubicBezTo>
                  <a:pt x="234950" y="618067"/>
                  <a:pt x="495300" y="679450"/>
                  <a:pt x="647700" y="736600"/>
                </a:cubicBezTo>
                <a:cubicBezTo>
                  <a:pt x="800100" y="793750"/>
                  <a:pt x="931333" y="776817"/>
                  <a:pt x="1041400" y="838200"/>
                </a:cubicBezTo>
                <a:cubicBezTo>
                  <a:pt x="1151467" y="899583"/>
                  <a:pt x="1229783" y="1002241"/>
                  <a:pt x="1308100" y="1104900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6154057" y="3947886"/>
            <a:ext cx="703943" cy="776514"/>
          </a:xfrm>
          <a:custGeom>
            <a:avLst/>
            <a:gdLst>
              <a:gd name="connsiteX0" fmla="*/ 0 w 660400"/>
              <a:gd name="connsiteY0" fmla="*/ 0 h 800100"/>
              <a:gd name="connsiteX1" fmla="*/ 457200 w 660400"/>
              <a:gd name="connsiteY1" fmla="*/ 266700 h 800100"/>
              <a:gd name="connsiteX2" fmla="*/ 660400 w 660400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0400" h="800100">
                <a:moveTo>
                  <a:pt x="0" y="0"/>
                </a:moveTo>
                <a:cubicBezTo>
                  <a:pt x="173566" y="66675"/>
                  <a:pt x="347133" y="133350"/>
                  <a:pt x="457200" y="266700"/>
                </a:cubicBezTo>
                <a:cubicBezTo>
                  <a:pt x="567267" y="400050"/>
                  <a:pt x="613833" y="600075"/>
                  <a:pt x="660400" y="800100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1" name="群組 30"/>
          <p:cNvGrpSpPr/>
          <p:nvPr/>
        </p:nvGrpSpPr>
        <p:grpSpPr>
          <a:xfrm>
            <a:off x="493487" y="537028"/>
            <a:ext cx="8244114" cy="5631543"/>
            <a:chOff x="493487" y="537029"/>
            <a:chExt cx="8244114" cy="5631543"/>
          </a:xfrm>
        </p:grpSpPr>
        <p:sp>
          <p:nvSpPr>
            <p:cNvPr id="32" name="矩形 31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3" name="內容版面配置區 4"/>
                <p:cNvGraphicFramePr>
                  <a:graphicFrameLocks/>
                </p:cNvGraphicFramePr>
                <p:nvPr/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9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3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65842979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9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/>
                <p:cNvSpPr txBox="1"/>
                <p:nvPr/>
              </p:nvSpPr>
              <p:spPr>
                <a:xfrm>
                  <a:off x="5592613" y="587043"/>
                  <a:ext cx="22223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0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, 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613" y="587043"/>
                  <a:ext cx="222234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/>
                <p:cNvSpPr txBox="1"/>
                <p:nvPr/>
              </p:nvSpPr>
              <p:spPr>
                <a:xfrm>
                  <a:off x="5592613" y="1028825"/>
                  <a:ext cx="2437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9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, 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1, 10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613" y="1028825"/>
                  <a:ext cx="2437142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/>
                <p:cNvSpPr txBox="1"/>
                <p:nvPr/>
              </p:nvSpPr>
              <p:spPr>
                <a:xfrm>
                  <a:off x="2379513" y="762125"/>
                  <a:ext cx="18792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11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7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9513" y="762125"/>
                  <a:ext cx="187929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5744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2AE3B0-84F5-9716-9A79-2DB1073C8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CC5B84-E86C-2513-91FF-0CB19DE2C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zh-TW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zh-TW" dirty="0"/>
                  <a:t>) space</a:t>
                </a:r>
              </a:p>
              <a:p>
                <a:r>
                  <a:rPr lang="pt-BR" altLang="zh-TW" dirty="0"/>
                  <a:t>O(n(n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zh-TW" dirty="0"/>
                  <a:t>)) time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0CC5B84-E86C-2513-91FF-0CB19DE2C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607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3814</TotalTime>
  <Words>1604</Words>
  <Application>Microsoft Office PowerPoint</Application>
  <PresentationFormat>如螢幕大小 (4:3)</PresentationFormat>
  <Paragraphs>967</Paragraphs>
  <Slides>15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Office 佈景主題</vt:lpstr>
      <vt:lpstr>Computing a Longest Common Subsequence that is Almost Increasing On Sequences Having No Repeated Elements</vt:lpstr>
      <vt:lpstr>Abstract</vt:lpstr>
      <vt:lpstr>Longest almost increasing subequence (c = 3)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李健廷</dc:creator>
  <cp:lastModifiedBy>健廷 李</cp:lastModifiedBy>
  <cp:revision>254</cp:revision>
  <dcterms:created xsi:type="dcterms:W3CDTF">2022-02-04T17:32:31Z</dcterms:created>
  <dcterms:modified xsi:type="dcterms:W3CDTF">2022-10-12T12:23:01Z</dcterms:modified>
</cp:coreProperties>
</file>