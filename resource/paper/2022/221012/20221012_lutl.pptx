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6" r:id="rId4"/>
    <p:sldId id="284" r:id="rId5"/>
    <p:sldId id="287" r:id="rId6"/>
    <p:sldId id="288" r:id="rId7"/>
    <p:sldId id="290" r:id="rId8"/>
    <p:sldId id="305" r:id="rId9"/>
    <p:sldId id="292" r:id="rId10"/>
    <p:sldId id="289" r:id="rId11"/>
    <p:sldId id="291" r:id="rId12"/>
    <p:sldId id="294" r:id="rId13"/>
    <p:sldId id="293" r:id="rId14"/>
    <p:sldId id="295" r:id="rId15"/>
    <p:sldId id="303" r:id="rId16"/>
    <p:sldId id="298" r:id="rId17"/>
    <p:sldId id="299" r:id="rId18"/>
    <p:sldId id="296" r:id="rId19"/>
    <p:sldId id="300" r:id="rId20"/>
    <p:sldId id="301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76"/>
    <p:restoredTop sz="93690"/>
  </p:normalViewPr>
  <p:slideViewPr>
    <p:cSldViewPr snapToGrid="0" snapToObjects="1">
      <p:cViewPr varScale="1">
        <p:scale>
          <a:sx n="119" d="100"/>
          <a:sy n="119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96875" indent="-396875">
              <a:defRPr sz="3000"/>
            </a:lvl1pPr>
            <a:lvl2pPr marL="714375" indent="-396875">
              <a:defRPr sz="3000"/>
            </a:lvl2pPr>
            <a:lvl3pPr marL="1031875" indent="-396875">
              <a:defRPr sz="3000"/>
            </a:lvl3pPr>
            <a:lvl4pPr marL="1349375" indent="-396875">
              <a:defRPr sz="3000"/>
            </a:lvl4pPr>
            <a:lvl5pPr marL="1666875" indent="-396875">
              <a:defRPr sz="3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03047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2022/10/10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701" y="1122363"/>
            <a:ext cx="10634598" cy="238760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Music Matching Based on Rough Longest Common Subsequence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386" y="3602038"/>
            <a:ext cx="10133229" cy="2224604"/>
          </a:xfrm>
        </p:spPr>
        <p:txBody>
          <a:bodyPr>
            <a:normAutofit/>
          </a:bodyPr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Hwei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-Jen Lin (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林慧珍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Hung-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Hsuan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 (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吳宏宣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Chun-Wei Wang (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王駿瑋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SCIENCE AND ENGINEERING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27, pp. 95-110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Oct. 12, 2022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proposed a music matching method, called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RLCS (rough longest common subsequence)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method. It is an improved version of the LCS to avoid some problems occurring in global alignment matching. First a rough equality for two notes is defined for constructing the RLCS of two music fragments. The length of the RLCS of two music sequences defined in this work is a real number, called a weighted length. It is evaluated according to the degree of similarity of every pair of matched notes from the two sequences. This method takes into account both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width-across-query (WAQ)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width-across-reference (WAR)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combines them with the weighted length of the corresponding RLCS to define a score measurement for the RLCS. The measurement associated with WAQ and WAR enables the proposed method to tolerate dense errors.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(2/2)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programming algorithm is presented for simultaneously calculating the weighted length of RLCS, the WAQ, the WAR, and the score to determine the RLCS. As a result, the proposed method can perform the matching in a better and simpler manner. In order to speed up the matching process, we use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algorithm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by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Tarhio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Ukkonen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filter the reference and discard most of the reference areas that do not match. We applied the proposed algorithm to content-based music retrieval. The experimental results showed that with our proposed algorithm the retrieval system provides a higher retrieval rate than that with the local alignment method proposed by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Suyoto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. The use of the filtering algorithm has been shown to greatly reduce the computation time for exact matching and for approximate matching with a low error tolerance.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756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 / WAQ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for LCS, WAR, WAQ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 LCS for Music Matching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 for RLCS, RWAR, RWAQ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Algorithm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103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LCS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25BB3D-B7F5-9CB2-4E96-E910D312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2" y="2232154"/>
            <a:ext cx="11948276" cy="30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5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979CF7A-0F53-CC1D-39FF-9C05053B4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18813"/>
            <a:ext cx="7772400" cy="547255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WAR / WAQ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CE54674-AA2A-7D22-F5D8-28F0619B8127}"/>
              </a:ext>
            </a:extLst>
          </p:cNvPr>
          <p:cNvSpPr txBox="1"/>
          <p:nvPr/>
        </p:nvSpPr>
        <p:spPr>
          <a:xfrm>
            <a:off x="6684327" y="746876"/>
            <a:ext cx="3643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TW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idth- across-reference (WAR)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Width-across-query (WAQ)</a:t>
            </a:r>
          </a:p>
        </p:txBody>
      </p:sp>
    </p:spTree>
    <p:extLst>
      <p:ext uri="{BB962C8B-B14F-4D97-AF65-F5344CB8AC3E}">
        <p14:creationId xmlns:p14="http://schemas.microsoft.com/office/powerpoint/2010/main" val="384882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DP for LCS, WAR, WAQ (1/2)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9B2394-D2B4-5920-101F-F537E001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3631"/>
            <a:ext cx="7772400" cy="17713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0FCF5A4-5ABB-AF7B-D826-2A1E032D7B11}"/>
              </a:ext>
            </a:extLst>
          </p:cNvPr>
          <p:cNvSpPr txBox="1"/>
          <p:nvPr/>
        </p:nvSpPr>
        <p:spPr>
          <a:xfrm>
            <a:off x="838200" y="3965944"/>
            <a:ext cx="159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DP for LCS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51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>
            <a:extLst>
              <a:ext uri="{FF2B5EF4-FFF2-40B4-BE49-F238E27FC236}">
                <a16:creationId xmlns:a16="http://schemas.microsoft.com/office/drawing/2014/main" id="{DA8D571B-2CE4-E52E-862B-5D17268CC4C8}"/>
              </a:ext>
            </a:extLst>
          </p:cNvPr>
          <p:cNvGrpSpPr/>
          <p:nvPr/>
        </p:nvGrpSpPr>
        <p:grpSpPr>
          <a:xfrm>
            <a:off x="0" y="1451707"/>
            <a:ext cx="12283586" cy="2193347"/>
            <a:chOff x="-2657" y="3685134"/>
            <a:chExt cx="12283586" cy="2193347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C5BF23A2-B2E3-D568-7F33-E1A11ABBF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657" y="3685134"/>
              <a:ext cx="7772400" cy="2193347"/>
            </a:xfrm>
            <a:prstGeom prst="rect">
              <a:avLst/>
            </a:prstGeom>
          </p:spPr>
        </p:pic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47BCB158-F251-8943-B1BF-E9118CA498E8}"/>
                </a:ext>
              </a:extLst>
            </p:cNvPr>
            <p:cNvCxnSpPr/>
            <p:nvPr/>
          </p:nvCxnSpPr>
          <p:spPr>
            <a:xfrm>
              <a:off x="3639880" y="4503225"/>
              <a:ext cx="5422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ECE59FD3-DC29-B8C7-DBA3-2F9D64A6395B}"/>
                </a:ext>
              </a:extLst>
            </p:cNvPr>
            <p:cNvCxnSpPr>
              <a:cxnSpLocks/>
            </p:cNvCxnSpPr>
            <p:nvPr/>
          </p:nvCxnSpPr>
          <p:spPr>
            <a:xfrm>
              <a:off x="4416944" y="5855780"/>
              <a:ext cx="183588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4DA91F3-93BC-6FFD-546C-D894C47F992B}"/>
                </a:ext>
              </a:extLst>
            </p:cNvPr>
            <p:cNvSpPr txBox="1"/>
            <p:nvPr/>
          </p:nvSpPr>
          <p:spPr>
            <a:xfrm>
              <a:off x="6357229" y="5502397"/>
              <a:ext cx="2838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9B4D489A-E89F-F877-70D2-89921FBDFC4A}"/>
                </a:ext>
              </a:extLst>
            </p:cNvPr>
            <p:cNvSpPr txBox="1"/>
            <p:nvPr/>
          </p:nvSpPr>
          <p:spPr>
            <a:xfrm>
              <a:off x="7867861" y="4554182"/>
              <a:ext cx="4413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≥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 0 →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+ 1</a:t>
              </a:r>
              <a:endParaRPr kumimoji="1" lang="zh-TW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A37394B-1473-0CEF-55DF-D1B45A5B73FA}"/>
                </a:ext>
              </a:extLst>
            </p:cNvPr>
            <p:cNvSpPr txBox="1"/>
            <p:nvPr/>
          </p:nvSpPr>
          <p:spPr>
            <a:xfrm>
              <a:off x="7867861" y="4987721"/>
              <a:ext cx="3618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≥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 → 0</a:t>
              </a:r>
              <a:endParaRPr kumimoji="1" lang="zh-TW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DP for LCS, WAR, WAQ (2/3)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65116A-C9EE-7455-B36D-30EFBB589D3A}"/>
              </a:ext>
            </a:extLst>
          </p:cNvPr>
          <p:cNvSpPr txBox="1"/>
          <p:nvPr/>
        </p:nvSpPr>
        <p:spPr>
          <a:xfrm>
            <a:off x="8746440" y="1472872"/>
            <a:ext cx="169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DP for WAR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2E78E52-B081-1E85-3972-9583ADCD2529}"/>
              </a:ext>
            </a:extLst>
          </p:cNvPr>
          <p:cNvSpPr txBox="1"/>
          <p:nvPr/>
        </p:nvSpPr>
        <p:spPr>
          <a:xfrm>
            <a:off x="7996165" y="962655"/>
            <a:ext cx="337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is reference, and col is query.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CB74EF0-4721-16D4-E919-72D265DC0C12}"/>
              </a:ext>
            </a:extLst>
          </p:cNvPr>
          <p:cNvSpPr txBox="1"/>
          <p:nvPr/>
        </p:nvSpPr>
        <p:spPr>
          <a:xfrm>
            <a:off x="717168" y="147143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①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ABFE65-B61F-209E-B5AD-D0BD24CC17AA}"/>
              </a:ext>
            </a:extLst>
          </p:cNvPr>
          <p:cNvSpPr txBox="1"/>
          <p:nvPr/>
        </p:nvSpPr>
        <p:spPr>
          <a:xfrm>
            <a:off x="717168" y="189679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②</a:t>
            </a:r>
            <a:endParaRPr kumimoji="1"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C39D39-8420-394D-8E86-A43E54383DF1}"/>
              </a:ext>
            </a:extLst>
          </p:cNvPr>
          <p:cNvSpPr txBox="1"/>
          <p:nvPr/>
        </p:nvSpPr>
        <p:spPr>
          <a:xfrm>
            <a:off x="717168" y="232214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③</a:t>
            </a:r>
            <a:endParaRPr kumimoji="1"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48A329F-6A49-748C-32D9-DC5F8F720FE0}"/>
              </a:ext>
            </a:extLst>
          </p:cNvPr>
          <p:cNvSpPr txBox="1"/>
          <p:nvPr/>
        </p:nvSpPr>
        <p:spPr>
          <a:xfrm>
            <a:off x="717168" y="274750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④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37F27A6-016A-EE1C-0133-D8151E104660}"/>
              </a:ext>
            </a:extLst>
          </p:cNvPr>
          <p:cNvSpPr txBox="1"/>
          <p:nvPr/>
        </p:nvSpPr>
        <p:spPr>
          <a:xfrm>
            <a:off x="717168" y="317285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⑤</a:t>
            </a:r>
            <a:endParaRPr kumimoji="1" lang="zh-TW" altLang="en-US" dirty="0"/>
          </a:p>
        </p:txBody>
      </p:sp>
      <p:graphicFrame>
        <p:nvGraphicFramePr>
          <p:cNvPr id="31" name="表格 8">
            <a:extLst>
              <a:ext uri="{FF2B5EF4-FFF2-40B4-BE49-F238E27FC236}">
                <a16:creationId xmlns:a16="http://schemas.microsoft.com/office/drawing/2014/main" id="{1D132629-5264-14D7-6618-ADA4EDD4C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838675"/>
              </p:ext>
            </p:extLst>
          </p:nvPr>
        </p:nvGraphicFramePr>
        <p:xfrm>
          <a:off x="1033225" y="3952420"/>
          <a:ext cx="255482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8705">
                  <a:extLst>
                    <a:ext uri="{9D8B030D-6E8A-4147-A177-3AD203B41FA5}">
                      <a16:colId xmlns:a16="http://schemas.microsoft.com/office/drawing/2014/main" val="2202994242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1366587952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3710552349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351720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②</a:t>
                      </a:r>
                      <a:endParaRPr kumimoji="1"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06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36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794677"/>
                  </a:ext>
                </a:extLst>
              </a:tr>
            </a:tbl>
          </a:graphicData>
        </a:graphic>
      </p:graphicFrame>
      <p:sp>
        <p:nvSpPr>
          <p:cNvPr id="32" name="文字方塊 31">
            <a:extLst>
              <a:ext uri="{FF2B5EF4-FFF2-40B4-BE49-F238E27FC236}">
                <a16:creationId xmlns:a16="http://schemas.microsoft.com/office/drawing/2014/main" id="{2D61FC9D-7DED-FFC9-0E0B-60B683915836}"/>
              </a:ext>
            </a:extLst>
          </p:cNvPr>
          <p:cNvSpPr txBox="1"/>
          <p:nvPr/>
        </p:nvSpPr>
        <p:spPr>
          <a:xfrm>
            <a:off x="948161" y="5280235"/>
            <a:ext cx="5719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3]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2] + 1 = 2 + 1 = 3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，因為</a:t>
            </a:r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尾匹配</a:t>
            </a:r>
            <a:endParaRPr kumimoji="1"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/>
              <a:t>③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3]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3] + 1 = 2 + 1 = 3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，因為</a:t>
            </a:r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尾不匹配</a:t>
            </a:r>
            <a:endParaRPr kumimoji="1"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/>
              <a:t>⑤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3]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2] = 3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，因為</a:t>
            </a:r>
            <a:r>
              <a:rPr kumimoji="1" lang="en-US" altLang="zh-TW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尾匹配</a:t>
            </a:r>
            <a:endParaRPr kumimoji="1"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/>
              <a:t>②'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[5, 3]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 2] = 1 + 1 = 2 </a:t>
            </a:r>
            <a:endParaRPr kumimoji="1" lang="zh-TW" altLang="en-US" dirty="0"/>
          </a:p>
        </p:txBody>
      </p:sp>
      <p:graphicFrame>
        <p:nvGraphicFramePr>
          <p:cNvPr id="40" name="表格 8">
            <a:extLst>
              <a:ext uri="{FF2B5EF4-FFF2-40B4-BE49-F238E27FC236}">
                <a16:creationId xmlns:a16="http://schemas.microsoft.com/office/drawing/2014/main" id="{94994087-3AE7-7C4B-2A1C-B4042C552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285369"/>
              </p:ext>
            </p:extLst>
          </p:nvPr>
        </p:nvGraphicFramePr>
        <p:xfrm>
          <a:off x="4605074" y="3952420"/>
          <a:ext cx="255482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8705">
                  <a:extLst>
                    <a:ext uri="{9D8B030D-6E8A-4147-A177-3AD203B41FA5}">
                      <a16:colId xmlns:a16="http://schemas.microsoft.com/office/drawing/2014/main" val="2202994242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1366587952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3710552349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351720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③</a:t>
                      </a:r>
                      <a:endParaRPr kumimoji="1"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06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36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794677"/>
                  </a:ext>
                </a:extLst>
              </a:tr>
            </a:tbl>
          </a:graphicData>
        </a:graphic>
      </p:graphicFrame>
      <p:graphicFrame>
        <p:nvGraphicFramePr>
          <p:cNvPr id="42" name="表格 8">
            <a:extLst>
              <a:ext uri="{FF2B5EF4-FFF2-40B4-BE49-F238E27FC236}">
                <a16:creationId xmlns:a16="http://schemas.microsoft.com/office/drawing/2014/main" id="{8339EE14-15D9-B1AB-2983-EC34B06BF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82787"/>
              </p:ext>
            </p:extLst>
          </p:nvPr>
        </p:nvGraphicFramePr>
        <p:xfrm>
          <a:off x="8176922" y="3952420"/>
          <a:ext cx="255482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8705">
                  <a:extLst>
                    <a:ext uri="{9D8B030D-6E8A-4147-A177-3AD203B41FA5}">
                      <a16:colId xmlns:a16="http://schemas.microsoft.com/office/drawing/2014/main" val="2202994242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1366587952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3710552349"/>
                    </a:ext>
                  </a:extLst>
                </a:gridCol>
                <a:gridCol w="638705">
                  <a:extLst>
                    <a:ext uri="{9D8B030D-6E8A-4147-A177-3AD203B41FA5}">
                      <a16:colId xmlns:a16="http://schemas.microsoft.com/office/drawing/2014/main" val="351720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⑤</a:t>
                      </a:r>
                      <a:endParaRPr kumimoji="1"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06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36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794677"/>
                  </a:ext>
                </a:extLst>
              </a:tr>
            </a:tbl>
          </a:graphicData>
        </a:graphic>
      </p:graphicFrame>
      <p:graphicFrame>
        <p:nvGraphicFramePr>
          <p:cNvPr id="43" name="表格 8">
            <a:extLst>
              <a:ext uri="{FF2B5EF4-FFF2-40B4-BE49-F238E27FC236}">
                <a16:creationId xmlns:a16="http://schemas.microsoft.com/office/drawing/2014/main" id="{C836D5D5-2BA4-0FBE-0AD4-40B1D5111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4644"/>
              </p:ext>
            </p:extLst>
          </p:nvPr>
        </p:nvGraphicFramePr>
        <p:xfrm>
          <a:off x="6780093" y="5337474"/>
          <a:ext cx="393269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449">
                  <a:extLst>
                    <a:ext uri="{9D8B030D-6E8A-4147-A177-3AD203B41FA5}">
                      <a16:colId xmlns:a16="http://schemas.microsoft.com/office/drawing/2014/main" val="2202994242"/>
                    </a:ext>
                  </a:extLst>
                </a:gridCol>
                <a:gridCol w="655449">
                  <a:extLst>
                    <a:ext uri="{9D8B030D-6E8A-4147-A177-3AD203B41FA5}">
                      <a16:colId xmlns:a16="http://schemas.microsoft.com/office/drawing/2014/main" val="1366587952"/>
                    </a:ext>
                  </a:extLst>
                </a:gridCol>
                <a:gridCol w="655449">
                  <a:extLst>
                    <a:ext uri="{9D8B030D-6E8A-4147-A177-3AD203B41FA5}">
                      <a16:colId xmlns:a16="http://schemas.microsoft.com/office/drawing/2014/main" val="3710552349"/>
                    </a:ext>
                  </a:extLst>
                </a:gridCol>
                <a:gridCol w="655449">
                  <a:extLst>
                    <a:ext uri="{9D8B030D-6E8A-4147-A177-3AD203B41FA5}">
                      <a16:colId xmlns:a16="http://schemas.microsoft.com/office/drawing/2014/main" val="351720410"/>
                    </a:ext>
                  </a:extLst>
                </a:gridCol>
                <a:gridCol w="655449">
                  <a:extLst>
                    <a:ext uri="{9D8B030D-6E8A-4147-A177-3AD203B41FA5}">
                      <a16:colId xmlns:a16="http://schemas.microsoft.com/office/drawing/2014/main" val="2287618335"/>
                    </a:ext>
                  </a:extLst>
                </a:gridCol>
                <a:gridCol w="655449">
                  <a:extLst>
                    <a:ext uri="{9D8B030D-6E8A-4147-A177-3AD203B41FA5}">
                      <a16:colId xmlns:a16="http://schemas.microsoft.com/office/drawing/2014/main" val="30815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②'</a:t>
                      </a:r>
                      <a:endParaRPr kumimoji="1" lang="zh-TW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06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36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794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76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DP for LCS, WAR, WAQ (3/3)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81B85D2-A91A-EEA7-F53A-0C8671B3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45" y="6033269"/>
            <a:ext cx="7772400" cy="80021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F65116A-C9EE-7455-B36D-30EFBB589D3A}"/>
              </a:ext>
            </a:extLst>
          </p:cNvPr>
          <p:cNvSpPr txBox="1"/>
          <p:nvPr/>
        </p:nvSpPr>
        <p:spPr>
          <a:xfrm>
            <a:off x="8823251" y="3685134"/>
            <a:ext cx="169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DP for WAR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9DE31F7-2307-20D3-2531-8BB8412BF324}"/>
              </a:ext>
            </a:extLst>
          </p:cNvPr>
          <p:cNvSpPr txBox="1"/>
          <p:nvPr/>
        </p:nvSpPr>
        <p:spPr>
          <a:xfrm>
            <a:off x="8823251" y="5933177"/>
            <a:ext cx="169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DP for WAQ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B67408-6BE7-B049-F914-FB725AA11D39}"/>
              </a:ext>
            </a:extLst>
          </p:cNvPr>
          <p:cNvSpPr txBox="1"/>
          <p:nvPr/>
        </p:nvSpPr>
        <p:spPr>
          <a:xfrm>
            <a:off x="8823251" y="6318411"/>
            <a:ext cx="268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The score of the match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2E78E52-B081-1E85-3972-9583ADCD2529}"/>
              </a:ext>
            </a:extLst>
          </p:cNvPr>
          <p:cNvSpPr txBox="1"/>
          <p:nvPr/>
        </p:nvSpPr>
        <p:spPr>
          <a:xfrm>
            <a:off x="7996165" y="962655"/>
            <a:ext cx="337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is reference, and col is query.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348C51C-16CD-450F-5FB1-28E621FAA835}"/>
              </a:ext>
            </a:extLst>
          </p:cNvPr>
          <p:cNvGrpSpPr/>
          <p:nvPr/>
        </p:nvGrpSpPr>
        <p:grpSpPr>
          <a:xfrm>
            <a:off x="29682" y="3716185"/>
            <a:ext cx="12132635" cy="2239200"/>
            <a:chOff x="91264" y="1471438"/>
            <a:chExt cx="12132635" cy="22392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439B0770-D5D1-3DF2-488B-E88569D3B2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915"/>
            <a:stretch/>
          </p:blipFill>
          <p:spPr>
            <a:xfrm>
              <a:off x="91264" y="1471438"/>
              <a:ext cx="7689111" cy="2239200"/>
            </a:xfrm>
            <a:prstGeom prst="rect">
              <a:avLst/>
            </a:prstGeom>
          </p:spPr>
        </p:pic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0D6042A8-0960-09F3-8AAA-C5225F39F56D}"/>
                </a:ext>
              </a:extLst>
            </p:cNvPr>
            <p:cNvCxnSpPr/>
            <p:nvPr/>
          </p:nvCxnSpPr>
          <p:spPr>
            <a:xfrm>
              <a:off x="3740003" y="2234946"/>
              <a:ext cx="5422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8310FAA-5E9A-0C58-D5A7-6F68662C4453}"/>
                </a:ext>
              </a:extLst>
            </p:cNvPr>
            <p:cNvCxnSpPr>
              <a:cxnSpLocks/>
            </p:cNvCxnSpPr>
            <p:nvPr/>
          </p:nvCxnSpPr>
          <p:spPr>
            <a:xfrm>
              <a:off x="4519725" y="2674425"/>
              <a:ext cx="183588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CADE47A-DBEF-F172-93B8-CF94344D408F}"/>
                </a:ext>
              </a:extLst>
            </p:cNvPr>
            <p:cNvSpPr txBox="1"/>
            <p:nvPr/>
          </p:nvSpPr>
          <p:spPr>
            <a:xfrm>
              <a:off x="6440517" y="2309688"/>
              <a:ext cx="2846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≥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3DC1BAE-EB38-45A5-30CA-3B58481E44E5}"/>
                </a:ext>
              </a:extLst>
            </p:cNvPr>
            <p:cNvSpPr txBox="1"/>
            <p:nvPr/>
          </p:nvSpPr>
          <p:spPr>
            <a:xfrm>
              <a:off x="7780375" y="2793605"/>
              <a:ext cx="4443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 0 →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+ 1</a:t>
              </a:r>
              <a:endParaRPr kumimoji="1" lang="zh-TW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F594AABB-9206-CA00-9D3A-4ABA6521E483}"/>
                </a:ext>
              </a:extLst>
            </p:cNvPr>
            <p:cNvSpPr txBox="1"/>
            <p:nvPr/>
          </p:nvSpPr>
          <p:spPr>
            <a:xfrm>
              <a:off x="7780375" y="3227144"/>
              <a:ext cx="3636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 → 0</a:t>
              </a:r>
              <a:endParaRPr kumimoji="1" lang="zh-TW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845DA3B1-CEB8-00F9-7345-4033876B027F}"/>
              </a:ext>
            </a:extLst>
          </p:cNvPr>
          <p:cNvGrpSpPr/>
          <p:nvPr/>
        </p:nvGrpSpPr>
        <p:grpSpPr>
          <a:xfrm>
            <a:off x="0" y="1451707"/>
            <a:ext cx="12283586" cy="2193347"/>
            <a:chOff x="-2657" y="3685134"/>
            <a:chExt cx="12283586" cy="219334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78BC852-32B2-CCF6-442B-815C2252C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657" y="3685134"/>
              <a:ext cx="7772400" cy="2193347"/>
            </a:xfrm>
            <a:prstGeom prst="rect">
              <a:avLst/>
            </a:prstGeom>
          </p:spPr>
        </p:pic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4F27D31-7C8D-C182-51C9-976200525B2A}"/>
                </a:ext>
              </a:extLst>
            </p:cNvPr>
            <p:cNvCxnSpPr/>
            <p:nvPr/>
          </p:nvCxnSpPr>
          <p:spPr>
            <a:xfrm>
              <a:off x="3639880" y="4503225"/>
              <a:ext cx="54226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AA1269A3-62C3-CDC8-F9C3-2A5EF589BA05}"/>
                </a:ext>
              </a:extLst>
            </p:cNvPr>
            <p:cNvCxnSpPr>
              <a:cxnSpLocks/>
            </p:cNvCxnSpPr>
            <p:nvPr/>
          </p:nvCxnSpPr>
          <p:spPr>
            <a:xfrm>
              <a:off x="4416944" y="5855780"/>
              <a:ext cx="183588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AD2504FA-5E25-B920-8105-EA9B1866B123}"/>
                </a:ext>
              </a:extLst>
            </p:cNvPr>
            <p:cNvSpPr txBox="1"/>
            <p:nvPr/>
          </p:nvSpPr>
          <p:spPr>
            <a:xfrm>
              <a:off x="6357229" y="5502397"/>
              <a:ext cx="2838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142CDE1E-1607-7E38-A5DE-23E261DBE93D}"/>
                </a:ext>
              </a:extLst>
            </p:cNvPr>
            <p:cNvSpPr txBox="1"/>
            <p:nvPr/>
          </p:nvSpPr>
          <p:spPr>
            <a:xfrm>
              <a:off x="7867861" y="4554182"/>
              <a:ext cx="4413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≥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 0 →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+ 1</a:t>
              </a:r>
              <a:endParaRPr kumimoji="1" lang="zh-TW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87A1E93-A5A6-41FE-0B64-C51FC8E9ADD5}"/>
                </a:ext>
              </a:extLst>
            </p:cNvPr>
            <p:cNvSpPr txBox="1"/>
            <p:nvPr/>
          </p:nvSpPr>
          <p:spPr>
            <a:xfrm>
              <a:off x="7867861" y="4987721"/>
              <a:ext cx="3618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不相等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≥ c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W</a:t>
              </a:r>
              <a:r>
                <a:rPr kumimoji="1" lang="en-US" altLang="zh-TW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1" lang="zh-TW" altLang="en-US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TW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 → 0</a:t>
              </a:r>
              <a:endParaRPr kumimoji="1" lang="zh-TW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50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Rough LCS for Music Matching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438BFC-4D8B-4872-0F4B-3B5AB7E8573D}"/>
              </a:ext>
            </a:extLst>
          </p:cNvPr>
          <p:cNvSpPr txBox="1"/>
          <p:nvPr/>
        </p:nvSpPr>
        <p:spPr>
          <a:xfrm>
            <a:off x="944671" y="1477135"/>
            <a:ext cx="1079367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value</a:t>
            </a:r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（音高）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that makes it possible to judge sounds as "higher" and "lower" in the sense associated with musical melodies.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value</a:t>
            </a:r>
            <a:r>
              <a:rPr kumimoji="1"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（音長）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amount of time or how long or short a note, phrase, section, or composition lasts.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 match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1"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≤ </a:t>
            </a:r>
            <a:r>
              <a:rPr kumimoji="1"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kumimoji="1"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kumimoji="1"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sz="28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Musical notes 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Pitch, duration, loudness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（響度）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timbre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（音色）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5450663-C47D-B18D-292E-24C852B81F77}"/>
              </a:ext>
            </a:extLst>
          </p:cNvPr>
          <p:cNvSpPr txBox="1"/>
          <p:nvPr/>
        </p:nvSpPr>
        <p:spPr>
          <a:xfrm>
            <a:off x="9181262" y="4154791"/>
            <a:ext cx="21371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 weight value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0B93AA82-C1D0-000A-E331-78F55924353A}"/>
              </a:ext>
            </a:extLst>
          </p:cNvPr>
          <p:cNvGrpSpPr/>
          <p:nvPr/>
        </p:nvGrpSpPr>
        <p:grpSpPr>
          <a:xfrm>
            <a:off x="1217255" y="4498326"/>
            <a:ext cx="7772400" cy="969613"/>
            <a:chOff x="944671" y="3028740"/>
            <a:chExt cx="7772400" cy="969613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6603A83-5088-66C2-9340-B81945937F32}"/>
                </a:ext>
              </a:extLst>
            </p:cNvPr>
            <p:cNvGrpSpPr/>
            <p:nvPr/>
          </p:nvGrpSpPr>
          <p:grpSpPr>
            <a:xfrm>
              <a:off x="944671" y="3028740"/>
              <a:ext cx="7772400" cy="969613"/>
              <a:chOff x="944671" y="3028740"/>
              <a:chExt cx="7772400" cy="969613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B981E119-B047-959C-A479-71E00918F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44671" y="3028740"/>
                <a:ext cx="7772400" cy="682411"/>
              </a:xfrm>
              <a:prstGeom prst="rect">
                <a:avLst/>
              </a:prstGeom>
            </p:spPr>
          </p:pic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8D427D2-9B85-D9E6-731E-67DB72526ADE}"/>
                  </a:ext>
                </a:extLst>
              </p:cNvPr>
              <p:cNvSpPr txBox="1"/>
              <p:nvPr/>
            </p:nvSpPr>
            <p:spPr>
              <a:xfrm>
                <a:off x="1095155" y="3629021"/>
                <a:ext cx="1031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</a:t>
                </a:r>
                <a:endPara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718AC8A-68E9-5F99-F3F5-5A48AB7601BC}"/>
                  </a:ext>
                </a:extLst>
              </p:cNvPr>
              <p:cNvSpPr txBox="1"/>
              <p:nvPr/>
            </p:nvSpPr>
            <p:spPr>
              <a:xfrm>
                <a:off x="3550448" y="3629021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1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Pitch</a:t>
                </a:r>
                <a:endParaRPr kumimoji="1" lang="zh-TW" altLang="en-US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BEDF09C-65E7-DD6E-9894-CFB9ADDD6EC4}"/>
                  </a:ext>
                </a:extLst>
              </p:cNvPr>
              <p:cNvSpPr txBox="1"/>
              <p:nvPr/>
            </p:nvSpPr>
            <p:spPr>
              <a:xfrm>
                <a:off x="7115400" y="3629021"/>
                <a:ext cx="10823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1" dirty="0">
                    <a:solidFill>
                      <a:schemeClr val="accent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  <a:endParaRPr kumimoji="1" lang="zh-TW" altLang="en-US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E8A4C7CC-6ED7-B1F6-BB4E-A3A7350C8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358" y="3638799"/>
                <a:ext cx="125892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9C6ECB51-817F-6902-1050-85DC46A22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5357" y="3638799"/>
                <a:ext cx="2008150" cy="0"/>
              </a:xfrm>
              <a:prstGeom prst="line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74F987BC-B913-791E-AC86-FF8B8A2D4711}"/>
                </a:ext>
              </a:extLst>
            </p:cNvPr>
            <p:cNvCxnSpPr>
              <a:cxnSpLocks/>
            </p:cNvCxnSpPr>
            <p:nvPr/>
          </p:nvCxnSpPr>
          <p:spPr>
            <a:xfrm>
              <a:off x="6626299" y="3638799"/>
              <a:ext cx="1984301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8034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DP for RLCS, RWAR, RWAQ (1/3)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E04336-1851-AFAA-78CF-6C4D3452D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3203"/>
            <a:ext cx="8959620" cy="188566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0B210BD-1E8E-C4A0-07CD-7F2C161D4A77}"/>
              </a:ext>
            </a:extLst>
          </p:cNvPr>
          <p:cNvSpPr txBox="1"/>
          <p:nvPr/>
        </p:nvSpPr>
        <p:spPr>
          <a:xfrm>
            <a:off x="838200" y="3965944"/>
            <a:ext cx="1747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DP for RCLS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61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DP for RLCS, RWAR, RWAQ (2/3)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C57557B-A9D4-DE9B-6975-60C66625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2266"/>
            <a:ext cx="7772400" cy="431321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0CAC7D-69B2-8239-AE64-CFFD4414B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856151"/>
            <a:ext cx="7772400" cy="84466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C3A5440-DBC8-C149-FF63-11ED0C6FEBB3}"/>
              </a:ext>
            </a:extLst>
          </p:cNvPr>
          <p:cNvSpPr txBox="1"/>
          <p:nvPr/>
        </p:nvSpPr>
        <p:spPr>
          <a:xfrm>
            <a:off x="8823251" y="3244334"/>
            <a:ext cx="1836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DP for RWAR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1D0BC46-44FD-785B-3DF9-AD54B1941273}"/>
              </a:ext>
            </a:extLst>
          </p:cNvPr>
          <p:cNvSpPr txBox="1"/>
          <p:nvPr/>
        </p:nvSpPr>
        <p:spPr>
          <a:xfrm>
            <a:off x="8823251" y="5210342"/>
            <a:ext cx="1836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DP for RWAQ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DF3880D-BC86-0B47-9B7E-8F56F3A0FC21}"/>
              </a:ext>
            </a:extLst>
          </p:cNvPr>
          <p:cNvSpPr txBox="1"/>
          <p:nvPr/>
        </p:nvSpPr>
        <p:spPr>
          <a:xfrm>
            <a:off x="8823251" y="6286512"/>
            <a:ext cx="3277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The score of the rough match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389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DP for RLCS, RWAR, RWAQ (3/3)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F51F092-DC6E-CBE5-C7B6-618C19E42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978" y="1685871"/>
            <a:ext cx="9378044" cy="467529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ADD3D1A-75A7-5E82-61C9-0E415577ACCB}"/>
              </a:ext>
            </a:extLst>
          </p:cNvPr>
          <p:cNvSpPr/>
          <p:nvPr/>
        </p:nvSpPr>
        <p:spPr>
          <a:xfrm>
            <a:off x="5922334" y="3078124"/>
            <a:ext cx="255182" cy="24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517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84FF661-E727-1577-41C5-D2BDBD841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7515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potential of </a:t>
            </a:r>
            <a:r>
              <a:rPr kumimoji="1"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needing to inspect all notes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reference.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the query with a reference window and scan the reference backwards.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Filtering Algorithm (1/4)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5986B8D-30C1-0989-C785-12DC2B8F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41" y="3328637"/>
            <a:ext cx="7772400" cy="135204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BDF7C2C-4F1E-2D68-33BE-FFA6BF0923FB}"/>
              </a:ext>
            </a:extLst>
          </p:cNvPr>
          <p:cNvSpPr txBox="1"/>
          <p:nvPr/>
        </p:nvSpPr>
        <p:spPr>
          <a:xfrm>
            <a:off x="838200" y="4736177"/>
            <a:ext cx="34996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index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length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index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threshold of bad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alphabet set</a:t>
            </a: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463CFD75-30FB-AAC7-9C17-52CE46DF9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7529"/>
              </p:ext>
            </p:extLst>
          </p:nvPr>
        </p:nvGraphicFramePr>
        <p:xfrm>
          <a:off x="6096000" y="4033510"/>
          <a:ext cx="5510035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365">
                  <a:extLst>
                    <a:ext uri="{9D8B030D-6E8A-4147-A177-3AD203B41FA5}">
                      <a16:colId xmlns:a16="http://schemas.microsoft.com/office/drawing/2014/main" val="85512632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59640451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891648414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779952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23203236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0410764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42036506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2781473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7546551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6813135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769660039"/>
                    </a:ext>
                  </a:extLst>
                </a:gridCol>
              </a:tblGrid>
              <a:tr h="3558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79882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52877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2C96FFC-802E-A024-A68D-20BD63B43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48893"/>
              </p:ext>
            </p:extLst>
          </p:nvPr>
        </p:nvGraphicFramePr>
        <p:xfrm>
          <a:off x="6095999" y="5075872"/>
          <a:ext cx="5510035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365">
                  <a:extLst>
                    <a:ext uri="{9D8B030D-6E8A-4147-A177-3AD203B41FA5}">
                      <a16:colId xmlns:a16="http://schemas.microsoft.com/office/drawing/2014/main" val="85512632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59640451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891648414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779952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23203236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0410764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42036506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2781473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7546551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6813135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769660039"/>
                    </a:ext>
                  </a:extLst>
                </a:gridCol>
              </a:tblGrid>
              <a:tr h="336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Badc</a:t>
                      </a:r>
                      <a:r>
                        <a:rPr lang="en-US" altLang="zh-TW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79882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28773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363093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04790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77CCD16D-9B55-F252-08DC-648D05A176A9}"/>
              </a:ext>
            </a:extLst>
          </p:cNvPr>
          <p:cNvSpPr txBox="1"/>
          <p:nvPr/>
        </p:nvSpPr>
        <p:spPr>
          <a:xfrm>
            <a:off x="8493641" y="3441594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1"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不存在</a:t>
            </a:r>
            <a:r>
              <a:rPr kumimoji="1"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zh-TW" alt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595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Filtering Algorithm (2/4)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8376C7-44FB-9444-EDE3-D767F75E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9620"/>
            <a:ext cx="7772400" cy="93816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8ADD2F3-4BB6-7792-5654-0F31B607569D}"/>
              </a:ext>
            </a:extLst>
          </p:cNvPr>
          <p:cNvSpPr txBox="1"/>
          <p:nvPr/>
        </p:nvSpPr>
        <p:spPr>
          <a:xfrm>
            <a:off x="838200" y="2987853"/>
            <a:ext cx="34996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index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length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index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threshold of bad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alphabet set</a:t>
            </a:r>
          </a:p>
        </p:txBody>
      </p:sp>
      <p:graphicFrame>
        <p:nvGraphicFramePr>
          <p:cNvPr id="12" name="表格 10">
            <a:extLst>
              <a:ext uri="{FF2B5EF4-FFF2-40B4-BE49-F238E27FC236}">
                <a16:creationId xmlns:a16="http://schemas.microsoft.com/office/drawing/2014/main" id="{9925FF98-4AE6-ECA6-BA98-0388A5B87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504717"/>
              </p:ext>
            </p:extLst>
          </p:nvPr>
        </p:nvGraphicFramePr>
        <p:xfrm>
          <a:off x="4426687" y="2987853"/>
          <a:ext cx="5510035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365">
                  <a:extLst>
                    <a:ext uri="{9D8B030D-6E8A-4147-A177-3AD203B41FA5}">
                      <a16:colId xmlns:a16="http://schemas.microsoft.com/office/drawing/2014/main" val="85512632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59640451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891648414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779952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23203236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0410764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42036506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2781473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7546551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6813135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769660039"/>
                    </a:ext>
                  </a:extLst>
                </a:gridCol>
              </a:tblGrid>
              <a:tr h="3558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79882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528773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2D6C037-0A23-4091-065E-34ADC5FCD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69449"/>
              </p:ext>
            </p:extLst>
          </p:nvPr>
        </p:nvGraphicFramePr>
        <p:xfrm>
          <a:off x="4426686" y="4030215"/>
          <a:ext cx="5510035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365">
                  <a:extLst>
                    <a:ext uri="{9D8B030D-6E8A-4147-A177-3AD203B41FA5}">
                      <a16:colId xmlns:a16="http://schemas.microsoft.com/office/drawing/2014/main" val="85512632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59640451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891648414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779952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4223203236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04107643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420365065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2781473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37546551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681313579"/>
                    </a:ext>
                  </a:extLst>
                </a:gridCol>
                <a:gridCol w="474567">
                  <a:extLst>
                    <a:ext uri="{9D8B030D-6E8A-4147-A177-3AD203B41FA5}">
                      <a16:colId xmlns:a16="http://schemas.microsoft.com/office/drawing/2014/main" val="1769660039"/>
                    </a:ext>
                  </a:extLst>
                </a:gridCol>
              </a:tblGrid>
              <a:tr h="336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</a:t>
                      </a:r>
                      <a:r>
                        <a:rPr lang="en-US" altLang="zh-TW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79882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528773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363093"/>
                  </a:ext>
                </a:extLst>
              </a:tr>
              <a:tr h="287439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04790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C64CA3-CAA4-868C-47F9-9D804FA6CF9A}"/>
              </a:ext>
            </a:extLst>
          </p:cNvPr>
          <p:cNvSpPr txBox="1"/>
          <p:nvPr/>
        </p:nvSpPr>
        <p:spPr>
          <a:xfrm>
            <a:off x="8610600" y="1980378"/>
            <a:ext cx="3117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 : </a:t>
            </a:r>
            <a:r>
              <a:rPr kumimoji="1"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-1]</a:t>
            </a:r>
            <a:r>
              <a: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之中，則紀錄最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後一個</a:t>
            </a:r>
            <a:r>
              <a:rPr kumimoji="1"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的位移</a:t>
            </a:r>
          </a:p>
        </p:txBody>
      </p:sp>
    </p:spTree>
    <p:extLst>
      <p:ext uri="{BB962C8B-B14F-4D97-AF65-F5344CB8AC3E}">
        <p14:creationId xmlns:p14="http://schemas.microsoft.com/office/powerpoint/2010/main" val="1491621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Filtering Algorithm (3/4)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53" y="1528873"/>
            <a:ext cx="11219121" cy="3202615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of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moves.</a:t>
            </a:r>
          </a:p>
          <a:p>
            <a:pPr marL="514350" indent="-51435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of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positions pointer j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travels (starting from j = n = 15) </a:t>
            </a:r>
          </a:p>
          <a:p>
            <a:pPr marL="514350" indent="-51435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reference window pointed by pointer j is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reference windows with pointer values j are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Merging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overlapping areas yields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areas.</a:t>
            </a:r>
          </a:p>
          <a:p>
            <a:pPr marL="514350" indent="-51435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filtered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 (R') are these extended reference areas.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15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DA1048-5FB9-63FC-E608-03F3C994C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62" y="4731488"/>
            <a:ext cx="7772400" cy="188502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13E94B7-FB05-D0E2-F6A9-717E1BA8856A}"/>
              </a:ext>
            </a:extLst>
          </p:cNvPr>
          <p:cNvSpPr txBox="1"/>
          <p:nvPr/>
        </p:nvSpPr>
        <p:spPr>
          <a:xfrm>
            <a:off x="8183526" y="4731488"/>
            <a:ext cx="4032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length of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: the length of filtered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length of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𝜏 : the error tolerance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𝜏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threshold of bad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𝜆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number of extended areas</a:t>
            </a:r>
          </a:p>
        </p:txBody>
      </p:sp>
    </p:spTree>
    <p:extLst>
      <p:ext uri="{BB962C8B-B14F-4D97-AF65-F5344CB8AC3E}">
        <p14:creationId xmlns:p14="http://schemas.microsoft.com/office/powerpoint/2010/main" val="4042633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365125"/>
            <a:ext cx="2743200" cy="185708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Filtering Algorithm</a:t>
            </a:r>
            <a:br>
              <a:rPr kumimoji="1" lang="en-US" altLang="zh-TW" dirty="0"/>
            </a:br>
            <a:r>
              <a:rPr kumimoji="1" lang="en-US" altLang="zh-TW" dirty="0"/>
              <a:t>(4/4)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C5C4AC-15CB-8288-BE71-F8335EC79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7" y="0"/>
            <a:ext cx="7491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77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(1/3)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2"/>
            <a:ext cx="10515600" cy="3146170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corpus of </a:t>
            </a:r>
            <a:r>
              <a:rPr kumimoji="1"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3,497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pieces of music consisting of a total of 6,524,476 music notes.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: a set of 50 queries consisting of 10 to 36 music notes.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→ query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+ query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set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noise rates between </a:t>
            </a:r>
            <a:r>
              <a:rPr kumimoji="1"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 and 10%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set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noise rates between </a:t>
            </a:r>
            <a:r>
              <a:rPr kumimoji="1" lang="en-US" altLang="zh-TW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and 30%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set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generated by the users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17</a:t>
            </a:fld>
            <a:endParaRPr kumimoji="1"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4A90F01-A031-2C82-C1D7-9E032F3A8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135407"/>
              </p:ext>
            </p:extLst>
          </p:nvPr>
        </p:nvGraphicFramePr>
        <p:xfrm>
          <a:off x="1391093" y="4684712"/>
          <a:ext cx="485790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7861">
                  <a:extLst>
                    <a:ext uri="{9D8B030D-6E8A-4147-A177-3AD203B41FA5}">
                      <a16:colId xmlns:a16="http://schemas.microsoft.com/office/drawing/2014/main" val="3847415485"/>
                    </a:ext>
                  </a:extLst>
                </a:gridCol>
                <a:gridCol w="1345020">
                  <a:extLst>
                    <a:ext uri="{9D8B030D-6E8A-4147-A177-3AD203B41FA5}">
                      <a16:colId xmlns:a16="http://schemas.microsoft.com/office/drawing/2014/main" val="321582633"/>
                    </a:ext>
                  </a:extLst>
                </a:gridCol>
                <a:gridCol w="1345020">
                  <a:extLst>
                    <a:ext uri="{9D8B030D-6E8A-4147-A177-3AD203B41FA5}">
                      <a16:colId xmlns:a16="http://schemas.microsoft.com/office/drawing/2014/main" val="2693492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1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threshold value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TW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7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threshold value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l-GR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ρ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43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weight value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l-GR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8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weight value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484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643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(2/3)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18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A17620-0293-58EE-A2AF-28393A4C4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5737"/>
            <a:ext cx="7772400" cy="529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71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(3/3)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19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0DC4228-CF6E-C8D5-DE2C-3D1680397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7731"/>
            <a:ext cx="7772400" cy="524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77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ank you for listening"/>
          <p:cNvSpPr txBox="1">
            <a:spLocks noGrp="1"/>
          </p:cNvSpPr>
          <p:nvPr>
            <p:ph type="title"/>
          </p:nvPr>
        </p:nvSpPr>
        <p:spPr>
          <a:xfrm>
            <a:off x="844550" y="2857500"/>
            <a:ext cx="105029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Thank you for listening</a:t>
            </a:r>
          </a:p>
        </p:txBody>
      </p:sp>
      <p:sp>
        <p:nvSpPr>
          <p:cNvPr id="30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SCI Journal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21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7D63FE-90E1-D0EC-F3E6-7159CC2A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10" y="2444242"/>
            <a:ext cx="10651981" cy="27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95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老師回饋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函數不連續，這樣的設計不是很理想。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應該可以使用反拋物線去設計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函數，但這樣原本的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公式就必須更改成時間序列的公式。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時間序列很像是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，但它的符號是有值的，這很符合音樂序列的性質。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006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3084</TotalTime>
  <Words>1520</Words>
  <Application>Microsoft Macintosh PowerPoint</Application>
  <PresentationFormat>寬螢幕</PresentationFormat>
  <Paragraphs>315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Arial</vt:lpstr>
      <vt:lpstr>Calibri</vt:lpstr>
      <vt:lpstr>Rockwell</vt:lpstr>
      <vt:lpstr>Times New Roman</vt:lpstr>
      <vt:lpstr>Office 佈景主題</vt:lpstr>
      <vt:lpstr>Music Matching Based on Rough Longest Common Subsequence</vt:lpstr>
      <vt:lpstr>Abstract (1/2)</vt:lpstr>
      <vt:lpstr>Abstract (2/2)</vt:lpstr>
      <vt:lpstr>Outline</vt:lpstr>
      <vt:lpstr>LCS</vt:lpstr>
      <vt:lpstr>WAR / WAQ</vt:lpstr>
      <vt:lpstr>DP for LCS, WAR, WAQ (1/2)</vt:lpstr>
      <vt:lpstr>DP for LCS, WAR, WAQ (2/3)</vt:lpstr>
      <vt:lpstr>DP for LCS, WAR, WAQ (3/3)</vt:lpstr>
      <vt:lpstr>Rough LCS for Music Matching</vt:lpstr>
      <vt:lpstr>DP for RLCS, RWAR, RWAQ (1/3)</vt:lpstr>
      <vt:lpstr>DP for RLCS, RWAR, RWAQ (2/3)</vt:lpstr>
      <vt:lpstr>DP for RLCS, RWAR, RWAQ (3/3)</vt:lpstr>
      <vt:lpstr>Filtering Algorithm (1/4)</vt:lpstr>
      <vt:lpstr>Filtering Algorithm (2/4)</vt:lpstr>
      <vt:lpstr>Filtering Algorithm (3/4)</vt:lpstr>
      <vt:lpstr>Filtering Algorithm (4/4)</vt:lpstr>
      <vt:lpstr>Results (1/3)</vt:lpstr>
      <vt:lpstr>Results (2/3)</vt:lpstr>
      <vt:lpstr>Results (3/3)</vt:lpstr>
      <vt:lpstr>Thank you for listening</vt:lpstr>
      <vt:lpstr>SCI Journal</vt:lpstr>
      <vt:lpstr>老師回饋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17</cp:revision>
  <dcterms:created xsi:type="dcterms:W3CDTF">2021-03-28T03:57:23Z</dcterms:created>
  <dcterms:modified xsi:type="dcterms:W3CDTF">2022-10-12T11:33:41Z</dcterms:modified>
</cp:coreProperties>
</file>