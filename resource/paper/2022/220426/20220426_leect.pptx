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3" r:id="rId2"/>
    <p:sldId id="262" r:id="rId3"/>
    <p:sldId id="266" r:id="rId4"/>
    <p:sldId id="258" r:id="rId5"/>
    <p:sldId id="298" r:id="rId6"/>
    <p:sldId id="304" r:id="rId7"/>
    <p:sldId id="305" r:id="rId8"/>
    <p:sldId id="306" r:id="rId9"/>
    <p:sldId id="307" r:id="rId10"/>
    <p:sldId id="308" r:id="rId11"/>
    <p:sldId id="309" r:id="rId12"/>
    <p:sldId id="310" r:id="rId13"/>
    <p:sldId id="311" r:id="rId14"/>
    <p:sldId id="312" r:id="rId15"/>
    <p:sldId id="313" r:id="rId16"/>
    <p:sldId id="314" r:id="rId17"/>
    <p:sldId id="303" r:id="rId18"/>
    <p:sldId id="296"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4890" autoAdjust="0"/>
    <p:restoredTop sz="76464" autoAdjust="0"/>
  </p:normalViewPr>
  <p:slideViewPr>
    <p:cSldViewPr>
      <p:cViewPr varScale="1">
        <p:scale>
          <a:sx n="63" d="100"/>
          <a:sy n="63" d="100"/>
        </p:scale>
        <p:origin x="924" y="78"/>
      </p:cViewPr>
      <p:guideLst>
        <p:guide orient="horz" pos="2160"/>
        <p:guide pos="2880"/>
      </p:guideLst>
    </p:cSldViewPr>
  </p:slideViewPr>
  <p:notesTextViewPr>
    <p:cViewPr>
      <p:scale>
        <a:sx n="232" d="100"/>
        <a:sy n="232" d="100"/>
      </p:scale>
      <p:origin x="0" y="0"/>
    </p:cViewPr>
  </p:notesTextViewPr>
  <p:sorterViewPr>
    <p:cViewPr>
      <p:scale>
        <a:sx n="100" d="100"/>
        <a:sy n="100" d="100"/>
      </p:scale>
      <p:origin x="0" y="0"/>
    </p:cViewPr>
  </p:sorterViewPr>
  <p:notesViewPr>
    <p:cSldViewPr>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8C2939-B1A7-4514-8535-C0FA2719FDF5}" type="datetimeFigureOut">
              <a:rPr lang="zh-TW" altLang="en-US" smtClean="0"/>
              <a:pPr/>
              <a:t>2022/4/26</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5C87CB-DD22-4F6F-BC7E-D0042601E3D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a:t>
            </a:fld>
            <a:endParaRPr lang="zh-TW" altLang="en-US"/>
          </a:p>
        </p:txBody>
      </p:sp>
    </p:spTree>
    <p:extLst>
      <p:ext uri="{BB962C8B-B14F-4D97-AF65-F5344CB8AC3E}">
        <p14:creationId xmlns:p14="http://schemas.microsoft.com/office/powerpoint/2010/main" val="2615635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b="0" i="0" dirty="0">
                <a:solidFill>
                  <a:srgbClr val="1D2A57"/>
                </a:solidFill>
                <a:effectLst/>
                <a:latin typeface="Arial" panose="020B0604020202020204" pitchFamily="34" charset="0"/>
              </a:rPr>
              <a:t>parentheses</a:t>
            </a:r>
            <a:endParaRPr lang="zh-TW" altLang="en-US"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2</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3</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latin typeface="Times New Roman" panose="02020603050405020304" pitchFamily="18" charset="0"/>
                <a:cs typeface="Times New Roman" panose="02020603050405020304" pitchFamily="18" charset="0"/>
              </a:rPr>
              <a:t>O</a:t>
            </a:r>
            <a:r>
              <a:rPr lang="pt-BR" altLang="zh-TW" sz="1200" dirty="0">
                <a:latin typeface="Times New Roman" panose="02020603050405020304" pitchFamily="18" charset="0"/>
                <a:cs typeface="Times New Roman" panose="02020603050405020304" pitchFamily="18" charset="0"/>
              </a:rPr>
              <a:t>((n + L(m − L))loglog|</a:t>
            </a:r>
            <a:r>
              <a:rPr lang="zh-TW" altLang="en-US" sz="1200" dirty="0">
                <a:latin typeface="Times New Roman" panose="02020603050405020304" pitchFamily="18" charset="0"/>
                <a:cs typeface="Times New Roman" panose="02020603050405020304" pitchFamily="18" charset="0"/>
              </a:rPr>
              <a:t>∑</a:t>
            </a:r>
            <a:r>
              <a:rPr lang="pt-BR" altLang="zh-TW" sz="1200" dirty="0">
                <a:latin typeface="Times New Roman" panose="02020603050405020304" pitchFamily="18" charset="0"/>
                <a:cs typeface="Times New Roman" panose="02020603050405020304" pitchFamily="18" charset="0"/>
              </a:rPr>
              <a:t>|) </a:t>
            </a: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4</a:t>
            </a:fld>
            <a:endParaRPr lang="zh-TW" altLang="en-US"/>
          </a:p>
        </p:txBody>
      </p:sp>
    </p:spTree>
    <p:extLst>
      <p:ext uri="{BB962C8B-B14F-4D97-AF65-F5344CB8AC3E}">
        <p14:creationId xmlns:p14="http://schemas.microsoft.com/office/powerpoint/2010/main" val="1131986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只先看</a:t>
            </a:r>
            <a:r>
              <a:rPr lang="en-US" altLang="zh-TW" dirty="0"/>
              <a:t>A</a:t>
            </a:r>
            <a:r>
              <a:rPr lang="zh-TW" altLang="en-US" dirty="0"/>
              <a:t>的第一個字母去找出在</a:t>
            </a:r>
            <a:r>
              <a:rPr lang="en-US" altLang="zh-TW" dirty="0"/>
              <a:t>B</a:t>
            </a:r>
            <a:r>
              <a:rPr lang="zh-TW" altLang="en-US" dirty="0"/>
              <a:t>字串的哪邊然後紀錄此數字的值與位置</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a:t>
            </a:r>
            <a:r>
              <a:rPr lang="zh-TW" altLang="en-US" dirty="0"/>
              <a:t>看</a:t>
            </a:r>
            <a:r>
              <a:rPr lang="en-US" altLang="zh-TW" dirty="0"/>
              <a:t>0</a:t>
            </a:r>
            <a:r>
              <a:rPr lang="zh-TW" altLang="en-US" dirty="0"/>
              <a:t>個數字然後長度為</a:t>
            </a:r>
            <a:r>
              <a:rPr lang="en-US" altLang="zh-TW" dirty="0"/>
              <a:t>0</a:t>
            </a:r>
            <a:r>
              <a:rPr lang="zh-TW" altLang="en-US" dirty="0"/>
              <a:t>時共同最大數字，與此數字在</a:t>
            </a:r>
            <a:r>
              <a:rPr lang="en-US" altLang="zh-TW" dirty="0"/>
              <a:t>B</a:t>
            </a:r>
            <a:r>
              <a:rPr lang="zh-TW" altLang="en-US" dirty="0"/>
              <a:t>的哪邊</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5</a:t>
            </a:fld>
            <a:endParaRPr lang="zh-TW" altLang="en-US"/>
          </a:p>
        </p:txBody>
      </p:sp>
    </p:spTree>
    <p:extLst>
      <p:ext uri="{BB962C8B-B14F-4D97-AF65-F5344CB8AC3E}">
        <p14:creationId xmlns:p14="http://schemas.microsoft.com/office/powerpoint/2010/main" val="1041592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a:t>
            </a:r>
            <a:r>
              <a:rPr lang="zh-TW" altLang="en-US" dirty="0"/>
              <a:t>看</a:t>
            </a:r>
            <a:r>
              <a:rPr lang="en-US" altLang="zh-TW" dirty="0"/>
              <a:t>1</a:t>
            </a:r>
            <a:r>
              <a:rPr lang="zh-TW" altLang="en-US" dirty="0"/>
              <a:t>個數字然後長度為</a:t>
            </a:r>
            <a:r>
              <a:rPr lang="en-US" altLang="zh-TW" dirty="0"/>
              <a:t>1</a:t>
            </a:r>
            <a:r>
              <a:rPr lang="zh-TW" altLang="en-US" dirty="0"/>
              <a:t>時的狀況</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那我們應該由前面所記錄的</a:t>
            </a:r>
            <a:r>
              <a:rPr lang="en-US" altLang="zh-TW" dirty="0"/>
              <a:t>INDEX</a:t>
            </a:r>
            <a:r>
              <a:rPr lang="zh-TW" altLang="en-US" dirty="0"/>
              <a:t>在往後延伸，也就是位置</a:t>
            </a:r>
            <a:r>
              <a:rPr lang="en-US" altLang="zh-TW" dirty="0"/>
              <a:t>0</a:t>
            </a:r>
            <a:r>
              <a:rPr lang="zh-TW" altLang="en-US" dirty="0"/>
              <a:t>再繼續往後找</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我們可以在</a:t>
            </a:r>
            <a:r>
              <a:rPr lang="en-US" altLang="zh-TW" dirty="0"/>
              <a:t>B</a:t>
            </a:r>
            <a:r>
              <a:rPr lang="zh-TW" altLang="en-US" dirty="0"/>
              <a:t>的第三個位置找到</a:t>
            </a:r>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6</a:t>
            </a:fld>
            <a:endParaRPr lang="zh-TW" altLang="en-US"/>
          </a:p>
        </p:txBody>
      </p:sp>
    </p:spTree>
    <p:extLst>
      <p:ext uri="{BB962C8B-B14F-4D97-AF65-F5344CB8AC3E}">
        <p14:creationId xmlns:p14="http://schemas.microsoft.com/office/powerpoint/2010/main" val="2964236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7</a:t>
            </a:fld>
            <a:endParaRPr lang="zh-TW" altLang="en-US"/>
          </a:p>
        </p:txBody>
      </p:sp>
    </p:spTree>
    <p:extLst>
      <p:ext uri="{BB962C8B-B14F-4D97-AF65-F5344CB8AC3E}">
        <p14:creationId xmlns:p14="http://schemas.microsoft.com/office/powerpoint/2010/main" val="118148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8</a:t>
            </a:fld>
            <a:endParaRPr lang="zh-TW" altLang="en-US"/>
          </a:p>
        </p:txBody>
      </p:sp>
    </p:spTree>
    <p:extLst>
      <p:ext uri="{BB962C8B-B14F-4D97-AF65-F5344CB8AC3E}">
        <p14:creationId xmlns:p14="http://schemas.microsoft.com/office/powerpoint/2010/main" val="1040336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第二</a:t>
            </a:r>
            <a:r>
              <a:rPr lang="en-US" altLang="zh-TW" dirty="0"/>
              <a:t>ROUND</a:t>
            </a:r>
            <a:r>
              <a:rPr lang="zh-TW" altLang="en-US" dirty="0"/>
              <a:t>時我們就會多看一個字母，也就是一開始</a:t>
            </a:r>
            <a:r>
              <a:rPr lang="en-US" altLang="zh-TW" dirty="0"/>
              <a:t>A</a:t>
            </a:r>
            <a:r>
              <a:rPr lang="zh-TW" altLang="en-US" dirty="0"/>
              <a:t>字串就看到第一個字母</a:t>
            </a:r>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9</a:t>
            </a:fld>
            <a:endParaRPr lang="zh-TW" altLang="en-US"/>
          </a:p>
        </p:txBody>
      </p:sp>
    </p:spTree>
    <p:extLst>
      <p:ext uri="{BB962C8B-B14F-4D97-AF65-F5344CB8AC3E}">
        <p14:creationId xmlns:p14="http://schemas.microsoft.com/office/powerpoint/2010/main" val="362675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&lt;0,0&gt;</a:t>
            </a:r>
            <a:r>
              <a:rPr lang="zh-TW" altLang="en-US" dirty="0"/>
              <a:t>產生</a:t>
            </a:r>
            <a:r>
              <a:rPr lang="en-US" altLang="zh-TW" dirty="0"/>
              <a:t>&lt;5,2&gt;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D1,1</a:t>
            </a:r>
            <a:r>
              <a:rPr lang="zh-TW" altLang="en-US" dirty="0"/>
              <a:t>的</a:t>
            </a:r>
            <a:r>
              <a:rPr lang="en-US" altLang="zh-TW" dirty="0"/>
              <a:t>4,3</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那這時候會比較是否有</a:t>
            </a:r>
            <a:r>
              <a:rPr lang="en-US" altLang="zh-TW" dirty="0"/>
              <a:t>DOMINATE</a:t>
            </a:r>
            <a:r>
              <a:rPr lang="zh-TW" altLang="en-US" dirty="0"/>
              <a:t>的狀況發生</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這兩個數字的含意為目前</a:t>
            </a:r>
            <a:r>
              <a:rPr lang="en-US" altLang="zh-TW" dirty="0"/>
              <a:t>LCIS</a:t>
            </a:r>
            <a:r>
              <a:rPr lang="zh-TW" altLang="en-US" dirty="0"/>
              <a:t>最大的數字與此數字所在的位置故當然在長度一樣的情況下這兩個數值是越小越好，這樣才能使長度盡可能地變大，所以就繼續不需要做刪除的動作</a:t>
            </a:r>
            <a:endParaRPr lang="en-US" altLang="zh-TW"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10</a:t>
            </a:fld>
            <a:endParaRPr lang="zh-TW" altLang="en-US"/>
          </a:p>
        </p:txBody>
      </p:sp>
    </p:spTree>
    <p:extLst>
      <p:ext uri="{BB962C8B-B14F-4D97-AF65-F5344CB8AC3E}">
        <p14:creationId xmlns:p14="http://schemas.microsoft.com/office/powerpoint/2010/main" val="4018851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11</a:t>
            </a:fld>
            <a:endParaRPr lang="zh-TW" altLang="en-US"/>
          </a:p>
        </p:txBody>
      </p:sp>
    </p:spTree>
    <p:extLst>
      <p:ext uri="{BB962C8B-B14F-4D97-AF65-F5344CB8AC3E}">
        <p14:creationId xmlns:p14="http://schemas.microsoft.com/office/powerpoint/2010/main" val="4169639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12</a:t>
            </a:fld>
            <a:endParaRPr lang="zh-TW" altLang="en-US"/>
          </a:p>
        </p:txBody>
      </p:sp>
    </p:spTree>
    <p:extLst>
      <p:ext uri="{BB962C8B-B14F-4D97-AF65-F5344CB8AC3E}">
        <p14:creationId xmlns:p14="http://schemas.microsoft.com/office/powerpoint/2010/main" val="1129217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13</a:t>
            </a:fld>
            <a:endParaRPr lang="zh-TW" altLang="en-US"/>
          </a:p>
        </p:txBody>
      </p:sp>
    </p:spTree>
    <p:extLst>
      <p:ext uri="{BB962C8B-B14F-4D97-AF65-F5344CB8AC3E}">
        <p14:creationId xmlns:p14="http://schemas.microsoft.com/office/powerpoint/2010/main" val="4827127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14</a:t>
            </a:fld>
            <a:endParaRPr lang="zh-TW" altLang="en-US"/>
          </a:p>
        </p:txBody>
      </p:sp>
    </p:spTree>
    <p:extLst>
      <p:ext uri="{BB962C8B-B14F-4D97-AF65-F5344CB8AC3E}">
        <p14:creationId xmlns:p14="http://schemas.microsoft.com/office/powerpoint/2010/main" val="3149461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這兩個數字的含意為</a:t>
            </a:r>
            <a:r>
              <a:rPr lang="en-US" altLang="zh-TW" dirty="0"/>
              <a:t>LCIS</a:t>
            </a:r>
            <a:r>
              <a:rPr lang="zh-TW" altLang="en-US" dirty="0"/>
              <a:t>最大的值與他所在的位置故當然在長度一樣的情況下這兩個數值是越小越好，這樣才能使長度盡可能地變大，所以</a:t>
            </a:r>
            <a:r>
              <a:rPr lang="en-US" altLang="zh-TW" dirty="0"/>
              <a:t>&lt;4,3&gt; &lt;5,2&gt;</a:t>
            </a:r>
            <a:r>
              <a:rPr lang="zh-TW" altLang="en-US" dirty="0"/>
              <a:t>這兩個元素都被</a:t>
            </a:r>
            <a:r>
              <a:rPr lang="en-US" altLang="zh-TW" dirty="0"/>
              <a:t>&lt;1,1&gt;dominate</a:t>
            </a:r>
            <a:r>
              <a:rPr lang="zh-TW" altLang="en-US" dirty="0"/>
              <a:t>所以這兩個元素皆可被刪除</a:t>
            </a:r>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15</a:t>
            </a:fld>
            <a:endParaRPr lang="zh-TW" altLang="en-US"/>
          </a:p>
        </p:txBody>
      </p:sp>
    </p:spTree>
    <p:extLst>
      <p:ext uri="{BB962C8B-B14F-4D97-AF65-F5344CB8AC3E}">
        <p14:creationId xmlns:p14="http://schemas.microsoft.com/office/powerpoint/2010/main" val="39475993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16</a:t>
            </a:fld>
            <a:endParaRPr lang="zh-TW" altLang="en-US"/>
          </a:p>
        </p:txBody>
      </p:sp>
    </p:spTree>
    <p:extLst>
      <p:ext uri="{BB962C8B-B14F-4D97-AF65-F5344CB8AC3E}">
        <p14:creationId xmlns:p14="http://schemas.microsoft.com/office/powerpoint/2010/main" val="437035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Di,j</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(m-L)=</a:t>
            </a:r>
            <a:r>
              <a:rPr lang="zh-TW" altLang="en-US" dirty="0"/>
              <a:t>共需幾</a:t>
            </a:r>
            <a:r>
              <a:rPr lang="en-US" altLang="zh-TW" dirty="0"/>
              <a:t>round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L</a:t>
            </a:r>
            <a:r>
              <a:rPr lang="zh-TW" altLang="en-US" dirty="0"/>
              <a:t>為</a:t>
            </a:r>
            <a:r>
              <a:rPr lang="en-US" altLang="zh-TW" dirty="0"/>
              <a:t>LCIS</a:t>
            </a:r>
            <a:r>
              <a:rPr lang="zh-TW" altLang="en-US" dirty="0"/>
              <a:t>的長度</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latin typeface="Times New Roman" panose="02020603050405020304" pitchFamily="18" charset="0"/>
                <a:cs typeface="Times New Roman" panose="02020603050405020304" pitchFamily="18" charset="0"/>
              </a:rPr>
              <a:t>n*</a:t>
            </a:r>
            <a:r>
              <a:rPr lang="pt-BR" altLang="zh-TW" sz="1200" dirty="0">
                <a:latin typeface="Times New Roman" panose="02020603050405020304" pitchFamily="18" charset="0"/>
                <a:cs typeface="Times New Roman" panose="02020603050405020304" pitchFamily="18" charset="0"/>
              </a:rPr>
              <a:t>loglog|</a:t>
            </a:r>
            <a:r>
              <a:rPr lang="zh-TW" altLang="en-US" sz="1200" dirty="0">
                <a:latin typeface="Times New Roman" panose="02020603050405020304" pitchFamily="18" charset="0"/>
                <a:cs typeface="Times New Roman" panose="02020603050405020304" pitchFamily="18" charset="0"/>
              </a:rPr>
              <a:t>∑</a:t>
            </a:r>
            <a:r>
              <a:rPr lang="pt-BR" altLang="zh-TW" sz="1200" dirty="0">
                <a:latin typeface="Times New Roman" panose="02020603050405020304" pitchFamily="18" charset="0"/>
                <a:cs typeface="Times New Roman" panose="02020603050405020304" pitchFamily="18" charset="0"/>
              </a:rPr>
              <a:t>| </a:t>
            </a:r>
            <a:r>
              <a:rPr lang="zh-TW" altLang="en-US" sz="1200" dirty="0">
                <a:latin typeface="Times New Roman" panose="02020603050405020304" pitchFamily="18" charset="0"/>
                <a:cs typeface="Times New Roman" panose="02020603050405020304" pitchFamily="18" charset="0"/>
              </a:rPr>
              <a:t>為前處理</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altLang="zh-TW" sz="1200" dirty="0">
                <a:latin typeface="Times New Roman" panose="02020603050405020304" pitchFamily="18" charset="0"/>
                <a:cs typeface="Times New Roman" panose="02020603050405020304" pitchFamily="18" charset="0"/>
              </a:rPr>
              <a:t>loglog|</a:t>
            </a:r>
            <a:r>
              <a:rPr lang="zh-TW" altLang="en-US" sz="1200" dirty="0">
                <a:latin typeface="Times New Roman" panose="02020603050405020304" pitchFamily="18" charset="0"/>
                <a:cs typeface="Times New Roman" panose="02020603050405020304" pitchFamily="18" charset="0"/>
              </a:rPr>
              <a:t>∑</a:t>
            </a:r>
            <a:r>
              <a:rPr lang="pt-BR" altLang="zh-TW" sz="1200" dirty="0">
                <a:latin typeface="Times New Roman" panose="02020603050405020304" pitchFamily="18" charset="0"/>
                <a:cs typeface="Times New Roman" panose="02020603050405020304" pitchFamily="18" charset="0"/>
              </a:rPr>
              <a:t>| </a:t>
            </a:r>
            <a:r>
              <a:rPr lang="zh-TW" altLang="en-US" sz="1200" dirty="0">
                <a:latin typeface="Times New Roman" panose="02020603050405020304" pitchFamily="18" charset="0"/>
                <a:cs typeface="Times New Roman" panose="02020603050405020304" pitchFamily="18" charset="0"/>
              </a:rPr>
              <a:t>為所使用的資料結構操作所花時間</a:t>
            </a: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5"/>
          </p:nvPr>
        </p:nvSpPr>
        <p:spPr/>
        <p:txBody>
          <a:bodyPr/>
          <a:lstStyle/>
          <a:p>
            <a:fld id="{E05C87CB-DD22-4F6F-BC7E-D0042601E3D6}" type="slidenum">
              <a:rPr lang="zh-TW" altLang="en-US" smtClean="0"/>
              <a:pPr/>
              <a:t>17</a:t>
            </a:fld>
            <a:endParaRPr lang="zh-TW" altLang="en-US"/>
          </a:p>
        </p:txBody>
      </p:sp>
    </p:spTree>
    <p:extLst>
      <p:ext uri="{BB962C8B-B14F-4D97-AF65-F5344CB8AC3E}">
        <p14:creationId xmlns:p14="http://schemas.microsoft.com/office/powerpoint/2010/main" val="780413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(a</a:t>
            </a:r>
            <a:r>
              <a:rPr lang="zh-TW" altLang="en-US" dirty="0"/>
              <a:t>長度</a:t>
            </a:r>
            <a:r>
              <a:rPr lang="en-US" altLang="zh-TW" dirty="0"/>
              <a:t>,b</a:t>
            </a:r>
            <a:r>
              <a:rPr lang="zh-TW" altLang="en-US" dirty="0"/>
              <a:t>長度</a:t>
            </a:r>
            <a:r>
              <a:rPr lang="en-US" altLang="zh-TW" dirty="0"/>
              <a:t>,</a:t>
            </a:r>
            <a:r>
              <a:rPr lang="zh-TW" altLang="en-US" dirty="0"/>
              <a:t>字母種類</a:t>
            </a:r>
            <a:r>
              <a:rPr lang="en-US" altLang="zh-TW" dirty="0"/>
              <a:t>,</a:t>
            </a:r>
            <a:r>
              <a:rPr lang="en-US" altLang="zh-TW" dirty="0" err="1"/>
              <a:t>lcis</a:t>
            </a:r>
            <a:r>
              <a:rPr lang="zh-TW" altLang="en-US" dirty="0"/>
              <a:t>長度</a:t>
            </a:r>
            <a:r>
              <a:rPr lang="en-US" altLang="zh-TW" dirty="0"/>
              <a:t>,algorithm</a:t>
            </a:r>
            <a:r>
              <a:rPr lang="zh-TW" altLang="en-US" dirty="0"/>
              <a:t>名稱</a:t>
            </a:r>
            <a:r>
              <a:rPr lang="en-US" altLang="zh-TW" dirty="0"/>
              <a:t>)</a:t>
            </a:r>
          </a:p>
        </p:txBody>
      </p:sp>
      <p:sp>
        <p:nvSpPr>
          <p:cNvPr id="4" name="投影片編號版面配置區 3"/>
          <p:cNvSpPr>
            <a:spLocks noGrp="1"/>
          </p:cNvSpPr>
          <p:nvPr>
            <p:ph type="sldNum" sz="quarter" idx="10"/>
          </p:nvPr>
        </p:nvSpPr>
        <p:spPr/>
        <p:txBody>
          <a:bodyPr/>
          <a:lstStyle/>
          <a:p>
            <a:fld id="{E05C87CB-DD22-4F6F-BC7E-D0042601E3D6}" type="slidenum">
              <a:rPr lang="zh-TW" altLang="en-US" smtClean="0"/>
              <a:pPr/>
              <a:t>18</a:t>
            </a:fld>
            <a:endParaRPr lang="zh-TW" altLang="en-US"/>
          </a:p>
        </p:txBody>
      </p:sp>
    </p:spTree>
    <p:extLst>
      <p:ext uri="{BB962C8B-B14F-4D97-AF65-F5344CB8AC3E}">
        <p14:creationId xmlns:p14="http://schemas.microsoft.com/office/powerpoint/2010/main" val="1267234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2022/4/26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2022/4/26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2022/4/26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2022/4/26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BA57A5FF-B09D-4861-A15A-3127FCDEB20B}" type="datetimeFigureOut">
              <a:rPr lang="zh-TW" altLang="en-US" smtClean="0"/>
              <a:pPr/>
              <a:t>2022/4/26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A57A5FF-B09D-4861-A15A-3127FCDEB20B}" type="datetimeFigureOut">
              <a:rPr lang="zh-TW" altLang="en-US" smtClean="0"/>
              <a:pPr/>
              <a:t>2022/4/26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A57A5FF-B09D-4861-A15A-3127FCDEB20B}" type="datetimeFigureOut">
              <a:rPr lang="zh-TW" altLang="en-US" smtClean="0"/>
              <a:pPr/>
              <a:t>2022/4/26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2022/4/26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BA57A5FF-B09D-4861-A15A-3127FCDEB20B}" type="datetimeFigureOut">
              <a:rPr lang="zh-TW" altLang="en-US" smtClean="0"/>
              <a:pPr/>
              <a:t>2022/4/26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2022/4/26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BA57A5FF-B09D-4861-A15A-3127FCDEB20B}" type="datetimeFigureOut">
              <a:rPr lang="zh-TW" altLang="en-US" smtClean="0"/>
              <a:pPr/>
              <a:t>2022/4/26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D2DDFCA-1BA1-4113-A59F-BE40A323E13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57A5FF-B09D-4861-A15A-3127FCDEB20B}" type="datetimeFigureOut">
              <a:rPr lang="zh-TW" altLang="en-US" smtClean="0"/>
              <a:pPr/>
              <a:t>2022/4/26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2DDFCA-1BA1-4113-A59F-BE40A323E13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364920" y="672353"/>
            <a:ext cx="8671576" cy="2328019"/>
          </a:xfrm>
        </p:spPr>
        <p:txBody>
          <a:bodyPr anchor="t">
            <a:noAutofit/>
          </a:bodyPr>
          <a:lstStyle/>
          <a:p>
            <a:r>
              <a:rPr lang="en-US" altLang="zh-TW" b="1" dirty="0">
                <a:latin typeface="Times New Roman" panose="02020603050405020304" pitchFamily="18" charset="0"/>
                <a:cs typeface="Times New Roman" panose="02020603050405020304" pitchFamily="18" charset="0"/>
              </a:rPr>
              <a:t>A Diagonal-Based </a:t>
            </a:r>
            <a:r>
              <a:rPr lang="en-US" altLang="zh-TW" b="1">
                <a:latin typeface="Times New Roman" panose="02020603050405020304" pitchFamily="18" charset="0"/>
                <a:cs typeface="Times New Roman" panose="02020603050405020304" pitchFamily="18" charset="0"/>
              </a:rPr>
              <a:t>Algorithm for </a:t>
            </a:r>
            <a:r>
              <a:rPr lang="en-US" altLang="zh-TW" b="1" dirty="0">
                <a:latin typeface="Times New Roman" panose="02020603050405020304" pitchFamily="18" charset="0"/>
                <a:cs typeface="Times New Roman" panose="02020603050405020304" pitchFamily="18" charset="0"/>
              </a:rPr>
              <a:t>t</a:t>
            </a:r>
            <a:r>
              <a:rPr lang="en-US" altLang="zh-TW" b="1">
                <a:latin typeface="Times New Roman" panose="02020603050405020304" pitchFamily="18" charset="0"/>
                <a:cs typeface="Times New Roman" panose="02020603050405020304" pitchFamily="18" charset="0"/>
              </a:rPr>
              <a:t>he </a:t>
            </a:r>
            <a:r>
              <a:rPr lang="en-US" altLang="zh-TW" b="1" dirty="0">
                <a:latin typeface="Times New Roman" panose="02020603050405020304" pitchFamily="18" charset="0"/>
                <a:cs typeface="Times New Roman" panose="02020603050405020304" pitchFamily="18" charset="0"/>
              </a:rPr>
              <a:t>Longest Common Increasing Subsequence Problem</a:t>
            </a:r>
            <a:br>
              <a:rPr lang="af-ZA" altLang="zh-TW" b="1" dirty="0">
                <a:latin typeface="Times New Roman" panose="02020603050405020304" pitchFamily="18" charset="0"/>
                <a:cs typeface="Times New Roman" panose="02020603050405020304" pitchFamily="18" charset="0"/>
              </a:rPr>
            </a:br>
            <a:r>
              <a:rPr lang="af-ZA" altLang="zh-TW" b="1" dirty="0">
                <a:latin typeface="Times New Roman" panose="02020603050405020304" pitchFamily="18" charset="0"/>
                <a:cs typeface="Times New Roman" panose="02020603050405020304" pitchFamily="18" charset="0"/>
              </a:rPr>
              <a:t>​</a:t>
            </a:r>
            <a:br>
              <a:rPr lang="af-ZA" altLang="zh-TW" b="1" dirty="0">
                <a:latin typeface="Times New Roman" panose="02020603050405020304" pitchFamily="18" charset="0"/>
                <a:cs typeface="Times New Roman" panose="02020603050405020304" pitchFamily="18" charset="0"/>
              </a:rPr>
            </a:br>
            <a:br>
              <a:rPr lang="en-US" altLang="zh-TW" b="1" dirty="0">
                <a:latin typeface="Times New Roman" panose="02020603050405020304" pitchFamily="18" charset="0"/>
                <a:cs typeface="Times New Roman" panose="02020603050405020304" pitchFamily="18" charset="0"/>
              </a:rPr>
            </a:br>
            <a:endParaRPr lang="zh-TW" altLang="en-US" b="1"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B9014221-E47C-4C31-898A-DB1330B1B844}"/>
              </a:ext>
            </a:extLst>
          </p:cNvPr>
          <p:cNvSpPr txBox="1"/>
          <p:nvPr/>
        </p:nvSpPr>
        <p:spPr>
          <a:xfrm>
            <a:off x="6084168" y="5862481"/>
            <a:ext cx="2775670" cy="646331"/>
          </a:xfrm>
          <a:prstGeom prst="rect">
            <a:avLst/>
          </a:prstGeom>
          <a:noFill/>
        </p:spPr>
        <p:txBody>
          <a:bodyPr wrap="square">
            <a:spAutoFit/>
          </a:bodyPr>
          <a:lstStyle/>
          <a:p>
            <a:r>
              <a:rPr lang="en-US" altLang="zh-TW" dirty="0"/>
              <a:t>Presenter:</a:t>
            </a:r>
            <a:r>
              <a:rPr lang="zh-TW" altLang="en-US" dirty="0"/>
              <a:t> </a:t>
            </a:r>
            <a:r>
              <a:rPr lang="en-US" altLang="zh-TW" dirty="0" err="1"/>
              <a:t>Chien</a:t>
            </a:r>
            <a:r>
              <a:rPr lang="en-US" altLang="zh-TW" dirty="0"/>
              <a:t>-Ting Lee</a:t>
            </a:r>
          </a:p>
          <a:p>
            <a:pPr marR="0" lvl="0" indent="0" fontAlgn="auto">
              <a:lnSpc>
                <a:spcPct val="100000"/>
              </a:lnSpc>
              <a:spcBef>
                <a:spcPts val="0"/>
              </a:spcBef>
              <a:spcAft>
                <a:spcPts val="0"/>
              </a:spcAft>
              <a:buClrTx/>
              <a:buSzTx/>
              <a:buFontTx/>
              <a:buNone/>
              <a:tabLst/>
              <a:defRPr/>
            </a:pPr>
            <a:r>
              <a:rPr lang="x-none" altLang="zh-TW" dirty="0"/>
              <a:t>Date:</a:t>
            </a:r>
            <a:r>
              <a:rPr lang="zh-TW" altLang="en-US" dirty="0"/>
              <a:t> </a:t>
            </a:r>
            <a:r>
              <a:rPr lang="en-US" altLang="zh-TW" dirty="0"/>
              <a:t>Apr</a:t>
            </a:r>
            <a:r>
              <a:rPr lang="x-none" altLang="zh-TW" dirty="0"/>
              <a:t>. </a:t>
            </a:r>
            <a:r>
              <a:rPr lang="en-US" altLang="zh-TW" dirty="0"/>
              <a:t>26</a:t>
            </a:r>
            <a:r>
              <a:rPr lang="x-none" altLang="zh-TW" dirty="0"/>
              <a:t>, 202</a:t>
            </a:r>
            <a:r>
              <a:rPr lang="en-US" altLang="zh-TW" dirty="0"/>
              <a:t>2</a:t>
            </a:r>
            <a:endParaRPr lang="x-none" altLang="zh-TW" dirty="0"/>
          </a:p>
        </p:txBody>
      </p:sp>
      <p:sp>
        <p:nvSpPr>
          <p:cNvPr id="4" name="副標題 2">
            <a:extLst>
              <a:ext uri="{FF2B5EF4-FFF2-40B4-BE49-F238E27FC236}">
                <a16:creationId xmlns:a16="http://schemas.microsoft.com/office/drawing/2014/main" id="{C2097824-8D05-480F-BF6D-DD8BBC3EFED6}"/>
              </a:ext>
            </a:extLst>
          </p:cNvPr>
          <p:cNvSpPr>
            <a:spLocks noGrp="1"/>
          </p:cNvSpPr>
          <p:nvPr>
            <p:ph type="subTitle" idx="1"/>
          </p:nvPr>
        </p:nvSpPr>
        <p:spPr>
          <a:xfrm>
            <a:off x="0" y="3071810"/>
            <a:ext cx="9144000" cy="2079277"/>
          </a:xfrm>
        </p:spPr>
        <p:txBody>
          <a:bodyPr>
            <a:normAutofit fontScale="92500" lnSpcReduction="10000"/>
          </a:bodyPr>
          <a:lstStyle/>
          <a:p>
            <a:pPr>
              <a:lnSpc>
                <a:spcPct val="110000"/>
              </a:lnSpc>
              <a:spcBef>
                <a:spcPts val="1000"/>
              </a:spcBef>
            </a:pPr>
            <a:r>
              <a:rPr lang="en-US" altLang="zh-TW" sz="2400" dirty="0">
                <a:solidFill>
                  <a:schemeClr val="tx1"/>
                </a:solidFill>
                <a:latin typeface="Times New Roman" panose="02020603050405020304" pitchFamily="18" charset="0"/>
                <a:cs typeface="Times New Roman" panose="02020603050405020304" pitchFamily="18" charset="0"/>
              </a:rPr>
              <a:t>Shou-Fu Lo, </a:t>
            </a:r>
            <a:r>
              <a:rPr lang="en-US" altLang="zh-TW" sz="2400" dirty="0" err="1">
                <a:solidFill>
                  <a:schemeClr val="tx1"/>
                </a:solidFill>
                <a:latin typeface="Times New Roman" panose="02020603050405020304" pitchFamily="18" charset="0"/>
                <a:cs typeface="Times New Roman" panose="02020603050405020304" pitchFamily="18" charset="0"/>
              </a:rPr>
              <a:t>Kuo</a:t>
            </a:r>
            <a:r>
              <a:rPr lang="en-US" altLang="zh-TW" sz="2400" dirty="0">
                <a:solidFill>
                  <a:schemeClr val="tx1"/>
                </a:solidFill>
                <a:latin typeface="Times New Roman" panose="02020603050405020304" pitchFamily="18" charset="0"/>
                <a:cs typeface="Times New Roman" panose="02020603050405020304" pitchFamily="18" charset="0"/>
              </a:rPr>
              <a:t>-Tsung Tseng, Chang-</a:t>
            </a:r>
            <a:r>
              <a:rPr lang="en-US" altLang="zh-TW" sz="2400" dirty="0" err="1">
                <a:solidFill>
                  <a:schemeClr val="tx1"/>
                </a:solidFill>
                <a:latin typeface="Times New Roman" panose="02020603050405020304" pitchFamily="18" charset="0"/>
                <a:cs typeface="Times New Roman" panose="02020603050405020304" pitchFamily="18" charset="0"/>
              </a:rPr>
              <a:t>Biau</a:t>
            </a:r>
            <a:r>
              <a:rPr lang="en-US" altLang="zh-TW" sz="2400" dirty="0">
                <a:solidFill>
                  <a:schemeClr val="tx1"/>
                </a:solidFill>
                <a:latin typeface="Times New Roman" panose="02020603050405020304" pitchFamily="18" charset="0"/>
                <a:cs typeface="Times New Roman" panose="02020603050405020304" pitchFamily="18" charset="0"/>
              </a:rPr>
              <a:t> Yang and </a:t>
            </a:r>
            <a:r>
              <a:rPr lang="en-US" altLang="zh-TW" sz="2400" dirty="0" err="1">
                <a:solidFill>
                  <a:schemeClr val="tx1"/>
                </a:solidFill>
                <a:latin typeface="Times New Roman" panose="02020603050405020304" pitchFamily="18" charset="0"/>
                <a:cs typeface="Times New Roman" panose="02020603050405020304" pitchFamily="18" charset="0"/>
              </a:rPr>
              <a:t>Kuo</a:t>
            </a:r>
            <a:r>
              <a:rPr lang="en-US" altLang="zh-TW" sz="2400" dirty="0">
                <a:solidFill>
                  <a:schemeClr val="tx1"/>
                </a:solidFill>
                <a:latin typeface="Times New Roman" panose="02020603050405020304" pitchFamily="18" charset="0"/>
                <a:cs typeface="Times New Roman" panose="02020603050405020304" pitchFamily="18" charset="0"/>
              </a:rPr>
              <a:t>-Si Huang</a:t>
            </a:r>
          </a:p>
          <a:p>
            <a:pPr algn="ctr"/>
            <a:r>
              <a:rPr lang="en-US" altLang="zh-TW" sz="2400" dirty="0">
                <a:solidFill>
                  <a:schemeClr val="tx1"/>
                </a:solidFill>
              </a:rPr>
              <a:t>Theoretical Computer Science</a:t>
            </a:r>
          </a:p>
          <a:p>
            <a:pPr>
              <a:spcBef>
                <a:spcPts val="1000"/>
              </a:spcBef>
            </a:pPr>
            <a:r>
              <a:rPr lang="en-US" altLang="zh-TW" sz="2400" dirty="0">
                <a:solidFill>
                  <a:schemeClr val="tx1"/>
                </a:solidFill>
              </a:rPr>
              <a:t>Volume 815, 2 May 2020, Pages 69-78</a:t>
            </a:r>
          </a:p>
          <a:p>
            <a:pPr>
              <a:lnSpc>
                <a:spcPct val="90000"/>
              </a:lnSpc>
              <a:spcBef>
                <a:spcPts val="1000"/>
              </a:spcBef>
            </a:pPr>
            <a:br>
              <a:rPr lang="en-US" altLang="zh-TW" sz="3200" b="0" i="0" dirty="0">
                <a:solidFill>
                  <a:srgbClr val="505050"/>
                </a:solidFill>
                <a:effectLst/>
                <a:latin typeface="Times New Roman" panose="02020603050405020304" pitchFamily="18" charset="0"/>
                <a:cs typeface="Times New Roman" panose="02020603050405020304" pitchFamily="18" charset="0"/>
              </a:rPr>
            </a:br>
            <a:endParaRPr lang="en-US" altLang="zh-TW"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436323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Abstract(1/2)</a:t>
            </a:r>
            <a:endParaRPr lang="zh-TW" altLang="en-US" dirty="0"/>
          </a:p>
        </p:txBody>
      </p:sp>
      <p:sp>
        <p:nvSpPr>
          <p:cNvPr id="3" name="內容版面配置區 2"/>
          <p:cNvSpPr>
            <a:spLocks noGrp="1"/>
          </p:cNvSpPr>
          <p:nvPr>
            <p:ph idx="1"/>
          </p:nvPr>
        </p:nvSpPr>
        <p:spPr/>
        <p:txBody>
          <a:bodyPr>
            <a:noAutofit/>
          </a:bodyPr>
          <a:lstStyle/>
          <a:p>
            <a:pPr>
              <a:buNone/>
            </a:pPr>
            <a:r>
              <a:rPr lang="en-US" altLang="zh-TW" sz="2200" dirty="0">
                <a:latin typeface="Times New Roman" panose="02020603050405020304" pitchFamily="18" charset="0"/>
                <a:cs typeface="Times New Roman" panose="02020603050405020304" pitchFamily="18" charset="0"/>
              </a:rPr>
              <a:t>The longest common increasing subsequences (LCIS) problem is to</a:t>
            </a:r>
          </a:p>
          <a:p>
            <a:pPr>
              <a:buNone/>
            </a:pPr>
            <a:r>
              <a:rPr lang="en-US" altLang="zh-TW" sz="2200" dirty="0">
                <a:latin typeface="Times New Roman" panose="02020603050405020304" pitchFamily="18" charset="0"/>
                <a:cs typeface="Times New Roman" panose="02020603050405020304" pitchFamily="18" charset="0"/>
              </a:rPr>
              <a:t> find out a common increasing subsequence with the maximal length of</a:t>
            </a:r>
          </a:p>
          <a:p>
            <a:pPr>
              <a:buNone/>
            </a:pPr>
            <a:r>
              <a:rPr lang="en-US" altLang="zh-TW" sz="2200" dirty="0">
                <a:latin typeface="Times New Roman" panose="02020603050405020304" pitchFamily="18" charset="0"/>
                <a:cs typeface="Times New Roman" panose="02020603050405020304" pitchFamily="18" charset="0"/>
              </a:rPr>
              <a:t> two given sequences A and B. In this paper, we propose an algorithm</a:t>
            </a:r>
          </a:p>
          <a:p>
            <a:pPr>
              <a:buNone/>
            </a:pPr>
            <a:r>
              <a:rPr lang="en-US" altLang="zh-TW" sz="2200" dirty="0">
                <a:latin typeface="Times New Roman" panose="02020603050405020304" pitchFamily="18" charset="0"/>
                <a:cs typeface="Times New Roman" panose="02020603050405020304" pitchFamily="18" charset="0"/>
              </a:rPr>
              <a:t> for solving the LCIS problem with O</a:t>
            </a:r>
            <a:r>
              <a:rPr lang="pt-BR" altLang="zh-TW" sz="2200" dirty="0">
                <a:latin typeface="Times New Roman" panose="02020603050405020304" pitchFamily="18" charset="0"/>
                <a:cs typeface="Times New Roman" panose="02020603050405020304" pitchFamily="18" charset="0"/>
              </a:rPr>
              <a:t>((n + L(m − L))loglog|</a:t>
            </a:r>
            <a:r>
              <a:rPr lang="zh-TW" altLang="en-US" sz="2200" dirty="0">
                <a:latin typeface="Times New Roman" panose="02020603050405020304" pitchFamily="18" charset="0"/>
                <a:cs typeface="Times New Roman" panose="02020603050405020304" pitchFamily="18" charset="0"/>
              </a:rPr>
              <a:t>∑</a:t>
            </a:r>
            <a:r>
              <a:rPr lang="pt-BR" altLang="zh-TW"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time</a:t>
            </a:r>
          </a:p>
          <a:p>
            <a:pPr>
              <a:buNone/>
            </a:pPr>
            <a:r>
              <a:rPr lang="en-US" altLang="zh-TW" sz="2200" dirty="0">
                <a:latin typeface="Times New Roman" panose="02020603050405020304" pitchFamily="18" charset="0"/>
                <a:cs typeface="Times New Roman" panose="02020603050405020304" pitchFamily="18" charset="0"/>
              </a:rPr>
              <a:t> and O(n) space, where m and n denote the lengths of A and B,</a:t>
            </a:r>
          </a:p>
          <a:p>
            <a:pPr>
              <a:buNone/>
            </a:pPr>
            <a:r>
              <a:rPr lang="en-US" altLang="zh-TW" sz="2200" dirty="0">
                <a:latin typeface="Times New Roman" panose="02020603050405020304" pitchFamily="18" charset="0"/>
                <a:cs typeface="Times New Roman" panose="02020603050405020304" pitchFamily="18" charset="0"/>
              </a:rPr>
              <a:t> respectively, m ≤ n, L denotes the LCIS length, and </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denotes the</a:t>
            </a:r>
          </a:p>
          <a:p>
            <a:pPr>
              <a:buNone/>
            </a:pPr>
            <a:r>
              <a:rPr lang="en-US" altLang="zh-TW" sz="2200" dirty="0">
                <a:latin typeface="Times New Roman" panose="02020603050405020304" pitchFamily="18" charset="0"/>
                <a:cs typeface="Times New Roman" panose="02020603050405020304" pitchFamily="18" charset="0"/>
              </a:rPr>
              <a:t> alphabet set. The main idea of our algorithm is to extend the answer</a:t>
            </a:r>
          </a:p>
          <a:p>
            <a:pPr>
              <a:buNone/>
            </a:pPr>
            <a:r>
              <a:rPr lang="en-US" altLang="zh-TW" sz="2200" dirty="0">
                <a:latin typeface="Times New Roman" panose="02020603050405020304" pitchFamily="18" charset="0"/>
                <a:cs typeface="Times New Roman" panose="02020603050405020304" pitchFamily="18" charset="0"/>
              </a:rPr>
              <a:t> from some previously feasible solutions, in which the domination</a:t>
            </a:r>
          </a:p>
          <a:p>
            <a:pPr>
              <a:buNone/>
            </a:pPr>
            <a:r>
              <a:rPr lang="en-US" altLang="zh-TW" sz="2200" dirty="0">
                <a:latin typeface="Times New Roman" panose="02020603050405020304" pitchFamily="18" charset="0"/>
                <a:cs typeface="Times New Roman" panose="02020603050405020304" pitchFamily="18" charset="0"/>
              </a:rPr>
              <a:t> function is invoked. To accomplish the extension and domination</a:t>
            </a:r>
          </a:p>
          <a:p>
            <a:pPr>
              <a:buNone/>
            </a:pPr>
            <a:r>
              <a:rPr lang="en-US" altLang="zh-TW" sz="2200" dirty="0">
                <a:latin typeface="Times New Roman" panose="02020603050405020304" pitchFamily="18" charset="0"/>
                <a:cs typeface="Times New Roman" panose="02020603050405020304" pitchFamily="18" charset="0"/>
              </a:rPr>
              <a:t> functions, the data structure of the van </a:t>
            </a:r>
            <a:r>
              <a:rPr lang="en-US" altLang="zh-TW" sz="2200" dirty="0" err="1">
                <a:latin typeface="Times New Roman" panose="02020603050405020304" pitchFamily="18" charset="0"/>
                <a:cs typeface="Times New Roman" panose="02020603050405020304" pitchFamily="18" charset="0"/>
              </a:rPr>
              <a:t>Emde</a:t>
            </a:r>
            <a:r>
              <a:rPr lang="en-US" altLang="zh-TW" sz="2200" dirty="0">
                <a:latin typeface="Times New Roman" panose="02020603050405020304" pitchFamily="18" charset="0"/>
                <a:cs typeface="Times New Roman" panose="02020603050405020304" pitchFamily="18" charset="0"/>
              </a:rPr>
              <a:t> Boas tree is utilized. </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Abstract(2/2)</a:t>
            </a:r>
            <a:endParaRPr lang="zh-TW" altLang="en-US" dirty="0"/>
          </a:p>
        </p:txBody>
      </p:sp>
      <p:sp>
        <p:nvSpPr>
          <p:cNvPr id="3" name="內容版面配置區 2"/>
          <p:cNvSpPr>
            <a:spLocks noGrp="1"/>
          </p:cNvSpPr>
          <p:nvPr>
            <p:ph idx="1"/>
          </p:nvPr>
        </p:nvSpPr>
        <p:spPr/>
        <p:txBody>
          <a:bodyPr>
            <a:noAutofit/>
          </a:bodyPr>
          <a:lstStyle/>
          <a:p>
            <a:pPr>
              <a:buNone/>
            </a:pPr>
            <a:r>
              <a:rPr lang="en-US" altLang="zh-TW" sz="2200" dirty="0">
                <a:latin typeface="Times New Roman" panose="02020603050405020304" pitchFamily="18" charset="0"/>
                <a:cs typeface="Times New Roman" panose="02020603050405020304" pitchFamily="18" charset="0"/>
              </a:rPr>
              <a:t>From the time complexity, it is obvious that our algorithm is extremely</a:t>
            </a:r>
          </a:p>
          <a:p>
            <a:pPr>
              <a:buNone/>
            </a:pPr>
            <a:r>
              <a:rPr lang="en-US" altLang="zh-TW" sz="2200" dirty="0">
                <a:latin typeface="Times New Roman" panose="02020603050405020304" pitchFamily="18" charset="0"/>
                <a:cs typeface="Times New Roman" panose="02020603050405020304" pitchFamily="18" charset="0"/>
              </a:rPr>
              <a:t> efficient when L is very small or L is close to m. Some experiments are</a:t>
            </a:r>
          </a:p>
          <a:p>
            <a:pPr>
              <a:buNone/>
            </a:pPr>
            <a:r>
              <a:rPr lang="en-US" altLang="zh-TW" sz="2200" dirty="0">
                <a:latin typeface="Times New Roman" panose="02020603050405020304" pitchFamily="18" charset="0"/>
                <a:cs typeface="Times New Roman" panose="02020603050405020304" pitchFamily="18" charset="0"/>
              </a:rPr>
              <a:t> performed to demonstrate the efficiency of our algorithm.</a:t>
            </a: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LCIS(DP)</a:t>
            </a:r>
            <a:endParaRPr lang="zh-TW" altLang="en-US" dirty="0"/>
          </a:p>
        </p:txBody>
      </p:sp>
      <p:sp>
        <p:nvSpPr>
          <p:cNvPr id="5" name="內容版面配置區 4">
            <a:extLst>
              <a:ext uri="{FF2B5EF4-FFF2-40B4-BE49-F238E27FC236}">
                <a16:creationId xmlns:a16="http://schemas.microsoft.com/office/drawing/2014/main" id="{6CF6E69C-58DC-48B1-82AA-20F3950455CE}"/>
              </a:ext>
            </a:extLst>
          </p:cNvPr>
          <p:cNvSpPr>
            <a:spLocks noGrp="1"/>
          </p:cNvSpPr>
          <p:nvPr>
            <p:ph idx="1"/>
          </p:nvPr>
        </p:nvSpPr>
        <p:spPr>
          <a:xfrm>
            <a:off x="457200" y="1556792"/>
            <a:ext cx="8229600" cy="4525963"/>
          </a:xfrm>
        </p:spPr>
        <p:txBody>
          <a:bodyPr/>
          <a:lstStyle/>
          <a:p>
            <a:pPr marL="0" indent="0">
              <a:buNone/>
            </a:pPr>
            <a:endParaRPr lang="en-US" altLang="zh-TW" dirty="0"/>
          </a:p>
          <a:p>
            <a:pPr marL="0" indent="0">
              <a:buNone/>
            </a:pPr>
            <a:endParaRPr lang="zh-TW" altLang="en-US" dirty="0"/>
          </a:p>
        </p:txBody>
      </p:sp>
      <p:sp>
        <p:nvSpPr>
          <p:cNvPr id="18" name="文字方塊 17">
            <a:extLst>
              <a:ext uri="{FF2B5EF4-FFF2-40B4-BE49-F238E27FC236}">
                <a16:creationId xmlns:a16="http://schemas.microsoft.com/office/drawing/2014/main" id="{5B5994C6-92E5-4E2E-AC2B-89CA60AD33A9}"/>
              </a:ext>
            </a:extLst>
          </p:cNvPr>
          <p:cNvSpPr txBox="1"/>
          <p:nvPr/>
        </p:nvSpPr>
        <p:spPr>
          <a:xfrm>
            <a:off x="457200" y="5301208"/>
            <a:ext cx="7715200" cy="1877437"/>
          </a:xfrm>
          <a:prstGeom prst="rect">
            <a:avLst/>
          </a:prstGeom>
          <a:noFill/>
        </p:spPr>
        <p:txBody>
          <a:bodyPr wrap="square" rtlCol="0">
            <a:spAutoFit/>
          </a:bodyPr>
          <a:lstStyle/>
          <a:p>
            <a:endParaRPr lang="en-US" altLang="zh-TW" sz="2200" dirty="0">
              <a:latin typeface="Times New Roman" panose="02020603050405020304" pitchFamily="18" charset="0"/>
              <a:cs typeface="Times New Roman" panose="02020603050405020304" pitchFamily="18" charset="0"/>
            </a:endParaRPr>
          </a:p>
          <a:p>
            <a:r>
              <a:rPr lang="en-US" altLang="zh-TW" sz="2200" dirty="0">
                <a:latin typeface="Times New Roman" panose="02020603050405020304" pitchFamily="18" charset="0"/>
                <a:cs typeface="Times New Roman" panose="02020603050405020304" pitchFamily="18" charset="0"/>
              </a:rPr>
              <a:t>O(</a:t>
            </a:r>
            <a:r>
              <a:rPr lang="en-US" altLang="zh-TW" sz="2200" dirty="0" err="1">
                <a:latin typeface="Times New Roman" panose="02020603050405020304" pitchFamily="18" charset="0"/>
                <a:cs typeface="Times New Roman" panose="02020603050405020304" pitchFamily="18" charset="0"/>
              </a:rPr>
              <a:t>mn</a:t>
            </a:r>
            <a:r>
              <a:rPr lang="en-US" altLang="zh-TW" sz="2200" dirty="0">
                <a:latin typeface="Times New Roman" panose="02020603050405020304" pitchFamily="18" charset="0"/>
                <a:cs typeface="Times New Roman" panose="02020603050405020304" pitchFamily="18" charset="0"/>
              </a:rPr>
              <a:t>)</a:t>
            </a:r>
          </a:p>
          <a:p>
            <a:endParaRPr lang="en-US" altLang="zh-TW" dirty="0"/>
          </a:p>
          <a:p>
            <a:endParaRPr lang="en-US" altLang="zh-TW" dirty="0"/>
          </a:p>
          <a:p>
            <a:endParaRPr lang="en-US" altLang="zh-TW" dirty="0"/>
          </a:p>
          <a:p>
            <a:r>
              <a:rPr lang="en-US" altLang="zh-TW" dirty="0"/>
              <a:t>    </a:t>
            </a:r>
            <a:endParaRPr lang="zh-TW" altLang="en-US" dirty="0"/>
          </a:p>
        </p:txBody>
      </p:sp>
      <p:pic>
        <p:nvPicPr>
          <p:cNvPr id="7" name="圖片 6">
            <a:extLst>
              <a:ext uri="{FF2B5EF4-FFF2-40B4-BE49-F238E27FC236}">
                <a16:creationId xmlns:a16="http://schemas.microsoft.com/office/drawing/2014/main" id="{249AA9AA-E1DA-44A7-828B-DF500EB8714E}"/>
              </a:ext>
            </a:extLst>
          </p:cNvPr>
          <p:cNvPicPr>
            <a:picLocks noChangeAspect="1"/>
          </p:cNvPicPr>
          <p:nvPr/>
        </p:nvPicPr>
        <p:blipFill>
          <a:blip r:embed="rId3"/>
          <a:stretch>
            <a:fillRect/>
          </a:stretch>
        </p:blipFill>
        <p:spPr>
          <a:xfrm>
            <a:off x="5793" y="2115249"/>
            <a:ext cx="9144000" cy="3471608"/>
          </a:xfrm>
          <a:prstGeom prst="rect">
            <a:avLst/>
          </a:prstGeom>
        </p:spPr>
      </p:pic>
      <p:sp>
        <p:nvSpPr>
          <p:cNvPr id="8" name="文字方塊 7">
            <a:extLst>
              <a:ext uri="{FF2B5EF4-FFF2-40B4-BE49-F238E27FC236}">
                <a16:creationId xmlns:a16="http://schemas.microsoft.com/office/drawing/2014/main" id="{264FC64E-3414-450D-B1BA-D84D62D96A0C}"/>
              </a:ext>
            </a:extLst>
          </p:cNvPr>
          <p:cNvSpPr txBox="1"/>
          <p:nvPr/>
        </p:nvSpPr>
        <p:spPr>
          <a:xfrm>
            <a:off x="179512" y="1605188"/>
            <a:ext cx="6336704"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 A=&lt;4,5,1,4,8&gt;         B=&lt;1,5,4,7,2,5,8,4&gt;</a:t>
            </a:r>
            <a:endParaRPr lang="zh-TW"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15" name="圖片 14">
            <a:extLst>
              <a:ext uri="{FF2B5EF4-FFF2-40B4-BE49-F238E27FC236}">
                <a16:creationId xmlns:a16="http://schemas.microsoft.com/office/drawing/2014/main" id="{53B341B4-601F-4F5D-8EFD-113CF5C63870}"/>
              </a:ext>
            </a:extLst>
          </p:cNvPr>
          <p:cNvPicPr>
            <a:picLocks noChangeAspect="1"/>
          </p:cNvPicPr>
          <p:nvPr/>
        </p:nvPicPr>
        <p:blipFill>
          <a:blip r:embed="rId3"/>
          <a:stretch>
            <a:fillRect/>
          </a:stretch>
        </p:blipFill>
        <p:spPr>
          <a:xfrm>
            <a:off x="0" y="2094789"/>
            <a:ext cx="9144000" cy="2093604"/>
          </a:xfrm>
          <a:prstGeom prst="rect">
            <a:avLst/>
          </a:prstGeom>
        </p:spPr>
      </p:pic>
    </p:spTree>
    <p:extLst>
      <p:ext uri="{BB962C8B-B14F-4D97-AF65-F5344CB8AC3E}">
        <p14:creationId xmlns:p14="http://schemas.microsoft.com/office/powerpoint/2010/main" val="143550581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4" name="圖片 3">
            <a:extLst>
              <a:ext uri="{FF2B5EF4-FFF2-40B4-BE49-F238E27FC236}">
                <a16:creationId xmlns:a16="http://schemas.microsoft.com/office/drawing/2014/main" id="{87D2A6F4-D125-46F2-8B96-2B5F69EF0343}"/>
              </a:ext>
            </a:extLst>
          </p:cNvPr>
          <p:cNvPicPr>
            <a:picLocks noChangeAspect="1"/>
          </p:cNvPicPr>
          <p:nvPr/>
        </p:nvPicPr>
        <p:blipFill>
          <a:blip r:embed="rId3"/>
          <a:stretch>
            <a:fillRect/>
          </a:stretch>
        </p:blipFill>
        <p:spPr>
          <a:xfrm>
            <a:off x="0" y="2126280"/>
            <a:ext cx="9144000" cy="1915196"/>
          </a:xfrm>
          <a:prstGeom prst="rect">
            <a:avLst/>
          </a:prstGeom>
        </p:spPr>
      </p:pic>
    </p:spTree>
    <p:extLst>
      <p:ext uri="{BB962C8B-B14F-4D97-AF65-F5344CB8AC3E}">
        <p14:creationId xmlns:p14="http://schemas.microsoft.com/office/powerpoint/2010/main" val="110565848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4" name="圖片 3">
            <a:extLst>
              <a:ext uri="{FF2B5EF4-FFF2-40B4-BE49-F238E27FC236}">
                <a16:creationId xmlns:a16="http://schemas.microsoft.com/office/drawing/2014/main" id="{F12A7F46-8D4A-4BA8-931D-85658B75E088}"/>
              </a:ext>
            </a:extLst>
          </p:cNvPr>
          <p:cNvPicPr>
            <a:picLocks noChangeAspect="1"/>
          </p:cNvPicPr>
          <p:nvPr/>
        </p:nvPicPr>
        <p:blipFill>
          <a:blip r:embed="rId3"/>
          <a:stretch>
            <a:fillRect/>
          </a:stretch>
        </p:blipFill>
        <p:spPr>
          <a:xfrm>
            <a:off x="0" y="1962656"/>
            <a:ext cx="9144000" cy="1963168"/>
          </a:xfrm>
          <a:prstGeom prst="rect">
            <a:avLst/>
          </a:prstGeom>
        </p:spPr>
      </p:pic>
    </p:spTree>
    <p:extLst>
      <p:ext uri="{BB962C8B-B14F-4D97-AF65-F5344CB8AC3E}">
        <p14:creationId xmlns:p14="http://schemas.microsoft.com/office/powerpoint/2010/main" val="300897415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4" name="圖片 3">
            <a:extLst>
              <a:ext uri="{FF2B5EF4-FFF2-40B4-BE49-F238E27FC236}">
                <a16:creationId xmlns:a16="http://schemas.microsoft.com/office/drawing/2014/main" id="{BED6191D-5A22-438E-B5CC-AA943B26B5EA}"/>
              </a:ext>
            </a:extLst>
          </p:cNvPr>
          <p:cNvPicPr>
            <a:picLocks noChangeAspect="1"/>
          </p:cNvPicPr>
          <p:nvPr/>
        </p:nvPicPr>
        <p:blipFill>
          <a:blip r:embed="rId3"/>
          <a:stretch>
            <a:fillRect/>
          </a:stretch>
        </p:blipFill>
        <p:spPr>
          <a:xfrm>
            <a:off x="0" y="1916832"/>
            <a:ext cx="9144000" cy="1885097"/>
          </a:xfrm>
          <a:prstGeom prst="rect">
            <a:avLst/>
          </a:prstGeom>
        </p:spPr>
      </p:pic>
    </p:spTree>
    <p:extLst>
      <p:ext uri="{BB962C8B-B14F-4D97-AF65-F5344CB8AC3E}">
        <p14:creationId xmlns:p14="http://schemas.microsoft.com/office/powerpoint/2010/main" val="183099421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4" name="圖片 3">
            <a:extLst>
              <a:ext uri="{FF2B5EF4-FFF2-40B4-BE49-F238E27FC236}">
                <a16:creationId xmlns:a16="http://schemas.microsoft.com/office/drawing/2014/main" id="{1B405A41-98E6-487F-8B9C-3B6E7BFDF693}"/>
              </a:ext>
            </a:extLst>
          </p:cNvPr>
          <p:cNvPicPr>
            <a:picLocks noChangeAspect="1"/>
          </p:cNvPicPr>
          <p:nvPr/>
        </p:nvPicPr>
        <p:blipFill>
          <a:blip r:embed="rId3"/>
          <a:stretch>
            <a:fillRect/>
          </a:stretch>
        </p:blipFill>
        <p:spPr>
          <a:xfrm>
            <a:off x="0" y="2007272"/>
            <a:ext cx="9144000" cy="2843456"/>
          </a:xfrm>
          <a:prstGeom prst="rect">
            <a:avLst/>
          </a:prstGeom>
        </p:spPr>
      </p:pic>
    </p:spTree>
    <p:extLst>
      <p:ext uri="{BB962C8B-B14F-4D97-AF65-F5344CB8AC3E}">
        <p14:creationId xmlns:p14="http://schemas.microsoft.com/office/powerpoint/2010/main" val="231440968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6" name="圖片 5">
            <a:extLst>
              <a:ext uri="{FF2B5EF4-FFF2-40B4-BE49-F238E27FC236}">
                <a16:creationId xmlns:a16="http://schemas.microsoft.com/office/drawing/2014/main" id="{11ABAA89-BFDE-43A4-8681-F2D59059E742}"/>
              </a:ext>
            </a:extLst>
          </p:cNvPr>
          <p:cNvPicPr>
            <a:picLocks noChangeAspect="1"/>
          </p:cNvPicPr>
          <p:nvPr/>
        </p:nvPicPr>
        <p:blipFill>
          <a:blip r:embed="rId3"/>
          <a:stretch>
            <a:fillRect/>
          </a:stretch>
        </p:blipFill>
        <p:spPr>
          <a:xfrm>
            <a:off x="0" y="1943528"/>
            <a:ext cx="9144000" cy="2970944"/>
          </a:xfrm>
          <a:prstGeom prst="rect">
            <a:avLst/>
          </a:prstGeom>
        </p:spPr>
      </p:pic>
    </p:spTree>
    <p:extLst>
      <p:ext uri="{BB962C8B-B14F-4D97-AF65-F5344CB8AC3E}">
        <p14:creationId xmlns:p14="http://schemas.microsoft.com/office/powerpoint/2010/main" val="422566994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4" name="圖片 3">
            <a:extLst>
              <a:ext uri="{FF2B5EF4-FFF2-40B4-BE49-F238E27FC236}">
                <a16:creationId xmlns:a16="http://schemas.microsoft.com/office/drawing/2014/main" id="{F912A40D-1B25-40CB-8ED5-FC842C07BBB2}"/>
              </a:ext>
            </a:extLst>
          </p:cNvPr>
          <p:cNvPicPr>
            <a:picLocks noChangeAspect="1"/>
          </p:cNvPicPr>
          <p:nvPr/>
        </p:nvPicPr>
        <p:blipFill>
          <a:blip r:embed="rId3"/>
          <a:stretch>
            <a:fillRect/>
          </a:stretch>
        </p:blipFill>
        <p:spPr>
          <a:xfrm>
            <a:off x="0" y="1899205"/>
            <a:ext cx="9144000" cy="3059589"/>
          </a:xfrm>
          <a:prstGeom prst="rect">
            <a:avLst/>
          </a:prstGeom>
        </p:spPr>
      </p:pic>
    </p:spTree>
    <p:extLst>
      <p:ext uri="{BB962C8B-B14F-4D97-AF65-F5344CB8AC3E}">
        <p14:creationId xmlns:p14="http://schemas.microsoft.com/office/powerpoint/2010/main" val="23998880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4" name="圖片 3">
            <a:extLst>
              <a:ext uri="{FF2B5EF4-FFF2-40B4-BE49-F238E27FC236}">
                <a16:creationId xmlns:a16="http://schemas.microsoft.com/office/drawing/2014/main" id="{82656E06-3197-44AF-AB0F-D110A198DC13}"/>
              </a:ext>
            </a:extLst>
          </p:cNvPr>
          <p:cNvPicPr>
            <a:picLocks noChangeAspect="1"/>
          </p:cNvPicPr>
          <p:nvPr/>
        </p:nvPicPr>
        <p:blipFill>
          <a:blip r:embed="rId3"/>
          <a:stretch>
            <a:fillRect/>
          </a:stretch>
        </p:blipFill>
        <p:spPr>
          <a:xfrm>
            <a:off x="0" y="2001044"/>
            <a:ext cx="9144000" cy="2855911"/>
          </a:xfrm>
          <a:prstGeom prst="rect">
            <a:avLst/>
          </a:prstGeom>
        </p:spPr>
      </p:pic>
    </p:spTree>
    <p:extLst>
      <p:ext uri="{BB962C8B-B14F-4D97-AF65-F5344CB8AC3E}">
        <p14:creationId xmlns:p14="http://schemas.microsoft.com/office/powerpoint/2010/main" val="309264015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4" name="圖片 3">
            <a:extLst>
              <a:ext uri="{FF2B5EF4-FFF2-40B4-BE49-F238E27FC236}">
                <a16:creationId xmlns:a16="http://schemas.microsoft.com/office/drawing/2014/main" id="{123D132A-C55E-4A1E-B1F9-2B8CB77A90F9}"/>
              </a:ext>
            </a:extLst>
          </p:cNvPr>
          <p:cNvPicPr>
            <a:picLocks noChangeAspect="1"/>
          </p:cNvPicPr>
          <p:nvPr/>
        </p:nvPicPr>
        <p:blipFill>
          <a:blip r:embed="rId3"/>
          <a:stretch>
            <a:fillRect/>
          </a:stretch>
        </p:blipFill>
        <p:spPr>
          <a:xfrm>
            <a:off x="21374" y="2094789"/>
            <a:ext cx="9144000" cy="4030859"/>
          </a:xfrm>
          <a:prstGeom prst="rect">
            <a:avLst/>
          </a:prstGeom>
        </p:spPr>
      </p:pic>
    </p:spTree>
    <p:extLst>
      <p:ext uri="{BB962C8B-B14F-4D97-AF65-F5344CB8AC3E}">
        <p14:creationId xmlns:p14="http://schemas.microsoft.com/office/powerpoint/2010/main" val="381031613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5" name="圖片 4">
            <a:extLst>
              <a:ext uri="{FF2B5EF4-FFF2-40B4-BE49-F238E27FC236}">
                <a16:creationId xmlns:a16="http://schemas.microsoft.com/office/drawing/2014/main" id="{91C0E91C-8E20-48B5-855A-1076C42653E5}"/>
              </a:ext>
            </a:extLst>
          </p:cNvPr>
          <p:cNvPicPr>
            <a:picLocks noChangeAspect="1"/>
          </p:cNvPicPr>
          <p:nvPr/>
        </p:nvPicPr>
        <p:blipFill>
          <a:blip r:embed="rId3"/>
          <a:stretch>
            <a:fillRect/>
          </a:stretch>
        </p:blipFill>
        <p:spPr>
          <a:xfrm>
            <a:off x="0" y="2094789"/>
            <a:ext cx="9144000" cy="4073549"/>
          </a:xfrm>
          <a:prstGeom prst="rect">
            <a:avLst/>
          </a:prstGeom>
        </p:spPr>
      </p:pic>
    </p:spTree>
    <p:extLst>
      <p:ext uri="{BB962C8B-B14F-4D97-AF65-F5344CB8AC3E}">
        <p14:creationId xmlns:p14="http://schemas.microsoft.com/office/powerpoint/2010/main" val="60470013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5" name="圖片 4">
            <a:extLst>
              <a:ext uri="{FF2B5EF4-FFF2-40B4-BE49-F238E27FC236}">
                <a16:creationId xmlns:a16="http://schemas.microsoft.com/office/drawing/2014/main" id="{276A50D7-5AD7-4CF5-8F35-33804C2B353A}"/>
              </a:ext>
            </a:extLst>
          </p:cNvPr>
          <p:cNvPicPr>
            <a:picLocks noChangeAspect="1"/>
          </p:cNvPicPr>
          <p:nvPr/>
        </p:nvPicPr>
        <p:blipFill>
          <a:blip r:embed="rId3"/>
          <a:stretch>
            <a:fillRect/>
          </a:stretch>
        </p:blipFill>
        <p:spPr>
          <a:xfrm>
            <a:off x="0" y="2083944"/>
            <a:ext cx="9144000" cy="4072538"/>
          </a:xfrm>
          <a:prstGeom prst="rect">
            <a:avLst/>
          </a:prstGeom>
        </p:spPr>
      </p:pic>
    </p:spTree>
    <p:extLst>
      <p:ext uri="{BB962C8B-B14F-4D97-AF65-F5344CB8AC3E}">
        <p14:creationId xmlns:p14="http://schemas.microsoft.com/office/powerpoint/2010/main" val="266774564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5" name="圖片 4">
            <a:extLst>
              <a:ext uri="{FF2B5EF4-FFF2-40B4-BE49-F238E27FC236}">
                <a16:creationId xmlns:a16="http://schemas.microsoft.com/office/drawing/2014/main" id="{93BA0E9C-7083-4FB0-A79C-A4801967933F}"/>
              </a:ext>
            </a:extLst>
          </p:cNvPr>
          <p:cNvPicPr>
            <a:picLocks noChangeAspect="1"/>
          </p:cNvPicPr>
          <p:nvPr/>
        </p:nvPicPr>
        <p:blipFill>
          <a:blip r:embed="rId3"/>
          <a:stretch>
            <a:fillRect/>
          </a:stretch>
        </p:blipFill>
        <p:spPr>
          <a:xfrm>
            <a:off x="17061" y="1987046"/>
            <a:ext cx="9144000" cy="4140840"/>
          </a:xfrm>
          <a:prstGeom prst="rect">
            <a:avLst/>
          </a:prstGeom>
        </p:spPr>
      </p:pic>
    </p:spTree>
    <p:extLst>
      <p:ext uri="{BB962C8B-B14F-4D97-AF65-F5344CB8AC3E}">
        <p14:creationId xmlns:p14="http://schemas.microsoft.com/office/powerpoint/2010/main" val="64264665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274638"/>
            <a:ext cx="8435280" cy="1143000"/>
          </a:xfrm>
        </p:spPr>
        <p:txBody>
          <a:bodyPr>
            <a:normAutofit/>
          </a:bodyPr>
          <a:lstStyle/>
          <a:p>
            <a:r>
              <a:rPr lang="en-US" altLang="zh-TW" dirty="0"/>
              <a:t>LCIS(diagonal-based)</a:t>
            </a:r>
            <a:endParaRPr lang="zh-TW" altLang="en-US" dirty="0"/>
          </a:p>
        </p:txBody>
      </p:sp>
      <p:sp>
        <p:nvSpPr>
          <p:cNvPr id="7" name="內容版面配置區 6">
            <a:extLst>
              <a:ext uri="{FF2B5EF4-FFF2-40B4-BE49-F238E27FC236}">
                <a16:creationId xmlns:a16="http://schemas.microsoft.com/office/drawing/2014/main" id="{16208875-0FF1-41B1-8EB1-6256EB3435F9}"/>
              </a:ext>
            </a:extLst>
          </p:cNvPr>
          <p:cNvSpPr txBox="1">
            <a:spLocks noGrp="1"/>
          </p:cNvSpPr>
          <p:nvPr>
            <p:ph idx="1"/>
          </p:nvPr>
        </p:nvSpPr>
        <p:spPr>
          <a:xfrm>
            <a:off x="264209" y="1525381"/>
            <a:ext cx="8229600" cy="461665"/>
          </a:xfrm>
          <a:prstGeom prst="rect">
            <a:avLst/>
          </a:prstGeom>
          <a:noFill/>
        </p:spPr>
        <p:txBody>
          <a:bodyPr wrap="square" rtlCol="0">
            <a:spAutoFit/>
          </a:bodyPr>
          <a:lstStyle/>
          <a:p>
            <a:pPr marL="0" indent="0">
              <a:buNone/>
            </a:pPr>
            <a:r>
              <a:rPr lang="en-US" altLang="zh-TW" sz="2400" dirty="0">
                <a:latin typeface="Times New Roman" panose="02020603050405020304" pitchFamily="18" charset="0"/>
                <a:cs typeface="Times New Roman" panose="02020603050405020304" pitchFamily="18" charset="0"/>
              </a:rPr>
              <a:t> A=&lt;4,5,1,4,8&gt;         B=&lt;1,5,4,7,2,5,8,4&gt;</a:t>
            </a:r>
          </a:p>
        </p:txBody>
      </p:sp>
      <p:pic>
        <p:nvPicPr>
          <p:cNvPr id="8" name="圖片 7">
            <a:extLst>
              <a:ext uri="{FF2B5EF4-FFF2-40B4-BE49-F238E27FC236}">
                <a16:creationId xmlns:a16="http://schemas.microsoft.com/office/drawing/2014/main" id="{1C4901CC-235A-4626-B3B1-2C7FA6F367AB}"/>
              </a:ext>
            </a:extLst>
          </p:cNvPr>
          <p:cNvPicPr>
            <a:picLocks noChangeAspect="1"/>
          </p:cNvPicPr>
          <p:nvPr/>
        </p:nvPicPr>
        <p:blipFill>
          <a:blip r:embed="rId3"/>
          <a:stretch>
            <a:fillRect/>
          </a:stretch>
        </p:blipFill>
        <p:spPr>
          <a:xfrm>
            <a:off x="107504" y="1951663"/>
            <a:ext cx="8252837" cy="4259499"/>
          </a:xfrm>
          <a:prstGeom prst="rect">
            <a:avLst/>
          </a:prstGeom>
        </p:spPr>
      </p:pic>
      <p:sp>
        <p:nvSpPr>
          <p:cNvPr id="9" name="文字方塊 8">
            <a:extLst>
              <a:ext uri="{FF2B5EF4-FFF2-40B4-BE49-F238E27FC236}">
                <a16:creationId xmlns:a16="http://schemas.microsoft.com/office/drawing/2014/main" id="{76FCF895-5BB5-480C-86C1-63F7EF89C6D3}"/>
              </a:ext>
            </a:extLst>
          </p:cNvPr>
          <p:cNvSpPr txBox="1"/>
          <p:nvPr/>
        </p:nvSpPr>
        <p:spPr>
          <a:xfrm>
            <a:off x="395536" y="6093296"/>
            <a:ext cx="5851862"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pt-BR" altLang="zh-TW" sz="2400" dirty="0">
                <a:latin typeface="Times New Roman" panose="02020603050405020304" pitchFamily="18" charset="0"/>
                <a:cs typeface="Times New Roman" panose="02020603050405020304" pitchFamily="18" charset="0"/>
              </a:rPr>
              <a:t>((n + L(m − L))loglog|</a:t>
            </a:r>
            <a:r>
              <a:rPr lang="zh-TW" altLang="en-US" sz="2400" dirty="0">
                <a:latin typeface="Times New Roman" panose="02020603050405020304" pitchFamily="18" charset="0"/>
                <a:cs typeface="Times New Roman" panose="02020603050405020304" pitchFamily="18" charset="0"/>
              </a:rPr>
              <a:t>∑</a:t>
            </a:r>
            <a:r>
              <a:rPr lang="pt-BR" altLang="zh-TW" sz="2400" dirty="0">
                <a:latin typeface="Times New Roman" panose="02020603050405020304" pitchFamily="18" charset="0"/>
                <a:cs typeface="Times New Roman" panose="02020603050405020304" pitchFamily="18" charset="0"/>
              </a:rPr>
              <a:t>|) </a:t>
            </a:r>
            <a:r>
              <a:rPr lang="en-US" altLang="zh-TW" dirty="0"/>
              <a:t>    </a:t>
            </a:r>
            <a:endParaRPr lang="zh-TW" altLang="en-US" dirty="0"/>
          </a:p>
        </p:txBody>
      </p:sp>
    </p:spTree>
    <p:extLst>
      <p:ext uri="{BB962C8B-B14F-4D97-AF65-F5344CB8AC3E}">
        <p14:creationId xmlns:p14="http://schemas.microsoft.com/office/powerpoint/2010/main" val="400111679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pic>
        <p:nvPicPr>
          <p:cNvPr id="6" name="圖片 5">
            <a:extLst>
              <a:ext uri="{FF2B5EF4-FFF2-40B4-BE49-F238E27FC236}">
                <a16:creationId xmlns:a16="http://schemas.microsoft.com/office/drawing/2014/main" id="{85720788-5B57-4982-A314-268AC26CD3C1}"/>
              </a:ext>
            </a:extLst>
          </p:cNvPr>
          <p:cNvPicPr>
            <a:picLocks noChangeAspect="1"/>
          </p:cNvPicPr>
          <p:nvPr/>
        </p:nvPicPr>
        <p:blipFill>
          <a:blip r:embed="rId3"/>
          <a:stretch>
            <a:fillRect/>
          </a:stretch>
        </p:blipFill>
        <p:spPr>
          <a:xfrm>
            <a:off x="0" y="1951703"/>
            <a:ext cx="9144000" cy="3822955"/>
          </a:xfrm>
          <a:prstGeom prst="rect">
            <a:avLst/>
          </a:prstGeom>
        </p:spPr>
      </p:pic>
      <p:sp>
        <p:nvSpPr>
          <p:cNvPr id="7" name="內容版面配置區 6">
            <a:extLst>
              <a:ext uri="{FF2B5EF4-FFF2-40B4-BE49-F238E27FC236}">
                <a16:creationId xmlns:a16="http://schemas.microsoft.com/office/drawing/2014/main" id="{C7C65C94-11E7-4DDA-8424-03474E7C362B}"/>
              </a:ext>
            </a:extLst>
          </p:cNvPr>
          <p:cNvSpPr txBox="1">
            <a:spLocks noGrp="1"/>
          </p:cNvSpPr>
          <p:nvPr>
            <p:ph idx="1"/>
          </p:nvPr>
        </p:nvSpPr>
        <p:spPr>
          <a:xfrm>
            <a:off x="323528" y="1248695"/>
            <a:ext cx="8229600" cy="4525963"/>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O</a:t>
            </a:r>
            <a:r>
              <a:rPr lang="pt-BR" altLang="zh-TW" sz="2400" dirty="0">
                <a:latin typeface="Times New Roman" panose="02020603050405020304" pitchFamily="18" charset="0"/>
                <a:cs typeface="Times New Roman" panose="02020603050405020304" pitchFamily="18" charset="0"/>
              </a:rPr>
              <a:t>((n + L(m − L))loglog|</a:t>
            </a:r>
            <a:r>
              <a:rPr lang="zh-TW" altLang="en-US" sz="2400" dirty="0">
                <a:latin typeface="Times New Roman" panose="02020603050405020304" pitchFamily="18" charset="0"/>
                <a:cs typeface="Times New Roman" panose="02020603050405020304" pitchFamily="18" charset="0"/>
              </a:rPr>
              <a:t>∑</a:t>
            </a:r>
            <a:r>
              <a:rPr lang="pt-BR" altLang="zh-TW" sz="2400" dirty="0">
                <a:latin typeface="Times New Roman" panose="02020603050405020304" pitchFamily="18" charset="0"/>
                <a:cs typeface="Times New Roman" panose="02020603050405020304" pitchFamily="18" charset="0"/>
              </a:rPr>
              <a:t>|) </a:t>
            </a:r>
            <a:r>
              <a:rPr lang="en-US" altLang="zh-TW" dirty="0"/>
              <a:t>    </a:t>
            </a:r>
            <a:endParaRPr lang="zh-TW" altLang="en-US" dirty="0"/>
          </a:p>
        </p:txBody>
      </p:sp>
    </p:spTree>
    <p:extLst>
      <p:ext uri="{BB962C8B-B14F-4D97-AF65-F5344CB8AC3E}">
        <p14:creationId xmlns:p14="http://schemas.microsoft.com/office/powerpoint/2010/main" val="364865244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3033</TotalTime>
  <Words>793</Words>
  <Application>Microsoft Office PowerPoint</Application>
  <PresentationFormat>如螢幕大小 (4:3)</PresentationFormat>
  <Paragraphs>96</Paragraphs>
  <Slides>18</Slides>
  <Notes>18</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18</vt:i4>
      </vt:variant>
    </vt:vector>
  </HeadingPairs>
  <TitlesOfParts>
    <vt:vector size="22" baseType="lpstr">
      <vt:lpstr>Arial</vt:lpstr>
      <vt:lpstr>Calibri</vt:lpstr>
      <vt:lpstr>Times New Roman</vt:lpstr>
      <vt:lpstr>Office 佈景主題</vt:lpstr>
      <vt:lpstr>A Diagonal-Based Algorithm for the Longest Common Increasing Subsequence Problem ​  </vt:lpstr>
      <vt:lpstr>Abstract(1/2)</vt:lpstr>
      <vt:lpstr>Abstract(2/2)</vt:lpstr>
      <vt:lpstr>LCIS(DP)</vt:lpstr>
      <vt:lpstr>LCIS(diagonal-based)</vt:lpstr>
      <vt:lpstr>LCIS(diagonal-based)</vt:lpstr>
      <vt:lpstr>LCIS(diagonal-based)</vt:lpstr>
      <vt:lpstr>LCIS(diagonal-based)</vt:lpstr>
      <vt:lpstr>LCIS(diagonal-based)</vt:lpstr>
      <vt:lpstr>LCIS(diagonal-based)</vt:lpstr>
      <vt:lpstr>LCIS(diagonal-based)</vt:lpstr>
      <vt:lpstr>LCIS(diagonal-based)</vt:lpstr>
      <vt:lpstr>LCIS(diagonal-based)</vt:lpstr>
      <vt:lpstr>LCIS(diagonal-based)</vt:lpstr>
      <vt:lpstr>LCIS(diagonal-based)</vt:lpstr>
      <vt:lpstr>LCIS(diagonal-based)</vt:lpstr>
      <vt:lpstr>LCIS(diagonal-based)</vt:lpstr>
      <vt:lpstr>Experimental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李健廷</dc:creator>
  <cp:lastModifiedBy>pplab</cp:lastModifiedBy>
  <cp:revision>201</cp:revision>
  <dcterms:created xsi:type="dcterms:W3CDTF">2022-02-04T17:32:31Z</dcterms:created>
  <dcterms:modified xsi:type="dcterms:W3CDTF">2022-04-26T11:42:38Z</dcterms:modified>
</cp:coreProperties>
</file>