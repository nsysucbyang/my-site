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3" r:id="rId2"/>
    <p:sldId id="257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5" r:id="rId15"/>
    <p:sldId id="286" r:id="rId16"/>
    <p:sldId id="287" r:id="rId17"/>
    <p:sldId id="289" r:id="rId18"/>
    <p:sldId id="290" r:id="rId19"/>
    <p:sldId id="291" r:id="rId20"/>
    <p:sldId id="292" r:id="rId2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2155" autoAdjust="0"/>
  </p:normalViewPr>
  <p:slideViewPr>
    <p:cSldViewPr>
      <p:cViewPr>
        <p:scale>
          <a:sx n="125" d="100"/>
          <a:sy n="125" d="100"/>
        </p:scale>
        <p:origin x="786" y="-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C2939-B1A7-4514-8535-C0FA2719FDF5}" type="datetimeFigureOut">
              <a:rPr lang="zh-TW" altLang="en-US" smtClean="0"/>
              <a:pPr/>
              <a:t>2022/8/30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C87CB-DD22-4F6F-BC7E-D0042601E3D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635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Grayed cells denote strong matches and ‘–’ symbols denote −∞ values.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AC61C5-6144-4B51-874B-9068A2E119E1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1141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5329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E5AB2C-D8D8-4212-9417-63B76C2B7358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6482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97351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27100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6122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Alphabet size</a:t>
            </a:r>
            <a:r>
              <a:rPr lang="zh-TW" altLang="en-US" dirty="0"/>
              <a:t>大小改變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54736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固定</a:t>
            </a:r>
            <a:r>
              <a:rPr lang="en-US" altLang="zh-TW" dirty="0"/>
              <a:t>alphabet</a:t>
            </a:r>
            <a:r>
              <a:rPr lang="zh-TW" altLang="en-US" dirty="0"/>
              <a:t> </a:t>
            </a:r>
            <a:r>
              <a:rPr lang="en-US" altLang="zh-TW" dirty="0"/>
              <a:t>size </a:t>
            </a:r>
            <a:r>
              <a:rPr lang="zh-TW" altLang="en-US" dirty="0"/>
              <a:t>跟 </a:t>
            </a:r>
            <a:r>
              <a:rPr lang="en-US" altLang="zh-TW" dirty="0"/>
              <a:t>constrain</a:t>
            </a:r>
            <a:r>
              <a:rPr lang="zh-TW" altLang="en-US" dirty="0"/>
              <a:t> 長度</a:t>
            </a:r>
            <a:endParaRPr lang="en-US" altLang="zh-TW" dirty="0"/>
          </a:p>
          <a:p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固定</a:t>
            </a:r>
            <a:r>
              <a:rPr lang="en-US" altLang="zh-TW" dirty="0"/>
              <a:t>alphabet</a:t>
            </a:r>
            <a:r>
              <a:rPr lang="zh-TW" altLang="en-US" dirty="0"/>
              <a:t> </a:t>
            </a:r>
            <a:r>
              <a:rPr lang="en-US" altLang="zh-TW" dirty="0"/>
              <a:t>size </a:t>
            </a:r>
            <a:r>
              <a:rPr lang="zh-TW" altLang="en-US" dirty="0"/>
              <a:t>跟</a:t>
            </a:r>
            <a:r>
              <a:rPr lang="en-US" altLang="zh-TW" dirty="0"/>
              <a:t>a</a:t>
            </a:r>
            <a:r>
              <a:rPr lang="zh-TW" altLang="en-US" dirty="0"/>
              <a:t>、</a:t>
            </a:r>
            <a:r>
              <a:rPr lang="en-US" altLang="zh-TW" dirty="0"/>
              <a:t>b</a:t>
            </a:r>
            <a:r>
              <a:rPr lang="zh-TW" altLang="en-US" dirty="0"/>
              <a:t>字串 長度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C87CB-DD22-4F6F-BC7E-D0042601E3D6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1059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2022/8/30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2022/8/30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2022/8/30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2022/8/30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2022/8/30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2022/8/30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2022/8/30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2022/8/30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2022/8/30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2022/8/30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A5FF-B09D-4861-A15A-3127FCDEB20B}" type="datetimeFigureOut">
              <a:rPr lang="zh-TW" altLang="en-US" smtClean="0"/>
              <a:pPr/>
              <a:t>2022/8/30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7A5FF-B09D-4861-A15A-3127FCDEB20B}" type="datetimeFigureOut">
              <a:rPr lang="zh-TW" altLang="en-US" smtClean="0"/>
              <a:pPr/>
              <a:t>2022/8/30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DDFCA-1BA1-4113-A59F-BE40A323E13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C020BB-2F3A-40BC-8D8D-94312CEA4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920" y="672353"/>
            <a:ext cx="8625823" cy="2837610"/>
          </a:xfrm>
        </p:spPr>
        <p:txBody>
          <a:bodyPr anchor="t">
            <a:noAutofit/>
          </a:bodyPr>
          <a:lstStyle/>
          <a:p>
            <a:r>
              <a:rPr lang="en-US" altLang="zh-TW" dirty="0"/>
              <a:t>Fast Algorithm for Constrained Longest Common Subsequence Problem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9014221-E47C-4C31-898A-DB1330B1B844}"/>
              </a:ext>
            </a:extLst>
          </p:cNvPr>
          <p:cNvSpPr txBox="1"/>
          <p:nvPr/>
        </p:nvSpPr>
        <p:spPr>
          <a:xfrm>
            <a:off x="6084168" y="5862481"/>
            <a:ext cx="27756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/>
              <a:t>Presenter:Chien-Ting</a:t>
            </a:r>
            <a:r>
              <a:rPr lang="en-US" altLang="zh-TW" dirty="0"/>
              <a:t> Lee</a:t>
            </a:r>
          </a:p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x-none" altLang="zh-TW" dirty="0"/>
              <a:t>Date:</a:t>
            </a:r>
            <a:r>
              <a:rPr lang="zh-TW" altLang="en-US" dirty="0"/>
              <a:t> </a:t>
            </a:r>
            <a:r>
              <a:rPr lang="en-US" altLang="zh-TW" dirty="0"/>
              <a:t>Aug</a:t>
            </a:r>
            <a:r>
              <a:rPr lang="x-none" altLang="zh-TW" dirty="0"/>
              <a:t>. </a:t>
            </a:r>
            <a:r>
              <a:rPr lang="en-US" altLang="zh-TW" dirty="0"/>
              <a:t>30</a:t>
            </a:r>
            <a:r>
              <a:rPr lang="x-none" altLang="zh-TW" dirty="0"/>
              <a:t>, 202</a:t>
            </a:r>
            <a:r>
              <a:rPr lang="en-US" altLang="zh-TW" dirty="0"/>
              <a:t>2</a:t>
            </a:r>
            <a:endParaRPr lang="x-none" altLang="zh-TW" dirty="0"/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C2097824-8D05-480F-BF6D-DD8BBC3EF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0" y="3509962"/>
            <a:ext cx="9144000" cy="213361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Sebastian </a:t>
            </a:r>
            <a:r>
              <a:rPr lang="en-US" altLang="zh-TW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Deorowicz</a:t>
            </a:r>
            <a:endParaRPr lang="zh-TW" altLang="en-US" sz="2400" baseline="30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Theoretical and Applied Informatics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Vol. 19 (2007), no. 2 pp. 91–102</a:t>
            </a:r>
          </a:p>
          <a:p>
            <a:pPr>
              <a:lnSpc>
                <a:spcPct val="110000"/>
              </a:lnSpc>
              <a:spcBef>
                <a:spcPts val="1000"/>
              </a:spcBef>
            </a:pPr>
            <a:endParaRPr lang="en-US" altLang="zh-TW" sz="2400" dirty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  <a:spcBef>
                <a:spcPts val="1000"/>
              </a:spcBef>
            </a:pPr>
            <a:endParaRPr lang="en-US" altLang="zh-TW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363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problem of finding the constrained longest common subsequence (CLCS) for the sequences </a:t>
            </a:r>
            <a:r>
              <a:rPr lang="en-US" altLang="zh-TW" sz="28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sz="2800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respect to the sequence </a:t>
            </a:r>
            <a:r>
              <a:rPr lang="en-US" altLang="zh-TW" sz="2800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introduced recently. Its goal is to find the longest subsequence of </a:t>
            </a:r>
            <a:r>
              <a:rPr lang="en-US" altLang="zh-TW" sz="28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sz="2800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that </a:t>
            </a:r>
            <a:r>
              <a:rPr lang="en-US" altLang="zh-TW" sz="2800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subsequence of it. The best known algorithms for its solving require time of order of a product of the sequence lengths. We introduce a novel approach in which time and space complexities depend also on the number of matches between </a:t>
            </a:r>
            <a:r>
              <a:rPr lang="en-US" altLang="zh-TW" sz="28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800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zh-TW" sz="2800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time complexity is better for typical parameter settings and never worse.</a:t>
            </a:r>
            <a:endParaRPr lang="zh-TW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463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= a</a:t>
            </a:r>
            <a:r>
              <a:rPr lang="en-US" altLang="zh-TW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…a</a:t>
            </a:r>
            <a:r>
              <a:rPr lang="en-US" altLang="zh-TW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 = A</a:t>
            </a:r>
            <a:r>
              <a:rPr lang="en-US" altLang="zh-TW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BAAD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CBA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ABC , n = 12</a:t>
            </a:r>
          </a:p>
          <a:p>
            <a:pPr marL="0" indent="0">
              <a:buNone/>
            </a:pP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= b</a:t>
            </a:r>
            <a:r>
              <a:rPr lang="en-US" altLang="zh-TW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baseline="-25000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= C</a:t>
            </a:r>
            <a:r>
              <a:rPr lang="en-US" altLang="zh-TW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CBD</a:t>
            </a:r>
            <a:r>
              <a:rPr lang="en-US" altLang="zh-TW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AADC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TW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BA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, m = 12</a:t>
            </a:r>
          </a:p>
          <a:p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= LCS(A, B) = B A 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D C B A, |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| = 7</a:t>
            </a:r>
          </a:p>
          <a:p>
            <a:pPr>
              <a:buNone/>
            </a:pPr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= p</a:t>
            </a:r>
            <a:r>
              <a:rPr lang="en-US" altLang="zh-TW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…p</a:t>
            </a:r>
            <a:r>
              <a:rPr lang="en-US" altLang="zh-TW" baseline="-2500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= CBB, r = 3</a:t>
            </a:r>
          </a:p>
          <a:p>
            <a:pPr>
              <a:buNone/>
            </a:pP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altLang="zh-TW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not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a subsequence of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C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2895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CLCS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= a</a:t>
            </a:r>
            <a:r>
              <a:rPr lang="en-US" altLang="zh-TW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…a</a:t>
            </a:r>
            <a:r>
              <a:rPr lang="en-US" altLang="zh-TW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 = A</a:t>
            </a:r>
            <a:r>
              <a:rPr lang="en-US" altLang="zh-TW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AADA</a:t>
            </a:r>
            <a:r>
              <a:rPr lang="en-US" altLang="zh-TW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CBAAB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C , n = 12</a:t>
            </a:r>
          </a:p>
          <a:p>
            <a:pPr marL="0" indent="0">
              <a:buNone/>
            </a:pP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= b</a:t>
            </a:r>
            <a:r>
              <a:rPr lang="en-US" altLang="zh-TW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baseline="-25000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= C</a:t>
            </a:r>
            <a:r>
              <a:rPr lang="en-US" altLang="zh-TW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BCB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TW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AA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DCD</a:t>
            </a:r>
            <a:r>
              <a:rPr lang="en-US" altLang="zh-TW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A, m = 12</a:t>
            </a:r>
          </a:p>
          <a:p>
            <a:pPr marL="0" indent="0">
              <a:buNone/>
            </a:pP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zh-TW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CBB</a:t>
            </a:r>
          </a:p>
          <a:p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= CLCS(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) = B </a:t>
            </a:r>
            <a:r>
              <a:rPr lang="en-US" altLang="zh-TW" u="sng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u="sng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altLang="zh-TW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u="sng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, |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C | = 6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zh-TW" u="sng" dirty="0">
              <a:latin typeface="Times New Roman" pitchFamily="18" charset="0"/>
              <a:cs typeface="Times New Roman" pitchFamily="18" charset="0"/>
            </a:endParaRPr>
          </a:p>
          <a:p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77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Chin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et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al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. [2004]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420" y="1417638"/>
            <a:ext cx="8229600" cy="1929306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74667" y="3501008"/>
            <a:ext cx="6215106" cy="142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文字方塊 5"/>
          <p:cNvSpPr txBox="1"/>
          <p:nvPr/>
        </p:nvSpPr>
        <p:spPr>
          <a:xfrm>
            <a:off x="1331640" y="5229200"/>
            <a:ext cx="16209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TW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rmn</a:t>
            </a: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331640" y="5949280"/>
            <a:ext cx="62865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32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strong match</a:t>
            </a:r>
            <a:endParaRPr lang="zh-TW" altLang="en-US" sz="32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418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42852"/>
            <a:ext cx="8229600" cy="5983311"/>
          </a:xfrm>
        </p:spPr>
        <p:txBody>
          <a:bodyPr/>
          <a:lstStyle/>
          <a:p>
            <a:pPr marL="0" indent="0">
              <a:buNone/>
            </a:pP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= ABAADACBAABC</a:t>
            </a:r>
          </a:p>
          <a:p>
            <a:pPr marL="0" indent="0">
              <a:buNone/>
            </a:pP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= CBCBDAADCDBA</a:t>
            </a:r>
          </a:p>
          <a:p>
            <a:pPr marL="0" indent="0">
              <a:buNone/>
            </a:pP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= CBB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6</a:t>
            </a:fld>
            <a:endParaRPr lang="zh-TW" altLang="en-US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7" y="2060848"/>
            <a:ext cx="9014297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01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810" y="1700808"/>
            <a:ext cx="8229600" cy="295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735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143636" y="214290"/>
            <a:ext cx="114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</a:rPr>
              <a:t>case1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6143636" y="908720"/>
            <a:ext cx="114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case2</a:t>
            </a:r>
            <a:endParaRPr lang="zh-TW" altLang="en-US" sz="32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6143636" y="1628800"/>
            <a:ext cx="114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case3</a:t>
            </a:r>
            <a:endParaRPr lang="zh-TW" altLang="en-US" sz="3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875575"/>
            <a:ext cx="3960000" cy="3841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2873948"/>
            <a:ext cx="4207495" cy="384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文字方塊 10"/>
          <p:cNvSpPr txBox="1"/>
          <p:nvPr/>
        </p:nvSpPr>
        <p:spPr>
          <a:xfrm>
            <a:off x="2357422" y="2500306"/>
            <a:ext cx="731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0070C0"/>
                </a:solidFill>
              </a:rPr>
              <a:t>K-1</a:t>
            </a:r>
            <a:endParaRPr lang="zh-TW" altLang="en-US" sz="3200" dirty="0">
              <a:solidFill>
                <a:srgbClr val="0070C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865639" y="2500306"/>
            <a:ext cx="397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0070C0"/>
                </a:solidFill>
              </a:rPr>
              <a:t>K</a:t>
            </a:r>
            <a:endParaRPr lang="zh-TW" altLang="en-US" sz="3200" dirty="0">
              <a:solidFill>
                <a:srgbClr val="0070C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2714620"/>
            <a:ext cx="803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Case1: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662512" y="4758041"/>
            <a:ext cx="285752" cy="28575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1058132" y="3419571"/>
            <a:ext cx="1336276" cy="13503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投影片編號版面配置區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8</a:t>
            </a:fld>
            <a:endParaRPr lang="zh-TW" altLang="en-US"/>
          </a:p>
        </p:txBody>
      </p:sp>
      <p:pic>
        <p:nvPicPr>
          <p:cNvPr id="15" name="內容版面配置區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786" y="254722"/>
            <a:ext cx="6098390" cy="218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28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6143636" y="214290"/>
            <a:ext cx="114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case1</a:t>
            </a:r>
            <a:endParaRPr lang="zh-TW" altLang="en-US" sz="32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6143636" y="908720"/>
            <a:ext cx="114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</a:rPr>
              <a:t>case2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6143636" y="1628800"/>
            <a:ext cx="114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</a:rPr>
              <a:t>case3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2875575"/>
            <a:ext cx="3960000" cy="3841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2899286"/>
            <a:ext cx="4207495" cy="384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矩形 12"/>
          <p:cNvSpPr/>
          <p:nvPr/>
        </p:nvSpPr>
        <p:spPr>
          <a:xfrm>
            <a:off x="0" y="2714620"/>
            <a:ext cx="803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Case2: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58132" y="3419571"/>
            <a:ext cx="1336276" cy="13503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4286248" y="2714620"/>
            <a:ext cx="803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Case3: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950544" y="4776973"/>
            <a:ext cx="285752" cy="28575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/>
          <p:cNvSpPr/>
          <p:nvPr/>
        </p:nvSpPr>
        <p:spPr>
          <a:xfrm>
            <a:off x="2385703" y="4767468"/>
            <a:ext cx="285752" cy="28575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/>
          <p:cNvSpPr/>
          <p:nvPr/>
        </p:nvSpPr>
        <p:spPr>
          <a:xfrm>
            <a:off x="5220072" y="3406622"/>
            <a:ext cx="2016224" cy="16465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投影片編號版面配置區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9</a:t>
            </a:fld>
            <a:endParaRPr lang="zh-TW" altLang="en-US"/>
          </a:p>
        </p:txBody>
      </p:sp>
      <p:pic>
        <p:nvPicPr>
          <p:cNvPr id="16" name="內容版面配置區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7786" y="254722"/>
            <a:ext cx="6098390" cy="218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918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560" y="1916832"/>
            <a:ext cx="8229600" cy="254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248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7858148" y="428604"/>
            <a:ext cx="114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</a:rPr>
              <a:t>case1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858148" y="1486903"/>
            <a:ext cx="114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case2</a:t>
            </a:r>
            <a:endParaRPr lang="zh-TW" altLang="en-US" sz="32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875575"/>
            <a:ext cx="3960000" cy="3841497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2873948"/>
            <a:ext cx="4207495" cy="384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矩形 8"/>
          <p:cNvSpPr/>
          <p:nvPr/>
        </p:nvSpPr>
        <p:spPr>
          <a:xfrm>
            <a:off x="0" y="2714620"/>
            <a:ext cx="803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Case1: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643702" y="4758041"/>
            <a:ext cx="285752" cy="28575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1058132" y="3419571"/>
            <a:ext cx="1336276" cy="13503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2357422" y="2500306"/>
            <a:ext cx="731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0070C0"/>
                </a:solidFill>
              </a:rPr>
              <a:t>K-1</a:t>
            </a:r>
            <a:endParaRPr lang="zh-TW" altLang="en-US" sz="3200" dirty="0">
              <a:solidFill>
                <a:srgbClr val="0070C0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865639" y="2500306"/>
            <a:ext cx="397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0070C0"/>
                </a:solidFill>
              </a:rPr>
              <a:t>K</a:t>
            </a:r>
            <a:endParaRPr lang="zh-TW" altLang="en-US" sz="3200" dirty="0">
              <a:solidFill>
                <a:srgbClr val="0070C0"/>
              </a:solidFill>
            </a:endParaRPr>
          </a:p>
        </p:txBody>
      </p:sp>
      <p:sp>
        <p:nvSpPr>
          <p:cNvPr id="18" name="投影片編號版面配置區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11</a:t>
            </a:fld>
            <a:endParaRPr lang="zh-TW" altLang="en-US"/>
          </a:p>
        </p:txBody>
      </p:sp>
      <p:pic>
        <p:nvPicPr>
          <p:cNvPr id="17" name="內容版面配置區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74942"/>
            <a:ext cx="7692484" cy="237685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2123728" y="4472289"/>
            <a:ext cx="270680" cy="28575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1332987" y="3717032"/>
            <a:ext cx="21431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1332987" y="4221088"/>
            <a:ext cx="214314" cy="2512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2889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字方塊 29"/>
          <p:cNvSpPr txBox="1"/>
          <p:nvPr/>
        </p:nvSpPr>
        <p:spPr>
          <a:xfrm>
            <a:off x="7858148" y="428604"/>
            <a:ext cx="114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case1</a:t>
            </a:r>
            <a:endParaRPr lang="zh-TW" altLang="en-US" sz="3200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7858148" y="1486903"/>
            <a:ext cx="114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</a:rPr>
              <a:t>case2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pic>
        <p:nvPicPr>
          <p:cNvPr id="3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2875575"/>
            <a:ext cx="3960000" cy="3841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4" name="矩形 33"/>
          <p:cNvSpPr/>
          <p:nvPr/>
        </p:nvSpPr>
        <p:spPr>
          <a:xfrm>
            <a:off x="0" y="2714620"/>
            <a:ext cx="803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Case2: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058132" y="3419571"/>
            <a:ext cx="1336276" cy="13503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矩形 41"/>
          <p:cNvSpPr/>
          <p:nvPr/>
        </p:nvSpPr>
        <p:spPr>
          <a:xfrm>
            <a:off x="2400579" y="4776895"/>
            <a:ext cx="285752" cy="28575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投影片編號版面配置區 4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12</a:t>
            </a:fld>
            <a:endParaRPr lang="zh-TW" altLang="en-US"/>
          </a:p>
        </p:txBody>
      </p:sp>
      <p:pic>
        <p:nvPicPr>
          <p:cNvPr id="13" name="內容版面配置區 3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0" y="174942"/>
            <a:ext cx="7692484" cy="2376859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2123728" y="4472289"/>
            <a:ext cx="270680" cy="28575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1332987" y="3717032"/>
            <a:ext cx="21431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1332987" y="4243497"/>
            <a:ext cx="21431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3132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Variant of the Hunt-Szymanski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1428736"/>
            <a:ext cx="8643998" cy="520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8187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6186974" cy="4643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字方塊 4"/>
          <p:cNvSpPr txBox="1"/>
          <p:nvPr/>
        </p:nvSpPr>
        <p:spPr>
          <a:xfrm>
            <a:off x="6143636" y="548680"/>
            <a:ext cx="321754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&lt;7,1&gt;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&lt;7,1&gt;,&lt;8,2&gt;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&lt;7,2&gt;,&lt;12,3&gt;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&lt;7,2&gt;,&lt;8,3&gt;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&lt;7,2&gt;,&lt;8,3&gt;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&lt;7,2&gt;,&lt;8,3&gt;,&lt;9,4&gt;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&lt;7,2&gt;,&lt;8,3&gt;,&lt;9,4&gt;,&lt;10,5&gt;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&lt;7,2&gt;,&lt;8,3&gt;,&lt;9,4&gt;,&lt;10,5&gt;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&lt;7,5&gt;,&lt;12,6&gt;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&lt;7,5&gt;,&lt;12,6&gt;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&lt;7,5&gt;,&lt;8,6&gt;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&lt;7,5&gt;,&lt;8,6&gt;,&lt;9,7&gt;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14</a:t>
            </a:fld>
            <a:endParaRPr lang="zh-TW" altLang="en-US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384"/>
            <a:ext cx="6211167" cy="4658375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672376" y="4610735"/>
            <a:ext cx="266700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477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6143637" cy="471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字方塊 4"/>
          <p:cNvSpPr txBox="1"/>
          <p:nvPr/>
        </p:nvSpPr>
        <p:spPr>
          <a:xfrm>
            <a:off x="6072198" y="642918"/>
            <a:ext cx="3288080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&lt;8,2&gt;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&lt;8,2&gt;,&lt;12,3&gt;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&lt;8,3&gt;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&lt;8,3&gt;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&lt;8,3&gt;,&lt;9,4&gt;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&lt;8,3&gt;,&lt;9,4&gt;,&lt;10,5&gt;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&lt;8,3&gt;,&lt;9,4&gt;,&lt;10,5&gt;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&lt;8,3&gt;,&lt;9,4&gt;,&lt;10,5&gt;&lt;12,6&gt;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&lt;8,3&gt;,&lt;9,4&gt;,&lt;10,5&gt;&lt;12,6&gt;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&lt;8,6&gt;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&lt;8,6&gt;,&lt;9,7&gt;</a:t>
            </a:r>
            <a:endParaRPr lang="zh-TW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15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1124744"/>
            <a:ext cx="266700" cy="20002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1772816"/>
            <a:ext cx="266700" cy="200025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573" y="764704"/>
            <a:ext cx="266700" cy="200025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524" y="1463272"/>
            <a:ext cx="266700" cy="200025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924" y="2436887"/>
            <a:ext cx="266700" cy="200025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924" y="2780928"/>
            <a:ext cx="266700" cy="200025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924" y="4437112"/>
            <a:ext cx="266700" cy="200025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4077072"/>
            <a:ext cx="266700" cy="200025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849" y="2452449"/>
            <a:ext cx="266700" cy="200025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849" y="2780928"/>
            <a:ext cx="266700" cy="200025"/>
          </a:xfrm>
          <a:prstGeom prst="rect">
            <a:avLst/>
          </a:prstGeom>
        </p:spPr>
      </p:pic>
      <p:pic>
        <p:nvPicPr>
          <p:cNvPr id="17" name="圖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849" y="4432801"/>
            <a:ext cx="266700" cy="200025"/>
          </a:xfrm>
          <a:prstGeom prst="rect">
            <a:avLst/>
          </a:prstGeom>
        </p:spPr>
      </p:pic>
      <p:pic>
        <p:nvPicPr>
          <p:cNvPr id="18" name="圖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206" y="2157417"/>
            <a:ext cx="266700" cy="200025"/>
          </a:xfrm>
          <a:prstGeom prst="rect">
            <a:avLst/>
          </a:prstGeom>
        </p:spPr>
      </p:pic>
      <p:pic>
        <p:nvPicPr>
          <p:cNvPr id="19" name="圖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468" y="764703"/>
            <a:ext cx="266700" cy="200025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076" y="2452448"/>
            <a:ext cx="266700" cy="200025"/>
          </a:xfrm>
          <a:prstGeom prst="rect">
            <a:avLst/>
          </a:prstGeom>
        </p:spPr>
      </p:pic>
      <p:pic>
        <p:nvPicPr>
          <p:cNvPr id="21" name="圖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076" y="2773341"/>
            <a:ext cx="266700" cy="200025"/>
          </a:xfrm>
          <a:prstGeom prst="rect">
            <a:avLst/>
          </a:prstGeom>
        </p:spPr>
      </p:pic>
      <p:pic>
        <p:nvPicPr>
          <p:cNvPr id="22" name="圖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076" y="4428679"/>
            <a:ext cx="266700" cy="200025"/>
          </a:xfrm>
          <a:prstGeom prst="rect">
            <a:avLst/>
          </a:prstGeom>
        </p:spPr>
      </p:pic>
      <p:pic>
        <p:nvPicPr>
          <p:cNvPr id="23" name="圖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172" y="2436886"/>
            <a:ext cx="266700" cy="200025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172" y="2800478"/>
            <a:ext cx="266700" cy="200025"/>
          </a:xfrm>
          <a:prstGeom prst="rect">
            <a:avLst/>
          </a:prstGeom>
        </p:spPr>
      </p:pic>
      <p:pic>
        <p:nvPicPr>
          <p:cNvPr id="25" name="圖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206" y="3140968"/>
            <a:ext cx="266700" cy="200025"/>
          </a:xfrm>
          <a:prstGeom prst="rect">
            <a:avLst/>
          </a:prstGeom>
        </p:spPr>
      </p:pic>
      <p:pic>
        <p:nvPicPr>
          <p:cNvPr id="26" name="圖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124" y="3789040"/>
            <a:ext cx="266700" cy="200025"/>
          </a:xfrm>
          <a:prstGeom prst="rect">
            <a:avLst/>
          </a:prstGeom>
        </p:spPr>
      </p:pic>
      <p:pic>
        <p:nvPicPr>
          <p:cNvPr id="27" name="圖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220" y="3444999"/>
            <a:ext cx="266700" cy="200025"/>
          </a:xfrm>
          <a:prstGeom prst="rect">
            <a:avLst/>
          </a:prstGeom>
        </p:spPr>
      </p:pic>
      <p:pic>
        <p:nvPicPr>
          <p:cNvPr id="28" name="圖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172" y="4428678"/>
            <a:ext cx="266700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625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6195301" y="631338"/>
            <a:ext cx="1866986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&lt;11,3&gt;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&lt;11,3&gt;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&lt;11,3&gt;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&lt;11,3&gt;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&lt;11,3&gt;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&lt;11,3&gt;,&lt;12,6&gt;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&lt;11,3&gt;,&lt;12,6&gt;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&lt;11,6&gt;</a:t>
            </a:r>
          </a:p>
          <a:p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&lt;11,6&gt;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6204160" cy="4643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16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05" y="2708830"/>
            <a:ext cx="266700" cy="20002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05" y="2386413"/>
            <a:ext cx="266700" cy="200025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05" y="4391215"/>
            <a:ext cx="266700" cy="200025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1052736"/>
            <a:ext cx="266700" cy="200025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1700808"/>
            <a:ext cx="266700" cy="200025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4021063"/>
            <a:ext cx="266700" cy="200025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337" y="2386413"/>
            <a:ext cx="266700" cy="200025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2695440"/>
            <a:ext cx="266700" cy="200025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337" y="4389400"/>
            <a:ext cx="266700" cy="200025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076" y="2386412"/>
            <a:ext cx="266700" cy="200025"/>
          </a:xfrm>
          <a:prstGeom prst="rect">
            <a:avLst/>
          </a:prstGeom>
        </p:spPr>
      </p:pic>
      <p:pic>
        <p:nvPicPr>
          <p:cNvPr id="17" name="圖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076" y="2695439"/>
            <a:ext cx="266700" cy="200025"/>
          </a:xfrm>
          <a:prstGeom prst="rect">
            <a:avLst/>
          </a:prstGeom>
        </p:spPr>
      </p:pic>
      <p:pic>
        <p:nvPicPr>
          <p:cNvPr id="18" name="圖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076" y="4389400"/>
            <a:ext cx="266700" cy="200025"/>
          </a:xfrm>
          <a:prstGeom prst="rect">
            <a:avLst/>
          </a:prstGeom>
        </p:spPr>
      </p:pic>
      <p:pic>
        <p:nvPicPr>
          <p:cNvPr id="19" name="圖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124" y="2060848"/>
            <a:ext cx="266700" cy="200025"/>
          </a:xfrm>
          <a:prstGeom prst="rect">
            <a:avLst/>
          </a:prstGeom>
        </p:spPr>
      </p:pic>
      <p:pic>
        <p:nvPicPr>
          <p:cNvPr id="20" name="圖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124" y="3068960"/>
            <a:ext cx="266700" cy="200025"/>
          </a:xfrm>
          <a:prstGeom prst="rect">
            <a:avLst/>
          </a:prstGeom>
        </p:spPr>
      </p:pic>
      <p:pic>
        <p:nvPicPr>
          <p:cNvPr id="21" name="圖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124" y="3733031"/>
            <a:ext cx="266700" cy="200025"/>
          </a:xfrm>
          <a:prstGeom prst="rect">
            <a:avLst/>
          </a:prstGeom>
        </p:spPr>
      </p:pic>
      <p:pic>
        <p:nvPicPr>
          <p:cNvPr id="22" name="圖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96" y="764704"/>
            <a:ext cx="266700" cy="200025"/>
          </a:xfrm>
          <a:prstGeom prst="rect">
            <a:avLst/>
          </a:prstGeom>
        </p:spPr>
      </p:pic>
      <p:pic>
        <p:nvPicPr>
          <p:cNvPr id="23" name="圖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144" y="764703"/>
            <a:ext cx="266700" cy="200025"/>
          </a:xfrm>
          <a:prstGeom prst="rect">
            <a:avLst/>
          </a:prstGeom>
        </p:spPr>
      </p:pic>
      <p:pic>
        <p:nvPicPr>
          <p:cNvPr id="24" name="圖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1074070"/>
            <a:ext cx="266700" cy="200025"/>
          </a:xfrm>
          <a:prstGeom prst="rect">
            <a:avLst/>
          </a:prstGeom>
        </p:spPr>
      </p:pic>
      <p:pic>
        <p:nvPicPr>
          <p:cNvPr id="25" name="圖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276" y="1068735"/>
            <a:ext cx="266700" cy="200025"/>
          </a:xfrm>
          <a:prstGeom prst="rect">
            <a:avLst/>
          </a:prstGeom>
        </p:spPr>
      </p:pic>
      <p:pic>
        <p:nvPicPr>
          <p:cNvPr id="26" name="圖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96" y="1356767"/>
            <a:ext cx="266700" cy="200025"/>
          </a:xfrm>
          <a:prstGeom prst="rect">
            <a:avLst/>
          </a:prstGeom>
        </p:spPr>
      </p:pic>
      <p:pic>
        <p:nvPicPr>
          <p:cNvPr id="27" name="圖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276" y="1716807"/>
            <a:ext cx="266700" cy="200025"/>
          </a:xfrm>
          <a:prstGeom prst="rect">
            <a:avLst/>
          </a:prstGeom>
        </p:spPr>
      </p:pic>
      <p:pic>
        <p:nvPicPr>
          <p:cNvPr id="28" name="圖片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908" y="2386412"/>
            <a:ext cx="266700" cy="200025"/>
          </a:xfrm>
          <a:prstGeom prst="rect">
            <a:avLst/>
          </a:prstGeom>
        </p:spPr>
      </p:pic>
      <p:pic>
        <p:nvPicPr>
          <p:cNvPr id="29" name="圖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908" y="2695438"/>
            <a:ext cx="266700" cy="200025"/>
          </a:xfrm>
          <a:prstGeom prst="rect">
            <a:avLst/>
          </a:prstGeom>
        </p:spPr>
      </p:pic>
      <p:pic>
        <p:nvPicPr>
          <p:cNvPr id="30" name="圖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992" y="2386411"/>
            <a:ext cx="266700" cy="200025"/>
          </a:xfrm>
          <a:prstGeom prst="rect">
            <a:avLst/>
          </a:prstGeom>
        </p:spPr>
      </p:pic>
      <p:pic>
        <p:nvPicPr>
          <p:cNvPr id="31" name="圖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140" y="2386411"/>
            <a:ext cx="266700" cy="200025"/>
          </a:xfrm>
          <a:prstGeom prst="rect">
            <a:avLst/>
          </a:prstGeom>
        </p:spPr>
      </p:pic>
      <p:pic>
        <p:nvPicPr>
          <p:cNvPr id="32" name="圖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404" y="1358559"/>
            <a:ext cx="266700" cy="200025"/>
          </a:xfrm>
          <a:prstGeom prst="rect">
            <a:avLst/>
          </a:prstGeom>
        </p:spPr>
      </p:pic>
      <p:pic>
        <p:nvPicPr>
          <p:cNvPr id="33" name="圖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992" y="2708830"/>
            <a:ext cx="266700" cy="200025"/>
          </a:xfrm>
          <a:prstGeom prst="rect">
            <a:avLst/>
          </a:prstGeom>
        </p:spPr>
      </p:pic>
      <p:pic>
        <p:nvPicPr>
          <p:cNvPr id="34" name="圖片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372" y="2695438"/>
            <a:ext cx="266700" cy="200025"/>
          </a:xfrm>
          <a:prstGeom prst="rect">
            <a:avLst/>
          </a:prstGeom>
        </p:spPr>
      </p:pic>
      <p:pic>
        <p:nvPicPr>
          <p:cNvPr id="35" name="圖片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896" y="3356992"/>
            <a:ext cx="266700" cy="200025"/>
          </a:xfrm>
          <a:prstGeom prst="rect">
            <a:avLst/>
          </a:prstGeom>
        </p:spPr>
      </p:pic>
      <p:pic>
        <p:nvPicPr>
          <p:cNvPr id="36" name="圖片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276" y="4021062"/>
            <a:ext cx="266700" cy="200025"/>
          </a:xfrm>
          <a:prstGeom prst="rect">
            <a:avLst/>
          </a:prstGeom>
        </p:spPr>
      </p:pic>
      <p:pic>
        <p:nvPicPr>
          <p:cNvPr id="37" name="圖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908" y="4389400"/>
            <a:ext cx="266700" cy="200025"/>
          </a:xfrm>
          <a:prstGeom prst="rect">
            <a:avLst/>
          </a:prstGeom>
        </p:spPr>
      </p:pic>
      <p:pic>
        <p:nvPicPr>
          <p:cNvPr id="38" name="圖片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401" y="4387585"/>
            <a:ext cx="266700" cy="200025"/>
          </a:xfrm>
          <a:prstGeom prst="rect">
            <a:avLst/>
          </a:prstGeom>
        </p:spPr>
      </p:pic>
      <p:pic>
        <p:nvPicPr>
          <p:cNvPr id="39" name="圖片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372" y="4385770"/>
            <a:ext cx="266700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029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4572000" cy="34278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67238" y="0"/>
            <a:ext cx="4576762" cy="3438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-9524" y="3429001"/>
            <a:ext cx="4581524" cy="34385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572000" y="3429000"/>
            <a:ext cx="4581525" cy="34432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9" name="文字方塊 8"/>
          <p:cNvSpPr txBox="1"/>
          <p:nvPr/>
        </p:nvSpPr>
        <p:spPr>
          <a:xfrm>
            <a:off x="142844" y="142852"/>
            <a:ext cx="8114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</a:rPr>
              <a:t>K=0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643438" y="0"/>
            <a:ext cx="8114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</a:rPr>
              <a:t>K=1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0" y="3429000"/>
            <a:ext cx="8114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</a:rPr>
              <a:t>K=2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572000" y="3357562"/>
            <a:ext cx="8114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dirty="0">
                <a:solidFill>
                  <a:srgbClr val="FF0000"/>
                </a:solidFill>
              </a:rPr>
              <a:t>K=3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501090" y="6357958"/>
            <a:ext cx="357190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3929058" y="6357958"/>
            <a:ext cx="357190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3571868" y="5357826"/>
            <a:ext cx="357190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3214678" y="5143512"/>
            <a:ext cx="357190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2928926" y="4643446"/>
            <a:ext cx="357190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7500958" y="1214422"/>
            <a:ext cx="357190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7163018" y="957545"/>
            <a:ext cx="357190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2590986" y="938295"/>
            <a:ext cx="357190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967162" y="714356"/>
            <a:ext cx="357190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向左箭號 22"/>
          <p:cNvSpPr/>
          <p:nvPr/>
        </p:nvSpPr>
        <p:spPr>
          <a:xfrm>
            <a:off x="4429124" y="6357958"/>
            <a:ext cx="3857652" cy="2857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向左箭號 23"/>
          <p:cNvSpPr/>
          <p:nvPr/>
        </p:nvSpPr>
        <p:spPr>
          <a:xfrm rot="3708723">
            <a:off x="3723013" y="5820538"/>
            <a:ext cx="525194" cy="4286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向左箭號 24"/>
          <p:cNvSpPr/>
          <p:nvPr/>
        </p:nvSpPr>
        <p:spPr>
          <a:xfrm>
            <a:off x="3643306" y="5000636"/>
            <a:ext cx="525194" cy="4286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向左箭號 25"/>
          <p:cNvSpPr/>
          <p:nvPr/>
        </p:nvSpPr>
        <p:spPr>
          <a:xfrm rot="3123596">
            <a:off x="3195384" y="4796815"/>
            <a:ext cx="235943" cy="4286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向左箭號 26"/>
          <p:cNvSpPr/>
          <p:nvPr/>
        </p:nvSpPr>
        <p:spPr>
          <a:xfrm rot="8551749">
            <a:off x="2840388" y="2959609"/>
            <a:ext cx="5162887" cy="2857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向左箭號 27"/>
          <p:cNvSpPr/>
          <p:nvPr/>
        </p:nvSpPr>
        <p:spPr>
          <a:xfrm>
            <a:off x="7500958" y="857232"/>
            <a:ext cx="525194" cy="4286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向左箭號 28"/>
          <p:cNvSpPr/>
          <p:nvPr/>
        </p:nvSpPr>
        <p:spPr>
          <a:xfrm>
            <a:off x="3000364" y="928670"/>
            <a:ext cx="4000528" cy="2857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向左箭號 29"/>
          <p:cNvSpPr/>
          <p:nvPr/>
        </p:nvSpPr>
        <p:spPr>
          <a:xfrm>
            <a:off x="1357290" y="642918"/>
            <a:ext cx="1214446" cy="2857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/>
          <p:cNvSpPr txBox="1"/>
          <p:nvPr/>
        </p:nvSpPr>
        <p:spPr>
          <a:xfrm>
            <a:off x="8215338" y="5715016"/>
            <a:ext cx="4286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endParaRPr lang="zh-TW" altLang="en-US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3500430" y="6143644"/>
            <a:ext cx="4286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endParaRPr lang="zh-TW" altLang="en-US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4000496" y="5214950"/>
            <a:ext cx="4286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chemeClr val="accent6">
                    <a:lumMod val="75000"/>
                  </a:schemeClr>
                </a:solidFill>
              </a:rPr>
              <a:t>A</a:t>
            </a:r>
            <a:endParaRPr lang="zh-TW" altLang="en-US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2643174" y="5072074"/>
            <a:ext cx="4286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endParaRPr lang="zh-TW" altLang="en-US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7929586" y="1071546"/>
            <a:ext cx="4286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chemeClr val="accent6">
                    <a:lumMod val="75000"/>
                  </a:schemeClr>
                </a:solidFill>
              </a:rPr>
              <a:t>C</a:t>
            </a:r>
            <a:endParaRPr lang="zh-TW" altLang="en-US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2143108" y="1000108"/>
            <a:ext cx="4286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solidFill>
                  <a:schemeClr val="accent6">
                    <a:lumMod val="75000"/>
                  </a:schemeClr>
                </a:solidFill>
              </a:rPr>
              <a:t>B</a:t>
            </a:r>
            <a:endParaRPr lang="zh-TW" altLang="en-US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7" name="投影片編號版面配置區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3705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0167" y="1700808"/>
            <a:ext cx="8803666" cy="3240360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09675" y="5224338"/>
            <a:ext cx="6724650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992855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results(2/2)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428211"/>
            <a:ext cx="8229600" cy="36940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5166176"/>
            <a:ext cx="6768752" cy="36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792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time complexity of the method is</a:t>
            </a:r>
          </a:p>
          <a:p>
            <a:pPr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O(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ml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 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 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 l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LCS length for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 is the number of matches between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 B. </a:t>
            </a:r>
          </a:p>
          <a:p>
            <a:pPr>
              <a:buNone/>
            </a:pPr>
            <a:endParaRPr lang="en-US" altLang="zh-TW" i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memory requirements of our algorithm is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altLang="zh-TW" i="1" dirty="0" err="1">
                <a:latin typeface="Times New Roman" pitchFamily="18" charset="0"/>
                <a:cs typeface="Times New Roman" pitchFamily="18" charset="0"/>
              </a:rPr>
              <a:t>dr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+max(</a:t>
            </a:r>
            <a:r>
              <a:rPr lang="en-US" altLang="zh-TW" i="1" dirty="0">
                <a:latin typeface="Times New Roman" pitchFamily="18" charset="0"/>
                <a:cs typeface="Times New Roman" pitchFamily="18" charset="0"/>
              </a:rPr>
              <a:t>n,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 σ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alphabet size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0967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3368</TotalTime>
  <Words>624</Words>
  <Application>Microsoft Office PowerPoint</Application>
  <PresentationFormat>如螢幕大小 (4:3)</PresentationFormat>
  <Paragraphs>129</Paragraphs>
  <Slides>20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佈景主題</vt:lpstr>
      <vt:lpstr>Fast Algorithm for Constrained Longest Common Subsequence Problem</vt:lpstr>
      <vt:lpstr>Abstract</vt:lpstr>
      <vt:lpstr>CLCS</vt:lpstr>
      <vt:lpstr>CLCS</vt:lpstr>
      <vt:lpstr>Chin et al. [2004]</vt:lpstr>
      <vt:lpstr>PowerPoint 簡報</vt:lpstr>
      <vt:lpstr>Our algorithm</vt:lpstr>
      <vt:lpstr>PowerPoint 簡報</vt:lpstr>
      <vt:lpstr>PowerPoint 簡報</vt:lpstr>
      <vt:lpstr>PowerPoint 簡報</vt:lpstr>
      <vt:lpstr>PowerPoint 簡報</vt:lpstr>
      <vt:lpstr>PowerPoint 簡報</vt:lpstr>
      <vt:lpstr>Variant of the Hunt-Szymanski</vt:lpstr>
      <vt:lpstr>PowerPoint 簡報</vt:lpstr>
      <vt:lpstr>PowerPoint 簡報</vt:lpstr>
      <vt:lpstr>PowerPoint 簡報</vt:lpstr>
      <vt:lpstr>PowerPoint 簡報</vt:lpstr>
      <vt:lpstr>Experimental results(1/2)</vt:lpstr>
      <vt:lpstr>Experimental results(2/2)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李健廷</dc:creator>
  <cp:lastModifiedBy>健廷 李</cp:lastModifiedBy>
  <cp:revision>188</cp:revision>
  <dcterms:created xsi:type="dcterms:W3CDTF">2022-02-04T17:32:31Z</dcterms:created>
  <dcterms:modified xsi:type="dcterms:W3CDTF">2022-08-30T16:46:19Z</dcterms:modified>
</cp:coreProperties>
</file>