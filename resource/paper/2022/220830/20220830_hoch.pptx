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91" r:id="rId3"/>
    <p:sldId id="314" r:id="rId4"/>
    <p:sldId id="324" r:id="rId5"/>
    <p:sldId id="316" r:id="rId6"/>
    <p:sldId id="317" r:id="rId7"/>
    <p:sldId id="318" r:id="rId8"/>
    <p:sldId id="319" r:id="rId9"/>
    <p:sldId id="320" r:id="rId10"/>
    <p:sldId id="322" r:id="rId11"/>
    <p:sldId id="323" r:id="rId12"/>
    <p:sldId id="325" r:id="rId13"/>
    <p:sldId id="313" r:id="rId14"/>
    <p:sldId id="32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3" autoAdjust="0"/>
    <p:restoredTop sz="92275" autoAdjust="0"/>
  </p:normalViewPr>
  <p:slideViewPr>
    <p:cSldViewPr snapToGrid="0">
      <p:cViewPr varScale="1">
        <p:scale>
          <a:sx n="67" d="100"/>
          <a:sy n="67" d="100"/>
        </p:scale>
        <p:origin x="7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6E253-0C11-433E-BFC3-9EAF88CE3C90}" type="datetimeFigureOut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2B2AC-1C42-46CA-87D8-F081B650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6187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0FD0D-02DC-45DD-A4EF-5039129EB53C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6968-6609-415E-927D-3FD7D0A68C47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9A63B-7BC3-4959-B642-6CE61F8529F4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8527-84CC-495C-B6D5-645C3A3C934C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C9E45-371D-4261-A34D-66AF68293B71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E153-9F2F-4257-9A1F-493FBF55E003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89DB-A86B-40E5-BB32-C95188635F17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C5C3-6ED1-4188-9C83-0A8422E4EABA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827E-66AD-49B7-9682-07CFB88B8B50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CF21C-D548-46E3-B09B-1E69087335CD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D679A-4754-4311-8DBE-4115BFACD3C8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BB80C-0DBD-42E8-BF5C-AC5D9847E869}" type="datetime1">
              <a:rPr lang="zh-TW" altLang="en-US" smtClean="0"/>
              <a:t>2022/8/27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66725" y="1101342"/>
            <a:ext cx="11382375" cy="1299561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a longest common subsequence that is almost increasing on sequences having no repeated elements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Johra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Muhammad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Moosa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Sohel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Rahman, Fatema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Zohora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Discrete Algorithms 20 (2013) 12–20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8885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Aug. 30, 2022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A200FF1-1E71-4070-A8EE-BF584004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689"/>
            <a:ext cx="10515600" cy="4055592"/>
          </a:xfrm>
        </p:spPr>
        <p:txBody>
          <a:bodyPr>
            <a:normAutofit/>
          </a:bodyPr>
          <a:lstStyle/>
          <a:p>
            <a:r>
              <a:rPr lang="en-US" altLang="zh-TW" dirty="0"/>
              <a:t>Given two permutations A and B of [1..n] and a ﬁxed constant c, we introduce the</a:t>
            </a:r>
            <a:r>
              <a:rPr lang="zh-TW" altLang="en-US" dirty="0"/>
              <a:t> </a:t>
            </a:r>
            <a:r>
              <a:rPr lang="en-US" altLang="zh-TW" dirty="0"/>
              <a:t>notion of a longest common almost increasing</a:t>
            </a:r>
            <a:r>
              <a:rPr lang="zh-TW" altLang="en-US" dirty="0"/>
              <a:t> </a:t>
            </a:r>
            <a:r>
              <a:rPr lang="en-US" altLang="zh-TW" dirty="0"/>
              <a:t>subsequence (LCAIS) as a longest common</a:t>
            </a:r>
            <a:r>
              <a:rPr lang="zh-TW" altLang="en-US" dirty="0"/>
              <a:t> </a:t>
            </a:r>
            <a:r>
              <a:rPr lang="en-US" altLang="zh-TW" dirty="0"/>
              <a:t>subsequence that can be converted to an increasing subsequence by possibly adding a</a:t>
            </a:r>
            <a:r>
              <a:rPr lang="zh-TW" altLang="en-US" dirty="0"/>
              <a:t> </a:t>
            </a:r>
            <a:r>
              <a:rPr lang="en-US" altLang="zh-TW" dirty="0"/>
              <a:t>value, that is at most c, to each of the elements. We present an algorithm for computing</a:t>
            </a:r>
            <a:r>
              <a:rPr lang="zh-TW" altLang="en-US" dirty="0"/>
              <a:t> </a:t>
            </a:r>
            <a:r>
              <a:rPr lang="en-US" altLang="zh-TW" dirty="0"/>
              <a:t>LCAIS in O(n</a:t>
            </a:r>
            <a:r>
              <a:rPr lang="en-US" altLang="zh-TW" baseline="30000" dirty="0"/>
              <a:t>2</a:t>
            </a:r>
            <a:r>
              <a:rPr lang="en-US" altLang="zh-TW" dirty="0"/>
              <a:t>) space, O(n(n + c</a:t>
            </a:r>
            <a:r>
              <a:rPr lang="en-US" altLang="zh-TW" baseline="30000" dirty="0"/>
              <a:t>2</a:t>
            </a:r>
            <a:r>
              <a:rPr lang="en-US" altLang="zh-TW" dirty="0"/>
              <a:t>)) time.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66B1A2-0D4D-4993-945C-45C1D34E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4252" cy="1325563"/>
          </a:xfrm>
        </p:spPr>
        <p:txBody>
          <a:bodyPr>
            <a:normAutofit/>
          </a:bodyPr>
          <a:lstStyle/>
          <a:p>
            <a:r>
              <a:rPr lang="en-US" altLang="zh-TW" sz="3600" dirty="0" err="1"/>
              <a:t>LCaIS</a:t>
            </a:r>
            <a:r>
              <a:rPr lang="en-US" altLang="zh-TW" sz="3600" dirty="0"/>
              <a:t> on sequences having no repeated elements</a:t>
            </a:r>
            <a:endParaRPr lang="en-US" altLang="zh-TW" sz="36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A = 20,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7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, 15, 1, 14, 3,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6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, 13,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11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, 18,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10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9</a:t>
            </a:r>
            <a:endParaRPr lang="en-US" altLang="zh-TW" spc="-1" dirty="0">
              <a:solidFill>
                <a:srgbClr val="FF0000"/>
              </a:solidFill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B = </a:t>
            </a:r>
            <a:r>
              <a:rPr lang="en-US" altLang="zh-TW" spc="-1" dirty="0">
                <a:solidFill>
                  <a:srgbClr val="FF0000"/>
                </a:solidFill>
              </a:rPr>
              <a:t>7</a:t>
            </a:r>
            <a:r>
              <a:rPr lang="en-US" altLang="zh-TW" spc="-1" dirty="0">
                <a:solidFill>
                  <a:srgbClr val="000000"/>
                </a:solidFill>
              </a:rPr>
              <a:t>, 12, 15, 14, 21, 13, </a:t>
            </a:r>
            <a:r>
              <a:rPr lang="en-US" altLang="zh-TW" spc="-1" dirty="0">
                <a:solidFill>
                  <a:srgbClr val="FF0000"/>
                </a:solidFill>
              </a:rPr>
              <a:t>6</a:t>
            </a:r>
            <a:r>
              <a:rPr lang="en-US" altLang="zh-TW" spc="-1" dirty="0">
                <a:solidFill>
                  <a:srgbClr val="000000"/>
                </a:solidFill>
              </a:rPr>
              <a:t>, </a:t>
            </a:r>
            <a:r>
              <a:rPr lang="en-US" altLang="zh-TW" spc="-1" dirty="0">
                <a:solidFill>
                  <a:srgbClr val="FF0000"/>
                </a:solidFill>
              </a:rPr>
              <a:t>11</a:t>
            </a:r>
            <a:r>
              <a:rPr lang="en-US" altLang="zh-TW" spc="-1" dirty="0">
                <a:solidFill>
                  <a:srgbClr val="000000"/>
                </a:solidFill>
              </a:rPr>
              <a:t>, </a:t>
            </a:r>
            <a:r>
              <a:rPr lang="en-US" altLang="zh-TW" spc="-1" dirty="0">
                <a:solidFill>
                  <a:srgbClr val="FF0000"/>
                </a:solidFill>
              </a:rPr>
              <a:t>10</a:t>
            </a:r>
            <a:r>
              <a:rPr lang="en-US" altLang="zh-TW" spc="-1" dirty="0">
                <a:solidFill>
                  <a:srgbClr val="000000"/>
                </a:solidFill>
              </a:rPr>
              <a:t>, </a:t>
            </a:r>
            <a:r>
              <a:rPr lang="en-US" altLang="zh-TW" spc="-1" dirty="0">
                <a:solidFill>
                  <a:srgbClr val="FF0000"/>
                </a:solidFill>
              </a:rPr>
              <a:t>9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0000"/>
                </a:solidFill>
              </a:rPr>
              <a:t>c = 3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 err="1">
                <a:solidFill>
                  <a:srgbClr val="000000"/>
                </a:solidFill>
              </a:rPr>
              <a:t>LCaIS</a:t>
            </a:r>
            <a:r>
              <a:rPr lang="en-US" altLang="zh-TW" spc="-1" dirty="0">
                <a:solidFill>
                  <a:srgbClr val="000000"/>
                </a:solidFill>
              </a:rPr>
              <a:t>(X) = 7, 6, 11, 10, 9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z="2800" spc="-1" dirty="0"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536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501858F-5DB5-4CBB-BED2-0AFCE12CA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759118"/>
              </p:ext>
            </p:extLst>
          </p:nvPr>
        </p:nvGraphicFramePr>
        <p:xfrm>
          <a:off x="4064001" y="91440"/>
          <a:ext cx="8127999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2510839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65219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351484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03349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43677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872154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1746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908486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6241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8901852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18228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c=3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5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6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2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1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9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8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4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6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6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6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2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4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193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1FBDEB4C-C62B-491F-96B5-773DBE630A8F}"/>
              </a:ext>
            </a:extLst>
          </p:cNvPr>
          <p:cNvSpPr txBox="1"/>
          <p:nvPr/>
        </p:nvSpPr>
        <p:spPr>
          <a:xfrm>
            <a:off x="233681" y="231596"/>
            <a:ext cx="3830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ans</a:t>
            </a:r>
            <a:r>
              <a:rPr lang="en-US" altLang="zh-TW" sz="2800" dirty="0"/>
              <a:t> = &lt;7&gt;</a:t>
            </a:r>
          </a:p>
          <a:p>
            <a:endParaRPr lang="en-US" altLang="zh-TW" sz="2800" dirty="0"/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44795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501858F-5DB5-4CBB-BED2-0AFCE12CA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529700"/>
              </p:ext>
            </p:extLst>
          </p:nvPr>
        </p:nvGraphicFramePr>
        <p:xfrm>
          <a:off x="4064001" y="91440"/>
          <a:ext cx="8127999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2510839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65219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351484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03349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43677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872154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1746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908486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6241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8901852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18228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c=3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5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6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2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1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9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8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4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6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6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6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2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4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19305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58AC286-3AA4-4CFC-B32A-C5A1CC2076B9}"/>
              </a:ext>
            </a:extLst>
          </p:cNvPr>
          <p:cNvSpPr txBox="1"/>
          <p:nvPr/>
        </p:nvSpPr>
        <p:spPr>
          <a:xfrm>
            <a:off x="233681" y="231596"/>
            <a:ext cx="3830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ans</a:t>
            </a:r>
            <a:r>
              <a:rPr lang="en-US" altLang="zh-TW" sz="2800" dirty="0"/>
              <a:t> = &lt;7, 15 &gt;</a:t>
            </a: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3084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501858F-5DB5-4CBB-BED2-0AFCE12CA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005859"/>
              </p:ext>
            </p:extLst>
          </p:nvPr>
        </p:nvGraphicFramePr>
        <p:xfrm>
          <a:off x="4064001" y="91440"/>
          <a:ext cx="8127999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2510839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65219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351484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03349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43677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872154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1746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908486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6241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8901852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18228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c=3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5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6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2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1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9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8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4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6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6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6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2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4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19305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C1635EF-698F-465E-8EBE-8C2E68A62DF3}"/>
              </a:ext>
            </a:extLst>
          </p:cNvPr>
          <p:cNvSpPr txBox="1"/>
          <p:nvPr/>
        </p:nvSpPr>
        <p:spPr>
          <a:xfrm>
            <a:off x="233681" y="231596"/>
            <a:ext cx="38303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runs a </a:t>
            </a:r>
            <a:r>
              <a:rPr lang="en-US" altLang="zh-CN" sz="2800" dirty="0">
                <a:solidFill>
                  <a:srgbClr val="FF0000"/>
                </a:solidFill>
              </a:rPr>
              <a:t>c−1 loop</a:t>
            </a:r>
            <a:r>
              <a:rPr lang="en-US" altLang="zh-TW" sz="2800" dirty="0"/>
              <a:t>      </a:t>
            </a:r>
          </a:p>
          <a:p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ans</a:t>
            </a:r>
            <a:r>
              <a:rPr lang="en-US" altLang="zh-TW" sz="2800" dirty="0"/>
              <a:t> = &lt;7, 15, 14 &gt;</a:t>
            </a: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92667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501858F-5DB5-4CBB-BED2-0AFCE12CA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440743"/>
              </p:ext>
            </p:extLst>
          </p:nvPr>
        </p:nvGraphicFramePr>
        <p:xfrm>
          <a:off x="4064001" y="91440"/>
          <a:ext cx="8127999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2510839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65219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351484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03349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43677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872154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1746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908486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6241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8901852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18228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c=3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5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6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2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1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9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8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4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6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6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6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2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4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19305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586F525A-4509-4A1D-A4C9-037A91F8BA39}"/>
              </a:ext>
            </a:extLst>
          </p:cNvPr>
          <p:cNvSpPr txBox="1"/>
          <p:nvPr/>
        </p:nvSpPr>
        <p:spPr>
          <a:xfrm>
            <a:off x="233681" y="231596"/>
            <a:ext cx="3830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ans</a:t>
            </a:r>
            <a:r>
              <a:rPr lang="en-US" altLang="zh-TW" sz="2800" dirty="0"/>
              <a:t> = &lt;7, 6 &gt;</a:t>
            </a: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1498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501858F-5DB5-4CBB-BED2-0AFCE12CA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97590"/>
              </p:ext>
            </p:extLst>
          </p:nvPr>
        </p:nvGraphicFramePr>
        <p:xfrm>
          <a:off x="4064001" y="91440"/>
          <a:ext cx="8127999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2510839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65219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351484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03349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43677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872154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1746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908486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6241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8901852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18228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c=3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5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6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2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1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9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8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4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6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6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6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2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4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19305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4BD1528-77AD-49BF-ACD2-B6D80FE9623B}"/>
              </a:ext>
            </a:extLst>
          </p:cNvPr>
          <p:cNvSpPr txBox="1"/>
          <p:nvPr/>
        </p:nvSpPr>
        <p:spPr>
          <a:xfrm>
            <a:off x="233681" y="231596"/>
            <a:ext cx="3830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ans</a:t>
            </a:r>
            <a:r>
              <a:rPr lang="en-US" altLang="zh-TW" sz="2800" dirty="0"/>
              <a:t> = &lt;7, 15, 14, 13&gt;</a:t>
            </a: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405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501858F-5DB5-4CBB-BED2-0AFCE12CA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012071"/>
              </p:ext>
            </p:extLst>
          </p:nvPr>
        </p:nvGraphicFramePr>
        <p:xfrm>
          <a:off x="4064001" y="91440"/>
          <a:ext cx="8127999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2510839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65219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351484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03349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43677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872154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1746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908486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6241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8901852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18228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c=3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21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5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20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6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2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1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9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8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4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6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6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6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4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5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19305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36180E9D-1B17-46C9-A68A-ECD0392606C6}"/>
              </a:ext>
            </a:extLst>
          </p:cNvPr>
          <p:cNvSpPr/>
          <p:nvPr/>
        </p:nvSpPr>
        <p:spPr>
          <a:xfrm>
            <a:off x="9223375" y="5283200"/>
            <a:ext cx="762000" cy="721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9DC21A9-5DD5-44A4-9EAB-AC9952B39117}"/>
              </a:ext>
            </a:extLst>
          </p:cNvPr>
          <p:cNvSpPr txBox="1"/>
          <p:nvPr/>
        </p:nvSpPr>
        <p:spPr>
          <a:xfrm>
            <a:off x="0" y="0"/>
            <a:ext cx="40640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runs a c−1 loop</a:t>
            </a:r>
            <a:endParaRPr lang="en-US" altLang="zh-TW" sz="2400" dirty="0"/>
          </a:p>
          <a:p>
            <a:r>
              <a:rPr lang="en-US" altLang="zh-TW" sz="2400" dirty="0"/>
              <a:t>    &lt;7, 15, 14, 13&gt; =&gt; &lt;7, 13&gt;</a:t>
            </a:r>
          </a:p>
          <a:p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長度減少 </a:t>
            </a:r>
            <a:endParaRPr lang="en-US" altLang="zh-TW" sz="2400" dirty="0"/>
          </a:p>
          <a:p>
            <a:r>
              <a:rPr lang="zh-TW" altLang="en-US" sz="2400" dirty="0"/>
              <a:t>     所以找其他可能的長度</a:t>
            </a:r>
            <a:endParaRPr lang="en-US" altLang="zh-TW" sz="2400" dirty="0"/>
          </a:p>
          <a:p>
            <a:r>
              <a:rPr lang="zh-TW" altLang="en-US" sz="2400" dirty="0"/>
              <a:t>     </a:t>
            </a:r>
            <a:endParaRPr lang="en-US" altLang="zh-TW" sz="2400" dirty="0"/>
          </a:p>
          <a:p>
            <a:r>
              <a:rPr lang="en-US" altLang="zh-TW" sz="2400" dirty="0"/>
              <a:t>&lt;7, 15, 14&gt; =&gt;   &lt;7&gt;</a:t>
            </a:r>
          </a:p>
          <a:p>
            <a:r>
              <a:rPr lang="en-US" altLang="zh-TW" sz="2400" dirty="0"/>
              <a:t>&lt;7, 6&gt;         =&gt;   &lt;7, 6&gt;</a:t>
            </a:r>
          </a:p>
          <a:p>
            <a:endParaRPr lang="en-US" altLang="zh-TW" sz="2400" dirty="0"/>
          </a:p>
          <a:p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err="1"/>
              <a:t>ans</a:t>
            </a:r>
            <a:r>
              <a:rPr lang="en-US" altLang="zh-TW" sz="2400" dirty="0"/>
              <a:t> = &lt;7, 6, 11&gt;</a:t>
            </a:r>
          </a:p>
          <a:p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769104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501858F-5DB5-4CBB-BED2-0AFCE12CA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938421"/>
              </p:ext>
            </p:extLst>
          </p:nvPr>
        </p:nvGraphicFramePr>
        <p:xfrm>
          <a:off x="4064001" y="91440"/>
          <a:ext cx="8127999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2510839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65219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351484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03349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43677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872154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1746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908486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6241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8901852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18228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c=3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5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6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2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1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9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8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4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6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*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6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6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2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4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19305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9658A-26F8-47F0-9CBD-22767A8D283B}"/>
              </a:ext>
            </a:extLst>
          </p:cNvPr>
          <p:cNvSpPr txBox="1"/>
          <p:nvPr/>
        </p:nvSpPr>
        <p:spPr>
          <a:xfrm>
            <a:off x="233681" y="172720"/>
            <a:ext cx="38303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ans</a:t>
            </a:r>
            <a:r>
              <a:rPr lang="en-US" altLang="zh-TW" sz="2800" dirty="0"/>
              <a:t> = &lt;7, 6, 11, 10 &gt;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453948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501858F-5DB5-4CBB-BED2-0AFCE12CA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070628"/>
              </p:ext>
            </p:extLst>
          </p:nvPr>
        </p:nvGraphicFramePr>
        <p:xfrm>
          <a:off x="4064001" y="91440"/>
          <a:ext cx="8127999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2510839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65219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351484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03349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43677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872154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1746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908486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6241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8901852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18228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c=3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5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6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2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1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9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8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18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4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10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6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6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6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2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4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5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19305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4E89658A-26F8-47F0-9CBD-22767A8D283B}"/>
              </a:ext>
            </a:extLst>
          </p:cNvPr>
          <p:cNvSpPr txBox="1"/>
          <p:nvPr/>
        </p:nvSpPr>
        <p:spPr>
          <a:xfrm>
            <a:off x="233680" y="172720"/>
            <a:ext cx="4460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 err="1"/>
              <a:t>ans</a:t>
            </a:r>
            <a:r>
              <a:rPr lang="en-US" altLang="zh-TW" sz="2800" dirty="0"/>
              <a:t> = &lt;7, 6, 11, 10,</a:t>
            </a:r>
            <a:r>
              <a:rPr lang="zh-TW" altLang="en-US" sz="2800" dirty="0"/>
              <a:t> </a:t>
            </a:r>
            <a:r>
              <a:rPr lang="en-US" altLang="zh-TW" sz="2800" dirty="0"/>
              <a:t>9 &gt;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O(n(n + c</a:t>
            </a:r>
            <a:r>
              <a:rPr lang="en-US" altLang="zh-TW" sz="2800" baseline="30000" dirty="0"/>
              <a:t>2</a:t>
            </a:r>
            <a:r>
              <a:rPr lang="en-US" altLang="zh-TW" sz="2800" dirty="0"/>
              <a:t>))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349432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4252" cy="1325563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incorrect result</a:t>
            </a:r>
            <a:endParaRPr lang="en-US" altLang="zh-TW" sz="3600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dirty="0">
                <a:latin typeface="Times New Roman" panose="02020603050405020304" pitchFamily="18" charset="0"/>
              </a:rPr>
              <a:t>c = 5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zh-TW" altLang="en-US" dirty="0">
                <a:latin typeface="Times New Roman" panose="02020603050405020304" pitchFamily="18" charset="0"/>
              </a:rPr>
              <a:t>會產生 </a:t>
            </a:r>
            <a:r>
              <a:rPr lang="en-US" altLang="zh-TW" dirty="0">
                <a:latin typeface="Times New Roman" panose="02020603050405020304" pitchFamily="18" charset="0"/>
              </a:rPr>
              <a:t>&lt;7, 6&gt;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zh-TW" altLang="en-US" dirty="0">
                <a:latin typeface="Times New Roman" panose="02020603050405020304" pitchFamily="18" charset="0"/>
              </a:rPr>
              <a:t>但真正答案是 </a:t>
            </a:r>
            <a:r>
              <a:rPr lang="en-US" altLang="zh-TW" dirty="0">
                <a:latin typeface="Times New Roman" panose="02020603050405020304" pitchFamily="18" charset="0"/>
              </a:rPr>
              <a:t>&lt;9, 8, 6&gt;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zh-TW" altLang="en-US" dirty="0">
                <a:latin typeface="Times New Roman" panose="02020603050405020304" pitchFamily="18" charset="0"/>
              </a:rPr>
              <a:t>如果改成記最大值應該會是對的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E65786-21C4-4795-85F4-9E5563D6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12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E76E6C-2D5F-4096-8B42-8649615585FC}"/>
              </a:ext>
            </a:extLst>
          </p:cNvPr>
          <p:cNvGraphicFramePr>
            <a:graphicFrameLocks noGrp="1"/>
          </p:cNvGraphicFramePr>
          <p:nvPr/>
        </p:nvGraphicFramePr>
        <p:xfrm>
          <a:off x="7184448" y="1641476"/>
          <a:ext cx="443345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2510839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65219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351484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03349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43677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87215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5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9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6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1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6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2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𝓁</a:t>
                      </a:r>
                      <a:r>
                        <a:rPr lang="en-US" altLang="zh-TW" b="1" dirty="0"/>
                        <a:t> = 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49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250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complexity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1060"/>
          </a:xfrm>
        </p:spPr>
        <p:txBody>
          <a:bodyPr>
            <a:norm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/>
              <a:t>O(n(n+ c</a:t>
            </a:r>
            <a:r>
              <a:rPr lang="en-US" altLang="zh-TW" baseline="30000" dirty="0"/>
              <a:t>2</a:t>
            </a:r>
            <a:r>
              <a:rPr lang="en-US" altLang="zh-TW" dirty="0"/>
              <a:t>))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CFD835-1857-4C48-86E6-01805FC4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7F6B3AA-ACA2-47B0-65BD-5678527D0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184918"/>
              </p:ext>
            </p:extLst>
          </p:nvPr>
        </p:nvGraphicFramePr>
        <p:xfrm>
          <a:off x="4064001" y="91440"/>
          <a:ext cx="8127999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2510839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65219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351484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03349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43677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872154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1746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908486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6241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8901852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18228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c=3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21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5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20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6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2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1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9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8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4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6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6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6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4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5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1930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57B927A4-D788-3A03-B141-A0B6ABB58D96}"/>
              </a:ext>
            </a:extLst>
          </p:cNvPr>
          <p:cNvSpPr/>
          <p:nvPr/>
        </p:nvSpPr>
        <p:spPr>
          <a:xfrm>
            <a:off x="9223375" y="5283200"/>
            <a:ext cx="762000" cy="721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094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7080" cy="1325563"/>
          </a:xfrm>
        </p:spPr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complexity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1060"/>
          </a:xfrm>
        </p:spPr>
        <p:txBody>
          <a:bodyPr>
            <a:norm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/>
              <a:t>O(n(n+ c</a:t>
            </a:r>
            <a:r>
              <a:rPr lang="en-US" altLang="zh-TW" baseline="30000" dirty="0"/>
              <a:t>2</a:t>
            </a:r>
            <a:r>
              <a:rPr lang="en-US" altLang="zh-TW" dirty="0"/>
              <a:t>))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en-US" dirty="0">
                <a:latin typeface="Times New Roman" panose="02020603050405020304" pitchFamily="18" charset="0"/>
              </a:rPr>
              <a:t>若允許重複元素：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O(n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(n + n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))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O(n</a:t>
            </a:r>
            <a:r>
              <a:rPr lang="en-US" altLang="zh-TW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CFD835-1857-4C48-86E6-01805FC4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14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7F6B3AA-ACA2-47B0-65BD-5678527D09E8}"/>
              </a:ext>
            </a:extLst>
          </p:cNvPr>
          <p:cNvGraphicFramePr>
            <a:graphicFrameLocks noGrp="1"/>
          </p:cNvGraphicFramePr>
          <p:nvPr/>
        </p:nvGraphicFramePr>
        <p:xfrm>
          <a:off x="4064001" y="91440"/>
          <a:ext cx="8127999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62510839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65219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351484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03349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643677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872154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174649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79908486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7362417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8901852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318228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c=3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21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35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20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9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94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1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6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2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1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19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68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4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6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86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1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6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2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4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3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34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4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ysClr val="windowText" lastClr="000000"/>
                          </a:solidFill>
                        </a:rPr>
                        <a:t>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ysClr val="windowText" lastClr="000000"/>
                          </a:solidFill>
                        </a:rPr>
                        <a:t>𝓁</a:t>
                      </a:r>
                      <a:r>
                        <a:rPr lang="en-US" altLang="zh-TW" b="1" dirty="0">
                          <a:solidFill>
                            <a:sysClr val="windowText" lastClr="000000"/>
                          </a:solidFill>
                        </a:rPr>
                        <a:t> = 5</a:t>
                      </a:r>
                      <a:endParaRPr lang="zh-TW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1930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0DD81F60-54BA-78F8-38D5-C33B22C46610}"/>
              </a:ext>
            </a:extLst>
          </p:cNvPr>
          <p:cNvSpPr/>
          <p:nvPr/>
        </p:nvSpPr>
        <p:spPr>
          <a:xfrm>
            <a:off x="9223375" y="5283200"/>
            <a:ext cx="762000" cy="7213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3866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10626</TotalTime>
  <Words>1253</Words>
  <Application>Microsoft Office PowerPoint</Application>
  <PresentationFormat>寬螢幕</PresentationFormat>
  <Paragraphs>712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佈景主題</vt:lpstr>
      <vt:lpstr>Computing a longest common subsequence that is almost increasing on sequences having no repeated elements</vt:lpstr>
      <vt:lpstr>Abstract</vt:lpstr>
      <vt:lpstr>LCaIS on sequences having no repeated elements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incorrect result</vt:lpstr>
      <vt:lpstr>complexity</vt:lpstr>
      <vt:lpstr>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M103040056</cp:lastModifiedBy>
  <cp:revision>380</cp:revision>
  <dcterms:created xsi:type="dcterms:W3CDTF">2021-01-03T09:53:04Z</dcterms:created>
  <dcterms:modified xsi:type="dcterms:W3CDTF">2022-08-30T07:57:24Z</dcterms:modified>
</cp:coreProperties>
</file>