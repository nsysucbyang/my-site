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6"/>
  </p:notesMasterIdLst>
  <p:sldIdLst>
    <p:sldId id="256" r:id="rId2"/>
    <p:sldId id="286" r:id="rId3"/>
    <p:sldId id="282" r:id="rId4"/>
    <p:sldId id="285" r:id="rId5"/>
    <p:sldId id="287" r:id="rId6"/>
    <p:sldId id="289" r:id="rId7"/>
    <p:sldId id="288" r:id="rId8"/>
    <p:sldId id="290" r:id="rId9"/>
    <p:sldId id="291" r:id="rId10"/>
    <p:sldId id="292" r:id="rId11"/>
    <p:sldId id="284" r:id="rId12"/>
    <p:sldId id="281" r:id="rId13"/>
    <p:sldId id="257" r:id="rId14"/>
    <p:sldId id="293"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2022/8/29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2022/8/29</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2022/8/29</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2022/8/29</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2022/8/29</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2022/8/29</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2022/8/29</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2022/8/29</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mjl.clarivate.com/search-result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919717" y="1122363"/>
            <a:ext cx="10352567" cy="2387600"/>
          </a:xfrm>
        </p:spPr>
        <p:txBody>
          <a:bodyPr>
            <a:normAutofit fontScale="90000"/>
          </a:bodyPr>
          <a:lstStyle/>
          <a:p>
            <a:r>
              <a:rPr kumimoji="1" lang="en-US" altLang="zh-TW" dirty="0"/>
              <a:t>LCS Approximation via Embedding into Locally Non-Repetitive Strings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G.M. </a:t>
            </a:r>
            <a:r>
              <a:rPr kumimoji="1" lang="en-US" altLang="zh-TW">
                <a:latin typeface="Times New Roman" panose="02020603050405020304" pitchFamily="18" charset="0"/>
                <a:cs typeface="Times New Roman" panose="02020603050405020304" pitchFamily="18" charset="0"/>
              </a:rPr>
              <a:t>Landau, </a:t>
            </a:r>
            <a:r>
              <a:rPr kumimoji="1" lang="en-US" altLang="zh-TW" dirty="0">
                <a:latin typeface="Times New Roman" panose="02020603050405020304" pitchFamily="18" charset="0"/>
                <a:cs typeface="Times New Roman" panose="02020603050405020304" pitchFamily="18" charset="0"/>
              </a:rPr>
              <a:t>A. Levy, I. Newman</a:t>
            </a: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Information and Computation</a:t>
            </a:r>
            <a:r>
              <a:rPr kumimoji="1" lang="en" altLang="zh-TW" dirty="0">
                <a:latin typeface="Times New Roman" panose="02020603050405020304" pitchFamily="18" charset="0"/>
                <a:cs typeface="Times New Roman" panose="02020603050405020304" pitchFamily="18" charset="0"/>
              </a:rPr>
              <a:t>, 2011</a:t>
            </a:r>
          </a:p>
          <a:p>
            <a:r>
              <a:rPr kumimoji="1" lang="en" altLang="zh-TW" dirty="0">
                <a:latin typeface="Times New Roman" panose="02020603050405020304" pitchFamily="18" charset="0"/>
                <a:cs typeface="Times New Roman" panose="02020603050405020304" pitchFamily="18" charset="0"/>
              </a:rPr>
              <a:t>Volume 209, pp. 705-716</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Aug. 30,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A classical measure of similarity between strings is the length of the longest common subsequence (LCS) between the two given strings. The search for efficient algorithms for finding the LCS has been going on for more than three decades. To date, all known algorithms may take quadratic time (shaved by logarithmic factors) to find large LCS. In this paper, the problem of approximating LCS is studied, while focusing on the hard inputs for this problem, namely, approximating LCS of near-linear size in strings over a relatively large alphabet (of size at least </a:t>
            </a:r>
            <a:r>
              <a:rPr kumimoji="1" lang="en-US" altLang="zh-TW" i="1" dirty="0">
                <a:latin typeface="Times New Roman" panose="02020603050405020304" pitchFamily="18" charset="0"/>
                <a:cs typeface="Times New Roman" panose="02020603050405020304" pitchFamily="18" charset="0"/>
              </a:rPr>
              <a:t>n</a:t>
            </a:r>
            <a:r>
              <a:rPr kumimoji="1" lang="el-GR" altLang="zh-TW" i="1" baseline="30000" dirty="0">
                <a:latin typeface="Times New Roman" panose="02020603050405020304" pitchFamily="18" charset="0"/>
                <a:cs typeface="Times New Roman" panose="02020603050405020304" pitchFamily="18" charset="0"/>
              </a:rPr>
              <a:t>ε</a:t>
            </a:r>
            <a:r>
              <a:rPr kumimoji="1" lang="el-GR"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for some constant </a:t>
            </a:r>
            <a:r>
              <a:rPr kumimoji="1" lang="el-GR" altLang="zh-TW" i="1" dirty="0">
                <a:latin typeface="Times New Roman" panose="02020603050405020304" pitchFamily="18" charset="0"/>
                <a:cs typeface="Times New Roman" panose="02020603050405020304" pitchFamily="18" charset="0"/>
              </a:rPr>
              <a:t>ε</a:t>
            </a:r>
            <a:r>
              <a:rPr kumimoji="1" lang="el-GR" altLang="zh-TW" dirty="0">
                <a:latin typeface="Times New Roman" panose="02020603050405020304" pitchFamily="18" charset="0"/>
                <a:cs typeface="Times New Roman" panose="02020603050405020304" pitchFamily="18" charset="0"/>
              </a:rPr>
              <a:t> &gt; 0, </a:t>
            </a:r>
            <a:r>
              <a:rPr kumimoji="1" lang="en-US" altLang="zh-TW" dirty="0">
                <a:latin typeface="Times New Roman" panose="02020603050405020304" pitchFamily="18" charset="0"/>
                <a:cs typeface="Times New Roman" panose="02020603050405020304" pitchFamily="18" charset="0"/>
              </a:rPr>
              <a:t>where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is the length of the string). </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4022835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We show that, </a:t>
            </a:r>
            <a:r>
              <a:rPr kumimoji="1" lang="en-US" altLang="zh-TW" b="1" dirty="0">
                <a:latin typeface="Times New Roman" panose="02020603050405020304" pitchFamily="18" charset="0"/>
                <a:cs typeface="Times New Roman" panose="02020603050405020304" pitchFamily="18" charset="0"/>
              </a:rPr>
              <a:t>any given string over a relatively large alphabet can be embedded into a locally non-repetitive string</a:t>
            </a:r>
            <a:r>
              <a:rPr kumimoji="1" lang="en-US" altLang="zh-TW" dirty="0">
                <a:latin typeface="Times New Roman" panose="02020603050405020304" pitchFamily="18" charset="0"/>
                <a:cs typeface="Times New Roman" panose="02020603050405020304" pitchFamily="18" charset="0"/>
              </a:rPr>
              <a:t>. This embedding has a negligible additive distortion for strings that are not too dissimilar in terms of the edit distance. We also show that LCS can be efficiently approximated in locally-non-repetitive strings. Our new method (the embedding together with the approximation algorithm) gives a strictly sub-quadratic time algorithm (i.e., of complexity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i="1" baseline="30000" dirty="0">
                <a:latin typeface="Times New Roman" panose="02020603050405020304" pitchFamily="18" charset="0"/>
                <a:cs typeface="Times New Roman" panose="02020603050405020304" pitchFamily="18" charset="0"/>
              </a:rPr>
              <a:t>2−</a:t>
            </a:r>
            <a:r>
              <a:rPr kumimoji="1" lang="el-GR" altLang="zh-TW" i="1" baseline="30000" dirty="0">
                <a:latin typeface="Times New Roman" panose="02020603050405020304" pitchFamily="18" charset="0"/>
                <a:cs typeface="Times New Roman" panose="02020603050405020304" pitchFamily="18" charset="0"/>
              </a:rPr>
              <a:t>ε</a:t>
            </a:r>
            <a:r>
              <a:rPr kumimoji="1" lang="el-GR"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for some constant </a:t>
            </a:r>
            <a:r>
              <a:rPr kumimoji="1" lang="el-GR" altLang="zh-TW" i="1" dirty="0">
                <a:latin typeface="Times New Roman" panose="02020603050405020304" pitchFamily="18" charset="0"/>
                <a:cs typeface="Times New Roman" panose="02020603050405020304" pitchFamily="18" charset="0"/>
              </a:rPr>
              <a:t>ε</a:t>
            </a:r>
            <a:r>
              <a:rPr kumimoji="1" lang="el-GR"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which can find common subsequences of linear (and near linear) size that cannot be detected efficiently by the existing tools.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2779065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Edit Distance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4"/>
            <a:ext cx="10515600" cy="3969119"/>
          </a:xfrm>
        </p:spPr>
        <p:txBody>
          <a:bodyPr>
            <a:normAutofit/>
          </a:bodyPr>
          <a:lstStyle/>
          <a:p>
            <a:pPr algn="just"/>
            <a:r>
              <a:rPr kumimoji="1" lang="en-US" altLang="zh-TW" dirty="0">
                <a:latin typeface="Times New Roman" panose="02020603050405020304" pitchFamily="18" charset="0"/>
                <a:cs typeface="Times New Roman" panose="02020603050405020304" pitchFamily="18" charset="0"/>
              </a:rPr>
              <a:t>The edit distance is the number of insertions, deletions, and substitutions needed to transform one string into the other.</a:t>
            </a:r>
          </a:p>
          <a:p>
            <a:pPr algn="just"/>
            <a:r>
              <a:rPr kumimoji="1" lang="en-US" altLang="zh-TW" sz="4000" dirty="0">
                <a:solidFill>
                  <a:schemeClr val="accent3"/>
                </a:solidFill>
                <a:latin typeface="Times New Roman" panose="02020603050405020304" pitchFamily="18" charset="0"/>
                <a:cs typeface="Times New Roman" panose="02020603050405020304" pitchFamily="18" charset="0"/>
              </a:rPr>
              <a:t>Su</a:t>
            </a:r>
            <a:r>
              <a:rPr kumimoji="1" lang="en-US" altLang="zh-TW" sz="4000" dirty="0">
                <a:solidFill>
                  <a:schemeClr val="accent1"/>
                </a:solidFill>
                <a:latin typeface="Times New Roman" panose="02020603050405020304" pitchFamily="18" charset="0"/>
                <a:cs typeface="Times New Roman" panose="02020603050405020304" pitchFamily="18" charset="0"/>
              </a:rPr>
              <a:t>n</a:t>
            </a:r>
            <a:r>
              <a:rPr kumimoji="1" lang="en-US" altLang="zh-TW" sz="4000" dirty="0">
                <a:solidFill>
                  <a:schemeClr val="accent3"/>
                </a:solidFill>
                <a:latin typeface="Times New Roman" panose="02020603050405020304" pitchFamily="18" charset="0"/>
                <a:cs typeface="Times New Roman" panose="02020603050405020304" pitchFamily="18" charset="0"/>
              </a:rPr>
              <a:t>day</a:t>
            </a:r>
            <a:r>
              <a:rPr kumimoji="1" lang="en-US" altLang="zh-TW" sz="4000" dirty="0">
                <a:latin typeface="Times New Roman" panose="02020603050405020304" pitchFamily="18" charset="0"/>
                <a:cs typeface="Times New Roman" panose="02020603050405020304" pitchFamily="18" charset="0"/>
              </a:rPr>
              <a:t> → </a:t>
            </a:r>
            <a:r>
              <a:rPr kumimoji="1" lang="en-US" altLang="zh-TW" sz="4000" dirty="0">
                <a:solidFill>
                  <a:schemeClr val="accent3"/>
                </a:solidFill>
                <a:latin typeface="Times New Roman" panose="02020603050405020304" pitchFamily="18" charset="0"/>
                <a:cs typeface="Times New Roman" panose="02020603050405020304" pitchFamily="18" charset="0"/>
              </a:rPr>
              <a:t>S</a:t>
            </a:r>
            <a:r>
              <a:rPr kumimoji="1" lang="en-US" altLang="zh-TW" sz="4000" dirty="0">
                <a:solidFill>
                  <a:srgbClr val="FF0000"/>
                </a:solidFill>
                <a:latin typeface="Times New Roman" panose="02020603050405020304" pitchFamily="18" charset="0"/>
                <a:cs typeface="Times New Roman" panose="02020603050405020304" pitchFamily="18" charset="0"/>
              </a:rPr>
              <a:t>at</a:t>
            </a:r>
            <a:r>
              <a:rPr kumimoji="1" lang="en-US" altLang="zh-TW" sz="4000" dirty="0">
                <a:solidFill>
                  <a:schemeClr val="accent3"/>
                </a:solidFill>
                <a:latin typeface="Times New Roman" panose="02020603050405020304" pitchFamily="18" charset="0"/>
                <a:cs typeface="Times New Roman" panose="02020603050405020304" pitchFamily="18" charset="0"/>
              </a:rPr>
              <a:t>u</a:t>
            </a:r>
            <a:r>
              <a:rPr kumimoji="1" lang="en-US" altLang="zh-TW" sz="4000" dirty="0">
                <a:solidFill>
                  <a:schemeClr val="accent1"/>
                </a:solidFill>
                <a:latin typeface="Times New Roman" panose="02020603050405020304" pitchFamily="18" charset="0"/>
                <a:cs typeface="Times New Roman" panose="02020603050405020304" pitchFamily="18" charset="0"/>
              </a:rPr>
              <a:t>r</a:t>
            </a:r>
            <a:r>
              <a:rPr kumimoji="1" lang="en-US" altLang="zh-TW" sz="4000" dirty="0">
                <a:solidFill>
                  <a:schemeClr val="accent3"/>
                </a:solidFill>
                <a:latin typeface="Times New Roman" panose="02020603050405020304" pitchFamily="18" charset="0"/>
                <a:cs typeface="Times New Roman" panose="02020603050405020304" pitchFamily="18" charset="0"/>
              </a:rPr>
              <a:t>day</a:t>
            </a:r>
            <a:r>
              <a:rPr kumimoji="1" lang="en-US" altLang="zh-TW" sz="4000" dirty="0">
                <a:latin typeface="Times New Roman" panose="02020603050405020304" pitchFamily="18" charset="0"/>
                <a:cs typeface="Times New Roman" panose="02020603050405020304" pitchFamily="18" charset="0"/>
              </a:rPr>
              <a:t> : 3</a:t>
            </a:r>
          </a:p>
          <a:p>
            <a:pPr algn="just"/>
            <a:r>
              <a:rPr kumimoji="1" lang="en-US" altLang="zh-TW" dirty="0">
                <a:latin typeface="Times New Roman" panose="02020603050405020304" pitchFamily="18" charset="0"/>
                <a:cs typeface="Times New Roman" panose="02020603050405020304" pitchFamily="18" charset="0"/>
              </a:rPr>
              <a:t>(</a:t>
            </a:r>
            <a:r>
              <a:rPr kumimoji="1" lang="en-US" altLang="zh-TW" dirty="0">
                <a:solidFill>
                  <a:schemeClr val="accent1"/>
                </a:solidFill>
                <a:latin typeface="Times New Roman" panose="02020603050405020304" pitchFamily="18" charset="0"/>
                <a:cs typeface="Times New Roman" panose="02020603050405020304" pitchFamily="18" charset="0"/>
              </a:rPr>
              <a:t>Replace ‘n’ with ‘r’</a:t>
            </a:r>
            <a:r>
              <a:rPr kumimoji="1" lang="en-US" altLang="zh-TW" dirty="0">
                <a:latin typeface="Times New Roman" panose="02020603050405020304" pitchFamily="18" charset="0"/>
                <a:cs typeface="Times New Roman" panose="02020603050405020304" pitchFamily="18" charset="0"/>
              </a:rPr>
              <a:t>, </a:t>
            </a:r>
            <a:r>
              <a:rPr kumimoji="1" lang="en-US" altLang="zh-TW" dirty="0">
                <a:solidFill>
                  <a:srgbClr val="FF0000"/>
                </a:solidFill>
                <a:latin typeface="Times New Roman" panose="02020603050405020304" pitchFamily="18" charset="0"/>
                <a:cs typeface="Times New Roman" panose="02020603050405020304" pitchFamily="18" charset="0"/>
              </a:rPr>
              <a:t>insert t, insert a</a:t>
            </a:r>
            <a:r>
              <a:rPr kumimoji="1" lang="en-US" altLang="zh-TW" dirty="0">
                <a:latin typeface="Times New Roman" panose="02020603050405020304" pitchFamily="18" charset="0"/>
                <a:cs typeface="Times New Roman" panose="02020603050405020304" pitchFamily="18" charset="0"/>
              </a:rPr>
              <a: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479888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Definition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8" name="圖片 7">
            <a:extLst>
              <a:ext uri="{FF2B5EF4-FFF2-40B4-BE49-F238E27FC236}">
                <a16:creationId xmlns:a16="http://schemas.microsoft.com/office/drawing/2014/main" id="{3428F26D-AA37-3A25-6CC6-AFC1E78750D4}"/>
              </a:ext>
            </a:extLst>
          </p:cNvPr>
          <p:cNvPicPr>
            <a:picLocks noChangeAspect="1"/>
          </p:cNvPicPr>
          <p:nvPr/>
        </p:nvPicPr>
        <p:blipFill>
          <a:blip r:embed="rId2"/>
          <a:stretch>
            <a:fillRect/>
          </a:stretch>
        </p:blipFill>
        <p:spPr>
          <a:xfrm>
            <a:off x="453008" y="1556138"/>
            <a:ext cx="11520000" cy="842720"/>
          </a:xfrm>
          <a:prstGeom prst="rect">
            <a:avLst/>
          </a:prstGeom>
        </p:spPr>
      </p:pic>
      <p:pic>
        <p:nvPicPr>
          <p:cNvPr id="9" name="圖片 8">
            <a:extLst>
              <a:ext uri="{FF2B5EF4-FFF2-40B4-BE49-F238E27FC236}">
                <a16:creationId xmlns:a16="http://schemas.microsoft.com/office/drawing/2014/main" id="{B9DAC9E0-09AA-9C11-2234-37D45CD2974D}"/>
              </a:ext>
            </a:extLst>
          </p:cNvPr>
          <p:cNvPicPr>
            <a:picLocks noChangeAspect="1"/>
          </p:cNvPicPr>
          <p:nvPr/>
        </p:nvPicPr>
        <p:blipFill>
          <a:blip r:embed="rId3"/>
          <a:stretch>
            <a:fillRect/>
          </a:stretch>
        </p:blipFill>
        <p:spPr>
          <a:xfrm>
            <a:off x="453008" y="2716471"/>
            <a:ext cx="11520000" cy="546569"/>
          </a:xfrm>
          <a:prstGeom prst="rect">
            <a:avLst/>
          </a:prstGeom>
        </p:spPr>
      </p:pic>
      <p:pic>
        <p:nvPicPr>
          <p:cNvPr id="10" name="圖片 9">
            <a:extLst>
              <a:ext uri="{FF2B5EF4-FFF2-40B4-BE49-F238E27FC236}">
                <a16:creationId xmlns:a16="http://schemas.microsoft.com/office/drawing/2014/main" id="{397DA782-B334-22DD-53DC-07A35A85FD36}"/>
              </a:ext>
            </a:extLst>
          </p:cNvPr>
          <p:cNvPicPr>
            <a:picLocks noChangeAspect="1"/>
          </p:cNvPicPr>
          <p:nvPr/>
        </p:nvPicPr>
        <p:blipFill>
          <a:blip r:embed="rId4"/>
          <a:stretch>
            <a:fillRect/>
          </a:stretch>
        </p:blipFill>
        <p:spPr>
          <a:xfrm>
            <a:off x="453008" y="3580653"/>
            <a:ext cx="11520000" cy="598332"/>
          </a:xfrm>
          <a:prstGeom prst="rect">
            <a:avLst/>
          </a:prstGeom>
        </p:spPr>
      </p:pic>
      <p:pic>
        <p:nvPicPr>
          <p:cNvPr id="11" name="圖片 10">
            <a:extLst>
              <a:ext uri="{FF2B5EF4-FFF2-40B4-BE49-F238E27FC236}">
                <a16:creationId xmlns:a16="http://schemas.microsoft.com/office/drawing/2014/main" id="{353A0AA5-09D2-8F5C-1186-B2EBBC21BC01}"/>
              </a:ext>
            </a:extLst>
          </p:cNvPr>
          <p:cNvPicPr>
            <a:picLocks noChangeAspect="1"/>
          </p:cNvPicPr>
          <p:nvPr/>
        </p:nvPicPr>
        <p:blipFill>
          <a:blip r:embed="rId5"/>
          <a:stretch>
            <a:fillRect/>
          </a:stretch>
        </p:blipFill>
        <p:spPr>
          <a:xfrm>
            <a:off x="453008" y="4496598"/>
            <a:ext cx="11520000" cy="821061"/>
          </a:xfrm>
          <a:prstGeom prst="rect">
            <a:avLst/>
          </a:prstGeom>
        </p:spPr>
      </p:pic>
      <p:pic>
        <p:nvPicPr>
          <p:cNvPr id="12" name="圖片 11">
            <a:extLst>
              <a:ext uri="{FF2B5EF4-FFF2-40B4-BE49-F238E27FC236}">
                <a16:creationId xmlns:a16="http://schemas.microsoft.com/office/drawing/2014/main" id="{A6AC559C-5003-8638-D757-8D14E3783033}"/>
              </a:ext>
            </a:extLst>
          </p:cNvPr>
          <p:cNvPicPr>
            <a:picLocks noChangeAspect="1"/>
          </p:cNvPicPr>
          <p:nvPr/>
        </p:nvPicPr>
        <p:blipFill>
          <a:blip r:embed="rId6"/>
          <a:stretch>
            <a:fillRect/>
          </a:stretch>
        </p:blipFill>
        <p:spPr>
          <a:xfrm>
            <a:off x="453008" y="5635273"/>
            <a:ext cx="11520000" cy="946047"/>
          </a:xfrm>
          <a:prstGeom prst="rect">
            <a:avLst/>
          </a:prstGeom>
        </p:spPr>
      </p:pic>
      <p:cxnSp>
        <p:nvCxnSpPr>
          <p:cNvPr id="18" name="直線接點 17">
            <a:extLst>
              <a:ext uri="{FF2B5EF4-FFF2-40B4-BE49-F238E27FC236}">
                <a16:creationId xmlns:a16="http://schemas.microsoft.com/office/drawing/2014/main" id="{F54A91F3-A6A9-8DDD-B5E5-43966E8648D8}"/>
              </a:ext>
            </a:extLst>
          </p:cNvPr>
          <p:cNvCxnSpPr/>
          <p:nvPr/>
        </p:nvCxnSpPr>
        <p:spPr>
          <a:xfrm>
            <a:off x="8610600" y="1850065"/>
            <a:ext cx="3362408"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17460E57-D686-ABB2-5A85-2BC8BEC1059C}"/>
              </a:ext>
            </a:extLst>
          </p:cNvPr>
          <p:cNvCxnSpPr>
            <a:cxnSpLocks/>
          </p:cNvCxnSpPr>
          <p:nvPr/>
        </p:nvCxnSpPr>
        <p:spPr>
          <a:xfrm>
            <a:off x="453008" y="2108791"/>
            <a:ext cx="1790462"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線接點 20">
            <a:extLst>
              <a:ext uri="{FF2B5EF4-FFF2-40B4-BE49-F238E27FC236}">
                <a16:creationId xmlns:a16="http://schemas.microsoft.com/office/drawing/2014/main" id="{FF04E178-2906-DF9F-627C-3024E3798695}"/>
              </a:ext>
            </a:extLst>
          </p:cNvPr>
          <p:cNvCxnSpPr>
            <a:cxnSpLocks/>
          </p:cNvCxnSpPr>
          <p:nvPr/>
        </p:nvCxnSpPr>
        <p:spPr>
          <a:xfrm>
            <a:off x="4307957" y="2989755"/>
            <a:ext cx="266700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3" name="文字方塊 22">
            <a:extLst>
              <a:ext uri="{FF2B5EF4-FFF2-40B4-BE49-F238E27FC236}">
                <a16:creationId xmlns:a16="http://schemas.microsoft.com/office/drawing/2014/main" id="{E57C8324-215D-0B97-892E-593C689BCB7A}"/>
              </a:ext>
            </a:extLst>
          </p:cNvPr>
          <p:cNvSpPr txBox="1"/>
          <p:nvPr/>
        </p:nvSpPr>
        <p:spPr>
          <a:xfrm>
            <a:off x="2849525" y="2073855"/>
            <a:ext cx="5245347" cy="369332"/>
          </a:xfrm>
          <a:prstGeom prst="rect">
            <a:avLst/>
          </a:prstGeom>
          <a:noFill/>
        </p:spPr>
        <p:txBody>
          <a:bodyPr wrap="none" rtlCol="0">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字串重新編碼</a:t>
            </a:r>
            <a:r>
              <a:rPr kumimoji="1" lang="en-US" altLang="zh-TW" b="1" dirty="0">
                <a:solidFill>
                  <a:srgbClr val="FF0000"/>
                </a:solidFill>
                <a:latin typeface="Times New Roman" panose="02020603050405020304" pitchFamily="18" charset="0"/>
                <a:cs typeface="Times New Roman" panose="02020603050405020304" pitchFamily="18" charset="0"/>
              </a:rPr>
              <a:t>(embedding)</a:t>
            </a:r>
            <a:r>
              <a:rPr kumimoji="1" lang="zh-TW" altLang="en-US" b="1" dirty="0">
                <a:solidFill>
                  <a:srgbClr val="FF0000"/>
                </a:solidFill>
                <a:latin typeface="Times New Roman" panose="02020603050405020304" pitchFamily="18" charset="0"/>
                <a:cs typeface="Times New Roman" panose="02020603050405020304" pitchFamily="18" charset="0"/>
              </a:rPr>
              <a:t>後，其</a:t>
            </a:r>
            <a:r>
              <a:rPr kumimoji="1" lang="en-US" altLang="zh-TW" b="1" dirty="0">
                <a:solidFill>
                  <a:srgbClr val="FF0000"/>
                </a:solidFill>
                <a:latin typeface="Times New Roman" panose="02020603050405020304" pitchFamily="18" charset="0"/>
                <a:cs typeface="Times New Roman" panose="02020603050405020304" pitchFamily="18" charset="0"/>
              </a:rPr>
              <a:t>LCS</a:t>
            </a:r>
            <a:r>
              <a:rPr kumimoji="1" lang="zh-TW" altLang="en-US" b="1" dirty="0">
                <a:solidFill>
                  <a:srgbClr val="FF0000"/>
                </a:solidFill>
                <a:latin typeface="Times New Roman" panose="02020603050405020304" pitchFamily="18" charset="0"/>
                <a:cs typeface="Times New Roman" panose="02020603050405020304" pitchFamily="18" charset="0"/>
              </a:rPr>
              <a:t>失真程度為𝛒</a:t>
            </a:r>
          </a:p>
        </p:txBody>
      </p:sp>
      <p:sp>
        <p:nvSpPr>
          <p:cNvPr id="24" name="文字方塊 23">
            <a:extLst>
              <a:ext uri="{FF2B5EF4-FFF2-40B4-BE49-F238E27FC236}">
                <a16:creationId xmlns:a16="http://schemas.microsoft.com/office/drawing/2014/main" id="{C24766BB-A7BA-B1B0-6F8A-23F78839E202}"/>
              </a:ext>
            </a:extLst>
          </p:cNvPr>
          <p:cNvSpPr txBox="1"/>
          <p:nvPr/>
        </p:nvSpPr>
        <p:spPr>
          <a:xfrm>
            <a:off x="3283176" y="3881174"/>
            <a:ext cx="1869423" cy="369332"/>
          </a:xfrm>
          <a:prstGeom prst="rect">
            <a:avLst/>
          </a:prstGeom>
          <a:noFill/>
        </p:spPr>
        <p:txBody>
          <a:bodyPr wrap="none" rtlCol="0">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長度為</a:t>
            </a:r>
            <a:r>
              <a:rPr kumimoji="1" lang="en-US" altLang="zh-TW" b="1" dirty="0">
                <a:solidFill>
                  <a:srgbClr val="FF0000"/>
                </a:solidFill>
                <a:latin typeface="Times New Roman" panose="02020603050405020304" pitchFamily="18" charset="0"/>
                <a:cs typeface="Times New Roman" panose="02020603050405020304" pitchFamily="18" charset="0"/>
              </a:rPr>
              <a:t>t</a:t>
            </a:r>
            <a:r>
              <a:rPr kumimoji="1" lang="zh-TW" altLang="en-US" b="1" dirty="0">
                <a:solidFill>
                  <a:srgbClr val="FF0000"/>
                </a:solidFill>
                <a:latin typeface="Times New Roman" panose="02020603050405020304" pitchFamily="18" charset="0"/>
                <a:cs typeface="Times New Roman" panose="02020603050405020304" pitchFamily="18" charset="0"/>
              </a:rPr>
              <a:t>的子字串</a:t>
            </a:r>
          </a:p>
        </p:txBody>
      </p:sp>
      <p:sp>
        <p:nvSpPr>
          <p:cNvPr id="26" name="文字方塊 25">
            <a:extLst>
              <a:ext uri="{FF2B5EF4-FFF2-40B4-BE49-F238E27FC236}">
                <a16:creationId xmlns:a16="http://schemas.microsoft.com/office/drawing/2014/main" id="{D7E88625-FDCF-F2D1-101F-3560F3409792}"/>
              </a:ext>
            </a:extLst>
          </p:cNvPr>
          <p:cNvSpPr txBox="1"/>
          <p:nvPr/>
        </p:nvSpPr>
        <p:spPr>
          <a:xfrm>
            <a:off x="5535900" y="5036326"/>
            <a:ext cx="3446479" cy="646331"/>
          </a:xfrm>
          <a:prstGeom prst="rect">
            <a:avLst/>
          </a:prstGeom>
          <a:noFill/>
        </p:spPr>
        <p:txBody>
          <a:bodyPr wrap="square">
            <a:spAutoFit/>
          </a:bodyPr>
          <a:lstStyle/>
          <a:p>
            <a:pPr algn="just"/>
            <a:r>
              <a:rPr lang="zh-TW" altLang="en-US" b="1" dirty="0">
                <a:solidFill>
                  <a:srgbClr val="FF0000"/>
                </a:solidFill>
                <a:latin typeface="Times New Roman" panose="02020603050405020304" pitchFamily="18" charset="0"/>
                <a:cs typeface="Times New Roman" panose="02020603050405020304" pitchFamily="18" charset="0"/>
              </a:rPr>
              <a:t>S 中的每 w 個連續 t 子字串是不同的，如</a:t>
            </a:r>
            <a:r>
              <a:rPr lang="en-US" altLang="zh-TW" b="1" dirty="0">
                <a:solidFill>
                  <a:srgbClr val="FF0000"/>
                </a:solidFill>
                <a:latin typeface="Times New Roman" panose="02020603050405020304" pitchFamily="18" charset="0"/>
                <a:cs typeface="Times New Roman" panose="02020603050405020304" pitchFamily="18" charset="0"/>
                <a:sym typeface="Wingdings" pitchFamily="2" charset="2"/>
              </a:rPr>
              <a:t>:(3, 4)-non-repetitive</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27" name="直線接點 26">
            <a:extLst>
              <a:ext uri="{FF2B5EF4-FFF2-40B4-BE49-F238E27FC236}">
                <a16:creationId xmlns:a16="http://schemas.microsoft.com/office/drawing/2014/main" id="{0E3DA24D-25EA-1E20-D031-B901DBB9EBFF}"/>
              </a:ext>
            </a:extLst>
          </p:cNvPr>
          <p:cNvCxnSpPr>
            <a:cxnSpLocks/>
          </p:cNvCxnSpPr>
          <p:nvPr/>
        </p:nvCxnSpPr>
        <p:spPr>
          <a:xfrm>
            <a:off x="453008" y="4184535"/>
            <a:ext cx="257727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9" name="直線接點 28">
            <a:extLst>
              <a:ext uri="{FF2B5EF4-FFF2-40B4-BE49-F238E27FC236}">
                <a16:creationId xmlns:a16="http://schemas.microsoft.com/office/drawing/2014/main" id="{F4DFB12B-FDB0-8C85-B870-7EE7776F4B1D}"/>
              </a:ext>
            </a:extLst>
          </p:cNvPr>
          <p:cNvCxnSpPr>
            <a:cxnSpLocks/>
          </p:cNvCxnSpPr>
          <p:nvPr/>
        </p:nvCxnSpPr>
        <p:spPr>
          <a:xfrm>
            <a:off x="8610600" y="4783503"/>
            <a:ext cx="3234070"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1" name="直線接點 30">
            <a:extLst>
              <a:ext uri="{FF2B5EF4-FFF2-40B4-BE49-F238E27FC236}">
                <a16:creationId xmlns:a16="http://schemas.microsoft.com/office/drawing/2014/main" id="{F5093138-7CC6-E830-196F-9D125F67FA35}"/>
              </a:ext>
            </a:extLst>
          </p:cNvPr>
          <p:cNvCxnSpPr>
            <a:cxnSpLocks/>
          </p:cNvCxnSpPr>
          <p:nvPr/>
        </p:nvCxnSpPr>
        <p:spPr>
          <a:xfrm>
            <a:off x="506173" y="5047537"/>
            <a:ext cx="113124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aphicFrame>
        <p:nvGraphicFramePr>
          <p:cNvPr id="33" name="表格 33">
            <a:extLst>
              <a:ext uri="{FF2B5EF4-FFF2-40B4-BE49-F238E27FC236}">
                <a16:creationId xmlns:a16="http://schemas.microsoft.com/office/drawing/2014/main" id="{B1554DEC-BDA9-D1C4-FFD0-F7C1B476A545}"/>
              </a:ext>
            </a:extLst>
          </p:cNvPr>
          <p:cNvGraphicFramePr>
            <a:graphicFrameLocks noGrp="1"/>
          </p:cNvGraphicFramePr>
          <p:nvPr>
            <p:extLst>
              <p:ext uri="{D42A27DB-BD31-4B8C-83A1-F6EECF244321}">
                <p14:modId xmlns:p14="http://schemas.microsoft.com/office/powerpoint/2010/main" val="1243762859"/>
              </p:ext>
            </p:extLst>
          </p:nvPr>
        </p:nvGraphicFramePr>
        <p:xfrm>
          <a:off x="9345756" y="5174071"/>
          <a:ext cx="2393236" cy="370840"/>
        </p:xfrm>
        <a:graphic>
          <a:graphicData uri="http://schemas.openxmlformats.org/drawingml/2006/table">
            <a:tbl>
              <a:tblPr firstRow="1" bandRow="1">
                <a:tableStyleId>{5940675A-B579-460E-94D1-54222C63F5DA}</a:tableStyleId>
              </a:tblPr>
              <a:tblGrid>
                <a:gridCol w="598309">
                  <a:extLst>
                    <a:ext uri="{9D8B030D-6E8A-4147-A177-3AD203B41FA5}">
                      <a16:colId xmlns:a16="http://schemas.microsoft.com/office/drawing/2014/main" val="1707384733"/>
                    </a:ext>
                  </a:extLst>
                </a:gridCol>
                <a:gridCol w="598309">
                  <a:extLst>
                    <a:ext uri="{9D8B030D-6E8A-4147-A177-3AD203B41FA5}">
                      <a16:colId xmlns:a16="http://schemas.microsoft.com/office/drawing/2014/main" val="4142329795"/>
                    </a:ext>
                  </a:extLst>
                </a:gridCol>
                <a:gridCol w="598309">
                  <a:extLst>
                    <a:ext uri="{9D8B030D-6E8A-4147-A177-3AD203B41FA5}">
                      <a16:colId xmlns:a16="http://schemas.microsoft.com/office/drawing/2014/main" val="1535751455"/>
                    </a:ext>
                  </a:extLst>
                </a:gridCol>
                <a:gridCol w="598309">
                  <a:extLst>
                    <a:ext uri="{9D8B030D-6E8A-4147-A177-3AD203B41FA5}">
                      <a16:colId xmlns:a16="http://schemas.microsoft.com/office/drawing/2014/main" val="3106942969"/>
                    </a:ext>
                  </a:extLst>
                </a:gridCol>
              </a:tblGrid>
              <a:tr h="370840">
                <a:tc>
                  <a:txBody>
                    <a:bodyPr/>
                    <a:lstStyle/>
                    <a:p>
                      <a:pPr algn="ctr"/>
                      <a:r>
                        <a:rPr lang="en-US" altLang="zh-TW" b="0" dirty="0" err="1">
                          <a:latin typeface="Times New Roman" panose="02020603050405020304" pitchFamily="18" charset="0"/>
                          <a:cs typeface="Times New Roman" panose="02020603050405020304" pitchFamily="18" charset="0"/>
                        </a:rPr>
                        <a:t>abc</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aba</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cba</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err="1">
                          <a:latin typeface="Times New Roman" panose="02020603050405020304" pitchFamily="18" charset="0"/>
                          <a:cs typeface="Times New Roman" panose="02020603050405020304" pitchFamily="18" charset="0"/>
                        </a:rPr>
                        <a:t>aab</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3876598"/>
                  </a:ext>
                </a:extLst>
              </a:tr>
            </a:tbl>
          </a:graphicData>
        </a:graphic>
      </p:graphicFrame>
      <p:cxnSp>
        <p:nvCxnSpPr>
          <p:cNvPr id="35" name="直線接點 34">
            <a:extLst>
              <a:ext uri="{FF2B5EF4-FFF2-40B4-BE49-F238E27FC236}">
                <a16:creationId xmlns:a16="http://schemas.microsoft.com/office/drawing/2014/main" id="{CACE66BA-6C8F-526D-7FAF-8A363733DAC9}"/>
              </a:ext>
            </a:extLst>
          </p:cNvPr>
          <p:cNvCxnSpPr>
            <a:cxnSpLocks/>
          </p:cNvCxnSpPr>
          <p:nvPr/>
        </p:nvCxnSpPr>
        <p:spPr>
          <a:xfrm>
            <a:off x="6127899" y="6241927"/>
            <a:ext cx="113124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295837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Property</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4" name="圖片 3">
            <a:extLst>
              <a:ext uri="{FF2B5EF4-FFF2-40B4-BE49-F238E27FC236}">
                <a16:creationId xmlns:a16="http://schemas.microsoft.com/office/drawing/2014/main" id="{EA198AE5-8CAB-3B12-3C90-3581EA25D24E}"/>
              </a:ext>
            </a:extLst>
          </p:cNvPr>
          <p:cNvPicPr>
            <a:picLocks noChangeAspect="1"/>
          </p:cNvPicPr>
          <p:nvPr/>
        </p:nvPicPr>
        <p:blipFill rotWithShape="1">
          <a:blip r:embed="rId2"/>
          <a:srcRect r="14161" b="59781"/>
          <a:stretch/>
        </p:blipFill>
        <p:spPr>
          <a:xfrm>
            <a:off x="697562" y="1345402"/>
            <a:ext cx="5246924" cy="477910"/>
          </a:xfrm>
          <a:prstGeom prst="rect">
            <a:avLst/>
          </a:prstGeom>
        </p:spPr>
      </p:pic>
      <p:pic>
        <p:nvPicPr>
          <p:cNvPr id="13" name="圖片 12">
            <a:extLst>
              <a:ext uri="{FF2B5EF4-FFF2-40B4-BE49-F238E27FC236}">
                <a16:creationId xmlns:a16="http://schemas.microsoft.com/office/drawing/2014/main" id="{3FFE5864-2AF0-F64F-9377-508E70410EBE}"/>
              </a:ext>
            </a:extLst>
          </p:cNvPr>
          <p:cNvPicPr>
            <a:picLocks noChangeAspect="1"/>
          </p:cNvPicPr>
          <p:nvPr/>
        </p:nvPicPr>
        <p:blipFill rotWithShape="1">
          <a:blip r:embed="rId2"/>
          <a:srcRect l="10493" t="56307" r="1013" b="-4964"/>
          <a:stretch/>
        </p:blipFill>
        <p:spPr>
          <a:xfrm>
            <a:off x="6030645" y="1361483"/>
            <a:ext cx="5481550" cy="585903"/>
          </a:xfrm>
          <a:prstGeom prst="rect">
            <a:avLst/>
          </a:prstGeom>
        </p:spPr>
      </p:pic>
      <p:pic>
        <p:nvPicPr>
          <p:cNvPr id="3" name="圖片 2">
            <a:extLst>
              <a:ext uri="{FF2B5EF4-FFF2-40B4-BE49-F238E27FC236}">
                <a16:creationId xmlns:a16="http://schemas.microsoft.com/office/drawing/2014/main" id="{84462AF4-AC43-2090-36AE-85478AB1157C}"/>
              </a:ext>
            </a:extLst>
          </p:cNvPr>
          <p:cNvPicPr>
            <a:picLocks noChangeAspect="1"/>
          </p:cNvPicPr>
          <p:nvPr/>
        </p:nvPicPr>
        <p:blipFill rotWithShape="1">
          <a:blip r:embed="rId3"/>
          <a:srcRect r="33268" b="57388"/>
          <a:stretch/>
        </p:blipFill>
        <p:spPr>
          <a:xfrm>
            <a:off x="697562" y="2352896"/>
            <a:ext cx="7017463" cy="1325564"/>
          </a:xfrm>
          <a:prstGeom prst="rect">
            <a:avLst/>
          </a:prstGeom>
        </p:spPr>
      </p:pic>
      <p:pic>
        <p:nvPicPr>
          <p:cNvPr id="5" name="圖片 4">
            <a:extLst>
              <a:ext uri="{FF2B5EF4-FFF2-40B4-BE49-F238E27FC236}">
                <a16:creationId xmlns:a16="http://schemas.microsoft.com/office/drawing/2014/main" id="{ED85FB12-8143-4E55-6F15-234DE52A6AA7}"/>
              </a:ext>
            </a:extLst>
          </p:cNvPr>
          <p:cNvPicPr>
            <a:picLocks noChangeAspect="1"/>
          </p:cNvPicPr>
          <p:nvPr/>
        </p:nvPicPr>
        <p:blipFill rotWithShape="1">
          <a:blip r:embed="rId3"/>
          <a:srcRect t="52815"/>
          <a:stretch/>
        </p:blipFill>
        <p:spPr>
          <a:xfrm>
            <a:off x="697562" y="3931594"/>
            <a:ext cx="10515933" cy="1467814"/>
          </a:xfrm>
          <a:prstGeom prst="rect">
            <a:avLst/>
          </a:prstGeom>
        </p:spPr>
      </p:pic>
      <p:sp>
        <p:nvSpPr>
          <p:cNvPr id="7" name="文字方塊 6">
            <a:extLst>
              <a:ext uri="{FF2B5EF4-FFF2-40B4-BE49-F238E27FC236}">
                <a16:creationId xmlns:a16="http://schemas.microsoft.com/office/drawing/2014/main" id="{AF6E0843-1336-A039-6A5D-C934CFD8CFFF}"/>
              </a:ext>
            </a:extLst>
          </p:cNvPr>
          <p:cNvSpPr txBox="1"/>
          <p:nvPr/>
        </p:nvSpPr>
        <p:spPr>
          <a:xfrm>
            <a:off x="7758105" y="1687254"/>
            <a:ext cx="1460323" cy="369332"/>
          </a:xfrm>
          <a:prstGeom prst="rect">
            <a:avLst/>
          </a:prstGeom>
          <a:noFill/>
        </p:spPr>
        <p:txBody>
          <a:bodyPr wrap="square">
            <a:spAutoFit/>
          </a:bodyPr>
          <a:lstStyle/>
          <a:p>
            <a:pPr algn="just"/>
            <a:r>
              <a:rPr lang="en-US" altLang="zh-TW" b="1" dirty="0">
                <a:solidFill>
                  <a:srgbClr val="FF0000"/>
                </a:solidFill>
                <a:latin typeface="Times New Roman" panose="02020603050405020304" pitchFamily="18" charset="0"/>
                <a:cs typeface="Times New Roman" panose="02020603050405020304" pitchFamily="18" charset="0"/>
              </a:rPr>
              <a:t>edit distance</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9E67EF38-FB2E-5025-6D5E-1709B934B42F}"/>
              </a:ext>
            </a:extLst>
          </p:cNvPr>
          <p:cNvSpPr txBox="1"/>
          <p:nvPr/>
        </p:nvSpPr>
        <p:spPr>
          <a:xfrm>
            <a:off x="6073724" y="1696438"/>
            <a:ext cx="1641301" cy="646331"/>
          </a:xfrm>
          <a:prstGeom prst="rect">
            <a:avLst/>
          </a:prstGeom>
          <a:noFill/>
        </p:spPr>
        <p:txBody>
          <a:bodyPr wrap="square">
            <a:spAutoFit/>
          </a:bodyPr>
          <a:lstStyle/>
          <a:p>
            <a:pPr algn="ctr"/>
            <a:r>
              <a:rPr lang="zh-TW" altLang="en-US" b="1" dirty="0">
                <a:solidFill>
                  <a:srgbClr val="FF0000"/>
                </a:solidFill>
                <a:latin typeface="Times New Roman" panose="02020603050405020304" pitchFamily="18" charset="0"/>
                <a:cs typeface="Times New Roman" panose="02020603050405020304" pitchFamily="18" charset="0"/>
              </a:rPr>
              <a:t>長度</a:t>
            </a:r>
            <a:r>
              <a:rPr lang="en-US" altLang="zh-TW" b="1" dirty="0">
                <a:solidFill>
                  <a:srgbClr val="FF0000"/>
                </a:solidFill>
                <a:latin typeface="Times New Roman" panose="02020603050405020304" pitchFamily="18" charset="0"/>
                <a:cs typeface="Times New Roman" panose="02020603050405020304" pitchFamily="18" charset="0"/>
              </a:rPr>
              <a:t>-</a:t>
            </a:r>
            <a:r>
              <a:rPr lang="zh-TW" altLang="en-US" b="1" dirty="0">
                <a:solidFill>
                  <a:srgbClr val="FF0000"/>
                </a:solidFill>
                <a:latin typeface="Times New Roman" panose="02020603050405020304" pitchFamily="18" charset="0"/>
                <a:cs typeface="Times New Roman" panose="02020603050405020304" pitchFamily="18" charset="0"/>
              </a:rPr>
              <a:t>相似長度</a:t>
            </a:r>
            <a:endParaRPr lang="en-US" altLang="zh-TW" b="1" dirty="0">
              <a:solidFill>
                <a:srgbClr val="FF0000"/>
              </a:solidFill>
              <a:latin typeface="Times New Roman" panose="02020603050405020304" pitchFamily="18" charset="0"/>
              <a:cs typeface="Times New Roman" panose="02020603050405020304" pitchFamily="18" charset="0"/>
            </a:endParaRPr>
          </a:p>
          <a:p>
            <a:pPr algn="ctr"/>
            <a:r>
              <a:rPr lang="zh-TW" altLang="en-US" b="1" dirty="0">
                <a:solidFill>
                  <a:srgbClr val="FF0000"/>
                </a:solidFill>
                <a:latin typeface="Times New Roman" panose="02020603050405020304" pitchFamily="18" charset="0"/>
                <a:cs typeface="Times New Roman" panose="02020603050405020304" pitchFamily="18" charset="0"/>
              </a:rPr>
              <a:t>（不相似長度）</a:t>
            </a:r>
          </a:p>
        </p:txBody>
      </p:sp>
      <p:graphicFrame>
        <p:nvGraphicFramePr>
          <p:cNvPr id="15" name="表格 33">
            <a:extLst>
              <a:ext uri="{FF2B5EF4-FFF2-40B4-BE49-F238E27FC236}">
                <a16:creationId xmlns:a16="http://schemas.microsoft.com/office/drawing/2014/main" id="{63B460BF-82B8-F4A4-41F8-139DCC04A343}"/>
              </a:ext>
            </a:extLst>
          </p:cNvPr>
          <p:cNvGraphicFramePr>
            <a:graphicFrameLocks noGrp="1"/>
          </p:cNvGraphicFramePr>
          <p:nvPr>
            <p:extLst>
              <p:ext uri="{D42A27DB-BD31-4B8C-83A1-F6EECF244321}">
                <p14:modId xmlns:p14="http://schemas.microsoft.com/office/powerpoint/2010/main" val="2722272978"/>
              </p:ext>
            </p:extLst>
          </p:nvPr>
        </p:nvGraphicFramePr>
        <p:xfrm>
          <a:off x="8435103" y="3088526"/>
          <a:ext cx="2393236" cy="370840"/>
        </p:xfrm>
        <a:graphic>
          <a:graphicData uri="http://schemas.openxmlformats.org/drawingml/2006/table">
            <a:tbl>
              <a:tblPr firstRow="1" bandRow="1">
                <a:tableStyleId>{5940675A-B579-460E-94D1-54222C63F5DA}</a:tableStyleId>
              </a:tblPr>
              <a:tblGrid>
                <a:gridCol w="598309">
                  <a:extLst>
                    <a:ext uri="{9D8B030D-6E8A-4147-A177-3AD203B41FA5}">
                      <a16:colId xmlns:a16="http://schemas.microsoft.com/office/drawing/2014/main" val="1707384733"/>
                    </a:ext>
                  </a:extLst>
                </a:gridCol>
                <a:gridCol w="598309">
                  <a:extLst>
                    <a:ext uri="{9D8B030D-6E8A-4147-A177-3AD203B41FA5}">
                      <a16:colId xmlns:a16="http://schemas.microsoft.com/office/drawing/2014/main" val="4142329795"/>
                    </a:ext>
                  </a:extLst>
                </a:gridCol>
                <a:gridCol w="598309">
                  <a:extLst>
                    <a:ext uri="{9D8B030D-6E8A-4147-A177-3AD203B41FA5}">
                      <a16:colId xmlns:a16="http://schemas.microsoft.com/office/drawing/2014/main" val="1535751455"/>
                    </a:ext>
                  </a:extLst>
                </a:gridCol>
                <a:gridCol w="598309">
                  <a:extLst>
                    <a:ext uri="{9D8B030D-6E8A-4147-A177-3AD203B41FA5}">
                      <a16:colId xmlns:a16="http://schemas.microsoft.com/office/drawing/2014/main" val="3106942969"/>
                    </a:ext>
                  </a:extLst>
                </a:gridCol>
              </a:tblGrid>
              <a:tr h="370840">
                <a:tc>
                  <a:txBody>
                    <a:bodyPr/>
                    <a:lstStyle/>
                    <a:p>
                      <a:pPr algn="ctr"/>
                      <a:r>
                        <a:rPr lang="en-US" altLang="zh-TW" b="0" dirty="0">
                          <a:latin typeface="Times New Roman" panose="02020603050405020304" pitchFamily="18" charset="0"/>
                          <a:cs typeface="Times New Roman" panose="02020603050405020304" pitchFamily="18" charset="0"/>
                        </a:rPr>
                        <a:t>...</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3876598"/>
                  </a:ext>
                </a:extLst>
              </a:tr>
            </a:tbl>
          </a:graphicData>
        </a:graphic>
      </p:graphicFrame>
      <p:grpSp>
        <p:nvGrpSpPr>
          <p:cNvPr id="22" name="群組 21">
            <a:extLst>
              <a:ext uri="{FF2B5EF4-FFF2-40B4-BE49-F238E27FC236}">
                <a16:creationId xmlns:a16="http://schemas.microsoft.com/office/drawing/2014/main" id="{80256EF3-76D0-0305-B4DB-3C9D21BAEE5F}"/>
              </a:ext>
            </a:extLst>
          </p:cNvPr>
          <p:cNvGrpSpPr/>
          <p:nvPr/>
        </p:nvGrpSpPr>
        <p:grpSpPr>
          <a:xfrm>
            <a:off x="8167399" y="2393013"/>
            <a:ext cx="2539587" cy="1761866"/>
            <a:chOff x="8220562" y="2775332"/>
            <a:chExt cx="2539587" cy="1761866"/>
          </a:xfrm>
        </p:grpSpPr>
        <p:sp>
          <p:nvSpPr>
            <p:cNvPr id="17" name="右大括弧 16">
              <a:extLst>
                <a:ext uri="{FF2B5EF4-FFF2-40B4-BE49-F238E27FC236}">
                  <a16:creationId xmlns:a16="http://schemas.microsoft.com/office/drawing/2014/main" id="{DB164D6F-B9FE-FB63-25D5-0820B089E0BB}"/>
                </a:ext>
              </a:extLst>
            </p:cNvPr>
            <p:cNvSpPr/>
            <p:nvPr/>
          </p:nvSpPr>
          <p:spPr>
            <a:xfrm rot="16200000">
              <a:off x="8672239" y="3072803"/>
              <a:ext cx="268763" cy="39204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8" name="文字方塊 17">
              <a:extLst>
                <a:ext uri="{FF2B5EF4-FFF2-40B4-BE49-F238E27FC236}">
                  <a16:creationId xmlns:a16="http://schemas.microsoft.com/office/drawing/2014/main" id="{6C55180A-3805-3F58-9CAD-0417AB72ECC3}"/>
                </a:ext>
              </a:extLst>
            </p:cNvPr>
            <p:cNvSpPr txBox="1"/>
            <p:nvPr/>
          </p:nvSpPr>
          <p:spPr>
            <a:xfrm>
              <a:off x="8220562" y="2775332"/>
              <a:ext cx="117211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t-substring</a:t>
              </a:r>
              <a:endParaRPr kumimoji="1" lang="zh-TW" altLang="en-US" dirty="0">
                <a:latin typeface="Times New Roman" panose="02020603050405020304" pitchFamily="18" charset="0"/>
                <a:cs typeface="Times New Roman" panose="02020603050405020304" pitchFamily="18" charset="0"/>
              </a:endParaRPr>
            </a:p>
          </p:txBody>
        </p:sp>
        <p:sp>
          <p:nvSpPr>
            <p:cNvPr id="19" name="右大括弧 18">
              <a:extLst>
                <a:ext uri="{FF2B5EF4-FFF2-40B4-BE49-F238E27FC236}">
                  <a16:creationId xmlns:a16="http://schemas.microsoft.com/office/drawing/2014/main" id="{F8150915-9974-C022-FFF6-EF74EB51327F}"/>
                </a:ext>
              </a:extLst>
            </p:cNvPr>
            <p:cNvSpPr/>
            <p:nvPr/>
          </p:nvSpPr>
          <p:spPr>
            <a:xfrm rot="5400000">
              <a:off x="9524696" y="2974645"/>
              <a:ext cx="268763" cy="2202142"/>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 name="文字方塊 19">
              <a:extLst>
                <a:ext uri="{FF2B5EF4-FFF2-40B4-BE49-F238E27FC236}">
                  <a16:creationId xmlns:a16="http://schemas.microsoft.com/office/drawing/2014/main" id="{08182393-E0EB-615C-A975-7082DBDAE910}"/>
                </a:ext>
              </a:extLst>
            </p:cNvPr>
            <p:cNvSpPr txBox="1"/>
            <p:nvPr/>
          </p:nvSpPr>
          <p:spPr>
            <a:xfrm>
              <a:off x="9483388" y="4167866"/>
              <a:ext cx="35137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w</a:t>
              </a:r>
              <a:endParaRPr kumimoji="1" lang="zh-TW" altLang="en-US" dirty="0">
                <a:latin typeface="Times New Roman" panose="02020603050405020304" pitchFamily="18" charset="0"/>
                <a:cs typeface="Times New Roman" panose="02020603050405020304" pitchFamily="18" charset="0"/>
              </a:endParaRPr>
            </a:p>
          </p:txBody>
        </p:sp>
      </p:grpSp>
      <p:sp>
        <p:nvSpPr>
          <p:cNvPr id="23" name="文字方塊 22">
            <a:extLst>
              <a:ext uri="{FF2B5EF4-FFF2-40B4-BE49-F238E27FC236}">
                <a16:creationId xmlns:a16="http://schemas.microsoft.com/office/drawing/2014/main" id="{79CFF719-A8CA-5860-9FC6-8AB2522E4389}"/>
              </a:ext>
            </a:extLst>
          </p:cNvPr>
          <p:cNvSpPr txBox="1"/>
          <p:nvPr/>
        </p:nvSpPr>
        <p:spPr>
          <a:xfrm>
            <a:off x="8287623" y="4054311"/>
            <a:ext cx="2732479"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t>
            </a:r>
            <a:r>
              <a:rPr kumimoji="1" lang="en-US" altLang="zh-TW" b="1" dirty="0" err="1">
                <a:solidFill>
                  <a:srgbClr val="FF0000"/>
                </a:solidFill>
                <a:latin typeface="Times New Roman" panose="02020603050405020304" pitchFamily="18" charset="0"/>
                <a:cs typeface="Times New Roman" panose="02020603050405020304" pitchFamily="18" charset="0"/>
              </a:rPr>
              <a:t>t,w</a:t>
            </a:r>
            <a:r>
              <a:rPr kumimoji="1" lang="en-US" altLang="zh-TW" b="1" dirty="0">
                <a:solidFill>
                  <a:srgbClr val="FF0000"/>
                </a:solidFill>
                <a:latin typeface="Times New Roman" panose="02020603050405020304" pitchFamily="18" charset="0"/>
                <a:cs typeface="Times New Roman" panose="02020603050405020304" pitchFamily="18" charset="0"/>
              </a:rPr>
              <a:t>)-non-repetitive string</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1C408BD3-6EF0-E4C9-06FA-5E158B679565}"/>
              </a:ext>
            </a:extLst>
          </p:cNvPr>
          <p:cNvSpPr txBox="1"/>
          <p:nvPr/>
        </p:nvSpPr>
        <p:spPr>
          <a:xfrm>
            <a:off x="1046042" y="2719194"/>
            <a:ext cx="2274982" cy="369332"/>
          </a:xfrm>
          <a:prstGeom prst="rect">
            <a:avLst/>
          </a:prstGeom>
          <a:noFill/>
        </p:spPr>
        <p:txBody>
          <a:bodyPr wrap="none" rtlCol="0">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可以找出最佳的</a:t>
            </a:r>
            <a:r>
              <a:rPr kumimoji="1" lang="en-US" altLang="zh-TW" b="1" dirty="0">
                <a:solidFill>
                  <a:srgbClr val="FF0000"/>
                </a:solidFill>
                <a:latin typeface="Times New Roman" panose="02020603050405020304" pitchFamily="18" charset="0"/>
                <a:cs typeface="Times New Roman" panose="02020603050405020304" pitchFamily="18" charset="0"/>
              </a:rPr>
              <a:t>t</a:t>
            </a:r>
            <a:r>
              <a:rPr kumimoji="1" lang="zh-TW" altLang="en-US" b="1" dirty="0">
                <a:solidFill>
                  <a:srgbClr val="FF0000"/>
                </a:solidFill>
                <a:latin typeface="Times New Roman" panose="02020603050405020304" pitchFamily="18" charset="0"/>
                <a:cs typeface="Times New Roman" panose="02020603050405020304" pitchFamily="18" charset="0"/>
              </a:rPr>
              <a:t>和</a:t>
            </a:r>
            <a:r>
              <a:rPr kumimoji="1" lang="en-US" altLang="zh-TW" b="1" dirty="0">
                <a:solidFill>
                  <a:srgbClr val="FF0000"/>
                </a:solidFill>
                <a:latin typeface="Times New Roman" panose="02020603050405020304" pitchFamily="18" charset="0"/>
                <a:cs typeface="Times New Roman" panose="02020603050405020304" pitchFamily="18" charset="0"/>
              </a:rPr>
              <a:t>w</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25" name="直線接點 24">
            <a:extLst>
              <a:ext uri="{FF2B5EF4-FFF2-40B4-BE49-F238E27FC236}">
                <a16:creationId xmlns:a16="http://schemas.microsoft.com/office/drawing/2014/main" id="{6832ECB4-CBFD-DF00-8F66-ACB51B2E7AF7}"/>
              </a:ext>
            </a:extLst>
          </p:cNvPr>
          <p:cNvCxnSpPr>
            <a:cxnSpLocks/>
          </p:cNvCxnSpPr>
          <p:nvPr/>
        </p:nvCxnSpPr>
        <p:spPr>
          <a:xfrm>
            <a:off x="4697144" y="4924872"/>
            <a:ext cx="1852512"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7" name="直線接點 26">
            <a:extLst>
              <a:ext uri="{FF2B5EF4-FFF2-40B4-BE49-F238E27FC236}">
                <a16:creationId xmlns:a16="http://schemas.microsoft.com/office/drawing/2014/main" id="{9A8974E8-F196-F4EE-23F9-CE9DB88C5288}"/>
              </a:ext>
            </a:extLst>
          </p:cNvPr>
          <p:cNvCxnSpPr>
            <a:cxnSpLocks/>
          </p:cNvCxnSpPr>
          <p:nvPr/>
        </p:nvCxnSpPr>
        <p:spPr>
          <a:xfrm>
            <a:off x="2170139" y="5236760"/>
            <a:ext cx="1150885"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29" name="圖片 28">
            <a:extLst>
              <a:ext uri="{FF2B5EF4-FFF2-40B4-BE49-F238E27FC236}">
                <a16:creationId xmlns:a16="http://schemas.microsoft.com/office/drawing/2014/main" id="{F0944B22-5FAB-3A64-3448-2548D86A22C0}"/>
              </a:ext>
            </a:extLst>
          </p:cNvPr>
          <p:cNvPicPr>
            <a:picLocks noChangeAspect="1"/>
          </p:cNvPicPr>
          <p:nvPr/>
        </p:nvPicPr>
        <p:blipFill>
          <a:blip r:embed="rId4"/>
          <a:stretch>
            <a:fillRect/>
          </a:stretch>
        </p:blipFill>
        <p:spPr>
          <a:xfrm>
            <a:off x="336000" y="5675645"/>
            <a:ext cx="11520000" cy="623156"/>
          </a:xfrm>
          <a:prstGeom prst="rect">
            <a:avLst/>
          </a:prstGeom>
        </p:spPr>
      </p:pic>
      <p:cxnSp>
        <p:nvCxnSpPr>
          <p:cNvPr id="30" name="直線接點 29">
            <a:extLst>
              <a:ext uri="{FF2B5EF4-FFF2-40B4-BE49-F238E27FC236}">
                <a16:creationId xmlns:a16="http://schemas.microsoft.com/office/drawing/2014/main" id="{D35368CD-FB16-9595-74DD-5928A3DAB4E1}"/>
              </a:ext>
            </a:extLst>
          </p:cNvPr>
          <p:cNvCxnSpPr>
            <a:cxnSpLocks/>
          </p:cNvCxnSpPr>
          <p:nvPr/>
        </p:nvCxnSpPr>
        <p:spPr>
          <a:xfrm>
            <a:off x="3605535" y="5987223"/>
            <a:ext cx="1742642"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33" name="文字方塊 32">
            <a:extLst>
              <a:ext uri="{FF2B5EF4-FFF2-40B4-BE49-F238E27FC236}">
                <a16:creationId xmlns:a16="http://schemas.microsoft.com/office/drawing/2014/main" id="{DBBB550A-FB9E-0C95-7038-7A63E4B3DB95}"/>
              </a:ext>
            </a:extLst>
          </p:cNvPr>
          <p:cNvSpPr txBox="1"/>
          <p:nvPr/>
        </p:nvSpPr>
        <p:spPr>
          <a:xfrm>
            <a:off x="336000" y="6245587"/>
            <a:ext cx="7601175" cy="369332"/>
          </a:xfrm>
          <a:prstGeom prst="rect">
            <a:avLst/>
          </a:prstGeom>
          <a:noFill/>
        </p:spPr>
        <p:txBody>
          <a:bodyPr wrap="square">
            <a:spAutoFit/>
          </a:bodyPr>
          <a:lstStyle/>
          <a:p>
            <a:r>
              <a:rPr lang="en-US" altLang="zh-TW" b="1" dirty="0">
                <a:solidFill>
                  <a:srgbClr val="FF0000"/>
                </a:solidFill>
                <a:effectLst/>
                <a:latin typeface="Times New Roman" panose="02020603050405020304" pitchFamily="18" charset="0"/>
                <a:cs typeface="Times New Roman" panose="02020603050405020304" pitchFamily="18" charset="0"/>
              </a:rPr>
              <a:t>a guarantee for worst case parameters of locally strong non-repetitiveness</a:t>
            </a:r>
          </a:p>
        </p:txBody>
      </p:sp>
    </p:spTree>
    <p:extLst>
      <p:ext uri="{BB962C8B-B14F-4D97-AF65-F5344CB8AC3E}">
        <p14:creationId xmlns:p14="http://schemas.microsoft.com/office/powerpoint/2010/main" val="344829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530C6CB7-C50F-AC05-C99F-90551DFA5159}"/>
              </a:ext>
            </a:extLst>
          </p:cNvPr>
          <p:cNvPicPr>
            <a:picLocks noChangeAspect="1"/>
          </p:cNvPicPr>
          <p:nvPr/>
        </p:nvPicPr>
        <p:blipFill rotWithShape="1">
          <a:blip r:embed="rId2"/>
          <a:srcRect l="9573" t="28538"/>
          <a:stretch/>
        </p:blipFill>
        <p:spPr>
          <a:xfrm>
            <a:off x="2423148" y="4090225"/>
            <a:ext cx="6712688" cy="993058"/>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Embedding Strings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8" name="圖片 7">
            <a:extLst>
              <a:ext uri="{FF2B5EF4-FFF2-40B4-BE49-F238E27FC236}">
                <a16:creationId xmlns:a16="http://schemas.microsoft.com/office/drawing/2014/main" id="{5ECEBD5D-BEB8-41A2-546E-BBF42D9C17F7}"/>
              </a:ext>
            </a:extLst>
          </p:cNvPr>
          <p:cNvPicPr>
            <a:picLocks noChangeAspect="1"/>
          </p:cNvPicPr>
          <p:nvPr/>
        </p:nvPicPr>
        <p:blipFill>
          <a:blip r:embed="rId3"/>
          <a:stretch>
            <a:fillRect/>
          </a:stretch>
        </p:blipFill>
        <p:spPr>
          <a:xfrm>
            <a:off x="264041" y="1790053"/>
            <a:ext cx="11520000" cy="613391"/>
          </a:xfrm>
          <a:prstGeom prst="rect">
            <a:avLst/>
          </a:prstGeom>
        </p:spPr>
      </p:pic>
      <p:pic>
        <p:nvPicPr>
          <p:cNvPr id="9" name="圖片 8">
            <a:extLst>
              <a:ext uri="{FF2B5EF4-FFF2-40B4-BE49-F238E27FC236}">
                <a16:creationId xmlns:a16="http://schemas.microsoft.com/office/drawing/2014/main" id="{87DA41EA-389F-46D1-F838-79B8477748D2}"/>
              </a:ext>
            </a:extLst>
          </p:cNvPr>
          <p:cNvPicPr>
            <a:picLocks noChangeAspect="1"/>
          </p:cNvPicPr>
          <p:nvPr/>
        </p:nvPicPr>
        <p:blipFill>
          <a:blip r:embed="rId4"/>
          <a:stretch>
            <a:fillRect/>
          </a:stretch>
        </p:blipFill>
        <p:spPr>
          <a:xfrm>
            <a:off x="264041" y="2657197"/>
            <a:ext cx="11520000" cy="619534"/>
          </a:xfrm>
          <a:prstGeom prst="rect">
            <a:avLst/>
          </a:prstGeom>
        </p:spPr>
      </p:pic>
      <p:pic>
        <p:nvPicPr>
          <p:cNvPr id="10" name="圖片 9">
            <a:extLst>
              <a:ext uri="{FF2B5EF4-FFF2-40B4-BE49-F238E27FC236}">
                <a16:creationId xmlns:a16="http://schemas.microsoft.com/office/drawing/2014/main" id="{3BA204CE-4916-65F6-AF9A-35EF631377F2}"/>
              </a:ext>
            </a:extLst>
          </p:cNvPr>
          <p:cNvPicPr>
            <a:picLocks noChangeAspect="1"/>
          </p:cNvPicPr>
          <p:nvPr/>
        </p:nvPicPr>
        <p:blipFill rotWithShape="1">
          <a:blip r:embed="rId2"/>
          <a:srcRect b="72711"/>
          <a:stretch/>
        </p:blipFill>
        <p:spPr>
          <a:xfrm>
            <a:off x="264041" y="3530484"/>
            <a:ext cx="7423298" cy="379208"/>
          </a:xfrm>
          <a:prstGeom prst="rect">
            <a:avLst/>
          </a:prstGeom>
        </p:spPr>
      </p:pic>
      <p:pic>
        <p:nvPicPr>
          <p:cNvPr id="11" name="圖片 10">
            <a:extLst>
              <a:ext uri="{FF2B5EF4-FFF2-40B4-BE49-F238E27FC236}">
                <a16:creationId xmlns:a16="http://schemas.microsoft.com/office/drawing/2014/main" id="{F25DCC54-D003-3600-46C9-0933B713C5CD}"/>
              </a:ext>
            </a:extLst>
          </p:cNvPr>
          <p:cNvPicPr>
            <a:picLocks noChangeAspect="1"/>
          </p:cNvPicPr>
          <p:nvPr/>
        </p:nvPicPr>
        <p:blipFill>
          <a:blip r:embed="rId5"/>
          <a:stretch>
            <a:fillRect/>
          </a:stretch>
        </p:blipFill>
        <p:spPr>
          <a:xfrm>
            <a:off x="264041" y="5343656"/>
            <a:ext cx="11520000" cy="740510"/>
          </a:xfrm>
          <a:prstGeom prst="rect">
            <a:avLst/>
          </a:prstGeom>
        </p:spPr>
      </p:pic>
      <p:cxnSp>
        <p:nvCxnSpPr>
          <p:cNvPr id="19" name="直線接點 18">
            <a:extLst>
              <a:ext uri="{FF2B5EF4-FFF2-40B4-BE49-F238E27FC236}">
                <a16:creationId xmlns:a16="http://schemas.microsoft.com/office/drawing/2014/main" id="{9D0945E6-46EC-FA31-E49F-A7BE0F58041E}"/>
              </a:ext>
            </a:extLst>
          </p:cNvPr>
          <p:cNvCxnSpPr>
            <a:cxnSpLocks/>
          </p:cNvCxnSpPr>
          <p:nvPr/>
        </p:nvCxnSpPr>
        <p:spPr>
          <a:xfrm>
            <a:off x="7974440" y="2149773"/>
            <a:ext cx="1150763"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線接點 20">
            <a:extLst>
              <a:ext uri="{FF2B5EF4-FFF2-40B4-BE49-F238E27FC236}">
                <a16:creationId xmlns:a16="http://schemas.microsoft.com/office/drawing/2014/main" id="{7AAA8903-2E67-AA8B-0530-8A33866DA775}"/>
              </a:ext>
            </a:extLst>
          </p:cNvPr>
          <p:cNvCxnSpPr>
            <a:cxnSpLocks/>
          </p:cNvCxnSpPr>
          <p:nvPr/>
        </p:nvCxnSpPr>
        <p:spPr>
          <a:xfrm>
            <a:off x="10665177" y="2149773"/>
            <a:ext cx="956211"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3" name="直線接點 22">
            <a:extLst>
              <a:ext uri="{FF2B5EF4-FFF2-40B4-BE49-F238E27FC236}">
                <a16:creationId xmlns:a16="http://schemas.microsoft.com/office/drawing/2014/main" id="{1DF94B85-310D-5EC5-BED4-080BF472E595}"/>
              </a:ext>
            </a:extLst>
          </p:cNvPr>
          <p:cNvCxnSpPr>
            <a:cxnSpLocks/>
          </p:cNvCxnSpPr>
          <p:nvPr/>
        </p:nvCxnSpPr>
        <p:spPr>
          <a:xfrm>
            <a:off x="3693763" y="2403444"/>
            <a:ext cx="1718209"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5" name="直線接點 24">
            <a:extLst>
              <a:ext uri="{FF2B5EF4-FFF2-40B4-BE49-F238E27FC236}">
                <a16:creationId xmlns:a16="http://schemas.microsoft.com/office/drawing/2014/main" id="{E0BD35CF-B323-F11D-6413-0CC380EFC36E}"/>
              </a:ext>
            </a:extLst>
          </p:cNvPr>
          <p:cNvCxnSpPr>
            <a:cxnSpLocks/>
          </p:cNvCxnSpPr>
          <p:nvPr/>
        </p:nvCxnSpPr>
        <p:spPr>
          <a:xfrm>
            <a:off x="7610088" y="6003134"/>
            <a:ext cx="1718209"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0441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0" y="-37301"/>
            <a:ext cx="3725637" cy="1325563"/>
          </a:xfrm>
        </p:spPr>
        <p:txBody>
          <a:bodyPr/>
          <a:lstStyle/>
          <a:p>
            <a:pPr algn="ctr"/>
            <a:r>
              <a:rPr kumimoji="1" lang="en-US" altLang="zh-TW" dirty="0"/>
              <a:t>Approx1 LCS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4" name="圖片 3">
            <a:extLst>
              <a:ext uri="{FF2B5EF4-FFF2-40B4-BE49-F238E27FC236}">
                <a16:creationId xmlns:a16="http://schemas.microsoft.com/office/drawing/2014/main" id="{5EB5DCB4-ECD1-1F71-FFBE-480A26F71D96}"/>
              </a:ext>
            </a:extLst>
          </p:cNvPr>
          <p:cNvPicPr>
            <a:picLocks noChangeAspect="1"/>
          </p:cNvPicPr>
          <p:nvPr/>
        </p:nvPicPr>
        <p:blipFill>
          <a:blip r:embed="rId2"/>
          <a:stretch>
            <a:fillRect/>
          </a:stretch>
        </p:blipFill>
        <p:spPr>
          <a:xfrm>
            <a:off x="336000" y="4036690"/>
            <a:ext cx="6710916" cy="435121"/>
          </a:xfrm>
          <a:prstGeom prst="rect">
            <a:avLst/>
          </a:prstGeom>
        </p:spPr>
      </p:pic>
      <p:pic>
        <p:nvPicPr>
          <p:cNvPr id="5" name="圖片 4">
            <a:extLst>
              <a:ext uri="{FF2B5EF4-FFF2-40B4-BE49-F238E27FC236}">
                <a16:creationId xmlns:a16="http://schemas.microsoft.com/office/drawing/2014/main" id="{1694D32E-DE6F-DE11-A207-8B8EBB2ECC78}"/>
              </a:ext>
            </a:extLst>
          </p:cNvPr>
          <p:cNvPicPr>
            <a:picLocks noChangeAspect="1"/>
          </p:cNvPicPr>
          <p:nvPr/>
        </p:nvPicPr>
        <p:blipFill>
          <a:blip r:embed="rId3"/>
          <a:stretch>
            <a:fillRect/>
          </a:stretch>
        </p:blipFill>
        <p:spPr>
          <a:xfrm>
            <a:off x="336000" y="4596065"/>
            <a:ext cx="11520000" cy="416071"/>
          </a:xfrm>
          <a:prstGeom prst="rect">
            <a:avLst/>
          </a:prstGeom>
        </p:spPr>
      </p:pic>
      <p:pic>
        <p:nvPicPr>
          <p:cNvPr id="7" name="圖片 6">
            <a:extLst>
              <a:ext uri="{FF2B5EF4-FFF2-40B4-BE49-F238E27FC236}">
                <a16:creationId xmlns:a16="http://schemas.microsoft.com/office/drawing/2014/main" id="{8D51F25F-9B92-B1D8-3AE5-AC33417C0C6D}"/>
              </a:ext>
            </a:extLst>
          </p:cNvPr>
          <p:cNvPicPr>
            <a:picLocks noChangeAspect="1"/>
          </p:cNvPicPr>
          <p:nvPr/>
        </p:nvPicPr>
        <p:blipFill>
          <a:blip r:embed="rId4"/>
          <a:stretch>
            <a:fillRect/>
          </a:stretch>
        </p:blipFill>
        <p:spPr>
          <a:xfrm>
            <a:off x="336000" y="5136390"/>
            <a:ext cx="7348869" cy="433348"/>
          </a:xfrm>
          <a:prstGeom prst="rect">
            <a:avLst/>
          </a:prstGeom>
        </p:spPr>
      </p:pic>
      <p:pic>
        <p:nvPicPr>
          <p:cNvPr id="8" name="圖片 7">
            <a:extLst>
              <a:ext uri="{FF2B5EF4-FFF2-40B4-BE49-F238E27FC236}">
                <a16:creationId xmlns:a16="http://schemas.microsoft.com/office/drawing/2014/main" id="{F01F1473-D57E-D944-230C-23C2DB7A9137}"/>
              </a:ext>
            </a:extLst>
          </p:cNvPr>
          <p:cNvPicPr>
            <a:picLocks noChangeAspect="1"/>
          </p:cNvPicPr>
          <p:nvPr/>
        </p:nvPicPr>
        <p:blipFill>
          <a:blip r:embed="rId5"/>
          <a:stretch>
            <a:fillRect/>
          </a:stretch>
        </p:blipFill>
        <p:spPr>
          <a:xfrm>
            <a:off x="336000" y="5693993"/>
            <a:ext cx="11520000" cy="662357"/>
          </a:xfrm>
          <a:prstGeom prst="rect">
            <a:avLst/>
          </a:prstGeom>
        </p:spPr>
      </p:pic>
      <p:pic>
        <p:nvPicPr>
          <p:cNvPr id="11" name="圖片 10">
            <a:extLst>
              <a:ext uri="{FF2B5EF4-FFF2-40B4-BE49-F238E27FC236}">
                <a16:creationId xmlns:a16="http://schemas.microsoft.com/office/drawing/2014/main" id="{8E902CBD-B7C5-BF32-87C0-3E9B067660FA}"/>
              </a:ext>
            </a:extLst>
          </p:cNvPr>
          <p:cNvPicPr>
            <a:picLocks noChangeAspect="1"/>
          </p:cNvPicPr>
          <p:nvPr/>
        </p:nvPicPr>
        <p:blipFill>
          <a:blip r:embed="rId6"/>
          <a:stretch>
            <a:fillRect/>
          </a:stretch>
        </p:blipFill>
        <p:spPr>
          <a:xfrm>
            <a:off x="3594880" y="313705"/>
            <a:ext cx="8311815" cy="3555002"/>
          </a:xfrm>
          <a:prstGeom prst="rect">
            <a:avLst/>
          </a:prstGeom>
        </p:spPr>
      </p:pic>
      <p:cxnSp>
        <p:nvCxnSpPr>
          <p:cNvPr id="12" name="直線接點 11">
            <a:extLst>
              <a:ext uri="{FF2B5EF4-FFF2-40B4-BE49-F238E27FC236}">
                <a16:creationId xmlns:a16="http://schemas.microsoft.com/office/drawing/2014/main" id="{E6D5A705-8CD9-5CC0-BD78-B7F6140251DD}"/>
              </a:ext>
            </a:extLst>
          </p:cNvPr>
          <p:cNvCxnSpPr>
            <a:cxnSpLocks/>
          </p:cNvCxnSpPr>
          <p:nvPr/>
        </p:nvCxnSpPr>
        <p:spPr>
          <a:xfrm>
            <a:off x="4377791" y="4386985"/>
            <a:ext cx="1895418"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線接點 13">
            <a:extLst>
              <a:ext uri="{FF2B5EF4-FFF2-40B4-BE49-F238E27FC236}">
                <a16:creationId xmlns:a16="http://schemas.microsoft.com/office/drawing/2014/main" id="{B8E8246B-64E8-53CF-9BC5-C56BCFA79F8B}"/>
              </a:ext>
            </a:extLst>
          </p:cNvPr>
          <p:cNvCxnSpPr>
            <a:cxnSpLocks/>
          </p:cNvCxnSpPr>
          <p:nvPr/>
        </p:nvCxnSpPr>
        <p:spPr>
          <a:xfrm>
            <a:off x="9304209" y="5012136"/>
            <a:ext cx="2380972"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aphicFrame>
        <p:nvGraphicFramePr>
          <p:cNvPr id="16" name="表格 16">
            <a:extLst>
              <a:ext uri="{FF2B5EF4-FFF2-40B4-BE49-F238E27FC236}">
                <a16:creationId xmlns:a16="http://schemas.microsoft.com/office/drawing/2014/main" id="{1806956F-CDE1-9676-0071-E3723C4026FC}"/>
              </a:ext>
            </a:extLst>
          </p:cNvPr>
          <p:cNvGraphicFramePr>
            <a:graphicFrameLocks noGrp="1"/>
          </p:cNvGraphicFramePr>
          <p:nvPr>
            <p:extLst>
              <p:ext uri="{D42A27DB-BD31-4B8C-83A1-F6EECF244321}">
                <p14:modId xmlns:p14="http://schemas.microsoft.com/office/powerpoint/2010/main" val="299577538"/>
              </p:ext>
            </p:extLst>
          </p:nvPr>
        </p:nvGraphicFramePr>
        <p:xfrm>
          <a:off x="194098" y="1270825"/>
          <a:ext cx="3337440" cy="370840"/>
        </p:xfrm>
        <a:graphic>
          <a:graphicData uri="http://schemas.openxmlformats.org/drawingml/2006/table">
            <a:tbl>
              <a:tblPr firstRow="1" bandRow="1">
                <a:tableStyleId>{5940675A-B579-460E-94D1-54222C63F5DA}</a:tableStyleId>
              </a:tblPr>
              <a:tblGrid>
                <a:gridCol w="667488">
                  <a:extLst>
                    <a:ext uri="{9D8B030D-6E8A-4147-A177-3AD203B41FA5}">
                      <a16:colId xmlns:a16="http://schemas.microsoft.com/office/drawing/2014/main" val="652002243"/>
                    </a:ext>
                  </a:extLst>
                </a:gridCol>
                <a:gridCol w="667488">
                  <a:extLst>
                    <a:ext uri="{9D8B030D-6E8A-4147-A177-3AD203B41FA5}">
                      <a16:colId xmlns:a16="http://schemas.microsoft.com/office/drawing/2014/main" val="3899796348"/>
                    </a:ext>
                  </a:extLst>
                </a:gridCol>
                <a:gridCol w="667488">
                  <a:extLst>
                    <a:ext uri="{9D8B030D-6E8A-4147-A177-3AD203B41FA5}">
                      <a16:colId xmlns:a16="http://schemas.microsoft.com/office/drawing/2014/main" val="2895178260"/>
                    </a:ext>
                  </a:extLst>
                </a:gridCol>
                <a:gridCol w="667488">
                  <a:extLst>
                    <a:ext uri="{9D8B030D-6E8A-4147-A177-3AD203B41FA5}">
                      <a16:colId xmlns:a16="http://schemas.microsoft.com/office/drawing/2014/main" val="2143663854"/>
                    </a:ext>
                  </a:extLst>
                </a:gridCol>
                <a:gridCol w="667488">
                  <a:extLst>
                    <a:ext uri="{9D8B030D-6E8A-4147-A177-3AD203B41FA5}">
                      <a16:colId xmlns:a16="http://schemas.microsoft.com/office/drawing/2014/main" val="2586513773"/>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n/c-1</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n/c</a:t>
                      </a:r>
                      <a:endParaRPr lang="zh-TW"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9234136"/>
                  </a:ext>
                </a:extLst>
              </a:tr>
            </a:tbl>
          </a:graphicData>
        </a:graphic>
      </p:graphicFrame>
      <p:graphicFrame>
        <p:nvGraphicFramePr>
          <p:cNvPr id="18" name="表格 16">
            <a:extLst>
              <a:ext uri="{FF2B5EF4-FFF2-40B4-BE49-F238E27FC236}">
                <a16:creationId xmlns:a16="http://schemas.microsoft.com/office/drawing/2014/main" id="{5F6505C9-C68A-FDB5-E98F-1548A802B445}"/>
              </a:ext>
            </a:extLst>
          </p:cNvPr>
          <p:cNvGraphicFramePr>
            <a:graphicFrameLocks noGrp="1"/>
          </p:cNvGraphicFramePr>
          <p:nvPr>
            <p:extLst>
              <p:ext uri="{D42A27DB-BD31-4B8C-83A1-F6EECF244321}">
                <p14:modId xmlns:p14="http://schemas.microsoft.com/office/powerpoint/2010/main" val="4048977257"/>
              </p:ext>
            </p:extLst>
          </p:nvPr>
        </p:nvGraphicFramePr>
        <p:xfrm>
          <a:off x="194098" y="1970118"/>
          <a:ext cx="3337440" cy="370840"/>
        </p:xfrm>
        <a:graphic>
          <a:graphicData uri="http://schemas.openxmlformats.org/drawingml/2006/table">
            <a:tbl>
              <a:tblPr firstRow="1" bandRow="1">
                <a:tableStyleId>{5940675A-B579-460E-94D1-54222C63F5DA}</a:tableStyleId>
              </a:tblPr>
              <a:tblGrid>
                <a:gridCol w="667488">
                  <a:extLst>
                    <a:ext uri="{9D8B030D-6E8A-4147-A177-3AD203B41FA5}">
                      <a16:colId xmlns:a16="http://schemas.microsoft.com/office/drawing/2014/main" val="652002243"/>
                    </a:ext>
                  </a:extLst>
                </a:gridCol>
                <a:gridCol w="667488">
                  <a:extLst>
                    <a:ext uri="{9D8B030D-6E8A-4147-A177-3AD203B41FA5}">
                      <a16:colId xmlns:a16="http://schemas.microsoft.com/office/drawing/2014/main" val="3899796348"/>
                    </a:ext>
                  </a:extLst>
                </a:gridCol>
                <a:gridCol w="667488">
                  <a:extLst>
                    <a:ext uri="{9D8B030D-6E8A-4147-A177-3AD203B41FA5}">
                      <a16:colId xmlns:a16="http://schemas.microsoft.com/office/drawing/2014/main" val="2895178260"/>
                    </a:ext>
                  </a:extLst>
                </a:gridCol>
                <a:gridCol w="667488">
                  <a:extLst>
                    <a:ext uri="{9D8B030D-6E8A-4147-A177-3AD203B41FA5}">
                      <a16:colId xmlns:a16="http://schemas.microsoft.com/office/drawing/2014/main" val="2143663854"/>
                    </a:ext>
                  </a:extLst>
                </a:gridCol>
                <a:gridCol w="667488">
                  <a:extLst>
                    <a:ext uri="{9D8B030D-6E8A-4147-A177-3AD203B41FA5}">
                      <a16:colId xmlns:a16="http://schemas.microsoft.com/office/drawing/2014/main" val="2586513773"/>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2</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n/c-1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n/c</a:t>
                      </a:r>
                      <a:endParaRPr lang="zh-TW"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9234136"/>
                  </a:ext>
                </a:extLst>
              </a:tr>
            </a:tbl>
          </a:graphicData>
        </a:graphic>
      </p:graphicFrame>
      <p:sp>
        <p:nvSpPr>
          <p:cNvPr id="20" name="文字方塊 19">
            <a:extLst>
              <a:ext uri="{FF2B5EF4-FFF2-40B4-BE49-F238E27FC236}">
                <a16:creationId xmlns:a16="http://schemas.microsoft.com/office/drawing/2014/main" id="{628A3FE8-2645-28D3-5480-6A8C6D621E9D}"/>
              </a:ext>
            </a:extLst>
          </p:cNvPr>
          <p:cNvSpPr txBox="1"/>
          <p:nvPr/>
        </p:nvSpPr>
        <p:spPr>
          <a:xfrm>
            <a:off x="256938" y="2550936"/>
            <a:ext cx="3081004" cy="646331"/>
          </a:xfrm>
          <a:prstGeom prst="rect">
            <a:avLst/>
          </a:prstGeom>
          <a:noFill/>
        </p:spPr>
        <p:txBody>
          <a:bodyPr wrap="square">
            <a:spAutoFit/>
          </a:bodyPr>
          <a:lstStyle/>
          <a:p>
            <a:pPr algn="ctr"/>
            <a:r>
              <a:rPr lang="zh-TW" altLang="en-US" b="1" dirty="0">
                <a:solidFill>
                  <a:srgbClr val="FF0000"/>
                </a:solidFill>
                <a:latin typeface="Times New Roman" panose="02020603050405020304" pitchFamily="18" charset="0"/>
                <a:cs typeface="Times New Roman" panose="02020603050405020304" pitchFamily="18" charset="0"/>
              </a:rPr>
              <a:t>從</a:t>
            </a:r>
            <a:r>
              <a:rPr lang="en-US" altLang="zh-TW" b="1" dirty="0">
                <a:solidFill>
                  <a:srgbClr val="FF0000"/>
                </a:solidFill>
                <a:latin typeface="Times New Roman" panose="02020603050405020304" pitchFamily="18" charset="0"/>
                <a:cs typeface="Times New Roman" panose="02020603050405020304" pitchFamily="18" charset="0"/>
              </a:rPr>
              <a:t>c</a:t>
            </a:r>
            <a:r>
              <a:rPr lang="en-US" altLang="zh-TW" b="1" baseline="30000" dirty="0">
                <a:solidFill>
                  <a:srgbClr val="FF0000"/>
                </a:solidFill>
                <a:latin typeface="Times New Roman" panose="02020603050405020304" pitchFamily="18" charset="0"/>
                <a:cs typeface="Times New Roman" panose="02020603050405020304" pitchFamily="18" charset="0"/>
              </a:rPr>
              <a:t>2</a:t>
            </a:r>
            <a:r>
              <a:rPr lang="en-US" altLang="zh-TW" b="1" dirty="0">
                <a:solidFill>
                  <a:srgbClr val="FF0000"/>
                </a:solidFill>
                <a:latin typeface="Times New Roman" panose="02020603050405020304" pitchFamily="18" charset="0"/>
                <a:cs typeface="Times New Roman" panose="02020603050405020304" pitchFamily="18" charset="0"/>
              </a:rPr>
              <a:t>pair</a:t>
            </a:r>
            <a:r>
              <a:rPr lang="zh-TW" altLang="en-US" b="1" dirty="0">
                <a:solidFill>
                  <a:srgbClr val="FF0000"/>
                </a:solidFill>
                <a:latin typeface="Times New Roman" panose="02020603050405020304" pitchFamily="18" charset="0"/>
                <a:cs typeface="Times New Roman" panose="02020603050405020304" pitchFamily="18" charset="0"/>
              </a:rPr>
              <a:t>中</a:t>
            </a:r>
            <a:endParaRPr lang="en-US" altLang="zh-TW" b="1" dirty="0">
              <a:solidFill>
                <a:srgbClr val="FF0000"/>
              </a:solidFill>
              <a:latin typeface="Times New Roman" panose="02020603050405020304" pitchFamily="18" charset="0"/>
              <a:cs typeface="Times New Roman" panose="02020603050405020304" pitchFamily="18" charset="0"/>
            </a:endParaRPr>
          </a:p>
          <a:p>
            <a:pPr algn="ctr"/>
            <a:r>
              <a:rPr lang="zh-TW" altLang="en-US" b="1" dirty="0">
                <a:solidFill>
                  <a:srgbClr val="FF0000"/>
                </a:solidFill>
                <a:latin typeface="Times New Roman" panose="02020603050405020304" pitchFamily="18" charset="0"/>
                <a:cs typeface="Times New Roman" panose="02020603050405020304" pitchFamily="18" charset="0"/>
              </a:rPr>
              <a:t>找到一個</a:t>
            </a:r>
            <a:r>
              <a:rPr lang="en-US" altLang="zh-TW" b="1" dirty="0">
                <a:solidFill>
                  <a:srgbClr val="FF0000"/>
                </a:solidFill>
                <a:latin typeface="Times New Roman" panose="02020603050405020304" pitchFamily="18" charset="0"/>
                <a:cs typeface="Times New Roman" panose="02020603050405020304" pitchFamily="18" charset="0"/>
              </a:rPr>
              <a:t>max LIS(</a:t>
            </a:r>
            <a:r>
              <a:rPr lang="en-US" altLang="zh-TW" b="1" dirty="0" err="1">
                <a:solidFill>
                  <a:srgbClr val="FF0000"/>
                </a:solidFill>
                <a:latin typeface="Times New Roman" panose="02020603050405020304" pitchFamily="18" charset="0"/>
                <a:cs typeface="Times New Roman" panose="02020603050405020304" pitchFamily="18" charset="0"/>
              </a:rPr>
              <a:t>A'</a:t>
            </a:r>
            <a:r>
              <a:rPr lang="en-US" altLang="zh-TW" b="1" baseline="-25000" dirty="0" err="1">
                <a:solidFill>
                  <a:srgbClr val="FF0000"/>
                </a:solidFill>
                <a:latin typeface="Times New Roman" panose="02020603050405020304" pitchFamily="18" charset="0"/>
                <a:cs typeface="Times New Roman" panose="02020603050405020304" pitchFamily="18" charset="0"/>
              </a:rPr>
              <a:t>i</a:t>
            </a:r>
            <a:r>
              <a:rPr lang="en-US" altLang="zh-TW" b="1" dirty="0">
                <a:solidFill>
                  <a:srgbClr val="FF0000"/>
                </a:solidFill>
                <a:latin typeface="Times New Roman" panose="02020603050405020304" pitchFamily="18" charset="0"/>
                <a:cs typeface="Times New Roman" panose="02020603050405020304" pitchFamily="18" charset="0"/>
              </a:rPr>
              <a:t>, </a:t>
            </a:r>
            <a:r>
              <a:rPr lang="en-US" altLang="zh-TW" b="1" dirty="0" err="1">
                <a:solidFill>
                  <a:srgbClr val="FF0000"/>
                </a:solidFill>
                <a:latin typeface="Times New Roman" panose="02020603050405020304" pitchFamily="18" charset="0"/>
                <a:cs typeface="Times New Roman" panose="02020603050405020304" pitchFamily="18" charset="0"/>
              </a:rPr>
              <a:t>B'</a:t>
            </a:r>
            <a:r>
              <a:rPr lang="en-US" altLang="zh-TW" b="1" baseline="-25000" dirty="0" err="1">
                <a:solidFill>
                  <a:srgbClr val="FF0000"/>
                </a:solidFill>
                <a:latin typeface="Times New Roman" panose="02020603050405020304" pitchFamily="18" charset="0"/>
                <a:cs typeface="Times New Roman" panose="02020603050405020304" pitchFamily="18" charset="0"/>
              </a:rPr>
              <a:t>i</a:t>
            </a:r>
            <a:r>
              <a:rPr lang="en-US" altLang="zh-TW" b="1" dirty="0">
                <a:solidFill>
                  <a:srgbClr val="FF0000"/>
                </a:solidFill>
                <a:latin typeface="Times New Roman" panose="02020603050405020304" pitchFamily="18" charset="0"/>
                <a:cs typeface="Times New Roman" panose="02020603050405020304" pitchFamily="18" charset="0"/>
              </a:rPr>
              <a:t>)</a:t>
            </a:r>
            <a:endParaRPr lang="zh-TW" altLang="en-US" b="1" dirty="0">
              <a:solidFill>
                <a:srgbClr val="FF0000"/>
              </a:solidFill>
              <a:latin typeface="Times New Roman" panose="02020603050405020304" pitchFamily="18" charset="0"/>
              <a:cs typeface="Times New Roman" panose="02020603050405020304" pitchFamily="18" charset="0"/>
            </a:endParaRPr>
          </a:p>
        </p:txBody>
      </p:sp>
      <p:cxnSp>
        <p:nvCxnSpPr>
          <p:cNvPr id="24" name="直線接點 23">
            <a:extLst>
              <a:ext uri="{FF2B5EF4-FFF2-40B4-BE49-F238E27FC236}">
                <a16:creationId xmlns:a16="http://schemas.microsoft.com/office/drawing/2014/main" id="{435AC712-DAA1-8126-3227-05299B7D2C53}"/>
              </a:ext>
            </a:extLst>
          </p:cNvPr>
          <p:cNvCxnSpPr/>
          <p:nvPr/>
        </p:nvCxnSpPr>
        <p:spPr>
          <a:xfrm flipH="1">
            <a:off x="946298" y="1641665"/>
            <a:ext cx="1403497" cy="328453"/>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直線接點 24">
            <a:extLst>
              <a:ext uri="{FF2B5EF4-FFF2-40B4-BE49-F238E27FC236}">
                <a16:creationId xmlns:a16="http://schemas.microsoft.com/office/drawing/2014/main" id="{1EED8F58-49DF-975C-D263-AA88CAED1D78}"/>
              </a:ext>
            </a:extLst>
          </p:cNvPr>
          <p:cNvCxnSpPr/>
          <p:nvPr/>
        </p:nvCxnSpPr>
        <p:spPr>
          <a:xfrm flipH="1">
            <a:off x="1160704" y="1654140"/>
            <a:ext cx="1403497" cy="328453"/>
          </a:xfrm>
          <a:prstGeom prst="line">
            <a:avLst/>
          </a:prstGeom>
        </p:spPr>
        <p:style>
          <a:lnRef idx="3">
            <a:schemeClr val="accent2"/>
          </a:lnRef>
          <a:fillRef idx="0">
            <a:schemeClr val="accent2"/>
          </a:fillRef>
          <a:effectRef idx="2">
            <a:schemeClr val="accent2"/>
          </a:effectRef>
          <a:fontRef idx="minor">
            <a:schemeClr val="tx1"/>
          </a:fontRef>
        </p:style>
      </p:cxnSp>
      <p:cxnSp>
        <p:nvCxnSpPr>
          <p:cNvPr id="26" name="直線接點 25">
            <a:extLst>
              <a:ext uri="{FF2B5EF4-FFF2-40B4-BE49-F238E27FC236}">
                <a16:creationId xmlns:a16="http://schemas.microsoft.com/office/drawing/2014/main" id="{AF766BD4-E760-DC6D-92F2-4000A0196AD8}"/>
              </a:ext>
            </a:extLst>
          </p:cNvPr>
          <p:cNvCxnSpPr/>
          <p:nvPr/>
        </p:nvCxnSpPr>
        <p:spPr>
          <a:xfrm flipH="1">
            <a:off x="1397839" y="1654140"/>
            <a:ext cx="1403497" cy="328453"/>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004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4" name="圖片 3">
            <a:extLst>
              <a:ext uri="{FF2B5EF4-FFF2-40B4-BE49-F238E27FC236}">
                <a16:creationId xmlns:a16="http://schemas.microsoft.com/office/drawing/2014/main" id="{887D81A1-9354-B591-4BB2-26AF0E5BA912}"/>
              </a:ext>
            </a:extLst>
          </p:cNvPr>
          <p:cNvPicPr>
            <a:picLocks noChangeAspect="1"/>
          </p:cNvPicPr>
          <p:nvPr/>
        </p:nvPicPr>
        <p:blipFill>
          <a:blip r:embed="rId2"/>
          <a:stretch>
            <a:fillRect/>
          </a:stretch>
        </p:blipFill>
        <p:spPr>
          <a:xfrm>
            <a:off x="3583563" y="344089"/>
            <a:ext cx="8410662" cy="5209400"/>
          </a:xfrm>
          <a:prstGeom prst="rect">
            <a:avLst/>
          </a:prstGeom>
        </p:spPr>
      </p:pic>
      <p:pic>
        <p:nvPicPr>
          <p:cNvPr id="13" name="圖片 12">
            <a:extLst>
              <a:ext uri="{FF2B5EF4-FFF2-40B4-BE49-F238E27FC236}">
                <a16:creationId xmlns:a16="http://schemas.microsoft.com/office/drawing/2014/main" id="{9DD7DB77-FA9B-CD18-F404-B3D60F018D38}"/>
              </a:ext>
            </a:extLst>
          </p:cNvPr>
          <p:cNvPicPr>
            <a:picLocks noChangeAspect="1"/>
          </p:cNvPicPr>
          <p:nvPr/>
        </p:nvPicPr>
        <p:blipFill>
          <a:blip r:embed="rId3"/>
          <a:stretch>
            <a:fillRect/>
          </a:stretch>
        </p:blipFill>
        <p:spPr>
          <a:xfrm>
            <a:off x="336000" y="5553489"/>
            <a:ext cx="8413643" cy="428999"/>
          </a:xfrm>
          <a:prstGeom prst="rect">
            <a:avLst/>
          </a:prstGeom>
        </p:spPr>
      </p:pic>
      <p:pic>
        <p:nvPicPr>
          <p:cNvPr id="14" name="圖片 13">
            <a:extLst>
              <a:ext uri="{FF2B5EF4-FFF2-40B4-BE49-F238E27FC236}">
                <a16:creationId xmlns:a16="http://schemas.microsoft.com/office/drawing/2014/main" id="{D710ABB4-4E59-63C3-B372-5F3A769E7138}"/>
              </a:ext>
            </a:extLst>
          </p:cNvPr>
          <p:cNvPicPr>
            <a:picLocks noChangeAspect="1"/>
          </p:cNvPicPr>
          <p:nvPr/>
        </p:nvPicPr>
        <p:blipFill>
          <a:blip r:embed="rId4"/>
          <a:stretch>
            <a:fillRect/>
          </a:stretch>
        </p:blipFill>
        <p:spPr>
          <a:xfrm>
            <a:off x="336000" y="6070869"/>
            <a:ext cx="11520000" cy="570961"/>
          </a:xfrm>
          <a:prstGeom prst="rect">
            <a:avLst/>
          </a:prstGeom>
        </p:spPr>
      </p:pic>
      <p:cxnSp>
        <p:nvCxnSpPr>
          <p:cNvPr id="15" name="直線接點 14">
            <a:extLst>
              <a:ext uri="{FF2B5EF4-FFF2-40B4-BE49-F238E27FC236}">
                <a16:creationId xmlns:a16="http://schemas.microsoft.com/office/drawing/2014/main" id="{A1694152-D0ED-C48B-40DF-E5C97AE69A33}"/>
              </a:ext>
            </a:extLst>
          </p:cNvPr>
          <p:cNvCxnSpPr>
            <a:cxnSpLocks/>
          </p:cNvCxnSpPr>
          <p:nvPr/>
        </p:nvCxnSpPr>
        <p:spPr>
          <a:xfrm>
            <a:off x="4941320" y="5932051"/>
            <a:ext cx="1735929"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aphicFrame>
        <p:nvGraphicFramePr>
          <p:cNvPr id="17" name="表格 16">
            <a:extLst>
              <a:ext uri="{FF2B5EF4-FFF2-40B4-BE49-F238E27FC236}">
                <a16:creationId xmlns:a16="http://schemas.microsoft.com/office/drawing/2014/main" id="{C59FB4D2-6316-1DD1-F759-427024E2B288}"/>
              </a:ext>
            </a:extLst>
          </p:cNvPr>
          <p:cNvGraphicFramePr>
            <a:graphicFrameLocks noGrp="1"/>
          </p:cNvGraphicFramePr>
          <p:nvPr>
            <p:extLst>
              <p:ext uri="{D42A27DB-BD31-4B8C-83A1-F6EECF244321}">
                <p14:modId xmlns:p14="http://schemas.microsoft.com/office/powerpoint/2010/main" val="866205487"/>
              </p:ext>
            </p:extLst>
          </p:nvPr>
        </p:nvGraphicFramePr>
        <p:xfrm>
          <a:off x="194098" y="1270825"/>
          <a:ext cx="3337440" cy="370840"/>
        </p:xfrm>
        <a:graphic>
          <a:graphicData uri="http://schemas.openxmlformats.org/drawingml/2006/table">
            <a:tbl>
              <a:tblPr firstRow="1" bandRow="1">
                <a:tableStyleId>{5940675A-B579-460E-94D1-54222C63F5DA}</a:tableStyleId>
              </a:tblPr>
              <a:tblGrid>
                <a:gridCol w="667488">
                  <a:extLst>
                    <a:ext uri="{9D8B030D-6E8A-4147-A177-3AD203B41FA5}">
                      <a16:colId xmlns:a16="http://schemas.microsoft.com/office/drawing/2014/main" val="652002243"/>
                    </a:ext>
                  </a:extLst>
                </a:gridCol>
                <a:gridCol w="667488">
                  <a:extLst>
                    <a:ext uri="{9D8B030D-6E8A-4147-A177-3AD203B41FA5}">
                      <a16:colId xmlns:a16="http://schemas.microsoft.com/office/drawing/2014/main" val="3899796348"/>
                    </a:ext>
                  </a:extLst>
                </a:gridCol>
                <a:gridCol w="667488">
                  <a:extLst>
                    <a:ext uri="{9D8B030D-6E8A-4147-A177-3AD203B41FA5}">
                      <a16:colId xmlns:a16="http://schemas.microsoft.com/office/drawing/2014/main" val="2895178260"/>
                    </a:ext>
                  </a:extLst>
                </a:gridCol>
                <a:gridCol w="667488">
                  <a:extLst>
                    <a:ext uri="{9D8B030D-6E8A-4147-A177-3AD203B41FA5}">
                      <a16:colId xmlns:a16="http://schemas.microsoft.com/office/drawing/2014/main" val="2143663854"/>
                    </a:ext>
                  </a:extLst>
                </a:gridCol>
                <a:gridCol w="667488">
                  <a:extLst>
                    <a:ext uri="{9D8B030D-6E8A-4147-A177-3AD203B41FA5}">
                      <a16:colId xmlns:a16="http://schemas.microsoft.com/office/drawing/2014/main" val="2586513773"/>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n/c-1</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n/c</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1229234136"/>
                  </a:ext>
                </a:extLst>
              </a:tr>
            </a:tbl>
          </a:graphicData>
        </a:graphic>
      </p:graphicFrame>
      <p:graphicFrame>
        <p:nvGraphicFramePr>
          <p:cNvPr id="18" name="表格 16">
            <a:extLst>
              <a:ext uri="{FF2B5EF4-FFF2-40B4-BE49-F238E27FC236}">
                <a16:creationId xmlns:a16="http://schemas.microsoft.com/office/drawing/2014/main" id="{46044B24-AEBB-E415-445A-59908C07BC30}"/>
              </a:ext>
            </a:extLst>
          </p:cNvPr>
          <p:cNvGraphicFramePr>
            <a:graphicFrameLocks noGrp="1"/>
          </p:cNvGraphicFramePr>
          <p:nvPr>
            <p:extLst>
              <p:ext uri="{D42A27DB-BD31-4B8C-83A1-F6EECF244321}">
                <p14:modId xmlns:p14="http://schemas.microsoft.com/office/powerpoint/2010/main" val="4017653028"/>
              </p:ext>
            </p:extLst>
          </p:nvPr>
        </p:nvGraphicFramePr>
        <p:xfrm>
          <a:off x="194098" y="1970118"/>
          <a:ext cx="3337440" cy="370840"/>
        </p:xfrm>
        <a:graphic>
          <a:graphicData uri="http://schemas.openxmlformats.org/drawingml/2006/table">
            <a:tbl>
              <a:tblPr firstRow="1" bandRow="1">
                <a:tableStyleId>{5940675A-B579-460E-94D1-54222C63F5DA}</a:tableStyleId>
              </a:tblPr>
              <a:tblGrid>
                <a:gridCol w="667488">
                  <a:extLst>
                    <a:ext uri="{9D8B030D-6E8A-4147-A177-3AD203B41FA5}">
                      <a16:colId xmlns:a16="http://schemas.microsoft.com/office/drawing/2014/main" val="652002243"/>
                    </a:ext>
                  </a:extLst>
                </a:gridCol>
                <a:gridCol w="667488">
                  <a:extLst>
                    <a:ext uri="{9D8B030D-6E8A-4147-A177-3AD203B41FA5}">
                      <a16:colId xmlns:a16="http://schemas.microsoft.com/office/drawing/2014/main" val="3899796348"/>
                    </a:ext>
                  </a:extLst>
                </a:gridCol>
                <a:gridCol w="667488">
                  <a:extLst>
                    <a:ext uri="{9D8B030D-6E8A-4147-A177-3AD203B41FA5}">
                      <a16:colId xmlns:a16="http://schemas.microsoft.com/office/drawing/2014/main" val="2895178260"/>
                    </a:ext>
                  </a:extLst>
                </a:gridCol>
                <a:gridCol w="667488">
                  <a:extLst>
                    <a:ext uri="{9D8B030D-6E8A-4147-A177-3AD203B41FA5}">
                      <a16:colId xmlns:a16="http://schemas.microsoft.com/office/drawing/2014/main" val="2143663854"/>
                    </a:ext>
                  </a:extLst>
                </a:gridCol>
                <a:gridCol w="667488">
                  <a:extLst>
                    <a:ext uri="{9D8B030D-6E8A-4147-A177-3AD203B41FA5}">
                      <a16:colId xmlns:a16="http://schemas.microsoft.com/office/drawing/2014/main" val="2586513773"/>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2</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n/c-1</a:t>
                      </a:r>
                      <a:endParaRPr lang="zh-TW" altLang="en-US"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n/c</a:t>
                      </a:r>
                      <a:endParaRPr lang="zh-TW" altLang="en-US" baseline="-25000"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1229234136"/>
                  </a:ext>
                </a:extLst>
              </a:tr>
            </a:tbl>
          </a:graphicData>
        </a:graphic>
      </p:graphicFrame>
      <p:cxnSp>
        <p:nvCxnSpPr>
          <p:cNvPr id="20" name="直線接點 19">
            <a:extLst>
              <a:ext uri="{FF2B5EF4-FFF2-40B4-BE49-F238E27FC236}">
                <a16:creationId xmlns:a16="http://schemas.microsoft.com/office/drawing/2014/main" id="{4A8E09BC-7DA7-7FF7-64FB-49BFCF46DEF2}"/>
              </a:ext>
            </a:extLst>
          </p:cNvPr>
          <p:cNvCxnSpPr>
            <a:cxnSpLocks/>
          </p:cNvCxnSpPr>
          <p:nvPr/>
        </p:nvCxnSpPr>
        <p:spPr>
          <a:xfrm>
            <a:off x="967564" y="1629190"/>
            <a:ext cx="0"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a:extLst>
              <a:ext uri="{FF2B5EF4-FFF2-40B4-BE49-F238E27FC236}">
                <a16:creationId xmlns:a16="http://schemas.microsoft.com/office/drawing/2014/main" id="{FD443361-78C7-382C-8C19-62663F909677}"/>
              </a:ext>
            </a:extLst>
          </p:cNvPr>
          <p:cNvCxnSpPr>
            <a:cxnSpLocks/>
          </p:cNvCxnSpPr>
          <p:nvPr/>
        </p:nvCxnSpPr>
        <p:spPr>
          <a:xfrm>
            <a:off x="1141230" y="1629190"/>
            <a:ext cx="0"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4" name="直線接點 23">
            <a:extLst>
              <a:ext uri="{FF2B5EF4-FFF2-40B4-BE49-F238E27FC236}">
                <a16:creationId xmlns:a16="http://schemas.microsoft.com/office/drawing/2014/main" id="{7B3F086A-0198-0EE0-E5C4-5A987217C114}"/>
              </a:ext>
            </a:extLst>
          </p:cNvPr>
          <p:cNvCxnSpPr>
            <a:cxnSpLocks/>
          </p:cNvCxnSpPr>
          <p:nvPr/>
        </p:nvCxnSpPr>
        <p:spPr>
          <a:xfrm>
            <a:off x="1332616" y="1629190"/>
            <a:ext cx="0"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直線接點 24">
            <a:extLst>
              <a:ext uri="{FF2B5EF4-FFF2-40B4-BE49-F238E27FC236}">
                <a16:creationId xmlns:a16="http://schemas.microsoft.com/office/drawing/2014/main" id="{6C84A452-0A40-9E38-18AD-CF3AE3EDAD1F}"/>
              </a:ext>
            </a:extLst>
          </p:cNvPr>
          <p:cNvCxnSpPr>
            <a:cxnSpLocks/>
          </p:cNvCxnSpPr>
          <p:nvPr/>
        </p:nvCxnSpPr>
        <p:spPr>
          <a:xfrm flipH="1">
            <a:off x="1658679" y="1629190"/>
            <a:ext cx="662764"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7" name="直線接點 26">
            <a:extLst>
              <a:ext uri="{FF2B5EF4-FFF2-40B4-BE49-F238E27FC236}">
                <a16:creationId xmlns:a16="http://schemas.microsoft.com/office/drawing/2014/main" id="{0FC55B60-53EE-85BA-DF77-F18FA73652FE}"/>
              </a:ext>
            </a:extLst>
          </p:cNvPr>
          <p:cNvCxnSpPr>
            <a:cxnSpLocks/>
          </p:cNvCxnSpPr>
          <p:nvPr/>
        </p:nvCxnSpPr>
        <p:spPr>
          <a:xfrm flipH="1">
            <a:off x="1900074" y="1629390"/>
            <a:ext cx="662764"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直線接點 27">
            <a:extLst>
              <a:ext uri="{FF2B5EF4-FFF2-40B4-BE49-F238E27FC236}">
                <a16:creationId xmlns:a16="http://schemas.microsoft.com/office/drawing/2014/main" id="{15F04728-CAD2-6775-A2D9-EA1E74F9E44F}"/>
              </a:ext>
            </a:extLst>
          </p:cNvPr>
          <p:cNvCxnSpPr>
            <a:cxnSpLocks/>
          </p:cNvCxnSpPr>
          <p:nvPr/>
        </p:nvCxnSpPr>
        <p:spPr>
          <a:xfrm flipH="1">
            <a:off x="2094563" y="1626185"/>
            <a:ext cx="662764"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線接點 28">
            <a:extLst>
              <a:ext uri="{FF2B5EF4-FFF2-40B4-BE49-F238E27FC236}">
                <a16:creationId xmlns:a16="http://schemas.microsoft.com/office/drawing/2014/main" id="{D9601B89-8ECB-5919-26D3-94A900FDD14F}"/>
              </a:ext>
            </a:extLst>
          </p:cNvPr>
          <p:cNvCxnSpPr>
            <a:cxnSpLocks/>
          </p:cNvCxnSpPr>
          <p:nvPr/>
        </p:nvCxnSpPr>
        <p:spPr>
          <a:xfrm>
            <a:off x="3024094" y="1621849"/>
            <a:ext cx="0"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30" name="直線接點 29">
            <a:extLst>
              <a:ext uri="{FF2B5EF4-FFF2-40B4-BE49-F238E27FC236}">
                <a16:creationId xmlns:a16="http://schemas.microsoft.com/office/drawing/2014/main" id="{8FA3B748-EF51-983D-165B-5ADBF6F677F3}"/>
              </a:ext>
            </a:extLst>
          </p:cNvPr>
          <p:cNvCxnSpPr>
            <a:cxnSpLocks/>
          </p:cNvCxnSpPr>
          <p:nvPr/>
        </p:nvCxnSpPr>
        <p:spPr>
          <a:xfrm>
            <a:off x="3197760" y="1621849"/>
            <a:ext cx="0" cy="340928"/>
          </a:xfrm>
          <a:prstGeom prst="line">
            <a:avLst/>
          </a:prstGeom>
        </p:spPr>
        <p:style>
          <a:lnRef idx="3">
            <a:schemeClr val="accent2"/>
          </a:lnRef>
          <a:fillRef idx="0">
            <a:schemeClr val="accent2"/>
          </a:fillRef>
          <a:effectRef idx="2">
            <a:schemeClr val="accent2"/>
          </a:effectRef>
          <a:fontRef idx="minor">
            <a:schemeClr val="tx1"/>
          </a:fontRef>
        </p:style>
      </p:cxnSp>
      <p:cxnSp>
        <p:nvCxnSpPr>
          <p:cNvPr id="31" name="直線接點 30">
            <a:extLst>
              <a:ext uri="{FF2B5EF4-FFF2-40B4-BE49-F238E27FC236}">
                <a16:creationId xmlns:a16="http://schemas.microsoft.com/office/drawing/2014/main" id="{E0D41651-593E-1B0E-65A5-BDFE75D1E625}"/>
              </a:ext>
            </a:extLst>
          </p:cNvPr>
          <p:cNvCxnSpPr>
            <a:cxnSpLocks/>
          </p:cNvCxnSpPr>
          <p:nvPr/>
        </p:nvCxnSpPr>
        <p:spPr>
          <a:xfrm>
            <a:off x="3389146" y="1621849"/>
            <a:ext cx="0" cy="340928"/>
          </a:xfrm>
          <a:prstGeom prst="line">
            <a:avLst/>
          </a:prstGeom>
        </p:spPr>
        <p:style>
          <a:lnRef idx="3">
            <a:schemeClr val="accent2"/>
          </a:lnRef>
          <a:fillRef idx="0">
            <a:schemeClr val="accent2"/>
          </a:fillRef>
          <a:effectRef idx="2">
            <a:schemeClr val="accent2"/>
          </a:effectRef>
          <a:fontRef idx="minor">
            <a:schemeClr val="tx1"/>
          </a:fontRef>
        </p:style>
      </p:cxnSp>
      <p:sp>
        <p:nvSpPr>
          <p:cNvPr id="34" name="標題 1">
            <a:extLst>
              <a:ext uri="{FF2B5EF4-FFF2-40B4-BE49-F238E27FC236}">
                <a16:creationId xmlns:a16="http://schemas.microsoft.com/office/drawing/2014/main" id="{EF7AED19-A014-6702-AE87-CA7B94CA13FC}"/>
              </a:ext>
            </a:extLst>
          </p:cNvPr>
          <p:cNvSpPr txBox="1">
            <a:spLocks/>
          </p:cNvSpPr>
          <p:nvPr/>
        </p:nvSpPr>
        <p:spPr>
          <a:xfrm>
            <a:off x="0" y="-37301"/>
            <a:ext cx="37256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ctr"/>
            <a:r>
              <a:rPr kumimoji="1" lang="en-US" altLang="zh-TW" dirty="0"/>
              <a:t>Approx2 LCS</a:t>
            </a:r>
            <a:endParaRPr kumimoji="1" lang="zh-TW" altLang="en-US" dirty="0"/>
          </a:p>
        </p:txBody>
      </p:sp>
      <p:sp>
        <p:nvSpPr>
          <p:cNvPr id="35" name="文字方塊 34">
            <a:extLst>
              <a:ext uri="{FF2B5EF4-FFF2-40B4-BE49-F238E27FC236}">
                <a16:creationId xmlns:a16="http://schemas.microsoft.com/office/drawing/2014/main" id="{2885ECC1-25D0-1A51-5F55-7D2B0445BE3A}"/>
              </a:ext>
            </a:extLst>
          </p:cNvPr>
          <p:cNvSpPr txBox="1"/>
          <p:nvPr/>
        </p:nvSpPr>
        <p:spPr>
          <a:xfrm>
            <a:off x="256938" y="2550936"/>
            <a:ext cx="3081004" cy="646331"/>
          </a:xfrm>
          <a:prstGeom prst="rect">
            <a:avLst/>
          </a:prstGeom>
          <a:noFill/>
        </p:spPr>
        <p:txBody>
          <a:bodyPr wrap="square">
            <a:spAutoFit/>
          </a:bodyPr>
          <a:lstStyle/>
          <a:p>
            <a:pPr algn="ctr"/>
            <a:r>
              <a:rPr lang="zh-TW" altLang="en-US" b="1" dirty="0">
                <a:solidFill>
                  <a:srgbClr val="FF0000"/>
                </a:solidFill>
                <a:latin typeface="Times New Roman" panose="02020603050405020304" pitchFamily="18" charset="0"/>
                <a:cs typeface="Times New Roman" panose="02020603050405020304" pitchFamily="18" charset="0"/>
              </a:rPr>
              <a:t>從</a:t>
            </a:r>
            <a:r>
              <a:rPr lang="en-US" altLang="zh-TW" b="1" dirty="0">
                <a:solidFill>
                  <a:srgbClr val="FF0000"/>
                </a:solidFill>
                <a:latin typeface="Times New Roman" panose="02020603050405020304" pitchFamily="18" charset="0"/>
                <a:cs typeface="Times New Roman" panose="02020603050405020304" pitchFamily="18" charset="0"/>
              </a:rPr>
              <a:t>c</a:t>
            </a:r>
            <a:r>
              <a:rPr lang="en-US" altLang="zh-TW" b="1" baseline="30000" dirty="0">
                <a:solidFill>
                  <a:srgbClr val="FF0000"/>
                </a:solidFill>
                <a:latin typeface="Times New Roman" panose="02020603050405020304" pitchFamily="18" charset="0"/>
                <a:cs typeface="Times New Roman" panose="02020603050405020304" pitchFamily="18" charset="0"/>
              </a:rPr>
              <a:t>2</a:t>
            </a:r>
            <a:r>
              <a:rPr lang="en-US" altLang="zh-TW" b="1" dirty="0">
                <a:solidFill>
                  <a:srgbClr val="FF0000"/>
                </a:solidFill>
                <a:latin typeface="Times New Roman" panose="02020603050405020304" pitchFamily="18" charset="0"/>
                <a:cs typeface="Times New Roman" panose="02020603050405020304" pitchFamily="18" charset="0"/>
              </a:rPr>
              <a:t>pair</a:t>
            </a:r>
            <a:r>
              <a:rPr lang="zh-TW" altLang="en-US" b="1" dirty="0">
                <a:solidFill>
                  <a:srgbClr val="FF0000"/>
                </a:solidFill>
                <a:latin typeface="Times New Roman" panose="02020603050405020304" pitchFamily="18" charset="0"/>
                <a:cs typeface="Times New Roman" panose="02020603050405020304" pitchFamily="18" charset="0"/>
              </a:rPr>
              <a:t>中</a:t>
            </a:r>
            <a:endParaRPr lang="en-US" altLang="zh-TW" b="1" dirty="0">
              <a:solidFill>
                <a:srgbClr val="FF0000"/>
              </a:solidFill>
              <a:latin typeface="Times New Roman" panose="02020603050405020304" pitchFamily="18" charset="0"/>
              <a:cs typeface="Times New Roman" panose="02020603050405020304" pitchFamily="18" charset="0"/>
            </a:endParaRPr>
          </a:p>
          <a:p>
            <a:pPr algn="ctr"/>
            <a:r>
              <a:rPr lang="zh-TW" altLang="en-US" b="1" dirty="0">
                <a:solidFill>
                  <a:srgbClr val="FF0000"/>
                </a:solidFill>
                <a:latin typeface="Times New Roman" panose="02020603050405020304" pitchFamily="18" charset="0"/>
                <a:cs typeface="Times New Roman" panose="02020603050405020304" pitchFamily="18" charset="0"/>
              </a:rPr>
              <a:t>串連出</a:t>
            </a:r>
            <a:r>
              <a:rPr lang="en-US" altLang="zh-TW" b="1" dirty="0">
                <a:solidFill>
                  <a:srgbClr val="FF0000"/>
                </a:solidFill>
                <a:latin typeface="Times New Roman" panose="02020603050405020304" pitchFamily="18" charset="0"/>
                <a:cs typeface="Times New Roman" panose="02020603050405020304" pitchFamily="18" charset="0"/>
              </a:rPr>
              <a:t>max LIS(</a:t>
            </a:r>
            <a:r>
              <a:rPr lang="en-US" altLang="zh-TW" b="1" dirty="0" err="1">
                <a:solidFill>
                  <a:srgbClr val="FF0000"/>
                </a:solidFill>
                <a:latin typeface="Times New Roman" panose="02020603050405020304" pitchFamily="18" charset="0"/>
                <a:cs typeface="Times New Roman" panose="02020603050405020304" pitchFamily="18" charset="0"/>
              </a:rPr>
              <a:t>A'</a:t>
            </a:r>
            <a:r>
              <a:rPr lang="en-US" altLang="zh-TW" b="1" baseline="-25000" dirty="0" err="1">
                <a:solidFill>
                  <a:srgbClr val="FF0000"/>
                </a:solidFill>
                <a:latin typeface="Times New Roman" panose="02020603050405020304" pitchFamily="18" charset="0"/>
                <a:cs typeface="Times New Roman" panose="02020603050405020304" pitchFamily="18" charset="0"/>
              </a:rPr>
              <a:t>i</a:t>
            </a:r>
            <a:r>
              <a:rPr lang="en-US" altLang="zh-TW" b="1" dirty="0">
                <a:solidFill>
                  <a:srgbClr val="FF0000"/>
                </a:solidFill>
                <a:latin typeface="Times New Roman" panose="02020603050405020304" pitchFamily="18" charset="0"/>
                <a:cs typeface="Times New Roman" panose="02020603050405020304" pitchFamily="18" charset="0"/>
              </a:rPr>
              <a:t>, </a:t>
            </a:r>
            <a:r>
              <a:rPr lang="en-US" altLang="zh-TW" b="1" dirty="0" err="1">
                <a:solidFill>
                  <a:srgbClr val="FF0000"/>
                </a:solidFill>
                <a:latin typeface="Times New Roman" panose="02020603050405020304" pitchFamily="18" charset="0"/>
                <a:cs typeface="Times New Roman" panose="02020603050405020304" pitchFamily="18" charset="0"/>
              </a:rPr>
              <a:t>B'</a:t>
            </a:r>
            <a:r>
              <a:rPr lang="en-US" altLang="zh-TW" b="1" baseline="-25000" dirty="0" err="1">
                <a:solidFill>
                  <a:srgbClr val="FF0000"/>
                </a:solidFill>
                <a:latin typeface="Times New Roman" panose="02020603050405020304" pitchFamily="18" charset="0"/>
                <a:cs typeface="Times New Roman" panose="02020603050405020304" pitchFamily="18" charset="0"/>
              </a:rPr>
              <a:t>i</a:t>
            </a:r>
            <a:r>
              <a:rPr lang="en-US" altLang="zh-TW" b="1" dirty="0">
                <a:solidFill>
                  <a:srgbClr val="FF0000"/>
                </a:solidFill>
                <a:latin typeface="Times New Roman" panose="02020603050405020304" pitchFamily="18" charset="0"/>
                <a:cs typeface="Times New Roman" panose="02020603050405020304" pitchFamily="18" charset="0"/>
              </a:rPr>
              <a:t>)</a:t>
            </a:r>
            <a:endParaRPr lang="zh-TW" alt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3988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lang="en-US" altLang="zh-TW" dirty="0"/>
              <a:t>Sketching Local Non-Repetitiveness</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EA860DC6-85B4-8663-C105-5F5CDD1D2EFA}"/>
              </a:ext>
            </a:extLst>
          </p:cNvPr>
          <p:cNvPicPr>
            <a:picLocks noChangeAspect="1"/>
          </p:cNvPicPr>
          <p:nvPr/>
        </p:nvPicPr>
        <p:blipFill>
          <a:blip r:embed="rId2"/>
          <a:stretch>
            <a:fillRect/>
          </a:stretch>
        </p:blipFill>
        <p:spPr>
          <a:xfrm>
            <a:off x="336000" y="1474882"/>
            <a:ext cx="11520000" cy="611606"/>
          </a:xfrm>
          <a:prstGeom prst="rect">
            <a:avLst/>
          </a:prstGeom>
        </p:spPr>
      </p:pic>
      <p:pic>
        <p:nvPicPr>
          <p:cNvPr id="5" name="圖片 4">
            <a:extLst>
              <a:ext uri="{FF2B5EF4-FFF2-40B4-BE49-F238E27FC236}">
                <a16:creationId xmlns:a16="http://schemas.microsoft.com/office/drawing/2014/main" id="{4C890998-0633-560F-C6C2-3B6DB9C5C3CE}"/>
              </a:ext>
            </a:extLst>
          </p:cNvPr>
          <p:cNvPicPr>
            <a:picLocks noChangeAspect="1"/>
          </p:cNvPicPr>
          <p:nvPr/>
        </p:nvPicPr>
        <p:blipFill>
          <a:blip r:embed="rId3"/>
          <a:stretch>
            <a:fillRect/>
          </a:stretch>
        </p:blipFill>
        <p:spPr>
          <a:xfrm>
            <a:off x="336000" y="2143833"/>
            <a:ext cx="11520000" cy="814460"/>
          </a:xfrm>
          <a:prstGeom prst="rect">
            <a:avLst/>
          </a:prstGeom>
        </p:spPr>
      </p:pic>
      <p:pic>
        <p:nvPicPr>
          <p:cNvPr id="7" name="圖片 6">
            <a:extLst>
              <a:ext uri="{FF2B5EF4-FFF2-40B4-BE49-F238E27FC236}">
                <a16:creationId xmlns:a16="http://schemas.microsoft.com/office/drawing/2014/main" id="{A55F59C7-27E4-56F3-FB84-4ACF5FF3F0D1}"/>
              </a:ext>
            </a:extLst>
          </p:cNvPr>
          <p:cNvPicPr>
            <a:picLocks noChangeAspect="1"/>
          </p:cNvPicPr>
          <p:nvPr/>
        </p:nvPicPr>
        <p:blipFill>
          <a:blip r:embed="rId4"/>
          <a:stretch>
            <a:fillRect/>
          </a:stretch>
        </p:blipFill>
        <p:spPr>
          <a:xfrm>
            <a:off x="336000" y="3015638"/>
            <a:ext cx="11520000" cy="997729"/>
          </a:xfrm>
          <a:prstGeom prst="rect">
            <a:avLst/>
          </a:prstGeom>
        </p:spPr>
      </p:pic>
      <p:pic>
        <p:nvPicPr>
          <p:cNvPr id="8" name="圖片 7">
            <a:extLst>
              <a:ext uri="{FF2B5EF4-FFF2-40B4-BE49-F238E27FC236}">
                <a16:creationId xmlns:a16="http://schemas.microsoft.com/office/drawing/2014/main" id="{1F6505A1-B725-DC67-6917-94D4DFB947C0}"/>
              </a:ext>
            </a:extLst>
          </p:cNvPr>
          <p:cNvPicPr>
            <a:picLocks noChangeAspect="1"/>
          </p:cNvPicPr>
          <p:nvPr/>
        </p:nvPicPr>
        <p:blipFill>
          <a:blip r:embed="rId5"/>
          <a:stretch>
            <a:fillRect/>
          </a:stretch>
        </p:blipFill>
        <p:spPr>
          <a:xfrm>
            <a:off x="336000" y="4070712"/>
            <a:ext cx="5607600" cy="666944"/>
          </a:xfrm>
          <a:prstGeom prst="rect">
            <a:avLst/>
          </a:prstGeom>
        </p:spPr>
      </p:pic>
      <p:pic>
        <p:nvPicPr>
          <p:cNvPr id="9" name="圖片 8">
            <a:extLst>
              <a:ext uri="{FF2B5EF4-FFF2-40B4-BE49-F238E27FC236}">
                <a16:creationId xmlns:a16="http://schemas.microsoft.com/office/drawing/2014/main" id="{C898E775-5348-958D-8B03-B31B10FD9FD3}"/>
              </a:ext>
            </a:extLst>
          </p:cNvPr>
          <p:cNvPicPr>
            <a:picLocks noChangeAspect="1"/>
          </p:cNvPicPr>
          <p:nvPr/>
        </p:nvPicPr>
        <p:blipFill>
          <a:blip r:embed="rId6"/>
          <a:stretch>
            <a:fillRect/>
          </a:stretch>
        </p:blipFill>
        <p:spPr>
          <a:xfrm>
            <a:off x="336000" y="4795001"/>
            <a:ext cx="6957935" cy="535913"/>
          </a:xfrm>
          <a:prstGeom prst="rect">
            <a:avLst/>
          </a:prstGeom>
        </p:spPr>
      </p:pic>
      <p:pic>
        <p:nvPicPr>
          <p:cNvPr id="10" name="圖片 9">
            <a:extLst>
              <a:ext uri="{FF2B5EF4-FFF2-40B4-BE49-F238E27FC236}">
                <a16:creationId xmlns:a16="http://schemas.microsoft.com/office/drawing/2014/main" id="{B9CF5FF8-7B95-E25D-4076-A0BEBE8C340E}"/>
              </a:ext>
            </a:extLst>
          </p:cNvPr>
          <p:cNvPicPr>
            <a:picLocks noChangeAspect="1"/>
          </p:cNvPicPr>
          <p:nvPr/>
        </p:nvPicPr>
        <p:blipFill>
          <a:blip r:embed="rId7"/>
          <a:stretch>
            <a:fillRect/>
          </a:stretch>
        </p:blipFill>
        <p:spPr>
          <a:xfrm>
            <a:off x="336000" y="5388259"/>
            <a:ext cx="8382698" cy="582867"/>
          </a:xfrm>
          <a:prstGeom prst="rect">
            <a:avLst/>
          </a:prstGeom>
        </p:spPr>
      </p:pic>
      <p:pic>
        <p:nvPicPr>
          <p:cNvPr id="13" name="圖片 12">
            <a:extLst>
              <a:ext uri="{FF2B5EF4-FFF2-40B4-BE49-F238E27FC236}">
                <a16:creationId xmlns:a16="http://schemas.microsoft.com/office/drawing/2014/main" id="{8A19176D-8866-8D3B-A702-1D6FE29A6516}"/>
              </a:ext>
            </a:extLst>
          </p:cNvPr>
          <p:cNvPicPr>
            <a:picLocks noChangeAspect="1"/>
          </p:cNvPicPr>
          <p:nvPr/>
        </p:nvPicPr>
        <p:blipFill>
          <a:blip r:embed="rId8"/>
          <a:stretch>
            <a:fillRect/>
          </a:stretch>
        </p:blipFill>
        <p:spPr>
          <a:xfrm>
            <a:off x="336000" y="6028472"/>
            <a:ext cx="11520000" cy="543685"/>
          </a:xfrm>
          <a:prstGeom prst="rect">
            <a:avLst/>
          </a:prstGeom>
        </p:spPr>
      </p:pic>
    </p:spTree>
    <p:extLst>
      <p:ext uri="{BB962C8B-B14F-4D97-AF65-F5344CB8AC3E}">
        <p14:creationId xmlns:p14="http://schemas.microsoft.com/office/powerpoint/2010/main" val="1065586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Complexity</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4" name="圖片 3">
            <a:extLst>
              <a:ext uri="{FF2B5EF4-FFF2-40B4-BE49-F238E27FC236}">
                <a16:creationId xmlns:a16="http://schemas.microsoft.com/office/drawing/2014/main" id="{A926BC23-58EB-4528-639B-1DEEB27068CC}"/>
              </a:ext>
            </a:extLst>
          </p:cNvPr>
          <p:cNvPicPr>
            <a:picLocks noChangeAspect="1"/>
          </p:cNvPicPr>
          <p:nvPr/>
        </p:nvPicPr>
        <p:blipFill>
          <a:blip r:embed="rId2"/>
          <a:stretch>
            <a:fillRect/>
          </a:stretch>
        </p:blipFill>
        <p:spPr>
          <a:xfrm>
            <a:off x="1197073" y="1396484"/>
            <a:ext cx="9797853" cy="4851730"/>
          </a:xfrm>
          <a:prstGeom prst="rect">
            <a:avLst/>
          </a:prstGeom>
        </p:spPr>
      </p:pic>
      <p:pic>
        <p:nvPicPr>
          <p:cNvPr id="5" name="圖片 4">
            <a:extLst>
              <a:ext uri="{FF2B5EF4-FFF2-40B4-BE49-F238E27FC236}">
                <a16:creationId xmlns:a16="http://schemas.microsoft.com/office/drawing/2014/main" id="{51E4AA77-A49C-5361-78D2-27DB90C2D997}"/>
              </a:ext>
            </a:extLst>
          </p:cNvPr>
          <p:cNvPicPr>
            <a:picLocks noChangeAspect="1"/>
          </p:cNvPicPr>
          <p:nvPr/>
        </p:nvPicPr>
        <p:blipFill rotWithShape="1">
          <a:blip r:embed="rId3"/>
          <a:srcRect t="7628"/>
          <a:stretch/>
        </p:blipFill>
        <p:spPr>
          <a:xfrm>
            <a:off x="7579241" y="854770"/>
            <a:ext cx="3188789" cy="541714"/>
          </a:xfrm>
          <a:prstGeom prst="rect">
            <a:avLst/>
          </a:prstGeom>
        </p:spPr>
      </p:pic>
    </p:spTree>
    <p:extLst>
      <p:ext uri="{BB962C8B-B14F-4D97-AF65-F5344CB8AC3E}">
        <p14:creationId xmlns:p14="http://schemas.microsoft.com/office/powerpoint/2010/main" val="775998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Sci Journal</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From </a:t>
            </a:r>
            <a:r>
              <a:rPr kumimoji="1" lang="en-US" altLang="zh-TW" dirty="0">
                <a:latin typeface="Times New Roman" panose="02020603050405020304" pitchFamily="18" charset="0"/>
                <a:cs typeface="Times New Roman" panose="02020603050405020304" pitchFamily="18" charset="0"/>
                <a:hlinkClick r:id="rId2"/>
              </a:rPr>
              <a:t>WOS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4" name="圖片 3">
            <a:extLst>
              <a:ext uri="{FF2B5EF4-FFF2-40B4-BE49-F238E27FC236}">
                <a16:creationId xmlns:a16="http://schemas.microsoft.com/office/drawing/2014/main" id="{3C6FE331-4E6F-A70A-4FF6-D09219321DB1}"/>
              </a:ext>
            </a:extLst>
          </p:cNvPr>
          <p:cNvPicPr>
            <a:picLocks noChangeAspect="1"/>
          </p:cNvPicPr>
          <p:nvPr/>
        </p:nvPicPr>
        <p:blipFill>
          <a:blip r:embed="rId3"/>
          <a:stretch>
            <a:fillRect/>
          </a:stretch>
        </p:blipFill>
        <p:spPr>
          <a:xfrm>
            <a:off x="660775" y="2565459"/>
            <a:ext cx="10870449" cy="3069797"/>
          </a:xfrm>
          <a:prstGeom prst="rect">
            <a:avLst/>
          </a:prstGeom>
        </p:spPr>
      </p:pic>
    </p:spTree>
    <p:extLst>
      <p:ext uri="{BB962C8B-B14F-4D97-AF65-F5344CB8AC3E}">
        <p14:creationId xmlns:p14="http://schemas.microsoft.com/office/powerpoint/2010/main" val="736690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spTree>
    <p:extLst>
      <p:ext uri="{BB962C8B-B14F-4D97-AF65-F5344CB8AC3E}">
        <p14:creationId xmlns:p14="http://schemas.microsoft.com/office/powerpoint/2010/main" val="22304637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1883</TotalTime>
  <Words>513</Words>
  <Application>Microsoft Macintosh PowerPoint</Application>
  <PresentationFormat>寬螢幕</PresentationFormat>
  <Paragraphs>83</Paragraphs>
  <Slides>14</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Rockwell</vt:lpstr>
      <vt:lpstr>Times New Roman</vt:lpstr>
      <vt:lpstr>Office 佈景主題</vt:lpstr>
      <vt:lpstr>LCS Approximation via Embedding into Locally Non-Repetitive Strings</vt:lpstr>
      <vt:lpstr>Abstract (1/2)</vt:lpstr>
      <vt:lpstr>Abstract (2/2)</vt:lpstr>
      <vt:lpstr>Edit Distance</vt:lpstr>
      <vt:lpstr>Definition</vt:lpstr>
      <vt:lpstr>Property</vt:lpstr>
      <vt:lpstr>Embedding Strings</vt:lpstr>
      <vt:lpstr>Approx1 LCS</vt:lpstr>
      <vt:lpstr>PowerPoint 簡報</vt:lpstr>
      <vt:lpstr>Sketching Local Non-Repetitiveness</vt:lpstr>
      <vt:lpstr>Complexity</vt:lpstr>
      <vt:lpstr>Thank you for listening</vt:lpstr>
      <vt:lpstr>Sci Journal</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19</cp:revision>
  <dcterms:created xsi:type="dcterms:W3CDTF">2021-03-28T03:57:23Z</dcterms:created>
  <dcterms:modified xsi:type="dcterms:W3CDTF">2022-08-30T11:24:06Z</dcterms:modified>
</cp:coreProperties>
</file>