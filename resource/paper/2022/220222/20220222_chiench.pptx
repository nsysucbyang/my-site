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9" r:id="rId6"/>
    <p:sldId id="260" r:id="rId7"/>
    <p:sldId id="261" r:id="rId8"/>
    <p:sldId id="262" r:id="rId9"/>
    <p:sldId id="263" r:id="rId10"/>
    <p:sldId id="264" r:id="rId11"/>
    <p:sldId id="265" r:id="rId12"/>
    <p:sldId id="266"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005" autoAdjust="0"/>
  </p:normalViewPr>
  <p:slideViewPr>
    <p:cSldViewPr snapToGrid="0">
      <p:cViewPr varScale="1">
        <p:scale>
          <a:sx n="94" d="100"/>
          <a:sy n="94" d="100"/>
        </p:scale>
        <p:origin x="1230" y="7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03226E-54EB-45DC-B9D2-9B2AA82ABC2E}" type="datetimeFigureOut">
              <a:rPr lang="zh-TW" altLang="en-US" smtClean="0"/>
              <a:t>2022/2/22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DB7BB-74B8-4902-B854-31A55DF777AB}" type="slidenum">
              <a:rPr lang="zh-TW" altLang="en-US" smtClean="0"/>
              <a:t>‹#›</a:t>
            </a:fld>
            <a:endParaRPr lang="zh-TW" altLang="en-US"/>
          </a:p>
        </p:txBody>
      </p:sp>
    </p:spTree>
    <p:extLst>
      <p:ext uri="{BB962C8B-B14F-4D97-AF65-F5344CB8AC3E}">
        <p14:creationId xmlns:p14="http://schemas.microsoft.com/office/powerpoint/2010/main" val="739672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上圖</a:t>
            </a:r>
            <a:r>
              <a:rPr lang="en-US" altLang="zh-TW" dirty="0"/>
              <a:t>operation permutation</a:t>
            </a:r>
          </a:p>
          <a:p>
            <a:r>
              <a:rPr lang="zh-TW" altLang="en-US" dirty="0"/>
              <a:t>下圖</a:t>
            </a:r>
            <a:r>
              <a:rPr lang="en-US" altLang="zh-TW" dirty="0"/>
              <a:t>machine assignment</a:t>
            </a:r>
            <a:endParaRPr lang="zh-TW" altLang="en-US" dirty="0"/>
          </a:p>
        </p:txBody>
      </p:sp>
      <p:sp>
        <p:nvSpPr>
          <p:cNvPr id="4" name="投影片編號版面配置區 3"/>
          <p:cNvSpPr>
            <a:spLocks noGrp="1"/>
          </p:cNvSpPr>
          <p:nvPr>
            <p:ph type="sldNum" sz="quarter" idx="5"/>
          </p:nvPr>
        </p:nvSpPr>
        <p:spPr/>
        <p:txBody>
          <a:bodyPr/>
          <a:lstStyle/>
          <a:p>
            <a:fld id="{94CDB7BB-74B8-4902-B854-31A55DF777AB}" type="slidenum">
              <a:rPr lang="zh-TW" altLang="en-US" smtClean="0"/>
              <a:t>9</a:t>
            </a:fld>
            <a:endParaRPr lang="zh-TW" altLang="en-US"/>
          </a:p>
        </p:txBody>
      </p:sp>
    </p:spTree>
    <p:extLst>
      <p:ext uri="{BB962C8B-B14F-4D97-AF65-F5344CB8AC3E}">
        <p14:creationId xmlns:p14="http://schemas.microsoft.com/office/powerpoint/2010/main" val="1058636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7200" dirty="0">
                <a:latin typeface="Times New Roman" panose="02020603050405020304" pitchFamily="18" charset="0"/>
                <a:cs typeface="Times New Roman" panose="02020603050405020304" pitchFamily="18" charset="0"/>
              </a:rPr>
              <a:t>the symbol ‘-’ means that the value was not listed in the corresponding literature.</a:t>
            </a:r>
          </a:p>
          <a:p>
            <a:r>
              <a:rPr lang="en-US" altLang="zh-TW" sz="9600" dirty="0"/>
              <a:t>our proposed GWO obtained the best-known results for 23 out of 39 instances</a:t>
            </a:r>
            <a:endParaRPr lang="zh-TW" altLang="en-US" sz="72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94CDB7BB-74B8-4902-B854-31A55DF777AB}" type="slidenum">
              <a:rPr lang="zh-TW" altLang="en-US" smtClean="0"/>
              <a:t>13</a:t>
            </a:fld>
            <a:endParaRPr lang="zh-TW" altLang="en-US"/>
          </a:p>
        </p:txBody>
      </p:sp>
    </p:spTree>
    <p:extLst>
      <p:ext uri="{BB962C8B-B14F-4D97-AF65-F5344CB8AC3E}">
        <p14:creationId xmlns:p14="http://schemas.microsoft.com/office/powerpoint/2010/main" val="3746361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F580FB-8104-485C-951A-6FC6E8DCA40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30BD6DF-24FF-4DCF-A5D1-B0ABF46527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0DA226-78D2-4316-8520-03A3C9BC50E1}"/>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BD9ACE77-669D-4507-A6FF-089C77697F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21791A-D350-48D9-9A76-F3054E56A376}"/>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201648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C0928B-2315-4B09-9983-7485979957D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17F5847-CE9B-4942-BCAD-43B0DEBD2E1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806935B-D6BC-455E-B393-197ED8AE50D5}"/>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525152E8-6E9C-4817-855B-685EEFD2D81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3BD270C-0E7B-4F0F-A75C-E899374674F5}"/>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84231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598B5D-920C-418F-8547-CD7E61015D2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BC2FE9AB-6D19-49F1-A39E-D230E78F2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AE106BB-4727-4666-A457-1210793D984B}"/>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FCDB87FB-4A8A-449E-B692-EDCBE2EF64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84FA21-1AB4-446A-B358-666ABB31F043}"/>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32704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338CEE-47C0-4BB0-89E9-8D43AC227AA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DAEC34-5C31-4F8A-A587-327D8AB047E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0A40CC2-8203-4935-9A31-F055E22F66C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31F4A45-AE8F-4625-BB5D-9A74D3D12902}"/>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DF79462F-6B7D-499D-9605-9F979A69B3B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8F8CCD3-248A-4EF1-8A5D-D17D136A070F}"/>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26700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EE3F64-50B7-433F-8F27-40858DA4954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DFF0D3A-EB0A-4C87-BF2B-BCAB97541D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DA38974F-CED6-42CE-9C92-F85173D9D19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CE8D252-6208-4EAF-AF87-0A2ECCB7D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1FC91EB-202A-4D3E-8318-849F55FED997}"/>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5BA7F7F-FCAA-4199-9816-77714CE5FD5A}"/>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8" name="頁尾版面配置區 7">
            <a:extLst>
              <a:ext uri="{FF2B5EF4-FFF2-40B4-BE49-F238E27FC236}">
                <a16:creationId xmlns:a16="http://schemas.microsoft.com/office/drawing/2014/main" id="{E51CB579-8466-4A3F-9CB5-A763C3B5BE0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84ADE614-1B65-417F-9636-D299779EC107}"/>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042854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D6F447-07AF-49F5-B241-C405F535FF4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613486F-CF47-4540-BCDB-5E1B29172DCC}"/>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4" name="頁尾版面配置區 3">
            <a:extLst>
              <a:ext uri="{FF2B5EF4-FFF2-40B4-BE49-F238E27FC236}">
                <a16:creationId xmlns:a16="http://schemas.microsoft.com/office/drawing/2014/main" id="{8D5CD7D1-D28F-47F7-9927-0C87B76D338D}"/>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18E197E-F8C5-4E24-8425-05A1A9D9FDFC}"/>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132814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68393E9-0BAB-4606-8890-16273578B578}"/>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3" name="頁尾版面配置區 2">
            <a:extLst>
              <a:ext uri="{FF2B5EF4-FFF2-40B4-BE49-F238E27FC236}">
                <a16:creationId xmlns:a16="http://schemas.microsoft.com/office/drawing/2014/main" id="{5C6FB495-62FA-4447-83CD-2EE5C1919E3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9B748F-4239-4C29-AEAB-D250D70B373B}"/>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279791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E4CBCA-05CF-434D-B242-3B91B0BCF8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2A7AE31E-4E3E-447D-A0E6-A567A962C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B8156C3-805F-40F8-A834-D06BB886E2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9682D67-E9B8-4C8D-9402-BC705698D105}"/>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73ABE90B-F776-4E36-B189-D3C8E365A58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DAB3B8-858F-4D61-8BF0-5CFDA5B5D054}"/>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238713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8B96C2-9BFA-4E80-A24A-7F7E324D7D2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9C51957-4798-4952-B32A-D82B893792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AD5B230-CA67-4DD6-9FC6-4BE560F6AC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A24FB23-4733-4283-A4D9-6042BB7BC69B}"/>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D22F7D49-3C8B-4A04-9F3A-5B7C9787946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1CFC5B5-D90F-4CEB-BB0E-6E06EDFA3A08}"/>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53997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B9C3BF-C232-4A6A-8BE9-2FA4FA4F04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FAD562A-8648-4801-BBE5-4CD62EC1D4C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4CBCFA1-60CB-4B9D-8C95-65890D634B36}"/>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80E434FA-B403-410C-928D-7CFFB83DC9D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9AD479B-F2BE-434F-9C5B-7F1E0EFF5A20}"/>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3757834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896B0AF-73FB-4343-918F-03ED442A958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BE209D31-9060-4651-B575-751CC1F3208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51424E4-E27F-42EC-8C62-07929256730A}"/>
              </a:ext>
            </a:extLst>
          </p:cNvPr>
          <p:cNvSpPr>
            <a:spLocks noGrp="1"/>
          </p:cNvSpPr>
          <p:nvPr>
            <p:ph type="dt" sz="half" idx="10"/>
          </p:nvPr>
        </p:nvSpPr>
        <p:spPr/>
        <p:txBody>
          <a:body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E0162C23-F3EF-4640-9140-AD2A81F65C7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C524394-EEA6-4A79-8A37-9C9C2FAF9911}"/>
              </a:ext>
            </a:extLst>
          </p:cNvPr>
          <p:cNvSpPr>
            <a:spLocks noGrp="1"/>
          </p:cNvSpPr>
          <p:nvPr>
            <p:ph type="sldNum" sz="quarter" idx="12"/>
          </p:nvPr>
        </p:nvSpPr>
        <p:spPr/>
        <p:txBody>
          <a:body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168659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6A7BA22-A741-460D-A8B4-B9995F88FA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3303DED-5111-4731-BAA3-C10B38989C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5D6ACDF-220F-4821-A521-34D8F8B08F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5E8721-8B90-4B98-8C03-7E8329BB1DBF}"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C920DE89-1370-4B6A-8B41-92BDBF589F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7C75CFC-380D-45FE-8105-8D64359AD1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85EB84-7D14-43FF-86D7-4DA412FBDDCE}" type="slidenum">
              <a:rPr lang="zh-TW" altLang="en-US" smtClean="0"/>
              <a:t>‹#›</a:t>
            </a:fld>
            <a:endParaRPr lang="zh-TW" altLang="en-US"/>
          </a:p>
        </p:txBody>
      </p:sp>
    </p:spTree>
    <p:extLst>
      <p:ext uri="{BB962C8B-B14F-4D97-AF65-F5344CB8AC3E}">
        <p14:creationId xmlns:p14="http://schemas.microsoft.com/office/powerpoint/2010/main" val="2488445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tmp"/><Relationship Id="rId3" Type="http://schemas.openxmlformats.org/officeDocument/2006/relationships/image" Target="../media/image6.tmp"/><Relationship Id="rId7" Type="http://schemas.openxmlformats.org/officeDocument/2006/relationships/image" Target="../media/image10.tmp"/><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tmp"/><Relationship Id="rId5" Type="http://schemas.openxmlformats.org/officeDocument/2006/relationships/image" Target="../media/image8.tmp"/><Relationship Id="rId4" Type="http://schemas.openxmlformats.org/officeDocument/2006/relationships/image" Target="../media/image7.tmp"/></Relationships>
</file>

<file path=ppt/slides/_rels/slide1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BB261F-7DE9-4DF7-B78D-15928DC7806F}"/>
              </a:ext>
            </a:extLst>
          </p:cNvPr>
          <p:cNvSpPr>
            <a:spLocks noGrp="1"/>
          </p:cNvSpPr>
          <p:nvPr>
            <p:ph type="ctrTitle"/>
          </p:nvPr>
        </p:nvSpPr>
        <p:spPr/>
        <p:txBody>
          <a:bodyPr>
            <a:noAutofit/>
          </a:bodyPr>
          <a:lstStyle/>
          <a:p>
            <a:r>
              <a:rPr lang="en-US" altLang="zh-TW" sz="4000" b="1" dirty="0">
                <a:latin typeface="Times New Roman" panose="02020603050405020304" pitchFamily="18" charset="0"/>
                <a:cs typeface="Times New Roman" panose="02020603050405020304" pitchFamily="18" charset="0"/>
              </a:rPr>
              <a:t>Application of Grey Wolf Optimization for Solving Combinatorial Problems: Job Shop and Flexible Job Shop Scheduling Cases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4D5E9EE-D033-48F1-969B-BF684D348154}"/>
              </a:ext>
            </a:extLst>
          </p:cNvPr>
          <p:cNvSpPr>
            <a:spLocks noGrp="1"/>
          </p:cNvSpPr>
          <p:nvPr>
            <p:ph type="subTitle" idx="1"/>
          </p:nvPr>
        </p:nvSpPr>
        <p:spPr/>
        <p:txBody>
          <a:bodyPr/>
          <a:lstStyle/>
          <a:p>
            <a:r>
              <a:rPr lang="en-US" altLang="zh-TW" dirty="0" err="1">
                <a:latin typeface="Times New Roman" panose="02020603050405020304" pitchFamily="18" charset="0"/>
                <a:cs typeface="Times New Roman" panose="02020603050405020304" pitchFamily="18" charset="0"/>
              </a:rPr>
              <a:t>Tianhua</a:t>
            </a:r>
            <a:r>
              <a:rPr lang="en-US" altLang="zh-TW" dirty="0">
                <a:latin typeface="Times New Roman" panose="02020603050405020304" pitchFamily="18" charset="0"/>
                <a:cs typeface="Times New Roman" panose="02020603050405020304" pitchFamily="18" charset="0"/>
              </a:rPr>
              <a:t> Jiang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Chao Zhang</a:t>
            </a:r>
          </a:p>
          <a:p>
            <a:r>
              <a:rPr lang="en-US" altLang="zh-TW" b="1" i="0" u="none" strike="noStrike" dirty="0">
                <a:solidFill>
                  <a:srgbClr val="333333"/>
                </a:solidFill>
                <a:effectLst/>
                <a:latin typeface="Times New Roman" panose="02020603050405020304" pitchFamily="18" charset="0"/>
                <a:cs typeface="Times New Roman" panose="02020603050405020304" pitchFamily="18" charset="0"/>
              </a:rPr>
              <a:t> </a:t>
            </a:r>
            <a:r>
              <a:rPr lang="en-US" altLang="zh-TW" b="0" i="0" u="none" strike="noStrike" dirty="0">
                <a:solidFill>
                  <a:srgbClr val="333333"/>
                </a:solidFill>
                <a:effectLst/>
                <a:latin typeface="Times New Roman" panose="02020603050405020304" pitchFamily="18" charset="0"/>
                <a:cs typeface="Times New Roman" panose="02020603050405020304" pitchFamily="18" charset="0"/>
              </a:rPr>
              <a:t>IEEE Access</a:t>
            </a:r>
            <a:r>
              <a:rPr lang="en-US" altLang="zh-TW" b="0" i="0" u="none" strike="noStrike" dirty="0">
                <a:solidFill>
                  <a:srgbClr val="000000"/>
                </a:solidFill>
                <a:effectLst/>
                <a:latin typeface="Times New Roman" panose="02020603050405020304" pitchFamily="18" charset="0"/>
                <a:cs typeface="Times New Roman" panose="02020603050405020304" pitchFamily="18" charset="0"/>
              </a:rPr>
              <a:t>, vol. 6, no. 4, pp. </a:t>
            </a:r>
            <a:r>
              <a:rPr lang="en-US" altLang="zh-TW" b="0" i="0" u="none" strike="noStrike" dirty="0">
                <a:solidFill>
                  <a:srgbClr val="333333"/>
                </a:solidFill>
                <a:effectLst/>
                <a:latin typeface="Times New Roman" panose="02020603050405020304" pitchFamily="18" charset="0"/>
                <a:cs typeface="Times New Roman" panose="02020603050405020304" pitchFamily="18" charset="0"/>
              </a:rPr>
              <a:t>26231 - 26240</a:t>
            </a:r>
            <a:r>
              <a:rPr lang="en-US" altLang="zh-TW"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b="0" i="0" u="none" strike="noStrike" dirty="0">
                <a:solidFill>
                  <a:srgbClr val="333333"/>
                </a:solidFill>
                <a:effectLst/>
                <a:latin typeface="Times New Roman" panose="02020603050405020304" pitchFamily="18" charset="0"/>
                <a:cs typeface="Times New Roman" panose="02020603050405020304" pitchFamily="18" charset="0"/>
              </a:rPr>
              <a:t>May. 2018</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2D26A23-044F-415A-8630-28CA060BA530}"/>
              </a:ext>
            </a:extLst>
          </p:cNvPr>
          <p:cNvSpPr txBox="1"/>
          <p:nvPr/>
        </p:nvSpPr>
        <p:spPr>
          <a:xfrm>
            <a:off x="9183894" y="5865674"/>
            <a:ext cx="2968212"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Feb. 22,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02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4158E9-13D6-4D93-BBEC-90986EC7AB8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D47F0E1-B713-449B-82A1-992179AE4170}"/>
              </a:ext>
            </a:extLst>
          </p:cNvPr>
          <p:cNvSpPr>
            <a:spLocks noGrp="1"/>
          </p:cNvSpPr>
          <p:nvPr>
            <p:ph idx="1"/>
          </p:nvPr>
        </p:nvSpPr>
        <p:spPr/>
        <p:txBody>
          <a:bodyPr>
            <a:noAutofit/>
          </a:bodyPr>
          <a:lstStyle/>
          <a:p>
            <a:r>
              <a:rPr lang="en-US" altLang="zh-TW" sz="2600" dirty="0">
                <a:latin typeface="Times New Roman" panose="02020603050405020304" pitchFamily="18" charset="0"/>
                <a:cs typeface="Times New Roman" panose="02020603050405020304" pitchFamily="18" charset="0"/>
              </a:rPr>
              <a:t>Grey wolf optimization (GWO) algorithm is a new population-oriented intelligence algorithm, which is originally proposed to solve continuous optimization problems inspired from the social hierarchy and hunting behaviors of grey wolves. It has been proved that GWO can provide competitive results compared with some well-known meta-heuristics. This paper aims to employ the GWO to deal with two combinatorial optimization problems in the manufacturing field: job shop and flexible job shop scheduling cases. The effectiveness of GWO algorithm on the two problems can give an idea about its possible application on solving other scheduling problems. For the discrete characteristics of the scheduling solutions, we developed a kind of discrete GWO algorithm with the objective of minimizing the maximum completion time (</a:t>
            </a:r>
            <a:r>
              <a:rPr lang="en-US" altLang="zh-TW" sz="2600" dirty="0" err="1">
                <a:latin typeface="Times New Roman" panose="02020603050405020304" pitchFamily="18" charset="0"/>
                <a:cs typeface="Times New Roman" panose="02020603050405020304" pitchFamily="18" charset="0"/>
              </a:rPr>
              <a:t>makespan</a:t>
            </a:r>
            <a:r>
              <a:rPr lang="en-US" altLang="zh-TW" sz="2600" dirty="0">
                <a:latin typeface="Times New Roman" panose="02020603050405020304" pitchFamily="18" charset="0"/>
                <a:cs typeface="Times New Roman" panose="02020603050405020304" pitchFamily="18" charset="0"/>
              </a:rPr>
              <a:t>). </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131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D03E5B-DC14-4F7A-9F13-87B7EDE4126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311C17F-DA8A-47EB-BC10-E3B5D7288F2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In the proposed algorithm, searching operator is designed based on the crossover operation to maintain the algorithm work directly in a discrete domain. Then an adaptive mutation method is introduced to keep the population diversity and avoid premature convergence. In addition, a variable neighborhood search method is embedded to further enhance the exploration. To evaluate the effectiveness, the discrete GWO algorithm is compared with other published algorithms in the literature for the two scheduling cases. Experimental results demonstrate that our algorithm outperforms other algorithms for the scheduling problems under study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272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3E0D10-1CAA-4D4E-BDA8-7A2310E1649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Grey Wolf Optimization</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93B577AC-D81E-4A88-9F3C-366F9CD979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62594" y="2386171"/>
            <a:ext cx="3499485" cy="3022283"/>
          </a:xfrm>
        </p:spPr>
      </p:pic>
      <p:pic>
        <p:nvPicPr>
          <p:cNvPr id="7" name="圖片 6" descr="一張含有 文字 的圖片&#10;&#10;自動產生的描述">
            <a:extLst>
              <a:ext uri="{FF2B5EF4-FFF2-40B4-BE49-F238E27FC236}">
                <a16:creationId xmlns:a16="http://schemas.microsoft.com/office/drawing/2014/main" id="{302B2C51-625A-4D38-8692-31C4403502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387" y="2321528"/>
            <a:ext cx="4450293" cy="3768841"/>
          </a:xfrm>
          <a:prstGeom prst="rect">
            <a:avLst/>
          </a:prstGeom>
        </p:spPr>
      </p:pic>
    </p:spTree>
    <p:extLst>
      <p:ext uri="{BB962C8B-B14F-4D97-AF65-F5344CB8AC3E}">
        <p14:creationId xmlns:p14="http://schemas.microsoft.com/office/powerpoint/2010/main" val="1430175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054DA9-0E22-45EF-99DA-D9D7C636DCB7}"/>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Flexible Job Shop Scheduling </a:t>
            </a:r>
            <a:r>
              <a:rPr lang="en-US" altLang="zh-TW" dirty="0">
                <a:latin typeface="Times New Roman" panose="02020603050405020304" pitchFamily="18" charset="0"/>
                <a:cs typeface="Times New Roman" panose="02020603050405020304" pitchFamily="18" charset="0"/>
              </a:rPr>
              <a:t>Encode</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CD59A728-056A-408D-8A44-2DFC62B677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9973" y="3224418"/>
            <a:ext cx="7291714" cy="1615395"/>
          </a:xfrm>
        </p:spPr>
      </p:pic>
    </p:spTree>
    <p:extLst>
      <p:ext uri="{BB962C8B-B14F-4D97-AF65-F5344CB8AC3E}">
        <p14:creationId xmlns:p14="http://schemas.microsoft.com/office/powerpoint/2010/main" val="1792167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807AA6-8A83-4F1F-A137-126020B18DD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Population Initialization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94397F7-A8F5-4886-A218-54156BBCE690}"/>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global selection</a:t>
            </a:r>
          </a:p>
          <a:p>
            <a:r>
              <a:rPr lang="en-US" altLang="zh-TW" dirty="0">
                <a:latin typeface="Times New Roman" panose="02020603050405020304" pitchFamily="18" charset="0"/>
                <a:cs typeface="Times New Roman" panose="02020603050405020304" pitchFamily="18" charset="0"/>
              </a:rPr>
              <a:t>local selection</a:t>
            </a:r>
          </a:p>
          <a:p>
            <a:r>
              <a:rPr lang="en-US" altLang="zh-TW" dirty="0">
                <a:latin typeface="Times New Roman" panose="02020603050405020304" pitchFamily="18" charset="0"/>
                <a:cs typeface="Times New Roman" panose="02020603050405020304" pitchFamily="18" charset="0"/>
              </a:rPr>
              <a:t>random selection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5994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E5B2F6-CBF1-4FC9-87BF-5EF008FFF3B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Global Selection</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BB20999B-BF95-40AA-83D1-EBC4829D7B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24377"/>
            <a:ext cx="10515600" cy="3353833"/>
          </a:xfrm>
        </p:spPr>
      </p:pic>
    </p:spTree>
    <p:extLst>
      <p:ext uri="{BB962C8B-B14F-4D97-AF65-F5344CB8AC3E}">
        <p14:creationId xmlns:p14="http://schemas.microsoft.com/office/powerpoint/2010/main" val="2249021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FAA07A-AF49-4F28-AFFF-6C097896BF7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Local Selection</a:t>
            </a:r>
            <a:endParaRPr lang="zh-TW" altLang="en-US" dirty="0"/>
          </a:p>
        </p:txBody>
      </p:sp>
      <p:pic>
        <p:nvPicPr>
          <p:cNvPr id="7" name="內容版面配置區 6">
            <a:extLst>
              <a:ext uri="{FF2B5EF4-FFF2-40B4-BE49-F238E27FC236}">
                <a16:creationId xmlns:a16="http://schemas.microsoft.com/office/drawing/2014/main" id="{98A731C6-8654-44FA-9B38-55960E712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5040"/>
            <a:ext cx="10840804" cy="3449043"/>
          </a:xfrm>
        </p:spPr>
      </p:pic>
    </p:spTree>
    <p:extLst>
      <p:ext uri="{BB962C8B-B14F-4D97-AF65-F5344CB8AC3E}">
        <p14:creationId xmlns:p14="http://schemas.microsoft.com/office/powerpoint/2010/main" val="3055193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B6A4BE-CED4-4748-B679-AB1D77948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Discrete Search Operator For The Prey</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descr="一張含有 文字 的圖片&#10;&#10;自動產生的描述">
            <a:extLst>
              <a:ext uri="{FF2B5EF4-FFF2-40B4-BE49-F238E27FC236}">
                <a16:creationId xmlns:a16="http://schemas.microsoft.com/office/drawing/2014/main" id="{9857F360-B6F3-4855-AF0A-73CBA201E36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3064" y="3252183"/>
            <a:ext cx="6289976" cy="1856679"/>
          </a:xfrm>
        </p:spPr>
      </p:pic>
      <p:pic>
        <p:nvPicPr>
          <p:cNvPr id="9" name="圖片 8" descr="一張含有 文字, 電子用品, 鍵盤 的圖片&#10;&#10;自動產生的描述">
            <a:extLst>
              <a:ext uri="{FF2B5EF4-FFF2-40B4-BE49-F238E27FC236}">
                <a16:creationId xmlns:a16="http://schemas.microsoft.com/office/drawing/2014/main" id="{7E740E8A-6B7F-415B-AF78-82B6C5AA2D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5353" y="1824903"/>
            <a:ext cx="4591691" cy="2152950"/>
          </a:xfrm>
          <a:prstGeom prst="rect">
            <a:avLst/>
          </a:prstGeom>
        </p:spPr>
      </p:pic>
      <p:pic>
        <p:nvPicPr>
          <p:cNvPr id="11" name="圖片 10">
            <a:extLst>
              <a:ext uri="{FF2B5EF4-FFF2-40B4-BE49-F238E27FC236}">
                <a16:creationId xmlns:a16="http://schemas.microsoft.com/office/drawing/2014/main" id="{B8F872FE-0F30-402F-AA86-06ABCDE54F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6099" y="4370571"/>
            <a:ext cx="4305901" cy="1476581"/>
          </a:xfrm>
          <a:prstGeom prst="rect">
            <a:avLst/>
          </a:prstGeom>
        </p:spPr>
      </p:pic>
      <p:pic>
        <p:nvPicPr>
          <p:cNvPr id="13" name="圖片 12">
            <a:extLst>
              <a:ext uri="{FF2B5EF4-FFF2-40B4-BE49-F238E27FC236}">
                <a16:creationId xmlns:a16="http://schemas.microsoft.com/office/drawing/2014/main" id="{DBABED34-62B1-4124-8862-6C6AC06F3B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5224" y="3977853"/>
            <a:ext cx="1971950" cy="304843"/>
          </a:xfrm>
          <a:prstGeom prst="rect">
            <a:avLst/>
          </a:prstGeom>
        </p:spPr>
      </p:pic>
      <p:pic>
        <p:nvPicPr>
          <p:cNvPr id="15" name="圖片 14">
            <a:extLst>
              <a:ext uri="{FF2B5EF4-FFF2-40B4-BE49-F238E27FC236}">
                <a16:creationId xmlns:a16="http://schemas.microsoft.com/office/drawing/2014/main" id="{BF7B3F15-B225-4B4B-9B3D-7767CAF722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91593" y="5981367"/>
            <a:ext cx="1295581" cy="200053"/>
          </a:xfrm>
          <a:prstGeom prst="rect">
            <a:avLst/>
          </a:prstGeom>
        </p:spPr>
      </p:pic>
      <p:pic>
        <p:nvPicPr>
          <p:cNvPr id="4" name="圖片 3">
            <a:extLst>
              <a:ext uri="{FF2B5EF4-FFF2-40B4-BE49-F238E27FC236}">
                <a16:creationId xmlns:a16="http://schemas.microsoft.com/office/drawing/2014/main" id="{0EE2386D-A6D8-4E4D-9209-82319BF211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85626" y="1432436"/>
            <a:ext cx="2448267" cy="371527"/>
          </a:xfrm>
          <a:prstGeom prst="rect">
            <a:avLst/>
          </a:prstGeom>
        </p:spPr>
      </p:pic>
    </p:spTree>
    <p:extLst>
      <p:ext uri="{BB962C8B-B14F-4D97-AF65-F5344CB8AC3E}">
        <p14:creationId xmlns:p14="http://schemas.microsoft.com/office/powerpoint/2010/main" val="49955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A650D4-ACEA-4D69-B548-39D17371565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Adaptive Mutation Operator</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5A3D38FE-44FE-4455-BC6A-40596231CA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355" y="2722823"/>
            <a:ext cx="7757405" cy="1412354"/>
          </a:xfrm>
        </p:spPr>
      </p:pic>
    </p:spTree>
    <p:extLst>
      <p:ext uri="{BB962C8B-B14F-4D97-AF65-F5344CB8AC3E}">
        <p14:creationId xmlns:p14="http://schemas.microsoft.com/office/powerpoint/2010/main" val="3762691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1ED3F9-025E-45E9-A0AA-B8AA302743ED}"/>
              </a:ext>
            </a:extLst>
          </p:cNvPr>
          <p:cNvSpPr>
            <a:spLocks noGrp="1"/>
          </p:cNvSpPr>
          <p:nvPr>
            <p:ph type="title"/>
          </p:nvPr>
        </p:nvSpPr>
        <p:spPr/>
        <p:txBody>
          <a:bodyPr/>
          <a:lstStyle/>
          <a:p>
            <a:r>
              <a:rPr lang="en-US" altLang="zh-TW" dirty="0"/>
              <a:t>Mutation Process For JSP</a:t>
            </a:r>
            <a:endParaRPr lang="zh-TW" altLang="en-US" dirty="0"/>
          </a:p>
        </p:txBody>
      </p:sp>
      <p:pic>
        <p:nvPicPr>
          <p:cNvPr id="5" name="內容版面配置區 4" descr="一張含有 文字 的圖片&#10;&#10;自動產生的描述">
            <a:extLst>
              <a:ext uri="{FF2B5EF4-FFF2-40B4-BE49-F238E27FC236}">
                <a16:creationId xmlns:a16="http://schemas.microsoft.com/office/drawing/2014/main" id="{6BAE53FD-D2C4-4137-827B-EB20DD9086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338" y="2407920"/>
            <a:ext cx="6249816" cy="3483674"/>
          </a:xfrm>
        </p:spPr>
      </p:pic>
      <p:pic>
        <p:nvPicPr>
          <p:cNvPr id="7" name="圖片 6" descr="一張含有 文字, 鍵盤, 電子用品, 高 的圖片&#10;&#10;自動產生的描述">
            <a:extLst>
              <a:ext uri="{FF2B5EF4-FFF2-40B4-BE49-F238E27FC236}">
                <a16:creationId xmlns:a16="http://schemas.microsoft.com/office/drawing/2014/main" id="{8B38BCE5-3766-45D1-AFE9-AB3BD012A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3212" y="1917112"/>
            <a:ext cx="4058216" cy="3877216"/>
          </a:xfrm>
          <a:prstGeom prst="rect">
            <a:avLst/>
          </a:prstGeom>
        </p:spPr>
      </p:pic>
    </p:spTree>
    <p:extLst>
      <p:ext uri="{BB962C8B-B14F-4D97-AF65-F5344CB8AC3E}">
        <p14:creationId xmlns:p14="http://schemas.microsoft.com/office/powerpoint/2010/main" val="508061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E576E6-D578-44A5-B01B-2EEE924BCAA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Mutation Process For FJSP</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descr="一張含有 文字 的圖片&#10;&#10;自動產生的描述">
            <a:extLst>
              <a:ext uri="{FF2B5EF4-FFF2-40B4-BE49-F238E27FC236}">
                <a16:creationId xmlns:a16="http://schemas.microsoft.com/office/drawing/2014/main" id="{FB1FFD1D-C7FE-406A-98CE-75BC8EE042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77639"/>
            <a:ext cx="6541642" cy="3501765"/>
          </a:xfrm>
        </p:spPr>
      </p:pic>
      <p:sp>
        <p:nvSpPr>
          <p:cNvPr id="6" name="文字方塊 5">
            <a:extLst>
              <a:ext uri="{FF2B5EF4-FFF2-40B4-BE49-F238E27FC236}">
                <a16:creationId xmlns:a16="http://schemas.microsoft.com/office/drawing/2014/main" id="{5ED020AD-27BC-4FAC-9CCC-748CA17E8A56}"/>
              </a:ext>
            </a:extLst>
          </p:cNvPr>
          <p:cNvSpPr txBox="1"/>
          <p:nvPr/>
        </p:nvSpPr>
        <p:spPr>
          <a:xfrm>
            <a:off x="8168640" y="2367536"/>
            <a:ext cx="3698240" cy="1569660"/>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Assignment: Randomly choose an operation with more than one alternative machine.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78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923EE9-BE1A-4A84-AB6F-EE4EC7C28794}"/>
              </a:ext>
            </a:extLst>
          </p:cNvPr>
          <p:cNvSpPr>
            <a:spLocks noGrp="1"/>
          </p:cNvSpPr>
          <p:nvPr>
            <p:ph type="title"/>
          </p:nvPr>
        </p:nvSpPr>
        <p:spPr/>
        <p:txBody>
          <a:bodyPr/>
          <a:lstStyle/>
          <a:p>
            <a:r>
              <a:rPr lang="en-US" altLang="zh-TW" dirty="0"/>
              <a:t>Results</a:t>
            </a:r>
            <a:endParaRPr lang="zh-TW" altLang="en-US" dirty="0"/>
          </a:p>
        </p:txBody>
      </p:sp>
      <p:pic>
        <p:nvPicPr>
          <p:cNvPr id="5" name="內容版面配置區 4" descr="一張含有 文字, 收據 的圖片&#10;&#10;自動產生的描述">
            <a:extLst>
              <a:ext uri="{FF2B5EF4-FFF2-40B4-BE49-F238E27FC236}">
                <a16:creationId xmlns:a16="http://schemas.microsoft.com/office/drawing/2014/main" id="{24F16413-EA67-4F58-98C9-7868957C013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25428" y="-271444"/>
            <a:ext cx="6684812" cy="7241204"/>
          </a:xfrm>
        </p:spPr>
      </p:pic>
    </p:spTree>
    <p:extLst>
      <p:ext uri="{BB962C8B-B14F-4D97-AF65-F5344CB8AC3E}">
        <p14:creationId xmlns:p14="http://schemas.microsoft.com/office/powerpoint/2010/main" val="38831155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TotalTime>
  <Words>381</Words>
  <Application>Microsoft Office PowerPoint</Application>
  <PresentationFormat>寬螢幕</PresentationFormat>
  <Paragraphs>29</Paragraphs>
  <Slides>13</Slides>
  <Notes>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Times New Roman</vt:lpstr>
      <vt:lpstr>Office 佈景主題</vt:lpstr>
      <vt:lpstr>Application of Grey Wolf Optimization for Solving Combinatorial Problems: Job Shop and Flexible Job Shop Scheduling Cases</vt:lpstr>
      <vt:lpstr>Abstract(1/2)</vt:lpstr>
      <vt:lpstr>Abstract(2/2)</vt:lpstr>
      <vt:lpstr>Grey Wolf Optimization</vt:lpstr>
      <vt:lpstr>Flexible Job Shop Scheduling Encode</vt:lpstr>
      <vt:lpstr>Population Initialization</vt:lpstr>
      <vt:lpstr>Global Selection</vt:lpstr>
      <vt:lpstr>Local Selection</vt:lpstr>
      <vt:lpstr>Discrete Search Operator For The Prey</vt:lpstr>
      <vt:lpstr>Adaptive Mutation Operator</vt:lpstr>
      <vt:lpstr>Mutation Process For JSP</vt:lpstr>
      <vt:lpstr>Mutation Process For FJSP</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 Scheduling Algorithm Based on Pre-scheduling for Heterogeneous Computing</dc:title>
  <dc:creator>M103040069</dc:creator>
  <cp:lastModifiedBy>志軒 簡</cp:lastModifiedBy>
  <cp:revision>15</cp:revision>
  <dcterms:created xsi:type="dcterms:W3CDTF">2022-01-31T03:05:16Z</dcterms:created>
  <dcterms:modified xsi:type="dcterms:W3CDTF">2022-02-22T09:15:24Z</dcterms:modified>
</cp:coreProperties>
</file>