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535" r:id="rId2"/>
    <p:sldId id="536" r:id="rId3"/>
    <p:sldId id="648" r:id="rId4"/>
    <p:sldId id="260" r:id="rId5"/>
    <p:sldId id="403" r:id="rId6"/>
    <p:sldId id="649" r:id="rId7"/>
    <p:sldId id="515" r:id="rId8"/>
    <p:sldId id="653" r:id="rId9"/>
    <p:sldId id="516" r:id="rId10"/>
    <p:sldId id="522" r:id="rId11"/>
    <p:sldId id="655" r:id="rId12"/>
    <p:sldId id="651" r:id="rId13"/>
    <p:sldId id="652" r:id="rId14"/>
    <p:sldId id="654" r:id="rId15"/>
    <p:sldId id="656" r:id="rId16"/>
  </p:sldIdLst>
  <p:sldSz cx="9144000" cy="6858000" type="screen4x3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CC"/>
    <a:srgbClr val="FF16FF"/>
    <a:srgbClr val="FAEBD7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73300" autoAdjust="0"/>
  </p:normalViewPr>
  <p:slideViewPr>
    <p:cSldViewPr>
      <p:cViewPr varScale="1">
        <p:scale>
          <a:sx n="79" d="100"/>
          <a:sy n="79" d="100"/>
        </p:scale>
        <p:origin x="1459" y="67"/>
      </p:cViewPr>
      <p:guideLst>
        <p:guide orient="horz" pos="2160"/>
        <p:guide pos="288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68400" y="1243013"/>
            <a:ext cx="4470400" cy="3354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944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68400" y="1243013"/>
            <a:ext cx="4470400" cy="3354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527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817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2022/1/9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4302" y="1794064"/>
            <a:ext cx="7035394" cy="649317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Times New Roman"/>
                <a:ea typeface="新細明體"/>
                <a:cs typeface="Times New Roman"/>
              </a:rPr>
              <a:t>Towards Human-Level Performance in Solving Double Dummy Bridge Problem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523" y="3003983"/>
            <a:ext cx="8568952" cy="425017"/>
          </a:xfrm>
        </p:spPr>
        <p:txBody>
          <a:bodyPr vert="horz" lIns="91440" tIns="45720" rIns="91440" bIns="45720" rtlCol="0" anchor="t">
            <a:noAutofit/>
          </a:bodyPr>
          <a:lstStyle/>
          <a:p>
            <a:pPr fontAlgn="ctr"/>
            <a:r>
              <a:rPr lang="pl-PL" altLang="zh-TW" sz="2000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Szymon Kowalik and Jacek Mańdziuk</a:t>
            </a:r>
            <a:endParaRPr lang="en-US" altLang="zh-TW" sz="2000" dirty="0">
              <a:solidFill>
                <a:schemeClr val="tx1"/>
              </a:solidFill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79511" y="3856937"/>
            <a:ext cx="878497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TW" sz="2200" dirty="0">
                <a:latin typeface="Times New Roman"/>
                <a:ea typeface="+mn-lt"/>
                <a:cs typeface="+mn-lt"/>
              </a:rPr>
              <a:t>28th International Conference, ICONIP 2021, Sanur, Bali, Indonesia, December 8–12, 2021, Proceedings, Part I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652120" y="5377328"/>
            <a:ext cx="3158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Jing-Ping Jan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05264"/>
            <a:ext cx="2556918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/>
                <a:ea typeface="新細明體"/>
                <a:cs typeface="Times New Roman"/>
              </a:rPr>
              <a:t>Date: Jan. 11, 2022</a:t>
            </a:r>
            <a:endParaRPr lang="zh-TW" altLang="en-US" dirty="0">
              <a:latin typeface="Times New Roman"/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48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2" y="1052736"/>
            <a:ext cx="9004993" cy="53476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ts val="3200"/>
              </a:lnSpc>
              <a:buNone/>
            </a:pPr>
            <a:r>
              <a:rPr lang="en-US" sz="2200" dirty="0">
                <a:latin typeface="Times New Roman"/>
                <a:ea typeface="+mn-lt"/>
                <a:cs typeface="+mn-lt"/>
              </a:rPr>
              <a:t>Double Dummy Bridge Problem (DDBP) is a hard classification problem that consists in estimating the number of tricks to be taken by N-S pair during a bridge game. In this paper we propose a new approach to DDBP which utilizes convolutional neural networks (CNNs) and a dedicated matrix representation of the problem, suitable for the CNN application. Following previous studies on the application of neural networks to DDBP, we take a knowledge-free approach, i.e. the CNN models are trained with no use of any expert knowledge or explicitly indicated bridge rules. As a result, two models are derived: a baseline CNN model and its ensemble refinement. The results are compared with two former neural network approaches, showing significant superiority of the CNN-based solution.</a:t>
            </a:r>
          </a:p>
        </p:txBody>
      </p:sp>
    </p:spTree>
    <p:extLst>
      <p:ext uri="{BB962C8B-B14F-4D97-AF65-F5344CB8AC3E}">
        <p14:creationId xmlns:p14="http://schemas.microsoft.com/office/powerpoint/2010/main" val="692731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2" y="1052736"/>
            <a:ext cx="9004993" cy="53476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ts val="3200"/>
              </a:lnSpc>
              <a:buNone/>
            </a:pPr>
            <a:r>
              <a:rPr lang="en-US" sz="2200" dirty="0">
                <a:latin typeface="Times New Roman"/>
                <a:ea typeface="+mn-lt"/>
                <a:cs typeface="+mn-lt"/>
              </a:rPr>
              <a:t>Depending on the type DDBP deal, i.e. trump or notrump, our approach either outperforms or is slightly inferior to the outcomes of human bridge grandmasters solving DDBP. This state-of-the-art performance is complemented in the paper with an analysis of the internal structure (weight patterns) of the trained CNNs, which partly explains the underlying classification process.</a:t>
            </a:r>
          </a:p>
        </p:txBody>
      </p:sp>
    </p:spTree>
    <p:extLst>
      <p:ext uri="{BB962C8B-B14F-4D97-AF65-F5344CB8AC3E}">
        <p14:creationId xmlns:p14="http://schemas.microsoft.com/office/powerpoint/2010/main" val="1824116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Introduction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>
                <a:latin typeface="Times New Roman"/>
                <a:ea typeface="新細明體"/>
                <a:cs typeface="Times New Roman"/>
              </a:rPr>
              <a:t>Bidding stage</a:t>
            </a:r>
            <a:br>
              <a:rPr lang="en-US" altLang="zh-TW" dirty="0">
                <a:latin typeface="Times New Roman"/>
              </a:rPr>
            </a:br>
            <a:r>
              <a:rPr lang="en-US" altLang="zh-TW" dirty="0">
                <a:latin typeface="Times New Roman"/>
                <a:ea typeface="新細明體"/>
                <a:cs typeface="Times New Roman"/>
              </a:rPr>
              <a:t>Find the most profitable contract for the playing stage</a:t>
            </a:r>
          </a:p>
          <a:p>
            <a:r>
              <a:rPr lang="en-US" altLang="zh-TW" dirty="0">
                <a:latin typeface="Times New Roman"/>
                <a:ea typeface="新細明體"/>
                <a:cs typeface="Times New Roman"/>
              </a:rPr>
              <a:t>Playing stage</a:t>
            </a:r>
            <a:br>
              <a:rPr lang="en-US" altLang="zh-TW" dirty="0">
                <a:latin typeface="Times New Roman"/>
              </a:rPr>
            </a:br>
            <a:r>
              <a:rPr lang="en-US" altLang="zh-TW" dirty="0">
                <a:latin typeface="Times New Roman"/>
                <a:ea typeface="新細明體"/>
                <a:cs typeface="Times New Roman"/>
              </a:rPr>
              <a:t>13 rounds of a card-strength competition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0CA24D7-37B0-4AD3-AD31-66F21D408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895" y="1571995"/>
            <a:ext cx="4947704" cy="370857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5194-3DE2-48E0-9A75-9A77ECFE9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Dummy Bridge Problem(DDBP)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A5D26AE-2421-46D9-99A2-978A0A9C4E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82019" y="2229644"/>
            <a:ext cx="4781550" cy="3267075"/>
          </a:xfrm>
        </p:spPr>
      </p:pic>
    </p:spTree>
    <p:extLst>
      <p:ext uri="{BB962C8B-B14F-4D97-AF65-F5344CB8AC3E}">
        <p14:creationId xmlns:p14="http://schemas.microsoft.com/office/powerpoint/2010/main" val="4181158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BF8A8D3-8E04-4F36-A43D-3BCCB24C4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4799305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5C76F375-0A97-41E7-8DA4-B722FC79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8376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ECBD674A-73EB-4117-99A4-B672DB8906E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26" y="1628800"/>
            <a:ext cx="7250547" cy="4525963"/>
          </a:xfr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F7C3CE4E-83E6-4239-8E02-1B825901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1597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7C3CE4E-83E6-4239-8E02-1B8259014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endParaRPr lang="zh-TW" altLang="en-US" dirty="0"/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6F3A1BC4-7390-4E4D-9860-1423E41C0DF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9660829"/>
              </p:ext>
            </p:extLst>
          </p:nvPr>
        </p:nvGraphicFramePr>
        <p:xfrm>
          <a:off x="341784" y="2801290"/>
          <a:ext cx="84604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4192">
                  <a:extLst>
                    <a:ext uri="{9D8B030D-6E8A-4147-A177-3AD203B41FA5}">
                      <a16:colId xmlns:a16="http://schemas.microsoft.com/office/drawing/2014/main" val="3952528916"/>
                    </a:ext>
                  </a:extLst>
                </a:gridCol>
                <a:gridCol w="2223120">
                  <a:extLst>
                    <a:ext uri="{9D8B030D-6E8A-4147-A177-3AD203B41FA5}">
                      <a16:colId xmlns:a16="http://schemas.microsoft.com/office/drawing/2014/main" val="954914287"/>
                    </a:ext>
                  </a:extLst>
                </a:gridCol>
                <a:gridCol w="2223120">
                  <a:extLst>
                    <a:ext uri="{9D8B030D-6E8A-4147-A177-3AD203B41FA5}">
                      <a16:colId xmlns:a16="http://schemas.microsoft.com/office/drawing/2014/main" val="33801411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379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Multiplayer Perceptron(MLP)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97.34|84.31|37.80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99.88|96.48|53.11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28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Autoencoder(AE-MLP)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96.63|86.18|41.73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99.72|95.33|51.28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000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grandmasters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94.74|88.30|73.68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88.34|81.63|53.06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53435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4B774BAE-1000-4CB2-9629-374A20553888}"/>
              </a:ext>
            </a:extLst>
          </p:cNvPr>
          <p:cNvSpPr txBox="1"/>
          <p:nvPr/>
        </p:nvSpPr>
        <p:spPr>
          <a:xfrm>
            <a:off x="1115616" y="1988840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(52x4)-(13x4)-13-1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BBF2197-F964-464E-AB82-C6D4D981EB0D}"/>
              </a:ext>
            </a:extLst>
          </p:cNvPr>
          <p:cNvSpPr txBox="1"/>
          <p:nvPr/>
        </p:nvSpPr>
        <p:spPr>
          <a:xfrm>
            <a:off x="4067944" y="1767281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(52x4)-(26x4)-26-13-1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B69EBB3-D1AE-4C35-BA45-165726DFE612}"/>
              </a:ext>
            </a:extLst>
          </p:cNvPr>
          <p:cNvSpPr txBox="1"/>
          <p:nvPr/>
        </p:nvSpPr>
        <p:spPr>
          <a:xfrm>
            <a:off x="539552" y="5327983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(52x4)-(26x4)-52-13-14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100B0EE-85C0-44F7-AD49-E2D875AE3408}"/>
              </a:ext>
            </a:extLst>
          </p:cNvPr>
          <p:cNvCxnSpPr/>
          <p:nvPr/>
        </p:nvCxnSpPr>
        <p:spPr>
          <a:xfrm>
            <a:off x="2627784" y="2358172"/>
            <a:ext cx="1800200" cy="926812"/>
          </a:xfrm>
          <a:prstGeom prst="straightConnector1">
            <a:avLst/>
          </a:prstGeom>
          <a:ln w="1143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5557DF7-489E-4B47-992A-C84ACD482C23}"/>
              </a:ext>
            </a:extLst>
          </p:cNvPr>
          <p:cNvCxnSpPr>
            <a:cxnSpLocks/>
          </p:cNvCxnSpPr>
          <p:nvPr/>
        </p:nvCxnSpPr>
        <p:spPr>
          <a:xfrm>
            <a:off x="5102932" y="2216780"/>
            <a:ext cx="1512168" cy="1091190"/>
          </a:xfrm>
          <a:prstGeom prst="straightConnector1">
            <a:avLst/>
          </a:prstGeom>
          <a:ln w="1143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88E531A9-3C00-44C9-9B63-4B58EDF7B77B}"/>
              </a:ext>
            </a:extLst>
          </p:cNvPr>
          <p:cNvCxnSpPr>
            <a:cxnSpLocks/>
          </p:cNvCxnSpPr>
          <p:nvPr/>
        </p:nvCxnSpPr>
        <p:spPr>
          <a:xfrm flipV="1">
            <a:off x="2627784" y="3654316"/>
            <a:ext cx="1800200" cy="1516570"/>
          </a:xfrm>
          <a:prstGeom prst="straightConnector1">
            <a:avLst/>
          </a:prstGeom>
          <a:ln w="1143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8E07012-5600-4227-9526-1C15B0F110BA}"/>
              </a:ext>
            </a:extLst>
          </p:cNvPr>
          <p:cNvCxnSpPr>
            <a:cxnSpLocks/>
          </p:cNvCxnSpPr>
          <p:nvPr/>
        </p:nvCxnSpPr>
        <p:spPr>
          <a:xfrm flipV="1">
            <a:off x="3923928" y="3844623"/>
            <a:ext cx="2691172" cy="1695595"/>
          </a:xfrm>
          <a:prstGeom prst="straightConnector1">
            <a:avLst/>
          </a:prstGeom>
          <a:ln w="1143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692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representation of a deal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1465E49-B042-4A1D-A4E7-FF69CCFBA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3535"/>
            <a:ext cx="9144000" cy="461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78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CNN-Based DDBP Solver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A387D6-8A44-467C-86CE-DBA8D2415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995" y="1772816"/>
            <a:ext cx="8456009" cy="186922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EAA8AFF-45EE-4CA5-B9A4-8812D94EC6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79"/>
          <a:stretch/>
        </p:blipFill>
        <p:spPr>
          <a:xfrm>
            <a:off x="1763688" y="3789040"/>
            <a:ext cx="2361084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28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CNN-Based DDBP Solver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A387D6-8A44-467C-86CE-DBA8D2415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995" y="1772816"/>
            <a:ext cx="8456009" cy="186922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EAA8AFF-45EE-4CA5-B9A4-8812D94EC6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79"/>
          <a:stretch/>
        </p:blipFill>
        <p:spPr>
          <a:xfrm>
            <a:off x="1763688" y="3789040"/>
            <a:ext cx="2361084" cy="2705100"/>
          </a:xfrm>
          <a:prstGeom prst="rect">
            <a:avLst/>
          </a:prstGeom>
        </p:spPr>
      </p:pic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62E43105-618E-46AF-845A-6125ED8E0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587127"/>
              </p:ext>
            </p:extLst>
          </p:nvPr>
        </p:nvGraphicFramePr>
        <p:xfrm>
          <a:off x="863587" y="1696203"/>
          <a:ext cx="7416825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275">
                  <a:extLst>
                    <a:ext uri="{9D8B030D-6E8A-4147-A177-3AD203B41FA5}">
                      <a16:colId xmlns:a16="http://schemas.microsoft.com/office/drawing/2014/main" val="470068864"/>
                    </a:ext>
                  </a:extLst>
                </a:gridCol>
                <a:gridCol w="2472275">
                  <a:extLst>
                    <a:ext uri="{9D8B030D-6E8A-4147-A177-3AD203B41FA5}">
                      <a16:colId xmlns:a16="http://schemas.microsoft.com/office/drawing/2014/main" val="1805576538"/>
                    </a:ext>
                  </a:extLst>
                </a:gridCol>
                <a:gridCol w="2472275">
                  <a:extLst>
                    <a:ext uri="{9D8B030D-6E8A-4147-A177-3AD203B41FA5}">
                      <a16:colId xmlns:a16="http://schemas.microsoft.com/office/drawing/2014/main" val="347064439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Hyperparameter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Value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8721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45350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Convolutional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3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 of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932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Filter sizes in successive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(12x13), (12x13), (2x3), (2x3)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(12x13), (12x13), (2x3)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47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 of filters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39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Activation function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SELU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583161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Fully connected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221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 of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and output layer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77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Number of neurons in successive layers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52, 52, 26, 26, 14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52, 52, 52, 52, 14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546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TW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Activation function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ELU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Softplus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660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306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A387D6-8A44-467C-86CE-DBA8D2415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" y="1628800"/>
            <a:ext cx="8512665" cy="184223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FEEDAEF-629E-43D6-89FA-364E256542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4"/>
          <a:stretch/>
        </p:blipFill>
        <p:spPr>
          <a:xfrm>
            <a:off x="11858" y="2335543"/>
            <a:ext cx="8512665" cy="141642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14AE3E03-B17E-41FD-9907-EF98925732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4"/>
          <a:stretch/>
        </p:blipFill>
        <p:spPr>
          <a:xfrm>
            <a:off x="11858" y="2570720"/>
            <a:ext cx="8512665" cy="141642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4A28B11-E0F7-41BB-9721-2B79893408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4"/>
          <a:stretch/>
        </p:blipFill>
        <p:spPr>
          <a:xfrm>
            <a:off x="11858" y="2880414"/>
            <a:ext cx="8512665" cy="141642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3ABD7FF-6FE1-4BA9-AFBD-E858076035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4"/>
          <a:stretch/>
        </p:blipFill>
        <p:spPr>
          <a:xfrm>
            <a:off x="11858" y="3161346"/>
            <a:ext cx="8512665" cy="141642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73FE8B0-4F17-45C6-BEEE-11CD8E3E77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4"/>
          <a:stretch/>
        </p:blipFill>
        <p:spPr>
          <a:xfrm>
            <a:off x="11858" y="3471039"/>
            <a:ext cx="8512665" cy="141642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3936E76-601B-4A85-A27E-7DE449A60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4"/>
          <a:stretch/>
        </p:blipFill>
        <p:spPr>
          <a:xfrm>
            <a:off x="11858" y="3780732"/>
            <a:ext cx="8512665" cy="1416428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A2760818-BE7F-42C8-9D56-B35412629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4"/>
          <a:stretch/>
        </p:blipFill>
        <p:spPr>
          <a:xfrm>
            <a:off x="11858" y="4024407"/>
            <a:ext cx="8512665" cy="1416428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B18CCE2-D0F6-492A-8071-FBDEEA799F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4"/>
          <a:stretch/>
        </p:blipFill>
        <p:spPr>
          <a:xfrm>
            <a:off x="11858" y="4327236"/>
            <a:ext cx="8512665" cy="1416428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D43C166-7799-4B95-BC5A-8B66B52DBE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114"/>
          <a:stretch/>
        </p:blipFill>
        <p:spPr>
          <a:xfrm>
            <a:off x="11858" y="4605064"/>
            <a:ext cx="8512665" cy="1416428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23F7DA77-DF47-4DA2-A3AB-2C90830012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42" b="12364"/>
          <a:stretch/>
        </p:blipFill>
        <p:spPr>
          <a:xfrm>
            <a:off x="24947" y="5171667"/>
            <a:ext cx="8512665" cy="1143994"/>
          </a:xfrm>
          <a:prstGeom prst="rect">
            <a:avLst/>
          </a:prstGeom>
        </p:spPr>
      </p:pic>
      <p:sp>
        <p:nvSpPr>
          <p:cNvPr id="24" name="右大括弧 23">
            <a:extLst>
              <a:ext uri="{FF2B5EF4-FFF2-40B4-BE49-F238E27FC236}">
                <a16:creationId xmlns:a16="http://schemas.microsoft.com/office/drawing/2014/main" id="{2E1BFC5E-FF20-453B-9344-58F79F981291}"/>
              </a:ext>
            </a:extLst>
          </p:cNvPr>
          <p:cNvSpPr/>
          <p:nvPr/>
        </p:nvSpPr>
        <p:spPr>
          <a:xfrm>
            <a:off x="8388424" y="1628800"/>
            <a:ext cx="298376" cy="45365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7B7B7A2-5A21-41ED-AC7C-048AC1B6953F}"/>
              </a:ext>
            </a:extLst>
          </p:cNvPr>
          <p:cNvSpPr txBox="1"/>
          <p:nvPr/>
        </p:nvSpPr>
        <p:spPr>
          <a:xfrm>
            <a:off x="8686300" y="3712386"/>
            <a:ext cx="44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5163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0E2F2-CCCA-4200-BB16-282353005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8401"/>
              </p:ext>
            </p:extLst>
          </p:nvPr>
        </p:nvGraphicFramePr>
        <p:xfrm>
          <a:off x="161763" y="2484120"/>
          <a:ext cx="8820473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1479">
                  <a:extLst>
                    <a:ext uri="{9D8B030D-6E8A-4147-A177-3AD203B41FA5}">
                      <a16:colId xmlns:a16="http://schemas.microsoft.com/office/drawing/2014/main" val="2846939656"/>
                    </a:ext>
                  </a:extLst>
                </a:gridCol>
                <a:gridCol w="2789497">
                  <a:extLst>
                    <a:ext uri="{9D8B030D-6E8A-4147-A177-3AD203B41FA5}">
                      <a16:colId xmlns:a16="http://schemas.microsoft.com/office/drawing/2014/main" val="2672714552"/>
                    </a:ext>
                  </a:extLst>
                </a:gridCol>
                <a:gridCol w="2789497">
                  <a:extLst>
                    <a:ext uri="{9D8B030D-6E8A-4147-A177-3AD203B41FA5}">
                      <a16:colId xmlns:a16="http://schemas.microsoft.com/office/drawing/2014/main" val="1891879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752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98.03|93.17|57.24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99.89|97.84|58.42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68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deviation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00.18|00.44|00.89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00.02|00.21|00.90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838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96.63|86.18|41.73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99.88|96.48|53.11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12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502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5761A329-8E52-4150-8FAA-AE97156F5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24504"/>
              </p:ext>
            </p:extLst>
          </p:nvPr>
        </p:nvGraphicFramePr>
        <p:xfrm>
          <a:off x="354359" y="1539240"/>
          <a:ext cx="8435281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552">
                  <a:extLst>
                    <a:ext uri="{9D8B030D-6E8A-4147-A177-3AD203B41FA5}">
                      <a16:colId xmlns:a16="http://schemas.microsoft.com/office/drawing/2014/main" val="2894031882"/>
                    </a:ext>
                  </a:extLst>
                </a:gridCol>
                <a:gridCol w="1394965">
                  <a:extLst>
                    <a:ext uri="{9D8B030D-6E8A-4147-A177-3AD203B41FA5}">
                      <a16:colId xmlns:a16="http://schemas.microsoft.com/office/drawing/2014/main" val="2832444657"/>
                    </a:ext>
                  </a:extLst>
                </a:gridCol>
                <a:gridCol w="2507382">
                  <a:extLst>
                    <a:ext uri="{9D8B030D-6E8A-4147-A177-3AD203B41FA5}">
                      <a16:colId xmlns:a16="http://schemas.microsoft.com/office/drawing/2014/main" val="2873751818"/>
                    </a:ext>
                  </a:extLst>
                </a:gridCol>
                <a:gridCol w="2507382">
                  <a:extLst>
                    <a:ext uri="{9D8B030D-6E8A-4147-A177-3AD203B41FA5}">
                      <a16:colId xmlns:a16="http://schemas.microsoft.com/office/drawing/2014/main" val="205774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Voting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83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98.55|95.16|63.46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99.93|98.79|63.62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1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98.61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95.39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|64.13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99.94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98.83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63.83</a:t>
                      </a:r>
                      <a:endParaRPr lang="zh-TW" altLang="en-US" sz="2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9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98.08|93.68|58.40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99.91|98.27|60.37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07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98.15|94.03|59.08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99.91|98.38|60.87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50182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98.03|93.17|57.24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99.89|97.84|58.42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4177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96.63|86.18|41.73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99.88|96.48|53.11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679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grandmasters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94.74|88.30|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73.68</a:t>
                      </a:r>
                      <a:endParaRPr lang="zh-TW" altLang="en-US" sz="2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88.34|81.63|53.06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88483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7C1A9EB-FF56-447C-B797-6C3A7BCA13E1}"/>
                  </a:ext>
                </a:extLst>
              </p:cNvPr>
              <p:cNvSpPr txBox="1"/>
              <p:nvPr/>
            </p:nvSpPr>
            <p:spPr>
              <a:xfrm>
                <a:off x="354359" y="5589240"/>
                <a:ext cx="843528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set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Full :</a:t>
                </a:r>
                <a:r>
                  <a:rPr lang="en-US" altLang="zh-TW" b="0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  <a:r>
                  <a:rPr lang="en-US" altLang="zh-TW" b="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Model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)…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Bagging : Model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Model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Model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)… </a:t>
                </a:r>
                <a:endParaRPr lang="zh-TW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7C1A9EB-FF56-447C-B797-6C3A7BCA1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9" y="5589240"/>
                <a:ext cx="8435281" cy="923330"/>
              </a:xfrm>
              <a:prstGeom prst="rect">
                <a:avLst/>
              </a:prstGeom>
              <a:blipFill>
                <a:blip r:embed="rId2"/>
                <a:stretch>
                  <a:fillRect l="-578" t="-3974" b="-99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9805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67FF01-B4C6-47FE-AA74-80A9B3DB2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endParaRPr lang="zh-TW" altLang="en-US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5761A329-8E52-4150-8FAA-AE97156F5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419868"/>
              </p:ext>
            </p:extLst>
          </p:nvPr>
        </p:nvGraphicFramePr>
        <p:xfrm>
          <a:off x="354359" y="1539240"/>
          <a:ext cx="8435281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552">
                  <a:extLst>
                    <a:ext uri="{9D8B030D-6E8A-4147-A177-3AD203B41FA5}">
                      <a16:colId xmlns:a16="http://schemas.microsoft.com/office/drawing/2014/main" val="2894031882"/>
                    </a:ext>
                  </a:extLst>
                </a:gridCol>
                <a:gridCol w="1394965">
                  <a:extLst>
                    <a:ext uri="{9D8B030D-6E8A-4147-A177-3AD203B41FA5}">
                      <a16:colId xmlns:a16="http://schemas.microsoft.com/office/drawing/2014/main" val="2832444657"/>
                    </a:ext>
                  </a:extLst>
                </a:gridCol>
                <a:gridCol w="2507382">
                  <a:extLst>
                    <a:ext uri="{9D8B030D-6E8A-4147-A177-3AD203B41FA5}">
                      <a16:colId xmlns:a16="http://schemas.microsoft.com/office/drawing/2014/main" val="2873751818"/>
                    </a:ext>
                  </a:extLst>
                </a:gridCol>
                <a:gridCol w="2507382">
                  <a:extLst>
                    <a:ext uri="{9D8B030D-6E8A-4147-A177-3AD203B41FA5}">
                      <a16:colId xmlns:a16="http://schemas.microsoft.com/office/drawing/2014/main" val="205774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set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Voting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NT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 Contracts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83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98.55|95.16|63.46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99.93|98.79|63.62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41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98.61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95.39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|64.13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99.94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98.83</a:t>
                      </a: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63.83</a:t>
                      </a:r>
                      <a:endParaRPr lang="zh-TW" altLang="en-US" sz="2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92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98.08|93.68|58.40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99.91|98.27|60.37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07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Bagging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98.15|94.03|59.08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99.91|98.38|60.87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50182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98.03|93.17|57.24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99.89|97.84|58.42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417775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State-of-the-art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96.63|86.18|41.73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99.88|96.48|53.11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679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altLang="zh-TW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grandmasters</a:t>
                      </a:r>
                      <a:endParaRPr lang="zh-TW" alt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94.74|88.30|</a:t>
                      </a: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73.68</a:t>
                      </a:r>
                      <a:endParaRPr lang="zh-TW" altLang="en-US" sz="25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88.34|81.63|53.06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884834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37C1A9EB-FF56-447C-B797-6C3A7BCA13E1}"/>
              </a:ext>
            </a:extLst>
          </p:cNvPr>
          <p:cNvSpPr txBox="1"/>
          <p:nvPr/>
        </p:nvSpPr>
        <p:spPr>
          <a:xfrm>
            <a:off x="354359" y="5465107"/>
            <a:ext cx="84352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voting: Where each individual model votes for the class and the ensemble result is determined by a majority vote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voting: Involving the summation of probabilities assigned to each class by individual classifiers – the highest sum becomes the ensemble outcome.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061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9676</TotalTime>
  <Words>623</Words>
  <Application>Microsoft Office PowerPoint</Application>
  <PresentationFormat>如螢幕大小 (4:3)</PresentationFormat>
  <Paragraphs>141</Paragraphs>
  <Slides>15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Times New Roman</vt:lpstr>
      <vt:lpstr>Office 佈景主題</vt:lpstr>
      <vt:lpstr>Towards Human-Level Performance in Solving Double Dummy Bridge Problem</vt:lpstr>
      <vt:lpstr>Abstract</vt:lpstr>
      <vt:lpstr>Abstract</vt:lpstr>
      <vt:lpstr>Introduction</vt:lpstr>
      <vt:lpstr>Double Dummy Bridge Problem(DDBP)</vt:lpstr>
      <vt:lpstr>Previous</vt:lpstr>
      <vt:lpstr>Previous</vt:lpstr>
      <vt:lpstr>Previous</vt:lpstr>
      <vt:lpstr>Current representation of a deal</vt:lpstr>
      <vt:lpstr>Baseline CNN-Based DDBP Solver</vt:lpstr>
      <vt:lpstr>Baseline CNN-Based DDBP Solver</vt:lpstr>
      <vt:lpstr>Experimental</vt:lpstr>
      <vt:lpstr>Experimental</vt:lpstr>
      <vt:lpstr>Experimental</vt:lpstr>
      <vt:lpstr>Experimental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faster algorithm for finding shortest substring matches of a regular expression</dc:title>
  <dc:creator>M093040098</dc:creator>
  <cp:lastModifiedBy>M093040098</cp:lastModifiedBy>
  <cp:revision>369</cp:revision>
  <dcterms:created xsi:type="dcterms:W3CDTF">2020-10-30T08:30:28Z</dcterms:created>
  <dcterms:modified xsi:type="dcterms:W3CDTF">2022-01-09T07:52:13Z</dcterms:modified>
</cp:coreProperties>
</file>