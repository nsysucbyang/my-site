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60" r:id="rId4"/>
    <p:sldId id="261" r:id="rId5"/>
    <p:sldId id="273" r:id="rId6"/>
    <p:sldId id="274" r:id="rId7"/>
    <p:sldId id="280" r:id="rId8"/>
    <p:sldId id="262" r:id="rId9"/>
    <p:sldId id="275" r:id="rId10"/>
    <p:sldId id="282" r:id="rId11"/>
    <p:sldId id="264" r:id="rId12"/>
    <p:sldId id="265" r:id="rId13"/>
    <p:sldId id="279" r:id="rId14"/>
    <p:sldId id="281" r:id="rId15"/>
    <p:sldId id="277" r:id="rId16"/>
    <p:sldId id="278" r:id="rId17"/>
    <p:sldId id="276" r:id="rId18"/>
    <p:sldId id="267" r:id="rId19"/>
    <p:sldId id="268" r:id="rId20"/>
    <p:sldId id="266" r:id="rId21"/>
    <p:sldId id="259" r:id="rId22"/>
    <p:sldId id="271" r:id="rId23"/>
    <p:sldId id="270" r:id="rId24"/>
    <p:sldId id="272" r:id="rId25"/>
    <p:sldId id="269" r:id="rId2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7" autoAdjust="0"/>
    <p:restoredTop sz="79720" autoAdjust="0"/>
  </p:normalViewPr>
  <p:slideViewPr>
    <p:cSldViewPr snapToGrid="0">
      <p:cViewPr varScale="1">
        <p:scale>
          <a:sx n="62" d="100"/>
          <a:sy n="62" d="100"/>
        </p:scale>
        <p:origin x="72"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D5A55C-1885-402A-BAC5-B6B41C40BE29}" type="datetimeFigureOut">
              <a:rPr lang="zh-TW" altLang="en-US" smtClean="0"/>
              <a:t>2022/1/11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6AC728-FD9E-441B-B779-DEEFAADA2699}" type="slidenum">
              <a:rPr lang="zh-TW" altLang="en-US" smtClean="0"/>
              <a:t>‹#›</a:t>
            </a:fld>
            <a:endParaRPr lang="zh-TW" altLang="en-US"/>
          </a:p>
        </p:txBody>
      </p:sp>
    </p:spTree>
    <p:extLst>
      <p:ext uri="{BB962C8B-B14F-4D97-AF65-F5344CB8AC3E}">
        <p14:creationId xmlns:p14="http://schemas.microsoft.com/office/powerpoint/2010/main" val="362725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每個</a:t>
            </a:r>
            <a:r>
              <a:rPr lang="en-US" altLang="zh-TW" dirty="0"/>
              <a:t>task</a:t>
            </a:r>
            <a:r>
              <a:rPr lang="zh-TW" altLang="en-US" dirty="0"/>
              <a:t>選最早完成的</a:t>
            </a:r>
            <a:r>
              <a:rPr lang="en-US" altLang="zh-TW" dirty="0"/>
              <a:t>P</a:t>
            </a:r>
            <a:endParaRPr lang="zh-TW" altLang="en-US" dirty="0"/>
          </a:p>
        </p:txBody>
      </p:sp>
      <p:sp>
        <p:nvSpPr>
          <p:cNvPr id="4" name="投影片編號版面配置區 3"/>
          <p:cNvSpPr>
            <a:spLocks noGrp="1"/>
          </p:cNvSpPr>
          <p:nvPr>
            <p:ph type="sldNum" sz="quarter" idx="5"/>
          </p:nvPr>
        </p:nvSpPr>
        <p:spPr/>
        <p:txBody>
          <a:bodyPr/>
          <a:lstStyle/>
          <a:p>
            <a:fld id="{D56AC728-FD9E-441B-B779-DEEFAADA2699}" type="slidenum">
              <a:rPr lang="zh-TW" altLang="en-US" smtClean="0"/>
              <a:t>5</a:t>
            </a:fld>
            <a:endParaRPr lang="zh-TW" altLang="en-US"/>
          </a:p>
        </p:txBody>
      </p:sp>
    </p:spTree>
    <p:extLst>
      <p:ext uri="{BB962C8B-B14F-4D97-AF65-F5344CB8AC3E}">
        <p14:creationId xmlns:p14="http://schemas.microsoft.com/office/powerpoint/2010/main" val="1373901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每個</a:t>
            </a:r>
            <a:r>
              <a:rPr lang="en-US" altLang="zh-TW" dirty="0"/>
              <a:t>task</a:t>
            </a:r>
            <a:r>
              <a:rPr lang="zh-TW" altLang="en-US" dirty="0"/>
              <a:t>選最早完成的</a:t>
            </a:r>
            <a:r>
              <a:rPr lang="en-US" altLang="zh-TW" dirty="0"/>
              <a:t>P</a:t>
            </a:r>
            <a:endParaRPr lang="zh-TW" altLang="en-US" dirty="0"/>
          </a:p>
        </p:txBody>
      </p:sp>
      <p:sp>
        <p:nvSpPr>
          <p:cNvPr id="4" name="投影片編號版面配置區 3"/>
          <p:cNvSpPr>
            <a:spLocks noGrp="1"/>
          </p:cNvSpPr>
          <p:nvPr>
            <p:ph type="sldNum" sz="quarter" idx="5"/>
          </p:nvPr>
        </p:nvSpPr>
        <p:spPr/>
        <p:txBody>
          <a:bodyPr/>
          <a:lstStyle/>
          <a:p>
            <a:fld id="{D56AC728-FD9E-441B-B779-DEEFAADA2699}" type="slidenum">
              <a:rPr lang="zh-TW" altLang="en-US" smtClean="0"/>
              <a:t>6</a:t>
            </a:fld>
            <a:endParaRPr lang="zh-TW" altLang="en-US"/>
          </a:p>
        </p:txBody>
      </p:sp>
    </p:spTree>
    <p:extLst>
      <p:ext uri="{BB962C8B-B14F-4D97-AF65-F5344CB8AC3E}">
        <p14:creationId xmlns:p14="http://schemas.microsoft.com/office/powerpoint/2010/main" val="872309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若與原先的任務優先順序不同則不交換</a:t>
            </a:r>
          </a:p>
        </p:txBody>
      </p:sp>
      <p:sp>
        <p:nvSpPr>
          <p:cNvPr id="4" name="投影片編號版面配置區 3"/>
          <p:cNvSpPr>
            <a:spLocks noGrp="1"/>
          </p:cNvSpPr>
          <p:nvPr>
            <p:ph type="sldNum" sz="quarter" idx="5"/>
          </p:nvPr>
        </p:nvSpPr>
        <p:spPr/>
        <p:txBody>
          <a:bodyPr/>
          <a:lstStyle/>
          <a:p>
            <a:fld id="{D56AC728-FD9E-441B-B779-DEEFAADA2699}" type="slidenum">
              <a:rPr lang="zh-TW" altLang="en-US" smtClean="0"/>
              <a:t>11</a:t>
            </a:fld>
            <a:endParaRPr lang="zh-TW" altLang="en-US"/>
          </a:p>
        </p:txBody>
      </p:sp>
    </p:spTree>
    <p:extLst>
      <p:ext uri="{BB962C8B-B14F-4D97-AF65-F5344CB8AC3E}">
        <p14:creationId xmlns:p14="http://schemas.microsoft.com/office/powerpoint/2010/main" val="2852921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alpha</a:t>
            </a:r>
            <a:r>
              <a:rPr lang="zh-TW" altLang="en-US" dirty="0"/>
              <a:t>較低的值會導致 </a:t>
            </a:r>
            <a:r>
              <a:rPr lang="en-US" altLang="zh-TW" dirty="0"/>
              <a:t>DAG </a:t>
            </a:r>
            <a:r>
              <a:rPr lang="zh-TW" altLang="en-US" dirty="0"/>
              <a:t>的並行度較低 </a:t>
            </a:r>
            <a:r>
              <a:rPr lang="en-US" altLang="zh-TW" dirty="0"/>
              <a:t>[5]</a:t>
            </a:r>
            <a:r>
              <a:rPr lang="zh-TW" altLang="en-US" dirty="0"/>
              <a:t>。</a:t>
            </a:r>
            <a:endParaRPr lang="en-US" altLang="zh-TW" dirty="0"/>
          </a:p>
          <a:p>
            <a:r>
              <a:rPr lang="zh-TW" altLang="en-US" dirty="0"/>
              <a:t>易購的變異性高低</a:t>
            </a:r>
          </a:p>
        </p:txBody>
      </p:sp>
      <p:sp>
        <p:nvSpPr>
          <p:cNvPr id="4" name="投影片編號版面配置區 3"/>
          <p:cNvSpPr>
            <a:spLocks noGrp="1"/>
          </p:cNvSpPr>
          <p:nvPr>
            <p:ph type="sldNum" sz="quarter" idx="5"/>
          </p:nvPr>
        </p:nvSpPr>
        <p:spPr/>
        <p:txBody>
          <a:bodyPr/>
          <a:lstStyle/>
          <a:p>
            <a:fld id="{D56AC728-FD9E-441B-B779-DEEFAADA2699}" type="slidenum">
              <a:rPr lang="zh-TW" altLang="en-US" smtClean="0"/>
              <a:t>18</a:t>
            </a:fld>
            <a:endParaRPr lang="zh-TW" altLang="en-US"/>
          </a:p>
        </p:txBody>
      </p:sp>
    </p:spTree>
    <p:extLst>
      <p:ext uri="{BB962C8B-B14F-4D97-AF65-F5344CB8AC3E}">
        <p14:creationId xmlns:p14="http://schemas.microsoft.com/office/powerpoint/2010/main" val="429041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8DA2FE-38A9-43C3-AE3E-3D7DC028C2C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dirty="0"/>
          </a:p>
        </p:txBody>
      </p:sp>
      <p:sp>
        <p:nvSpPr>
          <p:cNvPr id="3" name="副標題 2">
            <a:extLst>
              <a:ext uri="{FF2B5EF4-FFF2-40B4-BE49-F238E27FC236}">
                <a16:creationId xmlns:a16="http://schemas.microsoft.com/office/drawing/2014/main" id="{C28DA793-1ED9-4AC5-ADE6-717C6E441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96CD283-2E6E-45B0-AE40-0E03201963B9}"/>
              </a:ext>
            </a:extLst>
          </p:cNvPr>
          <p:cNvSpPr>
            <a:spLocks noGrp="1"/>
          </p:cNvSpPr>
          <p:nvPr>
            <p:ph type="dt" sz="half" idx="10"/>
          </p:nvPr>
        </p:nvSpPr>
        <p:spPr/>
        <p:txBody>
          <a:bodyPr/>
          <a:lstStyle/>
          <a:p>
            <a:fld id="{F4A2503F-1177-4A4E-8015-3B0661847685}" type="datetimeFigureOut">
              <a:rPr lang="zh-TW" altLang="en-US" smtClean="0"/>
              <a:t>2022/1/11</a:t>
            </a:fld>
            <a:endParaRPr lang="zh-TW" altLang="en-US"/>
          </a:p>
        </p:txBody>
      </p:sp>
      <p:sp>
        <p:nvSpPr>
          <p:cNvPr id="5" name="頁尾版面配置區 4">
            <a:extLst>
              <a:ext uri="{FF2B5EF4-FFF2-40B4-BE49-F238E27FC236}">
                <a16:creationId xmlns:a16="http://schemas.microsoft.com/office/drawing/2014/main" id="{1CBFBBAF-E448-48D6-9C98-4F7ED65D41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D44C46B-486A-4EEB-AE91-FC848E313F0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51876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56184D-7BA3-45BD-B790-90F61BE6AA6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2E43BFC-2DD2-4C4E-A3DC-B1498A5C7BFE}"/>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E2AF72A-38B9-4AAF-8A61-A362036F1EAA}"/>
              </a:ext>
            </a:extLst>
          </p:cNvPr>
          <p:cNvSpPr>
            <a:spLocks noGrp="1"/>
          </p:cNvSpPr>
          <p:nvPr>
            <p:ph type="dt" sz="half" idx="10"/>
          </p:nvPr>
        </p:nvSpPr>
        <p:spPr/>
        <p:txBody>
          <a:bodyPr/>
          <a:lstStyle/>
          <a:p>
            <a:fld id="{F4A2503F-1177-4A4E-8015-3B0661847685}" type="datetimeFigureOut">
              <a:rPr lang="zh-TW" altLang="en-US" smtClean="0"/>
              <a:t>2022/1/11</a:t>
            </a:fld>
            <a:endParaRPr lang="zh-TW" altLang="en-US"/>
          </a:p>
        </p:txBody>
      </p:sp>
      <p:sp>
        <p:nvSpPr>
          <p:cNvPr id="5" name="頁尾版面配置區 4">
            <a:extLst>
              <a:ext uri="{FF2B5EF4-FFF2-40B4-BE49-F238E27FC236}">
                <a16:creationId xmlns:a16="http://schemas.microsoft.com/office/drawing/2014/main" id="{259927B3-B328-427A-B723-042ACF31DE9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4E6C5C-F026-4D4A-9396-A8E02D240B3A}"/>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888124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94A83-2AAB-4A5C-A410-587CB4BA1C7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9E32E77-4D2E-4E74-A383-EA8A4FB5FB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AA91082-4FBD-4622-B1DF-8A9487D073B0}"/>
              </a:ext>
            </a:extLst>
          </p:cNvPr>
          <p:cNvSpPr>
            <a:spLocks noGrp="1"/>
          </p:cNvSpPr>
          <p:nvPr>
            <p:ph type="dt" sz="half" idx="10"/>
          </p:nvPr>
        </p:nvSpPr>
        <p:spPr/>
        <p:txBody>
          <a:bodyPr/>
          <a:lstStyle/>
          <a:p>
            <a:fld id="{F4A2503F-1177-4A4E-8015-3B0661847685}" type="datetimeFigureOut">
              <a:rPr lang="zh-TW" altLang="en-US" smtClean="0"/>
              <a:t>2022/1/11</a:t>
            </a:fld>
            <a:endParaRPr lang="zh-TW" altLang="en-US"/>
          </a:p>
        </p:txBody>
      </p:sp>
      <p:sp>
        <p:nvSpPr>
          <p:cNvPr id="5" name="頁尾版面配置區 4">
            <a:extLst>
              <a:ext uri="{FF2B5EF4-FFF2-40B4-BE49-F238E27FC236}">
                <a16:creationId xmlns:a16="http://schemas.microsoft.com/office/drawing/2014/main" id="{0F5F8BDE-A8F0-4DAC-99B2-50D2C0076B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8DC32A-8949-44F7-81E2-B83CF99B6149}"/>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919968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06E30-2946-483D-B775-554A96368A8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E3A773B-9F35-4E3D-A849-8D0145B8D16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5B11846-CABE-4EAB-BE62-420CD5D066C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BEC952-B9F4-416C-BB41-8EE327AE64DA}"/>
              </a:ext>
            </a:extLst>
          </p:cNvPr>
          <p:cNvSpPr>
            <a:spLocks noGrp="1"/>
          </p:cNvSpPr>
          <p:nvPr>
            <p:ph type="dt" sz="half" idx="10"/>
          </p:nvPr>
        </p:nvSpPr>
        <p:spPr/>
        <p:txBody>
          <a:bodyPr/>
          <a:lstStyle/>
          <a:p>
            <a:fld id="{F4A2503F-1177-4A4E-8015-3B0661847685}" type="datetimeFigureOut">
              <a:rPr lang="zh-TW" altLang="en-US" smtClean="0"/>
              <a:t>2022/1/11</a:t>
            </a:fld>
            <a:endParaRPr lang="zh-TW" altLang="en-US"/>
          </a:p>
        </p:txBody>
      </p:sp>
      <p:sp>
        <p:nvSpPr>
          <p:cNvPr id="6" name="頁尾版面配置區 5">
            <a:extLst>
              <a:ext uri="{FF2B5EF4-FFF2-40B4-BE49-F238E27FC236}">
                <a16:creationId xmlns:a16="http://schemas.microsoft.com/office/drawing/2014/main" id="{2FE91547-DAC4-4194-9975-1908B4FB91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8D607A5-83F1-4527-B1B7-BDF1CAEE3F0C}"/>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958607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54347C-74DC-4CB0-AED7-83CE1D00D21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A4958F8-A4BE-4B24-8356-FDD0A3445D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0894F9C-30F3-4BB9-B5A6-A3AE0063796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35A7371-F775-49D1-9F58-FCB95D2C16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B1B7DB5-49B1-46D6-BF9E-30B3944E893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A296A5A-46FE-4924-80F3-7CA1E9542C98}"/>
              </a:ext>
            </a:extLst>
          </p:cNvPr>
          <p:cNvSpPr>
            <a:spLocks noGrp="1"/>
          </p:cNvSpPr>
          <p:nvPr>
            <p:ph type="dt" sz="half" idx="10"/>
          </p:nvPr>
        </p:nvSpPr>
        <p:spPr/>
        <p:txBody>
          <a:bodyPr/>
          <a:lstStyle/>
          <a:p>
            <a:fld id="{F4A2503F-1177-4A4E-8015-3B0661847685}" type="datetimeFigureOut">
              <a:rPr lang="zh-TW" altLang="en-US" smtClean="0"/>
              <a:t>2022/1/11</a:t>
            </a:fld>
            <a:endParaRPr lang="zh-TW" altLang="en-US"/>
          </a:p>
        </p:txBody>
      </p:sp>
      <p:sp>
        <p:nvSpPr>
          <p:cNvPr id="8" name="頁尾版面配置區 7">
            <a:extLst>
              <a:ext uri="{FF2B5EF4-FFF2-40B4-BE49-F238E27FC236}">
                <a16:creationId xmlns:a16="http://schemas.microsoft.com/office/drawing/2014/main" id="{F7C630AC-DFE1-4D71-9917-19247C1F85C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4B8C931-DB59-4526-8001-0E5FDF164AF8}"/>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99803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F63E41-CEC2-4F37-AAEA-7C0C0248FA3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B31E847-1C3E-4C63-AF56-AFC9B011C5D8}"/>
              </a:ext>
            </a:extLst>
          </p:cNvPr>
          <p:cNvSpPr>
            <a:spLocks noGrp="1"/>
          </p:cNvSpPr>
          <p:nvPr>
            <p:ph type="dt" sz="half" idx="10"/>
          </p:nvPr>
        </p:nvSpPr>
        <p:spPr/>
        <p:txBody>
          <a:bodyPr/>
          <a:lstStyle/>
          <a:p>
            <a:fld id="{F4A2503F-1177-4A4E-8015-3B0661847685}" type="datetimeFigureOut">
              <a:rPr lang="zh-TW" altLang="en-US" smtClean="0"/>
              <a:t>2022/1/11</a:t>
            </a:fld>
            <a:endParaRPr lang="zh-TW" altLang="en-US"/>
          </a:p>
        </p:txBody>
      </p:sp>
      <p:sp>
        <p:nvSpPr>
          <p:cNvPr id="4" name="頁尾版面配置區 3">
            <a:extLst>
              <a:ext uri="{FF2B5EF4-FFF2-40B4-BE49-F238E27FC236}">
                <a16:creationId xmlns:a16="http://schemas.microsoft.com/office/drawing/2014/main" id="{75085913-2E3E-4049-A848-946D845AACB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2C93600-AC47-4BCE-9D50-108C888DE3F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253514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E8C1A37-E1DB-4353-B8C2-449B11A093EA}"/>
              </a:ext>
            </a:extLst>
          </p:cNvPr>
          <p:cNvSpPr>
            <a:spLocks noGrp="1"/>
          </p:cNvSpPr>
          <p:nvPr>
            <p:ph type="dt" sz="half" idx="10"/>
          </p:nvPr>
        </p:nvSpPr>
        <p:spPr/>
        <p:txBody>
          <a:bodyPr/>
          <a:lstStyle/>
          <a:p>
            <a:fld id="{F4A2503F-1177-4A4E-8015-3B0661847685}" type="datetimeFigureOut">
              <a:rPr lang="zh-TW" altLang="en-US" smtClean="0"/>
              <a:t>2022/1/11</a:t>
            </a:fld>
            <a:endParaRPr lang="zh-TW" altLang="en-US"/>
          </a:p>
        </p:txBody>
      </p:sp>
      <p:sp>
        <p:nvSpPr>
          <p:cNvPr id="3" name="頁尾版面配置區 2">
            <a:extLst>
              <a:ext uri="{FF2B5EF4-FFF2-40B4-BE49-F238E27FC236}">
                <a16:creationId xmlns:a16="http://schemas.microsoft.com/office/drawing/2014/main" id="{FF3463C6-00AC-42CC-B63E-8629A2782FE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65053A4-6DC4-437D-8D38-E158378EE3C2}"/>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729107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70F7FC-8574-4AD7-9C06-68F6FAE49E6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D36714A-AF50-4099-93D9-86186ED92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6DBC3B7-42ED-430E-B62F-657278DD7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EE20C7E-F4DA-42C0-992D-559213079D7E}"/>
              </a:ext>
            </a:extLst>
          </p:cNvPr>
          <p:cNvSpPr>
            <a:spLocks noGrp="1"/>
          </p:cNvSpPr>
          <p:nvPr>
            <p:ph type="dt" sz="half" idx="10"/>
          </p:nvPr>
        </p:nvSpPr>
        <p:spPr/>
        <p:txBody>
          <a:bodyPr/>
          <a:lstStyle/>
          <a:p>
            <a:fld id="{F4A2503F-1177-4A4E-8015-3B0661847685}" type="datetimeFigureOut">
              <a:rPr lang="zh-TW" altLang="en-US" smtClean="0"/>
              <a:t>2022/1/11</a:t>
            </a:fld>
            <a:endParaRPr lang="zh-TW" altLang="en-US"/>
          </a:p>
        </p:txBody>
      </p:sp>
      <p:sp>
        <p:nvSpPr>
          <p:cNvPr id="6" name="頁尾版面配置區 5">
            <a:extLst>
              <a:ext uri="{FF2B5EF4-FFF2-40B4-BE49-F238E27FC236}">
                <a16:creationId xmlns:a16="http://schemas.microsoft.com/office/drawing/2014/main" id="{8143E935-5D8F-4668-9377-D6659857E2C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B7D27C-5EF8-4572-89F2-8DBEEA27503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732207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A067B3-FF39-49E4-9074-9B95C4A0943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6DD7DA6-20A5-4C3D-8DFC-2DB5745622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a:extLst>
              <a:ext uri="{FF2B5EF4-FFF2-40B4-BE49-F238E27FC236}">
                <a16:creationId xmlns:a16="http://schemas.microsoft.com/office/drawing/2014/main" id="{2986B126-0E5E-4052-A79B-6F1CCAFA1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DEA2E1D-5A5F-40CA-A36D-A312BE08442B}"/>
              </a:ext>
            </a:extLst>
          </p:cNvPr>
          <p:cNvSpPr>
            <a:spLocks noGrp="1"/>
          </p:cNvSpPr>
          <p:nvPr>
            <p:ph type="dt" sz="half" idx="10"/>
          </p:nvPr>
        </p:nvSpPr>
        <p:spPr/>
        <p:txBody>
          <a:bodyPr/>
          <a:lstStyle/>
          <a:p>
            <a:fld id="{F4A2503F-1177-4A4E-8015-3B0661847685}" type="datetimeFigureOut">
              <a:rPr lang="zh-TW" altLang="en-US" smtClean="0"/>
              <a:t>2022/1/11</a:t>
            </a:fld>
            <a:endParaRPr lang="zh-TW" altLang="en-US"/>
          </a:p>
        </p:txBody>
      </p:sp>
      <p:sp>
        <p:nvSpPr>
          <p:cNvPr id="6" name="頁尾版面配置區 5">
            <a:extLst>
              <a:ext uri="{FF2B5EF4-FFF2-40B4-BE49-F238E27FC236}">
                <a16:creationId xmlns:a16="http://schemas.microsoft.com/office/drawing/2014/main" id="{EF647EB2-1087-4D45-AAC7-C04A5AEEA5F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BB460F0-2254-479E-BFB4-4D507B459DF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88282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E3F87C-0C73-4569-942C-CF6451875A8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25398C3-786C-4DCC-95AE-F79AB1877A2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EB9FB1-20EF-4708-BBDB-3E1BCF2CE040}"/>
              </a:ext>
            </a:extLst>
          </p:cNvPr>
          <p:cNvSpPr>
            <a:spLocks noGrp="1"/>
          </p:cNvSpPr>
          <p:nvPr>
            <p:ph type="dt" sz="half" idx="10"/>
          </p:nvPr>
        </p:nvSpPr>
        <p:spPr/>
        <p:txBody>
          <a:bodyPr/>
          <a:lstStyle/>
          <a:p>
            <a:fld id="{F4A2503F-1177-4A4E-8015-3B0661847685}" type="datetimeFigureOut">
              <a:rPr lang="zh-TW" altLang="en-US" smtClean="0"/>
              <a:t>2022/1/11</a:t>
            </a:fld>
            <a:endParaRPr lang="zh-TW" altLang="en-US"/>
          </a:p>
        </p:txBody>
      </p:sp>
      <p:sp>
        <p:nvSpPr>
          <p:cNvPr id="5" name="頁尾版面配置區 4">
            <a:extLst>
              <a:ext uri="{FF2B5EF4-FFF2-40B4-BE49-F238E27FC236}">
                <a16:creationId xmlns:a16="http://schemas.microsoft.com/office/drawing/2014/main" id="{01F7FD53-A757-40F6-9969-6E0434DA469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DE0B9B2-5181-4FAA-87DA-6AD571741D36}"/>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350597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302A61-0C02-46CD-8DC8-BF935321287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dirty="0"/>
          </a:p>
        </p:txBody>
      </p:sp>
      <p:sp>
        <p:nvSpPr>
          <p:cNvPr id="3" name="直排文字版面配置區 2">
            <a:extLst>
              <a:ext uri="{FF2B5EF4-FFF2-40B4-BE49-F238E27FC236}">
                <a16:creationId xmlns:a16="http://schemas.microsoft.com/office/drawing/2014/main" id="{806A379B-846E-46F8-BF6E-611A4DA0A94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BB5C4E5-BA35-4FF8-99C5-98F1A8682EA8}"/>
              </a:ext>
            </a:extLst>
          </p:cNvPr>
          <p:cNvSpPr>
            <a:spLocks noGrp="1"/>
          </p:cNvSpPr>
          <p:nvPr>
            <p:ph type="dt" sz="half" idx="10"/>
          </p:nvPr>
        </p:nvSpPr>
        <p:spPr/>
        <p:txBody>
          <a:bodyPr/>
          <a:lstStyle/>
          <a:p>
            <a:fld id="{F4A2503F-1177-4A4E-8015-3B0661847685}" type="datetimeFigureOut">
              <a:rPr lang="zh-TW" altLang="en-US" smtClean="0"/>
              <a:t>2022/1/11</a:t>
            </a:fld>
            <a:endParaRPr lang="zh-TW" altLang="en-US"/>
          </a:p>
        </p:txBody>
      </p:sp>
      <p:sp>
        <p:nvSpPr>
          <p:cNvPr id="5" name="頁尾版面配置區 4">
            <a:extLst>
              <a:ext uri="{FF2B5EF4-FFF2-40B4-BE49-F238E27FC236}">
                <a16:creationId xmlns:a16="http://schemas.microsoft.com/office/drawing/2014/main" id="{AB141E24-01B9-40CC-8B56-3E2DDCCD7E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7F96409-420B-4CDB-9974-E92F79D38DA4}"/>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442696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B0A74E0-49D5-4C60-9101-23AECDB08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FDEB5E8B-37F4-436E-B651-875A938BC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A1E7728-55AD-4793-A9C1-1F9019CC35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2503F-1177-4A4E-8015-3B0661847685}" type="datetimeFigureOut">
              <a:rPr lang="zh-TW" altLang="en-US" smtClean="0"/>
              <a:t>2022/1/11</a:t>
            </a:fld>
            <a:endParaRPr lang="zh-TW" altLang="en-US"/>
          </a:p>
        </p:txBody>
      </p:sp>
      <p:sp>
        <p:nvSpPr>
          <p:cNvPr id="5" name="頁尾版面配置區 4">
            <a:extLst>
              <a:ext uri="{FF2B5EF4-FFF2-40B4-BE49-F238E27FC236}">
                <a16:creationId xmlns:a16="http://schemas.microsoft.com/office/drawing/2014/main" id="{05280DE3-C4AF-4CC8-91A4-8EB5E22A51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20FD4E5-BD8C-43C9-959E-6AA435F715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069491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標楷體" panose="03000509000000000000" pitchFamily="65" charset="-120"/>
          <a:ea typeface="標楷體" panose="03000509000000000000" pitchFamily="65" charset="-12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3.jp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1.xml"/><Relationship Id="rId16"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2.png"/><Relationship Id="rId10" Type="http://schemas.openxmlformats.org/officeDocument/2006/relationships/image" Target="../media/image26.jpg"/><Relationship Id="rId4" Type="http://schemas.openxmlformats.org/officeDocument/2006/relationships/image" Target="../media/image3.jp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83053A-CC8D-454D-B92C-944C12D93638}"/>
              </a:ext>
            </a:extLst>
          </p:cNvPr>
          <p:cNvSpPr>
            <a:spLocks noGrp="1"/>
          </p:cNvSpPr>
          <p:nvPr>
            <p:ph type="ctrTitle"/>
          </p:nvPr>
        </p:nvSpPr>
        <p:spPr>
          <a:xfrm>
            <a:off x="386861" y="1122363"/>
            <a:ext cx="11558953" cy="2387600"/>
          </a:xfrm>
        </p:spPr>
        <p:txBody>
          <a:bodyPr>
            <a:noAutofit/>
          </a:bodyPr>
          <a:lstStyle/>
          <a:p>
            <a:r>
              <a:rPr lang="en-US" altLang="zh-TW" sz="4000" b="0" i="0" dirty="0">
                <a:effectLst/>
                <a:latin typeface="Times New Roman" panose="02020603050405020304" pitchFamily="18" charset="0"/>
                <a:cs typeface="Times New Roman" panose="02020603050405020304" pitchFamily="18" charset="0"/>
              </a:rPr>
              <a:t>A hybrid heuristic–genetic algorithm for task scheduling in heterogeneous processor networks</a:t>
            </a:r>
            <a:br>
              <a:rPr lang="en-US" altLang="zh-TW" sz="4000" b="0" i="0" dirty="0">
                <a:solidFill>
                  <a:srgbClr val="505050"/>
                </a:solidFill>
                <a:effectLst/>
                <a:latin typeface="Times New Roman" panose="02020603050405020304" pitchFamily="18" charset="0"/>
                <a:cs typeface="Times New Roman" panose="02020603050405020304" pitchFamily="18" charset="0"/>
              </a:rPr>
            </a:b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5F758A5A-5857-4E7C-930D-EA56FC5A3499}"/>
              </a:ext>
            </a:extLst>
          </p:cNvPr>
          <p:cNvSpPr>
            <a:spLocks noGrp="1"/>
          </p:cNvSpPr>
          <p:nvPr>
            <p:ph type="subTitle" idx="1"/>
          </p:nvPr>
        </p:nvSpPr>
        <p:spPr/>
        <p:txBody>
          <a:bodyPr/>
          <a:lstStyle/>
          <a:p>
            <a:pPr algn="ctr"/>
            <a:r>
              <a:rPr lang="en-US" altLang="zh-TW" b="0" i="0" u="none" strike="noStrike" dirty="0">
                <a:effectLst/>
              </a:rPr>
              <a:t>Mohammad </a:t>
            </a:r>
            <a:r>
              <a:rPr lang="en-US" altLang="zh-TW" b="0" i="0" u="none" strike="noStrike" dirty="0" err="1">
                <a:effectLst/>
              </a:rPr>
              <a:t>I.Daoud</a:t>
            </a:r>
            <a:r>
              <a:rPr lang="en-US" altLang="zh-TW" b="0" i="0" u="none" strike="noStrike" dirty="0">
                <a:effectLst/>
              </a:rPr>
              <a:t>, </a:t>
            </a:r>
            <a:r>
              <a:rPr lang="en-US" altLang="zh-TW" b="0" i="0" u="none" strike="noStrike" dirty="0" err="1">
                <a:effectLst/>
              </a:rPr>
              <a:t>NawwafKharma</a:t>
            </a:r>
            <a:br>
              <a:rPr lang="en-US" altLang="zh-TW" b="0" i="0" u="none" strike="noStrike" dirty="0">
                <a:effectLst/>
              </a:rPr>
            </a:br>
            <a:br>
              <a:rPr lang="en-US" altLang="zh-TW" b="0" i="0" u="none" strike="noStrike" dirty="0">
                <a:effectLst/>
              </a:rPr>
            </a:br>
            <a:r>
              <a:rPr lang="en-US" altLang="zh-TW" b="0" i="0" u="none" strike="noStrike" dirty="0">
                <a:effectLst/>
              </a:rPr>
              <a:t>Journal of Parallel and Distributed Computing</a:t>
            </a:r>
            <a:endParaRPr lang="en-US" altLang="zh-TW" b="0" i="0" dirty="0">
              <a:effectLst/>
            </a:endParaRPr>
          </a:p>
          <a:p>
            <a:pPr algn="ctr"/>
            <a:r>
              <a:rPr lang="en-US" altLang="zh-TW" b="0" i="0" u="none" strike="noStrike" dirty="0">
                <a:effectLst/>
              </a:rPr>
              <a:t>Volume 71, Issue 11</a:t>
            </a:r>
            <a:r>
              <a:rPr lang="en-US" altLang="zh-TW" b="0" i="0" dirty="0">
                <a:effectLst/>
              </a:rPr>
              <a:t>, November 2011, Pages 1518-1531</a:t>
            </a:r>
          </a:p>
          <a:p>
            <a:endParaRPr lang="zh-TW" altLang="en-US" dirty="0"/>
          </a:p>
        </p:txBody>
      </p:sp>
      <p:sp>
        <p:nvSpPr>
          <p:cNvPr id="4" name="文字方塊 3">
            <a:extLst>
              <a:ext uri="{FF2B5EF4-FFF2-40B4-BE49-F238E27FC236}">
                <a16:creationId xmlns:a16="http://schemas.microsoft.com/office/drawing/2014/main" id="{FF98B104-B5FF-49A1-A5B2-0CF2A322FC3B}"/>
              </a:ext>
            </a:extLst>
          </p:cNvPr>
          <p:cNvSpPr txBox="1"/>
          <p:nvPr/>
        </p:nvSpPr>
        <p:spPr>
          <a:xfrm>
            <a:off x="9331569" y="5697415"/>
            <a:ext cx="2614245" cy="646331"/>
          </a:xfrm>
          <a:prstGeom prst="rect">
            <a:avLst/>
          </a:prstGeom>
          <a:noFill/>
        </p:spPr>
        <p:txBody>
          <a:bodyPr wrap="square" rtlCol="0">
            <a:spAutoFit/>
          </a:bodyPr>
          <a:lstStyle/>
          <a:p>
            <a:r>
              <a:rPr lang="en-US" altLang="zh-TW" dirty="0"/>
              <a:t>Date: Jan. 11, 2022</a:t>
            </a:r>
          </a:p>
          <a:p>
            <a:r>
              <a:rPr lang="en-US" altLang="zh-TW" dirty="0"/>
              <a:t>Presenter:  </a:t>
            </a:r>
            <a:r>
              <a:rPr lang="en-US" altLang="zh-TW" dirty="0" err="1"/>
              <a:t>Jue</a:t>
            </a:r>
            <a:r>
              <a:rPr lang="en-US" altLang="zh-TW" dirty="0"/>
              <a:t>-Jun, Wu</a:t>
            </a:r>
            <a:endParaRPr lang="zh-TW" altLang="en-US" dirty="0"/>
          </a:p>
        </p:txBody>
      </p:sp>
    </p:spTree>
    <p:extLst>
      <p:ext uri="{BB962C8B-B14F-4D97-AF65-F5344CB8AC3E}">
        <p14:creationId xmlns:p14="http://schemas.microsoft.com/office/powerpoint/2010/main" val="55839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5E1AD-B550-40CB-A8A8-1E515BE25DD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3CB0076-77E2-4D90-94A1-0800F3383597}"/>
              </a:ext>
            </a:extLst>
          </p:cNvPr>
          <p:cNvSpPr>
            <a:spLocks noGrp="1"/>
          </p:cNvSpPr>
          <p:nvPr>
            <p:ph idx="1"/>
          </p:nvPr>
        </p:nvSpPr>
        <p:spPr>
          <a:xfrm>
            <a:off x="222737" y="1512277"/>
            <a:ext cx="11852031" cy="5099538"/>
          </a:xfrm>
        </p:spPr>
        <p:txBody>
          <a:bodyPr>
            <a:normAutofit fontScale="92500"/>
          </a:bodyPr>
          <a:lstStyle/>
          <a:p>
            <a:pPr marL="0" indent="0">
              <a:buNone/>
            </a:pPr>
            <a:r>
              <a:rPr lang="en-US" altLang="zh-TW" b="0" i="0" dirty="0">
                <a:effectLst/>
              </a:rPr>
              <a:t>Efficient task scheduling on heterogeneous distributed computing systems (</a:t>
            </a:r>
            <a:r>
              <a:rPr lang="en-US" altLang="zh-TW" b="0" i="0" dirty="0" err="1">
                <a:effectLst/>
              </a:rPr>
              <a:t>HeDCSs</a:t>
            </a:r>
            <a:r>
              <a:rPr lang="en-US" altLang="zh-TW" b="0" i="0" dirty="0">
                <a:effectLst/>
              </a:rPr>
              <a:t>) requires the consideration of the heterogeneity of processors and the inter-processor communication. This paper presents a two-phase algorithm, called H2GS, for task scheduling on </a:t>
            </a:r>
            <a:r>
              <a:rPr lang="en-US" altLang="zh-TW" b="0" i="0" dirty="0" err="1">
                <a:effectLst/>
              </a:rPr>
              <a:t>HeDCSs</a:t>
            </a:r>
            <a:r>
              <a:rPr lang="en-US" altLang="zh-TW" b="0" i="0" dirty="0">
                <a:effectLst/>
              </a:rPr>
              <a:t>. The first phase implements a heuristic list-based algorithm, called LDCP, to generate a high quality schedule. In the second phase, the LDCP-generated schedule is injected into the initial population of a customized genetic algorithm, called GAS, which proceeds to evolve shorter schedules. GAS employs a simple genome composed of a two-dimensional chromosome. A mapping procedure is developed which maps every possible genome to a valid schedule. Moreover, GAS uses customized operators that are designed for the scheduling problem to enable an efficient stochastic search. The performance of each phase of H2GS is compared to two leading scheduling algorithms, and H2GS outperforms both algorithms. The improvement in performance obtained by H2GS increases as the inter-task communication cost increases.</a:t>
            </a:r>
            <a:endParaRPr lang="zh-TW" altLang="en-US" dirty="0"/>
          </a:p>
        </p:txBody>
      </p:sp>
    </p:spTree>
    <p:extLst>
      <p:ext uri="{BB962C8B-B14F-4D97-AF65-F5344CB8AC3E}">
        <p14:creationId xmlns:p14="http://schemas.microsoft.com/office/powerpoint/2010/main" val="748351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363420-283E-4147-A217-FD0D5F5E8F98}"/>
              </a:ext>
            </a:extLst>
          </p:cNvPr>
          <p:cNvSpPr>
            <a:spLocks noGrp="1"/>
          </p:cNvSpPr>
          <p:nvPr>
            <p:ph type="title"/>
          </p:nvPr>
        </p:nvSpPr>
        <p:spPr/>
        <p:txBody>
          <a:bodyPr/>
          <a:lstStyle/>
          <a:p>
            <a:r>
              <a:rPr lang="en-US" altLang="zh-TW" dirty="0">
                <a:solidFill>
                  <a:srgbClr val="2E2E2E"/>
                </a:solidFill>
                <a:effectLst/>
                <a:latin typeface="Times New Roman" panose="02020603050405020304" pitchFamily="18" charset="0"/>
                <a:cs typeface="Times New Roman" panose="02020603050405020304" pitchFamily="18" charset="0"/>
              </a:rPr>
              <a:t>Hybrid Heuristic–Genetic Scheduling (H2GS) algorithm </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2B94C9A-3948-4663-B398-CDEB3C749F65}"/>
              </a:ext>
            </a:extLst>
          </p:cNvPr>
          <p:cNvSpPr>
            <a:spLocks noGrp="1"/>
          </p:cNvSpPr>
          <p:nvPr>
            <p:ph idx="1"/>
          </p:nvPr>
        </p:nvSpPr>
        <p:spPr/>
        <p:txBody>
          <a:bodyPr/>
          <a:lstStyle/>
          <a:p>
            <a:r>
              <a:rPr lang="en-US" altLang="zh-TW" b="0" i="0" dirty="0">
                <a:effectLst/>
              </a:rPr>
              <a:t>In the first phase, runs a heuristic scheduling algorithm, called the </a:t>
            </a:r>
            <a:r>
              <a:rPr lang="en-US" altLang="zh-TW" b="0" i="1" dirty="0">
                <a:effectLst/>
              </a:rPr>
              <a:t>Longest Dynamic Critical Path</a:t>
            </a:r>
            <a:r>
              <a:rPr lang="en-US" altLang="zh-TW" b="0" i="0" dirty="0">
                <a:effectLst/>
              </a:rPr>
              <a:t> (LDCP) </a:t>
            </a:r>
            <a:r>
              <a:rPr lang="en-US" altLang="zh-TW" b="0" i="0" dirty="0" err="1">
                <a:effectLst/>
              </a:rPr>
              <a:t>algorithm,to</a:t>
            </a:r>
            <a:r>
              <a:rPr lang="en-US" altLang="zh-TW" b="0" i="0" dirty="0">
                <a:effectLst/>
              </a:rPr>
              <a:t> quickly generate a high quality task schedule.</a:t>
            </a:r>
          </a:p>
          <a:p>
            <a:pPr marL="0" indent="0">
              <a:buNone/>
            </a:pPr>
            <a:endParaRPr lang="en-US" altLang="zh-TW" b="0" i="0" dirty="0">
              <a:effectLst/>
            </a:endParaRPr>
          </a:p>
          <a:p>
            <a:r>
              <a:rPr lang="en-US" altLang="zh-TW" b="0" i="0" dirty="0">
                <a:effectLst/>
              </a:rPr>
              <a:t>In the second phase, a new Genetic Algorithm, called </a:t>
            </a:r>
            <a:r>
              <a:rPr lang="en-US" altLang="zh-TW" b="0" i="1" dirty="0">
                <a:effectLst/>
              </a:rPr>
              <a:t>Genetic Algorithm for Scheduling</a:t>
            </a:r>
            <a:r>
              <a:rPr lang="en-US" altLang="zh-TW" b="0" i="0" dirty="0">
                <a:effectLst/>
              </a:rPr>
              <a:t> (GAS), searches that approximate area to improve the schedule generated by the LDCP algorithm.</a:t>
            </a:r>
            <a:endParaRPr lang="zh-TW" altLang="en-US" dirty="0"/>
          </a:p>
        </p:txBody>
      </p:sp>
    </p:spTree>
    <p:extLst>
      <p:ext uri="{BB962C8B-B14F-4D97-AF65-F5344CB8AC3E}">
        <p14:creationId xmlns:p14="http://schemas.microsoft.com/office/powerpoint/2010/main" val="64379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4D2164-3E67-47F7-A07A-DF94D29BBBA7}"/>
              </a:ext>
            </a:extLst>
          </p:cNvPr>
          <p:cNvSpPr>
            <a:spLocks noGrp="1"/>
          </p:cNvSpPr>
          <p:nvPr>
            <p:ph type="title"/>
          </p:nvPr>
        </p:nvSpPr>
        <p:spPr>
          <a:xfrm>
            <a:off x="199291" y="365125"/>
            <a:ext cx="11875477" cy="1325563"/>
          </a:xfrm>
        </p:spPr>
        <p:txBody>
          <a:bodyPr>
            <a:normAutofit/>
          </a:bodyPr>
          <a:lstStyle/>
          <a:p>
            <a:r>
              <a:rPr lang="en-US" altLang="zh-TW" sz="3600" b="0" i="0" dirty="0">
                <a:effectLst/>
                <a:latin typeface="Times New Roman" panose="02020603050405020304" pitchFamily="18" charset="0"/>
                <a:cs typeface="Times New Roman" panose="02020603050405020304" pitchFamily="18" charset="0"/>
              </a:rPr>
              <a:t>The Longest Dynamic Critical Path (LDCP) algorithm</a:t>
            </a:r>
            <a:br>
              <a:rPr lang="en-US" altLang="zh-TW" sz="3600" b="0" i="0" dirty="0">
                <a:effectLst/>
                <a:latin typeface="Times New Roman" panose="02020603050405020304" pitchFamily="18" charset="0"/>
                <a:cs typeface="Times New Roman" panose="02020603050405020304" pitchFamily="18" charset="0"/>
              </a:rPr>
            </a:br>
            <a:endParaRPr lang="zh-TW" altLang="en-US" sz="3600" dirty="0">
              <a:latin typeface="Times New Roman" panose="02020603050405020304" pitchFamily="18" charset="0"/>
              <a:cs typeface="Times New Roman" panose="02020603050405020304" pitchFamily="18" charset="0"/>
            </a:endParaRPr>
          </a:p>
        </p:txBody>
      </p:sp>
      <p:sp>
        <p:nvSpPr>
          <p:cNvPr id="6" name="內容版面配置區 2">
            <a:extLst>
              <a:ext uri="{FF2B5EF4-FFF2-40B4-BE49-F238E27FC236}">
                <a16:creationId xmlns:a16="http://schemas.microsoft.com/office/drawing/2014/main" id="{0660F3B5-668D-47A7-8C1A-BEC4315DB725}"/>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TW" i="1" dirty="0">
              <a:latin typeface="NexusSerif"/>
            </a:endParaRPr>
          </a:p>
          <a:p>
            <a:endParaRPr lang="en-US" altLang="zh-TW" i="1" dirty="0">
              <a:latin typeface="NexusSerif"/>
            </a:endParaRPr>
          </a:p>
          <a:p>
            <a:r>
              <a:rPr lang="en-US" altLang="zh-TW" b="0" i="1" dirty="0">
                <a:effectLst/>
                <a:latin typeface="NexusSerif"/>
              </a:rPr>
              <a:t> </a:t>
            </a:r>
            <a:endParaRPr lang="zh-TW" altLang="en-US" dirty="0"/>
          </a:p>
        </p:txBody>
      </p:sp>
      <p:pic>
        <p:nvPicPr>
          <p:cNvPr id="8" name="圖片 7">
            <a:extLst>
              <a:ext uri="{FF2B5EF4-FFF2-40B4-BE49-F238E27FC236}">
                <a16:creationId xmlns:a16="http://schemas.microsoft.com/office/drawing/2014/main" id="{DF4EA8BE-922B-472C-B234-AA8BE9FD1989}"/>
              </a:ext>
            </a:extLst>
          </p:cNvPr>
          <p:cNvPicPr>
            <a:picLocks noChangeAspect="1"/>
          </p:cNvPicPr>
          <p:nvPr/>
        </p:nvPicPr>
        <p:blipFill>
          <a:blip r:embed="rId2"/>
          <a:stretch>
            <a:fillRect/>
          </a:stretch>
        </p:blipFill>
        <p:spPr>
          <a:xfrm>
            <a:off x="417636" y="3209797"/>
            <a:ext cx="6078769" cy="642285"/>
          </a:xfrm>
          <a:prstGeom prst="rect">
            <a:avLst/>
          </a:prstGeom>
        </p:spPr>
      </p:pic>
      <p:pic>
        <p:nvPicPr>
          <p:cNvPr id="10" name="圖片 9" descr="一張含有 文字 的圖片&#10;&#10;自動產生的描述">
            <a:extLst>
              <a:ext uri="{FF2B5EF4-FFF2-40B4-BE49-F238E27FC236}">
                <a16:creationId xmlns:a16="http://schemas.microsoft.com/office/drawing/2014/main" id="{E86CD619-7F40-446C-A599-02EA83A1A5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3053" y="1308965"/>
            <a:ext cx="4731715" cy="4767629"/>
          </a:xfrm>
          <a:prstGeom prst="rect">
            <a:avLst/>
          </a:prstGeom>
        </p:spPr>
      </p:pic>
      <p:pic>
        <p:nvPicPr>
          <p:cNvPr id="11" name="內容版面配置區 4" descr="一張含有 桌 的圖片&#10;&#10;自動產生的描述">
            <a:extLst>
              <a:ext uri="{FF2B5EF4-FFF2-40B4-BE49-F238E27FC236}">
                <a16:creationId xmlns:a16="http://schemas.microsoft.com/office/drawing/2014/main" id="{50BD3120-B654-4B37-8E92-D883E8999E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802" y="1409334"/>
            <a:ext cx="4155817" cy="1596585"/>
          </a:xfrm>
          <a:prstGeom prst="rect">
            <a:avLst/>
          </a:prstGeom>
        </p:spPr>
      </p:pic>
      <mc:AlternateContent xmlns:mc="http://schemas.openxmlformats.org/markup-compatibility/2006">
        <mc:Choice xmlns:a14="http://schemas.microsoft.com/office/drawing/2010/main" Requires="a14">
          <p:graphicFrame>
            <p:nvGraphicFramePr>
              <p:cNvPr id="7" name="表格 8">
                <a:extLst>
                  <a:ext uri="{FF2B5EF4-FFF2-40B4-BE49-F238E27FC236}">
                    <a16:creationId xmlns:a16="http://schemas.microsoft.com/office/drawing/2014/main" id="{E523EDD9-84B1-4FAD-AA56-8AB4CB72D900}"/>
                  </a:ext>
                </a:extLst>
              </p:cNvPr>
              <p:cNvGraphicFramePr>
                <a:graphicFrameLocks noGrp="1"/>
              </p:cNvGraphicFramePr>
              <p:nvPr>
                <p:extLst>
                  <p:ext uri="{D42A27DB-BD31-4B8C-83A1-F6EECF244321}">
                    <p14:modId xmlns:p14="http://schemas.microsoft.com/office/powerpoint/2010/main" val="1111374385"/>
                  </p:ext>
                </p:extLst>
              </p:nvPr>
            </p:nvGraphicFramePr>
            <p:xfrm>
              <a:off x="199291" y="3917242"/>
              <a:ext cx="3352445" cy="2220024"/>
            </p:xfrm>
            <a:graphic>
              <a:graphicData uri="http://schemas.openxmlformats.org/drawingml/2006/table">
                <a:tbl>
                  <a:tblPr firstRow="1" bandRow="1">
                    <a:tableStyleId>{5C22544A-7EE6-4342-B048-85BDC9FD1C3A}</a:tableStyleId>
                  </a:tblPr>
                  <a:tblGrid>
                    <a:gridCol w="670489">
                      <a:extLst>
                        <a:ext uri="{9D8B030D-6E8A-4147-A177-3AD203B41FA5}">
                          <a16:colId xmlns:a16="http://schemas.microsoft.com/office/drawing/2014/main" val="2687887254"/>
                        </a:ext>
                      </a:extLst>
                    </a:gridCol>
                    <a:gridCol w="670489">
                      <a:extLst>
                        <a:ext uri="{9D8B030D-6E8A-4147-A177-3AD203B41FA5}">
                          <a16:colId xmlns:a16="http://schemas.microsoft.com/office/drawing/2014/main" val="1883992045"/>
                        </a:ext>
                      </a:extLst>
                    </a:gridCol>
                    <a:gridCol w="670489">
                      <a:extLst>
                        <a:ext uri="{9D8B030D-6E8A-4147-A177-3AD203B41FA5}">
                          <a16:colId xmlns:a16="http://schemas.microsoft.com/office/drawing/2014/main" val="2262595895"/>
                        </a:ext>
                      </a:extLst>
                    </a:gridCol>
                    <a:gridCol w="670489">
                      <a:extLst>
                        <a:ext uri="{9D8B030D-6E8A-4147-A177-3AD203B41FA5}">
                          <a16:colId xmlns:a16="http://schemas.microsoft.com/office/drawing/2014/main" val="2161040279"/>
                        </a:ext>
                      </a:extLst>
                    </a:gridCol>
                    <a:gridCol w="670489">
                      <a:extLst>
                        <a:ext uri="{9D8B030D-6E8A-4147-A177-3AD203B41FA5}">
                          <a16:colId xmlns:a16="http://schemas.microsoft.com/office/drawing/2014/main" val="3607854312"/>
                        </a:ext>
                      </a:extLst>
                    </a:gridCol>
                  </a:tblGrid>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task</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Para xmlns:m="http://schemas.openxmlformats.org/officeDocument/2006/math">
                              <m:oMathParaPr>
                                <m:jc m:val="centerGroup"/>
                              </m:oMathParaPr>
                              <m:oMath xmlns:m="http://schemas.openxmlformats.org/officeDocument/2006/math">
                                <m:sSub>
                                  <m:sSubPr>
                                    <m:ctrlPr>
                                      <a:rPr lang="en-US" altLang="zh-TW" b="0" i="0"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smtClean="0">
                                        <a:solidFill>
                                          <a:schemeClr val="tx1"/>
                                        </a:solidFill>
                                        <a:latin typeface="Cambria Math" panose="02040503050406030204" pitchFamily="18" charset="0"/>
                                        <a:cs typeface="Times New Roman" panose="02020603050405020304" pitchFamily="18" charset="0"/>
                                      </a:rPr>
                                      <m:t>0</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Para xmlns:m="http://schemas.openxmlformats.org/officeDocument/2006/math">
                              <m:oMathParaPr>
                                <m:jc m:val="centerGroup"/>
                              </m:oMathParaPr>
                              <m:oMath xmlns:m="http://schemas.openxmlformats.org/officeDocument/2006/math">
                                <m:sSub>
                                  <m:sSubPr>
                                    <m:ctrlPr>
                                      <a:rPr lang="en-US" altLang="zh-TW" b="0" i="0"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c</m:t>
                                    </m:r>
                                  </m:e>
                                  <m:sub>
                                    <m:r>
                                      <m:rPr>
                                        <m:sty m:val="p"/>
                                      </m:rPr>
                                      <a:rPr lang="en-US" altLang="zh-TW" b="0" i="0" smtClean="0">
                                        <a:solidFill>
                                          <a:schemeClr val="tx1"/>
                                        </a:solidFill>
                                        <a:latin typeface="Cambria Math" panose="02040503050406030204" pitchFamily="18" charset="0"/>
                                        <a:cs typeface="Times New Roman" panose="02020603050405020304" pitchFamily="18" charset="0"/>
                                      </a:rPr>
                                      <m:t>j</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Para xmlns:m="http://schemas.openxmlformats.org/officeDocument/2006/math">
                              <m:oMathParaPr>
                                <m:jc m:val="centerGroup"/>
                              </m:oMathParaPr>
                              <m:oMath xmlns:m="http://schemas.openxmlformats.org/officeDocument/2006/math">
                                <m:sSub>
                                  <m:sSubPr>
                                    <m:ctrlPr>
                                      <a:rPr lang="en-US" altLang="zh-TW" sz="1200" b="0" i="0"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1200" b="0" i="0" smtClean="0">
                                        <a:solidFill>
                                          <a:schemeClr val="tx1"/>
                                        </a:solidFill>
                                        <a:latin typeface="Cambria Math" panose="02040503050406030204" pitchFamily="18" charset="0"/>
                                        <a:cs typeface="Times New Roman" panose="02020603050405020304" pitchFamily="18" charset="0"/>
                                      </a:rPr>
                                      <m:t>URank</m:t>
                                    </m:r>
                                  </m:e>
                                  <m:sub>
                                    <m:r>
                                      <a:rPr lang="en-US" altLang="zh-TW" sz="1200" b="0" i="0" smtClean="0">
                                        <a:solidFill>
                                          <a:schemeClr val="tx1"/>
                                        </a:solidFill>
                                        <a:latin typeface="Cambria Math" panose="02040503050406030204" pitchFamily="18" charset="0"/>
                                        <a:cs typeface="Times New Roman" panose="02020603050405020304" pitchFamily="18" charset="0"/>
                                      </a:rPr>
                                      <m:t>0</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8759920"/>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16</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6204831"/>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6</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473603"/>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4300335"/>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6</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5853030"/>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478858"/>
                      </a:ext>
                    </a:extLst>
                  </a:tr>
                </a:tbl>
              </a:graphicData>
            </a:graphic>
          </p:graphicFrame>
        </mc:Choice>
        <mc:Fallback>
          <p:graphicFrame>
            <p:nvGraphicFramePr>
              <p:cNvPr id="7" name="表格 8">
                <a:extLst>
                  <a:ext uri="{FF2B5EF4-FFF2-40B4-BE49-F238E27FC236}">
                    <a16:creationId xmlns:a16="http://schemas.microsoft.com/office/drawing/2014/main" id="{E523EDD9-84B1-4FAD-AA56-8AB4CB72D900}"/>
                  </a:ext>
                </a:extLst>
              </p:cNvPr>
              <p:cNvGraphicFramePr>
                <a:graphicFrameLocks noGrp="1"/>
              </p:cNvGraphicFramePr>
              <p:nvPr>
                <p:extLst>
                  <p:ext uri="{D42A27DB-BD31-4B8C-83A1-F6EECF244321}">
                    <p14:modId xmlns:p14="http://schemas.microsoft.com/office/powerpoint/2010/main" val="1111374385"/>
                  </p:ext>
                </p:extLst>
              </p:nvPr>
            </p:nvGraphicFramePr>
            <p:xfrm>
              <a:off x="199291" y="3917242"/>
              <a:ext cx="3352445" cy="2220024"/>
            </p:xfrm>
            <a:graphic>
              <a:graphicData uri="http://schemas.openxmlformats.org/drawingml/2006/table">
                <a:tbl>
                  <a:tblPr firstRow="1" bandRow="1">
                    <a:tableStyleId>{5C22544A-7EE6-4342-B048-85BDC9FD1C3A}</a:tableStyleId>
                  </a:tblPr>
                  <a:tblGrid>
                    <a:gridCol w="670489">
                      <a:extLst>
                        <a:ext uri="{9D8B030D-6E8A-4147-A177-3AD203B41FA5}">
                          <a16:colId xmlns:a16="http://schemas.microsoft.com/office/drawing/2014/main" val="2687887254"/>
                        </a:ext>
                      </a:extLst>
                    </a:gridCol>
                    <a:gridCol w="670489">
                      <a:extLst>
                        <a:ext uri="{9D8B030D-6E8A-4147-A177-3AD203B41FA5}">
                          <a16:colId xmlns:a16="http://schemas.microsoft.com/office/drawing/2014/main" val="1883992045"/>
                        </a:ext>
                      </a:extLst>
                    </a:gridCol>
                    <a:gridCol w="670489">
                      <a:extLst>
                        <a:ext uri="{9D8B030D-6E8A-4147-A177-3AD203B41FA5}">
                          <a16:colId xmlns:a16="http://schemas.microsoft.com/office/drawing/2014/main" val="2262595895"/>
                        </a:ext>
                      </a:extLst>
                    </a:gridCol>
                    <a:gridCol w="670489">
                      <a:extLst>
                        <a:ext uri="{9D8B030D-6E8A-4147-A177-3AD203B41FA5}">
                          <a16:colId xmlns:a16="http://schemas.microsoft.com/office/drawing/2014/main" val="2161040279"/>
                        </a:ext>
                      </a:extLst>
                    </a:gridCol>
                    <a:gridCol w="670489">
                      <a:extLst>
                        <a:ext uri="{9D8B030D-6E8A-4147-A177-3AD203B41FA5}">
                          <a16:colId xmlns:a16="http://schemas.microsoft.com/office/drawing/2014/main" val="3607854312"/>
                        </a:ext>
                      </a:extLst>
                    </a:gridCol>
                  </a:tblGrid>
                  <a:tr h="391224">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task</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909" t="-7813" r="-302727" b="-495313"/>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9099" t="-7813" r="-200000" b="-495313"/>
                          </a:stretch>
                        </a:blipFill>
                      </a:tcPr>
                    </a:tc>
                    <a:tc>
                      <a:txBody>
                        <a:bodyPr/>
                        <a:lstStyle/>
                        <a:p>
                          <a:endParaRPr lang="zh-TW" altLang="en-US" b="0" i="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818" t="-7813" r="-1818" b="-495313"/>
                          </a:stretch>
                        </a:blipFill>
                      </a:tcPr>
                    </a:tc>
                    <a:extLst>
                      <a:ext uri="{0D108BD9-81ED-4DB2-BD59-A6C34878D82A}">
                        <a16:rowId xmlns:a16="http://schemas.microsoft.com/office/drawing/2014/main" val="1828759920"/>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16</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6204831"/>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6</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473603"/>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4300335"/>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6</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5853030"/>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478858"/>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2" name="表格 8">
                <a:extLst>
                  <a:ext uri="{FF2B5EF4-FFF2-40B4-BE49-F238E27FC236}">
                    <a16:creationId xmlns:a16="http://schemas.microsoft.com/office/drawing/2014/main" id="{F7745CF0-1DDF-4228-979B-89AA3B8863A9}"/>
                  </a:ext>
                </a:extLst>
              </p:cNvPr>
              <p:cNvGraphicFramePr>
                <a:graphicFrameLocks noGrp="1"/>
              </p:cNvGraphicFramePr>
              <p:nvPr>
                <p:extLst>
                  <p:ext uri="{D42A27DB-BD31-4B8C-83A1-F6EECF244321}">
                    <p14:modId xmlns:p14="http://schemas.microsoft.com/office/powerpoint/2010/main" val="1121936270"/>
                  </p:ext>
                </p:extLst>
              </p:nvPr>
            </p:nvGraphicFramePr>
            <p:xfrm>
              <a:off x="3854134" y="3882034"/>
              <a:ext cx="3352445" cy="2220024"/>
            </p:xfrm>
            <a:graphic>
              <a:graphicData uri="http://schemas.openxmlformats.org/drawingml/2006/table">
                <a:tbl>
                  <a:tblPr firstRow="1" bandRow="1">
                    <a:tableStyleId>{5C22544A-7EE6-4342-B048-85BDC9FD1C3A}</a:tableStyleId>
                  </a:tblPr>
                  <a:tblGrid>
                    <a:gridCol w="670489">
                      <a:extLst>
                        <a:ext uri="{9D8B030D-6E8A-4147-A177-3AD203B41FA5}">
                          <a16:colId xmlns:a16="http://schemas.microsoft.com/office/drawing/2014/main" val="2687887254"/>
                        </a:ext>
                      </a:extLst>
                    </a:gridCol>
                    <a:gridCol w="670489">
                      <a:extLst>
                        <a:ext uri="{9D8B030D-6E8A-4147-A177-3AD203B41FA5}">
                          <a16:colId xmlns:a16="http://schemas.microsoft.com/office/drawing/2014/main" val="1883992045"/>
                        </a:ext>
                      </a:extLst>
                    </a:gridCol>
                    <a:gridCol w="670489">
                      <a:extLst>
                        <a:ext uri="{9D8B030D-6E8A-4147-A177-3AD203B41FA5}">
                          <a16:colId xmlns:a16="http://schemas.microsoft.com/office/drawing/2014/main" val="2262595895"/>
                        </a:ext>
                      </a:extLst>
                    </a:gridCol>
                    <a:gridCol w="670489">
                      <a:extLst>
                        <a:ext uri="{9D8B030D-6E8A-4147-A177-3AD203B41FA5}">
                          <a16:colId xmlns:a16="http://schemas.microsoft.com/office/drawing/2014/main" val="2161040279"/>
                        </a:ext>
                      </a:extLst>
                    </a:gridCol>
                    <a:gridCol w="670489">
                      <a:extLst>
                        <a:ext uri="{9D8B030D-6E8A-4147-A177-3AD203B41FA5}">
                          <a16:colId xmlns:a16="http://schemas.microsoft.com/office/drawing/2014/main" val="3607854312"/>
                        </a:ext>
                      </a:extLst>
                    </a:gridCol>
                  </a:tblGrid>
                  <a:tr h="347461">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task</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Para xmlns:m="http://schemas.openxmlformats.org/officeDocument/2006/math">
                              <m:oMathParaPr>
                                <m:jc m:val="centerGroup"/>
                              </m:oMathParaPr>
                              <m:oMath xmlns:m="http://schemas.openxmlformats.org/officeDocument/2006/math">
                                <m:sSub>
                                  <m:sSubPr>
                                    <m:ctrlPr>
                                      <a:rPr lang="en-US" altLang="zh-TW" b="0" i="0"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smtClean="0">
                                        <a:solidFill>
                                          <a:schemeClr val="tx1"/>
                                        </a:solidFill>
                                        <a:latin typeface="Cambria Math" panose="02040503050406030204" pitchFamily="18" charset="0"/>
                                        <a:cs typeface="Times New Roman" panose="02020603050405020304" pitchFamily="18" charset="0"/>
                                      </a:rPr>
                                      <m:t>1</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Para xmlns:m="http://schemas.openxmlformats.org/officeDocument/2006/math">
                              <m:oMathParaPr>
                                <m:jc m:val="centerGroup"/>
                              </m:oMathParaPr>
                              <m:oMath xmlns:m="http://schemas.openxmlformats.org/officeDocument/2006/math">
                                <m:sSub>
                                  <m:sSubPr>
                                    <m:ctrlPr>
                                      <a:rPr lang="en-US" altLang="zh-TW" b="0" i="0"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c</m:t>
                                    </m:r>
                                  </m:e>
                                  <m:sub>
                                    <m:r>
                                      <m:rPr>
                                        <m:sty m:val="p"/>
                                      </m:rPr>
                                      <a:rPr lang="en-US" altLang="zh-TW" b="0" i="0" smtClean="0">
                                        <a:solidFill>
                                          <a:schemeClr val="tx1"/>
                                        </a:solidFill>
                                        <a:latin typeface="Cambria Math" panose="02040503050406030204" pitchFamily="18" charset="0"/>
                                        <a:cs typeface="Times New Roman" panose="02020603050405020304" pitchFamily="18" charset="0"/>
                                      </a:rPr>
                                      <m:t>j</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200" b="0" i="0"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1200" b="0" i="0" smtClean="0">
                                        <a:solidFill>
                                          <a:schemeClr val="tx1"/>
                                        </a:solidFill>
                                        <a:latin typeface="Cambria Math" panose="02040503050406030204" pitchFamily="18" charset="0"/>
                                        <a:cs typeface="Times New Roman" panose="02020603050405020304" pitchFamily="18" charset="0"/>
                                      </a:rPr>
                                      <m:t>URank</m:t>
                                    </m:r>
                                  </m:e>
                                  <m:sub>
                                    <m:r>
                                      <a:rPr lang="en-US" altLang="zh-TW" sz="1200" b="0" i="0" smtClean="0">
                                        <a:solidFill>
                                          <a:schemeClr val="tx1"/>
                                        </a:solidFill>
                                        <a:latin typeface="Cambria Math" panose="02040503050406030204" pitchFamily="18" charset="0"/>
                                        <a:cs typeface="Times New Roman" panose="02020603050405020304" pitchFamily="18" charset="0"/>
                                      </a:rPr>
                                      <m:t>1</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8759920"/>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6204831"/>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9</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473603"/>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4300335"/>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9</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5853030"/>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478858"/>
                      </a:ext>
                    </a:extLst>
                  </a:tr>
                </a:tbl>
              </a:graphicData>
            </a:graphic>
          </p:graphicFrame>
        </mc:Choice>
        <mc:Fallback>
          <p:graphicFrame>
            <p:nvGraphicFramePr>
              <p:cNvPr id="12" name="表格 8">
                <a:extLst>
                  <a:ext uri="{FF2B5EF4-FFF2-40B4-BE49-F238E27FC236}">
                    <a16:creationId xmlns:a16="http://schemas.microsoft.com/office/drawing/2014/main" id="{F7745CF0-1DDF-4228-979B-89AA3B8863A9}"/>
                  </a:ext>
                </a:extLst>
              </p:cNvPr>
              <p:cNvGraphicFramePr>
                <a:graphicFrameLocks noGrp="1"/>
              </p:cNvGraphicFramePr>
              <p:nvPr>
                <p:extLst>
                  <p:ext uri="{D42A27DB-BD31-4B8C-83A1-F6EECF244321}">
                    <p14:modId xmlns:p14="http://schemas.microsoft.com/office/powerpoint/2010/main" val="1121936270"/>
                  </p:ext>
                </p:extLst>
              </p:nvPr>
            </p:nvGraphicFramePr>
            <p:xfrm>
              <a:off x="3854134" y="3882034"/>
              <a:ext cx="3352445" cy="2220024"/>
            </p:xfrm>
            <a:graphic>
              <a:graphicData uri="http://schemas.openxmlformats.org/drawingml/2006/table">
                <a:tbl>
                  <a:tblPr firstRow="1" bandRow="1">
                    <a:tableStyleId>{5C22544A-7EE6-4342-B048-85BDC9FD1C3A}</a:tableStyleId>
                  </a:tblPr>
                  <a:tblGrid>
                    <a:gridCol w="670489">
                      <a:extLst>
                        <a:ext uri="{9D8B030D-6E8A-4147-A177-3AD203B41FA5}">
                          <a16:colId xmlns:a16="http://schemas.microsoft.com/office/drawing/2014/main" val="2687887254"/>
                        </a:ext>
                      </a:extLst>
                    </a:gridCol>
                    <a:gridCol w="670489">
                      <a:extLst>
                        <a:ext uri="{9D8B030D-6E8A-4147-A177-3AD203B41FA5}">
                          <a16:colId xmlns:a16="http://schemas.microsoft.com/office/drawing/2014/main" val="1883992045"/>
                        </a:ext>
                      </a:extLst>
                    </a:gridCol>
                    <a:gridCol w="670489">
                      <a:extLst>
                        <a:ext uri="{9D8B030D-6E8A-4147-A177-3AD203B41FA5}">
                          <a16:colId xmlns:a16="http://schemas.microsoft.com/office/drawing/2014/main" val="2262595895"/>
                        </a:ext>
                      </a:extLst>
                    </a:gridCol>
                    <a:gridCol w="670489">
                      <a:extLst>
                        <a:ext uri="{9D8B030D-6E8A-4147-A177-3AD203B41FA5}">
                          <a16:colId xmlns:a16="http://schemas.microsoft.com/office/drawing/2014/main" val="2161040279"/>
                        </a:ext>
                      </a:extLst>
                    </a:gridCol>
                    <a:gridCol w="670489">
                      <a:extLst>
                        <a:ext uri="{9D8B030D-6E8A-4147-A177-3AD203B41FA5}">
                          <a16:colId xmlns:a16="http://schemas.microsoft.com/office/drawing/2014/main" val="3607854312"/>
                        </a:ext>
                      </a:extLst>
                    </a:gridCol>
                  </a:tblGrid>
                  <a:tr h="391224">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task</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909" t="-7813" r="-302727" b="-495313"/>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99099" t="-7813" r="-200000" b="-495313"/>
                          </a:stretch>
                        </a:blipFill>
                      </a:tcPr>
                    </a:tc>
                    <a:tc>
                      <a:txBody>
                        <a:bodyPr/>
                        <a:lstStyle/>
                        <a:p>
                          <a:endParaRPr lang="zh-TW" altLang="en-US" b="0" i="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01818" t="-7813" r="-1818" b="-495313"/>
                          </a:stretch>
                        </a:blipFill>
                      </a:tcPr>
                    </a:tc>
                    <a:extLst>
                      <a:ext uri="{0D108BD9-81ED-4DB2-BD59-A6C34878D82A}">
                        <a16:rowId xmlns:a16="http://schemas.microsoft.com/office/drawing/2014/main" val="1828759920"/>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6204831"/>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9</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473603"/>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4300335"/>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9</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5853030"/>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478858"/>
                      </a:ext>
                    </a:extLst>
                  </a:tr>
                </a:tbl>
              </a:graphicData>
            </a:graphic>
          </p:graphicFrame>
        </mc:Fallback>
      </mc:AlternateContent>
    </p:spTree>
    <p:extLst>
      <p:ext uri="{BB962C8B-B14F-4D97-AF65-F5344CB8AC3E}">
        <p14:creationId xmlns:p14="http://schemas.microsoft.com/office/powerpoint/2010/main" val="1357810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descr="一張含有 桌 的圖片&#10;&#10;自動產生的描述">
            <a:extLst>
              <a:ext uri="{FF2B5EF4-FFF2-40B4-BE49-F238E27FC236}">
                <a16:creationId xmlns:a16="http://schemas.microsoft.com/office/drawing/2014/main" id="{CA64973F-1050-4D2B-A9FF-8FF9A2583E14}"/>
              </a:ext>
            </a:extLst>
          </p:cNvPr>
          <p:cNvPicPr>
            <a:picLocks noChangeAspect="1"/>
          </p:cNvPicPr>
          <p:nvPr/>
        </p:nvPicPr>
        <p:blipFill rotWithShape="1">
          <a:blip r:embed="rId3">
            <a:extLst>
              <a:ext uri="{28A0092B-C50C-407E-A947-70E740481C1C}">
                <a14:useLocalDpi xmlns:a14="http://schemas.microsoft.com/office/drawing/2010/main" val="0"/>
              </a:ext>
            </a:extLst>
          </a:blip>
          <a:srcRect l="39923" b="-5908"/>
          <a:stretch/>
        </p:blipFill>
        <p:spPr>
          <a:xfrm>
            <a:off x="18133" y="586270"/>
            <a:ext cx="3405743" cy="2306550"/>
          </a:xfrm>
          <a:prstGeom prst="rect">
            <a:avLst/>
          </a:prstGeom>
        </p:spPr>
      </p:pic>
      <p:sp>
        <p:nvSpPr>
          <p:cNvPr id="8" name="矩形 7">
            <a:extLst>
              <a:ext uri="{FF2B5EF4-FFF2-40B4-BE49-F238E27FC236}">
                <a16:creationId xmlns:a16="http://schemas.microsoft.com/office/drawing/2014/main" id="{50301131-7FEC-457B-BEB4-C1845E1C4189}"/>
              </a:ext>
            </a:extLst>
          </p:cNvPr>
          <p:cNvSpPr/>
          <p:nvPr/>
        </p:nvSpPr>
        <p:spPr>
          <a:xfrm>
            <a:off x="4650065" y="602166"/>
            <a:ext cx="446049"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04189286-4CC6-498E-A41A-7FBE488AA2A9}"/>
              </a:ext>
            </a:extLst>
          </p:cNvPr>
          <p:cNvSpPr/>
          <p:nvPr/>
        </p:nvSpPr>
        <p:spPr>
          <a:xfrm>
            <a:off x="5540248" y="602165"/>
            <a:ext cx="474421" cy="12358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B84EA3F9-3754-446F-8F18-9AC525A0471A}"/>
                  </a:ext>
                </a:extLst>
              </p:cNvPr>
              <p:cNvSpPr txBox="1"/>
              <p:nvPr/>
            </p:nvSpPr>
            <p:spPr>
              <a:xfrm>
                <a:off x="4603328" y="905027"/>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oMath>
                  </m:oMathPara>
                </a14:m>
                <a:endParaRPr lang="zh-TW" altLang="en-US" dirty="0"/>
              </a:p>
            </p:txBody>
          </p:sp>
        </mc:Choice>
        <mc:Fallback>
          <p:sp>
            <p:nvSpPr>
              <p:cNvPr id="10" name="文字方塊 9">
                <a:extLst>
                  <a:ext uri="{FF2B5EF4-FFF2-40B4-BE49-F238E27FC236}">
                    <a16:creationId xmlns:a16="http://schemas.microsoft.com/office/drawing/2014/main" id="{B84EA3F9-3754-446F-8F18-9AC525A0471A}"/>
                  </a:ext>
                </a:extLst>
              </p:cNvPr>
              <p:cNvSpPr txBox="1">
                <a:spLocks noRot="1" noChangeAspect="1" noMove="1" noResize="1" noEditPoints="1" noAdjustHandles="1" noChangeArrowheads="1" noChangeShapeType="1" noTextEdit="1"/>
              </p:cNvSpPr>
              <p:nvPr/>
            </p:nvSpPr>
            <p:spPr>
              <a:xfrm>
                <a:off x="4603328" y="905027"/>
                <a:ext cx="646989" cy="276999"/>
              </a:xfrm>
              <a:prstGeom prst="rect">
                <a:avLst/>
              </a:prstGeom>
              <a:blipFill>
                <a:blip r:embed="rId4"/>
                <a:stretch>
                  <a:fillRect b="-1521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文字方塊 10">
                <a:extLst>
                  <a:ext uri="{FF2B5EF4-FFF2-40B4-BE49-F238E27FC236}">
                    <a16:creationId xmlns:a16="http://schemas.microsoft.com/office/drawing/2014/main" id="{BF8B982F-C52F-442C-A3B9-359263456910}"/>
                  </a:ext>
                </a:extLst>
              </p:cNvPr>
              <p:cNvSpPr txBox="1"/>
              <p:nvPr/>
            </p:nvSpPr>
            <p:spPr>
              <a:xfrm>
                <a:off x="5464326" y="905026"/>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0</m:t>
                          </m:r>
                        </m:sub>
                      </m:sSub>
                    </m:oMath>
                  </m:oMathPara>
                </a14:m>
                <a:endParaRPr lang="zh-TW" altLang="en-US" dirty="0"/>
              </a:p>
            </p:txBody>
          </p:sp>
        </mc:Choice>
        <mc:Fallback>
          <p:sp>
            <p:nvSpPr>
              <p:cNvPr id="11" name="文字方塊 10">
                <a:extLst>
                  <a:ext uri="{FF2B5EF4-FFF2-40B4-BE49-F238E27FC236}">
                    <a16:creationId xmlns:a16="http://schemas.microsoft.com/office/drawing/2014/main" id="{BF8B982F-C52F-442C-A3B9-359263456910}"/>
                  </a:ext>
                </a:extLst>
              </p:cNvPr>
              <p:cNvSpPr txBox="1">
                <a:spLocks noRot="1" noChangeAspect="1" noMove="1" noResize="1" noEditPoints="1" noAdjustHandles="1" noChangeArrowheads="1" noChangeShapeType="1" noTextEdit="1"/>
              </p:cNvSpPr>
              <p:nvPr/>
            </p:nvSpPr>
            <p:spPr>
              <a:xfrm>
                <a:off x="5464326" y="905026"/>
                <a:ext cx="646989" cy="276999"/>
              </a:xfrm>
              <a:prstGeom prst="rect">
                <a:avLst/>
              </a:prstGeom>
              <a:blipFill>
                <a:blip r:embed="rId5"/>
                <a:stretch>
                  <a:fillRect b="-15217"/>
                </a:stretch>
              </a:blipFill>
            </p:spPr>
            <p:txBody>
              <a:bodyPr/>
              <a:lstStyle/>
              <a:p>
                <a:r>
                  <a:rPr lang="zh-TW" altLang="en-US">
                    <a:noFill/>
                  </a:rPr>
                  <a:t> </a:t>
                </a:r>
              </a:p>
            </p:txBody>
          </p:sp>
        </mc:Fallback>
      </mc:AlternateContent>
      <p:cxnSp>
        <p:nvCxnSpPr>
          <p:cNvPr id="13" name="直線單箭頭接點 12">
            <a:extLst>
              <a:ext uri="{FF2B5EF4-FFF2-40B4-BE49-F238E27FC236}">
                <a16:creationId xmlns:a16="http://schemas.microsoft.com/office/drawing/2014/main" id="{D287A197-903C-42F2-A136-08D4DD7E96BD}"/>
              </a:ext>
            </a:extLst>
          </p:cNvPr>
          <p:cNvCxnSpPr/>
          <p:nvPr/>
        </p:nvCxnSpPr>
        <p:spPr>
          <a:xfrm>
            <a:off x="4360133" y="602165"/>
            <a:ext cx="0" cy="320040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BA6452E3-623D-4D7E-992C-E31B143C3762}"/>
              </a:ext>
            </a:extLst>
          </p:cNvPr>
          <p:cNvSpPr txBox="1"/>
          <p:nvPr/>
        </p:nvSpPr>
        <p:spPr>
          <a:xfrm>
            <a:off x="3968939" y="540163"/>
            <a:ext cx="249044" cy="369332"/>
          </a:xfrm>
          <a:prstGeom prst="rect">
            <a:avLst/>
          </a:prstGeom>
          <a:noFill/>
        </p:spPr>
        <p:txBody>
          <a:bodyPr wrap="square" rtlCol="0">
            <a:spAutoFit/>
          </a:bodyPr>
          <a:lstStyle/>
          <a:p>
            <a:r>
              <a:rPr lang="en-US" altLang="zh-TW" dirty="0"/>
              <a:t>0</a:t>
            </a:r>
            <a:endParaRPr lang="zh-TW" altLang="en-US" dirty="0"/>
          </a:p>
        </p:txBody>
      </p:sp>
      <p:sp>
        <p:nvSpPr>
          <p:cNvPr id="16" name="文字方塊 15">
            <a:extLst>
              <a:ext uri="{FF2B5EF4-FFF2-40B4-BE49-F238E27FC236}">
                <a16:creationId xmlns:a16="http://schemas.microsoft.com/office/drawing/2014/main" id="{0DECA999-DE07-4C51-B9AD-4553036DF0F4}"/>
              </a:ext>
            </a:extLst>
          </p:cNvPr>
          <p:cNvSpPr txBox="1"/>
          <p:nvPr/>
        </p:nvSpPr>
        <p:spPr>
          <a:xfrm>
            <a:off x="3998443" y="1279485"/>
            <a:ext cx="236991" cy="830997"/>
          </a:xfrm>
          <a:prstGeom prst="rect">
            <a:avLst/>
          </a:prstGeom>
          <a:noFill/>
        </p:spPr>
        <p:txBody>
          <a:bodyPr wrap="square" rtlCol="0">
            <a:spAutoFit/>
          </a:bodyPr>
          <a:lstStyle/>
          <a:p>
            <a:r>
              <a:rPr lang="en-US" altLang="zh-TW" sz="1600" dirty="0"/>
              <a:t>6</a:t>
            </a:r>
          </a:p>
          <a:p>
            <a:r>
              <a:rPr lang="en-US" altLang="zh-TW" sz="1600" dirty="0"/>
              <a:t>8</a:t>
            </a:r>
          </a:p>
          <a:p>
            <a:r>
              <a:rPr lang="en-US" altLang="zh-TW" sz="1600" dirty="0"/>
              <a:t>9</a:t>
            </a:r>
            <a:endParaRPr lang="zh-TW" altLang="en-US" sz="1600" dirty="0"/>
          </a:p>
        </p:txBody>
      </p:sp>
      <p:sp>
        <p:nvSpPr>
          <p:cNvPr id="18" name="矩形 17">
            <a:extLst>
              <a:ext uri="{FF2B5EF4-FFF2-40B4-BE49-F238E27FC236}">
                <a16:creationId xmlns:a16="http://schemas.microsoft.com/office/drawing/2014/main" id="{EB5B9DBE-406C-48F4-A6E2-016C6E195810}"/>
              </a:ext>
            </a:extLst>
          </p:cNvPr>
          <p:cNvSpPr/>
          <p:nvPr/>
        </p:nvSpPr>
        <p:spPr>
          <a:xfrm>
            <a:off x="4650064" y="1970402"/>
            <a:ext cx="446049"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20" name="文字方塊 19">
                <a:extLst>
                  <a:ext uri="{FF2B5EF4-FFF2-40B4-BE49-F238E27FC236}">
                    <a16:creationId xmlns:a16="http://schemas.microsoft.com/office/drawing/2014/main" id="{1ECA0321-C92A-4986-8DA3-66945A892238}"/>
                  </a:ext>
                </a:extLst>
              </p:cNvPr>
              <p:cNvSpPr txBox="1"/>
              <p:nvPr/>
            </p:nvSpPr>
            <p:spPr>
              <a:xfrm>
                <a:off x="4603327" y="2427602"/>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i="1">
                              <a:latin typeface="Cambria Math" panose="02040503050406030204" pitchFamily="18" charset="0"/>
                            </a:rPr>
                            <m:t>2</m:t>
                          </m:r>
                        </m:sub>
                      </m:sSub>
                    </m:oMath>
                  </m:oMathPara>
                </a14:m>
                <a:endParaRPr lang="zh-TW" altLang="en-US" dirty="0"/>
              </a:p>
            </p:txBody>
          </p:sp>
        </mc:Choice>
        <mc:Fallback>
          <p:sp>
            <p:nvSpPr>
              <p:cNvPr id="20" name="文字方塊 19">
                <a:extLst>
                  <a:ext uri="{FF2B5EF4-FFF2-40B4-BE49-F238E27FC236}">
                    <a16:creationId xmlns:a16="http://schemas.microsoft.com/office/drawing/2014/main" id="{1ECA0321-C92A-4986-8DA3-66945A892238}"/>
                  </a:ext>
                </a:extLst>
              </p:cNvPr>
              <p:cNvSpPr txBox="1">
                <a:spLocks noRot="1" noChangeAspect="1" noMove="1" noResize="1" noEditPoints="1" noAdjustHandles="1" noChangeArrowheads="1" noChangeShapeType="1" noTextEdit="1"/>
              </p:cNvSpPr>
              <p:nvPr/>
            </p:nvSpPr>
            <p:spPr>
              <a:xfrm>
                <a:off x="4603327" y="2427602"/>
                <a:ext cx="646989" cy="276999"/>
              </a:xfrm>
              <a:prstGeom prst="rect">
                <a:avLst/>
              </a:prstGeom>
              <a:blipFill>
                <a:blip r:embed="rId6"/>
                <a:stretch>
                  <a:fillRect b="-15217"/>
                </a:stretch>
              </a:blipFill>
            </p:spPr>
            <p:txBody>
              <a:bodyPr/>
              <a:lstStyle/>
              <a:p>
                <a:r>
                  <a:rPr lang="zh-TW" altLang="en-US">
                    <a:noFill/>
                  </a:rPr>
                  <a:t> </a:t>
                </a:r>
              </a:p>
            </p:txBody>
          </p:sp>
        </mc:Fallback>
      </mc:AlternateContent>
      <p:sp>
        <p:nvSpPr>
          <p:cNvPr id="22" name="文字方塊 21">
            <a:extLst>
              <a:ext uri="{FF2B5EF4-FFF2-40B4-BE49-F238E27FC236}">
                <a16:creationId xmlns:a16="http://schemas.microsoft.com/office/drawing/2014/main" id="{3361F484-281D-4D6D-9C81-A98BE079805F}"/>
              </a:ext>
            </a:extLst>
          </p:cNvPr>
          <p:cNvSpPr txBox="1"/>
          <p:nvPr/>
        </p:nvSpPr>
        <p:spPr>
          <a:xfrm>
            <a:off x="3932244" y="2723543"/>
            <a:ext cx="717820" cy="338554"/>
          </a:xfrm>
          <a:prstGeom prst="rect">
            <a:avLst/>
          </a:prstGeom>
          <a:noFill/>
        </p:spPr>
        <p:txBody>
          <a:bodyPr wrap="square" rtlCol="0">
            <a:spAutoFit/>
          </a:bodyPr>
          <a:lstStyle/>
          <a:p>
            <a:r>
              <a:rPr lang="en-US" altLang="zh-TW" sz="1600" dirty="0"/>
              <a:t>14</a:t>
            </a:r>
            <a:endParaRPr lang="zh-TW" altLang="en-US" sz="1600" dirty="0"/>
          </a:p>
        </p:txBody>
      </p:sp>
      <p:pic>
        <p:nvPicPr>
          <p:cNvPr id="25" name="圖片 24">
            <a:extLst>
              <a:ext uri="{FF2B5EF4-FFF2-40B4-BE49-F238E27FC236}">
                <a16:creationId xmlns:a16="http://schemas.microsoft.com/office/drawing/2014/main" id="{83626E3B-1B6B-43C8-A119-5D923E54287E}"/>
              </a:ext>
            </a:extLst>
          </p:cNvPr>
          <p:cNvPicPr>
            <a:picLocks noChangeAspect="1"/>
          </p:cNvPicPr>
          <p:nvPr/>
        </p:nvPicPr>
        <p:blipFill>
          <a:blip r:embed="rId7"/>
          <a:stretch>
            <a:fillRect/>
          </a:stretch>
        </p:blipFill>
        <p:spPr>
          <a:xfrm>
            <a:off x="3733304" y="3701741"/>
            <a:ext cx="2400300" cy="2476500"/>
          </a:xfrm>
          <a:prstGeom prst="rect">
            <a:avLst/>
          </a:prstGeom>
        </p:spPr>
      </p:pic>
      <p:sp>
        <p:nvSpPr>
          <p:cNvPr id="26" name="矩形 25">
            <a:extLst>
              <a:ext uri="{FF2B5EF4-FFF2-40B4-BE49-F238E27FC236}">
                <a16:creationId xmlns:a16="http://schemas.microsoft.com/office/drawing/2014/main" id="{C95FE99F-AD0A-4C7B-BDBF-E8398F4290B5}"/>
              </a:ext>
            </a:extLst>
          </p:cNvPr>
          <p:cNvSpPr/>
          <p:nvPr/>
        </p:nvSpPr>
        <p:spPr>
          <a:xfrm>
            <a:off x="10024946" y="602166"/>
            <a:ext cx="446049"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0A120F1F-22CD-4788-B6AC-1C0961E0D71B}"/>
              </a:ext>
            </a:extLst>
          </p:cNvPr>
          <p:cNvSpPr/>
          <p:nvPr/>
        </p:nvSpPr>
        <p:spPr>
          <a:xfrm>
            <a:off x="10915129" y="602165"/>
            <a:ext cx="452574" cy="12168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28" name="文字方塊 27">
                <a:extLst>
                  <a:ext uri="{FF2B5EF4-FFF2-40B4-BE49-F238E27FC236}">
                    <a16:creationId xmlns:a16="http://schemas.microsoft.com/office/drawing/2014/main" id="{870F6A44-6744-4BEC-8D6D-8C7802E550FE}"/>
                  </a:ext>
                </a:extLst>
              </p:cNvPr>
              <p:cNvSpPr txBox="1"/>
              <p:nvPr/>
            </p:nvSpPr>
            <p:spPr>
              <a:xfrm>
                <a:off x="9978209" y="905027"/>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oMath>
                  </m:oMathPara>
                </a14:m>
                <a:endParaRPr lang="zh-TW" altLang="en-US" dirty="0"/>
              </a:p>
            </p:txBody>
          </p:sp>
        </mc:Choice>
        <mc:Fallback>
          <p:sp>
            <p:nvSpPr>
              <p:cNvPr id="28" name="文字方塊 27">
                <a:extLst>
                  <a:ext uri="{FF2B5EF4-FFF2-40B4-BE49-F238E27FC236}">
                    <a16:creationId xmlns:a16="http://schemas.microsoft.com/office/drawing/2014/main" id="{870F6A44-6744-4BEC-8D6D-8C7802E550FE}"/>
                  </a:ext>
                </a:extLst>
              </p:cNvPr>
              <p:cNvSpPr txBox="1">
                <a:spLocks noRot="1" noChangeAspect="1" noMove="1" noResize="1" noEditPoints="1" noAdjustHandles="1" noChangeArrowheads="1" noChangeShapeType="1" noTextEdit="1"/>
              </p:cNvSpPr>
              <p:nvPr/>
            </p:nvSpPr>
            <p:spPr>
              <a:xfrm>
                <a:off x="9978209" y="905027"/>
                <a:ext cx="646989" cy="276999"/>
              </a:xfrm>
              <a:prstGeom prst="rect">
                <a:avLst/>
              </a:prstGeom>
              <a:blipFill>
                <a:blip r:embed="rId8"/>
                <a:stretch>
                  <a:fillRect b="-1521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文字方塊 28">
                <a:extLst>
                  <a:ext uri="{FF2B5EF4-FFF2-40B4-BE49-F238E27FC236}">
                    <a16:creationId xmlns:a16="http://schemas.microsoft.com/office/drawing/2014/main" id="{F997F6D0-58FE-45C2-B671-B6BAD153DE1D}"/>
                  </a:ext>
                </a:extLst>
              </p:cNvPr>
              <p:cNvSpPr txBox="1"/>
              <p:nvPr/>
            </p:nvSpPr>
            <p:spPr>
              <a:xfrm>
                <a:off x="10879873" y="922641"/>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0</m:t>
                          </m:r>
                        </m:sub>
                      </m:sSub>
                    </m:oMath>
                  </m:oMathPara>
                </a14:m>
                <a:endParaRPr lang="zh-TW" altLang="en-US" dirty="0"/>
              </a:p>
            </p:txBody>
          </p:sp>
        </mc:Choice>
        <mc:Fallback>
          <p:sp>
            <p:nvSpPr>
              <p:cNvPr id="29" name="文字方塊 28">
                <a:extLst>
                  <a:ext uri="{FF2B5EF4-FFF2-40B4-BE49-F238E27FC236}">
                    <a16:creationId xmlns:a16="http://schemas.microsoft.com/office/drawing/2014/main" id="{F997F6D0-58FE-45C2-B671-B6BAD153DE1D}"/>
                  </a:ext>
                </a:extLst>
              </p:cNvPr>
              <p:cNvSpPr txBox="1">
                <a:spLocks noRot="1" noChangeAspect="1" noMove="1" noResize="1" noEditPoints="1" noAdjustHandles="1" noChangeArrowheads="1" noChangeShapeType="1" noTextEdit="1"/>
              </p:cNvSpPr>
              <p:nvPr/>
            </p:nvSpPr>
            <p:spPr>
              <a:xfrm>
                <a:off x="10879873" y="922641"/>
                <a:ext cx="646989" cy="276999"/>
              </a:xfrm>
              <a:prstGeom prst="rect">
                <a:avLst/>
              </a:prstGeom>
              <a:blipFill>
                <a:blip r:embed="rId9"/>
                <a:stretch>
                  <a:fillRect b="-15217"/>
                </a:stretch>
              </a:blipFill>
            </p:spPr>
            <p:txBody>
              <a:bodyPr/>
              <a:lstStyle/>
              <a:p>
                <a:r>
                  <a:rPr lang="zh-TW" altLang="en-US">
                    <a:noFill/>
                  </a:rPr>
                  <a:t> </a:t>
                </a:r>
              </a:p>
            </p:txBody>
          </p:sp>
        </mc:Fallback>
      </mc:AlternateContent>
      <p:cxnSp>
        <p:nvCxnSpPr>
          <p:cNvPr id="30" name="直線單箭頭接點 29">
            <a:extLst>
              <a:ext uri="{FF2B5EF4-FFF2-40B4-BE49-F238E27FC236}">
                <a16:creationId xmlns:a16="http://schemas.microsoft.com/office/drawing/2014/main" id="{11BE4A8C-0711-4A27-8DA8-A9A50B858672}"/>
              </a:ext>
            </a:extLst>
          </p:cNvPr>
          <p:cNvCxnSpPr/>
          <p:nvPr/>
        </p:nvCxnSpPr>
        <p:spPr>
          <a:xfrm>
            <a:off x="9735014" y="602165"/>
            <a:ext cx="0" cy="320040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65F8F1B4-8436-4B1D-9EB3-94B4C4ED83C2}"/>
              </a:ext>
            </a:extLst>
          </p:cNvPr>
          <p:cNvSpPr txBox="1"/>
          <p:nvPr/>
        </p:nvSpPr>
        <p:spPr>
          <a:xfrm>
            <a:off x="9343820" y="540163"/>
            <a:ext cx="249044" cy="369332"/>
          </a:xfrm>
          <a:prstGeom prst="rect">
            <a:avLst/>
          </a:prstGeom>
          <a:noFill/>
        </p:spPr>
        <p:txBody>
          <a:bodyPr wrap="square" rtlCol="0">
            <a:spAutoFit/>
          </a:bodyPr>
          <a:lstStyle/>
          <a:p>
            <a:r>
              <a:rPr lang="en-US" altLang="zh-TW" dirty="0"/>
              <a:t>0</a:t>
            </a:r>
            <a:endParaRPr lang="zh-TW" altLang="en-US" dirty="0"/>
          </a:p>
        </p:txBody>
      </p:sp>
      <p:sp>
        <p:nvSpPr>
          <p:cNvPr id="32" name="文字方塊 31">
            <a:extLst>
              <a:ext uri="{FF2B5EF4-FFF2-40B4-BE49-F238E27FC236}">
                <a16:creationId xmlns:a16="http://schemas.microsoft.com/office/drawing/2014/main" id="{E7E38238-252C-45E9-94D1-847CBEFC6058}"/>
              </a:ext>
            </a:extLst>
          </p:cNvPr>
          <p:cNvSpPr txBox="1"/>
          <p:nvPr/>
        </p:nvSpPr>
        <p:spPr>
          <a:xfrm>
            <a:off x="9373324" y="1279485"/>
            <a:ext cx="236991" cy="830997"/>
          </a:xfrm>
          <a:prstGeom prst="rect">
            <a:avLst/>
          </a:prstGeom>
          <a:noFill/>
        </p:spPr>
        <p:txBody>
          <a:bodyPr wrap="square" rtlCol="0">
            <a:spAutoFit/>
          </a:bodyPr>
          <a:lstStyle/>
          <a:p>
            <a:r>
              <a:rPr lang="en-US" altLang="zh-TW" sz="1600" dirty="0"/>
              <a:t>6</a:t>
            </a:r>
          </a:p>
          <a:p>
            <a:r>
              <a:rPr lang="en-US" altLang="zh-TW" sz="1600" dirty="0"/>
              <a:t>8</a:t>
            </a:r>
          </a:p>
          <a:p>
            <a:r>
              <a:rPr lang="en-US" altLang="zh-TW" sz="1600" dirty="0"/>
              <a:t>9</a:t>
            </a:r>
            <a:endParaRPr lang="zh-TW" altLang="en-US" sz="1600" dirty="0"/>
          </a:p>
        </p:txBody>
      </p:sp>
      <p:sp>
        <p:nvSpPr>
          <p:cNvPr id="33" name="矩形 32">
            <a:extLst>
              <a:ext uri="{FF2B5EF4-FFF2-40B4-BE49-F238E27FC236}">
                <a16:creationId xmlns:a16="http://schemas.microsoft.com/office/drawing/2014/main" id="{F48AD010-9A93-4C78-BDAC-6615FD9FF6C3}"/>
              </a:ext>
            </a:extLst>
          </p:cNvPr>
          <p:cNvSpPr/>
          <p:nvPr/>
        </p:nvSpPr>
        <p:spPr>
          <a:xfrm>
            <a:off x="10024945" y="1970402"/>
            <a:ext cx="446049"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34" name="文字方塊 33">
                <a:extLst>
                  <a:ext uri="{FF2B5EF4-FFF2-40B4-BE49-F238E27FC236}">
                    <a16:creationId xmlns:a16="http://schemas.microsoft.com/office/drawing/2014/main" id="{21E560A8-1FBF-4E11-8384-29A60ECD5CE8}"/>
                  </a:ext>
                </a:extLst>
              </p:cNvPr>
              <p:cNvSpPr txBox="1"/>
              <p:nvPr/>
            </p:nvSpPr>
            <p:spPr>
              <a:xfrm>
                <a:off x="9978208" y="2427602"/>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i="1">
                              <a:latin typeface="Cambria Math" panose="02040503050406030204" pitchFamily="18" charset="0"/>
                            </a:rPr>
                            <m:t>2</m:t>
                          </m:r>
                        </m:sub>
                      </m:sSub>
                    </m:oMath>
                  </m:oMathPara>
                </a14:m>
                <a:endParaRPr lang="zh-TW" altLang="en-US" dirty="0"/>
              </a:p>
            </p:txBody>
          </p:sp>
        </mc:Choice>
        <mc:Fallback>
          <p:sp>
            <p:nvSpPr>
              <p:cNvPr id="34" name="文字方塊 33">
                <a:extLst>
                  <a:ext uri="{FF2B5EF4-FFF2-40B4-BE49-F238E27FC236}">
                    <a16:creationId xmlns:a16="http://schemas.microsoft.com/office/drawing/2014/main" id="{21E560A8-1FBF-4E11-8384-29A60ECD5CE8}"/>
                  </a:ext>
                </a:extLst>
              </p:cNvPr>
              <p:cNvSpPr txBox="1">
                <a:spLocks noRot="1" noChangeAspect="1" noMove="1" noResize="1" noEditPoints="1" noAdjustHandles="1" noChangeArrowheads="1" noChangeShapeType="1" noTextEdit="1"/>
              </p:cNvSpPr>
              <p:nvPr/>
            </p:nvSpPr>
            <p:spPr>
              <a:xfrm>
                <a:off x="9978208" y="2427602"/>
                <a:ext cx="646989" cy="276999"/>
              </a:xfrm>
              <a:prstGeom prst="rect">
                <a:avLst/>
              </a:prstGeom>
              <a:blipFill>
                <a:blip r:embed="rId10"/>
                <a:stretch>
                  <a:fillRect b="-15217"/>
                </a:stretch>
              </a:blipFill>
            </p:spPr>
            <p:txBody>
              <a:bodyPr/>
              <a:lstStyle/>
              <a:p>
                <a:r>
                  <a:rPr lang="zh-TW" altLang="en-US">
                    <a:noFill/>
                  </a:rPr>
                  <a:t> </a:t>
                </a:r>
              </a:p>
            </p:txBody>
          </p:sp>
        </mc:Fallback>
      </mc:AlternateContent>
      <p:sp>
        <p:nvSpPr>
          <p:cNvPr id="35" name="文字方塊 34">
            <a:extLst>
              <a:ext uri="{FF2B5EF4-FFF2-40B4-BE49-F238E27FC236}">
                <a16:creationId xmlns:a16="http://schemas.microsoft.com/office/drawing/2014/main" id="{564BEC16-73E2-4804-85F5-D39FEFC9A038}"/>
              </a:ext>
            </a:extLst>
          </p:cNvPr>
          <p:cNvSpPr txBox="1"/>
          <p:nvPr/>
        </p:nvSpPr>
        <p:spPr>
          <a:xfrm>
            <a:off x="9307125" y="2723543"/>
            <a:ext cx="717820" cy="338554"/>
          </a:xfrm>
          <a:prstGeom prst="rect">
            <a:avLst/>
          </a:prstGeom>
          <a:noFill/>
        </p:spPr>
        <p:txBody>
          <a:bodyPr wrap="square" rtlCol="0">
            <a:spAutoFit/>
          </a:bodyPr>
          <a:lstStyle/>
          <a:p>
            <a:r>
              <a:rPr lang="en-US" altLang="zh-TW" sz="1600" dirty="0"/>
              <a:t>14</a:t>
            </a:r>
            <a:endParaRPr lang="zh-TW" altLang="en-US" sz="1600" dirty="0"/>
          </a:p>
        </p:txBody>
      </p:sp>
      <p:pic>
        <p:nvPicPr>
          <p:cNvPr id="36" name="內容版面配置區 4" descr="一張含有 桌 的圖片&#10;&#10;自動產生的描述">
            <a:extLst>
              <a:ext uri="{FF2B5EF4-FFF2-40B4-BE49-F238E27FC236}">
                <a16:creationId xmlns:a16="http://schemas.microsoft.com/office/drawing/2014/main" id="{FDF666D1-1257-4476-BCB6-92B3E2C00EA6}"/>
              </a:ext>
            </a:extLst>
          </p:cNvPr>
          <p:cNvPicPr>
            <a:picLocks noChangeAspect="1"/>
          </p:cNvPicPr>
          <p:nvPr/>
        </p:nvPicPr>
        <p:blipFill rotWithShape="1">
          <a:blip r:embed="rId3">
            <a:extLst>
              <a:ext uri="{28A0092B-C50C-407E-A947-70E740481C1C}">
                <a14:useLocalDpi xmlns:a14="http://schemas.microsoft.com/office/drawing/2010/main" val="0"/>
              </a:ext>
            </a:extLst>
          </a:blip>
          <a:srcRect r="60421"/>
          <a:stretch/>
        </p:blipFill>
        <p:spPr>
          <a:xfrm>
            <a:off x="418820" y="3802566"/>
            <a:ext cx="2243682" cy="2177881"/>
          </a:xfrm>
          <a:prstGeom prst="rect">
            <a:avLst/>
          </a:prstGeom>
        </p:spPr>
      </p:pic>
      <p:sp>
        <p:nvSpPr>
          <p:cNvPr id="37" name="矩形 36">
            <a:extLst>
              <a:ext uri="{FF2B5EF4-FFF2-40B4-BE49-F238E27FC236}">
                <a16:creationId xmlns:a16="http://schemas.microsoft.com/office/drawing/2014/main" id="{987325B7-42C0-41FB-A23C-99763EEF314F}"/>
              </a:ext>
            </a:extLst>
          </p:cNvPr>
          <p:cNvSpPr/>
          <p:nvPr/>
        </p:nvSpPr>
        <p:spPr>
          <a:xfrm>
            <a:off x="7434152" y="620754"/>
            <a:ext cx="446049"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37">
            <a:extLst>
              <a:ext uri="{FF2B5EF4-FFF2-40B4-BE49-F238E27FC236}">
                <a16:creationId xmlns:a16="http://schemas.microsoft.com/office/drawing/2014/main" id="{6FF5960D-20EC-41E0-845E-8F236962C31E}"/>
              </a:ext>
            </a:extLst>
          </p:cNvPr>
          <p:cNvSpPr/>
          <p:nvPr/>
        </p:nvSpPr>
        <p:spPr>
          <a:xfrm>
            <a:off x="8324335" y="620753"/>
            <a:ext cx="452581" cy="12172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39" name="文字方塊 38">
                <a:extLst>
                  <a:ext uri="{FF2B5EF4-FFF2-40B4-BE49-F238E27FC236}">
                    <a16:creationId xmlns:a16="http://schemas.microsoft.com/office/drawing/2014/main" id="{A2DFC11D-D6AF-44DB-90BC-38BE113E38C2}"/>
                  </a:ext>
                </a:extLst>
              </p:cNvPr>
              <p:cNvSpPr txBox="1"/>
              <p:nvPr/>
            </p:nvSpPr>
            <p:spPr>
              <a:xfrm>
                <a:off x="7387415" y="923615"/>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oMath>
                  </m:oMathPara>
                </a14:m>
                <a:endParaRPr lang="zh-TW" altLang="en-US" dirty="0"/>
              </a:p>
            </p:txBody>
          </p:sp>
        </mc:Choice>
        <mc:Fallback>
          <p:sp>
            <p:nvSpPr>
              <p:cNvPr id="39" name="文字方塊 38">
                <a:extLst>
                  <a:ext uri="{FF2B5EF4-FFF2-40B4-BE49-F238E27FC236}">
                    <a16:creationId xmlns:a16="http://schemas.microsoft.com/office/drawing/2014/main" id="{A2DFC11D-D6AF-44DB-90BC-38BE113E38C2}"/>
                  </a:ext>
                </a:extLst>
              </p:cNvPr>
              <p:cNvSpPr txBox="1">
                <a:spLocks noRot="1" noChangeAspect="1" noMove="1" noResize="1" noEditPoints="1" noAdjustHandles="1" noChangeArrowheads="1" noChangeShapeType="1" noTextEdit="1"/>
              </p:cNvSpPr>
              <p:nvPr/>
            </p:nvSpPr>
            <p:spPr>
              <a:xfrm>
                <a:off x="7387415" y="923615"/>
                <a:ext cx="646989" cy="276999"/>
              </a:xfrm>
              <a:prstGeom prst="rect">
                <a:avLst/>
              </a:prstGeom>
              <a:blipFill>
                <a:blip r:embed="rId11"/>
                <a:stretch>
                  <a:fillRect b="-1555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0" name="文字方塊 39">
                <a:extLst>
                  <a:ext uri="{FF2B5EF4-FFF2-40B4-BE49-F238E27FC236}">
                    <a16:creationId xmlns:a16="http://schemas.microsoft.com/office/drawing/2014/main" id="{FE2C2649-8FE3-4B02-B54C-3752E2B9B351}"/>
                  </a:ext>
                </a:extLst>
              </p:cNvPr>
              <p:cNvSpPr txBox="1"/>
              <p:nvPr/>
            </p:nvSpPr>
            <p:spPr>
              <a:xfrm>
                <a:off x="8289079" y="941229"/>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0</m:t>
                          </m:r>
                        </m:sub>
                      </m:sSub>
                    </m:oMath>
                  </m:oMathPara>
                </a14:m>
                <a:endParaRPr lang="zh-TW" altLang="en-US" dirty="0"/>
              </a:p>
            </p:txBody>
          </p:sp>
        </mc:Choice>
        <mc:Fallback>
          <p:sp>
            <p:nvSpPr>
              <p:cNvPr id="40" name="文字方塊 39">
                <a:extLst>
                  <a:ext uri="{FF2B5EF4-FFF2-40B4-BE49-F238E27FC236}">
                    <a16:creationId xmlns:a16="http://schemas.microsoft.com/office/drawing/2014/main" id="{FE2C2649-8FE3-4B02-B54C-3752E2B9B351}"/>
                  </a:ext>
                </a:extLst>
              </p:cNvPr>
              <p:cNvSpPr txBox="1">
                <a:spLocks noRot="1" noChangeAspect="1" noMove="1" noResize="1" noEditPoints="1" noAdjustHandles="1" noChangeArrowheads="1" noChangeShapeType="1" noTextEdit="1"/>
              </p:cNvSpPr>
              <p:nvPr/>
            </p:nvSpPr>
            <p:spPr>
              <a:xfrm>
                <a:off x="8289079" y="941229"/>
                <a:ext cx="646989" cy="276999"/>
              </a:xfrm>
              <a:prstGeom prst="rect">
                <a:avLst/>
              </a:prstGeom>
              <a:blipFill>
                <a:blip r:embed="rId12"/>
                <a:stretch>
                  <a:fillRect b="-15217"/>
                </a:stretch>
              </a:blipFill>
            </p:spPr>
            <p:txBody>
              <a:bodyPr/>
              <a:lstStyle/>
              <a:p>
                <a:r>
                  <a:rPr lang="zh-TW" altLang="en-US">
                    <a:noFill/>
                  </a:rPr>
                  <a:t> </a:t>
                </a:r>
              </a:p>
            </p:txBody>
          </p:sp>
        </mc:Fallback>
      </mc:AlternateContent>
      <p:cxnSp>
        <p:nvCxnSpPr>
          <p:cNvPr id="41" name="直線單箭頭接點 40">
            <a:extLst>
              <a:ext uri="{FF2B5EF4-FFF2-40B4-BE49-F238E27FC236}">
                <a16:creationId xmlns:a16="http://schemas.microsoft.com/office/drawing/2014/main" id="{6E9AE1B5-AF4B-4B00-B748-7223F4852521}"/>
              </a:ext>
            </a:extLst>
          </p:cNvPr>
          <p:cNvCxnSpPr/>
          <p:nvPr/>
        </p:nvCxnSpPr>
        <p:spPr>
          <a:xfrm>
            <a:off x="7144220" y="620753"/>
            <a:ext cx="0" cy="320040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文字方塊 41">
            <a:extLst>
              <a:ext uri="{FF2B5EF4-FFF2-40B4-BE49-F238E27FC236}">
                <a16:creationId xmlns:a16="http://schemas.microsoft.com/office/drawing/2014/main" id="{BF4E0262-73FD-474A-9E55-DA47518E3E4D}"/>
              </a:ext>
            </a:extLst>
          </p:cNvPr>
          <p:cNvSpPr txBox="1"/>
          <p:nvPr/>
        </p:nvSpPr>
        <p:spPr>
          <a:xfrm>
            <a:off x="6753026" y="558751"/>
            <a:ext cx="249044" cy="369332"/>
          </a:xfrm>
          <a:prstGeom prst="rect">
            <a:avLst/>
          </a:prstGeom>
          <a:noFill/>
        </p:spPr>
        <p:txBody>
          <a:bodyPr wrap="square" rtlCol="0">
            <a:spAutoFit/>
          </a:bodyPr>
          <a:lstStyle/>
          <a:p>
            <a:r>
              <a:rPr lang="en-US" altLang="zh-TW" dirty="0"/>
              <a:t>0</a:t>
            </a:r>
            <a:endParaRPr lang="zh-TW" altLang="en-US" dirty="0"/>
          </a:p>
        </p:txBody>
      </p:sp>
      <p:sp>
        <p:nvSpPr>
          <p:cNvPr id="43" name="文字方塊 42">
            <a:extLst>
              <a:ext uri="{FF2B5EF4-FFF2-40B4-BE49-F238E27FC236}">
                <a16:creationId xmlns:a16="http://schemas.microsoft.com/office/drawing/2014/main" id="{9D908F81-0DBB-49B4-B122-6B9BE37F66A7}"/>
              </a:ext>
            </a:extLst>
          </p:cNvPr>
          <p:cNvSpPr txBox="1"/>
          <p:nvPr/>
        </p:nvSpPr>
        <p:spPr>
          <a:xfrm>
            <a:off x="6782530" y="1298073"/>
            <a:ext cx="236991" cy="830997"/>
          </a:xfrm>
          <a:prstGeom prst="rect">
            <a:avLst/>
          </a:prstGeom>
          <a:noFill/>
        </p:spPr>
        <p:txBody>
          <a:bodyPr wrap="square" rtlCol="0">
            <a:spAutoFit/>
          </a:bodyPr>
          <a:lstStyle/>
          <a:p>
            <a:r>
              <a:rPr lang="en-US" altLang="zh-TW" sz="1600" dirty="0"/>
              <a:t>6</a:t>
            </a:r>
          </a:p>
          <a:p>
            <a:r>
              <a:rPr lang="en-US" altLang="zh-TW" sz="1600" dirty="0"/>
              <a:t>8</a:t>
            </a:r>
          </a:p>
          <a:p>
            <a:r>
              <a:rPr lang="en-US" altLang="zh-TW" sz="1600" dirty="0"/>
              <a:t>9</a:t>
            </a:r>
            <a:endParaRPr lang="zh-TW" altLang="en-US" sz="1600" dirty="0"/>
          </a:p>
        </p:txBody>
      </p:sp>
      <p:sp>
        <p:nvSpPr>
          <p:cNvPr id="44" name="矩形 43">
            <a:extLst>
              <a:ext uri="{FF2B5EF4-FFF2-40B4-BE49-F238E27FC236}">
                <a16:creationId xmlns:a16="http://schemas.microsoft.com/office/drawing/2014/main" id="{297E3240-8206-474D-B059-386CFF1A6131}"/>
              </a:ext>
            </a:extLst>
          </p:cNvPr>
          <p:cNvSpPr/>
          <p:nvPr/>
        </p:nvSpPr>
        <p:spPr>
          <a:xfrm>
            <a:off x="7434151" y="1988990"/>
            <a:ext cx="446049"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45" name="文字方塊 44">
                <a:extLst>
                  <a:ext uri="{FF2B5EF4-FFF2-40B4-BE49-F238E27FC236}">
                    <a16:creationId xmlns:a16="http://schemas.microsoft.com/office/drawing/2014/main" id="{1B37E4B3-7CCE-4B95-8252-1E12BB854EE3}"/>
                  </a:ext>
                </a:extLst>
              </p:cNvPr>
              <p:cNvSpPr txBox="1"/>
              <p:nvPr/>
            </p:nvSpPr>
            <p:spPr>
              <a:xfrm>
                <a:off x="7387414" y="2446190"/>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i="1">
                              <a:latin typeface="Cambria Math" panose="02040503050406030204" pitchFamily="18" charset="0"/>
                            </a:rPr>
                            <m:t>2</m:t>
                          </m:r>
                        </m:sub>
                      </m:sSub>
                    </m:oMath>
                  </m:oMathPara>
                </a14:m>
                <a:endParaRPr lang="zh-TW" altLang="en-US" dirty="0"/>
              </a:p>
            </p:txBody>
          </p:sp>
        </mc:Choice>
        <mc:Fallback>
          <p:sp>
            <p:nvSpPr>
              <p:cNvPr id="45" name="文字方塊 44">
                <a:extLst>
                  <a:ext uri="{FF2B5EF4-FFF2-40B4-BE49-F238E27FC236}">
                    <a16:creationId xmlns:a16="http://schemas.microsoft.com/office/drawing/2014/main" id="{1B37E4B3-7CCE-4B95-8252-1E12BB854EE3}"/>
                  </a:ext>
                </a:extLst>
              </p:cNvPr>
              <p:cNvSpPr txBox="1">
                <a:spLocks noRot="1" noChangeAspect="1" noMove="1" noResize="1" noEditPoints="1" noAdjustHandles="1" noChangeArrowheads="1" noChangeShapeType="1" noTextEdit="1"/>
              </p:cNvSpPr>
              <p:nvPr/>
            </p:nvSpPr>
            <p:spPr>
              <a:xfrm>
                <a:off x="7387414" y="2446190"/>
                <a:ext cx="646989" cy="276999"/>
              </a:xfrm>
              <a:prstGeom prst="rect">
                <a:avLst/>
              </a:prstGeom>
              <a:blipFill>
                <a:blip r:embed="rId13"/>
                <a:stretch>
                  <a:fillRect b="-15217"/>
                </a:stretch>
              </a:blipFill>
            </p:spPr>
            <p:txBody>
              <a:bodyPr/>
              <a:lstStyle/>
              <a:p>
                <a:r>
                  <a:rPr lang="zh-TW" altLang="en-US">
                    <a:noFill/>
                  </a:rPr>
                  <a:t> </a:t>
                </a:r>
              </a:p>
            </p:txBody>
          </p:sp>
        </mc:Fallback>
      </mc:AlternateContent>
      <p:sp>
        <p:nvSpPr>
          <p:cNvPr id="46" name="文字方塊 45">
            <a:extLst>
              <a:ext uri="{FF2B5EF4-FFF2-40B4-BE49-F238E27FC236}">
                <a16:creationId xmlns:a16="http://schemas.microsoft.com/office/drawing/2014/main" id="{46677420-31FE-422A-AC7E-1456A5510F1D}"/>
              </a:ext>
            </a:extLst>
          </p:cNvPr>
          <p:cNvSpPr txBox="1"/>
          <p:nvPr/>
        </p:nvSpPr>
        <p:spPr>
          <a:xfrm>
            <a:off x="6716331" y="2742131"/>
            <a:ext cx="717820" cy="338554"/>
          </a:xfrm>
          <a:prstGeom prst="rect">
            <a:avLst/>
          </a:prstGeom>
          <a:noFill/>
        </p:spPr>
        <p:txBody>
          <a:bodyPr wrap="square" rtlCol="0">
            <a:spAutoFit/>
          </a:bodyPr>
          <a:lstStyle/>
          <a:p>
            <a:r>
              <a:rPr lang="en-US" altLang="zh-TW" sz="1600" dirty="0"/>
              <a:t>14</a:t>
            </a:r>
            <a:endParaRPr lang="zh-TW" altLang="en-US" sz="1600" dirty="0"/>
          </a:p>
        </p:txBody>
      </p:sp>
      <p:sp>
        <p:nvSpPr>
          <p:cNvPr id="47" name="矩形 46">
            <a:extLst>
              <a:ext uri="{FF2B5EF4-FFF2-40B4-BE49-F238E27FC236}">
                <a16:creationId xmlns:a16="http://schemas.microsoft.com/office/drawing/2014/main" id="{8111745B-9645-4E21-A4E9-36E16D4A69F7}"/>
              </a:ext>
            </a:extLst>
          </p:cNvPr>
          <p:cNvSpPr/>
          <p:nvPr/>
        </p:nvSpPr>
        <p:spPr>
          <a:xfrm>
            <a:off x="7454306" y="1523026"/>
            <a:ext cx="425894" cy="3149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48" name="文字方塊 47">
                <a:extLst>
                  <a:ext uri="{FF2B5EF4-FFF2-40B4-BE49-F238E27FC236}">
                    <a16:creationId xmlns:a16="http://schemas.microsoft.com/office/drawing/2014/main" id="{BAFF2AE7-638F-42C1-8A2B-0856DF18BE48}"/>
                  </a:ext>
                </a:extLst>
              </p:cNvPr>
              <p:cNvSpPr txBox="1"/>
              <p:nvPr/>
            </p:nvSpPr>
            <p:spPr>
              <a:xfrm>
                <a:off x="7359705" y="1542020"/>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i="1">
                              <a:latin typeface="Cambria Math" panose="02040503050406030204" pitchFamily="18" charset="0"/>
                            </a:rPr>
                            <m:t>3</m:t>
                          </m:r>
                        </m:sub>
                      </m:sSub>
                    </m:oMath>
                  </m:oMathPara>
                </a14:m>
                <a:endParaRPr lang="zh-TW" altLang="en-US" dirty="0"/>
              </a:p>
            </p:txBody>
          </p:sp>
        </mc:Choice>
        <mc:Fallback>
          <p:sp>
            <p:nvSpPr>
              <p:cNvPr id="48" name="文字方塊 47">
                <a:extLst>
                  <a:ext uri="{FF2B5EF4-FFF2-40B4-BE49-F238E27FC236}">
                    <a16:creationId xmlns:a16="http://schemas.microsoft.com/office/drawing/2014/main" id="{BAFF2AE7-638F-42C1-8A2B-0856DF18BE48}"/>
                  </a:ext>
                </a:extLst>
              </p:cNvPr>
              <p:cNvSpPr txBox="1">
                <a:spLocks noRot="1" noChangeAspect="1" noMove="1" noResize="1" noEditPoints="1" noAdjustHandles="1" noChangeArrowheads="1" noChangeShapeType="1" noTextEdit="1"/>
              </p:cNvSpPr>
              <p:nvPr/>
            </p:nvSpPr>
            <p:spPr>
              <a:xfrm>
                <a:off x="7359705" y="1542020"/>
                <a:ext cx="646989" cy="276999"/>
              </a:xfrm>
              <a:prstGeom prst="rect">
                <a:avLst/>
              </a:prstGeom>
              <a:blipFill>
                <a:blip r:embed="rId14"/>
                <a:stretch>
                  <a:fillRect b="-15556"/>
                </a:stretch>
              </a:blipFill>
            </p:spPr>
            <p:txBody>
              <a:bodyPr/>
              <a:lstStyle/>
              <a:p>
                <a:r>
                  <a:rPr lang="zh-TW" altLang="en-US">
                    <a:noFill/>
                  </a:rPr>
                  <a:t> </a:t>
                </a:r>
              </a:p>
            </p:txBody>
          </p:sp>
        </mc:Fallback>
      </mc:AlternateContent>
      <p:pic>
        <p:nvPicPr>
          <p:cNvPr id="50" name="圖片 49">
            <a:extLst>
              <a:ext uri="{FF2B5EF4-FFF2-40B4-BE49-F238E27FC236}">
                <a16:creationId xmlns:a16="http://schemas.microsoft.com/office/drawing/2014/main" id="{AE693D7A-9942-4B67-9B2B-7445E2C2FFF1}"/>
              </a:ext>
            </a:extLst>
          </p:cNvPr>
          <p:cNvPicPr>
            <a:picLocks noChangeAspect="1"/>
          </p:cNvPicPr>
          <p:nvPr/>
        </p:nvPicPr>
        <p:blipFill>
          <a:blip r:embed="rId15"/>
          <a:stretch>
            <a:fillRect/>
          </a:stretch>
        </p:blipFill>
        <p:spPr>
          <a:xfrm>
            <a:off x="6877548" y="3821154"/>
            <a:ext cx="2400300" cy="2476500"/>
          </a:xfrm>
          <a:prstGeom prst="rect">
            <a:avLst/>
          </a:prstGeom>
        </p:spPr>
      </p:pic>
      <mc:AlternateContent xmlns:mc="http://schemas.openxmlformats.org/markup-compatibility/2006">
        <mc:Choice xmlns:a14="http://schemas.microsoft.com/office/drawing/2010/main" Requires="a14">
          <p:sp>
            <p:nvSpPr>
              <p:cNvPr id="51" name="文字方塊 50">
                <a:extLst>
                  <a:ext uri="{FF2B5EF4-FFF2-40B4-BE49-F238E27FC236}">
                    <a16:creationId xmlns:a16="http://schemas.microsoft.com/office/drawing/2014/main" id="{2B970CD6-AEAE-4E86-8810-393F953FDFEC}"/>
                  </a:ext>
                </a:extLst>
              </p:cNvPr>
              <p:cNvSpPr txBox="1"/>
              <p:nvPr/>
            </p:nvSpPr>
            <p:spPr>
              <a:xfrm>
                <a:off x="9951757" y="1516566"/>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i="1">
                              <a:latin typeface="Cambria Math" panose="02040503050406030204" pitchFamily="18" charset="0"/>
                            </a:rPr>
                            <m:t>3</m:t>
                          </m:r>
                        </m:sub>
                      </m:sSub>
                    </m:oMath>
                  </m:oMathPara>
                </a14:m>
                <a:endParaRPr lang="zh-TW" altLang="en-US" dirty="0"/>
              </a:p>
            </p:txBody>
          </p:sp>
        </mc:Choice>
        <mc:Fallback>
          <p:sp>
            <p:nvSpPr>
              <p:cNvPr id="51" name="文字方塊 50">
                <a:extLst>
                  <a:ext uri="{FF2B5EF4-FFF2-40B4-BE49-F238E27FC236}">
                    <a16:creationId xmlns:a16="http://schemas.microsoft.com/office/drawing/2014/main" id="{2B970CD6-AEAE-4E86-8810-393F953FDFEC}"/>
                  </a:ext>
                </a:extLst>
              </p:cNvPr>
              <p:cNvSpPr txBox="1">
                <a:spLocks noRot="1" noChangeAspect="1" noMove="1" noResize="1" noEditPoints="1" noAdjustHandles="1" noChangeArrowheads="1" noChangeShapeType="1" noTextEdit="1"/>
              </p:cNvSpPr>
              <p:nvPr/>
            </p:nvSpPr>
            <p:spPr>
              <a:xfrm>
                <a:off x="9951757" y="1516566"/>
                <a:ext cx="646989" cy="276999"/>
              </a:xfrm>
              <a:prstGeom prst="rect">
                <a:avLst/>
              </a:prstGeom>
              <a:blipFill>
                <a:blip r:embed="rId16"/>
                <a:stretch>
                  <a:fillRect b="-15556"/>
                </a:stretch>
              </a:blipFill>
            </p:spPr>
            <p:txBody>
              <a:bodyPr/>
              <a:lstStyle/>
              <a:p>
                <a:r>
                  <a:rPr lang="zh-TW" altLang="en-US">
                    <a:noFill/>
                  </a:rPr>
                  <a:t> </a:t>
                </a:r>
              </a:p>
            </p:txBody>
          </p:sp>
        </mc:Fallback>
      </mc:AlternateContent>
      <p:sp>
        <p:nvSpPr>
          <p:cNvPr id="52" name="矩形 51">
            <a:extLst>
              <a:ext uri="{FF2B5EF4-FFF2-40B4-BE49-F238E27FC236}">
                <a16:creationId xmlns:a16="http://schemas.microsoft.com/office/drawing/2014/main" id="{77D208EB-EBC8-48AB-A011-D86AB1AD3443}"/>
              </a:ext>
            </a:extLst>
          </p:cNvPr>
          <p:cNvSpPr/>
          <p:nvPr/>
        </p:nvSpPr>
        <p:spPr>
          <a:xfrm>
            <a:off x="10037668" y="1508161"/>
            <a:ext cx="425894" cy="3149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a:extLst>
              <a:ext uri="{FF2B5EF4-FFF2-40B4-BE49-F238E27FC236}">
                <a16:creationId xmlns:a16="http://schemas.microsoft.com/office/drawing/2014/main" id="{BDE178CB-ECC2-47E4-9B3B-5158AEC5DFDC}"/>
              </a:ext>
            </a:extLst>
          </p:cNvPr>
          <p:cNvSpPr/>
          <p:nvPr/>
        </p:nvSpPr>
        <p:spPr>
          <a:xfrm>
            <a:off x="10024944" y="2902773"/>
            <a:ext cx="446049" cy="2590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54" name="文字方塊 53">
                <a:extLst>
                  <a:ext uri="{FF2B5EF4-FFF2-40B4-BE49-F238E27FC236}">
                    <a16:creationId xmlns:a16="http://schemas.microsoft.com/office/drawing/2014/main" id="{AA0085A0-494A-4504-BE70-9A8214DEBE6B}"/>
                  </a:ext>
                </a:extLst>
              </p:cNvPr>
              <p:cNvSpPr txBox="1"/>
              <p:nvPr/>
            </p:nvSpPr>
            <p:spPr>
              <a:xfrm>
                <a:off x="9945224" y="2883831"/>
                <a:ext cx="646989"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4</m:t>
                          </m:r>
                        </m:sub>
                      </m:sSub>
                    </m:oMath>
                  </m:oMathPara>
                </a14:m>
                <a:endParaRPr lang="zh-TW" altLang="en-US" dirty="0"/>
              </a:p>
            </p:txBody>
          </p:sp>
        </mc:Choice>
        <mc:Fallback>
          <p:sp>
            <p:nvSpPr>
              <p:cNvPr id="54" name="文字方塊 53">
                <a:extLst>
                  <a:ext uri="{FF2B5EF4-FFF2-40B4-BE49-F238E27FC236}">
                    <a16:creationId xmlns:a16="http://schemas.microsoft.com/office/drawing/2014/main" id="{AA0085A0-494A-4504-BE70-9A8214DEBE6B}"/>
                  </a:ext>
                </a:extLst>
              </p:cNvPr>
              <p:cNvSpPr txBox="1">
                <a:spLocks noRot="1" noChangeAspect="1" noMove="1" noResize="1" noEditPoints="1" noAdjustHandles="1" noChangeArrowheads="1" noChangeShapeType="1" noTextEdit="1"/>
              </p:cNvSpPr>
              <p:nvPr/>
            </p:nvSpPr>
            <p:spPr>
              <a:xfrm>
                <a:off x="9945224" y="2883831"/>
                <a:ext cx="646989" cy="276999"/>
              </a:xfrm>
              <a:prstGeom prst="rect">
                <a:avLst/>
              </a:prstGeom>
              <a:blipFill>
                <a:blip r:embed="rId17"/>
                <a:stretch>
                  <a:fillRect b="-15217"/>
                </a:stretch>
              </a:blipFill>
            </p:spPr>
            <p:txBody>
              <a:bodyPr/>
              <a:lstStyle/>
              <a:p>
                <a:r>
                  <a:rPr lang="zh-TW" altLang="en-US">
                    <a:noFill/>
                  </a:rPr>
                  <a:t> </a:t>
                </a:r>
              </a:p>
            </p:txBody>
          </p:sp>
        </mc:Fallback>
      </mc:AlternateContent>
      <p:sp>
        <p:nvSpPr>
          <p:cNvPr id="55" name="文字方塊 54">
            <a:extLst>
              <a:ext uri="{FF2B5EF4-FFF2-40B4-BE49-F238E27FC236}">
                <a16:creationId xmlns:a16="http://schemas.microsoft.com/office/drawing/2014/main" id="{8E29D670-0882-4239-B8B3-BF2A5A97DC73}"/>
              </a:ext>
            </a:extLst>
          </p:cNvPr>
          <p:cNvSpPr txBox="1"/>
          <p:nvPr/>
        </p:nvSpPr>
        <p:spPr>
          <a:xfrm>
            <a:off x="9328055" y="3000084"/>
            <a:ext cx="717820" cy="338554"/>
          </a:xfrm>
          <a:prstGeom prst="rect">
            <a:avLst/>
          </a:prstGeom>
          <a:noFill/>
        </p:spPr>
        <p:txBody>
          <a:bodyPr wrap="square" rtlCol="0">
            <a:spAutoFit/>
          </a:bodyPr>
          <a:lstStyle/>
          <a:p>
            <a:r>
              <a:rPr lang="en-US" altLang="zh-TW" sz="1600" dirty="0"/>
              <a:t>16</a:t>
            </a:r>
            <a:endParaRPr lang="zh-TW" altLang="en-US" sz="1600" dirty="0"/>
          </a:p>
        </p:txBody>
      </p:sp>
      <p:pic>
        <p:nvPicPr>
          <p:cNvPr id="57" name="圖片 56">
            <a:extLst>
              <a:ext uri="{FF2B5EF4-FFF2-40B4-BE49-F238E27FC236}">
                <a16:creationId xmlns:a16="http://schemas.microsoft.com/office/drawing/2014/main" id="{287B1D80-C27B-47B8-8BB5-4BA404C747E1}"/>
              </a:ext>
            </a:extLst>
          </p:cNvPr>
          <p:cNvPicPr>
            <a:picLocks noChangeAspect="1"/>
          </p:cNvPicPr>
          <p:nvPr/>
        </p:nvPicPr>
        <p:blipFill>
          <a:blip r:embed="rId18"/>
          <a:stretch>
            <a:fillRect/>
          </a:stretch>
        </p:blipFill>
        <p:spPr>
          <a:xfrm>
            <a:off x="9592864" y="3841337"/>
            <a:ext cx="2400300" cy="2476500"/>
          </a:xfrm>
          <a:prstGeom prst="rect">
            <a:avLst/>
          </a:prstGeom>
        </p:spPr>
      </p:pic>
    </p:spTree>
    <p:extLst>
      <p:ext uri="{BB962C8B-B14F-4D97-AF65-F5344CB8AC3E}">
        <p14:creationId xmlns:p14="http://schemas.microsoft.com/office/powerpoint/2010/main" val="1393272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表格 8">
                <a:extLst>
                  <a:ext uri="{FF2B5EF4-FFF2-40B4-BE49-F238E27FC236}">
                    <a16:creationId xmlns:a16="http://schemas.microsoft.com/office/drawing/2014/main" id="{280B9768-EE0A-425C-B2F8-292E1D0EB9DF}"/>
                  </a:ext>
                </a:extLst>
              </p:cNvPr>
              <p:cNvGraphicFramePr>
                <a:graphicFrameLocks noGrp="1"/>
              </p:cNvGraphicFramePr>
              <p:nvPr/>
            </p:nvGraphicFramePr>
            <p:xfrm>
              <a:off x="948639" y="3649613"/>
              <a:ext cx="3352445" cy="2220024"/>
            </p:xfrm>
            <a:graphic>
              <a:graphicData uri="http://schemas.openxmlformats.org/drawingml/2006/table">
                <a:tbl>
                  <a:tblPr firstRow="1" bandRow="1">
                    <a:tableStyleId>{5C22544A-7EE6-4342-B048-85BDC9FD1C3A}</a:tableStyleId>
                  </a:tblPr>
                  <a:tblGrid>
                    <a:gridCol w="670489">
                      <a:extLst>
                        <a:ext uri="{9D8B030D-6E8A-4147-A177-3AD203B41FA5}">
                          <a16:colId xmlns:a16="http://schemas.microsoft.com/office/drawing/2014/main" val="2687887254"/>
                        </a:ext>
                      </a:extLst>
                    </a:gridCol>
                    <a:gridCol w="670489">
                      <a:extLst>
                        <a:ext uri="{9D8B030D-6E8A-4147-A177-3AD203B41FA5}">
                          <a16:colId xmlns:a16="http://schemas.microsoft.com/office/drawing/2014/main" val="1883992045"/>
                        </a:ext>
                      </a:extLst>
                    </a:gridCol>
                    <a:gridCol w="670489">
                      <a:extLst>
                        <a:ext uri="{9D8B030D-6E8A-4147-A177-3AD203B41FA5}">
                          <a16:colId xmlns:a16="http://schemas.microsoft.com/office/drawing/2014/main" val="2262595895"/>
                        </a:ext>
                      </a:extLst>
                    </a:gridCol>
                    <a:gridCol w="670489">
                      <a:extLst>
                        <a:ext uri="{9D8B030D-6E8A-4147-A177-3AD203B41FA5}">
                          <a16:colId xmlns:a16="http://schemas.microsoft.com/office/drawing/2014/main" val="2161040279"/>
                        </a:ext>
                      </a:extLst>
                    </a:gridCol>
                    <a:gridCol w="670489">
                      <a:extLst>
                        <a:ext uri="{9D8B030D-6E8A-4147-A177-3AD203B41FA5}">
                          <a16:colId xmlns:a16="http://schemas.microsoft.com/office/drawing/2014/main" val="3607854312"/>
                        </a:ext>
                      </a:extLst>
                    </a:gridCol>
                  </a:tblGrid>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task</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smtClean="0">
                                        <a:solidFill>
                                          <a:schemeClr val="tx1"/>
                                        </a:solidFill>
                                        <a:latin typeface="Cambria Math" panose="02040503050406030204" pitchFamily="18" charset="0"/>
                                        <a:cs typeface="Times New Roman" panose="02020603050405020304" pitchFamily="18" charset="0"/>
                                      </a:rPr>
                                      <m:t>0</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c</m:t>
                                    </m:r>
                                  </m:e>
                                  <m:sub>
                                    <m:r>
                                      <m:rPr>
                                        <m:sty m:val="p"/>
                                      </m:rPr>
                                      <a:rPr lang="en-US" altLang="zh-TW" b="0" i="0" smtClean="0">
                                        <a:solidFill>
                                          <a:schemeClr val="tx1"/>
                                        </a:solidFill>
                                        <a:latin typeface="Cambria Math" panose="02040503050406030204" pitchFamily="18" charset="0"/>
                                        <a:cs typeface="Times New Roman" panose="02020603050405020304" pitchFamily="18" charset="0"/>
                                      </a:rPr>
                                      <m:t>j</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1200" b="0" i="0" smtClean="0">
                                        <a:solidFill>
                                          <a:schemeClr val="tx1"/>
                                        </a:solidFill>
                                        <a:latin typeface="Cambria Math" panose="02040503050406030204" pitchFamily="18" charset="0"/>
                                        <a:cs typeface="Times New Roman" panose="02020603050405020304" pitchFamily="18" charset="0"/>
                                      </a:rPr>
                                      <m:t>URank</m:t>
                                    </m:r>
                                  </m:e>
                                  <m:sub>
                                    <m:r>
                                      <a:rPr lang="en-US" altLang="zh-TW" sz="1200" b="0" i="0" smtClean="0">
                                        <a:solidFill>
                                          <a:schemeClr val="tx1"/>
                                        </a:solidFill>
                                        <a:latin typeface="Cambria Math" panose="02040503050406030204" pitchFamily="18" charset="0"/>
                                        <a:cs typeface="Times New Roman" panose="02020603050405020304" pitchFamily="18" charset="0"/>
                                      </a:rPr>
                                      <m:t>0</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8759920"/>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86204831"/>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042473603"/>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194300335"/>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6</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5853030"/>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478858"/>
                      </a:ext>
                    </a:extLst>
                  </a:tr>
                </a:tbl>
              </a:graphicData>
            </a:graphic>
          </p:graphicFrame>
        </mc:Choice>
        <mc:Fallback>
          <p:graphicFrame>
            <p:nvGraphicFramePr>
              <p:cNvPr id="4" name="表格 8">
                <a:extLst>
                  <a:ext uri="{FF2B5EF4-FFF2-40B4-BE49-F238E27FC236}">
                    <a16:creationId xmlns:a16="http://schemas.microsoft.com/office/drawing/2014/main" id="{280B9768-EE0A-425C-B2F8-292E1D0EB9DF}"/>
                  </a:ext>
                </a:extLst>
              </p:cNvPr>
              <p:cNvGraphicFramePr>
                <a:graphicFrameLocks noGrp="1"/>
              </p:cNvGraphicFramePr>
              <p:nvPr/>
            </p:nvGraphicFramePr>
            <p:xfrm>
              <a:off x="948639" y="3649613"/>
              <a:ext cx="3352445" cy="2220024"/>
            </p:xfrm>
            <a:graphic>
              <a:graphicData uri="http://schemas.openxmlformats.org/drawingml/2006/table">
                <a:tbl>
                  <a:tblPr firstRow="1" bandRow="1">
                    <a:tableStyleId>{5C22544A-7EE6-4342-B048-85BDC9FD1C3A}</a:tableStyleId>
                  </a:tblPr>
                  <a:tblGrid>
                    <a:gridCol w="670489">
                      <a:extLst>
                        <a:ext uri="{9D8B030D-6E8A-4147-A177-3AD203B41FA5}">
                          <a16:colId xmlns:a16="http://schemas.microsoft.com/office/drawing/2014/main" val="2687887254"/>
                        </a:ext>
                      </a:extLst>
                    </a:gridCol>
                    <a:gridCol w="670489">
                      <a:extLst>
                        <a:ext uri="{9D8B030D-6E8A-4147-A177-3AD203B41FA5}">
                          <a16:colId xmlns:a16="http://schemas.microsoft.com/office/drawing/2014/main" val="1883992045"/>
                        </a:ext>
                      </a:extLst>
                    </a:gridCol>
                    <a:gridCol w="670489">
                      <a:extLst>
                        <a:ext uri="{9D8B030D-6E8A-4147-A177-3AD203B41FA5}">
                          <a16:colId xmlns:a16="http://schemas.microsoft.com/office/drawing/2014/main" val="2262595895"/>
                        </a:ext>
                      </a:extLst>
                    </a:gridCol>
                    <a:gridCol w="670489">
                      <a:extLst>
                        <a:ext uri="{9D8B030D-6E8A-4147-A177-3AD203B41FA5}">
                          <a16:colId xmlns:a16="http://schemas.microsoft.com/office/drawing/2014/main" val="2161040279"/>
                        </a:ext>
                      </a:extLst>
                    </a:gridCol>
                    <a:gridCol w="670489">
                      <a:extLst>
                        <a:ext uri="{9D8B030D-6E8A-4147-A177-3AD203B41FA5}">
                          <a16:colId xmlns:a16="http://schemas.microsoft.com/office/drawing/2014/main" val="3607854312"/>
                        </a:ext>
                      </a:extLst>
                    </a:gridCol>
                  </a:tblGrid>
                  <a:tr h="391224">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task</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909" t="-7813" r="-302727" b="-495313"/>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9099" t="-7813" r="-200000" b="-495313"/>
                          </a:stretch>
                        </a:blipFill>
                      </a:tcPr>
                    </a:tc>
                    <a:tc>
                      <a:txBody>
                        <a:bodyPr/>
                        <a:lstStyle/>
                        <a:p>
                          <a:endParaRPr lang="zh-TW" altLang="en-US" b="0" i="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818" t="-7813" r="-1818" b="-495313"/>
                          </a:stretch>
                        </a:blipFill>
                      </a:tcPr>
                    </a:tc>
                    <a:extLst>
                      <a:ext uri="{0D108BD9-81ED-4DB2-BD59-A6C34878D82A}">
                        <a16:rowId xmlns:a16="http://schemas.microsoft.com/office/drawing/2014/main" val="1828759920"/>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86204831"/>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042473603"/>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194300335"/>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6</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5853030"/>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478858"/>
                      </a:ext>
                    </a:extLst>
                  </a:tr>
                </a:tbl>
              </a:graphicData>
            </a:graphic>
          </p:graphicFrame>
        </mc:Fallback>
      </mc:AlternateContent>
      <p:pic>
        <p:nvPicPr>
          <p:cNvPr id="5" name="內容版面配置區 4" descr="一張含有 桌 的圖片&#10;&#10;自動產生的描述">
            <a:extLst>
              <a:ext uri="{FF2B5EF4-FFF2-40B4-BE49-F238E27FC236}">
                <a16:creationId xmlns:a16="http://schemas.microsoft.com/office/drawing/2014/main" id="{CA64973F-1050-4D2B-A9FF-8FF9A2583E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954" y="398051"/>
            <a:ext cx="4155817" cy="1596585"/>
          </a:xfrm>
          <a:prstGeom prst="rect">
            <a:avLst/>
          </a:prstGeom>
        </p:spPr>
      </p:pic>
      <mc:AlternateContent xmlns:mc="http://schemas.openxmlformats.org/markup-compatibility/2006">
        <mc:Choice xmlns:a14="http://schemas.microsoft.com/office/drawing/2010/main" Requires="a14">
          <p:graphicFrame>
            <p:nvGraphicFramePr>
              <p:cNvPr id="6" name="表格 8">
                <a:extLst>
                  <a:ext uri="{FF2B5EF4-FFF2-40B4-BE49-F238E27FC236}">
                    <a16:creationId xmlns:a16="http://schemas.microsoft.com/office/drawing/2014/main" id="{D316E909-FC19-4C8E-B630-E9ABF17A311F}"/>
                  </a:ext>
                </a:extLst>
              </p:cNvPr>
              <p:cNvGraphicFramePr>
                <a:graphicFrameLocks noGrp="1"/>
              </p:cNvGraphicFramePr>
              <p:nvPr/>
            </p:nvGraphicFramePr>
            <p:xfrm>
              <a:off x="4538473" y="3649613"/>
              <a:ext cx="3352445" cy="2220024"/>
            </p:xfrm>
            <a:graphic>
              <a:graphicData uri="http://schemas.openxmlformats.org/drawingml/2006/table">
                <a:tbl>
                  <a:tblPr firstRow="1" bandRow="1">
                    <a:tableStyleId>{5C22544A-7EE6-4342-B048-85BDC9FD1C3A}</a:tableStyleId>
                  </a:tblPr>
                  <a:tblGrid>
                    <a:gridCol w="670489">
                      <a:extLst>
                        <a:ext uri="{9D8B030D-6E8A-4147-A177-3AD203B41FA5}">
                          <a16:colId xmlns:a16="http://schemas.microsoft.com/office/drawing/2014/main" val="2687887254"/>
                        </a:ext>
                      </a:extLst>
                    </a:gridCol>
                    <a:gridCol w="670489">
                      <a:extLst>
                        <a:ext uri="{9D8B030D-6E8A-4147-A177-3AD203B41FA5}">
                          <a16:colId xmlns:a16="http://schemas.microsoft.com/office/drawing/2014/main" val="1883992045"/>
                        </a:ext>
                      </a:extLst>
                    </a:gridCol>
                    <a:gridCol w="670489">
                      <a:extLst>
                        <a:ext uri="{9D8B030D-6E8A-4147-A177-3AD203B41FA5}">
                          <a16:colId xmlns:a16="http://schemas.microsoft.com/office/drawing/2014/main" val="2262595895"/>
                        </a:ext>
                      </a:extLst>
                    </a:gridCol>
                    <a:gridCol w="670489">
                      <a:extLst>
                        <a:ext uri="{9D8B030D-6E8A-4147-A177-3AD203B41FA5}">
                          <a16:colId xmlns:a16="http://schemas.microsoft.com/office/drawing/2014/main" val="2161040279"/>
                        </a:ext>
                      </a:extLst>
                    </a:gridCol>
                    <a:gridCol w="670489">
                      <a:extLst>
                        <a:ext uri="{9D8B030D-6E8A-4147-A177-3AD203B41FA5}">
                          <a16:colId xmlns:a16="http://schemas.microsoft.com/office/drawing/2014/main" val="3607854312"/>
                        </a:ext>
                      </a:extLst>
                    </a:gridCol>
                  </a:tblGrid>
                  <a:tr h="347461">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task</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P</m:t>
                                    </m:r>
                                  </m:e>
                                  <m:sub>
                                    <m:r>
                                      <a:rPr lang="en-US" altLang="zh-TW" b="0" i="0" smtClean="0">
                                        <a:solidFill>
                                          <a:schemeClr val="tx1"/>
                                        </a:solidFill>
                                        <a:latin typeface="Cambria Math" panose="02040503050406030204" pitchFamily="18" charset="0"/>
                                        <a:cs typeface="Times New Roman" panose="02020603050405020304" pitchFamily="18" charset="0"/>
                                      </a:rPr>
                                      <m:t>1</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b="0" i="0" smtClean="0">
                                        <a:solidFill>
                                          <a:schemeClr val="tx1"/>
                                        </a:solidFill>
                                        <a:latin typeface="Cambria Math" panose="02040503050406030204" pitchFamily="18" charset="0"/>
                                        <a:cs typeface="Times New Roman" panose="02020603050405020304" pitchFamily="18" charset="0"/>
                                      </a:rPr>
                                      <m:t>c</m:t>
                                    </m:r>
                                  </m:e>
                                  <m:sub>
                                    <m:r>
                                      <m:rPr>
                                        <m:sty m:val="p"/>
                                      </m:rPr>
                                      <a:rPr lang="en-US" altLang="zh-TW" b="0" i="0" smtClean="0">
                                        <a:solidFill>
                                          <a:schemeClr val="tx1"/>
                                        </a:solidFill>
                                        <a:latin typeface="Cambria Math" panose="02040503050406030204" pitchFamily="18" charset="0"/>
                                        <a:cs typeface="Times New Roman" panose="02020603050405020304" pitchFamily="18" charset="0"/>
                                      </a:rPr>
                                      <m:t>j</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i="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1200" b="0" i="1" smtClean="0">
                                        <a:solidFill>
                                          <a:schemeClr val="tx1"/>
                                        </a:solidFill>
                                        <a:latin typeface="Cambria Math" panose="02040503050406030204" pitchFamily="18" charset="0"/>
                                        <a:cs typeface="Times New Roman" panose="02020603050405020304" pitchFamily="18" charset="0"/>
                                      </a:rPr>
                                    </m:ctrlPr>
                                  </m:sSubPr>
                                  <m:e>
                                    <m:r>
                                      <m:rPr>
                                        <m:sty m:val="p"/>
                                      </m:rPr>
                                      <a:rPr lang="en-US" altLang="zh-TW" sz="1200" b="0" i="0" smtClean="0">
                                        <a:solidFill>
                                          <a:schemeClr val="tx1"/>
                                        </a:solidFill>
                                        <a:latin typeface="Cambria Math" panose="02040503050406030204" pitchFamily="18" charset="0"/>
                                        <a:cs typeface="Times New Roman" panose="02020603050405020304" pitchFamily="18" charset="0"/>
                                      </a:rPr>
                                      <m:t>URank</m:t>
                                    </m:r>
                                  </m:e>
                                  <m:sub>
                                    <m:r>
                                      <a:rPr lang="en-US" altLang="zh-TW" sz="1200" b="0" i="0" smtClean="0">
                                        <a:solidFill>
                                          <a:schemeClr val="tx1"/>
                                        </a:solidFill>
                                        <a:latin typeface="Cambria Math" panose="02040503050406030204" pitchFamily="18" charset="0"/>
                                        <a:cs typeface="Times New Roman" panose="02020603050405020304" pitchFamily="18" charset="0"/>
                                      </a:rPr>
                                      <m:t>1</m:t>
                                    </m:r>
                                  </m:sub>
                                </m:sSub>
                              </m:oMath>
                            </m:oMathPara>
                          </a14:m>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8759920"/>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86204831"/>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9</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042473603"/>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194300335"/>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9</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5853030"/>
                      </a:ext>
                    </a:extLst>
                  </a:tr>
                  <a:tr h="355448">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478858"/>
                      </a:ext>
                    </a:extLst>
                  </a:tr>
                </a:tbl>
              </a:graphicData>
            </a:graphic>
          </p:graphicFrame>
        </mc:Choice>
        <mc:Fallback>
          <p:graphicFrame>
            <p:nvGraphicFramePr>
              <p:cNvPr id="6" name="表格 8">
                <a:extLst>
                  <a:ext uri="{FF2B5EF4-FFF2-40B4-BE49-F238E27FC236}">
                    <a16:creationId xmlns:a16="http://schemas.microsoft.com/office/drawing/2014/main" id="{D316E909-FC19-4C8E-B630-E9ABF17A311F}"/>
                  </a:ext>
                </a:extLst>
              </p:cNvPr>
              <p:cNvGraphicFramePr>
                <a:graphicFrameLocks noGrp="1"/>
              </p:cNvGraphicFramePr>
              <p:nvPr/>
            </p:nvGraphicFramePr>
            <p:xfrm>
              <a:off x="4538473" y="3649613"/>
              <a:ext cx="3352445" cy="2220024"/>
            </p:xfrm>
            <a:graphic>
              <a:graphicData uri="http://schemas.openxmlformats.org/drawingml/2006/table">
                <a:tbl>
                  <a:tblPr firstRow="1" bandRow="1">
                    <a:tableStyleId>{5C22544A-7EE6-4342-B048-85BDC9FD1C3A}</a:tableStyleId>
                  </a:tblPr>
                  <a:tblGrid>
                    <a:gridCol w="670489">
                      <a:extLst>
                        <a:ext uri="{9D8B030D-6E8A-4147-A177-3AD203B41FA5}">
                          <a16:colId xmlns:a16="http://schemas.microsoft.com/office/drawing/2014/main" val="2687887254"/>
                        </a:ext>
                      </a:extLst>
                    </a:gridCol>
                    <a:gridCol w="670489">
                      <a:extLst>
                        <a:ext uri="{9D8B030D-6E8A-4147-A177-3AD203B41FA5}">
                          <a16:colId xmlns:a16="http://schemas.microsoft.com/office/drawing/2014/main" val="1883992045"/>
                        </a:ext>
                      </a:extLst>
                    </a:gridCol>
                    <a:gridCol w="670489">
                      <a:extLst>
                        <a:ext uri="{9D8B030D-6E8A-4147-A177-3AD203B41FA5}">
                          <a16:colId xmlns:a16="http://schemas.microsoft.com/office/drawing/2014/main" val="2262595895"/>
                        </a:ext>
                      </a:extLst>
                    </a:gridCol>
                    <a:gridCol w="670489">
                      <a:extLst>
                        <a:ext uri="{9D8B030D-6E8A-4147-A177-3AD203B41FA5}">
                          <a16:colId xmlns:a16="http://schemas.microsoft.com/office/drawing/2014/main" val="2161040279"/>
                        </a:ext>
                      </a:extLst>
                    </a:gridCol>
                    <a:gridCol w="670489">
                      <a:extLst>
                        <a:ext uri="{9D8B030D-6E8A-4147-A177-3AD203B41FA5}">
                          <a16:colId xmlns:a16="http://schemas.microsoft.com/office/drawing/2014/main" val="3607854312"/>
                        </a:ext>
                      </a:extLst>
                    </a:gridCol>
                  </a:tblGrid>
                  <a:tr h="391224">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task</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909" t="-7813" r="-302727" b="-495313"/>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9099" t="-7813" r="-200000" b="-495313"/>
                          </a:stretch>
                        </a:blipFill>
                      </a:tcPr>
                    </a:tc>
                    <a:tc>
                      <a:txBody>
                        <a:bodyPr/>
                        <a:lstStyle/>
                        <a:p>
                          <a:endParaRPr lang="zh-TW" altLang="en-US" b="0" i="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818" t="-7813" r="-1818" b="-495313"/>
                          </a:stretch>
                        </a:blipFill>
                      </a:tcPr>
                    </a:tc>
                    <a:extLst>
                      <a:ext uri="{0D108BD9-81ED-4DB2-BD59-A6C34878D82A}">
                        <a16:rowId xmlns:a16="http://schemas.microsoft.com/office/drawing/2014/main" val="1828759920"/>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86204831"/>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9</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042473603"/>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13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194300335"/>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9</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5853030"/>
                      </a:ext>
                    </a:extLst>
                  </a:tr>
                  <a:tr h="365760">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478858"/>
                      </a:ext>
                    </a:extLst>
                  </a:tr>
                </a:tbl>
              </a:graphicData>
            </a:graphic>
          </p:graphicFrame>
        </mc:Fallback>
      </mc:AlternateContent>
      <p:pic>
        <p:nvPicPr>
          <p:cNvPr id="7" name="圖片 6">
            <a:extLst>
              <a:ext uri="{FF2B5EF4-FFF2-40B4-BE49-F238E27FC236}">
                <a16:creationId xmlns:a16="http://schemas.microsoft.com/office/drawing/2014/main" id="{BFD1DC93-5DBD-4244-9199-46EE18417FEC}"/>
              </a:ext>
            </a:extLst>
          </p:cNvPr>
          <p:cNvPicPr>
            <a:picLocks noChangeAspect="1"/>
          </p:cNvPicPr>
          <p:nvPr/>
        </p:nvPicPr>
        <p:blipFill>
          <a:blip r:embed="rId6"/>
          <a:stretch>
            <a:fillRect/>
          </a:stretch>
        </p:blipFill>
        <p:spPr>
          <a:xfrm>
            <a:off x="852534" y="2566102"/>
            <a:ext cx="6078769" cy="642285"/>
          </a:xfrm>
          <a:prstGeom prst="rect">
            <a:avLst/>
          </a:prstGeom>
        </p:spPr>
      </p:pic>
      <p:sp>
        <p:nvSpPr>
          <p:cNvPr id="8" name="矩形 7">
            <a:extLst>
              <a:ext uri="{FF2B5EF4-FFF2-40B4-BE49-F238E27FC236}">
                <a16:creationId xmlns:a16="http://schemas.microsoft.com/office/drawing/2014/main" id="{50301131-7FEC-457B-BEB4-C1845E1C4189}"/>
              </a:ext>
            </a:extLst>
          </p:cNvPr>
          <p:cNvSpPr/>
          <p:nvPr/>
        </p:nvSpPr>
        <p:spPr>
          <a:xfrm>
            <a:off x="8898673" y="602166"/>
            <a:ext cx="446049"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04189286-4CC6-498E-A41A-7FBE488AA2A9}"/>
              </a:ext>
            </a:extLst>
          </p:cNvPr>
          <p:cNvSpPr/>
          <p:nvPr/>
        </p:nvSpPr>
        <p:spPr>
          <a:xfrm>
            <a:off x="9788856" y="602165"/>
            <a:ext cx="446049" cy="10928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B84EA3F9-3754-446F-8F18-9AC525A0471A}"/>
                  </a:ext>
                </a:extLst>
              </p:cNvPr>
              <p:cNvSpPr txBox="1"/>
              <p:nvPr/>
            </p:nvSpPr>
            <p:spPr>
              <a:xfrm>
                <a:off x="8851936" y="905027"/>
                <a:ext cx="64698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oMath>
                  </m:oMathPara>
                </a14:m>
                <a:endParaRPr lang="zh-TW" altLang="en-US" dirty="0"/>
              </a:p>
            </p:txBody>
          </p:sp>
        </mc:Choice>
        <mc:Fallback>
          <p:sp>
            <p:nvSpPr>
              <p:cNvPr id="10" name="文字方塊 9">
                <a:extLst>
                  <a:ext uri="{FF2B5EF4-FFF2-40B4-BE49-F238E27FC236}">
                    <a16:creationId xmlns:a16="http://schemas.microsoft.com/office/drawing/2014/main" id="{B84EA3F9-3754-446F-8F18-9AC525A0471A}"/>
                  </a:ext>
                </a:extLst>
              </p:cNvPr>
              <p:cNvSpPr txBox="1">
                <a:spLocks noRot="1" noChangeAspect="1" noMove="1" noResize="1" noEditPoints="1" noAdjustHandles="1" noChangeArrowheads="1" noChangeShapeType="1" noTextEdit="1"/>
              </p:cNvSpPr>
              <p:nvPr/>
            </p:nvSpPr>
            <p:spPr>
              <a:xfrm>
                <a:off x="8851936" y="905027"/>
                <a:ext cx="646989" cy="276999"/>
              </a:xfrm>
              <a:prstGeom prst="rect">
                <a:avLst/>
              </a:prstGeom>
              <a:blipFill>
                <a:blip r:embed="rId7"/>
                <a:stretch>
                  <a:fillRect b="-1521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文字方塊 10">
                <a:extLst>
                  <a:ext uri="{FF2B5EF4-FFF2-40B4-BE49-F238E27FC236}">
                    <a16:creationId xmlns:a16="http://schemas.microsoft.com/office/drawing/2014/main" id="{BF8B982F-C52F-442C-A3B9-359263456910}"/>
                  </a:ext>
                </a:extLst>
              </p:cNvPr>
              <p:cNvSpPr txBox="1"/>
              <p:nvPr/>
            </p:nvSpPr>
            <p:spPr>
              <a:xfrm>
                <a:off x="9753600" y="922641"/>
                <a:ext cx="64698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0</m:t>
                          </m:r>
                        </m:sub>
                      </m:sSub>
                    </m:oMath>
                  </m:oMathPara>
                </a14:m>
                <a:endParaRPr lang="zh-TW" altLang="en-US" dirty="0"/>
              </a:p>
            </p:txBody>
          </p:sp>
        </mc:Choice>
        <mc:Fallback>
          <p:sp>
            <p:nvSpPr>
              <p:cNvPr id="11" name="文字方塊 10">
                <a:extLst>
                  <a:ext uri="{FF2B5EF4-FFF2-40B4-BE49-F238E27FC236}">
                    <a16:creationId xmlns:a16="http://schemas.microsoft.com/office/drawing/2014/main" id="{BF8B982F-C52F-442C-A3B9-359263456910}"/>
                  </a:ext>
                </a:extLst>
              </p:cNvPr>
              <p:cNvSpPr txBox="1">
                <a:spLocks noRot="1" noChangeAspect="1" noMove="1" noResize="1" noEditPoints="1" noAdjustHandles="1" noChangeArrowheads="1" noChangeShapeType="1" noTextEdit="1"/>
              </p:cNvSpPr>
              <p:nvPr/>
            </p:nvSpPr>
            <p:spPr>
              <a:xfrm>
                <a:off x="9753600" y="922641"/>
                <a:ext cx="646989" cy="276999"/>
              </a:xfrm>
              <a:prstGeom prst="rect">
                <a:avLst/>
              </a:prstGeom>
              <a:blipFill>
                <a:blip r:embed="rId8"/>
                <a:stretch>
                  <a:fillRect b="-15217"/>
                </a:stretch>
              </a:blipFill>
            </p:spPr>
            <p:txBody>
              <a:bodyPr/>
              <a:lstStyle/>
              <a:p>
                <a:r>
                  <a:rPr lang="zh-TW" altLang="en-US">
                    <a:noFill/>
                  </a:rPr>
                  <a:t> </a:t>
                </a:r>
              </a:p>
            </p:txBody>
          </p:sp>
        </mc:Fallback>
      </mc:AlternateContent>
      <p:cxnSp>
        <p:nvCxnSpPr>
          <p:cNvPr id="13" name="直線單箭頭接點 12">
            <a:extLst>
              <a:ext uri="{FF2B5EF4-FFF2-40B4-BE49-F238E27FC236}">
                <a16:creationId xmlns:a16="http://schemas.microsoft.com/office/drawing/2014/main" id="{D287A197-903C-42F2-A136-08D4DD7E96BD}"/>
              </a:ext>
            </a:extLst>
          </p:cNvPr>
          <p:cNvCxnSpPr/>
          <p:nvPr/>
        </p:nvCxnSpPr>
        <p:spPr>
          <a:xfrm>
            <a:off x="8608741" y="602165"/>
            <a:ext cx="0" cy="320040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BA6452E3-623D-4D7E-992C-E31B143C3762}"/>
              </a:ext>
            </a:extLst>
          </p:cNvPr>
          <p:cNvSpPr txBox="1"/>
          <p:nvPr/>
        </p:nvSpPr>
        <p:spPr>
          <a:xfrm>
            <a:off x="8217547" y="540163"/>
            <a:ext cx="249044" cy="369332"/>
          </a:xfrm>
          <a:prstGeom prst="rect">
            <a:avLst/>
          </a:prstGeom>
          <a:noFill/>
        </p:spPr>
        <p:txBody>
          <a:bodyPr wrap="square" rtlCol="0">
            <a:spAutoFit/>
          </a:bodyPr>
          <a:lstStyle/>
          <a:p>
            <a:r>
              <a:rPr lang="en-US" altLang="zh-TW" dirty="0"/>
              <a:t>0</a:t>
            </a:r>
            <a:endParaRPr lang="zh-TW" altLang="en-US" dirty="0"/>
          </a:p>
        </p:txBody>
      </p:sp>
      <p:sp>
        <p:nvSpPr>
          <p:cNvPr id="16" name="文字方塊 15">
            <a:extLst>
              <a:ext uri="{FF2B5EF4-FFF2-40B4-BE49-F238E27FC236}">
                <a16:creationId xmlns:a16="http://schemas.microsoft.com/office/drawing/2014/main" id="{0DECA999-DE07-4C51-B9AD-4553036DF0F4}"/>
              </a:ext>
            </a:extLst>
          </p:cNvPr>
          <p:cNvSpPr txBox="1"/>
          <p:nvPr/>
        </p:nvSpPr>
        <p:spPr>
          <a:xfrm>
            <a:off x="8247051" y="1279485"/>
            <a:ext cx="236991" cy="830997"/>
          </a:xfrm>
          <a:prstGeom prst="rect">
            <a:avLst/>
          </a:prstGeom>
          <a:noFill/>
        </p:spPr>
        <p:txBody>
          <a:bodyPr wrap="square" rtlCol="0">
            <a:spAutoFit/>
          </a:bodyPr>
          <a:lstStyle/>
          <a:p>
            <a:r>
              <a:rPr lang="en-US" altLang="zh-TW" sz="1600" dirty="0"/>
              <a:t>6</a:t>
            </a:r>
          </a:p>
          <a:p>
            <a:r>
              <a:rPr lang="en-US" altLang="zh-TW" sz="1600" dirty="0"/>
              <a:t>8</a:t>
            </a:r>
          </a:p>
          <a:p>
            <a:r>
              <a:rPr lang="en-US" altLang="zh-TW" sz="1600" dirty="0"/>
              <a:t>9</a:t>
            </a:r>
            <a:endParaRPr lang="zh-TW" altLang="en-US" sz="1600" dirty="0"/>
          </a:p>
        </p:txBody>
      </p:sp>
      <p:sp>
        <p:nvSpPr>
          <p:cNvPr id="18" name="矩形 17">
            <a:extLst>
              <a:ext uri="{FF2B5EF4-FFF2-40B4-BE49-F238E27FC236}">
                <a16:creationId xmlns:a16="http://schemas.microsoft.com/office/drawing/2014/main" id="{EB5B9DBE-406C-48F4-A6E2-016C6E195810}"/>
              </a:ext>
            </a:extLst>
          </p:cNvPr>
          <p:cNvSpPr/>
          <p:nvPr/>
        </p:nvSpPr>
        <p:spPr>
          <a:xfrm>
            <a:off x="8898672" y="1970402"/>
            <a:ext cx="446049"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20" name="文字方塊 19">
                <a:extLst>
                  <a:ext uri="{FF2B5EF4-FFF2-40B4-BE49-F238E27FC236}">
                    <a16:creationId xmlns:a16="http://schemas.microsoft.com/office/drawing/2014/main" id="{1ECA0321-C92A-4986-8DA3-66945A892238}"/>
                  </a:ext>
                </a:extLst>
              </p:cNvPr>
              <p:cNvSpPr txBox="1"/>
              <p:nvPr/>
            </p:nvSpPr>
            <p:spPr>
              <a:xfrm>
                <a:off x="8851935" y="2427602"/>
                <a:ext cx="64698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i="1">
                              <a:latin typeface="Cambria Math" panose="02040503050406030204" pitchFamily="18" charset="0"/>
                            </a:rPr>
                            <m:t>2</m:t>
                          </m:r>
                        </m:sub>
                      </m:sSub>
                    </m:oMath>
                  </m:oMathPara>
                </a14:m>
                <a:endParaRPr lang="zh-TW" altLang="en-US" dirty="0"/>
              </a:p>
            </p:txBody>
          </p:sp>
        </mc:Choice>
        <mc:Fallback>
          <p:sp>
            <p:nvSpPr>
              <p:cNvPr id="20" name="文字方塊 19">
                <a:extLst>
                  <a:ext uri="{FF2B5EF4-FFF2-40B4-BE49-F238E27FC236}">
                    <a16:creationId xmlns:a16="http://schemas.microsoft.com/office/drawing/2014/main" id="{1ECA0321-C92A-4986-8DA3-66945A892238}"/>
                  </a:ext>
                </a:extLst>
              </p:cNvPr>
              <p:cNvSpPr txBox="1">
                <a:spLocks noRot="1" noChangeAspect="1" noMove="1" noResize="1" noEditPoints="1" noAdjustHandles="1" noChangeArrowheads="1" noChangeShapeType="1" noTextEdit="1"/>
              </p:cNvSpPr>
              <p:nvPr/>
            </p:nvSpPr>
            <p:spPr>
              <a:xfrm>
                <a:off x="8851935" y="2427602"/>
                <a:ext cx="646989" cy="276999"/>
              </a:xfrm>
              <a:prstGeom prst="rect">
                <a:avLst/>
              </a:prstGeom>
              <a:blipFill>
                <a:blip r:embed="rId9"/>
                <a:stretch>
                  <a:fillRect b="-15217"/>
                </a:stretch>
              </a:blipFill>
            </p:spPr>
            <p:txBody>
              <a:bodyPr/>
              <a:lstStyle/>
              <a:p>
                <a:r>
                  <a:rPr lang="zh-TW" altLang="en-US">
                    <a:noFill/>
                  </a:rPr>
                  <a:t> </a:t>
                </a:r>
              </a:p>
            </p:txBody>
          </p:sp>
        </mc:Fallback>
      </mc:AlternateContent>
      <p:sp>
        <p:nvSpPr>
          <p:cNvPr id="22" name="文字方塊 21">
            <a:extLst>
              <a:ext uri="{FF2B5EF4-FFF2-40B4-BE49-F238E27FC236}">
                <a16:creationId xmlns:a16="http://schemas.microsoft.com/office/drawing/2014/main" id="{3361F484-281D-4D6D-9C81-A98BE079805F}"/>
              </a:ext>
            </a:extLst>
          </p:cNvPr>
          <p:cNvSpPr txBox="1"/>
          <p:nvPr/>
        </p:nvSpPr>
        <p:spPr>
          <a:xfrm>
            <a:off x="8180852" y="2723543"/>
            <a:ext cx="717820" cy="338554"/>
          </a:xfrm>
          <a:prstGeom prst="rect">
            <a:avLst/>
          </a:prstGeom>
          <a:noFill/>
        </p:spPr>
        <p:txBody>
          <a:bodyPr wrap="square" rtlCol="0">
            <a:spAutoFit/>
          </a:bodyPr>
          <a:lstStyle/>
          <a:p>
            <a:r>
              <a:rPr lang="en-US" altLang="zh-TW" sz="1600" dirty="0"/>
              <a:t>14</a:t>
            </a:r>
            <a:endParaRPr lang="zh-TW" altLang="en-US" sz="1600" dirty="0"/>
          </a:p>
        </p:txBody>
      </p:sp>
      <p:pic>
        <p:nvPicPr>
          <p:cNvPr id="17" name="內容版面配置區 4">
            <a:extLst>
              <a:ext uri="{FF2B5EF4-FFF2-40B4-BE49-F238E27FC236}">
                <a16:creationId xmlns:a16="http://schemas.microsoft.com/office/drawing/2014/main" id="{5E322253-4AE8-46C0-9207-D552FAB4B35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457647" y="764647"/>
            <a:ext cx="2209126" cy="1229989"/>
          </a:xfrm>
          <a:prstGeom prst="rect">
            <a:avLst/>
          </a:prstGeom>
        </p:spPr>
      </p:pic>
    </p:spTree>
    <p:extLst>
      <p:ext uri="{BB962C8B-B14F-4D97-AF65-F5344CB8AC3E}">
        <p14:creationId xmlns:p14="http://schemas.microsoft.com/office/powerpoint/2010/main" val="297821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38D61F-4E0F-4920-A0B9-BEE024FC44AE}"/>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3A9C4D17-7049-4DB5-863C-B655155C583F}"/>
              </a:ext>
            </a:extLst>
          </p:cNvPr>
          <p:cNvSpPr>
            <a:spLocks noGrp="1"/>
          </p:cNvSpPr>
          <p:nvPr>
            <p:ph idx="1"/>
          </p:nvPr>
        </p:nvSpPr>
        <p:spPr/>
        <p:txBody>
          <a:bodyPr/>
          <a:lstStyle/>
          <a:p>
            <a:r>
              <a:rPr lang="zh-TW" altLang="en-US" dirty="0"/>
              <a:t>設定編碼 </a:t>
            </a:r>
            <a:r>
              <a:rPr lang="en-US" altLang="zh-TW" dirty="0"/>
              <a:t>(Encoding) </a:t>
            </a:r>
            <a:r>
              <a:rPr lang="zh-TW" altLang="en-US" dirty="0"/>
              <a:t>方式。</a:t>
            </a:r>
            <a:endParaRPr lang="en-US" altLang="zh-TW" dirty="0"/>
          </a:p>
          <a:p>
            <a:r>
              <a:rPr lang="zh-TW" altLang="en-US" dirty="0"/>
              <a:t>編碼確定時，同時也會確定染色體的長 度 </a:t>
            </a:r>
            <a:endParaRPr lang="en-US" altLang="zh-TW" dirty="0"/>
          </a:p>
          <a:p>
            <a:r>
              <a:rPr lang="zh-TW" altLang="en-US" dirty="0"/>
              <a:t>設定族群數</a:t>
            </a:r>
            <a:r>
              <a:rPr lang="en-US" altLang="zh-TW" dirty="0"/>
              <a:t>(Population size) </a:t>
            </a:r>
          </a:p>
          <a:p>
            <a:r>
              <a:rPr lang="zh-TW" altLang="en-US" dirty="0"/>
              <a:t>設定選擇、交配及突變方式 </a:t>
            </a:r>
            <a:r>
              <a:rPr lang="en-US" altLang="zh-TW" dirty="0"/>
              <a:t>(Crossover, Mutation and Selection ) </a:t>
            </a:r>
          </a:p>
          <a:p>
            <a:r>
              <a:rPr lang="zh-TW" altLang="en-US" dirty="0"/>
              <a:t>設定交配率 </a:t>
            </a:r>
            <a:r>
              <a:rPr lang="en-US" altLang="zh-TW" dirty="0"/>
              <a:t>(Crossover rate) </a:t>
            </a:r>
            <a:r>
              <a:rPr lang="zh-TW" altLang="en-US" dirty="0"/>
              <a:t>及突變率 </a:t>
            </a:r>
            <a:r>
              <a:rPr lang="en-US" altLang="zh-TW" dirty="0"/>
              <a:t>(Mutation rate)</a:t>
            </a:r>
            <a:endParaRPr lang="zh-TW" altLang="en-US" dirty="0"/>
          </a:p>
          <a:p>
            <a:endParaRPr lang="zh-TW" altLang="en-US" dirty="0"/>
          </a:p>
        </p:txBody>
      </p:sp>
    </p:spTree>
    <p:extLst>
      <p:ext uri="{BB962C8B-B14F-4D97-AF65-F5344CB8AC3E}">
        <p14:creationId xmlns:p14="http://schemas.microsoft.com/office/powerpoint/2010/main" val="3538623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F53CF1-6BC4-4786-BBC0-45A975106162}"/>
              </a:ext>
            </a:extLst>
          </p:cNvPr>
          <p:cNvSpPr>
            <a:spLocks noGrp="1"/>
          </p:cNvSpPr>
          <p:nvPr>
            <p:ph type="title"/>
          </p:nvPr>
        </p:nvSpPr>
        <p:spPr/>
        <p:txBody>
          <a:bodyPr>
            <a:normAutofit/>
          </a:bodyPr>
          <a:lstStyle/>
          <a:p>
            <a:r>
              <a:rPr lang="en-US" altLang="zh-TW" sz="3200" b="0" i="0" dirty="0">
                <a:effectLst/>
                <a:latin typeface="Times New Roman" panose="02020603050405020304" pitchFamily="18" charset="0"/>
                <a:cs typeface="Times New Roman" panose="02020603050405020304" pitchFamily="18" charset="0"/>
              </a:rPr>
              <a:t> Genetic algorithm for scheduling (GAS)</a:t>
            </a:r>
            <a:br>
              <a:rPr lang="en-US" altLang="zh-TW" sz="3200" b="0" i="0" dirty="0">
                <a:effectLst/>
                <a:latin typeface="Times New Roman" panose="02020603050405020304" pitchFamily="18" charset="0"/>
                <a:cs typeface="Times New Roman" panose="02020603050405020304" pitchFamily="18" charset="0"/>
              </a:rPr>
            </a:br>
            <a:endParaRPr lang="zh-TW" altLang="en-US" sz="32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7868F16-AF98-4D3A-ABD7-EDD09EFC66F1}"/>
              </a:ext>
            </a:extLst>
          </p:cNvPr>
          <p:cNvSpPr>
            <a:spLocks noGrp="1"/>
          </p:cNvSpPr>
          <p:nvPr>
            <p:ph idx="1"/>
          </p:nvPr>
        </p:nvSpPr>
        <p:spPr/>
        <p:txBody>
          <a:bodyPr/>
          <a:lstStyle/>
          <a:p>
            <a:endParaRPr lang="zh-TW" altLang="en-US"/>
          </a:p>
        </p:txBody>
      </p:sp>
      <p:pic>
        <p:nvPicPr>
          <p:cNvPr id="7" name="圖片 6">
            <a:extLst>
              <a:ext uri="{FF2B5EF4-FFF2-40B4-BE49-F238E27FC236}">
                <a16:creationId xmlns:a16="http://schemas.microsoft.com/office/drawing/2014/main" id="{7AC3A2BA-064B-46BA-88B1-06408AEED4CC}"/>
              </a:ext>
            </a:extLst>
          </p:cNvPr>
          <p:cNvPicPr>
            <a:picLocks noChangeAspect="1"/>
          </p:cNvPicPr>
          <p:nvPr/>
        </p:nvPicPr>
        <p:blipFill>
          <a:blip r:embed="rId2"/>
          <a:stretch>
            <a:fillRect/>
          </a:stretch>
        </p:blipFill>
        <p:spPr>
          <a:xfrm>
            <a:off x="838200" y="1328709"/>
            <a:ext cx="7929860" cy="4503377"/>
          </a:xfrm>
          <a:prstGeom prst="rect">
            <a:avLst/>
          </a:prstGeom>
        </p:spPr>
      </p:pic>
    </p:spTree>
    <p:extLst>
      <p:ext uri="{BB962C8B-B14F-4D97-AF65-F5344CB8AC3E}">
        <p14:creationId xmlns:p14="http://schemas.microsoft.com/office/powerpoint/2010/main" val="34517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9121FC-F2D2-4923-8B39-7FFF7206CAE4}"/>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Schedule encoding and </a:t>
            </a:r>
            <a:r>
              <a:rPr lang="en-US" altLang="zh-TW" sz="3600" b="0" dirty="0">
                <a:solidFill>
                  <a:srgbClr val="2E2E2E"/>
                </a:solidFill>
                <a:effectLst/>
                <a:latin typeface="Times New Roman" panose="02020603050405020304" pitchFamily="18" charset="0"/>
                <a:cs typeface="Times New Roman" panose="02020603050405020304" pitchFamily="18" charset="0"/>
              </a:rPr>
              <a:t>Chromosome decoding</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C2FAC04-8469-4970-8A98-C1100CB32849}"/>
              </a:ext>
            </a:extLst>
          </p:cNvPr>
          <p:cNvSpPr>
            <a:spLocks noGrp="1"/>
          </p:cNvSpPr>
          <p:nvPr>
            <p:ph idx="1"/>
          </p:nvPr>
        </p:nvSpPr>
        <p:spPr>
          <a:xfrm>
            <a:off x="546100" y="1498600"/>
            <a:ext cx="10807700" cy="4678363"/>
          </a:xfrm>
        </p:spPr>
        <p:txBody>
          <a:bodyPr/>
          <a:lstStyle/>
          <a:p>
            <a:r>
              <a:rPr lang="en-US" altLang="zh-TW" b="0" i="0" dirty="0">
                <a:effectLst/>
              </a:rPr>
              <a:t>all the tasks in the application DAG must be scheduled, any task in the application DAG must be executed only once, and the precedence constraints between tasks must be preserved.</a:t>
            </a:r>
          </a:p>
          <a:p>
            <a:r>
              <a:rPr lang="en-US" altLang="zh-TW" dirty="0"/>
              <a:t>(</a:t>
            </a:r>
            <a:r>
              <a:rPr lang="en-US" altLang="zh-TW" dirty="0" err="1"/>
              <a:t>i</a:t>
            </a:r>
            <a:r>
              <a:rPr lang="en-US" altLang="zh-TW" dirty="0"/>
              <a:t>) the assignment of each task in the application DAG to one of the processors in the computing system, and (ii) the execution ordering of tasks assigned to the same processor.</a:t>
            </a:r>
            <a:endParaRPr lang="zh-TW" altLang="en-US" dirty="0"/>
          </a:p>
        </p:txBody>
      </p:sp>
      <p:pic>
        <p:nvPicPr>
          <p:cNvPr id="4" name="內容版面配置區 4" descr="一張含有 桌 的圖片&#10;&#10;自動產生的描述">
            <a:extLst>
              <a:ext uri="{FF2B5EF4-FFF2-40B4-BE49-F238E27FC236}">
                <a16:creationId xmlns:a16="http://schemas.microsoft.com/office/drawing/2014/main" id="{815F3EC0-C3BB-436B-BD83-79C925E78F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090" y="4355856"/>
            <a:ext cx="6607210" cy="2137019"/>
          </a:xfrm>
          <a:prstGeom prst="rect">
            <a:avLst/>
          </a:prstGeom>
        </p:spPr>
      </p:pic>
      <p:pic>
        <p:nvPicPr>
          <p:cNvPr id="5" name="內容版面配置區 4" descr="一張含有 桌 的圖片&#10;&#10;自動產生的描述">
            <a:extLst>
              <a:ext uri="{FF2B5EF4-FFF2-40B4-BE49-F238E27FC236}">
                <a16:creationId xmlns:a16="http://schemas.microsoft.com/office/drawing/2014/main" id="{4473EF9D-D8E6-4436-96C4-56114FE51AE7}"/>
              </a:ext>
            </a:extLst>
          </p:cNvPr>
          <p:cNvPicPr>
            <a:picLocks noChangeAspect="1"/>
          </p:cNvPicPr>
          <p:nvPr/>
        </p:nvPicPr>
        <p:blipFill rotWithShape="1">
          <a:blip r:embed="rId3">
            <a:extLst>
              <a:ext uri="{28A0092B-C50C-407E-A947-70E740481C1C}">
                <a14:useLocalDpi xmlns:a14="http://schemas.microsoft.com/office/drawing/2010/main" val="0"/>
              </a:ext>
            </a:extLst>
          </a:blip>
          <a:srcRect r="60421"/>
          <a:stretch/>
        </p:blipFill>
        <p:spPr>
          <a:xfrm>
            <a:off x="107908" y="4504028"/>
            <a:ext cx="2243682" cy="2177881"/>
          </a:xfrm>
          <a:prstGeom prst="rect">
            <a:avLst/>
          </a:prstGeom>
        </p:spPr>
      </p:pic>
    </p:spTree>
    <p:extLst>
      <p:ext uri="{BB962C8B-B14F-4D97-AF65-F5344CB8AC3E}">
        <p14:creationId xmlns:p14="http://schemas.microsoft.com/office/powerpoint/2010/main" val="2547092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5A1D3F-1363-4F0B-9E07-864253C2EFD9}"/>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Fitness evaluation and selection</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DED87FE9-B8CA-496F-A27A-8841AEDC582C}"/>
                  </a:ext>
                </a:extLst>
              </p:cNvPr>
              <p:cNvSpPr>
                <a:spLocks noGrp="1"/>
              </p:cNvSpPr>
              <p:nvPr>
                <p:ph idx="1"/>
              </p:nvPr>
            </p:nvSpPr>
            <p:spPr/>
            <p:txBody>
              <a:bodyPr/>
              <a:lstStyle/>
              <a:p>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𝑙</m:t>
                        </m:r>
                      </m:den>
                    </m:f>
                  </m:oMath>
                </a14:m>
                <a:r>
                  <a:rPr lang="zh-TW" altLang="en-US" dirty="0"/>
                  <a:t> </a:t>
                </a:r>
                <a:r>
                  <a:rPr lang="en-US" altLang="zh-TW" dirty="0"/>
                  <a:t>, where l is the length of its decoded schedule.</a:t>
                </a:r>
              </a:p>
              <a:p>
                <a:r>
                  <a:rPr lang="en-US" altLang="zh-TW" dirty="0"/>
                  <a:t>Copies of the fittest 10% of the chromosomes in the population are copied without change to the elitism set.</a:t>
                </a:r>
                <a:endParaRPr lang="zh-TW" altLang="en-US" dirty="0"/>
              </a:p>
            </p:txBody>
          </p:sp>
        </mc:Choice>
        <mc:Fallback>
          <p:sp>
            <p:nvSpPr>
              <p:cNvPr id="3" name="內容版面配置區 2">
                <a:extLst>
                  <a:ext uri="{FF2B5EF4-FFF2-40B4-BE49-F238E27FC236}">
                    <a16:creationId xmlns:a16="http://schemas.microsoft.com/office/drawing/2014/main" id="{DED87FE9-B8CA-496F-A27A-8841AEDC582C}"/>
                  </a:ext>
                </a:extLst>
              </p:cNvPr>
              <p:cNvSpPr>
                <a:spLocks noGrp="1" noRot="1" noChangeAspect="1" noMove="1" noResize="1" noEditPoints="1" noAdjustHandles="1" noChangeArrowheads="1" noChangeShapeType="1" noTextEdit="1"/>
              </p:cNvSpPr>
              <p:nvPr>
                <p:ph idx="1"/>
              </p:nvPr>
            </p:nvSpPr>
            <p:spPr>
              <a:blipFill>
                <a:blip r:embed="rId2"/>
                <a:stretch>
                  <a:fillRect l="-1043" t="-56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15248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A22E2E-F4EC-475C-A6C1-61F419B06D34}"/>
              </a:ext>
            </a:extLst>
          </p:cNvPr>
          <p:cNvSpPr>
            <a:spLocks noGrp="1"/>
          </p:cNvSpPr>
          <p:nvPr>
            <p:ph type="title"/>
          </p:nvPr>
        </p:nvSpPr>
        <p:spPr/>
        <p:txBody>
          <a:bodyPr/>
          <a:lstStyle/>
          <a:p>
            <a:r>
              <a:rPr lang="en-US" altLang="zh-TW" dirty="0"/>
              <a:t>Swap crossover</a:t>
            </a:r>
            <a:endParaRPr lang="zh-TW" altLang="en-US" dirty="0"/>
          </a:p>
        </p:txBody>
      </p:sp>
      <p:pic>
        <p:nvPicPr>
          <p:cNvPr id="5" name="內容版面配置區 4" descr="一張含有 桌 的圖片&#10;&#10;自動產生的描述">
            <a:extLst>
              <a:ext uri="{FF2B5EF4-FFF2-40B4-BE49-F238E27FC236}">
                <a16:creationId xmlns:a16="http://schemas.microsoft.com/office/drawing/2014/main" id="{4EAC8453-A390-40CF-A218-47835C13D2D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05157" y="1956702"/>
            <a:ext cx="7737071" cy="3507473"/>
          </a:xfrm>
        </p:spPr>
      </p:pic>
    </p:spTree>
    <p:extLst>
      <p:ext uri="{BB962C8B-B14F-4D97-AF65-F5344CB8AC3E}">
        <p14:creationId xmlns:p14="http://schemas.microsoft.com/office/powerpoint/2010/main" val="682523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DBB920-2EDA-49A8-BAB4-9BD0FF9CFA94}"/>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BDAAB3D-F10C-4290-9A2F-ABEB1E7F5B4D}"/>
              </a:ext>
            </a:extLst>
          </p:cNvPr>
          <p:cNvSpPr>
            <a:spLocks noGrp="1"/>
          </p:cNvSpPr>
          <p:nvPr>
            <p:ph idx="1"/>
          </p:nvPr>
        </p:nvSpPr>
        <p:spPr/>
        <p:txBody>
          <a:bodyPr/>
          <a:lstStyle/>
          <a:p>
            <a:r>
              <a:rPr lang="en-US" altLang="zh-TW" b="0" dirty="0">
                <a:effectLst/>
              </a:rPr>
              <a:t>A. Schedule encoding</a:t>
            </a:r>
          </a:p>
          <a:p>
            <a:r>
              <a:rPr lang="en-US" altLang="zh-TW" b="0" dirty="0">
                <a:effectLst/>
              </a:rPr>
              <a:t>B. Chromosome decoding</a:t>
            </a:r>
            <a:endParaRPr lang="en-US" altLang="zh-TW" dirty="0"/>
          </a:p>
          <a:p>
            <a:r>
              <a:rPr lang="en-US" altLang="zh-TW" b="0" dirty="0">
                <a:effectLst/>
              </a:rPr>
              <a:t>C. Initialization</a:t>
            </a:r>
          </a:p>
          <a:p>
            <a:r>
              <a:rPr lang="en-US" altLang="zh-TW" b="0" dirty="0">
                <a:effectLst/>
              </a:rPr>
              <a:t>D. Fitness evaluation</a:t>
            </a:r>
            <a:endParaRPr lang="en-US" altLang="zh-TW" dirty="0"/>
          </a:p>
          <a:p>
            <a:r>
              <a:rPr lang="en-US" altLang="zh-TW" b="0" dirty="0">
                <a:effectLst/>
              </a:rPr>
              <a:t>E. Selection and elitism</a:t>
            </a:r>
          </a:p>
          <a:p>
            <a:r>
              <a:rPr lang="en-US" altLang="zh-TW" b="0" dirty="0">
                <a:effectLst/>
              </a:rPr>
              <a:t>F. Swap crossover</a:t>
            </a:r>
            <a:endParaRPr lang="en-US" altLang="zh-TW" dirty="0"/>
          </a:p>
          <a:p>
            <a:r>
              <a:rPr lang="en-US" altLang="zh-TW" b="0" dirty="0">
                <a:effectLst/>
              </a:rPr>
              <a:t>G. Swap mutation</a:t>
            </a:r>
          </a:p>
          <a:p>
            <a:r>
              <a:rPr lang="en-US" altLang="zh-TW" b="0" dirty="0">
                <a:effectLst/>
              </a:rPr>
              <a:t>H. Termination criterion</a:t>
            </a:r>
            <a:endParaRPr lang="zh-TW" altLang="en-US" dirty="0"/>
          </a:p>
        </p:txBody>
      </p:sp>
    </p:spTree>
    <p:extLst>
      <p:ext uri="{BB962C8B-B14F-4D97-AF65-F5344CB8AC3E}">
        <p14:creationId xmlns:p14="http://schemas.microsoft.com/office/powerpoint/2010/main" val="202068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E70415-A930-4C49-BD4C-D39126D17C2F}"/>
              </a:ext>
            </a:extLst>
          </p:cNvPr>
          <p:cNvSpPr>
            <a:spLocks noGrp="1"/>
          </p:cNvSpPr>
          <p:nvPr>
            <p:ph type="title"/>
          </p:nvPr>
        </p:nvSpPr>
        <p:spPr/>
        <p:txBody>
          <a:bodyPr/>
          <a:lstStyle/>
          <a:p>
            <a:r>
              <a:rPr lang="en-US" altLang="zh-TW" dirty="0"/>
              <a:t>population</a:t>
            </a:r>
            <a:endParaRPr lang="zh-TW" altLang="en-US" dirty="0"/>
          </a:p>
        </p:txBody>
      </p:sp>
      <p:sp>
        <p:nvSpPr>
          <p:cNvPr id="3" name="內容版面配置區 2">
            <a:extLst>
              <a:ext uri="{FF2B5EF4-FFF2-40B4-BE49-F238E27FC236}">
                <a16:creationId xmlns:a16="http://schemas.microsoft.com/office/drawing/2014/main" id="{DFA67AC4-2B26-47F8-BDC3-32AA38677A0A}"/>
              </a:ext>
            </a:extLst>
          </p:cNvPr>
          <p:cNvSpPr>
            <a:spLocks noGrp="1"/>
          </p:cNvSpPr>
          <p:nvPr>
            <p:ph idx="1"/>
          </p:nvPr>
        </p:nvSpPr>
        <p:spPr/>
        <p:txBody>
          <a:bodyPr/>
          <a:lstStyle/>
          <a:p>
            <a:r>
              <a:rPr lang="en-US" altLang="zh-TW" dirty="0"/>
              <a:t>Good population size is about 20-30, however, sometimes sizes 50-100 are reported as the best. </a:t>
            </a:r>
          </a:p>
          <a:p>
            <a:r>
              <a:rPr lang="en-US" altLang="zh-TW" dirty="0"/>
              <a:t>(</a:t>
            </a:r>
            <a:r>
              <a:rPr lang="zh-TW" altLang="en-US" dirty="0"/>
              <a:t>視問題的可能解答範圍而定， 測試幅度可加減</a:t>
            </a:r>
            <a:r>
              <a:rPr lang="en-US" altLang="zh-TW" dirty="0"/>
              <a:t>5) </a:t>
            </a:r>
          </a:p>
          <a:p>
            <a:r>
              <a:rPr lang="en-US" altLang="zh-TW" dirty="0"/>
              <a:t>Very big population size usually does not improve performance of GA. </a:t>
            </a:r>
          </a:p>
          <a:p>
            <a:r>
              <a:rPr lang="en-US" altLang="zh-TW" dirty="0"/>
              <a:t>Some research also shows, that the best population size depends on the size of encoded string (chromosomes). If you have chromosomes with 32 bits, the population should be higher than for chromosomes with 16 bits. </a:t>
            </a:r>
            <a:r>
              <a:rPr lang="zh-TW" altLang="en-US" dirty="0"/>
              <a:t>毎一個染色體編碼的長度越長，精確度愈高，但是所需的編碼、解碼 成本也會相對增加</a:t>
            </a:r>
          </a:p>
        </p:txBody>
      </p:sp>
    </p:spTree>
    <p:extLst>
      <p:ext uri="{BB962C8B-B14F-4D97-AF65-F5344CB8AC3E}">
        <p14:creationId xmlns:p14="http://schemas.microsoft.com/office/powerpoint/2010/main" val="2463355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20AB4A-DC82-4D19-AD71-1149B7F9372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44EC1CC-43D3-46F9-A9FF-B84E6001F8E3}"/>
              </a:ext>
            </a:extLst>
          </p:cNvPr>
          <p:cNvSpPr>
            <a:spLocks noGrp="1"/>
          </p:cNvSpPr>
          <p:nvPr>
            <p:ph idx="1"/>
          </p:nvPr>
        </p:nvSpPr>
        <p:spPr/>
        <p:txBody>
          <a:bodyPr/>
          <a:lstStyle/>
          <a:p>
            <a:r>
              <a:rPr lang="zh-TW" altLang="en-US" dirty="0"/>
              <a:t>將 </a:t>
            </a:r>
            <a:r>
              <a:rPr lang="en-US" altLang="zh-TW" dirty="0"/>
              <a:t>LDCP </a:t>
            </a:r>
            <a:r>
              <a:rPr lang="zh-TW" altLang="en-US" dirty="0"/>
              <a:t>生成的時間表插入 </a:t>
            </a:r>
            <a:r>
              <a:rPr lang="en-US" altLang="zh-TW" dirty="0"/>
              <a:t>GAS </a:t>
            </a:r>
            <a:r>
              <a:rPr lang="zh-TW" altLang="en-US" dirty="0"/>
              <a:t>的初始種群中，使 </a:t>
            </a:r>
            <a:r>
              <a:rPr lang="en-US" altLang="zh-TW" dirty="0"/>
              <a:t>GAS </a:t>
            </a:r>
            <a:r>
              <a:rPr lang="zh-TW" altLang="en-US" dirty="0"/>
              <a:t>能夠利用 </a:t>
            </a:r>
            <a:r>
              <a:rPr lang="en-US" altLang="zh-TW" dirty="0"/>
              <a:t>LDCP </a:t>
            </a:r>
            <a:r>
              <a:rPr lang="zh-TW" altLang="en-US" dirty="0"/>
              <a:t>發現的高質量構建塊，以及確保多樣化種群的基於處理器和隨機生成的染色體，從而實現有效的搜索空間的探索。為了降低 </a:t>
            </a:r>
            <a:r>
              <a:rPr lang="en-US" altLang="zh-TW" dirty="0"/>
              <a:t>GAS </a:t>
            </a:r>
            <a:r>
              <a:rPr lang="zh-TW" altLang="en-US" dirty="0"/>
              <a:t>算法的複雜性，種群中的染色體數量或種群大小在整個 </a:t>
            </a:r>
            <a:r>
              <a:rPr lang="en-US" altLang="zh-TW" dirty="0"/>
              <a:t>GAS </a:t>
            </a:r>
            <a:r>
              <a:rPr lang="zh-TW" altLang="en-US" dirty="0"/>
              <a:t>運行期間是固定的。最小種群由使用 </a:t>
            </a:r>
            <a:r>
              <a:rPr lang="en-US" altLang="zh-TW" dirty="0"/>
              <a:t>LDCP </a:t>
            </a:r>
            <a:r>
              <a:rPr lang="zh-TW" altLang="en-US" dirty="0"/>
              <a:t>算法生成的染色體和基於處理器的染色體組成。</a:t>
            </a:r>
          </a:p>
        </p:txBody>
      </p:sp>
    </p:spTree>
    <p:extLst>
      <p:ext uri="{BB962C8B-B14F-4D97-AF65-F5344CB8AC3E}">
        <p14:creationId xmlns:p14="http://schemas.microsoft.com/office/powerpoint/2010/main" val="3131628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2173E4-4230-484D-A025-7345CAF7D299}"/>
              </a:ext>
            </a:extLst>
          </p:cNvPr>
          <p:cNvSpPr>
            <a:spLocks noGrp="1"/>
          </p:cNvSpPr>
          <p:nvPr>
            <p:ph type="title"/>
          </p:nvPr>
        </p:nvSpPr>
        <p:spPr/>
        <p:txBody>
          <a:bodyPr/>
          <a:lstStyle/>
          <a:p>
            <a:r>
              <a:rPr lang="en-US" altLang="zh-TW" dirty="0"/>
              <a:t>crossover</a:t>
            </a:r>
            <a:endParaRPr lang="zh-TW" altLang="en-US" dirty="0"/>
          </a:p>
        </p:txBody>
      </p:sp>
      <p:sp>
        <p:nvSpPr>
          <p:cNvPr id="3" name="內容版面配置區 2">
            <a:extLst>
              <a:ext uri="{FF2B5EF4-FFF2-40B4-BE49-F238E27FC236}">
                <a16:creationId xmlns:a16="http://schemas.microsoft.com/office/drawing/2014/main" id="{D10937DB-249D-4CE3-AFCF-6792D89DCD6F}"/>
              </a:ext>
            </a:extLst>
          </p:cNvPr>
          <p:cNvSpPr>
            <a:spLocks noGrp="1"/>
          </p:cNvSpPr>
          <p:nvPr>
            <p:ph idx="1"/>
          </p:nvPr>
        </p:nvSpPr>
        <p:spPr/>
        <p:txBody>
          <a:bodyPr/>
          <a:lstStyle/>
          <a:p>
            <a:r>
              <a:rPr lang="zh-TW" altLang="en-US" dirty="0"/>
              <a:t>交配率越高，則新物種進入族群的速度愈快，整個搜尋最佳解的速度 也就愈快；但若太高，則優良物種被取走的速度可能會比新物種的進 化來得快，而使得交配的原意喪失。</a:t>
            </a:r>
            <a:endParaRPr lang="en-US" altLang="zh-TW" dirty="0"/>
          </a:p>
          <a:p>
            <a:r>
              <a:rPr lang="en-US" altLang="zh-TW" dirty="0"/>
              <a:t>In some research, the rate is defined as the ratio of the number of offspring produced in each generation to the population size.</a:t>
            </a:r>
          </a:p>
          <a:p>
            <a:r>
              <a:rPr lang="en-US" altLang="zh-TW" dirty="0"/>
              <a:t> Crossover rate should be high generally, about 80%-95%. </a:t>
            </a:r>
          </a:p>
          <a:p>
            <a:r>
              <a:rPr lang="en-US" altLang="zh-TW" dirty="0"/>
              <a:t>However, some results show that for some problems crossover rate about 60% is the best</a:t>
            </a:r>
          </a:p>
          <a:p>
            <a:r>
              <a:rPr lang="en-US" altLang="zh-TW" dirty="0"/>
              <a:t>Offspring/population</a:t>
            </a:r>
            <a:endParaRPr lang="zh-TW" altLang="en-US" dirty="0"/>
          </a:p>
        </p:txBody>
      </p:sp>
    </p:spTree>
    <p:extLst>
      <p:ext uri="{BB962C8B-B14F-4D97-AF65-F5344CB8AC3E}">
        <p14:creationId xmlns:p14="http://schemas.microsoft.com/office/powerpoint/2010/main" val="2128861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FB6AB6B-5D31-4190-AC7D-F1F494B2B130}"/>
              </a:ext>
            </a:extLst>
          </p:cNvPr>
          <p:cNvSpPr>
            <a:spLocks noGrp="1"/>
          </p:cNvSpPr>
          <p:nvPr>
            <p:ph type="title"/>
          </p:nvPr>
        </p:nvSpPr>
        <p:spPr/>
        <p:txBody>
          <a:bodyPr/>
          <a:lstStyle/>
          <a:p>
            <a:r>
              <a:rPr lang="en-US" altLang="zh-TW" dirty="0"/>
              <a:t>Mutation rate</a:t>
            </a:r>
            <a:endParaRPr lang="zh-TW" altLang="en-US" dirty="0"/>
          </a:p>
        </p:txBody>
      </p:sp>
      <p:sp>
        <p:nvSpPr>
          <p:cNvPr id="3" name="內容版面配置區 2">
            <a:extLst>
              <a:ext uri="{FF2B5EF4-FFF2-40B4-BE49-F238E27FC236}">
                <a16:creationId xmlns:a16="http://schemas.microsoft.com/office/drawing/2014/main" id="{0151E943-C5EA-4F12-9096-087BB41B28F0}"/>
              </a:ext>
            </a:extLst>
          </p:cNvPr>
          <p:cNvSpPr>
            <a:spLocks noGrp="1"/>
          </p:cNvSpPr>
          <p:nvPr>
            <p:ph idx="1"/>
          </p:nvPr>
        </p:nvSpPr>
        <p:spPr/>
        <p:txBody>
          <a:bodyPr/>
          <a:lstStyle/>
          <a:p>
            <a:r>
              <a:rPr lang="en-US" altLang="zh-TW" dirty="0"/>
              <a:t>Mutation rate should be low. </a:t>
            </a:r>
          </a:p>
          <a:p>
            <a:r>
              <a:rPr lang="en-US" altLang="zh-TW" dirty="0"/>
              <a:t>Best rate seems to be about 0.5% ~ 1%, </a:t>
            </a:r>
          </a:p>
          <a:p>
            <a:r>
              <a:rPr lang="en-US" altLang="zh-TW" dirty="0"/>
              <a:t>However: If it is too low, </a:t>
            </a:r>
            <a:r>
              <a:rPr lang="zh-TW" altLang="en-US" dirty="0"/>
              <a:t>有可能陷入局部最佳解而無法跳出。 </a:t>
            </a:r>
            <a:endParaRPr lang="en-US" altLang="zh-TW" dirty="0"/>
          </a:p>
          <a:p>
            <a:r>
              <a:rPr lang="en-US" altLang="zh-TW" dirty="0"/>
              <a:t>If it is too high, </a:t>
            </a:r>
            <a:r>
              <a:rPr lang="zh-TW" altLang="en-US" dirty="0"/>
              <a:t>則與隨機搜尋無異，且所産生的子代將失去與父 代的相似性。同時，演算法也失去了對過去搜尋結果學習的能力 </a:t>
            </a:r>
            <a:r>
              <a:rPr lang="en-US" altLang="zh-TW" dirty="0"/>
              <a:t>(The ability to learn from the history of the search)</a:t>
            </a:r>
            <a:r>
              <a:rPr lang="zh-TW" altLang="en-US" dirty="0"/>
              <a:t>。</a:t>
            </a:r>
          </a:p>
        </p:txBody>
      </p:sp>
    </p:spTree>
    <p:extLst>
      <p:ext uri="{BB962C8B-B14F-4D97-AF65-F5344CB8AC3E}">
        <p14:creationId xmlns:p14="http://schemas.microsoft.com/office/powerpoint/2010/main" val="997352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EEBE99-A77F-4F39-AC91-30DB1FD422CA}"/>
              </a:ext>
            </a:extLst>
          </p:cNvPr>
          <p:cNvSpPr>
            <a:spLocks noGrp="1"/>
          </p:cNvSpPr>
          <p:nvPr>
            <p:ph type="title"/>
          </p:nvPr>
        </p:nvSpPr>
        <p:spPr/>
        <p:txBody>
          <a:bodyPr/>
          <a:lstStyle/>
          <a:p>
            <a:r>
              <a:rPr lang="en-US" altLang="zh-TW" b="0" dirty="0">
                <a:effectLst/>
                <a:latin typeface="Times New Roman" panose="02020603050405020304" pitchFamily="18" charset="0"/>
                <a:cs typeface="Times New Roman" panose="02020603050405020304" pitchFamily="18" charset="0"/>
              </a:rPr>
              <a:t>Termination criterion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DA16938-B740-4CA4-B143-1CAB82EC3039}"/>
              </a:ext>
            </a:extLst>
          </p:cNvPr>
          <p:cNvSpPr>
            <a:spLocks noGrp="1"/>
          </p:cNvSpPr>
          <p:nvPr>
            <p:ph idx="1"/>
          </p:nvPr>
        </p:nvSpPr>
        <p:spPr/>
        <p:txBody>
          <a:bodyPr>
            <a:normAutofit/>
          </a:bodyPr>
          <a:lstStyle/>
          <a:p>
            <a:r>
              <a:rPr lang="zh-TW" altLang="en-US" dirty="0"/>
              <a:t>執行設定的世代數 例如：設定</a:t>
            </a:r>
            <a:r>
              <a:rPr lang="en-US" altLang="zh-TW" dirty="0"/>
              <a:t>k ≥ 1,000</a:t>
            </a:r>
            <a:r>
              <a:rPr lang="zh-TW" altLang="en-US" dirty="0"/>
              <a:t>時停止，</a:t>
            </a:r>
            <a:r>
              <a:rPr lang="en-US" altLang="zh-TW" dirty="0"/>
              <a:t>k </a:t>
            </a:r>
            <a:r>
              <a:rPr lang="zh-TW" altLang="en-US" dirty="0"/>
              <a:t>代表第 </a:t>
            </a:r>
            <a:r>
              <a:rPr lang="en-US" altLang="zh-TW" dirty="0"/>
              <a:t>k </a:t>
            </a:r>
            <a:r>
              <a:rPr lang="zh-TW" altLang="en-US" dirty="0"/>
              <a:t>個世代 </a:t>
            </a:r>
            <a:endParaRPr lang="en-US" altLang="zh-TW" dirty="0"/>
          </a:p>
          <a:p>
            <a:r>
              <a:rPr lang="zh-TW" altLang="en-US" dirty="0"/>
              <a:t>前後世代最佳值之差異低於設定的極小值 成熟率大於設定值 例如：</a:t>
            </a:r>
            <a:r>
              <a:rPr lang="en-US" altLang="zh-TW" dirty="0"/>
              <a:t>S</a:t>
            </a:r>
            <a:r>
              <a:rPr lang="zh-TW" altLang="en-US" dirty="0"/>
              <a:t>為成熟率。設定</a:t>
            </a:r>
            <a:r>
              <a:rPr lang="en-US" altLang="zh-TW" dirty="0"/>
              <a:t>S ≥ 80%</a:t>
            </a:r>
            <a:r>
              <a:rPr lang="zh-TW" altLang="en-US" dirty="0"/>
              <a:t>時停止 </a:t>
            </a:r>
            <a:endParaRPr lang="en-US" altLang="zh-TW" dirty="0"/>
          </a:p>
          <a:p>
            <a:r>
              <a:rPr lang="zh-TW" altLang="en-US" dirty="0"/>
              <a:t>成熟：當族群中絕大部分的染色體都具有相同基因時，交配也無法産 生一個不同的子代，此時即為收斂</a:t>
            </a:r>
            <a:r>
              <a:rPr lang="en-US" altLang="zh-TW" dirty="0"/>
              <a:t>(</a:t>
            </a:r>
            <a:r>
              <a:rPr lang="zh-TW" altLang="en-US" dirty="0"/>
              <a:t>亦稱為成熟</a:t>
            </a:r>
            <a:r>
              <a:rPr lang="en-US" altLang="zh-TW" dirty="0"/>
              <a:t>)</a:t>
            </a:r>
            <a:r>
              <a:rPr lang="zh-TW" altLang="en-US" dirty="0"/>
              <a:t>。 </a:t>
            </a:r>
            <a:endParaRPr lang="en-US" altLang="zh-TW" dirty="0"/>
          </a:p>
          <a:p>
            <a:r>
              <a:rPr lang="zh-TW" altLang="en-US" dirty="0"/>
              <a:t>早熟：當成熟的現象發生在尋優的初期，將使尋優結果陷於局部最佳 解，而無法尋得最佳解的困境，稱為早熟或提早收歛。</a:t>
            </a:r>
          </a:p>
        </p:txBody>
      </p:sp>
    </p:spTree>
    <p:extLst>
      <p:ext uri="{BB962C8B-B14F-4D97-AF65-F5344CB8AC3E}">
        <p14:creationId xmlns:p14="http://schemas.microsoft.com/office/powerpoint/2010/main" val="2553453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549DFE-1C41-4460-98E0-2F5ACA55B80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12139BC9-A352-4E42-AD5F-0EB59C8C9A02}"/>
                  </a:ext>
                </a:extLst>
              </p:cNvPr>
              <p:cNvSpPr>
                <a:spLocks noGrp="1"/>
              </p:cNvSpPr>
              <p:nvPr>
                <p:ph idx="1"/>
              </p:nvPr>
            </p:nvSpPr>
            <p:spPr/>
            <p:txBody>
              <a:bodyPr/>
              <a:lstStyle/>
              <a:p>
                <a14:m>
                  <m:oMath xmlns:m="http://schemas.openxmlformats.org/officeDocument/2006/math">
                    <m:r>
                      <m:rPr>
                        <m:nor/>
                      </m:rPr>
                      <a:rPr lang="en-US" altLang="zh-TW" smtClean="0">
                        <a:solidFill>
                          <a:schemeClr val="tx1"/>
                        </a:solidFill>
                      </a:rPr>
                      <m:t> </m:t>
                    </m:r>
                    <m:r>
                      <m:rPr>
                        <m:nor/>
                      </m:rPr>
                      <a:rPr lang="en-US" altLang="zh-TW" smtClean="0">
                        <a:solidFill>
                          <a:schemeClr val="tx1"/>
                        </a:solidFill>
                      </a:rPr>
                      <m:t>Parallelism</m:t>
                    </m:r>
                    <m:r>
                      <m:rPr>
                        <m:nor/>
                      </m:rPr>
                      <a:rPr lang="en-US" altLang="zh-TW" smtClean="0">
                        <a:solidFill>
                          <a:schemeClr val="tx1"/>
                        </a:solidFill>
                      </a:rPr>
                      <m:t> </m:t>
                    </m:r>
                    <m:r>
                      <m:rPr>
                        <m:nor/>
                      </m:rPr>
                      <a:rPr lang="en-US" altLang="zh-TW" smtClean="0">
                        <a:solidFill>
                          <a:schemeClr val="tx1"/>
                        </a:solidFill>
                      </a:rPr>
                      <m:t>factor</m:t>
                    </m:r>
                    <m:r>
                      <a:rPr lang="en-US" altLang="zh-TW" b="0" i="0" smtClean="0">
                        <a:solidFill>
                          <a:schemeClr val="tx1"/>
                        </a:solidFill>
                        <a:latin typeface="Cambria Math" panose="02040503050406030204" pitchFamily="18" charset="0"/>
                      </a:rPr>
                      <m:t> , </m:t>
                    </m:r>
                    <m:r>
                      <m:rPr>
                        <m:sty m:val="p"/>
                      </m:rPr>
                      <a:rPr lang="zh-TW" altLang="en-US" i="0" dirty="0" smtClean="0">
                        <a:solidFill>
                          <a:schemeClr val="tx1"/>
                        </a:solidFill>
                        <a:latin typeface="Cambria Math" panose="02040503050406030204" pitchFamily="18" charset="0"/>
                      </a:rPr>
                      <m:t>α</m:t>
                    </m:r>
                  </m:oMath>
                </a14:m>
                <a:r>
                  <a:rPr lang="en-US" altLang="zh-TW" dirty="0">
                    <a:solidFill>
                      <a:schemeClr val="tx1"/>
                    </a:solidFill>
                  </a:rPr>
                  <a:t>: </a:t>
                </a:r>
                <a:r>
                  <a:rPr lang="en-US" altLang="zh-TW" b="0" dirty="0">
                    <a:solidFill>
                      <a:schemeClr val="tx1"/>
                    </a:solidFill>
                    <a:effectLst/>
                  </a:rPr>
                  <a:t>the number of levels</a:t>
                </a:r>
                <a14:m>
                  <m:oMath xmlns:m="http://schemas.openxmlformats.org/officeDocument/2006/math">
                    <m:f>
                      <m:fPr>
                        <m:ctrlPr>
                          <a:rPr lang="en-US" altLang="zh-TW" b="0" i="1" smtClean="0">
                            <a:solidFill>
                              <a:schemeClr val="tx1"/>
                            </a:solidFill>
                            <a:effectLst/>
                            <a:latin typeface="Cambria Math" panose="02040503050406030204" pitchFamily="18" charset="0"/>
                          </a:rPr>
                        </m:ctrlPr>
                      </m:fPr>
                      <m:num>
                        <m:rad>
                          <m:radPr>
                            <m:degHide m:val="on"/>
                            <m:ctrlPr>
                              <a:rPr lang="en-US" altLang="zh-TW" b="0" i="1" smtClean="0">
                                <a:solidFill>
                                  <a:schemeClr val="tx1"/>
                                </a:solidFill>
                                <a:effectLst/>
                                <a:latin typeface="Cambria Math" panose="02040503050406030204" pitchFamily="18" charset="0"/>
                              </a:rPr>
                            </m:ctrlPr>
                          </m:radPr>
                          <m:deg/>
                          <m:e>
                            <m:r>
                              <m:rPr>
                                <m:sty m:val="p"/>
                              </m:rPr>
                              <a:rPr lang="en-US" altLang="zh-TW" b="0" i="0" smtClean="0">
                                <a:solidFill>
                                  <a:schemeClr val="tx1"/>
                                </a:solidFill>
                                <a:effectLst/>
                                <a:latin typeface="Cambria Math" panose="02040503050406030204" pitchFamily="18" charset="0"/>
                              </a:rPr>
                              <m:t>n</m:t>
                            </m:r>
                          </m:e>
                        </m:rad>
                      </m:num>
                      <m:den>
                        <m:r>
                          <m:rPr>
                            <m:sty m:val="p"/>
                          </m:rPr>
                          <a:rPr lang="zh-TW" altLang="en-US" b="0" i="0" smtClean="0">
                            <a:solidFill>
                              <a:schemeClr val="tx1"/>
                            </a:solidFill>
                            <a:effectLst/>
                            <a:latin typeface="Cambria Math" panose="02040503050406030204" pitchFamily="18" charset="0"/>
                          </a:rPr>
                          <m:t>α</m:t>
                        </m:r>
                      </m:den>
                    </m:f>
                  </m:oMath>
                </a14:m>
                <a:r>
                  <a:rPr lang="zh-TW" altLang="en-US" dirty="0">
                    <a:solidFill>
                      <a:schemeClr val="tx1"/>
                    </a:solidFill>
                  </a:rPr>
                  <a:t>，</a:t>
                </a:r>
                <a:r>
                  <a:rPr lang="en-US" altLang="zh-TW" dirty="0">
                    <a:solidFill>
                      <a:schemeClr val="tx1"/>
                    </a:solidFill>
                  </a:rPr>
                  <a:t>the width of each level </a:t>
                </a:r>
                <a14:m>
                  <m:oMath xmlns:m="http://schemas.openxmlformats.org/officeDocument/2006/math">
                    <m:r>
                      <m:rPr>
                        <m:sty m:val="p"/>
                      </m:rPr>
                      <a:rPr lang="zh-TW" altLang="en-US" i="0" smtClean="0">
                        <a:solidFill>
                          <a:schemeClr val="tx1"/>
                        </a:solidFill>
                        <a:latin typeface="Cambria Math" panose="02040503050406030204" pitchFamily="18" charset="0"/>
                      </a:rPr>
                      <m:t>α</m:t>
                    </m:r>
                    <m:r>
                      <a:rPr lang="en-US" altLang="zh-TW" i="0" smtClean="0">
                        <a:solidFill>
                          <a:schemeClr val="tx1"/>
                        </a:solidFill>
                        <a:latin typeface="Cambria Math" panose="02040503050406030204" pitchFamily="18" charset="0"/>
                        <a:ea typeface="Cambria Math" panose="02040503050406030204" pitchFamily="18" charset="0"/>
                      </a:rPr>
                      <m:t>×</m:t>
                    </m:r>
                    <m:rad>
                      <m:radPr>
                        <m:degHide m:val="on"/>
                        <m:ctrlPr>
                          <a:rPr lang="en-US" altLang="zh-TW" i="1" smtClean="0">
                            <a:solidFill>
                              <a:schemeClr val="tx1"/>
                            </a:solidFill>
                            <a:latin typeface="Cambria Math" panose="02040503050406030204" pitchFamily="18" charset="0"/>
                            <a:ea typeface="Cambria Math" panose="02040503050406030204" pitchFamily="18" charset="0"/>
                          </a:rPr>
                        </m:ctrlPr>
                      </m:radPr>
                      <m:deg/>
                      <m:e>
                        <m:r>
                          <m:rPr>
                            <m:sty m:val="p"/>
                          </m:rPr>
                          <a:rPr lang="en-US" altLang="zh-TW" b="0" i="0" smtClean="0">
                            <a:solidFill>
                              <a:schemeClr val="tx1"/>
                            </a:solidFill>
                            <a:latin typeface="Cambria Math" panose="02040503050406030204" pitchFamily="18" charset="0"/>
                            <a:ea typeface="Cambria Math" panose="02040503050406030204" pitchFamily="18" charset="0"/>
                          </a:rPr>
                          <m:t>n</m:t>
                        </m:r>
                      </m:e>
                    </m:rad>
                  </m:oMath>
                </a14:m>
                <a:endParaRPr lang="en-US" altLang="zh-TW" dirty="0">
                  <a:solidFill>
                    <a:schemeClr val="tx1"/>
                  </a:solidFill>
                </a:endParaRPr>
              </a:p>
              <a:p>
                <a:r>
                  <a:rPr lang="en-US" altLang="zh-TW" b="0" dirty="0">
                    <a:solidFill>
                      <a:schemeClr val="tx1"/>
                    </a:solidFill>
                    <a:effectLst/>
                  </a:rPr>
                  <a:t> Computation cost heterogeneity factor , </a:t>
                </a:r>
                <a:r>
                  <a:rPr lang="en-US" altLang="zh-TW" dirty="0">
                    <a:solidFill>
                      <a:schemeClr val="tx1"/>
                    </a:solidFill>
                  </a:rPr>
                  <a:t>h: </a:t>
                </a:r>
                <a:r>
                  <a:rPr lang="en-US" altLang="zh-TW" b="0" i="0" dirty="0">
                    <a:solidFill>
                      <a:schemeClr val="tx1"/>
                    </a:solidFill>
                    <a:effectLst/>
                  </a:rPr>
                  <a:t>a high h value indicates high variance of the computation costs of a task</a:t>
                </a:r>
              </a:p>
              <a:p>
                <a:pPr marL="0" indent="0">
                  <a:buNone/>
                </a:pPr>
                <a:r>
                  <a:rPr lang="en-US" altLang="zh-TW" dirty="0">
                    <a:solidFill>
                      <a:schemeClr val="tx1"/>
                    </a:solidFill>
                  </a:rPr>
                  <a:t>(</a:t>
                </a:r>
                <a:r>
                  <a:rPr lang="en-US" altLang="zh-TW" b="0" i="0" dirty="0">
                    <a:solidFill>
                      <a:schemeClr val="tx1"/>
                    </a:solidFill>
                    <a:effectLst/>
                  </a:rPr>
                  <a:t>0, the computation cost of a task is the same for all processors. )</a:t>
                </a:r>
              </a:p>
              <a:p>
                <a:pPr marL="0" indent="0">
                  <a:buNone/>
                </a:pPr>
                <a14:m>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𝑡</m:t>
                        </m:r>
                      </m:e>
                      <m:sub>
                        <m:r>
                          <a:rPr lang="en-US" altLang="zh-TW" b="0" i="1" smtClean="0">
                            <a:solidFill>
                              <a:schemeClr val="tx1"/>
                            </a:solidFill>
                            <a:latin typeface="Cambria Math" panose="02040503050406030204" pitchFamily="18" charset="0"/>
                          </a:rPr>
                          <m:t>𝑖</m:t>
                        </m:r>
                      </m:sub>
                    </m:sSub>
                    <m:d>
                      <m:dPr>
                        <m:ctrlPr>
                          <a:rPr lang="en-US" altLang="zh-TW" i="1" smtClean="0">
                            <a:solidFill>
                              <a:schemeClr val="tx1"/>
                            </a:solidFill>
                            <a:latin typeface="Cambria Math" panose="02040503050406030204" pitchFamily="18" charset="0"/>
                          </a:rPr>
                        </m:ctrlPr>
                      </m:dPr>
                      <m:e>
                        <m:sSub>
                          <m:sSubPr>
                            <m:ctrlPr>
                              <a:rPr lang="en-US" altLang="zh-TW" i="1" smtClean="0">
                                <a:solidFill>
                                  <a:schemeClr val="tx1"/>
                                </a:solidFill>
                                <a:latin typeface="Cambria Math" panose="02040503050406030204" pitchFamily="18" charset="0"/>
                              </a:rPr>
                            </m:ctrlPr>
                          </m:sSubPr>
                          <m:e>
                            <m:acc>
                              <m:accPr>
                                <m:chr m:val="̅"/>
                                <m:ctrlPr>
                                  <a:rPr lang="en-US" altLang="zh-TW" i="1" smtClean="0">
                                    <a:solidFill>
                                      <a:schemeClr val="tx1"/>
                                    </a:solidFill>
                                    <a:latin typeface="Cambria Math" panose="02040503050406030204" pitchFamily="18" charset="0"/>
                                  </a:rPr>
                                </m:ctrlPr>
                              </m:accPr>
                              <m:e>
                                <m:r>
                                  <a:rPr lang="en-US" altLang="zh-TW" b="0" i="1" smtClean="0">
                                    <a:solidFill>
                                      <a:schemeClr val="tx1"/>
                                    </a:solidFill>
                                    <a:latin typeface="Cambria Math" panose="02040503050406030204" pitchFamily="18" charset="0"/>
                                  </a:rPr>
                                  <m:t>𝑤</m:t>
                                </m:r>
                              </m:e>
                            </m:acc>
                          </m:e>
                          <m:sub>
                            <m:r>
                              <a:rPr lang="en-US" altLang="zh-TW" b="0" i="1" smtClean="0">
                                <a:solidFill>
                                  <a:schemeClr val="tx1"/>
                                </a:solidFill>
                                <a:latin typeface="Cambria Math" panose="02040503050406030204" pitchFamily="18" charset="0"/>
                              </a:rPr>
                              <m:t>𝑖</m:t>
                            </m:r>
                          </m:sub>
                        </m:sSub>
                      </m:e>
                    </m:d>
                  </m:oMath>
                </a14:m>
                <a:r>
                  <a:rPr lang="en-US" altLang="zh-TW" dirty="0">
                    <a:solidFill>
                      <a:schemeClr val="tx1"/>
                    </a:solidFill>
                  </a:rPr>
                  <a:t> is randomly generated. </a:t>
                </a:r>
                <a14:m>
                  <m:oMath xmlns:m="http://schemas.openxmlformats.org/officeDocument/2006/math">
                    <m:d>
                      <m:dPr>
                        <m:begChr m:val="["/>
                        <m:endChr m:val="]"/>
                        <m:ctrlPr>
                          <a:rPr lang="en-US" altLang="zh-TW" i="1" smtClean="0">
                            <a:solidFill>
                              <a:schemeClr val="tx1"/>
                            </a:solidFill>
                            <a:latin typeface="Cambria Math" panose="02040503050406030204" pitchFamily="18" charset="0"/>
                          </a:rPr>
                        </m:ctrlPr>
                      </m:dPr>
                      <m:e>
                        <m:sSub>
                          <m:sSubPr>
                            <m:ctrlPr>
                              <a:rPr lang="en-US" altLang="zh-TW" i="1">
                                <a:solidFill>
                                  <a:schemeClr val="tx1"/>
                                </a:solidFill>
                                <a:latin typeface="Cambria Math" panose="02040503050406030204" pitchFamily="18" charset="0"/>
                              </a:rPr>
                            </m:ctrlPr>
                          </m:sSubPr>
                          <m:e>
                            <m:acc>
                              <m:accPr>
                                <m:chr m:val="̅"/>
                                <m:ctrlPr>
                                  <a:rPr lang="en-US" altLang="zh-TW" i="1">
                                    <a:solidFill>
                                      <a:schemeClr val="tx1"/>
                                    </a:solidFill>
                                    <a:latin typeface="Cambria Math" panose="02040503050406030204" pitchFamily="18" charset="0"/>
                                  </a:rPr>
                                </m:ctrlPr>
                              </m:accPr>
                              <m:e>
                                <m:r>
                                  <a:rPr lang="en-US" altLang="zh-TW" i="1">
                                    <a:solidFill>
                                      <a:schemeClr val="tx1"/>
                                    </a:solidFill>
                                    <a:latin typeface="Cambria Math" panose="02040503050406030204" pitchFamily="18" charset="0"/>
                                  </a:rPr>
                                  <m:t>𝑤</m:t>
                                </m:r>
                              </m:e>
                            </m:acc>
                          </m:e>
                          <m:sub>
                            <m:r>
                              <a:rPr lang="en-US" altLang="zh-TW" i="1">
                                <a:solidFill>
                                  <a:schemeClr val="tx1"/>
                                </a:solidFill>
                                <a:latin typeface="Cambria Math" panose="02040503050406030204" pitchFamily="18" charset="0"/>
                              </a:rPr>
                              <m:t>𝑖</m:t>
                            </m:r>
                          </m:sub>
                        </m:sSub>
                        <m:r>
                          <a:rPr lang="en-US" altLang="zh-TW">
                            <a:solidFill>
                              <a:schemeClr val="tx1"/>
                            </a:solidFill>
                            <a:latin typeface="Cambria Math" panose="02040503050406030204" pitchFamily="18" charset="0"/>
                            <a:ea typeface="Cambria Math" panose="02040503050406030204" pitchFamily="18" charset="0"/>
                          </a:rPr>
                          <m:t>×</m:t>
                        </m:r>
                        <m:d>
                          <m:dPr>
                            <m:ctrlPr>
                              <a:rPr lang="en-US" altLang="zh-TW" i="1" smtClean="0">
                                <a:solidFill>
                                  <a:schemeClr val="tx1"/>
                                </a:solidFill>
                                <a:latin typeface="Cambria Math" panose="02040503050406030204" pitchFamily="18" charset="0"/>
                                <a:ea typeface="Cambria Math" panose="02040503050406030204" pitchFamily="18" charset="0"/>
                              </a:rPr>
                            </m:ctrlPr>
                          </m:dPr>
                          <m:e>
                            <m:r>
                              <a:rPr lang="en-US" altLang="zh-TW" b="0" i="1" smtClean="0">
                                <a:solidFill>
                                  <a:schemeClr val="tx1"/>
                                </a:solidFill>
                                <a:latin typeface="Cambria Math" panose="02040503050406030204" pitchFamily="18" charset="0"/>
                                <a:ea typeface="Cambria Math" panose="02040503050406030204" pitchFamily="18" charset="0"/>
                              </a:rPr>
                              <m:t>1−</m:t>
                            </m:r>
                            <m:f>
                              <m:fPr>
                                <m:ctrlPr>
                                  <a:rPr lang="en-US" altLang="zh-TW" b="0" i="1" smtClean="0">
                                    <a:solidFill>
                                      <a:schemeClr val="tx1"/>
                                    </a:solidFill>
                                    <a:latin typeface="Cambria Math" panose="02040503050406030204" pitchFamily="18" charset="0"/>
                                    <a:ea typeface="Cambria Math" panose="02040503050406030204" pitchFamily="18" charset="0"/>
                                  </a:rPr>
                                </m:ctrlPr>
                              </m:fPr>
                              <m:num>
                                <m:r>
                                  <a:rPr lang="en-US" altLang="zh-TW" b="0" i="1" smtClean="0">
                                    <a:solidFill>
                                      <a:schemeClr val="tx1"/>
                                    </a:solidFill>
                                    <a:latin typeface="Cambria Math" panose="02040503050406030204" pitchFamily="18" charset="0"/>
                                    <a:ea typeface="Cambria Math" panose="02040503050406030204" pitchFamily="18" charset="0"/>
                                  </a:rPr>
                                  <m:t>h</m:t>
                                </m:r>
                              </m:num>
                              <m:den>
                                <m:r>
                                  <a:rPr lang="en-US" altLang="zh-TW" b="0" i="1" smtClean="0">
                                    <a:solidFill>
                                      <a:schemeClr val="tx1"/>
                                    </a:solidFill>
                                    <a:latin typeface="Cambria Math" panose="02040503050406030204" pitchFamily="18" charset="0"/>
                                    <a:ea typeface="Cambria Math" panose="02040503050406030204" pitchFamily="18" charset="0"/>
                                  </a:rPr>
                                  <m:t>2</m:t>
                                </m:r>
                              </m:den>
                            </m:f>
                          </m:e>
                        </m:d>
                        <m:r>
                          <a:rPr lang="en-US" altLang="zh-TW" b="0" i="1" smtClean="0">
                            <a:solidFill>
                              <a:schemeClr val="tx1"/>
                            </a:solidFill>
                            <a:latin typeface="Cambria Math" panose="02040503050406030204" pitchFamily="18" charset="0"/>
                            <a:ea typeface="Cambria Math" panose="02040503050406030204" pitchFamily="18" charset="0"/>
                          </a:rPr>
                          <m:t>,</m:t>
                        </m:r>
                        <m:sSub>
                          <m:sSubPr>
                            <m:ctrlPr>
                              <a:rPr lang="en-US" altLang="zh-TW" i="1">
                                <a:solidFill>
                                  <a:schemeClr val="tx1"/>
                                </a:solidFill>
                                <a:latin typeface="Cambria Math" panose="02040503050406030204" pitchFamily="18" charset="0"/>
                              </a:rPr>
                            </m:ctrlPr>
                          </m:sSubPr>
                          <m:e>
                            <m:acc>
                              <m:accPr>
                                <m:chr m:val="̅"/>
                                <m:ctrlPr>
                                  <a:rPr lang="en-US" altLang="zh-TW" i="1">
                                    <a:solidFill>
                                      <a:schemeClr val="tx1"/>
                                    </a:solidFill>
                                    <a:latin typeface="Cambria Math" panose="02040503050406030204" pitchFamily="18" charset="0"/>
                                  </a:rPr>
                                </m:ctrlPr>
                              </m:accPr>
                              <m:e>
                                <m:r>
                                  <a:rPr lang="en-US" altLang="zh-TW" i="1">
                                    <a:solidFill>
                                      <a:schemeClr val="tx1"/>
                                    </a:solidFill>
                                    <a:latin typeface="Cambria Math" panose="02040503050406030204" pitchFamily="18" charset="0"/>
                                  </a:rPr>
                                  <m:t>𝑤</m:t>
                                </m:r>
                              </m:e>
                            </m:acc>
                          </m:e>
                          <m:sub>
                            <m:r>
                              <a:rPr lang="en-US" altLang="zh-TW" i="1">
                                <a:solidFill>
                                  <a:schemeClr val="tx1"/>
                                </a:solidFill>
                                <a:latin typeface="Cambria Math" panose="02040503050406030204" pitchFamily="18" charset="0"/>
                              </a:rPr>
                              <m:t>𝑖</m:t>
                            </m:r>
                          </m:sub>
                        </m:sSub>
                        <m:r>
                          <a:rPr lang="en-US" altLang="zh-TW">
                            <a:solidFill>
                              <a:schemeClr val="tx1"/>
                            </a:solidFill>
                            <a:latin typeface="Cambria Math" panose="02040503050406030204" pitchFamily="18" charset="0"/>
                            <a:ea typeface="Cambria Math" panose="02040503050406030204" pitchFamily="18" charset="0"/>
                          </a:rPr>
                          <m:t>×</m:t>
                        </m:r>
                        <m:d>
                          <m:dPr>
                            <m:ctrlPr>
                              <a:rPr lang="en-US" altLang="zh-TW" i="1" smtClean="0">
                                <a:solidFill>
                                  <a:schemeClr val="tx1"/>
                                </a:solidFill>
                                <a:latin typeface="Cambria Math" panose="02040503050406030204" pitchFamily="18" charset="0"/>
                                <a:ea typeface="Cambria Math" panose="02040503050406030204" pitchFamily="18" charset="0"/>
                              </a:rPr>
                            </m:ctrlPr>
                          </m:dPr>
                          <m:e>
                            <m:r>
                              <a:rPr lang="en-US" altLang="zh-TW" b="0" i="1" smtClean="0">
                                <a:solidFill>
                                  <a:schemeClr val="tx1"/>
                                </a:solidFill>
                                <a:latin typeface="Cambria Math" panose="02040503050406030204" pitchFamily="18" charset="0"/>
                                <a:ea typeface="Cambria Math" panose="02040503050406030204" pitchFamily="18" charset="0"/>
                              </a:rPr>
                              <m:t>1+</m:t>
                            </m:r>
                            <m:f>
                              <m:fPr>
                                <m:ctrlPr>
                                  <a:rPr lang="en-US" altLang="zh-TW" b="0" i="1" smtClean="0">
                                    <a:solidFill>
                                      <a:schemeClr val="tx1"/>
                                    </a:solidFill>
                                    <a:latin typeface="Cambria Math" panose="02040503050406030204" pitchFamily="18" charset="0"/>
                                    <a:ea typeface="Cambria Math" panose="02040503050406030204" pitchFamily="18" charset="0"/>
                                  </a:rPr>
                                </m:ctrlPr>
                              </m:fPr>
                              <m:num>
                                <m:r>
                                  <a:rPr lang="en-US" altLang="zh-TW" b="0" i="1" smtClean="0">
                                    <a:solidFill>
                                      <a:schemeClr val="tx1"/>
                                    </a:solidFill>
                                    <a:latin typeface="Cambria Math" panose="02040503050406030204" pitchFamily="18" charset="0"/>
                                    <a:ea typeface="Cambria Math" panose="02040503050406030204" pitchFamily="18" charset="0"/>
                                  </a:rPr>
                                  <m:t>h</m:t>
                                </m:r>
                              </m:num>
                              <m:den>
                                <m:r>
                                  <a:rPr lang="en-US" altLang="zh-TW" b="0" i="1" smtClean="0">
                                    <a:solidFill>
                                      <a:schemeClr val="tx1"/>
                                    </a:solidFill>
                                    <a:latin typeface="Cambria Math" panose="02040503050406030204" pitchFamily="18" charset="0"/>
                                    <a:ea typeface="Cambria Math" panose="02040503050406030204" pitchFamily="18" charset="0"/>
                                  </a:rPr>
                                  <m:t>2</m:t>
                                </m:r>
                              </m:den>
                            </m:f>
                          </m:e>
                        </m:d>
                      </m:e>
                    </m:d>
                  </m:oMath>
                </a14:m>
                <a:endParaRPr lang="zh-TW" altLang="en-US" dirty="0">
                  <a:solidFill>
                    <a:schemeClr val="tx1"/>
                  </a:solidFill>
                </a:endParaRPr>
              </a:p>
            </p:txBody>
          </p:sp>
        </mc:Choice>
        <mc:Fallback xmlns="">
          <p:sp>
            <p:nvSpPr>
              <p:cNvPr id="3" name="內容版面配置區 2">
                <a:extLst>
                  <a:ext uri="{FF2B5EF4-FFF2-40B4-BE49-F238E27FC236}">
                    <a16:creationId xmlns:a16="http://schemas.microsoft.com/office/drawing/2014/main" id="{12139BC9-A352-4E42-AD5F-0EB59C8C9A02}"/>
                  </a:ext>
                </a:extLst>
              </p:cNvPr>
              <p:cNvSpPr>
                <a:spLocks noGrp="1" noRot="1" noChangeAspect="1" noMove="1" noResize="1" noEditPoints="1" noAdjustHandles="1" noChangeArrowheads="1" noChangeShapeType="1" noTextEdit="1"/>
              </p:cNvSpPr>
              <p:nvPr>
                <p:ph idx="1"/>
              </p:nvPr>
            </p:nvSpPr>
            <p:spPr>
              <a:blipFill>
                <a:blip r:embed="rId3"/>
                <a:stretch>
                  <a:fillRect l="-1217" r="-139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26626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C7BA72-A69E-468F-B635-4D4544D3617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a:t>
            </a:r>
            <a:r>
              <a:rPr lang="en-US" altLang="zh-TW" b="0" i="0" dirty="0">
                <a:effectLst/>
                <a:latin typeface="Times New Roman" panose="02020603050405020304" pitchFamily="18" charset="0"/>
                <a:cs typeface="Times New Roman" panose="02020603050405020304" pitchFamily="18" charset="0"/>
              </a:rPr>
              <a:t>reated random DAGs set</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DC22012C-6120-4886-8E50-777354EA840D}"/>
                  </a:ext>
                </a:extLst>
              </p:cNvPr>
              <p:cNvSpPr>
                <a:spLocks noGrp="1"/>
              </p:cNvSpPr>
              <p:nvPr>
                <p:ph idx="1"/>
              </p:nvPr>
            </p:nvSpPr>
            <p:spPr/>
            <p:txBody>
              <a:bodyPr/>
              <a:lstStyle/>
              <a:p>
                <a:r>
                  <a:rPr lang="en-US" altLang="zh-TW" b="0" i="0" dirty="0">
                    <a:solidFill>
                      <a:schemeClr val="tx1"/>
                    </a:solidFill>
                    <a:effectLst/>
                  </a:rPr>
                  <a:t>2000 application DAGs</a:t>
                </a:r>
                <a:endParaRPr lang="zh-TW" altLang="en-US" dirty="0">
                  <a:solidFill>
                    <a:schemeClr val="tx1"/>
                  </a:solidFill>
                </a:endParaRPr>
              </a:p>
              <a:p>
                <a:r>
                  <a:rPr lang="en-US" altLang="zh-TW" dirty="0">
                    <a:solidFill>
                      <a:schemeClr val="tx1"/>
                    </a:solidFill>
                  </a:rPr>
                  <a:t>N</a:t>
                </a:r>
                <a:r>
                  <a:rPr lang="en-US" altLang="zh-TW" b="0" i="0" dirty="0">
                    <a:solidFill>
                      <a:schemeClr val="tx1"/>
                    </a:solidFill>
                    <a:effectLst/>
                  </a:rPr>
                  <a:t>umbers of processors: 2,4,6,8</a:t>
                </a:r>
              </a:p>
              <a:p>
                <a:r>
                  <a:rPr lang="en-US" altLang="zh-TW" dirty="0">
                    <a:solidFill>
                      <a:schemeClr val="tx1"/>
                    </a:solidFill>
                  </a:rPr>
                  <a:t>Nodes sizes: 20,40,60,80,100</a:t>
                </a:r>
              </a:p>
              <a:p>
                <a:r>
                  <a:rPr lang="en-US" altLang="zh-TW" dirty="0">
                    <a:solidFill>
                      <a:schemeClr val="tx1"/>
                    </a:solidFill>
                  </a:rPr>
                  <a:t>CCR values: 0.1, 0.5, 1, 2, 5</a:t>
                </a:r>
              </a:p>
              <a:p>
                <a14:m>
                  <m:oMath xmlns:m="http://schemas.openxmlformats.org/officeDocument/2006/math">
                    <m:r>
                      <m:rPr>
                        <m:sty m:val="p"/>
                      </m:rPr>
                      <a:rPr lang="zh-TW" altLang="en-US" i="0" smtClean="0">
                        <a:solidFill>
                          <a:schemeClr val="tx1"/>
                        </a:solidFill>
                        <a:latin typeface="Cambria Math" panose="02040503050406030204" pitchFamily="18" charset="0"/>
                      </a:rPr>
                      <m:t>α</m:t>
                    </m:r>
                  </m:oMath>
                </a14:m>
                <a:r>
                  <a:rPr lang="en-US" altLang="zh-TW" dirty="0">
                    <a:solidFill>
                      <a:schemeClr val="tx1"/>
                    </a:solidFill>
                  </a:rPr>
                  <a:t> values: 0.5, 1, 2, 5</a:t>
                </a:r>
              </a:p>
              <a:p>
                <a:r>
                  <a:rPr lang="en-US" altLang="zh-TW" dirty="0">
                    <a:solidFill>
                      <a:schemeClr val="tx1"/>
                    </a:solidFill>
                  </a:rPr>
                  <a:t>h values: 0.1, 0.2, 0.4, 0.6, 0.8</a:t>
                </a:r>
              </a:p>
              <a:p>
                <a:endParaRPr lang="zh-TW" altLang="en-US" dirty="0">
                  <a:solidFill>
                    <a:schemeClr val="tx1"/>
                  </a:solidFill>
                </a:endParaRPr>
              </a:p>
            </p:txBody>
          </p:sp>
        </mc:Choice>
        <mc:Fallback>
          <p:sp>
            <p:nvSpPr>
              <p:cNvPr id="3" name="內容版面配置區 2">
                <a:extLst>
                  <a:ext uri="{FF2B5EF4-FFF2-40B4-BE49-F238E27FC236}">
                    <a16:creationId xmlns:a16="http://schemas.microsoft.com/office/drawing/2014/main" id="{DC22012C-6120-4886-8E50-777354EA840D}"/>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96670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E86B64-35DF-47DD-8393-5B9CF4F661A5}"/>
              </a:ext>
            </a:extLst>
          </p:cNvPr>
          <p:cNvSpPr>
            <a:spLocks noGrp="1"/>
          </p:cNvSpPr>
          <p:nvPr>
            <p:ph type="title"/>
          </p:nvPr>
        </p:nvSpPr>
        <p:spPr/>
        <p:txBody>
          <a:bodyPr/>
          <a:lstStyle/>
          <a:p>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7394BAAB-B277-4016-8B27-12228D9D63B0}"/>
                  </a:ext>
                </a:extLst>
              </p:cNvPr>
              <p:cNvSpPr>
                <a:spLocks noGrp="1"/>
              </p:cNvSpPr>
              <p:nvPr>
                <p:ph idx="1"/>
              </p:nvPr>
            </p:nvSpPr>
            <p:spPr>
              <a:xfrm>
                <a:off x="524975" y="1690688"/>
                <a:ext cx="11667025" cy="4351338"/>
              </a:xfrm>
            </p:spPr>
            <p:txBody>
              <a:bodyPr/>
              <a:lstStyle/>
              <a:p>
                <a:pPr marL="0" indent="0">
                  <a:buNone/>
                </a:pPr>
                <a:r>
                  <a:rPr lang="en-US" altLang="zh-TW" b="0" i="0" dirty="0">
                    <a:solidFill>
                      <a:schemeClr val="tx1"/>
                    </a:solidFill>
                    <a:effectLst/>
                  </a:rPr>
                  <a:t>Twenty values of </a:t>
                </a:r>
                <a14:m>
                  <m:oMath xmlns:m="http://schemas.openxmlformats.org/officeDocument/2006/math">
                    <m:sSub>
                      <m:sSubPr>
                        <m:ctrlPr>
                          <a:rPr lang="en-US" altLang="zh-TW" i="1" dirty="0">
                            <a:solidFill>
                              <a:schemeClr val="tx1"/>
                            </a:solidFill>
                            <a:latin typeface="Cambria Math" panose="02040503050406030204" pitchFamily="18" charset="0"/>
                          </a:rPr>
                        </m:ctrlPr>
                      </m:sSubPr>
                      <m:e>
                        <m:r>
                          <a:rPr lang="en-US" altLang="zh-TW" b="0" i="1" dirty="0" smtClean="0">
                            <a:solidFill>
                              <a:schemeClr val="tx1"/>
                            </a:solidFill>
                            <a:latin typeface="Cambria Math" panose="02040503050406030204" pitchFamily="18" charset="0"/>
                          </a:rPr>
                          <m:t>𝑃</m:t>
                        </m:r>
                      </m:e>
                      <m:sub>
                        <m:r>
                          <a:rPr lang="en-US" altLang="zh-TW" b="0" i="1" dirty="0" smtClean="0">
                            <a:solidFill>
                              <a:schemeClr val="tx1"/>
                            </a:solidFill>
                            <a:latin typeface="Cambria Math" panose="02040503050406030204" pitchFamily="18" charset="0"/>
                          </a:rPr>
                          <m:t>𝑚</m:t>
                        </m:r>
                      </m:sub>
                    </m:sSub>
                  </m:oMath>
                </a14:m>
                <a:r>
                  <a:rPr lang="en-US" altLang="zh-TW" b="0" i="0" dirty="0">
                    <a:solidFill>
                      <a:schemeClr val="tx1"/>
                    </a:solidFill>
                    <a:effectLst/>
                  </a:rPr>
                  <a:t> and </a:t>
                </a:r>
                <a:r>
                  <a:rPr lang="en-US" altLang="zh-TW" dirty="0">
                    <a:solidFill>
                      <a:schemeClr val="tx1"/>
                    </a:solidFill>
                  </a:rPr>
                  <a:t> </a:t>
                </a:r>
                <a14:m>
                  <m:oMath xmlns:m="http://schemas.openxmlformats.org/officeDocument/2006/math">
                    <m:sSub>
                      <m:sSubPr>
                        <m:ctrlPr>
                          <a:rPr lang="en-US" altLang="zh-TW" i="1" dirty="0">
                            <a:solidFill>
                              <a:schemeClr val="tx1"/>
                            </a:solidFill>
                            <a:latin typeface="Cambria Math" panose="02040503050406030204" pitchFamily="18" charset="0"/>
                          </a:rPr>
                        </m:ctrlPr>
                      </m:sSubPr>
                      <m:e>
                        <m:r>
                          <a:rPr lang="en-US" altLang="zh-TW" b="0" i="1" dirty="0" smtClean="0">
                            <a:solidFill>
                              <a:schemeClr val="tx1"/>
                            </a:solidFill>
                            <a:latin typeface="Cambria Math" panose="02040503050406030204" pitchFamily="18" charset="0"/>
                          </a:rPr>
                          <m:t>𝑃</m:t>
                        </m:r>
                      </m:e>
                      <m:sub>
                        <m:r>
                          <a:rPr lang="en-US" altLang="zh-TW" b="0" i="1" dirty="0" smtClean="0">
                            <a:solidFill>
                              <a:schemeClr val="tx1"/>
                            </a:solidFill>
                            <a:latin typeface="Cambria Math" panose="02040503050406030204" pitchFamily="18" charset="0"/>
                          </a:rPr>
                          <m:t>𝑐</m:t>
                        </m:r>
                      </m:sub>
                    </m:sSub>
                    <m:r>
                      <a:rPr lang="en-US" altLang="zh-TW" i="1" dirty="0">
                        <a:solidFill>
                          <a:schemeClr val="tx1"/>
                        </a:solidFill>
                        <a:latin typeface="Cambria Math" panose="02040503050406030204" pitchFamily="18" charset="0"/>
                      </a:rPr>
                      <m:t> </m:t>
                    </m:r>
                  </m:oMath>
                </a14:m>
                <a:r>
                  <a:rPr lang="en-US" altLang="zh-TW" b="0" i="0" dirty="0">
                    <a:solidFill>
                      <a:schemeClr val="tx1"/>
                    </a:solidFill>
                    <a:effectLst/>
                  </a:rPr>
                  <a:t> are tested, varying from 0.05 to 1.00 with an increment of 0.05. </a:t>
                </a:r>
              </a:p>
              <a:p>
                <a:pPr marL="0" indent="0">
                  <a:buNone/>
                </a:pPr>
                <a:r>
                  <a:rPr lang="en-US" altLang="zh-TW" b="0" i="0" dirty="0">
                    <a:solidFill>
                      <a:schemeClr val="tx1"/>
                    </a:solidFill>
                    <a:effectLst/>
                  </a:rPr>
                  <a:t>Ten values of number of generations are tested, varying from 5 to 50 with an increment of 5.</a:t>
                </a:r>
              </a:p>
              <a:p>
                <a:pPr marL="0" indent="0">
                  <a:buNone/>
                </a:pPr>
                <a:r>
                  <a:rPr lang="en-US" altLang="zh-TW" b="0" i="0" dirty="0">
                    <a:solidFill>
                      <a:schemeClr val="tx1"/>
                    </a:solidFill>
                    <a:effectLst/>
                  </a:rPr>
                  <a:t> The population size is varied from 10 to 50 with an increment of 5</a:t>
                </a:r>
              </a:p>
              <a:p>
                <a:endParaRPr lang="en-US" altLang="zh-TW" dirty="0">
                  <a:solidFill>
                    <a:schemeClr val="tx1"/>
                  </a:solidFill>
                </a:endParaRPr>
              </a:p>
              <a:p>
                <a:r>
                  <a:rPr lang="en-US" altLang="zh-TW" b="0" i="0" dirty="0">
                    <a:solidFill>
                      <a:schemeClr val="tx1"/>
                    </a:solidFill>
                    <a:effectLst/>
                  </a:rPr>
                  <a:t>Final </a:t>
                </a:r>
                <a14:m>
                  <m:oMath xmlns:m="http://schemas.openxmlformats.org/officeDocument/2006/math">
                    <m:sSub>
                      <m:sSubPr>
                        <m:ctrlPr>
                          <a:rPr lang="en-US" altLang="zh-TW" i="1" dirty="0" smtClean="0">
                            <a:solidFill>
                              <a:schemeClr val="tx1"/>
                            </a:solidFill>
                            <a:latin typeface="Cambria Math" panose="02040503050406030204" pitchFamily="18" charset="0"/>
                          </a:rPr>
                        </m:ctrlPr>
                      </m:sSubPr>
                      <m:e>
                        <m:r>
                          <a:rPr lang="en-US" altLang="zh-TW" b="0" i="1" dirty="0" smtClean="0">
                            <a:solidFill>
                              <a:schemeClr val="tx1"/>
                            </a:solidFill>
                            <a:latin typeface="Cambria Math" panose="02040503050406030204" pitchFamily="18" charset="0"/>
                          </a:rPr>
                          <m:t>𝑃</m:t>
                        </m:r>
                      </m:e>
                      <m:sub>
                        <m:r>
                          <a:rPr lang="en-US" altLang="zh-TW" b="0" i="1" dirty="0" smtClean="0">
                            <a:solidFill>
                              <a:schemeClr val="tx1"/>
                            </a:solidFill>
                            <a:latin typeface="Cambria Math" panose="02040503050406030204" pitchFamily="18" charset="0"/>
                          </a:rPr>
                          <m:t>𝑐</m:t>
                        </m:r>
                      </m:sub>
                    </m:sSub>
                    <m:r>
                      <a:rPr lang="en-US" altLang="zh-TW" i="1" dirty="0">
                        <a:solidFill>
                          <a:schemeClr val="tx1"/>
                        </a:solidFill>
                        <a:latin typeface="Cambria Math" panose="02040503050406030204" pitchFamily="18" charset="0"/>
                      </a:rPr>
                      <m:t> </m:t>
                    </m:r>
                  </m:oMath>
                </a14:m>
                <a:r>
                  <a:rPr lang="en-US" altLang="zh-TW" b="0" i="0" dirty="0">
                    <a:solidFill>
                      <a:schemeClr val="tx1"/>
                    </a:solidFill>
                    <a:effectLst/>
                  </a:rPr>
                  <a:t> , </a:t>
                </a:r>
                <a14:m>
                  <m:oMath xmlns:m="http://schemas.openxmlformats.org/officeDocument/2006/math">
                    <m:sSub>
                      <m:sSubPr>
                        <m:ctrlPr>
                          <a:rPr lang="en-US" altLang="zh-TW" i="1" dirty="0">
                            <a:solidFill>
                              <a:schemeClr val="tx1"/>
                            </a:solidFill>
                            <a:latin typeface="Cambria Math" panose="02040503050406030204" pitchFamily="18" charset="0"/>
                          </a:rPr>
                        </m:ctrlPr>
                      </m:sSubPr>
                      <m:e>
                        <m:r>
                          <a:rPr lang="en-US" altLang="zh-TW" i="1" dirty="0">
                            <a:solidFill>
                              <a:schemeClr val="tx1"/>
                            </a:solidFill>
                            <a:latin typeface="Cambria Math" panose="02040503050406030204" pitchFamily="18" charset="0"/>
                          </a:rPr>
                          <m:t>𝑃</m:t>
                        </m:r>
                      </m:e>
                      <m:sub>
                        <m:r>
                          <a:rPr lang="en-US" altLang="zh-TW" i="1" dirty="0">
                            <a:solidFill>
                              <a:schemeClr val="tx1"/>
                            </a:solidFill>
                            <a:latin typeface="Cambria Math" panose="02040503050406030204" pitchFamily="18" charset="0"/>
                          </a:rPr>
                          <m:t>𝑚</m:t>
                        </m:r>
                      </m:sub>
                    </m:sSub>
                  </m:oMath>
                </a14:m>
                <a:r>
                  <a:rPr lang="en-US" altLang="zh-TW" dirty="0">
                    <a:solidFill>
                      <a:schemeClr val="tx1"/>
                    </a:solidFill>
                  </a:rPr>
                  <a:t> , population size, number of generation are </a:t>
                </a:r>
                <a:r>
                  <a:rPr lang="en-US" altLang="zh-TW" b="0" i="0" dirty="0">
                    <a:solidFill>
                      <a:schemeClr val="tx1"/>
                    </a:solidFill>
                    <a:effectLst/>
                  </a:rPr>
                  <a:t>set to 0.7, 0.5, 25 and 20,</a:t>
                </a:r>
                <a:endParaRPr lang="zh-TW" altLang="en-US" dirty="0">
                  <a:solidFill>
                    <a:schemeClr val="tx1"/>
                  </a:solidFill>
                </a:endParaRPr>
              </a:p>
            </p:txBody>
          </p:sp>
        </mc:Choice>
        <mc:Fallback>
          <p:sp>
            <p:nvSpPr>
              <p:cNvPr id="3" name="內容版面配置區 2">
                <a:extLst>
                  <a:ext uri="{FF2B5EF4-FFF2-40B4-BE49-F238E27FC236}">
                    <a16:creationId xmlns:a16="http://schemas.microsoft.com/office/drawing/2014/main" id="{7394BAAB-B277-4016-8B27-12228D9D63B0}"/>
                  </a:ext>
                </a:extLst>
              </p:cNvPr>
              <p:cNvSpPr>
                <a:spLocks noGrp="1" noRot="1" noChangeAspect="1" noMove="1" noResize="1" noEditPoints="1" noAdjustHandles="1" noChangeArrowheads="1" noChangeShapeType="1" noTextEdit="1"/>
              </p:cNvSpPr>
              <p:nvPr>
                <p:ph idx="1"/>
              </p:nvPr>
            </p:nvSpPr>
            <p:spPr>
              <a:xfrm>
                <a:off x="524975" y="1690688"/>
                <a:ext cx="11667025" cy="4351338"/>
              </a:xfrm>
              <a:blipFill>
                <a:blip r:embed="rId2"/>
                <a:stretch>
                  <a:fillRect l="-1045" t="-2381" r="-1463"/>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0994DF42-0C09-4065-BB89-82DE9AD9C286}"/>
              </a:ext>
            </a:extLst>
          </p:cNvPr>
          <p:cNvPicPr>
            <a:picLocks noChangeAspect="1"/>
          </p:cNvPicPr>
          <p:nvPr/>
        </p:nvPicPr>
        <p:blipFill>
          <a:blip r:embed="rId3"/>
          <a:stretch>
            <a:fillRect/>
          </a:stretch>
        </p:blipFill>
        <p:spPr>
          <a:xfrm>
            <a:off x="9808659" y="704056"/>
            <a:ext cx="1733550" cy="647700"/>
          </a:xfrm>
          <a:prstGeom prst="rect">
            <a:avLst/>
          </a:prstGeom>
        </p:spPr>
      </p:pic>
    </p:spTree>
    <p:extLst>
      <p:ext uri="{BB962C8B-B14F-4D97-AF65-F5344CB8AC3E}">
        <p14:creationId xmlns:p14="http://schemas.microsoft.com/office/powerpoint/2010/main" val="1734681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28CC03-FEE6-434F-B65E-BD8E5D8CDC01}"/>
              </a:ext>
            </a:extLst>
          </p:cNvPr>
          <p:cNvSpPr>
            <a:spLocks noGrp="1"/>
          </p:cNvSpPr>
          <p:nvPr>
            <p:ph type="title"/>
          </p:nvPr>
        </p:nvSpPr>
        <p:spPr/>
        <p:txBody>
          <a:bodyPr>
            <a:normAutofit/>
          </a:bodyPr>
          <a:lstStyle/>
          <a:p>
            <a:r>
              <a:rPr lang="en-US" altLang="zh-TW" sz="2800" b="0" i="0" dirty="0">
                <a:solidFill>
                  <a:srgbClr val="2E2E2E"/>
                </a:solidFill>
                <a:effectLst/>
                <a:latin typeface="Times New Roman" panose="02020603050405020304" pitchFamily="18" charset="0"/>
                <a:cs typeface="Times New Roman" panose="02020603050405020304" pitchFamily="18" charset="0"/>
              </a:rPr>
              <a:t> (d) LDCP, (e) DLS, (f) HEFT, and (g) H2GS algorithms.</a:t>
            </a:r>
            <a:endParaRPr lang="zh-TW" altLang="en-US" sz="2800"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8FB617A5-9479-4DFF-8197-8A7276745A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3683" y="1405943"/>
            <a:ext cx="5648892" cy="5262486"/>
          </a:xfrm>
        </p:spPr>
      </p:pic>
    </p:spTree>
    <p:extLst>
      <p:ext uri="{BB962C8B-B14F-4D97-AF65-F5344CB8AC3E}">
        <p14:creationId xmlns:p14="http://schemas.microsoft.com/office/powerpoint/2010/main" val="859037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6279A580-46BF-435A-B28B-C5D807094A0D}"/>
              </a:ext>
            </a:extLst>
          </p:cNvPr>
          <p:cNvPicPr>
            <a:picLocks noChangeAspect="1"/>
          </p:cNvPicPr>
          <p:nvPr/>
        </p:nvPicPr>
        <p:blipFill rotWithShape="1">
          <a:blip r:embed="rId2">
            <a:extLst>
              <a:ext uri="{28A0092B-C50C-407E-A947-70E740481C1C}">
                <a14:useLocalDpi xmlns:a14="http://schemas.microsoft.com/office/drawing/2010/main" val="0"/>
              </a:ext>
            </a:extLst>
          </a:blip>
          <a:srcRect t="-1" r="-1591" b="-1591"/>
          <a:stretch/>
        </p:blipFill>
        <p:spPr>
          <a:xfrm>
            <a:off x="1953321" y="476199"/>
            <a:ext cx="7547517" cy="5905602"/>
          </a:xfrm>
          <a:prstGeom prst="rect">
            <a:avLst/>
          </a:prstGeom>
        </p:spPr>
      </p:pic>
    </p:spTree>
    <p:extLst>
      <p:ext uri="{BB962C8B-B14F-4D97-AF65-F5344CB8AC3E}">
        <p14:creationId xmlns:p14="http://schemas.microsoft.com/office/powerpoint/2010/main" val="3853919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FBB690-CC73-4C45-A847-00A21A2E6CF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3278918-6AF9-4670-A49A-752F4D1B9AA3}"/>
              </a:ext>
            </a:extLst>
          </p:cNvPr>
          <p:cNvSpPr>
            <a:spLocks noGrp="1"/>
          </p:cNvSpPr>
          <p:nvPr>
            <p:ph idx="1"/>
          </p:nvPr>
        </p:nvSpPr>
        <p:spPr/>
        <p:txBody>
          <a:bodyPr/>
          <a:lstStyle/>
          <a:p>
            <a:endParaRPr lang="zh-TW" altLang="en-US"/>
          </a:p>
        </p:txBody>
      </p:sp>
      <p:pic>
        <p:nvPicPr>
          <p:cNvPr id="4" name="內容版面配置區 4">
            <a:extLst>
              <a:ext uri="{FF2B5EF4-FFF2-40B4-BE49-F238E27FC236}">
                <a16:creationId xmlns:a16="http://schemas.microsoft.com/office/drawing/2014/main" id="{AC691590-D90D-43D5-9B37-3377F4DD35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4917" y="681037"/>
            <a:ext cx="7046420" cy="5480550"/>
          </a:xfrm>
          <a:prstGeom prst="rect">
            <a:avLst/>
          </a:prstGeom>
        </p:spPr>
      </p:pic>
    </p:spTree>
    <p:extLst>
      <p:ext uri="{BB962C8B-B14F-4D97-AF65-F5344CB8AC3E}">
        <p14:creationId xmlns:p14="http://schemas.microsoft.com/office/powerpoint/2010/main" val="128213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3DCC4-B478-4F87-87DB-40AC404991A0}"/>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247D269B-7963-4612-9CE6-916AAE2AAC9F}"/>
              </a:ext>
            </a:extLst>
          </p:cNvPr>
          <p:cNvSpPr>
            <a:spLocks noGrp="1"/>
          </p:cNvSpPr>
          <p:nvPr>
            <p:ph idx="1"/>
          </p:nvPr>
        </p:nvSpPr>
        <p:spPr/>
        <p:txBody>
          <a:bodyPr/>
          <a:lstStyle/>
          <a:p>
            <a:r>
              <a:rPr lang="en-US" altLang="zh-TW" dirty="0"/>
              <a:t> Longest Dynamic Critical Path algorithm generates a near-optimal task schedule</a:t>
            </a:r>
          </a:p>
          <a:p>
            <a:r>
              <a:rPr lang="en-US" altLang="zh-TW" dirty="0"/>
              <a:t>Designed Genetic Algorithm for Scheduling</a:t>
            </a:r>
          </a:p>
          <a:p>
            <a:pPr marL="0" indent="0">
              <a:buNone/>
            </a:pPr>
            <a:r>
              <a:rPr lang="en-US" altLang="zh-TW" dirty="0"/>
              <a:t>	A new mapping procedure is developed to map every possible chromosome in the search space into a valid task schedule. </a:t>
            </a:r>
          </a:p>
          <a:p>
            <a:pPr marL="0" indent="0">
              <a:buNone/>
            </a:pPr>
            <a:r>
              <a:rPr lang="en-US" altLang="zh-TW" dirty="0"/>
              <a:t>	A set of customized genetic operators are introduced to further optimize the schedule received from the LDCP algorithm. </a:t>
            </a:r>
            <a:endParaRPr lang="zh-TW" altLang="en-US" dirty="0"/>
          </a:p>
        </p:txBody>
      </p:sp>
    </p:spTree>
    <p:extLst>
      <p:ext uri="{BB962C8B-B14F-4D97-AF65-F5344CB8AC3E}">
        <p14:creationId xmlns:p14="http://schemas.microsoft.com/office/powerpoint/2010/main" val="2214784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867E12-1FE3-49CA-9461-FC01E817EE05}"/>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3B4CDA86-02C8-4B44-8D16-0D7D48CA498A}"/>
              </a:ext>
            </a:extLst>
          </p:cNvPr>
          <p:cNvSpPr>
            <a:spLocks noGrp="1"/>
          </p:cNvSpPr>
          <p:nvPr>
            <p:ph idx="1"/>
          </p:nvPr>
        </p:nvSpPr>
        <p:spPr/>
        <p:txBody>
          <a:bodyPr/>
          <a:lstStyle/>
          <a:p>
            <a:pPr marL="0" indent="0">
              <a:buNone/>
            </a:pPr>
            <a:r>
              <a:rPr lang="en-US" altLang="zh-TW" dirty="0"/>
              <a:t>Thanks for listening</a:t>
            </a:r>
            <a:endParaRPr lang="zh-TW" altLang="en-US" dirty="0"/>
          </a:p>
        </p:txBody>
      </p:sp>
    </p:spTree>
    <p:extLst>
      <p:ext uri="{BB962C8B-B14F-4D97-AF65-F5344CB8AC3E}">
        <p14:creationId xmlns:p14="http://schemas.microsoft.com/office/powerpoint/2010/main" val="52545361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報paper範本" id="{69A26A74-F2D4-4C4E-8979-71B91039FD65}" vid="{BF5BF2FF-57E1-4805-99F6-A663F732E57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報paper範本</Template>
  <TotalTime>1110</TotalTime>
  <Words>1533</Words>
  <Application>Microsoft Office PowerPoint</Application>
  <PresentationFormat>寬螢幕</PresentationFormat>
  <Paragraphs>240</Paragraphs>
  <Slides>25</Slides>
  <Notes>4</Notes>
  <HiddenSlides>8</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25</vt:i4>
      </vt:variant>
    </vt:vector>
  </HeadingPairs>
  <TitlesOfParts>
    <vt:vector size="32" baseType="lpstr">
      <vt:lpstr>NexusSerif</vt:lpstr>
      <vt:lpstr>標楷體</vt:lpstr>
      <vt:lpstr>Arial</vt:lpstr>
      <vt:lpstr>Calibri</vt:lpstr>
      <vt:lpstr>Cambria Math</vt:lpstr>
      <vt:lpstr>Times New Roman</vt:lpstr>
      <vt:lpstr>Office 佈景主題</vt:lpstr>
      <vt:lpstr>A hybrid heuristic–genetic algorithm for task scheduling in heterogeneous processor networks </vt:lpstr>
      <vt:lpstr>Abstract</vt:lpstr>
      <vt:lpstr>Hybrid Heuristic–Genetic Scheduling (H2GS) algorithm </vt:lpstr>
      <vt:lpstr>The Longest Dynamic Critical Path (LDCP) algorithm </vt:lpstr>
      <vt:lpstr>PowerPoint 簡報</vt:lpstr>
      <vt:lpstr>PowerPoint 簡報</vt:lpstr>
      <vt:lpstr>PowerPoint 簡報</vt:lpstr>
      <vt:lpstr> Genetic algorithm for scheduling (GAS) </vt:lpstr>
      <vt:lpstr>Schedule encoding and Chromosome decoding</vt:lpstr>
      <vt:lpstr>Fitness evaluation and selection</vt:lpstr>
      <vt:lpstr>Swap crossover</vt:lpstr>
      <vt:lpstr>PowerPoint 簡報</vt:lpstr>
      <vt:lpstr>population</vt:lpstr>
      <vt:lpstr>PowerPoint 簡報</vt:lpstr>
      <vt:lpstr>crossover</vt:lpstr>
      <vt:lpstr>Mutation rate</vt:lpstr>
      <vt:lpstr>Termination criterion</vt:lpstr>
      <vt:lpstr>Experiments</vt:lpstr>
      <vt:lpstr>Created random DAGs set</vt:lpstr>
      <vt:lpstr>PowerPoint 簡報</vt:lpstr>
      <vt:lpstr> (d) LDCP, (e) DLS, (f) HEFT, and (g) H2GS algorithms.</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hybrid heuristic–genetic algorithm for task scheduling in heterogeneous processor networks </dc:title>
  <dc:creator>jj wu</dc:creator>
  <cp:lastModifiedBy>jj wu</cp:lastModifiedBy>
  <cp:revision>9</cp:revision>
  <dcterms:created xsi:type="dcterms:W3CDTF">2022-01-10T16:00:35Z</dcterms:created>
  <dcterms:modified xsi:type="dcterms:W3CDTF">2022-01-11T10:32:22Z</dcterms:modified>
</cp:coreProperties>
</file>