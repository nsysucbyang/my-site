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8"/>
  </p:notesMasterIdLst>
  <p:sldIdLst>
    <p:sldId id="256" r:id="rId2"/>
    <p:sldId id="261" r:id="rId3"/>
    <p:sldId id="257" r:id="rId4"/>
    <p:sldId id="258" r:id="rId5"/>
    <p:sldId id="262" r:id="rId6"/>
    <p:sldId id="263" r:id="rId7"/>
    <p:sldId id="264" r:id="rId8"/>
    <p:sldId id="259" r:id="rId9"/>
    <p:sldId id="260" r:id="rId10"/>
    <p:sldId id="265" r:id="rId11"/>
    <p:sldId id="266" r:id="rId12"/>
    <p:sldId id="267" r:id="rId13"/>
    <p:sldId id="269" r:id="rId14"/>
    <p:sldId id="268" r:id="rId15"/>
    <p:sldId id="281" r:id="rId16"/>
    <p:sldId id="272"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50"/>
  </p:normalViewPr>
  <p:slideViewPr>
    <p:cSldViewPr snapToGrid="0" snapToObjects="1">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2022/1/11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2022/1/11</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2022/1/11</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2022/1/11</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2022/1/11</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2022/1/11</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2022/1/11</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2022/1/11</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2022/1/11</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2022/1/11</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2022/1/11</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2022/1/11</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6512126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2022/1/11</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685800" y="1122363"/>
            <a:ext cx="10820400" cy="2387600"/>
          </a:xfrm>
        </p:spPr>
        <p:txBody>
          <a:bodyPr>
            <a:normAutofit fontScale="90000"/>
          </a:bodyPr>
          <a:lstStyle/>
          <a:p>
            <a:r>
              <a:rPr kumimoji="1" lang="en-US" altLang="zh-TW" dirty="0"/>
              <a:t>A Variable Iterated Greedy Algorithm for the Traveling Salesman Problem with Time Windows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err="1">
                <a:latin typeface="Times New Roman" panose="02020603050405020304" pitchFamily="18" charset="0"/>
                <a:cs typeface="Times New Roman" panose="02020603050405020304" pitchFamily="18" charset="0"/>
              </a:rPr>
              <a:t>Korhan</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Karabulut</a:t>
            </a:r>
            <a:r>
              <a:rPr kumimoji="1" lang="en-US" altLang="zh-TW" dirty="0">
                <a:latin typeface="Times New Roman" panose="02020603050405020304" pitchFamily="18" charset="0"/>
                <a:cs typeface="Times New Roman" panose="02020603050405020304" pitchFamily="18" charset="0"/>
              </a:rPr>
              <a:t>, M. </a:t>
            </a:r>
            <a:r>
              <a:rPr kumimoji="1" lang="en-US" altLang="zh-TW" dirty="0" err="1">
                <a:latin typeface="Times New Roman" panose="02020603050405020304" pitchFamily="18" charset="0"/>
                <a:cs typeface="Times New Roman" panose="02020603050405020304" pitchFamily="18" charset="0"/>
              </a:rPr>
              <a:t>Fatih</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Tasgetiren</a:t>
            </a:r>
            <a:endParaRPr kumimoji="1" lang="en-US"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Information Sciences</a:t>
            </a:r>
            <a:r>
              <a:rPr kumimoji="1" lang="en" altLang="zh-TW" dirty="0">
                <a:latin typeface="Times New Roman" panose="02020603050405020304" pitchFamily="18" charset="0"/>
                <a:cs typeface="Times New Roman" panose="02020603050405020304" pitchFamily="18" charset="0"/>
              </a:rPr>
              <a:t>, 2014</a:t>
            </a:r>
          </a:p>
          <a:p>
            <a:r>
              <a:rPr kumimoji="1" lang="en" altLang="zh-TW" dirty="0">
                <a:latin typeface="Times New Roman" panose="02020603050405020304" pitchFamily="18" charset="0"/>
                <a:cs typeface="Times New Roman" panose="02020603050405020304" pitchFamily="18" charset="0"/>
              </a:rPr>
              <a:t>Vol. 279, pp. 383-395</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Jan. </a:t>
            </a:r>
            <a:r>
              <a:rPr kumimoji="1" lang="en" altLang="zh-TW">
                <a:latin typeface="Times New Roman" panose="02020603050405020304" pitchFamily="18" charset="0"/>
                <a:cs typeface="Times New Roman" panose="02020603050405020304" pitchFamily="18" charset="0"/>
              </a:rPr>
              <a:t>11, </a:t>
            </a:r>
            <a:r>
              <a:rPr kumimoji="1" lang="en" altLang="zh-TW" dirty="0">
                <a:latin typeface="Times New Roman" panose="02020603050405020304" pitchFamily="18" charset="0"/>
                <a:cs typeface="Times New Roman" panose="02020603050405020304" pitchFamily="18" charset="0"/>
              </a:rPr>
              <a:t>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1449844"/>
            <a:ext cx="10515600" cy="5176424"/>
          </a:xfrm>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This paper presents </a:t>
            </a:r>
            <a:r>
              <a:rPr kumimoji="1" lang="en-US" altLang="zh-TW" b="1" dirty="0">
                <a:latin typeface="Times New Roman" panose="02020603050405020304" pitchFamily="18" charset="0"/>
                <a:cs typeface="Times New Roman" panose="02020603050405020304" pitchFamily="18" charset="0"/>
              </a:rPr>
              <a:t>a variable iterated greedy algorithm </a:t>
            </a:r>
            <a:r>
              <a:rPr kumimoji="1" lang="en-US" altLang="zh-TW" dirty="0">
                <a:latin typeface="Times New Roman" panose="02020603050405020304" pitchFamily="18" charset="0"/>
                <a:cs typeface="Times New Roman" panose="02020603050405020304" pitchFamily="18" charset="0"/>
              </a:rPr>
              <a:t>for solving the traveling salesman problem with time windows (</a:t>
            </a:r>
            <a:r>
              <a:rPr kumimoji="1" lang="en-US" altLang="zh-TW" b="1" dirty="0">
                <a:latin typeface="Times New Roman" panose="02020603050405020304" pitchFamily="18" charset="0"/>
                <a:cs typeface="Times New Roman" panose="02020603050405020304" pitchFamily="18" charset="0"/>
              </a:rPr>
              <a:t>TSPTW</a:t>
            </a:r>
            <a:r>
              <a:rPr kumimoji="1" lang="en-US" altLang="zh-TW" dirty="0">
                <a:latin typeface="Times New Roman" panose="02020603050405020304" pitchFamily="18" charset="0"/>
                <a:cs typeface="Times New Roman" panose="02020603050405020304" pitchFamily="18" charset="0"/>
              </a:rPr>
              <a:t>) to identify a tour minimizing the total travel cost or the </a:t>
            </a:r>
            <a:r>
              <a:rPr kumimoji="1" lang="en-US" altLang="zh-TW" dirty="0" err="1">
                <a:latin typeface="Times New Roman" panose="02020603050405020304" pitchFamily="18" charset="0"/>
                <a:cs typeface="Times New Roman" panose="02020603050405020304" pitchFamily="18" charset="0"/>
              </a:rPr>
              <a:t>makespan</a:t>
            </a:r>
            <a:r>
              <a:rPr kumimoji="1" lang="en-US" altLang="zh-TW" dirty="0">
                <a:latin typeface="Times New Roman" panose="02020603050405020304" pitchFamily="18" charset="0"/>
                <a:cs typeface="Times New Roman" panose="02020603050405020304" pitchFamily="18" charset="0"/>
              </a:rPr>
              <a:t>, separately. The TSPTW has several practical applications in both production scheduling and logistic operations. The proposed algorithm basically relies on a greedy algorithm generating an increasing number of neighboring solutions through the use of the idea of neighborhood change in </a:t>
            </a:r>
            <a:r>
              <a:rPr kumimoji="1" lang="en-US" altLang="zh-TW" b="1" dirty="0">
                <a:latin typeface="Times New Roman" panose="02020603050405020304" pitchFamily="18" charset="0"/>
                <a:cs typeface="Times New Roman" panose="02020603050405020304" pitchFamily="18" charset="0"/>
              </a:rPr>
              <a:t>variable neighborhood search (VNS) algorithms</a:t>
            </a:r>
            <a:r>
              <a:rPr kumimoji="1" lang="en-US" altLang="zh-TW" dirty="0">
                <a:latin typeface="Times New Roman" panose="02020603050405020304" pitchFamily="18" charset="0"/>
                <a:cs typeface="Times New Roman" panose="02020603050405020304" pitchFamily="18" charset="0"/>
              </a:rPr>
              <a:t>. In other words, neighboring solutions are generated by </a:t>
            </a:r>
            <a:r>
              <a:rPr kumimoji="1" lang="en-US" altLang="zh-TW" b="1" dirty="0">
                <a:latin typeface="Times New Roman" panose="02020603050405020304" pitchFamily="18" charset="0"/>
                <a:cs typeface="Times New Roman" panose="02020603050405020304" pitchFamily="18" charset="0"/>
              </a:rPr>
              <a:t>destructing</a:t>
            </a:r>
            <a:r>
              <a:rPr kumimoji="1" lang="en-US" altLang="zh-TW" dirty="0">
                <a:latin typeface="Times New Roman" panose="02020603050405020304" pitchFamily="18" charset="0"/>
                <a:cs typeface="Times New Roman" panose="02020603050405020304" pitchFamily="18" charset="0"/>
              </a:rPr>
              <a:t> a solution component and </a:t>
            </a:r>
            <a:r>
              <a:rPr kumimoji="1" lang="en-US" altLang="zh-TW" b="1" dirty="0">
                <a:latin typeface="Times New Roman" panose="02020603050405020304" pitchFamily="18" charset="0"/>
                <a:cs typeface="Times New Roman" panose="02020603050405020304" pitchFamily="18" charset="0"/>
              </a:rPr>
              <a:t>reconstructing</a:t>
            </a:r>
            <a:r>
              <a:rPr kumimoji="1" lang="en-US" altLang="zh-TW" dirty="0">
                <a:latin typeface="Times New Roman" panose="02020603050405020304" pitchFamily="18" charset="0"/>
                <a:cs typeface="Times New Roman" panose="02020603050405020304" pitchFamily="18" charset="0"/>
              </a:rPr>
              <a:t> the solution again with variable destruction sizes. In addition, the proposed algorithm is hybridized with a VNS algorithm employing backward and forward 1_Opt local searches to further enhance the solution quality. </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15616642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The performance of the proposed algorithm was tested on several benchmark suites from the literature. Experimental results confirm that the proposed algorithm is either competitive to or even better than the best performing algorithms from the literature. Ultimately, new best-known solutions are obtained for 38 out of 125 problem instances of the recently proposed benchmark suite, whereas 15 out of 31 problem instances are also further improved for the </a:t>
            </a:r>
            <a:r>
              <a:rPr kumimoji="1" lang="en-US" altLang="zh-TW" dirty="0" err="1">
                <a:latin typeface="Times New Roman" panose="02020603050405020304" pitchFamily="18" charset="0"/>
                <a:cs typeface="Times New Roman" panose="02020603050405020304" pitchFamily="18" charset="0"/>
              </a:rPr>
              <a:t>makespan</a:t>
            </a:r>
            <a:r>
              <a:rPr kumimoji="1" lang="en-US" altLang="zh-TW" dirty="0">
                <a:latin typeface="Times New Roman" panose="02020603050405020304" pitchFamily="18" charset="0"/>
                <a:cs typeface="Times New Roman" panose="02020603050405020304" pitchFamily="18" charset="0"/>
              </a:rPr>
              <a:t> criterion.</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73669004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TSP with Time Windows (TSPTW)</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VIG_VNS Algorithm</a:t>
            </a:r>
          </a:p>
          <a:p>
            <a:pPr lvl="1"/>
            <a:r>
              <a:rPr kumimoji="1" lang="en-US" altLang="zh-TW" dirty="0">
                <a:latin typeface="Times New Roman" panose="02020603050405020304" pitchFamily="18" charset="0"/>
                <a:cs typeface="Times New Roman" panose="02020603050405020304" pitchFamily="18" charset="0"/>
              </a:rPr>
              <a:t>Variable Iterated Greedy Algorithm  (VIG)</a:t>
            </a:r>
          </a:p>
          <a:p>
            <a:pPr lvl="1"/>
            <a:r>
              <a:rPr kumimoji="1" lang="en-US" altLang="zh-TW" dirty="0">
                <a:latin typeface="Times New Roman" panose="02020603050405020304" pitchFamily="18" charset="0"/>
                <a:cs typeface="Times New Roman" panose="02020603050405020304" pitchFamily="18" charset="0"/>
              </a:rPr>
              <a:t>Variable Neighborhood Search (VNS)</a:t>
            </a:r>
          </a:p>
          <a:p>
            <a:pPr lvl="1"/>
            <a:r>
              <a:rPr kumimoji="1" lang="en-US" altLang="zh-TW" dirty="0">
                <a:latin typeface="Times New Roman" panose="02020603050405020304" pitchFamily="18" charset="0"/>
                <a:cs typeface="Times New Roman" panose="02020603050405020304" pitchFamily="18" charset="0"/>
              </a:rPr>
              <a:t>Superiority of Feasible Solutions (SF)</a:t>
            </a:r>
          </a:p>
          <a:p>
            <a:pPr lvl="1"/>
            <a:r>
              <a:rPr kumimoji="1" lang="en-US" altLang="zh-TW" dirty="0">
                <a:latin typeface="Times New Roman" panose="02020603050405020304" pitchFamily="18" charset="0"/>
                <a:cs typeface="Times New Roman" panose="02020603050405020304" pitchFamily="18" charset="0"/>
              </a:rPr>
              <a:t>Adaptive Penalty Approach</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 Results</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Tree>
    <p:extLst>
      <p:ext uri="{BB962C8B-B14F-4D97-AF65-F5344CB8AC3E}">
        <p14:creationId xmlns:p14="http://schemas.microsoft.com/office/powerpoint/2010/main" val="28601536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838200" y="3062174"/>
            <a:ext cx="10515600" cy="2359875"/>
          </a:xfrm>
        </p:spPr>
        <p:txBody>
          <a:bodyPr>
            <a:normAutofit/>
          </a:bodyPr>
          <a:lstStyle/>
          <a:p>
            <a:r>
              <a:rPr kumimoji="1" lang="en-US" altLang="zh-TW" dirty="0">
                <a:latin typeface="Times New Roman" panose="02020603050405020304" pitchFamily="18" charset="0"/>
                <a:cs typeface="Times New Roman" panose="02020603050405020304" pitchFamily="18" charset="0"/>
              </a:rPr>
              <a:t>A tour visiting each node once, starting and ending at the depot.</a:t>
            </a:r>
          </a:p>
          <a:p>
            <a:r>
              <a:rPr kumimoji="1" lang="en-US" altLang="zh-TW" dirty="0">
                <a:latin typeface="Times New Roman" panose="02020603050405020304" pitchFamily="18" charset="0"/>
                <a:cs typeface="Times New Roman" panose="02020603050405020304" pitchFamily="18" charset="0"/>
              </a:rPr>
              <a:t>Cost c(</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travel time (</a:t>
            </a:r>
            <a:r>
              <a:rPr kumimoji="1" lang="en-US" altLang="zh-TW" i="1" dirty="0" err="1">
                <a:latin typeface="Times New Roman" panose="02020603050405020304" pitchFamily="18" charset="0"/>
                <a:cs typeface="Times New Roman" panose="02020603050405020304" pitchFamily="18" charset="0"/>
              </a:rPr>
              <a:t>i</a:t>
            </a:r>
            <a:r>
              <a:rPr kumimoji="1" lang="en-US" altLang="zh-TW" dirty="0" err="1">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j</a:t>
            </a:r>
            <a:r>
              <a:rPr kumimoji="1" lang="en-US" altLang="zh-TW" dirty="0">
                <a:latin typeface="Times New Roman" panose="02020603050405020304" pitchFamily="18" charset="0"/>
                <a:cs typeface="Times New Roman" panose="02020603050405020304" pitchFamily="18" charset="0"/>
              </a:rPr>
              <a:t>) + a service time at customer </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A time window [</a:t>
            </a:r>
            <a:r>
              <a:rPr kumimoji="1" lang="en-US" altLang="zh-TW" i="1" dirty="0" err="1">
                <a:latin typeface="Times New Roman" panose="02020603050405020304" pitchFamily="18" charset="0"/>
                <a:cs typeface="Times New Roman" panose="02020603050405020304" pitchFamily="18" charset="0"/>
              </a:rPr>
              <a:t>e</a:t>
            </a:r>
            <a:r>
              <a:rPr kumimoji="1" lang="en-US" altLang="zh-TW" i="1" baseline="-25000"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i="1" dirty="0">
                <a:latin typeface="Times New Roman" panose="02020603050405020304" pitchFamily="18" charset="0"/>
                <a:cs typeface="Times New Roman" panose="02020603050405020304" pitchFamily="18" charset="0"/>
              </a:rPr>
              <a:t>l</a:t>
            </a:r>
            <a:r>
              <a:rPr kumimoji="1" lang="en-US" altLang="zh-TW" i="1"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 Customer </a:t>
            </a:r>
            <a:r>
              <a:rPr kumimoji="1" lang="en-US" altLang="zh-TW" i="1"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can't be serviced before </a:t>
            </a:r>
            <a:r>
              <a:rPr kumimoji="1" lang="en-US" altLang="zh-TW" i="1" dirty="0" err="1">
                <a:latin typeface="Times New Roman" panose="02020603050405020304" pitchFamily="18" charset="0"/>
                <a:cs typeface="Times New Roman" panose="02020603050405020304" pitchFamily="18" charset="0"/>
              </a:rPr>
              <a:t>e</a:t>
            </a:r>
            <a:r>
              <a:rPr kumimoji="1" lang="en-US" altLang="zh-TW" i="1" baseline="-25000" dirty="0" err="1">
                <a:latin typeface="Times New Roman" panose="02020603050405020304" pitchFamily="18" charset="0"/>
                <a:cs typeface="Times New Roman" panose="02020603050405020304" pitchFamily="18" charset="0"/>
              </a:rPr>
              <a:t>i</a:t>
            </a:r>
            <a:r>
              <a:rPr kumimoji="1" lang="en-US" altLang="zh-TW" i="1"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or visited later than </a:t>
            </a:r>
            <a:r>
              <a:rPr kumimoji="1" lang="en-US" altLang="zh-TW" i="1" dirty="0">
                <a:latin typeface="Times New Roman" panose="02020603050405020304" pitchFamily="18" charset="0"/>
                <a:cs typeface="Times New Roman" panose="02020603050405020304" pitchFamily="18" charset="0"/>
              </a:rPr>
              <a:t>l</a:t>
            </a:r>
            <a:r>
              <a:rPr kumimoji="1" lang="en-US" altLang="zh-TW" i="1"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a:t>
            </a:r>
          </a:p>
        </p:txBody>
      </p:sp>
      <p:pic>
        <p:nvPicPr>
          <p:cNvPr id="31" name="圖片 30">
            <a:extLst>
              <a:ext uri="{FF2B5EF4-FFF2-40B4-BE49-F238E27FC236}">
                <a16:creationId xmlns:a16="http://schemas.microsoft.com/office/drawing/2014/main" id="{B6E5F1A8-278F-374B-97F7-816A9A28FDA0}"/>
              </a:ext>
            </a:extLst>
          </p:cNvPr>
          <p:cNvPicPr>
            <a:picLocks noChangeAspect="1"/>
          </p:cNvPicPr>
          <p:nvPr/>
        </p:nvPicPr>
        <p:blipFill rotWithShape="1">
          <a:blip r:embed="rId2"/>
          <a:srcRect l="16683" t="24879" r="5242" b="45335"/>
          <a:stretch/>
        </p:blipFill>
        <p:spPr>
          <a:xfrm>
            <a:off x="4139608" y="5110637"/>
            <a:ext cx="2950536" cy="787677"/>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TSP with Time Windows (TSPTW)</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5" name="圖片 4">
            <a:extLst>
              <a:ext uri="{FF2B5EF4-FFF2-40B4-BE49-F238E27FC236}">
                <a16:creationId xmlns:a16="http://schemas.microsoft.com/office/drawing/2014/main" id="{DDD09364-C374-4743-BAA0-D46F746498BB}"/>
              </a:ext>
            </a:extLst>
          </p:cNvPr>
          <p:cNvPicPr>
            <a:picLocks noChangeAspect="1"/>
          </p:cNvPicPr>
          <p:nvPr/>
        </p:nvPicPr>
        <p:blipFill rotWithShape="1">
          <a:blip r:embed="rId2"/>
          <a:srcRect l="16961" r="8393" b="74975"/>
          <a:stretch/>
        </p:blipFill>
        <p:spPr>
          <a:xfrm>
            <a:off x="1102463" y="5173597"/>
            <a:ext cx="2820951" cy="661756"/>
          </a:xfrm>
          <a:prstGeom prst="rect">
            <a:avLst/>
          </a:prstGeom>
        </p:spPr>
      </p:pic>
      <p:cxnSp>
        <p:nvCxnSpPr>
          <p:cNvPr id="8" name="直線箭頭接點 7">
            <a:extLst>
              <a:ext uri="{FF2B5EF4-FFF2-40B4-BE49-F238E27FC236}">
                <a16:creationId xmlns:a16="http://schemas.microsoft.com/office/drawing/2014/main" id="{2175D8CD-5D1D-8D4A-B405-4B513B336E22}"/>
              </a:ext>
            </a:extLst>
          </p:cNvPr>
          <p:cNvCxnSpPr/>
          <p:nvPr/>
        </p:nvCxnSpPr>
        <p:spPr>
          <a:xfrm>
            <a:off x="999461" y="1563097"/>
            <a:ext cx="9579935"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7FFCE21-3D9E-FE41-8708-8F1005451C6C}"/>
              </a:ext>
            </a:extLst>
          </p:cNvPr>
          <p:cNvSpPr/>
          <p:nvPr/>
        </p:nvSpPr>
        <p:spPr>
          <a:xfrm>
            <a:off x="1321982" y="1707637"/>
            <a:ext cx="3033822" cy="2367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ea typeface="+mj-ea"/>
              </a:rPr>
              <a:t>C</a:t>
            </a:r>
            <a:r>
              <a:rPr kumimoji="1" lang="en-US" altLang="zh-TW" baseline="-25000" dirty="0">
                <a:solidFill>
                  <a:sysClr val="windowText" lastClr="000000"/>
                </a:solidFill>
                <a:latin typeface="+mj-ea"/>
                <a:ea typeface="+mj-ea"/>
              </a:rPr>
              <a:t>1</a:t>
            </a:r>
            <a:r>
              <a:rPr kumimoji="1" lang="en-US" altLang="zh-TW" dirty="0">
                <a:solidFill>
                  <a:sysClr val="windowText" lastClr="000000"/>
                </a:solidFill>
                <a:latin typeface="+mj-ea"/>
                <a:ea typeface="+mj-ea"/>
              </a:rPr>
              <a:t>, place a</a:t>
            </a:r>
            <a:endParaRPr kumimoji="1" lang="zh-TW" altLang="en-US" dirty="0">
              <a:solidFill>
                <a:sysClr val="windowText" lastClr="000000"/>
              </a:solidFill>
              <a:latin typeface="+mj-ea"/>
              <a:ea typeface="+mj-ea"/>
            </a:endParaRPr>
          </a:p>
        </p:txBody>
      </p:sp>
      <p:sp>
        <p:nvSpPr>
          <p:cNvPr id="11" name="矩形 10">
            <a:extLst>
              <a:ext uri="{FF2B5EF4-FFF2-40B4-BE49-F238E27FC236}">
                <a16:creationId xmlns:a16="http://schemas.microsoft.com/office/drawing/2014/main" id="{F0D307DA-10F4-8248-8C6E-5063D6B6BDE6}"/>
              </a:ext>
            </a:extLst>
          </p:cNvPr>
          <p:cNvSpPr/>
          <p:nvPr/>
        </p:nvSpPr>
        <p:spPr>
          <a:xfrm>
            <a:off x="3814173" y="2088241"/>
            <a:ext cx="1605516" cy="2277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rPr>
              <a:t>C</a:t>
            </a:r>
            <a:r>
              <a:rPr kumimoji="1" lang="en-US" altLang="zh-TW" baseline="-25000" dirty="0">
                <a:solidFill>
                  <a:sysClr val="windowText" lastClr="000000"/>
                </a:solidFill>
                <a:latin typeface="+mj-ea"/>
              </a:rPr>
              <a:t>3</a:t>
            </a:r>
            <a:r>
              <a:rPr kumimoji="1" lang="en-US" altLang="zh-TW" dirty="0">
                <a:solidFill>
                  <a:sysClr val="windowText" lastClr="000000"/>
                </a:solidFill>
                <a:latin typeface="+mj-ea"/>
              </a:rPr>
              <a:t>, place c</a:t>
            </a:r>
            <a:endParaRPr kumimoji="1" lang="zh-TW" altLang="en-US" dirty="0">
              <a:solidFill>
                <a:sysClr val="windowText" lastClr="000000"/>
              </a:solidFill>
              <a:latin typeface="+mj-ea"/>
            </a:endParaRPr>
          </a:p>
        </p:txBody>
      </p:sp>
      <p:sp>
        <p:nvSpPr>
          <p:cNvPr id="15" name="矩形 14">
            <a:extLst>
              <a:ext uri="{FF2B5EF4-FFF2-40B4-BE49-F238E27FC236}">
                <a16:creationId xmlns:a16="http://schemas.microsoft.com/office/drawing/2014/main" id="{6799B504-549D-AA4E-B3AC-9A904095C7EE}"/>
              </a:ext>
            </a:extLst>
          </p:cNvPr>
          <p:cNvSpPr/>
          <p:nvPr/>
        </p:nvSpPr>
        <p:spPr>
          <a:xfrm>
            <a:off x="5789428" y="2088241"/>
            <a:ext cx="3033822" cy="2367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rPr>
              <a:t>C</a:t>
            </a:r>
            <a:r>
              <a:rPr kumimoji="1" lang="en-US" altLang="zh-TW" baseline="-25000" dirty="0">
                <a:solidFill>
                  <a:sysClr val="windowText" lastClr="000000"/>
                </a:solidFill>
                <a:latin typeface="+mj-ea"/>
              </a:rPr>
              <a:t>6</a:t>
            </a:r>
            <a:r>
              <a:rPr kumimoji="1" lang="en-US" altLang="zh-TW" dirty="0">
                <a:solidFill>
                  <a:sysClr val="windowText" lastClr="000000"/>
                </a:solidFill>
                <a:latin typeface="+mj-ea"/>
              </a:rPr>
              <a:t>, place f</a:t>
            </a:r>
            <a:endParaRPr kumimoji="1" lang="zh-TW" altLang="en-US" dirty="0">
              <a:solidFill>
                <a:sysClr val="windowText" lastClr="000000"/>
              </a:solidFill>
              <a:latin typeface="+mj-ea"/>
            </a:endParaRPr>
          </a:p>
        </p:txBody>
      </p:sp>
      <p:sp>
        <p:nvSpPr>
          <p:cNvPr id="17" name="矩形 16">
            <a:extLst>
              <a:ext uri="{FF2B5EF4-FFF2-40B4-BE49-F238E27FC236}">
                <a16:creationId xmlns:a16="http://schemas.microsoft.com/office/drawing/2014/main" id="{B9F84E93-E1B7-DA4A-98DD-B136A4F584F9}"/>
              </a:ext>
            </a:extLst>
          </p:cNvPr>
          <p:cNvSpPr/>
          <p:nvPr/>
        </p:nvSpPr>
        <p:spPr>
          <a:xfrm>
            <a:off x="4789341" y="1699924"/>
            <a:ext cx="1605516" cy="2277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rPr>
              <a:t>C</a:t>
            </a:r>
            <a:r>
              <a:rPr kumimoji="1" lang="en-US" altLang="zh-TW" baseline="-25000" dirty="0">
                <a:solidFill>
                  <a:sysClr val="windowText" lastClr="000000"/>
                </a:solidFill>
                <a:latin typeface="+mj-ea"/>
              </a:rPr>
              <a:t>4</a:t>
            </a:r>
            <a:r>
              <a:rPr kumimoji="1" lang="en-US" altLang="zh-TW" dirty="0">
                <a:solidFill>
                  <a:sysClr val="windowText" lastClr="000000"/>
                </a:solidFill>
                <a:latin typeface="+mj-ea"/>
              </a:rPr>
              <a:t>, place d</a:t>
            </a:r>
            <a:endParaRPr kumimoji="1" lang="zh-TW" altLang="en-US" dirty="0">
              <a:solidFill>
                <a:sysClr val="windowText" lastClr="000000"/>
              </a:solidFill>
              <a:latin typeface="+mj-ea"/>
            </a:endParaRPr>
          </a:p>
        </p:txBody>
      </p:sp>
      <p:sp>
        <p:nvSpPr>
          <p:cNvPr id="20" name="矩形 19">
            <a:extLst>
              <a:ext uri="{FF2B5EF4-FFF2-40B4-BE49-F238E27FC236}">
                <a16:creationId xmlns:a16="http://schemas.microsoft.com/office/drawing/2014/main" id="{EA935E7F-3CB0-474D-934A-A29F1E40512D}"/>
              </a:ext>
            </a:extLst>
          </p:cNvPr>
          <p:cNvSpPr/>
          <p:nvPr/>
        </p:nvSpPr>
        <p:spPr>
          <a:xfrm>
            <a:off x="1946387" y="2088240"/>
            <a:ext cx="1605516" cy="22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rPr>
              <a:t>C</a:t>
            </a:r>
            <a:r>
              <a:rPr kumimoji="1" lang="en-US" altLang="zh-TW" baseline="-25000" dirty="0">
                <a:solidFill>
                  <a:sysClr val="windowText" lastClr="000000"/>
                </a:solidFill>
                <a:latin typeface="+mj-ea"/>
              </a:rPr>
              <a:t>2</a:t>
            </a:r>
            <a:r>
              <a:rPr kumimoji="1" lang="en-US" altLang="zh-TW" dirty="0">
                <a:solidFill>
                  <a:sysClr val="windowText" lastClr="000000"/>
                </a:solidFill>
                <a:latin typeface="+mj-ea"/>
              </a:rPr>
              <a:t>, place b</a:t>
            </a:r>
            <a:endParaRPr kumimoji="1" lang="zh-TW" altLang="en-US" dirty="0">
              <a:solidFill>
                <a:sysClr val="windowText" lastClr="000000"/>
              </a:solidFill>
              <a:latin typeface="+mj-ea"/>
            </a:endParaRPr>
          </a:p>
        </p:txBody>
      </p:sp>
      <p:sp>
        <p:nvSpPr>
          <p:cNvPr id="21" name="矩形 20">
            <a:extLst>
              <a:ext uri="{FF2B5EF4-FFF2-40B4-BE49-F238E27FC236}">
                <a16:creationId xmlns:a16="http://schemas.microsoft.com/office/drawing/2014/main" id="{79FBAE7C-E21F-384E-B6D3-95BE752208E2}"/>
              </a:ext>
            </a:extLst>
          </p:cNvPr>
          <p:cNvSpPr/>
          <p:nvPr/>
        </p:nvSpPr>
        <p:spPr>
          <a:xfrm>
            <a:off x="8430992" y="1700957"/>
            <a:ext cx="2148404" cy="2267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rPr>
              <a:t>C</a:t>
            </a:r>
            <a:r>
              <a:rPr kumimoji="1" lang="en-US" altLang="zh-TW" baseline="-25000" dirty="0">
                <a:solidFill>
                  <a:sysClr val="windowText" lastClr="000000"/>
                </a:solidFill>
                <a:latin typeface="+mj-ea"/>
              </a:rPr>
              <a:t>7</a:t>
            </a:r>
            <a:r>
              <a:rPr kumimoji="1" lang="en-US" altLang="zh-TW" dirty="0">
                <a:solidFill>
                  <a:sysClr val="windowText" lastClr="000000"/>
                </a:solidFill>
                <a:latin typeface="+mj-ea"/>
              </a:rPr>
              <a:t>, place g</a:t>
            </a:r>
            <a:endParaRPr kumimoji="1" lang="zh-TW" altLang="en-US" dirty="0">
              <a:solidFill>
                <a:sysClr val="windowText" lastClr="000000"/>
              </a:solidFill>
              <a:latin typeface="+mj-ea"/>
            </a:endParaRPr>
          </a:p>
        </p:txBody>
      </p:sp>
      <p:sp>
        <p:nvSpPr>
          <p:cNvPr id="22" name="矩形 21">
            <a:extLst>
              <a:ext uri="{FF2B5EF4-FFF2-40B4-BE49-F238E27FC236}">
                <a16:creationId xmlns:a16="http://schemas.microsoft.com/office/drawing/2014/main" id="{FD5A5FE1-2D9E-8049-B46C-2C54DE004241}"/>
              </a:ext>
            </a:extLst>
          </p:cNvPr>
          <p:cNvSpPr/>
          <p:nvPr/>
        </p:nvSpPr>
        <p:spPr>
          <a:xfrm>
            <a:off x="6600420" y="1690172"/>
            <a:ext cx="1605516" cy="2277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ysClr val="windowText" lastClr="000000"/>
                </a:solidFill>
                <a:latin typeface="+mj-ea"/>
              </a:rPr>
              <a:t>C</a:t>
            </a:r>
            <a:r>
              <a:rPr kumimoji="1" lang="en-US" altLang="zh-TW" baseline="-25000" dirty="0">
                <a:solidFill>
                  <a:sysClr val="windowText" lastClr="000000"/>
                </a:solidFill>
                <a:latin typeface="+mj-ea"/>
              </a:rPr>
              <a:t>5</a:t>
            </a:r>
            <a:r>
              <a:rPr kumimoji="1" lang="en-US" altLang="zh-TW" dirty="0">
                <a:solidFill>
                  <a:sysClr val="windowText" lastClr="000000"/>
                </a:solidFill>
                <a:latin typeface="+mj-ea"/>
              </a:rPr>
              <a:t>, place e</a:t>
            </a:r>
            <a:endParaRPr kumimoji="1" lang="zh-TW" altLang="en-US" dirty="0">
              <a:solidFill>
                <a:sysClr val="windowText" lastClr="000000"/>
              </a:solidFill>
              <a:latin typeface="+mj-ea"/>
            </a:endParaRPr>
          </a:p>
        </p:txBody>
      </p:sp>
      <p:cxnSp>
        <p:nvCxnSpPr>
          <p:cNvPr id="24" name="直線接點 23">
            <a:extLst>
              <a:ext uri="{FF2B5EF4-FFF2-40B4-BE49-F238E27FC236}">
                <a16:creationId xmlns:a16="http://schemas.microsoft.com/office/drawing/2014/main" id="{BCC73CE2-1494-0C48-8005-4F2CF464F097}"/>
              </a:ext>
            </a:extLst>
          </p:cNvPr>
          <p:cNvCxnSpPr>
            <a:cxnSpLocks/>
          </p:cNvCxnSpPr>
          <p:nvPr/>
        </p:nvCxnSpPr>
        <p:spPr>
          <a:xfrm flipV="1">
            <a:off x="1946387" y="1439302"/>
            <a:ext cx="0" cy="1010093"/>
          </a:xfrm>
          <a:prstGeom prst="line">
            <a:avLst/>
          </a:prstGeom>
          <a:ln w="38100"/>
        </p:spPr>
        <p:style>
          <a:lnRef idx="3">
            <a:schemeClr val="accent6"/>
          </a:lnRef>
          <a:fillRef idx="0">
            <a:schemeClr val="accent6"/>
          </a:fillRef>
          <a:effectRef idx="2">
            <a:schemeClr val="accent6"/>
          </a:effectRef>
          <a:fontRef idx="minor">
            <a:schemeClr val="tx1"/>
          </a:fontRef>
        </p:style>
      </p:cxnSp>
      <p:cxnSp>
        <p:nvCxnSpPr>
          <p:cNvPr id="25" name="直線接點 24">
            <a:extLst>
              <a:ext uri="{FF2B5EF4-FFF2-40B4-BE49-F238E27FC236}">
                <a16:creationId xmlns:a16="http://schemas.microsoft.com/office/drawing/2014/main" id="{8461EF4B-1772-1B42-B144-62E7A4E92C4D}"/>
              </a:ext>
            </a:extLst>
          </p:cNvPr>
          <p:cNvCxnSpPr>
            <a:cxnSpLocks/>
          </p:cNvCxnSpPr>
          <p:nvPr/>
        </p:nvCxnSpPr>
        <p:spPr>
          <a:xfrm flipV="1">
            <a:off x="3551903" y="1439302"/>
            <a:ext cx="0" cy="1010093"/>
          </a:xfrm>
          <a:prstGeom prst="line">
            <a:avLst/>
          </a:prstGeom>
          <a:ln w="38100"/>
        </p:spPr>
        <p:style>
          <a:lnRef idx="3">
            <a:schemeClr val="accent6"/>
          </a:lnRef>
          <a:fillRef idx="0">
            <a:schemeClr val="accent6"/>
          </a:fillRef>
          <a:effectRef idx="2">
            <a:schemeClr val="accent6"/>
          </a:effectRef>
          <a:fontRef idx="minor">
            <a:schemeClr val="tx1"/>
          </a:fontRef>
        </p:style>
      </p:cxnSp>
      <p:sp>
        <p:nvSpPr>
          <p:cNvPr id="27" name="矩形 26">
            <a:extLst>
              <a:ext uri="{FF2B5EF4-FFF2-40B4-BE49-F238E27FC236}">
                <a16:creationId xmlns:a16="http://schemas.microsoft.com/office/drawing/2014/main" id="{EC8938DB-D2AC-8844-BA52-B229405DD710}"/>
              </a:ext>
            </a:extLst>
          </p:cNvPr>
          <p:cNvSpPr/>
          <p:nvPr/>
        </p:nvSpPr>
        <p:spPr>
          <a:xfrm>
            <a:off x="1681502" y="2357498"/>
            <a:ext cx="463588" cy="523220"/>
          </a:xfrm>
          <a:prstGeom prst="rect">
            <a:avLst/>
          </a:prstGeom>
        </p:spPr>
        <p:txBody>
          <a:bodyPr wrap="none">
            <a:spAutoFit/>
          </a:bodyPr>
          <a:lstStyle/>
          <a:p>
            <a:r>
              <a:rPr kumimoji="1" lang="en-US" altLang="zh-TW" sz="2800" i="1" dirty="0">
                <a:latin typeface="Times New Roman" panose="02020603050405020304" pitchFamily="18" charset="0"/>
                <a:cs typeface="Times New Roman" panose="02020603050405020304" pitchFamily="18" charset="0"/>
              </a:rPr>
              <a:t>e</a:t>
            </a:r>
            <a:r>
              <a:rPr kumimoji="1" lang="en-US" altLang="zh-TW" sz="2800" i="1" baseline="-25000" dirty="0">
                <a:latin typeface="Times New Roman" panose="02020603050405020304" pitchFamily="18" charset="0"/>
                <a:cs typeface="Times New Roman" panose="02020603050405020304" pitchFamily="18" charset="0"/>
              </a:rPr>
              <a:t>2</a:t>
            </a:r>
            <a:endParaRPr lang="zh-TW" altLang="en-US" sz="2800" dirty="0"/>
          </a:p>
        </p:txBody>
      </p:sp>
      <p:sp>
        <p:nvSpPr>
          <p:cNvPr id="28" name="矩形 27">
            <a:extLst>
              <a:ext uri="{FF2B5EF4-FFF2-40B4-BE49-F238E27FC236}">
                <a16:creationId xmlns:a16="http://schemas.microsoft.com/office/drawing/2014/main" id="{D94E9942-BA4A-1343-A4EF-73ED0B64C3AA}"/>
              </a:ext>
            </a:extLst>
          </p:cNvPr>
          <p:cNvSpPr/>
          <p:nvPr/>
        </p:nvSpPr>
        <p:spPr>
          <a:xfrm>
            <a:off x="3253277" y="2415588"/>
            <a:ext cx="404278" cy="523220"/>
          </a:xfrm>
          <a:prstGeom prst="rect">
            <a:avLst/>
          </a:prstGeom>
        </p:spPr>
        <p:txBody>
          <a:bodyPr wrap="none">
            <a:spAutoFit/>
          </a:bodyPr>
          <a:lstStyle/>
          <a:p>
            <a:r>
              <a:rPr kumimoji="1" lang="en-US" altLang="zh-TW" sz="2800" i="1" dirty="0">
                <a:latin typeface="Times New Roman" panose="02020603050405020304" pitchFamily="18" charset="0"/>
                <a:cs typeface="Times New Roman" panose="02020603050405020304" pitchFamily="18" charset="0"/>
              </a:rPr>
              <a:t>l</a:t>
            </a:r>
            <a:r>
              <a:rPr kumimoji="1" lang="en-US" altLang="zh-TW" sz="2800" i="1" baseline="-25000" dirty="0">
                <a:latin typeface="Times New Roman" panose="02020603050405020304" pitchFamily="18" charset="0"/>
                <a:cs typeface="Times New Roman" panose="02020603050405020304" pitchFamily="18" charset="0"/>
              </a:rPr>
              <a:t>2</a:t>
            </a:r>
            <a:endParaRPr lang="zh-TW" altLang="en-US" sz="2800" dirty="0"/>
          </a:p>
        </p:txBody>
      </p:sp>
      <p:sp>
        <p:nvSpPr>
          <p:cNvPr id="29" name="矩形 28">
            <a:extLst>
              <a:ext uri="{FF2B5EF4-FFF2-40B4-BE49-F238E27FC236}">
                <a16:creationId xmlns:a16="http://schemas.microsoft.com/office/drawing/2014/main" id="{41C5232A-6DCE-D148-8860-1BA5BAEB6388}"/>
              </a:ext>
            </a:extLst>
          </p:cNvPr>
          <p:cNvSpPr/>
          <p:nvPr/>
        </p:nvSpPr>
        <p:spPr>
          <a:xfrm>
            <a:off x="10579396" y="1370651"/>
            <a:ext cx="663836" cy="369332"/>
          </a:xfrm>
          <a:prstGeom prst="rect">
            <a:avLst/>
          </a:prstGeom>
        </p:spPr>
        <p:txBody>
          <a:bodyPr wrap="none">
            <a:spAutoFit/>
          </a:bodyPr>
          <a:lstStyle/>
          <a:p>
            <a:r>
              <a:rPr kumimoji="1" lang="en-US" altLang="zh-TW" dirty="0">
                <a:latin typeface="Times New Roman" panose="02020603050405020304" pitchFamily="18" charset="0"/>
                <a:cs typeface="Times New Roman" panose="02020603050405020304" pitchFamily="18" charset="0"/>
              </a:rPr>
              <a:t>Time</a:t>
            </a:r>
            <a:endParaRPr lang="zh-TW" altLang="en-US" dirty="0"/>
          </a:p>
        </p:txBody>
      </p:sp>
      <p:pic>
        <p:nvPicPr>
          <p:cNvPr id="30" name="圖片 29">
            <a:extLst>
              <a:ext uri="{FF2B5EF4-FFF2-40B4-BE49-F238E27FC236}">
                <a16:creationId xmlns:a16="http://schemas.microsoft.com/office/drawing/2014/main" id="{FB53CAB8-C887-084A-9AC6-B94E5CC6064D}"/>
              </a:ext>
            </a:extLst>
          </p:cNvPr>
          <p:cNvPicPr>
            <a:picLocks noChangeAspect="1"/>
          </p:cNvPicPr>
          <p:nvPr/>
        </p:nvPicPr>
        <p:blipFill rotWithShape="1">
          <a:blip r:embed="rId2"/>
          <a:srcRect t="57443"/>
          <a:stretch/>
        </p:blipFill>
        <p:spPr>
          <a:xfrm>
            <a:off x="7306339" y="4941787"/>
            <a:ext cx="3779136" cy="1125376"/>
          </a:xfrm>
          <a:prstGeom prst="rect">
            <a:avLst/>
          </a:prstGeom>
        </p:spPr>
      </p:pic>
      <p:sp>
        <p:nvSpPr>
          <p:cNvPr id="32" name="矩形 31">
            <a:extLst>
              <a:ext uri="{FF2B5EF4-FFF2-40B4-BE49-F238E27FC236}">
                <a16:creationId xmlns:a16="http://schemas.microsoft.com/office/drawing/2014/main" id="{85699F4E-4467-FA4D-A8E6-C1BFC326DF19}"/>
              </a:ext>
            </a:extLst>
          </p:cNvPr>
          <p:cNvSpPr/>
          <p:nvPr/>
        </p:nvSpPr>
        <p:spPr>
          <a:xfrm>
            <a:off x="7994074" y="6067163"/>
            <a:ext cx="3225563" cy="369332"/>
          </a:xfrm>
          <a:prstGeom prst="rect">
            <a:avLst/>
          </a:prstGeom>
        </p:spPr>
        <p:txBody>
          <a:bodyPr wrap="none">
            <a:spAutoFit/>
          </a:bodyPr>
          <a:lstStyle/>
          <a:p>
            <a:r>
              <a:rPr lang="en-US" altLang="zh-TW" i="1" dirty="0">
                <a:solidFill>
                  <a:srgbClr val="000000"/>
                </a:solidFill>
                <a:latin typeface="Times New Roman" panose="02020603050405020304" pitchFamily="18" charset="0"/>
                <a:ea typeface="+mj-ea"/>
                <a:cs typeface="Times New Roman" panose="02020603050405020304" pitchFamily="18" charset="0"/>
              </a:rPr>
              <a:t>A</a:t>
            </a:r>
            <a:r>
              <a:rPr lang="en-US" altLang="zh-TW" i="1" baseline="-25000" dirty="0">
                <a:solidFill>
                  <a:srgbClr val="000000"/>
                </a:solidFill>
                <a:latin typeface="Times New Roman" panose="02020603050405020304" pitchFamily="18" charset="0"/>
                <a:ea typeface="+mj-ea"/>
                <a:cs typeface="Times New Roman" panose="02020603050405020304" pitchFamily="18" charset="0"/>
              </a:rPr>
              <a:t>𝛑k</a:t>
            </a:r>
            <a:r>
              <a:rPr lang="en-US" altLang="zh-TW" i="1" dirty="0">
                <a:solidFill>
                  <a:srgbClr val="000000"/>
                </a:solidFill>
                <a:latin typeface="Times New Roman" panose="02020603050405020304" pitchFamily="18" charset="0"/>
                <a:ea typeface="+mj-ea"/>
                <a:cs typeface="Times New Roman" panose="02020603050405020304" pitchFamily="18" charset="0"/>
              </a:rPr>
              <a:t> </a:t>
            </a:r>
            <a:r>
              <a:rPr lang="en-US" altLang="zh-TW" dirty="0">
                <a:solidFill>
                  <a:srgbClr val="000000"/>
                </a:solidFill>
                <a:latin typeface="Times New Roman" panose="02020603050405020304" pitchFamily="18" charset="0"/>
                <a:ea typeface="+mj-ea"/>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arrival time at customer </a:t>
            </a:r>
            <a:r>
              <a:rPr lang="en-US" altLang="zh-TW" i="1" dirty="0">
                <a:solidFill>
                  <a:srgbClr val="000000"/>
                </a:solidFill>
                <a:latin typeface="Times New Roman" panose="02020603050405020304" pitchFamily="18" charset="0"/>
                <a:cs typeface="Times New Roman" panose="02020603050405020304" pitchFamily="18" charset="0"/>
              </a:rPr>
              <a:t>𝛑</a:t>
            </a:r>
            <a:r>
              <a:rPr lang="en-US" altLang="zh-TW" i="1" baseline="-25000" dirty="0">
                <a:solidFill>
                  <a:srgbClr val="000000"/>
                </a:solidFill>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0668548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4667691" y="365125"/>
            <a:ext cx="6558516" cy="1325563"/>
          </a:xfrm>
        </p:spPr>
        <p:txBody>
          <a:bodyPr/>
          <a:lstStyle/>
          <a:p>
            <a:r>
              <a:rPr kumimoji="1" lang="en-US" altLang="zh-TW" dirty="0"/>
              <a:t>VIG_VNS Algorithm</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4667691" y="1825625"/>
            <a:ext cx="6686109" cy="4351338"/>
          </a:xfrm>
        </p:spPr>
        <p:txBody>
          <a:bodyPr/>
          <a:lstStyle/>
          <a:p>
            <a:r>
              <a:rPr kumimoji="1" lang="en-US" altLang="zh-TW" dirty="0">
                <a:latin typeface="Times New Roman" panose="02020603050405020304" pitchFamily="18" charset="0"/>
                <a:cs typeface="Times New Roman" panose="02020603050405020304" pitchFamily="18" charset="0"/>
              </a:rPr>
              <a:t>Variable (V) : variable destruction sizes (</a:t>
            </a:r>
            <a:r>
              <a:rPr kumimoji="1" lang="en-US" altLang="zh-TW" i="1" dirty="0">
                <a:latin typeface="Times New Roman" panose="02020603050405020304" pitchFamily="18" charset="0"/>
                <a:cs typeface="Times New Roman" panose="02020603050405020304" pitchFamily="18" charset="0"/>
              </a:rPr>
              <a:t>d</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Iterated </a:t>
            </a:r>
            <a:r>
              <a:rPr kumimoji="1" lang="en-US" altLang="zh-TW" dirty="0">
                <a:latin typeface="Times New Roman" panose="02020603050405020304" pitchFamily="18" charset="0"/>
                <a:cs typeface="Times New Roman" panose="02020603050405020304" pitchFamily="18" charset="0"/>
                <a:sym typeface="Wingdings" pitchFamily="2" charset="2"/>
              </a:rPr>
              <a:t>(I) : </a:t>
            </a:r>
            <a:r>
              <a:rPr kumimoji="1" lang="en-US" altLang="zh-TW" i="1" dirty="0">
                <a:latin typeface="Times New Roman" panose="02020603050405020304" pitchFamily="18" charset="0"/>
                <a:cs typeface="Times New Roman" panose="02020603050405020304" pitchFamily="18" charset="0"/>
                <a:sym typeface="Wingdings" pitchFamily="2" charset="2"/>
              </a:rPr>
              <a:t>while</a:t>
            </a:r>
            <a:endParaRPr kumimoji="1" lang="en-US" altLang="zh-TW" i="1"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Greedy (G) : </a:t>
            </a:r>
            <a:r>
              <a:rPr kumimoji="1" lang="en-US" altLang="zh-TW" i="1" dirty="0" err="1">
                <a:latin typeface="Times New Roman" panose="02020603050405020304" pitchFamily="18" charset="0"/>
                <a:cs typeface="Times New Roman" panose="02020603050405020304" pitchFamily="18" charset="0"/>
              </a:rPr>
              <a:t>DestructConstruct</a:t>
            </a:r>
            <a:r>
              <a:rPr kumimoji="1" lang="en-US" altLang="zh-TW" dirty="0">
                <a:latin typeface="Times New Roman" panose="02020603050405020304" pitchFamily="18" charset="0"/>
                <a:cs typeface="Times New Roman" panose="02020603050405020304" pitchFamily="18" charset="0"/>
              </a:rPr>
              <a:t>()</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Variable Neighborhood Search (VNS) : </a:t>
            </a:r>
            <a:r>
              <a:rPr kumimoji="1" lang="en-US" altLang="zh-TW" i="1" dirty="0">
                <a:latin typeface="Times New Roman" panose="02020603050405020304" pitchFamily="18" charset="0"/>
                <a:cs typeface="Times New Roman" panose="02020603050405020304" pitchFamily="18" charset="0"/>
              </a:rPr>
              <a:t>VNS_1_Opt</a:t>
            </a:r>
            <a:r>
              <a:rPr kumimoji="1" lang="en-US" altLang="zh-TW" dirty="0">
                <a:latin typeface="Times New Roman" panose="02020603050405020304" pitchFamily="18" charset="0"/>
                <a:cs typeface="Times New Roman" panose="02020603050405020304" pitchFamily="18" charset="0"/>
              </a:rPr>
              <a:t>()</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Superiority of Feasible Solutions (SF) : &lt;</a:t>
            </a:r>
            <a:r>
              <a:rPr kumimoji="1" lang="en-US" altLang="zh-TW" i="1" baseline="-25000" dirty="0">
                <a:latin typeface="Times New Roman" panose="02020603050405020304" pitchFamily="18" charset="0"/>
                <a:cs typeface="Times New Roman" panose="02020603050405020304" pitchFamily="18" charset="0"/>
              </a:rPr>
              <a:t>lex</a:t>
            </a:r>
            <a:endParaRPr kumimoji="1" lang="zh-TW" altLang="en-US" i="1" baseline="-25000"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4" name="圖片 3">
            <a:extLst>
              <a:ext uri="{FF2B5EF4-FFF2-40B4-BE49-F238E27FC236}">
                <a16:creationId xmlns:a16="http://schemas.microsoft.com/office/drawing/2014/main" id="{95860894-9914-BA40-AF9B-381884F435CE}"/>
              </a:ext>
            </a:extLst>
          </p:cNvPr>
          <p:cNvPicPr>
            <a:picLocks noChangeAspect="1"/>
          </p:cNvPicPr>
          <p:nvPr/>
        </p:nvPicPr>
        <p:blipFill>
          <a:blip r:embed="rId2"/>
          <a:stretch>
            <a:fillRect/>
          </a:stretch>
        </p:blipFill>
        <p:spPr>
          <a:xfrm>
            <a:off x="221206" y="0"/>
            <a:ext cx="4381226" cy="6858000"/>
          </a:xfrm>
          <a:prstGeom prst="rect">
            <a:avLst/>
          </a:prstGeom>
        </p:spPr>
      </p:pic>
    </p:spTree>
    <p:extLst>
      <p:ext uri="{BB962C8B-B14F-4D97-AF65-F5344CB8AC3E}">
        <p14:creationId xmlns:p14="http://schemas.microsoft.com/office/powerpoint/2010/main" val="22787953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Variable Iterated Greedy Algorithm  (VIG)</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In an IG algorithm, there are two central procedures consisting of the </a:t>
            </a:r>
            <a:r>
              <a:rPr kumimoji="1" lang="en-US" altLang="zh-TW" b="1" dirty="0">
                <a:latin typeface="Times New Roman" panose="02020603050405020304" pitchFamily="18" charset="0"/>
                <a:cs typeface="Times New Roman" panose="02020603050405020304" pitchFamily="18" charset="0"/>
              </a:rPr>
              <a:t>destruction</a:t>
            </a:r>
            <a:r>
              <a:rPr kumimoji="1" lang="en-US" altLang="zh-TW" dirty="0">
                <a:latin typeface="Times New Roman" panose="02020603050405020304" pitchFamily="18" charset="0"/>
                <a:cs typeface="Times New Roman" panose="02020603050405020304" pitchFamily="18" charset="0"/>
              </a:rPr>
              <a:t> and the </a:t>
            </a:r>
            <a:r>
              <a:rPr kumimoji="1" lang="en-US" altLang="zh-TW" b="1" dirty="0">
                <a:latin typeface="Times New Roman" panose="02020603050405020304" pitchFamily="18" charset="0"/>
                <a:cs typeface="Times New Roman" panose="02020603050405020304" pitchFamily="18" charset="0"/>
              </a:rPr>
              <a:t>construction</a:t>
            </a:r>
            <a:r>
              <a:rPr kumimoji="1" lang="en-US" altLang="zh-TW" dirty="0">
                <a:latin typeface="Times New Roman" panose="02020603050405020304" pitchFamily="18" charset="0"/>
                <a:cs typeface="Times New Roman" panose="02020603050405020304" pitchFamily="18" charset="0"/>
              </a:rPr>
              <a:t> phases.</a:t>
            </a:r>
          </a:p>
          <a:p>
            <a:r>
              <a:rPr kumimoji="1" lang="en-US" altLang="zh-TW" i="1" dirty="0" err="1">
                <a:latin typeface="Times New Roman" panose="02020603050405020304" pitchFamily="18" charset="0"/>
                <a:cs typeface="Times New Roman" panose="02020603050405020304" pitchFamily="18" charset="0"/>
              </a:rPr>
              <a:t>DestructConstruct</a:t>
            </a:r>
            <a:r>
              <a:rPr kumimoji="1" lang="en-US" altLang="zh-TW" dirty="0">
                <a:latin typeface="Times New Roman" panose="02020603050405020304" pitchFamily="18" charset="0"/>
                <a:cs typeface="Times New Roman" panose="02020603050405020304" pitchFamily="18" charset="0"/>
              </a:rPr>
              <a:t>(</a:t>
            </a:r>
            <a:r>
              <a:rPr lang="en-US" altLang="zh-TW" i="1" dirty="0">
                <a:solidFill>
                  <a:srgbClr val="000000"/>
                </a:solidFill>
                <a:latin typeface="Times New Roman" panose="02020603050405020304" pitchFamily="18" charset="0"/>
                <a:cs typeface="Times New Roman" panose="02020603050405020304" pitchFamily="18" charset="0"/>
              </a:rPr>
              <a:t>𝛑, 3</a:t>
            </a:r>
            <a:r>
              <a:rPr kumimoji="1" lang="en-US" altLang="zh-TW" dirty="0">
                <a:latin typeface="Times New Roman" panose="02020603050405020304" pitchFamily="18" charset="0"/>
                <a:cs typeface="Times New Roman" panose="02020603050405020304" pitchFamily="18" charset="0"/>
              </a:rPr>
              <a:t>) :</a:t>
            </a:r>
          </a:p>
          <a:p>
            <a:r>
              <a:rPr kumimoji="1" lang="en-US" altLang="zh-TW" dirty="0">
                <a:latin typeface="Times New Roman" panose="02020603050405020304" pitchFamily="18" charset="0"/>
                <a:cs typeface="Times New Roman" panose="02020603050405020304" pitchFamily="18" charset="0"/>
              </a:rPr>
              <a:t>Step1: Destruction.</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Step2 : Construction.</a:t>
            </a:r>
          </a:p>
          <a:p>
            <a:endParaRPr kumimoji="1" lang="en-US" altLang="zh-TW"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graphicFrame>
        <p:nvGraphicFramePr>
          <p:cNvPr id="9" name="表格 9">
            <a:extLst>
              <a:ext uri="{FF2B5EF4-FFF2-40B4-BE49-F238E27FC236}">
                <a16:creationId xmlns:a16="http://schemas.microsoft.com/office/drawing/2014/main" id="{1F4AC3B2-FDB3-684A-8554-B08BCF577C4B}"/>
              </a:ext>
            </a:extLst>
          </p:cNvPr>
          <p:cNvGraphicFramePr>
            <a:graphicFrameLocks noGrp="1"/>
          </p:cNvGraphicFramePr>
          <p:nvPr>
            <p:extLst>
              <p:ext uri="{D42A27DB-BD31-4B8C-83A1-F6EECF244321}">
                <p14:modId xmlns:p14="http://schemas.microsoft.com/office/powerpoint/2010/main" val="641342347"/>
              </p:ext>
            </p:extLst>
          </p:nvPr>
        </p:nvGraphicFramePr>
        <p:xfrm>
          <a:off x="1064437" y="3825206"/>
          <a:ext cx="4294367"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4244333132"/>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279613406"/>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dirty="0"/>
                        <a:t>5</a:t>
                      </a:r>
                      <a:endParaRPr lang="zh-TW" altLang="en-US" dirty="0"/>
                    </a:p>
                  </a:txBody>
                  <a:tcPr/>
                </a:tc>
                <a:tc>
                  <a:txBody>
                    <a:bodyPr/>
                    <a:lstStyle/>
                    <a:p>
                      <a:pPr algn="ct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b="1" dirty="0">
                          <a:solidFill>
                            <a:schemeClr val="accent2"/>
                          </a:solidFill>
                        </a:rPr>
                        <a:t>6</a:t>
                      </a:r>
                      <a:endParaRPr lang="zh-TW" altLang="en-US" b="1" dirty="0">
                        <a:solidFill>
                          <a:schemeClr val="accent2"/>
                        </a:solidFill>
                      </a:endParaRPr>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b="1" dirty="0">
                          <a:solidFill>
                            <a:schemeClr val="accent2"/>
                          </a:solidFill>
                        </a:rPr>
                        <a:t>7</a:t>
                      </a:r>
                      <a:endParaRPr lang="zh-TW" altLang="en-US" b="1" dirty="0">
                        <a:solidFill>
                          <a:schemeClr val="accent2"/>
                        </a:solidFill>
                      </a:endParaRPr>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0" name="表格 9">
            <a:extLst>
              <a:ext uri="{FF2B5EF4-FFF2-40B4-BE49-F238E27FC236}">
                <a16:creationId xmlns:a16="http://schemas.microsoft.com/office/drawing/2014/main" id="{91567697-CBB2-914B-A00C-16ADE9C22DE9}"/>
              </a:ext>
            </a:extLst>
          </p:cNvPr>
          <p:cNvGraphicFramePr>
            <a:graphicFrameLocks noGrp="1"/>
          </p:cNvGraphicFramePr>
          <p:nvPr>
            <p:extLst>
              <p:ext uri="{D42A27DB-BD31-4B8C-83A1-F6EECF244321}">
                <p14:modId xmlns:p14="http://schemas.microsoft.com/office/powerpoint/2010/main" val="262905037"/>
              </p:ext>
            </p:extLst>
          </p:nvPr>
        </p:nvGraphicFramePr>
        <p:xfrm>
          <a:off x="6035744" y="3825206"/>
          <a:ext cx="3123176"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dirty="0"/>
                        <a:t>5</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1" name="表格 10">
            <a:extLst>
              <a:ext uri="{FF2B5EF4-FFF2-40B4-BE49-F238E27FC236}">
                <a16:creationId xmlns:a16="http://schemas.microsoft.com/office/drawing/2014/main" id="{0A673596-B83C-FF4F-A539-B81B968C0BCD}"/>
              </a:ext>
            </a:extLst>
          </p:cNvPr>
          <p:cNvGraphicFramePr>
            <a:graphicFrameLocks noGrp="1"/>
          </p:cNvGraphicFramePr>
          <p:nvPr>
            <p:extLst>
              <p:ext uri="{D42A27DB-BD31-4B8C-83A1-F6EECF244321}">
                <p14:modId xmlns:p14="http://schemas.microsoft.com/office/powerpoint/2010/main" val="823499590"/>
              </p:ext>
            </p:extLst>
          </p:nvPr>
        </p:nvGraphicFramePr>
        <p:xfrm>
          <a:off x="9758916" y="3825206"/>
          <a:ext cx="1171191"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tblGrid>
              <a:tr h="370840">
                <a:tc>
                  <a:txBody>
                    <a:bodyPr/>
                    <a:lstStyle/>
                    <a:p>
                      <a:pPr algn="ct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b="1" dirty="0">
                          <a:solidFill>
                            <a:schemeClr val="accent2"/>
                          </a:solidFill>
                        </a:rPr>
                        <a:t>6</a:t>
                      </a:r>
                      <a:endParaRPr lang="zh-TW" altLang="en-US" b="1" dirty="0">
                        <a:solidFill>
                          <a:schemeClr val="accent2"/>
                        </a:solidFill>
                      </a:endParaRPr>
                    </a:p>
                  </a:txBody>
                  <a:tcPr/>
                </a:tc>
                <a:tc>
                  <a:txBody>
                    <a:bodyPr/>
                    <a:lstStyle/>
                    <a:p>
                      <a:pPr algn="ctr"/>
                      <a:r>
                        <a:rPr lang="en-US" altLang="zh-TW" b="1" dirty="0">
                          <a:solidFill>
                            <a:schemeClr val="accent2"/>
                          </a:solidFill>
                        </a:rPr>
                        <a:t>7</a:t>
                      </a:r>
                      <a:endParaRPr lang="zh-TW" altLang="en-US" b="1" dirty="0">
                        <a:solidFill>
                          <a:schemeClr val="accent2"/>
                        </a:solidFill>
                      </a:endParaRPr>
                    </a:p>
                  </a:txBody>
                  <a:tcPr/>
                </a:tc>
                <a:extLst>
                  <a:ext uri="{0D108BD9-81ED-4DB2-BD59-A6C34878D82A}">
                    <a16:rowId xmlns:a16="http://schemas.microsoft.com/office/drawing/2014/main" val="4121315132"/>
                  </a:ext>
                </a:extLst>
              </a:tr>
            </a:tbl>
          </a:graphicData>
        </a:graphic>
      </p:graphicFrame>
      <p:sp>
        <p:nvSpPr>
          <p:cNvPr id="12" name="文字方塊 11">
            <a:extLst>
              <a:ext uri="{FF2B5EF4-FFF2-40B4-BE49-F238E27FC236}">
                <a16:creationId xmlns:a16="http://schemas.microsoft.com/office/drawing/2014/main" id="{80AF294D-BE58-334B-9A24-D2F8D7F0C43D}"/>
              </a:ext>
            </a:extLst>
          </p:cNvPr>
          <p:cNvSpPr txBox="1"/>
          <p:nvPr/>
        </p:nvSpPr>
        <p:spPr>
          <a:xfrm>
            <a:off x="5489525" y="3826714"/>
            <a:ext cx="415498" cy="369332"/>
          </a:xfrm>
          <a:prstGeom prst="rect">
            <a:avLst/>
          </a:prstGeom>
          <a:noFill/>
        </p:spPr>
        <p:txBody>
          <a:bodyPr wrap="none" rtlCol="0">
            <a:spAutoFit/>
          </a:bodyPr>
          <a:lstStyle/>
          <a:p>
            <a:r>
              <a:rPr kumimoji="1" lang="en-US" altLang="zh-TW" dirty="0"/>
              <a:t>→</a:t>
            </a:r>
            <a:endParaRPr kumimoji="1" lang="zh-TW" altLang="en-US" dirty="0"/>
          </a:p>
        </p:txBody>
      </p:sp>
      <p:sp>
        <p:nvSpPr>
          <p:cNvPr id="13" name="文字方塊 12">
            <a:extLst>
              <a:ext uri="{FF2B5EF4-FFF2-40B4-BE49-F238E27FC236}">
                <a16:creationId xmlns:a16="http://schemas.microsoft.com/office/drawing/2014/main" id="{234F2C82-0127-E048-994D-50FAD9D6DF6A}"/>
              </a:ext>
            </a:extLst>
          </p:cNvPr>
          <p:cNvSpPr txBox="1"/>
          <p:nvPr/>
        </p:nvSpPr>
        <p:spPr>
          <a:xfrm>
            <a:off x="9289641" y="3825206"/>
            <a:ext cx="338554" cy="369332"/>
          </a:xfrm>
          <a:prstGeom prst="rect">
            <a:avLst/>
          </a:prstGeom>
          <a:noFill/>
        </p:spPr>
        <p:txBody>
          <a:bodyPr wrap="none" rtlCol="0">
            <a:spAutoFit/>
          </a:bodyPr>
          <a:lstStyle/>
          <a:p>
            <a:r>
              <a:rPr kumimoji="1" lang="en-US" altLang="zh-TW" dirty="0"/>
              <a:t>+</a:t>
            </a:r>
            <a:endParaRPr kumimoji="1" lang="zh-TW" altLang="en-US" dirty="0"/>
          </a:p>
        </p:txBody>
      </p:sp>
      <p:graphicFrame>
        <p:nvGraphicFramePr>
          <p:cNvPr id="16" name="表格 9">
            <a:extLst>
              <a:ext uri="{FF2B5EF4-FFF2-40B4-BE49-F238E27FC236}">
                <a16:creationId xmlns:a16="http://schemas.microsoft.com/office/drawing/2014/main" id="{BC2281C8-74B5-8242-9FEC-35EADEA9F93D}"/>
              </a:ext>
            </a:extLst>
          </p:cNvPr>
          <p:cNvGraphicFramePr>
            <a:graphicFrameLocks noGrp="1"/>
          </p:cNvGraphicFramePr>
          <p:nvPr>
            <p:extLst>
              <p:ext uri="{D42A27DB-BD31-4B8C-83A1-F6EECF244321}">
                <p14:modId xmlns:p14="http://schemas.microsoft.com/office/powerpoint/2010/main" val="938939584"/>
              </p:ext>
            </p:extLst>
          </p:nvPr>
        </p:nvGraphicFramePr>
        <p:xfrm>
          <a:off x="675876" y="4903879"/>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7" name="表格 9">
            <a:extLst>
              <a:ext uri="{FF2B5EF4-FFF2-40B4-BE49-F238E27FC236}">
                <a16:creationId xmlns:a16="http://schemas.microsoft.com/office/drawing/2014/main" id="{F74B908F-12D0-D54F-8D30-A9A00EEBA3D8}"/>
              </a:ext>
            </a:extLst>
          </p:cNvPr>
          <p:cNvGraphicFramePr>
            <a:graphicFrameLocks noGrp="1"/>
          </p:cNvGraphicFramePr>
          <p:nvPr>
            <p:extLst>
              <p:ext uri="{D42A27DB-BD31-4B8C-83A1-F6EECF244321}">
                <p14:modId xmlns:p14="http://schemas.microsoft.com/office/powerpoint/2010/main" val="4184949119"/>
              </p:ext>
            </p:extLst>
          </p:nvPr>
        </p:nvGraphicFramePr>
        <p:xfrm>
          <a:off x="8186008" y="4903879"/>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algn="ctr"/>
                      <a:r>
                        <a:rPr lang="en-US" altLang="zh-TW" dirty="0"/>
                        <a:t>3</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8" name="表格 9">
            <a:extLst>
              <a:ext uri="{FF2B5EF4-FFF2-40B4-BE49-F238E27FC236}">
                <a16:creationId xmlns:a16="http://schemas.microsoft.com/office/drawing/2014/main" id="{1780F4FF-0DC5-5C45-A77C-2D833405D37D}"/>
              </a:ext>
            </a:extLst>
          </p:cNvPr>
          <p:cNvGraphicFramePr>
            <a:graphicFrameLocks noGrp="1"/>
          </p:cNvGraphicFramePr>
          <p:nvPr>
            <p:extLst>
              <p:ext uri="{D42A27DB-BD31-4B8C-83A1-F6EECF244321}">
                <p14:modId xmlns:p14="http://schemas.microsoft.com/office/powerpoint/2010/main" val="3608427354"/>
              </p:ext>
            </p:extLst>
          </p:nvPr>
        </p:nvGraphicFramePr>
        <p:xfrm>
          <a:off x="8186008" y="5546466"/>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dirty="0"/>
                        <a:t>5</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9" name="表格 9">
            <a:extLst>
              <a:ext uri="{FF2B5EF4-FFF2-40B4-BE49-F238E27FC236}">
                <a16:creationId xmlns:a16="http://schemas.microsoft.com/office/drawing/2014/main" id="{A8F8CF53-8290-7E4E-9873-26A3BDF94149}"/>
              </a:ext>
            </a:extLst>
          </p:cNvPr>
          <p:cNvGraphicFramePr>
            <a:graphicFrameLocks noGrp="1"/>
          </p:cNvGraphicFramePr>
          <p:nvPr>
            <p:extLst>
              <p:ext uri="{D42A27DB-BD31-4B8C-83A1-F6EECF244321}">
                <p14:modId xmlns:p14="http://schemas.microsoft.com/office/powerpoint/2010/main" val="1133725870"/>
              </p:ext>
            </p:extLst>
          </p:nvPr>
        </p:nvGraphicFramePr>
        <p:xfrm>
          <a:off x="675876" y="5546466"/>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dirty="0"/>
                        <a:t>5</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20" name="表格 9">
            <a:extLst>
              <a:ext uri="{FF2B5EF4-FFF2-40B4-BE49-F238E27FC236}">
                <a16:creationId xmlns:a16="http://schemas.microsoft.com/office/drawing/2014/main" id="{6D481236-2BEA-6340-91EA-7078C04F133A}"/>
              </a:ext>
            </a:extLst>
          </p:cNvPr>
          <p:cNvGraphicFramePr>
            <a:graphicFrameLocks noGrp="1"/>
          </p:cNvGraphicFramePr>
          <p:nvPr>
            <p:extLst>
              <p:ext uri="{D42A27DB-BD31-4B8C-83A1-F6EECF244321}">
                <p14:modId xmlns:p14="http://schemas.microsoft.com/office/powerpoint/2010/main" val="4217130124"/>
              </p:ext>
            </p:extLst>
          </p:nvPr>
        </p:nvGraphicFramePr>
        <p:xfrm>
          <a:off x="4430942" y="5546466"/>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dirty="0"/>
                        <a:t>5</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21" name="表格 9">
            <a:extLst>
              <a:ext uri="{FF2B5EF4-FFF2-40B4-BE49-F238E27FC236}">
                <a16:creationId xmlns:a16="http://schemas.microsoft.com/office/drawing/2014/main" id="{F95992D0-C600-1246-8983-FBD55F103E36}"/>
              </a:ext>
            </a:extLst>
          </p:cNvPr>
          <p:cNvGraphicFramePr>
            <a:graphicFrameLocks noGrp="1"/>
          </p:cNvGraphicFramePr>
          <p:nvPr>
            <p:extLst>
              <p:ext uri="{D42A27DB-BD31-4B8C-83A1-F6EECF244321}">
                <p14:modId xmlns:p14="http://schemas.microsoft.com/office/powerpoint/2010/main" val="2271953544"/>
              </p:ext>
            </p:extLst>
          </p:nvPr>
        </p:nvGraphicFramePr>
        <p:xfrm>
          <a:off x="675876" y="6189054"/>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dirty="0"/>
                        <a:t>5</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22" name="表格 9">
            <a:extLst>
              <a:ext uri="{FF2B5EF4-FFF2-40B4-BE49-F238E27FC236}">
                <a16:creationId xmlns:a16="http://schemas.microsoft.com/office/drawing/2014/main" id="{7FC75344-9FBE-8D43-8E94-4193427FAA7F}"/>
              </a:ext>
            </a:extLst>
          </p:cNvPr>
          <p:cNvGraphicFramePr>
            <a:graphicFrameLocks noGrp="1"/>
          </p:cNvGraphicFramePr>
          <p:nvPr>
            <p:extLst>
              <p:ext uri="{D42A27DB-BD31-4B8C-83A1-F6EECF244321}">
                <p14:modId xmlns:p14="http://schemas.microsoft.com/office/powerpoint/2010/main" val="3155123888"/>
              </p:ext>
            </p:extLst>
          </p:nvPr>
        </p:nvGraphicFramePr>
        <p:xfrm>
          <a:off x="4430942" y="4903879"/>
          <a:ext cx="3513573"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gridCol w="390397">
                  <a:extLst>
                    <a:ext uri="{9D8B030D-6E8A-4147-A177-3AD203B41FA5}">
                      <a16:colId xmlns:a16="http://schemas.microsoft.com/office/drawing/2014/main" val="87014090"/>
                    </a:ext>
                  </a:extLst>
                </a:gridCol>
                <a:gridCol w="390397">
                  <a:extLst>
                    <a:ext uri="{9D8B030D-6E8A-4147-A177-3AD203B41FA5}">
                      <a16:colId xmlns:a16="http://schemas.microsoft.com/office/drawing/2014/main" val="1036655742"/>
                    </a:ext>
                  </a:extLst>
                </a:gridCol>
                <a:gridCol w="390397">
                  <a:extLst>
                    <a:ext uri="{9D8B030D-6E8A-4147-A177-3AD203B41FA5}">
                      <a16:colId xmlns:a16="http://schemas.microsoft.com/office/drawing/2014/main" val="3582937821"/>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1</a:t>
                      </a:r>
                      <a:endParaRPr lang="zh-TW" altLang="en-US" b="1" dirty="0">
                        <a:solidFill>
                          <a:schemeClr val="accent2"/>
                        </a:solidFill>
                      </a:endParaRPr>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8</a:t>
                      </a:r>
                      <a:endParaRPr lang="zh-TW" altLang="en-US" dirty="0"/>
                    </a:p>
                  </a:txBody>
                  <a:tcPr/>
                </a:tc>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sp>
        <p:nvSpPr>
          <p:cNvPr id="23" name="文字方塊 22">
            <a:extLst>
              <a:ext uri="{FF2B5EF4-FFF2-40B4-BE49-F238E27FC236}">
                <a16:creationId xmlns:a16="http://schemas.microsoft.com/office/drawing/2014/main" id="{3FAD4266-BA45-EF48-A092-3288918D8AB4}"/>
              </a:ext>
            </a:extLst>
          </p:cNvPr>
          <p:cNvSpPr txBox="1"/>
          <p:nvPr/>
        </p:nvSpPr>
        <p:spPr>
          <a:xfrm>
            <a:off x="4328649" y="6033184"/>
            <a:ext cx="7347808" cy="646331"/>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Choose the best partial solution and keep it for the next iteration until the size of 𝛑 is n.</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77077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Variable Neighborhood Search (VNS)</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The destruction and construction procedure of iterated greedy algorithms.</a:t>
            </a:r>
          </a:p>
          <a:p>
            <a:r>
              <a:rPr kumimoji="1" lang="en-US" altLang="zh-TW" dirty="0">
                <a:latin typeface="Times New Roman" panose="02020603050405020304" pitchFamily="18" charset="0"/>
                <a:cs typeface="Times New Roman" panose="02020603050405020304" pitchFamily="18" charset="0"/>
              </a:rPr>
              <a:t>1_Opt local search : A single node is removed.</a:t>
            </a:r>
          </a:p>
          <a:p>
            <a:r>
              <a:rPr kumimoji="1" lang="en-US" altLang="zh-TW" i="1" dirty="0">
                <a:latin typeface="Times New Roman" panose="02020603050405020304" pitchFamily="18" charset="0"/>
                <a:cs typeface="Times New Roman" panose="02020603050405020304" pitchFamily="18" charset="0"/>
              </a:rPr>
              <a:t>VNS_1_Opt</a:t>
            </a:r>
            <a:r>
              <a:rPr kumimoji="1" lang="en-US" altLang="zh-TW" dirty="0">
                <a:latin typeface="Times New Roman" panose="02020603050405020304" pitchFamily="18" charset="0"/>
                <a:cs typeface="Times New Roman" panose="02020603050405020304" pitchFamily="18" charset="0"/>
              </a:rPr>
              <a:t>(</a:t>
            </a:r>
            <a:r>
              <a:rPr lang="en-US" altLang="zh-TW" i="1" dirty="0">
                <a:solidFill>
                  <a:srgbClr val="000000"/>
                </a:solidFill>
                <a:latin typeface="Times New Roman" panose="02020603050405020304" pitchFamily="18" charset="0"/>
                <a:cs typeface="Times New Roman" panose="02020603050405020304" pitchFamily="18" charset="0"/>
              </a:rPr>
              <a:t>𝛑</a:t>
            </a:r>
            <a:r>
              <a:rPr kumimoji="1" lang="en-US" altLang="zh-TW" dirty="0">
                <a:latin typeface="Times New Roman" panose="02020603050405020304" pitchFamily="18" charset="0"/>
                <a:cs typeface="Times New Roman" panose="02020603050405020304" pitchFamily="18" charset="0"/>
              </a:rPr>
              <a:t>) :</a:t>
            </a:r>
          </a:p>
          <a:p>
            <a:r>
              <a:rPr kumimoji="1" lang="en-US" altLang="zh-TW" dirty="0">
                <a:latin typeface="Times New Roman" panose="02020603050405020304" pitchFamily="18" charset="0"/>
                <a:cs typeface="Times New Roman" panose="02020603050405020304" pitchFamily="18" charset="0"/>
              </a:rPr>
              <a:t>Step1: Destruction.</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Step2 : Construction.</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graphicFrame>
        <p:nvGraphicFramePr>
          <p:cNvPr id="5" name="表格 9">
            <a:extLst>
              <a:ext uri="{FF2B5EF4-FFF2-40B4-BE49-F238E27FC236}">
                <a16:creationId xmlns:a16="http://schemas.microsoft.com/office/drawing/2014/main" id="{48983D2B-91B4-6B4A-A086-FF6144E6CD66}"/>
              </a:ext>
            </a:extLst>
          </p:cNvPr>
          <p:cNvGraphicFramePr>
            <a:graphicFrameLocks noGrp="1"/>
          </p:cNvGraphicFramePr>
          <p:nvPr>
            <p:extLst>
              <p:ext uri="{D42A27DB-BD31-4B8C-83A1-F6EECF244321}">
                <p14:modId xmlns:p14="http://schemas.microsoft.com/office/powerpoint/2010/main" val="2493885342"/>
              </p:ext>
            </p:extLst>
          </p:nvPr>
        </p:nvGraphicFramePr>
        <p:xfrm>
          <a:off x="1160128" y="4306777"/>
          <a:ext cx="2732779"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4244333132"/>
                    </a:ext>
                  </a:extLst>
                </a:gridCol>
                <a:gridCol w="390397">
                  <a:extLst>
                    <a:ext uri="{9D8B030D-6E8A-4147-A177-3AD203B41FA5}">
                      <a16:colId xmlns:a16="http://schemas.microsoft.com/office/drawing/2014/main" val="320621893"/>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4</a:t>
                      </a:r>
                      <a:endParaRPr lang="zh-TW" altLang="en-US" b="0" dirty="0">
                        <a:solidFill>
                          <a:schemeClr val="tx1"/>
                        </a:solidFill>
                      </a:endParaRPr>
                    </a:p>
                  </a:txBody>
                  <a:tcPr/>
                </a:tc>
                <a:tc>
                  <a:txBody>
                    <a:bodyPr/>
                    <a:lstStyle/>
                    <a:p>
                      <a:pPr algn="ctr"/>
                      <a:r>
                        <a:rPr lang="en-US" altLang="zh-TW" b="0" dirty="0">
                          <a:solidFill>
                            <a:schemeClr val="tx1"/>
                          </a:solidFill>
                        </a:rPr>
                        <a:t>2</a:t>
                      </a:r>
                      <a:endParaRPr lang="zh-TW" altLang="en-US" b="0" dirty="0">
                        <a:solidFill>
                          <a:schemeClr val="tx1"/>
                        </a:solidFill>
                      </a:endParaRPr>
                    </a:p>
                  </a:txBody>
                  <a:tcPr/>
                </a:tc>
                <a:tc>
                  <a:txBody>
                    <a:bodyPr/>
                    <a:lstStyle/>
                    <a:p>
                      <a:pPr algn="ctr"/>
                      <a:r>
                        <a:rPr lang="en-US" altLang="zh-TW" b="0" dirty="0">
                          <a:solidFill>
                            <a:schemeClr val="tx1"/>
                          </a:solidFill>
                        </a:rPr>
                        <a:t>1</a:t>
                      </a:r>
                      <a:endParaRPr lang="zh-TW" altLang="en-US" b="0" dirty="0">
                        <a:solidFill>
                          <a:schemeClr val="tx1"/>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algn="ctr"/>
                      <a:r>
                        <a:rPr lang="en-US" altLang="zh-TW" b="1" dirty="0">
                          <a:solidFill>
                            <a:schemeClr val="accent2"/>
                          </a:solidFill>
                        </a:rPr>
                        <a:t>3</a:t>
                      </a:r>
                      <a:endParaRPr lang="zh-TW" altLang="en-US" b="1" dirty="0">
                        <a:solidFill>
                          <a:schemeClr val="accent2"/>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sp>
        <p:nvSpPr>
          <p:cNvPr id="7" name="文字方塊 6">
            <a:extLst>
              <a:ext uri="{FF2B5EF4-FFF2-40B4-BE49-F238E27FC236}">
                <a16:creationId xmlns:a16="http://schemas.microsoft.com/office/drawing/2014/main" id="{438EE1D6-1586-B046-9DC9-4A90B9B31A0C}"/>
              </a:ext>
            </a:extLst>
          </p:cNvPr>
          <p:cNvSpPr txBox="1"/>
          <p:nvPr/>
        </p:nvSpPr>
        <p:spPr>
          <a:xfrm>
            <a:off x="4070535" y="4306777"/>
            <a:ext cx="415498" cy="369332"/>
          </a:xfrm>
          <a:prstGeom prst="rect">
            <a:avLst/>
          </a:prstGeom>
          <a:noFill/>
        </p:spPr>
        <p:txBody>
          <a:bodyPr wrap="none" rtlCol="0">
            <a:spAutoFit/>
          </a:bodyPr>
          <a:lstStyle/>
          <a:p>
            <a:r>
              <a:rPr kumimoji="1" lang="en-US" altLang="zh-TW" dirty="0"/>
              <a:t>→</a:t>
            </a:r>
            <a:endParaRPr kumimoji="1" lang="zh-TW" altLang="en-US" dirty="0"/>
          </a:p>
        </p:txBody>
      </p:sp>
      <p:graphicFrame>
        <p:nvGraphicFramePr>
          <p:cNvPr id="8" name="表格 9">
            <a:extLst>
              <a:ext uri="{FF2B5EF4-FFF2-40B4-BE49-F238E27FC236}">
                <a16:creationId xmlns:a16="http://schemas.microsoft.com/office/drawing/2014/main" id="{6FD89870-A563-9C47-BC01-F0CFA5D671F4}"/>
              </a:ext>
            </a:extLst>
          </p:cNvPr>
          <p:cNvGraphicFramePr>
            <a:graphicFrameLocks noGrp="1"/>
          </p:cNvGraphicFramePr>
          <p:nvPr>
            <p:extLst>
              <p:ext uri="{D42A27DB-BD31-4B8C-83A1-F6EECF244321}">
                <p14:modId xmlns:p14="http://schemas.microsoft.com/office/powerpoint/2010/main" val="2054078840"/>
              </p:ext>
            </p:extLst>
          </p:nvPr>
        </p:nvGraphicFramePr>
        <p:xfrm>
          <a:off x="4663661" y="4306777"/>
          <a:ext cx="2342382"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320621893"/>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4</a:t>
                      </a:r>
                      <a:endParaRPr lang="zh-TW" altLang="en-US" b="0" dirty="0">
                        <a:solidFill>
                          <a:schemeClr val="tx1"/>
                        </a:solidFill>
                      </a:endParaRPr>
                    </a:p>
                  </a:txBody>
                  <a:tcPr/>
                </a:tc>
                <a:tc>
                  <a:txBody>
                    <a:bodyPr/>
                    <a:lstStyle/>
                    <a:p>
                      <a:pPr algn="ctr"/>
                      <a:r>
                        <a:rPr lang="en-US" altLang="zh-TW" b="0" dirty="0">
                          <a:solidFill>
                            <a:schemeClr val="tx1"/>
                          </a:solidFill>
                        </a:rPr>
                        <a:t>2</a:t>
                      </a:r>
                      <a:endParaRPr lang="zh-TW" altLang="en-US" b="0" dirty="0">
                        <a:solidFill>
                          <a:schemeClr val="tx1"/>
                        </a:solidFill>
                      </a:endParaRPr>
                    </a:p>
                  </a:txBody>
                  <a:tcPr/>
                </a:tc>
                <a:tc>
                  <a:txBody>
                    <a:bodyPr/>
                    <a:lstStyle/>
                    <a:p>
                      <a:pPr algn="ctr"/>
                      <a:r>
                        <a:rPr lang="en-US" altLang="zh-TW" b="0" dirty="0">
                          <a:solidFill>
                            <a:schemeClr val="tx1"/>
                          </a:solidFill>
                        </a:rPr>
                        <a:t>1</a:t>
                      </a:r>
                      <a:endParaRPr lang="zh-TW" altLang="en-US" b="0" dirty="0">
                        <a:solidFill>
                          <a:schemeClr val="tx1"/>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9" name="表格 9">
            <a:extLst>
              <a:ext uri="{FF2B5EF4-FFF2-40B4-BE49-F238E27FC236}">
                <a16:creationId xmlns:a16="http://schemas.microsoft.com/office/drawing/2014/main" id="{42FC1AC7-F823-9A48-862B-02C49ECF1648}"/>
              </a:ext>
            </a:extLst>
          </p:cNvPr>
          <p:cNvGraphicFramePr>
            <a:graphicFrameLocks noGrp="1"/>
          </p:cNvGraphicFramePr>
          <p:nvPr>
            <p:extLst>
              <p:ext uri="{D42A27DB-BD31-4B8C-83A1-F6EECF244321}">
                <p14:modId xmlns:p14="http://schemas.microsoft.com/office/powerpoint/2010/main" val="2411738641"/>
              </p:ext>
            </p:extLst>
          </p:nvPr>
        </p:nvGraphicFramePr>
        <p:xfrm>
          <a:off x="7699854" y="4306777"/>
          <a:ext cx="390397"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tblGrid>
              <a:tr h="370840">
                <a:tc>
                  <a:txBody>
                    <a:bodyPr/>
                    <a:lstStyle/>
                    <a:p>
                      <a:pPr algn="ctr"/>
                      <a:r>
                        <a:rPr lang="en-US" altLang="zh-TW" b="1" dirty="0">
                          <a:solidFill>
                            <a:schemeClr val="accent2"/>
                          </a:solidFill>
                        </a:rPr>
                        <a:t>3</a:t>
                      </a:r>
                      <a:endParaRPr lang="zh-TW" altLang="en-US" b="1" dirty="0">
                        <a:solidFill>
                          <a:schemeClr val="accent2"/>
                        </a:solidFill>
                      </a:endParaRPr>
                    </a:p>
                  </a:txBody>
                  <a:tcPr/>
                </a:tc>
                <a:extLst>
                  <a:ext uri="{0D108BD9-81ED-4DB2-BD59-A6C34878D82A}">
                    <a16:rowId xmlns:a16="http://schemas.microsoft.com/office/drawing/2014/main" val="4121315132"/>
                  </a:ext>
                </a:extLst>
              </a:tr>
            </a:tbl>
          </a:graphicData>
        </a:graphic>
      </p:graphicFrame>
      <p:sp>
        <p:nvSpPr>
          <p:cNvPr id="10" name="文字方塊 9">
            <a:extLst>
              <a:ext uri="{FF2B5EF4-FFF2-40B4-BE49-F238E27FC236}">
                <a16:creationId xmlns:a16="http://schemas.microsoft.com/office/drawing/2014/main" id="{2D694813-AF2F-6F40-90BD-030CA2A93519}"/>
              </a:ext>
            </a:extLst>
          </p:cNvPr>
          <p:cNvSpPr txBox="1"/>
          <p:nvPr/>
        </p:nvSpPr>
        <p:spPr>
          <a:xfrm>
            <a:off x="7183671" y="4306777"/>
            <a:ext cx="338554" cy="369332"/>
          </a:xfrm>
          <a:prstGeom prst="rect">
            <a:avLst/>
          </a:prstGeom>
          <a:noFill/>
        </p:spPr>
        <p:txBody>
          <a:bodyPr wrap="none" rtlCol="0">
            <a:spAutoFit/>
          </a:bodyPr>
          <a:lstStyle/>
          <a:p>
            <a:r>
              <a:rPr kumimoji="1" lang="en-US" altLang="zh-TW" dirty="0"/>
              <a:t>+</a:t>
            </a:r>
            <a:endParaRPr kumimoji="1" lang="zh-TW" altLang="en-US" dirty="0"/>
          </a:p>
        </p:txBody>
      </p:sp>
      <p:graphicFrame>
        <p:nvGraphicFramePr>
          <p:cNvPr id="11" name="表格 9">
            <a:extLst>
              <a:ext uri="{FF2B5EF4-FFF2-40B4-BE49-F238E27FC236}">
                <a16:creationId xmlns:a16="http://schemas.microsoft.com/office/drawing/2014/main" id="{B1BAAA33-FC00-2341-B9EE-6FBA3039BEB6}"/>
              </a:ext>
            </a:extLst>
          </p:cNvPr>
          <p:cNvGraphicFramePr>
            <a:graphicFrameLocks noGrp="1"/>
          </p:cNvGraphicFramePr>
          <p:nvPr>
            <p:extLst>
              <p:ext uri="{D42A27DB-BD31-4B8C-83A1-F6EECF244321}">
                <p14:modId xmlns:p14="http://schemas.microsoft.com/office/powerpoint/2010/main" val="961283630"/>
              </p:ext>
            </p:extLst>
          </p:nvPr>
        </p:nvGraphicFramePr>
        <p:xfrm>
          <a:off x="1160128" y="5362944"/>
          <a:ext cx="2732779"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4244333132"/>
                    </a:ext>
                  </a:extLst>
                </a:gridCol>
                <a:gridCol w="390397">
                  <a:extLst>
                    <a:ext uri="{9D8B030D-6E8A-4147-A177-3AD203B41FA5}">
                      <a16:colId xmlns:a16="http://schemas.microsoft.com/office/drawing/2014/main" val="320621893"/>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4</a:t>
                      </a:r>
                      <a:endParaRPr lang="zh-TW" altLang="en-US" b="0" dirty="0">
                        <a:solidFill>
                          <a:schemeClr val="tx1"/>
                        </a:solidFill>
                      </a:endParaRPr>
                    </a:p>
                  </a:txBody>
                  <a:tcPr/>
                </a:tc>
                <a:tc>
                  <a:txBody>
                    <a:bodyPr/>
                    <a:lstStyle/>
                    <a:p>
                      <a:pPr algn="ctr"/>
                      <a:r>
                        <a:rPr lang="en-US" altLang="zh-TW" b="0" dirty="0">
                          <a:solidFill>
                            <a:schemeClr val="tx1"/>
                          </a:solidFill>
                        </a:rPr>
                        <a:t>2</a:t>
                      </a:r>
                      <a:endParaRPr lang="zh-TW" altLang="en-US" b="0" dirty="0">
                        <a:solidFill>
                          <a:schemeClr val="tx1"/>
                        </a:solidFill>
                      </a:endParaRPr>
                    </a:p>
                  </a:txBody>
                  <a:tcPr/>
                </a:tc>
                <a:tc>
                  <a:txBody>
                    <a:bodyPr/>
                    <a:lstStyle/>
                    <a:p>
                      <a:pPr algn="ctr"/>
                      <a:r>
                        <a:rPr lang="en-US" altLang="zh-TW" b="0" dirty="0">
                          <a:solidFill>
                            <a:schemeClr val="tx1"/>
                          </a:solidFill>
                        </a:rPr>
                        <a:t>1</a:t>
                      </a:r>
                      <a:endParaRPr lang="zh-TW" altLang="en-US" b="0" dirty="0">
                        <a:solidFill>
                          <a:schemeClr val="tx1"/>
                        </a:solidFill>
                      </a:endParaRPr>
                    </a:p>
                  </a:txBody>
                  <a:tcPr/>
                </a:tc>
                <a:tc>
                  <a:txBody>
                    <a:bodyPr/>
                    <a:lstStyle/>
                    <a:p>
                      <a:pPr algn="ctr"/>
                      <a:r>
                        <a:rPr lang="en-US" altLang="zh-TW" b="1" dirty="0">
                          <a:solidFill>
                            <a:schemeClr val="accent2"/>
                          </a:solidFill>
                        </a:rPr>
                        <a:t>3</a:t>
                      </a:r>
                      <a:endParaRPr lang="zh-TW" altLang="en-US" b="1" dirty="0">
                        <a:solidFill>
                          <a:schemeClr val="accent2"/>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2" name="表格 9">
            <a:extLst>
              <a:ext uri="{FF2B5EF4-FFF2-40B4-BE49-F238E27FC236}">
                <a16:creationId xmlns:a16="http://schemas.microsoft.com/office/drawing/2014/main" id="{36285CC6-A28C-4441-AB62-A6CEB5785C3F}"/>
              </a:ext>
            </a:extLst>
          </p:cNvPr>
          <p:cNvGraphicFramePr>
            <a:graphicFrameLocks noGrp="1"/>
          </p:cNvGraphicFramePr>
          <p:nvPr>
            <p:extLst>
              <p:ext uri="{D42A27DB-BD31-4B8C-83A1-F6EECF244321}">
                <p14:modId xmlns:p14="http://schemas.microsoft.com/office/powerpoint/2010/main" val="211854786"/>
              </p:ext>
            </p:extLst>
          </p:nvPr>
        </p:nvGraphicFramePr>
        <p:xfrm>
          <a:off x="4281695" y="5362944"/>
          <a:ext cx="2732779"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4244333132"/>
                    </a:ext>
                  </a:extLst>
                </a:gridCol>
                <a:gridCol w="390397">
                  <a:extLst>
                    <a:ext uri="{9D8B030D-6E8A-4147-A177-3AD203B41FA5}">
                      <a16:colId xmlns:a16="http://schemas.microsoft.com/office/drawing/2014/main" val="320621893"/>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4</a:t>
                      </a:r>
                      <a:endParaRPr lang="zh-TW" altLang="en-US" b="0" dirty="0">
                        <a:solidFill>
                          <a:schemeClr val="tx1"/>
                        </a:solidFill>
                      </a:endParaRPr>
                    </a:p>
                  </a:txBody>
                  <a:tcPr/>
                </a:tc>
                <a:tc>
                  <a:txBody>
                    <a:bodyPr/>
                    <a:lstStyle/>
                    <a:p>
                      <a:pPr algn="ctr"/>
                      <a:r>
                        <a:rPr lang="en-US" altLang="zh-TW" b="0" dirty="0">
                          <a:solidFill>
                            <a:schemeClr val="tx1"/>
                          </a:solidFill>
                        </a:rPr>
                        <a:t>2</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3</a:t>
                      </a:r>
                      <a:endParaRPr lang="zh-TW" altLang="en-US" b="1" dirty="0">
                        <a:solidFill>
                          <a:schemeClr val="accent2"/>
                        </a:solidFill>
                      </a:endParaRPr>
                    </a:p>
                  </a:txBody>
                  <a:tcPr/>
                </a:tc>
                <a:tc>
                  <a:txBody>
                    <a:bodyPr/>
                    <a:lstStyle/>
                    <a:p>
                      <a:pPr algn="ctr"/>
                      <a:r>
                        <a:rPr lang="en-US" altLang="zh-TW" b="0" dirty="0">
                          <a:solidFill>
                            <a:schemeClr val="tx1"/>
                          </a:solidFill>
                        </a:rPr>
                        <a:t>1</a:t>
                      </a:r>
                      <a:endParaRPr lang="zh-TW" altLang="en-US" b="0" dirty="0">
                        <a:solidFill>
                          <a:schemeClr val="tx1"/>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3" name="表格 9">
            <a:extLst>
              <a:ext uri="{FF2B5EF4-FFF2-40B4-BE49-F238E27FC236}">
                <a16:creationId xmlns:a16="http://schemas.microsoft.com/office/drawing/2014/main" id="{838A5FFA-846F-DD41-95E0-756E54A81367}"/>
              </a:ext>
            </a:extLst>
          </p:cNvPr>
          <p:cNvGraphicFramePr>
            <a:graphicFrameLocks noGrp="1"/>
          </p:cNvGraphicFramePr>
          <p:nvPr>
            <p:extLst>
              <p:ext uri="{D42A27DB-BD31-4B8C-83A1-F6EECF244321}">
                <p14:modId xmlns:p14="http://schemas.microsoft.com/office/powerpoint/2010/main" val="50754126"/>
              </p:ext>
            </p:extLst>
          </p:nvPr>
        </p:nvGraphicFramePr>
        <p:xfrm>
          <a:off x="1160128" y="6059357"/>
          <a:ext cx="2732779"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4244333132"/>
                    </a:ext>
                  </a:extLst>
                </a:gridCol>
                <a:gridCol w="390397">
                  <a:extLst>
                    <a:ext uri="{9D8B030D-6E8A-4147-A177-3AD203B41FA5}">
                      <a16:colId xmlns:a16="http://schemas.microsoft.com/office/drawing/2014/main" val="320621893"/>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algn="ctr"/>
                      <a:r>
                        <a:rPr lang="en-US" altLang="zh-TW" b="0" dirty="0">
                          <a:solidFill>
                            <a:schemeClr val="tx1"/>
                          </a:solidFill>
                        </a:rPr>
                        <a:t>4</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3</a:t>
                      </a:r>
                      <a:endParaRPr lang="zh-TW" altLang="en-US" b="1" dirty="0">
                        <a:solidFill>
                          <a:schemeClr val="accent2"/>
                        </a:solidFill>
                      </a:endParaRPr>
                    </a:p>
                  </a:txBody>
                  <a:tcPr/>
                </a:tc>
                <a:tc>
                  <a:txBody>
                    <a:bodyPr/>
                    <a:lstStyle/>
                    <a:p>
                      <a:pPr algn="ctr"/>
                      <a:r>
                        <a:rPr lang="en-US" altLang="zh-TW" b="0" dirty="0">
                          <a:solidFill>
                            <a:schemeClr val="tx1"/>
                          </a:solidFill>
                        </a:rPr>
                        <a:t>2</a:t>
                      </a:r>
                      <a:endParaRPr lang="zh-TW" altLang="en-US" b="0" dirty="0">
                        <a:solidFill>
                          <a:schemeClr val="tx1"/>
                        </a:solidFill>
                      </a:endParaRPr>
                    </a:p>
                  </a:txBody>
                  <a:tcPr/>
                </a:tc>
                <a:tc>
                  <a:txBody>
                    <a:bodyPr/>
                    <a:lstStyle/>
                    <a:p>
                      <a:pPr algn="ctr"/>
                      <a:r>
                        <a:rPr lang="en-US" altLang="zh-TW" b="0" dirty="0">
                          <a:solidFill>
                            <a:schemeClr val="tx1"/>
                          </a:solidFill>
                        </a:rPr>
                        <a:t>1</a:t>
                      </a:r>
                      <a:endParaRPr lang="zh-TW" altLang="en-US" b="0" dirty="0">
                        <a:solidFill>
                          <a:schemeClr val="tx1"/>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graphicFrame>
        <p:nvGraphicFramePr>
          <p:cNvPr id="14" name="表格 9">
            <a:extLst>
              <a:ext uri="{FF2B5EF4-FFF2-40B4-BE49-F238E27FC236}">
                <a16:creationId xmlns:a16="http://schemas.microsoft.com/office/drawing/2014/main" id="{A53A5A6C-CD61-5947-B6D5-FB3E4FC619C7}"/>
              </a:ext>
            </a:extLst>
          </p:cNvPr>
          <p:cNvGraphicFramePr>
            <a:graphicFrameLocks noGrp="1"/>
          </p:cNvGraphicFramePr>
          <p:nvPr>
            <p:extLst>
              <p:ext uri="{D42A27DB-BD31-4B8C-83A1-F6EECF244321}">
                <p14:modId xmlns:p14="http://schemas.microsoft.com/office/powerpoint/2010/main" val="1303856007"/>
              </p:ext>
            </p:extLst>
          </p:nvPr>
        </p:nvGraphicFramePr>
        <p:xfrm>
          <a:off x="4281695" y="6059357"/>
          <a:ext cx="2732779" cy="370840"/>
        </p:xfrm>
        <a:graphic>
          <a:graphicData uri="http://schemas.openxmlformats.org/drawingml/2006/table">
            <a:tbl>
              <a:tblPr firstRow="1" bandRow="1">
                <a:tableStyleId>{5940675A-B579-460E-94D1-54222C63F5DA}</a:tableStyleId>
              </a:tblPr>
              <a:tblGrid>
                <a:gridCol w="390397">
                  <a:extLst>
                    <a:ext uri="{9D8B030D-6E8A-4147-A177-3AD203B41FA5}">
                      <a16:colId xmlns:a16="http://schemas.microsoft.com/office/drawing/2014/main" val="3095789843"/>
                    </a:ext>
                  </a:extLst>
                </a:gridCol>
                <a:gridCol w="390397">
                  <a:extLst>
                    <a:ext uri="{9D8B030D-6E8A-4147-A177-3AD203B41FA5}">
                      <a16:colId xmlns:a16="http://schemas.microsoft.com/office/drawing/2014/main" val="2123006657"/>
                    </a:ext>
                  </a:extLst>
                </a:gridCol>
                <a:gridCol w="390397">
                  <a:extLst>
                    <a:ext uri="{9D8B030D-6E8A-4147-A177-3AD203B41FA5}">
                      <a16:colId xmlns:a16="http://schemas.microsoft.com/office/drawing/2014/main" val="1340662318"/>
                    </a:ext>
                  </a:extLst>
                </a:gridCol>
                <a:gridCol w="390397">
                  <a:extLst>
                    <a:ext uri="{9D8B030D-6E8A-4147-A177-3AD203B41FA5}">
                      <a16:colId xmlns:a16="http://schemas.microsoft.com/office/drawing/2014/main" val="2240640739"/>
                    </a:ext>
                  </a:extLst>
                </a:gridCol>
                <a:gridCol w="390397">
                  <a:extLst>
                    <a:ext uri="{9D8B030D-6E8A-4147-A177-3AD203B41FA5}">
                      <a16:colId xmlns:a16="http://schemas.microsoft.com/office/drawing/2014/main" val="2292259446"/>
                    </a:ext>
                  </a:extLst>
                </a:gridCol>
                <a:gridCol w="390397">
                  <a:extLst>
                    <a:ext uri="{9D8B030D-6E8A-4147-A177-3AD203B41FA5}">
                      <a16:colId xmlns:a16="http://schemas.microsoft.com/office/drawing/2014/main" val="4244333132"/>
                    </a:ext>
                  </a:extLst>
                </a:gridCol>
                <a:gridCol w="390397">
                  <a:extLst>
                    <a:ext uri="{9D8B030D-6E8A-4147-A177-3AD203B41FA5}">
                      <a16:colId xmlns:a16="http://schemas.microsoft.com/office/drawing/2014/main" val="320621893"/>
                    </a:ext>
                  </a:extLst>
                </a:gridCol>
              </a:tblGrid>
              <a:tr h="370840">
                <a:tc>
                  <a:txBody>
                    <a:bodyPr/>
                    <a:lstStyle/>
                    <a:p>
                      <a:pPr algn="ctr"/>
                      <a:r>
                        <a:rPr lang="en-US" altLang="zh-TW" dirty="0">
                          <a:solidFill>
                            <a:schemeClr val="bg1">
                              <a:lumMod val="75000"/>
                            </a:schemeClr>
                          </a:solidFill>
                        </a:rPr>
                        <a:t>0</a:t>
                      </a:r>
                      <a:endParaRPr lang="zh-TW" altLang="en-US" dirty="0">
                        <a:solidFill>
                          <a:schemeClr val="bg1">
                            <a:lumMod val="75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chemeClr val="accent2"/>
                          </a:solidFill>
                        </a:rPr>
                        <a:t>3</a:t>
                      </a:r>
                      <a:endParaRPr lang="zh-TW" altLang="en-US" b="1" dirty="0">
                        <a:solidFill>
                          <a:schemeClr val="accent2"/>
                        </a:solidFill>
                      </a:endParaRPr>
                    </a:p>
                  </a:txBody>
                  <a:tcPr/>
                </a:tc>
                <a:tc>
                  <a:txBody>
                    <a:bodyPr/>
                    <a:lstStyle/>
                    <a:p>
                      <a:pPr algn="ctr"/>
                      <a:r>
                        <a:rPr lang="en-US" altLang="zh-TW" b="0" dirty="0">
                          <a:solidFill>
                            <a:schemeClr val="tx1"/>
                          </a:solidFill>
                        </a:rPr>
                        <a:t>4</a:t>
                      </a:r>
                      <a:endParaRPr lang="zh-TW" altLang="en-US" b="0" dirty="0">
                        <a:solidFill>
                          <a:schemeClr val="tx1"/>
                        </a:solidFill>
                      </a:endParaRPr>
                    </a:p>
                  </a:txBody>
                  <a:tcPr/>
                </a:tc>
                <a:tc>
                  <a:txBody>
                    <a:bodyPr/>
                    <a:lstStyle/>
                    <a:p>
                      <a:pPr algn="ctr"/>
                      <a:r>
                        <a:rPr lang="en-US" altLang="zh-TW" b="0" dirty="0">
                          <a:solidFill>
                            <a:schemeClr val="tx1"/>
                          </a:solidFill>
                        </a:rPr>
                        <a:t>2</a:t>
                      </a:r>
                      <a:endParaRPr lang="zh-TW" altLang="en-US" b="0" dirty="0">
                        <a:solidFill>
                          <a:schemeClr val="tx1"/>
                        </a:solidFill>
                      </a:endParaRPr>
                    </a:p>
                  </a:txBody>
                  <a:tcPr/>
                </a:tc>
                <a:tc>
                  <a:txBody>
                    <a:bodyPr/>
                    <a:lstStyle/>
                    <a:p>
                      <a:pPr algn="ctr"/>
                      <a:r>
                        <a:rPr lang="en-US" altLang="zh-TW" b="0" dirty="0">
                          <a:solidFill>
                            <a:schemeClr val="tx1"/>
                          </a:solidFill>
                        </a:rPr>
                        <a:t>1</a:t>
                      </a:r>
                      <a:endParaRPr lang="zh-TW" altLang="en-US" b="0" dirty="0">
                        <a:solidFill>
                          <a:schemeClr val="tx1"/>
                        </a:solidFill>
                      </a:endParaRPr>
                    </a:p>
                  </a:txBody>
                  <a:tcPr/>
                </a:tc>
                <a:tc>
                  <a:txBody>
                    <a:bodyPr/>
                    <a:lstStyle/>
                    <a:p>
                      <a:pPr algn="ctr"/>
                      <a:r>
                        <a:rPr lang="en-US" altLang="zh-TW" b="0" dirty="0">
                          <a:solidFill>
                            <a:schemeClr val="tx1"/>
                          </a:solidFill>
                        </a:rPr>
                        <a:t>5</a:t>
                      </a:r>
                      <a:endParaRPr lang="zh-TW" altLang="en-US" b="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bg1">
                              <a:lumMod val="75000"/>
                            </a:schemeClr>
                          </a:solidFill>
                        </a:rPr>
                        <a:t>0</a:t>
                      </a:r>
                      <a:endParaRPr lang="zh-TW" altLang="en-US" dirty="0">
                        <a:solidFill>
                          <a:schemeClr val="bg1">
                            <a:lumMod val="75000"/>
                          </a:schemeClr>
                        </a:solidFill>
                      </a:endParaRPr>
                    </a:p>
                  </a:txBody>
                  <a:tcPr/>
                </a:tc>
                <a:extLst>
                  <a:ext uri="{0D108BD9-81ED-4DB2-BD59-A6C34878D82A}">
                    <a16:rowId xmlns:a16="http://schemas.microsoft.com/office/drawing/2014/main" val="4121315132"/>
                  </a:ext>
                </a:extLst>
              </a:tr>
            </a:tbl>
          </a:graphicData>
        </a:graphic>
      </p:graphicFrame>
      <p:sp>
        <p:nvSpPr>
          <p:cNvPr id="15" name="文字方塊 14">
            <a:extLst>
              <a:ext uri="{FF2B5EF4-FFF2-40B4-BE49-F238E27FC236}">
                <a16:creationId xmlns:a16="http://schemas.microsoft.com/office/drawing/2014/main" id="{6C0C6A68-3E82-0D4F-BEDC-E99BDBE2BABD}"/>
              </a:ext>
            </a:extLst>
          </p:cNvPr>
          <p:cNvSpPr txBox="1"/>
          <p:nvPr/>
        </p:nvSpPr>
        <p:spPr>
          <a:xfrm>
            <a:off x="7403261" y="5414534"/>
            <a:ext cx="3695468" cy="1015663"/>
          </a:xfrm>
          <a:prstGeom prst="rect">
            <a:avLst/>
          </a:prstGeom>
          <a:noFill/>
        </p:spPr>
        <p:txBody>
          <a:bodyPr wrap="square" rtlCol="0">
            <a:spAutoFit/>
          </a:bodyPr>
          <a:lstStyle/>
          <a:p>
            <a:pPr algn="just"/>
            <a:r>
              <a:rPr kumimoji="1" lang="en-US" altLang="zh-TW" sz="2000" dirty="0">
                <a:latin typeface="Times New Roman" panose="02020603050405020304" pitchFamily="18" charset="0"/>
                <a:cs typeface="Times New Roman" panose="02020603050405020304" pitchFamily="18" charset="0"/>
              </a:rPr>
              <a:t>Choose the best partial solution and keep it for the next iteration until the size of iteration is n – 1.</a:t>
            </a:r>
            <a:endParaRPr kumimoji="1"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932996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Superiority of Feasible Solutions (SF)</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Constrained optimization based on lexicographic ordering, where constraint violation and objective function value are distinguished.</a:t>
            </a:r>
          </a:p>
          <a:p>
            <a:endParaRPr kumimoji="1" lang="en-US" altLang="zh-TW" dirty="0">
              <a:latin typeface="Times New Roman" panose="02020603050405020304" pitchFamily="18" charset="0"/>
              <a:cs typeface="Times New Roman" panose="02020603050405020304" pitchFamily="18" charset="0"/>
            </a:endParaRPr>
          </a:p>
          <a:p>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is deemed to be superior to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b</a:t>
            </a:r>
          </a:p>
          <a:p>
            <a:pPr lvl="1"/>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is feasible, and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is not.</a:t>
            </a:r>
          </a:p>
          <a:p>
            <a:pPr lvl="1"/>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and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are both feasible, and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has a smaller objective function value than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a:t>
            </a:r>
          </a:p>
          <a:p>
            <a:pPr lvl="1"/>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and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b</a:t>
            </a:r>
            <a:r>
              <a:rPr kumimoji="1" lang="en-US" altLang="zh-TW" dirty="0">
                <a:latin typeface="Times New Roman" panose="02020603050405020304" pitchFamily="18" charset="0"/>
                <a:cs typeface="Times New Roman" panose="02020603050405020304" pitchFamily="18" charset="0"/>
              </a:rPr>
              <a:t> are both infeasible, but </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 has a smaller overall constraint violation v(</a:t>
            </a:r>
            <a:r>
              <a:rPr lang="en-US" altLang="zh-TW" i="1" dirty="0">
                <a:solidFill>
                  <a:srgbClr val="000000"/>
                </a:solidFill>
                <a:latin typeface="Times New Roman" panose="02020603050405020304" pitchFamily="18" charset="0"/>
                <a:cs typeface="Times New Roman" panose="02020603050405020304" pitchFamily="18" charset="0"/>
              </a:rPr>
              <a:t>𝛑 </a:t>
            </a:r>
            <a:r>
              <a:rPr kumimoji="1" lang="en-US" altLang="zh-TW" baseline="-25000" dirty="0">
                <a:latin typeface="Times New Roman" panose="02020603050405020304" pitchFamily="18" charset="0"/>
                <a:cs typeface="Times New Roman" panose="02020603050405020304" pitchFamily="18" charset="0"/>
              </a:rPr>
              <a:t>a</a:t>
            </a:r>
            <a:r>
              <a:rPr kumimoji="1" lang="en-US" altLang="zh-TW" dirty="0">
                <a:latin typeface="Times New Roman" panose="02020603050405020304" pitchFamily="18" charset="0"/>
                <a:cs typeface="Times New Roman" panose="02020603050405020304" pitchFamily="18" charset="0"/>
              </a:rPr>
              <a:t>).</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spTree>
    <p:extLst>
      <p:ext uri="{BB962C8B-B14F-4D97-AF65-F5344CB8AC3E}">
        <p14:creationId xmlns:p14="http://schemas.microsoft.com/office/powerpoint/2010/main" val="10338143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Adaptive Penalty Approach</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A ‘‘near feasibility threshold’’ (NFT) corresponds to a ‘‘promising region’’ beyond the feasible region.</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327D2352-A67C-F241-8517-1D7975224BD7}"/>
              </a:ext>
            </a:extLst>
          </p:cNvPr>
          <p:cNvPicPr>
            <a:picLocks noChangeAspect="1"/>
          </p:cNvPicPr>
          <p:nvPr/>
        </p:nvPicPr>
        <p:blipFill>
          <a:blip r:embed="rId2"/>
          <a:stretch>
            <a:fillRect/>
          </a:stretch>
        </p:blipFill>
        <p:spPr>
          <a:xfrm>
            <a:off x="1141523" y="2889250"/>
            <a:ext cx="4699000" cy="1079500"/>
          </a:xfrm>
          <a:prstGeom prst="rect">
            <a:avLst/>
          </a:prstGeom>
        </p:spPr>
      </p:pic>
      <p:pic>
        <p:nvPicPr>
          <p:cNvPr id="5" name="圖片 4">
            <a:extLst>
              <a:ext uri="{FF2B5EF4-FFF2-40B4-BE49-F238E27FC236}">
                <a16:creationId xmlns:a16="http://schemas.microsoft.com/office/drawing/2014/main" id="{8CADD453-5465-FE46-B93F-2362DB837AB3}"/>
              </a:ext>
            </a:extLst>
          </p:cNvPr>
          <p:cNvPicPr>
            <a:picLocks noChangeAspect="1"/>
          </p:cNvPicPr>
          <p:nvPr/>
        </p:nvPicPr>
        <p:blipFill>
          <a:blip r:embed="rId3"/>
          <a:stretch>
            <a:fillRect/>
          </a:stretch>
        </p:blipFill>
        <p:spPr>
          <a:xfrm>
            <a:off x="1141523" y="4401506"/>
            <a:ext cx="1782430" cy="578537"/>
          </a:xfrm>
          <a:prstGeom prst="rect">
            <a:avLst/>
          </a:prstGeom>
        </p:spPr>
      </p:pic>
      <p:sp>
        <p:nvSpPr>
          <p:cNvPr id="7" name="矩形 6">
            <a:extLst>
              <a:ext uri="{FF2B5EF4-FFF2-40B4-BE49-F238E27FC236}">
                <a16:creationId xmlns:a16="http://schemas.microsoft.com/office/drawing/2014/main" id="{52DC2F57-8208-7840-946B-C8F93A71DD33}"/>
              </a:ext>
            </a:extLst>
          </p:cNvPr>
          <p:cNvSpPr/>
          <p:nvPr/>
        </p:nvSpPr>
        <p:spPr>
          <a:xfrm>
            <a:off x="1141523" y="5049896"/>
            <a:ext cx="4429937" cy="1015663"/>
          </a:xfrm>
          <a:prstGeom prst="rect">
            <a:avLst/>
          </a:prstGeom>
        </p:spPr>
        <p:txBody>
          <a:bodyPr wrap="square">
            <a:spAutoFit/>
          </a:bodyPr>
          <a:lstStyle/>
          <a:p>
            <a:pPr marL="285750" indent="-285750">
              <a:buFont typeface="Arial" panose="020B0604020202020204" pitchFamily="34" charset="0"/>
              <a:buChar char="•"/>
            </a:pPr>
            <a:r>
              <a:rPr lang="en-US" altLang="zh-TW" sz="2000" i="1" dirty="0">
                <a:solidFill>
                  <a:srgbClr val="000000"/>
                </a:solidFill>
                <a:latin typeface="Times New Roman" panose="02020603050405020304" pitchFamily="18" charset="0"/>
                <a:cs typeface="Times New Roman" panose="02020603050405020304" pitchFamily="18" charset="0"/>
              </a:rPr>
              <a:t>NFT</a:t>
            </a:r>
            <a:r>
              <a:rPr lang="en-US" altLang="zh-TW" sz="2000" baseline="-25000" dirty="0">
                <a:solidFill>
                  <a:srgbClr val="000000"/>
                </a:solidFill>
                <a:latin typeface="Times New Roman" panose="02020603050405020304" pitchFamily="18" charset="0"/>
                <a:cs typeface="Times New Roman" panose="02020603050405020304" pitchFamily="18" charset="0"/>
              </a:rPr>
              <a:t>0</a:t>
            </a:r>
            <a:r>
              <a:rPr lang="en-US" altLang="zh-TW" sz="2000" dirty="0">
                <a:solidFill>
                  <a:srgbClr val="000000"/>
                </a:solidFill>
                <a:latin typeface="Times New Roman" panose="02020603050405020304" pitchFamily="18" charset="0"/>
                <a:cs typeface="Times New Roman" panose="02020603050405020304" pitchFamily="18" charset="0"/>
              </a:rPr>
              <a:t> is an upper bound for </a:t>
            </a:r>
            <a:r>
              <a:rPr lang="en-US" altLang="zh-TW" sz="2000" i="1" dirty="0">
                <a:solidFill>
                  <a:srgbClr val="000000"/>
                </a:solidFill>
                <a:latin typeface="Times New Roman" panose="02020603050405020304" pitchFamily="18" charset="0"/>
                <a:cs typeface="Times New Roman" panose="02020603050405020304" pitchFamily="18" charset="0"/>
              </a:rPr>
              <a:t>NFT</a:t>
            </a:r>
          </a:p>
          <a:p>
            <a:pPr marL="285750" indent="-285750">
              <a:buFont typeface="Arial" panose="020B0604020202020204" pitchFamily="34" charset="0"/>
              <a:buChar char="•"/>
            </a:pPr>
            <a:r>
              <a:rPr lang="en-US" altLang="zh-TW" sz="2000" i="1">
                <a:solidFill>
                  <a:srgbClr val="000000"/>
                </a:solidFill>
                <a:latin typeface="Times New Roman" panose="02020603050405020304" pitchFamily="18" charset="0"/>
                <a:cs typeface="Times New Roman" panose="02020603050405020304" pitchFamily="18" charset="0"/>
              </a:rPr>
              <a:t>𝛼</a:t>
            </a:r>
            <a:r>
              <a:rPr lang="en-US" altLang="zh-TW" sz="2000">
                <a:solidFill>
                  <a:srgbClr val="000000"/>
                </a:solidFill>
                <a:latin typeface="Times New Roman" panose="02020603050405020304" pitchFamily="18" charset="0"/>
                <a:cs typeface="Times New Roman" panose="02020603050405020304" pitchFamily="18" charset="0"/>
              </a:rPr>
              <a:t> </a:t>
            </a:r>
            <a:r>
              <a:rPr lang="en-US" altLang="zh-TW" sz="2000" dirty="0">
                <a:solidFill>
                  <a:srgbClr val="000000"/>
                </a:solidFill>
                <a:latin typeface="Times New Roman" panose="02020603050405020304" pitchFamily="18" charset="0"/>
                <a:cs typeface="Times New Roman" panose="02020603050405020304" pitchFamily="18" charset="0"/>
              </a:rPr>
              <a:t>is a user-defined positive parameter</a:t>
            </a:r>
          </a:p>
          <a:p>
            <a:pPr marL="285750" indent="-285750">
              <a:buFont typeface="Arial" panose="020B0604020202020204" pitchFamily="34" charset="0"/>
              <a:buChar char="•"/>
            </a:pPr>
            <a:r>
              <a:rPr lang="en-US" altLang="zh-TW" sz="2000" i="1" dirty="0">
                <a:solidFill>
                  <a:srgbClr val="000000"/>
                </a:solidFill>
                <a:latin typeface="Times New Roman" panose="02020603050405020304" pitchFamily="18" charset="0"/>
                <a:cs typeface="Times New Roman" panose="02020603050405020304" pitchFamily="18" charset="0"/>
              </a:rPr>
              <a:t>t</a:t>
            </a:r>
            <a:r>
              <a:rPr lang="en-US" altLang="zh-TW" sz="2000" dirty="0">
                <a:solidFill>
                  <a:srgbClr val="000000"/>
                </a:solidFill>
                <a:latin typeface="Times New Roman" panose="02020603050405020304" pitchFamily="18" charset="0"/>
                <a:cs typeface="Times New Roman" panose="02020603050405020304" pitchFamily="18" charset="0"/>
              </a:rPr>
              <a:t> is the iteration counter</a:t>
            </a:r>
            <a:endParaRPr lang="en-US" altLang="zh-TW" sz="2000" dirty="0">
              <a:solidFill>
                <a:srgbClr val="000000"/>
              </a:solidFill>
              <a:effectLst/>
              <a:latin typeface="Times New Roman" panose="02020603050405020304" pitchFamily="18" charset="0"/>
              <a:cs typeface="Times New Roman" panose="02020603050405020304" pitchFamily="18" charset="0"/>
            </a:endParaRPr>
          </a:p>
        </p:txBody>
      </p:sp>
      <p:cxnSp>
        <p:nvCxnSpPr>
          <p:cNvPr id="9" name="直線接點 8">
            <a:extLst>
              <a:ext uri="{FF2B5EF4-FFF2-40B4-BE49-F238E27FC236}">
                <a16:creationId xmlns:a16="http://schemas.microsoft.com/office/drawing/2014/main" id="{71AB90E2-1B9F-B84C-9FEA-9A988452A8D9}"/>
              </a:ext>
            </a:extLst>
          </p:cNvPr>
          <p:cNvCxnSpPr>
            <a:cxnSpLocks/>
          </p:cNvCxnSpPr>
          <p:nvPr/>
        </p:nvCxnSpPr>
        <p:spPr>
          <a:xfrm>
            <a:off x="2307265" y="3968750"/>
            <a:ext cx="1818168"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9E6B5EB0-8F3B-FA41-BAF7-39EB1A179A49}"/>
              </a:ext>
            </a:extLst>
          </p:cNvPr>
          <p:cNvCxnSpPr>
            <a:cxnSpLocks/>
          </p:cNvCxnSpPr>
          <p:nvPr/>
        </p:nvCxnSpPr>
        <p:spPr>
          <a:xfrm>
            <a:off x="4334244" y="3968750"/>
            <a:ext cx="1428603" cy="0"/>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327F7A8D-AE9F-7346-8F1D-A2487AA389B4}"/>
              </a:ext>
            </a:extLst>
          </p:cNvPr>
          <p:cNvSpPr txBox="1"/>
          <p:nvPr/>
        </p:nvSpPr>
        <p:spPr>
          <a:xfrm>
            <a:off x="2899596" y="3980028"/>
            <a:ext cx="633507" cy="369332"/>
          </a:xfrm>
          <a:prstGeom prst="rect">
            <a:avLst/>
          </a:prstGeom>
          <a:noFill/>
        </p:spPr>
        <p:txBody>
          <a:bodyPr wrap="none" rtlCol="0">
            <a:spAutoFit/>
          </a:bodyPr>
          <a:lstStyle/>
          <a:p>
            <a:r>
              <a:rPr kumimoji="1" lang="en-US" altLang="zh-TW" b="1" dirty="0">
                <a:solidFill>
                  <a:schemeClr val="accent1"/>
                </a:solidFill>
                <a:latin typeface="Times New Roman" panose="02020603050405020304" pitchFamily="18" charset="0"/>
                <a:cs typeface="Times New Roman" panose="02020603050405020304" pitchFamily="18" charset="0"/>
              </a:rPr>
              <a:t>Cost</a:t>
            </a:r>
            <a:endParaRPr kumimoji="1" lang="zh-TW" altLang="en-US" b="1" dirty="0">
              <a:solidFill>
                <a:schemeClr val="accent1"/>
              </a:solidFill>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E4E2C89A-5DD3-D748-BFDC-8864306C8307}"/>
              </a:ext>
            </a:extLst>
          </p:cNvPr>
          <p:cNvSpPr txBox="1"/>
          <p:nvPr/>
        </p:nvSpPr>
        <p:spPr>
          <a:xfrm>
            <a:off x="4584316" y="3980028"/>
            <a:ext cx="928459" cy="369332"/>
          </a:xfrm>
          <a:prstGeom prst="rect">
            <a:avLst/>
          </a:prstGeom>
          <a:noFill/>
        </p:spPr>
        <p:txBody>
          <a:bodyPr wrap="none" rtlCol="0">
            <a:spAutoFit/>
          </a:bodyPr>
          <a:lstStyle/>
          <a:p>
            <a:r>
              <a:rPr kumimoji="1" lang="en-US" altLang="zh-TW" b="1" dirty="0">
                <a:solidFill>
                  <a:schemeClr val="accent2"/>
                </a:solidFill>
                <a:latin typeface="Times New Roman" panose="02020603050405020304" pitchFamily="18" charset="0"/>
                <a:cs typeface="Times New Roman" panose="02020603050405020304" pitchFamily="18" charset="0"/>
              </a:rPr>
              <a:t>Penalty</a:t>
            </a:r>
            <a:endParaRPr kumimoji="1" lang="zh-TW" altLang="en-US"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944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(1/4)</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Intel Core i5 processor at 2.53 GHz.</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Five available sets of benchmark instances :</a:t>
            </a:r>
          </a:p>
          <a:p>
            <a:pPr lvl="1"/>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represents the number of customers.</a:t>
            </a:r>
          </a:p>
          <a:p>
            <a:pPr lvl="1"/>
            <a:r>
              <a:rPr kumimoji="1" lang="en-US" altLang="zh-TW" i="1" dirty="0">
                <a:latin typeface="Times New Roman" panose="02020603050405020304" pitchFamily="18" charset="0"/>
                <a:cs typeface="Times New Roman" panose="02020603050405020304" pitchFamily="18" charset="0"/>
              </a:rPr>
              <a:t>w</a:t>
            </a:r>
            <a:r>
              <a:rPr kumimoji="1" lang="en-US" altLang="zh-TW" dirty="0">
                <a:latin typeface="Times New Roman" panose="02020603050405020304" pitchFamily="18" charset="0"/>
                <a:cs typeface="Times New Roman" panose="02020603050405020304" pitchFamily="18" charset="0"/>
              </a:rPr>
              <a:t> is the time window width.</a:t>
            </a:r>
          </a:p>
          <a:p>
            <a:pPr lvl="1"/>
            <a:r>
              <a:rPr kumimoji="1" lang="en-US" altLang="zh-TW" i="1" dirty="0">
                <a:latin typeface="Times New Roman" panose="02020603050405020304" pitchFamily="18" charset="0"/>
                <a:cs typeface="Times New Roman" panose="02020603050405020304" pitchFamily="18" charset="0"/>
              </a:rPr>
              <a:t>Best</a:t>
            </a:r>
            <a:r>
              <a:rPr kumimoji="1" lang="en-US" altLang="zh-TW" dirty="0">
                <a:latin typeface="Times New Roman" panose="02020603050405020304" pitchFamily="18" charset="0"/>
                <a:cs typeface="Times New Roman" panose="02020603050405020304" pitchFamily="18" charset="0"/>
              </a:rPr>
              <a:t> is the best known or optimal value.</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spTree>
    <p:extLst>
      <p:ext uri="{BB962C8B-B14F-4D97-AF65-F5344CB8AC3E}">
        <p14:creationId xmlns:p14="http://schemas.microsoft.com/office/powerpoint/2010/main" val="5718838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5" name="圖片 4">
            <a:extLst>
              <a:ext uri="{FF2B5EF4-FFF2-40B4-BE49-F238E27FC236}">
                <a16:creationId xmlns:a16="http://schemas.microsoft.com/office/drawing/2014/main" id="{AF26DDA1-145B-324F-90B8-FFA0C4CE3426}"/>
              </a:ext>
            </a:extLst>
          </p:cNvPr>
          <p:cNvPicPr>
            <a:picLocks noChangeAspect="1"/>
          </p:cNvPicPr>
          <p:nvPr/>
        </p:nvPicPr>
        <p:blipFill>
          <a:blip r:embed="rId2"/>
          <a:stretch>
            <a:fillRect/>
          </a:stretch>
        </p:blipFill>
        <p:spPr>
          <a:xfrm>
            <a:off x="928249" y="20484"/>
            <a:ext cx="10335502" cy="6817033"/>
          </a:xfrm>
          <a:prstGeom prst="rect">
            <a:avLst/>
          </a:prstGeom>
        </p:spPr>
      </p:pic>
    </p:spTree>
    <p:extLst>
      <p:ext uri="{BB962C8B-B14F-4D97-AF65-F5344CB8AC3E}">
        <p14:creationId xmlns:p14="http://schemas.microsoft.com/office/powerpoint/2010/main" val="2938168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DF65BA17-02C1-D045-8DBE-B1CA33F7B02D}"/>
              </a:ext>
            </a:extLst>
          </p:cNvPr>
          <p:cNvPicPr>
            <a:picLocks noChangeAspect="1"/>
          </p:cNvPicPr>
          <p:nvPr/>
        </p:nvPicPr>
        <p:blipFill>
          <a:blip r:embed="rId2"/>
          <a:stretch>
            <a:fillRect/>
          </a:stretch>
        </p:blipFill>
        <p:spPr>
          <a:xfrm>
            <a:off x="751308" y="0"/>
            <a:ext cx="10689383" cy="6858000"/>
          </a:xfrm>
          <a:prstGeom prst="rect">
            <a:avLst/>
          </a:prstGeom>
        </p:spPr>
      </p:pic>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spTree>
    <p:extLst>
      <p:ext uri="{BB962C8B-B14F-4D97-AF65-F5344CB8AC3E}">
        <p14:creationId xmlns:p14="http://schemas.microsoft.com/office/powerpoint/2010/main" val="11372843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(4/4)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4" name="圖片 3">
            <a:extLst>
              <a:ext uri="{FF2B5EF4-FFF2-40B4-BE49-F238E27FC236}">
                <a16:creationId xmlns:a16="http://schemas.microsoft.com/office/drawing/2014/main" id="{99DF6AB7-F63D-CD48-8587-A157D102D63A}"/>
              </a:ext>
            </a:extLst>
          </p:cNvPr>
          <p:cNvPicPr>
            <a:picLocks noChangeAspect="1"/>
          </p:cNvPicPr>
          <p:nvPr/>
        </p:nvPicPr>
        <p:blipFill>
          <a:blip r:embed="rId2"/>
          <a:stretch>
            <a:fillRect/>
          </a:stretch>
        </p:blipFill>
        <p:spPr>
          <a:xfrm>
            <a:off x="354419" y="1505677"/>
            <a:ext cx="11483163" cy="2868447"/>
          </a:xfrm>
          <a:prstGeom prst="rect">
            <a:avLst/>
          </a:prstGeom>
        </p:spPr>
      </p:pic>
      <p:sp>
        <p:nvSpPr>
          <p:cNvPr id="7" name="內容版面配置區 2">
            <a:extLst>
              <a:ext uri="{FF2B5EF4-FFF2-40B4-BE49-F238E27FC236}">
                <a16:creationId xmlns:a16="http://schemas.microsoft.com/office/drawing/2014/main" id="{05B93F92-2CBB-6A44-B575-C08747F0EC5A}"/>
              </a:ext>
            </a:extLst>
          </p:cNvPr>
          <p:cNvSpPr txBox="1">
            <a:spLocks/>
          </p:cNvSpPr>
          <p:nvPr/>
        </p:nvSpPr>
        <p:spPr>
          <a:xfrm>
            <a:off x="990600" y="4509061"/>
            <a:ext cx="10515600" cy="182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kumimoji="1" lang="en-US" altLang="zh-TW" dirty="0">
                <a:latin typeface="Times New Roman" panose="02020603050405020304" pitchFamily="18" charset="0"/>
                <a:cs typeface="Times New Roman" panose="02020603050405020304" pitchFamily="18" charset="0"/>
              </a:rPr>
              <a:t>In the five sets, </a:t>
            </a:r>
            <a:r>
              <a:rPr kumimoji="1" lang="en-US" altLang="zh-TW" i="1" dirty="0">
                <a:latin typeface="Times New Roman" panose="02020603050405020304" pitchFamily="18" charset="0"/>
                <a:cs typeface="Times New Roman" panose="02020603050405020304" pitchFamily="18" charset="0"/>
              </a:rPr>
              <a:t>avg values </a:t>
            </a:r>
            <a:r>
              <a:rPr kumimoji="1" lang="en-US" altLang="zh-TW" dirty="0">
                <a:latin typeface="Times New Roman" panose="02020603050405020304" pitchFamily="18" charset="0"/>
                <a:cs typeface="Times New Roman" panose="02020603050405020304" pitchFamily="18" charset="0"/>
              </a:rPr>
              <a:t>of GVNS and VIG_VNS are not statistically difference.</a:t>
            </a:r>
          </a:p>
          <a:p>
            <a:pPr algn="just"/>
            <a:r>
              <a:rPr kumimoji="1" lang="en-US" altLang="zh-TW" dirty="0">
                <a:latin typeface="Times New Roman" panose="02020603050405020304" pitchFamily="18" charset="0"/>
                <a:cs typeface="Times New Roman" panose="02020603050405020304" pitchFamily="18" charset="0"/>
              </a:rPr>
              <a:t>VIG without a VNS local search was statistically equivalent to the VIG_VNS algorithm.</a:t>
            </a:r>
          </a:p>
          <a:p>
            <a:pPr algn="just"/>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1239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spTree>
    <p:extLst>
      <p:ext uri="{BB962C8B-B14F-4D97-AF65-F5344CB8AC3E}">
        <p14:creationId xmlns:p14="http://schemas.microsoft.com/office/powerpoint/2010/main" val="104802662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TotalTime>
  <Words>950</Words>
  <Application>Microsoft Office PowerPoint</Application>
  <PresentationFormat>寬螢幕</PresentationFormat>
  <Paragraphs>232</Paragraphs>
  <Slides>16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微軟正黑體</vt:lpstr>
      <vt:lpstr>Arial</vt:lpstr>
      <vt:lpstr>Calibri</vt:lpstr>
      <vt:lpstr>Rockwell</vt:lpstr>
      <vt:lpstr>Times New Roman</vt:lpstr>
      <vt:lpstr>Office 佈景主題</vt:lpstr>
      <vt:lpstr>A Variable Iterated Greedy Algorithm for the Traveling Salesman Problem with Time Windows</vt:lpstr>
      <vt:lpstr>Abstract (1/2)</vt:lpstr>
      <vt:lpstr>Abstract (2/2)</vt:lpstr>
      <vt:lpstr>Outline</vt:lpstr>
      <vt:lpstr>TSP with Time Windows (TSPTW)</vt:lpstr>
      <vt:lpstr>VIG_VNS Algorithm</vt:lpstr>
      <vt:lpstr>Variable Iterated Greedy Algorithm  (VIG)</vt:lpstr>
      <vt:lpstr>Variable Neighborhood Search (VNS)</vt:lpstr>
      <vt:lpstr>Superiority of Feasible Solutions (SF)</vt:lpstr>
      <vt:lpstr>Adaptive Penalty Approach</vt:lpstr>
      <vt:lpstr>Results (1/4)</vt:lpstr>
      <vt:lpstr>PowerPoint 簡報</vt:lpstr>
      <vt:lpstr>PowerPoint 簡報</vt:lpstr>
      <vt:lpstr>Results (4/4)</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pplab</cp:lastModifiedBy>
  <cp:revision>24</cp:revision>
  <dcterms:created xsi:type="dcterms:W3CDTF">2021-03-28T03:57:23Z</dcterms:created>
  <dcterms:modified xsi:type="dcterms:W3CDTF">2022-01-11T12:13:12Z</dcterms:modified>
</cp:coreProperties>
</file>