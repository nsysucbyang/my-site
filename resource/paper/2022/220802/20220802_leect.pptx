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262" r:id="rId3"/>
    <p:sldId id="281" r:id="rId4"/>
    <p:sldId id="277" r:id="rId5"/>
    <p:sldId id="278" r:id="rId6"/>
    <p:sldId id="282" r:id="rId7"/>
    <p:sldId id="274" r:id="rId8"/>
    <p:sldId id="275" r:id="rId9"/>
    <p:sldId id="276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>
    <p:restoredLeft sz="15620"/>
    <p:restoredTop sz="77116" autoAdjust="0"/>
  </p:normalViewPr>
  <p:slideViewPr>
    <p:cSldViewPr>
      <p:cViewPr>
        <p:scale>
          <a:sx n="75" d="100"/>
          <a:sy n="75" d="100"/>
        </p:scale>
        <p:origin x="-1522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C2939-B1A7-4514-8535-C0FA2719FDF5}" type="datetimeFigureOut">
              <a:rPr lang="zh-TW" altLang="en-US" smtClean="0"/>
              <a:pPr/>
              <a:t>2022/8/2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C87CB-DD22-4F6F-BC7E-D0042601E3D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15635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0" i="0" dirty="0">
                <a:solidFill>
                  <a:srgbClr val="1D2A57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US" altLang="zh-TW" b="0" i="0" dirty="0">
                <a:solidFill>
                  <a:srgbClr val="1D2A57"/>
                </a:solidFill>
                <a:effectLst/>
                <a:latin typeface="Arial" panose="020B0604020202020204" pitchFamily="34" charset="0"/>
              </a:rPr>
            </a:b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152644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0" i="0" dirty="0">
                <a:solidFill>
                  <a:srgbClr val="1D2A57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US" altLang="zh-TW" b="0" i="0" dirty="0">
                <a:solidFill>
                  <a:srgbClr val="1D2A57"/>
                </a:solidFill>
                <a:effectLst/>
                <a:latin typeface="Arial" panose="020B0604020202020204" pitchFamily="34" charset="0"/>
              </a:rPr>
            </a:b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152644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接下來看到</a:t>
            </a:r>
            <a:r>
              <a:rPr lang="en-US" dirty="0" smtClean="0"/>
              <a:t>constrained</a:t>
            </a:r>
            <a:r>
              <a:rPr lang="zh-TW" altLang="en-US" dirty="0" smtClean="0"/>
              <a:t>的第一個字母</a:t>
            </a:r>
            <a:r>
              <a:rPr lang="en-US" altLang="zh-TW" dirty="0" smtClean="0"/>
              <a:t>B</a:t>
            </a:r>
            <a:r>
              <a:rPr lang="zh-TW" altLang="en-US" dirty="0" smtClean="0"/>
              <a:t>，因為我們找到</a:t>
            </a:r>
            <a:r>
              <a:rPr lang="en-US" altLang="zh-TW" dirty="0" smtClean="0"/>
              <a:t>LCS</a:t>
            </a:r>
            <a:r>
              <a:rPr lang="zh-TW" altLang="en-US" dirty="0" smtClean="0"/>
              <a:t>必定要有</a:t>
            </a:r>
            <a:r>
              <a:rPr lang="en-US" altLang="zh-TW" dirty="0" smtClean="0"/>
              <a:t>B</a:t>
            </a:r>
            <a:r>
              <a:rPr lang="zh-TW" altLang="en-US" dirty="0" smtClean="0"/>
              <a:t>，所以直到遇到</a:t>
            </a:r>
            <a:r>
              <a:rPr lang="en-US" altLang="zh-TW" dirty="0" smtClean="0"/>
              <a:t>X,Y</a:t>
            </a:r>
            <a:r>
              <a:rPr lang="zh-TW" altLang="en-US" dirty="0" smtClean="0"/>
              <a:t>字串有</a:t>
            </a:r>
            <a:r>
              <a:rPr lang="en-US" altLang="zh-TW" dirty="0" smtClean="0"/>
              <a:t>B</a:t>
            </a:r>
            <a:r>
              <a:rPr lang="zh-TW" altLang="en-US" dirty="0" smtClean="0"/>
              <a:t>這個字元相同時，才會有長度。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那這格</a:t>
            </a:r>
            <a:r>
              <a:rPr lang="en-US" altLang="zh-TW" dirty="0" smtClean="0"/>
              <a:t>B</a:t>
            </a:r>
            <a:r>
              <a:rPr lang="zh-TW" altLang="en-US" dirty="0" smtClean="0"/>
              <a:t>的長度計算方式會由</a:t>
            </a:r>
            <a:r>
              <a:rPr lang="en-US" altLang="zh-TW" dirty="0" smtClean="0"/>
              <a:t>K-1</a:t>
            </a:r>
            <a:r>
              <a:rPr lang="zh-TW" altLang="en-US" dirty="0" smtClean="0"/>
              <a:t>的左上角而來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接下來看到</a:t>
            </a:r>
            <a:r>
              <a:rPr lang="en-US" dirty="0" smtClean="0"/>
              <a:t>constrained</a:t>
            </a:r>
            <a:r>
              <a:rPr lang="zh-TW" altLang="en-US" dirty="0" smtClean="0"/>
              <a:t>的第一個字母</a:t>
            </a:r>
            <a:r>
              <a:rPr lang="en-US" altLang="zh-TW" dirty="0" smtClean="0"/>
              <a:t>B</a:t>
            </a:r>
            <a:r>
              <a:rPr lang="zh-TW" altLang="en-US" dirty="0" smtClean="0"/>
              <a:t>，因為我們找到</a:t>
            </a:r>
            <a:r>
              <a:rPr lang="en-US" altLang="zh-TW" dirty="0" smtClean="0"/>
              <a:t>LCS</a:t>
            </a:r>
            <a:r>
              <a:rPr lang="zh-TW" altLang="en-US" dirty="0" smtClean="0"/>
              <a:t>必定要有</a:t>
            </a:r>
            <a:r>
              <a:rPr lang="en-US" altLang="zh-TW" dirty="0" smtClean="0"/>
              <a:t>B</a:t>
            </a:r>
            <a:r>
              <a:rPr lang="zh-TW" altLang="en-US" dirty="0" smtClean="0"/>
              <a:t>，所以直到遇到</a:t>
            </a:r>
            <a:r>
              <a:rPr lang="en-US" altLang="zh-TW" dirty="0" smtClean="0"/>
              <a:t>X,Y</a:t>
            </a:r>
            <a:r>
              <a:rPr lang="zh-TW" altLang="en-US" dirty="0" smtClean="0"/>
              <a:t>字串有</a:t>
            </a:r>
            <a:r>
              <a:rPr lang="en-US" altLang="zh-TW" dirty="0" smtClean="0"/>
              <a:t>B</a:t>
            </a:r>
            <a:r>
              <a:rPr lang="zh-TW" altLang="en-US" dirty="0" smtClean="0"/>
              <a:t>這個字元相同時，才會有長度。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那這格</a:t>
            </a:r>
            <a:r>
              <a:rPr lang="en-US" altLang="zh-TW" dirty="0" smtClean="0"/>
              <a:t>B</a:t>
            </a:r>
            <a:r>
              <a:rPr lang="zh-TW" altLang="en-US" dirty="0" smtClean="0"/>
              <a:t>的長度計算方式會由</a:t>
            </a:r>
            <a:r>
              <a:rPr lang="en-US" altLang="zh-TW" dirty="0" smtClean="0"/>
              <a:t>K-1</a:t>
            </a:r>
            <a:r>
              <a:rPr lang="zh-TW" altLang="en-US" dirty="0" smtClean="0"/>
              <a:t>的左上角而來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2022/8/2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2022/8/2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2022/8/2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2022/8/2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2022/8/2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2022/8/2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7A5FF-B09D-4861-A15A-3127FCDEB20B}" type="datetimeFigureOut">
              <a:rPr lang="zh-TW" altLang="en-US" smtClean="0"/>
              <a:pPr/>
              <a:t>2022/8/2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26C020BB-2F3A-40BC-8D8D-94312CEA4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920" y="672353"/>
            <a:ext cx="8625823" cy="2837610"/>
          </a:xfrm>
        </p:spPr>
        <p:txBody>
          <a:bodyPr anchor="t">
            <a:noAutofit/>
          </a:bodyPr>
          <a:lstStyle/>
          <a:p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A </a:t>
            </a:r>
            <a:r>
              <a:rPr lang="en-US" altLang="zh-TW" dirty="0" smtClean="0"/>
              <a:t>Simple </a:t>
            </a:r>
            <a:r>
              <a:rPr lang="en-US" altLang="zh-TW" dirty="0" smtClean="0"/>
              <a:t>A</a:t>
            </a:r>
            <a:r>
              <a:rPr lang="en-US" altLang="zh-TW" dirty="0" smtClean="0"/>
              <a:t>lgorithm </a:t>
            </a:r>
            <a:r>
              <a:rPr lang="en-US" altLang="zh-TW" dirty="0" smtClean="0"/>
              <a:t>f</a:t>
            </a:r>
            <a:r>
              <a:rPr lang="en-US" altLang="zh-TW" dirty="0" smtClean="0"/>
              <a:t>or </a:t>
            </a:r>
            <a:r>
              <a:rPr lang="en-US" altLang="zh-TW" dirty="0" smtClean="0"/>
              <a:t>T</a:t>
            </a:r>
            <a:r>
              <a:rPr lang="en-US" altLang="zh-TW" dirty="0" smtClean="0"/>
              <a:t>he Constrained </a:t>
            </a:r>
            <a:r>
              <a:rPr lang="en-US" altLang="zh-TW" dirty="0" smtClean="0"/>
              <a:t>S</a:t>
            </a:r>
            <a:r>
              <a:rPr lang="en-US" altLang="zh-TW" dirty="0" smtClean="0"/>
              <a:t>equence Problems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xmlns="" id="{B9014221-E47C-4C31-898A-DB1330B1B844}"/>
              </a:ext>
            </a:extLst>
          </p:cNvPr>
          <p:cNvSpPr txBox="1"/>
          <p:nvPr/>
        </p:nvSpPr>
        <p:spPr>
          <a:xfrm>
            <a:off x="6084168" y="5862481"/>
            <a:ext cx="27756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/>
              <a:t>Presenter:Chien-Ting</a:t>
            </a:r>
            <a:r>
              <a:rPr lang="en-US" altLang="zh-TW" dirty="0"/>
              <a:t> Lee</a:t>
            </a:r>
          </a:p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x-none" altLang="zh-TW" dirty="0"/>
              <a:t>Date:</a:t>
            </a:r>
            <a:r>
              <a:rPr lang="zh-TW" altLang="en-US" dirty="0"/>
              <a:t> </a:t>
            </a:r>
            <a:r>
              <a:rPr lang="en-US" altLang="zh-TW" dirty="0" smtClean="0"/>
              <a:t>Aug</a:t>
            </a:r>
            <a:r>
              <a:rPr lang="x-none" altLang="zh-TW" dirty="0" smtClean="0"/>
              <a:t>. </a:t>
            </a:r>
            <a:r>
              <a:rPr lang="en-US" altLang="zh-TW" dirty="0" smtClean="0"/>
              <a:t>02</a:t>
            </a:r>
            <a:r>
              <a:rPr lang="x-none" altLang="zh-TW" dirty="0" smtClean="0"/>
              <a:t>, </a:t>
            </a:r>
            <a:r>
              <a:rPr lang="x-none" altLang="zh-TW" dirty="0"/>
              <a:t>202</a:t>
            </a:r>
            <a:r>
              <a:rPr lang="en-US" altLang="zh-TW" dirty="0"/>
              <a:t>2</a:t>
            </a:r>
            <a:endParaRPr lang="x-none" altLang="zh-TW" dirty="0"/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xmlns="" id="{C2097824-8D05-480F-BF6D-DD8BBC3EF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" y="3509962"/>
            <a:ext cx="9144000" cy="213361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altLang="zh-TW" sz="2400" dirty="0" smtClean="0">
                <a:solidFill>
                  <a:schemeClr val="tx1"/>
                </a:solidFill>
              </a:rPr>
              <a:t>Francis Y.L. Chin, Alfredo De </a:t>
            </a:r>
            <a:r>
              <a:rPr lang="en-US" altLang="zh-TW" sz="2400" dirty="0" err="1" smtClean="0">
                <a:solidFill>
                  <a:schemeClr val="tx1"/>
                </a:solidFill>
              </a:rPr>
              <a:t>Santis</a:t>
            </a:r>
            <a:r>
              <a:rPr lang="en-US" altLang="zh-TW" sz="2400" dirty="0" smtClean="0">
                <a:solidFill>
                  <a:schemeClr val="tx1"/>
                </a:solidFill>
              </a:rPr>
              <a:t>, 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altLang="zh-TW" sz="2400" dirty="0" smtClean="0">
                <a:solidFill>
                  <a:schemeClr val="tx1"/>
                </a:solidFill>
              </a:rPr>
              <a:t>Anna Lisa Ferrara , N.L. Ho and  S.K. Kim</a:t>
            </a:r>
          </a:p>
          <a:p>
            <a:r>
              <a:rPr lang="en-US" altLang="zh-TW" sz="2400" dirty="0" smtClean="0">
                <a:solidFill>
                  <a:schemeClr val="tx1"/>
                </a:solidFill>
              </a:rPr>
              <a:t>Information Processing Letters, Volume 90, </a:t>
            </a:r>
          </a:p>
          <a:p>
            <a:r>
              <a:rPr lang="en-US" altLang="zh-TW" sz="2400" dirty="0" smtClean="0">
                <a:solidFill>
                  <a:schemeClr val="tx1"/>
                </a:solidFill>
              </a:rPr>
              <a:t> Issue 4, 31 May 2004, Pages 175-179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endParaRPr lang="en-US" altLang="zh-TW" sz="2400" dirty="0" smtClean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  <a:spcBef>
                <a:spcPts val="1000"/>
              </a:spcBef>
            </a:pPr>
            <a:endParaRPr lang="en-US" altLang="zh-TW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94363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9196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altLang="zh-TW" sz="2400" dirty="0" smtClean="0"/>
              <a:t>	In this paper we address the constrained longest common subsequence problem. Given two sequences </a:t>
            </a:r>
            <a:r>
              <a:rPr lang="en-US" altLang="zh-TW" sz="2400" i="1" dirty="0" smtClean="0"/>
              <a:t>X, Y and a constrained sequence P, a sequence Z is a constrained longest common subsequence for X and Y with respect to P if Z is the longest subsequence of X and Y such that P is a subsequence of Z.</a:t>
            </a:r>
          </a:p>
          <a:p>
            <a:pPr algn="just">
              <a:buNone/>
            </a:pPr>
            <a:r>
              <a:rPr lang="en-US" altLang="zh-TW" sz="2400" dirty="0" smtClean="0"/>
              <a:t>	Recently, Tsai proposed an O(</a:t>
            </a:r>
            <a:r>
              <a:rPr lang="en-US" altLang="zh-TW" sz="2400" i="1" dirty="0" smtClean="0"/>
              <a:t>n</a:t>
            </a:r>
            <a:r>
              <a:rPr lang="en-US" altLang="zh-TW" sz="2400" i="1" baseline="30000" dirty="0" smtClean="0"/>
              <a:t>2</a:t>
            </a:r>
            <a:r>
              <a:rPr lang="en-US" altLang="zh-TW" sz="2400" i="1" dirty="0" smtClean="0"/>
              <a:t>m</a:t>
            </a:r>
            <a:r>
              <a:rPr lang="en-US" altLang="zh-TW" sz="2400" i="1" baseline="30000" dirty="0" smtClean="0"/>
              <a:t>2</a:t>
            </a:r>
            <a:r>
              <a:rPr lang="en-US" altLang="zh-TW" sz="2400" i="1" dirty="0" smtClean="0"/>
              <a:t>r) time algorithm to solve this problem using dynamic programming technique, where n, m and r are the lengths of X, Y and P, respectively.</a:t>
            </a:r>
          </a:p>
          <a:p>
            <a:pPr algn="just">
              <a:buNone/>
            </a:pPr>
            <a:r>
              <a:rPr lang="en-US" altLang="zh-TW" sz="2400" dirty="0" smtClean="0"/>
              <a:t>	In this paper, we present a simple algorithm to solve the constrained longest common subsequence problem in O(</a:t>
            </a:r>
            <a:r>
              <a:rPr lang="en-US" altLang="zh-TW" sz="2400" i="1" dirty="0" err="1" smtClean="0"/>
              <a:t>nmr</a:t>
            </a:r>
            <a:r>
              <a:rPr lang="en-US" altLang="zh-TW" sz="2400" i="1" dirty="0" smtClean="0"/>
              <a:t>) time and show that the constrained longest common subsequence problem is equivalent to a special case of the constrained multiple sequence alignment problem which can also be solved with the same time complexity.</a:t>
            </a:r>
          </a:p>
          <a:p>
            <a:endParaRPr lang="zh-TW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pc="-1" dirty="0" smtClean="0">
                <a:solidFill>
                  <a:srgbClr val="000000"/>
                </a:solidFill>
              </a:rPr>
              <a:t>Constrained Longest Common Subsequence </a:t>
            </a:r>
            <a:endParaRPr lang="en-US" spc="-1" dirty="0">
              <a:latin typeface="Arial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9196"/>
          </a:xfrm>
        </p:spPr>
        <p:txBody>
          <a:bodyPr>
            <a:normAutofit/>
          </a:bodyPr>
          <a:lstStyle/>
          <a:p>
            <a:endParaRPr lang="zh-TW" altLang="en-US" sz="2400" dirty="0" smtClean="0"/>
          </a:p>
        </p:txBody>
      </p:sp>
      <p:grpSp>
        <p:nvGrpSpPr>
          <p:cNvPr id="4" name="群組 6"/>
          <p:cNvGrpSpPr/>
          <p:nvPr/>
        </p:nvGrpSpPr>
        <p:grpSpPr>
          <a:xfrm>
            <a:off x="1857356" y="3929066"/>
            <a:ext cx="3478581" cy="952653"/>
            <a:chOff x="4269323" y="3886244"/>
            <a:chExt cx="2938271" cy="952653"/>
          </a:xfrm>
        </p:grpSpPr>
        <p:sp>
          <p:nvSpPr>
            <p:cNvPr id="5" name="文字方塊 7"/>
            <p:cNvSpPr/>
            <p:nvPr/>
          </p:nvSpPr>
          <p:spPr>
            <a:xfrm>
              <a:off x="5234794" y="3886244"/>
              <a:ext cx="1972800" cy="95265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800" b="0" strike="noStrike" spc="-1" dirty="0">
                  <a:solidFill>
                    <a:srgbClr val="000000"/>
                  </a:solidFill>
                  <a:latin typeface="Courier New"/>
                </a:rPr>
                <a:t>Z: B C D</a:t>
              </a:r>
              <a:endParaRPr lang="en-US" sz="2800" b="0" strike="noStrike" spc="-1" dirty="0">
                <a:latin typeface="Arial"/>
              </a:endParaRPr>
            </a:p>
          </p:txBody>
        </p:sp>
        <p:sp>
          <p:nvSpPr>
            <p:cNvPr id="6" name="箭號: 向右 8"/>
            <p:cNvSpPr/>
            <p:nvPr/>
          </p:nvSpPr>
          <p:spPr>
            <a:xfrm>
              <a:off x="4269323" y="4029120"/>
              <a:ext cx="780120" cy="36252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7" name="群組 1"/>
          <p:cNvGrpSpPr/>
          <p:nvPr/>
        </p:nvGrpSpPr>
        <p:grpSpPr>
          <a:xfrm>
            <a:off x="3000364" y="1714488"/>
            <a:ext cx="3635174" cy="1756206"/>
            <a:chOff x="5096880" y="1738080"/>
            <a:chExt cx="4846899" cy="1756206"/>
          </a:xfrm>
        </p:grpSpPr>
        <p:sp>
          <p:nvSpPr>
            <p:cNvPr id="8" name="文字方塊 4"/>
            <p:cNvSpPr/>
            <p:nvPr/>
          </p:nvSpPr>
          <p:spPr>
            <a:xfrm>
              <a:off x="5113800" y="1738080"/>
              <a:ext cx="3677131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800" b="0" strike="noStrike" spc="-1" dirty="0">
                  <a:solidFill>
                    <a:srgbClr val="000000"/>
                  </a:solidFill>
                  <a:latin typeface="Courier New"/>
                </a:rPr>
                <a:t>X: A C B C D</a:t>
              </a:r>
              <a:endParaRPr lang="en-US" sz="2800" b="0" strike="noStrike" spc="-1" dirty="0">
                <a:latin typeface="Arial"/>
              </a:endParaRPr>
            </a:p>
          </p:txBody>
        </p:sp>
        <p:sp>
          <p:nvSpPr>
            <p:cNvPr id="9" name="文字方塊 5"/>
            <p:cNvSpPr/>
            <p:nvPr/>
          </p:nvSpPr>
          <p:spPr>
            <a:xfrm>
              <a:off x="5121720" y="2365920"/>
              <a:ext cx="4822059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800" b="0" strike="noStrike" spc="-1" dirty="0">
                  <a:solidFill>
                    <a:srgbClr val="000000"/>
                  </a:solidFill>
                  <a:latin typeface="Courier New"/>
                </a:rPr>
                <a:t>Y: B A </a:t>
              </a:r>
              <a:r>
                <a:rPr lang="en-US" sz="2800" b="0" strike="noStrike" spc="-1" dirty="0" err="1">
                  <a:solidFill>
                    <a:srgbClr val="000000"/>
                  </a:solidFill>
                  <a:latin typeface="Courier New"/>
                </a:rPr>
                <a:t>A</a:t>
              </a:r>
              <a:r>
                <a:rPr lang="en-US" sz="2800" b="0" strike="noStrike" spc="-1" dirty="0">
                  <a:solidFill>
                    <a:srgbClr val="000000"/>
                  </a:solidFill>
                  <a:latin typeface="Courier New"/>
                </a:rPr>
                <a:t> C D C D</a:t>
              </a:r>
              <a:endParaRPr lang="en-US" sz="2800" b="0" strike="noStrike" spc="-1" dirty="0">
                <a:latin typeface="Arial"/>
              </a:endParaRPr>
            </a:p>
          </p:txBody>
        </p:sp>
        <p:sp>
          <p:nvSpPr>
            <p:cNvPr id="10" name="文字方塊 9"/>
            <p:cNvSpPr/>
            <p:nvPr/>
          </p:nvSpPr>
          <p:spPr>
            <a:xfrm>
              <a:off x="5096880" y="2972520"/>
              <a:ext cx="1959737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800" b="0" strike="noStrike" spc="-1">
                  <a:solidFill>
                    <a:srgbClr val="000000"/>
                  </a:solidFill>
                  <a:latin typeface="Courier New"/>
                </a:rPr>
                <a:t>P: B D</a:t>
              </a:r>
              <a:endParaRPr lang="en-US" sz="2800" b="0" strike="noStrike" spc="-1">
                <a:latin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" name="表格 1"/>
          <p:cNvGraphicFramePr/>
          <p:nvPr/>
        </p:nvGraphicFramePr>
        <p:xfrm>
          <a:off x="1857356" y="1643050"/>
          <a:ext cx="5544720" cy="4611600"/>
        </p:xfrm>
        <a:graphic>
          <a:graphicData uri="http://schemas.openxmlformats.org/drawingml/2006/table">
            <a:tbl>
              <a:tblPr/>
              <a:tblGrid>
                <a:gridCol w="615870"/>
                <a:gridCol w="615870"/>
                <a:gridCol w="615870"/>
                <a:gridCol w="615870"/>
                <a:gridCol w="615870"/>
                <a:gridCol w="615870"/>
                <a:gridCol w="615870"/>
                <a:gridCol w="615870"/>
                <a:gridCol w="617760"/>
              </a:tblGrid>
              <a:tr h="658800">
                <a:tc>
                  <a:txBody>
                    <a:bodyPr/>
                    <a:lstStyle/>
                    <a:p>
                      <a:endParaRPr lang="zh-TW" dirty="0"/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58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58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58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58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58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58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2" name="文字方塊 2"/>
          <p:cNvSpPr/>
          <p:nvPr/>
        </p:nvSpPr>
        <p:spPr>
          <a:xfrm>
            <a:off x="1928794" y="714356"/>
            <a:ext cx="96012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</a:rPr>
              <a:t>k = 0</a:t>
            </a:r>
            <a:endParaRPr lang="en-US" sz="3000" b="0" strike="noStrike" spc="-1" dirty="0">
              <a:latin typeface="Arial"/>
            </a:endParaRPr>
          </a:p>
        </p:txBody>
      </p:sp>
      <p:sp>
        <p:nvSpPr>
          <p:cNvPr id="187" name="投影片編號版面配置區 8"/>
          <p:cNvSpPr txBox="1"/>
          <p:nvPr/>
        </p:nvSpPr>
        <p:spPr>
          <a:xfrm>
            <a:off x="6457860" y="6356520"/>
            <a:ext cx="205713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CF3600F-6130-4A71-8872-6C83521B467B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4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" name="表格 1"/>
          <p:cNvGraphicFramePr/>
          <p:nvPr/>
        </p:nvGraphicFramePr>
        <p:xfrm>
          <a:off x="4786314" y="1857364"/>
          <a:ext cx="4258838" cy="4111534"/>
        </p:xfrm>
        <a:graphic>
          <a:graphicData uri="http://schemas.openxmlformats.org/drawingml/2006/table">
            <a:tbl>
              <a:tblPr/>
              <a:tblGrid>
                <a:gridCol w="473043"/>
                <a:gridCol w="473043"/>
                <a:gridCol w="473043"/>
                <a:gridCol w="473043"/>
                <a:gridCol w="473043"/>
                <a:gridCol w="473043"/>
                <a:gridCol w="473043"/>
                <a:gridCol w="473043"/>
                <a:gridCol w="474494"/>
              </a:tblGrid>
              <a:tr h="587362">
                <a:tc>
                  <a:txBody>
                    <a:bodyPr/>
                    <a:lstStyle/>
                    <a:p>
                      <a:endParaRPr lang="zh-TW" dirty="0"/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2" name="文字方塊 2"/>
          <p:cNvSpPr/>
          <p:nvPr/>
        </p:nvSpPr>
        <p:spPr>
          <a:xfrm>
            <a:off x="4643438" y="1000108"/>
            <a:ext cx="96012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</a:rPr>
              <a:t>k = </a:t>
            </a:r>
            <a:r>
              <a:rPr lang="en-US" sz="3000" b="0" strike="noStrike" spc="-1" dirty="0" smtClean="0">
                <a:solidFill>
                  <a:srgbClr val="000000"/>
                </a:solidFill>
                <a:latin typeface="Calibri"/>
              </a:rPr>
              <a:t>1</a:t>
            </a:r>
            <a:endParaRPr lang="en-US" sz="3000" b="0" strike="noStrike" spc="-1" dirty="0">
              <a:latin typeface="Arial"/>
            </a:endParaRPr>
          </a:p>
        </p:txBody>
      </p:sp>
      <p:sp>
        <p:nvSpPr>
          <p:cNvPr id="187" name="投影片編號版面配置區 8"/>
          <p:cNvSpPr txBox="1"/>
          <p:nvPr/>
        </p:nvSpPr>
        <p:spPr>
          <a:xfrm>
            <a:off x="6457860" y="6356520"/>
            <a:ext cx="205713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CF3600F-6130-4A71-8872-6C83521B467B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14612" y="357166"/>
            <a:ext cx="222549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spc="-1" dirty="0" smtClean="0">
                <a:solidFill>
                  <a:srgbClr val="000000"/>
                </a:solidFill>
                <a:latin typeface="Calibri"/>
              </a:rPr>
              <a:t>P: B D</a:t>
            </a:r>
            <a:endParaRPr lang="en-US" sz="3000" spc="-1" dirty="0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14282" y="1857364"/>
          <a:ext cx="4258838" cy="4111534"/>
        </p:xfrm>
        <a:graphic>
          <a:graphicData uri="http://schemas.openxmlformats.org/drawingml/2006/table">
            <a:tbl>
              <a:tblPr/>
              <a:tblGrid>
                <a:gridCol w="473043"/>
                <a:gridCol w="473043"/>
                <a:gridCol w="473043"/>
                <a:gridCol w="473043"/>
                <a:gridCol w="473043"/>
                <a:gridCol w="473043"/>
                <a:gridCol w="473043"/>
                <a:gridCol w="473043"/>
                <a:gridCol w="474494"/>
              </a:tblGrid>
              <a:tr h="587362">
                <a:tc>
                  <a:txBody>
                    <a:bodyPr/>
                    <a:lstStyle/>
                    <a:p>
                      <a:endParaRPr lang="zh-TW" dirty="0"/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文字方塊 2"/>
          <p:cNvSpPr/>
          <p:nvPr/>
        </p:nvSpPr>
        <p:spPr>
          <a:xfrm>
            <a:off x="214282" y="1000108"/>
            <a:ext cx="96012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</a:rPr>
              <a:t>k = </a:t>
            </a:r>
            <a:r>
              <a:rPr lang="en-US" sz="3000" spc="-1" dirty="0" smtClean="0">
                <a:solidFill>
                  <a:srgbClr val="000000"/>
                </a:solidFill>
                <a:latin typeface="Calibri"/>
              </a:rPr>
              <a:t>0</a:t>
            </a:r>
            <a:endParaRPr lang="en-US" sz="30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" name="表格 1"/>
          <p:cNvGraphicFramePr/>
          <p:nvPr/>
        </p:nvGraphicFramePr>
        <p:xfrm>
          <a:off x="4786314" y="1857364"/>
          <a:ext cx="4258838" cy="4111534"/>
        </p:xfrm>
        <a:graphic>
          <a:graphicData uri="http://schemas.openxmlformats.org/drawingml/2006/table">
            <a:tbl>
              <a:tblPr/>
              <a:tblGrid>
                <a:gridCol w="473043"/>
                <a:gridCol w="473043"/>
                <a:gridCol w="473043"/>
                <a:gridCol w="473043"/>
                <a:gridCol w="473043"/>
                <a:gridCol w="473043"/>
                <a:gridCol w="473043"/>
                <a:gridCol w="473043"/>
                <a:gridCol w="474494"/>
              </a:tblGrid>
              <a:tr h="587362">
                <a:tc>
                  <a:txBody>
                    <a:bodyPr/>
                    <a:lstStyle/>
                    <a:p>
                      <a:endParaRPr lang="zh-TW" dirty="0"/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2" name="文字方塊 2"/>
          <p:cNvSpPr/>
          <p:nvPr/>
        </p:nvSpPr>
        <p:spPr>
          <a:xfrm>
            <a:off x="4643438" y="1000108"/>
            <a:ext cx="96012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</a:rPr>
              <a:t>k = </a:t>
            </a:r>
            <a:r>
              <a:rPr lang="en-US" altLang="zh-TW" sz="3000" spc="-1" dirty="0" smtClean="0">
                <a:solidFill>
                  <a:srgbClr val="000000"/>
                </a:solidFill>
                <a:latin typeface="Calibri"/>
              </a:rPr>
              <a:t>2</a:t>
            </a:r>
            <a:endParaRPr lang="en-US" sz="3000" b="0" strike="noStrike" spc="-1" dirty="0">
              <a:latin typeface="Arial"/>
            </a:endParaRPr>
          </a:p>
        </p:txBody>
      </p:sp>
      <p:sp>
        <p:nvSpPr>
          <p:cNvPr id="187" name="投影片編號版面配置區 8"/>
          <p:cNvSpPr txBox="1"/>
          <p:nvPr/>
        </p:nvSpPr>
        <p:spPr>
          <a:xfrm>
            <a:off x="6457860" y="6356520"/>
            <a:ext cx="205713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CF3600F-6130-4A71-8872-6C83521B467B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14612" y="357166"/>
            <a:ext cx="222549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spc="-1" dirty="0" smtClean="0">
                <a:solidFill>
                  <a:srgbClr val="000000"/>
                </a:solidFill>
                <a:latin typeface="Calibri"/>
              </a:rPr>
              <a:t>P: B D</a:t>
            </a:r>
            <a:endParaRPr lang="en-US" sz="3000" spc="-1" dirty="0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14282" y="1857364"/>
          <a:ext cx="4258838" cy="4111534"/>
        </p:xfrm>
        <a:graphic>
          <a:graphicData uri="http://schemas.openxmlformats.org/drawingml/2006/table">
            <a:tbl>
              <a:tblPr/>
              <a:tblGrid>
                <a:gridCol w="473043"/>
                <a:gridCol w="473043"/>
                <a:gridCol w="473043"/>
                <a:gridCol w="473043"/>
                <a:gridCol w="473043"/>
                <a:gridCol w="473043"/>
                <a:gridCol w="473043"/>
                <a:gridCol w="473043"/>
                <a:gridCol w="474494"/>
              </a:tblGrid>
              <a:tr h="587362">
                <a:tc>
                  <a:txBody>
                    <a:bodyPr/>
                    <a:lstStyle/>
                    <a:p>
                      <a:endParaRPr lang="zh-TW" dirty="0"/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  <a:ea typeface="新細明體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873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2200" b="0" strike="noStrike" spc="-1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2200" b="0" strike="noStrike" spc="-1" dirty="0">
                        <a:latin typeface="Arial"/>
                      </a:endParaRPr>
                    </a:p>
                  </a:txBody>
                  <a:tcPr marL="68580" marR="685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文字方塊 2"/>
          <p:cNvSpPr/>
          <p:nvPr/>
        </p:nvSpPr>
        <p:spPr>
          <a:xfrm>
            <a:off x="214282" y="1000108"/>
            <a:ext cx="96012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</a:rPr>
              <a:t>k = </a:t>
            </a:r>
            <a:r>
              <a:rPr lang="en-US" altLang="zh-TW" sz="3000" spc="-1" dirty="0" smtClean="0">
                <a:solidFill>
                  <a:srgbClr val="000000"/>
                </a:solidFill>
                <a:latin typeface="Calibri"/>
              </a:rPr>
              <a:t>1</a:t>
            </a:r>
            <a:endParaRPr lang="en-US" sz="3000" b="0" strike="noStrike" spc="-1" dirty="0">
              <a:latin typeface="Arial"/>
            </a:endParaRPr>
          </a:p>
        </p:txBody>
      </p:sp>
      <p:sp>
        <p:nvSpPr>
          <p:cNvPr id="8" name="文字方塊 4"/>
          <p:cNvSpPr/>
          <p:nvPr/>
        </p:nvSpPr>
        <p:spPr>
          <a:xfrm>
            <a:off x="4143372" y="6143644"/>
            <a:ext cx="1225080" cy="5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O(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nmr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)</a:t>
            </a:r>
            <a:endParaRPr lang="en-US" sz="28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內容版面配置區 2"/>
          <p:cNvSpPr txBox="1"/>
          <p:nvPr/>
        </p:nvSpPr>
        <p:spPr>
          <a:xfrm>
            <a:off x="628560" y="312840"/>
            <a:ext cx="7886430" cy="75924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Sequence Alignment</a:t>
            </a:r>
          </a:p>
        </p:txBody>
      </p:sp>
      <p:sp>
        <p:nvSpPr>
          <p:cNvPr id="189" name="投影片編號版面配置區 3"/>
          <p:cNvSpPr txBox="1"/>
          <p:nvPr/>
        </p:nvSpPr>
        <p:spPr>
          <a:xfrm>
            <a:off x="6457860" y="6356520"/>
            <a:ext cx="205713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9759D551-BD16-4F53-B6D7-D0EAB8DE4866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7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190" name="文字方塊 4"/>
          <p:cNvSpPr/>
          <p:nvPr/>
        </p:nvSpPr>
        <p:spPr>
          <a:xfrm>
            <a:off x="430920" y="1535400"/>
            <a:ext cx="2757848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ourier New"/>
              </a:rPr>
              <a:t>X: A C B C D</a:t>
            </a:r>
            <a:endParaRPr lang="en-US" sz="2800" b="0" strike="noStrike" spc="-1" dirty="0">
              <a:latin typeface="Arial"/>
            </a:endParaRPr>
          </a:p>
        </p:txBody>
      </p:sp>
      <p:sp>
        <p:nvSpPr>
          <p:cNvPr id="191" name="文字方塊 5"/>
          <p:cNvSpPr/>
          <p:nvPr/>
        </p:nvSpPr>
        <p:spPr>
          <a:xfrm>
            <a:off x="4000496" y="1500174"/>
            <a:ext cx="3616544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ourier New"/>
              </a:rPr>
              <a:t>Y: B A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ourier New"/>
              </a:rPr>
              <a:t>A</a:t>
            </a:r>
            <a:r>
              <a:rPr lang="en-US" sz="2800" b="0" strike="noStrike" spc="-1" dirty="0">
                <a:solidFill>
                  <a:srgbClr val="000000"/>
                </a:solidFill>
                <a:latin typeface="Courier New"/>
              </a:rPr>
              <a:t> C D C D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857224" y="2571744"/>
          <a:ext cx="5486400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TW" alt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zh-TW" alt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TW" alt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TW" alt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TW" alt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zh-TW" alt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TW" alt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TW" alt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-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-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A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A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D</a:t>
                      </a:r>
                      <a:endParaRPr lang="zh-TW" altLang="en-US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928662" y="4214818"/>
          <a:ext cx="4876800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-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-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B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-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B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A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-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D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40" y="3714752"/>
            <a:ext cx="6000760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群組 3"/>
          <p:cNvGrpSpPr/>
          <p:nvPr/>
        </p:nvGrpSpPr>
        <p:grpSpPr>
          <a:xfrm>
            <a:off x="1183140" y="1843920"/>
            <a:ext cx="4710435" cy="1734606"/>
            <a:chOff x="1577520" y="1843920"/>
            <a:chExt cx="6280580" cy="1734606"/>
          </a:xfrm>
        </p:grpSpPr>
        <p:sp>
          <p:nvSpPr>
            <p:cNvPr id="199" name="文字方塊 4"/>
            <p:cNvSpPr/>
            <p:nvPr/>
          </p:nvSpPr>
          <p:spPr>
            <a:xfrm>
              <a:off x="1604880" y="1843920"/>
              <a:ext cx="625322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800" b="0" strike="noStrike" spc="-1">
                  <a:solidFill>
                    <a:srgbClr val="000000"/>
                  </a:solidFill>
                  <a:latin typeface="Courier New"/>
                </a:rPr>
                <a:t>X’: A C </a:t>
              </a:r>
              <a:r>
                <a:rPr lang="en-US" sz="2800" b="0" strike="noStrike" spc="-1">
                  <a:solidFill>
                    <a:srgbClr val="FF0000"/>
                  </a:solidFill>
                  <a:latin typeface="Courier New"/>
                </a:rPr>
                <a:t>B</a:t>
              </a:r>
              <a:r>
                <a:rPr lang="en-US" sz="2800" b="0" strike="noStrike" spc="-1">
                  <a:solidFill>
                    <a:srgbClr val="000000"/>
                  </a:solidFill>
                  <a:latin typeface="Courier New"/>
                </a:rPr>
                <a:t> - - </a:t>
              </a:r>
              <a:r>
                <a:rPr lang="en-US" sz="2800" b="0" strike="noStrike" spc="-1">
                  <a:solidFill>
                    <a:srgbClr val="FF0000"/>
                  </a:solidFill>
                  <a:latin typeface="Courier New"/>
                </a:rPr>
                <a:t>C D </a:t>
              </a:r>
              <a:r>
                <a:rPr lang="en-US" sz="2800" b="0" strike="noStrike" spc="-1">
                  <a:solidFill>
                    <a:srgbClr val="000000"/>
                  </a:solidFill>
                  <a:latin typeface="Courier New"/>
                </a:rPr>
                <a:t>- -</a:t>
              </a:r>
              <a:endParaRPr lang="en-US" sz="2800" b="0" strike="noStrike" spc="-1">
                <a:latin typeface="Arial"/>
              </a:endParaRPr>
            </a:p>
          </p:txBody>
        </p:sp>
        <p:sp>
          <p:nvSpPr>
            <p:cNvPr id="200" name="文字方塊 5"/>
            <p:cNvSpPr/>
            <p:nvPr/>
          </p:nvSpPr>
          <p:spPr>
            <a:xfrm>
              <a:off x="1604880" y="2450520"/>
              <a:ext cx="625322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800" b="0" strike="noStrike" spc="-1">
                  <a:solidFill>
                    <a:srgbClr val="000000"/>
                  </a:solidFill>
                  <a:latin typeface="Courier New"/>
                </a:rPr>
                <a:t>Y’: - - </a:t>
              </a:r>
              <a:r>
                <a:rPr lang="en-US" sz="2800" b="0" strike="noStrike" spc="-1">
                  <a:solidFill>
                    <a:srgbClr val="FF0000"/>
                  </a:solidFill>
                  <a:latin typeface="Courier New"/>
                </a:rPr>
                <a:t>B</a:t>
              </a:r>
              <a:r>
                <a:rPr lang="en-US" sz="2800" b="0" strike="noStrike" spc="-1">
                  <a:solidFill>
                    <a:srgbClr val="000000"/>
                  </a:solidFill>
                  <a:latin typeface="Courier New"/>
                </a:rPr>
                <a:t> A A </a:t>
              </a:r>
              <a:r>
                <a:rPr lang="en-US" sz="2800" b="0" strike="noStrike" spc="-1">
                  <a:solidFill>
                    <a:srgbClr val="FF0000"/>
                  </a:solidFill>
                  <a:latin typeface="Courier New"/>
                </a:rPr>
                <a:t>C D</a:t>
              </a:r>
              <a:r>
                <a:rPr lang="en-US" sz="2800" b="0" strike="noStrike" spc="-1">
                  <a:solidFill>
                    <a:srgbClr val="000000"/>
                  </a:solidFill>
                  <a:latin typeface="Courier New"/>
                </a:rPr>
                <a:t> C D</a:t>
              </a:r>
              <a:endParaRPr lang="en-US" sz="2800" b="0" strike="noStrike" spc="-1">
                <a:latin typeface="Arial"/>
              </a:endParaRPr>
            </a:p>
          </p:txBody>
        </p:sp>
        <p:sp>
          <p:nvSpPr>
            <p:cNvPr id="201" name="文字方塊 6"/>
            <p:cNvSpPr/>
            <p:nvPr/>
          </p:nvSpPr>
          <p:spPr>
            <a:xfrm>
              <a:off x="1577520" y="3056760"/>
              <a:ext cx="2245969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800" b="0" strike="noStrike" spc="-1" dirty="0">
                  <a:solidFill>
                    <a:srgbClr val="000000"/>
                  </a:solidFill>
                  <a:latin typeface="Courier New"/>
                </a:rPr>
                <a:t>P’: B D</a:t>
              </a:r>
              <a:endParaRPr lang="en-US" sz="2800" b="0" strike="noStrike" spc="-1" dirty="0">
                <a:latin typeface="Arial"/>
              </a:endParaRPr>
            </a:p>
          </p:txBody>
        </p:sp>
      </p:grpSp>
      <p:sp>
        <p:nvSpPr>
          <p:cNvPr id="202" name="文字方塊 7"/>
          <p:cNvSpPr/>
          <p:nvPr/>
        </p:nvSpPr>
        <p:spPr>
          <a:xfrm>
            <a:off x="428597" y="210960"/>
            <a:ext cx="8501122" cy="1445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</a:rPr>
              <a:t>Constrained Sequence Alignment </a:t>
            </a:r>
            <a:endParaRPr lang="en-US" sz="4400" b="0" strike="noStrike" spc="-1" dirty="0" smtClean="0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100000"/>
              </a:lnSpc>
            </a:pPr>
            <a:r>
              <a:rPr lang="en-US" sz="4400" b="0" strike="noStrike" spc="-1" dirty="0" smtClean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4400" b="0" strike="noStrike" spc="-1" dirty="0">
                <a:solidFill>
                  <a:srgbClr val="000000"/>
                </a:solidFill>
                <a:latin typeface="Calibri"/>
              </a:rPr>
              <a:t>CSA)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204" name="文字方塊 8"/>
          <p:cNvSpPr/>
          <p:nvPr/>
        </p:nvSpPr>
        <p:spPr>
          <a:xfrm>
            <a:off x="1178280" y="4008240"/>
            <a:ext cx="2465026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ourier New"/>
              </a:rPr>
              <a:t>Z’: B C D</a:t>
            </a:r>
            <a:endParaRPr lang="en-US" sz="2800" b="0" strike="noStrike" spc="-1" dirty="0">
              <a:latin typeface="Arial"/>
            </a:endParaRPr>
          </a:p>
        </p:txBody>
      </p:sp>
      <p:sp>
        <p:nvSpPr>
          <p:cNvPr id="205" name="投影片編號版面配置區 2"/>
          <p:cNvSpPr txBox="1"/>
          <p:nvPr/>
        </p:nvSpPr>
        <p:spPr>
          <a:xfrm>
            <a:off x="6457860" y="6356520"/>
            <a:ext cx="205713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83B56830-8CDE-4C36-98BC-B46BECC35E84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8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內容版面配置區 2"/>
          <p:cNvSpPr txBox="1"/>
          <p:nvPr/>
        </p:nvSpPr>
        <p:spPr>
          <a:xfrm>
            <a:off x="603180" y="403200"/>
            <a:ext cx="7886430" cy="657720"/>
          </a:xfrm>
          <a:prstGeom prst="rect">
            <a:avLst/>
          </a:prstGeom>
          <a:noFill/>
          <a:ln w="0">
            <a:noFill/>
          </a:ln>
        </p:spPr>
        <p:txBody>
          <a:bodyPr>
            <a:normAutofit lnSpcReduction="10000"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Conclusion</a:t>
            </a:r>
          </a:p>
        </p:txBody>
      </p:sp>
      <p:sp>
        <p:nvSpPr>
          <p:cNvPr id="207" name="文字方塊 4"/>
          <p:cNvSpPr/>
          <p:nvPr/>
        </p:nvSpPr>
        <p:spPr>
          <a:xfrm>
            <a:off x="376650" y="1783800"/>
            <a:ext cx="8410192" cy="18144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Described a simple O(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</a:rPr>
              <a:t>nmr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) time algorithm to solve CLCS.</a:t>
            </a:r>
            <a:endParaRPr lang="en-US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Also showed that the CLCS problem is indeed a special case of the CSA problem.</a:t>
            </a:r>
            <a:endParaRPr lang="en-US" sz="2800" b="0" strike="noStrike" spc="-1" dirty="0">
              <a:latin typeface="Arial"/>
            </a:endParaRPr>
          </a:p>
        </p:txBody>
      </p:sp>
      <p:sp>
        <p:nvSpPr>
          <p:cNvPr id="208" name="投影片編號版面配置區 6"/>
          <p:cNvSpPr txBox="1"/>
          <p:nvPr/>
        </p:nvSpPr>
        <p:spPr>
          <a:xfrm>
            <a:off x="6457860" y="6356520"/>
            <a:ext cx="205713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0A945ED-DF0F-4F3A-B2C6-D3ECCDD3023C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9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2964</TotalTime>
  <Words>632</Words>
  <Application>Microsoft Office PowerPoint</Application>
  <PresentationFormat>如螢幕大小 (4:3)</PresentationFormat>
  <Paragraphs>400</Paragraphs>
  <Slides>9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Office 佈景主題</vt:lpstr>
      <vt:lpstr> A Simple Algorithm for The Constrained Sequence Problems</vt:lpstr>
      <vt:lpstr>Abstract</vt:lpstr>
      <vt:lpstr>Constrained Longest Common Subsequence </vt:lpstr>
      <vt:lpstr>投影片 4</vt:lpstr>
      <vt:lpstr>投影片 5</vt:lpstr>
      <vt:lpstr>投影片 6</vt:lpstr>
      <vt:lpstr>投影片 7</vt:lpstr>
      <vt:lpstr>投影片 8</vt:lpstr>
      <vt:lpstr>投影片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李健廷</dc:creator>
  <cp:lastModifiedBy>李健廷</cp:lastModifiedBy>
  <cp:revision>182</cp:revision>
  <dcterms:created xsi:type="dcterms:W3CDTF">2022-02-04T17:32:31Z</dcterms:created>
  <dcterms:modified xsi:type="dcterms:W3CDTF">2022-08-02T11:02:40Z</dcterms:modified>
</cp:coreProperties>
</file>