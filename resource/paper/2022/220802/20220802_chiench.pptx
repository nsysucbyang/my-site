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3" r:id="rId7"/>
    <p:sldId id="264" r:id="rId8"/>
    <p:sldId id="265" r:id="rId9"/>
    <p:sldId id="266" r:id="rId10"/>
    <p:sldId id="267"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8D342C-9016-41FB-84B7-320053799B0B}" v="6" dt="2022-07-30T14:34:54.998"/>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059" autoAdjust="0"/>
  </p:normalViewPr>
  <p:slideViewPr>
    <p:cSldViewPr snapToGrid="0">
      <p:cViewPr varScale="1">
        <p:scale>
          <a:sx n="85" d="100"/>
          <a:sy n="85" d="100"/>
        </p:scale>
        <p:origin x="15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70D8CD-9D06-4104-A1FF-776F0BF70E6B}" type="datetimeFigureOut">
              <a:rPr lang="zh-TW" altLang="en-US" smtClean="0"/>
              <a:t>2022/8/2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3F10F1-5EF0-43F4-8D47-EF5BB758431A}" type="slidenum">
              <a:rPr lang="zh-TW" altLang="en-US" smtClean="0"/>
              <a:t>‹#›</a:t>
            </a:fld>
            <a:endParaRPr lang="zh-TW" altLang="en-US"/>
          </a:p>
        </p:txBody>
      </p:sp>
    </p:spTree>
    <p:extLst>
      <p:ext uri="{BB962C8B-B14F-4D97-AF65-F5344CB8AC3E}">
        <p14:creationId xmlns:p14="http://schemas.microsoft.com/office/powerpoint/2010/main" val="2442784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2</a:t>
            </a:fld>
            <a:endParaRPr lang="zh-TW" altLang="en-US"/>
          </a:p>
        </p:txBody>
      </p:sp>
    </p:spTree>
    <p:extLst>
      <p:ext uri="{BB962C8B-B14F-4D97-AF65-F5344CB8AC3E}">
        <p14:creationId xmlns:p14="http://schemas.microsoft.com/office/powerpoint/2010/main" val="177225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要用一串序列去表示各個節點之間的先後順序關係，各個節點之間有一些先後的限制，那這些先後限制可以用</a:t>
            </a:r>
            <a:r>
              <a:rPr lang="en-US" altLang="zh-TW" dirty="0"/>
              <a:t>topologic</a:t>
            </a:r>
            <a:r>
              <a:rPr lang="zh-TW" altLang="en-US" dirty="0"/>
              <a:t>去表示</a:t>
            </a:r>
            <a:endParaRPr lang="en-US" altLang="zh-TW" dirty="0"/>
          </a:p>
        </p:txBody>
      </p:sp>
      <p:sp>
        <p:nvSpPr>
          <p:cNvPr id="4" name="投影片編號版面配置區 3"/>
          <p:cNvSpPr>
            <a:spLocks noGrp="1"/>
          </p:cNvSpPr>
          <p:nvPr>
            <p:ph type="sldNum" sz="quarter" idx="5"/>
          </p:nvPr>
        </p:nvSpPr>
        <p:spPr/>
        <p:txBody>
          <a:bodyPr/>
          <a:lstStyle/>
          <a:p>
            <a:fld id="{3D3F10F1-5EF0-43F4-8D47-EF5BB758431A}" type="slidenum">
              <a:rPr lang="zh-TW" altLang="en-US" smtClean="0"/>
              <a:t>3</a:t>
            </a:fld>
            <a:endParaRPr lang="zh-TW" altLang="en-US"/>
          </a:p>
        </p:txBody>
      </p:sp>
    </p:spTree>
    <p:extLst>
      <p:ext uri="{BB962C8B-B14F-4D97-AF65-F5344CB8AC3E}">
        <p14:creationId xmlns:p14="http://schemas.microsoft.com/office/powerpoint/2010/main" val="2873915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21435</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3D3F10F1-5EF0-43F4-8D47-EF5BB758431A}" type="slidenum">
              <a:rPr lang="zh-TW" altLang="en-US" smtClean="0"/>
              <a:t>8</a:t>
            </a:fld>
            <a:endParaRPr lang="zh-TW" altLang="en-US"/>
          </a:p>
        </p:txBody>
      </p:sp>
    </p:spTree>
    <p:extLst>
      <p:ext uri="{BB962C8B-B14F-4D97-AF65-F5344CB8AC3E}">
        <p14:creationId xmlns:p14="http://schemas.microsoft.com/office/powerpoint/2010/main" val="2199246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61FFB2-089F-D2D3-4725-62AB5BCA4916}"/>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BCA577D4-C612-7C62-17BD-A9197A586C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2199142-2A7C-6DDB-DDBB-CA74EEE9621D}"/>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5" name="頁尾版面配置區 4">
            <a:extLst>
              <a:ext uri="{FF2B5EF4-FFF2-40B4-BE49-F238E27FC236}">
                <a16:creationId xmlns:a16="http://schemas.microsoft.com/office/drawing/2014/main" id="{044015D1-6EFB-211E-70B9-44324A9D5F6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69244B8-B96D-2C78-44FE-FB17E3D224D1}"/>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770100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4A91BD-CA5F-084A-5274-3B322112C2F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6B46912-A7CA-A6E7-E7AE-D55357675C2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DDA7108-552B-3D63-B32E-CCCA164B0B4B}"/>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5" name="頁尾版面配置區 4">
            <a:extLst>
              <a:ext uri="{FF2B5EF4-FFF2-40B4-BE49-F238E27FC236}">
                <a16:creationId xmlns:a16="http://schemas.microsoft.com/office/drawing/2014/main" id="{74CDEDFF-A5BA-5652-03B5-32FD4553E7D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211E5E-97C6-21C5-F38B-740CF5D18413}"/>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862231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E67C2B-3C4E-52B5-EF0C-14B1ABA0F66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E3766B4-D723-87C3-E313-302DE8B99C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0C7ED5CC-4C32-DDA5-52CD-D827BA86D194}"/>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5" name="頁尾版面配置區 4">
            <a:extLst>
              <a:ext uri="{FF2B5EF4-FFF2-40B4-BE49-F238E27FC236}">
                <a16:creationId xmlns:a16="http://schemas.microsoft.com/office/drawing/2014/main" id="{DDD99725-23D3-E5AF-FCB8-F6D50F2D064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04F337A-84C3-0496-6102-6A328D91311D}"/>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1214837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9A91F1-07E2-45B7-83A8-6FEDB26A0EE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74841EE-1C90-7070-BB4E-3FE4D812C1C8}"/>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C35DCE1-2462-62FB-22AB-924042C9B91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B3FE31F-DD05-71BE-88C9-AA6349D56D4E}"/>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6" name="頁尾版面配置區 5">
            <a:extLst>
              <a:ext uri="{FF2B5EF4-FFF2-40B4-BE49-F238E27FC236}">
                <a16:creationId xmlns:a16="http://schemas.microsoft.com/office/drawing/2014/main" id="{CCC47BA7-4534-AF35-607C-5FA75B2F2FE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A6E6E59-8B85-CC3D-B560-D9979F609ABE}"/>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2473821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BB3A01-D127-D498-B8CE-E43E04BDEA1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6DC772A-1E1D-85FC-E1BB-67C0080992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3B93DBD0-0F7C-0BE4-52A2-35576F32945E}"/>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E1B272A-00CA-5921-7A92-30344673D3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D0D9799-B663-8C25-1D6E-8F6C8B8F887E}"/>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519F6BA-A369-5E9F-97A1-B1560835D00B}"/>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8" name="頁尾版面配置區 7">
            <a:extLst>
              <a:ext uri="{FF2B5EF4-FFF2-40B4-BE49-F238E27FC236}">
                <a16:creationId xmlns:a16="http://schemas.microsoft.com/office/drawing/2014/main" id="{9B14AF94-9543-2614-8097-2F52BCE76EF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8E56D0C-3683-E3B1-204A-769A97D6EDFC}"/>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243392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A83C96-086B-928C-EC47-89350C82A72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7923E95-995A-55F9-0D42-32EE3190CF3A}"/>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4" name="頁尾版面配置區 3">
            <a:extLst>
              <a:ext uri="{FF2B5EF4-FFF2-40B4-BE49-F238E27FC236}">
                <a16:creationId xmlns:a16="http://schemas.microsoft.com/office/drawing/2014/main" id="{83B3B91F-DC06-3C78-5BDC-5FF4B6B4982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66458CB-7AD9-1FA2-9F01-70EF4F404A73}"/>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80669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57F8A0F-F16A-9E3E-5C31-427BE9DADC8C}"/>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3" name="頁尾版面配置區 2">
            <a:extLst>
              <a:ext uri="{FF2B5EF4-FFF2-40B4-BE49-F238E27FC236}">
                <a16:creationId xmlns:a16="http://schemas.microsoft.com/office/drawing/2014/main" id="{905A541A-3D98-FE33-B9D6-FDA58E20DAE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A3D71B9-6947-4834-3833-0E3845B420FE}"/>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75539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EC2168-4104-6BB8-CACE-FADCFAE9DFE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EBC3D07-0BF8-4184-E286-74A60DD2B7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17C4856-C64F-6B4A-E569-D0A984A97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3D38FB7-07B9-C6ED-78B4-8BC02FCB4926}"/>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6" name="頁尾版面配置區 5">
            <a:extLst>
              <a:ext uri="{FF2B5EF4-FFF2-40B4-BE49-F238E27FC236}">
                <a16:creationId xmlns:a16="http://schemas.microsoft.com/office/drawing/2014/main" id="{20517DA3-C42B-D07D-71DD-112578D431D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663B7FC-AFE5-B0CB-07F6-E529CADBCCE5}"/>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721272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4D3EB-EC73-2654-AAA2-76A915A68D9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BE8CCD4-1472-FED5-1814-63A1D8327A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501E08B-D45F-A215-03E5-1D3AF560C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B63397F4-7EC4-6CBA-CC9B-78D89B81DD20}"/>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6" name="頁尾版面配置區 5">
            <a:extLst>
              <a:ext uri="{FF2B5EF4-FFF2-40B4-BE49-F238E27FC236}">
                <a16:creationId xmlns:a16="http://schemas.microsoft.com/office/drawing/2014/main" id="{B62AFAB5-297D-7C95-53AE-CE1983073F5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7175313-EB90-3E7E-E1EC-4A0859542FF0}"/>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99343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C6AE3F-5961-D36E-7F67-0CFE961C376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CB25384-2844-B93A-737B-A5C620F91D34}"/>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EEF197E-1918-2F4F-8A2D-4E5EB2CEB0A3}"/>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5" name="頁尾版面配置區 4">
            <a:extLst>
              <a:ext uri="{FF2B5EF4-FFF2-40B4-BE49-F238E27FC236}">
                <a16:creationId xmlns:a16="http://schemas.microsoft.com/office/drawing/2014/main" id="{01B90654-74F9-C22E-A094-BE9EB950955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23ED44-5FE4-7352-BF4E-418648E0DDB0}"/>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1841022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F1341BAE-5905-275A-9E96-E8F84BF47A8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41EA73A1-06C8-0F2D-446E-1E651457D0A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FE090F9-1FEC-8416-B999-8483C47C7550}"/>
              </a:ext>
            </a:extLst>
          </p:cNvPr>
          <p:cNvSpPr>
            <a:spLocks noGrp="1"/>
          </p:cNvSpPr>
          <p:nvPr>
            <p:ph type="dt" sz="half" idx="10"/>
          </p:nvPr>
        </p:nvSpPr>
        <p:spPr/>
        <p:txBody>
          <a:bodyPr/>
          <a:lstStyle/>
          <a:p>
            <a:fld id="{0C80BA9B-5DD7-4D59-A3C5-682DBE4230C8}" type="datetimeFigureOut">
              <a:rPr lang="zh-TW" altLang="en-US" smtClean="0"/>
              <a:t>2022/8/2</a:t>
            </a:fld>
            <a:endParaRPr lang="zh-TW" altLang="en-US"/>
          </a:p>
        </p:txBody>
      </p:sp>
      <p:sp>
        <p:nvSpPr>
          <p:cNvPr id="5" name="頁尾版面配置區 4">
            <a:extLst>
              <a:ext uri="{FF2B5EF4-FFF2-40B4-BE49-F238E27FC236}">
                <a16:creationId xmlns:a16="http://schemas.microsoft.com/office/drawing/2014/main" id="{74F0C775-5B82-3537-E357-9C95D6D790D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8BC1669-DFD5-AB9A-EB7D-68FF2901ED74}"/>
              </a:ext>
            </a:extLst>
          </p:cNvPr>
          <p:cNvSpPr>
            <a:spLocks noGrp="1"/>
          </p:cNvSpPr>
          <p:nvPr>
            <p:ph type="sldNum" sz="quarter" idx="12"/>
          </p:nvPr>
        </p:nvSpPr>
        <p:spPr/>
        <p:txBody>
          <a:body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204284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B1DF392-7344-0177-5005-E8E908A9E5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B3D0B3C-3E86-A3C6-6F84-08B73B800E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A88D9AB-218C-5070-D513-7F4CC0931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80BA9B-5DD7-4D59-A3C5-682DBE4230C8}" type="datetimeFigureOut">
              <a:rPr lang="zh-TW" altLang="en-US" smtClean="0"/>
              <a:t>2022/8/2</a:t>
            </a:fld>
            <a:endParaRPr lang="zh-TW" altLang="en-US"/>
          </a:p>
        </p:txBody>
      </p:sp>
      <p:sp>
        <p:nvSpPr>
          <p:cNvPr id="5" name="頁尾版面配置區 4">
            <a:extLst>
              <a:ext uri="{FF2B5EF4-FFF2-40B4-BE49-F238E27FC236}">
                <a16:creationId xmlns:a16="http://schemas.microsoft.com/office/drawing/2014/main" id="{2D98E01C-A15F-2680-7657-4B5985DB9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783327F-2B5F-BBAF-B667-A8F045B8D1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0BE1B4-65D7-4F7F-8789-FB1C661F35A8}" type="slidenum">
              <a:rPr lang="zh-TW" altLang="en-US" smtClean="0"/>
              <a:t>‹#›</a:t>
            </a:fld>
            <a:endParaRPr lang="zh-TW" altLang="en-US"/>
          </a:p>
        </p:txBody>
      </p:sp>
    </p:spTree>
    <p:extLst>
      <p:ext uri="{BB962C8B-B14F-4D97-AF65-F5344CB8AC3E}">
        <p14:creationId xmlns:p14="http://schemas.microsoft.com/office/powerpoint/2010/main" val="774137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390EC-3505-4614-AC8B-E5220F3B9165}"/>
              </a:ext>
            </a:extLst>
          </p:cNvPr>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Genetic algorithm approach for precedence-constrained</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sequencing problems</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C88D9F7-F986-E365-FDC2-C6659A6332D8}"/>
              </a:ext>
            </a:extLst>
          </p:cNvPr>
          <p:cNvSpPr>
            <a:spLocks noGrp="1"/>
          </p:cNvSpPr>
          <p:nvPr>
            <p:ph type="subTitle" idx="1"/>
          </p:nvPr>
        </p:nvSpPr>
        <p:spPr/>
        <p:txBody>
          <a:bodyPr>
            <a:normAutofit/>
          </a:bodyPr>
          <a:lstStyle/>
          <a:p>
            <a:r>
              <a:rPr lang="en-US" altLang="zh-TW" dirty="0" err="1">
                <a:latin typeface="Times New Roman" panose="02020603050405020304" pitchFamily="18" charset="0"/>
                <a:cs typeface="Times New Roman" panose="02020603050405020304" pitchFamily="18" charset="0"/>
              </a:rPr>
              <a:t>YoungSu</a:t>
            </a:r>
            <a:r>
              <a:rPr lang="en-US" altLang="zh-TW" dirty="0">
                <a:latin typeface="Times New Roman" panose="02020603050405020304" pitchFamily="18" charset="0"/>
                <a:cs typeface="Times New Roman" panose="02020603050405020304" pitchFamily="18" charset="0"/>
              </a:rPr>
              <a:t> Yun and </a:t>
            </a:r>
            <a:r>
              <a:rPr lang="en-US" altLang="zh-TW" dirty="0" err="1">
                <a:latin typeface="Times New Roman" panose="02020603050405020304" pitchFamily="18" charset="0"/>
                <a:cs typeface="Times New Roman" panose="02020603050405020304" pitchFamily="18" charset="0"/>
              </a:rPr>
              <a:t>Chiung</a:t>
            </a:r>
            <a:r>
              <a:rPr lang="en-US" altLang="zh-TW" dirty="0">
                <a:latin typeface="Times New Roman" panose="02020603050405020304" pitchFamily="18" charset="0"/>
                <a:cs typeface="Times New Roman" panose="02020603050405020304" pitchFamily="18" charset="0"/>
              </a:rPr>
              <a:t> Moon</a:t>
            </a:r>
          </a:p>
          <a:p>
            <a:r>
              <a:rPr lang="en-US" altLang="zh-TW" dirty="0">
                <a:latin typeface="Times New Roman" panose="02020603050405020304" pitchFamily="18" charset="0"/>
                <a:cs typeface="Times New Roman" panose="02020603050405020304" pitchFamily="18" charset="0"/>
              </a:rPr>
              <a:t>Journal of Intelligent Manufacturing, Vol. 22, pp. 379– 388, 2011</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0B04478-59CB-DCC3-9EC8-DF5AE437110D}"/>
              </a:ext>
            </a:extLst>
          </p:cNvPr>
          <p:cNvSpPr txBox="1"/>
          <p:nvPr/>
        </p:nvSpPr>
        <p:spPr>
          <a:xfrm>
            <a:off x="8489576" y="5531224"/>
            <a:ext cx="3397624" cy="646331"/>
          </a:xfrm>
          <a:prstGeom prst="rect">
            <a:avLst/>
          </a:prstGeom>
          <a:noFill/>
        </p:spPr>
        <p:txBody>
          <a:bodyPr wrap="square" rtlCol="0">
            <a:spAutoFit/>
          </a:bodyPr>
          <a:lstStyle/>
          <a:p>
            <a:pPr rtl="0">
              <a:spcBef>
                <a:spcPts val="0"/>
              </a:spcBef>
              <a:spcAft>
                <a:spcPts val="0"/>
              </a:spcAft>
            </a:pP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Presenter: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Chih-Hsuan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Chien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zh-TW" b="0" dirty="0">
              <a:effectLst/>
              <a:latin typeface="Times New Roman" panose="02020603050405020304" pitchFamily="18" charset="0"/>
              <a:cs typeface="Times New Roman" panose="02020603050405020304" pitchFamily="18" charset="0"/>
            </a:endParaRPr>
          </a:p>
          <a:p>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Date: Aug 2, 2022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02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AA023B-D9C9-363E-0730-DE94BC6B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a:t>
            </a:r>
            <a:endParaRPr lang="zh-TW" altLang="en-US" dirty="0"/>
          </a:p>
        </p:txBody>
      </p:sp>
      <p:sp>
        <p:nvSpPr>
          <p:cNvPr id="3" name="內容版面配置區 2">
            <a:extLst>
              <a:ext uri="{FF2B5EF4-FFF2-40B4-BE49-F238E27FC236}">
                <a16:creationId xmlns:a16="http://schemas.microsoft.com/office/drawing/2014/main" id="{AD20B566-6CC0-DA0E-6E4E-CF625178FFC2}"/>
              </a:ext>
            </a:extLst>
          </p:cNvPr>
          <p:cNvSpPr>
            <a:spLocks noGrp="1"/>
          </p:cNvSpPr>
          <p:nvPr>
            <p:ph idx="1"/>
          </p:nvPr>
        </p:nvSpPr>
        <p:spPr/>
        <p:txBody>
          <a:bodyPr>
            <a:noAutofit/>
          </a:bodyPr>
          <a:lstStyle/>
          <a:p>
            <a:r>
              <a:rPr lang="en-US" altLang="zh-TW" dirty="0"/>
              <a:t>In this paper we propose a genetic algorithm (GA) approach based on a topological sort (TS)-based representation procedure for effectively solving precedence</a:t>
            </a:r>
            <a:r>
              <a:rPr lang="zh-TW" altLang="en-US" dirty="0"/>
              <a:t> </a:t>
            </a:r>
            <a:r>
              <a:rPr lang="en-US" altLang="zh-TW" dirty="0"/>
              <a:t>constrained sequencing problems (PCSPs). The TS-based representation procedure used in the proposed GA approach can generate feasible sequences in PCSPs. By applying the proposed GA approach, the sequence determination problems with precedence constraints can be easily solved. Experimental results show that the proposed GA approach is a good alternative in locating optimal sequence for various types of PCSPs</a:t>
            </a:r>
            <a:r>
              <a:rPr lang="en-US"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73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1C32B0-DC56-668F-6BAE-51606D5C42CF}"/>
              </a:ext>
            </a:extLst>
          </p:cNvPr>
          <p:cNvSpPr>
            <a:spLocks noGrp="1"/>
          </p:cNvSpPr>
          <p:nvPr>
            <p:ph type="title"/>
          </p:nvPr>
        </p:nvSpPr>
        <p:spPr/>
        <p:txBody>
          <a:bodyPr>
            <a:normAutofit/>
          </a:bodyPr>
          <a:lstStyle/>
          <a:p>
            <a:r>
              <a:rPr lang="en-US" altLang="zh-TW" sz="3800" dirty="0">
                <a:latin typeface="Times New Roman" panose="02020603050405020304" pitchFamily="18" charset="0"/>
                <a:cs typeface="Times New Roman" panose="02020603050405020304" pitchFamily="18" charset="0"/>
              </a:rPr>
              <a:t>Precedence-constrained sequencing problem (PCSP)</a:t>
            </a:r>
            <a:endParaRPr lang="zh-TW" altLang="en-US" sz="3800"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EF9BD0F3-F154-A63B-9E2F-155C12E2D8F1}"/>
              </a:ext>
            </a:extLst>
          </p:cNvPr>
          <p:cNvPicPr>
            <a:picLocks noGrp="1" noChangeAspect="1"/>
          </p:cNvPicPr>
          <p:nvPr>
            <p:ph idx="1"/>
          </p:nvPr>
        </p:nvPicPr>
        <p:blipFill>
          <a:blip r:embed="rId3"/>
          <a:stretch>
            <a:fillRect/>
          </a:stretch>
        </p:blipFill>
        <p:spPr>
          <a:xfrm>
            <a:off x="260985" y="2304571"/>
            <a:ext cx="6207547" cy="3817918"/>
          </a:xfrm>
        </p:spPr>
      </p:pic>
      <p:sp>
        <p:nvSpPr>
          <p:cNvPr id="3" name="文字方塊 2">
            <a:extLst>
              <a:ext uri="{FF2B5EF4-FFF2-40B4-BE49-F238E27FC236}">
                <a16:creationId xmlns:a16="http://schemas.microsoft.com/office/drawing/2014/main" id="{06AE0B81-8B0E-F259-AA33-69DDC4411793}"/>
              </a:ext>
            </a:extLst>
          </p:cNvPr>
          <p:cNvSpPr txBox="1"/>
          <p:nvPr/>
        </p:nvSpPr>
        <p:spPr>
          <a:xfrm>
            <a:off x="8105422" y="3556000"/>
            <a:ext cx="2190045" cy="553998"/>
          </a:xfrm>
          <a:prstGeom prst="rect">
            <a:avLst/>
          </a:prstGeom>
          <a:noFill/>
        </p:spPr>
        <p:txBody>
          <a:bodyPr wrap="square" rtlCol="0">
            <a:spAutoFit/>
          </a:bodyPr>
          <a:lstStyle/>
          <a:p>
            <a:r>
              <a:rPr lang="en-US" altLang="zh-TW" sz="2500" dirty="0"/>
              <a:t>(</a:t>
            </a:r>
            <a:r>
              <a:rPr lang="en-US" altLang="zh-TW" sz="3000" dirty="0"/>
              <a:t>1,3,2,4,5 )</a:t>
            </a:r>
            <a:endParaRPr lang="zh-TW" altLang="en-US" sz="3000" dirty="0"/>
          </a:p>
        </p:txBody>
      </p:sp>
    </p:spTree>
    <p:extLst>
      <p:ext uri="{BB962C8B-B14F-4D97-AF65-F5344CB8AC3E}">
        <p14:creationId xmlns:p14="http://schemas.microsoft.com/office/powerpoint/2010/main" val="1018018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E8BDA2-E924-C701-11CF-5D8EF0DB6D1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Priority-based</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21AC3D5D-00F5-6771-D209-0BAACF253872}"/>
              </a:ext>
            </a:extLst>
          </p:cNvPr>
          <p:cNvPicPr>
            <a:picLocks noGrp="1" noChangeAspect="1"/>
          </p:cNvPicPr>
          <p:nvPr>
            <p:ph idx="1"/>
          </p:nvPr>
        </p:nvPicPr>
        <p:blipFill>
          <a:blip r:embed="rId2"/>
          <a:stretch>
            <a:fillRect/>
          </a:stretch>
        </p:blipFill>
        <p:spPr>
          <a:xfrm>
            <a:off x="1199444" y="2762956"/>
            <a:ext cx="6871658" cy="2637606"/>
          </a:xfrm>
        </p:spPr>
      </p:pic>
      <p:graphicFrame>
        <p:nvGraphicFramePr>
          <p:cNvPr id="3" name="表格 3">
            <a:extLst>
              <a:ext uri="{FF2B5EF4-FFF2-40B4-BE49-F238E27FC236}">
                <a16:creationId xmlns:a16="http://schemas.microsoft.com/office/drawing/2014/main" id="{2AABFE6C-9094-AA65-119D-A1BF7330DF9A}"/>
              </a:ext>
            </a:extLst>
          </p:cNvPr>
          <p:cNvGraphicFramePr>
            <a:graphicFrameLocks noGrp="1"/>
          </p:cNvGraphicFramePr>
          <p:nvPr>
            <p:extLst>
              <p:ext uri="{D42A27DB-BD31-4B8C-83A1-F6EECF244321}">
                <p14:modId xmlns:p14="http://schemas.microsoft.com/office/powerpoint/2010/main" val="3366872260"/>
              </p:ext>
            </p:extLst>
          </p:nvPr>
        </p:nvGraphicFramePr>
        <p:xfrm>
          <a:off x="1388534" y="1780605"/>
          <a:ext cx="6231468" cy="731520"/>
        </p:xfrm>
        <a:graphic>
          <a:graphicData uri="http://schemas.openxmlformats.org/drawingml/2006/table">
            <a:tbl>
              <a:tblPr firstRow="1" bandRow="1">
                <a:tableStyleId>{5C22544A-7EE6-4342-B048-85BDC9FD1C3A}</a:tableStyleId>
              </a:tblPr>
              <a:tblGrid>
                <a:gridCol w="1038578">
                  <a:extLst>
                    <a:ext uri="{9D8B030D-6E8A-4147-A177-3AD203B41FA5}">
                      <a16:colId xmlns:a16="http://schemas.microsoft.com/office/drawing/2014/main" val="3548811773"/>
                    </a:ext>
                  </a:extLst>
                </a:gridCol>
                <a:gridCol w="1038578">
                  <a:extLst>
                    <a:ext uri="{9D8B030D-6E8A-4147-A177-3AD203B41FA5}">
                      <a16:colId xmlns:a16="http://schemas.microsoft.com/office/drawing/2014/main" val="859732169"/>
                    </a:ext>
                  </a:extLst>
                </a:gridCol>
                <a:gridCol w="1038578">
                  <a:extLst>
                    <a:ext uri="{9D8B030D-6E8A-4147-A177-3AD203B41FA5}">
                      <a16:colId xmlns:a16="http://schemas.microsoft.com/office/drawing/2014/main" val="1226960628"/>
                    </a:ext>
                  </a:extLst>
                </a:gridCol>
                <a:gridCol w="1038578">
                  <a:extLst>
                    <a:ext uri="{9D8B030D-6E8A-4147-A177-3AD203B41FA5}">
                      <a16:colId xmlns:a16="http://schemas.microsoft.com/office/drawing/2014/main" val="851891551"/>
                    </a:ext>
                  </a:extLst>
                </a:gridCol>
                <a:gridCol w="1038578">
                  <a:extLst>
                    <a:ext uri="{9D8B030D-6E8A-4147-A177-3AD203B41FA5}">
                      <a16:colId xmlns:a16="http://schemas.microsoft.com/office/drawing/2014/main" val="2831088039"/>
                    </a:ext>
                  </a:extLst>
                </a:gridCol>
                <a:gridCol w="1038578">
                  <a:extLst>
                    <a:ext uri="{9D8B030D-6E8A-4147-A177-3AD203B41FA5}">
                      <a16:colId xmlns:a16="http://schemas.microsoft.com/office/drawing/2014/main" val="1061448576"/>
                    </a:ext>
                  </a:extLst>
                </a:gridCol>
              </a:tblGrid>
              <a:tr h="328898">
                <a:tc>
                  <a:txBody>
                    <a:bodyPr/>
                    <a:lstStyle/>
                    <a:p>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1</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2</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3</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4</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5</a:t>
                      </a:r>
                      <a:endParaRPr lang="zh-TW" altLang="en-US" b="0" dirty="0">
                        <a:solidFill>
                          <a:schemeClr val="tx1"/>
                        </a:solidFill>
                      </a:endParaRPr>
                    </a:p>
                  </a:txBody>
                  <a:tcPr>
                    <a:solidFill>
                      <a:schemeClr val="bg2"/>
                    </a:solidFill>
                  </a:tcPr>
                </a:tc>
                <a:extLst>
                  <a:ext uri="{0D108BD9-81ED-4DB2-BD59-A6C34878D82A}">
                    <a16:rowId xmlns:a16="http://schemas.microsoft.com/office/drawing/2014/main" val="3085367436"/>
                  </a:ext>
                </a:extLst>
              </a:tr>
              <a:tr h="328898">
                <a:tc>
                  <a:txBody>
                    <a:bodyPr/>
                    <a:lstStyle/>
                    <a:p>
                      <a:r>
                        <a:rPr lang="en-US" altLang="zh-TW" b="0" dirty="0">
                          <a:solidFill>
                            <a:schemeClr val="tx1"/>
                          </a:solidFill>
                        </a:rPr>
                        <a:t>priority</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4</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1</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5</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2</a:t>
                      </a:r>
                      <a:endParaRPr lang="zh-TW" altLang="en-US" b="0" dirty="0">
                        <a:solidFill>
                          <a:schemeClr val="tx1"/>
                        </a:solidFill>
                      </a:endParaRPr>
                    </a:p>
                  </a:txBody>
                  <a:tcPr>
                    <a:solidFill>
                      <a:schemeClr val="bg2"/>
                    </a:solidFill>
                  </a:tcPr>
                </a:tc>
                <a:tc>
                  <a:txBody>
                    <a:bodyPr/>
                    <a:lstStyle/>
                    <a:p>
                      <a:r>
                        <a:rPr lang="en-US" altLang="zh-TW" b="0" dirty="0">
                          <a:solidFill>
                            <a:schemeClr val="tx1"/>
                          </a:solidFill>
                        </a:rPr>
                        <a:t>3</a:t>
                      </a:r>
                      <a:endParaRPr lang="zh-TW" altLang="en-US" b="0" dirty="0">
                        <a:solidFill>
                          <a:schemeClr val="tx1"/>
                        </a:solidFill>
                      </a:endParaRPr>
                    </a:p>
                  </a:txBody>
                  <a:tcPr>
                    <a:solidFill>
                      <a:schemeClr val="bg2"/>
                    </a:solidFill>
                  </a:tcPr>
                </a:tc>
                <a:extLst>
                  <a:ext uri="{0D108BD9-81ED-4DB2-BD59-A6C34878D82A}">
                    <a16:rowId xmlns:a16="http://schemas.microsoft.com/office/drawing/2014/main" val="1618534529"/>
                  </a:ext>
                </a:extLst>
              </a:tr>
            </a:tbl>
          </a:graphicData>
        </a:graphic>
      </p:graphicFrame>
      <p:sp>
        <p:nvSpPr>
          <p:cNvPr id="7" name="文字方塊 6">
            <a:extLst>
              <a:ext uri="{FF2B5EF4-FFF2-40B4-BE49-F238E27FC236}">
                <a16:creationId xmlns:a16="http://schemas.microsoft.com/office/drawing/2014/main" id="{6E10E718-2750-86EE-C421-259BE55BAD03}"/>
              </a:ext>
            </a:extLst>
          </p:cNvPr>
          <p:cNvSpPr txBox="1"/>
          <p:nvPr/>
        </p:nvSpPr>
        <p:spPr>
          <a:xfrm>
            <a:off x="1587273" y="5854889"/>
            <a:ext cx="6096000" cy="477054"/>
          </a:xfrm>
          <a:prstGeom prst="rect">
            <a:avLst/>
          </a:prstGeom>
          <a:noFill/>
        </p:spPr>
        <p:txBody>
          <a:bodyPr wrap="square">
            <a:spAutoFit/>
          </a:bodyPr>
          <a:lstStyle/>
          <a:p>
            <a:r>
              <a:rPr lang="en-US" altLang="zh-TW" sz="2500" dirty="0"/>
              <a:t>(1,3,2,4,5 )</a:t>
            </a:r>
          </a:p>
        </p:txBody>
      </p:sp>
    </p:spTree>
    <p:extLst>
      <p:ext uri="{BB962C8B-B14F-4D97-AF65-F5344CB8AC3E}">
        <p14:creationId xmlns:p14="http://schemas.microsoft.com/office/powerpoint/2010/main" val="3837842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96DD88-2771-7041-6FD7-CAF10722888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TS-based</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A770CDC3-E2C7-C25E-09C2-A2EA29A088C3}"/>
              </a:ext>
            </a:extLst>
          </p:cNvPr>
          <p:cNvPicPr>
            <a:picLocks noGrp="1" noChangeAspect="1"/>
          </p:cNvPicPr>
          <p:nvPr>
            <p:ph idx="1"/>
          </p:nvPr>
        </p:nvPicPr>
        <p:blipFill>
          <a:blip r:embed="rId2"/>
          <a:stretch>
            <a:fillRect/>
          </a:stretch>
        </p:blipFill>
        <p:spPr>
          <a:xfrm>
            <a:off x="1179138" y="2129535"/>
            <a:ext cx="6226374" cy="2598930"/>
          </a:xfrm>
        </p:spPr>
      </p:pic>
      <p:sp>
        <p:nvSpPr>
          <p:cNvPr id="6" name="文字方塊 5">
            <a:extLst>
              <a:ext uri="{FF2B5EF4-FFF2-40B4-BE49-F238E27FC236}">
                <a16:creationId xmlns:a16="http://schemas.microsoft.com/office/drawing/2014/main" id="{92F7A3D6-5EEB-B91F-CFAF-333DA48FF9DF}"/>
              </a:ext>
            </a:extLst>
          </p:cNvPr>
          <p:cNvSpPr txBox="1"/>
          <p:nvPr/>
        </p:nvSpPr>
        <p:spPr>
          <a:xfrm>
            <a:off x="1179138" y="5766992"/>
            <a:ext cx="6096000" cy="477054"/>
          </a:xfrm>
          <a:prstGeom prst="rect">
            <a:avLst/>
          </a:prstGeom>
          <a:noFill/>
        </p:spPr>
        <p:txBody>
          <a:bodyPr wrap="square">
            <a:spAutoFit/>
          </a:bodyPr>
          <a:lstStyle/>
          <a:p>
            <a:r>
              <a:rPr lang="en-US" altLang="zh-TW" sz="2500" dirty="0"/>
              <a:t>(2,1,3,4,5 )</a:t>
            </a:r>
          </a:p>
        </p:txBody>
      </p:sp>
    </p:spTree>
    <p:extLst>
      <p:ext uri="{BB962C8B-B14F-4D97-AF65-F5344CB8AC3E}">
        <p14:creationId xmlns:p14="http://schemas.microsoft.com/office/powerpoint/2010/main" val="317650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7C6DB9-5E09-275E-60DE-AC294DF4173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Crossover</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F69F470-3B80-EDAD-7FF9-36563951893B}"/>
              </a:ext>
            </a:extLst>
          </p:cNvPr>
          <p:cNvSpPr>
            <a:spLocks noGrp="1"/>
          </p:cNvSpPr>
          <p:nvPr>
            <p:ph idx="1"/>
          </p:nvPr>
        </p:nvSpPr>
        <p:spPr/>
        <p:txBody>
          <a:bodyPr/>
          <a:lstStyle/>
          <a:p>
            <a:r>
              <a:rPr lang="en-US" altLang="zh-TW" dirty="0"/>
              <a:t>(a, b, c, d)= (2, 1, 3, 1)</a:t>
            </a:r>
          </a:p>
          <a:p>
            <a:endParaRPr lang="en-US" altLang="zh-TW" dirty="0"/>
          </a:p>
          <a:p>
            <a:r>
              <a:rPr lang="en-US" altLang="zh-TW" dirty="0"/>
              <a:t>a: 1- population size</a:t>
            </a:r>
          </a:p>
          <a:p>
            <a:r>
              <a:rPr lang="en-US" altLang="zh-TW" dirty="0"/>
              <a:t>b and c: 1-node size</a:t>
            </a:r>
          </a:p>
          <a:p>
            <a:r>
              <a:rPr lang="en-US" altLang="zh-TW" dirty="0"/>
              <a:t>d:0- 2</a:t>
            </a:r>
          </a:p>
          <a:p>
            <a:endParaRPr lang="zh-TW" altLang="en-US" dirty="0"/>
          </a:p>
        </p:txBody>
      </p:sp>
    </p:spTree>
    <p:extLst>
      <p:ext uri="{BB962C8B-B14F-4D97-AF65-F5344CB8AC3E}">
        <p14:creationId xmlns:p14="http://schemas.microsoft.com/office/powerpoint/2010/main" val="2245720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D5BA66-3085-12B9-8BBD-E1D88D5FF15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Crossover</a:t>
            </a:r>
            <a:endParaRPr lang="zh-TW" altLang="en-US" dirty="0"/>
          </a:p>
        </p:txBody>
      </p:sp>
      <p:sp>
        <p:nvSpPr>
          <p:cNvPr id="3" name="內容版面配置區 2">
            <a:extLst>
              <a:ext uri="{FF2B5EF4-FFF2-40B4-BE49-F238E27FC236}">
                <a16:creationId xmlns:a16="http://schemas.microsoft.com/office/drawing/2014/main" id="{277264DF-B302-451A-D498-8C1929EF82DB}"/>
              </a:ext>
            </a:extLst>
          </p:cNvPr>
          <p:cNvSpPr>
            <a:spLocks noGrp="1"/>
          </p:cNvSpPr>
          <p:nvPr>
            <p:ph idx="1"/>
          </p:nvPr>
        </p:nvSpPr>
        <p:spPr/>
        <p:txBody>
          <a:bodyPr/>
          <a:lstStyle/>
          <a:p>
            <a:r>
              <a:rPr lang="en-US" altLang="zh-TW" dirty="0"/>
              <a:t>(a, b, c, d)= (2, 1, 3, 1)</a:t>
            </a:r>
          </a:p>
          <a:p>
            <a:r>
              <a:rPr lang="en-US" altLang="zh-TW" dirty="0"/>
              <a:t>Before crossover:</a:t>
            </a:r>
          </a:p>
          <a:p>
            <a:endParaRPr lang="en-US" altLang="zh-TW" dirty="0"/>
          </a:p>
          <a:p>
            <a:endParaRPr lang="en-US" altLang="zh-TW" dirty="0"/>
          </a:p>
          <a:p>
            <a:r>
              <a:rPr lang="en-US" altLang="zh-TW" dirty="0"/>
              <a:t>After crossover:</a:t>
            </a:r>
            <a:endParaRPr lang="zh-TW" altLang="en-US" dirty="0"/>
          </a:p>
        </p:txBody>
      </p:sp>
      <p:pic>
        <p:nvPicPr>
          <p:cNvPr id="5" name="圖片 4">
            <a:extLst>
              <a:ext uri="{FF2B5EF4-FFF2-40B4-BE49-F238E27FC236}">
                <a16:creationId xmlns:a16="http://schemas.microsoft.com/office/drawing/2014/main" id="{F045CADA-992D-1B70-7ED6-44E0AB2532EC}"/>
              </a:ext>
            </a:extLst>
          </p:cNvPr>
          <p:cNvPicPr>
            <a:picLocks noChangeAspect="1"/>
          </p:cNvPicPr>
          <p:nvPr/>
        </p:nvPicPr>
        <p:blipFill>
          <a:blip r:embed="rId2"/>
          <a:stretch>
            <a:fillRect/>
          </a:stretch>
        </p:blipFill>
        <p:spPr>
          <a:xfrm>
            <a:off x="2828561" y="2709014"/>
            <a:ext cx="2757468" cy="914978"/>
          </a:xfrm>
          <a:prstGeom prst="rect">
            <a:avLst/>
          </a:prstGeom>
        </p:spPr>
      </p:pic>
      <p:pic>
        <p:nvPicPr>
          <p:cNvPr id="7" name="圖片 6">
            <a:extLst>
              <a:ext uri="{FF2B5EF4-FFF2-40B4-BE49-F238E27FC236}">
                <a16:creationId xmlns:a16="http://schemas.microsoft.com/office/drawing/2014/main" id="{6EE22D8C-9D9C-AC71-1FBA-56C5EBE42DC7}"/>
              </a:ext>
            </a:extLst>
          </p:cNvPr>
          <p:cNvPicPr>
            <a:picLocks noChangeAspect="1"/>
          </p:cNvPicPr>
          <p:nvPr/>
        </p:nvPicPr>
        <p:blipFill>
          <a:blip r:embed="rId3"/>
          <a:stretch>
            <a:fillRect/>
          </a:stretch>
        </p:blipFill>
        <p:spPr>
          <a:xfrm>
            <a:off x="2835452" y="4652397"/>
            <a:ext cx="2750577" cy="709826"/>
          </a:xfrm>
          <a:prstGeom prst="rect">
            <a:avLst/>
          </a:prstGeom>
        </p:spPr>
      </p:pic>
    </p:spTree>
    <p:extLst>
      <p:ext uri="{BB962C8B-B14F-4D97-AF65-F5344CB8AC3E}">
        <p14:creationId xmlns:p14="http://schemas.microsoft.com/office/powerpoint/2010/main" val="313994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88C39C-4082-09C9-5D08-9EDF78FA602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Mutation</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a:extLst>
              <a:ext uri="{FF2B5EF4-FFF2-40B4-BE49-F238E27FC236}">
                <a16:creationId xmlns:a16="http://schemas.microsoft.com/office/drawing/2014/main" id="{7B96D3D6-CD1A-CB8B-A257-48EB00D373D2}"/>
              </a:ext>
            </a:extLst>
          </p:cNvPr>
          <p:cNvSpPr>
            <a:spLocks noGrp="1"/>
          </p:cNvSpPr>
          <p:nvPr>
            <p:ph idx="1"/>
          </p:nvPr>
        </p:nvSpPr>
        <p:spPr/>
        <p:txBody>
          <a:bodyPr/>
          <a:lstStyle/>
          <a:p>
            <a:r>
              <a:rPr lang="en-US" altLang="zh-TW" dirty="0"/>
              <a:t>Before mutation:</a:t>
            </a:r>
          </a:p>
          <a:p>
            <a:endParaRPr lang="en-US" altLang="zh-TW" dirty="0"/>
          </a:p>
          <a:p>
            <a:endParaRPr lang="en-US" altLang="zh-TW" dirty="0"/>
          </a:p>
          <a:p>
            <a:r>
              <a:rPr lang="en-US" altLang="zh-TW" dirty="0"/>
              <a:t>After mutation:</a:t>
            </a:r>
          </a:p>
          <a:p>
            <a:endParaRPr lang="zh-TW" altLang="en-US" dirty="0"/>
          </a:p>
        </p:txBody>
      </p:sp>
      <p:pic>
        <p:nvPicPr>
          <p:cNvPr id="12" name="圖片 11">
            <a:extLst>
              <a:ext uri="{FF2B5EF4-FFF2-40B4-BE49-F238E27FC236}">
                <a16:creationId xmlns:a16="http://schemas.microsoft.com/office/drawing/2014/main" id="{4E4968EA-B9DA-7131-C3C8-D6632C14CF01}"/>
              </a:ext>
            </a:extLst>
          </p:cNvPr>
          <p:cNvPicPr>
            <a:picLocks noChangeAspect="1"/>
          </p:cNvPicPr>
          <p:nvPr/>
        </p:nvPicPr>
        <p:blipFill>
          <a:blip r:embed="rId3"/>
          <a:stretch>
            <a:fillRect/>
          </a:stretch>
        </p:blipFill>
        <p:spPr>
          <a:xfrm>
            <a:off x="2722214" y="2286028"/>
            <a:ext cx="2954672" cy="904725"/>
          </a:xfrm>
          <a:prstGeom prst="rect">
            <a:avLst/>
          </a:prstGeom>
        </p:spPr>
      </p:pic>
      <p:pic>
        <p:nvPicPr>
          <p:cNvPr id="16" name="圖片 15">
            <a:extLst>
              <a:ext uri="{FF2B5EF4-FFF2-40B4-BE49-F238E27FC236}">
                <a16:creationId xmlns:a16="http://schemas.microsoft.com/office/drawing/2014/main" id="{6512BC68-6C4F-CC09-B9DF-7C3256D1770F}"/>
              </a:ext>
            </a:extLst>
          </p:cNvPr>
          <p:cNvPicPr>
            <a:picLocks noChangeAspect="1"/>
          </p:cNvPicPr>
          <p:nvPr/>
        </p:nvPicPr>
        <p:blipFill>
          <a:blip r:embed="rId4"/>
          <a:stretch>
            <a:fillRect/>
          </a:stretch>
        </p:blipFill>
        <p:spPr>
          <a:xfrm>
            <a:off x="2720181" y="4425245"/>
            <a:ext cx="2956705" cy="541866"/>
          </a:xfrm>
          <a:prstGeom prst="rect">
            <a:avLst/>
          </a:prstGeom>
        </p:spPr>
      </p:pic>
      <p:pic>
        <p:nvPicPr>
          <p:cNvPr id="3" name="圖片 2">
            <a:extLst>
              <a:ext uri="{FF2B5EF4-FFF2-40B4-BE49-F238E27FC236}">
                <a16:creationId xmlns:a16="http://schemas.microsoft.com/office/drawing/2014/main" id="{8F0E1B18-C9F3-98E3-12F7-211F13E54CB7}"/>
              </a:ext>
            </a:extLst>
          </p:cNvPr>
          <p:cNvPicPr>
            <a:picLocks noChangeAspect="1"/>
          </p:cNvPicPr>
          <p:nvPr/>
        </p:nvPicPr>
        <p:blipFill>
          <a:blip r:embed="rId5"/>
          <a:stretch>
            <a:fillRect/>
          </a:stretch>
        </p:blipFill>
        <p:spPr>
          <a:xfrm>
            <a:off x="7710310" y="2093080"/>
            <a:ext cx="3103133" cy="1908214"/>
          </a:xfrm>
          <a:prstGeom prst="rect">
            <a:avLst/>
          </a:prstGeom>
        </p:spPr>
      </p:pic>
    </p:spTree>
    <p:extLst>
      <p:ext uri="{BB962C8B-B14F-4D97-AF65-F5344CB8AC3E}">
        <p14:creationId xmlns:p14="http://schemas.microsoft.com/office/powerpoint/2010/main" val="3882052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CC39C786-1285-1CED-7BFF-2F03F23DC012}"/>
              </a:ext>
            </a:extLst>
          </p:cNvPr>
          <p:cNvPicPr>
            <a:picLocks noChangeAspect="1"/>
          </p:cNvPicPr>
          <p:nvPr/>
        </p:nvPicPr>
        <p:blipFill>
          <a:blip r:embed="rId2"/>
          <a:stretch>
            <a:fillRect/>
          </a:stretch>
        </p:blipFill>
        <p:spPr>
          <a:xfrm>
            <a:off x="653899" y="2512616"/>
            <a:ext cx="3628478" cy="2607015"/>
          </a:xfrm>
          <a:prstGeom prst="rect">
            <a:avLst/>
          </a:prstGeom>
        </p:spPr>
      </p:pic>
      <p:pic>
        <p:nvPicPr>
          <p:cNvPr id="7" name="圖片 6">
            <a:extLst>
              <a:ext uri="{FF2B5EF4-FFF2-40B4-BE49-F238E27FC236}">
                <a16:creationId xmlns:a16="http://schemas.microsoft.com/office/drawing/2014/main" id="{290E4CF4-38E0-8052-88AA-E0CFC92E4B1D}"/>
              </a:ext>
            </a:extLst>
          </p:cNvPr>
          <p:cNvPicPr>
            <a:picLocks noChangeAspect="1"/>
          </p:cNvPicPr>
          <p:nvPr/>
        </p:nvPicPr>
        <p:blipFill>
          <a:blip r:embed="rId3"/>
          <a:stretch>
            <a:fillRect/>
          </a:stretch>
        </p:blipFill>
        <p:spPr>
          <a:xfrm>
            <a:off x="5459390" y="1708783"/>
            <a:ext cx="5837212" cy="3040639"/>
          </a:xfrm>
          <a:prstGeom prst="rect">
            <a:avLst/>
          </a:prstGeom>
        </p:spPr>
      </p:pic>
      <p:pic>
        <p:nvPicPr>
          <p:cNvPr id="9" name="圖片 8">
            <a:extLst>
              <a:ext uri="{FF2B5EF4-FFF2-40B4-BE49-F238E27FC236}">
                <a16:creationId xmlns:a16="http://schemas.microsoft.com/office/drawing/2014/main" id="{BCF19916-802A-E234-5248-1069A83C9DFE}"/>
              </a:ext>
            </a:extLst>
          </p:cNvPr>
          <p:cNvPicPr>
            <a:picLocks noChangeAspect="1"/>
          </p:cNvPicPr>
          <p:nvPr/>
        </p:nvPicPr>
        <p:blipFill>
          <a:blip r:embed="rId4"/>
          <a:stretch>
            <a:fillRect/>
          </a:stretch>
        </p:blipFill>
        <p:spPr>
          <a:xfrm>
            <a:off x="5459390" y="4871734"/>
            <a:ext cx="6405232" cy="1553127"/>
          </a:xfrm>
          <a:prstGeom prst="rect">
            <a:avLst/>
          </a:prstGeom>
        </p:spPr>
      </p:pic>
      <p:sp>
        <p:nvSpPr>
          <p:cNvPr id="10" name="文字方塊 9">
            <a:extLst>
              <a:ext uri="{FF2B5EF4-FFF2-40B4-BE49-F238E27FC236}">
                <a16:creationId xmlns:a16="http://schemas.microsoft.com/office/drawing/2014/main" id="{20305627-924E-2A78-6A9D-DEF25545A9E2}"/>
              </a:ext>
            </a:extLst>
          </p:cNvPr>
          <p:cNvSpPr txBox="1"/>
          <p:nvPr/>
        </p:nvSpPr>
        <p:spPr>
          <a:xfrm>
            <a:off x="886178" y="710277"/>
            <a:ext cx="10419644" cy="769441"/>
          </a:xfrm>
          <a:prstGeom prst="rect">
            <a:avLst/>
          </a:prstGeom>
          <a:noFill/>
        </p:spPr>
        <p:txBody>
          <a:bodyPr wrap="square" rtlCol="0">
            <a:spAutoFit/>
          </a:bodyPr>
          <a:lstStyle/>
          <a:p>
            <a:r>
              <a:rPr lang="en-US" altLang="zh-TW" sz="4400" dirty="0">
                <a:latin typeface="Times New Roman" panose="02020603050405020304" pitchFamily="18" charset="0"/>
                <a:cs typeface="Times New Roman" panose="02020603050405020304" pitchFamily="18" charset="0"/>
              </a:rPr>
              <a:t>Experiments</a:t>
            </a:r>
            <a:endParaRPr lang="zh-TW"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2949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FB33EC-AA81-4C02-D727-0861484B3641}"/>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DD3C852-6ECD-EBD6-7C16-5181377B048B}"/>
              </a:ext>
            </a:extLst>
          </p:cNvPr>
          <p:cNvSpPr>
            <a:spLocks noGrp="1"/>
          </p:cNvSpPr>
          <p:nvPr>
            <p:ph idx="1"/>
          </p:nvPr>
        </p:nvSpPr>
        <p:spPr/>
        <p:txBody>
          <a:bodyPr/>
          <a:lstStyle/>
          <a:p>
            <a:endParaRPr lang="zh-TW" altLang="en-US" dirty="0"/>
          </a:p>
        </p:txBody>
      </p:sp>
      <p:pic>
        <p:nvPicPr>
          <p:cNvPr id="5" name="圖片 4">
            <a:extLst>
              <a:ext uri="{FF2B5EF4-FFF2-40B4-BE49-F238E27FC236}">
                <a16:creationId xmlns:a16="http://schemas.microsoft.com/office/drawing/2014/main" id="{4134211B-FE14-CC12-4EC3-9FFB3203D19D}"/>
              </a:ext>
            </a:extLst>
          </p:cNvPr>
          <p:cNvPicPr>
            <a:picLocks noChangeAspect="1"/>
          </p:cNvPicPr>
          <p:nvPr/>
        </p:nvPicPr>
        <p:blipFill>
          <a:blip r:embed="rId2"/>
          <a:stretch>
            <a:fillRect/>
          </a:stretch>
        </p:blipFill>
        <p:spPr>
          <a:xfrm>
            <a:off x="284205" y="2510423"/>
            <a:ext cx="5430008" cy="3048425"/>
          </a:xfrm>
          <a:prstGeom prst="rect">
            <a:avLst/>
          </a:prstGeom>
        </p:spPr>
      </p:pic>
      <p:pic>
        <p:nvPicPr>
          <p:cNvPr id="7" name="圖片 6">
            <a:extLst>
              <a:ext uri="{FF2B5EF4-FFF2-40B4-BE49-F238E27FC236}">
                <a16:creationId xmlns:a16="http://schemas.microsoft.com/office/drawing/2014/main" id="{547D915F-7AFF-548D-ED93-96C38FDF0999}"/>
              </a:ext>
            </a:extLst>
          </p:cNvPr>
          <p:cNvPicPr>
            <a:picLocks noChangeAspect="1"/>
          </p:cNvPicPr>
          <p:nvPr/>
        </p:nvPicPr>
        <p:blipFill>
          <a:blip r:embed="rId3"/>
          <a:stretch>
            <a:fillRect/>
          </a:stretch>
        </p:blipFill>
        <p:spPr>
          <a:xfrm>
            <a:off x="5951673" y="2510423"/>
            <a:ext cx="5639587" cy="2981741"/>
          </a:xfrm>
          <a:prstGeom prst="rect">
            <a:avLst/>
          </a:prstGeom>
        </p:spPr>
      </p:pic>
    </p:spTree>
    <p:extLst>
      <p:ext uri="{BB962C8B-B14F-4D97-AF65-F5344CB8AC3E}">
        <p14:creationId xmlns:p14="http://schemas.microsoft.com/office/powerpoint/2010/main" val="392047794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TotalTime>
  <Words>264</Words>
  <Application>Microsoft Office PowerPoint</Application>
  <PresentationFormat>寬螢幕</PresentationFormat>
  <Paragraphs>47</Paragraphs>
  <Slides>10</Slides>
  <Notes>3</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Arial</vt:lpstr>
      <vt:lpstr>Calibri</vt:lpstr>
      <vt:lpstr>Calibri Light</vt:lpstr>
      <vt:lpstr>Times New Roman</vt:lpstr>
      <vt:lpstr>Office 佈景主題</vt:lpstr>
      <vt:lpstr>Genetic algorithm approach for precedence-constrained sequencing problems</vt:lpstr>
      <vt:lpstr>Abstract </vt:lpstr>
      <vt:lpstr>Precedence-constrained sequencing problem (PCSP)</vt:lpstr>
      <vt:lpstr>Priority-based</vt:lpstr>
      <vt:lpstr>TS-based</vt:lpstr>
      <vt:lpstr>Crossover</vt:lpstr>
      <vt:lpstr>Crossover</vt:lpstr>
      <vt:lpstr>Mutation</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Genetic algorithm approach for precedence-constrained sequencing problems</dc:title>
  <dc:creator>M103040069</dc:creator>
  <cp:lastModifiedBy>M103040069</cp:lastModifiedBy>
  <cp:revision>3</cp:revision>
  <dcterms:created xsi:type="dcterms:W3CDTF">2022-07-30T08:17:34Z</dcterms:created>
  <dcterms:modified xsi:type="dcterms:W3CDTF">2022-08-02T10:19:44Z</dcterms:modified>
</cp:coreProperties>
</file>