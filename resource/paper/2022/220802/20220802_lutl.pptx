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3" r:id="rId4"/>
    <p:sldId id="284" r:id="rId5"/>
    <p:sldId id="286" r:id="rId6"/>
    <p:sldId id="291" r:id="rId7"/>
    <p:sldId id="287" r:id="rId8"/>
    <p:sldId id="288" r:id="rId9"/>
    <p:sldId id="282" r:id="rId10"/>
    <p:sldId id="289" r:id="rId11"/>
    <p:sldId id="293" r:id="rId12"/>
    <p:sldId id="290" r:id="rId13"/>
    <p:sldId id="281" r:id="rId14"/>
    <p:sldId id="29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0304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2022/7/24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lxy.dhu.edu.cn/41/dd/c20158a279005/page.htm" TargetMode="External"/><Relationship Id="rId2" Type="http://schemas.openxmlformats.org/officeDocument/2006/relationships/hyperlink" Target="http://bs.scu.edu.cn/gongye/202110/7579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895" y="1122363"/>
            <a:ext cx="10324210" cy="23876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The Longest Commonly Positioned Increasing Subsequences Problem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24604"/>
          </a:xfrm>
        </p:spPr>
        <p:txBody>
          <a:bodyPr>
            <a:normAutofit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Xiaozhou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賀小舟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Yinfeng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徐寅峰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Combinatorial Optimization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35, pp. 331-340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Aug. 2, 2022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B363A5-8CDB-38E0-A421-AFFA847690AE}"/>
              </a:ext>
            </a:extLst>
          </p:cNvPr>
          <p:cNvSpPr/>
          <p:nvPr/>
        </p:nvSpPr>
        <p:spPr>
          <a:xfrm>
            <a:off x="343790" y="6149807"/>
            <a:ext cx="31053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Business School, Sichuan University, Chengdu, China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well-known longest increasing subsequence problem and longest common increasing subsequence (LCIS) problem, we propose the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commonly positioned increasing subsequences (LCPIS) problem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𝐴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𝑛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 and 𝐵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𝑛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two input sequences. Let 𝐴𝑠𝑢𝑏 = ⟨𝑎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𝑖𝑙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 be a subsequence of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𝐵𝑠𝑢𝑏 = ⟨𝑏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𝑗𝑙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 be a subsequence of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that 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𝑖𝑘+1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𝑗𝑘+1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(1≤𝑘&lt;𝑙) and 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(1≤𝑘≤𝑙) are commonly positioned (have the same index 𝑖𝑘 = 𝑗𝑘) in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 but these two elements do not need to be equal.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di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LCPIS problem aims at finding a pair of subsequences 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Asub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𝐵𝑠𝑢𝑏 as long as possible. When all the elements of the two input sequences are positive integers, this paper presents an algorithm with 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𝑂(𝑛log𝑛loglog𝑀)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to compute the LCPIS, where 𝑀 = 𝑚𝑖𝑛{𝑚𝑎𝑥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1≤𝑖≤𝑛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𝑎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𝑚𝑎𝑥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1≤𝑗≤𝑛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And we also show a dual relationship between the LCPIS problem and the LCIS problem.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82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Commonly Positioned Increasing Subsequences (LCPIS)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LCPIS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LCIS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604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Longest Commonly Positioned Increasing Subsequences (LCPIS)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⟨1, 3, 6,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4, 5, 2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5, 9, 7,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⟨2,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7,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6,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(longest common subsequence):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⟨4, 5, 2, 8⟩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⟨1,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6, 4,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2, 5, 9,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⟨2, 4,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2, 1, 6,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 (longest common increasing subsequence):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⟨3, 5, 7, 8⟩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⟨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5, 2, 5, 9,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7, 8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⟨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7, 2, 1,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6, 8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LCPIS: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𝐴𝑠𝑢𝑏 ⟨1, 3, 4, 7, 8⟩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𝐵𝑠𝑢𝑏 ⟨2, 4, 5, 6, 8⟩</a:t>
            </a: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02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 (1/4)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455195" cy="306842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⟨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5, 2, 5, 9,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7, 8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⟨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7, 2, 1,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6, 8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LCPIS: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𝐴𝑠𝑢𝑏 ⟨1, 3, 4, 7, 8⟩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𝐵𝑠𝑢𝑏 ⟨2, 4, 5, 6, 8⟩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LCPIS: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+ dominance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926512-14C6-A2CD-CB63-4AD879EF3EB2}"/>
              </a:ext>
            </a:extLst>
          </p:cNvPr>
          <p:cNvSpPr/>
          <p:nvPr/>
        </p:nvSpPr>
        <p:spPr>
          <a:xfrm>
            <a:off x="8461746" y="1408925"/>
            <a:ext cx="2892054" cy="5635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2),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2), (9, 1)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1AB57-ED2D-17D6-E55A-AA1E65034176}"/>
              </a:ext>
            </a:extLst>
          </p:cNvPr>
          <p:cNvSpPr/>
          <p:nvPr/>
        </p:nvSpPr>
        <p:spPr>
          <a:xfrm>
            <a:off x="8461745" y="2428232"/>
            <a:ext cx="2892054" cy="5635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7),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 4),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3), (6, 3)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6B0943-C8C1-6280-934D-BEAE9A1B8570}"/>
              </a:ext>
            </a:extLst>
          </p:cNvPr>
          <p:cNvSpPr/>
          <p:nvPr/>
        </p:nvSpPr>
        <p:spPr>
          <a:xfrm>
            <a:off x="8461744" y="3435518"/>
            <a:ext cx="2892054" cy="5635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(4, 5)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290094-618C-0432-60CF-CFB1FF495159}"/>
              </a:ext>
            </a:extLst>
          </p:cNvPr>
          <p:cNvSpPr/>
          <p:nvPr/>
        </p:nvSpPr>
        <p:spPr>
          <a:xfrm>
            <a:off x="8461743" y="4442804"/>
            <a:ext cx="2892054" cy="5635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(7, 6)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A543AF-DF98-FE51-14A7-34F48B33A817}"/>
              </a:ext>
            </a:extLst>
          </p:cNvPr>
          <p:cNvSpPr/>
          <p:nvPr/>
        </p:nvSpPr>
        <p:spPr>
          <a:xfrm>
            <a:off x="8461743" y="5448877"/>
            <a:ext cx="2892054" cy="5635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(8, 8)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1FCA0C-9B5E-73D1-2A1E-76EA131503F4}"/>
              </a:ext>
            </a:extLst>
          </p:cNvPr>
          <p:cNvSpPr txBox="1"/>
          <p:nvPr/>
        </p:nvSpPr>
        <p:spPr>
          <a:xfrm>
            <a:off x="7831465" y="142907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TW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FCDB423-811B-5D2B-3C2A-065243FE9185}"/>
              </a:ext>
            </a:extLst>
          </p:cNvPr>
          <p:cNvSpPr txBox="1"/>
          <p:nvPr/>
        </p:nvSpPr>
        <p:spPr>
          <a:xfrm>
            <a:off x="7831465" y="243906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TW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FF504F6-A4CC-FBE1-6FB8-03600FC1B6CE}"/>
              </a:ext>
            </a:extLst>
          </p:cNvPr>
          <p:cNvSpPr txBox="1"/>
          <p:nvPr/>
        </p:nvSpPr>
        <p:spPr>
          <a:xfrm>
            <a:off x="7831465" y="34490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TW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B1E648C-0AC3-54B8-7B00-912C65EB4F72}"/>
              </a:ext>
            </a:extLst>
          </p:cNvPr>
          <p:cNvSpPr txBox="1"/>
          <p:nvPr/>
        </p:nvSpPr>
        <p:spPr>
          <a:xfrm>
            <a:off x="7831465" y="44590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TW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C0E8F2D-4BC9-DC3D-896B-189A5F339F85}"/>
              </a:ext>
            </a:extLst>
          </p:cNvPr>
          <p:cNvSpPr txBox="1"/>
          <p:nvPr/>
        </p:nvSpPr>
        <p:spPr>
          <a:xfrm>
            <a:off x="7831465" y="546903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TW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AB6D5309-13BC-3587-E647-57494A636E95}"/>
              </a:ext>
            </a:extLst>
          </p:cNvPr>
          <p:cNvGrpSpPr/>
          <p:nvPr/>
        </p:nvGrpSpPr>
        <p:grpSpPr>
          <a:xfrm>
            <a:off x="1075849" y="4706981"/>
            <a:ext cx="5610182" cy="1581166"/>
            <a:chOff x="838200" y="4281634"/>
            <a:chExt cx="5610182" cy="1581166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4EF49BE-B5A0-097E-B5FE-7518BB5B70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3221" r="68775" b="31181"/>
            <a:stretch/>
          </p:blipFill>
          <p:spPr>
            <a:xfrm>
              <a:off x="838200" y="4281634"/>
              <a:ext cx="4169474" cy="563525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6CB68208-A413-83C6-360C-2FC9FC899622}"/>
                </a:ext>
              </a:extLst>
            </p:cNvPr>
            <p:cNvSpPr txBox="1"/>
            <p:nvPr/>
          </p:nvSpPr>
          <p:spPr>
            <a:xfrm>
              <a:off x="1316517" y="5493468"/>
              <a:ext cx="172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ln>
                    <a:solidFill>
                      <a:schemeClr val="accent5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n pair of couple</a:t>
              </a:r>
              <a:endParaRPr kumimoji="1" lang="zh-TW" altLang="en-US" b="1" dirty="0">
                <a:ln>
                  <a:solidFill>
                    <a:schemeClr val="accent5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5CC54501-19E4-1E63-FA0E-13E949FA9B2D}"/>
                </a:ext>
              </a:extLst>
            </p:cNvPr>
            <p:cNvSpPr txBox="1"/>
            <p:nvPr/>
          </p:nvSpPr>
          <p:spPr>
            <a:xfrm>
              <a:off x="1811909" y="5170857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binary search</a:t>
              </a:r>
              <a:endParaRPr kumimoji="1" lang="zh-TW" alt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7D04FB6-29E7-3D28-E9F7-BDB77E6872BF}"/>
                </a:ext>
              </a:extLst>
            </p:cNvPr>
            <p:cNvSpPr txBox="1"/>
            <p:nvPr/>
          </p:nvSpPr>
          <p:spPr>
            <a:xfrm>
              <a:off x="2734801" y="4852361"/>
              <a:ext cx="37135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query, insert and delete by </a:t>
              </a:r>
              <a:r>
                <a:rPr kumimoji="1" lang="en-US" altLang="zh-TW" b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vEB</a:t>
              </a:r>
              <a:r>
                <a:rPr kumimoji="1" lang="en-US" altLang="zh-TW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tree</a:t>
              </a:r>
              <a:endParaRPr kumimoji="1" lang="zh-TW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64FF51D-FCC0-40A5-1C17-F06C1958E763}"/>
                </a:ext>
              </a:extLst>
            </p:cNvPr>
            <p:cNvCxnSpPr/>
            <p:nvPr/>
          </p:nvCxnSpPr>
          <p:spPr>
            <a:xfrm>
              <a:off x="2530549" y="4848245"/>
              <a:ext cx="1453345" cy="0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64D493BA-1BEF-C516-9F15-76704BC0D441}"/>
                </a:ext>
              </a:extLst>
            </p:cNvPr>
            <p:cNvCxnSpPr>
              <a:cxnSpLocks/>
            </p:cNvCxnSpPr>
            <p:nvPr/>
          </p:nvCxnSpPr>
          <p:spPr>
            <a:xfrm>
              <a:off x="1756801" y="4845159"/>
              <a:ext cx="667422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CF9A9944-84E1-F566-EB63-017777212649}"/>
                </a:ext>
              </a:extLst>
            </p:cNvPr>
            <p:cNvCxnSpPr>
              <a:cxnSpLocks/>
            </p:cNvCxnSpPr>
            <p:nvPr/>
          </p:nvCxnSpPr>
          <p:spPr>
            <a:xfrm>
              <a:off x="1316517" y="4845159"/>
              <a:ext cx="3421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C5E85CD2-9E9A-969C-6500-CF8CD52F3C88}"/>
                </a:ext>
              </a:extLst>
            </p:cNvPr>
            <p:cNvCxnSpPr/>
            <p:nvPr/>
          </p:nvCxnSpPr>
          <p:spPr>
            <a:xfrm>
              <a:off x="1487599" y="4841728"/>
              <a:ext cx="0" cy="698461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BD3A8B36-7235-2F91-033B-15D9237F26B4}"/>
                </a:ext>
              </a:extLst>
            </p:cNvPr>
            <p:cNvCxnSpPr>
              <a:cxnSpLocks/>
            </p:cNvCxnSpPr>
            <p:nvPr/>
          </p:nvCxnSpPr>
          <p:spPr>
            <a:xfrm>
              <a:off x="2090512" y="4847542"/>
              <a:ext cx="0" cy="363518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474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 (2/4)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C0BACCB-96CC-C264-52B7-53FE52FF3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690688"/>
            <a:ext cx="10800000" cy="92543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360B36-AF5F-F6FC-5A5B-54D3E8D2F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2711915"/>
            <a:ext cx="10800000" cy="8616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FDA3E58-D6E2-4F8D-8071-A393A7153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3669359"/>
            <a:ext cx="10800000" cy="267549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838568E-033B-1B09-60EE-B312AE1CF4D4}"/>
              </a:ext>
            </a:extLst>
          </p:cNvPr>
          <p:cNvSpPr txBox="1"/>
          <p:nvPr/>
        </p:nvSpPr>
        <p:spPr>
          <a:xfrm>
            <a:off x="3848987" y="2153916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在集合中，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不會重複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9E7FEE0-D93B-DCF0-A77B-AEE129A2BA51}"/>
              </a:ext>
            </a:extLst>
          </p:cNvPr>
          <p:cNvSpPr txBox="1"/>
          <p:nvPr/>
        </p:nvSpPr>
        <p:spPr>
          <a:xfrm>
            <a:off x="7637722" y="3142740"/>
            <a:ext cx="4036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在集合中，第一數字由小到到排序時，第二數字會由大到小排序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7F1D71-76FA-D4BC-FC99-1F5759239505}"/>
              </a:ext>
            </a:extLst>
          </p:cNvPr>
          <p:cNvSpPr txBox="1"/>
          <p:nvPr/>
        </p:nvSpPr>
        <p:spPr>
          <a:xfrm>
            <a:off x="3569750" y="4151965"/>
            <a:ext cx="465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層中的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，前面每一層，一定存在一個比此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小的；而後面每一層則反之。</a:t>
            </a:r>
          </a:p>
        </p:txBody>
      </p:sp>
    </p:spTree>
    <p:extLst>
      <p:ext uri="{BB962C8B-B14F-4D97-AF65-F5344CB8AC3E}">
        <p14:creationId xmlns:p14="http://schemas.microsoft.com/office/powerpoint/2010/main" val="1756147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 (3/4)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69F35B-F8FC-93DB-03FD-A06E39A1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474488"/>
            <a:ext cx="9000000" cy="338419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42C9519-5C1F-E542-3AAE-F1569BEF0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4883622"/>
            <a:ext cx="9000000" cy="147272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F476BBF-7585-63EF-EEEC-78B4BE22015C}"/>
              </a:ext>
            </a:extLst>
          </p:cNvPr>
          <p:cNvSpPr txBox="1"/>
          <p:nvPr/>
        </p:nvSpPr>
        <p:spPr>
          <a:xfrm>
            <a:off x="4207703" y="2181459"/>
            <a:ext cx="315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插入新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時有三種狀況：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F546F8-B224-2F10-2208-D773B24785D0}"/>
              </a:ext>
            </a:extLst>
          </p:cNvPr>
          <p:cNvSpPr txBox="1"/>
          <p:nvPr/>
        </p:nvSpPr>
        <p:spPr>
          <a:xfrm>
            <a:off x="334830" y="2615385"/>
            <a:ext cx="1487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插入第一層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0B92710-328C-E5CE-22FB-B57FCCDF2908}"/>
              </a:ext>
            </a:extLst>
          </p:cNvPr>
          <p:cNvSpPr txBox="1"/>
          <p:nvPr/>
        </p:nvSpPr>
        <p:spPr>
          <a:xfrm>
            <a:off x="334830" y="5014180"/>
            <a:ext cx="1487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新增最高層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28EF5B-08ED-CECE-525C-EA565E0A283C}"/>
              </a:ext>
            </a:extLst>
          </p:cNvPr>
          <p:cNvSpPr txBox="1"/>
          <p:nvPr/>
        </p:nvSpPr>
        <p:spPr>
          <a:xfrm>
            <a:off x="334830" y="3564837"/>
            <a:ext cx="1487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插入中間層</a:t>
            </a:r>
          </a:p>
        </p:txBody>
      </p:sp>
    </p:spTree>
    <p:extLst>
      <p:ext uri="{BB962C8B-B14F-4D97-AF65-F5344CB8AC3E}">
        <p14:creationId xmlns:p14="http://schemas.microsoft.com/office/powerpoint/2010/main" val="282037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 (4/4)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66A3B2-838D-3D9A-2D31-29129713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72" y="1465484"/>
            <a:ext cx="9937656" cy="5027391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30D75D4-ACA1-04AC-4EA9-A77DA584BB8C}"/>
              </a:ext>
            </a:extLst>
          </p:cNvPr>
          <p:cNvCxnSpPr/>
          <p:nvPr/>
        </p:nvCxnSpPr>
        <p:spPr>
          <a:xfrm>
            <a:off x="1052623" y="3700130"/>
            <a:ext cx="0" cy="17118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62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Complexity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F89C90-9CBB-825B-DFCE-8C44835D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7096"/>
            <a:ext cx="10800000" cy="12803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F13EB5A-08ED-D912-8822-FF1E8E09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571786"/>
            <a:ext cx="10800000" cy="8207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A7E895-58A8-10BA-F0D2-70D50007E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4328210"/>
            <a:ext cx="10800000" cy="1666116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2ACCD91-F811-E227-8E7B-87632A9AD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9019"/>
            <a:ext cx="10515600" cy="617396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tree:</a:t>
            </a:r>
          </a:p>
        </p:txBody>
      </p:sp>
    </p:spTree>
    <p:extLst>
      <p:ext uri="{BB962C8B-B14F-4D97-AF65-F5344CB8AC3E}">
        <p14:creationId xmlns:p14="http://schemas.microsoft.com/office/powerpoint/2010/main" val="156524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LCPIS </a:t>
            </a:r>
            <a:r>
              <a:rPr kumimoji="1" lang="en-US" altLang="zh-TW" dirty="0" err="1"/>
              <a:t>v.s</a:t>
            </a:r>
            <a:r>
              <a:rPr kumimoji="1" lang="en-US" altLang="zh-TW" dirty="0"/>
              <a:t>. LCIS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35823C7-926D-1F56-546E-4F245671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2975210"/>
            <a:ext cx="10800000" cy="5518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C6EE403-7A79-2678-86C0-496E524C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698332"/>
            <a:ext cx="10800000" cy="128102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170AC3D-301A-5D79-1803-A661EFEAD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5150650"/>
            <a:ext cx="10800000" cy="8117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351D4C7-9FF7-A409-39AD-F8708AD22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0" y="1597374"/>
            <a:ext cx="10800000" cy="12065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02D9292-8FF7-B93E-1E87-C4B1B0AC6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756" y="2562722"/>
            <a:ext cx="7001244" cy="32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LCPIS </a:t>
            </a:r>
            <a:r>
              <a:rPr kumimoji="1" lang="en-US" altLang="zh-TW" dirty="0" err="1"/>
              <a:t>v.s</a:t>
            </a:r>
            <a:r>
              <a:rPr kumimoji="1" lang="en-US" altLang="zh-TW" dirty="0"/>
              <a:t>. LCIS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6680374-4985-1307-3D31-55A8F5A78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613612"/>
            <a:ext cx="10800000" cy="172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9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013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10119</TotalTime>
  <Words>799</Words>
  <Application>Microsoft Macintosh PowerPoint</Application>
  <PresentationFormat>寬螢幕</PresentationFormat>
  <Paragraphs>83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Rockwell</vt:lpstr>
      <vt:lpstr>Times New Roman</vt:lpstr>
      <vt:lpstr>Office 佈景主題</vt:lpstr>
      <vt:lpstr>The Longest Commonly Positioned Increasing Subsequences Problem</vt:lpstr>
      <vt:lpstr>Abstract (1/2)</vt:lpstr>
      <vt:lpstr>Abstract (2/2)</vt:lpstr>
      <vt:lpstr>Outline</vt:lpstr>
      <vt:lpstr>Longest Commonly Positioned Increasing Subsequences (LCPIS)</vt:lpstr>
      <vt:lpstr>Algorithm (1/4)</vt:lpstr>
      <vt:lpstr>Algorithm (2/4)</vt:lpstr>
      <vt:lpstr>Algorithm (3/4)</vt:lpstr>
      <vt:lpstr>Algorithm (4/4)</vt:lpstr>
      <vt:lpstr>Complexity</vt:lpstr>
      <vt:lpstr>LCPIS v.s. LCIS</vt:lpstr>
      <vt:lpstr>LCPIS v.s. LCIS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24</cp:revision>
  <dcterms:created xsi:type="dcterms:W3CDTF">2021-03-28T03:57:23Z</dcterms:created>
  <dcterms:modified xsi:type="dcterms:W3CDTF">2022-07-31T15:46:48Z</dcterms:modified>
</cp:coreProperties>
</file>