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91" r:id="rId3"/>
    <p:sldId id="258" r:id="rId4"/>
    <p:sldId id="347" r:id="rId5"/>
    <p:sldId id="348" r:id="rId6"/>
    <p:sldId id="349" r:id="rId7"/>
    <p:sldId id="350" r:id="rId8"/>
    <p:sldId id="351" r:id="rId9"/>
    <p:sldId id="352" r:id="rId10"/>
    <p:sldId id="353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淺色樣式 1 - 輔色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249" autoAdjust="0"/>
    <p:restoredTop sz="92275" autoAdjust="0"/>
  </p:normalViewPr>
  <p:slideViewPr>
    <p:cSldViewPr snapToGrid="0">
      <p:cViewPr varScale="1">
        <p:scale>
          <a:sx n="67" d="100"/>
          <a:sy n="67" d="100"/>
        </p:scale>
        <p:origin x="5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2022/7/24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5354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2022/7/24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4708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2022/7/24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4290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2022/7/24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813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2022/7/24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6146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2022/7/24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8512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2022/7/24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5289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2022/7/24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1110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2022/7/24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9348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2022/7/24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7136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2022/7/24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8025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D1E1DC-9B0B-4445-BE92-0FA02D7ED6E3}" type="datetimeFigureOut">
              <a:rPr lang="zh-TW" altLang="en-US" smtClean="0"/>
              <a:t>2022/7/24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8427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92924" y="1101342"/>
            <a:ext cx="9806152" cy="1299561"/>
          </a:xfrm>
        </p:spPr>
        <p:txBody>
          <a:bodyPr>
            <a:normAutofit fontScale="90000"/>
          </a:bodyPr>
          <a:lstStyle/>
          <a:p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Counting distinct palindromes in a word in linear time</a:t>
            </a:r>
          </a:p>
        </p:txBody>
      </p:sp>
      <p:sp>
        <p:nvSpPr>
          <p:cNvPr id="4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/>
          <a:p>
            <a:r>
              <a:rPr lang="fr-FR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Richard Groult, Élise Prieur, Gwénaël Richomme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Processing Letters 110 (2010) 908–912</a:t>
            </a:r>
          </a:p>
        </p:txBody>
      </p:sp>
      <p:sp>
        <p:nvSpPr>
          <p:cNvPr id="5" name="矩形 1"/>
          <p:cNvSpPr>
            <a:spLocks noChangeArrowheads="1"/>
          </p:cNvSpPr>
          <p:nvPr/>
        </p:nvSpPr>
        <p:spPr bwMode="auto">
          <a:xfrm>
            <a:off x="8883004" y="5876925"/>
            <a:ext cx="288858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Cheng-Han Ho</a:t>
            </a: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July 26, 2022</a:t>
            </a:r>
          </a:p>
        </p:txBody>
      </p:sp>
    </p:spTree>
    <p:extLst>
      <p:ext uri="{BB962C8B-B14F-4D97-AF65-F5344CB8AC3E}">
        <p14:creationId xmlns:p14="http://schemas.microsoft.com/office/powerpoint/2010/main" val="3662505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ED0E71-14AD-4E62-972C-221C5E865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82395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A93AAD-D6B7-4CD4-AC92-2D3922F8C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1448"/>
            <a:ext cx="10515600" cy="5021427"/>
          </a:xfrm>
        </p:spPr>
        <p:txBody>
          <a:bodyPr>
            <a:normAutofit/>
          </a:bodyPr>
          <a:lstStyle/>
          <a:p>
            <a:r>
              <a:rPr lang="en-US" altLang="zh-TW" sz="3200" dirty="0"/>
              <a:t>We design an algorithm to count the number of distinct palindromes in a word w in time O(|w|), by adapting an algorithm to detect all occurrences of maximal palindromes in a given word and using the longest previous factor array. As a direct consequence, this shows that the palindromic richness (or fullness) of a word can be checked in linear time.</a:t>
            </a:r>
            <a:endParaRPr lang="en-US" altLang="zh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678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Palindrome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457560" indent="-457200">
                  <a:spcBef>
                    <a:spcPts val="561"/>
                  </a:spcBef>
                  <a:buClr>
                    <a:srgbClr val="000000"/>
                  </a:buClr>
                </a:pPr>
                <a14:m>
                  <m:oMath xmlns:m="http://schemas.openxmlformats.org/officeDocument/2006/math">
                    <m:r>
                      <a:rPr lang="en-US" altLang="zh-TW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zh-TW" spc="-1" dirty="0">
                    <a:solidFill>
                      <a:srgbClr val="000000"/>
                    </a:solidFill>
                    <a:latin typeface="Times New Roman"/>
                  </a:rPr>
                  <a:t> = </a:t>
                </a:r>
                <a:r>
                  <a:rPr lang="en-US" altLang="zh-TW" spc="-1" dirty="0" err="1">
                    <a:solidFill>
                      <a:srgbClr val="000000"/>
                    </a:solidFill>
                    <a:latin typeface="Times New Roman"/>
                  </a:rPr>
                  <a:t>aabaa</a:t>
                </a:r>
                <a:endParaRPr lang="en-US" altLang="zh-TW" spc="-1" dirty="0">
                  <a:solidFill>
                    <a:srgbClr val="000000"/>
                  </a:solidFill>
                  <a:latin typeface="Times New Roman"/>
                </a:endParaRPr>
              </a:p>
              <a:p>
                <a:pPr marL="457560" indent="-457200">
                  <a:spcBef>
                    <a:spcPts val="561"/>
                  </a:spcBef>
                  <a:buClr>
                    <a:srgbClr val="000000"/>
                  </a:buClr>
                </a:pPr>
                <a:endParaRPr lang="en-US" altLang="zh-TW" spc="-1" dirty="0">
                  <a:solidFill>
                    <a:srgbClr val="000000"/>
                  </a:solidFill>
                  <a:latin typeface="Times New Roman"/>
                </a:endParaRPr>
              </a:p>
              <a:p>
                <a:pPr marL="360">
                  <a:spcBef>
                    <a:spcPts val="561"/>
                  </a:spcBef>
                  <a:buClr>
                    <a:srgbClr val="000000"/>
                  </a:buClr>
                </a:pPr>
                <a14:m>
                  <m:oMath xmlns:m="http://schemas.openxmlformats.org/officeDocument/2006/math">
                    <m:r>
                      <a:rPr lang="en-US" altLang="zh-TW" b="0" i="0" spc="-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acc>
                      <m:accPr>
                        <m:chr m:val="̃"/>
                        <m:ctrlPr>
                          <a:rPr lang="en-US" altLang="zh-TW" spc="-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lang="en-US" altLang="zh-TW" spc="-1" dirty="0">
                    <a:solidFill>
                      <a:srgbClr val="000000"/>
                    </a:solidFill>
                    <a:latin typeface="Times New Roman"/>
                  </a:rPr>
                  <a:t> = </a:t>
                </a:r>
                <a:r>
                  <a:rPr lang="en-US" altLang="zh-TW" spc="-1" dirty="0" err="1">
                    <a:solidFill>
                      <a:srgbClr val="000000"/>
                    </a:solidFill>
                    <a:latin typeface="Times New Roman"/>
                  </a:rPr>
                  <a:t>aabaa</a:t>
                </a:r>
                <a:endParaRPr lang="en-US" altLang="zh-TW" spc="-1" dirty="0">
                  <a:solidFill>
                    <a:srgbClr val="000000"/>
                  </a:solidFill>
                  <a:latin typeface="Times New Roman"/>
                </a:endParaRPr>
              </a:p>
              <a:p>
                <a:pPr marL="360">
                  <a:spcBef>
                    <a:spcPts val="561"/>
                  </a:spcBef>
                  <a:buClr>
                    <a:srgbClr val="000000"/>
                  </a:buClr>
                </a:pPr>
                <a:endParaRPr lang="en-US" altLang="zh-TW" spc="-1" dirty="0">
                  <a:solidFill>
                    <a:srgbClr val="000000"/>
                  </a:solidFill>
                  <a:latin typeface="Times New Roman"/>
                </a:endParaRPr>
              </a:p>
              <a:p>
                <a:pPr marL="343080" indent="-342720">
                  <a:spcBef>
                    <a:spcPts val="561"/>
                  </a:spcBef>
                  <a:buClr>
                    <a:srgbClr val="000000"/>
                  </a:buClr>
                  <a:buFont typeface="Arial"/>
                  <a:buChar char="•"/>
                </a:pPr>
                <a:r>
                  <a:rPr lang="en-US" altLang="zh-TW" spc="-1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TW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lang="en-US" altLang="zh-TW" dirty="0">
                    <a:latin typeface="Times New Roman" panose="02020603050405020304" pitchFamily="18" charset="0"/>
                  </a:rPr>
                  <a:t> </a:t>
                </a:r>
                <a:r>
                  <a:rPr lang="zh-TW" altLang="en-US" dirty="0">
                    <a:latin typeface="Times New Roman" panose="02020603050405020304" pitchFamily="18" charset="0"/>
                  </a:rPr>
                  <a:t>，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w is a p</a:t>
                </a:r>
                <a:r>
                  <a:rPr lang="en-US" altLang="zh-TW" spc="-1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alindrome</a:t>
                </a:r>
                <a:endParaRPr lang="en-US" altLang="zh-TW" dirty="0"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7904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LMP (Longest Maximal Palindrome)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457560" indent="-457200">
                  <a:spcBef>
                    <a:spcPts val="561"/>
                  </a:spcBef>
                  <a:buClr>
                    <a:srgbClr val="000000"/>
                  </a:buClr>
                </a:pPr>
                <a14:m>
                  <m:oMath xmlns:m="http://schemas.openxmlformats.org/officeDocument/2006/math">
                    <m:r>
                      <a:rPr lang="en-US" altLang="zh-TW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zh-TW" spc="-1" dirty="0">
                    <a:solidFill>
                      <a:srgbClr val="000000"/>
                    </a:solidFill>
                    <a:latin typeface="Times New Roman"/>
                  </a:rPr>
                  <a:t> = </a:t>
                </a:r>
                <a:r>
                  <a:rPr lang="en-US" altLang="zh-TW" spc="-1" dirty="0" err="1">
                    <a:solidFill>
                      <a:srgbClr val="000000"/>
                    </a:solidFill>
                  </a:rPr>
                  <a:t>abbabaababa</a:t>
                </a:r>
                <a:endParaRPr lang="en-US" altLang="zh-TW" spc="-1" dirty="0">
                  <a:solidFill>
                    <a:srgbClr val="000000"/>
                  </a:solidFill>
                </a:endParaRPr>
              </a:p>
              <a:p>
                <a:pPr marL="457560" indent="-457200">
                  <a:spcBef>
                    <a:spcPts val="561"/>
                  </a:spcBef>
                  <a:buClr>
                    <a:srgbClr val="000000"/>
                  </a:buClr>
                </a:pPr>
                <a:endParaRPr lang="en-US" altLang="zh-TW" spc="-1" dirty="0">
                  <a:solidFill>
                    <a:srgbClr val="000000"/>
                  </a:solidFill>
                </a:endParaRPr>
              </a:p>
              <a:p>
                <a:pPr marL="457560" indent="-457200">
                  <a:spcBef>
                    <a:spcPts val="561"/>
                  </a:spcBef>
                  <a:buClr>
                    <a:srgbClr val="000000"/>
                  </a:buClr>
                </a:pPr>
                <a:r>
                  <a:rPr lang="en-US" altLang="zh-TW" spc="-1" dirty="0">
                    <a:solidFill>
                      <a:srgbClr val="000000"/>
                    </a:solidFill>
                  </a:rPr>
                  <a:t>LMP: w[</a:t>
                </a:r>
                <a:r>
                  <a:rPr lang="en-US" altLang="zh-TW" spc="-1" dirty="0" err="1">
                    <a:solidFill>
                      <a:srgbClr val="000000"/>
                    </a:solidFill>
                  </a:rPr>
                  <a:t>i</a:t>
                </a:r>
                <a:r>
                  <a:rPr lang="en-US" altLang="zh-TW" spc="-1" dirty="0">
                    <a:solidFill>
                      <a:srgbClr val="000000"/>
                    </a:solidFill>
                  </a:rPr>
                  <a:t>..j] is a palindrome, but w[i-1..j+1] is not a palindrome</a:t>
                </a:r>
              </a:p>
              <a:p>
                <a:pPr marL="457560" indent="-457200">
                  <a:spcBef>
                    <a:spcPts val="561"/>
                  </a:spcBef>
                  <a:buClr>
                    <a:srgbClr val="000000"/>
                  </a:buClr>
                </a:pPr>
                <a:endParaRPr lang="en-US" altLang="zh-TW" spc="-1" dirty="0">
                  <a:solidFill>
                    <a:srgbClr val="000000"/>
                  </a:solidFill>
                </a:endParaRPr>
              </a:p>
              <a:p>
                <a:pPr marL="457560" indent="-457200">
                  <a:spcBef>
                    <a:spcPts val="561"/>
                  </a:spcBef>
                  <a:buClr>
                    <a:srgbClr val="000000"/>
                  </a:buClr>
                </a:pPr>
                <a:r>
                  <a:rPr lang="en-US" altLang="zh-TW" spc="-1" dirty="0">
                    <a:solidFill>
                      <a:srgbClr val="000000"/>
                    </a:solidFill>
                  </a:rPr>
                  <a:t>LMP[</a:t>
                </a:r>
                <a:r>
                  <a:rPr lang="en-US" altLang="zh-TW" spc="-1" dirty="0" err="1">
                    <a:solidFill>
                      <a:srgbClr val="000000"/>
                    </a:solidFill>
                  </a:rPr>
                  <a:t>i</a:t>
                </a:r>
                <a:r>
                  <a:rPr lang="en-US" altLang="zh-TW" spc="-1" dirty="0">
                    <a:solidFill>
                      <a:srgbClr val="000000"/>
                    </a:solidFill>
                  </a:rPr>
                  <a:t>]:</a:t>
                </a:r>
                <a:r>
                  <a:rPr lang="zh-TW" altLang="en-US" spc="-1" dirty="0">
                    <a:solidFill>
                      <a:srgbClr val="000000"/>
                    </a:solidFill>
                  </a:rPr>
                  <a:t> 以</a:t>
                </a:r>
                <a:r>
                  <a:rPr lang="en-US" altLang="zh-TW" spc="-1" dirty="0">
                    <a:solidFill>
                      <a:srgbClr val="000000"/>
                    </a:solidFill>
                  </a:rPr>
                  <a:t> w[</a:t>
                </a:r>
                <a:r>
                  <a:rPr lang="en-US" altLang="zh-TW" spc="-1" dirty="0" err="1">
                    <a:solidFill>
                      <a:srgbClr val="000000"/>
                    </a:solidFill>
                  </a:rPr>
                  <a:t>i</a:t>
                </a:r>
                <a:r>
                  <a:rPr lang="en-US" altLang="zh-TW" spc="-1" dirty="0">
                    <a:solidFill>
                      <a:srgbClr val="000000"/>
                    </a:solidFill>
                  </a:rPr>
                  <a:t>] </a:t>
                </a:r>
                <a:r>
                  <a:rPr lang="zh-TW" altLang="en-US" spc="-1" dirty="0">
                    <a:solidFill>
                      <a:srgbClr val="000000"/>
                    </a:solidFill>
                  </a:rPr>
                  <a:t>當結尾的 </a:t>
                </a:r>
                <a:r>
                  <a:rPr lang="en-US" altLang="zh-TW" spc="-1" dirty="0">
                    <a:solidFill>
                      <a:srgbClr val="000000"/>
                    </a:solidFill>
                  </a:rPr>
                  <a:t>LMP</a:t>
                </a:r>
                <a:endParaRPr lang="en-US" altLang="zh-TW" spc="-1" dirty="0">
                  <a:solidFill>
                    <a:srgbClr val="000000"/>
                  </a:solidFill>
                  <a:latin typeface="Times New Roman"/>
                </a:endParaRPr>
              </a:p>
              <a:p>
                <a:pPr marL="457560" indent="-457200">
                  <a:spcBef>
                    <a:spcPts val="561"/>
                  </a:spcBef>
                  <a:buClr>
                    <a:srgbClr val="000000"/>
                  </a:buClr>
                </a:pPr>
                <a:endParaRPr lang="en-US" altLang="zh-TW" spc="-1" dirty="0">
                  <a:solidFill>
                    <a:srgbClr val="000000"/>
                  </a:solidFill>
                  <a:latin typeface="Times New Roman"/>
                </a:endParaRPr>
              </a:p>
              <a:p>
                <a:pPr marL="457560" indent="-457200">
                  <a:spcBef>
                    <a:spcPts val="561"/>
                  </a:spcBef>
                  <a:buClr>
                    <a:srgbClr val="000000"/>
                  </a:buClr>
                </a:pPr>
                <a:endParaRPr lang="en-US" altLang="zh-TW" spc="-1" dirty="0">
                  <a:solidFill>
                    <a:srgbClr val="000000"/>
                  </a:solidFill>
                  <a:latin typeface="Times New Roman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318AF3AC-BA55-DD3A-E640-E854684713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12827"/>
              </p:ext>
            </p:extLst>
          </p:nvPr>
        </p:nvGraphicFramePr>
        <p:xfrm>
          <a:off x="894078" y="4493079"/>
          <a:ext cx="10403844" cy="157257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866987">
                  <a:extLst>
                    <a:ext uri="{9D8B030D-6E8A-4147-A177-3AD203B41FA5}">
                      <a16:colId xmlns:a16="http://schemas.microsoft.com/office/drawing/2014/main" val="3687563117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3458925501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4030832065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1724438594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4209229924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2908390315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1002060645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2341577556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476296480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1461677071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2307505867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886355715"/>
                    </a:ext>
                  </a:extLst>
                </a:gridCol>
              </a:tblGrid>
              <a:tr h="5241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/>
                        <a:t>i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5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6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7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8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9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10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531117"/>
                  </a:ext>
                </a:extLst>
              </a:tr>
              <a:tr h="5241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w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810379"/>
                  </a:ext>
                </a:extLst>
              </a:tr>
              <a:tr h="5241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LMP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-1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8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5</a:t>
                      </a:r>
                      <a:endParaRPr lang="zh-TW" alt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625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640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LPS (Longest Palindrome Suffix)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457560" indent="-457200">
                  <a:spcBef>
                    <a:spcPts val="561"/>
                  </a:spcBef>
                  <a:buClr>
                    <a:srgbClr val="000000"/>
                  </a:buClr>
                </a:pPr>
                <a14:m>
                  <m:oMath xmlns:m="http://schemas.openxmlformats.org/officeDocument/2006/math">
                    <m:r>
                      <a:rPr lang="en-US" altLang="zh-TW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zh-TW" spc="-1" dirty="0">
                    <a:solidFill>
                      <a:srgbClr val="000000"/>
                    </a:solidFill>
                    <a:latin typeface="Times New Roman"/>
                  </a:rPr>
                  <a:t> = </a:t>
                </a:r>
                <a:r>
                  <a:rPr lang="en-US" altLang="zh-TW" spc="-1" dirty="0" err="1">
                    <a:solidFill>
                      <a:srgbClr val="000000"/>
                    </a:solidFill>
                  </a:rPr>
                  <a:t>abbabaabbba</a:t>
                </a:r>
                <a:endParaRPr lang="en-US" altLang="zh-TW" spc="-1" dirty="0">
                  <a:solidFill>
                    <a:srgbClr val="000000"/>
                  </a:solidFill>
                </a:endParaRPr>
              </a:p>
              <a:p>
                <a:pPr marL="457560" indent="-457200">
                  <a:spcBef>
                    <a:spcPts val="561"/>
                  </a:spcBef>
                  <a:buClr>
                    <a:srgbClr val="000000"/>
                  </a:buClr>
                </a:pPr>
                <a:endParaRPr lang="en-US" altLang="zh-TW" spc="-1" dirty="0">
                  <a:solidFill>
                    <a:srgbClr val="000000"/>
                  </a:solidFill>
                </a:endParaRPr>
              </a:p>
              <a:p>
                <a:pPr marL="457560" indent="-457200">
                  <a:spcBef>
                    <a:spcPts val="561"/>
                  </a:spcBef>
                  <a:buClr>
                    <a:srgbClr val="000000"/>
                  </a:buClr>
                </a:pPr>
                <a:r>
                  <a:rPr lang="en-US" altLang="zh-TW" sz="2800" b="0" dirty="0"/>
                  <a:t>LPS</a:t>
                </a:r>
                <a:r>
                  <a:rPr lang="en-US" altLang="zh-TW" spc="-1" dirty="0">
                    <a:solidFill>
                      <a:srgbClr val="000000"/>
                    </a:solidFill>
                  </a:rPr>
                  <a:t>[</a:t>
                </a:r>
                <a:r>
                  <a:rPr lang="en-US" altLang="zh-TW" spc="-1" dirty="0" err="1">
                    <a:solidFill>
                      <a:srgbClr val="000000"/>
                    </a:solidFill>
                  </a:rPr>
                  <a:t>i</a:t>
                </a:r>
                <a:r>
                  <a:rPr lang="en-US" altLang="zh-TW" spc="-1" dirty="0">
                    <a:solidFill>
                      <a:srgbClr val="000000"/>
                    </a:solidFill>
                  </a:rPr>
                  <a:t>]:</a:t>
                </a:r>
                <a:r>
                  <a:rPr lang="zh-TW" altLang="en-US" spc="-1" dirty="0">
                    <a:solidFill>
                      <a:srgbClr val="000000"/>
                    </a:solidFill>
                  </a:rPr>
                  <a:t> 以</a:t>
                </a:r>
                <a:r>
                  <a:rPr lang="en-US" altLang="zh-TW" spc="-1" dirty="0">
                    <a:solidFill>
                      <a:srgbClr val="000000"/>
                    </a:solidFill>
                  </a:rPr>
                  <a:t> w[</a:t>
                </a:r>
                <a:r>
                  <a:rPr lang="en-US" altLang="zh-TW" spc="-1" dirty="0" err="1">
                    <a:solidFill>
                      <a:srgbClr val="000000"/>
                    </a:solidFill>
                  </a:rPr>
                  <a:t>i</a:t>
                </a:r>
                <a:r>
                  <a:rPr lang="en-US" altLang="zh-TW" spc="-1" dirty="0">
                    <a:solidFill>
                      <a:srgbClr val="000000"/>
                    </a:solidFill>
                  </a:rPr>
                  <a:t>] </a:t>
                </a:r>
                <a:r>
                  <a:rPr lang="zh-TW" altLang="en-US" spc="-1" dirty="0">
                    <a:solidFill>
                      <a:srgbClr val="000000"/>
                    </a:solidFill>
                  </a:rPr>
                  <a:t>當結尾能得到的</a:t>
                </a:r>
                <a:r>
                  <a:rPr lang="zh-TW" altLang="en-US" spc="-1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最大回文</a:t>
                </a:r>
                <a:endParaRPr lang="en-US" altLang="zh-TW" spc="-1" dirty="0">
                  <a:solidFill>
                    <a:srgbClr val="000000"/>
                  </a:solidFill>
                  <a:latin typeface="Times New Roman"/>
                </a:endParaRPr>
              </a:p>
              <a:p>
                <a:pPr marL="457560" indent="-457200">
                  <a:spcBef>
                    <a:spcPts val="561"/>
                  </a:spcBef>
                  <a:buClr>
                    <a:srgbClr val="000000"/>
                  </a:buClr>
                </a:pPr>
                <a:endParaRPr lang="en-US" altLang="zh-TW" spc="-1" dirty="0">
                  <a:solidFill>
                    <a:srgbClr val="000000"/>
                  </a:solidFill>
                  <a:latin typeface="Times New Roman"/>
                </a:endParaRPr>
              </a:p>
              <a:p>
                <a:pPr marL="457560" indent="-457200">
                  <a:spcBef>
                    <a:spcPts val="561"/>
                  </a:spcBef>
                  <a:buClr>
                    <a:srgbClr val="000000"/>
                  </a:buClr>
                </a:pPr>
                <a:endParaRPr lang="en-US" altLang="zh-TW" spc="-1" dirty="0">
                  <a:solidFill>
                    <a:srgbClr val="000000"/>
                  </a:solidFill>
                  <a:latin typeface="Times New Roman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318AF3AC-BA55-DD3A-E640-E854684713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311268"/>
              </p:ext>
            </p:extLst>
          </p:nvPr>
        </p:nvGraphicFramePr>
        <p:xfrm>
          <a:off x="894078" y="4493079"/>
          <a:ext cx="10403844" cy="157257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866987">
                  <a:extLst>
                    <a:ext uri="{9D8B030D-6E8A-4147-A177-3AD203B41FA5}">
                      <a16:colId xmlns:a16="http://schemas.microsoft.com/office/drawing/2014/main" val="3687563117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3458925501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4030832065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1724438594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4209229924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2908390315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1002060645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2341577556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476296480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1461677071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2307505867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886355715"/>
                    </a:ext>
                  </a:extLst>
                </a:gridCol>
              </a:tblGrid>
              <a:tr h="5241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/>
                        <a:t>i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5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6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7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8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9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10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531117"/>
                  </a:ext>
                </a:extLst>
              </a:tr>
              <a:tr h="5241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w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810379"/>
                  </a:ext>
                </a:extLst>
              </a:tr>
              <a:tr h="5241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LPS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5</a:t>
                      </a:r>
                      <a:endParaRPr lang="zh-TW" alt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625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472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Compute LPS (Longest Palindrome Suffix)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457560" indent="-457200">
                  <a:spcBef>
                    <a:spcPts val="561"/>
                  </a:spcBef>
                  <a:buClr>
                    <a:srgbClr val="000000"/>
                  </a:buClr>
                </a:pPr>
                <a14:m>
                  <m:oMath xmlns:m="http://schemas.openxmlformats.org/officeDocument/2006/math">
                    <m:r>
                      <a:rPr lang="en-US" altLang="zh-TW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zh-TW" spc="-1" dirty="0">
                    <a:solidFill>
                      <a:srgbClr val="000000"/>
                    </a:solidFill>
                    <a:latin typeface="Times New Roman"/>
                  </a:rPr>
                  <a:t> = </a:t>
                </a:r>
                <a:r>
                  <a:rPr lang="en-US" altLang="zh-TW" spc="-1" dirty="0" err="1">
                    <a:solidFill>
                      <a:srgbClr val="000000"/>
                    </a:solidFill>
                  </a:rPr>
                  <a:t>abbabaabbba</a:t>
                </a:r>
                <a:endParaRPr lang="en-US" altLang="zh-TW" spc="-1" dirty="0">
                  <a:solidFill>
                    <a:srgbClr val="000000"/>
                  </a:solidFill>
                </a:endParaRPr>
              </a:p>
              <a:p>
                <a:pPr marL="360" indent="0">
                  <a:spcBef>
                    <a:spcPts val="561"/>
                  </a:spcBef>
                  <a:buClr>
                    <a:srgbClr val="000000"/>
                  </a:buClr>
                  <a:buNone/>
                </a:pPr>
                <a:endParaRPr lang="en-US" altLang="zh-TW" spc="-1" dirty="0">
                  <a:solidFill>
                    <a:srgbClr val="000000"/>
                  </a:solidFill>
                  <a:latin typeface="Times New Roman"/>
                </a:endParaRPr>
              </a:p>
              <a:p>
                <a:pPr marL="457560" indent="-457200">
                  <a:spcBef>
                    <a:spcPts val="561"/>
                  </a:spcBef>
                  <a:buClr>
                    <a:srgbClr val="000000"/>
                  </a:buClr>
                </a:pPr>
                <a:r>
                  <a:rPr lang="en-US" altLang="zh-TW" spc="-1" dirty="0">
                    <a:solidFill>
                      <a:srgbClr val="000000"/>
                    </a:solidFill>
                    <a:latin typeface="Times New Roman"/>
                  </a:rPr>
                  <a:t>    </a:t>
                </a:r>
              </a:p>
              <a:p>
                <a:pPr marL="457560" indent="-457200">
                  <a:spcBef>
                    <a:spcPts val="561"/>
                  </a:spcBef>
                  <a:buClr>
                    <a:srgbClr val="000000"/>
                  </a:buClr>
                </a:pPr>
                <a:endParaRPr lang="en-US" altLang="zh-TW" spc="-1" dirty="0">
                  <a:solidFill>
                    <a:srgbClr val="000000"/>
                  </a:solidFill>
                  <a:latin typeface="Times New Roman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318AF3AC-BA55-DD3A-E640-E854684713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2727688"/>
              </p:ext>
            </p:extLst>
          </p:nvPr>
        </p:nvGraphicFramePr>
        <p:xfrm>
          <a:off x="894078" y="4151171"/>
          <a:ext cx="10403844" cy="209676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866987">
                  <a:extLst>
                    <a:ext uri="{9D8B030D-6E8A-4147-A177-3AD203B41FA5}">
                      <a16:colId xmlns:a16="http://schemas.microsoft.com/office/drawing/2014/main" val="3687563117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3458925501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4030832065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1724438594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4209229924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2908390315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1002060645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2341577556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476296480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1461677071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2307505867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886355715"/>
                    </a:ext>
                  </a:extLst>
                </a:gridCol>
              </a:tblGrid>
              <a:tr h="5241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/>
                        <a:t>i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5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6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7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8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9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10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531117"/>
                  </a:ext>
                </a:extLst>
              </a:tr>
              <a:tr h="5241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w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810379"/>
                  </a:ext>
                </a:extLst>
              </a:tr>
              <a:tr h="5241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LMP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5</a:t>
                      </a:r>
                      <a:endParaRPr lang="zh-TW" alt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625154"/>
                  </a:ext>
                </a:extLst>
              </a:tr>
              <a:tr h="5241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LPS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5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122955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F9AC3ED9-C7E5-D1A3-54BC-DF291FA885AC}"/>
              </a:ext>
            </a:extLst>
          </p:cNvPr>
          <p:cNvSpPr txBox="1"/>
          <p:nvPr/>
        </p:nvSpPr>
        <p:spPr>
          <a:xfrm>
            <a:off x="1156472" y="2389280"/>
            <a:ext cx="1908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0" dirty="0"/>
              <a:t>{</a:t>
            </a:r>
            <a:endParaRPr lang="zh-TW" altLang="en-US" sz="60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DAB2727-C98C-51BE-EB54-6058DD12B675}"/>
              </a:ext>
            </a:extLst>
          </p:cNvPr>
          <p:cNvSpPr txBox="1"/>
          <p:nvPr/>
        </p:nvSpPr>
        <p:spPr>
          <a:xfrm>
            <a:off x="1669776" y="2439366"/>
            <a:ext cx="10018644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z="2800" spc="-1" dirty="0">
                <a:solidFill>
                  <a:srgbClr val="000000"/>
                </a:solidFill>
                <a:latin typeface="Times New Roman"/>
              </a:rPr>
              <a:t>LPS[n] = LMP[n]</a:t>
            </a: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r>
              <a:rPr lang="en-US" altLang="zh-TW" sz="2800" spc="-1" dirty="0">
                <a:solidFill>
                  <a:srgbClr val="000000"/>
                </a:solidFill>
                <a:latin typeface="Times New Roman"/>
              </a:rPr>
              <a:t>LPS[</a:t>
            </a:r>
            <a:r>
              <a:rPr lang="en-US" altLang="zh-TW" sz="2800" spc="-1" dirty="0" err="1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altLang="zh-TW" sz="2800" spc="-1" dirty="0">
                <a:solidFill>
                  <a:srgbClr val="000000"/>
                </a:solidFill>
                <a:latin typeface="Times New Roman"/>
              </a:rPr>
              <a:t>] = max(LMP[</a:t>
            </a:r>
            <a:r>
              <a:rPr lang="en-US" altLang="zh-TW" sz="2800" spc="-1" dirty="0" err="1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altLang="zh-TW" sz="2800" spc="-1" dirty="0">
                <a:solidFill>
                  <a:srgbClr val="000000"/>
                </a:solidFill>
                <a:latin typeface="Times New Roman"/>
              </a:rPr>
              <a:t>], LPS[i+1] - 2)</a:t>
            </a:r>
          </a:p>
          <a:p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749341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LPF (Longest Previous Factor)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457560" indent="-457200">
                  <a:spcBef>
                    <a:spcPts val="561"/>
                  </a:spcBef>
                  <a:buClr>
                    <a:srgbClr val="000000"/>
                  </a:buClr>
                </a:pPr>
                <a14:m>
                  <m:oMath xmlns:m="http://schemas.openxmlformats.org/officeDocument/2006/math">
                    <m:r>
                      <a:rPr lang="en-US" altLang="zh-TW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zh-TW" spc="-1" dirty="0">
                    <a:solidFill>
                      <a:srgbClr val="000000"/>
                    </a:solidFill>
                    <a:latin typeface="Times New Roman"/>
                  </a:rPr>
                  <a:t> = </a:t>
                </a:r>
                <a:r>
                  <a:rPr lang="en-US" altLang="zh-TW" spc="-1" dirty="0" err="1">
                    <a:solidFill>
                      <a:srgbClr val="000000"/>
                    </a:solidFill>
                  </a:rPr>
                  <a:t>abbabaabbba</a:t>
                </a:r>
                <a:endParaRPr lang="en-US" altLang="zh-TW" spc="-1" dirty="0">
                  <a:solidFill>
                    <a:srgbClr val="000000"/>
                  </a:solidFill>
                </a:endParaRPr>
              </a:p>
              <a:p>
                <a:pPr marL="360" indent="0">
                  <a:spcBef>
                    <a:spcPts val="561"/>
                  </a:spcBef>
                  <a:buClr>
                    <a:srgbClr val="000000"/>
                  </a:buClr>
                  <a:buNone/>
                </a:pPr>
                <a:endParaRPr lang="en-US" altLang="zh-TW" spc="-1" dirty="0">
                  <a:solidFill>
                    <a:srgbClr val="000000"/>
                  </a:solidFill>
                </a:endParaRPr>
              </a:p>
              <a:p>
                <a:pPr marL="457560" indent="-457200">
                  <a:spcBef>
                    <a:spcPts val="561"/>
                  </a:spcBef>
                  <a:buClr>
                    <a:srgbClr val="000000"/>
                  </a:buClr>
                </a:pPr>
                <a:r>
                  <a:rPr lang="en-US" altLang="zh-TW" sz="2800" b="0" dirty="0"/>
                  <a:t>LPF</a:t>
                </a:r>
                <a:r>
                  <a:rPr lang="en-US" altLang="zh-TW" spc="-1" dirty="0">
                    <a:solidFill>
                      <a:srgbClr val="000000"/>
                    </a:solidFill>
                  </a:rPr>
                  <a:t>[</a:t>
                </a:r>
                <a:r>
                  <a:rPr lang="en-US" altLang="zh-TW" spc="-1" dirty="0" err="1">
                    <a:solidFill>
                      <a:srgbClr val="000000"/>
                    </a:solidFill>
                  </a:rPr>
                  <a:t>i</a:t>
                </a:r>
                <a:r>
                  <a:rPr lang="en-US" altLang="zh-TW" spc="-1" dirty="0">
                    <a:solidFill>
                      <a:srgbClr val="000000"/>
                    </a:solidFill>
                  </a:rPr>
                  <a:t>]:</a:t>
                </a:r>
                <a:r>
                  <a:rPr lang="zh-TW" altLang="en-US" spc="-1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pc="-1" dirty="0">
                    <a:solidFill>
                      <a:srgbClr val="000000"/>
                    </a:solidFill>
                  </a:rPr>
                  <a:t>w[</a:t>
                </a:r>
                <a:r>
                  <a:rPr lang="en-US" altLang="zh-TW" spc="-1" dirty="0" err="1">
                    <a:solidFill>
                      <a:srgbClr val="000000"/>
                    </a:solidFill>
                  </a:rPr>
                  <a:t>i</a:t>
                </a:r>
                <a:r>
                  <a:rPr lang="en-US" altLang="zh-TW" spc="-1" dirty="0">
                    <a:solidFill>
                      <a:srgbClr val="000000"/>
                    </a:solidFill>
                  </a:rPr>
                  <a:t>]</a:t>
                </a:r>
                <a:r>
                  <a:rPr lang="zh-TW" altLang="en-US" spc="-1" dirty="0">
                    <a:solidFill>
                      <a:srgbClr val="000000"/>
                    </a:solidFill>
                  </a:rPr>
                  <a:t> 當開頭之最長的 </a:t>
                </a:r>
                <a:r>
                  <a:rPr lang="en-US" altLang="zh-TW" spc="-1" dirty="0">
                    <a:solidFill>
                      <a:srgbClr val="000000"/>
                    </a:solidFill>
                  </a:rPr>
                  <a:t>substring </a:t>
                </a:r>
                <a:r>
                  <a:rPr lang="zh-TW" altLang="en-US" spc="-1" dirty="0">
                    <a:solidFill>
                      <a:srgbClr val="000000"/>
                    </a:solidFill>
                  </a:rPr>
                  <a:t>的長度，</a:t>
                </a:r>
                <a:endParaRPr lang="en-US" altLang="zh-TW" spc="-1" dirty="0">
                  <a:solidFill>
                    <a:srgbClr val="000000"/>
                  </a:solidFill>
                </a:endParaRPr>
              </a:p>
              <a:p>
                <a:pPr marL="360" indent="0">
                  <a:spcBef>
                    <a:spcPts val="561"/>
                  </a:spcBef>
                  <a:buClr>
                    <a:srgbClr val="000000"/>
                  </a:buClr>
                  <a:buNone/>
                </a:pPr>
                <a:r>
                  <a:rPr lang="en-US" altLang="zh-TW" spc="-1" dirty="0">
                    <a:solidFill>
                      <a:srgbClr val="000000"/>
                    </a:solidFill>
                  </a:rPr>
                  <a:t>                  </a:t>
                </a:r>
                <a:r>
                  <a:rPr lang="zh-TW" altLang="en-US" spc="-1" dirty="0">
                    <a:solidFill>
                      <a:srgbClr val="000000"/>
                    </a:solidFill>
                  </a:rPr>
                  <a:t>而且這個 </a:t>
                </a:r>
                <a:r>
                  <a:rPr lang="en-US" altLang="zh-TW" spc="-1" dirty="0">
                    <a:solidFill>
                      <a:srgbClr val="000000"/>
                    </a:solidFill>
                  </a:rPr>
                  <a:t>substring </a:t>
                </a:r>
                <a:r>
                  <a:rPr lang="zh-TW" altLang="en-US" spc="-1" dirty="0">
                    <a:solidFill>
                      <a:srgbClr val="000000"/>
                    </a:solidFill>
                  </a:rPr>
                  <a:t>在 </a:t>
                </a:r>
                <a:r>
                  <a:rPr lang="en-US" altLang="zh-TW" spc="-1" dirty="0">
                    <a:solidFill>
                      <a:srgbClr val="000000"/>
                    </a:solidFill>
                  </a:rPr>
                  <a:t>w[</a:t>
                </a:r>
                <a:r>
                  <a:rPr lang="en-US" altLang="zh-TW" spc="-1" dirty="0" err="1">
                    <a:solidFill>
                      <a:srgbClr val="000000"/>
                    </a:solidFill>
                  </a:rPr>
                  <a:t>i</a:t>
                </a:r>
                <a:r>
                  <a:rPr lang="en-US" altLang="zh-TW" spc="-1" dirty="0">
                    <a:solidFill>
                      <a:srgbClr val="000000"/>
                    </a:solidFill>
                  </a:rPr>
                  <a:t>] </a:t>
                </a:r>
                <a:r>
                  <a:rPr lang="zh-TW" altLang="en-US" spc="-1" dirty="0">
                    <a:solidFill>
                      <a:srgbClr val="000000"/>
                    </a:solidFill>
                  </a:rPr>
                  <a:t>之前出現過的</a:t>
                </a:r>
                <a:endParaRPr lang="en-US" altLang="zh-TW" spc="-1" dirty="0">
                  <a:solidFill>
                    <a:srgbClr val="000000"/>
                  </a:solidFill>
                  <a:latin typeface="Times New Roman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318AF3AC-BA55-DD3A-E640-E854684713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135093"/>
              </p:ext>
            </p:extLst>
          </p:nvPr>
        </p:nvGraphicFramePr>
        <p:xfrm>
          <a:off x="894078" y="4493079"/>
          <a:ext cx="10403844" cy="157257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866987">
                  <a:extLst>
                    <a:ext uri="{9D8B030D-6E8A-4147-A177-3AD203B41FA5}">
                      <a16:colId xmlns:a16="http://schemas.microsoft.com/office/drawing/2014/main" val="3687563117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3458925501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4030832065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1724438594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4209229924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2908390315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1002060645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2341577556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476296480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1461677071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2307505867"/>
                    </a:ext>
                  </a:extLst>
                </a:gridCol>
                <a:gridCol w="866987">
                  <a:extLst>
                    <a:ext uri="{9D8B030D-6E8A-4147-A177-3AD203B41FA5}">
                      <a16:colId xmlns:a16="http://schemas.microsoft.com/office/drawing/2014/main" val="886355715"/>
                    </a:ext>
                  </a:extLst>
                </a:gridCol>
              </a:tblGrid>
              <a:tr h="5241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/>
                        <a:t>i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5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6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7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8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9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10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531117"/>
                  </a:ext>
                </a:extLst>
              </a:tr>
              <a:tr h="5241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w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810379"/>
                  </a:ext>
                </a:extLst>
              </a:tr>
              <a:tr h="5241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LPF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0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0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625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2839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Count Distinct Palindrome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457560" indent="-457200">
                  <a:spcBef>
                    <a:spcPts val="561"/>
                  </a:spcBef>
                  <a:buClr>
                    <a:srgbClr val="000000"/>
                  </a:buClr>
                </a:pPr>
                <a14:m>
                  <m:oMath xmlns:m="http://schemas.openxmlformats.org/officeDocument/2006/math">
                    <m:r>
                      <a:rPr lang="en-US" altLang="zh-TW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zh-TW" spc="-1" dirty="0">
                    <a:solidFill>
                      <a:srgbClr val="000000"/>
                    </a:solidFill>
                    <a:latin typeface="Times New Roman"/>
                  </a:rPr>
                  <a:t> = </a:t>
                </a:r>
                <a:r>
                  <a:rPr lang="en-US" altLang="zh-TW" spc="-1" dirty="0" err="1">
                    <a:solidFill>
                      <a:srgbClr val="000000"/>
                    </a:solidFill>
                  </a:rPr>
                  <a:t>abbabaabbba</a:t>
                </a:r>
                <a:endParaRPr lang="en-US" altLang="zh-TW" spc="-1" dirty="0">
                  <a:solidFill>
                    <a:srgbClr val="000000"/>
                  </a:solidFill>
                </a:endParaRPr>
              </a:p>
              <a:p>
                <a:pPr marL="457560" indent="-457200">
                  <a:spcBef>
                    <a:spcPts val="561"/>
                  </a:spcBef>
                  <a:buClr>
                    <a:srgbClr val="000000"/>
                  </a:buClr>
                </a:pPr>
                <a:endParaRPr lang="en-US" altLang="zh-TW" spc="-1" dirty="0">
                  <a:solidFill>
                    <a:srgbClr val="000000"/>
                  </a:solidFill>
                </a:endParaRPr>
              </a:p>
              <a:p>
                <a:pPr marL="457560" indent="-457200">
                  <a:spcBef>
                    <a:spcPts val="561"/>
                  </a:spcBef>
                  <a:buClr>
                    <a:srgbClr val="000000"/>
                  </a:buClr>
                </a:pPr>
                <a:r>
                  <a:rPr lang="en-US" altLang="zh-TW" sz="2800" b="0" dirty="0"/>
                  <a:t>LPF[</a:t>
                </a:r>
                <a:r>
                  <a:rPr lang="en-US" altLang="zh-TW" sz="2800" b="0" dirty="0" err="1"/>
                  <a:t>i</a:t>
                </a:r>
                <a:r>
                  <a:rPr lang="en-US" altLang="zh-TW" sz="2800" b="0" dirty="0"/>
                  <a:t> – LPS[</a:t>
                </a:r>
                <a:r>
                  <a:rPr lang="en-US" altLang="zh-TW" sz="2800" b="0" dirty="0" err="1"/>
                  <a:t>i</a:t>
                </a:r>
                <a:r>
                  <a:rPr lang="en-US" altLang="zh-TW" sz="2800" b="0" dirty="0"/>
                  <a:t>] + 1] &lt; LPS[</a:t>
                </a:r>
                <a:r>
                  <a:rPr lang="en-US" altLang="zh-TW" sz="2800" b="0" dirty="0" err="1"/>
                  <a:t>i</a:t>
                </a:r>
                <a:r>
                  <a:rPr lang="en-US" altLang="zh-TW" sz="2800" b="0" dirty="0"/>
                  <a:t>]</a:t>
                </a:r>
                <a:endParaRPr lang="en-US" altLang="zh-TW" spc="-1" dirty="0">
                  <a:solidFill>
                    <a:srgbClr val="000000"/>
                  </a:solidFill>
                  <a:latin typeface="Times New Roman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318AF3AC-BA55-DD3A-E640-E854684713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4624019"/>
              </p:ext>
            </p:extLst>
          </p:nvPr>
        </p:nvGraphicFramePr>
        <p:xfrm>
          <a:off x="666750" y="3590925"/>
          <a:ext cx="11232000" cy="262095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936000">
                  <a:extLst>
                    <a:ext uri="{9D8B030D-6E8A-4147-A177-3AD203B41FA5}">
                      <a16:colId xmlns:a16="http://schemas.microsoft.com/office/drawing/2014/main" val="368756311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4589255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030832065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72443859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20922992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908390315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002060645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341577556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7629648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6167707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30750586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886355715"/>
                    </a:ext>
                  </a:extLst>
                </a:gridCol>
              </a:tblGrid>
              <a:tr h="5241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/>
                        <a:t>i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5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6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7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8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9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10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531117"/>
                  </a:ext>
                </a:extLst>
              </a:tr>
              <a:tr h="5241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w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810379"/>
                  </a:ext>
                </a:extLst>
              </a:tr>
              <a:tr h="5241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LPS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5</a:t>
                      </a:r>
                      <a:endParaRPr lang="zh-TW" alt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625154"/>
                  </a:ext>
                </a:extLst>
              </a:tr>
              <a:tr h="5241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LPF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0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0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358076"/>
                  </a:ext>
                </a:extLst>
              </a:tr>
              <a:tr h="5241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count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5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6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7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8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8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9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10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5195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6135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Count Distinct Palindrome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FF0000"/>
                </a:solidFill>
                <a:latin typeface="Times New Roman"/>
              </a:rPr>
              <a:t>Step.1: </a:t>
            </a:r>
            <a:r>
              <a:rPr lang="zh-TW" altLang="en-US" spc="-1" dirty="0">
                <a:solidFill>
                  <a:srgbClr val="000000"/>
                </a:solidFill>
                <a:latin typeface="Times New Roman"/>
              </a:rPr>
              <a:t>計算 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LPF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FF0000"/>
                </a:solidFill>
                <a:latin typeface="Times New Roman"/>
              </a:rPr>
              <a:t>Step.2: </a:t>
            </a:r>
            <a:r>
              <a:rPr lang="zh-TW" altLang="en-US" spc="-1" dirty="0">
                <a:solidFill>
                  <a:srgbClr val="000000"/>
                </a:solidFill>
                <a:latin typeface="Times New Roman"/>
              </a:rPr>
              <a:t>計算 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LMP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FF0000"/>
                </a:solidFill>
                <a:latin typeface="Times New Roman"/>
              </a:rPr>
              <a:t>Step.3: </a:t>
            </a:r>
            <a:r>
              <a:rPr lang="zh-TW" altLang="en-US" spc="-1" dirty="0">
                <a:solidFill>
                  <a:srgbClr val="000000"/>
                </a:solidFill>
                <a:latin typeface="Times New Roman"/>
              </a:rPr>
              <a:t>計算 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LPS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FF0000"/>
                </a:solidFill>
                <a:latin typeface="Times New Roman"/>
              </a:rPr>
              <a:t>Step.4: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zh-TW" altLang="en-US" spc="-1" dirty="0">
                <a:solidFill>
                  <a:srgbClr val="000000"/>
                </a:solidFill>
                <a:latin typeface="Times New Roman"/>
              </a:rPr>
              <a:t>計算有幾個不重複的回文</a:t>
            </a: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74616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Complexity</a:t>
            </a:r>
            <a:endParaRPr lang="en-US" altLang="zh-TW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FF0000"/>
                </a:solidFill>
                <a:latin typeface="Times New Roman"/>
              </a:rPr>
              <a:t>Step.1: </a:t>
            </a:r>
            <a:r>
              <a:rPr lang="zh-TW" altLang="en-US" spc="-1" dirty="0">
                <a:solidFill>
                  <a:srgbClr val="000000"/>
                </a:solidFill>
                <a:latin typeface="Times New Roman"/>
              </a:rPr>
              <a:t>計算 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LPF</a:t>
            </a:r>
            <a:r>
              <a:rPr lang="zh-TW" altLang="en-US" spc="-1" dirty="0">
                <a:solidFill>
                  <a:srgbClr val="000000"/>
                </a:solidFill>
                <a:latin typeface="Times New Roman"/>
              </a:rPr>
              <a:t>                                  </a:t>
            </a:r>
            <a:r>
              <a:rPr lang="en-US" altLang="zh-TW" spc="-1" dirty="0">
                <a:solidFill>
                  <a:srgbClr val="0070C0"/>
                </a:solidFill>
                <a:latin typeface="Times New Roman"/>
              </a:rPr>
              <a:t>O(n)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70C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FF0000"/>
                </a:solidFill>
                <a:latin typeface="Times New Roman"/>
              </a:rPr>
              <a:t>Step.2: </a:t>
            </a:r>
            <a:r>
              <a:rPr lang="zh-TW" altLang="en-US" spc="-1" dirty="0">
                <a:solidFill>
                  <a:srgbClr val="000000"/>
                </a:solidFill>
                <a:latin typeface="Times New Roman"/>
              </a:rPr>
              <a:t>計算 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LMP                                 </a:t>
            </a:r>
            <a:r>
              <a:rPr lang="en-US" altLang="zh-TW" spc="-1" dirty="0">
                <a:solidFill>
                  <a:srgbClr val="0070C0"/>
                </a:solidFill>
                <a:latin typeface="Times New Roman"/>
              </a:rPr>
              <a:t>O(n)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FF0000"/>
                </a:solidFill>
                <a:latin typeface="Times New Roman"/>
              </a:rPr>
              <a:t>Step.3: </a:t>
            </a:r>
            <a:r>
              <a:rPr lang="zh-TW" altLang="en-US" spc="-1" dirty="0">
                <a:solidFill>
                  <a:srgbClr val="000000"/>
                </a:solidFill>
                <a:latin typeface="Times New Roman"/>
              </a:rPr>
              <a:t>計算 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LPS                                  </a:t>
            </a:r>
            <a:r>
              <a:rPr lang="en-US" altLang="zh-TW" spc="-1" dirty="0">
                <a:solidFill>
                  <a:srgbClr val="0070C0"/>
                </a:solidFill>
                <a:latin typeface="Times New Roman"/>
              </a:rPr>
              <a:t>O(n)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FF0000"/>
                </a:solidFill>
                <a:latin typeface="Times New Roman"/>
              </a:rPr>
              <a:t>Step.4: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zh-TW" altLang="en-US" spc="-1" dirty="0">
                <a:solidFill>
                  <a:srgbClr val="000000"/>
                </a:solidFill>
                <a:latin typeface="Times New Roman"/>
              </a:rPr>
              <a:t>計算有幾個不重複的回文      </a:t>
            </a:r>
            <a:r>
              <a:rPr lang="en-US" altLang="zh-TW" spc="-1" dirty="0">
                <a:solidFill>
                  <a:srgbClr val="0070C0"/>
                </a:solidFill>
                <a:latin typeface="Times New Roman"/>
              </a:rPr>
              <a:t>O(n)</a:t>
            </a:r>
          </a:p>
        </p:txBody>
      </p:sp>
    </p:spTree>
    <p:extLst>
      <p:ext uri="{BB962C8B-B14F-4D97-AF65-F5344CB8AC3E}">
        <p14:creationId xmlns:p14="http://schemas.microsoft.com/office/powerpoint/2010/main" val="1945868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1">
      <a:majorFont>
        <a:latin typeface="Times New Roman"/>
        <a:ea typeface="微軟正黑體"/>
        <a:cs typeface=""/>
      </a:majorFont>
      <a:minorFont>
        <a:latin typeface="Times New Roman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7158</TotalTime>
  <Words>592</Words>
  <Application>Microsoft Office PowerPoint</Application>
  <PresentationFormat>寬螢幕</PresentationFormat>
  <Paragraphs>271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4" baseType="lpstr">
      <vt:lpstr>Arial</vt:lpstr>
      <vt:lpstr>Cambria Math</vt:lpstr>
      <vt:lpstr>Times New Roman</vt:lpstr>
      <vt:lpstr>Office 佈景主題</vt:lpstr>
      <vt:lpstr>Counting distinct palindromes in a word in linear time</vt:lpstr>
      <vt:lpstr>Abstract </vt:lpstr>
      <vt:lpstr>Palindrome</vt:lpstr>
      <vt:lpstr>LMP (Longest Maximal Palindrome)</vt:lpstr>
      <vt:lpstr>LPS (Longest Palindrome Suffix)</vt:lpstr>
      <vt:lpstr>Compute LPS (Longest Palindrome Suffix)</vt:lpstr>
      <vt:lpstr>LPF (Longest Previous Factor)</vt:lpstr>
      <vt:lpstr>Count Distinct Palindrome</vt:lpstr>
      <vt:lpstr>Count Distinct Palindrome</vt:lpstr>
      <vt:lpstr>Complexity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Alex</dc:creator>
  <cp:lastModifiedBy>M103040056</cp:lastModifiedBy>
  <cp:revision>339</cp:revision>
  <dcterms:created xsi:type="dcterms:W3CDTF">2021-01-03T09:53:04Z</dcterms:created>
  <dcterms:modified xsi:type="dcterms:W3CDTF">2022-07-26T10:36:31Z</dcterms:modified>
</cp:coreProperties>
</file>