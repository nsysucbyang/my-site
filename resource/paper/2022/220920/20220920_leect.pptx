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3" r:id="rId2"/>
    <p:sldId id="257" r:id="rId3"/>
    <p:sldId id="293" r:id="rId4"/>
    <p:sldId id="295" r:id="rId5"/>
    <p:sldId id="300" r:id="rId6"/>
    <p:sldId id="299" r:id="rId7"/>
    <p:sldId id="301" r:id="rId8"/>
    <p:sldId id="302" r:id="rId9"/>
    <p:sldId id="303" r:id="rId10"/>
    <p:sldId id="304" r:id="rId11"/>
    <p:sldId id="265" r:id="rId1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89461" autoAdjust="0"/>
  </p:normalViewPr>
  <p:slideViewPr>
    <p:cSldViewPr>
      <p:cViewPr varScale="1">
        <p:scale>
          <a:sx n="62" d="100"/>
          <a:sy n="62" d="100"/>
        </p:scale>
        <p:origin x="95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8C2939-B1A7-4514-8535-C0FA2719FDF5}" type="datetimeFigureOut">
              <a:rPr lang="zh-TW" altLang="en-US" smtClean="0"/>
              <a:pPr/>
              <a:t>2022/9/20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5C87CB-DD22-4F6F-BC7E-D0042601E3D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i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楊易軒</a:t>
            </a:r>
            <a:r>
              <a:rPr lang="en-US" altLang="zh-TW" b="1" i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  <a:r>
              <a:rPr lang="zh-TW" alt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趙坤茂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635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0" i="0" dirty="0">
                <a:solidFill>
                  <a:srgbClr val="1D2A57"/>
                </a:solidFill>
                <a:effectLst/>
                <a:latin typeface="Arial" panose="020B0604020202020204" pitchFamily="34" charset="0"/>
              </a:rPr>
              <a:t>ellipsis</a:t>
            </a:r>
            <a:endParaRPr lang="en-US" altLang="zh-TW" dirty="0"/>
          </a:p>
          <a:p>
            <a:r>
              <a:rPr lang="en-US" altLang="zh-TW" dirty="0"/>
              <a:t>Less than</a:t>
            </a:r>
          </a:p>
          <a:p>
            <a:r>
              <a:rPr lang="en-US" altLang="zh-TW" b="0" i="0" dirty="0">
                <a:solidFill>
                  <a:srgbClr val="343434"/>
                </a:solidFill>
                <a:effectLst/>
                <a:latin typeface="Noto Sans TC"/>
              </a:rPr>
              <a:t>is less than or equal to 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2970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2552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2022/9/20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2022/9/20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2022/9/20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2022/9/20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2022/9/20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2022/9/20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2022/9/20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2022/9/20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2022/9/20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2022/9/20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2022/9/20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57A5FF-B09D-4861-A15A-3127FCDEB20B}" type="datetimeFigureOut">
              <a:rPr lang="zh-TW" altLang="en-US" smtClean="0"/>
              <a:pPr/>
              <a:t>2022/9/20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C020BB-2F3A-40BC-8D8D-94312CEA4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920" y="672353"/>
            <a:ext cx="8625823" cy="2837610"/>
          </a:xfrm>
        </p:spPr>
        <p:txBody>
          <a:bodyPr anchor="t">
            <a:noAutofit/>
          </a:bodyPr>
          <a:lstStyle/>
          <a:p>
            <a:r>
              <a:rPr lang="en-US" altLang="zh-TW" dirty="0"/>
              <a:t>A Fast Algorithm for Computing A Longest Common Increasing Subsequence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9014221-E47C-4C31-898A-DB1330B1B844}"/>
              </a:ext>
            </a:extLst>
          </p:cNvPr>
          <p:cNvSpPr txBox="1"/>
          <p:nvPr/>
        </p:nvSpPr>
        <p:spPr>
          <a:xfrm>
            <a:off x="6084168" y="5862481"/>
            <a:ext cx="27756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err="1"/>
              <a:t>Presenter</a:t>
            </a:r>
            <a:r>
              <a:rPr lang="en-US" altLang="zh-TW"/>
              <a:t>: Chien-Ting </a:t>
            </a:r>
            <a:r>
              <a:rPr lang="en-US" altLang="zh-TW" dirty="0"/>
              <a:t>Lee</a:t>
            </a:r>
          </a:p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x-none" altLang="zh-TW" dirty="0"/>
              <a:t>Date:</a:t>
            </a:r>
            <a:r>
              <a:rPr lang="zh-TW" altLang="en-US" dirty="0"/>
              <a:t> </a:t>
            </a:r>
            <a:r>
              <a:rPr lang="en-US" altLang="zh-TW" dirty="0"/>
              <a:t>Sept</a:t>
            </a:r>
            <a:r>
              <a:rPr lang="x-none" altLang="zh-TW" dirty="0"/>
              <a:t>. </a:t>
            </a:r>
            <a:r>
              <a:rPr lang="en-US" altLang="zh-TW" dirty="0"/>
              <a:t>20</a:t>
            </a:r>
            <a:r>
              <a:rPr lang="x-none" altLang="zh-TW" dirty="0"/>
              <a:t>, 202</a:t>
            </a:r>
            <a:r>
              <a:rPr lang="en-US" altLang="zh-TW" dirty="0"/>
              <a:t>2</a:t>
            </a:r>
            <a:endParaRPr lang="x-none" altLang="zh-TW" dirty="0"/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C2097824-8D05-480F-BF6D-DD8BBC3EF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0" y="3509962"/>
            <a:ext cx="9144000" cy="2133615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</a:t>
            </a:r>
            <a:r>
              <a:rPr lang="en-US" altLang="zh-TW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Hsuan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Yang, Chien-Pin Huang, </a:t>
            </a:r>
            <a:r>
              <a:rPr lang="en-US" altLang="zh-TW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Kun</a:t>
            </a: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-Mao Chao</a:t>
            </a: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Processing Letters 93 (2005) 249–253</a:t>
            </a:r>
            <a:endParaRPr lang="zh-TW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1000"/>
              </a:spcBef>
            </a:pPr>
            <a:endParaRPr lang="en-US" altLang="zh-TW" sz="2400" dirty="0">
              <a:solidFill>
                <a:schemeClr val="tx1"/>
              </a:solidFill>
            </a:endParaRPr>
          </a:p>
          <a:p>
            <a:pPr>
              <a:lnSpc>
                <a:spcPct val="110000"/>
              </a:lnSpc>
              <a:spcBef>
                <a:spcPts val="1000"/>
              </a:spcBef>
            </a:pPr>
            <a:endParaRPr lang="en-US" altLang="zh-TW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3632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96752"/>
                <a:ext cx="8229600" cy="4929411"/>
              </a:xfrm>
            </p:spPr>
            <p:txBody>
              <a:bodyPr>
                <a:noAutofit/>
              </a:bodyPr>
              <a:lstStyle/>
              <a:p>
                <a:pPr marL="0" indent="0" algn="dist">
                  <a:lnSpc>
                    <a:spcPct val="150000"/>
                  </a:lnSpc>
                  <a:buNone/>
                </a:pPr>
                <a:r>
                  <a:rPr lang="en-US" altLang="zh-TW" sz="2400" dirty="0">
                    <a:latin typeface="Calibri (本文)"/>
                  </a:rPr>
                  <a:t>Let A = a</a:t>
                </a:r>
                <a:r>
                  <a:rPr lang="en-US" altLang="zh-TW" sz="2400" baseline="-25000" dirty="0">
                    <a:latin typeface="Calibri (本文)"/>
                  </a:rPr>
                  <a:t>1</a:t>
                </a:r>
                <a:r>
                  <a:rPr lang="en-US" altLang="zh-TW" sz="2400" dirty="0">
                    <a:latin typeface="Calibri (本文)"/>
                  </a:rPr>
                  <a:t>, a</a:t>
                </a:r>
                <a:r>
                  <a:rPr lang="en-US" altLang="zh-TW" sz="2400" baseline="-25000" dirty="0">
                    <a:latin typeface="Calibri (本文)"/>
                  </a:rPr>
                  <a:t>2</a:t>
                </a:r>
                <a:r>
                  <a:rPr lang="en-US" altLang="zh-TW" sz="2400" dirty="0">
                    <a:latin typeface="Calibri (本文)"/>
                  </a:rPr>
                  <a:t>,..., a</a:t>
                </a:r>
                <a:r>
                  <a:rPr lang="en-US" altLang="zh-TW" sz="2400" baseline="-25000" dirty="0">
                    <a:latin typeface="Calibri (本文)"/>
                  </a:rPr>
                  <a:t>m</a:t>
                </a:r>
                <a:r>
                  <a:rPr lang="en-US" altLang="zh-TW" sz="2400" dirty="0">
                    <a:latin typeface="Calibri (本文)"/>
                  </a:rPr>
                  <a:t> and B = b</a:t>
                </a:r>
                <a:r>
                  <a:rPr lang="en-US" altLang="zh-TW" sz="2400" baseline="-25000" dirty="0">
                    <a:latin typeface="Calibri (本文)"/>
                  </a:rPr>
                  <a:t>1</a:t>
                </a:r>
                <a:r>
                  <a:rPr lang="en-US" altLang="zh-TW" sz="2400" dirty="0">
                    <a:latin typeface="Calibri (本文)"/>
                  </a:rPr>
                  <a:t>, b</a:t>
                </a:r>
                <a:r>
                  <a:rPr lang="en-US" altLang="zh-TW" sz="2400" baseline="-25000" dirty="0">
                    <a:latin typeface="Calibri (本文)"/>
                  </a:rPr>
                  <a:t>2</a:t>
                </a:r>
                <a:r>
                  <a:rPr lang="en-US" altLang="zh-TW" sz="2400" dirty="0">
                    <a:latin typeface="Calibri (本文)"/>
                  </a:rPr>
                  <a:t>,..., b</a:t>
                </a:r>
                <a:r>
                  <a:rPr lang="en-US" altLang="zh-TW" sz="2400" baseline="-25000" dirty="0">
                    <a:latin typeface="Calibri (本文)"/>
                  </a:rPr>
                  <a:t>n</a:t>
                </a:r>
                <a:r>
                  <a:rPr lang="en-US" altLang="zh-TW" sz="2400" dirty="0">
                    <a:latin typeface="Calibri (本文)"/>
                  </a:rPr>
                  <a:t> be two sequences, where each pair of elements in the sequences is comparable. A common increasing subsequence of A and B is a subsequence (a</a:t>
                </a:r>
                <a:r>
                  <a:rPr lang="en-US" altLang="zh-TW" sz="2400" baseline="-25000" dirty="0">
                    <a:latin typeface="Calibri (本文)"/>
                  </a:rPr>
                  <a:t>i1</a:t>
                </a:r>
                <a:r>
                  <a:rPr lang="en-US" altLang="zh-TW" sz="2400" dirty="0">
                    <a:latin typeface="Calibri (本文)"/>
                  </a:rPr>
                  <a:t> = b</a:t>
                </a:r>
                <a:r>
                  <a:rPr lang="en-US" altLang="zh-TW" sz="2400" baseline="-25000" dirty="0">
                    <a:latin typeface="Calibri (本文)"/>
                  </a:rPr>
                  <a:t>j1</a:t>
                </a:r>
                <a:r>
                  <a:rPr lang="en-US" altLang="zh-TW" sz="2400" dirty="0">
                    <a:latin typeface="Calibri (本文)"/>
                  </a:rPr>
                  <a:t>, a</a:t>
                </a:r>
                <a:r>
                  <a:rPr lang="en-US" altLang="zh-TW" sz="2400" baseline="-25000" dirty="0">
                    <a:latin typeface="Calibri (本文)"/>
                  </a:rPr>
                  <a:t>i2</a:t>
                </a:r>
                <a:r>
                  <a:rPr lang="en-US" altLang="zh-TW" sz="2400" dirty="0">
                    <a:latin typeface="Calibri (本文)"/>
                  </a:rPr>
                  <a:t> = b</a:t>
                </a:r>
                <a:r>
                  <a:rPr lang="en-US" altLang="zh-TW" sz="2400" baseline="-25000" dirty="0">
                    <a:latin typeface="Calibri (本文)"/>
                  </a:rPr>
                  <a:t>j2</a:t>
                </a:r>
                <a:r>
                  <a:rPr lang="en-US" altLang="zh-TW" sz="2400" dirty="0">
                    <a:latin typeface="Calibri (本文)"/>
                  </a:rPr>
                  <a:t>, … , a</a:t>
                </a:r>
                <a:r>
                  <a:rPr lang="en-US" altLang="zh-TW" sz="2400" baseline="-25000" dirty="0">
                    <a:latin typeface="Calibri (本文)"/>
                  </a:rPr>
                  <a:t>il</a:t>
                </a:r>
                <a:r>
                  <a:rPr lang="en-US" altLang="zh-TW" sz="2400" dirty="0">
                    <a:latin typeface="Calibri (本文)"/>
                  </a:rPr>
                  <a:t> = </a:t>
                </a:r>
                <a:r>
                  <a:rPr lang="en-US" altLang="zh-TW" sz="2400" dirty="0" err="1">
                    <a:latin typeface="Calibri (本文)"/>
                  </a:rPr>
                  <a:t>b</a:t>
                </a:r>
                <a:r>
                  <a:rPr lang="en-US" altLang="zh-TW" sz="2400" baseline="-25000" dirty="0" err="1">
                    <a:latin typeface="Calibri (本文)"/>
                  </a:rPr>
                  <a:t>jl</a:t>
                </a:r>
                <a:r>
                  <a:rPr lang="en-US" altLang="zh-TW" sz="2400" dirty="0">
                    <a:latin typeface="Calibri (本文)"/>
                  </a:rPr>
                  <a:t>), where i</a:t>
                </a:r>
                <a:r>
                  <a:rPr lang="en-US" altLang="zh-TW" sz="2400" baseline="-25000" dirty="0">
                    <a:latin typeface="Calibri (本文)"/>
                  </a:rPr>
                  <a:t>1</a:t>
                </a:r>
                <a:r>
                  <a:rPr lang="en-US" altLang="zh-TW" sz="2400" dirty="0">
                    <a:latin typeface="Calibri (本文)"/>
                  </a:rPr>
                  <a:t> &lt; i</a:t>
                </a:r>
                <a:r>
                  <a:rPr lang="en-US" altLang="zh-TW" sz="2400" baseline="-25000" dirty="0">
                    <a:latin typeface="Calibri (本文)"/>
                  </a:rPr>
                  <a:t>2</a:t>
                </a:r>
                <a:r>
                  <a:rPr lang="en-US" altLang="zh-TW" sz="2400" dirty="0">
                    <a:latin typeface="Calibri (本文)"/>
                  </a:rPr>
                  <a:t> &lt; · · · &lt; i</a:t>
                </a:r>
                <a:r>
                  <a:rPr lang="en-US" altLang="zh-TW" sz="2400" baseline="-25000" dirty="0">
                    <a:latin typeface="Calibri (本文)"/>
                  </a:rPr>
                  <a:t>l</a:t>
                </a:r>
                <a:r>
                  <a:rPr lang="en-US" altLang="zh-TW" sz="2400" dirty="0">
                    <a:latin typeface="Calibri (本文)"/>
                  </a:rPr>
                  <a:t> and </a:t>
                </a:r>
              </a:p>
              <a:p>
                <a:pPr marL="0" indent="0" algn="dist">
                  <a:lnSpc>
                    <a:spcPct val="150000"/>
                  </a:lnSpc>
                  <a:buNone/>
                </a:pPr>
                <a:r>
                  <a:rPr lang="en-US" altLang="zh-TW" sz="2400" dirty="0">
                    <a:latin typeface="Calibri (本文)"/>
                  </a:rPr>
                  <a:t>j</a:t>
                </a:r>
                <a:r>
                  <a:rPr lang="en-US" altLang="zh-TW" sz="2400" baseline="-25000" dirty="0">
                    <a:latin typeface="Calibri (本文)"/>
                  </a:rPr>
                  <a:t>1</a:t>
                </a:r>
                <a:r>
                  <a:rPr lang="en-US" altLang="zh-TW" sz="2400" dirty="0">
                    <a:latin typeface="Calibri (本文)"/>
                  </a:rPr>
                  <a:t> &lt; j</a:t>
                </a:r>
                <a:r>
                  <a:rPr lang="en-US" altLang="zh-TW" sz="2400" baseline="-25000" dirty="0">
                    <a:latin typeface="Calibri (本文)"/>
                  </a:rPr>
                  <a:t>2</a:t>
                </a:r>
                <a:r>
                  <a:rPr lang="en-US" altLang="zh-TW" sz="2400" dirty="0">
                    <a:latin typeface="Calibri (本文)"/>
                  </a:rPr>
                  <a:t> &lt; · · · &lt; j</a:t>
                </a:r>
                <a:r>
                  <a:rPr lang="en-US" altLang="zh-TW" sz="2400" baseline="-25000" dirty="0">
                    <a:latin typeface="Calibri (本文)"/>
                  </a:rPr>
                  <a:t>l</a:t>
                </a:r>
                <a:r>
                  <a:rPr lang="en-US" altLang="zh-TW" sz="2400" dirty="0">
                    <a:latin typeface="Calibri (本文)"/>
                  </a:rPr>
                  <a:t>, such that for all 1 </a:t>
                </a:r>
                <a14:m>
                  <m:oMath xmlns:m="http://schemas.openxmlformats.org/officeDocument/2006/math">
                    <m:r>
                      <a:rPr lang="en-US" altLang="zh-TW" sz="2000" i="1" smtClean="0">
                        <a:latin typeface="Cambria Math" panose="02040503050406030204" pitchFamily="18" charset="0"/>
                        <a:ea typeface="Cambria Math"/>
                      </a:rPr>
                      <m:t>≤</m:t>
                    </m:r>
                  </m:oMath>
                </a14:m>
                <a:r>
                  <a:rPr lang="en-US" altLang="zh-TW" sz="2400" dirty="0">
                    <a:latin typeface="Calibri (本文)"/>
                  </a:rPr>
                  <a:t> k &lt; l, we have a</a:t>
                </a:r>
                <a:r>
                  <a:rPr lang="en-US" altLang="zh-TW" sz="2400" baseline="-25000" dirty="0">
                    <a:latin typeface="Calibri (本文)"/>
                  </a:rPr>
                  <a:t>ik</a:t>
                </a:r>
                <a:r>
                  <a:rPr lang="en-US" altLang="zh-TW" sz="2400" dirty="0">
                    <a:latin typeface="Calibri (本文)"/>
                  </a:rPr>
                  <a:t> &lt; a</a:t>
                </a:r>
                <a:r>
                  <a:rPr lang="en-US" altLang="zh-TW" sz="2400" baseline="-25000" dirty="0">
                    <a:latin typeface="Calibri (本文)"/>
                  </a:rPr>
                  <a:t>ik+1 </a:t>
                </a:r>
                <a:r>
                  <a:rPr lang="en-US" altLang="zh-TW" sz="2400" dirty="0">
                    <a:latin typeface="Calibri (本文)"/>
                  </a:rPr>
                  <a:t>. A longest common increasing subsequence of A and B is a common increasing subsequence of the maximum length. This paper presents an algorithm for delivering a longest common increasing subsequence in O(</a:t>
                </a:r>
                <a:r>
                  <a:rPr lang="en-US" altLang="zh-TW" sz="2400" dirty="0" err="1">
                    <a:latin typeface="Calibri (本文)"/>
                  </a:rPr>
                  <a:t>mn</a:t>
                </a:r>
                <a:r>
                  <a:rPr lang="en-US" altLang="zh-TW" sz="2400" dirty="0">
                    <a:latin typeface="Calibri (本文)"/>
                  </a:rPr>
                  <a:t>) time and O(</a:t>
                </a:r>
                <a:r>
                  <a:rPr lang="en-US" altLang="zh-TW" sz="2400" dirty="0" err="1">
                    <a:latin typeface="Calibri (本文)"/>
                  </a:rPr>
                  <a:t>mn</a:t>
                </a:r>
                <a:r>
                  <a:rPr lang="en-US" altLang="zh-TW" sz="2400" dirty="0">
                    <a:latin typeface="Calibri (本文)"/>
                  </a:rPr>
                  <a:t>) space.</a:t>
                </a:r>
                <a:endParaRPr lang="zh-TW" altLang="en-US" sz="2400" dirty="0">
                  <a:latin typeface="Calibri (本文)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96752"/>
                <a:ext cx="8229600" cy="4929411"/>
              </a:xfrm>
              <a:blipFill>
                <a:blip r:embed="rId3"/>
                <a:stretch>
                  <a:fillRect l="-1111" r="-1111" b="-51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14638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Folklore Algorithm for LIS</a:t>
            </a:r>
            <a:endParaRPr lang="zh-TW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7BA3EDF-97BF-D5EE-32E6-CFDE869B169B}"/>
              </a:ext>
            </a:extLst>
          </p:cNvPr>
          <p:cNvSpPr txBox="1"/>
          <p:nvPr/>
        </p:nvSpPr>
        <p:spPr>
          <a:xfrm>
            <a:off x="251520" y="1330220"/>
            <a:ext cx="4741104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800" i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Step1:</a:t>
            </a:r>
            <a:r>
              <a:rPr lang="en-US" altLang="zh-TW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that each entry in L is initially a 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1800" i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Step2: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 to n do </a:t>
            </a:r>
          </a:p>
          <a:p>
            <a:pPr>
              <a:lnSpc>
                <a:spcPct val="150000"/>
              </a:lnSpc>
            </a:pPr>
            <a:r>
              <a:rPr lang="en-US" altLang="zh-TW" sz="1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binary search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update L</a:t>
            </a:r>
          </a:p>
          <a:p>
            <a:pPr>
              <a:lnSpc>
                <a:spcPct val="150000"/>
              </a:lnSpc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and make a backtracking link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former 	number</a:t>
            </a:r>
          </a:p>
          <a:p>
            <a:pPr>
              <a:lnSpc>
                <a:spcPct val="150000"/>
              </a:lnSpc>
            </a:pPr>
            <a:r>
              <a:rPr lang="en-US" altLang="zh-TW" sz="1800" i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Step3: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length of LIS = the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largest k such that 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L[k] contains </a:t>
            </a:r>
            <a:r>
              <a:rPr lang="zh-TW" altLang="en-US" sz="1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non-infinite value</a:t>
            </a:r>
            <a:endParaRPr lang="en-US" altLang="zh-TW" sz="1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1800" i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i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Step4: 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Tracing back from L[k]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get LIS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表格 13">
                <a:extLst>
                  <a:ext uri="{FF2B5EF4-FFF2-40B4-BE49-F238E27FC236}">
                    <a16:creationId xmlns:a16="http://schemas.microsoft.com/office/drawing/2014/main" id="{4A5F254A-0DA0-3F97-6DCA-30188C0004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2100627"/>
                  </p:ext>
                </p:extLst>
              </p:nvPr>
            </p:nvGraphicFramePr>
            <p:xfrm>
              <a:off x="5322863" y="1472771"/>
              <a:ext cx="3549057" cy="3657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9171">
                      <a:extLst>
                        <a:ext uri="{9D8B030D-6E8A-4147-A177-3AD203B41FA5}">
                          <a16:colId xmlns:a16="http://schemas.microsoft.com/office/drawing/2014/main" val="3605662883"/>
                        </a:ext>
                      </a:extLst>
                    </a:gridCol>
                    <a:gridCol w="469981">
                      <a:extLst>
                        <a:ext uri="{9D8B030D-6E8A-4147-A177-3AD203B41FA5}">
                          <a16:colId xmlns:a16="http://schemas.microsoft.com/office/drawing/2014/main" val="758206837"/>
                        </a:ext>
                      </a:extLst>
                    </a:gridCol>
                    <a:gridCol w="469981">
                      <a:extLst>
                        <a:ext uri="{9D8B030D-6E8A-4147-A177-3AD203B41FA5}">
                          <a16:colId xmlns:a16="http://schemas.microsoft.com/office/drawing/2014/main" val="1100538577"/>
                        </a:ext>
                      </a:extLst>
                    </a:gridCol>
                    <a:gridCol w="469981">
                      <a:extLst>
                        <a:ext uri="{9D8B030D-6E8A-4147-A177-3AD203B41FA5}">
                          <a16:colId xmlns:a16="http://schemas.microsoft.com/office/drawing/2014/main" val="2306811585"/>
                        </a:ext>
                      </a:extLst>
                    </a:gridCol>
                    <a:gridCol w="469981">
                      <a:extLst>
                        <a:ext uri="{9D8B030D-6E8A-4147-A177-3AD203B41FA5}">
                          <a16:colId xmlns:a16="http://schemas.microsoft.com/office/drawing/2014/main" val="802924622"/>
                        </a:ext>
                      </a:extLst>
                    </a:gridCol>
                    <a:gridCol w="469981">
                      <a:extLst>
                        <a:ext uri="{9D8B030D-6E8A-4147-A177-3AD203B41FA5}">
                          <a16:colId xmlns:a16="http://schemas.microsoft.com/office/drawing/2014/main" val="3310548411"/>
                        </a:ext>
                      </a:extLst>
                    </a:gridCol>
                    <a:gridCol w="469981">
                      <a:extLst>
                        <a:ext uri="{9D8B030D-6E8A-4147-A177-3AD203B41FA5}">
                          <a16:colId xmlns:a16="http://schemas.microsoft.com/office/drawing/2014/main" val="3668519393"/>
                        </a:ext>
                      </a:extLst>
                    </a:gridCol>
                  </a:tblGrid>
                  <a:tr h="26960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TW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sz="1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TW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3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4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1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5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9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2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0015957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表格 13">
                <a:extLst>
                  <a:ext uri="{FF2B5EF4-FFF2-40B4-BE49-F238E27FC236}">
                    <a16:creationId xmlns:a16="http://schemas.microsoft.com/office/drawing/2014/main" id="{4A5F254A-0DA0-3F97-6DCA-30188C0004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2100627"/>
                  </p:ext>
                </p:extLst>
              </p:nvPr>
            </p:nvGraphicFramePr>
            <p:xfrm>
              <a:off x="5322863" y="1472771"/>
              <a:ext cx="3549057" cy="3657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29171">
                      <a:extLst>
                        <a:ext uri="{9D8B030D-6E8A-4147-A177-3AD203B41FA5}">
                          <a16:colId xmlns:a16="http://schemas.microsoft.com/office/drawing/2014/main" val="3605662883"/>
                        </a:ext>
                      </a:extLst>
                    </a:gridCol>
                    <a:gridCol w="469981">
                      <a:extLst>
                        <a:ext uri="{9D8B030D-6E8A-4147-A177-3AD203B41FA5}">
                          <a16:colId xmlns:a16="http://schemas.microsoft.com/office/drawing/2014/main" val="758206837"/>
                        </a:ext>
                      </a:extLst>
                    </a:gridCol>
                    <a:gridCol w="469981">
                      <a:extLst>
                        <a:ext uri="{9D8B030D-6E8A-4147-A177-3AD203B41FA5}">
                          <a16:colId xmlns:a16="http://schemas.microsoft.com/office/drawing/2014/main" val="1100538577"/>
                        </a:ext>
                      </a:extLst>
                    </a:gridCol>
                    <a:gridCol w="469981">
                      <a:extLst>
                        <a:ext uri="{9D8B030D-6E8A-4147-A177-3AD203B41FA5}">
                          <a16:colId xmlns:a16="http://schemas.microsoft.com/office/drawing/2014/main" val="2306811585"/>
                        </a:ext>
                      </a:extLst>
                    </a:gridCol>
                    <a:gridCol w="469981">
                      <a:extLst>
                        <a:ext uri="{9D8B030D-6E8A-4147-A177-3AD203B41FA5}">
                          <a16:colId xmlns:a16="http://schemas.microsoft.com/office/drawing/2014/main" val="802924622"/>
                        </a:ext>
                      </a:extLst>
                    </a:gridCol>
                    <a:gridCol w="469981">
                      <a:extLst>
                        <a:ext uri="{9D8B030D-6E8A-4147-A177-3AD203B41FA5}">
                          <a16:colId xmlns:a16="http://schemas.microsoft.com/office/drawing/2014/main" val="3310548411"/>
                        </a:ext>
                      </a:extLst>
                    </a:gridCol>
                    <a:gridCol w="469981">
                      <a:extLst>
                        <a:ext uri="{9D8B030D-6E8A-4147-A177-3AD203B41FA5}">
                          <a16:colId xmlns:a16="http://schemas.microsoft.com/office/drawing/2014/main" val="366851939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33" t="-8197" r="-387500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3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4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1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5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9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2</a:t>
                          </a:r>
                          <a:endParaRPr lang="zh-TW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0015957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C5C6CFC0-EBB1-0173-4D93-7F58025659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185333"/>
              </p:ext>
            </p:extLst>
          </p:nvPr>
        </p:nvGraphicFramePr>
        <p:xfrm>
          <a:off x="5322863" y="2427072"/>
          <a:ext cx="3549057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9171">
                  <a:extLst>
                    <a:ext uri="{9D8B030D-6E8A-4147-A177-3AD203B41FA5}">
                      <a16:colId xmlns:a16="http://schemas.microsoft.com/office/drawing/2014/main" val="2250246976"/>
                    </a:ext>
                  </a:extLst>
                </a:gridCol>
                <a:gridCol w="469981">
                  <a:extLst>
                    <a:ext uri="{9D8B030D-6E8A-4147-A177-3AD203B41FA5}">
                      <a16:colId xmlns:a16="http://schemas.microsoft.com/office/drawing/2014/main" val="2178602298"/>
                    </a:ext>
                  </a:extLst>
                </a:gridCol>
                <a:gridCol w="469981">
                  <a:extLst>
                    <a:ext uri="{9D8B030D-6E8A-4147-A177-3AD203B41FA5}">
                      <a16:colId xmlns:a16="http://schemas.microsoft.com/office/drawing/2014/main" val="155324838"/>
                    </a:ext>
                  </a:extLst>
                </a:gridCol>
                <a:gridCol w="469981">
                  <a:extLst>
                    <a:ext uri="{9D8B030D-6E8A-4147-A177-3AD203B41FA5}">
                      <a16:colId xmlns:a16="http://schemas.microsoft.com/office/drawing/2014/main" val="2025280794"/>
                    </a:ext>
                  </a:extLst>
                </a:gridCol>
                <a:gridCol w="469981">
                  <a:extLst>
                    <a:ext uri="{9D8B030D-6E8A-4147-A177-3AD203B41FA5}">
                      <a16:colId xmlns:a16="http://schemas.microsoft.com/office/drawing/2014/main" val="66614660"/>
                    </a:ext>
                  </a:extLst>
                </a:gridCol>
                <a:gridCol w="469981">
                  <a:extLst>
                    <a:ext uri="{9D8B030D-6E8A-4147-A177-3AD203B41FA5}">
                      <a16:colId xmlns:a16="http://schemas.microsoft.com/office/drawing/2014/main" val="2688296009"/>
                    </a:ext>
                  </a:extLst>
                </a:gridCol>
                <a:gridCol w="469981">
                  <a:extLst>
                    <a:ext uri="{9D8B030D-6E8A-4147-A177-3AD203B41FA5}">
                      <a16:colId xmlns:a16="http://schemas.microsoft.com/office/drawing/2014/main" val="4008773656"/>
                    </a:ext>
                  </a:extLst>
                </a:gridCol>
              </a:tblGrid>
              <a:tr h="269601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5636060"/>
                  </a:ext>
                </a:extLst>
              </a:tr>
              <a:tr h="26960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L[k]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491593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3749F58D-3F8D-C5FD-3716-9C3201F624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357674"/>
              </p:ext>
            </p:extLst>
          </p:nvPr>
        </p:nvGraphicFramePr>
        <p:xfrm>
          <a:off x="5322862" y="3699409"/>
          <a:ext cx="3549057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9171">
                  <a:extLst>
                    <a:ext uri="{9D8B030D-6E8A-4147-A177-3AD203B41FA5}">
                      <a16:colId xmlns:a16="http://schemas.microsoft.com/office/drawing/2014/main" val="1850886986"/>
                    </a:ext>
                  </a:extLst>
                </a:gridCol>
                <a:gridCol w="469981">
                  <a:extLst>
                    <a:ext uri="{9D8B030D-6E8A-4147-A177-3AD203B41FA5}">
                      <a16:colId xmlns:a16="http://schemas.microsoft.com/office/drawing/2014/main" val="709256938"/>
                    </a:ext>
                  </a:extLst>
                </a:gridCol>
                <a:gridCol w="469981">
                  <a:extLst>
                    <a:ext uri="{9D8B030D-6E8A-4147-A177-3AD203B41FA5}">
                      <a16:colId xmlns:a16="http://schemas.microsoft.com/office/drawing/2014/main" val="844125965"/>
                    </a:ext>
                  </a:extLst>
                </a:gridCol>
                <a:gridCol w="469981">
                  <a:extLst>
                    <a:ext uri="{9D8B030D-6E8A-4147-A177-3AD203B41FA5}">
                      <a16:colId xmlns:a16="http://schemas.microsoft.com/office/drawing/2014/main" val="3289883695"/>
                    </a:ext>
                  </a:extLst>
                </a:gridCol>
                <a:gridCol w="469981">
                  <a:extLst>
                    <a:ext uri="{9D8B030D-6E8A-4147-A177-3AD203B41FA5}">
                      <a16:colId xmlns:a16="http://schemas.microsoft.com/office/drawing/2014/main" val="3395485069"/>
                    </a:ext>
                  </a:extLst>
                </a:gridCol>
                <a:gridCol w="469981">
                  <a:extLst>
                    <a:ext uri="{9D8B030D-6E8A-4147-A177-3AD203B41FA5}">
                      <a16:colId xmlns:a16="http://schemas.microsoft.com/office/drawing/2014/main" val="1722856845"/>
                    </a:ext>
                  </a:extLst>
                </a:gridCol>
                <a:gridCol w="469981">
                  <a:extLst>
                    <a:ext uri="{9D8B030D-6E8A-4147-A177-3AD203B41FA5}">
                      <a16:colId xmlns:a16="http://schemas.microsoft.com/office/drawing/2014/main" val="1668432316"/>
                    </a:ext>
                  </a:extLst>
                </a:gridCol>
              </a:tblGrid>
              <a:tr h="26960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/>
                        <a:t>Prev</a:t>
                      </a:r>
                      <a:r>
                        <a:rPr lang="en-US" altLang="zh-TW" dirty="0"/>
                        <a:t>[</a:t>
                      </a:r>
                      <a:r>
                        <a:rPr lang="en-US" altLang="zh-TW" dirty="0" err="1"/>
                        <a:t>i</a:t>
                      </a:r>
                      <a:r>
                        <a:rPr lang="en-US" altLang="zh-TW" dirty="0"/>
                        <a:t>]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0121989"/>
                  </a:ext>
                </a:extLst>
              </a:tr>
            </a:tbl>
          </a:graphicData>
        </a:graphic>
      </p:graphicFrame>
      <p:sp>
        <p:nvSpPr>
          <p:cNvPr id="17" name="文字方塊 16">
            <a:extLst>
              <a:ext uri="{FF2B5EF4-FFF2-40B4-BE49-F238E27FC236}">
                <a16:creationId xmlns:a16="http://schemas.microsoft.com/office/drawing/2014/main" id="{7FA36DB6-5E37-CD87-8545-92A342131D19}"/>
              </a:ext>
            </a:extLst>
          </p:cNvPr>
          <p:cNvSpPr txBox="1"/>
          <p:nvPr/>
        </p:nvSpPr>
        <p:spPr>
          <a:xfrm>
            <a:off x="6084168" y="2802414"/>
            <a:ext cx="3628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3</a:t>
            </a:r>
            <a:endParaRPr lang="zh-TW" altLang="en-US" sz="16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D96D2C59-45F0-005A-F4A6-07078087A546}"/>
              </a:ext>
            </a:extLst>
          </p:cNvPr>
          <p:cNvSpPr txBox="1"/>
          <p:nvPr/>
        </p:nvSpPr>
        <p:spPr>
          <a:xfrm>
            <a:off x="6595837" y="2802414"/>
            <a:ext cx="3628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4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A51ACC5-3162-4DB9-56CA-F41E5251482D}"/>
              </a:ext>
            </a:extLst>
          </p:cNvPr>
          <p:cNvSpPr txBox="1"/>
          <p:nvPr/>
        </p:nvSpPr>
        <p:spPr>
          <a:xfrm>
            <a:off x="6087379" y="2811226"/>
            <a:ext cx="3628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1</a:t>
            </a:r>
            <a:endParaRPr lang="zh-TW" altLang="en-US" sz="1600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D68340E5-E05F-D3E4-9E3D-3313809643F6}"/>
              </a:ext>
            </a:extLst>
          </p:cNvPr>
          <p:cNvSpPr txBox="1"/>
          <p:nvPr/>
        </p:nvSpPr>
        <p:spPr>
          <a:xfrm>
            <a:off x="6084168" y="3713012"/>
            <a:ext cx="3628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—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7C921D89-3C0F-AE55-C508-19195E72F5C1}"/>
              </a:ext>
            </a:extLst>
          </p:cNvPr>
          <p:cNvSpPr txBox="1"/>
          <p:nvPr/>
        </p:nvSpPr>
        <p:spPr>
          <a:xfrm>
            <a:off x="6594782" y="3713012"/>
            <a:ext cx="3628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1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7A2EDE93-FA11-5E01-BAB1-E07CE416E7DD}"/>
              </a:ext>
            </a:extLst>
          </p:cNvPr>
          <p:cNvSpPr txBox="1"/>
          <p:nvPr/>
        </p:nvSpPr>
        <p:spPr>
          <a:xfrm>
            <a:off x="7069026" y="2792832"/>
            <a:ext cx="3628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5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4C26581-B35E-8233-4615-34C57CB6B287}"/>
              </a:ext>
            </a:extLst>
          </p:cNvPr>
          <p:cNvSpPr txBox="1"/>
          <p:nvPr/>
        </p:nvSpPr>
        <p:spPr>
          <a:xfrm>
            <a:off x="7005526" y="3699409"/>
            <a:ext cx="3628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—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5539170A-8F33-A146-FF0C-6C34F190B6FC}"/>
              </a:ext>
            </a:extLst>
          </p:cNvPr>
          <p:cNvSpPr txBox="1"/>
          <p:nvPr/>
        </p:nvSpPr>
        <p:spPr>
          <a:xfrm>
            <a:off x="7551920" y="3713012"/>
            <a:ext cx="3628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2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315C485F-8524-1238-30DC-3B89F1E7C3A0}"/>
              </a:ext>
            </a:extLst>
          </p:cNvPr>
          <p:cNvSpPr txBox="1"/>
          <p:nvPr/>
        </p:nvSpPr>
        <p:spPr>
          <a:xfrm>
            <a:off x="7531446" y="2792165"/>
            <a:ext cx="3628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9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FDBE92D5-5BFE-A017-D915-31278B130D70}"/>
              </a:ext>
            </a:extLst>
          </p:cNvPr>
          <p:cNvSpPr txBox="1"/>
          <p:nvPr/>
        </p:nvSpPr>
        <p:spPr>
          <a:xfrm>
            <a:off x="7962664" y="3722930"/>
            <a:ext cx="3628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4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844C6815-D44F-8CC5-67F7-A5119C48CCAF}"/>
              </a:ext>
            </a:extLst>
          </p:cNvPr>
          <p:cNvSpPr txBox="1"/>
          <p:nvPr/>
        </p:nvSpPr>
        <p:spPr>
          <a:xfrm>
            <a:off x="8479926" y="3725203"/>
            <a:ext cx="3628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3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5853C211-7726-B797-412D-63E2276D5CAC}"/>
              </a:ext>
            </a:extLst>
          </p:cNvPr>
          <p:cNvSpPr txBox="1"/>
          <p:nvPr/>
        </p:nvSpPr>
        <p:spPr>
          <a:xfrm>
            <a:off x="6592626" y="2811226"/>
            <a:ext cx="3628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53EB36BC-86E6-25C5-BE19-098545BA0600}"/>
                  </a:ext>
                </a:extLst>
              </p:cNvPr>
              <p:cNvSpPr/>
              <p:nvPr/>
            </p:nvSpPr>
            <p:spPr>
              <a:xfrm>
                <a:off x="4992624" y="5205637"/>
                <a:ext cx="311713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Complexity: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solidFill>
                      <a:srgbClr val="0070C0"/>
                    </a:solidFill>
                    <a:latin typeface="Times New Roman" panose="02020603050405020304" pitchFamily="18" charset="0"/>
                  </a:rPr>
                  <a:t>O(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nlogn</m:t>
                    </m:r>
                    <m:r>
                      <a:rPr lang="en-US" altLang="zh-TW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53EB36BC-86E6-25C5-BE19-098545BA06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2624" y="5205637"/>
                <a:ext cx="3117135" cy="400110"/>
              </a:xfrm>
              <a:prstGeom prst="rect">
                <a:avLst/>
              </a:prstGeom>
              <a:blipFill>
                <a:blip r:embed="rId3"/>
                <a:stretch>
                  <a:fillRect l="-1957" t="-10606" b="-242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6A5EFFC1-A256-523E-2B6D-1FC56FF6B39C}"/>
                  </a:ext>
                </a:extLst>
              </p:cNvPr>
              <p:cNvSpPr/>
              <p:nvPr/>
            </p:nvSpPr>
            <p:spPr>
              <a:xfrm>
                <a:off x="5067425" y="5640638"/>
                <a:ext cx="272382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Space Complexity:</a:t>
                </a:r>
                <a:r>
                  <a:rPr lang="zh-TW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solidFill>
                      <a:srgbClr val="0070C0"/>
                    </a:solidFill>
                    <a:latin typeface="Times New Roman" panose="02020603050405020304" pitchFamily="18" charset="0"/>
                  </a:rPr>
                  <a:t>O(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zh-TW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6A5EFFC1-A256-523E-2B6D-1FC56FF6B3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7425" y="5640638"/>
                <a:ext cx="2723823" cy="400110"/>
              </a:xfrm>
              <a:prstGeom prst="rect">
                <a:avLst/>
              </a:prstGeom>
              <a:blipFill>
                <a:blip r:embed="rId4"/>
                <a:stretch>
                  <a:fillRect l="-2237" t="-9091" b="-242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59920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1" grpId="0"/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82328" y="130853"/>
            <a:ext cx="8229600" cy="1143000"/>
          </a:xfrm>
        </p:spPr>
        <p:txBody>
          <a:bodyPr/>
          <a:lstStyle/>
          <a:p>
            <a:r>
              <a:rPr lang="en-US" altLang="zh-TW" dirty="0"/>
              <a:t>Algorithm(1)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739545"/>
              </p:ext>
            </p:extLst>
          </p:nvPr>
        </p:nvGraphicFramePr>
        <p:xfrm>
          <a:off x="107504" y="2492896"/>
          <a:ext cx="2333998" cy="306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955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/>
                        <a:t>L</a:t>
                      </a:r>
                      <a:r>
                        <a:rPr lang="en-US" altLang="zh-TW" sz="3000" baseline="-25000" dirty="0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55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475057"/>
              </p:ext>
            </p:extLst>
          </p:nvPr>
        </p:nvGraphicFramePr>
        <p:xfrm>
          <a:off x="2247741" y="1052736"/>
          <a:ext cx="3908436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002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A(</a:t>
                      </a:r>
                      <a:r>
                        <a:rPr lang="en-US" altLang="zh-TW" dirty="0" err="1"/>
                        <a:t>i</a:t>
                      </a:r>
                      <a:r>
                        <a:rPr lang="en-US" altLang="zh-TW" dirty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B(j)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4</a:t>
            </a:fld>
            <a:endParaRPr lang="zh-TW" altLang="en-US"/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7A2EA4D1-7A50-636A-5767-47F65301A9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222632"/>
              </p:ext>
            </p:extLst>
          </p:nvPr>
        </p:nvGraphicFramePr>
        <p:xfrm>
          <a:off x="2627784" y="2495192"/>
          <a:ext cx="2916324" cy="305975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86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7999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 err="1"/>
                        <a:t>L_index</a:t>
                      </a:r>
                      <a:r>
                        <a:rPr lang="en-US" altLang="zh-TW" sz="3000" baseline="-25000" dirty="0" err="1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067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0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1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84819C5C-7CC2-B2E1-9084-FD8BDA9577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193320"/>
              </p:ext>
            </p:extLst>
          </p:nvPr>
        </p:nvGraphicFramePr>
        <p:xfrm>
          <a:off x="5616117" y="2492896"/>
          <a:ext cx="3450126" cy="319881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75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1821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 err="1"/>
                        <a:t>Prev</a:t>
                      </a:r>
                      <a:r>
                        <a:rPr lang="en-US" altLang="zh-TW" sz="3000" dirty="0"/>
                        <a:t>[</a:t>
                      </a:r>
                      <a:r>
                        <a:rPr lang="en-US" altLang="zh-TW" sz="3000" dirty="0" err="1"/>
                        <a:t>i,j</a:t>
                      </a:r>
                      <a:r>
                        <a:rPr lang="en-US" altLang="zh-TW" sz="3000" dirty="0"/>
                        <a:t>]</a:t>
                      </a:r>
                      <a:endParaRPr lang="zh-TW" alt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821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 </a:t>
                      </a:r>
                    </a:p>
                    <a:p>
                      <a:pPr algn="l"/>
                      <a:r>
                        <a:rPr lang="en-US" altLang="zh-TW" sz="1500" dirty="0" err="1">
                          <a:solidFill>
                            <a:schemeClr val="bg1"/>
                          </a:solidFill>
                        </a:rPr>
                        <a:t>i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5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65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62506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82328" y="130853"/>
            <a:ext cx="8229600" cy="1143000"/>
          </a:xfrm>
        </p:spPr>
        <p:txBody>
          <a:bodyPr/>
          <a:lstStyle/>
          <a:p>
            <a:r>
              <a:rPr lang="en-US" altLang="zh-TW" dirty="0"/>
              <a:t>Algorithm(2)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07504" y="2492896"/>
          <a:ext cx="2333998" cy="306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955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/>
                        <a:t>L</a:t>
                      </a:r>
                      <a:r>
                        <a:rPr lang="en-US" altLang="zh-TW" sz="3000" baseline="-25000" dirty="0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55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188132"/>
              </p:ext>
            </p:extLst>
          </p:nvPr>
        </p:nvGraphicFramePr>
        <p:xfrm>
          <a:off x="2247741" y="1052736"/>
          <a:ext cx="3908436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002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A(</a:t>
                      </a:r>
                      <a:r>
                        <a:rPr lang="en-US" altLang="zh-TW" dirty="0" err="1"/>
                        <a:t>i</a:t>
                      </a:r>
                      <a:r>
                        <a:rPr lang="en-US" altLang="zh-TW" dirty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B(j)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5</a:t>
            </a:fld>
            <a:endParaRPr lang="zh-TW" altLang="en-US"/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7A2EA4D1-7A50-636A-5767-47F65301A91D}"/>
              </a:ext>
            </a:extLst>
          </p:cNvPr>
          <p:cNvGraphicFramePr>
            <a:graphicFrameLocks noGrp="1"/>
          </p:cNvGraphicFramePr>
          <p:nvPr/>
        </p:nvGraphicFramePr>
        <p:xfrm>
          <a:off x="2627784" y="2495192"/>
          <a:ext cx="2916324" cy="305975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86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7999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 err="1"/>
                        <a:t>L_index</a:t>
                      </a:r>
                      <a:r>
                        <a:rPr lang="en-US" altLang="zh-TW" sz="3000" baseline="-25000" dirty="0" err="1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067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0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1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84819C5C-7CC2-B2E1-9084-FD8BDA9577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322646"/>
              </p:ext>
            </p:extLst>
          </p:nvPr>
        </p:nvGraphicFramePr>
        <p:xfrm>
          <a:off x="5616117" y="2492896"/>
          <a:ext cx="3450126" cy="319881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75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1821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 err="1"/>
                        <a:t>Prev</a:t>
                      </a:r>
                      <a:r>
                        <a:rPr lang="en-US" altLang="zh-TW" sz="3000" dirty="0"/>
                        <a:t>[</a:t>
                      </a:r>
                      <a:r>
                        <a:rPr lang="en-US" altLang="zh-TW" sz="3000" dirty="0" err="1"/>
                        <a:t>i,j</a:t>
                      </a:r>
                      <a:r>
                        <a:rPr lang="en-US" altLang="zh-TW" sz="3000" dirty="0"/>
                        <a:t>]</a:t>
                      </a:r>
                      <a:endParaRPr lang="zh-TW" alt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821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 </a:t>
                      </a:r>
                    </a:p>
                    <a:p>
                      <a:pPr algn="l"/>
                      <a:r>
                        <a:rPr lang="en-US" altLang="zh-TW" sz="1500" dirty="0" err="1">
                          <a:solidFill>
                            <a:schemeClr val="bg1"/>
                          </a:solidFill>
                        </a:rPr>
                        <a:t>i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5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65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A3C1FD7-A24E-9AAE-FF1B-302E7BE244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62521"/>
              </p:ext>
            </p:extLst>
          </p:nvPr>
        </p:nvGraphicFramePr>
        <p:xfrm>
          <a:off x="114400" y="2492895"/>
          <a:ext cx="2333998" cy="306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955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/>
                        <a:t>L</a:t>
                      </a:r>
                      <a:r>
                        <a:rPr lang="en-US" altLang="zh-TW" sz="3000" baseline="-25000" dirty="0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55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0708E20-6FFD-BCD5-E953-309E655CB7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258356"/>
              </p:ext>
            </p:extLst>
          </p:nvPr>
        </p:nvGraphicFramePr>
        <p:xfrm>
          <a:off x="2636681" y="2495192"/>
          <a:ext cx="2916324" cy="305975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86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7999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 err="1"/>
                        <a:t>L_index</a:t>
                      </a:r>
                      <a:r>
                        <a:rPr lang="en-US" altLang="zh-TW" sz="3000" baseline="-25000" dirty="0" err="1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067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0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1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(1,3)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(1,3)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(1,5)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78728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82328" y="130853"/>
            <a:ext cx="8229600" cy="1143000"/>
          </a:xfrm>
        </p:spPr>
        <p:txBody>
          <a:bodyPr/>
          <a:lstStyle/>
          <a:p>
            <a:r>
              <a:rPr lang="en-US" altLang="zh-TW" dirty="0"/>
              <a:t>Algorithm(3)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007082"/>
              </p:ext>
            </p:extLst>
          </p:nvPr>
        </p:nvGraphicFramePr>
        <p:xfrm>
          <a:off x="107504" y="2492896"/>
          <a:ext cx="2333998" cy="306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955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/>
                        <a:t>L</a:t>
                      </a:r>
                      <a:r>
                        <a:rPr lang="en-US" altLang="zh-TW" sz="3000" baseline="-25000" dirty="0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55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629152"/>
              </p:ext>
            </p:extLst>
          </p:nvPr>
        </p:nvGraphicFramePr>
        <p:xfrm>
          <a:off x="2247741" y="1052736"/>
          <a:ext cx="3908436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002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A(</a:t>
                      </a:r>
                      <a:r>
                        <a:rPr lang="en-US" altLang="zh-TW" dirty="0" err="1"/>
                        <a:t>i</a:t>
                      </a:r>
                      <a:r>
                        <a:rPr lang="en-US" altLang="zh-TW" dirty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B(j)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6</a:t>
            </a:fld>
            <a:endParaRPr lang="zh-TW" altLang="en-US"/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7A2EA4D1-7A50-636A-5767-47F65301A9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481084"/>
              </p:ext>
            </p:extLst>
          </p:nvPr>
        </p:nvGraphicFramePr>
        <p:xfrm>
          <a:off x="2627784" y="2495192"/>
          <a:ext cx="2916324" cy="305975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86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7999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 err="1"/>
                        <a:t>L_index</a:t>
                      </a:r>
                      <a:r>
                        <a:rPr lang="en-US" altLang="zh-TW" sz="3000" baseline="-25000" dirty="0" err="1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067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0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1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(1,3)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(1,3)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(1,5)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84819C5C-7CC2-B2E1-9084-FD8BDA9577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002227"/>
              </p:ext>
            </p:extLst>
          </p:nvPr>
        </p:nvGraphicFramePr>
        <p:xfrm>
          <a:off x="5616117" y="2492896"/>
          <a:ext cx="3450126" cy="319881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75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1821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 err="1"/>
                        <a:t>Prev</a:t>
                      </a:r>
                      <a:r>
                        <a:rPr lang="en-US" altLang="zh-TW" sz="3000" dirty="0"/>
                        <a:t>[</a:t>
                      </a:r>
                      <a:r>
                        <a:rPr lang="en-US" altLang="zh-TW" sz="3000" dirty="0" err="1"/>
                        <a:t>i,j</a:t>
                      </a:r>
                      <a:r>
                        <a:rPr lang="en-US" altLang="zh-TW" sz="3000" dirty="0"/>
                        <a:t>]</a:t>
                      </a:r>
                      <a:endParaRPr lang="zh-TW" alt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821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 </a:t>
                      </a:r>
                    </a:p>
                    <a:p>
                      <a:pPr algn="l"/>
                      <a:r>
                        <a:rPr lang="en-US" altLang="zh-TW" sz="1500" dirty="0" err="1">
                          <a:solidFill>
                            <a:schemeClr val="bg1"/>
                          </a:solidFill>
                        </a:rPr>
                        <a:t>i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5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65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E52435CF-69EF-4E2C-FADA-A8D51B8C0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12382"/>
              </p:ext>
            </p:extLst>
          </p:nvPr>
        </p:nvGraphicFramePr>
        <p:xfrm>
          <a:off x="104112" y="2492895"/>
          <a:ext cx="2333998" cy="306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955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/>
                        <a:t>L</a:t>
                      </a:r>
                      <a:r>
                        <a:rPr lang="en-US" altLang="zh-TW" sz="3000" baseline="-25000" dirty="0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55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DF2DA74C-64E0-F6D2-A9B7-54659121AA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266680"/>
              </p:ext>
            </p:extLst>
          </p:nvPr>
        </p:nvGraphicFramePr>
        <p:xfrm>
          <a:off x="104112" y="2492894"/>
          <a:ext cx="2333998" cy="306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955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/>
                        <a:t>L</a:t>
                      </a:r>
                      <a:r>
                        <a:rPr lang="en-US" altLang="zh-TW" sz="3000" baseline="-25000" dirty="0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55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1180CCDB-1FC8-FAD4-BB50-743E9FA623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926558"/>
              </p:ext>
            </p:extLst>
          </p:nvPr>
        </p:nvGraphicFramePr>
        <p:xfrm>
          <a:off x="2645786" y="2492894"/>
          <a:ext cx="2916324" cy="305975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86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7999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 err="1"/>
                        <a:t>L_index</a:t>
                      </a:r>
                      <a:r>
                        <a:rPr lang="en-US" altLang="zh-TW" sz="3000" baseline="-25000" dirty="0" err="1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067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0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1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(2,2)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(1,3)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(1,3)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(1,5)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15669E1A-2FF3-28D7-E283-A265B5DF93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3454383"/>
              </p:ext>
            </p:extLst>
          </p:nvPr>
        </p:nvGraphicFramePr>
        <p:xfrm>
          <a:off x="2645786" y="2506179"/>
          <a:ext cx="2916324" cy="305975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86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7999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 err="1"/>
                        <a:t>L_index</a:t>
                      </a:r>
                      <a:r>
                        <a:rPr lang="en-US" altLang="zh-TW" sz="3000" baseline="-25000" dirty="0" err="1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067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0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1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(2,2)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(2,2)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(2,2)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(2,2)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9537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82328" y="130853"/>
            <a:ext cx="8229600" cy="1143000"/>
          </a:xfrm>
        </p:spPr>
        <p:txBody>
          <a:bodyPr/>
          <a:lstStyle/>
          <a:p>
            <a:r>
              <a:rPr lang="en-US" altLang="zh-TW" dirty="0"/>
              <a:t>Algorithm(4)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07504" y="2492896"/>
          <a:ext cx="2333998" cy="306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955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/>
                        <a:t>L</a:t>
                      </a:r>
                      <a:r>
                        <a:rPr lang="en-US" altLang="zh-TW" sz="3000" baseline="-25000" dirty="0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55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041228"/>
              </p:ext>
            </p:extLst>
          </p:nvPr>
        </p:nvGraphicFramePr>
        <p:xfrm>
          <a:off x="2247741" y="1052736"/>
          <a:ext cx="3908436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002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A(</a:t>
                      </a:r>
                      <a:r>
                        <a:rPr lang="en-US" altLang="zh-TW" dirty="0" err="1"/>
                        <a:t>i</a:t>
                      </a:r>
                      <a:r>
                        <a:rPr lang="en-US" altLang="zh-TW" dirty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B(j)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7</a:t>
            </a:fld>
            <a:endParaRPr lang="zh-TW" altLang="en-US"/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7A2EA4D1-7A50-636A-5767-47F65301A9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242029"/>
              </p:ext>
            </p:extLst>
          </p:nvPr>
        </p:nvGraphicFramePr>
        <p:xfrm>
          <a:off x="2627784" y="2495192"/>
          <a:ext cx="2916324" cy="305975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86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7999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 err="1"/>
                        <a:t>L_index</a:t>
                      </a:r>
                      <a:r>
                        <a:rPr lang="en-US" altLang="zh-TW" sz="3000" baseline="-25000" dirty="0" err="1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067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0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1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(2,2)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(2,2)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(2,2)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(2,2)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84819C5C-7CC2-B2E1-9084-FD8BDA9577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92999"/>
              </p:ext>
            </p:extLst>
          </p:nvPr>
        </p:nvGraphicFramePr>
        <p:xfrm>
          <a:off x="5616117" y="2492896"/>
          <a:ext cx="3450126" cy="319881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75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1821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 err="1"/>
                        <a:t>Prev</a:t>
                      </a:r>
                      <a:r>
                        <a:rPr lang="en-US" altLang="zh-TW" sz="3000" dirty="0"/>
                        <a:t>[</a:t>
                      </a:r>
                      <a:r>
                        <a:rPr lang="en-US" altLang="zh-TW" sz="3000" dirty="0" err="1"/>
                        <a:t>i,j</a:t>
                      </a:r>
                      <a:r>
                        <a:rPr lang="en-US" altLang="zh-TW" sz="3000" dirty="0"/>
                        <a:t>]</a:t>
                      </a:r>
                      <a:endParaRPr lang="zh-TW" alt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821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 </a:t>
                      </a:r>
                    </a:p>
                    <a:p>
                      <a:pPr algn="l"/>
                      <a:r>
                        <a:rPr lang="en-US" altLang="zh-TW" sz="1500" dirty="0" err="1">
                          <a:solidFill>
                            <a:schemeClr val="bg1"/>
                          </a:solidFill>
                        </a:rPr>
                        <a:t>i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5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65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B420F304-BFC6-67F2-7C75-F85051D43550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2492896"/>
          <a:ext cx="2333998" cy="306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955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/>
                        <a:t>L</a:t>
                      </a:r>
                      <a:r>
                        <a:rPr lang="en-US" altLang="zh-TW" sz="3000" baseline="-25000" dirty="0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55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DF2DA74C-64E0-F6D2-A9B7-54659121AA26}"/>
              </a:ext>
            </a:extLst>
          </p:cNvPr>
          <p:cNvGraphicFramePr>
            <a:graphicFrameLocks noGrp="1"/>
          </p:cNvGraphicFramePr>
          <p:nvPr/>
        </p:nvGraphicFramePr>
        <p:xfrm>
          <a:off x="109797" y="2492896"/>
          <a:ext cx="2333998" cy="306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955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/>
                        <a:t>L</a:t>
                      </a:r>
                      <a:r>
                        <a:rPr lang="en-US" altLang="zh-TW" sz="3000" baseline="-25000" dirty="0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55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15669E1A-2FF3-28D7-E283-A265B5DF93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41209"/>
              </p:ext>
            </p:extLst>
          </p:nvPr>
        </p:nvGraphicFramePr>
        <p:xfrm>
          <a:off x="2594648" y="2508827"/>
          <a:ext cx="2916324" cy="305975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86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7999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 err="1"/>
                        <a:t>L_index</a:t>
                      </a:r>
                      <a:r>
                        <a:rPr lang="en-US" altLang="zh-TW" sz="3000" baseline="-25000" dirty="0" err="1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067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0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1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(2,2)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(2,2)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(2,2)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(2,2)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5B0CC64-E26E-4B62-2F45-141C406EC6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773338"/>
              </p:ext>
            </p:extLst>
          </p:nvPr>
        </p:nvGraphicFramePr>
        <p:xfrm>
          <a:off x="118949" y="2513457"/>
          <a:ext cx="2333998" cy="306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955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/>
                        <a:t>L</a:t>
                      </a:r>
                      <a:r>
                        <a:rPr lang="en-US" altLang="zh-TW" sz="3000" baseline="-25000" dirty="0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55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CF78BC5-2B30-B001-43E9-9C00B94A1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653924"/>
              </p:ext>
            </p:extLst>
          </p:nvPr>
        </p:nvGraphicFramePr>
        <p:xfrm>
          <a:off x="107504" y="2511160"/>
          <a:ext cx="2333998" cy="306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955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/>
                        <a:t>L</a:t>
                      </a:r>
                      <a:r>
                        <a:rPr lang="en-US" altLang="zh-TW" sz="3000" baseline="-25000" dirty="0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55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88A4068-412F-DB41-2723-199B45715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417928"/>
              </p:ext>
            </p:extLst>
          </p:nvPr>
        </p:nvGraphicFramePr>
        <p:xfrm>
          <a:off x="2611216" y="2508826"/>
          <a:ext cx="2916324" cy="305975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86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7999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 err="1"/>
                        <a:t>L_index</a:t>
                      </a:r>
                      <a:r>
                        <a:rPr lang="en-US" altLang="zh-TW" sz="3000" baseline="-25000" dirty="0" err="1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067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0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1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5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(3,1)</a:t>
                      </a:r>
                      <a:endParaRPr kumimoji="0" lang="zh-TW" altLang="en-US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5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(3,1)</a:t>
                      </a:r>
                      <a:endParaRPr kumimoji="0" lang="zh-TW" altLang="en-US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5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(3,1)</a:t>
                      </a:r>
                      <a:endParaRPr kumimoji="0" lang="zh-TW" altLang="en-US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(3,1)</a:t>
                      </a:r>
                      <a:endParaRPr kumimoji="0" lang="zh-TW" altLang="en-US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3885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82328" y="130853"/>
            <a:ext cx="8229600" cy="1143000"/>
          </a:xfrm>
        </p:spPr>
        <p:txBody>
          <a:bodyPr/>
          <a:lstStyle/>
          <a:p>
            <a:r>
              <a:rPr lang="en-US" altLang="zh-TW" dirty="0"/>
              <a:t>Algorithm(5)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07504" y="2492896"/>
          <a:ext cx="2333998" cy="306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955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/>
                        <a:t>L</a:t>
                      </a:r>
                      <a:r>
                        <a:rPr lang="en-US" altLang="zh-TW" sz="3000" baseline="-25000" dirty="0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55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592042"/>
              </p:ext>
            </p:extLst>
          </p:nvPr>
        </p:nvGraphicFramePr>
        <p:xfrm>
          <a:off x="2247741" y="1052736"/>
          <a:ext cx="3908436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002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A(</a:t>
                      </a:r>
                      <a:r>
                        <a:rPr lang="en-US" altLang="zh-TW" dirty="0" err="1"/>
                        <a:t>i</a:t>
                      </a:r>
                      <a:r>
                        <a:rPr lang="en-US" altLang="zh-TW" dirty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B(j)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8</a:t>
            </a:fld>
            <a:endParaRPr lang="zh-TW" altLang="en-US"/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7A2EA4D1-7A50-636A-5767-47F65301A9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039678"/>
              </p:ext>
            </p:extLst>
          </p:nvPr>
        </p:nvGraphicFramePr>
        <p:xfrm>
          <a:off x="2627784" y="2495192"/>
          <a:ext cx="2916324" cy="305975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86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7999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 err="1"/>
                        <a:t>L_index</a:t>
                      </a:r>
                      <a:r>
                        <a:rPr lang="en-US" altLang="zh-TW" sz="3000" baseline="-25000" dirty="0" err="1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067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0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1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84819C5C-7CC2-B2E1-9084-FD8BDA957712}"/>
              </a:ext>
            </a:extLst>
          </p:cNvPr>
          <p:cNvGraphicFramePr>
            <a:graphicFrameLocks noGrp="1"/>
          </p:cNvGraphicFramePr>
          <p:nvPr/>
        </p:nvGraphicFramePr>
        <p:xfrm>
          <a:off x="5616117" y="2492896"/>
          <a:ext cx="3450126" cy="319881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75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1821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 err="1"/>
                        <a:t>Prev</a:t>
                      </a:r>
                      <a:r>
                        <a:rPr lang="en-US" altLang="zh-TW" sz="3000" dirty="0"/>
                        <a:t>[</a:t>
                      </a:r>
                      <a:r>
                        <a:rPr lang="en-US" altLang="zh-TW" sz="3000" dirty="0" err="1"/>
                        <a:t>i,j</a:t>
                      </a:r>
                      <a:r>
                        <a:rPr lang="en-US" altLang="zh-TW" sz="3000" dirty="0"/>
                        <a:t>]</a:t>
                      </a:r>
                      <a:endParaRPr lang="zh-TW" alt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821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 </a:t>
                      </a:r>
                    </a:p>
                    <a:p>
                      <a:pPr algn="l"/>
                      <a:r>
                        <a:rPr lang="en-US" altLang="zh-TW" sz="1500" dirty="0" err="1">
                          <a:solidFill>
                            <a:schemeClr val="bg1"/>
                          </a:solidFill>
                        </a:rPr>
                        <a:t>i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5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65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B420F304-BFC6-67F2-7C75-F85051D43550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2492896"/>
          <a:ext cx="2333998" cy="306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955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/>
                        <a:t>L</a:t>
                      </a:r>
                      <a:r>
                        <a:rPr lang="en-US" altLang="zh-TW" sz="3000" baseline="-25000" dirty="0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55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DF2DA74C-64E0-F6D2-A9B7-54659121AA26}"/>
              </a:ext>
            </a:extLst>
          </p:cNvPr>
          <p:cNvGraphicFramePr>
            <a:graphicFrameLocks noGrp="1"/>
          </p:cNvGraphicFramePr>
          <p:nvPr/>
        </p:nvGraphicFramePr>
        <p:xfrm>
          <a:off x="109797" y="2492896"/>
          <a:ext cx="2333998" cy="306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955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/>
                        <a:t>L</a:t>
                      </a:r>
                      <a:r>
                        <a:rPr lang="en-US" altLang="zh-TW" sz="3000" baseline="-25000" dirty="0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55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15669E1A-2FF3-28D7-E283-A265B5DF93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976893"/>
              </p:ext>
            </p:extLst>
          </p:nvPr>
        </p:nvGraphicFramePr>
        <p:xfrm>
          <a:off x="2627784" y="2492895"/>
          <a:ext cx="2916324" cy="305975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86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7999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 err="1"/>
                        <a:t>L_index</a:t>
                      </a:r>
                      <a:r>
                        <a:rPr lang="en-US" altLang="zh-TW" sz="3000" baseline="-25000" dirty="0" err="1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067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0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1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(4,3)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(4,3)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(4,5)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5B0CC64-E26E-4B62-2F45-141C406EC6BC}"/>
              </a:ext>
            </a:extLst>
          </p:cNvPr>
          <p:cNvGraphicFramePr>
            <a:graphicFrameLocks noGrp="1"/>
          </p:cNvGraphicFramePr>
          <p:nvPr/>
        </p:nvGraphicFramePr>
        <p:xfrm>
          <a:off x="108653" y="2496336"/>
          <a:ext cx="2333998" cy="306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955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/>
                        <a:t>L</a:t>
                      </a:r>
                      <a:r>
                        <a:rPr lang="en-US" altLang="zh-TW" sz="3000" baseline="-25000" dirty="0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55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CF78BC5-2B30-B001-43E9-9C00B94A1C38}"/>
              </a:ext>
            </a:extLst>
          </p:cNvPr>
          <p:cNvGraphicFramePr>
            <a:graphicFrameLocks noGrp="1"/>
          </p:cNvGraphicFramePr>
          <p:nvPr/>
        </p:nvGraphicFramePr>
        <p:xfrm>
          <a:off x="105211" y="2499776"/>
          <a:ext cx="2333998" cy="306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955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/>
                        <a:t>L</a:t>
                      </a:r>
                      <a:r>
                        <a:rPr lang="en-US" altLang="zh-TW" sz="3000" baseline="-25000" dirty="0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55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C33CDA6-5523-1A56-39F4-71D73DB86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634815"/>
              </p:ext>
            </p:extLst>
          </p:nvPr>
        </p:nvGraphicFramePr>
        <p:xfrm>
          <a:off x="105211" y="2499776"/>
          <a:ext cx="2333998" cy="306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955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/>
                        <a:t>L</a:t>
                      </a:r>
                      <a:r>
                        <a:rPr lang="en-US" altLang="zh-TW" sz="3000" baseline="-25000" dirty="0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55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58CE80C-F7A1-2EC2-4566-963FE7B026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3448585"/>
              </p:ext>
            </p:extLst>
          </p:nvPr>
        </p:nvGraphicFramePr>
        <p:xfrm>
          <a:off x="5628650" y="2492895"/>
          <a:ext cx="3450126" cy="319881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75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1821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 err="1"/>
                        <a:t>Prev</a:t>
                      </a:r>
                      <a:r>
                        <a:rPr lang="en-US" altLang="zh-TW" sz="3000" dirty="0"/>
                        <a:t>[</a:t>
                      </a:r>
                      <a:r>
                        <a:rPr lang="en-US" altLang="zh-TW" sz="3000" dirty="0" err="1"/>
                        <a:t>i,j</a:t>
                      </a:r>
                      <a:r>
                        <a:rPr lang="en-US" altLang="zh-TW" sz="3000" dirty="0"/>
                        <a:t>]</a:t>
                      </a:r>
                      <a:endParaRPr lang="zh-TW" alt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821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 </a:t>
                      </a:r>
                    </a:p>
                    <a:p>
                      <a:pPr algn="l"/>
                      <a:r>
                        <a:rPr lang="en-US" altLang="zh-TW" sz="1500" dirty="0" err="1">
                          <a:solidFill>
                            <a:schemeClr val="bg1"/>
                          </a:solidFill>
                        </a:rPr>
                        <a:t>i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5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65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(3,1)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(3,1)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21125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82328" y="130853"/>
            <a:ext cx="8229600" cy="1143000"/>
          </a:xfrm>
        </p:spPr>
        <p:txBody>
          <a:bodyPr/>
          <a:lstStyle/>
          <a:p>
            <a:r>
              <a:rPr lang="en-US" altLang="zh-TW" dirty="0"/>
              <a:t>Algorithm(6)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07504" y="2492896"/>
          <a:ext cx="2333998" cy="306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955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/>
                        <a:t>L</a:t>
                      </a:r>
                      <a:r>
                        <a:rPr lang="en-US" altLang="zh-TW" sz="3000" baseline="-25000" dirty="0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55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415298"/>
              </p:ext>
            </p:extLst>
          </p:nvPr>
        </p:nvGraphicFramePr>
        <p:xfrm>
          <a:off x="2247741" y="1052736"/>
          <a:ext cx="3908436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002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A(</a:t>
                      </a:r>
                      <a:r>
                        <a:rPr lang="en-US" altLang="zh-TW" dirty="0" err="1"/>
                        <a:t>i</a:t>
                      </a:r>
                      <a:r>
                        <a:rPr lang="en-US" altLang="zh-TW" dirty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B(j)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9</a:t>
            </a:fld>
            <a:endParaRPr lang="zh-TW" altLang="en-US"/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7A2EA4D1-7A50-636A-5767-47F65301A91D}"/>
              </a:ext>
            </a:extLst>
          </p:cNvPr>
          <p:cNvGraphicFramePr>
            <a:graphicFrameLocks noGrp="1"/>
          </p:cNvGraphicFramePr>
          <p:nvPr/>
        </p:nvGraphicFramePr>
        <p:xfrm>
          <a:off x="2627784" y="2495192"/>
          <a:ext cx="2916324" cy="305975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86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7999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 err="1"/>
                        <a:t>L_index</a:t>
                      </a:r>
                      <a:r>
                        <a:rPr lang="en-US" altLang="zh-TW" sz="3000" baseline="-25000" dirty="0" err="1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067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0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1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84819C5C-7CC2-B2E1-9084-FD8BDA957712}"/>
              </a:ext>
            </a:extLst>
          </p:cNvPr>
          <p:cNvGraphicFramePr>
            <a:graphicFrameLocks noGrp="1"/>
          </p:cNvGraphicFramePr>
          <p:nvPr/>
        </p:nvGraphicFramePr>
        <p:xfrm>
          <a:off x="5616117" y="2492896"/>
          <a:ext cx="3450126" cy="319881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75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1821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 err="1"/>
                        <a:t>Prev</a:t>
                      </a:r>
                      <a:r>
                        <a:rPr lang="en-US" altLang="zh-TW" sz="3000" dirty="0"/>
                        <a:t>[</a:t>
                      </a:r>
                      <a:r>
                        <a:rPr lang="en-US" altLang="zh-TW" sz="3000" dirty="0" err="1"/>
                        <a:t>i,j</a:t>
                      </a:r>
                      <a:r>
                        <a:rPr lang="en-US" altLang="zh-TW" sz="3000" dirty="0"/>
                        <a:t>]</a:t>
                      </a:r>
                      <a:endParaRPr lang="zh-TW" alt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821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 </a:t>
                      </a:r>
                    </a:p>
                    <a:p>
                      <a:pPr algn="l"/>
                      <a:r>
                        <a:rPr lang="en-US" altLang="zh-TW" sz="1500" dirty="0" err="1">
                          <a:solidFill>
                            <a:schemeClr val="bg1"/>
                          </a:solidFill>
                        </a:rPr>
                        <a:t>i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5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65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B420F304-BFC6-67F2-7C75-F85051D43550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2492896"/>
          <a:ext cx="2333998" cy="306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955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/>
                        <a:t>L</a:t>
                      </a:r>
                      <a:r>
                        <a:rPr lang="en-US" altLang="zh-TW" sz="3000" baseline="-25000" dirty="0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55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DF2DA74C-64E0-F6D2-A9B7-54659121AA26}"/>
              </a:ext>
            </a:extLst>
          </p:cNvPr>
          <p:cNvGraphicFramePr>
            <a:graphicFrameLocks noGrp="1"/>
          </p:cNvGraphicFramePr>
          <p:nvPr/>
        </p:nvGraphicFramePr>
        <p:xfrm>
          <a:off x="109797" y="2492896"/>
          <a:ext cx="2333998" cy="306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955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/>
                        <a:t>L</a:t>
                      </a:r>
                      <a:r>
                        <a:rPr lang="en-US" altLang="zh-TW" sz="3000" baseline="-25000" dirty="0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55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15669E1A-2FF3-28D7-E283-A265B5DF93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26633"/>
              </p:ext>
            </p:extLst>
          </p:nvPr>
        </p:nvGraphicFramePr>
        <p:xfrm>
          <a:off x="2627784" y="2492895"/>
          <a:ext cx="2916324" cy="305975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86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7999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 err="1"/>
                        <a:t>L_index</a:t>
                      </a:r>
                      <a:r>
                        <a:rPr lang="en-US" altLang="zh-TW" sz="3000" baseline="-25000" dirty="0" err="1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067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0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1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(4,3)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(4,3)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(4,5)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5B0CC64-E26E-4B62-2F45-141C406EC6BC}"/>
              </a:ext>
            </a:extLst>
          </p:cNvPr>
          <p:cNvGraphicFramePr>
            <a:graphicFrameLocks noGrp="1"/>
          </p:cNvGraphicFramePr>
          <p:nvPr/>
        </p:nvGraphicFramePr>
        <p:xfrm>
          <a:off x="108653" y="2496336"/>
          <a:ext cx="2333998" cy="306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955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/>
                        <a:t>L</a:t>
                      </a:r>
                      <a:r>
                        <a:rPr lang="en-US" altLang="zh-TW" sz="3000" baseline="-25000" dirty="0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55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CF78BC5-2B30-B001-43E9-9C00B94A1C38}"/>
              </a:ext>
            </a:extLst>
          </p:cNvPr>
          <p:cNvGraphicFramePr>
            <a:graphicFrameLocks noGrp="1"/>
          </p:cNvGraphicFramePr>
          <p:nvPr/>
        </p:nvGraphicFramePr>
        <p:xfrm>
          <a:off x="105211" y="2499776"/>
          <a:ext cx="2333998" cy="306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955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/>
                        <a:t>L</a:t>
                      </a:r>
                      <a:r>
                        <a:rPr lang="en-US" altLang="zh-TW" sz="3000" baseline="-25000" dirty="0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55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C33CDA6-5523-1A56-39F4-71D73DB86E88}"/>
              </a:ext>
            </a:extLst>
          </p:cNvPr>
          <p:cNvGraphicFramePr>
            <a:graphicFrameLocks noGrp="1"/>
          </p:cNvGraphicFramePr>
          <p:nvPr/>
        </p:nvGraphicFramePr>
        <p:xfrm>
          <a:off x="105211" y="2499776"/>
          <a:ext cx="2333998" cy="306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955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/>
                        <a:t>L</a:t>
                      </a:r>
                      <a:r>
                        <a:rPr lang="en-US" altLang="zh-TW" sz="3000" baseline="-25000" dirty="0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55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58CE80C-F7A1-2EC2-4566-963FE7B026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116223"/>
              </p:ext>
            </p:extLst>
          </p:nvPr>
        </p:nvGraphicFramePr>
        <p:xfrm>
          <a:off x="5628650" y="2492895"/>
          <a:ext cx="3450126" cy="319881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75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1821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 err="1"/>
                        <a:t>Prev</a:t>
                      </a:r>
                      <a:r>
                        <a:rPr lang="en-US" altLang="zh-TW" sz="3000" dirty="0"/>
                        <a:t>[</a:t>
                      </a:r>
                      <a:r>
                        <a:rPr lang="en-US" altLang="zh-TW" sz="3000" dirty="0" err="1"/>
                        <a:t>i,j</a:t>
                      </a:r>
                      <a:r>
                        <a:rPr lang="en-US" altLang="zh-TW" sz="3000" dirty="0"/>
                        <a:t>]</a:t>
                      </a:r>
                      <a:endParaRPr lang="zh-TW" alt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821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 </a:t>
                      </a:r>
                    </a:p>
                    <a:p>
                      <a:pPr algn="l"/>
                      <a:r>
                        <a:rPr lang="en-US" altLang="zh-TW" sz="1500" dirty="0" err="1">
                          <a:solidFill>
                            <a:schemeClr val="bg1"/>
                          </a:solidFill>
                        </a:rPr>
                        <a:t>i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5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65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(3,1)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(3,1)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829E391-3E02-F747-B785-59E2D492C3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925917"/>
              </p:ext>
            </p:extLst>
          </p:nvPr>
        </p:nvGraphicFramePr>
        <p:xfrm>
          <a:off x="100625" y="2499776"/>
          <a:ext cx="2333998" cy="306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955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/>
                        <a:t>L</a:t>
                      </a:r>
                      <a:r>
                        <a:rPr lang="en-US" altLang="zh-TW" sz="3000" baseline="-25000" dirty="0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55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5D363D64-DB6E-6C11-28EF-F4959598CE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956492"/>
              </p:ext>
            </p:extLst>
          </p:nvPr>
        </p:nvGraphicFramePr>
        <p:xfrm>
          <a:off x="2647157" y="2499776"/>
          <a:ext cx="2916324" cy="305975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86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7999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 err="1"/>
                        <a:t>L_index</a:t>
                      </a:r>
                      <a:r>
                        <a:rPr lang="en-US" altLang="zh-TW" sz="3000" baseline="-25000" dirty="0" err="1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067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0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1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(5,2)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(4,3)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(4,3)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(4,5)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5520B8C4-E2DA-E829-A2E1-F8C57847F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230053"/>
              </p:ext>
            </p:extLst>
          </p:nvPr>
        </p:nvGraphicFramePr>
        <p:xfrm>
          <a:off x="85838" y="2506656"/>
          <a:ext cx="2333998" cy="306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955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/>
                        <a:t>L</a:t>
                      </a:r>
                      <a:r>
                        <a:rPr lang="en-US" altLang="zh-TW" sz="3000" baseline="-25000" dirty="0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55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F4129A4D-E55C-E15F-DDCA-2BF94868CD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2666971"/>
              </p:ext>
            </p:extLst>
          </p:nvPr>
        </p:nvGraphicFramePr>
        <p:xfrm>
          <a:off x="2644864" y="2507804"/>
          <a:ext cx="2916324" cy="305975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86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7999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 err="1"/>
                        <a:t>L_index</a:t>
                      </a:r>
                      <a:r>
                        <a:rPr lang="en-US" altLang="zh-TW" sz="3000" baseline="-25000" dirty="0" err="1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067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0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1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(5,2)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5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(5,2)</a:t>
                      </a:r>
                      <a:endParaRPr kumimoji="0" lang="zh-TW" altLang="en-US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5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(5,2)</a:t>
                      </a:r>
                      <a:endParaRPr kumimoji="0" lang="zh-TW" altLang="en-US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(5,2)</a:t>
                      </a:r>
                      <a:endParaRPr kumimoji="0" lang="zh-TW" altLang="en-US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35F25A18-8354-D750-3CB1-A0455B2C15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517691"/>
              </p:ext>
            </p:extLst>
          </p:nvPr>
        </p:nvGraphicFramePr>
        <p:xfrm>
          <a:off x="5633197" y="2506656"/>
          <a:ext cx="3450126" cy="319881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75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1821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 err="1"/>
                        <a:t>Prev</a:t>
                      </a:r>
                      <a:r>
                        <a:rPr lang="en-US" altLang="zh-TW" sz="3000" dirty="0"/>
                        <a:t>[</a:t>
                      </a:r>
                      <a:r>
                        <a:rPr lang="en-US" altLang="zh-TW" sz="3000" dirty="0" err="1"/>
                        <a:t>i,j</a:t>
                      </a:r>
                      <a:r>
                        <a:rPr lang="en-US" altLang="zh-TW" sz="3000" dirty="0"/>
                        <a:t>]</a:t>
                      </a:r>
                      <a:endParaRPr lang="zh-TW" alt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821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 </a:t>
                      </a:r>
                    </a:p>
                    <a:p>
                      <a:pPr algn="l"/>
                      <a:r>
                        <a:rPr lang="en-US" altLang="zh-TW" sz="1500" dirty="0" err="1">
                          <a:solidFill>
                            <a:schemeClr val="bg1"/>
                          </a:solidFill>
                        </a:rPr>
                        <a:t>i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5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65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(3,1)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(3,1)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(3,1)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26024EF9-E8DA-EEA0-AFFD-0BFA173DC7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375520"/>
              </p:ext>
            </p:extLst>
          </p:nvPr>
        </p:nvGraphicFramePr>
        <p:xfrm>
          <a:off x="5635420" y="2513488"/>
          <a:ext cx="3450126" cy="319881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75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1821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 err="1"/>
                        <a:t>Prev</a:t>
                      </a:r>
                      <a:r>
                        <a:rPr lang="en-US" altLang="zh-TW" sz="3000" dirty="0"/>
                        <a:t>[</a:t>
                      </a:r>
                      <a:r>
                        <a:rPr lang="en-US" altLang="zh-TW" sz="3000" dirty="0" err="1"/>
                        <a:t>i,j</a:t>
                      </a:r>
                      <a:r>
                        <a:rPr lang="en-US" altLang="zh-TW" sz="3000" dirty="0"/>
                        <a:t>]</a:t>
                      </a:r>
                      <a:endParaRPr lang="zh-TW" alt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821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 </a:t>
                      </a:r>
                    </a:p>
                    <a:p>
                      <a:pPr algn="l"/>
                      <a:r>
                        <a:rPr lang="en-US" altLang="zh-TW" sz="1500" dirty="0" err="1">
                          <a:solidFill>
                            <a:schemeClr val="bg1"/>
                          </a:solidFill>
                        </a:rPr>
                        <a:t>i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5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65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(3,1)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(3,1)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(3,1)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98899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82328" y="130853"/>
            <a:ext cx="8229600" cy="1143000"/>
          </a:xfrm>
        </p:spPr>
        <p:txBody>
          <a:bodyPr/>
          <a:lstStyle/>
          <a:p>
            <a:r>
              <a:rPr lang="en-US" altLang="zh-TW" dirty="0"/>
              <a:t>Algorithm(7)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07504" y="2492896"/>
          <a:ext cx="2333998" cy="306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955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/>
                        <a:t>L</a:t>
                      </a:r>
                      <a:r>
                        <a:rPr lang="en-US" altLang="zh-TW" sz="3000" baseline="-25000" dirty="0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55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551626"/>
              </p:ext>
            </p:extLst>
          </p:nvPr>
        </p:nvGraphicFramePr>
        <p:xfrm>
          <a:off x="2247741" y="1052736"/>
          <a:ext cx="3908436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83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002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A(</a:t>
                      </a:r>
                      <a:r>
                        <a:rPr lang="en-US" altLang="zh-TW" dirty="0" err="1"/>
                        <a:t>i</a:t>
                      </a:r>
                      <a:r>
                        <a:rPr lang="en-US" altLang="zh-TW" dirty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B(j)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9723D-8CA3-4AF4-BFF5-56C6E9C2D5D6}" type="slidenum">
              <a:rPr lang="zh-TW" altLang="en-US" smtClean="0"/>
              <a:t>10</a:t>
            </a:fld>
            <a:endParaRPr lang="zh-TW" altLang="en-US"/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7A2EA4D1-7A50-636A-5767-47F65301A91D}"/>
              </a:ext>
            </a:extLst>
          </p:cNvPr>
          <p:cNvGraphicFramePr>
            <a:graphicFrameLocks noGrp="1"/>
          </p:cNvGraphicFramePr>
          <p:nvPr/>
        </p:nvGraphicFramePr>
        <p:xfrm>
          <a:off x="2627784" y="2495192"/>
          <a:ext cx="2916324" cy="305975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86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7999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 err="1"/>
                        <a:t>L_index</a:t>
                      </a:r>
                      <a:r>
                        <a:rPr lang="en-US" altLang="zh-TW" sz="3000" baseline="-25000" dirty="0" err="1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067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0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1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84819C5C-7CC2-B2E1-9084-FD8BDA957712}"/>
              </a:ext>
            </a:extLst>
          </p:cNvPr>
          <p:cNvGraphicFramePr>
            <a:graphicFrameLocks noGrp="1"/>
          </p:cNvGraphicFramePr>
          <p:nvPr/>
        </p:nvGraphicFramePr>
        <p:xfrm>
          <a:off x="5616117" y="2492896"/>
          <a:ext cx="3450126" cy="319881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75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1821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 err="1"/>
                        <a:t>Prev</a:t>
                      </a:r>
                      <a:r>
                        <a:rPr lang="en-US" altLang="zh-TW" sz="3000" dirty="0"/>
                        <a:t>[</a:t>
                      </a:r>
                      <a:r>
                        <a:rPr lang="en-US" altLang="zh-TW" sz="3000" dirty="0" err="1"/>
                        <a:t>i,j</a:t>
                      </a:r>
                      <a:r>
                        <a:rPr lang="en-US" altLang="zh-TW" sz="3000" dirty="0"/>
                        <a:t>]</a:t>
                      </a:r>
                      <a:endParaRPr lang="zh-TW" alt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821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 </a:t>
                      </a:r>
                    </a:p>
                    <a:p>
                      <a:pPr algn="l"/>
                      <a:r>
                        <a:rPr lang="en-US" altLang="zh-TW" sz="1500" dirty="0" err="1">
                          <a:solidFill>
                            <a:schemeClr val="bg1"/>
                          </a:solidFill>
                        </a:rPr>
                        <a:t>i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5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65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B420F304-BFC6-67F2-7C75-F85051D43550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2492896"/>
          <a:ext cx="2333998" cy="306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955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/>
                        <a:t>L</a:t>
                      </a:r>
                      <a:r>
                        <a:rPr lang="en-US" altLang="zh-TW" sz="3000" baseline="-25000" dirty="0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55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DF2DA74C-64E0-F6D2-A9B7-54659121AA26}"/>
              </a:ext>
            </a:extLst>
          </p:cNvPr>
          <p:cNvGraphicFramePr>
            <a:graphicFrameLocks noGrp="1"/>
          </p:cNvGraphicFramePr>
          <p:nvPr/>
        </p:nvGraphicFramePr>
        <p:xfrm>
          <a:off x="109797" y="2492896"/>
          <a:ext cx="2333998" cy="306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955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/>
                        <a:t>L</a:t>
                      </a:r>
                      <a:r>
                        <a:rPr lang="en-US" altLang="zh-TW" sz="3000" baseline="-25000" dirty="0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55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15669E1A-2FF3-28D7-E283-A265B5DF9396}"/>
              </a:ext>
            </a:extLst>
          </p:cNvPr>
          <p:cNvGraphicFramePr>
            <a:graphicFrameLocks noGrp="1"/>
          </p:cNvGraphicFramePr>
          <p:nvPr/>
        </p:nvGraphicFramePr>
        <p:xfrm>
          <a:off x="2627784" y="2492895"/>
          <a:ext cx="2916324" cy="305975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86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7999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 err="1"/>
                        <a:t>L_index</a:t>
                      </a:r>
                      <a:r>
                        <a:rPr lang="en-US" altLang="zh-TW" sz="3000" baseline="-25000" dirty="0" err="1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067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0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1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(4,3)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(4,3)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(4,5)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5B0CC64-E26E-4B62-2F45-141C406EC6BC}"/>
              </a:ext>
            </a:extLst>
          </p:cNvPr>
          <p:cNvGraphicFramePr>
            <a:graphicFrameLocks noGrp="1"/>
          </p:cNvGraphicFramePr>
          <p:nvPr/>
        </p:nvGraphicFramePr>
        <p:xfrm>
          <a:off x="108653" y="2496336"/>
          <a:ext cx="2333998" cy="306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955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/>
                        <a:t>L</a:t>
                      </a:r>
                      <a:r>
                        <a:rPr lang="en-US" altLang="zh-TW" sz="3000" baseline="-25000" dirty="0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55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CF78BC5-2B30-B001-43E9-9C00B94A1C38}"/>
              </a:ext>
            </a:extLst>
          </p:cNvPr>
          <p:cNvGraphicFramePr>
            <a:graphicFrameLocks noGrp="1"/>
          </p:cNvGraphicFramePr>
          <p:nvPr/>
        </p:nvGraphicFramePr>
        <p:xfrm>
          <a:off x="105211" y="2499776"/>
          <a:ext cx="2333998" cy="306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955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/>
                        <a:t>L</a:t>
                      </a:r>
                      <a:r>
                        <a:rPr lang="en-US" altLang="zh-TW" sz="3000" baseline="-25000" dirty="0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55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C33CDA6-5523-1A56-39F4-71D73DB86E88}"/>
              </a:ext>
            </a:extLst>
          </p:cNvPr>
          <p:cNvGraphicFramePr>
            <a:graphicFrameLocks noGrp="1"/>
          </p:cNvGraphicFramePr>
          <p:nvPr/>
        </p:nvGraphicFramePr>
        <p:xfrm>
          <a:off x="105211" y="2499776"/>
          <a:ext cx="2333998" cy="306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955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/>
                        <a:t>L</a:t>
                      </a:r>
                      <a:r>
                        <a:rPr lang="en-US" altLang="zh-TW" sz="3000" baseline="-25000" dirty="0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55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58CE80C-F7A1-2EC2-4566-963FE7B026BE}"/>
              </a:ext>
            </a:extLst>
          </p:cNvPr>
          <p:cNvGraphicFramePr>
            <a:graphicFrameLocks noGrp="1"/>
          </p:cNvGraphicFramePr>
          <p:nvPr/>
        </p:nvGraphicFramePr>
        <p:xfrm>
          <a:off x="5628650" y="2492895"/>
          <a:ext cx="3450126" cy="319881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75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1821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 err="1"/>
                        <a:t>Prev</a:t>
                      </a:r>
                      <a:r>
                        <a:rPr lang="en-US" altLang="zh-TW" sz="3000" dirty="0"/>
                        <a:t>[</a:t>
                      </a:r>
                      <a:r>
                        <a:rPr lang="en-US" altLang="zh-TW" sz="3000" dirty="0" err="1"/>
                        <a:t>i,j</a:t>
                      </a:r>
                      <a:r>
                        <a:rPr lang="en-US" altLang="zh-TW" sz="3000" dirty="0"/>
                        <a:t>]</a:t>
                      </a:r>
                      <a:endParaRPr lang="zh-TW" alt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821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 </a:t>
                      </a:r>
                    </a:p>
                    <a:p>
                      <a:pPr algn="l"/>
                      <a:r>
                        <a:rPr lang="en-US" altLang="zh-TW" sz="1500" dirty="0" err="1">
                          <a:solidFill>
                            <a:schemeClr val="bg1"/>
                          </a:solidFill>
                        </a:rPr>
                        <a:t>i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5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65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(3,1)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(3,1)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(3,1)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829E391-3E02-F747-B785-59E2D492C310}"/>
              </a:ext>
            </a:extLst>
          </p:cNvPr>
          <p:cNvGraphicFramePr>
            <a:graphicFrameLocks noGrp="1"/>
          </p:cNvGraphicFramePr>
          <p:nvPr/>
        </p:nvGraphicFramePr>
        <p:xfrm>
          <a:off x="100625" y="2499776"/>
          <a:ext cx="2333998" cy="306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955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/>
                        <a:t>L</a:t>
                      </a:r>
                      <a:r>
                        <a:rPr lang="en-US" altLang="zh-TW" sz="3000" baseline="-25000" dirty="0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55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5D363D64-DB6E-6C11-28EF-F4959598CE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988569"/>
              </p:ext>
            </p:extLst>
          </p:nvPr>
        </p:nvGraphicFramePr>
        <p:xfrm>
          <a:off x="2647157" y="2499776"/>
          <a:ext cx="2916324" cy="305975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86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7999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 err="1"/>
                        <a:t>L_index</a:t>
                      </a:r>
                      <a:r>
                        <a:rPr lang="en-US" altLang="zh-TW" sz="3000" baseline="-25000" dirty="0" err="1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067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0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1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(5,2)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(5,2)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(5,2)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(5,2)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5520B8C4-E2DA-E829-A2E1-F8C57847F2E6}"/>
              </a:ext>
            </a:extLst>
          </p:cNvPr>
          <p:cNvGraphicFramePr>
            <a:graphicFrameLocks noGrp="1"/>
          </p:cNvGraphicFramePr>
          <p:nvPr/>
        </p:nvGraphicFramePr>
        <p:xfrm>
          <a:off x="85838" y="2506656"/>
          <a:ext cx="2333998" cy="306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955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/>
                        <a:t>L</a:t>
                      </a:r>
                      <a:r>
                        <a:rPr lang="en-US" altLang="zh-TW" sz="3000" baseline="-25000" dirty="0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55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F4129A4D-E55C-E15F-DDCA-2BF94868CD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683889"/>
              </p:ext>
            </p:extLst>
          </p:nvPr>
        </p:nvGraphicFramePr>
        <p:xfrm>
          <a:off x="2666575" y="2507804"/>
          <a:ext cx="2916324" cy="305975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86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7999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 err="1"/>
                        <a:t>L_index</a:t>
                      </a:r>
                      <a:r>
                        <a:rPr lang="en-US" altLang="zh-TW" sz="3000" baseline="-25000" dirty="0" err="1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067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0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1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(5,2)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5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(5,2)</a:t>
                      </a:r>
                      <a:endParaRPr kumimoji="0" lang="zh-TW" altLang="en-US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5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(5,2)</a:t>
                      </a:r>
                      <a:endParaRPr kumimoji="0" lang="zh-TW" altLang="en-US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(6,4)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(5,2)</a:t>
                      </a:r>
                      <a:endParaRPr kumimoji="0" lang="zh-TW" altLang="en-US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35F25A18-8354-D750-3CB1-A0455B2C15A0}"/>
              </a:ext>
            </a:extLst>
          </p:cNvPr>
          <p:cNvGraphicFramePr>
            <a:graphicFrameLocks noGrp="1"/>
          </p:cNvGraphicFramePr>
          <p:nvPr/>
        </p:nvGraphicFramePr>
        <p:xfrm>
          <a:off x="5622898" y="2492894"/>
          <a:ext cx="3450126" cy="319881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75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1821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 err="1"/>
                        <a:t>Prev</a:t>
                      </a:r>
                      <a:r>
                        <a:rPr lang="en-US" altLang="zh-TW" sz="3000" dirty="0"/>
                        <a:t>[</a:t>
                      </a:r>
                      <a:r>
                        <a:rPr lang="en-US" altLang="zh-TW" sz="3000" dirty="0" err="1"/>
                        <a:t>i,j</a:t>
                      </a:r>
                      <a:r>
                        <a:rPr lang="en-US" altLang="zh-TW" sz="3000" dirty="0"/>
                        <a:t>]</a:t>
                      </a:r>
                      <a:endParaRPr lang="zh-TW" alt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821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 </a:t>
                      </a:r>
                    </a:p>
                    <a:p>
                      <a:pPr algn="l"/>
                      <a:r>
                        <a:rPr lang="en-US" altLang="zh-TW" sz="1500" dirty="0" err="1">
                          <a:solidFill>
                            <a:schemeClr val="bg1"/>
                          </a:solidFill>
                        </a:rPr>
                        <a:t>i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5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65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(3,1)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(3,1)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(3,1)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(3,1)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26024EF9-E8DA-EEA0-AFFD-0BFA173DC7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045350"/>
              </p:ext>
            </p:extLst>
          </p:nvPr>
        </p:nvGraphicFramePr>
        <p:xfrm>
          <a:off x="5610365" y="2492892"/>
          <a:ext cx="3450126" cy="319881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75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1821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 err="1"/>
                        <a:t>Prev</a:t>
                      </a:r>
                      <a:r>
                        <a:rPr lang="en-US" altLang="zh-TW" sz="3000" dirty="0"/>
                        <a:t>[</a:t>
                      </a:r>
                      <a:r>
                        <a:rPr lang="en-US" altLang="zh-TW" sz="3000" dirty="0" err="1"/>
                        <a:t>i,j</a:t>
                      </a:r>
                      <a:r>
                        <a:rPr lang="en-US" altLang="zh-TW" sz="3000" dirty="0"/>
                        <a:t>]</a:t>
                      </a:r>
                      <a:endParaRPr lang="zh-TW" alt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821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 </a:t>
                      </a:r>
                    </a:p>
                    <a:p>
                      <a:pPr algn="l"/>
                      <a:r>
                        <a:rPr lang="en-US" altLang="zh-TW" sz="1500" dirty="0" err="1">
                          <a:solidFill>
                            <a:schemeClr val="bg1"/>
                          </a:solidFill>
                        </a:rPr>
                        <a:t>i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5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65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(3,1)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(3,1)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(3,1)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A861BB54-20C8-E657-D60C-6B8D97A3D6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309970"/>
              </p:ext>
            </p:extLst>
          </p:nvPr>
        </p:nvGraphicFramePr>
        <p:xfrm>
          <a:off x="80089" y="2520416"/>
          <a:ext cx="2333998" cy="306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955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/>
                        <a:t>L</a:t>
                      </a:r>
                      <a:r>
                        <a:rPr lang="en-US" altLang="zh-TW" sz="3000" baseline="-25000" dirty="0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55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2CFE6319-2687-DBF6-0E54-5FA03799D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140337"/>
              </p:ext>
            </p:extLst>
          </p:nvPr>
        </p:nvGraphicFramePr>
        <p:xfrm>
          <a:off x="5610365" y="2509482"/>
          <a:ext cx="3450126" cy="316563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75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5274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 err="1"/>
                        <a:t>Prev</a:t>
                      </a:r>
                      <a:r>
                        <a:rPr lang="en-US" altLang="zh-TW" sz="3000" dirty="0"/>
                        <a:t>[</a:t>
                      </a:r>
                      <a:r>
                        <a:rPr lang="en-US" altLang="zh-TW" sz="3000" dirty="0" err="1"/>
                        <a:t>i,j</a:t>
                      </a:r>
                      <a:r>
                        <a:rPr lang="en-US" altLang="zh-TW" sz="3000" dirty="0"/>
                        <a:t>]</a:t>
                      </a:r>
                      <a:endParaRPr lang="zh-TW" alt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821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 </a:t>
                      </a:r>
                    </a:p>
                    <a:p>
                      <a:pPr algn="l"/>
                      <a:r>
                        <a:rPr lang="en-US" altLang="zh-TW" sz="1500" dirty="0" err="1">
                          <a:solidFill>
                            <a:schemeClr val="bg1"/>
                          </a:solidFill>
                        </a:rPr>
                        <a:t>i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5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65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(3,1)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(3,1)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(3,1)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(5,2)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CE19D815-FE7B-DB2C-E68E-E1C5FA0FF2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240766"/>
              </p:ext>
            </p:extLst>
          </p:nvPr>
        </p:nvGraphicFramePr>
        <p:xfrm>
          <a:off x="94873" y="2506656"/>
          <a:ext cx="2333998" cy="306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2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955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/>
                        <a:t>L</a:t>
                      </a:r>
                      <a:r>
                        <a:rPr lang="en-US" altLang="zh-TW" sz="3000" baseline="-25000" dirty="0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955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6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1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1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TW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</a:t>
                      </a:r>
                      <a:endParaRPr lang="zh-TW" altLang="en-US" sz="1900" b="0" i="0" u="none" strike="noStrike" dirty="0">
                        <a:solidFill>
                          <a:srgbClr val="222222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900" b="0" i="0" u="none" strike="noStrike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∞</a:t>
                      </a:r>
                    </a:p>
                  </a:txBody>
                  <a:tcPr marL="9525" marR="9525" marT="9525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5A4BC750-AAD2-7941-9F69-559141A373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161342"/>
              </p:ext>
            </p:extLst>
          </p:nvPr>
        </p:nvGraphicFramePr>
        <p:xfrm>
          <a:off x="2651673" y="2515832"/>
          <a:ext cx="2916324" cy="305975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86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60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7999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 err="1"/>
                        <a:t>L_index</a:t>
                      </a:r>
                      <a:r>
                        <a:rPr lang="en-US" altLang="zh-TW" sz="3000" baseline="-25000" dirty="0" err="1"/>
                        <a:t>J</a:t>
                      </a:r>
                      <a:r>
                        <a:rPr lang="en-US" altLang="zh-TW" sz="3000" dirty="0"/>
                        <a:t>[k]</a:t>
                      </a:r>
                      <a:endParaRPr lang="zh-TW" alt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067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K </a:t>
                      </a:r>
                    </a:p>
                    <a:p>
                      <a:pPr algn="l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0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16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(5,2)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5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(5,2)</a:t>
                      </a:r>
                      <a:endParaRPr kumimoji="0" lang="zh-TW" altLang="en-US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5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(5,2)</a:t>
                      </a:r>
                      <a:endParaRPr kumimoji="0" lang="zh-TW" altLang="en-US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(6,4)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16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500" dirty="0"/>
                        <a:t>(3,1)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(5,2)</a:t>
                      </a:r>
                      <a:endParaRPr kumimoji="0" lang="zh-TW" altLang="en-US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(6,4)</a:t>
                      </a: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5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7BA77807-79F2-A644-2F4C-7631F26879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829412"/>
              </p:ext>
            </p:extLst>
          </p:nvPr>
        </p:nvGraphicFramePr>
        <p:xfrm>
          <a:off x="5629679" y="2499776"/>
          <a:ext cx="3450126" cy="316563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75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0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sz="3000" dirty="0" err="1"/>
                        <a:t>Prev</a:t>
                      </a:r>
                      <a:r>
                        <a:rPr lang="en-US" altLang="zh-TW" sz="3000" dirty="0"/>
                        <a:t>[</a:t>
                      </a:r>
                      <a:r>
                        <a:rPr lang="en-US" altLang="zh-TW" sz="3000" dirty="0" err="1"/>
                        <a:t>i,j</a:t>
                      </a:r>
                      <a:r>
                        <a:rPr lang="en-US" altLang="zh-TW" sz="3000" dirty="0"/>
                        <a:t>]</a:t>
                      </a:r>
                      <a:endParaRPr lang="zh-TW" altLang="en-US" sz="3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821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j </a:t>
                      </a:r>
                    </a:p>
                    <a:p>
                      <a:pPr algn="l"/>
                      <a:r>
                        <a:rPr lang="en-US" altLang="zh-TW" sz="1500" dirty="0" err="1">
                          <a:solidFill>
                            <a:schemeClr val="bg1"/>
                          </a:solidFill>
                        </a:rPr>
                        <a:t>i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5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65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(3,1)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(3,1)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(3,1)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3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zh-TW" altLang="en-US" sz="15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panose="02020500000000000000" pitchFamily="18" charset="-120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(5,2)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(−1,−1)</a:t>
                      </a:r>
                      <a:endParaRPr kumimoji="0" lang="zh-TW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58084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圖片 17">
            <a:extLst>
              <a:ext uri="{FF2B5EF4-FFF2-40B4-BE49-F238E27FC236}">
                <a16:creationId xmlns:a16="http://schemas.microsoft.com/office/drawing/2014/main" id="{E3E3F0D2-EBD3-1DEB-02E8-81A687330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6672"/>
            <a:ext cx="7394491" cy="61016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4FEACB3-094F-461D-A6B6-EC7C5485DB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08104" y="729950"/>
                <a:ext cx="3197678" cy="2651539"/>
              </a:xfrm>
              <a:ln>
                <a:solidFill>
                  <a:schemeClr val="tx1"/>
                </a:solidFill>
              </a:ln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1050" i="1" dirty="0"/>
                        <m:t>LIS</m:t>
                      </m:r>
                      <m:r>
                        <m:rPr>
                          <m:nor/>
                        </m:rPr>
                        <a:rPr lang="en-US" altLang="zh-TW" sz="1050" dirty="0"/>
                        <m:t>_</m:t>
                      </m:r>
                      <m:r>
                        <m:rPr>
                          <m:nor/>
                        </m:rPr>
                        <a:rPr lang="en-US" altLang="zh-TW" sz="1050" i="1" dirty="0"/>
                        <m:t>insert</m:t>
                      </m:r>
                      <m:r>
                        <m:rPr>
                          <m:nor/>
                        </m:rPr>
                        <a:rPr lang="en-US" altLang="zh-TW" sz="1050" dirty="0"/>
                        <m:t>(</m:t>
                      </m:r>
                      <m:r>
                        <m:rPr>
                          <m:nor/>
                        </m:rPr>
                        <a:rPr lang="en-US" altLang="zh-TW" sz="1050" dirty="0"/>
                        <m:t>array</m:t>
                      </m:r>
                      <m:r>
                        <m:rPr>
                          <m:nor/>
                        </m:rPr>
                        <a:rPr lang="en-US" altLang="zh-TW" sz="1050" dirty="0"/>
                        <m:t> </m:t>
                      </m:r>
                      <m:r>
                        <m:rPr>
                          <m:nor/>
                        </m:rPr>
                        <a:rPr lang="en-US" altLang="zh-TW" sz="1050" i="1" dirty="0"/>
                        <m:t>L</m:t>
                      </m:r>
                      <m:r>
                        <m:rPr>
                          <m:nor/>
                        </m:rPr>
                        <a:rPr lang="en-US" altLang="zh-TW" sz="1050" dirty="0"/>
                        <m:t>, </m:t>
                      </m:r>
                      <m:r>
                        <m:rPr>
                          <m:nor/>
                        </m:rPr>
                        <a:rPr lang="en-US" altLang="zh-TW" sz="1050" dirty="0"/>
                        <m:t>array</m:t>
                      </m:r>
                      <m:r>
                        <m:rPr>
                          <m:nor/>
                        </m:rPr>
                        <a:rPr lang="en-US" altLang="zh-TW" sz="1050" dirty="0"/>
                        <m:t> </m:t>
                      </m:r>
                      <m:r>
                        <m:rPr>
                          <m:nor/>
                        </m:rPr>
                        <a:rPr lang="en-US" altLang="zh-TW" sz="1050" i="1" dirty="0"/>
                        <m:t>L</m:t>
                      </m:r>
                      <m:r>
                        <m:rPr>
                          <m:nor/>
                        </m:rPr>
                        <a:rPr lang="en-US" altLang="zh-TW" sz="1050" dirty="0"/>
                        <m:t>_</m:t>
                      </m:r>
                      <m:r>
                        <m:rPr>
                          <m:nor/>
                        </m:rPr>
                        <a:rPr lang="en-US" altLang="zh-TW" sz="1050" i="1" dirty="0"/>
                        <m:t>index</m:t>
                      </m:r>
                      <m:r>
                        <m:rPr>
                          <m:nor/>
                        </m:rPr>
                        <a:rPr lang="en-US" altLang="zh-TW" sz="1050" dirty="0"/>
                        <m:t>, </m:t>
                      </m:r>
                      <m:r>
                        <m:rPr>
                          <m:nor/>
                        </m:rPr>
                        <a:rPr lang="en-US" altLang="zh-TW" sz="1050" dirty="0"/>
                        <m:t>array</m:t>
                      </m:r>
                      <m:r>
                        <m:rPr>
                          <m:nor/>
                        </m:rPr>
                        <a:rPr lang="en-US" altLang="zh-TW" sz="1050" dirty="0"/>
                        <m:t> </m:t>
                      </m:r>
                      <m:r>
                        <m:rPr>
                          <m:nor/>
                        </m:rPr>
                        <a:rPr lang="en-US" altLang="zh-TW" sz="1050" i="1" dirty="0"/>
                        <m:t>Prev</m:t>
                      </m:r>
                      <m:r>
                        <m:rPr>
                          <m:nor/>
                        </m:rPr>
                        <a:rPr lang="en-US" altLang="zh-TW" sz="1050" dirty="0"/>
                        <m:t>, </m:t>
                      </m:r>
                      <m:r>
                        <m:rPr>
                          <m:nor/>
                        </m:rPr>
                        <a:rPr lang="en-US" altLang="zh-TW" sz="1050" dirty="0"/>
                        <m:t>element</m:t>
                      </m:r>
                      <m:r>
                        <m:rPr>
                          <m:nor/>
                        </m:rPr>
                        <a:rPr lang="en-US" altLang="zh-TW" sz="1050" dirty="0"/>
                        <m:t> </m:t>
                      </m:r>
                      <m:r>
                        <m:rPr>
                          <m:nor/>
                        </m:rPr>
                        <a:rPr lang="en-US" altLang="zh-TW" sz="1050" i="1" dirty="0"/>
                        <m:t>a</m:t>
                      </m:r>
                      <m:r>
                        <m:rPr>
                          <m:nor/>
                        </m:rPr>
                        <a:rPr lang="en-US" altLang="zh-TW" sz="1050" dirty="0"/>
                        <m:t>, </m:t>
                      </m:r>
                    </m:oMath>
                  </m:oMathPara>
                </a14:m>
                <a:endParaRPr lang="en-US" altLang="zh-TW" sz="1050" dirty="0"/>
              </a:p>
              <a:p>
                <a:pPr marL="0" indent="0">
                  <a:buNone/>
                </a:pPr>
                <a:r>
                  <a:rPr lang="sv-SE" altLang="zh-TW" sz="1050" dirty="0"/>
                  <a:t>             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sv-SE" altLang="zh-TW" sz="1050" dirty="0"/>
                      <m:t>integer</m:t>
                    </m:r>
                    <m:r>
                      <m:rPr>
                        <m:nor/>
                      </m:rPr>
                      <a:rPr lang="sv-SE" altLang="zh-TW" sz="1050" dirty="0"/>
                      <m:t> </m:t>
                    </m:r>
                    <m:r>
                      <m:rPr>
                        <m:nor/>
                      </m:rPr>
                      <a:rPr lang="sv-SE" altLang="zh-TW" sz="1050" i="1" dirty="0"/>
                      <m:t>p</m:t>
                    </m:r>
                    <m:r>
                      <m:rPr>
                        <m:nor/>
                      </m:rPr>
                      <a:rPr lang="sv-SE" altLang="zh-TW" sz="1050" dirty="0"/>
                      <m:t>, </m:t>
                    </m:r>
                    <m:r>
                      <m:rPr>
                        <m:nor/>
                      </m:rPr>
                      <a:rPr lang="sv-SE" altLang="zh-TW" sz="1050" dirty="0"/>
                      <m:t>integer</m:t>
                    </m:r>
                    <m:r>
                      <m:rPr>
                        <m:nor/>
                      </m:rPr>
                      <a:rPr lang="sv-SE" altLang="zh-TW" sz="1050" dirty="0"/>
                      <m:t> </m:t>
                    </m:r>
                    <m:r>
                      <m:rPr>
                        <m:nor/>
                      </m:rPr>
                      <a:rPr lang="sv-SE" altLang="zh-TW" sz="1050" i="1" dirty="0"/>
                      <m:t>i</m:t>
                    </m:r>
                    <m:r>
                      <m:rPr>
                        <m:nor/>
                      </m:rPr>
                      <a:rPr lang="sv-SE" altLang="zh-TW" sz="1050" dirty="0"/>
                      <m:t>, </m:t>
                    </m:r>
                    <m:r>
                      <m:rPr>
                        <m:nor/>
                      </m:rPr>
                      <a:rPr lang="sv-SE" altLang="zh-TW" sz="1050" dirty="0"/>
                      <m:t>integer</m:t>
                    </m:r>
                    <m:r>
                      <m:rPr>
                        <m:nor/>
                      </m:rPr>
                      <a:rPr lang="sv-SE" altLang="zh-TW" sz="1050" dirty="0"/>
                      <m:t> </m:t>
                    </m:r>
                    <m:r>
                      <m:rPr>
                        <m:nor/>
                      </m:rPr>
                      <a:rPr lang="sv-SE" altLang="zh-TW" sz="1050" i="1" dirty="0"/>
                      <m:t>j</m:t>
                    </m:r>
                    <m:r>
                      <m:rPr>
                        <m:nor/>
                      </m:rPr>
                      <a:rPr lang="sv-SE" altLang="zh-TW" sz="1050" i="1" dirty="0"/>
                      <m:t> </m:t>
                    </m:r>
                    <m:r>
                      <m:rPr>
                        <m:nor/>
                      </m:rPr>
                      <a:rPr lang="sv-SE" altLang="zh-TW" sz="1050" dirty="0"/>
                      <m:t>)</m:t>
                    </m:r>
                  </m:oMath>
                </a14:m>
                <a:endParaRPr lang="sv-SE" altLang="zh-TW" sz="1050" dirty="0"/>
              </a:p>
              <a:p>
                <a:pPr marL="385763" indent="-385763"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1050" i="1" dirty="0"/>
                      <m:t>x</m:t>
                    </m:r>
                    <m:r>
                      <a:rPr lang="en-US" altLang="zh-TW" sz="1050" i="1" dirty="0"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nor/>
                      </m:rPr>
                      <a:rPr lang="en-US" altLang="zh-TW" sz="1050" i="1" dirty="0"/>
                      <m:t>p</m:t>
                    </m:r>
                  </m:oMath>
                </a14:m>
                <a:endParaRPr lang="en-US" altLang="zh-TW" sz="1050" i="1" dirty="0"/>
              </a:p>
              <a:p>
                <a:pPr marL="385763" indent="-385763"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1050" b="1" dirty="0"/>
                      <m:t>while</m:t>
                    </m:r>
                    <m:r>
                      <m:rPr>
                        <m:nor/>
                      </m:rPr>
                      <a:rPr lang="en-US" altLang="zh-TW" sz="1050" b="1" dirty="0"/>
                      <m:t> </m:t>
                    </m:r>
                    <m:r>
                      <m:rPr>
                        <m:nor/>
                      </m:rPr>
                      <a:rPr lang="en-US" altLang="zh-TW" sz="1050" dirty="0"/>
                      <m:t>(</m:t>
                    </m:r>
                    <m:r>
                      <m:rPr>
                        <m:nor/>
                      </m:rPr>
                      <a:rPr lang="en-US" altLang="zh-TW" sz="1050" i="1" dirty="0"/>
                      <m:t>L</m:t>
                    </m:r>
                    <m:r>
                      <m:rPr>
                        <m:nor/>
                      </m:rPr>
                      <a:rPr lang="en-US" altLang="zh-TW" sz="1050" dirty="0"/>
                      <m:t>[</m:t>
                    </m:r>
                    <m:r>
                      <m:rPr>
                        <m:nor/>
                      </m:rPr>
                      <a:rPr lang="en-US" altLang="zh-TW" sz="1050" i="1" dirty="0"/>
                      <m:t>x</m:t>
                    </m:r>
                    <m:r>
                      <m:rPr>
                        <m:nor/>
                      </m:rPr>
                      <a:rPr lang="en-US" altLang="zh-TW" sz="1050" dirty="0"/>
                      <m:t>] </m:t>
                    </m:r>
                    <m:r>
                      <m:rPr>
                        <m:nor/>
                      </m:rPr>
                      <a:rPr lang="en-US" altLang="zh-TW" sz="1050" i="1" dirty="0"/>
                      <m:t>&lt; </m:t>
                    </m:r>
                    <m:r>
                      <m:rPr>
                        <m:nor/>
                      </m:rPr>
                      <a:rPr lang="en-US" altLang="zh-TW" sz="1050" i="1" dirty="0"/>
                      <m:t>a</m:t>
                    </m:r>
                    <m:r>
                      <m:rPr>
                        <m:nor/>
                      </m:rPr>
                      <a:rPr lang="en-US" altLang="zh-TW" sz="1050" dirty="0"/>
                      <m:t>) </m:t>
                    </m:r>
                    <m:r>
                      <m:rPr>
                        <m:nor/>
                      </m:rPr>
                      <a:rPr lang="en-US" altLang="zh-TW" sz="1050" b="1" dirty="0"/>
                      <m:t>do</m:t>
                    </m:r>
                  </m:oMath>
                </a14:m>
                <a:endParaRPr lang="en-US" altLang="zh-TW" sz="1050" b="1" dirty="0"/>
              </a:p>
              <a:p>
                <a:pPr marL="385763" indent="-385763">
                  <a:buAutoNum type="arabicPeriod"/>
                </a:pPr>
                <a:r>
                  <a:rPr lang="zh-TW" altLang="en-US" sz="1050" dirty="0"/>
                  <a:t> </a:t>
                </a:r>
                <a14:m>
                  <m:oMath xmlns:m="http://schemas.openxmlformats.org/officeDocument/2006/math">
                    <m:r>
                      <a:rPr lang="zh-TW" altLang="en-US" sz="1050" i="1" dirty="0">
                        <a:latin typeface="Cambria Math" panose="02040503050406030204" pitchFamily="18" charset="0"/>
                      </a:rPr>
                      <m:t>       </m:t>
                    </m:r>
                    <m:r>
                      <m:rPr>
                        <m:nor/>
                      </m:rPr>
                      <a:rPr lang="en-US" altLang="zh-TW" sz="1050" dirty="0"/>
                      <m:t> </m:t>
                    </m:r>
                    <m:r>
                      <m:rPr>
                        <m:nor/>
                      </m:rPr>
                      <a:rPr lang="en-US" altLang="zh-TW" sz="1050" i="1" dirty="0"/>
                      <m:t>x</m:t>
                    </m:r>
                    <m:r>
                      <a:rPr lang="en-US" altLang="zh-TW" sz="1050" i="1" dirty="0"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nor/>
                      </m:rPr>
                      <a:rPr lang="en-US" altLang="zh-TW" sz="1050" i="1" dirty="0"/>
                      <m:t>x</m:t>
                    </m:r>
                    <m:r>
                      <m:rPr>
                        <m:nor/>
                      </m:rPr>
                      <a:rPr lang="en-US" altLang="zh-TW" sz="1050" i="1" dirty="0"/>
                      <m:t> </m:t>
                    </m:r>
                    <m:r>
                      <m:rPr>
                        <m:nor/>
                      </m:rPr>
                      <a:rPr lang="en-US" altLang="zh-TW" sz="1050" dirty="0"/>
                      <m:t>+ 1</m:t>
                    </m:r>
                  </m:oMath>
                </a14:m>
                <a:endParaRPr lang="en-US" altLang="zh-TW" sz="1050" dirty="0"/>
              </a:p>
              <a:p>
                <a:pPr marL="385763" indent="-385763"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1050" i="1" dirty="0"/>
                      <m:t>L</m:t>
                    </m:r>
                    <m:r>
                      <m:rPr>
                        <m:nor/>
                      </m:rPr>
                      <a:rPr lang="en-US" altLang="zh-TW" sz="1050" dirty="0"/>
                      <m:t>[</m:t>
                    </m:r>
                    <m:r>
                      <m:rPr>
                        <m:nor/>
                      </m:rPr>
                      <a:rPr lang="en-US" altLang="zh-TW" sz="1050" i="1" dirty="0"/>
                      <m:t>x</m:t>
                    </m:r>
                    <m:r>
                      <m:rPr>
                        <m:nor/>
                      </m:rPr>
                      <a:rPr lang="en-US" altLang="zh-TW" sz="1050" dirty="0"/>
                      <m:t>]</m:t>
                    </m:r>
                    <m:r>
                      <a:rPr lang="en-US" altLang="zh-TW" sz="1050" i="1" dirty="0"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nor/>
                      </m:rPr>
                      <a:rPr lang="en-US" altLang="zh-TW" sz="1050" i="1" dirty="0"/>
                      <m:t>a</m:t>
                    </m:r>
                  </m:oMath>
                </a14:m>
                <a:endParaRPr lang="en-US" altLang="zh-TW" sz="1050" i="1" dirty="0"/>
              </a:p>
              <a:p>
                <a:pPr marL="385763" indent="-385763"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1050" i="1" dirty="0" err="1"/>
                      <m:t>L</m:t>
                    </m:r>
                    <m:r>
                      <m:rPr>
                        <m:nor/>
                      </m:rPr>
                      <a:rPr lang="en-US" altLang="zh-TW" sz="1050" dirty="0" err="1"/>
                      <m:t>_</m:t>
                    </m:r>
                    <m:r>
                      <m:rPr>
                        <m:nor/>
                      </m:rPr>
                      <a:rPr lang="en-US" altLang="zh-TW" sz="1050" i="1" dirty="0" err="1"/>
                      <m:t>index</m:t>
                    </m:r>
                    <m:r>
                      <m:rPr>
                        <m:nor/>
                      </m:rPr>
                      <a:rPr lang="en-US" altLang="zh-TW" sz="1050" dirty="0"/>
                      <m:t>[</m:t>
                    </m:r>
                    <m:r>
                      <m:rPr>
                        <m:nor/>
                      </m:rPr>
                      <a:rPr lang="en-US" altLang="zh-TW" sz="1050" i="1" dirty="0"/>
                      <m:t>x</m:t>
                    </m:r>
                    <m:r>
                      <m:rPr>
                        <m:nor/>
                      </m:rPr>
                      <a:rPr lang="en-US" altLang="zh-TW" sz="1050" dirty="0"/>
                      <m:t>]</m:t>
                    </m:r>
                    <m:r>
                      <a:rPr lang="en-US" altLang="zh-TW" sz="1050" i="1" dirty="0">
                        <a:latin typeface="Cambria Math" panose="02040503050406030204" pitchFamily="18" charset="0"/>
                      </a:rPr>
                      <m:t> ≔ </m:t>
                    </m:r>
                    <m:r>
                      <m:rPr>
                        <m:nor/>
                      </m:rPr>
                      <a:rPr lang="en-US" altLang="zh-TW" sz="1050" i="1" dirty="0"/>
                      <m:t>(</m:t>
                    </m:r>
                    <m:r>
                      <m:rPr>
                        <m:nor/>
                      </m:rPr>
                      <a:rPr lang="en-US" altLang="zh-TW" sz="1050" i="1" dirty="0" err="1"/>
                      <m:t>i</m:t>
                    </m:r>
                    <m:r>
                      <m:rPr>
                        <m:nor/>
                      </m:rPr>
                      <a:rPr lang="en-US" altLang="zh-TW" sz="1050" i="1" dirty="0"/>
                      <m:t>, </m:t>
                    </m:r>
                    <m:r>
                      <m:rPr>
                        <m:nor/>
                      </m:rPr>
                      <a:rPr lang="en-US" altLang="zh-TW" sz="1050" i="1" dirty="0"/>
                      <m:t>j</m:t>
                    </m:r>
                    <m:r>
                      <m:rPr>
                        <m:nor/>
                      </m:rPr>
                      <a:rPr lang="en-US" altLang="zh-TW" sz="1050" i="1" dirty="0"/>
                      <m:t>)</m:t>
                    </m:r>
                  </m:oMath>
                </a14:m>
                <a:endParaRPr lang="en-US" altLang="zh-TW" sz="1050" i="1" dirty="0"/>
              </a:p>
              <a:p>
                <a:pPr marL="385763" indent="-385763"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1050" b="1" dirty="0"/>
                      <m:t>if</m:t>
                    </m:r>
                    <m:r>
                      <m:rPr>
                        <m:nor/>
                      </m:rPr>
                      <a:rPr lang="en-US" altLang="zh-TW" sz="1050" b="1" dirty="0"/>
                      <m:t> </m:t>
                    </m:r>
                    <m:r>
                      <m:rPr>
                        <m:nor/>
                      </m:rPr>
                      <a:rPr lang="en-US" altLang="zh-TW" sz="1050" i="1" dirty="0"/>
                      <m:t>(</m:t>
                    </m:r>
                    <m:r>
                      <m:rPr>
                        <m:nor/>
                      </m:rPr>
                      <a:rPr lang="en-US" altLang="zh-TW" sz="1050" i="1" dirty="0"/>
                      <m:t>x</m:t>
                    </m:r>
                    <m:r>
                      <m:rPr>
                        <m:nor/>
                      </m:rPr>
                      <a:rPr lang="en-US" altLang="zh-TW" sz="1050" i="1" dirty="0"/>
                      <m:t> </m:t>
                    </m:r>
                    <m:r>
                      <m:rPr>
                        <m:nor/>
                      </m:rPr>
                      <a:rPr lang="en-US" altLang="zh-TW" sz="1050" dirty="0"/>
                      <m:t>= 1</m:t>
                    </m:r>
                    <m:r>
                      <m:rPr>
                        <m:nor/>
                      </m:rPr>
                      <a:rPr lang="en-US" altLang="zh-TW" sz="1050" i="1" dirty="0"/>
                      <m:t>) </m:t>
                    </m:r>
                    <m:r>
                      <m:rPr>
                        <m:nor/>
                      </m:rPr>
                      <a:rPr lang="en-US" altLang="zh-TW" sz="1050" b="1" dirty="0"/>
                      <m:t>then</m:t>
                    </m:r>
                  </m:oMath>
                </a14:m>
                <a:endParaRPr lang="en-US" altLang="zh-TW" sz="1050" b="1" dirty="0"/>
              </a:p>
              <a:p>
                <a:pPr marL="385763" indent="-385763">
                  <a:buAutoNum type="arabicPeriod"/>
                </a:pPr>
                <a:r>
                  <a:rPr lang="zh-TW" altLang="en-US" sz="1050" dirty="0"/>
                  <a:t> </a:t>
                </a:r>
                <a14:m>
                  <m:oMath xmlns:m="http://schemas.openxmlformats.org/officeDocument/2006/math">
                    <m:r>
                      <a:rPr lang="zh-TW" altLang="en-US" sz="1050" i="1" dirty="0">
                        <a:latin typeface="Cambria Math" panose="02040503050406030204" pitchFamily="18" charset="0"/>
                      </a:rPr>
                      <m:t>         </m:t>
                    </m:r>
                    <m:r>
                      <m:rPr>
                        <m:nor/>
                      </m:rPr>
                      <a:rPr lang="en-US" altLang="zh-TW" sz="1050" i="1" dirty="0" err="1"/>
                      <m:t>Prev</m:t>
                    </m:r>
                    <m:r>
                      <m:rPr>
                        <m:nor/>
                      </m:rPr>
                      <a:rPr lang="en-US" altLang="zh-TW" sz="1050" dirty="0"/>
                      <m:t>[</m:t>
                    </m:r>
                    <m:r>
                      <m:rPr>
                        <m:nor/>
                      </m:rPr>
                      <a:rPr lang="en-US" altLang="zh-TW" sz="1050" i="1" dirty="0" err="1"/>
                      <m:t>i</m:t>
                    </m:r>
                    <m:r>
                      <m:rPr>
                        <m:nor/>
                      </m:rPr>
                      <a:rPr lang="en-US" altLang="zh-TW" sz="1050" i="1" dirty="0"/>
                      <m:t>, </m:t>
                    </m:r>
                    <m:r>
                      <m:rPr>
                        <m:nor/>
                      </m:rPr>
                      <a:rPr lang="en-US" altLang="zh-TW" sz="1050" i="1" dirty="0"/>
                      <m:t>j</m:t>
                    </m:r>
                    <m:r>
                      <m:rPr>
                        <m:nor/>
                      </m:rPr>
                      <a:rPr lang="en-US" altLang="zh-TW" sz="1050" dirty="0"/>
                      <m:t>]</m:t>
                    </m:r>
                    <m:r>
                      <a:rPr lang="en-US" altLang="zh-TW" sz="1050" i="1" dirty="0"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nor/>
                      </m:rPr>
                      <a:rPr lang="en-US" altLang="zh-TW" sz="1050" i="1" dirty="0" err="1"/>
                      <m:t>L</m:t>
                    </m:r>
                    <m:r>
                      <m:rPr>
                        <m:nor/>
                      </m:rPr>
                      <a:rPr lang="en-US" altLang="zh-TW" sz="1050" dirty="0" err="1"/>
                      <m:t>_</m:t>
                    </m:r>
                    <m:r>
                      <m:rPr>
                        <m:nor/>
                      </m:rPr>
                      <a:rPr lang="en-US" altLang="zh-TW" sz="1050" i="1" dirty="0" err="1"/>
                      <m:t>index</m:t>
                    </m:r>
                    <m:r>
                      <m:rPr>
                        <m:nor/>
                      </m:rPr>
                      <a:rPr lang="en-US" altLang="zh-TW" sz="1050" dirty="0"/>
                      <m:t>[</m:t>
                    </m:r>
                    <m:r>
                      <m:rPr>
                        <m:nor/>
                      </m:rPr>
                      <a:rPr lang="en-US" altLang="zh-TW" sz="1050" i="1" dirty="0"/>
                      <m:t>x</m:t>
                    </m:r>
                    <m:r>
                      <m:rPr>
                        <m:nor/>
                      </m:rPr>
                      <a:rPr lang="en-US" altLang="zh-TW" sz="1050" i="1" dirty="0"/>
                      <m:t> </m:t>
                    </m:r>
                    <m:r>
                      <m:rPr>
                        <m:nor/>
                      </m:rPr>
                      <a:rPr lang="en-US" altLang="zh-TW" sz="1050" dirty="0"/>
                      <m:t>− 1]</m:t>
                    </m:r>
                  </m:oMath>
                </a14:m>
                <a:endParaRPr lang="en-US" altLang="zh-TW" sz="1050" dirty="0"/>
              </a:p>
              <a:p>
                <a:pPr marL="385763" indent="-385763"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1050" b="1" dirty="0"/>
                      <m:t>return</m:t>
                    </m:r>
                    <m:r>
                      <m:rPr>
                        <m:nor/>
                      </m:rPr>
                      <a:rPr lang="en-US" altLang="zh-TW" sz="1050" b="1" dirty="0"/>
                      <m:t> </m:t>
                    </m:r>
                    <m:r>
                      <m:rPr>
                        <m:nor/>
                      </m:rPr>
                      <a:rPr lang="en-US" altLang="zh-TW" sz="1050" i="1" dirty="0"/>
                      <m:t>x</m:t>
                    </m:r>
                  </m:oMath>
                </a14:m>
                <a:endParaRPr lang="zh-TW" altLang="en-US" sz="1050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4FEACB3-094F-461D-A6B6-EC7C5485DB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08104" y="729950"/>
                <a:ext cx="3197678" cy="2651539"/>
              </a:xfr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251346F9-05C1-4B79-B96E-1D923A7BF8F9}"/>
              </a:ext>
            </a:extLst>
          </p:cNvPr>
          <p:cNvCxnSpPr>
            <a:cxnSpLocks/>
          </p:cNvCxnSpPr>
          <p:nvPr/>
        </p:nvCxnSpPr>
        <p:spPr>
          <a:xfrm flipV="1">
            <a:off x="3790081" y="2492896"/>
            <a:ext cx="1563837" cy="81093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9CF1C9B4-D1E2-6BA8-C0D2-300CF3D02DF9}"/>
              </a:ext>
            </a:extLst>
          </p:cNvPr>
          <p:cNvSpPr txBox="1"/>
          <p:nvPr/>
        </p:nvSpPr>
        <p:spPr>
          <a:xfrm>
            <a:off x="4075735" y="2970926"/>
            <a:ext cx="6062415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800" dirty="0">
                <a:solidFill>
                  <a:srgbClr val="00B050"/>
                </a:solidFill>
                <a:latin typeface="Times New Roman" panose="02020603050405020304" pitchFamily="18" charset="0"/>
              </a:rPr>
              <a:t>//match case: linear search from index p to insert point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CD8B7940-E8CE-8E3A-CEBF-4816F327ACE7}"/>
                  </a:ext>
                </a:extLst>
              </p:cNvPr>
              <p:cNvSpPr/>
              <p:nvPr/>
            </p:nvSpPr>
            <p:spPr>
              <a:xfrm>
                <a:off x="5508104" y="5085184"/>
                <a:ext cx="339266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Complexity:</a:t>
                </a:r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solidFill>
                      <a:srgbClr val="0070C0"/>
                    </a:solidFill>
                    <a:latin typeface="Times New Roman" panose="02020603050405020304" pitchFamily="18" charset="0"/>
                  </a:rPr>
                  <a:t>O(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mn</m:t>
                    </m:r>
                    <m:r>
                      <a:rPr lang="en-US" altLang="zh-TW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CD8B7940-E8CE-8E3A-CEBF-4816F327AC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5085184"/>
                <a:ext cx="3392660" cy="461665"/>
              </a:xfrm>
              <a:prstGeom prst="rect">
                <a:avLst/>
              </a:prstGeom>
              <a:blipFill>
                <a:blip r:embed="rId5"/>
                <a:stretch>
                  <a:fillRect l="-2878" t="-11842" r="-719" b="-27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42EC60B9-4667-4C73-ACFE-6197537C45EA}"/>
                  </a:ext>
                </a:extLst>
              </p:cNvPr>
              <p:cNvSpPr/>
              <p:nvPr/>
            </p:nvSpPr>
            <p:spPr>
              <a:xfrm>
                <a:off x="5508104" y="5546849"/>
                <a:ext cx="349005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Space Complexity:</a:t>
                </a:r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solidFill>
                      <a:srgbClr val="0070C0"/>
                    </a:solidFill>
                    <a:latin typeface="Times New Roman" panose="02020603050405020304" pitchFamily="18" charset="0"/>
                  </a:rPr>
                  <a:t>O(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mn</m:t>
                    </m:r>
                    <m:r>
                      <a:rPr lang="en-US" altLang="zh-TW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42EC60B9-4667-4C73-ACFE-6197537C45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5546849"/>
                <a:ext cx="3490058" cy="461665"/>
              </a:xfrm>
              <a:prstGeom prst="rect">
                <a:avLst/>
              </a:prstGeom>
              <a:blipFill>
                <a:blip r:embed="rId6"/>
                <a:stretch>
                  <a:fillRect l="-2797" t="-11842" r="-699" b="-27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22648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3587</TotalTime>
  <Words>6348</Words>
  <Application>Microsoft Office PowerPoint</Application>
  <PresentationFormat>如螢幕大小 (4:3)</PresentationFormat>
  <Paragraphs>2627</Paragraphs>
  <Slides>11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20" baseType="lpstr">
      <vt:lpstr>Calibri (本文)</vt:lpstr>
      <vt:lpstr>Microsoft Yahei</vt:lpstr>
      <vt:lpstr>Noto Sans TC</vt:lpstr>
      <vt:lpstr>Arial</vt:lpstr>
      <vt:lpstr>Arial</vt:lpstr>
      <vt:lpstr>Calibri</vt:lpstr>
      <vt:lpstr>Cambria Math</vt:lpstr>
      <vt:lpstr>Times New Roman</vt:lpstr>
      <vt:lpstr>Office 佈景主題</vt:lpstr>
      <vt:lpstr>A Fast Algorithm for Computing A Longest Common Increasing Subsequence</vt:lpstr>
      <vt:lpstr>Abstract</vt:lpstr>
      <vt:lpstr>Folklore Algorithm for LIS</vt:lpstr>
      <vt:lpstr>Algorithm(1)</vt:lpstr>
      <vt:lpstr>Algorithm(2)</vt:lpstr>
      <vt:lpstr>Algorithm(3)</vt:lpstr>
      <vt:lpstr>Algorithm(4)</vt:lpstr>
      <vt:lpstr>Algorithm(5)</vt:lpstr>
      <vt:lpstr>Algorithm(6)</vt:lpstr>
      <vt:lpstr>Algorithm(7)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李健廷</dc:creator>
  <cp:lastModifiedBy>pplab</cp:lastModifiedBy>
  <cp:revision>211</cp:revision>
  <dcterms:created xsi:type="dcterms:W3CDTF">2022-02-04T17:32:31Z</dcterms:created>
  <dcterms:modified xsi:type="dcterms:W3CDTF">2022-09-20T11:35:06Z</dcterms:modified>
</cp:coreProperties>
</file>