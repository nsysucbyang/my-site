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22"/>
  </p:notesMasterIdLst>
  <p:sldIdLst>
    <p:sldId id="256" r:id="rId2"/>
    <p:sldId id="257" r:id="rId3"/>
    <p:sldId id="282" r:id="rId4"/>
    <p:sldId id="283" r:id="rId5"/>
    <p:sldId id="286" r:id="rId6"/>
    <p:sldId id="285" r:id="rId7"/>
    <p:sldId id="288" r:id="rId8"/>
    <p:sldId id="287" r:id="rId9"/>
    <p:sldId id="290" r:id="rId10"/>
    <p:sldId id="294" r:id="rId11"/>
    <p:sldId id="291" r:id="rId12"/>
    <p:sldId id="295" r:id="rId13"/>
    <p:sldId id="289" r:id="rId14"/>
    <p:sldId id="292" r:id="rId15"/>
    <p:sldId id="293" r:id="rId16"/>
    <p:sldId id="284" r:id="rId17"/>
    <p:sldId id="297" r:id="rId18"/>
    <p:sldId id="296" r:id="rId19"/>
    <p:sldId id="281" r:id="rId20"/>
    <p:sldId id="298" r:id="rId2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97"/>
    <p:restoredTop sz="94650"/>
  </p:normalViewPr>
  <p:slideViewPr>
    <p:cSldViewPr snapToGrid="0" snapToObjects="1">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A45559-0BFE-4344-9B65-AF2AA4340070}" type="datetimeFigureOut">
              <a:rPr kumimoji="1" lang="zh-TW" altLang="en-US" smtClean="0"/>
              <a:t>2022/9/17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3E2FF-3FFC-0943-9A0D-A0B13F46FECA}" type="slidenum">
              <a:rPr kumimoji="1" lang="zh-TW" altLang="en-US" smtClean="0"/>
              <a:t>‹#›</a:t>
            </a:fld>
            <a:endParaRPr kumimoji="1" lang="zh-TW" altLang="en-US"/>
          </a:p>
        </p:txBody>
      </p:sp>
    </p:spTree>
    <p:extLst>
      <p:ext uri="{BB962C8B-B14F-4D97-AF65-F5344CB8AC3E}">
        <p14:creationId xmlns:p14="http://schemas.microsoft.com/office/powerpoint/2010/main" val="312107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9CACA6-C67C-E541-892B-44D0091E4B35}"/>
              </a:ext>
            </a:extLst>
          </p:cNvPr>
          <p:cNvSpPr>
            <a:spLocks noGrp="1"/>
          </p:cNvSpPr>
          <p:nvPr>
            <p:ph type="ctrTitle"/>
          </p:nvPr>
        </p:nvSpPr>
        <p:spPr>
          <a:xfrm>
            <a:off x="1524000" y="1122363"/>
            <a:ext cx="9144000" cy="2387600"/>
          </a:xfrm>
        </p:spPr>
        <p:txBody>
          <a:bodyPr anchor="b"/>
          <a:lstStyle>
            <a:lvl1pPr algn="ctr">
              <a:defRPr sz="6000">
                <a:latin typeface="Times New Roman" panose="02020603050405020304" pitchFamily="18" charset="0"/>
                <a:cs typeface="Times New Roman" panose="02020603050405020304" pitchFamily="18" charset="0"/>
              </a:defRPr>
            </a:lvl1pPr>
          </a:lstStyle>
          <a:p>
            <a:r>
              <a:rPr kumimoji="1" lang="zh-TW" altLang="en-US" dirty="0"/>
              <a:t>按一下以編輯母片標題樣式</a:t>
            </a:r>
          </a:p>
        </p:txBody>
      </p:sp>
      <p:sp>
        <p:nvSpPr>
          <p:cNvPr id="3" name="副標題 2">
            <a:extLst>
              <a:ext uri="{FF2B5EF4-FFF2-40B4-BE49-F238E27FC236}">
                <a16:creationId xmlns:a16="http://schemas.microsoft.com/office/drawing/2014/main" id="{11CC1734-2905-E64F-A631-54B441416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dirty="0"/>
              <a:t>按一下以編輯母片子標題樣式</a:t>
            </a:r>
          </a:p>
        </p:txBody>
      </p:sp>
      <p:sp>
        <p:nvSpPr>
          <p:cNvPr id="4" name="日期版面配置區 3">
            <a:extLst>
              <a:ext uri="{FF2B5EF4-FFF2-40B4-BE49-F238E27FC236}">
                <a16:creationId xmlns:a16="http://schemas.microsoft.com/office/drawing/2014/main" id="{E52928DA-44E4-074F-8536-26603EBDA3A5}"/>
              </a:ext>
            </a:extLst>
          </p:cNvPr>
          <p:cNvSpPr>
            <a:spLocks noGrp="1"/>
          </p:cNvSpPr>
          <p:nvPr>
            <p:ph type="dt" sz="half" idx="10"/>
          </p:nvPr>
        </p:nvSpPr>
        <p:spPr/>
        <p:txBody>
          <a:bodyPr/>
          <a:lstStyle/>
          <a:p>
            <a:fld id="{F8D94305-8CA1-9449-A556-67D5085A7FA1}"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FCCB0FA4-ABBE-BA4C-8404-566B691D00D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36B4FD5-66AB-9441-90B5-4BBD60219EE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348140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70AF28-EC81-FE4B-89D9-F2E8D07FC024}"/>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F8F01FE-63E4-B148-8F63-BA8CC19DF1BE}"/>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CDDCB10-D67B-2F49-9257-3F53E655A9C1}"/>
              </a:ext>
            </a:extLst>
          </p:cNvPr>
          <p:cNvSpPr>
            <a:spLocks noGrp="1"/>
          </p:cNvSpPr>
          <p:nvPr>
            <p:ph type="dt" sz="half" idx="10"/>
          </p:nvPr>
        </p:nvSpPr>
        <p:spPr/>
        <p:txBody>
          <a:bodyPr/>
          <a:lstStyle/>
          <a:p>
            <a:fld id="{045A69C4-18F5-3B4F-9726-B61210AF53BB}"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FE383F78-9598-D74D-9292-89EFE69D19A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D1EF3F-2214-5B47-9FDA-094F6F6F1A36}"/>
              </a:ext>
            </a:extLst>
          </p:cNvPr>
          <p:cNvSpPr>
            <a:spLocks noGrp="1"/>
          </p:cNvSpPr>
          <p:nvPr>
            <p:ph type="sldNum" sz="quarter" idx="12"/>
          </p:nvPr>
        </p:nvSpPr>
        <p:spPr/>
        <p:txBody>
          <a:bodyPr/>
          <a:lstStyle>
            <a:lvl1pPr>
              <a:defRPr sz="1600">
                <a:solidFill>
                  <a:schemeClr val="tx1">
                    <a:lumMod val="50000"/>
                    <a:lumOff val="50000"/>
                  </a:schemeClr>
                </a:solidFill>
                <a:latin typeface="Times New Roman" panose="02020603050405020304" pitchFamily="18" charset="0"/>
                <a:cs typeface="Times New Roman" panose="02020603050405020304" pitchFamily="18" charset="0"/>
              </a:defRPr>
            </a:lvl1pPr>
          </a:lstStyle>
          <a:p>
            <a:fld id="{45AB94F7-1CE9-3B41-8002-0A2CB67662D8}" type="slidenum">
              <a:rPr kumimoji="1" lang="zh-TW" altLang="en-US" smtClean="0"/>
              <a:pPr/>
              <a:t>‹#›</a:t>
            </a:fld>
            <a:endParaRPr kumimoji="1" lang="zh-TW" altLang="en-US" dirty="0"/>
          </a:p>
        </p:txBody>
      </p:sp>
    </p:spTree>
    <p:extLst>
      <p:ext uri="{BB962C8B-B14F-4D97-AF65-F5344CB8AC3E}">
        <p14:creationId xmlns:p14="http://schemas.microsoft.com/office/powerpoint/2010/main" val="2339286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0EA4F2-2540-1244-B139-F15C25B79C46}"/>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C2C54D3C-13C8-6242-8D0C-509D676810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59742759-9CB6-6844-818C-D784DC9DDBEB}"/>
              </a:ext>
            </a:extLst>
          </p:cNvPr>
          <p:cNvSpPr>
            <a:spLocks noGrp="1"/>
          </p:cNvSpPr>
          <p:nvPr>
            <p:ph type="dt" sz="half" idx="10"/>
          </p:nvPr>
        </p:nvSpPr>
        <p:spPr/>
        <p:txBody>
          <a:bodyPr/>
          <a:lstStyle/>
          <a:p>
            <a:fld id="{3C11A6B9-6F66-C749-9323-08ACCB0475DF}"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BAF6B2C8-E956-014A-989F-C4986EEC970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4FE7166-F2BC-6E41-A489-D4F1F176A0D3}"/>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98025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D5B0B7-A085-074E-8B77-3B759476B83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0DE2419-98D0-C748-9D81-FD99D10E893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9E7429AE-8C31-D64A-9CAF-84EF9D9F81FB}"/>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54F1935-3D64-C547-BE1F-E5DF5E3EAE39}"/>
              </a:ext>
            </a:extLst>
          </p:cNvPr>
          <p:cNvSpPr>
            <a:spLocks noGrp="1"/>
          </p:cNvSpPr>
          <p:nvPr>
            <p:ph type="dt" sz="half" idx="10"/>
          </p:nvPr>
        </p:nvSpPr>
        <p:spPr/>
        <p:txBody>
          <a:bodyPr/>
          <a:lstStyle/>
          <a:p>
            <a:fld id="{0D2A61A4-81BF-334B-8D80-CA36701FDA35}" type="datetime1">
              <a:rPr kumimoji="1" lang="zh-TW" altLang="en-US" smtClean="0"/>
              <a:t>2022/9/17</a:t>
            </a:fld>
            <a:endParaRPr kumimoji="1" lang="zh-TW" altLang="en-US"/>
          </a:p>
        </p:txBody>
      </p:sp>
      <p:sp>
        <p:nvSpPr>
          <p:cNvPr id="6" name="頁尾版面配置區 5">
            <a:extLst>
              <a:ext uri="{FF2B5EF4-FFF2-40B4-BE49-F238E27FC236}">
                <a16:creationId xmlns:a16="http://schemas.microsoft.com/office/drawing/2014/main" id="{712AB15C-9B5B-D44D-B16C-11EF813D9F6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25CFBA30-686E-724D-9244-E9E6440670B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01584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12BDD6-FE7A-F545-960D-362C66F47353}"/>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7F6F60D-37BA-C242-9A1E-32FEB8CCCA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E9BCDA43-0B87-A645-8BE0-2EA0C0A6B13B}"/>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05D48957-078C-7444-A985-ACC5552F2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4FEF868D-291B-394E-9BE2-D02FA1CD3C3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1EA16361-4974-3C4E-9136-7688A755DDEC}"/>
              </a:ext>
            </a:extLst>
          </p:cNvPr>
          <p:cNvSpPr>
            <a:spLocks noGrp="1"/>
          </p:cNvSpPr>
          <p:nvPr>
            <p:ph type="dt" sz="half" idx="10"/>
          </p:nvPr>
        </p:nvSpPr>
        <p:spPr/>
        <p:txBody>
          <a:bodyPr/>
          <a:lstStyle/>
          <a:p>
            <a:fld id="{8C8A022A-5F93-5C4C-B16C-BEC73CEE6E54}" type="datetime1">
              <a:rPr kumimoji="1" lang="zh-TW" altLang="en-US" smtClean="0"/>
              <a:t>2022/9/17</a:t>
            </a:fld>
            <a:endParaRPr kumimoji="1" lang="zh-TW" altLang="en-US"/>
          </a:p>
        </p:txBody>
      </p:sp>
      <p:sp>
        <p:nvSpPr>
          <p:cNvPr id="8" name="頁尾版面配置區 7">
            <a:extLst>
              <a:ext uri="{FF2B5EF4-FFF2-40B4-BE49-F238E27FC236}">
                <a16:creationId xmlns:a16="http://schemas.microsoft.com/office/drawing/2014/main" id="{556ED032-8661-E941-88E1-00C96942095D}"/>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FB13C977-9E60-0840-8F60-2746A6806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779835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B53D1F-CD49-4A47-8161-81E7049E7774}"/>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97BAD2FC-9DAA-7243-A022-A4F61BF19E06}"/>
              </a:ext>
            </a:extLst>
          </p:cNvPr>
          <p:cNvSpPr>
            <a:spLocks noGrp="1"/>
          </p:cNvSpPr>
          <p:nvPr>
            <p:ph type="dt" sz="half" idx="10"/>
          </p:nvPr>
        </p:nvSpPr>
        <p:spPr/>
        <p:txBody>
          <a:bodyPr/>
          <a:lstStyle/>
          <a:p>
            <a:fld id="{12C925CB-9510-9341-9576-9B12ECEC775E}" type="datetime1">
              <a:rPr kumimoji="1" lang="zh-TW" altLang="en-US" smtClean="0"/>
              <a:t>2022/9/17</a:t>
            </a:fld>
            <a:endParaRPr kumimoji="1" lang="zh-TW" altLang="en-US"/>
          </a:p>
        </p:txBody>
      </p:sp>
      <p:sp>
        <p:nvSpPr>
          <p:cNvPr id="4" name="頁尾版面配置區 3">
            <a:extLst>
              <a:ext uri="{FF2B5EF4-FFF2-40B4-BE49-F238E27FC236}">
                <a16:creationId xmlns:a16="http://schemas.microsoft.com/office/drawing/2014/main" id="{FB08567B-6FC5-FE42-99C1-56DE3E0EA82A}"/>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EDF5BEE7-69BC-3243-92F7-9D56CF1E4E0D}"/>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99456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C472B68F-CE5E-8E42-845E-216799E9332B}"/>
              </a:ext>
            </a:extLst>
          </p:cNvPr>
          <p:cNvSpPr>
            <a:spLocks noGrp="1"/>
          </p:cNvSpPr>
          <p:nvPr>
            <p:ph type="dt" sz="half" idx="10"/>
          </p:nvPr>
        </p:nvSpPr>
        <p:spPr/>
        <p:txBody>
          <a:bodyPr/>
          <a:lstStyle/>
          <a:p>
            <a:fld id="{9FC0CE8D-F82D-A84C-87DC-2C4A6AB68E2E}" type="datetime1">
              <a:rPr kumimoji="1" lang="zh-TW" altLang="en-US" smtClean="0"/>
              <a:t>2022/9/17</a:t>
            </a:fld>
            <a:endParaRPr kumimoji="1" lang="zh-TW" altLang="en-US"/>
          </a:p>
        </p:txBody>
      </p:sp>
      <p:sp>
        <p:nvSpPr>
          <p:cNvPr id="3" name="頁尾版面配置區 2">
            <a:extLst>
              <a:ext uri="{FF2B5EF4-FFF2-40B4-BE49-F238E27FC236}">
                <a16:creationId xmlns:a16="http://schemas.microsoft.com/office/drawing/2014/main" id="{0AE25D5B-72BF-8541-BB27-109E74F63A4A}"/>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A4D9627B-7493-DE49-BED1-D957B96B65C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05284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D33F3F-E533-ED46-B706-B8230FBE362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923F0ED-E028-4D48-ACE1-92415A0E02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F9259B9D-B493-EE4A-8F83-9E517D43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B647DBB5-D8D1-9C4B-958E-74CA3C356597}"/>
              </a:ext>
            </a:extLst>
          </p:cNvPr>
          <p:cNvSpPr>
            <a:spLocks noGrp="1"/>
          </p:cNvSpPr>
          <p:nvPr>
            <p:ph type="dt" sz="half" idx="10"/>
          </p:nvPr>
        </p:nvSpPr>
        <p:spPr/>
        <p:txBody>
          <a:bodyPr/>
          <a:lstStyle/>
          <a:p>
            <a:fld id="{358C0FAD-89C5-7F43-A773-FAE777B2C9F1}" type="datetime1">
              <a:rPr kumimoji="1" lang="zh-TW" altLang="en-US" smtClean="0"/>
              <a:t>2022/9/17</a:t>
            </a:fld>
            <a:endParaRPr kumimoji="1" lang="zh-TW" altLang="en-US"/>
          </a:p>
        </p:txBody>
      </p:sp>
      <p:sp>
        <p:nvSpPr>
          <p:cNvPr id="6" name="頁尾版面配置區 5">
            <a:extLst>
              <a:ext uri="{FF2B5EF4-FFF2-40B4-BE49-F238E27FC236}">
                <a16:creationId xmlns:a16="http://schemas.microsoft.com/office/drawing/2014/main" id="{2DD9DD0B-97B7-7C48-9FAF-367CEFEAD7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1F04DAF6-0748-E746-B095-EDD0BFA0CD96}"/>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23448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B7AA03-AD9D-9B4F-BF9A-0D182E130373}"/>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0629E92-D1EC-7541-B377-00C9F825B7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49365C22-4E8D-5446-A436-EA77B69D7F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B89063B-A0C5-524B-897E-9D14FAA16A3A}"/>
              </a:ext>
            </a:extLst>
          </p:cNvPr>
          <p:cNvSpPr>
            <a:spLocks noGrp="1"/>
          </p:cNvSpPr>
          <p:nvPr>
            <p:ph type="dt" sz="half" idx="10"/>
          </p:nvPr>
        </p:nvSpPr>
        <p:spPr/>
        <p:txBody>
          <a:bodyPr/>
          <a:lstStyle/>
          <a:p>
            <a:fld id="{C6BFB9B9-8EF2-A94F-98A1-225287ED6E40}" type="datetime1">
              <a:rPr kumimoji="1" lang="zh-TW" altLang="en-US" smtClean="0"/>
              <a:t>2022/9/17</a:t>
            </a:fld>
            <a:endParaRPr kumimoji="1" lang="zh-TW" altLang="en-US"/>
          </a:p>
        </p:txBody>
      </p:sp>
      <p:sp>
        <p:nvSpPr>
          <p:cNvPr id="6" name="頁尾版面配置區 5">
            <a:extLst>
              <a:ext uri="{FF2B5EF4-FFF2-40B4-BE49-F238E27FC236}">
                <a16:creationId xmlns:a16="http://schemas.microsoft.com/office/drawing/2014/main" id="{DFCC9C8F-50DB-0448-BAE3-DCD747D6EB24}"/>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E76F315-F817-7046-B413-386F671772BC}"/>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16739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CAAEEB8-BF61-0D4B-91E0-B11EF6EA0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B92FAE11-B217-A441-BF40-6E86BC48954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6718463-BF67-834B-B2DE-31F68E4528C2}"/>
              </a:ext>
            </a:extLst>
          </p:cNvPr>
          <p:cNvSpPr>
            <a:spLocks noGrp="1"/>
          </p:cNvSpPr>
          <p:nvPr>
            <p:ph type="dt" sz="half" idx="10"/>
          </p:nvPr>
        </p:nvSpPr>
        <p:spPr/>
        <p:txBody>
          <a:bodyPr/>
          <a:lstStyle/>
          <a:p>
            <a:fld id="{238B0978-9282-A443-81EE-087251DCE16D}"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F594982C-896E-4149-99DD-209F8E8C007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603828-B8BB-9B4D-B2DF-DD10F4CAE81A}"/>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1564934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35947D6-AA8E-8847-82ED-F06115AA28F2}"/>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F700A80-132C-4840-9A7C-C78D2A2400F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A617639-2B7B-124E-964F-8866AB88322E}"/>
              </a:ext>
            </a:extLst>
          </p:cNvPr>
          <p:cNvSpPr>
            <a:spLocks noGrp="1"/>
          </p:cNvSpPr>
          <p:nvPr>
            <p:ph type="dt" sz="half" idx="10"/>
          </p:nvPr>
        </p:nvSpPr>
        <p:spPr/>
        <p:txBody>
          <a:bodyPr/>
          <a:lstStyle/>
          <a:p>
            <a:fld id="{22108DF5-4A34-8D4B-8D26-525AA81604B2}"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0438D0C4-A114-014D-8492-65B3EEDD178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18114EB-9F4C-BE4F-9F99-D7A2DEEC2A60}"/>
              </a:ext>
            </a:extLst>
          </p:cNvPr>
          <p:cNvSpPr>
            <a:spLocks noGrp="1"/>
          </p:cNvSpPr>
          <p:nvPr>
            <p:ph type="sldNum" sz="quarter" idx="12"/>
          </p:nvPr>
        </p:nvSpPr>
        <p:spPr/>
        <p:txBody>
          <a:body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6083713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大標題與項目符號">
    <p:spTree>
      <p:nvGrpSpPr>
        <p:cNvPr id="1" name=""/>
        <p:cNvGrpSpPr/>
        <p:nvPr/>
      </p:nvGrpSpPr>
      <p:grpSpPr>
        <a:xfrm>
          <a:off x="0" y="0"/>
          <a:ext cx="0" cy="0"/>
          <a:chOff x="0" y="0"/>
          <a:chExt cx="0" cy="0"/>
        </a:xfrm>
      </p:grpSpPr>
      <p:sp>
        <p:nvSpPr>
          <p:cNvPr id="56" name="大標題文字"/>
          <p:cNvSpPr txBox="1">
            <a:spLocks noGrp="1"/>
          </p:cNvSpPr>
          <p:nvPr>
            <p:ph type="title"/>
          </p:nvPr>
        </p:nvSpPr>
        <p:spPr>
          <a:prstGeom prst="rect">
            <a:avLst/>
          </a:prstGeom>
        </p:spPr>
        <p:txBody>
          <a:bodyPr/>
          <a:lstStyle/>
          <a:p>
            <a:r>
              <a:t>大標題文字</a:t>
            </a:r>
          </a:p>
        </p:txBody>
      </p:sp>
      <p:sp>
        <p:nvSpPr>
          <p:cNvPr id="57" name="內文層級一…"/>
          <p:cNvSpPr txBox="1">
            <a:spLocks noGrp="1"/>
          </p:cNvSpPr>
          <p:nvPr>
            <p:ph type="body" idx="1"/>
          </p:nvPr>
        </p:nvSpPr>
        <p:spPr>
          <a:prstGeom prst="rect">
            <a:avLst/>
          </a:prstGeom>
        </p:spPr>
        <p:txBody>
          <a:bodyPr/>
          <a:lstStyle>
            <a:lvl1pPr marL="396875" indent="-396875">
              <a:defRPr sz="3000"/>
            </a:lvl1pPr>
            <a:lvl2pPr marL="714375" indent="-396875">
              <a:defRPr sz="3000"/>
            </a:lvl2pPr>
            <a:lvl3pPr marL="1031875" indent="-396875">
              <a:defRPr sz="3000"/>
            </a:lvl3pPr>
            <a:lvl4pPr marL="1349375" indent="-396875">
              <a:defRPr sz="3000"/>
            </a:lvl4pPr>
            <a:lvl5pPr marL="1666875" indent="-396875">
              <a:defRPr sz="3000"/>
            </a:lvl5pPr>
          </a:lstStyle>
          <a:p>
            <a:r>
              <a:t>內文層級一</a:t>
            </a:r>
          </a:p>
          <a:p>
            <a:pPr lvl="1"/>
            <a:r>
              <a:t>內文層級二</a:t>
            </a:r>
          </a:p>
          <a:p>
            <a:pPr lvl="2"/>
            <a:r>
              <a:t>內文層級三</a:t>
            </a:r>
          </a:p>
          <a:p>
            <a:pPr lvl="3"/>
            <a:r>
              <a:t>內文層級四</a:t>
            </a:r>
          </a:p>
          <a:p>
            <a:pPr lvl="4"/>
            <a:r>
              <a:t>內文層級五</a:t>
            </a:r>
          </a:p>
        </p:txBody>
      </p:sp>
      <p:sp>
        <p:nvSpPr>
          <p:cNvPr id="58" name="幻燈片編號"/>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00304797"/>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73116FCC-9057-794F-A6BD-9239D6867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a:extLst>
              <a:ext uri="{FF2B5EF4-FFF2-40B4-BE49-F238E27FC236}">
                <a16:creationId xmlns:a16="http://schemas.microsoft.com/office/drawing/2014/main" id="{0F71D68C-1C2E-1C49-B4D5-25F62E8AE2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a:extLst>
              <a:ext uri="{FF2B5EF4-FFF2-40B4-BE49-F238E27FC236}">
                <a16:creationId xmlns:a16="http://schemas.microsoft.com/office/drawing/2014/main" id="{6ECE1990-52AC-F546-8798-90353A0395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A140CC-F999-A946-9373-08EAE304F3C9}" type="datetime1">
              <a:rPr kumimoji="1" lang="zh-TW" altLang="en-US" smtClean="0"/>
              <a:t>2022/9/17</a:t>
            </a:fld>
            <a:endParaRPr kumimoji="1" lang="zh-TW" altLang="en-US"/>
          </a:p>
        </p:txBody>
      </p:sp>
      <p:sp>
        <p:nvSpPr>
          <p:cNvPr id="5" name="頁尾版面配置區 4">
            <a:extLst>
              <a:ext uri="{FF2B5EF4-FFF2-40B4-BE49-F238E27FC236}">
                <a16:creationId xmlns:a16="http://schemas.microsoft.com/office/drawing/2014/main" id="{3EB22EAC-653F-C544-A1B0-BE186C1781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26F20A4-E6B9-D241-B29C-161E27408E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B94F7-1CE9-3B41-8002-0A2CB67662D8}" type="slidenum">
              <a:rPr kumimoji="1" lang="zh-TW" altLang="en-US" smtClean="0"/>
              <a:t>‹#›</a:t>
            </a:fld>
            <a:endParaRPr kumimoji="1" lang="zh-TW" altLang="en-US"/>
          </a:p>
        </p:txBody>
      </p:sp>
    </p:spTree>
    <p:extLst>
      <p:ext uri="{BB962C8B-B14F-4D97-AF65-F5344CB8AC3E}">
        <p14:creationId xmlns:p14="http://schemas.microsoft.com/office/powerpoint/2010/main" val="279743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A1336C-440D-2E43-904F-AABB45E64E1E}"/>
              </a:ext>
            </a:extLst>
          </p:cNvPr>
          <p:cNvSpPr>
            <a:spLocks noGrp="1"/>
          </p:cNvSpPr>
          <p:nvPr>
            <p:ph type="ctrTitle"/>
          </p:nvPr>
        </p:nvSpPr>
        <p:spPr>
          <a:xfrm>
            <a:off x="141768" y="1648044"/>
            <a:ext cx="11908464" cy="1755591"/>
          </a:xfrm>
        </p:spPr>
        <p:txBody>
          <a:bodyPr>
            <a:normAutofit fontScale="90000"/>
          </a:bodyPr>
          <a:lstStyle/>
          <a:p>
            <a:r>
              <a:rPr kumimoji="1" lang="en-US" altLang="zh-TW" dirty="0"/>
              <a:t>Fast Algorithms to Enumerate All Common Intervals of Two Permutations</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FD611AA7-209A-4449-AB65-A25622930A66}"/>
              </a:ext>
            </a:extLst>
          </p:cNvPr>
          <p:cNvSpPr>
            <a:spLocks noGrp="1"/>
          </p:cNvSpPr>
          <p:nvPr>
            <p:ph type="subTitle" idx="1"/>
          </p:nvPr>
        </p:nvSpPr>
        <p:spPr>
          <a:xfrm>
            <a:off x="1524000" y="3602038"/>
            <a:ext cx="9144000" cy="2224604"/>
          </a:xfrm>
        </p:spPr>
        <p:txBody>
          <a:bodyPr>
            <a:normAutofit/>
          </a:bodyPr>
          <a:lstStyle/>
          <a:p>
            <a:r>
              <a:rPr kumimoji="1" lang="en-US" altLang="zh-TW" dirty="0">
                <a:latin typeface="Times New Roman" panose="02020603050405020304" pitchFamily="18" charset="0"/>
                <a:cs typeface="Times New Roman" panose="02020603050405020304" pitchFamily="18" charset="0"/>
              </a:rPr>
              <a:t>T. Uno and M. </a:t>
            </a:r>
            <a:r>
              <a:rPr kumimoji="1" lang="en-US" altLang="zh-TW" dirty="0" err="1">
                <a:latin typeface="Times New Roman" panose="02020603050405020304" pitchFamily="18" charset="0"/>
                <a:cs typeface="Times New Roman" panose="02020603050405020304" pitchFamily="18" charset="0"/>
              </a:rPr>
              <a:t>Yagiura</a:t>
            </a:r>
            <a:endParaRPr kumimoji="1" lang="en-US" altLang="zh-TW" dirty="0">
              <a:latin typeface="Times New Roman" panose="02020603050405020304" pitchFamily="18" charset="0"/>
              <a:cs typeface="Times New Roman" panose="02020603050405020304" pitchFamily="18" charset="0"/>
            </a:endParaRPr>
          </a:p>
          <a:p>
            <a:endParaRPr kumimoji="1" lang="en" altLang="zh-TW" dirty="0">
              <a:latin typeface="Times New Roman" panose="02020603050405020304" pitchFamily="18" charset="0"/>
              <a:cs typeface="Times New Roman" panose="02020603050405020304" pitchFamily="18" charset="0"/>
            </a:endParaRPr>
          </a:p>
          <a:p>
            <a:r>
              <a:rPr kumimoji="1" lang="en-US" altLang="zh-TW" dirty="0" err="1">
                <a:latin typeface="Times New Roman" panose="02020603050405020304" pitchFamily="18" charset="0"/>
                <a:cs typeface="Times New Roman" panose="02020603050405020304" pitchFamily="18" charset="0"/>
              </a:rPr>
              <a:t>Algorithmica</a:t>
            </a:r>
            <a:r>
              <a:rPr kumimoji="1" lang="en" altLang="zh-TW" dirty="0">
                <a:latin typeface="Times New Roman" panose="02020603050405020304" pitchFamily="18" charset="0"/>
                <a:cs typeface="Times New Roman" panose="02020603050405020304" pitchFamily="18" charset="0"/>
              </a:rPr>
              <a:t>, 2000</a:t>
            </a:r>
          </a:p>
          <a:p>
            <a:r>
              <a:rPr kumimoji="1" lang="en" altLang="zh-TW" dirty="0">
                <a:latin typeface="Times New Roman" panose="02020603050405020304" pitchFamily="18" charset="0"/>
                <a:cs typeface="Times New Roman" panose="02020603050405020304" pitchFamily="18" charset="0"/>
              </a:rPr>
              <a:t>Volume 26, pp. 290-309</a:t>
            </a:r>
            <a:endParaRPr kumimoji="1" lang="zh-TW" altLang="en-US" dirty="0">
              <a:latin typeface="Times New Roman" panose="02020603050405020304" pitchFamily="18" charset="0"/>
              <a:cs typeface="Times New Roman" panose="02020603050405020304" pitchFamily="18" charset="0"/>
            </a:endParaRPr>
          </a:p>
        </p:txBody>
      </p:sp>
      <p:sp>
        <p:nvSpPr>
          <p:cNvPr id="4" name="文字方塊 3">
            <a:extLst>
              <a:ext uri="{FF2B5EF4-FFF2-40B4-BE49-F238E27FC236}">
                <a16:creationId xmlns:a16="http://schemas.microsoft.com/office/drawing/2014/main" id="{BF1141FC-B145-834E-9139-2A899AB73EAA}"/>
              </a:ext>
            </a:extLst>
          </p:cNvPr>
          <p:cNvSpPr txBox="1"/>
          <p:nvPr/>
        </p:nvSpPr>
        <p:spPr>
          <a:xfrm>
            <a:off x="9165265" y="5826642"/>
            <a:ext cx="2491964" cy="646331"/>
          </a:xfrm>
          <a:prstGeom prst="rect">
            <a:avLst/>
          </a:prstGeom>
          <a:noFill/>
        </p:spPr>
        <p:txBody>
          <a:bodyPr wrap="none" rtlCol="0">
            <a:spAutoFit/>
          </a:bodyPr>
          <a:lstStyle/>
          <a:p>
            <a:pPr algn="r"/>
            <a:r>
              <a:rPr kumimoji="1" lang="en" altLang="zh-TW" dirty="0">
                <a:latin typeface="Times New Roman" panose="02020603050405020304" pitchFamily="18" charset="0"/>
                <a:cs typeface="Times New Roman" panose="02020603050405020304" pitchFamily="18" charset="0"/>
              </a:rPr>
              <a:t>Presenter:  Tsung-Lin Lu</a:t>
            </a:r>
          </a:p>
          <a:p>
            <a:pPr algn="r"/>
            <a:r>
              <a:rPr kumimoji="1" lang="en" altLang="zh-TW" dirty="0">
                <a:latin typeface="Times New Roman" panose="02020603050405020304" pitchFamily="18" charset="0"/>
                <a:cs typeface="Times New Roman" panose="02020603050405020304" pitchFamily="18" charset="0"/>
              </a:rPr>
              <a:t>Date: Sept. 20, 2022</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5233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(1/2)</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normAutofit fontScale="92500"/>
              </a:bodyPr>
              <a:lstStyle/>
              <a:p>
                <a:pPr marL="0" indent="0" algn="just">
                  <a:buNone/>
                </a:pPr>
                <a:r>
                  <a:rPr kumimoji="1" lang="en-US" altLang="zh-TW" dirty="0">
                    <a:latin typeface="Times New Roman" panose="02020603050405020304" pitchFamily="18" charset="0"/>
                    <a:cs typeface="Times New Roman" panose="02020603050405020304" pitchFamily="18" charset="0"/>
                  </a:rPr>
                  <a:t>Given two permutations of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elements, </a:t>
                </a:r>
                <a:r>
                  <a:rPr kumimoji="1" lang="en-US" altLang="zh-TW" b="1" dirty="0">
                    <a:latin typeface="Times New Roman" panose="02020603050405020304" pitchFamily="18" charset="0"/>
                    <a:cs typeface="Times New Roman" panose="02020603050405020304" pitchFamily="18" charset="0"/>
                  </a:rPr>
                  <a:t>a pair of intervals of these permutations consisting of the same set of elements </a:t>
                </a:r>
                <a:r>
                  <a:rPr kumimoji="1" lang="en-US" altLang="zh-TW" dirty="0">
                    <a:latin typeface="Times New Roman" panose="02020603050405020304" pitchFamily="18" charset="0"/>
                    <a:cs typeface="Times New Roman" panose="02020603050405020304" pitchFamily="18" charset="0"/>
                  </a:rPr>
                  <a:t>is called a </a:t>
                </a:r>
                <a:r>
                  <a:rPr kumimoji="1" lang="en-US" altLang="zh-TW" i="1" dirty="0">
                    <a:latin typeface="Times New Roman" panose="02020603050405020304" pitchFamily="18" charset="0"/>
                    <a:cs typeface="Times New Roman" panose="02020603050405020304" pitchFamily="18" charset="0"/>
                  </a:rPr>
                  <a:t>common interval</a:t>
                </a:r>
                <a:r>
                  <a:rPr kumimoji="1" lang="en-US" altLang="zh-TW" dirty="0">
                    <a:latin typeface="Times New Roman" panose="02020603050405020304" pitchFamily="18" charset="0"/>
                    <a:cs typeface="Times New Roman" panose="02020603050405020304" pitchFamily="18" charset="0"/>
                  </a:rPr>
                  <a:t> . Some genetic algorithms based on such common intervals have been proposed for sequencing problems and have exhibited good prospects. In this paper we propose three types of fast algorithms to enumerate all common intervals: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a simple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time algorithm (</a:t>
                </a:r>
                <a:r>
                  <a:rPr kumimoji="1" lang="en-US" altLang="zh-TW" b="1" dirty="0">
                    <a:latin typeface="Times New Roman" panose="02020603050405020304" pitchFamily="18" charset="0"/>
                    <a:cs typeface="Times New Roman" panose="02020603050405020304" pitchFamily="18" charset="0"/>
                  </a:rPr>
                  <a:t>LHP</a:t>
                </a:r>
                <a:r>
                  <a:rPr kumimoji="1" lang="en-US" altLang="zh-TW" dirty="0">
                    <a:latin typeface="Times New Roman" panose="02020603050405020304" pitchFamily="18" charset="0"/>
                    <a:cs typeface="Times New Roman" panose="02020603050405020304" pitchFamily="18" charset="0"/>
                  </a:rPr>
                  <a:t>), whose expected running time becomes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for two randomly generated permutations, (ii) a practically fast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time algorithm (</a:t>
                </a:r>
                <a:r>
                  <a:rPr kumimoji="1" lang="en-US" altLang="zh-TW" b="1" dirty="0">
                    <a:latin typeface="Times New Roman" panose="02020603050405020304" pitchFamily="18" charset="0"/>
                    <a:cs typeface="Times New Roman" panose="02020603050405020304" pitchFamily="18" charset="0"/>
                  </a:rPr>
                  <a:t>MNG</a:t>
                </a:r>
                <a:r>
                  <a:rPr kumimoji="1" lang="en-US" altLang="zh-TW" dirty="0">
                    <a:latin typeface="Times New Roman" panose="02020603050405020304" pitchFamily="18" charset="0"/>
                    <a:cs typeface="Times New Roman" panose="02020603050405020304" pitchFamily="18" charset="0"/>
                  </a:rPr>
                  <a:t>) using the reverse Monge property, and (iii) an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n</a:t>
                </a:r>
                <a:r>
                  <a:rPr kumimoji="1" lang="en-US" altLang="zh-TW" dirty="0" err="1">
                    <a:latin typeface="Times New Roman" panose="02020603050405020304" pitchFamily="18" charset="0"/>
                    <a:cs typeface="Times New Roman" panose="02020603050405020304" pitchFamily="18" charset="0"/>
                  </a:rPr>
                  <a:t>+</a:t>
                </a:r>
                <a:r>
                  <a:rPr kumimoji="1" lang="en-US" altLang="zh-TW" i="1" dirty="0" err="1">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time algorithm (</a:t>
                </a:r>
                <a:r>
                  <a:rPr kumimoji="1" lang="en-US" altLang="zh-TW" b="1" dirty="0">
                    <a:latin typeface="Times New Roman" panose="02020603050405020304" pitchFamily="18" charset="0"/>
                    <a:cs typeface="Times New Roman" panose="02020603050405020304" pitchFamily="18" charset="0"/>
                  </a:rPr>
                  <a:t>RC</a:t>
                </a:r>
                <a:r>
                  <a:rPr kumimoji="1" lang="en-US" altLang="zh-TW" dirty="0">
                    <a:latin typeface="Times New Roman" panose="02020603050405020304" pitchFamily="18" charset="0"/>
                    <a:cs typeface="Times New Roman" panose="02020603050405020304" pitchFamily="18" charset="0"/>
                  </a:rPr>
                  <a:t>), where </a:t>
                </a:r>
                <a:r>
                  <a:rPr kumimoji="1" lang="en-US" altLang="zh-TW" i="1"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a:t>
                </a:r>
                <a14:m>
                  <m:oMath xmlns:m="http://schemas.openxmlformats.org/officeDocument/2006/math">
                    <m:d>
                      <m:dPr>
                        <m:ctrlPr>
                          <a:rPr kumimoji="1" lang="en-US" altLang="zh-TW" i="1" smtClean="0">
                            <a:latin typeface="Cambria Math" panose="02040503050406030204" pitchFamily="18" charset="0"/>
                            <a:cs typeface="Times New Roman" panose="02020603050405020304" pitchFamily="18" charset="0"/>
                          </a:rPr>
                        </m:ctrlPr>
                      </m:dPr>
                      <m:e>
                        <m:f>
                          <m:fPr>
                            <m:type m:val="noBar"/>
                            <m:ctrlPr>
                              <a:rPr kumimoji="1" lang="en-US" altLang="zh-TW" i="1" smtClean="0">
                                <a:latin typeface="Cambria Math" panose="02040503050406030204" pitchFamily="18" charset="0"/>
                                <a:cs typeface="Times New Roman" panose="02020603050405020304" pitchFamily="18" charset="0"/>
                              </a:rPr>
                            </m:ctrlPr>
                          </m:fPr>
                          <m:num>
                            <m:r>
                              <a:rPr kumimoji="1" lang="en-US" altLang="zh-TW" i="1" smtClean="0">
                                <a:latin typeface="Cambria Math" panose="02040503050406030204" pitchFamily="18" charset="0"/>
                                <a:cs typeface="Times New Roman" panose="02020603050405020304" pitchFamily="18" charset="0"/>
                              </a:rPr>
                              <m:t>𝑛</m:t>
                            </m:r>
                          </m:num>
                          <m:den>
                            <m:r>
                              <a:rPr kumimoji="1" lang="en-US" altLang="zh-TW" b="0" i="1" smtClean="0">
                                <a:latin typeface="Cambria Math" panose="02040503050406030204" pitchFamily="18" charset="0"/>
                                <a:cs typeface="Times New Roman" panose="02020603050405020304" pitchFamily="18" charset="0"/>
                              </a:rPr>
                              <m:t>2</m:t>
                            </m:r>
                          </m:den>
                        </m:f>
                      </m:e>
                    </m:d>
                  </m:oMath>
                </a14:m>
                <a:r>
                  <a:rPr kumimoji="1" lang="en-US" altLang="zh-TW" dirty="0">
                    <a:latin typeface="Times New Roman" panose="02020603050405020304" pitchFamily="18" charset="0"/>
                    <a:cs typeface="Times New Roman" panose="02020603050405020304" pitchFamily="18" charset="0"/>
                  </a:rPr>
                  <a:t>)</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is the number of common intervals. It will also be shown that the expected number of common intervals for two random permutations is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(1) .</a:t>
                </a:r>
                <a:endParaRPr kumimoji="1" lang="zh-TW" altLang="en-US" dirty="0">
                  <a:latin typeface="Times New Roman" panose="02020603050405020304" pitchFamily="18" charset="0"/>
                  <a:cs typeface="Times New Roman" panose="02020603050405020304" pitchFamily="18" charset="0"/>
                </a:endParaRPr>
              </a:p>
            </p:txBody>
          </p:sp>
        </mc:Choice>
        <mc:Fallback>
          <p:sp>
            <p:nvSpPr>
              <p:cNvPr id="3" name="內容版面配置區 2">
                <a:extLst>
                  <a:ext uri="{FF2B5EF4-FFF2-40B4-BE49-F238E27FC236}">
                    <a16:creationId xmlns:a16="http://schemas.microsoft.com/office/drawing/2014/main" id="{98C395C6-3EBC-4D47-9C22-52A1E36DD1C0}"/>
                  </a:ext>
                </a:extLst>
              </p:cNvPr>
              <p:cNvSpPr>
                <a:spLocks noGrp="1" noRot="1" noChangeAspect="1" noMove="1" noResize="1" noEditPoints="1" noAdjustHandles="1" noChangeArrowheads="1" noChangeShapeType="1" noTextEdit="1"/>
              </p:cNvSpPr>
              <p:nvPr>
                <p:ph idx="1"/>
              </p:nvPr>
            </p:nvSpPr>
            <p:spPr>
              <a:blipFill>
                <a:blip r:embed="rId2"/>
                <a:stretch>
                  <a:fillRect l="-1086" t="-2035" r="-965"/>
                </a:stretch>
              </a:blipFill>
            </p:spPr>
            <p:txBody>
              <a:bodyPr/>
              <a:lstStyle/>
              <a:p>
                <a:r>
                  <a:rPr lang="zh-TW" altLang="en-US">
                    <a:noFill/>
                  </a:rPr>
                  <a:t> </a:t>
                </a:r>
              </a:p>
            </p:txBody>
          </p:sp>
        </mc:Fallback>
      </mc:AlternateContent>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a:t>
            </a:fld>
            <a:endParaRPr kumimoji="1" lang="zh-TW" altLang="en-US"/>
          </a:p>
        </p:txBody>
      </p:sp>
    </p:spTree>
    <p:extLst>
      <p:ext uri="{BB962C8B-B14F-4D97-AF65-F5344CB8AC3E}">
        <p14:creationId xmlns:p14="http://schemas.microsoft.com/office/powerpoint/2010/main" val="736690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 (2/2)</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pPr marL="0" indent="0" algn="just">
              <a:buNone/>
            </a:pPr>
            <a:r>
              <a:rPr kumimoji="1" lang="en-US" altLang="zh-TW" dirty="0">
                <a:latin typeface="Times New Roman" panose="02020603050405020304" pitchFamily="18" charset="0"/>
                <a:cs typeface="Times New Roman" panose="02020603050405020304" pitchFamily="18" charset="0"/>
              </a:rPr>
              <a:t>This result gives a reason for the phenomenon that the expected time complexity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 of the algorithm LHP is independent of </a:t>
            </a:r>
            <a:r>
              <a:rPr kumimoji="1" lang="en-US" altLang="zh-TW" i="1" dirty="0">
                <a:latin typeface="Times New Roman" panose="02020603050405020304" pitchFamily="18" charset="0"/>
                <a:cs typeface="Times New Roman" panose="02020603050405020304" pitchFamily="18" charset="0"/>
              </a:rPr>
              <a:t>K</a:t>
            </a:r>
            <a:r>
              <a:rPr kumimoji="1" lang="en-US" altLang="zh-TW" dirty="0">
                <a:latin typeface="Times New Roman" panose="02020603050405020304" pitchFamily="18" charset="0"/>
                <a:cs typeface="Times New Roman" panose="02020603050405020304" pitchFamily="18" charset="0"/>
              </a:rPr>
              <a:t>. Among the proposed algorithms, RC is most desirable from the theoretical point of view; however, it is quite complicated compared with LHP and MNG. Therefore, it is possible that RC is slower than the other two algorithms in some cases. For this reason, computational experiments for various types of problems with up to </a:t>
            </a:r>
            <a:r>
              <a:rPr kumimoji="1" lang="en-US" altLang="zh-TW" i="1" dirty="0">
                <a:latin typeface="Times New Roman" panose="02020603050405020304" pitchFamily="18" charset="0"/>
                <a:cs typeface="Times New Roman" panose="02020603050405020304" pitchFamily="18" charset="0"/>
              </a:rPr>
              <a:t>n</a:t>
            </a:r>
            <a:r>
              <a:rPr kumimoji="1" lang="en-US" altLang="zh-TW" dirty="0">
                <a:latin typeface="Times New Roman" panose="02020603050405020304" pitchFamily="18" charset="0"/>
                <a:cs typeface="Times New Roman" panose="02020603050405020304" pitchFamily="18" charset="0"/>
              </a:rPr>
              <a:t>=10</a:t>
            </a:r>
            <a:r>
              <a:rPr kumimoji="1" lang="en-US" altLang="zh-TW" baseline="30000" dirty="0">
                <a:latin typeface="Times New Roman" panose="02020603050405020304" pitchFamily="18" charset="0"/>
                <a:cs typeface="Times New Roman" panose="02020603050405020304" pitchFamily="18" charset="0"/>
              </a:rPr>
              <a:t>6</a:t>
            </a:r>
            <a:r>
              <a:rPr kumimoji="1" lang="en-US" altLang="zh-TW" dirty="0">
                <a:latin typeface="Times New Roman" panose="02020603050405020304" pitchFamily="18" charset="0"/>
                <a:cs typeface="Times New Roman" panose="02020603050405020304" pitchFamily="18" charset="0"/>
              </a:rPr>
              <a:t> are conducted. The results indicate that (</a:t>
            </a:r>
            <a:r>
              <a:rPr kumimoji="1" lang="en-US" altLang="zh-TW" dirty="0" err="1">
                <a:latin typeface="Times New Roman" panose="02020603050405020304" pitchFamily="18" charset="0"/>
                <a:cs typeface="Times New Roman" panose="02020603050405020304" pitchFamily="18" charset="0"/>
              </a:rPr>
              <a:t>i</a:t>
            </a:r>
            <a:r>
              <a:rPr kumimoji="1" lang="en-US" altLang="zh-TW" dirty="0">
                <a:latin typeface="Times New Roman" panose="02020603050405020304" pitchFamily="18" charset="0"/>
                <a:cs typeface="Times New Roman" panose="02020603050405020304" pitchFamily="18" charset="0"/>
              </a:rPr>
              <a:t>) LHP and MNG are much faster than RC for two randomly generated permutations, and (ii) MNG is rather slower than LHP for random inputs; however, there are cases in which LHP requires </a:t>
            </a:r>
            <a:r>
              <a:rPr kumimoji="1" lang="el-GR" altLang="zh-TW" dirty="0">
                <a:latin typeface="Times New Roman" panose="02020603050405020304" pitchFamily="18" charset="0"/>
                <a:cs typeface="Times New Roman" panose="02020603050405020304" pitchFamily="18" charset="0"/>
              </a:rPr>
              <a:t>Ω(</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time, but MNG runs in </a:t>
            </a:r>
            <a:r>
              <a:rPr kumimoji="1" lang="en-US" altLang="zh-TW" i="1" dirty="0">
                <a:latin typeface="Times New Roman" panose="02020603050405020304" pitchFamily="18" charset="0"/>
                <a:cs typeface="Times New Roman" panose="02020603050405020304" pitchFamily="18" charset="0"/>
              </a:rPr>
              <a:t>o</a:t>
            </a:r>
            <a:r>
              <a:rPr kumimoji="1" lang="en-US" altLang="zh-TW" dirty="0">
                <a:latin typeface="Times New Roman" panose="02020603050405020304" pitchFamily="18" charset="0"/>
                <a:cs typeface="Times New Roman" panose="02020603050405020304" pitchFamily="18" charset="0"/>
              </a:rPr>
              <a:t>(</a:t>
            </a:r>
            <a:r>
              <a:rPr kumimoji="1" lang="en-US" altLang="zh-TW" i="1" dirty="0">
                <a:latin typeface="Times New Roman" panose="02020603050405020304" pitchFamily="18" charset="0"/>
                <a:cs typeface="Times New Roman" panose="02020603050405020304" pitchFamily="18" charset="0"/>
              </a:rPr>
              <a:t>n</a:t>
            </a:r>
            <a:r>
              <a:rPr kumimoji="1" lang="en-US" altLang="zh-TW" baseline="30000" dirty="0">
                <a:latin typeface="Times New Roman" panose="02020603050405020304" pitchFamily="18" charset="0"/>
                <a:cs typeface="Times New Roman" panose="02020603050405020304" pitchFamily="18" charset="0"/>
              </a:rPr>
              <a:t>2</a:t>
            </a:r>
            <a:r>
              <a:rPr kumimoji="1" lang="en-US" altLang="zh-TW" dirty="0">
                <a:latin typeface="Times New Roman" panose="02020603050405020304" pitchFamily="18" charset="0"/>
                <a:cs typeface="Times New Roman" panose="02020603050405020304" pitchFamily="18" charset="0"/>
              </a:rPr>
              <a:t>) time and is faster than both LHP and RC.</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2</a:t>
            </a:fld>
            <a:endParaRPr kumimoji="1" lang="zh-TW" altLang="en-US"/>
          </a:p>
        </p:txBody>
      </p:sp>
    </p:spTree>
    <p:extLst>
      <p:ext uri="{BB962C8B-B14F-4D97-AF65-F5344CB8AC3E}">
        <p14:creationId xmlns:p14="http://schemas.microsoft.com/office/powerpoint/2010/main" val="327256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Outline</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Common Interval</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Basic (BSC)</a:t>
            </a:r>
          </a:p>
          <a:p>
            <a:r>
              <a:rPr kumimoji="1" lang="en-US" altLang="zh-TW" dirty="0">
                <a:latin typeface="Times New Roman" panose="02020603050405020304" pitchFamily="18" charset="0"/>
                <a:cs typeface="Times New Roman" panose="02020603050405020304" pitchFamily="18" charset="0"/>
              </a:rPr>
              <a:t>Length and Hole Point (LHP)</a:t>
            </a:r>
          </a:p>
          <a:p>
            <a:r>
              <a:rPr kumimoji="1" lang="en-US" altLang="zh-TW" dirty="0">
                <a:latin typeface="Times New Roman" panose="02020603050405020304" pitchFamily="18" charset="0"/>
                <a:cs typeface="Times New Roman" panose="02020603050405020304" pitchFamily="18" charset="0"/>
              </a:rPr>
              <a:t>Monge (MNG)</a:t>
            </a:r>
          </a:p>
          <a:p>
            <a:r>
              <a:rPr kumimoji="1" lang="en-US" altLang="zh-TW" dirty="0">
                <a:latin typeface="Times New Roman" panose="02020603050405020304" pitchFamily="18" charset="0"/>
                <a:cs typeface="Times New Roman" panose="02020603050405020304" pitchFamily="18" charset="0"/>
              </a:rPr>
              <a:t>Reduce Candidate (RC)</a:t>
            </a: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Results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3</a:t>
            </a:fld>
            <a:endParaRPr kumimoji="1" lang="zh-TW" altLang="en-US"/>
          </a:p>
        </p:txBody>
      </p:sp>
    </p:spTree>
    <p:extLst>
      <p:ext uri="{BB962C8B-B14F-4D97-AF65-F5344CB8AC3E}">
        <p14:creationId xmlns:p14="http://schemas.microsoft.com/office/powerpoint/2010/main" val="3857990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normAutofit/>
          </a:bodyPr>
          <a:lstStyle/>
          <a:p>
            <a:r>
              <a:rPr kumimoji="1" lang="en-US" altLang="zh-TW" dirty="0"/>
              <a:t>Common Interval</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4</a:t>
            </a:fld>
            <a:endParaRPr kumimoji="1" lang="zh-TW" altLang="en-US"/>
          </a:p>
        </p:txBody>
      </p:sp>
      <p:graphicFrame>
        <p:nvGraphicFramePr>
          <p:cNvPr id="9" name="表格 8">
            <a:extLst>
              <a:ext uri="{FF2B5EF4-FFF2-40B4-BE49-F238E27FC236}">
                <a16:creationId xmlns:a16="http://schemas.microsoft.com/office/drawing/2014/main" id="{B4D37B6D-5342-BE32-4471-C1BE11BC55AA}"/>
              </a:ext>
            </a:extLst>
          </p:cNvPr>
          <p:cNvGraphicFramePr>
            <a:graphicFrameLocks noGrp="1"/>
          </p:cNvGraphicFramePr>
          <p:nvPr>
            <p:extLst>
              <p:ext uri="{D42A27DB-BD31-4B8C-83A1-F6EECF244321}">
                <p14:modId xmlns:p14="http://schemas.microsoft.com/office/powerpoint/2010/main" val="2485525537"/>
              </p:ext>
            </p:extLst>
          </p:nvPr>
        </p:nvGraphicFramePr>
        <p:xfrm>
          <a:off x="1954619" y="2501146"/>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graphicFrame>
        <p:nvGraphicFramePr>
          <p:cNvPr id="10" name="表格 9">
            <a:extLst>
              <a:ext uri="{FF2B5EF4-FFF2-40B4-BE49-F238E27FC236}">
                <a16:creationId xmlns:a16="http://schemas.microsoft.com/office/drawing/2014/main" id="{8052460C-BE94-0665-4567-EA79C409E1AF}"/>
              </a:ext>
            </a:extLst>
          </p:cNvPr>
          <p:cNvGraphicFramePr>
            <a:graphicFrameLocks noGrp="1"/>
          </p:cNvGraphicFramePr>
          <p:nvPr>
            <p:extLst>
              <p:ext uri="{D42A27DB-BD31-4B8C-83A1-F6EECF244321}">
                <p14:modId xmlns:p14="http://schemas.microsoft.com/office/powerpoint/2010/main" val="933948488"/>
              </p:ext>
            </p:extLst>
          </p:nvPr>
        </p:nvGraphicFramePr>
        <p:xfrm>
          <a:off x="1954619" y="4181091"/>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sp>
        <p:nvSpPr>
          <p:cNvPr id="13" name="文字方塊 12">
            <a:extLst>
              <a:ext uri="{FF2B5EF4-FFF2-40B4-BE49-F238E27FC236}">
                <a16:creationId xmlns:a16="http://schemas.microsoft.com/office/drawing/2014/main" id="{CB5175CB-6957-0891-C32C-40C82DB72E5E}"/>
              </a:ext>
            </a:extLst>
          </p:cNvPr>
          <p:cNvSpPr txBox="1"/>
          <p:nvPr/>
        </p:nvSpPr>
        <p:spPr>
          <a:xfrm>
            <a:off x="6592187" y="4924279"/>
            <a:ext cx="4012637"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A[2, 5] and B[3, 6] is a common interval.</a:t>
            </a:r>
            <a:endParaRPr kumimoji="1" lang="zh-TW" altLang="en-US" dirty="0">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7FC1721D-4FEA-F9F2-080A-D57DC5BCBE07}"/>
              </a:ext>
            </a:extLst>
          </p:cNvPr>
          <p:cNvSpPr txBox="1"/>
          <p:nvPr/>
        </p:nvSpPr>
        <p:spPr>
          <a:xfrm>
            <a:off x="6592187" y="3244334"/>
            <a:ext cx="3416320"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A[2, 4] has not a common interval.</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63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Basic (BSC) (1/2)</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5</a:t>
            </a:fld>
            <a:endParaRPr kumimoji="1" lang="zh-TW" altLang="en-US"/>
          </a:p>
        </p:txBody>
      </p:sp>
      <p:pic>
        <p:nvPicPr>
          <p:cNvPr id="5" name="圖片 4">
            <a:extLst>
              <a:ext uri="{FF2B5EF4-FFF2-40B4-BE49-F238E27FC236}">
                <a16:creationId xmlns:a16="http://schemas.microsoft.com/office/drawing/2014/main" id="{3F08D74F-1E61-639A-288F-4CD99586441C}"/>
              </a:ext>
            </a:extLst>
          </p:cNvPr>
          <p:cNvPicPr>
            <a:picLocks noChangeAspect="1"/>
          </p:cNvPicPr>
          <p:nvPr/>
        </p:nvPicPr>
        <p:blipFill>
          <a:blip r:embed="rId2"/>
          <a:stretch>
            <a:fillRect/>
          </a:stretch>
        </p:blipFill>
        <p:spPr>
          <a:xfrm>
            <a:off x="1212398" y="1933848"/>
            <a:ext cx="9767204" cy="3967162"/>
          </a:xfrm>
          <a:prstGeom prst="rect">
            <a:avLst/>
          </a:prstGeom>
        </p:spPr>
      </p:pic>
      <p:pic>
        <p:nvPicPr>
          <p:cNvPr id="10" name="圖片 9">
            <a:extLst>
              <a:ext uri="{FF2B5EF4-FFF2-40B4-BE49-F238E27FC236}">
                <a16:creationId xmlns:a16="http://schemas.microsoft.com/office/drawing/2014/main" id="{67C9D730-49AD-6A35-2A6D-68BCBB33C4DF}"/>
              </a:ext>
            </a:extLst>
          </p:cNvPr>
          <p:cNvPicPr>
            <a:picLocks noChangeAspect="1"/>
          </p:cNvPicPr>
          <p:nvPr/>
        </p:nvPicPr>
        <p:blipFill>
          <a:blip r:embed="rId3"/>
          <a:stretch>
            <a:fillRect/>
          </a:stretch>
        </p:blipFill>
        <p:spPr>
          <a:xfrm>
            <a:off x="8003797" y="815726"/>
            <a:ext cx="3956806" cy="1325563"/>
          </a:xfrm>
          <a:prstGeom prst="rect">
            <a:avLst/>
          </a:prstGeom>
        </p:spPr>
      </p:pic>
    </p:spTree>
    <p:extLst>
      <p:ext uri="{BB962C8B-B14F-4D97-AF65-F5344CB8AC3E}">
        <p14:creationId xmlns:p14="http://schemas.microsoft.com/office/powerpoint/2010/main" val="1499232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Basic (BSC) (2/2)</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6</a:t>
            </a:fld>
            <a:endParaRPr kumimoji="1" lang="zh-TW" altLang="en-US"/>
          </a:p>
        </p:txBody>
      </p:sp>
      <p:pic>
        <p:nvPicPr>
          <p:cNvPr id="4" name="圖片 3">
            <a:extLst>
              <a:ext uri="{FF2B5EF4-FFF2-40B4-BE49-F238E27FC236}">
                <a16:creationId xmlns:a16="http://schemas.microsoft.com/office/drawing/2014/main" id="{8A8B8ABA-6347-72EF-5402-A4EE9EA5E33C}"/>
              </a:ext>
            </a:extLst>
          </p:cNvPr>
          <p:cNvPicPr>
            <a:picLocks noChangeAspect="1"/>
          </p:cNvPicPr>
          <p:nvPr/>
        </p:nvPicPr>
        <p:blipFill>
          <a:blip r:embed="rId2"/>
          <a:stretch>
            <a:fillRect/>
          </a:stretch>
        </p:blipFill>
        <p:spPr>
          <a:xfrm>
            <a:off x="763770" y="1770574"/>
            <a:ext cx="6001654" cy="4086045"/>
          </a:xfrm>
          <a:prstGeom prst="rect">
            <a:avLst/>
          </a:prstGeom>
        </p:spPr>
      </p:pic>
      <p:pic>
        <p:nvPicPr>
          <p:cNvPr id="3" name="圖片 2">
            <a:extLst>
              <a:ext uri="{FF2B5EF4-FFF2-40B4-BE49-F238E27FC236}">
                <a16:creationId xmlns:a16="http://schemas.microsoft.com/office/drawing/2014/main" id="{6A9C83A9-DCC8-FA2C-B19D-84DC88370FBD}"/>
              </a:ext>
            </a:extLst>
          </p:cNvPr>
          <p:cNvPicPr>
            <a:picLocks noChangeAspect="1"/>
          </p:cNvPicPr>
          <p:nvPr/>
        </p:nvPicPr>
        <p:blipFill>
          <a:blip r:embed="rId3"/>
          <a:stretch>
            <a:fillRect/>
          </a:stretch>
        </p:blipFill>
        <p:spPr>
          <a:xfrm>
            <a:off x="7020605" y="2081079"/>
            <a:ext cx="4758965" cy="1594293"/>
          </a:xfrm>
          <a:prstGeom prst="rect">
            <a:avLst/>
          </a:prstGeom>
        </p:spPr>
      </p:pic>
    </p:spTree>
    <p:extLst>
      <p:ext uri="{BB962C8B-B14F-4D97-AF65-F5344CB8AC3E}">
        <p14:creationId xmlns:p14="http://schemas.microsoft.com/office/powerpoint/2010/main" val="3856320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lang="en-US" altLang="zh-TW" dirty="0"/>
              <a:t>Length and Hole Point (LHP)</a:t>
            </a:r>
          </a:p>
        </p:txBody>
      </p:sp>
      <p:sp>
        <p:nvSpPr>
          <p:cNvPr id="12" name="內容版面配置區 11">
            <a:extLst>
              <a:ext uri="{FF2B5EF4-FFF2-40B4-BE49-F238E27FC236}">
                <a16:creationId xmlns:a16="http://schemas.microsoft.com/office/drawing/2014/main" id="{F5947910-9B79-5AB7-1CB1-7997AA32BC9E}"/>
              </a:ext>
            </a:extLst>
          </p:cNvPr>
          <p:cNvSpPr>
            <a:spLocks noGrp="1"/>
          </p:cNvSpPr>
          <p:nvPr>
            <p:ph idx="1"/>
          </p:nvPr>
        </p:nvSpPr>
        <p:spPr>
          <a:xfrm>
            <a:off x="838200" y="1825625"/>
            <a:ext cx="5137298" cy="4351338"/>
          </a:xfrm>
        </p:spPr>
        <p:txBody>
          <a:bodyPr/>
          <a:lstStyle/>
          <a:p>
            <a:r>
              <a:rPr kumimoji="1" lang="en-US" altLang="zh-TW" dirty="0">
                <a:latin typeface="Times New Roman" panose="02020603050405020304" pitchFamily="18" charset="0"/>
                <a:cs typeface="Times New Roman" panose="02020603050405020304" pitchFamily="18" charset="0"/>
              </a:rPr>
              <a:t>Length condition:</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pPr marL="0" indent="0">
              <a:buNone/>
            </a:pPr>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Hole point condition:</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lang="zh-TW" altLang="en-US" smtClean="0"/>
              <a:pPr/>
              <a:t>7</a:t>
            </a:fld>
            <a:endParaRPr lang="zh-TW" altLang="en-US"/>
          </a:p>
        </p:txBody>
      </p:sp>
      <p:pic>
        <p:nvPicPr>
          <p:cNvPr id="13" name="圖片 12">
            <a:extLst>
              <a:ext uri="{FF2B5EF4-FFF2-40B4-BE49-F238E27FC236}">
                <a16:creationId xmlns:a16="http://schemas.microsoft.com/office/drawing/2014/main" id="{223B90A7-71E6-6041-731A-7B60DF9D5C66}"/>
              </a:ext>
            </a:extLst>
          </p:cNvPr>
          <p:cNvPicPr>
            <a:picLocks noChangeAspect="1"/>
          </p:cNvPicPr>
          <p:nvPr/>
        </p:nvPicPr>
        <p:blipFill>
          <a:blip r:embed="rId2"/>
          <a:stretch>
            <a:fillRect/>
          </a:stretch>
        </p:blipFill>
        <p:spPr>
          <a:xfrm>
            <a:off x="1084817" y="2437369"/>
            <a:ext cx="3485083" cy="433424"/>
          </a:xfrm>
          <a:prstGeom prst="rect">
            <a:avLst/>
          </a:prstGeom>
        </p:spPr>
      </p:pic>
      <p:graphicFrame>
        <p:nvGraphicFramePr>
          <p:cNvPr id="14" name="表格 13">
            <a:extLst>
              <a:ext uri="{FF2B5EF4-FFF2-40B4-BE49-F238E27FC236}">
                <a16:creationId xmlns:a16="http://schemas.microsoft.com/office/drawing/2014/main" id="{12126AA4-48A1-94E6-C0F6-559FDDE39315}"/>
              </a:ext>
            </a:extLst>
          </p:cNvPr>
          <p:cNvGraphicFramePr>
            <a:graphicFrameLocks noGrp="1"/>
          </p:cNvGraphicFramePr>
          <p:nvPr>
            <p:extLst>
              <p:ext uri="{D42A27DB-BD31-4B8C-83A1-F6EECF244321}">
                <p14:modId xmlns:p14="http://schemas.microsoft.com/office/powerpoint/2010/main" val="2896910073"/>
              </p:ext>
            </p:extLst>
          </p:nvPr>
        </p:nvGraphicFramePr>
        <p:xfrm>
          <a:off x="1220973" y="3012916"/>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025307070"/>
                  </a:ext>
                </a:extLst>
              </a:tr>
            </a:tbl>
          </a:graphicData>
        </a:graphic>
      </p:graphicFrame>
      <p:sp>
        <p:nvSpPr>
          <p:cNvPr id="18" name="內容版面配置區 11">
            <a:extLst>
              <a:ext uri="{FF2B5EF4-FFF2-40B4-BE49-F238E27FC236}">
                <a16:creationId xmlns:a16="http://schemas.microsoft.com/office/drawing/2014/main" id="{1216EE4B-5D3D-9A70-2E21-5FECEF0FEA94}"/>
              </a:ext>
            </a:extLst>
          </p:cNvPr>
          <p:cNvSpPr txBox="1">
            <a:spLocks/>
          </p:cNvSpPr>
          <p:nvPr/>
        </p:nvSpPr>
        <p:spPr>
          <a:xfrm>
            <a:off x="5972546" y="2922511"/>
            <a:ext cx="52578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When </a:t>
            </a:r>
            <a:r>
              <a:rPr kumimoji="1" lang="en-US" altLang="zh-TW" i="1" dirty="0">
                <a:latin typeface="Times New Roman" panose="02020603050405020304" pitchFamily="18" charset="0"/>
                <a:cs typeface="Times New Roman" panose="02020603050405020304" pitchFamily="18" charset="0"/>
              </a:rPr>
              <a:t>x</a:t>
            </a:r>
            <a:r>
              <a:rPr kumimoji="1" lang="en-US" altLang="zh-TW" dirty="0">
                <a:latin typeface="Times New Roman" panose="02020603050405020304" pitchFamily="18" charset="0"/>
                <a:cs typeface="Times New Roman" panose="02020603050405020304" pitchFamily="18" charset="0"/>
              </a:rPr>
              <a:t> = 3:</a:t>
            </a:r>
          </a:p>
          <a:p>
            <a:pPr lvl="1"/>
            <a:r>
              <a:rPr kumimoji="1" lang="en-US" altLang="zh-TW" i="1" dirty="0">
                <a:latin typeface="Times New Roman" panose="02020603050405020304" pitchFamily="18" charset="0"/>
                <a:cs typeface="Times New Roman" panose="02020603050405020304" pitchFamily="18" charset="0"/>
              </a:rPr>
              <a:t>y</a:t>
            </a:r>
            <a:r>
              <a:rPr kumimoji="1" lang="en-US" altLang="zh-TW" dirty="0">
                <a:latin typeface="Times New Roman" panose="02020603050405020304" pitchFamily="18" charset="0"/>
                <a:cs typeface="Times New Roman" panose="02020603050405020304" pitchFamily="18" charset="0"/>
              </a:rPr>
              <a:t> = 4: </a:t>
            </a:r>
            <a:r>
              <a:rPr kumimoji="1" lang="en-US" altLang="zh-TW" i="1" dirty="0">
                <a:latin typeface="Times New Roman" panose="02020603050405020304" pitchFamily="18" charset="0"/>
                <a:cs typeface="Times New Roman" panose="02020603050405020304" pitchFamily="18" charset="0"/>
              </a:rPr>
              <a:t>u</a:t>
            </a:r>
            <a:r>
              <a:rPr kumimoji="1" lang="en-US" altLang="zh-TW" dirty="0">
                <a:latin typeface="Times New Roman" panose="02020603050405020304" pitchFamily="18" charset="0"/>
                <a:cs typeface="Times New Roman" panose="02020603050405020304" pitchFamily="18" charset="0"/>
              </a:rPr>
              <a:t> –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 6 – 1 = </a:t>
            </a:r>
            <a:r>
              <a:rPr kumimoji="1" lang="en-US" altLang="zh-TW" b="1" dirty="0">
                <a:solidFill>
                  <a:srgbClr val="FF0000"/>
                </a:solidFill>
                <a:latin typeface="Times New Roman" panose="02020603050405020304" pitchFamily="18" charset="0"/>
                <a:cs typeface="Times New Roman" panose="02020603050405020304" pitchFamily="18" charset="0"/>
              </a:rPr>
              <a:t>5 &gt; 4</a:t>
            </a:r>
          </a:p>
          <a:p>
            <a:pPr lvl="1"/>
            <a:r>
              <a:rPr kumimoji="1" lang="en-US" altLang="zh-TW" dirty="0">
                <a:latin typeface="Times New Roman" panose="02020603050405020304" pitchFamily="18" charset="0"/>
                <a:cs typeface="Times New Roman" panose="02020603050405020304" pitchFamily="18" charset="0"/>
              </a:rPr>
              <a:t>Skip </a:t>
            </a:r>
            <a:r>
              <a:rPr kumimoji="1" lang="en-US" altLang="zh-TW" i="1" dirty="0">
                <a:latin typeface="Times New Roman" panose="02020603050405020304" pitchFamily="18" charset="0"/>
                <a:cs typeface="Times New Roman" panose="02020603050405020304" pitchFamily="18" charset="0"/>
              </a:rPr>
              <a:t>x</a:t>
            </a:r>
            <a:r>
              <a:rPr kumimoji="1" lang="en-US" altLang="zh-TW" dirty="0">
                <a:latin typeface="Times New Roman" panose="02020603050405020304" pitchFamily="18" charset="0"/>
                <a:cs typeface="Times New Roman" panose="02020603050405020304" pitchFamily="18" charset="0"/>
              </a:rPr>
              <a:t> = 3</a:t>
            </a:r>
          </a:p>
        </p:txBody>
      </p:sp>
      <p:pic>
        <p:nvPicPr>
          <p:cNvPr id="19" name="圖片 18">
            <a:extLst>
              <a:ext uri="{FF2B5EF4-FFF2-40B4-BE49-F238E27FC236}">
                <a16:creationId xmlns:a16="http://schemas.microsoft.com/office/drawing/2014/main" id="{18D31DF1-9498-D613-8AB8-2A85085B8FFB}"/>
              </a:ext>
            </a:extLst>
          </p:cNvPr>
          <p:cNvPicPr>
            <a:picLocks noChangeAspect="1"/>
          </p:cNvPicPr>
          <p:nvPr/>
        </p:nvPicPr>
        <p:blipFill>
          <a:blip r:embed="rId3"/>
          <a:stretch>
            <a:fillRect/>
          </a:stretch>
        </p:blipFill>
        <p:spPr>
          <a:xfrm>
            <a:off x="1083681" y="4884419"/>
            <a:ext cx="3115043" cy="472281"/>
          </a:xfrm>
          <a:prstGeom prst="rect">
            <a:avLst/>
          </a:prstGeom>
        </p:spPr>
      </p:pic>
      <p:pic>
        <p:nvPicPr>
          <p:cNvPr id="20" name="圖片 19">
            <a:extLst>
              <a:ext uri="{FF2B5EF4-FFF2-40B4-BE49-F238E27FC236}">
                <a16:creationId xmlns:a16="http://schemas.microsoft.com/office/drawing/2014/main" id="{FCD6BEDF-25CF-CAB3-DCEF-3630C6170A73}"/>
              </a:ext>
            </a:extLst>
          </p:cNvPr>
          <p:cNvPicPr>
            <a:picLocks noChangeAspect="1"/>
          </p:cNvPicPr>
          <p:nvPr/>
        </p:nvPicPr>
        <p:blipFill>
          <a:blip r:embed="rId4"/>
          <a:stretch>
            <a:fillRect/>
          </a:stretch>
        </p:blipFill>
        <p:spPr>
          <a:xfrm>
            <a:off x="4198724" y="4884419"/>
            <a:ext cx="1647959" cy="472281"/>
          </a:xfrm>
          <a:prstGeom prst="rect">
            <a:avLst/>
          </a:prstGeom>
        </p:spPr>
      </p:pic>
      <p:sp>
        <p:nvSpPr>
          <p:cNvPr id="22" name="文字方塊 21">
            <a:extLst>
              <a:ext uri="{FF2B5EF4-FFF2-40B4-BE49-F238E27FC236}">
                <a16:creationId xmlns:a16="http://schemas.microsoft.com/office/drawing/2014/main" id="{1EEAA479-F2DF-9836-98F1-8C9B6C8BFB39}"/>
              </a:ext>
            </a:extLst>
          </p:cNvPr>
          <p:cNvSpPr txBox="1"/>
          <p:nvPr/>
        </p:nvSpPr>
        <p:spPr>
          <a:xfrm>
            <a:off x="5972546" y="4266230"/>
            <a:ext cx="4500524" cy="646331"/>
          </a:xfrm>
          <a:prstGeom prst="rect">
            <a:avLst/>
          </a:prstGeom>
          <a:noFill/>
        </p:spPr>
        <p:txBody>
          <a:bodyPr wrap="square">
            <a:spAutoFit/>
          </a:bodyPr>
          <a:lstStyle/>
          <a:p>
            <a:r>
              <a:rPr lang="en-US" altLang="zh-TW" i="1" dirty="0">
                <a:solidFill>
                  <a:srgbClr val="000000"/>
                </a:solidFill>
                <a:effectLst/>
                <a:latin typeface="Times New Roman" panose="02020603050405020304" pitchFamily="18" charset="0"/>
                <a:cs typeface="Times New Roman" panose="02020603050405020304" pitchFamily="18" charset="0"/>
              </a:rPr>
              <a:t>HP </a:t>
            </a:r>
            <a:r>
              <a:rPr lang="en-US" altLang="zh-TW" dirty="0">
                <a:solidFill>
                  <a:srgbClr val="000000"/>
                </a:solidFill>
                <a:effectLst/>
                <a:latin typeface="Times New Roman" panose="02020603050405020304" pitchFamily="18" charset="0"/>
                <a:cs typeface="Times New Roman" panose="02020603050405020304" pitchFamily="18" charset="0"/>
              </a:rPr>
              <a:t>is the set of indices of the elements which will not be included in any interval [</a:t>
            </a:r>
            <a:r>
              <a:rPr lang="en-US" altLang="zh-TW" i="1" dirty="0">
                <a:solidFill>
                  <a:srgbClr val="000000"/>
                </a:solidFill>
                <a:effectLst/>
                <a:latin typeface="Times New Roman" panose="02020603050405020304" pitchFamily="18" charset="0"/>
                <a:cs typeface="Times New Roman" panose="02020603050405020304" pitchFamily="18" charset="0"/>
              </a:rPr>
              <a:t>x</a:t>
            </a:r>
            <a:r>
              <a:rPr lang="en-US" altLang="zh-TW" dirty="0">
                <a:solidFill>
                  <a:srgbClr val="000000"/>
                </a:solidFill>
                <a:effectLst/>
                <a:latin typeface="Times New Roman" panose="02020603050405020304" pitchFamily="18" charset="0"/>
                <a:cs typeface="Times New Roman" panose="02020603050405020304" pitchFamily="18" charset="0"/>
              </a:rPr>
              <a:t>, </a:t>
            </a:r>
            <a:r>
              <a:rPr lang="en-US" altLang="zh-TW" i="1" dirty="0">
                <a:solidFill>
                  <a:srgbClr val="000000"/>
                </a:solidFill>
                <a:effectLst/>
                <a:latin typeface="Times New Roman" panose="02020603050405020304" pitchFamily="18" charset="0"/>
                <a:cs typeface="Times New Roman" panose="02020603050405020304" pitchFamily="18" charset="0"/>
              </a:rPr>
              <a:t>y</a:t>
            </a:r>
            <a:r>
              <a:rPr lang="en-US" altLang="zh-TW" dirty="0">
                <a:solidFill>
                  <a:srgbClr val="000000"/>
                </a:solidFill>
                <a:effectLst/>
                <a:latin typeface="Times New Roman" panose="02020603050405020304" pitchFamily="18" charset="0"/>
                <a:cs typeface="Times New Roman" panose="02020603050405020304" pitchFamily="18" charset="0"/>
              </a:rPr>
              <a:t>].</a:t>
            </a:r>
          </a:p>
        </p:txBody>
      </p:sp>
      <p:graphicFrame>
        <p:nvGraphicFramePr>
          <p:cNvPr id="23" name="表格 22">
            <a:extLst>
              <a:ext uri="{FF2B5EF4-FFF2-40B4-BE49-F238E27FC236}">
                <a16:creationId xmlns:a16="http://schemas.microsoft.com/office/drawing/2014/main" id="{74990695-18CC-8161-73FA-04445F2ED44B}"/>
              </a:ext>
            </a:extLst>
          </p:cNvPr>
          <p:cNvGraphicFramePr>
            <a:graphicFrameLocks noGrp="1"/>
          </p:cNvGraphicFramePr>
          <p:nvPr>
            <p:extLst>
              <p:ext uri="{D42A27DB-BD31-4B8C-83A1-F6EECF244321}">
                <p14:modId xmlns:p14="http://schemas.microsoft.com/office/powerpoint/2010/main" val="3166403845"/>
              </p:ext>
            </p:extLst>
          </p:nvPr>
        </p:nvGraphicFramePr>
        <p:xfrm>
          <a:off x="1220973" y="5426392"/>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rgbClr val="FF0000"/>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rgbClr val="FF0000"/>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025307070"/>
                  </a:ext>
                </a:extLst>
              </a:tr>
            </a:tbl>
          </a:graphicData>
        </a:graphic>
      </p:graphicFrame>
      <p:sp>
        <p:nvSpPr>
          <p:cNvPr id="24" name="內容版面配置區 11">
            <a:extLst>
              <a:ext uri="{FF2B5EF4-FFF2-40B4-BE49-F238E27FC236}">
                <a16:creationId xmlns:a16="http://schemas.microsoft.com/office/drawing/2014/main" id="{62BB1844-9852-AE51-6CB0-8AE6F7DC5644}"/>
              </a:ext>
            </a:extLst>
          </p:cNvPr>
          <p:cNvSpPr txBox="1">
            <a:spLocks/>
          </p:cNvSpPr>
          <p:nvPr/>
        </p:nvSpPr>
        <p:spPr>
          <a:xfrm>
            <a:off x="5850519" y="5319870"/>
            <a:ext cx="52578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TW" dirty="0">
                <a:latin typeface="Times New Roman" panose="02020603050405020304" pitchFamily="18" charset="0"/>
                <a:cs typeface="Times New Roman" panose="02020603050405020304" pitchFamily="18" charset="0"/>
              </a:rPr>
              <a:t>When </a:t>
            </a:r>
            <a:r>
              <a:rPr kumimoji="1" lang="en-US" altLang="zh-TW" i="1" dirty="0">
                <a:latin typeface="Times New Roman" panose="02020603050405020304" pitchFamily="18" charset="0"/>
                <a:cs typeface="Times New Roman" panose="02020603050405020304" pitchFamily="18" charset="0"/>
              </a:rPr>
              <a:t>x</a:t>
            </a:r>
            <a:r>
              <a:rPr kumimoji="1" lang="en-US" altLang="zh-TW" dirty="0">
                <a:latin typeface="Times New Roman" panose="02020603050405020304" pitchFamily="18" charset="0"/>
                <a:cs typeface="Times New Roman" panose="02020603050405020304" pitchFamily="18" charset="0"/>
              </a:rPr>
              <a:t> = 4:</a:t>
            </a:r>
          </a:p>
          <a:p>
            <a:pPr lvl="1"/>
            <a:r>
              <a:rPr kumimoji="1" lang="en-US" altLang="zh-TW" dirty="0">
                <a:latin typeface="Times New Roman" panose="02020603050405020304" pitchFamily="18" charset="0"/>
                <a:cs typeface="Times New Roman" panose="02020603050405020304" pitchFamily="18" charset="0"/>
              </a:rPr>
              <a:t>y = 5: </a:t>
            </a:r>
            <a:r>
              <a:rPr kumimoji="1" lang="en-US" altLang="zh-TW" i="1" dirty="0">
                <a:latin typeface="Times New Roman" panose="02020603050405020304" pitchFamily="18" charset="0"/>
                <a:cs typeface="Times New Roman" panose="02020603050405020304" pitchFamily="18" charset="0"/>
              </a:rPr>
              <a:t>l</a:t>
            </a:r>
            <a:r>
              <a:rPr kumimoji="1" lang="en-US" altLang="zh-TW" dirty="0">
                <a:latin typeface="Times New Roman" panose="02020603050405020304" pitchFamily="18" charset="0"/>
                <a:cs typeface="Times New Roman" panose="02020603050405020304" pitchFamily="18" charset="0"/>
              </a:rPr>
              <a:t> &lt; </a:t>
            </a:r>
            <a:r>
              <a:rPr kumimoji="1" lang="en-US" altLang="zh-TW" i="1" dirty="0">
                <a:solidFill>
                  <a:srgbClr val="FF0000"/>
                </a:solidFill>
                <a:latin typeface="Times New Roman" panose="02020603050405020304" pitchFamily="18" charset="0"/>
                <a:cs typeface="Times New Roman" panose="02020603050405020304" pitchFamily="18" charset="0"/>
              </a:rPr>
              <a:t>h</a:t>
            </a:r>
            <a:r>
              <a:rPr kumimoji="1" lang="en-US" altLang="zh-TW" dirty="0">
                <a:latin typeface="Times New Roman" panose="02020603050405020304" pitchFamily="18" charset="0"/>
                <a:cs typeface="Times New Roman" panose="02020603050405020304" pitchFamily="18" charset="0"/>
              </a:rPr>
              <a:t> &lt; </a:t>
            </a:r>
            <a:r>
              <a:rPr kumimoji="1" lang="en-US" altLang="zh-TW" i="1" dirty="0">
                <a:latin typeface="Times New Roman" panose="02020603050405020304" pitchFamily="18" charset="0"/>
                <a:cs typeface="Times New Roman" panose="02020603050405020304" pitchFamily="18" charset="0"/>
              </a:rPr>
              <a:t>u</a:t>
            </a:r>
            <a:r>
              <a:rPr kumimoji="1" lang="en-US" altLang="zh-TW" dirty="0">
                <a:latin typeface="Times New Roman" panose="02020603050405020304" pitchFamily="18" charset="0"/>
                <a:cs typeface="Times New Roman" panose="02020603050405020304" pitchFamily="18" charset="0"/>
              </a:rPr>
              <a:t> (3 &lt; 4 &lt; 6)</a:t>
            </a:r>
            <a:endParaRPr kumimoji="1" lang="en-US" altLang="zh-TW" b="1" dirty="0">
              <a:solidFill>
                <a:srgbClr val="FF0000"/>
              </a:solidFill>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Skip </a:t>
            </a:r>
            <a:r>
              <a:rPr kumimoji="1" lang="en-US" altLang="zh-TW" i="1" dirty="0">
                <a:latin typeface="Times New Roman" panose="02020603050405020304" pitchFamily="18" charset="0"/>
                <a:cs typeface="Times New Roman" panose="02020603050405020304" pitchFamily="18" charset="0"/>
              </a:rPr>
              <a:t>x</a:t>
            </a:r>
            <a:r>
              <a:rPr kumimoji="1" lang="en-US" altLang="zh-TW" dirty="0">
                <a:latin typeface="Times New Roman" panose="02020603050405020304" pitchFamily="18" charset="0"/>
                <a:cs typeface="Times New Roman" panose="02020603050405020304" pitchFamily="18" charset="0"/>
              </a:rPr>
              <a:t> = 4</a:t>
            </a:r>
          </a:p>
        </p:txBody>
      </p:sp>
      <p:pic>
        <p:nvPicPr>
          <p:cNvPr id="25" name="圖片 24">
            <a:extLst>
              <a:ext uri="{FF2B5EF4-FFF2-40B4-BE49-F238E27FC236}">
                <a16:creationId xmlns:a16="http://schemas.microsoft.com/office/drawing/2014/main" id="{504AF597-568B-04B2-DCEC-58A89B7CE05D}"/>
              </a:ext>
            </a:extLst>
          </p:cNvPr>
          <p:cNvPicPr>
            <a:picLocks noChangeAspect="1"/>
          </p:cNvPicPr>
          <p:nvPr/>
        </p:nvPicPr>
        <p:blipFill>
          <a:blip r:embed="rId5"/>
          <a:stretch>
            <a:fillRect/>
          </a:stretch>
        </p:blipFill>
        <p:spPr>
          <a:xfrm>
            <a:off x="5972546" y="4980582"/>
            <a:ext cx="4634614" cy="271266"/>
          </a:xfrm>
          <a:prstGeom prst="rect">
            <a:avLst/>
          </a:prstGeom>
        </p:spPr>
      </p:pic>
    </p:spTree>
    <p:extLst>
      <p:ext uri="{BB962C8B-B14F-4D97-AF65-F5344CB8AC3E}">
        <p14:creationId xmlns:p14="http://schemas.microsoft.com/office/powerpoint/2010/main" val="2015405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997E7762-CC70-3610-0823-C77D6BD67D81}"/>
              </a:ext>
            </a:extLst>
          </p:cNvPr>
          <p:cNvPicPr>
            <a:picLocks noChangeAspect="1"/>
          </p:cNvPicPr>
          <p:nvPr/>
        </p:nvPicPr>
        <p:blipFill>
          <a:blip r:embed="rId2"/>
          <a:stretch>
            <a:fillRect/>
          </a:stretch>
        </p:blipFill>
        <p:spPr>
          <a:xfrm>
            <a:off x="6363203" y="4101119"/>
            <a:ext cx="5732832" cy="2165537"/>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Monge (MNG) (1/2)</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8</a:t>
            </a:fld>
            <a:endParaRPr kumimoji="1" lang="zh-TW" altLang="en-US"/>
          </a:p>
        </p:txBody>
      </p:sp>
      <p:sp>
        <p:nvSpPr>
          <p:cNvPr id="3" name="內容版面配置區 11">
            <a:extLst>
              <a:ext uri="{FF2B5EF4-FFF2-40B4-BE49-F238E27FC236}">
                <a16:creationId xmlns:a16="http://schemas.microsoft.com/office/drawing/2014/main" id="{911D4561-D53F-A073-8909-940EDDED297A}"/>
              </a:ext>
            </a:extLst>
          </p:cNvPr>
          <p:cNvSpPr>
            <a:spLocks noGrp="1"/>
          </p:cNvSpPr>
          <p:nvPr>
            <p:ph idx="1"/>
          </p:nvPr>
        </p:nvSpPr>
        <p:spPr>
          <a:xfrm>
            <a:off x="838200" y="1825625"/>
            <a:ext cx="10963940" cy="4351338"/>
          </a:xfrm>
        </p:spPr>
        <p:txBody>
          <a:bodyPr/>
          <a:lstStyle/>
          <a:p>
            <a:r>
              <a:rPr kumimoji="1" lang="en-US" altLang="zh-TW" i="1" dirty="0">
                <a:latin typeface="Times New Roman" panose="02020603050405020304" pitchFamily="18" charset="0"/>
                <a:cs typeface="Times New Roman" panose="02020603050405020304" pitchFamily="18" charset="0"/>
              </a:rPr>
              <a:t>f</a:t>
            </a:r>
            <a:r>
              <a:rPr kumimoji="1" lang="en-US" altLang="zh-TW" dirty="0">
                <a:latin typeface="Times New Roman" panose="02020603050405020304" pitchFamily="18" charset="0"/>
                <a:cs typeface="Times New Roman" panose="02020603050405020304" pitchFamily="18" charset="0"/>
              </a:rPr>
              <a:t>() satisfies reverse Monge property.</a:t>
            </a: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Monge condition:</a:t>
            </a:r>
          </a:p>
          <a:p>
            <a:endParaRPr kumimoji="1" lang="en-US" altLang="zh-TW"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DFE3C13B-1767-A9E3-DF44-14D1E3204239}"/>
              </a:ext>
            </a:extLst>
          </p:cNvPr>
          <p:cNvPicPr>
            <a:picLocks noChangeAspect="1"/>
          </p:cNvPicPr>
          <p:nvPr/>
        </p:nvPicPr>
        <p:blipFill>
          <a:blip r:embed="rId3"/>
          <a:stretch>
            <a:fillRect/>
          </a:stretch>
        </p:blipFill>
        <p:spPr>
          <a:xfrm>
            <a:off x="8042749" y="2382151"/>
            <a:ext cx="3956806" cy="1325563"/>
          </a:xfrm>
          <a:prstGeom prst="rect">
            <a:avLst/>
          </a:prstGeom>
        </p:spPr>
      </p:pic>
      <p:pic>
        <p:nvPicPr>
          <p:cNvPr id="5" name="圖片 4">
            <a:extLst>
              <a:ext uri="{FF2B5EF4-FFF2-40B4-BE49-F238E27FC236}">
                <a16:creationId xmlns:a16="http://schemas.microsoft.com/office/drawing/2014/main" id="{1F295F03-5161-F453-3A2D-3CCDDC547FE2}"/>
              </a:ext>
            </a:extLst>
          </p:cNvPr>
          <p:cNvPicPr>
            <a:picLocks noChangeAspect="1"/>
          </p:cNvPicPr>
          <p:nvPr/>
        </p:nvPicPr>
        <p:blipFill>
          <a:blip r:embed="rId4"/>
          <a:stretch>
            <a:fillRect/>
          </a:stretch>
        </p:blipFill>
        <p:spPr>
          <a:xfrm>
            <a:off x="1014072" y="2480855"/>
            <a:ext cx="4945321" cy="479891"/>
          </a:xfrm>
          <a:prstGeom prst="rect">
            <a:avLst/>
          </a:prstGeom>
        </p:spPr>
      </p:pic>
      <p:pic>
        <p:nvPicPr>
          <p:cNvPr id="10" name="圖片 9">
            <a:extLst>
              <a:ext uri="{FF2B5EF4-FFF2-40B4-BE49-F238E27FC236}">
                <a16:creationId xmlns:a16="http://schemas.microsoft.com/office/drawing/2014/main" id="{F3705ECE-38F6-2F1C-2105-8A25ACF65838}"/>
              </a:ext>
            </a:extLst>
          </p:cNvPr>
          <p:cNvPicPr>
            <a:picLocks noChangeAspect="1"/>
          </p:cNvPicPr>
          <p:nvPr/>
        </p:nvPicPr>
        <p:blipFill>
          <a:blip r:embed="rId5"/>
          <a:stretch>
            <a:fillRect/>
          </a:stretch>
        </p:blipFill>
        <p:spPr>
          <a:xfrm>
            <a:off x="1035615" y="2966094"/>
            <a:ext cx="6887601" cy="741620"/>
          </a:xfrm>
          <a:prstGeom prst="rect">
            <a:avLst/>
          </a:prstGeom>
        </p:spPr>
      </p:pic>
      <p:graphicFrame>
        <p:nvGraphicFramePr>
          <p:cNvPr id="14" name="表格 13">
            <a:extLst>
              <a:ext uri="{FF2B5EF4-FFF2-40B4-BE49-F238E27FC236}">
                <a16:creationId xmlns:a16="http://schemas.microsoft.com/office/drawing/2014/main" id="{81CA103C-312A-3396-BE24-7C88351C4FC9}"/>
              </a:ext>
            </a:extLst>
          </p:cNvPr>
          <p:cNvGraphicFramePr>
            <a:graphicFrameLocks noGrp="1"/>
          </p:cNvGraphicFramePr>
          <p:nvPr>
            <p:extLst>
              <p:ext uri="{D42A27DB-BD31-4B8C-83A1-F6EECF244321}">
                <p14:modId xmlns:p14="http://schemas.microsoft.com/office/powerpoint/2010/main" val="4171013728"/>
              </p:ext>
            </p:extLst>
          </p:nvPr>
        </p:nvGraphicFramePr>
        <p:xfrm>
          <a:off x="1112718" y="5093100"/>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pic>
        <p:nvPicPr>
          <p:cNvPr id="15" name="圖片 14">
            <a:extLst>
              <a:ext uri="{FF2B5EF4-FFF2-40B4-BE49-F238E27FC236}">
                <a16:creationId xmlns:a16="http://schemas.microsoft.com/office/drawing/2014/main" id="{C9E3D682-5F7F-55E3-32EC-3DAF8B92FDBD}"/>
              </a:ext>
            </a:extLst>
          </p:cNvPr>
          <p:cNvPicPr>
            <a:picLocks noChangeAspect="1"/>
          </p:cNvPicPr>
          <p:nvPr/>
        </p:nvPicPr>
        <p:blipFill>
          <a:blip r:embed="rId6"/>
          <a:stretch>
            <a:fillRect/>
          </a:stretch>
        </p:blipFill>
        <p:spPr>
          <a:xfrm>
            <a:off x="1112718" y="4368292"/>
            <a:ext cx="5455997" cy="479891"/>
          </a:xfrm>
          <a:prstGeom prst="rect">
            <a:avLst/>
          </a:prstGeom>
        </p:spPr>
      </p:pic>
      <p:sp>
        <p:nvSpPr>
          <p:cNvPr id="18" name="文字方塊 17">
            <a:extLst>
              <a:ext uri="{FF2B5EF4-FFF2-40B4-BE49-F238E27FC236}">
                <a16:creationId xmlns:a16="http://schemas.microsoft.com/office/drawing/2014/main" id="{264944DB-6111-D95B-6F42-DDB35F7A2F2B}"/>
              </a:ext>
            </a:extLst>
          </p:cNvPr>
          <p:cNvSpPr txBox="1"/>
          <p:nvPr/>
        </p:nvSpPr>
        <p:spPr>
          <a:xfrm>
            <a:off x="1275907" y="2803201"/>
            <a:ext cx="646331" cy="369332"/>
          </a:xfrm>
          <a:prstGeom prst="rect">
            <a:avLst/>
          </a:prstGeom>
          <a:noFill/>
        </p:spPr>
        <p:txBody>
          <a:bodyPr wrap="none" rtlCol="0">
            <a:spAutoFit/>
          </a:bodyPr>
          <a:lstStyle/>
          <a:p>
            <a:r>
              <a:rPr kumimoji="1" lang="zh-TW" altLang="en-US" dirty="0">
                <a:solidFill>
                  <a:schemeClr val="accent2"/>
                </a:solidFill>
              </a:rPr>
              <a:t>左上</a:t>
            </a:r>
          </a:p>
        </p:txBody>
      </p:sp>
      <p:sp>
        <p:nvSpPr>
          <p:cNvPr id="19" name="文字方塊 18">
            <a:extLst>
              <a:ext uri="{FF2B5EF4-FFF2-40B4-BE49-F238E27FC236}">
                <a16:creationId xmlns:a16="http://schemas.microsoft.com/office/drawing/2014/main" id="{37A0C53E-C8B6-3BBF-2DF1-1C47F8626CD0}"/>
              </a:ext>
            </a:extLst>
          </p:cNvPr>
          <p:cNvSpPr txBox="1"/>
          <p:nvPr/>
        </p:nvSpPr>
        <p:spPr>
          <a:xfrm>
            <a:off x="2427768" y="2803201"/>
            <a:ext cx="646331" cy="369332"/>
          </a:xfrm>
          <a:prstGeom prst="rect">
            <a:avLst/>
          </a:prstGeom>
          <a:noFill/>
        </p:spPr>
        <p:txBody>
          <a:bodyPr wrap="none" rtlCol="0">
            <a:spAutoFit/>
          </a:bodyPr>
          <a:lstStyle/>
          <a:p>
            <a:r>
              <a:rPr kumimoji="1" lang="zh-TW" altLang="en-US" dirty="0">
                <a:solidFill>
                  <a:schemeClr val="accent2"/>
                </a:solidFill>
              </a:rPr>
              <a:t>右下</a:t>
            </a:r>
          </a:p>
        </p:txBody>
      </p:sp>
      <p:sp>
        <p:nvSpPr>
          <p:cNvPr id="20" name="文字方塊 19">
            <a:extLst>
              <a:ext uri="{FF2B5EF4-FFF2-40B4-BE49-F238E27FC236}">
                <a16:creationId xmlns:a16="http://schemas.microsoft.com/office/drawing/2014/main" id="{6D6E55F9-3953-4CF0-612C-FF935871E321}"/>
              </a:ext>
            </a:extLst>
          </p:cNvPr>
          <p:cNvSpPr txBox="1"/>
          <p:nvPr/>
        </p:nvSpPr>
        <p:spPr>
          <a:xfrm>
            <a:off x="3779393" y="2803201"/>
            <a:ext cx="646331" cy="369332"/>
          </a:xfrm>
          <a:prstGeom prst="rect">
            <a:avLst/>
          </a:prstGeom>
          <a:noFill/>
        </p:spPr>
        <p:txBody>
          <a:bodyPr wrap="none" rtlCol="0">
            <a:spAutoFit/>
          </a:bodyPr>
          <a:lstStyle/>
          <a:p>
            <a:r>
              <a:rPr kumimoji="1" lang="zh-TW" altLang="en-US" dirty="0">
                <a:solidFill>
                  <a:schemeClr val="accent2"/>
                </a:solidFill>
              </a:rPr>
              <a:t>右上</a:t>
            </a:r>
          </a:p>
        </p:txBody>
      </p:sp>
      <p:sp>
        <p:nvSpPr>
          <p:cNvPr id="21" name="文字方塊 20">
            <a:extLst>
              <a:ext uri="{FF2B5EF4-FFF2-40B4-BE49-F238E27FC236}">
                <a16:creationId xmlns:a16="http://schemas.microsoft.com/office/drawing/2014/main" id="{C7FC4DF3-5C09-D8CE-1CD5-841E592B35FD}"/>
              </a:ext>
            </a:extLst>
          </p:cNvPr>
          <p:cNvSpPr txBox="1"/>
          <p:nvPr/>
        </p:nvSpPr>
        <p:spPr>
          <a:xfrm>
            <a:off x="5124366" y="2803201"/>
            <a:ext cx="646331" cy="369332"/>
          </a:xfrm>
          <a:prstGeom prst="rect">
            <a:avLst/>
          </a:prstGeom>
          <a:noFill/>
        </p:spPr>
        <p:txBody>
          <a:bodyPr wrap="none" rtlCol="0">
            <a:spAutoFit/>
          </a:bodyPr>
          <a:lstStyle/>
          <a:p>
            <a:r>
              <a:rPr kumimoji="1" lang="zh-TW" altLang="en-US" dirty="0">
                <a:solidFill>
                  <a:schemeClr val="accent2"/>
                </a:solidFill>
              </a:rPr>
              <a:t>左下</a:t>
            </a:r>
          </a:p>
        </p:txBody>
      </p:sp>
      <p:sp>
        <p:nvSpPr>
          <p:cNvPr id="22" name="文字方塊 21">
            <a:extLst>
              <a:ext uri="{FF2B5EF4-FFF2-40B4-BE49-F238E27FC236}">
                <a16:creationId xmlns:a16="http://schemas.microsoft.com/office/drawing/2014/main" id="{546BE01D-B2EB-0A46-E7E8-38187F228194}"/>
              </a:ext>
            </a:extLst>
          </p:cNvPr>
          <p:cNvSpPr txBox="1"/>
          <p:nvPr/>
        </p:nvSpPr>
        <p:spPr>
          <a:xfrm>
            <a:off x="4862590" y="3495987"/>
            <a:ext cx="646331" cy="369332"/>
          </a:xfrm>
          <a:prstGeom prst="rect">
            <a:avLst/>
          </a:prstGeom>
          <a:noFill/>
        </p:spPr>
        <p:txBody>
          <a:bodyPr wrap="none" rtlCol="0">
            <a:spAutoFit/>
          </a:bodyPr>
          <a:lstStyle/>
          <a:p>
            <a:r>
              <a:rPr kumimoji="1" lang="zh-TW" altLang="en-US" dirty="0">
                <a:solidFill>
                  <a:schemeClr val="accent2"/>
                </a:solidFill>
              </a:rPr>
              <a:t>左上</a:t>
            </a:r>
          </a:p>
        </p:txBody>
      </p:sp>
      <p:sp>
        <p:nvSpPr>
          <p:cNvPr id="23" name="文字方塊 22">
            <a:extLst>
              <a:ext uri="{FF2B5EF4-FFF2-40B4-BE49-F238E27FC236}">
                <a16:creationId xmlns:a16="http://schemas.microsoft.com/office/drawing/2014/main" id="{8FACF6D4-1BD2-F171-C58A-E26D8A7316A2}"/>
              </a:ext>
            </a:extLst>
          </p:cNvPr>
          <p:cNvSpPr txBox="1"/>
          <p:nvPr/>
        </p:nvSpPr>
        <p:spPr>
          <a:xfrm>
            <a:off x="1190957" y="3495987"/>
            <a:ext cx="646331" cy="369332"/>
          </a:xfrm>
          <a:prstGeom prst="rect">
            <a:avLst/>
          </a:prstGeom>
          <a:noFill/>
        </p:spPr>
        <p:txBody>
          <a:bodyPr wrap="none" rtlCol="0">
            <a:spAutoFit/>
          </a:bodyPr>
          <a:lstStyle/>
          <a:p>
            <a:r>
              <a:rPr kumimoji="1" lang="zh-TW" altLang="en-US" dirty="0">
                <a:solidFill>
                  <a:schemeClr val="accent2"/>
                </a:solidFill>
              </a:rPr>
              <a:t>右下</a:t>
            </a:r>
          </a:p>
        </p:txBody>
      </p:sp>
      <p:sp>
        <p:nvSpPr>
          <p:cNvPr id="24" name="文字方塊 23">
            <a:extLst>
              <a:ext uri="{FF2B5EF4-FFF2-40B4-BE49-F238E27FC236}">
                <a16:creationId xmlns:a16="http://schemas.microsoft.com/office/drawing/2014/main" id="{69A89D56-4DBC-1520-90EF-6C094DF8A302}"/>
              </a:ext>
            </a:extLst>
          </p:cNvPr>
          <p:cNvSpPr txBox="1"/>
          <p:nvPr/>
        </p:nvSpPr>
        <p:spPr>
          <a:xfrm>
            <a:off x="6945946" y="3495987"/>
            <a:ext cx="646331" cy="369332"/>
          </a:xfrm>
          <a:prstGeom prst="rect">
            <a:avLst/>
          </a:prstGeom>
          <a:noFill/>
        </p:spPr>
        <p:txBody>
          <a:bodyPr wrap="none" rtlCol="0">
            <a:spAutoFit/>
          </a:bodyPr>
          <a:lstStyle/>
          <a:p>
            <a:r>
              <a:rPr kumimoji="1" lang="zh-TW" altLang="en-US" dirty="0">
                <a:solidFill>
                  <a:schemeClr val="accent2"/>
                </a:solidFill>
              </a:rPr>
              <a:t>右上</a:t>
            </a:r>
          </a:p>
        </p:txBody>
      </p:sp>
      <p:sp>
        <p:nvSpPr>
          <p:cNvPr id="25" name="文字方塊 24">
            <a:extLst>
              <a:ext uri="{FF2B5EF4-FFF2-40B4-BE49-F238E27FC236}">
                <a16:creationId xmlns:a16="http://schemas.microsoft.com/office/drawing/2014/main" id="{86F36854-6E4F-1679-FBEA-76B975DF975F}"/>
              </a:ext>
            </a:extLst>
          </p:cNvPr>
          <p:cNvSpPr txBox="1"/>
          <p:nvPr/>
        </p:nvSpPr>
        <p:spPr>
          <a:xfrm>
            <a:off x="2416398" y="3495987"/>
            <a:ext cx="646331" cy="369332"/>
          </a:xfrm>
          <a:prstGeom prst="rect">
            <a:avLst/>
          </a:prstGeom>
          <a:noFill/>
        </p:spPr>
        <p:txBody>
          <a:bodyPr wrap="none" rtlCol="0">
            <a:spAutoFit/>
          </a:bodyPr>
          <a:lstStyle/>
          <a:p>
            <a:r>
              <a:rPr kumimoji="1" lang="zh-TW" altLang="en-US" dirty="0">
                <a:solidFill>
                  <a:schemeClr val="accent2"/>
                </a:solidFill>
              </a:rPr>
              <a:t>左下</a:t>
            </a:r>
          </a:p>
        </p:txBody>
      </p:sp>
    </p:spTree>
    <p:extLst>
      <p:ext uri="{BB962C8B-B14F-4D97-AF65-F5344CB8AC3E}">
        <p14:creationId xmlns:p14="http://schemas.microsoft.com/office/powerpoint/2010/main" val="2581557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Monge (MNG) (2/2)</a:t>
            </a: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9</a:t>
            </a:fld>
            <a:endParaRPr kumimoji="1" lang="zh-TW" altLang="en-US"/>
          </a:p>
        </p:txBody>
      </p:sp>
      <p:sp>
        <p:nvSpPr>
          <p:cNvPr id="3" name="內容版面配置區 11">
            <a:extLst>
              <a:ext uri="{FF2B5EF4-FFF2-40B4-BE49-F238E27FC236}">
                <a16:creationId xmlns:a16="http://schemas.microsoft.com/office/drawing/2014/main" id="{911D4561-D53F-A073-8909-940EDDED297A}"/>
              </a:ext>
            </a:extLst>
          </p:cNvPr>
          <p:cNvSpPr>
            <a:spLocks noGrp="1"/>
          </p:cNvSpPr>
          <p:nvPr>
            <p:ph idx="1"/>
          </p:nvPr>
        </p:nvSpPr>
        <p:spPr>
          <a:xfrm>
            <a:off x="838200" y="1825625"/>
            <a:ext cx="10963940" cy="4351338"/>
          </a:xfrm>
        </p:spPr>
        <p:txBody>
          <a:bodyPr/>
          <a:lstStyle/>
          <a:p>
            <a:r>
              <a:rPr kumimoji="1" lang="en-US" altLang="zh-TW" dirty="0">
                <a:latin typeface="Times New Roman" panose="02020603050405020304" pitchFamily="18" charset="0"/>
                <a:cs typeface="Times New Roman" panose="02020603050405020304" pitchFamily="18" charset="0"/>
              </a:rPr>
              <a:t>Monge condition:</a:t>
            </a:r>
          </a:p>
          <a:p>
            <a:endParaRPr kumimoji="1" lang="en-US" altLang="zh-TW" dirty="0">
              <a:latin typeface="Times New Roman" panose="02020603050405020304" pitchFamily="18" charset="0"/>
              <a:cs typeface="Times New Roman" panose="02020603050405020304" pitchFamily="18" charset="0"/>
            </a:endParaRPr>
          </a:p>
        </p:txBody>
      </p:sp>
      <p:graphicFrame>
        <p:nvGraphicFramePr>
          <p:cNvPr id="14" name="表格 13">
            <a:extLst>
              <a:ext uri="{FF2B5EF4-FFF2-40B4-BE49-F238E27FC236}">
                <a16:creationId xmlns:a16="http://schemas.microsoft.com/office/drawing/2014/main" id="{81CA103C-312A-3396-BE24-7C88351C4FC9}"/>
              </a:ext>
            </a:extLst>
          </p:cNvPr>
          <p:cNvGraphicFramePr>
            <a:graphicFrameLocks noGrp="1"/>
          </p:cNvGraphicFramePr>
          <p:nvPr>
            <p:extLst>
              <p:ext uri="{D42A27DB-BD31-4B8C-83A1-F6EECF244321}">
                <p14:modId xmlns:p14="http://schemas.microsoft.com/office/powerpoint/2010/main" val="4204206219"/>
              </p:ext>
            </p:extLst>
          </p:nvPr>
        </p:nvGraphicFramePr>
        <p:xfrm>
          <a:off x="1208411" y="2410460"/>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pic>
        <p:nvPicPr>
          <p:cNvPr id="15" name="圖片 14">
            <a:extLst>
              <a:ext uri="{FF2B5EF4-FFF2-40B4-BE49-F238E27FC236}">
                <a16:creationId xmlns:a16="http://schemas.microsoft.com/office/drawing/2014/main" id="{C9E3D682-5F7F-55E3-32EC-3DAF8B92FDBD}"/>
              </a:ext>
            </a:extLst>
          </p:cNvPr>
          <p:cNvPicPr>
            <a:picLocks noChangeAspect="1"/>
          </p:cNvPicPr>
          <p:nvPr/>
        </p:nvPicPr>
        <p:blipFill>
          <a:blip r:embed="rId2"/>
          <a:stretch>
            <a:fillRect/>
          </a:stretch>
        </p:blipFill>
        <p:spPr>
          <a:xfrm>
            <a:off x="3859984" y="1618767"/>
            <a:ext cx="5455997" cy="479891"/>
          </a:xfrm>
          <a:prstGeom prst="rect">
            <a:avLst/>
          </a:prstGeom>
        </p:spPr>
      </p:pic>
      <p:graphicFrame>
        <p:nvGraphicFramePr>
          <p:cNvPr id="16" name="表格 9">
            <a:extLst>
              <a:ext uri="{FF2B5EF4-FFF2-40B4-BE49-F238E27FC236}">
                <a16:creationId xmlns:a16="http://schemas.microsoft.com/office/drawing/2014/main" id="{B3837C89-1FDB-5E03-A5C1-317303B506C4}"/>
              </a:ext>
            </a:extLst>
          </p:cNvPr>
          <p:cNvGraphicFramePr>
            <a:graphicFrameLocks noGrp="1"/>
          </p:cNvGraphicFramePr>
          <p:nvPr>
            <p:extLst>
              <p:ext uri="{D42A27DB-BD31-4B8C-83A1-F6EECF244321}">
                <p14:modId xmlns:p14="http://schemas.microsoft.com/office/powerpoint/2010/main" val="789312681"/>
              </p:ext>
            </p:extLst>
          </p:nvPr>
        </p:nvGraphicFramePr>
        <p:xfrm>
          <a:off x="1208411" y="3742768"/>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F</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5">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bg1">
                        <a:lumMod val="75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solidFill>
                      <a:schemeClr val="bg1">
                        <a:lumMod val="75000"/>
                      </a:schemeClr>
                    </a:solidFill>
                  </a:tcP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bg1">
                        <a:lumMod val="75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sp>
        <p:nvSpPr>
          <p:cNvPr id="7" name="文字方塊 6">
            <a:extLst>
              <a:ext uri="{FF2B5EF4-FFF2-40B4-BE49-F238E27FC236}">
                <a16:creationId xmlns:a16="http://schemas.microsoft.com/office/drawing/2014/main" id="{1B954687-1A49-3A4A-4077-56B88FA31766}"/>
              </a:ext>
            </a:extLst>
          </p:cNvPr>
          <p:cNvSpPr txBox="1"/>
          <p:nvPr/>
        </p:nvSpPr>
        <p:spPr>
          <a:xfrm>
            <a:off x="4814383" y="4480639"/>
            <a:ext cx="317266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1 – (0 – 0) = </a:t>
            </a:r>
            <a:r>
              <a:rPr kumimoji="1" lang="en-US" altLang="zh-TW" b="1" dirty="0">
                <a:solidFill>
                  <a:schemeClr val="accent6">
                    <a:lumMod val="50000"/>
                  </a:schemeClr>
                </a:solidFill>
                <a:latin typeface="Times New Roman" panose="02020603050405020304" pitchFamily="18" charset="0"/>
                <a:cs typeface="Times New Roman" panose="02020603050405020304" pitchFamily="18" charset="0"/>
              </a:rPr>
              <a:t>1 &gt; 0 </a:t>
            </a:r>
            <a:r>
              <a:rPr kumimoji="1" lang="en-US" altLang="zh-TW" dirty="0">
                <a:latin typeface="Times New Roman" panose="02020603050405020304" pitchFamily="18" charset="0"/>
                <a:cs typeface="Times New Roman" panose="02020603050405020304" pitchFamily="18" charset="0"/>
              </a:rPr>
              <a:t>→ Skip x = 2</a:t>
            </a:r>
            <a:endParaRPr kumimoji="1" lang="zh-TW" altLang="en-US"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263EAC06-37F3-B9D0-DA76-2EB142FD98F5}"/>
              </a:ext>
            </a:extLst>
          </p:cNvPr>
          <p:cNvSpPr txBox="1"/>
          <p:nvPr/>
        </p:nvSpPr>
        <p:spPr>
          <a:xfrm>
            <a:off x="4814383" y="4848209"/>
            <a:ext cx="317266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3 – (2 – 1) = </a:t>
            </a:r>
            <a:r>
              <a:rPr kumimoji="1" lang="en-US" altLang="zh-TW" b="1" dirty="0">
                <a:solidFill>
                  <a:schemeClr val="accent5">
                    <a:lumMod val="50000"/>
                  </a:schemeClr>
                </a:solidFill>
                <a:latin typeface="Times New Roman" panose="02020603050405020304" pitchFamily="18" charset="0"/>
                <a:cs typeface="Times New Roman" panose="02020603050405020304" pitchFamily="18" charset="0"/>
              </a:rPr>
              <a:t>2 &gt; 0 </a:t>
            </a:r>
            <a:r>
              <a:rPr kumimoji="1" lang="en-US" altLang="zh-TW" dirty="0">
                <a:latin typeface="Times New Roman" panose="02020603050405020304" pitchFamily="18" charset="0"/>
                <a:cs typeface="Times New Roman" panose="02020603050405020304" pitchFamily="18" charset="0"/>
              </a:rPr>
              <a:t>→ Skip x = 3</a:t>
            </a:r>
            <a:endParaRPr kumimoji="1" lang="zh-TW" altLang="en-US" dirty="0">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id="{E8E50B97-9479-E524-E0C2-A51BD5A72BAC}"/>
              </a:ext>
            </a:extLst>
          </p:cNvPr>
          <p:cNvSpPr txBox="1"/>
          <p:nvPr/>
        </p:nvSpPr>
        <p:spPr>
          <a:xfrm>
            <a:off x="4814383" y="5215779"/>
            <a:ext cx="3313728"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1 – (4 – 2) = </a:t>
            </a:r>
            <a:r>
              <a:rPr kumimoji="1" lang="en-US" altLang="zh-TW" dirty="0">
                <a:solidFill>
                  <a:schemeClr val="accent2"/>
                </a:solidFill>
                <a:latin typeface="Times New Roman" panose="02020603050405020304" pitchFamily="18" charset="0"/>
                <a:cs typeface="Times New Roman" panose="02020603050405020304" pitchFamily="18" charset="0"/>
              </a:rPr>
              <a:t>-</a:t>
            </a:r>
            <a:r>
              <a:rPr kumimoji="1" lang="en-US" altLang="zh-TW" b="1" dirty="0">
                <a:solidFill>
                  <a:schemeClr val="accent2"/>
                </a:solidFill>
                <a:latin typeface="Times New Roman" panose="02020603050405020304" pitchFamily="18" charset="0"/>
                <a:cs typeface="Times New Roman" panose="02020603050405020304" pitchFamily="18" charset="0"/>
              </a:rPr>
              <a:t>1 &lt; 0 </a:t>
            </a:r>
            <a:r>
              <a:rPr kumimoji="1" lang="en-US" altLang="zh-TW" dirty="0">
                <a:latin typeface="Times New Roman" panose="02020603050405020304" pitchFamily="18" charset="0"/>
                <a:cs typeface="Times New Roman" panose="02020603050405020304" pitchFamily="18" charset="0"/>
              </a:rPr>
              <a:t>→ Keep x = 3</a:t>
            </a:r>
            <a:endParaRPr kumimoji="1" lang="zh-TW" altLang="en-US"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820F6EC2-8A6D-DD53-E1E6-B16675EAA929}"/>
              </a:ext>
            </a:extLst>
          </p:cNvPr>
          <p:cNvSpPr txBox="1"/>
          <p:nvPr/>
        </p:nvSpPr>
        <p:spPr>
          <a:xfrm>
            <a:off x="4814383" y="5581319"/>
            <a:ext cx="3172663"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2 – (1 – 0) = </a:t>
            </a:r>
            <a:r>
              <a:rPr kumimoji="1" lang="en-US" altLang="zh-TW" b="1" dirty="0">
                <a:solidFill>
                  <a:sysClr val="windowText" lastClr="000000"/>
                </a:solidFill>
                <a:latin typeface="Times New Roman" panose="02020603050405020304" pitchFamily="18" charset="0"/>
                <a:cs typeface="Times New Roman" panose="02020603050405020304" pitchFamily="18" charset="0"/>
              </a:rPr>
              <a:t>1 &gt; 0 </a:t>
            </a:r>
            <a:r>
              <a:rPr kumimoji="1" lang="en-US" altLang="zh-TW" dirty="0">
                <a:latin typeface="Times New Roman" panose="02020603050405020304" pitchFamily="18" charset="0"/>
                <a:cs typeface="Times New Roman" panose="02020603050405020304" pitchFamily="18" charset="0"/>
              </a:rPr>
              <a:t>→ Skip x = 4</a:t>
            </a:r>
            <a:endParaRPr kumimoji="1" lang="zh-TW" altLang="en-US" dirty="0">
              <a:latin typeface="Times New Roman" panose="02020603050405020304" pitchFamily="18" charset="0"/>
              <a:cs typeface="Times New Roman" panose="02020603050405020304" pitchFamily="18" charset="0"/>
            </a:endParaRPr>
          </a:p>
        </p:txBody>
      </p:sp>
      <p:graphicFrame>
        <p:nvGraphicFramePr>
          <p:cNvPr id="13" name="表格 16">
            <a:extLst>
              <a:ext uri="{FF2B5EF4-FFF2-40B4-BE49-F238E27FC236}">
                <a16:creationId xmlns:a16="http://schemas.microsoft.com/office/drawing/2014/main" id="{9E59DD83-255B-730B-0A8D-3B2D31BC7ADB}"/>
              </a:ext>
            </a:extLst>
          </p:cNvPr>
          <p:cNvGraphicFramePr>
            <a:graphicFrameLocks noGrp="1"/>
          </p:cNvGraphicFramePr>
          <p:nvPr>
            <p:extLst>
              <p:ext uri="{D42A27DB-BD31-4B8C-83A1-F6EECF244321}">
                <p14:modId xmlns:p14="http://schemas.microsoft.com/office/powerpoint/2010/main" val="2928465964"/>
              </p:ext>
            </p:extLst>
          </p:nvPr>
        </p:nvGraphicFramePr>
        <p:xfrm>
          <a:off x="9010680" y="3885013"/>
          <a:ext cx="1444846" cy="741680"/>
        </p:xfrm>
        <a:graphic>
          <a:graphicData uri="http://schemas.openxmlformats.org/drawingml/2006/table">
            <a:tbl>
              <a:tblPr firstRow="1" bandRow="1">
                <a:tableStyleId>{5940675A-B579-460E-94D1-54222C63F5DA}</a:tableStyleId>
              </a:tblPr>
              <a:tblGrid>
                <a:gridCol w="722423">
                  <a:extLst>
                    <a:ext uri="{9D8B030D-6E8A-4147-A177-3AD203B41FA5}">
                      <a16:colId xmlns:a16="http://schemas.microsoft.com/office/drawing/2014/main" val="393398109"/>
                    </a:ext>
                  </a:extLst>
                </a:gridCol>
                <a:gridCol w="722423">
                  <a:extLst>
                    <a:ext uri="{9D8B030D-6E8A-4147-A177-3AD203B41FA5}">
                      <a16:colId xmlns:a16="http://schemas.microsoft.com/office/drawing/2014/main" val="3874433824"/>
                    </a:ext>
                  </a:extLst>
                </a:gridCol>
              </a:tblGrid>
              <a:tr h="370840">
                <a:tc>
                  <a:txBody>
                    <a:bodyPr/>
                    <a:lstStyle/>
                    <a:p>
                      <a:pPr algn="ctr"/>
                      <a:r>
                        <a:rPr lang="zh-TW" altLang="en-US" dirty="0"/>
                        <a:t>左上</a:t>
                      </a:r>
                    </a:p>
                  </a:txBody>
                  <a:tcPr anchor="ctr"/>
                </a:tc>
                <a:tc>
                  <a:txBody>
                    <a:bodyPr/>
                    <a:lstStyle/>
                    <a:p>
                      <a:pPr algn="ctr"/>
                      <a:r>
                        <a:rPr lang="zh-TW" altLang="en-US" dirty="0"/>
                        <a:t>右上</a:t>
                      </a:r>
                    </a:p>
                  </a:txBody>
                  <a:tcPr anchor="ctr"/>
                </a:tc>
                <a:extLst>
                  <a:ext uri="{0D108BD9-81ED-4DB2-BD59-A6C34878D82A}">
                    <a16:rowId xmlns:a16="http://schemas.microsoft.com/office/drawing/2014/main" val="1897271869"/>
                  </a:ext>
                </a:extLst>
              </a:tr>
              <a:tr h="370840">
                <a:tc>
                  <a:txBody>
                    <a:bodyPr/>
                    <a:lstStyle/>
                    <a:p>
                      <a:pPr algn="ctr"/>
                      <a:r>
                        <a:rPr lang="zh-TW" altLang="en-US" dirty="0"/>
                        <a:t>左下</a:t>
                      </a:r>
                    </a:p>
                  </a:txBody>
                  <a:tcPr anchor="ctr"/>
                </a:tc>
                <a:tc>
                  <a:txBody>
                    <a:bodyPr/>
                    <a:lstStyle/>
                    <a:p>
                      <a:pPr algn="ctr"/>
                      <a:r>
                        <a:rPr lang="zh-TW" altLang="en-US" dirty="0"/>
                        <a:t>右下</a:t>
                      </a:r>
                    </a:p>
                  </a:txBody>
                  <a:tcPr anchor="ctr"/>
                </a:tc>
                <a:extLst>
                  <a:ext uri="{0D108BD9-81ED-4DB2-BD59-A6C34878D82A}">
                    <a16:rowId xmlns:a16="http://schemas.microsoft.com/office/drawing/2014/main" val="3483382983"/>
                  </a:ext>
                </a:extLst>
              </a:tr>
            </a:tbl>
          </a:graphicData>
        </a:graphic>
      </p:graphicFrame>
      <p:sp>
        <p:nvSpPr>
          <p:cNvPr id="17" name="文字方塊 16">
            <a:extLst>
              <a:ext uri="{FF2B5EF4-FFF2-40B4-BE49-F238E27FC236}">
                <a16:creationId xmlns:a16="http://schemas.microsoft.com/office/drawing/2014/main" id="{8C38BECB-F295-1B02-F727-F28FA2D600F5}"/>
              </a:ext>
            </a:extLst>
          </p:cNvPr>
          <p:cNvSpPr txBox="1"/>
          <p:nvPr/>
        </p:nvSpPr>
        <p:spPr>
          <a:xfrm>
            <a:off x="8599284" y="4750322"/>
            <a:ext cx="2731683" cy="1200329"/>
          </a:xfrm>
          <a:prstGeom prst="rect">
            <a:avLst/>
          </a:prstGeom>
          <a:noFill/>
        </p:spPr>
        <p:txBody>
          <a:bodyPr wrap="square" rtlCol="0">
            <a:spAutoFit/>
          </a:bodyPr>
          <a:lstStyle/>
          <a:p>
            <a:pPr marL="285750" indent="-285750">
              <a:buFont typeface="Arial" panose="020B0604020202020204" pitchFamily="34" charset="0"/>
              <a:buChar char="•"/>
            </a:pPr>
            <a:r>
              <a:rPr kumimoji="1" lang="en-US" altLang="zh-TW" i="1" dirty="0">
                <a:latin typeface="Times New Roman" panose="02020603050405020304" pitchFamily="18" charset="0"/>
                <a:cs typeface="Times New Roman" panose="02020603050405020304" pitchFamily="18" charset="0"/>
              </a:rPr>
              <a:t>F</a:t>
            </a:r>
            <a:r>
              <a:rPr kumimoji="1" lang="zh-TW" altLang="en-US" dirty="0">
                <a:latin typeface="Times New Roman" panose="02020603050405020304" pitchFamily="18" charset="0"/>
                <a:cs typeface="Times New Roman" panose="02020603050405020304" pitchFamily="18" charset="0"/>
              </a:rPr>
              <a:t>為</a:t>
            </a:r>
            <a:r>
              <a:rPr kumimoji="1" lang="en-US" altLang="zh-TW" dirty="0">
                <a:latin typeface="Times New Roman" panose="02020603050405020304" pitchFamily="18" charset="0"/>
                <a:cs typeface="Times New Roman" panose="02020603050405020304" pitchFamily="18" charset="0"/>
              </a:rPr>
              <a:t>Monge</a:t>
            </a:r>
          </a:p>
          <a:p>
            <a:pPr marL="285750" indent="-285750">
              <a:buFont typeface="Arial" panose="020B0604020202020204" pitchFamily="34" charset="0"/>
              <a:buChar char="•"/>
            </a:pPr>
            <a:r>
              <a:rPr kumimoji="1" lang="zh-TW" altLang="en-US" dirty="0">
                <a:latin typeface="Times New Roman" panose="02020603050405020304" pitchFamily="18" charset="0"/>
                <a:cs typeface="Times New Roman" panose="02020603050405020304" pitchFamily="18" charset="0"/>
              </a:rPr>
              <a:t>可以用左上、左下、右上，得知右下的最小值</a:t>
            </a:r>
          </a:p>
        </p:txBody>
      </p:sp>
      <p:sp>
        <p:nvSpPr>
          <p:cNvPr id="18" name="文字方塊 17">
            <a:extLst>
              <a:ext uri="{FF2B5EF4-FFF2-40B4-BE49-F238E27FC236}">
                <a16:creationId xmlns:a16="http://schemas.microsoft.com/office/drawing/2014/main" id="{571F08A6-CFFC-6372-15C7-71E027BD3CC5}"/>
              </a:ext>
            </a:extLst>
          </p:cNvPr>
          <p:cNvSpPr txBox="1"/>
          <p:nvPr/>
        </p:nvSpPr>
        <p:spPr>
          <a:xfrm>
            <a:off x="6077548" y="1933366"/>
            <a:ext cx="646331" cy="369332"/>
          </a:xfrm>
          <a:prstGeom prst="rect">
            <a:avLst/>
          </a:prstGeom>
          <a:noFill/>
        </p:spPr>
        <p:txBody>
          <a:bodyPr wrap="none" rtlCol="0">
            <a:spAutoFit/>
          </a:bodyPr>
          <a:lstStyle/>
          <a:p>
            <a:r>
              <a:rPr kumimoji="1" lang="zh-TW" altLang="en-US" dirty="0">
                <a:solidFill>
                  <a:schemeClr val="accent2"/>
                </a:solidFill>
              </a:rPr>
              <a:t>左上</a:t>
            </a:r>
          </a:p>
        </p:txBody>
      </p:sp>
      <p:sp>
        <p:nvSpPr>
          <p:cNvPr id="19" name="文字方塊 18">
            <a:extLst>
              <a:ext uri="{FF2B5EF4-FFF2-40B4-BE49-F238E27FC236}">
                <a16:creationId xmlns:a16="http://schemas.microsoft.com/office/drawing/2014/main" id="{B668A664-A1B1-2C1E-A8E5-FA3A5848B6FF}"/>
              </a:ext>
            </a:extLst>
          </p:cNvPr>
          <p:cNvSpPr txBox="1"/>
          <p:nvPr/>
        </p:nvSpPr>
        <p:spPr>
          <a:xfrm>
            <a:off x="8128111" y="1933366"/>
            <a:ext cx="646331" cy="369332"/>
          </a:xfrm>
          <a:prstGeom prst="rect">
            <a:avLst/>
          </a:prstGeom>
          <a:noFill/>
        </p:spPr>
        <p:txBody>
          <a:bodyPr wrap="none" rtlCol="0">
            <a:spAutoFit/>
          </a:bodyPr>
          <a:lstStyle/>
          <a:p>
            <a:r>
              <a:rPr kumimoji="1" lang="zh-TW" altLang="en-US" dirty="0">
                <a:solidFill>
                  <a:schemeClr val="accent2"/>
                </a:solidFill>
              </a:rPr>
              <a:t>右上</a:t>
            </a:r>
          </a:p>
        </p:txBody>
      </p:sp>
      <p:sp>
        <p:nvSpPr>
          <p:cNvPr id="20" name="文字方塊 19">
            <a:extLst>
              <a:ext uri="{FF2B5EF4-FFF2-40B4-BE49-F238E27FC236}">
                <a16:creationId xmlns:a16="http://schemas.microsoft.com/office/drawing/2014/main" id="{FDD27054-F04E-103C-CF6C-53F6F5D5CA49}"/>
              </a:ext>
            </a:extLst>
          </p:cNvPr>
          <p:cNvSpPr txBox="1"/>
          <p:nvPr/>
        </p:nvSpPr>
        <p:spPr>
          <a:xfrm>
            <a:off x="3923032" y="1933366"/>
            <a:ext cx="646331" cy="369332"/>
          </a:xfrm>
          <a:prstGeom prst="rect">
            <a:avLst/>
          </a:prstGeom>
          <a:noFill/>
        </p:spPr>
        <p:txBody>
          <a:bodyPr wrap="none" rtlCol="0">
            <a:spAutoFit/>
          </a:bodyPr>
          <a:lstStyle/>
          <a:p>
            <a:r>
              <a:rPr kumimoji="1" lang="zh-TW" altLang="en-US" dirty="0">
                <a:solidFill>
                  <a:schemeClr val="accent2"/>
                </a:solidFill>
              </a:rPr>
              <a:t>左下</a:t>
            </a:r>
          </a:p>
        </p:txBody>
      </p:sp>
    </p:spTree>
    <p:extLst>
      <p:ext uri="{BB962C8B-B14F-4D97-AF65-F5344CB8AC3E}">
        <p14:creationId xmlns:p14="http://schemas.microsoft.com/office/powerpoint/2010/main" val="449067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Reduce Candidate (RC) (1/5)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10</a:t>
            </a:fld>
            <a:endParaRPr kumimoji="1" lang="zh-TW" altLang="en-US"/>
          </a:p>
        </p:txBody>
      </p:sp>
      <p:graphicFrame>
        <p:nvGraphicFramePr>
          <p:cNvPr id="9" name="表格 9">
            <a:extLst>
              <a:ext uri="{FF2B5EF4-FFF2-40B4-BE49-F238E27FC236}">
                <a16:creationId xmlns:a16="http://schemas.microsoft.com/office/drawing/2014/main" id="{0CD43948-7440-C4A2-3643-B85C632BA6F0}"/>
              </a:ext>
            </a:extLst>
          </p:cNvPr>
          <p:cNvGraphicFramePr>
            <a:graphicFrameLocks noGrp="1"/>
          </p:cNvGraphicFramePr>
          <p:nvPr>
            <p:extLst>
              <p:ext uri="{D42A27DB-BD31-4B8C-83A1-F6EECF244321}">
                <p14:modId xmlns:p14="http://schemas.microsoft.com/office/powerpoint/2010/main" val="3205112681"/>
              </p:ext>
            </p:extLst>
          </p:nvPr>
        </p:nvGraphicFramePr>
        <p:xfrm>
          <a:off x="702931" y="3101358"/>
          <a:ext cx="3326808" cy="2966720"/>
        </p:xfrm>
        <a:graphic>
          <a:graphicData uri="http://schemas.openxmlformats.org/drawingml/2006/table">
            <a:tbl>
              <a:tblPr firstRow="1" bandRow="1">
                <a:tableStyleId>{5940675A-B579-460E-94D1-54222C63F5DA}</a:tableStyleId>
              </a:tblPr>
              <a:tblGrid>
                <a:gridCol w="415851">
                  <a:extLst>
                    <a:ext uri="{9D8B030D-6E8A-4147-A177-3AD203B41FA5}">
                      <a16:colId xmlns:a16="http://schemas.microsoft.com/office/drawing/2014/main" val="3822449337"/>
                    </a:ext>
                  </a:extLst>
                </a:gridCol>
                <a:gridCol w="415851">
                  <a:extLst>
                    <a:ext uri="{9D8B030D-6E8A-4147-A177-3AD203B41FA5}">
                      <a16:colId xmlns:a16="http://schemas.microsoft.com/office/drawing/2014/main" val="1546958230"/>
                    </a:ext>
                  </a:extLst>
                </a:gridCol>
                <a:gridCol w="415851">
                  <a:extLst>
                    <a:ext uri="{9D8B030D-6E8A-4147-A177-3AD203B41FA5}">
                      <a16:colId xmlns:a16="http://schemas.microsoft.com/office/drawing/2014/main" val="1953262237"/>
                    </a:ext>
                  </a:extLst>
                </a:gridCol>
                <a:gridCol w="415851">
                  <a:extLst>
                    <a:ext uri="{9D8B030D-6E8A-4147-A177-3AD203B41FA5}">
                      <a16:colId xmlns:a16="http://schemas.microsoft.com/office/drawing/2014/main" val="644430134"/>
                    </a:ext>
                  </a:extLst>
                </a:gridCol>
                <a:gridCol w="415851">
                  <a:extLst>
                    <a:ext uri="{9D8B030D-6E8A-4147-A177-3AD203B41FA5}">
                      <a16:colId xmlns:a16="http://schemas.microsoft.com/office/drawing/2014/main" val="4081232392"/>
                    </a:ext>
                  </a:extLst>
                </a:gridCol>
                <a:gridCol w="415851">
                  <a:extLst>
                    <a:ext uri="{9D8B030D-6E8A-4147-A177-3AD203B41FA5}">
                      <a16:colId xmlns:a16="http://schemas.microsoft.com/office/drawing/2014/main" val="1227861867"/>
                    </a:ext>
                  </a:extLst>
                </a:gridCol>
                <a:gridCol w="415851">
                  <a:extLst>
                    <a:ext uri="{9D8B030D-6E8A-4147-A177-3AD203B41FA5}">
                      <a16:colId xmlns:a16="http://schemas.microsoft.com/office/drawing/2014/main" val="3287117147"/>
                    </a:ext>
                  </a:extLst>
                </a:gridCol>
                <a:gridCol w="415851">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U</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2" name="表格 9">
            <a:extLst>
              <a:ext uri="{FF2B5EF4-FFF2-40B4-BE49-F238E27FC236}">
                <a16:creationId xmlns:a16="http://schemas.microsoft.com/office/drawing/2014/main" id="{3C3F165B-D606-6560-21DD-5A20BAADEC36}"/>
              </a:ext>
            </a:extLst>
          </p:cNvPr>
          <p:cNvGraphicFramePr>
            <a:graphicFrameLocks noGrp="1"/>
          </p:cNvGraphicFramePr>
          <p:nvPr>
            <p:extLst>
              <p:ext uri="{D42A27DB-BD31-4B8C-83A1-F6EECF244321}">
                <p14:modId xmlns:p14="http://schemas.microsoft.com/office/powerpoint/2010/main" val="3057098617"/>
              </p:ext>
            </p:extLst>
          </p:nvPr>
        </p:nvGraphicFramePr>
        <p:xfrm>
          <a:off x="4481034" y="3101358"/>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3" name="表格 9">
            <a:extLst>
              <a:ext uri="{FF2B5EF4-FFF2-40B4-BE49-F238E27FC236}">
                <a16:creationId xmlns:a16="http://schemas.microsoft.com/office/drawing/2014/main" id="{F870B1D1-67DF-F549-1685-715C2F923A91}"/>
              </a:ext>
            </a:extLst>
          </p:cNvPr>
          <p:cNvGraphicFramePr>
            <a:graphicFrameLocks noGrp="1"/>
          </p:cNvGraphicFramePr>
          <p:nvPr>
            <p:extLst>
              <p:ext uri="{D42A27DB-BD31-4B8C-83A1-F6EECF244321}">
                <p14:modId xmlns:p14="http://schemas.microsoft.com/office/powerpoint/2010/main" val="991398378"/>
              </p:ext>
            </p:extLst>
          </p:nvPr>
        </p:nvGraphicFramePr>
        <p:xfrm>
          <a:off x="8256772" y="3101358"/>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u="none" dirty="0">
                          <a:latin typeface="Times New Roman" panose="02020603050405020304" pitchFamily="18" charset="0"/>
                          <a:cs typeface="Times New Roman" panose="02020603050405020304" pitchFamily="18" charset="0"/>
                        </a:rPr>
                        <a:t>F</a:t>
                      </a:r>
                      <a:endParaRPr lang="zh-TW" altLang="en-US" i="1" u="none"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6">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6" name="表格 15">
            <a:extLst>
              <a:ext uri="{FF2B5EF4-FFF2-40B4-BE49-F238E27FC236}">
                <a16:creationId xmlns:a16="http://schemas.microsoft.com/office/drawing/2014/main" id="{D1B3D3F8-ED77-7462-B523-410F4EF956DE}"/>
              </a:ext>
            </a:extLst>
          </p:cNvPr>
          <p:cNvGraphicFramePr>
            <a:graphicFrameLocks noGrp="1"/>
          </p:cNvGraphicFramePr>
          <p:nvPr>
            <p:extLst>
              <p:ext uri="{D42A27DB-BD31-4B8C-83A1-F6EECF244321}">
                <p14:modId xmlns:p14="http://schemas.microsoft.com/office/powerpoint/2010/main" val="3443297299"/>
              </p:ext>
            </p:extLst>
          </p:nvPr>
        </p:nvGraphicFramePr>
        <p:xfrm>
          <a:off x="702931" y="1656153"/>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pic>
        <p:nvPicPr>
          <p:cNvPr id="17" name="圖片 16">
            <a:extLst>
              <a:ext uri="{FF2B5EF4-FFF2-40B4-BE49-F238E27FC236}">
                <a16:creationId xmlns:a16="http://schemas.microsoft.com/office/drawing/2014/main" id="{3693C037-F7E6-E64B-A021-F763C3350F35}"/>
              </a:ext>
            </a:extLst>
          </p:cNvPr>
          <p:cNvPicPr>
            <a:picLocks noChangeAspect="1"/>
          </p:cNvPicPr>
          <p:nvPr/>
        </p:nvPicPr>
        <p:blipFill>
          <a:blip r:embed="rId2"/>
          <a:stretch>
            <a:fillRect/>
          </a:stretch>
        </p:blipFill>
        <p:spPr>
          <a:xfrm>
            <a:off x="5386076" y="1656153"/>
            <a:ext cx="6480000" cy="476611"/>
          </a:xfrm>
          <a:prstGeom prst="rect">
            <a:avLst/>
          </a:prstGeom>
        </p:spPr>
      </p:pic>
      <p:pic>
        <p:nvPicPr>
          <p:cNvPr id="18" name="圖片 17">
            <a:extLst>
              <a:ext uri="{FF2B5EF4-FFF2-40B4-BE49-F238E27FC236}">
                <a16:creationId xmlns:a16="http://schemas.microsoft.com/office/drawing/2014/main" id="{31EE02DC-EC9D-D87A-00E8-645BC1B0D57D}"/>
              </a:ext>
            </a:extLst>
          </p:cNvPr>
          <p:cNvPicPr>
            <a:picLocks noChangeAspect="1"/>
          </p:cNvPicPr>
          <p:nvPr/>
        </p:nvPicPr>
        <p:blipFill>
          <a:blip r:embed="rId3"/>
          <a:stretch>
            <a:fillRect/>
          </a:stretch>
        </p:blipFill>
        <p:spPr>
          <a:xfrm>
            <a:off x="5386076" y="2250145"/>
            <a:ext cx="6480000" cy="449731"/>
          </a:xfrm>
          <a:prstGeom prst="rect">
            <a:avLst/>
          </a:prstGeom>
        </p:spPr>
      </p:pic>
    </p:spTree>
    <p:extLst>
      <p:ext uri="{BB962C8B-B14F-4D97-AF65-F5344CB8AC3E}">
        <p14:creationId xmlns:p14="http://schemas.microsoft.com/office/powerpoint/2010/main" val="2525936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Reduce Candidate (RC) (2/5)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11</a:t>
            </a:fld>
            <a:endParaRPr kumimoji="1" lang="zh-TW" altLang="en-US"/>
          </a:p>
        </p:txBody>
      </p:sp>
      <p:graphicFrame>
        <p:nvGraphicFramePr>
          <p:cNvPr id="9" name="表格 9">
            <a:extLst>
              <a:ext uri="{FF2B5EF4-FFF2-40B4-BE49-F238E27FC236}">
                <a16:creationId xmlns:a16="http://schemas.microsoft.com/office/drawing/2014/main" id="{0CD43948-7440-C4A2-3643-B85C632BA6F0}"/>
              </a:ext>
            </a:extLst>
          </p:cNvPr>
          <p:cNvGraphicFramePr>
            <a:graphicFrameLocks noGrp="1"/>
          </p:cNvGraphicFramePr>
          <p:nvPr>
            <p:extLst>
              <p:ext uri="{D42A27DB-BD31-4B8C-83A1-F6EECF244321}">
                <p14:modId xmlns:p14="http://schemas.microsoft.com/office/powerpoint/2010/main" val="3285884010"/>
              </p:ext>
            </p:extLst>
          </p:nvPr>
        </p:nvGraphicFramePr>
        <p:xfrm>
          <a:off x="702931" y="3101358"/>
          <a:ext cx="3326808" cy="2966720"/>
        </p:xfrm>
        <a:graphic>
          <a:graphicData uri="http://schemas.openxmlformats.org/drawingml/2006/table">
            <a:tbl>
              <a:tblPr firstRow="1" bandRow="1">
                <a:tableStyleId>{5940675A-B579-460E-94D1-54222C63F5DA}</a:tableStyleId>
              </a:tblPr>
              <a:tblGrid>
                <a:gridCol w="415851">
                  <a:extLst>
                    <a:ext uri="{9D8B030D-6E8A-4147-A177-3AD203B41FA5}">
                      <a16:colId xmlns:a16="http://schemas.microsoft.com/office/drawing/2014/main" val="3822449337"/>
                    </a:ext>
                  </a:extLst>
                </a:gridCol>
                <a:gridCol w="415851">
                  <a:extLst>
                    <a:ext uri="{9D8B030D-6E8A-4147-A177-3AD203B41FA5}">
                      <a16:colId xmlns:a16="http://schemas.microsoft.com/office/drawing/2014/main" val="1546958230"/>
                    </a:ext>
                  </a:extLst>
                </a:gridCol>
                <a:gridCol w="415851">
                  <a:extLst>
                    <a:ext uri="{9D8B030D-6E8A-4147-A177-3AD203B41FA5}">
                      <a16:colId xmlns:a16="http://schemas.microsoft.com/office/drawing/2014/main" val="1953262237"/>
                    </a:ext>
                  </a:extLst>
                </a:gridCol>
                <a:gridCol w="415851">
                  <a:extLst>
                    <a:ext uri="{9D8B030D-6E8A-4147-A177-3AD203B41FA5}">
                      <a16:colId xmlns:a16="http://schemas.microsoft.com/office/drawing/2014/main" val="644430134"/>
                    </a:ext>
                  </a:extLst>
                </a:gridCol>
                <a:gridCol w="415851">
                  <a:extLst>
                    <a:ext uri="{9D8B030D-6E8A-4147-A177-3AD203B41FA5}">
                      <a16:colId xmlns:a16="http://schemas.microsoft.com/office/drawing/2014/main" val="4081232392"/>
                    </a:ext>
                  </a:extLst>
                </a:gridCol>
                <a:gridCol w="415851">
                  <a:extLst>
                    <a:ext uri="{9D8B030D-6E8A-4147-A177-3AD203B41FA5}">
                      <a16:colId xmlns:a16="http://schemas.microsoft.com/office/drawing/2014/main" val="1227861867"/>
                    </a:ext>
                  </a:extLst>
                </a:gridCol>
                <a:gridCol w="415851">
                  <a:extLst>
                    <a:ext uri="{9D8B030D-6E8A-4147-A177-3AD203B41FA5}">
                      <a16:colId xmlns:a16="http://schemas.microsoft.com/office/drawing/2014/main" val="3287117147"/>
                    </a:ext>
                  </a:extLst>
                </a:gridCol>
                <a:gridCol w="415851">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U</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2" name="表格 9">
            <a:extLst>
              <a:ext uri="{FF2B5EF4-FFF2-40B4-BE49-F238E27FC236}">
                <a16:creationId xmlns:a16="http://schemas.microsoft.com/office/drawing/2014/main" id="{3C3F165B-D606-6560-21DD-5A20BAADEC36}"/>
              </a:ext>
            </a:extLst>
          </p:cNvPr>
          <p:cNvGraphicFramePr>
            <a:graphicFrameLocks noGrp="1"/>
          </p:cNvGraphicFramePr>
          <p:nvPr>
            <p:extLst>
              <p:ext uri="{D42A27DB-BD31-4B8C-83A1-F6EECF244321}">
                <p14:modId xmlns:p14="http://schemas.microsoft.com/office/powerpoint/2010/main" val="4164021600"/>
              </p:ext>
            </p:extLst>
          </p:nvPr>
        </p:nvGraphicFramePr>
        <p:xfrm>
          <a:off x="4481034" y="3101358"/>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3" name="表格 9">
            <a:extLst>
              <a:ext uri="{FF2B5EF4-FFF2-40B4-BE49-F238E27FC236}">
                <a16:creationId xmlns:a16="http://schemas.microsoft.com/office/drawing/2014/main" id="{F870B1D1-67DF-F549-1685-715C2F923A91}"/>
              </a:ext>
            </a:extLst>
          </p:cNvPr>
          <p:cNvGraphicFramePr>
            <a:graphicFrameLocks noGrp="1"/>
          </p:cNvGraphicFramePr>
          <p:nvPr>
            <p:extLst>
              <p:ext uri="{D42A27DB-BD31-4B8C-83A1-F6EECF244321}">
                <p14:modId xmlns:p14="http://schemas.microsoft.com/office/powerpoint/2010/main" val="2932334639"/>
              </p:ext>
            </p:extLst>
          </p:nvPr>
        </p:nvGraphicFramePr>
        <p:xfrm>
          <a:off x="8256772" y="3101358"/>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u="none" dirty="0">
                          <a:latin typeface="Times New Roman" panose="02020603050405020304" pitchFamily="18" charset="0"/>
                          <a:cs typeface="Times New Roman" panose="02020603050405020304" pitchFamily="18" charset="0"/>
                        </a:rPr>
                        <a:t>F</a:t>
                      </a:r>
                      <a:endParaRPr lang="zh-TW" altLang="en-US" i="1" u="none"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no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2">
                        <a:lumMod val="60000"/>
                        <a:lumOff val="40000"/>
                      </a:schemeClr>
                    </a:solidFill>
                  </a:tcP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0</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16" name="表格 15">
            <a:extLst>
              <a:ext uri="{FF2B5EF4-FFF2-40B4-BE49-F238E27FC236}">
                <a16:creationId xmlns:a16="http://schemas.microsoft.com/office/drawing/2014/main" id="{D1B3D3F8-ED77-7462-B523-410F4EF956DE}"/>
              </a:ext>
            </a:extLst>
          </p:cNvPr>
          <p:cNvGraphicFramePr>
            <a:graphicFrameLocks noGrp="1"/>
          </p:cNvGraphicFramePr>
          <p:nvPr>
            <p:extLst>
              <p:ext uri="{D42A27DB-BD31-4B8C-83A1-F6EECF244321}">
                <p14:modId xmlns:p14="http://schemas.microsoft.com/office/powerpoint/2010/main" val="4005965833"/>
              </p:ext>
            </p:extLst>
          </p:nvPr>
        </p:nvGraphicFramePr>
        <p:xfrm>
          <a:off x="702931" y="1656153"/>
          <a:ext cx="4368800" cy="1112520"/>
        </p:xfrm>
        <a:graphic>
          <a:graphicData uri="http://schemas.openxmlformats.org/drawingml/2006/table">
            <a:tbl>
              <a:tblPr firstRow="1" bandRow="1">
                <a:tableStyleId>{5940675A-B579-460E-94D1-54222C63F5DA}</a:tableStyleId>
              </a:tblPr>
              <a:tblGrid>
                <a:gridCol w="546100">
                  <a:extLst>
                    <a:ext uri="{9D8B030D-6E8A-4147-A177-3AD203B41FA5}">
                      <a16:colId xmlns:a16="http://schemas.microsoft.com/office/drawing/2014/main" val="2959360814"/>
                    </a:ext>
                  </a:extLst>
                </a:gridCol>
                <a:gridCol w="546100">
                  <a:extLst>
                    <a:ext uri="{9D8B030D-6E8A-4147-A177-3AD203B41FA5}">
                      <a16:colId xmlns:a16="http://schemas.microsoft.com/office/drawing/2014/main" val="2691191959"/>
                    </a:ext>
                  </a:extLst>
                </a:gridCol>
                <a:gridCol w="546100">
                  <a:extLst>
                    <a:ext uri="{9D8B030D-6E8A-4147-A177-3AD203B41FA5}">
                      <a16:colId xmlns:a16="http://schemas.microsoft.com/office/drawing/2014/main" val="172237"/>
                    </a:ext>
                  </a:extLst>
                </a:gridCol>
                <a:gridCol w="546100">
                  <a:extLst>
                    <a:ext uri="{9D8B030D-6E8A-4147-A177-3AD203B41FA5}">
                      <a16:colId xmlns:a16="http://schemas.microsoft.com/office/drawing/2014/main" val="2117057928"/>
                    </a:ext>
                  </a:extLst>
                </a:gridCol>
                <a:gridCol w="546100">
                  <a:extLst>
                    <a:ext uri="{9D8B030D-6E8A-4147-A177-3AD203B41FA5}">
                      <a16:colId xmlns:a16="http://schemas.microsoft.com/office/drawing/2014/main" val="1845736520"/>
                    </a:ext>
                  </a:extLst>
                </a:gridCol>
                <a:gridCol w="546100">
                  <a:extLst>
                    <a:ext uri="{9D8B030D-6E8A-4147-A177-3AD203B41FA5}">
                      <a16:colId xmlns:a16="http://schemas.microsoft.com/office/drawing/2014/main" val="996069052"/>
                    </a:ext>
                  </a:extLst>
                </a:gridCol>
                <a:gridCol w="546100">
                  <a:extLst>
                    <a:ext uri="{9D8B030D-6E8A-4147-A177-3AD203B41FA5}">
                      <a16:colId xmlns:a16="http://schemas.microsoft.com/office/drawing/2014/main" val="2885903356"/>
                    </a:ext>
                  </a:extLst>
                </a:gridCol>
                <a:gridCol w="546100">
                  <a:extLst>
                    <a:ext uri="{9D8B030D-6E8A-4147-A177-3AD203B41FA5}">
                      <a16:colId xmlns:a16="http://schemas.microsoft.com/office/drawing/2014/main" val="2545501029"/>
                    </a:ext>
                  </a:extLst>
                </a:gridCol>
              </a:tblGrid>
              <a:tr h="370840">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82159287"/>
                  </a:ext>
                </a:extLst>
              </a:tr>
              <a:tr h="370840">
                <a:tc>
                  <a:txBody>
                    <a:bodyPr/>
                    <a:lstStyle/>
                    <a:p>
                      <a:pPr algn="ctr"/>
                      <a:r>
                        <a:rPr lang="en-US" altLang="zh-TW" dirty="0">
                          <a:latin typeface="Times New Roman" panose="02020603050405020304" pitchFamily="18" charset="0"/>
                          <a:cs typeface="Times New Roman" panose="02020603050405020304" pitchFamily="18" charset="0"/>
                        </a:rPr>
                        <a:t>A</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697320393"/>
                  </a:ext>
                </a:extLst>
              </a:tr>
              <a:tr h="370840">
                <a:tc>
                  <a:txBody>
                    <a:bodyPr/>
                    <a:lstStyle/>
                    <a:p>
                      <a:pPr algn="ctr"/>
                      <a:r>
                        <a:rPr lang="en-US" altLang="zh-TW" dirty="0">
                          <a:latin typeface="Times New Roman" panose="02020603050405020304" pitchFamily="18" charset="0"/>
                          <a:cs typeface="Times New Roman" panose="02020603050405020304" pitchFamily="18" charset="0"/>
                        </a:rPr>
                        <a:t>B</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no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25307070"/>
                  </a:ext>
                </a:extLst>
              </a:tr>
            </a:tbl>
          </a:graphicData>
        </a:graphic>
      </p:graphicFrame>
      <p:pic>
        <p:nvPicPr>
          <p:cNvPr id="17" name="圖片 16">
            <a:extLst>
              <a:ext uri="{FF2B5EF4-FFF2-40B4-BE49-F238E27FC236}">
                <a16:creationId xmlns:a16="http://schemas.microsoft.com/office/drawing/2014/main" id="{3693C037-F7E6-E64B-A021-F763C3350F35}"/>
              </a:ext>
            </a:extLst>
          </p:cNvPr>
          <p:cNvPicPr>
            <a:picLocks noChangeAspect="1"/>
          </p:cNvPicPr>
          <p:nvPr/>
        </p:nvPicPr>
        <p:blipFill>
          <a:blip r:embed="rId2"/>
          <a:stretch>
            <a:fillRect/>
          </a:stretch>
        </p:blipFill>
        <p:spPr>
          <a:xfrm>
            <a:off x="5386076" y="1656153"/>
            <a:ext cx="6480000" cy="476611"/>
          </a:xfrm>
          <a:prstGeom prst="rect">
            <a:avLst/>
          </a:prstGeom>
        </p:spPr>
      </p:pic>
      <p:pic>
        <p:nvPicPr>
          <p:cNvPr id="18" name="圖片 17">
            <a:extLst>
              <a:ext uri="{FF2B5EF4-FFF2-40B4-BE49-F238E27FC236}">
                <a16:creationId xmlns:a16="http://schemas.microsoft.com/office/drawing/2014/main" id="{31EE02DC-EC9D-D87A-00E8-645BC1B0D57D}"/>
              </a:ext>
            </a:extLst>
          </p:cNvPr>
          <p:cNvPicPr>
            <a:picLocks noChangeAspect="1"/>
          </p:cNvPicPr>
          <p:nvPr/>
        </p:nvPicPr>
        <p:blipFill>
          <a:blip r:embed="rId3"/>
          <a:stretch>
            <a:fillRect/>
          </a:stretch>
        </p:blipFill>
        <p:spPr>
          <a:xfrm>
            <a:off x="5386076" y="2250145"/>
            <a:ext cx="6480000" cy="449731"/>
          </a:xfrm>
          <a:prstGeom prst="rect">
            <a:avLst/>
          </a:prstGeom>
        </p:spPr>
      </p:pic>
    </p:spTree>
    <p:extLst>
      <p:ext uri="{BB962C8B-B14F-4D97-AF65-F5344CB8AC3E}">
        <p14:creationId xmlns:p14="http://schemas.microsoft.com/office/powerpoint/2010/main" val="3261422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Reduce Candidate (RC) (3/5)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12</a:t>
            </a:fld>
            <a:endParaRPr kumimoji="1" lang="zh-TW" altLang="en-US"/>
          </a:p>
        </p:txBody>
      </p:sp>
      <p:pic>
        <p:nvPicPr>
          <p:cNvPr id="7" name="圖片 6">
            <a:extLst>
              <a:ext uri="{FF2B5EF4-FFF2-40B4-BE49-F238E27FC236}">
                <a16:creationId xmlns:a16="http://schemas.microsoft.com/office/drawing/2014/main" id="{4E2CC743-B5DD-DD89-0B77-5DF1C404DD4A}"/>
              </a:ext>
            </a:extLst>
          </p:cNvPr>
          <p:cNvPicPr>
            <a:picLocks noChangeAspect="1"/>
          </p:cNvPicPr>
          <p:nvPr/>
        </p:nvPicPr>
        <p:blipFill>
          <a:blip r:embed="rId2"/>
          <a:stretch>
            <a:fillRect/>
          </a:stretch>
        </p:blipFill>
        <p:spPr>
          <a:xfrm>
            <a:off x="838200" y="1596375"/>
            <a:ext cx="8933969" cy="2495140"/>
          </a:xfrm>
          <a:prstGeom prst="rect">
            <a:avLst/>
          </a:prstGeom>
        </p:spPr>
      </p:pic>
      <p:pic>
        <p:nvPicPr>
          <p:cNvPr id="10" name="圖片 9">
            <a:extLst>
              <a:ext uri="{FF2B5EF4-FFF2-40B4-BE49-F238E27FC236}">
                <a16:creationId xmlns:a16="http://schemas.microsoft.com/office/drawing/2014/main" id="{33DF15DD-867E-47EA-7B8F-457BDCC2451F}"/>
              </a:ext>
            </a:extLst>
          </p:cNvPr>
          <p:cNvPicPr>
            <a:picLocks noChangeAspect="1"/>
          </p:cNvPicPr>
          <p:nvPr/>
        </p:nvPicPr>
        <p:blipFill>
          <a:blip r:embed="rId3"/>
          <a:stretch>
            <a:fillRect/>
          </a:stretch>
        </p:blipFill>
        <p:spPr>
          <a:xfrm>
            <a:off x="853676" y="4359511"/>
            <a:ext cx="6706073" cy="2265242"/>
          </a:xfrm>
          <a:prstGeom prst="rect">
            <a:avLst/>
          </a:prstGeom>
        </p:spPr>
      </p:pic>
      <p:pic>
        <p:nvPicPr>
          <p:cNvPr id="11" name="圖片 10">
            <a:extLst>
              <a:ext uri="{FF2B5EF4-FFF2-40B4-BE49-F238E27FC236}">
                <a16:creationId xmlns:a16="http://schemas.microsoft.com/office/drawing/2014/main" id="{59986916-5F5F-288B-C625-A869E2659317}"/>
              </a:ext>
            </a:extLst>
          </p:cNvPr>
          <p:cNvPicPr>
            <a:picLocks noChangeAspect="1"/>
          </p:cNvPicPr>
          <p:nvPr/>
        </p:nvPicPr>
        <p:blipFill>
          <a:blip r:embed="rId4"/>
          <a:stretch>
            <a:fillRect/>
          </a:stretch>
        </p:blipFill>
        <p:spPr>
          <a:xfrm>
            <a:off x="5141527" y="1482386"/>
            <a:ext cx="6480000" cy="476611"/>
          </a:xfrm>
          <a:prstGeom prst="rect">
            <a:avLst/>
          </a:prstGeom>
        </p:spPr>
      </p:pic>
      <p:pic>
        <p:nvPicPr>
          <p:cNvPr id="12" name="圖片 11">
            <a:extLst>
              <a:ext uri="{FF2B5EF4-FFF2-40B4-BE49-F238E27FC236}">
                <a16:creationId xmlns:a16="http://schemas.microsoft.com/office/drawing/2014/main" id="{0E7A7355-31E9-E5CD-985F-F37AFFD47628}"/>
              </a:ext>
            </a:extLst>
          </p:cNvPr>
          <p:cNvPicPr>
            <a:picLocks noChangeAspect="1"/>
          </p:cNvPicPr>
          <p:nvPr/>
        </p:nvPicPr>
        <p:blipFill>
          <a:blip r:embed="rId5"/>
          <a:stretch>
            <a:fillRect/>
          </a:stretch>
        </p:blipFill>
        <p:spPr>
          <a:xfrm>
            <a:off x="5141527" y="2076378"/>
            <a:ext cx="6480000" cy="449731"/>
          </a:xfrm>
          <a:prstGeom prst="rect">
            <a:avLst/>
          </a:prstGeom>
        </p:spPr>
      </p:pic>
    </p:spTree>
    <p:extLst>
      <p:ext uri="{BB962C8B-B14F-4D97-AF65-F5344CB8AC3E}">
        <p14:creationId xmlns:p14="http://schemas.microsoft.com/office/powerpoint/2010/main" val="1043001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0E41D51-A095-3D7E-B21F-B74790972EAA}"/>
              </a:ext>
            </a:extLst>
          </p:cNvPr>
          <p:cNvPicPr>
            <a:picLocks noChangeAspect="1"/>
          </p:cNvPicPr>
          <p:nvPr/>
        </p:nvPicPr>
        <p:blipFill>
          <a:blip r:embed="rId2"/>
          <a:stretch>
            <a:fillRect/>
          </a:stretch>
        </p:blipFill>
        <p:spPr>
          <a:xfrm>
            <a:off x="725672" y="1281340"/>
            <a:ext cx="7772400" cy="5435048"/>
          </a:xfrm>
          <a:prstGeom prst="rect">
            <a:avLst/>
          </a:prstGeom>
        </p:spPr>
      </p:pic>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Reduce Candidate (RC) (4/5)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13</a:t>
            </a:fld>
            <a:endParaRPr kumimoji="1" lang="zh-TW" altLang="en-US"/>
          </a:p>
        </p:txBody>
      </p:sp>
      <p:graphicFrame>
        <p:nvGraphicFramePr>
          <p:cNvPr id="8" name="表格 9">
            <a:extLst>
              <a:ext uri="{FF2B5EF4-FFF2-40B4-BE49-F238E27FC236}">
                <a16:creationId xmlns:a16="http://schemas.microsoft.com/office/drawing/2014/main" id="{93F3B02A-2171-4D7A-706A-B84584E4E572}"/>
              </a:ext>
            </a:extLst>
          </p:cNvPr>
          <p:cNvGraphicFramePr>
            <a:graphicFrameLocks noGrp="1"/>
          </p:cNvGraphicFramePr>
          <p:nvPr>
            <p:extLst>
              <p:ext uri="{D42A27DB-BD31-4B8C-83A1-F6EECF244321}">
                <p14:modId xmlns:p14="http://schemas.microsoft.com/office/powerpoint/2010/main" val="4140611414"/>
              </p:ext>
            </p:extLst>
          </p:nvPr>
        </p:nvGraphicFramePr>
        <p:xfrm>
          <a:off x="8672624" y="207328"/>
          <a:ext cx="3326808" cy="2966720"/>
        </p:xfrm>
        <a:graphic>
          <a:graphicData uri="http://schemas.openxmlformats.org/drawingml/2006/table">
            <a:tbl>
              <a:tblPr firstRow="1" bandRow="1">
                <a:tableStyleId>{5940675A-B579-460E-94D1-54222C63F5DA}</a:tableStyleId>
              </a:tblPr>
              <a:tblGrid>
                <a:gridCol w="415851">
                  <a:extLst>
                    <a:ext uri="{9D8B030D-6E8A-4147-A177-3AD203B41FA5}">
                      <a16:colId xmlns:a16="http://schemas.microsoft.com/office/drawing/2014/main" val="3822449337"/>
                    </a:ext>
                  </a:extLst>
                </a:gridCol>
                <a:gridCol w="415851">
                  <a:extLst>
                    <a:ext uri="{9D8B030D-6E8A-4147-A177-3AD203B41FA5}">
                      <a16:colId xmlns:a16="http://schemas.microsoft.com/office/drawing/2014/main" val="1546958230"/>
                    </a:ext>
                  </a:extLst>
                </a:gridCol>
                <a:gridCol w="415851">
                  <a:extLst>
                    <a:ext uri="{9D8B030D-6E8A-4147-A177-3AD203B41FA5}">
                      <a16:colId xmlns:a16="http://schemas.microsoft.com/office/drawing/2014/main" val="1953262237"/>
                    </a:ext>
                  </a:extLst>
                </a:gridCol>
                <a:gridCol w="415851">
                  <a:extLst>
                    <a:ext uri="{9D8B030D-6E8A-4147-A177-3AD203B41FA5}">
                      <a16:colId xmlns:a16="http://schemas.microsoft.com/office/drawing/2014/main" val="644430134"/>
                    </a:ext>
                  </a:extLst>
                </a:gridCol>
                <a:gridCol w="415851">
                  <a:extLst>
                    <a:ext uri="{9D8B030D-6E8A-4147-A177-3AD203B41FA5}">
                      <a16:colId xmlns:a16="http://schemas.microsoft.com/office/drawing/2014/main" val="4081232392"/>
                    </a:ext>
                  </a:extLst>
                </a:gridCol>
                <a:gridCol w="415851">
                  <a:extLst>
                    <a:ext uri="{9D8B030D-6E8A-4147-A177-3AD203B41FA5}">
                      <a16:colId xmlns:a16="http://schemas.microsoft.com/office/drawing/2014/main" val="1227861867"/>
                    </a:ext>
                  </a:extLst>
                </a:gridCol>
                <a:gridCol w="415851">
                  <a:extLst>
                    <a:ext uri="{9D8B030D-6E8A-4147-A177-3AD203B41FA5}">
                      <a16:colId xmlns:a16="http://schemas.microsoft.com/office/drawing/2014/main" val="3287117147"/>
                    </a:ext>
                  </a:extLst>
                </a:gridCol>
                <a:gridCol w="415851">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U</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9" name="表格 9">
            <a:extLst>
              <a:ext uri="{FF2B5EF4-FFF2-40B4-BE49-F238E27FC236}">
                <a16:creationId xmlns:a16="http://schemas.microsoft.com/office/drawing/2014/main" id="{CC17EA7A-8E77-DFA5-840E-2363A4F025BA}"/>
              </a:ext>
            </a:extLst>
          </p:cNvPr>
          <p:cNvGraphicFramePr>
            <a:graphicFrameLocks noGrp="1"/>
          </p:cNvGraphicFramePr>
          <p:nvPr>
            <p:extLst>
              <p:ext uri="{D42A27DB-BD31-4B8C-83A1-F6EECF244321}">
                <p14:modId xmlns:p14="http://schemas.microsoft.com/office/powerpoint/2010/main" val="3668440554"/>
              </p:ext>
            </p:extLst>
          </p:nvPr>
        </p:nvGraphicFramePr>
        <p:xfrm>
          <a:off x="8610600" y="3389630"/>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sp>
        <p:nvSpPr>
          <p:cNvPr id="11" name="乘號 10">
            <a:extLst>
              <a:ext uri="{FF2B5EF4-FFF2-40B4-BE49-F238E27FC236}">
                <a16:creationId xmlns:a16="http://schemas.microsoft.com/office/drawing/2014/main" id="{05033D15-3818-902E-603F-F716070F3BF6}"/>
              </a:ext>
            </a:extLst>
          </p:cNvPr>
          <p:cNvSpPr/>
          <p:nvPr/>
        </p:nvSpPr>
        <p:spPr>
          <a:xfrm>
            <a:off x="5830187" y="3507105"/>
            <a:ext cx="1392865" cy="1392865"/>
          </a:xfrm>
          <a:prstGeom prst="mathMultiply">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文字方塊 13">
            <a:extLst>
              <a:ext uri="{FF2B5EF4-FFF2-40B4-BE49-F238E27FC236}">
                <a16:creationId xmlns:a16="http://schemas.microsoft.com/office/drawing/2014/main" id="{A71CAC21-E2D2-F07D-BA01-11B2CDA4201C}"/>
              </a:ext>
            </a:extLst>
          </p:cNvPr>
          <p:cNvSpPr txBox="1"/>
          <p:nvPr/>
        </p:nvSpPr>
        <p:spPr>
          <a:xfrm>
            <a:off x="838200" y="1298509"/>
            <a:ext cx="3670005" cy="369332"/>
          </a:xfrm>
          <a:prstGeom prst="rect">
            <a:avLst/>
          </a:prstGeom>
          <a:noFill/>
        </p:spPr>
        <p:txBody>
          <a:bodyPr wrap="square">
            <a:spAutoFit/>
          </a:bodyPr>
          <a:lstStyle/>
          <a:p>
            <a:r>
              <a:rPr lang="en-US" altLang="zh-TW" b="1" dirty="0">
                <a:solidFill>
                  <a:srgbClr val="000000"/>
                </a:solidFill>
                <a:effectLst/>
                <a:latin typeface="Menlo" panose="020B0609030804020204" pitchFamily="49" charset="0"/>
              </a:rPr>
              <a:t>Pi:  3  5  2  4  1  7  6</a:t>
            </a:r>
            <a:endParaRPr lang="en-US" altLang="zh-TW"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60473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Reduce Candidate (RC) (5/5)</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14</a:t>
            </a:fld>
            <a:endParaRPr kumimoji="1" lang="zh-TW" altLang="en-US"/>
          </a:p>
        </p:txBody>
      </p:sp>
      <p:graphicFrame>
        <p:nvGraphicFramePr>
          <p:cNvPr id="8" name="表格 9">
            <a:extLst>
              <a:ext uri="{FF2B5EF4-FFF2-40B4-BE49-F238E27FC236}">
                <a16:creationId xmlns:a16="http://schemas.microsoft.com/office/drawing/2014/main" id="{93F3B02A-2171-4D7A-706A-B84584E4E572}"/>
              </a:ext>
            </a:extLst>
          </p:cNvPr>
          <p:cNvGraphicFramePr>
            <a:graphicFrameLocks noGrp="1"/>
          </p:cNvGraphicFramePr>
          <p:nvPr>
            <p:extLst>
              <p:ext uri="{D42A27DB-BD31-4B8C-83A1-F6EECF244321}">
                <p14:modId xmlns:p14="http://schemas.microsoft.com/office/powerpoint/2010/main" val="1208041442"/>
              </p:ext>
            </p:extLst>
          </p:nvPr>
        </p:nvGraphicFramePr>
        <p:xfrm>
          <a:off x="8672624" y="207328"/>
          <a:ext cx="3326808" cy="2966720"/>
        </p:xfrm>
        <a:graphic>
          <a:graphicData uri="http://schemas.openxmlformats.org/drawingml/2006/table">
            <a:tbl>
              <a:tblPr firstRow="1" bandRow="1">
                <a:tableStyleId>{5940675A-B579-460E-94D1-54222C63F5DA}</a:tableStyleId>
              </a:tblPr>
              <a:tblGrid>
                <a:gridCol w="415851">
                  <a:extLst>
                    <a:ext uri="{9D8B030D-6E8A-4147-A177-3AD203B41FA5}">
                      <a16:colId xmlns:a16="http://schemas.microsoft.com/office/drawing/2014/main" val="3822449337"/>
                    </a:ext>
                  </a:extLst>
                </a:gridCol>
                <a:gridCol w="415851">
                  <a:extLst>
                    <a:ext uri="{9D8B030D-6E8A-4147-A177-3AD203B41FA5}">
                      <a16:colId xmlns:a16="http://schemas.microsoft.com/office/drawing/2014/main" val="1546958230"/>
                    </a:ext>
                  </a:extLst>
                </a:gridCol>
                <a:gridCol w="415851">
                  <a:extLst>
                    <a:ext uri="{9D8B030D-6E8A-4147-A177-3AD203B41FA5}">
                      <a16:colId xmlns:a16="http://schemas.microsoft.com/office/drawing/2014/main" val="1953262237"/>
                    </a:ext>
                  </a:extLst>
                </a:gridCol>
                <a:gridCol w="415851">
                  <a:extLst>
                    <a:ext uri="{9D8B030D-6E8A-4147-A177-3AD203B41FA5}">
                      <a16:colId xmlns:a16="http://schemas.microsoft.com/office/drawing/2014/main" val="644430134"/>
                    </a:ext>
                  </a:extLst>
                </a:gridCol>
                <a:gridCol w="415851">
                  <a:extLst>
                    <a:ext uri="{9D8B030D-6E8A-4147-A177-3AD203B41FA5}">
                      <a16:colId xmlns:a16="http://schemas.microsoft.com/office/drawing/2014/main" val="4081232392"/>
                    </a:ext>
                  </a:extLst>
                </a:gridCol>
                <a:gridCol w="415851">
                  <a:extLst>
                    <a:ext uri="{9D8B030D-6E8A-4147-A177-3AD203B41FA5}">
                      <a16:colId xmlns:a16="http://schemas.microsoft.com/office/drawing/2014/main" val="1227861867"/>
                    </a:ext>
                  </a:extLst>
                </a:gridCol>
                <a:gridCol w="415851">
                  <a:extLst>
                    <a:ext uri="{9D8B030D-6E8A-4147-A177-3AD203B41FA5}">
                      <a16:colId xmlns:a16="http://schemas.microsoft.com/office/drawing/2014/main" val="3287117147"/>
                    </a:ext>
                  </a:extLst>
                </a:gridCol>
                <a:gridCol w="415851">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U</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graphicFrame>
        <p:nvGraphicFramePr>
          <p:cNvPr id="9" name="表格 9">
            <a:extLst>
              <a:ext uri="{FF2B5EF4-FFF2-40B4-BE49-F238E27FC236}">
                <a16:creationId xmlns:a16="http://schemas.microsoft.com/office/drawing/2014/main" id="{CC17EA7A-8E77-DFA5-840E-2363A4F025BA}"/>
              </a:ext>
            </a:extLst>
          </p:cNvPr>
          <p:cNvGraphicFramePr>
            <a:graphicFrameLocks noGrp="1"/>
          </p:cNvGraphicFramePr>
          <p:nvPr>
            <p:extLst>
              <p:ext uri="{D42A27DB-BD31-4B8C-83A1-F6EECF244321}">
                <p14:modId xmlns:p14="http://schemas.microsoft.com/office/powerpoint/2010/main" val="803730383"/>
              </p:ext>
            </p:extLst>
          </p:nvPr>
        </p:nvGraphicFramePr>
        <p:xfrm>
          <a:off x="8610600" y="3389630"/>
          <a:ext cx="3450856" cy="2966720"/>
        </p:xfrm>
        <a:graphic>
          <a:graphicData uri="http://schemas.openxmlformats.org/drawingml/2006/table">
            <a:tbl>
              <a:tblPr firstRow="1" bandRow="1">
                <a:tableStyleId>{5940675A-B579-460E-94D1-54222C63F5DA}</a:tableStyleId>
              </a:tblPr>
              <a:tblGrid>
                <a:gridCol w="431357">
                  <a:extLst>
                    <a:ext uri="{9D8B030D-6E8A-4147-A177-3AD203B41FA5}">
                      <a16:colId xmlns:a16="http://schemas.microsoft.com/office/drawing/2014/main" val="3822449337"/>
                    </a:ext>
                  </a:extLst>
                </a:gridCol>
                <a:gridCol w="431357">
                  <a:extLst>
                    <a:ext uri="{9D8B030D-6E8A-4147-A177-3AD203B41FA5}">
                      <a16:colId xmlns:a16="http://schemas.microsoft.com/office/drawing/2014/main" val="1546958230"/>
                    </a:ext>
                  </a:extLst>
                </a:gridCol>
                <a:gridCol w="431357">
                  <a:extLst>
                    <a:ext uri="{9D8B030D-6E8A-4147-A177-3AD203B41FA5}">
                      <a16:colId xmlns:a16="http://schemas.microsoft.com/office/drawing/2014/main" val="1953262237"/>
                    </a:ext>
                  </a:extLst>
                </a:gridCol>
                <a:gridCol w="431357">
                  <a:extLst>
                    <a:ext uri="{9D8B030D-6E8A-4147-A177-3AD203B41FA5}">
                      <a16:colId xmlns:a16="http://schemas.microsoft.com/office/drawing/2014/main" val="644430134"/>
                    </a:ext>
                  </a:extLst>
                </a:gridCol>
                <a:gridCol w="431357">
                  <a:extLst>
                    <a:ext uri="{9D8B030D-6E8A-4147-A177-3AD203B41FA5}">
                      <a16:colId xmlns:a16="http://schemas.microsoft.com/office/drawing/2014/main" val="4081232392"/>
                    </a:ext>
                  </a:extLst>
                </a:gridCol>
                <a:gridCol w="431357">
                  <a:extLst>
                    <a:ext uri="{9D8B030D-6E8A-4147-A177-3AD203B41FA5}">
                      <a16:colId xmlns:a16="http://schemas.microsoft.com/office/drawing/2014/main" val="1227861867"/>
                    </a:ext>
                  </a:extLst>
                </a:gridCol>
                <a:gridCol w="431357">
                  <a:extLst>
                    <a:ext uri="{9D8B030D-6E8A-4147-A177-3AD203B41FA5}">
                      <a16:colId xmlns:a16="http://schemas.microsoft.com/office/drawing/2014/main" val="3287117147"/>
                    </a:ext>
                  </a:extLst>
                </a:gridCol>
                <a:gridCol w="431357">
                  <a:extLst>
                    <a:ext uri="{9D8B030D-6E8A-4147-A177-3AD203B41FA5}">
                      <a16:colId xmlns:a16="http://schemas.microsoft.com/office/drawing/2014/main" val="2737703069"/>
                    </a:ext>
                  </a:extLst>
                </a:gridCol>
              </a:tblGrid>
              <a:tr h="370840">
                <a:tc>
                  <a:txBody>
                    <a:bodyPr/>
                    <a:lstStyle/>
                    <a:p>
                      <a:pPr algn="ctr"/>
                      <a:r>
                        <a:rPr lang="en-US" altLang="zh-TW" i="1" dirty="0">
                          <a:latin typeface="Times New Roman" panose="02020603050405020304" pitchFamily="18" charset="0"/>
                          <a:cs typeface="Times New Roman" panose="02020603050405020304" pitchFamily="18" charset="0"/>
                        </a:rPr>
                        <a:t>L</a:t>
                      </a:r>
                      <a:endParaRPr lang="zh-TW" altLang="en-US" i="1"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extLst>
                  <a:ext uri="{0D108BD9-81ED-4DB2-BD59-A6C34878D82A}">
                    <a16:rowId xmlns:a16="http://schemas.microsoft.com/office/drawing/2014/main" val="3303949314"/>
                  </a:ext>
                </a:extLst>
              </a:tr>
              <a:tr h="370840">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57403389"/>
                  </a:ext>
                </a:extLst>
              </a:tr>
              <a:tr h="370840">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22299263"/>
                  </a:ext>
                </a:extLst>
              </a:tr>
              <a:tr h="370840">
                <a:tc>
                  <a:txBody>
                    <a:bodyPr/>
                    <a:lstStyle/>
                    <a:p>
                      <a:pPr algn="ctr"/>
                      <a:r>
                        <a:rPr lang="en-US" altLang="zh-TW" dirty="0">
                          <a:latin typeface="Times New Roman" panose="02020603050405020304" pitchFamily="18" charset="0"/>
                          <a:cs typeface="Times New Roman" panose="02020603050405020304" pitchFamily="18" charset="0"/>
                        </a:rPr>
                        <a:t>3</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2</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8928076"/>
                  </a:ext>
                </a:extLst>
              </a:tr>
              <a:tr h="370840">
                <a:tc>
                  <a:txBody>
                    <a:bodyPr/>
                    <a:lstStyle/>
                    <a:p>
                      <a:pPr algn="ctr"/>
                      <a:r>
                        <a:rPr lang="en-US" altLang="zh-TW" dirty="0">
                          <a:latin typeface="Times New Roman" panose="02020603050405020304" pitchFamily="18" charset="0"/>
                          <a:cs typeface="Times New Roman" panose="02020603050405020304" pitchFamily="18" charset="0"/>
                        </a:rPr>
                        <a:t>4</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40962684"/>
                  </a:ext>
                </a:extLst>
              </a:tr>
              <a:tr h="370840">
                <a:tc>
                  <a:txBody>
                    <a:bodyPr/>
                    <a:lstStyle/>
                    <a:p>
                      <a:pPr algn="ctr"/>
                      <a:r>
                        <a:rPr lang="en-US" altLang="zh-TW" dirty="0">
                          <a:latin typeface="Times New Roman" panose="02020603050405020304" pitchFamily="18" charset="0"/>
                          <a:cs typeface="Times New Roman" panose="02020603050405020304" pitchFamily="18" charset="0"/>
                        </a:rPr>
                        <a:t>5</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1</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45422879"/>
                  </a:ext>
                </a:extLst>
              </a:tr>
              <a:tr h="370840">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TW" dirty="0">
                          <a:latin typeface="Times New Roman" panose="02020603050405020304" pitchFamily="18" charset="0"/>
                          <a:cs typeface="Times New Roman" panose="02020603050405020304" pitchFamily="18" charset="0"/>
                        </a:rPr>
                        <a:t>6</a:t>
                      </a: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60453342"/>
                  </a:ext>
                </a:extLst>
              </a:tr>
              <a:tr h="370840">
                <a:tc>
                  <a:txBody>
                    <a:bodyPr/>
                    <a:lstStyle/>
                    <a:p>
                      <a:pPr algn="ctr"/>
                      <a:r>
                        <a:rPr lang="en-US" altLang="zh-TW" dirty="0">
                          <a:latin typeface="Times New Roman" panose="02020603050405020304" pitchFamily="18" charset="0"/>
                          <a:cs typeface="Times New Roman" panose="02020603050405020304" pitchFamily="18" charset="0"/>
                        </a:rPr>
                        <a:t>7</a:t>
                      </a:r>
                      <a:endParaRPr lang="zh-TW" altLang="en-US" dirty="0">
                        <a:latin typeface="Times New Roman" panose="02020603050405020304" pitchFamily="18" charset="0"/>
                        <a:cs typeface="Times New Roman" panose="02020603050405020304" pitchFamily="18" charset="0"/>
                      </a:endParaRPr>
                    </a:p>
                  </a:txBody>
                  <a:tcPr anchor="ctr">
                    <a:solidFill>
                      <a:schemeClr val="accent4">
                        <a:lumMod val="20000"/>
                        <a:lumOff val="80000"/>
                      </a:schemeClr>
                    </a:solidFill>
                  </a:tcP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a:latin typeface="Times New Roman" panose="02020603050405020304" pitchFamily="18" charset="0"/>
                        <a:cs typeface="Times New Roman" panose="02020603050405020304" pitchFamily="18" charset="0"/>
                      </a:endParaRPr>
                    </a:p>
                  </a:txBody>
                  <a:tcPr anchor="ctr"/>
                </a:tc>
                <a:tc>
                  <a:txBody>
                    <a:bodyPr/>
                    <a:lstStyle/>
                    <a:p>
                      <a:pPr algn="ctr"/>
                      <a:endParaRPr lang="zh-TW"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34508220"/>
                  </a:ext>
                </a:extLst>
              </a:tr>
            </a:tbl>
          </a:graphicData>
        </a:graphic>
      </p:graphicFrame>
      <p:pic>
        <p:nvPicPr>
          <p:cNvPr id="3" name="圖片 2">
            <a:extLst>
              <a:ext uri="{FF2B5EF4-FFF2-40B4-BE49-F238E27FC236}">
                <a16:creationId xmlns:a16="http://schemas.microsoft.com/office/drawing/2014/main" id="{44CC5F8D-B4DF-63CD-5811-44BBD008D84C}"/>
              </a:ext>
            </a:extLst>
          </p:cNvPr>
          <p:cNvPicPr>
            <a:picLocks noChangeAspect="1"/>
          </p:cNvPicPr>
          <p:nvPr/>
        </p:nvPicPr>
        <p:blipFill>
          <a:blip r:embed="rId2"/>
          <a:stretch>
            <a:fillRect/>
          </a:stretch>
        </p:blipFill>
        <p:spPr>
          <a:xfrm>
            <a:off x="725672" y="1439137"/>
            <a:ext cx="7772400" cy="4870533"/>
          </a:xfrm>
          <a:prstGeom prst="rect">
            <a:avLst/>
          </a:prstGeom>
        </p:spPr>
      </p:pic>
      <p:sp>
        <p:nvSpPr>
          <p:cNvPr id="5" name="乘號 4">
            <a:extLst>
              <a:ext uri="{FF2B5EF4-FFF2-40B4-BE49-F238E27FC236}">
                <a16:creationId xmlns:a16="http://schemas.microsoft.com/office/drawing/2014/main" id="{91C6905E-F596-839D-3F9E-1BF2E66DEBE9}"/>
              </a:ext>
            </a:extLst>
          </p:cNvPr>
          <p:cNvSpPr/>
          <p:nvPr/>
        </p:nvSpPr>
        <p:spPr>
          <a:xfrm>
            <a:off x="6000308" y="2890417"/>
            <a:ext cx="1392865" cy="1392865"/>
          </a:xfrm>
          <a:prstGeom prst="mathMultiply">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7" name="文字方塊 6">
            <a:extLst>
              <a:ext uri="{FF2B5EF4-FFF2-40B4-BE49-F238E27FC236}">
                <a16:creationId xmlns:a16="http://schemas.microsoft.com/office/drawing/2014/main" id="{7E091136-A600-CE81-B547-1448F5B8B5E2}"/>
              </a:ext>
            </a:extLst>
          </p:cNvPr>
          <p:cNvSpPr txBox="1"/>
          <p:nvPr/>
        </p:nvSpPr>
        <p:spPr>
          <a:xfrm>
            <a:off x="838200" y="1298509"/>
            <a:ext cx="3670005" cy="369332"/>
          </a:xfrm>
          <a:prstGeom prst="rect">
            <a:avLst/>
          </a:prstGeom>
          <a:noFill/>
        </p:spPr>
        <p:txBody>
          <a:bodyPr wrap="square">
            <a:spAutoFit/>
          </a:bodyPr>
          <a:lstStyle/>
          <a:p>
            <a:r>
              <a:rPr lang="en-US" altLang="zh-TW" b="1" dirty="0">
                <a:solidFill>
                  <a:srgbClr val="000000"/>
                </a:solidFill>
                <a:effectLst/>
                <a:latin typeface="Menlo" panose="020B0609030804020204" pitchFamily="49" charset="0"/>
              </a:rPr>
              <a:t>Pi:  3  5  2  4  1  7  6</a:t>
            </a:r>
            <a:endParaRPr lang="en-US" altLang="zh-TW"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398009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(1/3)</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Data set:</a:t>
            </a:r>
          </a:p>
          <a:p>
            <a:pPr lvl="1"/>
            <a:r>
              <a:rPr kumimoji="1" lang="en-US" altLang="zh-TW" dirty="0">
                <a:latin typeface="Times New Roman" panose="02020603050405020304" pitchFamily="18" charset="0"/>
                <a:cs typeface="Times New Roman" panose="02020603050405020304" pitchFamily="18" charset="0"/>
              </a:rPr>
              <a:t>RAND</a:t>
            </a:r>
          </a:p>
          <a:p>
            <a:pPr lvl="1"/>
            <a:r>
              <a:rPr kumimoji="1" lang="en-US" altLang="zh-TW" dirty="0">
                <a:latin typeface="Times New Roman" panose="02020603050405020304" pitchFamily="18" charset="0"/>
                <a:cs typeface="Times New Roman" panose="02020603050405020304" pitchFamily="18" charset="0"/>
              </a:rPr>
              <a:t>SWAP</a:t>
            </a:r>
          </a:p>
          <a:p>
            <a:pPr lvl="1"/>
            <a:r>
              <a:rPr kumimoji="1" lang="en-US" altLang="zh-TW" dirty="0">
                <a:latin typeface="Times New Roman" panose="02020603050405020304" pitchFamily="18" charset="0"/>
                <a:cs typeface="Times New Roman" panose="02020603050405020304" pitchFamily="18" charset="0"/>
              </a:rPr>
              <a:t>NBRAND</a:t>
            </a:r>
          </a:p>
          <a:p>
            <a:pPr lvl="1"/>
            <a:r>
              <a:rPr kumimoji="1" lang="en-US" altLang="zh-TW" dirty="0">
                <a:latin typeface="Times New Roman" panose="02020603050405020304" pitchFamily="18" charset="0"/>
                <a:cs typeface="Times New Roman" panose="02020603050405020304" pitchFamily="18" charset="0"/>
              </a:rPr>
              <a:t>NBSWAP</a:t>
            </a:r>
          </a:p>
          <a:p>
            <a:pPr lvl="1"/>
            <a:r>
              <a:rPr kumimoji="1" lang="en-US" altLang="zh-TW" dirty="0">
                <a:latin typeface="Times New Roman" panose="02020603050405020304" pitchFamily="18" charset="0"/>
                <a:cs typeface="Times New Roman" panose="02020603050405020304" pitchFamily="18" charset="0"/>
              </a:rPr>
              <a:t>SLIDE</a:t>
            </a:r>
          </a:p>
          <a:p>
            <a:pPr lvl="1"/>
            <a:r>
              <a:rPr kumimoji="1" lang="en-US" altLang="zh-TW" dirty="0">
                <a:latin typeface="Times New Roman" panose="02020603050405020304" pitchFamily="18" charset="0"/>
                <a:cs typeface="Times New Roman" panose="02020603050405020304" pitchFamily="18" charset="0"/>
              </a:rPr>
              <a:t>NET</a:t>
            </a:r>
          </a:p>
          <a:p>
            <a:r>
              <a:rPr kumimoji="1" lang="en-US" altLang="zh-TW" dirty="0">
                <a:latin typeface="Times New Roman" panose="02020603050405020304" pitchFamily="18" charset="0"/>
                <a:cs typeface="Times New Roman" panose="02020603050405020304" pitchFamily="18" charset="0"/>
              </a:rPr>
              <a:t>C language</a:t>
            </a:r>
          </a:p>
          <a:p>
            <a:r>
              <a:rPr kumimoji="1" lang="en-US" altLang="zh-TW" dirty="0">
                <a:latin typeface="Times New Roman" panose="02020603050405020304" pitchFamily="18" charset="0"/>
                <a:cs typeface="Times New Roman" panose="02020603050405020304" pitchFamily="18" charset="0"/>
              </a:rPr>
              <a:t>n = 10</a:t>
            </a:r>
            <a:r>
              <a:rPr kumimoji="1" lang="en-US" altLang="zh-TW" baseline="30000" dirty="0">
                <a:latin typeface="Times New Roman" panose="02020603050405020304" pitchFamily="18" charset="0"/>
                <a:cs typeface="Times New Roman" panose="02020603050405020304" pitchFamily="18" charset="0"/>
              </a:rPr>
              <a:t>3</a:t>
            </a:r>
            <a:r>
              <a:rPr kumimoji="1" lang="en-US" altLang="zh-TW" dirty="0">
                <a:latin typeface="Times New Roman" panose="02020603050405020304" pitchFamily="18" charset="0"/>
                <a:cs typeface="Times New Roman" panose="02020603050405020304" pitchFamily="18" charset="0"/>
              </a:rPr>
              <a:t>~10</a:t>
            </a:r>
            <a:r>
              <a:rPr kumimoji="1" lang="en-US" altLang="zh-TW" baseline="30000" dirty="0">
                <a:latin typeface="Times New Roman" panose="02020603050405020304" pitchFamily="18" charset="0"/>
                <a:cs typeface="Times New Roman" panose="02020603050405020304" pitchFamily="18" charset="0"/>
              </a:rPr>
              <a:t>6</a:t>
            </a:r>
          </a:p>
          <a:p>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15</a:t>
            </a:fld>
            <a:endParaRPr kumimoji="1" lang="zh-TW" altLang="en-US"/>
          </a:p>
        </p:txBody>
      </p:sp>
      <p:pic>
        <p:nvPicPr>
          <p:cNvPr id="4" name="圖片 3">
            <a:extLst>
              <a:ext uri="{FF2B5EF4-FFF2-40B4-BE49-F238E27FC236}">
                <a16:creationId xmlns:a16="http://schemas.microsoft.com/office/drawing/2014/main" id="{CE3E5868-CAF8-5E85-B247-0CEE355FF2DF}"/>
              </a:ext>
            </a:extLst>
          </p:cNvPr>
          <p:cNvPicPr>
            <a:picLocks noChangeAspect="1"/>
          </p:cNvPicPr>
          <p:nvPr/>
        </p:nvPicPr>
        <p:blipFill>
          <a:blip r:embed="rId2"/>
          <a:stretch>
            <a:fillRect/>
          </a:stretch>
        </p:blipFill>
        <p:spPr>
          <a:xfrm>
            <a:off x="3581398" y="3551940"/>
            <a:ext cx="6196319" cy="717395"/>
          </a:xfrm>
          <a:prstGeom prst="rect">
            <a:avLst/>
          </a:prstGeom>
        </p:spPr>
      </p:pic>
      <p:pic>
        <p:nvPicPr>
          <p:cNvPr id="5" name="圖片 4">
            <a:extLst>
              <a:ext uri="{FF2B5EF4-FFF2-40B4-BE49-F238E27FC236}">
                <a16:creationId xmlns:a16="http://schemas.microsoft.com/office/drawing/2014/main" id="{361B774D-7D62-F190-9A9A-A9AD0B84E8E1}"/>
              </a:ext>
            </a:extLst>
          </p:cNvPr>
          <p:cNvPicPr>
            <a:picLocks noChangeAspect="1"/>
          </p:cNvPicPr>
          <p:nvPr/>
        </p:nvPicPr>
        <p:blipFill>
          <a:blip r:embed="rId3"/>
          <a:stretch>
            <a:fillRect/>
          </a:stretch>
        </p:blipFill>
        <p:spPr>
          <a:xfrm>
            <a:off x="3581398" y="4683058"/>
            <a:ext cx="3987209" cy="717396"/>
          </a:xfrm>
          <a:prstGeom prst="rect">
            <a:avLst/>
          </a:prstGeom>
        </p:spPr>
      </p:pic>
      <p:pic>
        <p:nvPicPr>
          <p:cNvPr id="7" name="圖片 6">
            <a:extLst>
              <a:ext uri="{FF2B5EF4-FFF2-40B4-BE49-F238E27FC236}">
                <a16:creationId xmlns:a16="http://schemas.microsoft.com/office/drawing/2014/main" id="{A96D006B-856B-9D9E-C8A1-A713ABF5860A}"/>
              </a:ext>
            </a:extLst>
          </p:cNvPr>
          <p:cNvPicPr>
            <a:picLocks noChangeAspect="1"/>
          </p:cNvPicPr>
          <p:nvPr/>
        </p:nvPicPr>
        <p:blipFill>
          <a:blip r:embed="rId4"/>
          <a:stretch>
            <a:fillRect/>
          </a:stretch>
        </p:blipFill>
        <p:spPr>
          <a:xfrm>
            <a:off x="3581398" y="1841502"/>
            <a:ext cx="7772400" cy="1349879"/>
          </a:xfrm>
          <a:prstGeom prst="rect">
            <a:avLst/>
          </a:prstGeom>
        </p:spPr>
      </p:pic>
      <p:sp>
        <p:nvSpPr>
          <p:cNvPr id="10" name="文字方塊 9">
            <a:extLst>
              <a:ext uri="{FF2B5EF4-FFF2-40B4-BE49-F238E27FC236}">
                <a16:creationId xmlns:a16="http://schemas.microsoft.com/office/drawing/2014/main" id="{69CCE671-4001-7EB2-9902-FCEAC73E9490}"/>
              </a:ext>
            </a:extLst>
          </p:cNvPr>
          <p:cNvSpPr txBox="1"/>
          <p:nvPr/>
        </p:nvSpPr>
        <p:spPr>
          <a:xfrm>
            <a:off x="3581398" y="3272056"/>
            <a:ext cx="838691"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SLIDE</a:t>
            </a:r>
            <a:endParaRPr kumimoji="1" lang="zh-TW" altLang="en-US"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8602AE28-DECA-6A15-3719-DEF0B52972A4}"/>
              </a:ext>
            </a:extLst>
          </p:cNvPr>
          <p:cNvSpPr txBox="1"/>
          <p:nvPr/>
        </p:nvSpPr>
        <p:spPr>
          <a:xfrm>
            <a:off x="3581398" y="4403175"/>
            <a:ext cx="633507" cy="369332"/>
          </a:xfrm>
          <a:prstGeom prst="rect">
            <a:avLst/>
          </a:prstGeom>
          <a:noFill/>
        </p:spPr>
        <p:txBody>
          <a:bodyPr wrap="none" rtlCol="0">
            <a:spAutoFit/>
          </a:bodyPr>
          <a:lstStyle/>
          <a:p>
            <a:r>
              <a:rPr kumimoji="1" lang="en-US" altLang="zh-TW" dirty="0">
                <a:latin typeface="Times New Roman" panose="02020603050405020304" pitchFamily="18" charset="0"/>
                <a:cs typeface="Times New Roman" panose="02020603050405020304" pitchFamily="18" charset="0"/>
              </a:rPr>
              <a:t>NET</a:t>
            </a:r>
            <a:endParaRPr kumimoji="1"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0156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Results (2/3)</a:t>
            </a:r>
            <a:endParaRPr kumimoji="1" lang="zh-TW" altLang="en-US" dirty="0"/>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16</a:t>
            </a:fld>
            <a:endParaRPr kumimoji="1" lang="zh-TW" altLang="en-US"/>
          </a:p>
        </p:txBody>
      </p:sp>
      <p:pic>
        <p:nvPicPr>
          <p:cNvPr id="7" name="圖片 6">
            <a:extLst>
              <a:ext uri="{FF2B5EF4-FFF2-40B4-BE49-F238E27FC236}">
                <a16:creationId xmlns:a16="http://schemas.microsoft.com/office/drawing/2014/main" id="{61633033-ADB0-9AB0-E0DC-0BFA53FBB293}"/>
              </a:ext>
            </a:extLst>
          </p:cNvPr>
          <p:cNvPicPr>
            <a:picLocks noChangeAspect="1"/>
          </p:cNvPicPr>
          <p:nvPr/>
        </p:nvPicPr>
        <p:blipFill>
          <a:blip r:embed="rId2"/>
          <a:stretch>
            <a:fillRect/>
          </a:stretch>
        </p:blipFill>
        <p:spPr>
          <a:xfrm>
            <a:off x="838200" y="1853704"/>
            <a:ext cx="8922452" cy="2122873"/>
          </a:xfrm>
          <a:prstGeom prst="rect">
            <a:avLst/>
          </a:prstGeom>
        </p:spPr>
      </p:pic>
      <p:pic>
        <p:nvPicPr>
          <p:cNvPr id="8" name="圖片 7">
            <a:extLst>
              <a:ext uri="{FF2B5EF4-FFF2-40B4-BE49-F238E27FC236}">
                <a16:creationId xmlns:a16="http://schemas.microsoft.com/office/drawing/2014/main" id="{D147C95C-C6CD-C572-9CBC-A4B38C66F1EA}"/>
              </a:ext>
            </a:extLst>
          </p:cNvPr>
          <p:cNvPicPr>
            <a:picLocks noChangeAspect="1"/>
          </p:cNvPicPr>
          <p:nvPr/>
        </p:nvPicPr>
        <p:blipFill>
          <a:blip r:embed="rId3"/>
          <a:stretch>
            <a:fillRect/>
          </a:stretch>
        </p:blipFill>
        <p:spPr>
          <a:xfrm>
            <a:off x="838200" y="4288732"/>
            <a:ext cx="7772400" cy="1904602"/>
          </a:xfrm>
          <a:prstGeom prst="rect">
            <a:avLst/>
          </a:prstGeom>
        </p:spPr>
      </p:pic>
    </p:spTree>
    <p:extLst>
      <p:ext uri="{BB962C8B-B14F-4D97-AF65-F5344CB8AC3E}">
        <p14:creationId xmlns:p14="http://schemas.microsoft.com/office/powerpoint/2010/main" val="633178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a:xfrm>
            <a:off x="8610600" y="6384195"/>
            <a:ext cx="2743200" cy="365125"/>
          </a:xfrm>
        </p:spPr>
        <p:txBody>
          <a:bodyPr/>
          <a:lstStyle/>
          <a:p>
            <a:fld id="{45AB94F7-1CE9-3B41-8002-0A2CB67662D8}" type="slidenum">
              <a:rPr kumimoji="1" lang="zh-TW" altLang="en-US" smtClean="0"/>
              <a:t>17</a:t>
            </a:fld>
            <a:endParaRPr kumimoji="1" lang="zh-TW" altLang="en-US"/>
          </a:p>
        </p:txBody>
      </p:sp>
      <p:pic>
        <p:nvPicPr>
          <p:cNvPr id="4" name="圖片 3">
            <a:extLst>
              <a:ext uri="{FF2B5EF4-FFF2-40B4-BE49-F238E27FC236}">
                <a16:creationId xmlns:a16="http://schemas.microsoft.com/office/drawing/2014/main" id="{02108682-F771-AEDD-DDC2-5A0FA0FB3B5B}"/>
              </a:ext>
            </a:extLst>
          </p:cNvPr>
          <p:cNvPicPr>
            <a:picLocks noChangeAspect="1"/>
          </p:cNvPicPr>
          <p:nvPr/>
        </p:nvPicPr>
        <p:blipFill>
          <a:blip r:embed="rId2"/>
          <a:stretch>
            <a:fillRect/>
          </a:stretch>
        </p:blipFill>
        <p:spPr>
          <a:xfrm>
            <a:off x="471377" y="366437"/>
            <a:ext cx="3638829" cy="2880000"/>
          </a:xfrm>
          <a:prstGeom prst="rect">
            <a:avLst/>
          </a:prstGeom>
        </p:spPr>
      </p:pic>
      <p:pic>
        <p:nvPicPr>
          <p:cNvPr id="8" name="圖片 7">
            <a:extLst>
              <a:ext uri="{FF2B5EF4-FFF2-40B4-BE49-F238E27FC236}">
                <a16:creationId xmlns:a16="http://schemas.microsoft.com/office/drawing/2014/main" id="{97DED39A-8C58-4D9A-AF06-FFB90BFC36B0}"/>
              </a:ext>
            </a:extLst>
          </p:cNvPr>
          <p:cNvPicPr>
            <a:picLocks noChangeAspect="1"/>
          </p:cNvPicPr>
          <p:nvPr/>
        </p:nvPicPr>
        <p:blipFill>
          <a:blip r:embed="rId3"/>
          <a:stretch>
            <a:fillRect/>
          </a:stretch>
        </p:blipFill>
        <p:spPr>
          <a:xfrm>
            <a:off x="471377" y="3504195"/>
            <a:ext cx="3592306" cy="2880000"/>
          </a:xfrm>
          <a:prstGeom prst="rect">
            <a:avLst/>
          </a:prstGeom>
        </p:spPr>
      </p:pic>
      <p:pic>
        <p:nvPicPr>
          <p:cNvPr id="11" name="圖片 10">
            <a:extLst>
              <a:ext uri="{FF2B5EF4-FFF2-40B4-BE49-F238E27FC236}">
                <a16:creationId xmlns:a16="http://schemas.microsoft.com/office/drawing/2014/main" id="{B0F0CE21-3512-FF61-906D-6622B3B9ED86}"/>
              </a:ext>
            </a:extLst>
          </p:cNvPr>
          <p:cNvPicPr>
            <a:picLocks noChangeAspect="1"/>
          </p:cNvPicPr>
          <p:nvPr/>
        </p:nvPicPr>
        <p:blipFill>
          <a:blip r:embed="rId4"/>
          <a:stretch>
            <a:fillRect/>
          </a:stretch>
        </p:blipFill>
        <p:spPr>
          <a:xfrm>
            <a:off x="4311921" y="366437"/>
            <a:ext cx="3529624" cy="2880000"/>
          </a:xfrm>
          <a:prstGeom prst="rect">
            <a:avLst/>
          </a:prstGeom>
        </p:spPr>
      </p:pic>
      <p:pic>
        <p:nvPicPr>
          <p:cNvPr id="12" name="圖片 11">
            <a:extLst>
              <a:ext uri="{FF2B5EF4-FFF2-40B4-BE49-F238E27FC236}">
                <a16:creationId xmlns:a16="http://schemas.microsoft.com/office/drawing/2014/main" id="{FB15E128-10E6-983A-91F7-340295A9534C}"/>
              </a:ext>
            </a:extLst>
          </p:cNvPr>
          <p:cNvPicPr>
            <a:picLocks noChangeAspect="1"/>
          </p:cNvPicPr>
          <p:nvPr/>
        </p:nvPicPr>
        <p:blipFill>
          <a:blip r:embed="rId5"/>
          <a:stretch>
            <a:fillRect/>
          </a:stretch>
        </p:blipFill>
        <p:spPr>
          <a:xfrm>
            <a:off x="4284515" y="3504195"/>
            <a:ext cx="3537912" cy="2880000"/>
          </a:xfrm>
          <a:prstGeom prst="rect">
            <a:avLst/>
          </a:prstGeom>
        </p:spPr>
      </p:pic>
      <p:pic>
        <p:nvPicPr>
          <p:cNvPr id="13" name="圖片 12">
            <a:extLst>
              <a:ext uri="{FF2B5EF4-FFF2-40B4-BE49-F238E27FC236}">
                <a16:creationId xmlns:a16="http://schemas.microsoft.com/office/drawing/2014/main" id="{15D5BDD0-C4B6-E961-F283-DB98156F99D1}"/>
              </a:ext>
            </a:extLst>
          </p:cNvPr>
          <p:cNvPicPr>
            <a:picLocks noChangeAspect="1"/>
          </p:cNvPicPr>
          <p:nvPr/>
        </p:nvPicPr>
        <p:blipFill>
          <a:blip r:embed="rId6"/>
          <a:stretch>
            <a:fillRect/>
          </a:stretch>
        </p:blipFill>
        <p:spPr>
          <a:xfrm>
            <a:off x="8043259" y="366437"/>
            <a:ext cx="3654868" cy="2880000"/>
          </a:xfrm>
          <a:prstGeom prst="rect">
            <a:avLst/>
          </a:prstGeom>
        </p:spPr>
      </p:pic>
      <p:pic>
        <p:nvPicPr>
          <p:cNvPr id="14" name="圖片 13">
            <a:extLst>
              <a:ext uri="{FF2B5EF4-FFF2-40B4-BE49-F238E27FC236}">
                <a16:creationId xmlns:a16="http://schemas.microsoft.com/office/drawing/2014/main" id="{980D2320-D9E2-D9DE-AB9A-07D3A0763277}"/>
              </a:ext>
            </a:extLst>
          </p:cNvPr>
          <p:cNvPicPr>
            <a:picLocks noChangeAspect="1"/>
          </p:cNvPicPr>
          <p:nvPr/>
        </p:nvPicPr>
        <p:blipFill>
          <a:blip r:embed="rId7"/>
          <a:stretch>
            <a:fillRect/>
          </a:stretch>
        </p:blipFill>
        <p:spPr>
          <a:xfrm>
            <a:off x="8043259" y="3504195"/>
            <a:ext cx="3577778" cy="2880000"/>
          </a:xfrm>
          <a:prstGeom prst="rect">
            <a:avLst/>
          </a:prstGeom>
        </p:spPr>
      </p:pic>
    </p:spTree>
    <p:extLst>
      <p:ext uri="{BB962C8B-B14F-4D97-AF65-F5344CB8AC3E}">
        <p14:creationId xmlns:p14="http://schemas.microsoft.com/office/powerpoint/2010/main" val="4042886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hank you for listening"/>
          <p:cNvSpPr txBox="1">
            <a:spLocks noGrp="1"/>
          </p:cNvSpPr>
          <p:nvPr>
            <p:ph type="title"/>
          </p:nvPr>
        </p:nvSpPr>
        <p:spPr>
          <a:xfrm>
            <a:off x="844550" y="2857500"/>
            <a:ext cx="10502900" cy="1143000"/>
          </a:xfrm>
          <a:prstGeom prst="rect">
            <a:avLst/>
          </a:prstGeom>
        </p:spPr>
        <p:txBody>
          <a:bodyPr/>
          <a:lstStyle/>
          <a:p>
            <a:pPr algn="ctr"/>
            <a:r>
              <a:rPr dirty="0"/>
              <a:t>Thank you for listening</a:t>
            </a:r>
          </a:p>
        </p:txBody>
      </p:sp>
      <p:sp>
        <p:nvSpPr>
          <p:cNvPr id="305" name="幻燈片編號"/>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F9066D-A37A-874A-A6E1-9915FF09DB99}"/>
              </a:ext>
            </a:extLst>
          </p:cNvPr>
          <p:cNvSpPr>
            <a:spLocks noGrp="1"/>
          </p:cNvSpPr>
          <p:nvPr>
            <p:ph type="title"/>
          </p:nvPr>
        </p:nvSpPr>
        <p:spPr/>
        <p:txBody>
          <a:bodyPr/>
          <a:lstStyle/>
          <a:p>
            <a:r>
              <a:rPr kumimoji="1" lang="en-US" altLang="zh-TW" dirty="0"/>
              <a:t>Abstract</a:t>
            </a:r>
            <a:endParaRPr kumimoji="1" lang="zh-TW" altLang="en-US" dirty="0"/>
          </a:p>
        </p:txBody>
      </p:sp>
      <p:sp>
        <p:nvSpPr>
          <p:cNvPr id="3" name="內容版面配置區 2">
            <a:extLst>
              <a:ext uri="{FF2B5EF4-FFF2-40B4-BE49-F238E27FC236}">
                <a16:creationId xmlns:a16="http://schemas.microsoft.com/office/drawing/2014/main" id="{98C395C6-3EBC-4D47-9C22-52A1E36DD1C0}"/>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s</a:t>
            </a:r>
            <a:endParaRPr kumimoji="1" lang="zh-TW" altLang="en-US" dirty="0">
              <a:latin typeface="Times New Roman" panose="02020603050405020304" pitchFamily="18" charset="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2855F635-A04F-7549-AA66-83765189E244}"/>
              </a:ext>
            </a:extLst>
          </p:cNvPr>
          <p:cNvSpPr>
            <a:spLocks noGrp="1"/>
          </p:cNvSpPr>
          <p:nvPr>
            <p:ph type="sldNum" sz="quarter" idx="12"/>
          </p:nvPr>
        </p:nvSpPr>
        <p:spPr/>
        <p:txBody>
          <a:bodyPr/>
          <a:lstStyle/>
          <a:p>
            <a:fld id="{45AB94F7-1CE9-3B41-8002-0A2CB67662D8}" type="slidenum">
              <a:rPr kumimoji="1" lang="zh-TW" altLang="en-US" smtClean="0"/>
              <a:t>19</a:t>
            </a:fld>
            <a:endParaRPr kumimoji="1" lang="zh-TW" altLang="en-US"/>
          </a:p>
        </p:txBody>
      </p:sp>
    </p:spTree>
    <p:extLst>
      <p:ext uri="{BB962C8B-B14F-4D97-AF65-F5344CB8AC3E}">
        <p14:creationId xmlns:p14="http://schemas.microsoft.com/office/powerpoint/2010/main" val="36491516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4531</TotalTime>
  <Words>1333</Words>
  <Application>Microsoft Macintosh PowerPoint</Application>
  <PresentationFormat>寬螢幕</PresentationFormat>
  <Paragraphs>690</Paragraphs>
  <Slides>20</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20</vt:i4>
      </vt:variant>
    </vt:vector>
  </HeadingPairs>
  <TitlesOfParts>
    <vt:vector size="27" baseType="lpstr">
      <vt:lpstr>Arial</vt:lpstr>
      <vt:lpstr>Calibri</vt:lpstr>
      <vt:lpstr>Cambria Math</vt:lpstr>
      <vt:lpstr>Menlo</vt:lpstr>
      <vt:lpstr>Rockwell</vt:lpstr>
      <vt:lpstr>Times New Roman</vt:lpstr>
      <vt:lpstr>Office 佈景主題</vt:lpstr>
      <vt:lpstr>Fast Algorithms to Enumerate All Common Intervals of Two Permutations</vt:lpstr>
      <vt:lpstr>Abstract (1/2)</vt:lpstr>
      <vt:lpstr>Abstract (2/2)</vt:lpstr>
      <vt:lpstr>Outline</vt:lpstr>
      <vt:lpstr>Common Interval</vt:lpstr>
      <vt:lpstr>Basic (BSC) (1/2)</vt:lpstr>
      <vt:lpstr>Basic (BSC) (2/2)</vt:lpstr>
      <vt:lpstr>Length and Hole Point (LHP)</vt:lpstr>
      <vt:lpstr>Monge (MNG) (1/2)</vt:lpstr>
      <vt:lpstr>Monge (MNG) (2/2)</vt:lpstr>
      <vt:lpstr>Reduce Candidate (RC) (1/5)</vt:lpstr>
      <vt:lpstr>Reduce Candidate (RC) (2/5)</vt:lpstr>
      <vt:lpstr>Reduce Candidate (RC) (3/5)</vt:lpstr>
      <vt:lpstr>Reduce Candidate (RC) (4/5)</vt:lpstr>
      <vt:lpstr>Reduce Candidate (RC) (5/5)</vt:lpstr>
      <vt:lpstr>Results (1/3)</vt:lpstr>
      <vt:lpstr>Results (2/3)</vt:lpstr>
      <vt:lpstr>PowerPoint 簡報</vt:lpstr>
      <vt:lpstr>Thank you for listening</vt:lpstr>
      <vt:lpstr>Abstract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Improved Algorithm for The Longest Common Subsequence Problem</dc:title>
  <dc:creator>宗霖 呂</dc:creator>
  <cp:lastModifiedBy>宗霖 呂</cp:lastModifiedBy>
  <cp:revision>9</cp:revision>
  <dcterms:created xsi:type="dcterms:W3CDTF">2021-03-28T03:57:23Z</dcterms:created>
  <dcterms:modified xsi:type="dcterms:W3CDTF">2022-09-20T10:27:31Z</dcterms:modified>
</cp:coreProperties>
</file>