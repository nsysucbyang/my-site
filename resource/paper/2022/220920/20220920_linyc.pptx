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70"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016" autoAdjust="0"/>
  </p:normalViewPr>
  <p:slideViewPr>
    <p:cSldViewPr snapToGrid="0">
      <p:cViewPr varScale="1">
        <p:scale>
          <a:sx n="60" d="100"/>
          <a:sy n="60" d="100"/>
        </p:scale>
        <p:origin x="114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EC1139-125C-4B4C-BB25-20709579E863}" type="datetimeFigureOut">
              <a:rPr lang="zh-TW" altLang="en-US" smtClean="0"/>
              <a:t>2022/9/20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DBB70D-1D08-4618-928F-43EE7296B8AB}" type="slidenum">
              <a:rPr lang="zh-TW" altLang="en-US" smtClean="0"/>
              <a:t>‹#›</a:t>
            </a:fld>
            <a:endParaRPr lang="zh-TW" altLang="en-US"/>
          </a:p>
        </p:txBody>
      </p:sp>
    </p:spTree>
    <p:extLst>
      <p:ext uri="{BB962C8B-B14F-4D97-AF65-F5344CB8AC3E}">
        <p14:creationId xmlns:p14="http://schemas.microsoft.com/office/powerpoint/2010/main" val="460595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zh-tw.facebook.com/frhsu"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u="none" strike="noStrike" kern="1200" dirty="0">
                <a:solidFill>
                  <a:schemeClr val="tx1"/>
                </a:solidFill>
                <a:effectLst/>
                <a:latin typeface="+mn-lt"/>
                <a:ea typeface="+mn-ea"/>
                <a:cs typeface="+mn-cs"/>
                <a:hlinkClick r:id="rId3"/>
              </a:rPr>
              <a:t>許芳榮</a:t>
            </a:r>
          </a:p>
          <a:p>
            <a:r>
              <a:rPr lang="zh-TW" altLang="en-US" dirty="0"/>
              <a:t>李家同</a:t>
            </a:r>
          </a:p>
        </p:txBody>
      </p:sp>
      <p:sp>
        <p:nvSpPr>
          <p:cNvPr id="4" name="投影片編號版面配置區 3"/>
          <p:cNvSpPr>
            <a:spLocks noGrp="1"/>
          </p:cNvSpPr>
          <p:nvPr>
            <p:ph type="sldNum" sz="quarter" idx="5"/>
          </p:nvPr>
        </p:nvSpPr>
        <p:spPr/>
        <p:txBody>
          <a:bodyPr/>
          <a:lstStyle/>
          <a:p>
            <a:fld id="{A1DBB70D-1D08-4618-928F-43EE7296B8AB}" type="slidenum">
              <a:rPr lang="zh-TW" altLang="en-US" smtClean="0"/>
              <a:t>1</a:t>
            </a:fld>
            <a:endParaRPr lang="zh-TW" altLang="en-US"/>
          </a:p>
        </p:txBody>
      </p:sp>
    </p:spTree>
    <p:extLst>
      <p:ext uri="{BB962C8B-B14F-4D97-AF65-F5344CB8AC3E}">
        <p14:creationId xmlns:p14="http://schemas.microsoft.com/office/powerpoint/2010/main" val="652909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Fu </a:t>
            </a:r>
            <a:r>
              <a:rPr lang="en-US" altLang="zh-TW" dirty="0" err="1"/>
              <a:t>gi</a:t>
            </a:r>
            <a:r>
              <a:rPr lang="en-US" altLang="zh-TW" dirty="0"/>
              <a:t> </a:t>
            </a:r>
            <a:r>
              <a:rPr lang="en-US" altLang="zh-TW" dirty="0" err="1"/>
              <a:t>tive</a:t>
            </a:r>
            <a:endParaRPr lang="zh-TW" altLang="en-US" dirty="0"/>
          </a:p>
        </p:txBody>
      </p:sp>
      <p:sp>
        <p:nvSpPr>
          <p:cNvPr id="4" name="投影片編號版面配置區 3"/>
          <p:cNvSpPr>
            <a:spLocks noGrp="1"/>
          </p:cNvSpPr>
          <p:nvPr>
            <p:ph type="sldNum" sz="quarter" idx="5"/>
          </p:nvPr>
        </p:nvSpPr>
        <p:spPr/>
        <p:txBody>
          <a:bodyPr/>
          <a:lstStyle/>
          <a:p>
            <a:fld id="{A1DBB70D-1D08-4618-928F-43EE7296B8AB}"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每條邊剛好經過一次的路線，起點和終點相同。可能有許多種，也可能不存在。</a:t>
            </a:r>
            <a:endParaRPr lang="zh-TW" altLang="en-US" dirty="0"/>
          </a:p>
        </p:txBody>
      </p:sp>
      <p:sp>
        <p:nvSpPr>
          <p:cNvPr id="4" name="投影片編號版面配置區 3"/>
          <p:cNvSpPr>
            <a:spLocks noGrp="1"/>
          </p:cNvSpPr>
          <p:nvPr>
            <p:ph type="sldNum" sz="quarter" idx="5"/>
          </p:nvPr>
        </p:nvSpPr>
        <p:spPr/>
        <p:txBody>
          <a:bodyPr/>
          <a:lstStyle/>
          <a:p>
            <a:fld id="{A1DBB70D-1D08-4618-928F-43EE7296B8AB}" type="slidenum">
              <a:rPr lang="zh-TW" altLang="en-US" smtClean="0"/>
              <a:t>12</a:t>
            </a:fld>
            <a:endParaRPr lang="zh-TW" altLang="en-US"/>
          </a:p>
        </p:txBody>
      </p:sp>
    </p:spTree>
    <p:extLst>
      <p:ext uri="{BB962C8B-B14F-4D97-AF65-F5344CB8AC3E}">
        <p14:creationId xmlns:p14="http://schemas.microsoft.com/office/powerpoint/2010/main" val="205660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1" i="0" kern="1200" dirty="0">
                <a:solidFill>
                  <a:schemeClr val="tx1"/>
                </a:solidFill>
                <a:effectLst/>
                <a:latin typeface="+mn-lt"/>
                <a:ea typeface="+mn-ea"/>
                <a:cs typeface="+mn-cs"/>
              </a:rPr>
              <a:t>該方法利用動態規劃，在線性時間中系統性的解決順序演算法問題</a:t>
            </a:r>
            <a:endParaRPr lang="zh-TW" altLang="en-US" dirty="0"/>
          </a:p>
        </p:txBody>
      </p:sp>
      <p:sp>
        <p:nvSpPr>
          <p:cNvPr id="4" name="投影片編號版面配置區 3"/>
          <p:cNvSpPr>
            <a:spLocks noGrp="1"/>
          </p:cNvSpPr>
          <p:nvPr>
            <p:ph type="sldNum" sz="quarter" idx="5"/>
          </p:nvPr>
        </p:nvSpPr>
        <p:spPr/>
        <p:txBody>
          <a:bodyPr/>
          <a:lstStyle/>
          <a:p>
            <a:fld id="{A1DBB70D-1D08-4618-928F-43EE7296B8AB}" type="slidenum">
              <a:rPr lang="zh-TW" altLang="en-US" smtClean="0"/>
              <a:t>14</a:t>
            </a:fld>
            <a:endParaRPr lang="zh-TW" altLang="en-US"/>
          </a:p>
        </p:txBody>
      </p:sp>
    </p:spTree>
    <p:extLst>
      <p:ext uri="{BB962C8B-B14F-4D97-AF65-F5344CB8AC3E}">
        <p14:creationId xmlns:p14="http://schemas.microsoft.com/office/powerpoint/2010/main" val="1531370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A71B64-96A6-4972-BF7E-B2A05EE4A9C8}"/>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402965F-411C-4B37-AAD1-B056E8D6D8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8AE42F7-8196-489A-B70E-D01C16A33729}"/>
              </a:ext>
            </a:extLst>
          </p:cNvPr>
          <p:cNvSpPr>
            <a:spLocks noGrp="1"/>
          </p:cNvSpPr>
          <p:nvPr>
            <p:ph type="dt" sz="half" idx="10"/>
          </p:nvPr>
        </p:nvSpPr>
        <p:spPr/>
        <p:txBody>
          <a:bodyPr/>
          <a:lstStyle/>
          <a:p>
            <a:fld id="{1631E996-5A17-43D5-8D06-B8567CD1B984}" type="datetime1">
              <a:rPr lang="zh-TW" altLang="en-US" smtClean="0"/>
              <a:t>2022/9/20</a:t>
            </a:fld>
            <a:endParaRPr lang="zh-TW" altLang="en-US"/>
          </a:p>
        </p:txBody>
      </p:sp>
      <p:sp>
        <p:nvSpPr>
          <p:cNvPr id="5" name="頁尾版面配置區 4">
            <a:extLst>
              <a:ext uri="{FF2B5EF4-FFF2-40B4-BE49-F238E27FC236}">
                <a16:creationId xmlns:a16="http://schemas.microsoft.com/office/drawing/2014/main" id="{E883267D-9CC3-4231-B18C-AF9FEA4ED92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FDF5358-24A2-43C0-9F45-25BCA7A6546A}"/>
              </a:ext>
            </a:extLst>
          </p:cNvPr>
          <p:cNvSpPr>
            <a:spLocks noGrp="1"/>
          </p:cNvSpPr>
          <p:nvPr>
            <p:ph type="sldNum" sz="quarter" idx="12"/>
          </p:nvPr>
        </p:nvSpPr>
        <p:spPr/>
        <p:txBody>
          <a:bodyPr/>
          <a:lstStyle/>
          <a:p>
            <a:fld id="{9DF9D401-8BA7-4D7F-85FE-8907E913F1E1}" type="slidenum">
              <a:rPr lang="zh-TW" altLang="en-US" smtClean="0"/>
              <a:t>‹#›</a:t>
            </a:fld>
            <a:endParaRPr lang="zh-TW" altLang="en-US"/>
          </a:p>
        </p:txBody>
      </p:sp>
    </p:spTree>
    <p:extLst>
      <p:ext uri="{BB962C8B-B14F-4D97-AF65-F5344CB8AC3E}">
        <p14:creationId xmlns:p14="http://schemas.microsoft.com/office/powerpoint/2010/main" val="1623196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DDE078-0CD7-4FEC-9DA1-4BF8FF5CF72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FD4184E-3B6C-4530-BB30-A2747C2AC001}"/>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6BD8AE4-044B-4FBA-9440-AD38B9B401FF}"/>
              </a:ext>
            </a:extLst>
          </p:cNvPr>
          <p:cNvSpPr>
            <a:spLocks noGrp="1"/>
          </p:cNvSpPr>
          <p:nvPr>
            <p:ph type="dt" sz="half" idx="10"/>
          </p:nvPr>
        </p:nvSpPr>
        <p:spPr/>
        <p:txBody>
          <a:bodyPr/>
          <a:lstStyle/>
          <a:p>
            <a:fld id="{418FBA5C-9E46-40C6-A336-1F796B6BB726}" type="datetime1">
              <a:rPr lang="zh-TW" altLang="en-US" smtClean="0"/>
              <a:t>2022/9/20</a:t>
            </a:fld>
            <a:endParaRPr lang="zh-TW" altLang="en-US"/>
          </a:p>
        </p:txBody>
      </p:sp>
      <p:sp>
        <p:nvSpPr>
          <p:cNvPr id="5" name="頁尾版面配置區 4">
            <a:extLst>
              <a:ext uri="{FF2B5EF4-FFF2-40B4-BE49-F238E27FC236}">
                <a16:creationId xmlns:a16="http://schemas.microsoft.com/office/drawing/2014/main" id="{82EDF997-69DD-4B5B-A2F1-3DCFAD9E087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73A19C8-C2CE-4058-A535-940290C2ADE4}"/>
              </a:ext>
            </a:extLst>
          </p:cNvPr>
          <p:cNvSpPr>
            <a:spLocks noGrp="1"/>
          </p:cNvSpPr>
          <p:nvPr>
            <p:ph type="sldNum" sz="quarter" idx="12"/>
          </p:nvPr>
        </p:nvSpPr>
        <p:spPr/>
        <p:txBody>
          <a:bodyPr/>
          <a:lstStyle/>
          <a:p>
            <a:fld id="{9DF9D401-8BA7-4D7F-85FE-8907E913F1E1}" type="slidenum">
              <a:rPr lang="zh-TW" altLang="en-US" smtClean="0"/>
              <a:t>‹#›</a:t>
            </a:fld>
            <a:endParaRPr lang="zh-TW" altLang="en-US"/>
          </a:p>
        </p:txBody>
      </p:sp>
    </p:spTree>
    <p:extLst>
      <p:ext uri="{BB962C8B-B14F-4D97-AF65-F5344CB8AC3E}">
        <p14:creationId xmlns:p14="http://schemas.microsoft.com/office/powerpoint/2010/main" val="2603335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46905B-FC9C-424E-9945-4A49C6A5EB1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8B7D7EA-D5F1-4D1D-BEBF-10E0872CAE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65AD9A6D-4EFF-4429-A291-1FC4AA863BF4}"/>
              </a:ext>
            </a:extLst>
          </p:cNvPr>
          <p:cNvSpPr>
            <a:spLocks noGrp="1"/>
          </p:cNvSpPr>
          <p:nvPr>
            <p:ph type="dt" sz="half" idx="10"/>
          </p:nvPr>
        </p:nvSpPr>
        <p:spPr/>
        <p:txBody>
          <a:bodyPr/>
          <a:lstStyle/>
          <a:p>
            <a:fld id="{402CFFB4-8FA6-4E53-B9D1-B114D16A92DD}" type="datetime1">
              <a:rPr lang="zh-TW" altLang="en-US" smtClean="0"/>
              <a:t>2022/9/20</a:t>
            </a:fld>
            <a:endParaRPr lang="zh-TW" altLang="en-US"/>
          </a:p>
        </p:txBody>
      </p:sp>
      <p:sp>
        <p:nvSpPr>
          <p:cNvPr id="5" name="頁尾版面配置區 4">
            <a:extLst>
              <a:ext uri="{FF2B5EF4-FFF2-40B4-BE49-F238E27FC236}">
                <a16:creationId xmlns:a16="http://schemas.microsoft.com/office/drawing/2014/main" id="{6E8754E9-85B9-4A34-A866-448541AFD05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FF4DC18-D0CD-482A-819D-A441065C6BDC}"/>
              </a:ext>
            </a:extLst>
          </p:cNvPr>
          <p:cNvSpPr>
            <a:spLocks noGrp="1"/>
          </p:cNvSpPr>
          <p:nvPr>
            <p:ph type="sldNum" sz="quarter" idx="12"/>
          </p:nvPr>
        </p:nvSpPr>
        <p:spPr/>
        <p:txBody>
          <a:bodyPr/>
          <a:lstStyle/>
          <a:p>
            <a:fld id="{9DF9D401-8BA7-4D7F-85FE-8907E913F1E1}" type="slidenum">
              <a:rPr lang="zh-TW" altLang="en-US" smtClean="0"/>
              <a:t>‹#›</a:t>
            </a:fld>
            <a:endParaRPr lang="zh-TW" altLang="en-US"/>
          </a:p>
        </p:txBody>
      </p:sp>
    </p:spTree>
    <p:extLst>
      <p:ext uri="{BB962C8B-B14F-4D97-AF65-F5344CB8AC3E}">
        <p14:creationId xmlns:p14="http://schemas.microsoft.com/office/powerpoint/2010/main" val="2362567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657C51-29E7-49B3-B804-8D0DF1E4BD4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FC866F0-484B-4785-988B-546819CBFB01}"/>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A639CA50-31F9-46A7-ABFA-1076D4A0366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BC9C40DB-173F-4305-8C94-209C85843CE1}"/>
              </a:ext>
            </a:extLst>
          </p:cNvPr>
          <p:cNvSpPr>
            <a:spLocks noGrp="1"/>
          </p:cNvSpPr>
          <p:nvPr>
            <p:ph type="dt" sz="half" idx="10"/>
          </p:nvPr>
        </p:nvSpPr>
        <p:spPr/>
        <p:txBody>
          <a:bodyPr/>
          <a:lstStyle/>
          <a:p>
            <a:fld id="{B6836CA2-F091-4817-9A90-F1A6E3BA95D0}" type="datetime1">
              <a:rPr lang="zh-TW" altLang="en-US" smtClean="0"/>
              <a:t>2022/9/20</a:t>
            </a:fld>
            <a:endParaRPr lang="zh-TW" altLang="en-US"/>
          </a:p>
        </p:txBody>
      </p:sp>
      <p:sp>
        <p:nvSpPr>
          <p:cNvPr id="6" name="頁尾版面配置區 5">
            <a:extLst>
              <a:ext uri="{FF2B5EF4-FFF2-40B4-BE49-F238E27FC236}">
                <a16:creationId xmlns:a16="http://schemas.microsoft.com/office/drawing/2014/main" id="{6D24B79F-5593-4D46-BAD2-9FC6C30D762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A30474C-9342-48B0-8E0C-78E0E62631D9}"/>
              </a:ext>
            </a:extLst>
          </p:cNvPr>
          <p:cNvSpPr>
            <a:spLocks noGrp="1"/>
          </p:cNvSpPr>
          <p:nvPr>
            <p:ph type="sldNum" sz="quarter" idx="12"/>
          </p:nvPr>
        </p:nvSpPr>
        <p:spPr/>
        <p:txBody>
          <a:bodyPr/>
          <a:lstStyle/>
          <a:p>
            <a:fld id="{9DF9D401-8BA7-4D7F-85FE-8907E913F1E1}" type="slidenum">
              <a:rPr lang="zh-TW" altLang="en-US" smtClean="0"/>
              <a:t>‹#›</a:t>
            </a:fld>
            <a:endParaRPr lang="zh-TW" altLang="en-US"/>
          </a:p>
        </p:txBody>
      </p:sp>
    </p:spTree>
    <p:extLst>
      <p:ext uri="{BB962C8B-B14F-4D97-AF65-F5344CB8AC3E}">
        <p14:creationId xmlns:p14="http://schemas.microsoft.com/office/powerpoint/2010/main" val="2570639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DFCCD9-48CD-4BD3-A00F-D7F3D6585BA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13BA380-8A58-4C56-A407-57BBEE7768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3BD1041A-53AA-498E-92CD-425F109FB1D0}"/>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233E4C5-819E-4A2F-9A91-C0048EED82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E9CC8305-98C3-46CB-8AAF-E94684C9CEC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3845DA1-4561-4B35-B313-6E4CD0C44F7B}"/>
              </a:ext>
            </a:extLst>
          </p:cNvPr>
          <p:cNvSpPr>
            <a:spLocks noGrp="1"/>
          </p:cNvSpPr>
          <p:nvPr>
            <p:ph type="dt" sz="half" idx="10"/>
          </p:nvPr>
        </p:nvSpPr>
        <p:spPr/>
        <p:txBody>
          <a:bodyPr/>
          <a:lstStyle/>
          <a:p>
            <a:fld id="{FA100129-825D-479C-9157-2758802722C8}" type="datetime1">
              <a:rPr lang="zh-TW" altLang="en-US" smtClean="0"/>
              <a:t>2022/9/20</a:t>
            </a:fld>
            <a:endParaRPr lang="zh-TW" altLang="en-US"/>
          </a:p>
        </p:txBody>
      </p:sp>
      <p:sp>
        <p:nvSpPr>
          <p:cNvPr id="8" name="頁尾版面配置區 7">
            <a:extLst>
              <a:ext uri="{FF2B5EF4-FFF2-40B4-BE49-F238E27FC236}">
                <a16:creationId xmlns:a16="http://schemas.microsoft.com/office/drawing/2014/main" id="{C1D6C01C-2428-4D19-AAC9-3AD5A5C5A74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0DC6543-94F5-4D69-9EF7-762B5527E79F}"/>
              </a:ext>
            </a:extLst>
          </p:cNvPr>
          <p:cNvSpPr>
            <a:spLocks noGrp="1"/>
          </p:cNvSpPr>
          <p:nvPr>
            <p:ph type="sldNum" sz="quarter" idx="12"/>
          </p:nvPr>
        </p:nvSpPr>
        <p:spPr/>
        <p:txBody>
          <a:bodyPr/>
          <a:lstStyle/>
          <a:p>
            <a:fld id="{9DF9D401-8BA7-4D7F-85FE-8907E913F1E1}" type="slidenum">
              <a:rPr lang="zh-TW" altLang="en-US" smtClean="0"/>
              <a:t>‹#›</a:t>
            </a:fld>
            <a:endParaRPr lang="zh-TW" altLang="en-US"/>
          </a:p>
        </p:txBody>
      </p:sp>
    </p:spTree>
    <p:extLst>
      <p:ext uri="{BB962C8B-B14F-4D97-AF65-F5344CB8AC3E}">
        <p14:creationId xmlns:p14="http://schemas.microsoft.com/office/powerpoint/2010/main" val="3944002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A4397A-4841-4535-85BF-87D124BFE0A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220B1A92-82BD-48AC-95D2-71DF11F924C2}"/>
              </a:ext>
            </a:extLst>
          </p:cNvPr>
          <p:cNvSpPr>
            <a:spLocks noGrp="1"/>
          </p:cNvSpPr>
          <p:nvPr>
            <p:ph type="dt" sz="half" idx="10"/>
          </p:nvPr>
        </p:nvSpPr>
        <p:spPr/>
        <p:txBody>
          <a:bodyPr/>
          <a:lstStyle/>
          <a:p>
            <a:fld id="{CB530C97-094C-4CDD-8444-D33AF85EBB6E}" type="datetime1">
              <a:rPr lang="zh-TW" altLang="en-US" smtClean="0"/>
              <a:t>2022/9/20</a:t>
            </a:fld>
            <a:endParaRPr lang="zh-TW" altLang="en-US"/>
          </a:p>
        </p:txBody>
      </p:sp>
      <p:sp>
        <p:nvSpPr>
          <p:cNvPr id="4" name="頁尾版面配置區 3">
            <a:extLst>
              <a:ext uri="{FF2B5EF4-FFF2-40B4-BE49-F238E27FC236}">
                <a16:creationId xmlns:a16="http://schemas.microsoft.com/office/drawing/2014/main" id="{176938BF-B21B-43ED-A4C7-813B63A710D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ACC5C1E2-E401-44D2-B52F-FDA41BA23116}"/>
              </a:ext>
            </a:extLst>
          </p:cNvPr>
          <p:cNvSpPr>
            <a:spLocks noGrp="1"/>
          </p:cNvSpPr>
          <p:nvPr>
            <p:ph type="sldNum" sz="quarter" idx="12"/>
          </p:nvPr>
        </p:nvSpPr>
        <p:spPr/>
        <p:txBody>
          <a:bodyPr/>
          <a:lstStyle/>
          <a:p>
            <a:fld id="{9DF9D401-8BA7-4D7F-85FE-8907E913F1E1}" type="slidenum">
              <a:rPr lang="zh-TW" altLang="en-US" smtClean="0"/>
              <a:t>‹#›</a:t>
            </a:fld>
            <a:endParaRPr lang="zh-TW" altLang="en-US"/>
          </a:p>
        </p:txBody>
      </p:sp>
    </p:spTree>
    <p:extLst>
      <p:ext uri="{BB962C8B-B14F-4D97-AF65-F5344CB8AC3E}">
        <p14:creationId xmlns:p14="http://schemas.microsoft.com/office/powerpoint/2010/main" val="3031791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013377D-19CA-4155-91B8-992A022419AE}"/>
              </a:ext>
            </a:extLst>
          </p:cNvPr>
          <p:cNvSpPr>
            <a:spLocks noGrp="1"/>
          </p:cNvSpPr>
          <p:nvPr>
            <p:ph type="dt" sz="half" idx="10"/>
          </p:nvPr>
        </p:nvSpPr>
        <p:spPr/>
        <p:txBody>
          <a:bodyPr/>
          <a:lstStyle/>
          <a:p>
            <a:fld id="{4906B243-53AB-4FE6-A581-BD5F83B83553}" type="datetime1">
              <a:rPr lang="zh-TW" altLang="en-US" smtClean="0"/>
              <a:t>2022/9/20</a:t>
            </a:fld>
            <a:endParaRPr lang="zh-TW" altLang="en-US"/>
          </a:p>
        </p:txBody>
      </p:sp>
      <p:sp>
        <p:nvSpPr>
          <p:cNvPr id="3" name="頁尾版面配置區 2">
            <a:extLst>
              <a:ext uri="{FF2B5EF4-FFF2-40B4-BE49-F238E27FC236}">
                <a16:creationId xmlns:a16="http://schemas.microsoft.com/office/drawing/2014/main" id="{F8399F2A-7021-4899-B2D6-B60B11649974}"/>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709F1594-DEDA-4F05-913A-00A526DDB2B8}"/>
              </a:ext>
            </a:extLst>
          </p:cNvPr>
          <p:cNvSpPr>
            <a:spLocks noGrp="1"/>
          </p:cNvSpPr>
          <p:nvPr>
            <p:ph type="sldNum" sz="quarter" idx="12"/>
          </p:nvPr>
        </p:nvSpPr>
        <p:spPr/>
        <p:txBody>
          <a:bodyPr/>
          <a:lstStyle/>
          <a:p>
            <a:fld id="{9DF9D401-8BA7-4D7F-85FE-8907E913F1E1}" type="slidenum">
              <a:rPr lang="zh-TW" altLang="en-US" smtClean="0"/>
              <a:t>‹#›</a:t>
            </a:fld>
            <a:endParaRPr lang="zh-TW" altLang="en-US"/>
          </a:p>
        </p:txBody>
      </p:sp>
    </p:spTree>
    <p:extLst>
      <p:ext uri="{BB962C8B-B14F-4D97-AF65-F5344CB8AC3E}">
        <p14:creationId xmlns:p14="http://schemas.microsoft.com/office/powerpoint/2010/main" val="3770552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C48A85-B143-46A2-A345-EC777C337EC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F5504B6A-2C01-46A7-AFC5-2ACD5FEEDD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B7A02E94-9654-48DE-9CAD-4EB31F3208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7978E0EE-B6C5-4B35-B1FC-C35F7D58B1A5}"/>
              </a:ext>
            </a:extLst>
          </p:cNvPr>
          <p:cNvSpPr>
            <a:spLocks noGrp="1"/>
          </p:cNvSpPr>
          <p:nvPr>
            <p:ph type="dt" sz="half" idx="10"/>
          </p:nvPr>
        </p:nvSpPr>
        <p:spPr/>
        <p:txBody>
          <a:bodyPr/>
          <a:lstStyle/>
          <a:p>
            <a:fld id="{A82A0610-EB8E-4CD7-9D95-203A9D139B29}" type="datetime1">
              <a:rPr lang="zh-TW" altLang="en-US" smtClean="0"/>
              <a:t>2022/9/20</a:t>
            </a:fld>
            <a:endParaRPr lang="zh-TW" altLang="en-US"/>
          </a:p>
        </p:txBody>
      </p:sp>
      <p:sp>
        <p:nvSpPr>
          <p:cNvPr id="6" name="頁尾版面配置區 5">
            <a:extLst>
              <a:ext uri="{FF2B5EF4-FFF2-40B4-BE49-F238E27FC236}">
                <a16:creationId xmlns:a16="http://schemas.microsoft.com/office/drawing/2014/main" id="{2BCF5F82-2640-4190-B472-CA231EF4637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5D52AB7-411F-4F54-A8FA-8102A3436944}"/>
              </a:ext>
            </a:extLst>
          </p:cNvPr>
          <p:cNvSpPr>
            <a:spLocks noGrp="1"/>
          </p:cNvSpPr>
          <p:nvPr>
            <p:ph type="sldNum" sz="quarter" idx="12"/>
          </p:nvPr>
        </p:nvSpPr>
        <p:spPr/>
        <p:txBody>
          <a:bodyPr/>
          <a:lstStyle/>
          <a:p>
            <a:fld id="{9DF9D401-8BA7-4D7F-85FE-8907E913F1E1}" type="slidenum">
              <a:rPr lang="zh-TW" altLang="en-US" smtClean="0"/>
              <a:t>‹#›</a:t>
            </a:fld>
            <a:endParaRPr lang="zh-TW" altLang="en-US"/>
          </a:p>
        </p:txBody>
      </p:sp>
    </p:spTree>
    <p:extLst>
      <p:ext uri="{BB962C8B-B14F-4D97-AF65-F5344CB8AC3E}">
        <p14:creationId xmlns:p14="http://schemas.microsoft.com/office/powerpoint/2010/main" val="3757665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52E7E6-7E0F-4CE5-90D6-CC9F6E97409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AA1D7EE-84BD-4F67-8DD1-DB0A1DEDFA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5B9BCEDB-9487-4AEA-B5DF-8A8FBC1CE0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E9680184-5A8C-4B2D-BB62-9C362C60407F}"/>
              </a:ext>
            </a:extLst>
          </p:cNvPr>
          <p:cNvSpPr>
            <a:spLocks noGrp="1"/>
          </p:cNvSpPr>
          <p:nvPr>
            <p:ph type="dt" sz="half" idx="10"/>
          </p:nvPr>
        </p:nvSpPr>
        <p:spPr/>
        <p:txBody>
          <a:bodyPr/>
          <a:lstStyle/>
          <a:p>
            <a:fld id="{5BEC2930-A917-46B4-9FD0-C12AB8FE23E2}" type="datetime1">
              <a:rPr lang="zh-TW" altLang="en-US" smtClean="0"/>
              <a:t>2022/9/20</a:t>
            </a:fld>
            <a:endParaRPr lang="zh-TW" altLang="en-US"/>
          </a:p>
        </p:txBody>
      </p:sp>
      <p:sp>
        <p:nvSpPr>
          <p:cNvPr id="6" name="頁尾版面配置區 5">
            <a:extLst>
              <a:ext uri="{FF2B5EF4-FFF2-40B4-BE49-F238E27FC236}">
                <a16:creationId xmlns:a16="http://schemas.microsoft.com/office/drawing/2014/main" id="{F80F25EF-6699-46BA-84A6-61DA67666B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9F4B23D-A818-42FA-B78F-1F957AA37F36}"/>
              </a:ext>
            </a:extLst>
          </p:cNvPr>
          <p:cNvSpPr>
            <a:spLocks noGrp="1"/>
          </p:cNvSpPr>
          <p:nvPr>
            <p:ph type="sldNum" sz="quarter" idx="12"/>
          </p:nvPr>
        </p:nvSpPr>
        <p:spPr/>
        <p:txBody>
          <a:bodyPr/>
          <a:lstStyle/>
          <a:p>
            <a:fld id="{9DF9D401-8BA7-4D7F-85FE-8907E913F1E1}" type="slidenum">
              <a:rPr lang="zh-TW" altLang="en-US" smtClean="0"/>
              <a:t>‹#›</a:t>
            </a:fld>
            <a:endParaRPr lang="zh-TW" altLang="en-US"/>
          </a:p>
        </p:txBody>
      </p:sp>
    </p:spTree>
    <p:extLst>
      <p:ext uri="{BB962C8B-B14F-4D97-AF65-F5344CB8AC3E}">
        <p14:creationId xmlns:p14="http://schemas.microsoft.com/office/powerpoint/2010/main" val="4014057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E8307B-158D-47D3-AD60-178D29838D5E}"/>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FCCBBBB-0740-414A-9B37-F4FDCF6770C4}"/>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77BD416-9B28-498D-BD8F-0C3BF6E0B474}"/>
              </a:ext>
            </a:extLst>
          </p:cNvPr>
          <p:cNvSpPr>
            <a:spLocks noGrp="1"/>
          </p:cNvSpPr>
          <p:nvPr>
            <p:ph type="dt" sz="half" idx="10"/>
          </p:nvPr>
        </p:nvSpPr>
        <p:spPr/>
        <p:txBody>
          <a:bodyPr/>
          <a:lstStyle/>
          <a:p>
            <a:fld id="{5B176257-E092-4D77-BF91-FF6976C705D4}" type="datetime1">
              <a:rPr lang="zh-TW" altLang="en-US" smtClean="0"/>
              <a:t>2022/9/20</a:t>
            </a:fld>
            <a:endParaRPr lang="zh-TW" altLang="en-US"/>
          </a:p>
        </p:txBody>
      </p:sp>
      <p:sp>
        <p:nvSpPr>
          <p:cNvPr id="5" name="頁尾版面配置區 4">
            <a:extLst>
              <a:ext uri="{FF2B5EF4-FFF2-40B4-BE49-F238E27FC236}">
                <a16:creationId xmlns:a16="http://schemas.microsoft.com/office/drawing/2014/main" id="{E3AE4860-2900-4DB7-83E8-1A31BBC9933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2D61411-2579-49C1-999A-479A539C4FFD}"/>
              </a:ext>
            </a:extLst>
          </p:cNvPr>
          <p:cNvSpPr>
            <a:spLocks noGrp="1"/>
          </p:cNvSpPr>
          <p:nvPr>
            <p:ph type="sldNum" sz="quarter" idx="12"/>
          </p:nvPr>
        </p:nvSpPr>
        <p:spPr/>
        <p:txBody>
          <a:bodyPr/>
          <a:lstStyle/>
          <a:p>
            <a:fld id="{9DF9D401-8BA7-4D7F-85FE-8907E913F1E1}" type="slidenum">
              <a:rPr lang="zh-TW" altLang="en-US" smtClean="0"/>
              <a:t>‹#›</a:t>
            </a:fld>
            <a:endParaRPr lang="zh-TW" altLang="en-US"/>
          </a:p>
        </p:txBody>
      </p:sp>
    </p:spTree>
    <p:extLst>
      <p:ext uri="{BB962C8B-B14F-4D97-AF65-F5344CB8AC3E}">
        <p14:creationId xmlns:p14="http://schemas.microsoft.com/office/powerpoint/2010/main" val="1294793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CB69486-AB79-4594-ADC3-3BA2A6FE720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DD5ADADC-9C12-4BF1-8F00-E6265349DFD1}"/>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5253226-BD07-4776-87E9-BF3E442BC84B}"/>
              </a:ext>
            </a:extLst>
          </p:cNvPr>
          <p:cNvSpPr>
            <a:spLocks noGrp="1"/>
          </p:cNvSpPr>
          <p:nvPr>
            <p:ph type="dt" sz="half" idx="10"/>
          </p:nvPr>
        </p:nvSpPr>
        <p:spPr/>
        <p:txBody>
          <a:bodyPr/>
          <a:lstStyle/>
          <a:p>
            <a:fld id="{DB6EA255-3859-4526-9F76-5E42D3EA82A5}" type="datetime1">
              <a:rPr lang="zh-TW" altLang="en-US" smtClean="0"/>
              <a:t>2022/9/20</a:t>
            </a:fld>
            <a:endParaRPr lang="zh-TW" altLang="en-US"/>
          </a:p>
        </p:txBody>
      </p:sp>
      <p:sp>
        <p:nvSpPr>
          <p:cNvPr id="5" name="頁尾版面配置區 4">
            <a:extLst>
              <a:ext uri="{FF2B5EF4-FFF2-40B4-BE49-F238E27FC236}">
                <a16:creationId xmlns:a16="http://schemas.microsoft.com/office/drawing/2014/main" id="{2D6C1A62-0DC4-42DC-A5A3-058D2B43666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8364CC7-2FE9-4456-976D-98B4E391DEDA}"/>
              </a:ext>
            </a:extLst>
          </p:cNvPr>
          <p:cNvSpPr>
            <a:spLocks noGrp="1"/>
          </p:cNvSpPr>
          <p:nvPr>
            <p:ph type="sldNum" sz="quarter" idx="12"/>
          </p:nvPr>
        </p:nvSpPr>
        <p:spPr/>
        <p:txBody>
          <a:bodyPr/>
          <a:lstStyle/>
          <a:p>
            <a:fld id="{9DF9D401-8BA7-4D7F-85FE-8907E913F1E1}" type="slidenum">
              <a:rPr lang="zh-TW" altLang="en-US" smtClean="0"/>
              <a:t>‹#›</a:t>
            </a:fld>
            <a:endParaRPr lang="zh-TW" altLang="en-US"/>
          </a:p>
        </p:txBody>
      </p:sp>
    </p:spTree>
    <p:extLst>
      <p:ext uri="{BB962C8B-B14F-4D97-AF65-F5344CB8AC3E}">
        <p14:creationId xmlns:p14="http://schemas.microsoft.com/office/powerpoint/2010/main" val="3788343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20789E2-0BD3-4CFA-BC2D-A8631AFDFA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D8D9EB7-FF9F-45D3-B833-13A9F708BF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0EFD164-09EA-417D-AC9A-C97B4552B8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CABF81-443E-4FFF-A02D-15F4F5CF00D4}" type="datetime1">
              <a:rPr lang="zh-TW" altLang="en-US" smtClean="0"/>
              <a:t>2022/9/20</a:t>
            </a:fld>
            <a:endParaRPr lang="zh-TW" altLang="en-US"/>
          </a:p>
        </p:txBody>
      </p:sp>
      <p:sp>
        <p:nvSpPr>
          <p:cNvPr id="5" name="頁尾版面配置區 4">
            <a:extLst>
              <a:ext uri="{FF2B5EF4-FFF2-40B4-BE49-F238E27FC236}">
                <a16:creationId xmlns:a16="http://schemas.microsoft.com/office/drawing/2014/main" id="{EA233B5A-E434-4BB1-A888-33FD39502C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D7DF847-FFD7-4953-94F7-7525400D76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F9D401-8BA7-4D7F-85FE-8907E913F1E1}" type="slidenum">
              <a:rPr lang="zh-TW" altLang="en-US" smtClean="0"/>
              <a:t>‹#›</a:t>
            </a:fld>
            <a:endParaRPr lang="zh-TW" altLang="en-US"/>
          </a:p>
        </p:txBody>
      </p:sp>
    </p:spTree>
    <p:extLst>
      <p:ext uri="{BB962C8B-B14F-4D97-AF65-F5344CB8AC3E}">
        <p14:creationId xmlns:p14="http://schemas.microsoft.com/office/powerpoint/2010/main" val="3806238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E007ED-F1A4-4115-9E5F-21232EAC027F}"/>
              </a:ext>
            </a:extLst>
          </p:cNvPr>
          <p:cNvSpPr>
            <a:spLocks noGrp="1"/>
          </p:cNvSpPr>
          <p:nvPr>
            <p:ph type="ctrTitle"/>
          </p:nvPr>
        </p:nvSpPr>
        <p:spPr>
          <a:xfrm>
            <a:off x="1524000" y="83677"/>
            <a:ext cx="9144000" cy="2387600"/>
          </a:xfrm>
        </p:spPr>
        <p:txBody>
          <a:bodyPr>
            <a:normAutofit/>
          </a:bodyPr>
          <a:lstStyle/>
          <a:p>
            <a:r>
              <a:rPr lang="en-US" altLang="zh-TW" sz="4400" b="1" dirty="0">
                <a:latin typeface="Times New Roman" panose="02020603050405020304" pitchFamily="18" charset="0"/>
                <a:cs typeface="Times New Roman" panose="02020603050405020304" pitchFamily="18" charset="0"/>
              </a:rPr>
              <a:t>A Parallel Algorithm for the Single Step Searching Problem</a:t>
            </a:r>
            <a:endParaRPr lang="zh-TW" altLang="en-US" sz="44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37DC6FD8-FEF5-4ADC-AA3D-245723D2CFA5}"/>
              </a:ext>
            </a:extLst>
          </p:cNvPr>
          <p:cNvSpPr>
            <a:spLocks noGrp="1"/>
          </p:cNvSpPr>
          <p:nvPr>
            <p:ph type="subTitle" idx="1"/>
          </p:nvPr>
        </p:nvSpPr>
        <p:spPr/>
        <p:txBody>
          <a:bodyPr/>
          <a:lstStyle/>
          <a:p>
            <a:pPr>
              <a:lnSpc>
                <a:spcPct val="110000"/>
              </a:lnSpc>
            </a:pPr>
            <a:r>
              <a:rPr lang="en-US" altLang="zh-TW" dirty="0">
                <a:latin typeface="Times New Roman" panose="02020603050405020304" pitchFamily="18" charset="0"/>
                <a:cs typeface="Times New Roman" panose="02020603050405020304" pitchFamily="18" charset="0"/>
              </a:rPr>
              <a:t>Richard Chia-Tung Lee, </a:t>
            </a:r>
            <a:r>
              <a:rPr lang="en-US" altLang="zh-TW" dirty="0" err="1">
                <a:latin typeface="Times New Roman" panose="02020603050405020304" pitchFamily="18" charset="0"/>
                <a:cs typeface="Times New Roman" panose="02020603050405020304" pitchFamily="18" charset="0"/>
              </a:rPr>
              <a:t>Jeen</a:t>
            </a:r>
            <a:r>
              <a:rPr lang="en-US" altLang="zh-TW" dirty="0">
                <a:latin typeface="Times New Roman" panose="02020603050405020304" pitchFamily="18" charset="0"/>
                <a:cs typeface="Times New Roman" panose="02020603050405020304" pitchFamily="18" charset="0"/>
              </a:rPr>
              <a:t>-Shang Lin, Fang Rong Hsu</a:t>
            </a:r>
          </a:p>
          <a:p>
            <a:pPr>
              <a:lnSpc>
                <a:spcPct val="110000"/>
              </a:lnSpc>
            </a:pPr>
            <a:r>
              <a:rPr lang="en-US" altLang="zh-TW" dirty="0">
                <a:latin typeface="Times New Roman" panose="02020603050405020304" pitchFamily="18" charset="0"/>
                <a:cs typeface="Times New Roman" panose="02020603050405020304" pitchFamily="18" charset="0"/>
              </a:rPr>
              <a:t>Proceedings of the International Symposium on Parallel Architectures, Algorithms and Networks (ISPAN), December 1994, Kanazawa, Japan</a:t>
            </a:r>
          </a:p>
        </p:txBody>
      </p:sp>
      <p:sp>
        <p:nvSpPr>
          <p:cNvPr id="4" name="Google Shape;56;p13">
            <a:extLst>
              <a:ext uri="{FF2B5EF4-FFF2-40B4-BE49-F238E27FC236}">
                <a16:creationId xmlns:a16="http://schemas.microsoft.com/office/drawing/2014/main" id="{5B5CE7E3-A4D8-4F9E-85B8-DFD6798EE7EA}"/>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Lin Yu-Chen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Sept, </a:t>
            </a:r>
            <a:r>
              <a:rPr lang="en-US" altLang="zh-TW" sz="2000" dirty="0">
                <a:latin typeface="Times New Roman"/>
                <a:ea typeface="Times New Roman"/>
                <a:cs typeface="Times New Roman"/>
                <a:sym typeface="Times New Roman"/>
              </a:rPr>
              <a:t>20</a:t>
            </a:r>
            <a:r>
              <a:rPr lang="zh-TW" sz="2000" dirty="0">
                <a:latin typeface="Times New Roman"/>
                <a:ea typeface="Times New Roman"/>
                <a:cs typeface="Times New Roman"/>
                <a:sym typeface="Times New Roman"/>
              </a:rPr>
              <a:t>, 2022</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118823467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p:txBody>
          <a:bodyPr>
            <a:normAutofit lnSpcReduction="10000"/>
          </a:bodyPr>
          <a:lstStyle/>
          <a:p>
            <a:pPr marL="0" indent="0">
              <a:buNone/>
            </a:pPr>
            <a:r>
              <a:rPr lang="en-US" altLang="zh-TW" sz="2400" dirty="0">
                <a:latin typeface="Times New Roman" panose="02020603050405020304" pitchFamily="18" charset="0"/>
                <a:cs typeface="Times New Roman" panose="02020603050405020304" pitchFamily="18" charset="0"/>
              </a:rPr>
              <a:t>	In this paper, we shall first introduce the single step searching problem which is defined as follows: We are given a graph where each vertex is associated with a weight. Assume that every edge of graph is of equal length. A fugitive can and may be hidden in any edge. We are asked to assign searchers to vertices to search the entire graph in one step such that no fugitive can escape. The cost of a searching plan is related to the weights of the vertices in which the searchers are initially located. Our goal is to minimize the cost of the searching plan.</a:t>
            </a:r>
          </a:p>
          <a:p>
            <a:pPr marL="0" indent="0">
              <a:buNone/>
            </a:pPr>
            <a:r>
              <a:rPr lang="en-US" altLang="zh-TW" sz="2400" dirty="0">
                <a:latin typeface="Times New Roman" panose="02020603050405020304" pitchFamily="18" charset="0"/>
                <a:cs typeface="Times New Roman" panose="02020603050405020304" pitchFamily="18" charset="0"/>
              </a:rPr>
              <a:t>	A parallel algorithm based upon The EREW model is proposed to solve this problem. This algorithm applies the tree contraction technique. The critical point is that we have to transform a general tree to a binary tree including pseudo nodes in order to apply this tree contraction technique. A new algorithm is devised to solve the problem on the transformed binary tree. It can be proved that this new algorithm is correct as it produces a correct solution for the original tree. Our algorithm has an optimal speed up.</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336050-1808-45BB-B1F9-C1695790BB71}"/>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Basic concept of the problem</a:t>
            </a:r>
            <a:endParaRPr lang="zh-TW" altLang="en-US" b="1"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63764494-82C4-4B35-A03A-39F83A2CB44B}"/>
              </a:ext>
            </a:extLst>
          </p:cNvPr>
          <p:cNvSpPr>
            <a:spLocks noGrp="1"/>
          </p:cNvSpPr>
          <p:nvPr>
            <p:ph idx="1"/>
          </p:nvPr>
        </p:nvSpPr>
        <p:spPr/>
        <p:txBody>
          <a:bodyPr>
            <a:normAutofit/>
          </a:bodyPr>
          <a:lstStyle/>
          <a:p>
            <a:r>
              <a:rPr lang="en-US" altLang="zh-TW" sz="2400" dirty="0">
                <a:latin typeface="Times New Roman" panose="02020603050405020304" pitchFamily="18" charset="0"/>
                <a:cs typeface="Times New Roman" panose="02020603050405020304" pitchFamily="18" charset="0"/>
              </a:rPr>
              <a:t>Given an undirected graph G(V,E) with n edges and m vertices and each vertex associated with a weight </a:t>
            </a:r>
            <a:r>
              <a:rPr lang="en-US" altLang="zh-TW" sz="2400" dirty="0" err="1">
                <a:latin typeface="Times New Roman" panose="02020603050405020304" pitchFamily="18" charset="0"/>
                <a:cs typeface="Times New Roman" panose="02020603050405020304" pitchFamily="18" charset="0"/>
              </a:rPr>
              <a:t>wt</a:t>
            </a:r>
            <a:r>
              <a:rPr lang="en-US" altLang="zh-TW" sz="2400" dirty="0">
                <a:latin typeface="Times New Roman" panose="02020603050405020304" pitchFamily="18" charset="0"/>
                <a:cs typeface="Times New Roman" panose="02020603050405020304" pitchFamily="18" charset="0"/>
              </a:rPr>
              <a:t>(v).</a:t>
            </a:r>
          </a:p>
          <a:p>
            <a:r>
              <a:rPr lang="en-US" altLang="zh-TW" sz="2400" dirty="0">
                <a:latin typeface="Times New Roman" panose="02020603050405020304" pitchFamily="18" charset="0"/>
                <a:cs typeface="Times New Roman" panose="02020603050405020304" pitchFamily="18" charset="0"/>
              </a:rPr>
              <a:t>A fugitive who can move </a:t>
            </a:r>
            <a:r>
              <a:rPr lang="en-US" altLang="zh-TW" sz="2400" b="1" dirty="0">
                <a:latin typeface="Times New Roman" panose="02020603050405020304" pitchFamily="18" charset="0"/>
                <a:cs typeface="Times New Roman" panose="02020603050405020304" pitchFamily="18" charset="0"/>
              </a:rPr>
              <a:t>in any speed</a:t>
            </a:r>
            <a:r>
              <a:rPr lang="en-US" altLang="zh-TW" sz="2400" dirty="0">
                <a:latin typeface="Times New Roman" panose="02020603050405020304" pitchFamily="18" charset="0"/>
                <a:cs typeface="Times New Roman" panose="02020603050405020304" pitchFamily="18" charset="0"/>
              </a:rPr>
              <a:t> is assumed to be hidden in some edge of G.</a:t>
            </a:r>
          </a:p>
          <a:p>
            <a:r>
              <a:rPr lang="en-US" altLang="zh-TW" sz="2400" dirty="0">
                <a:latin typeface="Times New Roman" panose="02020603050405020304" pitchFamily="18" charset="0"/>
                <a:cs typeface="Times New Roman" panose="02020603050405020304" pitchFamily="18" charset="0"/>
              </a:rPr>
              <a:t>For each edge of G, an edge searcher is assigned to search him.</a:t>
            </a:r>
          </a:p>
          <a:p>
            <a:r>
              <a:rPr lang="en-US" altLang="zh-TW" sz="2400" dirty="0">
                <a:latin typeface="Times New Roman" panose="02020603050405020304" pitchFamily="18" charset="0"/>
                <a:cs typeface="Times New Roman" panose="02020603050405020304" pitchFamily="18" charset="0"/>
              </a:rPr>
              <a:t>The cost of clearing an edge(u, v ) is defined as </a:t>
            </a:r>
            <a:r>
              <a:rPr lang="en-US" altLang="zh-TW" sz="2400" dirty="0" err="1">
                <a:latin typeface="Times New Roman" panose="02020603050405020304" pitchFamily="18" charset="0"/>
                <a:cs typeface="Times New Roman" panose="02020603050405020304" pitchFamily="18" charset="0"/>
              </a:rPr>
              <a:t>wt</a:t>
            </a:r>
            <a:r>
              <a:rPr lang="en-US" altLang="zh-TW" sz="2400" dirty="0">
                <a:latin typeface="Times New Roman" panose="02020603050405020304" pitchFamily="18" charset="0"/>
                <a:cs typeface="Times New Roman" panose="02020603050405020304" pitchFamily="18" charset="0"/>
              </a:rPr>
              <a:t>(u) if the edge searcher starts from </a:t>
            </a:r>
            <a:r>
              <a:rPr lang="en-US" altLang="zh-TW" sz="2400" b="1" dirty="0">
                <a:latin typeface="Times New Roman" panose="02020603050405020304" pitchFamily="18" charset="0"/>
                <a:cs typeface="Times New Roman" panose="02020603050405020304" pitchFamily="18" charset="0"/>
              </a:rPr>
              <a:t>u</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2F97A545-5A0C-424A-A78F-F1712A09556F}"/>
              </a:ext>
            </a:extLst>
          </p:cNvPr>
          <p:cNvPicPr>
            <a:picLocks noChangeAspect="1"/>
          </p:cNvPicPr>
          <p:nvPr/>
        </p:nvPicPr>
        <p:blipFill>
          <a:blip r:embed="rId2"/>
          <a:stretch>
            <a:fillRect/>
          </a:stretch>
        </p:blipFill>
        <p:spPr>
          <a:xfrm>
            <a:off x="4361123" y="4001294"/>
            <a:ext cx="3469753" cy="2856706"/>
          </a:xfrm>
          <a:prstGeom prst="rect">
            <a:avLst/>
          </a:prstGeom>
        </p:spPr>
      </p:pic>
      <p:sp>
        <p:nvSpPr>
          <p:cNvPr id="3" name="投影片編號版面配置區 2">
            <a:extLst>
              <a:ext uri="{FF2B5EF4-FFF2-40B4-BE49-F238E27FC236}">
                <a16:creationId xmlns:a16="http://schemas.microsoft.com/office/drawing/2014/main" id="{6F44A81D-2059-4876-894E-ADDF91556643}"/>
              </a:ext>
            </a:extLst>
          </p:cNvPr>
          <p:cNvSpPr>
            <a:spLocks noGrp="1"/>
          </p:cNvSpPr>
          <p:nvPr>
            <p:ph type="sldNum" sz="quarter" idx="12"/>
          </p:nvPr>
        </p:nvSpPr>
        <p:spPr/>
        <p:txBody>
          <a:bodyPr/>
          <a:lstStyle/>
          <a:p>
            <a:fld id="{9DF9D401-8BA7-4D7F-85FE-8907E913F1E1}" type="slidenum">
              <a:rPr lang="zh-TW" altLang="en-US" smtClean="0"/>
              <a:t>3</a:t>
            </a:fld>
            <a:endParaRPr lang="zh-TW" altLang="en-US"/>
          </a:p>
        </p:txBody>
      </p:sp>
    </p:spTree>
    <p:extLst>
      <p:ext uri="{BB962C8B-B14F-4D97-AF65-F5344CB8AC3E}">
        <p14:creationId xmlns:p14="http://schemas.microsoft.com/office/powerpoint/2010/main" val="23746407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D8EB3E-31B5-465A-8CFC-32263D44BAF9}"/>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How to compute the cost?</a:t>
            </a:r>
            <a:endParaRPr lang="zh-TW" altLang="en-US" b="1"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303EC720-D24B-41A4-9986-6269FEC291A9}"/>
              </a:ext>
            </a:extLst>
          </p:cNvPr>
          <p:cNvPicPr>
            <a:picLocks noChangeAspect="1"/>
          </p:cNvPicPr>
          <p:nvPr/>
        </p:nvPicPr>
        <p:blipFill>
          <a:blip r:embed="rId2"/>
          <a:stretch>
            <a:fillRect/>
          </a:stretch>
        </p:blipFill>
        <p:spPr>
          <a:xfrm>
            <a:off x="1072835" y="2057517"/>
            <a:ext cx="10387496" cy="2276133"/>
          </a:xfrm>
          <a:prstGeom prst="rect">
            <a:avLst/>
          </a:prstGeom>
        </p:spPr>
      </p:pic>
      <p:pic>
        <p:nvPicPr>
          <p:cNvPr id="6" name="圖片 5">
            <a:extLst>
              <a:ext uri="{FF2B5EF4-FFF2-40B4-BE49-F238E27FC236}">
                <a16:creationId xmlns:a16="http://schemas.microsoft.com/office/drawing/2014/main" id="{36554E65-612C-429E-BA1D-EE3D0FFC5821}"/>
              </a:ext>
            </a:extLst>
          </p:cNvPr>
          <p:cNvPicPr>
            <a:picLocks noChangeAspect="1"/>
          </p:cNvPicPr>
          <p:nvPr/>
        </p:nvPicPr>
        <p:blipFill>
          <a:blip r:embed="rId3"/>
          <a:stretch>
            <a:fillRect/>
          </a:stretch>
        </p:blipFill>
        <p:spPr>
          <a:xfrm>
            <a:off x="966235" y="4598384"/>
            <a:ext cx="10259530" cy="1633739"/>
          </a:xfrm>
          <a:prstGeom prst="rect">
            <a:avLst/>
          </a:prstGeom>
        </p:spPr>
      </p:pic>
      <p:sp>
        <p:nvSpPr>
          <p:cNvPr id="3" name="投影片編號版面配置區 2">
            <a:extLst>
              <a:ext uri="{FF2B5EF4-FFF2-40B4-BE49-F238E27FC236}">
                <a16:creationId xmlns:a16="http://schemas.microsoft.com/office/drawing/2014/main" id="{D2A943F4-7DF8-4C79-9B42-85A3BF037AEE}"/>
              </a:ext>
            </a:extLst>
          </p:cNvPr>
          <p:cNvSpPr>
            <a:spLocks noGrp="1"/>
          </p:cNvSpPr>
          <p:nvPr>
            <p:ph type="sldNum" sz="quarter" idx="12"/>
          </p:nvPr>
        </p:nvSpPr>
        <p:spPr/>
        <p:txBody>
          <a:bodyPr/>
          <a:lstStyle/>
          <a:p>
            <a:fld id="{9DF9D401-8BA7-4D7F-85FE-8907E913F1E1}" type="slidenum">
              <a:rPr lang="zh-TW" altLang="en-US" smtClean="0"/>
              <a:t>4</a:t>
            </a:fld>
            <a:endParaRPr lang="zh-TW" altLang="en-US"/>
          </a:p>
        </p:txBody>
      </p:sp>
    </p:spTree>
    <p:extLst>
      <p:ext uri="{BB962C8B-B14F-4D97-AF65-F5344CB8AC3E}">
        <p14:creationId xmlns:p14="http://schemas.microsoft.com/office/powerpoint/2010/main" val="220486296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450D2904-C4AB-493E-8107-D125A8407AF4}"/>
              </a:ext>
            </a:extLst>
          </p:cNvPr>
          <p:cNvPicPr>
            <a:picLocks noChangeAspect="1"/>
          </p:cNvPicPr>
          <p:nvPr/>
        </p:nvPicPr>
        <p:blipFill>
          <a:blip r:embed="rId2"/>
          <a:stretch>
            <a:fillRect/>
          </a:stretch>
        </p:blipFill>
        <p:spPr>
          <a:xfrm>
            <a:off x="2076543" y="1218893"/>
            <a:ext cx="7701566" cy="1744494"/>
          </a:xfrm>
          <a:prstGeom prst="rect">
            <a:avLst/>
          </a:prstGeom>
        </p:spPr>
      </p:pic>
      <p:pic>
        <p:nvPicPr>
          <p:cNvPr id="7" name="圖片 6">
            <a:extLst>
              <a:ext uri="{FF2B5EF4-FFF2-40B4-BE49-F238E27FC236}">
                <a16:creationId xmlns:a16="http://schemas.microsoft.com/office/drawing/2014/main" id="{DFE03C27-FC5B-41C0-AF0B-3DB2A66C1501}"/>
              </a:ext>
            </a:extLst>
          </p:cNvPr>
          <p:cNvPicPr>
            <a:picLocks noChangeAspect="1"/>
          </p:cNvPicPr>
          <p:nvPr/>
        </p:nvPicPr>
        <p:blipFill>
          <a:blip r:embed="rId3"/>
          <a:stretch>
            <a:fillRect/>
          </a:stretch>
        </p:blipFill>
        <p:spPr>
          <a:xfrm>
            <a:off x="3781276" y="2871947"/>
            <a:ext cx="6027313" cy="765243"/>
          </a:xfrm>
          <a:prstGeom prst="rect">
            <a:avLst/>
          </a:prstGeom>
        </p:spPr>
      </p:pic>
      <p:pic>
        <p:nvPicPr>
          <p:cNvPr id="12" name="圖片 11">
            <a:extLst>
              <a:ext uri="{FF2B5EF4-FFF2-40B4-BE49-F238E27FC236}">
                <a16:creationId xmlns:a16="http://schemas.microsoft.com/office/drawing/2014/main" id="{40DF0B1C-688D-4E80-A2B6-F4B4F470510F}"/>
              </a:ext>
            </a:extLst>
          </p:cNvPr>
          <p:cNvPicPr>
            <a:picLocks noChangeAspect="1"/>
          </p:cNvPicPr>
          <p:nvPr/>
        </p:nvPicPr>
        <p:blipFill>
          <a:blip r:embed="rId4"/>
          <a:stretch>
            <a:fillRect/>
          </a:stretch>
        </p:blipFill>
        <p:spPr>
          <a:xfrm>
            <a:off x="2086703" y="3911683"/>
            <a:ext cx="5692462" cy="564204"/>
          </a:xfrm>
          <a:prstGeom prst="rect">
            <a:avLst/>
          </a:prstGeom>
        </p:spPr>
      </p:pic>
      <p:sp>
        <p:nvSpPr>
          <p:cNvPr id="2" name="投影片編號版面配置區 1">
            <a:extLst>
              <a:ext uri="{FF2B5EF4-FFF2-40B4-BE49-F238E27FC236}">
                <a16:creationId xmlns:a16="http://schemas.microsoft.com/office/drawing/2014/main" id="{1A291668-7CD9-40E6-A3DE-79F479FEF6C1}"/>
              </a:ext>
            </a:extLst>
          </p:cNvPr>
          <p:cNvSpPr>
            <a:spLocks noGrp="1"/>
          </p:cNvSpPr>
          <p:nvPr>
            <p:ph type="sldNum" sz="quarter" idx="12"/>
          </p:nvPr>
        </p:nvSpPr>
        <p:spPr/>
        <p:txBody>
          <a:bodyPr/>
          <a:lstStyle/>
          <a:p>
            <a:fld id="{9DF9D401-8BA7-4D7F-85FE-8907E913F1E1}" type="slidenum">
              <a:rPr lang="zh-TW" altLang="en-US" smtClean="0"/>
              <a:t>5</a:t>
            </a:fld>
            <a:endParaRPr lang="zh-TW" altLang="en-US"/>
          </a:p>
        </p:txBody>
      </p:sp>
    </p:spTree>
    <p:extLst>
      <p:ext uri="{BB962C8B-B14F-4D97-AF65-F5344CB8AC3E}">
        <p14:creationId xmlns:p14="http://schemas.microsoft.com/office/powerpoint/2010/main" val="286917569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B0BEF15-C32C-4CD0-A1C9-77760C75E315}"/>
              </a:ext>
            </a:extLst>
          </p:cNvPr>
          <p:cNvSpPr>
            <a:spLocks noGrp="1"/>
          </p:cNvSpPr>
          <p:nvPr>
            <p:ph type="sldNum" sz="quarter" idx="12"/>
          </p:nvPr>
        </p:nvSpPr>
        <p:spPr/>
        <p:txBody>
          <a:bodyPr/>
          <a:lstStyle/>
          <a:p>
            <a:fld id="{9DF9D401-8BA7-4D7F-85FE-8907E913F1E1}" type="slidenum">
              <a:rPr lang="zh-TW" altLang="en-US" smtClean="0"/>
              <a:t>6</a:t>
            </a:fld>
            <a:endParaRPr lang="zh-TW" altLang="en-US"/>
          </a:p>
        </p:txBody>
      </p:sp>
      <p:pic>
        <p:nvPicPr>
          <p:cNvPr id="5" name="圖片 4">
            <a:extLst>
              <a:ext uri="{FF2B5EF4-FFF2-40B4-BE49-F238E27FC236}">
                <a16:creationId xmlns:a16="http://schemas.microsoft.com/office/drawing/2014/main" id="{30510410-7E72-47D5-A427-ED80A842ED25}"/>
              </a:ext>
            </a:extLst>
          </p:cNvPr>
          <p:cNvPicPr>
            <a:picLocks noChangeAspect="1"/>
          </p:cNvPicPr>
          <p:nvPr/>
        </p:nvPicPr>
        <p:blipFill>
          <a:blip r:embed="rId2"/>
          <a:stretch>
            <a:fillRect/>
          </a:stretch>
        </p:blipFill>
        <p:spPr>
          <a:xfrm>
            <a:off x="1691425" y="344224"/>
            <a:ext cx="8809149" cy="590145"/>
          </a:xfrm>
          <a:prstGeom prst="rect">
            <a:avLst/>
          </a:prstGeom>
        </p:spPr>
      </p:pic>
      <p:pic>
        <p:nvPicPr>
          <p:cNvPr id="6" name="圖片 5">
            <a:extLst>
              <a:ext uri="{FF2B5EF4-FFF2-40B4-BE49-F238E27FC236}">
                <a16:creationId xmlns:a16="http://schemas.microsoft.com/office/drawing/2014/main" id="{6E34491F-7C78-4438-B612-62A5193746F5}"/>
              </a:ext>
            </a:extLst>
          </p:cNvPr>
          <p:cNvPicPr>
            <a:picLocks noChangeAspect="1"/>
          </p:cNvPicPr>
          <p:nvPr/>
        </p:nvPicPr>
        <p:blipFill>
          <a:blip r:embed="rId3"/>
          <a:stretch>
            <a:fillRect/>
          </a:stretch>
        </p:blipFill>
        <p:spPr>
          <a:xfrm>
            <a:off x="535577" y="1488700"/>
            <a:ext cx="5048518" cy="2898843"/>
          </a:xfrm>
          <a:prstGeom prst="rect">
            <a:avLst/>
          </a:prstGeom>
        </p:spPr>
      </p:pic>
      <p:pic>
        <p:nvPicPr>
          <p:cNvPr id="7" name="圖片 6">
            <a:extLst>
              <a:ext uri="{FF2B5EF4-FFF2-40B4-BE49-F238E27FC236}">
                <a16:creationId xmlns:a16="http://schemas.microsoft.com/office/drawing/2014/main" id="{9B913FD7-222F-435A-AB51-7D12D9D78DDB}"/>
              </a:ext>
            </a:extLst>
          </p:cNvPr>
          <p:cNvPicPr>
            <a:picLocks noChangeAspect="1"/>
          </p:cNvPicPr>
          <p:nvPr/>
        </p:nvPicPr>
        <p:blipFill>
          <a:blip r:embed="rId4"/>
          <a:stretch>
            <a:fillRect/>
          </a:stretch>
        </p:blipFill>
        <p:spPr>
          <a:xfrm>
            <a:off x="403537" y="4733760"/>
            <a:ext cx="5692462" cy="635540"/>
          </a:xfrm>
          <a:prstGeom prst="rect">
            <a:avLst/>
          </a:prstGeom>
        </p:spPr>
      </p:pic>
      <p:pic>
        <p:nvPicPr>
          <p:cNvPr id="8" name="圖片 7">
            <a:extLst>
              <a:ext uri="{FF2B5EF4-FFF2-40B4-BE49-F238E27FC236}">
                <a16:creationId xmlns:a16="http://schemas.microsoft.com/office/drawing/2014/main" id="{DE64232B-28C3-4B6F-B3CE-56958B7728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60006" y="826928"/>
            <a:ext cx="3781470" cy="2834824"/>
          </a:xfrm>
          <a:prstGeom prst="rect">
            <a:avLst/>
          </a:prstGeom>
        </p:spPr>
      </p:pic>
      <p:pic>
        <p:nvPicPr>
          <p:cNvPr id="10" name="圖片 9">
            <a:extLst>
              <a:ext uri="{FF2B5EF4-FFF2-40B4-BE49-F238E27FC236}">
                <a16:creationId xmlns:a16="http://schemas.microsoft.com/office/drawing/2014/main" id="{8F5ABB39-886D-490F-BE77-6D03AFF225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60006" y="3883695"/>
            <a:ext cx="3781469" cy="2834823"/>
          </a:xfrm>
          <a:prstGeom prst="rect">
            <a:avLst/>
          </a:prstGeom>
        </p:spPr>
      </p:pic>
    </p:spTree>
    <p:extLst>
      <p:ext uri="{BB962C8B-B14F-4D97-AF65-F5344CB8AC3E}">
        <p14:creationId xmlns:p14="http://schemas.microsoft.com/office/powerpoint/2010/main" val="34777514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13D9F5-E6C3-4465-83C8-210B24FCF2F4}"/>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Example</a:t>
            </a:r>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4B633B45-DB33-495D-953D-B6AD1313E3B1}"/>
              </a:ext>
            </a:extLst>
          </p:cNvPr>
          <p:cNvPicPr>
            <a:picLocks noChangeAspect="1"/>
          </p:cNvPicPr>
          <p:nvPr/>
        </p:nvPicPr>
        <p:blipFill>
          <a:blip r:embed="rId2"/>
          <a:stretch>
            <a:fillRect/>
          </a:stretch>
        </p:blipFill>
        <p:spPr>
          <a:xfrm>
            <a:off x="1107441" y="2105314"/>
            <a:ext cx="4114782" cy="3387769"/>
          </a:xfrm>
          <a:prstGeom prst="rect">
            <a:avLst/>
          </a:prstGeom>
        </p:spPr>
      </p:pic>
      <p:pic>
        <p:nvPicPr>
          <p:cNvPr id="5" name="圖片 4">
            <a:extLst>
              <a:ext uri="{FF2B5EF4-FFF2-40B4-BE49-F238E27FC236}">
                <a16:creationId xmlns:a16="http://schemas.microsoft.com/office/drawing/2014/main" id="{5FE9F5EA-5B73-4261-AC6A-F28D3F0C66C6}"/>
              </a:ext>
            </a:extLst>
          </p:cNvPr>
          <p:cNvPicPr>
            <a:picLocks noChangeAspect="1"/>
          </p:cNvPicPr>
          <p:nvPr/>
        </p:nvPicPr>
        <p:blipFill>
          <a:blip r:embed="rId3"/>
          <a:stretch>
            <a:fillRect/>
          </a:stretch>
        </p:blipFill>
        <p:spPr>
          <a:xfrm>
            <a:off x="5653626" y="1690688"/>
            <a:ext cx="5700174" cy="3890013"/>
          </a:xfrm>
          <a:prstGeom prst="rect">
            <a:avLst/>
          </a:prstGeom>
        </p:spPr>
      </p:pic>
      <p:sp>
        <p:nvSpPr>
          <p:cNvPr id="3" name="投影片編號版面配置區 2">
            <a:extLst>
              <a:ext uri="{FF2B5EF4-FFF2-40B4-BE49-F238E27FC236}">
                <a16:creationId xmlns:a16="http://schemas.microsoft.com/office/drawing/2014/main" id="{5C2F4448-8E36-454B-B696-948CEC905800}"/>
              </a:ext>
            </a:extLst>
          </p:cNvPr>
          <p:cNvSpPr>
            <a:spLocks noGrp="1"/>
          </p:cNvSpPr>
          <p:nvPr>
            <p:ph type="sldNum" sz="quarter" idx="12"/>
          </p:nvPr>
        </p:nvSpPr>
        <p:spPr/>
        <p:txBody>
          <a:bodyPr/>
          <a:lstStyle/>
          <a:p>
            <a:fld id="{9DF9D401-8BA7-4D7F-85FE-8907E913F1E1}" type="slidenum">
              <a:rPr lang="zh-TW" altLang="en-US" smtClean="0"/>
              <a:t>7</a:t>
            </a:fld>
            <a:endParaRPr lang="zh-TW" altLang="en-US"/>
          </a:p>
        </p:txBody>
      </p:sp>
    </p:spTree>
    <p:extLst>
      <p:ext uri="{BB962C8B-B14F-4D97-AF65-F5344CB8AC3E}">
        <p14:creationId xmlns:p14="http://schemas.microsoft.com/office/powerpoint/2010/main" val="126485137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F9F074-FD5B-44DB-805A-2CA935D4E62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The Reduction of a General Tree to a Binary Tree</a:t>
            </a:r>
            <a:endParaRPr lang="zh-TW" altLang="en-US"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089095ED-3D01-4DDA-AB84-0B23B9C66FAC}"/>
              </a:ext>
            </a:extLst>
          </p:cNvPr>
          <p:cNvSpPr txBox="1"/>
          <p:nvPr/>
        </p:nvSpPr>
        <p:spPr>
          <a:xfrm>
            <a:off x="578528" y="2475494"/>
            <a:ext cx="11034943" cy="1569660"/>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	The parallel tree contraction technique assumes that the trees are binary trees. </a:t>
            </a:r>
            <a:r>
              <a:rPr lang="en-US" altLang="zh-TW" sz="2400" dirty="0" err="1">
                <a:latin typeface="Times New Roman" panose="02020603050405020304" pitchFamily="18" charset="0"/>
                <a:cs typeface="Times New Roman" panose="02020603050405020304" pitchFamily="18" charset="0"/>
              </a:rPr>
              <a:t>Therefore,we</a:t>
            </a:r>
            <a:r>
              <a:rPr lang="en-US" altLang="zh-TW" sz="2400" dirty="0">
                <a:latin typeface="Times New Roman" panose="02020603050405020304" pitchFamily="18" charset="0"/>
                <a:cs typeface="Times New Roman" panose="02020603050405020304" pitchFamily="18" charset="0"/>
              </a:rPr>
              <a:t> should transform a general tree to a binary tree. In this Section, we will describe a method that transforms a general tree to a binary tree for this single step searching problem by repeatedly applying the following procedure:</a:t>
            </a:r>
            <a:endParaRPr lang="zh-TW" altLang="en-US" sz="24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ADC71AB-390A-4169-BB1C-74BB9655D7D0}"/>
              </a:ext>
            </a:extLst>
          </p:cNvPr>
          <p:cNvSpPr>
            <a:spLocks noGrp="1"/>
          </p:cNvSpPr>
          <p:nvPr>
            <p:ph type="sldNum" sz="quarter" idx="12"/>
          </p:nvPr>
        </p:nvSpPr>
        <p:spPr/>
        <p:txBody>
          <a:bodyPr/>
          <a:lstStyle/>
          <a:p>
            <a:fld id="{9DF9D401-8BA7-4D7F-85FE-8907E913F1E1}" type="slidenum">
              <a:rPr lang="zh-TW" altLang="en-US" smtClean="0"/>
              <a:t>8</a:t>
            </a:fld>
            <a:endParaRPr lang="zh-TW" altLang="en-US"/>
          </a:p>
        </p:txBody>
      </p:sp>
    </p:spTree>
    <p:extLst>
      <p:ext uri="{BB962C8B-B14F-4D97-AF65-F5344CB8AC3E}">
        <p14:creationId xmlns:p14="http://schemas.microsoft.com/office/powerpoint/2010/main" val="260276050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44D440B0-1563-4232-A2BA-233E3AC5C247}"/>
              </a:ext>
            </a:extLst>
          </p:cNvPr>
          <p:cNvPicPr>
            <a:picLocks noChangeAspect="1"/>
          </p:cNvPicPr>
          <p:nvPr/>
        </p:nvPicPr>
        <p:blipFill>
          <a:blip r:embed="rId2"/>
          <a:stretch>
            <a:fillRect/>
          </a:stretch>
        </p:blipFill>
        <p:spPr>
          <a:xfrm>
            <a:off x="2982690" y="388430"/>
            <a:ext cx="3039414" cy="3080426"/>
          </a:xfrm>
          <a:prstGeom prst="rect">
            <a:avLst/>
          </a:prstGeom>
        </p:spPr>
      </p:pic>
      <p:pic>
        <p:nvPicPr>
          <p:cNvPr id="7" name="圖片 6">
            <a:extLst>
              <a:ext uri="{FF2B5EF4-FFF2-40B4-BE49-F238E27FC236}">
                <a16:creationId xmlns:a16="http://schemas.microsoft.com/office/drawing/2014/main" id="{0B2ED13E-A266-426B-9C76-3C52E261C291}"/>
              </a:ext>
            </a:extLst>
          </p:cNvPr>
          <p:cNvPicPr>
            <a:picLocks noChangeAspect="1"/>
          </p:cNvPicPr>
          <p:nvPr/>
        </p:nvPicPr>
        <p:blipFill>
          <a:blip r:embed="rId3"/>
          <a:stretch>
            <a:fillRect/>
          </a:stretch>
        </p:blipFill>
        <p:spPr>
          <a:xfrm>
            <a:off x="7231091" y="388430"/>
            <a:ext cx="3451538" cy="5655013"/>
          </a:xfrm>
          <a:prstGeom prst="rect">
            <a:avLst/>
          </a:prstGeom>
        </p:spPr>
      </p:pic>
      <p:pic>
        <p:nvPicPr>
          <p:cNvPr id="4" name="內容版面配置區 3">
            <a:extLst>
              <a:ext uri="{FF2B5EF4-FFF2-40B4-BE49-F238E27FC236}">
                <a16:creationId xmlns:a16="http://schemas.microsoft.com/office/drawing/2014/main" id="{42BCFD47-8940-4CD0-951B-E33666DE3728}"/>
              </a:ext>
            </a:extLst>
          </p:cNvPr>
          <p:cNvPicPr>
            <a:picLocks noGrp="1" noChangeAspect="1"/>
          </p:cNvPicPr>
          <p:nvPr>
            <p:ph idx="1"/>
          </p:nvPr>
        </p:nvPicPr>
        <p:blipFill>
          <a:blip r:embed="rId4"/>
          <a:stretch>
            <a:fillRect/>
          </a:stretch>
        </p:blipFill>
        <p:spPr>
          <a:xfrm>
            <a:off x="765897" y="4286420"/>
            <a:ext cx="8190963" cy="2023353"/>
          </a:xfrm>
          <a:prstGeom prst="rect">
            <a:avLst/>
          </a:prstGeom>
        </p:spPr>
      </p:pic>
      <p:sp>
        <p:nvSpPr>
          <p:cNvPr id="2" name="投影片編號版面配置區 1">
            <a:extLst>
              <a:ext uri="{FF2B5EF4-FFF2-40B4-BE49-F238E27FC236}">
                <a16:creationId xmlns:a16="http://schemas.microsoft.com/office/drawing/2014/main" id="{FDDAA1FF-A0A0-4FB0-902D-EF1F5A12C205}"/>
              </a:ext>
            </a:extLst>
          </p:cNvPr>
          <p:cNvSpPr>
            <a:spLocks noGrp="1"/>
          </p:cNvSpPr>
          <p:nvPr>
            <p:ph type="sldNum" sz="quarter" idx="12"/>
          </p:nvPr>
        </p:nvSpPr>
        <p:spPr/>
        <p:txBody>
          <a:bodyPr/>
          <a:lstStyle/>
          <a:p>
            <a:fld id="{9DF9D401-8BA7-4D7F-85FE-8907E913F1E1}" type="slidenum">
              <a:rPr lang="zh-TW" altLang="en-US" smtClean="0"/>
              <a:t>9</a:t>
            </a:fld>
            <a:endParaRPr lang="zh-TW" altLang="en-US"/>
          </a:p>
        </p:txBody>
      </p:sp>
    </p:spTree>
    <p:extLst>
      <p:ext uri="{BB962C8B-B14F-4D97-AF65-F5344CB8AC3E}">
        <p14:creationId xmlns:p14="http://schemas.microsoft.com/office/powerpoint/2010/main" val="25677664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38517264-7954-4E2E-BA2B-4CF6F127FFD5}"/>
              </a:ext>
            </a:extLst>
          </p:cNvPr>
          <p:cNvPicPr>
            <a:picLocks noChangeAspect="1"/>
          </p:cNvPicPr>
          <p:nvPr/>
        </p:nvPicPr>
        <p:blipFill>
          <a:blip r:embed="rId2"/>
          <a:stretch>
            <a:fillRect/>
          </a:stretch>
        </p:blipFill>
        <p:spPr>
          <a:xfrm>
            <a:off x="915066" y="608514"/>
            <a:ext cx="8834907" cy="3936460"/>
          </a:xfrm>
          <a:prstGeom prst="rect">
            <a:avLst/>
          </a:prstGeom>
        </p:spPr>
      </p:pic>
      <p:pic>
        <p:nvPicPr>
          <p:cNvPr id="5" name="圖片 4">
            <a:extLst>
              <a:ext uri="{FF2B5EF4-FFF2-40B4-BE49-F238E27FC236}">
                <a16:creationId xmlns:a16="http://schemas.microsoft.com/office/drawing/2014/main" id="{E3F2A1FF-E202-42AC-90A0-47F252871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6655" y="2576744"/>
            <a:ext cx="5369512" cy="4025318"/>
          </a:xfrm>
          <a:prstGeom prst="rect">
            <a:avLst/>
          </a:prstGeom>
        </p:spPr>
      </p:pic>
      <p:sp>
        <p:nvSpPr>
          <p:cNvPr id="2" name="投影片編號版面配置區 1">
            <a:extLst>
              <a:ext uri="{FF2B5EF4-FFF2-40B4-BE49-F238E27FC236}">
                <a16:creationId xmlns:a16="http://schemas.microsoft.com/office/drawing/2014/main" id="{43ACF469-2765-40AF-BDF6-B292B4CC570D}"/>
              </a:ext>
            </a:extLst>
          </p:cNvPr>
          <p:cNvSpPr>
            <a:spLocks noGrp="1"/>
          </p:cNvSpPr>
          <p:nvPr>
            <p:ph type="sldNum" sz="quarter" idx="12"/>
          </p:nvPr>
        </p:nvSpPr>
        <p:spPr/>
        <p:txBody>
          <a:bodyPr/>
          <a:lstStyle/>
          <a:p>
            <a:fld id="{9DF9D401-8BA7-4D7F-85FE-8907E913F1E1}" type="slidenum">
              <a:rPr lang="zh-TW" altLang="en-US" smtClean="0"/>
              <a:t>10</a:t>
            </a:fld>
            <a:endParaRPr lang="zh-TW" altLang="en-US"/>
          </a:p>
        </p:txBody>
      </p:sp>
    </p:spTree>
    <p:extLst>
      <p:ext uri="{BB962C8B-B14F-4D97-AF65-F5344CB8AC3E}">
        <p14:creationId xmlns:p14="http://schemas.microsoft.com/office/powerpoint/2010/main" val="29969628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4C6ACB-2BD6-4962-96C6-3FD079F188E2}"/>
              </a:ext>
            </a:extLst>
          </p:cNvPr>
          <p:cNvSpPr>
            <a:spLocks noGrp="1"/>
          </p:cNvSpPr>
          <p:nvPr>
            <p:ph type="title"/>
          </p:nvPr>
        </p:nvSpPr>
        <p:spPr/>
        <p:txBody>
          <a:bodyPr>
            <a:normAutofit/>
          </a:bodyPr>
          <a:lstStyle/>
          <a:p>
            <a:pPr algn="ctr"/>
            <a:r>
              <a:rPr lang="en-US" altLang="zh-TW" b="1" dirty="0">
                <a:latin typeface="Times New Roman" panose="02020603050405020304" pitchFamily="18" charset="0"/>
                <a:cs typeface="Times New Roman" panose="02020603050405020304" pitchFamily="18" charset="0"/>
              </a:rPr>
              <a:t>The Optimal Parallel Algorithm for the Weighted Single Step Searching Problem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E909FA2-110D-431C-865F-469C66593FCF}"/>
              </a:ext>
            </a:extLst>
          </p:cNvPr>
          <p:cNvSpPr>
            <a:spLocks noGrp="1"/>
          </p:cNvSpPr>
          <p:nvPr>
            <p:ph idx="1"/>
          </p:nvPr>
        </p:nvSpPr>
        <p:spPr/>
        <p:txBody>
          <a:bodyPr>
            <a:normAutofit/>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First select a leaf node U, evaluate the searching costs of node U.</a:t>
            </a:r>
          </a:p>
          <a:p>
            <a:pPr marL="0" indent="0">
              <a:buNone/>
            </a:pPr>
            <a:r>
              <a:rPr lang="en-US" altLang="zh-TW" sz="2400" dirty="0" err="1">
                <a:latin typeface="Times New Roman" panose="02020603050405020304" pitchFamily="18" charset="0"/>
                <a:cs typeface="Times New Roman" panose="02020603050405020304" pitchFamily="18" charset="0"/>
              </a:rPr>
              <a:t>Next,partially</a:t>
            </a:r>
            <a:r>
              <a:rPr lang="en-US" altLang="zh-TW" sz="2400" dirty="0">
                <a:latin typeface="Times New Roman" panose="02020603050405020304" pitchFamily="18" charset="0"/>
                <a:cs typeface="Times New Roman" panose="02020603050405020304" pitchFamily="18" charset="0"/>
              </a:rPr>
              <a:t> evaluate the searching costs of parent node p (U).</a:t>
            </a:r>
          </a:p>
          <a:p>
            <a:pPr marL="0" indent="0">
              <a:buNone/>
            </a:pPr>
            <a:r>
              <a:rPr lang="en-US" altLang="zh-TW" sz="2400" dirty="0" err="1">
                <a:latin typeface="Times New Roman" panose="02020603050405020304" pitchFamily="18" charset="0"/>
                <a:cs typeface="Times New Roman" panose="02020603050405020304" pitchFamily="18" charset="0"/>
              </a:rPr>
              <a:t>Then,we</a:t>
            </a:r>
            <a:r>
              <a:rPr lang="en-US" altLang="zh-TW" sz="2400" dirty="0">
                <a:latin typeface="Times New Roman" panose="02020603050405020304" pitchFamily="18" charset="0"/>
                <a:cs typeface="Times New Roman" panose="02020603050405020304" pitchFamily="18" charset="0"/>
              </a:rPr>
              <a:t> have to contract U, p(U) and sib(U) into one node and connect sib(U) to p(p(U)).</a:t>
            </a:r>
          </a:p>
          <a:p>
            <a:pPr marL="0" indent="0">
              <a:buNone/>
            </a:pPr>
            <a:endParaRPr lang="zh-TW" altLang="en-US" sz="24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C67DD0C1-91B7-4A5C-BB8E-68762B308C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4432" y="3763883"/>
            <a:ext cx="3843135" cy="2881051"/>
          </a:xfrm>
          <a:prstGeom prst="rect">
            <a:avLst/>
          </a:prstGeom>
        </p:spPr>
      </p:pic>
      <p:sp>
        <p:nvSpPr>
          <p:cNvPr id="4" name="投影片編號版面配置區 3">
            <a:extLst>
              <a:ext uri="{FF2B5EF4-FFF2-40B4-BE49-F238E27FC236}">
                <a16:creationId xmlns:a16="http://schemas.microsoft.com/office/drawing/2014/main" id="{4449BC08-3EC8-41A6-8A99-789086B532C8}"/>
              </a:ext>
            </a:extLst>
          </p:cNvPr>
          <p:cNvSpPr>
            <a:spLocks noGrp="1"/>
          </p:cNvSpPr>
          <p:nvPr>
            <p:ph type="sldNum" sz="quarter" idx="12"/>
          </p:nvPr>
        </p:nvSpPr>
        <p:spPr/>
        <p:txBody>
          <a:bodyPr/>
          <a:lstStyle/>
          <a:p>
            <a:fld id="{9DF9D401-8BA7-4D7F-85FE-8907E913F1E1}" type="slidenum">
              <a:rPr lang="zh-TW" altLang="en-US" smtClean="0"/>
              <a:t>11</a:t>
            </a:fld>
            <a:endParaRPr lang="zh-TW" altLang="en-US"/>
          </a:p>
        </p:txBody>
      </p:sp>
    </p:spTree>
    <p:extLst>
      <p:ext uri="{BB962C8B-B14F-4D97-AF65-F5344CB8AC3E}">
        <p14:creationId xmlns:p14="http://schemas.microsoft.com/office/powerpoint/2010/main" val="124574542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0A41E1-A443-4518-A14F-B1E83DA75DF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Algorithm PWSSS</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3ACC3E32-E9F5-412E-A5C9-5FD7DE29D534}"/>
              </a:ext>
            </a:extLst>
          </p:cNvPr>
          <p:cNvPicPr>
            <a:picLocks noChangeAspect="1"/>
          </p:cNvPicPr>
          <p:nvPr/>
        </p:nvPicPr>
        <p:blipFill>
          <a:blip r:embed="rId3"/>
          <a:stretch>
            <a:fillRect/>
          </a:stretch>
        </p:blipFill>
        <p:spPr>
          <a:xfrm>
            <a:off x="2120346" y="1621722"/>
            <a:ext cx="7951308" cy="4871153"/>
          </a:xfrm>
          <a:prstGeom prst="rect">
            <a:avLst/>
          </a:prstGeom>
        </p:spPr>
      </p:pic>
      <p:sp>
        <p:nvSpPr>
          <p:cNvPr id="3" name="投影片編號版面配置區 2">
            <a:extLst>
              <a:ext uri="{FF2B5EF4-FFF2-40B4-BE49-F238E27FC236}">
                <a16:creationId xmlns:a16="http://schemas.microsoft.com/office/drawing/2014/main" id="{7A8B405B-30C7-43C8-B162-6584EB94F067}"/>
              </a:ext>
            </a:extLst>
          </p:cNvPr>
          <p:cNvSpPr>
            <a:spLocks noGrp="1"/>
          </p:cNvSpPr>
          <p:nvPr>
            <p:ph type="sldNum" sz="quarter" idx="12"/>
          </p:nvPr>
        </p:nvSpPr>
        <p:spPr/>
        <p:txBody>
          <a:bodyPr/>
          <a:lstStyle/>
          <a:p>
            <a:fld id="{9DF9D401-8BA7-4D7F-85FE-8907E913F1E1}" type="slidenum">
              <a:rPr lang="zh-TW" altLang="en-US" smtClean="0"/>
              <a:t>12</a:t>
            </a:fld>
            <a:endParaRPr lang="zh-TW" altLang="en-US"/>
          </a:p>
        </p:txBody>
      </p:sp>
    </p:spTree>
    <p:extLst>
      <p:ext uri="{BB962C8B-B14F-4D97-AF65-F5344CB8AC3E}">
        <p14:creationId xmlns:p14="http://schemas.microsoft.com/office/powerpoint/2010/main" val="150503322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BC080710-B344-45DA-B829-A3900584435C}"/>
              </a:ext>
            </a:extLst>
          </p:cNvPr>
          <p:cNvPicPr>
            <a:picLocks noChangeAspect="1"/>
          </p:cNvPicPr>
          <p:nvPr/>
        </p:nvPicPr>
        <p:blipFill>
          <a:blip r:embed="rId2"/>
          <a:stretch>
            <a:fillRect/>
          </a:stretch>
        </p:blipFill>
        <p:spPr>
          <a:xfrm>
            <a:off x="1987639" y="1353766"/>
            <a:ext cx="8216721" cy="2075234"/>
          </a:xfrm>
          <a:prstGeom prst="rect">
            <a:avLst/>
          </a:prstGeom>
        </p:spPr>
      </p:pic>
      <p:sp>
        <p:nvSpPr>
          <p:cNvPr id="5" name="文字方塊 4">
            <a:extLst>
              <a:ext uri="{FF2B5EF4-FFF2-40B4-BE49-F238E27FC236}">
                <a16:creationId xmlns:a16="http://schemas.microsoft.com/office/drawing/2014/main" id="{3E7E584D-B0CA-406D-BAF4-EC5D1D6B3946}"/>
              </a:ext>
            </a:extLst>
          </p:cNvPr>
          <p:cNvSpPr txBox="1"/>
          <p:nvPr/>
        </p:nvSpPr>
        <p:spPr>
          <a:xfrm>
            <a:off x="1222159" y="4039340"/>
            <a:ext cx="9747682" cy="2492990"/>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Each step of algorithm PWSSS runs in time O(1ogn) with O(n) operations on EREW</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PRAM model. By Brent’s theorem, we can show that the algorithm runs in time O(1ogn)</a:t>
            </a:r>
            <a:r>
              <a:rPr lang="zh-TW" altLang="en-US" sz="2400" dirty="0">
                <a:latin typeface="Times New Roman" panose="02020603050405020304" pitchFamily="18" charset="0"/>
                <a:cs typeface="Times New Roman" panose="02020603050405020304" pitchFamily="18" charset="0"/>
              </a:rPr>
              <a:t> </a:t>
            </a:r>
            <a:r>
              <a:rPr lang="pt-BR" altLang="zh-TW" sz="2400" dirty="0">
                <a:latin typeface="Times New Roman" panose="02020603050405020304" pitchFamily="18" charset="0"/>
                <a:cs typeface="Times New Roman" panose="02020603050405020304" pitchFamily="18" charset="0"/>
              </a:rPr>
              <a:t>with n/ log n processors.</a:t>
            </a:r>
          </a:p>
          <a:p>
            <a:endParaRPr lang="en-US" altLang="zh-TW" sz="2400" dirty="0">
              <a:latin typeface="Times New Roman" panose="02020603050405020304" pitchFamily="18" charset="0"/>
              <a:cs typeface="Times New Roman" panose="02020603050405020304" pitchFamily="18" charset="0"/>
            </a:endParaRPr>
          </a:p>
          <a:p>
            <a:r>
              <a:rPr lang="en-US" altLang="zh-TW" sz="2000" dirty="0">
                <a:solidFill>
                  <a:srgbClr val="FF0000"/>
                </a:solidFill>
                <a:latin typeface="Times New Roman" panose="02020603050405020304" pitchFamily="18" charset="0"/>
                <a:cs typeface="Times New Roman" panose="02020603050405020304" pitchFamily="18" charset="0"/>
              </a:rPr>
              <a:t># Brent’s theorem:</a:t>
            </a:r>
          </a:p>
          <a:p>
            <a:r>
              <a:rPr lang="en-US" altLang="zh-TW" sz="2000" dirty="0">
                <a:solidFill>
                  <a:srgbClr val="FF0000"/>
                </a:solidFill>
                <a:latin typeface="Times New Roman" panose="02020603050405020304" pitchFamily="18" charset="0"/>
                <a:cs typeface="Times New Roman" panose="02020603050405020304" pitchFamily="18" charset="0"/>
              </a:rPr>
              <a:t>For a given parallel algorithm A,W(n) is total workload during time T(n).</a:t>
            </a:r>
          </a:p>
          <a:p>
            <a:r>
              <a:rPr lang="en-US" altLang="zh-TW" sz="2000" dirty="0">
                <a:solidFill>
                  <a:srgbClr val="FF0000"/>
                </a:solidFill>
                <a:latin typeface="Times New Roman" panose="02020603050405020304" pitchFamily="18" charset="0"/>
                <a:cs typeface="Times New Roman" panose="02020603050405020304" pitchFamily="18" charset="0"/>
              </a:rPr>
              <a:t>Then A can be run on p processors in time t(n)=O(W(n)/</a:t>
            </a:r>
            <a:r>
              <a:rPr lang="en-US" altLang="zh-TW" sz="2000" dirty="0" err="1">
                <a:solidFill>
                  <a:srgbClr val="FF0000"/>
                </a:solidFill>
                <a:latin typeface="Times New Roman" panose="02020603050405020304" pitchFamily="18" charset="0"/>
                <a:cs typeface="Times New Roman" panose="02020603050405020304" pitchFamily="18" charset="0"/>
              </a:rPr>
              <a:t>p+T</a:t>
            </a:r>
            <a:r>
              <a:rPr lang="en-US" altLang="zh-TW" sz="2000" dirty="0">
                <a:solidFill>
                  <a:srgbClr val="FF0000"/>
                </a:solidFill>
                <a:latin typeface="Times New Roman" panose="02020603050405020304" pitchFamily="18" charset="0"/>
                <a:cs typeface="Times New Roman" panose="02020603050405020304" pitchFamily="18" charset="0"/>
              </a:rPr>
              <a:t>(n)).</a:t>
            </a:r>
            <a:endParaRPr lang="pt-BR" altLang="zh-TW" sz="2000" dirty="0">
              <a:solidFill>
                <a:srgbClr val="FF0000"/>
              </a:solidFill>
              <a:latin typeface="Times New Roman" panose="02020603050405020304" pitchFamily="18" charset="0"/>
              <a:cs typeface="Times New Roman" panose="02020603050405020304" pitchFamily="18" charset="0"/>
            </a:endParaRPr>
          </a:p>
        </p:txBody>
      </p:sp>
      <p:sp>
        <p:nvSpPr>
          <p:cNvPr id="2" name="投影片編號版面配置區 1">
            <a:extLst>
              <a:ext uri="{FF2B5EF4-FFF2-40B4-BE49-F238E27FC236}">
                <a16:creationId xmlns:a16="http://schemas.microsoft.com/office/drawing/2014/main" id="{B2CC9730-53A0-4BCF-89A8-F1438F1A2056}"/>
              </a:ext>
            </a:extLst>
          </p:cNvPr>
          <p:cNvSpPr>
            <a:spLocks noGrp="1"/>
          </p:cNvSpPr>
          <p:nvPr>
            <p:ph type="sldNum" sz="quarter" idx="12"/>
          </p:nvPr>
        </p:nvSpPr>
        <p:spPr/>
        <p:txBody>
          <a:bodyPr/>
          <a:lstStyle/>
          <a:p>
            <a:fld id="{9DF9D401-8BA7-4D7F-85FE-8907E913F1E1}" type="slidenum">
              <a:rPr lang="zh-TW" altLang="en-US" smtClean="0"/>
              <a:t>13</a:t>
            </a:fld>
            <a:endParaRPr lang="zh-TW" altLang="en-US"/>
          </a:p>
        </p:txBody>
      </p:sp>
    </p:spTree>
    <p:extLst>
      <p:ext uri="{BB962C8B-B14F-4D97-AF65-F5344CB8AC3E}">
        <p14:creationId xmlns:p14="http://schemas.microsoft.com/office/powerpoint/2010/main" val="36266656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3D5475-5A91-4376-B7D4-7E508E328D4E}"/>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8A35CE8-A344-48A6-AF59-C29DD0837F76}"/>
              </a:ext>
            </a:extLst>
          </p:cNvPr>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The method is a systematic way to solve the problems that the sequential algorithm is based on dynamic programming and runs in linear time.</a:t>
            </a:r>
          </a:p>
          <a:p>
            <a:r>
              <a:rPr lang="en-US" altLang="zh-TW" sz="2400" dirty="0">
                <a:latin typeface="Times New Roman" panose="02020603050405020304" pitchFamily="18" charset="0"/>
                <a:cs typeface="Times New Roman" panose="02020603050405020304" pitchFamily="18" charset="0"/>
              </a:rPr>
              <a:t>This parallel algorithm for the problem runs in time O(</a:t>
            </a:r>
            <a:r>
              <a:rPr lang="en-US" altLang="zh-TW" sz="2400" dirty="0" err="1">
                <a:latin typeface="Times New Roman" panose="02020603050405020304" pitchFamily="18" charset="0"/>
                <a:cs typeface="Times New Roman" panose="02020603050405020304" pitchFamily="18" charset="0"/>
              </a:rPr>
              <a:t>logn</a:t>
            </a:r>
            <a:r>
              <a:rPr lang="en-US" altLang="zh-TW" sz="2400" dirty="0">
                <a:latin typeface="Times New Roman" panose="02020603050405020304" pitchFamily="18" charset="0"/>
                <a:cs typeface="Times New Roman" panose="02020603050405020304" pitchFamily="18" charset="0"/>
              </a:rPr>
              <a:t>) using O(n/</a:t>
            </a:r>
            <a:r>
              <a:rPr lang="en-US" altLang="zh-TW" sz="2400" dirty="0" err="1">
                <a:latin typeface="Times New Roman" panose="02020603050405020304" pitchFamily="18" charset="0"/>
                <a:cs typeface="Times New Roman" panose="02020603050405020304" pitchFamily="18" charset="0"/>
              </a:rPr>
              <a:t>logn</a:t>
            </a:r>
            <a:r>
              <a:rPr lang="en-US" altLang="zh-TW" sz="2400" dirty="0">
                <a:latin typeface="Times New Roman" panose="02020603050405020304" pitchFamily="18" charset="0"/>
                <a:cs typeface="Times New Roman" panose="02020603050405020304" pitchFamily="18" charset="0"/>
              </a:rPr>
              <a:t>) processors on EREW-PRAM. Thus, the parallel algorithms all are optimal speedup algorithms.</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C5005C3-5BD5-43EB-82DC-8FE42D61FB5E}"/>
              </a:ext>
            </a:extLst>
          </p:cNvPr>
          <p:cNvSpPr>
            <a:spLocks noGrp="1"/>
          </p:cNvSpPr>
          <p:nvPr>
            <p:ph type="sldNum" sz="quarter" idx="12"/>
          </p:nvPr>
        </p:nvSpPr>
        <p:spPr/>
        <p:txBody>
          <a:bodyPr/>
          <a:lstStyle/>
          <a:p>
            <a:fld id="{9DF9D401-8BA7-4D7F-85FE-8907E913F1E1}" type="slidenum">
              <a:rPr lang="zh-TW" altLang="en-US" smtClean="0"/>
              <a:t>14</a:t>
            </a:fld>
            <a:endParaRPr lang="zh-TW" altLang="en-US"/>
          </a:p>
        </p:txBody>
      </p:sp>
    </p:spTree>
    <p:extLst>
      <p:ext uri="{BB962C8B-B14F-4D97-AF65-F5344CB8AC3E}">
        <p14:creationId xmlns:p14="http://schemas.microsoft.com/office/powerpoint/2010/main" val="131830936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2270</TotalTime>
  <Words>722</Words>
  <Application>Microsoft Office PowerPoint</Application>
  <PresentationFormat>寬螢幕</PresentationFormat>
  <Paragraphs>53</Paragraphs>
  <Slides>14</Slides>
  <Notes>4</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14</vt:i4>
      </vt:variant>
    </vt:vector>
  </HeadingPairs>
  <TitlesOfParts>
    <vt:vector size="19" baseType="lpstr">
      <vt:lpstr>Arial</vt:lpstr>
      <vt:lpstr>Calibri</vt:lpstr>
      <vt:lpstr>Calibri Light</vt:lpstr>
      <vt:lpstr>Times New Roman</vt:lpstr>
      <vt:lpstr>Office 佈景主題</vt:lpstr>
      <vt:lpstr>A Parallel Algorithm for the Single Step Searching Problem</vt:lpstr>
      <vt:lpstr>Abstract</vt:lpstr>
      <vt:lpstr>Basic concept of the problem</vt:lpstr>
      <vt:lpstr>How to compute the cost?</vt:lpstr>
      <vt:lpstr>PowerPoint 簡報</vt:lpstr>
      <vt:lpstr>PowerPoint 簡報</vt:lpstr>
      <vt:lpstr>Example</vt:lpstr>
      <vt:lpstr>The Reduction of a General Tree to a Binary Tree</vt:lpstr>
      <vt:lpstr>PowerPoint 簡報</vt:lpstr>
      <vt:lpstr>PowerPoint 簡報</vt:lpstr>
      <vt:lpstr>The Optimal Parallel Algorithm for the Weighted Single Step Searching Problem</vt:lpstr>
      <vt:lpstr>Algorithm PWSSS</vt:lpstr>
      <vt:lpstr>PowerPoint 簡報</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Algorithm for the Single Step Searching Problem</dc:title>
  <dc:creator>師老爸</dc:creator>
  <cp:lastModifiedBy>pplab</cp:lastModifiedBy>
  <cp:revision>33</cp:revision>
  <dcterms:created xsi:type="dcterms:W3CDTF">2022-09-18T15:37:33Z</dcterms:created>
  <dcterms:modified xsi:type="dcterms:W3CDTF">2022-09-20T10:29:54Z</dcterms:modified>
</cp:coreProperties>
</file>