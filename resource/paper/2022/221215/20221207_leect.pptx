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3" r:id="rId2"/>
    <p:sldId id="257" r:id="rId3"/>
    <p:sldId id="315" r:id="rId4"/>
    <p:sldId id="316" r:id="rId5"/>
    <p:sldId id="317" r:id="rId6"/>
    <p:sldId id="318" r:id="rId7"/>
    <p:sldId id="260" r:id="rId8"/>
    <p:sldId id="319" r:id="rId9"/>
    <p:sldId id="292" r:id="rId10"/>
    <p:sldId id="320" r:id="rId11"/>
    <p:sldId id="321" r:id="rId12"/>
    <p:sldId id="323" r:id="rId13"/>
    <p:sldId id="329" r:id="rId14"/>
    <p:sldId id="325" r:id="rId15"/>
    <p:sldId id="324"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9093" autoAdjust="0"/>
  </p:normalViewPr>
  <p:slideViewPr>
    <p:cSldViewPr>
      <p:cViewPr varScale="1">
        <p:scale>
          <a:sx n="55" d="100"/>
          <a:sy n="55" d="100"/>
        </p:scale>
        <p:origin x="1818" y="66"/>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8C2939-B1A7-4514-8535-C0FA2719FDF5}" type="datetimeFigureOut">
              <a:rPr lang="zh-TW" altLang="en-US" smtClean="0"/>
              <a:pPr/>
              <a:t>2022/12/15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5C87CB-DD22-4F6F-BC7E-D0042601E3D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a:t>
            </a:fld>
            <a:endParaRPr lang="zh-TW" altLang="en-US"/>
          </a:p>
        </p:txBody>
      </p:sp>
    </p:spTree>
    <p:extLst>
      <p:ext uri="{BB962C8B-B14F-4D97-AF65-F5344CB8AC3E}">
        <p14:creationId xmlns:p14="http://schemas.microsoft.com/office/powerpoint/2010/main" val="2615635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2</a:t>
            </a:fld>
            <a:endParaRPr lang="zh-TW" altLang="en-US"/>
          </a:p>
        </p:txBody>
      </p:sp>
    </p:spTree>
    <p:extLst>
      <p:ext uri="{BB962C8B-B14F-4D97-AF65-F5344CB8AC3E}">
        <p14:creationId xmlns:p14="http://schemas.microsoft.com/office/powerpoint/2010/main" val="3682970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4</a:t>
            </a:fld>
            <a:endParaRPr lang="zh-TW" altLang="en-US"/>
          </a:p>
        </p:txBody>
      </p:sp>
    </p:spTree>
    <p:extLst>
      <p:ext uri="{BB962C8B-B14F-4D97-AF65-F5344CB8AC3E}">
        <p14:creationId xmlns:p14="http://schemas.microsoft.com/office/powerpoint/2010/main" val="4157440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5</a:t>
            </a:fld>
            <a:endParaRPr lang="zh-TW" altLang="en-US"/>
          </a:p>
        </p:txBody>
      </p:sp>
    </p:spTree>
    <p:extLst>
      <p:ext uri="{BB962C8B-B14F-4D97-AF65-F5344CB8AC3E}">
        <p14:creationId xmlns:p14="http://schemas.microsoft.com/office/powerpoint/2010/main" val="2608883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zh-TW" altLang="en-US" b="0" i="0" dirty="0">
                <a:solidFill>
                  <a:srgbClr val="374151"/>
                </a:solidFill>
                <a:effectLst/>
                <a:latin typeface="Söhne"/>
              </a:rPr>
              <a:t>最長公共子序列的多變量細粒度複雜度是指在計算最長公共子序列時，考慮多個變量的影響，並對這些變量進行細分。這可以幫助我們更精確地估算最長公共子序列的複雜度，從而改進演算法的性能。</a:t>
            </a:r>
            <a:endParaRPr lang="en-US" altLang="zh-TW" b="0" i="0" dirty="0">
              <a:solidFill>
                <a:srgbClr val="374151"/>
              </a:solidFill>
              <a:effectLst/>
              <a:latin typeface="Söhne"/>
            </a:endParaRPr>
          </a:p>
          <a:p>
            <a:pPr marL="0" indent="0" algn="just">
              <a:buNone/>
            </a:pPr>
            <a:r>
              <a:rPr lang="zh-TW" altLang="en-US" b="0" i="0" dirty="0">
                <a:solidFill>
                  <a:srgbClr val="374151"/>
                </a:solidFill>
                <a:effectLst/>
                <a:latin typeface="Söhne"/>
              </a:rPr>
              <a:t>例如，在計算兩個字符串的最長公共子序列時，可以考慮字符   串長度、字符集大小以及字符串中相同字符的數量等變量。這些變量都會對最長公共子序列的演算法複雜度產生影響，因此我們可以通過多變量細粒度複雜度來更精確地估計演算法的性能。</a:t>
            </a:r>
            <a:endParaRPr lang="en-US" altLang="zh-TW" b="0" i="0" dirty="0">
              <a:solidFill>
                <a:srgbClr val="374151"/>
              </a:solidFill>
              <a:effectLst/>
              <a:latin typeface="Söhne"/>
            </a:endParaRPr>
          </a:p>
          <a:p>
            <a:pPr marL="0" indent="0" algn="just">
              <a:buNone/>
            </a:pPr>
            <a:r>
              <a:rPr lang="zh-TW" altLang="en-US" b="0" i="0" dirty="0">
                <a:solidFill>
                  <a:srgbClr val="374151"/>
                </a:solidFill>
                <a:effectLst/>
                <a:latin typeface="Söhne"/>
              </a:rPr>
              <a:t>這種方法可以幫助研究人員更好地理解 </a:t>
            </a:r>
            <a:r>
              <a:rPr lang="en-US" altLang="zh-TW" b="0" i="0" dirty="0">
                <a:solidFill>
                  <a:srgbClr val="374151"/>
                </a:solidFill>
                <a:effectLst/>
                <a:latin typeface="Söhne"/>
              </a:rPr>
              <a:t>LCS </a:t>
            </a:r>
            <a:r>
              <a:rPr lang="zh-TW" altLang="en-US" b="0" i="0" dirty="0">
                <a:solidFill>
                  <a:srgbClr val="374151"/>
                </a:solidFill>
                <a:effectLst/>
                <a:latin typeface="Söhne"/>
              </a:rPr>
              <a:t>的複雜性，並提供更準確的複雜度預測方法</a:t>
            </a:r>
            <a:endParaRPr lang="en-US" altLang="zh-TW" b="0" i="0" dirty="0">
              <a:solidFill>
                <a:srgbClr val="374151"/>
              </a:solidFill>
              <a:effectLst/>
              <a:latin typeface="Söhne"/>
            </a:endParaRPr>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6</a:t>
            </a:fld>
            <a:endParaRPr lang="zh-TW" altLang="en-US"/>
          </a:p>
        </p:txBody>
      </p:sp>
    </p:spTree>
    <p:extLst>
      <p:ext uri="{BB962C8B-B14F-4D97-AF65-F5344CB8AC3E}">
        <p14:creationId xmlns:p14="http://schemas.microsoft.com/office/powerpoint/2010/main" val="1743887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err="1">
                <a:solidFill>
                  <a:srgbClr val="1D2A57"/>
                </a:solidFill>
                <a:effectLst/>
                <a:latin typeface="Arial" panose="020B0604020202020204" pitchFamily="34" charset="0"/>
              </a:rPr>
              <a:t>ep.sə.lɑːn</a:t>
            </a:r>
            <a:endParaRPr lang="en-US" altLang="zh-TW" b="0" i="0" dirty="0">
              <a:solidFill>
                <a:srgbClr val="1D2A57"/>
              </a:solidFill>
              <a:effectLst/>
              <a:latin typeface="Arial" panose="020B0604020202020204" pitchFamily="34" charset="0"/>
            </a:endParaRPr>
          </a:p>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8</a:t>
            </a:fld>
            <a:endParaRPr lang="zh-TW" altLang="en-US"/>
          </a:p>
        </p:txBody>
      </p:sp>
    </p:spTree>
    <p:extLst>
      <p:ext uri="{BB962C8B-B14F-4D97-AF65-F5344CB8AC3E}">
        <p14:creationId xmlns:p14="http://schemas.microsoft.com/office/powerpoint/2010/main" val="38794967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i="0" dirty="0">
                <a:solidFill>
                  <a:srgbClr val="FFFFFF"/>
                </a:solidFill>
                <a:effectLst/>
                <a:latin typeface="BlinkMacSystemFont"/>
              </a:rPr>
              <a:t>正交向量問題</a:t>
            </a: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9</a:t>
            </a:fld>
            <a:endParaRPr lang="zh-TW" altLang="en-US"/>
          </a:p>
        </p:txBody>
      </p:sp>
    </p:spTree>
    <p:extLst>
      <p:ext uri="{BB962C8B-B14F-4D97-AF65-F5344CB8AC3E}">
        <p14:creationId xmlns:p14="http://schemas.microsoft.com/office/powerpoint/2010/main" val="1487679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11</a:t>
            </a:fld>
            <a:endParaRPr lang="zh-TW" altLang="en-US"/>
          </a:p>
        </p:txBody>
      </p:sp>
    </p:spTree>
    <p:extLst>
      <p:ext uri="{BB962C8B-B14F-4D97-AF65-F5344CB8AC3E}">
        <p14:creationId xmlns:p14="http://schemas.microsoft.com/office/powerpoint/2010/main" val="1804443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12</a:t>
            </a:fld>
            <a:endParaRPr lang="zh-TW" altLang="en-US"/>
          </a:p>
        </p:txBody>
      </p:sp>
    </p:spTree>
    <p:extLst>
      <p:ext uri="{BB962C8B-B14F-4D97-AF65-F5344CB8AC3E}">
        <p14:creationId xmlns:p14="http://schemas.microsoft.com/office/powerpoint/2010/main" val="343476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374151"/>
                </a:solidFill>
                <a:effectLst/>
                <a:latin typeface="Söhne"/>
              </a:rPr>
              <a:t>對於長度為 </a:t>
            </a:r>
            <a:r>
              <a:rPr lang="en-US" altLang="zh-TW" b="0" i="0" dirty="0">
                <a:solidFill>
                  <a:srgbClr val="374151"/>
                </a:solidFill>
                <a:effectLst/>
                <a:latin typeface="Söhne"/>
              </a:rPr>
              <a:t>n </a:t>
            </a:r>
            <a:r>
              <a:rPr lang="zh-TW" altLang="en-US" b="0" i="0" dirty="0">
                <a:solidFill>
                  <a:srgbClr val="374151"/>
                </a:solidFill>
                <a:effectLst/>
                <a:latin typeface="Söhne"/>
              </a:rPr>
              <a:t>的字符串 </a:t>
            </a:r>
            <a:r>
              <a:rPr lang="en-US" altLang="zh-TW" b="0" i="0" dirty="0">
                <a:solidFill>
                  <a:srgbClr val="374151"/>
                </a:solidFill>
                <a:effectLst/>
                <a:latin typeface="Söhne"/>
              </a:rPr>
              <a:t>x </a:t>
            </a:r>
            <a:r>
              <a:rPr lang="zh-TW" altLang="en-US" b="0" i="0" dirty="0">
                <a:solidFill>
                  <a:srgbClr val="374151"/>
                </a:solidFill>
                <a:effectLst/>
                <a:latin typeface="Söhne"/>
              </a:rPr>
              <a:t>和 </a:t>
            </a:r>
            <a:r>
              <a:rPr lang="en-US" altLang="zh-TW" b="0" i="0" dirty="0">
                <a:solidFill>
                  <a:srgbClr val="374151"/>
                </a:solidFill>
                <a:effectLst/>
                <a:latin typeface="Söhne"/>
              </a:rPr>
              <a:t>y</a:t>
            </a:r>
            <a:r>
              <a:rPr lang="zh-TW" altLang="en-US" b="0" i="0" dirty="0">
                <a:solidFill>
                  <a:srgbClr val="374151"/>
                </a:solidFill>
                <a:effectLst/>
                <a:latin typeface="Söhne"/>
              </a:rPr>
              <a:t>，經典的演算法可以在 </a:t>
            </a:r>
            <a:r>
              <a:rPr lang="en-US" altLang="zh-TW" b="0" i="0" dirty="0">
                <a:solidFill>
                  <a:srgbClr val="374151"/>
                </a:solidFill>
                <a:effectLst/>
                <a:latin typeface="Söhne"/>
              </a:rPr>
              <a:t>O(n^2) </a:t>
            </a:r>
            <a:r>
              <a:rPr lang="zh-TW" altLang="en-US" b="0" i="0" dirty="0">
                <a:solidFill>
                  <a:srgbClr val="374151"/>
                </a:solidFill>
                <a:effectLst/>
                <a:latin typeface="Söhne"/>
              </a:rPr>
              <a:t>的時間內解決最長公共子序列（</a:t>
            </a:r>
            <a:r>
              <a:rPr lang="en-US" altLang="zh-TW" b="0" i="0" dirty="0">
                <a:solidFill>
                  <a:srgbClr val="374151"/>
                </a:solidFill>
                <a:effectLst/>
                <a:latin typeface="Söhne"/>
              </a:rPr>
              <a:t>LCS</a:t>
            </a:r>
            <a:r>
              <a:rPr lang="zh-TW" altLang="en-US" b="0" i="0" dirty="0">
                <a:solidFill>
                  <a:srgbClr val="374151"/>
                </a:solidFill>
                <a:effectLst/>
                <a:latin typeface="Söhne"/>
              </a:rPr>
              <a:t>）問題。雖然已經有很多工作致力於這個問題，但目前並沒有人知道如何構造一個時間複雜度為 </a:t>
            </a:r>
            <a:r>
              <a:rPr lang="en-US" altLang="zh-TW" b="0" i="0" dirty="0">
                <a:solidFill>
                  <a:srgbClr val="374151"/>
                </a:solidFill>
                <a:effectLst/>
                <a:latin typeface="Söhne"/>
              </a:rPr>
              <a:t>O(n^2-ε) </a:t>
            </a:r>
            <a:r>
              <a:rPr lang="zh-TW" altLang="en-US" b="0" i="0" dirty="0">
                <a:solidFill>
                  <a:srgbClr val="374151"/>
                </a:solidFill>
                <a:effectLst/>
                <a:latin typeface="Söhne"/>
              </a:rPr>
              <a:t>的演算法。最近的研究表明，如果能夠構造出這樣的演算法，就會否定強指數時間假設（</a:t>
            </a:r>
            <a:r>
              <a:rPr lang="en-US" altLang="zh-TW" b="0" i="0" dirty="0">
                <a:solidFill>
                  <a:srgbClr val="374151"/>
                </a:solidFill>
                <a:effectLst/>
                <a:latin typeface="Söhne"/>
              </a:rPr>
              <a:t>SETH</a:t>
            </a:r>
            <a:r>
              <a:rPr lang="zh-TW" altLang="en-US" b="0" i="0" dirty="0">
                <a:solidFill>
                  <a:srgbClr val="374151"/>
                </a:solidFill>
                <a:effectLst/>
                <a:latin typeface="Söhne"/>
              </a:rPr>
              <a:t>）。</a:t>
            </a:r>
            <a:endParaRPr lang="en-US" altLang="zh-TW" b="0" i="0" dirty="0">
              <a:solidFill>
                <a:srgbClr val="374151"/>
              </a:solidFill>
              <a:effectLst/>
              <a:latin typeface="Söhne"/>
            </a:endParaRPr>
          </a:p>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14</a:t>
            </a:fld>
            <a:endParaRPr lang="zh-TW" altLang="en-US"/>
          </a:p>
        </p:txBody>
      </p:sp>
    </p:spTree>
    <p:extLst>
      <p:ext uri="{BB962C8B-B14F-4D97-AF65-F5344CB8AC3E}">
        <p14:creationId xmlns:p14="http://schemas.microsoft.com/office/powerpoint/2010/main" val="4119881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15</a:t>
            </a:fld>
            <a:endParaRPr lang="zh-TW" altLang="en-US"/>
          </a:p>
        </p:txBody>
      </p:sp>
    </p:spTree>
    <p:extLst>
      <p:ext uri="{BB962C8B-B14F-4D97-AF65-F5344CB8AC3E}">
        <p14:creationId xmlns:p14="http://schemas.microsoft.com/office/powerpoint/2010/main" val="3483329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2022/12/15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BA57A5FF-B09D-4861-A15A-3127FCDEB20B}" type="datetimeFigureOut">
              <a:rPr lang="zh-TW" altLang="en-US" smtClean="0"/>
              <a:pPr/>
              <a:t>2022/12/15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BA57A5FF-B09D-4861-A15A-3127FCDEB20B}" type="datetimeFigureOut">
              <a:rPr lang="zh-TW" altLang="en-US" smtClean="0"/>
              <a:pPr/>
              <a:t>2022/12/15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A57A5FF-B09D-4861-A15A-3127FCDEB20B}" type="datetimeFigureOut">
              <a:rPr lang="zh-TW" altLang="en-US" smtClean="0"/>
              <a:pPr/>
              <a:t>2022/12/15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2022/12/15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2022/12/15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57A5FF-B09D-4861-A15A-3127FCDEB20B}" type="datetimeFigureOut">
              <a:rPr lang="zh-TW" altLang="en-US" smtClean="0"/>
              <a:pPr/>
              <a:t>2022/12/15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2DDFCA-1BA1-4113-A59F-BE40A323E13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HN_ZV-LXZoI&amp;ab_channel=SimonsInstitute"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hyperlink" Target="https://www.youtube.com/watch?v=XCoCiXIShyk&amp;ab_channel=SimonsInstitute" TargetMode="External"/><Relationship Id="rId4" Type="http://schemas.openxmlformats.org/officeDocument/2006/relationships/hyperlink" Target="https://www.youtube.com/watch?v=wQWZW6oIqn8&amp;t=410s&amp;ab_channel=IGAF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C020BB-2F3A-40BC-8D8D-94312CEA4980}"/>
              </a:ext>
            </a:extLst>
          </p:cNvPr>
          <p:cNvSpPr>
            <a:spLocks noGrp="1"/>
          </p:cNvSpPr>
          <p:nvPr>
            <p:ph type="ctrTitle"/>
          </p:nvPr>
        </p:nvSpPr>
        <p:spPr>
          <a:xfrm>
            <a:off x="364920" y="672353"/>
            <a:ext cx="8625823" cy="2837610"/>
          </a:xfrm>
        </p:spPr>
        <p:txBody>
          <a:bodyPr anchor="t">
            <a:noAutofit/>
          </a:bodyPr>
          <a:lstStyle/>
          <a:p>
            <a:r>
              <a:rPr lang="en-US" altLang="zh-TW" dirty="0"/>
              <a:t>Multivariate Fine-Grained Complexity of Longest Common Subsequence</a:t>
            </a:r>
            <a:br>
              <a:rPr lang="zh-TW" altLang="en-US" sz="4400" dirty="0">
                <a:latin typeface="Times New Roman" panose="02020603050405020304" pitchFamily="18" charset="0"/>
                <a:ea typeface="Arial Unicode MS" pitchFamily="34" charset="-120"/>
                <a:cs typeface="Times New Roman" panose="02020603050405020304" pitchFamily="18" charset="0"/>
              </a:rPr>
            </a:br>
            <a:endParaRPr lang="zh-TW" altLang="en-US" dirty="0"/>
          </a:p>
        </p:txBody>
      </p:sp>
      <p:sp>
        <p:nvSpPr>
          <p:cNvPr id="9" name="文字方塊 8">
            <a:extLst>
              <a:ext uri="{FF2B5EF4-FFF2-40B4-BE49-F238E27FC236}">
                <a16:creationId xmlns:a16="http://schemas.microsoft.com/office/drawing/2014/main" id="{B9014221-E47C-4C31-898A-DB1330B1B844}"/>
              </a:ext>
            </a:extLst>
          </p:cNvPr>
          <p:cNvSpPr txBox="1"/>
          <p:nvPr/>
        </p:nvSpPr>
        <p:spPr>
          <a:xfrm>
            <a:off x="6084168" y="5862481"/>
            <a:ext cx="2775670" cy="646331"/>
          </a:xfrm>
          <a:prstGeom prst="rect">
            <a:avLst/>
          </a:prstGeom>
          <a:noFill/>
        </p:spPr>
        <p:txBody>
          <a:bodyPr wrap="square">
            <a:spAutoFit/>
          </a:bodyPr>
          <a:lstStyle/>
          <a:p>
            <a:r>
              <a:rPr lang="en-US" altLang="zh-TW" dirty="0"/>
              <a:t>Presenter: </a:t>
            </a:r>
            <a:r>
              <a:rPr lang="en-US" altLang="zh-TW" dirty="0" err="1"/>
              <a:t>Chien</a:t>
            </a:r>
            <a:r>
              <a:rPr lang="en-US" altLang="zh-TW" dirty="0"/>
              <a:t>-Ting Lee</a:t>
            </a:r>
          </a:p>
          <a:p>
            <a:pPr marR="0" lvl="0" indent="0" fontAlgn="auto">
              <a:lnSpc>
                <a:spcPct val="100000"/>
              </a:lnSpc>
              <a:spcBef>
                <a:spcPts val="0"/>
              </a:spcBef>
              <a:spcAft>
                <a:spcPts val="0"/>
              </a:spcAft>
              <a:buClrTx/>
              <a:buSzTx/>
              <a:buFontTx/>
              <a:buNone/>
              <a:tabLst/>
              <a:defRPr/>
            </a:pPr>
            <a:r>
              <a:rPr lang="x-none" altLang="zh-TW" dirty="0"/>
              <a:t>Date:</a:t>
            </a:r>
            <a:r>
              <a:rPr lang="zh-TW" altLang="en-US" dirty="0"/>
              <a:t> </a:t>
            </a:r>
            <a:r>
              <a:rPr lang="en-US" altLang="zh-TW" dirty="0"/>
              <a:t>Dec</a:t>
            </a:r>
            <a:r>
              <a:rPr lang="x-none" altLang="zh-TW" dirty="0"/>
              <a:t>. </a:t>
            </a:r>
            <a:r>
              <a:rPr lang="en-US" altLang="zh-TW" dirty="0"/>
              <a:t>15</a:t>
            </a:r>
            <a:r>
              <a:rPr lang="x-none" altLang="zh-TW" dirty="0"/>
              <a:t>, 202</a:t>
            </a:r>
            <a:r>
              <a:rPr lang="en-US" altLang="zh-TW" dirty="0"/>
              <a:t>2</a:t>
            </a:r>
            <a:endParaRPr lang="x-none" altLang="zh-TW" dirty="0"/>
          </a:p>
        </p:txBody>
      </p:sp>
      <p:sp>
        <p:nvSpPr>
          <p:cNvPr id="4" name="副標題 2">
            <a:extLst>
              <a:ext uri="{FF2B5EF4-FFF2-40B4-BE49-F238E27FC236}">
                <a16:creationId xmlns:a16="http://schemas.microsoft.com/office/drawing/2014/main" id="{C2097824-8D05-480F-BF6D-DD8BBC3EFED6}"/>
              </a:ext>
            </a:extLst>
          </p:cNvPr>
          <p:cNvSpPr>
            <a:spLocks noGrp="1"/>
          </p:cNvSpPr>
          <p:nvPr>
            <p:ph type="subTitle" idx="1"/>
          </p:nvPr>
        </p:nvSpPr>
        <p:spPr>
          <a:xfrm>
            <a:off x="8760" y="3068960"/>
            <a:ext cx="9144000" cy="2574617"/>
          </a:xfrm>
        </p:spPr>
        <p:txBody>
          <a:bodyPr>
            <a:normAutofit/>
          </a:bodyPr>
          <a:lstStyle/>
          <a:p>
            <a:r>
              <a:rPr lang="en-US" altLang="zh-TW" sz="2400" dirty="0">
                <a:solidFill>
                  <a:schemeClr val="tx1"/>
                </a:solidFill>
                <a:latin typeface="Times New Roman" panose="02020603050405020304" pitchFamily="18" charset="0"/>
                <a:cs typeface="Times New Roman" panose="02020603050405020304" pitchFamily="18" charset="0"/>
              </a:rPr>
              <a:t>Karl </a:t>
            </a:r>
            <a:r>
              <a:rPr lang="en-US" altLang="zh-TW" sz="2400" dirty="0" err="1">
                <a:solidFill>
                  <a:schemeClr val="tx1"/>
                </a:solidFill>
                <a:latin typeface="Times New Roman" panose="02020603050405020304" pitchFamily="18" charset="0"/>
                <a:cs typeface="Times New Roman" panose="02020603050405020304" pitchFamily="18" charset="0"/>
              </a:rPr>
              <a:t>Bringmann</a:t>
            </a:r>
            <a:r>
              <a:rPr lang="en-US" altLang="zh-TW" sz="2400" dirty="0">
                <a:solidFill>
                  <a:schemeClr val="tx1"/>
                </a:solidFill>
                <a:latin typeface="Times New Roman" panose="02020603050405020304" pitchFamily="18" charset="0"/>
                <a:cs typeface="Times New Roman" panose="02020603050405020304" pitchFamily="18" charset="0"/>
              </a:rPr>
              <a:t>, Marvin </a:t>
            </a:r>
            <a:r>
              <a:rPr lang="en-US" altLang="zh-TW" sz="2400" dirty="0" err="1">
                <a:solidFill>
                  <a:schemeClr val="tx1"/>
                </a:solidFill>
                <a:latin typeface="Times New Roman" panose="02020603050405020304" pitchFamily="18" charset="0"/>
                <a:cs typeface="Times New Roman" panose="02020603050405020304" pitchFamily="18" charset="0"/>
              </a:rPr>
              <a:t>K¨unnemann</a:t>
            </a:r>
            <a:endParaRPr lang="en-US" altLang="zh-TW" sz="2400" dirty="0">
              <a:solidFill>
                <a:schemeClr val="tx1"/>
              </a:solidFill>
              <a:latin typeface="Times New Roman" panose="02020603050405020304" pitchFamily="18" charset="0"/>
              <a:cs typeface="Times New Roman" panose="02020603050405020304" pitchFamily="18" charset="0"/>
            </a:endParaRPr>
          </a:p>
          <a:p>
            <a:r>
              <a:rPr lang="en-US" altLang="zh-TW" sz="2400" dirty="0">
                <a:solidFill>
                  <a:schemeClr val="tx1"/>
                </a:solidFill>
                <a:latin typeface="Times New Roman" panose="02020603050405020304" pitchFamily="18" charset="0"/>
                <a:cs typeface="Times New Roman" panose="02020603050405020304" pitchFamily="18" charset="0"/>
              </a:rPr>
              <a:t>SODA '18: Proceedings of the Twenty-Ninth Annual ACM-SIAM Symposium on Discrete Algorithms</a:t>
            </a:r>
          </a:p>
          <a:p>
            <a:r>
              <a:rPr lang="en-US" altLang="zh-TW" sz="2400" dirty="0">
                <a:solidFill>
                  <a:schemeClr val="tx1"/>
                </a:solidFill>
                <a:latin typeface="Times New Roman" panose="02020603050405020304" pitchFamily="18" charset="0"/>
                <a:cs typeface="Times New Roman" panose="02020603050405020304" pitchFamily="18" charset="0"/>
              </a:rPr>
              <a:t>New Orleans, Louisiana</a:t>
            </a:r>
            <a:r>
              <a:rPr lang="en-US" altLang="zh-TW" sz="1400" b="0" i="0" dirty="0">
                <a:solidFill>
                  <a:srgbClr val="333333"/>
                </a:solidFill>
                <a:effectLst/>
                <a:latin typeface="Merriweather Sans" panose="020B0604020202020204" pitchFamily="2" charset="0"/>
              </a:rPr>
              <a:t> , </a:t>
            </a:r>
            <a:r>
              <a:rPr lang="en-US" altLang="zh-TW" sz="2400" b="0" i="0" dirty="0">
                <a:solidFill>
                  <a:schemeClr val="tx1"/>
                </a:solidFill>
                <a:effectLst/>
                <a:latin typeface="Times New Roman" panose="02020603050405020304" pitchFamily="18" charset="0"/>
                <a:cs typeface="Times New Roman" panose="02020603050405020304" pitchFamily="18" charset="0"/>
              </a:rPr>
              <a:t>USA, </a:t>
            </a:r>
            <a:r>
              <a:rPr lang="en-US" altLang="zh-TW" sz="2400" dirty="0">
                <a:solidFill>
                  <a:schemeClr val="tx1"/>
                </a:solidFill>
                <a:latin typeface="Times New Roman" panose="02020603050405020304" pitchFamily="18" charset="0"/>
                <a:cs typeface="Times New Roman" panose="02020603050405020304" pitchFamily="18" charset="0"/>
              </a:rPr>
              <a:t>January 2018, Pages 1216–1235</a:t>
            </a:r>
          </a:p>
          <a:p>
            <a:pPr>
              <a:lnSpc>
                <a:spcPct val="110000"/>
              </a:lnSpc>
              <a:spcBef>
                <a:spcPts val="1000"/>
              </a:spcBef>
            </a:pPr>
            <a:endParaRPr lang="en-US" altLang="zh-TW" sz="2400" dirty="0">
              <a:solidFill>
                <a:schemeClr val="tx1"/>
              </a:solidFill>
            </a:endParaRPr>
          </a:p>
        </p:txBody>
      </p:sp>
    </p:spTree>
    <p:extLst>
      <p:ext uri="{BB962C8B-B14F-4D97-AF65-F5344CB8AC3E}">
        <p14:creationId xmlns:p14="http://schemas.microsoft.com/office/powerpoint/2010/main" val="149436323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Abstract(1/5)</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457200" y="1196752"/>
            <a:ext cx="8229600" cy="4929411"/>
          </a:xfrm>
        </p:spPr>
        <p:txBody>
          <a:bodyPr>
            <a:noAutofit/>
          </a:bodyPr>
          <a:lstStyle/>
          <a:p>
            <a:pPr marL="0" indent="0" algn="just">
              <a:lnSpc>
                <a:spcPct val="150000"/>
              </a:lnSpc>
              <a:buNone/>
            </a:pPr>
            <a:r>
              <a:rPr lang="en-US" altLang="zh-TW" sz="2400" dirty="0"/>
              <a:t>We revisit the classic combinatorial pattern matching problem of finding a longest common subsequence (LCS). For strings x and y of length n, a textbook algorithm solves LCS in time O(n</a:t>
            </a:r>
            <a:r>
              <a:rPr lang="en-US" altLang="zh-TW" sz="2400" baseline="30000" dirty="0"/>
              <a:t>2</a:t>
            </a:r>
            <a:r>
              <a:rPr lang="en-US" altLang="zh-TW" sz="2400" dirty="0"/>
              <a:t>), but although much effort has been spent, no O(n</a:t>
            </a:r>
            <a:r>
              <a:rPr lang="en-US" altLang="zh-TW" sz="2400" baseline="30000" dirty="0"/>
              <a:t>2−ε </a:t>
            </a:r>
            <a:r>
              <a:rPr lang="en-US" altLang="zh-TW" sz="2400" dirty="0"/>
              <a:t>)-time algorithm is known. Recent work indeed shows that such an algorithm would refute the Strong Exponential Time Hypothesis (SETH).</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146387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6A89FF1-24F7-4D30-969C-F947B2AAA75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Abstract(2/5)</a:t>
            </a:r>
            <a:endParaRPr lang="zh-TW" altLang="en-US" dirty="0"/>
          </a:p>
        </p:txBody>
      </p:sp>
      <p:sp>
        <p:nvSpPr>
          <p:cNvPr id="3" name="內容版面配置區 2">
            <a:extLst>
              <a:ext uri="{FF2B5EF4-FFF2-40B4-BE49-F238E27FC236}">
                <a16:creationId xmlns:a16="http://schemas.microsoft.com/office/drawing/2014/main" id="{0CC71928-AC9F-4769-B48F-D76F81B1115F}"/>
              </a:ext>
            </a:extLst>
          </p:cNvPr>
          <p:cNvSpPr>
            <a:spLocks noGrp="1"/>
          </p:cNvSpPr>
          <p:nvPr>
            <p:ph idx="1"/>
          </p:nvPr>
        </p:nvSpPr>
        <p:spPr/>
        <p:txBody>
          <a:bodyPr>
            <a:normAutofit/>
          </a:bodyPr>
          <a:lstStyle/>
          <a:p>
            <a:pPr algn="just"/>
            <a:r>
              <a:rPr lang="en-US" altLang="zh-TW" sz="2400" dirty="0">
                <a:latin typeface="Times New Roman" panose="02020603050405020304" pitchFamily="18" charset="0"/>
                <a:cs typeface="Times New Roman" panose="02020603050405020304" pitchFamily="18" charset="0"/>
              </a:rPr>
              <a:t>Despite the quadratic-time barrier, for over 40 years an enduring scientific interest continued to produce fast algorithms for LCS and its variations. Particular attention was put into identifying and exploiting input parameters that yield strongly </a:t>
            </a:r>
            <a:r>
              <a:rPr lang="en-US" altLang="zh-TW" sz="2400" dirty="0" err="1">
                <a:latin typeface="Times New Roman" panose="02020603050405020304" pitchFamily="18" charset="0"/>
                <a:cs typeface="Times New Roman" panose="02020603050405020304" pitchFamily="18" charset="0"/>
              </a:rPr>
              <a:t>subquadratic</a:t>
            </a:r>
            <a:r>
              <a:rPr lang="en-US" altLang="zh-TW" sz="2400" dirty="0">
                <a:latin typeface="Times New Roman" panose="02020603050405020304" pitchFamily="18" charset="0"/>
                <a:cs typeface="Times New Roman" panose="02020603050405020304" pitchFamily="18" charset="0"/>
              </a:rPr>
              <a:t> time algorithms for special cases of interest, e.g., differential file comparison. This line of research was successfully pursued until 1990, at which time significant improvements came to a halt. In this paper, using the lens of fine-grained complexity, our goal is to (1) justify the lack of further improvements and (2) determine whether some special cases of LCS admit faster algorithms than currently known.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603863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FC1844-22C8-4843-9C1F-E6568B06328B}"/>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Abstract(3/5)</a:t>
            </a:r>
            <a:endParaRPr lang="zh-TW" altLang="en-US" dirty="0"/>
          </a:p>
        </p:txBody>
      </p:sp>
      <p:sp>
        <p:nvSpPr>
          <p:cNvPr id="3" name="內容版面配置區 2">
            <a:extLst>
              <a:ext uri="{FF2B5EF4-FFF2-40B4-BE49-F238E27FC236}">
                <a16:creationId xmlns:a16="http://schemas.microsoft.com/office/drawing/2014/main" id="{9D3E1610-DA54-42C5-B454-C77C91CC229F}"/>
              </a:ext>
            </a:extLst>
          </p:cNvPr>
          <p:cNvSpPr>
            <a:spLocks noGrp="1"/>
          </p:cNvSpPr>
          <p:nvPr>
            <p:ph idx="1"/>
          </p:nvPr>
        </p:nvSpPr>
        <p:spPr/>
        <p:txBody>
          <a:bodyPr>
            <a:normAutofit/>
          </a:bodyPr>
          <a:lstStyle/>
          <a:p>
            <a:pPr algn="just"/>
            <a:r>
              <a:rPr lang="en-US" altLang="zh-TW" sz="2400" dirty="0">
                <a:latin typeface="Times New Roman" panose="02020603050405020304" pitchFamily="18" charset="0"/>
                <a:cs typeface="Times New Roman" panose="02020603050405020304" pitchFamily="18" charset="0"/>
              </a:rPr>
              <a:t>To this end, we provide a systematic study of the multivariate complexity of LCS, taking into account all parameters previously discussed in the literature: the input size n := max{|x|, |y|}, the length of the shorter string m := min{|x|, |y|}, the length L of an LCS of x and y, the numbers of deletions δ := m − L and ∆ := n − L, the alphabet size, as well as the numbers of matching pairs M and dominant pairs d. For any class of instances defined by fixing each parameter individually to a polynomial in terms of the input size, we prove a SETH-based lower bound matching one of three known algorithms (up to lower order factors of the form n</a:t>
            </a:r>
            <a:r>
              <a:rPr lang="en-US" altLang="zh-TW" sz="2400" baseline="30000" dirty="0">
                <a:latin typeface="Times New Roman" panose="02020603050405020304" pitchFamily="18" charset="0"/>
                <a:cs typeface="Times New Roman" panose="02020603050405020304" pitchFamily="18" charset="0"/>
              </a:rPr>
              <a:t>o(1)</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689332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FC1844-22C8-4843-9C1F-E6568B06328B}"/>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Abstract(4/5)</a:t>
            </a:r>
            <a:endParaRPr lang="zh-TW" altLang="en-US" dirty="0"/>
          </a:p>
        </p:txBody>
      </p:sp>
      <p:sp>
        <p:nvSpPr>
          <p:cNvPr id="3" name="內容版面配置區 2">
            <a:extLst>
              <a:ext uri="{FF2B5EF4-FFF2-40B4-BE49-F238E27FC236}">
                <a16:creationId xmlns:a16="http://schemas.microsoft.com/office/drawing/2014/main" id="{9D3E1610-DA54-42C5-B454-C77C91CC229F}"/>
              </a:ext>
            </a:extLst>
          </p:cNvPr>
          <p:cNvSpPr>
            <a:spLocks noGrp="1"/>
          </p:cNvSpPr>
          <p:nvPr>
            <p:ph idx="1"/>
          </p:nvPr>
        </p:nvSpPr>
        <p:spPr/>
        <p:txBody>
          <a:bodyPr>
            <a:normAutofit/>
          </a:bodyPr>
          <a:lstStyle/>
          <a:p>
            <a:pPr algn="just"/>
            <a:r>
              <a:rPr lang="en-US" altLang="zh-TW" sz="2400" dirty="0">
                <a:latin typeface="Times New Roman" panose="02020603050405020304" pitchFamily="18" charset="0"/>
                <a:cs typeface="Times New Roman" panose="02020603050405020304" pitchFamily="18" charset="0"/>
              </a:rPr>
              <a:t>Specifically, we determine the optimal running time for LCS under SETH as (n + min{d, δ∆, </a:t>
            </a:r>
            <a:r>
              <a:rPr lang="en-US" altLang="zh-TW" sz="2400" dirty="0" err="1">
                <a:latin typeface="Times New Roman" panose="02020603050405020304" pitchFamily="18" charset="0"/>
                <a:cs typeface="Times New Roman" panose="02020603050405020304" pitchFamily="18" charset="0"/>
              </a:rPr>
              <a:t>δm</a:t>
            </a:r>
            <a:r>
              <a:rPr lang="en-US" altLang="zh-TW" sz="2400" dirty="0">
                <a:latin typeface="Times New Roman" panose="02020603050405020304" pitchFamily="18" charset="0"/>
                <a:cs typeface="Times New Roman" panose="02020603050405020304" pitchFamily="18" charset="0"/>
              </a:rPr>
              <a:t>})</a:t>
            </a:r>
            <a:r>
              <a:rPr lang="en-US" altLang="zh-TW" sz="2400" baseline="30000" dirty="0">
                <a:latin typeface="Times New Roman" panose="02020603050405020304" pitchFamily="18" charset="0"/>
                <a:cs typeface="Times New Roman" panose="02020603050405020304" pitchFamily="18" charset="0"/>
              </a:rPr>
              <a:t>1±o(1)</a:t>
            </a:r>
            <a:r>
              <a:rPr lang="en-US" altLang="zh-TW" sz="2400" dirty="0">
                <a:latin typeface="Times New Roman" panose="02020603050405020304" pitchFamily="18" charset="0"/>
                <a:cs typeface="Times New Roman" panose="02020603050405020304" pitchFamily="18" charset="0"/>
              </a:rPr>
              <a:t>. Polynomial improvements over this running time must necessarily refute SETH or exploit novel input parameters. We establish the same lower bound for any constant alphabet of size at least 3. For binary alphabet, we show a SETH-based lower bound of (n + min{d, δ∆, </a:t>
            </a:r>
            <a:r>
              <a:rPr lang="en-US" altLang="zh-TW" sz="2400" dirty="0" err="1">
                <a:latin typeface="Times New Roman" panose="02020603050405020304" pitchFamily="18" charset="0"/>
                <a:cs typeface="Times New Roman" panose="02020603050405020304" pitchFamily="18" charset="0"/>
              </a:rPr>
              <a:t>δM</a:t>
            </a:r>
            <a:r>
              <a:rPr lang="en-US" altLang="zh-TW" sz="2400" dirty="0">
                <a:latin typeface="Times New Roman" panose="02020603050405020304" pitchFamily="18" charset="0"/>
                <a:cs typeface="Times New Roman" panose="02020603050405020304" pitchFamily="18" charset="0"/>
              </a:rPr>
              <a:t>/n})</a:t>
            </a:r>
            <a:r>
              <a:rPr lang="en-US" altLang="zh-TW" sz="2400" baseline="30000" dirty="0">
                <a:latin typeface="Times New Roman" panose="02020603050405020304" pitchFamily="18" charset="0"/>
                <a:cs typeface="Times New Roman" panose="02020603050405020304" pitchFamily="18" charset="0"/>
              </a:rPr>
              <a:t>1−o(1)</a:t>
            </a:r>
            <a:r>
              <a:rPr lang="en-US" altLang="zh-TW" sz="2400" dirty="0">
                <a:latin typeface="Times New Roman" panose="02020603050405020304" pitchFamily="18" charset="0"/>
                <a:cs typeface="Times New Roman" panose="02020603050405020304" pitchFamily="18" charset="0"/>
              </a:rPr>
              <a:t> and, motivated by difficulties to improve this lower bound, we design an O(</a:t>
            </a:r>
            <a:r>
              <a:rPr lang="en-US" altLang="zh-TW" sz="2400" dirty="0" err="1">
                <a:latin typeface="Times New Roman" panose="02020603050405020304" pitchFamily="18" charset="0"/>
                <a:cs typeface="Times New Roman" panose="02020603050405020304" pitchFamily="18" charset="0"/>
              </a:rPr>
              <a:t>n+δM</a:t>
            </a:r>
            <a:r>
              <a:rPr lang="en-US" altLang="zh-TW" sz="2400" dirty="0">
                <a:latin typeface="Times New Roman" panose="02020603050405020304" pitchFamily="18" charset="0"/>
                <a:cs typeface="Times New Roman" panose="02020603050405020304" pitchFamily="18" charset="0"/>
              </a:rPr>
              <a:t>/n)-time algorithm, yielding again a matching bound.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643721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71AD34-9866-408F-BB5E-4BBAA44EB7A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Abstract(5/5)</a:t>
            </a:r>
            <a:endParaRPr lang="zh-TW" altLang="en-US" dirty="0"/>
          </a:p>
        </p:txBody>
      </p:sp>
      <p:sp>
        <p:nvSpPr>
          <p:cNvPr id="3" name="內容版面配置區 2">
            <a:extLst>
              <a:ext uri="{FF2B5EF4-FFF2-40B4-BE49-F238E27FC236}">
                <a16:creationId xmlns:a16="http://schemas.microsoft.com/office/drawing/2014/main" id="{7D2E0E8B-BA40-4DD1-B478-70A41866B2CA}"/>
              </a:ext>
            </a:extLst>
          </p:cNvPr>
          <p:cNvSpPr>
            <a:spLocks noGrp="1"/>
          </p:cNvSpPr>
          <p:nvPr>
            <p:ph idx="1"/>
          </p:nvPr>
        </p:nvSpPr>
        <p:spPr/>
        <p:txBody>
          <a:bodyPr>
            <a:normAutofit/>
          </a:bodyPr>
          <a:lstStyle/>
          <a:p>
            <a:r>
              <a:rPr lang="en-US" altLang="zh-TW" sz="2400" dirty="0">
                <a:latin typeface="Times New Roman" panose="02020603050405020304" pitchFamily="18" charset="0"/>
                <a:cs typeface="Times New Roman" panose="02020603050405020304" pitchFamily="18" charset="0"/>
              </a:rPr>
              <a:t>We feel that our systematic approach yields a comprehensive perspective on the well-studied multivariate complexity of LCS, and we hope to inspire similar studies of multivariate complexity landscapes for further </a:t>
            </a:r>
            <a:r>
              <a:rPr lang="en-US" altLang="zh-TW" sz="2400" dirty="0" err="1">
                <a:latin typeface="Times New Roman" panose="02020603050405020304" pitchFamily="18" charset="0"/>
                <a:cs typeface="Times New Roman" panose="02020603050405020304" pitchFamily="18" charset="0"/>
              </a:rPr>
              <a:t>polynomialtime</a:t>
            </a:r>
            <a:r>
              <a:rPr lang="en-US" altLang="zh-TW" sz="2400" dirty="0">
                <a:latin typeface="Times New Roman" panose="02020603050405020304" pitchFamily="18" charset="0"/>
                <a:cs typeface="Times New Roman" panose="02020603050405020304" pitchFamily="18" charset="0"/>
              </a:rPr>
              <a:t> problems.</a:t>
            </a:r>
            <a:endParaRPr lang="zh-TW" altLang="en-US" sz="2400" dirty="0">
              <a:latin typeface="Times New Roman" panose="02020603050405020304" pitchFamily="18" charset="0"/>
              <a:cs typeface="Times New Roman" panose="02020603050405020304" pitchFamily="18" charset="0"/>
            </a:endParaRPr>
          </a:p>
          <a:p>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715931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3-SAT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fontScale="92500"/>
          </a:bodyPr>
          <a:lstStyle/>
          <a:p>
            <a:pPr marL="0" indent="0">
              <a:buNone/>
            </a:pPr>
            <a:r>
              <a:rPr lang="en-US" altLang="zh-TW" dirty="0"/>
              <a:t>Definition:</a:t>
            </a:r>
          </a:p>
          <a:p>
            <a:pPr marL="0" indent="0">
              <a:buNone/>
            </a:pPr>
            <a:r>
              <a:rPr lang="en-US" altLang="zh-TW" dirty="0"/>
              <a:t> A Boolean formula is in 3CNF if it is of the form C1 ∧ C2 ∧ · · · ∧ Cn where each Ci is an ∨ of three or less literals. </a:t>
            </a:r>
          </a:p>
          <a:p>
            <a:pPr marL="0" indent="0">
              <a:buNone/>
            </a:pPr>
            <a:r>
              <a:rPr lang="en-US" altLang="zh-TW" dirty="0"/>
              <a:t>Example:</a:t>
            </a:r>
          </a:p>
          <a:p>
            <a:pPr marL="0" indent="0">
              <a:buNone/>
            </a:pPr>
            <a:r>
              <a:rPr lang="en-US" altLang="zh-TW" dirty="0"/>
              <a:t>(x1 v x2 v x3 ) ^ (x4 v !x5 v x6) ^ ... ^ (x2 v !x4 v x6)</a:t>
            </a:r>
          </a:p>
          <a:p>
            <a:pPr marL="0" indent="0">
              <a:buNone/>
            </a:pPr>
            <a:endParaRPr lang="en-US" altLang="zh-TW" dirty="0"/>
          </a:p>
          <a:p>
            <a:pPr marL="0" indent="0">
              <a:buNone/>
            </a:pPr>
            <a:r>
              <a:rPr lang="en-US" altLang="zh-TW" dirty="0" err="1"/>
              <a:t>brute-force:O</a:t>
            </a:r>
            <a:r>
              <a:rPr lang="en-US" altLang="zh-TW" dirty="0"/>
              <a:t>(2</a:t>
            </a:r>
            <a:r>
              <a:rPr lang="en-US" altLang="zh-TW" baseline="30000" dirty="0"/>
              <a:t>n</a:t>
            </a:r>
            <a:r>
              <a:rPr lang="en-US" altLang="zh-TW" dirty="0"/>
              <a:t>)</a:t>
            </a:r>
          </a:p>
          <a:p>
            <a:pPr marL="0" indent="0">
              <a:buNone/>
            </a:pPr>
            <a:endParaRPr lang="en-US" altLang="zh-TW" dirty="0"/>
          </a:p>
        </p:txBody>
      </p:sp>
    </p:spTree>
    <p:extLst>
      <p:ext uri="{BB962C8B-B14F-4D97-AF65-F5344CB8AC3E}">
        <p14:creationId xmlns:p14="http://schemas.microsoft.com/office/powerpoint/2010/main" val="22338937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Strong Exponential Time Hypothesis (SETH)</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AFAC2DFD-0EE2-46BB-A664-9463589074F0}"/>
              </a:ext>
            </a:extLst>
          </p:cNvPr>
          <p:cNvPicPr>
            <a:picLocks noGrp="1" noChangeAspect="1"/>
          </p:cNvPicPr>
          <p:nvPr>
            <p:ph idx="1"/>
          </p:nvPr>
        </p:nvPicPr>
        <p:blipFill>
          <a:blip r:embed="rId3"/>
          <a:stretch>
            <a:fillRect/>
          </a:stretch>
        </p:blipFill>
        <p:spPr>
          <a:xfrm>
            <a:off x="647700" y="2101205"/>
            <a:ext cx="7848600" cy="1362075"/>
          </a:xfrm>
        </p:spPr>
      </p:pic>
      <p:pic>
        <p:nvPicPr>
          <p:cNvPr id="7" name="圖片 6">
            <a:extLst>
              <a:ext uri="{FF2B5EF4-FFF2-40B4-BE49-F238E27FC236}">
                <a16:creationId xmlns:a16="http://schemas.microsoft.com/office/drawing/2014/main" id="{4B5E165A-2099-4AEA-B1BD-FBE553E93611}"/>
              </a:ext>
            </a:extLst>
          </p:cNvPr>
          <p:cNvPicPr>
            <a:picLocks noChangeAspect="1"/>
          </p:cNvPicPr>
          <p:nvPr/>
        </p:nvPicPr>
        <p:blipFill>
          <a:blip r:embed="rId4"/>
          <a:stretch>
            <a:fillRect/>
          </a:stretch>
        </p:blipFill>
        <p:spPr>
          <a:xfrm>
            <a:off x="589876" y="3861048"/>
            <a:ext cx="8064896" cy="1143000"/>
          </a:xfrm>
          <a:prstGeom prst="rect">
            <a:avLst/>
          </a:prstGeom>
        </p:spPr>
      </p:pic>
    </p:spTree>
    <p:extLst>
      <p:ext uri="{BB962C8B-B14F-4D97-AF65-F5344CB8AC3E}">
        <p14:creationId xmlns:p14="http://schemas.microsoft.com/office/powerpoint/2010/main" val="69366891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ED40-E010-4D63-8AA9-2C69AC1DFBDF}"/>
              </a:ext>
            </a:extLst>
          </p:cNvPr>
          <p:cNvSpPr>
            <a:spLocks noGrp="1"/>
          </p:cNvSpPr>
          <p:nvPr>
            <p:ph type="title"/>
          </p:nvPr>
        </p:nvSpPr>
        <p:spPr/>
        <p:txBody>
          <a:bodyPr>
            <a:normAutofit/>
          </a:bodyPr>
          <a:lstStyle/>
          <a:p>
            <a:r>
              <a:rPr lang="en-US" altLang="zh-TW" sz="3600" dirty="0">
                <a:latin typeface="Times New Roman" panose="02020603050405020304" pitchFamily="18" charset="0"/>
                <a:ea typeface="+mn-ea"/>
                <a:cs typeface="Times New Roman" panose="02020603050405020304" pitchFamily="18" charset="0"/>
              </a:rPr>
              <a:t>	2-Orthogonal Vector Problem </a:t>
            </a:r>
            <a:r>
              <a:rPr lang="en-US" altLang="zh-TW" b="1" i="0" dirty="0">
                <a:solidFill>
                  <a:srgbClr val="FFFFFF"/>
                </a:solidFill>
                <a:effectLst/>
                <a:latin typeface="BlinkMacSystemFont"/>
              </a:rPr>
              <a:t>(OV)</a:t>
            </a:r>
            <a:endParaRPr lang="zh-TW" altLang="en-US" dirty="0"/>
          </a:p>
        </p:txBody>
      </p:sp>
      <p:sp>
        <p:nvSpPr>
          <p:cNvPr id="7" name="內容版面配置區 6">
            <a:extLst>
              <a:ext uri="{FF2B5EF4-FFF2-40B4-BE49-F238E27FC236}">
                <a16:creationId xmlns:a16="http://schemas.microsoft.com/office/drawing/2014/main" id="{8A6BC3BF-8A37-491F-A18B-BB08BBA698D9}"/>
              </a:ext>
            </a:extLst>
          </p:cNvPr>
          <p:cNvSpPr>
            <a:spLocks noGrp="1"/>
          </p:cNvSpPr>
          <p:nvPr>
            <p:ph idx="1"/>
          </p:nvPr>
        </p:nvSpPr>
        <p:spPr/>
        <p:txBody>
          <a:bodyPr/>
          <a:lstStyle/>
          <a:p>
            <a:endParaRPr lang="zh-TW" altLang="en-US" dirty="0"/>
          </a:p>
        </p:txBody>
      </p:sp>
      <p:pic>
        <p:nvPicPr>
          <p:cNvPr id="9" name="圖片 8">
            <a:extLst>
              <a:ext uri="{FF2B5EF4-FFF2-40B4-BE49-F238E27FC236}">
                <a16:creationId xmlns:a16="http://schemas.microsoft.com/office/drawing/2014/main" id="{0621C7B9-1095-4FBB-BFE2-90A900CF2D6C}"/>
              </a:ext>
            </a:extLst>
          </p:cNvPr>
          <p:cNvPicPr>
            <a:picLocks noChangeAspect="1"/>
          </p:cNvPicPr>
          <p:nvPr/>
        </p:nvPicPr>
        <p:blipFill>
          <a:blip r:embed="rId3"/>
          <a:stretch>
            <a:fillRect/>
          </a:stretch>
        </p:blipFill>
        <p:spPr>
          <a:xfrm>
            <a:off x="0" y="2315413"/>
            <a:ext cx="9144000" cy="2227174"/>
          </a:xfrm>
          <a:prstGeom prst="rect">
            <a:avLst/>
          </a:prstGeom>
        </p:spPr>
      </p:pic>
    </p:spTree>
    <p:extLst>
      <p:ext uri="{BB962C8B-B14F-4D97-AF65-F5344CB8AC3E}">
        <p14:creationId xmlns:p14="http://schemas.microsoft.com/office/powerpoint/2010/main" val="285661950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1012AF-9907-4B62-8C76-F6B2C61E633B}"/>
              </a:ext>
            </a:extLst>
          </p:cNvPr>
          <p:cNvSpPr>
            <a:spLocks noGrp="1"/>
          </p:cNvSpPr>
          <p:nvPr>
            <p:ph type="title"/>
          </p:nvPr>
        </p:nvSpPr>
        <p:spPr/>
        <p:txBody>
          <a:bodyPr/>
          <a:lstStyle/>
          <a:p>
            <a:r>
              <a:rPr lang="en-US" altLang="zh-TW" dirty="0"/>
              <a:t>Know Algorithms</a:t>
            </a:r>
            <a:endParaRPr lang="zh-TW" altLang="en-US" dirty="0"/>
          </a:p>
        </p:txBody>
      </p:sp>
      <p:sp>
        <p:nvSpPr>
          <p:cNvPr id="3" name="內容版面配置區 2">
            <a:extLst>
              <a:ext uri="{FF2B5EF4-FFF2-40B4-BE49-F238E27FC236}">
                <a16:creationId xmlns:a16="http://schemas.microsoft.com/office/drawing/2014/main" id="{4B4407BC-B5CD-4AAC-B227-F28901F0A2D5}"/>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A2DCDAD6-0A38-4D2B-8963-F84621720790}"/>
              </a:ext>
            </a:extLst>
          </p:cNvPr>
          <p:cNvPicPr>
            <a:picLocks noChangeAspect="1"/>
          </p:cNvPicPr>
          <p:nvPr/>
        </p:nvPicPr>
        <p:blipFill>
          <a:blip r:embed="rId2"/>
          <a:stretch>
            <a:fillRect/>
          </a:stretch>
        </p:blipFill>
        <p:spPr>
          <a:xfrm>
            <a:off x="1979712" y="1417638"/>
            <a:ext cx="5544616" cy="5191125"/>
          </a:xfrm>
          <a:prstGeom prst="rect">
            <a:avLst/>
          </a:prstGeom>
        </p:spPr>
      </p:pic>
    </p:spTree>
    <p:extLst>
      <p:ext uri="{BB962C8B-B14F-4D97-AF65-F5344CB8AC3E}">
        <p14:creationId xmlns:p14="http://schemas.microsoft.com/office/powerpoint/2010/main" val="35379297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19678C-CA55-476B-8E42-16A9FBCA1952}"/>
              </a:ext>
            </a:extLst>
          </p:cNvPr>
          <p:cNvSpPr>
            <a:spLocks noGrp="1"/>
          </p:cNvSpPr>
          <p:nvPr>
            <p:ph type="title"/>
          </p:nvPr>
        </p:nvSpPr>
        <p:spPr/>
        <p:txBody>
          <a:bodyPr/>
          <a:lstStyle/>
          <a:p>
            <a:r>
              <a:rPr lang="en-US" altLang="zh-TW" dirty="0"/>
              <a:t>Parameter </a:t>
            </a:r>
            <a:r>
              <a:rPr lang="en-US" altLang="zh-TW" dirty="0" err="1"/>
              <a:t>Realation</a:t>
            </a:r>
            <a:endParaRPr lang="zh-TW" altLang="en-US" dirty="0"/>
          </a:p>
        </p:txBody>
      </p:sp>
      <p:pic>
        <p:nvPicPr>
          <p:cNvPr id="13" name="內容版面配置區 12">
            <a:extLst>
              <a:ext uri="{FF2B5EF4-FFF2-40B4-BE49-F238E27FC236}">
                <a16:creationId xmlns:a16="http://schemas.microsoft.com/office/drawing/2014/main" id="{B921FBB8-032C-4FF2-9B50-1EBDD391BF1B}"/>
              </a:ext>
            </a:extLst>
          </p:cNvPr>
          <p:cNvPicPr>
            <a:picLocks noGrp="1" noChangeAspect="1"/>
          </p:cNvPicPr>
          <p:nvPr>
            <p:ph idx="1"/>
          </p:nvPr>
        </p:nvPicPr>
        <p:blipFill>
          <a:blip r:embed="rId3"/>
          <a:stretch>
            <a:fillRect/>
          </a:stretch>
        </p:blipFill>
        <p:spPr>
          <a:xfrm>
            <a:off x="102081" y="1417638"/>
            <a:ext cx="8862407" cy="5318051"/>
          </a:xfrm>
        </p:spPr>
      </p:pic>
      <p:pic>
        <p:nvPicPr>
          <p:cNvPr id="15" name="圖片 14">
            <a:extLst>
              <a:ext uri="{FF2B5EF4-FFF2-40B4-BE49-F238E27FC236}">
                <a16:creationId xmlns:a16="http://schemas.microsoft.com/office/drawing/2014/main" id="{28867915-0CB7-4439-93AC-32FC6D30F3FE}"/>
              </a:ext>
            </a:extLst>
          </p:cNvPr>
          <p:cNvPicPr>
            <a:picLocks noChangeAspect="1"/>
          </p:cNvPicPr>
          <p:nvPr/>
        </p:nvPicPr>
        <p:blipFill>
          <a:blip r:embed="rId4"/>
          <a:stretch>
            <a:fillRect/>
          </a:stretch>
        </p:blipFill>
        <p:spPr>
          <a:xfrm>
            <a:off x="4572000" y="1449656"/>
            <a:ext cx="4360113" cy="1795341"/>
          </a:xfrm>
          <a:prstGeom prst="rect">
            <a:avLst/>
          </a:prstGeom>
        </p:spPr>
      </p:pic>
    </p:spTree>
    <p:extLst>
      <p:ext uri="{BB962C8B-B14F-4D97-AF65-F5344CB8AC3E}">
        <p14:creationId xmlns:p14="http://schemas.microsoft.com/office/powerpoint/2010/main" val="305803678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A2DCDAD6-0A38-4D2B-8963-F84621720790}"/>
              </a:ext>
            </a:extLst>
          </p:cNvPr>
          <p:cNvPicPr>
            <a:picLocks noChangeAspect="1"/>
          </p:cNvPicPr>
          <p:nvPr/>
        </p:nvPicPr>
        <p:blipFill>
          <a:blip r:embed="rId3"/>
          <a:stretch>
            <a:fillRect/>
          </a:stretch>
        </p:blipFill>
        <p:spPr>
          <a:xfrm>
            <a:off x="1763688" y="862704"/>
            <a:ext cx="5544616" cy="5191125"/>
          </a:xfrm>
          <a:prstGeom prst="rect">
            <a:avLst/>
          </a:prstGeom>
        </p:spPr>
      </p:pic>
      <p:sp>
        <p:nvSpPr>
          <p:cNvPr id="2" name="標題 1">
            <a:extLst>
              <a:ext uri="{FF2B5EF4-FFF2-40B4-BE49-F238E27FC236}">
                <a16:creationId xmlns:a16="http://schemas.microsoft.com/office/drawing/2014/main" id="{9F1012AF-9907-4B62-8C76-F6B2C61E633B}"/>
              </a:ext>
            </a:extLst>
          </p:cNvPr>
          <p:cNvSpPr>
            <a:spLocks noGrp="1"/>
          </p:cNvSpPr>
          <p:nvPr>
            <p:ph type="title"/>
          </p:nvPr>
        </p:nvSpPr>
        <p:spPr>
          <a:xfrm>
            <a:off x="457200" y="-45200"/>
            <a:ext cx="8229600" cy="1030985"/>
          </a:xfrm>
        </p:spPr>
        <p:txBody>
          <a:bodyPr/>
          <a:lstStyle/>
          <a:p>
            <a:r>
              <a:rPr lang="en-US" altLang="zh-TW" dirty="0"/>
              <a:t>Know algorithms</a:t>
            </a:r>
            <a:endParaRPr lang="zh-TW" altLang="en-US" dirty="0"/>
          </a:p>
        </p:txBody>
      </p:sp>
      <p:pic>
        <p:nvPicPr>
          <p:cNvPr id="11" name="內容版面配置區 10" descr="關閉 以實心填滿">
            <a:extLst>
              <a:ext uri="{FF2B5EF4-FFF2-40B4-BE49-F238E27FC236}">
                <a16:creationId xmlns:a16="http://schemas.microsoft.com/office/drawing/2014/main" id="{384C660B-DDE1-496C-BDFF-593744A25911}"/>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67744" y="836712"/>
            <a:ext cx="914400" cy="914400"/>
          </a:xfrm>
        </p:spPr>
      </p:pic>
      <p:cxnSp>
        <p:nvCxnSpPr>
          <p:cNvPr id="20" name="直線單箭頭接點 19">
            <a:extLst>
              <a:ext uri="{FF2B5EF4-FFF2-40B4-BE49-F238E27FC236}">
                <a16:creationId xmlns:a16="http://schemas.microsoft.com/office/drawing/2014/main" id="{123B262C-5851-4F30-ADCD-8FB1CF12CE4C}"/>
              </a:ext>
            </a:extLst>
          </p:cNvPr>
          <p:cNvCxnSpPr/>
          <p:nvPr/>
        </p:nvCxnSpPr>
        <p:spPr>
          <a:xfrm flipV="1">
            <a:off x="2627784" y="1597630"/>
            <a:ext cx="0" cy="1008112"/>
          </a:xfrm>
          <a:prstGeom prst="straightConnector1">
            <a:avLst/>
          </a:prstGeom>
          <a:ln>
            <a:solidFill>
              <a:srgbClr val="92D050"/>
            </a:solidFill>
            <a:tailEnd type="triangle"/>
          </a:ln>
        </p:spPr>
        <p:style>
          <a:lnRef idx="3">
            <a:schemeClr val="accent3"/>
          </a:lnRef>
          <a:fillRef idx="0">
            <a:schemeClr val="accent3"/>
          </a:fillRef>
          <a:effectRef idx="2">
            <a:schemeClr val="accent3"/>
          </a:effectRef>
          <a:fontRef idx="minor">
            <a:schemeClr val="tx1"/>
          </a:fontRef>
        </p:style>
      </p:cxnSp>
      <p:pic>
        <p:nvPicPr>
          <p:cNvPr id="21" name="內容版面配置區 10" descr="關閉 以實心填滿">
            <a:extLst>
              <a:ext uri="{FF2B5EF4-FFF2-40B4-BE49-F238E27FC236}">
                <a16:creationId xmlns:a16="http://schemas.microsoft.com/office/drawing/2014/main" id="{72005718-E96D-40D9-8E57-B994A2A3B5D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653524" y="1716653"/>
            <a:ext cx="914400" cy="914400"/>
          </a:xfrm>
          <a:prstGeom prst="rect">
            <a:avLst/>
          </a:prstGeom>
        </p:spPr>
      </p:pic>
      <p:cxnSp>
        <p:nvCxnSpPr>
          <p:cNvPr id="22" name="直線單箭頭接點 21">
            <a:extLst>
              <a:ext uri="{FF2B5EF4-FFF2-40B4-BE49-F238E27FC236}">
                <a16:creationId xmlns:a16="http://schemas.microsoft.com/office/drawing/2014/main" id="{51D9E02B-7D99-44E6-AFB9-A6B8A3455EF6}"/>
              </a:ext>
            </a:extLst>
          </p:cNvPr>
          <p:cNvCxnSpPr>
            <a:cxnSpLocks/>
          </p:cNvCxnSpPr>
          <p:nvPr/>
        </p:nvCxnSpPr>
        <p:spPr>
          <a:xfrm flipV="1">
            <a:off x="3013564" y="2477571"/>
            <a:ext cx="0" cy="1784355"/>
          </a:xfrm>
          <a:prstGeom prst="straightConnector1">
            <a:avLst/>
          </a:prstGeom>
          <a:ln>
            <a:solidFill>
              <a:srgbClr val="92D050"/>
            </a:solidFill>
            <a:tailEnd type="triangle"/>
          </a:ln>
        </p:spPr>
        <p:style>
          <a:lnRef idx="3">
            <a:schemeClr val="accent3"/>
          </a:lnRef>
          <a:fillRef idx="0">
            <a:schemeClr val="accent3"/>
          </a:fillRef>
          <a:effectRef idx="2">
            <a:schemeClr val="accent3"/>
          </a:effectRef>
          <a:fontRef idx="minor">
            <a:schemeClr val="tx1"/>
          </a:fontRef>
        </p:style>
      </p:cxnSp>
      <p:pic>
        <p:nvPicPr>
          <p:cNvPr id="24" name="內容版面配置區 10" descr="關閉 以實心填滿">
            <a:extLst>
              <a:ext uri="{FF2B5EF4-FFF2-40B4-BE49-F238E27FC236}">
                <a16:creationId xmlns:a16="http://schemas.microsoft.com/office/drawing/2014/main" id="{3DD59A7B-5E5C-4A10-89C9-CB16CB9E81E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70371" y="3151921"/>
            <a:ext cx="1223545" cy="914400"/>
          </a:xfrm>
          <a:prstGeom prst="rect">
            <a:avLst/>
          </a:prstGeom>
        </p:spPr>
      </p:pic>
      <p:cxnSp>
        <p:nvCxnSpPr>
          <p:cNvPr id="25" name="直線單箭頭接點 24">
            <a:extLst>
              <a:ext uri="{FF2B5EF4-FFF2-40B4-BE49-F238E27FC236}">
                <a16:creationId xmlns:a16="http://schemas.microsoft.com/office/drawing/2014/main" id="{202C592F-7B7F-409B-8483-F830D08915E1}"/>
              </a:ext>
            </a:extLst>
          </p:cNvPr>
          <p:cNvCxnSpPr>
            <a:cxnSpLocks/>
          </p:cNvCxnSpPr>
          <p:nvPr/>
        </p:nvCxnSpPr>
        <p:spPr>
          <a:xfrm flipV="1">
            <a:off x="2724944" y="3870717"/>
            <a:ext cx="0" cy="391209"/>
          </a:xfrm>
          <a:prstGeom prst="straightConnector1">
            <a:avLst/>
          </a:prstGeom>
          <a:ln>
            <a:solidFill>
              <a:srgbClr val="92D050"/>
            </a:solidFill>
            <a:tailEnd type="triangle"/>
          </a:ln>
        </p:spPr>
        <p:style>
          <a:lnRef idx="3">
            <a:schemeClr val="accent3"/>
          </a:lnRef>
          <a:fillRef idx="0">
            <a:schemeClr val="accent3"/>
          </a:fillRef>
          <a:effectRef idx="2">
            <a:schemeClr val="accent3"/>
          </a:effectRef>
          <a:fontRef idx="minor">
            <a:schemeClr val="tx1"/>
          </a:fontRef>
        </p:style>
      </p:cxnSp>
      <p:pic>
        <p:nvPicPr>
          <p:cNvPr id="30" name="圖片 29">
            <a:extLst>
              <a:ext uri="{FF2B5EF4-FFF2-40B4-BE49-F238E27FC236}">
                <a16:creationId xmlns:a16="http://schemas.microsoft.com/office/drawing/2014/main" id="{7005B0E0-6124-48A8-90E4-E3F6ADE8F989}"/>
              </a:ext>
            </a:extLst>
          </p:cNvPr>
          <p:cNvPicPr>
            <a:picLocks noChangeAspect="1"/>
          </p:cNvPicPr>
          <p:nvPr/>
        </p:nvPicPr>
        <p:blipFill>
          <a:blip r:embed="rId6"/>
          <a:stretch>
            <a:fillRect/>
          </a:stretch>
        </p:blipFill>
        <p:spPr>
          <a:xfrm>
            <a:off x="735521" y="5775257"/>
            <a:ext cx="7600950" cy="914400"/>
          </a:xfrm>
          <a:prstGeom prst="rect">
            <a:avLst/>
          </a:prstGeom>
        </p:spPr>
      </p:pic>
    </p:spTree>
    <p:extLst>
      <p:ext uri="{BB962C8B-B14F-4D97-AF65-F5344CB8AC3E}">
        <p14:creationId xmlns:p14="http://schemas.microsoft.com/office/powerpoint/2010/main" val="389363762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ppt_x"/>
                                          </p:val>
                                        </p:tav>
                                        <p:tav tm="100000">
                                          <p:val>
                                            <p:strVal val="#ppt_x"/>
                                          </p:val>
                                        </p:tav>
                                      </p:tavLst>
                                    </p:anim>
                                    <p:anim calcmode="lin" valueType="num">
                                      <p:cBhvr additive="base">
                                        <p:cTn id="18" dur="500" fill="hold"/>
                                        <p:tgtEl>
                                          <p:spTgt spid="21"/>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ppt_x"/>
                                          </p:val>
                                        </p:tav>
                                        <p:tav tm="100000">
                                          <p:val>
                                            <p:strVal val="#ppt_x"/>
                                          </p:val>
                                        </p:tav>
                                      </p:tavLst>
                                    </p:anim>
                                    <p:anim calcmode="lin" valueType="num">
                                      <p:cBhvr additive="base">
                                        <p:cTn id="2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fill="hold"/>
                                        <p:tgtEl>
                                          <p:spTgt spid="30"/>
                                        </p:tgtEl>
                                        <p:attrNameLst>
                                          <p:attrName>ppt_x</p:attrName>
                                        </p:attrNameLst>
                                      </p:cBhvr>
                                      <p:tavLst>
                                        <p:tav tm="0">
                                          <p:val>
                                            <p:strVal val="#ppt_x"/>
                                          </p:val>
                                        </p:tav>
                                        <p:tav tm="100000">
                                          <p:val>
                                            <p:strVal val="#ppt_x"/>
                                          </p:val>
                                        </p:tav>
                                      </p:tavLst>
                                    </p:anim>
                                    <p:anim calcmode="lin" valueType="num">
                                      <p:cBhvr additive="base">
                                        <p:cTn id="3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CC8C50-3258-4003-9F0F-C94CFCEFCC5D}"/>
              </a:ext>
            </a:extLst>
          </p:cNvPr>
          <p:cNvSpPr>
            <a:spLocks noGrp="1"/>
          </p:cNvSpPr>
          <p:nvPr>
            <p:ph type="title"/>
          </p:nvPr>
        </p:nvSpPr>
        <p:spPr/>
        <p:txBody>
          <a:bodyPr/>
          <a:lstStyle/>
          <a:p>
            <a:r>
              <a:rPr lang="en-US" altLang="zh-TW" dirty="0"/>
              <a:t>Results for Alphabet Size</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B8E39C9-9F83-4B11-9DE4-41B48A289AB6}"/>
                  </a:ext>
                </a:extLst>
              </p:cNvPr>
              <p:cNvSpPr>
                <a:spLocks noGrp="1"/>
              </p:cNvSpPr>
              <p:nvPr>
                <p:ph idx="1"/>
              </p:nvPr>
            </p:nvSpPr>
            <p:spPr/>
            <p:txBody>
              <a:bodyPr/>
              <a:lstStyle/>
              <a:p>
                <a:r>
                  <a:rPr lang="en-US" altLang="zh-TW" dirty="0"/>
                  <a:t>|</a:t>
                </a:r>
                <a:r>
                  <a:rPr lang="el-GR" altLang="zh-TW" dirty="0"/>
                  <a:t>Σ| = 2</a:t>
                </a:r>
                <a:r>
                  <a:rPr lang="en-US" altLang="zh-TW" dirty="0"/>
                  <a:t>:</a:t>
                </a:r>
                <a14:m>
                  <m:oMath xmlns:m="http://schemas.openxmlformats.org/officeDocument/2006/math">
                    <m:acc>
                      <m:accPr>
                        <m:chr m:val="̃"/>
                        <m:ctrlPr>
                          <a:rPr lang="en-US" altLang="zh-TW" sz="3200" b="0" i="1" smtClean="0">
                            <a:solidFill>
                              <a:srgbClr val="836967"/>
                            </a:solidFill>
                            <a:effectLst/>
                            <a:latin typeface="Cambria Math" panose="02040503050406030204" pitchFamily="18" charset="0"/>
                          </a:rPr>
                        </m:ctrlPr>
                      </m:accPr>
                      <m:e>
                        <m:r>
                          <a:rPr lang="en-US" altLang="zh-TW" sz="3200" b="0" i="0" smtClean="0">
                            <a:effectLst/>
                            <a:latin typeface="Cambria Math" panose="02040503050406030204" pitchFamily="18" charset="0"/>
                          </a:rPr>
                          <m:t>𝑂</m:t>
                        </m:r>
                      </m:e>
                    </m:acc>
                    <m:d>
                      <m:dPr>
                        <m:ctrlPr>
                          <a:rPr lang="en-US" altLang="zh-TW" sz="3200" b="0" i="1" smtClean="0">
                            <a:solidFill>
                              <a:srgbClr val="836967"/>
                            </a:solidFill>
                            <a:effectLst/>
                            <a:latin typeface="Cambria Math" panose="02040503050406030204" pitchFamily="18" charset="0"/>
                          </a:rPr>
                        </m:ctrlPr>
                      </m:dPr>
                      <m:e>
                        <m:r>
                          <a:rPr lang="en-US" altLang="zh-TW" sz="3200" b="0" i="0" smtClean="0">
                            <a:effectLst/>
                            <a:latin typeface="Cambria Math" panose="02040503050406030204" pitchFamily="18" charset="0"/>
                          </a:rPr>
                          <m:t>𝑛</m:t>
                        </m:r>
                        <m:r>
                          <a:rPr lang="en-US" altLang="zh-TW" sz="3200" b="0" i="0" smtClean="0">
                            <a:effectLst/>
                            <a:latin typeface="Cambria Math" panose="02040503050406030204" pitchFamily="18" charset="0"/>
                          </a:rPr>
                          <m:t>+</m:t>
                        </m:r>
                        <m:r>
                          <a:rPr lang="en-US" altLang="zh-TW" sz="3200" b="0" i="0" smtClean="0">
                            <a:effectLst/>
                            <a:latin typeface="Cambria Math" panose="02040503050406030204" pitchFamily="18" charset="0"/>
                          </a:rPr>
                          <m:t>𝛿</m:t>
                        </m:r>
                        <m:r>
                          <m:rPr>
                            <m:sty m:val="p"/>
                          </m:rPr>
                          <a:rPr lang="en-US" altLang="zh-TW" sz="3200" b="0" i="0" smtClean="0">
                            <a:effectLst/>
                            <a:latin typeface="Cambria Math" panose="02040503050406030204" pitchFamily="18" charset="0"/>
                          </a:rPr>
                          <m:t>M</m:t>
                        </m:r>
                        <m:r>
                          <a:rPr lang="en-US" altLang="zh-TW" sz="3200" b="0" i="0" smtClean="0">
                            <a:effectLst/>
                            <a:latin typeface="Cambria Math" panose="02040503050406030204" pitchFamily="18" charset="0"/>
                          </a:rPr>
                          <m:t>/</m:t>
                        </m:r>
                        <m:r>
                          <m:rPr>
                            <m:sty m:val="p"/>
                          </m:rPr>
                          <a:rPr lang="en-US" altLang="zh-TW" sz="3200" b="0" i="0" smtClean="0">
                            <a:effectLst/>
                            <a:latin typeface="Cambria Math" panose="02040503050406030204" pitchFamily="18" charset="0"/>
                          </a:rPr>
                          <m:t>n</m:t>
                        </m:r>
                      </m:e>
                    </m:d>
                  </m:oMath>
                </a14:m>
                <a:endParaRPr lang="en-US" altLang="zh-TW" sz="3200" b="0" dirty="0">
                  <a:effectLst/>
                </a:endParaRPr>
              </a:p>
              <a:p>
                <a:r>
                  <a:rPr lang="en-US" altLang="zh-TW" dirty="0"/>
                  <a:t>large alphabets:</a:t>
                </a:r>
                <a:r>
                  <a:rPr lang="en-US" altLang="zh-TW" sz="3200" b="0" dirty="0">
                    <a:solidFill>
                      <a:srgbClr val="836967"/>
                    </a:solidFill>
                    <a:effectLst/>
                  </a:rPr>
                  <a:t> </a:t>
                </a:r>
                <a14:m>
                  <m:oMath xmlns:m="http://schemas.openxmlformats.org/officeDocument/2006/math">
                    <m:acc>
                      <m:accPr>
                        <m:chr m:val="̃"/>
                        <m:ctrlPr>
                          <a:rPr lang="en-US" altLang="zh-TW" sz="3200" b="0" i="1" smtClean="0">
                            <a:solidFill>
                              <a:srgbClr val="836967"/>
                            </a:solidFill>
                            <a:effectLst/>
                            <a:latin typeface="Cambria Math" panose="02040503050406030204" pitchFamily="18" charset="0"/>
                          </a:rPr>
                        </m:ctrlPr>
                      </m:accPr>
                      <m:e>
                        <m:r>
                          <a:rPr lang="en-US" altLang="zh-TW" sz="3200" b="0" i="0" smtClean="0">
                            <a:effectLst/>
                            <a:latin typeface="Cambria Math" panose="02040503050406030204" pitchFamily="18" charset="0"/>
                          </a:rPr>
                          <m:t>𝑂</m:t>
                        </m:r>
                      </m:e>
                    </m:acc>
                    <m:d>
                      <m:dPr>
                        <m:ctrlPr>
                          <a:rPr lang="en-US" altLang="zh-TW" sz="3200" b="0" i="1" smtClean="0">
                            <a:solidFill>
                              <a:srgbClr val="836967"/>
                            </a:solidFill>
                            <a:effectLst/>
                            <a:latin typeface="Cambria Math" panose="02040503050406030204" pitchFamily="18" charset="0"/>
                          </a:rPr>
                        </m:ctrlPr>
                      </m:dPr>
                      <m:e>
                        <m:r>
                          <a:rPr lang="en-US" altLang="zh-TW" sz="3200" b="0" i="0" smtClean="0">
                            <a:effectLst/>
                            <a:latin typeface="Cambria Math" panose="02040503050406030204" pitchFamily="18" charset="0"/>
                          </a:rPr>
                          <m:t>𝑛</m:t>
                        </m:r>
                        <m:r>
                          <a:rPr lang="en-US" altLang="zh-TW" sz="3200" b="0" i="0" smtClean="0">
                            <a:effectLst/>
                            <a:latin typeface="Cambria Math" panose="02040503050406030204" pitchFamily="18" charset="0"/>
                          </a:rPr>
                          <m:t>+</m:t>
                        </m:r>
                        <m:r>
                          <m:rPr>
                            <m:sty m:val="p"/>
                          </m:rPr>
                          <a:rPr lang="en-US" altLang="zh-TW">
                            <a:latin typeface="Cambria Math" panose="02040503050406030204" pitchFamily="18" charset="0"/>
                          </a:rPr>
                          <m:t>min</m:t>
                        </m:r>
                        <m:r>
                          <a:rPr lang="en-US" altLang="zh-TW">
                            <a:latin typeface="Cambria Math" panose="02040503050406030204" pitchFamily="18" charset="0"/>
                          </a:rPr>
                          <m:t>(</m:t>
                        </m:r>
                        <m:r>
                          <m:rPr>
                            <m:sty m:val="p"/>
                          </m:rPr>
                          <a:rPr lang="en-US" altLang="zh-TW" b="0" i="0" smtClean="0">
                            <a:latin typeface="Cambria Math" panose="02040503050406030204" pitchFamily="18" charset="0"/>
                          </a:rPr>
                          <m:t>d</m:t>
                        </m:r>
                        <m:r>
                          <a:rPr lang="en-US" altLang="zh-TW" b="0" i="0" smtClean="0">
                            <a:latin typeface="Cambria Math" panose="02040503050406030204" pitchFamily="18" charset="0"/>
                          </a:rPr>
                          <m:t>,</m:t>
                        </m:r>
                        <m:r>
                          <a:rPr lang="en-US" altLang="zh-TW">
                            <a:latin typeface="Cambria Math" panose="02040503050406030204" pitchFamily="18" charset="0"/>
                          </a:rPr>
                          <m:t>𝛿</m:t>
                        </m:r>
                        <m:r>
                          <a:rPr lang="en-US" altLang="zh-TW" i="1">
                            <a:latin typeface="Cambria Math" panose="02040503050406030204" pitchFamily="18" charset="0"/>
                          </a:rPr>
                          <m:t>𝑚</m:t>
                        </m:r>
                        <m:r>
                          <a:rPr lang="en-US" altLang="zh-TW" b="0" i="0" smtClean="0">
                            <a:latin typeface="Cambria Math" panose="02040503050406030204" pitchFamily="18" charset="0"/>
                          </a:rPr>
                          <m:t>,</m:t>
                        </m:r>
                        <m:r>
                          <a:rPr lang="en-US" altLang="zh-TW">
                            <a:latin typeface="Cambria Math" panose="02040503050406030204" pitchFamily="18" charset="0"/>
                          </a:rPr>
                          <m:t>𝛿</m:t>
                        </m:r>
                        <m:r>
                          <m:rPr>
                            <m:sty m:val="p"/>
                          </m:rPr>
                          <a:rPr lang="zh-TW" altLang="en-US" dirty="0">
                            <a:latin typeface="Cambria Math" panose="02040503050406030204" pitchFamily="18" charset="0"/>
                          </a:rPr>
                          <m:t>Δ</m:t>
                        </m:r>
                        <m:r>
                          <a:rPr lang="en-US" altLang="zh-TW" b="0" i="0" dirty="0" smtClean="0">
                            <a:latin typeface="Cambria Math" panose="02040503050406030204" pitchFamily="18" charset="0"/>
                          </a:rPr>
                          <m:t>)</m:t>
                        </m:r>
                      </m:e>
                    </m:d>
                  </m:oMath>
                </a14:m>
                <a:endParaRPr lang="zh-TW" altLang="en-US" dirty="0"/>
              </a:p>
            </p:txBody>
          </p:sp>
        </mc:Choice>
        <mc:Fallback xmlns="">
          <p:sp>
            <p:nvSpPr>
              <p:cNvPr id="3" name="內容版面配置區 2">
                <a:extLst>
                  <a:ext uri="{FF2B5EF4-FFF2-40B4-BE49-F238E27FC236}">
                    <a16:creationId xmlns:a16="http://schemas.microsoft.com/office/drawing/2014/main" id="{2B8E39C9-9F83-4B11-9DE4-41B48A289AB6}"/>
                  </a:ext>
                </a:extLst>
              </p:cNvPr>
              <p:cNvSpPr>
                <a:spLocks noGrp="1" noRot="1" noChangeAspect="1" noMove="1" noResize="1" noEditPoints="1" noAdjustHandles="1" noChangeArrowheads="1" noChangeShapeType="1" noTextEdit="1"/>
              </p:cNvSpPr>
              <p:nvPr>
                <p:ph idx="1"/>
              </p:nvPr>
            </p:nvSpPr>
            <p:spPr>
              <a:blipFill>
                <a:blip r:embed="rId2"/>
                <a:stretch>
                  <a:fillRect l="-1704" t="-134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5525449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5F5ECE-9617-4653-94B5-A60EEF89DDAA}"/>
              </a:ext>
            </a:extLst>
          </p:cNvPr>
          <p:cNvSpPr>
            <a:spLocks noGrp="1"/>
          </p:cNvSpPr>
          <p:nvPr>
            <p:ph type="title"/>
          </p:nvPr>
        </p:nvSpPr>
        <p:spPr/>
        <p:txBody>
          <a:bodyPr/>
          <a:lstStyle/>
          <a:p>
            <a:r>
              <a:rPr lang="en-US" altLang="zh-TW" dirty="0"/>
              <a:t>Conclusion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6DF28E9-DB77-4C27-BF90-BDAF012BF6C5}"/>
                  </a:ext>
                </a:extLst>
              </p:cNvPr>
              <p:cNvSpPr>
                <a:spLocks noGrp="1"/>
              </p:cNvSpPr>
              <p:nvPr>
                <p:ph idx="1"/>
              </p:nvPr>
            </p:nvSpPr>
            <p:spPr/>
            <p:txBody>
              <a:bodyPr>
                <a:normAutofit/>
              </a:bodyPr>
              <a:lstStyle/>
              <a:p>
                <a:r>
                  <a:rPr lang="en-US" altLang="zh-TW" sz="2800" dirty="0">
                    <a:effectLst/>
                  </a:rPr>
                  <a:t>For </a:t>
                </a:r>
                <a14:m>
                  <m:oMath xmlns:m="http://schemas.openxmlformats.org/officeDocument/2006/math">
                    <m:r>
                      <a:rPr lang="en-US" altLang="zh-TW" sz="2800" i="1" smtClean="0">
                        <a:effectLst/>
                        <a:latin typeface="Cambria Math" panose="02040503050406030204" pitchFamily="18" charset="0"/>
                      </a:rPr>
                      <m:t>𝛴</m:t>
                    </m:r>
                    <m:r>
                      <a:rPr lang="en-US" altLang="zh-TW" sz="2800" i="0" smtClean="0">
                        <a:effectLst/>
                        <a:latin typeface="Cambria Math" panose="02040503050406030204" pitchFamily="18" charset="0"/>
                      </a:rPr>
                      <m:t>=</m:t>
                    </m:r>
                    <m:d>
                      <m:dPr>
                        <m:begChr m:val="{"/>
                        <m:endChr m:val="}"/>
                        <m:ctrlPr>
                          <a:rPr lang="en-US" altLang="zh-TW" sz="2800" i="1" smtClean="0">
                            <a:solidFill>
                              <a:srgbClr val="836967"/>
                            </a:solidFill>
                            <a:effectLst/>
                            <a:latin typeface="Cambria Math" panose="02040503050406030204" pitchFamily="18" charset="0"/>
                          </a:rPr>
                        </m:ctrlPr>
                      </m:dPr>
                      <m:e>
                        <m:r>
                          <a:rPr lang="en-US" altLang="zh-TW" sz="2800" i="0" smtClean="0">
                            <a:effectLst/>
                            <a:latin typeface="Cambria Math" panose="02040503050406030204" pitchFamily="18" charset="0"/>
                          </a:rPr>
                          <m:t>0,1</m:t>
                        </m:r>
                      </m:e>
                    </m:d>
                    <m:r>
                      <a:rPr lang="en-US" altLang="zh-TW" sz="2800" b="0" i="0" smtClean="0">
                        <a:effectLst/>
                        <a:latin typeface="Cambria Math" panose="02040503050406030204" pitchFamily="18" charset="0"/>
                      </a:rPr>
                      <m:t>,</m:t>
                    </m:r>
                    <m:r>
                      <m:rPr>
                        <m:sty m:val="p"/>
                      </m:rPr>
                      <a:rPr lang="en-US" altLang="zh-TW" sz="2800" b="0" i="0" smtClean="0">
                        <a:effectLst/>
                        <a:latin typeface="Cambria Math" panose="02040503050406030204" pitchFamily="18" charset="0"/>
                      </a:rPr>
                      <m:t>LCS</m:t>
                    </m:r>
                    <m:r>
                      <a:rPr lang="en-US" altLang="zh-TW" sz="2800" b="0" i="0" smtClean="0">
                        <a:effectLst/>
                        <a:latin typeface="Cambria Math" panose="02040503050406030204" pitchFamily="18" charset="0"/>
                      </a:rPr>
                      <m:t> </m:t>
                    </m:r>
                    <m:r>
                      <m:rPr>
                        <m:sty m:val="p"/>
                      </m:rPr>
                      <a:rPr lang="en-US" altLang="zh-TW" sz="2800" b="0" i="0" smtClean="0">
                        <a:effectLst/>
                        <a:latin typeface="Cambria Math" panose="02040503050406030204" pitchFamily="18" charset="0"/>
                      </a:rPr>
                      <m:t>has</m:t>
                    </m:r>
                    <m:r>
                      <a:rPr lang="en-US" altLang="zh-TW" sz="2800" b="0" i="0" smtClean="0">
                        <a:effectLst/>
                        <a:latin typeface="Cambria Math" panose="02040503050406030204" pitchFamily="18" charset="0"/>
                      </a:rPr>
                      <m:t> </m:t>
                    </m:r>
                    <m:r>
                      <m:rPr>
                        <m:sty m:val="p"/>
                      </m:rPr>
                      <a:rPr lang="en-US" altLang="zh-TW" sz="2800" b="0" i="0" smtClean="0">
                        <a:effectLst/>
                        <a:latin typeface="Cambria Math" panose="02040503050406030204" pitchFamily="18" charset="0"/>
                      </a:rPr>
                      <m:t>an</m:t>
                    </m:r>
                    <m:acc>
                      <m:accPr>
                        <m:chr m:val="̃"/>
                        <m:ctrlPr>
                          <a:rPr lang="en-US" altLang="zh-TW" sz="2800" b="0" i="1" smtClean="0">
                            <a:solidFill>
                              <a:srgbClr val="836967"/>
                            </a:solidFill>
                            <a:effectLst/>
                            <a:latin typeface="Cambria Math" panose="02040503050406030204" pitchFamily="18" charset="0"/>
                          </a:rPr>
                        </m:ctrlPr>
                      </m:accPr>
                      <m:e>
                        <m:r>
                          <a:rPr lang="en-US" altLang="zh-TW" sz="2800" b="0" i="0" smtClean="0">
                            <a:effectLst/>
                            <a:latin typeface="Cambria Math" panose="02040503050406030204" pitchFamily="18" charset="0"/>
                          </a:rPr>
                          <m:t>𝑂</m:t>
                        </m:r>
                      </m:e>
                    </m:acc>
                    <m:d>
                      <m:dPr>
                        <m:ctrlPr>
                          <a:rPr lang="en-US" altLang="zh-TW" sz="2800" b="0" i="1" smtClean="0">
                            <a:solidFill>
                              <a:srgbClr val="836967"/>
                            </a:solidFill>
                            <a:effectLst/>
                            <a:latin typeface="Cambria Math" panose="02040503050406030204" pitchFamily="18" charset="0"/>
                          </a:rPr>
                        </m:ctrlPr>
                      </m:dPr>
                      <m:e>
                        <m:r>
                          <a:rPr lang="en-US" altLang="zh-TW" sz="2800" b="0" i="0" smtClean="0">
                            <a:effectLst/>
                            <a:latin typeface="Cambria Math" panose="02040503050406030204" pitchFamily="18" charset="0"/>
                          </a:rPr>
                          <m:t>𝑛</m:t>
                        </m:r>
                        <m:r>
                          <a:rPr lang="en-US" altLang="zh-TW" sz="2800" b="0" i="0" smtClean="0">
                            <a:effectLst/>
                            <a:latin typeface="Cambria Math" panose="02040503050406030204" pitchFamily="18" charset="0"/>
                          </a:rPr>
                          <m:t>+</m:t>
                        </m:r>
                        <m:r>
                          <a:rPr lang="en-US" altLang="zh-TW" sz="2800" b="0" i="0" smtClean="0">
                            <a:effectLst/>
                            <a:latin typeface="Cambria Math" panose="02040503050406030204" pitchFamily="18" charset="0"/>
                          </a:rPr>
                          <m:t>𝛿</m:t>
                        </m:r>
                        <m:r>
                          <m:rPr>
                            <m:sty m:val="p"/>
                          </m:rPr>
                          <a:rPr lang="en-US" altLang="zh-TW" sz="2800" b="0" i="0" smtClean="0">
                            <a:effectLst/>
                            <a:latin typeface="Cambria Math" panose="02040503050406030204" pitchFamily="18" charset="0"/>
                          </a:rPr>
                          <m:t>M</m:t>
                        </m:r>
                        <m:r>
                          <a:rPr lang="en-US" altLang="zh-TW" sz="2800" b="0" i="0" smtClean="0">
                            <a:effectLst/>
                            <a:latin typeface="Cambria Math" panose="02040503050406030204" pitchFamily="18" charset="0"/>
                          </a:rPr>
                          <m:t>/</m:t>
                        </m:r>
                        <m:r>
                          <m:rPr>
                            <m:sty m:val="p"/>
                          </m:rPr>
                          <a:rPr lang="en-US" altLang="zh-TW" sz="2800" b="0" i="0" smtClean="0">
                            <a:effectLst/>
                            <a:latin typeface="Cambria Math" panose="02040503050406030204" pitchFamily="18" charset="0"/>
                          </a:rPr>
                          <m:t>n</m:t>
                        </m:r>
                      </m:e>
                    </m:d>
                    <m:r>
                      <a:rPr lang="en-US" altLang="zh-TW" sz="2800" b="0" i="0" smtClean="0">
                        <a:effectLst/>
                        <a:latin typeface="Cambria Math" panose="02040503050406030204" pitchFamily="18" charset="0"/>
                      </a:rPr>
                      <m:t> </m:t>
                    </m:r>
                    <m:r>
                      <m:rPr>
                        <m:sty m:val="p"/>
                      </m:rPr>
                      <a:rPr lang="en-US" altLang="zh-TW" sz="2800" b="0" i="0" smtClean="0">
                        <a:effectLst/>
                        <a:latin typeface="Cambria Math" panose="02040503050406030204" pitchFamily="18" charset="0"/>
                      </a:rPr>
                      <m:t>algorithm</m:t>
                    </m:r>
                    <m:r>
                      <a:rPr lang="en-US" altLang="zh-TW" sz="2800" b="0" i="0" smtClean="0">
                        <a:effectLst/>
                        <a:latin typeface="Cambria Math" panose="02040503050406030204" pitchFamily="18" charset="0"/>
                      </a:rPr>
                      <m:t>,  </m:t>
                    </m:r>
                  </m:oMath>
                </a14:m>
                <a:r>
                  <a:rPr lang="en-US" altLang="zh-TW" sz="2800" dirty="0">
                    <a:effectLst/>
                  </a:rPr>
                  <a:t>Unless SETH fails, there are no further polynomial improvements.</a:t>
                </a:r>
              </a:p>
              <a:p>
                <a:pPr marL="0" indent="0">
                  <a:buNone/>
                </a:pPr>
                <a:endParaRPr lang="en-US" altLang="zh-TW" sz="2800" dirty="0"/>
              </a:p>
              <a:p>
                <a:r>
                  <a:rPr lang="en-US" altLang="zh-TW" sz="2800" dirty="0">
                    <a:effectLst/>
                  </a:rPr>
                  <a:t>possible ways for improving LCS algorithms:</a:t>
                </a:r>
              </a:p>
              <a:p>
                <a:pPr marL="0" indent="0">
                  <a:buNone/>
                </a:pPr>
                <a:r>
                  <a:rPr lang="en-US" altLang="zh-TW" sz="2800" dirty="0">
                    <a:effectLst/>
                  </a:rPr>
                  <a:t>- new parameters?</a:t>
                </a:r>
              </a:p>
              <a:p>
                <a:pPr marL="0" indent="0">
                  <a:buNone/>
                </a:pPr>
                <a:r>
                  <a:rPr lang="en-US" altLang="zh-TW" sz="2800" dirty="0">
                    <a:effectLst/>
                  </a:rPr>
                  <a:t>- break SETH</a:t>
                </a:r>
              </a:p>
              <a:p>
                <a:pPr marL="0" indent="0">
                  <a:buNone/>
                </a:pPr>
                <a:r>
                  <a:rPr lang="en-US" altLang="zh-TW" sz="2800" dirty="0">
                    <a:effectLst/>
                  </a:rPr>
                  <a:t>- more </a:t>
                </a:r>
                <a:r>
                  <a:rPr lang="en-US" altLang="zh-TW" sz="2800" dirty="0" err="1">
                    <a:effectLst/>
                  </a:rPr>
                  <a:t>logfactor</a:t>
                </a:r>
                <a:r>
                  <a:rPr lang="en-US" altLang="zh-TW" sz="2800" dirty="0">
                    <a:effectLst/>
                  </a:rPr>
                  <a:t> improvements? </a:t>
                </a:r>
                <a:r>
                  <a:rPr lang="en-US" altLang="zh-TW" sz="2800" dirty="0" err="1">
                    <a:effectLst/>
                  </a:rPr>
                  <a:t>superpolylogarithmic</a:t>
                </a:r>
                <a:r>
                  <a:rPr lang="en-US" altLang="zh-TW" sz="2800" dirty="0">
                    <a:effectLst/>
                  </a:rPr>
                  <a:t> factors?</a:t>
                </a:r>
                <a:endParaRPr lang="zh-TW" altLang="en-US" sz="2800" dirty="0"/>
              </a:p>
            </p:txBody>
          </p:sp>
        </mc:Choice>
        <mc:Fallback xmlns="">
          <p:sp>
            <p:nvSpPr>
              <p:cNvPr id="3" name="內容版面配置區 2">
                <a:extLst>
                  <a:ext uri="{FF2B5EF4-FFF2-40B4-BE49-F238E27FC236}">
                    <a16:creationId xmlns:a16="http://schemas.microsoft.com/office/drawing/2014/main" id="{56DF28E9-DB77-4C27-BF90-BDAF012BF6C5}"/>
                  </a:ext>
                </a:extLst>
              </p:cNvPr>
              <p:cNvSpPr>
                <a:spLocks noGrp="1" noRot="1" noChangeAspect="1" noMove="1" noResize="1" noEditPoints="1" noAdjustHandles="1" noChangeArrowheads="1" noChangeShapeType="1" noTextEdit="1"/>
              </p:cNvSpPr>
              <p:nvPr>
                <p:ph idx="1"/>
              </p:nvPr>
            </p:nvSpPr>
            <p:spPr>
              <a:blipFill>
                <a:blip r:embed="rId3"/>
                <a:stretch>
                  <a:fillRect l="-1481" t="-1078" b="-27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9676861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C085D3-CD7E-4B64-BBE1-918070C63136}"/>
              </a:ext>
            </a:extLst>
          </p:cNvPr>
          <p:cNvSpPr>
            <a:spLocks noGrp="1"/>
          </p:cNvSpPr>
          <p:nvPr>
            <p:ph type="title"/>
          </p:nvPr>
        </p:nvSpPr>
        <p:spPr/>
        <p:txBody>
          <a:bodyPr/>
          <a:lstStyle/>
          <a:p>
            <a:r>
              <a:rPr lang="zh-TW" altLang="en-US" dirty="0"/>
              <a:t>參考資料</a:t>
            </a:r>
          </a:p>
        </p:txBody>
      </p:sp>
      <p:sp>
        <p:nvSpPr>
          <p:cNvPr id="3" name="內容版面配置區 2">
            <a:extLst>
              <a:ext uri="{FF2B5EF4-FFF2-40B4-BE49-F238E27FC236}">
                <a16:creationId xmlns:a16="http://schemas.microsoft.com/office/drawing/2014/main" id="{5F279B0F-44B9-4E10-AFF1-0B766601B247}"/>
              </a:ext>
            </a:extLst>
          </p:cNvPr>
          <p:cNvSpPr>
            <a:spLocks noGrp="1"/>
          </p:cNvSpPr>
          <p:nvPr>
            <p:ph idx="1"/>
          </p:nvPr>
        </p:nvSpPr>
        <p:spPr/>
        <p:txBody>
          <a:bodyPr/>
          <a:lstStyle/>
          <a:p>
            <a:r>
              <a:rPr lang="en-US" altLang="zh-TW" dirty="0">
                <a:hlinkClick r:id="rId3"/>
              </a:rPr>
              <a:t>https://www.youtube.com/watch?v=HN_ZV-LXZoI&amp;ab_channel=SimonsInstitute</a:t>
            </a:r>
            <a:endParaRPr lang="en-US" altLang="zh-TW" dirty="0"/>
          </a:p>
          <a:p>
            <a:r>
              <a:rPr lang="en-US" altLang="zh-TW" dirty="0">
                <a:hlinkClick r:id="rId4"/>
              </a:rPr>
              <a:t>https://www.youtube.com/watch?v=wQWZW6oIqn8&amp;t=410s&amp;ab_channel=IGAFIT</a:t>
            </a:r>
            <a:endParaRPr lang="en-US" altLang="zh-TW" dirty="0"/>
          </a:p>
          <a:p>
            <a:r>
              <a:rPr lang="en-US" altLang="zh-TW" dirty="0">
                <a:hlinkClick r:id="rId5"/>
              </a:rPr>
              <a:t>https://www.youtube.com/watch?v=XCoCiXIShyk&amp;ab_channel=SimonsInstitute</a:t>
            </a:r>
            <a:endParaRPr lang="en-US" altLang="zh-TW" dirty="0"/>
          </a:p>
          <a:p>
            <a:endParaRPr lang="en-US" altLang="zh-TW" dirty="0"/>
          </a:p>
          <a:p>
            <a:endParaRPr lang="en-US" altLang="zh-TW" dirty="0"/>
          </a:p>
          <a:p>
            <a:endParaRPr lang="zh-TW" altLang="en-US" dirty="0"/>
          </a:p>
        </p:txBody>
      </p:sp>
    </p:spTree>
    <p:extLst>
      <p:ext uri="{BB962C8B-B14F-4D97-AF65-F5344CB8AC3E}">
        <p14:creationId xmlns:p14="http://schemas.microsoft.com/office/powerpoint/2010/main" val="307726392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4941</TotalTime>
  <Words>1061</Words>
  <Application>Microsoft Office PowerPoint</Application>
  <PresentationFormat>如螢幕大小 (4:3)</PresentationFormat>
  <Paragraphs>60</Paragraphs>
  <Slides>15</Slides>
  <Notes>11</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15</vt:i4>
      </vt:variant>
    </vt:vector>
  </HeadingPairs>
  <TitlesOfParts>
    <vt:vector size="23" baseType="lpstr">
      <vt:lpstr>BlinkMacSystemFont</vt:lpstr>
      <vt:lpstr>Söhne</vt:lpstr>
      <vt:lpstr>Arial</vt:lpstr>
      <vt:lpstr>Calibri</vt:lpstr>
      <vt:lpstr>Cambria Math</vt:lpstr>
      <vt:lpstr>Merriweather Sans</vt:lpstr>
      <vt:lpstr>Times New Roman</vt:lpstr>
      <vt:lpstr>Office 佈景主題</vt:lpstr>
      <vt:lpstr>Multivariate Fine-Grained Complexity of Longest Common Subsequence </vt:lpstr>
      <vt:lpstr>Abstract(1/5)</vt:lpstr>
      <vt:lpstr>Abstract(2/5)</vt:lpstr>
      <vt:lpstr>Abstract(3/5)</vt:lpstr>
      <vt:lpstr>Abstract(4/5)</vt:lpstr>
      <vt:lpstr>Abstract(5/5)</vt:lpstr>
      <vt:lpstr>3-SAT</vt:lpstr>
      <vt:lpstr>Strong Exponential Time Hypothesis (SETH)</vt:lpstr>
      <vt:lpstr> 2-Orthogonal Vector Problem (OV)</vt:lpstr>
      <vt:lpstr>Know Algorithms</vt:lpstr>
      <vt:lpstr>Parameter Realation</vt:lpstr>
      <vt:lpstr>Know algorithms</vt:lpstr>
      <vt:lpstr>Results for Alphabet Size</vt:lpstr>
      <vt:lpstr>Conclusion</vt:lpstr>
      <vt:lpstr>參考資料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李健廷</dc:creator>
  <cp:lastModifiedBy>pplab</cp:lastModifiedBy>
  <cp:revision>309</cp:revision>
  <dcterms:created xsi:type="dcterms:W3CDTF">2022-02-04T17:32:31Z</dcterms:created>
  <dcterms:modified xsi:type="dcterms:W3CDTF">2022-12-15T10:35:23Z</dcterms:modified>
</cp:coreProperties>
</file>