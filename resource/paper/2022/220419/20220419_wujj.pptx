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1" r:id="rId4"/>
    <p:sldId id="264" r:id="rId5"/>
    <p:sldId id="266" r:id="rId6"/>
    <p:sldId id="267" r:id="rId7"/>
    <p:sldId id="269" r:id="rId8"/>
    <p:sldId id="268" r:id="rId9"/>
    <p:sldId id="271" r:id="rId10"/>
    <p:sldId id="272" r:id="rId11"/>
    <p:sldId id="270" r:id="rId12"/>
    <p:sldId id="262" r:id="rId13"/>
    <p:sldId id="263" r:id="rId14"/>
    <p:sldId id="258" r:id="rId15"/>
    <p:sldId id="273" r:id="rId16"/>
    <p:sldId id="265" r:id="rId17"/>
    <p:sldId id="259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1" autoAdjust="0"/>
    <p:restoredTop sz="88557" autoAdjust="0"/>
  </p:normalViewPr>
  <p:slideViewPr>
    <p:cSldViewPr snapToGrid="0">
      <p:cViewPr varScale="1">
        <p:scale>
          <a:sx n="95" d="100"/>
          <a:sy n="95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B9FC1-FE58-424E-8AC5-DEE507C4EBD2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306F-6B16-4233-B80E-0FCEFE6945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81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935~398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2306F-6B16-4233-B80E-0FCEFE6945F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563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 jump indicates that an edge can go from level l to level </a:t>
            </a:r>
            <a:r>
              <a:rPr lang="en-US" altLang="zh-TW" dirty="0" err="1"/>
              <a:t>l+jump</a:t>
            </a:r>
            <a:endParaRPr lang="en-US" altLang="zh-TW" dirty="0"/>
          </a:p>
          <a:p>
            <a:r>
              <a:rPr lang="en-US" altLang="zh-TW" dirty="0"/>
              <a:t>The regularity </a:t>
            </a:r>
            <a:r>
              <a:rPr lang="zh-TW" altLang="en-US" dirty="0"/>
              <a:t>每層</a:t>
            </a:r>
            <a:r>
              <a:rPr lang="en-US" altLang="zh-TW" dirty="0"/>
              <a:t>level </a:t>
            </a:r>
            <a:r>
              <a:rPr lang="zh-TW" altLang="en-US" dirty="0"/>
              <a:t>數量的均衡性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2306F-6B16-4233-B80E-0FCEFE6945F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544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有效ˊ時間表的百分比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2306F-6B16-4233-B80E-0FCEFE6945F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DA2FE-38A9-43C3-AE3E-3D7DC028C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28DA793-1ED9-4AC5-ADE6-717C6E441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6CD283-2E6E-45B0-AE40-0E032019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BFBBAF-E448-48D6-9C98-4F7ED65D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44C46B-486A-4EEB-AE91-FC848E31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76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56184D-7BA3-45BD-B790-90F61BE6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E43BFC-2DD2-4C4E-A3DC-B1498A5C7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2AF72A-38B9-4AAF-8A61-A362036F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9927B3-B328-427A-B723-042ACF31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4E6C5C-F026-4D4A-9396-A8E02D24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12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94A83-2AAB-4A5C-A410-587CB4BA1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E32E77-4D2E-4E74-A383-EA8A4FB5F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91082-4FBD-4622-B1DF-8A9487D0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F8BDE-A8F0-4DAC-99B2-50D2C007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8DC32A-8949-44F7-81E2-B83CF99B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96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06E30-2946-483D-B775-554A9636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3A773B-9F35-4E3D-A849-8D0145B8D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B11846-CABE-4EAB-BE62-420CD5D06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BEC952-B9F4-416C-BB41-8EE327AE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E91547-DAC4-4194-9975-1908B4FB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D607A5-83F1-4527-B1B7-BDF1CAEE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60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4347C-74DC-4CB0-AED7-83CE1D00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58F8-A4BE-4B24-8356-FDD0A3445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894F9C-30F3-4BB9-B5A6-A3AE00637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5A7371-F775-49D1-9F58-FCB95D2C1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B1B7DB5-49B1-46D6-BF9E-30B3944E8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A296A5A-46FE-4924-80F3-7CA1E954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7C630AC-DFE1-4D71-9917-19247C1F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B8C931-DB59-4526-8001-0E5FDF16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03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F63E41-CEC2-4F37-AAEA-7C0C0248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31E847-1C3E-4C63-AF56-AFC9B011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5085913-2E3E-4049-A848-946D845A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C93600-AC47-4BCE-9D50-108C888D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51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8C1A37-E1DB-4353-B8C2-449B11A0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F3463C6-00AC-42CC-B63E-8629A278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5053A4-6DC4-437D-8D38-E158378E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0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70F7FC-8574-4AD7-9C06-68F6FAE4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36714A-AF50-4099-93D9-86186ED92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DBC3B7-42ED-430E-B62F-657278DD7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E20C7E-F4DA-42C0-992D-55921307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43E935-5D8F-4668-9377-D6659857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B7D27C-5EF8-4572-89F2-8DBEEA27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20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067B3-FF39-49E4-9074-9B95C4A09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DD7DA6-20A5-4C3D-8DFC-2DB574562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86B126-0E5E-4052-A79B-6F1CCAFA1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EA2E1D-5A5F-40CA-A36D-A312BE08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647EB2-1087-4D45-AAC7-C04A5AEE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B460F0-2254-479E-BFB4-4D507B4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82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E3F87C-0C73-4569-942C-CF645187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5398C3-786C-4DCC-95AE-F79AB1877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EB9FB1-20EF-4708-BBDB-3E1BCF2C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7FD53-A757-40F6-9969-6E0434DA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E0B9B2-5181-4FAA-87DA-6AD57174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59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302A61-0C02-46CD-8DC8-BF9353212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6A379B-846E-46F8-BF6E-611A4DA0A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B5C4E5-BA35-4FF8-99C5-98F1A868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141E24-01B9-40CC-8B56-3E2DDCCD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F96409-420B-4CDB-9974-E92F79D3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69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0A74E0-49D5-4C60-9101-23AECDB0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EB5E8B-37F4-436E-B651-875A938BC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1E7728-55AD-4793-A9C1-1F9019CC3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2503F-1177-4A4E-8015-3B0661847685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280DE3-C4AF-4CC8-91A4-8EB5E22A5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0FD4E5-BD8C-43C9-959E-6AA435F71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DD259-B985-4EC1-B93C-0538084A7A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49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3053A-CC8D-454D-B92C-944C12D93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Budget Constrained Scheduling Algorithm for Workflow Applications</a:t>
            </a:r>
            <a:br>
              <a:rPr lang="en-US" altLang="zh-TW" sz="4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C10D15-19F7-4CBF-9DD4-97C7B525EA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3999" y="3829754"/>
            <a:ext cx="9519821" cy="120032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i="0" u="none" strike="noStrike" cap="none" normalizeH="0" baseline="0" dirty="0">
                <a:ln>
                  <a:noFill/>
                </a:ln>
                <a:effectLst/>
                <a:ea typeface="-apple-system"/>
              </a:rPr>
              <a:t>Hamid Arabnejad </a:t>
            </a:r>
            <a:r>
              <a:rPr lang="en-US" altLang="zh-TW" dirty="0">
                <a:ea typeface="-apple-system"/>
              </a:rPr>
              <a:t>and</a:t>
            </a:r>
            <a:r>
              <a:rPr kumimoji="0" lang="en-US" altLang="zh-TW" i="0" u="none" strike="noStrike" cap="none" normalizeH="0" baseline="0" dirty="0">
                <a:ln>
                  <a:noFill/>
                </a:ln>
                <a:effectLst/>
                <a:ea typeface="-apple-system"/>
              </a:rPr>
              <a:t> </a:t>
            </a:r>
            <a:r>
              <a:rPr kumimoji="0" lang="zh-TW" altLang="zh-TW" i="0" u="none" strike="noStrike" cap="none" normalizeH="0" baseline="0" dirty="0">
                <a:ln>
                  <a:noFill/>
                </a:ln>
                <a:effectLst/>
                <a:ea typeface="-apple-system"/>
              </a:rPr>
              <a:t>Jorge G. Barbosa</a:t>
            </a:r>
            <a:endParaRPr kumimoji="0" lang="en-US" altLang="zh-TW" i="0" u="none" strike="noStrike" cap="none" normalizeH="0" baseline="0" dirty="0">
              <a:ln>
                <a:noFill/>
              </a:ln>
              <a:effectLst/>
              <a:ea typeface="-apple-system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dirty="0">
                <a:effectLst/>
              </a:rPr>
              <a:t>Journal of Grid Computing, </a:t>
            </a:r>
            <a:r>
              <a:rPr lang="en-US" altLang="zh-TW" i="0" dirty="0">
                <a:effectLst/>
              </a:rPr>
              <a:t>volume 12, pages 665–679 (2014)</a:t>
            </a:r>
            <a:endParaRPr lang="en-US" altLang="zh-TW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89F7A4-828E-43B2-AB18-F66DF6A04D7C}"/>
              </a:ext>
            </a:extLst>
          </p:cNvPr>
          <p:cNvSpPr txBox="1"/>
          <p:nvPr/>
        </p:nvSpPr>
        <p:spPr>
          <a:xfrm>
            <a:off x="9249508" y="5257800"/>
            <a:ext cx="2486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Date: Apr. 19, 2022</a:t>
            </a:r>
          </a:p>
          <a:p>
            <a:r>
              <a:rPr lang="en-US" altLang="zh-TW" dirty="0"/>
              <a:t>Presenter: </a:t>
            </a:r>
            <a:r>
              <a:rPr lang="en-US" altLang="zh-TW" dirty="0" err="1"/>
              <a:t>Jue</a:t>
            </a:r>
            <a:r>
              <a:rPr lang="en-US" altLang="zh-TW" dirty="0"/>
              <a:t>-Jun Wu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83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CA87E-D991-48F7-8440-52379BDB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9CDCAB-E356-4020-AF9C-34733E62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229" y="1473693"/>
            <a:ext cx="10936550" cy="48541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b="0" i="0" dirty="0">
                <a:solidFill>
                  <a:srgbClr val="333333"/>
                </a:solidFill>
                <a:effectLst/>
              </a:rPr>
              <a:t>	Service-oriented computing has enabled a new method of service provisioning based on utility computing models, in which users consume services based on their Quality of Service (QoS) requirements. In such pay-per-use models, users are charged for services based on their usage and on the fulfilment of QoS constraints; execution time and cost are two common QoS requirements. Therefore, to produce effective scheduling maps, service pricing must be considered while </a:t>
            </a:r>
            <a:r>
              <a:rPr lang="en-US" altLang="zh-TW" b="0" i="0" dirty="0" err="1">
                <a:solidFill>
                  <a:srgbClr val="333333"/>
                </a:solidFill>
                <a:effectLst/>
              </a:rPr>
              <a:t>optimising</a:t>
            </a:r>
            <a:r>
              <a:rPr lang="en-US" altLang="zh-TW" b="0" i="0" dirty="0">
                <a:solidFill>
                  <a:srgbClr val="333333"/>
                </a:solidFill>
                <a:effectLst/>
              </a:rPr>
              <a:t> execution performance. In this paper, we propose a Heterogeneous Budget Constrained Scheduling (HBCS) algorithm that guarantees an execution cost within the user’s specified budget and that </a:t>
            </a:r>
            <a:r>
              <a:rPr lang="en-US" altLang="zh-TW" b="0" i="0" dirty="0" err="1">
                <a:solidFill>
                  <a:srgbClr val="333333"/>
                </a:solidFill>
                <a:effectLst/>
              </a:rPr>
              <a:t>minimises</a:t>
            </a:r>
            <a:r>
              <a:rPr lang="en-US" altLang="zh-TW" b="0" i="0" dirty="0">
                <a:solidFill>
                  <a:srgbClr val="333333"/>
                </a:solidFill>
                <a:effectLst/>
              </a:rPr>
              <a:t> the execution time of the user’s application. The results presented show that our algorithm achieves lower </a:t>
            </a:r>
            <a:r>
              <a:rPr lang="en-US" altLang="zh-TW" b="0" i="0" dirty="0" err="1">
                <a:solidFill>
                  <a:srgbClr val="333333"/>
                </a:solidFill>
                <a:effectLst/>
              </a:rPr>
              <a:t>makespans</a:t>
            </a:r>
            <a:r>
              <a:rPr lang="en-US" altLang="zh-TW" b="0" i="0" dirty="0">
                <a:solidFill>
                  <a:srgbClr val="333333"/>
                </a:solidFill>
                <a:effectLst/>
              </a:rPr>
              <a:t>, with a guaranteed cost per application and with a lower time complexity than other budget-constrained state-of-the-art algorithms. The improvements are particularly high for more heterogeneous systems, in which a reduction of 30 % in execution time was achieved while maintaining the same budget level.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68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44CC3B-8E9B-4941-A2A4-C41AC023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494"/>
            <a:ext cx="10515600" cy="1325563"/>
          </a:xfrm>
        </p:spPr>
        <p:txBody>
          <a:bodyPr/>
          <a:lstStyle/>
          <a:p>
            <a:r>
              <a:rPr lang="en-US" altLang="zh-TW" dirty="0"/>
              <a:t>HEFT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95F754F8-1E12-435D-947E-03D135186AC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65126303"/>
                  </p:ext>
                </p:extLst>
              </p:nvPr>
            </p:nvGraphicFramePr>
            <p:xfrm>
              <a:off x="341644" y="1714169"/>
              <a:ext cx="5907208" cy="4732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6382">
                      <a:extLst>
                        <a:ext uri="{9D8B030D-6E8A-4147-A177-3AD203B41FA5}">
                          <a16:colId xmlns:a16="http://schemas.microsoft.com/office/drawing/2014/main" val="2166092826"/>
                        </a:ext>
                      </a:extLst>
                    </a:gridCol>
                    <a:gridCol w="1326382">
                      <a:extLst>
                        <a:ext uri="{9D8B030D-6E8A-4147-A177-3AD203B41FA5}">
                          <a16:colId xmlns:a16="http://schemas.microsoft.com/office/drawing/2014/main" val="818820699"/>
                        </a:ext>
                      </a:extLst>
                    </a:gridCol>
                    <a:gridCol w="1868994">
                      <a:extLst>
                        <a:ext uri="{9D8B030D-6E8A-4147-A177-3AD203B41FA5}">
                          <a16:colId xmlns:a16="http://schemas.microsoft.com/office/drawing/2014/main" val="332862530"/>
                        </a:ext>
                      </a:extLst>
                    </a:gridCol>
                    <a:gridCol w="1385450">
                      <a:extLst>
                        <a:ext uri="{9D8B030D-6E8A-4147-A177-3AD203B41FA5}">
                          <a16:colId xmlns:a16="http://schemas.microsoft.com/office/drawing/2014/main" val="2476718849"/>
                        </a:ext>
                      </a:extLst>
                    </a:gridCol>
                  </a:tblGrid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task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TW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TW" alt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8814917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18+76.8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107.8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5082121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19+35.6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71.2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76.8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8561958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23+42.6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072560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27+35.6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23+44.2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75.2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79.9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5363942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68.2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2722059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15+35.6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0192023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17+14.6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5862576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11+16.6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35.6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6254203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13+14.3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0272218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73421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95F754F8-1E12-435D-947E-03D135186AC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65126303"/>
                  </p:ext>
                </p:extLst>
              </p:nvPr>
            </p:nvGraphicFramePr>
            <p:xfrm>
              <a:off x="341644" y="1714169"/>
              <a:ext cx="5907208" cy="4732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6382">
                      <a:extLst>
                        <a:ext uri="{9D8B030D-6E8A-4147-A177-3AD203B41FA5}">
                          <a16:colId xmlns:a16="http://schemas.microsoft.com/office/drawing/2014/main" val="2166092826"/>
                        </a:ext>
                      </a:extLst>
                    </a:gridCol>
                    <a:gridCol w="1326382">
                      <a:extLst>
                        <a:ext uri="{9D8B030D-6E8A-4147-A177-3AD203B41FA5}">
                          <a16:colId xmlns:a16="http://schemas.microsoft.com/office/drawing/2014/main" val="818820699"/>
                        </a:ext>
                      </a:extLst>
                    </a:gridCol>
                    <a:gridCol w="1868994">
                      <a:extLst>
                        <a:ext uri="{9D8B030D-6E8A-4147-A177-3AD203B41FA5}">
                          <a16:colId xmlns:a16="http://schemas.microsoft.com/office/drawing/2014/main" val="332862530"/>
                        </a:ext>
                      </a:extLst>
                    </a:gridCol>
                    <a:gridCol w="1385450">
                      <a:extLst>
                        <a:ext uri="{9D8B030D-6E8A-4147-A177-3AD203B41FA5}">
                          <a16:colId xmlns:a16="http://schemas.microsoft.com/office/drawing/2014/main" val="2476718849"/>
                        </a:ext>
                      </a:extLst>
                    </a:gridCol>
                  </a:tblGrid>
                  <a:tr h="387858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task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9" t="-7813" r="-245872" b="-1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345" t="-7813" r="-74593" b="-1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7753" t="-7813" r="-881" b="-1134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8814917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18+76.8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107.8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508212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19+35.6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71.2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76.8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8561958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23+42.6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0725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27+35.6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23+44.2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75.2</a:t>
                          </a:r>
                        </a:p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79.9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5363942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13+44.2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68.2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2722059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15+35.6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63.2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0192023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17+14.6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42.6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5862576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11+16.6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35.6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6254203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13+14.3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44.2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0272218"/>
                      </a:ext>
                    </a:extLst>
                  </a:tr>
                  <a:tr h="383107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14.6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734212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DCC9BE4A-AC2B-4400-A827-703C5F6B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74" y="1"/>
            <a:ext cx="4230333" cy="315518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F5515C-49D5-46B6-A05A-2AB189C7C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12" y="3339056"/>
            <a:ext cx="2816888" cy="35189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CFB866D-C0E4-40D5-B001-227EF948D5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t="25324" r="561"/>
          <a:stretch/>
        </p:blipFill>
        <p:spPr>
          <a:xfrm>
            <a:off x="341644" y="974690"/>
            <a:ext cx="5114611" cy="62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02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396AACC8-4326-4425-AF57-7698A8123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74" y="1545362"/>
            <a:ext cx="5283016" cy="452190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D1F52D-A268-49D6-995E-D1AA1E61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7E73F7F-59CE-476B-B04B-F945B641EAFC}"/>
              </a:ext>
            </a:extLst>
          </p:cNvPr>
          <p:cNvGrpSpPr/>
          <p:nvPr/>
        </p:nvGrpSpPr>
        <p:grpSpPr>
          <a:xfrm>
            <a:off x="7449882" y="2181136"/>
            <a:ext cx="3799525" cy="3503052"/>
            <a:chOff x="7449882" y="2181136"/>
            <a:chExt cx="3799525" cy="3503052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7F117A96-B37A-463D-ACB9-D0990649F3C2}"/>
                </a:ext>
              </a:extLst>
            </p:cNvPr>
            <p:cNvGrpSpPr/>
            <p:nvPr/>
          </p:nvGrpSpPr>
          <p:grpSpPr>
            <a:xfrm>
              <a:off x="7449882" y="2181136"/>
              <a:ext cx="3797305" cy="2465946"/>
              <a:chOff x="7449882" y="2181136"/>
              <a:chExt cx="3797305" cy="2465946"/>
            </a:xfrm>
          </p:grpSpPr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91191D-1590-4C48-A0A1-66E360C99096}"/>
                  </a:ext>
                </a:extLst>
              </p:cNvPr>
              <p:cNvSpPr txBox="1"/>
              <p:nvPr/>
            </p:nvSpPr>
            <p:spPr>
              <a:xfrm>
                <a:off x="9021477" y="2181136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t10</a:t>
                </a:r>
                <a:endParaRPr lang="zh-TW" altLang="en-US" dirty="0"/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8029322-851F-49BC-A540-7DF04D0A2452}"/>
                  </a:ext>
                </a:extLst>
              </p:cNvPr>
              <p:cNvSpPr txBox="1"/>
              <p:nvPr/>
            </p:nvSpPr>
            <p:spPr>
              <a:xfrm>
                <a:off x="7449882" y="3187784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t9</a:t>
                </a:r>
                <a:endParaRPr lang="zh-TW" altLang="en-US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C23CE4E-B330-4849-92B4-BA8B4E420E53}"/>
                  </a:ext>
                </a:extLst>
              </p:cNvPr>
              <p:cNvSpPr txBox="1"/>
              <p:nvPr/>
            </p:nvSpPr>
            <p:spPr>
              <a:xfrm>
                <a:off x="9021478" y="3003118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t8</a:t>
                </a:r>
                <a:endParaRPr lang="zh-TW" altLang="en-US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3596D26-8595-45C6-9E7D-6D3B1ADFDB11}"/>
                  </a:ext>
                </a:extLst>
              </p:cNvPr>
              <p:cNvSpPr txBox="1"/>
              <p:nvPr/>
            </p:nvSpPr>
            <p:spPr>
              <a:xfrm>
                <a:off x="10644286" y="3436982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t7</a:t>
                </a:r>
                <a:endParaRPr lang="zh-TW" altLang="en-US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5A9C4D7-5D22-40DC-8157-764A3E9D8AEF}"/>
                  </a:ext>
                </a:extLst>
              </p:cNvPr>
              <p:cNvSpPr txBox="1"/>
              <p:nvPr/>
            </p:nvSpPr>
            <p:spPr>
              <a:xfrm>
                <a:off x="9024827" y="4277750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t6</a:t>
                </a:r>
                <a:endParaRPr lang="zh-TW" altLang="en-US" dirty="0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677168A-B68C-4D10-8BF2-EFE5A4404589}"/>
                  </a:ext>
                </a:extLst>
              </p:cNvPr>
              <p:cNvSpPr txBox="1"/>
              <p:nvPr/>
            </p:nvSpPr>
            <p:spPr>
              <a:xfrm>
                <a:off x="10644286" y="4229631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t5</a:t>
                </a:r>
                <a:endParaRPr lang="zh-TW" altLang="en-US" dirty="0"/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6C00EE8-C8EE-46CE-8497-B95F42CB7E10}"/>
                </a:ext>
              </a:extLst>
            </p:cNvPr>
            <p:cNvSpPr txBox="1"/>
            <p:nvPr/>
          </p:nvSpPr>
          <p:spPr>
            <a:xfrm>
              <a:off x="10646506" y="5314856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t1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7117711-6803-460B-B8CC-C4B2D677656A}"/>
                </a:ext>
              </a:extLst>
            </p:cNvPr>
            <p:cNvSpPr txBox="1"/>
            <p:nvPr/>
          </p:nvSpPr>
          <p:spPr>
            <a:xfrm>
              <a:off x="7449882" y="4205633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t2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A45DCDD2-6D28-417A-8108-C8B93FEA2F9A}"/>
                </a:ext>
              </a:extLst>
            </p:cNvPr>
            <p:cNvSpPr txBox="1"/>
            <p:nvPr/>
          </p:nvSpPr>
          <p:spPr>
            <a:xfrm>
              <a:off x="9027046" y="4574965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t4</a:t>
              </a:r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CFEFB94-3C3E-4C04-9738-A4FA4C9C6FC7}"/>
                </a:ext>
              </a:extLst>
            </p:cNvPr>
            <p:cNvSpPr txBox="1"/>
            <p:nvPr/>
          </p:nvSpPr>
          <p:spPr>
            <a:xfrm>
              <a:off x="10646505" y="4759631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t3</a:t>
              </a:r>
              <a:endParaRPr lang="zh-TW" altLang="en-US" dirty="0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83848A5-ED3A-4E88-9537-C188856DDCE0}"/>
              </a:ext>
            </a:extLst>
          </p:cNvPr>
          <p:cNvSpPr txBox="1"/>
          <p:nvPr/>
        </p:nvSpPr>
        <p:spPr>
          <a:xfrm>
            <a:off x="633914" y="2270760"/>
            <a:ext cx="609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price   VM1:$7   VM2:$5  VM3:$3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Cost = 31*7 + 42*5 + 49*3 = 574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173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40952-714A-41AB-8843-FCDEC813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Budget Constrained Scheduling (HBCS)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6CD30E-FCA8-4AE6-ADC9-6F59838A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Task Selection</a:t>
            </a:r>
          </a:p>
          <a:p>
            <a:r>
              <a:rPr lang="en-US" altLang="zh-TW" sz="2400" dirty="0"/>
              <a:t>Processor Selection</a:t>
            </a:r>
            <a:endParaRPr lang="zh-TW" alt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96B849-48EC-4605-957D-EDB7816E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28" y="1497204"/>
            <a:ext cx="3418377" cy="53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D495B-4745-4611-B161-041FEE49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6EFD98-318E-4AB4-842C-D3F7D975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31" y="175752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Base price  VM1:$7   VM2:$5  VM3:$3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Remaining Budget(RB) : 398+0.2(935-398)= $505</a:t>
            </a:r>
          </a:p>
          <a:p>
            <a:pPr marL="0" indent="0">
              <a:buNone/>
            </a:pPr>
            <a:r>
              <a:rPr lang="en-US" altLang="zh-TW" dirty="0"/>
              <a:t>Remaining Cheapest Budget(RCB): 505-27= $478</a:t>
            </a:r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4A6A6D-B704-4BA7-8868-C3D5010A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74" y="1"/>
            <a:ext cx="4230333" cy="315518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E199694-E823-4E49-8F79-8E5CB7196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12" y="3339056"/>
            <a:ext cx="2816888" cy="35189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41C057E-F2CF-4355-A55A-7D9707C5D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78" y="3237734"/>
            <a:ext cx="3048000" cy="6096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4C564C-4D78-466F-BBB8-7F8D7551B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578" y="3826286"/>
            <a:ext cx="2238375" cy="7905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39BCD55-AFBA-4435-A43C-6DA12F035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910" y="2368359"/>
            <a:ext cx="4934511" cy="7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2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DC98C-F949-4D3B-B5CC-4B27D0FC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90003D4B-C3C4-457A-A750-DBE32B97E2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07024705"/>
                  </p:ext>
                </p:extLst>
              </p:nvPr>
            </p:nvGraphicFramePr>
            <p:xfrm>
              <a:off x="541245" y="2427097"/>
              <a:ext cx="6656028" cy="1915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124335550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3013089696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86482334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165614264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Cost(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𝑉𝑀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FT(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𝑉𝑀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/>
                                  <m:den/>
                                </m:f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9283723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7*14=98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257386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5*16=80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𝑉𝑀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𝑤𝑜𝑟𝑠𝑡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3429804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3*9=27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𝑉𝑀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𝑏𝑒𝑠𝑡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57571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90003D4B-C3C4-457A-A750-DBE32B97E2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07024705"/>
                  </p:ext>
                </p:extLst>
              </p:nvPr>
            </p:nvGraphicFramePr>
            <p:xfrm>
              <a:off x="541245" y="2427097"/>
              <a:ext cx="6656028" cy="1915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124335550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3013089696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86482334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165614264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883" r="-200000" b="-210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33" t="-3883" r="-100733" b="-210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3883" r="-733" b="-2106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9283723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7*14=98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257386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5*16=80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254286" r="-733" b="-1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3429804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3*9=27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349296" r="-733" b="-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575715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F4DE4B0A-98F8-45FB-A16C-34043A48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042" y="1066855"/>
            <a:ext cx="3192958" cy="238145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2AEA1A4-F89B-43DD-A97C-7920C86D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12" y="3385095"/>
            <a:ext cx="2816888" cy="35189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09A6818-A6C6-4841-8D33-F1D2204C5F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52" b="4800"/>
          <a:stretch/>
        </p:blipFill>
        <p:spPr>
          <a:xfrm>
            <a:off x="0" y="0"/>
            <a:ext cx="5325627" cy="14454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02F72B-39C9-4721-90F9-653049776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220" y="868497"/>
            <a:ext cx="3262536" cy="6345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6DAB40B-01D9-4DE0-98AF-34D7B7267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827" y="78795"/>
            <a:ext cx="3369341" cy="6106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9D65FDA-F31F-43F7-AE88-B9519E863368}"/>
                  </a:ext>
                </a:extLst>
              </p:cNvPr>
              <p:cNvSpPr txBox="1"/>
              <p:nvPr/>
            </p:nvSpPr>
            <p:spPr>
              <a:xfrm>
                <a:off x="753626" y="1899138"/>
                <a:ext cx="5114611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𝑜𝑠𝑡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𝐶𝑜𝑒𝑓𝑓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=478/505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9D65FDA-F31F-43F7-AE88-B9519E863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26" y="1899138"/>
                <a:ext cx="5114611" cy="391582"/>
              </a:xfrm>
              <a:prstGeom prst="rect">
                <a:avLst/>
              </a:prstGeom>
              <a:blipFill>
                <a:blip r:embed="rId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76EB173-376D-4203-B4C0-9F97632C8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3637732"/>
                  </p:ext>
                </p:extLst>
              </p:nvPr>
            </p:nvGraphicFramePr>
            <p:xfrm>
              <a:off x="541245" y="4479469"/>
              <a:ext cx="6656028" cy="2249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3862876685"/>
                        </a:ext>
                      </a:extLst>
                    </a:gridCol>
                    <a:gridCol w="1934669">
                      <a:extLst>
                        <a:ext uri="{9D8B030D-6E8A-4147-A177-3AD203B41FA5}">
                          <a16:colId xmlns:a16="http://schemas.microsoft.com/office/drawing/2014/main" val="1202681134"/>
                        </a:ext>
                      </a:extLst>
                    </a:gridCol>
                    <a:gridCol w="1393345">
                      <a:extLst>
                        <a:ext uri="{9D8B030D-6E8A-4147-A177-3AD203B41FA5}">
                          <a16:colId xmlns:a16="http://schemas.microsoft.com/office/drawing/2014/main" val="4067968938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215896637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worthiness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𝐶𝑜𝑠𝑡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𝑇𝑖𝑚𝑒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085083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VM1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altLang="zh-TW" sz="1800" b="0" dirty="0" smtClean="0">
                                      <a:solidFill>
                                        <a:schemeClr val="tx1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27-98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altLang="zh-TW" sz="1800" b="0" dirty="0" smtClean="0">
                                      <a:solidFill>
                                        <a:schemeClr val="tx1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98-27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dirty="0" smtClean="0">
                                      <a:latin typeface="Cambria Math" panose="02040503050406030204" pitchFamily="18" charset="0"/>
                                    </a:rPr>
                                    <m:t>𝐶𝑜𝑠𝑡</m:t>
                                  </m:r>
                                </m:e>
                                <m:sub>
                                  <m: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16−14</m:t>
                                    </m:r>
                                  </m:num>
                                  <m:den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-0.646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218857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VM2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27−80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98−27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dirty="0" smtClean="0">
                                      <a:latin typeface="Cambria Math" panose="02040503050406030204" pitchFamily="18" charset="0"/>
                                    </a:rPr>
                                    <m:t>𝐶𝑜𝑠𝑡</m:t>
                                  </m:r>
                                </m:e>
                                <m:sub>
                                  <m: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16−16</m:t>
                                    </m:r>
                                  </m:num>
                                  <m:den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-0.696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7916776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VM3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27−27</m:t>
                                  </m:r>
                                </m:num>
                                <m:den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98−27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dirty="0" smtClean="0">
                                      <a:latin typeface="Cambria Math" panose="02040503050406030204" pitchFamily="18" charset="0"/>
                                    </a:rPr>
                                    <m:t>𝐶𝑜𝑠𝑡</m:t>
                                  </m:r>
                                </m:e>
                                <m:sub>
                                  <m:r>
                                    <a:rPr lang="en-US" altLang="zh-TW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16−9</m:t>
                                    </m:r>
                                  </m:num>
                                  <m:den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16−9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1865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76EB173-376D-4203-B4C0-9F97632C8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3637732"/>
                  </p:ext>
                </p:extLst>
              </p:nvPr>
            </p:nvGraphicFramePr>
            <p:xfrm>
              <a:off x="541245" y="4479469"/>
              <a:ext cx="6656028" cy="2249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3862876685"/>
                        </a:ext>
                      </a:extLst>
                    </a:gridCol>
                    <a:gridCol w="1934669">
                      <a:extLst>
                        <a:ext uri="{9D8B030D-6E8A-4147-A177-3AD203B41FA5}">
                          <a16:colId xmlns:a16="http://schemas.microsoft.com/office/drawing/2014/main" val="1202681134"/>
                        </a:ext>
                      </a:extLst>
                    </a:gridCol>
                    <a:gridCol w="1393345">
                      <a:extLst>
                        <a:ext uri="{9D8B030D-6E8A-4147-A177-3AD203B41FA5}">
                          <a16:colId xmlns:a16="http://schemas.microsoft.com/office/drawing/2014/main" val="4067968938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215896637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worthiness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86164" t="-7042" r="-158491" b="-4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58515" t="-7042" r="-120087" b="-4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0850838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VM1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86164" t="-76768" r="-158491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58515" t="-76768" r="-120087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-0.646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218857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VM2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86164" t="-175000" r="-158491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58515" t="-175000" r="-120087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-0.696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7916776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sz="1800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VM3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86164" t="-275000" r="-158491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258515" t="-275000" r="-120087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8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18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1865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17583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CC144-1F9B-489A-BF40-62419F91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8279C7C-9CD7-4278-BE17-C08EE61AD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3214"/>
            <a:ext cx="6031525" cy="4203153"/>
          </a:xfr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37BE5B28-C941-4BE8-8193-DEFAA2066D6F}"/>
              </a:ext>
            </a:extLst>
          </p:cNvPr>
          <p:cNvGrpSpPr/>
          <p:nvPr/>
        </p:nvGrpSpPr>
        <p:grpSpPr>
          <a:xfrm>
            <a:off x="7269982" y="2620758"/>
            <a:ext cx="5297156" cy="3342156"/>
            <a:chOff x="7269982" y="2620758"/>
            <a:chExt cx="5297156" cy="3342156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878C114-56DE-4784-9FD3-A49EC4B81501}"/>
                </a:ext>
              </a:extLst>
            </p:cNvPr>
            <p:cNvSpPr txBox="1"/>
            <p:nvPr/>
          </p:nvSpPr>
          <p:spPr>
            <a:xfrm>
              <a:off x="10848870" y="4894656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t6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A93EF97-F321-4B04-945C-C68C4A8BC909}"/>
                </a:ext>
              </a:extLst>
            </p:cNvPr>
            <p:cNvSpPr txBox="1"/>
            <p:nvPr/>
          </p:nvSpPr>
          <p:spPr>
            <a:xfrm>
              <a:off x="10830030" y="5286977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t5</a:t>
              </a:r>
              <a:endParaRPr lang="zh-TW" altLang="en-US" dirty="0"/>
            </a:p>
          </p:txBody>
        </p: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86C93000-0327-4029-96E2-387B9A3A91CD}"/>
                </a:ext>
              </a:extLst>
            </p:cNvPr>
            <p:cNvGrpSpPr/>
            <p:nvPr/>
          </p:nvGrpSpPr>
          <p:grpSpPr>
            <a:xfrm>
              <a:off x="7269982" y="2620758"/>
              <a:ext cx="3560048" cy="2532928"/>
              <a:chOff x="7269982" y="2620758"/>
              <a:chExt cx="3560048" cy="253292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C58F527-30CE-49D1-A4AB-2C73B3069171}"/>
                  </a:ext>
                </a:extLst>
              </p:cNvPr>
              <p:cNvSpPr txBox="1"/>
              <p:nvPr/>
            </p:nvSpPr>
            <p:spPr>
              <a:xfrm>
                <a:off x="8988250" y="262075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t10</a:t>
                </a:r>
                <a:endParaRPr lang="zh-TW" altLang="en-US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7E72F8-D703-498D-93BE-6132875E64D5}"/>
                  </a:ext>
                </a:extLst>
              </p:cNvPr>
              <p:cNvSpPr txBox="1"/>
              <p:nvPr/>
            </p:nvSpPr>
            <p:spPr>
              <a:xfrm>
                <a:off x="9068632" y="3572971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t9</a:t>
                </a:r>
                <a:endParaRPr lang="zh-TW" altLang="en-US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D2F67A3-EA10-4562-A427-1602AF292BB9}"/>
                  </a:ext>
                </a:extLst>
              </p:cNvPr>
              <p:cNvSpPr txBox="1"/>
              <p:nvPr/>
            </p:nvSpPr>
            <p:spPr>
              <a:xfrm>
                <a:off x="7269982" y="3388305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t8</a:t>
                </a:r>
                <a:endParaRPr lang="zh-TW" altLang="en-US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3856CA9-68B8-4F76-B011-54A7D94261B3}"/>
                  </a:ext>
                </a:extLst>
              </p:cNvPr>
              <p:cNvSpPr txBox="1"/>
              <p:nvPr/>
            </p:nvSpPr>
            <p:spPr>
              <a:xfrm>
                <a:off x="7269982" y="357509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t7</a:t>
                </a:r>
                <a:endParaRPr lang="zh-TW" altLang="en-US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23A5152-D931-4943-AA48-EF0CDECEEDBE}"/>
                  </a:ext>
                </a:extLst>
              </p:cNvPr>
              <p:cNvSpPr txBox="1"/>
              <p:nvPr/>
            </p:nvSpPr>
            <p:spPr>
              <a:xfrm>
                <a:off x="9111762" y="441502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t4</a:t>
                </a:r>
                <a:endParaRPr lang="zh-TW" altLang="en-US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CD2C768-FA20-48DC-B456-5C4A4EBA6FAA}"/>
                  </a:ext>
                </a:extLst>
              </p:cNvPr>
              <p:cNvSpPr txBox="1"/>
              <p:nvPr/>
            </p:nvSpPr>
            <p:spPr>
              <a:xfrm>
                <a:off x="9111762" y="4784354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t3</a:t>
                </a:r>
                <a:endParaRPr lang="zh-TW" altLang="en-US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93AA320-81A3-480F-894E-9399CD858B98}"/>
                  </a:ext>
                </a:extLst>
              </p:cNvPr>
              <p:cNvSpPr txBox="1"/>
              <p:nvPr/>
            </p:nvSpPr>
            <p:spPr>
              <a:xfrm>
                <a:off x="7269982" y="459968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t2</a:t>
                </a:r>
                <a:endParaRPr lang="zh-TW" altLang="en-US" dirty="0"/>
              </a:p>
            </p:txBody>
          </p:sp>
        </p:grp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53830D04-81A2-4D4A-9DB1-816FF39F431A}"/>
                </a:ext>
              </a:extLst>
            </p:cNvPr>
            <p:cNvSpPr txBox="1"/>
            <p:nvPr/>
          </p:nvSpPr>
          <p:spPr>
            <a:xfrm>
              <a:off x="10848870" y="5593582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t1</a:t>
              </a:r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B32908C-96F5-4174-858E-3AA65DFAEC3E}"/>
              </a:ext>
            </a:extLst>
          </p:cNvPr>
          <p:cNvGrpSpPr/>
          <p:nvPr/>
        </p:nvGrpSpPr>
        <p:grpSpPr>
          <a:xfrm>
            <a:off x="542086" y="2173214"/>
            <a:ext cx="4707863" cy="4159030"/>
            <a:chOff x="540727" y="2173215"/>
            <a:chExt cx="4707863" cy="4159030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7D9D1E9F-1BC9-47C9-B9BE-7C102904F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1592" b="5941"/>
            <a:stretch/>
          </p:blipFill>
          <p:spPr>
            <a:xfrm>
              <a:off x="540727" y="2173215"/>
              <a:ext cx="1087106" cy="3789700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F00B514E-4695-471D-AE3E-F7089F90E2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1996" r="43445" b="-1163"/>
            <a:stretch/>
          </p:blipFill>
          <p:spPr>
            <a:xfrm>
              <a:off x="581758" y="5962914"/>
              <a:ext cx="3339823" cy="369331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98E59646-E687-412B-9494-F5B74ED5D2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955" t="821" r="1025" b="7194"/>
            <a:stretch/>
          </p:blipFill>
          <p:spPr>
            <a:xfrm>
              <a:off x="1585966" y="2202335"/>
              <a:ext cx="3662624" cy="37061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099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DC98C-F949-4D3B-B5CC-4B27D0FC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90003D4B-C3C4-457A-A750-DBE32B97E2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6424068"/>
                  </p:ext>
                </p:extLst>
              </p:nvPr>
            </p:nvGraphicFramePr>
            <p:xfrm>
              <a:off x="541244" y="2229918"/>
              <a:ext cx="6656028" cy="1915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124335550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3013089696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86482334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165614264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Cost(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𝑉𝑀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FT(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𝑉𝑀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/>
                                  <m:den/>
                                </m:f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9283723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7*7=49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𝑉𝑀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𝑏𝑒𝑠𝑡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257386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5*15=75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𝑉𝑀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𝑤𝑜𝑟𝑠𝑡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3429804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3*11=33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57571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90003D4B-C3C4-457A-A750-DBE32B97E2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6424068"/>
                  </p:ext>
                </p:extLst>
              </p:nvPr>
            </p:nvGraphicFramePr>
            <p:xfrm>
              <a:off x="541244" y="2229918"/>
              <a:ext cx="6656028" cy="1915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4007">
                      <a:extLst>
                        <a:ext uri="{9D8B030D-6E8A-4147-A177-3AD203B41FA5}">
                          <a16:colId xmlns:a16="http://schemas.microsoft.com/office/drawing/2014/main" val="124335550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3013089696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864823347"/>
                        </a:ext>
                      </a:extLst>
                    </a:gridCol>
                    <a:gridCol w="1664007">
                      <a:extLst>
                        <a:ext uri="{9D8B030D-6E8A-4147-A177-3AD203B41FA5}">
                          <a16:colId xmlns:a16="http://schemas.microsoft.com/office/drawing/2014/main" val="165614264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846" r="-200000" b="-208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33" t="-3846" r="-100733" b="-208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3846" r="-733" b="-208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9283723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7*7=49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154286" r="-733" b="-2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57386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5*15=75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83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733" t="-250704" r="-733" b="-10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3429804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3*11=33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68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2575715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F4DE4B0A-98F8-45FB-A16C-34043A48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042" y="1066855"/>
            <a:ext cx="3192958" cy="238145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2AEA1A4-F89B-43DD-A97C-7920C86D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12" y="3385095"/>
            <a:ext cx="2816888" cy="35189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09A6818-A6C6-4841-8D33-F1D2204C5F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52" b="4800"/>
          <a:stretch/>
        </p:blipFill>
        <p:spPr>
          <a:xfrm>
            <a:off x="-13570" y="0"/>
            <a:ext cx="5325627" cy="14454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02F72B-39C9-4721-90F9-653049776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682" y="845904"/>
            <a:ext cx="3785510" cy="73629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6DAB40B-01D9-4DE0-98AF-34D7B7267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681" y="151977"/>
            <a:ext cx="3785511" cy="6861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76EB173-376D-4203-B4C0-9F97632C8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839982"/>
                  </p:ext>
                </p:extLst>
              </p:nvPr>
            </p:nvGraphicFramePr>
            <p:xfrm>
              <a:off x="541244" y="4391173"/>
              <a:ext cx="7105552" cy="2249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6388">
                      <a:extLst>
                        <a:ext uri="{9D8B030D-6E8A-4147-A177-3AD203B41FA5}">
                          <a16:colId xmlns:a16="http://schemas.microsoft.com/office/drawing/2014/main" val="3862876685"/>
                        </a:ext>
                      </a:extLst>
                    </a:gridCol>
                    <a:gridCol w="2065329">
                      <a:extLst>
                        <a:ext uri="{9D8B030D-6E8A-4147-A177-3AD203B41FA5}">
                          <a16:colId xmlns:a16="http://schemas.microsoft.com/office/drawing/2014/main" val="1202681134"/>
                        </a:ext>
                      </a:extLst>
                    </a:gridCol>
                    <a:gridCol w="1394841">
                      <a:extLst>
                        <a:ext uri="{9D8B030D-6E8A-4147-A177-3AD203B41FA5}">
                          <a16:colId xmlns:a16="http://schemas.microsoft.com/office/drawing/2014/main" val="4067968938"/>
                        </a:ext>
                      </a:extLst>
                    </a:gridCol>
                    <a:gridCol w="1868994">
                      <a:extLst>
                        <a:ext uri="{9D8B030D-6E8A-4147-A177-3AD203B41FA5}">
                          <a16:colId xmlns:a16="http://schemas.microsoft.com/office/drawing/2014/main" val="215896637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worthiness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𝐶𝑜𝑠𝑡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𝑇𝑖𝑚𝑒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0850838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altLang="zh-TW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49-49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altLang="zh-TW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75-33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𝑜𝑠𝑡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83−64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83−64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218857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49−75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75−33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𝑜𝑠𝑡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83−83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83−64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−26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𝑜𝑠𝑡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7916776"/>
                      </a:ext>
                    </a:extLst>
                  </a:tr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49−33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75−33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𝑜𝑠𝑡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83−68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83−64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𝑜𝑠𝑡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𝐶𝑜𝑒𝑓𝑓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den>
                              </m:f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91865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D76EB173-376D-4203-B4C0-9F97632C8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839982"/>
                  </p:ext>
                </p:extLst>
              </p:nvPr>
            </p:nvGraphicFramePr>
            <p:xfrm>
              <a:off x="541244" y="4391173"/>
              <a:ext cx="7105552" cy="2249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6388">
                      <a:extLst>
                        <a:ext uri="{9D8B030D-6E8A-4147-A177-3AD203B41FA5}">
                          <a16:colId xmlns:a16="http://schemas.microsoft.com/office/drawing/2014/main" val="3862876685"/>
                        </a:ext>
                      </a:extLst>
                    </a:gridCol>
                    <a:gridCol w="2065329">
                      <a:extLst>
                        <a:ext uri="{9D8B030D-6E8A-4147-A177-3AD203B41FA5}">
                          <a16:colId xmlns:a16="http://schemas.microsoft.com/office/drawing/2014/main" val="1202681134"/>
                        </a:ext>
                      </a:extLst>
                    </a:gridCol>
                    <a:gridCol w="1394841">
                      <a:extLst>
                        <a:ext uri="{9D8B030D-6E8A-4147-A177-3AD203B41FA5}">
                          <a16:colId xmlns:a16="http://schemas.microsoft.com/office/drawing/2014/main" val="4067968938"/>
                        </a:ext>
                      </a:extLst>
                    </a:gridCol>
                    <a:gridCol w="1868994">
                      <a:extLst>
                        <a:ext uri="{9D8B030D-6E8A-4147-A177-3AD203B41FA5}">
                          <a16:colId xmlns:a16="http://schemas.microsoft.com/office/drawing/2014/main" val="2158966372"/>
                        </a:ext>
                      </a:extLst>
                    </a:gridCol>
                  </a:tblGrid>
                  <a:tr h="429115"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worthiness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6431" t="-7042" r="-158702" b="-4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5983" t="-7042" r="-134934" b="-4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0850838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6431" t="-76768" r="-158702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5983" t="-76768" r="-134934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218857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6431" t="-175000" r="-158702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5983" t="-175000" r="-134934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80456" t="-175000" r="-651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916776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r>
                            <a:rPr lang="en-US" altLang="zh-TW" b="0">
                              <a:solidFill>
                                <a:schemeClr val="tx1"/>
                              </a:solidFill>
                            </a:rPr>
                            <a:t>VM3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6431" t="-275000" r="-158702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75983" t="-275000" r="-134934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80456" t="-275000" r="-651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1865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485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CC144-1F9B-489A-BF40-62419F91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8279C7C-9CD7-4278-BE17-C08EE61AD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73214"/>
            <a:ext cx="6031525" cy="4203153"/>
          </a:xfr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37BE5B28-C941-4BE8-8193-DEFAA2066D6F}"/>
              </a:ext>
            </a:extLst>
          </p:cNvPr>
          <p:cNvGrpSpPr/>
          <p:nvPr/>
        </p:nvGrpSpPr>
        <p:grpSpPr>
          <a:xfrm>
            <a:off x="7269982" y="2620758"/>
            <a:ext cx="5297156" cy="3342156"/>
            <a:chOff x="7269982" y="2620758"/>
            <a:chExt cx="5297156" cy="3342156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878C114-56DE-4784-9FD3-A49EC4B81501}"/>
                </a:ext>
              </a:extLst>
            </p:cNvPr>
            <p:cNvSpPr txBox="1"/>
            <p:nvPr/>
          </p:nvSpPr>
          <p:spPr>
            <a:xfrm>
              <a:off x="10848870" y="4894656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t6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A93EF97-F321-4B04-945C-C68C4A8BC909}"/>
                </a:ext>
              </a:extLst>
            </p:cNvPr>
            <p:cNvSpPr txBox="1"/>
            <p:nvPr/>
          </p:nvSpPr>
          <p:spPr>
            <a:xfrm>
              <a:off x="10830030" y="5286977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t5</a:t>
              </a:r>
              <a:endParaRPr lang="zh-TW" altLang="en-US" dirty="0"/>
            </a:p>
          </p:txBody>
        </p: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86C93000-0327-4029-96E2-387B9A3A91CD}"/>
                </a:ext>
              </a:extLst>
            </p:cNvPr>
            <p:cNvGrpSpPr/>
            <p:nvPr/>
          </p:nvGrpSpPr>
          <p:grpSpPr>
            <a:xfrm>
              <a:off x="7269982" y="2620758"/>
              <a:ext cx="3560048" cy="2532928"/>
              <a:chOff x="7269982" y="2620758"/>
              <a:chExt cx="3560048" cy="253292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C58F527-30CE-49D1-A4AB-2C73B3069171}"/>
                  </a:ext>
                </a:extLst>
              </p:cNvPr>
              <p:cNvSpPr txBox="1"/>
              <p:nvPr/>
            </p:nvSpPr>
            <p:spPr>
              <a:xfrm>
                <a:off x="8988250" y="262075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t10</a:t>
                </a:r>
                <a:endParaRPr lang="zh-TW" altLang="en-US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7E72F8-D703-498D-93BE-6132875E64D5}"/>
                  </a:ext>
                </a:extLst>
              </p:cNvPr>
              <p:cNvSpPr txBox="1"/>
              <p:nvPr/>
            </p:nvSpPr>
            <p:spPr>
              <a:xfrm>
                <a:off x="9068632" y="3572971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t9</a:t>
                </a:r>
                <a:endParaRPr lang="zh-TW" altLang="en-US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D2F67A3-EA10-4562-A427-1602AF292BB9}"/>
                  </a:ext>
                </a:extLst>
              </p:cNvPr>
              <p:cNvSpPr txBox="1"/>
              <p:nvPr/>
            </p:nvSpPr>
            <p:spPr>
              <a:xfrm>
                <a:off x="7269982" y="3388305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t8</a:t>
                </a:r>
                <a:endParaRPr lang="zh-TW" altLang="en-US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3856CA9-68B8-4F76-B011-54A7D94261B3}"/>
                  </a:ext>
                </a:extLst>
              </p:cNvPr>
              <p:cNvSpPr txBox="1"/>
              <p:nvPr/>
            </p:nvSpPr>
            <p:spPr>
              <a:xfrm>
                <a:off x="7269982" y="357509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t7</a:t>
                </a:r>
                <a:endParaRPr lang="zh-TW" altLang="en-US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23A5152-D931-4943-AA48-EF0CDECEEDBE}"/>
                  </a:ext>
                </a:extLst>
              </p:cNvPr>
              <p:cNvSpPr txBox="1"/>
              <p:nvPr/>
            </p:nvSpPr>
            <p:spPr>
              <a:xfrm>
                <a:off x="9111762" y="441502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t4</a:t>
                </a:r>
                <a:endParaRPr lang="zh-TW" altLang="en-US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CD2C768-FA20-48DC-B456-5C4A4EBA6FAA}"/>
                  </a:ext>
                </a:extLst>
              </p:cNvPr>
              <p:cNvSpPr txBox="1"/>
              <p:nvPr/>
            </p:nvSpPr>
            <p:spPr>
              <a:xfrm>
                <a:off x="9111762" y="4784354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t3</a:t>
                </a:r>
                <a:endParaRPr lang="zh-TW" altLang="en-US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93AA320-81A3-480F-894E-9399CD858B98}"/>
                  </a:ext>
                </a:extLst>
              </p:cNvPr>
              <p:cNvSpPr txBox="1"/>
              <p:nvPr/>
            </p:nvSpPr>
            <p:spPr>
              <a:xfrm>
                <a:off x="7269982" y="459968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t2</a:t>
                </a:r>
                <a:endParaRPr lang="zh-TW" altLang="en-US" dirty="0"/>
              </a:p>
            </p:txBody>
          </p:sp>
        </p:grp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53830D04-81A2-4D4A-9DB1-816FF39F431A}"/>
                </a:ext>
              </a:extLst>
            </p:cNvPr>
            <p:cNvSpPr txBox="1"/>
            <p:nvPr/>
          </p:nvSpPr>
          <p:spPr>
            <a:xfrm>
              <a:off x="10848870" y="5593582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t1</a:t>
              </a:r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B32908C-96F5-4174-858E-3AA65DFAEC3E}"/>
              </a:ext>
            </a:extLst>
          </p:cNvPr>
          <p:cNvGrpSpPr/>
          <p:nvPr/>
        </p:nvGrpSpPr>
        <p:grpSpPr>
          <a:xfrm>
            <a:off x="542086" y="2173214"/>
            <a:ext cx="4707863" cy="4159030"/>
            <a:chOff x="540727" y="2173215"/>
            <a:chExt cx="4707863" cy="4159030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7D9D1E9F-1BC9-47C9-B9BE-7C102904F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1592" b="5941"/>
            <a:stretch/>
          </p:blipFill>
          <p:spPr>
            <a:xfrm>
              <a:off x="540727" y="2173215"/>
              <a:ext cx="1087106" cy="3789700"/>
            </a:xfrm>
            <a:prstGeom prst="rect">
              <a:avLst/>
            </a:prstGeom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F00B514E-4695-471D-AE3E-F7089F90E2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1996" r="43445" b="-1163"/>
            <a:stretch/>
          </p:blipFill>
          <p:spPr>
            <a:xfrm>
              <a:off x="581758" y="5962914"/>
              <a:ext cx="3339823" cy="369331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98E59646-E687-412B-9494-F5B74ED5D2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955" t="821" r="1025" b="7194"/>
            <a:stretch/>
          </p:blipFill>
          <p:spPr>
            <a:xfrm>
              <a:off x="1585966" y="2202335"/>
              <a:ext cx="3662624" cy="37061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831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5C8B9B-7688-4D30-A469-3AB989C8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HEFT                 HBCS    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9D0AAF-9302-4D97-AB80-9DFEA96B3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28A10B-E55A-4B65-B630-C4E0ADEBA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21" y="1545362"/>
            <a:ext cx="5283016" cy="4521904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F98FB339-60E3-4685-9AC7-FD2C8DD326F1}"/>
              </a:ext>
            </a:extLst>
          </p:cNvPr>
          <p:cNvGrpSpPr/>
          <p:nvPr/>
        </p:nvGrpSpPr>
        <p:grpSpPr>
          <a:xfrm>
            <a:off x="1561529" y="2181136"/>
            <a:ext cx="3799525" cy="3503052"/>
            <a:chOff x="7449882" y="2181136"/>
            <a:chExt cx="3799525" cy="3503052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8446111-204D-46B4-8097-33A4C1431ACD}"/>
                </a:ext>
              </a:extLst>
            </p:cNvPr>
            <p:cNvGrpSpPr/>
            <p:nvPr/>
          </p:nvGrpSpPr>
          <p:grpSpPr>
            <a:xfrm>
              <a:off x="7449882" y="2181136"/>
              <a:ext cx="3797305" cy="2465946"/>
              <a:chOff x="7449882" y="2181136"/>
              <a:chExt cx="3797305" cy="2465946"/>
            </a:xfrm>
          </p:grpSpPr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D79C6F8-FB72-4FD4-8983-8B6F287CDD9E}"/>
                  </a:ext>
                </a:extLst>
              </p:cNvPr>
              <p:cNvSpPr txBox="1"/>
              <p:nvPr/>
            </p:nvSpPr>
            <p:spPr>
              <a:xfrm>
                <a:off x="9021477" y="2181136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t10</a:t>
                </a:r>
                <a:endParaRPr lang="zh-TW" altLang="en-US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6913C07-CE23-46AD-AE56-CDD44077A4FD}"/>
                  </a:ext>
                </a:extLst>
              </p:cNvPr>
              <p:cNvSpPr txBox="1"/>
              <p:nvPr/>
            </p:nvSpPr>
            <p:spPr>
              <a:xfrm>
                <a:off x="7449882" y="3187784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t9</a:t>
                </a:r>
                <a:endParaRPr lang="zh-TW" altLang="en-US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EED415B-0DD7-4884-99D6-D00A57817A33}"/>
                  </a:ext>
                </a:extLst>
              </p:cNvPr>
              <p:cNvSpPr txBox="1"/>
              <p:nvPr/>
            </p:nvSpPr>
            <p:spPr>
              <a:xfrm>
                <a:off x="9021478" y="3003118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t8</a:t>
                </a:r>
                <a:endParaRPr lang="zh-TW" altLang="en-US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573245A-8E0C-431D-844F-9BDBEF633D75}"/>
                  </a:ext>
                </a:extLst>
              </p:cNvPr>
              <p:cNvSpPr txBox="1"/>
              <p:nvPr/>
            </p:nvSpPr>
            <p:spPr>
              <a:xfrm>
                <a:off x="10644286" y="3436982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t7</a:t>
                </a:r>
                <a:endParaRPr lang="zh-TW" altLang="en-US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2365D15-4A49-453F-B1C5-F83774D2DAEB}"/>
                  </a:ext>
                </a:extLst>
              </p:cNvPr>
              <p:cNvSpPr txBox="1"/>
              <p:nvPr/>
            </p:nvSpPr>
            <p:spPr>
              <a:xfrm>
                <a:off x="9024827" y="4277750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t6</a:t>
                </a:r>
                <a:endParaRPr lang="zh-TW" altLang="en-US" dirty="0"/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FF3A1BC-9E11-42FC-87B1-B11D5033D830}"/>
                  </a:ext>
                </a:extLst>
              </p:cNvPr>
              <p:cNvSpPr txBox="1"/>
              <p:nvPr/>
            </p:nvSpPr>
            <p:spPr>
              <a:xfrm>
                <a:off x="10644286" y="4229631"/>
                <a:ext cx="602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t5</a:t>
                </a:r>
                <a:endParaRPr lang="zh-TW" altLang="en-US" dirty="0"/>
              </a:p>
            </p:txBody>
          </p:sp>
        </p:grp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B984513F-EA0F-4BA2-9E8B-B8663D794F57}"/>
                </a:ext>
              </a:extLst>
            </p:cNvPr>
            <p:cNvSpPr txBox="1"/>
            <p:nvPr/>
          </p:nvSpPr>
          <p:spPr>
            <a:xfrm>
              <a:off x="10646506" y="5314856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t1</a:t>
              </a:r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98D1783-5F22-44CA-BE93-06441FCE4A3B}"/>
                </a:ext>
              </a:extLst>
            </p:cNvPr>
            <p:cNvSpPr txBox="1"/>
            <p:nvPr/>
          </p:nvSpPr>
          <p:spPr>
            <a:xfrm>
              <a:off x="7449882" y="4205633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t2</a:t>
              </a:r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E8604E5-AEF6-4AA4-81D8-261F7B0DAA5D}"/>
                </a:ext>
              </a:extLst>
            </p:cNvPr>
            <p:cNvSpPr txBox="1"/>
            <p:nvPr/>
          </p:nvSpPr>
          <p:spPr>
            <a:xfrm>
              <a:off x="9027046" y="4574965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t4</a:t>
              </a:r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B0FBD4D3-169D-487A-852D-05A80637CAF2}"/>
                </a:ext>
              </a:extLst>
            </p:cNvPr>
            <p:cNvSpPr txBox="1"/>
            <p:nvPr/>
          </p:nvSpPr>
          <p:spPr>
            <a:xfrm>
              <a:off x="10646505" y="4759631"/>
              <a:ext cx="602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t3</a:t>
              </a:r>
              <a:endParaRPr lang="zh-TW" altLang="en-US" dirty="0"/>
            </a:p>
          </p:txBody>
        </p:sp>
      </p:grpSp>
      <p:pic>
        <p:nvPicPr>
          <p:cNvPr id="17" name="內容版面配置區 4">
            <a:extLst>
              <a:ext uri="{FF2B5EF4-FFF2-40B4-BE49-F238E27FC236}">
                <a16:creationId xmlns:a16="http://schemas.microsoft.com/office/drawing/2014/main" id="{480B8094-89FA-4C58-AFCE-7EDA074FF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163" y="1864113"/>
            <a:ext cx="6031525" cy="4203153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29D33652-B81A-41F7-8773-7273B251C369}"/>
              </a:ext>
            </a:extLst>
          </p:cNvPr>
          <p:cNvGrpSpPr/>
          <p:nvPr/>
        </p:nvGrpSpPr>
        <p:grpSpPr>
          <a:xfrm>
            <a:off x="7259933" y="2294611"/>
            <a:ext cx="5297156" cy="3342156"/>
            <a:chOff x="7269982" y="2620758"/>
            <a:chExt cx="5297156" cy="3342156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CE2FA2F5-E214-4138-85DC-5C27B83970A9}"/>
                </a:ext>
              </a:extLst>
            </p:cNvPr>
            <p:cNvSpPr txBox="1"/>
            <p:nvPr/>
          </p:nvSpPr>
          <p:spPr>
            <a:xfrm>
              <a:off x="10848870" y="4894656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t6</a:t>
              </a:r>
              <a:endParaRPr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34A4EE4-A100-4E2C-84DE-3C7C6EEE3B81}"/>
                </a:ext>
              </a:extLst>
            </p:cNvPr>
            <p:cNvSpPr txBox="1"/>
            <p:nvPr/>
          </p:nvSpPr>
          <p:spPr>
            <a:xfrm>
              <a:off x="10830030" y="5286977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t5</a:t>
              </a:r>
              <a:endParaRPr lang="zh-TW" altLang="en-US" dirty="0"/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9A653A7E-8CBD-4CE7-992C-F1FC8A4EA5D5}"/>
                </a:ext>
              </a:extLst>
            </p:cNvPr>
            <p:cNvGrpSpPr/>
            <p:nvPr/>
          </p:nvGrpSpPr>
          <p:grpSpPr>
            <a:xfrm>
              <a:off x="7269982" y="2620758"/>
              <a:ext cx="3560048" cy="2532928"/>
              <a:chOff x="7269982" y="2620758"/>
              <a:chExt cx="3560048" cy="2532928"/>
            </a:xfrm>
          </p:grpSpPr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572874-77E5-46DC-A722-A0BCD425E50C}"/>
                  </a:ext>
                </a:extLst>
              </p:cNvPr>
              <p:cNvSpPr txBox="1"/>
              <p:nvPr/>
            </p:nvSpPr>
            <p:spPr>
              <a:xfrm>
                <a:off x="8988250" y="262075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t10</a:t>
                </a:r>
                <a:endParaRPr lang="zh-TW" altLang="en-US" dirty="0"/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A56CE30-44F2-4A75-856D-CECE6ED3F8EE}"/>
                  </a:ext>
                </a:extLst>
              </p:cNvPr>
              <p:cNvSpPr txBox="1"/>
              <p:nvPr/>
            </p:nvSpPr>
            <p:spPr>
              <a:xfrm>
                <a:off x="9068632" y="3572971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t9</a:t>
                </a:r>
                <a:endParaRPr lang="zh-TW" altLang="en-US" dirty="0"/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7E7D0D9-AF1A-44C9-B794-823AAA381476}"/>
                  </a:ext>
                </a:extLst>
              </p:cNvPr>
              <p:cNvSpPr txBox="1"/>
              <p:nvPr/>
            </p:nvSpPr>
            <p:spPr>
              <a:xfrm>
                <a:off x="7269982" y="3388305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t8</a:t>
                </a:r>
                <a:endParaRPr lang="zh-TW" altLang="en-US" dirty="0"/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755F19A-4C16-43DD-8E43-5C8AE322D7B4}"/>
                  </a:ext>
                </a:extLst>
              </p:cNvPr>
              <p:cNvSpPr txBox="1"/>
              <p:nvPr/>
            </p:nvSpPr>
            <p:spPr>
              <a:xfrm>
                <a:off x="7269982" y="357509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t7</a:t>
                </a:r>
                <a:endParaRPr lang="zh-TW" altLang="en-US" dirty="0"/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6207A48-9968-4F15-8F8A-E5497B54F9BC}"/>
                  </a:ext>
                </a:extLst>
              </p:cNvPr>
              <p:cNvSpPr txBox="1"/>
              <p:nvPr/>
            </p:nvSpPr>
            <p:spPr>
              <a:xfrm>
                <a:off x="9111762" y="4415022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t4</a:t>
                </a:r>
                <a:endParaRPr lang="zh-TW" altLang="en-US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5260B02-731A-4E2C-A3CF-7DC971EE2459}"/>
                  </a:ext>
                </a:extLst>
              </p:cNvPr>
              <p:cNvSpPr txBox="1"/>
              <p:nvPr/>
            </p:nvSpPr>
            <p:spPr>
              <a:xfrm>
                <a:off x="9111762" y="4784354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t3</a:t>
                </a:r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9186694-882B-433B-BA92-5B308B9C9522}"/>
                  </a:ext>
                </a:extLst>
              </p:cNvPr>
              <p:cNvSpPr txBox="1"/>
              <p:nvPr/>
            </p:nvSpPr>
            <p:spPr>
              <a:xfrm>
                <a:off x="7269982" y="4599688"/>
                <a:ext cx="17182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t2</a:t>
                </a:r>
                <a:endParaRPr lang="zh-TW" altLang="en-US" dirty="0"/>
              </a:p>
            </p:txBody>
          </p:sp>
        </p:grp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4552694-59ED-4186-918F-55FAE4AFF887}"/>
                </a:ext>
              </a:extLst>
            </p:cNvPr>
            <p:cNvSpPr txBox="1"/>
            <p:nvPr/>
          </p:nvSpPr>
          <p:spPr>
            <a:xfrm>
              <a:off x="10848870" y="5593582"/>
              <a:ext cx="171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t1</a:t>
              </a:r>
              <a:endParaRPr lang="zh-TW" altLang="en-US" dirty="0"/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54734CB-5C64-4AF0-A71C-2187C7FD7C87}"/>
              </a:ext>
            </a:extLst>
          </p:cNvPr>
          <p:cNvSpPr txBox="1"/>
          <p:nvPr/>
        </p:nvSpPr>
        <p:spPr>
          <a:xfrm>
            <a:off x="1034980" y="6296604"/>
            <a:ext cx="372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Makesapn</a:t>
            </a:r>
            <a:r>
              <a:rPr lang="en-US" altLang="zh-TW" dirty="0"/>
              <a:t> = 89 and Cost(G) = 574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0CC0A8F-E54B-466C-ACE3-1790F6A6FA54}"/>
              </a:ext>
            </a:extLst>
          </p:cNvPr>
          <p:cNvSpPr txBox="1"/>
          <p:nvPr/>
        </p:nvSpPr>
        <p:spPr>
          <a:xfrm>
            <a:off x="6822831" y="6240691"/>
            <a:ext cx="338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Makespan</a:t>
            </a:r>
            <a:r>
              <a:rPr lang="en-US" altLang="zh-TW" dirty="0"/>
              <a:t> = 92 and Cost(G) = 459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0865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973881-62EA-4745-9CCB-D7DFAE52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0682C2-C06D-49B7-8070-97D9D455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Each DAG was created by choosing the value for each parameter randomly from the parameter data set. The total number of DAGs generated in our simulation was 1000.</a:t>
            </a:r>
            <a:endParaRPr lang="zh-TW" altLang="en-US" dirty="0"/>
          </a:p>
          <a:p>
            <a:pPr marL="0" indent="0">
              <a:buNone/>
            </a:pPr>
            <a:br>
              <a:rPr lang="en-US" altLang="zh-TW" dirty="0"/>
            </a:br>
            <a:r>
              <a:rPr lang="en-US" altLang="zh-TW" dirty="0"/>
              <a:t>the number of tasks n = [10...60], </a:t>
            </a:r>
          </a:p>
          <a:p>
            <a:pPr marL="0" indent="0">
              <a:buNone/>
            </a:pPr>
            <a:r>
              <a:rPr lang="en-US" altLang="zh-TW" dirty="0"/>
              <a:t>jump = [1, 2, 3], </a:t>
            </a:r>
          </a:p>
          <a:p>
            <a:pPr marL="0" indent="0">
              <a:buNone/>
            </a:pPr>
            <a:r>
              <a:rPr lang="en-US" altLang="zh-TW" dirty="0"/>
              <a:t>regularity = [0.2, 0.4, 0.8], </a:t>
            </a:r>
          </a:p>
          <a:p>
            <a:pPr marL="0" indent="0">
              <a:buNone/>
            </a:pPr>
            <a:r>
              <a:rPr lang="en-US" altLang="zh-TW" dirty="0"/>
              <a:t>fat = [0.2, 0.4, 0.8], </a:t>
            </a:r>
          </a:p>
          <a:p>
            <a:pPr marL="0" indent="0">
              <a:buNone/>
            </a:pPr>
            <a:r>
              <a:rPr lang="en-US" altLang="zh-TW" dirty="0"/>
              <a:t>density = [0.2, 0.4, 0.8]. </a:t>
            </a:r>
          </a:p>
        </p:txBody>
      </p:sp>
    </p:spTree>
    <p:extLst>
      <p:ext uri="{BB962C8B-B14F-4D97-AF65-F5344CB8AC3E}">
        <p14:creationId xmlns:p14="http://schemas.microsoft.com/office/powerpoint/2010/main" val="39198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C0F59-70DC-40FE-BE2B-2A0074C8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B33D2-3A96-406A-BE26-7E7178F5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458" y="1830280"/>
            <a:ext cx="5784542" cy="436591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Normalized </a:t>
            </a:r>
            <a:r>
              <a:rPr lang="en-US" altLang="zh-TW" dirty="0" err="1"/>
              <a:t>Makespan</a:t>
            </a:r>
            <a:r>
              <a:rPr lang="en-US" altLang="zh-TW" dirty="0"/>
              <a:t> for Random workflows with </a:t>
            </a:r>
            <a:r>
              <a:rPr lang="en-US" altLang="zh-TW" dirty="0" err="1"/>
              <a:t>CPUused</a:t>
            </a:r>
            <a:r>
              <a:rPr lang="en-US" altLang="zh-TW" dirty="0"/>
              <a:t>=8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70A960-4DCE-4DBB-8FFF-51074CCF3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42" y="2920752"/>
            <a:ext cx="6103642" cy="3009115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42A264B-1D0B-45D6-AC0C-0A8E25AE6107}"/>
              </a:ext>
            </a:extLst>
          </p:cNvPr>
          <p:cNvSpPr txBox="1">
            <a:spLocks/>
          </p:cNvSpPr>
          <p:nvPr/>
        </p:nvSpPr>
        <p:spPr>
          <a:xfrm>
            <a:off x="6407458" y="1830280"/>
            <a:ext cx="5784542" cy="4365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Normalized </a:t>
            </a:r>
            <a:r>
              <a:rPr lang="en-US" altLang="zh-TW" dirty="0" err="1"/>
              <a:t>Makespan</a:t>
            </a:r>
            <a:r>
              <a:rPr lang="en-US" altLang="zh-TW" dirty="0"/>
              <a:t> for Random workflows with </a:t>
            </a:r>
            <a:r>
              <a:rPr lang="en-US" altLang="zh-TW" dirty="0" err="1"/>
              <a:t>CPUused</a:t>
            </a:r>
            <a:r>
              <a:rPr lang="en-US" altLang="zh-TW" dirty="0"/>
              <a:t>=32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B7B925-EAE5-4988-83F8-5F9E78630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783" y="2840853"/>
            <a:ext cx="6061217" cy="308901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1EDF2B4-7F12-4361-859D-021E64EEB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658" y="208756"/>
            <a:ext cx="29527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28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B64D60-0C81-4A76-B29A-E9E0F525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A29F26-4C6F-4569-812A-37E4B9DE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Using the budget deadline constrained methodology.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8616EB-FD23-406D-8D02-7537C45CF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93" y="230188"/>
            <a:ext cx="4629150" cy="895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D88B8AB-CD3B-4524-B201-72C010D8B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59025"/>
            <a:ext cx="74009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16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10F5E4-FB4A-4B18-AC71-AF6097D4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CBB4C-68DA-4193-B9DA-B1C42373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dirty="0"/>
              <a:t>The end.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9757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6D4D20-F3ED-4A6C-A895-1552DEEB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6B6E8-C81A-466E-AE04-F8B8AB9CD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7BBCA1-DC60-4346-BC87-FC0FA7BF8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065" y="1453357"/>
            <a:ext cx="3048000" cy="609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2F7EA4-0D37-4D12-8713-BFC5FB6C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2778920"/>
            <a:ext cx="3086100" cy="5905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ADF90C6-5BD3-4232-AFDD-EBB1A8E1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3797387"/>
            <a:ext cx="2238375" cy="7905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F319EBC-74BE-492D-B1FC-51578C48C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740" y="4839747"/>
            <a:ext cx="4505325" cy="8763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F710CAD-9287-4B9D-9CAD-05F1AF3ED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065" y="5888518"/>
            <a:ext cx="4572000" cy="8286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6C11AB7-537C-4100-93CF-E8F9519EF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358" y="4304855"/>
            <a:ext cx="6084224" cy="194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7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28CE5B-633B-4490-9B47-827C8858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538020-75DD-4EE9-BBC5-D9546F10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81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報paper範本" id="{69A26A74-F2D4-4C4E-8979-71B91039FD65}" vid="{BF5BF2FF-57E1-4805-99F6-A663F732E57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報paper範本</Template>
  <TotalTime>1061</TotalTime>
  <Words>657</Words>
  <Application>Microsoft Office PowerPoint</Application>
  <PresentationFormat>寬螢幕</PresentationFormat>
  <Paragraphs>204</Paragraphs>
  <Slides>17</Slides>
  <Notes>3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標楷體</vt:lpstr>
      <vt:lpstr>Arial</vt:lpstr>
      <vt:lpstr>Calibri</vt:lpstr>
      <vt:lpstr>Cambria Math</vt:lpstr>
      <vt:lpstr>Times New Roman</vt:lpstr>
      <vt:lpstr>Office 佈景主題</vt:lpstr>
      <vt:lpstr>A Budget Constrained Scheduling Algorithm for Workflow Applications </vt:lpstr>
      <vt:lpstr>Abstract</vt:lpstr>
      <vt:lpstr>HEFT</vt:lpstr>
      <vt:lpstr>PowerPoint 簡報</vt:lpstr>
      <vt:lpstr>Heterogeneous Budget Constrained Scheduling (HBCS)</vt:lpstr>
      <vt:lpstr>PowerPoint 簡報</vt:lpstr>
      <vt:lpstr>PowerPoint 簡報</vt:lpstr>
      <vt:lpstr>PowerPoint 簡報</vt:lpstr>
      <vt:lpstr>PowerPoint 簡報</vt:lpstr>
      <vt:lpstr>PowerPoint 簡報</vt:lpstr>
      <vt:lpstr>HEFT                 HBCS   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Budget Constrained Scheduling Algorithm for Workflow Applications </dc:title>
  <dc:creator>jj wu</dc:creator>
  <cp:lastModifiedBy>jj wu</cp:lastModifiedBy>
  <cp:revision>4</cp:revision>
  <dcterms:created xsi:type="dcterms:W3CDTF">2022-04-18T16:43:11Z</dcterms:created>
  <dcterms:modified xsi:type="dcterms:W3CDTF">2022-04-19T10:24:24Z</dcterms:modified>
</cp:coreProperties>
</file>