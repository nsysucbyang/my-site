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1"/>
  </p:notesMasterIdLst>
  <p:sldIdLst>
    <p:sldId id="256" r:id="rId2"/>
    <p:sldId id="258" r:id="rId3"/>
    <p:sldId id="259" r:id="rId4"/>
    <p:sldId id="261" r:id="rId5"/>
    <p:sldId id="260" r:id="rId6"/>
    <p:sldId id="262" r:id="rId7"/>
    <p:sldId id="263" r:id="rId8"/>
    <p:sldId id="264" r:id="rId9"/>
    <p:sldId id="265" r:id="rId1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39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E71A6C-2C44-478D-971D-C6B8D23831BB}" type="datetimeFigureOut">
              <a:rPr lang="zh-TW" altLang="en-US" smtClean="0"/>
              <a:t>2022/4/12</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B8E3AD-4DDF-46F0-847C-9E019181D1BB}" type="slidenum">
              <a:rPr lang="zh-TW" altLang="en-US" smtClean="0"/>
              <a:t>‹#›</a:t>
            </a:fld>
            <a:endParaRPr lang="zh-TW" altLang="en-US"/>
          </a:p>
        </p:txBody>
      </p:sp>
    </p:spTree>
    <p:extLst>
      <p:ext uri="{BB962C8B-B14F-4D97-AF65-F5344CB8AC3E}">
        <p14:creationId xmlns:p14="http://schemas.microsoft.com/office/powerpoint/2010/main" val="944395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5F9860-E560-416D-9431-5E47F324406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dirty="0"/>
              <a:t>按一下以編輯母片標題樣式</a:t>
            </a:r>
          </a:p>
        </p:txBody>
      </p:sp>
      <p:sp>
        <p:nvSpPr>
          <p:cNvPr id="3" name="副標題 2">
            <a:extLst>
              <a:ext uri="{FF2B5EF4-FFF2-40B4-BE49-F238E27FC236}">
                <a16:creationId xmlns:a16="http://schemas.microsoft.com/office/drawing/2014/main" id="{59134497-E75B-48A4-91DD-EA0D8766ED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id="{D7863F84-58C6-42BD-8450-BB1EF0A0CAB5}"/>
              </a:ext>
            </a:extLst>
          </p:cNvPr>
          <p:cNvSpPr>
            <a:spLocks noGrp="1"/>
          </p:cNvSpPr>
          <p:nvPr>
            <p:ph type="dt" sz="half" idx="10"/>
          </p:nvPr>
        </p:nvSpPr>
        <p:spPr/>
        <p:txBody>
          <a:bodyPr/>
          <a:lstStyle/>
          <a:p>
            <a:fld id="{21B4348C-36CF-493F-87A0-F09F5C79557B}" type="datetime1">
              <a:rPr lang="zh-TW" altLang="en-US" smtClean="0"/>
              <a:t>2022/4/12</a:t>
            </a:fld>
            <a:endParaRPr lang="zh-TW" altLang="en-US"/>
          </a:p>
        </p:txBody>
      </p:sp>
      <p:sp>
        <p:nvSpPr>
          <p:cNvPr id="5" name="頁尾版面配置區 4">
            <a:extLst>
              <a:ext uri="{FF2B5EF4-FFF2-40B4-BE49-F238E27FC236}">
                <a16:creationId xmlns:a16="http://schemas.microsoft.com/office/drawing/2014/main" id="{98432305-1513-4FF2-B137-EE8BE60701C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A45DE15-CC67-477E-9512-252BB1C19B01}"/>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512610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0FF7CE-2933-4750-A85D-DACE9F916DBC}"/>
              </a:ext>
            </a:extLst>
          </p:cNvPr>
          <p:cNvSpPr>
            <a:spLocks noGrp="1"/>
          </p:cNvSpPr>
          <p:nvPr>
            <p:ph type="title"/>
          </p:nvPr>
        </p:nvSpPr>
        <p:spPr/>
        <p:txBody>
          <a:body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F3F8675F-A7F4-411C-87FE-AF53DB2321FB}"/>
              </a:ext>
            </a:extLst>
          </p:cNvPr>
          <p:cNvSpPr>
            <a:spLocks noGrp="1"/>
          </p:cNvSpPr>
          <p:nvPr>
            <p:ph idx="1"/>
          </p:nvPr>
        </p:nvSpPr>
        <p:spPr/>
        <p:txBody>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74D891A1-BED0-4372-94A4-FAEA0FDB1AB8}"/>
              </a:ext>
            </a:extLst>
          </p:cNvPr>
          <p:cNvSpPr>
            <a:spLocks noGrp="1"/>
          </p:cNvSpPr>
          <p:nvPr>
            <p:ph type="dt" sz="half" idx="10"/>
          </p:nvPr>
        </p:nvSpPr>
        <p:spPr/>
        <p:txBody>
          <a:bodyPr/>
          <a:lstStyle/>
          <a:p>
            <a:fld id="{9D8D1CB8-68CC-40D0-8B95-D3C3A7ADB4E8}" type="datetime1">
              <a:rPr lang="zh-TW" altLang="en-US" smtClean="0"/>
              <a:t>2022/4/12</a:t>
            </a:fld>
            <a:endParaRPr lang="zh-TW" altLang="en-US"/>
          </a:p>
        </p:txBody>
      </p:sp>
      <p:sp>
        <p:nvSpPr>
          <p:cNvPr id="5" name="頁尾版面配置區 4">
            <a:extLst>
              <a:ext uri="{FF2B5EF4-FFF2-40B4-BE49-F238E27FC236}">
                <a16:creationId xmlns:a16="http://schemas.microsoft.com/office/drawing/2014/main" id="{5ADB4587-43E1-4B31-85FA-4F512D06B04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E62905B-D2C7-4BB5-A1C0-9C466C3C3381}"/>
              </a:ext>
            </a:extLst>
          </p:cNvPr>
          <p:cNvSpPr>
            <a:spLocks noGrp="1"/>
          </p:cNvSpPr>
          <p:nvPr>
            <p:ph type="sldNum" sz="quarter" idx="12"/>
          </p:nvPr>
        </p:nvSpPr>
        <p:spPr/>
        <p:txBody>
          <a:bodyPr/>
          <a:lstStyle>
            <a:lvl1pPr>
              <a:defRPr sz="2400">
                <a:latin typeface="源流明體 M" panose="02020500000000000000" pitchFamily="18" charset="-120"/>
                <a:ea typeface="源流明體 M" panose="02020500000000000000" pitchFamily="18" charset="-120"/>
              </a:defRPr>
            </a:lvl1pPr>
          </a:lstStyle>
          <a:p>
            <a:fld id="{4CD2C34A-D3D3-4A9B-8692-9279E332F0C9}" type="slidenum">
              <a:rPr lang="zh-TW" altLang="en-US" smtClean="0"/>
              <a:pPr/>
              <a:t>‹#›</a:t>
            </a:fld>
            <a:endParaRPr lang="zh-TW" altLang="en-US" dirty="0"/>
          </a:p>
        </p:txBody>
      </p:sp>
    </p:spTree>
    <p:extLst>
      <p:ext uri="{BB962C8B-B14F-4D97-AF65-F5344CB8AC3E}">
        <p14:creationId xmlns:p14="http://schemas.microsoft.com/office/powerpoint/2010/main" val="754709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CA837B-11EB-4BCD-BB75-016BDBC72001}"/>
              </a:ext>
            </a:extLst>
          </p:cNvPr>
          <p:cNvSpPr>
            <a:spLocks noGrp="1"/>
          </p:cNvSpPr>
          <p:nvPr>
            <p:ph type="title"/>
          </p:nvPr>
        </p:nvSpPr>
        <p:spPr>
          <a:xfrm>
            <a:off x="831850" y="1709738"/>
            <a:ext cx="10515600" cy="2852737"/>
          </a:xfrm>
        </p:spPr>
        <p:txBody>
          <a:bodyPr anchor="b"/>
          <a:lstStyle>
            <a:lvl1pPr>
              <a:defRPr sz="6000"/>
            </a:lvl1p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601CEDA6-E03F-4FC9-9AE0-3165E22F83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dirty="0"/>
              <a:t>按一下以編輯母片文字樣式</a:t>
            </a:r>
          </a:p>
        </p:txBody>
      </p:sp>
      <p:sp>
        <p:nvSpPr>
          <p:cNvPr id="4" name="日期版面配置區 3">
            <a:extLst>
              <a:ext uri="{FF2B5EF4-FFF2-40B4-BE49-F238E27FC236}">
                <a16:creationId xmlns:a16="http://schemas.microsoft.com/office/drawing/2014/main" id="{00B5DA1D-6AE9-48E7-B940-0B03E7173D24}"/>
              </a:ext>
            </a:extLst>
          </p:cNvPr>
          <p:cNvSpPr>
            <a:spLocks noGrp="1"/>
          </p:cNvSpPr>
          <p:nvPr>
            <p:ph type="dt" sz="half" idx="10"/>
          </p:nvPr>
        </p:nvSpPr>
        <p:spPr/>
        <p:txBody>
          <a:bodyPr/>
          <a:lstStyle/>
          <a:p>
            <a:fld id="{5E79369E-9364-4DE1-B777-922645A66F1A}" type="datetime1">
              <a:rPr lang="zh-TW" altLang="en-US" smtClean="0"/>
              <a:t>2022/4/12</a:t>
            </a:fld>
            <a:endParaRPr lang="zh-TW" altLang="en-US"/>
          </a:p>
        </p:txBody>
      </p:sp>
      <p:sp>
        <p:nvSpPr>
          <p:cNvPr id="5" name="頁尾版面配置區 4">
            <a:extLst>
              <a:ext uri="{FF2B5EF4-FFF2-40B4-BE49-F238E27FC236}">
                <a16:creationId xmlns:a16="http://schemas.microsoft.com/office/drawing/2014/main" id="{69AA8402-DA28-4A1A-A558-D9347B92172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39B33D7-3156-4125-A854-05E2F5EC21C9}"/>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030135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C2D9AB-19FC-4A41-8B16-512340B33FF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9427EFF3-6358-445E-AB7A-1BC735609739}"/>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60E9C49-7EE0-48B3-B571-72D3290F1033}"/>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F1A1EF6-39FE-482A-8143-781B6CB2E38E}"/>
              </a:ext>
            </a:extLst>
          </p:cNvPr>
          <p:cNvSpPr>
            <a:spLocks noGrp="1"/>
          </p:cNvSpPr>
          <p:nvPr>
            <p:ph type="dt" sz="half" idx="10"/>
          </p:nvPr>
        </p:nvSpPr>
        <p:spPr/>
        <p:txBody>
          <a:bodyPr/>
          <a:lstStyle/>
          <a:p>
            <a:fld id="{1551FF31-668F-4AB9-96F0-D30DF02CF383}" type="datetime1">
              <a:rPr lang="zh-TW" altLang="en-US" smtClean="0"/>
              <a:t>2022/4/12</a:t>
            </a:fld>
            <a:endParaRPr lang="zh-TW" altLang="en-US"/>
          </a:p>
        </p:txBody>
      </p:sp>
      <p:sp>
        <p:nvSpPr>
          <p:cNvPr id="6" name="頁尾版面配置區 5">
            <a:extLst>
              <a:ext uri="{FF2B5EF4-FFF2-40B4-BE49-F238E27FC236}">
                <a16:creationId xmlns:a16="http://schemas.microsoft.com/office/drawing/2014/main" id="{589D48EB-695D-48D5-972D-703BA95FA53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DEBC84-B4B2-48A5-9453-4968DF6013A8}"/>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635305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364652-1B77-4696-A668-DE346840B3F0}"/>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5EA96D6-19BA-4F0C-9D27-5E3C912623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6DD1974A-B943-4208-8541-2CC976952B9C}"/>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7F423B03-A8AF-4A4A-8E8F-F37A0EC215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A68F243B-B7F9-4BFF-961C-9D0B9CDCABF6}"/>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7FF30C15-CFD8-4836-816C-2F7AD002FCA8}"/>
              </a:ext>
            </a:extLst>
          </p:cNvPr>
          <p:cNvSpPr>
            <a:spLocks noGrp="1"/>
          </p:cNvSpPr>
          <p:nvPr>
            <p:ph type="dt" sz="half" idx="10"/>
          </p:nvPr>
        </p:nvSpPr>
        <p:spPr/>
        <p:txBody>
          <a:bodyPr/>
          <a:lstStyle/>
          <a:p>
            <a:fld id="{5015F927-1548-411C-9F0A-7E2338821FD2}" type="datetime1">
              <a:rPr lang="zh-TW" altLang="en-US" smtClean="0"/>
              <a:t>2022/4/12</a:t>
            </a:fld>
            <a:endParaRPr lang="zh-TW" altLang="en-US"/>
          </a:p>
        </p:txBody>
      </p:sp>
      <p:sp>
        <p:nvSpPr>
          <p:cNvPr id="8" name="頁尾版面配置區 7">
            <a:extLst>
              <a:ext uri="{FF2B5EF4-FFF2-40B4-BE49-F238E27FC236}">
                <a16:creationId xmlns:a16="http://schemas.microsoft.com/office/drawing/2014/main" id="{BB75EC47-F26E-4E34-8F29-34396015820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0357AA1-531D-48AF-9CCE-B1E9F1D580E8}"/>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3207383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71D42C-7250-4132-82B5-5BC22B5AA61E}"/>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5A93FF5C-9744-48EF-A3FE-F6AB3634F768}"/>
              </a:ext>
            </a:extLst>
          </p:cNvPr>
          <p:cNvSpPr>
            <a:spLocks noGrp="1"/>
          </p:cNvSpPr>
          <p:nvPr>
            <p:ph type="dt" sz="half" idx="10"/>
          </p:nvPr>
        </p:nvSpPr>
        <p:spPr/>
        <p:txBody>
          <a:bodyPr/>
          <a:lstStyle/>
          <a:p>
            <a:fld id="{E8CD5000-B342-4B97-BFC6-0D5CDADFA95C}" type="datetime1">
              <a:rPr lang="zh-TW" altLang="en-US" smtClean="0"/>
              <a:t>2022/4/12</a:t>
            </a:fld>
            <a:endParaRPr lang="zh-TW" altLang="en-US"/>
          </a:p>
        </p:txBody>
      </p:sp>
      <p:sp>
        <p:nvSpPr>
          <p:cNvPr id="4" name="頁尾版面配置區 3">
            <a:extLst>
              <a:ext uri="{FF2B5EF4-FFF2-40B4-BE49-F238E27FC236}">
                <a16:creationId xmlns:a16="http://schemas.microsoft.com/office/drawing/2014/main" id="{601019B5-97EB-4FAA-B9E0-A8872AE738E1}"/>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33A332F1-DF5D-4F87-97BF-68EBD8F1352C}"/>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958906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B876C78C-4473-4753-A6D0-22BA1F476198}"/>
              </a:ext>
            </a:extLst>
          </p:cNvPr>
          <p:cNvSpPr>
            <a:spLocks noGrp="1"/>
          </p:cNvSpPr>
          <p:nvPr>
            <p:ph type="dt" sz="half" idx="10"/>
          </p:nvPr>
        </p:nvSpPr>
        <p:spPr/>
        <p:txBody>
          <a:bodyPr/>
          <a:lstStyle/>
          <a:p>
            <a:fld id="{F39CF939-D763-48D5-8B03-D0F1129A1E9E}" type="datetime1">
              <a:rPr lang="zh-TW" altLang="en-US" smtClean="0"/>
              <a:t>2022/4/12</a:t>
            </a:fld>
            <a:endParaRPr lang="zh-TW" altLang="en-US"/>
          </a:p>
        </p:txBody>
      </p:sp>
      <p:sp>
        <p:nvSpPr>
          <p:cNvPr id="3" name="頁尾版面配置區 2">
            <a:extLst>
              <a:ext uri="{FF2B5EF4-FFF2-40B4-BE49-F238E27FC236}">
                <a16:creationId xmlns:a16="http://schemas.microsoft.com/office/drawing/2014/main" id="{60A9D2FC-48F6-4EB8-9020-7AACF6C93FB7}"/>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AF61A111-BA32-4DCC-B1B3-F6F29930C813}"/>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360765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96626C-3788-4FAE-8B9A-B23CC278E365}"/>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B9050D94-23AF-4060-B5E4-D28F7AF294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47E624D-101B-4B1B-A033-653188284A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163E474D-7185-4142-8E1A-C096A190E30D}"/>
              </a:ext>
            </a:extLst>
          </p:cNvPr>
          <p:cNvSpPr>
            <a:spLocks noGrp="1"/>
          </p:cNvSpPr>
          <p:nvPr>
            <p:ph type="dt" sz="half" idx="10"/>
          </p:nvPr>
        </p:nvSpPr>
        <p:spPr/>
        <p:txBody>
          <a:bodyPr/>
          <a:lstStyle/>
          <a:p>
            <a:fld id="{8F3FAF7E-03FF-47C7-BE82-6927213C9CE5}" type="datetime1">
              <a:rPr lang="zh-TW" altLang="en-US" smtClean="0"/>
              <a:t>2022/4/12</a:t>
            </a:fld>
            <a:endParaRPr lang="zh-TW" altLang="en-US"/>
          </a:p>
        </p:txBody>
      </p:sp>
      <p:sp>
        <p:nvSpPr>
          <p:cNvPr id="6" name="頁尾版面配置區 5">
            <a:extLst>
              <a:ext uri="{FF2B5EF4-FFF2-40B4-BE49-F238E27FC236}">
                <a16:creationId xmlns:a16="http://schemas.microsoft.com/office/drawing/2014/main" id="{ED8FD9AE-93F8-4516-981E-888A3585872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7C235FE-7EC6-45BD-AFD3-28E236227C22}"/>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206267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BEFEB1-3B54-45E8-9090-D0CF4FF911B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4CBE35E7-646E-4404-821A-D22E70E0B0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72357CA3-B57C-4FE1-AA0C-39A1BB09A4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D38B033-98F0-477A-A016-863BD32FF2DC}"/>
              </a:ext>
            </a:extLst>
          </p:cNvPr>
          <p:cNvSpPr>
            <a:spLocks noGrp="1"/>
          </p:cNvSpPr>
          <p:nvPr>
            <p:ph type="dt" sz="half" idx="10"/>
          </p:nvPr>
        </p:nvSpPr>
        <p:spPr/>
        <p:txBody>
          <a:bodyPr/>
          <a:lstStyle/>
          <a:p>
            <a:fld id="{8EFEA15A-BC96-4FDC-81B9-0D28C6E02324}" type="datetime1">
              <a:rPr lang="zh-TW" altLang="en-US" smtClean="0"/>
              <a:t>2022/4/12</a:t>
            </a:fld>
            <a:endParaRPr lang="zh-TW" altLang="en-US"/>
          </a:p>
        </p:txBody>
      </p:sp>
      <p:sp>
        <p:nvSpPr>
          <p:cNvPr id="6" name="頁尾版面配置區 5">
            <a:extLst>
              <a:ext uri="{FF2B5EF4-FFF2-40B4-BE49-F238E27FC236}">
                <a16:creationId xmlns:a16="http://schemas.microsoft.com/office/drawing/2014/main" id="{217603EF-D0A2-4BE2-BB6E-F1E7428564D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C60FDF8-CDA0-4176-93FB-878ED2BD301B}"/>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723221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CE1F33-6DA3-4E3D-A50B-59EF378400A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8453AB78-8699-463C-8D35-0DAE4736C1FD}"/>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B0C9C6C-B437-4A6A-B50E-D76A9DFEF2A5}"/>
              </a:ext>
            </a:extLst>
          </p:cNvPr>
          <p:cNvSpPr>
            <a:spLocks noGrp="1"/>
          </p:cNvSpPr>
          <p:nvPr>
            <p:ph type="dt" sz="half" idx="10"/>
          </p:nvPr>
        </p:nvSpPr>
        <p:spPr/>
        <p:txBody>
          <a:bodyPr/>
          <a:lstStyle/>
          <a:p>
            <a:fld id="{15698257-1A0C-4C00-86B7-D3CBE1E4FDE3}" type="datetime1">
              <a:rPr lang="zh-TW" altLang="en-US" smtClean="0"/>
              <a:t>2022/4/12</a:t>
            </a:fld>
            <a:endParaRPr lang="zh-TW" altLang="en-US"/>
          </a:p>
        </p:txBody>
      </p:sp>
      <p:sp>
        <p:nvSpPr>
          <p:cNvPr id="5" name="頁尾版面配置區 4">
            <a:extLst>
              <a:ext uri="{FF2B5EF4-FFF2-40B4-BE49-F238E27FC236}">
                <a16:creationId xmlns:a16="http://schemas.microsoft.com/office/drawing/2014/main" id="{77009B86-8BAF-49D3-9FBD-AF620355BA0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1B07FA9-F3F7-4DA7-A0F4-66D3B567042B}"/>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724161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C295D24-4D4D-472A-AB73-D1239EA9C15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FBDB5D60-51C4-436D-BBDD-F77793327BE6}"/>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6632C48-A4E5-459A-B5AA-57D86A08E29A}"/>
              </a:ext>
            </a:extLst>
          </p:cNvPr>
          <p:cNvSpPr>
            <a:spLocks noGrp="1"/>
          </p:cNvSpPr>
          <p:nvPr>
            <p:ph type="dt" sz="half" idx="10"/>
          </p:nvPr>
        </p:nvSpPr>
        <p:spPr/>
        <p:txBody>
          <a:bodyPr/>
          <a:lstStyle/>
          <a:p>
            <a:fld id="{E3A91720-F347-4FFB-ADA5-0AD2EE56A4E5}" type="datetime1">
              <a:rPr lang="zh-TW" altLang="en-US" smtClean="0"/>
              <a:t>2022/4/12</a:t>
            </a:fld>
            <a:endParaRPr lang="zh-TW" altLang="en-US"/>
          </a:p>
        </p:txBody>
      </p:sp>
      <p:sp>
        <p:nvSpPr>
          <p:cNvPr id="5" name="頁尾版面配置區 4">
            <a:extLst>
              <a:ext uri="{FF2B5EF4-FFF2-40B4-BE49-F238E27FC236}">
                <a16:creationId xmlns:a16="http://schemas.microsoft.com/office/drawing/2014/main" id="{3D1A3D36-B64D-4E79-8824-D40005CB9D0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FCBCD96-2981-4CEB-BF02-CDF1449F88B4}"/>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3023326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0588B45C-60F2-4BCE-B810-D930011E70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AC153474-8A42-4461-A925-C46F64482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F2A84AEC-A2FC-47EE-8B0B-6CF68B8386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0A89E-5F59-45C6-916E-2029F486A7DF}" type="datetime1">
              <a:rPr lang="zh-TW" altLang="en-US" smtClean="0"/>
              <a:t>2022/4/12</a:t>
            </a:fld>
            <a:endParaRPr lang="zh-TW" altLang="en-US"/>
          </a:p>
        </p:txBody>
      </p:sp>
      <p:sp>
        <p:nvSpPr>
          <p:cNvPr id="5" name="頁尾版面配置區 4">
            <a:extLst>
              <a:ext uri="{FF2B5EF4-FFF2-40B4-BE49-F238E27FC236}">
                <a16:creationId xmlns:a16="http://schemas.microsoft.com/office/drawing/2014/main" id="{F389F9A5-C535-4FCE-9462-8748EDBDF1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2D0B99F-AC6F-4C56-843B-B3324F7192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117137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143474-6387-4BE8-A4BF-0CDEA67657E1}"/>
              </a:ext>
            </a:extLst>
          </p:cNvPr>
          <p:cNvSpPr>
            <a:spLocks noGrp="1"/>
          </p:cNvSpPr>
          <p:nvPr>
            <p:ph type="ctrTitle"/>
          </p:nvPr>
        </p:nvSpPr>
        <p:spPr>
          <a:xfrm>
            <a:off x="979715" y="1122363"/>
            <a:ext cx="10232571" cy="2387600"/>
          </a:xfrm>
        </p:spPr>
        <p:txBody>
          <a:bodyPr>
            <a:normAutofit fontScale="90000"/>
          </a:bodyPr>
          <a:lstStyle/>
          <a:p>
            <a:r>
              <a:rPr lang="en-US" altLang="zh-TW" dirty="0"/>
              <a:t>A Fast Algorithm for </a:t>
            </a:r>
            <a:br>
              <a:rPr lang="en-US" altLang="zh-TW" dirty="0"/>
            </a:br>
            <a:r>
              <a:rPr lang="en-US" altLang="zh-TW" dirty="0"/>
              <a:t>Order-Preserving Pattern Matching</a:t>
            </a:r>
            <a:endParaRPr lang="zh-TW" altLang="en-US" dirty="0"/>
          </a:p>
        </p:txBody>
      </p:sp>
      <p:sp>
        <p:nvSpPr>
          <p:cNvPr id="3" name="副標題 2">
            <a:extLst>
              <a:ext uri="{FF2B5EF4-FFF2-40B4-BE49-F238E27FC236}">
                <a16:creationId xmlns:a16="http://schemas.microsoft.com/office/drawing/2014/main" id="{92B8BEBC-EA8D-40AC-8B6F-CE2FB945F54D}"/>
              </a:ext>
            </a:extLst>
          </p:cNvPr>
          <p:cNvSpPr>
            <a:spLocks noGrp="1"/>
          </p:cNvSpPr>
          <p:nvPr>
            <p:ph type="subTitle" idx="1"/>
          </p:nvPr>
        </p:nvSpPr>
        <p:spPr/>
        <p:txBody>
          <a:bodyPr>
            <a:normAutofit/>
          </a:bodyPr>
          <a:lstStyle/>
          <a:p>
            <a:r>
              <a:rPr lang="en-US" altLang="zh-TW" dirty="0" err="1"/>
              <a:t>Sukhyeun</a:t>
            </a:r>
            <a:r>
              <a:rPr lang="en-US" altLang="zh-TW" dirty="0"/>
              <a:t> Cho, </a:t>
            </a:r>
            <a:r>
              <a:rPr lang="en-US" altLang="zh-TW" dirty="0" err="1"/>
              <a:t>Joong</a:t>
            </a:r>
            <a:r>
              <a:rPr lang="en-US" altLang="zh-TW" dirty="0"/>
              <a:t> Chae Na, </a:t>
            </a:r>
            <a:r>
              <a:rPr lang="en-US" altLang="zh-TW" dirty="0" err="1"/>
              <a:t>Kunsoo</a:t>
            </a:r>
            <a:r>
              <a:rPr lang="en-US" altLang="zh-TW" dirty="0"/>
              <a:t> Park, </a:t>
            </a:r>
            <a:r>
              <a:rPr lang="en-US" altLang="zh-TW" dirty="0" err="1"/>
              <a:t>Jeong</a:t>
            </a:r>
            <a:r>
              <a:rPr lang="en-US" altLang="zh-TW" dirty="0"/>
              <a:t> </a:t>
            </a:r>
            <a:r>
              <a:rPr lang="en-US" altLang="zh-TW" dirty="0" err="1"/>
              <a:t>Seop</a:t>
            </a:r>
            <a:r>
              <a:rPr lang="en-US" altLang="zh-TW" dirty="0"/>
              <a:t> Sim</a:t>
            </a:r>
          </a:p>
          <a:p>
            <a:r>
              <a:rPr lang="en-US" altLang="zh-TW" dirty="0"/>
              <a:t>Information Processing Letters 115 (2015) pp.397 - 402</a:t>
            </a:r>
          </a:p>
        </p:txBody>
      </p:sp>
      <p:sp>
        <p:nvSpPr>
          <p:cNvPr id="5" name="文字方塊 4">
            <a:extLst>
              <a:ext uri="{FF2B5EF4-FFF2-40B4-BE49-F238E27FC236}">
                <a16:creationId xmlns:a16="http://schemas.microsoft.com/office/drawing/2014/main" id="{D2AB8FE2-23CB-4533-87D5-C2F44C82D244}"/>
              </a:ext>
            </a:extLst>
          </p:cNvPr>
          <p:cNvSpPr txBox="1"/>
          <p:nvPr/>
        </p:nvSpPr>
        <p:spPr>
          <a:xfrm>
            <a:off x="9466217" y="6211669"/>
            <a:ext cx="2725783" cy="646331"/>
          </a:xfrm>
          <a:prstGeom prst="rect">
            <a:avLst/>
          </a:prstGeom>
          <a:noFill/>
        </p:spPr>
        <p:txBody>
          <a:bodyPr wrap="square" rtlCol="0">
            <a:spAutoFit/>
          </a:bodyPr>
          <a:lstStyle/>
          <a:p>
            <a:r>
              <a:rPr lang="en-US" altLang="zh-TW" dirty="0">
                <a:latin typeface="Times New Roman" panose="02020603050405020304" pitchFamily="18" charset="0"/>
                <a:ea typeface="源流明體 M" panose="02020500000000000000" pitchFamily="18" charset="-120"/>
                <a:cs typeface="Times New Roman" panose="02020603050405020304" pitchFamily="18" charset="0"/>
              </a:rPr>
              <a:t>Presenter: Guan-Ting Chen</a:t>
            </a:r>
          </a:p>
          <a:p>
            <a:r>
              <a:rPr lang="en-US" altLang="zh-TW" dirty="0">
                <a:latin typeface="Times New Roman" panose="02020603050405020304" pitchFamily="18" charset="0"/>
                <a:ea typeface="源流明體 M" panose="02020500000000000000" pitchFamily="18" charset="-120"/>
                <a:cs typeface="Times New Roman" panose="02020603050405020304" pitchFamily="18" charset="0"/>
              </a:rPr>
              <a:t>Date</a:t>
            </a:r>
            <a:r>
              <a:rPr lang="en-US" altLang="zh-TW">
                <a:latin typeface="Times New Roman" panose="02020603050405020304" pitchFamily="18" charset="0"/>
                <a:ea typeface="源流明體 M" panose="02020500000000000000" pitchFamily="18" charset="-120"/>
                <a:cs typeface="Times New Roman" panose="02020603050405020304" pitchFamily="18" charset="0"/>
              </a:rPr>
              <a:t>: Apr. </a:t>
            </a:r>
            <a:r>
              <a:rPr lang="en-US" altLang="zh-TW" dirty="0">
                <a:latin typeface="Times New Roman" panose="02020603050405020304" pitchFamily="18" charset="0"/>
                <a:ea typeface="源流明體 M" panose="02020500000000000000" pitchFamily="18" charset="-120"/>
                <a:cs typeface="Times New Roman" panose="02020603050405020304" pitchFamily="18" charset="0"/>
              </a:rPr>
              <a:t>12, 2022</a:t>
            </a:r>
          </a:p>
        </p:txBody>
      </p:sp>
    </p:spTree>
    <p:extLst>
      <p:ext uri="{BB962C8B-B14F-4D97-AF65-F5344CB8AC3E}">
        <p14:creationId xmlns:p14="http://schemas.microsoft.com/office/powerpoint/2010/main" val="99284616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24AF41-DCC8-4BFE-B3AA-9D793E863EAC}"/>
              </a:ext>
            </a:extLst>
          </p:cNvPr>
          <p:cNvSpPr>
            <a:spLocks noGrp="1"/>
          </p:cNvSpPr>
          <p:nvPr>
            <p:ph type="title"/>
          </p:nvPr>
        </p:nvSpPr>
        <p:spPr/>
        <p:txBody>
          <a:bodyPr/>
          <a:lstStyle/>
          <a:p>
            <a:r>
              <a:rPr lang="en-US" altLang="zh-TW" dirty="0"/>
              <a:t>A</a:t>
            </a:r>
            <a:r>
              <a:rPr lang="pt-BR" altLang="zh-TW" dirty="0"/>
              <a:t>bstract</a:t>
            </a:r>
            <a:endParaRPr lang="zh-TW" altLang="en-US" dirty="0"/>
          </a:p>
        </p:txBody>
      </p:sp>
      <p:sp>
        <p:nvSpPr>
          <p:cNvPr id="3" name="內容版面配置區 2">
            <a:extLst>
              <a:ext uri="{FF2B5EF4-FFF2-40B4-BE49-F238E27FC236}">
                <a16:creationId xmlns:a16="http://schemas.microsoft.com/office/drawing/2014/main" id="{2FBE2A12-C9F0-4093-A018-44F05764C477}"/>
              </a:ext>
            </a:extLst>
          </p:cNvPr>
          <p:cNvSpPr>
            <a:spLocks noGrp="1"/>
          </p:cNvSpPr>
          <p:nvPr>
            <p:ph idx="1"/>
          </p:nvPr>
        </p:nvSpPr>
        <p:spPr/>
        <p:txBody>
          <a:bodyPr>
            <a:noAutofit/>
          </a:bodyPr>
          <a:lstStyle/>
          <a:p>
            <a:pPr marL="0" indent="0">
              <a:buNone/>
            </a:pPr>
            <a:r>
              <a:rPr lang="en-US" altLang="zh-TW" sz="2400" dirty="0"/>
              <a:t>Given a text T and a pattern P, the order-preserving pattern matching (OPPM) problem is to ﬁnd all substrings in T which have the same relative orders as  P. The OPPM has been studied in the ﬁelds of ﬁnding some patterns affected by relative orders, not by their absolute values. In this paper, we present a method of deciding the order-isomorphism between two strings even when there are same characters. Then, we show that the bad character rule of the </a:t>
            </a:r>
            <a:r>
              <a:rPr lang="en-US" altLang="zh-TW" sz="2400" dirty="0" err="1"/>
              <a:t>Horspool</a:t>
            </a:r>
            <a:r>
              <a:rPr lang="en-US" altLang="zh-TW" sz="2400" dirty="0"/>
              <a:t> algorithm for generic pattern matching problems can be applied to the OPPM problem and we present a space-eﬃcient algorithm for computing shift tables for text search. Finally, we combine our bad character rule with the KMP-based algorithm to improve the worst-case running time. We give experimental results to show that our algorithm is about 2 to 6 times faster than the KMP-based algorithm in reasonable cases.</a:t>
            </a:r>
            <a:endParaRPr lang="zh-TW" altLang="en-US" sz="2400" dirty="0"/>
          </a:p>
        </p:txBody>
      </p:sp>
      <p:sp>
        <p:nvSpPr>
          <p:cNvPr id="4" name="投影片編號版面配置區 3">
            <a:extLst>
              <a:ext uri="{FF2B5EF4-FFF2-40B4-BE49-F238E27FC236}">
                <a16:creationId xmlns:a16="http://schemas.microsoft.com/office/drawing/2014/main" id="{B9099A3E-11CF-4D79-A20E-36E8E58CE980}"/>
              </a:ext>
            </a:extLst>
          </p:cNvPr>
          <p:cNvSpPr>
            <a:spLocks noGrp="1"/>
          </p:cNvSpPr>
          <p:nvPr>
            <p:ph type="sldNum" sz="quarter" idx="12"/>
          </p:nvPr>
        </p:nvSpPr>
        <p:spPr/>
        <p:txBody>
          <a:bodyPr/>
          <a:lstStyle/>
          <a:p>
            <a:fld id="{4CD2C34A-D3D3-4A9B-8692-9279E332F0C9}" type="slidenum">
              <a:rPr lang="zh-TW" altLang="en-US" smtClean="0"/>
              <a:t>2</a:t>
            </a:fld>
            <a:endParaRPr lang="zh-TW" altLang="en-US" dirty="0"/>
          </a:p>
        </p:txBody>
      </p:sp>
    </p:spTree>
    <p:extLst>
      <p:ext uri="{BB962C8B-B14F-4D97-AF65-F5344CB8AC3E}">
        <p14:creationId xmlns:p14="http://schemas.microsoft.com/office/powerpoint/2010/main" val="84723666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A4C0D3-3BB6-4EF1-BE73-BA14A72497BC}"/>
              </a:ext>
            </a:extLst>
          </p:cNvPr>
          <p:cNvSpPr>
            <a:spLocks noGrp="1"/>
          </p:cNvSpPr>
          <p:nvPr>
            <p:ph type="title"/>
          </p:nvPr>
        </p:nvSpPr>
        <p:spPr/>
        <p:txBody>
          <a:bodyPr/>
          <a:lstStyle/>
          <a:p>
            <a:r>
              <a:rPr lang="en-US" altLang="zh-TW" dirty="0"/>
              <a:t>Order-Preserving Pattern Matching</a:t>
            </a:r>
            <a:endParaRPr lang="zh-TW" altLang="en-US" dirty="0"/>
          </a:p>
        </p:txBody>
      </p:sp>
      <p:pic>
        <p:nvPicPr>
          <p:cNvPr id="6" name="內容版面配置區 5">
            <a:extLst>
              <a:ext uri="{FF2B5EF4-FFF2-40B4-BE49-F238E27FC236}">
                <a16:creationId xmlns:a16="http://schemas.microsoft.com/office/drawing/2014/main" id="{1DC1FE29-0425-4148-BABF-F27C7E81867A}"/>
              </a:ext>
            </a:extLst>
          </p:cNvPr>
          <p:cNvPicPr>
            <a:picLocks noGrp="1" noChangeAspect="1"/>
          </p:cNvPicPr>
          <p:nvPr>
            <p:ph idx="1"/>
          </p:nvPr>
        </p:nvPicPr>
        <p:blipFill>
          <a:blip r:embed="rId2"/>
          <a:stretch>
            <a:fillRect/>
          </a:stretch>
        </p:blipFill>
        <p:spPr>
          <a:xfrm>
            <a:off x="838200" y="1953874"/>
            <a:ext cx="10515600" cy="4094840"/>
          </a:xfrm>
        </p:spPr>
      </p:pic>
      <p:sp>
        <p:nvSpPr>
          <p:cNvPr id="4" name="投影片編號版面配置區 3">
            <a:extLst>
              <a:ext uri="{FF2B5EF4-FFF2-40B4-BE49-F238E27FC236}">
                <a16:creationId xmlns:a16="http://schemas.microsoft.com/office/drawing/2014/main" id="{A8FB612C-4606-4A18-836E-659FA22D5541}"/>
              </a:ext>
            </a:extLst>
          </p:cNvPr>
          <p:cNvSpPr>
            <a:spLocks noGrp="1"/>
          </p:cNvSpPr>
          <p:nvPr>
            <p:ph type="sldNum" sz="quarter" idx="12"/>
          </p:nvPr>
        </p:nvSpPr>
        <p:spPr/>
        <p:txBody>
          <a:bodyPr/>
          <a:lstStyle/>
          <a:p>
            <a:fld id="{4CD2C34A-D3D3-4A9B-8692-9279E332F0C9}" type="slidenum">
              <a:rPr lang="zh-TW" altLang="en-US" smtClean="0"/>
              <a:pPr/>
              <a:t>3</a:t>
            </a:fld>
            <a:endParaRPr lang="zh-TW" altLang="en-US" dirty="0"/>
          </a:p>
        </p:txBody>
      </p:sp>
    </p:spTree>
    <p:extLst>
      <p:ext uri="{BB962C8B-B14F-4D97-AF65-F5344CB8AC3E}">
        <p14:creationId xmlns:p14="http://schemas.microsoft.com/office/powerpoint/2010/main" val="284417241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FC28E08-AFA8-4518-940B-6908DC409F74}"/>
              </a:ext>
            </a:extLst>
          </p:cNvPr>
          <p:cNvSpPr>
            <a:spLocks noGrp="1"/>
          </p:cNvSpPr>
          <p:nvPr>
            <p:ph type="title"/>
          </p:nvPr>
        </p:nvSpPr>
        <p:spPr/>
        <p:txBody>
          <a:bodyPr/>
          <a:lstStyle/>
          <a:p>
            <a:r>
              <a:rPr lang="en-US" altLang="zh-TW" dirty="0"/>
              <a:t>Preliminaries</a:t>
            </a:r>
            <a:endParaRPr lang="zh-TW" altLang="en-US" dirty="0"/>
          </a:p>
        </p:txBody>
      </p:sp>
      <p:sp>
        <p:nvSpPr>
          <p:cNvPr id="4" name="投影片編號版面配置區 3">
            <a:extLst>
              <a:ext uri="{FF2B5EF4-FFF2-40B4-BE49-F238E27FC236}">
                <a16:creationId xmlns:a16="http://schemas.microsoft.com/office/drawing/2014/main" id="{7B539D0D-6B82-4A3B-9166-B4AF2EF5402C}"/>
              </a:ext>
            </a:extLst>
          </p:cNvPr>
          <p:cNvSpPr>
            <a:spLocks noGrp="1"/>
          </p:cNvSpPr>
          <p:nvPr>
            <p:ph type="sldNum" sz="quarter" idx="12"/>
          </p:nvPr>
        </p:nvSpPr>
        <p:spPr/>
        <p:txBody>
          <a:bodyPr/>
          <a:lstStyle/>
          <a:p>
            <a:fld id="{4CD2C34A-D3D3-4A9B-8692-9279E332F0C9}" type="slidenum">
              <a:rPr lang="zh-TW" altLang="en-US" smtClean="0"/>
              <a:pPr/>
              <a:t>4</a:t>
            </a:fld>
            <a:endParaRPr lang="zh-TW" altLang="en-US" dirty="0"/>
          </a:p>
        </p:txBody>
      </p:sp>
      <p:pic>
        <p:nvPicPr>
          <p:cNvPr id="7" name="內容版面配置區 6">
            <a:extLst>
              <a:ext uri="{FF2B5EF4-FFF2-40B4-BE49-F238E27FC236}">
                <a16:creationId xmlns:a16="http://schemas.microsoft.com/office/drawing/2014/main" id="{C34C59C8-38C5-4D37-94C0-BB622778C966}"/>
              </a:ext>
            </a:extLst>
          </p:cNvPr>
          <p:cNvPicPr>
            <a:picLocks noGrp="1" noChangeAspect="1"/>
          </p:cNvPicPr>
          <p:nvPr>
            <p:ph idx="1"/>
          </p:nvPr>
        </p:nvPicPr>
        <p:blipFill>
          <a:blip r:embed="rId2"/>
          <a:stretch>
            <a:fillRect/>
          </a:stretch>
        </p:blipFill>
        <p:spPr>
          <a:xfrm>
            <a:off x="467523" y="1562538"/>
            <a:ext cx="11256953" cy="3178873"/>
          </a:xfrm>
          <a:prstGeom prst="rect">
            <a:avLst/>
          </a:prstGeom>
        </p:spPr>
      </p:pic>
      <p:cxnSp>
        <p:nvCxnSpPr>
          <p:cNvPr id="9" name="直線接點 8">
            <a:extLst>
              <a:ext uri="{FF2B5EF4-FFF2-40B4-BE49-F238E27FC236}">
                <a16:creationId xmlns:a16="http://schemas.microsoft.com/office/drawing/2014/main" id="{20376BA8-ABC7-4591-BCC2-2F0561D8BEB8}"/>
              </a:ext>
            </a:extLst>
          </p:cNvPr>
          <p:cNvCxnSpPr>
            <a:cxnSpLocks/>
          </p:cNvCxnSpPr>
          <p:nvPr/>
        </p:nvCxnSpPr>
        <p:spPr>
          <a:xfrm>
            <a:off x="2926079" y="2745938"/>
            <a:ext cx="316992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線單箭頭接點 12">
            <a:extLst>
              <a:ext uri="{FF2B5EF4-FFF2-40B4-BE49-F238E27FC236}">
                <a16:creationId xmlns:a16="http://schemas.microsoft.com/office/drawing/2014/main" id="{2AD225D5-9751-4CCB-8136-C27F0406EF80}"/>
              </a:ext>
            </a:extLst>
          </p:cNvPr>
          <p:cNvCxnSpPr>
            <a:cxnSpLocks/>
          </p:cNvCxnSpPr>
          <p:nvPr/>
        </p:nvCxnSpPr>
        <p:spPr>
          <a:xfrm>
            <a:off x="6095999" y="2745938"/>
            <a:ext cx="984069" cy="2895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文字方塊 15">
            <a:extLst>
              <a:ext uri="{FF2B5EF4-FFF2-40B4-BE49-F238E27FC236}">
                <a16:creationId xmlns:a16="http://schemas.microsoft.com/office/drawing/2014/main" id="{94DF9C81-6D26-482E-BBF2-399E543BFB74}"/>
              </a:ext>
            </a:extLst>
          </p:cNvPr>
          <p:cNvSpPr txBox="1"/>
          <p:nvPr/>
        </p:nvSpPr>
        <p:spPr>
          <a:xfrm>
            <a:off x="6405932" y="2484327"/>
            <a:ext cx="364202" cy="523220"/>
          </a:xfrm>
          <a:prstGeom prst="rect">
            <a:avLst/>
          </a:prstGeom>
          <a:noFill/>
        </p:spPr>
        <p:txBody>
          <a:bodyPr wrap="none" rtlCol="0">
            <a:spAutoFit/>
          </a:bodyPr>
          <a:lstStyle/>
          <a:p>
            <a:r>
              <a:rPr lang="zh-TW" altLang="en-US" sz="2800" dirty="0">
                <a:solidFill>
                  <a:srgbClr val="FF0000"/>
                </a:solidFill>
              </a:rPr>
              <a:t>≤</a:t>
            </a:r>
          </a:p>
        </p:txBody>
      </p:sp>
      <p:sp>
        <p:nvSpPr>
          <p:cNvPr id="18" name="文字方塊 17">
            <a:extLst>
              <a:ext uri="{FF2B5EF4-FFF2-40B4-BE49-F238E27FC236}">
                <a16:creationId xmlns:a16="http://schemas.microsoft.com/office/drawing/2014/main" id="{7996F235-3638-4358-BCA5-3A3EF2325515}"/>
              </a:ext>
            </a:extLst>
          </p:cNvPr>
          <p:cNvSpPr txBox="1"/>
          <p:nvPr/>
        </p:nvSpPr>
        <p:spPr>
          <a:xfrm>
            <a:off x="838200" y="4741411"/>
            <a:ext cx="3169920" cy="1569660"/>
          </a:xfrm>
          <a:prstGeom prst="rect">
            <a:avLst/>
          </a:prstGeom>
          <a:noFill/>
        </p:spPr>
        <p:txBody>
          <a:bodyPr wrap="square" rtlCol="0">
            <a:spAutoFit/>
          </a:bodyPr>
          <a:lstStyle/>
          <a:p>
            <a:pPr marL="342900" indent="-342900">
              <a:buFont typeface="Arial" panose="020B0604020202020204" pitchFamily="34" charset="0"/>
              <a:buChar char="•"/>
            </a:pPr>
            <a:r>
              <a:rPr lang="en-US" altLang="zh-TW" sz="2400" i="1" dirty="0" err="1">
                <a:latin typeface="Times New Roman" panose="02020603050405020304" pitchFamily="18" charset="0"/>
                <a:ea typeface="源流明體 M" panose="02020500000000000000" pitchFamily="18" charset="-120"/>
                <a:cs typeface="Times New Roman" panose="02020603050405020304" pitchFamily="18" charset="0"/>
              </a:rPr>
              <a:t>LMaxp</a:t>
            </a:r>
            <a:r>
              <a:rPr lang="en-US" altLang="zh-TW" sz="2400" dirty="0">
                <a:latin typeface="Times New Roman" panose="02020603050405020304" pitchFamily="18" charset="0"/>
                <a:ea typeface="源流明體 M" panose="02020500000000000000" pitchFamily="18" charset="-120"/>
                <a:cs typeface="Times New Roman" panose="02020603050405020304" pitchFamily="18" charset="0"/>
              </a:rPr>
              <a:t>[</a:t>
            </a:r>
            <a:r>
              <a:rPr lang="en-US" altLang="zh-TW" sz="2400" dirty="0" err="1">
                <a:latin typeface="Times New Roman" panose="02020603050405020304" pitchFamily="18" charset="0"/>
                <a:ea typeface="源流明體 M" panose="02020500000000000000" pitchFamily="18" charset="-120"/>
                <a:cs typeface="Times New Roman" panose="02020603050405020304" pitchFamily="18" charset="0"/>
              </a:rPr>
              <a:t>i</a:t>
            </a:r>
            <a:r>
              <a:rPr lang="en-US" altLang="zh-TW" sz="2400" dirty="0">
                <a:latin typeface="Times New Roman" panose="02020603050405020304" pitchFamily="18" charset="0"/>
                <a:ea typeface="源流明體 M" panose="02020500000000000000" pitchFamily="18" charset="-120"/>
                <a:cs typeface="Times New Roman" panose="02020603050405020304" pitchFamily="18" charset="0"/>
              </a:rPr>
              <a:t>]</a:t>
            </a:r>
          </a:p>
          <a:p>
            <a:pPr marL="800100" lvl="1" indent="-342900">
              <a:buFont typeface="Arial" panose="020B0604020202020204" pitchFamily="34" charset="0"/>
              <a:buChar char="•"/>
            </a:pPr>
            <a:r>
              <a:rPr lang="en-US" altLang="zh-TW" sz="2400" dirty="0">
                <a:latin typeface="Times New Roman" panose="02020603050405020304" pitchFamily="18" charset="0"/>
                <a:ea typeface="源流明體 M" panose="02020500000000000000" pitchFamily="18" charset="-120"/>
                <a:cs typeface="Times New Roman" panose="02020603050405020304" pitchFamily="18" charset="0"/>
              </a:rPr>
              <a:t>Predecessor</a:t>
            </a:r>
          </a:p>
          <a:p>
            <a:pPr marL="342900" indent="-342900">
              <a:buFont typeface="Arial" panose="020B0604020202020204" pitchFamily="34" charset="0"/>
              <a:buChar char="•"/>
            </a:pPr>
            <a:r>
              <a:rPr lang="en-US" altLang="zh-TW" sz="2400" i="1" dirty="0" err="1">
                <a:latin typeface="Times New Roman" panose="02020603050405020304" pitchFamily="18" charset="0"/>
                <a:ea typeface="源流明體 M" panose="02020500000000000000" pitchFamily="18" charset="-120"/>
                <a:cs typeface="Times New Roman" panose="02020603050405020304" pitchFamily="18" charset="0"/>
              </a:rPr>
              <a:t>Lminp</a:t>
            </a:r>
            <a:r>
              <a:rPr lang="en-US" altLang="zh-TW" sz="2400" dirty="0">
                <a:latin typeface="Times New Roman" panose="02020603050405020304" pitchFamily="18" charset="0"/>
                <a:ea typeface="源流明體 M" panose="02020500000000000000" pitchFamily="18" charset="-120"/>
                <a:cs typeface="Times New Roman" panose="02020603050405020304" pitchFamily="18" charset="0"/>
              </a:rPr>
              <a:t>[</a:t>
            </a:r>
            <a:r>
              <a:rPr lang="en-US" altLang="zh-TW" sz="2400" dirty="0" err="1">
                <a:latin typeface="Times New Roman" panose="02020603050405020304" pitchFamily="18" charset="0"/>
                <a:ea typeface="源流明體 M" panose="02020500000000000000" pitchFamily="18" charset="-120"/>
                <a:cs typeface="Times New Roman" panose="02020603050405020304" pitchFamily="18" charset="0"/>
              </a:rPr>
              <a:t>i</a:t>
            </a:r>
            <a:r>
              <a:rPr lang="en-US" altLang="zh-TW" sz="2400" dirty="0">
                <a:latin typeface="Times New Roman" panose="02020603050405020304" pitchFamily="18" charset="0"/>
                <a:ea typeface="源流明體 M" panose="02020500000000000000" pitchFamily="18" charset="-120"/>
                <a:cs typeface="Times New Roman" panose="02020603050405020304" pitchFamily="18" charset="0"/>
              </a:rPr>
              <a:t>]</a:t>
            </a:r>
          </a:p>
          <a:p>
            <a:pPr marL="800100" lvl="1" indent="-342900">
              <a:buFont typeface="Arial" panose="020B0604020202020204" pitchFamily="34" charset="0"/>
              <a:buChar char="•"/>
            </a:pPr>
            <a:r>
              <a:rPr lang="en-US" altLang="zh-TW" sz="2400" dirty="0">
                <a:latin typeface="Times New Roman" panose="02020603050405020304" pitchFamily="18" charset="0"/>
                <a:ea typeface="源流明體 M" panose="02020500000000000000" pitchFamily="18" charset="-120"/>
                <a:cs typeface="Times New Roman" panose="02020603050405020304" pitchFamily="18" charset="0"/>
              </a:rPr>
              <a:t>Successor</a:t>
            </a:r>
          </a:p>
        </p:txBody>
      </p:sp>
      <p:sp>
        <p:nvSpPr>
          <p:cNvPr id="19" name="內容版面配置區 2">
            <a:extLst>
              <a:ext uri="{FF2B5EF4-FFF2-40B4-BE49-F238E27FC236}">
                <a16:creationId xmlns:a16="http://schemas.microsoft.com/office/drawing/2014/main" id="{0F666C69-8801-41B5-B74B-061C1EEF3EDF}"/>
              </a:ext>
            </a:extLst>
          </p:cNvPr>
          <p:cNvSpPr txBox="1">
            <a:spLocks/>
          </p:cNvSpPr>
          <p:nvPr/>
        </p:nvSpPr>
        <p:spPr>
          <a:xfrm>
            <a:off x="4008120" y="4741411"/>
            <a:ext cx="4500154" cy="1603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altLang="zh-TW" dirty="0"/>
              <a:t>x ≈ y</a:t>
            </a:r>
          </a:p>
          <a:p>
            <a:pPr lvl="1"/>
            <a:r>
              <a:rPr lang="es-ES" altLang="zh-TW" dirty="0"/>
              <a:t>x[i] ≤ x[j] ⇔ y[i] ≤ y[j]</a:t>
            </a:r>
          </a:p>
          <a:p>
            <a:pPr lvl="1"/>
            <a:r>
              <a:rPr lang="el-GR" altLang="zh-TW" i="1" dirty="0"/>
              <a:t>μ</a:t>
            </a:r>
            <a:r>
              <a:rPr lang="es-ES" altLang="zh-TW" baseline="-25000" dirty="0"/>
              <a:t>x</a:t>
            </a:r>
            <a:r>
              <a:rPr lang="es-ES" altLang="zh-TW" dirty="0"/>
              <a:t> = </a:t>
            </a:r>
            <a:r>
              <a:rPr lang="el-GR" altLang="zh-TW" i="1" dirty="0"/>
              <a:t>μ</a:t>
            </a:r>
            <a:r>
              <a:rPr lang="es-ES" altLang="zh-TW" baseline="-25000" dirty="0">
                <a:ea typeface="標楷體" panose="03000509000000000000" pitchFamily="65" charset="-120"/>
              </a:rPr>
              <a:t>y</a:t>
            </a:r>
          </a:p>
        </p:txBody>
      </p:sp>
    </p:spTree>
    <p:extLst>
      <p:ext uri="{BB962C8B-B14F-4D97-AF65-F5344CB8AC3E}">
        <p14:creationId xmlns:p14="http://schemas.microsoft.com/office/powerpoint/2010/main" val="163447107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01C065-9696-4728-9CEC-ABB9D2BFDE45}"/>
              </a:ext>
            </a:extLst>
          </p:cNvPr>
          <p:cNvSpPr>
            <a:spLocks noGrp="1"/>
          </p:cNvSpPr>
          <p:nvPr>
            <p:ph type="title"/>
          </p:nvPr>
        </p:nvSpPr>
        <p:spPr/>
        <p:txBody>
          <a:bodyPr/>
          <a:lstStyle/>
          <a:p>
            <a:r>
              <a:rPr lang="en-US" altLang="zh-TW" dirty="0"/>
              <a:t>Algorithm</a:t>
            </a:r>
            <a:endParaRPr lang="zh-TW" altLang="en-US" dirty="0"/>
          </a:p>
        </p:txBody>
      </p:sp>
      <p:sp>
        <p:nvSpPr>
          <p:cNvPr id="4" name="投影片編號版面配置區 3">
            <a:extLst>
              <a:ext uri="{FF2B5EF4-FFF2-40B4-BE49-F238E27FC236}">
                <a16:creationId xmlns:a16="http://schemas.microsoft.com/office/drawing/2014/main" id="{9F9BA3C6-2E22-4EC5-BFE8-19235862A9FA}"/>
              </a:ext>
            </a:extLst>
          </p:cNvPr>
          <p:cNvSpPr>
            <a:spLocks noGrp="1"/>
          </p:cNvSpPr>
          <p:nvPr>
            <p:ph type="sldNum" sz="quarter" idx="12"/>
          </p:nvPr>
        </p:nvSpPr>
        <p:spPr/>
        <p:txBody>
          <a:bodyPr/>
          <a:lstStyle/>
          <a:p>
            <a:fld id="{4CD2C34A-D3D3-4A9B-8692-9279E332F0C9}" type="slidenum">
              <a:rPr lang="zh-TW" altLang="en-US" smtClean="0"/>
              <a:pPr/>
              <a:t>5</a:t>
            </a:fld>
            <a:endParaRPr lang="zh-TW" altLang="en-US" dirty="0"/>
          </a:p>
        </p:txBody>
      </p:sp>
      <p:sp>
        <p:nvSpPr>
          <p:cNvPr id="7" name="內容版面配置區 6">
            <a:extLst>
              <a:ext uri="{FF2B5EF4-FFF2-40B4-BE49-F238E27FC236}">
                <a16:creationId xmlns:a16="http://schemas.microsoft.com/office/drawing/2014/main" id="{A2A31C4A-74DC-4B6A-8A87-E0A65C519D8A}"/>
              </a:ext>
            </a:extLst>
          </p:cNvPr>
          <p:cNvSpPr>
            <a:spLocks noGrp="1"/>
          </p:cNvSpPr>
          <p:nvPr>
            <p:ph idx="1"/>
          </p:nvPr>
        </p:nvSpPr>
        <p:spPr/>
        <p:txBody>
          <a:bodyPr/>
          <a:lstStyle/>
          <a:p>
            <a:r>
              <a:rPr lang="en-US" altLang="zh-TW" dirty="0" err="1"/>
              <a:t>Horspool</a:t>
            </a:r>
            <a:r>
              <a:rPr lang="en-US" altLang="zh-TW" dirty="0"/>
              <a:t> algorithm</a:t>
            </a:r>
          </a:p>
          <a:p>
            <a:pPr lvl="1"/>
            <a:r>
              <a:rPr lang="en-US" altLang="zh-TW" dirty="0"/>
              <a:t>Pattern: </a:t>
            </a:r>
            <a:r>
              <a:rPr lang="en-US" altLang="zh-TW" dirty="0">
                <a:solidFill>
                  <a:schemeClr val="accent1">
                    <a:lumMod val="75000"/>
                  </a:schemeClr>
                </a:solidFill>
              </a:rPr>
              <a:t>A T A T A</a:t>
            </a:r>
          </a:p>
          <a:p>
            <a:pPr lvl="1"/>
            <a:r>
              <a:rPr lang="en-US" altLang="zh-TW" dirty="0"/>
              <a:t>Shift Table</a:t>
            </a:r>
          </a:p>
        </p:txBody>
      </p:sp>
      <p:graphicFrame>
        <p:nvGraphicFramePr>
          <p:cNvPr id="8" name="表格 8">
            <a:extLst>
              <a:ext uri="{FF2B5EF4-FFF2-40B4-BE49-F238E27FC236}">
                <a16:creationId xmlns:a16="http://schemas.microsoft.com/office/drawing/2014/main" id="{44A3C657-B801-4EA3-852E-F5F77F8FE1EE}"/>
              </a:ext>
            </a:extLst>
          </p:cNvPr>
          <p:cNvGraphicFramePr>
            <a:graphicFrameLocks noGrp="1"/>
          </p:cNvGraphicFramePr>
          <p:nvPr>
            <p:extLst>
              <p:ext uri="{D42A27DB-BD31-4B8C-83A1-F6EECF244321}">
                <p14:modId xmlns:p14="http://schemas.microsoft.com/office/powerpoint/2010/main" val="3130188335"/>
              </p:ext>
            </p:extLst>
          </p:nvPr>
        </p:nvGraphicFramePr>
        <p:xfrm>
          <a:off x="1659715" y="4527550"/>
          <a:ext cx="8862416" cy="1828800"/>
        </p:xfrm>
        <a:graphic>
          <a:graphicData uri="http://schemas.openxmlformats.org/drawingml/2006/table">
            <a:tbl>
              <a:tblPr firstRow="1" bandRow="1">
                <a:tableStyleId>{2D5ABB26-0587-4C30-8999-92F81FD0307C}</a:tableStyleId>
              </a:tblPr>
              <a:tblGrid>
                <a:gridCol w="553901">
                  <a:extLst>
                    <a:ext uri="{9D8B030D-6E8A-4147-A177-3AD203B41FA5}">
                      <a16:colId xmlns:a16="http://schemas.microsoft.com/office/drawing/2014/main" val="3028199185"/>
                    </a:ext>
                  </a:extLst>
                </a:gridCol>
                <a:gridCol w="553901">
                  <a:extLst>
                    <a:ext uri="{9D8B030D-6E8A-4147-A177-3AD203B41FA5}">
                      <a16:colId xmlns:a16="http://schemas.microsoft.com/office/drawing/2014/main" val="919258007"/>
                    </a:ext>
                  </a:extLst>
                </a:gridCol>
                <a:gridCol w="553901">
                  <a:extLst>
                    <a:ext uri="{9D8B030D-6E8A-4147-A177-3AD203B41FA5}">
                      <a16:colId xmlns:a16="http://schemas.microsoft.com/office/drawing/2014/main" val="1657606047"/>
                    </a:ext>
                  </a:extLst>
                </a:gridCol>
                <a:gridCol w="553901">
                  <a:extLst>
                    <a:ext uri="{9D8B030D-6E8A-4147-A177-3AD203B41FA5}">
                      <a16:colId xmlns:a16="http://schemas.microsoft.com/office/drawing/2014/main" val="3793479939"/>
                    </a:ext>
                  </a:extLst>
                </a:gridCol>
                <a:gridCol w="553901">
                  <a:extLst>
                    <a:ext uri="{9D8B030D-6E8A-4147-A177-3AD203B41FA5}">
                      <a16:colId xmlns:a16="http://schemas.microsoft.com/office/drawing/2014/main" val="3307376320"/>
                    </a:ext>
                  </a:extLst>
                </a:gridCol>
                <a:gridCol w="553901">
                  <a:extLst>
                    <a:ext uri="{9D8B030D-6E8A-4147-A177-3AD203B41FA5}">
                      <a16:colId xmlns:a16="http://schemas.microsoft.com/office/drawing/2014/main" val="3633365896"/>
                    </a:ext>
                  </a:extLst>
                </a:gridCol>
                <a:gridCol w="553901">
                  <a:extLst>
                    <a:ext uri="{9D8B030D-6E8A-4147-A177-3AD203B41FA5}">
                      <a16:colId xmlns:a16="http://schemas.microsoft.com/office/drawing/2014/main" val="3220451121"/>
                    </a:ext>
                  </a:extLst>
                </a:gridCol>
                <a:gridCol w="553901">
                  <a:extLst>
                    <a:ext uri="{9D8B030D-6E8A-4147-A177-3AD203B41FA5}">
                      <a16:colId xmlns:a16="http://schemas.microsoft.com/office/drawing/2014/main" val="2914748282"/>
                    </a:ext>
                  </a:extLst>
                </a:gridCol>
                <a:gridCol w="553901">
                  <a:extLst>
                    <a:ext uri="{9D8B030D-6E8A-4147-A177-3AD203B41FA5}">
                      <a16:colId xmlns:a16="http://schemas.microsoft.com/office/drawing/2014/main" val="114675211"/>
                    </a:ext>
                  </a:extLst>
                </a:gridCol>
                <a:gridCol w="553901">
                  <a:extLst>
                    <a:ext uri="{9D8B030D-6E8A-4147-A177-3AD203B41FA5}">
                      <a16:colId xmlns:a16="http://schemas.microsoft.com/office/drawing/2014/main" val="3011573754"/>
                    </a:ext>
                  </a:extLst>
                </a:gridCol>
                <a:gridCol w="553901">
                  <a:extLst>
                    <a:ext uri="{9D8B030D-6E8A-4147-A177-3AD203B41FA5}">
                      <a16:colId xmlns:a16="http://schemas.microsoft.com/office/drawing/2014/main" val="740102780"/>
                    </a:ext>
                  </a:extLst>
                </a:gridCol>
                <a:gridCol w="553901">
                  <a:extLst>
                    <a:ext uri="{9D8B030D-6E8A-4147-A177-3AD203B41FA5}">
                      <a16:colId xmlns:a16="http://schemas.microsoft.com/office/drawing/2014/main" val="3702343718"/>
                    </a:ext>
                  </a:extLst>
                </a:gridCol>
                <a:gridCol w="553901">
                  <a:extLst>
                    <a:ext uri="{9D8B030D-6E8A-4147-A177-3AD203B41FA5}">
                      <a16:colId xmlns:a16="http://schemas.microsoft.com/office/drawing/2014/main" val="322157378"/>
                    </a:ext>
                  </a:extLst>
                </a:gridCol>
                <a:gridCol w="553901">
                  <a:extLst>
                    <a:ext uri="{9D8B030D-6E8A-4147-A177-3AD203B41FA5}">
                      <a16:colId xmlns:a16="http://schemas.microsoft.com/office/drawing/2014/main" val="603228921"/>
                    </a:ext>
                  </a:extLst>
                </a:gridCol>
                <a:gridCol w="553901">
                  <a:extLst>
                    <a:ext uri="{9D8B030D-6E8A-4147-A177-3AD203B41FA5}">
                      <a16:colId xmlns:a16="http://schemas.microsoft.com/office/drawing/2014/main" val="1675084008"/>
                    </a:ext>
                  </a:extLst>
                </a:gridCol>
                <a:gridCol w="553901">
                  <a:extLst>
                    <a:ext uri="{9D8B030D-6E8A-4147-A177-3AD203B41FA5}">
                      <a16:colId xmlns:a16="http://schemas.microsoft.com/office/drawing/2014/main" val="1894619760"/>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G</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C</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G</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C</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7083875"/>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T</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endParaRPr lang="zh-TW" altLang="en-US" sz="240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9977944"/>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lumMod val="95000"/>
                              <a:lumOff val="5000"/>
                            </a:schemeClr>
                          </a:solidFill>
                          <a:latin typeface="Times New Roman" panose="02020603050405020304" pitchFamily="18" charset="0"/>
                          <a:cs typeface="Times New Roman" panose="02020603050405020304" pitchFamily="18" charset="0"/>
                        </a:rPr>
                        <a:t>T</a:t>
                      </a:r>
                      <a:endParaRPr lang="zh-TW" altLang="en-US" sz="240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A</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5782240"/>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TW" sz="2400" dirty="0">
                          <a:solidFill>
                            <a:schemeClr val="tx1">
                              <a:lumMod val="95000"/>
                              <a:lumOff val="5000"/>
                            </a:schemeClr>
                          </a:solidFill>
                          <a:latin typeface="Times New Roman" panose="02020603050405020304" pitchFamily="18" charset="0"/>
                          <a:cs typeface="Times New Roman" panose="02020603050405020304" pitchFamily="18" charset="0"/>
                        </a:rPr>
                        <a:t>T</a:t>
                      </a:r>
                      <a:endParaRPr lang="zh-TW" altLang="en-US" sz="240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TW" sz="2400" dirty="0">
                          <a:solidFill>
                            <a:schemeClr val="tx1">
                              <a:lumMod val="95000"/>
                              <a:lumOff val="5000"/>
                            </a:schemeClr>
                          </a:solidFill>
                          <a:latin typeface="Times New Roman" panose="02020603050405020304" pitchFamily="18" charset="0"/>
                          <a:cs typeface="Times New Roman" panose="02020603050405020304" pitchFamily="18" charset="0"/>
                        </a:rPr>
                        <a:t>A</a:t>
                      </a:r>
                      <a:endParaRPr lang="zh-TW" altLang="en-US" sz="240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zh-TW" altLang="en-US" sz="240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1595876"/>
                  </a:ext>
                </a:extLst>
              </a:tr>
            </a:tbl>
          </a:graphicData>
        </a:graphic>
      </p:graphicFrame>
      <p:graphicFrame>
        <p:nvGraphicFramePr>
          <p:cNvPr id="9" name="表格 9">
            <a:extLst>
              <a:ext uri="{FF2B5EF4-FFF2-40B4-BE49-F238E27FC236}">
                <a16:creationId xmlns:a16="http://schemas.microsoft.com/office/drawing/2014/main" id="{DE18920D-FA00-4482-AE83-2E2EA0637902}"/>
              </a:ext>
            </a:extLst>
          </p:cNvPr>
          <p:cNvGraphicFramePr>
            <a:graphicFrameLocks noGrp="1"/>
          </p:cNvGraphicFramePr>
          <p:nvPr>
            <p:extLst>
              <p:ext uri="{D42A27DB-BD31-4B8C-83A1-F6EECF244321}">
                <p14:modId xmlns:p14="http://schemas.microsoft.com/office/powerpoint/2010/main" val="564068779"/>
              </p:ext>
            </p:extLst>
          </p:nvPr>
        </p:nvGraphicFramePr>
        <p:xfrm>
          <a:off x="1659715" y="3086894"/>
          <a:ext cx="3210560" cy="914400"/>
        </p:xfrm>
        <a:graphic>
          <a:graphicData uri="http://schemas.openxmlformats.org/drawingml/2006/table">
            <a:tbl>
              <a:tblPr firstRow="1" bandRow="1">
                <a:tableStyleId>{2D5ABB26-0587-4C30-8999-92F81FD0307C}</a:tableStyleId>
              </a:tblPr>
              <a:tblGrid>
                <a:gridCol w="802640">
                  <a:extLst>
                    <a:ext uri="{9D8B030D-6E8A-4147-A177-3AD203B41FA5}">
                      <a16:colId xmlns:a16="http://schemas.microsoft.com/office/drawing/2014/main" val="4123001734"/>
                    </a:ext>
                  </a:extLst>
                </a:gridCol>
                <a:gridCol w="802640">
                  <a:extLst>
                    <a:ext uri="{9D8B030D-6E8A-4147-A177-3AD203B41FA5}">
                      <a16:colId xmlns:a16="http://schemas.microsoft.com/office/drawing/2014/main" val="1716749937"/>
                    </a:ext>
                  </a:extLst>
                </a:gridCol>
                <a:gridCol w="802640">
                  <a:extLst>
                    <a:ext uri="{9D8B030D-6E8A-4147-A177-3AD203B41FA5}">
                      <a16:colId xmlns:a16="http://schemas.microsoft.com/office/drawing/2014/main" val="108228607"/>
                    </a:ext>
                  </a:extLst>
                </a:gridCol>
                <a:gridCol w="802640">
                  <a:extLst>
                    <a:ext uri="{9D8B030D-6E8A-4147-A177-3AD203B41FA5}">
                      <a16:colId xmlns:a16="http://schemas.microsoft.com/office/drawing/2014/main" val="247521706"/>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C</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G</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5695357"/>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9629651"/>
                  </a:ext>
                </a:extLst>
              </a:tr>
            </a:tbl>
          </a:graphicData>
        </a:graphic>
      </p:graphicFrame>
      <p:cxnSp>
        <p:nvCxnSpPr>
          <p:cNvPr id="11" name="直線單箭頭接點 10">
            <a:extLst>
              <a:ext uri="{FF2B5EF4-FFF2-40B4-BE49-F238E27FC236}">
                <a16:creationId xmlns:a16="http://schemas.microsoft.com/office/drawing/2014/main" id="{4F462836-6065-4109-A45A-A0C1567F9833}"/>
              </a:ext>
            </a:extLst>
          </p:cNvPr>
          <p:cNvCxnSpPr>
            <a:cxnSpLocks/>
          </p:cNvCxnSpPr>
          <p:nvPr/>
        </p:nvCxnSpPr>
        <p:spPr>
          <a:xfrm flipH="1">
            <a:off x="2316480" y="4415248"/>
            <a:ext cx="2553795" cy="0"/>
          </a:xfrm>
          <a:prstGeom prst="straightConnector1">
            <a:avLst/>
          </a:prstGeom>
          <a:ln w="571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899101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BD8971-B530-4C17-80D5-FE420C684B56}"/>
              </a:ext>
            </a:extLst>
          </p:cNvPr>
          <p:cNvSpPr>
            <a:spLocks noGrp="1"/>
          </p:cNvSpPr>
          <p:nvPr>
            <p:ph type="title"/>
          </p:nvPr>
        </p:nvSpPr>
        <p:spPr/>
        <p:txBody>
          <a:bodyPr/>
          <a:lstStyle/>
          <a:p>
            <a:r>
              <a:rPr lang="en-US" altLang="zh-TW" dirty="0"/>
              <a:t>Algorithm</a:t>
            </a:r>
            <a:endParaRPr lang="zh-TW" altLang="en-US" dirty="0"/>
          </a:p>
        </p:txBody>
      </p:sp>
      <p:sp>
        <p:nvSpPr>
          <p:cNvPr id="3" name="內容版面配置區 2">
            <a:extLst>
              <a:ext uri="{FF2B5EF4-FFF2-40B4-BE49-F238E27FC236}">
                <a16:creationId xmlns:a16="http://schemas.microsoft.com/office/drawing/2014/main" id="{16ECF661-F706-4C05-95BE-3610E593254E}"/>
              </a:ext>
            </a:extLst>
          </p:cNvPr>
          <p:cNvSpPr>
            <a:spLocks noGrp="1"/>
          </p:cNvSpPr>
          <p:nvPr>
            <p:ph idx="1"/>
          </p:nvPr>
        </p:nvSpPr>
        <p:spPr/>
        <p:txBody>
          <a:bodyPr/>
          <a:lstStyle/>
          <a:p>
            <a:r>
              <a:rPr lang="en-US" altLang="zh-TW" dirty="0"/>
              <a:t>q-Grams</a:t>
            </a:r>
          </a:p>
          <a:p>
            <a:pPr lvl="1"/>
            <a:r>
              <a:rPr lang="en-US" altLang="zh-TW" dirty="0"/>
              <a:t>The orders of characters</a:t>
            </a:r>
          </a:p>
          <a:p>
            <a:pPr lvl="1"/>
            <a:r>
              <a:rPr lang="en-US" altLang="zh-TW" dirty="0"/>
              <a:t>Overlapping 3-grams</a:t>
            </a:r>
          </a:p>
          <a:p>
            <a:pPr lvl="2"/>
            <a:r>
              <a:rPr lang="en-US" altLang="zh-TW" dirty="0"/>
              <a:t>P = 35 40 23 40 40 28 30 → 35 40 23, 23 40 40, 40 28 30</a:t>
            </a:r>
          </a:p>
          <a:p>
            <a:pPr lvl="1"/>
            <a:r>
              <a:rPr lang="en-US" altLang="zh-TW" dirty="0">
                <a:solidFill>
                  <a:schemeClr val="accent1">
                    <a:lumMod val="75000"/>
                  </a:schemeClr>
                </a:solidFill>
              </a:rPr>
              <a:t>Consecutive 3-grams</a:t>
            </a:r>
          </a:p>
          <a:p>
            <a:pPr lvl="2"/>
            <a:r>
              <a:rPr lang="en-US" altLang="zh-TW" dirty="0"/>
              <a:t>P = 35 40 23 40 40 28 30 → 35, </a:t>
            </a:r>
            <a:r>
              <a:rPr lang="en-US" altLang="zh-TW" u="sng" dirty="0"/>
              <a:t>40 23 40</a:t>
            </a:r>
            <a:r>
              <a:rPr lang="en-US" altLang="zh-TW" dirty="0"/>
              <a:t>, </a:t>
            </a:r>
            <a:r>
              <a:rPr lang="en-US" altLang="zh-TW" u="sng" dirty="0">
                <a:solidFill>
                  <a:schemeClr val="tx1">
                    <a:lumMod val="95000"/>
                    <a:lumOff val="5000"/>
                  </a:schemeClr>
                </a:solidFill>
              </a:rPr>
              <a:t>40 28 30</a:t>
            </a:r>
          </a:p>
          <a:p>
            <a:r>
              <a:rPr lang="en-US" altLang="zh-TW" i="1" dirty="0"/>
              <a:t>l</a:t>
            </a:r>
            <a:r>
              <a:rPr lang="en-US" altLang="zh-TW" i="1" baseline="-25000" dirty="0"/>
              <a:t>x</a:t>
            </a:r>
          </a:p>
          <a:p>
            <a:endParaRPr lang="en-US" altLang="zh-TW" dirty="0"/>
          </a:p>
          <a:p>
            <a:pPr lvl="1"/>
            <a:endParaRPr lang="en-US" altLang="zh-TW" dirty="0"/>
          </a:p>
        </p:txBody>
      </p:sp>
      <p:sp>
        <p:nvSpPr>
          <p:cNvPr id="4" name="投影片編號版面配置區 3">
            <a:extLst>
              <a:ext uri="{FF2B5EF4-FFF2-40B4-BE49-F238E27FC236}">
                <a16:creationId xmlns:a16="http://schemas.microsoft.com/office/drawing/2014/main" id="{89361885-7327-4891-B090-E58E4004641A}"/>
              </a:ext>
            </a:extLst>
          </p:cNvPr>
          <p:cNvSpPr>
            <a:spLocks noGrp="1"/>
          </p:cNvSpPr>
          <p:nvPr>
            <p:ph type="sldNum" sz="quarter" idx="12"/>
          </p:nvPr>
        </p:nvSpPr>
        <p:spPr/>
        <p:txBody>
          <a:bodyPr/>
          <a:lstStyle/>
          <a:p>
            <a:fld id="{4CD2C34A-D3D3-4A9B-8692-9279E332F0C9}" type="slidenum">
              <a:rPr lang="zh-TW" altLang="en-US" smtClean="0"/>
              <a:pPr/>
              <a:t>6</a:t>
            </a:fld>
            <a:endParaRPr lang="zh-TW" altLang="en-US" dirty="0"/>
          </a:p>
        </p:txBody>
      </p:sp>
      <p:graphicFrame>
        <p:nvGraphicFramePr>
          <p:cNvPr id="5" name="表格 5">
            <a:extLst>
              <a:ext uri="{FF2B5EF4-FFF2-40B4-BE49-F238E27FC236}">
                <a16:creationId xmlns:a16="http://schemas.microsoft.com/office/drawing/2014/main" id="{6A9E0890-B50C-46F5-B078-7395B8A2047A}"/>
              </a:ext>
            </a:extLst>
          </p:cNvPr>
          <p:cNvGraphicFramePr>
            <a:graphicFrameLocks noGrp="1"/>
          </p:cNvGraphicFramePr>
          <p:nvPr>
            <p:extLst>
              <p:ext uri="{D42A27DB-BD31-4B8C-83A1-F6EECF244321}">
                <p14:modId xmlns:p14="http://schemas.microsoft.com/office/powerpoint/2010/main" val="363481498"/>
              </p:ext>
            </p:extLst>
          </p:nvPr>
        </p:nvGraphicFramePr>
        <p:xfrm>
          <a:off x="1526902" y="4527550"/>
          <a:ext cx="8322496" cy="1828800"/>
        </p:xfrm>
        <a:graphic>
          <a:graphicData uri="http://schemas.openxmlformats.org/drawingml/2006/table">
            <a:tbl>
              <a:tblPr firstRow="1" bandRow="1">
                <a:tableStyleId>{2D5ABB26-0587-4C30-8999-92F81FD0307C}</a:tableStyleId>
              </a:tblPr>
              <a:tblGrid>
                <a:gridCol w="1040312">
                  <a:extLst>
                    <a:ext uri="{9D8B030D-6E8A-4147-A177-3AD203B41FA5}">
                      <a16:colId xmlns:a16="http://schemas.microsoft.com/office/drawing/2014/main" val="1923072187"/>
                    </a:ext>
                  </a:extLst>
                </a:gridCol>
                <a:gridCol w="1040312">
                  <a:extLst>
                    <a:ext uri="{9D8B030D-6E8A-4147-A177-3AD203B41FA5}">
                      <a16:colId xmlns:a16="http://schemas.microsoft.com/office/drawing/2014/main" val="277789121"/>
                    </a:ext>
                  </a:extLst>
                </a:gridCol>
                <a:gridCol w="1040312">
                  <a:extLst>
                    <a:ext uri="{9D8B030D-6E8A-4147-A177-3AD203B41FA5}">
                      <a16:colId xmlns:a16="http://schemas.microsoft.com/office/drawing/2014/main" val="2853403296"/>
                    </a:ext>
                  </a:extLst>
                </a:gridCol>
                <a:gridCol w="1040312">
                  <a:extLst>
                    <a:ext uri="{9D8B030D-6E8A-4147-A177-3AD203B41FA5}">
                      <a16:colId xmlns:a16="http://schemas.microsoft.com/office/drawing/2014/main" val="307888833"/>
                    </a:ext>
                  </a:extLst>
                </a:gridCol>
                <a:gridCol w="1040312">
                  <a:extLst>
                    <a:ext uri="{9D8B030D-6E8A-4147-A177-3AD203B41FA5}">
                      <a16:colId xmlns:a16="http://schemas.microsoft.com/office/drawing/2014/main" val="501529086"/>
                    </a:ext>
                  </a:extLst>
                </a:gridCol>
                <a:gridCol w="1040312">
                  <a:extLst>
                    <a:ext uri="{9D8B030D-6E8A-4147-A177-3AD203B41FA5}">
                      <a16:colId xmlns:a16="http://schemas.microsoft.com/office/drawing/2014/main" val="2123556235"/>
                    </a:ext>
                  </a:extLst>
                </a:gridCol>
                <a:gridCol w="1040312">
                  <a:extLst>
                    <a:ext uri="{9D8B030D-6E8A-4147-A177-3AD203B41FA5}">
                      <a16:colId xmlns:a16="http://schemas.microsoft.com/office/drawing/2014/main" val="1413321592"/>
                    </a:ext>
                  </a:extLst>
                </a:gridCol>
                <a:gridCol w="1040312">
                  <a:extLst>
                    <a:ext uri="{9D8B030D-6E8A-4147-A177-3AD203B41FA5}">
                      <a16:colId xmlns:a16="http://schemas.microsoft.com/office/drawing/2014/main" val="802413823"/>
                    </a:ext>
                  </a:extLst>
                </a:gridCol>
              </a:tblGrid>
              <a:tr h="370840">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1756719"/>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35</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40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40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40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28</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1565408"/>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x</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19</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899794"/>
                  </a:ext>
                </a:extLst>
              </a:tr>
              <a:tr h="370840">
                <a:tc>
                  <a:txBody>
                    <a:bodyPr/>
                    <a:lstStyle/>
                    <a:p>
                      <a:pPr algn="ctr"/>
                      <a:r>
                        <a:rPr lang="el-GR" altLang="zh-TW" sz="2400" i="1" dirty="0">
                          <a:latin typeface="Times New Roman" panose="02020603050405020304" pitchFamily="18" charset="0"/>
                          <a:cs typeface="Times New Roman" panose="02020603050405020304" pitchFamily="18" charset="0"/>
                        </a:rPr>
                        <a:t>μ</a:t>
                      </a:r>
                      <a:r>
                        <a:rPr lang="es-ES" altLang="zh-TW" sz="2400" baseline="-25000" dirty="0">
                          <a:latin typeface="Times New Roman" panose="02020603050405020304" pitchFamily="18" charset="0"/>
                          <a:cs typeface="Times New Roman" panose="02020603050405020304" pitchFamily="18" charset="0"/>
                        </a:rPr>
                        <a:t>x</a:t>
                      </a:r>
                      <a:r>
                        <a:rPr lang="es-ES" altLang="zh-TW" sz="2400" baseline="0" dirty="0">
                          <a:latin typeface="Times New Roman" panose="02020603050405020304" pitchFamily="18" charset="0"/>
                          <a:cs typeface="Times New Roman" panose="02020603050405020304" pitchFamily="18" charset="0"/>
                        </a:rPr>
                        <a:t> = </a:t>
                      </a:r>
                      <a:r>
                        <a:rPr lang="el-GR" altLang="zh-TW" sz="2400" i="1" dirty="0">
                          <a:latin typeface="Times New Roman" panose="02020603050405020304" pitchFamily="18" charset="0"/>
                          <a:cs typeface="Times New Roman" panose="02020603050405020304" pitchFamily="18" charset="0"/>
                        </a:rPr>
                        <a:t>μ</a:t>
                      </a:r>
                      <a:r>
                        <a:rPr lang="es-ES" altLang="zh-TW" sz="2400" i="1" baseline="-250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9096751"/>
                  </a:ext>
                </a:extLst>
              </a:tr>
            </a:tbl>
          </a:graphicData>
        </a:graphic>
      </p:graphicFrame>
    </p:spTree>
    <p:extLst>
      <p:ext uri="{BB962C8B-B14F-4D97-AF65-F5344CB8AC3E}">
        <p14:creationId xmlns:p14="http://schemas.microsoft.com/office/powerpoint/2010/main" val="385615106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6E66FD6B-9E87-449A-9550-489CF46522BC}"/>
              </a:ext>
            </a:extLst>
          </p:cNvPr>
          <p:cNvPicPr>
            <a:picLocks noChangeAspect="1"/>
          </p:cNvPicPr>
          <p:nvPr/>
        </p:nvPicPr>
        <p:blipFill>
          <a:blip r:embed="rId2"/>
          <a:stretch>
            <a:fillRect/>
          </a:stretch>
        </p:blipFill>
        <p:spPr>
          <a:xfrm>
            <a:off x="838200" y="1690688"/>
            <a:ext cx="3629532" cy="1295581"/>
          </a:xfrm>
          <a:prstGeom prst="rect">
            <a:avLst/>
          </a:prstGeom>
        </p:spPr>
      </p:pic>
      <p:sp>
        <p:nvSpPr>
          <p:cNvPr id="2" name="標題 1">
            <a:extLst>
              <a:ext uri="{FF2B5EF4-FFF2-40B4-BE49-F238E27FC236}">
                <a16:creationId xmlns:a16="http://schemas.microsoft.com/office/drawing/2014/main" id="{DDBD8971-B530-4C17-80D5-FE420C684B56}"/>
              </a:ext>
            </a:extLst>
          </p:cNvPr>
          <p:cNvSpPr>
            <a:spLocks noGrp="1"/>
          </p:cNvSpPr>
          <p:nvPr>
            <p:ph type="title"/>
          </p:nvPr>
        </p:nvSpPr>
        <p:spPr/>
        <p:txBody>
          <a:bodyPr/>
          <a:lstStyle/>
          <a:p>
            <a:r>
              <a:rPr lang="en-US" altLang="zh-TW" dirty="0"/>
              <a:t>Algorithm</a:t>
            </a:r>
            <a:endParaRPr lang="zh-TW" altLang="en-US" dirty="0"/>
          </a:p>
        </p:txBody>
      </p:sp>
      <p:sp>
        <p:nvSpPr>
          <p:cNvPr id="3" name="內容版面配置區 2">
            <a:extLst>
              <a:ext uri="{FF2B5EF4-FFF2-40B4-BE49-F238E27FC236}">
                <a16:creationId xmlns:a16="http://schemas.microsoft.com/office/drawing/2014/main" id="{16ECF661-F706-4C05-95BE-3610E593254E}"/>
              </a:ext>
            </a:extLst>
          </p:cNvPr>
          <p:cNvSpPr>
            <a:spLocks noGrp="1"/>
          </p:cNvSpPr>
          <p:nvPr>
            <p:ph idx="1"/>
          </p:nvPr>
        </p:nvSpPr>
        <p:spPr>
          <a:xfrm>
            <a:off x="838200" y="1825625"/>
            <a:ext cx="5649686" cy="4351338"/>
          </a:xfrm>
        </p:spPr>
        <p:txBody>
          <a:bodyPr/>
          <a:lstStyle/>
          <a:p>
            <a:endParaRPr lang="en-US" altLang="zh-TW" i="1" dirty="0"/>
          </a:p>
          <a:p>
            <a:pPr marL="0" indent="0">
              <a:buNone/>
            </a:pPr>
            <a:endParaRPr lang="en-US" altLang="zh-TW" i="1" dirty="0"/>
          </a:p>
          <a:p>
            <a:pPr marL="0" indent="0">
              <a:buNone/>
            </a:pPr>
            <a:endParaRPr lang="en-US" altLang="zh-TW" i="1" dirty="0"/>
          </a:p>
          <a:p>
            <a:pPr lvl="1"/>
            <a:r>
              <a:rPr lang="en-US" altLang="zh-TW" dirty="0"/>
              <a:t>Factorial number system</a:t>
            </a:r>
          </a:p>
          <a:p>
            <a:pPr lvl="1"/>
            <a:r>
              <a:rPr lang="en-US" altLang="zh-TW" dirty="0"/>
              <a:t>Example:</a:t>
            </a:r>
          </a:p>
          <a:p>
            <a:pPr lvl="2"/>
            <a:endParaRPr lang="en-US" altLang="zh-TW" dirty="0"/>
          </a:p>
          <a:p>
            <a:pPr lvl="1"/>
            <a:endParaRPr lang="en-US" altLang="zh-TW" dirty="0"/>
          </a:p>
        </p:txBody>
      </p:sp>
      <p:sp>
        <p:nvSpPr>
          <p:cNvPr id="4" name="投影片編號版面配置區 3">
            <a:extLst>
              <a:ext uri="{FF2B5EF4-FFF2-40B4-BE49-F238E27FC236}">
                <a16:creationId xmlns:a16="http://schemas.microsoft.com/office/drawing/2014/main" id="{89361885-7327-4891-B090-E58E4004641A}"/>
              </a:ext>
            </a:extLst>
          </p:cNvPr>
          <p:cNvSpPr>
            <a:spLocks noGrp="1"/>
          </p:cNvSpPr>
          <p:nvPr>
            <p:ph type="sldNum" sz="quarter" idx="12"/>
          </p:nvPr>
        </p:nvSpPr>
        <p:spPr/>
        <p:txBody>
          <a:bodyPr/>
          <a:lstStyle/>
          <a:p>
            <a:fld id="{4CD2C34A-D3D3-4A9B-8692-9279E332F0C9}" type="slidenum">
              <a:rPr lang="zh-TW" altLang="en-US" smtClean="0"/>
              <a:pPr/>
              <a:t>7</a:t>
            </a:fld>
            <a:endParaRPr lang="zh-TW" altLang="en-US" dirty="0"/>
          </a:p>
        </p:txBody>
      </p:sp>
      <p:graphicFrame>
        <p:nvGraphicFramePr>
          <p:cNvPr id="8" name="表格 8">
            <a:extLst>
              <a:ext uri="{FF2B5EF4-FFF2-40B4-BE49-F238E27FC236}">
                <a16:creationId xmlns:a16="http://schemas.microsoft.com/office/drawing/2014/main" id="{CA9D073A-6CD5-4FAA-B621-F878575F8717}"/>
              </a:ext>
            </a:extLst>
          </p:cNvPr>
          <p:cNvGraphicFramePr>
            <a:graphicFrameLocks noGrp="1"/>
          </p:cNvGraphicFramePr>
          <p:nvPr>
            <p:extLst>
              <p:ext uri="{D42A27DB-BD31-4B8C-83A1-F6EECF244321}">
                <p14:modId xmlns:p14="http://schemas.microsoft.com/office/powerpoint/2010/main" val="2996778071"/>
              </p:ext>
            </p:extLst>
          </p:nvPr>
        </p:nvGraphicFramePr>
        <p:xfrm>
          <a:off x="1640114" y="4210776"/>
          <a:ext cx="4621348" cy="914400"/>
        </p:xfrm>
        <a:graphic>
          <a:graphicData uri="http://schemas.openxmlformats.org/drawingml/2006/table">
            <a:tbl>
              <a:tblPr firstRow="1" bandRow="1">
                <a:tableStyleId>{2D5ABB26-0587-4C30-8999-92F81FD0307C}</a:tableStyleId>
              </a:tblPr>
              <a:tblGrid>
                <a:gridCol w="1155337">
                  <a:extLst>
                    <a:ext uri="{9D8B030D-6E8A-4147-A177-3AD203B41FA5}">
                      <a16:colId xmlns:a16="http://schemas.microsoft.com/office/drawing/2014/main" val="1410344788"/>
                    </a:ext>
                  </a:extLst>
                </a:gridCol>
                <a:gridCol w="1155337">
                  <a:extLst>
                    <a:ext uri="{9D8B030D-6E8A-4147-A177-3AD203B41FA5}">
                      <a16:colId xmlns:a16="http://schemas.microsoft.com/office/drawing/2014/main" val="473580082"/>
                    </a:ext>
                  </a:extLst>
                </a:gridCol>
                <a:gridCol w="1155337">
                  <a:extLst>
                    <a:ext uri="{9D8B030D-6E8A-4147-A177-3AD203B41FA5}">
                      <a16:colId xmlns:a16="http://schemas.microsoft.com/office/drawing/2014/main" val="3392401268"/>
                    </a:ext>
                  </a:extLst>
                </a:gridCol>
                <a:gridCol w="1155337">
                  <a:extLst>
                    <a:ext uri="{9D8B030D-6E8A-4147-A177-3AD203B41FA5}">
                      <a16:colId xmlns:a16="http://schemas.microsoft.com/office/drawing/2014/main" val="1519220006"/>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rPr>
                        <a:t>x</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40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28</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7514696"/>
                  </a:ext>
                </a:extLst>
              </a:tr>
              <a:tr h="370840">
                <a:tc>
                  <a:txBody>
                    <a:bodyPr/>
                    <a:lstStyle/>
                    <a:p>
                      <a:pPr algn="ctr"/>
                      <a:r>
                        <a:rPr lang="el-GR" altLang="zh-TW" sz="2400" i="1" dirty="0">
                          <a:latin typeface="Times New Roman" panose="02020603050405020304" pitchFamily="18" charset="0"/>
                          <a:cs typeface="Times New Roman" panose="02020603050405020304" pitchFamily="18" charset="0"/>
                        </a:rPr>
                        <a:t>μ</a:t>
                      </a:r>
                      <a:r>
                        <a:rPr lang="es-ES" altLang="zh-TW" sz="2400" baseline="-25000" dirty="0">
                          <a:latin typeface="Times New Roman" panose="02020603050405020304" pitchFamily="18" charset="0"/>
                          <a:cs typeface="Times New Roman" panose="02020603050405020304" pitchFamily="18" charset="0"/>
                        </a:rPr>
                        <a:t>x</a:t>
                      </a:r>
                      <a:r>
                        <a:rPr lang="es-ES" altLang="zh-TW" sz="2400" baseline="0" dirty="0">
                          <a:latin typeface="Times New Roman" panose="02020603050405020304" pitchFamily="18" charset="0"/>
                          <a:cs typeface="Times New Roman" panose="02020603050405020304" pitchFamily="18" charset="0"/>
                        </a:rPr>
                        <a:t> </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943290508"/>
                  </a:ext>
                </a:extLst>
              </a:tr>
            </a:tbl>
          </a:graphicData>
        </a:graphic>
      </p:graphicFrame>
      <p:sp>
        <p:nvSpPr>
          <p:cNvPr id="10" name="文字方塊 9">
            <a:extLst>
              <a:ext uri="{FF2B5EF4-FFF2-40B4-BE49-F238E27FC236}">
                <a16:creationId xmlns:a16="http://schemas.microsoft.com/office/drawing/2014/main" id="{27EB240B-9702-42A9-A95F-910959301A51}"/>
              </a:ext>
            </a:extLst>
          </p:cNvPr>
          <p:cNvSpPr txBox="1"/>
          <p:nvPr/>
        </p:nvSpPr>
        <p:spPr>
          <a:xfrm>
            <a:off x="1640113" y="5260113"/>
            <a:ext cx="3898537" cy="954107"/>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 0 * 0! + 0 * 1! + 1 * 2!</a:t>
            </a:r>
          </a:p>
          <a:p>
            <a:r>
              <a:rPr lang="en-US" altLang="zh-TW" sz="2800" dirty="0">
                <a:latin typeface="Times New Roman" panose="02020603050405020304" pitchFamily="18" charset="0"/>
                <a:cs typeface="Times New Roman" panose="02020603050405020304" pitchFamily="18" charset="0"/>
              </a:rPr>
              <a:t>= 2</a:t>
            </a:r>
            <a:endParaRPr lang="zh-TW" altLang="en-US" sz="2800" dirty="0">
              <a:latin typeface="Times New Roman" panose="02020603050405020304" pitchFamily="18" charset="0"/>
              <a:cs typeface="Times New Roman" panose="02020603050405020304" pitchFamily="18" charset="0"/>
            </a:endParaRPr>
          </a:p>
        </p:txBody>
      </p:sp>
      <p:sp>
        <p:nvSpPr>
          <p:cNvPr id="11" name="內容版面配置區 2">
            <a:extLst>
              <a:ext uri="{FF2B5EF4-FFF2-40B4-BE49-F238E27FC236}">
                <a16:creationId xmlns:a16="http://schemas.microsoft.com/office/drawing/2014/main" id="{F52F762E-7C6F-4C92-BD20-CC5933B5A439}"/>
              </a:ext>
            </a:extLst>
          </p:cNvPr>
          <p:cNvSpPr txBox="1">
            <a:spLocks/>
          </p:cNvSpPr>
          <p:nvPr/>
        </p:nvSpPr>
        <p:spPr>
          <a:xfrm>
            <a:off x="6487886" y="2351314"/>
            <a:ext cx="4865913" cy="38510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t>Shift Table D</a:t>
            </a:r>
          </a:p>
          <a:p>
            <a:pPr lvl="1"/>
            <a:r>
              <a:rPr lang="en-US" altLang="zh-TW" dirty="0"/>
              <a:t>D[ </a:t>
            </a:r>
            <a:r>
              <a:rPr lang="en-US" altLang="zh-TW" i="1" dirty="0"/>
              <a:t>f</a:t>
            </a:r>
            <a:r>
              <a:rPr lang="en-US" altLang="zh-TW" dirty="0"/>
              <a:t>(x) ]</a:t>
            </a:r>
          </a:p>
          <a:p>
            <a:pPr lvl="2"/>
            <a:r>
              <a:rPr lang="en-US" altLang="zh-TW" dirty="0"/>
              <a:t>min(|P| – q + 1, |P| – </a:t>
            </a:r>
            <a:r>
              <a:rPr lang="en-US" altLang="zh-TW" i="1" dirty="0"/>
              <a:t>l</a:t>
            </a:r>
            <a:r>
              <a:rPr lang="en-US" altLang="zh-TW" baseline="-25000" dirty="0"/>
              <a:t>x</a:t>
            </a:r>
            <a:r>
              <a:rPr lang="en-US" altLang="zh-TW" dirty="0"/>
              <a:t> – 1)</a:t>
            </a:r>
          </a:p>
          <a:p>
            <a:endParaRPr lang="zh-TW" altLang="en-US" dirty="0"/>
          </a:p>
        </p:txBody>
      </p:sp>
    </p:spTree>
    <p:extLst>
      <p:ext uri="{BB962C8B-B14F-4D97-AF65-F5344CB8AC3E}">
        <p14:creationId xmlns:p14="http://schemas.microsoft.com/office/powerpoint/2010/main" val="238576337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FE6E74-F48C-42A7-818D-7D5F0DD388F1}"/>
              </a:ext>
            </a:extLst>
          </p:cNvPr>
          <p:cNvSpPr>
            <a:spLocks noGrp="1"/>
          </p:cNvSpPr>
          <p:nvPr>
            <p:ph type="title"/>
          </p:nvPr>
        </p:nvSpPr>
        <p:spPr/>
        <p:txBody>
          <a:bodyPr/>
          <a:lstStyle/>
          <a:p>
            <a:r>
              <a:rPr lang="en-US" altLang="zh-TW" dirty="0"/>
              <a:t>Example</a:t>
            </a:r>
            <a:endParaRPr lang="zh-TW" altLang="en-US" dirty="0"/>
          </a:p>
        </p:txBody>
      </p:sp>
      <p:pic>
        <p:nvPicPr>
          <p:cNvPr id="8" name="內容版面配置區 7">
            <a:extLst>
              <a:ext uri="{FF2B5EF4-FFF2-40B4-BE49-F238E27FC236}">
                <a16:creationId xmlns:a16="http://schemas.microsoft.com/office/drawing/2014/main" id="{C0ED936B-E58E-4A36-8858-8B08FBF0F370}"/>
              </a:ext>
            </a:extLst>
          </p:cNvPr>
          <p:cNvPicPr>
            <a:picLocks noGrp="1" noChangeAspect="1"/>
          </p:cNvPicPr>
          <p:nvPr>
            <p:ph idx="1"/>
          </p:nvPr>
        </p:nvPicPr>
        <p:blipFill>
          <a:blip r:embed="rId2"/>
          <a:stretch>
            <a:fillRect/>
          </a:stretch>
        </p:blipFill>
        <p:spPr>
          <a:xfrm>
            <a:off x="838200" y="2166707"/>
            <a:ext cx="10515600" cy="3669174"/>
          </a:xfrm>
        </p:spPr>
      </p:pic>
      <p:sp>
        <p:nvSpPr>
          <p:cNvPr id="4" name="投影片編號版面配置區 3">
            <a:extLst>
              <a:ext uri="{FF2B5EF4-FFF2-40B4-BE49-F238E27FC236}">
                <a16:creationId xmlns:a16="http://schemas.microsoft.com/office/drawing/2014/main" id="{119EE349-A450-418E-AC74-F2D10E5D2C00}"/>
              </a:ext>
            </a:extLst>
          </p:cNvPr>
          <p:cNvSpPr>
            <a:spLocks noGrp="1"/>
          </p:cNvSpPr>
          <p:nvPr>
            <p:ph type="sldNum" sz="quarter" idx="12"/>
          </p:nvPr>
        </p:nvSpPr>
        <p:spPr/>
        <p:txBody>
          <a:bodyPr/>
          <a:lstStyle/>
          <a:p>
            <a:fld id="{4CD2C34A-D3D3-4A9B-8692-9279E332F0C9}" type="slidenum">
              <a:rPr lang="zh-TW" altLang="en-US" smtClean="0"/>
              <a:pPr/>
              <a:t>8</a:t>
            </a:fld>
            <a:endParaRPr lang="zh-TW" altLang="en-US" dirty="0"/>
          </a:p>
        </p:txBody>
      </p:sp>
    </p:spTree>
    <p:extLst>
      <p:ext uri="{BB962C8B-B14F-4D97-AF65-F5344CB8AC3E}">
        <p14:creationId xmlns:p14="http://schemas.microsoft.com/office/powerpoint/2010/main" val="343053312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47EB0C-2803-449F-860E-E1356C682B8F}"/>
              </a:ext>
            </a:extLst>
          </p:cNvPr>
          <p:cNvSpPr>
            <a:spLocks noGrp="1"/>
          </p:cNvSpPr>
          <p:nvPr>
            <p:ph type="title"/>
          </p:nvPr>
        </p:nvSpPr>
        <p:spPr/>
        <p:txBody>
          <a:bodyPr/>
          <a:lstStyle/>
          <a:p>
            <a:r>
              <a:rPr lang="en-US" altLang="zh-TW" dirty="0"/>
              <a:t>Time Complexity</a:t>
            </a:r>
            <a:endParaRPr lang="zh-TW" altLang="en-US" dirty="0"/>
          </a:p>
        </p:txBody>
      </p:sp>
      <p:sp>
        <p:nvSpPr>
          <p:cNvPr id="3" name="內容版面配置區 2">
            <a:extLst>
              <a:ext uri="{FF2B5EF4-FFF2-40B4-BE49-F238E27FC236}">
                <a16:creationId xmlns:a16="http://schemas.microsoft.com/office/drawing/2014/main" id="{999E891F-3CBD-4B48-9DBC-D6D7BA38050F}"/>
              </a:ext>
            </a:extLst>
          </p:cNvPr>
          <p:cNvSpPr>
            <a:spLocks noGrp="1"/>
          </p:cNvSpPr>
          <p:nvPr>
            <p:ph idx="1"/>
          </p:nvPr>
        </p:nvSpPr>
        <p:spPr>
          <a:xfrm>
            <a:off x="838200" y="1825625"/>
            <a:ext cx="5257800" cy="4351338"/>
          </a:xfrm>
        </p:spPr>
        <p:txBody>
          <a:bodyPr/>
          <a:lstStyle/>
          <a:p>
            <a:r>
              <a:rPr lang="en-US" altLang="zh-TW" dirty="0"/>
              <a:t>Step 1</a:t>
            </a:r>
          </a:p>
          <a:p>
            <a:pPr lvl="1"/>
            <a:r>
              <a:rPr lang="en-US" altLang="zh-TW" dirty="0"/>
              <a:t>Location Tables</a:t>
            </a:r>
          </a:p>
          <a:p>
            <a:pPr lvl="2"/>
            <a:r>
              <a:rPr lang="en-US" altLang="zh-TW" dirty="0"/>
              <a:t>O(</a:t>
            </a:r>
            <a:r>
              <a:rPr lang="en-US" altLang="zh-TW" i="1" dirty="0" err="1"/>
              <a:t>m</a:t>
            </a:r>
            <a:r>
              <a:rPr lang="en-US" altLang="zh-TW" dirty="0" err="1"/>
              <a:t>log</a:t>
            </a:r>
            <a:r>
              <a:rPr lang="en-US" altLang="zh-TW" i="1" dirty="0" err="1"/>
              <a:t>m</a:t>
            </a:r>
            <a:r>
              <a:rPr lang="en-US" altLang="zh-TW" dirty="0"/>
              <a:t>)</a:t>
            </a:r>
          </a:p>
          <a:p>
            <a:pPr lvl="1"/>
            <a:r>
              <a:rPr lang="en-US" altLang="zh-TW" dirty="0"/>
              <a:t>All the q-grams of P</a:t>
            </a:r>
          </a:p>
          <a:p>
            <a:pPr lvl="2"/>
            <a:r>
              <a:rPr lang="pt-BR" altLang="zh-TW" i="1" dirty="0"/>
              <a:t>O</a:t>
            </a:r>
            <a:r>
              <a:rPr lang="pt-BR" altLang="zh-TW" dirty="0"/>
              <a:t>(</a:t>
            </a:r>
            <a:r>
              <a:rPr lang="pt-BR" altLang="zh-TW" i="1" dirty="0"/>
              <a:t>mq</a:t>
            </a:r>
            <a:r>
              <a:rPr lang="pt-BR" altLang="zh-TW" dirty="0"/>
              <a:t>log</a:t>
            </a:r>
            <a:r>
              <a:rPr lang="pt-BR" altLang="zh-TW" i="1" dirty="0"/>
              <a:t>q</a:t>
            </a:r>
            <a:r>
              <a:rPr lang="pt-BR" altLang="zh-TW" dirty="0"/>
              <a:t>)</a:t>
            </a:r>
          </a:p>
          <a:p>
            <a:pPr lvl="1"/>
            <a:r>
              <a:rPr lang="pt-BR" altLang="zh-TW" dirty="0"/>
              <a:t>Shift Table</a:t>
            </a:r>
          </a:p>
          <a:p>
            <a:pPr lvl="2"/>
            <a:r>
              <a:rPr lang="pt-BR" altLang="zh-TW" i="1" dirty="0"/>
              <a:t>O</a:t>
            </a:r>
            <a:r>
              <a:rPr lang="pt-BR" altLang="zh-TW" dirty="0"/>
              <a:t>(</a:t>
            </a:r>
            <a:r>
              <a:rPr lang="pt-BR" altLang="zh-TW" i="1" dirty="0"/>
              <a:t>q</a:t>
            </a:r>
            <a:r>
              <a:rPr lang="pt-BR" altLang="zh-TW" dirty="0"/>
              <a:t>! + </a:t>
            </a:r>
            <a:r>
              <a:rPr lang="pt-BR" altLang="zh-TW" i="1" dirty="0"/>
              <a:t>mq</a:t>
            </a:r>
            <a:r>
              <a:rPr lang="pt-BR" altLang="zh-TW" dirty="0"/>
              <a:t>log</a:t>
            </a:r>
            <a:r>
              <a:rPr lang="pt-BR" altLang="zh-TW" i="1" dirty="0"/>
              <a:t>q</a:t>
            </a:r>
            <a:r>
              <a:rPr lang="pt-BR" altLang="zh-TW" dirty="0"/>
              <a:t>) </a:t>
            </a:r>
          </a:p>
        </p:txBody>
      </p:sp>
      <p:sp>
        <p:nvSpPr>
          <p:cNvPr id="4" name="投影片編號版面配置區 3">
            <a:extLst>
              <a:ext uri="{FF2B5EF4-FFF2-40B4-BE49-F238E27FC236}">
                <a16:creationId xmlns:a16="http://schemas.microsoft.com/office/drawing/2014/main" id="{ED6D3424-9623-4750-A0EB-14618883AF74}"/>
              </a:ext>
            </a:extLst>
          </p:cNvPr>
          <p:cNvSpPr>
            <a:spLocks noGrp="1"/>
          </p:cNvSpPr>
          <p:nvPr>
            <p:ph type="sldNum" sz="quarter" idx="12"/>
          </p:nvPr>
        </p:nvSpPr>
        <p:spPr/>
        <p:txBody>
          <a:bodyPr/>
          <a:lstStyle/>
          <a:p>
            <a:fld id="{4CD2C34A-D3D3-4A9B-8692-9279E332F0C9}" type="slidenum">
              <a:rPr lang="zh-TW" altLang="en-US" smtClean="0"/>
              <a:pPr/>
              <a:t>9</a:t>
            </a:fld>
            <a:endParaRPr lang="zh-TW" altLang="en-US" dirty="0"/>
          </a:p>
        </p:txBody>
      </p:sp>
      <p:sp>
        <p:nvSpPr>
          <p:cNvPr id="5" name="內容版面配置區 2">
            <a:extLst>
              <a:ext uri="{FF2B5EF4-FFF2-40B4-BE49-F238E27FC236}">
                <a16:creationId xmlns:a16="http://schemas.microsoft.com/office/drawing/2014/main" id="{8495F397-1A95-4E51-A5D6-FD2E0D2F005D}"/>
              </a:ext>
            </a:extLst>
          </p:cNvPr>
          <p:cNvSpPr txBox="1">
            <a:spLocks/>
          </p:cNvSpPr>
          <p:nvPr/>
        </p:nvSpPr>
        <p:spPr>
          <a:xfrm>
            <a:off x="6096000" y="1847850"/>
            <a:ext cx="5257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t>Step 2</a:t>
            </a:r>
          </a:p>
          <a:p>
            <a:pPr lvl="1"/>
            <a:r>
              <a:rPr lang="pt-BR" altLang="zh-TW" dirty="0"/>
              <a:t> O(</a:t>
            </a:r>
            <a:r>
              <a:rPr lang="pt-BR" altLang="zh-TW" i="1" dirty="0"/>
              <a:t>nm</a:t>
            </a:r>
            <a:r>
              <a:rPr lang="pt-BR" altLang="zh-TW" dirty="0"/>
              <a:t> + </a:t>
            </a:r>
            <a:r>
              <a:rPr lang="pt-BR" altLang="zh-TW" i="1" dirty="0"/>
              <a:t>nq</a:t>
            </a:r>
            <a:r>
              <a:rPr lang="pt-BR" altLang="zh-TW" dirty="0"/>
              <a:t>log</a:t>
            </a:r>
            <a:r>
              <a:rPr lang="pt-BR" altLang="zh-TW" i="1" dirty="0"/>
              <a:t>q</a:t>
            </a:r>
            <a:r>
              <a:rPr lang="pt-BR" altLang="zh-TW" dirty="0"/>
              <a:t>)</a:t>
            </a:r>
          </a:p>
          <a:p>
            <a:pPr lvl="1"/>
            <a:endParaRPr lang="pt-BR" altLang="zh-TW" dirty="0"/>
          </a:p>
          <a:p>
            <a:r>
              <a:rPr lang="pt-BR" altLang="zh-TW" dirty="0"/>
              <a:t>Sum</a:t>
            </a:r>
          </a:p>
          <a:p>
            <a:pPr lvl="1"/>
            <a:r>
              <a:rPr lang="pt-BR" altLang="zh-TW" dirty="0"/>
              <a:t>O(</a:t>
            </a:r>
            <a:r>
              <a:rPr lang="pt-BR" altLang="zh-TW" i="1" dirty="0"/>
              <a:t>nm</a:t>
            </a:r>
            <a:r>
              <a:rPr lang="pt-BR" altLang="zh-TW" dirty="0"/>
              <a:t> + </a:t>
            </a:r>
            <a:r>
              <a:rPr lang="pt-BR" altLang="zh-TW" i="1" dirty="0"/>
              <a:t>nq</a:t>
            </a:r>
            <a:r>
              <a:rPr lang="pt-BR" altLang="zh-TW" dirty="0"/>
              <a:t> + </a:t>
            </a:r>
            <a:r>
              <a:rPr lang="pt-BR" altLang="zh-TW" i="1" dirty="0"/>
              <a:t>q</a:t>
            </a:r>
            <a:r>
              <a:rPr lang="pt-BR" altLang="zh-TW" dirty="0"/>
              <a:t>! )</a:t>
            </a:r>
          </a:p>
        </p:txBody>
      </p:sp>
    </p:spTree>
    <p:extLst>
      <p:ext uri="{BB962C8B-B14F-4D97-AF65-F5344CB8AC3E}">
        <p14:creationId xmlns:p14="http://schemas.microsoft.com/office/powerpoint/2010/main" val="146503970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384</TotalTime>
  <Words>496</Words>
  <Application>Microsoft Office PowerPoint</Application>
  <PresentationFormat>寬螢幕</PresentationFormat>
  <Paragraphs>136</Paragraphs>
  <Slides>9</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9</vt:i4>
      </vt:variant>
    </vt:vector>
  </HeadingPairs>
  <TitlesOfParts>
    <vt:vector size="14" baseType="lpstr">
      <vt:lpstr>源流明體 M</vt:lpstr>
      <vt:lpstr>Arial</vt:lpstr>
      <vt:lpstr>Calibri</vt:lpstr>
      <vt:lpstr>Times New Roman</vt:lpstr>
      <vt:lpstr>Office 佈景主題</vt:lpstr>
      <vt:lpstr>A Fast Algorithm for  Order-Preserving Pattern Matching</vt:lpstr>
      <vt:lpstr>Abstract</vt:lpstr>
      <vt:lpstr>Order-Preserving Pattern Matching</vt:lpstr>
      <vt:lpstr>Preliminaries</vt:lpstr>
      <vt:lpstr>Algorithm</vt:lpstr>
      <vt:lpstr>Algorithm</vt:lpstr>
      <vt:lpstr>Algorithm</vt:lpstr>
      <vt:lpstr>Example</vt:lpstr>
      <vt:lpstr>Time Complexity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Ting B</dc:creator>
  <cp:lastModifiedBy>pplab</cp:lastModifiedBy>
  <cp:revision>220</cp:revision>
  <dcterms:created xsi:type="dcterms:W3CDTF">2022-02-13T12:00:20Z</dcterms:created>
  <dcterms:modified xsi:type="dcterms:W3CDTF">2022-04-12T12:26:46Z</dcterms:modified>
</cp:coreProperties>
</file>