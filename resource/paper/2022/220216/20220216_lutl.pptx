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17"/>
  </p:notesMasterIdLst>
  <p:sldIdLst>
    <p:sldId id="256" r:id="rId2"/>
    <p:sldId id="257" r:id="rId3"/>
    <p:sldId id="282" r:id="rId4"/>
    <p:sldId id="283" r:id="rId5"/>
    <p:sldId id="284" r:id="rId6"/>
    <p:sldId id="285" r:id="rId7"/>
    <p:sldId id="295" r:id="rId8"/>
    <p:sldId id="286" r:id="rId9"/>
    <p:sldId id="296" r:id="rId10"/>
    <p:sldId id="289" r:id="rId11"/>
    <p:sldId id="290" r:id="rId12"/>
    <p:sldId id="291" r:id="rId13"/>
    <p:sldId id="293" r:id="rId14"/>
    <p:sldId id="281" r:id="rId15"/>
    <p:sldId id="294"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63FB"/>
    <a:srgbClr val="1C7E0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50"/>
  </p:normalViewPr>
  <p:slideViewPr>
    <p:cSldViewPr snapToGrid="0" snapToObjects="1">
      <p:cViewPr varScale="1">
        <p:scale>
          <a:sx n="120" d="100"/>
          <a:sy n="120" d="100"/>
        </p:scale>
        <p:origin x="2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A45559-0BFE-4344-9B65-AF2AA4340070}" type="datetimeFigureOut">
              <a:rPr kumimoji="1" lang="zh-TW" altLang="en-US" smtClean="0"/>
              <a:t>2022/2/15</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43E2FF-3FFC-0943-9A0D-A0B13F46FECA}" type="slidenum">
              <a:rPr kumimoji="1" lang="zh-TW" altLang="en-US" smtClean="0"/>
              <a:t>‹#›</a:t>
            </a:fld>
            <a:endParaRPr kumimoji="1" lang="zh-TW" altLang="en-US"/>
          </a:p>
        </p:txBody>
      </p:sp>
    </p:spTree>
    <p:extLst>
      <p:ext uri="{BB962C8B-B14F-4D97-AF65-F5344CB8AC3E}">
        <p14:creationId xmlns:p14="http://schemas.microsoft.com/office/powerpoint/2010/main" val="3121076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9CACA6-C67C-E541-892B-44D0091E4B35}"/>
              </a:ext>
            </a:extLst>
          </p:cNvPr>
          <p:cNvSpPr>
            <a:spLocks noGrp="1"/>
          </p:cNvSpPr>
          <p:nvPr>
            <p:ph type="ctrTitle"/>
          </p:nvPr>
        </p:nvSpPr>
        <p:spPr>
          <a:xfrm>
            <a:off x="1524000" y="1122363"/>
            <a:ext cx="9144000" cy="2387600"/>
          </a:xfrm>
        </p:spPr>
        <p:txBody>
          <a:bodyPr anchor="b"/>
          <a:lstStyle>
            <a:lvl1pPr algn="ctr">
              <a:defRPr sz="6000">
                <a:latin typeface="Times New Roman" panose="02020603050405020304" pitchFamily="18" charset="0"/>
                <a:cs typeface="Times New Roman" panose="02020603050405020304" pitchFamily="18" charset="0"/>
              </a:defRPr>
            </a:lvl1pPr>
          </a:lstStyle>
          <a:p>
            <a:r>
              <a:rPr kumimoji="1" lang="zh-TW" altLang="en-US" dirty="0"/>
              <a:t>按一下以編輯母片標題樣式</a:t>
            </a:r>
          </a:p>
        </p:txBody>
      </p:sp>
      <p:sp>
        <p:nvSpPr>
          <p:cNvPr id="3" name="副標題 2">
            <a:extLst>
              <a:ext uri="{FF2B5EF4-FFF2-40B4-BE49-F238E27FC236}">
                <a16:creationId xmlns:a16="http://schemas.microsoft.com/office/drawing/2014/main" id="{11CC1734-2905-E64F-A631-54B4414165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dirty="0"/>
              <a:t>按一下以編輯母片子標題樣式</a:t>
            </a:r>
          </a:p>
        </p:txBody>
      </p:sp>
      <p:sp>
        <p:nvSpPr>
          <p:cNvPr id="4" name="日期版面配置區 3">
            <a:extLst>
              <a:ext uri="{FF2B5EF4-FFF2-40B4-BE49-F238E27FC236}">
                <a16:creationId xmlns:a16="http://schemas.microsoft.com/office/drawing/2014/main" id="{E52928DA-44E4-074F-8536-26603EBDA3A5}"/>
              </a:ext>
            </a:extLst>
          </p:cNvPr>
          <p:cNvSpPr>
            <a:spLocks noGrp="1"/>
          </p:cNvSpPr>
          <p:nvPr>
            <p:ph type="dt" sz="half" idx="10"/>
          </p:nvPr>
        </p:nvSpPr>
        <p:spPr/>
        <p:txBody>
          <a:bodyPr/>
          <a:lstStyle/>
          <a:p>
            <a:fld id="{F8D94305-8CA1-9449-A556-67D5085A7FA1}" type="datetime1">
              <a:rPr kumimoji="1" lang="zh-TW" altLang="en-US" smtClean="0"/>
              <a:t>2022/2/15</a:t>
            </a:fld>
            <a:endParaRPr kumimoji="1" lang="zh-TW" altLang="en-US"/>
          </a:p>
        </p:txBody>
      </p:sp>
      <p:sp>
        <p:nvSpPr>
          <p:cNvPr id="5" name="頁尾版面配置區 4">
            <a:extLst>
              <a:ext uri="{FF2B5EF4-FFF2-40B4-BE49-F238E27FC236}">
                <a16:creationId xmlns:a16="http://schemas.microsoft.com/office/drawing/2014/main" id="{FCCB0FA4-ABBE-BA4C-8404-566B691D00D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36B4FD5-66AB-9441-90B5-4BBD60219EE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3481404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70AF28-EC81-FE4B-89D9-F2E8D07FC024}"/>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7F8F01FE-63E4-B148-8F63-BA8CC19DF1BE}"/>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CDDCB10-D67B-2F49-9257-3F53E655A9C1}"/>
              </a:ext>
            </a:extLst>
          </p:cNvPr>
          <p:cNvSpPr>
            <a:spLocks noGrp="1"/>
          </p:cNvSpPr>
          <p:nvPr>
            <p:ph type="dt" sz="half" idx="10"/>
          </p:nvPr>
        </p:nvSpPr>
        <p:spPr/>
        <p:txBody>
          <a:bodyPr/>
          <a:lstStyle/>
          <a:p>
            <a:fld id="{045A69C4-18F5-3B4F-9726-B61210AF53BB}" type="datetime1">
              <a:rPr kumimoji="1" lang="zh-TW" altLang="en-US" smtClean="0"/>
              <a:t>2022/2/15</a:t>
            </a:fld>
            <a:endParaRPr kumimoji="1" lang="zh-TW" altLang="en-US"/>
          </a:p>
        </p:txBody>
      </p:sp>
      <p:sp>
        <p:nvSpPr>
          <p:cNvPr id="5" name="頁尾版面配置區 4">
            <a:extLst>
              <a:ext uri="{FF2B5EF4-FFF2-40B4-BE49-F238E27FC236}">
                <a16:creationId xmlns:a16="http://schemas.microsoft.com/office/drawing/2014/main" id="{FE383F78-9598-D74D-9292-89EFE69D19A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ABD1EF3F-2214-5B47-9FDA-094F6F6F1A36}"/>
              </a:ext>
            </a:extLst>
          </p:cNvPr>
          <p:cNvSpPr>
            <a:spLocks noGrp="1"/>
          </p:cNvSpPr>
          <p:nvPr>
            <p:ph type="sldNum" sz="quarter" idx="12"/>
          </p:nvPr>
        </p:nvSpPr>
        <p:spPr/>
        <p:txBody>
          <a:bodyPr/>
          <a:lstStyle>
            <a:lvl1pPr>
              <a:defRPr sz="1600">
                <a:solidFill>
                  <a:schemeClr val="tx1">
                    <a:lumMod val="50000"/>
                    <a:lumOff val="50000"/>
                  </a:schemeClr>
                </a:solidFill>
                <a:latin typeface="Times New Roman" panose="02020603050405020304" pitchFamily="18" charset="0"/>
                <a:cs typeface="Times New Roman" panose="02020603050405020304" pitchFamily="18" charset="0"/>
              </a:defRPr>
            </a:lvl1pPr>
          </a:lstStyle>
          <a:p>
            <a:fld id="{45AB94F7-1CE9-3B41-8002-0A2CB67662D8}" type="slidenum">
              <a:rPr kumimoji="1" lang="zh-TW" altLang="en-US" smtClean="0"/>
              <a:pPr/>
              <a:t>‹#›</a:t>
            </a:fld>
            <a:endParaRPr kumimoji="1" lang="zh-TW" altLang="en-US" dirty="0"/>
          </a:p>
        </p:txBody>
      </p:sp>
    </p:spTree>
    <p:extLst>
      <p:ext uri="{BB962C8B-B14F-4D97-AF65-F5344CB8AC3E}">
        <p14:creationId xmlns:p14="http://schemas.microsoft.com/office/powerpoint/2010/main" val="2339286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0EA4F2-2540-1244-B139-F15C25B79C46}"/>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C2C54D3C-13C8-6242-8D0C-509D676810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59742759-9CB6-6844-818C-D784DC9DDBEB}"/>
              </a:ext>
            </a:extLst>
          </p:cNvPr>
          <p:cNvSpPr>
            <a:spLocks noGrp="1"/>
          </p:cNvSpPr>
          <p:nvPr>
            <p:ph type="dt" sz="half" idx="10"/>
          </p:nvPr>
        </p:nvSpPr>
        <p:spPr/>
        <p:txBody>
          <a:bodyPr/>
          <a:lstStyle/>
          <a:p>
            <a:fld id="{3C11A6B9-6F66-C749-9323-08ACCB0475DF}" type="datetime1">
              <a:rPr kumimoji="1" lang="zh-TW" altLang="en-US" smtClean="0"/>
              <a:t>2022/2/15</a:t>
            </a:fld>
            <a:endParaRPr kumimoji="1" lang="zh-TW" altLang="en-US"/>
          </a:p>
        </p:txBody>
      </p:sp>
      <p:sp>
        <p:nvSpPr>
          <p:cNvPr id="5" name="頁尾版面配置區 4">
            <a:extLst>
              <a:ext uri="{FF2B5EF4-FFF2-40B4-BE49-F238E27FC236}">
                <a16:creationId xmlns:a16="http://schemas.microsoft.com/office/drawing/2014/main" id="{BAF6B2C8-E956-014A-989F-C4986EEC9705}"/>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4FE7166-F2BC-6E41-A489-D4F1F176A0D3}"/>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98025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D5B0B7-A085-074E-8B77-3B759476B83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0DE2419-98D0-C748-9D81-FD99D10E893D}"/>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9E7429AE-8C31-D64A-9CAF-84EF9D9F81FB}"/>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54F1935-3D64-C547-BE1F-E5DF5E3EAE39}"/>
              </a:ext>
            </a:extLst>
          </p:cNvPr>
          <p:cNvSpPr>
            <a:spLocks noGrp="1"/>
          </p:cNvSpPr>
          <p:nvPr>
            <p:ph type="dt" sz="half" idx="10"/>
          </p:nvPr>
        </p:nvSpPr>
        <p:spPr/>
        <p:txBody>
          <a:bodyPr/>
          <a:lstStyle/>
          <a:p>
            <a:fld id="{0D2A61A4-81BF-334B-8D80-CA36701FDA35}" type="datetime1">
              <a:rPr kumimoji="1" lang="zh-TW" altLang="en-US" smtClean="0"/>
              <a:t>2022/2/15</a:t>
            </a:fld>
            <a:endParaRPr kumimoji="1" lang="zh-TW" altLang="en-US"/>
          </a:p>
        </p:txBody>
      </p:sp>
      <p:sp>
        <p:nvSpPr>
          <p:cNvPr id="6" name="頁尾版面配置區 5">
            <a:extLst>
              <a:ext uri="{FF2B5EF4-FFF2-40B4-BE49-F238E27FC236}">
                <a16:creationId xmlns:a16="http://schemas.microsoft.com/office/drawing/2014/main" id="{712AB15C-9B5B-D44D-B16C-11EF813D9F62}"/>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25CFBA30-686E-724D-9244-E9E6440670B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01584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12BDD6-FE7A-F545-960D-362C66F47353}"/>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07F6F60D-37BA-C242-9A1E-32FEB8CCCA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E9BCDA43-0B87-A645-8BE0-2EA0C0A6B13B}"/>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05D48957-078C-7444-A985-ACC5552F25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4FEF868D-291B-394E-9BE2-D02FA1CD3C3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1EA16361-4974-3C4E-9136-7688A755DDEC}"/>
              </a:ext>
            </a:extLst>
          </p:cNvPr>
          <p:cNvSpPr>
            <a:spLocks noGrp="1"/>
          </p:cNvSpPr>
          <p:nvPr>
            <p:ph type="dt" sz="half" idx="10"/>
          </p:nvPr>
        </p:nvSpPr>
        <p:spPr/>
        <p:txBody>
          <a:bodyPr/>
          <a:lstStyle/>
          <a:p>
            <a:fld id="{8C8A022A-5F93-5C4C-B16C-BEC73CEE6E54}" type="datetime1">
              <a:rPr kumimoji="1" lang="zh-TW" altLang="en-US" smtClean="0"/>
              <a:t>2022/2/15</a:t>
            </a:fld>
            <a:endParaRPr kumimoji="1" lang="zh-TW" altLang="en-US"/>
          </a:p>
        </p:txBody>
      </p:sp>
      <p:sp>
        <p:nvSpPr>
          <p:cNvPr id="8" name="頁尾版面配置區 7">
            <a:extLst>
              <a:ext uri="{FF2B5EF4-FFF2-40B4-BE49-F238E27FC236}">
                <a16:creationId xmlns:a16="http://schemas.microsoft.com/office/drawing/2014/main" id="{556ED032-8661-E941-88E1-00C96942095D}"/>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FB13C977-9E60-0840-8F60-2746A6806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779835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B53D1F-CD49-4A47-8161-81E7049E7774}"/>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97BAD2FC-9DAA-7243-A022-A4F61BF19E06}"/>
              </a:ext>
            </a:extLst>
          </p:cNvPr>
          <p:cNvSpPr>
            <a:spLocks noGrp="1"/>
          </p:cNvSpPr>
          <p:nvPr>
            <p:ph type="dt" sz="half" idx="10"/>
          </p:nvPr>
        </p:nvSpPr>
        <p:spPr/>
        <p:txBody>
          <a:bodyPr/>
          <a:lstStyle/>
          <a:p>
            <a:fld id="{12C925CB-9510-9341-9576-9B12ECEC775E}" type="datetime1">
              <a:rPr kumimoji="1" lang="zh-TW" altLang="en-US" smtClean="0"/>
              <a:t>2022/2/15</a:t>
            </a:fld>
            <a:endParaRPr kumimoji="1" lang="zh-TW" altLang="en-US"/>
          </a:p>
        </p:txBody>
      </p:sp>
      <p:sp>
        <p:nvSpPr>
          <p:cNvPr id="4" name="頁尾版面配置區 3">
            <a:extLst>
              <a:ext uri="{FF2B5EF4-FFF2-40B4-BE49-F238E27FC236}">
                <a16:creationId xmlns:a16="http://schemas.microsoft.com/office/drawing/2014/main" id="{FB08567B-6FC5-FE42-99C1-56DE3E0EA82A}"/>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EDF5BEE7-69BC-3243-92F7-9D56CF1E4E0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994566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C472B68F-CE5E-8E42-845E-216799E9332B}"/>
              </a:ext>
            </a:extLst>
          </p:cNvPr>
          <p:cNvSpPr>
            <a:spLocks noGrp="1"/>
          </p:cNvSpPr>
          <p:nvPr>
            <p:ph type="dt" sz="half" idx="10"/>
          </p:nvPr>
        </p:nvSpPr>
        <p:spPr/>
        <p:txBody>
          <a:bodyPr/>
          <a:lstStyle/>
          <a:p>
            <a:fld id="{9FC0CE8D-F82D-A84C-87DC-2C4A6AB68E2E}" type="datetime1">
              <a:rPr kumimoji="1" lang="zh-TW" altLang="en-US" smtClean="0"/>
              <a:t>2022/2/15</a:t>
            </a:fld>
            <a:endParaRPr kumimoji="1" lang="zh-TW" altLang="en-US"/>
          </a:p>
        </p:txBody>
      </p:sp>
      <p:sp>
        <p:nvSpPr>
          <p:cNvPr id="3" name="頁尾版面配置區 2">
            <a:extLst>
              <a:ext uri="{FF2B5EF4-FFF2-40B4-BE49-F238E27FC236}">
                <a16:creationId xmlns:a16="http://schemas.microsoft.com/office/drawing/2014/main" id="{0AE25D5B-72BF-8541-BB27-109E74F63A4A}"/>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A4D9627B-7493-DE49-BED1-D957B96B65C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05284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D33F3F-E533-ED46-B706-B8230FBE3629}"/>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923F0ED-E028-4D48-ACE1-92415A0E02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F9259B9D-B493-EE4A-8F83-9E517D43A3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B647DBB5-D8D1-9C4B-958E-74CA3C356597}"/>
              </a:ext>
            </a:extLst>
          </p:cNvPr>
          <p:cNvSpPr>
            <a:spLocks noGrp="1"/>
          </p:cNvSpPr>
          <p:nvPr>
            <p:ph type="dt" sz="half" idx="10"/>
          </p:nvPr>
        </p:nvSpPr>
        <p:spPr/>
        <p:txBody>
          <a:bodyPr/>
          <a:lstStyle/>
          <a:p>
            <a:fld id="{358C0FAD-89C5-7F43-A773-FAE777B2C9F1}" type="datetime1">
              <a:rPr kumimoji="1" lang="zh-TW" altLang="en-US" smtClean="0"/>
              <a:t>2022/2/15</a:t>
            </a:fld>
            <a:endParaRPr kumimoji="1" lang="zh-TW" altLang="en-US"/>
          </a:p>
        </p:txBody>
      </p:sp>
      <p:sp>
        <p:nvSpPr>
          <p:cNvPr id="6" name="頁尾版面配置區 5">
            <a:extLst>
              <a:ext uri="{FF2B5EF4-FFF2-40B4-BE49-F238E27FC236}">
                <a16:creationId xmlns:a16="http://schemas.microsoft.com/office/drawing/2014/main" id="{2DD9DD0B-97B7-7C48-9FAF-367CEFEAD76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1F04DAF6-0748-E746-B095-EDD0BFA0C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234485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B7AA03-AD9D-9B4F-BF9A-0D182E130373}"/>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40629E92-D1EC-7541-B377-00C9F825B7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49365C22-4E8D-5446-A436-EA77B69D7F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B89063B-A0C5-524B-897E-9D14FAA16A3A}"/>
              </a:ext>
            </a:extLst>
          </p:cNvPr>
          <p:cNvSpPr>
            <a:spLocks noGrp="1"/>
          </p:cNvSpPr>
          <p:nvPr>
            <p:ph type="dt" sz="half" idx="10"/>
          </p:nvPr>
        </p:nvSpPr>
        <p:spPr/>
        <p:txBody>
          <a:bodyPr/>
          <a:lstStyle/>
          <a:p>
            <a:fld id="{C6BFB9B9-8EF2-A94F-98A1-225287ED6E40}" type="datetime1">
              <a:rPr kumimoji="1" lang="zh-TW" altLang="en-US" smtClean="0"/>
              <a:t>2022/2/15</a:t>
            </a:fld>
            <a:endParaRPr kumimoji="1" lang="zh-TW" altLang="en-US"/>
          </a:p>
        </p:txBody>
      </p:sp>
      <p:sp>
        <p:nvSpPr>
          <p:cNvPr id="6" name="頁尾版面配置區 5">
            <a:extLst>
              <a:ext uri="{FF2B5EF4-FFF2-40B4-BE49-F238E27FC236}">
                <a16:creationId xmlns:a16="http://schemas.microsoft.com/office/drawing/2014/main" id="{DFCC9C8F-50DB-0448-BAE3-DCD747D6EB24}"/>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8E76F315-F817-7046-B413-386F671772BC}"/>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16739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AAEEB8-BF61-0D4B-91E0-B11EF6EA06A8}"/>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B92FAE11-B217-A441-BF40-6E86BC48954F}"/>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6718463-BF67-834B-B2DE-31F68E4528C2}"/>
              </a:ext>
            </a:extLst>
          </p:cNvPr>
          <p:cNvSpPr>
            <a:spLocks noGrp="1"/>
          </p:cNvSpPr>
          <p:nvPr>
            <p:ph type="dt" sz="half" idx="10"/>
          </p:nvPr>
        </p:nvSpPr>
        <p:spPr/>
        <p:txBody>
          <a:bodyPr/>
          <a:lstStyle/>
          <a:p>
            <a:fld id="{238B0978-9282-A443-81EE-087251DCE16D}" type="datetime1">
              <a:rPr kumimoji="1" lang="zh-TW" altLang="en-US" smtClean="0"/>
              <a:t>2022/2/15</a:t>
            </a:fld>
            <a:endParaRPr kumimoji="1" lang="zh-TW" altLang="en-US"/>
          </a:p>
        </p:txBody>
      </p:sp>
      <p:sp>
        <p:nvSpPr>
          <p:cNvPr id="5" name="頁尾版面配置區 4">
            <a:extLst>
              <a:ext uri="{FF2B5EF4-FFF2-40B4-BE49-F238E27FC236}">
                <a16:creationId xmlns:a16="http://schemas.microsoft.com/office/drawing/2014/main" id="{F594982C-896E-4149-99DD-209F8E8C0071}"/>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603828-B8BB-9B4D-B2DF-DD10F4CAE81A}"/>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64934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535947D6-AA8E-8847-82ED-F06115AA28F2}"/>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F700A80-132C-4840-9A7C-C78D2A2400F3}"/>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A617639-2B7B-124E-964F-8866AB88322E}"/>
              </a:ext>
            </a:extLst>
          </p:cNvPr>
          <p:cNvSpPr>
            <a:spLocks noGrp="1"/>
          </p:cNvSpPr>
          <p:nvPr>
            <p:ph type="dt" sz="half" idx="10"/>
          </p:nvPr>
        </p:nvSpPr>
        <p:spPr/>
        <p:txBody>
          <a:bodyPr/>
          <a:lstStyle/>
          <a:p>
            <a:fld id="{22108DF5-4A34-8D4B-8D26-525AA81604B2}" type="datetime1">
              <a:rPr kumimoji="1" lang="zh-TW" altLang="en-US" smtClean="0"/>
              <a:t>2022/2/15</a:t>
            </a:fld>
            <a:endParaRPr kumimoji="1" lang="zh-TW" altLang="en-US"/>
          </a:p>
        </p:txBody>
      </p:sp>
      <p:sp>
        <p:nvSpPr>
          <p:cNvPr id="5" name="頁尾版面配置區 4">
            <a:extLst>
              <a:ext uri="{FF2B5EF4-FFF2-40B4-BE49-F238E27FC236}">
                <a16:creationId xmlns:a16="http://schemas.microsoft.com/office/drawing/2014/main" id="{0438D0C4-A114-014D-8492-65B3EEDD1784}"/>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418114EB-9F4C-BE4F-9F99-D7A2DEEC2A60}"/>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608371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大標題與項目符號">
    <p:spTree>
      <p:nvGrpSpPr>
        <p:cNvPr id="1" name=""/>
        <p:cNvGrpSpPr/>
        <p:nvPr/>
      </p:nvGrpSpPr>
      <p:grpSpPr>
        <a:xfrm>
          <a:off x="0" y="0"/>
          <a:ext cx="0" cy="0"/>
          <a:chOff x="0" y="0"/>
          <a:chExt cx="0" cy="0"/>
        </a:xfrm>
      </p:grpSpPr>
      <p:sp>
        <p:nvSpPr>
          <p:cNvPr id="56" name="大標題文字"/>
          <p:cNvSpPr txBox="1">
            <a:spLocks noGrp="1"/>
          </p:cNvSpPr>
          <p:nvPr>
            <p:ph type="title"/>
          </p:nvPr>
        </p:nvSpPr>
        <p:spPr>
          <a:prstGeom prst="rect">
            <a:avLst/>
          </a:prstGeom>
        </p:spPr>
        <p:txBody>
          <a:bodyPr/>
          <a:lstStyle/>
          <a:p>
            <a:r>
              <a:t>大標題文字</a:t>
            </a:r>
          </a:p>
        </p:txBody>
      </p:sp>
      <p:sp>
        <p:nvSpPr>
          <p:cNvPr id="57" name="內文層級一…"/>
          <p:cNvSpPr txBox="1">
            <a:spLocks noGrp="1"/>
          </p:cNvSpPr>
          <p:nvPr>
            <p:ph type="body" idx="1"/>
          </p:nvPr>
        </p:nvSpPr>
        <p:spPr>
          <a:prstGeom prst="rect">
            <a:avLst/>
          </a:prstGeom>
        </p:spPr>
        <p:txBody>
          <a:bodyPr/>
          <a:lstStyle>
            <a:lvl1pPr marL="396875" indent="-396875">
              <a:defRPr sz="3000"/>
            </a:lvl1pPr>
            <a:lvl2pPr marL="714375" indent="-396875">
              <a:defRPr sz="3000"/>
            </a:lvl2pPr>
            <a:lvl3pPr marL="1031875" indent="-396875">
              <a:defRPr sz="3000"/>
            </a:lvl3pPr>
            <a:lvl4pPr marL="1349375" indent="-396875">
              <a:defRPr sz="3000"/>
            </a:lvl4pPr>
            <a:lvl5pPr marL="1666875" indent="-396875">
              <a:defRPr sz="3000"/>
            </a:lvl5pPr>
          </a:lstStyle>
          <a:p>
            <a:r>
              <a:t>內文層級一</a:t>
            </a:r>
          </a:p>
          <a:p>
            <a:pPr lvl="1"/>
            <a:r>
              <a:t>內文層級二</a:t>
            </a:r>
          </a:p>
          <a:p>
            <a:pPr lvl="2"/>
            <a:r>
              <a:t>內文層級三</a:t>
            </a:r>
          </a:p>
          <a:p>
            <a:pPr lvl="3"/>
            <a:r>
              <a:t>內文層級四</a:t>
            </a:r>
          </a:p>
          <a:p>
            <a:pPr lvl="4"/>
            <a:r>
              <a:t>內文層級五</a:t>
            </a:r>
          </a:p>
        </p:txBody>
      </p:sp>
      <p:sp>
        <p:nvSpPr>
          <p:cNvPr id="58"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0030479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3116FCC-9057-794F-A6BD-9239D6867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dirty="0"/>
              <a:t>按一下以編輯母片標題樣式</a:t>
            </a:r>
          </a:p>
        </p:txBody>
      </p:sp>
      <p:sp>
        <p:nvSpPr>
          <p:cNvPr id="3" name="文字版面配置區 2">
            <a:extLst>
              <a:ext uri="{FF2B5EF4-FFF2-40B4-BE49-F238E27FC236}">
                <a16:creationId xmlns:a16="http://schemas.microsoft.com/office/drawing/2014/main" id="{0F71D68C-1C2E-1C49-B4D5-25F62E8AE2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dirty="0"/>
              <a:t>按一下以編輯母片文字樣式</a:t>
            </a:r>
          </a:p>
          <a:p>
            <a:pPr lvl="1"/>
            <a:r>
              <a:rPr kumimoji="1" lang="zh-TW" altLang="en-US" dirty="0"/>
              <a:t>第二層</a:t>
            </a:r>
          </a:p>
          <a:p>
            <a:pPr lvl="2"/>
            <a:r>
              <a:rPr kumimoji="1" lang="zh-TW" altLang="en-US" dirty="0"/>
              <a:t>第三層</a:t>
            </a:r>
          </a:p>
          <a:p>
            <a:pPr lvl="3"/>
            <a:r>
              <a:rPr kumimoji="1" lang="zh-TW" altLang="en-US" dirty="0"/>
              <a:t>第四層</a:t>
            </a:r>
          </a:p>
          <a:p>
            <a:pPr lvl="4"/>
            <a:r>
              <a:rPr kumimoji="1" lang="zh-TW" altLang="en-US" dirty="0"/>
              <a:t>第五層</a:t>
            </a:r>
          </a:p>
        </p:txBody>
      </p:sp>
      <p:sp>
        <p:nvSpPr>
          <p:cNvPr id="4" name="日期版面配置區 3">
            <a:extLst>
              <a:ext uri="{FF2B5EF4-FFF2-40B4-BE49-F238E27FC236}">
                <a16:creationId xmlns:a16="http://schemas.microsoft.com/office/drawing/2014/main" id="{6ECE1990-52AC-F546-8798-90353A0395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A140CC-F999-A946-9373-08EAE304F3C9}" type="datetime1">
              <a:rPr kumimoji="1" lang="zh-TW" altLang="en-US" smtClean="0"/>
              <a:t>2022/2/15</a:t>
            </a:fld>
            <a:endParaRPr kumimoji="1" lang="zh-TW" altLang="en-US"/>
          </a:p>
        </p:txBody>
      </p:sp>
      <p:sp>
        <p:nvSpPr>
          <p:cNvPr id="5" name="頁尾版面配置區 4">
            <a:extLst>
              <a:ext uri="{FF2B5EF4-FFF2-40B4-BE49-F238E27FC236}">
                <a16:creationId xmlns:a16="http://schemas.microsoft.com/office/drawing/2014/main" id="{3EB22EAC-653F-C544-A1B0-BE186C1781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126F20A4-E6B9-D241-B29C-161E27408E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97430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A1336C-440D-2E43-904F-AABB45E64E1E}"/>
              </a:ext>
            </a:extLst>
          </p:cNvPr>
          <p:cNvSpPr>
            <a:spLocks noGrp="1"/>
          </p:cNvSpPr>
          <p:nvPr>
            <p:ph type="ctrTitle"/>
          </p:nvPr>
        </p:nvSpPr>
        <p:spPr>
          <a:xfrm>
            <a:off x="2637761" y="1339698"/>
            <a:ext cx="6916479" cy="1755591"/>
          </a:xfrm>
        </p:spPr>
        <p:txBody>
          <a:bodyPr>
            <a:normAutofit/>
          </a:bodyPr>
          <a:lstStyle/>
          <a:p>
            <a:r>
              <a:rPr kumimoji="1" lang="en-US" altLang="zh-TW" dirty="0"/>
              <a:t>On Almost Monge </a:t>
            </a:r>
            <a:br>
              <a:rPr kumimoji="1" lang="en-US" altLang="zh-TW" dirty="0"/>
            </a:br>
            <a:r>
              <a:rPr kumimoji="1" lang="en-US" altLang="zh-TW" dirty="0"/>
              <a:t>All Scores Matrices</a:t>
            </a:r>
            <a:endParaRPr kumimoji="1"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FD611AA7-209A-4449-AB65-A25622930A66}"/>
              </a:ext>
            </a:extLst>
          </p:cNvPr>
          <p:cNvSpPr>
            <a:spLocks noGrp="1"/>
          </p:cNvSpPr>
          <p:nvPr>
            <p:ph type="subTitle" idx="1"/>
          </p:nvPr>
        </p:nvSpPr>
        <p:spPr>
          <a:xfrm>
            <a:off x="1524000" y="3602038"/>
            <a:ext cx="9144000" cy="2224604"/>
          </a:xfrm>
        </p:spPr>
        <p:txBody>
          <a:bodyPr>
            <a:normAutofit/>
          </a:bodyPr>
          <a:lstStyle/>
          <a:p>
            <a:r>
              <a:rPr kumimoji="1" lang="en-US" altLang="zh-TW" dirty="0">
                <a:latin typeface="Times New Roman" panose="02020603050405020304" pitchFamily="18" charset="0"/>
                <a:cs typeface="Times New Roman" panose="02020603050405020304" pitchFamily="18" charset="0"/>
              </a:rPr>
              <a:t>Amir Carmel, </a:t>
            </a:r>
            <a:r>
              <a:rPr kumimoji="1" lang="en-US" altLang="zh-TW" dirty="0" err="1">
                <a:latin typeface="Times New Roman" panose="02020603050405020304" pitchFamily="18" charset="0"/>
                <a:cs typeface="Times New Roman" panose="02020603050405020304" pitchFamily="18" charset="0"/>
              </a:rPr>
              <a:t>Dekel</a:t>
            </a:r>
            <a:r>
              <a:rPr kumimoji="1" lang="en-US" altLang="zh-TW" dirty="0">
                <a:latin typeface="Times New Roman" panose="02020603050405020304" pitchFamily="18" charset="0"/>
                <a:cs typeface="Times New Roman" panose="02020603050405020304" pitchFamily="18" charset="0"/>
              </a:rPr>
              <a:t> </a:t>
            </a:r>
            <a:r>
              <a:rPr kumimoji="1" lang="en-US" altLang="zh-TW" dirty="0" err="1">
                <a:latin typeface="Times New Roman" panose="02020603050405020304" pitchFamily="18" charset="0"/>
                <a:cs typeface="Times New Roman" panose="02020603050405020304" pitchFamily="18" charset="0"/>
              </a:rPr>
              <a:t>Tsur</a:t>
            </a:r>
            <a:r>
              <a:rPr kumimoji="1" lang="en-US" altLang="zh-TW" dirty="0">
                <a:latin typeface="Times New Roman" panose="02020603050405020304" pitchFamily="18" charset="0"/>
                <a:cs typeface="Times New Roman" panose="02020603050405020304" pitchFamily="18" charset="0"/>
              </a:rPr>
              <a:t>, Michal Ziv-</a:t>
            </a:r>
            <a:r>
              <a:rPr kumimoji="1" lang="en-US" altLang="zh-TW" dirty="0" err="1">
                <a:latin typeface="Times New Roman" panose="02020603050405020304" pitchFamily="18" charset="0"/>
                <a:cs typeface="Times New Roman" panose="02020603050405020304" pitchFamily="18" charset="0"/>
              </a:rPr>
              <a:t>Ukelson</a:t>
            </a:r>
            <a:endParaRPr kumimoji="1" lang="en-US"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r>
              <a:rPr kumimoji="1" lang="en-US" altLang="zh-TW" dirty="0" err="1">
                <a:latin typeface="Times New Roman" panose="02020603050405020304" pitchFamily="18" charset="0"/>
                <a:cs typeface="Times New Roman" panose="02020603050405020304" pitchFamily="18" charset="0"/>
              </a:rPr>
              <a:t>Algorithmica</a:t>
            </a:r>
            <a:r>
              <a:rPr kumimoji="1" lang="en" altLang="zh-TW" dirty="0">
                <a:latin typeface="Times New Roman" panose="02020603050405020304" pitchFamily="18" charset="0"/>
                <a:cs typeface="Times New Roman" panose="02020603050405020304" pitchFamily="18" charset="0"/>
              </a:rPr>
              <a:t>, 2019</a:t>
            </a:r>
          </a:p>
          <a:p>
            <a:r>
              <a:rPr kumimoji="1" lang="en" altLang="zh-TW" dirty="0">
                <a:latin typeface="Times New Roman" panose="02020603050405020304" pitchFamily="18" charset="0"/>
                <a:cs typeface="Times New Roman" panose="02020603050405020304" pitchFamily="18" charset="0"/>
              </a:rPr>
              <a:t>Volume 81, pp. 47-68</a:t>
            </a:r>
            <a:endParaRPr kumimoji="1"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BF1141FC-B145-834E-9139-2A899AB73EAA}"/>
              </a:ext>
            </a:extLst>
          </p:cNvPr>
          <p:cNvSpPr txBox="1"/>
          <p:nvPr/>
        </p:nvSpPr>
        <p:spPr>
          <a:xfrm>
            <a:off x="9165265" y="5826642"/>
            <a:ext cx="2491964" cy="646331"/>
          </a:xfrm>
          <a:prstGeom prst="rect">
            <a:avLst/>
          </a:prstGeom>
          <a:noFill/>
        </p:spPr>
        <p:txBody>
          <a:bodyPr wrap="none" rtlCol="0">
            <a:spAutoFit/>
          </a:bodyPr>
          <a:lstStyle/>
          <a:p>
            <a:pPr algn="r"/>
            <a:r>
              <a:rPr kumimoji="1" lang="en" altLang="zh-TW" dirty="0">
                <a:latin typeface="Times New Roman" panose="02020603050405020304" pitchFamily="18" charset="0"/>
                <a:cs typeface="Times New Roman" panose="02020603050405020304" pitchFamily="18" charset="0"/>
              </a:rPr>
              <a:t>Presenter:  Tsung-Lin Lu</a:t>
            </a:r>
          </a:p>
          <a:p>
            <a:pPr algn="r"/>
            <a:r>
              <a:rPr kumimoji="1" lang="en" altLang="zh-TW" dirty="0">
                <a:latin typeface="Times New Roman" panose="02020603050405020304" pitchFamily="18" charset="0"/>
                <a:cs typeface="Times New Roman" panose="02020603050405020304" pitchFamily="18" charset="0"/>
              </a:rPr>
              <a:t>Date: Feb. 16, 2022</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5233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pPr marL="0" indent="0" algn="just">
              <a:buNone/>
            </a:pPr>
            <a:r>
              <a:rPr kumimoji="1" lang="en-US" altLang="zh-TW" dirty="0">
                <a:latin typeface="Times New Roman" panose="02020603050405020304" pitchFamily="18" charset="0"/>
                <a:cs typeface="Times New Roman" panose="02020603050405020304" pitchFamily="18" charset="0"/>
              </a:rPr>
              <a:t>The all scores matrix of a grid graph is a matrix containing the optimal scores of paths from every vertex on the </a:t>
            </a:r>
            <a:r>
              <a:rPr kumimoji="1" lang="en-US" altLang="zh-TW" b="1" dirty="0">
                <a:latin typeface="Times New Roman" panose="02020603050405020304" pitchFamily="18" charset="0"/>
                <a:cs typeface="Times New Roman" panose="02020603050405020304" pitchFamily="18" charset="0"/>
              </a:rPr>
              <a:t>first row </a:t>
            </a:r>
            <a:r>
              <a:rPr kumimoji="1" lang="en-US" altLang="zh-TW" dirty="0">
                <a:latin typeface="Times New Roman" panose="02020603050405020304" pitchFamily="18" charset="0"/>
                <a:cs typeface="Times New Roman" panose="02020603050405020304" pitchFamily="18" charset="0"/>
              </a:rPr>
              <a:t>of the graph to every vertex on the </a:t>
            </a:r>
            <a:r>
              <a:rPr kumimoji="1" lang="en-US" altLang="zh-TW" b="1" dirty="0">
                <a:latin typeface="Times New Roman" panose="02020603050405020304" pitchFamily="18" charset="0"/>
                <a:cs typeface="Times New Roman" panose="02020603050405020304" pitchFamily="18" charset="0"/>
              </a:rPr>
              <a:t>last row</a:t>
            </a:r>
            <a:r>
              <a:rPr kumimoji="1" lang="en-US" altLang="zh-TW" dirty="0">
                <a:latin typeface="Times New Roman" panose="02020603050405020304" pitchFamily="18" charset="0"/>
                <a:cs typeface="Times New Roman" panose="02020603050405020304" pitchFamily="18" charset="0"/>
              </a:rPr>
              <a:t>. This matrix is commonly used to solve diverse string comparison problems. All scores matrices have the </a:t>
            </a:r>
            <a:r>
              <a:rPr kumimoji="1" lang="en-US" altLang="zh-TW" b="1" dirty="0">
                <a:latin typeface="Times New Roman" panose="02020603050405020304" pitchFamily="18" charset="0"/>
                <a:cs typeface="Times New Roman" panose="02020603050405020304" pitchFamily="18" charset="0"/>
              </a:rPr>
              <a:t>Monge property</a:t>
            </a:r>
            <a:r>
              <a:rPr kumimoji="1" lang="en-US" altLang="zh-TW" dirty="0">
                <a:latin typeface="Times New Roman" panose="02020603050405020304" pitchFamily="18" charset="0"/>
                <a:cs typeface="Times New Roman" panose="02020603050405020304" pitchFamily="18" charset="0"/>
              </a:rPr>
              <a:t>, and this was exploited by previous works that used all scores matrices for solving various problems. In this paper, we study an extension of grid graphs that contain an additional set of edges, called </a:t>
            </a:r>
            <a:r>
              <a:rPr kumimoji="1" lang="en-US" altLang="zh-TW" b="1" dirty="0">
                <a:latin typeface="Times New Roman" panose="02020603050405020304" pitchFamily="18" charset="0"/>
                <a:cs typeface="Times New Roman" panose="02020603050405020304" pitchFamily="18" charset="0"/>
              </a:rPr>
              <a:t>bridges</a:t>
            </a:r>
            <a:r>
              <a:rPr kumimoji="1" lang="en-US" altLang="zh-TW" dirty="0">
                <a:latin typeface="Times New Roman" panose="02020603050405020304" pitchFamily="18" charset="0"/>
                <a:cs typeface="Times New Roman" panose="02020603050405020304" pitchFamily="18" charset="0"/>
              </a:rPr>
              <a:t>. Our main result is to show several properties of the all scores matrices of such graphs. We also give an </a:t>
            </a:r>
            <a:r>
              <a:rPr kumimoji="1" lang="en-US" altLang="zh-TW" i="1" dirty="0">
                <a:latin typeface="Times New Roman" panose="02020603050405020304" pitchFamily="18" charset="0"/>
                <a:cs typeface="Times New Roman" panose="02020603050405020304" pitchFamily="18" charset="0"/>
              </a:rPr>
              <a:t>O</a:t>
            </a:r>
            <a:r>
              <a:rPr kumimoji="1" lang="en-US" altLang="zh-TW" dirty="0">
                <a:latin typeface="Times New Roman" panose="02020603050405020304" pitchFamily="18" charset="0"/>
                <a:cs typeface="Times New Roman" panose="02020603050405020304" pitchFamily="18" charset="0"/>
              </a:rPr>
              <a:t>(</a:t>
            </a:r>
            <a:r>
              <a:rPr kumimoji="1" lang="en-US" altLang="zh-TW" i="1" dirty="0">
                <a:latin typeface="Times New Roman" panose="02020603050405020304" pitchFamily="18" charset="0"/>
                <a:cs typeface="Times New Roman" panose="02020603050405020304" pitchFamily="18" charset="0"/>
              </a:rPr>
              <a:t>r</a:t>
            </a:r>
            <a:r>
              <a:rPr kumimoji="1" lang="en-US" altLang="zh-TW" dirty="0">
                <a:latin typeface="Times New Roman" panose="02020603050405020304" pitchFamily="18" charset="0"/>
                <a:cs typeface="Times New Roman" panose="02020603050405020304" pitchFamily="18" charset="0"/>
              </a:rPr>
              <a:t>(</a:t>
            </a:r>
            <a:r>
              <a:rPr kumimoji="1" lang="en-US" altLang="zh-TW" i="1" dirty="0">
                <a:latin typeface="Times New Roman" panose="02020603050405020304" pitchFamily="18" charset="0"/>
                <a:cs typeface="Times New Roman" panose="02020603050405020304" pitchFamily="18" charset="0"/>
              </a:rPr>
              <a:t>nm</a:t>
            </a:r>
            <a:r>
              <a:rPr kumimoji="1" lang="en-US" altLang="zh-TW" dirty="0">
                <a:latin typeface="Times New Roman" panose="02020603050405020304" pitchFamily="18" charset="0"/>
                <a:cs typeface="Times New Roman" panose="02020603050405020304" pitchFamily="18" charset="0"/>
              </a:rPr>
              <a:t> + </a:t>
            </a:r>
            <a:r>
              <a:rPr kumimoji="1" lang="en-US" altLang="zh-TW" i="1" dirty="0">
                <a:latin typeface="Times New Roman" panose="02020603050405020304" pitchFamily="18" charset="0"/>
                <a:cs typeface="Times New Roman" panose="02020603050405020304" pitchFamily="18" charset="0"/>
              </a:rPr>
              <a:t>n</a:t>
            </a:r>
            <a:r>
              <a:rPr kumimoji="1" lang="en-US" altLang="zh-TW" baseline="30000" dirty="0">
                <a:latin typeface="Times New Roman" panose="02020603050405020304" pitchFamily="18" charset="0"/>
                <a:cs typeface="Times New Roman" panose="02020603050405020304" pitchFamily="18" charset="0"/>
              </a:rPr>
              <a:t>2</a:t>
            </a:r>
            <a:r>
              <a:rPr kumimoji="1" lang="en-US" altLang="zh-TW" dirty="0">
                <a:latin typeface="Times New Roman" panose="02020603050405020304" pitchFamily="18" charset="0"/>
                <a:cs typeface="Times New Roman" panose="02020603050405020304" pitchFamily="18" charset="0"/>
              </a:rPr>
              <a:t>)) time algorithm for constructing the all scores matrix of an </a:t>
            </a:r>
            <a:r>
              <a:rPr kumimoji="1" lang="en-US" altLang="zh-TW" i="1" dirty="0">
                <a:latin typeface="Times New Roman" panose="02020603050405020304" pitchFamily="18" charset="0"/>
                <a:cs typeface="Times New Roman" panose="02020603050405020304" pitchFamily="18" charset="0"/>
              </a:rPr>
              <a:t>m</a:t>
            </a:r>
            <a:r>
              <a:rPr kumimoji="1" lang="en-US" altLang="zh-TW" dirty="0">
                <a:latin typeface="Times New Roman" panose="02020603050405020304" pitchFamily="18" charset="0"/>
                <a:cs typeface="Times New Roman" panose="02020603050405020304" pitchFamily="18" charset="0"/>
              </a:rPr>
              <a:t> × </a:t>
            </a:r>
            <a:r>
              <a:rPr kumimoji="1" lang="en-US" altLang="zh-TW" i="1" dirty="0">
                <a:latin typeface="Times New Roman" panose="02020603050405020304" pitchFamily="18" charset="0"/>
                <a:cs typeface="Times New Roman" panose="02020603050405020304" pitchFamily="18" charset="0"/>
              </a:rPr>
              <a:t>n</a:t>
            </a:r>
            <a:r>
              <a:rPr kumimoji="1" lang="en-US" altLang="zh-TW" dirty="0">
                <a:latin typeface="Times New Roman" panose="02020603050405020304" pitchFamily="18" charset="0"/>
                <a:cs typeface="Times New Roman" panose="02020603050405020304" pitchFamily="18" charset="0"/>
              </a:rPr>
              <a:t> grid graph with r bridges.</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a:t>
            </a:fld>
            <a:endParaRPr kumimoji="1" lang="zh-TW" altLang="en-US"/>
          </a:p>
        </p:txBody>
      </p:sp>
    </p:spTree>
    <p:extLst>
      <p:ext uri="{BB962C8B-B14F-4D97-AF65-F5344CB8AC3E}">
        <p14:creationId xmlns:p14="http://schemas.microsoft.com/office/powerpoint/2010/main" val="736690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Outlines</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All scores matrices</a:t>
            </a:r>
          </a:p>
          <a:p>
            <a:r>
              <a:rPr kumimoji="1" lang="en-US" altLang="zh-TW" dirty="0">
                <a:latin typeface="Times New Roman" panose="02020603050405020304" pitchFamily="18" charset="0"/>
                <a:cs typeface="Times New Roman" panose="02020603050405020304" pitchFamily="18" charset="0"/>
              </a:rPr>
              <a:t>Definitions</a:t>
            </a: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Property</a:t>
            </a:r>
          </a:p>
          <a:p>
            <a:r>
              <a:rPr kumimoji="1" lang="en-US" altLang="zh-TW" dirty="0">
                <a:latin typeface="Times New Roman" panose="02020603050405020304" pitchFamily="18" charset="0"/>
                <a:cs typeface="Times New Roman" panose="02020603050405020304" pitchFamily="18" charset="0"/>
              </a:rPr>
              <a:t>Lemma : Basic properties</a:t>
            </a:r>
          </a:p>
          <a:p>
            <a:r>
              <a:rPr kumimoji="1" lang="en-US" altLang="zh-TW" dirty="0">
                <a:latin typeface="Times New Roman" panose="02020603050405020304" pitchFamily="18" charset="0"/>
                <a:cs typeface="Times New Roman" panose="02020603050405020304" pitchFamily="18" charset="0"/>
              </a:rPr>
              <a:t>Lemma : Algorithm DIFF</a:t>
            </a:r>
          </a:p>
          <a:p>
            <a:r>
              <a:rPr kumimoji="1" lang="en-US" altLang="zh-TW" dirty="0">
                <a:latin typeface="Times New Roman" panose="02020603050405020304" pitchFamily="18" charset="0"/>
                <a:cs typeface="Times New Roman" panose="02020603050405020304" pitchFamily="18" charset="0"/>
              </a:rPr>
              <a:t>Lemma : Algorithm </a:t>
            </a:r>
            <a:r>
              <a:rPr kumimoji="1" lang="en-US" altLang="zh-TW" dirty="0" err="1">
                <a:latin typeface="Times New Roman" panose="02020603050405020304" pitchFamily="18" charset="0"/>
                <a:cs typeface="Times New Roman" panose="02020603050405020304" pitchFamily="18" charset="0"/>
              </a:rPr>
              <a:t>D</a:t>
            </a:r>
            <a:r>
              <a:rPr kumimoji="1" lang="en-US" altLang="zh-TW" baseline="-25000" dirty="0" err="1">
                <a:latin typeface="Times New Roman" panose="02020603050405020304" pitchFamily="18" charset="0"/>
                <a:cs typeface="Times New Roman" panose="02020603050405020304" pitchFamily="18" charset="0"/>
              </a:rPr>
              <a:t>first</a:t>
            </a:r>
            <a:endParaRPr kumimoji="1" lang="en-US" altLang="zh-TW" baseline="-25000" dirty="0">
              <a:latin typeface="Times New Roman" panose="02020603050405020304" pitchFamily="18" charset="0"/>
              <a:cs typeface="Times New Roman" panose="02020603050405020304" pitchFamily="18" charset="0"/>
            </a:endParaRPr>
          </a:p>
          <a:p>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2</a:t>
            </a:fld>
            <a:endParaRPr kumimoji="1" lang="zh-TW" altLang="en-US"/>
          </a:p>
        </p:txBody>
      </p:sp>
    </p:spTree>
    <p:extLst>
      <p:ext uri="{BB962C8B-B14F-4D97-AF65-F5344CB8AC3E}">
        <p14:creationId xmlns:p14="http://schemas.microsoft.com/office/powerpoint/2010/main" val="1754996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All scores matrices</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The all scores matrix of two strings </a:t>
            </a:r>
            <a:r>
              <a:rPr kumimoji="1" lang="en-US" altLang="zh-TW" i="1" dirty="0">
                <a:latin typeface="Times New Roman" panose="02020603050405020304" pitchFamily="18" charset="0"/>
                <a:cs typeface="Times New Roman" panose="02020603050405020304" pitchFamily="18" charset="0"/>
              </a:rPr>
              <a:t>A</a:t>
            </a:r>
            <a:r>
              <a:rPr kumimoji="1" lang="en-US" altLang="zh-TW" dirty="0">
                <a:latin typeface="Times New Roman" panose="02020603050405020304" pitchFamily="18" charset="0"/>
                <a:cs typeface="Times New Roman" panose="02020603050405020304" pitchFamily="18" charset="0"/>
              </a:rPr>
              <a:t> and </a:t>
            </a:r>
            <a:r>
              <a:rPr kumimoji="1" lang="en-US" altLang="zh-TW" i="1" dirty="0">
                <a:latin typeface="Times New Roman" panose="02020603050405020304" pitchFamily="18" charset="0"/>
                <a:cs typeface="Times New Roman" panose="02020603050405020304" pitchFamily="18" charset="0"/>
              </a:rPr>
              <a:t>B</a:t>
            </a:r>
            <a:r>
              <a:rPr kumimoji="1" lang="en-US" altLang="zh-TW" dirty="0">
                <a:latin typeface="Times New Roman" panose="02020603050405020304" pitchFamily="18" charset="0"/>
                <a:cs typeface="Times New Roman" panose="02020603050405020304" pitchFamily="18" charset="0"/>
              </a:rPr>
              <a:t> is a (|</a:t>
            </a:r>
            <a:r>
              <a:rPr kumimoji="1" lang="en-US" altLang="zh-TW" i="1" dirty="0">
                <a:latin typeface="Times New Roman" panose="02020603050405020304" pitchFamily="18" charset="0"/>
                <a:cs typeface="Times New Roman" panose="02020603050405020304" pitchFamily="18" charset="0"/>
              </a:rPr>
              <a:t>B</a:t>
            </a:r>
            <a:r>
              <a:rPr kumimoji="1" lang="en-US" altLang="zh-TW" dirty="0">
                <a:latin typeface="Times New Roman" panose="02020603050405020304" pitchFamily="18" charset="0"/>
                <a:cs typeface="Times New Roman" panose="02020603050405020304" pitchFamily="18" charset="0"/>
              </a:rPr>
              <a:t>| + 1) × (|</a:t>
            </a:r>
            <a:r>
              <a:rPr kumimoji="1" lang="en-US" altLang="zh-TW" i="1" dirty="0">
                <a:latin typeface="Times New Roman" panose="02020603050405020304" pitchFamily="18" charset="0"/>
                <a:cs typeface="Times New Roman" panose="02020603050405020304" pitchFamily="18" charset="0"/>
              </a:rPr>
              <a:t>B</a:t>
            </a:r>
            <a:r>
              <a:rPr kumimoji="1" lang="en-US" altLang="zh-TW" dirty="0">
                <a:latin typeface="Times New Roman" panose="02020603050405020304" pitchFamily="18" charset="0"/>
                <a:cs typeface="Times New Roman" panose="02020603050405020304" pitchFamily="18" charset="0"/>
              </a:rPr>
              <a:t>| + 1) matrix that stores the optimal alignment scores between </a:t>
            </a:r>
            <a:r>
              <a:rPr kumimoji="1" lang="en-US" altLang="zh-TW" b="1" i="1" dirty="0">
                <a:latin typeface="Times New Roman" panose="02020603050405020304" pitchFamily="18" charset="0"/>
                <a:cs typeface="Times New Roman" panose="02020603050405020304" pitchFamily="18" charset="0"/>
              </a:rPr>
              <a:t>A</a:t>
            </a:r>
            <a:r>
              <a:rPr kumimoji="1" lang="en-US" altLang="zh-TW" b="1" dirty="0">
                <a:latin typeface="Times New Roman" panose="02020603050405020304" pitchFamily="18" charset="0"/>
                <a:cs typeface="Times New Roman" panose="02020603050405020304" pitchFamily="18" charset="0"/>
              </a:rPr>
              <a:t> and every substring of </a:t>
            </a:r>
            <a:r>
              <a:rPr kumimoji="1" lang="en-US" altLang="zh-TW" b="1" i="1" dirty="0">
                <a:latin typeface="Times New Roman" panose="02020603050405020304" pitchFamily="18" charset="0"/>
                <a:cs typeface="Times New Roman" panose="02020603050405020304" pitchFamily="18" charset="0"/>
              </a:rPr>
              <a:t>B</a:t>
            </a:r>
            <a:r>
              <a:rPr kumimoji="1" lang="en-US" altLang="zh-TW" b="1" dirty="0">
                <a:latin typeface="Times New Roman" panose="02020603050405020304" pitchFamily="18" charset="0"/>
                <a:cs typeface="Times New Roman" panose="02020603050405020304" pitchFamily="18" charset="0"/>
              </a:rPr>
              <a:t>.</a:t>
            </a:r>
          </a:p>
          <a:p>
            <a:r>
              <a:rPr kumimoji="1" lang="en-US" altLang="zh-TW" dirty="0">
                <a:latin typeface="Times New Roman" panose="02020603050405020304" pitchFamily="18" charset="0"/>
                <a:cs typeface="Times New Roman" panose="02020603050405020304" pitchFamily="18" charset="0"/>
              </a:rPr>
              <a:t>All scores matrices with </a:t>
            </a:r>
            <a:r>
              <a:rPr kumimoji="1" lang="en-US" altLang="zh-TW" i="1" dirty="0">
                <a:latin typeface="Times New Roman" panose="02020603050405020304" pitchFamily="18" charset="0"/>
                <a:cs typeface="Times New Roman" panose="02020603050405020304" pitchFamily="18" charset="0"/>
              </a:rPr>
              <a:t>r</a:t>
            </a:r>
            <a:r>
              <a:rPr kumimoji="1" lang="en-US" altLang="zh-TW" dirty="0">
                <a:latin typeface="Times New Roman" panose="02020603050405020304" pitchFamily="18" charset="0"/>
                <a:cs typeface="Times New Roman" panose="02020603050405020304" pitchFamily="18" charset="0"/>
              </a:rPr>
              <a:t> bridges :</a:t>
            </a:r>
            <a:endParaRPr kumimoji="1" lang="zh-TW" altLang="en-US" b="1"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3</a:t>
            </a:fld>
            <a:endParaRPr kumimoji="1" lang="zh-TW" altLang="en-US"/>
          </a:p>
        </p:txBody>
      </p:sp>
      <p:graphicFrame>
        <p:nvGraphicFramePr>
          <p:cNvPr id="4" name="表格 4">
            <a:extLst>
              <a:ext uri="{FF2B5EF4-FFF2-40B4-BE49-F238E27FC236}">
                <a16:creationId xmlns:a16="http://schemas.microsoft.com/office/drawing/2014/main" id="{A8EE3987-5347-4645-85D8-81D884A62F07}"/>
              </a:ext>
            </a:extLst>
          </p:cNvPr>
          <p:cNvGraphicFramePr>
            <a:graphicFrameLocks noGrp="1"/>
          </p:cNvGraphicFramePr>
          <p:nvPr>
            <p:extLst>
              <p:ext uri="{D42A27DB-BD31-4B8C-83A1-F6EECF244321}">
                <p14:modId xmlns:p14="http://schemas.microsoft.com/office/powerpoint/2010/main" val="423080297"/>
              </p:ext>
            </p:extLst>
          </p:nvPr>
        </p:nvGraphicFramePr>
        <p:xfrm>
          <a:off x="1160134" y="3827808"/>
          <a:ext cx="4935866" cy="1112520"/>
        </p:xfrm>
        <a:graphic>
          <a:graphicData uri="http://schemas.openxmlformats.org/drawingml/2006/table">
            <a:tbl>
              <a:tblPr firstRow="1" bandRow="1">
                <a:tableStyleId>{5940675A-B579-460E-94D1-54222C63F5DA}</a:tableStyleId>
              </a:tblPr>
              <a:tblGrid>
                <a:gridCol w="1488114">
                  <a:extLst>
                    <a:ext uri="{9D8B030D-6E8A-4147-A177-3AD203B41FA5}">
                      <a16:colId xmlns:a16="http://schemas.microsoft.com/office/drawing/2014/main" val="373272331"/>
                    </a:ext>
                  </a:extLst>
                </a:gridCol>
                <a:gridCol w="881761">
                  <a:extLst>
                    <a:ext uri="{9D8B030D-6E8A-4147-A177-3AD203B41FA5}">
                      <a16:colId xmlns:a16="http://schemas.microsoft.com/office/drawing/2014/main" val="3237763069"/>
                    </a:ext>
                  </a:extLst>
                </a:gridCol>
                <a:gridCol w="2565991">
                  <a:extLst>
                    <a:ext uri="{9D8B030D-6E8A-4147-A177-3AD203B41FA5}">
                      <a16:colId xmlns:a16="http://schemas.microsoft.com/office/drawing/2014/main" val="1491897662"/>
                    </a:ext>
                  </a:extLst>
                </a:gridCol>
              </a:tblGrid>
              <a:tr h="370840">
                <a:tc>
                  <a:txBody>
                    <a:bodyPr/>
                    <a:lstStyle/>
                    <a:p>
                      <a:r>
                        <a:rPr lang="en-US" altLang="zh-TW" dirty="0">
                          <a:latin typeface="Times New Roman" panose="02020603050405020304" pitchFamily="18" charset="0"/>
                          <a:cs typeface="Times New Roman" panose="02020603050405020304" pitchFamily="18" charset="0"/>
                        </a:rPr>
                        <a:t>Authors</a:t>
                      </a:r>
                      <a:endParaRPr lang="zh-TW" altLang="en-US" dirty="0">
                        <a:latin typeface="Times New Roman" panose="02020603050405020304" pitchFamily="18" charset="0"/>
                        <a:cs typeface="Times New Roman" panose="02020603050405020304" pitchFamily="18" charset="0"/>
                      </a:endParaRPr>
                    </a:p>
                  </a:txBody>
                  <a:tcPr>
                    <a:solidFill>
                      <a:schemeClr val="accent5">
                        <a:lumMod val="40000"/>
                        <a:lumOff val="60000"/>
                      </a:schemeClr>
                    </a:solidFill>
                  </a:tcPr>
                </a:tc>
                <a:tc>
                  <a:txBody>
                    <a:bodyPr/>
                    <a:lstStyle/>
                    <a:p>
                      <a:r>
                        <a:rPr lang="en-US" altLang="zh-TW" dirty="0">
                          <a:latin typeface="Times New Roman" panose="02020603050405020304" pitchFamily="18" charset="0"/>
                          <a:cs typeface="Times New Roman" panose="02020603050405020304" pitchFamily="18" charset="0"/>
                        </a:rPr>
                        <a:t>Year</a:t>
                      </a:r>
                      <a:endParaRPr lang="zh-TW" altLang="en-US" dirty="0">
                        <a:latin typeface="Times New Roman" panose="02020603050405020304" pitchFamily="18" charset="0"/>
                        <a:cs typeface="Times New Roman" panose="02020603050405020304" pitchFamily="18" charset="0"/>
                      </a:endParaRPr>
                    </a:p>
                  </a:txBody>
                  <a:tcPr>
                    <a:solidFill>
                      <a:schemeClr val="accent5">
                        <a:lumMod val="40000"/>
                        <a:lumOff val="60000"/>
                      </a:schemeClr>
                    </a:solidFill>
                  </a:tcPr>
                </a:tc>
                <a:tc>
                  <a:txBody>
                    <a:bodyPr/>
                    <a:lstStyle/>
                    <a:p>
                      <a:r>
                        <a:rPr lang="en-US" altLang="zh-TW" dirty="0">
                          <a:latin typeface="Times New Roman" panose="02020603050405020304" pitchFamily="18" charset="0"/>
                          <a:cs typeface="Times New Roman" panose="02020603050405020304" pitchFamily="18" charset="0"/>
                        </a:rPr>
                        <a:t>Time complexity</a:t>
                      </a:r>
                      <a:endParaRPr lang="zh-TW" altLang="en-US" dirty="0">
                        <a:latin typeface="Times New Roman" panose="02020603050405020304" pitchFamily="18" charset="0"/>
                        <a:cs typeface="Times New Roman" panose="02020603050405020304" pitchFamily="18" charset="0"/>
                      </a:endParaRPr>
                    </a:p>
                  </a:txBody>
                  <a:tcPr>
                    <a:solidFill>
                      <a:schemeClr val="accent5">
                        <a:lumMod val="40000"/>
                        <a:lumOff val="60000"/>
                      </a:schemeClr>
                    </a:solidFill>
                  </a:tcPr>
                </a:tc>
                <a:extLst>
                  <a:ext uri="{0D108BD9-81ED-4DB2-BD59-A6C34878D82A}">
                    <a16:rowId xmlns:a16="http://schemas.microsoft.com/office/drawing/2014/main" val="3365526998"/>
                  </a:ext>
                </a:extLst>
              </a:tr>
              <a:tr h="370840">
                <a:tc>
                  <a:txBody>
                    <a:bodyPr/>
                    <a:lstStyle/>
                    <a:p>
                      <a:r>
                        <a:rPr lang="en-US" altLang="zh-TW" dirty="0">
                          <a:latin typeface="Times New Roman" panose="02020603050405020304" pitchFamily="18" charset="0"/>
                          <a:cs typeface="Times New Roman" panose="02020603050405020304" pitchFamily="18" charset="0"/>
                        </a:rPr>
                        <a:t>Cabello et al.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2013</a:t>
                      </a:r>
                      <a:endParaRPr lang="zh-TW" altLang="en-US"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i="1" dirty="0">
                          <a:latin typeface="Times New Roman" panose="02020603050405020304" pitchFamily="18" charset="0"/>
                          <a:cs typeface="Times New Roman" panose="02020603050405020304" pitchFamily="18" charset="0"/>
                        </a:rPr>
                        <a:t>O</a:t>
                      </a:r>
                      <a:r>
                        <a:rPr kumimoji="1" lang="en-US" altLang="zh-TW" dirty="0">
                          <a:latin typeface="Times New Roman" panose="02020603050405020304" pitchFamily="18" charset="0"/>
                          <a:cs typeface="Times New Roman" panose="02020603050405020304" pitchFamily="18" charset="0"/>
                        </a:rPr>
                        <a:t>(</a:t>
                      </a:r>
                      <a:r>
                        <a:rPr kumimoji="1" lang="en-US" altLang="zh-TW" i="1" dirty="0">
                          <a:latin typeface="Times New Roman" panose="02020603050405020304" pitchFamily="18" charset="0"/>
                          <a:cs typeface="Times New Roman" panose="02020603050405020304" pitchFamily="18" charset="0"/>
                        </a:rPr>
                        <a:t>rmn</a:t>
                      </a:r>
                      <a:r>
                        <a:rPr kumimoji="1" lang="en-US" altLang="zh-TW" i="0" dirty="0">
                          <a:latin typeface="Times New Roman" panose="02020603050405020304" pitchFamily="18" charset="0"/>
                          <a:cs typeface="Times New Roman" panose="02020603050405020304" pitchFamily="18" charset="0"/>
                        </a:rPr>
                        <a:t>log</a:t>
                      </a:r>
                      <a:r>
                        <a:rPr kumimoji="1" lang="en-US" altLang="zh-TW" i="1" baseline="30000" dirty="0">
                          <a:latin typeface="Times New Roman" panose="02020603050405020304" pitchFamily="18" charset="0"/>
                          <a:cs typeface="Times New Roman" panose="02020603050405020304" pitchFamily="18" charset="0"/>
                        </a:rPr>
                        <a:t>2</a:t>
                      </a:r>
                      <a:r>
                        <a:rPr kumimoji="1" lang="en-US" altLang="zh-TW" dirty="0">
                          <a:latin typeface="Times New Roman" panose="02020603050405020304" pitchFamily="18" charset="0"/>
                          <a:cs typeface="Times New Roman" panose="02020603050405020304" pitchFamily="18" charset="0"/>
                        </a:rPr>
                        <a:t>(</a:t>
                      </a:r>
                      <a:r>
                        <a:rPr kumimoji="1" lang="en-US" altLang="zh-TW" i="1" dirty="0">
                          <a:latin typeface="Times New Roman" panose="02020603050405020304" pitchFamily="18" charset="0"/>
                          <a:cs typeface="Times New Roman" panose="02020603050405020304" pitchFamily="18" charset="0"/>
                        </a:rPr>
                        <a:t>nm) </a:t>
                      </a:r>
                      <a:r>
                        <a:rPr kumimoji="1" lang="en-US" altLang="zh-TW" dirty="0">
                          <a:latin typeface="Times New Roman" panose="02020603050405020304" pitchFamily="18" charset="0"/>
                          <a:cs typeface="Times New Roman" panose="02020603050405020304" pitchFamily="18" charset="0"/>
                        </a:rPr>
                        <a:t>+ </a:t>
                      </a:r>
                      <a:r>
                        <a:rPr kumimoji="1" lang="en-US" altLang="zh-TW" i="1" dirty="0">
                          <a:latin typeface="Times New Roman" panose="02020603050405020304" pitchFamily="18" charset="0"/>
                          <a:cs typeface="Times New Roman" panose="02020603050405020304" pitchFamily="18" charset="0"/>
                        </a:rPr>
                        <a:t>n</a:t>
                      </a:r>
                      <a:r>
                        <a:rPr kumimoji="1" lang="en-US" altLang="zh-TW" baseline="30000" dirty="0">
                          <a:latin typeface="Times New Roman" panose="02020603050405020304" pitchFamily="18" charset="0"/>
                          <a:cs typeface="Times New Roman" panose="02020603050405020304" pitchFamily="18" charset="0"/>
                        </a:rPr>
                        <a:t>2</a:t>
                      </a:r>
                      <a:r>
                        <a:rPr kumimoji="1" lang="en-US"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8267647"/>
                  </a:ext>
                </a:extLst>
              </a:tr>
              <a:tr h="370840">
                <a:tc>
                  <a:txBody>
                    <a:bodyPr/>
                    <a:lstStyle/>
                    <a:p>
                      <a:r>
                        <a:rPr lang="en-US" altLang="zh-TW" dirty="0">
                          <a:latin typeface="Times New Roman" panose="02020603050405020304" pitchFamily="18" charset="0"/>
                          <a:cs typeface="Times New Roman" panose="02020603050405020304" pitchFamily="18" charset="0"/>
                        </a:rPr>
                        <a:t>Carmel et al.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2019</a:t>
                      </a:r>
                      <a:endParaRPr lang="zh-TW" altLang="en-US" dirty="0">
                        <a:latin typeface="Times New Roman" panose="02020603050405020304" pitchFamily="18" charset="0"/>
                        <a:cs typeface="Times New Roman" panose="02020603050405020304" pitchFamily="18" charset="0"/>
                      </a:endParaRPr>
                    </a:p>
                  </a:txBody>
                  <a:tcPr/>
                </a:tc>
                <a:tc>
                  <a:txBody>
                    <a:bodyPr/>
                    <a:lstStyle/>
                    <a:p>
                      <a:r>
                        <a:rPr kumimoji="1" lang="en-US" altLang="zh-TW" i="1" dirty="0">
                          <a:latin typeface="Times New Roman" panose="02020603050405020304" pitchFamily="18" charset="0"/>
                          <a:cs typeface="Times New Roman" panose="02020603050405020304" pitchFamily="18" charset="0"/>
                        </a:rPr>
                        <a:t>O</a:t>
                      </a:r>
                      <a:r>
                        <a:rPr kumimoji="1" lang="en-US" altLang="zh-TW" dirty="0">
                          <a:latin typeface="Times New Roman" panose="02020603050405020304" pitchFamily="18" charset="0"/>
                          <a:cs typeface="Times New Roman" panose="02020603050405020304" pitchFamily="18" charset="0"/>
                        </a:rPr>
                        <a:t>(</a:t>
                      </a:r>
                      <a:r>
                        <a:rPr kumimoji="1" lang="en-US" altLang="zh-TW" i="1" dirty="0">
                          <a:latin typeface="Times New Roman" panose="02020603050405020304" pitchFamily="18" charset="0"/>
                          <a:cs typeface="Times New Roman" panose="02020603050405020304" pitchFamily="18" charset="0"/>
                        </a:rPr>
                        <a:t>r</a:t>
                      </a:r>
                      <a:r>
                        <a:rPr kumimoji="1" lang="en-US" altLang="zh-TW" dirty="0">
                          <a:latin typeface="Times New Roman" panose="02020603050405020304" pitchFamily="18" charset="0"/>
                          <a:cs typeface="Times New Roman" panose="02020603050405020304" pitchFamily="18" charset="0"/>
                        </a:rPr>
                        <a:t>(</a:t>
                      </a:r>
                      <a:r>
                        <a:rPr kumimoji="1" lang="en-US" altLang="zh-TW" i="1" dirty="0">
                          <a:latin typeface="Times New Roman" panose="02020603050405020304" pitchFamily="18" charset="0"/>
                          <a:cs typeface="Times New Roman" panose="02020603050405020304" pitchFamily="18" charset="0"/>
                        </a:rPr>
                        <a:t>nm</a:t>
                      </a:r>
                      <a:r>
                        <a:rPr kumimoji="1" lang="en-US" altLang="zh-TW" dirty="0">
                          <a:latin typeface="Times New Roman" panose="02020603050405020304" pitchFamily="18" charset="0"/>
                          <a:cs typeface="Times New Roman" panose="02020603050405020304" pitchFamily="18" charset="0"/>
                        </a:rPr>
                        <a:t> + </a:t>
                      </a:r>
                      <a:r>
                        <a:rPr kumimoji="1" lang="en-US" altLang="zh-TW" i="1" dirty="0">
                          <a:latin typeface="Times New Roman" panose="02020603050405020304" pitchFamily="18" charset="0"/>
                          <a:cs typeface="Times New Roman" panose="02020603050405020304" pitchFamily="18" charset="0"/>
                        </a:rPr>
                        <a:t>n</a:t>
                      </a:r>
                      <a:r>
                        <a:rPr kumimoji="1" lang="en-US" altLang="zh-TW" baseline="30000" dirty="0">
                          <a:latin typeface="Times New Roman" panose="02020603050405020304" pitchFamily="18" charset="0"/>
                          <a:cs typeface="Times New Roman" panose="02020603050405020304" pitchFamily="18" charset="0"/>
                        </a:rPr>
                        <a:t>2</a:t>
                      </a:r>
                      <a:r>
                        <a:rPr kumimoji="1" lang="en-US"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30227110"/>
                  </a:ext>
                </a:extLst>
              </a:tr>
            </a:tbl>
          </a:graphicData>
        </a:graphic>
      </p:graphicFrame>
      <p:pic>
        <p:nvPicPr>
          <p:cNvPr id="7" name="圖片 6">
            <a:extLst>
              <a:ext uri="{FF2B5EF4-FFF2-40B4-BE49-F238E27FC236}">
                <a16:creationId xmlns:a16="http://schemas.microsoft.com/office/drawing/2014/main" id="{2C0CB001-FB72-024B-9679-69F0AA940335}"/>
              </a:ext>
            </a:extLst>
          </p:cNvPr>
          <p:cNvPicPr>
            <a:picLocks noChangeAspect="1"/>
          </p:cNvPicPr>
          <p:nvPr/>
        </p:nvPicPr>
        <p:blipFill>
          <a:blip r:embed="rId2"/>
          <a:stretch>
            <a:fillRect/>
          </a:stretch>
        </p:blipFill>
        <p:spPr>
          <a:xfrm>
            <a:off x="7696200" y="3066257"/>
            <a:ext cx="3200400" cy="3200400"/>
          </a:xfrm>
          <a:prstGeom prst="rect">
            <a:avLst/>
          </a:prstGeom>
        </p:spPr>
      </p:pic>
      <p:sp>
        <p:nvSpPr>
          <p:cNvPr id="5" name="文字方塊 4">
            <a:extLst>
              <a:ext uri="{FF2B5EF4-FFF2-40B4-BE49-F238E27FC236}">
                <a16:creationId xmlns:a16="http://schemas.microsoft.com/office/drawing/2014/main" id="{3B238607-275C-A445-92E8-38152B421F2D}"/>
              </a:ext>
            </a:extLst>
          </p:cNvPr>
          <p:cNvSpPr txBox="1"/>
          <p:nvPr/>
        </p:nvSpPr>
        <p:spPr>
          <a:xfrm>
            <a:off x="7357736" y="4481791"/>
            <a:ext cx="325730" cy="369332"/>
          </a:xfrm>
          <a:prstGeom prst="rect">
            <a:avLst/>
          </a:prstGeom>
          <a:noFill/>
        </p:spPr>
        <p:txBody>
          <a:bodyPr wrap="none" rtlCol="0">
            <a:spAutoFit/>
          </a:bodyPr>
          <a:lstStyle/>
          <a:p>
            <a:r>
              <a:rPr kumimoji="1" lang="en-US" altLang="zh-TW" i="1" dirty="0">
                <a:latin typeface="Times New Roman" panose="02020603050405020304" pitchFamily="18" charset="0"/>
                <a:cs typeface="Times New Roman" panose="02020603050405020304" pitchFamily="18" charset="0"/>
              </a:rPr>
              <a:t>A</a:t>
            </a:r>
            <a:endParaRPr kumimoji="1" lang="zh-TW" altLang="en-US" i="1"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25C25F2D-902B-864D-AE47-C00FA3582502}"/>
              </a:ext>
            </a:extLst>
          </p:cNvPr>
          <p:cNvSpPr txBox="1"/>
          <p:nvPr/>
        </p:nvSpPr>
        <p:spPr>
          <a:xfrm>
            <a:off x="9127123" y="2771356"/>
            <a:ext cx="338554" cy="369332"/>
          </a:xfrm>
          <a:prstGeom prst="rect">
            <a:avLst/>
          </a:prstGeom>
          <a:noFill/>
        </p:spPr>
        <p:txBody>
          <a:bodyPr wrap="none" rtlCol="0">
            <a:spAutoFit/>
          </a:bodyPr>
          <a:lstStyle/>
          <a:p>
            <a:r>
              <a:rPr kumimoji="1" lang="en-US" altLang="zh-TW" i="1" dirty="0">
                <a:latin typeface="Times New Roman" panose="02020603050405020304" pitchFamily="18" charset="0"/>
                <a:cs typeface="Times New Roman" panose="02020603050405020304" pitchFamily="18" charset="0"/>
              </a:rPr>
              <a:t>B</a:t>
            </a:r>
            <a:endParaRPr kumimoji="1" lang="zh-TW" altLang="en-US"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657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Definitions</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612971"/>
            <a:ext cx="10515600" cy="4351338"/>
          </a:xfrm>
        </p:spPr>
        <p:txBody>
          <a:bodyPr/>
          <a:lstStyle/>
          <a:p>
            <a:r>
              <a:rPr kumimoji="1" lang="en-US" altLang="zh-TW" dirty="0">
                <a:latin typeface="Times New Roman" panose="02020603050405020304" pitchFamily="18" charset="0"/>
                <a:cs typeface="Times New Roman" panose="02020603050405020304" pitchFamily="18" charset="0"/>
              </a:rPr>
              <a:t>All scores matrix D[</a:t>
            </a:r>
            <a:r>
              <a:rPr kumimoji="1" lang="en-US" altLang="zh-TW"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j] : LCS(A[0...m], B[</a:t>
            </a:r>
            <a:r>
              <a:rPr kumimoji="1" lang="en-US" altLang="zh-TW"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...j])</a:t>
            </a:r>
          </a:p>
          <a:p>
            <a:r>
              <a:rPr kumimoji="1" lang="en-US" altLang="zh-TW" dirty="0">
                <a:latin typeface="Times New Roman" panose="02020603050405020304" pitchFamily="18" charset="0"/>
                <a:cs typeface="Times New Roman" panose="02020603050405020304" pitchFamily="18" charset="0"/>
              </a:rPr>
              <a:t>Density matrix D</a:t>
            </a:r>
            <a:r>
              <a:rPr kumimoji="1" lang="en-US" altLang="zh-TW" baseline="30000" dirty="0">
                <a:latin typeface="Times New Roman" panose="02020603050405020304" pitchFamily="18" charset="0"/>
                <a:cs typeface="Times New Roman" panose="02020603050405020304" pitchFamily="18" charset="0"/>
              </a:rPr>
              <a:t>􏰂</a:t>
            </a:r>
            <a:r>
              <a:rPr kumimoji="1" lang="en-US" altLang="zh-TW" dirty="0">
                <a:latin typeface="Times New Roman" panose="02020603050405020304" pitchFamily="18" charset="0"/>
                <a:cs typeface="Times New Roman" panose="02020603050405020304" pitchFamily="18" charset="0"/>
              </a:rPr>
              <a:t>[</a:t>
            </a:r>
            <a:r>
              <a:rPr kumimoji="1" lang="en-US" altLang="zh-TW"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j] = (D[</a:t>
            </a:r>
            <a:r>
              <a:rPr kumimoji="1" lang="en-US" altLang="zh-TW"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j] + D[</a:t>
            </a:r>
            <a:r>
              <a:rPr kumimoji="1" lang="en-US" altLang="zh-TW"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− 1, j − 1]) − (D[</a:t>
            </a:r>
            <a:r>
              <a:rPr kumimoji="1" lang="en-US" altLang="zh-TW"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− 1, j] + D[</a:t>
            </a:r>
            <a:r>
              <a:rPr kumimoji="1" lang="en-US" altLang="zh-TW"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j − 1]). (</a:t>
            </a:r>
            <a:r>
              <a:rPr kumimoji="1" lang="zh-TW" altLang="en-US" dirty="0">
                <a:latin typeface="Times New Roman" panose="02020603050405020304" pitchFamily="18" charset="0"/>
                <a:cs typeface="Times New Roman" panose="02020603050405020304" pitchFamily="18" charset="0"/>
              </a:rPr>
              <a:t>對角</a:t>
            </a:r>
            <a:r>
              <a:rPr kumimoji="1" lang="en-US" altLang="zh-TW" dirty="0">
                <a:latin typeface="Times New Roman" panose="02020603050405020304" pitchFamily="18" charset="0"/>
                <a:cs typeface="Times New Roman" panose="02020603050405020304" pitchFamily="18" charset="0"/>
              </a:rPr>
              <a:t>-</a:t>
            </a:r>
            <a:r>
              <a:rPr kumimoji="1" lang="zh-TW" altLang="en-US" dirty="0">
                <a:latin typeface="Times New Roman" panose="02020603050405020304" pitchFamily="18" charset="0"/>
                <a:cs typeface="Times New Roman" panose="02020603050405020304" pitchFamily="18" charset="0"/>
              </a:rPr>
              <a:t>反對角</a:t>
            </a:r>
            <a:r>
              <a:rPr kumimoji="1" lang="en-US" altLang="zh-TW" dirty="0">
                <a:latin typeface="Times New Roman" panose="02020603050405020304" pitchFamily="18" charset="0"/>
                <a:cs typeface="Times New Roman" panose="02020603050405020304" pitchFamily="18" charset="0"/>
              </a:rPr>
              <a:t>)</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4</a:t>
            </a:fld>
            <a:endParaRPr kumimoji="1" lang="zh-TW" altLang="en-US"/>
          </a:p>
        </p:txBody>
      </p:sp>
      <p:pic>
        <p:nvPicPr>
          <p:cNvPr id="5" name="圖片 4">
            <a:extLst>
              <a:ext uri="{FF2B5EF4-FFF2-40B4-BE49-F238E27FC236}">
                <a16:creationId xmlns:a16="http://schemas.microsoft.com/office/drawing/2014/main" id="{C576C722-9901-5242-AF64-0DEA980A3E08}"/>
              </a:ext>
            </a:extLst>
          </p:cNvPr>
          <p:cNvPicPr>
            <a:picLocks noChangeAspect="1"/>
          </p:cNvPicPr>
          <p:nvPr/>
        </p:nvPicPr>
        <p:blipFill>
          <a:blip r:embed="rId2"/>
          <a:stretch>
            <a:fillRect/>
          </a:stretch>
        </p:blipFill>
        <p:spPr>
          <a:xfrm>
            <a:off x="7533266" y="2853603"/>
            <a:ext cx="3191538" cy="3191538"/>
          </a:xfrm>
          <a:prstGeom prst="rect">
            <a:avLst/>
          </a:prstGeom>
        </p:spPr>
      </p:pic>
      <p:sp>
        <p:nvSpPr>
          <p:cNvPr id="7" name="內容版面配置區 2">
            <a:extLst>
              <a:ext uri="{FF2B5EF4-FFF2-40B4-BE49-F238E27FC236}">
                <a16:creationId xmlns:a16="http://schemas.microsoft.com/office/drawing/2014/main" id="{D03F99A4-FF7C-5A41-88FA-30353B6827E1}"/>
              </a:ext>
            </a:extLst>
          </p:cNvPr>
          <p:cNvSpPr txBox="1">
            <a:spLocks/>
          </p:cNvSpPr>
          <p:nvPr/>
        </p:nvSpPr>
        <p:spPr>
          <a:xfrm>
            <a:off x="838200" y="2972161"/>
            <a:ext cx="6400800" cy="10882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dirty="0" err="1">
                <a:latin typeface="Times New Roman" panose="02020603050405020304" pitchFamily="18" charset="0"/>
                <a:cs typeface="Times New Roman" panose="02020603050405020304" pitchFamily="18" charset="0"/>
              </a:rPr>
              <a:t>D</a:t>
            </a:r>
            <a:r>
              <a:rPr kumimoji="1" lang="en-US" altLang="zh-TW" baseline="-25000" dirty="0" err="1">
                <a:latin typeface="Times New Roman" panose="02020603050405020304" pitchFamily="18" charset="0"/>
                <a:cs typeface="Times New Roman" panose="02020603050405020304" pitchFamily="18" charset="0"/>
              </a:rPr>
              <a:t>first</a:t>
            </a:r>
            <a:r>
              <a:rPr kumimoji="1" lang="en-US" altLang="zh-TW" dirty="0">
                <a:latin typeface="Times New Roman" panose="02020603050405020304" pitchFamily="18" charset="0"/>
                <a:cs typeface="Times New Roman" panose="02020603050405020304" pitchFamily="18" charset="0"/>
              </a:rPr>
              <a:t>[</a:t>
            </a:r>
            <a:r>
              <a:rPr kumimoji="1" lang="en-US" altLang="zh-TW" dirty="0" err="1">
                <a:latin typeface="Times New Roman" panose="02020603050405020304" pitchFamily="18" charset="0"/>
                <a:cs typeface="Times New Roman" panose="02020603050405020304" pitchFamily="18" charset="0"/>
              </a:rPr>
              <a:t>i,j</a:t>
            </a:r>
            <a:r>
              <a:rPr kumimoji="1" lang="en-US" altLang="zh-TW" dirty="0">
                <a:latin typeface="Times New Roman" panose="02020603050405020304" pitchFamily="18" charset="0"/>
                <a:cs typeface="Times New Roman" panose="02020603050405020304" pitchFamily="18" charset="0"/>
              </a:rPr>
              <a:t>] is a subset of S that there is an s-path from (0, </a:t>
            </a:r>
            <a:r>
              <a:rPr kumimoji="1" lang="en-US" altLang="zh-TW"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to (m, j) with score D[</a:t>
            </a:r>
            <a:r>
              <a:rPr kumimoji="1" lang="en-US" altLang="zh-TW"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j].</a:t>
            </a:r>
            <a:endParaRPr kumimoji="1" lang="zh-TW" altLang="en-US" dirty="0">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78DB6DCE-DB5D-354A-9B83-6F04C1D46B85}"/>
              </a:ext>
            </a:extLst>
          </p:cNvPr>
          <p:cNvPicPr>
            <a:picLocks noChangeAspect="1"/>
          </p:cNvPicPr>
          <p:nvPr/>
        </p:nvPicPr>
        <p:blipFill>
          <a:blip r:embed="rId3"/>
          <a:stretch>
            <a:fillRect/>
          </a:stretch>
        </p:blipFill>
        <p:spPr>
          <a:xfrm>
            <a:off x="1630030" y="3882968"/>
            <a:ext cx="4817140" cy="1979647"/>
          </a:xfrm>
          <a:prstGeom prst="rect">
            <a:avLst/>
          </a:prstGeom>
        </p:spPr>
      </p:pic>
      <p:sp>
        <p:nvSpPr>
          <p:cNvPr id="9" name="矩形 8">
            <a:extLst>
              <a:ext uri="{FF2B5EF4-FFF2-40B4-BE49-F238E27FC236}">
                <a16:creationId xmlns:a16="http://schemas.microsoft.com/office/drawing/2014/main" id="{CB375D9C-6AD0-9749-A952-67E10DF4E9E1}"/>
              </a:ext>
            </a:extLst>
          </p:cNvPr>
          <p:cNvSpPr/>
          <p:nvPr/>
        </p:nvSpPr>
        <p:spPr>
          <a:xfrm>
            <a:off x="1803991" y="5883328"/>
            <a:ext cx="3948223" cy="646331"/>
          </a:xfrm>
          <a:prstGeom prst="rect">
            <a:avLst/>
          </a:prstGeom>
        </p:spPr>
        <p:txBody>
          <a:bodyPr wrap="square">
            <a:spAutoFit/>
          </a:bodyPr>
          <a:lstStyle/>
          <a:p>
            <a:r>
              <a:rPr lang="en-US" altLang="zh-TW" dirty="0">
                <a:solidFill>
                  <a:srgbClr val="101010"/>
                </a:solidFill>
                <a:latin typeface="Times" pitchFamily="2" charset="0"/>
              </a:rPr>
              <a:t>(a) The crossing paths property yielding the Monge property in grid graphs.</a:t>
            </a:r>
            <a:endParaRPr lang="en-US" altLang="zh-TW" dirty="0">
              <a:solidFill>
                <a:srgbClr val="101010"/>
              </a:solidFill>
              <a:effectLst/>
              <a:latin typeface="Times" pitchFamily="2" charset="0"/>
            </a:endParaRPr>
          </a:p>
        </p:txBody>
      </p:sp>
      <p:sp>
        <p:nvSpPr>
          <p:cNvPr id="10" name="矩形 9">
            <a:extLst>
              <a:ext uri="{FF2B5EF4-FFF2-40B4-BE49-F238E27FC236}">
                <a16:creationId xmlns:a16="http://schemas.microsoft.com/office/drawing/2014/main" id="{A17A8087-AD64-5D4C-91B4-F5C305176AFA}"/>
              </a:ext>
            </a:extLst>
          </p:cNvPr>
          <p:cNvSpPr/>
          <p:nvPr/>
        </p:nvSpPr>
        <p:spPr>
          <a:xfrm>
            <a:off x="6861844" y="6021827"/>
            <a:ext cx="4534383" cy="369332"/>
          </a:xfrm>
          <a:prstGeom prst="rect">
            <a:avLst/>
          </a:prstGeom>
        </p:spPr>
        <p:txBody>
          <a:bodyPr wrap="none">
            <a:spAutoFit/>
          </a:bodyPr>
          <a:lstStyle/>
          <a:p>
            <a:r>
              <a:rPr lang="en-US" altLang="zh-TW" dirty="0">
                <a:solidFill>
                  <a:srgbClr val="101010"/>
                </a:solidFill>
                <a:latin typeface="Times" pitchFamily="2" charset="0"/>
              </a:rPr>
              <a:t>(b) The crossing paths property no longer holds</a:t>
            </a:r>
            <a:endParaRPr lang="en-US" altLang="zh-TW" dirty="0">
              <a:solidFill>
                <a:srgbClr val="101010"/>
              </a:solidFill>
              <a:effectLst/>
              <a:latin typeface="Times" pitchFamily="2" charset="0"/>
            </a:endParaRPr>
          </a:p>
        </p:txBody>
      </p:sp>
    </p:spTree>
    <p:extLst>
      <p:ext uri="{BB962C8B-B14F-4D97-AF65-F5344CB8AC3E}">
        <p14:creationId xmlns:p14="http://schemas.microsoft.com/office/powerpoint/2010/main" val="3699937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5</a:t>
            </a:fld>
            <a:endParaRPr kumimoji="1" lang="zh-TW" altLang="en-US"/>
          </a:p>
        </p:txBody>
      </p:sp>
      <p:pic>
        <p:nvPicPr>
          <p:cNvPr id="5" name="圖片 4">
            <a:extLst>
              <a:ext uri="{FF2B5EF4-FFF2-40B4-BE49-F238E27FC236}">
                <a16:creationId xmlns:a16="http://schemas.microsoft.com/office/drawing/2014/main" id="{024D49E1-F271-144B-B5E5-0AC3DF51B116}"/>
              </a:ext>
            </a:extLst>
          </p:cNvPr>
          <p:cNvPicPr>
            <a:picLocks noChangeAspect="1"/>
          </p:cNvPicPr>
          <p:nvPr/>
        </p:nvPicPr>
        <p:blipFill>
          <a:blip r:embed="rId2"/>
          <a:stretch>
            <a:fillRect/>
          </a:stretch>
        </p:blipFill>
        <p:spPr>
          <a:xfrm>
            <a:off x="2128956" y="321965"/>
            <a:ext cx="2914169" cy="2914169"/>
          </a:xfrm>
          <a:prstGeom prst="rect">
            <a:avLst/>
          </a:prstGeom>
        </p:spPr>
      </p:pic>
      <p:graphicFrame>
        <p:nvGraphicFramePr>
          <p:cNvPr id="9" name="表格 9">
            <a:extLst>
              <a:ext uri="{FF2B5EF4-FFF2-40B4-BE49-F238E27FC236}">
                <a16:creationId xmlns:a16="http://schemas.microsoft.com/office/drawing/2014/main" id="{8B036694-091A-B84B-BE19-FB39D70E7128}"/>
              </a:ext>
            </a:extLst>
          </p:cNvPr>
          <p:cNvGraphicFramePr>
            <a:graphicFrameLocks noGrp="1"/>
          </p:cNvGraphicFramePr>
          <p:nvPr>
            <p:extLst>
              <p:ext uri="{D42A27DB-BD31-4B8C-83A1-F6EECF244321}">
                <p14:modId xmlns:p14="http://schemas.microsoft.com/office/powerpoint/2010/main" val="2231577922"/>
              </p:ext>
            </p:extLst>
          </p:nvPr>
        </p:nvGraphicFramePr>
        <p:xfrm>
          <a:off x="5823393" y="19566"/>
          <a:ext cx="4403654" cy="3331344"/>
        </p:xfrm>
        <a:graphic>
          <a:graphicData uri="http://schemas.openxmlformats.org/drawingml/2006/table">
            <a:tbl>
              <a:tblPr firstRow="1" bandRow="1">
                <a:tableStyleId>{5940675A-B579-460E-94D1-54222C63F5DA}</a:tableStyleId>
              </a:tblPr>
              <a:tblGrid>
                <a:gridCol w="434645">
                  <a:extLst>
                    <a:ext uri="{9D8B030D-6E8A-4147-A177-3AD203B41FA5}">
                      <a16:colId xmlns:a16="http://schemas.microsoft.com/office/drawing/2014/main" val="1335027112"/>
                    </a:ext>
                  </a:extLst>
                </a:gridCol>
                <a:gridCol w="360819">
                  <a:extLst>
                    <a:ext uri="{9D8B030D-6E8A-4147-A177-3AD203B41FA5}">
                      <a16:colId xmlns:a16="http://schemas.microsoft.com/office/drawing/2014/main" val="4155089078"/>
                    </a:ext>
                  </a:extLst>
                </a:gridCol>
                <a:gridCol w="360819">
                  <a:extLst>
                    <a:ext uri="{9D8B030D-6E8A-4147-A177-3AD203B41FA5}">
                      <a16:colId xmlns:a16="http://schemas.microsoft.com/office/drawing/2014/main" val="2645048371"/>
                    </a:ext>
                  </a:extLst>
                </a:gridCol>
                <a:gridCol w="360819">
                  <a:extLst>
                    <a:ext uri="{9D8B030D-6E8A-4147-A177-3AD203B41FA5}">
                      <a16:colId xmlns:a16="http://schemas.microsoft.com/office/drawing/2014/main" val="4032559764"/>
                    </a:ext>
                  </a:extLst>
                </a:gridCol>
                <a:gridCol w="360819">
                  <a:extLst>
                    <a:ext uri="{9D8B030D-6E8A-4147-A177-3AD203B41FA5}">
                      <a16:colId xmlns:a16="http://schemas.microsoft.com/office/drawing/2014/main" val="3705653430"/>
                    </a:ext>
                  </a:extLst>
                </a:gridCol>
                <a:gridCol w="360819">
                  <a:extLst>
                    <a:ext uri="{9D8B030D-6E8A-4147-A177-3AD203B41FA5}">
                      <a16:colId xmlns:a16="http://schemas.microsoft.com/office/drawing/2014/main" val="2431619954"/>
                    </a:ext>
                  </a:extLst>
                </a:gridCol>
                <a:gridCol w="360819">
                  <a:extLst>
                    <a:ext uri="{9D8B030D-6E8A-4147-A177-3AD203B41FA5}">
                      <a16:colId xmlns:a16="http://schemas.microsoft.com/office/drawing/2014/main" val="1723677336"/>
                    </a:ext>
                  </a:extLst>
                </a:gridCol>
                <a:gridCol w="360819">
                  <a:extLst>
                    <a:ext uri="{9D8B030D-6E8A-4147-A177-3AD203B41FA5}">
                      <a16:colId xmlns:a16="http://schemas.microsoft.com/office/drawing/2014/main" val="3882517015"/>
                    </a:ext>
                  </a:extLst>
                </a:gridCol>
                <a:gridCol w="360819">
                  <a:extLst>
                    <a:ext uri="{9D8B030D-6E8A-4147-A177-3AD203B41FA5}">
                      <a16:colId xmlns:a16="http://schemas.microsoft.com/office/drawing/2014/main" val="2928903939"/>
                    </a:ext>
                  </a:extLst>
                </a:gridCol>
                <a:gridCol w="360819">
                  <a:extLst>
                    <a:ext uri="{9D8B030D-6E8A-4147-A177-3AD203B41FA5}">
                      <a16:colId xmlns:a16="http://schemas.microsoft.com/office/drawing/2014/main" val="3637278788"/>
                    </a:ext>
                  </a:extLst>
                </a:gridCol>
                <a:gridCol w="360819">
                  <a:extLst>
                    <a:ext uri="{9D8B030D-6E8A-4147-A177-3AD203B41FA5}">
                      <a16:colId xmlns:a16="http://schemas.microsoft.com/office/drawing/2014/main" val="15580358"/>
                    </a:ext>
                  </a:extLst>
                </a:gridCol>
                <a:gridCol w="360819">
                  <a:extLst>
                    <a:ext uri="{9D8B030D-6E8A-4147-A177-3AD203B41FA5}">
                      <a16:colId xmlns:a16="http://schemas.microsoft.com/office/drawing/2014/main" val="819262444"/>
                    </a:ext>
                  </a:extLst>
                </a:gridCol>
              </a:tblGrid>
              <a:tr h="277612">
                <a:tc>
                  <a:txBody>
                    <a:bodyPr/>
                    <a:lstStyle/>
                    <a:p>
                      <a:pPr algn="ctr"/>
                      <a:endParaRPr lang="zh-TW" altLang="en-US" sz="12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t>0</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1</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2</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3</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4</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5</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6</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7</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8</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9</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000" dirty="0"/>
                        <a:t>10</a:t>
                      </a:r>
                      <a:endParaRPr lang="zh-TW" altLang="en-US" sz="10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56909903"/>
                  </a:ext>
                </a:extLst>
              </a:tr>
              <a:tr h="277612">
                <a:tc>
                  <a:txBody>
                    <a:bodyPr/>
                    <a:lstStyle/>
                    <a:p>
                      <a:pPr algn="r"/>
                      <a:r>
                        <a:rPr lang="en-US" altLang="zh-TW" sz="1200" dirty="0"/>
                        <a:t>0</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3</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8</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3636976"/>
                  </a:ext>
                </a:extLst>
              </a:tr>
              <a:tr h="277612">
                <a:tc>
                  <a:txBody>
                    <a:bodyPr/>
                    <a:lstStyle/>
                    <a:p>
                      <a:pPr algn="r"/>
                      <a:r>
                        <a:rPr lang="en-US" altLang="zh-TW" sz="1200" dirty="0"/>
                        <a:t>1</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3</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1876002"/>
                  </a:ext>
                </a:extLst>
              </a:tr>
              <a:tr h="277612">
                <a:tc>
                  <a:txBody>
                    <a:bodyPr/>
                    <a:lstStyle/>
                    <a:p>
                      <a:pPr algn="r"/>
                      <a:r>
                        <a:rPr lang="en-US" altLang="zh-TW" sz="1200" dirty="0"/>
                        <a:t>2</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6652963"/>
                  </a:ext>
                </a:extLst>
              </a:tr>
              <a:tr h="277612">
                <a:tc>
                  <a:txBody>
                    <a:bodyPr/>
                    <a:lstStyle/>
                    <a:p>
                      <a:pPr algn="r"/>
                      <a:r>
                        <a:rPr lang="en-US" altLang="zh-TW" sz="1200" dirty="0"/>
                        <a:t>3</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-3</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3</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5</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6</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2900678"/>
                  </a:ext>
                </a:extLst>
              </a:tr>
              <a:tr h="277612">
                <a:tc>
                  <a:txBody>
                    <a:bodyPr/>
                    <a:lstStyle/>
                    <a:p>
                      <a:pPr algn="r"/>
                      <a:r>
                        <a:rPr lang="en-US" altLang="zh-TW" sz="1200" dirty="0"/>
                        <a:t>4</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-4</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-3</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5</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6</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4202923"/>
                  </a:ext>
                </a:extLst>
              </a:tr>
              <a:tr h="277612">
                <a:tc>
                  <a:txBody>
                    <a:bodyPr/>
                    <a:lstStyle/>
                    <a:p>
                      <a:pPr algn="r"/>
                      <a:r>
                        <a:rPr lang="en-US" altLang="zh-TW" sz="1200" dirty="0"/>
                        <a:t>5</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-5</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-4</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-3</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5</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551547"/>
                  </a:ext>
                </a:extLst>
              </a:tr>
              <a:tr h="277612">
                <a:tc>
                  <a:txBody>
                    <a:bodyPr/>
                    <a:lstStyle/>
                    <a:p>
                      <a:pPr algn="r"/>
                      <a:r>
                        <a:rPr lang="en-US" altLang="zh-TW" sz="1200" dirty="0"/>
                        <a:t>6</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-6</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-5</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-4</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-3</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6500749"/>
                  </a:ext>
                </a:extLst>
              </a:tr>
              <a:tr h="277612">
                <a:tc>
                  <a:txBody>
                    <a:bodyPr/>
                    <a:lstStyle/>
                    <a:p>
                      <a:pPr algn="r"/>
                      <a:r>
                        <a:rPr lang="en-US" altLang="zh-TW" sz="1200" dirty="0"/>
                        <a:t>7</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-7</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-6</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-5</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-4</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-3</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3</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6437989"/>
                  </a:ext>
                </a:extLst>
              </a:tr>
              <a:tr h="277612">
                <a:tc>
                  <a:txBody>
                    <a:bodyPr/>
                    <a:lstStyle/>
                    <a:p>
                      <a:pPr algn="r"/>
                      <a:r>
                        <a:rPr lang="en-US" altLang="zh-TW" sz="1200" dirty="0"/>
                        <a:t>8</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-8</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-7</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-6</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-5</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-4</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-3</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81405"/>
                  </a:ext>
                </a:extLst>
              </a:tr>
              <a:tr h="277612">
                <a:tc>
                  <a:txBody>
                    <a:bodyPr/>
                    <a:lstStyle/>
                    <a:p>
                      <a:pPr algn="r"/>
                      <a:r>
                        <a:rPr lang="en-US" altLang="zh-TW" sz="1200" dirty="0"/>
                        <a:t>9</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-9</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-8</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-7</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-6</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-5</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-4</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-3</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1374388"/>
                  </a:ext>
                </a:extLst>
              </a:tr>
              <a:tr h="277612">
                <a:tc>
                  <a:txBody>
                    <a:bodyPr/>
                    <a:lstStyle/>
                    <a:p>
                      <a:pPr algn="r"/>
                      <a:r>
                        <a:rPr lang="en-US" altLang="zh-TW" sz="1200" dirty="0"/>
                        <a:t>10</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600" dirty="0">
                          <a:solidFill>
                            <a:schemeClr val="bg1">
                              <a:lumMod val="75000"/>
                            </a:schemeClr>
                          </a:solidFill>
                        </a:rPr>
                        <a:t>-10</a:t>
                      </a:r>
                      <a:endParaRPr lang="zh-TW" altLang="en-US" sz="6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-9</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-8</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-7</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-6</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-5</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-4</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-3</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7351516"/>
                  </a:ext>
                </a:extLst>
              </a:tr>
            </a:tbl>
          </a:graphicData>
        </a:graphic>
      </p:graphicFrame>
      <p:graphicFrame>
        <p:nvGraphicFramePr>
          <p:cNvPr id="13" name="表格 9">
            <a:extLst>
              <a:ext uri="{FF2B5EF4-FFF2-40B4-BE49-F238E27FC236}">
                <a16:creationId xmlns:a16="http://schemas.microsoft.com/office/drawing/2014/main" id="{168D6D53-BC34-D94B-824C-5329B71F5F0C}"/>
              </a:ext>
            </a:extLst>
          </p:cNvPr>
          <p:cNvGraphicFramePr>
            <a:graphicFrameLocks noGrp="1"/>
          </p:cNvGraphicFramePr>
          <p:nvPr>
            <p:extLst>
              <p:ext uri="{D42A27DB-BD31-4B8C-83A1-F6EECF244321}">
                <p14:modId xmlns:p14="http://schemas.microsoft.com/office/powerpoint/2010/main" val="1263771559"/>
              </p:ext>
            </p:extLst>
          </p:nvPr>
        </p:nvGraphicFramePr>
        <p:xfrm>
          <a:off x="5823393" y="3453928"/>
          <a:ext cx="4403653" cy="3331344"/>
        </p:xfrm>
        <a:graphic>
          <a:graphicData uri="http://schemas.openxmlformats.org/drawingml/2006/table">
            <a:tbl>
              <a:tblPr firstRow="1" bandRow="1">
                <a:tableStyleId>{5940675A-B579-460E-94D1-54222C63F5DA}</a:tableStyleId>
              </a:tblPr>
              <a:tblGrid>
                <a:gridCol w="434644">
                  <a:extLst>
                    <a:ext uri="{9D8B030D-6E8A-4147-A177-3AD203B41FA5}">
                      <a16:colId xmlns:a16="http://schemas.microsoft.com/office/drawing/2014/main" val="1335027112"/>
                    </a:ext>
                  </a:extLst>
                </a:gridCol>
                <a:gridCol w="360819">
                  <a:extLst>
                    <a:ext uri="{9D8B030D-6E8A-4147-A177-3AD203B41FA5}">
                      <a16:colId xmlns:a16="http://schemas.microsoft.com/office/drawing/2014/main" val="4155089078"/>
                    </a:ext>
                  </a:extLst>
                </a:gridCol>
                <a:gridCol w="360819">
                  <a:extLst>
                    <a:ext uri="{9D8B030D-6E8A-4147-A177-3AD203B41FA5}">
                      <a16:colId xmlns:a16="http://schemas.microsoft.com/office/drawing/2014/main" val="2645048371"/>
                    </a:ext>
                  </a:extLst>
                </a:gridCol>
                <a:gridCol w="360819">
                  <a:extLst>
                    <a:ext uri="{9D8B030D-6E8A-4147-A177-3AD203B41FA5}">
                      <a16:colId xmlns:a16="http://schemas.microsoft.com/office/drawing/2014/main" val="4032559764"/>
                    </a:ext>
                  </a:extLst>
                </a:gridCol>
                <a:gridCol w="360819">
                  <a:extLst>
                    <a:ext uri="{9D8B030D-6E8A-4147-A177-3AD203B41FA5}">
                      <a16:colId xmlns:a16="http://schemas.microsoft.com/office/drawing/2014/main" val="3705653430"/>
                    </a:ext>
                  </a:extLst>
                </a:gridCol>
                <a:gridCol w="360819">
                  <a:extLst>
                    <a:ext uri="{9D8B030D-6E8A-4147-A177-3AD203B41FA5}">
                      <a16:colId xmlns:a16="http://schemas.microsoft.com/office/drawing/2014/main" val="2431619954"/>
                    </a:ext>
                  </a:extLst>
                </a:gridCol>
                <a:gridCol w="360819">
                  <a:extLst>
                    <a:ext uri="{9D8B030D-6E8A-4147-A177-3AD203B41FA5}">
                      <a16:colId xmlns:a16="http://schemas.microsoft.com/office/drawing/2014/main" val="1723677336"/>
                    </a:ext>
                  </a:extLst>
                </a:gridCol>
                <a:gridCol w="360819">
                  <a:extLst>
                    <a:ext uri="{9D8B030D-6E8A-4147-A177-3AD203B41FA5}">
                      <a16:colId xmlns:a16="http://schemas.microsoft.com/office/drawing/2014/main" val="3882517015"/>
                    </a:ext>
                  </a:extLst>
                </a:gridCol>
                <a:gridCol w="360819">
                  <a:extLst>
                    <a:ext uri="{9D8B030D-6E8A-4147-A177-3AD203B41FA5}">
                      <a16:colId xmlns:a16="http://schemas.microsoft.com/office/drawing/2014/main" val="2928903939"/>
                    </a:ext>
                  </a:extLst>
                </a:gridCol>
                <a:gridCol w="360819">
                  <a:extLst>
                    <a:ext uri="{9D8B030D-6E8A-4147-A177-3AD203B41FA5}">
                      <a16:colId xmlns:a16="http://schemas.microsoft.com/office/drawing/2014/main" val="3637278788"/>
                    </a:ext>
                  </a:extLst>
                </a:gridCol>
                <a:gridCol w="360819">
                  <a:extLst>
                    <a:ext uri="{9D8B030D-6E8A-4147-A177-3AD203B41FA5}">
                      <a16:colId xmlns:a16="http://schemas.microsoft.com/office/drawing/2014/main" val="15580358"/>
                    </a:ext>
                  </a:extLst>
                </a:gridCol>
                <a:gridCol w="360819">
                  <a:extLst>
                    <a:ext uri="{9D8B030D-6E8A-4147-A177-3AD203B41FA5}">
                      <a16:colId xmlns:a16="http://schemas.microsoft.com/office/drawing/2014/main" val="819262444"/>
                    </a:ext>
                  </a:extLst>
                </a:gridCol>
              </a:tblGrid>
              <a:tr h="277612">
                <a:tc>
                  <a:txBody>
                    <a:bodyPr/>
                    <a:lstStyle/>
                    <a:p>
                      <a:pPr algn="ctr"/>
                      <a:endParaRPr lang="zh-TW" altLang="en-US" sz="12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t>0</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1</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2</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3</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4</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5</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6</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7</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8</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9</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000" dirty="0"/>
                        <a:t>10</a:t>
                      </a:r>
                      <a:endParaRPr lang="zh-TW" altLang="en-US" sz="10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56909903"/>
                  </a:ext>
                </a:extLst>
              </a:tr>
              <a:tr h="277612">
                <a:tc>
                  <a:txBody>
                    <a:bodyPr/>
                    <a:lstStyle/>
                    <a:p>
                      <a:pPr algn="r"/>
                      <a:r>
                        <a:rPr lang="en-US" altLang="zh-TW" sz="1200" dirty="0"/>
                        <a:t>0</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3636976"/>
                  </a:ext>
                </a:extLst>
              </a:tr>
              <a:tr h="277612">
                <a:tc>
                  <a:txBody>
                    <a:bodyPr/>
                    <a:lstStyle/>
                    <a:p>
                      <a:pPr algn="r"/>
                      <a:r>
                        <a:rPr lang="en-US" altLang="zh-TW" sz="1200" dirty="0"/>
                        <a:t>1</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1876002"/>
                  </a:ext>
                </a:extLst>
              </a:tr>
              <a:tr h="277612">
                <a:tc>
                  <a:txBody>
                    <a:bodyPr/>
                    <a:lstStyle/>
                    <a:p>
                      <a:pPr algn="r"/>
                      <a:r>
                        <a:rPr lang="en-US" altLang="zh-TW" sz="1200" dirty="0"/>
                        <a:t>2</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6652963"/>
                  </a:ext>
                </a:extLst>
              </a:tr>
              <a:tr h="277612">
                <a:tc>
                  <a:txBody>
                    <a:bodyPr/>
                    <a:lstStyle/>
                    <a:p>
                      <a:pPr algn="r"/>
                      <a:r>
                        <a:rPr lang="en-US" altLang="zh-TW" sz="1200" dirty="0"/>
                        <a:t>3</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2900678"/>
                  </a:ext>
                </a:extLst>
              </a:tr>
              <a:tr h="277612">
                <a:tc>
                  <a:txBody>
                    <a:bodyPr/>
                    <a:lstStyle/>
                    <a:p>
                      <a:pPr algn="r"/>
                      <a:r>
                        <a:rPr lang="en-US" altLang="zh-TW" sz="1200" dirty="0"/>
                        <a:t>4</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4202923"/>
                  </a:ext>
                </a:extLst>
              </a:tr>
              <a:tr h="277612">
                <a:tc>
                  <a:txBody>
                    <a:bodyPr/>
                    <a:lstStyle/>
                    <a:p>
                      <a:pPr algn="r"/>
                      <a:r>
                        <a:rPr lang="en-US" altLang="zh-TW" sz="1200" dirty="0"/>
                        <a:t>5</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551547"/>
                  </a:ext>
                </a:extLst>
              </a:tr>
              <a:tr h="277612">
                <a:tc>
                  <a:txBody>
                    <a:bodyPr/>
                    <a:lstStyle/>
                    <a:p>
                      <a:pPr algn="r"/>
                      <a:r>
                        <a:rPr lang="en-US" altLang="zh-TW" sz="1200" dirty="0"/>
                        <a:t>6</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6500749"/>
                  </a:ext>
                </a:extLst>
              </a:tr>
              <a:tr h="277612">
                <a:tc>
                  <a:txBody>
                    <a:bodyPr/>
                    <a:lstStyle/>
                    <a:p>
                      <a:pPr algn="r"/>
                      <a:r>
                        <a:rPr lang="en-US" altLang="zh-TW" sz="1200" dirty="0"/>
                        <a:t>7</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6437989"/>
                  </a:ext>
                </a:extLst>
              </a:tr>
              <a:tr h="277612">
                <a:tc>
                  <a:txBody>
                    <a:bodyPr/>
                    <a:lstStyle/>
                    <a:p>
                      <a:pPr algn="r"/>
                      <a:r>
                        <a:rPr lang="en-US" altLang="zh-TW" sz="1200" dirty="0"/>
                        <a:t>8</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81405"/>
                  </a:ext>
                </a:extLst>
              </a:tr>
              <a:tr h="277612">
                <a:tc>
                  <a:txBody>
                    <a:bodyPr/>
                    <a:lstStyle/>
                    <a:p>
                      <a:pPr algn="r"/>
                      <a:r>
                        <a:rPr lang="en-US" altLang="zh-TW" sz="1200" dirty="0"/>
                        <a:t>9</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1374388"/>
                  </a:ext>
                </a:extLst>
              </a:tr>
              <a:tr h="277612">
                <a:tc>
                  <a:txBody>
                    <a:bodyPr/>
                    <a:lstStyle/>
                    <a:p>
                      <a:pPr algn="r"/>
                      <a:r>
                        <a:rPr lang="en-US" altLang="zh-TW" sz="1200" dirty="0"/>
                        <a:t>10</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6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7351516"/>
                  </a:ext>
                </a:extLst>
              </a:tr>
            </a:tbl>
          </a:graphicData>
        </a:graphic>
      </p:graphicFrame>
      <p:grpSp>
        <p:nvGrpSpPr>
          <p:cNvPr id="34" name="群組 33">
            <a:extLst>
              <a:ext uri="{FF2B5EF4-FFF2-40B4-BE49-F238E27FC236}">
                <a16:creationId xmlns:a16="http://schemas.microsoft.com/office/drawing/2014/main" id="{8FD7604F-56C9-C041-B6CC-4B1F8ABE99BE}"/>
              </a:ext>
            </a:extLst>
          </p:cNvPr>
          <p:cNvGrpSpPr/>
          <p:nvPr/>
        </p:nvGrpSpPr>
        <p:grpSpPr>
          <a:xfrm>
            <a:off x="8059470" y="290751"/>
            <a:ext cx="2167575" cy="1939854"/>
            <a:chOff x="8240231" y="407710"/>
            <a:chExt cx="2167575" cy="1939854"/>
          </a:xfrm>
        </p:grpSpPr>
        <p:sp>
          <p:nvSpPr>
            <p:cNvPr id="14" name="矩形 13">
              <a:extLst>
                <a:ext uri="{FF2B5EF4-FFF2-40B4-BE49-F238E27FC236}">
                  <a16:creationId xmlns:a16="http://schemas.microsoft.com/office/drawing/2014/main" id="{48A34C9E-3C20-F14A-A12F-31584506D0C8}"/>
                </a:ext>
              </a:extLst>
            </p:cNvPr>
            <p:cNvSpPr/>
            <p:nvPr/>
          </p:nvSpPr>
          <p:spPr>
            <a:xfrm>
              <a:off x="8240231" y="417660"/>
              <a:ext cx="2167575" cy="826349"/>
            </a:xfrm>
            <a:prstGeom prst="rect">
              <a:avLst/>
            </a:prstGeom>
            <a:noFill/>
            <a:ln w="57150">
              <a:solidFill>
                <a:srgbClr val="1C7E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矩形 14">
              <a:extLst>
                <a:ext uri="{FF2B5EF4-FFF2-40B4-BE49-F238E27FC236}">
                  <a16:creationId xmlns:a16="http://schemas.microsoft.com/office/drawing/2014/main" id="{6B7DDD54-E990-D94C-94A8-EEB1BF913FA1}"/>
                </a:ext>
              </a:extLst>
            </p:cNvPr>
            <p:cNvSpPr/>
            <p:nvPr/>
          </p:nvSpPr>
          <p:spPr>
            <a:xfrm>
              <a:off x="8963828" y="407710"/>
              <a:ext cx="1443978" cy="1939854"/>
            </a:xfrm>
            <a:prstGeom prst="rect">
              <a:avLst/>
            </a:prstGeom>
            <a:noFill/>
            <a:ln w="57150">
              <a:solidFill>
                <a:srgbClr val="2063F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grpSp>
        <p:nvGrpSpPr>
          <p:cNvPr id="35" name="群組 34">
            <a:extLst>
              <a:ext uri="{FF2B5EF4-FFF2-40B4-BE49-F238E27FC236}">
                <a16:creationId xmlns:a16="http://schemas.microsoft.com/office/drawing/2014/main" id="{EC7E10E0-BCD4-9049-90D6-E4C9FF1E5EE2}"/>
              </a:ext>
            </a:extLst>
          </p:cNvPr>
          <p:cNvGrpSpPr/>
          <p:nvPr/>
        </p:nvGrpSpPr>
        <p:grpSpPr>
          <a:xfrm>
            <a:off x="8059470" y="3750777"/>
            <a:ext cx="2167575" cy="1939854"/>
            <a:chOff x="8240231" y="3686980"/>
            <a:chExt cx="2167575" cy="1939854"/>
          </a:xfrm>
        </p:grpSpPr>
        <p:sp>
          <p:nvSpPr>
            <p:cNvPr id="18" name="矩形 17">
              <a:extLst>
                <a:ext uri="{FF2B5EF4-FFF2-40B4-BE49-F238E27FC236}">
                  <a16:creationId xmlns:a16="http://schemas.microsoft.com/office/drawing/2014/main" id="{BBF31A35-FD3D-464F-AA3B-66C9F45FD5CB}"/>
                </a:ext>
              </a:extLst>
            </p:cNvPr>
            <p:cNvSpPr/>
            <p:nvPr/>
          </p:nvSpPr>
          <p:spPr>
            <a:xfrm>
              <a:off x="8240231" y="3696930"/>
              <a:ext cx="2167575" cy="826349"/>
            </a:xfrm>
            <a:prstGeom prst="rect">
              <a:avLst/>
            </a:prstGeom>
            <a:noFill/>
            <a:ln w="57150">
              <a:solidFill>
                <a:srgbClr val="1C7E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 name="矩形 18">
              <a:extLst>
                <a:ext uri="{FF2B5EF4-FFF2-40B4-BE49-F238E27FC236}">
                  <a16:creationId xmlns:a16="http://schemas.microsoft.com/office/drawing/2014/main" id="{6A6E7F4F-B1BB-8441-AD50-B7E537914279}"/>
                </a:ext>
              </a:extLst>
            </p:cNvPr>
            <p:cNvSpPr/>
            <p:nvPr/>
          </p:nvSpPr>
          <p:spPr>
            <a:xfrm>
              <a:off x="8963828" y="3686980"/>
              <a:ext cx="1443978" cy="1939854"/>
            </a:xfrm>
            <a:prstGeom prst="rect">
              <a:avLst/>
            </a:prstGeom>
            <a:noFill/>
            <a:ln w="57150">
              <a:solidFill>
                <a:srgbClr val="2063F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graphicFrame>
        <p:nvGraphicFramePr>
          <p:cNvPr id="20" name="表格 9">
            <a:extLst>
              <a:ext uri="{FF2B5EF4-FFF2-40B4-BE49-F238E27FC236}">
                <a16:creationId xmlns:a16="http://schemas.microsoft.com/office/drawing/2014/main" id="{406AEE43-0AC5-5540-BD19-1D4E0D9CA54B}"/>
              </a:ext>
            </a:extLst>
          </p:cNvPr>
          <p:cNvGraphicFramePr>
            <a:graphicFrameLocks noGrp="1"/>
          </p:cNvGraphicFramePr>
          <p:nvPr>
            <p:extLst>
              <p:ext uri="{D42A27DB-BD31-4B8C-83A1-F6EECF244321}">
                <p14:modId xmlns:p14="http://schemas.microsoft.com/office/powerpoint/2010/main" val="3286982839"/>
              </p:ext>
            </p:extLst>
          </p:nvPr>
        </p:nvGraphicFramePr>
        <p:xfrm>
          <a:off x="1837560" y="3669890"/>
          <a:ext cx="3969009" cy="3053732"/>
        </p:xfrm>
        <a:graphic>
          <a:graphicData uri="http://schemas.openxmlformats.org/drawingml/2006/table">
            <a:tbl>
              <a:tblPr firstRow="1" bandRow="1">
                <a:tableStyleId>{5940675A-B579-460E-94D1-54222C63F5DA}</a:tableStyleId>
              </a:tblPr>
              <a:tblGrid>
                <a:gridCol w="360819">
                  <a:extLst>
                    <a:ext uri="{9D8B030D-6E8A-4147-A177-3AD203B41FA5}">
                      <a16:colId xmlns:a16="http://schemas.microsoft.com/office/drawing/2014/main" val="4155089078"/>
                    </a:ext>
                  </a:extLst>
                </a:gridCol>
                <a:gridCol w="360819">
                  <a:extLst>
                    <a:ext uri="{9D8B030D-6E8A-4147-A177-3AD203B41FA5}">
                      <a16:colId xmlns:a16="http://schemas.microsoft.com/office/drawing/2014/main" val="2645048371"/>
                    </a:ext>
                  </a:extLst>
                </a:gridCol>
                <a:gridCol w="360819">
                  <a:extLst>
                    <a:ext uri="{9D8B030D-6E8A-4147-A177-3AD203B41FA5}">
                      <a16:colId xmlns:a16="http://schemas.microsoft.com/office/drawing/2014/main" val="4032559764"/>
                    </a:ext>
                  </a:extLst>
                </a:gridCol>
                <a:gridCol w="360819">
                  <a:extLst>
                    <a:ext uri="{9D8B030D-6E8A-4147-A177-3AD203B41FA5}">
                      <a16:colId xmlns:a16="http://schemas.microsoft.com/office/drawing/2014/main" val="3705653430"/>
                    </a:ext>
                  </a:extLst>
                </a:gridCol>
                <a:gridCol w="360819">
                  <a:extLst>
                    <a:ext uri="{9D8B030D-6E8A-4147-A177-3AD203B41FA5}">
                      <a16:colId xmlns:a16="http://schemas.microsoft.com/office/drawing/2014/main" val="2431619954"/>
                    </a:ext>
                  </a:extLst>
                </a:gridCol>
                <a:gridCol w="360819">
                  <a:extLst>
                    <a:ext uri="{9D8B030D-6E8A-4147-A177-3AD203B41FA5}">
                      <a16:colId xmlns:a16="http://schemas.microsoft.com/office/drawing/2014/main" val="1723677336"/>
                    </a:ext>
                  </a:extLst>
                </a:gridCol>
                <a:gridCol w="360819">
                  <a:extLst>
                    <a:ext uri="{9D8B030D-6E8A-4147-A177-3AD203B41FA5}">
                      <a16:colId xmlns:a16="http://schemas.microsoft.com/office/drawing/2014/main" val="3882517015"/>
                    </a:ext>
                  </a:extLst>
                </a:gridCol>
                <a:gridCol w="360819">
                  <a:extLst>
                    <a:ext uri="{9D8B030D-6E8A-4147-A177-3AD203B41FA5}">
                      <a16:colId xmlns:a16="http://schemas.microsoft.com/office/drawing/2014/main" val="2928903939"/>
                    </a:ext>
                  </a:extLst>
                </a:gridCol>
                <a:gridCol w="360819">
                  <a:extLst>
                    <a:ext uri="{9D8B030D-6E8A-4147-A177-3AD203B41FA5}">
                      <a16:colId xmlns:a16="http://schemas.microsoft.com/office/drawing/2014/main" val="3637278788"/>
                    </a:ext>
                  </a:extLst>
                </a:gridCol>
                <a:gridCol w="360819">
                  <a:extLst>
                    <a:ext uri="{9D8B030D-6E8A-4147-A177-3AD203B41FA5}">
                      <a16:colId xmlns:a16="http://schemas.microsoft.com/office/drawing/2014/main" val="15580358"/>
                    </a:ext>
                  </a:extLst>
                </a:gridCol>
                <a:gridCol w="360819">
                  <a:extLst>
                    <a:ext uri="{9D8B030D-6E8A-4147-A177-3AD203B41FA5}">
                      <a16:colId xmlns:a16="http://schemas.microsoft.com/office/drawing/2014/main" val="819262444"/>
                    </a:ext>
                  </a:extLst>
                </a:gridCol>
              </a:tblGrid>
              <a:tr h="277612">
                <a:tc>
                  <a:txBody>
                    <a:bodyPr/>
                    <a:lstStyle/>
                    <a:p>
                      <a:pPr algn="ctr"/>
                      <a:endParaRPr lang="zh-TW" altLang="en-US" sz="1200" dirty="0">
                        <a:solidFill>
                          <a:schemeClr val="bg1">
                            <a:lumMod val="75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1</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2</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3</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4</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5</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6</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7</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8</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9</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10</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3636976"/>
                  </a:ext>
                </a:extLst>
              </a:tr>
              <a:tr h="277612">
                <a:tc>
                  <a:txBody>
                    <a:bodyPr/>
                    <a:lstStyle/>
                    <a:p>
                      <a:pPr algn="r"/>
                      <a:r>
                        <a:rPr lang="en-US" altLang="zh-TW" sz="1200" dirty="0">
                          <a:solidFill>
                            <a:schemeClr val="tx1"/>
                          </a:solidFill>
                        </a:rPr>
                        <a:t>1</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1876002"/>
                  </a:ext>
                </a:extLst>
              </a:tr>
              <a:tr h="277612">
                <a:tc>
                  <a:txBody>
                    <a:bodyPr/>
                    <a:lstStyle/>
                    <a:p>
                      <a:pPr algn="r"/>
                      <a:r>
                        <a:rPr lang="en-US" altLang="zh-TW" sz="1200" dirty="0">
                          <a:solidFill>
                            <a:schemeClr val="tx1"/>
                          </a:solidFill>
                        </a:rPr>
                        <a:t>2</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6652963"/>
                  </a:ext>
                </a:extLst>
              </a:tr>
              <a:tr h="277612">
                <a:tc>
                  <a:txBody>
                    <a:bodyPr/>
                    <a:lstStyle/>
                    <a:p>
                      <a:pPr algn="r"/>
                      <a:r>
                        <a:rPr lang="en-US" altLang="zh-TW" sz="1200" dirty="0">
                          <a:solidFill>
                            <a:schemeClr val="tx1"/>
                          </a:solidFill>
                        </a:rPr>
                        <a:t>3</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-4</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902900678"/>
                  </a:ext>
                </a:extLst>
              </a:tr>
              <a:tr h="277612">
                <a:tc>
                  <a:txBody>
                    <a:bodyPr/>
                    <a:lstStyle/>
                    <a:p>
                      <a:pPr algn="r"/>
                      <a:r>
                        <a:rPr lang="en-US" altLang="zh-TW" sz="1200" dirty="0">
                          <a:solidFill>
                            <a:schemeClr val="tx1"/>
                          </a:solidFill>
                        </a:rPr>
                        <a:t>4</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4202923"/>
                  </a:ext>
                </a:extLst>
              </a:tr>
              <a:tr h="277612">
                <a:tc>
                  <a:txBody>
                    <a:bodyPr/>
                    <a:lstStyle/>
                    <a:p>
                      <a:pPr algn="r"/>
                      <a:r>
                        <a:rPr lang="en-US" altLang="zh-TW" sz="1200" dirty="0">
                          <a:solidFill>
                            <a:schemeClr val="tx1"/>
                          </a:solidFill>
                        </a:rPr>
                        <a:t>5</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551547"/>
                  </a:ext>
                </a:extLst>
              </a:tr>
              <a:tr h="277612">
                <a:tc>
                  <a:txBody>
                    <a:bodyPr/>
                    <a:lstStyle/>
                    <a:p>
                      <a:pPr algn="r"/>
                      <a:r>
                        <a:rPr lang="en-US" altLang="zh-TW" sz="1200" dirty="0">
                          <a:solidFill>
                            <a:schemeClr val="tx1"/>
                          </a:solidFill>
                        </a:rPr>
                        <a:t>6</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6500749"/>
                  </a:ext>
                </a:extLst>
              </a:tr>
              <a:tr h="277612">
                <a:tc>
                  <a:txBody>
                    <a:bodyPr/>
                    <a:lstStyle/>
                    <a:p>
                      <a:pPr algn="r"/>
                      <a:r>
                        <a:rPr lang="en-US" altLang="zh-TW" sz="1200" dirty="0">
                          <a:solidFill>
                            <a:schemeClr val="tx1"/>
                          </a:solidFill>
                        </a:rPr>
                        <a:t>7</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-3</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516437989"/>
                  </a:ext>
                </a:extLst>
              </a:tr>
              <a:tr h="277612">
                <a:tc>
                  <a:txBody>
                    <a:bodyPr/>
                    <a:lstStyle/>
                    <a:p>
                      <a:pPr algn="r"/>
                      <a:r>
                        <a:rPr lang="en-US" altLang="zh-TW" sz="1200" dirty="0">
                          <a:solidFill>
                            <a:schemeClr val="tx1"/>
                          </a:solidFill>
                        </a:rPr>
                        <a:t>8</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81405"/>
                  </a:ext>
                </a:extLst>
              </a:tr>
              <a:tr h="277612">
                <a:tc>
                  <a:txBody>
                    <a:bodyPr/>
                    <a:lstStyle/>
                    <a:p>
                      <a:pPr algn="r"/>
                      <a:r>
                        <a:rPr lang="en-US" altLang="zh-TW" sz="1200" dirty="0">
                          <a:solidFill>
                            <a:schemeClr val="tx1"/>
                          </a:solidFill>
                        </a:rPr>
                        <a:t>9</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1374388"/>
                  </a:ext>
                </a:extLst>
              </a:tr>
              <a:tr h="277612">
                <a:tc>
                  <a:txBody>
                    <a:bodyPr/>
                    <a:lstStyle/>
                    <a:p>
                      <a:pPr algn="r"/>
                      <a:r>
                        <a:rPr lang="en-US" altLang="zh-TW" sz="1200" dirty="0">
                          <a:solidFill>
                            <a:schemeClr val="tx1"/>
                          </a:solidFill>
                        </a:rPr>
                        <a:t>10</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7351516"/>
                  </a:ext>
                </a:extLst>
              </a:tr>
            </a:tbl>
          </a:graphicData>
        </a:graphic>
      </p:graphicFrame>
      <p:grpSp>
        <p:nvGrpSpPr>
          <p:cNvPr id="33" name="群組 32">
            <a:extLst>
              <a:ext uri="{FF2B5EF4-FFF2-40B4-BE49-F238E27FC236}">
                <a16:creationId xmlns:a16="http://schemas.microsoft.com/office/drawing/2014/main" id="{DD119232-6C14-044D-9099-CD2D54174E1D}"/>
              </a:ext>
            </a:extLst>
          </p:cNvPr>
          <p:cNvGrpSpPr/>
          <p:nvPr/>
        </p:nvGrpSpPr>
        <p:grpSpPr>
          <a:xfrm>
            <a:off x="3608757" y="3933245"/>
            <a:ext cx="2167575" cy="1939854"/>
            <a:chOff x="2503119" y="3828880"/>
            <a:chExt cx="2167575" cy="1939854"/>
          </a:xfrm>
        </p:grpSpPr>
        <p:sp>
          <p:nvSpPr>
            <p:cNvPr id="21" name="矩形 20">
              <a:extLst>
                <a:ext uri="{FF2B5EF4-FFF2-40B4-BE49-F238E27FC236}">
                  <a16:creationId xmlns:a16="http://schemas.microsoft.com/office/drawing/2014/main" id="{F57EC6B7-B8F3-3C4A-9114-3E860BC41616}"/>
                </a:ext>
              </a:extLst>
            </p:cNvPr>
            <p:cNvSpPr/>
            <p:nvPr/>
          </p:nvSpPr>
          <p:spPr>
            <a:xfrm>
              <a:off x="2503119" y="3838830"/>
              <a:ext cx="2167575" cy="826349"/>
            </a:xfrm>
            <a:prstGeom prst="rect">
              <a:avLst/>
            </a:prstGeom>
            <a:noFill/>
            <a:ln w="57150">
              <a:solidFill>
                <a:srgbClr val="1C7E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 name="矩形 21">
              <a:extLst>
                <a:ext uri="{FF2B5EF4-FFF2-40B4-BE49-F238E27FC236}">
                  <a16:creationId xmlns:a16="http://schemas.microsoft.com/office/drawing/2014/main" id="{7FE5AAF2-0150-FF43-96C5-2441FD5B5085}"/>
                </a:ext>
              </a:extLst>
            </p:cNvPr>
            <p:cNvSpPr/>
            <p:nvPr/>
          </p:nvSpPr>
          <p:spPr>
            <a:xfrm>
              <a:off x="3226716" y="3828880"/>
              <a:ext cx="1443978" cy="1939854"/>
            </a:xfrm>
            <a:prstGeom prst="rect">
              <a:avLst/>
            </a:prstGeom>
            <a:noFill/>
            <a:ln w="57150">
              <a:solidFill>
                <a:srgbClr val="2063F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26" name="文字方塊 25">
            <a:extLst>
              <a:ext uri="{FF2B5EF4-FFF2-40B4-BE49-F238E27FC236}">
                <a16:creationId xmlns:a16="http://schemas.microsoft.com/office/drawing/2014/main" id="{8639010B-BC09-774C-8D78-58A3F0159BD5}"/>
              </a:ext>
            </a:extLst>
          </p:cNvPr>
          <p:cNvSpPr txBox="1"/>
          <p:nvPr/>
        </p:nvSpPr>
        <p:spPr>
          <a:xfrm>
            <a:off x="3284160" y="3167723"/>
            <a:ext cx="673582" cy="276999"/>
          </a:xfrm>
          <a:prstGeom prst="rect">
            <a:avLst/>
          </a:prstGeom>
          <a:noFill/>
        </p:spPr>
        <p:txBody>
          <a:bodyPr wrap="none" rtlCol="0">
            <a:spAutoFit/>
          </a:bodyPr>
          <a:lstStyle/>
          <a:p>
            <a:r>
              <a:rPr kumimoji="1" lang="en-US" altLang="zh-TW" sz="1200" dirty="0">
                <a:solidFill>
                  <a:srgbClr val="1C7E0D"/>
                </a:solidFill>
              </a:rPr>
              <a:t>end(f</a:t>
            </a:r>
            <a:r>
              <a:rPr kumimoji="1" lang="en-US" altLang="zh-TW" sz="1200" baseline="-25000" dirty="0">
                <a:solidFill>
                  <a:srgbClr val="1C7E0D"/>
                </a:solidFill>
              </a:rPr>
              <a:t>1</a:t>
            </a:r>
            <a:r>
              <a:rPr kumimoji="1" lang="en-US" altLang="zh-TW" sz="1200" dirty="0">
                <a:solidFill>
                  <a:srgbClr val="1C7E0D"/>
                </a:solidFill>
              </a:rPr>
              <a:t>)</a:t>
            </a:r>
            <a:endParaRPr kumimoji="1" lang="zh-TW" altLang="en-US" sz="1200" dirty="0">
              <a:solidFill>
                <a:srgbClr val="1C7E0D"/>
              </a:solidFill>
            </a:endParaRPr>
          </a:p>
        </p:txBody>
      </p:sp>
      <p:sp>
        <p:nvSpPr>
          <p:cNvPr id="28" name="矩形 27">
            <a:extLst>
              <a:ext uri="{FF2B5EF4-FFF2-40B4-BE49-F238E27FC236}">
                <a16:creationId xmlns:a16="http://schemas.microsoft.com/office/drawing/2014/main" id="{9C90C114-6998-9B44-896E-5A2BE83994B6}"/>
              </a:ext>
            </a:extLst>
          </p:cNvPr>
          <p:cNvSpPr/>
          <p:nvPr/>
        </p:nvSpPr>
        <p:spPr>
          <a:xfrm>
            <a:off x="169476" y="407710"/>
            <a:ext cx="1810794" cy="1200329"/>
          </a:xfrm>
          <a:prstGeom prst="rect">
            <a:avLst/>
          </a:prstGeom>
        </p:spPr>
        <p:txBody>
          <a:bodyPr wrap="square">
            <a:spAutoFit/>
          </a:bodyPr>
          <a:lstStyle/>
          <a:p>
            <a:r>
              <a:rPr lang="en-US" altLang="zh-TW" dirty="0">
                <a:solidFill>
                  <a:srgbClr val="101010"/>
                </a:solidFill>
                <a:latin typeface="Times" pitchFamily="2" charset="0"/>
              </a:rPr>
              <a:t>(a) A grid graph with two bridges.</a:t>
            </a:r>
          </a:p>
          <a:p>
            <a:r>
              <a:rPr lang="en-US" altLang="zh-TW" dirty="0">
                <a:solidFill>
                  <a:srgbClr val="1C7E0D"/>
                </a:solidFill>
                <a:latin typeface="Times" pitchFamily="2" charset="0"/>
              </a:rPr>
              <a:t>f</a:t>
            </a:r>
            <a:r>
              <a:rPr lang="en-US" altLang="zh-TW" baseline="-25000" dirty="0">
                <a:solidFill>
                  <a:srgbClr val="1C7E0D"/>
                </a:solidFill>
                <a:latin typeface="Times" pitchFamily="2" charset="0"/>
              </a:rPr>
              <a:t>1</a:t>
            </a:r>
            <a:r>
              <a:rPr lang="en-US" altLang="zh-TW" dirty="0">
                <a:solidFill>
                  <a:srgbClr val="1C7E0D"/>
                </a:solidFill>
                <a:latin typeface="Times" pitchFamily="2" charset="0"/>
              </a:rPr>
              <a:t> = 7</a:t>
            </a:r>
          </a:p>
          <a:p>
            <a:r>
              <a:rPr lang="en-US" altLang="zh-TW" dirty="0">
                <a:solidFill>
                  <a:srgbClr val="2063FB"/>
                </a:solidFill>
                <a:latin typeface="Times" pitchFamily="2" charset="0"/>
              </a:rPr>
              <a:t>f</a:t>
            </a:r>
            <a:r>
              <a:rPr lang="en-US" altLang="zh-TW" baseline="-25000" dirty="0">
                <a:solidFill>
                  <a:srgbClr val="2063FB"/>
                </a:solidFill>
                <a:latin typeface="Times" pitchFamily="2" charset="0"/>
              </a:rPr>
              <a:t>2</a:t>
            </a:r>
            <a:r>
              <a:rPr lang="en-US" altLang="zh-TW" dirty="0">
                <a:solidFill>
                  <a:srgbClr val="2063FB"/>
                </a:solidFill>
                <a:latin typeface="Times" pitchFamily="2" charset="0"/>
              </a:rPr>
              <a:t> = 4</a:t>
            </a:r>
            <a:endParaRPr lang="en-US" altLang="zh-TW" dirty="0">
              <a:solidFill>
                <a:srgbClr val="2063FB"/>
              </a:solidFill>
              <a:effectLst/>
              <a:latin typeface="Times" pitchFamily="2" charset="0"/>
            </a:endParaRPr>
          </a:p>
        </p:txBody>
      </p:sp>
      <p:sp>
        <p:nvSpPr>
          <p:cNvPr id="30" name="矩形 29">
            <a:extLst>
              <a:ext uri="{FF2B5EF4-FFF2-40B4-BE49-F238E27FC236}">
                <a16:creationId xmlns:a16="http://schemas.microsoft.com/office/drawing/2014/main" id="{242137A6-09DA-3A43-A4D8-96764F7AA149}"/>
              </a:ext>
            </a:extLst>
          </p:cNvPr>
          <p:cNvSpPr/>
          <p:nvPr/>
        </p:nvSpPr>
        <p:spPr>
          <a:xfrm>
            <a:off x="10427429" y="407710"/>
            <a:ext cx="928141" cy="369332"/>
          </a:xfrm>
          <a:prstGeom prst="rect">
            <a:avLst/>
          </a:prstGeom>
        </p:spPr>
        <p:txBody>
          <a:bodyPr wrap="square">
            <a:spAutoFit/>
          </a:bodyPr>
          <a:lstStyle/>
          <a:p>
            <a:r>
              <a:rPr lang="en-US" altLang="zh-TW" dirty="0">
                <a:solidFill>
                  <a:srgbClr val="101010"/>
                </a:solidFill>
                <a:latin typeface="Times" pitchFamily="2" charset="0"/>
              </a:rPr>
              <a:t>(b) D</a:t>
            </a:r>
            <a:endParaRPr lang="en-US" altLang="zh-TW" dirty="0">
              <a:solidFill>
                <a:srgbClr val="2063FB"/>
              </a:solidFill>
              <a:effectLst/>
              <a:latin typeface="Times" pitchFamily="2" charset="0"/>
            </a:endParaRPr>
          </a:p>
        </p:txBody>
      </p:sp>
      <p:sp>
        <p:nvSpPr>
          <p:cNvPr id="31" name="矩形 30">
            <a:extLst>
              <a:ext uri="{FF2B5EF4-FFF2-40B4-BE49-F238E27FC236}">
                <a16:creationId xmlns:a16="http://schemas.microsoft.com/office/drawing/2014/main" id="{F9AE980E-6C38-4645-B20A-41159AE4FDB0}"/>
              </a:ext>
            </a:extLst>
          </p:cNvPr>
          <p:cNvSpPr/>
          <p:nvPr/>
        </p:nvSpPr>
        <p:spPr>
          <a:xfrm>
            <a:off x="169476" y="3731739"/>
            <a:ext cx="1788699" cy="646331"/>
          </a:xfrm>
          <a:prstGeom prst="rect">
            <a:avLst/>
          </a:prstGeom>
        </p:spPr>
        <p:txBody>
          <a:bodyPr wrap="square">
            <a:spAutoFit/>
          </a:bodyPr>
          <a:lstStyle/>
          <a:p>
            <a:r>
              <a:rPr lang="en-US" altLang="zh-TW" dirty="0">
                <a:solidFill>
                  <a:srgbClr val="101010"/>
                </a:solidFill>
                <a:latin typeface="Times" pitchFamily="2" charset="0"/>
              </a:rPr>
              <a:t>(c) D</a:t>
            </a:r>
            <a:r>
              <a:rPr lang="en-US" altLang="zh-TW" baseline="30000" dirty="0">
                <a:solidFill>
                  <a:srgbClr val="101010"/>
                </a:solidFill>
                <a:latin typeface="Times" pitchFamily="2" charset="0"/>
              </a:rPr>
              <a:t>􏰂</a:t>
            </a:r>
            <a:r>
              <a:rPr lang="en-US" altLang="zh-TW" dirty="0">
                <a:solidFill>
                  <a:srgbClr val="101010"/>
                </a:solidFill>
                <a:latin typeface="Times" pitchFamily="2" charset="0"/>
              </a:rPr>
              <a:t> : Only the non-zero values</a:t>
            </a:r>
            <a:endParaRPr lang="en-US" altLang="zh-TW" dirty="0">
              <a:solidFill>
                <a:srgbClr val="2063FB"/>
              </a:solidFill>
              <a:effectLst/>
              <a:latin typeface="Times" pitchFamily="2" charset="0"/>
            </a:endParaRPr>
          </a:p>
        </p:txBody>
      </p:sp>
      <p:sp>
        <p:nvSpPr>
          <p:cNvPr id="32" name="矩形 31">
            <a:extLst>
              <a:ext uri="{FF2B5EF4-FFF2-40B4-BE49-F238E27FC236}">
                <a16:creationId xmlns:a16="http://schemas.microsoft.com/office/drawing/2014/main" id="{D305D919-266D-DF42-B37C-8FF44E9DD4A8}"/>
              </a:ext>
            </a:extLst>
          </p:cNvPr>
          <p:cNvSpPr/>
          <p:nvPr/>
        </p:nvSpPr>
        <p:spPr>
          <a:xfrm>
            <a:off x="10427429" y="3731739"/>
            <a:ext cx="1078986" cy="369332"/>
          </a:xfrm>
          <a:prstGeom prst="rect">
            <a:avLst/>
          </a:prstGeom>
        </p:spPr>
        <p:txBody>
          <a:bodyPr wrap="square">
            <a:spAutoFit/>
          </a:bodyPr>
          <a:lstStyle/>
          <a:p>
            <a:r>
              <a:rPr lang="en-US" altLang="zh-TW" dirty="0">
                <a:solidFill>
                  <a:srgbClr val="101010"/>
                </a:solidFill>
                <a:latin typeface="Times" pitchFamily="2" charset="0"/>
              </a:rPr>
              <a:t>(d) </a:t>
            </a:r>
            <a:r>
              <a:rPr lang="en-US" altLang="zh-TW" dirty="0" err="1">
                <a:solidFill>
                  <a:srgbClr val="101010"/>
                </a:solidFill>
                <a:latin typeface="Times" pitchFamily="2" charset="0"/>
              </a:rPr>
              <a:t>D</a:t>
            </a:r>
            <a:r>
              <a:rPr lang="en-US" altLang="zh-TW" baseline="-25000" dirty="0" err="1">
                <a:solidFill>
                  <a:srgbClr val="101010"/>
                </a:solidFill>
                <a:latin typeface="Times" pitchFamily="2" charset="0"/>
              </a:rPr>
              <a:t>first</a:t>
            </a:r>
            <a:endParaRPr lang="en-US" altLang="zh-TW" baseline="-25000" dirty="0">
              <a:solidFill>
                <a:srgbClr val="2063FB"/>
              </a:solidFill>
              <a:effectLst/>
              <a:latin typeface="Times" pitchFamily="2" charset="0"/>
            </a:endParaRPr>
          </a:p>
        </p:txBody>
      </p:sp>
      <p:sp>
        <p:nvSpPr>
          <p:cNvPr id="36" name="文字方塊 35">
            <a:extLst>
              <a:ext uri="{FF2B5EF4-FFF2-40B4-BE49-F238E27FC236}">
                <a16:creationId xmlns:a16="http://schemas.microsoft.com/office/drawing/2014/main" id="{506E848E-D32B-A64B-AECC-0FD45DDFC984}"/>
              </a:ext>
            </a:extLst>
          </p:cNvPr>
          <p:cNvSpPr txBox="1"/>
          <p:nvPr/>
        </p:nvSpPr>
        <p:spPr>
          <a:xfrm>
            <a:off x="2041031" y="129150"/>
            <a:ext cx="3159839" cy="276999"/>
          </a:xfrm>
          <a:prstGeom prst="rect">
            <a:avLst/>
          </a:prstGeom>
          <a:noFill/>
        </p:spPr>
        <p:txBody>
          <a:bodyPr wrap="none" rtlCol="0">
            <a:spAutoFit/>
          </a:bodyPr>
          <a:lstStyle/>
          <a:p>
            <a:r>
              <a:rPr kumimoji="1" lang="en-US" altLang="zh-TW" sz="1200" dirty="0">
                <a:latin typeface="Menlo" panose="020B0609030804020204" pitchFamily="49" charset="0"/>
                <a:ea typeface="Menlo" panose="020B0609030804020204" pitchFamily="49" charset="0"/>
                <a:cs typeface="Menlo" panose="020B0609030804020204" pitchFamily="49" charset="0"/>
              </a:rPr>
              <a:t>0  1  2  3  4  5  6  7  8  9  10</a:t>
            </a:r>
            <a:endParaRPr kumimoji="1" lang="zh-TW" altLang="en-US" sz="1200" dirty="0">
              <a:latin typeface="Menlo" panose="020B0609030804020204" pitchFamily="49" charset="0"/>
              <a:cs typeface="Menlo" panose="020B0609030804020204" pitchFamily="49" charset="0"/>
            </a:endParaRPr>
          </a:p>
        </p:txBody>
      </p:sp>
      <p:sp>
        <p:nvSpPr>
          <p:cNvPr id="25" name="文字方塊 24">
            <a:extLst>
              <a:ext uri="{FF2B5EF4-FFF2-40B4-BE49-F238E27FC236}">
                <a16:creationId xmlns:a16="http://schemas.microsoft.com/office/drawing/2014/main" id="{C1C513B8-2849-A944-A01D-D647A6D568BA}"/>
              </a:ext>
            </a:extLst>
          </p:cNvPr>
          <p:cNvSpPr txBox="1"/>
          <p:nvPr/>
        </p:nvSpPr>
        <p:spPr>
          <a:xfrm>
            <a:off x="2411798" y="-82350"/>
            <a:ext cx="740011" cy="276999"/>
          </a:xfrm>
          <a:prstGeom prst="rect">
            <a:avLst/>
          </a:prstGeom>
          <a:noFill/>
        </p:spPr>
        <p:txBody>
          <a:bodyPr wrap="none" rtlCol="0">
            <a:spAutoFit/>
          </a:bodyPr>
          <a:lstStyle/>
          <a:p>
            <a:r>
              <a:rPr kumimoji="1" lang="en-US" altLang="zh-TW" sz="1200" dirty="0">
                <a:solidFill>
                  <a:srgbClr val="1C7E0D"/>
                </a:solidFill>
              </a:rPr>
              <a:t>start(f</a:t>
            </a:r>
            <a:r>
              <a:rPr kumimoji="1" lang="en-US" altLang="zh-TW" sz="1200" baseline="-25000" dirty="0">
                <a:solidFill>
                  <a:srgbClr val="1C7E0D"/>
                </a:solidFill>
              </a:rPr>
              <a:t>1</a:t>
            </a:r>
            <a:r>
              <a:rPr kumimoji="1" lang="en-US" altLang="zh-TW" sz="1200" dirty="0">
                <a:solidFill>
                  <a:srgbClr val="1C7E0D"/>
                </a:solidFill>
              </a:rPr>
              <a:t>)</a:t>
            </a:r>
            <a:endParaRPr kumimoji="1" lang="zh-TW" altLang="en-US" sz="1200" dirty="0">
              <a:solidFill>
                <a:srgbClr val="1C7E0D"/>
              </a:solidFill>
            </a:endParaRPr>
          </a:p>
        </p:txBody>
      </p:sp>
      <p:graphicFrame>
        <p:nvGraphicFramePr>
          <p:cNvPr id="38" name="表格 37">
            <a:extLst>
              <a:ext uri="{FF2B5EF4-FFF2-40B4-BE49-F238E27FC236}">
                <a16:creationId xmlns:a16="http://schemas.microsoft.com/office/drawing/2014/main" id="{EAD850EC-8531-2948-B284-06A488844522}"/>
              </a:ext>
            </a:extLst>
          </p:cNvPr>
          <p:cNvGraphicFramePr>
            <a:graphicFrameLocks noGrp="1"/>
          </p:cNvGraphicFramePr>
          <p:nvPr>
            <p:extLst>
              <p:ext uri="{D42A27DB-BD31-4B8C-83A1-F6EECF244321}">
                <p14:modId xmlns:p14="http://schemas.microsoft.com/office/powerpoint/2010/main" val="2463746853"/>
              </p:ext>
            </p:extLst>
          </p:nvPr>
        </p:nvGraphicFramePr>
        <p:xfrm>
          <a:off x="1746959" y="307124"/>
          <a:ext cx="360819" cy="2914164"/>
        </p:xfrm>
        <a:graphic>
          <a:graphicData uri="http://schemas.openxmlformats.org/drawingml/2006/table">
            <a:tbl>
              <a:tblPr firstRow="1" bandRow="1">
                <a:tableStyleId>{5940675A-B579-460E-94D1-54222C63F5DA}</a:tableStyleId>
              </a:tblPr>
              <a:tblGrid>
                <a:gridCol w="360819">
                  <a:extLst>
                    <a:ext uri="{9D8B030D-6E8A-4147-A177-3AD203B41FA5}">
                      <a16:colId xmlns:a16="http://schemas.microsoft.com/office/drawing/2014/main" val="3265841366"/>
                    </a:ext>
                  </a:extLst>
                </a:gridCol>
              </a:tblGrid>
              <a:tr h="264924">
                <a:tc>
                  <a:txBody>
                    <a:bodyPr/>
                    <a:lstStyle/>
                    <a:p>
                      <a:pPr algn="r"/>
                      <a:r>
                        <a:rPr lang="en-US" altLang="zh-TW" sz="1000" dirty="0">
                          <a:solidFill>
                            <a:schemeClr val="tx1"/>
                          </a:solidFill>
                        </a:rPr>
                        <a:t>0</a:t>
                      </a:r>
                      <a:endParaRPr lang="zh-TW" altLang="en-US" sz="1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00808409"/>
                  </a:ext>
                </a:extLst>
              </a:tr>
              <a:tr h="264924">
                <a:tc>
                  <a:txBody>
                    <a:bodyPr/>
                    <a:lstStyle/>
                    <a:p>
                      <a:pPr algn="r"/>
                      <a:r>
                        <a:rPr lang="en-US" altLang="zh-TW" sz="1000" dirty="0">
                          <a:solidFill>
                            <a:schemeClr val="tx1"/>
                          </a:solidFill>
                        </a:rPr>
                        <a:t>1</a:t>
                      </a:r>
                      <a:endParaRPr lang="zh-TW" altLang="en-US" sz="1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84965016"/>
                  </a:ext>
                </a:extLst>
              </a:tr>
              <a:tr h="264924">
                <a:tc>
                  <a:txBody>
                    <a:bodyPr/>
                    <a:lstStyle/>
                    <a:p>
                      <a:pPr algn="r"/>
                      <a:r>
                        <a:rPr lang="en-US" altLang="zh-TW" sz="1000" dirty="0">
                          <a:solidFill>
                            <a:schemeClr val="tx1"/>
                          </a:solidFill>
                        </a:rPr>
                        <a:t>2</a:t>
                      </a:r>
                      <a:endParaRPr lang="zh-TW" altLang="en-US" sz="1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4380966"/>
                  </a:ext>
                </a:extLst>
              </a:tr>
              <a:tr h="264924">
                <a:tc>
                  <a:txBody>
                    <a:bodyPr/>
                    <a:lstStyle/>
                    <a:p>
                      <a:pPr algn="r"/>
                      <a:r>
                        <a:rPr lang="en-US" altLang="zh-TW" sz="1000" dirty="0">
                          <a:solidFill>
                            <a:schemeClr val="tx1"/>
                          </a:solidFill>
                        </a:rPr>
                        <a:t>3</a:t>
                      </a:r>
                      <a:endParaRPr lang="zh-TW" altLang="en-US" sz="1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75252542"/>
                  </a:ext>
                </a:extLst>
              </a:tr>
              <a:tr h="264924">
                <a:tc>
                  <a:txBody>
                    <a:bodyPr/>
                    <a:lstStyle/>
                    <a:p>
                      <a:pPr algn="r"/>
                      <a:r>
                        <a:rPr lang="en-US" altLang="zh-TW" sz="1000" dirty="0">
                          <a:solidFill>
                            <a:schemeClr val="tx1"/>
                          </a:solidFill>
                        </a:rPr>
                        <a:t>4</a:t>
                      </a:r>
                      <a:endParaRPr lang="zh-TW" altLang="en-US" sz="1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4362006"/>
                  </a:ext>
                </a:extLst>
              </a:tr>
              <a:tr h="264924">
                <a:tc>
                  <a:txBody>
                    <a:bodyPr/>
                    <a:lstStyle/>
                    <a:p>
                      <a:pPr algn="r"/>
                      <a:r>
                        <a:rPr lang="en-US" altLang="zh-TW" sz="1000" dirty="0">
                          <a:solidFill>
                            <a:schemeClr val="tx1"/>
                          </a:solidFill>
                        </a:rPr>
                        <a:t>5</a:t>
                      </a:r>
                      <a:endParaRPr lang="zh-TW" altLang="en-US" sz="1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5240239"/>
                  </a:ext>
                </a:extLst>
              </a:tr>
              <a:tr h="264924">
                <a:tc>
                  <a:txBody>
                    <a:bodyPr/>
                    <a:lstStyle/>
                    <a:p>
                      <a:pPr algn="r"/>
                      <a:r>
                        <a:rPr lang="en-US" altLang="zh-TW" sz="1000" dirty="0">
                          <a:solidFill>
                            <a:schemeClr val="tx1"/>
                          </a:solidFill>
                        </a:rPr>
                        <a:t>6</a:t>
                      </a:r>
                      <a:endParaRPr lang="zh-TW" altLang="en-US" sz="1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991786"/>
                  </a:ext>
                </a:extLst>
              </a:tr>
              <a:tr h="264924">
                <a:tc>
                  <a:txBody>
                    <a:bodyPr/>
                    <a:lstStyle/>
                    <a:p>
                      <a:pPr algn="r"/>
                      <a:r>
                        <a:rPr lang="en-US" altLang="zh-TW" sz="1000" dirty="0">
                          <a:solidFill>
                            <a:schemeClr val="tx1"/>
                          </a:solidFill>
                        </a:rPr>
                        <a:t>7</a:t>
                      </a:r>
                      <a:endParaRPr lang="zh-TW" altLang="en-US" sz="1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34800436"/>
                  </a:ext>
                </a:extLst>
              </a:tr>
              <a:tr h="264924">
                <a:tc>
                  <a:txBody>
                    <a:bodyPr/>
                    <a:lstStyle/>
                    <a:p>
                      <a:pPr algn="r"/>
                      <a:r>
                        <a:rPr lang="en-US" altLang="zh-TW" sz="1000" dirty="0">
                          <a:solidFill>
                            <a:schemeClr val="tx1"/>
                          </a:solidFill>
                        </a:rPr>
                        <a:t>8</a:t>
                      </a:r>
                      <a:endParaRPr lang="zh-TW" altLang="en-US" sz="1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51879"/>
                  </a:ext>
                </a:extLst>
              </a:tr>
              <a:tr h="264924">
                <a:tc>
                  <a:txBody>
                    <a:bodyPr/>
                    <a:lstStyle/>
                    <a:p>
                      <a:pPr algn="r"/>
                      <a:r>
                        <a:rPr lang="en-US" altLang="zh-TW" sz="1000" dirty="0">
                          <a:solidFill>
                            <a:schemeClr val="tx1"/>
                          </a:solidFill>
                        </a:rPr>
                        <a:t>9</a:t>
                      </a:r>
                      <a:endParaRPr lang="zh-TW" altLang="en-US" sz="1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3204186"/>
                  </a:ext>
                </a:extLst>
              </a:tr>
              <a:tr h="264924">
                <a:tc>
                  <a:txBody>
                    <a:bodyPr/>
                    <a:lstStyle/>
                    <a:p>
                      <a:pPr algn="r"/>
                      <a:r>
                        <a:rPr lang="en-US" altLang="zh-TW" sz="1000" dirty="0">
                          <a:solidFill>
                            <a:schemeClr val="tx1"/>
                          </a:solidFill>
                        </a:rPr>
                        <a:t>10</a:t>
                      </a:r>
                      <a:endParaRPr lang="zh-TW" altLang="en-US" sz="1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08900952"/>
                  </a:ext>
                </a:extLst>
              </a:tr>
            </a:tbl>
          </a:graphicData>
        </a:graphic>
      </p:graphicFrame>
    </p:spTree>
    <p:extLst>
      <p:ext uri="{BB962C8B-B14F-4D97-AF65-F5344CB8AC3E}">
        <p14:creationId xmlns:p14="http://schemas.microsoft.com/office/powerpoint/2010/main" val="2151715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6</a:t>
            </a:fld>
            <a:endParaRPr kumimoji="1" lang="zh-TW" altLang="en-US"/>
          </a:p>
        </p:txBody>
      </p:sp>
      <p:pic>
        <p:nvPicPr>
          <p:cNvPr id="5" name="圖片 4">
            <a:extLst>
              <a:ext uri="{FF2B5EF4-FFF2-40B4-BE49-F238E27FC236}">
                <a16:creationId xmlns:a16="http://schemas.microsoft.com/office/drawing/2014/main" id="{024D49E1-F271-144B-B5E5-0AC3DF51B116}"/>
              </a:ext>
            </a:extLst>
          </p:cNvPr>
          <p:cNvPicPr>
            <a:picLocks noChangeAspect="1"/>
          </p:cNvPicPr>
          <p:nvPr/>
        </p:nvPicPr>
        <p:blipFill>
          <a:blip r:embed="rId2"/>
          <a:stretch>
            <a:fillRect/>
          </a:stretch>
        </p:blipFill>
        <p:spPr>
          <a:xfrm>
            <a:off x="316284" y="3696469"/>
            <a:ext cx="2914169" cy="2914169"/>
          </a:xfrm>
          <a:prstGeom prst="rect">
            <a:avLst/>
          </a:prstGeom>
        </p:spPr>
      </p:pic>
      <p:graphicFrame>
        <p:nvGraphicFramePr>
          <p:cNvPr id="9" name="表格 9">
            <a:extLst>
              <a:ext uri="{FF2B5EF4-FFF2-40B4-BE49-F238E27FC236}">
                <a16:creationId xmlns:a16="http://schemas.microsoft.com/office/drawing/2014/main" id="{8B036694-091A-B84B-BE19-FB39D70E7128}"/>
              </a:ext>
            </a:extLst>
          </p:cNvPr>
          <p:cNvGraphicFramePr>
            <a:graphicFrameLocks noGrp="1"/>
          </p:cNvGraphicFramePr>
          <p:nvPr>
            <p:extLst>
              <p:ext uri="{D42A27DB-BD31-4B8C-83A1-F6EECF244321}">
                <p14:modId xmlns:p14="http://schemas.microsoft.com/office/powerpoint/2010/main" val="2479834595"/>
              </p:ext>
            </p:extLst>
          </p:nvPr>
        </p:nvGraphicFramePr>
        <p:xfrm>
          <a:off x="3322480" y="3279294"/>
          <a:ext cx="4403654" cy="3331344"/>
        </p:xfrm>
        <a:graphic>
          <a:graphicData uri="http://schemas.openxmlformats.org/drawingml/2006/table">
            <a:tbl>
              <a:tblPr firstRow="1" bandRow="1">
                <a:tableStyleId>{5940675A-B579-460E-94D1-54222C63F5DA}</a:tableStyleId>
              </a:tblPr>
              <a:tblGrid>
                <a:gridCol w="434645">
                  <a:extLst>
                    <a:ext uri="{9D8B030D-6E8A-4147-A177-3AD203B41FA5}">
                      <a16:colId xmlns:a16="http://schemas.microsoft.com/office/drawing/2014/main" val="1335027112"/>
                    </a:ext>
                  </a:extLst>
                </a:gridCol>
                <a:gridCol w="360819">
                  <a:extLst>
                    <a:ext uri="{9D8B030D-6E8A-4147-A177-3AD203B41FA5}">
                      <a16:colId xmlns:a16="http://schemas.microsoft.com/office/drawing/2014/main" val="4155089078"/>
                    </a:ext>
                  </a:extLst>
                </a:gridCol>
                <a:gridCol w="360819">
                  <a:extLst>
                    <a:ext uri="{9D8B030D-6E8A-4147-A177-3AD203B41FA5}">
                      <a16:colId xmlns:a16="http://schemas.microsoft.com/office/drawing/2014/main" val="2645048371"/>
                    </a:ext>
                  </a:extLst>
                </a:gridCol>
                <a:gridCol w="360819">
                  <a:extLst>
                    <a:ext uri="{9D8B030D-6E8A-4147-A177-3AD203B41FA5}">
                      <a16:colId xmlns:a16="http://schemas.microsoft.com/office/drawing/2014/main" val="4032559764"/>
                    </a:ext>
                  </a:extLst>
                </a:gridCol>
                <a:gridCol w="360819">
                  <a:extLst>
                    <a:ext uri="{9D8B030D-6E8A-4147-A177-3AD203B41FA5}">
                      <a16:colId xmlns:a16="http://schemas.microsoft.com/office/drawing/2014/main" val="3705653430"/>
                    </a:ext>
                  </a:extLst>
                </a:gridCol>
                <a:gridCol w="360819">
                  <a:extLst>
                    <a:ext uri="{9D8B030D-6E8A-4147-A177-3AD203B41FA5}">
                      <a16:colId xmlns:a16="http://schemas.microsoft.com/office/drawing/2014/main" val="2431619954"/>
                    </a:ext>
                  </a:extLst>
                </a:gridCol>
                <a:gridCol w="360819">
                  <a:extLst>
                    <a:ext uri="{9D8B030D-6E8A-4147-A177-3AD203B41FA5}">
                      <a16:colId xmlns:a16="http://schemas.microsoft.com/office/drawing/2014/main" val="1723677336"/>
                    </a:ext>
                  </a:extLst>
                </a:gridCol>
                <a:gridCol w="360819">
                  <a:extLst>
                    <a:ext uri="{9D8B030D-6E8A-4147-A177-3AD203B41FA5}">
                      <a16:colId xmlns:a16="http://schemas.microsoft.com/office/drawing/2014/main" val="3882517015"/>
                    </a:ext>
                  </a:extLst>
                </a:gridCol>
                <a:gridCol w="360819">
                  <a:extLst>
                    <a:ext uri="{9D8B030D-6E8A-4147-A177-3AD203B41FA5}">
                      <a16:colId xmlns:a16="http://schemas.microsoft.com/office/drawing/2014/main" val="2928903939"/>
                    </a:ext>
                  </a:extLst>
                </a:gridCol>
                <a:gridCol w="360819">
                  <a:extLst>
                    <a:ext uri="{9D8B030D-6E8A-4147-A177-3AD203B41FA5}">
                      <a16:colId xmlns:a16="http://schemas.microsoft.com/office/drawing/2014/main" val="3637278788"/>
                    </a:ext>
                  </a:extLst>
                </a:gridCol>
                <a:gridCol w="360819">
                  <a:extLst>
                    <a:ext uri="{9D8B030D-6E8A-4147-A177-3AD203B41FA5}">
                      <a16:colId xmlns:a16="http://schemas.microsoft.com/office/drawing/2014/main" val="15580358"/>
                    </a:ext>
                  </a:extLst>
                </a:gridCol>
                <a:gridCol w="360819">
                  <a:extLst>
                    <a:ext uri="{9D8B030D-6E8A-4147-A177-3AD203B41FA5}">
                      <a16:colId xmlns:a16="http://schemas.microsoft.com/office/drawing/2014/main" val="819262444"/>
                    </a:ext>
                  </a:extLst>
                </a:gridCol>
              </a:tblGrid>
              <a:tr h="277612">
                <a:tc>
                  <a:txBody>
                    <a:bodyPr/>
                    <a:lstStyle/>
                    <a:p>
                      <a:pPr algn="ctr"/>
                      <a:endParaRPr lang="zh-TW" altLang="en-US" sz="12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t>0</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1</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2</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3</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4</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5</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6</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7</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8</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9</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000" dirty="0"/>
                        <a:t>10</a:t>
                      </a:r>
                      <a:endParaRPr lang="zh-TW" altLang="en-US" sz="10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56909903"/>
                  </a:ext>
                </a:extLst>
              </a:tr>
              <a:tr h="277612">
                <a:tc>
                  <a:txBody>
                    <a:bodyPr/>
                    <a:lstStyle/>
                    <a:p>
                      <a:pPr algn="r"/>
                      <a:r>
                        <a:rPr lang="en-US" altLang="zh-TW" sz="1200" dirty="0"/>
                        <a:t>0</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3</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8</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3636976"/>
                  </a:ext>
                </a:extLst>
              </a:tr>
              <a:tr h="277612">
                <a:tc>
                  <a:txBody>
                    <a:bodyPr/>
                    <a:lstStyle/>
                    <a:p>
                      <a:pPr algn="r"/>
                      <a:r>
                        <a:rPr lang="en-US" altLang="zh-TW" sz="1200" dirty="0"/>
                        <a:t>1</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3</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1876002"/>
                  </a:ext>
                </a:extLst>
              </a:tr>
              <a:tr h="277612">
                <a:tc>
                  <a:txBody>
                    <a:bodyPr/>
                    <a:lstStyle/>
                    <a:p>
                      <a:pPr algn="r"/>
                      <a:r>
                        <a:rPr lang="en-US" altLang="zh-TW" sz="1200" dirty="0"/>
                        <a:t>2</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6652963"/>
                  </a:ext>
                </a:extLst>
              </a:tr>
              <a:tr h="277612">
                <a:tc>
                  <a:txBody>
                    <a:bodyPr/>
                    <a:lstStyle/>
                    <a:p>
                      <a:pPr algn="r"/>
                      <a:r>
                        <a:rPr lang="en-US" altLang="zh-TW" sz="1200" dirty="0"/>
                        <a:t>3</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-3</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3</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5</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6</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2900678"/>
                  </a:ext>
                </a:extLst>
              </a:tr>
              <a:tr h="277612">
                <a:tc>
                  <a:txBody>
                    <a:bodyPr/>
                    <a:lstStyle/>
                    <a:p>
                      <a:pPr algn="r"/>
                      <a:r>
                        <a:rPr lang="en-US" altLang="zh-TW" sz="1200" dirty="0"/>
                        <a:t>4</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-4</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-3</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5</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6</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4202923"/>
                  </a:ext>
                </a:extLst>
              </a:tr>
              <a:tr h="277612">
                <a:tc>
                  <a:txBody>
                    <a:bodyPr/>
                    <a:lstStyle/>
                    <a:p>
                      <a:pPr algn="r"/>
                      <a:r>
                        <a:rPr lang="en-US" altLang="zh-TW" sz="1200" dirty="0"/>
                        <a:t>5</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-5</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-4</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-3</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5</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551547"/>
                  </a:ext>
                </a:extLst>
              </a:tr>
              <a:tr h="277612">
                <a:tc>
                  <a:txBody>
                    <a:bodyPr/>
                    <a:lstStyle/>
                    <a:p>
                      <a:pPr algn="r"/>
                      <a:r>
                        <a:rPr lang="en-US" altLang="zh-TW" sz="1200" dirty="0"/>
                        <a:t>6</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-6</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-5</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-4</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-3</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6500749"/>
                  </a:ext>
                </a:extLst>
              </a:tr>
              <a:tr h="277612">
                <a:tc>
                  <a:txBody>
                    <a:bodyPr/>
                    <a:lstStyle/>
                    <a:p>
                      <a:pPr algn="r"/>
                      <a:r>
                        <a:rPr lang="en-US" altLang="zh-TW" sz="1200" dirty="0"/>
                        <a:t>7</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-7</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-6</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-5</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-4</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-3</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3</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6437989"/>
                  </a:ext>
                </a:extLst>
              </a:tr>
              <a:tr h="277612">
                <a:tc>
                  <a:txBody>
                    <a:bodyPr/>
                    <a:lstStyle/>
                    <a:p>
                      <a:pPr algn="r"/>
                      <a:r>
                        <a:rPr lang="en-US" altLang="zh-TW" sz="1200" dirty="0"/>
                        <a:t>8</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-8</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-7</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-6</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-5</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-4</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-3</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81405"/>
                  </a:ext>
                </a:extLst>
              </a:tr>
              <a:tr h="277612">
                <a:tc>
                  <a:txBody>
                    <a:bodyPr/>
                    <a:lstStyle/>
                    <a:p>
                      <a:pPr algn="r"/>
                      <a:r>
                        <a:rPr lang="en-US" altLang="zh-TW" sz="1200" dirty="0"/>
                        <a:t>9</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-9</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-8</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-7</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-6</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-5</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-4</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-3</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1374388"/>
                  </a:ext>
                </a:extLst>
              </a:tr>
              <a:tr h="277612">
                <a:tc>
                  <a:txBody>
                    <a:bodyPr/>
                    <a:lstStyle/>
                    <a:p>
                      <a:pPr algn="r"/>
                      <a:r>
                        <a:rPr lang="en-US" altLang="zh-TW" sz="1200" dirty="0"/>
                        <a:t>10</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600" dirty="0">
                          <a:solidFill>
                            <a:schemeClr val="bg1">
                              <a:lumMod val="75000"/>
                            </a:schemeClr>
                          </a:solidFill>
                        </a:rPr>
                        <a:t>-10</a:t>
                      </a:r>
                      <a:endParaRPr lang="zh-TW" altLang="en-US" sz="6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-9</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-8</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-7</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-6</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-5</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-4</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-3</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7351516"/>
                  </a:ext>
                </a:extLst>
              </a:tr>
            </a:tbl>
          </a:graphicData>
        </a:graphic>
      </p:graphicFrame>
      <p:grpSp>
        <p:nvGrpSpPr>
          <p:cNvPr id="34" name="群組 33">
            <a:extLst>
              <a:ext uri="{FF2B5EF4-FFF2-40B4-BE49-F238E27FC236}">
                <a16:creationId xmlns:a16="http://schemas.microsoft.com/office/drawing/2014/main" id="{8FD7604F-56C9-C041-B6CC-4B1F8ABE99BE}"/>
              </a:ext>
            </a:extLst>
          </p:cNvPr>
          <p:cNvGrpSpPr/>
          <p:nvPr/>
        </p:nvGrpSpPr>
        <p:grpSpPr>
          <a:xfrm>
            <a:off x="5540950" y="3550479"/>
            <a:ext cx="2167575" cy="1939854"/>
            <a:chOff x="8240231" y="407710"/>
            <a:chExt cx="2167575" cy="1939854"/>
          </a:xfrm>
        </p:grpSpPr>
        <p:sp>
          <p:nvSpPr>
            <p:cNvPr id="14" name="矩形 13">
              <a:extLst>
                <a:ext uri="{FF2B5EF4-FFF2-40B4-BE49-F238E27FC236}">
                  <a16:creationId xmlns:a16="http://schemas.microsoft.com/office/drawing/2014/main" id="{48A34C9E-3C20-F14A-A12F-31584506D0C8}"/>
                </a:ext>
              </a:extLst>
            </p:cNvPr>
            <p:cNvSpPr/>
            <p:nvPr/>
          </p:nvSpPr>
          <p:spPr>
            <a:xfrm>
              <a:off x="8240231" y="417660"/>
              <a:ext cx="2167575" cy="826349"/>
            </a:xfrm>
            <a:prstGeom prst="rect">
              <a:avLst/>
            </a:prstGeom>
            <a:noFill/>
            <a:ln w="57150">
              <a:solidFill>
                <a:srgbClr val="1C7E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矩形 14">
              <a:extLst>
                <a:ext uri="{FF2B5EF4-FFF2-40B4-BE49-F238E27FC236}">
                  <a16:creationId xmlns:a16="http://schemas.microsoft.com/office/drawing/2014/main" id="{6B7DDD54-E990-D94C-94A8-EEB1BF913FA1}"/>
                </a:ext>
              </a:extLst>
            </p:cNvPr>
            <p:cNvSpPr/>
            <p:nvPr/>
          </p:nvSpPr>
          <p:spPr>
            <a:xfrm>
              <a:off x="8963828" y="407710"/>
              <a:ext cx="1443978" cy="1939854"/>
            </a:xfrm>
            <a:prstGeom prst="rect">
              <a:avLst/>
            </a:prstGeom>
            <a:noFill/>
            <a:ln w="57150">
              <a:solidFill>
                <a:srgbClr val="2063F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graphicFrame>
        <p:nvGraphicFramePr>
          <p:cNvPr id="20" name="表格 9">
            <a:extLst>
              <a:ext uri="{FF2B5EF4-FFF2-40B4-BE49-F238E27FC236}">
                <a16:creationId xmlns:a16="http://schemas.microsoft.com/office/drawing/2014/main" id="{406AEE43-0AC5-5540-BD19-1D4E0D9CA54B}"/>
              </a:ext>
            </a:extLst>
          </p:cNvPr>
          <p:cNvGraphicFramePr>
            <a:graphicFrameLocks noGrp="1"/>
          </p:cNvGraphicFramePr>
          <p:nvPr>
            <p:extLst>
              <p:ext uri="{D42A27DB-BD31-4B8C-83A1-F6EECF244321}">
                <p14:modId xmlns:p14="http://schemas.microsoft.com/office/powerpoint/2010/main" val="4033408507"/>
              </p:ext>
            </p:extLst>
          </p:nvPr>
        </p:nvGraphicFramePr>
        <p:xfrm>
          <a:off x="7818161" y="3556906"/>
          <a:ext cx="3969009" cy="3053732"/>
        </p:xfrm>
        <a:graphic>
          <a:graphicData uri="http://schemas.openxmlformats.org/drawingml/2006/table">
            <a:tbl>
              <a:tblPr firstRow="1" bandRow="1">
                <a:tableStyleId>{5940675A-B579-460E-94D1-54222C63F5DA}</a:tableStyleId>
              </a:tblPr>
              <a:tblGrid>
                <a:gridCol w="360819">
                  <a:extLst>
                    <a:ext uri="{9D8B030D-6E8A-4147-A177-3AD203B41FA5}">
                      <a16:colId xmlns:a16="http://schemas.microsoft.com/office/drawing/2014/main" val="4155089078"/>
                    </a:ext>
                  </a:extLst>
                </a:gridCol>
                <a:gridCol w="360819">
                  <a:extLst>
                    <a:ext uri="{9D8B030D-6E8A-4147-A177-3AD203B41FA5}">
                      <a16:colId xmlns:a16="http://schemas.microsoft.com/office/drawing/2014/main" val="2645048371"/>
                    </a:ext>
                  </a:extLst>
                </a:gridCol>
                <a:gridCol w="360819">
                  <a:extLst>
                    <a:ext uri="{9D8B030D-6E8A-4147-A177-3AD203B41FA5}">
                      <a16:colId xmlns:a16="http://schemas.microsoft.com/office/drawing/2014/main" val="4032559764"/>
                    </a:ext>
                  </a:extLst>
                </a:gridCol>
                <a:gridCol w="360819">
                  <a:extLst>
                    <a:ext uri="{9D8B030D-6E8A-4147-A177-3AD203B41FA5}">
                      <a16:colId xmlns:a16="http://schemas.microsoft.com/office/drawing/2014/main" val="3705653430"/>
                    </a:ext>
                  </a:extLst>
                </a:gridCol>
                <a:gridCol w="360819">
                  <a:extLst>
                    <a:ext uri="{9D8B030D-6E8A-4147-A177-3AD203B41FA5}">
                      <a16:colId xmlns:a16="http://schemas.microsoft.com/office/drawing/2014/main" val="2431619954"/>
                    </a:ext>
                  </a:extLst>
                </a:gridCol>
                <a:gridCol w="360819">
                  <a:extLst>
                    <a:ext uri="{9D8B030D-6E8A-4147-A177-3AD203B41FA5}">
                      <a16:colId xmlns:a16="http://schemas.microsoft.com/office/drawing/2014/main" val="1723677336"/>
                    </a:ext>
                  </a:extLst>
                </a:gridCol>
                <a:gridCol w="360819">
                  <a:extLst>
                    <a:ext uri="{9D8B030D-6E8A-4147-A177-3AD203B41FA5}">
                      <a16:colId xmlns:a16="http://schemas.microsoft.com/office/drawing/2014/main" val="3882517015"/>
                    </a:ext>
                  </a:extLst>
                </a:gridCol>
                <a:gridCol w="360819">
                  <a:extLst>
                    <a:ext uri="{9D8B030D-6E8A-4147-A177-3AD203B41FA5}">
                      <a16:colId xmlns:a16="http://schemas.microsoft.com/office/drawing/2014/main" val="2928903939"/>
                    </a:ext>
                  </a:extLst>
                </a:gridCol>
                <a:gridCol w="360819">
                  <a:extLst>
                    <a:ext uri="{9D8B030D-6E8A-4147-A177-3AD203B41FA5}">
                      <a16:colId xmlns:a16="http://schemas.microsoft.com/office/drawing/2014/main" val="3637278788"/>
                    </a:ext>
                  </a:extLst>
                </a:gridCol>
                <a:gridCol w="360819">
                  <a:extLst>
                    <a:ext uri="{9D8B030D-6E8A-4147-A177-3AD203B41FA5}">
                      <a16:colId xmlns:a16="http://schemas.microsoft.com/office/drawing/2014/main" val="15580358"/>
                    </a:ext>
                  </a:extLst>
                </a:gridCol>
                <a:gridCol w="360819">
                  <a:extLst>
                    <a:ext uri="{9D8B030D-6E8A-4147-A177-3AD203B41FA5}">
                      <a16:colId xmlns:a16="http://schemas.microsoft.com/office/drawing/2014/main" val="819262444"/>
                    </a:ext>
                  </a:extLst>
                </a:gridCol>
              </a:tblGrid>
              <a:tr h="277612">
                <a:tc>
                  <a:txBody>
                    <a:bodyPr/>
                    <a:lstStyle/>
                    <a:p>
                      <a:pPr algn="ctr"/>
                      <a:endParaRPr lang="zh-TW" altLang="en-US" sz="1200" dirty="0">
                        <a:solidFill>
                          <a:schemeClr val="bg1">
                            <a:lumMod val="75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1</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2</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3</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4</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5</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6</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7</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8</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9</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10</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3636976"/>
                  </a:ext>
                </a:extLst>
              </a:tr>
              <a:tr h="277612">
                <a:tc>
                  <a:txBody>
                    <a:bodyPr/>
                    <a:lstStyle/>
                    <a:p>
                      <a:pPr algn="r"/>
                      <a:r>
                        <a:rPr lang="en-US" altLang="zh-TW" sz="1200" dirty="0">
                          <a:solidFill>
                            <a:schemeClr val="tx1"/>
                          </a:solidFill>
                        </a:rPr>
                        <a:t>1</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1876002"/>
                  </a:ext>
                </a:extLst>
              </a:tr>
              <a:tr h="277612">
                <a:tc>
                  <a:txBody>
                    <a:bodyPr/>
                    <a:lstStyle/>
                    <a:p>
                      <a:pPr algn="r"/>
                      <a:r>
                        <a:rPr lang="en-US" altLang="zh-TW" sz="1200" dirty="0">
                          <a:solidFill>
                            <a:schemeClr val="tx1"/>
                          </a:solidFill>
                        </a:rPr>
                        <a:t>2</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6652963"/>
                  </a:ext>
                </a:extLst>
              </a:tr>
              <a:tr h="277612">
                <a:tc>
                  <a:txBody>
                    <a:bodyPr/>
                    <a:lstStyle/>
                    <a:p>
                      <a:pPr algn="r"/>
                      <a:r>
                        <a:rPr lang="en-US" altLang="zh-TW" sz="1200" dirty="0">
                          <a:solidFill>
                            <a:schemeClr val="tx1"/>
                          </a:solidFill>
                        </a:rPr>
                        <a:t>3</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-4</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902900678"/>
                  </a:ext>
                </a:extLst>
              </a:tr>
              <a:tr h="277612">
                <a:tc>
                  <a:txBody>
                    <a:bodyPr/>
                    <a:lstStyle/>
                    <a:p>
                      <a:pPr algn="r"/>
                      <a:r>
                        <a:rPr lang="en-US" altLang="zh-TW" sz="1200" dirty="0">
                          <a:solidFill>
                            <a:schemeClr val="tx1"/>
                          </a:solidFill>
                        </a:rPr>
                        <a:t>4</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4202923"/>
                  </a:ext>
                </a:extLst>
              </a:tr>
              <a:tr h="277612">
                <a:tc>
                  <a:txBody>
                    <a:bodyPr/>
                    <a:lstStyle/>
                    <a:p>
                      <a:pPr algn="r"/>
                      <a:r>
                        <a:rPr lang="en-US" altLang="zh-TW" sz="1200" dirty="0">
                          <a:solidFill>
                            <a:schemeClr val="tx1"/>
                          </a:solidFill>
                        </a:rPr>
                        <a:t>5</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551547"/>
                  </a:ext>
                </a:extLst>
              </a:tr>
              <a:tr h="277612">
                <a:tc>
                  <a:txBody>
                    <a:bodyPr/>
                    <a:lstStyle/>
                    <a:p>
                      <a:pPr algn="r"/>
                      <a:r>
                        <a:rPr lang="en-US" altLang="zh-TW" sz="1200" dirty="0">
                          <a:solidFill>
                            <a:schemeClr val="tx1"/>
                          </a:solidFill>
                        </a:rPr>
                        <a:t>6</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6500749"/>
                  </a:ext>
                </a:extLst>
              </a:tr>
              <a:tr h="277612">
                <a:tc>
                  <a:txBody>
                    <a:bodyPr/>
                    <a:lstStyle/>
                    <a:p>
                      <a:pPr algn="r"/>
                      <a:r>
                        <a:rPr lang="en-US" altLang="zh-TW" sz="1200" dirty="0">
                          <a:solidFill>
                            <a:schemeClr val="tx1"/>
                          </a:solidFill>
                        </a:rPr>
                        <a:t>7</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-3</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516437989"/>
                  </a:ext>
                </a:extLst>
              </a:tr>
              <a:tr h="277612">
                <a:tc>
                  <a:txBody>
                    <a:bodyPr/>
                    <a:lstStyle/>
                    <a:p>
                      <a:pPr algn="r"/>
                      <a:r>
                        <a:rPr lang="en-US" altLang="zh-TW" sz="1200" dirty="0">
                          <a:solidFill>
                            <a:schemeClr val="tx1"/>
                          </a:solidFill>
                        </a:rPr>
                        <a:t>8</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81405"/>
                  </a:ext>
                </a:extLst>
              </a:tr>
              <a:tr h="277612">
                <a:tc>
                  <a:txBody>
                    <a:bodyPr/>
                    <a:lstStyle/>
                    <a:p>
                      <a:pPr algn="r"/>
                      <a:r>
                        <a:rPr lang="en-US" altLang="zh-TW" sz="1200" dirty="0">
                          <a:solidFill>
                            <a:schemeClr val="tx1"/>
                          </a:solidFill>
                        </a:rPr>
                        <a:t>9</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1374388"/>
                  </a:ext>
                </a:extLst>
              </a:tr>
              <a:tr h="277612">
                <a:tc>
                  <a:txBody>
                    <a:bodyPr/>
                    <a:lstStyle/>
                    <a:p>
                      <a:pPr algn="r"/>
                      <a:r>
                        <a:rPr lang="en-US" altLang="zh-TW" sz="1200" dirty="0">
                          <a:solidFill>
                            <a:schemeClr val="tx1"/>
                          </a:solidFill>
                        </a:rPr>
                        <a:t>10</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7351516"/>
                  </a:ext>
                </a:extLst>
              </a:tr>
            </a:tbl>
          </a:graphicData>
        </a:graphic>
      </p:graphicFrame>
      <p:grpSp>
        <p:nvGrpSpPr>
          <p:cNvPr id="33" name="群組 32">
            <a:extLst>
              <a:ext uri="{FF2B5EF4-FFF2-40B4-BE49-F238E27FC236}">
                <a16:creationId xmlns:a16="http://schemas.microsoft.com/office/drawing/2014/main" id="{DD119232-6C14-044D-9099-CD2D54174E1D}"/>
              </a:ext>
            </a:extLst>
          </p:cNvPr>
          <p:cNvGrpSpPr/>
          <p:nvPr/>
        </p:nvGrpSpPr>
        <p:grpSpPr>
          <a:xfrm>
            <a:off x="9631890" y="3840570"/>
            <a:ext cx="2167575" cy="1939854"/>
            <a:chOff x="2503119" y="3828880"/>
            <a:chExt cx="2167575" cy="1939854"/>
          </a:xfrm>
        </p:grpSpPr>
        <p:sp>
          <p:nvSpPr>
            <p:cNvPr id="21" name="矩形 20">
              <a:extLst>
                <a:ext uri="{FF2B5EF4-FFF2-40B4-BE49-F238E27FC236}">
                  <a16:creationId xmlns:a16="http://schemas.microsoft.com/office/drawing/2014/main" id="{F57EC6B7-B8F3-3C4A-9114-3E860BC41616}"/>
                </a:ext>
              </a:extLst>
            </p:cNvPr>
            <p:cNvSpPr/>
            <p:nvPr/>
          </p:nvSpPr>
          <p:spPr>
            <a:xfrm>
              <a:off x="2503119" y="3838830"/>
              <a:ext cx="2167575" cy="826349"/>
            </a:xfrm>
            <a:prstGeom prst="rect">
              <a:avLst/>
            </a:prstGeom>
            <a:noFill/>
            <a:ln w="57150">
              <a:solidFill>
                <a:srgbClr val="1C7E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 name="矩形 21">
              <a:extLst>
                <a:ext uri="{FF2B5EF4-FFF2-40B4-BE49-F238E27FC236}">
                  <a16:creationId xmlns:a16="http://schemas.microsoft.com/office/drawing/2014/main" id="{7FE5AAF2-0150-FF43-96C5-2441FD5B5085}"/>
                </a:ext>
              </a:extLst>
            </p:cNvPr>
            <p:cNvSpPr/>
            <p:nvPr/>
          </p:nvSpPr>
          <p:spPr>
            <a:xfrm>
              <a:off x="3226716" y="3828880"/>
              <a:ext cx="1443978" cy="1939854"/>
            </a:xfrm>
            <a:prstGeom prst="rect">
              <a:avLst/>
            </a:prstGeom>
            <a:noFill/>
            <a:ln w="57150">
              <a:solidFill>
                <a:srgbClr val="2063F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23" name="標題 1">
            <a:extLst>
              <a:ext uri="{FF2B5EF4-FFF2-40B4-BE49-F238E27FC236}">
                <a16:creationId xmlns:a16="http://schemas.microsoft.com/office/drawing/2014/main" id="{30302790-A291-9943-92AA-DF52B01E03CA}"/>
              </a:ext>
            </a:extLst>
          </p:cNvPr>
          <p:cNvSpPr>
            <a:spLocks noGrp="1"/>
          </p:cNvSpPr>
          <p:nvPr>
            <p:ph type="title"/>
          </p:nvPr>
        </p:nvSpPr>
        <p:spPr>
          <a:xfrm>
            <a:off x="838200" y="365125"/>
            <a:ext cx="10515600" cy="1325563"/>
          </a:xfrm>
        </p:spPr>
        <p:txBody>
          <a:bodyPr/>
          <a:lstStyle/>
          <a:p>
            <a:r>
              <a:rPr kumimoji="1" lang="en-US" altLang="zh-TW" dirty="0"/>
              <a:t>Property</a:t>
            </a:r>
            <a:endParaRPr kumimoji="1" lang="zh-TW" altLang="en-US" dirty="0"/>
          </a:p>
        </p:txBody>
      </p:sp>
      <p:pic>
        <p:nvPicPr>
          <p:cNvPr id="2" name="圖片 1">
            <a:extLst>
              <a:ext uri="{FF2B5EF4-FFF2-40B4-BE49-F238E27FC236}">
                <a16:creationId xmlns:a16="http://schemas.microsoft.com/office/drawing/2014/main" id="{D8F53BF3-07DC-AC40-ACAB-977036E3280A}"/>
              </a:ext>
            </a:extLst>
          </p:cNvPr>
          <p:cNvPicPr>
            <a:picLocks noChangeAspect="1"/>
          </p:cNvPicPr>
          <p:nvPr/>
        </p:nvPicPr>
        <p:blipFill>
          <a:blip r:embed="rId3"/>
          <a:stretch>
            <a:fillRect/>
          </a:stretch>
        </p:blipFill>
        <p:spPr>
          <a:xfrm>
            <a:off x="871271" y="1319832"/>
            <a:ext cx="9474207" cy="1992013"/>
          </a:xfrm>
          <a:prstGeom prst="rect">
            <a:avLst/>
          </a:prstGeom>
        </p:spPr>
      </p:pic>
      <p:sp>
        <p:nvSpPr>
          <p:cNvPr id="37" name="文字方塊 36">
            <a:extLst>
              <a:ext uri="{FF2B5EF4-FFF2-40B4-BE49-F238E27FC236}">
                <a16:creationId xmlns:a16="http://schemas.microsoft.com/office/drawing/2014/main" id="{1487861B-B344-8443-A0EE-FE3F9B903F76}"/>
              </a:ext>
            </a:extLst>
          </p:cNvPr>
          <p:cNvSpPr txBox="1"/>
          <p:nvPr/>
        </p:nvSpPr>
        <p:spPr>
          <a:xfrm>
            <a:off x="283825" y="3503429"/>
            <a:ext cx="3159839" cy="276999"/>
          </a:xfrm>
          <a:prstGeom prst="rect">
            <a:avLst/>
          </a:prstGeom>
          <a:noFill/>
        </p:spPr>
        <p:txBody>
          <a:bodyPr wrap="none" rtlCol="0">
            <a:spAutoFit/>
          </a:bodyPr>
          <a:lstStyle/>
          <a:p>
            <a:r>
              <a:rPr kumimoji="1" lang="en-US" altLang="zh-TW" sz="1200" dirty="0">
                <a:latin typeface="Menlo" panose="020B0609030804020204" pitchFamily="49" charset="0"/>
                <a:ea typeface="Menlo" panose="020B0609030804020204" pitchFamily="49" charset="0"/>
                <a:cs typeface="Menlo" panose="020B0609030804020204" pitchFamily="49" charset="0"/>
              </a:rPr>
              <a:t>0  1  2  3  4  5  6  7  8  9  10</a:t>
            </a:r>
            <a:endParaRPr kumimoji="1" lang="zh-TW" altLang="en-US" sz="1200" dirty="0">
              <a:latin typeface="Menlo" panose="020B0609030804020204" pitchFamily="49" charset="0"/>
              <a:cs typeface="Menlo" panose="020B0609030804020204" pitchFamily="49" charset="0"/>
            </a:endParaRPr>
          </a:p>
        </p:txBody>
      </p:sp>
      <p:graphicFrame>
        <p:nvGraphicFramePr>
          <p:cNvPr id="38" name="表格 37">
            <a:extLst>
              <a:ext uri="{FF2B5EF4-FFF2-40B4-BE49-F238E27FC236}">
                <a16:creationId xmlns:a16="http://schemas.microsoft.com/office/drawing/2014/main" id="{98615918-7120-C34B-9E39-0A4A01140103}"/>
              </a:ext>
            </a:extLst>
          </p:cNvPr>
          <p:cNvGraphicFramePr>
            <a:graphicFrameLocks noGrp="1"/>
          </p:cNvGraphicFramePr>
          <p:nvPr>
            <p:extLst>
              <p:ext uri="{D42A27DB-BD31-4B8C-83A1-F6EECF244321}">
                <p14:modId xmlns:p14="http://schemas.microsoft.com/office/powerpoint/2010/main" val="1466174695"/>
              </p:ext>
            </p:extLst>
          </p:nvPr>
        </p:nvGraphicFramePr>
        <p:xfrm>
          <a:off x="-10247" y="3681403"/>
          <a:ext cx="360819" cy="2914164"/>
        </p:xfrm>
        <a:graphic>
          <a:graphicData uri="http://schemas.openxmlformats.org/drawingml/2006/table">
            <a:tbl>
              <a:tblPr firstRow="1" bandRow="1">
                <a:tableStyleId>{5940675A-B579-460E-94D1-54222C63F5DA}</a:tableStyleId>
              </a:tblPr>
              <a:tblGrid>
                <a:gridCol w="360819">
                  <a:extLst>
                    <a:ext uri="{9D8B030D-6E8A-4147-A177-3AD203B41FA5}">
                      <a16:colId xmlns:a16="http://schemas.microsoft.com/office/drawing/2014/main" val="3265841366"/>
                    </a:ext>
                  </a:extLst>
                </a:gridCol>
              </a:tblGrid>
              <a:tr h="264924">
                <a:tc>
                  <a:txBody>
                    <a:bodyPr/>
                    <a:lstStyle/>
                    <a:p>
                      <a:pPr algn="r"/>
                      <a:r>
                        <a:rPr lang="en-US" altLang="zh-TW" sz="1000" dirty="0">
                          <a:solidFill>
                            <a:schemeClr val="tx1"/>
                          </a:solidFill>
                        </a:rPr>
                        <a:t>0</a:t>
                      </a:r>
                      <a:endParaRPr lang="zh-TW" altLang="en-US" sz="1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00808409"/>
                  </a:ext>
                </a:extLst>
              </a:tr>
              <a:tr h="264924">
                <a:tc>
                  <a:txBody>
                    <a:bodyPr/>
                    <a:lstStyle/>
                    <a:p>
                      <a:pPr algn="r"/>
                      <a:r>
                        <a:rPr lang="en-US" altLang="zh-TW" sz="1000" dirty="0">
                          <a:solidFill>
                            <a:schemeClr val="tx1"/>
                          </a:solidFill>
                        </a:rPr>
                        <a:t>1</a:t>
                      </a:r>
                      <a:endParaRPr lang="zh-TW" altLang="en-US" sz="1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84965016"/>
                  </a:ext>
                </a:extLst>
              </a:tr>
              <a:tr h="264924">
                <a:tc>
                  <a:txBody>
                    <a:bodyPr/>
                    <a:lstStyle/>
                    <a:p>
                      <a:pPr algn="r"/>
                      <a:r>
                        <a:rPr lang="en-US" altLang="zh-TW" sz="1000" dirty="0">
                          <a:solidFill>
                            <a:schemeClr val="tx1"/>
                          </a:solidFill>
                        </a:rPr>
                        <a:t>2</a:t>
                      </a:r>
                      <a:endParaRPr lang="zh-TW" altLang="en-US" sz="1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4380966"/>
                  </a:ext>
                </a:extLst>
              </a:tr>
              <a:tr h="264924">
                <a:tc>
                  <a:txBody>
                    <a:bodyPr/>
                    <a:lstStyle/>
                    <a:p>
                      <a:pPr algn="r"/>
                      <a:r>
                        <a:rPr lang="en-US" altLang="zh-TW" sz="1000" dirty="0">
                          <a:solidFill>
                            <a:schemeClr val="tx1"/>
                          </a:solidFill>
                        </a:rPr>
                        <a:t>3</a:t>
                      </a:r>
                      <a:endParaRPr lang="zh-TW" altLang="en-US" sz="1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75252542"/>
                  </a:ext>
                </a:extLst>
              </a:tr>
              <a:tr h="264924">
                <a:tc>
                  <a:txBody>
                    <a:bodyPr/>
                    <a:lstStyle/>
                    <a:p>
                      <a:pPr algn="r"/>
                      <a:r>
                        <a:rPr lang="en-US" altLang="zh-TW" sz="1000" dirty="0">
                          <a:solidFill>
                            <a:schemeClr val="tx1"/>
                          </a:solidFill>
                        </a:rPr>
                        <a:t>4</a:t>
                      </a:r>
                      <a:endParaRPr lang="zh-TW" altLang="en-US" sz="1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4362006"/>
                  </a:ext>
                </a:extLst>
              </a:tr>
              <a:tr h="264924">
                <a:tc>
                  <a:txBody>
                    <a:bodyPr/>
                    <a:lstStyle/>
                    <a:p>
                      <a:pPr algn="r"/>
                      <a:r>
                        <a:rPr lang="en-US" altLang="zh-TW" sz="1000" dirty="0">
                          <a:solidFill>
                            <a:schemeClr val="tx1"/>
                          </a:solidFill>
                        </a:rPr>
                        <a:t>5</a:t>
                      </a:r>
                      <a:endParaRPr lang="zh-TW" altLang="en-US" sz="1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5240239"/>
                  </a:ext>
                </a:extLst>
              </a:tr>
              <a:tr h="264924">
                <a:tc>
                  <a:txBody>
                    <a:bodyPr/>
                    <a:lstStyle/>
                    <a:p>
                      <a:pPr algn="r"/>
                      <a:r>
                        <a:rPr lang="en-US" altLang="zh-TW" sz="1000" dirty="0">
                          <a:solidFill>
                            <a:schemeClr val="tx1"/>
                          </a:solidFill>
                        </a:rPr>
                        <a:t>6</a:t>
                      </a:r>
                      <a:endParaRPr lang="zh-TW" altLang="en-US" sz="1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991786"/>
                  </a:ext>
                </a:extLst>
              </a:tr>
              <a:tr h="264924">
                <a:tc>
                  <a:txBody>
                    <a:bodyPr/>
                    <a:lstStyle/>
                    <a:p>
                      <a:pPr algn="r"/>
                      <a:r>
                        <a:rPr lang="en-US" altLang="zh-TW" sz="1000" dirty="0">
                          <a:solidFill>
                            <a:schemeClr val="tx1"/>
                          </a:solidFill>
                        </a:rPr>
                        <a:t>7</a:t>
                      </a:r>
                      <a:endParaRPr lang="zh-TW" altLang="en-US" sz="1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34800436"/>
                  </a:ext>
                </a:extLst>
              </a:tr>
              <a:tr h="264924">
                <a:tc>
                  <a:txBody>
                    <a:bodyPr/>
                    <a:lstStyle/>
                    <a:p>
                      <a:pPr algn="r"/>
                      <a:r>
                        <a:rPr lang="en-US" altLang="zh-TW" sz="1000" dirty="0">
                          <a:solidFill>
                            <a:schemeClr val="tx1"/>
                          </a:solidFill>
                        </a:rPr>
                        <a:t>8</a:t>
                      </a:r>
                      <a:endParaRPr lang="zh-TW" altLang="en-US" sz="1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51879"/>
                  </a:ext>
                </a:extLst>
              </a:tr>
              <a:tr h="264924">
                <a:tc>
                  <a:txBody>
                    <a:bodyPr/>
                    <a:lstStyle/>
                    <a:p>
                      <a:pPr algn="r"/>
                      <a:r>
                        <a:rPr lang="en-US" altLang="zh-TW" sz="1000" dirty="0">
                          <a:solidFill>
                            <a:schemeClr val="tx1"/>
                          </a:solidFill>
                        </a:rPr>
                        <a:t>9</a:t>
                      </a:r>
                      <a:endParaRPr lang="zh-TW" altLang="en-US" sz="1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3204186"/>
                  </a:ext>
                </a:extLst>
              </a:tr>
              <a:tr h="264924">
                <a:tc>
                  <a:txBody>
                    <a:bodyPr/>
                    <a:lstStyle/>
                    <a:p>
                      <a:pPr algn="r"/>
                      <a:r>
                        <a:rPr lang="en-US" altLang="zh-TW" sz="1000" dirty="0">
                          <a:solidFill>
                            <a:schemeClr val="tx1"/>
                          </a:solidFill>
                        </a:rPr>
                        <a:t>10</a:t>
                      </a:r>
                      <a:endParaRPr lang="zh-TW" altLang="en-US" sz="1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08900952"/>
                  </a:ext>
                </a:extLst>
              </a:tr>
            </a:tbl>
          </a:graphicData>
        </a:graphic>
      </p:graphicFrame>
    </p:spTree>
    <p:extLst>
      <p:ext uri="{BB962C8B-B14F-4D97-AF65-F5344CB8AC3E}">
        <p14:creationId xmlns:p14="http://schemas.microsoft.com/office/powerpoint/2010/main" val="3203717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a:xfrm>
            <a:off x="838200" y="-230302"/>
            <a:ext cx="10515600" cy="1325563"/>
          </a:xfrm>
        </p:spPr>
        <p:txBody>
          <a:bodyPr/>
          <a:lstStyle/>
          <a:p>
            <a:r>
              <a:rPr kumimoji="1" lang="en-US" altLang="zh-TW" dirty="0"/>
              <a:t>Lemma : Basic properties</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7</a:t>
            </a:fld>
            <a:endParaRPr kumimoji="1" lang="zh-TW" altLang="en-US"/>
          </a:p>
        </p:txBody>
      </p:sp>
      <p:pic>
        <p:nvPicPr>
          <p:cNvPr id="4" name="圖片 3">
            <a:extLst>
              <a:ext uri="{FF2B5EF4-FFF2-40B4-BE49-F238E27FC236}">
                <a16:creationId xmlns:a16="http://schemas.microsoft.com/office/drawing/2014/main" id="{9D5E9402-F3CC-F542-8B40-0A445814B14D}"/>
              </a:ext>
            </a:extLst>
          </p:cNvPr>
          <p:cNvPicPr>
            <a:picLocks noChangeAspect="1"/>
          </p:cNvPicPr>
          <p:nvPr/>
        </p:nvPicPr>
        <p:blipFill>
          <a:blip r:embed="rId2"/>
          <a:stretch>
            <a:fillRect/>
          </a:stretch>
        </p:blipFill>
        <p:spPr>
          <a:xfrm>
            <a:off x="838200" y="736553"/>
            <a:ext cx="3377773" cy="571241"/>
          </a:xfrm>
          <a:prstGeom prst="rect">
            <a:avLst/>
          </a:prstGeom>
        </p:spPr>
      </p:pic>
      <p:pic>
        <p:nvPicPr>
          <p:cNvPr id="8" name="圖片 7">
            <a:extLst>
              <a:ext uri="{FF2B5EF4-FFF2-40B4-BE49-F238E27FC236}">
                <a16:creationId xmlns:a16="http://schemas.microsoft.com/office/drawing/2014/main" id="{2ABD7E10-1EC0-0F4D-8081-7D459F11B139}"/>
              </a:ext>
            </a:extLst>
          </p:cNvPr>
          <p:cNvPicPr>
            <a:picLocks noChangeAspect="1"/>
          </p:cNvPicPr>
          <p:nvPr/>
        </p:nvPicPr>
        <p:blipFill>
          <a:blip r:embed="rId3"/>
          <a:stretch>
            <a:fillRect/>
          </a:stretch>
        </p:blipFill>
        <p:spPr>
          <a:xfrm>
            <a:off x="838200" y="1233116"/>
            <a:ext cx="9727820" cy="780903"/>
          </a:xfrm>
          <a:prstGeom prst="rect">
            <a:avLst/>
          </a:prstGeom>
        </p:spPr>
      </p:pic>
      <p:pic>
        <p:nvPicPr>
          <p:cNvPr id="9" name="圖片 8">
            <a:extLst>
              <a:ext uri="{FF2B5EF4-FFF2-40B4-BE49-F238E27FC236}">
                <a16:creationId xmlns:a16="http://schemas.microsoft.com/office/drawing/2014/main" id="{C8BB9B74-5325-A44E-9436-6FA568B373A5}"/>
              </a:ext>
            </a:extLst>
          </p:cNvPr>
          <p:cNvPicPr>
            <a:picLocks noChangeAspect="1"/>
          </p:cNvPicPr>
          <p:nvPr/>
        </p:nvPicPr>
        <p:blipFill>
          <a:blip r:embed="rId4"/>
          <a:stretch>
            <a:fillRect/>
          </a:stretch>
        </p:blipFill>
        <p:spPr>
          <a:xfrm>
            <a:off x="838200" y="1886176"/>
            <a:ext cx="10088734" cy="869324"/>
          </a:xfrm>
          <a:prstGeom prst="rect">
            <a:avLst/>
          </a:prstGeom>
        </p:spPr>
      </p:pic>
      <p:graphicFrame>
        <p:nvGraphicFramePr>
          <p:cNvPr id="19" name="表格 9">
            <a:extLst>
              <a:ext uri="{FF2B5EF4-FFF2-40B4-BE49-F238E27FC236}">
                <a16:creationId xmlns:a16="http://schemas.microsoft.com/office/drawing/2014/main" id="{772DC62E-BDF1-2E43-B879-1A0A19221340}"/>
              </a:ext>
            </a:extLst>
          </p:cNvPr>
          <p:cNvGraphicFramePr>
            <a:graphicFrameLocks noGrp="1"/>
          </p:cNvGraphicFramePr>
          <p:nvPr>
            <p:extLst>
              <p:ext uri="{D42A27DB-BD31-4B8C-83A1-F6EECF244321}">
                <p14:modId xmlns:p14="http://schemas.microsoft.com/office/powerpoint/2010/main" val="3161644323"/>
              </p:ext>
            </p:extLst>
          </p:nvPr>
        </p:nvGraphicFramePr>
        <p:xfrm>
          <a:off x="1379574" y="3429000"/>
          <a:ext cx="4403654" cy="3331344"/>
        </p:xfrm>
        <a:graphic>
          <a:graphicData uri="http://schemas.openxmlformats.org/drawingml/2006/table">
            <a:tbl>
              <a:tblPr firstRow="1" bandRow="1">
                <a:tableStyleId>{5940675A-B579-460E-94D1-54222C63F5DA}</a:tableStyleId>
              </a:tblPr>
              <a:tblGrid>
                <a:gridCol w="434645">
                  <a:extLst>
                    <a:ext uri="{9D8B030D-6E8A-4147-A177-3AD203B41FA5}">
                      <a16:colId xmlns:a16="http://schemas.microsoft.com/office/drawing/2014/main" val="1335027112"/>
                    </a:ext>
                  </a:extLst>
                </a:gridCol>
                <a:gridCol w="360819">
                  <a:extLst>
                    <a:ext uri="{9D8B030D-6E8A-4147-A177-3AD203B41FA5}">
                      <a16:colId xmlns:a16="http://schemas.microsoft.com/office/drawing/2014/main" val="4155089078"/>
                    </a:ext>
                  </a:extLst>
                </a:gridCol>
                <a:gridCol w="360819">
                  <a:extLst>
                    <a:ext uri="{9D8B030D-6E8A-4147-A177-3AD203B41FA5}">
                      <a16:colId xmlns:a16="http://schemas.microsoft.com/office/drawing/2014/main" val="2645048371"/>
                    </a:ext>
                  </a:extLst>
                </a:gridCol>
                <a:gridCol w="360819">
                  <a:extLst>
                    <a:ext uri="{9D8B030D-6E8A-4147-A177-3AD203B41FA5}">
                      <a16:colId xmlns:a16="http://schemas.microsoft.com/office/drawing/2014/main" val="4032559764"/>
                    </a:ext>
                  </a:extLst>
                </a:gridCol>
                <a:gridCol w="360819">
                  <a:extLst>
                    <a:ext uri="{9D8B030D-6E8A-4147-A177-3AD203B41FA5}">
                      <a16:colId xmlns:a16="http://schemas.microsoft.com/office/drawing/2014/main" val="3705653430"/>
                    </a:ext>
                  </a:extLst>
                </a:gridCol>
                <a:gridCol w="360819">
                  <a:extLst>
                    <a:ext uri="{9D8B030D-6E8A-4147-A177-3AD203B41FA5}">
                      <a16:colId xmlns:a16="http://schemas.microsoft.com/office/drawing/2014/main" val="2431619954"/>
                    </a:ext>
                  </a:extLst>
                </a:gridCol>
                <a:gridCol w="360819">
                  <a:extLst>
                    <a:ext uri="{9D8B030D-6E8A-4147-A177-3AD203B41FA5}">
                      <a16:colId xmlns:a16="http://schemas.microsoft.com/office/drawing/2014/main" val="1723677336"/>
                    </a:ext>
                  </a:extLst>
                </a:gridCol>
                <a:gridCol w="360819">
                  <a:extLst>
                    <a:ext uri="{9D8B030D-6E8A-4147-A177-3AD203B41FA5}">
                      <a16:colId xmlns:a16="http://schemas.microsoft.com/office/drawing/2014/main" val="3882517015"/>
                    </a:ext>
                  </a:extLst>
                </a:gridCol>
                <a:gridCol w="360819">
                  <a:extLst>
                    <a:ext uri="{9D8B030D-6E8A-4147-A177-3AD203B41FA5}">
                      <a16:colId xmlns:a16="http://schemas.microsoft.com/office/drawing/2014/main" val="2928903939"/>
                    </a:ext>
                  </a:extLst>
                </a:gridCol>
                <a:gridCol w="360819">
                  <a:extLst>
                    <a:ext uri="{9D8B030D-6E8A-4147-A177-3AD203B41FA5}">
                      <a16:colId xmlns:a16="http://schemas.microsoft.com/office/drawing/2014/main" val="3637278788"/>
                    </a:ext>
                  </a:extLst>
                </a:gridCol>
                <a:gridCol w="360819">
                  <a:extLst>
                    <a:ext uri="{9D8B030D-6E8A-4147-A177-3AD203B41FA5}">
                      <a16:colId xmlns:a16="http://schemas.microsoft.com/office/drawing/2014/main" val="15580358"/>
                    </a:ext>
                  </a:extLst>
                </a:gridCol>
                <a:gridCol w="360819">
                  <a:extLst>
                    <a:ext uri="{9D8B030D-6E8A-4147-A177-3AD203B41FA5}">
                      <a16:colId xmlns:a16="http://schemas.microsoft.com/office/drawing/2014/main" val="819262444"/>
                    </a:ext>
                  </a:extLst>
                </a:gridCol>
              </a:tblGrid>
              <a:tr h="277612">
                <a:tc>
                  <a:txBody>
                    <a:bodyPr/>
                    <a:lstStyle/>
                    <a:p>
                      <a:pPr algn="ctr"/>
                      <a:endParaRPr lang="zh-TW" altLang="en-US" sz="12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t>0</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1</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2</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3</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4</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5</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6</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7</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8</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9</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000" dirty="0"/>
                        <a:t>10</a:t>
                      </a:r>
                      <a:endParaRPr lang="zh-TW" altLang="en-US" sz="10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56909903"/>
                  </a:ext>
                </a:extLst>
              </a:tr>
              <a:tr h="277612">
                <a:tc>
                  <a:txBody>
                    <a:bodyPr/>
                    <a:lstStyle/>
                    <a:p>
                      <a:pPr algn="r"/>
                      <a:r>
                        <a:rPr lang="en-US" altLang="zh-TW" sz="1200" dirty="0"/>
                        <a:t>0</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3</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8</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3636976"/>
                  </a:ext>
                </a:extLst>
              </a:tr>
              <a:tr h="277612">
                <a:tc>
                  <a:txBody>
                    <a:bodyPr/>
                    <a:lstStyle/>
                    <a:p>
                      <a:pPr algn="r"/>
                      <a:r>
                        <a:rPr lang="en-US" altLang="zh-TW" sz="1200" dirty="0"/>
                        <a:t>1</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3</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1876002"/>
                  </a:ext>
                </a:extLst>
              </a:tr>
              <a:tr h="277612">
                <a:tc>
                  <a:txBody>
                    <a:bodyPr/>
                    <a:lstStyle/>
                    <a:p>
                      <a:pPr algn="r"/>
                      <a:r>
                        <a:rPr lang="en-US" altLang="zh-TW" sz="1200" dirty="0"/>
                        <a:t>2</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6652963"/>
                  </a:ext>
                </a:extLst>
              </a:tr>
              <a:tr h="277612">
                <a:tc>
                  <a:txBody>
                    <a:bodyPr/>
                    <a:lstStyle/>
                    <a:p>
                      <a:pPr algn="r"/>
                      <a:r>
                        <a:rPr lang="en-US" altLang="zh-TW" sz="1200" dirty="0"/>
                        <a:t>3</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-3</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3</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5</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6</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7</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2900678"/>
                  </a:ext>
                </a:extLst>
              </a:tr>
              <a:tr h="277612">
                <a:tc>
                  <a:txBody>
                    <a:bodyPr/>
                    <a:lstStyle/>
                    <a:p>
                      <a:pPr algn="r"/>
                      <a:r>
                        <a:rPr lang="en-US" altLang="zh-TW" sz="1200" dirty="0"/>
                        <a:t>4</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-4</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-3</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5</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6</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4202923"/>
                  </a:ext>
                </a:extLst>
              </a:tr>
              <a:tr h="277612">
                <a:tc>
                  <a:txBody>
                    <a:bodyPr/>
                    <a:lstStyle/>
                    <a:p>
                      <a:pPr algn="r"/>
                      <a:r>
                        <a:rPr lang="en-US" altLang="zh-TW" sz="1200" dirty="0"/>
                        <a:t>5</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-5</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-4</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-3</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5</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551547"/>
                  </a:ext>
                </a:extLst>
              </a:tr>
              <a:tr h="277612">
                <a:tc>
                  <a:txBody>
                    <a:bodyPr/>
                    <a:lstStyle/>
                    <a:p>
                      <a:pPr algn="r"/>
                      <a:r>
                        <a:rPr lang="en-US" altLang="zh-TW" sz="1200" dirty="0"/>
                        <a:t>6</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-6</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-5</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-4</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-3</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4</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6500749"/>
                  </a:ext>
                </a:extLst>
              </a:tr>
              <a:tr h="277612">
                <a:tc>
                  <a:txBody>
                    <a:bodyPr/>
                    <a:lstStyle/>
                    <a:p>
                      <a:pPr algn="r"/>
                      <a:r>
                        <a:rPr lang="en-US" altLang="zh-TW" sz="1200" dirty="0"/>
                        <a:t>7</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-7</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-6</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-5</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-4</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-3</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3</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6437989"/>
                  </a:ext>
                </a:extLst>
              </a:tr>
              <a:tr h="277612">
                <a:tc>
                  <a:txBody>
                    <a:bodyPr/>
                    <a:lstStyle/>
                    <a:p>
                      <a:pPr algn="r"/>
                      <a:r>
                        <a:rPr lang="en-US" altLang="zh-TW" sz="1200" dirty="0"/>
                        <a:t>8</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-8</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-7</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-6</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-5</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-4</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-3</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81405"/>
                  </a:ext>
                </a:extLst>
              </a:tr>
              <a:tr h="277612">
                <a:tc>
                  <a:txBody>
                    <a:bodyPr/>
                    <a:lstStyle/>
                    <a:p>
                      <a:pPr algn="r"/>
                      <a:r>
                        <a:rPr lang="en-US" altLang="zh-TW" sz="1200" dirty="0"/>
                        <a:t>9</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-9</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-8</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-7</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-6</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-5</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-4</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-3</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1374388"/>
                  </a:ext>
                </a:extLst>
              </a:tr>
              <a:tr h="277612">
                <a:tc>
                  <a:txBody>
                    <a:bodyPr/>
                    <a:lstStyle/>
                    <a:p>
                      <a:pPr algn="r"/>
                      <a:r>
                        <a:rPr lang="en-US" altLang="zh-TW" sz="1200" dirty="0"/>
                        <a:t>10</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600" dirty="0">
                          <a:solidFill>
                            <a:schemeClr val="bg1">
                              <a:lumMod val="75000"/>
                            </a:schemeClr>
                          </a:solidFill>
                        </a:rPr>
                        <a:t>-10</a:t>
                      </a:r>
                      <a:endParaRPr lang="zh-TW" altLang="en-US" sz="6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-9</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-8</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-7</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-6</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-5</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-4</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-3</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-2</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-1</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7351516"/>
                  </a:ext>
                </a:extLst>
              </a:tr>
            </a:tbl>
          </a:graphicData>
        </a:graphic>
      </p:graphicFrame>
      <p:grpSp>
        <p:nvGrpSpPr>
          <p:cNvPr id="20" name="群組 19">
            <a:extLst>
              <a:ext uri="{FF2B5EF4-FFF2-40B4-BE49-F238E27FC236}">
                <a16:creationId xmlns:a16="http://schemas.microsoft.com/office/drawing/2014/main" id="{5ACA0DDA-2AB6-274B-B5DF-829CADE84E32}"/>
              </a:ext>
            </a:extLst>
          </p:cNvPr>
          <p:cNvGrpSpPr/>
          <p:nvPr/>
        </p:nvGrpSpPr>
        <p:grpSpPr>
          <a:xfrm>
            <a:off x="3598044" y="3700185"/>
            <a:ext cx="2167575" cy="1939854"/>
            <a:chOff x="8240231" y="407710"/>
            <a:chExt cx="2167575" cy="1939854"/>
          </a:xfrm>
        </p:grpSpPr>
        <p:sp>
          <p:nvSpPr>
            <p:cNvPr id="21" name="矩形 20">
              <a:extLst>
                <a:ext uri="{FF2B5EF4-FFF2-40B4-BE49-F238E27FC236}">
                  <a16:creationId xmlns:a16="http://schemas.microsoft.com/office/drawing/2014/main" id="{F69102E2-B4AD-B142-8C73-3358D5C1820A}"/>
                </a:ext>
              </a:extLst>
            </p:cNvPr>
            <p:cNvSpPr/>
            <p:nvPr/>
          </p:nvSpPr>
          <p:spPr>
            <a:xfrm>
              <a:off x="8240231" y="417660"/>
              <a:ext cx="2167575" cy="826349"/>
            </a:xfrm>
            <a:prstGeom prst="rect">
              <a:avLst/>
            </a:prstGeom>
            <a:noFill/>
            <a:ln w="57150">
              <a:solidFill>
                <a:srgbClr val="1C7E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 name="矩形 21">
              <a:extLst>
                <a:ext uri="{FF2B5EF4-FFF2-40B4-BE49-F238E27FC236}">
                  <a16:creationId xmlns:a16="http://schemas.microsoft.com/office/drawing/2014/main" id="{012F7098-08CB-B449-867B-E48351BC4D00}"/>
                </a:ext>
              </a:extLst>
            </p:cNvPr>
            <p:cNvSpPr/>
            <p:nvPr/>
          </p:nvSpPr>
          <p:spPr>
            <a:xfrm>
              <a:off x="8963828" y="407710"/>
              <a:ext cx="1443978" cy="1939854"/>
            </a:xfrm>
            <a:prstGeom prst="rect">
              <a:avLst/>
            </a:prstGeom>
            <a:noFill/>
            <a:ln w="57150">
              <a:solidFill>
                <a:srgbClr val="2063F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graphicFrame>
        <p:nvGraphicFramePr>
          <p:cNvPr id="23" name="表格 9">
            <a:extLst>
              <a:ext uri="{FF2B5EF4-FFF2-40B4-BE49-F238E27FC236}">
                <a16:creationId xmlns:a16="http://schemas.microsoft.com/office/drawing/2014/main" id="{F10D6866-FB53-C04B-91EA-F529AA5408AC}"/>
              </a:ext>
            </a:extLst>
          </p:cNvPr>
          <p:cNvGraphicFramePr>
            <a:graphicFrameLocks noGrp="1"/>
          </p:cNvGraphicFramePr>
          <p:nvPr>
            <p:extLst>
              <p:ext uri="{D42A27DB-BD31-4B8C-83A1-F6EECF244321}">
                <p14:modId xmlns:p14="http://schemas.microsoft.com/office/powerpoint/2010/main" val="2789648408"/>
              </p:ext>
            </p:extLst>
          </p:nvPr>
        </p:nvGraphicFramePr>
        <p:xfrm>
          <a:off x="5875255" y="3706612"/>
          <a:ext cx="3969009" cy="3053732"/>
        </p:xfrm>
        <a:graphic>
          <a:graphicData uri="http://schemas.openxmlformats.org/drawingml/2006/table">
            <a:tbl>
              <a:tblPr firstRow="1" bandRow="1">
                <a:tableStyleId>{5940675A-B579-460E-94D1-54222C63F5DA}</a:tableStyleId>
              </a:tblPr>
              <a:tblGrid>
                <a:gridCol w="360819">
                  <a:extLst>
                    <a:ext uri="{9D8B030D-6E8A-4147-A177-3AD203B41FA5}">
                      <a16:colId xmlns:a16="http://schemas.microsoft.com/office/drawing/2014/main" val="4155089078"/>
                    </a:ext>
                  </a:extLst>
                </a:gridCol>
                <a:gridCol w="360819">
                  <a:extLst>
                    <a:ext uri="{9D8B030D-6E8A-4147-A177-3AD203B41FA5}">
                      <a16:colId xmlns:a16="http://schemas.microsoft.com/office/drawing/2014/main" val="2645048371"/>
                    </a:ext>
                  </a:extLst>
                </a:gridCol>
                <a:gridCol w="360819">
                  <a:extLst>
                    <a:ext uri="{9D8B030D-6E8A-4147-A177-3AD203B41FA5}">
                      <a16:colId xmlns:a16="http://schemas.microsoft.com/office/drawing/2014/main" val="4032559764"/>
                    </a:ext>
                  </a:extLst>
                </a:gridCol>
                <a:gridCol w="360819">
                  <a:extLst>
                    <a:ext uri="{9D8B030D-6E8A-4147-A177-3AD203B41FA5}">
                      <a16:colId xmlns:a16="http://schemas.microsoft.com/office/drawing/2014/main" val="3705653430"/>
                    </a:ext>
                  </a:extLst>
                </a:gridCol>
                <a:gridCol w="360819">
                  <a:extLst>
                    <a:ext uri="{9D8B030D-6E8A-4147-A177-3AD203B41FA5}">
                      <a16:colId xmlns:a16="http://schemas.microsoft.com/office/drawing/2014/main" val="2431619954"/>
                    </a:ext>
                  </a:extLst>
                </a:gridCol>
                <a:gridCol w="360819">
                  <a:extLst>
                    <a:ext uri="{9D8B030D-6E8A-4147-A177-3AD203B41FA5}">
                      <a16:colId xmlns:a16="http://schemas.microsoft.com/office/drawing/2014/main" val="1723677336"/>
                    </a:ext>
                  </a:extLst>
                </a:gridCol>
                <a:gridCol w="360819">
                  <a:extLst>
                    <a:ext uri="{9D8B030D-6E8A-4147-A177-3AD203B41FA5}">
                      <a16:colId xmlns:a16="http://schemas.microsoft.com/office/drawing/2014/main" val="3882517015"/>
                    </a:ext>
                  </a:extLst>
                </a:gridCol>
                <a:gridCol w="360819">
                  <a:extLst>
                    <a:ext uri="{9D8B030D-6E8A-4147-A177-3AD203B41FA5}">
                      <a16:colId xmlns:a16="http://schemas.microsoft.com/office/drawing/2014/main" val="2928903939"/>
                    </a:ext>
                  </a:extLst>
                </a:gridCol>
                <a:gridCol w="360819">
                  <a:extLst>
                    <a:ext uri="{9D8B030D-6E8A-4147-A177-3AD203B41FA5}">
                      <a16:colId xmlns:a16="http://schemas.microsoft.com/office/drawing/2014/main" val="3637278788"/>
                    </a:ext>
                  </a:extLst>
                </a:gridCol>
                <a:gridCol w="360819">
                  <a:extLst>
                    <a:ext uri="{9D8B030D-6E8A-4147-A177-3AD203B41FA5}">
                      <a16:colId xmlns:a16="http://schemas.microsoft.com/office/drawing/2014/main" val="15580358"/>
                    </a:ext>
                  </a:extLst>
                </a:gridCol>
                <a:gridCol w="360819">
                  <a:extLst>
                    <a:ext uri="{9D8B030D-6E8A-4147-A177-3AD203B41FA5}">
                      <a16:colId xmlns:a16="http://schemas.microsoft.com/office/drawing/2014/main" val="819262444"/>
                    </a:ext>
                  </a:extLst>
                </a:gridCol>
              </a:tblGrid>
              <a:tr h="277612">
                <a:tc>
                  <a:txBody>
                    <a:bodyPr/>
                    <a:lstStyle/>
                    <a:p>
                      <a:pPr algn="ctr"/>
                      <a:endParaRPr lang="zh-TW" altLang="en-US" sz="1200" dirty="0">
                        <a:solidFill>
                          <a:schemeClr val="bg1">
                            <a:lumMod val="75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1</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2</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3</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4</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5</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6</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7</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8</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9</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dirty="0"/>
                        <a:t>10</a:t>
                      </a:r>
                      <a:endParaRPr lang="zh-TW" altLang="en-US" sz="120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3636976"/>
                  </a:ext>
                </a:extLst>
              </a:tr>
              <a:tr h="277612">
                <a:tc>
                  <a:txBody>
                    <a:bodyPr/>
                    <a:lstStyle/>
                    <a:p>
                      <a:pPr algn="r"/>
                      <a:r>
                        <a:rPr lang="en-US" altLang="zh-TW" sz="1200" dirty="0">
                          <a:solidFill>
                            <a:schemeClr val="tx1"/>
                          </a:solidFill>
                        </a:rPr>
                        <a:t>1</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1876002"/>
                  </a:ext>
                </a:extLst>
              </a:tr>
              <a:tr h="277612">
                <a:tc>
                  <a:txBody>
                    <a:bodyPr/>
                    <a:lstStyle/>
                    <a:p>
                      <a:pPr algn="r"/>
                      <a:r>
                        <a:rPr lang="en-US" altLang="zh-TW" sz="1200" dirty="0">
                          <a:solidFill>
                            <a:schemeClr val="tx1"/>
                          </a:solidFill>
                        </a:rPr>
                        <a:t>2</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6652963"/>
                  </a:ext>
                </a:extLst>
              </a:tr>
              <a:tr h="277612">
                <a:tc>
                  <a:txBody>
                    <a:bodyPr/>
                    <a:lstStyle/>
                    <a:p>
                      <a:pPr algn="r"/>
                      <a:r>
                        <a:rPr lang="en-US" altLang="zh-TW" sz="1200" dirty="0">
                          <a:solidFill>
                            <a:schemeClr val="tx1"/>
                          </a:solidFill>
                        </a:rPr>
                        <a:t>3</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-4</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902900678"/>
                  </a:ext>
                </a:extLst>
              </a:tr>
              <a:tr h="277612">
                <a:tc>
                  <a:txBody>
                    <a:bodyPr/>
                    <a:lstStyle/>
                    <a:p>
                      <a:pPr algn="r"/>
                      <a:r>
                        <a:rPr lang="en-US" altLang="zh-TW" sz="1200" dirty="0">
                          <a:solidFill>
                            <a:schemeClr val="tx1"/>
                          </a:solidFill>
                        </a:rPr>
                        <a:t>4</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4202923"/>
                  </a:ext>
                </a:extLst>
              </a:tr>
              <a:tr h="277612">
                <a:tc>
                  <a:txBody>
                    <a:bodyPr/>
                    <a:lstStyle/>
                    <a:p>
                      <a:pPr algn="r"/>
                      <a:r>
                        <a:rPr lang="en-US" altLang="zh-TW" sz="1200" dirty="0">
                          <a:solidFill>
                            <a:schemeClr val="tx1"/>
                          </a:solidFill>
                        </a:rPr>
                        <a:t>5</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551547"/>
                  </a:ext>
                </a:extLst>
              </a:tr>
              <a:tr h="277612">
                <a:tc>
                  <a:txBody>
                    <a:bodyPr/>
                    <a:lstStyle/>
                    <a:p>
                      <a:pPr algn="r"/>
                      <a:r>
                        <a:rPr lang="en-US" altLang="zh-TW" sz="1200" dirty="0">
                          <a:solidFill>
                            <a:schemeClr val="tx1"/>
                          </a:solidFill>
                        </a:rPr>
                        <a:t>6</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6500749"/>
                  </a:ext>
                </a:extLst>
              </a:tr>
              <a:tr h="277612">
                <a:tc>
                  <a:txBody>
                    <a:bodyPr/>
                    <a:lstStyle/>
                    <a:p>
                      <a:pPr algn="r"/>
                      <a:r>
                        <a:rPr lang="en-US" altLang="zh-TW" sz="1200" dirty="0">
                          <a:solidFill>
                            <a:schemeClr val="tx1"/>
                          </a:solidFill>
                        </a:rPr>
                        <a:t>7</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tx1"/>
                          </a:solidFill>
                        </a:rPr>
                        <a:t>-3</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1200" dirty="0">
                          <a:solidFill>
                            <a:schemeClr val="tx1"/>
                          </a:solidFill>
                        </a:rPr>
                        <a:t>1</a:t>
                      </a: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516437989"/>
                  </a:ext>
                </a:extLst>
              </a:tr>
              <a:tr h="277612">
                <a:tc>
                  <a:txBody>
                    <a:bodyPr/>
                    <a:lstStyle/>
                    <a:p>
                      <a:pPr algn="r"/>
                      <a:r>
                        <a:rPr lang="en-US" altLang="zh-TW" sz="1200" dirty="0">
                          <a:solidFill>
                            <a:schemeClr val="tx1"/>
                          </a:solidFill>
                        </a:rPr>
                        <a:t>8</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81405"/>
                  </a:ext>
                </a:extLst>
              </a:tr>
              <a:tr h="277612">
                <a:tc>
                  <a:txBody>
                    <a:bodyPr/>
                    <a:lstStyle/>
                    <a:p>
                      <a:pPr algn="r"/>
                      <a:r>
                        <a:rPr lang="en-US" altLang="zh-TW" sz="1200" dirty="0">
                          <a:solidFill>
                            <a:schemeClr val="tx1"/>
                          </a:solidFill>
                        </a:rPr>
                        <a:t>9</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1374388"/>
                  </a:ext>
                </a:extLst>
              </a:tr>
              <a:tr h="277612">
                <a:tc>
                  <a:txBody>
                    <a:bodyPr/>
                    <a:lstStyle/>
                    <a:p>
                      <a:pPr algn="r"/>
                      <a:r>
                        <a:rPr lang="en-US" altLang="zh-TW" sz="1200" dirty="0">
                          <a:solidFill>
                            <a:schemeClr val="tx1"/>
                          </a:solidFill>
                        </a:rPr>
                        <a:t>10</a:t>
                      </a:r>
                      <a:endParaRPr lang="zh-TW" altLang="en-US" sz="12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7351516"/>
                  </a:ext>
                </a:extLst>
              </a:tr>
            </a:tbl>
          </a:graphicData>
        </a:graphic>
      </p:graphicFrame>
      <p:grpSp>
        <p:nvGrpSpPr>
          <p:cNvPr id="24" name="群組 23">
            <a:extLst>
              <a:ext uri="{FF2B5EF4-FFF2-40B4-BE49-F238E27FC236}">
                <a16:creationId xmlns:a16="http://schemas.microsoft.com/office/drawing/2014/main" id="{65EE260A-EC26-7441-A45E-344D6060ACC3}"/>
              </a:ext>
            </a:extLst>
          </p:cNvPr>
          <p:cNvGrpSpPr/>
          <p:nvPr/>
        </p:nvGrpSpPr>
        <p:grpSpPr>
          <a:xfrm>
            <a:off x="7688984" y="3990276"/>
            <a:ext cx="2167575" cy="1939854"/>
            <a:chOff x="2503119" y="3828880"/>
            <a:chExt cx="2167575" cy="1939854"/>
          </a:xfrm>
        </p:grpSpPr>
        <p:sp>
          <p:nvSpPr>
            <p:cNvPr id="25" name="矩形 24">
              <a:extLst>
                <a:ext uri="{FF2B5EF4-FFF2-40B4-BE49-F238E27FC236}">
                  <a16:creationId xmlns:a16="http://schemas.microsoft.com/office/drawing/2014/main" id="{32B49470-7E9D-B74C-A399-E54E3AEFCF12}"/>
                </a:ext>
              </a:extLst>
            </p:cNvPr>
            <p:cNvSpPr/>
            <p:nvPr/>
          </p:nvSpPr>
          <p:spPr>
            <a:xfrm>
              <a:off x="2503119" y="3838830"/>
              <a:ext cx="2167575" cy="826349"/>
            </a:xfrm>
            <a:prstGeom prst="rect">
              <a:avLst/>
            </a:prstGeom>
            <a:noFill/>
            <a:ln w="57150">
              <a:solidFill>
                <a:srgbClr val="1C7E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 name="矩形 25">
              <a:extLst>
                <a:ext uri="{FF2B5EF4-FFF2-40B4-BE49-F238E27FC236}">
                  <a16:creationId xmlns:a16="http://schemas.microsoft.com/office/drawing/2014/main" id="{57DEEB96-CF1F-A244-AE76-C3EFFC494BEA}"/>
                </a:ext>
              </a:extLst>
            </p:cNvPr>
            <p:cNvSpPr/>
            <p:nvPr/>
          </p:nvSpPr>
          <p:spPr>
            <a:xfrm>
              <a:off x="3226716" y="3828880"/>
              <a:ext cx="1443978" cy="1939854"/>
            </a:xfrm>
            <a:prstGeom prst="rect">
              <a:avLst/>
            </a:prstGeom>
            <a:noFill/>
            <a:ln w="57150">
              <a:solidFill>
                <a:srgbClr val="2063F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pic>
        <p:nvPicPr>
          <p:cNvPr id="27" name="圖片 26">
            <a:extLst>
              <a:ext uri="{FF2B5EF4-FFF2-40B4-BE49-F238E27FC236}">
                <a16:creationId xmlns:a16="http://schemas.microsoft.com/office/drawing/2014/main" id="{C15F14AD-BD07-204C-96BD-AD28FACA3345}"/>
              </a:ext>
            </a:extLst>
          </p:cNvPr>
          <p:cNvPicPr>
            <a:picLocks noChangeAspect="1"/>
          </p:cNvPicPr>
          <p:nvPr/>
        </p:nvPicPr>
        <p:blipFill>
          <a:blip r:embed="rId5"/>
          <a:stretch>
            <a:fillRect/>
          </a:stretch>
        </p:blipFill>
        <p:spPr>
          <a:xfrm>
            <a:off x="838200" y="2733986"/>
            <a:ext cx="9793794" cy="668580"/>
          </a:xfrm>
          <a:prstGeom prst="rect">
            <a:avLst/>
          </a:prstGeom>
        </p:spPr>
      </p:pic>
    </p:spTree>
    <p:extLst>
      <p:ext uri="{BB962C8B-B14F-4D97-AF65-F5344CB8AC3E}">
        <p14:creationId xmlns:p14="http://schemas.microsoft.com/office/powerpoint/2010/main" val="3109071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Lemma : Basic properties</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8</a:t>
            </a:fld>
            <a:endParaRPr kumimoji="1" lang="zh-TW" altLang="en-US"/>
          </a:p>
        </p:txBody>
      </p:sp>
      <p:pic>
        <p:nvPicPr>
          <p:cNvPr id="15" name="圖片 14">
            <a:extLst>
              <a:ext uri="{FF2B5EF4-FFF2-40B4-BE49-F238E27FC236}">
                <a16:creationId xmlns:a16="http://schemas.microsoft.com/office/drawing/2014/main" id="{431EEF56-FB45-2341-9354-861939D751EC}"/>
              </a:ext>
            </a:extLst>
          </p:cNvPr>
          <p:cNvPicPr>
            <a:picLocks noChangeAspect="1"/>
          </p:cNvPicPr>
          <p:nvPr/>
        </p:nvPicPr>
        <p:blipFill>
          <a:blip r:embed="rId2"/>
          <a:stretch>
            <a:fillRect/>
          </a:stretch>
        </p:blipFill>
        <p:spPr>
          <a:xfrm>
            <a:off x="905854" y="4254375"/>
            <a:ext cx="10582478" cy="1477188"/>
          </a:xfrm>
          <a:prstGeom prst="rect">
            <a:avLst/>
          </a:prstGeom>
        </p:spPr>
      </p:pic>
      <p:pic>
        <p:nvPicPr>
          <p:cNvPr id="16" name="圖片 15">
            <a:extLst>
              <a:ext uri="{FF2B5EF4-FFF2-40B4-BE49-F238E27FC236}">
                <a16:creationId xmlns:a16="http://schemas.microsoft.com/office/drawing/2014/main" id="{ADD009C6-D0BD-3847-92F2-41644A712CDF}"/>
              </a:ext>
            </a:extLst>
          </p:cNvPr>
          <p:cNvPicPr>
            <a:picLocks noChangeAspect="1"/>
          </p:cNvPicPr>
          <p:nvPr/>
        </p:nvPicPr>
        <p:blipFill>
          <a:blip r:embed="rId3"/>
          <a:stretch>
            <a:fillRect/>
          </a:stretch>
        </p:blipFill>
        <p:spPr>
          <a:xfrm>
            <a:off x="905854" y="5641391"/>
            <a:ext cx="8147009" cy="626693"/>
          </a:xfrm>
          <a:prstGeom prst="rect">
            <a:avLst/>
          </a:prstGeom>
        </p:spPr>
      </p:pic>
      <p:graphicFrame>
        <p:nvGraphicFramePr>
          <p:cNvPr id="17" name="表格 9">
            <a:extLst>
              <a:ext uri="{FF2B5EF4-FFF2-40B4-BE49-F238E27FC236}">
                <a16:creationId xmlns:a16="http://schemas.microsoft.com/office/drawing/2014/main" id="{E496E664-2E59-AC42-AC5D-F663CC0F2595}"/>
              </a:ext>
            </a:extLst>
          </p:cNvPr>
          <p:cNvGraphicFramePr>
            <a:graphicFrameLocks noGrp="1"/>
          </p:cNvGraphicFramePr>
          <p:nvPr>
            <p:extLst>
              <p:ext uri="{D42A27DB-BD31-4B8C-83A1-F6EECF244321}">
                <p14:modId xmlns:p14="http://schemas.microsoft.com/office/powerpoint/2010/main" val="4251460372"/>
              </p:ext>
            </p:extLst>
          </p:nvPr>
        </p:nvGraphicFramePr>
        <p:xfrm>
          <a:off x="7450174" y="136525"/>
          <a:ext cx="4403653" cy="3331344"/>
        </p:xfrm>
        <a:graphic>
          <a:graphicData uri="http://schemas.openxmlformats.org/drawingml/2006/table">
            <a:tbl>
              <a:tblPr firstRow="1" bandRow="1">
                <a:tableStyleId>{5940675A-B579-460E-94D1-54222C63F5DA}</a:tableStyleId>
              </a:tblPr>
              <a:tblGrid>
                <a:gridCol w="434644">
                  <a:extLst>
                    <a:ext uri="{9D8B030D-6E8A-4147-A177-3AD203B41FA5}">
                      <a16:colId xmlns:a16="http://schemas.microsoft.com/office/drawing/2014/main" val="1335027112"/>
                    </a:ext>
                  </a:extLst>
                </a:gridCol>
                <a:gridCol w="360819">
                  <a:extLst>
                    <a:ext uri="{9D8B030D-6E8A-4147-A177-3AD203B41FA5}">
                      <a16:colId xmlns:a16="http://schemas.microsoft.com/office/drawing/2014/main" val="4155089078"/>
                    </a:ext>
                  </a:extLst>
                </a:gridCol>
                <a:gridCol w="360819">
                  <a:extLst>
                    <a:ext uri="{9D8B030D-6E8A-4147-A177-3AD203B41FA5}">
                      <a16:colId xmlns:a16="http://schemas.microsoft.com/office/drawing/2014/main" val="2645048371"/>
                    </a:ext>
                  </a:extLst>
                </a:gridCol>
                <a:gridCol w="360819">
                  <a:extLst>
                    <a:ext uri="{9D8B030D-6E8A-4147-A177-3AD203B41FA5}">
                      <a16:colId xmlns:a16="http://schemas.microsoft.com/office/drawing/2014/main" val="4032559764"/>
                    </a:ext>
                  </a:extLst>
                </a:gridCol>
                <a:gridCol w="360819">
                  <a:extLst>
                    <a:ext uri="{9D8B030D-6E8A-4147-A177-3AD203B41FA5}">
                      <a16:colId xmlns:a16="http://schemas.microsoft.com/office/drawing/2014/main" val="3705653430"/>
                    </a:ext>
                  </a:extLst>
                </a:gridCol>
                <a:gridCol w="360819">
                  <a:extLst>
                    <a:ext uri="{9D8B030D-6E8A-4147-A177-3AD203B41FA5}">
                      <a16:colId xmlns:a16="http://schemas.microsoft.com/office/drawing/2014/main" val="2431619954"/>
                    </a:ext>
                  </a:extLst>
                </a:gridCol>
                <a:gridCol w="360819">
                  <a:extLst>
                    <a:ext uri="{9D8B030D-6E8A-4147-A177-3AD203B41FA5}">
                      <a16:colId xmlns:a16="http://schemas.microsoft.com/office/drawing/2014/main" val="1723677336"/>
                    </a:ext>
                  </a:extLst>
                </a:gridCol>
                <a:gridCol w="360819">
                  <a:extLst>
                    <a:ext uri="{9D8B030D-6E8A-4147-A177-3AD203B41FA5}">
                      <a16:colId xmlns:a16="http://schemas.microsoft.com/office/drawing/2014/main" val="3882517015"/>
                    </a:ext>
                  </a:extLst>
                </a:gridCol>
                <a:gridCol w="360819">
                  <a:extLst>
                    <a:ext uri="{9D8B030D-6E8A-4147-A177-3AD203B41FA5}">
                      <a16:colId xmlns:a16="http://schemas.microsoft.com/office/drawing/2014/main" val="2928903939"/>
                    </a:ext>
                  </a:extLst>
                </a:gridCol>
                <a:gridCol w="360819">
                  <a:extLst>
                    <a:ext uri="{9D8B030D-6E8A-4147-A177-3AD203B41FA5}">
                      <a16:colId xmlns:a16="http://schemas.microsoft.com/office/drawing/2014/main" val="3637278788"/>
                    </a:ext>
                  </a:extLst>
                </a:gridCol>
                <a:gridCol w="360819">
                  <a:extLst>
                    <a:ext uri="{9D8B030D-6E8A-4147-A177-3AD203B41FA5}">
                      <a16:colId xmlns:a16="http://schemas.microsoft.com/office/drawing/2014/main" val="15580358"/>
                    </a:ext>
                  </a:extLst>
                </a:gridCol>
                <a:gridCol w="360819">
                  <a:extLst>
                    <a:ext uri="{9D8B030D-6E8A-4147-A177-3AD203B41FA5}">
                      <a16:colId xmlns:a16="http://schemas.microsoft.com/office/drawing/2014/main" val="819262444"/>
                    </a:ext>
                  </a:extLst>
                </a:gridCol>
              </a:tblGrid>
              <a:tr h="277612">
                <a:tc>
                  <a:txBody>
                    <a:bodyPr/>
                    <a:lstStyle/>
                    <a:p>
                      <a:pPr algn="ctr"/>
                      <a:endParaRPr lang="zh-TW" altLang="en-US" sz="12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t>0</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1</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2</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3</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4</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5</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6</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7</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8</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200" dirty="0"/>
                        <a:t>9</a:t>
                      </a:r>
                      <a:endParaRPr lang="zh-TW" altLang="en-US" sz="12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000" dirty="0"/>
                        <a:t>10</a:t>
                      </a:r>
                      <a:endParaRPr lang="zh-TW" altLang="en-US" sz="10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56909903"/>
                  </a:ext>
                </a:extLst>
              </a:tr>
              <a:tr h="277612">
                <a:tc>
                  <a:txBody>
                    <a:bodyPr/>
                    <a:lstStyle/>
                    <a:p>
                      <a:pPr algn="r"/>
                      <a:r>
                        <a:rPr lang="en-US" altLang="zh-TW" sz="1200" dirty="0"/>
                        <a:t>0</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3636976"/>
                  </a:ext>
                </a:extLst>
              </a:tr>
              <a:tr h="277612">
                <a:tc>
                  <a:txBody>
                    <a:bodyPr/>
                    <a:lstStyle/>
                    <a:p>
                      <a:pPr algn="r"/>
                      <a:r>
                        <a:rPr lang="en-US" altLang="zh-TW" sz="1200" dirty="0"/>
                        <a:t>1</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1876002"/>
                  </a:ext>
                </a:extLst>
              </a:tr>
              <a:tr h="277612">
                <a:tc>
                  <a:txBody>
                    <a:bodyPr/>
                    <a:lstStyle/>
                    <a:p>
                      <a:pPr algn="r"/>
                      <a:r>
                        <a:rPr lang="en-US" altLang="zh-TW" sz="1200" dirty="0"/>
                        <a:t>2</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01</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6652963"/>
                  </a:ext>
                </a:extLst>
              </a:tr>
              <a:tr h="277612">
                <a:tc>
                  <a:txBody>
                    <a:bodyPr/>
                    <a:lstStyle/>
                    <a:p>
                      <a:pPr algn="r"/>
                      <a:r>
                        <a:rPr lang="en-US" altLang="zh-TW" sz="1200" dirty="0"/>
                        <a:t>3</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2900678"/>
                  </a:ext>
                </a:extLst>
              </a:tr>
              <a:tr h="277612">
                <a:tc>
                  <a:txBody>
                    <a:bodyPr/>
                    <a:lstStyle/>
                    <a:p>
                      <a:pPr algn="r"/>
                      <a:r>
                        <a:rPr lang="en-US" altLang="zh-TW" sz="1200" dirty="0"/>
                        <a:t>4</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4202923"/>
                  </a:ext>
                </a:extLst>
              </a:tr>
              <a:tr h="277612">
                <a:tc>
                  <a:txBody>
                    <a:bodyPr/>
                    <a:lstStyle/>
                    <a:p>
                      <a:pPr algn="r"/>
                      <a:r>
                        <a:rPr lang="en-US" altLang="zh-TW" sz="1200" dirty="0"/>
                        <a:t>5</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551547"/>
                  </a:ext>
                </a:extLst>
              </a:tr>
              <a:tr h="277612">
                <a:tc>
                  <a:txBody>
                    <a:bodyPr/>
                    <a:lstStyle/>
                    <a:p>
                      <a:pPr algn="r"/>
                      <a:r>
                        <a:rPr lang="en-US" altLang="zh-TW" sz="1200" dirty="0"/>
                        <a:t>6</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02</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6500749"/>
                  </a:ext>
                </a:extLst>
              </a:tr>
              <a:tr h="277612">
                <a:tc>
                  <a:txBody>
                    <a:bodyPr/>
                    <a:lstStyle/>
                    <a:p>
                      <a:pPr algn="r"/>
                      <a:r>
                        <a:rPr lang="en-US" altLang="zh-TW" sz="1200" dirty="0"/>
                        <a:t>7</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6437989"/>
                  </a:ext>
                </a:extLst>
              </a:tr>
              <a:tr h="277612">
                <a:tc>
                  <a:txBody>
                    <a:bodyPr/>
                    <a:lstStyle/>
                    <a:p>
                      <a:pPr algn="r"/>
                      <a:r>
                        <a:rPr lang="en-US" altLang="zh-TW" sz="1200" dirty="0"/>
                        <a:t>8</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81405"/>
                  </a:ext>
                </a:extLst>
              </a:tr>
              <a:tr h="277612">
                <a:tc>
                  <a:txBody>
                    <a:bodyPr/>
                    <a:lstStyle/>
                    <a:p>
                      <a:pPr algn="r"/>
                      <a:r>
                        <a:rPr lang="en-US" altLang="zh-TW" sz="1200" dirty="0"/>
                        <a:t>9</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t>0</a:t>
                      </a:r>
                      <a:endParaRPr lang="zh-TW" alt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1374388"/>
                  </a:ext>
                </a:extLst>
              </a:tr>
              <a:tr h="277612">
                <a:tc>
                  <a:txBody>
                    <a:bodyPr/>
                    <a:lstStyle/>
                    <a:p>
                      <a:pPr algn="r"/>
                      <a:r>
                        <a:rPr lang="en-US" altLang="zh-TW" sz="1200" dirty="0"/>
                        <a:t>10</a:t>
                      </a:r>
                      <a:endParaRPr lang="zh-TW" altLang="en-US" sz="12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6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200" dirty="0">
                          <a:solidFill>
                            <a:schemeClr val="bg1">
                              <a:lumMod val="75000"/>
                            </a:schemeClr>
                          </a:solidFill>
                        </a:rPr>
                        <a:t>0</a:t>
                      </a:r>
                      <a:endParaRPr lang="zh-TW" altLang="en-US" sz="1200" dirty="0">
                        <a:solidFill>
                          <a:schemeClr val="bg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7351516"/>
                  </a:ext>
                </a:extLst>
              </a:tr>
            </a:tbl>
          </a:graphicData>
        </a:graphic>
      </p:graphicFrame>
      <p:grpSp>
        <p:nvGrpSpPr>
          <p:cNvPr id="18" name="群組 17">
            <a:extLst>
              <a:ext uri="{FF2B5EF4-FFF2-40B4-BE49-F238E27FC236}">
                <a16:creationId xmlns:a16="http://schemas.microsoft.com/office/drawing/2014/main" id="{846EBEA0-3154-0A4B-B939-C7084779422D}"/>
              </a:ext>
            </a:extLst>
          </p:cNvPr>
          <p:cNvGrpSpPr/>
          <p:nvPr/>
        </p:nvGrpSpPr>
        <p:grpSpPr>
          <a:xfrm>
            <a:off x="9686251" y="433374"/>
            <a:ext cx="2167575" cy="1939854"/>
            <a:chOff x="8240231" y="3686980"/>
            <a:chExt cx="2167575" cy="1939854"/>
          </a:xfrm>
        </p:grpSpPr>
        <p:sp>
          <p:nvSpPr>
            <p:cNvPr id="19" name="矩形 18">
              <a:extLst>
                <a:ext uri="{FF2B5EF4-FFF2-40B4-BE49-F238E27FC236}">
                  <a16:creationId xmlns:a16="http://schemas.microsoft.com/office/drawing/2014/main" id="{919B6C07-9472-4C48-B2F1-4C61787B6907}"/>
                </a:ext>
              </a:extLst>
            </p:cNvPr>
            <p:cNvSpPr/>
            <p:nvPr/>
          </p:nvSpPr>
          <p:spPr>
            <a:xfrm>
              <a:off x="8240231" y="3696930"/>
              <a:ext cx="2167575" cy="826349"/>
            </a:xfrm>
            <a:prstGeom prst="rect">
              <a:avLst/>
            </a:prstGeom>
            <a:noFill/>
            <a:ln w="57150">
              <a:solidFill>
                <a:srgbClr val="1C7E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 name="矩形 19">
              <a:extLst>
                <a:ext uri="{FF2B5EF4-FFF2-40B4-BE49-F238E27FC236}">
                  <a16:creationId xmlns:a16="http://schemas.microsoft.com/office/drawing/2014/main" id="{F029464F-2996-F244-A5BB-F142B15C78AB}"/>
                </a:ext>
              </a:extLst>
            </p:cNvPr>
            <p:cNvSpPr/>
            <p:nvPr/>
          </p:nvSpPr>
          <p:spPr>
            <a:xfrm>
              <a:off x="8963828" y="3686980"/>
              <a:ext cx="1443978" cy="1939854"/>
            </a:xfrm>
            <a:prstGeom prst="rect">
              <a:avLst/>
            </a:prstGeom>
            <a:noFill/>
            <a:ln w="57150">
              <a:solidFill>
                <a:srgbClr val="2063F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pic>
        <p:nvPicPr>
          <p:cNvPr id="10" name="圖片 9">
            <a:extLst>
              <a:ext uri="{FF2B5EF4-FFF2-40B4-BE49-F238E27FC236}">
                <a16:creationId xmlns:a16="http://schemas.microsoft.com/office/drawing/2014/main" id="{CF5C4F02-245C-FF4C-9555-18EF872B948D}"/>
              </a:ext>
            </a:extLst>
          </p:cNvPr>
          <p:cNvPicPr>
            <a:picLocks noChangeAspect="1"/>
          </p:cNvPicPr>
          <p:nvPr/>
        </p:nvPicPr>
        <p:blipFill>
          <a:blip r:embed="rId4"/>
          <a:stretch>
            <a:fillRect/>
          </a:stretch>
        </p:blipFill>
        <p:spPr>
          <a:xfrm>
            <a:off x="838200" y="1418298"/>
            <a:ext cx="8076082" cy="2669962"/>
          </a:xfrm>
          <a:prstGeom prst="rect">
            <a:avLst/>
          </a:prstGeom>
        </p:spPr>
      </p:pic>
    </p:spTree>
    <p:extLst>
      <p:ext uri="{BB962C8B-B14F-4D97-AF65-F5344CB8AC3E}">
        <p14:creationId xmlns:p14="http://schemas.microsoft.com/office/powerpoint/2010/main" val="850256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Lemma : Basic properties</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9</a:t>
            </a:fld>
            <a:endParaRPr kumimoji="1" lang="zh-TW" altLang="en-US"/>
          </a:p>
        </p:txBody>
      </p:sp>
      <p:pic>
        <p:nvPicPr>
          <p:cNvPr id="9" name="圖片 8">
            <a:extLst>
              <a:ext uri="{FF2B5EF4-FFF2-40B4-BE49-F238E27FC236}">
                <a16:creationId xmlns:a16="http://schemas.microsoft.com/office/drawing/2014/main" id="{C1DE1AB8-507B-E949-9D01-F1B8D22C1882}"/>
              </a:ext>
            </a:extLst>
          </p:cNvPr>
          <p:cNvPicPr>
            <a:picLocks noChangeAspect="1"/>
          </p:cNvPicPr>
          <p:nvPr/>
        </p:nvPicPr>
        <p:blipFill>
          <a:blip r:embed="rId2"/>
          <a:stretch>
            <a:fillRect/>
          </a:stretch>
        </p:blipFill>
        <p:spPr>
          <a:xfrm>
            <a:off x="939357" y="1796684"/>
            <a:ext cx="8417059" cy="507926"/>
          </a:xfrm>
          <a:prstGeom prst="rect">
            <a:avLst/>
          </a:prstGeom>
        </p:spPr>
      </p:pic>
      <p:pic>
        <p:nvPicPr>
          <p:cNvPr id="10" name="圖片 9">
            <a:extLst>
              <a:ext uri="{FF2B5EF4-FFF2-40B4-BE49-F238E27FC236}">
                <a16:creationId xmlns:a16="http://schemas.microsoft.com/office/drawing/2014/main" id="{F4C3DBB8-42EA-B145-AB3E-621F45B8C5BD}"/>
              </a:ext>
            </a:extLst>
          </p:cNvPr>
          <p:cNvPicPr>
            <a:picLocks noChangeAspect="1"/>
          </p:cNvPicPr>
          <p:nvPr/>
        </p:nvPicPr>
        <p:blipFill>
          <a:blip r:embed="rId3"/>
          <a:stretch>
            <a:fillRect/>
          </a:stretch>
        </p:blipFill>
        <p:spPr>
          <a:xfrm>
            <a:off x="939357" y="2331398"/>
            <a:ext cx="6833043" cy="597567"/>
          </a:xfrm>
          <a:prstGeom prst="rect">
            <a:avLst/>
          </a:prstGeom>
        </p:spPr>
      </p:pic>
      <p:pic>
        <p:nvPicPr>
          <p:cNvPr id="11" name="圖片 10">
            <a:extLst>
              <a:ext uri="{FF2B5EF4-FFF2-40B4-BE49-F238E27FC236}">
                <a16:creationId xmlns:a16="http://schemas.microsoft.com/office/drawing/2014/main" id="{CAEBF1B4-6FD7-9A46-8D13-4E74B2BDEB8B}"/>
              </a:ext>
            </a:extLst>
          </p:cNvPr>
          <p:cNvPicPr>
            <a:picLocks noChangeAspect="1"/>
          </p:cNvPicPr>
          <p:nvPr/>
        </p:nvPicPr>
        <p:blipFill>
          <a:blip r:embed="rId4"/>
          <a:stretch>
            <a:fillRect/>
          </a:stretch>
        </p:blipFill>
        <p:spPr>
          <a:xfrm>
            <a:off x="939357" y="2955754"/>
            <a:ext cx="10476312" cy="1318529"/>
          </a:xfrm>
          <a:prstGeom prst="rect">
            <a:avLst/>
          </a:prstGeom>
        </p:spPr>
      </p:pic>
      <p:pic>
        <p:nvPicPr>
          <p:cNvPr id="12" name="圖片 11">
            <a:extLst>
              <a:ext uri="{FF2B5EF4-FFF2-40B4-BE49-F238E27FC236}">
                <a16:creationId xmlns:a16="http://schemas.microsoft.com/office/drawing/2014/main" id="{15AD9B3B-334A-B84D-BE4E-9DC96784DDB2}"/>
              </a:ext>
            </a:extLst>
          </p:cNvPr>
          <p:cNvPicPr>
            <a:picLocks noChangeAspect="1"/>
          </p:cNvPicPr>
          <p:nvPr/>
        </p:nvPicPr>
        <p:blipFill>
          <a:blip r:embed="rId5"/>
          <a:stretch>
            <a:fillRect/>
          </a:stretch>
        </p:blipFill>
        <p:spPr>
          <a:xfrm>
            <a:off x="2250706" y="3870987"/>
            <a:ext cx="3845294" cy="2888660"/>
          </a:xfrm>
          <a:prstGeom prst="rect">
            <a:avLst/>
          </a:prstGeom>
        </p:spPr>
      </p:pic>
      <p:sp>
        <p:nvSpPr>
          <p:cNvPr id="13" name="矩形 12">
            <a:extLst>
              <a:ext uri="{FF2B5EF4-FFF2-40B4-BE49-F238E27FC236}">
                <a16:creationId xmlns:a16="http://schemas.microsoft.com/office/drawing/2014/main" id="{1325175A-483F-D74C-84E1-383E2E88FE8D}"/>
              </a:ext>
            </a:extLst>
          </p:cNvPr>
          <p:cNvSpPr/>
          <p:nvPr/>
        </p:nvSpPr>
        <p:spPr>
          <a:xfrm>
            <a:off x="939357" y="1413958"/>
            <a:ext cx="5840060" cy="369332"/>
          </a:xfrm>
          <a:prstGeom prst="rect">
            <a:avLst/>
          </a:prstGeom>
        </p:spPr>
        <p:txBody>
          <a:bodyPr wrap="none">
            <a:spAutoFit/>
          </a:bodyPr>
          <a:lstStyle/>
          <a:p>
            <a:r>
              <a:rPr lang="en-US" altLang="zh-TW" i="1" dirty="0">
                <a:solidFill>
                  <a:srgbClr val="101010"/>
                </a:solidFill>
                <a:latin typeface="Times" pitchFamily="2" charset="0"/>
              </a:rPr>
              <a:t>D</a:t>
            </a:r>
            <a:r>
              <a:rPr lang="en-US" altLang="zh-TW" i="1" baseline="-25000" dirty="0">
                <a:solidFill>
                  <a:srgbClr val="101010"/>
                </a:solidFill>
                <a:latin typeface="Times" pitchFamily="2" charset="0"/>
              </a:rPr>
              <a:t>s</a:t>
            </a:r>
            <a:r>
              <a:rPr lang="en-US" altLang="zh-TW" dirty="0">
                <a:solidFill>
                  <a:srgbClr val="101010"/>
                </a:solidFill>
                <a:latin typeface="Helvetica" pitchFamily="2" charset="0"/>
              </a:rPr>
              <a:t>[</a:t>
            </a:r>
            <a:r>
              <a:rPr lang="en-US" altLang="zh-TW" i="1" dirty="0" err="1">
                <a:solidFill>
                  <a:srgbClr val="101010"/>
                </a:solidFill>
                <a:latin typeface="Times" pitchFamily="2" charset="0"/>
              </a:rPr>
              <a:t>i</a:t>
            </a:r>
            <a:r>
              <a:rPr lang="en-US" altLang="zh-TW" dirty="0" err="1">
                <a:solidFill>
                  <a:srgbClr val="101010"/>
                </a:solidFill>
                <a:latin typeface="Helvetica" pitchFamily="2" charset="0"/>
              </a:rPr>
              <a:t>,</a:t>
            </a:r>
            <a:r>
              <a:rPr lang="en-US" altLang="zh-TW" i="1" dirty="0" err="1">
                <a:solidFill>
                  <a:srgbClr val="101010"/>
                </a:solidFill>
                <a:latin typeface="Times" pitchFamily="2" charset="0"/>
              </a:rPr>
              <a:t>j</a:t>
            </a:r>
            <a:r>
              <a:rPr lang="en-US" altLang="zh-TW" dirty="0">
                <a:solidFill>
                  <a:srgbClr val="101010"/>
                </a:solidFill>
                <a:latin typeface="Helvetica" pitchFamily="2" charset="0"/>
              </a:rPr>
              <a:t>] </a:t>
            </a:r>
            <a:r>
              <a:rPr lang="en-US" altLang="zh-TW" dirty="0">
                <a:solidFill>
                  <a:srgbClr val="101010"/>
                </a:solidFill>
                <a:latin typeface="Times" pitchFamily="2" charset="0"/>
              </a:rPr>
              <a:t>is the maximum score of an </a:t>
            </a:r>
            <a:r>
              <a:rPr lang="en-US" altLang="zh-TW" i="1" dirty="0">
                <a:solidFill>
                  <a:srgbClr val="101010"/>
                </a:solidFill>
                <a:latin typeface="Times" pitchFamily="2" charset="0"/>
              </a:rPr>
              <a:t>s</a:t>
            </a:r>
            <a:r>
              <a:rPr lang="en-US" altLang="zh-TW" dirty="0">
                <a:solidFill>
                  <a:srgbClr val="101010"/>
                </a:solidFill>
                <a:latin typeface="Times" pitchFamily="2" charset="0"/>
              </a:rPr>
              <a:t>-path from </a:t>
            </a:r>
            <a:r>
              <a:rPr lang="en-US" altLang="zh-TW" dirty="0">
                <a:solidFill>
                  <a:srgbClr val="101010"/>
                </a:solidFill>
                <a:latin typeface="Helvetica" pitchFamily="2" charset="0"/>
              </a:rPr>
              <a:t>(</a:t>
            </a:r>
            <a:r>
              <a:rPr lang="en-US" altLang="zh-TW" dirty="0">
                <a:solidFill>
                  <a:srgbClr val="101010"/>
                </a:solidFill>
                <a:latin typeface="Times" pitchFamily="2" charset="0"/>
              </a:rPr>
              <a:t>0</a:t>
            </a:r>
            <a:r>
              <a:rPr lang="en-US" altLang="zh-TW" dirty="0">
                <a:solidFill>
                  <a:srgbClr val="101010"/>
                </a:solidFill>
                <a:latin typeface="Helvetica" pitchFamily="2" charset="0"/>
              </a:rPr>
              <a:t>,</a:t>
            </a:r>
            <a:r>
              <a:rPr lang="en-US" altLang="zh-TW" i="1" dirty="0">
                <a:solidFill>
                  <a:srgbClr val="101010"/>
                </a:solidFill>
                <a:latin typeface="Times" pitchFamily="2" charset="0"/>
              </a:rPr>
              <a:t>i</a:t>
            </a:r>
            <a:r>
              <a:rPr lang="en-US" altLang="zh-TW" dirty="0">
                <a:solidFill>
                  <a:srgbClr val="101010"/>
                </a:solidFill>
                <a:latin typeface="Helvetica" pitchFamily="2" charset="0"/>
              </a:rPr>
              <a:t>) </a:t>
            </a:r>
            <a:r>
              <a:rPr lang="en-US" altLang="zh-TW" dirty="0">
                <a:solidFill>
                  <a:srgbClr val="101010"/>
                </a:solidFill>
                <a:latin typeface="Times" pitchFamily="2" charset="0"/>
              </a:rPr>
              <a:t>to </a:t>
            </a:r>
            <a:r>
              <a:rPr lang="en-US" altLang="zh-TW" dirty="0">
                <a:solidFill>
                  <a:srgbClr val="101010"/>
                </a:solidFill>
                <a:latin typeface="Helvetica" pitchFamily="2" charset="0"/>
              </a:rPr>
              <a:t>(</a:t>
            </a:r>
            <a:r>
              <a:rPr lang="en-US" altLang="zh-TW" i="1" dirty="0">
                <a:solidFill>
                  <a:srgbClr val="101010"/>
                </a:solidFill>
                <a:latin typeface="Times" pitchFamily="2" charset="0"/>
              </a:rPr>
              <a:t>m</a:t>
            </a:r>
            <a:r>
              <a:rPr lang="en-US" altLang="zh-TW" dirty="0">
                <a:solidFill>
                  <a:srgbClr val="101010"/>
                </a:solidFill>
                <a:latin typeface="Helvetica" pitchFamily="2" charset="0"/>
              </a:rPr>
              <a:t>, </a:t>
            </a:r>
            <a:r>
              <a:rPr lang="en-US" altLang="zh-TW" i="1" dirty="0">
                <a:solidFill>
                  <a:srgbClr val="101010"/>
                </a:solidFill>
                <a:latin typeface="Times" pitchFamily="2" charset="0"/>
              </a:rPr>
              <a:t>j</a:t>
            </a:r>
            <a:r>
              <a:rPr lang="en-US" altLang="zh-TW" dirty="0">
                <a:solidFill>
                  <a:srgbClr val="101010"/>
                </a:solidFill>
                <a:latin typeface="Helvetica" pitchFamily="2" charset="0"/>
              </a:rPr>
              <a:t>)</a:t>
            </a:r>
            <a:r>
              <a:rPr lang="en-US" altLang="zh-TW" dirty="0">
                <a:solidFill>
                  <a:srgbClr val="101010"/>
                </a:solidFill>
                <a:latin typeface="Times" pitchFamily="2" charset="0"/>
              </a:rPr>
              <a:t>.</a:t>
            </a:r>
            <a:endParaRPr lang="en-US" altLang="zh-TW" dirty="0">
              <a:solidFill>
                <a:srgbClr val="101010"/>
              </a:solidFill>
              <a:effectLst/>
              <a:latin typeface="Times" pitchFamily="2" charset="0"/>
            </a:endParaRPr>
          </a:p>
        </p:txBody>
      </p:sp>
      <p:pic>
        <p:nvPicPr>
          <p:cNvPr id="17" name="圖片 16">
            <a:extLst>
              <a:ext uri="{FF2B5EF4-FFF2-40B4-BE49-F238E27FC236}">
                <a16:creationId xmlns:a16="http://schemas.microsoft.com/office/drawing/2014/main" id="{8A121041-5ACC-5C42-8424-836EA8AE87B0}"/>
              </a:ext>
            </a:extLst>
          </p:cNvPr>
          <p:cNvPicPr>
            <a:picLocks noChangeAspect="1"/>
          </p:cNvPicPr>
          <p:nvPr/>
        </p:nvPicPr>
        <p:blipFill>
          <a:blip r:embed="rId6"/>
          <a:stretch>
            <a:fillRect/>
          </a:stretch>
        </p:blipFill>
        <p:spPr>
          <a:xfrm>
            <a:off x="7119803" y="1294916"/>
            <a:ext cx="4473226" cy="488374"/>
          </a:xfrm>
          <a:prstGeom prst="rect">
            <a:avLst/>
          </a:prstGeom>
        </p:spPr>
      </p:pic>
    </p:spTree>
    <p:extLst>
      <p:ext uri="{BB962C8B-B14F-4D97-AF65-F5344CB8AC3E}">
        <p14:creationId xmlns:p14="http://schemas.microsoft.com/office/powerpoint/2010/main" val="334153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Lemma : Algorithm DIFF</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10</a:t>
            </a:fld>
            <a:endParaRPr kumimoji="1" lang="zh-TW" altLang="en-US"/>
          </a:p>
        </p:txBody>
      </p:sp>
      <p:pic>
        <p:nvPicPr>
          <p:cNvPr id="7" name="圖片 6">
            <a:extLst>
              <a:ext uri="{FF2B5EF4-FFF2-40B4-BE49-F238E27FC236}">
                <a16:creationId xmlns:a16="http://schemas.microsoft.com/office/drawing/2014/main" id="{E441E360-A737-3C43-9699-EE459950FE83}"/>
              </a:ext>
            </a:extLst>
          </p:cNvPr>
          <p:cNvPicPr>
            <a:picLocks noChangeAspect="1"/>
          </p:cNvPicPr>
          <p:nvPr/>
        </p:nvPicPr>
        <p:blipFill>
          <a:blip r:embed="rId2"/>
          <a:stretch>
            <a:fillRect/>
          </a:stretch>
        </p:blipFill>
        <p:spPr>
          <a:xfrm>
            <a:off x="838200" y="2243593"/>
            <a:ext cx="11092915" cy="882391"/>
          </a:xfrm>
          <a:prstGeom prst="rect">
            <a:avLst/>
          </a:prstGeom>
        </p:spPr>
      </p:pic>
      <p:pic>
        <p:nvPicPr>
          <p:cNvPr id="8" name="圖片 7">
            <a:extLst>
              <a:ext uri="{FF2B5EF4-FFF2-40B4-BE49-F238E27FC236}">
                <a16:creationId xmlns:a16="http://schemas.microsoft.com/office/drawing/2014/main" id="{17554C49-A50A-7A48-98E7-ECDCBED236CE}"/>
              </a:ext>
            </a:extLst>
          </p:cNvPr>
          <p:cNvPicPr>
            <a:picLocks noChangeAspect="1"/>
          </p:cNvPicPr>
          <p:nvPr/>
        </p:nvPicPr>
        <p:blipFill>
          <a:blip r:embed="rId3"/>
          <a:stretch>
            <a:fillRect/>
          </a:stretch>
        </p:blipFill>
        <p:spPr>
          <a:xfrm>
            <a:off x="838200" y="3125984"/>
            <a:ext cx="10800883" cy="1325563"/>
          </a:xfrm>
          <a:prstGeom prst="rect">
            <a:avLst/>
          </a:prstGeom>
        </p:spPr>
      </p:pic>
      <p:pic>
        <p:nvPicPr>
          <p:cNvPr id="9" name="圖片 8">
            <a:extLst>
              <a:ext uri="{FF2B5EF4-FFF2-40B4-BE49-F238E27FC236}">
                <a16:creationId xmlns:a16="http://schemas.microsoft.com/office/drawing/2014/main" id="{E52F0FFA-B9B8-9F44-8AB4-20AAB1FCCFE0}"/>
              </a:ext>
            </a:extLst>
          </p:cNvPr>
          <p:cNvPicPr>
            <a:picLocks noChangeAspect="1"/>
          </p:cNvPicPr>
          <p:nvPr/>
        </p:nvPicPr>
        <p:blipFill>
          <a:blip r:embed="rId4"/>
          <a:stretch>
            <a:fillRect/>
          </a:stretch>
        </p:blipFill>
        <p:spPr>
          <a:xfrm>
            <a:off x="838200" y="4451547"/>
            <a:ext cx="10272233" cy="1540835"/>
          </a:xfrm>
          <a:prstGeom prst="rect">
            <a:avLst/>
          </a:prstGeom>
        </p:spPr>
      </p:pic>
      <p:pic>
        <p:nvPicPr>
          <p:cNvPr id="10" name="圖片 9">
            <a:extLst>
              <a:ext uri="{FF2B5EF4-FFF2-40B4-BE49-F238E27FC236}">
                <a16:creationId xmlns:a16="http://schemas.microsoft.com/office/drawing/2014/main" id="{C401452B-C763-5F47-A612-9E3EAAB0FE7B}"/>
              </a:ext>
            </a:extLst>
          </p:cNvPr>
          <p:cNvPicPr>
            <a:picLocks noChangeAspect="1"/>
          </p:cNvPicPr>
          <p:nvPr/>
        </p:nvPicPr>
        <p:blipFill rotWithShape="1">
          <a:blip r:embed="rId5"/>
          <a:srcRect r="53013"/>
          <a:stretch/>
        </p:blipFill>
        <p:spPr>
          <a:xfrm>
            <a:off x="838200" y="1309632"/>
            <a:ext cx="4274059" cy="561211"/>
          </a:xfrm>
          <a:prstGeom prst="rect">
            <a:avLst/>
          </a:prstGeom>
        </p:spPr>
      </p:pic>
      <p:pic>
        <p:nvPicPr>
          <p:cNvPr id="11" name="圖片 10">
            <a:extLst>
              <a:ext uri="{FF2B5EF4-FFF2-40B4-BE49-F238E27FC236}">
                <a16:creationId xmlns:a16="http://schemas.microsoft.com/office/drawing/2014/main" id="{5ADA91B5-5657-6F47-9E83-D9C0F0D9DADF}"/>
              </a:ext>
            </a:extLst>
          </p:cNvPr>
          <p:cNvPicPr>
            <a:picLocks noChangeAspect="1"/>
          </p:cNvPicPr>
          <p:nvPr/>
        </p:nvPicPr>
        <p:blipFill rotWithShape="1">
          <a:blip r:embed="rId5"/>
          <a:srcRect l="53904"/>
          <a:stretch/>
        </p:blipFill>
        <p:spPr>
          <a:xfrm>
            <a:off x="5278790" y="1291424"/>
            <a:ext cx="4193047" cy="561211"/>
          </a:xfrm>
          <a:prstGeom prst="rect">
            <a:avLst/>
          </a:prstGeom>
        </p:spPr>
      </p:pic>
      <p:sp>
        <p:nvSpPr>
          <p:cNvPr id="12" name="矩形 11">
            <a:extLst>
              <a:ext uri="{FF2B5EF4-FFF2-40B4-BE49-F238E27FC236}">
                <a16:creationId xmlns:a16="http://schemas.microsoft.com/office/drawing/2014/main" id="{57601373-459D-804A-B77A-05601222A1F6}"/>
              </a:ext>
            </a:extLst>
          </p:cNvPr>
          <p:cNvSpPr/>
          <p:nvPr/>
        </p:nvSpPr>
        <p:spPr>
          <a:xfrm>
            <a:off x="838200" y="5992382"/>
            <a:ext cx="6805837" cy="646331"/>
          </a:xfrm>
          <a:prstGeom prst="rect">
            <a:avLst/>
          </a:prstGeom>
        </p:spPr>
        <p:txBody>
          <a:bodyPr wrap="none">
            <a:spAutoFit/>
          </a:bodyPr>
          <a:lstStyle/>
          <a:p>
            <a:r>
              <a:rPr lang="en-US" altLang="zh-TW" dirty="0">
                <a:solidFill>
                  <a:srgbClr val="101010"/>
                </a:solidFill>
                <a:latin typeface="Times" pitchFamily="2" charset="0"/>
              </a:rPr>
              <a:t>Compute </a:t>
            </a:r>
            <a:r>
              <a:rPr lang="en-US" altLang="zh-TW" dirty="0">
                <a:solidFill>
                  <a:srgbClr val="101010"/>
                </a:solidFill>
                <a:latin typeface="Helvetica" pitchFamily="2" charset="0"/>
              </a:rPr>
              <a:t>SC</a:t>
            </a:r>
            <a:r>
              <a:rPr lang="en-US" altLang="zh-TW" i="1" dirty="0">
                <a:solidFill>
                  <a:srgbClr val="101010"/>
                </a:solidFill>
                <a:latin typeface="Times" pitchFamily="2" charset="0"/>
              </a:rPr>
              <a:t>i</a:t>
            </a:r>
            <a:r>
              <a:rPr lang="en-US" altLang="zh-TW" dirty="0">
                <a:solidFill>
                  <a:srgbClr val="101010"/>
                </a:solidFill>
                <a:latin typeface="Helvetica" pitchFamily="2" charset="0"/>
              </a:rPr>
              <a:t>+</a:t>
            </a:r>
            <a:r>
              <a:rPr lang="en-US" altLang="zh-TW" dirty="0">
                <a:solidFill>
                  <a:srgbClr val="101010"/>
                </a:solidFill>
                <a:latin typeface="Times" pitchFamily="2" charset="0"/>
              </a:rPr>
              <a:t>1</a:t>
            </a:r>
            <a:r>
              <a:rPr lang="en-US" altLang="zh-TW" dirty="0">
                <a:solidFill>
                  <a:srgbClr val="101010"/>
                </a:solidFill>
                <a:latin typeface="Helvetica" pitchFamily="2" charset="0"/>
              </a:rPr>
              <a:t>, </a:t>
            </a:r>
            <a:r>
              <a:rPr lang="en-US" altLang="zh-TW" i="1" dirty="0">
                <a:solidFill>
                  <a:srgbClr val="101010"/>
                </a:solidFill>
                <a:latin typeface="Times" pitchFamily="2" charset="0"/>
              </a:rPr>
              <a:t>j </a:t>
            </a:r>
            <a:r>
              <a:rPr lang="en-US" altLang="zh-TW" dirty="0">
                <a:solidFill>
                  <a:srgbClr val="101010"/>
                </a:solidFill>
                <a:latin typeface="Times" pitchFamily="2" charset="0"/>
              </a:rPr>
              <a:t>and </a:t>
            </a:r>
            <a:r>
              <a:rPr lang="en-US" altLang="zh-TW" dirty="0" err="1">
                <a:solidFill>
                  <a:srgbClr val="101010"/>
                </a:solidFill>
                <a:latin typeface="Helvetica" pitchFamily="2" charset="0"/>
              </a:rPr>
              <a:t>SR</a:t>
            </a:r>
            <a:r>
              <a:rPr lang="en-US" altLang="zh-TW" i="1" dirty="0" err="1">
                <a:solidFill>
                  <a:srgbClr val="101010"/>
                </a:solidFill>
                <a:latin typeface="Times" pitchFamily="2" charset="0"/>
              </a:rPr>
              <a:t>i</a:t>
            </a:r>
            <a:r>
              <a:rPr lang="en-US" altLang="zh-TW" dirty="0">
                <a:solidFill>
                  <a:srgbClr val="101010"/>
                </a:solidFill>
                <a:latin typeface="Helvetica" pitchFamily="2" charset="0"/>
              </a:rPr>
              <a:t>, </a:t>
            </a:r>
            <a:r>
              <a:rPr lang="en-US" altLang="zh-TW" i="1" dirty="0">
                <a:solidFill>
                  <a:srgbClr val="101010"/>
                </a:solidFill>
                <a:latin typeface="Times" pitchFamily="2" charset="0"/>
              </a:rPr>
              <a:t>j</a:t>
            </a:r>
            <a:r>
              <a:rPr lang="en-US" altLang="zh-TW" dirty="0">
                <a:solidFill>
                  <a:srgbClr val="101010"/>
                </a:solidFill>
                <a:latin typeface="Helvetica" pitchFamily="2" charset="0"/>
              </a:rPr>
              <a:t>+</a:t>
            </a:r>
            <a:r>
              <a:rPr lang="en-US" altLang="zh-TW" dirty="0">
                <a:solidFill>
                  <a:srgbClr val="101010"/>
                </a:solidFill>
                <a:latin typeface="Times" pitchFamily="2" charset="0"/>
              </a:rPr>
              <a:t>1 by </a:t>
            </a:r>
            <a:r>
              <a:rPr lang="en-US" altLang="zh-TW" i="1" dirty="0">
                <a:solidFill>
                  <a:srgbClr val="101010"/>
                </a:solidFill>
                <a:latin typeface="Times" pitchFamily="2" charset="0"/>
              </a:rPr>
              <a:t>O</a:t>
            </a:r>
            <a:r>
              <a:rPr lang="en-US" altLang="zh-TW" dirty="0">
                <a:solidFill>
                  <a:srgbClr val="101010"/>
                </a:solidFill>
                <a:latin typeface="Helvetica" pitchFamily="2" charset="0"/>
              </a:rPr>
              <a:t>(</a:t>
            </a:r>
            <a:r>
              <a:rPr lang="en-US" altLang="zh-TW" i="1" dirty="0">
                <a:solidFill>
                  <a:srgbClr val="101010"/>
                </a:solidFill>
                <a:latin typeface="Times" pitchFamily="2" charset="0"/>
              </a:rPr>
              <a:t>n</a:t>
            </a:r>
            <a:r>
              <a:rPr lang="en-US" altLang="zh-TW" dirty="0">
                <a:solidFill>
                  <a:srgbClr val="101010"/>
                </a:solidFill>
                <a:latin typeface="Helvetica" pitchFamily="2" charset="0"/>
              </a:rPr>
              <a:t>)</a:t>
            </a:r>
            <a:r>
              <a:rPr lang="en-US" altLang="zh-TW" dirty="0">
                <a:solidFill>
                  <a:srgbClr val="101010"/>
                </a:solidFill>
                <a:latin typeface="Times" pitchFamily="2" charset="0"/>
              </a:rPr>
              <a:t>. There are O(n + m) pairs </a:t>
            </a:r>
            <a:r>
              <a:rPr lang="en-US" altLang="zh-TW" dirty="0" err="1">
                <a:solidFill>
                  <a:srgbClr val="101010"/>
                </a:solidFill>
                <a:latin typeface="Times" pitchFamily="2" charset="0"/>
              </a:rPr>
              <a:t>i</a:t>
            </a:r>
            <a:r>
              <a:rPr lang="en-US" altLang="zh-TW" dirty="0">
                <a:solidFill>
                  <a:srgbClr val="101010"/>
                </a:solidFill>
                <a:latin typeface="Times" pitchFamily="2" charset="0"/>
              </a:rPr>
              <a:t>, j. </a:t>
            </a:r>
          </a:p>
          <a:p>
            <a:r>
              <a:rPr lang="en-US" altLang="zh-TW" dirty="0">
                <a:solidFill>
                  <a:srgbClr val="101010"/>
                </a:solidFill>
                <a:latin typeface="Times" pitchFamily="2" charset="0"/>
              </a:rPr>
              <a:t>Time complexity of the algorithm is O(n2 + nm).</a:t>
            </a:r>
            <a:endParaRPr lang="en-US" altLang="zh-TW" dirty="0">
              <a:solidFill>
                <a:srgbClr val="101010"/>
              </a:solidFill>
              <a:effectLst/>
              <a:latin typeface="Times" pitchFamily="2" charset="0"/>
            </a:endParaRPr>
          </a:p>
        </p:txBody>
      </p:sp>
      <p:sp>
        <p:nvSpPr>
          <p:cNvPr id="13" name="矩形 12">
            <a:extLst>
              <a:ext uri="{FF2B5EF4-FFF2-40B4-BE49-F238E27FC236}">
                <a16:creationId xmlns:a16="http://schemas.microsoft.com/office/drawing/2014/main" id="{BB88BC60-B0C8-9241-B733-7B43B1FA623D}"/>
              </a:ext>
            </a:extLst>
          </p:cNvPr>
          <p:cNvSpPr/>
          <p:nvPr/>
        </p:nvSpPr>
        <p:spPr>
          <a:xfrm>
            <a:off x="838199" y="1843966"/>
            <a:ext cx="8741735" cy="369332"/>
          </a:xfrm>
          <a:prstGeom prst="rect">
            <a:avLst/>
          </a:prstGeom>
        </p:spPr>
        <p:txBody>
          <a:bodyPr wrap="square">
            <a:spAutoFit/>
          </a:bodyPr>
          <a:lstStyle/>
          <a:p>
            <a:r>
              <a:rPr lang="en-US" altLang="zh-TW" dirty="0">
                <a:solidFill>
                  <a:srgbClr val="101010"/>
                </a:solidFill>
                <a:latin typeface="Times" pitchFamily="2" charset="0"/>
              </a:rPr>
              <a:t>An index </a:t>
            </a:r>
            <a:r>
              <a:rPr lang="en-US" altLang="zh-TW" i="1" dirty="0">
                <a:solidFill>
                  <a:srgbClr val="101010"/>
                </a:solidFill>
                <a:latin typeface="Times" pitchFamily="2" charset="0"/>
              </a:rPr>
              <a:t>k </a:t>
            </a:r>
            <a:r>
              <a:rPr lang="en-US" altLang="zh-TW" dirty="0">
                <a:solidFill>
                  <a:srgbClr val="101010"/>
                </a:solidFill>
                <a:latin typeface="Times" pitchFamily="2" charset="0"/>
              </a:rPr>
              <a:t>for which </a:t>
            </a:r>
            <a:r>
              <a:rPr lang="en-US" altLang="zh-TW" dirty="0" err="1">
                <a:solidFill>
                  <a:srgbClr val="101010"/>
                </a:solidFill>
                <a:latin typeface="Helvetica" pitchFamily="2" charset="0"/>
              </a:rPr>
              <a:t>DiffC</a:t>
            </a:r>
            <a:r>
              <a:rPr lang="en-US" altLang="zh-TW" i="1" baseline="-25000" dirty="0" err="1">
                <a:solidFill>
                  <a:srgbClr val="101010"/>
                </a:solidFill>
                <a:latin typeface="Times" pitchFamily="2" charset="0"/>
              </a:rPr>
              <a:t>i</a:t>
            </a:r>
            <a:r>
              <a:rPr lang="en-US" altLang="zh-TW" baseline="-25000" dirty="0">
                <a:solidFill>
                  <a:srgbClr val="101010"/>
                </a:solidFill>
                <a:latin typeface="Helvetica" pitchFamily="2" charset="0"/>
              </a:rPr>
              <a:t>, </a:t>
            </a:r>
            <a:r>
              <a:rPr lang="en-US" altLang="zh-TW" i="1" baseline="-25000" dirty="0">
                <a:solidFill>
                  <a:srgbClr val="101010"/>
                </a:solidFill>
                <a:latin typeface="Times" pitchFamily="2" charset="0"/>
              </a:rPr>
              <a:t>j</a:t>
            </a:r>
            <a:r>
              <a:rPr lang="en-US" altLang="zh-TW" dirty="0">
                <a:solidFill>
                  <a:srgbClr val="101010"/>
                </a:solidFill>
                <a:latin typeface="Helvetica" pitchFamily="2" charset="0"/>
              </a:rPr>
              <a:t>(</a:t>
            </a:r>
            <a:r>
              <a:rPr lang="en-US" altLang="zh-TW" i="1" dirty="0">
                <a:solidFill>
                  <a:srgbClr val="101010"/>
                </a:solidFill>
                <a:latin typeface="Times" pitchFamily="2" charset="0"/>
              </a:rPr>
              <a:t>k </a:t>
            </a:r>
            <a:r>
              <a:rPr lang="en-US" altLang="zh-TW" dirty="0">
                <a:solidFill>
                  <a:srgbClr val="101010"/>
                </a:solidFill>
                <a:latin typeface="Helvetica" pitchFamily="2" charset="0"/>
              </a:rPr>
              <a:t>− </a:t>
            </a:r>
            <a:r>
              <a:rPr lang="en-US" altLang="zh-TW" dirty="0">
                <a:solidFill>
                  <a:srgbClr val="101010"/>
                </a:solidFill>
                <a:latin typeface="Times" pitchFamily="2" charset="0"/>
              </a:rPr>
              <a:t>1</a:t>
            </a:r>
            <a:r>
              <a:rPr lang="en-US" altLang="zh-TW" dirty="0">
                <a:solidFill>
                  <a:srgbClr val="101010"/>
                </a:solidFill>
                <a:latin typeface="Helvetica" pitchFamily="2" charset="0"/>
              </a:rPr>
              <a:t>) ≠ </a:t>
            </a:r>
            <a:r>
              <a:rPr lang="en-US" altLang="zh-TW" dirty="0" err="1">
                <a:solidFill>
                  <a:srgbClr val="101010"/>
                </a:solidFill>
                <a:latin typeface="Helvetica" pitchFamily="2" charset="0"/>
              </a:rPr>
              <a:t>DiffC</a:t>
            </a:r>
            <a:r>
              <a:rPr lang="en-US" altLang="zh-TW" i="1" baseline="-25000" dirty="0" err="1">
                <a:solidFill>
                  <a:srgbClr val="101010"/>
                </a:solidFill>
                <a:latin typeface="Times" pitchFamily="2" charset="0"/>
              </a:rPr>
              <a:t>i</a:t>
            </a:r>
            <a:r>
              <a:rPr lang="en-US" altLang="zh-TW" baseline="-25000" dirty="0">
                <a:solidFill>
                  <a:srgbClr val="101010"/>
                </a:solidFill>
                <a:latin typeface="Helvetica" pitchFamily="2" charset="0"/>
              </a:rPr>
              <a:t>, </a:t>
            </a:r>
            <a:r>
              <a:rPr lang="en-US" altLang="zh-TW" i="1" baseline="-25000" dirty="0">
                <a:solidFill>
                  <a:srgbClr val="101010"/>
                </a:solidFill>
                <a:latin typeface="Times" pitchFamily="2" charset="0"/>
              </a:rPr>
              <a:t>j</a:t>
            </a:r>
            <a:r>
              <a:rPr lang="en-US" altLang="zh-TW" dirty="0">
                <a:solidFill>
                  <a:srgbClr val="101010"/>
                </a:solidFill>
                <a:latin typeface="Helvetica" pitchFamily="2" charset="0"/>
              </a:rPr>
              <a:t>(</a:t>
            </a:r>
            <a:r>
              <a:rPr lang="en-US" altLang="zh-TW" i="1" dirty="0">
                <a:solidFill>
                  <a:srgbClr val="101010"/>
                </a:solidFill>
                <a:latin typeface="Times" pitchFamily="2" charset="0"/>
              </a:rPr>
              <a:t>k</a:t>
            </a:r>
            <a:r>
              <a:rPr lang="en-US" altLang="zh-TW" dirty="0">
                <a:solidFill>
                  <a:srgbClr val="101010"/>
                </a:solidFill>
                <a:latin typeface="Helvetica" pitchFamily="2" charset="0"/>
              </a:rPr>
              <a:t>) </a:t>
            </a:r>
            <a:r>
              <a:rPr lang="en-US" altLang="zh-TW" dirty="0">
                <a:solidFill>
                  <a:srgbClr val="101010"/>
                </a:solidFill>
                <a:latin typeface="Times" pitchFamily="2" charset="0"/>
              </a:rPr>
              <a:t>will be called a </a:t>
            </a:r>
            <a:r>
              <a:rPr lang="en-US" altLang="zh-TW" i="1" dirty="0">
                <a:solidFill>
                  <a:srgbClr val="101010"/>
                </a:solidFill>
                <a:latin typeface="Times" pitchFamily="2" charset="0"/>
              </a:rPr>
              <a:t>step index </a:t>
            </a:r>
            <a:r>
              <a:rPr lang="en-US" altLang="zh-TW" dirty="0">
                <a:solidFill>
                  <a:srgbClr val="101010"/>
                </a:solidFill>
                <a:latin typeface="Times" pitchFamily="2" charset="0"/>
              </a:rPr>
              <a:t>of </a:t>
            </a:r>
            <a:r>
              <a:rPr lang="en-US" altLang="zh-TW" dirty="0" err="1">
                <a:solidFill>
                  <a:srgbClr val="101010"/>
                </a:solidFill>
                <a:latin typeface="Helvetica" pitchFamily="2" charset="0"/>
              </a:rPr>
              <a:t>DiffC</a:t>
            </a:r>
            <a:r>
              <a:rPr lang="en-US" altLang="zh-TW" i="1" baseline="-25000" dirty="0" err="1">
                <a:solidFill>
                  <a:srgbClr val="101010"/>
                </a:solidFill>
                <a:latin typeface="Times" pitchFamily="2" charset="0"/>
              </a:rPr>
              <a:t>i</a:t>
            </a:r>
            <a:r>
              <a:rPr lang="en-US" altLang="zh-TW" baseline="-25000" dirty="0">
                <a:solidFill>
                  <a:srgbClr val="101010"/>
                </a:solidFill>
                <a:latin typeface="Helvetica" pitchFamily="2" charset="0"/>
              </a:rPr>
              <a:t>, </a:t>
            </a:r>
            <a:r>
              <a:rPr lang="en-US" altLang="zh-TW" i="1" baseline="-25000" dirty="0">
                <a:solidFill>
                  <a:srgbClr val="101010"/>
                </a:solidFill>
                <a:latin typeface="Times" pitchFamily="2" charset="0"/>
              </a:rPr>
              <a:t>j</a:t>
            </a:r>
            <a:r>
              <a:rPr lang="en-US" altLang="zh-TW" dirty="0">
                <a:solidFill>
                  <a:srgbClr val="101010"/>
                </a:solidFill>
                <a:latin typeface="Times" pitchFamily="2" charset="0"/>
              </a:rPr>
              <a:t>.</a:t>
            </a:r>
            <a:endParaRPr lang="en-US" altLang="zh-TW" dirty="0">
              <a:solidFill>
                <a:srgbClr val="101010"/>
              </a:solidFill>
              <a:effectLst/>
              <a:latin typeface="Times" pitchFamily="2" charset="0"/>
            </a:endParaRPr>
          </a:p>
        </p:txBody>
      </p:sp>
    </p:spTree>
    <p:extLst>
      <p:ext uri="{BB962C8B-B14F-4D97-AF65-F5344CB8AC3E}">
        <p14:creationId xmlns:p14="http://schemas.microsoft.com/office/powerpoint/2010/main" val="2676328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Lemma : Algorithm </a:t>
            </a:r>
            <a:r>
              <a:rPr kumimoji="1" lang="en-US" altLang="zh-TW" dirty="0" err="1"/>
              <a:t>D</a:t>
            </a:r>
            <a:r>
              <a:rPr kumimoji="1" lang="en-US" altLang="zh-TW" baseline="-25000" dirty="0" err="1"/>
              <a:t>first</a:t>
            </a:r>
            <a:endParaRPr kumimoji="1" lang="zh-TW" altLang="en-US" baseline="-25000"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11</a:t>
            </a:fld>
            <a:endParaRPr kumimoji="1" lang="zh-TW" altLang="en-US"/>
          </a:p>
        </p:txBody>
      </p:sp>
      <p:pic>
        <p:nvPicPr>
          <p:cNvPr id="4" name="圖片 3">
            <a:extLst>
              <a:ext uri="{FF2B5EF4-FFF2-40B4-BE49-F238E27FC236}">
                <a16:creationId xmlns:a16="http://schemas.microsoft.com/office/drawing/2014/main" id="{6445126A-E175-C243-AD20-560B8B85747B}"/>
              </a:ext>
            </a:extLst>
          </p:cNvPr>
          <p:cNvPicPr>
            <a:picLocks noChangeAspect="1"/>
          </p:cNvPicPr>
          <p:nvPr/>
        </p:nvPicPr>
        <p:blipFill>
          <a:blip r:embed="rId2"/>
          <a:stretch>
            <a:fillRect/>
          </a:stretch>
        </p:blipFill>
        <p:spPr>
          <a:xfrm>
            <a:off x="779865" y="1449388"/>
            <a:ext cx="10599228" cy="921672"/>
          </a:xfrm>
          <a:prstGeom prst="rect">
            <a:avLst/>
          </a:prstGeom>
        </p:spPr>
      </p:pic>
      <p:pic>
        <p:nvPicPr>
          <p:cNvPr id="8" name="圖片 7">
            <a:extLst>
              <a:ext uri="{FF2B5EF4-FFF2-40B4-BE49-F238E27FC236}">
                <a16:creationId xmlns:a16="http://schemas.microsoft.com/office/drawing/2014/main" id="{0EC922D5-865A-A34A-92D2-C2D97D11F0B6}"/>
              </a:ext>
            </a:extLst>
          </p:cNvPr>
          <p:cNvPicPr>
            <a:picLocks noChangeAspect="1"/>
          </p:cNvPicPr>
          <p:nvPr/>
        </p:nvPicPr>
        <p:blipFill>
          <a:blip r:embed="rId3"/>
          <a:stretch>
            <a:fillRect/>
          </a:stretch>
        </p:blipFill>
        <p:spPr>
          <a:xfrm>
            <a:off x="779865" y="2331095"/>
            <a:ext cx="10438801" cy="1325562"/>
          </a:xfrm>
          <a:prstGeom prst="rect">
            <a:avLst/>
          </a:prstGeom>
        </p:spPr>
      </p:pic>
      <p:pic>
        <p:nvPicPr>
          <p:cNvPr id="9" name="圖片 8">
            <a:extLst>
              <a:ext uri="{FF2B5EF4-FFF2-40B4-BE49-F238E27FC236}">
                <a16:creationId xmlns:a16="http://schemas.microsoft.com/office/drawing/2014/main" id="{451DC29B-7F17-DF42-B8DC-6839E100EE95}"/>
              </a:ext>
            </a:extLst>
          </p:cNvPr>
          <p:cNvPicPr>
            <a:picLocks noChangeAspect="1"/>
          </p:cNvPicPr>
          <p:nvPr/>
        </p:nvPicPr>
        <p:blipFill>
          <a:blip r:embed="rId4"/>
          <a:stretch>
            <a:fillRect/>
          </a:stretch>
        </p:blipFill>
        <p:spPr>
          <a:xfrm>
            <a:off x="779865" y="3616693"/>
            <a:ext cx="9612517" cy="1556783"/>
          </a:xfrm>
          <a:prstGeom prst="rect">
            <a:avLst/>
          </a:prstGeom>
        </p:spPr>
      </p:pic>
      <p:pic>
        <p:nvPicPr>
          <p:cNvPr id="10" name="圖片 9">
            <a:extLst>
              <a:ext uri="{FF2B5EF4-FFF2-40B4-BE49-F238E27FC236}">
                <a16:creationId xmlns:a16="http://schemas.microsoft.com/office/drawing/2014/main" id="{155E466B-D10B-E644-A8D8-FE384239C0E8}"/>
              </a:ext>
            </a:extLst>
          </p:cNvPr>
          <p:cNvPicPr>
            <a:picLocks noChangeAspect="1"/>
          </p:cNvPicPr>
          <p:nvPr/>
        </p:nvPicPr>
        <p:blipFill>
          <a:blip r:embed="rId5"/>
          <a:stretch>
            <a:fillRect/>
          </a:stretch>
        </p:blipFill>
        <p:spPr>
          <a:xfrm>
            <a:off x="779865" y="5133512"/>
            <a:ext cx="4895567" cy="557416"/>
          </a:xfrm>
          <a:prstGeom prst="rect">
            <a:avLst/>
          </a:prstGeom>
        </p:spPr>
      </p:pic>
      <p:pic>
        <p:nvPicPr>
          <p:cNvPr id="11" name="圖片 10">
            <a:extLst>
              <a:ext uri="{FF2B5EF4-FFF2-40B4-BE49-F238E27FC236}">
                <a16:creationId xmlns:a16="http://schemas.microsoft.com/office/drawing/2014/main" id="{8E496034-0613-D846-8C79-50CA70FCE42D}"/>
              </a:ext>
            </a:extLst>
          </p:cNvPr>
          <p:cNvPicPr>
            <a:picLocks noChangeAspect="1"/>
          </p:cNvPicPr>
          <p:nvPr/>
        </p:nvPicPr>
        <p:blipFill>
          <a:blip r:embed="rId6"/>
          <a:stretch>
            <a:fillRect/>
          </a:stretch>
        </p:blipFill>
        <p:spPr>
          <a:xfrm>
            <a:off x="779865" y="5650963"/>
            <a:ext cx="9690001" cy="921671"/>
          </a:xfrm>
          <a:prstGeom prst="rect">
            <a:avLst/>
          </a:prstGeom>
        </p:spPr>
      </p:pic>
    </p:spTree>
    <p:extLst>
      <p:ext uri="{BB962C8B-B14F-4D97-AF65-F5344CB8AC3E}">
        <p14:creationId xmlns:p14="http://schemas.microsoft.com/office/powerpoint/2010/main" val="160079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Lemma : Algorithm </a:t>
            </a:r>
            <a:r>
              <a:rPr kumimoji="1" lang="en-US" altLang="zh-TW" dirty="0" err="1"/>
              <a:t>D</a:t>
            </a:r>
            <a:r>
              <a:rPr kumimoji="1" lang="en-US" altLang="zh-TW" baseline="-25000" dirty="0" err="1"/>
              <a:t>first</a:t>
            </a:r>
            <a:r>
              <a:rPr kumimoji="1" lang="en-US" altLang="zh-TW" dirty="0"/>
              <a:t> </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12</a:t>
            </a:fld>
            <a:endParaRPr kumimoji="1" lang="zh-TW" altLang="en-US"/>
          </a:p>
        </p:txBody>
      </p:sp>
      <p:pic>
        <p:nvPicPr>
          <p:cNvPr id="7" name="圖片 6">
            <a:extLst>
              <a:ext uri="{FF2B5EF4-FFF2-40B4-BE49-F238E27FC236}">
                <a16:creationId xmlns:a16="http://schemas.microsoft.com/office/drawing/2014/main" id="{4006D6F1-3F0D-3F45-84FC-AD8A014810F7}"/>
              </a:ext>
            </a:extLst>
          </p:cNvPr>
          <p:cNvPicPr>
            <a:picLocks noChangeAspect="1"/>
          </p:cNvPicPr>
          <p:nvPr/>
        </p:nvPicPr>
        <p:blipFill>
          <a:blip r:embed="rId2"/>
          <a:stretch>
            <a:fillRect/>
          </a:stretch>
        </p:blipFill>
        <p:spPr>
          <a:xfrm>
            <a:off x="816932" y="1524148"/>
            <a:ext cx="10733215" cy="2175982"/>
          </a:xfrm>
          <a:prstGeom prst="rect">
            <a:avLst/>
          </a:prstGeom>
        </p:spPr>
      </p:pic>
      <p:pic>
        <p:nvPicPr>
          <p:cNvPr id="8" name="圖片 7">
            <a:extLst>
              <a:ext uri="{FF2B5EF4-FFF2-40B4-BE49-F238E27FC236}">
                <a16:creationId xmlns:a16="http://schemas.microsoft.com/office/drawing/2014/main" id="{F398104F-0227-284B-B1BF-B1A5AC01BA3A}"/>
              </a:ext>
            </a:extLst>
          </p:cNvPr>
          <p:cNvPicPr>
            <a:picLocks noChangeAspect="1"/>
          </p:cNvPicPr>
          <p:nvPr/>
        </p:nvPicPr>
        <p:blipFill>
          <a:blip r:embed="rId3"/>
          <a:stretch>
            <a:fillRect/>
          </a:stretch>
        </p:blipFill>
        <p:spPr>
          <a:xfrm>
            <a:off x="816932" y="3829493"/>
            <a:ext cx="4280345" cy="604284"/>
          </a:xfrm>
          <a:prstGeom prst="rect">
            <a:avLst/>
          </a:prstGeom>
        </p:spPr>
      </p:pic>
    </p:spTree>
    <p:extLst>
      <p:ext uri="{BB962C8B-B14F-4D97-AF65-F5344CB8AC3E}">
        <p14:creationId xmlns:p14="http://schemas.microsoft.com/office/powerpoint/2010/main" val="672022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Thank you for listening"/>
          <p:cNvSpPr txBox="1">
            <a:spLocks noGrp="1"/>
          </p:cNvSpPr>
          <p:nvPr>
            <p:ph type="title"/>
          </p:nvPr>
        </p:nvSpPr>
        <p:spPr>
          <a:xfrm>
            <a:off x="844550" y="2857500"/>
            <a:ext cx="10502900" cy="1143000"/>
          </a:xfrm>
          <a:prstGeom prst="rect">
            <a:avLst/>
          </a:prstGeom>
        </p:spPr>
        <p:txBody>
          <a:bodyPr/>
          <a:lstStyle/>
          <a:p>
            <a:pPr algn="ctr"/>
            <a:r>
              <a:rPr dirty="0"/>
              <a:t>Thank you for listening</a:t>
            </a:r>
          </a:p>
        </p:txBody>
      </p:sp>
      <p:sp>
        <p:nvSpPr>
          <p:cNvPr id="305" name="幻燈片編號"/>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13</a:t>
            </a:fld>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s</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14</a:t>
            </a:fld>
            <a:endParaRPr kumimoji="1" lang="zh-TW" altLang="en-US"/>
          </a:p>
        </p:txBody>
      </p:sp>
    </p:spTree>
    <p:extLst>
      <p:ext uri="{BB962C8B-B14F-4D97-AF65-F5344CB8AC3E}">
        <p14:creationId xmlns:p14="http://schemas.microsoft.com/office/powerpoint/2010/main" val="243364991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1254</TotalTime>
  <Words>1550</Words>
  <Application>Microsoft Macintosh PowerPoint</Application>
  <PresentationFormat>寬螢幕</PresentationFormat>
  <Paragraphs>817</Paragraphs>
  <Slides>15</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15</vt:i4>
      </vt:variant>
    </vt:vector>
  </HeadingPairs>
  <TitlesOfParts>
    <vt:vector size="23" baseType="lpstr">
      <vt:lpstr>Arial</vt:lpstr>
      <vt:lpstr>Calibri</vt:lpstr>
      <vt:lpstr>Helvetica</vt:lpstr>
      <vt:lpstr>Menlo</vt:lpstr>
      <vt:lpstr>Rockwell</vt:lpstr>
      <vt:lpstr>Times</vt:lpstr>
      <vt:lpstr>Times New Roman</vt:lpstr>
      <vt:lpstr>Office 佈景主題</vt:lpstr>
      <vt:lpstr>On Almost Monge  All Scores Matrices</vt:lpstr>
      <vt:lpstr>Abstract</vt:lpstr>
      <vt:lpstr>Outlines</vt:lpstr>
      <vt:lpstr>All scores matrices</vt:lpstr>
      <vt:lpstr>Definitions</vt:lpstr>
      <vt:lpstr>PowerPoint 簡報</vt:lpstr>
      <vt:lpstr>Property</vt:lpstr>
      <vt:lpstr>Lemma : Basic properties</vt:lpstr>
      <vt:lpstr>Lemma : Basic properties</vt:lpstr>
      <vt:lpstr>Lemma : Basic properties</vt:lpstr>
      <vt:lpstr>Lemma : Algorithm DIFF</vt:lpstr>
      <vt:lpstr>Lemma : Algorithm Dfirst</vt:lpstr>
      <vt:lpstr>Lemma : Algorithm Dfirst </vt:lpstr>
      <vt:lpstr>Thank you for listening</vt:lpstr>
      <vt:lpstr>Abstract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Improved Algorithm for The Longest Common Subsequence Problem</dc:title>
  <dc:creator>宗霖 呂</dc:creator>
  <cp:lastModifiedBy>宗霖 呂</cp:lastModifiedBy>
  <cp:revision>20</cp:revision>
  <dcterms:created xsi:type="dcterms:W3CDTF">2021-03-28T03:57:23Z</dcterms:created>
  <dcterms:modified xsi:type="dcterms:W3CDTF">2022-02-16T10:29:55Z</dcterms:modified>
</cp:coreProperties>
</file>