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16"/>
  </p:notesMasterIdLst>
  <p:sldIdLst>
    <p:sldId id="256" r:id="rId2"/>
    <p:sldId id="258" r:id="rId3"/>
    <p:sldId id="259" r:id="rId4"/>
    <p:sldId id="261" r:id="rId5"/>
    <p:sldId id="262" r:id="rId6"/>
    <p:sldId id="263" r:id="rId7"/>
    <p:sldId id="264" r:id="rId8"/>
    <p:sldId id="265" r:id="rId9"/>
    <p:sldId id="266" r:id="rId10"/>
    <p:sldId id="267" r:id="rId11"/>
    <p:sldId id="268" r:id="rId12"/>
    <p:sldId id="260" r:id="rId13"/>
    <p:sldId id="270" r:id="rId14"/>
    <p:sldId id="271" r:id="rId15"/>
  </p:sldIdLst>
  <p:sldSz cx="12192000" cy="6858000"/>
  <p:notesSz cx="6858000" cy="9144000"/>
  <p:embeddedFontLst>
    <p:embeddedFont>
      <p:font typeface="Calibri" panose="020F0502020204030204" pitchFamily="34" charset="0"/>
      <p:regular r:id="rId17"/>
      <p:bold r:id="rId18"/>
      <p:italic r:id="rId19"/>
      <p:boldItalic r:id="rId20"/>
    </p:embeddedFont>
    <p:embeddedFont>
      <p:font typeface="Cambria Math" panose="02040503050406030204" pitchFamily="18" charset="0"/>
      <p:regular r:id="rId21"/>
    </p:embeddedFont>
    <p:embeddedFont>
      <p:font typeface="源流明體 M" panose="02020500000000000000" pitchFamily="18" charset="-120"/>
      <p:regular r:id="rId22"/>
    </p:embeddedFont>
  </p:embeddedFontLst>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2022/2/16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2022/2/16</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2022/2/16</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2022/2/16</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2022/2/16</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2022/2/16</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2022/2/16</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2022/2/16</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2022/2/16</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2022/2/16</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2022/2/16</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2022/2/16</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2022/2/16</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p:txBody>
          <a:bodyPr/>
          <a:lstStyle/>
          <a:p>
            <a:r>
              <a:rPr lang="en-US" altLang="zh-TW" dirty="0"/>
              <a:t>Order-Preserving Matching</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normAutofit/>
          </a:bodyPr>
          <a:lstStyle/>
          <a:p>
            <a:r>
              <a:rPr lang="en-US" altLang="zh-TW" dirty="0" err="1"/>
              <a:t>Jinil</a:t>
            </a:r>
            <a:r>
              <a:rPr lang="en-US" altLang="zh-TW" dirty="0"/>
              <a:t> Kim, Peter </a:t>
            </a:r>
            <a:r>
              <a:rPr lang="en-US" altLang="zh-TW" dirty="0" err="1"/>
              <a:t>Eades</a:t>
            </a:r>
            <a:r>
              <a:rPr lang="en-US" altLang="zh-TW" dirty="0"/>
              <a:t>, Rudolf Fleischer, Seok-</a:t>
            </a:r>
            <a:r>
              <a:rPr lang="en-US" altLang="zh-TW" dirty="0" err="1"/>
              <a:t>Hee</a:t>
            </a:r>
            <a:r>
              <a:rPr lang="en-US" altLang="zh-TW" dirty="0"/>
              <a:t> Hong, </a:t>
            </a:r>
          </a:p>
          <a:p>
            <a:r>
              <a:rPr lang="en-US" altLang="zh-TW" dirty="0"/>
              <a:t>Costas S. Iliopoulos, </a:t>
            </a:r>
            <a:r>
              <a:rPr lang="en-US" altLang="zh-TW" dirty="0" err="1"/>
              <a:t>Kunsoo</a:t>
            </a:r>
            <a:r>
              <a:rPr lang="en-US" altLang="zh-TW" dirty="0"/>
              <a:t> Park</a:t>
            </a:r>
            <a:r>
              <a:rPr lang="en-US" altLang="zh-TW"/>
              <a:t>, Simon </a:t>
            </a:r>
            <a:r>
              <a:rPr lang="en-US" altLang="zh-TW" dirty="0"/>
              <a:t>J. Puglisi, Takeshi Tok</a:t>
            </a:r>
          </a:p>
          <a:p>
            <a:r>
              <a:rPr lang="en-US" altLang="zh-TW" dirty="0"/>
              <a:t>Theoretical Computer Science 525 (2014) pp.68–79</a:t>
            </a:r>
            <a:endParaRPr lang="zh-TW" altLang="en-US" dirty="0"/>
          </a:p>
        </p:txBody>
      </p:sp>
      <p:sp>
        <p:nvSpPr>
          <p:cNvPr id="5" name="文字方塊 4">
            <a:extLst>
              <a:ext uri="{FF2B5EF4-FFF2-40B4-BE49-F238E27FC236}">
                <a16:creationId xmlns:a16="http://schemas.microsoft.com/office/drawing/2014/main" id="{D2AB8FE2-23CB-4533-87D5-C2F44C82D244}"/>
              </a:ext>
            </a:extLst>
          </p:cNvPr>
          <p:cNvSpPr txBox="1"/>
          <p:nvPr/>
        </p:nvSpPr>
        <p:spPr>
          <a:xfrm>
            <a:off x="8760823" y="6150114"/>
            <a:ext cx="3431177" cy="707886"/>
          </a:xfrm>
          <a:prstGeom prst="rect">
            <a:avLst/>
          </a:prstGeom>
          <a:noFill/>
        </p:spPr>
        <p:txBody>
          <a:bodyPr wrap="square" rtlCol="0">
            <a:spAutoFit/>
          </a:bodyPr>
          <a:lstStyle/>
          <a:p>
            <a:r>
              <a:rPr lang="en-US" altLang="zh-TW" sz="2000"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sz="2000" dirty="0">
                <a:latin typeface="Times New Roman" panose="02020603050405020304" pitchFamily="18" charset="0"/>
                <a:ea typeface="源流明體 M" panose="02020500000000000000" pitchFamily="18" charset="-120"/>
                <a:cs typeface="Times New Roman" panose="02020603050405020304" pitchFamily="18" charset="0"/>
              </a:rPr>
              <a:t>Date: Feb. 16, 2022</a:t>
            </a:r>
          </a:p>
        </p:txBody>
      </p:sp>
    </p:spTree>
    <p:extLst>
      <p:ext uri="{BB962C8B-B14F-4D97-AF65-F5344CB8AC3E}">
        <p14:creationId xmlns:p14="http://schemas.microsoft.com/office/powerpoint/2010/main" val="99284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p:txBody>
          <a:bodyPr>
            <a:normAutofit/>
          </a:bodyPr>
          <a:lstStyle/>
          <a:p>
            <a:pPr marL="0" indent="0">
              <a:buNone/>
            </a:pPr>
            <a:r>
              <a:rPr lang="en-US" altLang="zh-TW" sz="2400" dirty="0"/>
              <a:t>We introduce a new string matching problem called order-preserving matching on numeric strings, where a pattern matches a text if the text contains a substring of values whose relative orders coincide with those of the pattern. Order-preserving matching is applicable to many scenarios such as stock price analysis and musical melody matching in which the order relations should be matched instead of the strings themselves. Solving order-preserving matching is closely related to the representation of order relations of a numeric string. We deﬁne the preﬁx representation and the nearest neighbor representation of the pattern, both of which lead to eﬃcient algorithms for order-preserving matching. We present eﬃcient algorithms for single and multiple pattern cases. For the single pattern case, we give an O(</a:t>
            </a:r>
            <a:r>
              <a:rPr lang="en-US" altLang="zh-TW" sz="2400" i="1" dirty="0" err="1"/>
              <a:t>n</a:t>
            </a:r>
            <a:r>
              <a:rPr lang="en-US" altLang="zh-TW" sz="2400" dirty="0" err="1"/>
              <a:t>log</a:t>
            </a:r>
            <a:r>
              <a:rPr lang="en-US" altLang="zh-TW" sz="2400" i="1" dirty="0" err="1"/>
              <a:t>m</a:t>
            </a:r>
            <a:r>
              <a:rPr lang="en-US" altLang="zh-TW" sz="2400" dirty="0"/>
              <a:t>) time algorithm and optimize it further to obtain O(</a:t>
            </a:r>
            <a:r>
              <a:rPr lang="en-US" altLang="zh-TW" sz="2400" i="1" dirty="0"/>
              <a:t>n</a:t>
            </a:r>
            <a:r>
              <a:rPr lang="en-US" altLang="zh-TW" sz="2400" dirty="0"/>
              <a:t> + </a:t>
            </a:r>
            <a:r>
              <a:rPr lang="en-US" altLang="zh-TW" sz="2400" i="1" dirty="0" err="1"/>
              <a:t>m</a:t>
            </a:r>
            <a:r>
              <a:rPr lang="en-US" altLang="zh-TW" sz="2400" dirty="0" err="1"/>
              <a:t>log</a:t>
            </a:r>
            <a:r>
              <a:rPr lang="en-US" altLang="zh-TW" sz="2400" i="1" dirty="0" err="1"/>
              <a:t>m</a:t>
            </a:r>
            <a:r>
              <a:rPr lang="en-US" altLang="zh-TW" sz="2400" dirty="0"/>
              <a:t>) time. For the multiple pattern case, we give an O(</a:t>
            </a:r>
            <a:r>
              <a:rPr lang="en-US" altLang="zh-TW" sz="2400" i="1" dirty="0" err="1"/>
              <a:t>n</a:t>
            </a:r>
            <a:r>
              <a:rPr lang="en-US" altLang="zh-TW" sz="2400" dirty="0" err="1"/>
              <a:t>log</a:t>
            </a:r>
            <a:r>
              <a:rPr lang="en-US" altLang="zh-TW" sz="2400" i="1" dirty="0" err="1"/>
              <a:t>m</a:t>
            </a:r>
            <a:r>
              <a:rPr lang="en-US" altLang="zh-TW" sz="2400" dirty="0"/>
              <a:t>) time algorithm.</a:t>
            </a:r>
            <a:endParaRPr lang="zh-TW" altLang="en-US" sz="2400"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CF724B-FB3E-44F3-8F0D-1003CBC1CCFB}"/>
              </a:ext>
            </a:extLst>
          </p:cNvPr>
          <p:cNvSpPr>
            <a:spLocks noGrp="1"/>
          </p:cNvSpPr>
          <p:nvPr>
            <p:ph type="title"/>
          </p:nvPr>
        </p:nvSpPr>
        <p:spPr/>
        <p:txBody>
          <a:bodyPr/>
          <a:lstStyle/>
          <a:p>
            <a:r>
              <a:rPr lang="en-US" altLang="zh-TW" dirty="0"/>
              <a:t>Order-Preserving Matching</a:t>
            </a:r>
            <a:endParaRPr lang="zh-TW" altLang="en-US" dirty="0"/>
          </a:p>
        </p:txBody>
      </p:sp>
      <p:sp>
        <p:nvSpPr>
          <p:cNvPr id="4" name="投影片編號版面配置區 3">
            <a:extLst>
              <a:ext uri="{FF2B5EF4-FFF2-40B4-BE49-F238E27FC236}">
                <a16:creationId xmlns:a16="http://schemas.microsoft.com/office/drawing/2014/main" id="{EE7284E2-D79B-475D-8B80-687C1E829304}"/>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pic>
        <p:nvPicPr>
          <p:cNvPr id="10" name="內容版面配置區 9">
            <a:extLst>
              <a:ext uri="{FF2B5EF4-FFF2-40B4-BE49-F238E27FC236}">
                <a16:creationId xmlns:a16="http://schemas.microsoft.com/office/drawing/2014/main" id="{422F8D01-B45E-4382-A45A-02574C770364}"/>
              </a:ext>
            </a:extLst>
          </p:cNvPr>
          <p:cNvPicPr>
            <a:picLocks noGrp="1" noChangeAspect="1"/>
          </p:cNvPicPr>
          <p:nvPr>
            <p:ph idx="1"/>
          </p:nvPr>
        </p:nvPicPr>
        <p:blipFill>
          <a:blip r:embed="rId2"/>
          <a:stretch>
            <a:fillRect/>
          </a:stretch>
        </p:blipFill>
        <p:spPr>
          <a:xfrm>
            <a:off x="838200" y="1889894"/>
            <a:ext cx="10515600" cy="4222799"/>
          </a:xfrm>
        </p:spPr>
      </p:pic>
      <p:pic>
        <p:nvPicPr>
          <p:cNvPr id="12" name="圖片 11">
            <a:extLst>
              <a:ext uri="{FF2B5EF4-FFF2-40B4-BE49-F238E27FC236}">
                <a16:creationId xmlns:a16="http://schemas.microsoft.com/office/drawing/2014/main" id="{983A5A36-B7EE-4C42-B4C6-43126499BCCF}"/>
              </a:ext>
            </a:extLst>
          </p:cNvPr>
          <p:cNvPicPr>
            <a:picLocks noChangeAspect="1"/>
          </p:cNvPicPr>
          <p:nvPr/>
        </p:nvPicPr>
        <p:blipFill>
          <a:blip r:embed="rId3"/>
          <a:stretch>
            <a:fillRect/>
          </a:stretch>
        </p:blipFill>
        <p:spPr>
          <a:xfrm>
            <a:off x="6521405" y="1784575"/>
            <a:ext cx="2352630" cy="299540"/>
          </a:xfrm>
          <a:prstGeom prst="rect">
            <a:avLst/>
          </a:prstGeom>
          <a:ln>
            <a:solidFill>
              <a:srgbClr val="FF0000"/>
            </a:solidFill>
          </a:ln>
        </p:spPr>
      </p:pic>
    </p:spTree>
    <p:extLst>
      <p:ext uri="{BB962C8B-B14F-4D97-AF65-F5344CB8AC3E}">
        <p14:creationId xmlns:p14="http://schemas.microsoft.com/office/powerpoint/2010/main" val="2384830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453D6E-8FEA-4F8E-B4C1-27291D1DB3BF}"/>
              </a:ext>
            </a:extLst>
          </p:cNvPr>
          <p:cNvSpPr>
            <a:spLocks noGrp="1"/>
          </p:cNvSpPr>
          <p:nvPr>
            <p:ph type="title"/>
          </p:nvPr>
        </p:nvSpPr>
        <p:spPr/>
        <p:txBody>
          <a:bodyPr/>
          <a:lstStyle/>
          <a:p>
            <a:r>
              <a:rPr lang="en-US" altLang="zh-TW" dirty="0"/>
              <a:t>Preﬁx representation</a:t>
            </a:r>
            <a:endParaRPr lang="zh-TW" altLang="en-US" dirty="0"/>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E32418CF-FB37-416E-8BAA-94C376344341}"/>
                  </a:ext>
                </a:extLst>
              </p:cNvPr>
              <p:cNvGraphicFramePr>
                <a:graphicFrameLocks noGrp="1"/>
              </p:cNvGraphicFramePr>
              <p:nvPr>
                <p:ph idx="1"/>
                <p:extLst>
                  <p:ext uri="{D42A27DB-BD31-4B8C-83A1-F6EECF244321}">
                    <p14:modId xmlns:p14="http://schemas.microsoft.com/office/powerpoint/2010/main" val="3601404196"/>
                  </p:ext>
                </p:extLst>
              </p:nvPr>
            </p:nvGraphicFramePr>
            <p:xfrm>
              <a:off x="1337853" y="3429000"/>
              <a:ext cx="9516294" cy="1371600"/>
            </p:xfrm>
            <a:graphic>
              <a:graphicData uri="http://schemas.openxmlformats.org/drawingml/2006/table">
                <a:tbl>
                  <a:tblPr firstRow="1" bandRow="1">
                    <a:tableStyleId>{2D5ABB26-0587-4C30-8999-92F81FD0307C}</a:tableStyleId>
                  </a:tblPr>
                  <a:tblGrid>
                    <a:gridCol w="1057366">
                      <a:extLst>
                        <a:ext uri="{9D8B030D-6E8A-4147-A177-3AD203B41FA5}">
                          <a16:colId xmlns:a16="http://schemas.microsoft.com/office/drawing/2014/main" val="4171789942"/>
                        </a:ext>
                      </a:extLst>
                    </a:gridCol>
                    <a:gridCol w="1057366">
                      <a:extLst>
                        <a:ext uri="{9D8B030D-6E8A-4147-A177-3AD203B41FA5}">
                          <a16:colId xmlns:a16="http://schemas.microsoft.com/office/drawing/2014/main" val="3417406543"/>
                        </a:ext>
                      </a:extLst>
                    </a:gridCol>
                    <a:gridCol w="1057366">
                      <a:extLst>
                        <a:ext uri="{9D8B030D-6E8A-4147-A177-3AD203B41FA5}">
                          <a16:colId xmlns:a16="http://schemas.microsoft.com/office/drawing/2014/main" val="2678709422"/>
                        </a:ext>
                      </a:extLst>
                    </a:gridCol>
                    <a:gridCol w="1057366">
                      <a:extLst>
                        <a:ext uri="{9D8B030D-6E8A-4147-A177-3AD203B41FA5}">
                          <a16:colId xmlns:a16="http://schemas.microsoft.com/office/drawing/2014/main" val="716305947"/>
                        </a:ext>
                      </a:extLst>
                    </a:gridCol>
                    <a:gridCol w="1057366">
                      <a:extLst>
                        <a:ext uri="{9D8B030D-6E8A-4147-A177-3AD203B41FA5}">
                          <a16:colId xmlns:a16="http://schemas.microsoft.com/office/drawing/2014/main" val="2693768123"/>
                        </a:ext>
                      </a:extLst>
                    </a:gridCol>
                    <a:gridCol w="1057366">
                      <a:extLst>
                        <a:ext uri="{9D8B030D-6E8A-4147-A177-3AD203B41FA5}">
                          <a16:colId xmlns:a16="http://schemas.microsoft.com/office/drawing/2014/main" val="643960041"/>
                        </a:ext>
                      </a:extLst>
                    </a:gridCol>
                    <a:gridCol w="1057366">
                      <a:extLst>
                        <a:ext uri="{9D8B030D-6E8A-4147-A177-3AD203B41FA5}">
                          <a16:colId xmlns:a16="http://schemas.microsoft.com/office/drawing/2014/main" val="1444415186"/>
                        </a:ext>
                      </a:extLst>
                    </a:gridCol>
                    <a:gridCol w="1057366">
                      <a:extLst>
                        <a:ext uri="{9D8B030D-6E8A-4147-A177-3AD203B41FA5}">
                          <a16:colId xmlns:a16="http://schemas.microsoft.com/office/drawing/2014/main" val="1714596626"/>
                        </a:ext>
                      </a:extLst>
                    </a:gridCol>
                    <a:gridCol w="1057366">
                      <a:extLst>
                        <a:ext uri="{9D8B030D-6E8A-4147-A177-3AD203B41FA5}">
                          <a16:colId xmlns:a16="http://schemas.microsoft.com/office/drawing/2014/main" val="1651164551"/>
                        </a:ext>
                      </a:extLst>
                    </a:gridCol>
                  </a:tblGrid>
                  <a:tr h="370840">
                    <a:tc>
                      <a:txBody>
                        <a:bodyPr/>
                        <a:lstStyle/>
                        <a:p>
                          <a:pPr algn="ctr"/>
                          <a:r>
                            <a:rPr lang="en-US" altLang="zh-TW" sz="2400" dirty="0"/>
                            <a:t>index</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4</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a:t>5</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70358424"/>
                      </a:ext>
                    </a:extLst>
                  </a:tr>
                  <a:tr h="370840">
                    <a:tc>
                      <a:txBody>
                        <a:bodyPr/>
                        <a:lstStyle/>
                        <a:p>
                          <a:pPr algn="ctr"/>
                          <a:r>
                            <a:rPr lang="en-US" altLang="zh-TW" sz="2400"/>
                            <a:t>P</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33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42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73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57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a:t>63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87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95</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79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749520102"/>
                      </a:ext>
                    </a:extLst>
                  </a:tr>
                  <a:tr h="370840">
                    <a:tc>
                      <a:txBody>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𝜇</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oMath>
                            </m:oMathPara>
                          </a14:m>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a:t>4</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811917830"/>
                      </a:ext>
                    </a:extLst>
                  </a:tr>
                </a:tbl>
              </a:graphicData>
            </a:graphic>
          </p:graphicFrame>
        </mc:Choice>
        <mc:Fallback xmlns="">
          <p:graphicFrame>
            <p:nvGraphicFramePr>
              <p:cNvPr id="5" name="表格 5">
                <a:extLst>
                  <a:ext uri="{FF2B5EF4-FFF2-40B4-BE49-F238E27FC236}">
                    <a16:creationId xmlns:a16="http://schemas.microsoft.com/office/drawing/2014/main" id="{E32418CF-FB37-416E-8BAA-94C376344341}"/>
                  </a:ext>
                </a:extLst>
              </p:cNvPr>
              <p:cNvGraphicFramePr>
                <a:graphicFrameLocks noGrp="1"/>
              </p:cNvGraphicFramePr>
              <p:nvPr>
                <p:ph idx="1"/>
                <p:extLst>
                  <p:ext uri="{D42A27DB-BD31-4B8C-83A1-F6EECF244321}">
                    <p14:modId xmlns:p14="http://schemas.microsoft.com/office/powerpoint/2010/main" val="3601404196"/>
                  </p:ext>
                </p:extLst>
              </p:nvPr>
            </p:nvGraphicFramePr>
            <p:xfrm>
              <a:off x="1337853" y="3429000"/>
              <a:ext cx="9516294" cy="1371600"/>
            </p:xfrm>
            <a:graphic>
              <a:graphicData uri="http://schemas.openxmlformats.org/drawingml/2006/table">
                <a:tbl>
                  <a:tblPr firstRow="1" bandRow="1">
                    <a:tableStyleId>{2D5ABB26-0587-4C30-8999-92F81FD0307C}</a:tableStyleId>
                  </a:tblPr>
                  <a:tblGrid>
                    <a:gridCol w="1057366">
                      <a:extLst>
                        <a:ext uri="{9D8B030D-6E8A-4147-A177-3AD203B41FA5}">
                          <a16:colId xmlns:a16="http://schemas.microsoft.com/office/drawing/2014/main" val="4171789942"/>
                        </a:ext>
                      </a:extLst>
                    </a:gridCol>
                    <a:gridCol w="1057366">
                      <a:extLst>
                        <a:ext uri="{9D8B030D-6E8A-4147-A177-3AD203B41FA5}">
                          <a16:colId xmlns:a16="http://schemas.microsoft.com/office/drawing/2014/main" val="3417406543"/>
                        </a:ext>
                      </a:extLst>
                    </a:gridCol>
                    <a:gridCol w="1057366">
                      <a:extLst>
                        <a:ext uri="{9D8B030D-6E8A-4147-A177-3AD203B41FA5}">
                          <a16:colId xmlns:a16="http://schemas.microsoft.com/office/drawing/2014/main" val="2678709422"/>
                        </a:ext>
                      </a:extLst>
                    </a:gridCol>
                    <a:gridCol w="1057366">
                      <a:extLst>
                        <a:ext uri="{9D8B030D-6E8A-4147-A177-3AD203B41FA5}">
                          <a16:colId xmlns:a16="http://schemas.microsoft.com/office/drawing/2014/main" val="716305947"/>
                        </a:ext>
                      </a:extLst>
                    </a:gridCol>
                    <a:gridCol w="1057366">
                      <a:extLst>
                        <a:ext uri="{9D8B030D-6E8A-4147-A177-3AD203B41FA5}">
                          <a16:colId xmlns:a16="http://schemas.microsoft.com/office/drawing/2014/main" val="2693768123"/>
                        </a:ext>
                      </a:extLst>
                    </a:gridCol>
                    <a:gridCol w="1057366">
                      <a:extLst>
                        <a:ext uri="{9D8B030D-6E8A-4147-A177-3AD203B41FA5}">
                          <a16:colId xmlns:a16="http://schemas.microsoft.com/office/drawing/2014/main" val="643960041"/>
                        </a:ext>
                      </a:extLst>
                    </a:gridCol>
                    <a:gridCol w="1057366">
                      <a:extLst>
                        <a:ext uri="{9D8B030D-6E8A-4147-A177-3AD203B41FA5}">
                          <a16:colId xmlns:a16="http://schemas.microsoft.com/office/drawing/2014/main" val="1444415186"/>
                        </a:ext>
                      </a:extLst>
                    </a:gridCol>
                    <a:gridCol w="1057366">
                      <a:extLst>
                        <a:ext uri="{9D8B030D-6E8A-4147-A177-3AD203B41FA5}">
                          <a16:colId xmlns:a16="http://schemas.microsoft.com/office/drawing/2014/main" val="1714596626"/>
                        </a:ext>
                      </a:extLst>
                    </a:gridCol>
                    <a:gridCol w="1057366">
                      <a:extLst>
                        <a:ext uri="{9D8B030D-6E8A-4147-A177-3AD203B41FA5}">
                          <a16:colId xmlns:a16="http://schemas.microsoft.com/office/drawing/2014/main" val="1651164551"/>
                        </a:ext>
                      </a:extLst>
                    </a:gridCol>
                  </a:tblGrid>
                  <a:tr h="457200">
                    <a:tc>
                      <a:txBody>
                        <a:bodyPr/>
                        <a:lstStyle/>
                        <a:p>
                          <a:pPr algn="ctr"/>
                          <a:r>
                            <a:rPr lang="en-US" altLang="zh-TW" sz="2400" dirty="0"/>
                            <a:t>index</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4</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a:t>5</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8</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70358424"/>
                      </a:ext>
                    </a:extLst>
                  </a:tr>
                  <a:tr h="457200">
                    <a:tc>
                      <a:txBody>
                        <a:bodyPr/>
                        <a:lstStyle/>
                        <a:p>
                          <a:pPr algn="ctr"/>
                          <a:r>
                            <a:rPr lang="en-US" altLang="zh-TW" sz="2400"/>
                            <a:t>P</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33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42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73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57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a:t>63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87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95</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79</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749520102"/>
                      </a:ext>
                    </a:extLst>
                  </a:tr>
                  <a:tr h="45720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75" t="-210667" r="-798851" b="-29333"/>
                          </a:stretch>
                        </a:blipFill>
                      </a:tcPr>
                    </a:tc>
                    <a:tc>
                      <a:txBody>
                        <a:bodyPr/>
                        <a:lstStyle/>
                        <a:p>
                          <a:pPr algn="ctr"/>
                          <a:r>
                            <a:rPr lang="en-US" altLang="zh-TW" sz="2400"/>
                            <a:t>1</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2</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3</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TW" sz="2400"/>
                            <a:t>4</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a:t>7</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t>6</a:t>
                          </a:r>
                          <a:endParaRPr lang="zh-TW"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811917830"/>
                      </a:ext>
                    </a:extLst>
                  </a:tr>
                </a:tbl>
              </a:graphicData>
            </a:graphic>
          </p:graphicFrame>
        </mc:Fallback>
      </mc:AlternateContent>
      <p:sp>
        <p:nvSpPr>
          <p:cNvPr id="4" name="投影片編號版面配置區 3">
            <a:extLst>
              <a:ext uri="{FF2B5EF4-FFF2-40B4-BE49-F238E27FC236}">
                <a16:creationId xmlns:a16="http://schemas.microsoft.com/office/drawing/2014/main" id="{F1B26DCC-9E7B-4F1C-ACCA-1E65563F9552}"/>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sp>
        <p:nvSpPr>
          <p:cNvPr id="7" name="文字方塊 6">
            <a:extLst>
              <a:ext uri="{FF2B5EF4-FFF2-40B4-BE49-F238E27FC236}">
                <a16:creationId xmlns:a16="http://schemas.microsoft.com/office/drawing/2014/main" id="{1D6E2F6E-E370-451B-97EE-7020A08400B9}"/>
              </a:ext>
            </a:extLst>
          </p:cNvPr>
          <p:cNvSpPr txBox="1"/>
          <p:nvPr/>
        </p:nvSpPr>
        <p:spPr>
          <a:xfrm>
            <a:off x="5528854" y="4885977"/>
            <a:ext cx="1134291" cy="461665"/>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P[1…4]</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7EF69E50-7FA8-4361-BF72-825957859CF1}"/>
              </a:ext>
            </a:extLst>
          </p:cNvPr>
          <p:cNvSpPr txBox="1"/>
          <p:nvPr/>
        </p:nvSpPr>
        <p:spPr>
          <a:xfrm>
            <a:off x="9719856" y="4885977"/>
            <a:ext cx="1134291" cy="461665"/>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P[1…8]</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7F42E64C-1F43-4647-B304-A5B68C237B49}"/>
              </a:ext>
            </a:extLst>
          </p:cNvPr>
          <p:cNvSpPr txBox="1"/>
          <p:nvPr/>
        </p:nvSpPr>
        <p:spPr>
          <a:xfrm>
            <a:off x="1337853" y="1921520"/>
            <a:ext cx="4084320" cy="461665"/>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 Order-statistic tree</a:t>
            </a:r>
          </a:p>
        </p:txBody>
      </p:sp>
    </p:spTree>
    <p:extLst>
      <p:ext uri="{BB962C8B-B14F-4D97-AF65-F5344CB8AC3E}">
        <p14:creationId xmlns:p14="http://schemas.microsoft.com/office/powerpoint/2010/main" val="3096677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60041552-2110-41AA-B72A-B18CAED14186}"/>
              </a:ext>
            </a:extLst>
          </p:cNvPr>
          <p:cNvPicPr>
            <a:picLocks noChangeAspect="1"/>
          </p:cNvPicPr>
          <p:nvPr/>
        </p:nvPicPr>
        <p:blipFill>
          <a:blip r:embed="rId2"/>
          <a:stretch>
            <a:fillRect/>
          </a:stretch>
        </p:blipFill>
        <p:spPr>
          <a:xfrm>
            <a:off x="4432663" y="1294127"/>
            <a:ext cx="7389300" cy="5500719"/>
          </a:xfrm>
          <a:prstGeom prst="rect">
            <a:avLst/>
          </a:prstGeom>
        </p:spPr>
      </p:pic>
      <p:sp>
        <p:nvSpPr>
          <p:cNvPr id="2" name="標題 1">
            <a:extLst>
              <a:ext uri="{FF2B5EF4-FFF2-40B4-BE49-F238E27FC236}">
                <a16:creationId xmlns:a16="http://schemas.microsoft.com/office/drawing/2014/main" id="{A1167A11-412E-45E8-9127-094F038FB92E}"/>
              </a:ext>
            </a:extLst>
          </p:cNvPr>
          <p:cNvSpPr>
            <a:spLocks noGrp="1"/>
          </p:cNvSpPr>
          <p:nvPr>
            <p:ph type="title"/>
          </p:nvPr>
        </p:nvSpPr>
        <p:spPr/>
        <p:txBody>
          <a:bodyPr/>
          <a:lstStyle/>
          <a:p>
            <a:r>
              <a:rPr lang="en-US" altLang="zh-TW" dirty="0"/>
              <a:t>Failure Function</a:t>
            </a:r>
            <a:endParaRPr lang="pt-BR" altLang="zh-TW" dirty="0"/>
          </a:p>
        </p:txBody>
      </p:sp>
      <p:sp>
        <p:nvSpPr>
          <p:cNvPr id="3" name="內容版面配置區 2">
            <a:extLst>
              <a:ext uri="{FF2B5EF4-FFF2-40B4-BE49-F238E27FC236}">
                <a16:creationId xmlns:a16="http://schemas.microsoft.com/office/drawing/2014/main" id="{C69DA3A9-5EF1-427A-86C2-FAFA8676EE72}"/>
              </a:ext>
            </a:extLst>
          </p:cNvPr>
          <p:cNvSpPr>
            <a:spLocks noGrp="1"/>
          </p:cNvSpPr>
          <p:nvPr>
            <p:ph idx="1"/>
          </p:nvPr>
        </p:nvSpPr>
        <p:spPr>
          <a:xfrm>
            <a:off x="838200" y="1825625"/>
            <a:ext cx="3716383" cy="4351338"/>
          </a:xfrm>
        </p:spPr>
        <p:txBody>
          <a:bodyPr/>
          <a:lstStyle/>
          <a:p>
            <a:r>
              <a:rPr lang="zh-TW" altLang="en-US" dirty="0"/>
              <a:t>參考</a:t>
            </a:r>
            <a:r>
              <a:rPr lang="en-US" altLang="zh-TW" dirty="0"/>
              <a:t>KMP Algorithm</a:t>
            </a:r>
          </a:p>
          <a:p>
            <a:pPr lvl="1"/>
            <a:r>
              <a:rPr lang="en-US" altLang="zh-TW" dirty="0"/>
              <a:t>Proper prefix and proper suffix</a:t>
            </a:r>
          </a:p>
        </p:txBody>
      </p:sp>
      <p:sp>
        <p:nvSpPr>
          <p:cNvPr id="4" name="投影片編號版面配置區 3">
            <a:extLst>
              <a:ext uri="{FF2B5EF4-FFF2-40B4-BE49-F238E27FC236}">
                <a16:creationId xmlns:a16="http://schemas.microsoft.com/office/drawing/2014/main" id="{DE16D0FC-CA4A-49A8-9172-6F161BE3F1FF}"/>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spTree>
    <p:extLst>
      <p:ext uri="{BB962C8B-B14F-4D97-AF65-F5344CB8AC3E}">
        <p14:creationId xmlns:p14="http://schemas.microsoft.com/office/powerpoint/2010/main" val="3599195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DC6800D7-3A3A-48F1-93B7-A4245B372FF1}"/>
              </a:ext>
            </a:extLst>
          </p:cNvPr>
          <p:cNvPicPr>
            <a:picLocks noChangeAspect="1"/>
          </p:cNvPicPr>
          <p:nvPr/>
        </p:nvPicPr>
        <p:blipFill>
          <a:blip r:embed="rId2"/>
          <a:stretch>
            <a:fillRect/>
          </a:stretch>
        </p:blipFill>
        <p:spPr>
          <a:xfrm>
            <a:off x="1762685" y="1336711"/>
            <a:ext cx="8666631" cy="5019639"/>
          </a:xfrm>
          <a:prstGeom prst="rect">
            <a:avLst/>
          </a:prstGeom>
        </p:spPr>
      </p:pic>
      <p:sp>
        <p:nvSpPr>
          <p:cNvPr id="2" name="標題 1">
            <a:extLst>
              <a:ext uri="{FF2B5EF4-FFF2-40B4-BE49-F238E27FC236}">
                <a16:creationId xmlns:a16="http://schemas.microsoft.com/office/drawing/2014/main" id="{A1167A11-412E-45E8-9127-094F038FB92E}"/>
              </a:ext>
            </a:extLst>
          </p:cNvPr>
          <p:cNvSpPr>
            <a:spLocks noGrp="1"/>
          </p:cNvSpPr>
          <p:nvPr>
            <p:ph type="title"/>
          </p:nvPr>
        </p:nvSpPr>
        <p:spPr/>
        <p:txBody>
          <a:bodyPr/>
          <a:lstStyle/>
          <a:p>
            <a:r>
              <a:rPr lang="pt-BR" altLang="zh-TW" dirty="0"/>
              <a:t>O(</a:t>
            </a:r>
            <a:r>
              <a:rPr lang="pt-BR" altLang="zh-TW" i="1" dirty="0"/>
              <a:t>n</a:t>
            </a:r>
            <a:r>
              <a:rPr lang="pt-BR" altLang="zh-TW" dirty="0"/>
              <a:t>log</a:t>
            </a:r>
            <a:r>
              <a:rPr lang="pt-BR" altLang="zh-TW" i="1" dirty="0"/>
              <a:t>m</a:t>
            </a:r>
            <a:r>
              <a:rPr lang="pt-BR" altLang="zh-TW" dirty="0"/>
              <a:t>) algorithm</a:t>
            </a:r>
            <a:endParaRPr lang="zh-TW" altLang="en-US" dirty="0"/>
          </a:p>
        </p:txBody>
      </p:sp>
      <p:sp>
        <p:nvSpPr>
          <p:cNvPr id="4" name="投影片編號版面配置區 3">
            <a:extLst>
              <a:ext uri="{FF2B5EF4-FFF2-40B4-BE49-F238E27FC236}">
                <a16:creationId xmlns:a16="http://schemas.microsoft.com/office/drawing/2014/main" id="{DE16D0FC-CA4A-49A8-9172-6F161BE3F1FF}"/>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p:sp>
        <p:nvSpPr>
          <p:cNvPr id="3" name="箭號: 左-上雙向 2">
            <a:extLst>
              <a:ext uri="{FF2B5EF4-FFF2-40B4-BE49-F238E27FC236}">
                <a16:creationId xmlns:a16="http://schemas.microsoft.com/office/drawing/2014/main" id="{52445EA7-11F9-4CBB-8E75-C434963B64A4}"/>
              </a:ext>
            </a:extLst>
          </p:cNvPr>
          <p:cNvSpPr/>
          <p:nvPr/>
        </p:nvSpPr>
        <p:spPr>
          <a:xfrm rot="16200000">
            <a:off x="6518367" y="3148149"/>
            <a:ext cx="1558834" cy="1097279"/>
          </a:xfrm>
          <a:prstGeom prst="leftUpArrow">
            <a:avLst>
              <a:gd name="adj1" fmla="val 6603"/>
              <a:gd name="adj2" fmla="val 10121"/>
              <a:gd name="adj3" fmla="val 227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92173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8CD79C-DA46-42FB-93B8-FD88A4B39DD2}"/>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650F5B9F-48DF-4699-8891-7F9F77F34360}"/>
              </a:ext>
            </a:extLst>
          </p:cNvPr>
          <p:cNvSpPr>
            <a:spLocks noGrp="1"/>
          </p:cNvSpPr>
          <p:nvPr>
            <p:ph idx="1"/>
          </p:nvPr>
        </p:nvSpPr>
        <p:spPr/>
        <p:txBody>
          <a:bodyPr/>
          <a:lstStyle/>
          <a:p>
            <a:r>
              <a:rPr lang="en-US" altLang="zh-TW" dirty="0"/>
              <a:t>O(</a:t>
            </a:r>
            <a:r>
              <a:rPr lang="en-US" altLang="zh-TW" i="1" dirty="0" err="1"/>
              <a:t>n</a:t>
            </a:r>
            <a:r>
              <a:rPr lang="en-US" altLang="zh-TW" dirty="0" err="1"/>
              <a:t>log</a:t>
            </a:r>
            <a:r>
              <a:rPr lang="en-US" altLang="zh-TW" i="1" dirty="0" err="1"/>
              <a:t>m</a:t>
            </a:r>
            <a:r>
              <a:rPr lang="en-US" altLang="zh-TW" dirty="0"/>
              <a:t>)</a:t>
            </a:r>
          </a:p>
          <a:p>
            <a:pPr lvl="1"/>
            <a:r>
              <a:rPr lang="en-US" altLang="zh-TW" dirty="0"/>
              <a:t>Preﬁx representation</a:t>
            </a:r>
          </a:p>
          <a:p>
            <a:pPr lvl="2"/>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p>
          <a:p>
            <a:pPr lvl="1"/>
            <a:r>
              <a:rPr lang="en-US" altLang="zh-TW" dirty="0"/>
              <a:t>Failure function</a:t>
            </a:r>
          </a:p>
          <a:p>
            <a:pPr lvl="2"/>
            <a:r>
              <a:rPr lang="en-US" altLang="zh-TW" sz="2400" dirty="0">
                <a:latin typeface="Times New Roman" panose="02020603050405020304" pitchFamily="18" charset="0"/>
                <a:cs typeface="Times New Roman" panose="02020603050405020304" pitchFamily="18" charset="0"/>
              </a:rPr>
              <a:t>O(</a:t>
            </a:r>
            <a:r>
              <a:rPr lang="en-US" altLang="zh-TW" sz="2400"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log</a:t>
            </a:r>
            <a:r>
              <a:rPr lang="en-US" altLang="zh-TW" sz="2400"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p>
            <a:pPr lvl="1"/>
            <a:r>
              <a:rPr lang="en-US" altLang="zh-TW" dirty="0"/>
              <a:t>Text Search</a:t>
            </a:r>
          </a:p>
          <a:p>
            <a:pPr lvl="2"/>
            <a:r>
              <a:rPr lang="en-US" altLang="zh-TW" dirty="0"/>
              <a:t>O(</a:t>
            </a:r>
            <a:r>
              <a:rPr lang="en-US" altLang="zh-TW" i="1" dirty="0" err="1"/>
              <a:t>n</a:t>
            </a:r>
            <a:r>
              <a:rPr lang="en-US" altLang="zh-TW" dirty="0" err="1"/>
              <a:t>log</a:t>
            </a:r>
            <a:r>
              <a:rPr lang="en-US" altLang="zh-TW" i="1" dirty="0" err="1"/>
              <a:t>m</a:t>
            </a:r>
            <a:r>
              <a:rPr lang="en-US" altLang="zh-TW" dirty="0"/>
              <a:t>)</a:t>
            </a:r>
          </a:p>
          <a:p>
            <a:pPr lvl="1"/>
            <a:endParaRPr lang="en-US" altLang="zh-TW" dirty="0"/>
          </a:p>
          <a:p>
            <a:pPr lvl="1"/>
            <a:endParaRPr lang="zh-TW" altLang="en-US" dirty="0"/>
          </a:p>
        </p:txBody>
      </p:sp>
      <p:sp>
        <p:nvSpPr>
          <p:cNvPr id="4" name="投影片編號版面配置區 3">
            <a:extLst>
              <a:ext uri="{FF2B5EF4-FFF2-40B4-BE49-F238E27FC236}">
                <a16:creationId xmlns:a16="http://schemas.microsoft.com/office/drawing/2014/main" id="{50A37BA1-19DD-4984-87F3-16929BF16931}"/>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spTree>
    <p:extLst>
      <p:ext uri="{BB962C8B-B14F-4D97-AF65-F5344CB8AC3E}">
        <p14:creationId xmlns:p14="http://schemas.microsoft.com/office/powerpoint/2010/main" val="111819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9B8CF2-771F-4A16-A28E-4364249ED5CF}"/>
              </a:ext>
            </a:extLst>
          </p:cNvPr>
          <p:cNvSpPr>
            <a:spLocks noGrp="1"/>
          </p:cNvSpPr>
          <p:nvPr>
            <p:ph type="title"/>
          </p:nvPr>
        </p:nvSpPr>
        <p:spPr/>
        <p:txBody>
          <a:bodyPr/>
          <a:lstStyle/>
          <a:p>
            <a:r>
              <a:rPr lang="en-US" altLang="zh-TW" dirty="0"/>
              <a:t>Nearest Neighbor Representation</a:t>
            </a:r>
            <a:endParaRPr lang="zh-TW" altLang="en-US" dirty="0"/>
          </a:p>
        </p:txBody>
      </p:sp>
      <p:graphicFrame>
        <p:nvGraphicFramePr>
          <p:cNvPr id="8" name="表格 8">
            <a:extLst>
              <a:ext uri="{FF2B5EF4-FFF2-40B4-BE49-F238E27FC236}">
                <a16:creationId xmlns:a16="http://schemas.microsoft.com/office/drawing/2014/main" id="{9D76E05F-AA02-4503-9561-2FC8584956D6}"/>
              </a:ext>
            </a:extLst>
          </p:cNvPr>
          <p:cNvGraphicFramePr>
            <a:graphicFrameLocks noGrp="1"/>
          </p:cNvGraphicFramePr>
          <p:nvPr>
            <p:ph idx="1"/>
            <p:extLst>
              <p:ext uri="{D42A27DB-BD31-4B8C-83A1-F6EECF244321}">
                <p14:modId xmlns:p14="http://schemas.microsoft.com/office/powerpoint/2010/main" val="2002124998"/>
              </p:ext>
            </p:extLst>
          </p:nvPr>
        </p:nvGraphicFramePr>
        <p:xfrm>
          <a:off x="838200" y="1825624"/>
          <a:ext cx="10515600" cy="2778462"/>
        </p:xfrm>
        <a:graphic>
          <a:graphicData uri="http://schemas.openxmlformats.org/drawingml/2006/table">
            <a:tbl>
              <a:tblPr firstRow="1" bandRow="1">
                <a:tableStyleId>{2D5ABB26-0587-4C30-8999-92F81FD0307C}</a:tableStyleId>
              </a:tblPr>
              <a:tblGrid>
                <a:gridCol w="1168400">
                  <a:extLst>
                    <a:ext uri="{9D8B030D-6E8A-4147-A177-3AD203B41FA5}">
                      <a16:colId xmlns:a16="http://schemas.microsoft.com/office/drawing/2014/main" val="3515991540"/>
                    </a:ext>
                  </a:extLst>
                </a:gridCol>
                <a:gridCol w="1168400">
                  <a:extLst>
                    <a:ext uri="{9D8B030D-6E8A-4147-A177-3AD203B41FA5}">
                      <a16:colId xmlns:a16="http://schemas.microsoft.com/office/drawing/2014/main" val="3989642897"/>
                    </a:ext>
                  </a:extLst>
                </a:gridCol>
                <a:gridCol w="1168400">
                  <a:extLst>
                    <a:ext uri="{9D8B030D-6E8A-4147-A177-3AD203B41FA5}">
                      <a16:colId xmlns:a16="http://schemas.microsoft.com/office/drawing/2014/main" val="1864504186"/>
                    </a:ext>
                  </a:extLst>
                </a:gridCol>
                <a:gridCol w="1168400">
                  <a:extLst>
                    <a:ext uri="{9D8B030D-6E8A-4147-A177-3AD203B41FA5}">
                      <a16:colId xmlns:a16="http://schemas.microsoft.com/office/drawing/2014/main" val="1725018243"/>
                    </a:ext>
                  </a:extLst>
                </a:gridCol>
                <a:gridCol w="1168400">
                  <a:extLst>
                    <a:ext uri="{9D8B030D-6E8A-4147-A177-3AD203B41FA5}">
                      <a16:colId xmlns:a16="http://schemas.microsoft.com/office/drawing/2014/main" val="1025697045"/>
                    </a:ext>
                  </a:extLst>
                </a:gridCol>
                <a:gridCol w="1168400">
                  <a:extLst>
                    <a:ext uri="{9D8B030D-6E8A-4147-A177-3AD203B41FA5}">
                      <a16:colId xmlns:a16="http://schemas.microsoft.com/office/drawing/2014/main" val="3395627506"/>
                    </a:ext>
                  </a:extLst>
                </a:gridCol>
                <a:gridCol w="1168400">
                  <a:extLst>
                    <a:ext uri="{9D8B030D-6E8A-4147-A177-3AD203B41FA5}">
                      <a16:colId xmlns:a16="http://schemas.microsoft.com/office/drawing/2014/main" val="1062523662"/>
                    </a:ext>
                  </a:extLst>
                </a:gridCol>
                <a:gridCol w="1168400">
                  <a:extLst>
                    <a:ext uri="{9D8B030D-6E8A-4147-A177-3AD203B41FA5}">
                      <a16:colId xmlns:a16="http://schemas.microsoft.com/office/drawing/2014/main" val="2321558195"/>
                    </a:ext>
                  </a:extLst>
                </a:gridCol>
                <a:gridCol w="1168400">
                  <a:extLst>
                    <a:ext uri="{9D8B030D-6E8A-4147-A177-3AD203B41FA5}">
                      <a16:colId xmlns:a16="http://schemas.microsoft.com/office/drawing/2014/main" val="2334159368"/>
                    </a:ext>
                  </a:extLst>
                </a:gridCol>
              </a:tblGrid>
              <a:tr h="463077">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775134"/>
                  </a:ext>
                </a:extLst>
              </a:tr>
              <a:tr h="463077">
                <a:tc>
                  <a:txBody>
                    <a:bodyPr/>
                    <a:lstStyle/>
                    <a:p>
                      <a:pPr algn="ctr"/>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42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latin typeface="Times New Roman" panose="02020603050405020304" pitchFamily="18" charset="0"/>
                          <a:cs typeface="Times New Roman" panose="02020603050405020304" pitchFamily="18" charset="0"/>
                        </a:rPr>
                        <a:t>73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altLang="zh-TW" sz="2400" dirty="0">
                          <a:latin typeface="Times New Roman" panose="02020603050405020304" pitchFamily="18" charset="0"/>
                          <a:cs typeface="Times New Roman" panose="02020603050405020304" pitchFamily="18" charset="0"/>
                        </a:rPr>
                        <a:t>57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3341544"/>
                  </a:ext>
                </a:extLst>
              </a:tr>
              <a:tr h="463077">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4874382"/>
                  </a:ext>
                </a:extLst>
              </a:tr>
              <a:tr h="463077">
                <a:tc>
                  <a:txBody>
                    <a:bodyPr/>
                    <a:lstStyle/>
                    <a:p>
                      <a:pPr algn="ctr"/>
                      <a:r>
                        <a:rPr lang="en-US" altLang="zh-TW" sz="2400" dirty="0">
                          <a:latin typeface="Times New Roman" panose="02020603050405020304" pitchFamily="18" charset="0"/>
                          <a:cs typeface="Times New Roman" panose="02020603050405020304" pitchFamily="18" charset="0"/>
                          <a:sym typeface="Symbol" panose="05050102010706020507" pitchFamily="18" charset="2"/>
                        </a:rPr>
                        <a:t>(P)</a:t>
                      </a:r>
                      <a:endParaRPr lang="en-US" altLang="zh-TW"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2043327"/>
                  </a:ext>
                </a:extLst>
              </a:tr>
              <a:tr h="463077">
                <a:tc>
                  <a:txBody>
                    <a:bodyPr/>
                    <a:lstStyle/>
                    <a:p>
                      <a:pPr algn="ctr"/>
                      <a:r>
                        <a:rPr lang="en-US" altLang="zh-TW" sz="2400" dirty="0" err="1">
                          <a:latin typeface="Times New Roman" panose="02020603050405020304" pitchFamily="18" charset="0"/>
                          <a:cs typeface="Times New Roman" panose="02020603050405020304" pitchFamily="18" charset="0"/>
                        </a:rPr>
                        <a:t>V</a:t>
                      </a:r>
                      <a:r>
                        <a:rPr lang="en-US" altLang="zh-TW" sz="2400" baseline="-25000" dirty="0" err="1">
                          <a:latin typeface="Times New Roman" panose="02020603050405020304" pitchFamily="18" charset="0"/>
                          <a:cs typeface="Times New Roman" panose="02020603050405020304" pitchFamily="18" charset="0"/>
                        </a:rPr>
                        <a:t>p</a:t>
                      </a:r>
                      <a:r>
                        <a:rPr lang="en-US" altLang="zh-TW" sz="2400" dirty="0">
                          <a:latin typeface="Times New Roman" panose="02020603050405020304" pitchFamily="18" charset="0"/>
                          <a:cs typeface="Times New Roman" panose="02020603050405020304" pitchFamily="18" charset="0"/>
                        </a:rPr>
                        <a:t>(P)[</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311275"/>
                  </a:ext>
                </a:extLst>
              </a:tr>
              <a:tr h="4630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err="1">
                          <a:latin typeface="Times New Roman" panose="02020603050405020304" pitchFamily="18" charset="0"/>
                          <a:cs typeface="Times New Roman" panose="02020603050405020304" pitchFamily="18" charset="0"/>
                        </a:rPr>
                        <a:t>V</a:t>
                      </a:r>
                      <a:r>
                        <a:rPr lang="en-US" altLang="zh-TW" sz="2400" baseline="-25000" dirty="0" err="1">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(P)[</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2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7507522"/>
                  </a:ext>
                </a:extLst>
              </a:tr>
            </a:tbl>
          </a:graphicData>
        </a:graphic>
      </p:graphicFrame>
      <p:sp>
        <p:nvSpPr>
          <p:cNvPr id="4" name="投影片編號版面配置區 3">
            <a:extLst>
              <a:ext uri="{FF2B5EF4-FFF2-40B4-BE49-F238E27FC236}">
                <a16:creationId xmlns:a16="http://schemas.microsoft.com/office/drawing/2014/main" id="{3691477D-31A0-4ABD-BB17-68DF0F57AEA9}"/>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sp>
        <p:nvSpPr>
          <p:cNvPr id="10" name="文字方塊 9">
            <a:extLst>
              <a:ext uri="{FF2B5EF4-FFF2-40B4-BE49-F238E27FC236}">
                <a16:creationId xmlns:a16="http://schemas.microsoft.com/office/drawing/2014/main" id="{502429C0-DF6F-4C9A-AC69-5259BB546C90}"/>
              </a:ext>
            </a:extLst>
          </p:cNvPr>
          <p:cNvSpPr txBox="1"/>
          <p:nvPr/>
        </p:nvSpPr>
        <p:spPr>
          <a:xfrm>
            <a:off x="838200" y="4666514"/>
            <a:ext cx="8743406" cy="1569660"/>
          </a:xfrm>
          <a:prstGeom prst="rect">
            <a:avLst/>
          </a:prstGeom>
          <a:noFill/>
        </p:spPr>
        <p:txBody>
          <a:bodyPr wrap="square">
            <a:spAutoFit/>
          </a:bodyPr>
          <a:lstStyle/>
          <a:p>
            <a:pPr marL="342900" indent="-342900">
              <a:buFont typeface="Arial" panose="020B0604020202020204" pitchFamily="34" charset="0"/>
              <a:buChar char="•"/>
            </a:pPr>
            <a:r>
              <a:rPr lang="en-US" altLang="zh-TW" sz="2400" dirty="0" err="1">
                <a:latin typeface="Times New Roman" panose="02020603050405020304" pitchFamily="18" charset="0"/>
                <a:cs typeface="Times New Roman" panose="02020603050405020304" pitchFamily="18" charset="0"/>
              </a:rPr>
              <a:t>V</a:t>
            </a:r>
            <a:r>
              <a:rPr lang="en-US" altLang="zh-TW" sz="2400" baseline="-25000" dirty="0" err="1">
                <a:latin typeface="Times New Roman" panose="02020603050405020304" pitchFamily="18" charset="0"/>
                <a:cs typeface="Times New Roman" panose="02020603050405020304" pitchFamily="18" charset="0"/>
              </a:rPr>
              <a:t>p</a:t>
            </a:r>
            <a:r>
              <a:rPr lang="en-US" altLang="zh-TW" sz="2400" dirty="0">
                <a:latin typeface="Times New Roman" panose="02020603050405020304" pitchFamily="18" charset="0"/>
                <a:cs typeface="Times New Roman" panose="02020603050405020304" pitchFamily="18" charset="0"/>
              </a:rPr>
              <a:t>(P)</a:t>
            </a:r>
            <a:r>
              <a:rPr lang="zh-TW" altLang="en-US" sz="2400" dirty="0">
                <a:latin typeface="Times New Roman" panose="02020603050405020304" pitchFamily="18" charset="0"/>
                <a:cs typeface="Times New Roman" panose="02020603050405020304" pitchFamily="18" charset="0"/>
              </a:rPr>
              <a:t> </a:t>
            </a:r>
            <a:endParaRPr lang="en-US" altLang="zh-TW" sz="24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在 </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index </a:t>
            </a:r>
            <a:r>
              <a:rPr lang="en-US" altLang="zh-TW" sz="2400" dirty="0" err="1">
                <a:latin typeface="Times New Roman" panose="02020603050405020304" pitchFamily="18" charset="0"/>
                <a:ea typeface="源流明體 M" panose="02020500000000000000" pitchFamily="18" charset="-120"/>
                <a:cs typeface="Times New Roman" panose="02020603050405020304" pitchFamily="18" charset="0"/>
              </a:rPr>
              <a:t>i</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 之</a:t>
            </a:r>
            <a:r>
              <a:rPr lang="zh-TW" altLang="en-US" sz="2400" dirty="0">
                <a:solidFill>
                  <a:srgbClr val="FF0000"/>
                </a:solidFill>
                <a:latin typeface="源流明體 M" panose="02020500000000000000" pitchFamily="18" charset="-120"/>
                <a:ea typeface="源流明體 M" panose="02020500000000000000" pitchFamily="18" charset="-120"/>
                <a:cs typeface="Times New Roman" panose="02020603050405020304" pitchFamily="18" charset="0"/>
              </a:rPr>
              <a:t>前</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a:t>
            </a:r>
            <a:r>
              <a:rPr lang="zh-TW" altLang="en-US" sz="2400" dirty="0">
                <a:solidFill>
                  <a:srgbClr val="FF0000"/>
                </a:solidFill>
                <a:latin typeface="源流明體 M" panose="02020500000000000000" pitchFamily="18" charset="-120"/>
                <a:ea typeface="源流明體 M" panose="02020500000000000000" pitchFamily="18" charset="-120"/>
                <a:cs typeface="Times New Roman" panose="02020603050405020304" pitchFamily="18" charset="0"/>
              </a:rPr>
              <a:t>小</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於 </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x[</a:t>
            </a:r>
            <a:r>
              <a:rPr lang="en-US" altLang="zh-TW" sz="2400" dirty="0" err="1">
                <a:latin typeface="Times New Roman" panose="02020603050405020304" pitchFamily="18" charset="0"/>
                <a:ea typeface="源流明體 M" panose="02020500000000000000" pitchFamily="18" charset="-120"/>
                <a:cs typeface="Times New Roman" panose="02020603050405020304" pitchFamily="18" charset="0"/>
              </a:rPr>
              <a:t>i</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a:t>
            </a:r>
            <a:r>
              <a:rPr lang="en-US" altLang="zh-TW" sz="2400" dirty="0">
                <a:latin typeface="源流明體 M" panose="02020500000000000000" pitchFamily="18" charset="-120"/>
                <a:ea typeface="源流明體 M" panose="02020500000000000000" pitchFamily="18" charset="-120"/>
                <a:cs typeface="Times New Roman" panose="02020603050405020304" pitchFamily="18" charset="0"/>
              </a:rPr>
              <a:t> </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的元素中最</a:t>
            </a:r>
            <a:r>
              <a:rPr lang="zh-TW" altLang="en-US" sz="2400" dirty="0">
                <a:solidFill>
                  <a:srgbClr val="FF0000"/>
                </a:solidFill>
                <a:latin typeface="源流明體 M" panose="02020500000000000000" pitchFamily="18" charset="-120"/>
                <a:ea typeface="源流明體 M" panose="02020500000000000000" pitchFamily="18" charset="-120"/>
                <a:cs typeface="Times New Roman" panose="02020603050405020304" pitchFamily="18" charset="0"/>
              </a:rPr>
              <a:t>大</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元素的 </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index</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 </a:t>
            </a:r>
            <a:endParaRPr lang="en-US" altLang="zh-TW" sz="2400" dirty="0">
              <a:latin typeface="源流明體 M" panose="02020500000000000000" pitchFamily="18" charset="-120"/>
              <a:ea typeface="源流明體 M" panose="02020500000000000000" pitchFamily="18" charset="-120"/>
              <a:cs typeface="Times New Roman" panose="02020603050405020304" pitchFamily="18" charset="0"/>
            </a:endParaRPr>
          </a:p>
          <a:p>
            <a:pPr marL="342900" indent="-342900">
              <a:buFont typeface="Arial" panose="020B0604020202020204" pitchFamily="34" charset="0"/>
              <a:buChar char="•"/>
            </a:pPr>
            <a:r>
              <a:rPr lang="en-US" altLang="zh-TW" sz="2400" dirty="0" err="1">
                <a:latin typeface="Times New Roman" panose="02020603050405020304" pitchFamily="18" charset="0"/>
                <a:ea typeface="源流明體 M" panose="02020500000000000000" pitchFamily="18" charset="-120"/>
                <a:cs typeface="Times New Roman" panose="02020603050405020304" pitchFamily="18" charset="0"/>
              </a:rPr>
              <a:t>V</a:t>
            </a:r>
            <a:r>
              <a:rPr lang="en-US" altLang="zh-TW" sz="2400" baseline="-25000" dirty="0" err="1">
                <a:latin typeface="Times New Roman" panose="02020603050405020304" pitchFamily="18" charset="0"/>
                <a:ea typeface="源流明體 M" panose="02020500000000000000" pitchFamily="18" charset="-120"/>
                <a:cs typeface="Times New Roman" panose="02020603050405020304" pitchFamily="18" charset="0"/>
              </a:rPr>
              <a:t>n</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(P)</a:t>
            </a:r>
          </a:p>
          <a:p>
            <a:pPr marL="800100" lvl="1" indent="-342900">
              <a:buFont typeface="Arial" panose="020B0604020202020204" pitchFamily="34" charset="0"/>
              <a:buChar char="•"/>
            </a:pP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在 </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index </a:t>
            </a:r>
            <a:r>
              <a:rPr lang="en-US" altLang="zh-TW" sz="2400" dirty="0" err="1">
                <a:latin typeface="Times New Roman" panose="02020603050405020304" pitchFamily="18" charset="0"/>
                <a:ea typeface="源流明體 M" panose="02020500000000000000" pitchFamily="18" charset="-120"/>
                <a:cs typeface="Times New Roman" panose="02020603050405020304" pitchFamily="18" charset="0"/>
              </a:rPr>
              <a:t>i</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 之</a:t>
            </a:r>
            <a:r>
              <a:rPr lang="zh-TW" altLang="en-US" sz="2400" dirty="0">
                <a:solidFill>
                  <a:srgbClr val="FF0000"/>
                </a:solidFill>
                <a:latin typeface="源流明體 M" panose="02020500000000000000" pitchFamily="18" charset="-120"/>
                <a:ea typeface="源流明體 M" panose="02020500000000000000" pitchFamily="18" charset="-120"/>
                <a:cs typeface="Times New Roman" panose="02020603050405020304" pitchFamily="18" charset="0"/>
              </a:rPr>
              <a:t>後</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a:t>
            </a:r>
            <a:r>
              <a:rPr lang="zh-TW" altLang="en-US" sz="2400" dirty="0">
                <a:solidFill>
                  <a:srgbClr val="FF0000"/>
                </a:solidFill>
                <a:latin typeface="源流明體 M" panose="02020500000000000000" pitchFamily="18" charset="-120"/>
                <a:ea typeface="源流明體 M" panose="02020500000000000000" pitchFamily="18" charset="-120"/>
                <a:cs typeface="Times New Roman" panose="02020603050405020304" pitchFamily="18" charset="0"/>
              </a:rPr>
              <a:t>大</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於 </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x[</a:t>
            </a:r>
            <a:r>
              <a:rPr lang="en-US" altLang="zh-TW" sz="2400" dirty="0" err="1">
                <a:latin typeface="Times New Roman" panose="02020603050405020304" pitchFamily="18" charset="0"/>
                <a:ea typeface="源流明體 M" panose="02020500000000000000" pitchFamily="18" charset="-120"/>
                <a:cs typeface="Times New Roman" panose="02020603050405020304" pitchFamily="18" charset="0"/>
              </a:rPr>
              <a:t>i</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a:t>
            </a:r>
            <a:r>
              <a:rPr lang="en-US" altLang="zh-TW" sz="2400" dirty="0">
                <a:latin typeface="源流明體 M" panose="02020500000000000000" pitchFamily="18" charset="-120"/>
                <a:ea typeface="源流明體 M" panose="02020500000000000000" pitchFamily="18" charset="-120"/>
                <a:cs typeface="Times New Roman" panose="02020603050405020304" pitchFamily="18" charset="0"/>
              </a:rPr>
              <a:t> </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的元素中最</a:t>
            </a:r>
            <a:r>
              <a:rPr lang="zh-TW" altLang="en-US" sz="2400" dirty="0">
                <a:solidFill>
                  <a:srgbClr val="FF0000"/>
                </a:solidFill>
                <a:latin typeface="源流明體 M" panose="02020500000000000000" pitchFamily="18" charset="-120"/>
                <a:ea typeface="源流明體 M" panose="02020500000000000000" pitchFamily="18" charset="-120"/>
                <a:cs typeface="Times New Roman" panose="02020603050405020304" pitchFamily="18" charset="0"/>
              </a:rPr>
              <a:t>小</a:t>
            </a:r>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元素的 </a:t>
            </a:r>
            <a:r>
              <a:rPr lang="en-US" altLang="zh-TW" sz="2400" dirty="0">
                <a:latin typeface="Times New Roman" panose="02020603050405020304" pitchFamily="18" charset="0"/>
                <a:ea typeface="源流明體 M" panose="02020500000000000000" pitchFamily="18" charset="-120"/>
                <a:cs typeface="Times New Roman" panose="02020603050405020304" pitchFamily="18" charset="0"/>
              </a:rPr>
              <a:t>index</a:t>
            </a:r>
            <a:r>
              <a:rPr lang="zh-TW" altLang="en-US" sz="2400" dirty="0">
                <a:latin typeface="Times New Roman" panose="02020603050405020304" pitchFamily="18" charset="0"/>
                <a:ea typeface="源流明體 M" panose="02020500000000000000" pitchFamily="18" charset="-120"/>
                <a:cs typeface="Times New Roman" panose="02020603050405020304" pitchFamily="18" charset="0"/>
              </a:rPr>
              <a:t> </a:t>
            </a:r>
            <a:endParaRPr lang="en-US" altLang="zh-TW" sz="2400" dirty="0">
              <a:latin typeface="Times New Roman" panose="02020603050405020304" pitchFamily="18" charset="0"/>
              <a:ea typeface="源流明體 M"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1529991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F888D6-CB08-4018-8EAF-B4779FBF4CC5}"/>
              </a:ext>
            </a:extLst>
          </p:cNvPr>
          <p:cNvSpPr>
            <a:spLocks noGrp="1"/>
          </p:cNvSpPr>
          <p:nvPr>
            <p:ph type="title"/>
          </p:nvPr>
        </p:nvSpPr>
        <p:spPr/>
        <p:txBody>
          <a:bodyPr/>
          <a:lstStyle/>
          <a:p>
            <a:r>
              <a:rPr lang="en-US" altLang="zh-TW" dirty="0"/>
              <a:t>Failure Function</a:t>
            </a:r>
            <a:endParaRPr lang="zh-TW" altLang="en-US" dirty="0"/>
          </a:p>
        </p:txBody>
      </p:sp>
      <p:sp>
        <p:nvSpPr>
          <p:cNvPr id="4" name="投影片編號版面配置區 3">
            <a:extLst>
              <a:ext uri="{FF2B5EF4-FFF2-40B4-BE49-F238E27FC236}">
                <a16:creationId xmlns:a16="http://schemas.microsoft.com/office/drawing/2014/main" id="{237E0C9D-CE3B-4052-A770-7F13D075E38B}"/>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pic>
        <p:nvPicPr>
          <p:cNvPr id="6" name="內容版面配置區 5">
            <a:extLst>
              <a:ext uri="{FF2B5EF4-FFF2-40B4-BE49-F238E27FC236}">
                <a16:creationId xmlns:a16="http://schemas.microsoft.com/office/drawing/2014/main" id="{38599BC2-7789-4321-967D-27A5C275F3A5}"/>
              </a:ext>
            </a:extLst>
          </p:cNvPr>
          <p:cNvPicPr>
            <a:picLocks noGrp="1" noChangeAspect="1"/>
          </p:cNvPicPr>
          <p:nvPr>
            <p:ph idx="1"/>
          </p:nvPr>
        </p:nvPicPr>
        <p:blipFill rotWithShape="1">
          <a:blip r:embed="rId2"/>
          <a:srcRect r="21156" b="63366"/>
          <a:stretch/>
        </p:blipFill>
        <p:spPr>
          <a:xfrm>
            <a:off x="838200" y="1690688"/>
            <a:ext cx="5636249" cy="1949495"/>
          </a:xfrm>
          <a:prstGeom prst="rect">
            <a:avLst/>
          </a:prstGeom>
        </p:spPr>
      </p:pic>
      <p:pic>
        <p:nvPicPr>
          <p:cNvPr id="7" name="內容版面配置區 5">
            <a:extLst>
              <a:ext uri="{FF2B5EF4-FFF2-40B4-BE49-F238E27FC236}">
                <a16:creationId xmlns:a16="http://schemas.microsoft.com/office/drawing/2014/main" id="{108B9460-640D-4D40-8425-8F1D02592854}"/>
              </a:ext>
            </a:extLst>
          </p:cNvPr>
          <p:cNvPicPr>
            <a:picLocks noChangeAspect="1"/>
          </p:cNvPicPr>
          <p:nvPr/>
        </p:nvPicPr>
        <p:blipFill rotWithShape="1">
          <a:blip r:embed="rId2"/>
          <a:srcRect l="22012" t="7022" r="27800" b="82995"/>
          <a:stretch/>
        </p:blipFill>
        <p:spPr>
          <a:xfrm>
            <a:off x="3759200" y="3640183"/>
            <a:ext cx="3587750" cy="531223"/>
          </a:xfrm>
          <a:prstGeom prst="rect">
            <a:avLst/>
          </a:prstGeom>
        </p:spPr>
      </p:pic>
      <p:sp>
        <p:nvSpPr>
          <p:cNvPr id="8" name="矩形 7">
            <a:extLst>
              <a:ext uri="{FF2B5EF4-FFF2-40B4-BE49-F238E27FC236}">
                <a16:creationId xmlns:a16="http://schemas.microsoft.com/office/drawing/2014/main" id="{63CD8F22-EAB8-4382-A295-F5F4CC3481B7}"/>
              </a:ext>
            </a:extLst>
          </p:cNvPr>
          <p:cNvSpPr/>
          <p:nvPr/>
        </p:nvSpPr>
        <p:spPr>
          <a:xfrm>
            <a:off x="3759200" y="1690688"/>
            <a:ext cx="1788160" cy="26287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箭號: 向右 8">
            <a:extLst>
              <a:ext uri="{FF2B5EF4-FFF2-40B4-BE49-F238E27FC236}">
                <a16:creationId xmlns:a16="http://schemas.microsoft.com/office/drawing/2014/main" id="{8AF0272E-4ED2-4638-A344-D4FDD64C4839}"/>
              </a:ext>
            </a:extLst>
          </p:cNvPr>
          <p:cNvSpPr/>
          <p:nvPr/>
        </p:nvSpPr>
        <p:spPr>
          <a:xfrm>
            <a:off x="6096000" y="2244634"/>
            <a:ext cx="992779" cy="121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AE4542B3-D287-4AED-BAA6-1B961D08A732}"/>
              </a:ext>
            </a:extLst>
          </p:cNvPr>
          <p:cNvSpPr txBox="1"/>
          <p:nvPr/>
        </p:nvSpPr>
        <p:spPr>
          <a:xfrm>
            <a:off x="7410995" y="2074761"/>
            <a:ext cx="188866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87 &lt; 95 &lt; ∞</a:t>
            </a:r>
            <a:endParaRPr lang="zh-TW" altLang="en-US" sz="2400" dirty="0">
              <a:latin typeface="Times New Roman" panose="02020603050405020304" pitchFamily="18" charset="0"/>
              <a:cs typeface="Times New Roman" panose="02020603050405020304" pitchFamily="18" charset="0"/>
            </a:endParaRPr>
          </a:p>
        </p:txBody>
      </p:sp>
      <p:sp>
        <p:nvSpPr>
          <p:cNvPr id="11" name="箭號: 彎曲 10">
            <a:extLst>
              <a:ext uri="{FF2B5EF4-FFF2-40B4-BE49-F238E27FC236}">
                <a16:creationId xmlns:a16="http://schemas.microsoft.com/office/drawing/2014/main" id="{16707106-F512-41B9-BD71-40169B027E6A}"/>
              </a:ext>
            </a:extLst>
          </p:cNvPr>
          <p:cNvSpPr/>
          <p:nvPr/>
        </p:nvSpPr>
        <p:spPr>
          <a:xfrm rot="10800000" flipH="1">
            <a:off x="5303522" y="4171406"/>
            <a:ext cx="644434" cy="609600"/>
          </a:xfrm>
          <a:prstGeom prst="bentArrow">
            <a:avLst>
              <a:gd name="adj1" fmla="val 8385"/>
              <a:gd name="adj2" fmla="val 12290"/>
              <a:gd name="adj3" fmla="val 15999"/>
              <a:gd name="adj4" fmla="val 4375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2" name="文字方塊 11">
            <a:extLst>
              <a:ext uri="{FF2B5EF4-FFF2-40B4-BE49-F238E27FC236}">
                <a16:creationId xmlns:a16="http://schemas.microsoft.com/office/drawing/2014/main" id="{6C3E142F-DCF5-4B68-A634-EA9756DE51B1}"/>
              </a:ext>
            </a:extLst>
          </p:cNvPr>
          <p:cNvSpPr txBox="1"/>
          <p:nvPr/>
        </p:nvSpPr>
        <p:spPr>
          <a:xfrm>
            <a:off x="6144449" y="4477213"/>
            <a:ext cx="188866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73 &lt; 57 &lt; ∞</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C9BBBBC6-53CB-4ED0-ADFA-EB82CA00F5C2}"/>
              </a:ext>
            </a:extLst>
          </p:cNvPr>
          <p:cNvSpPr txBox="1"/>
          <p:nvPr/>
        </p:nvSpPr>
        <p:spPr>
          <a:xfrm>
            <a:off x="5371738" y="4939996"/>
            <a:ext cx="2572095"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Index: 3</a:t>
            </a:r>
            <a:endParaRPr lang="zh-TW" altLang="en-US" sz="2400"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D9BCFE09-6CF6-44EC-9B2B-7B9DAC168F84}"/>
              </a:ext>
            </a:extLst>
          </p:cNvPr>
          <p:cNvSpPr txBox="1"/>
          <p:nvPr/>
        </p:nvSpPr>
        <p:spPr>
          <a:xfrm>
            <a:off x="6657786" y="2449561"/>
            <a:ext cx="181057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Index: 3               </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8832838F-D33B-4459-BDE9-6A53FD0DA38E}"/>
              </a:ext>
            </a:extLst>
          </p:cNvPr>
          <p:cNvSpPr txBox="1"/>
          <p:nvPr/>
        </p:nvSpPr>
        <p:spPr>
          <a:xfrm>
            <a:off x="3308064" y="3674961"/>
            <a:ext cx="34826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a:t>
            </a:r>
            <a:endParaRPr lang="zh-TW" altLang="en-US" sz="2400" dirty="0">
              <a:latin typeface="Times New Roman" panose="02020603050405020304" pitchFamily="18" charset="0"/>
              <a:cs typeface="Times New Roman" panose="02020603050405020304" pitchFamily="18" charset="0"/>
            </a:endParaRPr>
          </a:p>
        </p:txBody>
      </p:sp>
      <p:sp>
        <p:nvSpPr>
          <p:cNvPr id="16" name="乘號 15">
            <a:extLst>
              <a:ext uri="{FF2B5EF4-FFF2-40B4-BE49-F238E27FC236}">
                <a16:creationId xmlns:a16="http://schemas.microsoft.com/office/drawing/2014/main" id="{92D69FC3-7BB8-44DD-8706-2C092E08D6A5}"/>
              </a:ext>
            </a:extLst>
          </p:cNvPr>
          <p:cNvSpPr/>
          <p:nvPr/>
        </p:nvSpPr>
        <p:spPr>
          <a:xfrm>
            <a:off x="7757148" y="4502551"/>
            <a:ext cx="383178" cy="473617"/>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40421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167A11-412E-45E8-9127-094F038FB92E}"/>
              </a:ext>
            </a:extLst>
          </p:cNvPr>
          <p:cNvSpPr>
            <a:spLocks noGrp="1"/>
          </p:cNvSpPr>
          <p:nvPr>
            <p:ph type="title"/>
          </p:nvPr>
        </p:nvSpPr>
        <p:spPr/>
        <p:txBody>
          <a:bodyPr/>
          <a:lstStyle/>
          <a:p>
            <a:r>
              <a:rPr lang="pt-BR" altLang="zh-TW" dirty="0"/>
              <a:t>O(</a:t>
            </a:r>
            <a:r>
              <a:rPr lang="pt-BR" altLang="zh-TW" i="1" dirty="0"/>
              <a:t>n</a:t>
            </a:r>
            <a:r>
              <a:rPr lang="pt-BR" altLang="zh-TW" dirty="0"/>
              <a:t> + </a:t>
            </a:r>
            <a:r>
              <a:rPr lang="pt-BR" altLang="zh-TW" i="1" dirty="0"/>
              <a:t>m</a:t>
            </a:r>
            <a:r>
              <a:rPr lang="pt-BR" altLang="zh-TW" dirty="0"/>
              <a:t>log</a:t>
            </a:r>
            <a:r>
              <a:rPr lang="pt-BR" altLang="zh-TW" i="1" dirty="0"/>
              <a:t>m</a:t>
            </a:r>
            <a:r>
              <a:rPr lang="pt-BR" altLang="zh-TW" dirty="0"/>
              <a:t>) algorithm</a:t>
            </a:r>
            <a:endParaRPr lang="zh-TW" altLang="en-US" dirty="0"/>
          </a:p>
        </p:txBody>
      </p:sp>
      <p:sp>
        <p:nvSpPr>
          <p:cNvPr id="4" name="投影片編號版面配置區 3">
            <a:extLst>
              <a:ext uri="{FF2B5EF4-FFF2-40B4-BE49-F238E27FC236}">
                <a16:creationId xmlns:a16="http://schemas.microsoft.com/office/drawing/2014/main" id="{DE16D0FC-CA4A-49A8-9172-6F161BE3F1FF}"/>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p:grpSp>
        <p:nvGrpSpPr>
          <p:cNvPr id="5" name="群組 4">
            <a:extLst>
              <a:ext uri="{FF2B5EF4-FFF2-40B4-BE49-F238E27FC236}">
                <a16:creationId xmlns:a16="http://schemas.microsoft.com/office/drawing/2014/main" id="{C9E6A942-7B60-4EAC-AA4D-B4080C307959}"/>
              </a:ext>
            </a:extLst>
          </p:cNvPr>
          <p:cNvGrpSpPr/>
          <p:nvPr/>
        </p:nvGrpSpPr>
        <p:grpSpPr>
          <a:xfrm>
            <a:off x="1762684" y="2649265"/>
            <a:ext cx="8666631" cy="1325564"/>
            <a:chOff x="1762684" y="2649265"/>
            <a:chExt cx="8666631" cy="1325564"/>
          </a:xfrm>
        </p:grpSpPr>
        <p:pic>
          <p:nvPicPr>
            <p:cNvPr id="7" name="圖片 6">
              <a:extLst>
                <a:ext uri="{FF2B5EF4-FFF2-40B4-BE49-F238E27FC236}">
                  <a16:creationId xmlns:a16="http://schemas.microsoft.com/office/drawing/2014/main" id="{DC6800D7-3A3A-48F1-93B7-A4245B372FF1}"/>
                </a:ext>
              </a:extLst>
            </p:cNvPr>
            <p:cNvPicPr>
              <a:picLocks noChangeAspect="1"/>
            </p:cNvPicPr>
            <p:nvPr/>
          </p:nvPicPr>
          <p:blipFill rotWithShape="1">
            <a:blip r:embed="rId2"/>
            <a:srcRect b="73593"/>
            <a:stretch/>
          </p:blipFill>
          <p:spPr>
            <a:xfrm>
              <a:off x="1762684" y="2649265"/>
              <a:ext cx="8666631" cy="1325564"/>
            </a:xfrm>
            <a:prstGeom prst="rect">
              <a:avLst/>
            </a:prstGeom>
          </p:spPr>
        </p:pic>
        <p:sp>
          <p:nvSpPr>
            <p:cNvPr id="3" name="矩形 2">
              <a:extLst>
                <a:ext uri="{FF2B5EF4-FFF2-40B4-BE49-F238E27FC236}">
                  <a16:creationId xmlns:a16="http://schemas.microsoft.com/office/drawing/2014/main" id="{194676B7-E034-4C91-9B5C-6205B6F54CB1}"/>
                </a:ext>
              </a:extLst>
            </p:cNvPr>
            <p:cNvSpPr/>
            <p:nvPr/>
          </p:nvSpPr>
          <p:spPr>
            <a:xfrm>
              <a:off x="6154140" y="2720159"/>
              <a:ext cx="435428" cy="12546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文字方塊 7">
            <a:extLst>
              <a:ext uri="{FF2B5EF4-FFF2-40B4-BE49-F238E27FC236}">
                <a16:creationId xmlns:a16="http://schemas.microsoft.com/office/drawing/2014/main" id="{4FC5DC0A-D981-44C0-B2A0-FFB2D1491B71}"/>
              </a:ext>
            </a:extLst>
          </p:cNvPr>
          <p:cNvSpPr txBox="1"/>
          <p:nvPr/>
        </p:nvSpPr>
        <p:spPr>
          <a:xfrm>
            <a:off x="5508723" y="1924056"/>
            <a:ext cx="188866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29 &lt; 36 &lt; 50</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1BF8CC4B-36C6-48CF-9B74-B44A1CAC8BC9}"/>
              </a:ext>
            </a:extLst>
          </p:cNvPr>
          <p:cNvSpPr txBox="1"/>
          <p:nvPr/>
        </p:nvSpPr>
        <p:spPr>
          <a:xfrm>
            <a:off x="4667795" y="2380250"/>
            <a:ext cx="2572095"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Index: 7               6</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7E1F964-A46A-4001-8CB1-6AE5882A5C65}"/>
              </a:ext>
            </a:extLst>
          </p:cNvPr>
          <p:cNvSpPr txBox="1"/>
          <p:nvPr/>
        </p:nvSpPr>
        <p:spPr>
          <a:xfrm>
            <a:off x="5508723" y="3974829"/>
            <a:ext cx="188866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95 &lt; 79 &lt; 87</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0C9FD6B1-14BF-42D9-AECC-EC2B8A10B3E6}"/>
              </a:ext>
            </a:extLst>
          </p:cNvPr>
          <p:cNvSpPr txBox="1"/>
          <p:nvPr/>
        </p:nvSpPr>
        <p:spPr>
          <a:xfrm>
            <a:off x="4667795" y="4431023"/>
            <a:ext cx="2572095"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Index: 7               6</a:t>
            </a:r>
            <a:endParaRPr lang="zh-TW" altLang="en-US" sz="2400" dirty="0">
              <a:latin typeface="Times New Roman" panose="02020603050405020304" pitchFamily="18" charset="0"/>
              <a:cs typeface="Times New Roman" panose="02020603050405020304" pitchFamily="18" charset="0"/>
            </a:endParaRPr>
          </a:p>
        </p:txBody>
      </p:sp>
      <p:sp>
        <p:nvSpPr>
          <p:cNvPr id="12" name="乘號 11">
            <a:extLst>
              <a:ext uri="{FF2B5EF4-FFF2-40B4-BE49-F238E27FC236}">
                <a16:creationId xmlns:a16="http://schemas.microsoft.com/office/drawing/2014/main" id="{EA4B40E5-E10B-4140-B3DB-5CBB8F6201DC}"/>
              </a:ext>
            </a:extLst>
          </p:cNvPr>
          <p:cNvSpPr/>
          <p:nvPr/>
        </p:nvSpPr>
        <p:spPr>
          <a:xfrm>
            <a:off x="7234985" y="3968852"/>
            <a:ext cx="383178" cy="473617"/>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1838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8CD79C-DA46-42FB-93B8-FD88A4B39DD2}"/>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650F5B9F-48DF-4699-8891-7F9F77F34360}"/>
              </a:ext>
            </a:extLst>
          </p:cNvPr>
          <p:cNvSpPr>
            <a:spLocks noGrp="1"/>
          </p:cNvSpPr>
          <p:nvPr>
            <p:ph idx="1"/>
          </p:nvPr>
        </p:nvSpPr>
        <p:spPr/>
        <p:txBody>
          <a:bodyPr/>
          <a:lstStyle/>
          <a:p>
            <a:r>
              <a:rPr lang="pt-BR" altLang="zh-TW" dirty="0"/>
              <a:t>O(</a:t>
            </a:r>
            <a:r>
              <a:rPr lang="pt-BR" altLang="zh-TW" i="1" dirty="0"/>
              <a:t>n</a:t>
            </a:r>
            <a:r>
              <a:rPr lang="pt-BR" altLang="zh-TW" dirty="0"/>
              <a:t> + </a:t>
            </a:r>
            <a:r>
              <a:rPr lang="pt-BR" altLang="zh-TW" i="1" dirty="0"/>
              <a:t>m</a:t>
            </a:r>
            <a:r>
              <a:rPr lang="pt-BR" altLang="zh-TW" dirty="0"/>
              <a:t>log</a:t>
            </a:r>
            <a:r>
              <a:rPr lang="pt-BR" altLang="zh-TW" i="1" dirty="0"/>
              <a:t>m</a:t>
            </a:r>
            <a:r>
              <a:rPr lang="pt-BR" altLang="zh-TW" dirty="0"/>
              <a:t>) </a:t>
            </a:r>
          </a:p>
          <a:p>
            <a:pPr lvl="1"/>
            <a:r>
              <a:rPr lang="en-US" altLang="zh-TW" dirty="0"/>
              <a:t>Nearest Neighbor Representation</a:t>
            </a:r>
          </a:p>
          <a:p>
            <a:pPr lvl="2"/>
            <a:r>
              <a:rPr lang="en-US" altLang="zh-TW" dirty="0">
                <a:latin typeface="Times New Roman" panose="02020603050405020304" pitchFamily="18" charset="0"/>
                <a:cs typeface="Times New Roman" panose="02020603050405020304" pitchFamily="18" charset="0"/>
              </a:rPr>
              <a:t>O(</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a:t>
            </a:r>
          </a:p>
          <a:p>
            <a:pPr lvl="1"/>
            <a:r>
              <a:rPr lang="en-US" altLang="zh-TW" dirty="0"/>
              <a:t>Failure function</a:t>
            </a:r>
          </a:p>
          <a:p>
            <a:pPr lvl="2"/>
            <a:r>
              <a:rPr lang="en-US" altLang="zh-TW" sz="2400" dirty="0">
                <a:latin typeface="Times New Roman" panose="02020603050405020304" pitchFamily="18" charset="0"/>
                <a:cs typeface="Times New Roman" panose="02020603050405020304" pitchFamily="18" charset="0"/>
              </a:rPr>
              <a:t>O(</a:t>
            </a:r>
            <a:r>
              <a:rPr lang="en-US" altLang="zh-TW" sz="2400" i="1" dirty="0">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p>
            <a:pPr lvl="1"/>
            <a:r>
              <a:rPr lang="en-US" altLang="zh-TW" dirty="0"/>
              <a:t>Text Search</a:t>
            </a:r>
          </a:p>
          <a:p>
            <a:pPr lvl="2"/>
            <a:r>
              <a:rPr lang="en-US" altLang="zh-TW" dirty="0"/>
              <a:t>O(</a:t>
            </a:r>
            <a:r>
              <a:rPr lang="en-US" altLang="zh-TW" i="1" dirty="0"/>
              <a:t>n</a:t>
            </a:r>
            <a:r>
              <a:rPr lang="en-US" altLang="zh-TW" dirty="0"/>
              <a:t>)</a:t>
            </a:r>
          </a:p>
          <a:p>
            <a:pPr lvl="1"/>
            <a:endParaRPr lang="en-US" altLang="zh-TW" dirty="0"/>
          </a:p>
          <a:p>
            <a:pPr lvl="1"/>
            <a:endParaRPr lang="zh-TW" altLang="en-US" dirty="0"/>
          </a:p>
        </p:txBody>
      </p:sp>
      <p:sp>
        <p:nvSpPr>
          <p:cNvPr id="4" name="投影片編號版面配置區 3">
            <a:extLst>
              <a:ext uri="{FF2B5EF4-FFF2-40B4-BE49-F238E27FC236}">
                <a16:creationId xmlns:a16="http://schemas.microsoft.com/office/drawing/2014/main" id="{50A37BA1-19DD-4984-87F3-16929BF16931}"/>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spTree>
    <p:extLst>
      <p:ext uri="{BB962C8B-B14F-4D97-AF65-F5344CB8AC3E}">
        <p14:creationId xmlns:p14="http://schemas.microsoft.com/office/powerpoint/2010/main" val="3242718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E20E60-B799-43F4-A1D4-CD0152F2899D}"/>
              </a:ext>
            </a:extLst>
          </p:cNvPr>
          <p:cNvSpPr>
            <a:spLocks noGrp="1"/>
          </p:cNvSpPr>
          <p:nvPr>
            <p:ph type="title"/>
          </p:nvPr>
        </p:nvSpPr>
        <p:spPr/>
        <p:txBody>
          <a:bodyPr/>
          <a:lstStyle/>
          <a:p>
            <a:r>
              <a:rPr lang="en-US" altLang="zh-TW" dirty="0"/>
              <a:t>Multiple Patterns</a:t>
            </a:r>
            <a:endParaRPr lang="zh-TW" altLang="en-US" dirty="0"/>
          </a:p>
        </p:txBody>
      </p:sp>
      <p:pic>
        <p:nvPicPr>
          <p:cNvPr id="6" name="內容版面配置區 5">
            <a:extLst>
              <a:ext uri="{FF2B5EF4-FFF2-40B4-BE49-F238E27FC236}">
                <a16:creationId xmlns:a16="http://schemas.microsoft.com/office/drawing/2014/main" id="{1B2A0A0A-9BC8-4D30-BAEB-0DC46189498B}"/>
              </a:ext>
            </a:extLst>
          </p:cNvPr>
          <p:cNvPicPr>
            <a:picLocks noGrp="1" noChangeAspect="1"/>
          </p:cNvPicPr>
          <p:nvPr>
            <p:ph idx="1"/>
          </p:nvPr>
        </p:nvPicPr>
        <p:blipFill>
          <a:blip r:embed="rId2"/>
          <a:stretch>
            <a:fillRect/>
          </a:stretch>
        </p:blipFill>
        <p:spPr>
          <a:xfrm>
            <a:off x="1628503" y="2122042"/>
            <a:ext cx="9549843" cy="4234307"/>
          </a:xfrm>
        </p:spPr>
      </p:pic>
      <p:sp>
        <p:nvSpPr>
          <p:cNvPr id="4" name="投影片編號版面配置區 3">
            <a:extLst>
              <a:ext uri="{FF2B5EF4-FFF2-40B4-BE49-F238E27FC236}">
                <a16:creationId xmlns:a16="http://schemas.microsoft.com/office/drawing/2014/main" id="{50824F1E-4AF9-4DFD-A25D-B7DF2740F108}"/>
              </a:ext>
            </a:extLst>
          </p:cNvPr>
          <p:cNvSpPr>
            <a:spLocks noGrp="1"/>
          </p:cNvSpPr>
          <p:nvPr>
            <p:ph type="sldNum" sz="quarter" idx="12"/>
          </p:nvPr>
        </p:nvSpPr>
        <p:spPr/>
        <p:txBody>
          <a:bodyPr/>
          <a:lstStyle/>
          <a:p>
            <a:fld id="{4CD2C34A-D3D3-4A9B-8692-9279E332F0C9}" type="slidenum">
              <a:rPr lang="zh-TW" altLang="en-US" smtClean="0"/>
              <a:pPr/>
              <a:t>12</a:t>
            </a:fld>
            <a:endParaRPr lang="zh-TW" altLang="en-US" dirty="0"/>
          </a:p>
        </p:txBody>
      </p:sp>
      <p:sp>
        <p:nvSpPr>
          <p:cNvPr id="3" name="文字方塊 2">
            <a:extLst>
              <a:ext uri="{FF2B5EF4-FFF2-40B4-BE49-F238E27FC236}">
                <a16:creationId xmlns:a16="http://schemas.microsoft.com/office/drawing/2014/main" id="{E30118E0-DDEA-4399-A76A-BB69E17659FA}"/>
              </a:ext>
            </a:extLst>
          </p:cNvPr>
          <p:cNvSpPr txBox="1"/>
          <p:nvPr/>
        </p:nvSpPr>
        <p:spPr>
          <a:xfrm>
            <a:off x="1257493" y="5292546"/>
            <a:ext cx="3579222" cy="1200329"/>
          </a:xfrm>
          <a:prstGeom prst="rect">
            <a:avLst/>
          </a:prstGeom>
          <a:noFill/>
        </p:spPr>
        <p:txBody>
          <a:bodyPr wrap="square" rtlCol="0">
            <a:spAutoFit/>
          </a:bodyPr>
          <a:lstStyle/>
          <a:p>
            <a:r>
              <a:rPr lang="el-GR" altLang="zh-TW" sz="2400" dirty="0">
                <a:latin typeface="Times New Roman" panose="02020603050405020304" pitchFamily="18" charset="0"/>
                <a:cs typeface="Times New Roman" panose="02020603050405020304" pitchFamily="18" charset="0"/>
              </a:rPr>
              <a:t>μ</a:t>
            </a:r>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 [1, 2, 1, 4, 4]</a:t>
            </a:r>
          </a:p>
          <a:p>
            <a:r>
              <a:rPr lang="el-GR" altLang="zh-TW" sz="2400" dirty="0">
                <a:latin typeface="Times New Roman" panose="02020603050405020304" pitchFamily="18" charset="0"/>
                <a:cs typeface="Times New Roman" panose="02020603050405020304" pitchFamily="18" charset="0"/>
              </a:rPr>
              <a:t>μ</a:t>
            </a:r>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 [1, 2, 1, 4, 5, 6]</a:t>
            </a:r>
          </a:p>
          <a:p>
            <a:r>
              <a:rPr lang="el-GR" altLang="zh-TW" sz="2400" dirty="0">
                <a:latin typeface="Times New Roman" panose="02020603050405020304" pitchFamily="18" charset="0"/>
                <a:cs typeface="Times New Roman" panose="02020603050405020304" pitchFamily="18" charset="0"/>
              </a:rPr>
              <a:t>μ</a:t>
            </a:r>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 [1, 2, 3, 4]</a:t>
            </a:r>
          </a:p>
        </p:txBody>
      </p:sp>
      <p:sp>
        <p:nvSpPr>
          <p:cNvPr id="7" name="文字方塊 6">
            <a:extLst>
              <a:ext uri="{FF2B5EF4-FFF2-40B4-BE49-F238E27FC236}">
                <a16:creationId xmlns:a16="http://schemas.microsoft.com/office/drawing/2014/main" id="{91718433-528C-43E9-AC7D-E3CC94CA1F30}"/>
              </a:ext>
            </a:extLst>
          </p:cNvPr>
          <p:cNvSpPr txBox="1"/>
          <p:nvPr/>
        </p:nvSpPr>
        <p:spPr>
          <a:xfrm>
            <a:off x="838200" y="1528119"/>
            <a:ext cx="4587240" cy="461665"/>
          </a:xfrm>
          <a:prstGeom prst="rect">
            <a:avLst/>
          </a:prstGeom>
          <a:noFill/>
        </p:spPr>
        <p:txBody>
          <a:bodyPr wrap="square" rtlCol="0">
            <a:spAutoFit/>
          </a:bodyPr>
          <a:lstStyle/>
          <a:p>
            <a:r>
              <a:rPr lang="zh-TW" altLang="en-US" sz="2400" dirty="0">
                <a:latin typeface="源流明體 M" panose="02020500000000000000" pitchFamily="18" charset="-120"/>
                <a:ea typeface="源流明體 M" panose="02020500000000000000" pitchFamily="18" charset="-120"/>
                <a:cs typeface="Times New Roman" panose="02020603050405020304" pitchFamily="18" charset="0"/>
              </a:rPr>
              <a:t>參考</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Aho</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Corasick</a:t>
            </a:r>
            <a:r>
              <a:rPr lang="en-US" altLang="zh-TW" sz="2400" dirty="0">
                <a:latin typeface="Times New Roman" panose="02020603050405020304" pitchFamily="18" charset="0"/>
                <a:cs typeface="Times New Roman" panose="02020603050405020304" pitchFamily="18" charset="0"/>
              </a:rPr>
              <a:t> automaton</a:t>
            </a:r>
          </a:p>
        </p:txBody>
      </p:sp>
    </p:spTree>
    <p:extLst>
      <p:ext uri="{BB962C8B-B14F-4D97-AF65-F5344CB8AC3E}">
        <p14:creationId xmlns:p14="http://schemas.microsoft.com/office/powerpoint/2010/main" val="819302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E20E60-B799-43F4-A1D4-CD0152F2899D}"/>
              </a:ext>
            </a:extLst>
          </p:cNvPr>
          <p:cNvSpPr>
            <a:spLocks noGrp="1"/>
          </p:cNvSpPr>
          <p:nvPr>
            <p:ph type="title"/>
          </p:nvPr>
        </p:nvSpPr>
        <p:spPr/>
        <p:txBody>
          <a:bodyPr/>
          <a:lstStyle/>
          <a:p>
            <a:r>
              <a:rPr lang="en-US" altLang="zh-TW" dirty="0"/>
              <a:t>Failure Function</a:t>
            </a:r>
            <a:endParaRPr lang="zh-TW" altLang="en-US" dirty="0"/>
          </a:p>
        </p:txBody>
      </p:sp>
      <p:pic>
        <p:nvPicPr>
          <p:cNvPr id="6" name="內容版面配置區 5">
            <a:extLst>
              <a:ext uri="{FF2B5EF4-FFF2-40B4-BE49-F238E27FC236}">
                <a16:creationId xmlns:a16="http://schemas.microsoft.com/office/drawing/2014/main" id="{1B2A0A0A-9BC8-4D30-BAEB-0DC46189498B}"/>
              </a:ext>
            </a:extLst>
          </p:cNvPr>
          <p:cNvPicPr>
            <a:picLocks noGrp="1" noChangeAspect="1"/>
          </p:cNvPicPr>
          <p:nvPr>
            <p:ph idx="1"/>
          </p:nvPr>
        </p:nvPicPr>
        <p:blipFill>
          <a:blip r:embed="rId2"/>
          <a:stretch>
            <a:fillRect/>
          </a:stretch>
        </p:blipFill>
        <p:spPr>
          <a:xfrm>
            <a:off x="3439307" y="1856151"/>
            <a:ext cx="7914493" cy="3509209"/>
          </a:xfrm>
        </p:spPr>
      </p:pic>
      <p:sp>
        <p:nvSpPr>
          <p:cNvPr id="4" name="投影片編號版面配置區 3">
            <a:extLst>
              <a:ext uri="{FF2B5EF4-FFF2-40B4-BE49-F238E27FC236}">
                <a16:creationId xmlns:a16="http://schemas.microsoft.com/office/drawing/2014/main" id="{50824F1E-4AF9-4DFD-A25D-B7DF2740F108}"/>
              </a:ext>
            </a:extLst>
          </p:cNvPr>
          <p:cNvSpPr>
            <a:spLocks noGrp="1"/>
          </p:cNvSpPr>
          <p:nvPr>
            <p:ph type="sldNum" sz="quarter" idx="12"/>
          </p:nvPr>
        </p:nvSpPr>
        <p:spPr/>
        <p:txBody>
          <a:bodyPr/>
          <a:lstStyle/>
          <a:p>
            <a:fld id="{4CD2C34A-D3D3-4A9B-8692-9279E332F0C9}" type="slidenum">
              <a:rPr lang="zh-TW" altLang="en-US" smtClean="0"/>
              <a:pPr/>
              <a:t>13</a:t>
            </a:fld>
            <a:endParaRPr lang="zh-TW" altLang="en-US" dirty="0"/>
          </a:p>
        </p:txBody>
      </p:sp>
      <p:sp>
        <p:nvSpPr>
          <p:cNvPr id="3" name="文字方塊 2">
            <a:extLst>
              <a:ext uri="{FF2B5EF4-FFF2-40B4-BE49-F238E27FC236}">
                <a16:creationId xmlns:a16="http://schemas.microsoft.com/office/drawing/2014/main" id="{E30118E0-DDEA-4399-A76A-BB69E17659FA}"/>
              </a:ext>
            </a:extLst>
          </p:cNvPr>
          <p:cNvSpPr txBox="1"/>
          <p:nvPr/>
        </p:nvSpPr>
        <p:spPr>
          <a:xfrm>
            <a:off x="838200" y="2918758"/>
            <a:ext cx="4230190" cy="3046988"/>
          </a:xfrm>
          <a:prstGeom prst="rect">
            <a:avLst/>
          </a:prstGeom>
          <a:noFill/>
        </p:spPr>
        <p:txBody>
          <a:bodyPr wrap="square" rtlCol="0">
            <a:spAutoFit/>
          </a:bodyPr>
          <a:lstStyle/>
          <a:p>
            <a:r>
              <a:rPr lang="el-GR" altLang="zh-TW" sz="2400" dirty="0">
                <a:latin typeface="Times New Roman" panose="02020603050405020304" pitchFamily="18" charset="0"/>
                <a:cs typeface="Times New Roman" panose="02020603050405020304" pitchFamily="18" charset="0"/>
              </a:rPr>
              <a:t>μ</a:t>
            </a:r>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1</a:t>
            </a:r>
            <a:r>
              <a:rPr lang="en-US" altLang="zh-TW" sz="2400" dirty="0">
                <a:latin typeface="Times New Roman" panose="02020603050405020304" pitchFamily="18" charset="0"/>
                <a:cs typeface="Times New Roman" panose="02020603050405020304" pitchFamily="18" charset="0"/>
              </a:rPr>
              <a:t>) = [1, 2, 1, 4, 4]</a:t>
            </a:r>
          </a:p>
          <a:p>
            <a:r>
              <a:rPr lang="el-GR" altLang="zh-TW" sz="2400" dirty="0">
                <a:latin typeface="Times New Roman" panose="02020603050405020304" pitchFamily="18" charset="0"/>
                <a:cs typeface="Times New Roman" panose="02020603050405020304" pitchFamily="18" charset="0"/>
              </a:rPr>
              <a:t>μ</a:t>
            </a:r>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 = [1, 2, 1, 4, 5, 6]</a:t>
            </a:r>
          </a:p>
          <a:p>
            <a:r>
              <a:rPr lang="el-GR" altLang="zh-TW" sz="2400" dirty="0">
                <a:latin typeface="Times New Roman" panose="02020603050405020304" pitchFamily="18" charset="0"/>
                <a:cs typeface="Times New Roman" panose="02020603050405020304" pitchFamily="18" charset="0"/>
              </a:rPr>
              <a:t>μ</a:t>
            </a:r>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 [1, 2, 3, 4]</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Proper Suffix</a:t>
            </a:r>
          </a:p>
          <a:p>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[3…5] = {57, 79, 84}</a:t>
            </a:r>
          </a:p>
          <a:p>
            <a:r>
              <a:rPr lang="el-GR" altLang="zh-TW" sz="2400" dirty="0">
                <a:latin typeface="Times New Roman" panose="02020603050405020304" pitchFamily="18" charset="0"/>
                <a:cs typeface="Times New Roman" panose="02020603050405020304" pitchFamily="18" charset="0"/>
              </a:rPr>
              <a:t>μ</a:t>
            </a:r>
            <a:r>
              <a:rPr lang="en-US" altLang="zh-TW" sz="2400" dirty="0">
                <a:latin typeface="Times New Roman" panose="02020603050405020304" pitchFamily="18" charset="0"/>
                <a:cs typeface="Times New Roman" panose="02020603050405020304" pitchFamily="18" charset="0"/>
              </a:rPr>
              <a:t>(P</a:t>
            </a:r>
            <a:r>
              <a:rPr lang="en-US" altLang="zh-TW" sz="2400" baseline="-25000" dirty="0">
                <a:latin typeface="Times New Roman" panose="02020603050405020304" pitchFamily="18" charset="0"/>
                <a:cs typeface="Times New Roman" panose="02020603050405020304" pitchFamily="18" charset="0"/>
              </a:rPr>
              <a:t>2</a:t>
            </a:r>
            <a:r>
              <a:rPr lang="en-US" altLang="zh-TW" sz="2400" dirty="0">
                <a:latin typeface="Times New Roman" panose="02020603050405020304" pitchFamily="18" charset="0"/>
                <a:cs typeface="Times New Roman" panose="02020603050405020304" pitchFamily="18" charset="0"/>
              </a:rPr>
              <a:t>[3…5]) = {1, 2, 3}</a:t>
            </a:r>
          </a:p>
          <a:p>
            <a:endParaRPr lang="en-US" altLang="zh-TW" sz="2400" dirty="0">
              <a:latin typeface="Times New Roman" panose="02020603050405020304" pitchFamily="18" charset="0"/>
              <a:cs typeface="Times New Roman" panose="02020603050405020304" pitchFamily="18" charset="0"/>
            </a:endParaRPr>
          </a:p>
        </p:txBody>
      </p:sp>
      <p:sp>
        <p:nvSpPr>
          <p:cNvPr id="5" name="箭號: 向下 4">
            <a:extLst>
              <a:ext uri="{FF2B5EF4-FFF2-40B4-BE49-F238E27FC236}">
                <a16:creationId xmlns:a16="http://schemas.microsoft.com/office/drawing/2014/main" id="{99091C64-9756-4463-B40A-00AED5B6C00E}"/>
              </a:ext>
            </a:extLst>
          </p:cNvPr>
          <p:cNvSpPr/>
          <p:nvPr/>
        </p:nvSpPr>
        <p:spPr>
          <a:xfrm rot="2645688">
            <a:off x="9710056" y="3297136"/>
            <a:ext cx="287383" cy="495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60704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8CD79C-DA46-42FB-93B8-FD88A4B39DD2}"/>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650F5B9F-48DF-4699-8891-7F9F77F34360}"/>
              </a:ext>
            </a:extLst>
          </p:cNvPr>
          <p:cNvSpPr>
            <a:spLocks noGrp="1"/>
          </p:cNvSpPr>
          <p:nvPr>
            <p:ph idx="1"/>
          </p:nvPr>
        </p:nvSpPr>
        <p:spPr/>
        <p:txBody>
          <a:bodyPr/>
          <a:lstStyle/>
          <a:p>
            <a:r>
              <a:rPr lang="pt-BR" altLang="zh-TW" dirty="0"/>
              <a:t>O(</a:t>
            </a:r>
            <a:r>
              <a:rPr lang="pt-BR" altLang="zh-TW" i="1" dirty="0"/>
              <a:t>n</a:t>
            </a:r>
            <a:r>
              <a:rPr lang="pt-BR" altLang="zh-TW" dirty="0"/>
              <a:t>log</a:t>
            </a:r>
            <a:r>
              <a:rPr lang="pt-BR" altLang="zh-TW" i="1" dirty="0"/>
              <a:t>m</a:t>
            </a:r>
            <a:r>
              <a:rPr lang="pt-BR" altLang="zh-TW" dirty="0"/>
              <a:t>)</a:t>
            </a:r>
          </a:p>
          <a:p>
            <a:pPr lvl="1"/>
            <a:r>
              <a:rPr lang="en-US" altLang="zh-TW" dirty="0"/>
              <a:t>Preﬁx Representation</a:t>
            </a:r>
          </a:p>
          <a:p>
            <a:pPr lvl="2"/>
            <a:r>
              <a:rPr lang="en-US" altLang="zh-TW" dirty="0">
                <a:latin typeface="Times New Roman" panose="02020603050405020304" pitchFamily="18" charset="0"/>
                <a:cs typeface="Times New Roman" panose="02020603050405020304" pitchFamily="18" charset="0"/>
              </a:rPr>
              <a:t>O(</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a:t>
            </a:r>
          </a:p>
          <a:p>
            <a:pPr lvl="1"/>
            <a:r>
              <a:rPr lang="en-US" altLang="zh-TW" dirty="0"/>
              <a:t>Failure function</a:t>
            </a:r>
          </a:p>
          <a:p>
            <a:pPr lvl="2"/>
            <a:r>
              <a:rPr lang="en-US" altLang="zh-TW" dirty="0">
                <a:latin typeface="Times New Roman" panose="02020603050405020304" pitchFamily="18" charset="0"/>
                <a:cs typeface="Times New Roman" panose="02020603050405020304" pitchFamily="18" charset="0"/>
              </a:rPr>
              <a:t>O(</a:t>
            </a:r>
            <a:r>
              <a:rPr lang="en-US" altLang="zh-TW" i="1" dirty="0" err="1">
                <a:latin typeface="Times New Roman" panose="02020603050405020304" pitchFamily="18" charset="0"/>
                <a:cs typeface="Times New Roman" panose="02020603050405020304" pitchFamily="18" charset="0"/>
              </a:rPr>
              <a:t>m</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sz="24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p>
            <a:pPr lvl="1"/>
            <a:r>
              <a:rPr lang="en-US" altLang="zh-TW" dirty="0"/>
              <a:t>Text Search</a:t>
            </a:r>
          </a:p>
          <a:p>
            <a:pPr lvl="2"/>
            <a:r>
              <a:rPr lang="en-US" altLang="zh-TW" dirty="0"/>
              <a:t>O(</a:t>
            </a:r>
            <a:r>
              <a:rPr lang="en-US" altLang="zh-TW" i="1" dirty="0" err="1"/>
              <a:t>n</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m</a:t>
            </a:r>
            <a:r>
              <a:rPr lang="en-US" altLang="zh-TW" dirty="0"/>
              <a:t>)</a:t>
            </a:r>
          </a:p>
          <a:p>
            <a:pPr lvl="1"/>
            <a:endParaRPr lang="en-US" altLang="zh-TW" dirty="0"/>
          </a:p>
          <a:p>
            <a:pPr lvl="1"/>
            <a:endParaRPr lang="zh-TW" altLang="en-US" dirty="0"/>
          </a:p>
        </p:txBody>
      </p:sp>
      <p:sp>
        <p:nvSpPr>
          <p:cNvPr id="4" name="投影片編號版面配置區 3">
            <a:extLst>
              <a:ext uri="{FF2B5EF4-FFF2-40B4-BE49-F238E27FC236}">
                <a16:creationId xmlns:a16="http://schemas.microsoft.com/office/drawing/2014/main" id="{50A37BA1-19DD-4984-87F3-16929BF16931}"/>
              </a:ext>
            </a:extLst>
          </p:cNvPr>
          <p:cNvSpPr>
            <a:spLocks noGrp="1"/>
          </p:cNvSpPr>
          <p:nvPr>
            <p:ph type="sldNum" sz="quarter" idx="12"/>
          </p:nvPr>
        </p:nvSpPr>
        <p:spPr/>
        <p:txBody>
          <a:bodyPr/>
          <a:lstStyle/>
          <a:p>
            <a:fld id="{4CD2C34A-D3D3-4A9B-8692-9279E332F0C9}" type="slidenum">
              <a:rPr lang="zh-TW" altLang="en-US" smtClean="0"/>
              <a:pPr/>
              <a:t>14</a:t>
            </a:fld>
            <a:endParaRPr lang="zh-TW" altLang="en-US" dirty="0"/>
          </a:p>
        </p:txBody>
      </p:sp>
    </p:spTree>
    <p:extLst>
      <p:ext uri="{BB962C8B-B14F-4D97-AF65-F5344CB8AC3E}">
        <p14:creationId xmlns:p14="http://schemas.microsoft.com/office/powerpoint/2010/main" val="230687092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654</Words>
  <Application>Microsoft Office PowerPoint</Application>
  <PresentationFormat>寬螢幕</PresentationFormat>
  <Paragraphs>164</Paragraphs>
  <Slides>14</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源流明體 M</vt:lpstr>
      <vt:lpstr>Calibri</vt:lpstr>
      <vt:lpstr>Arial</vt:lpstr>
      <vt:lpstr>Cambria Math</vt:lpstr>
      <vt:lpstr>Times New Roman</vt:lpstr>
      <vt:lpstr>Office 佈景主題</vt:lpstr>
      <vt:lpstr>Order-Preserving Matching</vt:lpstr>
      <vt:lpstr>Abstract</vt:lpstr>
      <vt:lpstr>Order-Preserving Matching</vt:lpstr>
      <vt:lpstr>Preﬁx representation</vt:lpstr>
      <vt:lpstr>Failure Function</vt:lpstr>
      <vt:lpstr>O(nlogm) algorithm</vt:lpstr>
      <vt:lpstr>Time Complexity</vt:lpstr>
      <vt:lpstr>Nearest Neighbor Representation</vt:lpstr>
      <vt:lpstr>Failure Function</vt:lpstr>
      <vt:lpstr>O(n + mlogm) algorithm</vt:lpstr>
      <vt:lpstr>Time Complexity</vt:lpstr>
      <vt:lpstr>Multiple Patterns</vt:lpstr>
      <vt:lpstr>Failure Function</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Ting B</cp:lastModifiedBy>
  <cp:revision>136</cp:revision>
  <dcterms:created xsi:type="dcterms:W3CDTF">2022-02-13T12:00:20Z</dcterms:created>
  <dcterms:modified xsi:type="dcterms:W3CDTF">2022-02-16T10:24:31Z</dcterms:modified>
</cp:coreProperties>
</file>