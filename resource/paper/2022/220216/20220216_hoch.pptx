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1" r:id="rId3"/>
    <p:sldId id="317" r:id="rId4"/>
    <p:sldId id="258" r:id="rId5"/>
    <p:sldId id="293" r:id="rId6"/>
    <p:sldId id="325" r:id="rId7"/>
    <p:sldId id="326" r:id="rId8"/>
    <p:sldId id="319" r:id="rId9"/>
    <p:sldId id="331" r:id="rId10"/>
    <p:sldId id="320" r:id="rId11"/>
    <p:sldId id="321" r:id="rId12"/>
    <p:sldId id="322" r:id="rId13"/>
    <p:sldId id="323" r:id="rId14"/>
    <p:sldId id="328" r:id="rId15"/>
    <p:sldId id="329" r:id="rId16"/>
    <p:sldId id="327" r:id="rId17"/>
    <p:sldId id="330" r:id="rId1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249" autoAdjust="0"/>
    <p:restoredTop sz="92275" autoAdjust="0"/>
  </p:normalViewPr>
  <p:slideViewPr>
    <p:cSldViewPr snapToGrid="0">
      <p:cViewPr varScale="1">
        <p:scale>
          <a:sx n="67" d="100"/>
          <a:sy n="67" d="100"/>
        </p:scale>
        <p:origin x="59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095354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194708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734290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98813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4266146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47851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595289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821110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559348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457136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2022/2/15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11802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1E1DC-9B0B-4445-BE92-0FA02D7ED6E3}" type="datetimeFigureOut">
              <a:rPr lang="zh-TW" altLang="en-US" smtClean="0"/>
              <a:t>2022/2/15</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578427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192924" y="1101342"/>
            <a:ext cx="9806152" cy="1299561"/>
          </a:xfrm>
        </p:spPr>
        <p:txBody>
          <a:bodyPr>
            <a:normAutofit fontScale="90000"/>
          </a:bodyPr>
          <a:lstStyle/>
          <a:p>
            <a:r>
              <a:rPr lang="en-US" altLang="zh-TW" sz="4800" dirty="0">
                <a:latin typeface="Times New Roman" panose="02020603050405020304" pitchFamily="18" charset="0"/>
                <a:cs typeface="Times New Roman" panose="02020603050405020304" pitchFamily="18" charset="0"/>
              </a:rPr>
              <a:t>Algorithms for computing variants of the longest common subsequence problem</a:t>
            </a:r>
          </a:p>
        </p:txBody>
      </p:sp>
      <p:sp>
        <p:nvSpPr>
          <p:cNvPr id="4" name="副標題 2"/>
          <p:cNvSpPr>
            <a:spLocks noGrp="1"/>
          </p:cNvSpPr>
          <p:nvPr>
            <p:ph type="subTitle" idx="1"/>
          </p:nvPr>
        </p:nvSpPr>
        <p:spPr>
          <a:xfrm>
            <a:off x="1524000" y="3602038"/>
            <a:ext cx="9144000" cy="1655762"/>
          </a:xfrm>
        </p:spPr>
        <p:txBody>
          <a:bodyPr>
            <a:normAutofit/>
          </a:bodyPr>
          <a:lstStyle/>
          <a:p>
            <a:r>
              <a:rPr lang="en-US" altLang="zh-TW" sz="2800" dirty="0">
                <a:latin typeface="Times New Roman" panose="02020603050405020304" pitchFamily="18" charset="0"/>
                <a:cs typeface="Times New Roman" panose="02020603050405020304" pitchFamily="18" charset="0"/>
              </a:rPr>
              <a:t>Costas S. Iliopoulos, M. </a:t>
            </a:r>
            <a:r>
              <a:rPr lang="en-US" altLang="zh-TW" sz="2800" dirty="0" err="1">
                <a:latin typeface="Times New Roman" panose="02020603050405020304" pitchFamily="18" charset="0"/>
                <a:cs typeface="Times New Roman" panose="02020603050405020304" pitchFamily="18" charset="0"/>
              </a:rPr>
              <a:t>Sohel</a:t>
            </a:r>
            <a:r>
              <a:rPr lang="en-US" altLang="zh-TW" sz="2800" dirty="0">
                <a:latin typeface="Times New Roman" panose="02020603050405020304" pitchFamily="18" charset="0"/>
                <a:cs typeface="Times New Roman" panose="02020603050405020304" pitchFamily="18" charset="0"/>
              </a:rPr>
              <a:t> Rahman</a:t>
            </a:r>
          </a:p>
          <a:p>
            <a:r>
              <a:rPr lang="en-US" altLang="zh-TW" sz="2800" dirty="0">
                <a:latin typeface="Times New Roman" panose="02020603050405020304" pitchFamily="18" charset="0"/>
                <a:cs typeface="Times New Roman" panose="02020603050405020304" pitchFamily="18" charset="0"/>
              </a:rPr>
              <a:t>Theoretical Computer Science 395 (2008) 255–267</a:t>
            </a:r>
          </a:p>
        </p:txBody>
      </p:sp>
      <p:sp>
        <p:nvSpPr>
          <p:cNvPr id="5" name="矩形 1"/>
          <p:cNvSpPr>
            <a:spLocks noChangeArrowheads="1"/>
          </p:cNvSpPr>
          <p:nvPr/>
        </p:nvSpPr>
        <p:spPr bwMode="auto">
          <a:xfrm>
            <a:off x="8883004" y="5876925"/>
            <a:ext cx="28885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nSpc>
                <a:spcPct val="90000"/>
              </a:lnSpc>
              <a:spcBef>
                <a:spcPct val="0"/>
              </a:spcBef>
              <a:buNone/>
            </a:pPr>
            <a:r>
              <a:rPr lang="en-US" altLang="zh-TW" sz="2000" dirty="0">
                <a:latin typeface="Times New Roman" panose="02020603050405020304" pitchFamily="18" charset="0"/>
                <a:cs typeface="Times New Roman" panose="02020603050405020304" pitchFamily="18" charset="0"/>
              </a:rPr>
              <a:t>Presenter: Cheng-Han Ho</a:t>
            </a:r>
          </a:p>
          <a:p>
            <a:pPr>
              <a:lnSpc>
                <a:spcPct val="90000"/>
              </a:lnSpc>
              <a:spcBef>
                <a:spcPct val="0"/>
              </a:spcBef>
              <a:buNone/>
            </a:pPr>
            <a:r>
              <a:rPr lang="en-US" altLang="zh-TW" sz="2000" dirty="0">
                <a:latin typeface="Times New Roman" panose="02020603050405020304" pitchFamily="18" charset="0"/>
                <a:cs typeface="Times New Roman" panose="02020603050405020304" pitchFamily="18" charset="0"/>
              </a:rPr>
              <a:t>Date: Feb. 16, 2022</a:t>
            </a:r>
          </a:p>
        </p:txBody>
      </p:sp>
    </p:spTree>
    <p:extLst>
      <p:ext uri="{BB962C8B-B14F-4D97-AF65-F5344CB8AC3E}">
        <p14:creationId xmlns:p14="http://schemas.microsoft.com/office/powerpoint/2010/main" val="3662505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ED0E71-14AD-4E62-972C-221C5E865D7B}"/>
              </a:ext>
            </a:extLst>
          </p:cNvPr>
          <p:cNvSpPr>
            <a:spLocks noGrp="1"/>
          </p:cNvSpPr>
          <p:nvPr>
            <p:ph type="title"/>
          </p:nvPr>
        </p:nvSpPr>
        <p:spPr>
          <a:xfrm>
            <a:off x="838200" y="365125"/>
            <a:ext cx="10515600" cy="1382395"/>
          </a:xfrm>
        </p:spPr>
        <p:txBody>
          <a:bodyPr/>
          <a:lstStyle/>
          <a:p>
            <a:r>
              <a:rPr lang="en-US" altLang="zh-TW" dirty="0">
                <a:latin typeface="Times New Roman" panose="02020603050405020304" pitchFamily="18" charset="0"/>
                <a:cs typeface="Times New Roman" panose="02020603050405020304" pitchFamily="18" charset="0"/>
              </a:rPr>
              <a:t>Abstract (1/2)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2A93AAD-D6B7-4CD4-AC92-2D3922F8C487}"/>
              </a:ext>
            </a:extLst>
          </p:cNvPr>
          <p:cNvSpPr>
            <a:spLocks noGrp="1"/>
          </p:cNvSpPr>
          <p:nvPr>
            <p:ph idx="1"/>
          </p:nvPr>
        </p:nvSpPr>
        <p:spPr>
          <a:xfrm>
            <a:off x="838200" y="1471448"/>
            <a:ext cx="10515600" cy="5021427"/>
          </a:xfrm>
        </p:spPr>
        <p:txBody>
          <a:bodyPr>
            <a:normAutofit/>
          </a:bodyPr>
          <a:lstStyle/>
          <a:p>
            <a:r>
              <a:rPr lang="en-US" altLang="zh-TW" dirty="0"/>
              <a:t>The longest common subsequence (LCS) problem is one of the classical and well-studied problems in computer science. The computation of the LCS is a frequent task in DNA sequence analysis, and has applications to genetics and molecular biology. In this paper we introduce new variants of LCS problem and present efficient algorithms to solve them. In particular we introduce the notion of gap constraints in the LCS problems. For the LCS problem with fixed gap, we first present a naive algorithm runs in O(n</a:t>
            </a:r>
            <a:r>
              <a:rPr lang="en-US" altLang="zh-TW" baseline="30000" dirty="0"/>
              <a:t>2</a:t>
            </a:r>
            <a:r>
              <a:rPr lang="en-US" altLang="zh-TW" dirty="0"/>
              <a:t> + R(K + 1) </a:t>
            </a:r>
            <a:r>
              <a:rPr lang="en-US" altLang="zh-TW" baseline="30000" dirty="0"/>
              <a:t>2</a:t>
            </a:r>
            <a:r>
              <a:rPr lang="en-US" altLang="zh-TW" dirty="0"/>
              <a:t> ) time, where R is the total number of ordered pairs of positions at which the two strings match and K is the fixed gap constraint. We then improve the running time to O(n</a:t>
            </a:r>
            <a:r>
              <a:rPr lang="en-US" altLang="zh-TW" baseline="30000" dirty="0"/>
              <a:t>2</a:t>
            </a:r>
            <a:r>
              <a:rPr lang="en-US" altLang="zh-TW" dirty="0"/>
              <a:t> + RK + R log </a:t>
            </a:r>
            <a:r>
              <a:rPr lang="en-US" altLang="zh-TW" dirty="0" err="1"/>
              <a:t>log</a:t>
            </a:r>
            <a:r>
              <a:rPr lang="en-US" altLang="zh-TW" dirty="0"/>
              <a:t> n) using some novel techniques. </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7678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ED0E71-14AD-4E62-972C-221C5E865D7B}"/>
              </a:ext>
            </a:extLst>
          </p:cNvPr>
          <p:cNvSpPr>
            <a:spLocks noGrp="1"/>
          </p:cNvSpPr>
          <p:nvPr>
            <p:ph type="title"/>
          </p:nvPr>
        </p:nvSpPr>
        <p:spPr>
          <a:xfrm>
            <a:off x="838200" y="365125"/>
            <a:ext cx="10515600" cy="1382395"/>
          </a:xfrm>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2A93AAD-D6B7-4CD4-AC92-2D3922F8C487}"/>
              </a:ext>
            </a:extLst>
          </p:cNvPr>
          <p:cNvSpPr>
            <a:spLocks noGrp="1"/>
          </p:cNvSpPr>
          <p:nvPr>
            <p:ph idx="1"/>
          </p:nvPr>
        </p:nvSpPr>
        <p:spPr>
          <a:xfrm>
            <a:off x="838200" y="1545021"/>
            <a:ext cx="10515600" cy="4947855"/>
          </a:xfrm>
        </p:spPr>
        <p:txBody>
          <a:bodyPr>
            <a:normAutofit/>
          </a:bodyPr>
          <a:lstStyle/>
          <a:p>
            <a:r>
              <a:rPr lang="en-US" altLang="zh-TW" dirty="0"/>
              <a:t>Furthermore, we present an algorithm that is independent of K and runs in O(n</a:t>
            </a:r>
            <a:r>
              <a:rPr lang="en-US" altLang="zh-TW" baseline="30000" dirty="0"/>
              <a:t>2</a:t>
            </a:r>
            <a:r>
              <a:rPr lang="en-US" altLang="zh-TW" dirty="0"/>
              <a:t> + R log </a:t>
            </a:r>
            <a:r>
              <a:rPr lang="en-US" altLang="zh-TW" dirty="0" err="1"/>
              <a:t>log</a:t>
            </a:r>
            <a:r>
              <a:rPr lang="en-US" altLang="zh-TW" dirty="0"/>
              <a:t> n) time. Using these techniques, we also present a new O(n</a:t>
            </a:r>
            <a:r>
              <a:rPr lang="en-US" altLang="zh-TW" baseline="30000" dirty="0"/>
              <a:t>2</a:t>
            </a:r>
            <a:r>
              <a:rPr lang="en-US" altLang="zh-TW" dirty="0"/>
              <a:t>) algorithm to solve the original LCS problem. Additionally, we modify our algorithms to handle elastic and rigid gaps. We also apply the notion of rigidness to the original LCS problem and modify the traditional dynamic programming solution to handle the rigidness presenting a O(n</a:t>
            </a:r>
            <a:r>
              <a:rPr lang="en-US" altLang="zh-TW" baseline="30000" dirty="0"/>
              <a:t>2</a:t>
            </a:r>
            <a:r>
              <a:rPr lang="en-US" altLang="zh-TW" dirty="0"/>
              <a:t>) algorithm to solve the problem. Finally, we also improve the solution to Rigid Fixed Gap LCS to O(n</a:t>
            </a:r>
            <a:r>
              <a:rPr lang="en-US" altLang="zh-TW" baseline="30000" dirty="0"/>
              <a:t>2</a:t>
            </a:r>
            <a:r>
              <a:rPr lang="en-US" altLang="zh-TW" dirty="0"/>
              <a:t> ). Notably, in all of the above cases, we assume that the two given strings are of equal length i.e. n. But our results can be easily extended to handle two strings of different length.</a:t>
            </a:r>
            <a:endParaRPr lang="en-US" altLang="zh-TW"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2139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FIG (LCS Problem with Fixed Gap)</a:t>
            </a:r>
            <a:endParaRPr lang="en-US" altLang="zh-TW" spc="-1" dirty="0">
              <a:solidFill>
                <a:srgbClr val="000000"/>
              </a:solidFill>
              <a:latin typeface="Times New Roman" pitchFamily="18" charset="0"/>
              <a:cs typeface="Times New Roman" pitchFamily="18" charset="0"/>
            </a:endParaRPr>
          </a:p>
        </p:txBody>
      </p:sp>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r>
              <a:rPr lang="en-US" altLang="zh-TW" spc="-1" dirty="0">
                <a:solidFill>
                  <a:srgbClr val="000000"/>
                </a:solidFill>
                <a:latin typeface="Times New Roman"/>
              </a:rPr>
              <a:t>X = </a:t>
            </a:r>
            <a:r>
              <a:rPr lang="en-US" altLang="zh-TW" spc="-1" dirty="0">
                <a:solidFill>
                  <a:srgbClr val="FF0000"/>
                </a:solidFill>
                <a:latin typeface="Times New Roman"/>
              </a:rPr>
              <a:t>A</a:t>
            </a:r>
            <a:r>
              <a:rPr lang="en-US" altLang="zh-TW" spc="-1" dirty="0">
                <a:solidFill>
                  <a:srgbClr val="000000"/>
                </a:solidFill>
                <a:latin typeface="Times New Roman"/>
              </a:rPr>
              <a:t>BC</a:t>
            </a:r>
            <a:r>
              <a:rPr lang="en-US" altLang="zh-TW" spc="-1" dirty="0">
                <a:solidFill>
                  <a:srgbClr val="FF0000"/>
                </a:solidFill>
                <a:latin typeface="Times New Roman"/>
              </a:rPr>
              <a:t>C</a:t>
            </a:r>
            <a:r>
              <a:rPr lang="en-US" altLang="zh-TW" spc="-1" dirty="0">
                <a:solidFill>
                  <a:srgbClr val="000000"/>
                </a:solidFill>
                <a:latin typeface="Times New Roman"/>
              </a:rPr>
              <a:t>DE</a:t>
            </a:r>
            <a:r>
              <a:rPr lang="en-US" altLang="zh-TW" spc="-1" dirty="0">
                <a:solidFill>
                  <a:srgbClr val="FF0000"/>
                </a:solidFill>
                <a:latin typeface="Times New Roman"/>
              </a:rPr>
              <a:t>F</a:t>
            </a:r>
            <a:r>
              <a:rPr lang="en-US" altLang="zh-TW" spc="-1" dirty="0">
                <a:solidFill>
                  <a:srgbClr val="000000"/>
                </a:solidFill>
                <a:latin typeface="Times New Roman"/>
              </a:rPr>
              <a:t>G</a:t>
            </a:r>
            <a:r>
              <a:rPr lang="en-US" altLang="zh-TW" spc="-1" dirty="0">
                <a:solidFill>
                  <a:srgbClr val="FF0000"/>
                </a:solidFill>
                <a:latin typeface="Times New Roman"/>
              </a:rPr>
              <a:t>A</a:t>
            </a:r>
            <a:r>
              <a:rPr lang="en-US" altLang="zh-TW" spc="-1" dirty="0">
                <a:solidFill>
                  <a:srgbClr val="000000"/>
                </a:solidFill>
                <a:latin typeface="Times New Roman"/>
              </a:rPr>
              <a:t>C</a:t>
            </a:r>
            <a:r>
              <a:rPr lang="en-US" altLang="zh-TW" spc="-1" dirty="0">
                <a:solidFill>
                  <a:srgbClr val="FF0000"/>
                </a:solidFill>
                <a:latin typeface="Times New Roman"/>
              </a:rPr>
              <a:t>D</a:t>
            </a:r>
            <a:r>
              <a:rPr lang="en-US" altLang="zh-TW" spc="-1" dirty="0">
                <a:solidFill>
                  <a:srgbClr val="000000"/>
                </a:solidFill>
                <a:latin typeface="Times New Roman"/>
              </a:rPr>
              <a:t> </a:t>
            </a:r>
          </a:p>
          <a:p>
            <a:pPr marL="457560" indent="-457200">
              <a:spcBef>
                <a:spcPts val="561"/>
              </a:spcBef>
              <a:buClr>
                <a:srgbClr val="000000"/>
              </a:buClr>
            </a:pPr>
            <a:r>
              <a:rPr lang="en-US" altLang="zh-TW" spc="-1" dirty="0">
                <a:solidFill>
                  <a:srgbClr val="000000"/>
                </a:solidFill>
                <a:latin typeface="Times New Roman"/>
              </a:rPr>
              <a:t>Y = </a:t>
            </a:r>
            <a:r>
              <a:rPr lang="en-US" altLang="zh-TW" spc="-1" dirty="0">
                <a:solidFill>
                  <a:srgbClr val="FF0000"/>
                </a:solidFill>
                <a:latin typeface="Times New Roman"/>
              </a:rPr>
              <a:t>A</a:t>
            </a:r>
            <a:r>
              <a:rPr lang="en-US" altLang="zh-TW" spc="-1" dirty="0">
                <a:solidFill>
                  <a:srgbClr val="000000"/>
                </a:solidFill>
                <a:latin typeface="Times New Roman"/>
              </a:rPr>
              <a:t>F</a:t>
            </a:r>
            <a:r>
              <a:rPr lang="en-US" altLang="zh-TW" spc="-1" dirty="0">
                <a:solidFill>
                  <a:srgbClr val="FF0000"/>
                </a:solidFill>
                <a:latin typeface="Times New Roman"/>
              </a:rPr>
              <a:t>C</a:t>
            </a:r>
            <a:r>
              <a:rPr lang="en-US" altLang="zh-TW" spc="-1" dirty="0">
                <a:solidFill>
                  <a:srgbClr val="000000"/>
                </a:solidFill>
                <a:latin typeface="Times New Roman"/>
              </a:rPr>
              <a:t>G</a:t>
            </a:r>
            <a:r>
              <a:rPr lang="en-US" altLang="zh-TW" spc="-1" dirty="0">
                <a:solidFill>
                  <a:srgbClr val="FF0000"/>
                </a:solidFill>
                <a:latin typeface="Times New Roman"/>
              </a:rPr>
              <a:t>F</a:t>
            </a:r>
            <a:r>
              <a:rPr lang="en-US" altLang="zh-TW" spc="-1" dirty="0">
                <a:solidFill>
                  <a:srgbClr val="000000"/>
                </a:solidFill>
                <a:latin typeface="Times New Roman"/>
              </a:rPr>
              <a:t>C</a:t>
            </a:r>
            <a:r>
              <a:rPr lang="en-US" altLang="zh-TW" spc="-1" dirty="0">
                <a:solidFill>
                  <a:srgbClr val="FF0000"/>
                </a:solidFill>
                <a:latin typeface="Times New Roman"/>
              </a:rPr>
              <a:t>A</a:t>
            </a:r>
            <a:r>
              <a:rPr lang="en-US" altLang="zh-TW" spc="-1" dirty="0">
                <a:solidFill>
                  <a:srgbClr val="000000"/>
                </a:solidFill>
                <a:latin typeface="Times New Roman"/>
              </a:rPr>
              <a:t>B</a:t>
            </a:r>
            <a:r>
              <a:rPr lang="en-US" altLang="zh-TW" spc="-1" dirty="0">
                <a:solidFill>
                  <a:srgbClr val="FF0000"/>
                </a:solidFill>
                <a:latin typeface="Times New Roman"/>
              </a:rPr>
              <a:t>D</a:t>
            </a:r>
          </a:p>
          <a:p>
            <a:pPr marL="343260" indent="-342900">
              <a:spcBef>
                <a:spcPts val="561"/>
              </a:spcBef>
              <a:buClr>
                <a:srgbClr val="000000"/>
              </a:buClr>
            </a:pPr>
            <a:endParaRPr lang="en-US" altLang="zh-TW" spc="-1" dirty="0">
              <a:solidFill>
                <a:srgbClr val="000000"/>
              </a:solidFill>
              <a:latin typeface="Times New Roman"/>
            </a:endParaRPr>
          </a:p>
          <a:p>
            <a:pPr marL="457560" indent="-457200">
              <a:spcBef>
                <a:spcPts val="561"/>
              </a:spcBef>
              <a:buClr>
                <a:srgbClr val="000000"/>
              </a:buClr>
            </a:pPr>
            <a:r>
              <a:rPr lang="en-US" altLang="zh-TW" spc="-1" dirty="0">
                <a:solidFill>
                  <a:srgbClr val="000000"/>
                </a:solidFill>
                <a:latin typeface="Times New Roman"/>
              </a:rPr>
              <a:t>Let S = LCS(X, Y) = ACFAD</a:t>
            </a:r>
          </a:p>
          <a:p>
            <a:pPr marL="457560" indent="-457200">
              <a:spcBef>
                <a:spcPts val="561"/>
              </a:spcBef>
              <a:buClr>
                <a:srgbClr val="000000"/>
              </a:buClr>
            </a:pPr>
            <a:r>
              <a:rPr lang="en-US" altLang="zh-TW" dirty="0"/>
              <a:t>when K = 1,  S is not FIG</a:t>
            </a:r>
            <a:endParaRPr lang="en-US" altLang="zh-TW" spc="-1" dirty="0">
              <a:solidFill>
                <a:srgbClr val="000000"/>
              </a:solidFill>
              <a:latin typeface="Times New Roman" pitchFamily="18" charset="0"/>
              <a:cs typeface="Times New Roman" pitchFamily="18" charset="0"/>
            </a:endParaRPr>
          </a:p>
          <a:p>
            <a:pPr marL="457560" indent="-457200">
              <a:spcBef>
                <a:spcPts val="561"/>
              </a:spcBef>
              <a:buClr>
                <a:srgbClr val="000000"/>
              </a:buClr>
            </a:pPr>
            <a:r>
              <a:rPr lang="en-US" altLang="zh-TW" dirty="0"/>
              <a:t>when K = 2,  S is FIG</a:t>
            </a:r>
            <a:endParaRPr lang="en-US" altLang="zh-TW" spc="-1" dirty="0">
              <a:solidFill>
                <a:srgbClr val="000000"/>
              </a:solidFill>
              <a:latin typeface="Times New Roman"/>
            </a:endParaRPr>
          </a:p>
          <a:p>
            <a:pPr marL="360">
              <a:spcBef>
                <a:spcPts val="561"/>
              </a:spcBef>
              <a:buClr>
                <a:srgbClr val="000000"/>
              </a:buClr>
            </a:pPr>
            <a:endParaRPr lang="en-US" altLang="zh-TW" spc="-1" dirty="0">
              <a:solidFill>
                <a:srgbClr val="000000"/>
              </a:solidFill>
              <a:latin typeface="Times New Roman"/>
            </a:endParaRPr>
          </a:p>
          <a:p>
            <a:pPr marL="343080" indent="-342720">
              <a:spcBef>
                <a:spcPts val="561"/>
              </a:spcBef>
              <a:buClr>
                <a:srgbClr val="000000"/>
              </a:buClr>
              <a:buFont typeface="Arial"/>
              <a:buChar char="•"/>
            </a:pPr>
            <a:endParaRPr lang="en-US" altLang="zh-TW" dirty="0">
              <a:latin typeface="Times New Roman" panose="02020603050405020304" pitchFamily="18" charset="0"/>
            </a:endParaRPr>
          </a:p>
        </p:txBody>
      </p:sp>
    </p:spTree>
    <p:extLst>
      <p:ext uri="{BB962C8B-B14F-4D97-AF65-F5344CB8AC3E}">
        <p14:creationId xmlns:p14="http://schemas.microsoft.com/office/powerpoint/2010/main" val="2777904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825625"/>
            <a:ext cx="10515600" cy="4351338"/>
          </a:xfrm>
        </p:spPr>
        <p:txBody>
          <a:bodyPr/>
          <a:lstStyle/>
          <a:p>
            <a:r>
              <a:rPr lang="zh-TW" altLang="en-US" dirty="0"/>
              <a:t>每個 </a:t>
            </a:r>
            <a:r>
              <a:rPr lang="en-US" altLang="zh-TW" dirty="0"/>
              <a:t>match </a:t>
            </a:r>
            <a:r>
              <a:rPr lang="zh-TW" altLang="en-US" dirty="0"/>
              <a:t>需檢查 </a:t>
            </a:r>
            <a:r>
              <a:rPr lang="pt-BR" altLang="zh-TW" dirty="0"/>
              <a:t>(K + 1)</a:t>
            </a:r>
            <a:r>
              <a:rPr lang="en-US" altLang="zh-TW" baseline="30000" dirty="0"/>
              <a:t>2</a:t>
            </a:r>
          </a:p>
          <a:p>
            <a:r>
              <a:rPr lang="zh-TW" altLang="en-US" dirty="0"/>
              <a:t>共</a:t>
            </a:r>
            <a:r>
              <a:rPr lang="en-US" altLang="zh-TW" dirty="0"/>
              <a:t> R </a:t>
            </a:r>
            <a:r>
              <a:rPr lang="zh-TW" altLang="en-US" dirty="0"/>
              <a:t>個 </a:t>
            </a:r>
            <a:r>
              <a:rPr lang="en-US" altLang="zh-TW" dirty="0"/>
              <a:t>matches</a:t>
            </a:r>
          </a:p>
          <a:p>
            <a:r>
              <a:rPr lang="en-US" altLang="zh-TW" dirty="0"/>
              <a:t>O(n</a:t>
            </a:r>
            <a:r>
              <a:rPr lang="en-US" altLang="zh-TW" baseline="30000" dirty="0"/>
              <a:t>2</a:t>
            </a:r>
            <a:r>
              <a:rPr lang="en-US" altLang="zh-TW" dirty="0"/>
              <a:t> + R(K + 1) </a:t>
            </a:r>
            <a:r>
              <a:rPr lang="en-US" altLang="zh-TW" baseline="30000" dirty="0"/>
              <a:t>2</a:t>
            </a:r>
            <a:r>
              <a:rPr lang="en-US" altLang="zh-TW" dirty="0"/>
              <a:t> )</a:t>
            </a:r>
          </a:p>
          <a:p>
            <a:endParaRPr lang="zh-TW" altLang="en-US" dirty="0"/>
          </a:p>
        </p:txBody>
      </p:sp>
      <p:sp>
        <p:nvSpPr>
          <p:cNvPr id="2" name="標題 1"/>
          <p:cNvSpPr>
            <a:spLocks noGrp="1"/>
          </p:cNvSpPr>
          <p:nvPr>
            <p:ph type="title"/>
          </p:nvPr>
        </p:nvSpPr>
        <p:spPr>
          <a:xfrm>
            <a:off x="880241" y="365125"/>
            <a:ext cx="10515600" cy="1325563"/>
          </a:xfrm>
        </p:spPr>
        <p:txBody>
          <a:bodyPr/>
          <a:lstStyle/>
          <a:p>
            <a:r>
              <a:rPr lang="en-US" altLang="zh-TW" spc="-1" dirty="0">
                <a:solidFill>
                  <a:srgbClr val="000000"/>
                </a:solidFill>
                <a:latin typeface="Times New Roman" pitchFamily="18" charset="0"/>
                <a:cs typeface="Times New Roman" pitchFamily="18" charset="0"/>
              </a:rPr>
              <a:t>FIG</a:t>
            </a:r>
            <a:endParaRPr lang="zh-TW" altLang="en-US" dirty="0"/>
          </a:p>
        </p:txBody>
      </p:sp>
      <p:graphicFrame>
        <p:nvGraphicFramePr>
          <p:cNvPr id="4" name="內容版面配置區 3">
            <a:extLst>
              <a:ext uri="{FF2B5EF4-FFF2-40B4-BE49-F238E27FC236}">
                <a16:creationId xmlns:a16="http://schemas.microsoft.com/office/drawing/2014/main" id="{9CB3E06F-9AE3-472D-9EAF-96E9D1FFFCD9}"/>
              </a:ext>
            </a:extLst>
          </p:cNvPr>
          <p:cNvGraphicFramePr>
            <a:graphicFrameLocks/>
          </p:cNvGraphicFramePr>
          <p:nvPr>
            <p:extLst>
              <p:ext uri="{D42A27DB-BD31-4B8C-83A1-F6EECF244321}">
                <p14:modId xmlns:p14="http://schemas.microsoft.com/office/powerpoint/2010/main" val="2607622133"/>
              </p:ext>
            </p:extLst>
          </p:nvPr>
        </p:nvGraphicFramePr>
        <p:xfrm>
          <a:off x="5582093" y="652757"/>
          <a:ext cx="6346353" cy="6053920"/>
        </p:xfrm>
        <a:graphic>
          <a:graphicData uri="http://schemas.openxmlformats.org/drawingml/2006/table">
            <a:tbl>
              <a:tblPr firstRow="1" bandRow="1">
                <a:noFill/>
                <a:tableStyleId>{5940675A-B579-460E-94D1-54222C63F5DA}</a:tableStyleId>
              </a:tblPr>
              <a:tblGrid>
                <a:gridCol w="668604">
                  <a:extLst>
                    <a:ext uri="{9D8B030D-6E8A-4147-A177-3AD203B41FA5}">
                      <a16:colId xmlns:a16="http://schemas.microsoft.com/office/drawing/2014/main" val="3630319676"/>
                    </a:ext>
                  </a:extLst>
                </a:gridCol>
                <a:gridCol w="485279">
                  <a:extLst>
                    <a:ext uri="{9D8B030D-6E8A-4147-A177-3AD203B41FA5}">
                      <a16:colId xmlns:a16="http://schemas.microsoft.com/office/drawing/2014/main" val="2449943958"/>
                    </a:ext>
                  </a:extLst>
                </a:gridCol>
                <a:gridCol w="576941">
                  <a:extLst>
                    <a:ext uri="{9D8B030D-6E8A-4147-A177-3AD203B41FA5}">
                      <a16:colId xmlns:a16="http://schemas.microsoft.com/office/drawing/2014/main" val="3241406068"/>
                    </a:ext>
                  </a:extLst>
                </a:gridCol>
                <a:gridCol w="576941">
                  <a:extLst>
                    <a:ext uri="{9D8B030D-6E8A-4147-A177-3AD203B41FA5}">
                      <a16:colId xmlns:a16="http://schemas.microsoft.com/office/drawing/2014/main" val="1541813034"/>
                    </a:ext>
                  </a:extLst>
                </a:gridCol>
                <a:gridCol w="576941">
                  <a:extLst>
                    <a:ext uri="{9D8B030D-6E8A-4147-A177-3AD203B41FA5}">
                      <a16:colId xmlns:a16="http://schemas.microsoft.com/office/drawing/2014/main" val="439975108"/>
                    </a:ext>
                  </a:extLst>
                </a:gridCol>
                <a:gridCol w="657961">
                  <a:extLst>
                    <a:ext uri="{9D8B030D-6E8A-4147-A177-3AD203B41FA5}">
                      <a16:colId xmlns:a16="http://schemas.microsoft.com/office/drawing/2014/main" val="4266199047"/>
                    </a:ext>
                  </a:extLst>
                </a:gridCol>
                <a:gridCol w="495922">
                  <a:extLst>
                    <a:ext uri="{9D8B030D-6E8A-4147-A177-3AD203B41FA5}">
                      <a16:colId xmlns:a16="http://schemas.microsoft.com/office/drawing/2014/main" val="700621554"/>
                    </a:ext>
                  </a:extLst>
                </a:gridCol>
                <a:gridCol w="576941">
                  <a:extLst>
                    <a:ext uri="{9D8B030D-6E8A-4147-A177-3AD203B41FA5}">
                      <a16:colId xmlns:a16="http://schemas.microsoft.com/office/drawing/2014/main" val="1149588615"/>
                    </a:ext>
                  </a:extLst>
                </a:gridCol>
                <a:gridCol w="576941">
                  <a:extLst>
                    <a:ext uri="{9D8B030D-6E8A-4147-A177-3AD203B41FA5}">
                      <a16:colId xmlns:a16="http://schemas.microsoft.com/office/drawing/2014/main" val="2273608623"/>
                    </a:ext>
                  </a:extLst>
                </a:gridCol>
                <a:gridCol w="576941">
                  <a:extLst>
                    <a:ext uri="{9D8B030D-6E8A-4147-A177-3AD203B41FA5}">
                      <a16:colId xmlns:a16="http://schemas.microsoft.com/office/drawing/2014/main" val="1983320277"/>
                    </a:ext>
                  </a:extLst>
                </a:gridCol>
                <a:gridCol w="576941">
                  <a:extLst>
                    <a:ext uri="{9D8B030D-6E8A-4147-A177-3AD203B41FA5}">
                      <a16:colId xmlns:a16="http://schemas.microsoft.com/office/drawing/2014/main" val="3029482529"/>
                    </a:ext>
                  </a:extLst>
                </a:gridCol>
              </a:tblGrid>
              <a:tr h="579528">
                <a:tc>
                  <a:txBody>
                    <a:bodyPr/>
                    <a:lstStyle/>
                    <a:p>
                      <a:pPr algn="ctr">
                        <a:lnSpc>
                          <a:spcPct val="100000"/>
                        </a:lnSpc>
                      </a:pPr>
                      <a:endParaRPr lang="en-US" altLang="zh-TW" sz="1800" dirty="0">
                        <a:latin typeface="Times New Roman" panose="02020603050405020304" pitchFamily="18" charset="0"/>
                        <a:cs typeface="Times New Roman" panose="02020603050405020304" pitchFamily="18" charset="0"/>
                      </a:endParaRPr>
                    </a:p>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1</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j-1-K</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j-1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err="1">
                          <a:latin typeface="Times New Roman" panose="02020603050405020304" pitchFamily="18" charset="0"/>
                          <a:cs typeface="Times New Roman" panose="02020603050405020304" pitchFamily="18" charset="0"/>
                        </a:rPr>
                        <a:t>Y</a:t>
                      </a:r>
                      <a:r>
                        <a:rPr lang="en-US" altLang="zh-TW" sz="1800" baseline="-25000" dirty="0" err="1">
                          <a:latin typeface="Times New Roman" panose="02020603050405020304" pitchFamily="18" charset="0"/>
                          <a:cs typeface="Times New Roman" panose="02020603050405020304" pitchFamily="18" charset="0"/>
                        </a:rPr>
                        <a:t>j</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err="1">
                          <a:latin typeface="Times New Roman" panose="02020603050405020304" pitchFamily="18" charset="0"/>
                          <a:cs typeface="Times New Roman" panose="02020603050405020304" pitchFamily="18" charset="0"/>
                        </a:rPr>
                        <a:t>Y</a:t>
                      </a:r>
                      <a:r>
                        <a:rPr lang="en-US" altLang="zh-TW" sz="1800" baseline="-25000" dirty="0" err="1">
                          <a:latin typeface="Times New Roman" panose="02020603050405020304" pitchFamily="18" charset="0"/>
                          <a:cs typeface="Times New Roman" panose="02020603050405020304" pitchFamily="18" charset="0"/>
                        </a:rPr>
                        <a:t>n</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extLst>
                  <a:ext uri="{0D108BD9-81ED-4DB2-BD59-A6C34878D82A}">
                    <a16:rowId xmlns:a16="http://schemas.microsoft.com/office/drawing/2014/main" val="3990454840"/>
                  </a:ext>
                </a:extLst>
              </a:tr>
              <a:tr h="542528">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bg1"/>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662905682"/>
                  </a:ext>
                </a:extLst>
              </a:tr>
              <a:tr h="542528">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4229735210"/>
                  </a:ext>
                </a:extLst>
              </a:tr>
              <a:tr h="5425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1920045357"/>
                  </a:ext>
                </a:extLst>
              </a:tr>
              <a:tr h="542528">
                <a:tc>
                  <a:txBody>
                    <a:bodyPr/>
                    <a:lstStyle/>
                    <a:p>
                      <a:pPr algn="ctr">
                        <a:lnSpc>
                          <a:spcPct val="100000"/>
                        </a:lnSpc>
                      </a:pPr>
                      <a:r>
                        <a:rPr lang="zh-TW" altLang="en-US" sz="1800" b="0" i="0" kern="1200" dirty="0">
                          <a:solidFill>
                            <a:schemeClr val="tx1"/>
                          </a:solidFill>
                          <a:effectLst/>
                          <a:latin typeface="+mn-lt"/>
                          <a:ea typeface="+mn-ea"/>
                          <a:cs typeface="+mn-cs"/>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596059960"/>
                  </a:ext>
                </a:extLst>
              </a:tr>
              <a:tr h="542528">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i-1-K</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76200" cap="flat" cmpd="sng" algn="ctr">
                      <a:solidFill>
                        <a:srgbClr val="FF0000"/>
                      </a:solidFill>
                      <a:prstDash val="solid"/>
                      <a:round/>
                      <a:headEnd type="none" w="med" len="med"/>
                      <a:tailEnd type="none" w="med" len="med"/>
                    </a:lnR>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650435379"/>
                  </a:ext>
                </a:extLst>
              </a:tr>
              <a:tr h="542528">
                <a:tc>
                  <a:txBody>
                    <a:bodyPr/>
                    <a:lstStyle/>
                    <a:p>
                      <a:pPr algn="ctr">
                        <a:lnSpc>
                          <a:spcPct val="100000"/>
                        </a:lnSpc>
                      </a:pPr>
                      <a:r>
                        <a:rPr lang="zh-TW" altLang="en-US" sz="1800" b="0" i="0" kern="1200" dirty="0">
                          <a:solidFill>
                            <a:schemeClr val="tx1"/>
                          </a:solidFill>
                          <a:effectLst/>
                          <a:latin typeface="+mn-lt"/>
                          <a:ea typeface="+mn-ea"/>
                          <a:cs typeface="+mn-cs"/>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76200" cap="flat" cmpd="sng" algn="ctr">
                      <a:solidFill>
                        <a:srgbClr val="FF0000"/>
                      </a:solidFill>
                      <a:prstDash val="solid"/>
                      <a:round/>
                      <a:headEnd type="none" w="med" len="med"/>
                      <a:tailEnd type="none" w="med" len="med"/>
                    </a:lnR>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1222648316"/>
                  </a:ext>
                </a:extLst>
              </a:tr>
              <a:tr h="542528">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76200" cap="flat" cmpd="sng" algn="ctr">
                      <a:solidFill>
                        <a:srgbClr val="FF0000"/>
                      </a:solidFill>
                      <a:prstDash val="solid"/>
                      <a:round/>
                      <a:headEnd type="none" w="med" len="med"/>
                      <a:tailEnd type="none" w="med" len="med"/>
                    </a:lnR>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909335467"/>
                  </a:ext>
                </a:extLst>
              </a:tr>
              <a:tr h="542528">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T w="76200" cap="flat" cmpd="sng" algn="ctr">
                      <a:solidFill>
                        <a:srgbClr val="FF0000"/>
                      </a:solidFill>
                      <a:prstDash val="solid"/>
                      <a:round/>
                      <a:headEnd type="none" w="med" len="med"/>
                      <a:tailEnd type="none" w="med" len="med"/>
                    </a:lnT>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T w="76200" cap="flat" cmpd="sng" algn="ctr">
                      <a:solidFill>
                        <a:srgbClr val="FF0000"/>
                      </a:solidFill>
                      <a:prstDash val="solid"/>
                      <a:round/>
                      <a:headEnd type="none" w="med" len="med"/>
                      <a:tailEnd type="none" w="med" len="med"/>
                    </a:lnT>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T w="76200" cap="flat" cmpd="sng" algn="ctr">
                      <a:solidFill>
                        <a:srgbClr val="FF0000"/>
                      </a:solidFill>
                      <a:prstDash val="solid"/>
                      <a:round/>
                      <a:headEnd type="none" w="med" len="med"/>
                      <a:tailEnd type="none" w="med" len="med"/>
                    </a:lnT>
                  </a:tcPr>
                </a:tc>
                <a:tc>
                  <a:txBody>
                    <a:bodyPr/>
                    <a:lstStyle/>
                    <a:p>
                      <a:pPr algn="ctr">
                        <a:lnSpc>
                          <a:spcPct val="100000"/>
                        </a:lnSpc>
                      </a:pPr>
                      <a:r>
                        <a:rPr lang="zh-TW" altLang="en-US" sz="1800" dirty="0">
                          <a:latin typeface="Times New Roman" panose="02020603050405020304" pitchFamily="18" charset="0"/>
                          <a:cs typeface="Times New Roman" panose="02020603050405020304" pitchFamily="18" charset="0"/>
                        </a:rPr>
                        <a:t>●</a:t>
                      </a: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248359388"/>
                  </a:ext>
                </a:extLst>
              </a:tr>
              <a:tr h="542528">
                <a:tc>
                  <a:txBody>
                    <a:bodyPr/>
                    <a:lstStyle/>
                    <a:p>
                      <a:pPr algn="ctr">
                        <a:lnSpc>
                          <a:spcPct val="100000"/>
                        </a:lnSpc>
                      </a:pPr>
                      <a:r>
                        <a:rPr lang="zh-TW" altLang="en-US" sz="1800" b="0" i="0" kern="1200" dirty="0">
                          <a:solidFill>
                            <a:schemeClr val="tx1"/>
                          </a:solidFill>
                          <a:effectLst/>
                          <a:latin typeface="+mn-lt"/>
                          <a:ea typeface="+mn-ea"/>
                          <a:cs typeface="+mn-cs"/>
                        </a:rPr>
                        <a:t>⋮</a:t>
                      </a:r>
                      <a:endParaRPr lang="en-US" altLang="zh-TW" sz="1800" baseline="-250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147665150"/>
                  </a:ext>
                </a:extLst>
              </a:tr>
              <a:tr h="542528">
                <a:tc>
                  <a:txBody>
                    <a:bodyPr/>
                    <a:lstStyle/>
                    <a:p>
                      <a:pPr algn="ctr">
                        <a:lnSpc>
                          <a:spcPct val="100000"/>
                        </a:lnSpc>
                      </a:pPr>
                      <a:r>
                        <a:rPr lang="en-US" altLang="zh-TW" sz="1800" dirty="0" err="1">
                          <a:latin typeface="Times New Roman" panose="02020603050405020304" pitchFamily="18" charset="0"/>
                          <a:cs typeface="Times New Roman" panose="02020603050405020304" pitchFamily="18" charset="0"/>
                        </a:rPr>
                        <a:t>X</a:t>
                      </a:r>
                      <a:r>
                        <a:rPr lang="en-US" altLang="zh-TW" sz="1800" baseline="-25000" dirty="0" err="1">
                          <a:latin typeface="Times New Roman" panose="02020603050405020304" pitchFamily="18" charset="0"/>
                          <a:cs typeface="Times New Roman" panose="02020603050405020304" pitchFamily="18" charset="0"/>
                        </a:rPr>
                        <a:t>n</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51377310"/>
                  </a:ext>
                </a:extLst>
              </a:tr>
            </a:tbl>
          </a:graphicData>
        </a:graphic>
      </p:graphicFrame>
      <p:sp>
        <p:nvSpPr>
          <p:cNvPr id="10" name="左大括弧 9">
            <a:extLst>
              <a:ext uri="{FF2B5EF4-FFF2-40B4-BE49-F238E27FC236}">
                <a16:creationId xmlns:a16="http://schemas.microsoft.com/office/drawing/2014/main" id="{7E4FCBC9-F125-4415-B9C8-4582A921EED2}"/>
              </a:ext>
            </a:extLst>
          </p:cNvPr>
          <p:cNvSpPr/>
          <p:nvPr/>
        </p:nvSpPr>
        <p:spPr>
          <a:xfrm rot="5400000">
            <a:off x="9167898" y="-186449"/>
            <a:ext cx="281820" cy="1325563"/>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1" name="左大括弧 10">
            <a:extLst>
              <a:ext uri="{FF2B5EF4-FFF2-40B4-BE49-F238E27FC236}">
                <a16:creationId xmlns:a16="http://schemas.microsoft.com/office/drawing/2014/main" id="{E041AA99-8006-4E23-A8F2-7A391FFC24CD}"/>
              </a:ext>
            </a:extLst>
          </p:cNvPr>
          <p:cNvSpPr/>
          <p:nvPr/>
        </p:nvSpPr>
        <p:spPr>
          <a:xfrm>
            <a:off x="5283403" y="3669084"/>
            <a:ext cx="224262" cy="1325563"/>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2" name="文字方塊 11">
            <a:extLst>
              <a:ext uri="{FF2B5EF4-FFF2-40B4-BE49-F238E27FC236}">
                <a16:creationId xmlns:a16="http://schemas.microsoft.com/office/drawing/2014/main" id="{2D483014-37A7-448F-8454-A7FB09B5A302}"/>
              </a:ext>
            </a:extLst>
          </p:cNvPr>
          <p:cNvSpPr txBox="1"/>
          <p:nvPr/>
        </p:nvSpPr>
        <p:spPr>
          <a:xfrm>
            <a:off x="4435292" y="4070255"/>
            <a:ext cx="825867" cy="523220"/>
          </a:xfrm>
          <a:prstGeom prst="rect">
            <a:avLst/>
          </a:prstGeom>
          <a:noFill/>
        </p:spPr>
        <p:txBody>
          <a:bodyPr wrap="none" rtlCol="0">
            <a:spAutoFit/>
          </a:bodyPr>
          <a:lstStyle/>
          <a:p>
            <a:r>
              <a:rPr lang="en-US" altLang="zh-TW" sz="2800" dirty="0"/>
              <a:t>K+1</a:t>
            </a:r>
            <a:endParaRPr lang="zh-TW" altLang="en-US" sz="2800" dirty="0"/>
          </a:p>
        </p:txBody>
      </p:sp>
      <p:sp>
        <p:nvSpPr>
          <p:cNvPr id="13" name="文字方塊 12">
            <a:extLst>
              <a:ext uri="{FF2B5EF4-FFF2-40B4-BE49-F238E27FC236}">
                <a16:creationId xmlns:a16="http://schemas.microsoft.com/office/drawing/2014/main" id="{167BDE73-0CC3-4788-B12B-0182BB43B674}"/>
              </a:ext>
            </a:extLst>
          </p:cNvPr>
          <p:cNvSpPr txBox="1"/>
          <p:nvPr/>
        </p:nvSpPr>
        <p:spPr>
          <a:xfrm>
            <a:off x="8895874" y="-94345"/>
            <a:ext cx="825867" cy="523220"/>
          </a:xfrm>
          <a:prstGeom prst="rect">
            <a:avLst/>
          </a:prstGeom>
          <a:noFill/>
        </p:spPr>
        <p:txBody>
          <a:bodyPr wrap="none" rtlCol="0">
            <a:spAutoFit/>
          </a:bodyPr>
          <a:lstStyle/>
          <a:p>
            <a:r>
              <a:rPr lang="en-US" altLang="zh-TW" sz="2800" dirty="0"/>
              <a:t>K+1</a:t>
            </a:r>
            <a:endParaRPr lang="zh-TW" altLang="en-US" sz="2800" dirty="0"/>
          </a:p>
        </p:txBody>
      </p:sp>
    </p:spTree>
    <p:extLst>
      <p:ext uri="{BB962C8B-B14F-4D97-AF65-F5344CB8AC3E}">
        <p14:creationId xmlns:p14="http://schemas.microsoft.com/office/powerpoint/2010/main" val="1361278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282700"/>
            <a:ext cx="10515600" cy="4351338"/>
          </a:xfrm>
        </p:spPr>
        <p:txBody>
          <a:bodyPr>
            <a:normAutofit/>
          </a:bodyPr>
          <a:lstStyle/>
          <a:p>
            <a:r>
              <a:rPr lang="en-US" altLang="zh-TW" dirty="0"/>
              <a:t>reduce </a:t>
            </a:r>
            <a:r>
              <a:rPr lang="pt-BR" altLang="zh-TW" dirty="0"/>
              <a:t>(K + 1)</a:t>
            </a:r>
            <a:r>
              <a:rPr lang="en-US" altLang="zh-TW" baseline="30000" dirty="0"/>
              <a:t>2  </a:t>
            </a:r>
            <a:r>
              <a:rPr lang="en-US" altLang="zh-TW" dirty="0"/>
              <a:t>to </a:t>
            </a:r>
            <a:r>
              <a:rPr lang="pt-BR" altLang="zh-TW" dirty="0"/>
              <a:t>(K + 1)</a:t>
            </a:r>
            <a:endParaRPr lang="en-US" altLang="zh-TW" dirty="0"/>
          </a:p>
          <a:p>
            <a:r>
              <a:rPr lang="zh-TW" altLang="en-US" dirty="0"/>
              <a:t>使用 </a:t>
            </a:r>
            <a:r>
              <a:rPr lang="en-US" altLang="zh-TW" dirty="0"/>
              <a:t>n</a:t>
            </a:r>
            <a:r>
              <a:rPr lang="zh-TW" altLang="en-US" dirty="0"/>
              <a:t> 條 </a:t>
            </a:r>
            <a:r>
              <a:rPr lang="en-US" altLang="zh-TW" dirty="0" err="1"/>
              <a:t>vEB</a:t>
            </a:r>
            <a:r>
              <a:rPr lang="zh-TW" altLang="en-US" dirty="0"/>
              <a:t> 記錄每一行中</a:t>
            </a:r>
            <a:r>
              <a:rPr lang="en-US" altLang="zh-TW" dirty="0"/>
              <a:t>(K+1)</a:t>
            </a:r>
            <a:r>
              <a:rPr lang="zh-TW" altLang="en-US" dirty="0"/>
              <a:t>個值</a:t>
            </a:r>
            <a:endParaRPr lang="en-US" altLang="zh-TW" dirty="0"/>
          </a:p>
          <a:p>
            <a:r>
              <a:rPr lang="zh-TW" altLang="en-US" dirty="0"/>
              <a:t>當 </a:t>
            </a:r>
            <a:r>
              <a:rPr lang="en-US" altLang="zh-TW" dirty="0"/>
              <a:t>X</a:t>
            </a:r>
            <a:r>
              <a:rPr lang="en-US" altLang="zh-TW" baseline="-25000" dirty="0"/>
              <a:t>i </a:t>
            </a:r>
            <a:r>
              <a:rPr lang="en-US" altLang="zh-TW" dirty="0"/>
              <a:t>= </a:t>
            </a:r>
            <a:r>
              <a:rPr lang="en-US" altLang="zh-TW" dirty="0" err="1"/>
              <a:t>Y</a:t>
            </a:r>
            <a:r>
              <a:rPr lang="en-US" altLang="zh-TW" baseline="-25000" dirty="0" err="1"/>
              <a:t>j</a:t>
            </a:r>
            <a:r>
              <a:rPr lang="zh-TW" altLang="en-US" dirty="0"/>
              <a:t>，只需檢查 </a:t>
            </a:r>
            <a:r>
              <a:rPr lang="en-US" altLang="zh-TW" dirty="0"/>
              <a:t>(K+1)</a:t>
            </a:r>
            <a:r>
              <a:rPr lang="zh-TW" altLang="en-US" dirty="0"/>
              <a:t>條 </a:t>
            </a:r>
            <a:r>
              <a:rPr lang="en-US" altLang="zh-TW" dirty="0" err="1"/>
              <a:t>vEB</a:t>
            </a:r>
            <a:r>
              <a:rPr lang="en-US" altLang="zh-TW" dirty="0"/>
              <a:t> </a:t>
            </a:r>
            <a:r>
              <a:rPr lang="zh-TW" altLang="en-US" dirty="0"/>
              <a:t>中的最大值</a:t>
            </a:r>
            <a:endParaRPr lang="en-US" altLang="zh-TW" dirty="0"/>
          </a:p>
          <a:p>
            <a:endParaRPr lang="en-US" altLang="zh-TW" baseline="30000" dirty="0"/>
          </a:p>
          <a:p>
            <a:pPr marL="0" indent="0">
              <a:buNone/>
            </a:pPr>
            <a:r>
              <a:rPr lang="en-US" altLang="zh-TW" dirty="0"/>
              <a:t>                                    </a:t>
            </a:r>
          </a:p>
          <a:p>
            <a:endParaRPr lang="en-US" altLang="zh-TW" dirty="0"/>
          </a:p>
          <a:p>
            <a:endParaRPr lang="en-US" altLang="zh-TW" dirty="0"/>
          </a:p>
          <a:p>
            <a:endParaRPr lang="zh-TW" altLang="en-US" dirty="0"/>
          </a:p>
        </p:txBody>
      </p:sp>
      <p:sp>
        <p:nvSpPr>
          <p:cNvPr id="2" name="標題 1"/>
          <p:cNvSpPr>
            <a:spLocks noGrp="1"/>
          </p:cNvSpPr>
          <p:nvPr>
            <p:ph type="title"/>
          </p:nvPr>
        </p:nvSpPr>
        <p:spPr>
          <a:xfrm>
            <a:off x="880241" y="3175"/>
            <a:ext cx="10515600" cy="1325563"/>
          </a:xfrm>
        </p:spPr>
        <p:txBody>
          <a:bodyPr/>
          <a:lstStyle/>
          <a:p>
            <a:r>
              <a:rPr lang="en-US" altLang="zh-TW" dirty="0"/>
              <a:t>An improved algorithm for FIG</a:t>
            </a:r>
          </a:p>
        </p:txBody>
      </p:sp>
      <p:graphicFrame>
        <p:nvGraphicFramePr>
          <p:cNvPr id="6" name="內容版面配置區 3">
            <a:extLst>
              <a:ext uri="{FF2B5EF4-FFF2-40B4-BE49-F238E27FC236}">
                <a16:creationId xmlns:a16="http://schemas.microsoft.com/office/drawing/2014/main" id="{AC9C7744-69CE-4A4A-9CE6-CE661B8CFF0E}"/>
              </a:ext>
            </a:extLst>
          </p:cNvPr>
          <p:cNvGraphicFramePr>
            <a:graphicFrameLocks/>
          </p:cNvGraphicFramePr>
          <p:nvPr>
            <p:extLst>
              <p:ext uri="{D42A27DB-BD31-4B8C-83A1-F6EECF244321}">
                <p14:modId xmlns:p14="http://schemas.microsoft.com/office/powerpoint/2010/main" val="1102355014"/>
              </p:ext>
            </p:extLst>
          </p:nvPr>
        </p:nvGraphicFramePr>
        <p:xfrm>
          <a:off x="5811678" y="2880926"/>
          <a:ext cx="6068747" cy="3892821"/>
        </p:xfrm>
        <a:graphic>
          <a:graphicData uri="http://schemas.openxmlformats.org/drawingml/2006/table">
            <a:tbl>
              <a:tblPr firstRow="1" bandRow="1">
                <a:noFill/>
                <a:tableStyleId>{5940675A-B579-460E-94D1-54222C63F5DA}</a:tableStyleId>
              </a:tblPr>
              <a:tblGrid>
                <a:gridCol w="644773">
                  <a:extLst>
                    <a:ext uri="{9D8B030D-6E8A-4147-A177-3AD203B41FA5}">
                      <a16:colId xmlns:a16="http://schemas.microsoft.com/office/drawing/2014/main" val="3630319676"/>
                    </a:ext>
                  </a:extLst>
                </a:gridCol>
                <a:gridCol w="458632">
                  <a:extLst>
                    <a:ext uri="{9D8B030D-6E8A-4147-A177-3AD203B41FA5}">
                      <a16:colId xmlns:a16="http://schemas.microsoft.com/office/drawing/2014/main" val="2449943958"/>
                    </a:ext>
                  </a:extLst>
                </a:gridCol>
                <a:gridCol w="551705">
                  <a:extLst>
                    <a:ext uri="{9D8B030D-6E8A-4147-A177-3AD203B41FA5}">
                      <a16:colId xmlns:a16="http://schemas.microsoft.com/office/drawing/2014/main" val="3241406068"/>
                    </a:ext>
                  </a:extLst>
                </a:gridCol>
                <a:gridCol w="551705">
                  <a:extLst>
                    <a:ext uri="{9D8B030D-6E8A-4147-A177-3AD203B41FA5}">
                      <a16:colId xmlns:a16="http://schemas.microsoft.com/office/drawing/2014/main" val="1541813034"/>
                    </a:ext>
                  </a:extLst>
                </a:gridCol>
                <a:gridCol w="551705">
                  <a:extLst>
                    <a:ext uri="{9D8B030D-6E8A-4147-A177-3AD203B41FA5}">
                      <a16:colId xmlns:a16="http://schemas.microsoft.com/office/drawing/2014/main" val="439975108"/>
                    </a:ext>
                  </a:extLst>
                </a:gridCol>
                <a:gridCol w="642687">
                  <a:extLst>
                    <a:ext uri="{9D8B030D-6E8A-4147-A177-3AD203B41FA5}">
                      <a16:colId xmlns:a16="http://schemas.microsoft.com/office/drawing/2014/main" val="4266199047"/>
                    </a:ext>
                  </a:extLst>
                </a:gridCol>
                <a:gridCol w="460720">
                  <a:extLst>
                    <a:ext uri="{9D8B030D-6E8A-4147-A177-3AD203B41FA5}">
                      <a16:colId xmlns:a16="http://schemas.microsoft.com/office/drawing/2014/main" val="700621554"/>
                    </a:ext>
                  </a:extLst>
                </a:gridCol>
                <a:gridCol w="551705">
                  <a:extLst>
                    <a:ext uri="{9D8B030D-6E8A-4147-A177-3AD203B41FA5}">
                      <a16:colId xmlns:a16="http://schemas.microsoft.com/office/drawing/2014/main" val="1149588615"/>
                    </a:ext>
                  </a:extLst>
                </a:gridCol>
                <a:gridCol w="551705">
                  <a:extLst>
                    <a:ext uri="{9D8B030D-6E8A-4147-A177-3AD203B41FA5}">
                      <a16:colId xmlns:a16="http://schemas.microsoft.com/office/drawing/2014/main" val="2273608623"/>
                    </a:ext>
                  </a:extLst>
                </a:gridCol>
                <a:gridCol w="551705">
                  <a:extLst>
                    <a:ext uri="{9D8B030D-6E8A-4147-A177-3AD203B41FA5}">
                      <a16:colId xmlns:a16="http://schemas.microsoft.com/office/drawing/2014/main" val="1983320277"/>
                    </a:ext>
                  </a:extLst>
                </a:gridCol>
                <a:gridCol w="551705">
                  <a:extLst>
                    <a:ext uri="{9D8B030D-6E8A-4147-A177-3AD203B41FA5}">
                      <a16:colId xmlns:a16="http://schemas.microsoft.com/office/drawing/2014/main" val="3029482529"/>
                    </a:ext>
                  </a:extLst>
                </a:gridCol>
              </a:tblGrid>
              <a:tr h="410581">
                <a:tc>
                  <a:txBody>
                    <a:bodyPr/>
                    <a:lstStyle/>
                    <a:p>
                      <a:pPr algn="ctr">
                        <a:lnSpc>
                          <a:spcPct val="100000"/>
                        </a:lnSpc>
                      </a:pPr>
                      <a:endParaRPr lang="en-US" altLang="zh-TW" sz="1600" dirty="0">
                        <a:latin typeface="Times New Roman" panose="02020603050405020304" pitchFamily="18" charset="0"/>
                        <a:cs typeface="Times New Roman" panose="02020603050405020304" pitchFamily="18" charset="0"/>
                      </a:endParaRPr>
                    </a:p>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1</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j-1-K</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j</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90454840"/>
                  </a:ext>
                </a:extLst>
              </a:tr>
              <a:tr h="234221">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2905682"/>
                  </a:ext>
                </a:extLst>
              </a:tr>
              <a:tr h="234221">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735210"/>
                  </a:ext>
                </a:extLst>
              </a:tr>
              <a:tr h="23422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045357"/>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C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FF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F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206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extLst>
                  <a:ext uri="{0D108BD9-81ED-4DB2-BD59-A6C34878D82A}">
                    <a16:rowId xmlns:a16="http://schemas.microsoft.com/office/drawing/2014/main" val="596059960"/>
                  </a:ext>
                </a:extLst>
              </a:tr>
              <a:tr h="410581">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i-1-K</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76200" cap="flat" cmpd="sng" algn="ctr">
                      <a:solidFill>
                        <a:srgbClr val="FFC000"/>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C000"/>
                      </a:solidFill>
                      <a:prstDash val="solid"/>
                      <a:round/>
                      <a:headEnd type="none" w="med" len="med"/>
                      <a:tailEnd type="none" w="med" len="med"/>
                    </a:lnL>
                    <a:lnR w="76200" cap="flat" cmpd="sng" algn="ctr">
                      <a:solidFill>
                        <a:srgbClr val="FFFF00"/>
                      </a:solidFill>
                      <a:prstDash val="solid"/>
                      <a:round/>
                      <a:headEnd type="none" w="med" len="med"/>
                      <a:tailEnd type="none" w="med" len="med"/>
                    </a:lnR>
                    <a:lnT w="76200" cap="flat" cmpd="sng" algn="ctr">
                      <a:solidFill>
                        <a:srgbClr val="FFC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FF00"/>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rgbClr val="FFFF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00B050"/>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50"/>
                      </a:solidFill>
                      <a:prstDash val="solid"/>
                      <a:round/>
                      <a:headEnd type="none" w="med" len="med"/>
                      <a:tailEnd type="none" w="med" len="med"/>
                    </a:lnL>
                    <a:lnR w="76200" cap="flat" cmpd="sng" algn="ctr">
                      <a:solidFill>
                        <a:srgbClr val="00B0F0"/>
                      </a:solidFill>
                      <a:prstDash val="solid"/>
                      <a:round/>
                      <a:headEnd type="none" w="med" len="med"/>
                      <a:tailEnd type="none" w="med" len="med"/>
                    </a:lnR>
                    <a:lnT w="76200" cap="flat" cmpd="sng" algn="ctr">
                      <a:solidFill>
                        <a:srgbClr val="00B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F0"/>
                      </a:solidFill>
                      <a:prstDash val="solid"/>
                      <a:round/>
                      <a:headEnd type="none" w="med" len="med"/>
                      <a:tailEnd type="none" w="med" len="med"/>
                    </a:lnL>
                    <a:lnR w="76200" cap="flat" cmpd="sng" algn="ctr">
                      <a:solidFill>
                        <a:srgbClr val="0070C0"/>
                      </a:solidFill>
                      <a:prstDash val="solid"/>
                      <a:round/>
                      <a:headEnd type="none" w="med" len="med"/>
                      <a:tailEnd type="none" w="med" len="med"/>
                    </a:lnR>
                    <a:lnT w="76200" cap="flat" cmpd="sng" algn="ctr">
                      <a:solidFill>
                        <a:srgbClr val="00B0F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2060"/>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2060"/>
                      </a:solidFill>
                      <a:prstDash val="solid"/>
                      <a:round/>
                      <a:headEnd type="none" w="med" len="med"/>
                      <a:tailEnd type="none" w="med" len="med"/>
                    </a:lnL>
                    <a:lnR w="76200" cap="flat" cmpd="sng" algn="ctr">
                      <a:solidFill>
                        <a:srgbClr val="7030A0"/>
                      </a:solidFill>
                      <a:prstDash val="solid"/>
                      <a:round/>
                      <a:headEnd type="none" w="med" len="med"/>
                      <a:tailEnd type="none" w="med" len="med"/>
                    </a:lnR>
                    <a:lnT w="762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435379"/>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76200" cap="flat" cmpd="sng" algn="ctr">
                      <a:solidFill>
                        <a:srgbClr val="FFC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C000"/>
                      </a:solidFill>
                      <a:prstDash val="solid"/>
                      <a:round/>
                      <a:headEnd type="none" w="med" len="med"/>
                      <a:tailEnd type="none" w="med" len="med"/>
                    </a:lnL>
                    <a:lnR w="76200" cap="flat" cmpd="sng" algn="ctr">
                      <a:solidFill>
                        <a:srgbClr val="FFFF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FF00"/>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00B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50"/>
                      </a:solidFill>
                      <a:prstDash val="solid"/>
                      <a:round/>
                      <a:headEnd type="none" w="med" len="med"/>
                      <a:tailEnd type="none" w="med" len="med"/>
                    </a:lnL>
                    <a:lnR w="76200" cap="flat" cmpd="sng" algn="ctr">
                      <a:solidFill>
                        <a:srgbClr val="00B0F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F0"/>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2060"/>
                      </a:solidFill>
                      <a:prstDash val="solid"/>
                      <a:round/>
                      <a:headEnd type="none" w="med" len="med"/>
                      <a:tailEnd type="none" w="med" len="med"/>
                    </a:lnL>
                    <a:lnR w="76200" cap="flat" cmpd="sng" algn="ctr">
                      <a:solidFill>
                        <a:srgbClr val="7030A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648316"/>
                  </a:ext>
                </a:extLst>
              </a:tr>
              <a:tr h="319420">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76200" cap="flat" cmpd="sng" algn="ctr">
                      <a:solidFill>
                        <a:srgbClr val="FFC00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C000"/>
                      </a:solidFill>
                      <a:prstDash val="solid"/>
                      <a:round/>
                      <a:headEnd type="none" w="med" len="med"/>
                      <a:tailEnd type="none" w="med" len="med"/>
                    </a:lnL>
                    <a:lnR w="76200" cap="flat" cmpd="sng" algn="ctr">
                      <a:solidFill>
                        <a:srgbClr val="FFFF0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C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FF00"/>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FF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00B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50"/>
                      </a:solidFill>
                      <a:prstDash val="solid"/>
                      <a:round/>
                      <a:headEnd type="none" w="med" len="med"/>
                      <a:tailEnd type="none" w="med" len="med"/>
                    </a:lnL>
                    <a:lnR w="76200" cap="flat" cmpd="sng" algn="ctr">
                      <a:solidFill>
                        <a:srgbClr val="00B0F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F0"/>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2060"/>
                      </a:solidFill>
                      <a:prstDash val="solid"/>
                      <a:round/>
                      <a:headEnd type="none" w="med" len="med"/>
                      <a:tailEnd type="none" w="med" len="med"/>
                    </a:lnL>
                    <a:lnR w="76200" cap="flat" cmpd="sng" algn="ctr">
                      <a:solidFill>
                        <a:srgbClr val="7030A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2060"/>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extLst>
                  <a:ext uri="{0D108BD9-81ED-4DB2-BD59-A6C34878D82A}">
                    <a16:rowId xmlns:a16="http://schemas.microsoft.com/office/drawing/2014/main" val="909335467"/>
                  </a:ext>
                </a:extLst>
              </a:tr>
              <a:tr h="234221">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C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FF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solidFill>
                          <a:schemeClr val="tx1"/>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B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B0F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solidFill>
                            <a:schemeClr val="tx1"/>
                          </a:solidFill>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359388"/>
                  </a:ext>
                </a:extLst>
              </a:tr>
              <a:tr h="234221">
                <a:tc>
                  <a:txBody>
                    <a:bodyPr/>
                    <a:lstStyle/>
                    <a:p>
                      <a:pPr algn="ctr">
                        <a:lnSpc>
                          <a:spcPct val="100000"/>
                        </a:lnSpc>
                      </a:pPr>
                      <a:r>
                        <a:rPr lang="zh-TW" altLang="en-US" sz="1600" b="0" i="0" kern="1200" dirty="0">
                          <a:solidFill>
                            <a:schemeClr val="tx1"/>
                          </a:solidFill>
                          <a:effectLst/>
                          <a:latin typeface="+mn-lt"/>
                          <a:ea typeface="+mn-ea"/>
                          <a:cs typeface="+mn-cs"/>
                        </a:rPr>
                        <a:t>⋮</a:t>
                      </a:r>
                      <a:endParaRPr lang="en-US" altLang="zh-TW" sz="1600" baseline="-250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665150"/>
                  </a:ext>
                </a:extLst>
              </a:tr>
              <a:tr h="234221">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X</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377310"/>
                  </a:ext>
                </a:extLst>
              </a:tr>
            </a:tbl>
          </a:graphicData>
        </a:graphic>
      </p:graphicFrame>
      <p:sp>
        <p:nvSpPr>
          <p:cNvPr id="7" name="左大括弧 6">
            <a:extLst>
              <a:ext uri="{FF2B5EF4-FFF2-40B4-BE49-F238E27FC236}">
                <a16:creationId xmlns:a16="http://schemas.microsoft.com/office/drawing/2014/main" id="{1CBB9A15-7606-4DD9-B41F-3519F1C9F8A4}"/>
              </a:ext>
            </a:extLst>
          </p:cNvPr>
          <p:cNvSpPr/>
          <p:nvPr/>
        </p:nvSpPr>
        <p:spPr>
          <a:xfrm rot="5400000">
            <a:off x="9263149" y="3834985"/>
            <a:ext cx="281820" cy="1325563"/>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29653471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E2A29F-3446-4619-9D59-40D592A291E3}"/>
              </a:ext>
            </a:extLst>
          </p:cNvPr>
          <p:cNvSpPr>
            <a:spLocks noGrp="1"/>
          </p:cNvSpPr>
          <p:nvPr>
            <p:ph type="title"/>
          </p:nvPr>
        </p:nvSpPr>
        <p:spPr/>
        <p:txBody>
          <a:bodyPr/>
          <a:lstStyle/>
          <a:p>
            <a:r>
              <a:rPr lang="en-US" altLang="zh-TW" dirty="0" err="1"/>
              <a:t>vEB</a:t>
            </a:r>
            <a:r>
              <a:rPr lang="en-US" altLang="zh-TW" dirty="0"/>
              <a:t> (Van </a:t>
            </a:r>
            <a:r>
              <a:rPr lang="en-US" altLang="zh-TW" dirty="0" err="1"/>
              <a:t>Emde</a:t>
            </a:r>
            <a:r>
              <a:rPr lang="en-US" altLang="zh-TW" dirty="0"/>
              <a:t> Boas tree)</a:t>
            </a:r>
            <a:br>
              <a:rPr lang="en-US" altLang="zh-TW" dirty="0"/>
            </a:br>
            <a:endParaRPr lang="zh-TW" altLang="en-US" dirty="0"/>
          </a:p>
        </p:txBody>
      </p:sp>
      <p:sp>
        <p:nvSpPr>
          <p:cNvPr id="3" name="內容版面配置區 2">
            <a:extLst>
              <a:ext uri="{FF2B5EF4-FFF2-40B4-BE49-F238E27FC236}">
                <a16:creationId xmlns:a16="http://schemas.microsoft.com/office/drawing/2014/main" id="{A6C6133E-BBAF-4243-BE2B-1A0BEB74E027}"/>
              </a:ext>
            </a:extLst>
          </p:cNvPr>
          <p:cNvSpPr>
            <a:spLocks noGrp="1"/>
          </p:cNvSpPr>
          <p:nvPr>
            <p:ph idx="1"/>
          </p:nvPr>
        </p:nvSpPr>
        <p:spPr>
          <a:xfrm>
            <a:off x="838200" y="1690688"/>
            <a:ext cx="10515600" cy="4486275"/>
          </a:xfrm>
        </p:spPr>
        <p:txBody>
          <a:bodyPr>
            <a:normAutofit/>
          </a:bodyPr>
          <a:lstStyle/>
          <a:p>
            <a:r>
              <a:rPr lang="en-US" altLang="zh-TW" dirty="0"/>
              <a:t>maintain a sorted list of integers in the range [1..n] </a:t>
            </a:r>
          </a:p>
          <a:p>
            <a:pPr lvl="1"/>
            <a:r>
              <a:rPr lang="pt-BR" altLang="zh-TW" sz="2800" dirty="0"/>
              <a:t>insert &amp; delete: O(log log n)</a:t>
            </a:r>
          </a:p>
          <a:p>
            <a:pPr lvl="1"/>
            <a:r>
              <a:rPr lang="en-US" altLang="zh-TW" sz="2800" dirty="0" err="1"/>
              <a:t>find_next</a:t>
            </a:r>
            <a:r>
              <a:rPr lang="pt-BR" altLang="zh-TW" sz="2800" dirty="0"/>
              <a:t> &amp; </a:t>
            </a:r>
            <a:r>
              <a:rPr lang="en-US" altLang="zh-TW" sz="2800" dirty="0" err="1"/>
              <a:t>find_previous</a:t>
            </a:r>
            <a:r>
              <a:rPr lang="en-US" altLang="zh-TW" sz="2800" dirty="0"/>
              <a:t> </a:t>
            </a:r>
            <a:r>
              <a:rPr lang="pt-BR" altLang="zh-TW" sz="2800" dirty="0"/>
              <a:t>: O(1)</a:t>
            </a:r>
          </a:p>
          <a:p>
            <a:pPr lvl="1"/>
            <a:r>
              <a:rPr lang="en-US" altLang="zh-TW" sz="2800" dirty="0" err="1"/>
              <a:t>find_maximum</a:t>
            </a:r>
            <a:r>
              <a:rPr lang="en-US" altLang="zh-TW" sz="2800" dirty="0"/>
              <a:t> </a:t>
            </a:r>
            <a:r>
              <a:rPr lang="pt-BR" altLang="zh-TW" sz="2800" dirty="0"/>
              <a:t>: O(1)</a:t>
            </a:r>
          </a:p>
          <a:p>
            <a:endParaRPr lang="en-US" altLang="zh-TW" sz="3200" dirty="0"/>
          </a:p>
        </p:txBody>
      </p:sp>
    </p:spTree>
    <p:extLst>
      <p:ext uri="{BB962C8B-B14F-4D97-AF65-F5344CB8AC3E}">
        <p14:creationId xmlns:p14="http://schemas.microsoft.com/office/powerpoint/2010/main" val="4131425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825625"/>
            <a:ext cx="10515600" cy="4825432"/>
          </a:xfrm>
        </p:spPr>
        <p:txBody>
          <a:bodyPr>
            <a:normAutofit/>
          </a:bodyPr>
          <a:lstStyle/>
          <a:p>
            <a:pPr marL="0" indent="0">
              <a:buNone/>
            </a:pPr>
            <a:r>
              <a:rPr lang="en-US" altLang="zh-TW" dirty="0">
                <a:solidFill>
                  <a:srgbClr val="FF0000"/>
                </a:solidFill>
              </a:rPr>
              <a:t>Step.1: </a:t>
            </a:r>
            <a:r>
              <a:rPr lang="zh-TW" altLang="en-US" dirty="0"/>
              <a:t>找出所有 </a:t>
            </a:r>
            <a:r>
              <a:rPr lang="en-US" altLang="zh-TW" dirty="0"/>
              <a:t>match pairs</a:t>
            </a:r>
          </a:p>
          <a:p>
            <a:pPr marL="0" indent="0">
              <a:buNone/>
            </a:pPr>
            <a:r>
              <a:rPr lang="en-US" altLang="zh-TW" dirty="0">
                <a:solidFill>
                  <a:srgbClr val="FF0000"/>
                </a:solidFill>
              </a:rPr>
              <a:t>Step.2: </a:t>
            </a:r>
            <a:r>
              <a:rPr lang="zh-TW" altLang="en-US" dirty="0"/>
              <a:t>處理每一列的 </a:t>
            </a:r>
            <a:r>
              <a:rPr lang="en-US" altLang="zh-TW" dirty="0"/>
              <a:t>match</a:t>
            </a:r>
          </a:p>
          <a:p>
            <a:pPr marL="0" indent="0">
              <a:buNone/>
            </a:pPr>
            <a:r>
              <a:rPr lang="en-US" altLang="zh-TW" dirty="0">
                <a:solidFill>
                  <a:srgbClr val="FF0000"/>
                </a:solidFill>
              </a:rPr>
              <a:t>Step.3: </a:t>
            </a:r>
            <a:r>
              <a:rPr lang="zh-TW" altLang="en-US" dirty="0"/>
              <a:t>走到新的一列時，需更新 </a:t>
            </a:r>
            <a:r>
              <a:rPr lang="en-US" altLang="zh-TW" dirty="0"/>
              <a:t>n</a:t>
            </a:r>
            <a:r>
              <a:rPr lang="zh-TW" altLang="en-US" dirty="0"/>
              <a:t> 條 </a:t>
            </a:r>
            <a:r>
              <a:rPr lang="en-US" altLang="zh-TW" dirty="0" err="1"/>
              <a:t>vEB</a:t>
            </a:r>
            <a:endParaRPr lang="en-US" altLang="zh-TW" dirty="0"/>
          </a:p>
          <a:p>
            <a:endParaRPr lang="en-US" altLang="zh-TW" dirty="0"/>
          </a:p>
          <a:p>
            <a:endParaRPr lang="pt-BR" altLang="zh-TW" dirty="0"/>
          </a:p>
          <a:p>
            <a:pPr lvl="1"/>
            <a:endParaRPr lang="en-US" altLang="zh-TW" dirty="0"/>
          </a:p>
          <a:p>
            <a:pPr marL="0" indent="0">
              <a:buNone/>
            </a:pPr>
            <a:r>
              <a:rPr lang="en-US" altLang="zh-TW" dirty="0"/>
              <a:t>	</a:t>
            </a:r>
          </a:p>
          <a:p>
            <a:endParaRPr lang="en-US" altLang="zh-TW" dirty="0"/>
          </a:p>
          <a:p>
            <a:pPr marL="0" indent="0">
              <a:buNone/>
            </a:pPr>
            <a:r>
              <a:rPr lang="en-US" altLang="zh-TW" dirty="0"/>
              <a:t>                                    </a:t>
            </a:r>
          </a:p>
          <a:p>
            <a:endParaRPr lang="en-US" altLang="zh-TW" dirty="0"/>
          </a:p>
          <a:p>
            <a:endParaRPr lang="en-US" altLang="zh-TW" dirty="0"/>
          </a:p>
          <a:p>
            <a:endParaRPr lang="zh-TW" altLang="en-US" dirty="0"/>
          </a:p>
        </p:txBody>
      </p:sp>
      <p:sp>
        <p:nvSpPr>
          <p:cNvPr id="2" name="標題 1"/>
          <p:cNvSpPr>
            <a:spLocks noGrp="1"/>
          </p:cNvSpPr>
          <p:nvPr>
            <p:ph type="title"/>
          </p:nvPr>
        </p:nvSpPr>
        <p:spPr>
          <a:xfrm>
            <a:off x="880241" y="365125"/>
            <a:ext cx="10515600" cy="1325563"/>
          </a:xfrm>
        </p:spPr>
        <p:txBody>
          <a:bodyPr/>
          <a:lstStyle/>
          <a:p>
            <a:r>
              <a:rPr lang="en-US" altLang="zh-TW" dirty="0"/>
              <a:t>An improved algorithm for FIG</a:t>
            </a:r>
          </a:p>
        </p:txBody>
      </p:sp>
    </p:spTree>
    <p:extLst>
      <p:ext uri="{BB962C8B-B14F-4D97-AF65-F5344CB8AC3E}">
        <p14:creationId xmlns:p14="http://schemas.microsoft.com/office/powerpoint/2010/main" val="2710786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FFDD7A-CE83-434B-9716-17E177D01275}"/>
              </a:ext>
            </a:extLst>
          </p:cNvPr>
          <p:cNvSpPr>
            <a:spLocks noGrp="1"/>
          </p:cNvSpPr>
          <p:nvPr>
            <p:ph type="title"/>
          </p:nvPr>
        </p:nvSpPr>
        <p:spPr/>
        <p:txBody>
          <a:bodyPr/>
          <a:lstStyle/>
          <a:p>
            <a:r>
              <a:rPr lang="en-US" altLang="zh-TW" dirty="0"/>
              <a:t>An improved algorithm for FIG</a:t>
            </a:r>
            <a:endParaRPr lang="zh-TW" altLang="en-US" dirty="0"/>
          </a:p>
        </p:txBody>
      </p:sp>
      <p:sp>
        <p:nvSpPr>
          <p:cNvPr id="3" name="內容版面配置區 2">
            <a:extLst>
              <a:ext uri="{FF2B5EF4-FFF2-40B4-BE49-F238E27FC236}">
                <a16:creationId xmlns:a16="http://schemas.microsoft.com/office/drawing/2014/main" id="{EA356577-E246-4C55-A8ED-BF8FEAD987F8}"/>
              </a:ext>
            </a:extLst>
          </p:cNvPr>
          <p:cNvSpPr>
            <a:spLocks noGrp="1"/>
          </p:cNvSpPr>
          <p:nvPr>
            <p:ph idx="1"/>
          </p:nvPr>
        </p:nvSpPr>
        <p:spPr/>
        <p:txBody>
          <a:bodyPr/>
          <a:lstStyle/>
          <a:p>
            <a:r>
              <a:rPr lang="en-US" altLang="zh-TW" dirty="0">
                <a:solidFill>
                  <a:srgbClr val="FF0000"/>
                </a:solidFill>
              </a:rPr>
              <a:t>Step.1: </a:t>
            </a:r>
            <a:r>
              <a:rPr lang="zh-TW" altLang="en-US" dirty="0"/>
              <a:t>找出所有 </a:t>
            </a:r>
            <a:r>
              <a:rPr lang="en-US" altLang="zh-TW" dirty="0"/>
              <a:t>match pairs</a:t>
            </a:r>
          </a:p>
          <a:p>
            <a:pPr marL="0" indent="0">
              <a:buNone/>
            </a:pPr>
            <a:r>
              <a:rPr lang="en-US" altLang="zh-TW" dirty="0"/>
              <a:t>O(R log </a:t>
            </a:r>
            <a:r>
              <a:rPr lang="en-US" altLang="zh-TW" dirty="0" err="1"/>
              <a:t>log</a:t>
            </a:r>
            <a:r>
              <a:rPr lang="en-US" altLang="zh-TW" dirty="0"/>
              <a:t> n</a:t>
            </a:r>
            <a:r>
              <a:rPr lang="en-US" altLang="zh-TW" baseline="30000" dirty="0"/>
              <a:t>2</a:t>
            </a:r>
            <a:r>
              <a:rPr lang="en-US" altLang="zh-TW" dirty="0"/>
              <a:t>) = O(R log </a:t>
            </a:r>
            <a:r>
              <a:rPr lang="en-US" altLang="zh-TW" dirty="0" err="1"/>
              <a:t>log</a:t>
            </a:r>
            <a:r>
              <a:rPr lang="en-US" altLang="zh-TW" dirty="0"/>
              <a:t> n)</a:t>
            </a:r>
          </a:p>
          <a:p>
            <a:endParaRPr lang="zh-TW" altLang="en-US" dirty="0"/>
          </a:p>
        </p:txBody>
      </p:sp>
      <p:pic>
        <p:nvPicPr>
          <p:cNvPr id="7" name="圖片 6" descr="一張含有 文字 的圖片&#10;&#10;自動產生的描述">
            <a:extLst>
              <a:ext uri="{FF2B5EF4-FFF2-40B4-BE49-F238E27FC236}">
                <a16:creationId xmlns:a16="http://schemas.microsoft.com/office/drawing/2014/main" id="{BB3FCF16-8747-48E3-89D5-594C4A9D88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1760" y="2720107"/>
            <a:ext cx="6522744" cy="3896593"/>
          </a:xfrm>
          <a:prstGeom prst="rect">
            <a:avLst/>
          </a:prstGeom>
        </p:spPr>
      </p:pic>
    </p:spTree>
    <p:extLst>
      <p:ext uri="{BB962C8B-B14F-4D97-AF65-F5344CB8AC3E}">
        <p14:creationId xmlns:p14="http://schemas.microsoft.com/office/powerpoint/2010/main" val="712846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825625"/>
            <a:ext cx="10515600" cy="4351338"/>
          </a:xfrm>
        </p:spPr>
        <p:txBody>
          <a:bodyPr/>
          <a:lstStyle/>
          <a:p>
            <a:pPr marL="0" indent="0">
              <a:buNone/>
            </a:pPr>
            <a:r>
              <a:rPr lang="en-US" altLang="zh-TW" dirty="0">
                <a:solidFill>
                  <a:srgbClr val="FF0000"/>
                </a:solidFill>
              </a:rPr>
              <a:t>Step.2: </a:t>
            </a:r>
            <a:r>
              <a:rPr lang="zh-TW" altLang="en-US" dirty="0"/>
              <a:t>處理每一列的 </a:t>
            </a:r>
            <a:r>
              <a:rPr lang="en-US" altLang="zh-TW" dirty="0"/>
              <a:t>match</a:t>
            </a:r>
          </a:p>
          <a:p>
            <a:pPr marL="0" indent="0">
              <a:buNone/>
            </a:pPr>
            <a:endParaRPr lang="en-US" altLang="zh-TW" baseline="30000" dirty="0"/>
          </a:p>
          <a:p>
            <a:endParaRPr lang="en-US" altLang="zh-TW" baseline="30000" dirty="0"/>
          </a:p>
          <a:p>
            <a:pPr marL="0" indent="0">
              <a:buNone/>
            </a:pPr>
            <a:r>
              <a:rPr lang="en-US" altLang="zh-TW" dirty="0"/>
              <a:t>                                    </a:t>
            </a:r>
          </a:p>
          <a:p>
            <a:endParaRPr lang="en-US" altLang="zh-TW" dirty="0"/>
          </a:p>
          <a:p>
            <a:endParaRPr lang="en-US" altLang="zh-TW" dirty="0"/>
          </a:p>
          <a:p>
            <a:endParaRPr lang="zh-TW" altLang="en-US" dirty="0"/>
          </a:p>
        </p:txBody>
      </p:sp>
      <p:sp>
        <p:nvSpPr>
          <p:cNvPr id="2" name="標題 1"/>
          <p:cNvSpPr>
            <a:spLocks noGrp="1"/>
          </p:cNvSpPr>
          <p:nvPr>
            <p:ph type="title"/>
          </p:nvPr>
        </p:nvSpPr>
        <p:spPr>
          <a:xfrm>
            <a:off x="880241" y="365125"/>
            <a:ext cx="10515600" cy="1325563"/>
          </a:xfrm>
        </p:spPr>
        <p:txBody>
          <a:bodyPr/>
          <a:lstStyle/>
          <a:p>
            <a:r>
              <a:rPr lang="en-US" altLang="zh-TW" dirty="0"/>
              <a:t>An improved algorithm for FIG</a:t>
            </a:r>
          </a:p>
        </p:txBody>
      </p:sp>
      <p:graphicFrame>
        <p:nvGraphicFramePr>
          <p:cNvPr id="9" name="內容版面配置區 3">
            <a:extLst>
              <a:ext uri="{FF2B5EF4-FFF2-40B4-BE49-F238E27FC236}">
                <a16:creationId xmlns:a16="http://schemas.microsoft.com/office/drawing/2014/main" id="{A0036B54-23D9-4651-9E5F-65BD9BEFF828}"/>
              </a:ext>
            </a:extLst>
          </p:cNvPr>
          <p:cNvGraphicFramePr>
            <a:graphicFrameLocks/>
          </p:cNvGraphicFramePr>
          <p:nvPr>
            <p:extLst>
              <p:ext uri="{D42A27DB-BD31-4B8C-83A1-F6EECF244321}">
                <p14:modId xmlns:p14="http://schemas.microsoft.com/office/powerpoint/2010/main" val="475002273"/>
              </p:ext>
            </p:extLst>
          </p:nvPr>
        </p:nvGraphicFramePr>
        <p:xfrm>
          <a:off x="6138041" y="1434461"/>
          <a:ext cx="5759996" cy="4742502"/>
        </p:xfrm>
        <a:graphic>
          <a:graphicData uri="http://schemas.openxmlformats.org/drawingml/2006/table">
            <a:tbl>
              <a:tblPr firstRow="1" bandRow="1">
                <a:noFill/>
                <a:tableStyleId>{5940675A-B579-460E-94D1-54222C63F5DA}</a:tableStyleId>
              </a:tblPr>
              <a:tblGrid>
                <a:gridCol w="611971">
                  <a:extLst>
                    <a:ext uri="{9D8B030D-6E8A-4147-A177-3AD203B41FA5}">
                      <a16:colId xmlns:a16="http://schemas.microsoft.com/office/drawing/2014/main" val="3630319676"/>
                    </a:ext>
                  </a:extLst>
                </a:gridCol>
                <a:gridCol w="435301">
                  <a:extLst>
                    <a:ext uri="{9D8B030D-6E8A-4147-A177-3AD203B41FA5}">
                      <a16:colId xmlns:a16="http://schemas.microsoft.com/office/drawing/2014/main" val="2449943958"/>
                    </a:ext>
                  </a:extLst>
                </a:gridCol>
                <a:gridCol w="523636">
                  <a:extLst>
                    <a:ext uri="{9D8B030D-6E8A-4147-A177-3AD203B41FA5}">
                      <a16:colId xmlns:a16="http://schemas.microsoft.com/office/drawing/2014/main" val="3241406068"/>
                    </a:ext>
                  </a:extLst>
                </a:gridCol>
                <a:gridCol w="523636">
                  <a:extLst>
                    <a:ext uri="{9D8B030D-6E8A-4147-A177-3AD203B41FA5}">
                      <a16:colId xmlns:a16="http://schemas.microsoft.com/office/drawing/2014/main" val="1541813034"/>
                    </a:ext>
                  </a:extLst>
                </a:gridCol>
                <a:gridCol w="523636">
                  <a:extLst>
                    <a:ext uri="{9D8B030D-6E8A-4147-A177-3AD203B41FA5}">
                      <a16:colId xmlns:a16="http://schemas.microsoft.com/office/drawing/2014/main" val="439975108"/>
                    </a:ext>
                  </a:extLst>
                </a:gridCol>
                <a:gridCol w="609991">
                  <a:extLst>
                    <a:ext uri="{9D8B030D-6E8A-4147-A177-3AD203B41FA5}">
                      <a16:colId xmlns:a16="http://schemas.microsoft.com/office/drawing/2014/main" val="4266199047"/>
                    </a:ext>
                  </a:extLst>
                </a:gridCol>
                <a:gridCol w="437281">
                  <a:extLst>
                    <a:ext uri="{9D8B030D-6E8A-4147-A177-3AD203B41FA5}">
                      <a16:colId xmlns:a16="http://schemas.microsoft.com/office/drawing/2014/main" val="700621554"/>
                    </a:ext>
                  </a:extLst>
                </a:gridCol>
                <a:gridCol w="523636">
                  <a:extLst>
                    <a:ext uri="{9D8B030D-6E8A-4147-A177-3AD203B41FA5}">
                      <a16:colId xmlns:a16="http://schemas.microsoft.com/office/drawing/2014/main" val="1149588615"/>
                    </a:ext>
                  </a:extLst>
                </a:gridCol>
                <a:gridCol w="523636">
                  <a:extLst>
                    <a:ext uri="{9D8B030D-6E8A-4147-A177-3AD203B41FA5}">
                      <a16:colId xmlns:a16="http://schemas.microsoft.com/office/drawing/2014/main" val="2273608623"/>
                    </a:ext>
                  </a:extLst>
                </a:gridCol>
                <a:gridCol w="523636">
                  <a:extLst>
                    <a:ext uri="{9D8B030D-6E8A-4147-A177-3AD203B41FA5}">
                      <a16:colId xmlns:a16="http://schemas.microsoft.com/office/drawing/2014/main" val="1983320277"/>
                    </a:ext>
                  </a:extLst>
                </a:gridCol>
                <a:gridCol w="523636">
                  <a:extLst>
                    <a:ext uri="{9D8B030D-6E8A-4147-A177-3AD203B41FA5}">
                      <a16:colId xmlns:a16="http://schemas.microsoft.com/office/drawing/2014/main" val="3029482529"/>
                    </a:ext>
                  </a:extLst>
                </a:gridCol>
              </a:tblGrid>
              <a:tr h="505180">
                <a:tc>
                  <a:txBody>
                    <a:bodyPr/>
                    <a:lstStyle/>
                    <a:p>
                      <a:pPr algn="ctr">
                        <a:lnSpc>
                          <a:spcPct val="100000"/>
                        </a:lnSpc>
                      </a:pPr>
                      <a:endParaRPr lang="en-US" altLang="zh-TW" sz="1600" dirty="0">
                        <a:latin typeface="Times New Roman" panose="02020603050405020304" pitchFamily="18" charset="0"/>
                        <a:cs typeface="Times New Roman" panose="02020603050405020304" pitchFamily="18" charset="0"/>
                      </a:endParaRPr>
                    </a:p>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1</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j-1-K</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j</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90454840"/>
                  </a:ext>
                </a:extLst>
              </a:tr>
              <a:tr h="407738">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2905682"/>
                  </a:ext>
                </a:extLst>
              </a:tr>
              <a:tr h="407738">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735210"/>
                  </a:ext>
                </a:extLst>
              </a:tr>
              <a:tr h="4077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045357"/>
                  </a:ext>
                </a:extLst>
              </a:tr>
              <a:tr h="407738">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C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FF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F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206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extLst>
                  <a:ext uri="{0D108BD9-81ED-4DB2-BD59-A6C34878D82A}">
                    <a16:rowId xmlns:a16="http://schemas.microsoft.com/office/drawing/2014/main" val="596059960"/>
                  </a:ext>
                </a:extLst>
              </a:tr>
              <a:tr h="505180">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i-1-K</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76200" cap="flat" cmpd="sng" algn="ctr">
                      <a:solidFill>
                        <a:srgbClr val="FFC000"/>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C000"/>
                      </a:solidFill>
                      <a:prstDash val="solid"/>
                      <a:round/>
                      <a:headEnd type="none" w="med" len="med"/>
                      <a:tailEnd type="none" w="med" len="med"/>
                    </a:lnL>
                    <a:lnR w="76200" cap="flat" cmpd="sng" algn="ctr">
                      <a:solidFill>
                        <a:srgbClr val="FFFF00"/>
                      </a:solidFill>
                      <a:prstDash val="solid"/>
                      <a:round/>
                      <a:headEnd type="none" w="med" len="med"/>
                      <a:tailEnd type="none" w="med" len="med"/>
                    </a:lnR>
                    <a:lnT w="76200" cap="flat" cmpd="sng" algn="ctr">
                      <a:solidFill>
                        <a:srgbClr val="FFC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FF00"/>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rgbClr val="FFFF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00B050"/>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50"/>
                      </a:solidFill>
                      <a:prstDash val="solid"/>
                      <a:round/>
                      <a:headEnd type="none" w="med" len="med"/>
                      <a:tailEnd type="none" w="med" len="med"/>
                    </a:lnL>
                    <a:lnR w="76200" cap="flat" cmpd="sng" algn="ctr">
                      <a:solidFill>
                        <a:srgbClr val="00B0F0"/>
                      </a:solidFill>
                      <a:prstDash val="solid"/>
                      <a:round/>
                      <a:headEnd type="none" w="med" len="med"/>
                      <a:tailEnd type="none" w="med" len="med"/>
                    </a:lnR>
                    <a:lnT w="76200" cap="flat" cmpd="sng" algn="ctr">
                      <a:solidFill>
                        <a:srgbClr val="00B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F0"/>
                      </a:solidFill>
                      <a:prstDash val="solid"/>
                      <a:round/>
                      <a:headEnd type="none" w="med" len="med"/>
                      <a:tailEnd type="none" w="med" len="med"/>
                    </a:lnL>
                    <a:lnR w="76200" cap="flat" cmpd="sng" algn="ctr">
                      <a:solidFill>
                        <a:srgbClr val="0070C0"/>
                      </a:solidFill>
                      <a:prstDash val="solid"/>
                      <a:round/>
                      <a:headEnd type="none" w="med" len="med"/>
                      <a:tailEnd type="none" w="med" len="med"/>
                    </a:lnR>
                    <a:lnT w="76200" cap="flat" cmpd="sng" algn="ctr">
                      <a:solidFill>
                        <a:srgbClr val="00B0F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2060"/>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2060"/>
                      </a:solidFill>
                      <a:prstDash val="solid"/>
                      <a:round/>
                      <a:headEnd type="none" w="med" len="med"/>
                      <a:tailEnd type="none" w="med" len="med"/>
                    </a:lnL>
                    <a:lnR w="76200" cap="flat" cmpd="sng" algn="ctr">
                      <a:solidFill>
                        <a:srgbClr val="7030A0"/>
                      </a:solidFill>
                      <a:prstDash val="solid"/>
                      <a:round/>
                      <a:headEnd type="none" w="med" len="med"/>
                      <a:tailEnd type="none" w="med" len="med"/>
                    </a:lnR>
                    <a:lnT w="762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435379"/>
                  </a:ext>
                </a:extLst>
              </a:tr>
              <a:tr h="407738">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76200" cap="flat" cmpd="sng" algn="ctr">
                      <a:solidFill>
                        <a:srgbClr val="FFC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C000"/>
                      </a:solidFill>
                      <a:prstDash val="solid"/>
                      <a:round/>
                      <a:headEnd type="none" w="med" len="med"/>
                      <a:tailEnd type="none" w="med" len="med"/>
                    </a:lnL>
                    <a:lnR w="76200" cap="flat" cmpd="sng" algn="ctr">
                      <a:solidFill>
                        <a:srgbClr val="FFFF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FF00"/>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00B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50"/>
                      </a:solidFill>
                      <a:prstDash val="solid"/>
                      <a:round/>
                      <a:headEnd type="none" w="med" len="med"/>
                      <a:tailEnd type="none" w="med" len="med"/>
                    </a:lnL>
                    <a:lnR w="76200" cap="flat" cmpd="sng" algn="ctr">
                      <a:solidFill>
                        <a:srgbClr val="00B0F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F0"/>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2060"/>
                      </a:solidFill>
                      <a:prstDash val="solid"/>
                      <a:round/>
                      <a:headEnd type="none" w="med" len="med"/>
                      <a:tailEnd type="none" w="med" len="med"/>
                    </a:lnL>
                    <a:lnR w="76200" cap="flat" cmpd="sng" algn="ctr">
                      <a:solidFill>
                        <a:srgbClr val="7030A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648316"/>
                  </a:ext>
                </a:extLst>
              </a:tr>
              <a:tr h="407738">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76200" cap="flat" cmpd="sng" algn="ctr">
                      <a:solidFill>
                        <a:srgbClr val="FFC00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C000"/>
                      </a:solidFill>
                      <a:prstDash val="solid"/>
                      <a:round/>
                      <a:headEnd type="none" w="med" len="med"/>
                      <a:tailEnd type="none" w="med" len="med"/>
                    </a:lnL>
                    <a:lnR w="76200" cap="flat" cmpd="sng" algn="ctr">
                      <a:solidFill>
                        <a:srgbClr val="FFFF0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C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FF00"/>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FF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00B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50"/>
                      </a:solidFill>
                      <a:prstDash val="solid"/>
                      <a:round/>
                      <a:headEnd type="none" w="med" len="med"/>
                      <a:tailEnd type="none" w="med" len="med"/>
                    </a:lnL>
                    <a:lnR w="76200" cap="flat" cmpd="sng" algn="ctr">
                      <a:solidFill>
                        <a:srgbClr val="00B0F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F0"/>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2060"/>
                      </a:solidFill>
                      <a:prstDash val="solid"/>
                      <a:round/>
                      <a:headEnd type="none" w="med" len="med"/>
                      <a:tailEnd type="none" w="med" len="med"/>
                    </a:lnL>
                    <a:lnR w="76200" cap="flat" cmpd="sng" algn="ctr">
                      <a:solidFill>
                        <a:srgbClr val="7030A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2060"/>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extLst>
                  <a:ext uri="{0D108BD9-81ED-4DB2-BD59-A6C34878D82A}">
                    <a16:rowId xmlns:a16="http://schemas.microsoft.com/office/drawing/2014/main" val="909335467"/>
                  </a:ext>
                </a:extLst>
              </a:tr>
              <a:tr h="407738">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C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FF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solidFill>
                            <a:srgbClr val="FF0000"/>
                          </a:solidFill>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B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B0F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359388"/>
                  </a:ext>
                </a:extLst>
              </a:tr>
              <a:tr h="407738">
                <a:tc>
                  <a:txBody>
                    <a:bodyPr/>
                    <a:lstStyle/>
                    <a:p>
                      <a:pPr algn="ctr">
                        <a:lnSpc>
                          <a:spcPct val="100000"/>
                        </a:lnSpc>
                      </a:pPr>
                      <a:r>
                        <a:rPr lang="zh-TW" altLang="en-US" sz="1600" b="0" i="0" kern="1200" dirty="0">
                          <a:solidFill>
                            <a:schemeClr val="tx1"/>
                          </a:solidFill>
                          <a:effectLst/>
                          <a:latin typeface="+mn-lt"/>
                          <a:ea typeface="+mn-ea"/>
                          <a:cs typeface="+mn-cs"/>
                        </a:rPr>
                        <a:t>⋮</a:t>
                      </a:r>
                      <a:endParaRPr lang="en-US" altLang="zh-TW" sz="1600" baseline="-250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665150"/>
                  </a:ext>
                </a:extLst>
              </a:tr>
              <a:tr h="407738">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X</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377310"/>
                  </a:ext>
                </a:extLst>
              </a:tr>
            </a:tbl>
          </a:graphicData>
        </a:graphic>
      </p:graphicFrame>
    </p:spTree>
    <p:extLst>
      <p:ext uri="{BB962C8B-B14F-4D97-AF65-F5344CB8AC3E}">
        <p14:creationId xmlns:p14="http://schemas.microsoft.com/office/powerpoint/2010/main" val="2899942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825625"/>
            <a:ext cx="10515600" cy="4351338"/>
          </a:xfrm>
        </p:spPr>
        <p:txBody>
          <a:bodyPr/>
          <a:lstStyle/>
          <a:p>
            <a:pPr marL="0" indent="0">
              <a:buNone/>
            </a:pPr>
            <a:r>
              <a:rPr lang="en-US" altLang="zh-TW" dirty="0">
                <a:solidFill>
                  <a:srgbClr val="FF0000"/>
                </a:solidFill>
              </a:rPr>
              <a:t>Step.3: </a:t>
            </a:r>
            <a:r>
              <a:rPr lang="zh-TW" altLang="en-US" dirty="0"/>
              <a:t>走到新的一列時，</a:t>
            </a:r>
            <a:endParaRPr lang="en-US" altLang="zh-TW" dirty="0"/>
          </a:p>
          <a:p>
            <a:pPr marL="0" indent="0">
              <a:buNone/>
            </a:pPr>
            <a:r>
              <a:rPr lang="en-US" altLang="zh-TW" dirty="0"/>
              <a:t>            </a:t>
            </a:r>
            <a:r>
              <a:rPr lang="zh-TW" altLang="en-US" dirty="0"/>
              <a:t>需更新 </a:t>
            </a:r>
            <a:r>
              <a:rPr lang="en-US" altLang="zh-TW" dirty="0"/>
              <a:t>n</a:t>
            </a:r>
            <a:r>
              <a:rPr lang="zh-TW" altLang="en-US" dirty="0"/>
              <a:t> 條 </a:t>
            </a:r>
            <a:r>
              <a:rPr lang="en-US" altLang="zh-TW" dirty="0" err="1"/>
              <a:t>vEB</a:t>
            </a:r>
            <a:endParaRPr lang="en-US" altLang="zh-TW" dirty="0"/>
          </a:p>
        </p:txBody>
      </p:sp>
      <p:sp>
        <p:nvSpPr>
          <p:cNvPr id="2" name="標題 1"/>
          <p:cNvSpPr>
            <a:spLocks noGrp="1"/>
          </p:cNvSpPr>
          <p:nvPr>
            <p:ph type="title"/>
          </p:nvPr>
        </p:nvSpPr>
        <p:spPr>
          <a:xfrm>
            <a:off x="880241" y="365125"/>
            <a:ext cx="10515600" cy="1325563"/>
          </a:xfrm>
        </p:spPr>
        <p:txBody>
          <a:bodyPr/>
          <a:lstStyle/>
          <a:p>
            <a:r>
              <a:rPr lang="en-US" altLang="zh-TW" dirty="0"/>
              <a:t>An improved algorithm for FIG</a:t>
            </a:r>
          </a:p>
        </p:txBody>
      </p:sp>
      <p:graphicFrame>
        <p:nvGraphicFramePr>
          <p:cNvPr id="9" name="內容版面配置區 3">
            <a:extLst>
              <a:ext uri="{FF2B5EF4-FFF2-40B4-BE49-F238E27FC236}">
                <a16:creationId xmlns:a16="http://schemas.microsoft.com/office/drawing/2014/main" id="{A0036B54-23D9-4651-9E5F-65BD9BEFF828}"/>
              </a:ext>
            </a:extLst>
          </p:cNvPr>
          <p:cNvGraphicFramePr>
            <a:graphicFrameLocks/>
          </p:cNvGraphicFramePr>
          <p:nvPr>
            <p:extLst>
              <p:ext uri="{D42A27DB-BD31-4B8C-83A1-F6EECF244321}">
                <p14:modId xmlns:p14="http://schemas.microsoft.com/office/powerpoint/2010/main" val="2131031692"/>
              </p:ext>
            </p:extLst>
          </p:nvPr>
        </p:nvGraphicFramePr>
        <p:xfrm>
          <a:off x="6138041" y="1434461"/>
          <a:ext cx="5759996" cy="4742502"/>
        </p:xfrm>
        <a:graphic>
          <a:graphicData uri="http://schemas.openxmlformats.org/drawingml/2006/table">
            <a:tbl>
              <a:tblPr firstRow="1" bandRow="1">
                <a:noFill/>
                <a:tableStyleId>{5940675A-B579-460E-94D1-54222C63F5DA}</a:tableStyleId>
              </a:tblPr>
              <a:tblGrid>
                <a:gridCol w="611971">
                  <a:extLst>
                    <a:ext uri="{9D8B030D-6E8A-4147-A177-3AD203B41FA5}">
                      <a16:colId xmlns:a16="http://schemas.microsoft.com/office/drawing/2014/main" val="3630319676"/>
                    </a:ext>
                  </a:extLst>
                </a:gridCol>
                <a:gridCol w="435301">
                  <a:extLst>
                    <a:ext uri="{9D8B030D-6E8A-4147-A177-3AD203B41FA5}">
                      <a16:colId xmlns:a16="http://schemas.microsoft.com/office/drawing/2014/main" val="2449943958"/>
                    </a:ext>
                  </a:extLst>
                </a:gridCol>
                <a:gridCol w="523636">
                  <a:extLst>
                    <a:ext uri="{9D8B030D-6E8A-4147-A177-3AD203B41FA5}">
                      <a16:colId xmlns:a16="http://schemas.microsoft.com/office/drawing/2014/main" val="3241406068"/>
                    </a:ext>
                  </a:extLst>
                </a:gridCol>
                <a:gridCol w="523636">
                  <a:extLst>
                    <a:ext uri="{9D8B030D-6E8A-4147-A177-3AD203B41FA5}">
                      <a16:colId xmlns:a16="http://schemas.microsoft.com/office/drawing/2014/main" val="1541813034"/>
                    </a:ext>
                  </a:extLst>
                </a:gridCol>
                <a:gridCol w="523636">
                  <a:extLst>
                    <a:ext uri="{9D8B030D-6E8A-4147-A177-3AD203B41FA5}">
                      <a16:colId xmlns:a16="http://schemas.microsoft.com/office/drawing/2014/main" val="439975108"/>
                    </a:ext>
                  </a:extLst>
                </a:gridCol>
                <a:gridCol w="609991">
                  <a:extLst>
                    <a:ext uri="{9D8B030D-6E8A-4147-A177-3AD203B41FA5}">
                      <a16:colId xmlns:a16="http://schemas.microsoft.com/office/drawing/2014/main" val="4266199047"/>
                    </a:ext>
                  </a:extLst>
                </a:gridCol>
                <a:gridCol w="437281">
                  <a:extLst>
                    <a:ext uri="{9D8B030D-6E8A-4147-A177-3AD203B41FA5}">
                      <a16:colId xmlns:a16="http://schemas.microsoft.com/office/drawing/2014/main" val="700621554"/>
                    </a:ext>
                  </a:extLst>
                </a:gridCol>
                <a:gridCol w="523636">
                  <a:extLst>
                    <a:ext uri="{9D8B030D-6E8A-4147-A177-3AD203B41FA5}">
                      <a16:colId xmlns:a16="http://schemas.microsoft.com/office/drawing/2014/main" val="1149588615"/>
                    </a:ext>
                  </a:extLst>
                </a:gridCol>
                <a:gridCol w="523636">
                  <a:extLst>
                    <a:ext uri="{9D8B030D-6E8A-4147-A177-3AD203B41FA5}">
                      <a16:colId xmlns:a16="http://schemas.microsoft.com/office/drawing/2014/main" val="2273608623"/>
                    </a:ext>
                  </a:extLst>
                </a:gridCol>
                <a:gridCol w="523636">
                  <a:extLst>
                    <a:ext uri="{9D8B030D-6E8A-4147-A177-3AD203B41FA5}">
                      <a16:colId xmlns:a16="http://schemas.microsoft.com/office/drawing/2014/main" val="1983320277"/>
                    </a:ext>
                  </a:extLst>
                </a:gridCol>
                <a:gridCol w="523636">
                  <a:extLst>
                    <a:ext uri="{9D8B030D-6E8A-4147-A177-3AD203B41FA5}">
                      <a16:colId xmlns:a16="http://schemas.microsoft.com/office/drawing/2014/main" val="3029482529"/>
                    </a:ext>
                  </a:extLst>
                </a:gridCol>
              </a:tblGrid>
              <a:tr h="505180">
                <a:tc>
                  <a:txBody>
                    <a:bodyPr/>
                    <a:lstStyle/>
                    <a:p>
                      <a:pPr algn="ctr">
                        <a:lnSpc>
                          <a:spcPct val="100000"/>
                        </a:lnSpc>
                      </a:pPr>
                      <a:endParaRPr lang="en-US" altLang="zh-TW" sz="1600" dirty="0">
                        <a:latin typeface="Times New Roman" panose="02020603050405020304" pitchFamily="18" charset="0"/>
                        <a:cs typeface="Times New Roman" panose="02020603050405020304" pitchFamily="18" charset="0"/>
                      </a:endParaRPr>
                    </a:p>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1</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j-1-K</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Y</a:t>
                      </a:r>
                      <a:r>
                        <a:rPr lang="en-US" altLang="zh-TW" sz="1600" baseline="-25000" dirty="0">
                          <a:latin typeface="Times New Roman" panose="02020603050405020304" pitchFamily="18" charset="0"/>
                          <a:cs typeface="Times New Roman" panose="02020603050405020304" pitchFamily="18" charset="0"/>
                        </a:rPr>
                        <a:t>j-1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baseline="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j</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Y</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3990454840"/>
                  </a:ext>
                </a:extLst>
              </a:tr>
              <a:tr h="407738">
                <a:tc>
                  <a:txBody>
                    <a:bodyPr/>
                    <a:lstStyle/>
                    <a:p>
                      <a:pPr algn="ctr">
                        <a:lnSpc>
                          <a:spcPct val="100000"/>
                        </a:lnSpc>
                      </a:pPr>
                      <a:endParaRPr lang="zh-TW" altLang="en-US" sz="1600" dirty="0"/>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2905682"/>
                  </a:ext>
                </a:extLst>
              </a:tr>
              <a:tr h="407738">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9735210"/>
                  </a:ext>
                </a:extLst>
              </a:tr>
              <a:tr h="4077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2</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0045357"/>
                  </a:ext>
                </a:extLst>
              </a:tr>
              <a:tr h="407738">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C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FF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5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F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206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extLst>
                  <a:ext uri="{0D108BD9-81ED-4DB2-BD59-A6C34878D82A}">
                    <a16:rowId xmlns:a16="http://schemas.microsoft.com/office/drawing/2014/main" val="596059960"/>
                  </a:ext>
                </a:extLst>
              </a:tr>
              <a:tr h="505180">
                <a:tc>
                  <a:txBody>
                    <a:bodyPr/>
                    <a:lstStyle/>
                    <a:p>
                      <a:pPr algn="ctr">
                        <a:lnSpc>
                          <a:spcPct val="100000"/>
                        </a:lnSpc>
                      </a:pPr>
                      <a:r>
                        <a:rPr lang="en-US" altLang="zh-TW" sz="1600" baseline="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i-1-K</a:t>
                      </a:r>
                      <a:endParaRPr lang="zh-TW" altLang="en-US" sz="1600" baseline="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76200" cap="flat" cmpd="sng" algn="ctr">
                      <a:solidFill>
                        <a:srgbClr val="FFC000"/>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C000"/>
                      </a:solidFill>
                      <a:prstDash val="solid"/>
                      <a:round/>
                      <a:headEnd type="none" w="med" len="med"/>
                      <a:tailEnd type="none" w="med" len="med"/>
                    </a:lnL>
                    <a:lnR w="76200" cap="flat" cmpd="sng" algn="ctr">
                      <a:solidFill>
                        <a:srgbClr val="FFFF00"/>
                      </a:solidFill>
                      <a:prstDash val="solid"/>
                      <a:round/>
                      <a:headEnd type="none" w="med" len="med"/>
                      <a:tailEnd type="none" w="med" len="med"/>
                    </a:lnR>
                    <a:lnT w="76200" cap="flat" cmpd="sng" algn="ctr">
                      <a:solidFill>
                        <a:srgbClr val="FFC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FF00"/>
                      </a:solidFill>
                      <a:prstDash val="solid"/>
                      <a:round/>
                      <a:headEnd type="none" w="med" len="med"/>
                      <a:tailEnd type="none" w="med" len="med"/>
                    </a:lnL>
                    <a:lnR w="76200" cap="flat" cmpd="sng" algn="ctr">
                      <a:solidFill>
                        <a:srgbClr val="92D050"/>
                      </a:solidFill>
                      <a:prstDash val="solid"/>
                      <a:round/>
                      <a:headEnd type="none" w="med" len="med"/>
                      <a:tailEnd type="none" w="med" len="med"/>
                    </a:lnR>
                    <a:lnT w="76200" cap="flat" cmpd="sng" algn="ctr">
                      <a:solidFill>
                        <a:srgbClr val="FFFF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00B050"/>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50"/>
                      </a:solidFill>
                      <a:prstDash val="solid"/>
                      <a:round/>
                      <a:headEnd type="none" w="med" len="med"/>
                      <a:tailEnd type="none" w="med" len="med"/>
                    </a:lnL>
                    <a:lnR w="76200" cap="flat" cmpd="sng" algn="ctr">
                      <a:solidFill>
                        <a:srgbClr val="00B0F0"/>
                      </a:solidFill>
                      <a:prstDash val="solid"/>
                      <a:round/>
                      <a:headEnd type="none" w="med" len="med"/>
                      <a:tailEnd type="none" w="med" len="med"/>
                    </a:lnR>
                    <a:lnT w="76200" cap="flat" cmpd="sng" algn="ctr">
                      <a:solidFill>
                        <a:srgbClr val="00B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F0"/>
                      </a:solidFill>
                      <a:prstDash val="solid"/>
                      <a:round/>
                      <a:headEnd type="none" w="med" len="med"/>
                      <a:tailEnd type="none" w="med" len="med"/>
                    </a:lnL>
                    <a:lnR w="76200" cap="flat" cmpd="sng" algn="ctr">
                      <a:solidFill>
                        <a:srgbClr val="0070C0"/>
                      </a:solidFill>
                      <a:prstDash val="solid"/>
                      <a:round/>
                      <a:headEnd type="none" w="med" len="med"/>
                      <a:tailEnd type="none" w="med" len="med"/>
                    </a:lnR>
                    <a:lnT w="76200" cap="flat" cmpd="sng" algn="ctr">
                      <a:solidFill>
                        <a:srgbClr val="00B0F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2060"/>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2060"/>
                      </a:solidFill>
                      <a:prstDash val="solid"/>
                      <a:round/>
                      <a:headEnd type="none" w="med" len="med"/>
                      <a:tailEnd type="none" w="med" len="med"/>
                    </a:lnL>
                    <a:lnR w="76200" cap="flat" cmpd="sng" algn="ctr">
                      <a:solidFill>
                        <a:srgbClr val="7030A0"/>
                      </a:solidFill>
                      <a:prstDash val="solid"/>
                      <a:round/>
                      <a:headEnd type="none" w="med" len="med"/>
                      <a:tailEnd type="none" w="med" len="med"/>
                    </a:lnR>
                    <a:lnT w="762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435379"/>
                  </a:ext>
                </a:extLst>
              </a:tr>
              <a:tr h="407738">
                <a:tc>
                  <a:txBody>
                    <a:bodyPr/>
                    <a:lstStyle/>
                    <a:p>
                      <a:pPr algn="ctr">
                        <a:lnSpc>
                          <a:spcPct val="100000"/>
                        </a:lnSpc>
                      </a:pPr>
                      <a:r>
                        <a:rPr lang="zh-TW" altLang="en-US" sz="1600" b="0" i="0" kern="1200" dirty="0">
                          <a:solidFill>
                            <a:schemeClr val="tx1"/>
                          </a:solidFill>
                          <a:effectLst/>
                          <a:latin typeface="+mn-lt"/>
                          <a:ea typeface="+mn-ea"/>
                          <a:cs typeface="+mn-cs"/>
                        </a:rPr>
                        <a:t>⋮</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76200" cap="flat" cmpd="sng" algn="ctr">
                      <a:solidFill>
                        <a:srgbClr val="FFC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C000"/>
                      </a:solidFill>
                      <a:prstDash val="solid"/>
                      <a:round/>
                      <a:headEnd type="none" w="med" len="med"/>
                      <a:tailEnd type="none" w="med" len="med"/>
                    </a:lnL>
                    <a:lnR w="76200" cap="flat" cmpd="sng" algn="ctr">
                      <a:solidFill>
                        <a:srgbClr val="FFFF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FF00"/>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00B05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50"/>
                      </a:solidFill>
                      <a:prstDash val="solid"/>
                      <a:round/>
                      <a:headEnd type="none" w="med" len="med"/>
                      <a:tailEnd type="none" w="med" len="med"/>
                    </a:lnL>
                    <a:lnR w="76200" cap="flat" cmpd="sng" algn="ctr">
                      <a:solidFill>
                        <a:srgbClr val="00B0F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F0"/>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2060"/>
                      </a:solidFill>
                      <a:prstDash val="solid"/>
                      <a:round/>
                      <a:headEnd type="none" w="med" len="med"/>
                      <a:tailEnd type="none" w="med" len="med"/>
                    </a:lnL>
                    <a:lnR w="76200" cap="flat" cmpd="sng" algn="ctr">
                      <a:solidFill>
                        <a:srgbClr val="7030A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2648316"/>
                  </a:ext>
                </a:extLst>
              </a:tr>
              <a:tr h="407738">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i-1</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76200" cap="flat" cmpd="sng" algn="ctr">
                      <a:solidFill>
                        <a:srgbClr val="FF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0000"/>
                      </a:solidFill>
                      <a:prstDash val="solid"/>
                      <a:round/>
                      <a:headEnd type="none" w="med" len="med"/>
                      <a:tailEnd type="none" w="med" len="med"/>
                    </a:lnL>
                    <a:lnR w="76200" cap="flat" cmpd="sng" algn="ctr">
                      <a:solidFill>
                        <a:srgbClr val="FFC00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0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C000"/>
                      </a:solidFill>
                      <a:prstDash val="solid"/>
                      <a:round/>
                      <a:headEnd type="none" w="med" len="med"/>
                      <a:tailEnd type="none" w="med" len="med"/>
                    </a:lnL>
                    <a:lnR w="76200" cap="flat" cmpd="sng" algn="ctr">
                      <a:solidFill>
                        <a:srgbClr val="FFFF0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C0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FFFF00"/>
                      </a:solidFill>
                      <a:prstDash val="solid"/>
                      <a:round/>
                      <a:headEnd type="none" w="med" len="med"/>
                      <a:tailEnd type="none" w="med" len="med"/>
                    </a:lnL>
                    <a:lnR w="76200" cap="flat" cmpd="sng" algn="ctr">
                      <a:solidFill>
                        <a:srgbClr val="92D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FFFF00"/>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92D050"/>
                      </a:solidFill>
                      <a:prstDash val="solid"/>
                      <a:round/>
                      <a:headEnd type="none" w="med" len="med"/>
                      <a:tailEnd type="none" w="med" len="med"/>
                    </a:lnL>
                    <a:lnR w="76200" cap="flat" cmpd="sng" algn="ctr">
                      <a:solidFill>
                        <a:srgbClr val="00B05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92D050"/>
                      </a:solidFill>
                      <a:prstDash val="solid"/>
                      <a:round/>
                      <a:headEnd type="none" w="med" len="med"/>
                      <a:tailEnd type="none" w="med" len="med"/>
                    </a:lnB>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50"/>
                      </a:solidFill>
                      <a:prstDash val="solid"/>
                      <a:round/>
                      <a:headEnd type="none" w="med" len="med"/>
                      <a:tailEnd type="none" w="med" len="med"/>
                    </a:lnL>
                    <a:lnR w="76200" cap="flat" cmpd="sng" algn="ctr">
                      <a:solidFill>
                        <a:srgbClr val="00B0F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5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B0F0"/>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B0F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70C0"/>
                      </a:solidFill>
                      <a:prstDash val="solid"/>
                      <a:round/>
                      <a:headEnd type="none" w="med" len="med"/>
                      <a:tailEnd type="none" w="med" len="med"/>
                    </a:lnL>
                    <a:lnR w="76200" cap="flat" cmpd="sng" algn="ctr">
                      <a:solidFill>
                        <a:srgbClr val="00206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70C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002060"/>
                      </a:solidFill>
                      <a:prstDash val="solid"/>
                      <a:round/>
                      <a:headEnd type="none" w="med" len="med"/>
                      <a:tailEnd type="none" w="med" len="med"/>
                    </a:lnL>
                    <a:lnR w="76200" cap="flat" cmpd="sng" algn="ctr">
                      <a:solidFill>
                        <a:srgbClr val="7030A0"/>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002060"/>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76200" cap="flat" cmpd="sng" algn="ctr">
                      <a:solidFill>
                        <a:srgbClr val="7030A0"/>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76200" cap="flat" cmpd="sng" algn="ctr">
                      <a:solidFill>
                        <a:srgbClr val="7030A0"/>
                      </a:solidFill>
                      <a:prstDash val="solid"/>
                      <a:round/>
                      <a:headEnd type="none" w="med" len="med"/>
                      <a:tailEnd type="none" w="med" len="med"/>
                    </a:lnB>
                  </a:tcPr>
                </a:tc>
                <a:extLst>
                  <a:ext uri="{0D108BD9-81ED-4DB2-BD59-A6C34878D82A}">
                    <a16:rowId xmlns:a16="http://schemas.microsoft.com/office/drawing/2014/main" val="909335467"/>
                  </a:ext>
                </a:extLst>
              </a:tr>
              <a:tr h="407738">
                <a:tc>
                  <a:txBody>
                    <a:bodyPr/>
                    <a:lstStyle/>
                    <a:p>
                      <a:pPr algn="ctr">
                        <a:lnSpc>
                          <a:spcPct val="100000"/>
                        </a:lnSpc>
                      </a:pPr>
                      <a:r>
                        <a:rPr lang="en-US" altLang="zh-TW" sz="1600" dirty="0">
                          <a:latin typeface="Times New Roman" panose="02020603050405020304" pitchFamily="18" charset="0"/>
                          <a:cs typeface="Times New Roman" panose="02020603050405020304" pitchFamily="18" charset="0"/>
                        </a:rPr>
                        <a:t>X</a:t>
                      </a:r>
                      <a:r>
                        <a:rPr lang="en-US" altLang="zh-TW" sz="1600" baseline="-25000" dirty="0">
                          <a:latin typeface="Times New Roman" panose="02020603050405020304" pitchFamily="18" charset="0"/>
                          <a:cs typeface="Times New Roman" panose="02020603050405020304" pitchFamily="18" charset="0"/>
                        </a:rPr>
                        <a:t>i</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0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C0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FFFF0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92D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B05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B0F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70C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002060"/>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76200" cap="flat" cmpd="sng" algn="ctr">
                      <a:solidFill>
                        <a:srgbClr val="7030A0"/>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8359388"/>
                  </a:ext>
                </a:extLst>
              </a:tr>
              <a:tr h="407738">
                <a:tc>
                  <a:txBody>
                    <a:bodyPr/>
                    <a:lstStyle/>
                    <a:p>
                      <a:pPr algn="ctr">
                        <a:lnSpc>
                          <a:spcPct val="100000"/>
                        </a:lnSpc>
                      </a:pPr>
                      <a:r>
                        <a:rPr lang="zh-TW" altLang="en-US" sz="1600" b="0" i="0" kern="1200" dirty="0">
                          <a:solidFill>
                            <a:schemeClr val="tx1"/>
                          </a:solidFill>
                          <a:effectLst/>
                          <a:latin typeface="+mn-lt"/>
                          <a:ea typeface="+mn-ea"/>
                          <a:cs typeface="+mn-cs"/>
                        </a:rPr>
                        <a:t>⋮</a:t>
                      </a:r>
                      <a:endParaRPr lang="en-US" altLang="zh-TW" sz="1600" baseline="-250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600" dirty="0">
                          <a:solidFill>
                            <a:srgbClr val="FF0000"/>
                          </a:solidFill>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47665150"/>
                  </a:ext>
                </a:extLst>
              </a:tr>
              <a:tr h="407738">
                <a:tc>
                  <a:txBody>
                    <a:bodyPr/>
                    <a:lstStyle/>
                    <a:p>
                      <a:pPr algn="ctr">
                        <a:lnSpc>
                          <a:spcPct val="100000"/>
                        </a:lnSpc>
                      </a:pPr>
                      <a:r>
                        <a:rPr lang="en-US" altLang="zh-TW" sz="1600" dirty="0" err="1">
                          <a:latin typeface="Times New Roman" panose="02020603050405020304" pitchFamily="18" charset="0"/>
                          <a:cs typeface="Times New Roman" panose="02020603050405020304" pitchFamily="18" charset="0"/>
                        </a:rPr>
                        <a:t>X</a:t>
                      </a:r>
                      <a:r>
                        <a:rPr lang="en-US" altLang="zh-TW" sz="1600" baseline="-25000" dirty="0" err="1">
                          <a:latin typeface="Times New Roman" panose="02020603050405020304" pitchFamily="18" charset="0"/>
                          <a:cs typeface="Times New Roman" panose="02020603050405020304" pitchFamily="18" charset="0"/>
                        </a:rPr>
                        <a:t>n</a:t>
                      </a: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6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377310"/>
                  </a:ext>
                </a:extLst>
              </a:tr>
            </a:tbl>
          </a:graphicData>
        </a:graphic>
      </p:graphicFrame>
    </p:spTree>
    <p:extLst>
      <p:ext uri="{BB962C8B-B14F-4D97-AF65-F5344CB8AC3E}">
        <p14:creationId xmlns:p14="http://schemas.microsoft.com/office/powerpoint/2010/main" val="3761594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825625"/>
            <a:ext cx="10515600" cy="4825432"/>
          </a:xfrm>
        </p:spPr>
        <p:txBody>
          <a:bodyPr>
            <a:normAutofit/>
          </a:bodyPr>
          <a:lstStyle/>
          <a:p>
            <a:r>
              <a:rPr lang="en-US" altLang="zh-TW" dirty="0"/>
              <a:t>O(n</a:t>
            </a:r>
            <a:r>
              <a:rPr lang="en-US" altLang="zh-TW" baseline="30000" dirty="0"/>
              <a:t>2</a:t>
            </a:r>
            <a:r>
              <a:rPr lang="en-US" altLang="zh-TW" dirty="0"/>
              <a:t> + R(K + 1) </a:t>
            </a:r>
            <a:r>
              <a:rPr lang="en-US" altLang="zh-TW" baseline="30000" dirty="0"/>
              <a:t>2</a:t>
            </a:r>
            <a:r>
              <a:rPr lang="en-US" altLang="zh-TW" dirty="0"/>
              <a:t> ) =&gt;</a:t>
            </a:r>
            <a:r>
              <a:rPr lang="zh-TW" altLang="en-US" dirty="0"/>
              <a:t> </a:t>
            </a:r>
            <a:r>
              <a:rPr lang="en-US" altLang="zh-TW" dirty="0"/>
              <a:t>O(n</a:t>
            </a:r>
            <a:r>
              <a:rPr lang="en-US" altLang="zh-TW" baseline="30000" dirty="0"/>
              <a:t>2</a:t>
            </a:r>
            <a:r>
              <a:rPr lang="en-US" altLang="zh-TW" dirty="0"/>
              <a:t> + RK) </a:t>
            </a:r>
          </a:p>
          <a:p>
            <a:r>
              <a:rPr lang="en-US" altLang="zh-TW" dirty="0"/>
              <a:t>maintaining </a:t>
            </a:r>
            <a:r>
              <a:rPr lang="en-US" altLang="zh-TW" dirty="0" err="1"/>
              <a:t>vEB</a:t>
            </a:r>
            <a:r>
              <a:rPr lang="en-US" altLang="zh-TW" dirty="0"/>
              <a:t>:</a:t>
            </a:r>
            <a:r>
              <a:rPr lang="zh-TW" altLang="en-US" dirty="0"/>
              <a:t> </a:t>
            </a:r>
            <a:r>
              <a:rPr lang="en-US" altLang="zh-TW" dirty="0"/>
              <a:t>O(R log </a:t>
            </a:r>
            <a:r>
              <a:rPr lang="en-US" altLang="zh-TW" dirty="0" err="1"/>
              <a:t>log</a:t>
            </a:r>
            <a:r>
              <a:rPr lang="en-US" altLang="zh-TW" dirty="0"/>
              <a:t> n) </a:t>
            </a:r>
          </a:p>
          <a:p>
            <a:r>
              <a:rPr lang="en-US" altLang="zh-TW" dirty="0"/>
              <a:t>FIG can be solved in O(n</a:t>
            </a:r>
            <a:r>
              <a:rPr lang="en-US" altLang="zh-TW" baseline="30000" dirty="0"/>
              <a:t>2</a:t>
            </a:r>
            <a:r>
              <a:rPr lang="en-US" altLang="zh-TW" dirty="0"/>
              <a:t> + RK + R log </a:t>
            </a:r>
            <a:r>
              <a:rPr lang="en-US" altLang="zh-TW" dirty="0" err="1"/>
              <a:t>log</a:t>
            </a:r>
            <a:r>
              <a:rPr lang="en-US" altLang="zh-TW" dirty="0"/>
              <a:t> n) </a:t>
            </a:r>
          </a:p>
          <a:p>
            <a:endParaRPr lang="en-US" altLang="zh-TW" dirty="0"/>
          </a:p>
          <a:p>
            <a:endParaRPr lang="en-US" altLang="zh-TW" dirty="0"/>
          </a:p>
          <a:p>
            <a:pPr marL="0" indent="0">
              <a:buNone/>
            </a:pPr>
            <a:r>
              <a:rPr lang="en-US" altLang="zh-TW" dirty="0"/>
              <a:t>                                    </a:t>
            </a:r>
          </a:p>
          <a:p>
            <a:endParaRPr lang="en-US" altLang="zh-TW" dirty="0"/>
          </a:p>
          <a:p>
            <a:endParaRPr lang="en-US" altLang="zh-TW" dirty="0"/>
          </a:p>
          <a:p>
            <a:endParaRPr lang="zh-TW" altLang="en-US" dirty="0"/>
          </a:p>
        </p:txBody>
      </p:sp>
      <p:sp>
        <p:nvSpPr>
          <p:cNvPr id="2" name="標題 1"/>
          <p:cNvSpPr>
            <a:spLocks noGrp="1"/>
          </p:cNvSpPr>
          <p:nvPr>
            <p:ph type="title"/>
          </p:nvPr>
        </p:nvSpPr>
        <p:spPr>
          <a:xfrm>
            <a:off x="880241" y="365125"/>
            <a:ext cx="10515600" cy="1325563"/>
          </a:xfrm>
        </p:spPr>
        <p:txBody>
          <a:bodyPr/>
          <a:lstStyle/>
          <a:p>
            <a:r>
              <a:rPr lang="en-US" altLang="zh-TW" dirty="0"/>
              <a:t>An improved algorithm for FIG</a:t>
            </a:r>
          </a:p>
        </p:txBody>
      </p:sp>
    </p:spTree>
    <p:extLst>
      <p:ext uri="{BB962C8B-B14F-4D97-AF65-F5344CB8AC3E}">
        <p14:creationId xmlns:p14="http://schemas.microsoft.com/office/powerpoint/2010/main" val="3290430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內容版面配置區 4">
            <a:extLst>
              <a:ext uri="{FF2B5EF4-FFF2-40B4-BE49-F238E27FC236}">
                <a16:creationId xmlns:a16="http://schemas.microsoft.com/office/drawing/2014/main" id="{92BE640B-A192-4493-B9E3-EA1EF8F870F1}"/>
              </a:ext>
            </a:extLst>
          </p:cNvPr>
          <p:cNvSpPr>
            <a:spLocks noGrp="1"/>
          </p:cNvSpPr>
          <p:nvPr>
            <p:ph idx="1"/>
          </p:nvPr>
        </p:nvSpPr>
        <p:spPr>
          <a:xfrm>
            <a:off x="880241" y="1825625"/>
            <a:ext cx="10292584" cy="4825432"/>
          </a:xfrm>
        </p:spPr>
        <p:txBody>
          <a:bodyPr>
            <a:normAutofit/>
          </a:bodyPr>
          <a:lstStyle/>
          <a:p>
            <a:r>
              <a:rPr lang="en-US" altLang="zh-TW" dirty="0"/>
              <a:t>RMAX (Range Maxima Query Problem)</a:t>
            </a:r>
          </a:p>
          <a:p>
            <a:pPr lvl="1"/>
            <a:r>
              <a:rPr lang="en-US" altLang="zh-TW" dirty="0"/>
              <a:t>Suppose that we are given a sequence A = a</a:t>
            </a:r>
            <a:r>
              <a:rPr lang="en-US" altLang="zh-TW" baseline="-25000" dirty="0"/>
              <a:t>1</a:t>
            </a:r>
            <a:r>
              <a:rPr lang="en-US" altLang="zh-TW" dirty="0"/>
              <a:t>a</a:t>
            </a:r>
            <a:r>
              <a:rPr lang="en-US" altLang="zh-TW" baseline="-25000" dirty="0"/>
              <a:t>2</a:t>
            </a:r>
            <a:r>
              <a:rPr lang="en-US" altLang="zh-TW" dirty="0"/>
              <a:t>…a</a:t>
            </a:r>
            <a:r>
              <a:rPr lang="en-US" altLang="zh-TW" baseline="-25000" dirty="0"/>
              <a:t>n</a:t>
            </a:r>
            <a:r>
              <a:rPr lang="en-US" altLang="zh-TW" dirty="0"/>
              <a:t> </a:t>
            </a:r>
          </a:p>
          <a:p>
            <a:pPr lvl="1"/>
            <a:r>
              <a:rPr lang="en-US" altLang="zh-TW" dirty="0"/>
              <a:t>A Range Maxima (minima) Query specifies an interval I = (i</a:t>
            </a:r>
            <a:r>
              <a:rPr lang="en-US" altLang="zh-TW" baseline="-25000" dirty="0"/>
              <a:t>s</a:t>
            </a:r>
            <a:r>
              <a:rPr lang="en-US" altLang="zh-TW" dirty="0"/>
              <a:t>, </a:t>
            </a:r>
            <a:r>
              <a:rPr lang="en-US" altLang="zh-TW" dirty="0" err="1"/>
              <a:t>i</a:t>
            </a:r>
            <a:r>
              <a:rPr lang="en-US" altLang="zh-TW" baseline="-25000" dirty="0" err="1"/>
              <a:t>e</a:t>
            </a:r>
            <a:r>
              <a:rPr lang="en-US" altLang="zh-TW" dirty="0"/>
              <a:t>), 1 ≤ i</a:t>
            </a:r>
            <a:r>
              <a:rPr lang="en-US" altLang="zh-TW" baseline="-25000" dirty="0"/>
              <a:t>s</a:t>
            </a:r>
            <a:r>
              <a:rPr lang="en-US" altLang="zh-TW" dirty="0"/>
              <a:t> ≤ </a:t>
            </a:r>
            <a:r>
              <a:rPr lang="en-US" altLang="zh-TW" dirty="0" err="1"/>
              <a:t>i</a:t>
            </a:r>
            <a:r>
              <a:rPr lang="en-US" altLang="zh-TW" baseline="-25000" dirty="0" err="1"/>
              <a:t>e</a:t>
            </a:r>
            <a:r>
              <a:rPr lang="en-US" altLang="zh-TW" dirty="0"/>
              <a:t> ≤ n and the goal is to find the index with maximum (minimum) value a</a:t>
            </a:r>
            <a:r>
              <a:rPr lang="en-US" altLang="zh-TW" baseline="-25000" dirty="0"/>
              <a:t>m</a:t>
            </a:r>
            <a:r>
              <a:rPr lang="en-US" altLang="zh-TW" dirty="0"/>
              <a:t> for a</a:t>
            </a:r>
            <a:r>
              <a:rPr lang="en-US" altLang="zh-TW" baseline="-25000" dirty="0"/>
              <a:t>m  </a:t>
            </a:r>
            <a:r>
              <a:rPr lang="en-US" altLang="zh-TW" dirty="0"/>
              <a:t>∈ I.</a:t>
            </a:r>
          </a:p>
          <a:p>
            <a:pPr lvl="1"/>
            <a:r>
              <a:rPr lang="en-US" altLang="zh-TW" dirty="0"/>
              <a:t>solved in O(n) pre-processing time and O(1) time per query</a:t>
            </a:r>
          </a:p>
          <a:p>
            <a:pPr lvl="1"/>
            <a:endParaRPr lang="en-US" altLang="zh-TW" dirty="0"/>
          </a:p>
          <a:p>
            <a:r>
              <a:rPr lang="en-US" altLang="zh-TW" dirty="0"/>
              <a:t>O(n</a:t>
            </a:r>
            <a:r>
              <a:rPr lang="en-US" altLang="zh-TW" baseline="30000" dirty="0"/>
              <a:t>2</a:t>
            </a:r>
            <a:r>
              <a:rPr lang="en-US" altLang="zh-TW" dirty="0"/>
              <a:t> + RK + R log </a:t>
            </a:r>
            <a:r>
              <a:rPr lang="en-US" altLang="zh-TW" dirty="0" err="1"/>
              <a:t>log</a:t>
            </a:r>
            <a:r>
              <a:rPr lang="en-US" altLang="zh-TW" dirty="0"/>
              <a:t> n) </a:t>
            </a:r>
            <a:r>
              <a:rPr lang="zh-TW" altLang="en-US" dirty="0"/>
              <a:t> </a:t>
            </a:r>
            <a:r>
              <a:rPr lang="en-US" altLang="zh-TW" dirty="0"/>
              <a:t>=&gt;</a:t>
            </a:r>
            <a:r>
              <a:rPr lang="zh-TW" altLang="en-US" dirty="0"/>
              <a:t> </a:t>
            </a:r>
            <a:r>
              <a:rPr lang="en-US" altLang="zh-TW" dirty="0"/>
              <a:t>O(n</a:t>
            </a:r>
            <a:r>
              <a:rPr lang="en-US" altLang="zh-TW" baseline="30000" dirty="0"/>
              <a:t>2</a:t>
            </a:r>
            <a:r>
              <a:rPr lang="en-US" altLang="zh-TW" dirty="0"/>
              <a:t> + R log </a:t>
            </a:r>
            <a:r>
              <a:rPr lang="en-US" altLang="zh-TW" dirty="0" err="1"/>
              <a:t>log</a:t>
            </a:r>
            <a:r>
              <a:rPr lang="en-US" altLang="zh-TW" dirty="0"/>
              <a:t> n)</a:t>
            </a:r>
          </a:p>
          <a:p>
            <a:endParaRPr lang="en-US" altLang="zh-TW" dirty="0"/>
          </a:p>
          <a:p>
            <a:pPr marL="0" indent="0">
              <a:buNone/>
            </a:pPr>
            <a:r>
              <a:rPr lang="en-US" altLang="zh-TW" dirty="0"/>
              <a:t>                                    </a:t>
            </a:r>
          </a:p>
          <a:p>
            <a:endParaRPr lang="en-US" altLang="zh-TW" dirty="0"/>
          </a:p>
          <a:p>
            <a:endParaRPr lang="en-US" altLang="zh-TW" dirty="0"/>
          </a:p>
          <a:p>
            <a:endParaRPr lang="zh-TW" altLang="en-US" dirty="0"/>
          </a:p>
        </p:txBody>
      </p:sp>
      <p:sp>
        <p:nvSpPr>
          <p:cNvPr id="2" name="標題 1"/>
          <p:cNvSpPr>
            <a:spLocks noGrp="1"/>
          </p:cNvSpPr>
          <p:nvPr>
            <p:ph type="title"/>
          </p:nvPr>
        </p:nvSpPr>
        <p:spPr>
          <a:xfrm>
            <a:off x="880241" y="365125"/>
            <a:ext cx="10515600" cy="1325563"/>
          </a:xfrm>
        </p:spPr>
        <p:txBody>
          <a:bodyPr/>
          <a:lstStyle/>
          <a:p>
            <a:r>
              <a:rPr lang="en-US" altLang="zh-TW" dirty="0"/>
              <a:t>A K-independent algorithm for FIG</a:t>
            </a:r>
          </a:p>
        </p:txBody>
      </p:sp>
    </p:spTree>
    <p:extLst>
      <p:ext uri="{BB962C8B-B14F-4D97-AF65-F5344CB8AC3E}">
        <p14:creationId xmlns:p14="http://schemas.microsoft.com/office/powerpoint/2010/main" val="2118394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RLCS (Rigid LCS Problem)</a:t>
            </a:r>
            <a:endParaRPr lang="en-US" altLang="zh-TW" spc="-1" dirty="0">
              <a:solidFill>
                <a:srgbClr val="000000"/>
              </a:solidFill>
              <a:latin typeface="Times New Roman" pitchFamily="18" charset="0"/>
              <a:cs typeface="Times New Roman" pitchFamily="18" charset="0"/>
            </a:endParaRPr>
          </a:p>
        </p:txBody>
      </p:sp>
      <p:sp>
        <p:nvSpPr>
          <p:cNvPr id="3" name="內容版面配置區 2"/>
          <p:cNvSpPr>
            <a:spLocks noGrp="1"/>
          </p:cNvSpPr>
          <p:nvPr>
            <p:ph idx="1"/>
          </p:nvPr>
        </p:nvSpPr>
        <p:spPr>
          <a:xfrm>
            <a:off x="838200" y="1825625"/>
            <a:ext cx="10515600" cy="4351338"/>
          </a:xfrm>
        </p:spPr>
        <p:txBody>
          <a:bodyPr>
            <a:normAutofit/>
          </a:bodyPr>
          <a:lstStyle/>
          <a:p>
            <a:pPr marL="360" indent="0">
              <a:spcBef>
                <a:spcPts val="561"/>
              </a:spcBef>
              <a:buClr>
                <a:srgbClr val="000000"/>
              </a:buClr>
              <a:buNone/>
            </a:pPr>
            <a:r>
              <a:rPr lang="en-US" altLang="zh-TW" spc="-1" dirty="0">
                <a:solidFill>
                  <a:srgbClr val="000000"/>
                </a:solidFill>
                <a:latin typeface="Times New Roman"/>
              </a:rPr>
              <a:t>            </a:t>
            </a:r>
            <a:r>
              <a:rPr lang="en-US" altLang="zh-TW" sz="2400" spc="-1" dirty="0">
                <a:solidFill>
                  <a:srgbClr val="000000"/>
                </a:solidFill>
                <a:latin typeface="Times New Roman"/>
              </a:rPr>
              <a:t>1</a:t>
            </a:r>
            <a:r>
              <a:rPr lang="zh-TW" altLang="en-US" sz="2400" spc="-1" dirty="0">
                <a:solidFill>
                  <a:srgbClr val="000000"/>
                </a:solidFill>
                <a:latin typeface="Times New Roman"/>
              </a:rPr>
              <a:t>  </a:t>
            </a:r>
            <a:r>
              <a:rPr lang="en-US" altLang="zh-TW" sz="2400" spc="-1" dirty="0">
                <a:solidFill>
                  <a:srgbClr val="000000"/>
                </a:solidFill>
                <a:latin typeface="Times New Roman"/>
              </a:rPr>
              <a:t>2</a:t>
            </a:r>
            <a:r>
              <a:rPr lang="zh-TW" altLang="en-US" sz="2400" spc="-1" dirty="0">
                <a:solidFill>
                  <a:srgbClr val="000000"/>
                </a:solidFill>
                <a:latin typeface="Times New Roman"/>
              </a:rPr>
              <a:t> </a:t>
            </a:r>
            <a:r>
              <a:rPr lang="en-US" altLang="zh-TW" sz="2400" spc="-1" dirty="0">
                <a:solidFill>
                  <a:srgbClr val="000000"/>
                </a:solidFill>
                <a:latin typeface="Times New Roman"/>
              </a:rPr>
              <a:t>3</a:t>
            </a:r>
            <a:r>
              <a:rPr lang="zh-TW" altLang="en-US" sz="2400" spc="-1" dirty="0">
                <a:solidFill>
                  <a:srgbClr val="000000"/>
                </a:solidFill>
                <a:latin typeface="Times New Roman"/>
              </a:rPr>
              <a:t> </a:t>
            </a:r>
            <a:r>
              <a:rPr lang="en-US" altLang="zh-TW" sz="2400" spc="-1" dirty="0">
                <a:solidFill>
                  <a:srgbClr val="000000"/>
                </a:solidFill>
                <a:latin typeface="Times New Roman"/>
              </a:rPr>
              <a:t>4</a:t>
            </a:r>
            <a:r>
              <a:rPr lang="zh-TW" altLang="en-US" sz="2400" spc="-1" dirty="0">
                <a:solidFill>
                  <a:srgbClr val="000000"/>
                </a:solidFill>
                <a:latin typeface="Times New Roman"/>
              </a:rPr>
              <a:t> </a:t>
            </a:r>
            <a:r>
              <a:rPr lang="en-US" altLang="zh-TW" sz="2400" spc="-1" dirty="0">
                <a:solidFill>
                  <a:srgbClr val="000000"/>
                </a:solidFill>
                <a:latin typeface="Times New Roman"/>
              </a:rPr>
              <a:t>5</a:t>
            </a:r>
            <a:r>
              <a:rPr lang="zh-TW" altLang="en-US" sz="2400" spc="-1" dirty="0">
                <a:solidFill>
                  <a:srgbClr val="000000"/>
                </a:solidFill>
                <a:latin typeface="Times New Roman"/>
              </a:rPr>
              <a:t> </a:t>
            </a:r>
            <a:r>
              <a:rPr lang="en-US" altLang="zh-TW" sz="2400" spc="-1" dirty="0">
                <a:solidFill>
                  <a:srgbClr val="000000"/>
                </a:solidFill>
                <a:latin typeface="Times New Roman"/>
              </a:rPr>
              <a:t>6</a:t>
            </a:r>
            <a:r>
              <a:rPr lang="zh-TW" altLang="en-US" sz="2400" spc="-1" dirty="0">
                <a:solidFill>
                  <a:srgbClr val="000000"/>
                </a:solidFill>
                <a:latin typeface="Times New Roman"/>
              </a:rPr>
              <a:t> </a:t>
            </a:r>
            <a:r>
              <a:rPr lang="en-US" altLang="zh-TW" sz="2400" spc="-1" dirty="0">
                <a:solidFill>
                  <a:srgbClr val="000000"/>
                </a:solidFill>
                <a:latin typeface="Times New Roman"/>
              </a:rPr>
              <a:t>7</a:t>
            </a:r>
            <a:r>
              <a:rPr lang="zh-TW" altLang="en-US" sz="2400" spc="-1" dirty="0">
                <a:solidFill>
                  <a:srgbClr val="000000"/>
                </a:solidFill>
                <a:latin typeface="Times New Roman"/>
              </a:rPr>
              <a:t> </a:t>
            </a:r>
            <a:r>
              <a:rPr lang="en-US" altLang="zh-TW" sz="2400" spc="-1" dirty="0">
                <a:solidFill>
                  <a:srgbClr val="000000"/>
                </a:solidFill>
                <a:latin typeface="Times New Roman"/>
              </a:rPr>
              <a:t>8</a:t>
            </a:r>
          </a:p>
          <a:p>
            <a:pPr marL="457560" indent="-457200">
              <a:spcBef>
                <a:spcPts val="561"/>
              </a:spcBef>
              <a:buClr>
                <a:srgbClr val="000000"/>
              </a:buClr>
            </a:pPr>
            <a:r>
              <a:rPr lang="en-US" altLang="zh-TW" spc="-1" dirty="0">
                <a:solidFill>
                  <a:srgbClr val="000000"/>
                </a:solidFill>
                <a:latin typeface="Times New Roman"/>
              </a:rPr>
              <a:t>X = F</a:t>
            </a:r>
            <a:r>
              <a:rPr lang="en-US" altLang="zh-TW" spc="-1" dirty="0">
                <a:latin typeface="Times New Roman"/>
              </a:rPr>
              <a:t>C</a:t>
            </a:r>
            <a:r>
              <a:rPr lang="en-US" altLang="zh-TW" spc="-1" dirty="0">
                <a:solidFill>
                  <a:srgbClr val="000000"/>
                </a:solidFill>
                <a:latin typeface="Times New Roman"/>
              </a:rPr>
              <a:t>G</a:t>
            </a:r>
            <a:r>
              <a:rPr lang="en-US" altLang="zh-TW" spc="-1" dirty="0">
                <a:solidFill>
                  <a:srgbClr val="FF0000"/>
                </a:solidFill>
                <a:latin typeface="Times New Roman"/>
              </a:rPr>
              <a:t>F</a:t>
            </a:r>
            <a:r>
              <a:rPr lang="en-US" altLang="zh-TW" spc="-1" dirty="0">
                <a:solidFill>
                  <a:srgbClr val="000000"/>
                </a:solidFill>
                <a:latin typeface="Times New Roman"/>
              </a:rPr>
              <a:t>C</a:t>
            </a:r>
            <a:r>
              <a:rPr lang="en-US" altLang="zh-TW" spc="-1" dirty="0">
                <a:solidFill>
                  <a:srgbClr val="FF0000"/>
                </a:solidFill>
                <a:latin typeface="Times New Roman"/>
              </a:rPr>
              <a:t>A</a:t>
            </a:r>
            <a:r>
              <a:rPr lang="en-US" altLang="zh-TW" spc="-1" dirty="0">
                <a:solidFill>
                  <a:srgbClr val="000000"/>
                </a:solidFill>
                <a:latin typeface="Times New Roman"/>
              </a:rPr>
              <a:t>B</a:t>
            </a:r>
            <a:r>
              <a:rPr lang="en-US" altLang="zh-TW" spc="-1" dirty="0">
                <a:solidFill>
                  <a:srgbClr val="FF0000"/>
                </a:solidFill>
                <a:latin typeface="Times New Roman"/>
              </a:rPr>
              <a:t>D      </a:t>
            </a:r>
          </a:p>
          <a:p>
            <a:pPr marL="457560" indent="-457200">
              <a:spcBef>
                <a:spcPts val="561"/>
              </a:spcBef>
              <a:buClr>
                <a:srgbClr val="000000"/>
              </a:buClr>
            </a:pPr>
            <a:r>
              <a:rPr lang="en-US" altLang="zh-TW" spc="-1" dirty="0">
                <a:solidFill>
                  <a:srgbClr val="000000"/>
                </a:solidFill>
                <a:latin typeface="Times New Roman"/>
              </a:rPr>
              <a:t>Y = </a:t>
            </a:r>
            <a:r>
              <a:rPr lang="en-US" altLang="zh-TW" spc="-1" dirty="0">
                <a:solidFill>
                  <a:srgbClr val="FF0000"/>
                </a:solidFill>
                <a:latin typeface="Times New Roman"/>
              </a:rPr>
              <a:t>F</a:t>
            </a:r>
            <a:r>
              <a:rPr lang="en-US" altLang="zh-TW" spc="-1" dirty="0">
                <a:solidFill>
                  <a:srgbClr val="000000"/>
                </a:solidFill>
                <a:latin typeface="Times New Roman"/>
              </a:rPr>
              <a:t>G</a:t>
            </a:r>
            <a:r>
              <a:rPr lang="en-US" altLang="zh-TW" spc="-1" dirty="0">
                <a:solidFill>
                  <a:srgbClr val="FF0000"/>
                </a:solidFill>
                <a:latin typeface="Times New Roman"/>
              </a:rPr>
              <a:t>A</a:t>
            </a:r>
            <a:r>
              <a:rPr lang="en-US" altLang="zh-TW" spc="-1" dirty="0">
                <a:solidFill>
                  <a:srgbClr val="000000"/>
                </a:solidFill>
                <a:latin typeface="Times New Roman"/>
              </a:rPr>
              <a:t>C</a:t>
            </a:r>
            <a:r>
              <a:rPr lang="en-US" altLang="zh-TW" spc="-1" dirty="0">
                <a:solidFill>
                  <a:srgbClr val="FF0000"/>
                </a:solidFill>
                <a:latin typeface="Times New Roman"/>
              </a:rPr>
              <a:t>D</a:t>
            </a:r>
            <a:r>
              <a:rPr lang="en-US" altLang="zh-TW" spc="-1" dirty="0">
                <a:solidFill>
                  <a:srgbClr val="000000"/>
                </a:solidFill>
                <a:latin typeface="Times New Roman"/>
              </a:rPr>
              <a:t> </a:t>
            </a:r>
          </a:p>
          <a:p>
            <a:pPr marL="457560" indent="-457200">
              <a:spcBef>
                <a:spcPts val="561"/>
              </a:spcBef>
              <a:buClr>
                <a:srgbClr val="000000"/>
              </a:buClr>
            </a:pPr>
            <a:r>
              <a:rPr lang="en-US" altLang="zh-TW" dirty="0"/>
              <a:t>RLCS = </a:t>
            </a:r>
            <a:r>
              <a:rPr lang="en-US" altLang="zh-TW" spc="-1" dirty="0">
                <a:solidFill>
                  <a:srgbClr val="FF0000"/>
                </a:solidFill>
                <a:latin typeface="Times New Roman"/>
              </a:rPr>
              <a:t>FAD</a:t>
            </a:r>
          </a:p>
          <a:p>
            <a:pPr marL="457560" indent="-457200">
              <a:spcBef>
                <a:spcPts val="561"/>
              </a:spcBef>
              <a:buClr>
                <a:srgbClr val="000000"/>
              </a:buClr>
            </a:pPr>
            <a:endParaRPr lang="en-US" altLang="zh-TW" spc="-1" dirty="0">
              <a:solidFill>
                <a:srgbClr val="FF0000"/>
              </a:solidFill>
              <a:latin typeface="Times New Roman"/>
            </a:endParaRPr>
          </a:p>
          <a:p>
            <a:pPr marL="457560" indent="-457200">
              <a:spcBef>
                <a:spcPts val="561"/>
              </a:spcBef>
              <a:buClr>
                <a:srgbClr val="000000"/>
              </a:buClr>
            </a:pPr>
            <a:r>
              <a:rPr lang="en-US" altLang="zh-TW" spc="-1" dirty="0">
                <a:latin typeface="Times New Roman"/>
              </a:rPr>
              <a:t>FA: 6-4</a:t>
            </a:r>
            <a:r>
              <a:rPr lang="zh-TW" altLang="en-US" spc="-1" dirty="0">
                <a:latin typeface="Times New Roman"/>
              </a:rPr>
              <a:t> </a:t>
            </a:r>
            <a:r>
              <a:rPr lang="en-US" altLang="zh-TW" spc="-1" dirty="0">
                <a:latin typeface="Times New Roman"/>
              </a:rPr>
              <a:t>=</a:t>
            </a:r>
            <a:r>
              <a:rPr lang="zh-TW" altLang="en-US" spc="-1" dirty="0">
                <a:latin typeface="Times New Roman"/>
              </a:rPr>
              <a:t> </a:t>
            </a:r>
            <a:r>
              <a:rPr lang="en-US" altLang="zh-TW" spc="-1" dirty="0">
                <a:latin typeface="Times New Roman"/>
              </a:rPr>
              <a:t>3</a:t>
            </a:r>
            <a:r>
              <a:rPr lang="zh-TW" altLang="en-US" spc="-1" dirty="0">
                <a:latin typeface="Times New Roman"/>
              </a:rPr>
              <a:t> </a:t>
            </a:r>
            <a:r>
              <a:rPr lang="en-US" altLang="zh-TW" spc="-1" dirty="0">
                <a:latin typeface="Times New Roman"/>
              </a:rPr>
              <a:t>–</a:t>
            </a:r>
            <a:r>
              <a:rPr lang="zh-TW" altLang="en-US" spc="-1" dirty="0">
                <a:latin typeface="Times New Roman"/>
              </a:rPr>
              <a:t> </a:t>
            </a:r>
            <a:r>
              <a:rPr lang="en-US" altLang="zh-TW" spc="-1" dirty="0">
                <a:latin typeface="Times New Roman"/>
              </a:rPr>
              <a:t>1</a:t>
            </a:r>
          </a:p>
          <a:p>
            <a:pPr marL="457560" indent="-457200">
              <a:spcBef>
                <a:spcPts val="561"/>
              </a:spcBef>
              <a:buClr>
                <a:srgbClr val="000000"/>
              </a:buClr>
            </a:pPr>
            <a:r>
              <a:rPr lang="en-US" altLang="zh-TW" spc="-1" dirty="0">
                <a:latin typeface="Times New Roman"/>
              </a:rPr>
              <a:t>AD: 8-6</a:t>
            </a:r>
            <a:r>
              <a:rPr lang="zh-TW" altLang="en-US" spc="-1" dirty="0">
                <a:latin typeface="Times New Roman"/>
              </a:rPr>
              <a:t> </a:t>
            </a:r>
            <a:r>
              <a:rPr lang="en-US" altLang="zh-TW" spc="-1" dirty="0">
                <a:latin typeface="Times New Roman"/>
              </a:rPr>
              <a:t>=</a:t>
            </a:r>
            <a:r>
              <a:rPr lang="zh-TW" altLang="en-US" spc="-1" dirty="0">
                <a:latin typeface="Times New Roman"/>
              </a:rPr>
              <a:t> </a:t>
            </a:r>
            <a:r>
              <a:rPr lang="en-US" altLang="zh-TW" spc="-1" dirty="0">
                <a:latin typeface="Times New Roman"/>
              </a:rPr>
              <a:t>5</a:t>
            </a:r>
            <a:r>
              <a:rPr lang="zh-TW" altLang="en-US" spc="-1" dirty="0">
                <a:latin typeface="Times New Roman"/>
              </a:rPr>
              <a:t> </a:t>
            </a:r>
            <a:r>
              <a:rPr lang="en-US" altLang="zh-TW" spc="-1" dirty="0">
                <a:latin typeface="Times New Roman"/>
              </a:rPr>
              <a:t>-</a:t>
            </a:r>
            <a:r>
              <a:rPr lang="zh-TW" altLang="en-US" spc="-1" dirty="0">
                <a:latin typeface="Times New Roman"/>
              </a:rPr>
              <a:t> </a:t>
            </a:r>
            <a:r>
              <a:rPr lang="en-US" altLang="zh-TW" spc="-1" dirty="0">
                <a:latin typeface="Times New Roman"/>
              </a:rPr>
              <a:t>3</a:t>
            </a:r>
          </a:p>
          <a:p>
            <a:pPr marL="457560" indent="-457200">
              <a:spcBef>
                <a:spcPts val="561"/>
              </a:spcBef>
              <a:buClr>
                <a:srgbClr val="000000"/>
              </a:buClr>
            </a:pPr>
            <a:endParaRPr lang="en-US" altLang="zh-TW" spc="-1" dirty="0">
              <a:solidFill>
                <a:srgbClr val="FF0000"/>
              </a:solidFill>
              <a:latin typeface="Times New Roman"/>
            </a:endParaRPr>
          </a:p>
          <a:p>
            <a:pPr marL="343260" indent="-342900">
              <a:spcBef>
                <a:spcPts val="561"/>
              </a:spcBef>
              <a:buClr>
                <a:srgbClr val="000000"/>
              </a:buClr>
            </a:pPr>
            <a:endParaRPr lang="en-US" altLang="zh-TW" spc="-1" dirty="0">
              <a:solidFill>
                <a:srgbClr val="000000"/>
              </a:solidFill>
              <a:latin typeface="Times New Roman"/>
            </a:endParaRPr>
          </a:p>
          <a:p>
            <a:pPr marL="360">
              <a:spcBef>
                <a:spcPts val="561"/>
              </a:spcBef>
              <a:buClr>
                <a:srgbClr val="000000"/>
              </a:buClr>
            </a:pPr>
            <a:endParaRPr lang="en-US" altLang="zh-TW" spc="-1" dirty="0">
              <a:solidFill>
                <a:srgbClr val="000000"/>
              </a:solidFill>
              <a:latin typeface="Times New Roman"/>
            </a:endParaRPr>
          </a:p>
          <a:p>
            <a:pPr marL="343080" indent="-342720">
              <a:spcBef>
                <a:spcPts val="561"/>
              </a:spcBef>
              <a:buClr>
                <a:srgbClr val="000000"/>
              </a:buClr>
              <a:buFont typeface="Arial"/>
              <a:buChar char="•"/>
            </a:pPr>
            <a:endParaRPr lang="en-US" altLang="zh-TW" dirty="0">
              <a:latin typeface="Times New Roman" panose="02020603050405020304" pitchFamily="18" charset="0"/>
            </a:endParaRPr>
          </a:p>
        </p:txBody>
      </p:sp>
    </p:spTree>
    <p:extLst>
      <p:ext uri="{BB962C8B-B14F-4D97-AF65-F5344CB8AC3E}">
        <p14:creationId xmlns:p14="http://schemas.microsoft.com/office/powerpoint/2010/main" val="498827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RLCS (Rigid LCS Problem)</a:t>
            </a:r>
            <a:endParaRPr lang="en-US" altLang="zh-TW" spc="-1" dirty="0">
              <a:solidFill>
                <a:srgbClr val="000000"/>
              </a:solidFill>
              <a:latin typeface="Times New Roman" pitchFamily="18" charset="0"/>
              <a:cs typeface="Times New Roman" pitchFamily="18" charset="0"/>
            </a:endParaRPr>
          </a:p>
        </p:txBody>
      </p:sp>
      <p:sp>
        <p:nvSpPr>
          <p:cNvPr id="3" name="內容版面配置區 2"/>
          <p:cNvSpPr>
            <a:spLocks noGrp="1"/>
          </p:cNvSpPr>
          <p:nvPr>
            <p:ph idx="1"/>
          </p:nvPr>
        </p:nvSpPr>
        <p:spPr>
          <a:xfrm>
            <a:off x="838200" y="1825625"/>
            <a:ext cx="10515600" cy="4351338"/>
          </a:xfrm>
        </p:spPr>
        <p:txBody>
          <a:bodyPr>
            <a:normAutofit/>
          </a:bodyPr>
          <a:lstStyle/>
          <a:p>
            <a:pPr marL="360" indent="0">
              <a:spcBef>
                <a:spcPts val="561"/>
              </a:spcBef>
              <a:buClr>
                <a:srgbClr val="000000"/>
              </a:buClr>
              <a:buNone/>
            </a:pPr>
            <a:r>
              <a:rPr lang="en-US" altLang="zh-TW" spc="-1" dirty="0">
                <a:solidFill>
                  <a:srgbClr val="000000"/>
                </a:solidFill>
                <a:latin typeface="Times New Roman"/>
              </a:rPr>
              <a:t>            </a:t>
            </a:r>
            <a:r>
              <a:rPr lang="en-US" altLang="zh-TW" sz="2400" spc="-1" dirty="0">
                <a:solidFill>
                  <a:srgbClr val="000000"/>
                </a:solidFill>
                <a:latin typeface="Times New Roman"/>
              </a:rPr>
              <a:t>1</a:t>
            </a:r>
            <a:r>
              <a:rPr lang="zh-TW" altLang="en-US" sz="2400" spc="-1" dirty="0">
                <a:solidFill>
                  <a:srgbClr val="000000"/>
                </a:solidFill>
                <a:latin typeface="Times New Roman"/>
              </a:rPr>
              <a:t>  </a:t>
            </a:r>
            <a:r>
              <a:rPr lang="en-US" altLang="zh-TW" sz="2400" spc="-1" dirty="0">
                <a:solidFill>
                  <a:srgbClr val="000000"/>
                </a:solidFill>
                <a:latin typeface="Times New Roman"/>
              </a:rPr>
              <a:t>2</a:t>
            </a:r>
            <a:r>
              <a:rPr lang="zh-TW" altLang="en-US" sz="2400" spc="-1" dirty="0">
                <a:solidFill>
                  <a:srgbClr val="000000"/>
                </a:solidFill>
                <a:latin typeface="Times New Roman"/>
              </a:rPr>
              <a:t> </a:t>
            </a:r>
            <a:r>
              <a:rPr lang="en-US" altLang="zh-TW" sz="2400" spc="-1" dirty="0">
                <a:solidFill>
                  <a:srgbClr val="000000"/>
                </a:solidFill>
                <a:latin typeface="Times New Roman"/>
              </a:rPr>
              <a:t>3</a:t>
            </a:r>
            <a:r>
              <a:rPr lang="zh-TW" altLang="en-US" sz="2400" spc="-1" dirty="0">
                <a:solidFill>
                  <a:srgbClr val="000000"/>
                </a:solidFill>
                <a:latin typeface="Times New Roman"/>
              </a:rPr>
              <a:t> </a:t>
            </a:r>
            <a:r>
              <a:rPr lang="en-US" altLang="zh-TW" sz="2400" spc="-1" dirty="0">
                <a:solidFill>
                  <a:srgbClr val="000000"/>
                </a:solidFill>
                <a:latin typeface="Times New Roman"/>
              </a:rPr>
              <a:t>4</a:t>
            </a:r>
            <a:r>
              <a:rPr lang="zh-TW" altLang="en-US" sz="2400" spc="-1" dirty="0">
                <a:solidFill>
                  <a:srgbClr val="000000"/>
                </a:solidFill>
                <a:latin typeface="Times New Roman"/>
              </a:rPr>
              <a:t> </a:t>
            </a:r>
            <a:r>
              <a:rPr lang="en-US" altLang="zh-TW" sz="2400" spc="-1" dirty="0">
                <a:solidFill>
                  <a:srgbClr val="000000"/>
                </a:solidFill>
                <a:latin typeface="Times New Roman"/>
              </a:rPr>
              <a:t>5</a:t>
            </a:r>
            <a:r>
              <a:rPr lang="zh-TW" altLang="en-US" sz="2400" spc="-1" dirty="0">
                <a:solidFill>
                  <a:srgbClr val="000000"/>
                </a:solidFill>
                <a:latin typeface="Times New Roman"/>
              </a:rPr>
              <a:t> </a:t>
            </a:r>
            <a:r>
              <a:rPr lang="en-US" altLang="zh-TW" sz="2400" spc="-1" dirty="0">
                <a:solidFill>
                  <a:srgbClr val="000000"/>
                </a:solidFill>
                <a:latin typeface="Times New Roman"/>
              </a:rPr>
              <a:t>6</a:t>
            </a:r>
            <a:r>
              <a:rPr lang="zh-TW" altLang="en-US" sz="2400" spc="-1" dirty="0">
                <a:solidFill>
                  <a:srgbClr val="000000"/>
                </a:solidFill>
                <a:latin typeface="Times New Roman"/>
              </a:rPr>
              <a:t> </a:t>
            </a:r>
            <a:r>
              <a:rPr lang="en-US" altLang="zh-TW" sz="2400" spc="-1" dirty="0">
                <a:solidFill>
                  <a:srgbClr val="000000"/>
                </a:solidFill>
                <a:latin typeface="Times New Roman"/>
              </a:rPr>
              <a:t>7</a:t>
            </a:r>
            <a:r>
              <a:rPr lang="zh-TW" altLang="en-US" sz="2400" spc="-1" dirty="0">
                <a:solidFill>
                  <a:srgbClr val="000000"/>
                </a:solidFill>
                <a:latin typeface="Times New Roman"/>
              </a:rPr>
              <a:t> </a:t>
            </a:r>
            <a:r>
              <a:rPr lang="en-US" altLang="zh-TW" sz="2400" spc="-1" dirty="0">
                <a:solidFill>
                  <a:srgbClr val="000000"/>
                </a:solidFill>
                <a:latin typeface="Times New Roman"/>
              </a:rPr>
              <a:t>8</a:t>
            </a:r>
          </a:p>
          <a:p>
            <a:pPr marL="457560" indent="-457200">
              <a:spcBef>
                <a:spcPts val="561"/>
              </a:spcBef>
              <a:buClr>
                <a:srgbClr val="000000"/>
              </a:buClr>
            </a:pPr>
            <a:r>
              <a:rPr lang="en-US" altLang="zh-TW" spc="-1" dirty="0">
                <a:solidFill>
                  <a:srgbClr val="000000"/>
                </a:solidFill>
                <a:latin typeface="Times New Roman"/>
              </a:rPr>
              <a:t>X = F</a:t>
            </a:r>
            <a:r>
              <a:rPr lang="en-US" altLang="zh-TW" spc="-1" dirty="0">
                <a:latin typeface="Times New Roman"/>
              </a:rPr>
              <a:t>C</a:t>
            </a:r>
            <a:r>
              <a:rPr lang="en-US" altLang="zh-TW" spc="-1" dirty="0">
                <a:solidFill>
                  <a:srgbClr val="000000"/>
                </a:solidFill>
                <a:latin typeface="Times New Roman"/>
              </a:rPr>
              <a:t>G</a:t>
            </a:r>
            <a:r>
              <a:rPr lang="en-US" altLang="zh-TW" spc="-1" dirty="0">
                <a:solidFill>
                  <a:srgbClr val="FF0000"/>
                </a:solidFill>
                <a:latin typeface="Times New Roman"/>
              </a:rPr>
              <a:t>F</a:t>
            </a:r>
            <a:r>
              <a:rPr lang="en-US" altLang="zh-TW" spc="-1" dirty="0">
                <a:solidFill>
                  <a:srgbClr val="000000"/>
                </a:solidFill>
                <a:latin typeface="Times New Roman"/>
              </a:rPr>
              <a:t>C</a:t>
            </a:r>
            <a:r>
              <a:rPr lang="en-US" altLang="zh-TW" spc="-1" dirty="0">
                <a:solidFill>
                  <a:srgbClr val="FF0000"/>
                </a:solidFill>
                <a:latin typeface="Times New Roman"/>
              </a:rPr>
              <a:t>A</a:t>
            </a:r>
            <a:r>
              <a:rPr lang="en-US" altLang="zh-TW" spc="-1" dirty="0">
                <a:solidFill>
                  <a:srgbClr val="000000"/>
                </a:solidFill>
                <a:latin typeface="Times New Roman"/>
              </a:rPr>
              <a:t>B</a:t>
            </a:r>
            <a:r>
              <a:rPr lang="en-US" altLang="zh-TW" spc="-1" dirty="0">
                <a:solidFill>
                  <a:srgbClr val="FF0000"/>
                </a:solidFill>
                <a:latin typeface="Times New Roman"/>
              </a:rPr>
              <a:t>D      </a:t>
            </a:r>
          </a:p>
          <a:p>
            <a:pPr marL="457560" indent="-457200">
              <a:spcBef>
                <a:spcPts val="561"/>
              </a:spcBef>
              <a:buClr>
                <a:srgbClr val="000000"/>
              </a:buClr>
            </a:pPr>
            <a:r>
              <a:rPr lang="en-US" altLang="zh-TW" spc="-1" dirty="0">
                <a:solidFill>
                  <a:srgbClr val="000000"/>
                </a:solidFill>
                <a:latin typeface="Times New Roman"/>
              </a:rPr>
              <a:t>Y = </a:t>
            </a:r>
            <a:r>
              <a:rPr lang="en-US" altLang="zh-TW" spc="-1" dirty="0">
                <a:solidFill>
                  <a:srgbClr val="FF0000"/>
                </a:solidFill>
                <a:latin typeface="Times New Roman"/>
              </a:rPr>
              <a:t>F</a:t>
            </a:r>
            <a:r>
              <a:rPr lang="en-US" altLang="zh-TW" spc="-1" dirty="0">
                <a:solidFill>
                  <a:srgbClr val="000000"/>
                </a:solidFill>
                <a:latin typeface="Times New Roman"/>
              </a:rPr>
              <a:t>G</a:t>
            </a:r>
            <a:r>
              <a:rPr lang="en-US" altLang="zh-TW" spc="-1" dirty="0">
                <a:solidFill>
                  <a:srgbClr val="FF0000"/>
                </a:solidFill>
                <a:latin typeface="Times New Roman"/>
              </a:rPr>
              <a:t>A</a:t>
            </a:r>
            <a:r>
              <a:rPr lang="en-US" altLang="zh-TW" spc="-1" dirty="0">
                <a:solidFill>
                  <a:srgbClr val="000000"/>
                </a:solidFill>
                <a:latin typeface="Times New Roman"/>
              </a:rPr>
              <a:t>C</a:t>
            </a:r>
            <a:r>
              <a:rPr lang="en-US" altLang="zh-TW" spc="-1" dirty="0">
                <a:solidFill>
                  <a:srgbClr val="FF0000"/>
                </a:solidFill>
                <a:latin typeface="Times New Roman"/>
              </a:rPr>
              <a:t>D</a:t>
            </a:r>
            <a:r>
              <a:rPr lang="en-US" altLang="zh-TW" spc="-1" dirty="0">
                <a:solidFill>
                  <a:srgbClr val="000000"/>
                </a:solidFill>
                <a:latin typeface="Times New Roman"/>
              </a:rPr>
              <a:t> </a:t>
            </a:r>
          </a:p>
          <a:p>
            <a:pPr marL="457560" indent="-457200">
              <a:spcBef>
                <a:spcPts val="561"/>
              </a:spcBef>
              <a:buClr>
                <a:srgbClr val="000000"/>
              </a:buClr>
            </a:pPr>
            <a:r>
              <a:rPr lang="en-US" altLang="zh-TW" dirty="0"/>
              <a:t>RLCS = </a:t>
            </a:r>
            <a:r>
              <a:rPr lang="en-US" altLang="zh-TW" spc="-1" dirty="0">
                <a:solidFill>
                  <a:srgbClr val="FF0000"/>
                </a:solidFill>
                <a:latin typeface="Times New Roman"/>
              </a:rPr>
              <a:t>FAD</a:t>
            </a:r>
          </a:p>
          <a:p>
            <a:pPr marL="457560" indent="-457200">
              <a:spcBef>
                <a:spcPts val="561"/>
              </a:spcBef>
              <a:buClr>
                <a:srgbClr val="000000"/>
              </a:buClr>
            </a:pPr>
            <a:endParaRPr lang="en-US" altLang="zh-TW" spc="-1" dirty="0">
              <a:solidFill>
                <a:srgbClr val="FF0000"/>
              </a:solidFill>
              <a:latin typeface="Times New Roman"/>
            </a:endParaRPr>
          </a:p>
          <a:p>
            <a:pPr marL="457560" indent="-457200">
              <a:spcBef>
                <a:spcPts val="561"/>
              </a:spcBef>
              <a:buClr>
                <a:srgbClr val="000000"/>
              </a:buClr>
            </a:pPr>
            <a:r>
              <a:rPr lang="en-US" altLang="zh-TW" spc="-1" dirty="0">
                <a:latin typeface="Times New Roman"/>
              </a:rPr>
              <a:t>FA: 6 - 4</a:t>
            </a:r>
            <a:r>
              <a:rPr lang="zh-TW" altLang="en-US" spc="-1" dirty="0">
                <a:latin typeface="Times New Roman"/>
              </a:rPr>
              <a:t> </a:t>
            </a:r>
            <a:r>
              <a:rPr lang="en-US" altLang="zh-TW" spc="-1" dirty="0">
                <a:latin typeface="Times New Roman"/>
              </a:rPr>
              <a:t>=</a:t>
            </a:r>
            <a:r>
              <a:rPr lang="zh-TW" altLang="en-US" spc="-1" dirty="0">
                <a:latin typeface="Times New Roman"/>
              </a:rPr>
              <a:t> </a:t>
            </a:r>
            <a:r>
              <a:rPr lang="en-US" altLang="zh-TW" spc="-1" dirty="0">
                <a:latin typeface="Times New Roman"/>
              </a:rPr>
              <a:t>3</a:t>
            </a:r>
            <a:r>
              <a:rPr lang="zh-TW" altLang="en-US" spc="-1" dirty="0">
                <a:latin typeface="Times New Roman"/>
              </a:rPr>
              <a:t> </a:t>
            </a:r>
            <a:r>
              <a:rPr lang="en-US" altLang="zh-TW" spc="-1" dirty="0">
                <a:latin typeface="Times New Roman"/>
              </a:rPr>
              <a:t>–</a:t>
            </a:r>
            <a:r>
              <a:rPr lang="zh-TW" altLang="en-US" spc="-1" dirty="0">
                <a:latin typeface="Times New Roman"/>
              </a:rPr>
              <a:t> </a:t>
            </a:r>
            <a:r>
              <a:rPr lang="en-US" altLang="zh-TW" spc="-1" dirty="0">
                <a:latin typeface="Times New Roman"/>
              </a:rPr>
              <a:t>1</a:t>
            </a:r>
          </a:p>
          <a:p>
            <a:pPr marL="457560" indent="-457200">
              <a:spcBef>
                <a:spcPts val="561"/>
              </a:spcBef>
              <a:buClr>
                <a:srgbClr val="000000"/>
              </a:buClr>
            </a:pPr>
            <a:r>
              <a:rPr lang="en-US" altLang="zh-TW" spc="-1" dirty="0">
                <a:latin typeface="Times New Roman"/>
              </a:rPr>
              <a:t>AD: 8 - 6</a:t>
            </a:r>
            <a:r>
              <a:rPr lang="zh-TW" altLang="en-US" spc="-1" dirty="0">
                <a:latin typeface="Times New Roman"/>
              </a:rPr>
              <a:t> </a:t>
            </a:r>
            <a:r>
              <a:rPr lang="en-US" altLang="zh-TW" spc="-1" dirty="0">
                <a:latin typeface="Times New Roman"/>
              </a:rPr>
              <a:t>=</a:t>
            </a:r>
            <a:r>
              <a:rPr lang="zh-TW" altLang="en-US" spc="-1" dirty="0">
                <a:latin typeface="Times New Roman"/>
              </a:rPr>
              <a:t> </a:t>
            </a:r>
            <a:r>
              <a:rPr lang="en-US" altLang="zh-TW" spc="-1" dirty="0">
                <a:latin typeface="Times New Roman"/>
              </a:rPr>
              <a:t>5</a:t>
            </a:r>
            <a:r>
              <a:rPr lang="zh-TW" altLang="en-US" spc="-1" dirty="0">
                <a:latin typeface="Times New Roman"/>
              </a:rPr>
              <a:t> </a:t>
            </a:r>
            <a:r>
              <a:rPr lang="en-US" altLang="zh-TW" spc="-1" dirty="0">
                <a:latin typeface="Times New Roman"/>
              </a:rPr>
              <a:t>-</a:t>
            </a:r>
            <a:r>
              <a:rPr lang="zh-TW" altLang="en-US" spc="-1" dirty="0">
                <a:latin typeface="Times New Roman"/>
              </a:rPr>
              <a:t> </a:t>
            </a:r>
            <a:r>
              <a:rPr lang="en-US" altLang="zh-TW" spc="-1" dirty="0">
                <a:latin typeface="Times New Roman"/>
              </a:rPr>
              <a:t>3</a:t>
            </a:r>
          </a:p>
          <a:p>
            <a:pPr marL="457560" indent="-457200">
              <a:spcBef>
                <a:spcPts val="561"/>
              </a:spcBef>
              <a:buClr>
                <a:srgbClr val="000000"/>
              </a:buClr>
            </a:pPr>
            <a:endParaRPr lang="en-US" altLang="zh-TW" spc="-1" dirty="0">
              <a:solidFill>
                <a:srgbClr val="FF0000"/>
              </a:solidFill>
              <a:latin typeface="Times New Roman"/>
            </a:endParaRPr>
          </a:p>
          <a:p>
            <a:pPr marL="343260" indent="-342900">
              <a:spcBef>
                <a:spcPts val="561"/>
              </a:spcBef>
              <a:buClr>
                <a:srgbClr val="000000"/>
              </a:buClr>
            </a:pPr>
            <a:endParaRPr lang="en-US" altLang="zh-TW" spc="-1" dirty="0">
              <a:solidFill>
                <a:srgbClr val="000000"/>
              </a:solidFill>
              <a:latin typeface="Times New Roman"/>
            </a:endParaRPr>
          </a:p>
          <a:p>
            <a:pPr marL="360">
              <a:spcBef>
                <a:spcPts val="561"/>
              </a:spcBef>
              <a:buClr>
                <a:srgbClr val="000000"/>
              </a:buClr>
            </a:pPr>
            <a:endParaRPr lang="en-US" altLang="zh-TW" spc="-1" dirty="0">
              <a:solidFill>
                <a:srgbClr val="000000"/>
              </a:solidFill>
              <a:latin typeface="Times New Roman"/>
            </a:endParaRPr>
          </a:p>
          <a:p>
            <a:pPr marL="343080" indent="-342720">
              <a:spcBef>
                <a:spcPts val="561"/>
              </a:spcBef>
              <a:buClr>
                <a:srgbClr val="000000"/>
              </a:buClr>
              <a:buFont typeface="Arial"/>
              <a:buChar char="•"/>
            </a:pPr>
            <a:endParaRPr lang="en-US" altLang="zh-TW" dirty="0">
              <a:latin typeface="Times New Roman" panose="02020603050405020304" pitchFamily="18" charset="0"/>
            </a:endParaRPr>
          </a:p>
        </p:txBody>
      </p:sp>
      <p:pic>
        <p:nvPicPr>
          <p:cNvPr id="5" name="圖片 4" descr="一張含有 文字, 天線 的圖片&#10;&#10;自動產生的描述">
            <a:extLst>
              <a:ext uri="{FF2B5EF4-FFF2-40B4-BE49-F238E27FC236}">
                <a16:creationId xmlns:a16="http://schemas.microsoft.com/office/drawing/2014/main" id="{BAB74A56-AC54-4942-A442-806510E77C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258" y="5483330"/>
            <a:ext cx="7381875" cy="1387266"/>
          </a:xfrm>
          <a:prstGeom prst="rect">
            <a:avLst/>
          </a:prstGeom>
        </p:spPr>
      </p:pic>
      <p:graphicFrame>
        <p:nvGraphicFramePr>
          <p:cNvPr id="7" name="內容版面配置區 3">
            <a:extLst>
              <a:ext uri="{FF2B5EF4-FFF2-40B4-BE49-F238E27FC236}">
                <a16:creationId xmlns:a16="http://schemas.microsoft.com/office/drawing/2014/main" id="{88D21479-CF57-4EDE-821E-9B69F0E551AB}"/>
              </a:ext>
            </a:extLst>
          </p:cNvPr>
          <p:cNvGraphicFramePr>
            <a:graphicFrameLocks/>
          </p:cNvGraphicFramePr>
          <p:nvPr>
            <p:extLst>
              <p:ext uri="{D42A27DB-BD31-4B8C-83A1-F6EECF244321}">
                <p14:modId xmlns:p14="http://schemas.microsoft.com/office/powerpoint/2010/main" val="10651921"/>
              </p:ext>
            </p:extLst>
          </p:nvPr>
        </p:nvGraphicFramePr>
        <p:xfrm>
          <a:off x="5076825" y="1343080"/>
          <a:ext cx="6813516" cy="4171840"/>
        </p:xfrm>
        <a:graphic>
          <a:graphicData uri="http://schemas.openxmlformats.org/drawingml/2006/table">
            <a:tbl>
              <a:tblPr firstRow="1" bandRow="1">
                <a:noFill/>
                <a:tableStyleId>{5940675A-B579-460E-94D1-54222C63F5DA}</a:tableStyleId>
              </a:tblPr>
              <a:tblGrid>
                <a:gridCol w="717822">
                  <a:extLst>
                    <a:ext uri="{9D8B030D-6E8A-4147-A177-3AD203B41FA5}">
                      <a16:colId xmlns:a16="http://schemas.microsoft.com/office/drawing/2014/main" val="3630319676"/>
                    </a:ext>
                  </a:extLst>
                </a:gridCol>
                <a:gridCol w="521001">
                  <a:extLst>
                    <a:ext uri="{9D8B030D-6E8A-4147-A177-3AD203B41FA5}">
                      <a16:colId xmlns:a16="http://schemas.microsoft.com/office/drawing/2014/main" val="2449943958"/>
                    </a:ext>
                  </a:extLst>
                </a:gridCol>
                <a:gridCol w="619410">
                  <a:extLst>
                    <a:ext uri="{9D8B030D-6E8A-4147-A177-3AD203B41FA5}">
                      <a16:colId xmlns:a16="http://schemas.microsoft.com/office/drawing/2014/main" val="3241406068"/>
                    </a:ext>
                  </a:extLst>
                </a:gridCol>
                <a:gridCol w="619410">
                  <a:extLst>
                    <a:ext uri="{9D8B030D-6E8A-4147-A177-3AD203B41FA5}">
                      <a16:colId xmlns:a16="http://schemas.microsoft.com/office/drawing/2014/main" val="1541813034"/>
                    </a:ext>
                  </a:extLst>
                </a:gridCol>
                <a:gridCol w="619410">
                  <a:extLst>
                    <a:ext uri="{9D8B030D-6E8A-4147-A177-3AD203B41FA5}">
                      <a16:colId xmlns:a16="http://schemas.microsoft.com/office/drawing/2014/main" val="439975108"/>
                    </a:ext>
                  </a:extLst>
                </a:gridCol>
                <a:gridCol w="706395">
                  <a:extLst>
                    <a:ext uri="{9D8B030D-6E8A-4147-A177-3AD203B41FA5}">
                      <a16:colId xmlns:a16="http://schemas.microsoft.com/office/drawing/2014/main" val="4266199047"/>
                    </a:ext>
                  </a:extLst>
                </a:gridCol>
                <a:gridCol w="532428">
                  <a:extLst>
                    <a:ext uri="{9D8B030D-6E8A-4147-A177-3AD203B41FA5}">
                      <a16:colId xmlns:a16="http://schemas.microsoft.com/office/drawing/2014/main" val="700621554"/>
                    </a:ext>
                  </a:extLst>
                </a:gridCol>
                <a:gridCol w="619410">
                  <a:extLst>
                    <a:ext uri="{9D8B030D-6E8A-4147-A177-3AD203B41FA5}">
                      <a16:colId xmlns:a16="http://schemas.microsoft.com/office/drawing/2014/main" val="1149588615"/>
                    </a:ext>
                  </a:extLst>
                </a:gridCol>
                <a:gridCol w="619410">
                  <a:extLst>
                    <a:ext uri="{9D8B030D-6E8A-4147-A177-3AD203B41FA5}">
                      <a16:colId xmlns:a16="http://schemas.microsoft.com/office/drawing/2014/main" val="2273608623"/>
                    </a:ext>
                  </a:extLst>
                </a:gridCol>
                <a:gridCol w="619410">
                  <a:extLst>
                    <a:ext uri="{9D8B030D-6E8A-4147-A177-3AD203B41FA5}">
                      <a16:colId xmlns:a16="http://schemas.microsoft.com/office/drawing/2014/main" val="1983320277"/>
                    </a:ext>
                  </a:extLst>
                </a:gridCol>
                <a:gridCol w="619410">
                  <a:extLst>
                    <a:ext uri="{9D8B030D-6E8A-4147-A177-3AD203B41FA5}">
                      <a16:colId xmlns:a16="http://schemas.microsoft.com/office/drawing/2014/main" val="3029482529"/>
                    </a:ext>
                  </a:extLst>
                </a:gridCol>
              </a:tblGrid>
              <a:tr h="200759">
                <a:tc>
                  <a:txBody>
                    <a:bodyPr/>
                    <a:lstStyle/>
                    <a:p>
                      <a:pPr algn="ctr">
                        <a:lnSpc>
                          <a:spcPct val="100000"/>
                        </a:lnSpc>
                      </a:pPr>
                      <a:endParaRPr lang="en-US" altLang="zh-TW" sz="1800" dirty="0">
                        <a:latin typeface="Times New Roman" panose="02020603050405020304" pitchFamily="18" charset="0"/>
                        <a:cs typeface="Times New Roman" panose="02020603050405020304" pitchFamily="18" charset="0"/>
                      </a:endParaRPr>
                    </a:p>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1</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j-1-K</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j-1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err="1">
                          <a:latin typeface="Times New Roman" panose="02020603050405020304" pitchFamily="18" charset="0"/>
                          <a:cs typeface="Times New Roman" panose="02020603050405020304" pitchFamily="18" charset="0"/>
                        </a:rPr>
                        <a:t>Y</a:t>
                      </a:r>
                      <a:r>
                        <a:rPr lang="en-US" altLang="zh-TW" sz="1800" baseline="-25000" dirty="0" err="1">
                          <a:latin typeface="Times New Roman" panose="02020603050405020304" pitchFamily="18" charset="0"/>
                          <a:cs typeface="Times New Roman" panose="02020603050405020304" pitchFamily="18" charset="0"/>
                        </a:rPr>
                        <a:t>j</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err="1">
                          <a:latin typeface="Times New Roman" panose="02020603050405020304" pitchFamily="18" charset="0"/>
                          <a:cs typeface="Times New Roman" panose="02020603050405020304" pitchFamily="18" charset="0"/>
                        </a:rPr>
                        <a:t>Y</a:t>
                      </a:r>
                      <a:r>
                        <a:rPr lang="en-US" altLang="zh-TW" sz="1800" baseline="-25000" dirty="0" err="1">
                          <a:latin typeface="Times New Roman" panose="02020603050405020304" pitchFamily="18" charset="0"/>
                          <a:cs typeface="Times New Roman" panose="02020603050405020304" pitchFamily="18" charset="0"/>
                        </a:rPr>
                        <a:t>n</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extLst>
                  <a:ext uri="{0D108BD9-81ED-4DB2-BD59-A6C34878D82A}">
                    <a16:rowId xmlns:a16="http://schemas.microsoft.com/office/drawing/2014/main" val="3990454840"/>
                  </a:ext>
                </a:extLst>
              </a:tr>
              <a:tr h="280075">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solidFill>
                          <a:schemeClr val="tx1"/>
                        </a:solidFill>
                        <a:highlight>
                          <a:srgbClr val="FF0000"/>
                        </a:highlight>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662905682"/>
                  </a:ext>
                </a:extLst>
              </a:tr>
              <a:tr h="280075">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4229735210"/>
                  </a:ext>
                </a:extLst>
              </a:tr>
              <a:tr h="2800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1920045357"/>
                  </a:ext>
                </a:extLst>
              </a:tr>
              <a:tr h="280075">
                <a:tc>
                  <a:txBody>
                    <a:bodyPr/>
                    <a:lstStyle/>
                    <a:p>
                      <a:pPr algn="ctr">
                        <a:lnSpc>
                          <a:spcPct val="100000"/>
                        </a:lnSpc>
                      </a:pPr>
                      <a:r>
                        <a:rPr lang="zh-TW" altLang="en-US" sz="1800" b="0" i="0" kern="1200" dirty="0">
                          <a:solidFill>
                            <a:schemeClr val="tx1"/>
                          </a:solidFill>
                          <a:effectLst/>
                          <a:latin typeface="+mn-lt"/>
                          <a:ea typeface="+mn-ea"/>
                          <a:cs typeface="+mn-cs"/>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596059960"/>
                  </a:ext>
                </a:extLst>
              </a:tr>
              <a:tr h="280075">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i-1-K</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650435379"/>
                  </a:ext>
                </a:extLst>
              </a:tr>
              <a:tr h="280075">
                <a:tc>
                  <a:txBody>
                    <a:bodyPr/>
                    <a:lstStyle/>
                    <a:p>
                      <a:pPr algn="ctr">
                        <a:lnSpc>
                          <a:spcPct val="100000"/>
                        </a:lnSpc>
                      </a:pPr>
                      <a:r>
                        <a:rPr lang="zh-TW" altLang="en-US" sz="1800" b="0" i="0" kern="1200" dirty="0">
                          <a:solidFill>
                            <a:schemeClr val="tx1"/>
                          </a:solidFill>
                          <a:effectLst/>
                          <a:latin typeface="+mn-lt"/>
                          <a:ea typeface="+mn-ea"/>
                          <a:cs typeface="+mn-cs"/>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1222648316"/>
                  </a:ext>
                </a:extLst>
              </a:tr>
              <a:tr h="280075">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909335467"/>
                  </a:ext>
                </a:extLst>
              </a:tr>
              <a:tr h="280075">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0000"/>
                        </a:lnSpc>
                      </a:pPr>
                      <a:r>
                        <a:rPr lang="zh-TW" altLang="en-US" sz="1800" dirty="0">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248359388"/>
                  </a:ext>
                </a:extLst>
              </a:tr>
              <a:tr h="280075">
                <a:tc>
                  <a:txBody>
                    <a:bodyPr/>
                    <a:lstStyle/>
                    <a:p>
                      <a:pPr algn="ctr">
                        <a:lnSpc>
                          <a:spcPct val="100000"/>
                        </a:lnSpc>
                      </a:pPr>
                      <a:r>
                        <a:rPr lang="zh-TW" altLang="en-US" sz="1800" b="0" i="0" kern="1200" dirty="0">
                          <a:solidFill>
                            <a:schemeClr val="tx1"/>
                          </a:solidFill>
                          <a:effectLst/>
                          <a:latin typeface="+mn-lt"/>
                          <a:ea typeface="+mn-ea"/>
                          <a:cs typeface="+mn-cs"/>
                        </a:rPr>
                        <a:t>⋮</a:t>
                      </a:r>
                      <a:endParaRPr lang="en-US" altLang="zh-TW" sz="1800" baseline="-250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147665150"/>
                  </a:ext>
                </a:extLst>
              </a:tr>
              <a:tr h="280075">
                <a:tc>
                  <a:txBody>
                    <a:bodyPr/>
                    <a:lstStyle/>
                    <a:p>
                      <a:pPr algn="ctr">
                        <a:lnSpc>
                          <a:spcPct val="100000"/>
                        </a:lnSpc>
                      </a:pPr>
                      <a:r>
                        <a:rPr lang="en-US" altLang="zh-TW" sz="1800" dirty="0" err="1">
                          <a:latin typeface="Times New Roman" panose="02020603050405020304" pitchFamily="18" charset="0"/>
                          <a:cs typeface="Times New Roman" panose="02020603050405020304" pitchFamily="18" charset="0"/>
                        </a:rPr>
                        <a:t>X</a:t>
                      </a:r>
                      <a:r>
                        <a:rPr lang="en-US" altLang="zh-TW" sz="1800" baseline="-25000" dirty="0" err="1">
                          <a:latin typeface="Times New Roman" panose="02020603050405020304" pitchFamily="18" charset="0"/>
                          <a:cs typeface="Times New Roman" panose="02020603050405020304" pitchFamily="18" charset="0"/>
                        </a:rPr>
                        <a:t>n</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51377310"/>
                  </a:ext>
                </a:extLst>
              </a:tr>
            </a:tbl>
          </a:graphicData>
        </a:graphic>
      </p:graphicFrame>
    </p:spTree>
    <p:extLst>
      <p:ext uri="{BB962C8B-B14F-4D97-AF65-F5344CB8AC3E}">
        <p14:creationId xmlns:p14="http://schemas.microsoft.com/office/powerpoint/2010/main" val="2393651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RIFIG (LCS Problem with Rigid Fixed Gap)</a:t>
            </a:r>
            <a:endParaRPr lang="en-US" altLang="zh-TW" spc="-1" dirty="0">
              <a:solidFill>
                <a:srgbClr val="000000"/>
              </a:solidFill>
              <a:latin typeface="Times New Roman" pitchFamily="18" charset="0"/>
              <a:cs typeface="Times New Roman" pitchFamily="18" charset="0"/>
            </a:endParaRPr>
          </a:p>
        </p:txBody>
      </p:sp>
      <p:sp>
        <p:nvSpPr>
          <p:cNvPr id="3" name="內容版面配置區 2"/>
          <p:cNvSpPr>
            <a:spLocks noGrp="1"/>
          </p:cNvSpPr>
          <p:nvPr>
            <p:ph idx="1"/>
          </p:nvPr>
        </p:nvSpPr>
        <p:spPr>
          <a:xfrm>
            <a:off x="838200" y="1825625"/>
            <a:ext cx="10515600" cy="4351338"/>
          </a:xfrm>
        </p:spPr>
        <p:txBody>
          <a:bodyPr>
            <a:normAutofit/>
          </a:bodyPr>
          <a:lstStyle/>
          <a:p>
            <a:pPr marL="457560" indent="-457200">
              <a:spcBef>
                <a:spcPts val="561"/>
              </a:spcBef>
              <a:buClr>
                <a:srgbClr val="000000"/>
              </a:buClr>
            </a:pPr>
            <a:r>
              <a:rPr lang="en-US" altLang="zh-TW" spc="-1" dirty="0">
                <a:solidFill>
                  <a:srgbClr val="000000"/>
                </a:solidFill>
                <a:latin typeface="Times New Roman"/>
              </a:rPr>
              <a:t>X = </a:t>
            </a:r>
            <a:r>
              <a:rPr lang="en-US" altLang="zh-TW" spc="-1" dirty="0">
                <a:solidFill>
                  <a:srgbClr val="FF0000"/>
                </a:solidFill>
                <a:latin typeface="Times New Roman"/>
              </a:rPr>
              <a:t>F</a:t>
            </a:r>
            <a:r>
              <a:rPr lang="en-US" altLang="zh-TW" spc="-1" dirty="0">
                <a:latin typeface="Times New Roman"/>
              </a:rPr>
              <a:t>C</a:t>
            </a:r>
            <a:r>
              <a:rPr lang="en-US" altLang="zh-TW" spc="-1" dirty="0">
                <a:solidFill>
                  <a:srgbClr val="FF0000"/>
                </a:solidFill>
                <a:latin typeface="Times New Roman"/>
              </a:rPr>
              <a:t>G</a:t>
            </a:r>
            <a:r>
              <a:rPr lang="en-US" altLang="zh-TW" spc="-1" dirty="0">
                <a:latin typeface="Times New Roman"/>
              </a:rPr>
              <a:t>F</a:t>
            </a:r>
            <a:r>
              <a:rPr lang="en-US" altLang="zh-TW" spc="-1" dirty="0">
                <a:solidFill>
                  <a:srgbClr val="FF0000"/>
                </a:solidFill>
                <a:latin typeface="Times New Roman"/>
              </a:rPr>
              <a:t>C</a:t>
            </a:r>
            <a:r>
              <a:rPr lang="en-US" altLang="zh-TW" spc="-1" dirty="0">
                <a:latin typeface="Times New Roman"/>
              </a:rPr>
              <a:t>ABD</a:t>
            </a:r>
            <a:r>
              <a:rPr lang="en-US" altLang="zh-TW" spc="-1" dirty="0">
                <a:solidFill>
                  <a:srgbClr val="FF0000"/>
                </a:solidFill>
                <a:latin typeface="Times New Roman"/>
              </a:rPr>
              <a:t>      </a:t>
            </a:r>
          </a:p>
          <a:p>
            <a:pPr marL="457560" indent="-457200">
              <a:spcBef>
                <a:spcPts val="561"/>
              </a:spcBef>
              <a:buClr>
                <a:srgbClr val="000000"/>
              </a:buClr>
            </a:pPr>
            <a:r>
              <a:rPr lang="en-US" altLang="zh-TW" spc="-1" dirty="0">
                <a:solidFill>
                  <a:srgbClr val="000000"/>
                </a:solidFill>
                <a:latin typeface="Times New Roman"/>
              </a:rPr>
              <a:t>Y = </a:t>
            </a:r>
            <a:r>
              <a:rPr lang="en-US" altLang="zh-TW" spc="-1" dirty="0">
                <a:solidFill>
                  <a:srgbClr val="FF0000"/>
                </a:solidFill>
                <a:latin typeface="Times New Roman"/>
              </a:rPr>
              <a:t>FG</a:t>
            </a:r>
            <a:r>
              <a:rPr lang="en-US" altLang="zh-TW" spc="-1" dirty="0">
                <a:latin typeface="Times New Roman"/>
              </a:rPr>
              <a:t>A</a:t>
            </a:r>
            <a:r>
              <a:rPr lang="en-US" altLang="zh-TW" spc="-1" dirty="0">
                <a:solidFill>
                  <a:srgbClr val="FF0000"/>
                </a:solidFill>
                <a:latin typeface="Times New Roman"/>
              </a:rPr>
              <a:t>C</a:t>
            </a:r>
            <a:r>
              <a:rPr lang="en-US" altLang="zh-TW" spc="-1" dirty="0">
                <a:latin typeface="Times New Roman"/>
              </a:rPr>
              <a:t>D</a:t>
            </a:r>
            <a:r>
              <a:rPr lang="en-US" altLang="zh-TW" spc="-1" dirty="0">
                <a:solidFill>
                  <a:srgbClr val="000000"/>
                </a:solidFill>
                <a:latin typeface="Times New Roman"/>
              </a:rPr>
              <a:t> </a:t>
            </a:r>
          </a:p>
          <a:p>
            <a:pPr marL="457560" indent="-457200">
              <a:spcBef>
                <a:spcPts val="561"/>
              </a:spcBef>
              <a:buClr>
                <a:srgbClr val="000000"/>
              </a:buClr>
            </a:pPr>
            <a:r>
              <a:rPr lang="en-US" altLang="zh-TW" spc="-1" dirty="0">
                <a:solidFill>
                  <a:srgbClr val="FF0000"/>
                </a:solidFill>
                <a:latin typeface="Times New Roman"/>
              </a:rPr>
              <a:t>FGC </a:t>
            </a:r>
            <a:r>
              <a:rPr lang="en-US" altLang="zh-TW" spc="-1" dirty="0">
                <a:latin typeface="Times New Roman"/>
              </a:rPr>
              <a:t>is not RIFIG</a:t>
            </a:r>
          </a:p>
          <a:p>
            <a:pPr marL="457560" indent="-457200">
              <a:spcBef>
                <a:spcPts val="561"/>
              </a:spcBef>
              <a:buClr>
                <a:srgbClr val="000000"/>
              </a:buClr>
            </a:pPr>
            <a:endParaRPr lang="en-US" altLang="zh-TW" spc="-1" dirty="0">
              <a:solidFill>
                <a:srgbClr val="FF0000"/>
              </a:solidFill>
              <a:latin typeface="Times New Roman"/>
            </a:endParaRPr>
          </a:p>
          <a:p>
            <a:pPr marL="457560" indent="-457200">
              <a:spcBef>
                <a:spcPts val="561"/>
              </a:spcBef>
              <a:buClr>
                <a:srgbClr val="000000"/>
              </a:buClr>
            </a:pPr>
            <a:endParaRPr lang="en-US" altLang="zh-TW" spc="-1" dirty="0">
              <a:solidFill>
                <a:srgbClr val="FF0000"/>
              </a:solidFill>
              <a:latin typeface="Times New Roman"/>
            </a:endParaRPr>
          </a:p>
          <a:p>
            <a:pPr marL="457560" indent="-457200">
              <a:spcBef>
                <a:spcPts val="561"/>
              </a:spcBef>
              <a:buClr>
                <a:srgbClr val="000000"/>
              </a:buClr>
            </a:pPr>
            <a:r>
              <a:rPr lang="en-US" altLang="zh-TW" spc="-1" dirty="0">
                <a:solidFill>
                  <a:srgbClr val="000000"/>
                </a:solidFill>
                <a:latin typeface="Times New Roman"/>
              </a:rPr>
              <a:t>X = F</a:t>
            </a:r>
            <a:r>
              <a:rPr lang="en-US" altLang="zh-TW" spc="-1" dirty="0">
                <a:latin typeface="Times New Roman"/>
              </a:rPr>
              <a:t>C</a:t>
            </a:r>
            <a:r>
              <a:rPr lang="en-US" altLang="zh-TW" spc="-1" dirty="0">
                <a:solidFill>
                  <a:srgbClr val="000000"/>
                </a:solidFill>
                <a:latin typeface="Times New Roman"/>
              </a:rPr>
              <a:t>G</a:t>
            </a:r>
            <a:r>
              <a:rPr lang="en-US" altLang="zh-TW" spc="-1" dirty="0">
                <a:solidFill>
                  <a:srgbClr val="FF0000"/>
                </a:solidFill>
                <a:latin typeface="Times New Roman"/>
              </a:rPr>
              <a:t>F</a:t>
            </a:r>
            <a:r>
              <a:rPr lang="en-US" altLang="zh-TW" spc="-1" dirty="0">
                <a:solidFill>
                  <a:srgbClr val="000000"/>
                </a:solidFill>
                <a:latin typeface="Times New Roman"/>
              </a:rPr>
              <a:t>C</a:t>
            </a:r>
            <a:r>
              <a:rPr lang="en-US" altLang="zh-TW" spc="-1" dirty="0">
                <a:solidFill>
                  <a:srgbClr val="FF0000"/>
                </a:solidFill>
                <a:latin typeface="Times New Roman"/>
              </a:rPr>
              <a:t>A</a:t>
            </a:r>
            <a:r>
              <a:rPr lang="en-US" altLang="zh-TW" spc="-1" dirty="0">
                <a:solidFill>
                  <a:srgbClr val="000000"/>
                </a:solidFill>
                <a:latin typeface="Times New Roman"/>
              </a:rPr>
              <a:t>B</a:t>
            </a:r>
            <a:r>
              <a:rPr lang="en-US" altLang="zh-TW" spc="-1" dirty="0">
                <a:solidFill>
                  <a:srgbClr val="FF0000"/>
                </a:solidFill>
                <a:latin typeface="Times New Roman"/>
              </a:rPr>
              <a:t>D      </a:t>
            </a:r>
          </a:p>
          <a:p>
            <a:pPr marL="457560" indent="-457200">
              <a:spcBef>
                <a:spcPts val="561"/>
              </a:spcBef>
              <a:buClr>
                <a:srgbClr val="000000"/>
              </a:buClr>
            </a:pPr>
            <a:r>
              <a:rPr lang="en-US" altLang="zh-TW" spc="-1" dirty="0">
                <a:solidFill>
                  <a:srgbClr val="000000"/>
                </a:solidFill>
                <a:latin typeface="Times New Roman"/>
              </a:rPr>
              <a:t>Y = </a:t>
            </a:r>
            <a:r>
              <a:rPr lang="en-US" altLang="zh-TW" spc="-1" dirty="0">
                <a:solidFill>
                  <a:srgbClr val="FF0000"/>
                </a:solidFill>
                <a:latin typeface="Times New Roman"/>
              </a:rPr>
              <a:t>F</a:t>
            </a:r>
            <a:r>
              <a:rPr lang="en-US" altLang="zh-TW" spc="-1" dirty="0">
                <a:solidFill>
                  <a:srgbClr val="000000"/>
                </a:solidFill>
                <a:latin typeface="Times New Roman"/>
              </a:rPr>
              <a:t>G</a:t>
            </a:r>
            <a:r>
              <a:rPr lang="en-US" altLang="zh-TW" spc="-1" dirty="0">
                <a:solidFill>
                  <a:srgbClr val="FF0000"/>
                </a:solidFill>
                <a:latin typeface="Times New Roman"/>
              </a:rPr>
              <a:t>A</a:t>
            </a:r>
            <a:r>
              <a:rPr lang="en-US" altLang="zh-TW" spc="-1" dirty="0">
                <a:solidFill>
                  <a:srgbClr val="000000"/>
                </a:solidFill>
                <a:latin typeface="Times New Roman"/>
              </a:rPr>
              <a:t>C</a:t>
            </a:r>
            <a:r>
              <a:rPr lang="en-US" altLang="zh-TW" spc="-1" dirty="0">
                <a:solidFill>
                  <a:srgbClr val="FF0000"/>
                </a:solidFill>
                <a:latin typeface="Times New Roman"/>
              </a:rPr>
              <a:t>D</a:t>
            </a:r>
            <a:r>
              <a:rPr lang="en-US" altLang="zh-TW" spc="-1" dirty="0">
                <a:solidFill>
                  <a:srgbClr val="000000"/>
                </a:solidFill>
                <a:latin typeface="Times New Roman"/>
              </a:rPr>
              <a:t> </a:t>
            </a:r>
          </a:p>
          <a:p>
            <a:pPr marL="457560" indent="-457200">
              <a:spcBef>
                <a:spcPts val="561"/>
              </a:spcBef>
              <a:buClr>
                <a:srgbClr val="000000"/>
              </a:buClr>
            </a:pPr>
            <a:r>
              <a:rPr lang="en-US" altLang="zh-TW" spc="-1" dirty="0">
                <a:solidFill>
                  <a:srgbClr val="FF0000"/>
                </a:solidFill>
                <a:latin typeface="Times New Roman"/>
              </a:rPr>
              <a:t>FAD </a:t>
            </a:r>
            <a:r>
              <a:rPr lang="en-US" altLang="zh-TW" spc="-1" dirty="0">
                <a:latin typeface="Times New Roman"/>
              </a:rPr>
              <a:t>is RIFIG</a:t>
            </a:r>
          </a:p>
          <a:p>
            <a:pPr marL="457560" indent="-457200">
              <a:spcBef>
                <a:spcPts val="561"/>
              </a:spcBef>
              <a:buClr>
                <a:srgbClr val="000000"/>
              </a:buClr>
            </a:pPr>
            <a:endParaRPr lang="en-US" altLang="zh-TW" spc="-1" dirty="0">
              <a:solidFill>
                <a:srgbClr val="FF0000"/>
              </a:solidFill>
              <a:latin typeface="Times New Roman"/>
            </a:endParaRPr>
          </a:p>
          <a:p>
            <a:pPr marL="457560" indent="-457200">
              <a:spcBef>
                <a:spcPts val="561"/>
              </a:spcBef>
              <a:buClr>
                <a:srgbClr val="000000"/>
              </a:buClr>
            </a:pPr>
            <a:endParaRPr lang="en-US" altLang="zh-TW" spc="-1" dirty="0">
              <a:solidFill>
                <a:srgbClr val="FF0000"/>
              </a:solidFill>
              <a:latin typeface="Times New Roman"/>
            </a:endParaRPr>
          </a:p>
          <a:p>
            <a:pPr marL="360">
              <a:spcBef>
                <a:spcPts val="561"/>
              </a:spcBef>
              <a:buClr>
                <a:srgbClr val="000000"/>
              </a:buClr>
            </a:pPr>
            <a:endParaRPr lang="en-US" altLang="zh-TW" spc="-1" dirty="0">
              <a:solidFill>
                <a:srgbClr val="000000"/>
              </a:solidFill>
              <a:latin typeface="Times New Roman"/>
            </a:endParaRPr>
          </a:p>
          <a:p>
            <a:pPr marL="343080" indent="-342720">
              <a:spcBef>
                <a:spcPts val="561"/>
              </a:spcBef>
              <a:buClr>
                <a:srgbClr val="000000"/>
              </a:buClr>
              <a:buFont typeface="Arial"/>
              <a:buChar char="•"/>
            </a:pPr>
            <a:endParaRPr lang="en-US" altLang="zh-TW" dirty="0">
              <a:latin typeface="Times New Roman" panose="02020603050405020304" pitchFamily="18" charset="0"/>
            </a:endParaRPr>
          </a:p>
        </p:txBody>
      </p:sp>
      <p:graphicFrame>
        <p:nvGraphicFramePr>
          <p:cNvPr id="16" name="內容版面配置區 3">
            <a:extLst>
              <a:ext uri="{FF2B5EF4-FFF2-40B4-BE49-F238E27FC236}">
                <a16:creationId xmlns:a16="http://schemas.microsoft.com/office/drawing/2014/main" id="{C339842C-BBC5-4626-A086-6522637F3F59}"/>
              </a:ext>
            </a:extLst>
          </p:cNvPr>
          <p:cNvGraphicFramePr>
            <a:graphicFrameLocks/>
          </p:cNvGraphicFramePr>
          <p:nvPr>
            <p:extLst>
              <p:ext uri="{D42A27DB-BD31-4B8C-83A1-F6EECF244321}">
                <p14:modId xmlns:p14="http://schemas.microsoft.com/office/powerpoint/2010/main" val="3857308690"/>
              </p:ext>
            </p:extLst>
          </p:nvPr>
        </p:nvGraphicFramePr>
        <p:xfrm>
          <a:off x="5206089" y="2005123"/>
          <a:ext cx="6808144" cy="4171840"/>
        </p:xfrm>
        <a:graphic>
          <a:graphicData uri="http://schemas.openxmlformats.org/drawingml/2006/table">
            <a:tbl>
              <a:tblPr firstRow="1" bandRow="1">
                <a:noFill/>
                <a:tableStyleId>{5940675A-B579-460E-94D1-54222C63F5DA}</a:tableStyleId>
              </a:tblPr>
              <a:tblGrid>
                <a:gridCol w="712450">
                  <a:extLst>
                    <a:ext uri="{9D8B030D-6E8A-4147-A177-3AD203B41FA5}">
                      <a16:colId xmlns:a16="http://schemas.microsoft.com/office/drawing/2014/main" val="3630319676"/>
                    </a:ext>
                  </a:extLst>
                </a:gridCol>
                <a:gridCol w="521001">
                  <a:extLst>
                    <a:ext uri="{9D8B030D-6E8A-4147-A177-3AD203B41FA5}">
                      <a16:colId xmlns:a16="http://schemas.microsoft.com/office/drawing/2014/main" val="2449943958"/>
                    </a:ext>
                  </a:extLst>
                </a:gridCol>
                <a:gridCol w="619410">
                  <a:extLst>
                    <a:ext uri="{9D8B030D-6E8A-4147-A177-3AD203B41FA5}">
                      <a16:colId xmlns:a16="http://schemas.microsoft.com/office/drawing/2014/main" val="3241406068"/>
                    </a:ext>
                  </a:extLst>
                </a:gridCol>
                <a:gridCol w="619410">
                  <a:extLst>
                    <a:ext uri="{9D8B030D-6E8A-4147-A177-3AD203B41FA5}">
                      <a16:colId xmlns:a16="http://schemas.microsoft.com/office/drawing/2014/main" val="1541813034"/>
                    </a:ext>
                  </a:extLst>
                </a:gridCol>
                <a:gridCol w="619410">
                  <a:extLst>
                    <a:ext uri="{9D8B030D-6E8A-4147-A177-3AD203B41FA5}">
                      <a16:colId xmlns:a16="http://schemas.microsoft.com/office/drawing/2014/main" val="439975108"/>
                    </a:ext>
                  </a:extLst>
                </a:gridCol>
                <a:gridCol w="706395">
                  <a:extLst>
                    <a:ext uri="{9D8B030D-6E8A-4147-A177-3AD203B41FA5}">
                      <a16:colId xmlns:a16="http://schemas.microsoft.com/office/drawing/2014/main" val="4266199047"/>
                    </a:ext>
                  </a:extLst>
                </a:gridCol>
                <a:gridCol w="532428">
                  <a:extLst>
                    <a:ext uri="{9D8B030D-6E8A-4147-A177-3AD203B41FA5}">
                      <a16:colId xmlns:a16="http://schemas.microsoft.com/office/drawing/2014/main" val="700621554"/>
                    </a:ext>
                  </a:extLst>
                </a:gridCol>
                <a:gridCol w="619410">
                  <a:extLst>
                    <a:ext uri="{9D8B030D-6E8A-4147-A177-3AD203B41FA5}">
                      <a16:colId xmlns:a16="http://schemas.microsoft.com/office/drawing/2014/main" val="1149588615"/>
                    </a:ext>
                  </a:extLst>
                </a:gridCol>
                <a:gridCol w="619410">
                  <a:extLst>
                    <a:ext uri="{9D8B030D-6E8A-4147-A177-3AD203B41FA5}">
                      <a16:colId xmlns:a16="http://schemas.microsoft.com/office/drawing/2014/main" val="2273608623"/>
                    </a:ext>
                  </a:extLst>
                </a:gridCol>
                <a:gridCol w="619410">
                  <a:extLst>
                    <a:ext uri="{9D8B030D-6E8A-4147-A177-3AD203B41FA5}">
                      <a16:colId xmlns:a16="http://schemas.microsoft.com/office/drawing/2014/main" val="1983320277"/>
                    </a:ext>
                  </a:extLst>
                </a:gridCol>
                <a:gridCol w="619410">
                  <a:extLst>
                    <a:ext uri="{9D8B030D-6E8A-4147-A177-3AD203B41FA5}">
                      <a16:colId xmlns:a16="http://schemas.microsoft.com/office/drawing/2014/main" val="3029482529"/>
                    </a:ext>
                  </a:extLst>
                </a:gridCol>
              </a:tblGrid>
              <a:tr h="200759">
                <a:tc>
                  <a:txBody>
                    <a:bodyPr/>
                    <a:lstStyle/>
                    <a:p>
                      <a:pPr algn="ctr">
                        <a:lnSpc>
                          <a:spcPct val="100000"/>
                        </a:lnSpc>
                      </a:pPr>
                      <a:endParaRPr lang="en-US" altLang="zh-TW" sz="1800" dirty="0">
                        <a:latin typeface="Times New Roman" panose="02020603050405020304" pitchFamily="18" charset="0"/>
                        <a:cs typeface="Times New Roman" panose="02020603050405020304" pitchFamily="18" charset="0"/>
                      </a:endParaRPr>
                    </a:p>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1</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j-1-K</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j-1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err="1">
                          <a:latin typeface="Times New Roman" panose="02020603050405020304" pitchFamily="18" charset="0"/>
                          <a:cs typeface="Times New Roman" panose="02020603050405020304" pitchFamily="18" charset="0"/>
                        </a:rPr>
                        <a:t>Y</a:t>
                      </a:r>
                      <a:r>
                        <a:rPr lang="en-US" altLang="zh-TW" sz="1800" baseline="-25000" dirty="0" err="1">
                          <a:latin typeface="Times New Roman" panose="02020603050405020304" pitchFamily="18" charset="0"/>
                          <a:cs typeface="Times New Roman" panose="02020603050405020304" pitchFamily="18" charset="0"/>
                        </a:rPr>
                        <a:t>j</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err="1">
                          <a:latin typeface="Times New Roman" panose="02020603050405020304" pitchFamily="18" charset="0"/>
                          <a:cs typeface="Times New Roman" panose="02020603050405020304" pitchFamily="18" charset="0"/>
                        </a:rPr>
                        <a:t>Y</a:t>
                      </a:r>
                      <a:r>
                        <a:rPr lang="en-US" altLang="zh-TW" sz="1800" baseline="-25000" dirty="0" err="1">
                          <a:latin typeface="Times New Roman" panose="02020603050405020304" pitchFamily="18" charset="0"/>
                          <a:cs typeface="Times New Roman" panose="02020603050405020304" pitchFamily="18" charset="0"/>
                        </a:rPr>
                        <a:t>n</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extLst>
                  <a:ext uri="{0D108BD9-81ED-4DB2-BD59-A6C34878D82A}">
                    <a16:rowId xmlns:a16="http://schemas.microsoft.com/office/drawing/2014/main" val="3990454840"/>
                  </a:ext>
                </a:extLst>
              </a:tr>
              <a:tr h="280075">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bg1"/>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662905682"/>
                  </a:ext>
                </a:extLst>
              </a:tr>
              <a:tr h="280075">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4229735210"/>
                  </a:ext>
                </a:extLst>
              </a:tr>
              <a:tr h="2800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1920045357"/>
                  </a:ext>
                </a:extLst>
              </a:tr>
              <a:tr h="280075">
                <a:tc>
                  <a:txBody>
                    <a:bodyPr/>
                    <a:lstStyle/>
                    <a:p>
                      <a:pPr algn="ctr">
                        <a:lnSpc>
                          <a:spcPct val="100000"/>
                        </a:lnSpc>
                      </a:pPr>
                      <a:r>
                        <a:rPr lang="zh-TW" altLang="en-US" sz="1800" b="0" i="0" kern="1200" dirty="0">
                          <a:solidFill>
                            <a:schemeClr val="tx1"/>
                          </a:solidFill>
                          <a:effectLst/>
                          <a:latin typeface="+mn-lt"/>
                          <a:ea typeface="+mn-ea"/>
                          <a:cs typeface="+mn-cs"/>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596059960"/>
                  </a:ext>
                </a:extLst>
              </a:tr>
              <a:tr h="280075">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i-1-K</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650435379"/>
                  </a:ext>
                </a:extLst>
              </a:tr>
              <a:tr h="280075">
                <a:tc>
                  <a:txBody>
                    <a:bodyPr/>
                    <a:lstStyle/>
                    <a:p>
                      <a:pPr algn="ctr">
                        <a:lnSpc>
                          <a:spcPct val="100000"/>
                        </a:lnSpc>
                      </a:pPr>
                      <a:r>
                        <a:rPr lang="zh-TW" altLang="en-US" sz="1800" b="0" i="0" kern="1200" dirty="0">
                          <a:solidFill>
                            <a:schemeClr val="tx1"/>
                          </a:solidFill>
                          <a:effectLst/>
                          <a:latin typeface="+mn-lt"/>
                          <a:ea typeface="+mn-ea"/>
                          <a:cs typeface="+mn-cs"/>
                        </a:rPr>
                        <a:t>⋮</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1222648316"/>
                  </a:ext>
                </a:extLst>
              </a:tr>
              <a:tr h="280075">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909335467"/>
                  </a:ext>
                </a:extLst>
              </a:tr>
              <a:tr h="280075">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i</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TlToBr w="12700" cmpd="sng">
                      <a:noFill/>
                      <a:prstDash val="solid"/>
                    </a:lnTlToBr>
                    <a:lnBlToTr w="12700" cmpd="sng">
                      <a:noFill/>
                      <a:prstDash val="solid"/>
                    </a:lnBlTo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a:lnSpc>
                          <a:spcPct val="100000"/>
                        </a:lnSpc>
                      </a:pPr>
                      <a:r>
                        <a:rPr lang="zh-TW" altLang="en-US" sz="1800" dirty="0">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no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248359388"/>
                  </a:ext>
                </a:extLst>
              </a:tr>
              <a:tr h="280075">
                <a:tc>
                  <a:txBody>
                    <a:bodyPr/>
                    <a:lstStyle/>
                    <a:p>
                      <a:pPr algn="ctr">
                        <a:lnSpc>
                          <a:spcPct val="100000"/>
                        </a:lnSpc>
                      </a:pPr>
                      <a:r>
                        <a:rPr lang="zh-TW" altLang="en-US" sz="1800" b="0" i="0" kern="1200" dirty="0">
                          <a:solidFill>
                            <a:schemeClr val="tx1"/>
                          </a:solidFill>
                          <a:effectLst/>
                          <a:latin typeface="+mn-lt"/>
                          <a:ea typeface="+mn-ea"/>
                          <a:cs typeface="+mn-cs"/>
                        </a:rPr>
                        <a:t>⋮</a:t>
                      </a:r>
                      <a:endParaRPr lang="en-US" altLang="zh-TW" sz="1800" baseline="-250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147665150"/>
                  </a:ext>
                </a:extLst>
              </a:tr>
              <a:tr h="280075">
                <a:tc>
                  <a:txBody>
                    <a:bodyPr/>
                    <a:lstStyle/>
                    <a:p>
                      <a:pPr algn="ctr">
                        <a:lnSpc>
                          <a:spcPct val="100000"/>
                        </a:lnSpc>
                      </a:pPr>
                      <a:r>
                        <a:rPr lang="en-US" altLang="zh-TW" sz="1800" dirty="0" err="1">
                          <a:latin typeface="Times New Roman" panose="02020603050405020304" pitchFamily="18" charset="0"/>
                          <a:cs typeface="Times New Roman" panose="02020603050405020304" pitchFamily="18" charset="0"/>
                        </a:rPr>
                        <a:t>X</a:t>
                      </a:r>
                      <a:r>
                        <a:rPr lang="en-US" altLang="zh-TW" sz="1800" baseline="-25000" dirty="0" err="1">
                          <a:latin typeface="Times New Roman" panose="02020603050405020304" pitchFamily="18" charset="0"/>
                          <a:cs typeface="Times New Roman" panose="02020603050405020304" pitchFamily="18" charset="0"/>
                        </a:rPr>
                        <a:t>n</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51377310"/>
                  </a:ext>
                </a:extLst>
              </a:tr>
            </a:tbl>
          </a:graphicData>
        </a:graphic>
      </p:graphicFrame>
      <p:sp>
        <p:nvSpPr>
          <p:cNvPr id="17" name="左大括弧 16">
            <a:extLst>
              <a:ext uri="{FF2B5EF4-FFF2-40B4-BE49-F238E27FC236}">
                <a16:creationId xmlns:a16="http://schemas.microsoft.com/office/drawing/2014/main" id="{381AAA85-241E-4929-AAED-E525470FA80E}"/>
              </a:ext>
            </a:extLst>
          </p:cNvPr>
          <p:cNvSpPr/>
          <p:nvPr/>
        </p:nvSpPr>
        <p:spPr>
          <a:xfrm>
            <a:off x="4853814" y="4125119"/>
            <a:ext cx="247500" cy="910514"/>
          </a:xfrm>
          <a:prstGeom prst="lef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Tree>
    <p:extLst>
      <p:ext uri="{BB962C8B-B14F-4D97-AF65-F5344CB8AC3E}">
        <p14:creationId xmlns:p14="http://schemas.microsoft.com/office/powerpoint/2010/main" val="2292543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RIFIG (LCS Problem with Rigid Fixed Gap)</a:t>
            </a:r>
            <a:endParaRPr lang="en-US" altLang="zh-TW" spc="-1" dirty="0">
              <a:solidFill>
                <a:srgbClr val="000000"/>
              </a:solidFill>
              <a:latin typeface="Times New Roman" pitchFamily="18" charset="0"/>
              <a:cs typeface="Times New Roman" pitchFamily="18" charset="0"/>
            </a:endParaRPr>
          </a:p>
        </p:txBody>
      </p:sp>
      <p:grpSp>
        <p:nvGrpSpPr>
          <p:cNvPr id="13" name="群組 12">
            <a:extLst>
              <a:ext uri="{FF2B5EF4-FFF2-40B4-BE49-F238E27FC236}">
                <a16:creationId xmlns:a16="http://schemas.microsoft.com/office/drawing/2014/main" id="{79791CDD-EF06-44F1-BD3A-5EDF4D6D07F4}"/>
              </a:ext>
            </a:extLst>
          </p:cNvPr>
          <p:cNvGrpSpPr/>
          <p:nvPr/>
        </p:nvGrpSpPr>
        <p:grpSpPr>
          <a:xfrm>
            <a:off x="76016" y="3971926"/>
            <a:ext cx="6534334" cy="2520950"/>
            <a:chOff x="1214243" y="3225743"/>
            <a:chExt cx="9796656" cy="3267132"/>
          </a:xfrm>
        </p:grpSpPr>
        <p:pic>
          <p:nvPicPr>
            <p:cNvPr id="7" name="圖片 6" descr="一張含有 文字 的圖片&#10;&#10;自動產生的描述">
              <a:extLst>
                <a:ext uri="{FF2B5EF4-FFF2-40B4-BE49-F238E27FC236}">
                  <a16:creationId xmlns:a16="http://schemas.microsoft.com/office/drawing/2014/main" id="{FF9624F9-B48D-408A-B5F8-47FF32613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4243" y="3225743"/>
              <a:ext cx="9763514" cy="3267132"/>
            </a:xfrm>
            <a:prstGeom prst="rect">
              <a:avLst/>
            </a:prstGeom>
          </p:spPr>
        </p:pic>
        <p:cxnSp>
          <p:nvCxnSpPr>
            <p:cNvPr id="9" name="直線接點 8">
              <a:extLst>
                <a:ext uri="{FF2B5EF4-FFF2-40B4-BE49-F238E27FC236}">
                  <a16:creationId xmlns:a16="http://schemas.microsoft.com/office/drawing/2014/main" id="{0E5EC58F-6AAA-47FD-80C6-0B039A6C51F4}"/>
                </a:ext>
              </a:extLst>
            </p:cNvPr>
            <p:cNvCxnSpPr/>
            <p:nvPr/>
          </p:nvCxnSpPr>
          <p:spPr>
            <a:xfrm>
              <a:off x="3086100" y="3629025"/>
              <a:ext cx="791527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F13479F4-30D3-4DCA-B0D8-A583A8F56771}"/>
                </a:ext>
              </a:extLst>
            </p:cNvPr>
            <p:cNvCxnSpPr/>
            <p:nvPr/>
          </p:nvCxnSpPr>
          <p:spPr>
            <a:xfrm>
              <a:off x="3095624" y="4419600"/>
              <a:ext cx="791527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4BAA0382-5FD0-41E3-9E1D-C0238FBDA407}"/>
                </a:ext>
              </a:extLst>
            </p:cNvPr>
            <p:cNvCxnSpPr/>
            <p:nvPr/>
          </p:nvCxnSpPr>
          <p:spPr>
            <a:xfrm>
              <a:off x="3095624" y="4848225"/>
              <a:ext cx="791527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直線接點 11">
              <a:extLst>
                <a:ext uri="{FF2B5EF4-FFF2-40B4-BE49-F238E27FC236}">
                  <a16:creationId xmlns:a16="http://schemas.microsoft.com/office/drawing/2014/main" id="{7BF3F62F-E423-4A99-A207-8FD5BF2A738D}"/>
                </a:ext>
              </a:extLst>
            </p:cNvPr>
            <p:cNvCxnSpPr/>
            <p:nvPr/>
          </p:nvCxnSpPr>
          <p:spPr>
            <a:xfrm>
              <a:off x="3095624" y="5667375"/>
              <a:ext cx="7915275"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 name="群組 4">
            <a:extLst>
              <a:ext uri="{FF2B5EF4-FFF2-40B4-BE49-F238E27FC236}">
                <a16:creationId xmlns:a16="http://schemas.microsoft.com/office/drawing/2014/main" id="{F1BD4F00-19EB-4341-A4C9-D96D79487037}"/>
              </a:ext>
            </a:extLst>
          </p:cNvPr>
          <p:cNvGrpSpPr/>
          <p:nvPr/>
        </p:nvGrpSpPr>
        <p:grpSpPr>
          <a:xfrm>
            <a:off x="6734734" y="1616074"/>
            <a:ext cx="5433351" cy="3241861"/>
            <a:chOff x="4714875" y="1450917"/>
            <a:chExt cx="5433351" cy="3241861"/>
          </a:xfrm>
        </p:grpSpPr>
        <p:graphicFrame>
          <p:nvGraphicFramePr>
            <p:cNvPr id="16" name="內容版面配置區 3">
              <a:extLst>
                <a:ext uri="{FF2B5EF4-FFF2-40B4-BE49-F238E27FC236}">
                  <a16:creationId xmlns:a16="http://schemas.microsoft.com/office/drawing/2014/main" id="{C339842C-BBC5-4626-A086-6522637F3F59}"/>
                </a:ext>
              </a:extLst>
            </p:cNvPr>
            <p:cNvGraphicFramePr>
              <a:graphicFrameLocks/>
            </p:cNvGraphicFramePr>
            <p:nvPr>
              <p:extLst>
                <p:ext uri="{D42A27DB-BD31-4B8C-83A1-F6EECF244321}">
                  <p14:modId xmlns:p14="http://schemas.microsoft.com/office/powerpoint/2010/main" val="2788615672"/>
                </p:ext>
              </p:extLst>
            </p:nvPr>
          </p:nvGraphicFramePr>
          <p:xfrm>
            <a:off x="5192940" y="1450917"/>
            <a:ext cx="4955286" cy="3108880"/>
          </p:xfrm>
          <a:graphic>
            <a:graphicData uri="http://schemas.openxmlformats.org/drawingml/2006/table">
              <a:tbl>
                <a:tblPr firstRow="1" bandRow="1">
                  <a:noFill/>
                  <a:tableStyleId>{5940675A-B579-460E-94D1-54222C63F5DA}</a:tableStyleId>
                </a:tblPr>
                <a:tblGrid>
                  <a:gridCol w="717822">
                    <a:extLst>
                      <a:ext uri="{9D8B030D-6E8A-4147-A177-3AD203B41FA5}">
                        <a16:colId xmlns:a16="http://schemas.microsoft.com/office/drawing/2014/main" val="3630319676"/>
                      </a:ext>
                    </a:extLst>
                  </a:gridCol>
                  <a:gridCol w="521001">
                    <a:extLst>
                      <a:ext uri="{9D8B030D-6E8A-4147-A177-3AD203B41FA5}">
                        <a16:colId xmlns:a16="http://schemas.microsoft.com/office/drawing/2014/main" val="2449943958"/>
                      </a:ext>
                    </a:extLst>
                  </a:gridCol>
                  <a:gridCol w="619410">
                    <a:extLst>
                      <a:ext uri="{9D8B030D-6E8A-4147-A177-3AD203B41FA5}">
                        <a16:colId xmlns:a16="http://schemas.microsoft.com/office/drawing/2014/main" val="3241406068"/>
                      </a:ext>
                    </a:extLst>
                  </a:gridCol>
                  <a:gridCol w="619410">
                    <a:extLst>
                      <a:ext uri="{9D8B030D-6E8A-4147-A177-3AD203B41FA5}">
                        <a16:colId xmlns:a16="http://schemas.microsoft.com/office/drawing/2014/main" val="1541813034"/>
                      </a:ext>
                    </a:extLst>
                  </a:gridCol>
                  <a:gridCol w="619410">
                    <a:extLst>
                      <a:ext uri="{9D8B030D-6E8A-4147-A177-3AD203B41FA5}">
                        <a16:colId xmlns:a16="http://schemas.microsoft.com/office/drawing/2014/main" val="439975108"/>
                      </a:ext>
                    </a:extLst>
                  </a:gridCol>
                  <a:gridCol w="706395">
                    <a:extLst>
                      <a:ext uri="{9D8B030D-6E8A-4147-A177-3AD203B41FA5}">
                        <a16:colId xmlns:a16="http://schemas.microsoft.com/office/drawing/2014/main" val="4266199047"/>
                      </a:ext>
                    </a:extLst>
                  </a:gridCol>
                  <a:gridCol w="532428">
                    <a:extLst>
                      <a:ext uri="{9D8B030D-6E8A-4147-A177-3AD203B41FA5}">
                        <a16:colId xmlns:a16="http://schemas.microsoft.com/office/drawing/2014/main" val="700621554"/>
                      </a:ext>
                    </a:extLst>
                  </a:gridCol>
                  <a:gridCol w="619410">
                    <a:extLst>
                      <a:ext uri="{9D8B030D-6E8A-4147-A177-3AD203B41FA5}">
                        <a16:colId xmlns:a16="http://schemas.microsoft.com/office/drawing/2014/main" val="1149588615"/>
                      </a:ext>
                    </a:extLst>
                  </a:gridCol>
                </a:tblGrid>
                <a:tr h="136690">
                  <a:tc>
                    <a:txBody>
                      <a:bodyPr/>
                      <a:lstStyle/>
                      <a:p>
                        <a:pPr algn="ctr">
                          <a:lnSpc>
                            <a:spcPct val="100000"/>
                          </a:lnSpc>
                        </a:pPr>
                        <a:endParaRPr lang="en-US" altLang="zh-TW" sz="1800" dirty="0">
                          <a:latin typeface="Times New Roman" panose="02020603050405020304" pitchFamily="18" charset="0"/>
                          <a:cs typeface="Times New Roman" panose="02020603050405020304" pitchFamily="18" charset="0"/>
                        </a:endParaRPr>
                      </a:p>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1</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3</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4</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5</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Y</a:t>
                        </a:r>
                        <a:r>
                          <a:rPr lang="en-US" altLang="zh-TW" sz="1800" baseline="-25000" dirty="0">
                            <a:latin typeface="Times New Roman" panose="02020603050405020304" pitchFamily="18" charset="0"/>
                            <a:cs typeface="Times New Roman" panose="02020603050405020304" pitchFamily="18" charset="0"/>
                          </a:rPr>
                          <a:t>6</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extLst>
                    <a:ext uri="{0D108BD9-81ED-4DB2-BD59-A6C34878D82A}">
                      <a16:rowId xmlns:a16="http://schemas.microsoft.com/office/drawing/2014/main" val="3990454840"/>
                    </a:ext>
                  </a:extLst>
                </a:tr>
                <a:tr h="280075">
                  <a:tc>
                    <a:txBody>
                      <a:bodyPr/>
                      <a:lstStyle/>
                      <a:p>
                        <a:pPr algn="ctr">
                          <a:lnSpc>
                            <a:spcPct val="100000"/>
                          </a:lnSpc>
                        </a:pPr>
                        <a:endParaRPr lang="zh-TW" altLang="en-US" sz="1800" dirty="0"/>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bg1"/>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2662905682"/>
                    </a:ext>
                  </a:extLst>
                </a:tr>
                <a:tr h="280075">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1</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800" dirty="0">
                            <a:latin typeface="Times New Roman" panose="02020603050405020304" pitchFamily="18" charset="0"/>
                            <a:cs typeface="Times New Roman" panose="02020603050405020304" pitchFamily="18" charset="0"/>
                          </a:rPr>
                          <a:t>●</a:t>
                        </a:r>
                      </a:p>
                    </a:txBody>
                    <a:tcPr marL="80000" marR="80000" marT="40000" marB="40000" anchor="ctr">
                      <a:solidFill>
                        <a:srgbClr val="FFC000"/>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4229735210"/>
                    </a:ext>
                  </a:extLst>
                </a:tr>
                <a:tr h="28007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2</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rgbClr val="FFC000"/>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extLst>
                    <a:ext uri="{0D108BD9-81ED-4DB2-BD59-A6C34878D82A}">
                      <a16:rowId xmlns:a16="http://schemas.microsoft.com/office/drawing/2014/main" val="1920045357"/>
                    </a:ext>
                  </a:extLst>
                </a:tr>
                <a:tr h="280075">
                  <a:tc>
                    <a:txBody>
                      <a:bodyPr/>
                      <a:lstStyle/>
                      <a:p>
                        <a:pPr algn="ctr">
                          <a:lnSpc>
                            <a:spcPct val="100000"/>
                          </a:lnSpc>
                        </a:pPr>
                        <a:r>
                          <a:rPr lang="en-US" altLang="zh-TW" sz="1800" b="0" i="0" kern="1200" dirty="0">
                            <a:solidFill>
                              <a:schemeClr val="tx1"/>
                            </a:solidFill>
                            <a:effectLst/>
                            <a:latin typeface="+mn-lt"/>
                            <a:ea typeface="+mn-ea"/>
                            <a:cs typeface="+mn-cs"/>
                          </a:rPr>
                          <a:t>X</a:t>
                        </a:r>
                        <a:r>
                          <a:rPr lang="en-US" altLang="zh-TW" sz="1800" b="0" i="0" kern="1200" baseline="-25000" dirty="0">
                            <a:solidFill>
                              <a:schemeClr val="tx1"/>
                            </a:solidFill>
                            <a:effectLst/>
                            <a:latin typeface="+mn-lt"/>
                            <a:ea typeface="+mn-ea"/>
                            <a:cs typeface="+mn-cs"/>
                          </a:rPr>
                          <a:t>3</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800" dirty="0">
                            <a:latin typeface="Times New Roman" panose="02020603050405020304" pitchFamily="18" charset="0"/>
                            <a:cs typeface="Times New Roman" panose="02020603050405020304" pitchFamily="18" charset="0"/>
                          </a:rPr>
                          <a:t>●</a:t>
                        </a:r>
                      </a:p>
                    </a:txBody>
                    <a:tcPr marL="80000" marR="80000" marT="40000" marB="40000" anchor="ctr">
                      <a:solidFill>
                        <a:srgbClr val="FFC000"/>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6059960"/>
                    </a:ext>
                  </a:extLst>
                </a:tr>
                <a:tr h="280075">
                  <a:tc>
                    <a:txBody>
                      <a:bodyPr/>
                      <a:lstStyle/>
                      <a:p>
                        <a:pPr algn="ctr">
                          <a:lnSpc>
                            <a:spcPct val="100000"/>
                          </a:lnSpc>
                        </a:pPr>
                        <a:r>
                          <a:rPr lang="en-US" altLang="zh-TW" sz="1800" baseline="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4</a:t>
                        </a:r>
                        <a:endParaRPr lang="zh-TW" altLang="en-US" sz="1800" baseline="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435379"/>
                    </a:ext>
                  </a:extLst>
                </a:tr>
                <a:tr h="280075">
                  <a:tc>
                    <a:txBody>
                      <a:bodyPr/>
                      <a:lstStyle/>
                      <a:p>
                        <a:pPr algn="ctr">
                          <a:lnSpc>
                            <a:spcPct val="100000"/>
                          </a:lnSpc>
                        </a:pPr>
                        <a:r>
                          <a:rPr lang="en-US" altLang="zh-TW" sz="1800" b="0" i="0" kern="1200" dirty="0">
                            <a:solidFill>
                              <a:schemeClr val="tx1"/>
                            </a:solidFill>
                            <a:effectLst/>
                            <a:latin typeface="+mn-lt"/>
                            <a:ea typeface="+mn-ea"/>
                            <a:cs typeface="+mn-cs"/>
                          </a:rPr>
                          <a:t>X</a:t>
                        </a:r>
                        <a:r>
                          <a:rPr lang="en-US" altLang="zh-TW" sz="1800" b="0" i="0" kern="1200" baseline="-25000" dirty="0">
                            <a:solidFill>
                              <a:schemeClr val="tx1"/>
                            </a:solidFill>
                            <a:effectLst/>
                            <a:latin typeface="+mn-lt"/>
                            <a:ea typeface="+mn-ea"/>
                            <a:cs typeface="+mn-cs"/>
                          </a:rPr>
                          <a:t>5</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22648316"/>
                    </a:ext>
                  </a:extLst>
                </a:tr>
                <a:tr h="280075">
                  <a:tc>
                    <a:txBody>
                      <a:bodyPr/>
                      <a:lstStyle/>
                      <a:p>
                        <a:pPr algn="ctr">
                          <a:lnSpc>
                            <a:spcPct val="100000"/>
                          </a:lnSpc>
                        </a:pPr>
                        <a:r>
                          <a:rPr lang="en-US" altLang="zh-TW" sz="1800" dirty="0">
                            <a:latin typeface="Times New Roman" panose="02020603050405020304" pitchFamily="18" charset="0"/>
                            <a:cs typeface="Times New Roman" panose="02020603050405020304" pitchFamily="18" charset="0"/>
                          </a:rPr>
                          <a:t>X</a:t>
                        </a:r>
                        <a:r>
                          <a:rPr lang="en-US" altLang="zh-TW" sz="1800" baseline="-25000" dirty="0">
                            <a:latin typeface="Times New Roman" panose="02020603050405020304" pitchFamily="18" charset="0"/>
                            <a:cs typeface="Times New Roman" panose="02020603050405020304" pitchFamily="18" charset="0"/>
                          </a:rPr>
                          <a:t>6</a:t>
                        </a: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solidFill>
                        <a:schemeClr val="accent1">
                          <a:lumMod val="40000"/>
                          <a:lumOff val="60000"/>
                        </a:schemeClr>
                      </a:solidFill>
                    </a:tcP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tc>
                  <a:tc>
                    <a:txBody>
                      <a:bodyPr/>
                      <a:lstStyle/>
                      <a:p>
                        <a:pPr algn="ctr">
                          <a:lnSpc>
                            <a:spcPct val="100000"/>
                          </a:lnSpc>
                        </a:pPr>
                        <a:endParaRPr lang="zh-TW" altLang="en-US" sz="1800" dirty="0">
                          <a:latin typeface="Times New Roman" panose="02020603050405020304" pitchFamily="18" charset="0"/>
                          <a:cs typeface="Times New Roman" panose="02020603050405020304" pitchFamily="18" charset="0"/>
                        </a:endParaRPr>
                      </a:p>
                    </a:txBody>
                    <a:tcPr marL="80000" marR="80000" marT="40000" marB="40000" anchor="ctr">
                      <a:lnR w="12700" cap="flat" cmpd="sng" algn="ctr">
                        <a:solidFill>
                          <a:schemeClr val="tx1"/>
                        </a:solidFill>
                        <a:prstDash val="solid"/>
                        <a:round/>
                        <a:headEnd type="none" w="med" len="med"/>
                        <a:tailEnd type="none" w="med" len="med"/>
                      </a:lnR>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pPr>
                        <a:endParaRPr lang="zh-TW" altLang="en-US" sz="1800" dirty="0">
                          <a:solidFill>
                            <a:srgbClr val="FF0000"/>
                          </a:solidFill>
                          <a:latin typeface="Times New Roman" panose="02020603050405020304" pitchFamily="18" charset="0"/>
                          <a:cs typeface="Times New Roman" panose="02020603050405020304" pitchFamily="18" charset="0"/>
                        </a:endParaRP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en-US" sz="1800" dirty="0">
                            <a:latin typeface="Times New Roman" panose="02020603050405020304" pitchFamily="18" charset="0"/>
                            <a:cs typeface="Times New Roman" panose="02020603050405020304" pitchFamily="18" charset="0"/>
                          </a:rPr>
                          <a:t>●</a:t>
                        </a:r>
                      </a:p>
                    </a:txBody>
                    <a:tcPr marL="80000" marR="80000" marT="40000" marB="40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extLst>
                    <a:ext uri="{0D108BD9-81ED-4DB2-BD59-A6C34878D82A}">
                      <a16:rowId xmlns:a16="http://schemas.microsoft.com/office/drawing/2014/main" val="909335467"/>
                    </a:ext>
                  </a:extLst>
                </a:tr>
              </a:tbl>
            </a:graphicData>
          </a:graphic>
        </p:graphicFrame>
        <p:sp>
          <p:nvSpPr>
            <p:cNvPr id="4" name="文字方塊 3">
              <a:extLst>
                <a:ext uri="{FF2B5EF4-FFF2-40B4-BE49-F238E27FC236}">
                  <a16:creationId xmlns:a16="http://schemas.microsoft.com/office/drawing/2014/main" id="{045D59A1-8F27-44C5-8879-7B3A5212B8C5}"/>
                </a:ext>
              </a:extLst>
            </p:cNvPr>
            <p:cNvSpPr txBox="1"/>
            <p:nvPr/>
          </p:nvSpPr>
          <p:spPr>
            <a:xfrm>
              <a:off x="4714875" y="2384454"/>
              <a:ext cx="590550" cy="2308324"/>
            </a:xfrm>
            <a:prstGeom prst="rect">
              <a:avLst/>
            </a:prstGeom>
            <a:noFill/>
          </p:spPr>
          <p:txBody>
            <a:bodyPr wrap="square" rtlCol="0">
              <a:spAutoFit/>
            </a:bodyPr>
            <a:lstStyle/>
            <a:p>
              <a:r>
                <a:rPr lang="en-US" altLang="zh-TW" sz="2400" dirty="0">
                  <a:solidFill>
                    <a:srgbClr val="FF0000"/>
                  </a:solidFill>
                </a:rPr>
                <a:t>2</a:t>
              </a:r>
            </a:p>
            <a:p>
              <a:r>
                <a:rPr lang="en-US" altLang="zh-TW" sz="2400" dirty="0">
                  <a:solidFill>
                    <a:srgbClr val="FF0000"/>
                  </a:solidFill>
                </a:rPr>
                <a:t>1</a:t>
              </a:r>
            </a:p>
            <a:p>
              <a:r>
                <a:rPr lang="en-US" altLang="zh-TW" sz="2400" dirty="0">
                  <a:solidFill>
                    <a:srgbClr val="FF0000"/>
                  </a:solidFill>
                </a:rPr>
                <a:t>4</a:t>
              </a:r>
            </a:p>
            <a:p>
              <a:r>
                <a:rPr lang="en-US" altLang="zh-TW" sz="2400" dirty="0">
                  <a:solidFill>
                    <a:srgbClr val="FF0000"/>
                  </a:solidFill>
                </a:rPr>
                <a:t>3</a:t>
              </a:r>
            </a:p>
            <a:p>
              <a:r>
                <a:rPr lang="en-US" altLang="zh-TW" sz="2400" dirty="0">
                  <a:solidFill>
                    <a:srgbClr val="FF0000"/>
                  </a:solidFill>
                </a:rPr>
                <a:t>0</a:t>
              </a:r>
            </a:p>
            <a:p>
              <a:r>
                <a:rPr lang="en-US" altLang="zh-TW" sz="2400" dirty="0">
                  <a:solidFill>
                    <a:srgbClr val="FF0000"/>
                  </a:solidFill>
                </a:rPr>
                <a:t>2</a:t>
              </a:r>
              <a:endParaRPr lang="zh-TW" altLang="en-US" sz="2400" dirty="0">
                <a:solidFill>
                  <a:srgbClr val="FF0000"/>
                </a:solidFill>
              </a:endParaRPr>
            </a:p>
          </p:txBody>
        </p:sp>
      </p:grpSp>
      <p:sp>
        <p:nvSpPr>
          <p:cNvPr id="15" name="內容版面配置區 2">
            <a:extLst>
              <a:ext uri="{FF2B5EF4-FFF2-40B4-BE49-F238E27FC236}">
                <a16:creationId xmlns:a16="http://schemas.microsoft.com/office/drawing/2014/main" id="{ACFC25CF-A951-4A3A-8744-335611CD079B}"/>
              </a:ext>
            </a:extLst>
          </p:cNvPr>
          <p:cNvSpPr>
            <a:spLocks noGrp="1"/>
          </p:cNvSpPr>
          <p:nvPr>
            <p:ph idx="1"/>
          </p:nvPr>
        </p:nvSpPr>
        <p:spPr>
          <a:xfrm>
            <a:off x="838200" y="1825625"/>
            <a:ext cx="10515600" cy="4351338"/>
          </a:xfrm>
        </p:spPr>
        <p:txBody>
          <a:bodyPr>
            <a:normAutofit/>
          </a:bodyPr>
          <a:lstStyle/>
          <a:p>
            <a:pPr marL="343080" indent="-342720">
              <a:spcBef>
                <a:spcPts val="561"/>
              </a:spcBef>
              <a:buClr>
                <a:srgbClr val="000000"/>
              </a:buClr>
              <a:buFont typeface="Arial"/>
              <a:buChar char="•"/>
            </a:pPr>
            <a:r>
              <a:rPr lang="en-US" altLang="zh-TW" dirty="0"/>
              <a:t>K-modulo arithmetic</a:t>
            </a:r>
          </a:p>
          <a:p>
            <a:pPr marL="343080" indent="-342720">
              <a:spcBef>
                <a:spcPts val="561"/>
              </a:spcBef>
              <a:buClr>
                <a:srgbClr val="000000"/>
              </a:buClr>
              <a:buFont typeface="Arial"/>
              <a:buChar char="•"/>
            </a:pPr>
            <a:r>
              <a:rPr lang="pt-BR" altLang="zh-TW" dirty="0"/>
              <a:t>solved in O(n</a:t>
            </a:r>
            <a:r>
              <a:rPr lang="pt-BR" altLang="zh-TW" baseline="30000" dirty="0"/>
              <a:t>2</a:t>
            </a:r>
            <a:r>
              <a:rPr lang="pt-BR" altLang="zh-TW" dirty="0"/>
              <a:t>) </a:t>
            </a:r>
            <a:endParaRPr lang="en-US" altLang="zh-TW" dirty="0">
              <a:latin typeface="Times New Roman" panose="02020603050405020304" pitchFamily="18" charset="0"/>
            </a:endParaRPr>
          </a:p>
        </p:txBody>
      </p:sp>
      <p:sp>
        <p:nvSpPr>
          <p:cNvPr id="14" name="文字方塊 13">
            <a:extLst>
              <a:ext uri="{FF2B5EF4-FFF2-40B4-BE49-F238E27FC236}">
                <a16:creationId xmlns:a16="http://schemas.microsoft.com/office/drawing/2014/main" id="{424E81E6-17D6-4AAD-B7ED-DB5B3295FA8A}"/>
              </a:ext>
            </a:extLst>
          </p:cNvPr>
          <p:cNvSpPr txBox="1"/>
          <p:nvPr/>
        </p:nvSpPr>
        <p:spPr>
          <a:xfrm>
            <a:off x="9394260" y="4770736"/>
            <a:ext cx="1466850" cy="461665"/>
          </a:xfrm>
          <a:prstGeom prst="rect">
            <a:avLst/>
          </a:prstGeom>
          <a:noFill/>
        </p:spPr>
        <p:txBody>
          <a:bodyPr wrap="square" rtlCol="0">
            <a:spAutoFit/>
          </a:bodyPr>
          <a:lstStyle/>
          <a:p>
            <a:r>
              <a:rPr lang="en-US" altLang="zh-TW" sz="2400" dirty="0"/>
              <a:t>K = 2</a:t>
            </a:r>
            <a:endParaRPr lang="zh-TW" altLang="en-US" sz="2400" dirty="0"/>
          </a:p>
        </p:txBody>
      </p:sp>
    </p:spTree>
    <p:extLst>
      <p:ext uri="{BB962C8B-B14F-4D97-AF65-F5344CB8AC3E}">
        <p14:creationId xmlns:p14="http://schemas.microsoft.com/office/powerpoint/2010/main" val="196276864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訂 1">
      <a:majorFont>
        <a:latin typeface="Times New Roman"/>
        <a:ea typeface="微軟正黑體"/>
        <a:cs typeface=""/>
      </a:majorFont>
      <a:minorFont>
        <a:latin typeface="Times New Roman"/>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2685</TotalTime>
  <Words>1056</Words>
  <Application>Microsoft Office PowerPoint</Application>
  <PresentationFormat>寬螢幕</PresentationFormat>
  <Paragraphs>249</Paragraphs>
  <Slides>17</Slides>
  <Notes>0</Notes>
  <HiddenSlides>0</HiddenSlides>
  <MMClips>0</MMClips>
  <ScaleCrop>false</ScaleCrop>
  <HeadingPairs>
    <vt:vector size="6" baseType="variant">
      <vt:variant>
        <vt:lpstr>使用字型</vt:lpstr>
      </vt:variant>
      <vt:variant>
        <vt:i4>2</vt:i4>
      </vt:variant>
      <vt:variant>
        <vt:lpstr>佈景主題</vt:lpstr>
      </vt:variant>
      <vt:variant>
        <vt:i4>1</vt:i4>
      </vt:variant>
      <vt:variant>
        <vt:lpstr>投影片標題</vt:lpstr>
      </vt:variant>
      <vt:variant>
        <vt:i4>17</vt:i4>
      </vt:variant>
    </vt:vector>
  </HeadingPairs>
  <TitlesOfParts>
    <vt:vector size="20" baseType="lpstr">
      <vt:lpstr>Arial</vt:lpstr>
      <vt:lpstr>Times New Roman</vt:lpstr>
      <vt:lpstr>Office 佈景主題</vt:lpstr>
      <vt:lpstr>Algorithms for computing variants of the longest common subsequence problem</vt:lpstr>
      <vt:lpstr>Abstract (1/2)</vt:lpstr>
      <vt:lpstr>Abstract (2/2)</vt:lpstr>
      <vt:lpstr>FIG (LCS Problem with Fixed Gap)</vt:lpstr>
      <vt:lpstr>FIG</vt:lpstr>
      <vt:lpstr>An improved algorithm for FIG</vt:lpstr>
      <vt:lpstr>vEB (Van Emde Boas tree) </vt:lpstr>
      <vt:lpstr>An improved algorithm for FIG</vt:lpstr>
      <vt:lpstr>An improved algorithm for FIG</vt:lpstr>
      <vt:lpstr>An improved algorithm for FIG</vt:lpstr>
      <vt:lpstr>An improved algorithm for FIG</vt:lpstr>
      <vt:lpstr>An improved algorithm for FIG</vt:lpstr>
      <vt:lpstr>A K-independent algorithm for FIG</vt:lpstr>
      <vt:lpstr>RLCS (Rigid LCS Problem)</vt:lpstr>
      <vt:lpstr>RLCS (Rigid LCS Problem)</vt:lpstr>
      <vt:lpstr>RIFIG (LCS Problem with Rigid Fixed Gap)</vt:lpstr>
      <vt:lpstr>RIFIG (LCS Problem with Rigid Fixed Gap)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Alex</dc:creator>
  <cp:lastModifiedBy>M103040056</cp:lastModifiedBy>
  <cp:revision>271</cp:revision>
  <dcterms:created xsi:type="dcterms:W3CDTF">2021-01-03T09:53:04Z</dcterms:created>
  <dcterms:modified xsi:type="dcterms:W3CDTF">2022-02-15T18:35:59Z</dcterms:modified>
</cp:coreProperties>
</file>