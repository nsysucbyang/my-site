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6" r:id="rId2"/>
    <p:sldId id="258" r:id="rId3"/>
    <p:sldId id="260" r:id="rId4"/>
    <p:sldId id="261" r:id="rId5"/>
    <p:sldId id="259" r:id="rId6"/>
    <p:sldId id="269" r:id="rId7"/>
    <p:sldId id="264" r:id="rId8"/>
    <p:sldId id="265" r:id="rId9"/>
    <p:sldId id="262" r:id="rId10"/>
    <p:sldId id="266" r:id="rId11"/>
    <p:sldId id="268"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53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71A6C-2C44-478D-971D-C6B8D23831BB}" type="datetimeFigureOut">
              <a:rPr lang="zh-TW" altLang="en-US" smtClean="0"/>
              <a:t>2022/7/20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8E3AD-4DDF-46F0-847C-9E019181D1BB}" type="slidenum">
              <a:rPr lang="zh-TW" altLang="en-US" smtClean="0"/>
              <a:t>‹#›</a:t>
            </a:fld>
            <a:endParaRPr lang="zh-TW" altLang="en-US"/>
          </a:p>
        </p:txBody>
      </p:sp>
    </p:spTree>
    <p:extLst>
      <p:ext uri="{BB962C8B-B14F-4D97-AF65-F5344CB8AC3E}">
        <p14:creationId xmlns:p14="http://schemas.microsoft.com/office/powerpoint/2010/main" val="94439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DB8E3AD-4DDF-46F0-847C-9E019181D1BB}" type="slidenum">
              <a:rPr lang="zh-TW" altLang="en-US" smtClean="0"/>
              <a:t>9</a:t>
            </a:fld>
            <a:endParaRPr lang="zh-TW" altLang="en-US"/>
          </a:p>
        </p:txBody>
      </p:sp>
    </p:spTree>
    <p:extLst>
      <p:ext uri="{BB962C8B-B14F-4D97-AF65-F5344CB8AC3E}">
        <p14:creationId xmlns:p14="http://schemas.microsoft.com/office/powerpoint/2010/main" val="3452422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5F9860-E560-416D-9431-5E47F324406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dirty="0"/>
              <a:t>按一下以編輯母片標題樣式</a:t>
            </a:r>
          </a:p>
        </p:txBody>
      </p:sp>
      <p:sp>
        <p:nvSpPr>
          <p:cNvPr id="3" name="副標題 2">
            <a:extLst>
              <a:ext uri="{FF2B5EF4-FFF2-40B4-BE49-F238E27FC236}">
                <a16:creationId xmlns:a16="http://schemas.microsoft.com/office/drawing/2014/main" id="{59134497-E75B-48A4-91DD-EA0D8766E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D7863F84-58C6-42BD-8450-BB1EF0A0CAB5}"/>
              </a:ext>
            </a:extLst>
          </p:cNvPr>
          <p:cNvSpPr>
            <a:spLocks noGrp="1"/>
          </p:cNvSpPr>
          <p:nvPr>
            <p:ph type="dt" sz="half" idx="10"/>
          </p:nvPr>
        </p:nvSpPr>
        <p:spPr/>
        <p:txBody>
          <a:bodyPr/>
          <a:lstStyle/>
          <a:p>
            <a:fld id="{21B4348C-36CF-493F-87A0-F09F5C79557B}" type="datetime1">
              <a:rPr lang="zh-TW" altLang="en-US" smtClean="0"/>
              <a:t>2022/7/20</a:t>
            </a:fld>
            <a:endParaRPr lang="zh-TW" altLang="en-US"/>
          </a:p>
        </p:txBody>
      </p:sp>
      <p:sp>
        <p:nvSpPr>
          <p:cNvPr id="5" name="頁尾版面配置區 4">
            <a:extLst>
              <a:ext uri="{FF2B5EF4-FFF2-40B4-BE49-F238E27FC236}">
                <a16:creationId xmlns:a16="http://schemas.microsoft.com/office/drawing/2014/main" id="{98432305-1513-4FF2-B137-EE8BE60701C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A45DE15-CC67-477E-9512-252BB1C19B01}"/>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512610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0FF7CE-2933-4750-A85D-DACE9F916DBC}"/>
              </a:ext>
            </a:extLst>
          </p:cNvPr>
          <p:cNvSpPr>
            <a:spLocks noGrp="1"/>
          </p:cNvSpPr>
          <p:nvPr>
            <p:ph type="title"/>
          </p:nvPr>
        </p:nvSpPr>
        <p:spPr/>
        <p:txBody>
          <a:body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F3F8675F-A7F4-411C-87FE-AF53DB2321FB}"/>
              </a:ext>
            </a:extLst>
          </p:cNvPr>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74D891A1-BED0-4372-94A4-FAEA0FDB1AB8}"/>
              </a:ext>
            </a:extLst>
          </p:cNvPr>
          <p:cNvSpPr>
            <a:spLocks noGrp="1"/>
          </p:cNvSpPr>
          <p:nvPr>
            <p:ph type="dt" sz="half" idx="10"/>
          </p:nvPr>
        </p:nvSpPr>
        <p:spPr/>
        <p:txBody>
          <a:bodyPr/>
          <a:lstStyle/>
          <a:p>
            <a:fld id="{9D8D1CB8-68CC-40D0-8B95-D3C3A7ADB4E8}" type="datetime1">
              <a:rPr lang="zh-TW" altLang="en-US" smtClean="0"/>
              <a:t>2022/7/20</a:t>
            </a:fld>
            <a:endParaRPr lang="zh-TW" altLang="en-US"/>
          </a:p>
        </p:txBody>
      </p:sp>
      <p:sp>
        <p:nvSpPr>
          <p:cNvPr id="5" name="頁尾版面配置區 4">
            <a:extLst>
              <a:ext uri="{FF2B5EF4-FFF2-40B4-BE49-F238E27FC236}">
                <a16:creationId xmlns:a16="http://schemas.microsoft.com/office/drawing/2014/main" id="{5ADB4587-43E1-4B31-85FA-4F512D06B04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E62905B-D2C7-4BB5-A1C0-9C466C3C3381}"/>
              </a:ext>
            </a:extLst>
          </p:cNvPr>
          <p:cNvSpPr>
            <a:spLocks noGrp="1"/>
          </p:cNvSpPr>
          <p:nvPr>
            <p:ph type="sldNum" sz="quarter" idx="12"/>
          </p:nvPr>
        </p:nvSpPr>
        <p:spPr/>
        <p:txBody>
          <a:bodyPr/>
          <a:lstStyle>
            <a:lvl1pPr>
              <a:defRPr sz="2400">
                <a:latin typeface="源流明體 M" panose="02020500000000000000" pitchFamily="18" charset="-120"/>
                <a:ea typeface="源流明體 M" panose="02020500000000000000" pitchFamily="18" charset="-120"/>
              </a:defRPr>
            </a:lvl1pPr>
          </a:lstStyle>
          <a:p>
            <a:fld id="{4CD2C34A-D3D3-4A9B-8692-9279E332F0C9}" type="slidenum">
              <a:rPr lang="zh-TW" altLang="en-US" smtClean="0"/>
              <a:pPr/>
              <a:t>‹#›</a:t>
            </a:fld>
            <a:endParaRPr lang="zh-TW" altLang="en-US" dirty="0"/>
          </a:p>
        </p:txBody>
      </p:sp>
    </p:spTree>
    <p:extLst>
      <p:ext uri="{BB962C8B-B14F-4D97-AF65-F5344CB8AC3E}">
        <p14:creationId xmlns:p14="http://schemas.microsoft.com/office/powerpoint/2010/main" val="75470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CA837B-11EB-4BCD-BB75-016BDBC72001}"/>
              </a:ext>
            </a:extLst>
          </p:cNvPr>
          <p:cNvSpPr>
            <a:spLocks noGrp="1"/>
          </p:cNvSpPr>
          <p:nvPr>
            <p:ph type="title"/>
          </p:nvPr>
        </p:nvSpPr>
        <p:spPr>
          <a:xfrm>
            <a:off x="831850" y="1709738"/>
            <a:ext cx="10515600" cy="2852737"/>
          </a:xfrm>
        </p:spPr>
        <p:txBody>
          <a:bodyPr anchor="b"/>
          <a:lstStyle>
            <a:lvl1pPr>
              <a:defRPr sz="6000"/>
            </a:lvl1p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601CEDA6-E03F-4FC9-9AE0-3165E22F83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dirty="0"/>
              <a:t>按一下以編輯母片文字樣式</a:t>
            </a:r>
          </a:p>
        </p:txBody>
      </p:sp>
      <p:sp>
        <p:nvSpPr>
          <p:cNvPr id="4" name="日期版面配置區 3">
            <a:extLst>
              <a:ext uri="{FF2B5EF4-FFF2-40B4-BE49-F238E27FC236}">
                <a16:creationId xmlns:a16="http://schemas.microsoft.com/office/drawing/2014/main" id="{00B5DA1D-6AE9-48E7-B940-0B03E7173D24}"/>
              </a:ext>
            </a:extLst>
          </p:cNvPr>
          <p:cNvSpPr>
            <a:spLocks noGrp="1"/>
          </p:cNvSpPr>
          <p:nvPr>
            <p:ph type="dt" sz="half" idx="10"/>
          </p:nvPr>
        </p:nvSpPr>
        <p:spPr/>
        <p:txBody>
          <a:bodyPr/>
          <a:lstStyle/>
          <a:p>
            <a:fld id="{5E79369E-9364-4DE1-B777-922645A66F1A}" type="datetime1">
              <a:rPr lang="zh-TW" altLang="en-US" smtClean="0"/>
              <a:t>2022/7/20</a:t>
            </a:fld>
            <a:endParaRPr lang="zh-TW" altLang="en-US"/>
          </a:p>
        </p:txBody>
      </p:sp>
      <p:sp>
        <p:nvSpPr>
          <p:cNvPr id="5" name="頁尾版面配置區 4">
            <a:extLst>
              <a:ext uri="{FF2B5EF4-FFF2-40B4-BE49-F238E27FC236}">
                <a16:creationId xmlns:a16="http://schemas.microsoft.com/office/drawing/2014/main" id="{69AA8402-DA28-4A1A-A558-D9347B92172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39B33D7-3156-4125-A854-05E2F5EC21C9}"/>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03013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C2D9AB-19FC-4A41-8B16-512340B33FF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427EFF3-6358-445E-AB7A-1BC73560973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60E9C49-7EE0-48B3-B571-72D3290F103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F1A1EF6-39FE-482A-8143-781B6CB2E38E}"/>
              </a:ext>
            </a:extLst>
          </p:cNvPr>
          <p:cNvSpPr>
            <a:spLocks noGrp="1"/>
          </p:cNvSpPr>
          <p:nvPr>
            <p:ph type="dt" sz="half" idx="10"/>
          </p:nvPr>
        </p:nvSpPr>
        <p:spPr/>
        <p:txBody>
          <a:bodyPr/>
          <a:lstStyle/>
          <a:p>
            <a:fld id="{1551FF31-668F-4AB9-96F0-D30DF02CF383}" type="datetime1">
              <a:rPr lang="zh-TW" altLang="en-US" smtClean="0"/>
              <a:t>2022/7/20</a:t>
            </a:fld>
            <a:endParaRPr lang="zh-TW" altLang="en-US"/>
          </a:p>
        </p:txBody>
      </p:sp>
      <p:sp>
        <p:nvSpPr>
          <p:cNvPr id="6" name="頁尾版面配置區 5">
            <a:extLst>
              <a:ext uri="{FF2B5EF4-FFF2-40B4-BE49-F238E27FC236}">
                <a16:creationId xmlns:a16="http://schemas.microsoft.com/office/drawing/2014/main" id="{589D48EB-695D-48D5-972D-703BA95FA53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DEBC84-B4B2-48A5-9453-4968DF6013A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63530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364652-1B77-4696-A668-DE346840B3F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5EA96D6-19BA-4F0C-9D27-5E3C912623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DD1974A-B943-4208-8541-2CC976952B9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F423B03-A8AF-4A4A-8E8F-F37A0EC21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68F243B-B7F9-4BFF-961C-9D0B9CDCABF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FF30C15-CFD8-4836-816C-2F7AD002FCA8}"/>
              </a:ext>
            </a:extLst>
          </p:cNvPr>
          <p:cNvSpPr>
            <a:spLocks noGrp="1"/>
          </p:cNvSpPr>
          <p:nvPr>
            <p:ph type="dt" sz="half" idx="10"/>
          </p:nvPr>
        </p:nvSpPr>
        <p:spPr/>
        <p:txBody>
          <a:bodyPr/>
          <a:lstStyle/>
          <a:p>
            <a:fld id="{5015F927-1548-411C-9F0A-7E2338821FD2}" type="datetime1">
              <a:rPr lang="zh-TW" altLang="en-US" smtClean="0"/>
              <a:t>2022/7/20</a:t>
            </a:fld>
            <a:endParaRPr lang="zh-TW" altLang="en-US"/>
          </a:p>
        </p:txBody>
      </p:sp>
      <p:sp>
        <p:nvSpPr>
          <p:cNvPr id="8" name="頁尾版面配置區 7">
            <a:extLst>
              <a:ext uri="{FF2B5EF4-FFF2-40B4-BE49-F238E27FC236}">
                <a16:creationId xmlns:a16="http://schemas.microsoft.com/office/drawing/2014/main" id="{BB75EC47-F26E-4E34-8F29-34396015820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0357AA1-531D-48AF-9CCE-B1E9F1D580E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20738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71D42C-7250-4132-82B5-5BC22B5AA61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A93FF5C-9744-48EF-A3FE-F6AB3634F768}"/>
              </a:ext>
            </a:extLst>
          </p:cNvPr>
          <p:cNvSpPr>
            <a:spLocks noGrp="1"/>
          </p:cNvSpPr>
          <p:nvPr>
            <p:ph type="dt" sz="half" idx="10"/>
          </p:nvPr>
        </p:nvSpPr>
        <p:spPr/>
        <p:txBody>
          <a:bodyPr/>
          <a:lstStyle/>
          <a:p>
            <a:fld id="{E8CD5000-B342-4B97-BFC6-0D5CDADFA95C}" type="datetime1">
              <a:rPr lang="zh-TW" altLang="en-US" smtClean="0"/>
              <a:t>2022/7/20</a:t>
            </a:fld>
            <a:endParaRPr lang="zh-TW" altLang="en-US"/>
          </a:p>
        </p:txBody>
      </p:sp>
      <p:sp>
        <p:nvSpPr>
          <p:cNvPr id="4" name="頁尾版面配置區 3">
            <a:extLst>
              <a:ext uri="{FF2B5EF4-FFF2-40B4-BE49-F238E27FC236}">
                <a16:creationId xmlns:a16="http://schemas.microsoft.com/office/drawing/2014/main" id="{601019B5-97EB-4FAA-B9E0-A8872AE738E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3A332F1-DF5D-4F87-97BF-68EBD8F1352C}"/>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95890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876C78C-4473-4753-A6D0-22BA1F476198}"/>
              </a:ext>
            </a:extLst>
          </p:cNvPr>
          <p:cNvSpPr>
            <a:spLocks noGrp="1"/>
          </p:cNvSpPr>
          <p:nvPr>
            <p:ph type="dt" sz="half" idx="10"/>
          </p:nvPr>
        </p:nvSpPr>
        <p:spPr/>
        <p:txBody>
          <a:bodyPr/>
          <a:lstStyle/>
          <a:p>
            <a:fld id="{F39CF939-D763-48D5-8B03-D0F1129A1E9E}" type="datetime1">
              <a:rPr lang="zh-TW" altLang="en-US" smtClean="0"/>
              <a:t>2022/7/20</a:t>
            </a:fld>
            <a:endParaRPr lang="zh-TW" altLang="en-US"/>
          </a:p>
        </p:txBody>
      </p:sp>
      <p:sp>
        <p:nvSpPr>
          <p:cNvPr id="3" name="頁尾版面配置區 2">
            <a:extLst>
              <a:ext uri="{FF2B5EF4-FFF2-40B4-BE49-F238E27FC236}">
                <a16:creationId xmlns:a16="http://schemas.microsoft.com/office/drawing/2014/main" id="{60A9D2FC-48F6-4EB8-9020-7AACF6C93FB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F61A111-BA32-4DCC-B1B3-F6F29930C813}"/>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360765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96626C-3788-4FAE-8B9A-B23CC278E36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9050D94-23AF-4060-B5E4-D28F7AF294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7E624D-101B-4B1B-A033-653188284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63E474D-7185-4142-8E1A-C096A190E30D}"/>
              </a:ext>
            </a:extLst>
          </p:cNvPr>
          <p:cNvSpPr>
            <a:spLocks noGrp="1"/>
          </p:cNvSpPr>
          <p:nvPr>
            <p:ph type="dt" sz="half" idx="10"/>
          </p:nvPr>
        </p:nvSpPr>
        <p:spPr/>
        <p:txBody>
          <a:bodyPr/>
          <a:lstStyle/>
          <a:p>
            <a:fld id="{8F3FAF7E-03FF-47C7-BE82-6927213C9CE5}" type="datetime1">
              <a:rPr lang="zh-TW" altLang="en-US" smtClean="0"/>
              <a:t>2022/7/20</a:t>
            </a:fld>
            <a:endParaRPr lang="zh-TW" altLang="en-US"/>
          </a:p>
        </p:txBody>
      </p:sp>
      <p:sp>
        <p:nvSpPr>
          <p:cNvPr id="6" name="頁尾版面配置區 5">
            <a:extLst>
              <a:ext uri="{FF2B5EF4-FFF2-40B4-BE49-F238E27FC236}">
                <a16:creationId xmlns:a16="http://schemas.microsoft.com/office/drawing/2014/main" id="{ED8FD9AE-93F8-4516-981E-888A358587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C235FE-7EC6-45BD-AFD3-28E236227C22}"/>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20626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BEFEB1-3B54-45E8-9090-D0CF4FF911B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CBE35E7-646E-4404-821A-D22E70E0B0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2357CA3-B57C-4FE1-AA0C-39A1BB09A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D38B033-98F0-477A-A016-863BD32FF2DC}"/>
              </a:ext>
            </a:extLst>
          </p:cNvPr>
          <p:cNvSpPr>
            <a:spLocks noGrp="1"/>
          </p:cNvSpPr>
          <p:nvPr>
            <p:ph type="dt" sz="half" idx="10"/>
          </p:nvPr>
        </p:nvSpPr>
        <p:spPr/>
        <p:txBody>
          <a:bodyPr/>
          <a:lstStyle/>
          <a:p>
            <a:fld id="{8EFEA15A-BC96-4FDC-81B9-0D28C6E02324}" type="datetime1">
              <a:rPr lang="zh-TW" altLang="en-US" smtClean="0"/>
              <a:t>2022/7/20</a:t>
            </a:fld>
            <a:endParaRPr lang="zh-TW" altLang="en-US"/>
          </a:p>
        </p:txBody>
      </p:sp>
      <p:sp>
        <p:nvSpPr>
          <p:cNvPr id="6" name="頁尾版面配置區 5">
            <a:extLst>
              <a:ext uri="{FF2B5EF4-FFF2-40B4-BE49-F238E27FC236}">
                <a16:creationId xmlns:a16="http://schemas.microsoft.com/office/drawing/2014/main" id="{217603EF-D0A2-4BE2-BB6E-F1E7428564D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C60FDF8-CDA0-4176-93FB-878ED2BD301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322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CE1F33-6DA3-4E3D-A50B-59EF378400A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453AB78-8699-463C-8D35-0DAE4736C1F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B0C9C6C-B437-4A6A-B50E-D76A9DFEF2A5}"/>
              </a:ext>
            </a:extLst>
          </p:cNvPr>
          <p:cNvSpPr>
            <a:spLocks noGrp="1"/>
          </p:cNvSpPr>
          <p:nvPr>
            <p:ph type="dt" sz="half" idx="10"/>
          </p:nvPr>
        </p:nvSpPr>
        <p:spPr/>
        <p:txBody>
          <a:bodyPr/>
          <a:lstStyle/>
          <a:p>
            <a:fld id="{15698257-1A0C-4C00-86B7-D3CBE1E4FDE3}" type="datetime1">
              <a:rPr lang="zh-TW" altLang="en-US" smtClean="0"/>
              <a:t>2022/7/20</a:t>
            </a:fld>
            <a:endParaRPr lang="zh-TW" altLang="en-US"/>
          </a:p>
        </p:txBody>
      </p:sp>
      <p:sp>
        <p:nvSpPr>
          <p:cNvPr id="5" name="頁尾版面配置區 4">
            <a:extLst>
              <a:ext uri="{FF2B5EF4-FFF2-40B4-BE49-F238E27FC236}">
                <a16:creationId xmlns:a16="http://schemas.microsoft.com/office/drawing/2014/main" id="{77009B86-8BAF-49D3-9FBD-AF620355BA0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B07FA9-F3F7-4DA7-A0F4-66D3B567042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416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C295D24-4D4D-472A-AB73-D1239EA9C15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BDB5D60-51C4-436D-BBDD-F77793327BE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6632C48-A4E5-459A-B5AA-57D86A08E29A}"/>
              </a:ext>
            </a:extLst>
          </p:cNvPr>
          <p:cNvSpPr>
            <a:spLocks noGrp="1"/>
          </p:cNvSpPr>
          <p:nvPr>
            <p:ph type="dt" sz="half" idx="10"/>
          </p:nvPr>
        </p:nvSpPr>
        <p:spPr/>
        <p:txBody>
          <a:bodyPr/>
          <a:lstStyle/>
          <a:p>
            <a:fld id="{E3A91720-F347-4FFB-ADA5-0AD2EE56A4E5}" type="datetime1">
              <a:rPr lang="zh-TW" altLang="en-US" smtClean="0"/>
              <a:t>2022/7/20</a:t>
            </a:fld>
            <a:endParaRPr lang="zh-TW" altLang="en-US"/>
          </a:p>
        </p:txBody>
      </p:sp>
      <p:sp>
        <p:nvSpPr>
          <p:cNvPr id="5" name="頁尾版面配置區 4">
            <a:extLst>
              <a:ext uri="{FF2B5EF4-FFF2-40B4-BE49-F238E27FC236}">
                <a16:creationId xmlns:a16="http://schemas.microsoft.com/office/drawing/2014/main" id="{3D1A3D36-B64D-4E79-8824-D40005CB9D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FCBCD96-2981-4CEB-BF02-CDF1449F88B4}"/>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02332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588B45C-60F2-4BCE-B810-D930011E7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AC153474-8A42-4461-A925-C46F64482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F2A84AEC-A2FC-47EE-8B0B-6CF68B838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A89E-5F59-45C6-916E-2029F486A7DF}" type="datetime1">
              <a:rPr lang="zh-TW" altLang="en-US" smtClean="0"/>
              <a:t>2022/7/20</a:t>
            </a:fld>
            <a:endParaRPr lang="zh-TW" altLang="en-US"/>
          </a:p>
        </p:txBody>
      </p:sp>
      <p:sp>
        <p:nvSpPr>
          <p:cNvPr id="5" name="頁尾版面配置區 4">
            <a:extLst>
              <a:ext uri="{FF2B5EF4-FFF2-40B4-BE49-F238E27FC236}">
                <a16:creationId xmlns:a16="http://schemas.microsoft.com/office/drawing/2014/main" id="{F389F9A5-C535-4FCE-9462-8748EDBDF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2D0B99F-AC6F-4C56-843B-B3324F7192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11713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143474-6387-4BE8-A4BF-0CDEA67657E1}"/>
              </a:ext>
            </a:extLst>
          </p:cNvPr>
          <p:cNvSpPr>
            <a:spLocks noGrp="1"/>
          </p:cNvSpPr>
          <p:nvPr>
            <p:ph type="ctrTitle"/>
          </p:nvPr>
        </p:nvSpPr>
        <p:spPr/>
        <p:txBody>
          <a:bodyPr>
            <a:normAutofit fontScale="90000"/>
          </a:bodyPr>
          <a:lstStyle/>
          <a:p>
            <a:r>
              <a:rPr lang="en-US" altLang="zh-TW" dirty="0"/>
              <a:t>Minimum Height and Sequence Constrained Longest Increasing Subsequence</a:t>
            </a:r>
            <a:endParaRPr lang="zh-TW" altLang="en-US" dirty="0"/>
          </a:p>
        </p:txBody>
      </p:sp>
      <p:sp>
        <p:nvSpPr>
          <p:cNvPr id="3" name="副標題 2">
            <a:extLst>
              <a:ext uri="{FF2B5EF4-FFF2-40B4-BE49-F238E27FC236}">
                <a16:creationId xmlns:a16="http://schemas.microsoft.com/office/drawing/2014/main" id="{92B8BEBC-EA8D-40AC-8B6F-CE2FB945F54D}"/>
              </a:ext>
            </a:extLst>
          </p:cNvPr>
          <p:cNvSpPr>
            <a:spLocks noGrp="1"/>
          </p:cNvSpPr>
          <p:nvPr>
            <p:ph type="subTitle" idx="1"/>
          </p:nvPr>
        </p:nvSpPr>
        <p:spPr/>
        <p:txBody>
          <a:bodyPr/>
          <a:lstStyle/>
          <a:p>
            <a:r>
              <a:rPr lang="en-US" altLang="zh-TW" dirty="0"/>
              <a:t>C.T. Tseng, C.B. Yang, H.Y. Ann,</a:t>
            </a:r>
            <a:r>
              <a:rPr lang="zh-TW" altLang="en-US" dirty="0"/>
              <a:t> </a:t>
            </a:r>
            <a:endParaRPr lang="en-US" altLang="zh-TW" dirty="0"/>
          </a:p>
          <a:p>
            <a:r>
              <a:rPr lang="en-US" altLang="zh-TW" dirty="0"/>
              <a:t>Journal of Internet Technology, Vol. 10, 2009, pp.173 ~ 178</a:t>
            </a:r>
            <a:endParaRPr lang="zh-TW" altLang="en-US" dirty="0"/>
          </a:p>
        </p:txBody>
      </p:sp>
      <p:sp>
        <p:nvSpPr>
          <p:cNvPr id="5" name="文字方塊 4">
            <a:extLst>
              <a:ext uri="{FF2B5EF4-FFF2-40B4-BE49-F238E27FC236}">
                <a16:creationId xmlns:a16="http://schemas.microsoft.com/office/drawing/2014/main" id="{D2AB8FE2-23CB-4533-87D5-C2F44C82D244}"/>
              </a:ext>
            </a:extLst>
          </p:cNvPr>
          <p:cNvSpPr txBox="1"/>
          <p:nvPr/>
        </p:nvSpPr>
        <p:spPr>
          <a:xfrm>
            <a:off x="9474926" y="6211669"/>
            <a:ext cx="2717074" cy="646331"/>
          </a:xfrm>
          <a:prstGeom prst="rect">
            <a:avLst/>
          </a:prstGeom>
          <a:noFill/>
        </p:spPr>
        <p:txBody>
          <a:bodyPr wrap="square" rtlCol="0">
            <a:spAutoFit/>
          </a:bodyPr>
          <a:lstStyle/>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Presenter: Guan-Ting Chen</a:t>
            </a:r>
          </a:p>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Date</a:t>
            </a:r>
            <a:r>
              <a:rPr lang="en-US" altLang="zh-TW">
                <a:latin typeface="Times New Roman" panose="02020603050405020304" pitchFamily="18" charset="0"/>
                <a:ea typeface="源流明體 M" panose="02020500000000000000" pitchFamily="18" charset="-120"/>
                <a:cs typeface="Times New Roman" panose="02020603050405020304" pitchFamily="18" charset="0"/>
              </a:rPr>
              <a:t>: July 20, </a:t>
            </a:r>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2022</a:t>
            </a:r>
          </a:p>
        </p:txBody>
      </p:sp>
    </p:spTree>
    <p:extLst>
      <p:ext uri="{BB962C8B-B14F-4D97-AF65-F5344CB8AC3E}">
        <p14:creationId xmlns:p14="http://schemas.microsoft.com/office/powerpoint/2010/main" val="992846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4AF41-DCC8-4BFE-B3AA-9D793E863EAC}"/>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2FBE2A12-C9F0-4093-A018-44F05764C477}"/>
              </a:ext>
            </a:extLst>
          </p:cNvPr>
          <p:cNvSpPr>
            <a:spLocks noGrp="1"/>
          </p:cNvSpPr>
          <p:nvPr>
            <p:ph idx="1"/>
          </p:nvPr>
        </p:nvSpPr>
        <p:spPr>
          <a:xfrm>
            <a:off x="838200" y="1825625"/>
            <a:ext cx="10515600" cy="4667250"/>
          </a:xfrm>
        </p:spPr>
        <p:txBody>
          <a:bodyPr>
            <a:normAutofit/>
          </a:bodyPr>
          <a:lstStyle/>
          <a:p>
            <a:pPr marL="0" indent="0">
              <a:buNone/>
            </a:pPr>
            <a:r>
              <a:rPr lang="en-US" altLang="zh-TW" sz="2400" dirty="0"/>
              <a:t>Given a string S = a</a:t>
            </a:r>
            <a:r>
              <a:rPr lang="en-US" altLang="zh-TW" sz="2400" baseline="-25000" dirty="0"/>
              <a:t>1</a:t>
            </a:r>
            <a:r>
              <a:rPr lang="en-US" altLang="zh-TW" sz="2400" dirty="0"/>
              <a:t>a</a:t>
            </a:r>
            <a:r>
              <a:rPr lang="en-US" altLang="zh-TW" sz="2400" baseline="-25000" dirty="0"/>
              <a:t>2</a:t>
            </a:r>
            <a:r>
              <a:rPr lang="en-US" altLang="zh-TW" sz="2400" dirty="0"/>
              <a:t>a</a:t>
            </a:r>
            <a:r>
              <a:rPr lang="en-US" altLang="zh-TW" sz="2400" baseline="-25000" dirty="0"/>
              <a:t>3</a:t>
            </a:r>
            <a:r>
              <a:rPr lang="en-US" altLang="zh-TW" sz="2400" dirty="0"/>
              <a:t>...a</a:t>
            </a:r>
            <a:r>
              <a:rPr lang="en-US" altLang="zh-TW" sz="2400" baseline="-25000" dirty="0"/>
              <a:t>n</a:t>
            </a:r>
            <a:r>
              <a:rPr lang="en-US" altLang="zh-TW" sz="2400" dirty="0"/>
              <a:t>, the longest increasing subsequence (LIS) problem is to find a subsequence of S such that the subsequence is increasing and its length is maximum. In this paper, we propose and solve two variants of the LIS problem. The first one is the minimum height LIS where the height means the difference between the largest and smallest elements. We propose an algorithm with O(n log n) time and O(n) space for solving it. The second one is the sequence constrained LIS (SCLIS) that given a string S and a constraint C, we are to find the LIS of S containing C as its subsequence. We propose an algorithm with O(n log(n+|C|)) time for solving it. And then we solve the SCLIS with preprocessing. We propose a preprocessing algorithm with O(n</a:t>
            </a:r>
            <a:r>
              <a:rPr lang="en-US" altLang="zh-TW" sz="2400" baseline="30000" dirty="0"/>
              <a:t>2</a:t>
            </a:r>
            <a:r>
              <a:rPr lang="en-US" altLang="zh-TW" sz="2400" dirty="0"/>
              <a:t>loglogn) time on S so that with a given sequence of positions, we can answer the SCLIS query in O(|C|+|OUTPUT |) time where the constraint is the subsequence on the given positions of S.</a:t>
            </a:r>
            <a:endParaRPr lang="zh-TW" altLang="en-US" sz="2400" dirty="0"/>
          </a:p>
        </p:txBody>
      </p:sp>
      <p:sp>
        <p:nvSpPr>
          <p:cNvPr id="4" name="投影片編號版面配置區 3">
            <a:extLst>
              <a:ext uri="{FF2B5EF4-FFF2-40B4-BE49-F238E27FC236}">
                <a16:creationId xmlns:a16="http://schemas.microsoft.com/office/drawing/2014/main" id="{B9099A3E-11CF-4D79-A20E-36E8E58CE980}"/>
              </a:ext>
            </a:extLst>
          </p:cNvPr>
          <p:cNvSpPr>
            <a:spLocks noGrp="1"/>
          </p:cNvSpPr>
          <p:nvPr>
            <p:ph type="sldNum" sz="quarter" idx="12"/>
          </p:nvPr>
        </p:nvSpPr>
        <p:spPr/>
        <p:txBody>
          <a:bodyPr/>
          <a:lstStyle/>
          <a:p>
            <a:fld id="{4CD2C34A-D3D3-4A9B-8692-9279E332F0C9}" type="slidenum">
              <a:rPr lang="zh-TW" altLang="en-US" smtClean="0"/>
              <a:t>2</a:t>
            </a:fld>
            <a:endParaRPr lang="zh-TW" altLang="en-US" dirty="0"/>
          </a:p>
        </p:txBody>
      </p:sp>
    </p:spTree>
    <p:extLst>
      <p:ext uri="{BB962C8B-B14F-4D97-AF65-F5344CB8AC3E}">
        <p14:creationId xmlns:p14="http://schemas.microsoft.com/office/powerpoint/2010/main" val="847236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466772-E0AB-E6FB-161E-FD5727D9FABF}"/>
              </a:ext>
            </a:extLst>
          </p:cNvPr>
          <p:cNvSpPr>
            <a:spLocks noGrp="1"/>
          </p:cNvSpPr>
          <p:nvPr>
            <p:ph type="title"/>
          </p:nvPr>
        </p:nvSpPr>
        <p:spPr/>
        <p:txBody>
          <a:bodyPr/>
          <a:lstStyle/>
          <a:p>
            <a:r>
              <a:rPr lang="en-US" altLang="zh-TW" dirty="0"/>
              <a:t>Longest Increasing Subsequence</a:t>
            </a:r>
            <a:endParaRPr lang="zh-TW" altLang="en-US" dirty="0"/>
          </a:p>
        </p:txBody>
      </p:sp>
      <p:sp>
        <p:nvSpPr>
          <p:cNvPr id="3" name="內容版面配置區 2">
            <a:extLst>
              <a:ext uri="{FF2B5EF4-FFF2-40B4-BE49-F238E27FC236}">
                <a16:creationId xmlns:a16="http://schemas.microsoft.com/office/drawing/2014/main" id="{7F1AE71D-37E4-4FFA-CB97-D18E6B57EF30}"/>
              </a:ext>
            </a:extLst>
          </p:cNvPr>
          <p:cNvSpPr>
            <a:spLocks noGrp="1"/>
          </p:cNvSpPr>
          <p:nvPr>
            <p:ph idx="1"/>
          </p:nvPr>
        </p:nvSpPr>
        <p:spPr/>
        <p:txBody>
          <a:bodyPr/>
          <a:lstStyle/>
          <a:p>
            <a:r>
              <a:rPr lang="en-US" altLang="zh-TW" dirty="0"/>
              <a:t>S = 4683571</a:t>
            </a:r>
          </a:p>
          <a:p>
            <a:r>
              <a:rPr lang="en-US" altLang="zh-TW" dirty="0"/>
              <a:t>LIS</a:t>
            </a:r>
          </a:p>
          <a:p>
            <a:pPr lvl="1"/>
            <a:r>
              <a:rPr lang="en-US" altLang="zh-TW" dirty="0"/>
              <a:t>468</a:t>
            </a:r>
          </a:p>
          <a:p>
            <a:pPr lvl="1"/>
            <a:r>
              <a:rPr lang="en-US" altLang="zh-TW" dirty="0"/>
              <a:t>…</a:t>
            </a:r>
          </a:p>
          <a:p>
            <a:pPr lvl="1"/>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50BBF6CA-7DB1-5C06-E2B2-45E715AB0687}"/>
              </a:ext>
            </a:extLst>
          </p:cNvPr>
          <p:cNvSpPr>
            <a:spLocks noGrp="1"/>
          </p:cNvSpPr>
          <p:nvPr>
            <p:ph type="sldNum" sz="quarter" idx="12"/>
          </p:nvPr>
        </p:nvSpPr>
        <p:spPr/>
        <p:txBody>
          <a:bodyPr/>
          <a:lstStyle/>
          <a:p>
            <a:fld id="{4CD2C34A-D3D3-4A9B-8692-9279E332F0C9}" type="slidenum">
              <a:rPr lang="zh-TW" altLang="en-US" smtClean="0"/>
              <a:pPr/>
              <a:t>3</a:t>
            </a:fld>
            <a:endParaRPr lang="zh-TW" altLang="en-US" dirty="0"/>
          </a:p>
        </p:txBody>
      </p:sp>
    </p:spTree>
    <p:extLst>
      <p:ext uri="{BB962C8B-B14F-4D97-AF65-F5344CB8AC3E}">
        <p14:creationId xmlns:p14="http://schemas.microsoft.com/office/powerpoint/2010/main" val="1659908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078DAC-1857-4009-215F-283807EC1230}"/>
              </a:ext>
            </a:extLst>
          </p:cNvPr>
          <p:cNvSpPr>
            <a:spLocks noGrp="1"/>
          </p:cNvSpPr>
          <p:nvPr>
            <p:ph type="title"/>
          </p:nvPr>
        </p:nvSpPr>
        <p:spPr/>
        <p:txBody>
          <a:bodyPr/>
          <a:lstStyle/>
          <a:p>
            <a:r>
              <a:rPr lang="en-US" altLang="zh-TW" dirty="0"/>
              <a:t>Minimum Height LIS</a:t>
            </a:r>
            <a:endParaRPr lang="zh-TW" altLang="en-US" dirty="0"/>
          </a:p>
        </p:txBody>
      </p:sp>
      <p:sp>
        <p:nvSpPr>
          <p:cNvPr id="3" name="內容版面配置區 2">
            <a:extLst>
              <a:ext uri="{FF2B5EF4-FFF2-40B4-BE49-F238E27FC236}">
                <a16:creationId xmlns:a16="http://schemas.microsoft.com/office/drawing/2014/main" id="{EE0559E5-5DE8-EB92-340D-9B14D673542F}"/>
              </a:ext>
            </a:extLst>
          </p:cNvPr>
          <p:cNvSpPr>
            <a:spLocks noGrp="1"/>
          </p:cNvSpPr>
          <p:nvPr>
            <p:ph idx="1"/>
          </p:nvPr>
        </p:nvSpPr>
        <p:spPr/>
        <p:txBody>
          <a:bodyPr/>
          <a:lstStyle/>
          <a:p>
            <a:r>
              <a:rPr lang="en-US" altLang="zh-TW" dirty="0"/>
              <a:t>S = 4683571</a:t>
            </a:r>
          </a:p>
          <a:p>
            <a:r>
              <a:rPr lang="en-US" altLang="zh-TW" dirty="0"/>
              <a:t>Minimum Height LIS</a:t>
            </a:r>
          </a:p>
          <a:p>
            <a:pPr lvl="1"/>
            <a:r>
              <a:rPr lang="en-US" altLang="zh-TW" dirty="0"/>
              <a:t>468</a:t>
            </a:r>
          </a:p>
          <a:p>
            <a:pPr lvl="1"/>
            <a:r>
              <a:rPr lang="en-US" altLang="zh-TW" dirty="0">
                <a:solidFill>
                  <a:srgbClr val="FF0000"/>
                </a:solidFill>
              </a:rPr>
              <a:t>457</a:t>
            </a:r>
          </a:p>
          <a:p>
            <a:pPr lvl="1"/>
            <a:r>
              <a:rPr lang="en-US" altLang="zh-TW" dirty="0">
                <a:solidFill>
                  <a:srgbClr val="FF0000"/>
                </a:solidFill>
              </a:rPr>
              <a:t>467</a:t>
            </a:r>
          </a:p>
          <a:p>
            <a:pPr lvl="1"/>
            <a:r>
              <a:rPr lang="en-US" altLang="zh-TW" dirty="0"/>
              <a:t>357</a:t>
            </a:r>
          </a:p>
          <a:p>
            <a:pPr lvl="1"/>
            <a:endParaRPr lang="zh-TW" altLang="en-US" dirty="0"/>
          </a:p>
        </p:txBody>
      </p:sp>
      <p:sp>
        <p:nvSpPr>
          <p:cNvPr id="4" name="投影片編號版面配置區 3">
            <a:extLst>
              <a:ext uri="{FF2B5EF4-FFF2-40B4-BE49-F238E27FC236}">
                <a16:creationId xmlns:a16="http://schemas.microsoft.com/office/drawing/2014/main" id="{BBE3F183-885B-FEBA-69D1-DFFB6F24F05C}"/>
              </a:ext>
            </a:extLst>
          </p:cNvPr>
          <p:cNvSpPr>
            <a:spLocks noGrp="1"/>
          </p:cNvSpPr>
          <p:nvPr>
            <p:ph type="sldNum" sz="quarter" idx="12"/>
          </p:nvPr>
        </p:nvSpPr>
        <p:spPr/>
        <p:txBody>
          <a:bodyPr/>
          <a:lstStyle/>
          <a:p>
            <a:fld id="{4CD2C34A-D3D3-4A9B-8692-9279E332F0C9}" type="slidenum">
              <a:rPr lang="zh-TW" altLang="en-US" smtClean="0"/>
              <a:pPr/>
              <a:t>4</a:t>
            </a:fld>
            <a:endParaRPr lang="zh-TW" altLang="en-US" dirty="0"/>
          </a:p>
        </p:txBody>
      </p:sp>
    </p:spTree>
    <p:extLst>
      <p:ext uri="{BB962C8B-B14F-4D97-AF65-F5344CB8AC3E}">
        <p14:creationId xmlns:p14="http://schemas.microsoft.com/office/powerpoint/2010/main" val="576985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BE30BD-5EB1-9B44-4078-D2BAE615BF00}"/>
              </a:ext>
            </a:extLst>
          </p:cNvPr>
          <p:cNvSpPr>
            <a:spLocks noGrp="1"/>
          </p:cNvSpPr>
          <p:nvPr>
            <p:ph type="title"/>
          </p:nvPr>
        </p:nvSpPr>
        <p:spPr/>
        <p:txBody>
          <a:bodyPr/>
          <a:lstStyle/>
          <a:p>
            <a:r>
              <a:rPr lang="en-US" altLang="zh-TW" dirty="0"/>
              <a:t>Representative Increasing Subsequence</a:t>
            </a:r>
            <a:endParaRPr lang="zh-TW" altLang="en-US" dirty="0"/>
          </a:p>
        </p:txBody>
      </p:sp>
      <p:sp>
        <p:nvSpPr>
          <p:cNvPr id="3" name="內容版面配置區 2">
            <a:extLst>
              <a:ext uri="{FF2B5EF4-FFF2-40B4-BE49-F238E27FC236}">
                <a16:creationId xmlns:a16="http://schemas.microsoft.com/office/drawing/2014/main" id="{232330E6-D0AA-5CAB-D9D0-A18236B23B7D}"/>
              </a:ext>
            </a:extLst>
          </p:cNvPr>
          <p:cNvSpPr>
            <a:spLocks noGrp="1"/>
          </p:cNvSpPr>
          <p:nvPr>
            <p:ph idx="1"/>
          </p:nvPr>
        </p:nvSpPr>
        <p:spPr/>
        <p:txBody>
          <a:bodyPr/>
          <a:lstStyle/>
          <a:p>
            <a:r>
              <a:rPr lang="en-US" altLang="zh-TW" dirty="0"/>
              <a:t>S = 4683571</a:t>
            </a:r>
          </a:p>
          <a:p>
            <a:r>
              <a:rPr lang="en-US" altLang="zh-TW" dirty="0"/>
              <a:t>Length</a:t>
            </a:r>
          </a:p>
          <a:p>
            <a:pPr lvl="1"/>
            <a:r>
              <a:rPr lang="en-US" altLang="zh-TW" dirty="0"/>
              <a:t>1</a:t>
            </a:r>
          </a:p>
          <a:p>
            <a:pPr lvl="2"/>
            <a:r>
              <a:rPr lang="en-US" altLang="zh-TW" dirty="0"/>
              <a:t>{4, 6, 8, 3, 5, 7, </a:t>
            </a:r>
            <a:r>
              <a:rPr lang="en-US" altLang="zh-TW" dirty="0">
                <a:solidFill>
                  <a:srgbClr val="FF0000"/>
                </a:solidFill>
              </a:rPr>
              <a:t>1</a:t>
            </a:r>
            <a:r>
              <a:rPr lang="en-US" altLang="zh-TW" dirty="0"/>
              <a:t>}</a:t>
            </a:r>
          </a:p>
          <a:p>
            <a:pPr lvl="1"/>
            <a:r>
              <a:rPr lang="en-US" altLang="zh-TW" dirty="0"/>
              <a:t>2</a:t>
            </a:r>
          </a:p>
          <a:p>
            <a:pPr lvl="2"/>
            <a:r>
              <a:rPr lang="en-US" altLang="zh-TW" dirty="0"/>
              <a:t>{46, 48, 4</a:t>
            </a:r>
            <a:r>
              <a:rPr lang="en-US" altLang="zh-TW" dirty="0">
                <a:solidFill>
                  <a:srgbClr val="FF0000"/>
                </a:solidFill>
              </a:rPr>
              <a:t>5</a:t>
            </a:r>
            <a:r>
              <a:rPr lang="en-US" altLang="zh-TW" dirty="0"/>
              <a:t>, 47, 68, 67, 3</a:t>
            </a:r>
            <a:r>
              <a:rPr lang="en-US" altLang="zh-TW" dirty="0">
                <a:solidFill>
                  <a:srgbClr val="FF0000"/>
                </a:solidFill>
              </a:rPr>
              <a:t>5</a:t>
            </a:r>
            <a:r>
              <a:rPr lang="en-US" altLang="zh-TW" dirty="0"/>
              <a:t>, 37}</a:t>
            </a:r>
          </a:p>
          <a:p>
            <a:pPr lvl="1"/>
            <a:r>
              <a:rPr lang="en-US" altLang="zh-TW" dirty="0"/>
              <a:t>3</a:t>
            </a:r>
          </a:p>
          <a:p>
            <a:pPr lvl="2"/>
            <a:r>
              <a:rPr lang="en-US" altLang="zh-TW" dirty="0"/>
              <a:t>{468, 46</a:t>
            </a:r>
            <a:r>
              <a:rPr lang="en-US" altLang="zh-TW" dirty="0">
                <a:solidFill>
                  <a:srgbClr val="FF0000"/>
                </a:solidFill>
              </a:rPr>
              <a:t>7</a:t>
            </a:r>
            <a:r>
              <a:rPr lang="en-US" altLang="zh-TW" dirty="0"/>
              <a:t>, 45</a:t>
            </a:r>
            <a:r>
              <a:rPr lang="en-US" altLang="zh-TW" dirty="0">
                <a:solidFill>
                  <a:srgbClr val="FF0000"/>
                </a:solidFill>
              </a:rPr>
              <a:t>7</a:t>
            </a:r>
            <a:r>
              <a:rPr lang="en-US" altLang="zh-TW" dirty="0"/>
              <a:t>, 35</a:t>
            </a:r>
            <a:r>
              <a:rPr lang="en-US" altLang="zh-TW" dirty="0">
                <a:solidFill>
                  <a:srgbClr val="FF0000"/>
                </a:solidFill>
              </a:rPr>
              <a:t>7</a:t>
            </a:r>
            <a:r>
              <a:rPr lang="en-US" altLang="zh-TW" dirty="0"/>
              <a:t>}</a:t>
            </a:r>
          </a:p>
          <a:p>
            <a:r>
              <a:rPr lang="en-US" altLang="zh-TW" dirty="0"/>
              <a:t>RIS</a:t>
            </a:r>
          </a:p>
          <a:p>
            <a:pPr lvl="1"/>
            <a:r>
              <a:rPr lang="en-US" altLang="zh-TW" dirty="0"/>
              <a:t>157</a:t>
            </a:r>
          </a:p>
        </p:txBody>
      </p:sp>
      <p:sp>
        <p:nvSpPr>
          <p:cNvPr id="4" name="投影片編號版面配置區 3">
            <a:extLst>
              <a:ext uri="{FF2B5EF4-FFF2-40B4-BE49-F238E27FC236}">
                <a16:creationId xmlns:a16="http://schemas.microsoft.com/office/drawing/2014/main" id="{8A76C0B1-0608-A8A5-8C30-1F160B45D59A}"/>
              </a:ext>
            </a:extLst>
          </p:cNvPr>
          <p:cNvSpPr>
            <a:spLocks noGrp="1"/>
          </p:cNvSpPr>
          <p:nvPr>
            <p:ph type="sldNum" sz="quarter" idx="12"/>
          </p:nvPr>
        </p:nvSpPr>
        <p:spPr/>
        <p:txBody>
          <a:bodyPr/>
          <a:lstStyle/>
          <a:p>
            <a:fld id="{4CD2C34A-D3D3-4A9B-8692-9279E332F0C9}" type="slidenum">
              <a:rPr lang="zh-TW" altLang="en-US" smtClean="0"/>
              <a:pPr/>
              <a:t>5</a:t>
            </a:fld>
            <a:endParaRPr lang="zh-TW" altLang="en-US" dirty="0"/>
          </a:p>
        </p:txBody>
      </p:sp>
    </p:spTree>
    <p:extLst>
      <p:ext uri="{BB962C8B-B14F-4D97-AF65-F5344CB8AC3E}">
        <p14:creationId xmlns:p14="http://schemas.microsoft.com/office/powerpoint/2010/main" val="2586592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69EDE1-FC1A-6EF2-D66F-40C79B314A06}"/>
              </a:ext>
            </a:extLst>
          </p:cNvPr>
          <p:cNvSpPr>
            <a:spLocks noGrp="1"/>
          </p:cNvSpPr>
          <p:nvPr>
            <p:ph type="title"/>
          </p:nvPr>
        </p:nvSpPr>
        <p:spPr/>
        <p:txBody>
          <a:bodyPr/>
          <a:lstStyle/>
          <a:p>
            <a:r>
              <a:rPr lang="en-US" altLang="zh-TW" dirty="0"/>
              <a:t>RIS</a:t>
            </a:r>
            <a:endParaRPr lang="zh-TW" altLang="en-US" dirty="0"/>
          </a:p>
        </p:txBody>
      </p:sp>
      <p:sp>
        <p:nvSpPr>
          <p:cNvPr id="3" name="內容版面配置區 2">
            <a:extLst>
              <a:ext uri="{FF2B5EF4-FFF2-40B4-BE49-F238E27FC236}">
                <a16:creationId xmlns:a16="http://schemas.microsoft.com/office/drawing/2014/main" id="{124FEB6F-9664-B5C4-4416-DFF59EA21FFD}"/>
              </a:ext>
            </a:extLst>
          </p:cNvPr>
          <p:cNvSpPr>
            <a:spLocks noGrp="1"/>
          </p:cNvSpPr>
          <p:nvPr>
            <p:ph idx="1"/>
          </p:nvPr>
        </p:nvSpPr>
        <p:spPr/>
        <p:txBody>
          <a:bodyPr/>
          <a:lstStyle/>
          <a:p>
            <a:r>
              <a:rPr lang="en-US" altLang="zh-TW" dirty="0"/>
              <a:t>S = 4683571</a:t>
            </a:r>
          </a:p>
          <a:p>
            <a:endParaRPr lang="zh-TW" altLang="en-US" dirty="0"/>
          </a:p>
        </p:txBody>
      </p:sp>
      <p:sp>
        <p:nvSpPr>
          <p:cNvPr id="4" name="投影片編號版面配置區 3">
            <a:extLst>
              <a:ext uri="{FF2B5EF4-FFF2-40B4-BE49-F238E27FC236}">
                <a16:creationId xmlns:a16="http://schemas.microsoft.com/office/drawing/2014/main" id="{5D3E7994-B6B8-B893-707C-148D980B35C6}"/>
              </a:ext>
            </a:extLst>
          </p:cNvPr>
          <p:cNvSpPr>
            <a:spLocks noGrp="1"/>
          </p:cNvSpPr>
          <p:nvPr>
            <p:ph type="sldNum" sz="quarter" idx="12"/>
          </p:nvPr>
        </p:nvSpPr>
        <p:spPr/>
        <p:txBody>
          <a:bodyPr/>
          <a:lstStyle/>
          <a:p>
            <a:fld id="{4CD2C34A-D3D3-4A9B-8692-9279E332F0C9}" type="slidenum">
              <a:rPr lang="zh-TW" altLang="en-US" smtClean="0"/>
              <a:pPr/>
              <a:t>6</a:t>
            </a:fld>
            <a:endParaRPr lang="zh-TW" altLang="en-US" dirty="0"/>
          </a:p>
        </p:txBody>
      </p:sp>
      <p:graphicFrame>
        <p:nvGraphicFramePr>
          <p:cNvPr id="5" name="表格 5">
            <a:extLst>
              <a:ext uri="{FF2B5EF4-FFF2-40B4-BE49-F238E27FC236}">
                <a16:creationId xmlns:a16="http://schemas.microsoft.com/office/drawing/2014/main" id="{28A828CD-9F9D-F154-6D54-AAF5C73DBA07}"/>
              </a:ext>
            </a:extLst>
          </p:cNvPr>
          <p:cNvGraphicFramePr>
            <a:graphicFrameLocks noGrp="1"/>
          </p:cNvGraphicFramePr>
          <p:nvPr>
            <p:extLst>
              <p:ext uri="{D42A27DB-BD31-4B8C-83A1-F6EECF244321}">
                <p14:modId xmlns:p14="http://schemas.microsoft.com/office/powerpoint/2010/main" val="2470833092"/>
              </p:ext>
            </p:extLst>
          </p:nvPr>
        </p:nvGraphicFramePr>
        <p:xfrm>
          <a:off x="4064000" y="1943894"/>
          <a:ext cx="4064000" cy="4114800"/>
        </p:xfrm>
        <a:graphic>
          <a:graphicData uri="http://schemas.openxmlformats.org/drawingml/2006/table">
            <a:tbl>
              <a:tblPr firstRow="1" bandRow="1">
                <a:tableStyleId>{5940675A-B579-460E-94D1-54222C63F5DA}</a:tableStyleId>
              </a:tblPr>
              <a:tblGrid>
                <a:gridCol w="1016000">
                  <a:extLst>
                    <a:ext uri="{9D8B030D-6E8A-4147-A177-3AD203B41FA5}">
                      <a16:colId xmlns:a16="http://schemas.microsoft.com/office/drawing/2014/main" val="2292036816"/>
                    </a:ext>
                  </a:extLst>
                </a:gridCol>
                <a:gridCol w="1016000">
                  <a:extLst>
                    <a:ext uri="{9D8B030D-6E8A-4147-A177-3AD203B41FA5}">
                      <a16:colId xmlns:a16="http://schemas.microsoft.com/office/drawing/2014/main" val="1627812906"/>
                    </a:ext>
                  </a:extLst>
                </a:gridCol>
                <a:gridCol w="1016000">
                  <a:extLst>
                    <a:ext uri="{9D8B030D-6E8A-4147-A177-3AD203B41FA5}">
                      <a16:colId xmlns:a16="http://schemas.microsoft.com/office/drawing/2014/main" val="2182121174"/>
                    </a:ext>
                  </a:extLst>
                </a:gridCol>
                <a:gridCol w="1016000">
                  <a:extLst>
                    <a:ext uri="{9D8B030D-6E8A-4147-A177-3AD203B41FA5}">
                      <a16:colId xmlns:a16="http://schemas.microsoft.com/office/drawing/2014/main" val="2737181370"/>
                    </a:ext>
                  </a:extLst>
                </a:gridCol>
              </a:tblGrid>
              <a:tr h="370840">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altLang="zh-TW" sz="2400" dirty="0">
                          <a:latin typeface="Times New Roman" panose="02020603050405020304" pitchFamily="18" charset="0"/>
                          <a:cs typeface="Times New Roman" panose="02020603050405020304" pitchFamily="18" charset="0"/>
                        </a:rPr>
                        <a:t>Length</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16843278"/>
                  </a:ext>
                </a:extLst>
              </a:tr>
              <a:tr h="370840">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816472"/>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4</a:t>
                      </a:r>
                    </a:p>
                  </a:txBody>
                  <a:tcPr>
                    <a:lnT w="12700" cap="flat" cmpd="sng" algn="ctr">
                      <a:solidFill>
                        <a:schemeClr val="tx1"/>
                      </a:solidFill>
                      <a:prstDash val="solid"/>
                      <a:round/>
                      <a:headEnd type="none" w="med" len="med"/>
                      <a:tailEnd type="none" w="med" len="med"/>
                    </a:lnT>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6103028"/>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74054050"/>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90567774"/>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96600671"/>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1798655"/>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37917285"/>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65838346"/>
                  </a:ext>
                </a:extLst>
              </a:tr>
            </a:tbl>
          </a:graphicData>
        </a:graphic>
      </p:graphicFrame>
    </p:spTree>
    <p:extLst>
      <p:ext uri="{BB962C8B-B14F-4D97-AF65-F5344CB8AC3E}">
        <p14:creationId xmlns:p14="http://schemas.microsoft.com/office/powerpoint/2010/main" val="2202860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5DDF40-961F-D938-6CA7-AEAACEA6C226}"/>
              </a:ext>
            </a:extLst>
          </p:cNvPr>
          <p:cNvSpPr>
            <a:spLocks noGrp="1"/>
          </p:cNvSpPr>
          <p:nvPr>
            <p:ph type="title"/>
          </p:nvPr>
        </p:nvSpPr>
        <p:spPr/>
        <p:txBody>
          <a:bodyPr/>
          <a:lstStyle/>
          <a:p>
            <a:r>
              <a:rPr lang="en-US" altLang="zh-TW" dirty="0"/>
              <a:t>MHLIS</a:t>
            </a:r>
            <a:endParaRPr lang="zh-TW" altLang="en-US" dirty="0"/>
          </a:p>
        </p:txBody>
      </p:sp>
      <p:pic>
        <p:nvPicPr>
          <p:cNvPr id="6" name="內容版面配置區 5">
            <a:extLst>
              <a:ext uri="{FF2B5EF4-FFF2-40B4-BE49-F238E27FC236}">
                <a16:creationId xmlns:a16="http://schemas.microsoft.com/office/drawing/2014/main" id="{3922E9B5-5D94-FEE8-7FBA-5D06E58CF0EB}"/>
              </a:ext>
            </a:extLst>
          </p:cNvPr>
          <p:cNvPicPr>
            <a:picLocks noGrp="1" noChangeAspect="1"/>
          </p:cNvPicPr>
          <p:nvPr>
            <p:ph idx="1"/>
          </p:nvPr>
        </p:nvPicPr>
        <p:blipFill>
          <a:blip r:embed="rId2"/>
          <a:stretch>
            <a:fillRect/>
          </a:stretch>
        </p:blipFill>
        <p:spPr>
          <a:xfrm>
            <a:off x="838200" y="2879803"/>
            <a:ext cx="10515600" cy="2287431"/>
          </a:xfrm>
        </p:spPr>
      </p:pic>
      <p:sp>
        <p:nvSpPr>
          <p:cNvPr id="4" name="投影片編號版面配置區 3">
            <a:extLst>
              <a:ext uri="{FF2B5EF4-FFF2-40B4-BE49-F238E27FC236}">
                <a16:creationId xmlns:a16="http://schemas.microsoft.com/office/drawing/2014/main" id="{B205B60D-BFD8-B382-2C76-41140276B7DE}"/>
              </a:ext>
            </a:extLst>
          </p:cNvPr>
          <p:cNvSpPr>
            <a:spLocks noGrp="1"/>
          </p:cNvSpPr>
          <p:nvPr>
            <p:ph type="sldNum" sz="quarter" idx="12"/>
          </p:nvPr>
        </p:nvSpPr>
        <p:spPr/>
        <p:txBody>
          <a:bodyPr/>
          <a:lstStyle/>
          <a:p>
            <a:fld id="{4CD2C34A-D3D3-4A9B-8692-9279E332F0C9}" type="slidenum">
              <a:rPr lang="zh-TW" altLang="en-US" smtClean="0"/>
              <a:pPr/>
              <a:t>7</a:t>
            </a:fld>
            <a:endParaRPr lang="zh-TW" altLang="en-US" dirty="0"/>
          </a:p>
        </p:txBody>
      </p:sp>
      <p:sp>
        <p:nvSpPr>
          <p:cNvPr id="7" name="文字方塊 6">
            <a:extLst>
              <a:ext uri="{FF2B5EF4-FFF2-40B4-BE49-F238E27FC236}">
                <a16:creationId xmlns:a16="http://schemas.microsoft.com/office/drawing/2014/main" id="{FEF2C013-8C04-4410-B55F-CDAD4C8FA4B9}"/>
              </a:ext>
            </a:extLst>
          </p:cNvPr>
          <p:cNvSpPr txBox="1"/>
          <p:nvPr/>
        </p:nvSpPr>
        <p:spPr>
          <a:xfrm>
            <a:off x="7829005" y="2525485"/>
            <a:ext cx="1767841"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Height = 1</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F1086321-18A9-53AF-4BFB-F147F8863556}"/>
              </a:ext>
            </a:extLst>
          </p:cNvPr>
          <p:cNvSpPr txBox="1"/>
          <p:nvPr/>
        </p:nvSpPr>
        <p:spPr>
          <a:xfrm>
            <a:off x="6500948" y="3088410"/>
            <a:ext cx="1767841"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Height = 1</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C8352F2C-A8F8-BB71-D128-ABE62612924C}"/>
              </a:ext>
            </a:extLst>
          </p:cNvPr>
          <p:cNvSpPr txBox="1"/>
          <p:nvPr/>
        </p:nvSpPr>
        <p:spPr>
          <a:xfrm>
            <a:off x="2497182" y="2240979"/>
            <a:ext cx="1767841"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Height = 2</a:t>
            </a:r>
            <a:endParaRPr lang="zh-TW" altLang="en-US" sz="2400" dirty="0">
              <a:latin typeface="Times New Roman" panose="02020603050405020304" pitchFamily="18" charset="0"/>
              <a:cs typeface="Times New Roman" panose="02020603050405020304" pitchFamily="18" charset="0"/>
            </a:endParaRPr>
          </a:p>
        </p:txBody>
      </p:sp>
      <p:cxnSp>
        <p:nvCxnSpPr>
          <p:cNvPr id="11" name="直線接點 10">
            <a:extLst>
              <a:ext uri="{FF2B5EF4-FFF2-40B4-BE49-F238E27FC236}">
                <a16:creationId xmlns:a16="http://schemas.microsoft.com/office/drawing/2014/main" id="{B1301377-C505-4822-8601-F5D518A66B3B}"/>
              </a:ext>
            </a:extLst>
          </p:cNvPr>
          <p:cNvCxnSpPr>
            <a:cxnSpLocks/>
            <a:stCxn id="9" idx="2"/>
          </p:cNvCxnSpPr>
          <p:nvPr/>
        </p:nvCxnSpPr>
        <p:spPr>
          <a:xfrm flipH="1">
            <a:off x="3381102" y="2702644"/>
            <a:ext cx="1" cy="616598"/>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84067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7A2856-835F-2D2F-F9A5-7EEB50FEC49B}"/>
              </a:ext>
            </a:extLst>
          </p:cNvPr>
          <p:cNvSpPr>
            <a:spLocks noGrp="1"/>
          </p:cNvSpPr>
          <p:nvPr>
            <p:ph type="title"/>
          </p:nvPr>
        </p:nvSpPr>
        <p:spPr/>
        <p:txBody>
          <a:bodyPr/>
          <a:lstStyle/>
          <a:p>
            <a:r>
              <a:rPr lang="en-US" altLang="zh-TW" dirty="0"/>
              <a:t>Time Complexity</a:t>
            </a:r>
            <a:endParaRPr lang="zh-TW" altLang="en-US" dirty="0"/>
          </a:p>
        </p:txBody>
      </p:sp>
      <p:sp>
        <p:nvSpPr>
          <p:cNvPr id="3" name="內容版面配置區 2">
            <a:extLst>
              <a:ext uri="{FF2B5EF4-FFF2-40B4-BE49-F238E27FC236}">
                <a16:creationId xmlns:a16="http://schemas.microsoft.com/office/drawing/2014/main" id="{D36AACF3-FE75-DB7D-1D27-97C1B13CDFF9}"/>
              </a:ext>
            </a:extLst>
          </p:cNvPr>
          <p:cNvSpPr>
            <a:spLocks noGrp="1"/>
          </p:cNvSpPr>
          <p:nvPr>
            <p:ph idx="1"/>
          </p:nvPr>
        </p:nvSpPr>
        <p:spPr/>
        <p:txBody>
          <a:bodyPr>
            <a:normAutofit/>
          </a:bodyPr>
          <a:lstStyle/>
          <a:p>
            <a:r>
              <a:rPr lang="en-US" altLang="zh-TW" dirty="0"/>
              <a:t>O(n log n)</a:t>
            </a:r>
          </a:p>
          <a:p>
            <a:pPr lvl="1"/>
            <a:r>
              <a:rPr lang="en-US" altLang="zh-TW" dirty="0"/>
              <a:t>Deciding the length of LIS</a:t>
            </a:r>
          </a:p>
          <a:p>
            <a:pPr lvl="2"/>
            <a:r>
              <a:rPr lang="en-US" altLang="zh-TW" dirty="0"/>
              <a:t>O(log n)</a:t>
            </a:r>
          </a:p>
          <a:p>
            <a:pPr lvl="1"/>
            <a:r>
              <a:rPr lang="en-US" altLang="zh-TW" dirty="0"/>
              <a:t>Finding predecessor</a:t>
            </a:r>
          </a:p>
          <a:p>
            <a:pPr lvl="2"/>
            <a:r>
              <a:rPr lang="en-US" altLang="zh-TW" dirty="0"/>
              <a:t>O(log n)</a:t>
            </a:r>
          </a:p>
          <a:p>
            <a:pPr lvl="1"/>
            <a:r>
              <a:rPr lang="en-US" altLang="zh-TW" dirty="0"/>
              <a:t>Inserting</a:t>
            </a:r>
          </a:p>
          <a:p>
            <a:pPr lvl="2"/>
            <a:r>
              <a:rPr lang="en-US" altLang="zh-TW" dirty="0"/>
              <a:t>O(log n)</a:t>
            </a:r>
          </a:p>
          <a:p>
            <a:pPr lvl="1"/>
            <a:r>
              <a:rPr lang="en-US" altLang="zh-TW" dirty="0"/>
              <a:t>Tracing</a:t>
            </a:r>
          </a:p>
          <a:p>
            <a:pPr lvl="2"/>
            <a:r>
              <a:rPr lang="en-US" altLang="zh-TW" dirty="0"/>
              <a:t>O(n)</a:t>
            </a:r>
          </a:p>
        </p:txBody>
      </p:sp>
      <p:sp>
        <p:nvSpPr>
          <p:cNvPr id="4" name="投影片編號版面配置區 3">
            <a:extLst>
              <a:ext uri="{FF2B5EF4-FFF2-40B4-BE49-F238E27FC236}">
                <a16:creationId xmlns:a16="http://schemas.microsoft.com/office/drawing/2014/main" id="{4E4D56C8-CBC0-6829-89C0-EBC7576A4EE8}"/>
              </a:ext>
            </a:extLst>
          </p:cNvPr>
          <p:cNvSpPr>
            <a:spLocks noGrp="1"/>
          </p:cNvSpPr>
          <p:nvPr>
            <p:ph type="sldNum" sz="quarter" idx="12"/>
          </p:nvPr>
        </p:nvSpPr>
        <p:spPr/>
        <p:txBody>
          <a:bodyPr/>
          <a:lstStyle/>
          <a:p>
            <a:fld id="{4CD2C34A-D3D3-4A9B-8692-9279E332F0C9}" type="slidenum">
              <a:rPr lang="zh-TW" altLang="en-US" smtClean="0"/>
              <a:pPr/>
              <a:t>8</a:t>
            </a:fld>
            <a:endParaRPr lang="zh-TW" altLang="en-US" dirty="0"/>
          </a:p>
        </p:txBody>
      </p:sp>
    </p:spTree>
    <p:extLst>
      <p:ext uri="{BB962C8B-B14F-4D97-AF65-F5344CB8AC3E}">
        <p14:creationId xmlns:p14="http://schemas.microsoft.com/office/powerpoint/2010/main" val="1369504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CA30A2-4306-BF88-00CB-B85F2009ED29}"/>
              </a:ext>
            </a:extLst>
          </p:cNvPr>
          <p:cNvSpPr>
            <a:spLocks noGrp="1"/>
          </p:cNvSpPr>
          <p:nvPr>
            <p:ph type="title"/>
          </p:nvPr>
        </p:nvSpPr>
        <p:spPr/>
        <p:txBody>
          <a:bodyPr/>
          <a:lstStyle/>
          <a:p>
            <a:r>
              <a:rPr lang="en-US" altLang="zh-TW" dirty="0"/>
              <a:t>Sequence Constrained LIS</a:t>
            </a:r>
            <a:endParaRPr lang="zh-TW" altLang="en-US" dirty="0"/>
          </a:p>
        </p:txBody>
      </p:sp>
      <p:sp>
        <p:nvSpPr>
          <p:cNvPr id="3" name="內容版面配置區 2">
            <a:extLst>
              <a:ext uri="{FF2B5EF4-FFF2-40B4-BE49-F238E27FC236}">
                <a16:creationId xmlns:a16="http://schemas.microsoft.com/office/drawing/2014/main" id="{9DF2E7B9-960D-21D4-6198-6F1211365224}"/>
              </a:ext>
            </a:extLst>
          </p:cNvPr>
          <p:cNvSpPr>
            <a:spLocks noGrp="1"/>
          </p:cNvSpPr>
          <p:nvPr>
            <p:ph idx="1"/>
          </p:nvPr>
        </p:nvSpPr>
        <p:spPr/>
        <p:txBody>
          <a:bodyPr/>
          <a:lstStyle/>
          <a:p>
            <a:r>
              <a:rPr lang="en-US" altLang="zh-TW" dirty="0"/>
              <a:t>S = 1</a:t>
            </a:r>
            <a:r>
              <a:rPr lang="en-US" altLang="zh-TW" dirty="0">
                <a:solidFill>
                  <a:srgbClr val="FF0000"/>
                </a:solidFill>
              </a:rPr>
              <a:t>5</a:t>
            </a:r>
            <a:r>
              <a:rPr lang="en-US" altLang="zh-TW" dirty="0"/>
              <a:t>2</a:t>
            </a:r>
            <a:r>
              <a:rPr lang="en-US" altLang="zh-TW" dirty="0">
                <a:solidFill>
                  <a:srgbClr val="FF0000"/>
                </a:solidFill>
              </a:rPr>
              <a:t>9</a:t>
            </a:r>
            <a:r>
              <a:rPr lang="en-US" altLang="zh-TW" dirty="0"/>
              <a:t>367</a:t>
            </a:r>
          </a:p>
          <a:p>
            <a:r>
              <a:rPr lang="en-US" altLang="zh-TW" dirty="0"/>
              <a:t>C = </a:t>
            </a:r>
            <a:r>
              <a:rPr lang="en-US" altLang="zh-TW" dirty="0">
                <a:solidFill>
                  <a:srgbClr val="FF0000"/>
                </a:solidFill>
              </a:rPr>
              <a:t>59</a:t>
            </a:r>
          </a:p>
          <a:p>
            <a:r>
              <a:rPr lang="en-US" altLang="zh-TW" dirty="0"/>
              <a:t>LIS</a:t>
            </a:r>
          </a:p>
          <a:p>
            <a:pPr lvl="1"/>
            <a:r>
              <a:rPr lang="en-US" altLang="zh-TW" dirty="0"/>
              <a:t>12367</a:t>
            </a:r>
          </a:p>
          <a:p>
            <a:r>
              <a:rPr lang="en-US" altLang="zh-TW" dirty="0"/>
              <a:t>SCLIS</a:t>
            </a:r>
          </a:p>
          <a:p>
            <a:pPr lvl="1"/>
            <a:r>
              <a:rPr lang="en-US" altLang="zh-TW" dirty="0"/>
              <a:t>1</a:t>
            </a:r>
            <a:r>
              <a:rPr lang="en-US" altLang="zh-TW" dirty="0">
                <a:solidFill>
                  <a:srgbClr val="FF0000"/>
                </a:solidFill>
              </a:rPr>
              <a:t>59</a:t>
            </a:r>
            <a:endParaRPr lang="zh-TW" altLang="en-US" dirty="0">
              <a:solidFill>
                <a:srgbClr val="FF0000"/>
              </a:solidFill>
            </a:endParaRPr>
          </a:p>
        </p:txBody>
      </p:sp>
      <p:sp>
        <p:nvSpPr>
          <p:cNvPr id="4" name="投影片編號版面配置區 3">
            <a:extLst>
              <a:ext uri="{FF2B5EF4-FFF2-40B4-BE49-F238E27FC236}">
                <a16:creationId xmlns:a16="http://schemas.microsoft.com/office/drawing/2014/main" id="{786367FE-CB3E-7FF8-12EB-64FCD4419E3D}"/>
              </a:ext>
            </a:extLst>
          </p:cNvPr>
          <p:cNvSpPr>
            <a:spLocks noGrp="1"/>
          </p:cNvSpPr>
          <p:nvPr>
            <p:ph type="sldNum" sz="quarter" idx="12"/>
          </p:nvPr>
        </p:nvSpPr>
        <p:spPr/>
        <p:txBody>
          <a:bodyPr/>
          <a:lstStyle/>
          <a:p>
            <a:fld id="{4CD2C34A-D3D3-4A9B-8692-9279E332F0C9}" type="slidenum">
              <a:rPr lang="zh-TW" altLang="en-US" smtClean="0"/>
              <a:pPr/>
              <a:t>9</a:t>
            </a:fld>
            <a:endParaRPr lang="zh-TW" altLang="en-US" dirty="0"/>
          </a:p>
        </p:txBody>
      </p:sp>
    </p:spTree>
    <p:extLst>
      <p:ext uri="{BB962C8B-B14F-4D97-AF65-F5344CB8AC3E}">
        <p14:creationId xmlns:p14="http://schemas.microsoft.com/office/powerpoint/2010/main" val="2298799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196A28-AAA6-133D-5C6B-8ACDDB6FBE60}"/>
              </a:ext>
            </a:extLst>
          </p:cNvPr>
          <p:cNvSpPr>
            <a:spLocks noGrp="1"/>
          </p:cNvSpPr>
          <p:nvPr>
            <p:ph type="title"/>
          </p:nvPr>
        </p:nvSpPr>
        <p:spPr/>
        <p:txBody>
          <a:bodyPr/>
          <a:lstStyle/>
          <a:p>
            <a:r>
              <a:rPr lang="en-US" altLang="zh-TW" dirty="0"/>
              <a:t>SCLIS</a:t>
            </a:r>
            <a:endParaRPr lang="zh-TW" altLang="en-US" dirty="0"/>
          </a:p>
        </p:txBody>
      </p:sp>
      <p:pic>
        <p:nvPicPr>
          <p:cNvPr id="8" name="內容版面配置區 7">
            <a:extLst>
              <a:ext uri="{FF2B5EF4-FFF2-40B4-BE49-F238E27FC236}">
                <a16:creationId xmlns:a16="http://schemas.microsoft.com/office/drawing/2014/main" id="{04F90AD4-D541-C6BC-F3F3-05AA6741E298}"/>
              </a:ext>
            </a:extLst>
          </p:cNvPr>
          <p:cNvPicPr>
            <a:picLocks noGrp="1" noChangeAspect="1"/>
          </p:cNvPicPr>
          <p:nvPr>
            <p:ph idx="1"/>
          </p:nvPr>
        </p:nvPicPr>
        <p:blipFill>
          <a:blip r:embed="rId2"/>
          <a:stretch>
            <a:fillRect/>
          </a:stretch>
        </p:blipFill>
        <p:spPr>
          <a:xfrm>
            <a:off x="838200" y="2094368"/>
            <a:ext cx="10515600" cy="1973981"/>
          </a:xfrm>
        </p:spPr>
      </p:pic>
      <p:sp>
        <p:nvSpPr>
          <p:cNvPr id="4" name="投影片編號版面配置區 3">
            <a:extLst>
              <a:ext uri="{FF2B5EF4-FFF2-40B4-BE49-F238E27FC236}">
                <a16:creationId xmlns:a16="http://schemas.microsoft.com/office/drawing/2014/main" id="{5E34FFED-72FA-CEFB-3B74-D21E6CAD3887}"/>
              </a:ext>
            </a:extLst>
          </p:cNvPr>
          <p:cNvSpPr>
            <a:spLocks noGrp="1"/>
          </p:cNvSpPr>
          <p:nvPr>
            <p:ph type="sldNum" sz="quarter" idx="12"/>
          </p:nvPr>
        </p:nvSpPr>
        <p:spPr/>
        <p:txBody>
          <a:bodyPr/>
          <a:lstStyle/>
          <a:p>
            <a:fld id="{4CD2C34A-D3D3-4A9B-8692-9279E332F0C9}" type="slidenum">
              <a:rPr lang="zh-TW" altLang="en-US" smtClean="0"/>
              <a:pPr/>
              <a:t>10</a:t>
            </a:fld>
            <a:endParaRPr lang="zh-TW" altLang="en-US" dirty="0"/>
          </a:p>
        </p:txBody>
      </p:sp>
      <p:sp>
        <p:nvSpPr>
          <p:cNvPr id="6" name="文字方塊 5">
            <a:extLst>
              <a:ext uri="{FF2B5EF4-FFF2-40B4-BE49-F238E27FC236}">
                <a16:creationId xmlns:a16="http://schemas.microsoft.com/office/drawing/2014/main" id="{41D81F2D-AB13-1345-B87D-90C2AB6EBD2A}"/>
              </a:ext>
            </a:extLst>
          </p:cNvPr>
          <p:cNvSpPr txBox="1"/>
          <p:nvPr/>
        </p:nvSpPr>
        <p:spPr>
          <a:xfrm>
            <a:off x="6749142" y="4981517"/>
            <a:ext cx="4604658" cy="461665"/>
          </a:xfrm>
          <a:prstGeom prst="rect">
            <a:avLst/>
          </a:prstGeom>
          <a:noFill/>
        </p:spPr>
        <p:txBody>
          <a:bodyPr wrap="square" rtlCol="0">
            <a:spAutoFit/>
          </a:bodyPr>
          <a:lstStyle/>
          <a:p>
            <a:pPr algn="r"/>
            <a:r>
              <a:rPr lang="en-US" altLang="zh-TW" sz="2400" dirty="0">
                <a:latin typeface="Times New Roman" panose="02020603050405020304" pitchFamily="18" charset="0"/>
                <a:cs typeface="Times New Roman" panose="02020603050405020304" pitchFamily="18" charset="0"/>
              </a:rPr>
              <a:t>Time Complexity: </a:t>
            </a:r>
            <a:r>
              <a:rPr lang="pt-BR" altLang="zh-TW" sz="2400" dirty="0">
                <a:latin typeface="Times New Roman" panose="02020603050405020304" pitchFamily="18" charset="0"/>
                <a:cs typeface="Times New Roman" panose="02020603050405020304" pitchFamily="18" charset="0"/>
              </a:rPr>
              <a:t>O(n log(n + |C|))</a:t>
            </a:r>
          </a:p>
        </p:txBody>
      </p:sp>
    </p:spTree>
    <p:extLst>
      <p:ext uri="{BB962C8B-B14F-4D97-AF65-F5344CB8AC3E}">
        <p14:creationId xmlns:p14="http://schemas.microsoft.com/office/powerpoint/2010/main" val="474562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9C8AA6-5ED1-D76D-40A1-FAB869F6D589}"/>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The Constrained RIS Table </a:t>
            </a:r>
            <a:endParaRPr lang="zh-TW" altLang="en-US" sz="4400"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F4BC1E72-D9F7-6D67-E78B-CDDFA2856DDD}"/>
              </a:ext>
            </a:extLst>
          </p:cNvPr>
          <p:cNvPicPr>
            <a:picLocks noGrp="1" noChangeAspect="1"/>
          </p:cNvPicPr>
          <p:nvPr>
            <p:ph idx="1"/>
          </p:nvPr>
        </p:nvPicPr>
        <p:blipFill>
          <a:blip r:embed="rId2"/>
          <a:stretch>
            <a:fillRect/>
          </a:stretch>
        </p:blipFill>
        <p:spPr>
          <a:xfrm>
            <a:off x="838200" y="1943372"/>
            <a:ext cx="10515600" cy="3654924"/>
          </a:xfrm>
        </p:spPr>
      </p:pic>
      <p:sp>
        <p:nvSpPr>
          <p:cNvPr id="4" name="投影片編號版面配置區 3">
            <a:extLst>
              <a:ext uri="{FF2B5EF4-FFF2-40B4-BE49-F238E27FC236}">
                <a16:creationId xmlns:a16="http://schemas.microsoft.com/office/drawing/2014/main" id="{4B6D8250-5F28-6CFB-ABD6-06E2BDBDC072}"/>
              </a:ext>
            </a:extLst>
          </p:cNvPr>
          <p:cNvSpPr>
            <a:spLocks noGrp="1"/>
          </p:cNvSpPr>
          <p:nvPr>
            <p:ph type="sldNum" sz="quarter" idx="12"/>
          </p:nvPr>
        </p:nvSpPr>
        <p:spPr/>
        <p:txBody>
          <a:bodyPr/>
          <a:lstStyle/>
          <a:p>
            <a:fld id="{4CD2C34A-D3D3-4A9B-8692-9279E332F0C9}" type="slidenum">
              <a:rPr lang="zh-TW" altLang="en-US" smtClean="0"/>
              <a:pPr/>
              <a:t>11</a:t>
            </a:fld>
            <a:endParaRPr lang="zh-TW" altLang="en-US" dirty="0"/>
          </a:p>
        </p:txBody>
      </p:sp>
      <p:sp>
        <p:nvSpPr>
          <p:cNvPr id="8" name="文字方塊 7">
            <a:extLst>
              <a:ext uri="{FF2B5EF4-FFF2-40B4-BE49-F238E27FC236}">
                <a16:creationId xmlns:a16="http://schemas.microsoft.com/office/drawing/2014/main" id="{2F7C95ED-CB8E-E42A-AE1B-11FC111B7BF6}"/>
              </a:ext>
            </a:extLst>
          </p:cNvPr>
          <p:cNvSpPr txBox="1"/>
          <p:nvPr/>
        </p:nvSpPr>
        <p:spPr>
          <a:xfrm>
            <a:off x="6749142" y="5746490"/>
            <a:ext cx="4604658" cy="461665"/>
          </a:xfrm>
          <a:prstGeom prst="rect">
            <a:avLst/>
          </a:prstGeom>
          <a:noFill/>
        </p:spPr>
        <p:txBody>
          <a:bodyPr wrap="square" rtlCol="0">
            <a:spAutoFit/>
          </a:bodyPr>
          <a:lstStyle/>
          <a:p>
            <a:pPr algn="r"/>
            <a:r>
              <a:rPr lang="en-US" altLang="zh-TW" sz="2400" dirty="0">
                <a:latin typeface="Times New Roman" panose="02020603050405020304" pitchFamily="18" charset="0"/>
                <a:cs typeface="Times New Roman" panose="02020603050405020304" pitchFamily="18" charset="0"/>
              </a:rPr>
              <a:t>Time Complexity: </a:t>
            </a:r>
            <a:r>
              <a:rPr lang="pt-BR" altLang="zh-TW" sz="2400" dirty="0">
                <a:latin typeface="Times New Roman" panose="02020603050405020304" pitchFamily="18" charset="0"/>
                <a:cs typeface="Times New Roman" panose="02020603050405020304" pitchFamily="18" charset="0"/>
              </a:rPr>
              <a:t>O(n</a:t>
            </a:r>
            <a:r>
              <a:rPr lang="pt-BR" altLang="zh-TW" sz="2400" baseline="30000" dirty="0">
                <a:latin typeface="Times New Roman" panose="02020603050405020304" pitchFamily="18" charset="0"/>
                <a:cs typeface="Times New Roman" panose="02020603050405020304" pitchFamily="18" charset="0"/>
              </a:rPr>
              <a:t>2</a:t>
            </a:r>
            <a:r>
              <a:rPr lang="en-US" altLang="zh-TW" sz="2400" dirty="0"/>
              <a:t> </a:t>
            </a:r>
            <a:r>
              <a:rPr lang="en-US" altLang="zh-TW" sz="2400" dirty="0">
                <a:latin typeface="Times New Roman" panose="02020603050405020304" pitchFamily="18" charset="0"/>
                <a:cs typeface="Times New Roman" panose="02020603050405020304" pitchFamily="18" charset="0"/>
              </a:rPr>
              <a:t>log </a:t>
            </a:r>
            <a:r>
              <a:rPr lang="en-US" altLang="zh-TW" sz="2400" dirty="0" err="1">
                <a:latin typeface="Times New Roman" panose="02020603050405020304" pitchFamily="18" charset="0"/>
                <a:cs typeface="Times New Roman" panose="02020603050405020304" pitchFamily="18" charset="0"/>
              </a:rPr>
              <a:t>log</a:t>
            </a:r>
            <a:r>
              <a:rPr lang="en-US" altLang="zh-TW" sz="2400" dirty="0">
                <a:latin typeface="Times New Roman" panose="02020603050405020304" pitchFamily="18" charset="0"/>
                <a:cs typeface="Times New Roman" panose="02020603050405020304" pitchFamily="18" charset="0"/>
              </a:rPr>
              <a:t> n</a:t>
            </a:r>
            <a:r>
              <a:rPr lang="pt-BR" altLang="zh-TW" sz="2400" dirty="0">
                <a:latin typeface="Times New Roman" panose="02020603050405020304" pitchFamily="18" charset="0"/>
                <a:cs typeface="Times New Roman" panose="02020603050405020304" pitchFamily="18" charset="0"/>
              </a:rPr>
              <a:t>)</a:t>
            </a:r>
          </a:p>
        </p:txBody>
      </p:sp>
      <p:sp>
        <p:nvSpPr>
          <p:cNvPr id="3" name="矩形 2">
            <a:extLst>
              <a:ext uri="{FF2B5EF4-FFF2-40B4-BE49-F238E27FC236}">
                <a16:creationId xmlns:a16="http://schemas.microsoft.com/office/drawing/2014/main" id="{7A85EC14-7AA6-2A0C-5DF7-7BDEF0D210D6}"/>
              </a:ext>
            </a:extLst>
          </p:cNvPr>
          <p:cNvSpPr/>
          <p:nvPr/>
        </p:nvSpPr>
        <p:spPr>
          <a:xfrm>
            <a:off x="3204839" y="2025587"/>
            <a:ext cx="1154097" cy="34622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45C918F9-6795-F9BD-AA4B-83EEB35378DE}"/>
              </a:ext>
            </a:extLst>
          </p:cNvPr>
          <p:cNvSpPr/>
          <p:nvPr/>
        </p:nvSpPr>
        <p:spPr>
          <a:xfrm>
            <a:off x="5518951" y="2027066"/>
            <a:ext cx="1154097" cy="34622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0780387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1671</TotalTime>
  <Words>465</Words>
  <Application>Microsoft Office PowerPoint</Application>
  <PresentationFormat>寬螢幕</PresentationFormat>
  <Paragraphs>97</Paragraphs>
  <Slides>11</Slides>
  <Notes>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源流明體 M</vt:lpstr>
      <vt:lpstr>Arial</vt:lpstr>
      <vt:lpstr>Calibri</vt:lpstr>
      <vt:lpstr>Times New Roman</vt:lpstr>
      <vt:lpstr>Office 佈景主題</vt:lpstr>
      <vt:lpstr>Minimum Height and Sequence Constrained Longest Increasing Subsequence</vt:lpstr>
      <vt:lpstr>Abstract</vt:lpstr>
      <vt:lpstr>Longest Increasing Subsequence</vt:lpstr>
      <vt:lpstr>Minimum Height LIS</vt:lpstr>
      <vt:lpstr>Representative Increasing Subsequence</vt:lpstr>
      <vt:lpstr>RIS</vt:lpstr>
      <vt:lpstr>MHLIS</vt:lpstr>
      <vt:lpstr>Time Complexity</vt:lpstr>
      <vt:lpstr>Sequence Constrained LIS</vt:lpstr>
      <vt:lpstr>SCLIS</vt:lpstr>
      <vt:lpstr>The Constrained RIS Table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Ting B</dc:creator>
  <cp:lastModifiedBy>Ting B</cp:lastModifiedBy>
  <cp:revision>179</cp:revision>
  <dcterms:created xsi:type="dcterms:W3CDTF">2022-02-13T12:00:20Z</dcterms:created>
  <dcterms:modified xsi:type="dcterms:W3CDTF">2022-07-20T09:17:06Z</dcterms:modified>
</cp:coreProperties>
</file>