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56" r:id="rId2"/>
    <p:sldId id="257" r:id="rId3"/>
    <p:sldId id="262" r:id="rId4"/>
    <p:sldId id="267" r:id="rId5"/>
    <p:sldId id="269" r:id="rId6"/>
    <p:sldId id="270" r:id="rId7"/>
    <p:sldId id="264" r:id="rId8"/>
    <p:sldId id="260"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76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9"/>
  </p:normalViewPr>
  <p:slideViewPr>
    <p:cSldViewPr snapToGrid="0" snapToObjects="1">
      <p:cViewPr varScale="1">
        <p:scale>
          <a:sx n="103" d="100"/>
          <a:sy n="103" d="100"/>
        </p:scale>
        <p:origin x="8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4F977-26F7-5341-921E-2277E25CF4B3}" type="datetimeFigureOut">
              <a:rPr kumimoji="1" lang="zh-TW" altLang="en-US" smtClean="0"/>
              <a:t>2022/10/23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3377AA-FD7F-F648-9694-36A8037EECEB}" type="slidenum">
              <a:rPr kumimoji="1" lang="zh-TW" altLang="en-US" smtClean="0"/>
              <a:t>‹#›</a:t>
            </a:fld>
            <a:endParaRPr kumimoji="1" lang="zh-TW" altLang="en-US"/>
          </a:p>
        </p:txBody>
      </p:sp>
    </p:spTree>
    <p:extLst>
      <p:ext uri="{BB962C8B-B14F-4D97-AF65-F5344CB8AC3E}">
        <p14:creationId xmlns:p14="http://schemas.microsoft.com/office/powerpoint/2010/main" val="3946384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B3377AA-FD7F-F648-9694-36A8037EECEB}" type="slidenum">
              <a:rPr kumimoji="1" lang="zh-TW" altLang="en-US" smtClean="0"/>
              <a:t>4</a:t>
            </a:fld>
            <a:endParaRPr kumimoji="1" lang="zh-TW" altLang="en-US"/>
          </a:p>
        </p:txBody>
      </p:sp>
    </p:spTree>
    <p:extLst>
      <p:ext uri="{BB962C8B-B14F-4D97-AF65-F5344CB8AC3E}">
        <p14:creationId xmlns:p14="http://schemas.microsoft.com/office/powerpoint/2010/main" val="149935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B3377AA-FD7F-F648-9694-36A8037EECEB}" type="slidenum">
              <a:rPr kumimoji="1" lang="zh-TW" altLang="en-US" smtClean="0"/>
              <a:t>5</a:t>
            </a:fld>
            <a:endParaRPr kumimoji="1" lang="zh-TW" altLang="en-US"/>
          </a:p>
        </p:txBody>
      </p:sp>
    </p:spTree>
    <p:extLst>
      <p:ext uri="{BB962C8B-B14F-4D97-AF65-F5344CB8AC3E}">
        <p14:creationId xmlns:p14="http://schemas.microsoft.com/office/powerpoint/2010/main" val="3964552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B3377AA-FD7F-F648-9694-36A8037EECEB}" type="slidenum">
              <a:rPr kumimoji="1" lang="zh-TW" altLang="en-US" smtClean="0"/>
              <a:t>6</a:t>
            </a:fld>
            <a:endParaRPr kumimoji="1" lang="zh-TW" altLang="en-US"/>
          </a:p>
        </p:txBody>
      </p:sp>
    </p:spTree>
    <p:extLst>
      <p:ext uri="{BB962C8B-B14F-4D97-AF65-F5344CB8AC3E}">
        <p14:creationId xmlns:p14="http://schemas.microsoft.com/office/powerpoint/2010/main" val="2745430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9B3377AA-FD7F-F648-9694-36A8037EECEB}" type="slidenum">
              <a:rPr kumimoji="1" lang="zh-TW" altLang="en-US" smtClean="0"/>
              <a:t>7</a:t>
            </a:fld>
            <a:endParaRPr kumimoji="1" lang="zh-TW" altLang="en-US"/>
          </a:p>
        </p:txBody>
      </p:sp>
    </p:spTree>
    <p:extLst>
      <p:ext uri="{BB962C8B-B14F-4D97-AF65-F5344CB8AC3E}">
        <p14:creationId xmlns:p14="http://schemas.microsoft.com/office/powerpoint/2010/main" val="1852303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36DF03-7DA7-1D47-BEBD-258AACB661FD}"/>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475E8B7E-20CF-2748-B05D-F1EA01BC8F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1D2F268A-E997-8240-BD6F-5F08E3D60D01}"/>
              </a:ext>
            </a:extLst>
          </p:cNvPr>
          <p:cNvSpPr>
            <a:spLocks noGrp="1"/>
          </p:cNvSpPr>
          <p:nvPr>
            <p:ph type="dt" sz="half" idx="10"/>
          </p:nvPr>
        </p:nvSpPr>
        <p:spPr/>
        <p:txBody>
          <a:bodyPr/>
          <a:lstStyle/>
          <a:p>
            <a:fld id="{244D4A05-1DCF-0F48-8544-5E5A9D1D4FD7}" type="datetime1">
              <a:rPr kumimoji="1" lang="zh-TW" altLang="en-US" smtClean="0"/>
              <a:t>2022/10/23</a:t>
            </a:fld>
            <a:endParaRPr kumimoji="1" lang="zh-TW" altLang="en-US"/>
          </a:p>
        </p:txBody>
      </p:sp>
      <p:sp>
        <p:nvSpPr>
          <p:cNvPr id="5" name="頁尾版面配置區 4">
            <a:extLst>
              <a:ext uri="{FF2B5EF4-FFF2-40B4-BE49-F238E27FC236}">
                <a16:creationId xmlns:a16="http://schemas.microsoft.com/office/drawing/2014/main" id="{466F1600-460F-344C-8965-FB12FE1FF32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D9982BE-72C2-6A44-A1C5-D2A766780E0E}"/>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186434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671DDF-D906-114F-85C5-FB339DEC730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E154BF4-2C85-DD4B-9B82-ECA854BA73C0}"/>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0E437B95-BD3F-9F4D-A944-A0D2CEA005A5}"/>
              </a:ext>
            </a:extLst>
          </p:cNvPr>
          <p:cNvSpPr>
            <a:spLocks noGrp="1"/>
          </p:cNvSpPr>
          <p:nvPr>
            <p:ph type="dt" sz="half" idx="10"/>
          </p:nvPr>
        </p:nvSpPr>
        <p:spPr/>
        <p:txBody>
          <a:bodyPr/>
          <a:lstStyle/>
          <a:p>
            <a:fld id="{E77D0C6F-A1EC-5A46-9C6F-40410A0469A9}" type="datetime1">
              <a:rPr kumimoji="1" lang="zh-TW" altLang="en-US" smtClean="0"/>
              <a:t>2022/10/23</a:t>
            </a:fld>
            <a:endParaRPr kumimoji="1" lang="zh-TW" altLang="en-US"/>
          </a:p>
        </p:txBody>
      </p:sp>
      <p:sp>
        <p:nvSpPr>
          <p:cNvPr id="5" name="頁尾版面配置區 4">
            <a:extLst>
              <a:ext uri="{FF2B5EF4-FFF2-40B4-BE49-F238E27FC236}">
                <a16:creationId xmlns:a16="http://schemas.microsoft.com/office/drawing/2014/main" id="{5E572EAD-53FF-A24C-9FC7-585D0960E52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4A7584E-3009-C641-BF7F-96A33C080F6C}"/>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2177800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F9C003-4B04-684F-8D3D-6415B0D615AD}"/>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960EB57F-C585-DD4F-BE14-147F909D7A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18AA78A8-CEC4-F542-AA60-B8365722F058}"/>
              </a:ext>
            </a:extLst>
          </p:cNvPr>
          <p:cNvSpPr>
            <a:spLocks noGrp="1"/>
          </p:cNvSpPr>
          <p:nvPr>
            <p:ph type="dt" sz="half" idx="10"/>
          </p:nvPr>
        </p:nvSpPr>
        <p:spPr/>
        <p:txBody>
          <a:bodyPr/>
          <a:lstStyle/>
          <a:p>
            <a:fld id="{783E545C-0902-114B-8AA6-E8DD1654C235}" type="datetime1">
              <a:rPr kumimoji="1" lang="zh-TW" altLang="en-US" smtClean="0"/>
              <a:t>2022/10/23</a:t>
            </a:fld>
            <a:endParaRPr kumimoji="1" lang="zh-TW" altLang="en-US"/>
          </a:p>
        </p:txBody>
      </p:sp>
      <p:sp>
        <p:nvSpPr>
          <p:cNvPr id="5" name="頁尾版面配置區 4">
            <a:extLst>
              <a:ext uri="{FF2B5EF4-FFF2-40B4-BE49-F238E27FC236}">
                <a16:creationId xmlns:a16="http://schemas.microsoft.com/office/drawing/2014/main" id="{3557079D-CAD2-7149-803C-5514AEAB86A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A9D3D01-8487-974D-BB6C-169168EFABC2}"/>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3284322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02DEAC-0CEF-104E-A4F7-EC664B4054FE}"/>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319E2D8-4D0E-E64E-85F7-35C889B900B0}"/>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DA412ECE-533C-DF4C-9B36-F79773E44D9F}"/>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395EB57D-1646-8B41-9CEF-C98324C726AF}"/>
              </a:ext>
            </a:extLst>
          </p:cNvPr>
          <p:cNvSpPr>
            <a:spLocks noGrp="1"/>
          </p:cNvSpPr>
          <p:nvPr>
            <p:ph type="dt" sz="half" idx="10"/>
          </p:nvPr>
        </p:nvSpPr>
        <p:spPr/>
        <p:txBody>
          <a:bodyPr/>
          <a:lstStyle/>
          <a:p>
            <a:fld id="{6B7E4CD6-C7FC-B04C-853B-9228D96CC44C}" type="datetime1">
              <a:rPr kumimoji="1" lang="zh-TW" altLang="en-US" smtClean="0"/>
              <a:t>2022/10/23</a:t>
            </a:fld>
            <a:endParaRPr kumimoji="1" lang="zh-TW" altLang="en-US"/>
          </a:p>
        </p:txBody>
      </p:sp>
      <p:sp>
        <p:nvSpPr>
          <p:cNvPr id="6" name="頁尾版面配置區 5">
            <a:extLst>
              <a:ext uri="{FF2B5EF4-FFF2-40B4-BE49-F238E27FC236}">
                <a16:creationId xmlns:a16="http://schemas.microsoft.com/office/drawing/2014/main" id="{D5118346-9F8C-3846-B3AA-C2763515CDB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ACD6426-ADF7-164E-A2CE-D66EFA386FB4}"/>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310299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89BF35-0389-6D4E-839A-E69CB442C06A}"/>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690C51F8-2990-0E41-8A61-41C168A4F8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3ADF8CEC-681F-564F-9460-7F986670955E}"/>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7BAB0CD-8608-9743-9AB0-CBBE5C73E5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09B4164-8F1A-B940-84EF-56A114D9A4E8}"/>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B14756F3-78EE-D043-94F8-1C6176A14E2C}"/>
              </a:ext>
            </a:extLst>
          </p:cNvPr>
          <p:cNvSpPr>
            <a:spLocks noGrp="1"/>
          </p:cNvSpPr>
          <p:nvPr>
            <p:ph type="dt" sz="half" idx="10"/>
          </p:nvPr>
        </p:nvSpPr>
        <p:spPr/>
        <p:txBody>
          <a:bodyPr/>
          <a:lstStyle/>
          <a:p>
            <a:fld id="{EFBD5F55-2818-514D-AD04-E3C8B4ABEB2C}" type="datetime1">
              <a:rPr kumimoji="1" lang="zh-TW" altLang="en-US" smtClean="0"/>
              <a:t>2022/10/23</a:t>
            </a:fld>
            <a:endParaRPr kumimoji="1" lang="zh-TW" altLang="en-US"/>
          </a:p>
        </p:txBody>
      </p:sp>
      <p:sp>
        <p:nvSpPr>
          <p:cNvPr id="8" name="頁尾版面配置區 7">
            <a:extLst>
              <a:ext uri="{FF2B5EF4-FFF2-40B4-BE49-F238E27FC236}">
                <a16:creationId xmlns:a16="http://schemas.microsoft.com/office/drawing/2014/main" id="{78E97D22-CDCE-1446-8EC8-2E5C6EA84AA5}"/>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253B9EE2-556F-8C4C-BB1C-EB13DBA08D7C}"/>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726026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0570C8-A6F0-2443-BDED-38C735308211}"/>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AEFAFCC8-190F-4345-881A-65067F2D3DB7}"/>
              </a:ext>
            </a:extLst>
          </p:cNvPr>
          <p:cNvSpPr>
            <a:spLocks noGrp="1"/>
          </p:cNvSpPr>
          <p:nvPr>
            <p:ph type="dt" sz="half" idx="10"/>
          </p:nvPr>
        </p:nvSpPr>
        <p:spPr/>
        <p:txBody>
          <a:bodyPr/>
          <a:lstStyle/>
          <a:p>
            <a:fld id="{BE9AACC5-32B9-004F-A8D6-C567795A43C1}" type="datetime1">
              <a:rPr kumimoji="1" lang="zh-TW" altLang="en-US" smtClean="0"/>
              <a:t>2022/10/23</a:t>
            </a:fld>
            <a:endParaRPr kumimoji="1" lang="zh-TW" altLang="en-US"/>
          </a:p>
        </p:txBody>
      </p:sp>
      <p:sp>
        <p:nvSpPr>
          <p:cNvPr id="4" name="頁尾版面配置區 3">
            <a:extLst>
              <a:ext uri="{FF2B5EF4-FFF2-40B4-BE49-F238E27FC236}">
                <a16:creationId xmlns:a16="http://schemas.microsoft.com/office/drawing/2014/main" id="{1C9DFD81-1E14-EB4F-9A66-7AEE747A9CBB}"/>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933CFFFF-0B10-DF46-8D02-8C35D58F2DA3}"/>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610474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B7BC03D-9B21-F844-B678-18A432C4FDB1}"/>
              </a:ext>
            </a:extLst>
          </p:cNvPr>
          <p:cNvSpPr>
            <a:spLocks noGrp="1"/>
          </p:cNvSpPr>
          <p:nvPr>
            <p:ph type="dt" sz="half" idx="10"/>
          </p:nvPr>
        </p:nvSpPr>
        <p:spPr/>
        <p:txBody>
          <a:bodyPr/>
          <a:lstStyle/>
          <a:p>
            <a:fld id="{F02F23AE-FA08-9945-92A4-5C7BFF1C56EF}" type="datetime1">
              <a:rPr kumimoji="1" lang="zh-TW" altLang="en-US" smtClean="0"/>
              <a:t>2022/10/23</a:t>
            </a:fld>
            <a:endParaRPr kumimoji="1" lang="zh-TW" altLang="en-US"/>
          </a:p>
        </p:txBody>
      </p:sp>
      <p:sp>
        <p:nvSpPr>
          <p:cNvPr id="3" name="頁尾版面配置區 2">
            <a:extLst>
              <a:ext uri="{FF2B5EF4-FFF2-40B4-BE49-F238E27FC236}">
                <a16:creationId xmlns:a16="http://schemas.microsoft.com/office/drawing/2014/main" id="{A7072331-9315-6541-8D72-3AF14F22EA28}"/>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2BAD4019-1DF9-5845-9219-57616660CD8A}"/>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16786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955497-C72B-FA4A-AC7C-2CB0537C5A8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55F6F45-0DBE-0A46-9969-EAFBF8A5EE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A8641FF6-CE80-5840-BC48-25D0F00846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21822ED-95BD-5040-8A9D-93E13E6C2A4B}"/>
              </a:ext>
            </a:extLst>
          </p:cNvPr>
          <p:cNvSpPr>
            <a:spLocks noGrp="1"/>
          </p:cNvSpPr>
          <p:nvPr>
            <p:ph type="dt" sz="half" idx="10"/>
          </p:nvPr>
        </p:nvSpPr>
        <p:spPr/>
        <p:txBody>
          <a:bodyPr/>
          <a:lstStyle/>
          <a:p>
            <a:fld id="{5E0AAD93-BC68-1844-9216-D69B688D0BB0}" type="datetime1">
              <a:rPr kumimoji="1" lang="zh-TW" altLang="en-US" smtClean="0"/>
              <a:t>2022/10/23</a:t>
            </a:fld>
            <a:endParaRPr kumimoji="1" lang="zh-TW" altLang="en-US"/>
          </a:p>
        </p:txBody>
      </p:sp>
      <p:sp>
        <p:nvSpPr>
          <p:cNvPr id="6" name="頁尾版面配置區 5">
            <a:extLst>
              <a:ext uri="{FF2B5EF4-FFF2-40B4-BE49-F238E27FC236}">
                <a16:creationId xmlns:a16="http://schemas.microsoft.com/office/drawing/2014/main" id="{90F797BF-E66F-DB46-817D-0B9BC2E7F7D3}"/>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EEA13F7-6CDF-244B-BDDD-685561C6372C}"/>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3879954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F05AB1-3D62-B146-9C7D-17547A266491}"/>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81EE3A79-AF7F-174D-946D-4CCE39A6EC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323ED848-EB2C-E24A-B8F5-4ACD810D9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05224F8B-9237-EC4A-ABF9-666362C20339}"/>
              </a:ext>
            </a:extLst>
          </p:cNvPr>
          <p:cNvSpPr>
            <a:spLocks noGrp="1"/>
          </p:cNvSpPr>
          <p:nvPr>
            <p:ph type="dt" sz="half" idx="10"/>
          </p:nvPr>
        </p:nvSpPr>
        <p:spPr/>
        <p:txBody>
          <a:bodyPr/>
          <a:lstStyle/>
          <a:p>
            <a:fld id="{84471918-2645-2B47-AF7F-3DAE5D9AB923}" type="datetime1">
              <a:rPr kumimoji="1" lang="zh-TW" altLang="en-US" smtClean="0"/>
              <a:t>2022/10/23</a:t>
            </a:fld>
            <a:endParaRPr kumimoji="1" lang="zh-TW" altLang="en-US"/>
          </a:p>
        </p:txBody>
      </p:sp>
      <p:sp>
        <p:nvSpPr>
          <p:cNvPr id="6" name="頁尾版面配置區 5">
            <a:extLst>
              <a:ext uri="{FF2B5EF4-FFF2-40B4-BE49-F238E27FC236}">
                <a16:creationId xmlns:a16="http://schemas.microsoft.com/office/drawing/2014/main" id="{966F45C8-F1B9-5442-9BE2-F1C62EC0314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FC3BCE03-E4F5-DA40-84FD-DE24190A0432}"/>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120166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DD74CA-5DCD-204A-AEE4-14E7C9812C21}"/>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FE42028-BFEC-9F43-8D60-A2D50B18067E}"/>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61707954-752E-674D-AD7D-AF43F85A0D3C}"/>
              </a:ext>
            </a:extLst>
          </p:cNvPr>
          <p:cNvSpPr>
            <a:spLocks noGrp="1"/>
          </p:cNvSpPr>
          <p:nvPr>
            <p:ph type="dt" sz="half" idx="10"/>
          </p:nvPr>
        </p:nvSpPr>
        <p:spPr/>
        <p:txBody>
          <a:bodyPr/>
          <a:lstStyle/>
          <a:p>
            <a:fld id="{57B98CD1-2551-B540-AE17-068A0D10557A}" type="datetime1">
              <a:rPr kumimoji="1" lang="zh-TW" altLang="en-US" smtClean="0"/>
              <a:t>2022/10/23</a:t>
            </a:fld>
            <a:endParaRPr kumimoji="1" lang="zh-TW" altLang="en-US"/>
          </a:p>
        </p:txBody>
      </p:sp>
      <p:sp>
        <p:nvSpPr>
          <p:cNvPr id="5" name="頁尾版面配置區 4">
            <a:extLst>
              <a:ext uri="{FF2B5EF4-FFF2-40B4-BE49-F238E27FC236}">
                <a16:creationId xmlns:a16="http://schemas.microsoft.com/office/drawing/2014/main" id="{1423836A-90B6-714B-815E-3C8FB3D91EE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3E6E51-FB4A-CC46-B37E-73EE992EAB7C}"/>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365114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D7ABF35-C3FE-C646-91F1-03E3EBCB6F90}"/>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63199C83-7E73-3A43-A181-D20912943277}"/>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BF39AA-8DAB-4746-89C9-35A07CC069EE}"/>
              </a:ext>
            </a:extLst>
          </p:cNvPr>
          <p:cNvSpPr>
            <a:spLocks noGrp="1"/>
          </p:cNvSpPr>
          <p:nvPr>
            <p:ph type="dt" sz="half" idx="10"/>
          </p:nvPr>
        </p:nvSpPr>
        <p:spPr/>
        <p:txBody>
          <a:bodyPr/>
          <a:lstStyle/>
          <a:p>
            <a:fld id="{54C14BCA-6C11-7541-9C29-821823034D64}" type="datetime1">
              <a:rPr kumimoji="1" lang="zh-TW" altLang="en-US" smtClean="0"/>
              <a:t>2022/10/23</a:t>
            </a:fld>
            <a:endParaRPr kumimoji="1" lang="zh-TW" altLang="en-US"/>
          </a:p>
        </p:txBody>
      </p:sp>
      <p:sp>
        <p:nvSpPr>
          <p:cNvPr id="5" name="頁尾版面配置區 4">
            <a:extLst>
              <a:ext uri="{FF2B5EF4-FFF2-40B4-BE49-F238E27FC236}">
                <a16:creationId xmlns:a16="http://schemas.microsoft.com/office/drawing/2014/main" id="{05880221-9B9D-304B-AB0F-510A075404D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23C0CFF-6269-164D-A8E8-89553BAD25BB}"/>
              </a:ext>
            </a:extLst>
          </p:cNvPr>
          <p:cNvSpPr>
            <a:spLocks noGrp="1"/>
          </p:cNvSpPr>
          <p:nvPr>
            <p:ph type="sldNum" sz="quarter" idx="12"/>
          </p:nvPr>
        </p:nvSpPr>
        <p:spPr/>
        <p:txBody>
          <a:body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1655365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4FA27BD-12D9-DF49-8DD8-1D33C9302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640219DD-17AC-C547-A429-C5D6924D72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FEE7637-30F8-0647-ABE8-81B8C8F2A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8644BA-3E02-2348-B1DD-59EAF13E16AD}" type="datetime1">
              <a:rPr kumimoji="1" lang="zh-TW" altLang="en-US" smtClean="0"/>
              <a:t>2022/10/23</a:t>
            </a:fld>
            <a:endParaRPr kumimoji="1" lang="zh-TW" altLang="en-US"/>
          </a:p>
        </p:txBody>
      </p:sp>
      <p:sp>
        <p:nvSpPr>
          <p:cNvPr id="5" name="頁尾版面配置區 4">
            <a:extLst>
              <a:ext uri="{FF2B5EF4-FFF2-40B4-BE49-F238E27FC236}">
                <a16:creationId xmlns:a16="http://schemas.microsoft.com/office/drawing/2014/main" id="{05C88D9F-7FBD-6543-AC35-31CA59439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ED67A87C-D18A-D248-BE08-169C69E06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4435C8-BEF5-8642-B196-DA02C2C37597}" type="slidenum">
              <a:rPr kumimoji="1" lang="zh-TW" altLang="en-US" smtClean="0"/>
              <a:t>‹#›</a:t>
            </a:fld>
            <a:endParaRPr kumimoji="1" lang="zh-TW" altLang="en-US"/>
          </a:p>
        </p:txBody>
      </p:sp>
    </p:spTree>
    <p:extLst>
      <p:ext uri="{BB962C8B-B14F-4D97-AF65-F5344CB8AC3E}">
        <p14:creationId xmlns:p14="http://schemas.microsoft.com/office/powerpoint/2010/main" val="560546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BACFCA-A8BD-8441-9A02-EF525371E6A3}"/>
              </a:ext>
            </a:extLst>
          </p:cNvPr>
          <p:cNvSpPr>
            <a:spLocks noGrp="1"/>
          </p:cNvSpPr>
          <p:nvPr>
            <p:ph type="ctrTitle"/>
          </p:nvPr>
        </p:nvSpPr>
        <p:spPr/>
        <p:txBody>
          <a:bodyPr>
            <a:normAutofit/>
          </a:bodyPr>
          <a:lstStyle/>
          <a:p>
            <a:r>
              <a:rPr kumimoji="1" lang="en" altLang="zh-TW" sz="5400" dirty="0">
                <a:latin typeface="Times" pitchFamily="2" charset="0"/>
              </a:rPr>
              <a:t>Bridge Bidding with Imperfect Information</a:t>
            </a:r>
            <a:endParaRPr kumimoji="1" lang="zh-TW" altLang="en-US" sz="5400" dirty="0">
              <a:latin typeface="Times" pitchFamily="2" charset="0"/>
            </a:endParaRPr>
          </a:p>
        </p:txBody>
      </p:sp>
      <p:sp>
        <p:nvSpPr>
          <p:cNvPr id="3" name="副標題 2">
            <a:extLst>
              <a:ext uri="{FF2B5EF4-FFF2-40B4-BE49-F238E27FC236}">
                <a16:creationId xmlns:a16="http://schemas.microsoft.com/office/drawing/2014/main" id="{20307BDC-41DF-4E4B-BB69-AF6DA8A44799}"/>
              </a:ext>
            </a:extLst>
          </p:cNvPr>
          <p:cNvSpPr>
            <a:spLocks noGrp="1"/>
          </p:cNvSpPr>
          <p:nvPr>
            <p:ph type="subTitle" idx="1"/>
          </p:nvPr>
        </p:nvSpPr>
        <p:spPr/>
        <p:txBody>
          <a:bodyPr>
            <a:normAutofit fontScale="92500" lnSpcReduction="10000"/>
          </a:bodyPr>
          <a:lstStyle/>
          <a:p>
            <a:r>
              <a:rPr lang="en" altLang="zh-TW" dirty="0">
                <a:latin typeface="Times" pitchFamily="2" charset="0"/>
              </a:rPr>
              <a:t>Lori L. </a:t>
            </a:r>
            <a:r>
              <a:rPr lang="en" altLang="zh-TW" dirty="0" err="1">
                <a:latin typeface="Times" pitchFamily="2" charset="0"/>
              </a:rPr>
              <a:t>DeLooze</a:t>
            </a:r>
            <a:r>
              <a:rPr lang="en" altLang="zh-TW" dirty="0">
                <a:latin typeface="Times" pitchFamily="2" charset="0"/>
              </a:rPr>
              <a:t> and James Downey</a:t>
            </a:r>
            <a:endParaRPr lang="en" altLang="zh-TW" i="1" dirty="0">
              <a:latin typeface="Times" pitchFamily="2" charset="0"/>
            </a:endParaRPr>
          </a:p>
          <a:p>
            <a:endParaRPr lang="en" altLang="zh-TW" i="1" dirty="0">
              <a:latin typeface="Times" pitchFamily="2" charset="0"/>
            </a:endParaRPr>
          </a:p>
          <a:p>
            <a:r>
              <a:rPr lang="en" altLang="zh-TW" i="1" dirty="0">
                <a:latin typeface="Times" pitchFamily="2" charset="0"/>
              </a:rPr>
              <a:t>IEEE Symposium on Computational Intelligence and Games, </a:t>
            </a:r>
            <a:r>
              <a:rPr lang="en" altLang="zh-TW" dirty="0">
                <a:latin typeface="Times" pitchFamily="2" charset="0"/>
              </a:rPr>
              <a:t>2007</a:t>
            </a:r>
            <a:r>
              <a:rPr lang="en" altLang="zh-TW" i="1" dirty="0">
                <a:latin typeface="Times" pitchFamily="2" charset="0"/>
              </a:rPr>
              <a:t>.</a:t>
            </a:r>
            <a:endParaRPr lang="en" altLang="zh-TW" dirty="0">
              <a:latin typeface="Times" pitchFamily="2" charset="0"/>
            </a:endParaRPr>
          </a:p>
          <a:p>
            <a:r>
              <a:rPr lang="en" altLang="zh-TW" dirty="0">
                <a:latin typeface="Times" pitchFamily="2" charset="0"/>
              </a:rPr>
              <a:t>p. 368-373. IEEE.</a:t>
            </a:r>
            <a:endParaRPr kumimoji="1" lang="zh-TW" altLang="en-US" dirty="0">
              <a:latin typeface="Times" pitchFamily="2" charset="0"/>
            </a:endParaRPr>
          </a:p>
        </p:txBody>
      </p:sp>
      <p:sp>
        <p:nvSpPr>
          <p:cNvPr id="4" name="文字方塊 3">
            <a:extLst>
              <a:ext uri="{FF2B5EF4-FFF2-40B4-BE49-F238E27FC236}">
                <a16:creationId xmlns:a16="http://schemas.microsoft.com/office/drawing/2014/main" id="{B51EB135-45A6-4E45-A96A-5A6916966D25}"/>
              </a:ext>
            </a:extLst>
          </p:cNvPr>
          <p:cNvSpPr txBox="1"/>
          <p:nvPr/>
        </p:nvSpPr>
        <p:spPr>
          <a:xfrm>
            <a:off x="9461868" y="5993027"/>
            <a:ext cx="2467342"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en-US" altLang="zh-TW">
                <a:latin typeface="Times" pitchFamily="2" charset="0"/>
              </a:rPr>
              <a:t>: Aug. </a:t>
            </a:r>
            <a:r>
              <a:rPr kumimoji="1" lang="en-US" altLang="zh-TW" dirty="0">
                <a:latin typeface="Times" pitchFamily="2" charset="0"/>
              </a:rPr>
              <a:t>9, 2022</a:t>
            </a:r>
            <a:endParaRPr kumimoji="1" lang="zh-TW" altLang="en-US" dirty="0">
              <a:latin typeface="Times" pitchFamily="2" charset="0"/>
            </a:endParaRPr>
          </a:p>
        </p:txBody>
      </p:sp>
    </p:spTree>
    <p:extLst>
      <p:ext uri="{BB962C8B-B14F-4D97-AF65-F5344CB8AC3E}">
        <p14:creationId xmlns:p14="http://schemas.microsoft.com/office/powerpoint/2010/main" val="1769922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p:txBody>
          <a:bodyPr/>
          <a:lstStyle/>
          <a:p>
            <a:pPr algn="ctr"/>
            <a:r>
              <a:rPr lang="en" altLang="zh-TW" dirty="0">
                <a:latin typeface="Times" pitchFamily="2" charset="0"/>
              </a:rPr>
              <a:t>Abstract</a:t>
            </a:r>
          </a:p>
        </p:txBody>
      </p:sp>
      <p:sp>
        <p:nvSpPr>
          <p:cNvPr id="3" name="內容版面配置區 2">
            <a:extLst>
              <a:ext uri="{FF2B5EF4-FFF2-40B4-BE49-F238E27FC236}">
                <a16:creationId xmlns:a16="http://schemas.microsoft.com/office/drawing/2014/main" id="{2D1C4845-AB0E-C342-AD72-2DFCBA9357B1}"/>
              </a:ext>
            </a:extLst>
          </p:cNvPr>
          <p:cNvSpPr>
            <a:spLocks noGrp="1"/>
          </p:cNvSpPr>
          <p:nvPr>
            <p:ph idx="1"/>
          </p:nvPr>
        </p:nvSpPr>
        <p:spPr/>
        <p:txBody>
          <a:bodyPr>
            <a:normAutofit lnSpcReduction="10000"/>
          </a:bodyPr>
          <a:lstStyle/>
          <a:p>
            <a:pPr marL="0" indent="0" algn="just">
              <a:lnSpc>
                <a:spcPct val="120000"/>
              </a:lnSpc>
              <a:buNone/>
            </a:pPr>
            <a:r>
              <a:rPr lang="en" altLang="zh-TW" dirty="0">
                <a:latin typeface="Times" pitchFamily="2" charset="0"/>
              </a:rPr>
              <a:t>Multiplayer games with imperfect information, such as Bridge, are especially challenging for game theory researchers. Although several algorithmic techniques have been successfully applied to the card play phase of the game, bidding requires a much different approach. We have shown that a special form of a neural network, called a self-organizing map (SOM), can be used to effectively bid no trump hands. The characteristic boundary that forms between resulting neighboring nodes in a SOM is an ideal mechanism for modeling the imprecise and ambiguous nature of the game. </a:t>
            </a:r>
          </a:p>
        </p:txBody>
      </p:sp>
      <p:sp>
        <p:nvSpPr>
          <p:cNvPr id="4" name="投影片編號版面配置區 3">
            <a:extLst>
              <a:ext uri="{FF2B5EF4-FFF2-40B4-BE49-F238E27FC236}">
                <a16:creationId xmlns:a16="http://schemas.microsoft.com/office/drawing/2014/main" id="{0668AA8C-E06C-634B-94F1-8832B9B2462B}"/>
              </a:ext>
            </a:extLst>
          </p:cNvPr>
          <p:cNvSpPr>
            <a:spLocks noGrp="1"/>
          </p:cNvSpPr>
          <p:nvPr>
            <p:ph type="sldNum" sz="quarter" idx="12"/>
          </p:nvPr>
        </p:nvSpPr>
        <p:spPr/>
        <p:txBody>
          <a:bodyPr/>
          <a:lstStyle/>
          <a:p>
            <a:fld id="{D14435C8-BEF5-8642-B196-DA02C2C37597}" type="slidenum">
              <a:rPr kumimoji="1" lang="zh-TW" altLang="en-US" smtClean="0"/>
              <a:t>2</a:t>
            </a:fld>
            <a:endParaRPr kumimoji="1" lang="zh-TW" altLang="en-US"/>
          </a:p>
        </p:txBody>
      </p:sp>
    </p:spTree>
    <p:extLst>
      <p:ext uri="{BB962C8B-B14F-4D97-AF65-F5344CB8AC3E}">
        <p14:creationId xmlns:p14="http://schemas.microsoft.com/office/powerpoint/2010/main" val="4068551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p:txBody>
          <a:bodyPr/>
          <a:lstStyle/>
          <a:p>
            <a:pPr algn="ctr"/>
            <a:r>
              <a:rPr lang="en" altLang="zh-TW" dirty="0">
                <a:latin typeface="Times" pitchFamily="2" charset="0"/>
              </a:rPr>
              <a:t>Bridge bidding</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2D1C4845-AB0E-C342-AD72-2DFCBA9357B1}"/>
              </a:ext>
            </a:extLst>
          </p:cNvPr>
          <p:cNvSpPr>
            <a:spLocks noGrp="1"/>
          </p:cNvSpPr>
          <p:nvPr>
            <p:ph idx="1"/>
          </p:nvPr>
        </p:nvSpPr>
        <p:spPr/>
        <p:txBody>
          <a:bodyPr/>
          <a:lstStyle/>
          <a:p>
            <a:r>
              <a:rPr lang="en" altLang="zh-TW" dirty="0">
                <a:latin typeface="Times" pitchFamily="2" charset="0"/>
              </a:rPr>
              <a:t>Four common acts: </a:t>
            </a:r>
            <a:r>
              <a:rPr lang="en" altLang="zh-TW" dirty="0">
                <a:solidFill>
                  <a:srgbClr val="137641"/>
                </a:solidFill>
                <a:latin typeface="Times" pitchFamily="2" charset="0"/>
              </a:rPr>
              <a:t>asserting</a:t>
            </a:r>
            <a:r>
              <a:rPr lang="en-US" altLang="zh-TW" dirty="0">
                <a:latin typeface="Times" pitchFamily="2" charset="0"/>
              </a:rPr>
              <a:t>, </a:t>
            </a:r>
            <a:r>
              <a:rPr lang="en" altLang="zh-TW" dirty="0">
                <a:latin typeface="Times" pitchFamily="2" charset="0"/>
              </a:rPr>
              <a:t>denying, asking and answering questions, interrupting.</a:t>
            </a:r>
          </a:p>
          <a:p>
            <a:r>
              <a:rPr lang="en" altLang="zh-TW" dirty="0">
                <a:latin typeface="Times" pitchFamily="2" charset="0"/>
              </a:rPr>
              <a:t>Layout of bidder’s hand: distribution of cards in each suit, quality of the cards(HCP).</a:t>
            </a:r>
          </a:p>
          <a:p>
            <a:r>
              <a:rPr lang="en" altLang="zh-TW" dirty="0">
                <a:latin typeface="Times" pitchFamily="2" charset="0"/>
              </a:rPr>
              <a:t>Information to the bidder: his hand, current bidding history.</a:t>
            </a:r>
          </a:p>
          <a:p>
            <a:endParaRPr lang="en" altLang="zh-TW" dirty="0">
              <a:latin typeface="Times" pitchFamily="2" charset="0"/>
            </a:endParaRPr>
          </a:p>
          <a:p>
            <a:r>
              <a:rPr lang="en" altLang="zh-TW" dirty="0">
                <a:solidFill>
                  <a:srgbClr val="137641"/>
                </a:solidFill>
                <a:latin typeface="Times" pitchFamily="2" charset="0"/>
              </a:rPr>
              <a:t>Opening hand for no trump</a:t>
            </a:r>
            <a:r>
              <a:rPr lang="en" altLang="zh-TW" dirty="0">
                <a:latin typeface="Times" pitchFamily="2" charset="0"/>
              </a:rPr>
              <a:t>(NT): 15-17HCP, balance hand.</a:t>
            </a:r>
          </a:p>
          <a:p>
            <a:endParaRPr lang="en" altLang="zh-TW" dirty="0">
              <a:latin typeface="Times" pitchFamily="2" charset="0"/>
            </a:endParaRPr>
          </a:p>
        </p:txBody>
      </p:sp>
      <p:pic>
        <p:nvPicPr>
          <p:cNvPr id="5" name="圖片 4" descr="一張含有 文字, 美工圖案 的圖片&#10;&#10;自動產生的描述">
            <a:extLst>
              <a:ext uri="{FF2B5EF4-FFF2-40B4-BE49-F238E27FC236}">
                <a16:creationId xmlns:a16="http://schemas.microsoft.com/office/drawing/2014/main" id="{61488CF2-CD85-E94A-BF0D-319BE5ADACAE}"/>
              </a:ext>
            </a:extLst>
          </p:cNvPr>
          <p:cNvPicPr>
            <a:picLocks noChangeAspect="1"/>
          </p:cNvPicPr>
          <p:nvPr/>
        </p:nvPicPr>
        <p:blipFill>
          <a:blip r:embed="rId2"/>
          <a:stretch>
            <a:fillRect/>
          </a:stretch>
        </p:blipFill>
        <p:spPr>
          <a:xfrm>
            <a:off x="4131310" y="5295901"/>
            <a:ext cx="3929380" cy="647700"/>
          </a:xfrm>
          <a:prstGeom prst="rect">
            <a:avLst/>
          </a:prstGeom>
        </p:spPr>
      </p:pic>
      <p:sp>
        <p:nvSpPr>
          <p:cNvPr id="7" name="投影片編號版面配置區 6">
            <a:extLst>
              <a:ext uri="{FF2B5EF4-FFF2-40B4-BE49-F238E27FC236}">
                <a16:creationId xmlns:a16="http://schemas.microsoft.com/office/drawing/2014/main" id="{A3E2D5CD-740E-9141-88E7-262BED8DE096}"/>
              </a:ext>
            </a:extLst>
          </p:cNvPr>
          <p:cNvSpPr>
            <a:spLocks noGrp="1"/>
          </p:cNvSpPr>
          <p:nvPr>
            <p:ph type="sldNum" sz="quarter" idx="12"/>
          </p:nvPr>
        </p:nvSpPr>
        <p:spPr/>
        <p:txBody>
          <a:bodyPr/>
          <a:lstStyle/>
          <a:p>
            <a:fld id="{D14435C8-BEF5-8642-B196-DA02C2C37597}" type="slidenum">
              <a:rPr kumimoji="1" lang="zh-TW" altLang="en-US" smtClean="0"/>
              <a:t>3</a:t>
            </a:fld>
            <a:endParaRPr kumimoji="1" lang="zh-TW" altLang="en-US"/>
          </a:p>
        </p:txBody>
      </p:sp>
    </p:spTree>
    <p:extLst>
      <p:ext uri="{BB962C8B-B14F-4D97-AF65-F5344CB8AC3E}">
        <p14:creationId xmlns:p14="http://schemas.microsoft.com/office/powerpoint/2010/main" val="3020748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a:xfrm>
            <a:off x="838199" y="519818"/>
            <a:ext cx="6248401" cy="823343"/>
          </a:xfrm>
        </p:spPr>
        <p:txBody>
          <a:bodyPr anchor="b">
            <a:normAutofit/>
          </a:bodyPr>
          <a:lstStyle/>
          <a:p>
            <a:r>
              <a:rPr lang="en" altLang="zh-TW" sz="4000" dirty="0">
                <a:latin typeface="Times" pitchFamily="2" charset="0"/>
              </a:rPr>
              <a:t>SELF-ORGANIZING MAPS</a:t>
            </a:r>
          </a:p>
        </p:txBody>
      </p:sp>
      <p:sp>
        <p:nvSpPr>
          <p:cNvPr id="3" name="內容版面配置區 2">
            <a:extLst>
              <a:ext uri="{FF2B5EF4-FFF2-40B4-BE49-F238E27FC236}">
                <a16:creationId xmlns:a16="http://schemas.microsoft.com/office/drawing/2014/main" id="{2D1C4845-AB0E-C342-AD72-2DFCBA9357B1}"/>
              </a:ext>
            </a:extLst>
          </p:cNvPr>
          <p:cNvSpPr>
            <a:spLocks noGrp="1"/>
          </p:cNvSpPr>
          <p:nvPr>
            <p:ph idx="1"/>
          </p:nvPr>
        </p:nvSpPr>
        <p:spPr>
          <a:xfrm>
            <a:off x="838199" y="1862979"/>
            <a:ext cx="6248401" cy="4252071"/>
          </a:xfrm>
        </p:spPr>
        <p:txBody>
          <a:bodyPr>
            <a:noAutofit/>
          </a:bodyPr>
          <a:lstStyle/>
          <a:p>
            <a:pPr marL="514350" indent="-514350">
              <a:buAutoNum type="arabicParenBoth"/>
            </a:pPr>
            <a:r>
              <a:rPr lang="en" altLang="zh-TW" sz="2400" dirty="0">
                <a:solidFill>
                  <a:srgbClr val="137641"/>
                </a:solidFill>
                <a:latin typeface="Times" pitchFamily="2" charset="0"/>
              </a:rPr>
              <a:t>Initialize each node's weights.</a:t>
            </a:r>
          </a:p>
          <a:p>
            <a:pPr marL="514350" indent="-514350">
              <a:buAutoNum type="arabicParenBoth"/>
            </a:pPr>
            <a:r>
              <a:rPr lang="en" altLang="zh-TW" sz="2400" dirty="0">
                <a:solidFill>
                  <a:srgbClr val="137641"/>
                </a:solidFill>
                <a:latin typeface="Times" pitchFamily="2" charset="0"/>
              </a:rPr>
              <a:t>Choose a vector at random from the set of training data.</a:t>
            </a:r>
          </a:p>
          <a:p>
            <a:pPr marL="514350" indent="-514350">
              <a:buAutoNum type="arabicParenBoth"/>
            </a:pPr>
            <a:r>
              <a:rPr lang="en" altLang="zh-TW" sz="2400" dirty="0">
                <a:latin typeface="Times" pitchFamily="2" charset="0"/>
              </a:rPr>
              <a:t>Examine every node and determine the Best Matching Unit (BMU).</a:t>
            </a:r>
          </a:p>
          <a:p>
            <a:pPr marL="514350" indent="-514350">
              <a:buAutoNum type="arabicParenBoth"/>
            </a:pPr>
            <a:r>
              <a:rPr lang="en" altLang="zh-TW" sz="2400" dirty="0">
                <a:latin typeface="Times" pitchFamily="2" charset="0"/>
              </a:rPr>
              <a:t>Calculate the radius of the neighborhood of the BMU. </a:t>
            </a:r>
          </a:p>
          <a:p>
            <a:pPr marL="514350" indent="-514350">
              <a:buAutoNum type="arabicParenBoth"/>
            </a:pPr>
            <a:r>
              <a:rPr lang="en" altLang="zh-TW" sz="2400" dirty="0">
                <a:latin typeface="Times" pitchFamily="2" charset="0"/>
              </a:rPr>
              <a:t>Adjust the weights of each neighboring node to make them more like the input vector.</a:t>
            </a:r>
          </a:p>
          <a:p>
            <a:pPr marL="514350" indent="-514350">
              <a:buFont typeface="Arial" panose="020B0604020202020204" pitchFamily="34" charset="0"/>
              <a:buAutoNum type="arabicParenBoth"/>
            </a:pPr>
            <a:r>
              <a:rPr lang="en" altLang="zh-TW" sz="2400" dirty="0">
                <a:latin typeface="Times" pitchFamily="2" charset="0"/>
              </a:rPr>
              <a:t>Repeat step 2 for N iterations. </a:t>
            </a:r>
          </a:p>
          <a:p>
            <a:pPr marL="0" indent="0">
              <a:buNone/>
            </a:pPr>
            <a:endParaRPr lang="en" altLang="zh-TW" sz="2400" dirty="0">
              <a:latin typeface="Times" pitchFamily="2" charset="0"/>
            </a:endParaRPr>
          </a:p>
        </p:txBody>
      </p:sp>
      <p:pic>
        <p:nvPicPr>
          <p:cNvPr id="7" name="圖片 6">
            <a:extLst>
              <a:ext uri="{FF2B5EF4-FFF2-40B4-BE49-F238E27FC236}">
                <a16:creationId xmlns:a16="http://schemas.microsoft.com/office/drawing/2014/main" id="{49CBAE81-C4CB-274F-9919-8E30DB42E0FF}"/>
              </a:ext>
            </a:extLst>
          </p:cNvPr>
          <p:cNvPicPr>
            <a:picLocks noChangeAspect="1"/>
          </p:cNvPicPr>
          <p:nvPr/>
        </p:nvPicPr>
        <p:blipFill>
          <a:blip r:embed="rId3"/>
          <a:stretch>
            <a:fillRect/>
          </a:stretch>
        </p:blipFill>
        <p:spPr>
          <a:xfrm>
            <a:off x="7676067" y="2688253"/>
            <a:ext cx="3924869" cy="1942810"/>
          </a:xfrm>
          <a:prstGeom prst="rect">
            <a:avLst/>
          </a:prstGeom>
        </p:spPr>
      </p:pic>
      <p:sp>
        <p:nvSpPr>
          <p:cNvPr id="4" name="投影片編號版面配置區 3">
            <a:extLst>
              <a:ext uri="{FF2B5EF4-FFF2-40B4-BE49-F238E27FC236}">
                <a16:creationId xmlns:a16="http://schemas.microsoft.com/office/drawing/2014/main" id="{BCFFD997-E2BE-6546-95AF-4E371FAEEC2D}"/>
              </a:ext>
            </a:extLst>
          </p:cNvPr>
          <p:cNvSpPr>
            <a:spLocks noGrp="1"/>
          </p:cNvSpPr>
          <p:nvPr>
            <p:ph type="sldNum" sz="quarter" idx="12"/>
          </p:nvPr>
        </p:nvSpPr>
        <p:spPr>
          <a:xfrm>
            <a:off x="8610600" y="6356350"/>
            <a:ext cx="2743200" cy="365125"/>
          </a:xfrm>
        </p:spPr>
        <p:txBody>
          <a:bodyPr>
            <a:normAutofit/>
          </a:bodyPr>
          <a:lstStyle/>
          <a:p>
            <a:pPr>
              <a:spcAft>
                <a:spcPts val="600"/>
              </a:spcAft>
            </a:pPr>
            <a:fld id="{D14435C8-BEF5-8642-B196-DA02C2C37597}" type="slidenum">
              <a:rPr kumimoji="1" lang="zh-TW" altLang="en-US" smtClean="0"/>
              <a:pPr>
                <a:spcAft>
                  <a:spcPts val="600"/>
                </a:spcAft>
              </a:pPr>
              <a:t>4</a:t>
            </a:fld>
            <a:endParaRPr kumimoji="1" lang="zh-TW" altLang="en-US"/>
          </a:p>
        </p:txBody>
      </p:sp>
      <p:sp>
        <p:nvSpPr>
          <p:cNvPr id="11" name="文字方塊 10">
            <a:extLst>
              <a:ext uri="{FF2B5EF4-FFF2-40B4-BE49-F238E27FC236}">
                <a16:creationId xmlns:a16="http://schemas.microsoft.com/office/drawing/2014/main" id="{D1F2F9B5-4507-234E-9536-329CA3DED96C}"/>
              </a:ext>
            </a:extLst>
          </p:cNvPr>
          <p:cNvSpPr txBox="1"/>
          <p:nvPr/>
        </p:nvSpPr>
        <p:spPr>
          <a:xfrm>
            <a:off x="7561538" y="4775035"/>
            <a:ext cx="4498658" cy="661938"/>
          </a:xfrm>
          <a:prstGeom prst="rect">
            <a:avLst/>
          </a:prstGeom>
          <a:noFill/>
        </p:spPr>
        <p:txBody>
          <a:bodyPr wrap="square">
            <a:spAutoFit/>
          </a:bodyPr>
          <a:lstStyle/>
          <a:p>
            <a:r>
              <a:rPr lang="en" altLang="zh-TW" dirty="0">
                <a:solidFill>
                  <a:schemeClr val="accent6">
                    <a:lumMod val="50000"/>
                  </a:schemeClr>
                </a:solidFill>
                <a:latin typeface="Times" pitchFamily="2" charset="0"/>
              </a:rPr>
              <a:t>Input vector (5values): the number of cards in each suit, the total number of high card points.</a:t>
            </a:r>
          </a:p>
        </p:txBody>
      </p:sp>
    </p:spTree>
    <p:extLst>
      <p:ext uri="{BB962C8B-B14F-4D97-AF65-F5344CB8AC3E}">
        <p14:creationId xmlns:p14="http://schemas.microsoft.com/office/powerpoint/2010/main" val="3035880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a:xfrm>
            <a:off x="838199" y="519818"/>
            <a:ext cx="6248401" cy="823343"/>
          </a:xfrm>
        </p:spPr>
        <p:txBody>
          <a:bodyPr anchor="b">
            <a:normAutofit/>
          </a:bodyPr>
          <a:lstStyle/>
          <a:p>
            <a:r>
              <a:rPr lang="en" altLang="zh-TW" sz="4000" dirty="0">
                <a:latin typeface="Times" pitchFamily="2" charset="0"/>
              </a:rPr>
              <a:t>SELF-ORGANIZING MAPS</a:t>
            </a:r>
          </a:p>
        </p:txBody>
      </p:sp>
      <p:sp>
        <p:nvSpPr>
          <p:cNvPr id="3" name="內容版面配置區 2">
            <a:extLst>
              <a:ext uri="{FF2B5EF4-FFF2-40B4-BE49-F238E27FC236}">
                <a16:creationId xmlns:a16="http://schemas.microsoft.com/office/drawing/2014/main" id="{2D1C4845-AB0E-C342-AD72-2DFCBA9357B1}"/>
              </a:ext>
            </a:extLst>
          </p:cNvPr>
          <p:cNvSpPr>
            <a:spLocks noGrp="1"/>
          </p:cNvSpPr>
          <p:nvPr>
            <p:ph idx="1"/>
          </p:nvPr>
        </p:nvSpPr>
        <p:spPr>
          <a:xfrm>
            <a:off x="838199" y="1862979"/>
            <a:ext cx="6248401" cy="4252071"/>
          </a:xfrm>
        </p:spPr>
        <p:txBody>
          <a:bodyPr>
            <a:noAutofit/>
          </a:bodyPr>
          <a:lstStyle/>
          <a:p>
            <a:pPr marL="514350" indent="-514350">
              <a:buAutoNum type="arabicParenBoth"/>
            </a:pPr>
            <a:r>
              <a:rPr lang="en" altLang="zh-TW" sz="2400" dirty="0">
                <a:latin typeface="Times" pitchFamily="2" charset="0"/>
              </a:rPr>
              <a:t>Initialize each node's weights.</a:t>
            </a:r>
          </a:p>
          <a:p>
            <a:pPr marL="514350" indent="-514350">
              <a:buAutoNum type="arabicParenBoth"/>
            </a:pPr>
            <a:r>
              <a:rPr lang="en" altLang="zh-TW" sz="2400" dirty="0">
                <a:latin typeface="Times" pitchFamily="2" charset="0"/>
              </a:rPr>
              <a:t>Choose a vector at random from the set of training data.</a:t>
            </a:r>
          </a:p>
          <a:p>
            <a:pPr marL="514350" indent="-514350">
              <a:buAutoNum type="arabicParenBoth"/>
            </a:pPr>
            <a:r>
              <a:rPr lang="en" altLang="zh-TW" sz="2400" dirty="0">
                <a:latin typeface="Times" pitchFamily="2" charset="0"/>
              </a:rPr>
              <a:t>Examine every node and determine the </a:t>
            </a:r>
            <a:r>
              <a:rPr lang="en" altLang="zh-TW" sz="2400" dirty="0">
                <a:solidFill>
                  <a:srgbClr val="137641"/>
                </a:solidFill>
                <a:latin typeface="Times" pitchFamily="2" charset="0"/>
              </a:rPr>
              <a:t>Best Matching Unit (BMU).</a:t>
            </a:r>
          </a:p>
          <a:p>
            <a:pPr marL="514350" indent="-514350">
              <a:buAutoNum type="arabicParenBoth"/>
            </a:pPr>
            <a:r>
              <a:rPr lang="en" altLang="zh-TW" sz="2400" dirty="0">
                <a:latin typeface="Times" pitchFamily="2" charset="0"/>
              </a:rPr>
              <a:t>Calculate the radius of the neighborhood of the BMU. </a:t>
            </a:r>
          </a:p>
          <a:p>
            <a:pPr marL="514350" indent="-514350">
              <a:buAutoNum type="arabicParenBoth"/>
            </a:pPr>
            <a:r>
              <a:rPr lang="en" altLang="zh-TW" sz="2400" dirty="0">
                <a:latin typeface="Times" pitchFamily="2" charset="0"/>
              </a:rPr>
              <a:t>Adjust the weights of each neighboring node to make them more like the input vector.</a:t>
            </a:r>
          </a:p>
          <a:p>
            <a:pPr marL="514350" indent="-514350">
              <a:buFont typeface="Arial" panose="020B0604020202020204" pitchFamily="34" charset="0"/>
              <a:buAutoNum type="arabicParenBoth"/>
            </a:pPr>
            <a:r>
              <a:rPr lang="en" altLang="zh-TW" sz="2400" dirty="0">
                <a:latin typeface="Times" pitchFamily="2" charset="0"/>
              </a:rPr>
              <a:t>Repeat step 2 for N iterations. </a:t>
            </a:r>
          </a:p>
          <a:p>
            <a:pPr marL="0" indent="0">
              <a:buNone/>
            </a:pPr>
            <a:endParaRPr lang="en" altLang="zh-TW" sz="2400" dirty="0">
              <a:latin typeface="Times" pitchFamily="2" charset="0"/>
            </a:endParaRPr>
          </a:p>
        </p:txBody>
      </p:sp>
      <p:pic>
        <p:nvPicPr>
          <p:cNvPr id="7" name="圖片 6">
            <a:extLst>
              <a:ext uri="{FF2B5EF4-FFF2-40B4-BE49-F238E27FC236}">
                <a16:creationId xmlns:a16="http://schemas.microsoft.com/office/drawing/2014/main" id="{49CBAE81-C4CB-274F-9919-8E30DB42E0FF}"/>
              </a:ext>
            </a:extLst>
          </p:cNvPr>
          <p:cNvPicPr>
            <a:picLocks noChangeAspect="1"/>
          </p:cNvPicPr>
          <p:nvPr/>
        </p:nvPicPr>
        <p:blipFill>
          <a:blip r:embed="rId3"/>
          <a:stretch>
            <a:fillRect/>
          </a:stretch>
        </p:blipFill>
        <p:spPr>
          <a:xfrm>
            <a:off x="7651353" y="1862979"/>
            <a:ext cx="3924869" cy="1942810"/>
          </a:xfrm>
          <a:prstGeom prst="rect">
            <a:avLst/>
          </a:prstGeom>
        </p:spPr>
      </p:pic>
      <p:sp>
        <p:nvSpPr>
          <p:cNvPr id="4" name="投影片編號版面配置區 3">
            <a:extLst>
              <a:ext uri="{FF2B5EF4-FFF2-40B4-BE49-F238E27FC236}">
                <a16:creationId xmlns:a16="http://schemas.microsoft.com/office/drawing/2014/main" id="{BCFFD997-E2BE-6546-95AF-4E371FAEEC2D}"/>
              </a:ext>
            </a:extLst>
          </p:cNvPr>
          <p:cNvSpPr>
            <a:spLocks noGrp="1"/>
          </p:cNvSpPr>
          <p:nvPr>
            <p:ph type="sldNum" sz="quarter" idx="12"/>
          </p:nvPr>
        </p:nvSpPr>
        <p:spPr>
          <a:xfrm>
            <a:off x="8610600" y="6356350"/>
            <a:ext cx="2743200" cy="365125"/>
          </a:xfrm>
        </p:spPr>
        <p:txBody>
          <a:bodyPr>
            <a:normAutofit/>
          </a:bodyPr>
          <a:lstStyle/>
          <a:p>
            <a:pPr>
              <a:spcAft>
                <a:spcPts val="600"/>
              </a:spcAft>
            </a:pPr>
            <a:fld id="{D14435C8-BEF5-8642-B196-DA02C2C37597}" type="slidenum">
              <a:rPr kumimoji="1" lang="zh-TW" altLang="en-US" smtClean="0"/>
              <a:pPr>
                <a:spcAft>
                  <a:spcPts val="600"/>
                </a:spcAft>
              </a:pPr>
              <a:t>5</a:t>
            </a:fld>
            <a:endParaRPr kumimoji="1"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985D25D4-BFD7-1D42-8623-41335D3F9FCD}"/>
                  </a:ext>
                </a:extLst>
              </p:cNvPr>
              <p:cNvSpPr txBox="1"/>
              <p:nvPr/>
            </p:nvSpPr>
            <p:spPr>
              <a:xfrm>
                <a:off x="7651353" y="4030781"/>
                <a:ext cx="3906795" cy="105028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TW" sz="1600" b="0" i="1" smtClean="0">
                          <a:solidFill>
                            <a:schemeClr val="accent6">
                              <a:lumMod val="50000"/>
                            </a:schemeClr>
                          </a:solidFill>
                          <a:latin typeface="Cambria Math" panose="02040503050406030204" pitchFamily="18" charset="0"/>
                        </a:rPr>
                        <m:t>𝐸𝑢𝑐𝑙𝑖𝑑𝑒𝑎𝑛</m:t>
                      </m:r>
                      <m:r>
                        <a:rPr kumimoji="1" lang="en-US" altLang="zh-TW" sz="1600" b="0" i="1" smtClean="0">
                          <a:solidFill>
                            <a:schemeClr val="accent6">
                              <a:lumMod val="50000"/>
                            </a:schemeClr>
                          </a:solidFill>
                          <a:latin typeface="Cambria Math" panose="02040503050406030204" pitchFamily="18" charset="0"/>
                        </a:rPr>
                        <m:t> </m:t>
                      </m:r>
                      <m:r>
                        <a:rPr kumimoji="1" lang="en-US" altLang="zh-TW" sz="1600" b="0" i="1" smtClean="0">
                          <a:solidFill>
                            <a:schemeClr val="accent6">
                              <a:lumMod val="50000"/>
                            </a:schemeClr>
                          </a:solidFill>
                          <a:latin typeface="Cambria Math" panose="02040503050406030204" pitchFamily="18" charset="0"/>
                        </a:rPr>
                        <m:t>𝑑𝑖𝑠𝑡</m:t>
                      </m:r>
                      <m:r>
                        <a:rPr kumimoji="1" lang="en-US" altLang="zh-TW" sz="1600" b="0" i="1" smtClean="0">
                          <a:solidFill>
                            <a:schemeClr val="accent6">
                              <a:lumMod val="50000"/>
                            </a:schemeClr>
                          </a:solidFill>
                          <a:latin typeface="Cambria Math" panose="02040503050406030204" pitchFamily="18" charset="0"/>
                        </a:rPr>
                        <m:t>=</m:t>
                      </m:r>
                      <m:rad>
                        <m:radPr>
                          <m:degHide m:val="on"/>
                          <m:ctrlPr>
                            <a:rPr kumimoji="1" lang="en-US" altLang="zh-TW" sz="1600" b="0" i="1" smtClean="0">
                              <a:solidFill>
                                <a:schemeClr val="accent6">
                                  <a:lumMod val="50000"/>
                                </a:schemeClr>
                              </a:solidFill>
                              <a:latin typeface="Cambria Math" panose="02040503050406030204" pitchFamily="18" charset="0"/>
                            </a:rPr>
                          </m:ctrlPr>
                        </m:radPr>
                        <m:deg/>
                        <m:e>
                          <m:nary>
                            <m:naryPr>
                              <m:chr m:val="∑"/>
                              <m:ctrlPr>
                                <a:rPr kumimoji="1" lang="en-US" altLang="zh-TW" sz="1600" b="0" i="1" smtClean="0">
                                  <a:solidFill>
                                    <a:schemeClr val="accent6">
                                      <a:lumMod val="50000"/>
                                    </a:schemeClr>
                                  </a:solidFill>
                                  <a:latin typeface="Cambria Math" panose="02040503050406030204" pitchFamily="18" charset="0"/>
                                </a:rPr>
                              </m:ctrlPr>
                            </m:naryPr>
                            <m:sub>
                              <m:r>
                                <m:rPr>
                                  <m:brk m:alnAt="23"/>
                                </m:rPr>
                                <a:rPr kumimoji="1" lang="en-US" altLang="zh-TW" sz="1600" b="0" i="1" smtClean="0">
                                  <a:solidFill>
                                    <a:schemeClr val="accent6">
                                      <a:lumMod val="50000"/>
                                    </a:schemeClr>
                                  </a:solidFill>
                                  <a:latin typeface="Cambria Math" panose="02040503050406030204" pitchFamily="18" charset="0"/>
                                </a:rPr>
                                <m:t>𝑖</m:t>
                              </m:r>
                              <m:r>
                                <a:rPr kumimoji="1" lang="en-US" altLang="zh-TW" sz="1600" b="0" i="1" smtClean="0">
                                  <a:solidFill>
                                    <a:schemeClr val="accent6">
                                      <a:lumMod val="50000"/>
                                    </a:schemeClr>
                                  </a:solidFill>
                                  <a:latin typeface="Cambria Math" panose="02040503050406030204" pitchFamily="18" charset="0"/>
                                </a:rPr>
                                <m:t>=0</m:t>
                              </m:r>
                            </m:sub>
                            <m:sup>
                              <m:r>
                                <a:rPr kumimoji="1" lang="en-US" altLang="zh-TW" sz="1600" b="0" i="1" smtClean="0">
                                  <a:solidFill>
                                    <a:schemeClr val="accent6">
                                      <a:lumMod val="50000"/>
                                    </a:schemeClr>
                                  </a:solidFill>
                                  <a:latin typeface="Cambria Math" panose="02040503050406030204" pitchFamily="18" charset="0"/>
                                </a:rPr>
                                <m:t>𝑖</m:t>
                              </m:r>
                              <m:r>
                                <a:rPr kumimoji="1" lang="en-US" altLang="zh-TW" sz="1600" b="0" i="1" smtClean="0">
                                  <a:solidFill>
                                    <a:schemeClr val="accent6">
                                      <a:lumMod val="50000"/>
                                    </a:schemeClr>
                                  </a:solidFill>
                                  <a:latin typeface="Cambria Math" panose="02040503050406030204" pitchFamily="18" charset="0"/>
                                </a:rPr>
                                <m:t>=</m:t>
                              </m:r>
                              <m:r>
                                <a:rPr kumimoji="1" lang="en-US" altLang="zh-TW" sz="1600" b="0" i="1" smtClean="0">
                                  <a:solidFill>
                                    <a:schemeClr val="accent6">
                                      <a:lumMod val="50000"/>
                                    </a:schemeClr>
                                  </a:solidFill>
                                  <a:latin typeface="Cambria Math" panose="02040503050406030204" pitchFamily="18" charset="0"/>
                                </a:rPr>
                                <m:t>𝑛</m:t>
                              </m:r>
                            </m:sup>
                            <m:e>
                              <m:sSup>
                                <m:sSupPr>
                                  <m:ctrlPr>
                                    <a:rPr kumimoji="1" lang="en-US" altLang="zh-TW" sz="1600" b="0" i="1" smtClean="0">
                                      <a:solidFill>
                                        <a:schemeClr val="accent6">
                                          <a:lumMod val="50000"/>
                                        </a:schemeClr>
                                      </a:solidFill>
                                      <a:latin typeface="Cambria Math" panose="02040503050406030204" pitchFamily="18" charset="0"/>
                                    </a:rPr>
                                  </m:ctrlPr>
                                </m:sSupPr>
                                <m:e>
                                  <m:d>
                                    <m:dPr>
                                      <m:ctrlPr>
                                        <a:rPr kumimoji="1" lang="en-US" altLang="zh-TW" sz="1600" b="0" i="1" smtClean="0">
                                          <a:solidFill>
                                            <a:schemeClr val="accent6">
                                              <a:lumMod val="50000"/>
                                            </a:schemeClr>
                                          </a:solidFill>
                                          <a:latin typeface="Cambria Math" panose="02040503050406030204" pitchFamily="18" charset="0"/>
                                        </a:rPr>
                                      </m:ctrlPr>
                                    </m:dPr>
                                    <m:e>
                                      <m:sSub>
                                        <m:sSubPr>
                                          <m:ctrlPr>
                                            <a:rPr kumimoji="1" lang="en-US" altLang="zh-TW" sz="1600" b="0" i="1" smtClean="0">
                                              <a:solidFill>
                                                <a:schemeClr val="accent6">
                                                  <a:lumMod val="50000"/>
                                                </a:schemeClr>
                                              </a:solidFill>
                                              <a:latin typeface="Cambria Math" panose="02040503050406030204" pitchFamily="18" charset="0"/>
                                            </a:rPr>
                                          </m:ctrlPr>
                                        </m:sSubPr>
                                        <m:e>
                                          <m:r>
                                            <a:rPr kumimoji="1" lang="en-US" altLang="zh-TW" sz="1600" b="0" i="1" smtClean="0">
                                              <a:solidFill>
                                                <a:schemeClr val="accent6">
                                                  <a:lumMod val="50000"/>
                                                </a:schemeClr>
                                              </a:solidFill>
                                              <a:latin typeface="Cambria Math" panose="02040503050406030204" pitchFamily="18" charset="0"/>
                                            </a:rPr>
                                            <m:t>𝑉</m:t>
                                          </m:r>
                                        </m:e>
                                        <m:sub>
                                          <m:r>
                                            <a:rPr kumimoji="1" lang="en-US" altLang="zh-TW" sz="1600" b="0" i="1" smtClean="0">
                                              <a:solidFill>
                                                <a:schemeClr val="accent6">
                                                  <a:lumMod val="50000"/>
                                                </a:schemeClr>
                                              </a:solidFill>
                                              <a:latin typeface="Cambria Math" panose="02040503050406030204" pitchFamily="18" charset="0"/>
                                            </a:rPr>
                                            <m:t>𝑖</m:t>
                                          </m:r>
                                        </m:sub>
                                      </m:sSub>
                                      <m:r>
                                        <a:rPr lang="en-US" altLang="zh-TW" sz="1600" b="0" i="1" smtClean="0">
                                          <a:solidFill>
                                            <a:schemeClr val="accent6">
                                              <a:lumMod val="50000"/>
                                            </a:schemeClr>
                                          </a:solidFill>
                                          <a:latin typeface="Cambria Math" panose="02040503050406030204" pitchFamily="18" charset="0"/>
                                        </a:rPr>
                                        <m:t>− </m:t>
                                      </m:r>
                                      <m:sSub>
                                        <m:sSubPr>
                                          <m:ctrlPr>
                                            <a:rPr lang="en-US" altLang="zh-TW" sz="1600" b="0" i="1" smtClean="0">
                                              <a:solidFill>
                                                <a:schemeClr val="accent6">
                                                  <a:lumMod val="50000"/>
                                                </a:schemeClr>
                                              </a:solidFill>
                                              <a:latin typeface="Cambria Math" panose="02040503050406030204" pitchFamily="18" charset="0"/>
                                            </a:rPr>
                                          </m:ctrlPr>
                                        </m:sSubPr>
                                        <m:e>
                                          <m:r>
                                            <a:rPr lang="en-US" altLang="zh-TW" sz="1600" b="0" i="1" smtClean="0">
                                              <a:solidFill>
                                                <a:schemeClr val="accent6">
                                                  <a:lumMod val="50000"/>
                                                </a:schemeClr>
                                              </a:solidFill>
                                              <a:latin typeface="Cambria Math" panose="02040503050406030204" pitchFamily="18" charset="0"/>
                                            </a:rPr>
                                            <m:t>𝑊</m:t>
                                          </m:r>
                                        </m:e>
                                        <m:sub>
                                          <m:r>
                                            <a:rPr lang="en-US" altLang="zh-TW" sz="1600" b="0" i="1" smtClean="0">
                                              <a:solidFill>
                                                <a:schemeClr val="accent6">
                                                  <a:lumMod val="50000"/>
                                                </a:schemeClr>
                                              </a:solidFill>
                                              <a:latin typeface="Cambria Math" panose="02040503050406030204" pitchFamily="18" charset="0"/>
                                            </a:rPr>
                                            <m:t>𝑖</m:t>
                                          </m:r>
                                        </m:sub>
                                      </m:sSub>
                                    </m:e>
                                  </m:d>
                                </m:e>
                                <m:sup>
                                  <m:r>
                                    <a:rPr kumimoji="1" lang="en-US" altLang="zh-TW" sz="1600" b="0" i="1" smtClean="0">
                                      <a:solidFill>
                                        <a:schemeClr val="accent6">
                                          <a:lumMod val="50000"/>
                                        </a:schemeClr>
                                      </a:solidFill>
                                      <a:latin typeface="Cambria Math" panose="02040503050406030204" pitchFamily="18" charset="0"/>
                                    </a:rPr>
                                    <m:t>2</m:t>
                                  </m:r>
                                </m:sup>
                              </m:sSup>
                            </m:e>
                          </m:nary>
                        </m:e>
                      </m:rad>
                    </m:oMath>
                  </m:oMathPara>
                </a14:m>
                <a:endParaRPr kumimoji="1" lang="zh-TW" altLang="en-US" sz="1600" dirty="0">
                  <a:solidFill>
                    <a:schemeClr val="accent6">
                      <a:lumMod val="50000"/>
                    </a:schemeClr>
                  </a:solidFill>
                </a:endParaRPr>
              </a:p>
            </p:txBody>
          </p:sp>
        </mc:Choice>
        <mc:Fallback xmlns="">
          <p:sp>
            <p:nvSpPr>
              <p:cNvPr id="8" name="文字方塊 7">
                <a:extLst>
                  <a:ext uri="{FF2B5EF4-FFF2-40B4-BE49-F238E27FC236}">
                    <a16:creationId xmlns:a16="http://schemas.microsoft.com/office/drawing/2014/main" id="{985D25D4-BFD7-1D42-8623-41335D3F9FCD}"/>
                  </a:ext>
                </a:extLst>
              </p:cNvPr>
              <p:cNvSpPr txBox="1">
                <a:spLocks noRot="1" noChangeAspect="1" noMove="1" noResize="1" noEditPoints="1" noAdjustHandles="1" noChangeArrowheads="1" noChangeShapeType="1" noTextEdit="1"/>
              </p:cNvSpPr>
              <p:nvPr/>
            </p:nvSpPr>
            <p:spPr>
              <a:xfrm>
                <a:off x="7651353" y="4030781"/>
                <a:ext cx="3906795" cy="1050288"/>
              </a:xfrm>
              <a:prstGeom prst="rect">
                <a:avLst/>
              </a:prstGeom>
              <a:blipFill>
                <a:blip r:embed="rId4"/>
                <a:stretch>
                  <a:fillRect t="-57143" b="-103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3360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a:xfrm>
            <a:off x="838199" y="519818"/>
            <a:ext cx="6248401" cy="823343"/>
          </a:xfrm>
        </p:spPr>
        <p:txBody>
          <a:bodyPr anchor="b">
            <a:normAutofit/>
          </a:bodyPr>
          <a:lstStyle/>
          <a:p>
            <a:r>
              <a:rPr lang="en" altLang="zh-TW" sz="4000" dirty="0">
                <a:latin typeface="Times" pitchFamily="2" charset="0"/>
              </a:rPr>
              <a:t>SELF-ORGANIZING MAPS</a:t>
            </a:r>
          </a:p>
        </p:txBody>
      </p:sp>
      <p:sp>
        <p:nvSpPr>
          <p:cNvPr id="3" name="內容版面配置區 2">
            <a:extLst>
              <a:ext uri="{FF2B5EF4-FFF2-40B4-BE49-F238E27FC236}">
                <a16:creationId xmlns:a16="http://schemas.microsoft.com/office/drawing/2014/main" id="{2D1C4845-AB0E-C342-AD72-2DFCBA9357B1}"/>
              </a:ext>
            </a:extLst>
          </p:cNvPr>
          <p:cNvSpPr>
            <a:spLocks noGrp="1"/>
          </p:cNvSpPr>
          <p:nvPr>
            <p:ph idx="1"/>
          </p:nvPr>
        </p:nvSpPr>
        <p:spPr>
          <a:xfrm>
            <a:off x="838199" y="1862979"/>
            <a:ext cx="6248401" cy="4252071"/>
          </a:xfrm>
        </p:spPr>
        <p:txBody>
          <a:bodyPr>
            <a:noAutofit/>
          </a:bodyPr>
          <a:lstStyle/>
          <a:p>
            <a:pPr marL="514350" indent="-514350">
              <a:buAutoNum type="arabicParenBoth"/>
            </a:pPr>
            <a:r>
              <a:rPr lang="en" altLang="zh-TW" sz="2400" dirty="0">
                <a:latin typeface="Times" pitchFamily="2" charset="0"/>
              </a:rPr>
              <a:t>Initialize each node's weights.</a:t>
            </a:r>
          </a:p>
          <a:p>
            <a:pPr marL="514350" indent="-514350">
              <a:buAutoNum type="arabicParenBoth"/>
            </a:pPr>
            <a:r>
              <a:rPr lang="en" altLang="zh-TW" sz="2400" dirty="0">
                <a:latin typeface="Times" pitchFamily="2" charset="0"/>
              </a:rPr>
              <a:t>Choose a vector at random from the set of training data.</a:t>
            </a:r>
          </a:p>
          <a:p>
            <a:pPr marL="514350" indent="-514350">
              <a:buAutoNum type="arabicParenBoth"/>
            </a:pPr>
            <a:r>
              <a:rPr lang="en" altLang="zh-TW" sz="2400" dirty="0">
                <a:latin typeface="Times" pitchFamily="2" charset="0"/>
              </a:rPr>
              <a:t>Examine every node and determine the Best Matching Unit (BMU).</a:t>
            </a:r>
          </a:p>
          <a:p>
            <a:pPr marL="514350" indent="-514350">
              <a:buAutoNum type="arabicParenBoth"/>
            </a:pPr>
            <a:r>
              <a:rPr lang="en" altLang="zh-TW" sz="2400" dirty="0">
                <a:latin typeface="Times" pitchFamily="2" charset="0"/>
              </a:rPr>
              <a:t>Calculate </a:t>
            </a:r>
            <a:r>
              <a:rPr lang="en" altLang="zh-TW" sz="2400" dirty="0">
                <a:solidFill>
                  <a:srgbClr val="137641"/>
                </a:solidFill>
                <a:latin typeface="Times" pitchFamily="2" charset="0"/>
              </a:rPr>
              <a:t>the radius of the neighborhood of the BMU. </a:t>
            </a:r>
          </a:p>
          <a:p>
            <a:pPr marL="514350" indent="-514350">
              <a:buAutoNum type="arabicParenBoth"/>
            </a:pPr>
            <a:r>
              <a:rPr lang="en" altLang="zh-TW" sz="2400" dirty="0">
                <a:solidFill>
                  <a:srgbClr val="137641"/>
                </a:solidFill>
                <a:latin typeface="Times" pitchFamily="2" charset="0"/>
              </a:rPr>
              <a:t>Adjust the weights </a:t>
            </a:r>
            <a:r>
              <a:rPr lang="en" altLang="zh-TW" sz="2400" dirty="0">
                <a:latin typeface="Times" pitchFamily="2" charset="0"/>
              </a:rPr>
              <a:t>of each neighboring node to make them more like the input vector.</a:t>
            </a:r>
          </a:p>
          <a:p>
            <a:pPr marL="514350" indent="-514350">
              <a:buFont typeface="Arial" panose="020B0604020202020204" pitchFamily="34" charset="0"/>
              <a:buAutoNum type="arabicParenBoth"/>
            </a:pPr>
            <a:r>
              <a:rPr lang="en" altLang="zh-TW" sz="2400" dirty="0">
                <a:latin typeface="Times" pitchFamily="2" charset="0"/>
              </a:rPr>
              <a:t>Repeat step 2 for N iterations. </a:t>
            </a:r>
          </a:p>
          <a:p>
            <a:pPr marL="0" indent="0">
              <a:buNone/>
            </a:pPr>
            <a:endParaRPr lang="en" altLang="zh-TW" sz="2400" dirty="0">
              <a:latin typeface="Times" pitchFamily="2" charset="0"/>
            </a:endParaRPr>
          </a:p>
        </p:txBody>
      </p:sp>
      <p:pic>
        <p:nvPicPr>
          <p:cNvPr id="7" name="圖片 6">
            <a:extLst>
              <a:ext uri="{FF2B5EF4-FFF2-40B4-BE49-F238E27FC236}">
                <a16:creationId xmlns:a16="http://schemas.microsoft.com/office/drawing/2014/main" id="{49CBAE81-C4CB-274F-9919-8E30DB42E0FF}"/>
              </a:ext>
            </a:extLst>
          </p:cNvPr>
          <p:cNvPicPr>
            <a:picLocks noChangeAspect="1"/>
          </p:cNvPicPr>
          <p:nvPr/>
        </p:nvPicPr>
        <p:blipFill>
          <a:blip r:embed="rId3"/>
          <a:stretch>
            <a:fillRect/>
          </a:stretch>
        </p:blipFill>
        <p:spPr>
          <a:xfrm>
            <a:off x="7659109" y="1571570"/>
            <a:ext cx="3752385" cy="1857430"/>
          </a:xfrm>
          <a:prstGeom prst="rect">
            <a:avLst/>
          </a:prstGeom>
        </p:spPr>
      </p:pic>
      <p:sp>
        <p:nvSpPr>
          <p:cNvPr id="4" name="投影片編號版面配置區 3">
            <a:extLst>
              <a:ext uri="{FF2B5EF4-FFF2-40B4-BE49-F238E27FC236}">
                <a16:creationId xmlns:a16="http://schemas.microsoft.com/office/drawing/2014/main" id="{BCFFD997-E2BE-6546-95AF-4E371FAEEC2D}"/>
              </a:ext>
            </a:extLst>
          </p:cNvPr>
          <p:cNvSpPr>
            <a:spLocks noGrp="1"/>
          </p:cNvSpPr>
          <p:nvPr>
            <p:ph type="sldNum" sz="quarter" idx="12"/>
          </p:nvPr>
        </p:nvSpPr>
        <p:spPr>
          <a:xfrm>
            <a:off x="8610600" y="6356350"/>
            <a:ext cx="2743200" cy="365125"/>
          </a:xfrm>
        </p:spPr>
        <p:txBody>
          <a:bodyPr>
            <a:normAutofit/>
          </a:bodyPr>
          <a:lstStyle/>
          <a:p>
            <a:pPr>
              <a:spcAft>
                <a:spcPts val="600"/>
              </a:spcAft>
            </a:pPr>
            <a:fld id="{D14435C8-BEF5-8642-B196-DA02C2C37597}" type="slidenum">
              <a:rPr kumimoji="1" lang="zh-TW" altLang="en-US" smtClean="0"/>
              <a:pPr>
                <a:spcAft>
                  <a:spcPts val="600"/>
                </a:spcAft>
              </a:pPr>
              <a:t>6</a:t>
            </a:fld>
            <a:endParaRPr kumimoji="1"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F050430F-5835-FE4B-923C-539834DDCCC9}"/>
                  </a:ext>
                </a:extLst>
              </p:cNvPr>
              <p:cNvSpPr txBox="1"/>
              <p:nvPr/>
            </p:nvSpPr>
            <p:spPr>
              <a:xfrm>
                <a:off x="7659109" y="3876892"/>
                <a:ext cx="2904128" cy="414537"/>
              </a:xfrm>
              <a:prstGeom prst="rect">
                <a:avLst/>
              </a:prstGeom>
              <a:noFill/>
            </p:spPr>
            <p:txBody>
              <a:bodyPr wrap="none" lIns="0" tIns="0" rIns="0" bIns="0" rtlCol="0">
                <a:spAutoFit/>
              </a:bodyPr>
              <a:lstStyle/>
              <a:p>
                <a14:m>
                  <m:oMath xmlns:m="http://schemas.openxmlformats.org/officeDocument/2006/math">
                    <m:r>
                      <a:rPr kumimoji="1" lang="zh-TW" altLang="en-US" i="1" smtClean="0">
                        <a:solidFill>
                          <a:schemeClr val="accent6">
                            <a:lumMod val="50000"/>
                          </a:schemeClr>
                        </a:solidFill>
                        <a:latin typeface="Cambria Math" panose="02040503050406030204" pitchFamily="18" charset="0"/>
                      </a:rPr>
                      <m:t>𝜎</m:t>
                    </m:r>
                    <m:d>
                      <m:dPr>
                        <m:ctrlPr>
                          <a:rPr kumimoji="1" lang="en-US" altLang="zh-TW" b="0" i="1" smtClean="0">
                            <a:solidFill>
                              <a:schemeClr val="accent6">
                                <a:lumMod val="50000"/>
                              </a:schemeClr>
                            </a:solidFill>
                            <a:latin typeface="Cambria Math" panose="02040503050406030204" pitchFamily="18" charset="0"/>
                          </a:rPr>
                        </m:ctrlPr>
                      </m:dPr>
                      <m:e>
                        <m:r>
                          <a:rPr kumimoji="1" lang="en-US" altLang="zh-TW" b="0" i="1" smtClean="0">
                            <a:solidFill>
                              <a:schemeClr val="accent6">
                                <a:lumMod val="50000"/>
                              </a:schemeClr>
                            </a:solidFill>
                            <a:latin typeface="Cambria Math" panose="02040503050406030204" pitchFamily="18" charset="0"/>
                          </a:rPr>
                          <m:t>𝑡</m:t>
                        </m:r>
                      </m:e>
                    </m:d>
                    <m:r>
                      <a:rPr kumimoji="1" lang="en-US" altLang="zh-TW" b="0" i="1" smtClean="0">
                        <a:solidFill>
                          <a:schemeClr val="accent6">
                            <a:lumMod val="50000"/>
                          </a:schemeClr>
                        </a:solidFill>
                        <a:latin typeface="Cambria Math" panose="02040503050406030204" pitchFamily="18" charset="0"/>
                      </a:rPr>
                      <m:t>=</m:t>
                    </m:r>
                    <m:sSub>
                      <m:sSubPr>
                        <m:ctrlPr>
                          <a:rPr kumimoji="1" lang="en-US" altLang="zh-TW" b="0" i="1" smtClean="0">
                            <a:solidFill>
                              <a:schemeClr val="accent6">
                                <a:lumMod val="50000"/>
                              </a:schemeClr>
                            </a:solidFill>
                            <a:latin typeface="Cambria Math" panose="02040503050406030204" pitchFamily="18" charset="0"/>
                          </a:rPr>
                        </m:ctrlPr>
                      </m:sSubPr>
                      <m:e>
                        <m:r>
                          <a:rPr kumimoji="1" lang="en-US" altLang="zh-TW" b="0" i="1" smtClean="0">
                            <a:solidFill>
                              <a:schemeClr val="accent6">
                                <a:lumMod val="50000"/>
                              </a:schemeClr>
                            </a:solidFill>
                            <a:latin typeface="Cambria Math" panose="02040503050406030204" pitchFamily="18" charset="0"/>
                            <a:ea typeface="Cambria Math" panose="02040503050406030204" pitchFamily="18" charset="0"/>
                          </a:rPr>
                          <m:t>𝜎</m:t>
                        </m:r>
                      </m:e>
                      <m:sub>
                        <m:r>
                          <a:rPr kumimoji="1" lang="en-US" altLang="zh-TW" b="0" i="1" smtClean="0">
                            <a:solidFill>
                              <a:schemeClr val="accent6">
                                <a:lumMod val="50000"/>
                              </a:schemeClr>
                            </a:solidFill>
                            <a:latin typeface="Cambria Math" panose="02040503050406030204" pitchFamily="18" charset="0"/>
                          </a:rPr>
                          <m:t>0</m:t>
                        </m:r>
                      </m:sub>
                    </m:sSub>
                    <m:func>
                      <m:funcPr>
                        <m:ctrlPr>
                          <a:rPr kumimoji="1" lang="en-US" altLang="zh-TW" b="0" i="1" smtClean="0">
                            <a:solidFill>
                              <a:schemeClr val="accent6">
                                <a:lumMod val="50000"/>
                              </a:schemeClr>
                            </a:solidFill>
                            <a:latin typeface="Cambria Math" panose="02040503050406030204" pitchFamily="18" charset="0"/>
                          </a:rPr>
                        </m:ctrlPr>
                      </m:funcPr>
                      <m:fName>
                        <m:r>
                          <m:rPr>
                            <m:sty m:val="p"/>
                          </m:rPr>
                          <a:rPr kumimoji="1" lang="en-US" altLang="zh-TW" b="0" i="0" smtClean="0">
                            <a:solidFill>
                              <a:schemeClr val="accent6">
                                <a:lumMod val="50000"/>
                              </a:schemeClr>
                            </a:solidFill>
                            <a:latin typeface="Cambria Math" panose="02040503050406030204" pitchFamily="18" charset="0"/>
                          </a:rPr>
                          <m:t>exp</m:t>
                        </m:r>
                      </m:fName>
                      <m:e>
                        <m:d>
                          <m:dPr>
                            <m:ctrlPr>
                              <a:rPr kumimoji="1" lang="en-US" altLang="zh-TW" b="0" i="1" smtClean="0">
                                <a:solidFill>
                                  <a:schemeClr val="accent6">
                                    <a:lumMod val="50000"/>
                                  </a:schemeClr>
                                </a:solidFill>
                                <a:latin typeface="Cambria Math" panose="02040503050406030204" pitchFamily="18" charset="0"/>
                              </a:rPr>
                            </m:ctrlPr>
                          </m:dPr>
                          <m:e>
                            <m:r>
                              <a:rPr kumimoji="1" lang="en-US" altLang="zh-TW" b="0" i="1" smtClean="0">
                                <a:solidFill>
                                  <a:schemeClr val="accent6">
                                    <a:lumMod val="50000"/>
                                  </a:schemeClr>
                                </a:solidFill>
                                <a:latin typeface="Cambria Math" panose="02040503050406030204" pitchFamily="18" charset="0"/>
                              </a:rPr>
                              <m:t>−</m:t>
                            </m:r>
                            <m:f>
                              <m:fPr>
                                <m:ctrlPr>
                                  <a:rPr kumimoji="1" lang="en-US" altLang="zh-TW" b="0" i="1" smtClean="0">
                                    <a:solidFill>
                                      <a:schemeClr val="accent6">
                                        <a:lumMod val="50000"/>
                                      </a:schemeClr>
                                    </a:solidFill>
                                    <a:latin typeface="Cambria Math" panose="02040503050406030204" pitchFamily="18" charset="0"/>
                                  </a:rPr>
                                </m:ctrlPr>
                              </m:fPr>
                              <m:num>
                                <m:r>
                                  <a:rPr kumimoji="1" lang="en-US" altLang="zh-TW" b="0" i="1" smtClean="0">
                                    <a:solidFill>
                                      <a:schemeClr val="accent6">
                                        <a:lumMod val="50000"/>
                                      </a:schemeClr>
                                    </a:solidFill>
                                    <a:latin typeface="Cambria Math" panose="02040503050406030204" pitchFamily="18" charset="0"/>
                                  </a:rPr>
                                  <m:t>𝑡</m:t>
                                </m:r>
                              </m:num>
                              <m:den>
                                <m:r>
                                  <a:rPr kumimoji="1" lang="en-US" altLang="zh-TW" b="0" i="1" smtClean="0">
                                    <a:solidFill>
                                      <a:schemeClr val="accent6">
                                        <a:lumMod val="50000"/>
                                      </a:schemeClr>
                                    </a:solidFill>
                                    <a:latin typeface="Cambria Math" panose="02040503050406030204" pitchFamily="18" charset="0"/>
                                    <a:ea typeface="Cambria Math" panose="02040503050406030204" pitchFamily="18" charset="0"/>
                                  </a:rPr>
                                  <m:t>𝜆</m:t>
                                </m:r>
                              </m:den>
                            </m:f>
                          </m:e>
                        </m:d>
                      </m:e>
                    </m:func>
                    <m:r>
                      <a:rPr kumimoji="1" lang="en-US" altLang="zh-TW" b="0" i="1" smtClean="0">
                        <a:solidFill>
                          <a:schemeClr val="accent6">
                            <a:lumMod val="50000"/>
                          </a:schemeClr>
                        </a:solidFill>
                        <a:latin typeface="Cambria Math" panose="02040503050406030204" pitchFamily="18" charset="0"/>
                      </a:rPr>
                      <m:t> </m:t>
                    </m:r>
                  </m:oMath>
                </a14:m>
                <a:r>
                  <a:rPr kumimoji="1" lang="en-US" altLang="zh-TW" dirty="0">
                    <a:solidFill>
                      <a:schemeClr val="accent6">
                        <a:lumMod val="50000"/>
                      </a:schemeClr>
                    </a:solidFill>
                  </a:rPr>
                  <a:t>    </a:t>
                </a:r>
                <a:r>
                  <a:rPr kumimoji="1" lang="en-US" altLang="zh-TW" sz="1400" dirty="0">
                    <a:solidFill>
                      <a:schemeClr val="accent6">
                        <a:lumMod val="50000"/>
                      </a:schemeClr>
                    </a:solidFill>
                  </a:rPr>
                  <a:t>t=1, 2, 3…</a:t>
                </a:r>
                <a:endParaRPr kumimoji="1" lang="zh-TW" altLang="en-US" sz="1400" dirty="0">
                  <a:solidFill>
                    <a:schemeClr val="accent6">
                      <a:lumMod val="50000"/>
                    </a:schemeClr>
                  </a:solidFill>
                </a:endParaRPr>
              </a:p>
            </p:txBody>
          </p:sp>
        </mc:Choice>
        <mc:Fallback xmlns="">
          <p:sp>
            <p:nvSpPr>
              <p:cNvPr id="8" name="文字方塊 7">
                <a:extLst>
                  <a:ext uri="{FF2B5EF4-FFF2-40B4-BE49-F238E27FC236}">
                    <a16:creationId xmlns:a16="http://schemas.microsoft.com/office/drawing/2014/main" id="{F050430F-5835-FE4B-923C-539834DDCCC9}"/>
                  </a:ext>
                </a:extLst>
              </p:cNvPr>
              <p:cNvSpPr txBox="1">
                <a:spLocks noRot="1" noChangeAspect="1" noMove="1" noResize="1" noEditPoints="1" noAdjustHandles="1" noChangeArrowheads="1" noChangeShapeType="1" noTextEdit="1"/>
              </p:cNvSpPr>
              <p:nvPr/>
            </p:nvSpPr>
            <p:spPr>
              <a:xfrm>
                <a:off x="7659109" y="3876892"/>
                <a:ext cx="2904128" cy="414537"/>
              </a:xfrm>
              <a:prstGeom prst="rect">
                <a:avLst/>
              </a:prstGeom>
              <a:blipFill>
                <a:blip r:embed="rId4"/>
                <a:stretch>
                  <a:fillRect l="-1304" r="-3043"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7049305B-42C5-5340-91F1-04332F256714}"/>
                  </a:ext>
                </a:extLst>
              </p:cNvPr>
              <p:cNvSpPr txBox="1"/>
              <p:nvPr/>
            </p:nvSpPr>
            <p:spPr>
              <a:xfrm>
                <a:off x="7659109" y="4800010"/>
                <a:ext cx="3901525" cy="27699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sty m:val="p"/>
                        </m:rPr>
                        <a:rPr kumimoji="1" lang="en-US" altLang="zh-TW" b="0" i="0" smtClean="0">
                          <a:solidFill>
                            <a:schemeClr val="accent6">
                              <a:lumMod val="50000"/>
                            </a:schemeClr>
                          </a:solidFill>
                          <a:latin typeface="Cambria Math" panose="02040503050406030204" pitchFamily="18" charset="0"/>
                        </a:rPr>
                        <m:t>W</m:t>
                      </m:r>
                      <m:d>
                        <m:dPr>
                          <m:ctrlPr>
                            <a:rPr kumimoji="1" lang="en-US" altLang="zh-TW" i="1" smtClean="0">
                              <a:solidFill>
                                <a:schemeClr val="accent6">
                                  <a:lumMod val="50000"/>
                                </a:schemeClr>
                              </a:solidFill>
                              <a:latin typeface="Cambria Math" panose="02040503050406030204" pitchFamily="18" charset="0"/>
                            </a:rPr>
                          </m:ctrlPr>
                        </m:dPr>
                        <m:e>
                          <m:r>
                            <m:rPr>
                              <m:sty m:val="p"/>
                            </m:rPr>
                            <a:rPr kumimoji="1" lang="en-US" altLang="zh-TW" b="0" i="0" smtClean="0">
                              <a:solidFill>
                                <a:schemeClr val="accent6">
                                  <a:lumMod val="50000"/>
                                </a:schemeClr>
                              </a:solidFill>
                              <a:latin typeface="Cambria Math" panose="02040503050406030204" pitchFamily="18" charset="0"/>
                            </a:rPr>
                            <m:t>t</m:t>
                          </m:r>
                          <m:r>
                            <a:rPr kumimoji="1" lang="en-US" altLang="zh-TW" b="0" i="0" smtClean="0">
                              <a:solidFill>
                                <a:schemeClr val="accent6">
                                  <a:lumMod val="50000"/>
                                </a:schemeClr>
                              </a:solidFill>
                              <a:latin typeface="Cambria Math" panose="02040503050406030204" pitchFamily="18" charset="0"/>
                            </a:rPr>
                            <m:t>+1</m:t>
                          </m:r>
                        </m:e>
                      </m:d>
                      <m:r>
                        <a:rPr kumimoji="1" lang="en-US" altLang="zh-TW" b="0" i="0" smtClean="0">
                          <a:solidFill>
                            <a:schemeClr val="accent6">
                              <a:lumMod val="50000"/>
                            </a:schemeClr>
                          </a:solidFill>
                          <a:latin typeface="Cambria Math" panose="02040503050406030204" pitchFamily="18" charset="0"/>
                        </a:rPr>
                        <m:t>=</m:t>
                      </m:r>
                      <m:r>
                        <m:rPr>
                          <m:sty m:val="p"/>
                        </m:rPr>
                        <a:rPr kumimoji="1" lang="en-US" altLang="zh-TW" b="0" i="0" smtClean="0">
                          <a:solidFill>
                            <a:schemeClr val="accent6">
                              <a:lumMod val="50000"/>
                            </a:schemeClr>
                          </a:solidFill>
                          <a:latin typeface="Cambria Math" panose="02040503050406030204" pitchFamily="18" charset="0"/>
                        </a:rPr>
                        <m:t>W</m:t>
                      </m:r>
                      <m:d>
                        <m:dPr>
                          <m:ctrlPr>
                            <a:rPr kumimoji="1" lang="en-US" altLang="zh-TW" i="1" smtClean="0">
                              <a:solidFill>
                                <a:schemeClr val="accent6">
                                  <a:lumMod val="50000"/>
                                </a:schemeClr>
                              </a:solidFill>
                              <a:latin typeface="Cambria Math" panose="02040503050406030204" pitchFamily="18" charset="0"/>
                            </a:rPr>
                          </m:ctrlPr>
                        </m:dPr>
                        <m:e>
                          <m:r>
                            <m:rPr>
                              <m:sty m:val="p"/>
                            </m:rPr>
                            <a:rPr kumimoji="1" lang="en-US" altLang="zh-TW" b="0" i="0" smtClean="0">
                              <a:solidFill>
                                <a:schemeClr val="accent6">
                                  <a:lumMod val="50000"/>
                                </a:schemeClr>
                              </a:solidFill>
                              <a:latin typeface="Cambria Math" panose="02040503050406030204" pitchFamily="18" charset="0"/>
                            </a:rPr>
                            <m:t>t</m:t>
                          </m:r>
                        </m:e>
                      </m:d>
                      <m:r>
                        <a:rPr kumimoji="1" lang="en-US" altLang="zh-TW" b="0" i="0" smtClean="0">
                          <a:solidFill>
                            <a:schemeClr val="accent6">
                              <a:lumMod val="50000"/>
                            </a:schemeClr>
                          </a:solidFill>
                          <a:latin typeface="Cambria Math" panose="02040503050406030204" pitchFamily="18" charset="0"/>
                        </a:rPr>
                        <m:t>+</m:t>
                      </m:r>
                      <m:r>
                        <m:rPr>
                          <m:sty m:val="p"/>
                        </m:rPr>
                        <a:rPr kumimoji="1" lang="en-US" altLang="zh-TW" b="0" i="0" smtClean="0">
                          <a:solidFill>
                            <a:schemeClr val="accent6">
                              <a:lumMod val="50000"/>
                            </a:schemeClr>
                          </a:solidFill>
                          <a:latin typeface="Cambria Math" panose="02040503050406030204" pitchFamily="18" charset="0"/>
                        </a:rPr>
                        <m:t>L</m:t>
                      </m:r>
                      <m:r>
                        <a:rPr kumimoji="1" lang="en-US" altLang="zh-TW" b="0" i="0" smtClean="0">
                          <a:solidFill>
                            <a:schemeClr val="accent6">
                              <a:lumMod val="50000"/>
                            </a:schemeClr>
                          </a:solidFill>
                          <a:latin typeface="Cambria Math" panose="02040503050406030204" pitchFamily="18" charset="0"/>
                        </a:rPr>
                        <m:t>(</m:t>
                      </m:r>
                      <m:r>
                        <m:rPr>
                          <m:sty m:val="p"/>
                        </m:rPr>
                        <a:rPr kumimoji="1" lang="en-US" altLang="zh-TW" b="0" i="0" smtClean="0">
                          <a:solidFill>
                            <a:schemeClr val="accent6">
                              <a:lumMod val="50000"/>
                            </a:schemeClr>
                          </a:solidFill>
                          <a:latin typeface="Cambria Math" panose="02040503050406030204" pitchFamily="18" charset="0"/>
                        </a:rPr>
                        <m:t>t</m:t>
                      </m:r>
                      <m:r>
                        <a:rPr kumimoji="1" lang="en-US" altLang="zh-TW" b="0" i="0" smtClean="0">
                          <a:solidFill>
                            <a:schemeClr val="accent6">
                              <a:lumMod val="50000"/>
                            </a:schemeClr>
                          </a:solidFill>
                          <a:latin typeface="Cambria Math" panose="02040503050406030204" pitchFamily="18" charset="0"/>
                        </a:rPr>
                        <m:t>)(</m:t>
                      </m:r>
                      <m:r>
                        <m:rPr>
                          <m:sty m:val="p"/>
                        </m:rPr>
                        <a:rPr kumimoji="1" lang="en-US" altLang="zh-TW" b="0" i="0" smtClean="0">
                          <a:solidFill>
                            <a:schemeClr val="accent6">
                              <a:lumMod val="50000"/>
                            </a:schemeClr>
                          </a:solidFill>
                          <a:latin typeface="Cambria Math" panose="02040503050406030204" pitchFamily="18" charset="0"/>
                        </a:rPr>
                        <m:t>V</m:t>
                      </m:r>
                      <m:d>
                        <m:dPr>
                          <m:ctrlPr>
                            <a:rPr kumimoji="1" lang="en-US" altLang="zh-TW" i="1" smtClean="0">
                              <a:solidFill>
                                <a:schemeClr val="accent6">
                                  <a:lumMod val="50000"/>
                                </a:schemeClr>
                              </a:solidFill>
                              <a:latin typeface="Cambria Math" panose="02040503050406030204" pitchFamily="18" charset="0"/>
                            </a:rPr>
                          </m:ctrlPr>
                        </m:dPr>
                        <m:e>
                          <m:r>
                            <m:rPr>
                              <m:sty m:val="p"/>
                            </m:rPr>
                            <a:rPr kumimoji="1" lang="en-US" altLang="zh-TW" b="0" i="0" smtClean="0">
                              <a:solidFill>
                                <a:schemeClr val="accent6">
                                  <a:lumMod val="50000"/>
                                </a:schemeClr>
                              </a:solidFill>
                              <a:latin typeface="Cambria Math" panose="02040503050406030204" pitchFamily="18" charset="0"/>
                            </a:rPr>
                            <m:t>t</m:t>
                          </m:r>
                        </m:e>
                      </m:d>
                      <m:r>
                        <a:rPr kumimoji="1" lang="en-US" altLang="zh-TW" b="0" i="0" smtClean="0">
                          <a:solidFill>
                            <a:schemeClr val="accent6">
                              <a:lumMod val="50000"/>
                            </a:schemeClr>
                          </a:solidFill>
                          <a:latin typeface="Cambria Math" panose="02040503050406030204" pitchFamily="18" charset="0"/>
                        </a:rPr>
                        <m:t>−</m:t>
                      </m:r>
                      <m:r>
                        <m:rPr>
                          <m:sty m:val="p"/>
                        </m:rPr>
                        <a:rPr kumimoji="1" lang="en-US" altLang="zh-TW" b="0" i="0" smtClean="0">
                          <a:solidFill>
                            <a:schemeClr val="accent6">
                              <a:lumMod val="50000"/>
                            </a:schemeClr>
                          </a:solidFill>
                          <a:latin typeface="Cambria Math" panose="02040503050406030204" pitchFamily="18" charset="0"/>
                        </a:rPr>
                        <m:t>W</m:t>
                      </m:r>
                      <m:d>
                        <m:dPr>
                          <m:ctrlPr>
                            <a:rPr kumimoji="1" lang="en-US" altLang="zh-TW" i="1" smtClean="0">
                              <a:solidFill>
                                <a:schemeClr val="accent6">
                                  <a:lumMod val="50000"/>
                                </a:schemeClr>
                              </a:solidFill>
                              <a:latin typeface="Cambria Math" panose="02040503050406030204" pitchFamily="18" charset="0"/>
                            </a:rPr>
                          </m:ctrlPr>
                        </m:dPr>
                        <m:e>
                          <m:r>
                            <m:rPr>
                              <m:sty m:val="p"/>
                            </m:rPr>
                            <a:rPr kumimoji="1" lang="en-US" altLang="zh-TW" b="0" i="0" smtClean="0">
                              <a:solidFill>
                                <a:schemeClr val="accent6">
                                  <a:lumMod val="50000"/>
                                </a:schemeClr>
                              </a:solidFill>
                              <a:latin typeface="Cambria Math" panose="02040503050406030204" pitchFamily="18" charset="0"/>
                            </a:rPr>
                            <m:t>t</m:t>
                          </m:r>
                        </m:e>
                      </m:d>
                      <m:r>
                        <a:rPr kumimoji="1" lang="en-US" altLang="zh-TW" b="0" i="0" smtClean="0">
                          <a:solidFill>
                            <a:schemeClr val="accent6">
                              <a:lumMod val="50000"/>
                            </a:schemeClr>
                          </a:solidFill>
                          <a:latin typeface="Cambria Math" panose="02040503050406030204" pitchFamily="18" charset="0"/>
                        </a:rPr>
                        <m:t>)</m:t>
                      </m:r>
                    </m:oMath>
                  </m:oMathPara>
                </a14:m>
                <a:endParaRPr kumimoji="1" lang="zh-TW" altLang="en-US" sz="1400" dirty="0">
                  <a:solidFill>
                    <a:schemeClr val="accent6">
                      <a:lumMod val="50000"/>
                    </a:schemeClr>
                  </a:solidFill>
                </a:endParaRPr>
              </a:p>
            </p:txBody>
          </p:sp>
        </mc:Choice>
        <mc:Fallback xmlns="">
          <p:sp>
            <p:nvSpPr>
              <p:cNvPr id="9" name="文字方塊 8">
                <a:extLst>
                  <a:ext uri="{FF2B5EF4-FFF2-40B4-BE49-F238E27FC236}">
                    <a16:creationId xmlns:a16="http://schemas.microsoft.com/office/drawing/2014/main" id="{7049305B-42C5-5340-91F1-04332F256714}"/>
                  </a:ext>
                </a:extLst>
              </p:cNvPr>
              <p:cNvSpPr txBox="1">
                <a:spLocks noRot="1" noChangeAspect="1" noMove="1" noResize="1" noEditPoints="1" noAdjustHandles="1" noChangeArrowheads="1" noChangeShapeType="1" noTextEdit="1"/>
              </p:cNvSpPr>
              <p:nvPr/>
            </p:nvSpPr>
            <p:spPr>
              <a:xfrm>
                <a:off x="7659109" y="4800010"/>
                <a:ext cx="3901525" cy="276999"/>
              </a:xfrm>
              <a:prstGeom prst="rect">
                <a:avLst/>
              </a:prstGeom>
              <a:blipFill>
                <a:blip r:embed="rId5"/>
                <a:stretch>
                  <a:fillRect l="-1942" b="-347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6796B97D-7D66-2649-B346-861CB157687A}"/>
                  </a:ext>
                </a:extLst>
              </p:cNvPr>
              <p:cNvSpPr txBox="1"/>
              <p:nvPr/>
            </p:nvSpPr>
            <p:spPr>
              <a:xfrm>
                <a:off x="7659109" y="5210450"/>
                <a:ext cx="3575448" cy="50622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m:rPr>
                          <m:sty m:val="p"/>
                        </m:rPr>
                        <a:rPr kumimoji="1" lang="en-US" altLang="zh-TW" b="0" i="0" smtClean="0">
                          <a:solidFill>
                            <a:schemeClr val="accent6">
                              <a:lumMod val="50000"/>
                            </a:schemeClr>
                          </a:solidFill>
                          <a:latin typeface="Cambria Math" panose="02040503050406030204" pitchFamily="18" charset="0"/>
                        </a:rPr>
                        <m:t>L</m:t>
                      </m:r>
                      <m:d>
                        <m:dPr>
                          <m:ctrlPr>
                            <a:rPr kumimoji="1" lang="en-US" altLang="zh-TW" b="0" i="1" smtClean="0">
                              <a:solidFill>
                                <a:schemeClr val="accent6">
                                  <a:lumMod val="50000"/>
                                </a:schemeClr>
                              </a:solidFill>
                              <a:latin typeface="Cambria Math" panose="02040503050406030204" pitchFamily="18" charset="0"/>
                            </a:rPr>
                          </m:ctrlPr>
                        </m:dPr>
                        <m:e>
                          <m:r>
                            <m:rPr>
                              <m:sty m:val="p"/>
                            </m:rPr>
                            <a:rPr kumimoji="1" lang="en-US" altLang="zh-TW" b="0" i="0" smtClean="0">
                              <a:solidFill>
                                <a:schemeClr val="accent6">
                                  <a:lumMod val="50000"/>
                                </a:schemeClr>
                              </a:solidFill>
                              <a:latin typeface="Cambria Math" panose="02040503050406030204" pitchFamily="18" charset="0"/>
                            </a:rPr>
                            <m:t>t</m:t>
                          </m:r>
                        </m:e>
                      </m:d>
                      <m:r>
                        <a:rPr kumimoji="1" lang="en-US" altLang="zh-TW" b="0" i="0" smtClean="0">
                          <a:solidFill>
                            <a:schemeClr val="accent6">
                              <a:lumMod val="50000"/>
                            </a:schemeClr>
                          </a:solidFill>
                          <a:latin typeface="Cambria Math" panose="02040503050406030204" pitchFamily="18" charset="0"/>
                        </a:rPr>
                        <m:t>=</m:t>
                      </m:r>
                      <m:sSub>
                        <m:sSubPr>
                          <m:ctrlPr>
                            <a:rPr kumimoji="1" lang="en-US" altLang="zh-TW" i="1" smtClean="0">
                              <a:solidFill>
                                <a:schemeClr val="accent6">
                                  <a:lumMod val="50000"/>
                                </a:schemeClr>
                              </a:solidFill>
                              <a:latin typeface="Cambria Math" panose="02040503050406030204" pitchFamily="18" charset="0"/>
                            </a:rPr>
                          </m:ctrlPr>
                        </m:sSubPr>
                        <m:e>
                          <m:r>
                            <m:rPr>
                              <m:sty m:val="p"/>
                            </m:rPr>
                            <a:rPr kumimoji="1" lang="en-US" altLang="zh-TW" b="0" i="0" smtClean="0">
                              <a:solidFill>
                                <a:schemeClr val="accent6">
                                  <a:lumMod val="50000"/>
                                </a:schemeClr>
                              </a:solidFill>
                              <a:latin typeface="Cambria Math" panose="02040503050406030204" pitchFamily="18" charset="0"/>
                            </a:rPr>
                            <m:t>L</m:t>
                          </m:r>
                        </m:e>
                        <m:sub>
                          <m:r>
                            <a:rPr kumimoji="1" lang="en-US" altLang="zh-TW" i="0">
                              <a:solidFill>
                                <a:schemeClr val="accent6">
                                  <a:lumMod val="50000"/>
                                </a:schemeClr>
                              </a:solidFill>
                              <a:latin typeface="Cambria Math" panose="02040503050406030204" pitchFamily="18" charset="0"/>
                            </a:rPr>
                            <m:t>0</m:t>
                          </m:r>
                        </m:sub>
                      </m:sSub>
                      <m:func>
                        <m:funcPr>
                          <m:ctrlPr>
                            <a:rPr kumimoji="1" lang="en-US" altLang="zh-TW" i="1">
                              <a:solidFill>
                                <a:schemeClr val="accent6">
                                  <a:lumMod val="50000"/>
                                </a:schemeClr>
                              </a:solidFill>
                              <a:latin typeface="Cambria Math" panose="02040503050406030204" pitchFamily="18" charset="0"/>
                            </a:rPr>
                          </m:ctrlPr>
                        </m:funcPr>
                        <m:fName>
                          <m:r>
                            <m:rPr>
                              <m:sty m:val="p"/>
                            </m:rPr>
                            <a:rPr kumimoji="1" lang="en-US" altLang="zh-TW" i="0">
                              <a:solidFill>
                                <a:schemeClr val="accent6">
                                  <a:lumMod val="50000"/>
                                </a:schemeClr>
                              </a:solidFill>
                              <a:latin typeface="Cambria Math" panose="02040503050406030204" pitchFamily="18" charset="0"/>
                            </a:rPr>
                            <m:t>exp</m:t>
                          </m:r>
                        </m:fName>
                        <m:e>
                          <m:d>
                            <m:dPr>
                              <m:ctrlPr>
                                <a:rPr kumimoji="1" lang="en-US" altLang="zh-TW" i="1">
                                  <a:solidFill>
                                    <a:schemeClr val="accent6">
                                      <a:lumMod val="50000"/>
                                    </a:schemeClr>
                                  </a:solidFill>
                                  <a:latin typeface="Cambria Math" panose="02040503050406030204" pitchFamily="18" charset="0"/>
                                </a:rPr>
                              </m:ctrlPr>
                            </m:dPr>
                            <m:e>
                              <m:r>
                                <a:rPr kumimoji="1" lang="en-US" altLang="zh-TW" i="0">
                                  <a:solidFill>
                                    <a:schemeClr val="accent6">
                                      <a:lumMod val="50000"/>
                                    </a:schemeClr>
                                  </a:solidFill>
                                  <a:latin typeface="Cambria Math" panose="02040503050406030204" pitchFamily="18" charset="0"/>
                                </a:rPr>
                                <m:t>−</m:t>
                              </m:r>
                              <m:f>
                                <m:fPr>
                                  <m:ctrlPr>
                                    <a:rPr kumimoji="1" lang="en-US" altLang="zh-TW" i="1">
                                      <a:solidFill>
                                        <a:schemeClr val="accent6">
                                          <a:lumMod val="50000"/>
                                        </a:schemeClr>
                                      </a:solidFill>
                                      <a:latin typeface="Cambria Math" panose="02040503050406030204" pitchFamily="18" charset="0"/>
                                    </a:rPr>
                                  </m:ctrlPr>
                                </m:fPr>
                                <m:num>
                                  <m:r>
                                    <m:rPr>
                                      <m:sty m:val="p"/>
                                    </m:rPr>
                                    <a:rPr kumimoji="1" lang="en-US" altLang="zh-TW" i="0">
                                      <a:solidFill>
                                        <a:schemeClr val="accent6">
                                          <a:lumMod val="50000"/>
                                        </a:schemeClr>
                                      </a:solidFill>
                                      <a:latin typeface="Cambria Math" panose="02040503050406030204" pitchFamily="18" charset="0"/>
                                    </a:rPr>
                                    <m:t>t</m:t>
                                  </m:r>
                                </m:num>
                                <m:den>
                                  <m:r>
                                    <m:rPr>
                                      <m:sty m:val="p"/>
                                    </m:rPr>
                                    <a:rPr kumimoji="1" lang="en-US" altLang="zh-TW" i="0">
                                      <a:solidFill>
                                        <a:schemeClr val="accent6">
                                          <a:lumMod val="50000"/>
                                        </a:schemeClr>
                                      </a:solidFill>
                                      <a:latin typeface="Cambria Math" panose="02040503050406030204" pitchFamily="18" charset="0"/>
                                      <a:ea typeface="Cambria Math" panose="02040503050406030204" pitchFamily="18" charset="0"/>
                                    </a:rPr>
                                    <m:t>λ</m:t>
                                  </m:r>
                                </m:den>
                              </m:f>
                            </m:e>
                          </m:d>
                        </m:e>
                      </m:func>
                      <m:r>
                        <a:rPr kumimoji="1" lang="en-US" altLang="zh-TW" i="0">
                          <a:solidFill>
                            <a:schemeClr val="accent6">
                              <a:lumMod val="50000"/>
                            </a:schemeClr>
                          </a:solidFill>
                          <a:latin typeface="Cambria Math" panose="02040503050406030204" pitchFamily="18" charset="0"/>
                        </a:rPr>
                        <m:t> </m:t>
                      </m:r>
                      <m:r>
                        <m:rPr>
                          <m:nor/>
                        </m:rPr>
                        <a:rPr kumimoji="1" lang="en-US" altLang="zh-TW" dirty="0">
                          <a:solidFill>
                            <a:schemeClr val="accent6">
                              <a:lumMod val="50000"/>
                            </a:schemeClr>
                          </a:solidFill>
                        </a:rPr>
                        <m:t>    </m:t>
                      </m:r>
                      <m:r>
                        <m:rPr>
                          <m:nor/>
                        </m:rPr>
                        <a:rPr kumimoji="1" lang="en-US" altLang="zh-TW" sz="1400" dirty="0">
                          <a:solidFill>
                            <a:schemeClr val="accent6">
                              <a:lumMod val="50000"/>
                            </a:schemeClr>
                          </a:solidFill>
                        </a:rPr>
                        <m:t>t</m:t>
                      </m:r>
                      <m:r>
                        <m:rPr>
                          <m:nor/>
                        </m:rPr>
                        <a:rPr kumimoji="1" lang="en-US" altLang="zh-TW" sz="1400" dirty="0">
                          <a:solidFill>
                            <a:schemeClr val="accent6">
                              <a:lumMod val="50000"/>
                            </a:schemeClr>
                          </a:solidFill>
                        </a:rPr>
                        <m:t>=1, 2, 3…</m:t>
                      </m:r>
                    </m:oMath>
                  </m:oMathPara>
                </a14:m>
                <a:endParaRPr kumimoji="1" lang="zh-TW" altLang="en-US" sz="1400" dirty="0">
                  <a:solidFill>
                    <a:schemeClr val="accent6">
                      <a:lumMod val="50000"/>
                    </a:schemeClr>
                  </a:solidFill>
                </a:endParaRPr>
              </a:p>
            </p:txBody>
          </p:sp>
        </mc:Choice>
        <mc:Fallback xmlns="">
          <p:sp>
            <p:nvSpPr>
              <p:cNvPr id="10" name="文字方塊 9">
                <a:extLst>
                  <a:ext uri="{FF2B5EF4-FFF2-40B4-BE49-F238E27FC236}">
                    <a16:creationId xmlns:a16="http://schemas.microsoft.com/office/drawing/2014/main" id="{6796B97D-7D66-2649-B346-861CB157687A}"/>
                  </a:ext>
                </a:extLst>
              </p:cNvPr>
              <p:cNvSpPr txBox="1">
                <a:spLocks noRot="1" noChangeAspect="1" noMove="1" noResize="1" noEditPoints="1" noAdjustHandles="1" noChangeArrowheads="1" noChangeShapeType="1" noTextEdit="1"/>
              </p:cNvSpPr>
              <p:nvPr/>
            </p:nvSpPr>
            <p:spPr>
              <a:xfrm>
                <a:off x="7659109" y="5210450"/>
                <a:ext cx="3575448" cy="506229"/>
              </a:xfrm>
              <a:prstGeom prst="rect">
                <a:avLst/>
              </a:prstGeom>
              <a:blipFill>
                <a:blip r:embed="rId6"/>
                <a:stretch>
                  <a:fillRect l="-2120" t="-2439" b="-146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79857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p:txBody>
          <a:bodyPr/>
          <a:lstStyle/>
          <a:p>
            <a:pPr algn="ctr"/>
            <a:r>
              <a:rPr lang="en" altLang="zh-TW" dirty="0">
                <a:latin typeface="Times" pitchFamily="2" charset="0"/>
              </a:rPr>
              <a:t>SELF-ORGANIZING MAPS</a:t>
            </a:r>
          </a:p>
        </p:txBody>
      </p:sp>
      <p:sp>
        <p:nvSpPr>
          <p:cNvPr id="3" name="內容版面配置區 2">
            <a:extLst>
              <a:ext uri="{FF2B5EF4-FFF2-40B4-BE49-F238E27FC236}">
                <a16:creationId xmlns:a16="http://schemas.microsoft.com/office/drawing/2014/main" id="{2D1C4845-AB0E-C342-AD72-2DFCBA9357B1}"/>
              </a:ext>
            </a:extLst>
          </p:cNvPr>
          <p:cNvSpPr>
            <a:spLocks noGrp="1"/>
          </p:cNvSpPr>
          <p:nvPr>
            <p:ph idx="1"/>
          </p:nvPr>
        </p:nvSpPr>
        <p:spPr/>
        <p:txBody>
          <a:bodyPr/>
          <a:lstStyle/>
          <a:p>
            <a:r>
              <a:rPr lang="en" altLang="zh-TW" dirty="0">
                <a:latin typeface="Times" pitchFamily="2" charset="0"/>
              </a:rPr>
              <a:t>6 SOMs: opening bids, no trump responses, primary responses, overcalls, re-bids by responders, re-bids by opener.</a:t>
            </a:r>
          </a:p>
        </p:txBody>
      </p:sp>
      <p:pic>
        <p:nvPicPr>
          <p:cNvPr id="7" name="圖片 6">
            <a:extLst>
              <a:ext uri="{FF2B5EF4-FFF2-40B4-BE49-F238E27FC236}">
                <a16:creationId xmlns:a16="http://schemas.microsoft.com/office/drawing/2014/main" id="{1AF654FC-D775-9F4F-B168-623544A0BF33}"/>
              </a:ext>
            </a:extLst>
          </p:cNvPr>
          <p:cNvPicPr>
            <a:picLocks noChangeAspect="1"/>
          </p:cNvPicPr>
          <p:nvPr/>
        </p:nvPicPr>
        <p:blipFill>
          <a:blip r:embed="rId3"/>
          <a:stretch>
            <a:fillRect/>
          </a:stretch>
        </p:blipFill>
        <p:spPr>
          <a:xfrm>
            <a:off x="7860219" y="3658116"/>
            <a:ext cx="3765613" cy="2015044"/>
          </a:xfrm>
          <a:prstGeom prst="rect">
            <a:avLst/>
          </a:prstGeom>
        </p:spPr>
      </p:pic>
      <p:sp>
        <p:nvSpPr>
          <p:cNvPr id="8" name="投影片編號版面配置區 7">
            <a:extLst>
              <a:ext uri="{FF2B5EF4-FFF2-40B4-BE49-F238E27FC236}">
                <a16:creationId xmlns:a16="http://schemas.microsoft.com/office/drawing/2014/main" id="{F7A34E8E-CFE1-574A-B736-83A13EFDF5CA}"/>
              </a:ext>
            </a:extLst>
          </p:cNvPr>
          <p:cNvSpPr>
            <a:spLocks noGrp="1"/>
          </p:cNvSpPr>
          <p:nvPr>
            <p:ph type="sldNum" sz="quarter" idx="12"/>
          </p:nvPr>
        </p:nvSpPr>
        <p:spPr/>
        <p:txBody>
          <a:bodyPr/>
          <a:lstStyle/>
          <a:p>
            <a:fld id="{D14435C8-BEF5-8642-B196-DA02C2C37597}" type="slidenum">
              <a:rPr kumimoji="1" lang="zh-TW" altLang="en-US" smtClean="0"/>
              <a:t>7</a:t>
            </a:fld>
            <a:endParaRPr kumimoji="1" lang="zh-TW" altLang="en-US"/>
          </a:p>
        </p:txBody>
      </p:sp>
      <p:pic>
        <p:nvPicPr>
          <p:cNvPr id="6" name="圖片 5">
            <a:extLst>
              <a:ext uri="{FF2B5EF4-FFF2-40B4-BE49-F238E27FC236}">
                <a16:creationId xmlns:a16="http://schemas.microsoft.com/office/drawing/2014/main" id="{EB600363-86AB-E640-8F8A-414A7455AFEC}"/>
              </a:ext>
            </a:extLst>
          </p:cNvPr>
          <p:cNvPicPr>
            <a:picLocks noChangeAspect="1"/>
          </p:cNvPicPr>
          <p:nvPr/>
        </p:nvPicPr>
        <p:blipFill>
          <a:blip r:embed="rId4"/>
          <a:stretch>
            <a:fillRect/>
          </a:stretch>
        </p:blipFill>
        <p:spPr>
          <a:xfrm>
            <a:off x="448671" y="2928551"/>
            <a:ext cx="3532780" cy="3110493"/>
          </a:xfrm>
          <a:prstGeom prst="rect">
            <a:avLst/>
          </a:prstGeom>
        </p:spPr>
      </p:pic>
      <p:sp>
        <p:nvSpPr>
          <p:cNvPr id="9" name="文字方塊 8">
            <a:extLst>
              <a:ext uri="{FF2B5EF4-FFF2-40B4-BE49-F238E27FC236}">
                <a16:creationId xmlns:a16="http://schemas.microsoft.com/office/drawing/2014/main" id="{9C7DC0BE-2367-CD47-A65B-FC0CF85F9D3E}"/>
              </a:ext>
            </a:extLst>
          </p:cNvPr>
          <p:cNvSpPr txBox="1"/>
          <p:nvPr/>
        </p:nvSpPr>
        <p:spPr>
          <a:xfrm>
            <a:off x="9917124" y="3383757"/>
            <a:ext cx="1708708" cy="369332"/>
          </a:xfrm>
          <a:prstGeom prst="rect">
            <a:avLst/>
          </a:prstGeom>
          <a:noFill/>
        </p:spPr>
        <p:txBody>
          <a:bodyPr wrap="square">
            <a:spAutoFit/>
          </a:bodyPr>
          <a:lstStyle/>
          <a:p>
            <a:r>
              <a:rPr lang="en-US" altLang="zh-TW" sz="1800" kern="0" dirty="0">
                <a:solidFill>
                  <a:srgbClr val="137641"/>
                </a:solidFill>
                <a:effectLst/>
                <a:latin typeface="Times" pitchFamily="2" charset="0"/>
                <a:cs typeface="Hiragino Kaku Gothic ProN W3" panose="020B0300000000000000" pitchFamily="34" charset="-128"/>
              </a:rPr>
              <a:t>fuzzy boundary</a:t>
            </a:r>
            <a:r>
              <a:rPr lang="zh-TW" altLang="zh-TW" dirty="0">
                <a:solidFill>
                  <a:srgbClr val="137641"/>
                </a:solidFill>
                <a:effectLst/>
                <a:latin typeface="Times" pitchFamily="2" charset="0"/>
              </a:rPr>
              <a:t> </a:t>
            </a:r>
            <a:endParaRPr lang="zh-TW" altLang="en-US" dirty="0">
              <a:solidFill>
                <a:srgbClr val="137641"/>
              </a:solidFill>
              <a:latin typeface="Times" pitchFamily="2" charset="0"/>
            </a:endParaRPr>
          </a:p>
        </p:txBody>
      </p:sp>
      <p:pic>
        <p:nvPicPr>
          <p:cNvPr id="10" name="圖片 9">
            <a:extLst>
              <a:ext uri="{FF2B5EF4-FFF2-40B4-BE49-F238E27FC236}">
                <a16:creationId xmlns:a16="http://schemas.microsoft.com/office/drawing/2014/main" id="{2B1A7DC4-591C-D747-8F4F-6C2F7796BFCD}"/>
              </a:ext>
            </a:extLst>
          </p:cNvPr>
          <p:cNvPicPr>
            <a:picLocks noChangeAspect="1"/>
          </p:cNvPicPr>
          <p:nvPr/>
        </p:nvPicPr>
        <p:blipFill>
          <a:blip r:embed="rId5"/>
          <a:stretch>
            <a:fillRect/>
          </a:stretch>
        </p:blipFill>
        <p:spPr>
          <a:xfrm>
            <a:off x="4154445" y="3021026"/>
            <a:ext cx="3532780" cy="3012941"/>
          </a:xfrm>
          <a:prstGeom prst="rect">
            <a:avLst/>
          </a:prstGeom>
        </p:spPr>
      </p:pic>
    </p:spTree>
    <p:extLst>
      <p:ext uri="{BB962C8B-B14F-4D97-AF65-F5344CB8AC3E}">
        <p14:creationId xmlns:p14="http://schemas.microsoft.com/office/powerpoint/2010/main" val="1949542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D063EF-91E1-4946-A4A2-CC46F6954D1E}"/>
              </a:ext>
            </a:extLst>
          </p:cNvPr>
          <p:cNvSpPr>
            <a:spLocks noGrp="1"/>
          </p:cNvSpPr>
          <p:nvPr>
            <p:ph type="title"/>
          </p:nvPr>
        </p:nvSpPr>
        <p:spPr/>
        <p:txBody>
          <a:bodyPr/>
          <a:lstStyle/>
          <a:p>
            <a:r>
              <a:rPr lang="en" altLang="zh-TW" dirty="0">
                <a:latin typeface="Times" pitchFamily="2" charset="0"/>
              </a:rPr>
              <a:t>No trump results</a:t>
            </a:r>
          </a:p>
        </p:txBody>
      </p:sp>
      <p:sp>
        <p:nvSpPr>
          <p:cNvPr id="5" name="內容版面配置區 4">
            <a:extLst>
              <a:ext uri="{FF2B5EF4-FFF2-40B4-BE49-F238E27FC236}">
                <a16:creationId xmlns:a16="http://schemas.microsoft.com/office/drawing/2014/main" id="{B57228C9-53F3-224F-BA5C-ADF3F31E0676}"/>
              </a:ext>
            </a:extLst>
          </p:cNvPr>
          <p:cNvSpPr>
            <a:spLocks noGrp="1"/>
          </p:cNvSpPr>
          <p:nvPr>
            <p:ph idx="1"/>
          </p:nvPr>
        </p:nvSpPr>
        <p:spPr>
          <a:xfrm>
            <a:off x="838200" y="1825625"/>
            <a:ext cx="5257800" cy="4351338"/>
          </a:xfrm>
        </p:spPr>
        <p:txBody>
          <a:bodyPr/>
          <a:lstStyle/>
          <a:p>
            <a:r>
              <a:rPr lang="en" altLang="zh-TW" dirty="0">
                <a:latin typeface="Times" pitchFamily="2" charset="0"/>
              </a:rPr>
              <a:t>Two table tournament between Jack and </a:t>
            </a:r>
            <a:r>
              <a:rPr lang="en" altLang="zh-TW" dirty="0" err="1">
                <a:latin typeface="Times" pitchFamily="2" charset="0"/>
              </a:rPr>
              <a:t>BridgeSOM</a:t>
            </a:r>
            <a:r>
              <a:rPr lang="en" altLang="zh-TW" dirty="0">
                <a:latin typeface="Times" pitchFamily="2" charset="0"/>
              </a:rPr>
              <a:t>.</a:t>
            </a:r>
          </a:p>
          <a:p>
            <a:r>
              <a:rPr lang="en" altLang="zh-TW" dirty="0">
                <a:latin typeface="Times" pitchFamily="2" charset="0"/>
              </a:rPr>
              <a:t>The same set of 24 boards. </a:t>
            </a:r>
          </a:p>
          <a:p>
            <a:r>
              <a:rPr lang="en" altLang="zh-TW" dirty="0">
                <a:latin typeface="Times" pitchFamily="2" charset="0"/>
              </a:rPr>
              <a:t>The same dealer each hand and no vulnerability designated.</a:t>
            </a:r>
          </a:p>
        </p:txBody>
      </p:sp>
      <p:pic>
        <p:nvPicPr>
          <p:cNvPr id="8" name="圖片 7" descr="一張含有 桌 的圖片&#10;&#10;自動產生的描述">
            <a:extLst>
              <a:ext uri="{FF2B5EF4-FFF2-40B4-BE49-F238E27FC236}">
                <a16:creationId xmlns:a16="http://schemas.microsoft.com/office/drawing/2014/main" id="{A74F3984-8A8D-BD4C-9F92-D8E0C41A8D47}"/>
              </a:ext>
            </a:extLst>
          </p:cNvPr>
          <p:cNvPicPr>
            <a:picLocks noChangeAspect="1"/>
          </p:cNvPicPr>
          <p:nvPr/>
        </p:nvPicPr>
        <p:blipFill>
          <a:blip r:embed="rId2"/>
          <a:stretch>
            <a:fillRect/>
          </a:stretch>
        </p:blipFill>
        <p:spPr>
          <a:xfrm>
            <a:off x="7137568" y="365125"/>
            <a:ext cx="4216232" cy="6171750"/>
          </a:xfrm>
          <a:prstGeom prst="rect">
            <a:avLst/>
          </a:prstGeom>
        </p:spPr>
      </p:pic>
      <p:sp>
        <p:nvSpPr>
          <p:cNvPr id="6" name="圓角矩形 5">
            <a:extLst>
              <a:ext uri="{FF2B5EF4-FFF2-40B4-BE49-F238E27FC236}">
                <a16:creationId xmlns:a16="http://schemas.microsoft.com/office/drawing/2014/main" id="{719C019B-F408-2D46-A609-A9C35FA59D4A}"/>
              </a:ext>
            </a:extLst>
          </p:cNvPr>
          <p:cNvSpPr/>
          <p:nvPr/>
        </p:nvSpPr>
        <p:spPr>
          <a:xfrm>
            <a:off x="7008981" y="3000376"/>
            <a:ext cx="4535320" cy="212381"/>
          </a:xfrm>
          <a:prstGeom prst="round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zh-TW" altLang="en-US"/>
          </a:p>
        </p:txBody>
      </p:sp>
      <p:sp>
        <p:nvSpPr>
          <p:cNvPr id="12" name="投影片編號版面配置區 11">
            <a:extLst>
              <a:ext uri="{FF2B5EF4-FFF2-40B4-BE49-F238E27FC236}">
                <a16:creationId xmlns:a16="http://schemas.microsoft.com/office/drawing/2014/main" id="{125654EE-AB08-3043-8A52-4286D731DCEA}"/>
              </a:ext>
            </a:extLst>
          </p:cNvPr>
          <p:cNvSpPr>
            <a:spLocks noGrp="1"/>
          </p:cNvSpPr>
          <p:nvPr>
            <p:ph type="sldNum" sz="quarter" idx="12"/>
          </p:nvPr>
        </p:nvSpPr>
        <p:spPr/>
        <p:txBody>
          <a:bodyPr/>
          <a:lstStyle/>
          <a:p>
            <a:fld id="{D14435C8-BEF5-8642-B196-DA02C2C37597}" type="slidenum">
              <a:rPr kumimoji="1" lang="zh-TW" altLang="en-US" smtClean="0"/>
              <a:t>8</a:t>
            </a:fld>
            <a:endParaRPr kumimoji="1" lang="zh-TW" altLang="en-US"/>
          </a:p>
        </p:txBody>
      </p:sp>
    </p:spTree>
    <p:extLst>
      <p:ext uri="{BB962C8B-B14F-4D97-AF65-F5344CB8AC3E}">
        <p14:creationId xmlns:p14="http://schemas.microsoft.com/office/powerpoint/2010/main" val="103540672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15802</TotalTime>
  <Words>524</Words>
  <Application>Microsoft Macintosh PowerPoint</Application>
  <PresentationFormat>寬螢幕</PresentationFormat>
  <Paragraphs>59</Paragraphs>
  <Slides>8</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vt:i4>
      </vt:variant>
    </vt:vector>
  </HeadingPairs>
  <TitlesOfParts>
    <vt:vector size="14" baseType="lpstr">
      <vt:lpstr>Arial</vt:lpstr>
      <vt:lpstr>Calibri</vt:lpstr>
      <vt:lpstr>Calibri Light</vt:lpstr>
      <vt:lpstr>Cambria Math</vt:lpstr>
      <vt:lpstr>Times</vt:lpstr>
      <vt:lpstr>Office 佈景主題</vt:lpstr>
      <vt:lpstr>Bridge Bidding with Imperfect Information</vt:lpstr>
      <vt:lpstr>Abstract</vt:lpstr>
      <vt:lpstr>Bridge bidding</vt:lpstr>
      <vt:lpstr>SELF-ORGANIZING MAPS</vt:lpstr>
      <vt:lpstr>SELF-ORGANIZING MAPS</vt:lpstr>
      <vt:lpstr>SELF-ORGANIZING MAPS</vt:lpstr>
      <vt:lpstr>SELF-ORGANIZING MAPS</vt:lpstr>
      <vt:lpstr>No trump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Bidding with Imperfect Information</dc:title>
  <dc:creator>D096050007</dc:creator>
  <cp:lastModifiedBy>D096050007</cp:lastModifiedBy>
  <cp:revision>98</cp:revision>
  <dcterms:created xsi:type="dcterms:W3CDTF">2022-07-27T04:05:44Z</dcterms:created>
  <dcterms:modified xsi:type="dcterms:W3CDTF">2022-10-23T11:04:29Z</dcterms:modified>
</cp:coreProperties>
</file>