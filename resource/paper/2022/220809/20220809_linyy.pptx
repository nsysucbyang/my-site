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9" r:id="rId3"/>
    <p:sldId id="412" r:id="rId4"/>
    <p:sldId id="631" r:id="rId5"/>
    <p:sldId id="415" r:id="rId6"/>
    <p:sldId id="626" r:id="rId7"/>
    <p:sldId id="628" r:id="rId8"/>
    <p:sldId id="629" r:id="rId9"/>
    <p:sldId id="630" r:id="rId10"/>
    <p:sldId id="632" r:id="rId11"/>
    <p:sldId id="633" r:id="rId12"/>
    <p:sldId id="617" r:id="rId13"/>
    <p:sldId id="634" r:id="rId14"/>
    <p:sldId id="637" r:id="rId15"/>
    <p:sldId id="635" r:id="rId16"/>
    <p:sldId id="636" r:id="rId1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96"/>
    <p:restoredTop sz="94651"/>
  </p:normalViewPr>
  <p:slideViewPr>
    <p:cSldViewPr snapToGrid="0" snapToObjects="1">
      <p:cViewPr>
        <p:scale>
          <a:sx n="110" d="100"/>
          <a:sy n="110" d="100"/>
        </p:scale>
        <p:origin x="784" y="176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86ACD4-E003-2242-B9CA-E02B5AF3FB40}" type="datetimeFigureOut">
              <a:rPr kumimoji="1" lang="zh-TW" altLang="en-US" smtClean="0"/>
              <a:t>2022/8/8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D3EC9A-E9ED-9349-8355-BBED17A59AE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52757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580932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780778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89760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112166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191867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580205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23044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797325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32497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402487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655127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99988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9AEA1F-A529-C543-B122-C79D75A9B4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CDD9FD8-F935-E844-A72C-FAE789896F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CC0D9A1-7770-C641-A8C0-606BF98C1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FBFA9-06E6-D94C-BFAB-00CD3E67D7CA}" type="datetime1">
              <a:rPr kumimoji="1" lang="zh-TW" altLang="en-US" smtClean="0"/>
              <a:t>2022/8/8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8BCB7AA-EFDA-274E-84A3-EA456969A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E244F54-1A74-754B-AE80-2EB58A8CF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70472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4CB43F-26AB-CF45-BC2B-42C35EFCD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E32C75-2052-DB40-A461-36210C8B9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4B5B8BB-C487-024F-8342-82E120D7D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A9F56-7251-2A4E-B88C-9FA56DA971A2}" type="datetime1">
              <a:rPr kumimoji="1" lang="zh-TW" altLang="en-US" smtClean="0"/>
              <a:t>2022/8/8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8DB6457-5B1C-5C43-993D-278292441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762B42F-8467-404B-993B-90C6AB090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76361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170811-0E27-3F4A-9FC4-E738C4884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5E5B833-DE7E-514A-A3BB-498EA25F8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09012DC-A094-0C49-AF63-77A9BC0CB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ABE05-D7D8-CE48-BED7-FADBCDD058D3}" type="datetime1">
              <a:rPr kumimoji="1" lang="zh-TW" altLang="en-US" smtClean="0"/>
              <a:t>2022/8/8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7681F3F-8B18-5E4A-B94C-E0F04F6D7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4F5FF4F-5214-DD4B-855C-6B9371D13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83049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8882D9-952A-8D49-808D-F9C724C4A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2B7EE43-F00B-574A-B051-D41906747E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137477A-8891-A04E-BAB7-2A9063F3AD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1D9D3DB-CD12-0D44-BC6B-9E01517E0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8AEDC-7C8B-3540-9A2F-CC1D71E85B37}" type="datetime1">
              <a:rPr kumimoji="1" lang="zh-TW" altLang="en-US" smtClean="0"/>
              <a:t>2022/8/8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76F5FDC-A454-3542-889C-DB427845B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8C0BA6C-365F-7247-8F1F-800FCF564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75134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11E6E4-8C26-9845-A608-845A29D9C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BD56C9F-BAB2-A44F-9FB7-0DD4FABE3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E49941A-4AF2-DE4C-8872-DB58DD0FD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13D1809-F7A2-1442-945E-4020E7A08E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06F2CD3-B24B-3A49-8455-4F00DFEAF3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8489589-56C1-5A4B-AFBA-BFF118CFC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E8F2B-828C-4346-A20E-816C69F070C7}" type="datetime1">
              <a:rPr kumimoji="1" lang="zh-TW" altLang="en-US" smtClean="0"/>
              <a:t>2022/8/8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B040059-A5AC-E542-9B5A-8610AC2BA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5ACD37C-461B-F740-AEBD-13A5C588B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08261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4A07EF-BD14-6A4E-9E7A-01112770C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6516926-65AB-2B43-8956-806D63E49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5EDE7-124B-8648-A6E1-0F7BD60577D5}" type="datetime1">
              <a:rPr kumimoji="1" lang="zh-TW" altLang="en-US" smtClean="0"/>
              <a:t>2022/8/8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1506ED5-ACE4-8543-AB63-CAD9A1CFB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07937CF-BB72-C745-9D22-A91A17D4D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98174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D695AD6-1153-9040-AB1D-B2D44ABA2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5F867-330B-B940-B03B-359E64A64E91}" type="datetime1">
              <a:rPr kumimoji="1" lang="zh-TW" altLang="en-US" smtClean="0"/>
              <a:t>2022/8/8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815C32C-4453-0C45-8886-0FE61DFFE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C6D8C40-590C-6948-B426-EEC75AA4C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44866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9C40CD-D888-CE44-8EA1-870871B2A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717B6F-F2B3-E74B-A6AC-1F8A73FEF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0026A48-EF1D-AC4D-BBCE-6A5E3F68C7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B9D3DA3-4F7A-E84C-8D0C-4136384AA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C841B-36FA-B747-9C29-B2CC33419BAD}" type="datetime1">
              <a:rPr kumimoji="1" lang="zh-TW" altLang="en-US" smtClean="0"/>
              <a:t>2022/8/8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50622E9-EF61-B240-BCA9-ED4FEE18A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F45D1D9-45C8-2747-A836-4C540ADA4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37057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8F1945-5D1A-FA42-B151-1902F0778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AE12B54-DEE8-CD44-80D0-699B3EC76D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F32D9B0-9463-9A41-950F-9BF96DB3B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917CBBB-F497-3F47-A634-7E1C26A6F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611F8-3573-2C4D-942C-15D8B1AFD37A}" type="datetime1">
              <a:rPr kumimoji="1" lang="zh-TW" altLang="en-US" smtClean="0"/>
              <a:t>2022/8/8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172FF00-F770-D24D-BC3C-968390289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0E96447-76E1-3441-BF93-0AD4F6A37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57927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EADACA-591C-894C-8A56-E9039DC82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C34F77E-58B2-F642-A872-DFADE85037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77DD8E6-742C-0046-98FB-C68B25E94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C2E09-2527-7F4B-A110-6FBD9BD98EA4}" type="datetime1">
              <a:rPr kumimoji="1" lang="zh-TW" altLang="en-US" smtClean="0"/>
              <a:t>2022/8/8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11A71D3-388B-514F-8378-18AAC64F6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9FA401-5A1D-EB45-897D-9BC4EA39C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28715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EF60141-0602-B742-8666-ECC19E8874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FAE28AB-9E4D-BC42-8236-186DA1B75B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5D0288D-DAAC-F54F-BFDB-B956C1496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37416-B0F7-124A-B838-350974E17640}" type="datetime1">
              <a:rPr kumimoji="1" lang="zh-TW" altLang="en-US" smtClean="0"/>
              <a:t>2022/8/8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B7B70EB-CA3F-B94B-BE42-35D4ACFD2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1C76C1B-159C-6448-A7AB-D9F42BF90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46216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6E7502D-DE5C-784A-9CEB-7BE7BC057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41151CC-D4D4-2743-A29A-CC244CCF1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053E478-1C82-2041-9B51-0C1B1A0E5B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F2B49-F11D-2146-BF8E-8F79505A16F7}" type="datetime1">
              <a:rPr kumimoji="1" lang="zh-TW" altLang="en-US" smtClean="0"/>
              <a:t>2022/8/8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A56AFCE-4718-5242-B260-6133B61B1F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AF70ED3-ECE3-3A4A-A44B-2CD3BC618B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D7E222-40AC-AD4D-BFFA-C06E99EC54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9099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B36ABE-AAF8-A44E-9A2F-7BC45939FD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Heads-up limit </a:t>
            </a:r>
            <a:r>
              <a:rPr kumimoji="1" lang="en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hold’em</a:t>
            </a:r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poker is solved 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5B5F14B-80FA-484A-93C9-1FC3F30ECA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fontAlgn="ctr"/>
            <a:r>
              <a:rPr lang="en-US" altLang="zh-TW" dirty="0">
                <a:latin typeface="Times New Roman"/>
                <a:ea typeface="新細明體"/>
                <a:cs typeface="Times New Roman"/>
              </a:rPr>
              <a:t>Michael Bowling, Neil Burch, Michael </a:t>
            </a:r>
            <a:r>
              <a:rPr lang="en-US" altLang="zh-TW" dirty="0" err="1">
                <a:latin typeface="Times New Roman"/>
                <a:ea typeface="新細明體"/>
                <a:cs typeface="Times New Roman"/>
              </a:rPr>
              <a:t>Johanson</a:t>
            </a:r>
            <a:r>
              <a:rPr lang="en-US" altLang="zh-TW" dirty="0">
                <a:latin typeface="Times New Roman"/>
                <a:ea typeface="新細明體"/>
                <a:cs typeface="Times New Roman"/>
              </a:rPr>
              <a:t>, </a:t>
            </a:r>
            <a:r>
              <a:rPr lang="en-US" altLang="zh-TW" dirty="0" err="1">
                <a:latin typeface="Times New Roman"/>
                <a:ea typeface="新細明體"/>
                <a:cs typeface="Times New Roman"/>
              </a:rPr>
              <a:t>Oskari</a:t>
            </a:r>
            <a:r>
              <a:rPr lang="zh-TW" altLang="en-US" dirty="0">
                <a:latin typeface="Times New Roman"/>
                <a:ea typeface="新細明體"/>
                <a:cs typeface="Times New Roman"/>
              </a:rPr>
              <a:t> </a:t>
            </a:r>
            <a:r>
              <a:rPr lang="en-US" altLang="zh-TW" dirty="0" err="1">
                <a:latin typeface="Times New Roman"/>
                <a:ea typeface="新細明體"/>
                <a:cs typeface="Times New Roman"/>
              </a:rPr>
              <a:t>Tammelin</a:t>
            </a:r>
            <a:endParaRPr lang="en-US" altLang="zh-TW" dirty="0">
              <a:latin typeface="Times New Roman"/>
              <a:ea typeface="新細明體"/>
              <a:cs typeface="Times New Roman"/>
            </a:endParaRPr>
          </a:p>
          <a:p>
            <a:r>
              <a:rPr lang="en-US" altLang="zh-TW" dirty="0">
                <a:latin typeface="Times New Roman"/>
                <a:ea typeface="+mn-lt"/>
                <a:cs typeface="+mn-lt"/>
              </a:rPr>
              <a:t>Science Volume 347, Issue 6218, 9 Jan. 2015, pp. 145-149</a:t>
            </a: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0F52706B-9798-8F45-B922-E99F0F5C4CA1}"/>
              </a:ext>
            </a:extLst>
          </p:cNvPr>
          <p:cNvSpPr txBox="1">
            <a:spLocks/>
          </p:cNvSpPr>
          <p:nvPr/>
        </p:nvSpPr>
        <p:spPr>
          <a:xfrm>
            <a:off x="8322197" y="6002973"/>
            <a:ext cx="3584053" cy="66071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Ying-Yu Lin</a:t>
            </a:r>
          </a:p>
          <a:p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Aug.9, 2022</a:t>
            </a:r>
          </a:p>
        </p:txBody>
      </p:sp>
    </p:spTree>
    <p:extLst>
      <p:ext uri="{BB962C8B-B14F-4D97-AF65-F5344CB8AC3E}">
        <p14:creationId xmlns:p14="http://schemas.microsoft.com/office/powerpoint/2010/main" val="827819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7ADD39-1B71-A342-8554-691195C55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63804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Poker is a family of games that exhibit imperfect information, where players do not have full knowledge of past events. Whereas many perfect-information games have been solved (e.g., Connect Four and checkers), no nontrivial imperfect-information game played competitively by humans has previously been solved. Here, we announce that heads-up limit Texas </a:t>
            </a:r>
            <a:r>
              <a:rPr kumimoji="1"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hold’em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now essentially weakly solved. Furthermore, this computation formally proves the common wisdom that the dealer in the game holds a substantial advantage. This result was enabled by a new algorithm, CFR+, which is capable of solving extensive-form games orders of magnitude larger than previously possible.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8127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373002-48BC-8650-51A9-7CBC8F671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/>
              <a:t>Heads up Limit Texas </a:t>
            </a:r>
            <a:r>
              <a:rPr kumimoji="1" lang="en-US" altLang="zh-TW" b="1" dirty="0" err="1"/>
              <a:t>Hold’em</a:t>
            </a:r>
            <a:r>
              <a:rPr kumimoji="1" lang="en-US" altLang="zh-TW" b="1" dirty="0"/>
              <a:t>(HULHE)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54676AC-1B9F-E8D4-6990-EED488649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75868" cy="4351338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Fold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Raise</a:t>
            </a:r>
          </a:p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E5B2A789-DF21-AB4A-A16C-9BCCA1F6CF7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8" t="9258" r="1433" b="4528"/>
          <a:stretch/>
        </p:blipFill>
        <p:spPr>
          <a:xfrm>
            <a:off x="2600697" y="2348139"/>
            <a:ext cx="9274629" cy="405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720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373002-48BC-8650-51A9-7CBC8F671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/>
              <a:t>Heads up Limit Texas </a:t>
            </a:r>
            <a:r>
              <a:rPr kumimoji="1" lang="en-US" altLang="zh-TW" b="1" dirty="0" err="1"/>
              <a:t>Hold’em</a:t>
            </a:r>
            <a:r>
              <a:rPr kumimoji="1" lang="en-US" altLang="zh-TW" b="1" dirty="0"/>
              <a:t>(HULHE)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E5B2A789-DF21-AB4A-A16C-9BCCA1F6C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312" y="1690688"/>
            <a:ext cx="9943375" cy="4594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171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373002-48BC-8650-51A9-7CBC8F671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/>
              <a:t>Heads up Limit Texas </a:t>
            </a:r>
            <a:r>
              <a:rPr kumimoji="1" lang="en-US" altLang="zh-TW" b="1" dirty="0" err="1"/>
              <a:t>Hold’em</a:t>
            </a:r>
            <a:r>
              <a:rPr kumimoji="1" lang="en-US" altLang="zh-TW" b="1" dirty="0"/>
              <a:t>(HULHE)</a:t>
            </a:r>
            <a:endParaRPr kumimoji="1" lang="zh-TW" altLang="en-US" b="1" dirty="0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8FCB4A33-D6E9-FD43-A2E1-FD93C52B261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38200" y="1532576"/>
          <a:ext cx="10870870" cy="47245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35435">
                  <a:extLst>
                    <a:ext uri="{9D8B030D-6E8A-4147-A177-3AD203B41FA5}">
                      <a16:colId xmlns:a16="http://schemas.microsoft.com/office/drawing/2014/main" val="3949796126"/>
                    </a:ext>
                  </a:extLst>
                </a:gridCol>
                <a:gridCol w="5435435">
                  <a:extLst>
                    <a:ext uri="{9D8B030D-6E8A-4147-A177-3AD203B41FA5}">
                      <a16:colId xmlns:a16="http://schemas.microsoft.com/office/drawing/2014/main" val="2857821429"/>
                    </a:ext>
                  </a:extLst>
                </a:gridCol>
              </a:tblGrid>
              <a:tr h="944902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</a:rPr>
                        <a:t>皇家同花順</a:t>
                      </a:r>
                      <a:endParaRPr lang="en-US" altLang="zh-CN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zh-CN" altLang="en-US" b="0" dirty="0">
                          <a:solidFill>
                            <a:schemeClr val="tx1"/>
                          </a:solidFill>
                        </a:rPr>
                        <a:t>同一花色中</a:t>
                      </a:r>
                      <a:endParaRPr lang="en-US" altLang="zh-CN" b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zh-CN" altLang="en-US" b="0" dirty="0">
                          <a:solidFill>
                            <a:schemeClr val="tx1"/>
                          </a:solidFill>
                        </a:rPr>
                        <a:t>最大的順子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6.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</a:rPr>
                        <a:t>順子</a:t>
                      </a:r>
                      <a:endParaRPr lang="en-US" altLang="zh-TW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zh-TW" altLang="en-US" b="0" dirty="0">
                          <a:solidFill>
                            <a:schemeClr val="tx1"/>
                          </a:solidFill>
                        </a:rPr>
                        <a:t>花色不同的順子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8446427"/>
                  </a:ext>
                </a:extLst>
              </a:tr>
              <a:tr h="944902"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2.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</a:rPr>
                        <a:t>同花順</a:t>
                      </a:r>
                      <a:endParaRPr lang="en-US" altLang="zh-TW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zh-TW" altLang="en-US" b="0" dirty="0">
                          <a:solidFill>
                            <a:schemeClr val="tx1"/>
                          </a:solidFill>
                        </a:rPr>
                        <a:t>同一花色的順子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7.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</a:rPr>
                        <a:t>三條</a:t>
                      </a:r>
                      <a:endParaRPr lang="en-US" altLang="zh-TW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zh-TW" altLang="en-US" b="0" dirty="0">
                          <a:solidFill>
                            <a:schemeClr val="tx1"/>
                          </a:solidFill>
                        </a:rPr>
                        <a:t>三張數值相同的牌</a:t>
                      </a:r>
                      <a:endParaRPr lang="en-US" altLang="zh-TW" b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zh-TW" altLang="en-US" b="0" dirty="0">
                          <a:solidFill>
                            <a:schemeClr val="tx1"/>
                          </a:solidFill>
                        </a:rPr>
                        <a:t>加上兩張單張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2461932"/>
                  </a:ext>
                </a:extLst>
              </a:tr>
              <a:tr h="944902"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3.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</a:rPr>
                        <a:t>四條</a:t>
                      </a:r>
                      <a:endParaRPr lang="en-US" altLang="zh-TW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zh-TW" altLang="en-US" b="0" dirty="0">
                          <a:solidFill>
                            <a:schemeClr val="tx1"/>
                          </a:solidFill>
                        </a:rPr>
                        <a:t>有四張相同數值的牌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8.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</a:rPr>
                        <a:t>兩對</a:t>
                      </a:r>
                      <a:endParaRPr lang="en-US" altLang="zh-TW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zh-TW" altLang="en-US" b="0" dirty="0">
                          <a:solidFill>
                            <a:schemeClr val="tx1"/>
                          </a:solidFill>
                        </a:rPr>
                        <a:t>兩對加一張單張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3087041"/>
                  </a:ext>
                </a:extLst>
              </a:tr>
              <a:tr h="944902"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4.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</a:rPr>
                        <a:t>葫蘆</a:t>
                      </a:r>
                      <a:endParaRPr lang="en-US" altLang="zh-TW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zh-TW" altLang="en-US" b="0" dirty="0">
                          <a:solidFill>
                            <a:schemeClr val="tx1"/>
                          </a:solidFill>
                        </a:rPr>
                        <a:t>三張相同數值的牌</a:t>
                      </a:r>
                      <a:endParaRPr lang="en-US" altLang="zh-TW" b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zh-TW" altLang="en-US" b="0" dirty="0">
                          <a:solidFill>
                            <a:schemeClr val="tx1"/>
                          </a:solidFill>
                        </a:rPr>
                        <a:t>加上一對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9.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</a:rPr>
                        <a:t>對子</a:t>
                      </a:r>
                      <a:endParaRPr lang="en-US" altLang="zh-TW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zh-TW" altLang="en-US" b="0" dirty="0">
                          <a:solidFill>
                            <a:schemeClr val="tx1"/>
                          </a:solidFill>
                        </a:rPr>
                        <a:t>一對加三張單張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72592"/>
                  </a:ext>
                </a:extLst>
              </a:tr>
              <a:tr h="944902"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5.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</a:rPr>
                        <a:t>同花</a:t>
                      </a:r>
                      <a:endParaRPr lang="en-US" altLang="zh-TW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zh-TW" altLang="en-US" b="0" dirty="0">
                          <a:solidFill>
                            <a:schemeClr val="tx1"/>
                          </a:solidFill>
                        </a:rPr>
                        <a:t>五張牌花色相同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10.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</a:rPr>
                        <a:t>散牌</a:t>
                      </a:r>
                      <a:endParaRPr lang="en-US" altLang="zh-TW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zh-TW" altLang="en-US" b="0" dirty="0">
                          <a:solidFill>
                            <a:schemeClr val="tx1"/>
                          </a:solidFill>
                        </a:rPr>
                        <a:t>五張單牌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0063560"/>
                  </a:ext>
                </a:extLst>
              </a:tr>
            </a:tbl>
          </a:graphicData>
        </a:graphic>
      </p:graphicFrame>
      <p:pic>
        <p:nvPicPr>
          <p:cNvPr id="9" name="圖片 8">
            <a:extLst>
              <a:ext uri="{FF2B5EF4-FFF2-40B4-BE49-F238E27FC236}">
                <a16:creationId xmlns:a16="http://schemas.microsoft.com/office/drawing/2014/main" id="{5C11F829-A277-E946-8AF6-0AE6C2BD6B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2361" y="5381803"/>
            <a:ext cx="3173925" cy="799083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B72506B6-2397-5C49-A288-7A10764B98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38" y="4435926"/>
            <a:ext cx="3121648" cy="814018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A3838B6B-4205-A040-9951-51C13BDF32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7297" y="3460809"/>
            <a:ext cx="3158989" cy="851359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FE9418E6-9255-8745-8156-94D57322A3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7169" y="2541072"/>
            <a:ext cx="3129117" cy="821486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3811C3FE-F6C2-C143-8191-2235235A24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1977" y="1627387"/>
            <a:ext cx="3084309" cy="754274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42E9592D-14F3-B14B-BC7C-EE0CD8E7A36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9177" y="5380212"/>
            <a:ext cx="3166457" cy="806551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E291D6E2-3B0B-384E-B574-9B9CCE236C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3986" y="4415900"/>
            <a:ext cx="3121648" cy="799082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36189EB8-8436-5F47-8ED0-578AD1007E1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1454" y="3475412"/>
            <a:ext cx="3114180" cy="776678"/>
          </a:xfrm>
          <a:prstGeom prst="rect">
            <a:avLst/>
          </a:prstGeom>
        </p:spPr>
      </p:pic>
      <p:pic>
        <p:nvPicPr>
          <p:cNvPr id="25" name="圖片 24">
            <a:extLst>
              <a:ext uri="{FF2B5EF4-FFF2-40B4-BE49-F238E27FC236}">
                <a16:creationId xmlns:a16="http://schemas.microsoft.com/office/drawing/2014/main" id="{B1AD93B0-651C-C24C-AB09-C31A7DF366D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4113" y="2528730"/>
            <a:ext cx="3151521" cy="858827"/>
          </a:xfrm>
          <a:prstGeom prst="rect">
            <a:avLst/>
          </a:prstGeom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069971BB-6463-2F47-A345-1E23BF893D2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9432" y="1589287"/>
            <a:ext cx="3226202" cy="866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014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/>
              <a:t>CFR+ solve the HULHE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07ADD39-1B71-A342-8554-691195C557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863804" cy="435133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en-US" altLang="zh-TW" sz="2400" dirty="0"/>
                  <a:t>Essentially solved: If a lifetime of play is unable to statistically differentiate it from being solved at 95% confidence.</a:t>
                </a:r>
              </a:p>
              <a:p>
                <a:pPr>
                  <a:lnSpc>
                    <a:spcPct val="120000"/>
                  </a:lnSpc>
                </a:pPr>
                <a:r>
                  <a:rPr kumimoji="1" lang="en-US" altLang="zh-TW" sz="2400" dirty="0" err="1"/>
                  <a:t>mbb</a:t>
                </a:r>
                <a:r>
                  <a:rPr kumimoji="1" lang="en-US" altLang="zh-TW" sz="2400" dirty="0"/>
                  <a:t>/g: milli-big blinds per game</a:t>
                </a:r>
              </a:p>
              <a:p>
                <a:r>
                  <a:rPr lang="en-US" altLang="zh-TW" sz="2400" dirty="0"/>
                  <a:t>Exploitability must below 1mbb/g</a:t>
                </a:r>
                <a:br>
                  <a:rPr lang="en-US" altLang="zh-TW" sz="2400" dirty="0"/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1.64×5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200×12×365×70</m:t>
                            </m:r>
                          </m:e>
                        </m:rad>
                      </m:den>
                    </m:f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≈1.05</m:t>
                    </m:r>
                  </m:oMath>
                </a14:m>
                <a:r>
                  <a:rPr lang="en-US" altLang="zh-TW" sz="2400" dirty="0"/>
                  <a:t> mbb/g</a:t>
                </a: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07ADD39-1B71-A342-8554-691195C557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863804" cy="4351338"/>
              </a:xfrm>
              <a:blipFill>
                <a:blip r:embed="rId3"/>
                <a:stretch>
                  <a:fillRect l="-701" t="-2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6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271FC81-342E-B941-9072-4E343C946C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9775" y="2680711"/>
            <a:ext cx="5961650" cy="3496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087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/>
              <a:t>Introduction- Nash equilibrium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7</a:t>
            </a:fld>
            <a:endParaRPr kumimoji="1" lang="zh-TW" altLang="en-US"/>
          </a:p>
        </p:txBody>
      </p:sp>
      <p:graphicFrame>
        <p:nvGraphicFramePr>
          <p:cNvPr id="8" name="內容版面配置區 7">
            <a:extLst>
              <a:ext uri="{FF2B5EF4-FFF2-40B4-BE49-F238E27FC236}">
                <a16:creationId xmlns:a16="http://schemas.microsoft.com/office/drawing/2014/main" id="{37FCAF59-3F5C-A441-A6BC-6B6F411EDD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3126978"/>
              </p:ext>
            </p:extLst>
          </p:nvPr>
        </p:nvGraphicFramePr>
        <p:xfrm>
          <a:off x="1428509" y="1918220"/>
          <a:ext cx="9139178" cy="4158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909">
                  <a:extLst>
                    <a:ext uri="{9D8B030D-6E8A-4147-A177-3AD203B41FA5}">
                      <a16:colId xmlns:a16="http://schemas.microsoft.com/office/drawing/2014/main" val="3290730505"/>
                    </a:ext>
                  </a:extLst>
                </a:gridCol>
                <a:gridCol w="1129191">
                  <a:extLst>
                    <a:ext uri="{9D8B030D-6E8A-4147-A177-3AD203B41FA5}">
                      <a16:colId xmlns:a16="http://schemas.microsoft.com/office/drawing/2014/main" val="291555414"/>
                    </a:ext>
                  </a:extLst>
                </a:gridCol>
                <a:gridCol w="3214539">
                  <a:extLst>
                    <a:ext uri="{9D8B030D-6E8A-4147-A177-3AD203B41FA5}">
                      <a16:colId xmlns:a16="http://schemas.microsoft.com/office/drawing/2014/main" val="1437801056"/>
                    </a:ext>
                  </a:extLst>
                </a:gridCol>
                <a:gridCol w="3214539">
                  <a:extLst>
                    <a:ext uri="{9D8B030D-6E8A-4147-A177-3AD203B41FA5}">
                      <a16:colId xmlns:a16="http://schemas.microsoft.com/office/drawing/2014/main" val="58736011"/>
                    </a:ext>
                  </a:extLst>
                </a:gridCol>
              </a:tblGrid>
              <a:tr h="1039622">
                <a:tc rowSpan="2" gridSpan="2"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solidFill>
                            <a:schemeClr val="tx1"/>
                          </a:solidFill>
                        </a:rPr>
                        <a:t>利潤</a:t>
                      </a:r>
                      <a:endParaRPr lang="en-US" altLang="zh-TW" sz="2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zh-CN" altLang="en-US" sz="2400" b="0" dirty="0">
                          <a:solidFill>
                            <a:schemeClr val="tx1"/>
                          </a:solidFill>
                        </a:rPr>
                        <a:t>億元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solidFill>
                            <a:schemeClr val="tx1"/>
                          </a:solidFill>
                        </a:rPr>
                        <a:t>Ｂ航空公司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5806495"/>
                  </a:ext>
                </a:extLst>
              </a:tr>
              <a:tr h="1039622">
                <a:tc gridSpan="2"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solidFill>
                            <a:srgbClr val="FF0000"/>
                          </a:solidFill>
                        </a:rPr>
                        <a:t>保持</a:t>
                      </a:r>
                      <a:endParaRPr lang="en-US" altLang="zh-TW" sz="2400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zh-TW" altLang="en-US" sz="2400" dirty="0">
                          <a:solidFill>
                            <a:srgbClr val="FF0000"/>
                          </a:solidFill>
                        </a:rPr>
                        <a:t>原價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solidFill>
                            <a:srgbClr val="FF0000"/>
                          </a:solidFill>
                        </a:rPr>
                        <a:t>降價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5203915"/>
                  </a:ext>
                </a:extLst>
              </a:tr>
              <a:tr h="1039622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chemeClr val="tx1"/>
                          </a:solidFill>
                        </a:rPr>
                        <a:t>Ａ航空</a:t>
                      </a:r>
                      <a:endParaRPr lang="en-US" altLang="zh-CN" sz="2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zh-CN" altLang="en-US" sz="2400" dirty="0">
                          <a:solidFill>
                            <a:schemeClr val="tx1"/>
                          </a:solidFill>
                        </a:rPr>
                        <a:t>公司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solidFill>
                            <a:srgbClr val="0070C0"/>
                          </a:solidFill>
                        </a:rPr>
                        <a:t>保持</a:t>
                      </a:r>
                      <a:endParaRPr lang="en-US" altLang="zh-TW" sz="2400" dirty="0">
                        <a:solidFill>
                          <a:srgbClr val="0070C0"/>
                        </a:solidFill>
                      </a:endParaRPr>
                    </a:p>
                    <a:p>
                      <a:pPr algn="ctr"/>
                      <a:r>
                        <a:rPr lang="zh-TW" altLang="en-US" sz="2400" dirty="0">
                          <a:solidFill>
                            <a:srgbClr val="0070C0"/>
                          </a:solidFill>
                        </a:rPr>
                        <a:t>原價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70C0"/>
                          </a:solidFill>
                        </a:rPr>
                        <a:t>10</a:t>
                      </a:r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2400" dirty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70C0"/>
                          </a:solidFill>
                        </a:rPr>
                        <a:t>8</a:t>
                      </a:r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2400" dirty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56119"/>
                  </a:ext>
                </a:extLst>
              </a:tr>
              <a:tr h="1039622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solidFill>
                            <a:srgbClr val="0070C0"/>
                          </a:solidFill>
                        </a:rPr>
                        <a:t>降價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70C0"/>
                          </a:solidFill>
                        </a:rPr>
                        <a:t>14</a:t>
                      </a:r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2400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70C0"/>
                          </a:solidFill>
                        </a:rPr>
                        <a:t>16</a:t>
                      </a:r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2400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739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6774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/>
              <a:t>Introduction- Nash equilibrium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8</a:t>
            </a:fld>
            <a:endParaRPr kumimoji="1" lang="zh-TW" altLang="en-US"/>
          </a:p>
        </p:txBody>
      </p:sp>
      <p:graphicFrame>
        <p:nvGraphicFramePr>
          <p:cNvPr id="8" name="內容版面配置區 7">
            <a:extLst>
              <a:ext uri="{FF2B5EF4-FFF2-40B4-BE49-F238E27FC236}">
                <a16:creationId xmlns:a16="http://schemas.microsoft.com/office/drawing/2014/main" id="{37FCAF59-3F5C-A441-A6BC-6B6F411EDD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8679589"/>
              </p:ext>
            </p:extLst>
          </p:nvPr>
        </p:nvGraphicFramePr>
        <p:xfrm>
          <a:off x="1428509" y="1918220"/>
          <a:ext cx="9139178" cy="4158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909">
                  <a:extLst>
                    <a:ext uri="{9D8B030D-6E8A-4147-A177-3AD203B41FA5}">
                      <a16:colId xmlns:a16="http://schemas.microsoft.com/office/drawing/2014/main" val="3290730505"/>
                    </a:ext>
                  </a:extLst>
                </a:gridCol>
                <a:gridCol w="1129191">
                  <a:extLst>
                    <a:ext uri="{9D8B030D-6E8A-4147-A177-3AD203B41FA5}">
                      <a16:colId xmlns:a16="http://schemas.microsoft.com/office/drawing/2014/main" val="291555414"/>
                    </a:ext>
                  </a:extLst>
                </a:gridCol>
                <a:gridCol w="3214539">
                  <a:extLst>
                    <a:ext uri="{9D8B030D-6E8A-4147-A177-3AD203B41FA5}">
                      <a16:colId xmlns:a16="http://schemas.microsoft.com/office/drawing/2014/main" val="1437801056"/>
                    </a:ext>
                  </a:extLst>
                </a:gridCol>
                <a:gridCol w="3214539">
                  <a:extLst>
                    <a:ext uri="{9D8B030D-6E8A-4147-A177-3AD203B41FA5}">
                      <a16:colId xmlns:a16="http://schemas.microsoft.com/office/drawing/2014/main" val="58736011"/>
                    </a:ext>
                  </a:extLst>
                </a:gridCol>
              </a:tblGrid>
              <a:tr h="1039622">
                <a:tc rowSpan="2" gridSpan="2"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solidFill>
                            <a:schemeClr val="tx1"/>
                          </a:solidFill>
                        </a:rPr>
                        <a:t>利潤</a:t>
                      </a:r>
                      <a:endParaRPr lang="en-US" altLang="zh-TW" sz="2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zh-CN" altLang="en-US" sz="2400" b="0" dirty="0">
                          <a:solidFill>
                            <a:schemeClr val="tx1"/>
                          </a:solidFill>
                        </a:rPr>
                        <a:t>億元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solidFill>
                            <a:schemeClr val="tx1"/>
                          </a:solidFill>
                        </a:rPr>
                        <a:t>Ｂ航空公司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5806495"/>
                  </a:ext>
                </a:extLst>
              </a:tr>
              <a:tr h="1039622">
                <a:tc gridSpan="2"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solidFill>
                            <a:srgbClr val="FF0000"/>
                          </a:solidFill>
                        </a:rPr>
                        <a:t>保持</a:t>
                      </a:r>
                      <a:endParaRPr lang="en-US" altLang="zh-TW" sz="2400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zh-TW" altLang="en-US" sz="2400" dirty="0">
                          <a:solidFill>
                            <a:srgbClr val="FF0000"/>
                          </a:solidFill>
                        </a:rPr>
                        <a:t>原價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solidFill>
                            <a:srgbClr val="FF0000"/>
                          </a:solidFill>
                        </a:rPr>
                        <a:t>降價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5203915"/>
                  </a:ext>
                </a:extLst>
              </a:tr>
              <a:tr h="1039622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chemeClr val="tx1"/>
                          </a:solidFill>
                        </a:rPr>
                        <a:t>Ａ航空</a:t>
                      </a:r>
                      <a:endParaRPr lang="en-US" altLang="zh-CN" sz="2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zh-CN" altLang="en-US" sz="2400" dirty="0">
                          <a:solidFill>
                            <a:schemeClr val="tx1"/>
                          </a:solidFill>
                        </a:rPr>
                        <a:t>公司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solidFill>
                            <a:srgbClr val="0070C0"/>
                          </a:solidFill>
                        </a:rPr>
                        <a:t>保持</a:t>
                      </a:r>
                      <a:endParaRPr lang="en-US" altLang="zh-TW" sz="2400" dirty="0">
                        <a:solidFill>
                          <a:srgbClr val="0070C0"/>
                        </a:solidFill>
                      </a:endParaRPr>
                    </a:p>
                    <a:p>
                      <a:pPr algn="ctr"/>
                      <a:r>
                        <a:rPr lang="zh-TW" altLang="en-US" sz="2400" dirty="0">
                          <a:solidFill>
                            <a:srgbClr val="0070C0"/>
                          </a:solidFill>
                        </a:rPr>
                        <a:t>原價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70C0"/>
                          </a:solidFill>
                        </a:rPr>
                        <a:t>10</a:t>
                      </a:r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2400" dirty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70C0"/>
                          </a:solidFill>
                        </a:rPr>
                        <a:t>8</a:t>
                      </a:r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2400" dirty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56119"/>
                  </a:ext>
                </a:extLst>
              </a:tr>
              <a:tr h="1039622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solidFill>
                            <a:srgbClr val="0070C0"/>
                          </a:solidFill>
                        </a:rPr>
                        <a:t>降價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70C0"/>
                          </a:solidFill>
                        </a:rPr>
                        <a:t>14</a:t>
                      </a:r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2400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70C0"/>
                          </a:solidFill>
                        </a:rPr>
                        <a:t>16</a:t>
                      </a:r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2400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739138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241CC0F0-FD45-C249-AF49-20189D472B95}"/>
              </a:ext>
            </a:extLst>
          </p:cNvPr>
          <p:cNvSpPr/>
          <p:nvPr/>
        </p:nvSpPr>
        <p:spPr>
          <a:xfrm>
            <a:off x="4328932" y="4514127"/>
            <a:ext cx="949124" cy="3819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14&gt;10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7AAB601-9ABF-084B-92F7-19FFC4F9E195}"/>
              </a:ext>
            </a:extLst>
          </p:cNvPr>
          <p:cNvSpPr/>
          <p:nvPr/>
        </p:nvSpPr>
        <p:spPr>
          <a:xfrm>
            <a:off x="7703917" y="4514127"/>
            <a:ext cx="949124" cy="3819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16&gt;8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284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/>
              <a:t>Introduction- Nash equilibrium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9</a:t>
            </a:fld>
            <a:endParaRPr kumimoji="1" lang="zh-TW" altLang="en-US"/>
          </a:p>
        </p:txBody>
      </p:sp>
      <p:graphicFrame>
        <p:nvGraphicFramePr>
          <p:cNvPr id="8" name="內容版面配置區 7">
            <a:extLst>
              <a:ext uri="{FF2B5EF4-FFF2-40B4-BE49-F238E27FC236}">
                <a16:creationId xmlns:a16="http://schemas.microsoft.com/office/drawing/2014/main" id="{37FCAF59-3F5C-A441-A6BC-6B6F411EDD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7455118"/>
              </p:ext>
            </p:extLst>
          </p:nvPr>
        </p:nvGraphicFramePr>
        <p:xfrm>
          <a:off x="1428509" y="1918220"/>
          <a:ext cx="9139178" cy="4158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909">
                  <a:extLst>
                    <a:ext uri="{9D8B030D-6E8A-4147-A177-3AD203B41FA5}">
                      <a16:colId xmlns:a16="http://schemas.microsoft.com/office/drawing/2014/main" val="3290730505"/>
                    </a:ext>
                  </a:extLst>
                </a:gridCol>
                <a:gridCol w="1129191">
                  <a:extLst>
                    <a:ext uri="{9D8B030D-6E8A-4147-A177-3AD203B41FA5}">
                      <a16:colId xmlns:a16="http://schemas.microsoft.com/office/drawing/2014/main" val="291555414"/>
                    </a:ext>
                  </a:extLst>
                </a:gridCol>
                <a:gridCol w="3214539">
                  <a:extLst>
                    <a:ext uri="{9D8B030D-6E8A-4147-A177-3AD203B41FA5}">
                      <a16:colId xmlns:a16="http://schemas.microsoft.com/office/drawing/2014/main" val="1437801056"/>
                    </a:ext>
                  </a:extLst>
                </a:gridCol>
                <a:gridCol w="3214539">
                  <a:extLst>
                    <a:ext uri="{9D8B030D-6E8A-4147-A177-3AD203B41FA5}">
                      <a16:colId xmlns:a16="http://schemas.microsoft.com/office/drawing/2014/main" val="58736011"/>
                    </a:ext>
                  </a:extLst>
                </a:gridCol>
              </a:tblGrid>
              <a:tr h="1039622">
                <a:tc rowSpan="2" gridSpan="2"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solidFill>
                            <a:schemeClr val="tx1"/>
                          </a:solidFill>
                        </a:rPr>
                        <a:t>利潤</a:t>
                      </a:r>
                      <a:endParaRPr lang="en-US" altLang="zh-TW" sz="2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zh-CN" altLang="en-US" sz="2400" b="0" dirty="0">
                          <a:solidFill>
                            <a:schemeClr val="tx1"/>
                          </a:solidFill>
                        </a:rPr>
                        <a:t>億元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solidFill>
                            <a:schemeClr val="tx1"/>
                          </a:solidFill>
                        </a:rPr>
                        <a:t>Ｂ航空公司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5806495"/>
                  </a:ext>
                </a:extLst>
              </a:tr>
              <a:tr h="1039622">
                <a:tc gridSpan="2"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solidFill>
                            <a:srgbClr val="FF0000"/>
                          </a:solidFill>
                        </a:rPr>
                        <a:t>保持</a:t>
                      </a:r>
                      <a:endParaRPr lang="en-US" altLang="zh-TW" sz="2400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zh-TW" altLang="en-US" sz="2400" dirty="0">
                          <a:solidFill>
                            <a:srgbClr val="FF0000"/>
                          </a:solidFill>
                        </a:rPr>
                        <a:t>原價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solidFill>
                            <a:srgbClr val="FF0000"/>
                          </a:solidFill>
                        </a:rPr>
                        <a:t>降價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5203915"/>
                  </a:ext>
                </a:extLst>
              </a:tr>
              <a:tr h="1039622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chemeClr val="tx1"/>
                          </a:solidFill>
                        </a:rPr>
                        <a:t>Ａ航空</a:t>
                      </a:r>
                      <a:endParaRPr lang="en-US" altLang="zh-CN" sz="2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zh-CN" altLang="en-US" sz="2400" dirty="0">
                          <a:solidFill>
                            <a:schemeClr val="tx1"/>
                          </a:solidFill>
                        </a:rPr>
                        <a:t>公司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solidFill>
                            <a:srgbClr val="0070C0"/>
                          </a:solidFill>
                        </a:rPr>
                        <a:t>保持</a:t>
                      </a:r>
                      <a:endParaRPr lang="en-US" altLang="zh-TW" sz="2400" dirty="0">
                        <a:solidFill>
                          <a:srgbClr val="0070C0"/>
                        </a:solidFill>
                      </a:endParaRPr>
                    </a:p>
                    <a:p>
                      <a:pPr algn="ctr"/>
                      <a:r>
                        <a:rPr lang="zh-TW" altLang="en-US" sz="2400" dirty="0">
                          <a:solidFill>
                            <a:srgbClr val="0070C0"/>
                          </a:solidFill>
                        </a:rPr>
                        <a:t>原價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70C0"/>
                          </a:solidFill>
                        </a:rPr>
                        <a:t>10</a:t>
                      </a:r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2400" dirty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70C0"/>
                          </a:solidFill>
                        </a:rPr>
                        <a:t>8</a:t>
                      </a:r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2400" dirty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56119"/>
                  </a:ext>
                </a:extLst>
              </a:tr>
              <a:tr h="1039622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solidFill>
                            <a:srgbClr val="0070C0"/>
                          </a:solidFill>
                        </a:rPr>
                        <a:t>降價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70C0"/>
                          </a:solidFill>
                        </a:rPr>
                        <a:t>14</a:t>
                      </a:r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2400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70C0"/>
                          </a:solidFill>
                        </a:rPr>
                        <a:t>16</a:t>
                      </a:r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2400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739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99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/>
              <a:t>Regret minimization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07ADD39-1B71-A342-8554-691195C557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863804" cy="435133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en-US" altLang="zh-TW" sz="2400" dirty="0"/>
                  <a:t>Approximate the Nash equilibrium and find the strategy to solve the game</a:t>
                </a:r>
              </a:p>
              <a:p>
                <a:pPr>
                  <a:lnSpc>
                    <a:spcPct val="120000"/>
                  </a:lnSpc>
                </a:pPr>
                <a:r>
                  <a:rPr kumimoji="1" lang="en-US" altLang="zh-TW" sz="2400" dirty="0"/>
                  <a:t>The strategy is the probability of each action in each situation</a:t>
                </a:r>
              </a:p>
              <a:p>
                <a:pPr>
                  <a:lnSpc>
                    <a:spcPct val="120000"/>
                  </a:lnSpc>
                </a:pPr>
                <a:r>
                  <a:rPr kumimoji="1" lang="en-US" altLang="zh-TW" sz="2400" dirty="0"/>
                  <a:t>Solve by linear programing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d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  <m:sSup>
                          <m:s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sup>
                        </m:s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zh-TW" sz="24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func>
                      <m:func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TW" sz="240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bSup>
                              <m:sSubSup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b>
                              <m:sSub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2400"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Sup>
                                  <m:sSubSup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bSup>
                              </m:e>
                            </m:d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))</m:t>
                            </m:r>
                          </m:e>
                        </m:nary>
                      </m:e>
                    </m:func>
                  </m:oMath>
                </a14:m>
                <a:endParaRPr kumimoji="1" lang="en-US" altLang="zh-TW" sz="2400" dirty="0"/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07ADD39-1B71-A342-8554-691195C557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863804" cy="4351338"/>
              </a:xfrm>
              <a:blipFill>
                <a:blip r:embed="rId3"/>
                <a:stretch>
                  <a:fillRect l="-701" t="-2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10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961574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/>
              <a:t>Regret minimization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7ADD39-1B71-A342-8554-691195C55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63804" cy="4351338"/>
          </a:xfrm>
        </p:spPr>
        <p:txBody>
          <a:bodyPr>
            <a:normAutofit/>
          </a:bodyPr>
          <a:lstStyle/>
          <a:p>
            <a:r>
              <a:rPr lang="en-US" altLang="zh-TW" dirty="0"/>
              <a:t>Kuhn poker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three cards: J, Q, K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player antes 1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betting round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One-bet maximum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 information sets</a:t>
            </a:r>
          </a:p>
          <a:p>
            <a:pPr lvl="1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11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85963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>
            <a:extLst>
              <a:ext uri="{FF2B5EF4-FFF2-40B4-BE49-F238E27FC236}">
                <a16:creationId xmlns:a16="http://schemas.microsoft.com/office/drawing/2014/main" id="{22CF9E37-875F-44BD-9312-ACFEFA1CB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87" y="1320589"/>
            <a:ext cx="5957827" cy="5085184"/>
          </a:xfrm>
          <a:prstGeom prst="rect">
            <a:avLst/>
          </a:prstGeom>
        </p:spPr>
      </p:pic>
      <p:sp>
        <p:nvSpPr>
          <p:cNvPr id="6" name="標題 1">
            <a:extLst>
              <a:ext uri="{FF2B5EF4-FFF2-40B4-BE49-F238E27FC236}">
                <a16:creationId xmlns:a16="http://schemas.microsoft.com/office/drawing/2014/main" id="{C0C02C27-40F2-0A4B-BE68-F6DFFDEFF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kumimoji="1" lang="en-US" altLang="zh-TW" b="1" dirty="0"/>
              <a:t>Regret minimization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915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/>
              <a:t>Regret minimization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07ADD39-1B71-A342-8554-691195C557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863804" cy="4351338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/>
                  <a:t>Leduc </a:t>
                </a:r>
                <a:r>
                  <a:rPr lang="en-US" altLang="zh-TW" dirty="0" err="1"/>
                  <a:t>hold’em</a:t>
                </a:r>
                <a:endParaRPr lang="en-US" altLang="zh-TW" dirty="0"/>
              </a:p>
              <a:p>
                <a:pPr lvl="1"/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six cards: J*2, Q*2, K*2</a:t>
                </a:r>
              </a:p>
              <a:p>
                <a:pPr lvl="1"/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Each player antes 1</a:t>
                </a:r>
              </a:p>
              <a:p>
                <a:pPr lvl="1"/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Two betting round</a:t>
                </a:r>
              </a:p>
              <a:p>
                <a:pPr lvl="1"/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Two-bet maximum</a:t>
                </a:r>
              </a:p>
              <a:p>
                <a:pPr lvl="1"/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raise sizes are 2 in the first betting round and 4 in the second betting round</a:t>
                </a:r>
              </a:p>
              <a:p>
                <a:pPr lvl="1"/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288 information sets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TW" b="0" i="0" smtClean="0">
                            <a:latin typeface="Cambria Math" panose="02040503050406030204" pitchFamily="18" charset="0"/>
                          </a:rPr>
                          <m:t>86</m:t>
                        </m:r>
                      </m:sup>
                    </m:sSup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possible deterministic strategies</a:t>
                </a:r>
              </a:p>
              <a:p>
                <a:r>
                  <a:rPr lang="en-US" altLang="zh-TW" dirty="0"/>
                  <a:t>Linear programming can’t handle Leduc </a:t>
                </a:r>
                <a:r>
                  <a:rPr lang="en-US" altLang="zh-TW" dirty="0" err="1"/>
                  <a:t>hold’em</a:t>
                </a:r>
                <a:r>
                  <a:rPr lang="en-US" altLang="zh-TW" dirty="0"/>
                  <a:t> neither HULHE(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TW" b="0" i="0" smtClean="0"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</m:oMath>
                </a14:m>
                <a:r>
                  <a:rPr lang="en-US" altLang="zh-TW" dirty="0"/>
                  <a:t>)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07ADD39-1B71-A342-8554-691195C557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863804" cy="4351338"/>
              </a:xfrm>
              <a:blipFill>
                <a:blip r:embed="rId3"/>
                <a:stretch>
                  <a:fillRect l="-935" t="-2632" r="-1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13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21436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/>
              <a:t>Counterfactual regret minimization(CFR)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07ADD39-1B71-A342-8554-691195C557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863804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pHide m:val="on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Sup>
                                  <m:sSubSup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</m:d>
                                <m:sSup>
                                  <m:sSup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p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sup>
                                </m:s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p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p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</m:e>
                        </m:nary>
                      </m:num>
                      <m:den>
                        <m:sSubSup>
                          <m:sSub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sup>
                        </m:sSub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altLang="zh-TW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altLang="zh-TW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)=</m:t>
                    </m:r>
                    <m:func>
                      <m:func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f>
                          <m:f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</m:fName>
                      <m:e>
                        <m:nary>
                          <m:naryPr>
                            <m:chr m:val="∑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sSup>
                                  <m:sSup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sup>
                            </m:sSub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)(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"/>
                                        <m:endChr m:val="|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​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d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))</m:t>
                            </m:r>
                          </m:e>
                        </m:nary>
                      </m:e>
                    </m:func>
                  </m:oMath>
                </a14:m>
                <a:endParaRPr lang="en-US" altLang="zh-TW" i="1" dirty="0">
                  <a:latin typeface="Cambria Math" panose="02040503050406030204" pitchFamily="18" charset="0"/>
                </a:endParaRPr>
              </a:p>
              <a:p>
                <a:endParaRPr lang="zh-TW" altLang="en-US" dirty="0"/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07ADD39-1B71-A342-8554-691195C557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863804" cy="4351338"/>
              </a:xfrm>
              <a:blipFill>
                <a:blip r:embed="rId3"/>
                <a:stretch>
                  <a:fillRect l="-935" t="-114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14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99627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/>
              <a:t>CFR+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07ADD39-1B71-A342-8554-691195C557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863804" cy="4351338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/>
                  <a:t>CFR+ resets any accumulated negative regret back to zero</a:t>
                </a:r>
              </a:p>
              <a:p>
                <a:r>
                  <a:rPr lang="en-US" altLang="zh-TW" dirty="0"/>
                  <a:t>CFR+ doesn’t store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/>
                  <a:t>, but instead tracks a regret-like value: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 panose="02040503050406030204" pitchFamily="18" charset="0"/>
                              </a:rPr>
                              <m:t>Δ</m:t>
                            </m:r>
                            <m:sSup>
                              <m:sSup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TW" dirty="0"/>
                  <a:t>, and base its policy on these values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den>
                    </m:f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07ADD39-1B71-A342-8554-691195C557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863804" cy="4351338"/>
              </a:xfrm>
              <a:blipFill>
                <a:blip r:embed="rId3"/>
                <a:stretch>
                  <a:fillRect l="-935" t="-26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15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216283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/>
              <a:t>CFR+ solve the HULHE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7ADD39-1B71-A342-8554-691195C55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63804" cy="4351338"/>
          </a:xfrm>
        </p:spPr>
        <p:txBody>
          <a:bodyPr>
            <a:normAutofit/>
          </a:bodyPr>
          <a:lstStyle/>
          <a:p>
            <a:r>
              <a:rPr lang="en-US" altLang="zh-TW"/>
              <a:t>Need 262TB </a:t>
            </a:r>
            <a:r>
              <a:rPr lang="en-US" altLang="zh-TW" dirty="0"/>
              <a:t>(unlikely to fit in RAM)</a:t>
            </a:r>
          </a:p>
          <a:p>
            <a:r>
              <a:rPr lang="en-US" altLang="zh-TW" dirty="0"/>
              <a:t>Storing value as fixed-point numbers instead of floating-point numbers</a:t>
            </a:r>
          </a:p>
          <a:p>
            <a:r>
              <a:rPr lang="en-US" altLang="zh-TW" dirty="0"/>
              <a:t>Need 4800 CPUs running for 68days.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16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03CA6D3-B205-2A4D-96F2-E9701F207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3151" y="3433974"/>
            <a:ext cx="5605698" cy="3287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802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5277</TotalTime>
  <Words>649</Words>
  <Application>Microsoft Macintosh PowerPoint</Application>
  <PresentationFormat>寬螢幕</PresentationFormat>
  <Paragraphs>147</Paragraphs>
  <Slides>16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2" baseType="lpstr">
      <vt:lpstr>新細明體</vt:lpstr>
      <vt:lpstr>Arial</vt:lpstr>
      <vt:lpstr>Calibri</vt:lpstr>
      <vt:lpstr>Cambria Math</vt:lpstr>
      <vt:lpstr>Times New Roman</vt:lpstr>
      <vt:lpstr>Office 佈景主題</vt:lpstr>
      <vt:lpstr>Heads-up limit hold’em poker is solved </vt:lpstr>
      <vt:lpstr>Abstract </vt:lpstr>
      <vt:lpstr>Heads up Limit Texas Hold’em(HULHE)</vt:lpstr>
      <vt:lpstr>Heads up Limit Texas Hold’em(HULHE)</vt:lpstr>
      <vt:lpstr>Heads up Limit Texas Hold’em(HULHE)</vt:lpstr>
      <vt:lpstr>CFR+ solve the HULHE</vt:lpstr>
      <vt:lpstr>Introduction- Nash equilibrium</vt:lpstr>
      <vt:lpstr>Introduction- Nash equilibrium</vt:lpstr>
      <vt:lpstr>Introduction- Nash equilibrium</vt:lpstr>
      <vt:lpstr>Regret minimization</vt:lpstr>
      <vt:lpstr>Regret minimization</vt:lpstr>
      <vt:lpstr>Regret minimization</vt:lpstr>
      <vt:lpstr>Regret minimization</vt:lpstr>
      <vt:lpstr>Counterfactual regret minimization(CFR)</vt:lpstr>
      <vt:lpstr>CFR+</vt:lpstr>
      <vt:lpstr>CFR+ solve the HULHE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Fuzzy Deep Learning based Urban Traffic Incident Detection </dc:title>
  <dc:creator>Microsoft Office User</dc:creator>
  <cp:lastModifiedBy>Microsoft Office User</cp:lastModifiedBy>
  <cp:revision>51</cp:revision>
  <dcterms:created xsi:type="dcterms:W3CDTF">2022-05-15T13:18:58Z</dcterms:created>
  <dcterms:modified xsi:type="dcterms:W3CDTF">2022-08-09T09:45:53Z</dcterms:modified>
</cp:coreProperties>
</file>