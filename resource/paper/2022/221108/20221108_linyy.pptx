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56" r:id="rId2"/>
    <p:sldId id="259" r:id="rId3"/>
    <p:sldId id="630" r:id="rId4"/>
    <p:sldId id="664" r:id="rId5"/>
    <p:sldId id="666" r:id="rId6"/>
    <p:sldId id="663" r:id="rId7"/>
    <p:sldId id="667" r:id="rId8"/>
    <p:sldId id="665"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F5E"/>
    <a:srgbClr val="0069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19"/>
    <p:restoredTop sz="97059"/>
  </p:normalViewPr>
  <p:slideViewPr>
    <p:cSldViewPr snapToGrid="0" snapToObjects="1">
      <p:cViewPr varScale="1">
        <p:scale>
          <a:sx n="117" d="100"/>
          <a:sy n="117" d="100"/>
        </p:scale>
        <p:origin x="512" y="168"/>
      </p:cViewPr>
      <p:guideLst/>
    </p:cSldViewPr>
  </p:slideViewPr>
  <p:outlineViewPr>
    <p:cViewPr>
      <p:scale>
        <a:sx n="33" d="100"/>
        <a:sy n="33" d="100"/>
      </p:scale>
      <p:origin x="0" y="-576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86ACD4-E003-2242-B9CA-E02B5AF3FB40}" type="datetimeFigureOut">
              <a:rPr kumimoji="1" lang="zh-TW" altLang="en-US" smtClean="0"/>
              <a:t>2022/11/6</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TW" altLang="en-US"/>
              <a:t>編輯母片文字樣式
第二層
第三層
第四層
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D3EC9A-E9ED-9349-8355-BBED17A59AE8}" type="slidenum">
              <a:rPr kumimoji="1" lang="zh-TW" altLang="en-US" smtClean="0"/>
              <a:t>‹#›</a:t>
            </a:fld>
            <a:endParaRPr kumimoji="1" lang="zh-TW" altLang="en-US"/>
          </a:p>
        </p:txBody>
      </p:sp>
    </p:spTree>
    <p:extLst>
      <p:ext uri="{BB962C8B-B14F-4D97-AF65-F5344CB8AC3E}">
        <p14:creationId xmlns:p14="http://schemas.microsoft.com/office/powerpoint/2010/main" val="1352757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a:t>
            </a:fld>
            <a:endParaRPr kumimoji="1" lang="zh-TW" altLang="en-US"/>
          </a:p>
        </p:txBody>
      </p:sp>
    </p:spTree>
    <p:extLst>
      <p:ext uri="{BB962C8B-B14F-4D97-AF65-F5344CB8AC3E}">
        <p14:creationId xmlns:p14="http://schemas.microsoft.com/office/powerpoint/2010/main" val="4058093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2</a:t>
            </a:fld>
            <a:endParaRPr kumimoji="1" lang="zh-TW" altLang="en-US"/>
          </a:p>
        </p:txBody>
      </p:sp>
    </p:spTree>
    <p:extLst>
      <p:ext uri="{BB962C8B-B14F-4D97-AF65-F5344CB8AC3E}">
        <p14:creationId xmlns:p14="http://schemas.microsoft.com/office/powerpoint/2010/main" val="167807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3</a:t>
            </a:fld>
            <a:endParaRPr kumimoji="1" lang="zh-TW" altLang="en-US"/>
          </a:p>
        </p:txBody>
      </p:sp>
    </p:spTree>
    <p:extLst>
      <p:ext uri="{BB962C8B-B14F-4D97-AF65-F5344CB8AC3E}">
        <p14:creationId xmlns:p14="http://schemas.microsoft.com/office/powerpoint/2010/main" val="850166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4</a:t>
            </a:fld>
            <a:endParaRPr kumimoji="1" lang="zh-TW" altLang="en-US"/>
          </a:p>
        </p:txBody>
      </p:sp>
    </p:spTree>
    <p:extLst>
      <p:ext uri="{BB962C8B-B14F-4D97-AF65-F5344CB8AC3E}">
        <p14:creationId xmlns:p14="http://schemas.microsoft.com/office/powerpoint/2010/main" val="1518638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5</a:t>
            </a:fld>
            <a:endParaRPr kumimoji="1" lang="zh-TW" altLang="en-US"/>
          </a:p>
        </p:txBody>
      </p:sp>
    </p:spTree>
    <p:extLst>
      <p:ext uri="{BB962C8B-B14F-4D97-AF65-F5344CB8AC3E}">
        <p14:creationId xmlns:p14="http://schemas.microsoft.com/office/powerpoint/2010/main" val="1387899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6</a:t>
            </a:fld>
            <a:endParaRPr kumimoji="1" lang="zh-TW" altLang="en-US"/>
          </a:p>
        </p:txBody>
      </p:sp>
    </p:spTree>
    <p:extLst>
      <p:ext uri="{BB962C8B-B14F-4D97-AF65-F5344CB8AC3E}">
        <p14:creationId xmlns:p14="http://schemas.microsoft.com/office/powerpoint/2010/main" val="3938976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7</a:t>
            </a:fld>
            <a:endParaRPr kumimoji="1" lang="zh-TW" altLang="en-US"/>
          </a:p>
        </p:txBody>
      </p:sp>
    </p:spTree>
    <p:extLst>
      <p:ext uri="{BB962C8B-B14F-4D97-AF65-F5344CB8AC3E}">
        <p14:creationId xmlns:p14="http://schemas.microsoft.com/office/powerpoint/2010/main" val="3009894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8</a:t>
            </a:fld>
            <a:endParaRPr kumimoji="1" lang="zh-TW" altLang="en-US"/>
          </a:p>
        </p:txBody>
      </p:sp>
    </p:spTree>
    <p:extLst>
      <p:ext uri="{BB962C8B-B14F-4D97-AF65-F5344CB8AC3E}">
        <p14:creationId xmlns:p14="http://schemas.microsoft.com/office/powerpoint/2010/main" val="3847160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9AEA1F-A529-C543-B122-C79D75A9B468}"/>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4CDD9FD8-F935-E844-A72C-FAE789896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8CC0D9A1-7770-C641-A8C0-606BF98C1C01}"/>
              </a:ext>
            </a:extLst>
          </p:cNvPr>
          <p:cNvSpPr>
            <a:spLocks noGrp="1"/>
          </p:cNvSpPr>
          <p:nvPr>
            <p:ph type="dt" sz="half" idx="10"/>
          </p:nvPr>
        </p:nvSpPr>
        <p:spPr/>
        <p:txBody>
          <a:bodyPr/>
          <a:lstStyle/>
          <a:p>
            <a:fld id="{702FBFA9-06E6-D94C-BFAB-00CD3E67D7CA}" type="datetime1">
              <a:rPr kumimoji="1" lang="zh-TW" altLang="en-US" smtClean="0"/>
              <a:t>2022/11/6</a:t>
            </a:fld>
            <a:endParaRPr kumimoji="1" lang="zh-TW" altLang="en-US"/>
          </a:p>
        </p:txBody>
      </p:sp>
      <p:sp>
        <p:nvSpPr>
          <p:cNvPr id="5" name="頁尾版面配置區 4">
            <a:extLst>
              <a:ext uri="{FF2B5EF4-FFF2-40B4-BE49-F238E27FC236}">
                <a16:creationId xmlns:a16="http://schemas.microsoft.com/office/drawing/2014/main" id="{F8BCB7AA-EFDA-274E-84A3-EA456969A76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E244F54-1A74-754B-AE80-2EB58A8CF9E6}"/>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4270472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4CB43F-26AB-CF45-BC2B-42C35EFCDA2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2E32C75-2052-DB40-A461-36210C8B9131}"/>
              </a:ext>
            </a:extLst>
          </p:cNvPr>
          <p:cNvSpPr>
            <a:spLocks noGrp="1"/>
          </p:cNvSpPr>
          <p:nvPr>
            <p:ph idx="1"/>
          </p:nvPr>
        </p:nvSpPr>
        <p:spPr/>
        <p:txBody>
          <a:body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44B5B8BB-C487-024F-8342-82E120D7DAF3}"/>
              </a:ext>
            </a:extLst>
          </p:cNvPr>
          <p:cNvSpPr>
            <a:spLocks noGrp="1"/>
          </p:cNvSpPr>
          <p:nvPr>
            <p:ph type="dt" sz="half" idx="10"/>
          </p:nvPr>
        </p:nvSpPr>
        <p:spPr/>
        <p:txBody>
          <a:bodyPr/>
          <a:lstStyle/>
          <a:p>
            <a:fld id="{657A9F56-7251-2A4E-B88C-9FA56DA971A2}" type="datetime1">
              <a:rPr kumimoji="1" lang="zh-TW" altLang="en-US" smtClean="0"/>
              <a:t>2022/11/6</a:t>
            </a:fld>
            <a:endParaRPr kumimoji="1" lang="zh-TW" altLang="en-US"/>
          </a:p>
        </p:txBody>
      </p:sp>
      <p:sp>
        <p:nvSpPr>
          <p:cNvPr id="5" name="頁尾版面配置區 4">
            <a:extLst>
              <a:ext uri="{FF2B5EF4-FFF2-40B4-BE49-F238E27FC236}">
                <a16:creationId xmlns:a16="http://schemas.microsoft.com/office/drawing/2014/main" id="{B8DB6457-5B1C-5C43-993D-2782924418C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762B42F-8467-404B-993B-90C6AB0903DB}"/>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3476361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170811-0E27-3F4A-9FC4-E738C4884280}"/>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A5E5B833-DE7E-514A-A3BB-498EA25F8F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009012DC-A094-0C49-AF63-77A9BC0CBDEC}"/>
              </a:ext>
            </a:extLst>
          </p:cNvPr>
          <p:cNvSpPr>
            <a:spLocks noGrp="1"/>
          </p:cNvSpPr>
          <p:nvPr>
            <p:ph type="dt" sz="half" idx="10"/>
          </p:nvPr>
        </p:nvSpPr>
        <p:spPr/>
        <p:txBody>
          <a:bodyPr/>
          <a:lstStyle/>
          <a:p>
            <a:fld id="{B59ABE05-D7D8-CE48-BED7-FADBCDD058D3}" type="datetime1">
              <a:rPr kumimoji="1" lang="zh-TW" altLang="en-US" smtClean="0"/>
              <a:t>2022/11/6</a:t>
            </a:fld>
            <a:endParaRPr kumimoji="1" lang="zh-TW" altLang="en-US"/>
          </a:p>
        </p:txBody>
      </p:sp>
      <p:sp>
        <p:nvSpPr>
          <p:cNvPr id="5" name="頁尾版面配置區 4">
            <a:extLst>
              <a:ext uri="{FF2B5EF4-FFF2-40B4-BE49-F238E27FC236}">
                <a16:creationId xmlns:a16="http://schemas.microsoft.com/office/drawing/2014/main" id="{C7681F3F-8B18-5E4A-B94C-E0F04F6D76B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4F5FF4F-5214-DD4B-855C-6B9371D136BD}"/>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583049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8882D9-952A-8D49-808D-F9C724C4A44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2B7EE43-F00B-574A-B051-D41906747EA5}"/>
              </a:ext>
            </a:extLst>
          </p:cNvPr>
          <p:cNvSpPr>
            <a:spLocks noGrp="1"/>
          </p:cNvSpPr>
          <p:nvPr>
            <p:ph sz="half" idx="1"/>
          </p:nvPr>
        </p:nvSpPr>
        <p:spPr>
          <a:xfrm>
            <a:off x="838200" y="1825625"/>
            <a:ext cx="5181600" cy="4351338"/>
          </a:xfrm>
        </p:spPr>
        <p:txBody>
          <a:bodyPr/>
          <a:lstStyle/>
          <a:p>
            <a:r>
              <a:rPr kumimoji="1" lang="zh-TW" altLang="en-US"/>
              <a:t>編輯母片文字樣式
第二層
第三層
第四層
第五層</a:t>
            </a:r>
          </a:p>
        </p:txBody>
      </p:sp>
      <p:sp>
        <p:nvSpPr>
          <p:cNvPr id="4" name="內容版面配置區 3">
            <a:extLst>
              <a:ext uri="{FF2B5EF4-FFF2-40B4-BE49-F238E27FC236}">
                <a16:creationId xmlns:a16="http://schemas.microsoft.com/office/drawing/2014/main" id="{7137477A-8891-A04E-BAB7-2A9063F3AD5C}"/>
              </a:ext>
            </a:extLst>
          </p:cNvPr>
          <p:cNvSpPr>
            <a:spLocks noGrp="1"/>
          </p:cNvSpPr>
          <p:nvPr>
            <p:ph sz="half" idx="2"/>
          </p:nvPr>
        </p:nvSpPr>
        <p:spPr>
          <a:xfrm>
            <a:off x="6172200" y="1825625"/>
            <a:ext cx="5181600" cy="4351338"/>
          </a:xfrm>
        </p:spPr>
        <p:txBody>
          <a:body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21D9D3DB-CD12-0D44-BC6B-9E01517E0F3E}"/>
              </a:ext>
            </a:extLst>
          </p:cNvPr>
          <p:cNvSpPr>
            <a:spLocks noGrp="1"/>
          </p:cNvSpPr>
          <p:nvPr>
            <p:ph type="dt" sz="half" idx="10"/>
          </p:nvPr>
        </p:nvSpPr>
        <p:spPr/>
        <p:txBody>
          <a:bodyPr/>
          <a:lstStyle/>
          <a:p>
            <a:fld id="{5E18AEDC-7C8B-3540-9A2F-CC1D71E85B37}" type="datetime1">
              <a:rPr kumimoji="1" lang="zh-TW" altLang="en-US" smtClean="0"/>
              <a:t>2022/11/6</a:t>
            </a:fld>
            <a:endParaRPr kumimoji="1" lang="zh-TW" altLang="en-US"/>
          </a:p>
        </p:txBody>
      </p:sp>
      <p:sp>
        <p:nvSpPr>
          <p:cNvPr id="6" name="頁尾版面配置區 5">
            <a:extLst>
              <a:ext uri="{FF2B5EF4-FFF2-40B4-BE49-F238E27FC236}">
                <a16:creationId xmlns:a16="http://schemas.microsoft.com/office/drawing/2014/main" id="{176F5FDC-A454-3542-889C-DB427845BFA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8C0BA6C-365F-7247-8F1F-800FCF564364}"/>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4275134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11E6E4-8C26-9845-A608-845A29D9C554}"/>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BD56C9F-BAB2-A44F-9FB7-0DD4FABE3D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TW" altLang="en-US"/>
              <a:t>編輯母片文字樣式
第二層
第三層
第四層
第五層</a:t>
            </a:r>
          </a:p>
        </p:txBody>
      </p:sp>
      <p:sp>
        <p:nvSpPr>
          <p:cNvPr id="4" name="內容版面配置區 3">
            <a:extLst>
              <a:ext uri="{FF2B5EF4-FFF2-40B4-BE49-F238E27FC236}">
                <a16:creationId xmlns:a16="http://schemas.microsoft.com/office/drawing/2014/main" id="{FE49941A-4AF2-DE4C-8872-DB58DD0FDD39}"/>
              </a:ext>
            </a:extLst>
          </p:cNvPr>
          <p:cNvSpPr>
            <a:spLocks noGrp="1"/>
          </p:cNvSpPr>
          <p:nvPr>
            <p:ph sz="half" idx="2"/>
          </p:nvPr>
        </p:nvSpPr>
        <p:spPr>
          <a:xfrm>
            <a:off x="839788" y="2505075"/>
            <a:ext cx="5157787" cy="3684588"/>
          </a:xfrm>
        </p:spPr>
        <p:txBody>
          <a:bodyPr/>
          <a:lstStyle/>
          <a:p>
            <a:r>
              <a:rPr kumimoji="1" lang="zh-TW" altLang="en-US"/>
              <a:t>編輯母片文字樣式
第二層
第三層
第四層
第五層</a:t>
            </a:r>
          </a:p>
        </p:txBody>
      </p:sp>
      <p:sp>
        <p:nvSpPr>
          <p:cNvPr id="5" name="文字版面配置區 4">
            <a:extLst>
              <a:ext uri="{FF2B5EF4-FFF2-40B4-BE49-F238E27FC236}">
                <a16:creationId xmlns:a16="http://schemas.microsoft.com/office/drawing/2014/main" id="{C13D1809-F7A2-1442-945E-4020E7A08E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TW" altLang="en-US"/>
              <a:t>編輯母片文字樣式
第二層
第三層
第四層
第五層</a:t>
            </a:r>
          </a:p>
        </p:txBody>
      </p:sp>
      <p:sp>
        <p:nvSpPr>
          <p:cNvPr id="6" name="內容版面配置區 5">
            <a:extLst>
              <a:ext uri="{FF2B5EF4-FFF2-40B4-BE49-F238E27FC236}">
                <a16:creationId xmlns:a16="http://schemas.microsoft.com/office/drawing/2014/main" id="{C06F2CD3-B24B-3A49-8455-4F00DFEAF3D2}"/>
              </a:ext>
            </a:extLst>
          </p:cNvPr>
          <p:cNvSpPr>
            <a:spLocks noGrp="1"/>
          </p:cNvSpPr>
          <p:nvPr>
            <p:ph sz="quarter" idx="4"/>
          </p:nvPr>
        </p:nvSpPr>
        <p:spPr>
          <a:xfrm>
            <a:off x="6172200" y="2505075"/>
            <a:ext cx="5183188" cy="3684588"/>
          </a:xfrm>
        </p:spPr>
        <p:txBody>
          <a:bodyPr/>
          <a:lstStyle/>
          <a:p>
            <a:r>
              <a:rPr kumimoji="1" lang="zh-TW" altLang="en-US"/>
              <a:t>編輯母片文字樣式
第二層
第三層
第四層
第五層</a:t>
            </a:r>
          </a:p>
        </p:txBody>
      </p:sp>
      <p:sp>
        <p:nvSpPr>
          <p:cNvPr id="7" name="日期版面配置區 6">
            <a:extLst>
              <a:ext uri="{FF2B5EF4-FFF2-40B4-BE49-F238E27FC236}">
                <a16:creationId xmlns:a16="http://schemas.microsoft.com/office/drawing/2014/main" id="{78489589-56C1-5A4B-AFBA-BFF118CFC9D4}"/>
              </a:ext>
            </a:extLst>
          </p:cNvPr>
          <p:cNvSpPr>
            <a:spLocks noGrp="1"/>
          </p:cNvSpPr>
          <p:nvPr>
            <p:ph type="dt" sz="half" idx="10"/>
          </p:nvPr>
        </p:nvSpPr>
        <p:spPr/>
        <p:txBody>
          <a:bodyPr/>
          <a:lstStyle/>
          <a:p>
            <a:fld id="{83CE8F2B-828C-4346-A20E-816C69F070C7}" type="datetime1">
              <a:rPr kumimoji="1" lang="zh-TW" altLang="en-US" smtClean="0"/>
              <a:t>2022/11/6</a:t>
            </a:fld>
            <a:endParaRPr kumimoji="1" lang="zh-TW" altLang="en-US"/>
          </a:p>
        </p:txBody>
      </p:sp>
      <p:sp>
        <p:nvSpPr>
          <p:cNvPr id="8" name="頁尾版面配置區 7">
            <a:extLst>
              <a:ext uri="{FF2B5EF4-FFF2-40B4-BE49-F238E27FC236}">
                <a16:creationId xmlns:a16="http://schemas.microsoft.com/office/drawing/2014/main" id="{7B040059-A5AC-E542-9B5A-8610AC2BAD26}"/>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5ACD37C-461B-F740-AEBD-13A5C588BD83}"/>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2108261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4A07EF-BD14-6A4E-9E7A-01112770CC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76516926-65AB-2B43-8956-806D63E493DD}"/>
              </a:ext>
            </a:extLst>
          </p:cNvPr>
          <p:cNvSpPr>
            <a:spLocks noGrp="1"/>
          </p:cNvSpPr>
          <p:nvPr>
            <p:ph type="dt" sz="half" idx="10"/>
          </p:nvPr>
        </p:nvSpPr>
        <p:spPr/>
        <p:txBody>
          <a:bodyPr/>
          <a:lstStyle/>
          <a:p>
            <a:fld id="{72B5EDE7-124B-8648-A6E1-0F7BD60577D5}" type="datetime1">
              <a:rPr kumimoji="1" lang="zh-TW" altLang="en-US" smtClean="0"/>
              <a:t>2022/11/6</a:t>
            </a:fld>
            <a:endParaRPr kumimoji="1" lang="zh-TW" altLang="en-US"/>
          </a:p>
        </p:txBody>
      </p:sp>
      <p:sp>
        <p:nvSpPr>
          <p:cNvPr id="4" name="頁尾版面配置區 3">
            <a:extLst>
              <a:ext uri="{FF2B5EF4-FFF2-40B4-BE49-F238E27FC236}">
                <a16:creationId xmlns:a16="http://schemas.microsoft.com/office/drawing/2014/main" id="{81506ED5-ACE4-8543-AB63-CAD9A1CFB941}"/>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107937CF-BB72-C745-9D22-A91A17D4D37B}"/>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598174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D695AD6-1153-9040-AB1D-B2D44ABA238A}"/>
              </a:ext>
            </a:extLst>
          </p:cNvPr>
          <p:cNvSpPr>
            <a:spLocks noGrp="1"/>
          </p:cNvSpPr>
          <p:nvPr>
            <p:ph type="dt" sz="half" idx="10"/>
          </p:nvPr>
        </p:nvSpPr>
        <p:spPr/>
        <p:txBody>
          <a:bodyPr/>
          <a:lstStyle/>
          <a:p>
            <a:fld id="{D915F867-330B-B940-B03B-359E64A64E91}" type="datetime1">
              <a:rPr kumimoji="1" lang="zh-TW" altLang="en-US" smtClean="0"/>
              <a:t>2022/11/6</a:t>
            </a:fld>
            <a:endParaRPr kumimoji="1" lang="zh-TW" altLang="en-US"/>
          </a:p>
        </p:txBody>
      </p:sp>
      <p:sp>
        <p:nvSpPr>
          <p:cNvPr id="3" name="頁尾版面配置區 2">
            <a:extLst>
              <a:ext uri="{FF2B5EF4-FFF2-40B4-BE49-F238E27FC236}">
                <a16:creationId xmlns:a16="http://schemas.microsoft.com/office/drawing/2014/main" id="{8815C32C-4453-0C45-8886-0FE61DFFE4C3}"/>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9C6D8C40-590C-6948-B426-EEC75AA4C681}"/>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3744866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9C40CD-D888-CE44-8EA1-870871B2AC0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717B6F-F2B3-E74B-A6AC-1F8A73FEFF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TW" altLang="en-US"/>
              <a:t>編輯母片文字樣式
第二層
第三層
第四層
第五層</a:t>
            </a:r>
          </a:p>
        </p:txBody>
      </p:sp>
      <p:sp>
        <p:nvSpPr>
          <p:cNvPr id="4" name="文字版面配置區 3">
            <a:extLst>
              <a:ext uri="{FF2B5EF4-FFF2-40B4-BE49-F238E27FC236}">
                <a16:creationId xmlns:a16="http://schemas.microsoft.com/office/drawing/2014/main" id="{30026A48-EF1D-AC4D-BBCE-6A5E3F68C7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9B9D3DA3-4F7A-E84C-8D0C-4136384AAF68}"/>
              </a:ext>
            </a:extLst>
          </p:cNvPr>
          <p:cNvSpPr>
            <a:spLocks noGrp="1"/>
          </p:cNvSpPr>
          <p:nvPr>
            <p:ph type="dt" sz="half" idx="10"/>
          </p:nvPr>
        </p:nvSpPr>
        <p:spPr/>
        <p:txBody>
          <a:bodyPr/>
          <a:lstStyle/>
          <a:p>
            <a:fld id="{1CCC841B-36FA-B747-9C29-B2CC33419BAD}" type="datetime1">
              <a:rPr kumimoji="1" lang="zh-TW" altLang="en-US" smtClean="0"/>
              <a:t>2022/11/6</a:t>
            </a:fld>
            <a:endParaRPr kumimoji="1" lang="zh-TW" altLang="en-US"/>
          </a:p>
        </p:txBody>
      </p:sp>
      <p:sp>
        <p:nvSpPr>
          <p:cNvPr id="6" name="頁尾版面配置區 5">
            <a:extLst>
              <a:ext uri="{FF2B5EF4-FFF2-40B4-BE49-F238E27FC236}">
                <a16:creationId xmlns:a16="http://schemas.microsoft.com/office/drawing/2014/main" id="{550622E9-EF61-B240-BCA9-ED4FEE18A4A9}"/>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F45D1D9-45C8-2747-A836-4C540ADA4C7A}"/>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3637057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8F1945-5D1A-FA42-B151-1902F0778244}"/>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2AE12B54-DEE8-CD44-80D0-699B3EC76D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BF32D9B0-9463-9A41-950F-9BF96DB3B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TW" altLang="en-US"/>
              <a:t>編輯母片文字樣式
第二層
第三層
第四層
第五層</a:t>
            </a:r>
          </a:p>
        </p:txBody>
      </p:sp>
      <p:sp>
        <p:nvSpPr>
          <p:cNvPr id="5" name="日期版面配置區 4">
            <a:extLst>
              <a:ext uri="{FF2B5EF4-FFF2-40B4-BE49-F238E27FC236}">
                <a16:creationId xmlns:a16="http://schemas.microsoft.com/office/drawing/2014/main" id="{F917CBBB-F497-3F47-A634-7E1C26A6F243}"/>
              </a:ext>
            </a:extLst>
          </p:cNvPr>
          <p:cNvSpPr>
            <a:spLocks noGrp="1"/>
          </p:cNvSpPr>
          <p:nvPr>
            <p:ph type="dt" sz="half" idx="10"/>
          </p:nvPr>
        </p:nvSpPr>
        <p:spPr/>
        <p:txBody>
          <a:bodyPr/>
          <a:lstStyle/>
          <a:p>
            <a:fld id="{241611F8-3573-2C4D-942C-15D8B1AFD37A}" type="datetime1">
              <a:rPr kumimoji="1" lang="zh-TW" altLang="en-US" smtClean="0"/>
              <a:t>2022/11/6</a:t>
            </a:fld>
            <a:endParaRPr kumimoji="1" lang="zh-TW" altLang="en-US"/>
          </a:p>
        </p:txBody>
      </p:sp>
      <p:sp>
        <p:nvSpPr>
          <p:cNvPr id="6" name="頁尾版面配置區 5">
            <a:extLst>
              <a:ext uri="{FF2B5EF4-FFF2-40B4-BE49-F238E27FC236}">
                <a16:creationId xmlns:a16="http://schemas.microsoft.com/office/drawing/2014/main" id="{3172FF00-F770-D24D-BC3C-968390289FF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0E96447-76E1-3441-BF93-0AD4F6A378A5}"/>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135792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EADACA-591C-894C-8A56-E9039DC82893}"/>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AC34F77E-58B2-F642-A872-DFADE850375C}"/>
              </a:ext>
            </a:extLst>
          </p:cNvPr>
          <p:cNvSpPr>
            <a:spLocks noGrp="1"/>
          </p:cNvSpPr>
          <p:nvPr>
            <p:ph type="body" orient="vert" idx="1"/>
          </p:nvPr>
        </p:nvSpPr>
        <p:spPr/>
        <p:txBody>
          <a:bodyPr vert="eaVert"/>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377DD8E6-742C-0046-98FB-C68B25E94684}"/>
              </a:ext>
            </a:extLst>
          </p:cNvPr>
          <p:cNvSpPr>
            <a:spLocks noGrp="1"/>
          </p:cNvSpPr>
          <p:nvPr>
            <p:ph type="dt" sz="half" idx="10"/>
          </p:nvPr>
        </p:nvSpPr>
        <p:spPr/>
        <p:txBody>
          <a:bodyPr/>
          <a:lstStyle/>
          <a:p>
            <a:fld id="{9D2C2E09-2527-7F4B-A110-6FBD9BD98EA4}" type="datetime1">
              <a:rPr kumimoji="1" lang="zh-TW" altLang="en-US" smtClean="0"/>
              <a:t>2022/11/6</a:t>
            </a:fld>
            <a:endParaRPr kumimoji="1" lang="zh-TW" altLang="en-US"/>
          </a:p>
        </p:txBody>
      </p:sp>
      <p:sp>
        <p:nvSpPr>
          <p:cNvPr id="5" name="頁尾版面配置區 4">
            <a:extLst>
              <a:ext uri="{FF2B5EF4-FFF2-40B4-BE49-F238E27FC236}">
                <a16:creationId xmlns:a16="http://schemas.microsoft.com/office/drawing/2014/main" id="{511A71D3-388B-514F-8378-18AAC64F65A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09FA401-5A1D-EB45-897D-9BC4EA39C416}"/>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528715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7EF60141-0602-B742-8666-ECC19E88747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FAE28AB-9E4D-BC42-8236-186DA1B75BCA}"/>
              </a:ext>
            </a:extLst>
          </p:cNvPr>
          <p:cNvSpPr>
            <a:spLocks noGrp="1"/>
          </p:cNvSpPr>
          <p:nvPr>
            <p:ph type="body" orient="vert" idx="1"/>
          </p:nvPr>
        </p:nvSpPr>
        <p:spPr>
          <a:xfrm>
            <a:off x="838200" y="365125"/>
            <a:ext cx="7734300" cy="5811838"/>
          </a:xfrm>
        </p:spPr>
        <p:txBody>
          <a:bodyPr vert="eaVert"/>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E5D0288D-DAAC-F54F-BFDB-B956C149655A}"/>
              </a:ext>
            </a:extLst>
          </p:cNvPr>
          <p:cNvSpPr>
            <a:spLocks noGrp="1"/>
          </p:cNvSpPr>
          <p:nvPr>
            <p:ph type="dt" sz="half" idx="10"/>
          </p:nvPr>
        </p:nvSpPr>
        <p:spPr/>
        <p:txBody>
          <a:bodyPr/>
          <a:lstStyle/>
          <a:p>
            <a:fld id="{BEC37416-B0F7-124A-B838-350974E17640}" type="datetime1">
              <a:rPr kumimoji="1" lang="zh-TW" altLang="en-US" smtClean="0"/>
              <a:t>2022/11/6</a:t>
            </a:fld>
            <a:endParaRPr kumimoji="1" lang="zh-TW" altLang="en-US"/>
          </a:p>
        </p:txBody>
      </p:sp>
      <p:sp>
        <p:nvSpPr>
          <p:cNvPr id="5" name="頁尾版面配置區 4">
            <a:extLst>
              <a:ext uri="{FF2B5EF4-FFF2-40B4-BE49-F238E27FC236}">
                <a16:creationId xmlns:a16="http://schemas.microsoft.com/office/drawing/2014/main" id="{8B7B70EB-CA3F-B94B-BE42-35D4ACFD26B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51C76C1B-159C-6448-A7AB-D9F42BF9012D}"/>
              </a:ext>
            </a:extLst>
          </p:cNvPr>
          <p:cNvSpPr>
            <a:spLocks noGrp="1"/>
          </p:cNvSpPr>
          <p:nvPr>
            <p:ph type="sldNum" sz="quarter" idx="12"/>
          </p:nvPr>
        </p:nvSpPr>
        <p:spPr/>
        <p:txBody>
          <a:body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646216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6E7502D-DE5C-784A-9CEB-7BE7BC0574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641151CC-D4D4-2743-A29A-CC244CCF1C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TW" altLang="en-US"/>
              <a:t>編輯母片文字樣式
第二層
第三層
第四層
第五層</a:t>
            </a:r>
          </a:p>
        </p:txBody>
      </p:sp>
      <p:sp>
        <p:nvSpPr>
          <p:cNvPr id="4" name="日期版面配置區 3">
            <a:extLst>
              <a:ext uri="{FF2B5EF4-FFF2-40B4-BE49-F238E27FC236}">
                <a16:creationId xmlns:a16="http://schemas.microsoft.com/office/drawing/2014/main" id="{A053E478-1C82-2041-9B51-0C1B1A0E5B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F2B49-F11D-2146-BF8E-8F79505A16F7}" type="datetime1">
              <a:rPr kumimoji="1" lang="zh-TW" altLang="en-US" smtClean="0"/>
              <a:t>2022/11/6</a:t>
            </a:fld>
            <a:endParaRPr kumimoji="1" lang="zh-TW" altLang="en-US"/>
          </a:p>
        </p:txBody>
      </p:sp>
      <p:sp>
        <p:nvSpPr>
          <p:cNvPr id="5" name="頁尾版面配置區 4">
            <a:extLst>
              <a:ext uri="{FF2B5EF4-FFF2-40B4-BE49-F238E27FC236}">
                <a16:creationId xmlns:a16="http://schemas.microsoft.com/office/drawing/2014/main" id="{9A56AFCE-4718-5242-B260-6133B61B1F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AF70ED3-ECE3-3A4A-A44B-2CD3BC618B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D7E222-40AC-AD4D-BFFA-C06E99EC5475}" type="slidenum">
              <a:rPr kumimoji="1" lang="zh-TW" altLang="en-US" smtClean="0"/>
              <a:t>‹#›</a:t>
            </a:fld>
            <a:endParaRPr kumimoji="1" lang="zh-TW" altLang="en-US"/>
          </a:p>
        </p:txBody>
      </p:sp>
    </p:spTree>
    <p:extLst>
      <p:ext uri="{BB962C8B-B14F-4D97-AF65-F5344CB8AC3E}">
        <p14:creationId xmlns:p14="http://schemas.microsoft.com/office/powerpoint/2010/main" val="139099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B36ABE-AAF8-A44E-9A2F-7BC45939FD43}"/>
              </a:ext>
            </a:extLst>
          </p:cNvPr>
          <p:cNvSpPr>
            <a:spLocks noGrp="1"/>
          </p:cNvSpPr>
          <p:nvPr>
            <p:ph type="ctrTitle"/>
          </p:nvPr>
        </p:nvSpPr>
        <p:spPr/>
        <p:txBody>
          <a:bodyPr>
            <a:noAutofit/>
          </a:bodyPr>
          <a:lstStyle/>
          <a:p>
            <a:r>
              <a:rPr kumimoji="1" lang="en-US" altLang="zh-TW" sz="4800" dirty="0">
                <a:latin typeface="Times New Roman" panose="02020603050405020304" pitchFamily="18" charset="0"/>
                <a:cs typeface="Times New Roman" panose="02020603050405020304" pitchFamily="18" charset="0"/>
              </a:rPr>
              <a:t>Depth-Limited Solving for</a:t>
            </a:r>
            <a:br>
              <a:rPr kumimoji="1" lang="en-US" altLang="zh-TW" sz="4800" dirty="0">
                <a:latin typeface="Times New Roman" panose="02020603050405020304" pitchFamily="18" charset="0"/>
                <a:cs typeface="Times New Roman" panose="02020603050405020304" pitchFamily="18" charset="0"/>
              </a:rPr>
            </a:br>
            <a:r>
              <a:rPr kumimoji="1" lang="en-US" altLang="zh-TW" sz="4800" dirty="0">
                <a:latin typeface="Times New Roman" panose="02020603050405020304" pitchFamily="18" charset="0"/>
                <a:cs typeface="Times New Roman" panose="02020603050405020304" pitchFamily="18" charset="0"/>
              </a:rPr>
              <a:t>Imperfect-Information Games</a:t>
            </a:r>
            <a:endParaRPr kumimoji="1" lang="en" altLang="zh-TW"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5B5F14B-80FA-484A-93C9-1FC3F30ECA32}"/>
              </a:ext>
            </a:extLst>
          </p:cNvPr>
          <p:cNvSpPr>
            <a:spLocks noGrp="1"/>
          </p:cNvSpPr>
          <p:nvPr>
            <p:ph type="subTitle" idx="1"/>
          </p:nvPr>
        </p:nvSpPr>
        <p:spPr/>
        <p:txBody>
          <a:bodyPr/>
          <a:lstStyle/>
          <a:p>
            <a:pPr fontAlgn="ctr"/>
            <a:r>
              <a:rPr lang="en-US" altLang="zh-TW" dirty="0"/>
              <a:t>Noam Brown, </a:t>
            </a:r>
            <a:r>
              <a:rPr lang="en-US" altLang="zh-TW" dirty="0" err="1"/>
              <a:t>Tuomas</a:t>
            </a:r>
            <a:r>
              <a:rPr lang="en-US" altLang="zh-TW" dirty="0"/>
              <a:t> </a:t>
            </a:r>
            <a:r>
              <a:rPr lang="en-US" altLang="zh-TW" dirty="0" err="1"/>
              <a:t>Sandholm</a:t>
            </a:r>
            <a:r>
              <a:rPr lang="en-US" altLang="zh-TW" dirty="0"/>
              <a:t>, Brandon Amos </a:t>
            </a:r>
          </a:p>
          <a:p>
            <a:pPr fontAlgn="ctr"/>
            <a:r>
              <a:rPr lang="en-US" altLang="zh-TW" dirty="0">
                <a:latin typeface="Times New Roman"/>
                <a:ea typeface="+mn-lt"/>
                <a:cs typeface="+mn-lt"/>
              </a:rPr>
              <a:t>the 32nd International Conference on Neural Information Processing Systems, December 2018, pp. 7674–7685</a:t>
            </a:r>
          </a:p>
        </p:txBody>
      </p:sp>
      <p:sp>
        <p:nvSpPr>
          <p:cNvPr id="4" name="副標題 2">
            <a:extLst>
              <a:ext uri="{FF2B5EF4-FFF2-40B4-BE49-F238E27FC236}">
                <a16:creationId xmlns:a16="http://schemas.microsoft.com/office/drawing/2014/main" id="{0F52706B-9798-8F45-B922-E99F0F5C4CA1}"/>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Ying-Yu Lin</a:t>
            </a:r>
          </a:p>
          <a:p>
            <a:r>
              <a:rPr kumimoji="1" lang="en" altLang="zh-TW" dirty="0">
                <a:latin typeface="Times New Roman" panose="02020603050405020304" pitchFamily="18" charset="0"/>
                <a:cs typeface="Times New Roman" panose="02020603050405020304" pitchFamily="18" charset="0"/>
              </a:rPr>
              <a:t>Date: Nov.8, 2022</a:t>
            </a:r>
          </a:p>
        </p:txBody>
      </p:sp>
    </p:spTree>
    <p:extLst>
      <p:ext uri="{BB962C8B-B14F-4D97-AF65-F5344CB8AC3E}">
        <p14:creationId xmlns:p14="http://schemas.microsoft.com/office/powerpoint/2010/main" val="82781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Abstract </a:t>
            </a:r>
            <a:endParaRPr kumimoji="1"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520456"/>
            <a:ext cx="10863804" cy="5103628"/>
          </a:xfrm>
        </p:spPr>
        <p:txBody>
          <a:bodyPr>
            <a:normAutofit/>
          </a:bodyPr>
          <a:lstStyle/>
          <a:p>
            <a:pPr marL="0" indent="0">
              <a:lnSpc>
                <a:spcPct val="120000"/>
              </a:lnSpc>
              <a:buNone/>
            </a:pPr>
            <a:r>
              <a:rPr kumimoji="1" lang="en-US" altLang="zh-TW" sz="2400" dirty="0">
                <a:latin typeface="Times New Roman" panose="02020603050405020304" pitchFamily="18" charset="0"/>
                <a:cs typeface="Times New Roman" panose="02020603050405020304" pitchFamily="18" charset="0"/>
              </a:rPr>
              <a:t>A fundamental challenge in imperfect-information games is that states do not have well-defined values. As a result, depth-limited search algorithms used in single agent settings and perfect-information games do not apply. This paper introduces a principled way to conduct depth-limited solving in imperfect-information games by allowing the opponent to choose among a number of strategies for the remainder of the game at the depth limit. Each one of these strategies results in a different set of values for leaf nodes. This forces an agent to be robust to the different strategies an opponent may employ. We demonstrate the effectiveness of this approach by building a master-level heads-up no-limit Texas </a:t>
            </a:r>
            <a:r>
              <a:rPr kumimoji="1" lang="en-US" altLang="zh-TW" sz="2400" dirty="0" err="1">
                <a:latin typeface="Times New Roman" panose="02020603050405020304" pitchFamily="18" charset="0"/>
                <a:cs typeface="Times New Roman" panose="02020603050405020304" pitchFamily="18" charset="0"/>
              </a:rPr>
              <a:t>hold’em</a:t>
            </a:r>
            <a:r>
              <a:rPr kumimoji="1" lang="en-US" altLang="zh-TW" sz="2400" dirty="0">
                <a:latin typeface="Times New Roman" panose="02020603050405020304" pitchFamily="18" charset="0"/>
                <a:cs typeface="Times New Roman" panose="02020603050405020304" pitchFamily="18" charset="0"/>
              </a:rPr>
              <a:t> poker AI that defeats two prior top agents using only a 4-core CPU and 16 GB of memory. Developing such a powerful agent would have previously required a supercomputer.</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2</a:t>
            </a:fld>
            <a:endParaRPr kumimoji="1" lang="zh-TW" altLang="en-US"/>
          </a:p>
        </p:txBody>
      </p:sp>
    </p:spTree>
    <p:extLst>
      <p:ext uri="{BB962C8B-B14F-4D97-AF65-F5344CB8AC3E}">
        <p14:creationId xmlns:p14="http://schemas.microsoft.com/office/powerpoint/2010/main" val="58127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err="1"/>
              <a:t>Libratus</a:t>
            </a:r>
            <a:endParaRPr kumimoji="1"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825625"/>
            <a:ext cx="10863804" cy="4351338"/>
          </a:xfrm>
        </p:spPr>
        <p:txBody>
          <a:bodyPr>
            <a:normAutofit/>
          </a:bodyPr>
          <a:lstStyle/>
          <a:p>
            <a:pPr>
              <a:lnSpc>
                <a:spcPct val="120000"/>
              </a:lnSpc>
            </a:pPr>
            <a:r>
              <a:rPr lang="en-US" altLang="zh-TW" dirty="0"/>
              <a:t>Defeat top human in heads-up no-limited Texas </a:t>
            </a:r>
            <a:r>
              <a:rPr lang="en-US" altLang="zh-TW" dirty="0" err="1"/>
              <a:t>hold’em</a:t>
            </a:r>
            <a:r>
              <a:rPr lang="en-US" altLang="zh-TW" dirty="0"/>
              <a:t> </a:t>
            </a:r>
          </a:p>
          <a:p>
            <a:pPr>
              <a:lnSpc>
                <a:spcPct val="120000"/>
              </a:lnSpc>
            </a:pPr>
            <a:r>
              <a:rPr lang="en-US" altLang="zh-TW" dirty="0"/>
              <a:t>Half of the game </a:t>
            </a:r>
            <a:r>
              <a:rPr lang="en-US" altLang="zh-TW" dirty="0" err="1"/>
              <a:t>Libratus</a:t>
            </a:r>
            <a:r>
              <a:rPr lang="en-US" altLang="zh-TW" dirty="0"/>
              <a:t> pre-computed a fine-extended strategy that was used as a lookup table</a:t>
            </a:r>
          </a:p>
          <a:p>
            <a:pPr>
              <a:lnSpc>
                <a:spcPct val="120000"/>
              </a:lnSpc>
            </a:pPr>
            <a:r>
              <a:rPr lang="en-US" altLang="zh-TW" dirty="0"/>
              <a:t>Required millions of core hours and terabytes of memory to calculate </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3</a:t>
            </a:fld>
            <a:endParaRPr kumimoji="1" lang="zh-TW" altLang="en-US"/>
          </a:p>
        </p:txBody>
      </p:sp>
    </p:spTree>
    <p:extLst>
      <p:ext uri="{BB962C8B-B14F-4D97-AF65-F5344CB8AC3E}">
        <p14:creationId xmlns:p14="http://schemas.microsoft.com/office/powerpoint/2010/main" val="3975952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t>Perfect-Information Games</a:t>
            </a:r>
            <a:endParaRPr kumimoji="1"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825625"/>
            <a:ext cx="6381307" cy="4351338"/>
          </a:xfrm>
        </p:spPr>
        <p:txBody>
          <a:bodyPr>
            <a:normAutofit/>
          </a:bodyPr>
          <a:lstStyle/>
          <a:p>
            <a:pPr>
              <a:lnSpc>
                <a:spcPct val="120000"/>
              </a:lnSpc>
            </a:pPr>
            <a:r>
              <a:rPr kumimoji="1" lang="en-US" altLang="zh-TW" dirty="0"/>
              <a:t>Subgame might be too large to solve </a:t>
            </a:r>
          </a:p>
          <a:p>
            <a:pPr>
              <a:lnSpc>
                <a:spcPct val="120000"/>
              </a:lnSpc>
            </a:pPr>
            <a:r>
              <a:rPr kumimoji="1" lang="en-US" altLang="zh-TW" dirty="0"/>
              <a:t>If estimate is perfect, limited-lookahead search finds optimal policy</a:t>
            </a:r>
          </a:p>
          <a:p>
            <a:pPr>
              <a:lnSpc>
                <a:spcPct val="120000"/>
              </a:lnSpc>
            </a:pPr>
            <a:r>
              <a:rPr kumimoji="1" lang="en-US" altLang="zh-TW" dirty="0"/>
              <a:t>But state values are not well defined in imperfect-information games</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4</a:t>
            </a:fld>
            <a:endParaRPr kumimoji="1" lang="zh-TW" altLang="en-US"/>
          </a:p>
        </p:txBody>
      </p:sp>
      <p:sp>
        <p:nvSpPr>
          <p:cNvPr id="5" name="等腰三角形 4">
            <a:extLst>
              <a:ext uri="{FF2B5EF4-FFF2-40B4-BE49-F238E27FC236}">
                <a16:creationId xmlns:a16="http://schemas.microsoft.com/office/drawing/2014/main" id="{20246E65-9989-31F4-F27D-20069D23DEA0}"/>
              </a:ext>
            </a:extLst>
          </p:cNvPr>
          <p:cNvSpPr/>
          <p:nvPr/>
        </p:nvSpPr>
        <p:spPr>
          <a:xfrm>
            <a:off x="7837148" y="2886994"/>
            <a:ext cx="3469761" cy="2991173"/>
          </a:xfrm>
          <a:prstGeom prst="triangle">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4BB3C271-CF6B-3B02-07A0-FD04139D5D6B}"/>
              </a:ext>
            </a:extLst>
          </p:cNvPr>
          <p:cNvSpPr/>
          <p:nvPr/>
        </p:nvSpPr>
        <p:spPr>
          <a:xfrm>
            <a:off x="9422461" y="2804980"/>
            <a:ext cx="294467" cy="2944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a:extLst>
              <a:ext uri="{FF2B5EF4-FFF2-40B4-BE49-F238E27FC236}">
                <a16:creationId xmlns:a16="http://schemas.microsoft.com/office/drawing/2014/main" id="{76B53CAE-FB42-D6F3-9C2C-EF2A71B7F27E}"/>
              </a:ext>
            </a:extLst>
          </p:cNvPr>
          <p:cNvCxnSpPr>
            <a:cxnSpLocks/>
            <a:stCxn id="8" idx="7"/>
          </p:cNvCxnSpPr>
          <p:nvPr/>
        </p:nvCxnSpPr>
        <p:spPr>
          <a:xfrm flipV="1">
            <a:off x="9673804" y="2684206"/>
            <a:ext cx="428841" cy="1638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C0D2A617-08EF-7DB6-0629-5531701C83C2}"/>
              </a:ext>
            </a:extLst>
          </p:cNvPr>
          <p:cNvSpPr txBox="1"/>
          <p:nvPr/>
        </p:nvSpPr>
        <p:spPr>
          <a:xfrm>
            <a:off x="10102645" y="2313551"/>
            <a:ext cx="1875295" cy="369332"/>
          </a:xfrm>
          <a:prstGeom prst="rect">
            <a:avLst/>
          </a:prstGeom>
          <a:noFill/>
        </p:spPr>
        <p:txBody>
          <a:bodyPr wrap="square" rtlCol="0">
            <a:spAutoFit/>
          </a:bodyPr>
          <a:lstStyle/>
          <a:p>
            <a:r>
              <a:rPr lang="en-US" altLang="zh-TW" dirty="0"/>
              <a:t>Start of game</a:t>
            </a:r>
            <a:endParaRPr lang="zh-TW" altLang="en-US" dirty="0"/>
          </a:p>
        </p:txBody>
      </p:sp>
      <p:sp>
        <p:nvSpPr>
          <p:cNvPr id="12" name="橢圓 11">
            <a:extLst>
              <a:ext uri="{FF2B5EF4-FFF2-40B4-BE49-F238E27FC236}">
                <a16:creationId xmlns:a16="http://schemas.microsoft.com/office/drawing/2014/main" id="{3F75A8BE-12C1-CE16-A392-718C10A832AB}"/>
              </a:ext>
            </a:extLst>
          </p:cNvPr>
          <p:cNvSpPr/>
          <p:nvPr/>
        </p:nvSpPr>
        <p:spPr>
          <a:xfrm>
            <a:off x="9558962" y="3326287"/>
            <a:ext cx="294467" cy="29446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接點 13">
            <a:extLst>
              <a:ext uri="{FF2B5EF4-FFF2-40B4-BE49-F238E27FC236}">
                <a16:creationId xmlns:a16="http://schemas.microsoft.com/office/drawing/2014/main" id="{41374489-476E-53E1-969A-7B9D23C42F44}"/>
              </a:ext>
            </a:extLst>
          </p:cNvPr>
          <p:cNvCxnSpPr>
            <a:cxnSpLocks/>
            <a:stCxn id="12" idx="0"/>
            <a:endCxn id="8" idx="4"/>
          </p:cNvCxnSpPr>
          <p:nvPr/>
        </p:nvCxnSpPr>
        <p:spPr>
          <a:xfrm flipH="1" flipV="1">
            <a:off x="9569695" y="3099447"/>
            <a:ext cx="136501" cy="2268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 name="群組 23">
            <a:extLst>
              <a:ext uri="{FF2B5EF4-FFF2-40B4-BE49-F238E27FC236}">
                <a16:creationId xmlns:a16="http://schemas.microsoft.com/office/drawing/2014/main" id="{27F64705-4E1F-2D48-8413-2752D2F71B85}"/>
              </a:ext>
            </a:extLst>
          </p:cNvPr>
          <p:cNvGrpSpPr/>
          <p:nvPr/>
        </p:nvGrpSpPr>
        <p:grpSpPr>
          <a:xfrm>
            <a:off x="8942444" y="3620754"/>
            <a:ext cx="1579741" cy="1462785"/>
            <a:chOff x="6662128" y="3842128"/>
            <a:chExt cx="1579741" cy="1462785"/>
          </a:xfrm>
        </p:grpSpPr>
        <p:sp>
          <p:nvSpPr>
            <p:cNvPr id="25" name="等腰三角形 17">
              <a:extLst>
                <a:ext uri="{FF2B5EF4-FFF2-40B4-BE49-F238E27FC236}">
                  <a16:creationId xmlns:a16="http://schemas.microsoft.com/office/drawing/2014/main" id="{07F1822A-A8BD-8D41-A58B-25DB1D39CC77}"/>
                </a:ext>
              </a:extLst>
            </p:cNvPr>
            <p:cNvSpPr/>
            <p:nvPr/>
          </p:nvSpPr>
          <p:spPr>
            <a:xfrm>
              <a:off x="6662128" y="3842128"/>
              <a:ext cx="1546904" cy="1325564"/>
            </a:xfrm>
            <a:prstGeom prs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16311FB8-1D93-954E-A748-FCC8BD76BF9B}"/>
                </a:ext>
              </a:extLst>
            </p:cNvPr>
            <p:cNvSpPr/>
            <p:nvPr/>
          </p:nvSpPr>
          <p:spPr>
            <a:xfrm>
              <a:off x="6690224" y="5010446"/>
              <a:ext cx="294467" cy="29446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FB316BE8-EFC4-4244-986B-1AEE13C2563E}"/>
                </a:ext>
              </a:extLst>
            </p:cNvPr>
            <p:cNvSpPr/>
            <p:nvPr/>
          </p:nvSpPr>
          <p:spPr>
            <a:xfrm>
              <a:off x="7109283" y="5010446"/>
              <a:ext cx="294467" cy="29446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EA91E775-F3D6-014D-8FF3-E0B8DA98CD5F}"/>
                </a:ext>
              </a:extLst>
            </p:cNvPr>
            <p:cNvSpPr/>
            <p:nvPr/>
          </p:nvSpPr>
          <p:spPr>
            <a:xfrm>
              <a:off x="7528342" y="5010446"/>
              <a:ext cx="294467" cy="29446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4CA845C9-A30E-0B4C-A150-AF6FA85F3D95}"/>
                </a:ext>
              </a:extLst>
            </p:cNvPr>
            <p:cNvSpPr/>
            <p:nvPr/>
          </p:nvSpPr>
          <p:spPr>
            <a:xfrm>
              <a:off x="7947402" y="5010446"/>
              <a:ext cx="294467" cy="29446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539116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t>Search in Imperfect information games</a:t>
            </a:r>
            <a:endParaRPr kumimoji="1"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5</a:t>
            </a:fld>
            <a:endParaRPr kumimoji="1" lang="zh-TW" altLang="en-US"/>
          </a:p>
        </p:txBody>
      </p:sp>
      <p:sp>
        <p:nvSpPr>
          <p:cNvPr id="15" name="內容版面配置區 14">
            <a:extLst>
              <a:ext uri="{FF2B5EF4-FFF2-40B4-BE49-F238E27FC236}">
                <a16:creationId xmlns:a16="http://schemas.microsoft.com/office/drawing/2014/main" id="{3CE063CC-4BC8-D56B-CEB3-5A379CCD0FE3}"/>
              </a:ext>
            </a:extLst>
          </p:cNvPr>
          <p:cNvSpPr>
            <a:spLocks noGrp="1"/>
          </p:cNvSpPr>
          <p:nvPr>
            <p:ph idx="1"/>
          </p:nvPr>
        </p:nvSpPr>
        <p:spPr>
          <a:xfrm>
            <a:off x="838200" y="1825624"/>
            <a:ext cx="10515600" cy="4616740"/>
          </a:xfrm>
        </p:spPr>
        <p:txBody>
          <a:bodyPr>
            <a:normAutofit fontScale="85000" lnSpcReduction="20000"/>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The core problem is that we incorrectly assumed P2 would always play a fixed strategy.</a:t>
            </a:r>
            <a:endParaRPr lang="zh-TW" altLang="en-US" dirty="0"/>
          </a:p>
        </p:txBody>
      </p:sp>
      <p:pic>
        <p:nvPicPr>
          <p:cNvPr id="21" name="圖片 20">
            <a:extLst>
              <a:ext uri="{FF2B5EF4-FFF2-40B4-BE49-F238E27FC236}">
                <a16:creationId xmlns:a16="http://schemas.microsoft.com/office/drawing/2014/main" id="{78A80B5F-AFF2-2519-377F-0651A9F3C81B}"/>
              </a:ext>
            </a:extLst>
          </p:cNvPr>
          <p:cNvPicPr>
            <a:picLocks noChangeAspect="1"/>
          </p:cNvPicPr>
          <p:nvPr/>
        </p:nvPicPr>
        <p:blipFill>
          <a:blip r:embed="rId3"/>
          <a:stretch>
            <a:fillRect/>
          </a:stretch>
        </p:blipFill>
        <p:spPr>
          <a:xfrm>
            <a:off x="6734102" y="2487726"/>
            <a:ext cx="4532377" cy="1663360"/>
          </a:xfrm>
          <a:prstGeom prst="rect">
            <a:avLst/>
          </a:prstGeom>
        </p:spPr>
      </p:pic>
      <p:sp>
        <p:nvSpPr>
          <p:cNvPr id="22" name="文字方塊 21">
            <a:extLst>
              <a:ext uri="{FF2B5EF4-FFF2-40B4-BE49-F238E27FC236}">
                <a16:creationId xmlns:a16="http://schemas.microsoft.com/office/drawing/2014/main" id="{318A5076-8EDE-DE1D-5E9E-B66F0A27CEBE}"/>
              </a:ext>
            </a:extLst>
          </p:cNvPr>
          <p:cNvSpPr txBox="1"/>
          <p:nvPr/>
        </p:nvSpPr>
        <p:spPr>
          <a:xfrm>
            <a:off x="2478038" y="1911475"/>
            <a:ext cx="2808269" cy="461665"/>
          </a:xfrm>
          <a:prstGeom prst="rect">
            <a:avLst/>
          </a:prstGeom>
          <a:noFill/>
        </p:spPr>
        <p:txBody>
          <a:bodyPr wrap="none" rtlCol="0">
            <a:spAutoFit/>
          </a:bodyPr>
          <a:lstStyle/>
          <a:p>
            <a:r>
              <a:rPr lang="en-US" altLang="zh-TW" sz="2400" dirty="0"/>
              <a:t>Rock-Paper-Scissors+</a:t>
            </a:r>
            <a:endParaRPr lang="zh-TW" altLang="en-US" sz="2400" dirty="0"/>
          </a:p>
        </p:txBody>
      </p:sp>
      <p:sp>
        <p:nvSpPr>
          <p:cNvPr id="23" name="文字方塊 22">
            <a:extLst>
              <a:ext uri="{FF2B5EF4-FFF2-40B4-BE49-F238E27FC236}">
                <a16:creationId xmlns:a16="http://schemas.microsoft.com/office/drawing/2014/main" id="{C2E0C411-7539-6194-10BE-0BE7475C2851}"/>
              </a:ext>
            </a:extLst>
          </p:cNvPr>
          <p:cNvSpPr txBox="1"/>
          <p:nvPr/>
        </p:nvSpPr>
        <p:spPr>
          <a:xfrm>
            <a:off x="6639347" y="1978943"/>
            <a:ext cx="4671087" cy="461665"/>
          </a:xfrm>
          <a:prstGeom prst="rect">
            <a:avLst/>
          </a:prstGeom>
          <a:noFill/>
        </p:spPr>
        <p:txBody>
          <a:bodyPr wrap="none" rtlCol="0">
            <a:spAutoFit/>
          </a:bodyPr>
          <a:lstStyle/>
          <a:p>
            <a:r>
              <a:rPr lang="en-US" altLang="zh-TW" sz="2400" dirty="0"/>
              <a:t>Depth-Limited Rock-Paper-Scissors+</a:t>
            </a:r>
            <a:endParaRPr lang="zh-TW" altLang="en-US" sz="2400" dirty="0"/>
          </a:p>
        </p:txBody>
      </p:sp>
      <p:grpSp>
        <p:nvGrpSpPr>
          <p:cNvPr id="3" name="群組 2">
            <a:extLst>
              <a:ext uri="{FF2B5EF4-FFF2-40B4-BE49-F238E27FC236}">
                <a16:creationId xmlns:a16="http://schemas.microsoft.com/office/drawing/2014/main" id="{1BAB8FCA-0B45-9727-9367-22E38A08F0DF}"/>
              </a:ext>
            </a:extLst>
          </p:cNvPr>
          <p:cNvGrpSpPr/>
          <p:nvPr/>
        </p:nvGrpSpPr>
        <p:grpSpPr>
          <a:xfrm>
            <a:off x="951437" y="2340032"/>
            <a:ext cx="5999639" cy="2944268"/>
            <a:chOff x="84426" y="1945757"/>
            <a:chExt cx="5999639" cy="2944268"/>
          </a:xfrm>
        </p:grpSpPr>
        <p:sp>
          <p:nvSpPr>
            <p:cNvPr id="5" name="橢圓 4">
              <a:extLst>
                <a:ext uri="{FF2B5EF4-FFF2-40B4-BE49-F238E27FC236}">
                  <a16:creationId xmlns:a16="http://schemas.microsoft.com/office/drawing/2014/main" id="{81D05CCC-B652-A77C-880B-DE0AF59B1056}"/>
                </a:ext>
              </a:extLst>
            </p:cNvPr>
            <p:cNvSpPr/>
            <p:nvPr/>
          </p:nvSpPr>
          <p:spPr>
            <a:xfrm>
              <a:off x="2615608" y="1945757"/>
              <a:ext cx="712382" cy="712382"/>
            </a:xfrm>
            <a:prstGeom prst="ellipse">
              <a:avLst/>
            </a:prstGeom>
            <a:solidFill>
              <a:srgbClr val="0069C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1</a:t>
              </a:r>
              <a:endParaRPr lang="zh-TW" altLang="en-US" baseline="-25000" dirty="0">
                <a:solidFill>
                  <a:schemeClr val="tx1"/>
                </a:solidFill>
              </a:endParaRPr>
            </a:p>
          </p:txBody>
        </p:sp>
        <p:sp>
          <p:nvSpPr>
            <p:cNvPr id="6" name="橢圓 5">
              <a:extLst>
                <a:ext uri="{FF2B5EF4-FFF2-40B4-BE49-F238E27FC236}">
                  <a16:creationId xmlns:a16="http://schemas.microsoft.com/office/drawing/2014/main" id="{F87D7FCF-8C1B-E8DF-9A3A-7A67FC656C8B}"/>
                </a:ext>
              </a:extLst>
            </p:cNvPr>
            <p:cNvSpPr/>
            <p:nvPr/>
          </p:nvSpPr>
          <p:spPr>
            <a:xfrm>
              <a:off x="482009"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7" name="橢圓 6">
              <a:extLst>
                <a:ext uri="{FF2B5EF4-FFF2-40B4-BE49-F238E27FC236}">
                  <a16:creationId xmlns:a16="http://schemas.microsoft.com/office/drawing/2014/main" id="{C8290A9E-13CB-A9DD-3576-EFF1EC2322CE}"/>
                </a:ext>
              </a:extLst>
            </p:cNvPr>
            <p:cNvSpPr/>
            <p:nvPr/>
          </p:nvSpPr>
          <p:spPr>
            <a:xfrm>
              <a:off x="2615608"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8" name="橢圓 7">
              <a:extLst>
                <a:ext uri="{FF2B5EF4-FFF2-40B4-BE49-F238E27FC236}">
                  <a16:creationId xmlns:a16="http://schemas.microsoft.com/office/drawing/2014/main" id="{9A45A639-01A1-1252-C633-397C38AD00E1}"/>
                </a:ext>
              </a:extLst>
            </p:cNvPr>
            <p:cNvSpPr/>
            <p:nvPr/>
          </p:nvSpPr>
          <p:spPr>
            <a:xfrm>
              <a:off x="4823634"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cxnSp>
          <p:nvCxnSpPr>
            <p:cNvPr id="9" name="直線接點 8">
              <a:extLst>
                <a:ext uri="{FF2B5EF4-FFF2-40B4-BE49-F238E27FC236}">
                  <a16:creationId xmlns:a16="http://schemas.microsoft.com/office/drawing/2014/main" id="{04E87A75-36E0-2F47-12CA-403C9AC979EA}"/>
                </a:ext>
              </a:extLst>
            </p:cNvPr>
            <p:cNvCxnSpPr>
              <a:cxnSpLocks/>
              <a:stCxn id="7" idx="6"/>
              <a:endCxn id="8" idx="2"/>
            </p:cNvCxnSpPr>
            <p:nvPr/>
          </p:nvCxnSpPr>
          <p:spPr>
            <a:xfrm>
              <a:off x="3327990" y="3576139"/>
              <a:ext cx="149564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E10DC0CC-9E55-589F-B573-11CF6F43D382}"/>
                </a:ext>
              </a:extLst>
            </p:cNvPr>
            <p:cNvCxnSpPr>
              <a:stCxn id="7" idx="2"/>
              <a:endCxn id="6" idx="6"/>
            </p:cNvCxnSpPr>
            <p:nvPr/>
          </p:nvCxnSpPr>
          <p:spPr>
            <a:xfrm flipH="1">
              <a:off x="1194391" y="3576139"/>
              <a:ext cx="1421217"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D3404038-FE5E-FA33-3E81-0F7867C28371}"/>
                </a:ext>
              </a:extLst>
            </p:cNvPr>
            <p:cNvCxnSpPr>
              <a:stCxn id="5" idx="3"/>
              <a:endCxn id="6" idx="7"/>
            </p:cNvCxnSpPr>
            <p:nvPr/>
          </p:nvCxnSpPr>
          <p:spPr>
            <a:xfrm flipH="1">
              <a:off x="1090065" y="2553813"/>
              <a:ext cx="1629869"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BBD35A93-1839-089B-C8AE-492C2ED1C4DE}"/>
                </a:ext>
              </a:extLst>
            </p:cNvPr>
            <p:cNvCxnSpPr>
              <a:cxnSpLocks/>
              <a:stCxn id="5" idx="4"/>
              <a:endCxn id="7" idx="0"/>
            </p:cNvCxnSpPr>
            <p:nvPr/>
          </p:nvCxnSpPr>
          <p:spPr>
            <a:xfrm>
              <a:off x="2971799" y="2658139"/>
              <a:ext cx="0" cy="5618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D93E1A6E-7C85-D3F7-EB1F-2D7ED9CBAE8A}"/>
                </a:ext>
              </a:extLst>
            </p:cNvPr>
            <p:cNvCxnSpPr>
              <a:stCxn id="5" idx="5"/>
              <a:endCxn id="8" idx="1"/>
            </p:cNvCxnSpPr>
            <p:nvPr/>
          </p:nvCxnSpPr>
          <p:spPr>
            <a:xfrm>
              <a:off x="3223664" y="2553813"/>
              <a:ext cx="1704296"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4796A2D0-B771-6635-F704-607B9DCC2FFC}"/>
                </a:ext>
              </a:extLst>
            </p:cNvPr>
            <p:cNvSpPr txBox="1"/>
            <p:nvPr/>
          </p:nvSpPr>
          <p:spPr>
            <a:xfrm rot="19739989">
              <a:off x="1703931" y="2376499"/>
              <a:ext cx="1213506" cy="369332"/>
            </a:xfrm>
            <a:prstGeom prst="rect">
              <a:avLst/>
            </a:prstGeom>
            <a:noFill/>
          </p:spPr>
          <p:txBody>
            <a:bodyPr wrap="square" rtlCol="0">
              <a:spAutoFit/>
            </a:bodyPr>
            <a:lstStyle/>
            <a:p>
              <a:r>
                <a:rPr lang="en-US" altLang="zh-TW" dirty="0"/>
                <a:t>Rock</a:t>
              </a:r>
              <a:endParaRPr lang="zh-TW" altLang="en-US" dirty="0"/>
            </a:p>
          </p:txBody>
        </p:sp>
        <p:sp>
          <p:nvSpPr>
            <p:cNvPr id="16" name="文字方塊 15">
              <a:extLst>
                <a:ext uri="{FF2B5EF4-FFF2-40B4-BE49-F238E27FC236}">
                  <a16:creationId xmlns:a16="http://schemas.microsoft.com/office/drawing/2014/main" id="{137E1627-B86E-918E-0F81-09CBB007E7F2}"/>
                </a:ext>
              </a:extLst>
            </p:cNvPr>
            <p:cNvSpPr txBox="1"/>
            <p:nvPr/>
          </p:nvSpPr>
          <p:spPr>
            <a:xfrm rot="1715645">
              <a:off x="3469059" y="2586586"/>
              <a:ext cx="1213506" cy="369332"/>
            </a:xfrm>
            <a:prstGeom prst="rect">
              <a:avLst/>
            </a:prstGeom>
            <a:noFill/>
          </p:spPr>
          <p:txBody>
            <a:bodyPr wrap="square" rtlCol="0">
              <a:spAutoFit/>
            </a:bodyPr>
            <a:lstStyle/>
            <a:p>
              <a:r>
                <a:rPr lang="en-US" altLang="zh-TW" dirty="0"/>
                <a:t>Scissors</a:t>
              </a:r>
              <a:endParaRPr lang="zh-TW" altLang="en-US" dirty="0"/>
            </a:p>
          </p:txBody>
        </p:sp>
        <p:sp>
          <p:nvSpPr>
            <p:cNvPr id="17" name="文字方塊 16">
              <a:extLst>
                <a:ext uri="{FF2B5EF4-FFF2-40B4-BE49-F238E27FC236}">
                  <a16:creationId xmlns:a16="http://schemas.microsoft.com/office/drawing/2014/main" id="{5E3F8DF2-760B-D1AA-8C44-47D95CAA4E78}"/>
                </a:ext>
              </a:extLst>
            </p:cNvPr>
            <p:cNvSpPr txBox="1"/>
            <p:nvPr/>
          </p:nvSpPr>
          <p:spPr>
            <a:xfrm rot="5400000">
              <a:off x="2547754" y="2966346"/>
              <a:ext cx="1213506" cy="369332"/>
            </a:xfrm>
            <a:prstGeom prst="rect">
              <a:avLst/>
            </a:prstGeom>
            <a:noFill/>
          </p:spPr>
          <p:txBody>
            <a:bodyPr wrap="square" rtlCol="0">
              <a:spAutoFit/>
            </a:bodyPr>
            <a:lstStyle/>
            <a:p>
              <a:r>
                <a:rPr lang="en-US" altLang="zh-TW" dirty="0"/>
                <a:t>Paper</a:t>
              </a:r>
              <a:endParaRPr lang="zh-TW" altLang="en-US" dirty="0"/>
            </a:p>
          </p:txBody>
        </p:sp>
        <p:grpSp>
          <p:nvGrpSpPr>
            <p:cNvPr id="18" name="群組 17">
              <a:extLst>
                <a:ext uri="{FF2B5EF4-FFF2-40B4-BE49-F238E27FC236}">
                  <a16:creationId xmlns:a16="http://schemas.microsoft.com/office/drawing/2014/main" id="{45576A29-A7E1-B617-44BA-0CCE83EF11EE}"/>
                </a:ext>
              </a:extLst>
            </p:cNvPr>
            <p:cNvGrpSpPr/>
            <p:nvPr/>
          </p:nvGrpSpPr>
          <p:grpSpPr>
            <a:xfrm>
              <a:off x="124229" y="3518527"/>
              <a:ext cx="1545231" cy="1310073"/>
              <a:chOff x="124229" y="3518527"/>
              <a:chExt cx="1545231" cy="1310073"/>
            </a:xfrm>
          </p:grpSpPr>
          <p:cxnSp>
            <p:nvCxnSpPr>
              <p:cNvPr id="49" name="直線單箭頭接點 48">
                <a:extLst>
                  <a:ext uri="{FF2B5EF4-FFF2-40B4-BE49-F238E27FC236}">
                    <a16:creationId xmlns:a16="http://schemas.microsoft.com/office/drawing/2014/main" id="{15AFEA3D-D683-3981-AC7B-161125E2DEF4}"/>
                  </a:ext>
                </a:extLst>
              </p:cNvPr>
              <p:cNvCxnSpPr>
                <a:stCxn id="6" idx="4"/>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E9281193-9D67-49B6-1619-48B99E4B7013}"/>
                  </a:ext>
                </a:extLst>
              </p:cNvPr>
              <p:cNvCxnSpPr>
                <a:stCxn id="6" idx="3"/>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59804742-E717-45DE-CC31-970AF0150CB2}"/>
                  </a:ext>
                </a:extLst>
              </p:cNvPr>
              <p:cNvCxnSpPr>
                <a:stCxn id="6" idx="5"/>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40EC76F5-320A-4B8C-2F75-E510FC9D1630}"/>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53" name="文字方塊 52">
                <a:extLst>
                  <a:ext uri="{FF2B5EF4-FFF2-40B4-BE49-F238E27FC236}">
                    <a16:creationId xmlns:a16="http://schemas.microsoft.com/office/drawing/2014/main" id="{CA8CCD7A-117D-E58D-AA14-42A9FA3FAE3D}"/>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54" name="文字方塊 53">
                <a:extLst>
                  <a:ext uri="{FF2B5EF4-FFF2-40B4-BE49-F238E27FC236}">
                    <a16:creationId xmlns:a16="http://schemas.microsoft.com/office/drawing/2014/main" id="{ADFB5979-9112-B6BB-11D5-E15F3A3BEBE3}"/>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grpSp>
          <p:nvGrpSpPr>
            <p:cNvPr id="20" name="群組 19">
              <a:extLst>
                <a:ext uri="{FF2B5EF4-FFF2-40B4-BE49-F238E27FC236}">
                  <a16:creationId xmlns:a16="http://schemas.microsoft.com/office/drawing/2014/main" id="{62D2ED05-26E5-DD21-8E48-06B7BD0C2E41}"/>
                </a:ext>
              </a:extLst>
            </p:cNvPr>
            <p:cNvGrpSpPr/>
            <p:nvPr/>
          </p:nvGrpSpPr>
          <p:grpSpPr>
            <a:xfrm>
              <a:off x="2256431" y="3511710"/>
              <a:ext cx="1545231" cy="1310073"/>
              <a:chOff x="124229" y="3518527"/>
              <a:chExt cx="1545231" cy="1310073"/>
            </a:xfrm>
          </p:grpSpPr>
          <p:cxnSp>
            <p:nvCxnSpPr>
              <p:cNvPr id="43" name="直線單箭頭接點 42">
                <a:extLst>
                  <a:ext uri="{FF2B5EF4-FFF2-40B4-BE49-F238E27FC236}">
                    <a16:creationId xmlns:a16="http://schemas.microsoft.com/office/drawing/2014/main" id="{63CBCBAD-4593-0267-E078-05B34325BDA8}"/>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1928195F-6FDD-F59B-1419-6C6BD4B7E7A3}"/>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88749DC4-5358-EF4A-9801-6690A99789F8}"/>
                  </a:ext>
                </a:extLst>
              </p:cNvPr>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9171D795-FD02-AB1A-09BC-DA4AEFFA6877}"/>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47" name="文字方塊 46">
                <a:extLst>
                  <a:ext uri="{FF2B5EF4-FFF2-40B4-BE49-F238E27FC236}">
                    <a16:creationId xmlns:a16="http://schemas.microsoft.com/office/drawing/2014/main" id="{BF383236-D206-6C26-D975-4A3C9FA21BDB}"/>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48" name="文字方塊 47">
                <a:extLst>
                  <a:ext uri="{FF2B5EF4-FFF2-40B4-BE49-F238E27FC236}">
                    <a16:creationId xmlns:a16="http://schemas.microsoft.com/office/drawing/2014/main" id="{447E27C0-7082-6C02-B0E6-170FDF2607CC}"/>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grpSp>
          <p:nvGrpSpPr>
            <p:cNvPr id="24" name="群組 23">
              <a:extLst>
                <a:ext uri="{FF2B5EF4-FFF2-40B4-BE49-F238E27FC236}">
                  <a16:creationId xmlns:a16="http://schemas.microsoft.com/office/drawing/2014/main" id="{0573ABC7-D5CD-8EFC-A21B-41FE3BD1720B}"/>
                </a:ext>
              </a:extLst>
            </p:cNvPr>
            <p:cNvGrpSpPr/>
            <p:nvPr/>
          </p:nvGrpSpPr>
          <p:grpSpPr>
            <a:xfrm>
              <a:off x="4444158" y="3519664"/>
              <a:ext cx="1545231" cy="1310073"/>
              <a:chOff x="124229" y="3518527"/>
              <a:chExt cx="1545231" cy="1310073"/>
            </a:xfrm>
          </p:grpSpPr>
          <p:cxnSp>
            <p:nvCxnSpPr>
              <p:cNvPr id="37" name="直線單箭頭接點 36">
                <a:extLst>
                  <a:ext uri="{FF2B5EF4-FFF2-40B4-BE49-F238E27FC236}">
                    <a16:creationId xmlns:a16="http://schemas.microsoft.com/office/drawing/2014/main" id="{3E01B353-8272-6BC8-9F22-295673EC4C24}"/>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20B35A1F-74AE-10CC-ADAA-709EDDE80EAA}"/>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71DF9074-AB4D-0443-9FB7-1883ACBA2363}"/>
                  </a:ext>
                </a:extLst>
              </p:cNvPr>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13892788-695D-C13E-9B71-8D76D581CDDE}"/>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41" name="文字方塊 40">
                <a:extLst>
                  <a:ext uri="{FF2B5EF4-FFF2-40B4-BE49-F238E27FC236}">
                    <a16:creationId xmlns:a16="http://schemas.microsoft.com/office/drawing/2014/main" id="{E2F9902A-21CA-FF06-6A62-7370C7DE1285}"/>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42" name="文字方塊 41">
                <a:extLst>
                  <a:ext uri="{FF2B5EF4-FFF2-40B4-BE49-F238E27FC236}">
                    <a16:creationId xmlns:a16="http://schemas.microsoft.com/office/drawing/2014/main" id="{8FAB4F99-ABB9-A0B6-688F-89C9A0E52BE0}"/>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sp>
          <p:nvSpPr>
            <p:cNvPr id="25" name="文字方塊 24">
              <a:extLst>
                <a:ext uri="{FF2B5EF4-FFF2-40B4-BE49-F238E27FC236}">
                  <a16:creationId xmlns:a16="http://schemas.microsoft.com/office/drawing/2014/main" id="{CF48A14B-E1D5-BEE6-FA23-C623A2D71585}"/>
                </a:ext>
              </a:extLst>
            </p:cNvPr>
            <p:cNvSpPr txBox="1"/>
            <p:nvPr/>
          </p:nvSpPr>
          <p:spPr>
            <a:xfrm>
              <a:off x="84426" y="4491217"/>
              <a:ext cx="339148" cy="369332"/>
            </a:xfrm>
            <a:prstGeom prst="rect">
              <a:avLst/>
            </a:prstGeom>
            <a:noFill/>
          </p:spPr>
          <p:txBody>
            <a:bodyPr wrap="square" rtlCol="0">
              <a:spAutoFit/>
            </a:bodyPr>
            <a:lstStyle/>
            <a:p>
              <a:r>
                <a:rPr lang="en-US" altLang="zh-TW" dirty="0"/>
                <a:t>0</a:t>
              </a:r>
              <a:endParaRPr lang="zh-TW" altLang="en-US" dirty="0"/>
            </a:p>
          </p:txBody>
        </p:sp>
        <p:sp>
          <p:nvSpPr>
            <p:cNvPr id="26" name="文字方塊 25">
              <a:extLst>
                <a:ext uri="{FF2B5EF4-FFF2-40B4-BE49-F238E27FC236}">
                  <a16:creationId xmlns:a16="http://schemas.microsoft.com/office/drawing/2014/main" id="{38C03A5B-499E-F2E6-0668-46300850ECA1}"/>
                </a:ext>
              </a:extLst>
            </p:cNvPr>
            <p:cNvSpPr txBox="1"/>
            <p:nvPr/>
          </p:nvSpPr>
          <p:spPr>
            <a:xfrm>
              <a:off x="582521" y="4491217"/>
              <a:ext cx="524390" cy="369332"/>
            </a:xfrm>
            <a:prstGeom prst="rect">
              <a:avLst/>
            </a:prstGeom>
            <a:noFill/>
          </p:spPr>
          <p:txBody>
            <a:bodyPr wrap="square" rtlCol="0">
              <a:spAutoFit/>
            </a:bodyPr>
            <a:lstStyle/>
            <a:p>
              <a:r>
                <a:rPr lang="en-US" altLang="zh-TW" dirty="0"/>
                <a:t>-1</a:t>
              </a:r>
              <a:endParaRPr lang="zh-TW" altLang="en-US" dirty="0"/>
            </a:p>
          </p:txBody>
        </p:sp>
        <p:sp>
          <p:nvSpPr>
            <p:cNvPr id="27" name="文字方塊 26">
              <a:extLst>
                <a:ext uri="{FF2B5EF4-FFF2-40B4-BE49-F238E27FC236}">
                  <a16:creationId xmlns:a16="http://schemas.microsoft.com/office/drawing/2014/main" id="{9C643B0E-E00B-2106-1D8E-5646D7E2B935}"/>
                </a:ext>
              </a:extLst>
            </p:cNvPr>
            <p:cNvSpPr txBox="1"/>
            <p:nvPr/>
          </p:nvSpPr>
          <p:spPr>
            <a:xfrm>
              <a:off x="1217907" y="4505857"/>
              <a:ext cx="524390" cy="369332"/>
            </a:xfrm>
            <a:prstGeom prst="rect">
              <a:avLst/>
            </a:prstGeom>
            <a:noFill/>
          </p:spPr>
          <p:txBody>
            <a:bodyPr wrap="square" rtlCol="0">
              <a:spAutoFit/>
            </a:bodyPr>
            <a:lstStyle/>
            <a:p>
              <a:r>
                <a:rPr lang="en-US" altLang="zh-TW" dirty="0"/>
                <a:t>2</a:t>
              </a:r>
              <a:endParaRPr lang="zh-TW" altLang="en-US" dirty="0"/>
            </a:p>
          </p:txBody>
        </p:sp>
        <p:sp>
          <p:nvSpPr>
            <p:cNvPr id="28" name="文字方塊 27">
              <a:extLst>
                <a:ext uri="{FF2B5EF4-FFF2-40B4-BE49-F238E27FC236}">
                  <a16:creationId xmlns:a16="http://schemas.microsoft.com/office/drawing/2014/main" id="{5FFB4D88-6B01-CF82-676A-A291EB6B1F89}"/>
                </a:ext>
              </a:extLst>
            </p:cNvPr>
            <p:cNvSpPr txBox="1"/>
            <p:nvPr/>
          </p:nvSpPr>
          <p:spPr>
            <a:xfrm>
              <a:off x="2232391" y="4489816"/>
              <a:ext cx="339148" cy="369332"/>
            </a:xfrm>
            <a:prstGeom prst="rect">
              <a:avLst/>
            </a:prstGeom>
            <a:noFill/>
          </p:spPr>
          <p:txBody>
            <a:bodyPr wrap="square" rtlCol="0">
              <a:spAutoFit/>
            </a:bodyPr>
            <a:lstStyle/>
            <a:p>
              <a:r>
                <a:rPr lang="en-US" altLang="zh-TW" dirty="0"/>
                <a:t>1</a:t>
              </a:r>
              <a:endParaRPr lang="zh-TW" altLang="en-US" dirty="0"/>
            </a:p>
          </p:txBody>
        </p:sp>
        <p:sp>
          <p:nvSpPr>
            <p:cNvPr id="29" name="文字方塊 28">
              <a:extLst>
                <a:ext uri="{FF2B5EF4-FFF2-40B4-BE49-F238E27FC236}">
                  <a16:creationId xmlns:a16="http://schemas.microsoft.com/office/drawing/2014/main" id="{3156E040-CA73-997A-74A3-7437F1FF6393}"/>
                </a:ext>
              </a:extLst>
            </p:cNvPr>
            <p:cNvSpPr txBox="1"/>
            <p:nvPr/>
          </p:nvSpPr>
          <p:spPr>
            <a:xfrm>
              <a:off x="2807486" y="4489816"/>
              <a:ext cx="524390" cy="369332"/>
            </a:xfrm>
            <a:prstGeom prst="rect">
              <a:avLst/>
            </a:prstGeom>
            <a:noFill/>
          </p:spPr>
          <p:txBody>
            <a:bodyPr wrap="square" rtlCol="0">
              <a:spAutoFit/>
            </a:bodyPr>
            <a:lstStyle/>
            <a:p>
              <a:r>
                <a:rPr lang="en-US" altLang="zh-TW" dirty="0"/>
                <a:t>0</a:t>
              </a:r>
              <a:endParaRPr lang="zh-TW" altLang="en-US" dirty="0"/>
            </a:p>
          </p:txBody>
        </p:sp>
        <p:sp>
          <p:nvSpPr>
            <p:cNvPr id="30" name="文字方塊 29">
              <a:extLst>
                <a:ext uri="{FF2B5EF4-FFF2-40B4-BE49-F238E27FC236}">
                  <a16:creationId xmlns:a16="http://schemas.microsoft.com/office/drawing/2014/main" id="{1F2BE932-A21B-A946-CE7C-C0A31F96C01A}"/>
                </a:ext>
              </a:extLst>
            </p:cNvPr>
            <p:cNvSpPr txBox="1"/>
            <p:nvPr/>
          </p:nvSpPr>
          <p:spPr>
            <a:xfrm>
              <a:off x="3336997" y="4504456"/>
              <a:ext cx="524390" cy="369332"/>
            </a:xfrm>
            <a:prstGeom prst="rect">
              <a:avLst/>
            </a:prstGeom>
            <a:noFill/>
          </p:spPr>
          <p:txBody>
            <a:bodyPr wrap="square" rtlCol="0">
              <a:spAutoFit/>
            </a:bodyPr>
            <a:lstStyle/>
            <a:p>
              <a:r>
                <a:rPr lang="en-US" altLang="zh-TW" dirty="0"/>
                <a:t>-2</a:t>
              </a:r>
              <a:endParaRPr lang="zh-TW" altLang="en-US" dirty="0"/>
            </a:p>
          </p:txBody>
        </p:sp>
        <p:sp>
          <p:nvSpPr>
            <p:cNvPr id="31" name="文字方塊 30">
              <a:extLst>
                <a:ext uri="{FF2B5EF4-FFF2-40B4-BE49-F238E27FC236}">
                  <a16:creationId xmlns:a16="http://schemas.microsoft.com/office/drawing/2014/main" id="{286FEF46-C46B-32AA-F929-DEEB06429A35}"/>
                </a:ext>
              </a:extLst>
            </p:cNvPr>
            <p:cNvSpPr txBox="1"/>
            <p:nvPr/>
          </p:nvSpPr>
          <p:spPr>
            <a:xfrm>
              <a:off x="4366081" y="4506053"/>
              <a:ext cx="524390" cy="369332"/>
            </a:xfrm>
            <a:prstGeom prst="rect">
              <a:avLst/>
            </a:prstGeom>
            <a:noFill/>
          </p:spPr>
          <p:txBody>
            <a:bodyPr wrap="square" rtlCol="0">
              <a:spAutoFit/>
            </a:bodyPr>
            <a:lstStyle/>
            <a:p>
              <a:r>
                <a:rPr lang="en-US" altLang="zh-TW" dirty="0"/>
                <a:t>-2</a:t>
              </a:r>
              <a:endParaRPr lang="zh-TW" altLang="en-US" dirty="0"/>
            </a:p>
          </p:txBody>
        </p:sp>
        <p:sp>
          <p:nvSpPr>
            <p:cNvPr id="32" name="文字方塊 31">
              <a:extLst>
                <a:ext uri="{FF2B5EF4-FFF2-40B4-BE49-F238E27FC236}">
                  <a16:creationId xmlns:a16="http://schemas.microsoft.com/office/drawing/2014/main" id="{6DEA958A-4D4C-FCDC-7C0C-89448F2B84EF}"/>
                </a:ext>
              </a:extLst>
            </p:cNvPr>
            <p:cNvSpPr txBox="1"/>
            <p:nvPr/>
          </p:nvSpPr>
          <p:spPr>
            <a:xfrm>
              <a:off x="5001289" y="4506053"/>
              <a:ext cx="524390" cy="369332"/>
            </a:xfrm>
            <a:prstGeom prst="rect">
              <a:avLst/>
            </a:prstGeom>
            <a:noFill/>
          </p:spPr>
          <p:txBody>
            <a:bodyPr wrap="square" rtlCol="0">
              <a:spAutoFit/>
            </a:bodyPr>
            <a:lstStyle/>
            <a:p>
              <a:r>
                <a:rPr lang="en-US" altLang="zh-TW" dirty="0"/>
                <a:t>2</a:t>
              </a:r>
              <a:endParaRPr lang="zh-TW" altLang="en-US" dirty="0"/>
            </a:p>
          </p:txBody>
        </p:sp>
        <p:sp>
          <p:nvSpPr>
            <p:cNvPr id="33" name="文字方塊 32">
              <a:extLst>
                <a:ext uri="{FF2B5EF4-FFF2-40B4-BE49-F238E27FC236}">
                  <a16:creationId xmlns:a16="http://schemas.microsoft.com/office/drawing/2014/main" id="{711C4622-B63C-64D6-BDB8-EA09E04B3B5A}"/>
                </a:ext>
              </a:extLst>
            </p:cNvPr>
            <p:cNvSpPr txBox="1"/>
            <p:nvPr/>
          </p:nvSpPr>
          <p:spPr>
            <a:xfrm>
              <a:off x="5559675" y="4520693"/>
              <a:ext cx="524390" cy="369332"/>
            </a:xfrm>
            <a:prstGeom prst="rect">
              <a:avLst/>
            </a:prstGeom>
            <a:noFill/>
          </p:spPr>
          <p:txBody>
            <a:bodyPr wrap="square" rtlCol="0">
              <a:spAutoFit/>
            </a:bodyPr>
            <a:lstStyle/>
            <a:p>
              <a:r>
                <a:rPr lang="en-US" altLang="zh-TW" dirty="0"/>
                <a:t>0</a:t>
              </a:r>
              <a:endParaRPr lang="zh-TW" altLang="en-US" dirty="0"/>
            </a:p>
          </p:txBody>
        </p:sp>
        <p:sp>
          <p:nvSpPr>
            <p:cNvPr id="34" name="文字方塊 33">
              <a:extLst>
                <a:ext uri="{FF2B5EF4-FFF2-40B4-BE49-F238E27FC236}">
                  <a16:creationId xmlns:a16="http://schemas.microsoft.com/office/drawing/2014/main" id="{969E439E-6229-FEE3-EC85-AA0E5D9B6293}"/>
                </a:ext>
              </a:extLst>
            </p:cNvPr>
            <p:cNvSpPr txBox="1"/>
            <p:nvPr/>
          </p:nvSpPr>
          <p:spPr>
            <a:xfrm>
              <a:off x="380011" y="2929542"/>
              <a:ext cx="1090603" cy="369332"/>
            </a:xfrm>
            <a:prstGeom prst="rect">
              <a:avLst/>
            </a:prstGeom>
            <a:noFill/>
          </p:spPr>
          <p:txBody>
            <a:bodyPr wrap="square" rtlCol="0">
              <a:spAutoFit/>
            </a:bodyPr>
            <a:lstStyle/>
            <a:p>
              <a:r>
                <a:rPr lang="en-US" altLang="zh-TW" dirty="0">
                  <a:solidFill>
                    <a:schemeClr val="accent1"/>
                  </a:solidFill>
                </a:rPr>
                <a:t>P = 0.4</a:t>
              </a:r>
              <a:endParaRPr lang="zh-TW" altLang="en-US" dirty="0">
                <a:solidFill>
                  <a:schemeClr val="accent1"/>
                </a:solidFill>
              </a:endParaRPr>
            </a:p>
          </p:txBody>
        </p:sp>
        <p:sp>
          <p:nvSpPr>
            <p:cNvPr id="35" name="文字方塊 34">
              <a:extLst>
                <a:ext uri="{FF2B5EF4-FFF2-40B4-BE49-F238E27FC236}">
                  <a16:creationId xmlns:a16="http://schemas.microsoft.com/office/drawing/2014/main" id="{664B5B46-BE6A-287B-4999-5E36C08DB951}"/>
                </a:ext>
              </a:extLst>
            </p:cNvPr>
            <p:cNvSpPr txBox="1"/>
            <p:nvPr/>
          </p:nvSpPr>
          <p:spPr>
            <a:xfrm>
              <a:off x="2216773" y="2914537"/>
              <a:ext cx="1090603" cy="369332"/>
            </a:xfrm>
            <a:prstGeom prst="rect">
              <a:avLst/>
            </a:prstGeom>
            <a:noFill/>
          </p:spPr>
          <p:txBody>
            <a:bodyPr wrap="square" rtlCol="0">
              <a:spAutoFit/>
            </a:bodyPr>
            <a:lstStyle/>
            <a:p>
              <a:r>
                <a:rPr lang="en-US" altLang="zh-TW" dirty="0">
                  <a:solidFill>
                    <a:schemeClr val="accent1"/>
                  </a:solidFill>
                </a:rPr>
                <a:t>P = 0.4</a:t>
              </a:r>
              <a:endParaRPr lang="zh-TW" altLang="en-US" dirty="0">
                <a:solidFill>
                  <a:schemeClr val="accent1"/>
                </a:solidFill>
              </a:endParaRPr>
            </a:p>
          </p:txBody>
        </p:sp>
        <p:sp>
          <p:nvSpPr>
            <p:cNvPr id="36" name="文字方塊 35">
              <a:extLst>
                <a:ext uri="{FF2B5EF4-FFF2-40B4-BE49-F238E27FC236}">
                  <a16:creationId xmlns:a16="http://schemas.microsoft.com/office/drawing/2014/main" id="{A09B879B-D31D-F4E6-A273-D3C36AF9FECC}"/>
                </a:ext>
              </a:extLst>
            </p:cNvPr>
            <p:cNvSpPr txBox="1"/>
            <p:nvPr/>
          </p:nvSpPr>
          <p:spPr>
            <a:xfrm>
              <a:off x="4668068" y="2923410"/>
              <a:ext cx="1090603" cy="369332"/>
            </a:xfrm>
            <a:prstGeom prst="rect">
              <a:avLst/>
            </a:prstGeom>
            <a:noFill/>
          </p:spPr>
          <p:txBody>
            <a:bodyPr wrap="square" rtlCol="0">
              <a:spAutoFit/>
            </a:bodyPr>
            <a:lstStyle/>
            <a:p>
              <a:r>
                <a:rPr lang="en-US" altLang="zh-TW" dirty="0">
                  <a:solidFill>
                    <a:schemeClr val="accent1"/>
                  </a:solidFill>
                </a:rPr>
                <a:t>P = 0.2</a:t>
              </a:r>
              <a:endParaRPr lang="zh-TW" altLang="en-US" dirty="0">
                <a:solidFill>
                  <a:schemeClr val="accent1"/>
                </a:solidFill>
              </a:endParaRPr>
            </a:p>
          </p:txBody>
        </p:sp>
      </p:grpSp>
      <p:sp>
        <p:nvSpPr>
          <p:cNvPr id="55" name="文字方塊 54">
            <a:extLst>
              <a:ext uri="{FF2B5EF4-FFF2-40B4-BE49-F238E27FC236}">
                <a16:creationId xmlns:a16="http://schemas.microsoft.com/office/drawing/2014/main" id="{2148BBE5-B242-CD40-9CC2-B64CEA002BAC}"/>
              </a:ext>
            </a:extLst>
          </p:cNvPr>
          <p:cNvSpPr txBox="1"/>
          <p:nvPr/>
        </p:nvSpPr>
        <p:spPr>
          <a:xfrm>
            <a:off x="7125886" y="3846130"/>
            <a:ext cx="468918" cy="369332"/>
          </a:xfrm>
          <a:prstGeom prst="rect">
            <a:avLst/>
          </a:prstGeom>
          <a:noFill/>
        </p:spPr>
        <p:txBody>
          <a:bodyPr wrap="square" rtlCol="0">
            <a:spAutoFit/>
          </a:bodyPr>
          <a:lstStyle/>
          <a:p>
            <a:r>
              <a:rPr lang="en-US" altLang="zh-TW" dirty="0">
                <a:solidFill>
                  <a:srgbClr val="FF0000"/>
                </a:solidFill>
              </a:rPr>
              <a:t>-1</a:t>
            </a:r>
            <a:endParaRPr lang="zh-TW" altLang="en-US" dirty="0">
              <a:solidFill>
                <a:srgbClr val="FF0000"/>
              </a:solidFill>
            </a:endParaRPr>
          </a:p>
        </p:txBody>
      </p:sp>
      <p:sp>
        <p:nvSpPr>
          <p:cNvPr id="56" name="文字方塊 55">
            <a:extLst>
              <a:ext uri="{FF2B5EF4-FFF2-40B4-BE49-F238E27FC236}">
                <a16:creationId xmlns:a16="http://schemas.microsoft.com/office/drawing/2014/main" id="{D1E8A3E5-C88D-E346-B7F4-DDAB1936DFA0}"/>
              </a:ext>
            </a:extLst>
          </p:cNvPr>
          <p:cNvSpPr txBox="1"/>
          <p:nvPr/>
        </p:nvSpPr>
        <p:spPr>
          <a:xfrm>
            <a:off x="8858165" y="3846130"/>
            <a:ext cx="468918" cy="369332"/>
          </a:xfrm>
          <a:prstGeom prst="rect">
            <a:avLst/>
          </a:prstGeom>
          <a:noFill/>
        </p:spPr>
        <p:txBody>
          <a:bodyPr wrap="square" rtlCol="0">
            <a:spAutoFit/>
          </a:bodyPr>
          <a:lstStyle/>
          <a:p>
            <a:r>
              <a:rPr lang="en-US" altLang="zh-TW" dirty="0">
                <a:solidFill>
                  <a:srgbClr val="FF0000"/>
                </a:solidFill>
              </a:rPr>
              <a:t>0</a:t>
            </a:r>
            <a:endParaRPr lang="zh-TW" altLang="en-US" dirty="0">
              <a:solidFill>
                <a:srgbClr val="FF0000"/>
              </a:solidFill>
            </a:endParaRPr>
          </a:p>
        </p:txBody>
      </p:sp>
      <p:sp>
        <p:nvSpPr>
          <p:cNvPr id="57" name="文字方塊 56">
            <a:extLst>
              <a:ext uri="{FF2B5EF4-FFF2-40B4-BE49-F238E27FC236}">
                <a16:creationId xmlns:a16="http://schemas.microsoft.com/office/drawing/2014/main" id="{EAE2BA4A-B337-324F-916E-74508C761CEB}"/>
              </a:ext>
            </a:extLst>
          </p:cNvPr>
          <p:cNvSpPr txBox="1"/>
          <p:nvPr/>
        </p:nvSpPr>
        <p:spPr>
          <a:xfrm>
            <a:off x="10590765" y="3846130"/>
            <a:ext cx="468918" cy="369332"/>
          </a:xfrm>
          <a:prstGeom prst="rect">
            <a:avLst/>
          </a:prstGeom>
          <a:noFill/>
        </p:spPr>
        <p:txBody>
          <a:bodyPr wrap="square" rtlCol="0">
            <a:spAutoFit/>
          </a:bodyPr>
          <a:lstStyle/>
          <a:p>
            <a:r>
              <a:rPr lang="en-US" altLang="zh-TW" dirty="0">
                <a:solidFill>
                  <a:srgbClr val="FF0000"/>
                </a:solidFill>
              </a:rPr>
              <a:t>2</a:t>
            </a:r>
            <a:endParaRPr lang="zh-TW" altLang="en-US" dirty="0">
              <a:solidFill>
                <a:srgbClr val="FF0000"/>
              </a:solidFill>
            </a:endParaRPr>
          </a:p>
        </p:txBody>
      </p:sp>
      <p:sp>
        <p:nvSpPr>
          <p:cNvPr id="58" name="文字方塊 57">
            <a:extLst>
              <a:ext uri="{FF2B5EF4-FFF2-40B4-BE49-F238E27FC236}">
                <a16:creationId xmlns:a16="http://schemas.microsoft.com/office/drawing/2014/main" id="{C0AE555F-790B-8F4A-B688-2E08FF295100}"/>
              </a:ext>
            </a:extLst>
          </p:cNvPr>
          <p:cNvSpPr txBox="1"/>
          <p:nvPr/>
        </p:nvSpPr>
        <p:spPr>
          <a:xfrm>
            <a:off x="6804569" y="3372829"/>
            <a:ext cx="1090603" cy="369332"/>
          </a:xfrm>
          <a:prstGeom prst="rect">
            <a:avLst/>
          </a:prstGeom>
          <a:noFill/>
        </p:spPr>
        <p:txBody>
          <a:bodyPr wrap="square" rtlCol="0">
            <a:spAutoFit/>
          </a:bodyPr>
          <a:lstStyle/>
          <a:p>
            <a:r>
              <a:rPr lang="en-US" altLang="zh-TW" dirty="0">
                <a:solidFill>
                  <a:schemeClr val="accent1"/>
                </a:solidFill>
              </a:rPr>
              <a:t>P = 0.8</a:t>
            </a:r>
            <a:endParaRPr lang="zh-TW" altLang="en-US" dirty="0">
              <a:solidFill>
                <a:schemeClr val="accent1"/>
              </a:solidFill>
            </a:endParaRPr>
          </a:p>
        </p:txBody>
      </p:sp>
      <p:sp>
        <p:nvSpPr>
          <p:cNvPr id="59" name="文字方塊 58">
            <a:extLst>
              <a:ext uri="{FF2B5EF4-FFF2-40B4-BE49-F238E27FC236}">
                <a16:creationId xmlns:a16="http://schemas.microsoft.com/office/drawing/2014/main" id="{DCD8D3DE-C348-7A42-9351-A9D685031AE4}"/>
              </a:ext>
            </a:extLst>
          </p:cNvPr>
          <p:cNvSpPr txBox="1"/>
          <p:nvPr/>
        </p:nvSpPr>
        <p:spPr>
          <a:xfrm>
            <a:off x="8241840" y="3357824"/>
            <a:ext cx="1090603" cy="369332"/>
          </a:xfrm>
          <a:prstGeom prst="rect">
            <a:avLst/>
          </a:prstGeom>
          <a:noFill/>
        </p:spPr>
        <p:txBody>
          <a:bodyPr wrap="square" rtlCol="0">
            <a:spAutoFit/>
          </a:bodyPr>
          <a:lstStyle/>
          <a:p>
            <a:r>
              <a:rPr lang="en-US" altLang="zh-TW" dirty="0">
                <a:solidFill>
                  <a:schemeClr val="accent1"/>
                </a:solidFill>
              </a:rPr>
              <a:t>P = 0.1</a:t>
            </a:r>
            <a:endParaRPr lang="zh-TW" altLang="en-US" dirty="0">
              <a:solidFill>
                <a:schemeClr val="accent1"/>
              </a:solidFill>
            </a:endParaRPr>
          </a:p>
        </p:txBody>
      </p:sp>
      <p:sp>
        <p:nvSpPr>
          <p:cNvPr id="60" name="文字方塊 59">
            <a:extLst>
              <a:ext uri="{FF2B5EF4-FFF2-40B4-BE49-F238E27FC236}">
                <a16:creationId xmlns:a16="http://schemas.microsoft.com/office/drawing/2014/main" id="{49323691-15DC-9B46-8BC4-15DBE0E85D18}"/>
              </a:ext>
            </a:extLst>
          </p:cNvPr>
          <p:cNvSpPr txBox="1"/>
          <p:nvPr/>
        </p:nvSpPr>
        <p:spPr>
          <a:xfrm>
            <a:off x="10577719" y="3366697"/>
            <a:ext cx="1090603" cy="369332"/>
          </a:xfrm>
          <a:prstGeom prst="rect">
            <a:avLst/>
          </a:prstGeom>
          <a:noFill/>
        </p:spPr>
        <p:txBody>
          <a:bodyPr wrap="square" rtlCol="0">
            <a:spAutoFit/>
          </a:bodyPr>
          <a:lstStyle/>
          <a:p>
            <a:r>
              <a:rPr lang="en-US" altLang="zh-TW" dirty="0">
                <a:solidFill>
                  <a:schemeClr val="accent1"/>
                </a:solidFill>
              </a:rPr>
              <a:t>P = 0.1</a:t>
            </a:r>
            <a:endParaRPr lang="zh-TW" altLang="en-US" dirty="0">
              <a:solidFill>
                <a:schemeClr val="accent1"/>
              </a:solidFill>
            </a:endParaRPr>
          </a:p>
        </p:txBody>
      </p:sp>
    </p:spTree>
    <p:extLst>
      <p:ext uri="{BB962C8B-B14F-4D97-AF65-F5344CB8AC3E}">
        <p14:creationId xmlns:p14="http://schemas.microsoft.com/office/powerpoint/2010/main" val="1758923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t>Search in Imperfect information games</a:t>
            </a:r>
            <a:endParaRPr kumimoji="1"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6</a:t>
            </a:fld>
            <a:endParaRPr kumimoji="1" lang="zh-TW" altLang="en-US"/>
          </a:p>
        </p:txBody>
      </p:sp>
      <p:sp>
        <p:nvSpPr>
          <p:cNvPr id="22" name="文字方塊 21">
            <a:extLst>
              <a:ext uri="{FF2B5EF4-FFF2-40B4-BE49-F238E27FC236}">
                <a16:creationId xmlns:a16="http://schemas.microsoft.com/office/drawing/2014/main" id="{318A5076-8EDE-DE1D-5E9E-B66F0A27CEBE}"/>
              </a:ext>
            </a:extLst>
          </p:cNvPr>
          <p:cNvSpPr txBox="1"/>
          <p:nvPr/>
        </p:nvSpPr>
        <p:spPr>
          <a:xfrm>
            <a:off x="2478038" y="1911475"/>
            <a:ext cx="2808269" cy="461665"/>
          </a:xfrm>
          <a:prstGeom prst="rect">
            <a:avLst/>
          </a:prstGeom>
          <a:noFill/>
        </p:spPr>
        <p:txBody>
          <a:bodyPr wrap="none" rtlCol="0">
            <a:spAutoFit/>
          </a:bodyPr>
          <a:lstStyle/>
          <a:p>
            <a:r>
              <a:rPr lang="en-US" altLang="zh-TW" sz="2400" dirty="0"/>
              <a:t>Rock-Paper-Scissors+</a:t>
            </a:r>
            <a:endParaRPr lang="zh-TW" altLang="en-US" sz="2400" dirty="0"/>
          </a:p>
        </p:txBody>
      </p:sp>
      <p:sp>
        <p:nvSpPr>
          <p:cNvPr id="23" name="文字方塊 22">
            <a:extLst>
              <a:ext uri="{FF2B5EF4-FFF2-40B4-BE49-F238E27FC236}">
                <a16:creationId xmlns:a16="http://schemas.microsoft.com/office/drawing/2014/main" id="{C2E0C411-7539-6194-10BE-0BE7475C2851}"/>
              </a:ext>
            </a:extLst>
          </p:cNvPr>
          <p:cNvSpPr txBox="1"/>
          <p:nvPr/>
        </p:nvSpPr>
        <p:spPr>
          <a:xfrm>
            <a:off x="6639347" y="1978943"/>
            <a:ext cx="4671087" cy="461665"/>
          </a:xfrm>
          <a:prstGeom prst="rect">
            <a:avLst/>
          </a:prstGeom>
          <a:noFill/>
        </p:spPr>
        <p:txBody>
          <a:bodyPr wrap="none" rtlCol="0">
            <a:spAutoFit/>
          </a:bodyPr>
          <a:lstStyle/>
          <a:p>
            <a:r>
              <a:rPr lang="en-US" altLang="zh-TW" sz="2400" dirty="0"/>
              <a:t>Depth-Limited Rock-Paper-Scissors+</a:t>
            </a:r>
            <a:endParaRPr lang="zh-TW" altLang="en-US" sz="2400" dirty="0"/>
          </a:p>
        </p:txBody>
      </p:sp>
      <p:grpSp>
        <p:nvGrpSpPr>
          <p:cNvPr id="3" name="群組 2">
            <a:extLst>
              <a:ext uri="{FF2B5EF4-FFF2-40B4-BE49-F238E27FC236}">
                <a16:creationId xmlns:a16="http://schemas.microsoft.com/office/drawing/2014/main" id="{1BAB8FCA-0B45-9727-9367-22E38A08F0DF}"/>
              </a:ext>
            </a:extLst>
          </p:cNvPr>
          <p:cNvGrpSpPr/>
          <p:nvPr/>
        </p:nvGrpSpPr>
        <p:grpSpPr>
          <a:xfrm>
            <a:off x="951437" y="2340032"/>
            <a:ext cx="5999639" cy="2944268"/>
            <a:chOff x="84426" y="1945757"/>
            <a:chExt cx="5999639" cy="2944268"/>
          </a:xfrm>
        </p:grpSpPr>
        <p:sp>
          <p:nvSpPr>
            <p:cNvPr id="5" name="橢圓 4">
              <a:extLst>
                <a:ext uri="{FF2B5EF4-FFF2-40B4-BE49-F238E27FC236}">
                  <a16:creationId xmlns:a16="http://schemas.microsoft.com/office/drawing/2014/main" id="{81D05CCC-B652-A77C-880B-DE0AF59B1056}"/>
                </a:ext>
              </a:extLst>
            </p:cNvPr>
            <p:cNvSpPr/>
            <p:nvPr/>
          </p:nvSpPr>
          <p:spPr>
            <a:xfrm>
              <a:off x="2615608" y="1945757"/>
              <a:ext cx="712382" cy="712382"/>
            </a:xfrm>
            <a:prstGeom prst="ellipse">
              <a:avLst/>
            </a:prstGeom>
            <a:solidFill>
              <a:srgbClr val="0069C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1</a:t>
              </a:r>
              <a:endParaRPr lang="zh-TW" altLang="en-US" baseline="-25000" dirty="0">
                <a:solidFill>
                  <a:schemeClr val="tx1"/>
                </a:solidFill>
              </a:endParaRPr>
            </a:p>
          </p:txBody>
        </p:sp>
        <p:sp>
          <p:nvSpPr>
            <p:cNvPr id="6" name="橢圓 5">
              <a:extLst>
                <a:ext uri="{FF2B5EF4-FFF2-40B4-BE49-F238E27FC236}">
                  <a16:creationId xmlns:a16="http://schemas.microsoft.com/office/drawing/2014/main" id="{F87D7FCF-8C1B-E8DF-9A3A-7A67FC656C8B}"/>
                </a:ext>
              </a:extLst>
            </p:cNvPr>
            <p:cNvSpPr/>
            <p:nvPr/>
          </p:nvSpPr>
          <p:spPr>
            <a:xfrm>
              <a:off x="482009"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7" name="橢圓 6">
              <a:extLst>
                <a:ext uri="{FF2B5EF4-FFF2-40B4-BE49-F238E27FC236}">
                  <a16:creationId xmlns:a16="http://schemas.microsoft.com/office/drawing/2014/main" id="{C8290A9E-13CB-A9DD-3576-EFF1EC2322CE}"/>
                </a:ext>
              </a:extLst>
            </p:cNvPr>
            <p:cNvSpPr/>
            <p:nvPr/>
          </p:nvSpPr>
          <p:spPr>
            <a:xfrm>
              <a:off x="2615608"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8" name="橢圓 7">
              <a:extLst>
                <a:ext uri="{FF2B5EF4-FFF2-40B4-BE49-F238E27FC236}">
                  <a16:creationId xmlns:a16="http://schemas.microsoft.com/office/drawing/2014/main" id="{9A45A639-01A1-1252-C633-397C38AD00E1}"/>
                </a:ext>
              </a:extLst>
            </p:cNvPr>
            <p:cNvSpPr/>
            <p:nvPr/>
          </p:nvSpPr>
          <p:spPr>
            <a:xfrm>
              <a:off x="4823634"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cxnSp>
          <p:nvCxnSpPr>
            <p:cNvPr id="9" name="直線接點 8">
              <a:extLst>
                <a:ext uri="{FF2B5EF4-FFF2-40B4-BE49-F238E27FC236}">
                  <a16:creationId xmlns:a16="http://schemas.microsoft.com/office/drawing/2014/main" id="{04E87A75-36E0-2F47-12CA-403C9AC979EA}"/>
                </a:ext>
              </a:extLst>
            </p:cNvPr>
            <p:cNvCxnSpPr>
              <a:cxnSpLocks/>
              <a:stCxn id="7" idx="6"/>
              <a:endCxn id="8" idx="2"/>
            </p:cNvCxnSpPr>
            <p:nvPr/>
          </p:nvCxnSpPr>
          <p:spPr>
            <a:xfrm>
              <a:off x="3327990" y="3576139"/>
              <a:ext cx="149564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E10DC0CC-9E55-589F-B573-11CF6F43D382}"/>
                </a:ext>
              </a:extLst>
            </p:cNvPr>
            <p:cNvCxnSpPr>
              <a:stCxn id="7" idx="2"/>
              <a:endCxn id="6" idx="6"/>
            </p:cNvCxnSpPr>
            <p:nvPr/>
          </p:nvCxnSpPr>
          <p:spPr>
            <a:xfrm flipH="1">
              <a:off x="1194391" y="3576139"/>
              <a:ext cx="1421217"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D3404038-FE5E-FA33-3E81-0F7867C28371}"/>
                </a:ext>
              </a:extLst>
            </p:cNvPr>
            <p:cNvCxnSpPr>
              <a:stCxn id="5" idx="3"/>
              <a:endCxn id="6" idx="7"/>
            </p:cNvCxnSpPr>
            <p:nvPr/>
          </p:nvCxnSpPr>
          <p:spPr>
            <a:xfrm flipH="1">
              <a:off x="1090065" y="2553813"/>
              <a:ext cx="1629869"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BBD35A93-1839-089B-C8AE-492C2ED1C4DE}"/>
                </a:ext>
              </a:extLst>
            </p:cNvPr>
            <p:cNvCxnSpPr>
              <a:cxnSpLocks/>
              <a:stCxn id="5" idx="4"/>
              <a:endCxn id="7" idx="0"/>
            </p:cNvCxnSpPr>
            <p:nvPr/>
          </p:nvCxnSpPr>
          <p:spPr>
            <a:xfrm>
              <a:off x="2971799" y="2658139"/>
              <a:ext cx="0" cy="5618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D93E1A6E-7C85-D3F7-EB1F-2D7ED9CBAE8A}"/>
                </a:ext>
              </a:extLst>
            </p:cNvPr>
            <p:cNvCxnSpPr>
              <a:stCxn id="5" idx="5"/>
              <a:endCxn id="8" idx="1"/>
            </p:cNvCxnSpPr>
            <p:nvPr/>
          </p:nvCxnSpPr>
          <p:spPr>
            <a:xfrm>
              <a:off x="3223664" y="2553813"/>
              <a:ext cx="1704296"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4796A2D0-B771-6635-F704-607B9DCC2FFC}"/>
                </a:ext>
              </a:extLst>
            </p:cNvPr>
            <p:cNvSpPr txBox="1"/>
            <p:nvPr/>
          </p:nvSpPr>
          <p:spPr>
            <a:xfrm rot="19739989">
              <a:off x="1703931" y="2376499"/>
              <a:ext cx="1213506" cy="369332"/>
            </a:xfrm>
            <a:prstGeom prst="rect">
              <a:avLst/>
            </a:prstGeom>
            <a:noFill/>
          </p:spPr>
          <p:txBody>
            <a:bodyPr wrap="square" rtlCol="0">
              <a:spAutoFit/>
            </a:bodyPr>
            <a:lstStyle/>
            <a:p>
              <a:r>
                <a:rPr lang="en-US" altLang="zh-TW" dirty="0"/>
                <a:t>Rock</a:t>
              </a:r>
              <a:endParaRPr lang="zh-TW" altLang="en-US" dirty="0"/>
            </a:p>
          </p:txBody>
        </p:sp>
        <p:sp>
          <p:nvSpPr>
            <p:cNvPr id="16" name="文字方塊 15">
              <a:extLst>
                <a:ext uri="{FF2B5EF4-FFF2-40B4-BE49-F238E27FC236}">
                  <a16:creationId xmlns:a16="http://schemas.microsoft.com/office/drawing/2014/main" id="{137E1627-B86E-918E-0F81-09CBB007E7F2}"/>
                </a:ext>
              </a:extLst>
            </p:cNvPr>
            <p:cNvSpPr txBox="1"/>
            <p:nvPr/>
          </p:nvSpPr>
          <p:spPr>
            <a:xfrm rot="1715645">
              <a:off x="3469059" y="2586586"/>
              <a:ext cx="1213506" cy="369332"/>
            </a:xfrm>
            <a:prstGeom prst="rect">
              <a:avLst/>
            </a:prstGeom>
            <a:noFill/>
          </p:spPr>
          <p:txBody>
            <a:bodyPr wrap="square" rtlCol="0">
              <a:spAutoFit/>
            </a:bodyPr>
            <a:lstStyle/>
            <a:p>
              <a:r>
                <a:rPr lang="en-US" altLang="zh-TW" dirty="0"/>
                <a:t>Scissors</a:t>
              </a:r>
              <a:endParaRPr lang="zh-TW" altLang="en-US" dirty="0"/>
            </a:p>
          </p:txBody>
        </p:sp>
        <p:sp>
          <p:nvSpPr>
            <p:cNvPr id="17" name="文字方塊 16">
              <a:extLst>
                <a:ext uri="{FF2B5EF4-FFF2-40B4-BE49-F238E27FC236}">
                  <a16:creationId xmlns:a16="http://schemas.microsoft.com/office/drawing/2014/main" id="{5E3F8DF2-760B-D1AA-8C44-47D95CAA4E78}"/>
                </a:ext>
              </a:extLst>
            </p:cNvPr>
            <p:cNvSpPr txBox="1"/>
            <p:nvPr/>
          </p:nvSpPr>
          <p:spPr>
            <a:xfrm rot="5400000">
              <a:off x="2547754" y="2966346"/>
              <a:ext cx="1213506" cy="369332"/>
            </a:xfrm>
            <a:prstGeom prst="rect">
              <a:avLst/>
            </a:prstGeom>
            <a:noFill/>
          </p:spPr>
          <p:txBody>
            <a:bodyPr wrap="square" rtlCol="0">
              <a:spAutoFit/>
            </a:bodyPr>
            <a:lstStyle/>
            <a:p>
              <a:r>
                <a:rPr lang="en-US" altLang="zh-TW" dirty="0"/>
                <a:t>Paper</a:t>
              </a:r>
              <a:endParaRPr lang="zh-TW" altLang="en-US" dirty="0"/>
            </a:p>
          </p:txBody>
        </p:sp>
        <p:grpSp>
          <p:nvGrpSpPr>
            <p:cNvPr id="18" name="群組 17">
              <a:extLst>
                <a:ext uri="{FF2B5EF4-FFF2-40B4-BE49-F238E27FC236}">
                  <a16:creationId xmlns:a16="http://schemas.microsoft.com/office/drawing/2014/main" id="{45576A29-A7E1-B617-44BA-0CCE83EF11EE}"/>
                </a:ext>
              </a:extLst>
            </p:cNvPr>
            <p:cNvGrpSpPr/>
            <p:nvPr/>
          </p:nvGrpSpPr>
          <p:grpSpPr>
            <a:xfrm>
              <a:off x="124229" y="3518527"/>
              <a:ext cx="1545231" cy="1310073"/>
              <a:chOff x="124229" y="3518527"/>
              <a:chExt cx="1545231" cy="1310073"/>
            </a:xfrm>
          </p:grpSpPr>
          <p:cxnSp>
            <p:nvCxnSpPr>
              <p:cNvPr id="49" name="直線單箭頭接點 48">
                <a:extLst>
                  <a:ext uri="{FF2B5EF4-FFF2-40B4-BE49-F238E27FC236}">
                    <a16:creationId xmlns:a16="http://schemas.microsoft.com/office/drawing/2014/main" id="{15AFEA3D-D683-3981-AC7B-161125E2DEF4}"/>
                  </a:ext>
                </a:extLst>
              </p:cNvPr>
              <p:cNvCxnSpPr>
                <a:stCxn id="6" idx="4"/>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E9281193-9D67-49B6-1619-48B99E4B7013}"/>
                  </a:ext>
                </a:extLst>
              </p:cNvPr>
              <p:cNvCxnSpPr>
                <a:stCxn id="6" idx="3"/>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59804742-E717-45DE-CC31-970AF0150CB2}"/>
                  </a:ext>
                </a:extLst>
              </p:cNvPr>
              <p:cNvCxnSpPr>
                <a:stCxn id="6" idx="5"/>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40EC76F5-320A-4B8C-2F75-E510FC9D1630}"/>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53" name="文字方塊 52">
                <a:extLst>
                  <a:ext uri="{FF2B5EF4-FFF2-40B4-BE49-F238E27FC236}">
                    <a16:creationId xmlns:a16="http://schemas.microsoft.com/office/drawing/2014/main" id="{CA8CCD7A-117D-E58D-AA14-42A9FA3FAE3D}"/>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54" name="文字方塊 53">
                <a:extLst>
                  <a:ext uri="{FF2B5EF4-FFF2-40B4-BE49-F238E27FC236}">
                    <a16:creationId xmlns:a16="http://schemas.microsoft.com/office/drawing/2014/main" id="{ADFB5979-9112-B6BB-11D5-E15F3A3BEBE3}"/>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grpSp>
          <p:nvGrpSpPr>
            <p:cNvPr id="20" name="群組 19">
              <a:extLst>
                <a:ext uri="{FF2B5EF4-FFF2-40B4-BE49-F238E27FC236}">
                  <a16:creationId xmlns:a16="http://schemas.microsoft.com/office/drawing/2014/main" id="{62D2ED05-26E5-DD21-8E48-06B7BD0C2E41}"/>
                </a:ext>
              </a:extLst>
            </p:cNvPr>
            <p:cNvGrpSpPr/>
            <p:nvPr/>
          </p:nvGrpSpPr>
          <p:grpSpPr>
            <a:xfrm>
              <a:off x="2256431" y="3511710"/>
              <a:ext cx="1545231" cy="1310073"/>
              <a:chOff x="124229" y="3518527"/>
              <a:chExt cx="1545231" cy="1310073"/>
            </a:xfrm>
          </p:grpSpPr>
          <p:cxnSp>
            <p:nvCxnSpPr>
              <p:cNvPr id="43" name="直線單箭頭接點 42">
                <a:extLst>
                  <a:ext uri="{FF2B5EF4-FFF2-40B4-BE49-F238E27FC236}">
                    <a16:creationId xmlns:a16="http://schemas.microsoft.com/office/drawing/2014/main" id="{63CBCBAD-4593-0267-E078-05B34325BDA8}"/>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1928195F-6FDD-F59B-1419-6C6BD4B7E7A3}"/>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88749DC4-5358-EF4A-9801-6690A99789F8}"/>
                  </a:ext>
                </a:extLst>
              </p:cNvPr>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9171D795-FD02-AB1A-09BC-DA4AEFFA6877}"/>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47" name="文字方塊 46">
                <a:extLst>
                  <a:ext uri="{FF2B5EF4-FFF2-40B4-BE49-F238E27FC236}">
                    <a16:creationId xmlns:a16="http://schemas.microsoft.com/office/drawing/2014/main" id="{BF383236-D206-6C26-D975-4A3C9FA21BDB}"/>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48" name="文字方塊 47">
                <a:extLst>
                  <a:ext uri="{FF2B5EF4-FFF2-40B4-BE49-F238E27FC236}">
                    <a16:creationId xmlns:a16="http://schemas.microsoft.com/office/drawing/2014/main" id="{447E27C0-7082-6C02-B0E6-170FDF2607CC}"/>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grpSp>
          <p:nvGrpSpPr>
            <p:cNvPr id="24" name="群組 23">
              <a:extLst>
                <a:ext uri="{FF2B5EF4-FFF2-40B4-BE49-F238E27FC236}">
                  <a16:creationId xmlns:a16="http://schemas.microsoft.com/office/drawing/2014/main" id="{0573ABC7-D5CD-8EFC-A21B-41FE3BD1720B}"/>
                </a:ext>
              </a:extLst>
            </p:cNvPr>
            <p:cNvGrpSpPr/>
            <p:nvPr/>
          </p:nvGrpSpPr>
          <p:grpSpPr>
            <a:xfrm>
              <a:off x="4444158" y="3519664"/>
              <a:ext cx="1545231" cy="1310073"/>
              <a:chOff x="124229" y="3518527"/>
              <a:chExt cx="1545231" cy="1310073"/>
            </a:xfrm>
          </p:grpSpPr>
          <p:cxnSp>
            <p:nvCxnSpPr>
              <p:cNvPr id="37" name="直線單箭頭接點 36">
                <a:extLst>
                  <a:ext uri="{FF2B5EF4-FFF2-40B4-BE49-F238E27FC236}">
                    <a16:creationId xmlns:a16="http://schemas.microsoft.com/office/drawing/2014/main" id="{3E01B353-8272-6BC8-9F22-295673EC4C24}"/>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20B35A1F-74AE-10CC-ADAA-709EDDE80EAA}"/>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71DF9074-AB4D-0443-9FB7-1883ACBA2363}"/>
                  </a:ext>
                </a:extLst>
              </p:cNvPr>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13892788-695D-C13E-9B71-8D76D581CDDE}"/>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41" name="文字方塊 40">
                <a:extLst>
                  <a:ext uri="{FF2B5EF4-FFF2-40B4-BE49-F238E27FC236}">
                    <a16:creationId xmlns:a16="http://schemas.microsoft.com/office/drawing/2014/main" id="{E2F9902A-21CA-FF06-6A62-7370C7DE1285}"/>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42" name="文字方塊 41">
                <a:extLst>
                  <a:ext uri="{FF2B5EF4-FFF2-40B4-BE49-F238E27FC236}">
                    <a16:creationId xmlns:a16="http://schemas.microsoft.com/office/drawing/2014/main" id="{8FAB4F99-ABB9-A0B6-688F-89C9A0E52BE0}"/>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sp>
          <p:nvSpPr>
            <p:cNvPr id="25" name="文字方塊 24">
              <a:extLst>
                <a:ext uri="{FF2B5EF4-FFF2-40B4-BE49-F238E27FC236}">
                  <a16:creationId xmlns:a16="http://schemas.microsoft.com/office/drawing/2014/main" id="{CF48A14B-E1D5-BEE6-FA23-C623A2D71585}"/>
                </a:ext>
              </a:extLst>
            </p:cNvPr>
            <p:cNvSpPr txBox="1"/>
            <p:nvPr/>
          </p:nvSpPr>
          <p:spPr>
            <a:xfrm>
              <a:off x="84426" y="4491217"/>
              <a:ext cx="339148" cy="369332"/>
            </a:xfrm>
            <a:prstGeom prst="rect">
              <a:avLst/>
            </a:prstGeom>
            <a:noFill/>
          </p:spPr>
          <p:txBody>
            <a:bodyPr wrap="square" rtlCol="0">
              <a:spAutoFit/>
            </a:bodyPr>
            <a:lstStyle/>
            <a:p>
              <a:r>
                <a:rPr lang="en-US" altLang="zh-TW" dirty="0"/>
                <a:t>0</a:t>
              </a:r>
              <a:endParaRPr lang="zh-TW" altLang="en-US" dirty="0"/>
            </a:p>
          </p:txBody>
        </p:sp>
        <p:sp>
          <p:nvSpPr>
            <p:cNvPr id="26" name="文字方塊 25">
              <a:extLst>
                <a:ext uri="{FF2B5EF4-FFF2-40B4-BE49-F238E27FC236}">
                  <a16:creationId xmlns:a16="http://schemas.microsoft.com/office/drawing/2014/main" id="{38C03A5B-499E-F2E6-0668-46300850ECA1}"/>
                </a:ext>
              </a:extLst>
            </p:cNvPr>
            <p:cNvSpPr txBox="1"/>
            <p:nvPr/>
          </p:nvSpPr>
          <p:spPr>
            <a:xfrm>
              <a:off x="582521" y="4491217"/>
              <a:ext cx="524390" cy="369332"/>
            </a:xfrm>
            <a:prstGeom prst="rect">
              <a:avLst/>
            </a:prstGeom>
            <a:noFill/>
          </p:spPr>
          <p:txBody>
            <a:bodyPr wrap="square" rtlCol="0">
              <a:spAutoFit/>
            </a:bodyPr>
            <a:lstStyle/>
            <a:p>
              <a:r>
                <a:rPr lang="en-US" altLang="zh-TW" dirty="0"/>
                <a:t>-1</a:t>
              </a:r>
              <a:endParaRPr lang="zh-TW" altLang="en-US" dirty="0"/>
            </a:p>
          </p:txBody>
        </p:sp>
        <p:sp>
          <p:nvSpPr>
            <p:cNvPr id="27" name="文字方塊 26">
              <a:extLst>
                <a:ext uri="{FF2B5EF4-FFF2-40B4-BE49-F238E27FC236}">
                  <a16:creationId xmlns:a16="http://schemas.microsoft.com/office/drawing/2014/main" id="{9C643B0E-E00B-2106-1D8E-5646D7E2B935}"/>
                </a:ext>
              </a:extLst>
            </p:cNvPr>
            <p:cNvSpPr txBox="1"/>
            <p:nvPr/>
          </p:nvSpPr>
          <p:spPr>
            <a:xfrm>
              <a:off x="1217907" y="4505857"/>
              <a:ext cx="524390" cy="369332"/>
            </a:xfrm>
            <a:prstGeom prst="rect">
              <a:avLst/>
            </a:prstGeom>
            <a:noFill/>
          </p:spPr>
          <p:txBody>
            <a:bodyPr wrap="square" rtlCol="0">
              <a:spAutoFit/>
            </a:bodyPr>
            <a:lstStyle/>
            <a:p>
              <a:r>
                <a:rPr lang="en-US" altLang="zh-TW" dirty="0"/>
                <a:t>2</a:t>
              </a:r>
              <a:endParaRPr lang="zh-TW" altLang="en-US" dirty="0"/>
            </a:p>
          </p:txBody>
        </p:sp>
        <p:sp>
          <p:nvSpPr>
            <p:cNvPr id="28" name="文字方塊 27">
              <a:extLst>
                <a:ext uri="{FF2B5EF4-FFF2-40B4-BE49-F238E27FC236}">
                  <a16:creationId xmlns:a16="http://schemas.microsoft.com/office/drawing/2014/main" id="{5FFB4D88-6B01-CF82-676A-A291EB6B1F89}"/>
                </a:ext>
              </a:extLst>
            </p:cNvPr>
            <p:cNvSpPr txBox="1"/>
            <p:nvPr/>
          </p:nvSpPr>
          <p:spPr>
            <a:xfrm>
              <a:off x="2232391" y="4489816"/>
              <a:ext cx="339148" cy="369332"/>
            </a:xfrm>
            <a:prstGeom prst="rect">
              <a:avLst/>
            </a:prstGeom>
            <a:noFill/>
          </p:spPr>
          <p:txBody>
            <a:bodyPr wrap="square" rtlCol="0">
              <a:spAutoFit/>
            </a:bodyPr>
            <a:lstStyle/>
            <a:p>
              <a:r>
                <a:rPr lang="en-US" altLang="zh-TW" dirty="0"/>
                <a:t>1</a:t>
              </a:r>
              <a:endParaRPr lang="zh-TW" altLang="en-US" dirty="0"/>
            </a:p>
          </p:txBody>
        </p:sp>
        <p:sp>
          <p:nvSpPr>
            <p:cNvPr id="29" name="文字方塊 28">
              <a:extLst>
                <a:ext uri="{FF2B5EF4-FFF2-40B4-BE49-F238E27FC236}">
                  <a16:creationId xmlns:a16="http://schemas.microsoft.com/office/drawing/2014/main" id="{3156E040-CA73-997A-74A3-7437F1FF6393}"/>
                </a:ext>
              </a:extLst>
            </p:cNvPr>
            <p:cNvSpPr txBox="1"/>
            <p:nvPr/>
          </p:nvSpPr>
          <p:spPr>
            <a:xfrm>
              <a:off x="2807486" y="4489816"/>
              <a:ext cx="524390" cy="369332"/>
            </a:xfrm>
            <a:prstGeom prst="rect">
              <a:avLst/>
            </a:prstGeom>
            <a:noFill/>
          </p:spPr>
          <p:txBody>
            <a:bodyPr wrap="square" rtlCol="0">
              <a:spAutoFit/>
            </a:bodyPr>
            <a:lstStyle/>
            <a:p>
              <a:r>
                <a:rPr lang="en-US" altLang="zh-TW" dirty="0"/>
                <a:t>0</a:t>
              </a:r>
              <a:endParaRPr lang="zh-TW" altLang="en-US" dirty="0"/>
            </a:p>
          </p:txBody>
        </p:sp>
        <p:sp>
          <p:nvSpPr>
            <p:cNvPr id="30" name="文字方塊 29">
              <a:extLst>
                <a:ext uri="{FF2B5EF4-FFF2-40B4-BE49-F238E27FC236}">
                  <a16:creationId xmlns:a16="http://schemas.microsoft.com/office/drawing/2014/main" id="{1F2BE932-A21B-A946-CE7C-C0A31F96C01A}"/>
                </a:ext>
              </a:extLst>
            </p:cNvPr>
            <p:cNvSpPr txBox="1"/>
            <p:nvPr/>
          </p:nvSpPr>
          <p:spPr>
            <a:xfrm>
              <a:off x="3336997" y="4504456"/>
              <a:ext cx="524390" cy="369332"/>
            </a:xfrm>
            <a:prstGeom prst="rect">
              <a:avLst/>
            </a:prstGeom>
            <a:noFill/>
          </p:spPr>
          <p:txBody>
            <a:bodyPr wrap="square" rtlCol="0">
              <a:spAutoFit/>
            </a:bodyPr>
            <a:lstStyle/>
            <a:p>
              <a:r>
                <a:rPr lang="en-US" altLang="zh-TW" dirty="0"/>
                <a:t>-2</a:t>
              </a:r>
              <a:endParaRPr lang="zh-TW" altLang="en-US" dirty="0"/>
            </a:p>
          </p:txBody>
        </p:sp>
        <p:sp>
          <p:nvSpPr>
            <p:cNvPr id="31" name="文字方塊 30">
              <a:extLst>
                <a:ext uri="{FF2B5EF4-FFF2-40B4-BE49-F238E27FC236}">
                  <a16:creationId xmlns:a16="http://schemas.microsoft.com/office/drawing/2014/main" id="{286FEF46-C46B-32AA-F929-DEEB06429A35}"/>
                </a:ext>
              </a:extLst>
            </p:cNvPr>
            <p:cNvSpPr txBox="1"/>
            <p:nvPr/>
          </p:nvSpPr>
          <p:spPr>
            <a:xfrm>
              <a:off x="4366081" y="4506053"/>
              <a:ext cx="524390" cy="369332"/>
            </a:xfrm>
            <a:prstGeom prst="rect">
              <a:avLst/>
            </a:prstGeom>
            <a:noFill/>
          </p:spPr>
          <p:txBody>
            <a:bodyPr wrap="square" rtlCol="0">
              <a:spAutoFit/>
            </a:bodyPr>
            <a:lstStyle/>
            <a:p>
              <a:r>
                <a:rPr lang="en-US" altLang="zh-TW" dirty="0"/>
                <a:t>-2</a:t>
              </a:r>
              <a:endParaRPr lang="zh-TW" altLang="en-US" dirty="0"/>
            </a:p>
          </p:txBody>
        </p:sp>
        <p:sp>
          <p:nvSpPr>
            <p:cNvPr id="32" name="文字方塊 31">
              <a:extLst>
                <a:ext uri="{FF2B5EF4-FFF2-40B4-BE49-F238E27FC236}">
                  <a16:creationId xmlns:a16="http://schemas.microsoft.com/office/drawing/2014/main" id="{6DEA958A-4D4C-FCDC-7C0C-89448F2B84EF}"/>
                </a:ext>
              </a:extLst>
            </p:cNvPr>
            <p:cNvSpPr txBox="1"/>
            <p:nvPr/>
          </p:nvSpPr>
          <p:spPr>
            <a:xfrm>
              <a:off x="5001289" y="4506053"/>
              <a:ext cx="524390" cy="369332"/>
            </a:xfrm>
            <a:prstGeom prst="rect">
              <a:avLst/>
            </a:prstGeom>
            <a:noFill/>
          </p:spPr>
          <p:txBody>
            <a:bodyPr wrap="square" rtlCol="0">
              <a:spAutoFit/>
            </a:bodyPr>
            <a:lstStyle/>
            <a:p>
              <a:r>
                <a:rPr lang="en-US" altLang="zh-TW" dirty="0"/>
                <a:t>2</a:t>
              </a:r>
              <a:endParaRPr lang="zh-TW" altLang="en-US" dirty="0"/>
            </a:p>
          </p:txBody>
        </p:sp>
        <p:sp>
          <p:nvSpPr>
            <p:cNvPr id="33" name="文字方塊 32">
              <a:extLst>
                <a:ext uri="{FF2B5EF4-FFF2-40B4-BE49-F238E27FC236}">
                  <a16:creationId xmlns:a16="http://schemas.microsoft.com/office/drawing/2014/main" id="{711C4622-B63C-64D6-BDB8-EA09E04B3B5A}"/>
                </a:ext>
              </a:extLst>
            </p:cNvPr>
            <p:cNvSpPr txBox="1"/>
            <p:nvPr/>
          </p:nvSpPr>
          <p:spPr>
            <a:xfrm>
              <a:off x="5559675" y="4520693"/>
              <a:ext cx="524390" cy="369332"/>
            </a:xfrm>
            <a:prstGeom prst="rect">
              <a:avLst/>
            </a:prstGeom>
            <a:noFill/>
          </p:spPr>
          <p:txBody>
            <a:bodyPr wrap="square" rtlCol="0">
              <a:spAutoFit/>
            </a:bodyPr>
            <a:lstStyle/>
            <a:p>
              <a:r>
                <a:rPr lang="en-US" altLang="zh-TW" dirty="0"/>
                <a:t>0</a:t>
              </a:r>
              <a:endParaRPr lang="zh-TW" altLang="en-US" dirty="0"/>
            </a:p>
          </p:txBody>
        </p:sp>
        <p:sp>
          <p:nvSpPr>
            <p:cNvPr id="34" name="文字方塊 33">
              <a:extLst>
                <a:ext uri="{FF2B5EF4-FFF2-40B4-BE49-F238E27FC236}">
                  <a16:creationId xmlns:a16="http://schemas.microsoft.com/office/drawing/2014/main" id="{969E439E-6229-FEE3-EC85-AA0E5D9B6293}"/>
                </a:ext>
              </a:extLst>
            </p:cNvPr>
            <p:cNvSpPr txBox="1"/>
            <p:nvPr/>
          </p:nvSpPr>
          <p:spPr>
            <a:xfrm>
              <a:off x="380011" y="2929542"/>
              <a:ext cx="1090603" cy="369332"/>
            </a:xfrm>
            <a:prstGeom prst="rect">
              <a:avLst/>
            </a:prstGeom>
            <a:noFill/>
          </p:spPr>
          <p:txBody>
            <a:bodyPr wrap="square" rtlCol="0">
              <a:spAutoFit/>
            </a:bodyPr>
            <a:lstStyle/>
            <a:p>
              <a:r>
                <a:rPr lang="en-US" altLang="zh-TW" dirty="0">
                  <a:solidFill>
                    <a:schemeClr val="accent1"/>
                  </a:solidFill>
                </a:rPr>
                <a:t>P = 0.4</a:t>
              </a:r>
              <a:endParaRPr lang="zh-TW" altLang="en-US" dirty="0">
                <a:solidFill>
                  <a:schemeClr val="accent1"/>
                </a:solidFill>
              </a:endParaRPr>
            </a:p>
          </p:txBody>
        </p:sp>
        <p:sp>
          <p:nvSpPr>
            <p:cNvPr id="35" name="文字方塊 34">
              <a:extLst>
                <a:ext uri="{FF2B5EF4-FFF2-40B4-BE49-F238E27FC236}">
                  <a16:creationId xmlns:a16="http://schemas.microsoft.com/office/drawing/2014/main" id="{664B5B46-BE6A-287B-4999-5E36C08DB951}"/>
                </a:ext>
              </a:extLst>
            </p:cNvPr>
            <p:cNvSpPr txBox="1"/>
            <p:nvPr/>
          </p:nvSpPr>
          <p:spPr>
            <a:xfrm>
              <a:off x="2216773" y="2914537"/>
              <a:ext cx="1090603" cy="369332"/>
            </a:xfrm>
            <a:prstGeom prst="rect">
              <a:avLst/>
            </a:prstGeom>
            <a:noFill/>
          </p:spPr>
          <p:txBody>
            <a:bodyPr wrap="square" rtlCol="0">
              <a:spAutoFit/>
            </a:bodyPr>
            <a:lstStyle/>
            <a:p>
              <a:r>
                <a:rPr lang="en-US" altLang="zh-TW" dirty="0">
                  <a:solidFill>
                    <a:schemeClr val="accent1"/>
                  </a:solidFill>
                </a:rPr>
                <a:t>P = 0.4</a:t>
              </a:r>
              <a:endParaRPr lang="zh-TW" altLang="en-US" dirty="0">
                <a:solidFill>
                  <a:schemeClr val="accent1"/>
                </a:solidFill>
              </a:endParaRPr>
            </a:p>
          </p:txBody>
        </p:sp>
        <p:sp>
          <p:nvSpPr>
            <p:cNvPr id="36" name="文字方塊 35">
              <a:extLst>
                <a:ext uri="{FF2B5EF4-FFF2-40B4-BE49-F238E27FC236}">
                  <a16:creationId xmlns:a16="http://schemas.microsoft.com/office/drawing/2014/main" id="{A09B879B-D31D-F4E6-A273-D3C36AF9FECC}"/>
                </a:ext>
              </a:extLst>
            </p:cNvPr>
            <p:cNvSpPr txBox="1"/>
            <p:nvPr/>
          </p:nvSpPr>
          <p:spPr>
            <a:xfrm>
              <a:off x="4668068" y="2923410"/>
              <a:ext cx="1090603" cy="369332"/>
            </a:xfrm>
            <a:prstGeom prst="rect">
              <a:avLst/>
            </a:prstGeom>
            <a:noFill/>
          </p:spPr>
          <p:txBody>
            <a:bodyPr wrap="square" rtlCol="0">
              <a:spAutoFit/>
            </a:bodyPr>
            <a:lstStyle/>
            <a:p>
              <a:r>
                <a:rPr lang="en-US" altLang="zh-TW" dirty="0">
                  <a:solidFill>
                    <a:schemeClr val="accent1"/>
                  </a:solidFill>
                </a:rPr>
                <a:t>P = 0.2</a:t>
              </a:r>
              <a:endParaRPr lang="zh-TW" altLang="en-US" dirty="0">
                <a:solidFill>
                  <a:schemeClr val="accent1"/>
                </a:solidFill>
              </a:endParaRPr>
            </a:p>
          </p:txBody>
        </p:sp>
      </p:grpSp>
      <p:grpSp>
        <p:nvGrpSpPr>
          <p:cNvPr id="59" name="群組 58">
            <a:extLst>
              <a:ext uri="{FF2B5EF4-FFF2-40B4-BE49-F238E27FC236}">
                <a16:creationId xmlns:a16="http://schemas.microsoft.com/office/drawing/2014/main" id="{2305E848-996E-5E4B-A72F-93F97DCD1DE3}"/>
              </a:ext>
            </a:extLst>
          </p:cNvPr>
          <p:cNvGrpSpPr/>
          <p:nvPr/>
        </p:nvGrpSpPr>
        <p:grpSpPr>
          <a:xfrm>
            <a:off x="7200094" y="2636239"/>
            <a:ext cx="4228562" cy="2511467"/>
            <a:chOff x="482009" y="1945757"/>
            <a:chExt cx="5054007" cy="3001724"/>
          </a:xfrm>
        </p:grpSpPr>
        <p:sp>
          <p:nvSpPr>
            <p:cNvPr id="60" name="橢圓 59">
              <a:extLst>
                <a:ext uri="{FF2B5EF4-FFF2-40B4-BE49-F238E27FC236}">
                  <a16:creationId xmlns:a16="http://schemas.microsoft.com/office/drawing/2014/main" id="{FA20BC5B-68B1-DA40-BD85-8A570BD63F03}"/>
                </a:ext>
              </a:extLst>
            </p:cNvPr>
            <p:cNvSpPr/>
            <p:nvPr/>
          </p:nvSpPr>
          <p:spPr>
            <a:xfrm>
              <a:off x="2615608" y="1945757"/>
              <a:ext cx="712382" cy="712382"/>
            </a:xfrm>
            <a:prstGeom prst="ellipse">
              <a:avLst/>
            </a:prstGeom>
            <a:solidFill>
              <a:srgbClr val="0069C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1</a:t>
              </a:r>
              <a:endParaRPr lang="zh-TW" altLang="en-US" baseline="-25000" dirty="0">
                <a:solidFill>
                  <a:schemeClr val="tx1"/>
                </a:solidFill>
              </a:endParaRPr>
            </a:p>
          </p:txBody>
        </p:sp>
        <p:sp>
          <p:nvSpPr>
            <p:cNvPr id="61" name="橢圓 60">
              <a:extLst>
                <a:ext uri="{FF2B5EF4-FFF2-40B4-BE49-F238E27FC236}">
                  <a16:creationId xmlns:a16="http://schemas.microsoft.com/office/drawing/2014/main" id="{D96BE6D3-F58C-4B46-BF0D-6CBCF57C512D}"/>
                </a:ext>
              </a:extLst>
            </p:cNvPr>
            <p:cNvSpPr/>
            <p:nvPr/>
          </p:nvSpPr>
          <p:spPr>
            <a:xfrm>
              <a:off x="482009"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62" name="橢圓 61">
              <a:extLst>
                <a:ext uri="{FF2B5EF4-FFF2-40B4-BE49-F238E27FC236}">
                  <a16:creationId xmlns:a16="http://schemas.microsoft.com/office/drawing/2014/main" id="{B9742780-5BDF-184D-9C53-36B5E52A98CF}"/>
                </a:ext>
              </a:extLst>
            </p:cNvPr>
            <p:cNvSpPr/>
            <p:nvPr/>
          </p:nvSpPr>
          <p:spPr>
            <a:xfrm>
              <a:off x="2615608"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63" name="橢圓 62">
              <a:extLst>
                <a:ext uri="{FF2B5EF4-FFF2-40B4-BE49-F238E27FC236}">
                  <a16:creationId xmlns:a16="http://schemas.microsoft.com/office/drawing/2014/main" id="{5FCADE8C-D84D-D143-B4D4-7AB1A0E3213F}"/>
                </a:ext>
              </a:extLst>
            </p:cNvPr>
            <p:cNvSpPr/>
            <p:nvPr/>
          </p:nvSpPr>
          <p:spPr>
            <a:xfrm>
              <a:off x="4823634"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cxnSp>
          <p:nvCxnSpPr>
            <p:cNvPr id="64" name="直線接點 63">
              <a:extLst>
                <a:ext uri="{FF2B5EF4-FFF2-40B4-BE49-F238E27FC236}">
                  <a16:creationId xmlns:a16="http://schemas.microsoft.com/office/drawing/2014/main" id="{23FDB12F-215B-BF4A-837F-15ED5449FF4E}"/>
                </a:ext>
              </a:extLst>
            </p:cNvPr>
            <p:cNvCxnSpPr>
              <a:cxnSpLocks/>
              <a:stCxn id="62" idx="6"/>
              <a:endCxn id="63" idx="2"/>
            </p:cNvCxnSpPr>
            <p:nvPr/>
          </p:nvCxnSpPr>
          <p:spPr>
            <a:xfrm>
              <a:off x="3327990" y="3576139"/>
              <a:ext cx="149564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B25BFA8E-74F7-234F-AA0C-D791550ADF0A}"/>
                </a:ext>
              </a:extLst>
            </p:cNvPr>
            <p:cNvCxnSpPr>
              <a:cxnSpLocks/>
              <a:stCxn id="62" idx="2"/>
              <a:endCxn id="61" idx="6"/>
            </p:cNvCxnSpPr>
            <p:nvPr/>
          </p:nvCxnSpPr>
          <p:spPr>
            <a:xfrm flipH="1">
              <a:off x="1194391" y="3576139"/>
              <a:ext cx="1421217"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6" name="直線單箭頭接點 10">
              <a:extLst>
                <a:ext uri="{FF2B5EF4-FFF2-40B4-BE49-F238E27FC236}">
                  <a16:creationId xmlns:a16="http://schemas.microsoft.com/office/drawing/2014/main" id="{723FB2B0-732C-A84E-8B8C-757E3A9C0589}"/>
                </a:ext>
              </a:extLst>
            </p:cNvPr>
            <p:cNvCxnSpPr>
              <a:cxnSpLocks/>
              <a:stCxn id="60" idx="3"/>
              <a:endCxn id="61" idx="7"/>
            </p:cNvCxnSpPr>
            <p:nvPr/>
          </p:nvCxnSpPr>
          <p:spPr>
            <a:xfrm flipH="1">
              <a:off x="1090065" y="2553813"/>
              <a:ext cx="1629869"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11">
              <a:extLst>
                <a:ext uri="{FF2B5EF4-FFF2-40B4-BE49-F238E27FC236}">
                  <a16:creationId xmlns:a16="http://schemas.microsoft.com/office/drawing/2014/main" id="{88613149-605F-FC46-ABD5-75A31A8F6E81}"/>
                </a:ext>
              </a:extLst>
            </p:cNvPr>
            <p:cNvCxnSpPr>
              <a:cxnSpLocks/>
              <a:stCxn id="60" idx="4"/>
              <a:endCxn id="62" idx="0"/>
            </p:cNvCxnSpPr>
            <p:nvPr/>
          </p:nvCxnSpPr>
          <p:spPr>
            <a:xfrm>
              <a:off x="2971799" y="2658139"/>
              <a:ext cx="0" cy="5618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12">
              <a:extLst>
                <a:ext uri="{FF2B5EF4-FFF2-40B4-BE49-F238E27FC236}">
                  <a16:creationId xmlns:a16="http://schemas.microsoft.com/office/drawing/2014/main" id="{98D428C3-5CAA-B446-B601-7EA03669D87C}"/>
                </a:ext>
              </a:extLst>
            </p:cNvPr>
            <p:cNvCxnSpPr>
              <a:cxnSpLocks/>
              <a:stCxn id="60" idx="5"/>
              <a:endCxn id="63" idx="1"/>
            </p:cNvCxnSpPr>
            <p:nvPr/>
          </p:nvCxnSpPr>
          <p:spPr>
            <a:xfrm>
              <a:off x="3223664" y="2553813"/>
              <a:ext cx="1704296"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文字方塊 68">
              <a:extLst>
                <a:ext uri="{FF2B5EF4-FFF2-40B4-BE49-F238E27FC236}">
                  <a16:creationId xmlns:a16="http://schemas.microsoft.com/office/drawing/2014/main" id="{8A1F3B2D-C1EA-D84E-BAC1-7280CFCCC4A8}"/>
                </a:ext>
              </a:extLst>
            </p:cNvPr>
            <p:cNvSpPr txBox="1"/>
            <p:nvPr/>
          </p:nvSpPr>
          <p:spPr>
            <a:xfrm rot="19739989">
              <a:off x="1336691" y="2403460"/>
              <a:ext cx="1213506" cy="369332"/>
            </a:xfrm>
            <a:prstGeom prst="rect">
              <a:avLst/>
            </a:prstGeom>
            <a:noFill/>
          </p:spPr>
          <p:txBody>
            <a:bodyPr wrap="square" rtlCol="0">
              <a:spAutoFit/>
            </a:bodyPr>
            <a:lstStyle/>
            <a:p>
              <a:r>
                <a:rPr lang="en-US" altLang="zh-TW" dirty="0"/>
                <a:t>Rock</a:t>
              </a:r>
              <a:endParaRPr lang="zh-TW" altLang="en-US" dirty="0"/>
            </a:p>
          </p:txBody>
        </p:sp>
        <p:sp>
          <p:nvSpPr>
            <p:cNvPr id="70" name="文字方塊 69">
              <a:extLst>
                <a:ext uri="{FF2B5EF4-FFF2-40B4-BE49-F238E27FC236}">
                  <a16:creationId xmlns:a16="http://schemas.microsoft.com/office/drawing/2014/main" id="{8F16B0A2-7237-AE4F-B07D-18332DF858E3}"/>
                </a:ext>
              </a:extLst>
            </p:cNvPr>
            <p:cNvSpPr txBox="1"/>
            <p:nvPr/>
          </p:nvSpPr>
          <p:spPr>
            <a:xfrm rot="1715645">
              <a:off x="3550868" y="2575530"/>
              <a:ext cx="1213506" cy="369332"/>
            </a:xfrm>
            <a:prstGeom prst="rect">
              <a:avLst/>
            </a:prstGeom>
            <a:noFill/>
          </p:spPr>
          <p:txBody>
            <a:bodyPr wrap="square" rtlCol="0">
              <a:spAutoFit/>
            </a:bodyPr>
            <a:lstStyle/>
            <a:p>
              <a:r>
                <a:rPr lang="en-US" altLang="zh-TW" dirty="0"/>
                <a:t>Scissors</a:t>
              </a:r>
              <a:endParaRPr lang="zh-TW" altLang="en-US" dirty="0"/>
            </a:p>
          </p:txBody>
        </p:sp>
        <p:sp>
          <p:nvSpPr>
            <p:cNvPr id="71" name="文字方塊 70">
              <a:extLst>
                <a:ext uri="{FF2B5EF4-FFF2-40B4-BE49-F238E27FC236}">
                  <a16:creationId xmlns:a16="http://schemas.microsoft.com/office/drawing/2014/main" id="{9CA1B258-07F9-B64D-8339-DFE9F06D8350}"/>
                </a:ext>
              </a:extLst>
            </p:cNvPr>
            <p:cNvSpPr txBox="1"/>
            <p:nvPr/>
          </p:nvSpPr>
          <p:spPr>
            <a:xfrm rot="5400000">
              <a:off x="2663261" y="2954700"/>
              <a:ext cx="1213506" cy="369332"/>
            </a:xfrm>
            <a:prstGeom prst="rect">
              <a:avLst/>
            </a:prstGeom>
            <a:noFill/>
          </p:spPr>
          <p:txBody>
            <a:bodyPr wrap="square" rtlCol="0">
              <a:spAutoFit/>
            </a:bodyPr>
            <a:lstStyle/>
            <a:p>
              <a:r>
                <a:rPr lang="en-US" altLang="zh-TW" dirty="0"/>
                <a:t>Paper</a:t>
              </a:r>
              <a:endParaRPr lang="zh-TW" altLang="en-US" dirty="0"/>
            </a:p>
          </p:txBody>
        </p:sp>
        <p:cxnSp>
          <p:nvCxnSpPr>
            <p:cNvPr id="99" name="直線單箭頭接點 48">
              <a:extLst>
                <a:ext uri="{FF2B5EF4-FFF2-40B4-BE49-F238E27FC236}">
                  <a16:creationId xmlns:a16="http://schemas.microsoft.com/office/drawing/2014/main" id="{8A9F8DB4-85A5-5C48-861F-5E17826D8862}"/>
                </a:ext>
              </a:extLst>
            </p:cNvPr>
            <p:cNvCxnSpPr>
              <a:cxnSpLocks/>
              <a:stCxn id="61" idx="4"/>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42">
              <a:extLst>
                <a:ext uri="{FF2B5EF4-FFF2-40B4-BE49-F238E27FC236}">
                  <a16:creationId xmlns:a16="http://schemas.microsoft.com/office/drawing/2014/main" id="{B5F2F848-758B-F04C-9E41-1F85EE68CF57}"/>
                </a:ext>
              </a:extLst>
            </p:cNvPr>
            <p:cNvCxnSpPr/>
            <p:nvPr/>
          </p:nvCxnSpPr>
          <p:spPr>
            <a:xfrm>
              <a:off x="2970402" y="3925513"/>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36">
              <a:extLst>
                <a:ext uri="{FF2B5EF4-FFF2-40B4-BE49-F238E27FC236}">
                  <a16:creationId xmlns:a16="http://schemas.microsoft.com/office/drawing/2014/main" id="{B3167B4C-1035-1148-94D8-95A307F13547}"/>
                </a:ext>
              </a:extLst>
            </p:cNvPr>
            <p:cNvCxnSpPr/>
            <p:nvPr/>
          </p:nvCxnSpPr>
          <p:spPr>
            <a:xfrm>
              <a:off x="5158129" y="3933467"/>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文字方塊 75">
              <a:extLst>
                <a:ext uri="{FF2B5EF4-FFF2-40B4-BE49-F238E27FC236}">
                  <a16:creationId xmlns:a16="http://schemas.microsoft.com/office/drawing/2014/main" id="{5D54653B-D809-0445-ADC7-F2ADA41A1AB4}"/>
                </a:ext>
              </a:extLst>
            </p:cNvPr>
            <p:cNvSpPr txBox="1"/>
            <p:nvPr/>
          </p:nvSpPr>
          <p:spPr>
            <a:xfrm>
              <a:off x="673598" y="4491217"/>
              <a:ext cx="524390" cy="441428"/>
            </a:xfrm>
            <a:prstGeom prst="rect">
              <a:avLst/>
            </a:prstGeom>
            <a:noFill/>
          </p:spPr>
          <p:txBody>
            <a:bodyPr wrap="square" rtlCol="0">
              <a:spAutoFit/>
            </a:bodyPr>
            <a:lstStyle/>
            <a:p>
              <a:r>
                <a:rPr lang="en-US" altLang="zh-TW" dirty="0"/>
                <a:t>0</a:t>
              </a:r>
              <a:endParaRPr lang="zh-TW" altLang="en-US" dirty="0"/>
            </a:p>
          </p:txBody>
        </p:sp>
        <p:sp>
          <p:nvSpPr>
            <p:cNvPr id="79" name="文字方塊 78">
              <a:extLst>
                <a:ext uri="{FF2B5EF4-FFF2-40B4-BE49-F238E27FC236}">
                  <a16:creationId xmlns:a16="http://schemas.microsoft.com/office/drawing/2014/main" id="{740779B5-7BB9-024C-8117-F049C8646CC7}"/>
                </a:ext>
              </a:extLst>
            </p:cNvPr>
            <p:cNvSpPr txBox="1"/>
            <p:nvPr/>
          </p:nvSpPr>
          <p:spPr>
            <a:xfrm>
              <a:off x="2794475" y="4489816"/>
              <a:ext cx="524390" cy="369332"/>
            </a:xfrm>
            <a:prstGeom prst="rect">
              <a:avLst/>
            </a:prstGeom>
            <a:noFill/>
          </p:spPr>
          <p:txBody>
            <a:bodyPr wrap="square" rtlCol="0">
              <a:spAutoFit/>
            </a:bodyPr>
            <a:lstStyle/>
            <a:p>
              <a:r>
                <a:rPr lang="en-US" altLang="zh-TW" dirty="0"/>
                <a:t>0</a:t>
              </a:r>
              <a:endParaRPr lang="zh-TW" altLang="en-US" dirty="0"/>
            </a:p>
          </p:txBody>
        </p:sp>
        <p:sp>
          <p:nvSpPr>
            <p:cNvPr id="82" name="文字方塊 81">
              <a:extLst>
                <a:ext uri="{FF2B5EF4-FFF2-40B4-BE49-F238E27FC236}">
                  <a16:creationId xmlns:a16="http://schemas.microsoft.com/office/drawing/2014/main" id="{8C76DDCF-2E93-FC48-9AB9-B676141C3BC6}"/>
                </a:ext>
              </a:extLst>
            </p:cNvPr>
            <p:cNvSpPr txBox="1"/>
            <p:nvPr/>
          </p:nvSpPr>
          <p:spPr>
            <a:xfrm>
              <a:off x="4988278" y="4506053"/>
              <a:ext cx="524390" cy="441428"/>
            </a:xfrm>
            <a:prstGeom prst="rect">
              <a:avLst/>
            </a:prstGeom>
            <a:noFill/>
          </p:spPr>
          <p:txBody>
            <a:bodyPr wrap="square" rtlCol="0">
              <a:spAutoFit/>
            </a:bodyPr>
            <a:lstStyle/>
            <a:p>
              <a:r>
                <a:rPr lang="en-US" altLang="zh-TW" dirty="0"/>
                <a:t>0</a:t>
              </a:r>
              <a:endParaRPr lang="zh-TW" altLang="en-US" dirty="0"/>
            </a:p>
          </p:txBody>
        </p:sp>
      </p:grpSp>
      <mc:AlternateContent xmlns:mc="http://schemas.openxmlformats.org/markup-compatibility/2006">
        <mc:Choice xmlns:a14="http://schemas.microsoft.com/office/drawing/2010/main" Requires="a14">
          <p:sp>
            <p:nvSpPr>
              <p:cNvPr id="105" name="文字方塊 104">
                <a:extLst>
                  <a:ext uri="{FF2B5EF4-FFF2-40B4-BE49-F238E27FC236}">
                    <a16:creationId xmlns:a16="http://schemas.microsoft.com/office/drawing/2014/main" id="{009D3CDD-BA1D-9E45-BBBB-5D20A27616DD}"/>
                  </a:ext>
                </a:extLst>
              </p:cNvPr>
              <p:cNvSpPr txBox="1"/>
              <p:nvPr/>
            </p:nvSpPr>
            <p:spPr>
              <a:xfrm>
                <a:off x="7533914" y="4276318"/>
                <a:ext cx="438744" cy="3724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1</m:t>
                          </m:r>
                        </m:sup>
                      </m:sSubSup>
                    </m:oMath>
                  </m:oMathPara>
                </a14:m>
                <a:endParaRPr lang="zh-TW" altLang="en-US" dirty="0"/>
              </a:p>
            </p:txBody>
          </p:sp>
        </mc:Choice>
        <mc:Fallback>
          <p:sp>
            <p:nvSpPr>
              <p:cNvPr id="105" name="文字方塊 104">
                <a:extLst>
                  <a:ext uri="{FF2B5EF4-FFF2-40B4-BE49-F238E27FC236}">
                    <a16:creationId xmlns:a16="http://schemas.microsoft.com/office/drawing/2014/main" id="{009D3CDD-BA1D-9E45-BBBB-5D20A27616DD}"/>
                  </a:ext>
                </a:extLst>
              </p:cNvPr>
              <p:cNvSpPr txBox="1">
                <a:spLocks noRot="1" noChangeAspect="1" noMove="1" noResize="1" noEditPoints="1" noAdjustHandles="1" noChangeArrowheads="1" noChangeShapeType="1" noTextEdit="1"/>
              </p:cNvSpPr>
              <p:nvPr/>
            </p:nvSpPr>
            <p:spPr>
              <a:xfrm>
                <a:off x="7533914" y="4276318"/>
                <a:ext cx="438744" cy="37247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6" name="文字方塊 105">
                <a:extLst>
                  <a:ext uri="{FF2B5EF4-FFF2-40B4-BE49-F238E27FC236}">
                    <a16:creationId xmlns:a16="http://schemas.microsoft.com/office/drawing/2014/main" id="{8E54F0EC-70F3-BF40-9D50-C5D431566774}"/>
                  </a:ext>
                </a:extLst>
              </p:cNvPr>
              <p:cNvSpPr txBox="1"/>
              <p:nvPr/>
            </p:nvSpPr>
            <p:spPr>
              <a:xfrm>
                <a:off x="9249837" y="4276318"/>
                <a:ext cx="438744" cy="3724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1</m:t>
                          </m:r>
                        </m:sup>
                      </m:sSubSup>
                    </m:oMath>
                  </m:oMathPara>
                </a14:m>
                <a:endParaRPr lang="zh-TW" altLang="en-US" dirty="0"/>
              </a:p>
            </p:txBody>
          </p:sp>
        </mc:Choice>
        <mc:Fallback>
          <p:sp>
            <p:nvSpPr>
              <p:cNvPr id="106" name="文字方塊 105">
                <a:extLst>
                  <a:ext uri="{FF2B5EF4-FFF2-40B4-BE49-F238E27FC236}">
                    <a16:creationId xmlns:a16="http://schemas.microsoft.com/office/drawing/2014/main" id="{8E54F0EC-70F3-BF40-9D50-C5D431566774}"/>
                  </a:ext>
                </a:extLst>
              </p:cNvPr>
              <p:cNvSpPr txBox="1">
                <a:spLocks noRot="1" noChangeAspect="1" noMove="1" noResize="1" noEditPoints="1" noAdjustHandles="1" noChangeArrowheads="1" noChangeShapeType="1" noTextEdit="1"/>
              </p:cNvSpPr>
              <p:nvPr/>
            </p:nvSpPr>
            <p:spPr>
              <a:xfrm>
                <a:off x="9249837" y="4276318"/>
                <a:ext cx="438744" cy="37247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7" name="文字方塊 106">
                <a:extLst>
                  <a:ext uri="{FF2B5EF4-FFF2-40B4-BE49-F238E27FC236}">
                    <a16:creationId xmlns:a16="http://schemas.microsoft.com/office/drawing/2014/main" id="{17130AE4-64E0-3A43-BFB8-75F57BFE1EBE}"/>
                  </a:ext>
                </a:extLst>
              </p:cNvPr>
              <p:cNvSpPr txBox="1"/>
              <p:nvPr/>
            </p:nvSpPr>
            <p:spPr>
              <a:xfrm>
                <a:off x="11166031" y="4276318"/>
                <a:ext cx="438744" cy="3724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1</m:t>
                          </m:r>
                        </m:sup>
                      </m:sSubSup>
                    </m:oMath>
                  </m:oMathPara>
                </a14:m>
                <a:endParaRPr lang="zh-TW" altLang="en-US" dirty="0"/>
              </a:p>
            </p:txBody>
          </p:sp>
        </mc:Choice>
        <mc:Fallback>
          <p:sp>
            <p:nvSpPr>
              <p:cNvPr id="107" name="文字方塊 106">
                <a:extLst>
                  <a:ext uri="{FF2B5EF4-FFF2-40B4-BE49-F238E27FC236}">
                    <a16:creationId xmlns:a16="http://schemas.microsoft.com/office/drawing/2014/main" id="{17130AE4-64E0-3A43-BFB8-75F57BFE1EBE}"/>
                  </a:ext>
                </a:extLst>
              </p:cNvPr>
              <p:cNvSpPr txBox="1">
                <a:spLocks noRot="1" noChangeAspect="1" noMove="1" noResize="1" noEditPoints="1" noAdjustHandles="1" noChangeArrowheads="1" noChangeShapeType="1" noTextEdit="1"/>
              </p:cNvSpPr>
              <p:nvPr/>
            </p:nvSpPr>
            <p:spPr>
              <a:xfrm>
                <a:off x="11166031" y="4276318"/>
                <a:ext cx="438744" cy="372474"/>
              </a:xfrm>
              <a:prstGeom prst="rect">
                <a:avLst/>
              </a:prstGeom>
              <a:blipFill>
                <a:blip r:embed="rId3"/>
                <a:stretch>
                  <a:fillRect/>
                </a:stretch>
              </a:blipFill>
            </p:spPr>
            <p:txBody>
              <a:bodyPr/>
              <a:lstStyle/>
              <a:p>
                <a:r>
                  <a:rPr lang="zh-TW" altLang="en-US">
                    <a:noFill/>
                  </a:rPr>
                  <a:t> </a:t>
                </a:r>
              </a:p>
            </p:txBody>
          </p:sp>
        </mc:Fallback>
      </mc:AlternateContent>
      <p:sp>
        <p:nvSpPr>
          <p:cNvPr id="108" name="文字方塊 107">
            <a:extLst>
              <a:ext uri="{FF2B5EF4-FFF2-40B4-BE49-F238E27FC236}">
                <a16:creationId xmlns:a16="http://schemas.microsoft.com/office/drawing/2014/main" id="{E561EB81-63D7-D649-B522-30D50F4F62E7}"/>
              </a:ext>
            </a:extLst>
          </p:cNvPr>
          <p:cNvSpPr txBox="1"/>
          <p:nvPr/>
        </p:nvSpPr>
        <p:spPr>
          <a:xfrm>
            <a:off x="951437" y="5377543"/>
            <a:ext cx="10238312" cy="1200329"/>
          </a:xfrm>
          <a:prstGeom prst="rect">
            <a:avLst/>
          </a:prstGeom>
          <a:noFill/>
        </p:spPr>
        <p:txBody>
          <a:bodyPr wrap="square" rtlCol="0">
            <a:spAutoFit/>
          </a:bodyPr>
          <a:lstStyle/>
          <a:p>
            <a:r>
              <a:rPr kumimoji="1" lang="en-US" altLang="zh-TW" dirty="0"/>
              <a:t>At leaf node, allow other player one final action choosing between multiple policies for the remaining game</a:t>
            </a:r>
          </a:p>
          <a:p>
            <a:r>
              <a:rPr kumimoji="1" lang="en-US" altLang="zh-TW" dirty="0"/>
              <a:t>Step 1: Solve subgame with current set of P2 leaf-node policies</a:t>
            </a:r>
          </a:p>
          <a:p>
            <a:r>
              <a:rPr kumimoji="1" lang="en-US" altLang="zh-TW" dirty="0"/>
              <a:t>Step 2: Calculate a P2 best response</a:t>
            </a:r>
          </a:p>
          <a:p>
            <a:r>
              <a:rPr kumimoji="1" lang="en-US" altLang="zh-TW" dirty="0"/>
              <a:t>Step 3: Add P2 best response to set of leaf-node policies</a:t>
            </a:r>
            <a:endParaRPr kumimoji="1" lang="zh-TW" altLang="en-US" dirty="0"/>
          </a:p>
        </p:txBody>
      </p:sp>
    </p:spTree>
    <p:extLst>
      <p:ext uri="{BB962C8B-B14F-4D97-AF65-F5344CB8AC3E}">
        <p14:creationId xmlns:p14="http://schemas.microsoft.com/office/powerpoint/2010/main" val="3957899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t>Search in Imperfect information games</a:t>
            </a:r>
            <a:endParaRPr kumimoji="1"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7</a:t>
            </a:fld>
            <a:endParaRPr kumimoji="1" lang="zh-TW" altLang="en-US"/>
          </a:p>
        </p:txBody>
      </p:sp>
      <p:sp>
        <p:nvSpPr>
          <p:cNvPr id="22" name="文字方塊 21">
            <a:extLst>
              <a:ext uri="{FF2B5EF4-FFF2-40B4-BE49-F238E27FC236}">
                <a16:creationId xmlns:a16="http://schemas.microsoft.com/office/drawing/2014/main" id="{318A5076-8EDE-DE1D-5E9E-B66F0A27CEBE}"/>
              </a:ext>
            </a:extLst>
          </p:cNvPr>
          <p:cNvSpPr txBox="1"/>
          <p:nvPr/>
        </p:nvSpPr>
        <p:spPr>
          <a:xfrm>
            <a:off x="2478038" y="1911475"/>
            <a:ext cx="2808269" cy="461665"/>
          </a:xfrm>
          <a:prstGeom prst="rect">
            <a:avLst/>
          </a:prstGeom>
          <a:noFill/>
        </p:spPr>
        <p:txBody>
          <a:bodyPr wrap="none" rtlCol="0">
            <a:spAutoFit/>
          </a:bodyPr>
          <a:lstStyle/>
          <a:p>
            <a:r>
              <a:rPr lang="en-US" altLang="zh-TW" sz="2400" dirty="0"/>
              <a:t>Rock-Paper-Scissors+</a:t>
            </a:r>
            <a:endParaRPr lang="zh-TW" altLang="en-US" sz="2400" dirty="0"/>
          </a:p>
        </p:txBody>
      </p:sp>
      <p:sp>
        <p:nvSpPr>
          <p:cNvPr id="23" name="文字方塊 22">
            <a:extLst>
              <a:ext uri="{FF2B5EF4-FFF2-40B4-BE49-F238E27FC236}">
                <a16:creationId xmlns:a16="http://schemas.microsoft.com/office/drawing/2014/main" id="{C2E0C411-7539-6194-10BE-0BE7475C2851}"/>
              </a:ext>
            </a:extLst>
          </p:cNvPr>
          <p:cNvSpPr txBox="1"/>
          <p:nvPr/>
        </p:nvSpPr>
        <p:spPr>
          <a:xfrm>
            <a:off x="6639347" y="1978943"/>
            <a:ext cx="4671087" cy="461665"/>
          </a:xfrm>
          <a:prstGeom prst="rect">
            <a:avLst/>
          </a:prstGeom>
          <a:noFill/>
        </p:spPr>
        <p:txBody>
          <a:bodyPr wrap="none" rtlCol="0">
            <a:spAutoFit/>
          </a:bodyPr>
          <a:lstStyle/>
          <a:p>
            <a:r>
              <a:rPr lang="en-US" altLang="zh-TW" sz="2400" dirty="0"/>
              <a:t>Depth-Limited Rock-Paper-Scissors+</a:t>
            </a:r>
            <a:endParaRPr lang="zh-TW" altLang="en-US" sz="2400" dirty="0"/>
          </a:p>
        </p:txBody>
      </p:sp>
      <p:grpSp>
        <p:nvGrpSpPr>
          <p:cNvPr id="3" name="群組 2">
            <a:extLst>
              <a:ext uri="{FF2B5EF4-FFF2-40B4-BE49-F238E27FC236}">
                <a16:creationId xmlns:a16="http://schemas.microsoft.com/office/drawing/2014/main" id="{1BAB8FCA-0B45-9727-9367-22E38A08F0DF}"/>
              </a:ext>
            </a:extLst>
          </p:cNvPr>
          <p:cNvGrpSpPr/>
          <p:nvPr/>
        </p:nvGrpSpPr>
        <p:grpSpPr>
          <a:xfrm>
            <a:off x="951437" y="2340032"/>
            <a:ext cx="5999639" cy="2944268"/>
            <a:chOff x="84426" y="1945757"/>
            <a:chExt cx="5999639" cy="2944268"/>
          </a:xfrm>
        </p:grpSpPr>
        <p:sp>
          <p:nvSpPr>
            <p:cNvPr id="5" name="橢圓 4">
              <a:extLst>
                <a:ext uri="{FF2B5EF4-FFF2-40B4-BE49-F238E27FC236}">
                  <a16:creationId xmlns:a16="http://schemas.microsoft.com/office/drawing/2014/main" id="{81D05CCC-B652-A77C-880B-DE0AF59B1056}"/>
                </a:ext>
              </a:extLst>
            </p:cNvPr>
            <p:cNvSpPr/>
            <p:nvPr/>
          </p:nvSpPr>
          <p:spPr>
            <a:xfrm>
              <a:off x="2615608" y="1945757"/>
              <a:ext cx="712382" cy="712382"/>
            </a:xfrm>
            <a:prstGeom prst="ellipse">
              <a:avLst/>
            </a:prstGeom>
            <a:solidFill>
              <a:srgbClr val="0069C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1</a:t>
              </a:r>
              <a:endParaRPr lang="zh-TW" altLang="en-US" baseline="-25000" dirty="0">
                <a:solidFill>
                  <a:schemeClr val="tx1"/>
                </a:solidFill>
              </a:endParaRPr>
            </a:p>
          </p:txBody>
        </p:sp>
        <p:sp>
          <p:nvSpPr>
            <p:cNvPr id="6" name="橢圓 5">
              <a:extLst>
                <a:ext uri="{FF2B5EF4-FFF2-40B4-BE49-F238E27FC236}">
                  <a16:creationId xmlns:a16="http://schemas.microsoft.com/office/drawing/2014/main" id="{F87D7FCF-8C1B-E8DF-9A3A-7A67FC656C8B}"/>
                </a:ext>
              </a:extLst>
            </p:cNvPr>
            <p:cNvSpPr/>
            <p:nvPr/>
          </p:nvSpPr>
          <p:spPr>
            <a:xfrm>
              <a:off x="482009"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7" name="橢圓 6">
              <a:extLst>
                <a:ext uri="{FF2B5EF4-FFF2-40B4-BE49-F238E27FC236}">
                  <a16:creationId xmlns:a16="http://schemas.microsoft.com/office/drawing/2014/main" id="{C8290A9E-13CB-A9DD-3576-EFF1EC2322CE}"/>
                </a:ext>
              </a:extLst>
            </p:cNvPr>
            <p:cNvSpPr/>
            <p:nvPr/>
          </p:nvSpPr>
          <p:spPr>
            <a:xfrm>
              <a:off x="2615608"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8" name="橢圓 7">
              <a:extLst>
                <a:ext uri="{FF2B5EF4-FFF2-40B4-BE49-F238E27FC236}">
                  <a16:creationId xmlns:a16="http://schemas.microsoft.com/office/drawing/2014/main" id="{9A45A639-01A1-1252-C633-397C38AD00E1}"/>
                </a:ext>
              </a:extLst>
            </p:cNvPr>
            <p:cNvSpPr/>
            <p:nvPr/>
          </p:nvSpPr>
          <p:spPr>
            <a:xfrm>
              <a:off x="4823634"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cxnSp>
          <p:nvCxnSpPr>
            <p:cNvPr id="9" name="直線接點 8">
              <a:extLst>
                <a:ext uri="{FF2B5EF4-FFF2-40B4-BE49-F238E27FC236}">
                  <a16:creationId xmlns:a16="http://schemas.microsoft.com/office/drawing/2014/main" id="{04E87A75-36E0-2F47-12CA-403C9AC979EA}"/>
                </a:ext>
              </a:extLst>
            </p:cNvPr>
            <p:cNvCxnSpPr>
              <a:cxnSpLocks/>
              <a:stCxn id="7" idx="6"/>
              <a:endCxn id="8" idx="2"/>
            </p:cNvCxnSpPr>
            <p:nvPr/>
          </p:nvCxnSpPr>
          <p:spPr>
            <a:xfrm>
              <a:off x="3327990" y="3576139"/>
              <a:ext cx="149564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E10DC0CC-9E55-589F-B573-11CF6F43D382}"/>
                </a:ext>
              </a:extLst>
            </p:cNvPr>
            <p:cNvCxnSpPr>
              <a:stCxn id="7" idx="2"/>
              <a:endCxn id="6" idx="6"/>
            </p:cNvCxnSpPr>
            <p:nvPr/>
          </p:nvCxnSpPr>
          <p:spPr>
            <a:xfrm flipH="1">
              <a:off x="1194391" y="3576139"/>
              <a:ext cx="1421217"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D3404038-FE5E-FA33-3E81-0F7867C28371}"/>
                </a:ext>
              </a:extLst>
            </p:cNvPr>
            <p:cNvCxnSpPr>
              <a:stCxn id="5" idx="3"/>
              <a:endCxn id="6" idx="7"/>
            </p:cNvCxnSpPr>
            <p:nvPr/>
          </p:nvCxnSpPr>
          <p:spPr>
            <a:xfrm flipH="1">
              <a:off x="1090065" y="2553813"/>
              <a:ext cx="1629869"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BBD35A93-1839-089B-C8AE-492C2ED1C4DE}"/>
                </a:ext>
              </a:extLst>
            </p:cNvPr>
            <p:cNvCxnSpPr>
              <a:cxnSpLocks/>
              <a:stCxn id="5" idx="4"/>
              <a:endCxn id="7" idx="0"/>
            </p:cNvCxnSpPr>
            <p:nvPr/>
          </p:nvCxnSpPr>
          <p:spPr>
            <a:xfrm>
              <a:off x="2971799" y="2658139"/>
              <a:ext cx="0" cy="5618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D93E1A6E-7C85-D3F7-EB1F-2D7ED9CBAE8A}"/>
                </a:ext>
              </a:extLst>
            </p:cNvPr>
            <p:cNvCxnSpPr>
              <a:stCxn id="5" idx="5"/>
              <a:endCxn id="8" idx="1"/>
            </p:cNvCxnSpPr>
            <p:nvPr/>
          </p:nvCxnSpPr>
          <p:spPr>
            <a:xfrm>
              <a:off x="3223664" y="2553813"/>
              <a:ext cx="1704296"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4796A2D0-B771-6635-F704-607B9DCC2FFC}"/>
                </a:ext>
              </a:extLst>
            </p:cNvPr>
            <p:cNvSpPr txBox="1"/>
            <p:nvPr/>
          </p:nvSpPr>
          <p:spPr>
            <a:xfrm rot="19739989">
              <a:off x="1703931" y="2376499"/>
              <a:ext cx="1213506" cy="369332"/>
            </a:xfrm>
            <a:prstGeom prst="rect">
              <a:avLst/>
            </a:prstGeom>
            <a:noFill/>
          </p:spPr>
          <p:txBody>
            <a:bodyPr wrap="square" rtlCol="0">
              <a:spAutoFit/>
            </a:bodyPr>
            <a:lstStyle/>
            <a:p>
              <a:r>
                <a:rPr lang="en-US" altLang="zh-TW" dirty="0"/>
                <a:t>Rock</a:t>
              </a:r>
              <a:endParaRPr lang="zh-TW" altLang="en-US" dirty="0"/>
            </a:p>
          </p:txBody>
        </p:sp>
        <p:sp>
          <p:nvSpPr>
            <p:cNvPr id="16" name="文字方塊 15">
              <a:extLst>
                <a:ext uri="{FF2B5EF4-FFF2-40B4-BE49-F238E27FC236}">
                  <a16:creationId xmlns:a16="http://schemas.microsoft.com/office/drawing/2014/main" id="{137E1627-B86E-918E-0F81-09CBB007E7F2}"/>
                </a:ext>
              </a:extLst>
            </p:cNvPr>
            <p:cNvSpPr txBox="1"/>
            <p:nvPr/>
          </p:nvSpPr>
          <p:spPr>
            <a:xfrm rot="1715645">
              <a:off x="3469059" y="2586586"/>
              <a:ext cx="1213506" cy="369332"/>
            </a:xfrm>
            <a:prstGeom prst="rect">
              <a:avLst/>
            </a:prstGeom>
            <a:noFill/>
          </p:spPr>
          <p:txBody>
            <a:bodyPr wrap="square" rtlCol="0">
              <a:spAutoFit/>
            </a:bodyPr>
            <a:lstStyle/>
            <a:p>
              <a:r>
                <a:rPr lang="en-US" altLang="zh-TW" dirty="0"/>
                <a:t>Scissors</a:t>
              </a:r>
              <a:endParaRPr lang="zh-TW" altLang="en-US" dirty="0"/>
            </a:p>
          </p:txBody>
        </p:sp>
        <p:sp>
          <p:nvSpPr>
            <p:cNvPr id="17" name="文字方塊 16">
              <a:extLst>
                <a:ext uri="{FF2B5EF4-FFF2-40B4-BE49-F238E27FC236}">
                  <a16:creationId xmlns:a16="http://schemas.microsoft.com/office/drawing/2014/main" id="{5E3F8DF2-760B-D1AA-8C44-47D95CAA4E78}"/>
                </a:ext>
              </a:extLst>
            </p:cNvPr>
            <p:cNvSpPr txBox="1"/>
            <p:nvPr/>
          </p:nvSpPr>
          <p:spPr>
            <a:xfrm rot="5400000">
              <a:off x="2547754" y="2966346"/>
              <a:ext cx="1213506" cy="369332"/>
            </a:xfrm>
            <a:prstGeom prst="rect">
              <a:avLst/>
            </a:prstGeom>
            <a:noFill/>
          </p:spPr>
          <p:txBody>
            <a:bodyPr wrap="square" rtlCol="0">
              <a:spAutoFit/>
            </a:bodyPr>
            <a:lstStyle/>
            <a:p>
              <a:r>
                <a:rPr lang="en-US" altLang="zh-TW" dirty="0"/>
                <a:t>Paper</a:t>
              </a:r>
              <a:endParaRPr lang="zh-TW" altLang="en-US" dirty="0"/>
            </a:p>
          </p:txBody>
        </p:sp>
        <p:grpSp>
          <p:nvGrpSpPr>
            <p:cNvPr id="18" name="群組 17">
              <a:extLst>
                <a:ext uri="{FF2B5EF4-FFF2-40B4-BE49-F238E27FC236}">
                  <a16:creationId xmlns:a16="http://schemas.microsoft.com/office/drawing/2014/main" id="{45576A29-A7E1-B617-44BA-0CCE83EF11EE}"/>
                </a:ext>
              </a:extLst>
            </p:cNvPr>
            <p:cNvGrpSpPr/>
            <p:nvPr/>
          </p:nvGrpSpPr>
          <p:grpSpPr>
            <a:xfrm>
              <a:off x="124229" y="3518527"/>
              <a:ext cx="1545231" cy="1310073"/>
              <a:chOff x="124229" y="3518527"/>
              <a:chExt cx="1545231" cy="1310073"/>
            </a:xfrm>
          </p:grpSpPr>
          <p:cxnSp>
            <p:nvCxnSpPr>
              <p:cNvPr id="49" name="直線單箭頭接點 48">
                <a:extLst>
                  <a:ext uri="{FF2B5EF4-FFF2-40B4-BE49-F238E27FC236}">
                    <a16:creationId xmlns:a16="http://schemas.microsoft.com/office/drawing/2014/main" id="{15AFEA3D-D683-3981-AC7B-161125E2DEF4}"/>
                  </a:ext>
                </a:extLst>
              </p:cNvPr>
              <p:cNvCxnSpPr>
                <a:stCxn id="6" idx="4"/>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E9281193-9D67-49B6-1619-48B99E4B7013}"/>
                  </a:ext>
                </a:extLst>
              </p:cNvPr>
              <p:cNvCxnSpPr>
                <a:stCxn id="6" idx="3"/>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59804742-E717-45DE-CC31-970AF0150CB2}"/>
                  </a:ext>
                </a:extLst>
              </p:cNvPr>
              <p:cNvCxnSpPr>
                <a:stCxn id="6" idx="5"/>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40EC76F5-320A-4B8C-2F75-E510FC9D1630}"/>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53" name="文字方塊 52">
                <a:extLst>
                  <a:ext uri="{FF2B5EF4-FFF2-40B4-BE49-F238E27FC236}">
                    <a16:creationId xmlns:a16="http://schemas.microsoft.com/office/drawing/2014/main" id="{CA8CCD7A-117D-E58D-AA14-42A9FA3FAE3D}"/>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54" name="文字方塊 53">
                <a:extLst>
                  <a:ext uri="{FF2B5EF4-FFF2-40B4-BE49-F238E27FC236}">
                    <a16:creationId xmlns:a16="http://schemas.microsoft.com/office/drawing/2014/main" id="{ADFB5979-9112-B6BB-11D5-E15F3A3BEBE3}"/>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grpSp>
          <p:nvGrpSpPr>
            <p:cNvPr id="20" name="群組 19">
              <a:extLst>
                <a:ext uri="{FF2B5EF4-FFF2-40B4-BE49-F238E27FC236}">
                  <a16:creationId xmlns:a16="http://schemas.microsoft.com/office/drawing/2014/main" id="{62D2ED05-26E5-DD21-8E48-06B7BD0C2E41}"/>
                </a:ext>
              </a:extLst>
            </p:cNvPr>
            <p:cNvGrpSpPr/>
            <p:nvPr/>
          </p:nvGrpSpPr>
          <p:grpSpPr>
            <a:xfrm>
              <a:off x="2256431" y="3511710"/>
              <a:ext cx="1545231" cy="1310073"/>
              <a:chOff x="124229" y="3518527"/>
              <a:chExt cx="1545231" cy="1310073"/>
            </a:xfrm>
          </p:grpSpPr>
          <p:cxnSp>
            <p:nvCxnSpPr>
              <p:cNvPr id="43" name="直線單箭頭接點 42">
                <a:extLst>
                  <a:ext uri="{FF2B5EF4-FFF2-40B4-BE49-F238E27FC236}">
                    <a16:creationId xmlns:a16="http://schemas.microsoft.com/office/drawing/2014/main" id="{63CBCBAD-4593-0267-E078-05B34325BDA8}"/>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1928195F-6FDD-F59B-1419-6C6BD4B7E7A3}"/>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88749DC4-5358-EF4A-9801-6690A99789F8}"/>
                  </a:ext>
                </a:extLst>
              </p:cNvPr>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9171D795-FD02-AB1A-09BC-DA4AEFFA6877}"/>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47" name="文字方塊 46">
                <a:extLst>
                  <a:ext uri="{FF2B5EF4-FFF2-40B4-BE49-F238E27FC236}">
                    <a16:creationId xmlns:a16="http://schemas.microsoft.com/office/drawing/2014/main" id="{BF383236-D206-6C26-D975-4A3C9FA21BDB}"/>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48" name="文字方塊 47">
                <a:extLst>
                  <a:ext uri="{FF2B5EF4-FFF2-40B4-BE49-F238E27FC236}">
                    <a16:creationId xmlns:a16="http://schemas.microsoft.com/office/drawing/2014/main" id="{447E27C0-7082-6C02-B0E6-170FDF2607CC}"/>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grpSp>
          <p:nvGrpSpPr>
            <p:cNvPr id="24" name="群組 23">
              <a:extLst>
                <a:ext uri="{FF2B5EF4-FFF2-40B4-BE49-F238E27FC236}">
                  <a16:creationId xmlns:a16="http://schemas.microsoft.com/office/drawing/2014/main" id="{0573ABC7-D5CD-8EFC-A21B-41FE3BD1720B}"/>
                </a:ext>
              </a:extLst>
            </p:cNvPr>
            <p:cNvGrpSpPr/>
            <p:nvPr/>
          </p:nvGrpSpPr>
          <p:grpSpPr>
            <a:xfrm>
              <a:off x="4444158" y="3519664"/>
              <a:ext cx="1545231" cy="1310073"/>
              <a:chOff x="124229" y="3518527"/>
              <a:chExt cx="1545231" cy="1310073"/>
            </a:xfrm>
          </p:grpSpPr>
          <p:cxnSp>
            <p:nvCxnSpPr>
              <p:cNvPr id="37" name="直線單箭頭接點 36">
                <a:extLst>
                  <a:ext uri="{FF2B5EF4-FFF2-40B4-BE49-F238E27FC236}">
                    <a16:creationId xmlns:a16="http://schemas.microsoft.com/office/drawing/2014/main" id="{3E01B353-8272-6BC8-9F22-295673EC4C24}"/>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20B35A1F-74AE-10CC-ADAA-709EDDE80EAA}"/>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71DF9074-AB4D-0443-9FB7-1883ACBA2363}"/>
                  </a:ext>
                </a:extLst>
              </p:cNvPr>
              <p:cNvCxnSpPr/>
              <p:nvPr/>
            </p:nvCxnSpPr>
            <p:spPr>
              <a:xfrm>
                <a:off x="1090065" y="3828004"/>
                <a:ext cx="292577"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13892788-695D-C13E-9B71-8D76D581CDDE}"/>
                  </a:ext>
                </a:extLst>
              </p:cNvPr>
              <p:cNvSpPr txBox="1"/>
              <p:nvPr/>
            </p:nvSpPr>
            <p:spPr>
              <a:xfrm rot="17641688">
                <a:off x="-114476" y="3757232"/>
                <a:ext cx="846741" cy="369332"/>
              </a:xfrm>
              <a:prstGeom prst="rect">
                <a:avLst/>
              </a:prstGeom>
              <a:noFill/>
            </p:spPr>
            <p:txBody>
              <a:bodyPr wrap="square" rtlCol="0">
                <a:spAutoFit/>
              </a:bodyPr>
              <a:lstStyle/>
              <a:p>
                <a:r>
                  <a:rPr lang="en-US" altLang="zh-TW" dirty="0"/>
                  <a:t>Rock</a:t>
                </a:r>
                <a:endParaRPr lang="zh-TW" altLang="en-US" dirty="0"/>
              </a:p>
            </p:txBody>
          </p:sp>
          <p:sp>
            <p:nvSpPr>
              <p:cNvPr id="41" name="文字方塊 40">
                <a:extLst>
                  <a:ext uri="{FF2B5EF4-FFF2-40B4-BE49-F238E27FC236}">
                    <a16:creationId xmlns:a16="http://schemas.microsoft.com/office/drawing/2014/main" id="{E2F9902A-21CA-FF06-6A62-7370C7DE1285}"/>
                  </a:ext>
                </a:extLst>
              </p:cNvPr>
              <p:cNvSpPr txBox="1"/>
              <p:nvPr/>
            </p:nvSpPr>
            <p:spPr>
              <a:xfrm rot="3958333">
                <a:off x="904794" y="4063934"/>
                <a:ext cx="1160000" cy="369332"/>
              </a:xfrm>
              <a:prstGeom prst="rect">
                <a:avLst/>
              </a:prstGeom>
              <a:noFill/>
            </p:spPr>
            <p:txBody>
              <a:bodyPr wrap="square" rtlCol="0">
                <a:spAutoFit/>
              </a:bodyPr>
              <a:lstStyle/>
              <a:p>
                <a:r>
                  <a:rPr lang="en-US" altLang="zh-TW" dirty="0"/>
                  <a:t>Scissors</a:t>
                </a:r>
                <a:endParaRPr lang="zh-TW" altLang="en-US" dirty="0"/>
              </a:p>
            </p:txBody>
          </p:sp>
          <p:sp>
            <p:nvSpPr>
              <p:cNvPr id="42" name="文字方塊 41">
                <a:extLst>
                  <a:ext uri="{FF2B5EF4-FFF2-40B4-BE49-F238E27FC236}">
                    <a16:creationId xmlns:a16="http://schemas.microsoft.com/office/drawing/2014/main" id="{8FAB4F99-ABB9-A0B6-688F-89C9A0E52BE0}"/>
                  </a:ext>
                </a:extLst>
              </p:cNvPr>
              <p:cNvSpPr txBox="1"/>
              <p:nvPr/>
            </p:nvSpPr>
            <p:spPr>
              <a:xfrm rot="5400000">
                <a:off x="539356" y="4066709"/>
                <a:ext cx="846741" cy="369332"/>
              </a:xfrm>
              <a:prstGeom prst="rect">
                <a:avLst/>
              </a:prstGeom>
              <a:noFill/>
            </p:spPr>
            <p:txBody>
              <a:bodyPr wrap="square" rtlCol="0">
                <a:spAutoFit/>
              </a:bodyPr>
              <a:lstStyle/>
              <a:p>
                <a:r>
                  <a:rPr lang="en-US" altLang="zh-TW" dirty="0"/>
                  <a:t>Paper</a:t>
                </a:r>
                <a:endParaRPr lang="zh-TW" altLang="en-US" dirty="0"/>
              </a:p>
            </p:txBody>
          </p:sp>
        </p:grpSp>
        <p:sp>
          <p:nvSpPr>
            <p:cNvPr id="25" name="文字方塊 24">
              <a:extLst>
                <a:ext uri="{FF2B5EF4-FFF2-40B4-BE49-F238E27FC236}">
                  <a16:creationId xmlns:a16="http://schemas.microsoft.com/office/drawing/2014/main" id="{CF48A14B-E1D5-BEE6-FA23-C623A2D71585}"/>
                </a:ext>
              </a:extLst>
            </p:cNvPr>
            <p:cNvSpPr txBox="1"/>
            <p:nvPr/>
          </p:nvSpPr>
          <p:spPr>
            <a:xfrm>
              <a:off x="84426" y="4491217"/>
              <a:ext cx="339148" cy="369332"/>
            </a:xfrm>
            <a:prstGeom prst="rect">
              <a:avLst/>
            </a:prstGeom>
            <a:noFill/>
          </p:spPr>
          <p:txBody>
            <a:bodyPr wrap="square" rtlCol="0">
              <a:spAutoFit/>
            </a:bodyPr>
            <a:lstStyle/>
            <a:p>
              <a:r>
                <a:rPr lang="en-US" altLang="zh-TW" dirty="0"/>
                <a:t>0</a:t>
              </a:r>
              <a:endParaRPr lang="zh-TW" altLang="en-US" dirty="0"/>
            </a:p>
          </p:txBody>
        </p:sp>
        <p:sp>
          <p:nvSpPr>
            <p:cNvPr id="26" name="文字方塊 25">
              <a:extLst>
                <a:ext uri="{FF2B5EF4-FFF2-40B4-BE49-F238E27FC236}">
                  <a16:creationId xmlns:a16="http://schemas.microsoft.com/office/drawing/2014/main" id="{38C03A5B-499E-F2E6-0668-46300850ECA1}"/>
                </a:ext>
              </a:extLst>
            </p:cNvPr>
            <p:cNvSpPr txBox="1"/>
            <p:nvPr/>
          </p:nvSpPr>
          <p:spPr>
            <a:xfrm>
              <a:off x="582521" y="4491217"/>
              <a:ext cx="524390" cy="369332"/>
            </a:xfrm>
            <a:prstGeom prst="rect">
              <a:avLst/>
            </a:prstGeom>
            <a:noFill/>
          </p:spPr>
          <p:txBody>
            <a:bodyPr wrap="square" rtlCol="0">
              <a:spAutoFit/>
            </a:bodyPr>
            <a:lstStyle/>
            <a:p>
              <a:r>
                <a:rPr lang="en-US" altLang="zh-TW" dirty="0"/>
                <a:t>-1</a:t>
              </a:r>
              <a:endParaRPr lang="zh-TW" altLang="en-US" dirty="0"/>
            </a:p>
          </p:txBody>
        </p:sp>
        <p:sp>
          <p:nvSpPr>
            <p:cNvPr id="27" name="文字方塊 26">
              <a:extLst>
                <a:ext uri="{FF2B5EF4-FFF2-40B4-BE49-F238E27FC236}">
                  <a16:creationId xmlns:a16="http://schemas.microsoft.com/office/drawing/2014/main" id="{9C643B0E-E00B-2106-1D8E-5646D7E2B935}"/>
                </a:ext>
              </a:extLst>
            </p:cNvPr>
            <p:cNvSpPr txBox="1"/>
            <p:nvPr/>
          </p:nvSpPr>
          <p:spPr>
            <a:xfrm>
              <a:off x="1217907" y="4505857"/>
              <a:ext cx="524390" cy="369332"/>
            </a:xfrm>
            <a:prstGeom prst="rect">
              <a:avLst/>
            </a:prstGeom>
            <a:noFill/>
          </p:spPr>
          <p:txBody>
            <a:bodyPr wrap="square" rtlCol="0">
              <a:spAutoFit/>
            </a:bodyPr>
            <a:lstStyle/>
            <a:p>
              <a:r>
                <a:rPr lang="en-US" altLang="zh-TW" dirty="0"/>
                <a:t>2</a:t>
              </a:r>
              <a:endParaRPr lang="zh-TW" altLang="en-US" dirty="0"/>
            </a:p>
          </p:txBody>
        </p:sp>
        <p:sp>
          <p:nvSpPr>
            <p:cNvPr id="28" name="文字方塊 27">
              <a:extLst>
                <a:ext uri="{FF2B5EF4-FFF2-40B4-BE49-F238E27FC236}">
                  <a16:creationId xmlns:a16="http://schemas.microsoft.com/office/drawing/2014/main" id="{5FFB4D88-6B01-CF82-676A-A291EB6B1F89}"/>
                </a:ext>
              </a:extLst>
            </p:cNvPr>
            <p:cNvSpPr txBox="1"/>
            <p:nvPr/>
          </p:nvSpPr>
          <p:spPr>
            <a:xfrm>
              <a:off x="2232391" y="4489816"/>
              <a:ext cx="339148" cy="369332"/>
            </a:xfrm>
            <a:prstGeom prst="rect">
              <a:avLst/>
            </a:prstGeom>
            <a:noFill/>
          </p:spPr>
          <p:txBody>
            <a:bodyPr wrap="square" rtlCol="0">
              <a:spAutoFit/>
            </a:bodyPr>
            <a:lstStyle/>
            <a:p>
              <a:r>
                <a:rPr lang="en-US" altLang="zh-TW" dirty="0"/>
                <a:t>1</a:t>
              </a:r>
              <a:endParaRPr lang="zh-TW" altLang="en-US" dirty="0"/>
            </a:p>
          </p:txBody>
        </p:sp>
        <p:sp>
          <p:nvSpPr>
            <p:cNvPr id="29" name="文字方塊 28">
              <a:extLst>
                <a:ext uri="{FF2B5EF4-FFF2-40B4-BE49-F238E27FC236}">
                  <a16:creationId xmlns:a16="http://schemas.microsoft.com/office/drawing/2014/main" id="{3156E040-CA73-997A-74A3-7437F1FF6393}"/>
                </a:ext>
              </a:extLst>
            </p:cNvPr>
            <p:cNvSpPr txBox="1"/>
            <p:nvPr/>
          </p:nvSpPr>
          <p:spPr>
            <a:xfrm>
              <a:off x="2807486" y="4489816"/>
              <a:ext cx="524390" cy="369332"/>
            </a:xfrm>
            <a:prstGeom prst="rect">
              <a:avLst/>
            </a:prstGeom>
            <a:noFill/>
          </p:spPr>
          <p:txBody>
            <a:bodyPr wrap="square" rtlCol="0">
              <a:spAutoFit/>
            </a:bodyPr>
            <a:lstStyle/>
            <a:p>
              <a:r>
                <a:rPr lang="en-US" altLang="zh-TW" dirty="0"/>
                <a:t>0</a:t>
              </a:r>
              <a:endParaRPr lang="zh-TW" altLang="en-US" dirty="0"/>
            </a:p>
          </p:txBody>
        </p:sp>
        <p:sp>
          <p:nvSpPr>
            <p:cNvPr id="30" name="文字方塊 29">
              <a:extLst>
                <a:ext uri="{FF2B5EF4-FFF2-40B4-BE49-F238E27FC236}">
                  <a16:creationId xmlns:a16="http://schemas.microsoft.com/office/drawing/2014/main" id="{1F2BE932-A21B-A946-CE7C-C0A31F96C01A}"/>
                </a:ext>
              </a:extLst>
            </p:cNvPr>
            <p:cNvSpPr txBox="1"/>
            <p:nvPr/>
          </p:nvSpPr>
          <p:spPr>
            <a:xfrm>
              <a:off x="3336997" y="4504456"/>
              <a:ext cx="524390" cy="369332"/>
            </a:xfrm>
            <a:prstGeom prst="rect">
              <a:avLst/>
            </a:prstGeom>
            <a:noFill/>
          </p:spPr>
          <p:txBody>
            <a:bodyPr wrap="square" rtlCol="0">
              <a:spAutoFit/>
            </a:bodyPr>
            <a:lstStyle/>
            <a:p>
              <a:r>
                <a:rPr lang="en-US" altLang="zh-TW" dirty="0"/>
                <a:t>-2</a:t>
              </a:r>
              <a:endParaRPr lang="zh-TW" altLang="en-US" dirty="0"/>
            </a:p>
          </p:txBody>
        </p:sp>
        <p:sp>
          <p:nvSpPr>
            <p:cNvPr id="31" name="文字方塊 30">
              <a:extLst>
                <a:ext uri="{FF2B5EF4-FFF2-40B4-BE49-F238E27FC236}">
                  <a16:creationId xmlns:a16="http://schemas.microsoft.com/office/drawing/2014/main" id="{286FEF46-C46B-32AA-F929-DEEB06429A35}"/>
                </a:ext>
              </a:extLst>
            </p:cNvPr>
            <p:cNvSpPr txBox="1"/>
            <p:nvPr/>
          </p:nvSpPr>
          <p:spPr>
            <a:xfrm>
              <a:off x="4366081" y="4506053"/>
              <a:ext cx="524390" cy="369332"/>
            </a:xfrm>
            <a:prstGeom prst="rect">
              <a:avLst/>
            </a:prstGeom>
            <a:noFill/>
          </p:spPr>
          <p:txBody>
            <a:bodyPr wrap="square" rtlCol="0">
              <a:spAutoFit/>
            </a:bodyPr>
            <a:lstStyle/>
            <a:p>
              <a:r>
                <a:rPr lang="en-US" altLang="zh-TW" dirty="0"/>
                <a:t>-2</a:t>
              </a:r>
              <a:endParaRPr lang="zh-TW" altLang="en-US" dirty="0"/>
            </a:p>
          </p:txBody>
        </p:sp>
        <p:sp>
          <p:nvSpPr>
            <p:cNvPr id="32" name="文字方塊 31">
              <a:extLst>
                <a:ext uri="{FF2B5EF4-FFF2-40B4-BE49-F238E27FC236}">
                  <a16:creationId xmlns:a16="http://schemas.microsoft.com/office/drawing/2014/main" id="{6DEA958A-4D4C-FCDC-7C0C-89448F2B84EF}"/>
                </a:ext>
              </a:extLst>
            </p:cNvPr>
            <p:cNvSpPr txBox="1"/>
            <p:nvPr/>
          </p:nvSpPr>
          <p:spPr>
            <a:xfrm>
              <a:off x="5001289" y="4506053"/>
              <a:ext cx="524390" cy="369332"/>
            </a:xfrm>
            <a:prstGeom prst="rect">
              <a:avLst/>
            </a:prstGeom>
            <a:noFill/>
          </p:spPr>
          <p:txBody>
            <a:bodyPr wrap="square" rtlCol="0">
              <a:spAutoFit/>
            </a:bodyPr>
            <a:lstStyle/>
            <a:p>
              <a:r>
                <a:rPr lang="en-US" altLang="zh-TW" dirty="0"/>
                <a:t>2</a:t>
              </a:r>
              <a:endParaRPr lang="zh-TW" altLang="en-US" dirty="0"/>
            </a:p>
          </p:txBody>
        </p:sp>
        <p:sp>
          <p:nvSpPr>
            <p:cNvPr id="33" name="文字方塊 32">
              <a:extLst>
                <a:ext uri="{FF2B5EF4-FFF2-40B4-BE49-F238E27FC236}">
                  <a16:creationId xmlns:a16="http://schemas.microsoft.com/office/drawing/2014/main" id="{711C4622-B63C-64D6-BDB8-EA09E04B3B5A}"/>
                </a:ext>
              </a:extLst>
            </p:cNvPr>
            <p:cNvSpPr txBox="1"/>
            <p:nvPr/>
          </p:nvSpPr>
          <p:spPr>
            <a:xfrm>
              <a:off x="5559675" y="4520693"/>
              <a:ext cx="524390" cy="369332"/>
            </a:xfrm>
            <a:prstGeom prst="rect">
              <a:avLst/>
            </a:prstGeom>
            <a:noFill/>
          </p:spPr>
          <p:txBody>
            <a:bodyPr wrap="square" rtlCol="0">
              <a:spAutoFit/>
            </a:bodyPr>
            <a:lstStyle/>
            <a:p>
              <a:r>
                <a:rPr lang="en-US" altLang="zh-TW" dirty="0"/>
                <a:t>0</a:t>
              </a:r>
              <a:endParaRPr lang="zh-TW" altLang="en-US" dirty="0"/>
            </a:p>
          </p:txBody>
        </p:sp>
        <p:sp>
          <p:nvSpPr>
            <p:cNvPr id="34" name="文字方塊 33">
              <a:extLst>
                <a:ext uri="{FF2B5EF4-FFF2-40B4-BE49-F238E27FC236}">
                  <a16:creationId xmlns:a16="http://schemas.microsoft.com/office/drawing/2014/main" id="{969E439E-6229-FEE3-EC85-AA0E5D9B6293}"/>
                </a:ext>
              </a:extLst>
            </p:cNvPr>
            <p:cNvSpPr txBox="1"/>
            <p:nvPr/>
          </p:nvSpPr>
          <p:spPr>
            <a:xfrm>
              <a:off x="380011" y="2929542"/>
              <a:ext cx="1090603" cy="369332"/>
            </a:xfrm>
            <a:prstGeom prst="rect">
              <a:avLst/>
            </a:prstGeom>
            <a:noFill/>
          </p:spPr>
          <p:txBody>
            <a:bodyPr wrap="square" rtlCol="0">
              <a:spAutoFit/>
            </a:bodyPr>
            <a:lstStyle/>
            <a:p>
              <a:r>
                <a:rPr lang="en-US" altLang="zh-TW" dirty="0">
                  <a:solidFill>
                    <a:schemeClr val="accent1"/>
                  </a:solidFill>
                </a:rPr>
                <a:t>P = 0.33</a:t>
              </a:r>
              <a:endParaRPr lang="zh-TW" altLang="en-US" dirty="0">
                <a:solidFill>
                  <a:schemeClr val="accent1"/>
                </a:solidFill>
              </a:endParaRPr>
            </a:p>
          </p:txBody>
        </p:sp>
        <p:sp>
          <p:nvSpPr>
            <p:cNvPr id="35" name="文字方塊 34">
              <a:extLst>
                <a:ext uri="{FF2B5EF4-FFF2-40B4-BE49-F238E27FC236}">
                  <a16:creationId xmlns:a16="http://schemas.microsoft.com/office/drawing/2014/main" id="{664B5B46-BE6A-287B-4999-5E36C08DB951}"/>
                </a:ext>
              </a:extLst>
            </p:cNvPr>
            <p:cNvSpPr txBox="1"/>
            <p:nvPr/>
          </p:nvSpPr>
          <p:spPr>
            <a:xfrm>
              <a:off x="2086141" y="2914537"/>
              <a:ext cx="1090603" cy="369332"/>
            </a:xfrm>
            <a:prstGeom prst="rect">
              <a:avLst/>
            </a:prstGeom>
            <a:noFill/>
          </p:spPr>
          <p:txBody>
            <a:bodyPr wrap="square" rtlCol="0">
              <a:spAutoFit/>
            </a:bodyPr>
            <a:lstStyle/>
            <a:p>
              <a:r>
                <a:rPr lang="en-US" altLang="zh-TW" dirty="0">
                  <a:solidFill>
                    <a:schemeClr val="accent1"/>
                  </a:solidFill>
                </a:rPr>
                <a:t>P = 0.33</a:t>
              </a:r>
              <a:endParaRPr lang="zh-TW" altLang="en-US" dirty="0">
                <a:solidFill>
                  <a:schemeClr val="accent1"/>
                </a:solidFill>
              </a:endParaRPr>
            </a:p>
          </p:txBody>
        </p:sp>
        <p:sp>
          <p:nvSpPr>
            <p:cNvPr id="36" name="文字方塊 35">
              <a:extLst>
                <a:ext uri="{FF2B5EF4-FFF2-40B4-BE49-F238E27FC236}">
                  <a16:creationId xmlns:a16="http://schemas.microsoft.com/office/drawing/2014/main" id="{A09B879B-D31D-F4E6-A273-D3C36AF9FECC}"/>
                </a:ext>
              </a:extLst>
            </p:cNvPr>
            <p:cNvSpPr txBox="1"/>
            <p:nvPr/>
          </p:nvSpPr>
          <p:spPr>
            <a:xfrm>
              <a:off x="4668068" y="2923410"/>
              <a:ext cx="1090603" cy="369332"/>
            </a:xfrm>
            <a:prstGeom prst="rect">
              <a:avLst/>
            </a:prstGeom>
            <a:noFill/>
          </p:spPr>
          <p:txBody>
            <a:bodyPr wrap="square" rtlCol="0">
              <a:spAutoFit/>
            </a:bodyPr>
            <a:lstStyle/>
            <a:p>
              <a:r>
                <a:rPr lang="en-US" altLang="zh-TW" dirty="0">
                  <a:solidFill>
                    <a:schemeClr val="accent1"/>
                  </a:solidFill>
                </a:rPr>
                <a:t>P = 0.33</a:t>
              </a:r>
              <a:endParaRPr lang="zh-TW" altLang="en-US" dirty="0">
                <a:solidFill>
                  <a:schemeClr val="accent1"/>
                </a:solidFill>
              </a:endParaRPr>
            </a:p>
          </p:txBody>
        </p:sp>
      </p:grpSp>
      <p:sp>
        <p:nvSpPr>
          <p:cNvPr id="108" name="文字方塊 107">
            <a:extLst>
              <a:ext uri="{FF2B5EF4-FFF2-40B4-BE49-F238E27FC236}">
                <a16:creationId xmlns:a16="http://schemas.microsoft.com/office/drawing/2014/main" id="{E561EB81-63D7-D649-B522-30D50F4F62E7}"/>
              </a:ext>
            </a:extLst>
          </p:cNvPr>
          <p:cNvSpPr txBox="1"/>
          <p:nvPr/>
        </p:nvSpPr>
        <p:spPr>
          <a:xfrm>
            <a:off x="951437" y="5377543"/>
            <a:ext cx="10238312" cy="1200329"/>
          </a:xfrm>
          <a:prstGeom prst="rect">
            <a:avLst/>
          </a:prstGeom>
          <a:noFill/>
        </p:spPr>
        <p:txBody>
          <a:bodyPr wrap="square" rtlCol="0">
            <a:spAutoFit/>
          </a:bodyPr>
          <a:lstStyle/>
          <a:p>
            <a:r>
              <a:rPr kumimoji="1" lang="en-US" altLang="zh-TW" dirty="0"/>
              <a:t>At leaf node, allow other player one final action choosing between multiple policies for the remaining game</a:t>
            </a:r>
          </a:p>
          <a:p>
            <a:r>
              <a:rPr kumimoji="1" lang="en-US" altLang="zh-TW" dirty="0"/>
              <a:t>Step 1: Solve subgame with current set of P2 leaf-node policies</a:t>
            </a:r>
          </a:p>
          <a:p>
            <a:r>
              <a:rPr kumimoji="1" lang="en-US" altLang="zh-TW" dirty="0"/>
              <a:t>Step 2: Calculate a P2 best response</a:t>
            </a:r>
          </a:p>
          <a:p>
            <a:r>
              <a:rPr kumimoji="1" lang="en-US" altLang="zh-TW" dirty="0"/>
              <a:t>Step 3: Add P2 best response to set of leaf-node policies</a:t>
            </a:r>
            <a:endParaRPr kumimoji="1" lang="zh-TW" altLang="en-US" dirty="0"/>
          </a:p>
        </p:txBody>
      </p:sp>
      <p:grpSp>
        <p:nvGrpSpPr>
          <p:cNvPr id="80" name="群組 79">
            <a:extLst>
              <a:ext uri="{FF2B5EF4-FFF2-40B4-BE49-F238E27FC236}">
                <a16:creationId xmlns:a16="http://schemas.microsoft.com/office/drawing/2014/main" id="{FD45F7A1-5266-724B-B702-BAEBF206BCDD}"/>
              </a:ext>
            </a:extLst>
          </p:cNvPr>
          <p:cNvGrpSpPr/>
          <p:nvPr/>
        </p:nvGrpSpPr>
        <p:grpSpPr>
          <a:xfrm>
            <a:off x="7034663" y="2698238"/>
            <a:ext cx="4526042" cy="2281265"/>
            <a:chOff x="84426" y="1945757"/>
            <a:chExt cx="5451590" cy="3054874"/>
          </a:xfrm>
        </p:grpSpPr>
        <p:sp>
          <p:nvSpPr>
            <p:cNvPr id="81" name="橢圓 80">
              <a:extLst>
                <a:ext uri="{FF2B5EF4-FFF2-40B4-BE49-F238E27FC236}">
                  <a16:creationId xmlns:a16="http://schemas.microsoft.com/office/drawing/2014/main" id="{532E6ECE-6A1D-AB49-8D04-E3664C7EF2A8}"/>
                </a:ext>
              </a:extLst>
            </p:cNvPr>
            <p:cNvSpPr/>
            <p:nvPr/>
          </p:nvSpPr>
          <p:spPr>
            <a:xfrm>
              <a:off x="2615608" y="1945757"/>
              <a:ext cx="712382" cy="712382"/>
            </a:xfrm>
            <a:prstGeom prst="ellipse">
              <a:avLst/>
            </a:prstGeom>
            <a:solidFill>
              <a:srgbClr val="0069C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1</a:t>
              </a:r>
              <a:endParaRPr lang="zh-TW" altLang="en-US" baseline="-25000" dirty="0">
                <a:solidFill>
                  <a:schemeClr val="tx1"/>
                </a:solidFill>
              </a:endParaRPr>
            </a:p>
          </p:txBody>
        </p:sp>
        <p:sp>
          <p:nvSpPr>
            <p:cNvPr id="83" name="橢圓 82">
              <a:extLst>
                <a:ext uri="{FF2B5EF4-FFF2-40B4-BE49-F238E27FC236}">
                  <a16:creationId xmlns:a16="http://schemas.microsoft.com/office/drawing/2014/main" id="{D96674FE-11A0-B54B-9003-369E7AB85435}"/>
                </a:ext>
              </a:extLst>
            </p:cNvPr>
            <p:cNvSpPr/>
            <p:nvPr/>
          </p:nvSpPr>
          <p:spPr>
            <a:xfrm>
              <a:off x="482009"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84" name="橢圓 83">
              <a:extLst>
                <a:ext uri="{FF2B5EF4-FFF2-40B4-BE49-F238E27FC236}">
                  <a16:creationId xmlns:a16="http://schemas.microsoft.com/office/drawing/2014/main" id="{BAFF5F74-7A9D-3143-B117-C5D1C3D5CF76}"/>
                </a:ext>
              </a:extLst>
            </p:cNvPr>
            <p:cNvSpPr/>
            <p:nvPr/>
          </p:nvSpPr>
          <p:spPr>
            <a:xfrm>
              <a:off x="2615608"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sp>
          <p:nvSpPr>
            <p:cNvPr id="85" name="橢圓 84">
              <a:extLst>
                <a:ext uri="{FF2B5EF4-FFF2-40B4-BE49-F238E27FC236}">
                  <a16:creationId xmlns:a16="http://schemas.microsoft.com/office/drawing/2014/main" id="{AA62958B-5ACD-074E-8922-4A6EA1DD4550}"/>
                </a:ext>
              </a:extLst>
            </p:cNvPr>
            <p:cNvSpPr/>
            <p:nvPr/>
          </p:nvSpPr>
          <p:spPr>
            <a:xfrm>
              <a:off x="4823634" y="3219948"/>
              <a:ext cx="712382" cy="712382"/>
            </a:xfrm>
            <a:prstGeom prst="ellipse">
              <a:avLst/>
            </a:prstGeom>
            <a:solidFill>
              <a:srgbClr val="FF6F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a:t>
              </a:r>
              <a:r>
                <a:rPr lang="en-US" altLang="zh-TW" baseline="-25000" dirty="0">
                  <a:solidFill>
                    <a:schemeClr val="tx1"/>
                  </a:solidFill>
                </a:rPr>
                <a:t>2</a:t>
              </a:r>
              <a:endParaRPr lang="zh-TW" altLang="en-US" baseline="-25000" dirty="0">
                <a:solidFill>
                  <a:schemeClr val="tx1"/>
                </a:solidFill>
              </a:endParaRPr>
            </a:p>
          </p:txBody>
        </p:sp>
        <p:cxnSp>
          <p:nvCxnSpPr>
            <p:cNvPr id="86" name="直線接點 85">
              <a:extLst>
                <a:ext uri="{FF2B5EF4-FFF2-40B4-BE49-F238E27FC236}">
                  <a16:creationId xmlns:a16="http://schemas.microsoft.com/office/drawing/2014/main" id="{6FFE4E9F-7CFC-D946-87E9-5EF78805DBD3}"/>
                </a:ext>
              </a:extLst>
            </p:cNvPr>
            <p:cNvCxnSpPr>
              <a:cxnSpLocks/>
              <a:stCxn id="84" idx="6"/>
              <a:endCxn id="85" idx="2"/>
            </p:cNvCxnSpPr>
            <p:nvPr/>
          </p:nvCxnSpPr>
          <p:spPr>
            <a:xfrm>
              <a:off x="3327990" y="3576139"/>
              <a:ext cx="149564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8" name="直線接點 87">
              <a:extLst>
                <a:ext uri="{FF2B5EF4-FFF2-40B4-BE49-F238E27FC236}">
                  <a16:creationId xmlns:a16="http://schemas.microsoft.com/office/drawing/2014/main" id="{08E42215-97AF-FF4B-9588-43A4B6DCC0F1}"/>
                </a:ext>
              </a:extLst>
            </p:cNvPr>
            <p:cNvCxnSpPr>
              <a:stCxn id="84" idx="2"/>
              <a:endCxn id="83" idx="6"/>
            </p:cNvCxnSpPr>
            <p:nvPr/>
          </p:nvCxnSpPr>
          <p:spPr>
            <a:xfrm flipH="1">
              <a:off x="1194391" y="3576139"/>
              <a:ext cx="1421217"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9" name="直線單箭頭接點 10">
              <a:extLst>
                <a:ext uri="{FF2B5EF4-FFF2-40B4-BE49-F238E27FC236}">
                  <a16:creationId xmlns:a16="http://schemas.microsoft.com/office/drawing/2014/main" id="{B9E306CE-734D-6846-8D3C-9DCDD3AC155C}"/>
                </a:ext>
              </a:extLst>
            </p:cNvPr>
            <p:cNvCxnSpPr>
              <a:stCxn id="81" idx="3"/>
              <a:endCxn id="83" idx="7"/>
            </p:cNvCxnSpPr>
            <p:nvPr/>
          </p:nvCxnSpPr>
          <p:spPr>
            <a:xfrm flipH="1">
              <a:off x="1090065" y="2553813"/>
              <a:ext cx="1629869"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11">
              <a:extLst>
                <a:ext uri="{FF2B5EF4-FFF2-40B4-BE49-F238E27FC236}">
                  <a16:creationId xmlns:a16="http://schemas.microsoft.com/office/drawing/2014/main" id="{CC49CFBB-13E9-AD49-932A-FD6A7A06F41D}"/>
                </a:ext>
              </a:extLst>
            </p:cNvPr>
            <p:cNvCxnSpPr>
              <a:cxnSpLocks/>
              <a:stCxn id="81" idx="4"/>
              <a:endCxn id="84" idx="0"/>
            </p:cNvCxnSpPr>
            <p:nvPr/>
          </p:nvCxnSpPr>
          <p:spPr>
            <a:xfrm>
              <a:off x="2971799" y="2658139"/>
              <a:ext cx="0" cy="5618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12">
              <a:extLst>
                <a:ext uri="{FF2B5EF4-FFF2-40B4-BE49-F238E27FC236}">
                  <a16:creationId xmlns:a16="http://schemas.microsoft.com/office/drawing/2014/main" id="{AD24752F-7B14-9949-9B35-14EFA8BD0A1C}"/>
                </a:ext>
              </a:extLst>
            </p:cNvPr>
            <p:cNvCxnSpPr>
              <a:stCxn id="81" idx="5"/>
              <a:endCxn id="85" idx="1"/>
            </p:cNvCxnSpPr>
            <p:nvPr/>
          </p:nvCxnSpPr>
          <p:spPr>
            <a:xfrm>
              <a:off x="3223664" y="2553813"/>
              <a:ext cx="1704296" cy="770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字方塊 91">
              <a:extLst>
                <a:ext uri="{FF2B5EF4-FFF2-40B4-BE49-F238E27FC236}">
                  <a16:creationId xmlns:a16="http://schemas.microsoft.com/office/drawing/2014/main" id="{CB71642D-9E2A-AE4E-BE4C-20A6CCB3DC2D}"/>
                </a:ext>
              </a:extLst>
            </p:cNvPr>
            <p:cNvSpPr txBox="1"/>
            <p:nvPr/>
          </p:nvSpPr>
          <p:spPr>
            <a:xfrm rot="19739989">
              <a:off x="1359150" y="2305716"/>
              <a:ext cx="1213506" cy="453362"/>
            </a:xfrm>
            <a:prstGeom prst="rect">
              <a:avLst/>
            </a:prstGeom>
            <a:noFill/>
          </p:spPr>
          <p:txBody>
            <a:bodyPr wrap="square" rtlCol="0">
              <a:spAutoFit/>
            </a:bodyPr>
            <a:lstStyle/>
            <a:p>
              <a:r>
                <a:rPr lang="en-US" altLang="zh-TW" sz="1600" dirty="0"/>
                <a:t>Rock</a:t>
              </a:r>
              <a:endParaRPr lang="zh-TW" altLang="en-US" dirty="0"/>
            </a:p>
          </p:txBody>
        </p:sp>
        <p:sp>
          <p:nvSpPr>
            <p:cNvPr id="94" name="文字方塊 93">
              <a:extLst>
                <a:ext uri="{FF2B5EF4-FFF2-40B4-BE49-F238E27FC236}">
                  <a16:creationId xmlns:a16="http://schemas.microsoft.com/office/drawing/2014/main" id="{D7D1A89E-EB41-FB4C-A4B2-6322B86E2A53}"/>
                </a:ext>
              </a:extLst>
            </p:cNvPr>
            <p:cNvSpPr txBox="1"/>
            <p:nvPr/>
          </p:nvSpPr>
          <p:spPr>
            <a:xfrm rot="1715645">
              <a:off x="3585347" y="2471899"/>
              <a:ext cx="1213506" cy="453362"/>
            </a:xfrm>
            <a:prstGeom prst="rect">
              <a:avLst/>
            </a:prstGeom>
            <a:noFill/>
          </p:spPr>
          <p:txBody>
            <a:bodyPr wrap="square" rtlCol="0">
              <a:spAutoFit/>
            </a:bodyPr>
            <a:lstStyle/>
            <a:p>
              <a:r>
                <a:rPr lang="en-US" altLang="zh-TW" sz="1600" dirty="0"/>
                <a:t>Scissors</a:t>
              </a:r>
              <a:endParaRPr lang="zh-TW" altLang="en-US" dirty="0"/>
            </a:p>
          </p:txBody>
        </p:sp>
        <p:sp>
          <p:nvSpPr>
            <p:cNvPr id="95" name="文字方塊 94">
              <a:extLst>
                <a:ext uri="{FF2B5EF4-FFF2-40B4-BE49-F238E27FC236}">
                  <a16:creationId xmlns:a16="http://schemas.microsoft.com/office/drawing/2014/main" id="{D2C56DB6-E384-0944-8175-3C3F0CDBAE05}"/>
                </a:ext>
              </a:extLst>
            </p:cNvPr>
            <p:cNvSpPr txBox="1"/>
            <p:nvPr/>
          </p:nvSpPr>
          <p:spPr>
            <a:xfrm rot="5400000">
              <a:off x="2601672" y="2913070"/>
              <a:ext cx="1213506" cy="407786"/>
            </a:xfrm>
            <a:prstGeom prst="rect">
              <a:avLst/>
            </a:prstGeom>
            <a:noFill/>
          </p:spPr>
          <p:txBody>
            <a:bodyPr wrap="square" rtlCol="0">
              <a:spAutoFit/>
            </a:bodyPr>
            <a:lstStyle/>
            <a:p>
              <a:r>
                <a:rPr lang="en-US" altLang="zh-TW" sz="1600" dirty="0"/>
                <a:t>Paper</a:t>
              </a:r>
              <a:endParaRPr lang="zh-TW" altLang="en-US" dirty="0"/>
            </a:p>
          </p:txBody>
        </p:sp>
        <p:grpSp>
          <p:nvGrpSpPr>
            <p:cNvPr id="96" name="群組 95">
              <a:extLst>
                <a:ext uri="{FF2B5EF4-FFF2-40B4-BE49-F238E27FC236}">
                  <a16:creationId xmlns:a16="http://schemas.microsoft.com/office/drawing/2014/main" id="{65556D6E-ADE9-EA48-8D0D-A87142FAB5EA}"/>
                </a:ext>
              </a:extLst>
            </p:cNvPr>
            <p:cNvGrpSpPr/>
            <p:nvPr/>
          </p:nvGrpSpPr>
          <p:grpSpPr>
            <a:xfrm>
              <a:off x="254000" y="3828004"/>
              <a:ext cx="584200" cy="712246"/>
              <a:chOff x="254000" y="3828004"/>
              <a:chExt cx="584200" cy="712246"/>
            </a:xfrm>
          </p:grpSpPr>
          <p:cxnSp>
            <p:nvCxnSpPr>
              <p:cNvPr id="128" name="直線單箭頭接點 48">
                <a:extLst>
                  <a:ext uri="{FF2B5EF4-FFF2-40B4-BE49-F238E27FC236}">
                    <a16:creationId xmlns:a16="http://schemas.microsoft.com/office/drawing/2014/main" id="{9B403D46-8132-FF43-96B6-566C471F5609}"/>
                  </a:ext>
                </a:extLst>
              </p:cNvPr>
              <p:cNvCxnSpPr>
                <a:stCxn id="83" idx="4"/>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49">
                <a:extLst>
                  <a:ext uri="{FF2B5EF4-FFF2-40B4-BE49-F238E27FC236}">
                    <a16:creationId xmlns:a16="http://schemas.microsoft.com/office/drawing/2014/main" id="{38CF33C3-06C4-8348-89EE-6008BE56B303}"/>
                  </a:ext>
                </a:extLst>
              </p:cNvPr>
              <p:cNvCxnSpPr>
                <a:stCxn id="83" idx="3"/>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7" name="群組 96">
              <a:extLst>
                <a:ext uri="{FF2B5EF4-FFF2-40B4-BE49-F238E27FC236}">
                  <a16:creationId xmlns:a16="http://schemas.microsoft.com/office/drawing/2014/main" id="{B7042F5C-DE38-2545-A8F8-F43068E31149}"/>
                </a:ext>
              </a:extLst>
            </p:cNvPr>
            <p:cNvGrpSpPr/>
            <p:nvPr/>
          </p:nvGrpSpPr>
          <p:grpSpPr>
            <a:xfrm>
              <a:off x="2386202" y="3821187"/>
              <a:ext cx="584200" cy="712246"/>
              <a:chOff x="254000" y="3828004"/>
              <a:chExt cx="584200" cy="712246"/>
            </a:xfrm>
          </p:grpSpPr>
          <p:cxnSp>
            <p:nvCxnSpPr>
              <p:cNvPr id="122" name="直線單箭頭接點 42">
                <a:extLst>
                  <a:ext uri="{FF2B5EF4-FFF2-40B4-BE49-F238E27FC236}">
                    <a16:creationId xmlns:a16="http://schemas.microsoft.com/office/drawing/2014/main" id="{B131C930-B470-B147-8630-64FB35ECD752}"/>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43">
                <a:extLst>
                  <a:ext uri="{FF2B5EF4-FFF2-40B4-BE49-F238E27FC236}">
                    <a16:creationId xmlns:a16="http://schemas.microsoft.com/office/drawing/2014/main" id="{4A27A139-7A2A-1D4E-9D0B-737F1D737A99}"/>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8" name="群組 97">
              <a:extLst>
                <a:ext uri="{FF2B5EF4-FFF2-40B4-BE49-F238E27FC236}">
                  <a16:creationId xmlns:a16="http://schemas.microsoft.com/office/drawing/2014/main" id="{59330694-1A23-C448-897D-530F80A277CE}"/>
                </a:ext>
              </a:extLst>
            </p:cNvPr>
            <p:cNvGrpSpPr/>
            <p:nvPr/>
          </p:nvGrpSpPr>
          <p:grpSpPr>
            <a:xfrm>
              <a:off x="4573929" y="3829141"/>
              <a:ext cx="584200" cy="712246"/>
              <a:chOff x="254000" y="3828004"/>
              <a:chExt cx="584200" cy="712246"/>
            </a:xfrm>
          </p:grpSpPr>
          <p:cxnSp>
            <p:nvCxnSpPr>
              <p:cNvPr id="116" name="直線單箭頭接點 36">
                <a:extLst>
                  <a:ext uri="{FF2B5EF4-FFF2-40B4-BE49-F238E27FC236}">
                    <a16:creationId xmlns:a16="http://schemas.microsoft.com/office/drawing/2014/main" id="{BF574D81-B5AE-9E46-B98A-246B0B1218F7}"/>
                  </a:ext>
                </a:extLst>
              </p:cNvPr>
              <p:cNvCxnSpPr/>
              <p:nvPr/>
            </p:nvCxnSpPr>
            <p:spPr>
              <a:xfrm>
                <a:off x="838200" y="3932330"/>
                <a:ext cx="0" cy="6079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單箭頭接點 37">
                <a:extLst>
                  <a:ext uri="{FF2B5EF4-FFF2-40B4-BE49-F238E27FC236}">
                    <a16:creationId xmlns:a16="http://schemas.microsoft.com/office/drawing/2014/main" id="{E582DC3A-1454-9241-8750-DB777B3B4A7F}"/>
                  </a:ext>
                </a:extLst>
              </p:cNvPr>
              <p:cNvCxnSpPr/>
              <p:nvPr/>
            </p:nvCxnSpPr>
            <p:spPr>
              <a:xfrm flipH="1">
                <a:off x="254000" y="3828004"/>
                <a:ext cx="332335" cy="7122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0" name="文字方塊 99">
              <a:extLst>
                <a:ext uri="{FF2B5EF4-FFF2-40B4-BE49-F238E27FC236}">
                  <a16:creationId xmlns:a16="http://schemas.microsoft.com/office/drawing/2014/main" id="{C3357CC7-27CE-524E-A3ED-8F4710E8FBC2}"/>
                </a:ext>
              </a:extLst>
            </p:cNvPr>
            <p:cNvSpPr txBox="1"/>
            <p:nvPr/>
          </p:nvSpPr>
          <p:spPr>
            <a:xfrm>
              <a:off x="84426" y="4491217"/>
              <a:ext cx="339148" cy="369332"/>
            </a:xfrm>
            <a:prstGeom prst="rect">
              <a:avLst/>
            </a:prstGeom>
            <a:noFill/>
          </p:spPr>
          <p:txBody>
            <a:bodyPr wrap="square" rtlCol="0">
              <a:spAutoFit/>
            </a:bodyPr>
            <a:lstStyle/>
            <a:p>
              <a:r>
                <a:rPr lang="en-US" altLang="zh-TW" dirty="0"/>
                <a:t>0</a:t>
              </a:r>
              <a:endParaRPr lang="zh-TW" altLang="en-US" dirty="0"/>
            </a:p>
          </p:txBody>
        </p:sp>
        <p:sp>
          <p:nvSpPr>
            <p:cNvPr id="101" name="文字方塊 100">
              <a:extLst>
                <a:ext uri="{FF2B5EF4-FFF2-40B4-BE49-F238E27FC236}">
                  <a16:creationId xmlns:a16="http://schemas.microsoft.com/office/drawing/2014/main" id="{88C6A520-6745-A74A-923A-885F50FAD75E}"/>
                </a:ext>
              </a:extLst>
            </p:cNvPr>
            <p:cNvSpPr txBox="1"/>
            <p:nvPr/>
          </p:nvSpPr>
          <p:spPr>
            <a:xfrm>
              <a:off x="582522" y="4491217"/>
              <a:ext cx="524390" cy="494578"/>
            </a:xfrm>
            <a:prstGeom prst="rect">
              <a:avLst/>
            </a:prstGeom>
            <a:noFill/>
          </p:spPr>
          <p:txBody>
            <a:bodyPr wrap="square" rtlCol="0">
              <a:spAutoFit/>
            </a:bodyPr>
            <a:lstStyle/>
            <a:p>
              <a:r>
                <a:rPr lang="en-US" altLang="zh-TW" dirty="0"/>
                <a:t>0</a:t>
              </a:r>
              <a:endParaRPr lang="zh-TW" altLang="en-US" dirty="0"/>
            </a:p>
          </p:txBody>
        </p:sp>
        <p:sp>
          <p:nvSpPr>
            <p:cNvPr id="103" name="文字方塊 102">
              <a:extLst>
                <a:ext uri="{FF2B5EF4-FFF2-40B4-BE49-F238E27FC236}">
                  <a16:creationId xmlns:a16="http://schemas.microsoft.com/office/drawing/2014/main" id="{736262C3-C8A6-3A4E-B9B7-59799C54D492}"/>
                </a:ext>
              </a:extLst>
            </p:cNvPr>
            <p:cNvSpPr txBox="1"/>
            <p:nvPr/>
          </p:nvSpPr>
          <p:spPr>
            <a:xfrm>
              <a:off x="2232391" y="4489816"/>
              <a:ext cx="339148" cy="369332"/>
            </a:xfrm>
            <a:prstGeom prst="rect">
              <a:avLst/>
            </a:prstGeom>
            <a:noFill/>
          </p:spPr>
          <p:txBody>
            <a:bodyPr wrap="square" rtlCol="0">
              <a:spAutoFit/>
            </a:bodyPr>
            <a:lstStyle/>
            <a:p>
              <a:r>
                <a:rPr lang="en-US" altLang="zh-TW" dirty="0"/>
                <a:t>1</a:t>
              </a:r>
              <a:endParaRPr lang="zh-TW" altLang="en-US" dirty="0"/>
            </a:p>
          </p:txBody>
        </p:sp>
        <p:sp>
          <p:nvSpPr>
            <p:cNvPr id="104" name="文字方塊 103">
              <a:extLst>
                <a:ext uri="{FF2B5EF4-FFF2-40B4-BE49-F238E27FC236}">
                  <a16:creationId xmlns:a16="http://schemas.microsoft.com/office/drawing/2014/main" id="{4E4E9441-3835-0343-933F-DE4530CD3187}"/>
                </a:ext>
              </a:extLst>
            </p:cNvPr>
            <p:cNvSpPr txBox="1"/>
            <p:nvPr/>
          </p:nvSpPr>
          <p:spPr>
            <a:xfrm>
              <a:off x="2807486" y="4489816"/>
              <a:ext cx="524390" cy="369332"/>
            </a:xfrm>
            <a:prstGeom prst="rect">
              <a:avLst/>
            </a:prstGeom>
            <a:noFill/>
          </p:spPr>
          <p:txBody>
            <a:bodyPr wrap="square" rtlCol="0">
              <a:spAutoFit/>
            </a:bodyPr>
            <a:lstStyle/>
            <a:p>
              <a:r>
                <a:rPr lang="en-US" altLang="zh-TW" dirty="0"/>
                <a:t>0</a:t>
              </a:r>
              <a:endParaRPr lang="zh-TW" altLang="en-US" dirty="0"/>
            </a:p>
          </p:txBody>
        </p:sp>
        <p:sp>
          <p:nvSpPr>
            <p:cNvPr id="110" name="文字方塊 109">
              <a:extLst>
                <a:ext uri="{FF2B5EF4-FFF2-40B4-BE49-F238E27FC236}">
                  <a16:creationId xmlns:a16="http://schemas.microsoft.com/office/drawing/2014/main" id="{E5334C00-77AD-F845-874D-59BF2CADCBE4}"/>
                </a:ext>
              </a:extLst>
            </p:cNvPr>
            <p:cNvSpPr txBox="1"/>
            <p:nvPr/>
          </p:nvSpPr>
          <p:spPr>
            <a:xfrm>
              <a:off x="4366081" y="4506053"/>
              <a:ext cx="524390" cy="369332"/>
            </a:xfrm>
            <a:prstGeom prst="rect">
              <a:avLst/>
            </a:prstGeom>
            <a:noFill/>
          </p:spPr>
          <p:txBody>
            <a:bodyPr wrap="square" rtlCol="0">
              <a:spAutoFit/>
            </a:bodyPr>
            <a:lstStyle/>
            <a:p>
              <a:r>
                <a:rPr lang="en-US" altLang="zh-TW" dirty="0"/>
                <a:t>-2</a:t>
              </a:r>
              <a:endParaRPr lang="zh-TW" altLang="en-US" dirty="0"/>
            </a:p>
          </p:txBody>
        </p:sp>
        <p:sp>
          <p:nvSpPr>
            <p:cNvPr id="111" name="文字方塊 110">
              <a:extLst>
                <a:ext uri="{FF2B5EF4-FFF2-40B4-BE49-F238E27FC236}">
                  <a16:creationId xmlns:a16="http://schemas.microsoft.com/office/drawing/2014/main" id="{34AE5DD5-E1F2-7840-81D2-5E05F1FC2C87}"/>
                </a:ext>
              </a:extLst>
            </p:cNvPr>
            <p:cNvSpPr txBox="1"/>
            <p:nvPr/>
          </p:nvSpPr>
          <p:spPr>
            <a:xfrm>
              <a:off x="5001289" y="4506053"/>
              <a:ext cx="524390" cy="494578"/>
            </a:xfrm>
            <a:prstGeom prst="rect">
              <a:avLst/>
            </a:prstGeom>
            <a:noFill/>
          </p:spPr>
          <p:txBody>
            <a:bodyPr wrap="square" rtlCol="0">
              <a:spAutoFit/>
            </a:bodyPr>
            <a:lstStyle/>
            <a:p>
              <a:r>
                <a:rPr lang="en-US" altLang="zh-TW" dirty="0"/>
                <a:t>0</a:t>
              </a:r>
              <a:endParaRPr lang="zh-TW" altLang="en-US" dirty="0"/>
            </a:p>
          </p:txBody>
        </p:sp>
      </p:grpSp>
      <mc:AlternateContent xmlns:mc="http://schemas.openxmlformats.org/markup-compatibility/2006">
        <mc:Choice xmlns:a14="http://schemas.microsoft.com/office/drawing/2010/main" Requires="a14">
          <p:sp>
            <p:nvSpPr>
              <p:cNvPr id="134" name="文字方塊 133">
                <a:extLst>
                  <a:ext uri="{FF2B5EF4-FFF2-40B4-BE49-F238E27FC236}">
                    <a16:creationId xmlns:a16="http://schemas.microsoft.com/office/drawing/2014/main" id="{C519D5AD-C759-A34F-AD2D-3EE80DA0378A}"/>
                  </a:ext>
                </a:extLst>
              </p:cNvPr>
              <p:cNvSpPr txBox="1"/>
              <p:nvPr/>
            </p:nvSpPr>
            <p:spPr>
              <a:xfrm>
                <a:off x="7650197" y="4188418"/>
                <a:ext cx="438744" cy="3724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1</m:t>
                          </m:r>
                        </m:sup>
                      </m:sSubSup>
                    </m:oMath>
                  </m:oMathPara>
                </a14:m>
                <a:endParaRPr lang="zh-TW" altLang="en-US" dirty="0"/>
              </a:p>
            </p:txBody>
          </p:sp>
        </mc:Choice>
        <mc:Fallback>
          <p:sp>
            <p:nvSpPr>
              <p:cNvPr id="134" name="文字方塊 133">
                <a:extLst>
                  <a:ext uri="{FF2B5EF4-FFF2-40B4-BE49-F238E27FC236}">
                    <a16:creationId xmlns:a16="http://schemas.microsoft.com/office/drawing/2014/main" id="{C519D5AD-C759-A34F-AD2D-3EE80DA0378A}"/>
                  </a:ext>
                </a:extLst>
              </p:cNvPr>
              <p:cNvSpPr txBox="1">
                <a:spLocks noRot="1" noChangeAspect="1" noMove="1" noResize="1" noEditPoints="1" noAdjustHandles="1" noChangeArrowheads="1" noChangeShapeType="1" noTextEdit="1"/>
              </p:cNvSpPr>
              <p:nvPr/>
            </p:nvSpPr>
            <p:spPr>
              <a:xfrm>
                <a:off x="7650197" y="4188418"/>
                <a:ext cx="438744" cy="37247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5" name="文字方塊 134">
                <a:extLst>
                  <a:ext uri="{FF2B5EF4-FFF2-40B4-BE49-F238E27FC236}">
                    <a16:creationId xmlns:a16="http://schemas.microsoft.com/office/drawing/2014/main" id="{255F14FA-D9FA-D746-AAB8-67F64A00288E}"/>
                  </a:ext>
                </a:extLst>
              </p:cNvPr>
              <p:cNvSpPr txBox="1"/>
              <p:nvPr/>
            </p:nvSpPr>
            <p:spPr>
              <a:xfrm>
                <a:off x="9403681" y="4168338"/>
                <a:ext cx="438744" cy="3724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1</m:t>
                          </m:r>
                        </m:sup>
                      </m:sSubSup>
                    </m:oMath>
                  </m:oMathPara>
                </a14:m>
                <a:endParaRPr lang="zh-TW" altLang="en-US" dirty="0"/>
              </a:p>
            </p:txBody>
          </p:sp>
        </mc:Choice>
        <mc:Fallback>
          <p:sp>
            <p:nvSpPr>
              <p:cNvPr id="135" name="文字方塊 134">
                <a:extLst>
                  <a:ext uri="{FF2B5EF4-FFF2-40B4-BE49-F238E27FC236}">
                    <a16:creationId xmlns:a16="http://schemas.microsoft.com/office/drawing/2014/main" id="{255F14FA-D9FA-D746-AAB8-67F64A00288E}"/>
                  </a:ext>
                </a:extLst>
              </p:cNvPr>
              <p:cNvSpPr txBox="1">
                <a:spLocks noRot="1" noChangeAspect="1" noMove="1" noResize="1" noEditPoints="1" noAdjustHandles="1" noChangeArrowheads="1" noChangeShapeType="1" noTextEdit="1"/>
              </p:cNvSpPr>
              <p:nvPr/>
            </p:nvSpPr>
            <p:spPr>
              <a:xfrm>
                <a:off x="9403681" y="4168338"/>
                <a:ext cx="438744" cy="37247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6" name="文字方塊 135">
                <a:extLst>
                  <a:ext uri="{FF2B5EF4-FFF2-40B4-BE49-F238E27FC236}">
                    <a16:creationId xmlns:a16="http://schemas.microsoft.com/office/drawing/2014/main" id="{D4FAC3B7-42F9-0642-9ADE-9FF8A9D16FF1}"/>
                  </a:ext>
                </a:extLst>
              </p:cNvPr>
              <p:cNvSpPr txBox="1"/>
              <p:nvPr/>
            </p:nvSpPr>
            <p:spPr>
              <a:xfrm>
                <a:off x="11245929" y="4176646"/>
                <a:ext cx="438744" cy="3724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1</m:t>
                          </m:r>
                        </m:sup>
                      </m:sSubSup>
                    </m:oMath>
                  </m:oMathPara>
                </a14:m>
                <a:endParaRPr lang="zh-TW" altLang="en-US" dirty="0"/>
              </a:p>
            </p:txBody>
          </p:sp>
        </mc:Choice>
        <mc:Fallback>
          <p:sp>
            <p:nvSpPr>
              <p:cNvPr id="136" name="文字方塊 135">
                <a:extLst>
                  <a:ext uri="{FF2B5EF4-FFF2-40B4-BE49-F238E27FC236}">
                    <a16:creationId xmlns:a16="http://schemas.microsoft.com/office/drawing/2014/main" id="{D4FAC3B7-42F9-0642-9ADE-9FF8A9D16FF1}"/>
                  </a:ext>
                </a:extLst>
              </p:cNvPr>
              <p:cNvSpPr txBox="1">
                <a:spLocks noRot="1" noChangeAspect="1" noMove="1" noResize="1" noEditPoints="1" noAdjustHandles="1" noChangeArrowheads="1" noChangeShapeType="1" noTextEdit="1"/>
              </p:cNvSpPr>
              <p:nvPr/>
            </p:nvSpPr>
            <p:spPr>
              <a:xfrm>
                <a:off x="11245929" y="4176646"/>
                <a:ext cx="438744" cy="37247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7" name="文字方塊 136">
                <a:extLst>
                  <a:ext uri="{FF2B5EF4-FFF2-40B4-BE49-F238E27FC236}">
                    <a16:creationId xmlns:a16="http://schemas.microsoft.com/office/drawing/2014/main" id="{D65E1AB1-3E2D-7A4A-B220-50ECE3BC8954}"/>
                  </a:ext>
                </a:extLst>
              </p:cNvPr>
              <p:cNvSpPr txBox="1"/>
              <p:nvPr/>
            </p:nvSpPr>
            <p:spPr>
              <a:xfrm>
                <a:off x="7258357" y="4235691"/>
                <a:ext cx="438744" cy="37305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2</m:t>
                          </m:r>
                        </m:sup>
                      </m:sSubSup>
                    </m:oMath>
                  </m:oMathPara>
                </a14:m>
                <a:endParaRPr lang="zh-TW" altLang="en-US" dirty="0"/>
              </a:p>
            </p:txBody>
          </p:sp>
        </mc:Choice>
        <mc:Fallback>
          <p:sp>
            <p:nvSpPr>
              <p:cNvPr id="137" name="文字方塊 136">
                <a:extLst>
                  <a:ext uri="{FF2B5EF4-FFF2-40B4-BE49-F238E27FC236}">
                    <a16:creationId xmlns:a16="http://schemas.microsoft.com/office/drawing/2014/main" id="{D65E1AB1-3E2D-7A4A-B220-50ECE3BC8954}"/>
                  </a:ext>
                </a:extLst>
              </p:cNvPr>
              <p:cNvSpPr txBox="1">
                <a:spLocks noRot="1" noChangeAspect="1" noMove="1" noResize="1" noEditPoints="1" noAdjustHandles="1" noChangeArrowheads="1" noChangeShapeType="1" noTextEdit="1"/>
              </p:cNvSpPr>
              <p:nvPr/>
            </p:nvSpPr>
            <p:spPr>
              <a:xfrm>
                <a:off x="7258357" y="4235691"/>
                <a:ext cx="438744" cy="37305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8" name="文字方塊 137">
                <a:extLst>
                  <a:ext uri="{FF2B5EF4-FFF2-40B4-BE49-F238E27FC236}">
                    <a16:creationId xmlns:a16="http://schemas.microsoft.com/office/drawing/2014/main" id="{D50D2B34-32E2-5F47-A404-08A233F33960}"/>
                  </a:ext>
                </a:extLst>
              </p:cNvPr>
              <p:cNvSpPr txBox="1"/>
              <p:nvPr/>
            </p:nvSpPr>
            <p:spPr>
              <a:xfrm>
                <a:off x="9035087" y="4246244"/>
                <a:ext cx="438744" cy="37305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2</m:t>
                          </m:r>
                        </m:sup>
                      </m:sSubSup>
                    </m:oMath>
                  </m:oMathPara>
                </a14:m>
                <a:endParaRPr lang="zh-TW" altLang="en-US" dirty="0"/>
              </a:p>
            </p:txBody>
          </p:sp>
        </mc:Choice>
        <mc:Fallback>
          <p:sp>
            <p:nvSpPr>
              <p:cNvPr id="138" name="文字方塊 137">
                <a:extLst>
                  <a:ext uri="{FF2B5EF4-FFF2-40B4-BE49-F238E27FC236}">
                    <a16:creationId xmlns:a16="http://schemas.microsoft.com/office/drawing/2014/main" id="{D50D2B34-32E2-5F47-A404-08A233F33960}"/>
                  </a:ext>
                </a:extLst>
              </p:cNvPr>
              <p:cNvSpPr txBox="1">
                <a:spLocks noRot="1" noChangeAspect="1" noMove="1" noResize="1" noEditPoints="1" noAdjustHandles="1" noChangeArrowheads="1" noChangeShapeType="1" noTextEdit="1"/>
              </p:cNvSpPr>
              <p:nvPr/>
            </p:nvSpPr>
            <p:spPr>
              <a:xfrm>
                <a:off x="9035087" y="4246244"/>
                <a:ext cx="438744" cy="373051"/>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9" name="文字方塊 138">
                <a:extLst>
                  <a:ext uri="{FF2B5EF4-FFF2-40B4-BE49-F238E27FC236}">
                    <a16:creationId xmlns:a16="http://schemas.microsoft.com/office/drawing/2014/main" id="{A4E682F6-C956-F34A-AF42-851645C73FB3}"/>
                  </a:ext>
                </a:extLst>
              </p:cNvPr>
              <p:cNvSpPr txBox="1"/>
              <p:nvPr/>
            </p:nvSpPr>
            <p:spPr>
              <a:xfrm>
                <a:off x="10818498" y="4280042"/>
                <a:ext cx="438744" cy="37305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smtClean="0">
                              <a:latin typeface="Cambria Math" panose="02040503050406030204" pitchFamily="18" charset="0"/>
                              <a:ea typeface="Cambria Math" panose="02040503050406030204" pitchFamily="18" charset="0"/>
                            </a:rPr>
                            <m:t>𝜎</m:t>
                          </m:r>
                        </m:e>
                        <m:sub>
                          <m:r>
                            <a:rPr lang="en-US" altLang="zh-TW" b="0" i="1" dirty="0" smtClean="0">
                              <a:latin typeface="Cambria Math" panose="02040503050406030204" pitchFamily="18" charset="0"/>
                            </a:rPr>
                            <m:t>2</m:t>
                          </m:r>
                        </m:sub>
                        <m:sup>
                          <m:r>
                            <a:rPr lang="en-US" altLang="zh-TW" b="0" i="1" dirty="0" smtClean="0">
                              <a:latin typeface="Cambria Math" panose="02040503050406030204" pitchFamily="18" charset="0"/>
                            </a:rPr>
                            <m:t>2</m:t>
                          </m:r>
                        </m:sup>
                      </m:sSubSup>
                    </m:oMath>
                  </m:oMathPara>
                </a14:m>
                <a:endParaRPr lang="zh-TW" altLang="en-US" dirty="0"/>
              </a:p>
            </p:txBody>
          </p:sp>
        </mc:Choice>
        <mc:Fallback>
          <p:sp>
            <p:nvSpPr>
              <p:cNvPr id="139" name="文字方塊 138">
                <a:extLst>
                  <a:ext uri="{FF2B5EF4-FFF2-40B4-BE49-F238E27FC236}">
                    <a16:creationId xmlns:a16="http://schemas.microsoft.com/office/drawing/2014/main" id="{A4E682F6-C956-F34A-AF42-851645C73FB3}"/>
                  </a:ext>
                </a:extLst>
              </p:cNvPr>
              <p:cNvSpPr txBox="1">
                <a:spLocks noRot="1" noChangeAspect="1" noMove="1" noResize="1" noEditPoints="1" noAdjustHandles="1" noChangeArrowheads="1" noChangeShapeType="1" noTextEdit="1"/>
              </p:cNvSpPr>
              <p:nvPr/>
            </p:nvSpPr>
            <p:spPr>
              <a:xfrm>
                <a:off x="10818498" y="4280042"/>
                <a:ext cx="438744" cy="373051"/>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6228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t>Performance of Modicum</a:t>
            </a:r>
            <a:endParaRPr kumimoji="1"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8</a:t>
            </a:fld>
            <a:endParaRPr kumimoji="1" lang="zh-TW" altLang="en-US"/>
          </a:p>
        </p:txBody>
      </p:sp>
      <p:sp>
        <p:nvSpPr>
          <p:cNvPr id="15" name="內容版面配置區 14">
            <a:extLst>
              <a:ext uri="{FF2B5EF4-FFF2-40B4-BE49-F238E27FC236}">
                <a16:creationId xmlns:a16="http://schemas.microsoft.com/office/drawing/2014/main" id="{3CE063CC-4BC8-D56B-CEB3-5A379CCD0FE3}"/>
              </a:ext>
            </a:extLst>
          </p:cNvPr>
          <p:cNvSpPr>
            <a:spLocks noGrp="1"/>
          </p:cNvSpPr>
          <p:nvPr>
            <p:ph idx="1"/>
          </p:nvPr>
        </p:nvSpPr>
        <p:spPr>
          <a:xfrm>
            <a:off x="838200" y="1825624"/>
            <a:ext cx="10515600" cy="4616740"/>
          </a:xfrm>
        </p:spPr>
        <p:txBody>
          <a:bodyPr>
            <a:normAutofit/>
          </a:bodyPr>
          <a:lstStyle/>
          <a:p>
            <a:r>
              <a:rPr lang="en-US" altLang="zh-TW" dirty="0"/>
              <a:t>Tartanian8</a:t>
            </a:r>
          </a:p>
          <a:p>
            <a:pPr marL="0" indent="0">
              <a:buNone/>
            </a:pPr>
            <a:r>
              <a:rPr lang="en-US" altLang="zh-TW" dirty="0"/>
              <a:t> -2 million core hours</a:t>
            </a:r>
          </a:p>
          <a:p>
            <a:pPr marL="0" indent="0">
              <a:buNone/>
            </a:pPr>
            <a:r>
              <a:rPr lang="en-US" altLang="zh-TW" dirty="0"/>
              <a:t> -18 TB of memory</a:t>
            </a:r>
          </a:p>
          <a:p>
            <a:pPr marL="0" indent="0">
              <a:buNone/>
            </a:pPr>
            <a:r>
              <a:rPr lang="en-US" altLang="zh-TW" dirty="0"/>
              <a:t> -No real time reasoning</a:t>
            </a:r>
          </a:p>
          <a:p>
            <a:pPr marL="0" indent="0">
              <a:buNone/>
            </a:pPr>
            <a:endParaRPr lang="en-US" altLang="zh-TW" dirty="0"/>
          </a:p>
          <a:p>
            <a:r>
              <a:rPr lang="en-US" altLang="zh-TW" dirty="0" err="1"/>
              <a:t>Slumbot</a:t>
            </a:r>
            <a:endParaRPr lang="en-US" altLang="zh-TW" dirty="0"/>
          </a:p>
          <a:p>
            <a:pPr marL="0" indent="0">
              <a:buNone/>
            </a:pPr>
            <a:r>
              <a:rPr lang="en-US" altLang="zh-TW" dirty="0"/>
              <a:t> -250,000core hours</a:t>
            </a:r>
          </a:p>
          <a:p>
            <a:pPr marL="0" indent="0">
              <a:buNone/>
            </a:pPr>
            <a:r>
              <a:rPr lang="en-US" altLang="zh-TW" dirty="0"/>
              <a:t> -2 TB of memory </a:t>
            </a:r>
          </a:p>
          <a:p>
            <a:pPr marL="0" indent="0">
              <a:buNone/>
            </a:pPr>
            <a:r>
              <a:rPr lang="en-US" altLang="zh-TW" dirty="0"/>
              <a:t> -No real-time reasoning</a:t>
            </a:r>
            <a:endParaRPr lang="zh-TW" altLang="en-US" dirty="0"/>
          </a:p>
        </p:txBody>
      </p:sp>
      <p:graphicFrame>
        <p:nvGraphicFramePr>
          <p:cNvPr id="19" name="表格 18">
            <a:extLst>
              <a:ext uri="{FF2B5EF4-FFF2-40B4-BE49-F238E27FC236}">
                <a16:creationId xmlns:a16="http://schemas.microsoft.com/office/drawing/2014/main" id="{50140877-AD8E-FF4D-A822-4458E526179D}"/>
              </a:ext>
            </a:extLst>
          </p:cNvPr>
          <p:cNvGraphicFramePr>
            <a:graphicFrameLocks noGrp="1"/>
          </p:cNvGraphicFramePr>
          <p:nvPr>
            <p:extLst>
              <p:ext uri="{D42A27DB-BD31-4B8C-83A1-F6EECF244321}">
                <p14:modId xmlns:p14="http://schemas.microsoft.com/office/powerpoint/2010/main" val="1134072342"/>
              </p:ext>
            </p:extLst>
          </p:nvPr>
        </p:nvGraphicFramePr>
        <p:xfrm>
          <a:off x="5104013" y="4133994"/>
          <a:ext cx="6643716" cy="2110169"/>
        </p:xfrm>
        <a:graphic>
          <a:graphicData uri="http://schemas.openxmlformats.org/drawingml/2006/table">
            <a:tbl>
              <a:tblPr firstRow="1" bandRow="1">
                <a:tableStyleId>{5C22544A-7EE6-4342-B048-85BDC9FD1C3A}</a:tableStyleId>
              </a:tblPr>
              <a:tblGrid>
                <a:gridCol w="2214572">
                  <a:extLst>
                    <a:ext uri="{9D8B030D-6E8A-4147-A177-3AD203B41FA5}">
                      <a16:colId xmlns:a16="http://schemas.microsoft.com/office/drawing/2014/main" val="939868173"/>
                    </a:ext>
                  </a:extLst>
                </a:gridCol>
                <a:gridCol w="2214572">
                  <a:extLst>
                    <a:ext uri="{9D8B030D-6E8A-4147-A177-3AD203B41FA5}">
                      <a16:colId xmlns:a16="http://schemas.microsoft.com/office/drawing/2014/main" val="1319771017"/>
                    </a:ext>
                  </a:extLst>
                </a:gridCol>
                <a:gridCol w="2214572">
                  <a:extLst>
                    <a:ext uri="{9D8B030D-6E8A-4147-A177-3AD203B41FA5}">
                      <a16:colId xmlns:a16="http://schemas.microsoft.com/office/drawing/2014/main" val="2698361774"/>
                    </a:ext>
                  </a:extLst>
                </a:gridCol>
              </a:tblGrid>
              <a:tr h="370840">
                <a:tc>
                  <a:txBody>
                    <a:bodyPr/>
                    <a:lstStyle/>
                    <a:p>
                      <a:endParaRPr lang="zh-TW" altLang="en-US" dirty="0"/>
                    </a:p>
                  </a:txBody>
                  <a:tcPr/>
                </a:tc>
                <a:tc>
                  <a:txBody>
                    <a:bodyPr/>
                    <a:lstStyle/>
                    <a:p>
                      <a:pPr algn="ctr"/>
                      <a:r>
                        <a:rPr lang="en-US" altLang="zh-TW" dirty="0"/>
                        <a:t>Tartanian8</a:t>
                      </a:r>
                      <a:endParaRPr lang="zh-TW" altLang="en-US" dirty="0"/>
                    </a:p>
                  </a:txBody>
                  <a:tcPr/>
                </a:tc>
                <a:tc>
                  <a:txBody>
                    <a:bodyPr/>
                    <a:lstStyle/>
                    <a:p>
                      <a:pPr algn="ctr"/>
                      <a:r>
                        <a:rPr lang="en-US" altLang="zh-TW" dirty="0" err="1"/>
                        <a:t>Slumbot</a:t>
                      </a:r>
                      <a:endParaRPr lang="zh-TW" altLang="en-US" dirty="0"/>
                    </a:p>
                  </a:txBody>
                  <a:tcPr/>
                </a:tc>
                <a:extLst>
                  <a:ext uri="{0D108BD9-81ED-4DB2-BD59-A6C34878D82A}">
                    <a16:rowId xmlns:a16="http://schemas.microsoft.com/office/drawing/2014/main" val="3377621473"/>
                  </a:ext>
                </a:extLst>
              </a:tr>
              <a:tr h="370840">
                <a:tc>
                  <a:txBody>
                    <a:bodyPr/>
                    <a:lstStyle/>
                    <a:p>
                      <a:r>
                        <a:rPr lang="en-US" altLang="zh-TW" dirty="0"/>
                        <a:t>Modicum(no real-time </a:t>
                      </a:r>
                      <a:r>
                        <a:rPr lang="en-US" altLang="zh-TW" dirty="0" err="1"/>
                        <a:t>reasonong</a:t>
                      </a:r>
                      <a:r>
                        <a:rPr lang="en-US" altLang="zh-TW" dirty="0"/>
                        <a:t>)</a:t>
                      </a:r>
                      <a:endParaRPr lang="zh-TW" altLang="en-US" dirty="0"/>
                    </a:p>
                  </a:txBody>
                  <a:tcPr/>
                </a:tc>
                <a:tc>
                  <a:txBody>
                    <a:bodyPr/>
                    <a:lstStyle/>
                    <a:p>
                      <a:pPr algn="ctr">
                        <a:lnSpc>
                          <a:spcPct val="150000"/>
                        </a:lnSpc>
                      </a:pPr>
                      <a:r>
                        <a:rPr lang="en-US" altLang="zh-TW" dirty="0"/>
                        <a:t>-57±13</a:t>
                      </a:r>
                      <a:endParaRPr lang="zh-TW" altLang="en-US" dirty="0"/>
                    </a:p>
                  </a:txBody>
                  <a:tcPr/>
                </a:tc>
                <a:tc>
                  <a:txBody>
                    <a:bodyPr/>
                    <a:lstStyle/>
                    <a:p>
                      <a:pPr algn="ctr">
                        <a:lnSpc>
                          <a:spcPct val="150000"/>
                        </a:lnSpc>
                      </a:pPr>
                      <a:r>
                        <a:rPr lang="en-US" altLang="zh-TW" dirty="0"/>
                        <a:t>-11± 8</a:t>
                      </a:r>
                      <a:endParaRPr lang="zh-TW" altLang="en-US" dirty="0"/>
                    </a:p>
                  </a:txBody>
                  <a:tcPr/>
                </a:tc>
                <a:extLst>
                  <a:ext uri="{0D108BD9-81ED-4DB2-BD59-A6C34878D82A}">
                    <a16:rowId xmlns:a16="http://schemas.microsoft.com/office/drawing/2014/main" val="221768953"/>
                  </a:ext>
                </a:extLst>
              </a:tr>
              <a:tr h="370840">
                <a:tc>
                  <a:txBody>
                    <a:bodyPr/>
                    <a:lstStyle/>
                    <a:p>
                      <a:r>
                        <a:rPr lang="en-US" altLang="zh-TW" dirty="0"/>
                        <a:t>Modicum(just one value per leaf node)</a:t>
                      </a:r>
                      <a:endParaRPr lang="zh-TW" altLang="en-US" dirty="0"/>
                    </a:p>
                  </a:txBody>
                  <a:tcPr/>
                </a:tc>
                <a:tc>
                  <a:txBody>
                    <a:bodyPr/>
                    <a:lstStyle/>
                    <a:p>
                      <a:pPr algn="ctr">
                        <a:lnSpc>
                          <a:spcPct val="150000"/>
                        </a:lnSpc>
                      </a:pPr>
                      <a:r>
                        <a:rPr lang="en-US" altLang="zh-TW" dirty="0"/>
                        <a:t>-10±8</a:t>
                      </a:r>
                      <a:endParaRPr lang="zh-TW" altLang="en-US" dirty="0"/>
                    </a:p>
                  </a:txBody>
                  <a:tcPr/>
                </a:tc>
                <a:tc>
                  <a:txBody>
                    <a:bodyPr/>
                    <a:lstStyle/>
                    <a:p>
                      <a:pPr algn="ctr">
                        <a:lnSpc>
                          <a:spcPct val="150000"/>
                        </a:lnSpc>
                      </a:pPr>
                      <a:r>
                        <a:rPr lang="en-US" altLang="zh-TW" dirty="0"/>
                        <a:t>-1±15</a:t>
                      </a:r>
                      <a:endParaRPr lang="zh-TW" altLang="en-US" dirty="0"/>
                    </a:p>
                  </a:txBody>
                  <a:tcPr/>
                </a:tc>
                <a:extLst>
                  <a:ext uri="{0D108BD9-81ED-4DB2-BD59-A6C34878D82A}">
                    <a16:rowId xmlns:a16="http://schemas.microsoft.com/office/drawing/2014/main" val="986916742"/>
                  </a:ext>
                </a:extLst>
              </a:tr>
              <a:tr h="370840">
                <a:tc>
                  <a:txBody>
                    <a:bodyPr/>
                    <a:lstStyle/>
                    <a:p>
                      <a:r>
                        <a:rPr lang="en-US" altLang="zh-TW" dirty="0"/>
                        <a:t>Modicum</a:t>
                      </a:r>
                      <a:endParaRPr lang="zh-TW" altLang="en-US" dirty="0"/>
                    </a:p>
                  </a:txBody>
                  <a:tcPr/>
                </a:tc>
                <a:tc>
                  <a:txBody>
                    <a:bodyPr/>
                    <a:lstStyle/>
                    <a:p>
                      <a:pPr algn="ctr">
                        <a:lnSpc>
                          <a:spcPct val="150000"/>
                        </a:lnSpc>
                      </a:pPr>
                      <a:r>
                        <a:rPr lang="en-US" altLang="zh-TW" dirty="0"/>
                        <a:t>6±5</a:t>
                      </a:r>
                      <a:endParaRPr lang="zh-TW" altLang="en-US" dirty="0"/>
                    </a:p>
                  </a:txBody>
                  <a:tcPr/>
                </a:tc>
                <a:tc>
                  <a:txBody>
                    <a:bodyPr/>
                    <a:lstStyle/>
                    <a:p>
                      <a:pPr algn="ctr">
                        <a:lnSpc>
                          <a:spcPct val="150000"/>
                        </a:lnSpc>
                      </a:pPr>
                      <a:r>
                        <a:rPr lang="en-US" altLang="zh-TW" dirty="0"/>
                        <a:t>11±9</a:t>
                      </a:r>
                      <a:endParaRPr lang="zh-TW" altLang="en-US" dirty="0"/>
                    </a:p>
                  </a:txBody>
                  <a:tcPr/>
                </a:tc>
                <a:extLst>
                  <a:ext uri="{0D108BD9-81ED-4DB2-BD59-A6C34878D82A}">
                    <a16:rowId xmlns:a16="http://schemas.microsoft.com/office/drawing/2014/main" val="4292328987"/>
                  </a:ext>
                </a:extLst>
              </a:tr>
            </a:tbl>
          </a:graphicData>
        </a:graphic>
      </p:graphicFrame>
      <p:sp>
        <p:nvSpPr>
          <p:cNvPr id="58" name="文字方塊 57">
            <a:extLst>
              <a:ext uri="{FF2B5EF4-FFF2-40B4-BE49-F238E27FC236}">
                <a16:creationId xmlns:a16="http://schemas.microsoft.com/office/drawing/2014/main" id="{87CFDFFE-1A27-0440-8576-E0BDDF97C3E1}"/>
              </a:ext>
            </a:extLst>
          </p:cNvPr>
          <p:cNvSpPr txBox="1"/>
          <p:nvPr/>
        </p:nvSpPr>
        <p:spPr>
          <a:xfrm>
            <a:off x="5104013" y="1641160"/>
            <a:ext cx="6434052" cy="2246769"/>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Modicum</a:t>
            </a:r>
          </a:p>
          <a:p>
            <a:r>
              <a:rPr lang="en-US" altLang="zh-TW" sz="2800" dirty="0">
                <a:latin typeface="Times New Roman" panose="02020603050405020304" pitchFamily="18" charset="0"/>
                <a:cs typeface="Times New Roman" panose="02020603050405020304" pitchFamily="18" charset="0"/>
              </a:rPr>
              <a:t> -700 core hours</a:t>
            </a:r>
          </a:p>
          <a:p>
            <a:r>
              <a:rPr lang="en-US" altLang="zh-TW" sz="2800" dirty="0">
                <a:latin typeface="Times New Roman" panose="02020603050405020304" pitchFamily="18" charset="0"/>
                <a:cs typeface="Times New Roman" panose="02020603050405020304" pitchFamily="18" charset="0"/>
              </a:rPr>
              <a:t> -16 GB of memory</a:t>
            </a:r>
          </a:p>
          <a:p>
            <a:r>
              <a:rPr lang="en-US" altLang="zh-TW" sz="2800" dirty="0">
                <a:latin typeface="Times New Roman" panose="02020603050405020304" pitchFamily="18" charset="0"/>
                <a:cs typeface="Times New Roman" panose="02020603050405020304" pitchFamily="18" charset="0"/>
              </a:rPr>
              <a:t> -Plays in real time with a 4-core CPU in 20 seconds per hand</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622481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9670</TotalTime>
  <Words>670</Words>
  <Application>Microsoft Macintosh PowerPoint</Application>
  <PresentationFormat>寬螢幕</PresentationFormat>
  <Paragraphs>206</Paragraphs>
  <Slides>8</Slides>
  <Notes>8</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新細明體</vt:lpstr>
      <vt:lpstr>Arial</vt:lpstr>
      <vt:lpstr>Calibri</vt:lpstr>
      <vt:lpstr>Cambria Math</vt:lpstr>
      <vt:lpstr>Times New Roman</vt:lpstr>
      <vt:lpstr>Office 佈景主題</vt:lpstr>
      <vt:lpstr>Depth-Limited Solving for Imperfect-Information Games</vt:lpstr>
      <vt:lpstr>Abstract </vt:lpstr>
      <vt:lpstr>Libratus</vt:lpstr>
      <vt:lpstr>Perfect-Information Games</vt:lpstr>
      <vt:lpstr>Search in Imperfect information games</vt:lpstr>
      <vt:lpstr>Search in Imperfect information games</vt:lpstr>
      <vt:lpstr>Search in Imperfect information games</vt:lpstr>
      <vt:lpstr>Performance of Modicum</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Deep Learning based Urban Traffic Incident Detection </dc:title>
  <dc:creator>Microsoft Office User</dc:creator>
  <cp:lastModifiedBy>Microsoft Office User</cp:lastModifiedBy>
  <cp:revision>80</cp:revision>
  <dcterms:created xsi:type="dcterms:W3CDTF">2022-05-15T13:18:58Z</dcterms:created>
  <dcterms:modified xsi:type="dcterms:W3CDTF">2022-11-07T15:22:38Z</dcterms:modified>
</cp:coreProperties>
</file>