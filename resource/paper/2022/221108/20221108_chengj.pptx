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183dd4dd4b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183dd4dd4b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83dd4dd4b3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83dd4dd4b3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83dd4dd4b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83dd4dd4b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83dd4dd4b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183dd4dd4b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83dd4dd4b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83dd4dd4b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83dd4dd4b3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83dd4dd4b3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83dd4dd4b3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83dd4dd4b3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83dd4dd4b3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83dd4dd4b3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83dd4dd4b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83dd4dd4b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83dd4dd4b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83dd4dd4b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83dd4dd4b3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83dd4dd4b3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83dd4dd4b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83dd4dd4b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83dd4dd4b3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83dd4dd4b3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83dd4dd4b3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83dd4dd4b3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83dd4dd4b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83dd4dd4b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83dd4dd4b3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83dd4dd4b3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84d9db4b0e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84d9db4b0e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ieeexplore.ieee.org/author/37088377117" TargetMode="External"/><Relationship Id="rId4" Type="http://schemas.openxmlformats.org/officeDocument/2006/relationships/hyperlink" Target="https://ieeexplore.ieee.org/xpl/conhome/9052497/proceed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iq.opengenus.org/backjumpin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836125"/>
            <a:ext cx="8520600" cy="1646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zh-TW" sz="4200">
                <a:latin typeface="Times New Roman"/>
                <a:ea typeface="Times New Roman"/>
                <a:cs typeface="Times New Roman"/>
                <a:sym typeface="Times New Roman"/>
              </a:rPr>
              <a:t>Build and Conquer: Solving N Queens Problem using Iterative Compression</a:t>
            </a:r>
            <a:endParaRPr sz="4200">
              <a:latin typeface="Times New Roman"/>
              <a:ea typeface="Times New Roman"/>
              <a:cs typeface="Times New Roman"/>
              <a:sym typeface="Times New Roman"/>
            </a:endParaRPr>
          </a:p>
        </p:txBody>
      </p:sp>
      <p:sp>
        <p:nvSpPr>
          <p:cNvPr id="55" name="Google Shape;55;p13"/>
          <p:cNvSpPr txBox="1"/>
          <p:nvPr>
            <p:ph idx="1" type="subTitle"/>
          </p:nvPr>
        </p:nvSpPr>
        <p:spPr>
          <a:xfrm>
            <a:off x="311700" y="24825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zh-TW" sz="2400">
                <a:solidFill>
                  <a:schemeClr val="dk1"/>
                </a:solidFill>
                <a:highlight>
                  <a:srgbClr val="FFFFFF"/>
                </a:highlight>
                <a:uFill>
                  <a:noFill/>
                </a:uFill>
                <a:latin typeface="Times New Roman"/>
                <a:ea typeface="Times New Roman"/>
                <a:cs typeface="Times New Roman"/>
                <a:sym typeface="Times New Roman"/>
                <a:hlinkClick r:id="rId3">
                  <a:extLst>
                    <a:ext uri="{A12FA001-AC4F-418D-AE19-62706E023703}">
                      <ahyp:hlinkClr val="tx"/>
                    </a:ext>
                  </a:extLst>
                </a:hlinkClick>
              </a:rPr>
              <a:t>Ahmed Alhassan</a:t>
            </a:r>
            <a:endParaRPr sz="24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zh-TW" sz="2400">
                <a:solidFill>
                  <a:schemeClr val="dk1"/>
                </a:solidFill>
                <a:highlight>
                  <a:srgbClr val="FFFFFF"/>
                </a:highlight>
                <a:uFill>
                  <a:noFill/>
                </a:uFill>
                <a:latin typeface="Times New Roman"/>
                <a:ea typeface="Times New Roman"/>
                <a:cs typeface="Times New Roman"/>
                <a:sym typeface="Times New Roman"/>
                <a:hlinkClick r:id="rId4">
                  <a:extLst>
                    <a:ext uri="{A12FA001-AC4F-418D-AE19-62706E023703}">
                      <ahyp:hlinkClr val="tx"/>
                    </a:ext>
                  </a:extLst>
                </a:hlinkClick>
              </a:rPr>
              <a:t>2019 International Conference on Computer, Control, Electrical, and Electronics Engineering (ICCCEEE)</a:t>
            </a:r>
            <a:endParaRPr sz="2400">
              <a:solidFill>
                <a:schemeClr val="dk1"/>
              </a:solidFill>
              <a:latin typeface="Times New Roman"/>
              <a:ea typeface="Times New Roman"/>
              <a:cs typeface="Times New Roman"/>
              <a:sym typeface="Times New Roman"/>
            </a:endParaRPr>
          </a:p>
        </p:txBody>
      </p:sp>
      <p:sp>
        <p:nvSpPr>
          <p:cNvPr id="56" name="Google Shape;56;p13"/>
          <p:cNvSpPr txBox="1"/>
          <p:nvPr/>
        </p:nvSpPr>
        <p:spPr>
          <a:xfrm>
            <a:off x="4339800" y="4164600"/>
            <a:ext cx="4804200" cy="9789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Presenter: Chen Guan-Jie</a:t>
            </a:r>
            <a:endParaRPr sz="2400">
              <a:solidFill>
                <a:schemeClr val="dk1"/>
              </a:solidFill>
              <a:latin typeface="Times New Roman"/>
              <a:ea typeface="Times New Roman"/>
              <a:cs typeface="Times New Roman"/>
              <a:sym typeface="Times New Roman"/>
            </a:endParaRPr>
          </a:p>
          <a:p>
            <a:pPr indent="0" lvl="0" marL="0" rtl="0" algn="r">
              <a:lnSpc>
                <a:spcPct val="115000"/>
              </a:lnSpc>
              <a:spcBef>
                <a:spcPts val="0"/>
              </a:spcBef>
              <a:spcAft>
                <a:spcPts val="0"/>
              </a:spcAft>
              <a:buNone/>
            </a:pPr>
            <a:r>
              <a:rPr lang="zh-TW" sz="2400">
                <a:solidFill>
                  <a:schemeClr val="dk1"/>
                </a:solidFill>
                <a:latin typeface="Times New Roman"/>
                <a:ea typeface="Times New Roman"/>
                <a:cs typeface="Times New Roman"/>
                <a:sym typeface="Times New Roman"/>
              </a:rPr>
              <a:t>Date: Nov, 8, 2022</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Abstract (1 / 2)</a:t>
            </a:r>
            <a:endParaRPr>
              <a:latin typeface="Times New Roman"/>
              <a:ea typeface="Times New Roman"/>
              <a:cs typeface="Times New Roman"/>
              <a:sym typeface="Times New Roman"/>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The N queens problem is a very hot topic for research use. Nonetheless all previous algorithms that solved the N queens problem treat each order of it as if they are separate problems with no connection among them. The main idea of this paper is to connect the dots among various orders of the N queens problem and demonstrate that all orders of the N-queens problem are connected with each other. </a:t>
            </a:r>
            <a:endParaRPr sz="2400">
              <a:solidFill>
                <a:schemeClr val="dk1"/>
              </a:solidFill>
              <a:latin typeface="Times New Roman"/>
              <a:ea typeface="Times New Roman"/>
              <a:cs typeface="Times New Roman"/>
              <a:sym typeface="Times New Roman"/>
            </a:endParaRPr>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zh-TW">
                <a:latin typeface="Times New Roman"/>
                <a:ea typeface="Times New Roman"/>
                <a:cs typeface="Times New Roman"/>
                <a:sym typeface="Times New Roman"/>
              </a:rPr>
              <a:t>Abstract (2 / 2)</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And then we propose an algorithm using iterative compression to solve the problem i.e. beginning from the solution of the least order of the problem and then by using the relation among different orders we add a queen in every iteration until we have the N queens residing in the NxN board.</a:t>
            </a:r>
            <a:endParaRPr/>
          </a:p>
        </p:txBody>
      </p:sp>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Rules</a:t>
            </a:r>
            <a:endParaRPr>
              <a:latin typeface="Times New Roman"/>
              <a:ea typeface="Times New Roman"/>
              <a:cs typeface="Times New Roman"/>
              <a:sym typeface="Times New Roman"/>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77" name="Google Shape;77;p16"/>
          <p:cNvSpPr txBox="1"/>
          <p:nvPr/>
        </p:nvSpPr>
        <p:spPr>
          <a:xfrm>
            <a:off x="56400" y="2702350"/>
            <a:ext cx="90312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a:t>
            </a:r>
            <a:r>
              <a:rPr lang="zh-TW" sz="2400">
                <a:solidFill>
                  <a:schemeClr val="dk1"/>
                </a:solidFill>
                <a:latin typeface="Times New Roman"/>
                <a:ea typeface="Times New Roman"/>
                <a:cs typeface="Times New Roman"/>
                <a:sym typeface="Times New Roman"/>
              </a:rPr>
              <a:t>1) There are no queen sharing the same </a:t>
            </a:r>
            <a:r>
              <a:rPr lang="zh-TW" sz="2400">
                <a:solidFill>
                  <a:srgbClr val="FF0000"/>
                </a:solidFill>
                <a:latin typeface="Times New Roman"/>
                <a:ea typeface="Times New Roman"/>
                <a:cs typeface="Times New Roman"/>
                <a:sym typeface="Times New Roman"/>
              </a:rPr>
              <a:t>row</a:t>
            </a:r>
            <a:r>
              <a:rPr lang="zh-TW" sz="2400">
                <a:solidFill>
                  <a:schemeClr val="dk1"/>
                </a:solidFill>
                <a:latin typeface="Times New Roman"/>
                <a:ea typeface="Times New Roman"/>
                <a:cs typeface="Times New Roman"/>
                <a:sym typeface="Times New Roman"/>
              </a:rPr>
              <a:t> with any other queen.</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(2) There are no queen sharing the same </a:t>
            </a:r>
            <a:r>
              <a:rPr lang="zh-TW" sz="2400">
                <a:solidFill>
                  <a:srgbClr val="FF0000"/>
                </a:solidFill>
                <a:latin typeface="Times New Roman"/>
                <a:ea typeface="Times New Roman"/>
                <a:cs typeface="Times New Roman"/>
                <a:sym typeface="Times New Roman"/>
              </a:rPr>
              <a:t>column </a:t>
            </a:r>
            <a:r>
              <a:rPr lang="zh-TW" sz="2400">
                <a:solidFill>
                  <a:schemeClr val="dk1"/>
                </a:solidFill>
                <a:latin typeface="Times New Roman"/>
                <a:ea typeface="Times New Roman"/>
                <a:cs typeface="Times New Roman"/>
                <a:sym typeface="Times New Roman"/>
              </a:rPr>
              <a:t>with any other queen.</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(3) There are no queen sharing the same </a:t>
            </a:r>
            <a:r>
              <a:rPr lang="zh-TW" sz="2400">
                <a:solidFill>
                  <a:srgbClr val="FF0000"/>
                </a:solidFill>
                <a:latin typeface="Times New Roman"/>
                <a:ea typeface="Times New Roman"/>
                <a:cs typeface="Times New Roman"/>
                <a:sym typeface="Times New Roman"/>
              </a:rPr>
              <a:t>diagonal </a:t>
            </a:r>
            <a:r>
              <a:rPr lang="zh-TW" sz="2400">
                <a:solidFill>
                  <a:schemeClr val="dk1"/>
                </a:solidFill>
                <a:latin typeface="Times New Roman"/>
                <a:ea typeface="Times New Roman"/>
                <a:cs typeface="Times New Roman"/>
                <a:sym typeface="Times New Roman"/>
              </a:rPr>
              <a:t>with any other queen.</a:t>
            </a:r>
            <a:endParaRPr sz="2400">
              <a:solidFill>
                <a:schemeClr val="dk1"/>
              </a:solidFill>
              <a:latin typeface="Times New Roman"/>
              <a:ea typeface="Times New Roman"/>
              <a:cs typeface="Times New Roman"/>
              <a:sym typeface="Times New Roman"/>
            </a:endParaRPr>
          </a:p>
        </p:txBody>
      </p:sp>
      <p:pic>
        <p:nvPicPr>
          <p:cNvPr id="78" name="Google Shape;78;p16"/>
          <p:cNvPicPr preferRelativeResize="0"/>
          <p:nvPr/>
        </p:nvPicPr>
        <p:blipFill>
          <a:blip r:embed="rId3">
            <a:alphaModFix/>
          </a:blip>
          <a:stretch>
            <a:fillRect/>
          </a:stretch>
        </p:blipFill>
        <p:spPr>
          <a:xfrm>
            <a:off x="2547449" y="445025"/>
            <a:ext cx="1939450" cy="1945050"/>
          </a:xfrm>
          <a:prstGeom prst="rect">
            <a:avLst/>
          </a:prstGeom>
          <a:noFill/>
          <a:ln>
            <a:noFill/>
          </a:ln>
        </p:spPr>
      </p:pic>
      <p:sp>
        <p:nvSpPr>
          <p:cNvPr id="79" name="Google Shape;79;p16"/>
          <p:cNvSpPr txBox="1"/>
          <p:nvPr/>
        </p:nvSpPr>
        <p:spPr>
          <a:xfrm>
            <a:off x="4844475" y="1140500"/>
            <a:ext cx="3375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(How queen attacks)</a:t>
            </a:r>
            <a:endParaRPr sz="2400">
              <a:solidFill>
                <a:schemeClr val="dk1"/>
              </a:solidFill>
              <a:latin typeface="Times New Roman"/>
              <a:ea typeface="Times New Roman"/>
              <a:cs typeface="Times New Roman"/>
              <a:sym typeface="Times New Roman"/>
            </a:endParaRPr>
          </a:p>
        </p:txBody>
      </p:sp>
      <p:sp>
        <p:nvSpPr>
          <p:cNvPr id="80" name="Google Shape;8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Backtrack Algorithm (1 / 2)</a:t>
            </a:r>
            <a:endParaRPr>
              <a:latin typeface="Times New Roman"/>
              <a:ea typeface="Times New Roman"/>
              <a:cs typeface="Times New Roman"/>
              <a:sym typeface="Times New Roman"/>
            </a:endParaRPr>
          </a:p>
        </p:txBody>
      </p:sp>
      <p:sp>
        <p:nvSpPr>
          <p:cNvPr id="86" name="Google Shape;86;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7" name="Google Shape;87;p17"/>
          <p:cNvPicPr preferRelativeResize="0"/>
          <p:nvPr/>
        </p:nvPicPr>
        <p:blipFill>
          <a:blip r:embed="rId3">
            <a:alphaModFix/>
          </a:blip>
          <a:stretch>
            <a:fillRect/>
          </a:stretch>
        </p:blipFill>
        <p:spPr>
          <a:xfrm>
            <a:off x="1544475" y="1061250"/>
            <a:ext cx="6055075" cy="3994775"/>
          </a:xfrm>
          <a:prstGeom prst="rect">
            <a:avLst/>
          </a:prstGeom>
          <a:noFill/>
          <a:ln>
            <a:noFill/>
          </a:ln>
        </p:spPr>
      </p:pic>
      <p:sp>
        <p:nvSpPr>
          <p:cNvPr id="88" name="Google Shape;8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Backtrack Algorithm (2 / 2)</a:t>
            </a:r>
            <a:endParaRPr>
              <a:latin typeface="Times New Roman"/>
              <a:ea typeface="Times New Roman"/>
              <a:cs typeface="Times New Roman"/>
              <a:sym typeface="Times New Roman"/>
            </a:endParaRPr>
          </a:p>
        </p:txBody>
      </p:sp>
      <p:sp>
        <p:nvSpPr>
          <p:cNvPr id="94" name="Google Shape;9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5" name="Google Shape;95;p18"/>
          <p:cNvPicPr preferRelativeResize="0"/>
          <p:nvPr/>
        </p:nvPicPr>
        <p:blipFill>
          <a:blip r:embed="rId3">
            <a:alphaModFix/>
          </a:blip>
          <a:stretch>
            <a:fillRect/>
          </a:stretch>
        </p:blipFill>
        <p:spPr>
          <a:xfrm>
            <a:off x="1574725" y="1152475"/>
            <a:ext cx="5994541" cy="3930750"/>
          </a:xfrm>
          <a:prstGeom prst="rect">
            <a:avLst/>
          </a:prstGeom>
          <a:noFill/>
          <a:ln>
            <a:noFill/>
          </a:ln>
        </p:spPr>
      </p:pic>
      <p:sp>
        <p:nvSpPr>
          <p:cNvPr id="96" name="Google Shape;9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Backjump Algorithm</a:t>
            </a:r>
            <a:endParaRPr>
              <a:latin typeface="Times New Roman"/>
              <a:ea typeface="Times New Roman"/>
              <a:cs typeface="Times New Roman"/>
              <a:sym typeface="Times New Roman"/>
            </a:endParaRPr>
          </a:p>
        </p:txBody>
      </p:sp>
      <p:sp>
        <p:nvSpPr>
          <p:cNvPr id="102" name="Google Shape;10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3" name="Google Shape;103;p19"/>
          <p:cNvPicPr preferRelativeResize="0"/>
          <p:nvPr/>
        </p:nvPicPr>
        <p:blipFill>
          <a:blip r:embed="rId3">
            <a:alphaModFix/>
          </a:blip>
          <a:stretch>
            <a:fillRect/>
          </a:stretch>
        </p:blipFill>
        <p:spPr>
          <a:xfrm>
            <a:off x="4572000" y="634111"/>
            <a:ext cx="3952249" cy="3875275"/>
          </a:xfrm>
          <a:prstGeom prst="rect">
            <a:avLst/>
          </a:prstGeom>
          <a:noFill/>
          <a:ln>
            <a:noFill/>
          </a:ln>
        </p:spPr>
      </p:pic>
      <p:sp>
        <p:nvSpPr>
          <p:cNvPr id="104" name="Google Shape;104;p19"/>
          <p:cNvSpPr txBox="1"/>
          <p:nvPr/>
        </p:nvSpPr>
        <p:spPr>
          <a:xfrm>
            <a:off x="5927325" y="4509375"/>
            <a:ext cx="1906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(Row-major)</a:t>
            </a:r>
            <a:endParaRPr sz="2400">
              <a:latin typeface="Times New Roman"/>
              <a:ea typeface="Times New Roman"/>
              <a:cs typeface="Times New Roman"/>
              <a:sym typeface="Times New Roman"/>
            </a:endParaRPr>
          </a:p>
        </p:txBody>
      </p:sp>
      <p:sp>
        <p:nvSpPr>
          <p:cNvPr id="105" name="Google Shape;105;p19"/>
          <p:cNvSpPr txBox="1"/>
          <p:nvPr/>
        </p:nvSpPr>
        <p:spPr>
          <a:xfrm>
            <a:off x="954375" y="2214175"/>
            <a:ext cx="1848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6 to 4 (B.J.)</a:t>
            </a:r>
            <a:endParaRPr sz="2400">
              <a:latin typeface="Times New Roman"/>
              <a:ea typeface="Times New Roman"/>
              <a:cs typeface="Times New Roman"/>
              <a:sym typeface="Times New Roman"/>
            </a:endParaRPr>
          </a:p>
          <a:p>
            <a:pPr indent="0" lvl="0" marL="0" rtl="0" algn="l">
              <a:spcBef>
                <a:spcPts val="0"/>
              </a:spcBef>
              <a:spcAft>
                <a:spcPts val="0"/>
              </a:spcAft>
              <a:buNone/>
            </a:pPr>
            <a:r>
              <a:rPr lang="zh-TW" sz="2400">
                <a:latin typeface="Times New Roman"/>
                <a:ea typeface="Times New Roman"/>
                <a:cs typeface="Times New Roman"/>
                <a:sym typeface="Times New Roman"/>
              </a:rPr>
              <a:t>instead of</a:t>
            </a:r>
            <a:endParaRPr sz="2400">
              <a:latin typeface="Times New Roman"/>
              <a:ea typeface="Times New Roman"/>
              <a:cs typeface="Times New Roman"/>
              <a:sym typeface="Times New Roman"/>
            </a:endParaRPr>
          </a:p>
          <a:p>
            <a:pPr indent="0" lvl="0" marL="0" rtl="0" algn="l">
              <a:spcBef>
                <a:spcPts val="0"/>
              </a:spcBef>
              <a:spcAft>
                <a:spcPts val="0"/>
              </a:spcAft>
              <a:buNone/>
            </a:pPr>
            <a:r>
              <a:rPr lang="zh-TW" sz="2400">
                <a:latin typeface="Times New Roman"/>
                <a:ea typeface="Times New Roman"/>
                <a:cs typeface="Times New Roman"/>
                <a:sym typeface="Times New Roman"/>
              </a:rPr>
              <a:t>6 to 5 (B.T.)</a:t>
            </a:r>
            <a:endParaRPr sz="2400">
              <a:latin typeface="Times New Roman"/>
              <a:ea typeface="Times New Roman"/>
              <a:cs typeface="Times New Roman"/>
              <a:sym typeface="Times New Roman"/>
            </a:endParaRPr>
          </a:p>
        </p:txBody>
      </p:sp>
      <p:sp>
        <p:nvSpPr>
          <p:cNvPr id="106" name="Google Shape;106;p19"/>
          <p:cNvSpPr txBox="1"/>
          <p:nvPr/>
        </p:nvSpPr>
        <p:spPr>
          <a:xfrm>
            <a:off x="311700" y="4246625"/>
            <a:ext cx="5786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Conflict set: (1, 3, 2, 4, 3, 1, 2, 3)</a:t>
            </a:r>
            <a:endParaRPr sz="2400">
              <a:latin typeface="Times New Roman"/>
              <a:ea typeface="Times New Roman"/>
              <a:cs typeface="Times New Roman"/>
              <a:sym typeface="Times New Roman"/>
            </a:endParaRPr>
          </a:p>
        </p:txBody>
      </p:sp>
      <p:sp>
        <p:nvSpPr>
          <p:cNvPr id="107" name="Google Shape;10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zh-TW">
                <a:latin typeface="Times New Roman"/>
                <a:ea typeface="Times New Roman"/>
                <a:cs typeface="Times New Roman"/>
                <a:sym typeface="Times New Roman"/>
              </a:rPr>
              <a:t>Backtrack &amp; Backjump</a:t>
            </a:r>
            <a:endParaRPr>
              <a:latin typeface="Times New Roman"/>
              <a:ea typeface="Times New Roman"/>
              <a:cs typeface="Times New Roman"/>
              <a:sym typeface="Times New Roman"/>
            </a:endParaRPr>
          </a:p>
        </p:txBody>
      </p:sp>
      <p:sp>
        <p:nvSpPr>
          <p:cNvPr id="113" name="Google Shape;11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highlight>
                  <a:srgbClr val="FFFFFF"/>
                </a:highlight>
                <a:latin typeface="Times New Roman"/>
                <a:ea typeface="Times New Roman"/>
                <a:cs typeface="Times New Roman"/>
                <a:sym typeface="Times New Roman"/>
              </a:rPr>
              <a:t>Time Complexity: O(N!)</a:t>
            </a:r>
            <a:endParaRPr sz="2400">
              <a:solidFill>
                <a:schemeClr val="dk1"/>
              </a:solidFill>
              <a:latin typeface="Times New Roman"/>
              <a:ea typeface="Times New Roman"/>
              <a:cs typeface="Times New Roman"/>
              <a:sym typeface="Times New Roman"/>
            </a:endParaRPr>
          </a:p>
        </p:txBody>
      </p:sp>
      <p:sp>
        <p:nvSpPr>
          <p:cNvPr id="114" name="Google Shape;11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Build and Conquer </a:t>
            </a:r>
            <a:endParaRPr>
              <a:latin typeface="Times New Roman"/>
              <a:ea typeface="Times New Roman"/>
              <a:cs typeface="Times New Roman"/>
              <a:sym typeface="Times New Roman"/>
            </a:endParaRPr>
          </a:p>
        </p:txBody>
      </p:sp>
      <p:sp>
        <p:nvSpPr>
          <p:cNvPr id="120" name="Google Shape;12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Nonattacked Corners</a:t>
            </a:r>
            <a:endParaRPr sz="2400">
              <a:solidFill>
                <a:schemeClr val="dk1"/>
              </a:solidFill>
              <a:latin typeface="Times New Roman"/>
              <a:ea typeface="Times New Roman"/>
              <a:cs typeface="Times New Roman"/>
              <a:sym typeface="Times New Roman"/>
            </a:endParaRPr>
          </a:p>
          <a:p>
            <a:pPr indent="-381000" lvl="1" marL="9144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Solution</a:t>
            </a:r>
            <a:endParaRPr sz="2400">
              <a:solidFill>
                <a:schemeClr val="dk1"/>
              </a:solidFill>
              <a:latin typeface="Times New Roman"/>
              <a:ea typeface="Times New Roman"/>
              <a:cs typeface="Times New Roman"/>
              <a:sym typeface="Times New Roman"/>
            </a:endParaRPr>
          </a:p>
          <a:p>
            <a:pPr indent="-381000" lvl="1" marL="914400" rtl="0" algn="l">
              <a:lnSpc>
                <a:spcPct val="100000"/>
              </a:lnSpc>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Pseudo-solution</a:t>
            </a:r>
            <a:endParaRPr sz="2400">
              <a:latin typeface="Times New Roman"/>
              <a:ea typeface="Times New Roman"/>
              <a:cs typeface="Times New Roman"/>
              <a:sym typeface="Times New Roman"/>
            </a:endParaRPr>
          </a:p>
        </p:txBody>
      </p:sp>
      <p:sp>
        <p:nvSpPr>
          <p:cNvPr id="121" name="Google Shape;121;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2500">
                <a:latin typeface="Times New Roman"/>
                <a:ea typeface="Times New Roman"/>
                <a:cs typeface="Times New Roman"/>
                <a:sym typeface="Times New Roman"/>
              </a:rPr>
              <a:t>Nonattacked Corners</a:t>
            </a:r>
            <a:endParaRPr sz="2500">
              <a:latin typeface="Times New Roman"/>
              <a:ea typeface="Times New Roman"/>
              <a:cs typeface="Times New Roman"/>
              <a:sym typeface="Times New Roman"/>
            </a:endParaRPr>
          </a:p>
        </p:txBody>
      </p:sp>
      <p:sp>
        <p:nvSpPr>
          <p:cNvPr id="127" name="Google Shape;12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8" name="Google Shape;128;p22"/>
          <p:cNvPicPr preferRelativeResize="0"/>
          <p:nvPr/>
        </p:nvPicPr>
        <p:blipFill>
          <a:blip r:embed="rId3">
            <a:alphaModFix/>
          </a:blip>
          <a:stretch>
            <a:fillRect/>
          </a:stretch>
        </p:blipFill>
        <p:spPr>
          <a:xfrm>
            <a:off x="1072375" y="1355725"/>
            <a:ext cx="3048000" cy="3009900"/>
          </a:xfrm>
          <a:prstGeom prst="rect">
            <a:avLst/>
          </a:prstGeom>
          <a:noFill/>
          <a:ln>
            <a:noFill/>
          </a:ln>
        </p:spPr>
      </p:pic>
      <p:pic>
        <p:nvPicPr>
          <p:cNvPr id="129" name="Google Shape;129;p22"/>
          <p:cNvPicPr preferRelativeResize="0"/>
          <p:nvPr/>
        </p:nvPicPr>
        <p:blipFill>
          <a:blip r:embed="rId4">
            <a:alphaModFix/>
          </a:blip>
          <a:stretch>
            <a:fillRect/>
          </a:stretch>
        </p:blipFill>
        <p:spPr>
          <a:xfrm>
            <a:off x="5109225" y="1358338"/>
            <a:ext cx="3048001" cy="3004673"/>
          </a:xfrm>
          <a:prstGeom prst="rect">
            <a:avLst/>
          </a:prstGeom>
          <a:noFill/>
          <a:ln>
            <a:noFill/>
          </a:ln>
        </p:spPr>
      </p:pic>
      <p:sp>
        <p:nvSpPr>
          <p:cNvPr id="130" name="Google Shape;13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(can be generated using lower orders solution)</a:t>
            </a:r>
            <a:endParaRPr>
              <a:latin typeface="Times New Roman"/>
              <a:ea typeface="Times New Roman"/>
              <a:cs typeface="Times New Roman"/>
              <a:sym typeface="Times New Roman"/>
            </a:endParaRPr>
          </a:p>
        </p:txBody>
      </p:sp>
      <p:sp>
        <p:nvSpPr>
          <p:cNvPr id="136" name="Google Shape;13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7" name="Google Shape;137;p23"/>
          <p:cNvPicPr preferRelativeResize="0"/>
          <p:nvPr/>
        </p:nvPicPr>
        <p:blipFill>
          <a:blip r:embed="rId3">
            <a:alphaModFix/>
          </a:blip>
          <a:stretch>
            <a:fillRect/>
          </a:stretch>
        </p:blipFill>
        <p:spPr>
          <a:xfrm>
            <a:off x="5012925" y="1363988"/>
            <a:ext cx="2951500" cy="2993375"/>
          </a:xfrm>
          <a:prstGeom prst="rect">
            <a:avLst/>
          </a:prstGeom>
          <a:noFill/>
          <a:ln>
            <a:noFill/>
          </a:ln>
        </p:spPr>
      </p:pic>
      <p:pic>
        <p:nvPicPr>
          <p:cNvPr id="138" name="Google Shape;138;p23"/>
          <p:cNvPicPr preferRelativeResize="0"/>
          <p:nvPr/>
        </p:nvPicPr>
        <p:blipFill>
          <a:blip r:embed="rId4">
            <a:alphaModFix/>
          </a:blip>
          <a:stretch>
            <a:fillRect/>
          </a:stretch>
        </p:blipFill>
        <p:spPr>
          <a:xfrm>
            <a:off x="1221950" y="1574538"/>
            <a:ext cx="2545275" cy="2572275"/>
          </a:xfrm>
          <a:prstGeom prst="rect">
            <a:avLst/>
          </a:prstGeom>
          <a:noFill/>
          <a:ln>
            <a:noFill/>
          </a:ln>
        </p:spPr>
      </p:pic>
      <p:sp>
        <p:nvSpPr>
          <p:cNvPr id="139" name="Google Shape;139;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Pseudo-solution (1 / 2)</a:t>
            </a:r>
            <a:endParaRPr/>
          </a:p>
        </p:txBody>
      </p:sp>
      <p:sp>
        <p:nvSpPr>
          <p:cNvPr id="145" name="Google Shape;145;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6" name="Google Shape;146;p24"/>
          <p:cNvPicPr preferRelativeResize="0"/>
          <p:nvPr/>
        </p:nvPicPr>
        <p:blipFill>
          <a:blip r:embed="rId3">
            <a:alphaModFix/>
          </a:blip>
          <a:stretch>
            <a:fillRect/>
          </a:stretch>
        </p:blipFill>
        <p:spPr>
          <a:xfrm>
            <a:off x="5002850" y="1347063"/>
            <a:ext cx="2973575" cy="3027225"/>
          </a:xfrm>
          <a:prstGeom prst="rect">
            <a:avLst/>
          </a:prstGeom>
          <a:noFill/>
          <a:ln>
            <a:noFill/>
          </a:ln>
        </p:spPr>
      </p:pic>
      <p:pic>
        <p:nvPicPr>
          <p:cNvPr id="147" name="Google Shape;147;p24"/>
          <p:cNvPicPr preferRelativeResize="0"/>
          <p:nvPr/>
        </p:nvPicPr>
        <p:blipFill>
          <a:blip r:embed="rId4">
            <a:alphaModFix/>
          </a:blip>
          <a:stretch>
            <a:fillRect/>
          </a:stretch>
        </p:blipFill>
        <p:spPr>
          <a:xfrm>
            <a:off x="1233950" y="1641062"/>
            <a:ext cx="2462625" cy="2439200"/>
          </a:xfrm>
          <a:prstGeom prst="rect">
            <a:avLst/>
          </a:prstGeom>
          <a:noFill/>
          <a:ln>
            <a:noFill/>
          </a:ln>
        </p:spPr>
      </p:pic>
      <p:sp>
        <p:nvSpPr>
          <p:cNvPr id="148" name="Google Shape;148;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Pseudo-solution (2 / 2)</a:t>
            </a:r>
            <a:endParaRPr>
              <a:latin typeface="Times New Roman"/>
              <a:ea typeface="Times New Roman"/>
              <a:cs typeface="Times New Roman"/>
              <a:sym typeface="Times New Roman"/>
            </a:endParaRPr>
          </a:p>
        </p:txBody>
      </p:sp>
      <p:sp>
        <p:nvSpPr>
          <p:cNvPr id="154" name="Google Shape;15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5" name="Google Shape;155;p25"/>
          <p:cNvPicPr preferRelativeResize="0"/>
          <p:nvPr/>
        </p:nvPicPr>
        <p:blipFill>
          <a:blip r:embed="rId3">
            <a:alphaModFix/>
          </a:blip>
          <a:stretch>
            <a:fillRect/>
          </a:stretch>
        </p:blipFill>
        <p:spPr>
          <a:xfrm>
            <a:off x="4997636" y="1323150"/>
            <a:ext cx="3085739" cy="3075025"/>
          </a:xfrm>
          <a:prstGeom prst="rect">
            <a:avLst/>
          </a:prstGeom>
          <a:noFill/>
          <a:ln>
            <a:noFill/>
          </a:ln>
        </p:spPr>
      </p:pic>
      <p:pic>
        <p:nvPicPr>
          <p:cNvPr id="156" name="Google Shape;156;p25"/>
          <p:cNvPicPr preferRelativeResize="0"/>
          <p:nvPr/>
        </p:nvPicPr>
        <p:blipFill>
          <a:blip r:embed="rId4">
            <a:alphaModFix/>
          </a:blip>
          <a:stretch>
            <a:fillRect/>
          </a:stretch>
        </p:blipFill>
        <p:spPr>
          <a:xfrm>
            <a:off x="1144863" y="1512875"/>
            <a:ext cx="2638425" cy="2695575"/>
          </a:xfrm>
          <a:prstGeom prst="rect">
            <a:avLst/>
          </a:prstGeom>
          <a:noFill/>
          <a:ln>
            <a:noFill/>
          </a:ln>
        </p:spPr>
      </p:pic>
      <p:sp>
        <p:nvSpPr>
          <p:cNvPr id="157" name="Google Shape;15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163" name="Google Shape;16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64" name="Google Shape;164;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65" name="Google Shape;165;p26"/>
          <p:cNvPicPr preferRelativeResize="0"/>
          <p:nvPr/>
        </p:nvPicPr>
        <p:blipFill>
          <a:blip r:embed="rId3">
            <a:alphaModFix/>
          </a:blip>
          <a:stretch>
            <a:fillRect/>
          </a:stretch>
        </p:blipFill>
        <p:spPr>
          <a:xfrm>
            <a:off x="1016600" y="1152477"/>
            <a:ext cx="3555393" cy="3416399"/>
          </a:xfrm>
          <a:prstGeom prst="rect">
            <a:avLst/>
          </a:prstGeom>
          <a:noFill/>
          <a:ln>
            <a:noFill/>
          </a:ln>
        </p:spPr>
      </p:pic>
      <p:pic>
        <p:nvPicPr>
          <p:cNvPr id="166" name="Google Shape;166;p26"/>
          <p:cNvPicPr preferRelativeResize="0"/>
          <p:nvPr/>
        </p:nvPicPr>
        <p:blipFill>
          <a:blip r:embed="rId4">
            <a:alphaModFix/>
          </a:blip>
          <a:stretch>
            <a:fillRect/>
          </a:stretch>
        </p:blipFill>
        <p:spPr>
          <a:xfrm>
            <a:off x="1016600" y="4568875"/>
            <a:ext cx="1466025" cy="192575"/>
          </a:xfrm>
          <a:prstGeom prst="rect">
            <a:avLst/>
          </a:prstGeom>
          <a:noFill/>
          <a:ln>
            <a:noFill/>
          </a:ln>
        </p:spPr>
      </p:pic>
      <p:pic>
        <p:nvPicPr>
          <p:cNvPr id="167" name="Google Shape;167;p26"/>
          <p:cNvPicPr preferRelativeResize="0"/>
          <p:nvPr/>
        </p:nvPicPr>
        <p:blipFill>
          <a:blip r:embed="rId5">
            <a:alphaModFix/>
          </a:blip>
          <a:stretch>
            <a:fillRect/>
          </a:stretch>
        </p:blipFill>
        <p:spPr>
          <a:xfrm>
            <a:off x="4852500" y="1152473"/>
            <a:ext cx="3679187" cy="3624465"/>
          </a:xfrm>
          <a:prstGeom prst="rect">
            <a:avLst/>
          </a:prstGeom>
          <a:noFill/>
          <a:ln>
            <a:noFill/>
          </a:ln>
        </p:spPr>
      </p:pic>
      <p:sp>
        <p:nvSpPr>
          <p:cNvPr id="168" name="Google Shape;168;p26"/>
          <p:cNvSpPr txBox="1"/>
          <p:nvPr/>
        </p:nvSpPr>
        <p:spPr>
          <a:xfrm>
            <a:off x="1016600" y="454325"/>
            <a:ext cx="2690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Nonattacked Corner</a:t>
            </a:r>
            <a:endParaRPr sz="2400">
              <a:latin typeface="Times New Roman"/>
              <a:ea typeface="Times New Roman"/>
              <a:cs typeface="Times New Roman"/>
              <a:sym typeface="Times New Roman"/>
            </a:endParaRPr>
          </a:p>
        </p:txBody>
      </p:sp>
      <p:sp>
        <p:nvSpPr>
          <p:cNvPr id="169" name="Google Shape;169;p26"/>
          <p:cNvSpPr txBox="1"/>
          <p:nvPr/>
        </p:nvSpPr>
        <p:spPr>
          <a:xfrm>
            <a:off x="6253488" y="454325"/>
            <a:ext cx="877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BFS</a:t>
            </a:r>
            <a:endParaRPr sz="24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Result</a:t>
            </a:r>
            <a:endParaRPr>
              <a:latin typeface="Times New Roman"/>
              <a:ea typeface="Times New Roman"/>
              <a:cs typeface="Times New Roman"/>
              <a:sym typeface="Times New Roman"/>
            </a:endParaRPr>
          </a:p>
        </p:txBody>
      </p:sp>
      <p:sp>
        <p:nvSpPr>
          <p:cNvPr id="175" name="Google Shape;175;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6" name="Google Shape;176;p27"/>
          <p:cNvPicPr preferRelativeResize="0"/>
          <p:nvPr/>
        </p:nvPicPr>
        <p:blipFill>
          <a:blip r:embed="rId3">
            <a:alphaModFix/>
          </a:blip>
          <a:stretch>
            <a:fillRect/>
          </a:stretch>
        </p:blipFill>
        <p:spPr>
          <a:xfrm>
            <a:off x="520176" y="1502307"/>
            <a:ext cx="8103650" cy="2138882"/>
          </a:xfrm>
          <a:prstGeom prst="rect">
            <a:avLst/>
          </a:prstGeom>
          <a:noFill/>
          <a:ln>
            <a:noFill/>
          </a:ln>
        </p:spPr>
      </p:pic>
      <p:sp>
        <p:nvSpPr>
          <p:cNvPr id="177" name="Google Shape;177;p27"/>
          <p:cNvSpPr txBox="1"/>
          <p:nvPr/>
        </p:nvSpPr>
        <p:spPr>
          <a:xfrm>
            <a:off x="3426750" y="3757175"/>
            <a:ext cx="2290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using DFS / </a:t>
            </a:r>
            <a:r>
              <a:rPr lang="zh-TW" sz="2400">
                <a:solidFill>
                  <a:srgbClr val="FF0000"/>
                </a:solidFill>
                <a:latin typeface="Times New Roman"/>
                <a:ea typeface="Times New Roman"/>
                <a:cs typeface="Times New Roman"/>
                <a:sym typeface="Times New Roman"/>
              </a:rPr>
              <a:t>BFS</a:t>
            </a:r>
            <a:endParaRPr sz="2400">
              <a:solidFill>
                <a:srgbClr val="FF0000"/>
              </a:solidFill>
              <a:latin typeface="Times New Roman"/>
              <a:ea typeface="Times New Roman"/>
              <a:cs typeface="Times New Roman"/>
              <a:sym typeface="Times New Roman"/>
            </a:endParaRPr>
          </a:p>
        </p:txBody>
      </p:sp>
      <p:sp>
        <p:nvSpPr>
          <p:cNvPr id="178" name="Google Shape;17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179" name="Google Shape;179;p27"/>
          <p:cNvSpPr txBox="1"/>
          <p:nvPr/>
        </p:nvSpPr>
        <p:spPr>
          <a:xfrm>
            <a:off x="7284575" y="976500"/>
            <a:ext cx="343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Build and Conquer</a:t>
            </a:r>
            <a:endParaRPr>
              <a:latin typeface="Times New Roman"/>
              <a:ea typeface="Times New Roman"/>
              <a:cs typeface="Times New Roman"/>
              <a:sym typeface="Times New Roman"/>
            </a:endParaRPr>
          </a:p>
        </p:txBody>
      </p:sp>
      <p:sp>
        <p:nvSpPr>
          <p:cNvPr id="185" name="Google Shape;18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Time Complexity: O(C * (N²))</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100">
                <a:solidFill>
                  <a:schemeClr val="dk1"/>
                </a:solidFill>
                <a:latin typeface="Times New Roman"/>
                <a:ea typeface="Times New Roman"/>
                <a:cs typeface="Times New Roman"/>
                <a:sym typeface="Times New Roman"/>
              </a:rPr>
              <a:t>C:</a:t>
            </a:r>
            <a:r>
              <a:rPr lang="zh-TW" sz="2100">
                <a:solidFill>
                  <a:schemeClr val="dk1"/>
                </a:solidFill>
                <a:latin typeface="Times New Roman"/>
                <a:ea typeface="Times New Roman"/>
                <a:cs typeface="Times New Roman"/>
                <a:sym typeface="Times New Roman"/>
              </a:rPr>
              <a:t> the number of configurations we search in order to generate the solutions</a:t>
            </a:r>
            <a:endParaRPr sz="2100">
              <a:solidFill>
                <a:schemeClr val="dk1"/>
              </a:solidFill>
              <a:latin typeface="Times New Roman"/>
              <a:ea typeface="Times New Roman"/>
              <a:cs typeface="Times New Roman"/>
              <a:sym typeface="Times New Roman"/>
            </a:endParaRPr>
          </a:p>
        </p:txBody>
      </p:sp>
      <p:sp>
        <p:nvSpPr>
          <p:cNvPr id="186" name="Google Shape;18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Reference</a:t>
            </a:r>
            <a:endParaRPr>
              <a:latin typeface="Times New Roman"/>
              <a:ea typeface="Times New Roman"/>
              <a:cs typeface="Times New Roman"/>
              <a:sym typeface="Times New Roman"/>
            </a:endParaRPr>
          </a:p>
        </p:txBody>
      </p:sp>
      <p:sp>
        <p:nvSpPr>
          <p:cNvPr id="192" name="Google Shape;192;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Vishal Kesri, Vaibhav Kesri, and Prasant Ku. Pattnaik. An Unique Solution for N queen Problem International Journal of Computer Applications (0975 – 8887) Volume 43– No.12, April 2012</a:t>
            </a:r>
            <a:endParaRPr/>
          </a:p>
          <a:p>
            <a:pPr indent="0" lvl="0" marL="0" rtl="0" algn="l">
              <a:spcBef>
                <a:spcPts val="1200"/>
              </a:spcBef>
              <a:spcAft>
                <a:spcPts val="0"/>
              </a:spcAft>
              <a:buNone/>
            </a:pPr>
            <a:r>
              <a:rPr lang="zh-TW"/>
              <a:t>ECE 566 Constraint Satisfaction Problems and Techniques</a:t>
            </a:r>
            <a:endParaRPr/>
          </a:p>
          <a:p>
            <a:pPr indent="0" lvl="0" marL="0" rtl="0" algn="l">
              <a:spcBef>
                <a:spcPts val="1200"/>
              </a:spcBef>
              <a:spcAft>
                <a:spcPts val="1200"/>
              </a:spcAft>
              <a:buNone/>
            </a:pPr>
            <a:r>
              <a:rPr lang="zh-TW" u="sng">
                <a:solidFill>
                  <a:schemeClr val="hlink"/>
                </a:solidFill>
                <a:hlinkClick r:id="rId3"/>
              </a:rPr>
              <a:t>https://iq.opengenus.org/backjumping/</a:t>
            </a:r>
            <a:endParaRPr/>
          </a:p>
        </p:txBody>
      </p:sp>
      <p:sp>
        <p:nvSpPr>
          <p:cNvPr id="193" name="Google Shape;19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 </a:t>
            </a:r>
            <a:endParaRPr/>
          </a:p>
        </p:txBody>
      </p:sp>
      <p:sp>
        <p:nvSpPr>
          <p:cNvPr id="199" name="Google Shape;199;p30"/>
          <p:cNvSpPr txBox="1"/>
          <p:nvPr>
            <p:ph idx="1" type="body"/>
          </p:nvPr>
        </p:nvSpPr>
        <p:spPr>
          <a:xfrm>
            <a:off x="311700" y="1353325"/>
            <a:ext cx="8520600" cy="10863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zh-TW" sz="4800">
                <a:solidFill>
                  <a:schemeClr val="dk1"/>
                </a:solidFill>
                <a:latin typeface="Times New Roman"/>
                <a:ea typeface="Times New Roman"/>
                <a:cs typeface="Times New Roman"/>
                <a:sym typeface="Times New Roman"/>
              </a:rPr>
              <a:t>Thanks for your patience</a:t>
            </a:r>
            <a:endParaRPr sz="4800">
              <a:solidFill>
                <a:schemeClr val="dk1"/>
              </a:solidFill>
              <a:latin typeface="Times New Roman"/>
              <a:ea typeface="Times New Roman"/>
              <a:cs typeface="Times New Roman"/>
              <a:sym typeface="Times New Roman"/>
            </a:endParaRPr>
          </a:p>
        </p:txBody>
      </p:sp>
      <p:sp>
        <p:nvSpPr>
          <p:cNvPr id="200" name="Google Shape;200;p30"/>
          <p:cNvSpPr/>
          <p:nvPr/>
        </p:nvSpPr>
        <p:spPr>
          <a:xfrm>
            <a:off x="3987600" y="2357825"/>
            <a:ext cx="1168800" cy="11403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