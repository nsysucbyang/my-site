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9"/>
  </p:notesMasterIdLst>
  <p:sldIdLst>
    <p:sldId id="256" r:id="rId2"/>
    <p:sldId id="257" r:id="rId3"/>
    <p:sldId id="282" r:id="rId4"/>
    <p:sldId id="283" r:id="rId5"/>
    <p:sldId id="291" r:id="rId6"/>
    <p:sldId id="293" r:id="rId7"/>
    <p:sldId id="290" r:id="rId8"/>
    <p:sldId id="284" r:id="rId9"/>
    <p:sldId id="287" r:id="rId10"/>
    <p:sldId id="294" r:id="rId11"/>
    <p:sldId id="295" r:id="rId12"/>
    <p:sldId id="285" r:id="rId13"/>
    <p:sldId id="296" r:id="rId14"/>
    <p:sldId id="286" r:id="rId15"/>
    <p:sldId id="288" r:id="rId16"/>
    <p:sldId id="281" r:id="rId17"/>
    <p:sldId id="297"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2022/6/13</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2022/6/13</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2022/6/13</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2022/6/13</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2022/6/13</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2022/6/13</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2022/6/13</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2022/6/13</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p:txBody>
          <a:bodyPr>
            <a:normAutofit/>
          </a:bodyPr>
          <a:lstStyle/>
          <a:p>
            <a:r>
              <a:rPr kumimoji="1" lang="en-US" altLang="zh-TW" dirty="0"/>
              <a:t>Monge Properties of Sequence Alignment</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err="1">
                <a:latin typeface="Times New Roman" panose="02020603050405020304" pitchFamily="18" charset="0"/>
                <a:cs typeface="Times New Roman" panose="02020603050405020304" pitchFamily="18" charset="0"/>
              </a:rPr>
              <a:t>Luís</a:t>
            </a:r>
            <a:r>
              <a:rPr kumimoji="1" lang="en-US" altLang="zh-TW" dirty="0">
                <a:latin typeface="Times New Roman" panose="02020603050405020304" pitchFamily="18" charset="0"/>
                <a:cs typeface="Times New Roman" panose="02020603050405020304" pitchFamily="18" charset="0"/>
              </a:rPr>
              <a:t> M.S. Russo</a:t>
            </a:r>
            <a:endParaRPr kumimoji="1" lang="en"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Theoretical Computer Science</a:t>
            </a:r>
            <a:r>
              <a:rPr kumimoji="1" lang="en" altLang="zh-TW" dirty="0">
                <a:latin typeface="Times New Roman" panose="02020603050405020304" pitchFamily="18" charset="0"/>
                <a:cs typeface="Times New Roman" panose="02020603050405020304" pitchFamily="18" charset="0"/>
              </a:rPr>
              <a:t>, 2012</a:t>
            </a:r>
          </a:p>
          <a:p>
            <a:r>
              <a:rPr kumimoji="1" lang="en" altLang="zh-TW" dirty="0">
                <a:latin typeface="Times New Roman" panose="02020603050405020304" pitchFamily="18" charset="0"/>
                <a:cs typeface="Times New Roman" panose="02020603050405020304" pitchFamily="18" charset="0"/>
              </a:rPr>
              <a:t>Volume 423, pp. 30-49</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June 14,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a:bodyPr>
          <a:lstStyle/>
          <a:p>
            <a:pPr marL="0" indent="0" algn="just">
              <a:buNone/>
            </a:pPr>
            <a:r>
              <a:rPr kumimoji="1" lang="en-US" altLang="zh-TW" dirty="0">
                <a:latin typeface="Times New Roman" panose="02020603050405020304" pitchFamily="18" charset="0"/>
                <a:cs typeface="Times New Roman" panose="02020603050405020304" pitchFamily="18" charset="0"/>
              </a:rPr>
              <a:t>Alignment is an important sequence comparison measure. Algorithms that compute alignments have a wide range of applications, namely in bioinformatic tools. Alignments can be computed as maximum scoring paths in Alignment DAGs. In this paper we study the properties of matrices that contain alignment scores between a string and all the substrings of another string. We focus on the fact that these matrices have the Monge property and are sparse in some sense. Related studies were recently presented for HSM and DIST matrices, leading to O(</a:t>
            </a:r>
            <a:r>
              <a:rPr kumimoji="1" lang="en-US" altLang="zh-TW" i="1" dirty="0" err="1">
                <a:latin typeface="Times New Roman" panose="02020603050405020304" pitchFamily="18" charset="0"/>
                <a:cs typeface="Times New Roman" panose="02020603050405020304" pitchFamily="18" charset="0"/>
              </a:rPr>
              <a:t>n</a:t>
            </a:r>
            <a:r>
              <a:rPr kumimoji="1" lang="en-US" altLang="zh-TW" dirty="0" err="1">
                <a:latin typeface="Times New Roman" panose="02020603050405020304" pitchFamily="18" charset="0"/>
                <a:cs typeface="Times New Roman" panose="02020603050405020304" pitchFamily="18" charset="0"/>
              </a:rPr>
              <a:t>log</a:t>
            </a:r>
            <a:r>
              <a:rPr kumimoji="1" lang="en-US" altLang="zh-TW" i="1" dirty="0" err="1">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procedure for multiplying those matrices, where O(</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bounds the sizes of the strings. Our results strictly generalize previous solutions. </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We measure the sparseness of the matrices with variable </a:t>
            </a:r>
            <a:r>
              <a:rPr kumimoji="1" lang="en-US" altLang="zh-TW" i="1" dirty="0">
                <a:latin typeface="Times New Roman" panose="02020603050405020304" pitchFamily="18" charset="0"/>
                <a:cs typeface="Times New Roman" panose="02020603050405020304" pitchFamily="18" charset="0"/>
              </a:rPr>
              <a:t>𝛅</a:t>
            </a:r>
            <a:r>
              <a:rPr kumimoji="1" lang="en-US" altLang="zh-TW" dirty="0">
                <a:latin typeface="Times New Roman" panose="02020603050405020304" pitchFamily="18" charset="0"/>
                <a:cs typeface="Times New Roman" panose="02020603050405020304" pitchFamily="18" charset="0"/>
              </a:rPr>
              <a:t> and present an algorithm for matrix multiplication in O((</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𝛅</a:t>
            </a:r>
            <a:r>
              <a:rPr kumimoji="1" lang="en-US" altLang="zh-TW" dirty="0">
                <a:latin typeface="Times New Roman" panose="02020603050405020304" pitchFamily="18" charset="0"/>
                <a:cs typeface="Times New Roman" panose="02020603050405020304" pitchFamily="18" charset="0"/>
              </a:rPr>
              <a:t>)log</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𝛅</a:t>
            </a:r>
            <a:r>
              <a:rPr kumimoji="1" lang="en-US" altLang="zh-TW" dirty="0">
                <a:latin typeface="Times New Roman" panose="02020603050405020304" pitchFamily="18" charset="0"/>
                <a:cs typeface="Times New Roman" panose="02020603050405020304" pitchFamily="18" charset="0"/>
              </a:rPr>
              <a:t>)) time, which we improve to O((</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𝛅</a:t>
            </a:r>
            <a:r>
              <a:rPr kumimoji="1" lang="en-US" altLang="zh-TW" dirty="0">
                <a:latin typeface="Times New Roman" panose="02020603050405020304" pitchFamily="18" charset="0"/>
                <a:cs typeface="Times New Roman" panose="02020603050405020304" pitchFamily="18" charset="0"/>
              </a:rPr>
              <a:t>)log</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𝛅</a:t>
            </a:r>
            <a:r>
              <a:rPr kumimoji="1" lang="en-US" altLang="zh-TW" dirty="0">
                <a:latin typeface="Times New Roman" panose="02020603050405020304" pitchFamily="18" charset="0"/>
                <a:cs typeface="Times New Roman" panose="02020603050405020304" pitchFamily="18" charset="0"/>
              </a:rPr>
              <a:t>)) , within the same space. We discuss applications of this algorithm, namely fully incremental alignment and alignment update. We study, experimentally, the performance of the methods we propose.</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862176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Monge Matrix</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pic>
        <p:nvPicPr>
          <p:cNvPr id="4" name="圖片 3">
            <a:extLst>
              <a:ext uri="{FF2B5EF4-FFF2-40B4-BE49-F238E27FC236}">
                <a16:creationId xmlns:a16="http://schemas.microsoft.com/office/drawing/2014/main" id="{C0702BF4-58AD-EE24-A8FE-CEA6C9D659B5}"/>
              </a:ext>
            </a:extLst>
          </p:cNvPr>
          <p:cNvPicPr>
            <a:picLocks noChangeAspect="1"/>
          </p:cNvPicPr>
          <p:nvPr/>
        </p:nvPicPr>
        <p:blipFill>
          <a:blip r:embed="rId2"/>
          <a:stretch>
            <a:fillRect/>
          </a:stretch>
        </p:blipFill>
        <p:spPr>
          <a:xfrm>
            <a:off x="106330" y="1833155"/>
            <a:ext cx="2880000" cy="3560228"/>
          </a:xfrm>
          <a:prstGeom prst="rect">
            <a:avLst/>
          </a:prstGeom>
        </p:spPr>
      </p:pic>
      <p:pic>
        <p:nvPicPr>
          <p:cNvPr id="5" name="圖片 4">
            <a:extLst>
              <a:ext uri="{FF2B5EF4-FFF2-40B4-BE49-F238E27FC236}">
                <a16:creationId xmlns:a16="http://schemas.microsoft.com/office/drawing/2014/main" id="{7EE01DC4-D3AF-37F9-1C82-9A47C4B003E8}"/>
              </a:ext>
            </a:extLst>
          </p:cNvPr>
          <p:cNvPicPr>
            <a:picLocks noChangeAspect="1"/>
          </p:cNvPicPr>
          <p:nvPr/>
        </p:nvPicPr>
        <p:blipFill>
          <a:blip r:embed="rId3"/>
          <a:stretch>
            <a:fillRect/>
          </a:stretch>
        </p:blipFill>
        <p:spPr>
          <a:xfrm>
            <a:off x="3111594" y="1675815"/>
            <a:ext cx="2880000" cy="3874909"/>
          </a:xfrm>
          <a:prstGeom prst="rect">
            <a:avLst/>
          </a:prstGeom>
        </p:spPr>
      </p:pic>
      <p:pic>
        <p:nvPicPr>
          <p:cNvPr id="7" name="圖片 6">
            <a:extLst>
              <a:ext uri="{FF2B5EF4-FFF2-40B4-BE49-F238E27FC236}">
                <a16:creationId xmlns:a16="http://schemas.microsoft.com/office/drawing/2014/main" id="{D6C0B124-0992-2E77-5082-C3F124461387}"/>
              </a:ext>
            </a:extLst>
          </p:cNvPr>
          <p:cNvPicPr>
            <a:picLocks noChangeAspect="1"/>
          </p:cNvPicPr>
          <p:nvPr/>
        </p:nvPicPr>
        <p:blipFill>
          <a:blip r:embed="rId4"/>
          <a:stretch>
            <a:fillRect/>
          </a:stretch>
        </p:blipFill>
        <p:spPr>
          <a:xfrm>
            <a:off x="6116858" y="1696779"/>
            <a:ext cx="2880000" cy="3832980"/>
          </a:xfrm>
          <a:prstGeom prst="rect">
            <a:avLst/>
          </a:prstGeom>
        </p:spPr>
      </p:pic>
      <p:pic>
        <p:nvPicPr>
          <p:cNvPr id="8" name="圖片 7">
            <a:extLst>
              <a:ext uri="{FF2B5EF4-FFF2-40B4-BE49-F238E27FC236}">
                <a16:creationId xmlns:a16="http://schemas.microsoft.com/office/drawing/2014/main" id="{D153D7AE-8ED8-14E0-15CF-E7406E2E7895}"/>
              </a:ext>
            </a:extLst>
          </p:cNvPr>
          <p:cNvPicPr>
            <a:picLocks noChangeAspect="1"/>
          </p:cNvPicPr>
          <p:nvPr/>
        </p:nvPicPr>
        <p:blipFill>
          <a:blip r:embed="rId5"/>
          <a:stretch>
            <a:fillRect/>
          </a:stretch>
        </p:blipFill>
        <p:spPr>
          <a:xfrm>
            <a:off x="9122123" y="1744606"/>
            <a:ext cx="2880000" cy="3737326"/>
          </a:xfrm>
          <a:prstGeom prst="rect">
            <a:avLst/>
          </a:prstGeom>
        </p:spPr>
      </p:pic>
      <p:pic>
        <p:nvPicPr>
          <p:cNvPr id="12" name="圖片 11">
            <a:extLst>
              <a:ext uri="{FF2B5EF4-FFF2-40B4-BE49-F238E27FC236}">
                <a16:creationId xmlns:a16="http://schemas.microsoft.com/office/drawing/2014/main" id="{DCC9D116-9F7C-9A40-540E-4AA21DFBFD5D}"/>
              </a:ext>
            </a:extLst>
          </p:cNvPr>
          <p:cNvPicPr>
            <a:picLocks noChangeAspect="1"/>
          </p:cNvPicPr>
          <p:nvPr/>
        </p:nvPicPr>
        <p:blipFill rotWithShape="1">
          <a:blip r:embed="rId6"/>
          <a:srcRect t="53885"/>
          <a:stretch/>
        </p:blipFill>
        <p:spPr>
          <a:xfrm>
            <a:off x="4405867" y="580018"/>
            <a:ext cx="6527483" cy="340332"/>
          </a:xfrm>
          <a:prstGeom prst="rect">
            <a:avLst/>
          </a:prstGeom>
        </p:spPr>
      </p:pic>
      <p:sp>
        <p:nvSpPr>
          <p:cNvPr id="13" name="文字方塊 12">
            <a:extLst>
              <a:ext uri="{FF2B5EF4-FFF2-40B4-BE49-F238E27FC236}">
                <a16:creationId xmlns:a16="http://schemas.microsoft.com/office/drawing/2014/main" id="{DDAC767D-34D0-D893-7656-DFD26CF89F50}"/>
              </a:ext>
            </a:extLst>
          </p:cNvPr>
          <p:cNvSpPr txBox="1"/>
          <p:nvPr/>
        </p:nvSpPr>
        <p:spPr>
          <a:xfrm>
            <a:off x="300524" y="5547407"/>
            <a:ext cx="2491612" cy="923330"/>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(a) The A Monge matrix. The </a:t>
            </a:r>
            <a:r>
              <a:rPr kumimoji="1" lang="en-US" altLang="zh-TW" b="1" dirty="0">
                <a:latin typeface="Times New Roman" panose="02020603050405020304" pitchFamily="18" charset="0"/>
                <a:cs typeface="Times New Roman" panose="02020603050405020304" pitchFamily="18" charset="0"/>
              </a:rPr>
              <a:t>leftmost maximum </a:t>
            </a:r>
            <a:r>
              <a:rPr kumimoji="1" lang="en-US" altLang="zh-TW" dirty="0">
                <a:latin typeface="Times New Roman" panose="02020603050405020304" pitchFamily="18" charset="0"/>
                <a:cs typeface="Times New Roman" panose="02020603050405020304" pitchFamily="18" charset="0"/>
              </a:rPr>
              <a:t>per row is in bold.</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CAB17494-CB03-1C90-1A4A-5B40CED7F37E}"/>
              </a:ext>
            </a:extLst>
          </p:cNvPr>
          <p:cNvSpPr txBox="1"/>
          <p:nvPr/>
        </p:nvSpPr>
        <p:spPr>
          <a:xfrm>
            <a:off x="3221617" y="5547407"/>
            <a:ext cx="2659955" cy="923330"/>
          </a:xfrm>
          <a:prstGeom prst="rect">
            <a:avLst/>
          </a:prstGeom>
          <a:noFill/>
        </p:spPr>
        <p:txBody>
          <a:bodyPr wrap="square" rtlCol="0">
            <a:spAutoFit/>
          </a:bodyPr>
          <a:lstStyle/>
          <a:p>
            <a:pPr algn="just"/>
            <a:r>
              <a:rPr kumimoji="1" lang="en-US" altLang="zh-TW" dirty="0">
                <a:latin typeface="Times New Roman" panose="02020603050405020304" pitchFamily="18" charset="0"/>
                <a:cs typeface="Times New Roman" panose="02020603050405020304" pitchFamily="18" charset="0"/>
              </a:rPr>
              <a:t>(b) The A Monge matrix and the underlying density matrix.</a:t>
            </a:r>
            <a:endParaRPr kumimoji="1" lang="zh-TW" altLang="en-US"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2328B3B8-C7A1-147B-C8D0-AAD8788D28E9}"/>
              </a:ext>
            </a:extLst>
          </p:cNvPr>
          <p:cNvSpPr txBox="1"/>
          <p:nvPr/>
        </p:nvSpPr>
        <p:spPr>
          <a:xfrm>
            <a:off x="6226881" y="5547407"/>
            <a:ext cx="2659955" cy="646331"/>
          </a:xfrm>
          <a:prstGeom prst="rect">
            <a:avLst/>
          </a:prstGeom>
          <a:noFill/>
        </p:spPr>
        <p:txBody>
          <a:bodyPr wrap="square" rtlCol="0">
            <a:spAutoFit/>
          </a:bodyPr>
          <a:lstStyle/>
          <a:p>
            <a:r>
              <a:rPr kumimoji="1" lang="en-US" altLang="zh-TW" dirty="0">
                <a:latin typeface="Times New Roman" panose="02020603050405020304" pitchFamily="18" charset="0"/>
                <a:cs typeface="Times New Roman" panose="02020603050405020304" pitchFamily="18" charset="0"/>
              </a:rPr>
              <a:t>(c) The A density matrix, the 0 entries are omitted.</a:t>
            </a:r>
            <a:endParaRPr kumimoji="1"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E9FDF900-D0C0-B1C6-0C3A-ADAD807C0E53}"/>
              </a:ext>
            </a:extLst>
          </p:cNvPr>
          <p:cNvSpPr txBox="1"/>
          <p:nvPr/>
        </p:nvSpPr>
        <p:spPr>
          <a:xfrm>
            <a:off x="9232146" y="5547407"/>
            <a:ext cx="2659955" cy="1200329"/>
          </a:xfrm>
          <a:prstGeom prst="rect">
            <a:avLst/>
          </a:prstGeom>
          <a:noFill/>
        </p:spPr>
        <p:txBody>
          <a:bodyPr wrap="square" rtlCol="0">
            <a:spAutoFit/>
          </a:bodyPr>
          <a:lstStyle/>
          <a:p>
            <a:pPr algn="just"/>
            <a:r>
              <a:rPr kumimoji="1" lang="en-US" altLang="zh-TW" dirty="0">
                <a:latin typeface="Times New Roman" panose="02020603050405020304" pitchFamily="18" charset="0"/>
                <a:cs typeface="Times New Roman" panose="02020603050405020304" pitchFamily="18" charset="0"/>
              </a:rPr>
              <a:t>(d) The A density matrix and distribution matrix. A(5, 2) = 10 + 1 + 12 + 12 = 35.</a:t>
            </a:r>
            <a:endParaRPr kumimoji="1" lang="zh-TW" altLang="en-US" dirty="0">
              <a:latin typeface="Times New Roman" panose="02020603050405020304" pitchFamily="18" charset="0"/>
              <a:cs typeface="Times New Roman" panose="02020603050405020304" pitchFamily="18" charset="0"/>
            </a:endParaRPr>
          </a:p>
        </p:txBody>
      </p:sp>
      <p:pic>
        <p:nvPicPr>
          <p:cNvPr id="17" name="圖片 16">
            <a:extLst>
              <a:ext uri="{FF2B5EF4-FFF2-40B4-BE49-F238E27FC236}">
                <a16:creationId xmlns:a16="http://schemas.microsoft.com/office/drawing/2014/main" id="{DE0E8180-96AE-26AC-213C-8B642DC5E03A}"/>
              </a:ext>
            </a:extLst>
          </p:cNvPr>
          <p:cNvPicPr>
            <a:picLocks noChangeAspect="1"/>
          </p:cNvPicPr>
          <p:nvPr/>
        </p:nvPicPr>
        <p:blipFill>
          <a:blip r:embed="rId7"/>
          <a:stretch>
            <a:fillRect/>
          </a:stretch>
        </p:blipFill>
        <p:spPr>
          <a:xfrm>
            <a:off x="4405867" y="997817"/>
            <a:ext cx="2832100" cy="711200"/>
          </a:xfrm>
          <a:prstGeom prst="rect">
            <a:avLst/>
          </a:prstGeom>
        </p:spPr>
      </p:pic>
      <p:pic>
        <p:nvPicPr>
          <p:cNvPr id="18" name="圖片 17">
            <a:extLst>
              <a:ext uri="{FF2B5EF4-FFF2-40B4-BE49-F238E27FC236}">
                <a16:creationId xmlns:a16="http://schemas.microsoft.com/office/drawing/2014/main" id="{A4443DC9-34AE-7CCA-AA41-FFBBCAB269EC}"/>
              </a:ext>
            </a:extLst>
          </p:cNvPr>
          <p:cNvPicPr>
            <a:picLocks noChangeAspect="1"/>
          </p:cNvPicPr>
          <p:nvPr/>
        </p:nvPicPr>
        <p:blipFill rotWithShape="1">
          <a:blip r:embed="rId6"/>
          <a:srcRect l="10939" t="3936" r="2566" b="49861"/>
          <a:stretch/>
        </p:blipFill>
        <p:spPr>
          <a:xfrm>
            <a:off x="4405867" y="140956"/>
            <a:ext cx="5635257" cy="340331"/>
          </a:xfrm>
          <a:prstGeom prst="rect">
            <a:avLst/>
          </a:prstGeom>
        </p:spPr>
      </p:pic>
      <p:sp>
        <p:nvSpPr>
          <p:cNvPr id="19" name="文字方塊 18">
            <a:extLst>
              <a:ext uri="{FF2B5EF4-FFF2-40B4-BE49-F238E27FC236}">
                <a16:creationId xmlns:a16="http://schemas.microsoft.com/office/drawing/2014/main" id="{99C38C7E-4801-5EC6-08E6-A4276E244F90}"/>
              </a:ext>
            </a:extLst>
          </p:cNvPr>
          <p:cNvSpPr txBox="1"/>
          <p:nvPr/>
        </p:nvSpPr>
        <p:spPr>
          <a:xfrm>
            <a:off x="10205094" y="107918"/>
            <a:ext cx="984736" cy="369332"/>
          </a:xfrm>
          <a:prstGeom prst="rect">
            <a:avLst/>
          </a:prstGeom>
          <a:noFill/>
        </p:spPr>
        <p:txBody>
          <a:bodyPr wrap="squar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Density</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5D50DB1A-8248-D2E0-A77E-F64242C1B923}"/>
              </a:ext>
            </a:extLst>
          </p:cNvPr>
          <p:cNvSpPr txBox="1"/>
          <p:nvPr/>
        </p:nvSpPr>
        <p:spPr>
          <a:xfrm>
            <a:off x="11062450" y="579672"/>
            <a:ext cx="984736" cy="369332"/>
          </a:xfrm>
          <a:prstGeom prst="rect">
            <a:avLst/>
          </a:prstGeom>
          <a:noFill/>
        </p:spPr>
        <p:txBody>
          <a:bodyPr wrap="squar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Monge</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51CA023C-8740-FB3C-4209-1422B52A0E00}"/>
              </a:ext>
            </a:extLst>
          </p:cNvPr>
          <p:cNvSpPr txBox="1"/>
          <p:nvPr/>
        </p:nvSpPr>
        <p:spPr>
          <a:xfrm>
            <a:off x="7556858" y="1133957"/>
            <a:ext cx="1439716" cy="369332"/>
          </a:xfrm>
          <a:prstGeom prst="rect">
            <a:avLst/>
          </a:prstGeom>
          <a:noFill/>
        </p:spPr>
        <p:txBody>
          <a:bodyPr wrap="squar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Distribution</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6768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Matrix Multiplication</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pic>
        <p:nvPicPr>
          <p:cNvPr id="4" name="圖片 3">
            <a:extLst>
              <a:ext uri="{FF2B5EF4-FFF2-40B4-BE49-F238E27FC236}">
                <a16:creationId xmlns:a16="http://schemas.microsoft.com/office/drawing/2014/main" id="{2C5843D8-42B4-E384-D872-2411C626BD76}"/>
              </a:ext>
            </a:extLst>
          </p:cNvPr>
          <p:cNvPicPr>
            <a:picLocks noChangeAspect="1"/>
          </p:cNvPicPr>
          <p:nvPr/>
        </p:nvPicPr>
        <p:blipFill>
          <a:blip r:embed="rId2"/>
          <a:stretch>
            <a:fillRect/>
          </a:stretch>
        </p:blipFill>
        <p:spPr>
          <a:xfrm>
            <a:off x="76200" y="2347990"/>
            <a:ext cx="3221533" cy="3861427"/>
          </a:xfrm>
          <a:prstGeom prst="rect">
            <a:avLst/>
          </a:prstGeom>
        </p:spPr>
      </p:pic>
      <p:pic>
        <p:nvPicPr>
          <p:cNvPr id="5" name="圖片 4">
            <a:extLst>
              <a:ext uri="{FF2B5EF4-FFF2-40B4-BE49-F238E27FC236}">
                <a16:creationId xmlns:a16="http://schemas.microsoft.com/office/drawing/2014/main" id="{DD1AE8BE-BEDC-6548-CD69-FE7F2144FAC2}"/>
              </a:ext>
            </a:extLst>
          </p:cNvPr>
          <p:cNvPicPr>
            <a:picLocks noChangeAspect="1"/>
          </p:cNvPicPr>
          <p:nvPr/>
        </p:nvPicPr>
        <p:blipFill>
          <a:blip r:embed="rId3"/>
          <a:stretch>
            <a:fillRect/>
          </a:stretch>
        </p:blipFill>
        <p:spPr>
          <a:xfrm>
            <a:off x="3311336" y="2347990"/>
            <a:ext cx="4060176" cy="2766274"/>
          </a:xfrm>
          <a:prstGeom prst="rect">
            <a:avLst/>
          </a:prstGeom>
        </p:spPr>
      </p:pic>
      <p:pic>
        <p:nvPicPr>
          <p:cNvPr id="7" name="圖片 6">
            <a:extLst>
              <a:ext uri="{FF2B5EF4-FFF2-40B4-BE49-F238E27FC236}">
                <a16:creationId xmlns:a16="http://schemas.microsoft.com/office/drawing/2014/main" id="{D243AF71-F107-5D68-11AF-656E56747A0D}"/>
              </a:ext>
            </a:extLst>
          </p:cNvPr>
          <p:cNvPicPr>
            <a:picLocks noChangeAspect="1"/>
          </p:cNvPicPr>
          <p:nvPr/>
        </p:nvPicPr>
        <p:blipFill>
          <a:blip r:embed="rId4"/>
          <a:stretch>
            <a:fillRect/>
          </a:stretch>
        </p:blipFill>
        <p:spPr>
          <a:xfrm>
            <a:off x="7884849" y="2220842"/>
            <a:ext cx="4147663" cy="3988575"/>
          </a:xfrm>
          <a:prstGeom prst="rect">
            <a:avLst/>
          </a:prstGeom>
        </p:spPr>
      </p:pic>
      <p:sp>
        <p:nvSpPr>
          <p:cNvPr id="8" name="文字方塊 7">
            <a:extLst>
              <a:ext uri="{FF2B5EF4-FFF2-40B4-BE49-F238E27FC236}">
                <a16:creationId xmlns:a16="http://schemas.microsoft.com/office/drawing/2014/main" id="{5C21A2AD-30BC-B670-E759-121EFE80D4F1}"/>
              </a:ext>
            </a:extLst>
          </p:cNvPr>
          <p:cNvSpPr txBox="1"/>
          <p:nvPr/>
        </p:nvSpPr>
        <p:spPr>
          <a:xfrm>
            <a:off x="7448913" y="3578360"/>
            <a:ext cx="338554" cy="369332"/>
          </a:xfrm>
          <a:prstGeom prst="rect">
            <a:avLst/>
          </a:prstGeom>
          <a:noFill/>
        </p:spPr>
        <p:txBody>
          <a:bodyPr wrap="none" rtlCol="0">
            <a:spAutoFit/>
          </a:bodyPr>
          <a:lstStyle/>
          <a:p>
            <a:r>
              <a:rPr kumimoji="1" lang="en-US" altLang="zh-TW" dirty="0"/>
              <a:t>=</a:t>
            </a:r>
            <a:endParaRPr kumimoji="1" lang="zh-TW" altLang="en-US" dirty="0"/>
          </a:p>
        </p:txBody>
      </p:sp>
      <p:pic>
        <p:nvPicPr>
          <p:cNvPr id="11" name="圖片 10">
            <a:extLst>
              <a:ext uri="{FF2B5EF4-FFF2-40B4-BE49-F238E27FC236}">
                <a16:creationId xmlns:a16="http://schemas.microsoft.com/office/drawing/2014/main" id="{058D0BF9-6458-3220-6D3F-D0B162074D23}"/>
              </a:ext>
            </a:extLst>
          </p:cNvPr>
          <p:cNvPicPr>
            <a:picLocks noChangeAspect="1"/>
          </p:cNvPicPr>
          <p:nvPr/>
        </p:nvPicPr>
        <p:blipFill rotWithShape="1">
          <a:blip r:embed="rId5"/>
          <a:srcRect t="54975" r="76713" b="-4424"/>
          <a:stretch/>
        </p:blipFill>
        <p:spPr>
          <a:xfrm>
            <a:off x="3064156" y="1731793"/>
            <a:ext cx="2515033" cy="282914"/>
          </a:xfrm>
          <a:prstGeom prst="rect">
            <a:avLst/>
          </a:prstGeom>
        </p:spPr>
      </p:pic>
      <p:pic>
        <p:nvPicPr>
          <p:cNvPr id="12" name="圖片 11">
            <a:extLst>
              <a:ext uri="{FF2B5EF4-FFF2-40B4-BE49-F238E27FC236}">
                <a16:creationId xmlns:a16="http://schemas.microsoft.com/office/drawing/2014/main" id="{88625C78-22CA-ACA0-6F5E-74F5CEA7A221}"/>
              </a:ext>
            </a:extLst>
          </p:cNvPr>
          <p:cNvPicPr>
            <a:picLocks noChangeAspect="1"/>
          </p:cNvPicPr>
          <p:nvPr/>
        </p:nvPicPr>
        <p:blipFill rotWithShape="1">
          <a:blip r:embed="rId5"/>
          <a:srcRect l="79564" b="36181"/>
          <a:stretch/>
        </p:blipFill>
        <p:spPr>
          <a:xfrm>
            <a:off x="838200" y="1690688"/>
            <a:ext cx="2207121" cy="365125"/>
          </a:xfrm>
          <a:prstGeom prst="rect">
            <a:avLst/>
          </a:prstGeom>
        </p:spPr>
      </p:pic>
      <p:sp>
        <p:nvSpPr>
          <p:cNvPr id="13" name="矩形 12">
            <a:extLst>
              <a:ext uri="{FF2B5EF4-FFF2-40B4-BE49-F238E27FC236}">
                <a16:creationId xmlns:a16="http://schemas.microsoft.com/office/drawing/2014/main" id="{2A56E5E5-90A4-4231-D6EE-E7492F3E2693}"/>
              </a:ext>
            </a:extLst>
          </p:cNvPr>
          <p:cNvSpPr/>
          <p:nvPr/>
        </p:nvSpPr>
        <p:spPr>
          <a:xfrm>
            <a:off x="3896156" y="6308209"/>
            <a:ext cx="3986989"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(a) Monge max-plus product. C = A ⊗ B</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6FB65CC0-01E8-F030-EF70-062313725A00}"/>
              </a:ext>
            </a:extLst>
          </p:cNvPr>
          <p:cNvSpPr txBox="1"/>
          <p:nvPr/>
        </p:nvSpPr>
        <p:spPr>
          <a:xfrm>
            <a:off x="159488" y="2080526"/>
            <a:ext cx="35137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a:t>
            </a:r>
            <a:endParaRPr kumimoji="1" lang="zh-TW" altLang="en-US"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C1495DC0-6A5E-C280-0DDD-FBA2B1BBCC0B}"/>
              </a:ext>
            </a:extLst>
          </p:cNvPr>
          <p:cNvSpPr txBox="1"/>
          <p:nvPr/>
        </p:nvSpPr>
        <p:spPr>
          <a:xfrm>
            <a:off x="3357446" y="2080526"/>
            <a:ext cx="338554"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B</a:t>
            </a:r>
            <a:endParaRPr kumimoji="1" lang="zh-TW" altLang="en-US" dirty="0">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612FCB75-46DB-DD6A-87F0-9FF887A7BF2B}"/>
              </a:ext>
            </a:extLst>
          </p:cNvPr>
          <p:cNvSpPr txBox="1"/>
          <p:nvPr/>
        </p:nvSpPr>
        <p:spPr>
          <a:xfrm>
            <a:off x="7883990" y="2080526"/>
            <a:ext cx="338554"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C</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741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Intermediate Computation Matrices M</a:t>
            </a:r>
            <a:r>
              <a:rPr kumimoji="1" lang="en-US" altLang="zh-TW" baseline="-25000" dirty="0"/>
              <a:t>i</a:t>
            </a:r>
            <a:endParaRPr kumimoji="1" lang="zh-TW" altLang="en-US" baseline="-25000"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4" name="圖片 3">
            <a:extLst>
              <a:ext uri="{FF2B5EF4-FFF2-40B4-BE49-F238E27FC236}">
                <a16:creationId xmlns:a16="http://schemas.microsoft.com/office/drawing/2014/main" id="{AEA570B4-61B3-E0E5-5B5D-CEEF6A47C4FE}"/>
              </a:ext>
            </a:extLst>
          </p:cNvPr>
          <p:cNvPicPr>
            <a:picLocks noChangeAspect="1"/>
          </p:cNvPicPr>
          <p:nvPr/>
        </p:nvPicPr>
        <p:blipFill rotWithShape="1">
          <a:blip r:embed="rId2"/>
          <a:srcRect t="1" b="1223"/>
          <a:stretch/>
        </p:blipFill>
        <p:spPr>
          <a:xfrm>
            <a:off x="4838700" y="1526347"/>
            <a:ext cx="6515100" cy="4766950"/>
          </a:xfrm>
          <a:prstGeom prst="rect">
            <a:avLst/>
          </a:prstGeom>
        </p:spPr>
      </p:pic>
      <p:pic>
        <p:nvPicPr>
          <p:cNvPr id="7" name="圖片 6">
            <a:extLst>
              <a:ext uri="{FF2B5EF4-FFF2-40B4-BE49-F238E27FC236}">
                <a16:creationId xmlns:a16="http://schemas.microsoft.com/office/drawing/2014/main" id="{1CED2D74-ABE5-D89C-D945-B416284506BF}"/>
              </a:ext>
            </a:extLst>
          </p:cNvPr>
          <p:cNvPicPr>
            <a:picLocks noChangeAspect="1"/>
          </p:cNvPicPr>
          <p:nvPr/>
        </p:nvPicPr>
        <p:blipFill>
          <a:blip r:embed="rId3"/>
          <a:stretch>
            <a:fillRect/>
          </a:stretch>
        </p:blipFill>
        <p:spPr>
          <a:xfrm>
            <a:off x="282570" y="2304722"/>
            <a:ext cx="4147663" cy="3988575"/>
          </a:xfrm>
          <a:prstGeom prst="rect">
            <a:avLst/>
          </a:prstGeom>
        </p:spPr>
      </p:pic>
      <p:sp>
        <p:nvSpPr>
          <p:cNvPr id="8" name="矩形 7">
            <a:extLst>
              <a:ext uri="{FF2B5EF4-FFF2-40B4-BE49-F238E27FC236}">
                <a16:creationId xmlns:a16="http://schemas.microsoft.com/office/drawing/2014/main" id="{68E42E27-8FCF-2F6E-E3D8-8EA39194F41F}"/>
              </a:ext>
            </a:extLst>
          </p:cNvPr>
          <p:cNvSpPr/>
          <p:nvPr/>
        </p:nvSpPr>
        <p:spPr>
          <a:xfrm>
            <a:off x="1108784" y="6323900"/>
            <a:ext cx="2495235"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(a) The C Monge matrix.</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B6BB238C-35D2-CFDE-E65B-ED33D724F1C8}"/>
              </a:ext>
            </a:extLst>
          </p:cNvPr>
          <p:cNvSpPr/>
          <p:nvPr/>
        </p:nvSpPr>
        <p:spPr>
          <a:xfrm>
            <a:off x="7134288" y="6357496"/>
            <a:ext cx="1923925"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(b) The 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dirty="0">
                <a:solidFill>
                  <a:srgbClr val="000000"/>
                </a:solidFill>
                <a:latin typeface="Times New Roman" panose="02020603050405020304" pitchFamily="18" charset="0"/>
                <a:cs typeface="Times New Roman" panose="02020603050405020304" pitchFamily="18" charset="0"/>
              </a:rPr>
              <a:t> matrix.</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pic>
        <p:nvPicPr>
          <p:cNvPr id="12" name="圖片 11">
            <a:extLst>
              <a:ext uri="{FF2B5EF4-FFF2-40B4-BE49-F238E27FC236}">
                <a16:creationId xmlns:a16="http://schemas.microsoft.com/office/drawing/2014/main" id="{1ED92857-857C-CCC1-CFCA-2E831467F176}"/>
              </a:ext>
            </a:extLst>
          </p:cNvPr>
          <p:cNvPicPr>
            <a:picLocks noChangeAspect="1"/>
          </p:cNvPicPr>
          <p:nvPr/>
        </p:nvPicPr>
        <p:blipFill>
          <a:blip r:embed="rId4"/>
          <a:stretch>
            <a:fillRect/>
          </a:stretch>
        </p:blipFill>
        <p:spPr>
          <a:xfrm>
            <a:off x="838200" y="1427300"/>
            <a:ext cx="3344087" cy="337739"/>
          </a:xfrm>
          <a:prstGeom prst="rect">
            <a:avLst/>
          </a:prstGeom>
        </p:spPr>
      </p:pic>
      <p:pic>
        <p:nvPicPr>
          <p:cNvPr id="13" name="圖片 12">
            <a:extLst>
              <a:ext uri="{FF2B5EF4-FFF2-40B4-BE49-F238E27FC236}">
                <a16:creationId xmlns:a16="http://schemas.microsoft.com/office/drawing/2014/main" id="{CB77957F-C442-8A10-4179-2BC1A6101B44}"/>
              </a:ext>
            </a:extLst>
          </p:cNvPr>
          <p:cNvPicPr>
            <a:picLocks noChangeAspect="1"/>
          </p:cNvPicPr>
          <p:nvPr/>
        </p:nvPicPr>
        <p:blipFill>
          <a:blip r:embed="rId5"/>
          <a:stretch>
            <a:fillRect/>
          </a:stretch>
        </p:blipFill>
        <p:spPr>
          <a:xfrm>
            <a:off x="838200" y="1899485"/>
            <a:ext cx="3353096" cy="336774"/>
          </a:xfrm>
          <a:prstGeom prst="rect">
            <a:avLst/>
          </a:prstGeom>
        </p:spPr>
      </p:pic>
    </p:spTree>
    <p:extLst>
      <p:ext uri="{BB962C8B-B14F-4D97-AF65-F5344CB8AC3E}">
        <p14:creationId xmlns:p14="http://schemas.microsoft.com/office/powerpoint/2010/main" val="1591253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4" name="圖片 3">
            <a:extLst>
              <a:ext uri="{FF2B5EF4-FFF2-40B4-BE49-F238E27FC236}">
                <a16:creationId xmlns:a16="http://schemas.microsoft.com/office/drawing/2014/main" id="{4EB8E468-4A99-0F60-69A0-B4370CAFF0BB}"/>
              </a:ext>
            </a:extLst>
          </p:cNvPr>
          <p:cNvPicPr>
            <a:picLocks noChangeAspect="1"/>
          </p:cNvPicPr>
          <p:nvPr/>
        </p:nvPicPr>
        <p:blipFill rotWithShape="1">
          <a:blip r:embed="rId2"/>
          <a:srcRect r="55006"/>
          <a:stretch/>
        </p:blipFill>
        <p:spPr>
          <a:xfrm>
            <a:off x="1792470" y="2502803"/>
            <a:ext cx="3651398" cy="4343400"/>
          </a:xfrm>
          <a:prstGeom prst="rect">
            <a:avLst/>
          </a:prstGeom>
        </p:spPr>
      </p:pic>
      <p:pic>
        <p:nvPicPr>
          <p:cNvPr id="9" name="圖片 8">
            <a:extLst>
              <a:ext uri="{FF2B5EF4-FFF2-40B4-BE49-F238E27FC236}">
                <a16:creationId xmlns:a16="http://schemas.microsoft.com/office/drawing/2014/main" id="{E4660EA0-8B1B-A47C-3862-5729D43067C9}"/>
              </a:ext>
            </a:extLst>
          </p:cNvPr>
          <p:cNvPicPr>
            <a:picLocks noChangeAspect="1"/>
          </p:cNvPicPr>
          <p:nvPr/>
        </p:nvPicPr>
        <p:blipFill rotWithShape="1">
          <a:blip r:embed="rId2"/>
          <a:srcRect l="45142" b="27525"/>
          <a:stretch/>
        </p:blipFill>
        <p:spPr>
          <a:xfrm>
            <a:off x="5455858" y="2502803"/>
            <a:ext cx="4451912" cy="3147884"/>
          </a:xfrm>
          <a:prstGeom prst="rect">
            <a:avLst/>
          </a:prstGeom>
        </p:spPr>
      </p:pic>
      <p:pic>
        <p:nvPicPr>
          <p:cNvPr id="11" name="圖片 10">
            <a:extLst>
              <a:ext uri="{FF2B5EF4-FFF2-40B4-BE49-F238E27FC236}">
                <a16:creationId xmlns:a16="http://schemas.microsoft.com/office/drawing/2014/main" id="{12104905-33F8-94CB-A29E-0434FC25E65A}"/>
              </a:ext>
            </a:extLst>
          </p:cNvPr>
          <p:cNvPicPr>
            <a:picLocks noChangeAspect="1"/>
          </p:cNvPicPr>
          <p:nvPr/>
        </p:nvPicPr>
        <p:blipFill rotWithShape="1">
          <a:blip r:embed="rId3"/>
          <a:srcRect t="54975" r="76713" b="-4424"/>
          <a:stretch/>
        </p:blipFill>
        <p:spPr>
          <a:xfrm>
            <a:off x="7615321" y="5952707"/>
            <a:ext cx="2515033" cy="282914"/>
          </a:xfrm>
          <a:prstGeom prst="rect">
            <a:avLst/>
          </a:prstGeom>
        </p:spPr>
      </p:pic>
      <p:pic>
        <p:nvPicPr>
          <p:cNvPr id="12" name="圖片 11">
            <a:extLst>
              <a:ext uri="{FF2B5EF4-FFF2-40B4-BE49-F238E27FC236}">
                <a16:creationId xmlns:a16="http://schemas.microsoft.com/office/drawing/2014/main" id="{99BAFA3F-CEB0-9738-24CD-72D04668001F}"/>
              </a:ext>
            </a:extLst>
          </p:cNvPr>
          <p:cNvPicPr>
            <a:picLocks noChangeAspect="1"/>
          </p:cNvPicPr>
          <p:nvPr/>
        </p:nvPicPr>
        <p:blipFill rotWithShape="1">
          <a:blip r:embed="rId3"/>
          <a:srcRect l="79564" b="36181"/>
          <a:stretch/>
        </p:blipFill>
        <p:spPr>
          <a:xfrm>
            <a:off x="5389365" y="5911602"/>
            <a:ext cx="2207121" cy="365125"/>
          </a:xfrm>
          <a:prstGeom prst="rect">
            <a:avLst/>
          </a:prstGeom>
        </p:spPr>
      </p:pic>
      <p:pic>
        <p:nvPicPr>
          <p:cNvPr id="13" name="圖片 12">
            <a:extLst>
              <a:ext uri="{FF2B5EF4-FFF2-40B4-BE49-F238E27FC236}">
                <a16:creationId xmlns:a16="http://schemas.microsoft.com/office/drawing/2014/main" id="{38C98CE6-C780-B004-A4E9-96134DE3C01F}"/>
              </a:ext>
            </a:extLst>
          </p:cNvPr>
          <p:cNvPicPr>
            <a:picLocks noChangeAspect="1"/>
          </p:cNvPicPr>
          <p:nvPr/>
        </p:nvPicPr>
        <p:blipFill rotWithShape="1">
          <a:blip r:embed="rId4"/>
          <a:srcRect b="40072"/>
          <a:stretch/>
        </p:blipFill>
        <p:spPr>
          <a:xfrm>
            <a:off x="467833" y="1474841"/>
            <a:ext cx="10800000" cy="907233"/>
          </a:xfrm>
          <a:prstGeom prst="rect">
            <a:avLst/>
          </a:prstGeom>
        </p:spPr>
      </p:pic>
      <p:sp>
        <p:nvSpPr>
          <p:cNvPr id="14" name="標題 1">
            <a:extLst>
              <a:ext uri="{FF2B5EF4-FFF2-40B4-BE49-F238E27FC236}">
                <a16:creationId xmlns:a16="http://schemas.microsoft.com/office/drawing/2014/main" id="{DA7C2610-1AC7-E6C8-3D0C-C1757EB77F3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a:lstStyle>
          <a:p>
            <a:r>
              <a:rPr kumimoji="1" lang="en-US" altLang="zh-TW" dirty="0"/>
              <a:t>Implicit Matrix Multiplication</a:t>
            </a:r>
            <a:endParaRPr kumimoji="1" lang="zh-TW" altLang="en-US" dirty="0"/>
          </a:p>
        </p:txBody>
      </p:sp>
      <p:pic>
        <p:nvPicPr>
          <p:cNvPr id="17" name="圖片 16">
            <a:extLst>
              <a:ext uri="{FF2B5EF4-FFF2-40B4-BE49-F238E27FC236}">
                <a16:creationId xmlns:a16="http://schemas.microsoft.com/office/drawing/2014/main" id="{466897B4-52F8-1367-E417-02B267B472C5}"/>
              </a:ext>
            </a:extLst>
          </p:cNvPr>
          <p:cNvPicPr>
            <a:picLocks noChangeAspect="1"/>
          </p:cNvPicPr>
          <p:nvPr/>
        </p:nvPicPr>
        <p:blipFill>
          <a:blip r:embed="rId5"/>
          <a:stretch>
            <a:fillRect/>
          </a:stretch>
        </p:blipFill>
        <p:spPr>
          <a:xfrm>
            <a:off x="6901654" y="2064870"/>
            <a:ext cx="4302366" cy="271827"/>
          </a:xfrm>
          <a:prstGeom prst="rect">
            <a:avLst/>
          </a:prstGeom>
        </p:spPr>
      </p:pic>
      <p:sp>
        <p:nvSpPr>
          <p:cNvPr id="18" name="文字方塊 17">
            <a:extLst>
              <a:ext uri="{FF2B5EF4-FFF2-40B4-BE49-F238E27FC236}">
                <a16:creationId xmlns:a16="http://schemas.microsoft.com/office/drawing/2014/main" id="{91EAB03B-CB45-3720-24E2-6E7A061F751B}"/>
              </a:ext>
            </a:extLst>
          </p:cNvPr>
          <p:cNvSpPr txBox="1"/>
          <p:nvPr/>
        </p:nvSpPr>
        <p:spPr>
          <a:xfrm>
            <a:off x="6541852" y="2016117"/>
            <a:ext cx="311304" cy="369332"/>
          </a:xfrm>
          <a:prstGeom prst="rect">
            <a:avLst/>
          </a:prstGeom>
          <a:noFill/>
        </p:spPr>
        <p:txBody>
          <a:bodyPr wrap="none" rtlCol="0">
            <a:spAutoFit/>
          </a:bodyPr>
          <a:lstStyle/>
          <a:p>
            <a:r>
              <a:rPr kumimoji="1" lang="zh-TW" alt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5184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(1)</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7</a:t>
            </a:fld>
            <a:endParaRPr kumimoji="1" lang="zh-TW" altLang="en-US"/>
          </a:p>
        </p:txBody>
      </p:sp>
      <p:pic>
        <p:nvPicPr>
          <p:cNvPr id="9" name="圖片 8">
            <a:extLst>
              <a:ext uri="{FF2B5EF4-FFF2-40B4-BE49-F238E27FC236}">
                <a16:creationId xmlns:a16="http://schemas.microsoft.com/office/drawing/2014/main" id="{64C84E26-6198-7205-1C84-4979E46E9D1F}"/>
              </a:ext>
            </a:extLst>
          </p:cNvPr>
          <p:cNvPicPr>
            <a:picLocks noChangeAspect="1"/>
          </p:cNvPicPr>
          <p:nvPr/>
        </p:nvPicPr>
        <p:blipFill>
          <a:blip r:embed="rId2"/>
          <a:stretch>
            <a:fillRect/>
          </a:stretch>
        </p:blipFill>
        <p:spPr>
          <a:xfrm>
            <a:off x="467833" y="4249994"/>
            <a:ext cx="10800000" cy="325349"/>
          </a:xfrm>
          <a:prstGeom prst="rect">
            <a:avLst/>
          </a:prstGeom>
        </p:spPr>
      </p:pic>
      <p:pic>
        <p:nvPicPr>
          <p:cNvPr id="13" name="圖片 12">
            <a:extLst>
              <a:ext uri="{FF2B5EF4-FFF2-40B4-BE49-F238E27FC236}">
                <a16:creationId xmlns:a16="http://schemas.microsoft.com/office/drawing/2014/main" id="{503839B4-A45B-5D74-C6DE-E672A941688F}"/>
              </a:ext>
            </a:extLst>
          </p:cNvPr>
          <p:cNvPicPr>
            <a:picLocks noChangeAspect="1"/>
          </p:cNvPicPr>
          <p:nvPr/>
        </p:nvPicPr>
        <p:blipFill>
          <a:blip r:embed="rId3"/>
          <a:stretch>
            <a:fillRect/>
          </a:stretch>
        </p:blipFill>
        <p:spPr>
          <a:xfrm>
            <a:off x="467833" y="1474841"/>
            <a:ext cx="10800000" cy="1513873"/>
          </a:xfrm>
          <a:prstGeom prst="rect">
            <a:avLst/>
          </a:prstGeom>
        </p:spPr>
      </p:pic>
      <p:pic>
        <p:nvPicPr>
          <p:cNvPr id="14" name="圖片 13">
            <a:extLst>
              <a:ext uri="{FF2B5EF4-FFF2-40B4-BE49-F238E27FC236}">
                <a16:creationId xmlns:a16="http://schemas.microsoft.com/office/drawing/2014/main" id="{5BFAB815-6239-9D10-EEEA-6DA2717B6B48}"/>
              </a:ext>
            </a:extLst>
          </p:cNvPr>
          <p:cNvPicPr>
            <a:picLocks noChangeAspect="1"/>
          </p:cNvPicPr>
          <p:nvPr/>
        </p:nvPicPr>
        <p:blipFill>
          <a:blip r:embed="rId4"/>
          <a:stretch>
            <a:fillRect/>
          </a:stretch>
        </p:blipFill>
        <p:spPr>
          <a:xfrm>
            <a:off x="467833" y="3324565"/>
            <a:ext cx="10800000" cy="589578"/>
          </a:xfrm>
          <a:prstGeom prst="rect">
            <a:avLst/>
          </a:prstGeom>
        </p:spPr>
      </p:pic>
      <p:pic>
        <p:nvPicPr>
          <p:cNvPr id="16" name="圖片 15">
            <a:extLst>
              <a:ext uri="{FF2B5EF4-FFF2-40B4-BE49-F238E27FC236}">
                <a16:creationId xmlns:a16="http://schemas.microsoft.com/office/drawing/2014/main" id="{BF083BE3-2D43-0D10-5205-5D0C58087ADD}"/>
              </a:ext>
            </a:extLst>
          </p:cNvPr>
          <p:cNvPicPr>
            <a:picLocks noChangeAspect="1"/>
          </p:cNvPicPr>
          <p:nvPr/>
        </p:nvPicPr>
        <p:blipFill>
          <a:blip r:embed="rId5"/>
          <a:stretch>
            <a:fillRect/>
          </a:stretch>
        </p:blipFill>
        <p:spPr>
          <a:xfrm>
            <a:off x="467833" y="4911194"/>
            <a:ext cx="10800000" cy="1428700"/>
          </a:xfrm>
          <a:prstGeom prst="rect">
            <a:avLst/>
          </a:prstGeom>
        </p:spPr>
      </p:pic>
      <p:sp>
        <p:nvSpPr>
          <p:cNvPr id="17" name="文字方塊 16">
            <a:extLst>
              <a:ext uri="{FF2B5EF4-FFF2-40B4-BE49-F238E27FC236}">
                <a16:creationId xmlns:a16="http://schemas.microsoft.com/office/drawing/2014/main" id="{DC205D32-F4FC-B062-E22B-A518BFFFA155}"/>
              </a:ext>
            </a:extLst>
          </p:cNvPr>
          <p:cNvSpPr txBox="1"/>
          <p:nvPr/>
        </p:nvSpPr>
        <p:spPr>
          <a:xfrm>
            <a:off x="6422934" y="2012178"/>
            <a:ext cx="4589718"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Monge matrix</a:t>
            </a:r>
            <a:r>
              <a:rPr kumimoji="1" lang="zh-TW" altLang="en-US" b="1" dirty="0">
                <a:solidFill>
                  <a:srgbClr val="FF0000"/>
                </a:solidFill>
                <a:latin typeface="Times New Roman" panose="02020603050405020304" pitchFamily="18" charset="0"/>
                <a:cs typeface="Times New Roman" panose="02020603050405020304" pitchFamily="18" charset="0"/>
              </a:rPr>
              <a:t>可以被拆解成空間更少的形式</a:t>
            </a:r>
          </a:p>
        </p:txBody>
      </p:sp>
      <p:sp>
        <p:nvSpPr>
          <p:cNvPr id="18" name="文字方塊 17">
            <a:extLst>
              <a:ext uri="{FF2B5EF4-FFF2-40B4-BE49-F238E27FC236}">
                <a16:creationId xmlns:a16="http://schemas.microsoft.com/office/drawing/2014/main" id="{900EF437-19B1-CB1F-7E92-563D63C8D3EE}"/>
              </a:ext>
            </a:extLst>
          </p:cNvPr>
          <p:cNvSpPr txBox="1"/>
          <p:nvPr/>
        </p:nvSpPr>
        <p:spPr>
          <a:xfrm>
            <a:off x="3045324" y="3553039"/>
            <a:ext cx="1843774"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(max, +) product</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56223EA7-72E6-D202-8E5A-885264E7DE35}"/>
              </a:ext>
            </a:extLst>
          </p:cNvPr>
          <p:cNvSpPr txBox="1"/>
          <p:nvPr/>
        </p:nvSpPr>
        <p:spPr>
          <a:xfrm>
            <a:off x="7479455" y="4541862"/>
            <a:ext cx="382027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Intermediate Computation Matrices</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EB3EA396-6657-4EF1-7EF8-E22DEE83ABFB}"/>
              </a:ext>
            </a:extLst>
          </p:cNvPr>
          <p:cNvSpPr txBox="1"/>
          <p:nvPr/>
        </p:nvSpPr>
        <p:spPr>
          <a:xfrm>
            <a:off x="3240607" y="5140831"/>
            <a:ext cx="2416111"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Algorithm1 : SMAWK</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753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pic>
        <p:nvPicPr>
          <p:cNvPr id="12" name="圖片 11">
            <a:extLst>
              <a:ext uri="{FF2B5EF4-FFF2-40B4-BE49-F238E27FC236}">
                <a16:creationId xmlns:a16="http://schemas.microsoft.com/office/drawing/2014/main" id="{CBB176B3-77B3-09FD-7D05-27EE305FAFAD}"/>
              </a:ext>
            </a:extLst>
          </p:cNvPr>
          <p:cNvPicPr>
            <a:picLocks noChangeAspect="1"/>
          </p:cNvPicPr>
          <p:nvPr/>
        </p:nvPicPr>
        <p:blipFill>
          <a:blip r:embed="rId2"/>
          <a:stretch>
            <a:fillRect/>
          </a:stretch>
        </p:blipFill>
        <p:spPr>
          <a:xfrm>
            <a:off x="553800" y="1685814"/>
            <a:ext cx="10800000" cy="1873470"/>
          </a:xfrm>
          <a:prstGeom prst="rect">
            <a:avLst/>
          </a:prstGeom>
        </p:spPr>
      </p:pic>
      <p:pic>
        <p:nvPicPr>
          <p:cNvPr id="3" name="圖片 2">
            <a:extLst>
              <a:ext uri="{FF2B5EF4-FFF2-40B4-BE49-F238E27FC236}">
                <a16:creationId xmlns:a16="http://schemas.microsoft.com/office/drawing/2014/main" id="{6AD8C6E0-3D6C-C4E7-A0FD-18F483D4172E}"/>
              </a:ext>
            </a:extLst>
          </p:cNvPr>
          <p:cNvPicPr>
            <a:picLocks noChangeAspect="1"/>
          </p:cNvPicPr>
          <p:nvPr/>
        </p:nvPicPr>
        <p:blipFill>
          <a:blip r:embed="rId3"/>
          <a:stretch>
            <a:fillRect/>
          </a:stretch>
        </p:blipFill>
        <p:spPr>
          <a:xfrm>
            <a:off x="553800" y="3885804"/>
            <a:ext cx="10800000" cy="600000"/>
          </a:xfrm>
          <a:prstGeom prst="rect">
            <a:avLst/>
          </a:prstGeom>
        </p:spPr>
      </p:pic>
      <p:sp>
        <p:nvSpPr>
          <p:cNvPr id="13" name="文字方塊 12">
            <a:extLst>
              <a:ext uri="{FF2B5EF4-FFF2-40B4-BE49-F238E27FC236}">
                <a16:creationId xmlns:a16="http://schemas.microsoft.com/office/drawing/2014/main" id="{F6AA158D-1BD7-BB4D-EF9C-1D33B4841FCA}"/>
              </a:ext>
            </a:extLst>
          </p:cNvPr>
          <p:cNvSpPr txBox="1"/>
          <p:nvPr/>
        </p:nvSpPr>
        <p:spPr>
          <a:xfrm>
            <a:off x="8014625" y="1930197"/>
            <a:ext cx="1505540"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C</a:t>
            </a:r>
            <a:r>
              <a:rPr kumimoji="1" lang="zh-TW" altLang="en-US" b="1" dirty="0">
                <a:solidFill>
                  <a:srgbClr val="FF0000"/>
                </a:solidFill>
                <a:latin typeface="Times New Roman" panose="02020603050405020304" pitchFamily="18" charset="0"/>
                <a:cs typeface="Times New Roman" panose="02020603050405020304" pitchFamily="18" charset="0"/>
              </a:rPr>
              <a:t>的基本性質</a:t>
            </a:r>
          </a:p>
        </p:txBody>
      </p:sp>
      <p:sp>
        <p:nvSpPr>
          <p:cNvPr id="14" name="文字方塊 13">
            <a:extLst>
              <a:ext uri="{FF2B5EF4-FFF2-40B4-BE49-F238E27FC236}">
                <a16:creationId xmlns:a16="http://schemas.microsoft.com/office/drawing/2014/main" id="{820E157C-34CB-759C-CB3B-72E46D6BC731}"/>
              </a:ext>
            </a:extLst>
          </p:cNvPr>
          <p:cNvSpPr txBox="1"/>
          <p:nvPr/>
        </p:nvSpPr>
        <p:spPr>
          <a:xfrm>
            <a:off x="2446709" y="4185804"/>
            <a:ext cx="448744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Algorithm2 : </a:t>
            </a:r>
            <a:r>
              <a:rPr kumimoji="1" lang="en-US" altLang="zh-TW" b="1" dirty="0" err="1">
                <a:solidFill>
                  <a:srgbClr val="FF0000"/>
                </a:solidFill>
                <a:latin typeface="Times New Roman" panose="02020603050405020304" pitchFamily="18" charset="0"/>
                <a:cs typeface="Times New Roman" panose="02020603050405020304" pitchFamily="18" charset="0"/>
              </a:rPr>
              <a:t>Tiskin</a:t>
            </a:r>
            <a:r>
              <a:rPr kumimoji="1" lang="en-US" altLang="zh-TW" b="1" dirty="0">
                <a:solidFill>
                  <a:srgbClr val="FF0000"/>
                </a:solidFill>
                <a:latin typeface="Times New Roman" panose="02020603050405020304" pitchFamily="18" charset="0"/>
                <a:cs typeface="Times New Roman" panose="02020603050405020304" pitchFamily="18" charset="0"/>
              </a:rPr>
              <a:t> for Unit-Monge Matrix</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F6696729-FA22-75E4-FFA5-6BB5F60395D8}"/>
              </a:ext>
            </a:extLst>
          </p:cNvPr>
          <p:cNvSpPr/>
          <p:nvPr/>
        </p:nvSpPr>
        <p:spPr>
          <a:xfrm>
            <a:off x="553800" y="6110129"/>
            <a:ext cx="9174991" cy="246221"/>
          </a:xfrm>
          <a:prstGeom prst="rect">
            <a:avLst/>
          </a:prstGeom>
        </p:spPr>
        <p:txBody>
          <a:bodyPr wrap="square">
            <a:spAutoFit/>
          </a:bodyPr>
          <a:lstStyle/>
          <a:p>
            <a:pPr algn="just"/>
            <a:r>
              <a:rPr lang="en-US" altLang="zh-TW" sz="1000" dirty="0">
                <a:solidFill>
                  <a:srgbClr val="000000"/>
                </a:solidFill>
                <a:latin typeface="Times New Roman" panose="02020603050405020304" pitchFamily="18" charset="0"/>
                <a:cs typeface="Times New Roman" panose="02020603050405020304" pitchFamily="18" charset="0"/>
              </a:rPr>
              <a:t>[17] A. </a:t>
            </a:r>
            <a:r>
              <a:rPr lang="en-US" altLang="zh-TW" sz="1000" dirty="0" err="1">
                <a:solidFill>
                  <a:srgbClr val="000000"/>
                </a:solidFill>
                <a:latin typeface="Times New Roman" panose="02020603050405020304" pitchFamily="18" charset="0"/>
                <a:cs typeface="Times New Roman" panose="02020603050405020304" pitchFamily="18" charset="0"/>
              </a:rPr>
              <a:t>Tiskin</a:t>
            </a:r>
            <a:r>
              <a:rPr lang="en-US" altLang="zh-TW" sz="1000" dirty="0">
                <a:solidFill>
                  <a:srgbClr val="000000"/>
                </a:solidFill>
                <a:latin typeface="Times New Roman" panose="02020603050405020304" pitchFamily="18" charset="0"/>
                <a:cs typeface="Times New Roman" panose="02020603050405020304" pitchFamily="18" charset="0"/>
              </a:rPr>
              <a:t>, Fast distance multiplication of Unit-Monge matrices, in: Proc. 21th Annual ACM-SIAM Symposium on Discrete Algorithms, SODA, 2010, pp. 1287–1296.</a:t>
            </a:r>
            <a:endParaRPr lang="en-US" altLang="zh-TW" sz="100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802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78E34AB6-4928-4C42-9FD4-B26FFFC283A5}"/>
              </a:ext>
            </a:extLst>
          </p:cNvPr>
          <p:cNvPicPr>
            <a:picLocks noChangeAspect="1"/>
          </p:cNvPicPr>
          <p:nvPr/>
        </p:nvPicPr>
        <p:blipFill>
          <a:blip r:embed="rId2"/>
          <a:stretch>
            <a:fillRect/>
          </a:stretch>
        </p:blipFill>
        <p:spPr>
          <a:xfrm>
            <a:off x="5119990" y="70517"/>
            <a:ext cx="5871064" cy="6286998"/>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838199" y="365125"/>
            <a:ext cx="4595037" cy="1761797"/>
          </a:xfrm>
        </p:spPr>
        <p:txBody>
          <a:bodyPr>
            <a:normAutofit fontScale="90000"/>
          </a:bodyPr>
          <a:lstStyle/>
          <a:p>
            <a:r>
              <a:rPr kumimoji="1" lang="en-US" altLang="zh-TW" dirty="0"/>
              <a:t>Transition Point (TR)</a:t>
            </a:r>
            <a:br>
              <a:rPr kumimoji="1" lang="en-US" altLang="zh-TW" dirty="0"/>
            </a:br>
            <a:r>
              <a:rPr kumimoji="1" lang="en-US" altLang="zh-TW" dirty="0"/>
              <a:t>Maxima Trees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pic>
        <p:nvPicPr>
          <p:cNvPr id="4" name="圖片 3">
            <a:extLst>
              <a:ext uri="{FF2B5EF4-FFF2-40B4-BE49-F238E27FC236}">
                <a16:creationId xmlns:a16="http://schemas.microsoft.com/office/drawing/2014/main" id="{2E87AB72-45DE-473F-63DA-9766084DDFC6}"/>
              </a:ext>
            </a:extLst>
          </p:cNvPr>
          <p:cNvPicPr>
            <a:picLocks noChangeAspect="1"/>
          </p:cNvPicPr>
          <p:nvPr/>
        </p:nvPicPr>
        <p:blipFill>
          <a:blip r:embed="rId3"/>
          <a:stretch>
            <a:fillRect/>
          </a:stretch>
        </p:blipFill>
        <p:spPr>
          <a:xfrm>
            <a:off x="779714" y="2126922"/>
            <a:ext cx="3220758" cy="4230593"/>
          </a:xfrm>
          <a:prstGeom prst="rect">
            <a:avLst/>
          </a:prstGeom>
        </p:spPr>
      </p:pic>
      <p:sp>
        <p:nvSpPr>
          <p:cNvPr id="9" name="矩形 8">
            <a:extLst>
              <a:ext uri="{FF2B5EF4-FFF2-40B4-BE49-F238E27FC236}">
                <a16:creationId xmlns:a16="http://schemas.microsoft.com/office/drawing/2014/main" id="{A229908E-999D-842E-9BE1-A6EC15FC1EF7}"/>
              </a:ext>
            </a:extLst>
          </p:cNvPr>
          <p:cNvSpPr/>
          <p:nvPr/>
        </p:nvSpPr>
        <p:spPr>
          <a:xfrm>
            <a:off x="548082" y="6354246"/>
            <a:ext cx="3684022"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(a) The A Monge matrix. TR(A) = 7.5</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45993C5D-2AB0-0B9D-B6A9-D80C4D5793E3}"/>
              </a:ext>
            </a:extLst>
          </p:cNvPr>
          <p:cNvSpPr/>
          <p:nvPr/>
        </p:nvSpPr>
        <p:spPr>
          <a:xfrm>
            <a:off x="5047327" y="6354246"/>
            <a:ext cx="6016391" cy="369332"/>
          </a:xfrm>
          <a:prstGeom prst="rect">
            <a:avLst/>
          </a:prstGeom>
        </p:spPr>
        <p:txBody>
          <a:bodyPr wrap="none">
            <a:spAutoFit/>
          </a:bodyPr>
          <a:lstStyle/>
          <a:p>
            <a:r>
              <a:rPr lang="en-US" altLang="zh-TW" dirty="0">
                <a:solidFill>
                  <a:srgbClr val="000000"/>
                </a:solidFill>
                <a:latin typeface="Times New Roman" panose="02020603050405020304" pitchFamily="18" charset="0"/>
                <a:cs typeface="Times New Roman" panose="02020603050405020304" pitchFamily="18" charset="0"/>
              </a:rPr>
              <a:t>(b) The 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dirty="0">
                <a:solidFill>
                  <a:srgbClr val="000000"/>
                </a:solidFill>
                <a:latin typeface="Times New Roman" panose="02020603050405020304" pitchFamily="18" charset="0"/>
                <a:cs typeface="Times New Roman" panose="02020603050405020304" pitchFamily="18" charset="0"/>
              </a:rPr>
              <a:t> matrix. TR(M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dirty="0">
                <a:solidFill>
                  <a:srgbClr val="000000"/>
                </a:solidFill>
                <a:latin typeface="Times New Roman" panose="02020603050405020304" pitchFamily="18" charset="0"/>
                <a:cs typeface="Times New Roman" panose="02020603050405020304" pitchFamily="18" charset="0"/>
              </a:rPr>
              <a:t>) = 9.5, TR(M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i="1" baseline="30000" dirty="0">
                <a:solidFill>
                  <a:srgbClr val="000000"/>
                </a:solidFill>
                <a:latin typeface="Times New Roman" panose="02020603050405020304" pitchFamily="18" charset="0"/>
                <a:cs typeface="Times New Roman" panose="02020603050405020304" pitchFamily="18" charset="0"/>
              </a:rPr>
              <a:t>r</a:t>
            </a:r>
            <a:r>
              <a:rPr lang="en-US" altLang="zh-TW" dirty="0">
                <a:solidFill>
                  <a:srgbClr val="000000"/>
                </a:solidFill>
                <a:latin typeface="Times New Roman" panose="02020603050405020304" pitchFamily="18" charset="0"/>
                <a:cs typeface="Times New Roman" panose="02020603050405020304" pitchFamily="18" charset="0"/>
              </a:rPr>
              <a:t>) = 9.5, TR(M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i="1" baseline="30000" dirty="0">
                <a:solidFill>
                  <a:srgbClr val="000000"/>
                </a:solidFill>
                <a:latin typeface="Times New Roman" panose="02020603050405020304" pitchFamily="18" charset="0"/>
                <a:cs typeface="Times New Roman" panose="02020603050405020304" pitchFamily="18" charset="0"/>
              </a:rPr>
              <a:t>l</a:t>
            </a:r>
            <a:r>
              <a:rPr lang="en-US" altLang="zh-TW" dirty="0">
                <a:solidFill>
                  <a:srgbClr val="000000"/>
                </a:solidFill>
                <a:latin typeface="Times New Roman" panose="02020603050405020304" pitchFamily="18" charset="0"/>
                <a:cs typeface="Times New Roman" panose="02020603050405020304" pitchFamily="18" charset="0"/>
              </a:rPr>
              <a:t>) =4.5</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572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a:xfrm>
            <a:off x="6241311" y="365125"/>
            <a:ext cx="5635255" cy="1325563"/>
          </a:xfrm>
        </p:spPr>
        <p:txBody>
          <a:bodyPr/>
          <a:lstStyle/>
          <a:p>
            <a:r>
              <a:rPr lang="en-US" altLang="zh-TW" dirty="0"/>
              <a:t>Multiple Maxima Trees </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a:xfrm>
            <a:off x="6730409" y="1825625"/>
            <a:ext cx="4992345" cy="2236012"/>
          </a:xfrm>
        </p:spPr>
        <p:txBody>
          <a:bodyPr/>
          <a:lstStyle/>
          <a:p>
            <a:r>
              <a:rPr kumimoji="1" lang="en-US" altLang="zh-TW" dirty="0">
                <a:latin typeface="Times New Roman" panose="02020603050405020304" pitchFamily="18" charset="0"/>
                <a:cs typeface="Times New Roman" panose="02020603050405020304" pitchFamily="18" charset="0"/>
              </a:rPr>
              <a:t>∆A(2, 4;4, 6) = 0 → M</a:t>
            </a:r>
            <a:r>
              <a:rPr kumimoji="1" lang="en-US" altLang="zh-TW" baseline="-25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M</a:t>
            </a:r>
            <a:r>
              <a:rPr kumimoji="1" lang="en-US" altLang="zh-TW" baseline="-25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 M</a:t>
            </a:r>
            <a:r>
              <a:rPr kumimoji="1" lang="en-US" altLang="zh-TW" baseline="-25000" dirty="0">
                <a:latin typeface="Times New Roman" panose="02020603050405020304" pitchFamily="18" charset="0"/>
                <a:cs typeface="Times New Roman" panose="02020603050405020304" pitchFamily="18" charset="0"/>
              </a:rPr>
              <a:t>4</a:t>
            </a:r>
            <a:r>
              <a:rPr kumimoji="1" lang="en-US" altLang="zh-TW" dirty="0">
                <a:latin typeface="Times New Roman" panose="02020603050405020304" pitchFamily="18" charset="0"/>
                <a:cs typeface="Times New Roman" panose="02020603050405020304" pitchFamily="18" charset="0"/>
              </a:rPr>
              <a:t> share the right subtree</a:t>
            </a:r>
          </a:p>
          <a:p>
            <a:r>
              <a:rPr kumimoji="1" lang="en-US" altLang="zh-TW" dirty="0">
                <a:latin typeface="Times New Roman" panose="02020603050405020304" pitchFamily="18" charset="0"/>
                <a:cs typeface="Times New Roman" panose="02020603050405020304" pitchFamily="18" charset="0"/>
              </a:rPr>
              <a:t>∆A(4, 5;4, 6) ≠ 0 → M</a:t>
            </a:r>
            <a:r>
              <a:rPr kumimoji="1" lang="en-US" altLang="zh-TW" baseline="-25000" dirty="0">
                <a:latin typeface="Times New Roman" panose="02020603050405020304" pitchFamily="18" charset="0"/>
                <a:cs typeface="Times New Roman" panose="02020603050405020304" pitchFamily="18" charset="0"/>
              </a:rPr>
              <a:t>4</a:t>
            </a:r>
            <a:r>
              <a:rPr kumimoji="1" lang="en-US" altLang="zh-TW" dirty="0">
                <a:latin typeface="Times New Roman" panose="02020603050405020304" pitchFamily="18" charset="0"/>
                <a:cs typeface="Times New Roman" panose="02020603050405020304" pitchFamily="18" charset="0"/>
              </a:rPr>
              <a:t>, M</a:t>
            </a:r>
            <a:r>
              <a:rPr kumimoji="1" lang="en-US" altLang="zh-TW" baseline="-25000" dirty="0">
                <a:latin typeface="Times New Roman" panose="02020603050405020304" pitchFamily="18" charset="0"/>
                <a:cs typeface="Times New Roman" panose="02020603050405020304" pitchFamily="18" charset="0"/>
              </a:rPr>
              <a:t>5</a:t>
            </a:r>
            <a:r>
              <a:rPr kumimoji="1" lang="en-US" altLang="zh-TW" dirty="0">
                <a:latin typeface="Times New Roman" panose="02020603050405020304" pitchFamily="18" charset="0"/>
                <a:cs typeface="Times New Roman" panose="02020603050405020304" pitchFamily="18" charset="0"/>
              </a:rPr>
              <a:t> doesn't share the right subtree</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pic>
        <p:nvPicPr>
          <p:cNvPr id="4" name="圖片 3">
            <a:extLst>
              <a:ext uri="{FF2B5EF4-FFF2-40B4-BE49-F238E27FC236}">
                <a16:creationId xmlns:a16="http://schemas.microsoft.com/office/drawing/2014/main" id="{43636D10-2411-B0FF-6DF3-EC2D9F665778}"/>
              </a:ext>
            </a:extLst>
          </p:cNvPr>
          <p:cNvPicPr>
            <a:picLocks noChangeAspect="1"/>
          </p:cNvPicPr>
          <p:nvPr/>
        </p:nvPicPr>
        <p:blipFill>
          <a:blip r:embed="rId2"/>
          <a:stretch>
            <a:fillRect/>
          </a:stretch>
        </p:blipFill>
        <p:spPr>
          <a:xfrm>
            <a:off x="469246" y="0"/>
            <a:ext cx="5894698" cy="6858000"/>
          </a:xfrm>
          <a:prstGeom prst="rect">
            <a:avLst/>
          </a:prstGeom>
        </p:spPr>
      </p:pic>
      <p:sp>
        <p:nvSpPr>
          <p:cNvPr id="8" name="矩形 7">
            <a:extLst>
              <a:ext uri="{FF2B5EF4-FFF2-40B4-BE49-F238E27FC236}">
                <a16:creationId xmlns:a16="http://schemas.microsoft.com/office/drawing/2014/main" id="{38836832-1FF5-ACDB-33F0-56A9B55A61B6}"/>
              </a:ext>
            </a:extLst>
          </p:cNvPr>
          <p:cNvSpPr/>
          <p:nvPr/>
        </p:nvSpPr>
        <p:spPr>
          <a:xfrm>
            <a:off x="3848986" y="2402958"/>
            <a:ext cx="2514958" cy="44125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9" name="矩形 8">
            <a:extLst>
              <a:ext uri="{FF2B5EF4-FFF2-40B4-BE49-F238E27FC236}">
                <a16:creationId xmlns:a16="http://schemas.microsoft.com/office/drawing/2014/main" id="{EF5BB6CD-14B3-EDAB-3064-68964646FFA4}"/>
              </a:ext>
            </a:extLst>
          </p:cNvPr>
          <p:cNvSpPr/>
          <p:nvPr/>
        </p:nvSpPr>
        <p:spPr>
          <a:xfrm>
            <a:off x="3848986" y="531572"/>
            <a:ext cx="1616149" cy="58484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矩形 9">
            <a:extLst>
              <a:ext uri="{FF2B5EF4-FFF2-40B4-BE49-F238E27FC236}">
                <a16:creationId xmlns:a16="http://schemas.microsoft.com/office/drawing/2014/main" id="{F568DD31-14EB-97F9-3875-11C4F2CBEEDA}"/>
              </a:ext>
            </a:extLst>
          </p:cNvPr>
          <p:cNvSpPr/>
          <p:nvPr/>
        </p:nvSpPr>
        <p:spPr>
          <a:xfrm>
            <a:off x="6730409" y="5934670"/>
            <a:ext cx="3923414" cy="646331"/>
          </a:xfrm>
          <a:prstGeom prst="rect">
            <a:avLst/>
          </a:prstGeom>
        </p:spPr>
        <p:txBody>
          <a:bodyPr wrap="square">
            <a:spAutoFit/>
          </a:bodyPr>
          <a:lstStyle/>
          <a:p>
            <a:pPr marL="342900" indent="-342900">
              <a:buAutoNum type="alphaLcParenBoth"/>
            </a:pPr>
            <a:r>
              <a:rPr lang="en-US" altLang="zh-TW" dirty="0">
                <a:solidFill>
                  <a:srgbClr val="000000"/>
                </a:solidFill>
                <a:latin typeface="Times New Roman" panose="02020603050405020304" pitchFamily="18" charset="0"/>
                <a:cs typeface="Times New Roman" panose="02020603050405020304" pitchFamily="18" charset="0"/>
              </a:rPr>
              <a:t>M</a:t>
            </a:r>
            <a:r>
              <a:rPr lang="en-US" altLang="zh-TW" baseline="-25000" dirty="0">
                <a:solidFill>
                  <a:srgbClr val="000000"/>
                </a:solidFill>
                <a:latin typeface="Times New Roman" panose="02020603050405020304" pitchFamily="18" charset="0"/>
                <a:cs typeface="Times New Roman" panose="02020603050405020304" pitchFamily="18" charset="0"/>
              </a:rPr>
              <a:t>2</a:t>
            </a:r>
            <a:r>
              <a:rPr lang="en-US" altLang="zh-TW" dirty="0">
                <a:solidFill>
                  <a:srgbClr val="000000"/>
                </a:solidFill>
                <a:latin typeface="Times New Roman" panose="02020603050405020304" pitchFamily="18" charset="0"/>
                <a:cs typeface="Times New Roman" panose="02020603050405020304" pitchFamily="18" charset="0"/>
              </a:rPr>
              <a:t> (top-left), M</a:t>
            </a:r>
            <a:r>
              <a:rPr lang="en-US" altLang="zh-TW" baseline="-25000" dirty="0">
                <a:solidFill>
                  <a:srgbClr val="000000"/>
                </a:solidFill>
                <a:latin typeface="Times New Roman" panose="02020603050405020304" pitchFamily="18" charset="0"/>
                <a:cs typeface="Times New Roman" panose="02020603050405020304" pitchFamily="18" charset="0"/>
              </a:rPr>
              <a:t>3</a:t>
            </a:r>
            <a:r>
              <a:rPr lang="en-US" altLang="zh-TW" dirty="0">
                <a:solidFill>
                  <a:srgbClr val="000000"/>
                </a:solidFill>
                <a:latin typeface="Times New Roman" panose="02020603050405020304" pitchFamily="18" charset="0"/>
                <a:cs typeface="Times New Roman" panose="02020603050405020304" pitchFamily="18" charset="0"/>
              </a:rPr>
              <a:t> (top-right), M</a:t>
            </a:r>
            <a:r>
              <a:rPr lang="en-US" altLang="zh-TW" baseline="-25000" dirty="0">
                <a:solidFill>
                  <a:srgbClr val="000000"/>
                </a:solidFill>
                <a:latin typeface="Times New Roman" panose="02020603050405020304" pitchFamily="18" charset="0"/>
                <a:cs typeface="Times New Roman" panose="02020603050405020304" pitchFamily="18" charset="0"/>
              </a:rPr>
              <a:t>4</a:t>
            </a:r>
            <a:r>
              <a:rPr lang="en-US" altLang="zh-TW" dirty="0">
                <a:solidFill>
                  <a:srgbClr val="000000"/>
                </a:solidFill>
                <a:latin typeface="Times New Roman" panose="02020603050405020304" pitchFamily="18" charset="0"/>
                <a:cs typeface="Times New Roman" panose="02020603050405020304" pitchFamily="18" charset="0"/>
              </a:rPr>
              <a:t> (bottom-left) and M</a:t>
            </a:r>
            <a:r>
              <a:rPr lang="en-US" altLang="zh-TW" baseline="-25000" dirty="0">
                <a:solidFill>
                  <a:srgbClr val="000000"/>
                </a:solidFill>
                <a:latin typeface="Times New Roman" panose="02020603050405020304" pitchFamily="18" charset="0"/>
                <a:cs typeface="Times New Roman" panose="02020603050405020304" pitchFamily="18" charset="0"/>
              </a:rPr>
              <a:t>5</a:t>
            </a:r>
            <a:r>
              <a:rPr lang="en-US" altLang="zh-TW" dirty="0">
                <a:solidFill>
                  <a:srgbClr val="000000"/>
                </a:solidFill>
                <a:latin typeface="Times New Roman" panose="02020603050405020304" pitchFamily="18" charset="0"/>
                <a:cs typeface="Times New Roman" panose="02020603050405020304" pitchFamily="18" charset="0"/>
              </a:rPr>
              <a:t> (bottom-right).</a:t>
            </a:r>
            <a:endParaRPr lang="en-US" altLang="zh-TW" dirty="0">
              <a:solidFill>
                <a:srgbClr val="000000"/>
              </a:solidFill>
              <a:effectLst/>
              <a:latin typeface="Times New Roman" panose="02020603050405020304" pitchFamily="18" charset="0"/>
              <a:cs typeface="Times New Roman" panose="02020603050405020304" pitchFamily="18" charset="0"/>
            </a:endParaRPr>
          </a:p>
        </p:txBody>
      </p:sp>
      <p:cxnSp>
        <p:nvCxnSpPr>
          <p:cNvPr id="12" name="直線接點 11">
            <a:extLst>
              <a:ext uri="{FF2B5EF4-FFF2-40B4-BE49-F238E27FC236}">
                <a16:creationId xmlns:a16="http://schemas.microsoft.com/office/drawing/2014/main" id="{6890D74C-5249-08AF-83AE-0864FCE5B022}"/>
              </a:ext>
            </a:extLst>
          </p:cNvPr>
          <p:cNvCxnSpPr>
            <a:cxnSpLocks/>
          </p:cNvCxnSpPr>
          <p:nvPr/>
        </p:nvCxnSpPr>
        <p:spPr>
          <a:xfrm>
            <a:off x="5546656" y="2413590"/>
            <a:ext cx="0" cy="4401878"/>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1464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(3)</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pic>
        <p:nvPicPr>
          <p:cNvPr id="7" name="圖片 6">
            <a:extLst>
              <a:ext uri="{FF2B5EF4-FFF2-40B4-BE49-F238E27FC236}">
                <a16:creationId xmlns:a16="http://schemas.microsoft.com/office/drawing/2014/main" id="{133FB475-9CE5-68F1-A9DA-D3876F17ED23}"/>
              </a:ext>
            </a:extLst>
          </p:cNvPr>
          <p:cNvPicPr>
            <a:picLocks noChangeAspect="1"/>
          </p:cNvPicPr>
          <p:nvPr/>
        </p:nvPicPr>
        <p:blipFill>
          <a:blip r:embed="rId2"/>
          <a:stretch>
            <a:fillRect/>
          </a:stretch>
        </p:blipFill>
        <p:spPr>
          <a:xfrm>
            <a:off x="797447" y="1493178"/>
            <a:ext cx="10800000" cy="566351"/>
          </a:xfrm>
          <a:prstGeom prst="rect">
            <a:avLst/>
          </a:prstGeom>
        </p:spPr>
      </p:pic>
      <p:pic>
        <p:nvPicPr>
          <p:cNvPr id="8" name="圖片 7">
            <a:extLst>
              <a:ext uri="{FF2B5EF4-FFF2-40B4-BE49-F238E27FC236}">
                <a16:creationId xmlns:a16="http://schemas.microsoft.com/office/drawing/2014/main" id="{0F6E4EBC-8F37-3A2C-B918-1ED9EA11E182}"/>
              </a:ext>
            </a:extLst>
          </p:cNvPr>
          <p:cNvPicPr>
            <a:picLocks noChangeAspect="1"/>
          </p:cNvPicPr>
          <p:nvPr/>
        </p:nvPicPr>
        <p:blipFill>
          <a:blip r:embed="rId3"/>
          <a:stretch>
            <a:fillRect/>
          </a:stretch>
        </p:blipFill>
        <p:spPr>
          <a:xfrm>
            <a:off x="797447" y="2315984"/>
            <a:ext cx="10800000" cy="873761"/>
          </a:xfrm>
          <a:prstGeom prst="rect">
            <a:avLst/>
          </a:prstGeom>
        </p:spPr>
      </p:pic>
      <p:pic>
        <p:nvPicPr>
          <p:cNvPr id="9" name="圖片 8">
            <a:extLst>
              <a:ext uri="{FF2B5EF4-FFF2-40B4-BE49-F238E27FC236}">
                <a16:creationId xmlns:a16="http://schemas.microsoft.com/office/drawing/2014/main" id="{9D819480-2157-B801-574E-EA84E535742E}"/>
              </a:ext>
            </a:extLst>
          </p:cNvPr>
          <p:cNvPicPr>
            <a:picLocks noChangeAspect="1"/>
          </p:cNvPicPr>
          <p:nvPr/>
        </p:nvPicPr>
        <p:blipFill>
          <a:blip r:embed="rId4"/>
          <a:stretch>
            <a:fillRect/>
          </a:stretch>
        </p:blipFill>
        <p:spPr>
          <a:xfrm>
            <a:off x="797447" y="3446200"/>
            <a:ext cx="10800000" cy="613547"/>
          </a:xfrm>
          <a:prstGeom prst="rect">
            <a:avLst/>
          </a:prstGeom>
        </p:spPr>
      </p:pic>
      <p:pic>
        <p:nvPicPr>
          <p:cNvPr id="10" name="圖片 9">
            <a:extLst>
              <a:ext uri="{FF2B5EF4-FFF2-40B4-BE49-F238E27FC236}">
                <a16:creationId xmlns:a16="http://schemas.microsoft.com/office/drawing/2014/main" id="{8EF0D536-0CCC-ECD5-DAB7-97147B796AFF}"/>
              </a:ext>
            </a:extLst>
          </p:cNvPr>
          <p:cNvPicPr>
            <a:picLocks noChangeAspect="1"/>
          </p:cNvPicPr>
          <p:nvPr/>
        </p:nvPicPr>
        <p:blipFill>
          <a:blip r:embed="rId5"/>
          <a:stretch>
            <a:fillRect/>
          </a:stretch>
        </p:blipFill>
        <p:spPr>
          <a:xfrm>
            <a:off x="797447" y="4316202"/>
            <a:ext cx="4976037" cy="469437"/>
          </a:xfrm>
          <a:prstGeom prst="rect">
            <a:avLst/>
          </a:prstGeom>
        </p:spPr>
      </p:pic>
      <p:pic>
        <p:nvPicPr>
          <p:cNvPr id="11" name="圖片 10">
            <a:extLst>
              <a:ext uri="{FF2B5EF4-FFF2-40B4-BE49-F238E27FC236}">
                <a16:creationId xmlns:a16="http://schemas.microsoft.com/office/drawing/2014/main" id="{EBDC53C0-79C3-7E60-501A-5F4E5B3BE9C3}"/>
              </a:ext>
            </a:extLst>
          </p:cNvPr>
          <p:cNvPicPr>
            <a:picLocks noChangeAspect="1"/>
          </p:cNvPicPr>
          <p:nvPr/>
        </p:nvPicPr>
        <p:blipFill>
          <a:blip r:embed="rId6"/>
          <a:stretch>
            <a:fillRect/>
          </a:stretch>
        </p:blipFill>
        <p:spPr>
          <a:xfrm>
            <a:off x="797447" y="5042094"/>
            <a:ext cx="10800000" cy="424490"/>
          </a:xfrm>
          <a:prstGeom prst="rect">
            <a:avLst/>
          </a:prstGeom>
        </p:spPr>
      </p:pic>
      <p:pic>
        <p:nvPicPr>
          <p:cNvPr id="12" name="圖片 11">
            <a:extLst>
              <a:ext uri="{FF2B5EF4-FFF2-40B4-BE49-F238E27FC236}">
                <a16:creationId xmlns:a16="http://schemas.microsoft.com/office/drawing/2014/main" id="{02A30032-6ED6-5884-AEB1-E2045344272D}"/>
              </a:ext>
            </a:extLst>
          </p:cNvPr>
          <p:cNvPicPr>
            <a:picLocks noChangeAspect="1"/>
          </p:cNvPicPr>
          <p:nvPr/>
        </p:nvPicPr>
        <p:blipFill>
          <a:blip r:embed="rId7"/>
          <a:stretch>
            <a:fillRect/>
          </a:stretch>
        </p:blipFill>
        <p:spPr>
          <a:xfrm>
            <a:off x="797447" y="5723037"/>
            <a:ext cx="10800000" cy="583358"/>
          </a:xfrm>
          <a:prstGeom prst="rect">
            <a:avLst/>
          </a:prstGeom>
        </p:spPr>
      </p:pic>
      <p:sp>
        <p:nvSpPr>
          <p:cNvPr id="13" name="文字方塊 12">
            <a:extLst>
              <a:ext uri="{FF2B5EF4-FFF2-40B4-BE49-F238E27FC236}">
                <a16:creationId xmlns:a16="http://schemas.microsoft.com/office/drawing/2014/main" id="{69F1AB51-5A36-0C6B-1808-3F1B4C93B9BA}"/>
              </a:ext>
            </a:extLst>
          </p:cNvPr>
          <p:cNvSpPr txBox="1"/>
          <p:nvPr/>
        </p:nvSpPr>
        <p:spPr>
          <a:xfrm>
            <a:off x="838200" y="6264265"/>
            <a:ext cx="5979522"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Algorithm3 : Multiple Maxima Trees (MMT) by this paper</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CF44F3CE-1367-6E21-1F86-23B46ED4A868}"/>
              </a:ext>
            </a:extLst>
          </p:cNvPr>
          <p:cNvSpPr txBox="1"/>
          <p:nvPr/>
        </p:nvSpPr>
        <p:spPr>
          <a:xfrm>
            <a:off x="5041274" y="1700599"/>
            <a:ext cx="1776448"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Transition point</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F2B11E6F-A291-8077-7F6F-2C41B76E9DF6}"/>
              </a:ext>
            </a:extLst>
          </p:cNvPr>
          <p:cNvSpPr txBox="1"/>
          <p:nvPr/>
        </p:nvSpPr>
        <p:spPr>
          <a:xfrm>
            <a:off x="5207665" y="2763974"/>
            <a:ext cx="1443665"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Maxima tree</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B284B0F1-42C3-8629-1E2F-450D6C3686B2}"/>
              </a:ext>
            </a:extLst>
          </p:cNvPr>
          <p:cNvSpPr txBox="1"/>
          <p:nvPr/>
        </p:nvSpPr>
        <p:spPr>
          <a:xfrm>
            <a:off x="2092027" y="3752973"/>
            <a:ext cx="3681457" cy="369332"/>
          </a:xfrm>
          <a:prstGeom prst="rect">
            <a:avLst/>
          </a:prstGeom>
          <a:noFill/>
        </p:spPr>
        <p:txBody>
          <a:bodyPr wrap="none" rtlCol="0">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使用</a:t>
            </a:r>
            <a:r>
              <a:rPr kumimoji="1" lang="en-US" altLang="zh-TW" b="1" dirty="0">
                <a:solidFill>
                  <a:srgbClr val="FF0000"/>
                </a:solidFill>
                <a:latin typeface="Times New Roman" panose="02020603050405020304" pitchFamily="18" charset="0"/>
                <a:cs typeface="Times New Roman" panose="02020603050405020304" pitchFamily="18" charset="0"/>
              </a:rPr>
              <a:t>Maxima tree</a:t>
            </a:r>
            <a:r>
              <a:rPr kumimoji="1" lang="zh-TW" altLang="en-US" b="1" dirty="0">
                <a:solidFill>
                  <a:srgbClr val="FF0000"/>
                </a:solidFill>
                <a:latin typeface="Times New Roman" panose="02020603050405020304" pitchFamily="18" charset="0"/>
                <a:cs typeface="Times New Roman" panose="02020603050405020304" pitchFamily="18" charset="0"/>
              </a:rPr>
              <a:t>找到</a:t>
            </a:r>
            <a:r>
              <a:rPr kumimoji="1" lang="en-US" altLang="zh-TW" b="1" dirty="0" err="1">
                <a:solidFill>
                  <a:srgbClr val="FF0000"/>
                </a:solidFill>
                <a:latin typeface="Times New Roman" panose="02020603050405020304" pitchFamily="18" charset="0"/>
                <a:cs typeface="Times New Roman" panose="02020603050405020304" pitchFamily="18" charset="0"/>
              </a:rPr>
              <a:t>laxA</a:t>
            </a:r>
            <a:r>
              <a:rPr kumimoji="1" lang="en-US" altLang="zh-TW" b="1" dirty="0">
                <a:solidFill>
                  <a:srgbClr val="FF0000"/>
                </a:solidFill>
                <a:latin typeface="Times New Roman" panose="02020603050405020304" pitchFamily="18" charset="0"/>
                <a:cs typeface="Times New Roman" panose="02020603050405020304" pitchFamily="18" charset="0"/>
              </a:rPr>
              <a:t>[</a:t>
            </a:r>
            <a:r>
              <a:rPr kumimoji="1" lang="en-US" altLang="zh-TW" b="1" dirty="0" err="1">
                <a:solidFill>
                  <a:srgbClr val="FF0000"/>
                </a:solidFill>
                <a:latin typeface="Times New Roman" panose="02020603050405020304" pitchFamily="18" charset="0"/>
                <a:cs typeface="Times New Roman" panose="02020603050405020304" pitchFamily="18" charset="0"/>
              </a:rPr>
              <a:t>i</a:t>
            </a:r>
            <a:r>
              <a:rPr kumimoji="1" lang="en-US" altLang="zh-TW" b="1" dirty="0">
                <a:solidFill>
                  <a:srgbClr val="FF0000"/>
                </a:solidFill>
                <a:latin typeface="Times New Roman" panose="02020603050405020304" pitchFamily="18" charset="0"/>
                <a:cs typeface="Times New Roman" panose="02020603050405020304" pitchFamily="18" charset="0"/>
              </a:rPr>
              <a:t>,_]</a:t>
            </a:r>
            <a:r>
              <a:rPr kumimoji="1" lang="zh-TW" altLang="en-US" b="1" dirty="0">
                <a:solidFill>
                  <a:srgbClr val="FF0000"/>
                </a:solidFill>
                <a:latin typeface="Times New Roman" panose="02020603050405020304" pitchFamily="18" charset="0"/>
                <a:cs typeface="Times New Roman" panose="02020603050405020304" pitchFamily="18" charset="0"/>
              </a:rPr>
              <a:t>時間</a:t>
            </a:r>
          </a:p>
        </p:txBody>
      </p:sp>
      <p:sp>
        <p:nvSpPr>
          <p:cNvPr id="17" name="文字方塊 16">
            <a:extLst>
              <a:ext uri="{FF2B5EF4-FFF2-40B4-BE49-F238E27FC236}">
                <a16:creationId xmlns:a16="http://schemas.microsoft.com/office/drawing/2014/main" id="{E83A0996-F0BD-E5AF-A67B-CFBA4BB3D2C5}"/>
              </a:ext>
            </a:extLst>
          </p:cNvPr>
          <p:cNvSpPr txBox="1"/>
          <p:nvPr/>
        </p:nvSpPr>
        <p:spPr>
          <a:xfrm>
            <a:off x="5773484" y="4326886"/>
            <a:ext cx="5976957" cy="369332"/>
          </a:xfrm>
          <a:prstGeom prst="rect">
            <a:avLst/>
          </a:prstGeom>
          <a:noFill/>
        </p:spPr>
        <p:txBody>
          <a:bodyPr wrap="none" rtlCol="0">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建構</a:t>
            </a:r>
            <a:r>
              <a:rPr kumimoji="1" lang="en-US" altLang="zh-TW" b="1" dirty="0">
                <a:solidFill>
                  <a:srgbClr val="FF0000"/>
                </a:solidFill>
                <a:latin typeface="Times New Roman" panose="02020603050405020304" pitchFamily="18" charset="0"/>
                <a:cs typeface="Times New Roman" panose="02020603050405020304" pitchFamily="18" charset="0"/>
              </a:rPr>
              <a:t>Maxima tree</a:t>
            </a:r>
            <a:r>
              <a:rPr kumimoji="1" lang="zh-TW" altLang="en-US" b="1" dirty="0">
                <a:solidFill>
                  <a:srgbClr val="FF0000"/>
                </a:solidFill>
                <a:latin typeface="Times New Roman" panose="02020603050405020304" pitchFamily="18" charset="0"/>
                <a:cs typeface="Times New Roman" panose="02020603050405020304" pitchFamily="18" charset="0"/>
              </a:rPr>
              <a:t>時間，使用二元搜索決定</a:t>
            </a:r>
            <a:r>
              <a:rPr kumimoji="1" lang="en-US" altLang="zh-TW" b="1" dirty="0">
                <a:solidFill>
                  <a:srgbClr val="FF0000"/>
                </a:solidFill>
                <a:latin typeface="Times New Roman" panose="02020603050405020304" pitchFamily="18" charset="0"/>
                <a:cs typeface="Times New Roman" panose="02020603050405020304" pitchFamily="18" charset="0"/>
              </a:rPr>
              <a:t>transition point</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113C47CE-74D7-1BF3-4E50-618F170BEA08}"/>
              </a:ext>
            </a:extLst>
          </p:cNvPr>
          <p:cNvSpPr txBox="1"/>
          <p:nvPr/>
        </p:nvSpPr>
        <p:spPr>
          <a:xfrm>
            <a:off x="8974396" y="5328728"/>
            <a:ext cx="2687595"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Maxima trees</a:t>
            </a:r>
            <a:r>
              <a:rPr kumimoji="1" lang="zh-TW" altLang="en-US" b="1" dirty="0">
                <a:solidFill>
                  <a:srgbClr val="FF0000"/>
                </a:solidFill>
                <a:latin typeface="Times New Roman" panose="02020603050405020304" pitchFamily="18" charset="0"/>
                <a:cs typeface="Times New Roman" panose="02020603050405020304" pitchFamily="18" charset="0"/>
              </a:rPr>
              <a:t>共用的部分</a:t>
            </a:r>
          </a:p>
        </p:txBody>
      </p:sp>
    </p:spTree>
    <p:extLst>
      <p:ext uri="{BB962C8B-B14F-4D97-AF65-F5344CB8AC3E}">
        <p14:creationId xmlns:p14="http://schemas.microsoft.com/office/powerpoint/2010/main" val="149063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Obtaining The Core</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4" name="圖片 3">
            <a:extLst>
              <a:ext uri="{FF2B5EF4-FFF2-40B4-BE49-F238E27FC236}">
                <a16:creationId xmlns:a16="http://schemas.microsoft.com/office/drawing/2014/main" id="{889B8A90-A204-2C82-7952-B317246AAF90}"/>
              </a:ext>
            </a:extLst>
          </p:cNvPr>
          <p:cNvPicPr>
            <a:picLocks noChangeAspect="1"/>
          </p:cNvPicPr>
          <p:nvPr/>
        </p:nvPicPr>
        <p:blipFill rotWithShape="1">
          <a:blip r:embed="rId2"/>
          <a:srcRect b="44341"/>
          <a:stretch/>
        </p:blipFill>
        <p:spPr>
          <a:xfrm>
            <a:off x="928387" y="2904387"/>
            <a:ext cx="6847749" cy="3817088"/>
          </a:xfrm>
          <a:prstGeom prst="rect">
            <a:avLst/>
          </a:prstGeom>
        </p:spPr>
      </p:pic>
      <p:pic>
        <p:nvPicPr>
          <p:cNvPr id="9" name="圖片 8">
            <a:extLst>
              <a:ext uri="{FF2B5EF4-FFF2-40B4-BE49-F238E27FC236}">
                <a16:creationId xmlns:a16="http://schemas.microsoft.com/office/drawing/2014/main" id="{5D445323-2B62-1E88-6CD9-E2FDB115BD79}"/>
              </a:ext>
            </a:extLst>
          </p:cNvPr>
          <p:cNvPicPr>
            <a:picLocks noChangeAspect="1"/>
          </p:cNvPicPr>
          <p:nvPr/>
        </p:nvPicPr>
        <p:blipFill>
          <a:blip r:embed="rId3"/>
          <a:stretch>
            <a:fillRect/>
          </a:stretch>
        </p:blipFill>
        <p:spPr>
          <a:xfrm>
            <a:off x="838200" y="1434696"/>
            <a:ext cx="10800000" cy="1401166"/>
          </a:xfrm>
          <a:prstGeom prst="rect">
            <a:avLst/>
          </a:prstGeom>
        </p:spPr>
      </p:pic>
    </p:spTree>
    <p:extLst>
      <p:ext uri="{BB962C8B-B14F-4D97-AF65-F5344CB8AC3E}">
        <p14:creationId xmlns:p14="http://schemas.microsoft.com/office/powerpoint/2010/main" val="3171119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Lemma (4)</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pic>
        <p:nvPicPr>
          <p:cNvPr id="4" name="圖片 3">
            <a:extLst>
              <a:ext uri="{FF2B5EF4-FFF2-40B4-BE49-F238E27FC236}">
                <a16:creationId xmlns:a16="http://schemas.microsoft.com/office/drawing/2014/main" id="{6E483BC8-B958-27AB-4601-930DF93E2D2C}"/>
              </a:ext>
            </a:extLst>
          </p:cNvPr>
          <p:cNvPicPr>
            <a:picLocks noChangeAspect="1"/>
          </p:cNvPicPr>
          <p:nvPr/>
        </p:nvPicPr>
        <p:blipFill>
          <a:blip r:embed="rId2"/>
          <a:stretch>
            <a:fillRect/>
          </a:stretch>
        </p:blipFill>
        <p:spPr>
          <a:xfrm>
            <a:off x="553800" y="1595034"/>
            <a:ext cx="10800000" cy="580392"/>
          </a:xfrm>
          <a:prstGeom prst="rect">
            <a:avLst/>
          </a:prstGeom>
        </p:spPr>
      </p:pic>
      <p:pic>
        <p:nvPicPr>
          <p:cNvPr id="5" name="圖片 4">
            <a:extLst>
              <a:ext uri="{FF2B5EF4-FFF2-40B4-BE49-F238E27FC236}">
                <a16:creationId xmlns:a16="http://schemas.microsoft.com/office/drawing/2014/main" id="{51D54ACE-97D0-4D6F-6D71-8F8654DC0F5B}"/>
              </a:ext>
            </a:extLst>
          </p:cNvPr>
          <p:cNvPicPr>
            <a:picLocks noChangeAspect="1"/>
          </p:cNvPicPr>
          <p:nvPr/>
        </p:nvPicPr>
        <p:blipFill>
          <a:blip r:embed="rId3"/>
          <a:stretch>
            <a:fillRect/>
          </a:stretch>
        </p:blipFill>
        <p:spPr>
          <a:xfrm>
            <a:off x="553800" y="2470684"/>
            <a:ext cx="10800000" cy="549419"/>
          </a:xfrm>
          <a:prstGeom prst="rect">
            <a:avLst/>
          </a:prstGeom>
        </p:spPr>
      </p:pic>
      <p:pic>
        <p:nvPicPr>
          <p:cNvPr id="7" name="圖片 6">
            <a:extLst>
              <a:ext uri="{FF2B5EF4-FFF2-40B4-BE49-F238E27FC236}">
                <a16:creationId xmlns:a16="http://schemas.microsoft.com/office/drawing/2014/main" id="{17FA60F7-3D3F-AB19-0DF5-6B548C0DE5B0}"/>
              </a:ext>
            </a:extLst>
          </p:cNvPr>
          <p:cNvPicPr>
            <a:picLocks noChangeAspect="1"/>
          </p:cNvPicPr>
          <p:nvPr/>
        </p:nvPicPr>
        <p:blipFill>
          <a:blip r:embed="rId4"/>
          <a:stretch>
            <a:fillRect/>
          </a:stretch>
        </p:blipFill>
        <p:spPr>
          <a:xfrm>
            <a:off x="553800" y="3315361"/>
            <a:ext cx="10800000" cy="582083"/>
          </a:xfrm>
          <a:prstGeom prst="rect">
            <a:avLst/>
          </a:prstGeom>
        </p:spPr>
      </p:pic>
      <p:pic>
        <p:nvPicPr>
          <p:cNvPr id="8" name="圖片 7">
            <a:extLst>
              <a:ext uri="{FF2B5EF4-FFF2-40B4-BE49-F238E27FC236}">
                <a16:creationId xmlns:a16="http://schemas.microsoft.com/office/drawing/2014/main" id="{65E005CD-7D05-93E9-C0BE-E290D2151BE9}"/>
              </a:ext>
            </a:extLst>
          </p:cNvPr>
          <p:cNvPicPr>
            <a:picLocks noChangeAspect="1"/>
          </p:cNvPicPr>
          <p:nvPr/>
        </p:nvPicPr>
        <p:blipFill>
          <a:blip r:embed="rId5"/>
          <a:stretch>
            <a:fillRect/>
          </a:stretch>
        </p:blipFill>
        <p:spPr>
          <a:xfrm>
            <a:off x="553800" y="4192702"/>
            <a:ext cx="10800000" cy="393661"/>
          </a:xfrm>
          <a:prstGeom prst="rect">
            <a:avLst/>
          </a:prstGeom>
        </p:spPr>
      </p:pic>
      <p:pic>
        <p:nvPicPr>
          <p:cNvPr id="9" name="圖片 8">
            <a:extLst>
              <a:ext uri="{FF2B5EF4-FFF2-40B4-BE49-F238E27FC236}">
                <a16:creationId xmlns:a16="http://schemas.microsoft.com/office/drawing/2014/main" id="{7AB8CA09-AA94-0511-3176-AC8E4C91E303}"/>
              </a:ext>
            </a:extLst>
          </p:cNvPr>
          <p:cNvPicPr>
            <a:picLocks noChangeAspect="1"/>
          </p:cNvPicPr>
          <p:nvPr/>
        </p:nvPicPr>
        <p:blipFill>
          <a:blip r:embed="rId6"/>
          <a:stretch>
            <a:fillRect/>
          </a:stretch>
        </p:blipFill>
        <p:spPr>
          <a:xfrm>
            <a:off x="553800" y="4881621"/>
            <a:ext cx="10800000" cy="590809"/>
          </a:xfrm>
          <a:prstGeom prst="rect">
            <a:avLst/>
          </a:prstGeom>
        </p:spPr>
      </p:pic>
      <p:pic>
        <p:nvPicPr>
          <p:cNvPr id="10" name="圖片 9">
            <a:extLst>
              <a:ext uri="{FF2B5EF4-FFF2-40B4-BE49-F238E27FC236}">
                <a16:creationId xmlns:a16="http://schemas.microsoft.com/office/drawing/2014/main" id="{ED00A0FB-EEE4-3566-00C6-7E926E19803C}"/>
              </a:ext>
            </a:extLst>
          </p:cNvPr>
          <p:cNvPicPr>
            <a:picLocks noChangeAspect="1"/>
          </p:cNvPicPr>
          <p:nvPr/>
        </p:nvPicPr>
        <p:blipFill>
          <a:blip r:embed="rId7"/>
          <a:stretch>
            <a:fillRect/>
          </a:stretch>
        </p:blipFill>
        <p:spPr>
          <a:xfrm>
            <a:off x="553800" y="5767687"/>
            <a:ext cx="10800000" cy="588663"/>
          </a:xfrm>
          <a:prstGeom prst="rect">
            <a:avLst/>
          </a:prstGeom>
        </p:spPr>
      </p:pic>
      <p:sp>
        <p:nvSpPr>
          <p:cNvPr id="13" name="文字方塊 12">
            <a:extLst>
              <a:ext uri="{FF2B5EF4-FFF2-40B4-BE49-F238E27FC236}">
                <a16:creationId xmlns:a16="http://schemas.microsoft.com/office/drawing/2014/main" id="{E80787C9-776C-C221-D65C-B4030DC7DA19}"/>
              </a:ext>
            </a:extLst>
          </p:cNvPr>
          <p:cNvSpPr txBox="1"/>
          <p:nvPr/>
        </p:nvSpPr>
        <p:spPr>
          <a:xfrm>
            <a:off x="553800" y="6308209"/>
            <a:ext cx="7186839"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Algorithm4 : Amortized Multiple Maxima Trees (AMMT) by this paper</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05D56F48-FB5B-FE58-6CF8-0EBD8D197487}"/>
              </a:ext>
            </a:extLst>
          </p:cNvPr>
          <p:cNvSpPr/>
          <p:nvPr/>
        </p:nvSpPr>
        <p:spPr>
          <a:xfrm>
            <a:off x="8928810" y="4488072"/>
            <a:ext cx="2274982" cy="369332"/>
          </a:xfrm>
          <a:prstGeom prst="rect">
            <a:avLst/>
          </a:prstGeom>
        </p:spPr>
        <p:txBody>
          <a:bodyPr wrap="none">
            <a:spAutoFit/>
          </a:bodyPr>
          <a:lstStyle/>
          <a:p>
            <a:r>
              <a:rPr kumimoji="1" lang="zh-TW" altLang="en-US" b="1" dirty="0">
                <a:solidFill>
                  <a:srgbClr val="FF0000"/>
                </a:solidFill>
                <a:latin typeface="Times New Roman" panose="02020603050405020304" pitchFamily="18" charset="0"/>
                <a:cs typeface="Times New Roman" panose="02020603050405020304" pitchFamily="18" charset="0"/>
              </a:rPr>
              <a:t>這列有非零的</a:t>
            </a:r>
            <a:r>
              <a:rPr kumimoji="1" lang="en-US" altLang="zh-TW" b="1" dirty="0">
                <a:solidFill>
                  <a:srgbClr val="FF0000"/>
                </a:solidFill>
                <a:latin typeface="Times New Roman" panose="02020603050405020304" pitchFamily="18" charset="0"/>
                <a:cs typeface="Times New Roman" panose="02020603050405020304" pitchFamily="18" charset="0"/>
              </a:rPr>
              <a:t>density</a:t>
            </a:r>
            <a:endParaRPr lang="zh-TW" altLang="en-US" dirty="0"/>
          </a:p>
        </p:txBody>
      </p:sp>
      <p:sp>
        <p:nvSpPr>
          <p:cNvPr id="16" name="矩形 15">
            <a:extLst>
              <a:ext uri="{FF2B5EF4-FFF2-40B4-BE49-F238E27FC236}">
                <a16:creationId xmlns:a16="http://schemas.microsoft.com/office/drawing/2014/main" id="{502E7430-E8EE-D689-1EC4-BA0BB985C446}"/>
              </a:ext>
            </a:extLst>
          </p:cNvPr>
          <p:cNvSpPr/>
          <p:nvPr/>
        </p:nvSpPr>
        <p:spPr>
          <a:xfrm>
            <a:off x="1011089" y="1829979"/>
            <a:ext cx="9589571" cy="369332"/>
          </a:xfrm>
          <a:prstGeom prst="rect">
            <a:avLst/>
          </a:prstGeom>
        </p:spPr>
        <p:txBody>
          <a:bodyPr wrap="square">
            <a:spAutoFit/>
          </a:bodyPr>
          <a:lstStyle/>
          <a:p>
            <a:r>
              <a:rPr lang="zh-TW" altLang="en-US" b="1" dirty="0">
                <a:solidFill>
                  <a:srgbClr val="FF0000"/>
                </a:solidFill>
                <a:latin typeface="Times New Roman" panose="02020603050405020304" pitchFamily="18" charset="0"/>
                <a:cs typeface="Times New Roman" panose="02020603050405020304" pitchFamily="18" charset="0"/>
              </a:rPr>
              <a:t>在</a:t>
            </a:r>
            <a:r>
              <a:rPr lang="en-US" altLang="zh-TW" b="1" dirty="0">
                <a:solidFill>
                  <a:srgbClr val="FF0000"/>
                </a:solidFill>
                <a:latin typeface="Times New Roman" panose="02020603050405020304" pitchFamily="18" charset="0"/>
                <a:cs typeface="Times New Roman" panose="02020603050405020304" pitchFamily="18" charset="0"/>
              </a:rPr>
              <a:t>Monge matrix</a:t>
            </a:r>
            <a:r>
              <a:rPr lang="zh-TW" altLang="en-US" b="1" dirty="0">
                <a:solidFill>
                  <a:srgbClr val="FF0000"/>
                </a:solidFill>
                <a:latin typeface="Times New Roman" panose="02020603050405020304" pitchFamily="18" charset="0"/>
                <a:cs typeface="Times New Roman" panose="02020603050405020304" pitchFamily="18" charset="0"/>
              </a:rPr>
              <a:t>中找到所有</a:t>
            </a:r>
            <a:r>
              <a:rPr lang="en-US" altLang="zh-TW" b="1" dirty="0">
                <a:solidFill>
                  <a:srgbClr val="FF0000"/>
                </a:solidFill>
                <a:latin typeface="Times New Roman" panose="02020603050405020304" pitchFamily="18" charset="0"/>
                <a:cs typeface="Times New Roman" panose="02020603050405020304" pitchFamily="18" charset="0"/>
              </a:rPr>
              <a:t>core entries (density&gt;0)</a:t>
            </a:r>
            <a:r>
              <a:rPr lang="zh-TW" altLang="en-US" b="1" dirty="0">
                <a:solidFill>
                  <a:srgbClr val="FF0000"/>
                </a:solidFill>
                <a:latin typeface="Times New Roman" panose="02020603050405020304" pitchFamily="18" charset="0"/>
                <a:cs typeface="Times New Roman" panose="02020603050405020304" pitchFamily="18" charset="0"/>
              </a:rPr>
              <a:t>的時間</a:t>
            </a:r>
          </a:p>
        </p:txBody>
      </p:sp>
      <p:sp>
        <p:nvSpPr>
          <p:cNvPr id="17" name="矩形 16">
            <a:extLst>
              <a:ext uri="{FF2B5EF4-FFF2-40B4-BE49-F238E27FC236}">
                <a16:creationId xmlns:a16="http://schemas.microsoft.com/office/drawing/2014/main" id="{B4EAB915-D984-B889-E96D-7BE00CFE0F21}"/>
              </a:ext>
            </a:extLst>
          </p:cNvPr>
          <p:cNvSpPr/>
          <p:nvPr/>
        </p:nvSpPr>
        <p:spPr>
          <a:xfrm>
            <a:off x="553800" y="2970958"/>
            <a:ext cx="7335341" cy="369332"/>
          </a:xfrm>
          <a:prstGeom prst="rect">
            <a:avLst/>
          </a:prstGeom>
        </p:spPr>
        <p:txBody>
          <a:bodyPr wrap="none">
            <a:spAutoFit/>
          </a:bodyPr>
          <a:lstStyle/>
          <a:p>
            <a:r>
              <a:rPr lang="zh-TW" altLang="en-US" b="1" dirty="0">
                <a:solidFill>
                  <a:srgbClr val="FF0000"/>
                </a:solidFill>
                <a:latin typeface="Times New Roman" panose="02020603050405020304" pitchFamily="18" charset="0"/>
                <a:cs typeface="Times New Roman" panose="02020603050405020304" pitchFamily="18" charset="0"/>
              </a:rPr>
              <a:t>因為不需要儲存所有的</a:t>
            </a:r>
            <a:r>
              <a:rPr lang="en-US" altLang="zh-TW" b="1" dirty="0">
                <a:solidFill>
                  <a:srgbClr val="FF0000"/>
                </a:solidFill>
                <a:latin typeface="Times New Roman" panose="02020603050405020304" pitchFamily="18" charset="0"/>
                <a:cs typeface="Times New Roman" panose="02020603050405020304" pitchFamily="18" charset="0"/>
              </a:rPr>
              <a:t>MT</a:t>
            </a:r>
            <a:r>
              <a:rPr lang="zh-TW" altLang="en-US" b="1" dirty="0">
                <a:solidFill>
                  <a:srgbClr val="FF0000"/>
                </a:solidFill>
                <a:latin typeface="Times New Roman" panose="02020603050405020304" pitchFamily="18" charset="0"/>
                <a:cs typeface="Times New Roman" panose="02020603050405020304" pitchFamily="18" charset="0"/>
              </a:rPr>
              <a:t>，只需要</a:t>
            </a:r>
            <a:r>
              <a:rPr lang="en-US" altLang="zh-TW" b="1" dirty="0" err="1">
                <a:solidFill>
                  <a:srgbClr val="FF0000"/>
                </a:solidFill>
                <a:latin typeface="Times New Roman" panose="02020603050405020304" pitchFamily="18" charset="0"/>
                <a:cs typeface="Times New Roman" panose="02020603050405020304" pitchFamily="18" charset="0"/>
              </a:rPr>
              <a:t>MT</a:t>
            </a:r>
            <a:r>
              <a:rPr lang="en-US" altLang="zh-TW" b="1" baseline="-25000" dirty="0" err="1">
                <a:solidFill>
                  <a:srgbClr val="FF0000"/>
                </a:solidFill>
                <a:latin typeface="Times New Roman" panose="02020603050405020304" pitchFamily="18" charset="0"/>
                <a:cs typeface="Times New Roman" panose="02020603050405020304" pitchFamily="18" charset="0"/>
              </a:rPr>
              <a:t>i</a:t>
            </a:r>
            <a:r>
              <a:rPr lang="zh-TW" altLang="en-US" b="1" dirty="0">
                <a:solidFill>
                  <a:srgbClr val="FF0000"/>
                </a:solidFill>
                <a:latin typeface="Times New Roman" panose="02020603050405020304" pitchFamily="18" charset="0"/>
                <a:cs typeface="Times New Roman" panose="02020603050405020304" pitchFamily="18" charset="0"/>
              </a:rPr>
              <a:t>和</a:t>
            </a:r>
            <a:r>
              <a:rPr lang="en-US" altLang="zh-TW" b="1" dirty="0">
                <a:solidFill>
                  <a:srgbClr val="FF0000"/>
                </a:solidFill>
                <a:latin typeface="Times New Roman" panose="02020603050405020304" pitchFamily="18" charset="0"/>
                <a:cs typeface="Times New Roman" panose="02020603050405020304" pitchFamily="18" charset="0"/>
              </a:rPr>
              <a:t>MT</a:t>
            </a:r>
            <a:r>
              <a:rPr lang="en-US" altLang="zh-TW" b="1" baseline="-25000" dirty="0">
                <a:solidFill>
                  <a:srgbClr val="FF0000"/>
                </a:solidFill>
                <a:latin typeface="Times New Roman" panose="02020603050405020304" pitchFamily="18" charset="0"/>
                <a:cs typeface="Times New Roman" panose="02020603050405020304" pitchFamily="18" charset="0"/>
              </a:rPr>
              <a:t>i+1</a:t>
            </a:r>
            <a:r>
              <a:rPr lang="zh-TW" altLang="en-US" b="1" dirty="0">
                <a:solidFill>
                  <a:srgbClr val="FF0000"/>
                </a:solidFill>
                <a:latin typeface="Times New Roman" panose="02020603050405020304" pitchFamily="18" charset="0"/>
                <a:cs typeface="Times New Roman" panose="02020603050405020304" pitchFamily="18" charset="0"/>
              </a:rPr>
              <a:t>，故</a:t>
            </a:r>
            <a:r>
              <a:rPr lang="en-US" altLang="zh-TW" b="1" dirty="0">
                <a:solidFill>
                  <a:srgbClr val="FF0000"/>
                </a:solidFill>
                <a:latin typeface="Times New Roman" panose="02020603050405020304" pitchFamily="18" charset="0"/>
                <a:cs typeface="Times New Roman" panose="02020603050405020304" pitchFamily="18" charset="0"/>
              </a:rPr>
              <a:t>MMT</a:t>
            </a:r>
            <a:r>
              <a:rPr lang="zh-TW" altLang="en-US" b="1" dirty="0">
                <a:solidFill>
                  <a:srgbClr val="FF0000"/>
                </a:solidFill>
                <a:latin typeface="Times New Roman" panose="02020603050405020304" pitchFamily="18" charset="0"/>
                <a:cs typeface="Times New Roman" panose="02020603050405020304" pitchFamily="18" charset="0"/>
              </a:rPr>
              <a:t>可以再改良</a:t>
            </a:r>
          </a:p>
        </p:txBody>
      </p:sp>
      <p:sp>
        <p:nvSpPr>
          <p:cNvPr id="19" name="矩形 18">
            <a:extLst>
              <a:ext uri="{FF2B5EF4-FFF2-40B4-BE49-F238E27FC236}">
                <a16:creationId xmlns:a16="http://schemas.microsoft.com/office/drawing/2014/main" id="{5EBC8137-56A2-A135-9865-B57C8BD50E3E}"/>
              </a:ext>
            </a:extLst>
          </p:cNvPr>
          <p:cNvSpPr/>
          <p:nvPr/>
        </p:nvSpPr>
        <p:spPr>
          <a:xfrm>
            <a:off x="5805874" y="3590053"/>
            <a:ext cx="2903359" cy="369332"/>
          </a:xfrm>
          <a:prstGeom prst="rect">
            <a:avLst/>
          </a:prstGeom>
        </p:spPr>
        <p:txBody>
          <a:bodyPr wrap="none">
            <a:spAutoFit/>
          </a:bodyPr>
          <a:lstStyle/>
          <a:p>
            <a:r>
              <a:rPr lang="en-US" altLang="zh-TW" b="1" dirty="0">
                <a:solidFill>
                  <a:srgbClr val="FF0000"/>
                </a:solidFill>
                <a:latin typeface="Times New Roman" panose="02020603050405020304" pitchFamily="18" charset="0"/>
                <a:cs typeface="Times New Roman" panose="02020603050405020304" pitchFamily="18" charset="0"/>
              </a:rPr>
              <a:t>TR(Mi)</a:t>
            </a:r>
            <a:r>
              <a:rPr lang="zh-TW" altLang="en-US" b="1" dirty="0">
                <a:solidFill>
                  <a:srgbClr val="FF0000"/>
                </a:solidFill>
                <a:latin typeface="Times New Roman" panose="02020603050405020304" pitchFamily="18" charset="0"/>
                <a:cs typeface="Times New Roman" panose="02020603050405020304" pitchFamily="18" charset="0"/>
              </a:rPr>
              <a:t>具有</a:t>
            </a:r>
            <a:r>
              <a:rPr lang="en-US" altLang="zh-TW" b="1" dirty="0" err="1">
                <a:solidFill>
                  <a:srgbClr val="FF0000"/>
                </a:solidFill>
                <a:latin typeface="Times New Roman" panose="02020603050405020304" pitchFamily="18" charset="0"/>
                <a:cs typeface="Times New Roman" panose="02020603050405020304" pitchFamily="18" charset="0"/>
              </a:rPr>
              <a:t>monotnoic</a:t>
            </a:r>
            <a:r>
              <a:rPr lang="zh-TW" altLang="en-US" b="1" dirty="0">
                <a:solidFill>
                  <a:srgbClr val="FF0000"/>
                </a:solidFill>
                <a:latin typeface="Times New Roman" panose="02020603050405020304" pitchFamily="18" charset="0"/>
                <a:cs typeface="Times New Roman" panose="02020603050405020304" pitchFamily="18" charset="0"/>
              </a:rPr>
              <a:t>性質</a:t>
            </a:r>
          </a:p>
        </p:txBody>
      </p:sp>
      <p:sp>
        <p:nvSpPr>
          <p:cNvPr id="20" name="矩形 19">
            <a:extLst>
              <a:ext uri="{FF2B5EF4-FFF2-40B4-BE49-F238E27FC236}">
                <a16:creationId xmlns:a16="http://schemas.microsoft.com/office/drawing/2014/main" id="{A23993FC-C4E2-06A8-2734-5CA0AD971493}"/>
              </a:ext>
            </a:extLst>
          </p:cNvPr>
          <p:cNvSpPr/>
          <p:nvPr/>
        </p:nvSpPr>
        <p:spPr>
          <a:xfrm>
            <a:off x="488845" y="5370763"/>
            <a:ext cx="8975727" cy="369332"/>
          </a:xfrm>
          <a:prstGeom prst="rect">
            <a:avLst/>
          </a:prstGeom>
        </p:spPr>
        <p:txBody>
          <a:bodyPr wrap="none">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Amortized Multiple Maxima Trees</a:t>
            </a:r>
            <a:r>
              <a:rPr kumimoji="1" lang="zh-TW" altLang="en-US" b="1" dirty="0">
                <a:solidFill>
                  <a:srgbClr val="FF0000"/>
                </a:solidFill>
                <a:latin typeface="Times New Roman" panose="02020603050405020304" pitchFamily="18" charset="0"/>
                <a:cs typeface="Times New Roman" panose="02020603050405020304" pitchFamily="18" charset="0"/>
              </a:rPr>
              <a:t>：使用</a:t>
            </a:r>
            <a:r>
              <a:rPr kumimoji="1" lang="en-US" altLang="zh-TW" b="1" dirty="0">
                <a:solidFill>
                  <a:srgbClr val="FF0000"/>
                </a:solidFill>
                <a:latin typeface="Times New Roman" panose="02020603050405020304" pitchFamily="18" charset="0"/>
                <a:cs typeface="Times New Roman" panose="02020603050405020304" pitchFamily="18" charset="0"/>
              </a:rPr>
              <a:t>Lemma15</a:t>
            </a:r>
            <a:r>
              <a:rPr kumimoji="1" lang="zh-TW" altLang="en-US" b="1" dirty="0">
                <a:solidFill>
                  <a:srgbClr val="FF0000"/>
                </a:solidFill>
                <a:latin typeface="Times New Roman" panose="02020603050405020304" pitchFamily="18" charset="0"/>
                <a:cs typeface="Times New Roman" panose="02020603050405020304" pitchFamily="18" charset="0"/>
              </a:rPr>
              <a:t>、</a:t>
            </a:r>
            <a:r>
              <a:rPr kumimoji="1" lang="en-US" altLang="zh-TW" b="1" dirty="0">
                <a:solidFill>
                  <a:srgbClr val="FF0000"/>
                </a:solidFill>
                <a:latin typeface="Times New Roman" panose="02020603050405020304" pitchFamily="18" charset="0"/>
                <a:cs typeface="Times New Roman" panose="02020603050405020304" pitchFamily="18" charset="0"/>
              </a:rPr>
              <a:t>16</a:t>
            </a:r>
            <a:r>
              <a:rPr kumimoji="1" lang="zh-TW" altLang="en-US" b="1" dirty="0">
                <a:solidFill>
                  <a:srgbClr val="FF0000"/>
                </a:solidFill>
                <a:latin typeface="Times New Roman" panose="02020603050405020304" pitchFamily="18" charset="0"/>
                <a:cs typeface="Times New Roman" panose="02020603050405020304" pitchFamily="18" charset="0"/>
              </a:rPr>
              <a:t>和線性搜尋，可改進搜尋效率</a:t>
            </a:r>
            <a:endParaRPr lang="zh-TW" altLang="en-US" dirty="0"/>
          </a:p>
        </p:txBody>
      </p:sp>
    </p:spTree>
    <p:extLst>
      <p:ext uri="{BB962C8B-B14F-4D97-AF65-F5344CB8AC3E}">
        <p14:creationId xmlns:p14="http://schemas.microsoft.com/office/powerpoint/2010/main" val="232454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Analysis</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pic>
        <p:nvPicPr>
          <p:cNvPr id="4" name="圖片 3">
            <a:extLst>
              <a:ext uri="{FF2B5EF4-FFF2-40B4-BE49-F238E27FC236}">
                <a16:creationId xmlns:a16="http://schemas.microsoft.com/office/drawing/2014/main" id="{4AB65F8E-A467-C0BC-6EB7-D9630D9C2292}"/>
              </a:ext>
            </a:extLst>
          </p:cNvPr>
          <p:cNvPicPr>
            <a:picLocks noChangeAspect="1"/>
          </p:cNvPicPr>
          <p:nvPr/>
        </p:nvPicPr>
        <p:blipFill>
          <a:blip r:embed="rId2"/>
          <a:stretch>
            <a:fillRect/>
          </a:stretch>
        </p:blipFill>
        <p:spPr>
          <a:xfrm>
            <a:off x="1707273" y="1489065"/>
            <a:ext cx="8777454" cy="4867285"/>
          </a:xfrm>
          <a:prstGeom prst="rect">
            <a:avLst/>
          </a:prstGeom>
        </p:spPr>
      </p:pic>
      <p:sp>
        <p:nvSpPr>
          <p:cNvPr id="8" name="文字方塊 7">
            <a:extLst>
              <a:ext uri="{FF2B5EF4-FFF2-40B4-BE49-F238E27FC236}">
                <a16:creationId xmlns:a16="http://schemas.microsoft.com/office/drawing/2014/main" id="{A89A2946-00F6-4B9C-291E-71D5B79E8DA6}"/>
              </a:ext>
            </a:extLst>
          </p:cNvPr>
          <p:cNvSpPr txBox="1"/>
          <p:nvPr/>
        </p:nvSpPr>
        <p:spPr>
          <a:xfrm>
            <a:off x="6296247" y="4575102"/>
            <a:ext cx="76174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 1</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A2541A1A-8E9F-C85A-BBD0-CE47463CA6A2}"/>
              </a:ext>
            </a:extLst>
          </p:cNvPr>
          <p:cNvSpPr txBox="1"/>
          <p:nvPr/>
        </p:nvSpPr>
        <p:spPr>
          <a:xfrm>
            <a:off x="8610600" y="4575102"/>
            <a:ext cx="76174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 2</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CF398E7E-AC4A-647E-D045-1C6BA9EEDEA8}"/>
              </a:ext>
            </a:extLst>
          </p:cNvPr>
          <p:cNvSpPr txBox="1"/>
          <p:nvPr/>
        </p:nvSpPr>
        <p:spPr>
          <a:xfrm>
            <a:off x="6296247" y="3042318"/>
            <a:ext cx="76174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 3</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5A5CECFA-BB15-FCBD-2986-79E70DAF3DDE}"/>
              </a:ext>
            </a:extLst>
          </p:cNvPr>
          <p:cNvSpPr txBox="1"/>
          <p:nvPr/>
        </p:nvSpPr>
        <p:spPr>
          <a:xfrm>
            <a:off x="9517912" y="3042318"/>
            <a:ext cx="761747" cy="369332"/>
          </a:xfrm>
          <a:prstGeom prst="rect">
            <a:avLst/>
          </a:prstGeom>
          <a:noFill/>
        </p:spPr>
        <p:txBody>
          <a:bodyPr wrap="none" rtlCol="0">
            <a:spAutoFit/>
          </a:bodyPr>
          <a:lstStyle/>
          <a:p>
            <a:r>
              <a:rPr kumimoji="1" lang="en-US" altLang="zh-TW" b="1" dirty="0">
                <a:solidFill>
                  <a:srgbClr val="FF0000"/>
                </a:solidFill>
                <a:latin typeface="Times New Roman" panose="02020603050405020304" pitchFamily="18" charset="0"/>
                <a:cs typeface="Times New Roman" panose="02020603050405020304" pitchFamily="18" charset="0"/>
              </a:rPr>
              <a:t>Alg. 4</a:t>
            </a:r>
            <a:endParaRPr kumimoji="1" lang="zh-TW" alt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5776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zh-TW" altLang="en-US" dirty="0"/>
              <a:t>老師反饋</a:t>
            </a:r>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p7 Lemma</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1</a:t>
            </a:r>
            <a:r>
              <a:rPr kumimoji="1" lang="zh-TW" altLang="en-US" dirty="0">
                <a:latin typeface="Times New Roman" panose="02020603050405020304" pitchFamily="18" charset="0"/>
                <a:cs typeface="Times New Roman" panose="02020603050405020304" pitchFamily="18" charset="0"/>
              </a:rPr>
              <a:t>其實也不用是</a:t>
            </a:r>
            <a:r>
              <a:rPr kumimoji="1" lang="en-US" altLang="zh-TW" dirty="0">
                <a:latin typeface="Times New Roman" panose="02020603050405020304" pitchFamily="18" charset="0"/>
                <a:cs typeface="Times New Roman" panose="02020603050405020304" pitchFamily="18" charset="0"/>
              </a:rPr>
              <a:t>Monge matrix</a:t>
            </a:r>
            <a:r>
              <a:rPr kumimoji="1" lang="zh-TW" altLang="en-US" dirty="0">
                <a:latin typeface="Times New Roman" panose="02020603050405020304" pitchFamily="18" charset="0"/>
                <a:cs typeface="Times New Roman" panose="02020603050405020304" pitchFamily="18" charset="0"/>
              </a:rPr>
              <a:t>，只要是任何矩陣，都可以拆解成四個部分，原點、列值、行值與累加值。</a:t>
            </a:r>
            <a:endParaRPr kumimoji="1" lang="en-US" altLang="zh-TW" dirty="0">
              <a:latin typeface="Times New Roman" panose="02020603050405020304" pitchFamily="18" charset="0"/>
              <a:cs typeface="Times New Roman" panose="02020603050405020304" pitchFamily="18" charset="0"/>
            </a:endParaRPr>
          </a:p>
          <a:p>
            <a:r>
              <a:rPr kumimoji="1" lang="zh-TW" altLang="en-US" dirty="0">
                <a:latin typeface="Times New Roman" panose="02020603050405020304" pitchFamily="18" charset="0"/>
                <a:cs typeface="Times New Roman" panose="02020603050405020304" pitchFamily="18" charset="0"/>
              </a:rPr>
              <a:t>如果是</a:t>
            </a:r>
            <a:r>
              <a:rPr kumimoji="1" lang="en-US" altLang="zh-TW" dirty="0">
                <a:latin typeface="Times New Roman" panose="02020603050405020304" pitchFamily="18" charset="0"/>
                <a:cs typeface="Times New Roman" panose="02020603050405020304" pitchFamily="18" charset="0"/>
              </a:rPr>
              <a:t>Monge matrix</a:t>
            </a:r>
            <a:r>
              <a:rPr kumimoji="1" lang="zh-TW" altLang="en-US" dirty="0">
                <a:latin typeface="Times New Roman" panose="02020603050405020304" pitchFamily="18" charset="0"/>
                <a:cs typeface="Times New Roman" panose="02020603050405020304" pitchFamily="18" charset="0"/>
              </a:rPr>
              <a:t>（</a:t>
            </a:r>
            <a:r>
              <a:rPr kumimoji="1" lang="en-US" altLang="zh-TW" dirty="0">
                <a:latin typeface="Times New Roman" panose="02020603050405020304" pitchFamily="18" charset="0"/>
                <a:cs typeface="Times New Roman" panose="02020603050405020304" pitchFamily="18" charset="0"/>
              </a:rPr>
              <a:t>Density &gt;= 0</a:t>
            </a:r>
            <a:r>
              <a:rPr kumimoji="1" lang="zh-TW" altLang="en-US" dirty="0">
                <a:latin typeface="Times New Roman" panose="02020603050405020304" pitchFamily="18" charset="0"/>
                <a:cs typeface="Times New Roman" panose="02020603050405020304" pitchFamily="18" charset="0"/>
              </a:rPr>
              <a:t>），只要某區域</a:t>
            </a:r>
            <a:r>
              <a:rPr kumimoji="1" lang="en-US" altLang="zh-TW" dirty="0">
                <a:latin typeface="Times New Roman" panose="02020603050405020304" pitchFamily="18" charset="0"/>
                <a:cs typeface="Times New Roman" panose="02020603050405020304" pitchFamily="18" charset="0"/>
              </a:rPr>
              <a:t>Density</a:t>
            </a:r>
            <a:r>
              <a:rPr kumimoji="1" lang="zh-TW" altLang="en-US" dirty="0">
                <a:latin typeface="Times New Roman" panose="02020603050405020304" pitchFamily="18" charset="0"/>
                <a:cs typeface="Times New Roman" panose="02020603050405020304" pitchFamily="18" charset="0"/>
              </a:rPr>
              <a:t>為</a:t>
            </a:r>
            <a:r>
              <a:rPr kumimoji="1" lang="en-US" altLang="zh-TW" dirty="0">
                <a:latin typeface="Times New Roman" panose="02020603050405020304" pitchFamily="18" charset="0"/>
                <a:cs typeface="Times New Roman" panose="02020603050405020304" pitchFamily="18" charset="0"/>
              </a:rPr>
              <a:t>0</a:t>
            </a:r>
            <a:r>
              <a:rPr kumimoji="1" lang="zh-TW" altLang="en-US" dirty="0">
                <a:latin typeface="Times New Roman" panose="02020603050405020304" pitchFamily="18" charset="0"/>
                <a:cs typeface="Times New Roman" panose="02020603050405020304" pitchFamily="18" charset="0"/>
              </a:rPr>
              <a:t>，則代表這個區域內必定沒有非</a:t>
            </a:r>
            <a:r>
              <a:rPr kumimoji="1" lang="en-US" altLang="zh-TW" dirty="0">
                <a:latin typeface="Times New Roman" panose="02020603050405020304" pitchFamily="18" charset="0"/>
                <a:cs typeface="Times New Roman" panose="02020603050405020304" pitchFamily="18" charset="0"/>
              </a:rPr>
              <a:t>0 Density</a:t>
            </a:r>
            <a:r>
              <a:rPr kumimoji="1" lang="zh-TW" altLang="en-US">
                <a:latin typeface="Times New Roman" panose="02020603050405020304" pitchFamily="18" charset="0"/>
                <a:cs typeface="Times New Roman" panose="02020603050405020304" pitchFamily="18" charset="0"/>
              </a:rPr>
              <a:t>的存在。</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spTree>
    <p:extLst>
      <p:ext uri="{BB962C8B-B14F-4D97-AF65-F5344CB8AC3E}">
        <p14:creationId xmlns:p14="http://schemas.microsoft.com/office/powerpoint/2010/main" val="22833862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1507</TotalTime>
  <Words>775</Words>
  <Application>Microsoft Macintosh PowerPoint</Application>
  <PresentationFormat>寬螢幕</PresentationFormat>
  <Paragraphs>86</Paragraphs>
  <Slides>17</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Arial</vt:lpstr>
      <vt:lpstr>Calibri</vt:lpstr>
      <vt:lpstr>Rockwell</vt:lpstr>
      <vt:lpstr>Times New Roman</vt:lpstr>
      <vt:lpstr>Office 佈景主題</vt:lpstr>
      <vt:lpstr>Monge Properties of Sequence Alignment</vt:lpstr>
      <vt:lpstr>Abstract (1/2)</vt:lpstr>
      <vt:lpstr>Abstract (2/2)</vt:lpstr>
      <vt:lpstr>Monge Matrix</vt:lpstr>
      <vt:lpstr>Matrix Multiplication</vt:lpstr>
      <vt:lpstr>Intermediate Computation Matrices Mi</vt:lpstr>
      <vt:lpstr>PowerPoint 簡報</vt:lpstr>
      <vt:lpstr>Lemma (1)</vt:lpstr>
      <vt:lpstr>Lemma (2)</vt:lpstr>
      <vt:lpstr>Transition Point (TR) Maxima Trees</vt:lpstr>
      <vt:lpstr>Multiple Maxima Trees </vt:lpstr>
      <vt:lpstr>Lemma (3)</vt:lpstr>
      <vt:lpstr>Obtaining The Core</vt:lpstr>
      <vt:lpstr>Lemma (4)</vt:lpstr>
      <vt:lpstr>Analysis</vt:lpstr>
      <vt:lpstr>Thank you for listening</vt:lpstr>
      <vt:lpstr>老師反饋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20</cp:revision>
  <dcterms:created xsi:type="dcterms:W3CDTF">2021-03-28T03:57:23Z</dcterms:created>
  <dcterms:modified xsi:type="dcterms:W3CDTF">2022-06-14T15:22:01Z</dcterms:modified>
</cp:coreProperties>
</file>