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3" r:id="rId2"/>
    <p:sldId id="262" r:id="rId3"/>
    <p:sldId id="266" r:id="rId4"/>
    <p:sldId id="299" r:id="rId5"/>
    <p:sldId id="302" r:id="rId6"/>
    <p:sldId id="308" r:id="rId7"/>
    <p:sldId id="309" r:id="rId8"/>
    <p:sldId id="300" r:id="rId9"/>
    <p:sldId id="303" r:id="rId10"/>
    <p:sldId id="304" r:id="rId11"/>
    <p:sldId id="306" r:id="rId12"/>
    <p:sldId id="307" r:id="rId13"/>
    <p:sldId id="284" r:id="rId14"/>
    <p:sldId id="297" r:id="rId15"/>
    <p:sldId id="298" r:id="rId1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116" autoAdjust="0"/>
  </p:normalViewPr>
  <p:slideViewPr>
    <p:cSldViewPr>
      <p:cViewPr varScale="1">
        <p:scale>
          <a:sx n="86" d="100"/>
          <a:sy n="86" d="100"/>
        </p:scale>
        <p:origin x="426"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8C2939-B1A7-4514-8535-C0FA2719FDF5}" type="datetimeFigureOut">
              <a:rPr lang="zh-TW" altLang="en-US" smtClean="0"/>
              <a:pPr/>
              <a:t>2022/6/14</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5C87CB-DD22-4F6F-BC7E-D0042601E3D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a:t>
            </a:fld>
            <a:endParaRPr lang="zh-TW" altLang="en-US"/>
          </a:p>
        </p:txBody>
      </p:sp>
    </p:spTree>
    <p:extLst>
      <p:ext uri="{BB962C8B-B14F-4D97-AF65-F5344CB8AC3E}">
        <p14:creationId xmlns:p14="http://schemas.microsoft.com/office/powerpoint/2010/main" val="2615635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US" altLang="zh-TW" b="0" i="0" dirty="0">
                <a:solidFill>
                  <a:srgbClr val="1D2A57"/>
                </a:solidFill>
                <a:effectLst/>
                <a:latin typeface="Arial" panose="020B0604020202020204" pitchFamily="34" charset="0"/>
              </a:rPr>
              <a:t>et cetera</a:t>
            </a:r>
          </a:p>
          <a:p>
            <a:br>
              <a:rPr lang="en-US" altLang="zh-TW" b="0" i="0" dirty="0">
                <a:solidFill>
                  <a:srgbClr val="1D2A57"/>
                </a:solidFill>
                <a:effectLst/>
                <a:latin typeface="Arial" panose="020B0604020202020204" pitchFamily="34" charset="0"/>
              </a:rPr>
            </a:b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2</a:t>
            </a:fld>
            <a:endParaRPr lang="zh-TW" altLang="en-US"/>
          </a:p>
        </p:txBody>
      </p:sp>
    </p:spTree>
    <p:extLst>
      <p:ext uri="{BB962C8B-B14F-4D97-AF65-F5344CB8AC3E}">
        <p14:creationId xmlns:p14="http://schemas.microsoft.com/office/powerpoint/2010/main" val="1152644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1</a:t>
            </a:r>
            <a:r>
              <a:rPr lang="zh-TW" altLang="en-US" dirty="0"/>
              <a:t>呂當鄧</a:t>
            </a:r>
            <a:endParaRPr lang="en-US" altLang="zh-TW" dirty="0"/>
          </a:p>
          <a:p>
            <a:endParaRPr lang="en-US" altLang="zh-TW" dirty="0"/>
          </a:p>
          <a:p>
            <a:r>
              <a:rPr lang="en-US" altLang="zh-TW"/>
              <a:t>skins</a:t>
            </a:r>
            <a:endParaRPr lang="zh-TW" altLang="en-US"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3</a:t>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這有兩個公式用來挑選哪些點用來當作評估值，</a:t>
            </a:r>
            <a:endParaRPr lang="en-US" altLang="zh-TW" dirty="0"/>
          </a:p>
          <a:p>
            <a:endParaRPr lang="en-US" altLang="zh-TW" dirty="0"/>
          </a:p>
          <a:p>
            <a:r>
              <a:rPr lang="zh-TW" altLang="en-US" dirty="0"/>
              <a:t>公式</a:t>
            </a:r>
            <a:r>
              <a:rPr lang="en-US" altLang="zh-TW" dirty="0"/>
              <a:t>(1)</a:t>
            </a:r>
            <a:r>
              <a:rPr lang="zh-TW" altLang="en-US" dirty="0"/>
              <a:t>將所有的點的維度相加越小者越優先挑選</a:t>
            </a:r>
            <a:endParaRPr lang="en-US" altLang="zh-TW" dirty="0"/>
          </a:p>
          <a:p>
            <a:endParaRPr lang="en-US" altLang="zh-TW" dirty="0"/>
          </a:p>
          <a:p>
            <a:r>
              <a:rPr lang="zh-TW" altLang="en-US" dirty="0"/>
              <a:t>公式</a:t>
            </a:r>
            <a:r>
              <a:rPr lang="en-US" altLang="zh-TW" dirty="0"/>
              <a:t>(2)</a:t>
            </a:r>
            <a:r>
              <a:rPr lang="zh-TW" altLang="en-US" dirty="0"/>
              <a:t>各維度與平均值做相減後相加</a:t>
            </a:r>
            <a:r>
              <a:rPr lang="en-US" altLang="zh-TW" dirty="0"/>
              <a:t>=&gt;</a:t>
            </a:r>
            <a:r>
              <a:rPr lang="zh-TW" altLang="en-US" dirty="0"/>
              <a:t>代表各個維度數值較相近，序列後面可能會有更多</a:t>
            </a:r>
            <a:r>
              <a:rPr lang="en-US" altLang="zh-TW" dirty="0"/>
              <a:t>match point</a:t>
            </a:r>
          </a:p>
          <a:p>
            <a:endParaRPr lang="en-US" altLang="zh-TW" dirty="0"/>
          </a:p>
          <a:p>
            <a:r>
              <a:rPr lang="zh-TW" altLang="en-US" dirty="0"/>
              <a:t>我們會先看</a:t>
            </a:r>
            <a:r>
              <a:rPr lang="en-US" altLang="zh-TW" dirty="0"/>
              <a:t>sum</a:t>
            </a:r>
            <a:r>
              <a:rPr lang="zh-TW" altLang="en-US" dirty="0"/>
              <a:t>的值，越小越好 ，如果</a:t>
            </a:r>
            <a:r>
              <a:rPr lang="en-US" altLang="zh-TW" dirty="0"/>
              <a:t>sum</a:t>
            </a:r>
            <a:r>
              <a:rPr lang="zh-TW" altLang="en-US" dirty="0"/>
              <a:t>相等在看</a:t>
            </a:r>
            <a:r>
              <a:rPr lang="en-US" altLang="zh-TW" dirty="0"/>
              <a:t>dis</a:t>
            </a:r>
            <a:r>
              <a:rPr lang="zh-TW" altLang="en-US" dirty="0"/>
              <a:t>，一樣也是越小越好，如果皆相同，則隨機選取。</a:t>
            </a:r>
            <a:endParaRPr lang="en-US" altLang="zh-TW"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4</a:t>
            </a:fld>
            <a:endParaRPr lang="zh-TW" altLang="en-US"/>
          </a:p>
        </p:txBody>
      </p:sp>
    </p:spTree>
    <p:extLst>
      <p:ext uri="{BB962C8B-B14F-4D97-AF65-F5344CB8AC3E}">
        <p14:creationId xmlns:p14="http://schemas.microsoft.com/office/powerpoint/2010/main" val="347406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下限</a:t>
            </a:r>
            <a:endParaRPr lang="en-US" altLang="zh-TW" dirty="0"/>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5</a:t>
            </a:fld>
            <a:endParaRPr lang="zh-TW" altLang="en-US"/>
          </a:p>
        </p:txBody>
      </p:sp>
    </p:spTree>
    <p:extLst>
      <p:ext uri="{BB962C8B-B14F-4D97-AF65-F5344CB8AC3E}">
        <p14:creationId xmlns:p14="http://schemas.microsoft.com/office/powerpoint/2010/main" val="520261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a:t>
            </a:r>
            <a:r>
              <a:rPr lang="zh-TW" altLang="en-US" dirty="0"/>
              <a:t>條序列的</a:t>
            </a:r>
            <a:r>
              <a:rPr lang="en-US" altLang="zh-TW" dirty="0"/>
              <a:t>lcs</a:t>
            </a:r>
            <a:r>
              <a:rPr lang="zh-TW" altLang="en-US" dirty="0"/>
              <a:t>長度一定會小於 </a:t>
            </a:r>
            <a:r>
              <a:rPr lang="en-US" altLang="zh-TW" dirty="0"/>
              <a:t>2</a:t>
            </a:r>
            <a:r>
              <a:rPr lang="zh-TW" altLang="en-US" dirty="0"/>
              <a:t>條的</a:t>
            </a:r>
            <a:r>
              <a:rPr lang="en-US" altLang="zh-TW" dirty="0"/>
              <a:t>lcs</a:t>
            </a:r>
            <a:r>
              <a:rPr lang="zh-TW" altLang="en-US" dirty="0"/>
              <a:t>長度，故我們會從</a:t>
            </a:r>
            <a:r>
              <a:rPr lang="en-US" altLang="zh-TW" dirty="0"/>
              <a:t>n</a:t>
            </a:r>
            <a:r>
              <a:rPr lang="zh-TW" altLang="en-US" dirty="0"/>
              <a:t>條裡面挑選兩條</a:t>
            </a:r>
            <a:endParaRPr lang="en-US" altLang="zh-TW" dirty="0"/>
          </a:p>
          <a:p>
            <a:endParaRPr lang="en-US" altLang="zh-TW"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6</a:t>
            </a:fld>
            <a:endParaRPr lang="zh-TW" altLang="en-US"/>
          </a:p>
        </p:txBody>
      </p:sp>
    </p:spTree>
    <p:extLst>
      <p:ext uri="{BB962C8B-B14F-4D97-AF65-F5344CB8AC3E}">
        <p14:creationId xmlns:p14="http://schemas.microsoft.com/office/powerpoint/2010/main" val="800211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7</a:t>
            </a:fld>
            <a:endParaRPr lang="zh-TW" altLang="en-US"/>
          </a:p>
        </p:txBody>
      </p:sp>
    </p:spTree>
    <p:extLst>
      <p:ext uri="{BB962C8B-B14F-4D97-AF65-F5344CB8AC3E}">
        <p14:creationId xmlns:p14="http://schemas.microsoft.com/office/powerpoint/2010/main" val="4247881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依照點裡面的維度的最小值來做紀錄</a:t>
            </a:r>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8</a:t>
            </a:fld>
            <a:endParaRPr lang="zh-TW" altLang="en-US"/>
          </a:p>
        </p:txBody>
      </p:sp>
    </p:spTree>
    <p:extLst>
      <p:ext uri="{BB962C8B-B14F-4D97-AF65-F5344CB8AC3E}">
        <p14:creationId xmlns:p14="http://schemas.microsoft.com/office/powerpoint/2010/main" val="3476604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9</a:t>
            </a:fld>
            <a:endParaRPr lang="zh-TW" altLang="en-US"/>
          </a:p>
        </p:txBody>
      </p:sp>
    </p:spTree>
    <p:extLst>
      <p:ext uri="{BB962C8B-B14F-4D97-AF65-F5344CB8AC3E}">
        <p14:creationId xmlns:p14="http://schemas.microsoft.com/office/powerpoint/2010/main" val="31523572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7,4,3</a:t>
            </a: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11</a:t>
            </a:fld>
            <a:endParaRPr lang="zh-TW" altLang="en-US"/>
          </a:p>
        </p:txBody>
      </p:sp>
    </p:spTree>
    <p:extLst>
      <p:ext uri="{BB962C8B-B14F-4D97-AF65-F5344CB8AC3E}">
        <p14:creationId xmlns:p14="http://schemas.microsoft.com/office/powerpoint/2010/main" val="38376527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12</a:t>
            </a:fld>
            <a:endParaRPr lang="zh-TW" altLang="en-US"/>
          </a:p>
        </p:txBody>
      </p:sp>
    </p:spTree>
    <p:extLst>
      <p:ext uri="{BB962C8B-B14F-4D97-AF65-F5344CB8AC3E}">
        <p14:creationId xmlns:p14="http://schemas.microsoft.com/office/powerpoint/2010/main" val="2007009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latin typeface="+mn-lt"/>
                <a:ea typeface="+mn-ea"/>
                <a:cs typeface="+mn-cs"/>
              </a:rPr>
              <a:t>序列數量 </a:t>
            </a:r>
            <a:r>
              <a:rPr lang="en-US" altLang="zh-TW" sz="1200" kern="1200" dirty="0">
                <a:solidFill>
                  <a:schemeClr val="tx1"/>
                </a:solidFill>
                <a:latin typeface="+mn-lt"/>
                <a:ea typeface="+mn-ea"/>
                <a:cs typeface="+mn-cs"/>
              </a:rPr>
              <a:t>5</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latin typeface="+mn-lt"/>
                <a:ea typeface="+mn-ea"/>
                <a:cs typeface="+mn-cs"/>
              </a:rPr>
              <a:t>序列長度</a:t>
            </a:r>
            <a:r>
              <a:rPr lang="en-US" altLang="zh-TW" sz="1200" kern="1200" dirty="0">
                <a:solidFill>
                  <a:schemeClr val="tx1"/>
                </a:solidFill>
                <a:latin typeface="+mn-lt"/>
                <a:ea typeface="+mn-ea"/>
                <a:cs typeface="+mn-cs"/>
              </a:rPr>
              <a:t> </a:t>
            </a:r>
            <a:r>
              <a:rPr lang="zh-TW" altLang="en-US" sz="1200" kern="1200" dirty="0">
                <a:solidFill>
                  <a:schemeClr val="tx1"/>
                </a:solidFill>
                <a:latin typeface="+mn-lt"/>
                <a:ea typeface="+mn-ea"/>
                <a:cs typeface="+mn-cs"/>
              </a:rPr>
              <a:t>不斷增加</a:t>
            </a:r>
            <a:endParaRPr lang="en-US" altLang="zh-TW"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結果</a:t>
            </a: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序列長度在小於</a:t>
            </a:r>
            <a:r>
              <a:rPr lang="en-US" altLang="zh-TW" dirty="0"/>
              <a:t>120</a:t>
            </a:r>
            <a:r>
              <a:rPr lang="zh-TW" altLang="en-US" dirty="0"/>
              <a:t>時，</a:t>
            </a:r>
            <a:r>
              <a:rPr lang="en-US" altLang="zh-TW" dirty="0"/>
              <a:t>3</a:t>
            </a:r>
            <a:r>
              <a:rPr lang="zh-TW" altLang="en-US" dirty="0"/>
              <a:t>種算法都能在短時間內得到答案，</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Top-MLCS</a:t>
            </a:r>
            <a:r>
              <a:rPr lang="zh-TW" altLang="en-US" dirty="0"/>
              <a:t> 時間大約是</a:t>
            </a:r>
            <a:r>
              <a:rPr lang="en-US" altLang="zh-TW" dirty="0"/>
              <a:t>Big-MLCS</a:t>
            </a:r>
            <a:r>
              <a:rPr lang="zh-TW" altLang="en-US" dirty="0"/>
              <a:t>的</a:t>
            </a:r>
            <a:r>
              <a:rPr lang="en-US" altLang="zh-TW" dirty="0"/>
              <a:t>1.5</a:t>
            </a:r>
            <a:r>
              <a:rPr lang="zh-TW" altLang="en-US" dirty="0"/>
              <a:t>倍</a:t>
            </a:r>
            <a:r>
              <a:rPr lang="en-US" altLang="zh-TW" dirty="0"/>
              <a:t>-16</a:t>
            </a:r>
            <a:r>
              <a:rPr lang="zh-TW" altLang="en-US" dirty="0"/>
              <a:t>倍</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120 and 200</a:t>
            </a:r>
            <a:r>
              <a:rPr lang="zh-TW" altLang="en-US" dirty="0"/>
              <a:t>之間，</a:t>
            </a:r>
            <a:r>
              <a:rPr lang="en-US" altLang="zh-TW" dirty="0"/>
              <a:t>Top-MLCS</a:t>
            </a:r>
            <a:r>
              <a:rPr lang="zh-TW" altLang="en-US" dirty="0"/>
              <a:t> 時間大約是</a:t>
            </a:r>
            <a:r>
              <a:rPr lang="en-US" altLang="zh-TW" dirty="0"/>
              <a:t>Big-MLCS</a:t>
            </a:r>
            <a:r>
              <a:rPr lang="zh-TW" altLang="en-US" dirty="0"/>
              <a:t>的</a:t>
            </a:r>
            <a:r>
              <a:rPr lang="en-US" altLang="zh-TW" dirty="0"/>
              <a:t>1.8</a:t>
            </a:r>
            <a:r>
              <a:rPr lang="zh-TW" altLang="en-US" dirty="0"/>
              <a:t>倍</a:t>
            </a:r>
            <a:r>
              <a:rPr lang="en-US" altLang="zh-TW" dirty="0"/>
              <a:t>-29</a:t>
            </a:r>
            <a:r>
              <a:rPr lang="zh-TW" altLang="en-US" dirty="0"/>
              <a:t>倍</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超過 </a:t>
            </a:r>
            <a:r>
              <a:rPr lang="en-US" altLang="zh-TW" dirty="0"/>
              <a:t>200</a:t>
            </a:r>
            <a:r>
              <a:rPr lang="zh-TW" altLang="en-US" dirty="0"/>
              <a:t>，</a:t>
            </a:r>
            <a:r>
              <a:rPr lang="en-US" altLang="zh-TW" dirty="0"/>
              <a:t>Quick-MLCS </a:t>
            </a:r>
            <a:r>
              <a:rPr lang="zh-TW" altLang="en-US" dirty="0"/>
              <a:t>和 </a:t>
            </a:r>
            <a:r>
              <a:rPr lang="en-US" altLang="zh-TW" dirty="0"/>
              <a:t>Top-MLCS </a:t>
            </a:r>
            <a:r>
              <a:rPr lang="zh-TW" altLang="en-US" dirty="0"/>
              <a:t>算法都無法在時間內得到答案，而</a:t>
            </a:r>
            <a:r>
              <a:rPr lang="en-US" altLang="zh-TW" dirty="0"/>
              <a:t>Big-MLCS</a:t>
            </a:r>
            <a:r>
              <a:rPr lang="zh-TW" altLang="en-US" dirty="0"/>
              <a:t>仍然可以</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這圖表明了</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相同環境下，</a:t>
            </a:r>
            <a:r>
              <a:rPr lang="en-US" altLang="zh-TW" dirty="0"/>
              <a:t>Big-MLCS </a:t>
            </a:r>
            <a:r>
              <a:rPr lang="zh-TW" altLang="en-US" dirty="0"/>
              <a:t>可以解決更長的 </a:t>
            </a:r>
            <a:r>
              <a:rPr lang="en-US" altLang="zh-TW" dirty="0"/>
              <a:t>MLCS</a:t>
            </a:r>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13</a:t>
            </a:fld>
            <a:endParaRPr lang="zh-TW"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latin typeface="+mn-lt"/>
                <a:ea typeface="+mn-ea"/>
                <a:cs typeface="+mn-cs"/>
              </a:rPr>
              <a:t>使用</a:t>
            </a:r>
            <a:r>
              <a:rPr lang="en-US" altLang="zh-TW" sz="1200" kern="1200" dirty="0">
                <a:solidFill>
                  <a:schemeClr val="tx1"/>
                </a:solidFill>
                <a:latin typeface="+mn-lt"/>
                <a:ea typeface="+mn-ea"/>
                <a:cs typeface="+mn-cs"/>
              </a:rPr>
              <a:t>DNA</a:t>
            </a:r>
            <a:r>
              <a:rPr lang="zh-TW" altLang="en-US" sz="1200" kern="1200" dirty="0">
                <a:solidFill>
                  <a:schemeClr val="tx1"/>
                </a:solidFill>
                <a:latin typeface="+mn-lt"/>
                <a:ea typeface="+mn-ea"/>
                <a:cs typeface="+mn-cs"/>
              </a:rPr>
              <a:t>來比較 字母種類為</a:t>
            </a:r>
            <a:r>
              <a:rPr lang="en-US" altLang="zh-TW" sz="1200" kern="1200" dirty="0">
                <a:solidFill>
                  <a:schemeClr val="tx1"/>
                </a:solidFill>
                <a:latin typeface="+mn-lt"/>
                <a:ea typeface="+mn-ea"/>
                <a:cs typeface="+mn-cs"/>
              </a:rPr>
              <a:t>ATCG</a:t>
            </a:r>
            <a:r>
              <a:rPr lang="zh-TW" altLang="en-US" sz="1200" kern="1200" dirty="0">
                <a:solidFill>
                  <a:schemeClr val="tx1"/>
                </a:solidFill>
                <a:latin typeface="+mn-lt"/>
                <a:ea typeface="+mn-ea"/>
                <a:cs typeface="+mn-cs"/>
              </a:rPr>
              <a:t> </a:t>
            </a:r>
            <a:r>
              <a:rPr lang="en-US" altLang="zh-TW" sz="1200" kern="1200" dirty="0">
                <a:solidFill>
                  <a:schemeClr val="tx1"/>
                </a:solidFill>
                <a:latin typeface="+mn-lt"/>
                <a:ea typeface="+mn-ea"/>
                <a:cs typeface="+mn-cs"/>
              </a:rPr>
              <a:t>4</a:t>
            </a:r>
            <a:r>
              <a:rPr lang="zh-TW" altLang="en-US" sz="1200" kern="1200" dirty="0">
                <a:solidFill>
                  <a:schemeClr val="tx1"/>
                </a:solidFill>
                <a:latin typeface="+mn-lt"/>
                <a:ea typeface="+mn-ea"/>
                <a:cs typeface="+mn-cs"/>
              </a:rPr>
              <a:t>種</a:t>
            </a:r>
            <a:endParaRPr lang="en-US" altLang="zh-TW"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latin typeface="+mn-lt"/>
                <a:ea typeface="+mn-ea"/>
                <a:cs typeface="+mn-cs"/>
              </a:rPr>
              <a:t>序列長度 </a:t>
            </a:r>
            <a:r>
              <a:rPr lang="en-US" altLang="zh-TW" sz="1200" kern="1200" dirty="0">
                <a:solidFill>
                  <a:schemeClr val="tx1"/>
                </a:solidFill>
                <a:latin typeface="+mn-lt"/>
                <a:ea typeface="+mn-ea"/>
                <a:cs typeface="+mn-cs"/>
              </a:rPr>
              <a:t>85</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latin typeface="+mn-lt"/>
                <a:ea typeface="+mn-ea"/>
                <a:cs typeface="+mn-cs"/>
              </a:rPr>
              <a:t>序列數量</a:t>
            </a:r>
            <a:r>
              <a:rPr lang="en-US" altLang="zh-TW" sz="1200" kern="1200" dirty="0">
                <a:solidFill>
                  <a:schemeClr val="tx1"/>
                </a:solidFill>
                <a:latin typeface="+mn-lt"/>
                <a:ea typeface="+mn-ea"/>
                <a:cs typeface="+mn-cs"/>
              </a:rPr>
              <a:t> </a:t>
            </a:r>
            <a:r>
              <a:rPr lang="zh-TW" altLang="en-US" sz="1200" kern="1200" dirty="0">
                <a:solidFill>
                  <a:schemeClr val="tx1"/>
                </a:solidFill>
                <a:latin typeface="+mn-lt"/>
                <a:ea typeface="+mn-ea"/>
                <a:cs typeface="+mn-cs"/>
              </a:rPr>
              <a:t>不斷增加</a:t>
            </a:r>
            <a:endParaRPr lang="en-US" altLang="zh-TW"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結果</a:t>
            </a: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Big-MLCS</a:t>
            </a:r>
            <a:r>
              <a:rPr lang="zh-TW" altLang="en-US" dirty="0"/>
              <a:t>仍優於另外兩個演算法</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隨著序列數的增加，用於時間總體趨勢將先增加，然後逐漸減少。 </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出現這種現象的原因是因為隨著序列數的增加大於一定規模（在這種情況下，當比對序列超過</a:t>
            </a:r>
            <a:r>
              <a:rPr lang="en-US" altLang="zh-TW" dirty="0"/>
              <a:t>100</a:t>
            </a:r>
            <a:r>
              <a:rPr lang="zh-TW" altLang="en-US" dirty="0"/>
              <a:t>），最終</a:t>
            </a:r>
            <a:r>
              <a:rPr lang="en-US" altLang="zh-TW" dirty="0"/>
              <a:t>MLCS</a:t>
            </a:r>
            <a:r>
              <a:rPr lang="zh-TW" altLang="en-US" dirty="0"/>
              <a:t>的長度與</a:t>
            </a:r>
            <a:r>
              <a:rPr lang="en-US" altLang="zh-TW" dirty="0"/>
              <a:t>match points</a:t>
            </a:r>
            <a:r>
              <a:rPr lang="zh-TW" altLang="en-US" dirty="0"/>
              <a:t>數量會逐漸減少。</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這意味著對於固定長度的問題，並不是序列越多，</a:t>
            </a:r>
            <a:r>
              <a:rPr lang="en-US" altLang="zh-TW" dirty="0"/>
              <a:t>MLCS</a:t>
            </a:r>
            <a:r>
              <a:rPr lang="zh-TW" altLang="en-US" dirty="0"/>
              <a:t>問題的難度就越大。</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我們可以看到序列長度固定為 </a:t>
            </a:r>
            <a:r>
              <a:rPr lang="en-US" altLang="zh-TW" dirty="0"/>
              <a:t>85</a:t>
            </a:r>
            <a:r>
              <a:rPr lang="zh-TW" altLang="en-US" dirty="0"/>
              <a:t>時，最困難的是序列數量</a:t>
            </a:r>
            <a:r>
              <a:rPr lang="en-US" altLang="zh-TW" dirty="0"/>
              <a:t>20 to 200</a:t>
            </a:r>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14</a:t>
            </a:fld>
            <a:endParaRPr lang="zh-TW" altLang="en-US"/>
          </a:p>
        </p:txBody>
      </p:sp>
    </p:spTree>
    <p:extLst>
      <p:ext uri="{BB962C8B-B14F-4D97-AF65-F5344CB8AC3E}">
        <p14:creationId xmlns:p14="http://schemas.microsoft.com/office/powerpoint/2010/main" val="761062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latin typeface="+mn-lt"/>
                <a:ea typeface="+mn-ea"/>
                <a:cs typeface="+mn-cs"/>
              </a:rPr>
              <a:t>序列長度 </a:t>
            </a:r>
            <a:r>
              <a:rPr lang="en-US" altLang="zh-TW" sz="1200" kern="1200" dirty="0">
                <a:solidFill>
                  <a:schemeClr val="tx1"/>
                </a:solidFill>
                <a:latin typeface="+mn-lt"/>
                <a:ea typeface="+mn-ea"/>
                <a:cs typeface="+mn-cs"/>
              </a:rPr>
              <a:t>85</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latin typeface="+mn-lt"/>
                <a:ea typeface="+mn-ea"/>
                <a:cs typeface="+mn-cs"/>
              </a:rPr>
              <a:t>序列數量</a:t>
            </a:r>
            <a:r>
              <a:rPr lang="en-US" altLang="zh-TW" sz="1200" kern="1200" dirty="0">
                <a:solidFill>
                  <a:schemeClr val="tx1"/>
                </a:solidFill>
                <a:latin typeface="+mn-lt"/>
                <a:ea typeface="+mn-ea"/>
                <a:cs typeface="+mn-cs"/>
              </a:rPr>
              <a:t> </a:t>
            </a:r>
            <a:r>
              <a:rPr lang="zh-TW" altLang="en-US" sz="1200" kern="1200" dirty="0">
                <a:solidFill>
                  <a:schemeClr val="tx1"/>
                </a:solidFill>
                <a:latin typeface="+mn-lt"/>
                <a:ea typeface="+mn-ea"/>
                <a:cs typeface="+mn-cs"/>
              </a:rPr>
              <a:t>不斷增加</a:t>
            </a:r>
            <a:endParaRPr lang="en-US" altLang="zh-TW"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結果</a:t>
            </a: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當序列數逐漸增加時，</a:t>
            </a:r>
            <a:r>
              <a:rPr lang="en-US" altLang="zh-TW" dirty="0"/>
              <a:t>Top-MLCS </a:t>
            </a:r>
            <a:r>
              <a:rPr lang="zh-TW" altLang="en-US" dirty="0"/>
              <a:t>和 </a:t>
            </a:r>
            <a:r>
              <a:rPr lang="en-US" altLang="zh-TW" dirty="0"/>
              <a:t>Big-MLCS</a:t>
            </a:r>
            <a:r>
              <a:rPr lang="zh-TW" altLang="en-US" dirty="0"/>
              <a:t>不管是在</a:t>
            </a:r>
            <a:r>
              <a:rPr lang="en-US" altLang="zh-TW" dirty="0"/>
              <a:t>point</a:t>
            </a:r>
            <a:r>
              <a:rPr lang="zh-TW" altLang="en-US" dirty="0"/>
              <a:t>的數量還是</a:t>
            </a:r>
            <a:r>
              <a:rPr lang="en-US" altLang="zh-TW" dirty="0"/>
              <a:t>memory</a:t>
            </a:r>
            <a:r>
              <a:rPr lang="zh-TW" altLang="en-US" dirty="0"/>
              <a:t>消耗皆是先增加後減少。</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r>
              <a:rPr lang="zh-TW" altLang="en-US" dirty="0"/>
              <a:t>結論</a:t>
            </a:r>
            <a:endParaRPr lang="en-US" altLang="zh-TW" dirty="0"/>
          </a:p>
          <a:p>
            <a:r>
              <a:rPr lang="zh-TW" altLang="en-US" dirty="0"/>
              <a:t>使用新的數據結構</a:t>
            </a:r>
            <a:r>
              <a:rPr lang="en-US" altLang="zh-TW" dirty="0"/>
              <a:t>(GHT)</a:t>
            </a:r>
            <a:r>
              <a:rPr lang="zh-TW" altLang="en-US" b="0" i="0" dirty="0">
                <a:solidFill>
                  <a:srgbClr val="2E2E2E"/>
                </a:solidFill>
                <a:effectLst/>
                <a:latin typeface="NexusSerif"/>
              </a:rPr>
              <a:t>以避免拓撲排序。</a:t>
            </a:r>
            <a:r>
              <a:rPr lang="en-US" altLang="zh-TW" dirty="0"/>
              <a:t>branch and bound. </a:t>
            </a:r>
          </a:p>
          <a:p>
            <a:r>
              <a:rPr lang="zh-TW" altLang="en-US" dirty="0"/>
              <a:t>實驗結果表明，</a:t>
            </a:r>
            <a:r>
              <a:rPr lang="en-US" altLang="zh-TW" dirty="0"/>
              <a:t>Big-MLCS </a:t>
            </a:r>
            <a:r>
              <a:rPr lang="zh-TW" altLang="en-US" dirty="0"/>
              <a:t>在時間、空間方面皆優於兩種最先進的算法：</a:t>
            </a:r>
            <a:r>
              <a:rPr lang="en-US" altLang="zh-TW" dirty="0"/>
              <a:t>Quick-MLCS </a:t>
            </a:r>
            <a:r>
              <a:rPr lang="zh-TW" altLang="en-US" dirty="0"/>
              <a:t>和 </a:t>
            </a:r>
            <a:r>
              <a:rPr lang="en-US" altLang="zh-TW" dirty="0"/>
              <a:t>Top-MLCS</a:t>
            </a:r>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15</a:t>
            </a:fld>
            <a:endParaRPr lang="zh-TW" altLang="en-US"/>
          </a:p>
        </p:txBody>
      </p:sp>
    </p:spTree>
    <p:extLst>
      <p:ext uri="{BB962C8B-B14F-4D97-AF65-F5344CB8AC3E}">
        <p14:creationId xmlns:p14="http://schemas.microsoft.com/office/powerpoint/2010/main" val="662561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2022/6/14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2022/6/14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2022/6/14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2022/6/14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BA57A5FF-B09D-4861-A15A-3127FCDEB20B}" type="datetimeFigureOut">
              <a:rPr lang="zh-TW" altLang="en-US" smtClean="0"/>
              <a:pPr/>
              <a:t>2022/6/14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BA57A5FF-B09D-4861-A15A-3127FCDEB20B}" type="datetimeFigureOut">
              <a:rPr lang="zh-TW" altLang="en-US" smtClean="0"/>
              <a:pPr/>
              <a:t>2022/6/14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A57A5FF-B09D-4861-A15A-3127FCDEB20B}" type="datetimeFigureOut">
              <a:rPr lang="zh-TW" altLang="en-US" smtClean="0"/>
              <a:pPr/>
              <a:t>2022/6/14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2022/6/14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2022/6/14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2022/6/14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2022/6/14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57A5FF-B09D-4861-A15A-3127FCDEB20B}" type="datetimeFigureOut">
              <a:rPr lang="zh-TW" altLang="en-US" smtClean="0"/>
              <a:pPr/>
              <a:t>2022/6/14</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2DDFCA-1BA1-4113-A59F-BE40A323E13E}"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C020BB-2F3A-40BC-8D8D-94312CEA4980}"/>
              </a:ext>
            </a:extLst>
          </p:cNvPr>
          <p:cNvSpPr>
            <a:spLocks noGrp="1"/>
          </p:cNvSpPr>
          <p:nvPr>
            <p:ph type="ctrTitle"/>
          </p:nvPr>
        </p:nvSpPr>
        <p:spPr>
          <a:xfrm>
            <a:off x="364920" y="672353"/>
            <a:ext cx="8625823" cy="2837610"/>
          </a:xfrm>
        </p:spPr>
        <p:txBody>
          <a:bodyPr anchor="t">
            <a:noAutofit/>
          </a:bodyPr>
          <a:lstStyle/>
          <a:p>
            <a:r>
              <a:rPr lang="en-US" altLang="zh-TW" dirty="0"/>
              <a:t>A Branch and Bound Irredundant Graph Algorithm for Large-Scale MLCS Problems</a:t>
            </a:r>
            <a:br>
              <a:rPr lang="en-US" dirty="0"/>
            </a:br>
            <a:br>
              <a:rPr lang="af-ZA" altLang="zh-TW" sz="4400" b="0" i="0" dirty="0">
                <a:solidFill>
                  <a:srgbClr val="000000"/>
                </a:solidFill>
                <a:effectLst/>
                <a:latin typeface="Times New Roman" panose="02020603050405020304" pitchFamily="18" charset="0"/>
              </a:rPr>
            </a:br>
            <a:r>
              <a:rPr lang="af-ZA" altLang="zh-TW" sz="2800" b="1" dirty="0">
                <a:latin typeface="Times New Roman" panose="02020603050405020304" pitchFamily="18" charset="0"/>
                <a:cs typeface="Times New Roman" panose="02020603050405020304" pitchFamily="18" charset="0"/>
              </a:rPr>
              <a:t>​</a:t>
            </a:r>
            <a:br>
              <a:rPr lang="af-ZA" altLang="zh-TW" sz="2800" b="1" dirty="0">
                <a:latin typeface="Times New Roman" panose="02020603050405020304" pitchFamily="18" charset="0"/>
                <a:cs typeface="Times New Roman" panose="02020603050405020304" pitchFamily="18" charset="0"/>
              </a:rPr>
            </a:br>
            <a:br>
              <a:rPr lang="en-US" altLang="zh-TW" sz="4400" b="0" i="0" dirty="0">
                <a:solidFill>
                  <a:srgbClr val="505050"/>
                </a:solidFill>
                <a:effectLst/>
                <a:latin typeface="Times New Roman" panose="02020603050405020304" pitchFamily="18" charset="0"/>
                <a:cs typeface="Times New Roman" panose="02020603050405020304" pitchFamily="18" charset="0"/>
              </a:rPr>
            </a:br>
            <a:br>
              <a:rPr lang="en-US" altLang="zh-TW" sz="3200" b="0" i="0" dirty="0">
                <a:solidFill>
                  <a:srgbClr val="505050"/>
                </a:solidFill>
                <a:effectLst/>
                <a:latin typeface="Times New Roman" panose="02020603050405020304" pitchFamily="18" charset="0"/>
                <a:cs typeface="Times New Roman" panose="02020603050405020304" pitchFamily="18" charset="0"/>
              </a:rPr>
            </a:br>
            <a:endParaRPr lang="zh-TW" altLang="en-US" sz="32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B9014221-E47C-4C31-898A-DB1330B1B844}"/>
              </a:ext>
            </a:extLst>
          </p:cNvPr>
          <p:cNvSpPr txBox="1"/>
          <p:nvPr/>
        </p:nvSpPr>
        <p:spPr>
          <a:xfrm>
            <a:off x="6084168" y="5862481"/>
            <a:ext cx="2775670" cy="646331"/>
          </a:xfrm>
          <a:prstGeom prst="rect">
            <a:avLst/>
          </a:prstGeom>
          <a:noFill/>
        </p:spPr>
        <p:txBody>
          <a:bodyPr wrap="square">
            <a:spAutoFit/>
          </a:bodyPr>
          <a:lstStyle/>
          <a:p>
            <a:r>
              <a:rPr lang="en-US" altLang="zh-TW" dirty="0" err="1"/>
              <a:t>Presenter:Chien-Ting</a:t>
            </a:r>
            <a:r>
              <a:rPr lang="en-US" altLang="zh-TW" dirty="0"/>
              <a:t> Lee</a:t>
            </a:r>
          </a:p>
          <a:p>
            <a:pPr marR="0" lvl="0" indent="0" fontAlgn="auto">
              <a:lnSpc>
                <a:spcPct val="100000"/>
              </a:lnSpc>
              <a:spcBef>
                <a:spcPts val="0"/>
              </a:spcBef>
              <a:spcAft>
                <a:spcPts val="0"/>
              </a:spcAft>
              <a:buClrTx/>
              <a:buSzTx/>
              <a:buFontTx/>
              <a:buNone/>
              <a:tabLst/>
              <a:defRPr/>
            </a:pPr>
            <a:r>
              <a:rPr lang="x-none" altLang="zh-TW" dirty="0"/>
              <a:t>Date:</a:t>
            </a:r>
            <a:r>
              <a:rPr lang="zh-TW" altLang="en-US" dirty="0"/>
              <a:t> </a:t>
            </a:r>
            <a:r>
              <a:rPr lang="en-US" altLang="zh-TW" dirty="0"/>
              <a:t>Jun</a:t>
            </a:r>
            <a:r>
              <a:rPr lang="x-none" altLang="zh-TW" dirty="0"/>
              <a:t>. </a:t>
            </a:r>
            <a:r>
              <a:rPr lang="en-US" altLang="zh-TW" dirty="0"/>
              <a:t>14</a:t>
            </a:r>
            <a:r>
              <a:rPr lang="x-none" altLang="zh-TW" dirty="0"/>
              <a:t>, 202</a:t>
            </a:r>
            <a:r>
              <a:rPr lang="en-US" altLang="zh-TW" dirty="0"/>
              <a:t>2</a:t>
            </a:r>
            <a:endParaRPr lang="x-none" altLang="zh-TW" dirty="0"/>
          </a:p>
        </p:txBody>
      </p:sp>
      <p:sp>
        <p:nvSpPr>
          <p:cNvPr id="4" name="副標題 2">
            <a:extLst>
              <a:ext uri="{FF2B5EF4-FFF2-40B4-BE49-F238E27FC236}">
                <a16:creationId xmlns:a16="http://schemas.microsoft.com/office/drawing/2014/main" id="{C2097824-8D05-480F-BF6D-DD8BBC3EFED6}"/>
              </a:ext>
            </a:extLst>
          </p:cNvPr>
          <p:cNvSpPr>
            <a:spLocks noGrp="1"/>
          </p:cNvSpPr>
          <p:nvPr>
            <p:ph type="subTitle" idx="1"/>
          </p:nvPr>
        </p:nvSpPr>
        <p:spPr>
          <a:xfrm>
            <a:off x="8760" y="3509963"/>
            <a:ext cx="9144000" cy="1655762"/>
          </a:xfrm>
        </p:spPr>
        <p:txBody>
          <a:bodyPr>
            <a:normAutofit/>
          </a:bodyPr>
          <a:lstStyle/>
          <a:p>
            <a:pPr>
              <a:lnSpc>
                <a:spcPct val="110000"/>
              </a:lnSpc>
              <a:spcBef>
                <a:spcPts val="1000"/>
              </a:spcBef>
            </a:pPr>
            <a:r>
              <a:rPr lang="en-US" altLang="zh-TW" sz="2400" dirty="0" err="1">
                <a:solidFill>
                  <a:schemeClr val="tx1"/>
                </a:solidFill>
              </a:rPr>
              <a:t>Chunyang</a:t>
            </a:r>
            <a:r>
              <a:rPr lang="en-US" altLang="zh-TW" sz="2400" dirty="0">
                <a:solidFill>
                  <a:schemeClr val="tx1"/>
                </a:solidFill>
              </a:rPr>
              <a:t> Wang, </a:t>
            </a:r>
            <a:r>
              <a:rPr lang="en-US" altLang="zh-TW" sz="2400" dirty="0" err="1">
                <a:solidFill>
                  <a:schemeClr val="tx1"/>
                </a:solidFill>
              </a:rPr>
              <a:t>Yuping</a:t>
            </a:r>
            <a:r>
              <a:rPr lang="en-US" altLang="zh-TW" sz="2400" dirty="0">
                <a:solidFill>
                  <a:schemeClr val="tx1"/>
                </a:solidFill>
              </a:rPr>
              <a:t> Wang</a:t>
            </a:r>
            <a:r>
              <a:rPr lang="zh-TW" altLang="en-US" sz="2400" dirty="0">
                <a:solidFill>
                  <a:schemeClr val="tx1"/>
                </a:solidFill>
              </a:rPr>
              <a:t> </a:t>
            </a:r>
            <a:r>
              <a:rPr lang="en-US" altLang="zh-TW" sz="2400" dirty="0">
                <a:solidFill>
                  <a:schemeClr val="tx1"/>
                </a:solidFill>
              </a:rPr>
              <a:t>and </a:t>
            </a:r>
            <a:r>
              <a:rPr lang="en-US" altLang="zh-TW" sz="2400" dirty="0" err="1">
                <a:solidFill>
                  <a:schemeClr val="tx1"/>
                </a:solidFill>
              </a:rPr>
              <a:t>Yiuming</a:t>
            </a:r>
            <a:r>
              <a:rPr lang="en-US" altLang="zh-TW" sz="2400" dirty="0">
                <a:solidFill>
                  <a:schemeClr val="tx1"/>
                </a:solidFill>
              </a:rPr>
              <a:t> Cheung</a:t>
            </a:r>
          </a:p>
          <a:p>
            <a:pPr>
              <a:lnSpc>
                <a:spcPct val="110000"/>
              </a:lnSpc>
              <a:spcBef>
                <a:spcPts val="1000"/>
              </a:spcBef>
            </a:pPr>
            <a:br>
              <a:rPr lang="en-US" altLang="zh-TW" sz="1400" dirty="0"/>
            </a:br>
            <a:r>
              <a:rPr lang="en-US" altLang="zh-TW" sz="2400" dirty="0">
                <a:solidFill>
                  <a:schemeClr val="tx1"/>
                </a:solidFill>
              </a:rPr>
              <a:t>Pattern Recognition, Volume 119, November 2021, 108059</a:t>
            </a:r>
          </a:p>
          <a:p>
            <a:pPr>
              <a:lnSpc>
                <a:spcPct val="110000"/>
              </a:lnSpc>
              <a:spcBef>
                <a:spcPts val="1000"/>
              </a:spcBef>
            </a:pPr>
            <a:endParaRPr lang="en-US" altLang="zh-TW" sz="2400" dirty="0">
              <a:solidFill>
                <a:schemeClr val="tx1"/>
              </a:solidFill>
            </a:endParaRPr>
          </a:p>
          <a:p>
            <a:pPr>
              <a:lnSpc>
                <a:spcPct val="110000"/>
              </a:lnSpc>
              <a:spcBef>
                <a:spcPts val="1000"/>
              </a:spcBef>
            </a:pPr>
            <a:endParaRPr lang="en-US" altLang="zh-TW" sz="2400" dirty="0">
              <a:solidFill>
                <a:schemeClr val="tx1"/>
              </a:solidFill>
            </a:endParaRPr>
          </a:p>
        </p:txBody>
      </p:sp>
    </p:spTree>
    <p:extLst>
      <p:ext uri="{BB962C8B-B14F-4D97-AF65-F5344CB8AC3E}">
        <p14:creationId xmlns:p14="http://schemas.microsoft.com/office/powerpoint/2010/main" val="1494363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Abstract(1/2)</a:t>
            </a:r>
            <a:endParaRPr lang="zh-TW" altLang="en-US" dirty="0"/>
          </a:p>
        </p:txBody>
      </p:sp>
      <p:sp>
        <p:nvSpPr>
          <p:cNvPr id="3" name="內容版面配置區 2"/>
          <p:cNvSpPr>
            <a:spLocks noGrp="1"/>
          </p:cNvSpPr>
          <p:nvPr>
            <p:ph idx="1"/>
          </p:nvPr>
        </p:nvSpPr>
        <p:spPr/>
        <p:txBody>
          <a:bodyPr>
            <a:normAutofit/>
          </a:bodyPr>
          <a:lstStyle/>
          <a:p>
            <a:pPr>
              <a:buNone/>
            </a:pPr>
            <a:r>
              <a:rPr lang="en-US" altLang="zh-TW" sz="2400" dirty="0"/>
              <a:t>	Finding the multiple longest common subsequences (MLCS) among many long sequences (i.e., the large scale MLCS problem) has many important applications, such as gene alignment, disease diagnosis, and documents similarity check, etc. It is an NP-hard problem (Maier et al., 1978). The key bottle neck of this problem is that the existing state-of-the-art algorithms must construct a huge graph (called direct acyclic graph, briefly DAG), and the computer usually has no enough space to store and handle this graph. Thus the existing algorithms cannot solve the large scale MLCS problem.</a:t>
            </a:r>
            <a:endParaRPr lang="zh-TW" alt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Abstract(2/2)</a:t>
            </a:r>
            <a:endParaRPr lang="zh-TW" altLang="en-US" dirty="0"/>
          </a:p>
        </p:txBody>
      </p:sp>
      <p:sp>
        <p:nvSpPr>
          <p:cNvPr id="3" name="內容版面配置區 2"/>
          <p:cNvSpPr>
            <a:spLocks noGrp="1"/>
          </p:cNvSpPr>
          <p:nvPr>
            <p:ph idx="1"/>
          </p:nvPr>
        </p:nvSpPr>
        <p:spPr/>
        <p:txBody>
          <a:bodyPr>
            <a:noAutofit/>
          </a:bodyPr>
          <a:lstStyle/>
          <a:p>
            <a:pPr>
              <a:buNone/>
            </a:pPr>
            <a:r>
              <a:rPr lang="en-US" altLang="zh-TW" sz="2400" dirty="0"/>
              <a:t>	In order to quickly solve the large-scale MLCS problem within limited computer resources, this paper therefore proposes a branch and bound irredundant graph algorithm called Big-MLCS, which constructs a much smaller DAG (called </a:t>
            </a:r>
            <a:r>
              <a:rPr lang="en-US" altLang="zh-TW" sz="2400" dirty="0" err="1"/>
              <a:t>SmallDAG</a:t>
            </a:r>
            <a:r>
              <a:rPr lang="en-US" altLang="zh-TW" sz="2400" dirty="0"/>
              <a:t>) than the existing algorithms do by a branch and bound method, and designs a new data structure to efficiently store and handle Small-DAG. By these schemes, Big-MLCS is more efficient than the existing algorithms. Also, we compare the proposed algorithm with two state-of-the-art algorithms through the experiments, and the results show that the proposed algorithm outperforms the compared algorithms and is more suitable to large-scale MLCS problems.</a:t>
            </a:r>
            <a:endParaRPr lang="zh-TW" alt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88247D-8F2C-2A08-3AAF-96363917B267}"/>
              </a:ext>
            </a:extLst>
          </p:cNvPr>
          <p:cNvSpPr>
            <a:spLocks noGrp="1"/>
          </p:cNvSpPr>
          <p:nvPr>
            <p:ph type="title"/>
          </p:nvPr>
        </p:nvSpPr>
        <p:spPr/>
        <p:txBody>
          <a:bodyPr/>
          <a:lstStyle/>
          <a:p>
            <a:r>
              <a:rPr lang="en-US" altLang="zh-TW" dirty="0"/>
              <a:t>Branch and bound</a:t>
            </a:r>
            <a:endParaRPr lang="zh-TW" altLang="en-US" dirty="0"/>
          </a:p>
        </p:txBody>
      </p:sp>
      <p:pic>
        <p:nvPicPr>
          <p:cNvPr id="16" name="圖片 15">
            <a:extLst>
              <a:ext uri="{FF2B5EF4-FFF2-40B4-BE49-F238E27FC236}">
                <a16:creationId xmlns:a16="http://schemas.microsoft.com/office/drawing/2014/main" id="{D89D8E9C-63F5-C050-623D-938EB3F5A560}"/>
              </a:ext>
            </a:extLst>
          </p:cNvPr>
          <p:cNvPicPr>
            <a:picLocks noChangeAspect="1"/>
          </p:cNvPicPr>
          <p:nvPr/>
        </p:nvPicPr>
        <p:blipFill>
          <a:blip r:embed="rId3"/>
          <a:stretch>
            <a:fillRect/>
          </a:stretch>
        </p:blipFill>
        <p:spPr>
          <a:xfrm>
            <a:off x="899592" y="1475525"/>
            <a:ext cx="2520280" cy="1189055"/>
          </a:xfrm>
          <a:prstGeom prst="rect">
            <a:avLst/>
          </a:prstGeom>
        </p:spPr>
      </p:pic>
      <p:pic>
        <p:nvPicPr>
          <p:cNvPr id="18" name="圖片 17">
            <a:extLst>
              <a:ext uri="{FF2B5EF4-FFF2-40B4-BE49-F238E27FC236}">
                <a16:creationId xmlns:a16="http://schemas.microsoft.com/office/drawing/2014/main" id="{92685FB5-FA2B-5AA5-4967-595E787FF510}"/>
              </a:ext>
            </a:extLst>
          </p:cNvPr>
          <p:cNvPicPr>
            <a:picLocks noChangeAspect="1"/>
          </p:cNvPicPr>
          <p:nvPr/>
        </p:nvPicPr>
        <p:blipFill>
          <a:blip r:embed="rId4"/>
          <a:stretch>
            <a:fillRect/>
          </a:stretch>
        </p:blipFill>
        <p:spPr>
          <a:xfrm>
            <a:off x="4229082" y="1709389"/>
            <a:ext cx="685835" cy="757007"/>
          </a:xfrm>
          <a:prstGeom prst="rect">
            <a:avLst/>
          </a:prstGeom>
        </p:spPr>
      </p:pic>
      <p:sp>
        <p:nvSpPr>
          <p:cNvPr id="19" name="文字方塊 18">
            <a:extLst>
              <a:ext uri="{FF2B5EF4-FFF2-40B4-BE49-F238E27FC236}">
                <a16:creationId xmlns:a16="http://schemas.microsoft.com/office/drawing/2014/main" id="{64F6D474-D7D7-CF6F-88A5-BD7EC20BB52F}"/>
              </a:ext>
            </a:extLst>
          </p:cNvPr>
          <p:cNvSpPr txBox="1"/>
          <p:nvPr/>
        </p:nvSpPr>
        <p:spPr>
          <a:xfrm>
            <a:off x="1619672" y="2758148"/>
            <a:ext cx="5616624" cy="954107"/>
          </a:xfrm>
          <a:prstGeom prst="rect">
            <a:avLst/>
          </a:prstGeom>
          <a:noFill/>
        </p:spPr>
        <p:txBody>
          <a:bodyPr wrap="square" rtlCol="0">
            <a:spAutoFit/>
          </a:bodyPr>
          <a:lstStyle/>
          <a:p>
            <a:r>
              <a:rPr lang="en-US" altLang="zh-TW" sz="2800" dirty="0"/>
              <a:t>EX: </a:t>
            </a:r>
            <a:r>
              <a:rPr lang="en-US" altLang="zh-TW" sz="2800" dirty="0">
                <a:sym typeface="Wingdings" panose="05000000000000000000" pitchFamily="2" charset="2"/>
              </a:rPr>
              <a:t>P(1,2,3)  </a:t>
            </a:r>
          </a:p>
          <a:p>
            <a:r>
              <a:rPr lang="en-US" altLang="zh-TW" sz="2800" dirty="0">
                <a:sym typeface="Wingdings" panose="05000000000000000000" pitchFamily="2" charset="2"/>
              </a:rPr>
              <a:t>       sum=1+2+3=6</a:t>
            </a:r>
            <a:endParaRPr lang="zh-TW" altLang="en-US" sz="2800" dirty="0"/>
          </a:p>
        </p:txBody>
      </p:sp>
      <p:pic>
        <p:nvPicPr>
          <p:cNvPr id="21" name="圖片 20">
            <a:extLst>
              <a:ext uri="{FF2B5EF4-FFF2-40B4-BE49-F238E27FC236}">
                <a16:creationId xmlns:a16="http://schemas.microsoft.com/office/drawing/2014/main" id="{BEE10BC5-B234-9BCA-0517-7B6B1DF86FE4}"/>
              </a:ext>
            </a:extLst>
          </p:cNvPr>
          <p:cNvPicPr>
            <a:picLocks noChangeAspect="1"/>
          </p:cNvPicPr>
          <p:nvPr/>
        </p:nvPicPr>
        <p:blipFill>
          <a:blip r:embed="rId5"/>
          <a:stretch>
            <a:fillRect/>
          </a:stretch>
        </p:blipFill>
        <p:spPr>
          <a:xfrm>
            <a:off x="1274777" y="3805823"/>
            <a:ext cx="2789422" cy="904846"/>
          </a:xfrm>
          <a:prstGeom prst="rect">
            <a:avLst/>
          </a:prstGeom>
        </p:spPr>
      </p:pic>
      <p:pic>
        <p:nvPicPr>
          <p:cNvPr id="23" name="圖片 22">
            <a:extLst>
              <a:ext uri="{FF2B5EF4-FFF2-40B4-BE49-F238E27FC236}">
                <a16:creationId xmlns:a16="http://schemas.microsoft.com/office/drawing/2014/main" id="{299CBA9E-59CE-47BE-D16E-7D55D93C846E}"/>
              </a:ext>
            </a:extLst>
          </p:cNvPr>
          <p:cNvPicPr>
            <a:picLocks noChangeAspect="1"/>
          </p:cNvPicPr>
          <p:nvPr/>
        </p:nvPicPr>
        <p:blipFill>
          <a:blip r:embed="rId6"/>
          <a:stretch>
            <a:fillRect/>
          </a:stretch>
        </p:blipFill>
        <p:spPr>
          <a:xfrm>
            <a:off x="4393317" y="3987467"/>
            <a:ext cx="517475" cy="584442"/>
          </a:xfrm>
          <a:prstGeom prst="rect">
            <a:avLst/>
          </a:prstGeom>
        </p:spPr>
      </p:pic>
      <p:sp>
        <p:nvSpPr>
          <p:cNvPr id="24" name="文字方塊 23">
            <a:extLst>
              <a:ext uri="{FF2B5EF4-FFF2-40B4-BE49-F238E27FC236}">
                <a16:creationId xmlns:a16="http://schemas.microsoft.com/office/drawing/2014/main" id="{D9DB7898-580C-85F5-E95C-069E46043E21}"/>
              </a:ext>
            </a:extLst>
          </p:cNvPr>
          <p:cNvSpPr txBox="1"/>
          <p:nvPr/>
        </p:nvSpPr>
        <p:spPr>
          <a:xfrm>
            <a:off x="1638265" y="4928148"/>
            <a:ext cx="5616624" cy="1384995"/>
          </a:xfrm>
          <a:prstGeom prst="rect">
            <a:avLst/>
          </a:prstGeom>
          <a:noFill/>
        </p:spPr>
        <p:txBody>
          <a:bodyPr wrap="square" rtlCol="0">
            <a:spAutoFit/>
          </a:bodyPr>
          <a:lstStyle/>
          <a:p>
            <a:r>
              <a:rPr lang="en-US" altLang="zh-TW" sz="2800" dirty="0"/>
              <a:t>EX: </a:t>
            </a:r>
            <a:r>
              <a:rPr lang="en-US" altLang="zh-TW" sz="2800" dirty="0">
                <a:sym typeface="Wingdings" panose="05000000000000000000" pitchFamily="2" charset="2"/>
              </a:rPr>
              <a:t>P(1,2,3)</a:t>
            </a:r>
          </a:p>
          <a:p>
            <a:r>
              <a:rPr lang="en-US" altLang="zh-TW" sz="2800" dirty="0">
                <a:sym typeface="Wingdings" panose="05000000000000000000" pitchFamily="2" charset="2"/>
              </a:rPr>
              <a:t>      sum/d=6/3=2</a:t>
            </a:r>
          </a:p>
          <a:p>
            <a:r>
              <a:rPr lang="en-US" altLang="zh-TW" sz="2800" dirty="0">
                <a:sym typeface="Wingdings" panose="05000000000000000000" pitchFamily="2" charset="2"/>
              </a:rPr>
              <a:t>      dis=|1-2|+|2-2|+|3-2|=2</a:t>
            </a:r>
            <a:endParaRPr lang="zh-TW" altLang="en-US" sz="2800" dirty="0"/>
          </a:p>
        </p:txBody>
      </p:sp>
    </p:spTree>
    <p:extLst>
      <p:ext uri="{BB962C8B-B14F-4D97-AF65-F5344CB8AC3E}">
        <p14:creationId xmlns:p14="http://schemas.microsoft.com/office/powerpoint/2010/main" val="773738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3C5E5C-B6DF-BF1F-C2D2-CB2843ED3465}"/>
              </a:ext>
            </a:extLst>
          </p:cNvPr>
          <p:cNvSpPr>
            <a:spLocks noGrp="1"/>
          </p:cNvSpPr>
          <p:nvPr>
            <p:ph type="title"/>
          </p:nvPr>
        </p:nvSpPr>
        <p:spPr/>
        <p:txBody>
          <a:bodyPr/>
          <a:lstStyle/>
          <a:p>
            <a:r>
              <a:rPr lang="en-US" altLang="zh-TW" dirty="0"/>
              <a:t>Branch and bound</a:t>
            </a:r>
            <a:endParaRPr lang="zh-TW" altLang="en-US" dirty="0"/>
          </a:p>
        </p:txBody>
      </p:sp>
      <p:pic>
        <p:nvPicPr>
          <p:cNvPr id="6" name="內容版面配置區 5">
            <a:extLst>
              <a:ext uri="{FF2B5EF4-FFF2-40B4-BE49-F238E27FC236}">
                <a16:creationId xmlns:a16="http://schemas.microsoft.com/office/drawing/2014/main" id="{785F6F23-A6D7-A535-085A-4B48462F4130}"/>
              </a:ext>
            </a:extLst>
          </p:cNvPr>
          <p:cNvPicPr>
            <a:picLocks noGrp="1" noChangeAspect="1"/>
          </p:cNvPicPr>
          <p:nvPr>
            <p:ph idx="1"/>
          </p:nvPr>
        </p:nvPicPr>
        <p:blipFill>
          <a:blip r:embed="rId3"/>
          <a:stretch>
            <a:fillRect/>
          </a:stretch>
        </p:blipFill>
        <p:spPr>
          <a:xfrm>
            <a:off x="1115616" y="1431904"/>
            <a:ext cx="7130991" cy="4525963"/>
          </a:xfrm>
        </p:spPr>
      </p:pic>
      <p:sp>
        <p:nvSpPr>
          <p:cNvPr id="8" name="文字方塊 7">
            <a:extLst>
              <a:ext uri="{FF2B5EF4-FFF2-40B4-BE49-F238E27FC236}">
                <a16:creationId xmlns:a16="http://schemas.microsoft.com/office/drawing/2014/main" id="{81D460F6-9BD2-9A84-4F02-46A71E3D7F4E}"/>
              </a:ext>
            </a:extLst>
          </p:cNvPr>
          <p:cNvSpPr txBox="1"/>
          <p:nvPr/>
        </p:nvSpPr>
        <p:spPr>
          <a:xfrm>
            <a:off x="4283968" y="5626390"/>
            <a:ext cx="4572000" cy="369332"/>
          </a:xfrm>
          <a:prstGeom prst="rect">
            <a:avLst/>
          </a:prstGeom>
          <a:noFill/>
        </p:spPr>
        <p:txBody>
          <a:bodyPr wrap="square">
            <a:spAutoFit/>
          </a:bodyPr>
          <a:lstStyle/>
          <a:p>
            <a:r>
              <a:rPr lang="en-US" altLang="zh-TW" dirty="0"/>
              <a:t>Temporary Maximum Length=4</a:t>
            </a:r>
            <a:endParaRPr lang="zh-TW" altLang="en-US" dirty="0"/>
          </a:p>
        </p:txBody>
      </p:sp>
    </p:spTree>
    <p:extLst>
      <p:ext uri="{BB962C8B-B14F-4D97-AF65-F5344CB8AC3E}">
        <p14:creationId xmlns:p14="http://schemas.microsoft.com/office/powerpoint/2010/main" val="2413026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88D112-9A6C-BB00-5C36-F39B62C82CB7}"/>
              </a:ext>
            </a:extLst>
          </p:cNvPr>
          <p:cNvSpPr>
            <a:spLocks noGrp="1"/>
          </p:cNvSpPr>
          <p:nvPr>
            <p:ph type="title"/>
          </p:nvPr>
        </p:nvSpPr>
        <p:spPr/>
        <p:txBody>
          <a:bodyPr/>
          <a:lstStyle/>
          <a:p>
            <a:r>
              <a:rPr lang="en-US" altLang="zh-TW" dirty="0"/>
              <a:t>Branch and bound</a:t>
            </a:r>
            <a:endParaRPr lang="zh-TW" altLang="en-US" dirty="0"/>
          </a:p>
        </p:txBody>
      </p:sp>
      <p:pic>
        <p:nvPicPr>
          <p:cNvPr id="10" name="圖片 9">
            <a:extLst>
              <a:ext uri="{FF2B5EF4-FFF2-40B4-BE49-F238E27FC236}">
                <a16:creationId xmlns:a16="http://schemas.microsoft.com/office/drawing/2014/main" id="{E40CC572-FFC0-F289-0CE5-C3F59014830E}"/>
              </a:ext>
            </a:extLst>
          </p:cNvPr>
          <p:cNvPicPr>
            <a:picLocks noChangeAspect="1"/>
          </p:cNvPicPr>
          <p:nvPr/>
        </p:nvPicPr>
        <p:blipFill>
          <a:blip r:embed="rId3"/>
          <a:stretch>
            <a:fillRect/>
          </a:stretch>
        </p:blipFill>
        <p:spPr>
          <a:xfrm>
            <a:off x="3059832" y="2564904"/>
            <a:ext cx="5544616" cy="485775"/>
          </a:xfrm>
          <a:prstGeom prst="rect">
            <a:avLst/>
          </a:prstGeom>
        </p:spPr>
      </p:pic>
      <p:sp>
        <p:nvSpPr>
          <p:cNvPr id="21" name="文字方塊 20">
            <a:extLst>
              <a:ext uri="{FF2B5EF4-FFF2-40B4-BE49-F238E27FC236}">
                <a16:creationId xmlns:a16="http://schemas.microsoft.com/office/drawing/2014/main" id="{D0A61A8C-DD4F-2766-05D5-0452416002C2}"/>
              </a:ext>
            </a:extLst>
          </p:cNvPr>
          <p:cNvSpPr txBox="1"/>
          <p:nvPr/>
        </p:nvSpPr>
        <p:spPr>
          <a:xfrm>
            <a:off x="1331640" y="2590056"/>
            <a:ext cx="1944216" cy="369332"/>
          </a:xfrm>
          <a:prstGeom prst="rect">
            <a:avLst/>
          </a:prstGeom>
          <a:noFill/>
        </p:spPr>
        <p:txBody>
          <a:bodyPr wrap="square" rtlCol="0">
            <a:spAutoFit/>
          </a:bodyPr>
          <a:lstStyle/>
          <a:p>
            <a:r>
              <a:rPr lang="zh-TW" altLang="en-US" dirty="0"/>
              <a:t>衡量點公式</a:t>
            </a:r>
            <a:r>
              <a:rPr lang="en-US" altLang="zh-TW" dirty="0"/>
              <a:t>:</a:t>
            </a:r>
            <a:endParaRPr lang="zh-TW" altLang="en-US" dirty="0"/>
          </a:p>
        </p:txBody>
      </p:sp>
    </p:spTree>
    <p:extLst>
      <p:ext uri="{BB962C8B-B14F-4D97-AF65-F5344CB8AC3E}">
        <p14:creationId xmlns:p14="http://schemas.microsoft.com/office/powerpoint/2010/main" val="998802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 9">
            <a:extLst>
              <a:ext uri="{FF2B5EF4-FFF2-40B4-BE49-F238E27FC236}">
                <a16:creationId xmlns:a16="http://schemas.microsoft.com/office/drawing/2014/main" id="{54AABF2E-9D0B-BFA9-E74F-0ECBA4ACC7EA}"/>
              </a:ext>
            </a:extLst>
          </p:cNvPr>
          <p:cNvPicPr>
            <a:picLocks noChangeAspect="1"/>
          </p:cNvPicPr>
          <p:nvPr/>
        </p:nvPicPr>
        <p:blipFill>
          <a:blip r:embed="rId3"/>
          <a:stretch>
            <a:fillRect/>
          </a:stretch>
        </p:blipFill>
        <p:spPr>
          <a:xfrm>
            <a:off x="1685179" y="1931660"/>
            <a:ext cx="4962525" cy="1019175"/>
          </a:xfrm>
          <a:prstGeom prst="rect">
            <a:avLst/>
          </a:prstGeom>
        </p:spPr>
      </p:pic>
      <p:sp>
        <p:nvSpPr>
          <p:cNvPr id="2" name="標題 1">
            <a:extLst>
              <a:ext uri="{FF2B5EF4-FFF2-40B4-BE49-F238E27FC236}">
                <a16:creationId xmlns:a16="http://schemas.microsoft.com/office/drawing/2014/main" id="{5588D112-9A6C-BB00-5C36-F39B62C82CB7}"/>
              </a:ext>
            </a:extLst>
          </p:cNvPr>
          <p:cNvSpPr>
            <a:spLocks noGrp="1"/>
          </p:cNvSpPr>
          <p:nvPr>
            <p:ph type="title"/>
          </p:nvPr>
        </p:nvSpPr>
        <p:spPr/>
        <p:txBody>
          <a:bodyPr/>
          <a:lstStyle/>
          <a:p>
            <a:r>
              <a:rPr lang="en-US" altLang="zh-TW" dirty="0"/>
              <a:t>Branch and bound</a:t>
            </a:r>
            <a:endParaRPr lang="zh-TW" altLang="en-US" dirty="0"/>
          </a:p>
        </p:txBody>
      </p:sp>
      <p:pic>
        <p:nvPicPr>
          <p:cNvPr id="7" name="內容版面配置區 6">
            <a:extLst>
              <a:ext uri="{FF2B5EF4-FFF2-40B4-BE49-F238E27FC236}">
                <a16:creationId xmlns:a16="http://schemas.microsoft.com/office/drawing/2014/main" id="{6A24BB5D-9655-B371-2697-35C419664372}"/>
              </a:ext>
            </a:extLst>
          </p:cNvPr>
          <p:cNvPicPr>
            <a:picLocks noGrp="1" noChangeAspect="1"/>
          </p:cNvPicPr>
          <p:nvPr>
            <p:ph idx="1"/>
          </p:nvPr>
        </p:nvPicPr>
        <p:blipFill>
          <a:blip r:embed="rId4"/>
          <a:stretch>
            <a:fillRect/>
          </a:stretch>
        </p:blipFill>
        <p:spPr>
          <a:xfrm>
            <a:off x="3203848" y="1541181"/>
            <a:ext cx="1781175" cy="400050"/>
          </a:xfrm>
        </p:spPr>
      </p:pic>
      <p:pic>
        <p:nvPicPr>
          <p:cNvPr id="5" name="圖片 4">
            <a:extLst>
              <a:ext uri="{FF2B5EF4-FFF2-40B4-BE49-F238E27FC236}">
                <a16:creationId xmlns:a16="http://schemas.microsoft.com/office/drawing/2014/main" id="{DF0C32A5-293F-FDA7-F553-140678D4CBE6}"/>
              </a:ext>
            </a:extLst>
          </p:cNvPr>
          <p:cNvPicPr>
            <a:picLocks noChangeAspect="1"/>
          </p:cNvPicPr>
          <p:nvPr/>
        </p:nvPicPr>
        <p:blipFill>
          <a:blip r:embed="rId5"/>
          <a:stretch>
            <a:fillRect/>
          </a:stretch>
        </p:blipFill>
        <p:spPr>
          <a:xfrm>
            <a:off x="1259632" y="1544232"/>
            <a:ext cx="1609725" cy="333375"/>
          </a:xfrm>
          <a:prstGeom prst="rect">
            <a:avLst/>
          </a:prstGeom>
        </p:spPr>
      </p:pic>
      <p:pic>
        <p:nvPicPr>
          <p:cNvPr id="9" name="圖片 8">
            <a:extLst>
              <a:ext uri="{FF2B5EF4-FFF2-40B4-BE49-F238E27FC236}">
                <a16:creationId xmlns:a16="http://schemas.microsoft.com/office/drawing/2014/main" id="{B401A61C-04AF-FF08-90B1-7AE401D2C580}"/>
              </a:ext>
            </a:extLst>
          </p:cNvPr>
          <p:cNvPicPr>
            <a:picLocks noChangeAspect="1"/>
          </p:cNvPicPr>
          <p:nvPr/>
        </p:nvPicPr>
        <p:blipFill>
          <a:blip r:embed="rId6"/>
          <a:stretch>
            <a:fillRect/>
          </a:stretch>
        </p:blipFill>
        <p:spPr>
          <a:xfrm>
            <a:off x="5508104" y="1558519"/>
            <a:ext cx="1809750" cy="304800"/>
          </a:xfrm>
          <a:prstGeom prst="rect">
            <a:avLst/>
          </a:prstGeom>
        </p:spPr>
      </p:pic>
      <p:pic>
        <p:nvPicPr>
          <p:cNvPr id="14" name="圖片 13">
            <a:extLst>
              <a:ext uri="{FF2B5EF4-FFF2-40B4-BE49-F238E27FC236}">
                <a16:creationId xmlns:a16="http://schemas.microsoft.com/office/drawing/2014/main" id="{7BD6433B-51F8-CEFD-70A5-26A4D24D0C59}"/>
              </a:ext>
            </a:extLst>
          </p:cNvPr>
          <p:cNvPicPr>
            <a:picLocks noChangeAspect="1"/>
          </p:cNvPicPr>
          <p:nvPr/>
        </p:nvPicPr>
        <p:blipFill>
          <a:blip r:embed="rId7"/>
          <a:stretch>
            <a:fillRect/>
          </a:stretch>
        </p:blipFill>
        <p:spPr>
          <a:xfrm>
            <a:off x="1970930" y="2955469"/>
            <a:ext cx="4391025" cy="1323975"/>
          </a:xfrm>
          <a:prstGeom prst="rect">
            <a:avLst/>
          </a:prstGeom>
        </p:spPr>
      </p:pic>
      <p:pic>
        <p:nvPicPr>
          <p:cNvPr id="16" name="圖片 15">
            <a:extLst>
              <a:ext uri="{FF2B5EF4-FFF2-40B4-BE49-F238E27FC236}">
                <a16:creationId xmlns:a16="http://schemas.microsoft.com/office/drawing/2014/main" id="{511FEBCB-F1C1-5C7C-412C-91C3089E3AEF}"/>
              </a:ext>
            </a:extLst>
          </p:cNvPr>
          <p:cNvPicPr>
            <a:picLocks noChangeAspect="1"/>
          </p:cNvPicPr>
          <p:nvPr/>
        </p:nvPicPr>
        <p:blipFill>
          <a:blip r:embed="rId8"/>
          <a:stretch>
            <a:fillRect/>
          </a:stretch>
        </p:blipFill>
        <p:spPr>
          <a:xfrm>
            <a:off x="328612" y="4269014"/>
            <a:ext cx="8486775" cy="1743075"/>
          </a:xfrm>
          <a:prstGeom prst="rect">
            <a:avLst/>
          </a:prstGeom>
        </p:spPr>
      </p:pic>
      <p:sp>
        <p:nvSpPr>
          <p:cNvPr id="3" name="文字方塊 2">
            <a:extLst>
              <a:ext uri="{FF2B5EF4-FFF2-40B4-BE49-F238E27FC236}">
                <a16:creationId xmlns:a16="http://schemas.microsoft.com/office/drawing/2014/main" id="{C9085735-D8CE-9528-2AB3-48BBEB74CD83}"/>
              </a:ext>
            </a:extLst>
          </p:cNvPr>
          <p:cNvSpPr txBox="1"/>
          <p:nvPr/>
        </p:nvSpPr>
        <p:spPr>
          <a:xfrm>
            <a:off x="539552" y="5837957"/>
            <a:ext cx="3528392" cy="369332"/>
          </a:xfrm>
          <a:prstGeom prst="rect">
            <a:avLst/>
          </a:prstGeom>
          <a:noFill/>
        </p:spPr>
        <p:txBody>
          <a:bodyPr wrap="square" rtlCol="0">
            <a:spAutoFit/>
          </a:bodyPr>
          <a:lstStyle/>
          <a:p>
            <a:r>
              <a:rPr lang="zh-TW" altLang="en-US" dirty="0"/>
              <a:t>挑選</a:t>
            </a:r>
            <a:r>
              <a:rPr lang="en-US" altLang="zh-TW" dirty="0"/>
              <a:t>S1 S2</a:t>
            </a:r>
            <a:r>
              <a:rPr lang="zh-TW" altLang="en-US" dirty="0"/>
              <a:t>做</a:t>
            </a:r>
            <a:r>
              <a:rPr lang="en-US" altLang="zh-TW" dirty="0"/>
              <a:t>LCS</a:t>
            </a:r>
            <a:r>
              <a:rPr lang="zh-TW" altLang="en-US" dirty="0"/>
              <a:t>當作</a:t>
            </a:r>
            <a:r>
              <a:rPr lang="en-US" altLang="zh-TW" dirty="0"/>
              <a:t>upper bound</a:t>
            </a:r>
            <a:endParaRPr lang="zh-TW" altLang="en-US" dirty="0"/>
          </a:p>
        </p:txBody>
      </p:sp>
    </p:spTree>
    <p:extLst>
      <p:ext uri="{BB962C8B-B14F-4D97-AF65-F5344CB8AC3E}">
        <p14:creationId xmlns:p14="http://schemas.microsoft.com/office/powerpoint/2010/main" val="2216793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E83AB3-5C69-21B4-10E6-6A0C2B384E08}"/>
              </a:ext>
            </a:extLst>
          </p:cNvPr>
          <p:cNvSpPr>
            <a:spLocks noGrp="1"/>
          </p:cNvSpPr>
          <p:nvPr>
            <p:ph type="title"/>
          </p:nvPr>
        </p:nvSpPr>
        <p:spPr/>
        <p:txBody>
          <a:bodyPr/>
          <a:lstStyle/>
          <a:p>
            <a:r>
              <a:rPr lang="en-US" altLang="zh-TW" dirty="0"/>
              <a:t>Vector Hash Table</a:t>
            </a:r>
            <a:endParaRPr lang="zh-TW" altLang="en-US" dirty="0"/>
          </a:p>
        </p:txBody>
      </p:sp>
      <p:pic>
        <p:nvPicPr>
          <p:cNvPr id="5" name="內容版面配置區 4">
            <a:extLst>
              <a:ext uri="{FF2B5EF4-FFF2-40B4-BE49-F238E27FC236}">
                <a16:creationId xmlns:a16="http://schemas.microsoft.com/office/drawing/2014/main" id="{5B567F4B-6D3A-634E-2DBD-3B30DC510BED}"/>
              </a:ext>
            </a:extLst>
          </p:cNvPr>
          <p:cNvPicPr>
            <a:picLocks noGrp="1" noChangeAspect="1"/>
          </p:cNvPicPr>
          <p:nvPr>
            <p:ph idx="1"/>
          </p:nvPr>
        </p:nvPicPr>
        <p:blipFill>
          <a:blip r:embed="rId3"/>
          <a:stretch>
            <a:fillRect/>
          </a:stretch>
        </p:blipFill>
        <p:spPr>
          <a:xfrm>
            <a:off x="1197301" y="1600200"/>
            <a:ext cx="6749397" cy="4525963"/>
          </a:xfrm>
        </p:spPr>
      </p:pic>
    </p:spTree>
    <p:extLst>
      <p:ext uri="{BB962C8B-B14F-4D97-AF65-F5344CB8AC3E}">
        <p14:creationId xmlns:p14="http://schemas.microsoft.com/office/powerpoint/2010/main" val="3704590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圖片 20">
            <a:extLst>
              <a:ext uri="{FF2B5EF4-FFF2-40B4-BE49-F238E27FC236}">
                <a16:creationId xmlns:a16="http://schemas.microsoft.com/office/drawing/2014/main" id="{B73D0167-1282-410F-DC60-31813882E7B4}"/>
              </a:ext>
            </a:extLst>
          </p:cNvPr>
          <p:cNvPicPr>
            <a:picLocks noChangeAspect="1"/>
          </p:cNvPicPr>
          <p:nvPr/>
        </p:nvPicPr>
        <p:blipFill>
          <a:blip r:embed="rId3"/>
          <a:stretch>
            <a:fillRect/>
          </a:stretch>
        </p:blipFill>
        <p:spPr>
          <a:xfrm>
            <a:off x="0" y="2103850"/>
            <a:ext cx="3472399" cy="4568375"/>
          </a:xfrm>
          <a:prstGeom prst="rect">
            <a:avLst/>
          </a:prstGeom>
        </p:spPr>
      </p:pic>
      <p:sp>
        <p:nvSpPr>
          <p:cNvPr id="2" name="標題 1">
            <a:extLst>
              <a:ext uri="{FF2B5EF4-FFF2-40B4-BE49-F238E27FC236}">
                <a16:creationId xmlns:a16="http://schemas.microsoft.com/office/drawing/2014/main" id="{A5233973-2323-0320-6D79-8A0472BC974F}"/>
              </a:ext>
            </a:extLst>
          </p:cNvPr>
          <p:cNvSpPr>
            <a:spLocks noGrp="1"/>
          </p:cNvSpPr>
          <p:nvPr>
            <p:ph type="title"/>
          </p:nvPr>
        </p:nvSpPr>
        <p:spPr/>
        <p:txBody>
          <a:bodyPr/>
          <a:lstStyle/>
          <a:p>
            <a:r>
              <a:rPr lang="en-US" altLang="zh-TW" dirty="0"/>
              <a:t> Small-DAG </a:t>
            </a:r>
            <a:endParaRPr lang="zh-TW" altLang="en-US" dirty="0"/>
          </a:p>
        </p:txBody>
      </p:sp>
      <p:pic>
        <p:nvPicPr>
          <p:cNvPr id="10" name="內容版面配置區 9">
            <a:extLst>
              <a:ext uri="{FF2B5EF4-FFF2-40B4-BE49-F238E27FC236}">
                <a16:creationId xmlns:a16="http://schemas.microsoft.com/office/drawing/2014/main" id="{7D8ECB9B-4569-5CA0-256B-49FFD9E6224F}"/>
              </a:ext>
            </a:extLst>
          </p:cNvPr>
          <p:cNvPicPr>
            <a:picLocks noGrp="1" noChangeAspect="1"/>
          </p:cNvPicPr>
          <p:nvPr>
            <p:ph idx="1"/>
          </p:nvPr>
        </p:nvPicPr>
        <p:blipFill>
          <a:blip r:embed="rId4"/>
          <a:stretch>
            <a:fillRect/>
          </a:stretch>
        </p:blipFill>
        <p:spPr>
          <a:xfrm>
            <a:off x="3182052" y="2636912"/>
            <a:ext cx="5991225" cy="2066925"/>
          </a:xfrm>
        </p:spPr>
      </p:pic>
      <p:pic>
        <p:nvPicPr>
          <p:cNvPr id="25" name="圖片 24">
            <a:extLst>
              <a:ext uri="{FF2B5EF4-FFF2-40B4-BE49-F238E27FC236}">
                <a16:creationId xmlns:a16="http://schemas.microsoft.com/office/drawing/2014/main" id="{88A1BA20-D10B-F2CA-45B2-2985AA61B09B}"/>
              </a:ext>
            </a:extLst>
          </p:cNvPr>
          <p:cNvPicPr>
            <a:picLocks noChangeAspect="1"/>
          </p:cNvPicPr>
          <p:nvPr/>
        </p:nvPicPr>
        <p:blipFill>
          <a:blip r:embed="rId5"/>
          <a:stretch>
            <a:fillRect/>
          </a:stretch>
        </p:blipFill>
        <p:spPr>
          <a:xfrm>
            <a:off x="222987" y="1417638"/>
            <a:ext cx="2514600" cy="400050"/>
          </a:xfrm>
          <a:prstGeom prst="rect">
            <a:avLst/>
          </a:prstGeom>
        </p:spPr>
      </p:pic>
      <p:pic>
        <p:nvPicPr>
          <p:cNvPr id="27" name="圖片 26">
            <a:extLst>
              <a:ext uri="{FF2B5EF4-FFF2-40B4-BE49-F238E27FC236}">
                <a16:creationId xmlns:a16="http://schemas.microsoft.com/office/drawing/2014/main" id="{3AB2B81F-7A1B-0417-E6D0-B7242E1CA6A5}"/>
              </a:ext>
            </a:extLst>
          </p:cNvPr>
          <p:cNvPicPr>
            <a:picLocks noChangeAspect="1"/>
          </p:cNvPicPr>
          <p:nvPr/>
        </p:nvPicPr>
        <p:blipFill>
          <a:blip r:embed="rId6"/>
          <a:stretch>
            <a:fillRect/>
          </a:stretch>
        </p:blipFill>
        <p:spPr>
          <a:xfrm>
            <a:off x="3059832" y="1460500"/>
            <a:ext cx="2333625" cy="314325"/>
          </a:xfrm>
          <a:prstGeom prst="rect">
            <a:avLst/>
          </a:prstGeom>
        </p:spPr>
      </p:pic>
      <p:pic>
        <p:nvPicPr>
          <p:cNvPr id="29" name="圖片 28">
            <a:extLst>
              <a:ext uri="{FF2B5EF4-FFF2-40B4-BE49-F238E27FC236}">
                <a16:creationId xmlns:a16="http://schemas.microsoft.com/office/drawing/2014/main" id="{841F8F87-02C9-52D7-B706-FE495CDA6A5B}"/>
              </a:ext>
            </a:extLst>
          </p:cNvPr>
          <p:cNvPicPr>
            <a:picLocks noChangeAspect="1"/>
          </p:cNvPicPr>
          <p:nvPr/>
        </p:nvPicPr>
        <p:blipFill>
          <a:blip r:embed="rId7"/>
          <a:stretch>
            <a:fillRect/>
          </a:stretch>
        </p:blipFill>
        <p:spPr>
          <a:xfrm>
            <a:off x="5940152" y="1460500"/>
            <a:ext cx="2228850" cy="409575"/>
          </a:xfrm>
          <a:prstGeom prst="rect">
            <a:avLst/>
          </a:prstGeom>
        </p:spPr>
      </p:pic>
    </p:spTree>
    <p:extLst>
      <p:ext uri="{BB962C8B-B14F-4D97-AF65-F5344CB8AC3E}">
        <p14:creationId xmlns:p14="http://schemas.microsoft.com/office/powerpoint/2010/main" val="1673378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233973-2323-0320-6D79-8A0472BC974F}"/>
              </a:ext>
            </a:extLst>
          </p:cNvPr>
          <p:cNvSpPr>
            <a:spLocks noGrp="1"/>
          </p:cNvSpPr>
          <p:nvPr>
            <p:ph type="title"/>
          </p:nvPr>
        </p:nvSpPr>
        <p:spPr/>
        <p:txBody>
          <a:bodyPr/>
          <a:lstStyle/>
          <a:p>
            <a:r>
              <a:rPr lang="en-US" altLang="zh-TW" dirty="0"/>
              <a:t> Small-DAG </a:t>
            </a:r>
            <a:endParaRPr lang="zh-TW" altLang="en-US" dirty="0"/>
          </a:p>
        </p:txBody>
      </p:sp>
      <p:pic>
        <p:nvPicPr>
          <p:cNvPr id="25" name="圖片 24">
            <a:extLst>
              <a:ext uri="{FF2B5EF4-FFF2-40B4-BE49-F238E27FC236}">
                <a16:creationId xmlns:a16="http://schemas.microsoft.com/office/drawing/2014/main" id="{88A1BA20-D10B-F2CA-45B2-2985AA61B09B}"/>
              </a:ext>
            </a:extLst>
          </p:cNvPr>
          <p:cNvPicPr>
            <a:picLocks noChangeAspect="1"/>
          </p:cNvPicPr>
          <p:nvPr/>
        </p:nvPicPr>
        <p:blipFill>
          <a:blip r:embed="rId2"/>
          <a:stretch>
            <a:fillRect/>
          </a:stretch>
        </p:blipFill>
        <p:spPr>
          <a:xfrm>
            <a:off x="222987" y="1417638"/>
            <a:ext cx="2514600" cy="400050"/>
          </a:xfrm>
          <a:prstGeom prst="rect">
            <a:avLst/>
          </a:prstGeom>
        </p:spPr>
      </p:pic>
      <p:pic>
        <p:nvPicPr>
          <p:cNvPr id="27" name="圖片 26">
            <a:extLst>
              <a:ext uri="{FF2B5EF4-FFF2-40B4-BE49-F238E27FC236}">
                <a16:creationId xmlns:a16="http://schemas.microsoft.com/office/drawing/2014/main" id="{3AB2B81F-7A1B-0417-E6D0-B7242E1CA6A5}"/>
              </a:ext>
            </a:extLst>
          </p:cNvPr>
          <p:cNvPicPr>
            <a:picLocks noChangeAspect="1"/>
          </p:cNvPicPr>
          <p:nvPr/>
        </p:nvPicPr>
        <p:blipFill>
          <a:blip r:embed="rId3"/>
          <a:stretch>
            <a:fillRect/>
          </a:stretch>
        </p:blipFill>
        <p:spPr>
          <a:xfrm>
            <a:off x="3059832" y="1460500"/>
            <a:ext cx="2333625" cy="314325"/>
          </a:xfrm>
          <a:prstGeom prst="rect">
            <a:avLst/>
          </a:prstGeom>
        </p:spPr>
      </p:pic>
      <p:pic>
        <p:nvPicPr>
          <p:cNvPr id="29" name="圖片 28">
            <a:extLst>
              <a:ext uri="{FF2B5EF4-FFF2-40B4-BE49-F238E27FC236}">
                <a16:creationId xmlns:a16="http://schemas.microsoft.com/office/drawing/2014/main" id="{841F8F87-02C9-52D7-B706-FE495CDA6A5B}"/>
              </a:ext>
            </a:extLst>
          </p:cNvPr>
          <p:cNvPicPr>
            <a:picLocks noChangeAspect="1"/>
          </p:cNvPicPr>
          <p:nvPr/>
        </p:nvPicPr>
        <p:blipFill>
          <a:blip r:embed="rId4"/>
          <a:stretch>
            <a:fillRect/>
          </a:stretch>
        </p:blipFill>
        <p:spPr>
          <a:xfrm>
            <a:off x="5940152" y="1460500"/>
            <a:ext cx="2228850" cy="409575"/>
          </a:xfrm>
          <a:prstGeom prst="rect">
            <a:avLst/>
          </a:prstGeom>
        </p:spPr>
      </p:pic>
      <p:sp>
        <p:nvSpPr>
          <p:cNvPr id="3" name="文字方塊 2">
            <a:extLst>
              <a:ext uri="{FF2B5EF4-FFF2-40B4-BE49-F238E27FC236}">
                <a16:creationId xmlns:a16="http://schemas.microsoft.com/office/drawing/2014/main" id="{29574920-EFAB-DECA-4405-28043633BC5D}"/>
              </a:ext>
            </a:extLst>
          </p:cNvPr>
          <p:cNvSpPr txBox="1"/>
          <p:nvPr/>
        </p:nvSpPr>
        <p:spPr>
          <a:xfrm>
            <a:off x="313475" y="1962047"/>
            <a:ext cx="2333624" cy="400110"/>
          </a:xfrm>
          <a:prstGeom prst="rect">
            <a:avLst/>
          </a:prstGeom>
          <a:noFill/>
        </p:spPr>
        <p:txBody>
          <a:bodyPr wrap="square" rtlCol="0">
            <a:spAutoFit/>
          </a:bodyPr>
          <a:lstStyle/>
          <a:p>
            <a:r>
              <a:rPr lang="en-US" altLang="zh-TW" sz="2000" dirty="0"/>
              <a:t>|S1|=|S2|=|S3|=8</a:t>
            </a:r>
            <a:endParaRPr lang="zh-TW" altLang="en-US" sz="2000" dirty="0"/>
          </a:p>
        </p:txBody>
      </p:sp>
      <p:pic>
        <p:nvPicPr>
          <p:cNvPr id="5" name="圖片 4">
            <a:extLst>
              <a:ext uri="{FF2B5EF4-FFF2-40B4-BE49-F238E27FC236}">
                <a16:creationId xmlns:a16="http://schemas.microsoft.com/office/drawing/2014/main" id="{3A447B75-2863-B29A-CE2A-AB804EA60848}"/>
              </a:ext>
            </a:extLst>
          </p:cNvPr>
          <p:cNvPicPr>
            <a:picLocks noChangeAspect="1"/>
          </p:cNvPicPr>
          <p:nvPr/>
        </p:nvPicPr>
        <p:blipFill>
          <a:blip r:embed="rId5"/>
          <a:stretch>
            <a:fillRect/>
          </a:stretch>
        </p:blipFill>
        <p:spPr>
          <a:xfrm>
            <a:off x="10683" y="2276519"/>
            <a:ext cx="4791075" cy="4438650"/>
          </a:xfrm>
          <a:prstGeom prst="rect">
            <a:avLst/>
          </a:prstGeom>
        </p:spPr>
      </p:pic>
    </p:spTree>
    <p:extLst>
      <p:ext uri="{BB962C8B-B14F-4D97-AF65-F5344CB8AC3E}">
        <p14:creationId xmlns:p14="http://schemas.microsoft.com/office/powerpoint/2010/main" val="676255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653BDDA0-A186-BF20-E416-217957E9F051}"/>
              </a:ext>
            </a:extLst>
          </p:cNvPr>
          <p:cNvPicPr>
            <a:picLocks noChangeAspect="1"/>
          </p:cNvPicPr>
          <p:nvPr/>
        </p:nvPicPr>
        <p:blipFill>
          <a:blip r:embed="rId3"/>
          <a:stretch>
            <a:fillRect/>
          </a:stretch>
        </p:blipFill>
        <p:spPr>
          <a:xfrm>
            <a:off x="975542" y="1817687"/>
            <a:ext cx="6804248" cy="4988576"/>
          </a:xfrm>
          <a:prstGeom prst="rect">
            <a:avLst/>
          </a:prstGeom>
        </p:spPr>
      </p:pic>
      <p:sp>
        <p:nvSpPr>
          <p:cNvPr id="2" name="標題 1">
            <a:extLst>
              <a:ext uri="{FF2B5EF4-FFF2-40B4-BE49-F238E27FC236}">
                <a16:creationId xmlns:a16="http://schemas.microsoft.com/office/drawing/2014/main" id="{A5233973-2323-0320-6D79-8A0472BC974F}"/>
              </a:ext>
            </a:extLst>
          </p:cNvPr>
          <p:cNvSpPr>
            <a:spLocks noGrp="1"/>
          </p:cNvSpPr>
          <p:nvPr>
            <p:ph type="title"/>
          </p:nvPr>
        </p:nvSpPr>
        <p:spPr/>
        <p:txBody>
          <a:bodyPr/>
          <a:lstStyle/>
          <a:p>
            <a:r>
              <a:rPr lang="en-US" altLang="zh-TW" dirty="0"/>
              <a:t> Small-DAG </a:t>
            </a:r>
            <a:endParaRPr lang="zh-TW" altLang="en-US" dirty="0"/>
          </a:p>
        </p:txBody>
      </p:sp>
      <p:pic>
        <p:nvPicPr>
          <p:cNvPr id="25" name="圖片 24">
            <a:extLst>
              <a:ext uri="{FF2B5EF4-FFF2-40B4-BE49-F238E27FC236}">
                <a16:creationId xmlns:a16="http://schemas.microsoft.com/office/drawing/2014/main" id="{88A1BA20-D10B-F2CA-45B2-2985AA61B09B}"/>
              </a:ext>
            </a:extLst>
          </p:cNvPr>
          <p:cNvPicPr>
            <a:picLocks noChangeAspect="1"/>
          </p:cNvPicPr>
          <p:nvPr/>
        </p:nvPicPr>
        <p:blipFill>
          <a:blip r:embed="rId4"/>
          <a:stretch>
            <a:fillRect/>
          </a:stretch>
        </p:blipFill>
        <p:spPr>
          <a:xfrm>
            <a:off x="222987" y="1417638"/>
            <a:ext cx="2514600" cy="400050"/>
          </a:xfrm>
          <a:prstGeom prst="rect">
            <a:avLst/>
          </a:prstGeom>
        </p:spPr>
      </p:pic>
      <p:pic>
        <p:nvPicPr>
          <p:cNvPr id="27" name="圖片 26">
            <a:extLst>
              <a:ext uri="{FF2B5EF4-FFF2-40B4-BE49-F238E27FC236}">
                <a16:creationId xmlns:a16="http://schemas.microsoft.com/office/drawing/2014/main" id="{3AB2B81F-7A1B-0417-E6D0-B7242E1CA6A5}"/>
              </a:ext>
            </a:extLst>
          </p:cNvPr>
          <p:cNvPicPr>
            <a:picLocks noChangeAspect="1"/>
          </p:cNvPicPr>
          <p:nvPr/>
        </p:nvPicPr>
        <p:blipFill>
          <a:blip r:embed="rId5"/>
          <a:stretch>
            <a:fillRect/>
          </a:stretch>
        </p:blipFill>
        <p:spPr>
          <a:xfrm>
            <a:off x="3059832" y="1460500"/>
            <a:ext cx="2333625" cy="314325"/>
          </a:xfrm>
          <a:prstGeom prst="rect">
            <a:avLst/>
          </a:prstGeom>
        </p:spPr>
      </p:pic>
      <p:pic>
        <p:nvPicPr>
          <p:cNvPr id="29" name="圖片 28">
            <a:extLst>
              <a:ext uri="{FF2B5EF4-FFF2-40B4-BE49-F238E27FC236}">
                <a16:creationId xmlns:a16="http://schemas.microsoft.com/office/drawing/2014/main" id="{841F8F87-02C9-52D7-B706-FE495CDA6A5B}"/>
              </a:ext>
            </a:extLst>
          </p:cNvPr>
          <p:cNvPicPr>
            <a:picLocks noChangeAspect="1"/>
          </p:cNvPicPr>
          <p:nvPr/>
        </p:nvPicPr>
        <p:blipFill>
          <a:blip r:embed="rId6"/>
          <a:stretch>
            <a:fillRect/>
          </a:stretch>
        </p:blipFill>
        <p:spPr>
          <a:xfrm>
            <a:off x="5940152" y="1460500"/>
            <a:ext cx="2228850" cy="409575"/>
          </a:xfrm>
          <a:prstGeom prst="rect">
            <a:avLst/>
          </a:prstGeom>
        </p:spPr>
      </p:pic>
      <p:sp>
        <p:nvSpPr>
          <p:cNvPr id="3" name="文字方塊 2">
            <a:extLst>
              <a:ext uri="{FF2B5EF4-FFF2-40B4-BE49-F238E27FC236}">
                <a16:creationId xmlns:a16="http://schemas.microsoft.com/office/drawing/2014/main" id="{29574920-EFAB-DECA-4405-28043633BC5D}"/>
              </a:ext>
            </a:extLst>
          </p:cNvPr>
          <p:cNvSpPr txBox="1"/>
          <p:nvPr/>
        </p:nvSpPr>
        <p:spPr>
          <a:xfrm>
            <a:off x="313475" y="1962047"/>
            <a:ext cx="2333624" cy="400110"/>
          </a:xfrm>
          <a:prstGeom prst="rect">
            <a:avLst/>
          </a:prstGeom>
          <a:noFill/>
        </p:spPr>
        <p:txBody>
          <a:bodyPr wrap="square" rtlCol="0">
            <a:spAutoFit/>
          </a:bodyPr>
          <a:lstStyle/>
          <a:p>
            <a:r>
              <a:rPr lang="en-US" altLang="zh-TW" sz="2000" dirty="0"/>
              <a:t>|S1|=|S2|=|S3|=8</a:t>
            </a:r>
            <a:endParaRPr lang="zh-TW" altLang="en-US" sz="2000" dirty="0"/>
          </a:p>
        </p:txBody>
      </p:sp>
    </p:spTree>
    <p:extLst>
      <p:ext uri="{BB962C8B-B14F-4D97-AF65-F5344CB8AC3E}">
        <p14:creationId xmlns:p14="http://schemas.microsoft.com/office/powerpoint/2010/main" val="1035028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B5B75D-1805-06DB-A3DE-A8A4C4790EF5}"/>
              </a:ext>
            </a:extLst>
          </p:cNvPr>
          <p:cNvSpPr>
            <a:spLocks noGrp="1"/>
          </p:cNvSpPr>
          <p:nvPr>
            <p:ph type="title"/>
          </p:nvPr>
        </p:nvSpPr>
        <p:spPr/>
        <p:txBody>
          <a:bodyPr/>
          <a:lstStyle/>
          <a:p>
            <a:r>
              <a:rPr lang="en-US" altLang="zh-TW" dirty="0"/>
              <a:t> Small-DAG </a:t>
            </a:r>
            <a:endParaRPr lang="zh-TW" altLang="en-US" dirty="0"/>
          </a:p>
        </p:txBody>
      </p:sp>
      <p:sp>
        <p:nvSpPr>
          <p:cNvPr id="3" name="內容版面配置區 2">
            <a:extLst>
              <a:ext uri="{FF2B5EF4-FFF2-40B4-BE49-F238E27FC236}">
                <a16:creationId xmlns:a16="http://schemas.microsoft.com/office/drawing/2014/main" id="{B6B5D142-9470-833A-20CA-609366E6C18F}"/>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36DA62C8-9CA0-7510-A695-7BD96A2CFAD4}"/>
              </a:ext>
            </a:extLst>
          </p:cNvPr>
          <p:cNvPicPr>
            <a:picLocks noChangeAspect="1"/>
          </p:cNvPicPr>
          <p:nvPr/>
        </p:nvPicPr>
        <p:blipFill>
          <a:blip r:embed="rId3"/>
          <a:stretch>
            <a:fillRect/>
          </a:stretch>
        </p:blipFill>
        <p:spPr>
          <a:xfrm>
            <a:off x="333872" y="1988840"/>
            <a:ext cx="8352928" cy="4670499"/>
          </a:xfrm>
          <a:prstGeom prst="rect">
            <a:avLst/>
          </a:prstGeom>
          <a:solidFill>
            <a:schemeClr val="tx1"/>
          </a:solidFill>
          <a:ln>
            <a:solidFill>
              <a:schemeClr val="tx1"/>
            </a:solidFill>
          </a:ln>
        </p:spPr>
      </p:pic>
      <p:sp>
        <p:nvSpPr>
          <p:cNvPr id="6" name="矩形 5">
            <a:extLst>
              <a:ext uri="{FF2B5EF4-FFF2-40B4-BE49-F238E27FC236}">
                <a16:creationId xmlns:a16="http://schemas.microsoft.com/office/drawing/2014/main" id="{170CA0D4-AE96-4F91-CB87-D6B61486A3D6}"/>
              </a:ext>
            </a:extLst>
          </p:cNvPr>
          <p:cNvSpPr/>
          <p:nvPr/>
        </p:nvSpPr>
        <p:spPr>
          <a:xfrm>
            <a:off x="4271211" y="5733256"/>
            <a:ext cx="1812957" cy="8501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 name="圖片 9">
            <a:extLst>
              <a:ext uri="{FF2B5EF4-FFF2-40B4-BE49-F238E27FC236}">
                <a16:creationId xmlns:a16="http://schemas.microsoft.com/office/drawing/2014/main" id="{49751F18-4DB3-F959-AB0A-5E2759EE2401}"/>
              </a:ext>
            </a:extLst>
          </p:cNvPr>
          <p:cNvPicPr>
            <a:picLocks noChangeAspect="1"/>
          </p:cNvPicPr>
          <p:nvPr/>
        </p:nvPicPr>
        <p:blipFill>
          <a:blip r:embed="rId4"/>
          <a:stretch>
            <a:fillRect/>
          </a:stretch>
        </p:blipFill>
        <p:spPr>
          <a:xfrm>
            <a:off x="6228183" y="3645024"/>
            <a:ext cx="1014827" cy="656713"/>
          </a:xfrm>
          <a:prstGeom prst="rect">
            <a:avLst/>
          </a:prstGeom>
        </p:spPr>
      </p:pic>
      <p:cxnSp>
        <p:nvCxnSpPr>
          <p:cNvPr id="16" name="直線接點 15">
            <a:extLst>
              <a:ext uri="{FF2B5EF4-FFF2-40B4-BE49-F238E27FC236}">
                <a16:creationId xmlns:a16="http://schemas.microsoft.com/office/drawing/2014/main" id="{76E4CD48-8EA0-27E4-C774-158D47426704}"/>
              </a:ext>
            </a:extLst>
          </p:cNvPr>
          <p:cNvCxnSpPr/>
          <p:nvPr/>
        </p:nvCxnSpPr>
        <p:spPr>
          <a:xfrm flipH="1" flipV="1">
            <a:off x="7092280" y="4156832"/>
            <a:ext cx="288032" cy="144905"/>
          </a:xfrm>
          <a:prstGeom prst="line">
            <a:avLst/>
          </a:prstGeom>
        </p:spPr>
        <p:style>
          <a:lnRef idx="1">
            <a:schemeClr val="dk1"/>
          </a:lnRef>
          <a:fillRef idx="0">
            <a:schemeClr val="dk1"/>
          </a:fillRef>
          <a:effectRef idx="0">
            <a:schemeClr val="dk1"/>
          </a:effectRef>
          <a:fontRef idx="minor">
            <a:schemeClr val="tx1"/>
          </a:fontRef>
        </p:style>
      </p:cxnSp>
      <p:cxnSp>
        <p:nvCxnSpPr>
          <p:cNvPr id="22" name="直線單箭頭接點 21">
            <a:extLst>
              <a:ext uri="{FF2B5EF4-FFF2-40B4-BE49-F238E27FC236}">
                <a16:creationId xmlns:a16="http://schemas.microsoft.com/office/drawing/2014/main" id="{3D7848FE-AA84-616F-C7E3-D0C702016218}"/>
              </a:ext>
            </a:extLst>
          </p:cNvPr>
          <p:cNvCxnSpPr>
            <a:cxnSpLocks/>
          </p:cNvCxnSpPr>
          <p:nvPr/>
        </p:nvCxnSpPr>
        <p:spPr>
          <a:xfrm flipH="1" flipV="1">
            <a:off x="7092280" y="4149080"/>
            <a:ext cx="720080" cy="33521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66024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a:t>
            </a:r>
            <a:r>
              <a:rPr lang="en-US" altLang="zh-TW" dirty="0" err="1"/>
              <a:t>reults</a:t>
            </a:r>
            <a:endParaRPr lang="zh-TW" altLang="en-US" dirty="0"/>
          </a:p>
        </p:txBody>
      </p:sp>
      <p:sp>
        <p:nvSpPr>
          <p:cNvPr id="5" name="文字方塊 4">
            <a:extLst>
              <a:ext uri="{FF2B5EF4-FFF2-40B4-BE49-F238E27FC236}">
                <a16:creationId xmlns:a16="http://schemas.microsoft.com/office/drawing/2014/main" id="{6D622F2E-AD21-3896-F6E5-85C6485CD98D}"/>
              </a:ext>
            </a:extLst>
          </p:cNvPr>
          <p:cNvSpPr txBox="1"/>
          <p:nvPr/>
        </p:nvSpPr>
        <p:spPr>
          <a:xfrm>
            <a:off x="755576" y="5959614"/>
            <a:ext cx="7632848" cy="369332"/>
          </a:xfrm>
          <a:prstGeom prst="rect">
            <a:avLst/>
          </a:prstGeom>
          <a:noFill/>
        </p:spPr>
        <p:txBody>
          <a:bodyPr wrap="square">
            <a:spAutoFit/>
          </a:bodyPr>
          <a:lstStyle/>
          <a:p>
            <a:r>
              <a:rPr lang="en-US" altLang="zh-TW" dirty="0"/>
              <a:t>‘∗’ indicates that the algorithm cannot get results in limited memory (128G)</a:t>
            </a:r>
            <a:endParaRPr lang="zh-TW" altLang="en-US" dirty="0"/>
          </a:p>
        </p:txBody>
      </p:sp>
      <p:sp>
        <p:nvSpPr>
          <p:cNvPr id="8" name="文字方塊 7">
            <a:extLst>
              <a:ext uri="{FF2B5EF4-FFF2-40B4-BE49-F238E27FC236}">
                <a16:creationId xmlns:a16="http://schemas.microsoft.com/office/drawing/2014/main" id="{2BF6520D-9AF5-0856-D3DB-6A78A666FB15}"/>
              </a:ext>
            </a:extLst>
          </p:cNvPr>
          <p:cNvSpPr txBox="1"/>
          <p:nvPr/>
        </p:nvSpPr>
        <p:spPr>
          <a:xfrm>
            <a:off x="737118" y="6251033"/>
            <a:ext cx="8406882" cy="369332"/>
          </a:xfrm>
          <a:prstGeom prst="rect">
            <a:avLst/>
          </a:prstGeom>
          <a:noFill/>
        </p:spPr>
        <p:txBody>
          <a:bodyPr wrap="square">
            <a:spAutoFit/>
          </a:bodyPr>
          <a:lstStyle/>
          <a:p>
            <a:r>
              <a:rPr lang="en-US" altLang="zh-TW" dirty="0"/>
              <a:t>’ + ’ indicates that the algorithm cannot get results in our limited time of 6000 seconds</a:t>
            </a:r>
            <a:endParaRPr lang="zh-TW" altLang="en-US" dirty="0"/>
          </a:p>
        </p:txBody>
      </p:sp>
      <p:pic>
        <p:nvPicPr>
          <p:cNvPr id="13" name="內容版面配置區 12">
            <a:extLst>
              <a:ext uri="{FF2B5EF4-FFF2-40B4-BE49-F238E27FC236}">
                <a16:creationId xmlns:a16="http://schemas.microsoft.com/office/drawing/2014/main" id="{9E3B43BC-8307-08BC-C849-0E7D2D23B891}"/>
              </a:ext>
            </a:extLst>
          </p:cNvPr>
          <p:cNvPicPr>
            <a:picLocks noGrp="1" noChangeAspect="1"/>
          </p:cNvPicPr>
          <p:nvPr>
            <p:ph idx="1"/>
          </p:nvPr>
        </p:nvPicPr>
        <p:blipFill>
          <a:blip r:embed="rId3"/>
          <a:stretch>
            <a:fillRect/>
          </a:stretch>
        </p:blipFill>
        <p:spPr>
          <a:xfrm>
            <a:off x="2303748" y="1279935"/>
            <a:ext cx="4788532" cy="4679679"/>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a:t>
            </a:r>
            <a:r>
              <a:rPr lang="en-US" altLang="zh-TW" dirty="0" err="1"/>
              <a:t>reults</a:t>
            </a:r>
            <a:endParaRPr lang="zh-TW" altLang="en-US" dirty="0"/>
          </a:p>
        </p:txBody>
      </p:sp>
      <p:sp>
        <p:nvSpPr>
          <p:cNvPr id="5" name="文字方塊 4">
            <a:extLst>
              <a:ext uri="{FF2B5EF4-FFF2-40B4-BE49-F238E27FC236}">
                <a16:creationId xmlns:a16="http://schemas.microsoft.com/office/drawing/2014/main" id="{6D622F2E-AD21-3896-F6E5-85C6485CD98D}"/>
              </a:ext>
            </a:extLst>
          </p:cNvPr>
          <p:cNvSpPr txBox="1"/>
          <p:nvPr/>
        </p:nvSpPr>
        <p:spPr>
          <a:xfrm>
            <a:off x="755576" y="5959614"/>
            <a:ext cx="7632848" cy="369332"/>
          </a:xfrm>
          <a:prstGeom prst="rect">
            <a:avLst/>
          </a:prstGeom>
          <a:noFill/>
        </p:spPr>
        <p:txBody>
          <a:bodyPr wrap="square">
            <a:spAutoFit/>
          </a:bodyPr>
          <a:lstStyle/>
          <a:p>
            <a:r>
              <a:rPr lang="en-US" altLang="zh-TW" dirty="0"/>
              <a:t>‘∗’ indicates that the algorithm cannot get results in limited memory (128G)</a:t>
            </a:r>
            <a:endParaRPr lang="zh-TW" altLang="en-US" dirty="0"/>
          </a:p>
        </p:txBody>
      </p:sp>
      <p:sp>
        <p:nvSpPr>
          <p:cNvPr id="8" name="文字方塊 7">
            <a:extLst>
              <a:ext uri="{FF2B5EF4-FFF2-40B4-BE49-F238E27FC236}">
                <a16:creationId xmlns:a16="http://schemas.microsoft.com/office/drawing/2014/main" id="{2BF6520D-9AF5-0856-D3DB-6A78A666FB15}"/>
              </a:ext>
            </a:extLst>
          </p:cNvPr>
          <p:cNvSpPr txBox="1"/>
          <p:nvPr/>
        </p:nvSpPr>
        <p:spPr>
          <a:xfrm>
            <a:off x="737118" y="6251033"/>
            <a:ext cx="8406882" cy="369332"/>
          </a:xfrm>
          <a:prstGeom prst="rect">
            <a:avLst/>
          </a:prstGeom>
          <a:noFill/>
        </p:spPr>
        <p:txBody>
          <a:bodyPr wrap="square">
            <a:spAutoFit/>
          </a:bodyPr>
          <a:lstStyle/>
          <a:p>
            <a:r>
              <a:rPr lang="en-US" altLang="zh-TW" dirty="0"/>
              <a:t>’ + ’ indicates that the algorithm cannot get results in our limited time of 6000 seconds</a:t>
            </a:r>
            <a:endParaRPr lang="zh-TW" altLang="en-US" dirty="0"/>
          </a:p>
        </p:txBody>
      </p:sp>
      <p:pic>
        <p:nvPicPr>
          <p:cNvPr id="13" name="內容版面配置區 12">
            <a:extLst>
              <a:ext uri="{FF2B5EF4-FFF2-40B4-BE49-F238E27FC236}">
                <a16:creationId xmlns:a16="http://schemas.microsoft.com/office/drawing/2014/main" id="{9E3B43BC-8307-08BC-C849-0E7D2D23B891}"/>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382383" y="1287941"/>
            <a:ext cx="4853913" cy="4525963"/>
          </a:xfrm>
        </p:spPr>
      </p:pic>
    </p:spTree>
    <p:extLst>
      <p:ext uri="{BB962C8B-B14F-4D97-AF65-F5344CB8AC3E}">
        <p14:creationId xmlns:p14="http://schemas.microsoft.com/office/powerpoint/2010/main" val="3663686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a:t>
            </a:r>
            <a:r>
              <a:rPr lang="en-US" altLang="zh-TW" dirty="0" err="1"/>
              <a:t>reults</a:t>
            </a:r>
            <a:endParaRPr lang="zh-TW" altLang="en-US" dirty="0"/>
          </a:p>
        </p:txBody>
      </p:sp>
      <p:sp>
        <p:nvSpPr>
          <p:cNvPr id="5" name="文字方塊 4">
            <a:extLst>
              <a:ext uri="{FF2B5EF4-FFF2-40B4-BE49-F238E27FC236}">
                <a16:creationId xmlns:a16="http://schemas.microsoft.com/office/drawing/2014/main" id="{6D622F2E-AD21-3896-F6E5-85C6485CD98D}"/>
              </a:ext>
            </a:extLst>
          </p:cNvPr>
          <p:cNvSpPr txBox="1"/>
          <p:nvPr/>
        </p:nvSpPr>
        <p:spPr>
          <a:xfrm>
            <a:off x="755576" y="5959614"/>
            <a:ext cx="7632848" cy="369332"/>
          </a:xfrm>
          <a:prstGeom prst="rect">
            <a:avLst/>
          </a:prstGeom>
          <a:noFill/>
        </p:spPr>
        <p:txBody>
          <a:bodyPr wrap="square">
            <a:spAutoFit/>
          </a:bodyPr>
          <a:lstStyle/>
          <a:p>
            <a:r>
              <a:rPr lang="en-US" altLang="zh-TW" dirty="0"/>
              <a:t>‘∗’ indicates that the algorithm cannot get results in limited memory (128G)</a:t>
            </a:r>
            <a:endParaRPr lang="zh-TW" altLang="en-US" dirty="0"/>
          </a:p>
        </p:txBody>
      </p:sp>
      <p:sp>
        <p:nvSpPr>
          <p:cNvPr id="8" name="文字方塊 7">
            <a:extLst>
              <a:ext uri="{FF2B5EF4-FFF2-40B4-BE49-F238E27FC236}">
                <a16:creationId xmlns:a16="http://schemas.microsoft.com/office/drawing/2014/main" id="{2BF6520D-9AF5-0856-D3DB-6A78A666FB15}"/>
              </a:ext>
            </a:extLst>
          </p:cNvPr>
          <p:cNvSpPr txBox="1"/>
          <p:nvPr/>
        </p:nvSpPr>
        <p:spPr>
          <a:xfrm>
            <a:off x="737118" y="6251033"/>
            <a:ext cx="8406882" cy="369332"/>
          </a:xfrm>
          <a:prstGeom prst="rect">
            <a:avLst/>
          </a:prstGeom>
          <a:noFill/>
        </p:spPr>
        <p:txBody>
          <a:bodyPr wrap="square">
            <a:spAutoFit/>
          </a:bodyPr>
          <a:lstStyle/>
          <a:p>
            <a:r>
              <a:rPr lang="en-US" altLang="zh-TW" dirty="0"/>
              <a:t>’ + ’ indicates that the algorithm cannot get results in our limited time of 6000 seconds</a:t>
            </a:r>
            <a:endParaRPr lang="zh-TW" altLang="en-US" dirty="0"/>
          </a:p>
        </p:txBody>
      </p:sp>
      <p:pic>
        <p:nvPicPr>
          <p:cNvPr id="13" name="內容版面配置區 12">
            <a:extLst>
              <a:ext uri="{FF2B5EF4-FFF2-40B4-BE49-F238E27FC236}">
                <a16:creationId xmlns:a16="http://schemas.microsoft.com/office/drawing/2014/main" id="{9E3B43BC-8307-08BC-C849-0E7D2D23B891}"/>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382383" y="1339850"/>
            <a:ext cx="4853913" cy="4422144"/>
          </a:xfrm>
        </p:spPr>
      </p:pic>
    </p:spTree>
    <p:extLst>
      <p:ext uri="{BB962C8B-B14F-4D97-AF65-F5344CB8AC3E}">
        <p14:creationId xmlns:p14="http://schemas.microsoft.com/office/powerpoint/2010/main" val="278037091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2782</TotalTime>
  <Words>927</Words>
  <Application>Microsoft Office PowerPoint</Application>
  <PresentationFormat>如螢幕大小 (4:3)</PresentationFormat>
  <Paragraphs>98</Paragraphs>
  <Slides>15</Slides>
  <Notes>14</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15</vt:i4>
      </vt:variant>
    </vt:vector>
  </HeadingPairs>
  <TitlesOfParts>
    <vt:vector size="20" baseType="lpstr">
      <vt:lpstr>NexusSerif</vt:lpstr>
      <vt:lpstr>Arial</vt:lpstr>
      <vt:lpstr>Calibri</vt:lpstr>
      <vt:lpstr>Times New Roman</vt:lpstr>
      <vt:lpstr>Office 佈景主題</vt:lpstr>
      <vt:lpstr>A Branch and Bound Irredundant Graph Algorithm for Large-Scale MLCS Problems  ​   </vt:lpstr>
      <vt:lpstr>Abstract(1/2)</vt:lpstr>
      <vt:lpstr>Abstract(2/2)</vt:lpstr>
      <vt:lpstr>Branch and bound</vt:lpstr>
      <vt:lpstr>Branch and bound</vt:lpstr>
      <vt:lpstr>Branch and bound</vt:lpstr>
      <vt:lpstr>Branch and bound</vt:lpstr>
      <vt:lpstr>Vector Hash Table</vt:lpstr>
      <vt:lpstr> Small-DAG </vt:lpstr>
      <vt:lpstr> Small-DAG </vt:lpstr>
      <vt:lpstr> Small-DAG </vt:lpstr>
      <vt:lpstr> Small-DAG </vt:lpstr>
      <vt:lpstr>Experimental reults</vt:lpstr>
      <vt:lpstr>Experimental reults</vt:lpstr>
      <vt:lpstr>Experimental reults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李健廷</dc:creator>
  <cp:lastModifiedBy>健廷 李</cp:lastModifiedBy>
  <cp:revision>162</cp:revision>
  <dcterms:created xsi:type="dcterms:W3CDTF">2022-02-04T17:32:31Z</dcterms:created>
  <dcterms:modified xsi:type="dcterms:W3CDTF">2022-06-14T11:02:20Z</dcterms:modified>
</cp:coreProperties>
</file>