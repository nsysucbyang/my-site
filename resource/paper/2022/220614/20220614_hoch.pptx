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1" r:id="rId3"/>
    <p:sldId id="317" r:id="rId4"/>
    <p:sldId id="332" r:id="rId5"/>
    <p:sldId id="333" r:id="rId6"/>
    <p:sldId id="334" r:id="rId7"/>
    <p:sldId id="326" r:id="rId8"/>
    <p:sldId id="325" r:id="rId9"/>
    <p:sldId id="339" r:id="rId10"/>
    <p:sldId id="340" r:id="rId11"/>
    <p:sldId id="319" r:id="rId12"/>
    <p:sldId id="341" r:id="rId13"/>
    <p:sldId id="290"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49" autoAdjust="0"/>
    <p:restoredTop sz="92275" autoAdjust="0"/>
  </p:normalViewPr>
  <p:slideViewPr>
    <p:cSldViewPr snapToGrid="0">
      <p:cViewPr varScale="1">
        <p:scale>
          <a:sx n="67" d="100"/>
          <a:sy n="67" d="100"/>
        </p:scale>
        <p:origin x="59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095354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194708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734290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98813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4266146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47851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595289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821110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559348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457136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11802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1E1DC-9B0B-4445-BE92-0FA02D7ED6E3}" type="datetimeFigureOut">
              <a:rPr lang="zh-TW" altLang="en-US" smtClean="0"/>
              <a:t>2022/6/14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578427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1920" y="1101342"/>
            <a:ext cx="11927840" cy="1299561"/>
          </a:xfrm>
        </p:spPr>
        <p:txBody>
          <a:bodyPr>
            <a:normAutofit fontScale="90000"/>
          </a:bodyPr>
          <a:lstStyle/>
          <a:p>
            <a:r>
              <a:rPr lang="en-US" altLang="zh-TW" sz="4800" dirty="0">
                <a:latin typeface="Times New Roman" panose="02020603050405020304" pitchFamily="18" charset="0"/>
                <a:cs typeface="Times New Roman" panose="02020603050405020304" pitchFamily="18" charset="0"/>
              </a:rPr>
              <a:t>Finding the gapped longest common subsequence by </a:t>
            </a:r>
            <a:br>
              <a:rPr lang="en-US" altLang="zh-TW" sz="4800" dirty="0">
                <a:latin typeface="Times New Roman" panose="02020603050405020304" pitchFamily="18" charset="0"/>
                <a:cs typeface="Times New Roman" panose="02020603050405020304" pitchFamily="18" charset="0"/>
              </a:rPr>
            </a:br>
            <a:r>
              <a:rPr lang="en-US" altLang="zh-TW" sz="4800" dirty="0">
                <a:latin typeface="Times New Roman" panose="02020603050405020304" pitchFamily="18" charset="0"/>
                <a:cs typeface="Times New Roman" panose="02020603050405020304" pitchFamily="18" charset="0"/>
              </a:rPr>
              <a:t>incremental suﬃx maximum queries</a:t>
            </a:r>
          </a:p>
        </p:txBody>
      </p:sp>
      <p:sp>
        <p:nvSpPr>
          <p:cNvPr id="4" name="副標題 2"/>
          <p:cNvSpPr>
            <a:spLocks noGrp="1"/>
          </p:cNvSpPr>
          <p:nvPr>
            <p:ph type="subTitle" idx="1"/>
          </p:nvPr>
        </p:nvSpPr>
        <p:spPr>
          <a:xfrm>
            <a:off x="1524000" y="3602038"/>
            <a:ext cx="9144000" cy="1655762"/>
          </a:xfrm>
        </p:spPr>
        <p:txBody>
          <a:bodyPr>
            <a:normAutofit/>
          </a:bodyPr>
          <a:lstStyle/>
          <a:p>
            <a:r>
              <a:rPr lang="en-US" altLang="zh-TW" sz="2800" dirty="0">
                <a:latin typeface="Times New Roman" panose="02020603050405020304" pitchFamily="18" charset="0"/>
                <a:cs typeface="Times New Roman" panose="02020603050405020304" pitchFamily="18" charset="0"/>
              </a:rPr>
              <a:t>Yung-</a:t>
            </a:r>
            <a:r>
              <a:rPr lang="en-US" altLang="zh-TW" sz="2800" dirty="0" err="1">
                <a:latin typeface="Times New Roman" panose="02020603050405020304" pitchFamily="18" charset="0"/>
                <a:cs typeface="Times New Roman" panose="02020603050405020304" pitchFamily="18" charset="0"/>
              </a:rPr>
              <a:t>Hsing</a:t>
            </a:r>
            <a:r>
              <a:rPr lang="en-US" altLang="zh-TW" sz="2800" dirty="0">
                <a:latin typeface="Times New Roman" panose="02020603050405020304" pitchFamily="18" charset="0"/>
                <a:cs typeface="Times New Roman" panose="02020603050405020304" pitchFamily="18" charset="0"/>
              </a:rPr>
              <a:t> Peng, Chang-</a:t>
            </a:r>
            <a:r>
              <a:rPr lang="en-US" altLang="zh-TW" sz="2800" dirty="0" err="1">
                <a:latin typeface="Times New Roman" panose="02020603050405020304" pitchFamily="18" charset="0"/>
                <a:cs typeface="Times New Roman" panose="02020603050405020304" pitchFamily="18" charset="0"/>
              </a:rPr>
              <a:t>Biau</a:t>
            </a:r>
            <a:r>
              <a:rPr lang="en-US" altLang="zh-TW" sz="2800" dirty="0">
                <a:latin typeface="Times New Roman" panose="02020603050405020304" pitchFamily="18" charset="0"/>
                <a:cs typeface="Times New Roman" panose="02020603050405020304" pitchFamily="18" charset="0"/>
              </a:rPr>
              <a:t> Yang</a:t>
            </a:r>
          </a:p>
          <a:p>
            <a:r>
              <a:rPr lang="en-US" altLang="zh-TW" sz="2800" dirty="0">
                <a:latin typeface="Times New Roman" panose="02020603050405020304" pitchFamily="18" charset="0"/>
                <a:cs typeface="Times New Roman" panose="02020603050405020304" pitchFamily="18" charset="0"/>
              </a:rPr>
              <a:t>Information and Computation 237 (2014) 95–100</a:t>
            </a:r>
          </a:p>
        </p:txBody>
      </p:sp>
      <p:sp>
        <p:nvSpPr>
          <p:cNvPr id="5" name="矩形 1"/>
          <p:cNvSpPr>
            <a:spLocks noChangeArrowheads="1"/>
          </p:cNvSpPr>
          <p:nvPr/>
        </p:nvSpPr>
        <p:spPr bwMode="auto">
          <a:xfrm>
            <a:off x="8883004" y="5876925"/>
            <a:ext cx="28885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nSpc>
                <a:spcPct val="90000"/>
              </a:lnSpc>
              <a:spcBef>
                <a:spcPct val="0"/>
              </a:spcBef>
              <a:buNone/>
            </a:pPr>
            <a:r>
              <a:rPr lang="en-US" altLang="zh-TW" sz="2000" dirty="0">
                <a:latin typeface="Times New Roman" panose="02020603050405020304" pitchFamily="18" charset="0"/>
                <a:cs typeface="Times New Roman" panose="02020603050405020304" pitchFamily="18" charset="0"/>
              </a:rPr>
              <a:t>Presenter: Cheng-Han Ho</a:t>
            </a:r>
          </a:p>
          <a:p>
            <a:pPr>
              <a:lnSpc>
                <a:spcPct val="90000"/>
              </a:lnSpc>
              <a:spcBef>
                <a:spcPct val="0"/>
              </a:spcBef>
              <a:buNone/>
            </a:pPr>
            <a:r>
              <a:rPr lang="en-US" altLang="zh-TW" sz="2000" dirty="0">
                <a:latin typeface="Times New Roman" panose="02020603050405020304" pitchFamily="18" charset="0"/>
                <a:cs typeface="Times New Roman" panose="02020603050405020304" pitchFamily="18" charset="0"/>
              </a:rPr>
              <a:t>Date: Jun. 14, 2022</a:t>
            </a:r>
          </a:p>
        </p:txBody>
      </p:sp>
    </p:spTree>
    <p:extLst>
      <p:ext uri="{BB962C8B-B14F-4D97-AF65-F5344CB8AC3E}">
        <p14:creationId xmlns:p14="http://schemas.microsoft.com/office/powerpoint/2010/main" val="3662505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ED0E71-14AD-4E62-972C-221C5E865D7B}"/>
              </a:ext>
            </a:extLst>
          </p:cNvPr>
          <p:cNvSpPr>
            <a:spLocks noGrp="1"/>
          </p:cNvSpPr>
          <p:nvPr>
            <p:ph type="title"/>
          </p:nvPr>
        </p:nvSpPr>
        <p:spPr>
          <a:xfrm>
            <a:off x="838200" y="365125"/>
            <a:ext cx="10515600" cy="1382395"/>
          </a:xfrm>
        </p:spPr>
        <p:txBody>
          <a:bodyPr/>
          <a:lstStyle/>
          <a:p>
            <a:r>
              <a:rPr lang="en-US" altLang="zh-TW" dirty="0">
                <a:latin typeface="Times New Roman" panose="02020603050405020304" pitchFamily="18" charset="0"/>
                <a:cs typeface="Times New Roman" panose="02020603050405020304" pitchFamily="18" charset="0"/>
              </a:rPr>
              <a:t>Abstract (1/2)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2A93AAD-D6B7-4CD4-AC92-2D3922F8C487}"/>
              </a:ext>
            </a:extLst>
          </p:cNvPr>
          <p:cNvSpPr>
            <a:spLocks noGrp="1"/>
          </p:cNvSpPr>
          <p:nvPr>
            <p:ph idx="1"/>
          </p:nvPr>
        </p:nvSpPr>
        <p:spPr>
          <a:xfrm>
            <a:off x="838200" y="1471448"/>
            <a:ext cx="10515600" cy="5021427"/>
          </a:xfrm>
        </p:spPr>
        <p:txBody>
          <a:bodyPr>
            <a:normAutofit/>
          </a:bodyPr>
          <a:lstStyle/>
          <a:p>
            <a:r>
              <a:rPr lang="en-US" altLang="zh-TW" dirty="0"/>
              <a:t>The longest common subsequence (LCS) problem with gap constraints (or the gapped LCS), which has applications to genetics and molecular biology, is an interesting and useful variant to the LCS problem. In previous work, this problem is solved in O(nm) time when the gap constraints are ﬁxed to a single integer, where n and m denote the lengths of the two input sequences A and B, respectively. In this paper, we ﬁrst generalize the problem from ﬁxed gaps to variable gap constraints. </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7678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ED0E71-14AD-4E62-972C-221C5E865D7B}"/>
              </a:ext>
            </a:extLst>
          </p:cNvPr>
          <p:cNvSpPr>
            <a:spLocks noGrp="1"/>
          </p:cNvSpPr>
          <p:nvPr>
            <p:ph type="title"/>
          </p:nvPr>
        </p:nvSpPr>
        <p:spPr>
          <a:xfrm>
            <a:off x="838200" y="365125"/>
            <a:ext cx="10515600" cy="1382395"/>
          </a:xfrm>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2A93AAD-D6B7-4CD4-AC92-2D3922F8C487}"/>
              </a:ext>
            </a:extLst>
          </p:cNvPr>
          <p:cNvSpPr>
            <a:spLocks noGrp="1"/>
          </p:cNvSpPr>
          <p:nvPr>
            <p:ph idx="1"/>
          </p:nvPr>
        </p:nvSpPr>
        <p:spPr>
          <a:xfrm>
            <a:off x="838200" y="1545021"/>
            <a:ext cx="10515600" cy="4947855"/>
          </a:xfrm>
        </p:spPr>
        <p:txBody>
          <a:bodyPr>
            <a:normAutofit/>
          </a:bodyPr>
          <a:lstStyle/>
          <a:p>
            <a:r>
              <a:rPr lang="en-US" altLang="zh-TW" dirty="0"/>
              <a:t>Then, we devise an optimal approach for the incremental suﬃx maximum query (ISMQ), which helps us obtain an eﬃcient algorithm with O(nm) time for ﬁnding LCS with variable gap constraints. In addition, our technique for ISMQ can be applied to solve one of the block edit problems on strings, reducing the time complexity from O(nm </a:t>
            </a:r>
            <a:r>
              <a:rPr lang="en-US" altLang="zh-TW" dirty="0" err="1"/>
              <a:t>logm</a:t>
            </a:r>
            <a:r>
              <a:rPr lang="en-US" altLang="zh-TW" dirty="0"/>
              <a:t> + m</a:t>
            </a:r>
            <a:r>
              <a:rPr lang="en-US" altLang="zh-TW" baseline="30000" dirty="0"/>
              <a:t>2</a:t>
            </a:r>
            <a:r>
              <a:rPr lang="en-US" altLang="zh-TW" dirty="0"/>
              <a:t>) to O(nm + m</a:t>
            </a:r>
            <a:r>
              <a:rPr lang="en-US" altLang="zh-TW" baseline="30000" dirty="0"/>
              <a:t>2</a:t>
            </a:r>
            <a:r>
              <a:rPr lang="en-US" altLang="zh-TW" dirty="0"/>
              <a:t>). Hence, the result of this paper is beneﬁcial to related research on sequence analysis and </a:t>
            </a:r>
            <a:r>
              <a:rPr lang="en-US" altLang="zh-TW" dirty="0" err="1"/>
              <a:t>stringology</a:t>
            </a:r>
            <a:r>
              <a:rPr lang="en-US" altLang="zh-TW" dirty="0"/>
              <a:t>.</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2139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29845"/>
            <a:ext cx="10515600" cy="1325563"/>
          </a:xfrm>
        </p:spPr>
        <p:txBody>
          <a:bodyPr/>
          <a:lstStyle/>
          <a:p>
            <a:r>
              <a:rPr lang="en-US" altLang="zh-TW" dirty="0"/>
              <a:t>FIG (fixed gap LCS)</a:t>
            </a:r>
            <a:endParaRPr lang="en-US" altLang="zh-TW" spc="-1" dirty="0">
              <a:solidFill>
                <a:srgbClr val="000000"/>
              </a:solidFill>
              <a:latin typeface="Times New Roman" pitchFamily="18" charset="0"/>
              <a:cs typeface="Times New Roman" pitchFamily="18" charset="0"/>
            </a:endParaRPr>
          </a:p>
        </p:txBody>
      </p:sp>
      <p:pic>
        <p:nvPicPr>
          <p:cNvPr id="7" name="內容版面配置區 6">
            <a:extLst>
              <a:ext uri="{FF2B5EF4-FFF2-40B4-BE49-F238E27FC236}">
                <a16:creationId xmlns:a16="http://schemas.microsoft.com/office/drawing/2014/main" id="{38B36A6C-8645-43E5-B5BC-A2FA40F573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51556" y="830808"/>
            <a:ext cx="6141048" cy="5471412"/>
          </a:xfrm>
        </p:spPr>
      </p:pic>
      <p:sp>
        <p:nvSpPr>
          <p:cNvPr id="8" name="內容版面配置區 2">
            <a:extLst>
              <a:ext uri="{FF2B5EF4-FFF2-40B4-BE49-F238E27FC236}">
                <a16:creationId xmlns:a16="http://schemas.microsoft.com/office/drawing/2014/main" id="{2D0C3C21-46BB-43B2-AF26-26EF8F7D2E1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560" indent="-457200">
              <a:spcBef>
                <a:spcPts val="561"/>
              </a:spcBef>
              <a:buClr>
                <a:srgbClr val="000000"/>
              </a:buClr>
            </a:pPr>
            <a:r>
              <a:rPr lang="en-US" altLang="zh-TW" spc="-1" dirty="0">
                <a:solidFill>
                  <a:srgbClr val="000000"/>
                </a:solidFill>
              </a:rPr>
              <a:t> i</a:t>
            </a:r>
            <a:r>
              <a:rPr lang="en-US" altLang="zh-TW" spc="-1" baseline="-25000" dirty="0">
                <a:solidFill>
                  <a:srgbClr val="000000"/>
                </a:solidFill>
              </a:rPr>
              <a:t>x</a:t>
            </a:r>
            <a:r>
              <a:rPr lang="en-US" altLang="zh-TW" spc="-1" dirty="0">
                <a:solidFill>
                  <a:srgbClr val="000000"/>
                </a:solidFill>
              </a:rPr>
              <a:t> − i</a:t>
            </a:r>
            <a:r>
              <a:rPr lang="en-US" altLang="zh-TW" spc="-1" baseline="-25000" dirty="0">
                <a:solidFill>
                  <a:srgbClr val="000000"/>
                </a:solidFill>
              </a:rPr>
              <a:t>x−1</a:t>
            </a:r>
            <a:r>
              <a:rPr lang="en-US" altLang="zh-TW" spc="-1" dirty="0">
                <a:solidFill>
                  <a:srgbClr val="000000"/>
                </a:solidFill>
              </a:rPr>
              <a:t> ≤ K + 1, for 2 ≤ x ≤ p.</a:t>
            </a:r>
            <a:endParaRPr lang="en-US" altLang="zh-TW" dirty="0">
              <a:latin typeface="Times New Roman" panose="02020603050405020304" pitchFamily="18" charset="0"/>
            </a:endParaRPr>
          </a:p>
        </p:txBody>
      </p:sp>
    </p:spTree>
    <p:extLst>
      <p:ext uri="{BB962C8B-B14F-4D97-AF65-F5344CB8AC3E}">
        <p14:creationId xmlns:p14="http://schemas.microsoft.com/office/powerpoint/2010/main" val="615170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9685"/>
            <a:ext cx="10515600" cy="1325563"/>
          </a:xfrm>
        </p:spPr>
        <p:txBody>
          <a:bodyPr/>
          <a:lstStyle/>
          <a:p>
            <a:r>
              <a:rPr lang="en-US" altLang="zh-TW" dirty="0"/>
              <a:t>VGLCS (variable gap LCS )</a:t>
            </a:r>
            <a:endParaRPr lang="en-US" altLang="zh-TW" spc="-1" dirty="0">
              <a:solidFill>
                <a:srgbClr val="000000"/>
              </a:solidFill>
              <a:latin typeface="Times New Roman" pitchFamily="18" charset="0"/>
              <a:cs typeface="Times New Roman" pitchFamily="18" charset="0"/>
            </a:endParaRPr>
          </a:p>
        </p:txBody>
      </p:sp>
      <p:sp>
        <p:nvSpPr>
          <p:cNvPr id="6" name="內容版面配置區 2">
            <a:extLst>
              <a:ext uri="{FF2B5EF4-FFF2-40B4-BE49-F238E27FC236}">
                <a16:creationId xmlns:a16="http://schemas.microsoft.com/office/drawing/2014/main" id="{E7ED460C-6B14-4210-B87B-B1C8894F883D}"/>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560" indent="-457200">
              <a:spcBef>
                <a:spcPts val="561"/>
              </a:spcBef>
              <a:buClr>
                <a:srgbClr val="000000"/>
              </a:buClr>
            </a:pPr>
            <a:r>
              <a:rPr lang="en-US" altLang="zh-TW" spc="-1" dirty="0">
                <a:solidFill>
                  <a:srgbClr val="000000"/>
                </a:solidFill>
              </a:rPr>
              <a:t> i</a:t>
            </a:r>
            <a:r>
              <a:rPr lang="en-US" altLang="zh-TW" spc="-1" baseline="-25000" dirty="0">
                <a:solidFill>
                  <a:srgbClr val="000000"/>
                </a:solidFill>
              </a:rPr>
              <a:t>x</a:t>
            </a:r>
            <a:r>
              <a:rPr lang="en-US" altLang="zh-TW" spc="-1" dirty="0">
                <a:solidFill>
                  <a:srgbClr val="000000"/>
                </a:solidFill>
              </a:rPr>
              <a:t> − i</a:t>
            </a:r>
            <a:r>
              <a:rPr lang="en-US" altLang="zh-TW" spc="-1" baseline="-25000" dirty="0">
                <a:solidFill>
                  <a:srgbClr val="000000"/>
                </a:solidFill>
              </a:rPr>
              <a:t>x−1</a:t>
            </a:r>
            <a:r>
              <a:rPr lang="en-US" altLang="zh-TW" spc="-1" dirty="0">
                <a:solidFill>
                  <a:srgbClr val="000000"/>
                </a:solidFill>
              </a:rPr>
              <a:t> ≤ G</a:t>
            </a:r>
            <a:r>
              <a:rPr lang="en-US" altLang="zh-TW" spc="-1" baseline="-25000" dirty="0">
                <a:solidFill>
                  <a:srgbClr val="000000"/>
                </a:solidFill>
              </a:rPr>
              <a:t>s</a:t>
            </a:r>
            <a:r>
              <a:rPr lang="en-US" altLang="zh-TW" spc="-1" dirty="0">
                <a:solidFill>
                  <a:srgbClr val="000000"/>
                </a:solidFill>
              </a:rPr>
              <a:t>(i</a:t>
            </a:r>
            <a:r>
              <a:rPr lang="en-US" altLang="zh-TW" spc="-1" baseline="-25000" dirty="0">
                <a:solidFill>
                  <a:srgbClr val="000000"/>
                </a:solidFill>
              </a:rPr>
              <a:t>x</a:t>
            </a:r>
            <a:r>
              <a:rPr lang="en-US" altLang="zh-TW" spc="-1" dirty="0">
                <a:solidFill>
                  <a:srgbClr val="000000"/>
                </a:solidFill>
              </a:rPr>
              <a:t>), for 2 ≤ x ≤ p.</a:t>
            </a:r>
            <a:endParaRPr lang="en-US" altLang="zh-TW" dirty="0">
              <a:latin typeface="Times New Roman" panose="02020603050405020304" pitchFamily="18" charset="0"/>
            </a:endParaRPr>
          </a:p>
        </p:txBody>
      </p:sp>
      <p:pic>
        <p:nvPicPr>
          <p:cNvPr id="8" name="內容版面配置區 7" descr="一張含有 文字, 時鐘 的圖片&#10;&#10;自動產生的描述">
            <a:extLst>
              <a:ext uri="{FF2B5EF4-FFF2-40B4-BE49-F238E27FC236}">
                <a16:creationId xmlns:a16="http://schemas.microsoft.com/office/drawing/2014/main" id="{E201166B-73FC-CFE3-2B88-08D0962EC9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5314" y="2826484"/>
            <a:ext cx="7219414" cy="3155216"/>
          </a:xfrm>
        </p:spPr>
      </p:pic>
    </p:spTree>
    <p:extLst>
      <p:ext uri="{BB962C8B-B14F-4D97-AF65-F5344CB8AC3E}">
        <p14:creationId xmlns:p14="http://schemas.microsoft.com/office/powerpoint/2010/main" val="2627395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825625"/>
            <a:ext cx="10515600" cy="4351338"/>
          </a:xfrm>
        </p:spPr>
        <p:txBody>
          <a:bodyPr/>
          <a:lstStyle/>
          <a:p>
            <a:r>
              <a:rPr lang="zh-TW" altLang="en-US" dirty="0"/>
              <a:t>每個 </a:t>
            </a:r>
            <a:r>
              <a:rPr lang="en-US" altLang="zh-TW" dirty="0"/>
              <a:t>match </a:t>
            </a:r>
            <a:r>
              <a:rPr lang="zh-TW" altLang="en-US" dirty="0"/>
              <a:t>需檢查 </a:t>
            </a:r>
            <a:endParaRPr lang="en-US" altLang="zh-TW" dirty="0"/>
          </a:p>
          <a:p>
            <a:pPr marL="0" indent="0">
              <a:buNone/>
            </a:pPr>
            <a:r>
              <a:rPr lang="en-US" altLang="zh-TW" dirty="0"/>
              <a:t>   (G</a:t>
            </a:r>
            <a:r>
              <a:rPr lang="en-US" altLang="zh-TW" baseline="-25000" dirty="0"/>
              <a:t>X</a:t>
            </a:r>
            <a:r>
              <a:rPr lang="en-US" altLang="zh-TW" dirty="0"/>
              <a:t>(</a:t>
            </a:r>
            <a:r>
              <a:rPr lang="en-US" altLang="zh-TW" dirty="0" err="1"/>
              <a:t>i</a:t>
            </a:r>
            <a:r>
              <a:rPr lang="en-US" altLang="zh-TW" dirty="0"/>
              <a:t>)+1 * (G</a:t>
            </a:r>
            <a:r>
              <a:rPr lang="en-US" altLang="zh-TW" baseline="-25000" dirty="0"/>
              <a:t>Y</a:t>
            </a:r>
            <a:r>
              <a:rPr lang="en-US" altLang="zh-TW" dirty="0"/>
              <a:t>(j)+1)</a:t>
            </a:r>
          </a:p>
          <a:p>
            <a:pPr marL="0" indent="0">
              <a:buNone/>
            </a:pPr>
            <a:endParaRPr lang="en-US" altLang="zh-TW" dirty="0"/>
          </a:p>
          <a:p>
            <a:r>
              <a:rPr lang="zh-TW" altLang="en-US" dirty="0"/>
              <a:t>使用 </a:t>
            </a:r>
            <a:r>
              <a:rPr lang="en-US" altLang="zh-TW" dirty="0"/>
              <a:t>ISMQ </a:t>
            </a:r>
            <a:r>
              <a:rPr lang="zh-TW" altLang="en-US" dirty="0"/>
              <a:t>找到最大值</a:t>
            </a:r>
            <a:endParaRPr lang="en-US" altLang="zh-TW" dirty="0"/>
          </a:p>
          <a:p>
            <a:pPr marL="0" indent="0">
              <a:buNone/>
            </a:pPr>
            <a:endParaRPr lang="zh-TW" altLang="en-US" dirty="0"/>
          </a:p>
        </p:txBody>
      </p:sp>
      <p:sp>
        <p:nvSpPr>
          <p:cNvPr id="2" name="標題 1"/>
          <p:cNvSpPr>
            <a:spLocks noGrp="1"/>
          </p:cNvSpPr>
          <p:nvPr>
            <p:ph type="title"/>
          </p:nvPr>
        </p:nvSpPr>
        <p:spPr>
          <a:xfrm>
            <a:off x="880241" y="365125"/>
            <a:ext cx="10515600" cy="1325563"/>
          </a:xfrm>
        </p:spPr>
        <p:txBody>
          <a:bodyPr/>
          <a:lstStyle/>
          <a:p>
            <a:r>
              <a:rPr lang="en-US" altLang="zh-TW" dirty="0"/>
              <a:t>VGLCS</a:t>
            </a:r>
            <a:endParaRPr lang="zh-TW" altLang="en-US" dirty="0"/>
          </a:p>
        </p:txBody>
      </p:sp>
      <p:graphicFrame>
        <p:nvGraphicFramePr>
          <p:cNvPr id="4" name="內容版面配置區 3">
            <a:extLst>
              <a:ext uri="{FF2B5EF4-FFF2-40B4-BE49-F238E27FC236}">
                <a16:creationId xmlns:a16="http://schemas.microsoft.com/office/drawing/2014/main" id="{9CB3E06F-9AE3-472D-9EAF-96E9D1FFFCD9}"/>
              </a:ext>
            </a:extLst>
          </p:cNvPr>
          <p:cNvGraphicFramePr>
            <a:graphicFrameLocks/>
          </p:cNvGraphicFramePr>
          <p:nvPr>
            <p:extLst>
              <p:ext uri="{D42A27DB-BD31-4B8C-83A1-F6EECF244321}">
                <p14:modId xmlns:p14="http://schemas.microsoft.com/office/powerpoint/2010/main" val="2953598338"/>
              </p:ext>
            </p:extLst>
          </p:nvPr>
        </p:nvGraphicFramePr>
        <p:xfrm>
          <a:off x="5582093" y="652757"/>
          <a:ext cx="6346353" cy="6053920"/>
        </p:xfrm>
        <a:graphic>
          <a:graphicData uri="http://schemas.openxmlformats.org/drawingml/2006/table">
            <a:tbl>
              <a:tblPr firstRow="1" bandRow="1">
                <a:noFill/>
                <a:tableStyleId>{5940675A-B579-460E-94D1-54222C63F5DA}</a:tableStyleId>
              </a:tblPr>
              <a:tblGrid>
                <a:gridCol w="668604">
                  <a:extLst>
                    <a:ext uri="{9D8B030D-6E8A-4147-A177-3AD203B41FA5}">
                      <a16:colId xmlns:a16="http://schemas.microsoft.com/office/drawing/2014/main" val="3630319676"/>
                    </a:ext>
                  </a:extLst>
                </a:gridCol>
                <a:gridCol w="485279">
                  <a:extLst>
                    <a:ext uri="{9D8B030D-6E8A-4147-A177-3AD203B41FA5}">
                      <a16:colId xmlns:a16="http://schemas.microsoft.com/office/drawing/2014/main" val="2449943958"/>
                    </a:ext>
                  </a:extLst>
                </a:gridCol>
                <a:gridCol w="576941">
                  <a:extLst>
                    <a:ext uri="{9D8B030D-6E8A-4147-A177-3AD203B41FA5}">
                      <a16:colId xmlns:a16="http://schemas.microsoft.com/office/drawing/2014/main" val="3241406068"/>
                    </a:ext>
                  </a:extLst>
                </a:gridCol>
                <a:gridCol w="576941">
                  <a:extLst>
                    <a:ext uri="{9D8B030D-6E8A-4147-A177-3AD203B41FA5}">
                      <a16:colId xmlns:a16="http://schemas.microsoft.com/office/drawing/2014/main" val="1541813034"/>
                    </a:ext>
                  </a:extLst>
                </a:gridCol>
                <a:gridCol w="576941">
                  <a:extLst>
                    <a:ext uri="{9D8B030D-6E8A-4147-A177-3AD203B41FA5}">
                      <a16:colId xmlns:a16="http://schemas.microsoft.com/office/drawing/2014/main" val="439975108"/>
                    </a:ext>
                  </a:extLst>
                </a:gridCol>
                <a:gridCol w="657961">
                  <a:extLst>
                    <a:ext uri="{9D8B030D-6E8A-4147-A177-3AD203B41FA5}">
                      <a16:colId xmlns:a16="http://schemas.microsoft.com/office/drawing/2014/main" val="4266199047"/>
                    </a:ext>
                  </a:extLst>
                </a:gridCol>
                <a:gridCol w="495922">
                  <a:extLst>
                    <a:ext uri="{9D8B030D-6E8A-4147-A177-3AD203B41FA5}">
                      <a16:colId xmlns:a16="http://schemas.microsoft.com/office/drawing/2014/main" val="700621554"/>
                    </a:ext>
                  </a:extLst>
                </a:gridCol>
                <a:gridCol w="576941">
                  <a:extLst>
                    <a:ext uri="{9D8B030D-6E8A-4147-A177-3AD203B41FA5}">
                      <a16:colId xmlns:a16="http://schemas.microsoft.com/office/drawing/2014/main" val="1149588615"/>
                    </a:ext>
                  </a:extLst>
                </a:gridCol>
                <a:gridCol w="576941">
                  <a:extLst>
                    <a:ext uri="{9D8B030D-6E8A-4147-A177-3AD203B41FA5}">
                      <a16:colId xmlns:a16="http://schemas.microsoft.com/office/drawing/2014/main" val="2273608623"/>
                    </a:ext>
                  </a:extLst>
                </a:gridCol>
                <a:gridCol w="576941">
                  <a:extLst>
                    <a:ext uri="{9D8B030D-6E8A-4147-A177-3AD203B41FA5}">
                      <a16:colId xmlns:a16="http://schemas.microsoft.com/office/drawing/2014/main" val="1983320277"/>
                    </a:ext>
                  </a:extLst>
                </a:gridCol>
                <a:gridCol w="576941">
                  <a:extLst>
                    <a:ext uri="{9D8B030D-6E8A-4147-A177-3AD203B41FA5}">
                      <a16:colId xmlns:a16="http://schemas.microsoft.com/office/drawing/2014/main" val="3029482529"/>
                    </a:ext>
                  </a:extLst>
                </a:gridCol>
              </a:tblGrid>
              <a:tr h="579528">
                <a:tc>
                  <a:txBody>
                    <a:bodyPr/>
                    <a:lstStyle/>
                    <a:p>
                      <a:pPr algn="ctr">
                        <a:lnSpc>
                          <a:spcPct val="100000"/>
                        </a:lnSpc>
                      </a:pPr>
                      <a:endParaRPr lang="en-US" altLang="zh-TW" sz="1800" dirty="0">
                        <a:latin typeface="Times New Roman" panose="02020603050405020304" pitchFamily="18" charset="0"/>
                        <a:cs typeface="Times New Roman" panose="02020603050405020304" pitchFamily="18" charset="0"/>
                      </a:endParaRPr>
                    </a:p>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1</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j-1-K</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j-1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err="1">
                          <a:latin typeface="Times New Roman" panose="02020603050405020304" pitchFamily="18" charset="0"/>
                          <a:cs typeface="Times New Roman" panose="02020603050405020304" pitchFamily="18" charset="0"/>
                        </a:rPr>
                        <a:t>Y</a:t>
                      </a:r>
                      <a:r>
                        <a:rPr lang="en-US" altLang="zh-TW" sz="1800" baseline="-25000" dirty="0" err="1">
                          <a:latin typeface="Times New Roman" panose="02020603050405020304" pitchFamily="18" charset="0"/>
                          <a:cs typeface="Times New Roman" panose="02020603050405020304" pitchFamily="18" charset="0"/>
                        </a:rPr>
                        <a:t>j</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err="1">
                          <a:latin typeface="Times New Roman" panose="02020603050405020304" pitchFamily="18" charset="0"/>
                          <a:cs typeface="Times New Roman" panose="02020603050405020304" pitchFamily="18" charset="0"/>
                        </a:rPr>
                        <a:t>Y</a:t>
                      </a:r>
                      <a:r>
                        <a:rPr lang="en-US" altLang="zh-TW" sz="1800" baseline="-25000" dirty="0" err="1">
                          <a:latin typeface="Times New Roman" panose="02020603050405020304" pitchFamily="18" charset="0"/>
                          <a:cs typeface="Times New Roman" panose="02020603050405020304" pitchFamily="18" charset="0"/>
                        </a:rPr>
                        <a:t>n</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extLst>
                  <a:ext uri="{0D108BD9-81ED-4DB2-BD59-A6C34878D82A}">
                    <a16:rowId xmlns:a16="http://schemas.microsoft.com/office/drawing/2014/main" val="3990454840"/>
                  </a:ext>
                </a:extLst>
              </a:tr>
              <a:tr h="542528">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bg1"/>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662905682"/>
                  </a:ext>
                </a:extLst>
              </a:tr>
              <a:tr h="542528">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4229735210"/>
                  </a:ext>
                </a:extLst>
              </a:tr>
              <a:tr h="5425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1920045357"/>
                  </a:ext>
                </a:extLst>
              </a:tr>
              <a:tr h="542528">
                <a:tc>
                  <a:txBody>
                    <a:bodyPr/>
                    <a:lstStyle/>
                    <a:p>
                      <a:pPr algn="ctr">
                        <a:lnSpc>
                          <a:spcPct val="100000"/>
                        </a:lnSpc>
                      </a:pPr>
                      <a:r>
                        <a:rPr lang="zh-TW" altLang="en-US" sz="1800" b="0" i="0" kern="1200" dirty="0">
                          <a:solidFill>
                            <a:schemeClr val="tx1"/>
                          </a:solidFill>
                          <a:effectLst/>
                          <a:latin typeface="+mn-lt"/>
                          <a:ea typeface="+mn-ea"/>
                          <a:cs typeface="+mn-cs"/>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596059960"/>
                  </a:ext>
                </a:extLst>
              </a:tr>
              <a:tr h="542528">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i-1-K</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76200" cap="flat" cmpd="sng" algn="ctr">
                      <a:solidFill>
                        <a:srgbClr val="FF0000"/>
                      </a:solidFill>
                      <a:prstDash val="solid"/>
                      <a:round/>
                      <a:headEnd type="none" w="med" len="med"/>
                      <a:tailEnd type="none" w="med" len="med"/>
                    </a:lnR>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650435379"/>
                  </a:ext>
                </a:extLst>
              </a:tr>
              <a:tr h="542528">
                <a:tc>
                  <a:txBody>
                    <a:bodyPr/>
                    <a:lstStyle/>
                    <a:p>
                      <a:pPr algn="ctr">
                        <a:lnSpc>
                          <a:spcPct val="100000"/>
                        </a:lnSpc>
                      </a:pPr>
                      <a:r>
                        <a:rPr lang="zh-TW" altLang="en-US" sz="1800" b="0" i="0" kern="1200" dirty="0">
                          <a:solidFill>
                            <a:schemeClr val="tx1"/>
                          </a:solidFill>
                          <a:effectLst/>
                          <a:latin typeface="+mn-lt"/>
                          <a:ea typeface="+mn-ea"/>
                          <a:cs typeface="+mn-cs"/>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76200" cap="flat" cmpd="sng" algn="ctr">
                      <a:solidFill>
                        <a:srgbClr val="FF0000"/>
                      </a:solidFill>
                      <a:prstDash val="solid"/>
                      <a:round/>
                      <a:headEnd type="none" w="med" len="med"/>
                      <a:tailEnd type="none" w="med" len="med"/>
                    </a:lnR>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1222648316"/>
                  </a:ext>
                </a:extLst>
              </a:tr>
              <a:tr h="542528">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76200" cap="flat" cmpd="sng" algn="ctr">
                      <a:solidFill>
                        <a:srgbClr val="FF0000"/>
                      </a:solidFill>
                      <a:prstDash val="solid"/>
                      <a:round/>
                      <a:headEnd type="none" w="med" len="med"/>
                      <a:tailEnd type="none" w="med" len="med"/>
                    </a:lnR>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909335467"/>
                  </a:ext>
                </a:extLst>
              </a:tr>
              <a:tr h="542528">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T w="76200" cap="flat" cmpd="sng" algn="ctr">
                      <a:solidFill>
                        <a:srgbClr val="FF0000"/>
                      </a:solidFill>
                      <a:prstDash val="solid"/>
                      <a:round/>
                      <a:headEnd type="none" w="med" len="med"/>
                      <a:tailEnd type="none" w="med" len="med"/>
                    </a:lnT>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T w="76200" cap="flat" cmpd="sng" algn="ctr">
                      <a:solidFill>
                        <a:srgbClr val="FF0000"/>
                      </a:solidFill>
                      <a:prstDash val="solid"/>
                      <a:round/>
                      <a:headEnd type="none" w="med" len="med"/>
                      <a:tailEnd type="none" w="med" len="med"/>
                    </a:lnT>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T w="76200" cap="flat" cmpd="sng" algn="ctr">
                      <a:solidFill>
                        <a:srgbClr val="FF0000"/>
                      </a:solidFill>
                      <a:prstDash val="solid"/>
                      <a:round/>
                      <a:headEnd type="none" w="med" len="med"/>
                      <a:tailEnd type="none" w="med" len="med"/>
                    </a:lnT>
                  </a:tcPr>
                </a:tc>
                <a:tc>
                  <a:txBody>
                    <a:bodyPr/>
                    <a:lstStyle/>
                    <a:p>
                      <a:pPr algn="ctr">
                        <a:lnSpc>
                          <a:spcPct val="100000"/>
                        </a:lnSpc>
                      </a:pPr>
                      <a:r>
                        <a:rPr lang="zh-TW" altLang="en-US" sz="1800" dirty="0">
                          <a:latin typeface="Times New Roman" panose="02020603050405020304" pitchFamily="18" charset="0"/>
                          <a:cs typeface="Times New Roman" panose="02020603050405020304" pitchFamily="18" charset="0"/>
                        </a:rPr>
                        <a:t>●</a:t>
                      </a: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248359388"/>
                  </a:ext>
                </a:extLst>
              </a:tr>
              <a:tr h="542528">
                <a:tc>
                  <a:txBody>
                    <a:bodyPr/>
                    <a:lstStyle/>
                    <a:p>
                      <a:pPr algn="ctr">
                        <a:lnSpc>
                          <a:spcPct val="100000"/>
                        </a:lnSpc>
                      </a:pPr>
                      <a:r>
                        <a:rPr lang="zh-TW" altLang="en-US" sz="1800" b="0" i="0" kern="1200" dirty="0">
                          <a:solidFill>
                            <a:schemeClr val="tx1"/>
                          </a:solidFill>
                          <a:effectLst/>
                          <a:latin typeface="+mn-lt"/>
                          <a:ea typeface="+mn-ea"/>
                          <a:cs typeface="+mn-cs"/>
                        </a:rPr>
                        <a:t>⋮</a:t>
                      </a:r>
                      <a:endParaRPr lang="en-US" altLang="zh-TW" sz="1800" baseline="-250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147665150"/>
                  </a:ext>
                </a:extLst>
              </a:tr>
              <a:tr h="542528">
                <a:tc>
                  <a:txBody>
                    <a:bodyPr/>
                    <a:lstStyle/>
                    <a:p>
                      <a:pPr algn="ctr">
                        <a:lnSpc>
                          <a:spcPct val="100000"/>
                        </a:lnSpc>
                      </a:pPr>
                      <a:r>
                        <a:rPr lang="en-US" altLang="zh-TW" sz="1800" dirty="0" err="1">
                          <a:latin typeface="Times New Roman" panose="02020603050405020304" pitchFamily="18" charset="0"/>
                          <a:cs typeface="Times New Roman" panose="02020603050405020304" pitchFamily="18" charset="0"/>
                        </a:rPr>
                        <a:t>X</a:t>
                      </a:r>
                      <a:r>
                        <a:rPr lang="en-US" altLang="zh-TW" sz="1800" baseline="-25000" dirty="0" err="1">
                          <a:latin typeface="Times New Roman" panose="02020603050405020304" pitchFamily="18" charset="0"/>
                          <a:cs typeface="Times New Roman" panose="02020603050405020304" pitchFamily="18" charset="0"/>
                        </a:rPr>
                        <a:t>n</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51377310"/>
                  </a:ext>
                </a:extLst>
              </a:tr>
            </a:tbl>
          </a:graphicData>
        </a:graphic>
      </p:graphicFrame>
      <p:sp>
        <p:nvSpPr>
          <p:cNvPr id="10" name="左大括弧 9">
            <a:extLst>
              <a:ext uri="{FF2B5EF4-FFF2-40B4-BE49-F238E27FC236}">
                <a16:creationId xmlns:a16="http://schemas.microsoft.com/office/drawing/2014/main" id="{7E4FCBC9-F125-4415-B9C8-4582A921EED2}"/>
              </a:ext>
            </a:extLst>
          </p:cNvPr>
          <p:cNvSpPr/>
          <p:nvPr/>
        </p:nvSpPr>
        <p:spPr>
          <a:xfrm rot="5400000">
            <a:off x="9167898" y="-186449"/>
            <a:ext cx="281820" cy="1325563"/>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1" name="左大括弧 10">
            <a:extLst>
              <a:ext uri="{FF2B5EF4-FFF2-40B4-BE49-F238E27FC236}">
                <a16:creationId xmlns:a16="http://schemas.microsoft.com/office/drawing/2014/main" id="{E041AA99-8006-4E23-A8F2-7A391FFC24CD}"/>
              </a:ext>
            </a:extLst>
          </p:cNvPr>
          <p:cNvSpPr/>
          <p:nvPr/>
        </p:nvSpPr>
        <p:spPr>
          <a:xfrm>
            <a:off x="5283403" y="3669084"/>
            <a:ext cx="224262" cy="1325563"/>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2D483014-37A7-448F-8454-A7FB09B5A302}"/>
              </a:ext>
            </a:extLst>
          </p:cNvPr>
          <p:cNvSpPr txBox="1"/>
          <p:nvPr/>
        </p:nvSpPr>
        <p:spPr>
          <a:xfrm>
            <a:off x="3651524" y="4070255"/>
            <a:ext cx="1428596" cy="523220"/>
          </a:xfrm>
          <a:prstGeom prst="rect">
            <a:avLst/>
          </a:prstGeom>
          <a:noFill/>
        </p:spPr>
        <p:txBody>
          <a:bodyPr wrap="none" rtlCol="0">
            <a:spAutoFit/>
          </a:bodyPr>
          <a:lstStyle/>
          <a:p>
            <a:r>
              <a:rPr lang="en-US" altLang="zh-TW" sz="2800" dirty="0"/>
              <a:t>G</a:t>
            </a:r>
            <a:r>
              <a:rPr lang="en-US" altLang="zh-TW" sz="2800" baseline="-25000" dirty="0"/>
              <a:t>X</a:t>
            </a:r>
            <a:r>
              <a:rPr lang="en-US" altLang="zh-TW" sz="2800" dirty="0"/>
              <a:t>(</a:t>
            </a:r>
            <a:r>
              <a:rPr lang="en-US" altLang="zh-TW" sz="2800" dirty="0" err="1"/>
              <a:t>i</a:t>
            </a:r>
            <a:r>
              <a:rPr lang="en-US" altLang="zh-TW" sz="2800" dirty="0"/>
              <a:t>)+1 </a:t>
            </a:r>
            <a:endParaRPr lang="zh-TW" altLang="en-US" sz="2800" dirty="0"/>
          </a:p>
        </p:txBody>
      </p:sp>
      <p:sp>
        <p:nvSpPr>
          <p:cNvPr id="13" name="文字方塊 12">
            <a:extLst>
              <a:ext uri="{FF2B5EF4-FFF2-40B4-BE49-F238E27FC236}">
                <a16:creationId xmlns:a16="http://schemas.microsoft.com/office/drawing/2014/main" id="{167BDE73-0CC3-4788-B12B-0182BB43B674}"/>
              </a:ext>
            </a:extLst>
          </p:cNvPr>
          <p:cNvSpPr txBox="1"/>
          <p:nvPr/>
        </p:nvSpPr>
        <p:spPr>
          <a:xfrm>
            <a:off x="8895874" y="-94345"/>
            <a:ext cx="1338828" cy="523220"/>
          </a:xfrm>
          <a:prstGeom prst="rect">
            <a:avLst/>
          </a:prstGeom>
          <a:noFill/>
        </p:spPr>
        <p:txBody>
          <a:bodyPr wrap="none" rtlCol="0">
            <a:spAutoFit/>
          </a:bodyPr>
          <a:lstStyle/>
          <a:p>
            <a:r>
              <a:rPr lang="en-US" altLang="zh-TW" sz="2800" dirty="0"/>
              <a:t>G</a:t>
            </a:r>
            <a:r>
              <a:rPr lang="en-US" altLang="zh-TW" sz="2800" baseline="-25000" dirty="0"/>
              <a:t>Y</a:t>
            </a:r>
            <a:r>
              <a:rPr lang="en-US" altLang="zh-TW" sz="2800" dirty="0"/>
              <a:t>(j)+1</a:t>
            </a:r>
            <a:endParaRPr lang="zh-TW" altLang="en-US" sz="2800" dirty="0"/>
          </a:p>
        </p:txBody>
      </p:sp>
    </p:spTree>
    <p:extLst>
      <p:ext uri="{BB962C8B-B14F-4D97-AF65-F5344CB8AC3E}">
        <p14:creationId xmlns:p14="http://schemas.microsoft.com/office/powerpoint/2010/main" val="2297961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E2A29F-3446-4619-9D59-40D592A291E3}"/>
              </a:ext>
            </a:extLst>
          </p:cNvPr>
          <p:cNvSpPr>
            <a:spLocks noGrp="1"/>
          </p:cNvSpPr>
          <p:nvPr>
            <p:ph type="title"/>
          </p:nvPr>
        </p:nvSpPr>
        <p:spPr/>
        <p:txBody>
          <a:bodyPr>
            <a:normAutofit/>
          </a:bodyPr>
          <a:lstStyle/>
          <a:p>
            <a:r>
              <a:rPr lang="en-US" altLang="zh-TW" dirty="0"/>
              <a:t>ISMQ (Incremental Suﬃx Maximum Query)</a:t>
            </a:r>
            <a:br>
              <a:rPr lang="en-US" altLang="zh-TW" dirty="0"/>
            </a:br>
            <a:endParaRPr lang="zh-TW" altLang="en-US" dirty="0"/>
          </a:p>
        </p:txBody>
      </p:sp>
      <p:sp>
        <p:nvSpPr>
          <p:cNvPr id="3" name="內容版面配置區 2">
            <a:extLst>
              <a:ext uri="{FF2B5EF4-FFF2-40B4-BE49-F238E27FC236}">
                <a16:creationId xmlns:a16="http://schemas.microsoft.com/office/drawing/2014/main" id="{A6C6133E-BBAF-4243-BE2B-1A0BEB74E027}"/>
              </a:ext>
            </a:extLst>
          </p:cNvPr>
          <p:cNvSpPr>
            <a:spLocks noGrp="1"/>
          </p:cNvSpPr>
          <p:nvPr>
            <p:ph idx="1"/>
          </p:nvPr>
        </p:nvSpPr>
        <p:spPr>
          <a:xfrm>
            <a:off x="838200" y="1690688"/>
            <a:ext cx="10515600" cy="4486275"/>
          </a:xfrm>
        </p:spPr>
        <p:txBody>
          <a:bodyPr>
            <a:normAutofit lnSpcReduction="10000"/>
          </a:bodyPr>
          <a:lstStyle/>
          <a:p>
            <a:r>
              <a:rPr lang="en-US" altLang="zh-TW" sz="3200" dirty="0"/>
              <a:t>D =      </a:t>
            </a:r>
            <a:r>
              <a:rPr lang="en-US" altLang="zh-TW" sz="3200" baseline="-25000" dirty="0"/>
              <a:t> </a:t>
            </a:r>
            <a:r>
              <a:rPr lang="en-US" altLang="zh-TW" sz="3200" dirty="0"/>
              <a:t>  10, 3, 7, 2</a:t>
            </a:r>
          </a:p>
          <a:p>
            <a:r>
              <a:rPr lang="en-US" altLang="zh-TW" sz="3200" dirty="0"/>
              <a:t>SMQ</a:t>
            </a:r>
            <a:r>
              <a:rPr lang="en-US" altLang="zh-TW" sz="3200" baseline="-25000" dirty="0"/>
              <a:t>D</a:t>
            </a:r>
            <a:r>
              <a:rPr lang="en-US" altLang="zh-TW" sz="3200" dirty="0"/>
              <a:t> = 10, 7, 7, 2</a:t>
            </a:r>
          </a:p>
          <a:p>
            <a:endParaRPr lang="en-US" altLang="zh-TW" sz="3200" dirty="0"/>
          </a:p>
          <a:p>
            <a:r>
              <a:rPr lang="en-US" altLang="zh-TW" sz="3200" dirty="0"/>
              <a:t>D =     </a:t>
            </a:r>
            <a:r>
              <a:rPr lang="en-US" altLang="zh-TW" sz="3200" baseline="-25000" dirty="0"/>
              <a:t> </a:t>
            </a:r>
            <a:r>
              <a:rPr lang="en-US" altLang="zh-TW" sz="3200" dirty="0"/>
              <a:t>   10, 3, 7, 2, </a:t>
            </a:r>
            <a:r>
              <a:rPr lang="en-US" altLang="zh-TW" sz="3200" dirty="0">
                <a:solidFill>
                  <a:srgbClr val="FF0000"/>
                </a:solidFill>
              </a:rPr>
              <a:t>5</a:t>
            </a:r>
          </a:p>
          <a:p>
            <a:r>
              <a:rPr lang="en-US" altLang="zh-TW" sz="3200" dirty="0"/>
              <a:t>SMQ</a:t>
            </a:r>
            <a:r>
              <a:rPr lang="en-US" altLang="zh-TW" sz="3200" baseline="-25000" dirty="0"/>
              <a:t>D</a:t>
            </a:r>
            <a:r>
              <a:rPr lang="en-US" altLang="zh-TW" sz="3200" dirty="0"/>
              <a:t> = 10, 7, 7, </a:t>
            </a:r>
            <a:r>
              <a:rPr lang="en-US" altLang="zh-TW" sz="3200" dirty="0">
                <a:solidFill>
                  <a:srgbClr val="FF0000"/>
                </a:solidFill>
              </a:rPr>
              <a:t>5</a:t>
            </a:r>
            <a:r>
              <a:rPr lang="en-US" altLang="zh-TW" sz="3200" dirty="0"/>
              <a:t>,</a:t>
            </a:r>
            <a:r>
              <a:rPr lang="en-US" altLang="zh-TW" sz="3200" dirty="0">
                <a:solidFill>
                  <a:srgbClr val="FF0000"/>
                </a:solidFill>
              </a:rPr>
              <a:t> 5</a:t>
            </a:r>
          </a:p>
          <a:p>
            <a:endParaRPr lang="en-US" altLang="zh-TW" sz="3200" dirty="0"/>
          </a:p>
          <a:p>
            <a:r>
              <a:rPr lang="en-US" altLang="zh-TW" sz="3200" dirty="0"/>
              <a:t>D =       </a:t>
            </a:r>
            <a:r>
              <a:rPr lang="en-US" altLang="zh-TW" sz="3200" baseline="-25000" dirty="0"/>
              <a:t> </a:t>
            </a:r>
            <a:r>
              <a:rPr lang="en-US" altLang="zh-TW" sz="3200" dirty="0"/>
              <a:t> 10, 3, 7, 2, 5, </a:t>
            </a:r>
            <a:r>
              <a:rPr lang="en-US" altLang="zh-TW" sz="3200" dirty="0">
                <a:solidFill>
                  <a:srgbClr val="FF0000"/>
                </a:solidFill>
              </a:rPr>
              <a:t>8</a:t>
            </a:r>
          </a:p>
          <a:p>
            <a:r>
              <a:rPr lang="en-US" altLang="zh-TW" sz="3200" dirty="0"/>
              <a:t>SMQ</a:t>
            </a:r>
            <a:r>
              <a:rPr lang="en-US" altLang="zh-TW" sz="3200" baseline="-25000" dirty="0"/>
              <a:t>D</a:t>
            </a:r>
            <a:r>
              <a:rPr lang="en-US" altLang="zh-TW" sz="3200" dirty="0"/>
              <a:t> = 10, </a:t>
            </a:r>
            <a:r>
              <a:rPr lang="en-US" altLang="zh-TW" sz="3200" dirty="0">
                <a:solidFill>
                  <a:srgbClr val="FF0000"/>
                </a:solidFill>
              </a:rPr>
              <a:t>8</a:t>
            </a:r>
            <a:r>
              <a:rPr lang="en-US" altLang="zh-TW" sz="3200" dirty="0"/>
              <a:t>,</a:t>
            </a:r>
            <a:r>
              <a:rPr lang="en-US" altLang="zh-TW" sz="3200" dirty="0">
                <a:solidFill>
                  <a:srgbClr val="FF0000"/>
                </a:solidFill>
              </a:rPr>
              <a:t> 8</a:t>
            </a:r>
            <a:r>
              <a:rPr lang="en-US" altLang="zh-TW" sz="3200" dirty="0"/>
              <a:t>,</a:t>
            </a:r>
            <a:r>
              <a:rPr lang="en-US" altLang="zh-TW" sz="3200" dirty="0">
                <a:solidFill>
                  <a:srgbClr val="FF0000"/>
                </a:solidFill>
              </a:rPr>
              <a:t> 8</a:t>
            </a:r>
            <a:r>
              <a:rPr lang="en-US" altLang="zh-TW" sz="3200" dirty="0"/>
              <a:t>,</a:t>
            </a:r>
            <a:r>
              <a:rPr lang="en-US" altLang="zh-TW" sz="3200" dirty="0">
                <a:solidFill>
                  <a:srgbClr val="FF0000"/>
                </a:solidFill>
              </a:rPr>
              <a:t> 8</a:t>
            </a:r>
            <a:r>
              <a:rPr lang="en-US" altLang="zh-TW" sz="3200" dirty="0"/>
              <a:t>,</a:t>
            </a:r>
            <a:r>
              <a:rPr lang="en-US" altLang="zh-TW" sz="3200" dirty="0">
                <a:solidFill>
                  <a:srgbClr val="FF0000"/>
                </a:solidFill>
              </a:rPr>
              <a:t> 8</a:t>
            </a:r>
          </a:p>
        </p:txBody>
      </p:sp>
    </p:spTree>
    <p:extLst>
      <p:ext uri="{BB962C8B-B14F-4D97-AF65-F5344CB8AC3E}">
        <p14:creationId xmlns:p14="http://schemas.microsoft.com/office/powerpoint/2010/main" val="4131425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282700"/>
            <a:ext cx="10515600" cy="4351338"/>
          </a:xfrm>
        </p:spPr>
        <p:txBody>
          <a:bodyPr>
            <a:normAutofit/>
          </a:bodyPr>
          <a:lstStyle/>
          <a:p>
            <a:r>
              <a:rPr lang="en-US" altLang="zh-TW" dirty="0">
                <a:solidFill>
                  <a:srgbClr val="FF0000"/>
                </a:solidFill>
              </a:rPr>
              <a:t>Step.1 </a:t>
            </a:r>
            <a:r>
              <a:rPr lang="zh-TW" altLang="en-US" dirty="0">
                <a:solidFill>
                  <a:srgbClr val="FF0000"/>
                </a:solidFill>
              </a:rPr>
              <a:t>更新這行的 </a:t>
            </a:r>
            <a:r>
              <a:rPr lang="en-US" altLang="zh-TW" dirty="0">
                <a:solidFill>
                  <a:srgbClr val="FF0000"/>
                </a:solidFill>
              </a:rPr>
              <a:t>ISMQ </a:t>
            </a:r>
            <a:r>
              <a:rPr lang="zh-TW" altLang="en-US" dirty="0">
                <a:solidFill>
                  <a:srgbClr val="FF0000"/>
                </a:solidFill>
              </a:rPr>
              <a:t>序列</a:t>
            </a:r>
            <a:endParaRPr lang="en-US" altLang="zh-TW" dirty="0">
              <a:solidFill>
                <a:srgbClr val="FF0000"/>
              </a:solidFill>
            </a:endParaRPr>
          </a:p>
          <a:p>
            <a:r>
              <a:rPr lang="en-US" altLang="zh-TW" dirty="0"/>
              <a:t>Step.2 </a:t>
            </a:r>
            <a:r>
              <a:rPr lang="zh-TW" altLang="en-US" dirty="0"/>
              <a:t>更新前一列的 </a:t>
            </a:r>
            <a:r>
              <a:rPr lang="en-US" altLang="zh-TW" dirty="0"/>
              <a:t>ISMQ </a:t>
            </a:r>
            <a:r>
              <a:rPr lang="zh-TW" altLang="en-US" dirty="0"/>
              <a:t>序列</a:t>
            </a:r>
            <a:endParaRPr lang="en-US" altLang="zh-TW" dirty="0"/>
          </a:p>
          <a:p>
            <a:r>
              <a:rPr lang="en-US" altLang="zh-TW" dirty="0"/>
              <a:t>Step.3 </a:t>
            </a:r>
            <a:r>
              <a:rPr lang="zh-TW" altLang="en-US" dirty="0"/>
              <a:t>如果 </a:t>
            </a:r>
            <a:r>
              <a:rPr lang="en-US" altLang="zh-TW" dirty="0"/>
              <a:t>match</a:t>
            </a:r>
            <a:r>
              <a:rPr lang="zh-TW" altLang="en-US" dirty="0"/>
              <a:t>，設為這列的</a:t>
            </a:r>
            <a:r>
              <a:rPr lang="en-US" altLang="zh-TW" dirty="0"/>
              <a:t>ISMQ </a:t>
            </a:r>
            <a:r>
              <a:rPr lang="zh-TW" altLang="en-US" dirty="0"/>
              <a:t>找到之最大值 </a:t>
            </a:r>
            <a:r>
              <a:rPr lang="en-US" altLang="zh-TW" dirty="0"/>
              <a:t>+</a:t>
            </a:r>
            <a:r>
              <a:rPr lang="zh-TW" altLang="en-US" dirty="0"/>
              <a:t> </a:t>
            </a:r>
            <a:r>
              <a:rPr lang="en-US" altLang="zh-TW" dirty="0"/>
              <a:t>1</a:t>
            </a:r>
          </a:p>
          <a:p>
            <a:pPr marL="0" indent="0">
              <a:buNone/>
            </a:pPr>
            <a:endParaRPr lang="zh-TW" altLang="en-US" dirty="0"/>
          </a:p>
        </p:txBody>
      </p:sp>
      <p:sp>
        <p:nvSpPr>
          <p:cNvPr id="2" name="標題 1"/>
          <p:cNvSpPr>
            <a:spLocks noGrp="1"/>
          </p:cNvSpPr>
          <p:nvPr>
            <p:ph type="title"/>
          </p:nvPr>
        </p:nvSpPr>
        <p:spPr>
          <a:xfrm>
            <a:off x="880241" y="3175"/>
            <a:ext cx="10515600" cy="1325563"/>
          </a:xfrm>
        </p:spPr>
        <p:txBody>
          <a:bodyPr/>
          <a:lstStyle/>
          <a:p>
            <a:r>
              <a:rPr lang="en-US" altLang="zh-TW" dirty="0"/>
              <a:t>VGLCS</a:t>
            </a:r>
          </a:p>
        </p:txBody>
      </p:sp>
      <p:graphicFrame>
        <p:nvGraphicFramePr>
          <p:cNvPr id="6" name="內容版面配置區 3">
            <a:extLst>
              <a:ext uri="{FF2B5EF4-FFF2-40B4-BE49-F238E27FC236}">
                <a16:creationId xmlns:a16="http://schemas.microsoft.com/office/drawing/2014/main" id="{AC9C7744-69CE-4A4A-9CE6-CE661B8CFF0E}"/>
              </a:ext>
            </a:extLst>
          </p:cNvPr>
          <p:cNvGraphicFramePr>
            <a:graphicFrameLocks/>
          </p:cNvGraphicFramePr>
          <p:nvPr>
            <p:extLst>
              <p:ext uri="{D42A27DB-BD31-4B8C-83A1-F6EECF244321}">
                <p14:modId xmlns:p14="http://schemas.microsoft.com/office/powerpoint/2010/main" val="1642963814"/>
              </p:ext>
            </p:extLst>
          </p:nvPr>
        </p:nvGraphicFramePr>
        <p:xfrm>
          <a:off x="5802153" y="2852351"/>
          <a:ext cx="6068747" cy="3892821"/>
        </p:xfrm>
        <a:graphic>
          <a:graphicData uri="http://schemas.openxmlformats.org/drawingml/2006/table">
            <a:tbl>
              <a:tblPr firstRow="1" bandRow="1">
                <a:noFill/>
                <a:tableStyleId>{5940675A-B579-460E-94D1-54222C63F5DA}</a:tableStyleId>
              </a:tblPr>
              <a:tblGrid>
                <a:gridCol w="644773">
                  <a:extLst>
                    <a:ext uri="{9D8B030D-6E8A-4147-A177-3AD203B41FA5}">
                      <a16:colId xmlns:a16="http://schemas.microsoft.com/office/drawing/2014/main" val="3630319676"/>
                    </a:ext>
                  </a:extLst>
                </a:gridCol>
                <a:gridCol w="458632">
                  <a:extLst>
                    <a:ext uri="{9D8B030D-6E8A-4147-A177-3AD203B41FA5}">
                      <a16:colId xmlns:a16="http://schemas.microsoft.com/office/drawing/2014/main" val="2449943958"/>
                    </a:ext>
                  </a:extLst>
                </a:gridCol>
                <a:gridCol w="551705">
                  <a:extLst>
                    <a:ext uri="{9D8B030D-6E8A-4147-A177-3AD203B41FA5}">
                      <a16:colId xmlns:a16="http://schemas.microsoft.com/office/drawing/2014/main" val="3241406068"/>
                    </a:ext>
                  </a:extLst>
                </a:gridCol>
                <a:gridCol w="551705">
                  <a:extLst>
                    <a:ext uri="{9D8B030D-6E8A-4147-A177-3AD203B41FA5}">
                      <a16:colId xmlns:a16="http://schemas.microsoft.com/office/drawing/2014/main" val="1541813034"/>
                    </a:ext>
                  </a:extLst>
                </a:gridCol>
                <a:gridCol w="551705">
                  <a:extLst>
                    <a:ext uri="{9D8B030D-6E8A-4147-A177-3AD203B41FA5}">
                      <a16:colId xmlns:a16="http://schemas.microsoft.com/office/drawing/2014/main" val="439975108"/>
                    </a:ext>
                  </a:extLst>
                </a:gridCol>
                <a:gridCol w="642687">
                  <a:extLst>
                    <a:ext uri="{9D8B030D-6E8A-4147-A177-3AD203B41FA5}">
                      <a16:colId xmlns:a16="http://schemas.microsoft.com/office/drawing/2014/main" val="4266199047"/>
                    </a:ext>
                  </a:extLst>
                </a:gridCol>
                <a:gridCol w="460720">
                  <a:extLst>
                    <a:ext uri="{9D8B030D-6E8A-4147-A177-3AD203B41FA5}">
                      <a16:colId xmlns:a16="http://schemas.microsoft.com/office/drawing/2014/main" val="700621554"/>
                    </a:ext>
                  </a:extLst>
                </a:gridCol>
                <a:gridCol w="551705">
                  <a:extLst>
                    <a:ext uri="{9D8B030D-6E8A-4147-A177-3AD203B41FA5}">
                      <a16:colId xmlns:a16="http://schemas.microsoft.com/office/drawing/2014/main" val="1149588615"/>
                    </a:ext>
                  </a:extLst>
                </a:gridCol>
                <a:gridCol w="551705">
                  <a:extLst>
                    <a:ext uri="{9D8B030D-6E8A-4147-A177-3AD203B41FA5}">
                      <a16:colId xmlns:a16="http://schemas.microsoft.com/office/drawing/2014/main" val="2273608623"/>
                    </a:ext>
                  </a:extLst>
                </a:gridCol>
                <a:gridCol w="551705">
                  <a:extLst>
                    <a:ext uri="{9D8B030D-6E8A-4147-A177-3AD203B41FA5}">
                      <a16:colId xmlns:a16="http://schemas.microsoft.com/office/drawing/2014/main" val="1983320277"/>
                    </a:ext>
                  </a:extLst>
                </a:gridCol>
                <a:gridCol w="551705">
                  <a:extLst>
                    <a:ext uri="{9D8B030D-6E8A-4147-A177-3AD203B41FA5}">
                      <a16:colId xmlns:a16="http://schemas.microsoft.com/office/drawing/2014/main" val="3029482529"/>
                    </a:ext>
                  </a:extLst>
                </a:gridCol>
              </a:tblGrid>
              <a:tr h="410581">
                <a:tc>
                  <a:txBody>
                    <a:bodyPr/>
                    <a:lstStyle/>
                    <a:p>
                      <a:pPr algn="ctr">
                        <a:lnSpc>
                          <a:spcPct val="100000"/>
                        </a:lnSpc>
                      </a:pPr>
                      <a:endParaRPr lang="en-US" altLang="zh-TW" sz="1600" dirty="0">
                        <a:latin typeface="Times New Roman" panose="02020603050405020304" pitchFamily="18" charset="0"/>
                        <a:cs typeface="Times New Roman" panose="02020603050405020304" pitchFamily="18" charset="0"/>
                      </a:endParaRPr>
                    </a:p>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1</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j-1-K</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j</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90454840"/>
                  </a:ext>
                </a:extLst>
              </a:tr>
              <a:tr h="234221">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accent1">
                          <a:lumMod val="75000"/>
                        </a:schemeClr>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accent1">
                          <a:lumMod val="75000"/>
                        </a:schemeClr>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662905682"/>
                  </a:ext>
                </a:extLst>
              </a:tr>
              <a:tr h="234221">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chemeClr val="accent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chemeClr val="accent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735210"/>
                  </a:ext>
                </a:extLst>
              </a:tr>
              <a:tr h="2342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045357"/>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6059960"/>
                  </a:ext>
                </a:extLst>
              </a:tr>
              <a:tr h="410581">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i-1-K</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435379"/>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222648316"/>
                  </a:ext>
                </a:extLst>
              </a:tr>
              <a:tr h="319420">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9335467"/>
                  </a:ext>
                </a:extLst>
              </a:tr>
              <a:tr h="234221">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solidFill>
                          <a:schemeClr val="tx1"/>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solidFill>
                            <a:schemeClr val="tx1"/>
                          </a:solidFill>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359388"/>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en-US" altLang="zh-TW" sz="1600" baseline="-250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665150"/>
                  </a:ext>
                </a:extLst>
              </a:tr>
              <a:tr h="234221">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X</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377310"/>
                  </a:ext>
                </a:extLst>
              </a:tr>
            </a:tbl>
          </a:graphicData>
        </a:graphic>
      </p:graphicFrame>
      <p:cxnSp>
        <p:nvCxnSpPr>
          <p:cNvPr id="18" name="直線單箭頭接點 17">
            <a:extLst>
              <a:ext uri="{FF2B5EF4-FFF2-40B4-BE49-F238E27FC236}">
                <a16:creationId xmlns:a16="http://schemas.microsoft.com/office/drawing/2014/main" id="{4CEBC9DE-1B05-16B9-15FA-BDEBD33BC4F4}"/>
              </a:ext>
            </a:extLst>
          </p:cNvPr>
          <p:cNvCxnSpPr>
            <a:cxnSpLocks/>
          </p:cNvCxnSpPr>
          <p:nvPr/>
        </p:nvCxnSpPr>
        <p:spPr>
          <a:xfrm>
            <a:off x="10487025" y="5224463"/>
            <a:ext cx="0" cy="4286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左大括弧 19">
            <a:extLst>
              <a:ext uri="{FF2B5EF4-FFF2-40B4-BE49-F238E27FC236}">
                <a16:creationId xmlns:a16="http://schemas.microsoft.com/office/drawing/2014/main" id="{665A39FE-9F11-92C0-A326-FD99F530AA9B}"/>
              </a:ext>
            </a:extLst>
          </p:cNvPr>
          <p:cNvSpPr/>
          <p:nvPr/>
        </p:nvSpPr>
        <p:spPr>
          <a:xfrm>
            <a:off x="5555694" y="4981203"/>
            <a:ext cx="140256" cy="652835"/>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1" name="左大括弧 20">
            <a:extLst>
              <a:ext uri="{FF2B5EF4-FFF2-40B4-BE49-F238E27FC236}">
                <a16:creationId xmlns:a16="http://schemas.microsoft.com/office/drawing/2014/main" id="{19A7BE2F-0AF7-2EFD-A787-4B56A76DD215}"/>
              </a:ext>
            </a:extLst>
          </p:cNvPr>
          <p:cNvSpPr/>
          <p:nvPr/>
        </p:nvSpPr>
        <p:spPr>
          <a:xfrm rot="5400000">
            <a:off x="9245252" y="2153505"/>
            <a:ext cx="147250" cy="1250446"/>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2965347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282700"/>
            <a:ext cx="10515600" cy="4351338"/>
          </a:xfrm>
        </p:spPr>
        <p:txBody>
          <a:bodyPr>
            <a:normAutofit/>
          </a:bodyPr>
          <a:lstStyle/>
          <a:p>
            <a:r>
              <a:rPr lang="en-US" altLang="zh-TW" dirty="0"/>
              <a:t>Step.1 </a:t>
            </a:r>
            <a:r>
              <a:rPr lang="zh-TW" altLang="en-US" dirty="0"/>
              <a:t>更新這行的 </a:t>
            </a:r>
            <a:r>
              <a:rPr lang="en-US" altLang="zh-TW" dirty="0"/>
              <a:t>ISMQ </a:t>
            </a:r>
            <a:r>
              <a:rPr lang="zh-TW" altLang="en-US" dirty="0"/>
              <a:t>序列</a:t>
            </a:r>
            <a:endParaRPr lang="en-US" altLang="zh-TW" dirty="0"/>
          </a:p>
          <a:p>
            <a:r>
              <a:rPr lang="en-US" altLang="zh-TW" dirty="0">
                <a:solidFill>
                  <a:srgbClr val="FF0000"/>
                </a:solidFill>
              </a:rPr>
              <a:t>Step.2 </a:t>
            </a:r>
            <a:r>
              <a:rPr lang="zh-TW" altLang="en-US" dirty="0">
                <a:solidFill>
                  <a:srgbClr val="FF0000"/>
                </a:solidFill>
              </a:rPr>
              <a:t>更新前一列的 </a:t>
            </a:r>
            <a:r>
              <a:rPr lang="en-US" altLang="zh-TW" dirty="0">
                <a:solidFill>
                  <a:srgbClr val="FF0000"/>
                </a:solidFill>
              </a:rPr>
              <a:t>ISMQ </a:t>
            </a:r>
            <a:r>
              <a:rPr lang="zh-TW" altLang="en-US" dirty="0">
                <a:solidFill>
                  <a:srgbClr val="FF0000"/>
                </a:solidFill>
              </a:rPr>
              <a:t>序列</a:t>
            </a:r>
            <a:endParaRPr lang="en-US" altLang="zh-TW" dirty="0">
              <a:solidFill>
                <a:srgbClr val="FF0000"/>
              </a:solidFill>
            </a:endParaRPr>
          </a:p>
          <a:p>
            <a:r>
              <a:rPr lang="en-US" altLang="zh-TW" dirty="0"/>
              <a:t>Step.3 </a:t>
            </a:r>
            <a:r>
              <a:rPr lang="zh-TW" altLang="en-US" dirty="0"/>
              <a:t>如果 </a:t>
            </a:r>
            <a:r>
              <a:rPr lang="en-US" altLang="zh-TW" dirty="0"/>
              <a:t>match</a:t>
            </a:r>
            <a:r>
              <a:rPr lang="zh-TW" altLang="en-US" dirty="0"/>
              <a:t>，設為這列的</a:t>
            </a:r>
            <a:r>
              <a:rPr lang="en-US" altLang="zh-TW" dirty="0"/>
              <a:t>ISMQ </a:t>
            </a:r>
            <a:r>
              <a:rPr lang="zh-TW" altLang="en-US" dirty="0"/>
              <a:t>找到之最大值 </a:t>
            </a:r>
            <a:r>
              <a:rPr lang="en-US" altLang="zh-TW" dirty="0"/>
              <a:t>+</a:t>
            </a:r>
            <a:r>
              <a:rPr lang="zh-TW" altLang="en-US" dirty="0"/>
              <a:t> </a:t>
            </a:r>
            <a:r>
              <a:rPr lang="en-US" altLang="zh-TW" dirty="0"/>
              <a:t>1</a:t>
            </a:r>
          </a:p>
          <a:p>
            <a:pPr marL="0" indent="0">
              <a:buNone/>
            </a:pPr>
            <a:endParaRPr lang="zh-TW" altLang="en-US" dirty="0"/>
          </a:p>
        </p:txBody>
      </p:sp>
      <p:sp>
        <p:nvSpPr>
          <p:cNvPr id="2" name="標題 1"/>
          <p:cNvSpPr>
            <a:spLocks noGrp="1"/>
          </p:cNvSpPr>
          <p:nvPr>
            <p:ph type="title"/>
          </p:nvPr>
        </p:nvSpPr>
        <p:spPr>
          <a:xfrm>
            <a:off x="880241" y="3175"/>
            <a:ext cx="10515600" cy="1325563"/>
          </a:xfrm>
        </p:spPr>
        <p:txBody>
          <a:bodyPr/>
          <a:lstStyle/>
          <a:p>
            <a:r>
              <a:rPr lang="en-US" altLang="zh-TW" dirty="0"/>
              <a:t>VGLCS</a:t>
            </a:r>
          </a:p>
        </p:txBody>
      </p:sp>
      <p:graphicFrame>
        <p:nvGraphicFramePr>
          <p:cNvPr id="6" name="內容版面配置區 3">
            <a:extLst>
              <a:ext uri="{FF2B5EF4-FFF2-40B4-BE49-F238E27FC236}">
                <a16:creationId xmlns:a16="http://schemas.microsoft.com/office/drawing/2014/main" id="{AC9C7744-69CE-4A4A-9CE6-CE661B8CFF0E}"/>
              </a:ext>
            </a:extLst>
          </p:cNvPr>
          <p:cNvGraphicFramePr>
            <a:graphicFrameLocks/>
          </p:cNvGraphicFramePr>
          <p:nvPr>
            <p:extLst>
              <p:ext uri="{D42A27DB-BD31-4B8C-83A1-F6EECF244321}">
                <p14:modId xmlns:p14="http://schemas.microsoft.com/office/powerpoint/2010/main" val="3849562927"/>
              </p:ext>
            </p:extLst>
          </p:nvPr>
        </p:nvGraphicFramePr>
        <p:xfrm>
          <a:off x="5802153" y="2852351"/>
          <a:ext cx="6068747" cy="3892821"/>
        </p:xfrm>
        <a:graphic>
          <a:graphicData uri="http://schemas.openxmlformats.org/drawingml/2006/table">
            <a:tbl>
              <a:tblPr firstRow="1" bandRow="1">
                <a:noFill/>
                <a:tableStyleId>{5940675A-B579-460E-94D1-54222C63F5DA}</a:tableStyleId>
              </a:tblPr>
              <a:tblGrid>
                <a:gridCol w="644773">
                  <a:extLst>
                    <a:ext uri="{9D8B030D-6E8A-4147-A177-3AD203B41FA5}">
                      <a16:colId xmlns:a16="http://schemas.microsoft.com/office/drawing/2014/main" val="3630319676"/>
                    </a:ext>
                  </a:extLst>
                </a:gridCol>
                <a:gridCol w="458632">
                  <a:extLst>
                    <a:ext uri="{9D8B030D-6E8A-4147-A177-3AD203B41FA5}">
                      <a16:colId xmlns:a16="http://schemas.microsoft.com/office/drawing/2014/main" val="2449943958"/>
                    </a:ext>
                  </a:extLst>
                </a:gridCol>
                <a:gridCol w="551705">
                  <a:extLst>
                    <a:ext uri="{9D8B030D-6E8A-4147-A177-3AD203B41FA5}">
                      <a16:colId xmlns:a16="http://schemas.microsoft.com/office/drawing/2014/main" val="3241406068"/>
                    </a:ext>
                  </a:extLst>
                </a:gridCol>
                <a:gridCol w="551705">
                  <a:extLst>
                    <a:ext uri="{9D8B030D-6E8A-4147-A177-3AD203B41FA5}">
                      <a16:colId xmlns:a16="http://schemas.microsoft.com/office/drawing/2014/main" val="1541813034"/>
                    </a:ext>
                  </a:extLst>
                </a:gridCol>
                <a:gridCol w="551705">
                  <a:extLst>
                    <a:ext uri="{9D8B030D-6E8A-4147-A177-3AD203B41FA5}">
                      <a16:colId xmlns:a16="http://schemas.microsoft.com/office/drawing/2014/main" val="439975108"/>
                    </a:ext>
                  </a:extLst>
                </a:gridCol>
                <a:gridCol w="621427">
                  <a:extLst>
                    <a:ext uri="{9D8B030D-6E8A-4147-A177-3AD203B41FA5}">
                      <a16:colId xmlns:a16="http://schemas.microsoft.com/office/drawing/2014/main" val="4266199047"/>
                    </a:ext>
                  </a:extLst>
                </a:gridCol>
                <a:gridCol w="481980">
                  <a:extLst>
                    <a:ext uri="{9D8B030D-6E8A-4147-A177-3AD203B41FA5}">
                      <a16:colId xmlns:a16="http://schemas.microsoft.com/office/drawing/2014/main" val="700621554"/>
                    </a:ext>
                  </a:extLst>
                </a:gridCol>
                <a:gridCol w="551705">
                  <a:extLst>
                    <a:ext uri="{9D8B030D-6E8A-4147-A177-3AD203B41FA5}">
                      <a16:colId xmlns:a16="http://schemas.microsoft.com/office/drawing/2014/main" val="1149588615"/>
                    </a:ext>
                  </a:extLst>
                </a:gridCol>
                <a:gridCol w="551705">
                  <a:extLst>
                    <a:ext uri="{9D8B030D-6E8A-4147-A177-3AD203B41FA5}">
                      <a16:colId xmlns:a16="http://schemas.microsoft.com/office/drawing/2014/main" val="2273608623"/>
                    </a:ext>
                  </a:extLst>
                </a:gridCol>
                <a:gridCol w="551705">
                  <a:extLst>
                    <a:ext uri="{9D8B030D-6E8A-4147-A177-3AD203B41FA5}">
                      <a16:colId xmlns:a16="http://schemas.microsoft.com/office/drawing/2014/main" val="1983320277"/>
                    </a:ext>
                  </a:extLst>
                </a:gridCol>
                <a:gridCol w="551705">
                  <a:extLst>
                    <a:ext uri="{9D8B030D-6E8A-4147-A177-3AD203B41FA5}">
                      <a16:colId xmlns:a16="http://schemas.microsoft.com/office/drawing/2014/main" val="3029482529"/>
                    </a:ext>
                  </a:extLst>
                </a:gridCol>
              </a:tblGrid>
              <a:tr h="410581">
                <a:tc>
                  <a:txBody>
                    <a:bodyPr/>
                    <a:lstStyle/>
                    <a:p>
                      <a:pPr algn="ctr">
                        <a:lnSpc>
                          <a:spcPct val="100000"/>
                        </a:lnSpc>
                      </a:pPr>
                      <a:endParaRPr lang="en-US" altLang="zh-TW" sz="1600" dirty="0">
                        <a:latin typeface="Times New Roman" panose="02020603050405020304" pitchFamily="18" charset="0"/>
                        <a:cs typeface="Times New Roman" panose="02020603050405020304" pitchFamily="18" charset="0"/>
                      </a:endParaRPr>
                    </a:p>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1</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j-1-K</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j</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90454840"/>
                  </a:ext>
                </a:extLst>
              </a:tr>
              <a:tr h="234221">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accent1">
                          <a:lumMod val="75000"/>
                        </a:schemeClr>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accent1">
                          <a:lumMod val="75000"/>
                        </a:schemeClr>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662905682"/>
                  </a:ext>
                </a:extLst>
              </a:tr>
              <a:tr h="234221">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chemeClr val="accent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chemeClr val="accent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735210"/>
                  </a:ext>
                </a:extLst>
              </a:tr>
              <a:tr h="2342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045357"/>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6059960"/>
                  </a:ext>
                </a:extLst>
              </a:tr>
              <a:tr h="410581">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i-1-K</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435379"/>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222648316"/>
                  </a:ext>
                </a:extLst>
              </a:tr>
              <a:tr h="319420">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7030A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7030A0"/>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9335467"/>
                  </a:ext>
                </a:extLst>
              </a:tr>
              <a:tr h="234221">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solidFill>
                          <a:schemeClr val="tx1"/>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solidFill>
                            <a:schemeClr val="tx1"/>
                          </a:solidFill>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359388"/>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en-US" altLang="zh-TW" sz="1600" baseline="-250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665150"/>
                  </a:ext>
                </a:extLst>
              </a:tr>
              <a:tr h="234221">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X</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377310"/>
                  </a:ext>
                </a:extLst>
              </a:tr>
            </a:tbl>
          </a:graphicData>
        </a:graphic>
      </p:graphicFrame>
      <p:cxnSp>
        <p:nvCxnSpPr>
          <p:cNvPr id="18" name="直線單箭頭接點 17">
            <a:extLst>
              <a:ext uri="{FF2B5EF4-FFF2-40B4-BE49-F238E27FC236}">
                <a16:creationId xmlns:a16="http://schemas.microsoft.com/office/drawing/2014/main" id="{4CEBC9DE-1B05-16B9-15FA-BDEBD33BC4F4}"/>
              </a:ext>
            </a:extLst>
          </p:cNvPr>
          <p:cNvCxnSpPr>
            <a:cxnSpLocks/>
          </p:cNvCxnSpPr>
          <p:nvPr/>
        </p:nvCxnSpPr>
        <p:spPr>
          <a:xfrm>
            <a:off x="9458325" y="5614616"/>
            <a:ext cx="47625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左大括弧 19">
            <a:extLst>
              <a:ext uri="{FF2B5EF4-FFF2-40B4-BE49-F238E27FC236}">
                <a16:creationId xmlns:a16="http://schemas.microsoft.com/office/drawing/2014/main" id="{665A39FE-9F11-92C0-A326-FD99F530AA9B}"/>
              </a:ext>
            </a:extLst>
          </p:cNvPr>
          <p:cNvSpPr/>
          <p:nvPr/>
        </p:nvSpPr>
        <p:spPr>
          <a:xfrm>
            <a:off x="5555694" y="4981203"/>
            <a:ext cx="140256" cy="652835"/>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1" name="左大括弧 20">
            <a:extLst>
              <a:ext uri="{FF2B5EF4-FFF2-40B4-BE49-F238E27FC236}">
                <a16:creationId xmlns:a16="http://schemas.microsoft.com/office/drawing/2014/main" id="{19A7BE2F-0AF7-2EFD-A787-4B56A76DD215}"/>
              </a:ext>
            </a:extLst>
          </p:cNvPr>
          <p:cNvSpPr/>
          <p:nvPr/>
        </p:nvSpPr>
        <p:spPr>
          <a:xfrm rot="5400000">
            <a:off x="9245252" y="2153505"/>
            <a:ext cx="147250" cy="1250446"/>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3603017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282700"/>
            <a:ext cx="10515600" cy="4351338"/>
          </a:xfrm>
        </p:spPr>
        <p:txBody>
          <a:bodyPr>
            <a:normAutofit/>
          </a:bodyPr>
          <a:lstStyle/>
          <a:p>
            <a:r>
              <a:rPr lang="en-US" altLang="zh-TW" dirty="0"/>
              <a:t>Step.1 </a:t>
            </a:r>
            <a:r>
              <a:rPr lang="zh-TW" altLang="en-US" dirty="0"/>
              <a:t>更新這行的 </a:t>
            </a:r>
            <a:r>
              <a:rPr lang="en-US" altLang="zh-TW" dirty="0"/>
              <a:t>ISMQ </a:t>
            </a:r>
            <a:r>
              <a:rPr lang="zh-TW" altLang="en-US" dirty="0"/>
              <a:t>序列</a:t>
            </a:r>
            <a:endParaRPr lang="en-US" altLang="zh-TW" dirty="0"/>
          </a:p>
          <a:p>
            <a:r>
              <a:rPr lang="en-US" altLang="zh-TW" dirty="0"/>
              <a:t>Step.2 </a:t>
            </a:r>
            <a:r>
              <a:rPr lang="zh-TW" altLang="en-US" dirty="0"/>
              <a:t>更新前一列的 </a:t>
            </a:r>
            <a:r>
              <a:rPr lang="en-US" altLang="zh-TW" dirty="0"/>
              <a:t>ISMQ </a:t>
            </a:r>
            <a:r>
              <a:rPr lang="zh-TW" altLang="en-US" dirty="0"/>
              <a:t>序列</a:t>
            </a:r>
            <a:endParaRPr lang="en-US" altLang="zh-TW" dirty="0"/>
          </a:p>
          <a:p>
            <a:r>
              <a:rPr lang="en-US" altLang="zh-TW" dirty="0">
                <a:solidFill>
                  <a:srgbClr val="FF0000"/>
                </a:solidFill>
              </a:rPr>
              <a:t>Step.3 </a:t>
            </a:r>
            <a:r>
              <a:rPr lang="zh-TW" altLang="en-US" dirty="0">
                <a:solidFill>
                  <a:srgbClr val="FF0000"/>
                </a:solidFill>
              </a:rPr>
              <a:t>如果 </a:t>
            </a:r>
            <a:r>
              <a:rPr lang="en-US" altLang="zh-TW" dirty="0">
                <a:solidFill>
                  <a:srgbClr val="FF0000"/>
                </a:solidFill>
              </a:rPr>
              <a:t>match</a:t>
            </a:r>
            <a:r>
              <a:rPr lang="zh-TW" altLang="en-US" dirty="0">
                <a:solidFill>
                  <a:srgbClr val="FF0000"/>
                </a:solidFill>
              </a:rPr>
              <a:t>，設為這列的</a:t>
            </a:r>
            <a:r>
              <a:rPr lang="en-US" altLang="zh-TW" dirty="0">
                <a:solidFill>
                  <a:srgbClr val="FF0000"/>
                </a:solidFill>
              </a:rPr>
              <a:t>ISMQ </a:t>
            </a:r>
            <a:r>
              <a:rPr lang="zh-TW" altLang="en-US" dirty="0">
                <a:solidFill>
                  <a:srgbClr val="FF0000"/>
                </a:solidFill>
              </a:rPr>
              <a:t>找到之最大值 </a:t>
            </a:r>
            <a:r>
              <a:rPr lang="en-US" altLang="zh-TW" dirty="0">
                <a:solidFill>
                  <a:srgbClr val="FF0000"/>
                </a:solidFill>
              </a:rPr>
              <a:t>+</a:t>
            </a:r>
            <a:r>
              <a:rPr lang="zh-TW" altLang="en-US" dirty="0">
                <a:solidFill>
                  <a:srgbClr val="FF0000"/>
                </a:solidFill>
              </a:rPr>
              <a:t> </a:t>
            </a:r>
            <a:r>
              <a:rPr lang="en-US" altLang="zh-TW" dirty="0">
                <a:solidFill>
                  <a:srgbClr val="FF0000"/>
                </a:solidFill>
              </a:rPr>
              <a:t>1</a:t>
            </a:r>
          </a:p>
          <a:p>
            <a:pPr marL="0" indent="0">
              <a:buNone/>
            </a:pPr>
            <a:endParaRPr lang="zh-TW" altLang="en-US" dirty="0"/>
          </a:p>
        </p:txBody>
      </p:sp>
      <p:sp>
        <p:nvSpPr>
          <p:cNvPr id="2" name="標題 1"/>
          <p:cNvSpPr>
            <a:spLocks noGrp="1"/>
          </p:cNvSpPr>
          <p:nvPr>
            <p:ph type="title"/>
          </p:nvPr>
        </p:nvSpPr>
        <p:spPr>
          <a:xfrm>
            <a:off x="880241" y="3175"/>
            <a:ext cx="10515600" cy="1325563"/>
          </a:xfrm>
        </p:spPr>
        <p:txBody>
          <a:bodyPr/>
          <a:lstStyle/>
          <a:p>
            <a:r>
              <a:rPr lang="en-US" altLang="zh-TW" dirty="0"/>
              <a:t>VGLCS</a:t>
            </a:r>
          </a:p>
        </p:txBody>
      </p:sp>
      <p:graphicFrame>
        <p:nvGraphicFramePr>
          <p:cNvPr id="6" name="內容版面配置區 3">
            <a:extLst>
              <a:ext uri="{FF2B5EF4-FFF2-40B4-BE49-F238E27FC236}">
                <a16:creationId xmlns:a16="http://schemas.microsoft.com/office/drawing/2014/main" id="{AC9C7744-69CE-4A4A-9CE6-CE661B8CFF0E}"/>
              </a:ext>
            </a:extLst>
          </p:cNvPr>
          <p:cNvGraphicFramePr>
            <a:graphicFrameLocks/>
          </p:cNvGraphicFramePr>
          <p:nvPr>
            <p:extLst>
              <p:ext uri="{D42A27DB-BD31-4B8C-83A1-F6EECF244321}">
                <p14:modId xmlns:p14="http://schemas.microsoft.com/office/powerpoint/2010/main" val="736433647"/>
              </p:ext>
            </p:extLst>
          </p:nvPr>
        </p:nvGraphicFramePr>
        <p:xfrm>
          <a:off x="5802153" y="2852351"/>
          <a:ext cx="6068747" cy="3892821"/>
        </p:xfrm>
        <a:graphic>
          <a:graphicData uri="http://schemas.openxmlformats.org/drawingml/2006/table">
            <a:tbl>
              <a:tblPr firstRow="1" bandRow="1">
                <a:noFill/>
                <a:tableStyleId>{5940675A-B579-460E-94D1-54222C63F5DA}</a:tableStyleId>
              </a:tblPr>
              <a:tblGrid>
                <a:gridCol w="644773">
                  <a:extLst>
                    <a:ext uri="{9D8B030D-6E8A-4147-A177-3AD203B41FA5}">
                      <a16:colId xmlns:a16="http://schemas.microsoft.com/office/drawing/2014/main" val="3630319676"/>
                    </a:ext>
                  </a:extLst>
                </a:gridCol>
                <a:gridCol w="458632">
                  <a:extLst>
                    <a:ext uri="{9D8B030D-6E8A-4147-A177-3AD203B41FA5}">
                      <a16:colId xmlns:a16="http://schemas.microsoft.com/office/drawing/2014/main" val="2449943958"/>
                    </a:ext>
                  </a:extLst>
                </a:gridCol>
                <a:gridCol w="551705">
                  <a:extLst>
                    <a:ext uri="{9D8B030D-6E8A-4147-A177-3AD203B41FA5}">
                      <a16:colId xmlns:a16="http://schemas.microsoft.com/office/drawing/2014/main" val="3241406068"/>
                    </a:ext>
                  </a:extLst>
                </a:gridCol>
                <a:gridCol w="551705">
                  <a:extLst>
                    <a:ext uri="{9D8B030D-6E8A-4147-A177-3AD203B41FA5}">
                      <a16:colId xmlns:a16="http://schemas.microsoft.com/office/drawing/2014/main" val="1541813034"/>
                    </a:ext>
                  </a:extLst>
                </a:gridCol>
                <a:gridCol w="551705">
                  <a:extLst>
                    <a:ext uri="{9D8B030D-6E8A-4147-A177-3AD203B41FA5}">
                      <a16:colId xmlns:a16="http://schemas.microsoft.com/office/drawing/2014/main" val="439975108"/>
                    </a:ext>
                  </a:extLst>
                </a:gridCol>
                <a:gridCol w="621427">
                  <a:extLst>
                    <a:ext uri="{9D8B030D-6E8A-4147-A177-3AD203B41FA5}">
                      <a16:colId xmlns:a16="http://schemas.microsoft.com/office/drawing/2014/main" val="4266199047"/>
                    </a:ext>
                  </a:extLst>
                </a:gridCol>
                <a:gridCol w="481980">
                  <a:extLst>
                    <a:ext uri="{9D8B030D-6E8A-4147-A177-3AD203B41FA5}">
                      <a16:colId xmlns:a16="http://schemas.microsoft.com/office/drawing/2014/main" val="700621554"/>
                    </a:ext>
                  </a:extLst>
                </a:gridCol>
                <a:gridCol w="551705">
                  <a:extLst>
                    <a:ext uri="{9D8B030D-6E8A-4147-A177-3AD203B41FA5}">
                      <a16:colId xmlns:a16="http://schemas.microsoft.com/office/drawing/2014/main" val="1149588615"/>
                    </a:ext>
                  </a:extLst>
                </a:gridCol>
                <a:gridCol w="551705">
                  <a:extLst>
                    <a:ext uri="{9D8B030D-6E8A-4147-A177-3AD203B41FA5}">
                      <a16:colId xmlns:a16="http://schemas.microsoft.com/office/drawing/2014/main" val="2273608623"/>
                    </a:ext>
                  </a:extLst>
                </a:gridCol>
                <a:gridCol w="551705">
                  <a:extLst>
                    <a:ext uri="{9D8B030D-6E8A-4147-A177-3AD203B41FA5}">
                      <a16:colId xmlns:a16="http://schemas.microsoft.com/office/drawing/2014/main" val="1983320277"/>
                    </a:ext>
                  </a:extLst>
                </a:gridCol>
                <a:gridCol w="551705">
                  <a:extLst>
                    <a:ext uri="{9D8B030D-6E8A-4147-A177-3AD203B41FA5}">
                      <a16:colId xmlns:a16="http://schemas.microsoft.com/office/drawing/2014/main" val="3029482529"/>
                    </a:ext>
                  </a:extLst>
                </a:gridCol>
              </a:tblGrid>
              <a:tr h="410581">
                <a:tc>
                  <a:txBody>
                    <a:bodyPr/>
                    <a:lstStyle/>
                    <a:p>
                      <a:pPr algn="ctr">
                        <a:lnSpc>
                          <a:spcPct val="100000"/>
                        </a:lnSpc>
                      </a:pPr>
                      <a:endParaRPr lang="en-US" altLang="zh-TW" sz="1600" dirty="0">
                        <a:latin typeface="Times New Roman" panose="02020603050405020304" pitchFamily="18" charset="0"/>
                        <a:cs typeface="Times New Roman" panose="02020603050405020304" pitchFamily="18" charset="0"/>
                      </a:endParaRPr>
                    </a:p>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1</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j-1-K</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j</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90454840"/>
                  </a:ext>
                </a:extLst>
              </a:tr>
              <a:tr h="234221">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accent1">
                          <a:lumMod val="75000"/>
                        </a:schemeClr>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accent1">
                          <a:lumMod val="75000"/>
                        </a:schemeClr>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662905682"/>
                  </a:ext>
                </a:extLst>
              </a:tr>
              <a:tr h="234221">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chemeClr val="accent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chemeClr val="accent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735210"/>
                  </a:ext>
                </a:extLst>
              </a:tr>
              <a:tr h="2342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045357"/>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6059960"/>
                  </a:ext>
                </a:extLst>
              </a:tr>
              <a:tr h="410581">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i-1-K</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435379"/>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chemeClr val="accent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chemeClr val="accent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222648316"/>
                  </a:ext>
                </a:extLst>
              </a:tr>
              <a:tr h="319420">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7030A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solidFill>
                      <a:srgbClr val="FF0000"/>
                    </a:solid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7030A0"/>
                      </a:solidFill>
                      <a:prstDash val="solid"/>
                      <a:round/>
                      <a:headEnd type="none" w="med" len="med"/>
                      <a:tailEnd type="none" w="med" len="med"/>
                    </a:lnR>
                    <a:lnT w="76200" cap="flat" cmpd="sng" algn="ctr">
                      <a:solidFill>
                        <a:srgbClr val="7030A0"/>
                      </a:solidFill>
                      <a:prstDash val="solid"/>
                      <a:round/>
                      <a:headEnd type="none" w="med" len="med"/>
                      <a:tailEnd type="none" w="med" len="med"/>
                    </a:lnT>
                    <a:lnB w="76200" cap="flat" cmpd="sng" algn="ctr">
                      <a:solidFill>
                        <a:srgbClr val="7030A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9335467"/>
                  </a:ext>
                </a:extLst>
              </a:tr>
              <a:tr h="234221">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solidFill>
                          <a:schemeClr val="tx1"/>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solidFill>
                            <a:schemeClr val="tx1"/>
                          </a:solidFill>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359388"/>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en-US" altLang="zh-TW" sz="1600" baseline="-250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665150"/>
                  </a:ext>
                </a:extLst>
              </a:tr>
              <a:tr h="234221">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X</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377310"/>
                  </a:ext>
                </a:extLst>
              </a:tr>
            </a:tbl>
          </a:graphicData>
        </a:graphic>
      </p:graphicFrame>
      <p:sp>
        <p:nvSpPr>
          <p:cNvPr id="20" name="左大括弧 19">
            <a:extLst>
              <a:ext uri="{FF2B5EF4-FFF2-40B4-BE49-F238E27FC236}">
                <a16:creationId xmlns:a16="http://schemas.microsoft.com/office/drawing/2014/main" id="{665A39FE-9F11-92C0-A326-FD99F530AA9B}"/>
              </a:ext>
            </a:extLst>
          </p:cNvPr>
          <p:cNvSpPr/>
          <p:nvPr/>
        </p:nvSpPr>
        <p:spPr>
          <a:xfrm>
            <a:off x="5555694" y="4981203"/>
            <a:ext cx="140256" cy="652835"/>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1" name="左大括弧 20">
            <a:extLst>
              <a:ext uri="{FF2B5EF4-FFF2-40B4-BE49-F238E27FC236}">
                <a16:creationId xmlns:a16="http://schemas.microsoft.com/office/drawing/2014/main" id="{19A7BE2F-0AF7-2EFD-A787-4B56A76DD215}"/>
              </a:ext>
            </a:extLst>
          </p:cNvPr>
          <p:cNvSpPr/>
          <p:nvPr/>
        </p:nvSpPr>
        <p:spPr>
          <a:xfrm rot="5400000">
            <a:off x="9245252" y="2153505"/>
            <a:ext cx="147250" cy="1250446"/>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220527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825625"/>
            <a:ext cx="10515600" cy="4825432"/>
          </a:xfrm>
        </p:spPr>
        <p:txBody>
          <a:bodyPr>
            <a:normAutofit/>
          </a:bodyPr>
          <a:lstStyle/>
          <a:p>
            <a:r>
              <a:rPr lang="zh-TW" altLang="en-US" dirty="0"/>
              <a:t>又稱為 </a:t>
            </a:r>
            <a:r>
              <a:rPr lang="en-US" altLang="zh-TW" dirty="0"/>
              <a:t>disjoint set union problem</a:t>
            </a:r>
          </a:p>
          <a:p>
            <a:endParaRPr lang="en-US" altLang="zh-TW" dirty="0"/>
          </a:p>
          <a:p>
            <a:r>
              <a:rPr lang="en-US" altLang="zh-TW" dirty="0"/>
              <a:t>ISMQ problem reduce to union-ﬁnd problem.</a:t>
            </a:r>
          </a:p>
          <a:p>
            <a:endParaRPr lang="en-US" altLang="zh-TW" dirty="0"/>
          </a:p>
          <a:p>
            <a:r>
              <a:rPr lang="en-US" altLang="zh-TW" dirty="0"/>
              <a:t>operations :</a:t>
            </a:r>
          </a:p>
          <a:p>
            <a:pPr lvl="1"/>
            <a:r>
              <a:rPr lang="en-US" altLang="zh-TW" dirty="0"/>
              <a:t>make(x, C)</a:t>
            </a:r>
          </a:p>
          <a:p>
            <a:pPr lvl="1"/>
            <a:r>
              <a:rPr lang="en-US" altLang="zh-TW" dirty="0"/>
              <a:t>ﬁnd(x):</a:t>
            </a:r>
          </a:p>
          <a:p>
            <a:pPr lvl="1"/>
            <a:r>
              <a:rPr lang="en-US" altLang="zh-TW" dirty="0"/>
              <a:t>unite(x, y, C)</a:t>
            </a:r>
          </a:p>
          <a:p>
            <a:endParaRPr lang="en-US" altLang="zh-TW" dirty="0"/>
          </a:p>
          <a:p>
            <a:pPr marL="0" indent="0">
              <a:buNone/>
            </a:pPr>
            <a:r>
              <a:rPr lang="en-US" altLang="zh-TW" dirty="0"/>
              <a:t>                                    </a:t>
            </a:r>
          </a:p>
          <a:p>
            <a:endParaRPr lang="en-US" altLang="zh-TW" dirty="0"/>
          </a:p>
          <a:p>
            <a:endParaRPr lang="en-US" altLang="zh-TW" dirty="0"/>
          </a:p>
          <a:p>
            <a:endParaRPr lang="zh-TW" altLang="en-US" dirty="0"/>
          </a:p>
        </p:txBody>
      </p:sp>
      <p:sp>
        <p:nvSpPr>
          <p:cNvPr id="2" name="標題 1"/>
          <p:cNvSpPr>
            <a:spLocks noGrp="1"/>
          </p:cNvSpPr>
          <p:nvPr>
            <p:ph type="title"/>
          </p:nvPr>
        </p:nvSpPr>
        <p:spPr>
          <a:xfrm>
            <a:off x="880241" y="365125"/>
            <a:ext cx="10515600" cy="1325563"/>
          </a:xfrm>
        </p:spPr>
        <p:txBody>
          <a:bodyPr/>
          <a:lstStyle/>
          <a:p>
            <a:r>
              <a:rPr lang="en-US" altLang="zh-TW" dirty="0"/>
              <a:t>Union and Find</a:t>
            </a:r>
          </a:p>
        </p:txBody>
      </p:sp>
    </p:spTree>
    <p:extLst>
      <p:ext uri="{BB962C8B-B14F-4D97-AF65-F5344CB8AC3E}">
        <p14:creationId xmlns:p14="http://schemas.microsoft.com/office/powerpoint/2010/main" val="2710786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6111874"/>
            <a:ext cx="10515600" cy="539182"/>
          </a:xfrm>
        </p:spPr>
        <p:txBody>
          <a:bodyPr>
            <a:normAutofit/>
          </a:bodyPr>
          <a:lstStyle/>
          <a:p>
            <a:pPr marL="0" indent="0">
              <a:buNone/>
            </a:pPr>
            <a:r>
              <a:rPr lang="en-US" altLang="zh-TW" dirty="0"/>
              <a:t>D = 10, 3, 7, 2, 5, 8                                 </a:t>
            </a:r>
          </a:p>
          <a:p>
            <a:endParaRPr lang="en-US" altLang="zh-TW" dirty="0"/>
          </a:p>
          <a:p>
            <a:endParaRPr lang="en-US" altLang="zh-TW" dirty="0"/>
          </a:p>
          <a:p>
            <a:endParaRPr lang="zh-TW" altLang="en-US" dirty="0"/>
          </a:p>
        </p:txBody>
      </p:sp>
      <p:sp>
        <p:nvSpPr>
          <p:cNvPr id="2" name="標題 1"/>
          <p:cNvSpPr>
            <a:spLocks noGrp="1"/>
          </p:cNvSpPr>
          <p:nvPr>
            <p:ph type="title"/>
          </p:nvPr>
        </p:nvSpPr>
        <p:spPr>
          <a:xfrm>
            <a:off x="880241" y="365125"/>
            <a:ext cx="10515600" cy="1325563"/>
          </a:xfrm>
        </p:spPr>
        <p:txBody>
          <a:bodyPr/>
          <a:lstStyle/>
          <a:p>
            <a:r>
              <a:rPr lang="en-US" altLang="zh-TW" dirty="0"/>
              <a:t>Union and Find</a:t>
            </a:r>
          </a:p>
        </p:txBody>
      </p:sp>
      <p:pic>
        <p:nvPicPr>
          <p:cNvPr id="4" name="圖片 3" descr="一張含有 文字 的圖片&#10;&#10;自動產生的描述">
            <a:extLst>
              <a:ext uri="{FF2B5EF4-FFF2-40B4-BE49-F238E27FC236}">
                <a16:creationId xmlns:a16="http://schemas.microsoft.com/office/drawing/2014/main" id="{F66C6EE9-0D6B-C7DC-8898-BF04A0320E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2199" y="1824038"/>
            <a:ext cx="9307601" cy="4181565"/>
          </a:xfrm>
          <a:prstGeom prst="rect">
            <a:avLst/>
          </a:prstGeom>
        </p:spPr>
      </p:pic>
    </p:spTree>
    <p:extLst>
      <p:ext uri="{BB962C8B-B14F-4D97-AF65-F5344CB8AC3E}">
        <p14:creationId xmlns:p14="http://schemas.microsoft.com/office/powerpoint/2010/main" val="2676692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2"/>
          <p:cNvSpPr txBox="1">
            <a:spLocks/>
          </p:cNvSpPr>
          <p:nvPr/>
        </p:nvSpPr>
        <p:spPr>
          <a:xfrm>
            <a:off x="838200" y="1825624"/>
            <a:ext cx="10515600" cy="37204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latin typeface="Times New Roman" panose="02020603050405020304" pitchFamily="18" charset="0"/>
                <a:cs typeface="Times New Roman" panose="02020603050405020304" pitchFamily="18" charset="0"/>
              </a:rPr>
              <a:t>使用 </a:t>
            </a:r>
            <a:r>
              <a:rPr lang="en-US" altLang="zh-TW" dirty="0">
                <a:latin typeface="Times New Roman" panose="02020603050405020304" pitchFamily="18" charset="0"/>
                <a:cs typeface="Times New Roman" panose="02020603050405020304" pitchFamily="18" charset="0"/>
              </a:rPr>
              <a:t>incremental tree set union</a:t>
            </a:r>
            <a:r>
              <a:rPr lang="zh-TW" altLang="en-US" dirty="0">
                <a:latin typeface="Times New Roman" panose="02020603050405020304" pitchFamily="18" charset="0"/>
                <a:cs typeface="Times New Roman" panose="02020603050405020304" pitchFamily="18" charset="0"/>
              </a:rPr>
              <a:t>，把 </a:t>
            </a:r>
            <a:r>
              <a:rPr lang="en-US" altLang="zh-TW" dirty="0">
                <a:latin typeface="Times New Roman" panose="02020603050405020304" pitchFamily="18" charset="0"/>
                <a:cs typeface="Times New Roman" panose="02020603050405020304" pitchFamily="18" charset="0"/>
              </a:rPr>
              <a:t>union-ﬁnd operations</a:t>
            </a:r>
            <a:r>
              <a:rPr lang="zh-TW" altLang="en-US" dirty="0">
                <a:latin typeface="Times New Roman" panose="02020603050405020304" pitchFamily="18" charset="0"/>
                <a:cs typeface="Times New Roman" panose="02020603050405020304" pitchFamily="18" charset="0"/>
              </a:rPr>
              <a:t> 降成 </a:t>
            </a:r>
            <a:r>
              <a:rPr lang="en-US" altLang="zh-TW" dirty="0">
                <a:latin typeface="Times New Roman" panose="02020603050405020304" pitchFamily="18" charset="0"/>
                <a:cs typeface="Times New Roman" panose="02020603050405020304" pitchFamily="18" charset="0"/>
              </a:rPr>
              <a:t>O(1)</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union-ﬁnd : 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r>
              <a:rPr lang="en-US" altLang="zh-TW" spc="-1" dirty="0">
                <a:solidFill>
                  <a:srgbClr val="000000"/>
                </a:solidFill>
                <a:latin typeface="Times New Roman" pitchFamily="18" charset="0"/>
                <a:cs typeface="Times New Roman" pitchFamily="18" charset="0"/>
              </a:rPr>
              <a:t>VGLCS</a:t>
            </a:r>
            <a:r>
              <a:rPr lang="en-US" altLang="zh-TW" dirty="0">
                <a:latin typeface="Times New Roman" panose="02020603050405020304" pitchFamily="18" charset="0"/>
                <a:cs typeface="Times New Roman" panose="02020603050405020304" pitchFamily="18" charset="0"/>
              </a:rPr>
              <a:t>: 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67120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訂 1">
      <a:majorFont>
        <a:latin typeface="Times New Roman"/>
        <a:ea typeface="微軟正黑體"/>
        <a:cs typeface=""/>
      </a:majorFont>
      <a:minorFont>
        <a:latin typeface="Times New Roman"/>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3457</TotalTime>
  <Words>659</Words>
  <Application>Microsoft Office PowerPoint</Application>
  <PresentationFormat>寬螢幕</PresentationFormat>
  <Paragraphs>139</Paragraphs>
  <Slides>13</Slides>
  <Notes>0</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13</vt:i4>
      </vt:variant>
    </vt:vector>
  </HeadingPairs>
  <TitlesOfParts>
    <vt:vector size="16" baseType="lpstr">
      <vt:lpstr>Arial</vt:lpstr>
      <vt:lpstr>Times New Roman</vt:lpstr>
      <vt:lpstr>Office 佈景主題</vt:lpstr>
      <vt:lpstr>Finding the gapped longest common subsequence by  incremental suﬃx maximum queries</vt:lpstr>
      <vt:lpstr>Abstract (1/2)</vt:lpstr>
      <vt:lpstr>Abstract (2/2)</vt:lpstr>
      <vt:lpstr>FIG (fixed gap LCS)</vt:lpstr>
      <vt:lpstr>VGLCS (variable gap LCS )</vt:lpstr>
      <vt:lpstr>VGLCS</vt:lpstr>
      <vt:lpstr>ISMQ (Incremental Suﬃx Maximum Query) </vt:lpstr>
      <vt:lpstr>VGLCS</vt:lpstr>
      <vt:lpstr>VGLCS</vt:lpstr>
      <vt:lpstr>VGLCS</vt:lpstr>
      <vt:lpstr>Union and Find</vt:lpstr>
      <vt:lpstr>Union and Find</vt:lpstr>
      <vt:lpstr>Time complexity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Alex</dc:creator>
  <cp:lastModifiedBy>M103040056</cp:lastModifiedBy>
  <cp:revision>303</cp:revision>
  <dcterms:created xsi:type="dcterms:W3CDTF">2021-01-03T09:53:04Z</dcterms:created>
  <dcterms:modified xsi:type="dcterms:W3CDTF">2022-06-14T05:53:44Z</dcterms:modified>
</cp:coreProperties>
</file>