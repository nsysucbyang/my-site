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21"/>
  </p:notesMasterIdLst>
  <p:sldIdLst>
    <p:sldId id="256" r:id="rId2"/>
    <p:sldId id="283" r:id="rId3"/>
    <p:sldId id="257" r:id="rId4"/>
    <p:sldId id="282" r:id="rId5"/>
    <p:sldId id="285" r:id="rId6"/>
    <p:sldId id="288" r:id="rId7"/>
    <p:sldId id="284" r:id="rId8"/>
    <p:sldId id="287" r:id="rId9"/>
    <p:sldId id="286" r:id="rId10"/>
    <p:sldId id="290" r:id="rId11"/>
    <p:sldId id="289" r:id="rId12"/>
    <p:sldId id="291" r:id="rId13"/>
    <p:sldId id="292" r:id="rId14"/>
    <p:sldId id="293" r:id="rId15"/>
    <p:sldId id="294" r:id="rId16"/>
    <p:sldId id="297" r:id="rId17"/>
    <p:sldId id="296" r:id="rId18"/>
    <p:sldId id="281" r:id="rId19"/>
    <p:sldId id="298" r:id="rId2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97"/>
    <p:restoredTop sz="94582"/>
  </p:normalViewPr>
  <p:slideViewPr>
    <p:cSldViewPr snapToGrid="0" snapToObjects="1">
      <p:cViewPr varScale="1">
        <p:scale>
          <a:sx n="120" d="100"/>
          <a:sy n="120" d="100"/>
        </p:scale>
        <p:origin x="25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45559-0BFE-4344-9B65-AF2AA4340070}" type="datetimeFigureOut">
              <a:rPr kumimoji="1" lang="zh-TW" altLang="en-US" smtClean="0"/>
              <a:t>2022/3/15</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43E2FF-3FFC-0943-9A0D-A0B13F46FECA}" type="slidenum">
              <a:rPr kumimoji="1" lang="zh-TW" altLang="en-US" smtClean="0"/>
              <a:t>‹#›</a:t>
            </a:fld>
            <a:endParaRPr kumimoji="1" lang="zh-TW" altLang="en-US"/>
          </a:p>
        </p:txBody>
      </p:sp>
    </p:spTree>
    <p:extLst>
      <p:ext uri="{BB962C8B-B14F-4D97-AF65-F5344CB8AC3E}">
        <p14:creationId xmlns:p14="http://schemas.microsoft.com/office/powerpoint/2010/main" val="312107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343E2FF-3FFC-0943-9A0D-A0B13F46FECA}" type="slidenum">
              <a:rPr kumimoji="1" lang="zh-TW" altLang="en-US" smtClean="0"/>
              <a:t>11</a:t>
            </a:fld>
            <a:endParaRPr kumimoji="1" lang="zh-TW" altLang="en-US"/>
          </a:p>
        </p:txBody>
      </p:sp>
    </p:spTree>
    <p:extLst>
      <p:ext uri="{BB962C8B-B14F-4D97-AF65-F5344CB8AC3E}">
        <p14:creationId xmlns:p14="http://schemas.microsoft.com/office/powerpoint/2010/main" val="3049209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CACA6-C67C-E541-892B-44D0091E4B35}"/>
              </a:ext>
            </a:extLst>
          </p:cNvPr>
          <p:cNvSpPr>
            <a:spLocks noGrp="1"/>
          </p:cNvSpPr>
          <p:nvPr>
            <p:ph type="ctrTitle"/>
          </p:nvPr>
        </p:nvSpPr>
        <p:spPr>
          <a:xfrm>
            <a:off x="1524000" y="1122363"/>
            <a:ext cx="9144000" cy="2387600"/>
          </a:xfrm>
        </p:spPr>
        <p:txBody>
          <a:bodyPr anchor="b"/>
          <a:lstStyle>
            <a:lvl1pPr algn="ctr">
              <a:defRPr sz="6000">
                <a:latin typeface="Times New Roman" panose="02020603050405020304" pitchFamily="18" charset="0"/>
                <a:cs typeface="Times New Roman" panose="02020603050405020304" pitchFamily="18" charset="0"/>
              </a:defRPr>
            </a:lvl1pPr>
          </a:lstStyle>
          <a:p>
            <a:r>
              <a:rPr kumimoji="1" lang="zh-TW" altLang="en-US" dirty="0"/>
              <a:t>按一下以編輯母片標題樣式</a:t>
            </a:r>
          </a:p>
        </p:txBody>
      </p:sp>
      <p:sp>
        <p:nvSpPr>
          <p:cNvPr id="3" name="副標題 2">
            <a:extLst>
              <a:ext uri="{FF2B5EF4-FFF2-40B4-BE49-F238E27FC236}">
                <a16:creationId xmlns:a16="http://schemas.microsoft.com/office/drawing/2014/main" id="{11CC1734-2905-E64F-A631-54B441416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dirty="0"/>
              <a:t>按一下以編輯母片子標題樣式</a:t>
            </a:r>
          </a:p>
        </p:txBody>
      </p:sp>
      <p:sp>
        <p:nvSpPr>
          <p:cNvPr id="4" name="日期版面配置區 3">
            <a:extLst>
              <a:ext uri="{FF2B5EF4-FFF2-40B4-BE49-F238E27FC236}">
                <a16:creationId xmlns:a16="http://schemas.microsoft.com/office/drawing/2014/main" id="{E52928DA-44E4-074F-8536-26603EBDA3A5}"/>
              </a:ext>
            </a:extLst>
          </p:cNvPr>
          <p:cNvSpPr>
            <a:spLocks noGrp="1"/>
          </p:cNvSpPr>
          <p:nvPr>
            <p:ph type="dt" sz="half" idx="10"/>
          </p:nvPr>
        </p:nvSpPr>
        <p:spPr/>
        <p:txBody>
          <a:bodyPr/>
          <a:lstStyle/>
          <a:p>
            <a:fld id="{F8D94305-8CA1-9449-A556-67D5085A7FA1}" type="datetime1">
              <a:rPr kumimoji="1" lang="zh-TW" altLang="en-US" smtClean="0"/>
              <a:t>2022/3/15</a:t>
            </a:fld>
            <a:endParaRPr kumimoji="1" lang="zh-TW" altLang="en-US"/>
          </a:p>
        </p:txBody>
      </p:sp>
      <p:sp>
        <p:nvSpPr>
          <p:cNvPr id="5" name="頁尾版面配置區 4">
            <a:extLst>
              <a:ext uri="{FF2B5EF4-FFF2-40B4-BE49-F238E27FC236}">
                <a16:creationId xmlns:a16="http://schemas.microsoft.com/office/drawing/2014/main" id="{FCCB0FA4-ABBE-BA4C-8404-566B691D00D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36B4FD5-66AB-9441-90B5-4BBD60219EE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3481404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70AF28-EC81-FE4B-89D9-F2E8D07FC024}"/>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7F8F01FE-63E4-B148-8F63-BA8CC19DF1BE}"/>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CDDCB10-D67B-2F49-9257-3F53E655A9C1}"/>
              </a:ext>
            </a:extLst>
          </p:cNvPr>
          <p:cNvSpPr>
            <a:spLocks noGrp="1"/>
          </p:cNvSpPr>
          <p:nvPr>
            <p:ph type="dt" sz="half" idx="10"/>
          </p:nvPr>
        </p:nvSpPr>
        <p:spPr/>
        <p:txBody>
          <a:bodyPr/>
          <a:lstStyle/>
          <a:p>
            <a:fld id="{045A69C4-18F5-3B4F-9726-B61210AF53BB}" type="datetime1">
              <a:rPr kumimoji="1" lang="zh-TW" altLang="en-US" smtClean="0"/>
              <a:t>2022/3/15</a:t>
            </a:fld>
            <a:endParaRPr kumimoji="1" lang="zh-TW" altLang="en-US"/>
          </a:p>
        </p:txBody>
      </p:sp>
      <p:sp>
        <p:nvSpPr>
          <p:cNvPr id="5" name="頁尾版面配置區 4">
            <a:extLst>
              <a:ext uri="{FF2B5EF4-FFF2-40B4-BE49-F238E27FC236}">
                <a16:creationId xmlns:a16="http://schemas.microsoft.com/office/drawing/2014/main" id="{FE383F78-9598-D74D-9292-89EFE69D19A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BD1EF3F-2214-5B47-9FDA-094F6F6F1A36}"/>
              </a:ext>
            </a:extLst>
          </p:cNvPr>
          <p:cNvSpPr>
            <a:spLocks noGrp="1"/>
          </p:cNvSpPr>
          <p:nvPr>
            <p:ph type="sldNum" sz="quarter" idx="12"/>
          </p:nvPr>
        </p:nvSpPr>
        <p:spPr/>
        <p:txBody>
          <a:bodyPr/>
          <a:lstStyle>
            <a:lvl1pPr>
              <a:defRPr sz="1600">
                <a:solidFill>
                  <a:schemeClr val="tx1">
                    <a:lumMod val="50000"/>
                    <a:lumOff val="50000"/>
                  </a:schemeClr>
                </a:solidFill>
                <a:latin typeface="Times New Roman" panose="02020603050405020304" pitchFamily="18" charset="0"/>
                <a:cs typeface="Times New Roman" panose="02020603050405020304" pitchFamily="18" charset="0"/>
              </a:defRPr>
            </a:lvl1pPr>
          </a:lstStyle>
          <a:p>
            <a:fld id="{45AB94F7-1CE9-3B41-8002-0A2CB67662D8}" type="slidenum">
              <a:rPr kumimoji="1" lang="zh-TW" altLang="en-US" smtClean="0"/>
              <a:pPr/>
              <a:t>‹#›</a:t>
            </a:fld>
            <a:endParaRPr kumimoji="1" lang="zh-TW" altLang="en-US" dirty="0"/>
          </a:p>
        </p:txBody>
      </p:sp>
    </p:spTree>
    <p:extLst>
      <p:ext uri="{BB962C8B-B14F-4D97-AF65-F5344CB8AC3E}">
        <p14:creationId xmlns:p14="http://schemas.microsoft.com/office/powerpoint/2010/main" val="2339286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0EA4F2-2540-1244-B139-F15C25B79C46}"/>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C2C54D3C-13C8-6242-8D0C-509D676810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59742759-9CB6-6844-818C-D784DC9DDBEB}"/>
              </a:ext>
            </a:extLst>
          </p:cNvPr>
          <p:cNvSpPr>
            <a:spLocks noGrp="1"/>
          </p:cNvSpPr>
          <p:nvPr>
            <p:ph type="dt" sz="half" idx="10"/>
          </p:nvPr>
        </p:nvSpPr>
        <p:spPr/>
        <p:txBody>
          <a:bodyPr/>
          <a:lstStyle/>
          <a:p>
            <a:fld id="{3C11A6B9-6F66-C749-9323-08ACCB0475DF}" type="datetime1">
              <a:rPr kumimoji="1" lang="zh-TW" altLang="en-US" smtClean="0"/>
              <a:t>2022/3/15</a:t>
            </a:fld>
            <a:endParaRPr kumimoji="1" lang="zh-TW" altLang="en-US"/>
          </a:p>
        </p:txBody>
      </p:sp>
      <p:sp>
        <p:nvSpPr>
          <p:cNvPr id="5" name="頁尾版面配置區 4">
            <a:extLst>
              <a:ext uri="{FF2B5EF4-FFF2-40B4-BE49-F238E27FC236}">
                <a16:creationId xmlns:a16="http://schemas.microsoft.com/office/drawing/2014/main" id="{BAF6B2C8-E956-014A-989F-C4986EEC9705}"/>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4FE7166-F2BC-6E41-A489-D4F1F176A0D3}"/>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98025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D5B0B7-A085-074E-8B77-3B759476B83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0DE2419-98D0-C748-9D81-FD99D10E893D}"/>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9E7429AE-8C31-D64A-9CAF-84EF9D9F81FB}"/>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54F1935-3D64-C547-BE1F-E5DF5E3EAE39}"/>
              </a:ext>
            </a:extLst>
          </p:cNvPr>
          <p:cNvSpPr>
            <a:spLocks noGrp="1"/>
          </p:cNvSpPr>
          <p:nvPr>
            <p:ph type="dt" sz="half" idx="10"/>
          </p:nvPr>
        </p:nvSpPr>
        <p:spPr/>
        <p:txBody>
          <a:bodyPr/>
          <a:lstStyle/>
          <a:p>
            <a:fld id="{0D2A61A4-81BF-334B-8D80-CA36701FDA35}" type="datetime1">
              <a:rPr kumimoji="1" lang="zh-TW" altLang="en-US" smtClean="0"/>
              <a:t>2022/3/15</a:t>
            </a:fld>
            <a:endParaRPr kumimoji="1" lang="zh-TW" altLang="en-US"/>
          </a:p>
        </p:txBody>
      </p:sp>
      <p:sp>
        <p:nvSpPr>
          <p:cNvPr id="6" name="頁尾版面配置區 5">
            <a:extLst>
              <a:ext uri="{FF2B5EF4-FFF2-40B4-BE49-F238E27FC236}">
                <a16:creationId xmlns:a16="http://schemas.microsoft.com/office/drawing/2014/main" id="{712AB15C-9B5B-D44D-B16C-11EF813D9F62}"/>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25CFBA30-686E-724D-9244-E9E6440670B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01584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12BDD6-FE7A-F545-960D-362C66F47353}"/>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07F6F60D-37BA-C242-9A1E-32FEB8CCCA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E9BCDA43-0B87-A645-8BE0-2EA0C0A6B13B}"/>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05D48957-078C-7444-A985-ACC5552F2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4FEF868D-291B-394E-9BE2-D02FA1CD3C3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1EA16361-4974-3C4E-9136-7688A755DDEC}"/>
              </a:ext>
            </a:extLst>
          </p:cNvPr>
          <p:cNvSpPr>
            <a:spLocks noGrp="1"/>
          </p:cNvSpPr>
          <p:nvPr>
            <p:ph type="dt" sz="half" idx="10"/>
          </p:nvPr>
        </p:nvSpPr>
        <p:spPr/>
        <p:txBody>
          <a:bodyPr/>
          <a:lstStyle/>
          <a:p>
            <a:fld id="{8C8A022A-5F93-5C4C-B16C-BEC73CEE6E54}" type="datetime1">
              <a:rPr kumimoji="1" lang="zh-TW" altLang="en-US" smtClean="0"/>
              <a:t>2022/3/15</a:t>
            </a:fld>
            <a:endParaRPr kumimoji="1" lang="zh-TW" altLang="en-US"/>
          </a:p>
        </p:txBody>
      </p:sp>
      <p:sp>
        <p:nvSpPr>
          <p:cNvPr id="8" name="頁尾版面配置區 7">
            <a:extLst>
              <a:ext uri="{FF2B5EF4-FFF2-40B4-BE49-F238E27FC236}">
                <a16:creationId xmlns:a16="http://schemas.microsoft.com/office/drawing/2014/main" id="{556ED032-8661-E941-88E1-00C96942095D}"/>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FB13C977-9E60-0840-8F60-2746A6806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779835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B53D1F-CD49-4A47-8161-81E7049E7774}"/>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97BAD2FC-9DAA-7243-A022-A4F61BF19E06}"/>
              </a:ext>
            </a:extLst>
          </p:cNvPr>
          <p:cNvSpPr>
            <a:spLocks noGrp="1"/>
          </p:cNvSpPr>
          <p:nvPr>
            <p:ph type="dt" sz="half" idx="10"/>
          </p:nvPr>
        </p:nvSpPr>
        <p:spPr/>
        <p:txBody>
          <a:bodyPr/>
          <a:lstStyle/>
          <a:p>
            <a:fld id="{12C925CB-9510-9341-9576-9B12ECEC775E}" type="datetime1">
              <a:rPr kumimoji="1" lang="zh-TW" altLang="en-US" smtClean="0"/>
              <a:t>2022/3/15</a:t>
            </a:fld>
            <a:endParaRPr kumimoji="1" lang="zh-TW" altLang="en-US"/>
          </a:p>
        </p:txBody>
      </p:sp>
      <p:sp>
        <p:nvSpPr>
          <p:cNvPr id="4" name="頁尾版面配置區 3">
            <a:extLst>
              <a:ext uri="{FF2B5EF4-FFF2-40B4-BE49-F238E27FC236}">
                <a16:creationId xmlns:a16="http://schemas.microsoft.com/office/drawing/2014/main" id="{FB08567B-6FC5-FE42-99C1-56DE3E0EA82A}"/>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EDF5BEE7-69BC-3243-92F7-9D56CF1E4E0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994566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C472B68F-CE5E-8E42-845E-216799E9332B}"/>
              </a:ext>
            </a:extLst>
          </p:cNvPr>
          <p:cNvSpPr>
            <a:spLocks noGrp="1"/>
          </p:cNvSpPr>
          <p:nvPr>
            <p:ph type="dt" sz="half" idx="10"/>
          </p:nvPr>
        </p:nvSpPr>
        <p:spPr/>
        <p:txBody>
          <a:bodyPr/>
          <a:lstStyle/>
          <a:p>
            <a:fld id="{9FC0CE8D-F82D-A84C-87DC-2C4A6AB68E2E}" type="datetime1">
              <a:rPr kumimoji="1" lang="zh-TW" altLang="en-US" smtClean="0"/>
              <a:t>2022/3/15</a:t>
            </a:fld>
            <a:endParaRPr kumimoji="1" lang="zh-TW" altLang="en-US"/>
          </a:p>
        </p:txBody>
      </p:sp>
      <p:sp>
        <p:nvSpPr>
          <p:cNvPr id="3" name="頁尾版面配置區 2">
            <a:extLst>
              <a:ext uri="{FF2B5EF4-FFF2-40B4-BE49-F238E27FC236}">
                <a16:creationId xmlns:a16="http://schemas.microsoft.com/office/drawing/2014/main" id="{0AE25D5B-72BF-8541-BB27-109E74F63A4A}"/>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A4D9627B-7493-DE49-BED1-D957B96B65C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05284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D33F3F-E533-ED46-B706-B8230FBE3629}"/>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923F0ED-E028-4D48-ACE1-92415A0E02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F9259B9D-B493-EE4A-8F83-9E517D43A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B647DBB5-D8D1-9C4B-958E-74CA3C356597}"/>
              </a:ext>
            </a:extLst>
          </p:cNvPr>
          <p:cNvSpPr>
            <a:spLocks noGrp="1"/>
          </p:cNvSpPr>
          <p:nvPr>
            <p:ph type="dt" sz="half" idx="10"/>
          </p:nvPr>
        </p:nvSpPr>
        <p:spPr/>
        <p:txBody>
          <a:bodyPr/>
          <a:lstStyle/>
          <a:p>
            <a:fld id="{358C0FAD-89C5-7F43-A773-FAE777B2C9F1}" type="datetime1">
              <a:rPr kumimoji="1" lang="zh-TW" altLang="en-US" smtClean="0"/>
              <a:t>2022/3/15</a:t>
            </a:fld>
            <a:endParaRPr kumimoji="1" lang="zh-TW" altLang="en-US"/>
          </a:p>
        </p:txBody>
      </p:sp>
      <p:sp>
        <p:nvSpPr>
          <p:cNvPr id="6" name="頁尾版面配置區 5">
            <a:extLst>
              <a:ext uri="{FF2B5EF4-FFF2-40B4-BE49-F238E27FC236}">
                <a16:creationId xmlns:a16="http://schemas.microsoft.com/office/drawing/2014/main" id="{2DD9DD0B-97B7-7C48-9FAF-367CEFEAD76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1F04DAF6-0748-E746-B095-EDD0BFA0C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23448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B7AA03-AD9D-9B4F-BF9A-0D182E130373}"/>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40629E92-D1EC-7541-B377-00C9F825B7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49365C22-4E8D-5446-A436-EA77B69D7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B89063B-A0C5-524B-897E-9D14FAA16A3A}"/>
              </a:ext>
            </a:extLst>
          </p:cNvPr>
          <p:cNvSpPr>
            <a:spLocks noGrp="1"/>
          </p:cNvSpPr>
          <p:nvPr>
            <p:ph type="dt" sz="half" idx="10"/>
          </p:nvPr>
        </p:nvSpPr>
        <p:spPr/>
        <p:txBody>
          <a:bodyPr/>
          <a:lstStyle/>
          <a:p>
            <a:fld id="{C6BFB9B9-8EF2-A94F-98A1-225287ED6E40}" type="datetime1">
              <a:rPr kumimoji="1" lang="zh-TW" altLang="en-US" smtClean="0"/>
              <a:t>2022/3/15</a:t>
            </a:fld>
            <a:endParaRPr kumimoji="1" lang="zh-TW" altLang="en-US"/>
          </a:p>
        </p:txBody>
      </p:sp>
      <p:sp>
        <p:nvSpPr>
          <p:cNvPr id="6" name="頁尾版面配置區 5">
            <a:extLst>
              <a:ext uri="{FF2B5EF4-FFF2-40B4-BE49-F238E27FC236}">
                <a16:creationId xmlns:a16="http://schemas.microsoft.com/office/drawing/2014/main" id="{DFCC9C8F-50DB-0448-BAE3-DCD747D6EB24}"/>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E76F315-F817-7046-B413-386F671772BC}"/>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16739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AAEEB8-BF61-0D4B-91E0-B11EF6EA06A8}"/>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B92FAE11-B217-A441-BF40-6E86BC48954F}"/>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6718463-BF67-834B-B2DE-31F68E4528C2}"/>
              </a:ext>
            </a:extLst>
          </p:cNvPr>
          <p:cNvSpPr>
            <a:spLocks noGrp="1"/>
          </p:cNvSpPr>
          <p:nvPr>
            <p:ph type="dt" sz="half" idx="10"/>
          </p:nvPr>
        </p:nvSpPr>
        <p:spPr/>
        <p:txBody>
          <a:bodyPr/>
          <a:lstStyle/>
          <a:p>
            <a:fld id="{238B0978-9282-A443-81EE-087251DCE16D}" type="datetime1">
              <a:rPr kumimoji="1" lang="zh-TW" altLang="en-US" smtClean="0"/>
              <a:t>2022/3/15</a:t>
            </a:fld>
            <a:endParaRPr kumimoji="1" lang="zh-TW" altLang="en-US"/>
          </a:p>
        </p:txBody>
      </p:sp>
      <p:sp>
        <p:nvSpPr>
          <p:cNvPr id="5" name="頁尾版面配置區 4">
            <a:extLst>
              <a:ext uri="{FF2B5EF4-FFF2-40B4-BE49-F238E27FC236}">
                <a16:creationId xmlns:a16="http://schemas.microsoft.com/office/drawing/2014/main" id="{F594982C-896E-4149-99DD-209F8E8C0071}"/>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603828-B8BB-9B4D-B2DF-DD10F4CAE81A}"/>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64934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35947D6-AA8E-8847-82ED-F06115AA28F2}"/>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F700A80-132C-4840-9A7C-C78D2A2400F3}"/>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A617639-2B7B-124E-964F-8866AB88322E}"/>
              </a:ext>
            </a:extLst>
          </p:cNvPr>
          <p:cNvSpPr>
            <a:spLocks noGrp="1"/>
          </p:cNvSpPr>
          <p:nvPr>
            <p:ph type="dt" sz="half" idx="10"/>
          </p:nvPr>
        </p:nvSpPr>
        <p:spPr/>
        <p:txBody>
          <a:bodyPr/>
          <a:lstStyle/>
          <a:p>
            <a:fld id="{22108DF5-4A34-8D4B-8D26-525AA81604B2}" type="datetime1">
              <a:rPr kumimoji="1" lang="zh-TW" altLang="en-US" smtClean="0"/>
              <a:t>2022/3/15</a:t>
            </a:fld>
            <a:endParaRPr kumimoji="1" lang="zh-TW" altLang="en-US"/>
          </a:p>
        </p:txBody>
      </p:sp>
      <p:sp>
        <p:nvSpPr>
          <p:cNvPr id="5" name="頁尾版面配置區 4">
            <a:extLst>
              <a:ext uri="{FF2B5EF4-FFF2-40B4-BE49-F238E27FC236}">
                <a16:creationId xmlns:a16="http://schemas.microsoft.com/office/drawing/2014/main" id="{0438D0C4-A114-014D-8492-65B3EEDD1784}"/>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418114EB-9F4C-BE4F-9F99-D7A2DEEC2A60}"/>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608371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大標題與項目符號">
    <p:spTree>
      <p:nvGrpSpPr>
        <p:cNvPr id="1" name=""/>
        <p:cNvGrpSpPr/>
        <p:nvPr/>
      </p:nvGrpSpPr>
      <p:grpSpPr>
        <a:xfrm>
          <a:off x="0" y="0"/>
          <a:ext cx="0" cy="0"/>
          <a:chOff x="0" y="0"/>
          <a:chExt cx="0" cy="0"/>
        </a:xfrm>
      </p:grpSpPr>
      <p:sp>
        <p:nvSpPr>
          <p:cNvPr id="56" name="大標題文字"/>
          <p:cNvSpPr txBox="1">
            <a:spLocks noGrp="1"/>
          </p:cNvSpPr>
          <p:nvPr>
            <p:ph type="title"/>
          </p:nvPr>
        </p:nvSpPr>
        <p:spPr>
          <a:prstGeom prst="rect">
            <a:avLst/>
          </a:prstGeom>
        </p:spPr>
        <p:txBody>
          <a:bodyPr/>
          <a:lstStyle/>
          <a:p>
            <a:r>
              <a:t>大標題文字</a:t>
            </a:r>
          </a:p>
        </p:txBody>
      </p:sp>
      <p:sp>
        <p:nvSpPr>
          <p:cNvPr id="57" name="內文層級一…"/>
          <p:cNvSpPr txBox="1">
            <a:spLocks noGrp="1"/>
          </p:cNvSpPr>
          <p:nvPr>
            <p:ph type="body" idx="1"/>
          </p:nvPr>
        </p:nvSpPr>
        <p:spPr>
          <a:prstGeom prst="rect">
            <a:avLst/>
          </a:prstGeom>
        </p:spPr>
        <p:txBody>
          <a:bodyPr/>
          <a:lstStyle>
            <a:lvl1pPr marL="396875" indent="-396875">
              <a:defRPr sz="3000"/>
            </a:lvl1pPr>
            <a:lvl2pPr marL="714375" indent="-396875">
              <a:defRPr sz="3000"/>
            </a:lvl2pPr>
            <a:lvl3pPr marL="1031875" indent="-396875">
              <a:defRPr sz="3000"/>
            </a:lvl3pPr>
            <a:lvl4pPr marL="1349375" indent="-396875">
              <a:defRPr sz="3000"/>
            </a:lvl4pPr>
            <a:lvl5pPr marL="1666875" indent="-396875">
              <a:defRPr sz="3000"/>
            </a:lvl5pPr>
          </a:lstStyle>
          <a:p>
            <a:r>
              <a:t>內文層級一</a:t>
            </a:r>
          </a:p>
          <a:p>
            <a:pPr lvl="1"/>
            <a:r>
              <a:t>內文層級二</a:t>
            </a:r>
          </a:p>
          <a:p>
            <a:pPr lvl="2"/>
            <a:r>
              <a:t>內文層級三</a:t>
            </a:r>
          </a:p>
          <a:p>
            <a:pPr lvl="3"/>
            <a:r>
              <a:t>內文層級四</a:t>
            </a:r>
          </a:p>
          <a:p>
            <a:pPr lvl="4"/>
            <a:r>
              <a:t>內文層級五</a:t>
            </a:r>
          </a:p>
        </p:txBody>
      </p:sp>
      <p:sp>
        <p:nvSpPr>
          <p:cNvPr id="58"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0030479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3116FCC-9057-794F-A6BD-9239D6867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a:extLst>
              <a:ext uri="{FF2B5EF4-FFF2-40B4-BE49-F238E27FC236}">
                <a16:creationId xmlns:a16="http://schemas.microsoft.com/office/drawing/2014/main" id="{0F71D68C-1C2E-1C49-B4D5-25F62E8AE2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4" name="日期版面配置區 3">
            <a:extLst>
              <a:ext uri="{FF2B5EF4-FFF2-40B4-BE49-F238E27FC236}">
                <a16:creationId xmlns:a16="http://schemas.microsoft.com/office/drawing/2014/main" id="{6ECE1990-52AC-F546-8798-90353A0395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A140CC-F999-A946-9373-08EAE304F3C9}" type="datetime1">
              <a:rPr kumimoji="1" lang="zh-TW" altLang="en-US" smtClean="0"/>
              <a:t>2022/3/15</a:t>
            </a:fld>
            <a:endParaRPr kumimoji="1" lang="zh-TW" altLang="en-US"/>
          </a:p>
        </p:txBody>
      </p:sp>
      <p:sp>
        <p:nvSpPr>
          <p:cNvPr id="5" name="頁尾版面配置區 4">
            <a:extLst>
              <a:ext uri="{FF2B5EF4-FFF2-40B4-BE49-F238E27FC236}">
                <a16:creationId xmlns:a16="http://schemas.microsoft.com/office/drawing/2014/main" id="{3EB22EAC-653F-C544-A1B0-BE186C178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126F20A4-E6B9-D241-B29C-161E27408E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9743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A1336C-440D-2E43-904F-AABB45E64E1E}"/>
              </a:ext>
            </a:extLst>
          </p:cNvPr>
          <p:cNvSpPr>
            <a:spLocks noGrp="1"/>
          </p:cNvSpPr>
          <p:nvPr>
            <p:ph type="ctrTitle"/>
          </p:nvPr>
        </p:nvSpPr>
        <p:spPr>
          <a:xfrm>
            <a:off x="1275907" y="1122363"/>
            <a:ext cx="9640186" cy="2387600"/>
          </a:xfrm>
        </p:spPr>
        <p:txBody>
          <a:bodyPr>
            <a:normAutofit fontScale="90000"/>
          </a:bodyPr>
          <a:lstStyle/>
          <a:p>
            <a:r>
              <a:rPr kumimoji="1" lang="en-US" altLang="zh-TW" dirty="0"/>
              <a:t>Association Rule Mining Based Parameter Adaptive Strategy for Differential Evolution Algorithms</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FD611AA7-209A-4449-AB65-A25622930A66}"/>
              </a:ext>
            </a:extLst>
          </p:cNvPr>
          <p:cNvSpPr>
            <a:spLocks noGrp="1"/>
          </p:cNvSpPr>
          <p:nvPr>
            <p:ph type="subTitle" idx="1"/>
          </p:nvPr>
        </p:nvSpPr>
        <p:spPr>
          <a:xfrm>
            <a:off x="1524000" y="3602038"/>
            <a:ext cx="9144000" cy="2224604"/>
          </a:xfrm>
        </p:spPr>
        <p:txBody>
          <a:bodyPr>
            <a:normAutofit/>
          </a:bodyPr>
          <a:lstStyle/>
          <a:p>
            <a:r>
              <a:rPr kumimoji="1" lang="en-US" altLang="zh-TW" dirty="0" err="1">
                <a:latin typeface="Times New Roman" panose="02020603050405020304" pitchFamily="18" charset="0"/>
                <a:cs typeface="Times New Roman" panose="02020603050405020304" pitchFamily="18" charset="0"/>
              </a:rPr>
              <a:t>Chuan</a:t>
            </a:r>
            <a:r>
              <a:rPr kumimoji="1" lang="en-US" altLang="zh-TW" dirty="0">
                <a:latin typeface="Times New Roman" panose="02020603050405020304" pitchFamily="18" charset="0"/>
                <a:cs typeface="Times New Roman" panose="02020603050405020304" pitchFamily="18" charset="0"/>
              </a:rPr>
              <a:t> Wang, </a:t>
            </a:r>
            <a:r>
              <a:rPr kumimoji="1" lang="en-US" altLang="zh-TW" dirty="0" err="1">
                <a:latin typeface="Times New Roman" panose="02020603050405020304" pitchFamily="18" charset="0"/>
                <a:cs typeface="Times New Roman" panose="02020603050405020304" pitchFamily="18" charset="0"/>
              </a:rPr>
              <a:t>Yancheng</a:t>
            </a:r>
            <a:r>
              <a:rPr kumimoji="1" lang="en-US" altLang="zh-TW" dirty="0">
                <a:latin typeface="Times New Roman" panose="02020603050405020304" pitchFamily="18" charset="0"/>
                <a:cs typeface="Times New Roman" panose="02020603050405020304" pitchFamily="18" charset="0"/>
              </a:rPr>
              <a:t> Liu, </a:t>
            </a:r>
            <a:r>
              <a:rPr kumimoji="1" lang="en-US" altLang="zh-TW" dirty="0" err="1">
                <a:latin typeface="Times New Roman" panose="02020603050405020304" pitchFamily="18" charset="0"/>
                <a:cs typeface="Times New Roman" panose="02020603050405020304" pitchFamily="18" charset="0"/>
              </a:rPr>
              <a:t>Qinjin</a:t>
            </a:r>
            <a:r>
              <a:rPr kumimoji="1" lang="en-US" altLang="zh-TW" dirty="0">
                <a:latin typeface="Times New Roman" panose="02020603050405020304" pitchFamily="18" charset="0"/>
                <a:cs typeface="Times New Roman" panose="02020603050405020304" pitchFamily="18" charset="0"/>
              </a:rPr>
              <a:t> Zhang, </a:t>
            </a:r>
            <a:r>
              <a:rPr kumimoji="1" lang="en-US" altLang="zh-TW" dirty="0" err="1">
                <a:latin typeface="Times New Roman" panose="02020603050405020304" pitchFamily="18" charset="0"/>
                <a:cs typeface="Times New Roman" panose="02020603050405020304" pitchFamily="18" charset="0"/>
              </a:rPr>
              <a:t>Haohao</a:t>
            </a:r>
            <a:r>
              <a:rPr kumimoji="1" lang="en-US" altLang="zh-TW" dirty="0">
                <a:latin typeface="Times New Roman" panose="02020603050405020304" pitchFamily="18" charset="0"/>
                <a:cs typeface="Times New Roman" panose="02020603050405020304" pitchFamily="18" charset="0"/>
              </a:rPr>
              <a:t> Guo, </a:t>
            </a:r>
            <a:r>
              <a:rPr kumimoji="1" lang="en-US" altLang="zh-TW" dirty="0" err="1">
                <a:latin typeface="Times New Roman" panose="02020603050405020304" pitchFamily="18" charset="0"/>
                <a:cs typeface="Times New Roman" panose="02020603050405020304" pitchFamily="18" charset="0"/>
              </a:rPr>
              <a:t>Xiaoling</a:t>
            </a:r>
            <a:r>
              <a:rPr kumimoji="1" lang="en-US" altLang="zh-TW" dirty="0">
                <a:latin typeface="Times New Roman" panose="02020603050405020304" pitchFamily="18" charset="0"/>
                <a:cs typeface="Times New Roman" panose="02020603050405020304" pitchFamily="18" charset="0"/>
              </a:rPr>
              <a:t> Liang, Yang Chen, </a:t>
            </a:r>
            <a:r>
              <a:rPr kumimoji="1" lang="en-US" altLang="zh-TW" dirty="0" err="1">
                <a:latin typeface="Times New Roman" panose="02020603050405020304" pitchFamily="18" charset="0"/>
                <a:cs typeface="Times New Roman" panose="02020603050405020304" pitchFamily="18" charset="0"/>
              </a:rPr>
              <a:t>Minyi</a:t>
            </a:r>
            <a:r>
              <a:rPr kumimoji="1" lang="en-US" altLang="zh-TW" dirty="0">
                <a:latin typeface="Times New Roman" panose="02020603050405020304" pitchFamily="18" charset="0"/>
                <a:cs typeface="Times New Roman" panose="02020603050405020304" pitchFamily="18" charset="0"/>
              </a:rPr>
              <a:t> Xu and Yi Wei</a:t>
            </a:r>
          </a:p>
          <a:p>
            <a:endParaRPr kumimoji="1" lang="en"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Expert Systems With Applications</a:t>
            </a:r>
            <a:r>
              <a:rPr kumimoji="1" lang="en" altLang="zh-TW" dirty="0">
                <a:latin typeface="Times New Roman" panose="02020603050405020304" pitchFamily="18" charset="0"/>
                <a:cs typeface="Times New Roman" panose="02020603050405020304" pitchFamily="18" charset="0"/>
              </a:rPr>
              <a:t>, 2019</a:t>
            </a:r>
          </a:p>
          <a:p>
            <a:r>
              <a:rPr kumimoji="1" lang="en" altLang="zh-TW" dirty="0">
                <a:latin typeface="Times New Roman" panose="02020603050405020304" pitchFamily="18" charset="0"/>
                <a:cs typeface="Times New Roman" panose="02020603050405020304" pitchFamily="18" charset="0"/>
              </a:rPr>
              <a:t>Volume 123, pp. 54-69</a:t>
            </a:r>
            <a:endParaRPr kumimoji="1"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BF1141FC-B145-834E-9139-2A899AB73EAA}"/>
              </a:ext>
            </a:extLst>
          </p:cNvPr>
          <p:cNvSpPr txBox="1"/>
          <p:nvPr/>
        </p:nvSpPr>
        <p:spPr>
          <a:xfrm>
            <a:off x="9165265" y="5826642"/>
            <a:ext cx="2491964" cy="646331"/>
          </a:xfrm>
          <a:prstGeom prst="rect">
            <a:avLst/>
          </a:prstGeom>
          <a:noFill/>
        </p:spPr>
        <p:txBody>
          <a:bodyPr wrap="none" rtlCol="0">
            <a:spAutoFit/>
          </a:bodyPr>
          <a:lstStyle/>
          <a:p>
            <a:pPr algn="r"/>
            <a:r>
              <a:rPr kumimoji="1" lang="en" altLang="zh-TW" dirty="0">
                <a:latin typeface="Times New Roman" panose="02020603050405020304" pitchFamily="18" charset="0"/>
                <a:cs typeface="Times New Roman" panose="02020603050405020304" pitchFamily="18" charset="0"/>
              </a:rPr>
              <a:t>Presenter:  Tsung-Lin Lu</a:t>
            </a:r>
          </a:p>
          <a:p>
            <a:pPr algn="r"/>
            <a:r>
              <a:rPr kumimoji="1" lang="en" altLang="zh-TW" dirty="0">
                <a:latin typeface="Times New Roman" panose="02020603050405020304" pitchFamily="18" charset="0"/>
                <a:cs typeface="Times New Roman" panose="02020603050405020304" pitchFamily="18" charset="0"/>
              </a:rPr>
              <a:t>Date: Mar. 16, 2022</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5233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 (1/2)</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456662"/>
            <a:ext cx="10515600" cy="5358808"/>
          </a:xfrm>
        </p:spPr>
        <p:txBody>
          <a:bodyPr>
            <a:normAutofit/>
          </a:bodyPr>
          <a:lstStyle/>
          <a:p>
            <a:pPr marL="0" indent="0" algn="just">
              <a:buNone/>
            </a:pPr>
            <a:r>
              <a:rPr kumimoji="1" lang="en-US" altLang="zh-TW" dirty="0">
                <a:latin typeface="Times New Roman" panose="02020603050405020304" pitchFamily="18" charset="0"/>
                <a:cs typeface="Times New Roman" panose="02020603050405020304" pitchFamily="18" charset="0"/>
              </a:rPr>
              <a:t>It is a very challenging and important task to adaptively adjust the scale factor </a:t>
            </a:r>
            <a:r>
              <a:rPr kumimoji="1" lang="en-US" altLang="zh-TW" i="1" dirty="0">
                <a:latin typeface="Times New Roman" panose="02020603050405020304" pitchFamily="18" charset="0"/>
                <a:cs typeface="Times New Roman" panose="02020603050405020304" pitchFamily="18" charset="0"/>
              </a:rPr>
              <a:t>F</a:t>
            </a:r>
            <a:r>
              <a:rPr kumimoji="1" lang="en-US" altLang="zh-TW" dirty="0">
                <a:latin typeface="Times New Roman" panose="02020603050405020304" pitchFamily="18" charset="0"/>
                <a:cs typeface="Times New Roman" panose="02020603050405020304" pitchFamily="18" charset="0"/>
              </a:rPr>
              <a:t> and the crossover rate </a:t>
            </a:r>
            <a:r>
              <a:rPr kumimoji="1" lang="en-US" altLang="zh-TW" i="1" dirty="0">
                <a:latin typeface="Times New Roman" panose="02020603050405020304" pitchFamily="18" charset="0"/>
                <a:cs typeface="Times New Roman" panose="02020603050405020304" pitchFamily="18" charset="0"/>
              </a:rPr>
              <a:t>Cr</a:t>
            </a:r>
            <a:r>
              <a:rPr kumimoji="1" lang="en-US" altLang="zh-TW" dirty="0">
                <a:latin typeface="Times New Roman" panose="02020603050405020304" pitchFamily="18" charset="0"/>
                <a:cs typeface="Times New Roman" panose="02020603050405020304" pitchFamily="18" charset="0"/>
              </a:rPr>
              <a:t> for Differential Evolutionary (DE) algorithms. Most recent adaptive techniques were designed to generate parameters randomly based on successful trial values during the previous evolving process, lacking explicit guidelines to generate appropriate values. This paper proposes </a:t>
            </a:r>
            <a:r>
              <a:rPr kumimoji="1" lang="en-US" altLang="zh-TW" b="1" dirty="0">
                <a:latin typeface="Times New Roman" panose="02020603050405020304" pitchFamily="18" charset="0"/>
                <a:cs typeface="Times New Roman" panose="02020603050405020304" pitchFamily="18" charset="0"/>
              </a:rPr>
              <a:t>a novel parameter adaption strategy</a:t>
            </a:r>
            <a:r>
              <a:rPr kumimoji="1" lang="en-US" altLang="zh-TW" dirty="0">
                <a:latin typeface="Times New Roman" panose="02020603050405020304" pitchFamily="18" charset="0"/>
                <a:cs typeface="Times New Roman" panose="02020603050405020304" pitchFamily="18" charset="0"/>
              </a:rPr>
              <a:t>, which could incorporate promising </a:t>
            </a:r>
            <a:r>
              <a:rPr kumimoji="1" lang="en-US" altLang="zh-TW" i="1" dirty="0">
                <a:latin typeface="Times New Roman" panose="02020603050405020304" pitchFamily="18" charset="0"/>
                <a:cs typeface="Times New Roman" panose="02020603050405020304" pitchFamily="18" charset="0"/>
              </a:rPr>
              <a:t>F</a:t>
            </a:r>
            <a:r>
              <a:rPr kumimoji="1" lang="en-US" altLang="zh-TW" dirty="0">
                <a:latin typeface="Times New Roman" panose="02020603050405020304" pitchFamily="18" charset="0"/>
                <a:cs typeface="Times New Roman" panose="02020603050405020304" pitchFamily="18" charset="0"/>
              </a:rPr>
              <a:t> and </a:t>
            </a:r>
            <a:r>
              <a:rPr kumimoji="1" lang="en-US" altLang="zh-TW" i="1" dirty="0">
                <a:latin typeface="Times New Roman" panose="02020603050405020304" pitchFamily="18" charset="0"/>
                <a:cs typeface="Times New Roman" panose="02020603050405020304" pitchFamily="18" charset="0"/>
              </a:rPr>
              <a:t>Cr</a:t>
            </a:r>
            <a:r>
              <a:rPr kumimoji="1" lang="en-US" altLang="zh-TW" dirty="0">
                <a:latin typeface="Times New Roman" panose="02020603050405020304" pitchFamily="18" charset="0"/>
                <a:cs typeface="Times New Roman" panose="02020603050405020304" pitchFamily="18" charset="0"/>
              </a:rPr>
              <a:t> pairs extracted by using </a:t>
            </a:r>
            <a:r>
              <a:rPr kumimoji="1" lang="en-US" altLang="zh-TW" b="1" dirty="0">
                <a:latin typeface="Times New Roman" panose="02020603050405020304" pitchFamily="18" charset="0"/>
                <a:cs typeface="Times New Roman" panose="02020603050405020304" pitchFamily="18" charset="0"/>
              </a:rPr>
              <a:t>Association Rule Mining (ARM) into DE algorithms</a:t>
            </a:r>
            <a:r>
              <a:rPr kumimoji="1" lang="en-US" altLang="zh-TW" dirty="0">
                <a:latin typeface="Times New Roman" panose="02020603050405020304" pitchFamily="18" charset="0"/>
                <a:cs typeface="Times New Roman" panose="02020603050405020304" pitchFamily="18" charset="0"/>
              </a:rPr>
              <a:t>. First, all successful </a:t>
            </a:r>
            <a:r>
              <a:rPr kumimoji="1" lang="en-US" altLang="zh-TW" i="1" dirty="0">
                <a:latin typeface="Times New Roman" panose="02020603050405020304" pitchFamily="18" charset="0"/>
                <a:cs typeface="Times New Roman" panose="02020603050405020304" pitchFamily="18" charset="0"/>
              </a:rPr>
              <a:t>F</a:t>
            </a:r>
            <a:r>
              <a:rPr kumimoji="1" lang="en-US" altLang="zh-TW" dirty="0">
                <a:latin typeface="Times New Roman" panose="02020603050405020304" pitchFamily="18" charset="0"/>
                <a:cs typeface="Times New Roman" panose="02020603050405020304" pitchFamily="18" charset="0"/>
              </a:rPr>
              <a:t> and </a:t>
            </a:r>
            <a:r>
              <a:rPr kumimoji="1" lang="en-US" altLang="zh-TW" i="1" dirty="0">
                <a:latin typeface="Times New Roman" panose="02020603050405020304" pitchFamily="18" charset="0"/>
                <a:cs typeface="Times New Roman" panose="02020603050405020304" pitchFamily="18" charset="0"/>
              </a:rPr>
              <a:t>Cr</a:t>
            </a:r>
            <a:r>
              <a:rPr kumimoji="1" lang="en-US" altLang="zh-TW" dirty="0">
                <a:latin typeface="Times New Roman" panose="02020603050405020304" pitchFamily="18" charset="0"/>
                <a:cs typeface="Times New Roman" panose="02020603050405020304" pitchFamily="18" charset="0"/>
              </a:rPr>
              <a:t> values generated by their original methods are recorded during the whole evolution, resulting in an increasing dataset. Second, we discretize the dataset and extract the most frequent itemset of parameters by using a modified version of the widely used </a:t>
            </a:r>
            <a:r>
              <a:rPr kumimoji="1" lang="en-US" altLang="zh-TW" dirty="0" err="1">
                <a:latin typeface="Times New Roman" panose="02020603050405020304" pitchFamily="18" charset="0"/>
                <a:cs typeface="Times New Roman" panose="02020603050405020304" pitchFamily="18" charset="0"/>
              </a:rPr>
              <a:t>Apriori</a:t>
            </a:r>
            <a:r>
              <a:rPr kumimoji="1" lang="en-US" altLang="zh-TW" dirty="0">
                <a:latin typeface="Times New Roman" panose="02020603050405020304" pitchFamily="18" charset="0"/>
                <a:cs typeface="Times New Roman" panose="02020603050405020304" pitchFamily="18" charset="0"/>
              </a:rPr>
              <a:t> algorithm. </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a:t>
            </a:fld>
            <a:endParaRPr kumimoji="1" lang="zh-TW" altLang="en-US"/>
          </a:p>
        </p:txBody>
      </p:sp>
    </p:spTree>
    <p:extLst>
      <p:ext uri="{BB962C8B-B14F-4D97-AF65-F5344CB8AC3E}">
        <p14:creationId xmlns:p14="http://schemas.microsoft.com/office/powerpoint/2010/main" val="1944218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 (2/2)</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559808"/>
            <a:ext cx="10515600" cy="4933068"/>
          </a:xfrm>
        </p:spPr>
        <p:txBody>
          <a:bodyPr>
            <a:normAutofit/>
          </a:bodyPr>
          <a:lstStyle/>
          <a:p>
            <a:pPr marL="0" indent="0" algn="just">
              <a:buNone/>
            </a:pPr>
            <a:r>
              <a:rPr kumimoji="1" lang="en-US" altLang="zh-TW" dirty="0">
                <a:latin typeface="Times New Roman" panose="02020603050405020304" pitchFamily="18" charset="0"/>
                <a:cs typeface="Times New Roman" panose="02020603050405020304" pitchFamily="18" charset="0"/>
              </a:rPr>
              <a:t>Third, a greedy operator is developed to generate new parameters in the next generation by comparing the presented ARM-based and original-method-based fitness values. The presented technique provides an additional pair of </a:t>
            </a:r>
            <a:r>
              <a:rPr kumimoji="1" lang="en-US" altLang="zh-TW" i="1" dirty="0">
                <a:latin typeface="Times New Roman" panose="02020603050405020304" pitchFamily="18" charset="0"/>
                <a:cs typeface="Times New Roman" panose="02020603050405020304" pitchFamily="18" charset="0"/>
              </a:rPr>
              <a:t>F</a:t>
            </a:r>
            <a:r>
              <a:rPr kumimoji="1" lang="en-US" altLang="zh-TW" dirty="0">
                <a:latin typeface="Times New Roman" panose="02020603050405020304" pitchFamily="18" charset="0"/>
                <a:cs typeface="Times New Roman" panose="02020603050405020304" pitchFamily="18" charset="0"/>
              </a:rPr>
              <a:t> and </a:t>
            </a:r>
            <a:r>
              <a:rPr kumimoji="1" lang="en-US" altLang="zh-TW" i="1" dirty="0">
                <a:latin typeface="Times New Roman" panose="02020603050405020304" pitchFamily="18" charset="0"/>
                <a:cs typeface="Times New Roman" panose="02020603050405020304" pitchFamily="18" charset="0"/>
              </a:rPr>
              <a:t>Cr</a:t>
            </a:r>
            <a:r>
              <a:rPr kumimoji="1" lang="en-US" altLang="zh-TW" dirty="0">
                <a:latin typeface="Times New Roman" panose="02020603050405020304" pitchFamily="18" charset="0"/>
                <a:cs typeface="Times New Roman" panose="02020603050405020304" pitchFamily="18" charset="0"/>
              </a:rPr>
              <a:t> values to be evaluated, without replacing existing strategies for the control parameters. The main contribution of this paper is that we propose a novel way, which utilizes information generated during the evolutionary process, to </a:t>
            </a:r>
            <a:r>
              <a:rPr kumimoji="1" lang="en-US" altLang="zh-TW" b="1" dirty="0">
                <a:latin typeface="Times New Roman" panose="02020603050405020304" pitchFamily="18" charset="0"/>
                <a:cs typeface="Times New Roman" panose="02020603050405020304" pitchFamily="18" charset="0"/>
              </a:rPr>
              <a:t>enhance exploration capabilities by adjusting control parameters</a:t>
            </a:r>
            <a:r>
              <a:rPr kumimoji="1" lang="en-US" altLang="zh-TW" dirty="0">
                <a:latin typeface="Times New Roman" panose="02020603050405020304" pitchFamily="18" charset="0"/>
                <a:cs typeface="Times New Roman" panose="02020603050405020304" pitchFamily="18" charset="0"/>
              </a:rPr>
              <a:t>. Experimental results demonstrate that the proposed ARM-based parameter adaptive strategy is able to enhance performances of some state-of-the-art DE variants. Further, this methodology might be helpful for other control parameters of Evolutionary Algorithms (EA).</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2</a:t>
            </a:fld>
            <a:endParaRPr kumimoji="1" lang="zh-TW" altLang="en-US"/>
          </a:p>
        </p:txBody>
      </p:sp>
    </p:spTree>
    <p:extLst>
      <p:ext uri="{BB962C8B-B14F-4D97-AF65-F5344CB8AC3E}">
        <p14:creationId xmlns:p14="http://schemas.microsoft.com/office/powerpoint/2010/main" val="736690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Outline</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825625"/>
            <a:ext cx="10304721" cy="4351338"/>
          </a:xfrm>
        </p:spPr>
        <p:txBody>
          <a:bodyPr numCol="2">
            <a:normAutofit/>
          </a:bodyPr>
          <a:lstStyle/>
          <a:p>
            <a:r>
              <a:rPr kumimoji="1" lang="en-US" altLang="zh-TW" dirty="0">
                <a:latin typeface="Times New Roman" panose="02020603050405020304" pitchFamily="18" charset="0"/>
                <a:cs typeface="Times New Roman" panose="02020603050405020304" pitchFamily="18" charset="0"/>
              </a:rPr>
              <a:t>Differential Evolution (DE)</a:t>
            </a:r>
          </a:p>
          <a:p>
            <a:pPr lvl="1"/>
            <a:r>
              <a:rPr kumimoji="1" lang="en-US" altLang="zh-TW" dirty="0">
                <a:latin typeface="Times New Roman" panose="02020603050405020304" pitchFamily="18" charset="0"/>
                <a:cs typeface="Times New Roman" panose="02020603050405020304" pitchFamily="18" charset="0"/>
              </a:rPr>
              <a:t>Initialization</a:t>
            </a:r>
          </a:p>
          <a:p>
            <a:pPr lvl="1"/>
            <a:r>
              <a:rPr kumimoji="1" lang="en-US" altLang="zh-TW" dirty="0">
                <a:latin typeface="Times New Roman" panose="02020603050405020304" pitchFamily="18" charset="0"/>
                <a:cs typeface="Times New Roman" panose="02020603050405020304" pitchFamily="18" charset="0"/>
              </a:rPr>
              <a:t>Mutation</a:t>
            </a:r>
          </a:p>
          <a:p>
            <a:pPr lvl="1"/>
            <a:r>
              <a:rPr kumimoji="1" lang="en-US" altLang="zh-TW" dirty="0">
                <a:latin typeface="Times New Roman" panose="02020603050405020304" pitchFamily="18" charset="0"/>
                <a:cs typeface="Times New Roman" panose="02020603050405020304" pitchFamily="18" charset="0"/>
              </a:rPr>
              <a:t>Crossover</a:t>
            </a:r>
          </a:p>
          <a:p>
            <a:pPr lvl="1"/>
            <a:r>
              <a:rPr kumimoji="1" lang="en-US" altLang="zh-TW" dirty="0">
                <a:latin typeface="Times New Roman" panose="02020603050405020304" pitchFamily="18" charset="0"/>
                <a:cs typeface="Times New Roman" panose="02020603050405020304" pitchFamily="18" charset="0"/>
              </a:rPr>
              <a:t>Selection</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Association Rule Mining (ARM) </a:t>
            </a:r>
          </a:p>
          <a:p>
            <a:pPr lvl="1"/>
            <a:r>
              <a:rPr kumimoji="1" lang="en-US" altLang="zh-TW" dirty="0" err="1">
                <a:latin typeface="Times New Roman" panose="02020603050405020304" pitchFamily="18" charset="0"/>
                <a:cs typeface="Times New Roman" panose="02020603050405020304" pitchFamily="18" charset="0"/>
              </a:rPr>
              <a:t>Apriori</a:t>
            </a:r>
            <a:r>
              <a:rPr kumimoji="1" lang="en-US" altLang="zh-TW" dirty="0">
                <a:latin typeface="Times New Roman" panose="02020603050405020304" pitchFamily="18" charset="0"/>
                <a:cs typeface="Times New Roman" panose="02020603050405020304" pitchFamily="18" charset="0"/>
              </a:rPr>
              <a:t> Algorithm</a:t>
            </a:r>
          </a:p>
          <a:p>
            <a:pPr lvl="1"/>
            <a:r>
              <a:rPr kumimoji="1" lang="en-US" altLang="zh-TW" dirty="0">
                <a:latin typeface="Times New Roman" panose="02020603050405020304" pitchFamily="18" charset="0"/>
                <a:cs typeface="Times New Roman" panose="02020603050405020304" pitchFamily="18" charset="0"/>
              </a:rPr>
              <a:t>ARM-Based Parameter Adaptive Strategy</a:t>
            </a:r>
          </a:p>
          <a:p>
            <a:r>
              <a:rPr kumimoji="1" lang="en-US" altLang="zh-TW" dirty="0">
                <a:latin typeface="Times New Roman" panose="02020603050405020304" pitchFamily="18" charset="0"/>
                <a:cs typeface="Times New Roman" panose="02020603050405020304" pitchFamily="18" charset="0"/>
              </a:rPr>
              <a:t>Results</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3</a:t>
            </a:fld>
            <a:endParaRPr kumimoji="1" lang="zh-TW" altLang="en-US"/>
          </a:p>
        </p:txBody>
      </p:sp>
    </p:spTree>
    <p:extLst>
      <p:ext uri="{BB962C8B-B14F-4D97-AF65-F5344CB8AC3E}">
        <p14:creationId xmlns:p14="http://schemas.microsoft.com/office/powerpoint/2010/main" val="3440465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Differential Evolution (DE) Algorithm (1/3)</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3498111" y="1825625"/>
            <a:ext cx="3902149" cy="683659"/>
          </a:xfrm>
        </p:spPr>
        <p:txBody>
          <a:bodyPr/>
          <a:lstStyle/>
          <a:p>
            <a:r>
              <a:rPr kumimoji="1" lang="en-US" altLang="zh-TW" dirty="0">
                <a:latin typeface="Times New Roman" panose="02020603050405020304" pitchFamily="18" charset="0"/>
                <a:cs typeface="Times New Roman" panose="02020603050405020304" pitchFamily="18" charset="0"/>
              </a:rPr>
              <a:t>Initialization : Random</a:t>
            </a: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4</a:t>
            </a:fld>
            <a:endParaRPr kumimoji="1" lang="zh-TW" altLang="en-US"/>
          </a:p>
        </p:txBody>
      </p:sp>
      <p:pic>
        <p:nvPicPr>
          <p:cNvPr id="5" name="圖片 4">
            <a:extLst>
              <a:ext uri="{FF2B5EF4-FFF2-40B4-BE49-F238E27FC236}">
                <a16:creationId xmlns:a16="http://schemas.microsoft.com/office/drawing/2014/main" id="{B3C528A9-CC08-A542-9035-15E2555B4F32}"/>
              </a:ext>
            </a:extLst>
          </p:cNvPr>
          <p:cNvPicPr>
            <a:picLocks noChangeAspect="1"/>
          </p:cNvPicPr>
          <p:nvPr/>
        </p:nvPicPr>
        <p:blipFill>
          <a:blip r:embed="rId2"/>
          <a:stretch>
            <a:fillRect/>
          </a:stretch>
        </p:blipFill>
        <p:spPr>
          <a:xfrm>
            <a:off x="838200" y="1671860"/>
            <a:ext cx="2542953" cy="4821015"/>
          </a:xfrm>
          <a:prstGeom prst="rect">
            <a:avLst/>
          </a:prstGeom>
        </p:spPr>
      </p:pic>
      <p:graphicFrame>
        <p:nvGraphicFramePr>
          <p:cNvPr id="8" name="表格 8">
            <a:extLst>
              <a:ext uri="{FF2B5EF4-FFF2-40B4-BE49-F238E27FC236}">
                <a16:creationId xmlns:a16="http://schemas.microsoft.com/office/drawing/2014/main" id="{5448CB94-64F0-484F-9146-AAD3E3BEB0AF}"/>
              </a:ext>
            </a:extLst>
          </p:cNvPr>
          <p:cNvGraphicFramePr>
            <a:graphicFrameLocks noGrp="1"/>
          </p:cNvGraphicFramePr>
          <p:nvPr>
            <p:extLst>
              <p:ext uri="{D42A27DB-BD31-4B8C-83A1-F6EECF244321}">
                <p14:modId xmlns:p14="http://schemas.microsoft.com/office/powerpoint/2010/main" val="3519932329"/>
              </p:ext>
            </p:extLst>
          </p:nvPr>
        </p:nvGraphicFramePr>
        <p:xfrm>
          <a:off x="3956488" y="2395574"/>
          <a:ext cx="2954670" cy="1854200"/>
        </p:xfrm>
        <a:graphic>
          <a:graphicData uri="http://schemas.openxmlformats.org/drawingml/2006/table">
            <a:tbl>
              <a:tblPr firstRow="1" bandRow="1">
                <a:tableStyleId>{5940675A-B579-460E-94D1-54222C63F5DA}</a:tableStyleId>
              </a:tblPr>
              <a:tblGrid>
                <a:gridCol w="492445">
                  <a:extLst>
                    <a:ext uri="{9D8B030D-6E8A-4147-A177-3AD203B41FA5}">
                      <a16:colId xmlns:a16="http://schemas.microsoft.com/office/drawing/2014/main" val="3477669018"/>
                    </a:ext>
                  </a:extLst>
                </a:gridCol>
                <a:gridCol w="492445">
                  <a:extLst>
                    <a:ext uri="{9D8B030D-6E8A-4147-A177-3AD203B41FA5}">
                      <a16:colId xmlns:a16="http://schemas.microsoft.com/office/drawing/2014/main" val="142342416"/>
                    </a:ext>
                  </a:extLst>
                </a:gridCol>
                <a:gridCol w="492445">
                  <a:extLst>
                    <a:ext uri="{9D8B030D-6E8A-4147-A177-3AD203B41FA5}">
                      <a16:colId xmlns:a16="http://schemas.microsoft.com/office/drawing/2014/main" val="3156227448"/>
                    </a:ext>
                  </a:extLst>
                </a:gridCol>
                <a:gridCol w="492445">
                  <a:extLst>
                    <a:ext uri="{9D8B030D-6E8A-4147-A177-3AD203B41FA5}">
                      <a16:colId xmlns:a16="http://schemas.microsoft.com/office/drawing/2014/main" val="4044664753"/>
                    </a:ext>
                  </a:extLst>
                </a:gridCol>
                <a:gridCol w="492445">
                  <a:extLst>
                    <a:ext uri="{9D8B030D-6E8A-4147-A177-3AD203B41FA5}">
                      <a16:colId xmlns:a16="http://schemas.microsoft.com/office/drawing/2014/main" val="264551293"/>
                    </a:ext>
                  </a:extLst>
                </a:gridCol>
                <a:gridCol w="492445">
                  <a:extLst>
                    <a:ext uri="{9D8B030D-6E8A-4147-A177-3AD203B41FA5}">
                      <a16:colId xmlns:a16="http://schemas.microsoft.com/office/drawing/2014/main" val="1106817289"/>
                    </a:ext>
                  </a:extLst>
                </a:gridCol>
              </a:tblGrid>
              <a:tr h="370840">
                <a:tc>
                  <a:txBody>
                    <a:bodyPr/>
                    <a:lstStyle/>
                    <a:p>
                      <a:pPr algn="ctr"/>
                      <a:r>
                        <a:rPr lang="en-US" altLang="zh-TW" dirty="0">
                          <a:latin typeface="Times New Roman" panose="02020603050405020304" pitchFamily="18" charset="0"/>
                          <a:cs typeface="Times New Roman" panose="02020603050405020304" pitchFamily="18" charset="0"/>
                        </a:rPr>
                        <a:t>r\</a:t>
                      </a:r>
                      <a:r>
                        <a:rPr lang="en-US" altLang="zh-TW" dirty="0" err="1">
                          <a:latin typeface="Times New Roman" panose="02020603050405020304" pitchFamily="18" charset="0"/>
                          <a:cs typeface="Times New Roman" panose="02020603050405020304" pitchFamily="18" charset="0"/>
                        </a:rPr>
                        <a:t>i</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3263082"/>
                  </a:ext>
                </a:extLst>
              </a:tr>
              <a:tr h="370840">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0000"/>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altLang="zh-TW" dirty="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4064410"/>
                  </a:ext>
                </a:extLst>
              </a:tr>
              <a:tr h="37084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651048463"/>
                  </a:ext>
                </a:extLst>
              </a:tr>
              <a:tr h="370840">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altLang="zh-TW" dirty="0">
                          <a:latin typeface="Times New Roman" panose="02020603050405020304" pitchFamily="18" charset="0"/>
                          <a:cs typeface="Times New Roman" panose="02020603050405020304" pitchFamily="18" charset="0"/>
                        </a:rPr>
                        <a:t>8</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734090855"/>
                  </a:ext>
                </a:extLst>
              </a:tr>
              <a:tr h="370840">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8</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320145911"/>
                  </a:ext>
                </a:extLst>
              </a:tr>
            </a:tbl>
          </a:graphicData>
        </a:graphic>
      </p:graphicFrame>
      <p:pic>
        <p:nvPicPr>
          <p:cNvPr id="10" name="圖片 9">
            <a:extLst>
              <a:ext uri="{FF2B5EF4-FFF2-40B4-BE49-F238E27FC236}">
                <a16:creationId xmlns:a16="http://schemas.microsoft.com/office/drawing/2014/main" id="{0370614D-3836-0C44-A3E3-677B6E097D64}"/>
              </a:ext>
            </a:extLst>
          </p:cNvPr>
          <p:cNvPicPr>
            <a:picLocks noChangeAspect="1"/>
          </p:cNvPicPr>
          <p:nvPr/>
        </p:nvPicPr>
        <p:blipFill rotWithShape="1">
          <a:blip r:embed="rId3"/>
          <a:srcRect r="39404" b="78733"/>
          <a:stretch/>
        </p:blipFill>
        <p:spPr>
          <a:xfrm>
            <a:off x="7577086" y="4762611"/>
            <a:ext cx="3209110" cy="775143"/>
          </a:xfrm>
          <a:prstGeom prst="rect">
            <a:avLst/>
          </a:prstGeom>
        </p:spPr>
      </p:pic>
      <p:graphicFrame>
        <p:nvGraphicFramePr>
          <p:cNvPr id="13" name="表格 13">
            <a:extLst>
              <a:ext uri="{FF2B5EF4-FFF2-40B4-BE49-F238E27FC236}">
                <a16:creationId xmlns:a16="http://schemas.microsoft.com/office/drawing/2014/main" id="{D9CF3CB4-95D4-2342-A3BC-55048DF7A907}"/>
              </a:ext>
            </a:extLst>
          </p:cNvPr>
          <p:cNvGraphicFramePr>
            <a:graphicFrameLocks noGrp="1"/>
          </p:cNvGraphicFramePr>
          <p:nvPr>
            <p:extLst>
              <p:ext uri="{D42A27DB-BD31-4B8C-83A1-F6EECF244321}">
                <p14:modId xmlns:p14="http://schemas.microsoft.com/office/powerpoint/2010/main" val="986382553"/>
              </p:ext>
            </p:extLst>
          </p:nvPr>
        </p:nvGraphicFramePr>
        <p:xfrm>
          <a:off x="7698299" y="2395574"/>
          <a:ext cx="782603" cy="2225040"/>
        </p:xfrm>
        <a:graphic>
          <a:graphicData uri="http://schemas.openxmlformats.org/drawingml/2006/table">
            <a:tbl>
              <a:tblPr firstRow="1" bandRow="1">
                <a:tableStyleId>{5940675A-B579-460E-94D1-54222C63F5DA}</a:tableStyleId>
              </a:tblPr>
              <a:tblGrid>
                <a:gridCol w="782603">
                  <a:extLst>
                    <a:ext uri="{9D8B030D-6E8A-4147-A177-3AD203B41FA5}">
                      <a16:colId xmlns:a16="http://schemas.microsoft.com/office/drawing/2014/main" val="4186713402"/>
                    </a:ext>
                  </a:extLst>
                </a:gridCol>
              </a:tblGrid>
              <a:tr h="370840">
                <a:tc>
                  <a:txBody>
                    <a:bodyPr/>
                    <a:lstStyle/>
                    <a:p>
                      <a:pPr algn="ctr"/>
                      <a:r>
                        <a:rPr lang="en-US" altLang="zh-TW" dirty="0">
                          <a:latin typeface="Times New Roman" panose="02020603050405020304" pitchFamily="18" charset="0"/>
                          <a:cs typeface="Times New Roman" panose="02020603050405020304" pitchFamily="18" charset="0"/>
                        </a:rPr>
                        <a:t>r = 1</a:t>
                      </a:r>
                      <a:endParaRPr lang="zh-TW" altLang="en-US" dirty="0">
                        <a:latin typeface="Times New Roman" panose="02020603050405020304" pitchFamily="18" charset="0"/>
                        <a:cs typeface="Times New Roman" panose="02020603050405020304" pitchFamily="18" charset="0"/>
                      </a:endParaRPr>
                    </a:p>
                  </a:txBody>
                  <a:tcPr>
                    <a:solidFill>
                      <a:srgbClr val="FF0000"/>
                    </a:solidFill>
                  </a:tcPr>
                </a:tc>
                <a:extLst>
                  <a:ext uri="{0D108BD9-81ED-4DB2-BD59-A6C34878D82A}">
                    <a16:rowId xmlns:a16="http://schemas.microsoft.com/office/drawing/2014/main" val="1732072883"/>
                  </a:ext>
                </a:extLst>
              </a:tr>
              <a:tr h="370840">
                <a:tc>
                  <a:txBody>
                    <a:bodyPr/>
                    <a:lstStyle/>
                    <a:p>
                      <a:pPr algn="ctr"/>
                      <a:r>
                        <a:rPr lang="en-US" altLang="zh-TW" dirty="0">
                          <a:latin typeface="Times New Roman" panose="02020603050405020304" pitchFamily="18" charset="0"/>
                          <a:cs typeface="Times New Roman" panose="02020603050405020304" pitchFamily="18" charset="0"/>
                        </a:rPr>
                        <a:t>2.4</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66329417"/>
                  </a:ext>
                </a:extLst>
              </a:tr>
              <a:tr h="370840">
                <a:tc>
                  <a:txBody>
                    <a:bodyPr/>
                    <a:lstStyle/>
                    <a:p>
                      <a:pPr algn="ctr"/>
                      <a:r>
                        <a:rPr lang="en-US" altLang="zh-TW" dirty="0">
                          <a:latin typeface="Times New Roman" panose="02020603050405020304" pitchFamily="18" charset="0"/>
                          <a:cs typeface="Times New Roman" panose="02020603050405020304" pitchFamily="18" charset="0"/>
                        </a:rPr>
                        <a:t>6.1</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22954079"/>
                  </a:ext>
                </a:extLst>
              </a:tr>
              <a:tr h="370840">
                <a:tc>
                  <a:txBody>
                    <a:bodyPr/>
                    <a:lstStyle/>
                    <a:p>
                      <a:pPr algn="ctr"/>
                      <a:r>
                        <a:rPr lang="en-US" altLang="zh-TW" dirty="0">
                          <a:latin typeface="Times New Roman" panose="02020603050405020304" pitchFamily="18" charset="0"/>
                          <a:cs typeface="Times New Roman" panose="02020603050405020304" pitchFamily="18" charset="0"/>
                        </a:rPr>
                        <a:t>7.5</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4929590"/>
                  </a:ext>
                </a:extLst>
              </a:tr>
              <a:tr h="370840">
                <a:tc>
                  <a:txBody>
                    <a:bodyPr/>
                    <a:lstStyle/>
                    <a:p>
                      <a:pPr algn="ctr"/>
                      <a:r>
                        <a:rPr lang="en-US" altLang="zh-TW" dirty="0">
                          <a:latin typeface="Times New Roman" panose="02020603050405020304" pitchFamily="18" charset="0"/>
                          <a:cs typeface="Times New Roman" panose="02020603050405020304" pitchFamily="18" charset="0"/>
                        </a:rPr>
                        <a:t>3.9</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89250875"/>
                  </a:ext>
                </a:extLst>
              </a:tr>
              <a:tr h="370840">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75215535"/>
                  </a:ext>
                </a:extLst>
              </a:tr>
            </a:tbl>
          </a:graphicData>
        </a:graphic>
      </p:graphicFrame>
      <p:sp>
        <p:nvSpPr>
          <p:cNvPr id="15" name="內容版面配置區 2">
            <a:extLst>
              <a:ext uri="{FF2B5EF4-FFF2-40B4-BE49-F238E27FC236}">
                <a16:creationId xmlns:a16="http://schemas.microsoft.com/office/drawing/2014/main" id="{91A355D6-535C-D141-BB73-2AAE6CD1489E}"/>
              </a:ext>
            </a:extLst>
          </p:cNvPr>
          <p:cNvSpPr txBox="1">
            <a:spLocks/>
          </p:cNvSpPr>
          <p:nvPr/>
        </p:nvSpPr>
        <p:spPr>
          <a:xfrm>
            <a:off x="7483552" y="1825625"/>
            <a:ext cx="3338622" cy="6836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dirty="0">
                <a:latin typeface="Times New Roman" panose="02020603050405020304" pitchFamily="18" charset="0"/>
                <a:cs typeface="Times New Roman" panose="02020603050405020304" pitchFamily="18" charset="0"/>
              </a:rPr>
              <a:t>Mutation : </a:t>
            </a:r>
            <a:r>
              <a:rPr kumimoji="1" lang="en-US" altLang="zh-TW" i="1" dirty="0">
                <a:latin typeface="Times New Roman" panose="02020603050405020304" pitchFamily="18" charset="0"/>
                <a:cs typeface="Times New Roman" panose="02020603050405020304" pitchFamily="18" charset="0"/>
              </a:rPr>
              <a:t>F</a:t>
            </a:r>
            <a:r>
              <a:rPr kumimoji="1" lang="en-US" altLang="zh-TW" dirty="0">
                <a:latin typeface="Times New Roman" panose="02020603050405020304" pitchFamily="18" charset="0"/>
                <a:cs typeface="Times New Roman" panose="02020603050405020304" pitchFamily="18" charset="0"/>
              </a:rPr>
              <a:t> = 0.3</a:t>
            </a:r>
            <a:endParaRPr kumimoji="1" lang="zh-TW" altLang="en-US" dirty="0">
              <a:latin typeface="Times New Roman" panose="02020603050405020304" pitchFamily="18" charset="0"/>
              <a:cs typeface="Times New Roman" panose="02020603050405020304" pitchFamily="18" charset="0"/>
            </a:endParaRPr>
          </a:p>
          <a:p>
            <a:pPr marL="0" indent="0">
              <a:buNone/>
            </a:pPr>
            <a:endParaRPr kumimoji="1" lang="en-US" altLang="zh-TW" dirty="0">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264EC5D5-7250-C945-B6AF-6B7AE9081D5A}"/>
              </a:ext>
            </a:extLst>
          </p:cNvPr>
          <p:cNvSpPr txBox="1"/>
          <p:nvPr/>
        </p:nvSpPr>
        <p:spPr>
          <a:xfrm>
            <a:off x="4303490" y="4723105"/>
            <a:ext cx="1236236" cy="923330"/>
          </a:xfrm>
          <a:prstGeom prst="rect">
            <a:avLst/>
          </a:prstGeom>
          <a:noFill/>
        </p:spPr>
        <p:txBody>
          <a:bodyPr wrap="none" rtlCol="0">
            <a:spAutoFit/>
          </a:bodyPr>
          <a:lstStyle/>
          <a:p>
            <a:r>
              <a:rPr kumimoji="1" lang="en-US" altLang="zh-TW" dirty="0">
                <a:solidFill>
                  <a:schemeClr val="accent6"/>
                </a:solidFill>
                <a:latin typeface="Times New Roman" panose="02020603050405020304" pitchFamily="18" charset="0"/>
                <a:cs typeface="Times New Roman" panose="02020603050405020304" pitchFamily="18" charset="0"/>
              </a:rPr>
              <a:t>Green : r1</a:t>
            </a:r>
          </a:p>
          <a:p>
            <a:r>
              <a:rPr kumimoji="1" lang="en-US" altLang="zh-TW" dirty="0">
                <a:solidFill>
                  <a:schemeClr val="accent2"/>
                </a:solidFill>
                <a:latin typeface="Times New Roman" panose="02020603050405020304" pitchFamily="18" charset="0"/>
                <a:cs typeface="Times New Roman" panose="02020603050405020304" pitchFamily="18" charset="0"/>
              </a:rPr>
              <a:t>Orange : r2</a:t>
            </a:r>
          </a:p>
          <a:p>
            <a:r>
              <a:rPr kumimoji="1" lang="en-US" altLang="zh-TW" dirty="0">
                <a:solidFill>
                  <a:schemeClr val="accent1"/>
                </a:solidFill>
                <a:latin typeface="Times New Roman" panose="02020603050405020304" pitchFamily="18" charset="0"/>
                <a:cs typeface="Times New Roman" panose="02020603050405020304" pitchFamily="18" charset="0"/>
              </a:rPr>
              <a:t>Blue : r3</a:t>
            </a:r>
            <a:endParaRPr kumimoji="1" lang="zh-TW" altLang="en-US" dirty="0">
              <a:solidFill>
                <a:schemeClr val="accent1"/>
              </a:solidFill>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86D83B4B-E1DA-B84B-A251-1B9FB1122BD3}"/>
              </a:ext>
            </a:extLst>
          </p:cNvPr>
          <p:cNvSpPr txBox="1"/>
          <p:nvPr/>
        </p:nvSpPr>
        <p:spPr>
          <a:xfrm>
            <a:off x="8610600" y="2780307"/>
            <a:ext cx="2175596"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3 + 0.3 * (2 - 4) = 2.4</a:t>
            </a:r>
            <a:endParaRPr kumimoji="1" lang="zh-TW" altLang="en-US" dirty="0">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6B85B0B6-91F6-A141-ABFA-C44C3E4DF5E3}"/>
              </a:ext>
            </a:extLst>
          </p:cNvPr>
          <p:cNvSpPr txBox="1"/>
          <p:nvPr/>
        </p:nvSpPr>
        <p:spPr>
          <a:xfrm>
            <a:off x="8610600" y="3152365"/>
            <a:ext cx="2175596"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7 + 0.3 * (4 - 7) = 6.1</a:t>
            </a:r>
            <a:endParaRPr kumimoji="1" lang="zh-TW" altLang="en-US" dirty="0">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147325CF-905D-944D-9848-1563B17BB694}"/>
              </a:ext>
            </a:extLst>
          </p:cNvPr>
          <p:cNvSpPr txBox="1"/>
          <p:nvPr/>
        </p:nvSpPr>
        <p:spPr>
          <a:xfrm>
            <a:off x="8610600" y="3524423"/>
            <a:ext cx="2175596"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9 + 0.3 * (3 - 8) = 7.5</a:t>
            </a:r>
            <a:endParaRPr kumimoji="1" lang="zh-TW" altLang="en-US" dirty="0">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0DF80DE4-A9EF-A444-8F8D-D7D6263675F7}"/>
              </a:ext>
            </a:extLst>
          </p:cNvPr>
          <p:cNvSpPr txBox="1"/>
          <p:nvPr/>
        </p:nvSpPr>
        <p:spPr>
          <a:xfrm>
            <a:off x="8610600" y="3896481"/>
            <a:ext cx="2175596"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3 + 0.3 * (5 - 2) = 3.9</a:t>
            </a:r>
            <a:endParaRPr kumimoji="1" lang="zh-TW" altLang="en-US" dirty="0">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02C909A9-6D86-5B49-91C3-24796A150607}"/>
              </a:ext>
            </a:extLst>
          </p:cNvPr>
          <p:cNvSpPr txBox="1"/>
          <p:nvPr/>
        </p:nvSpPr>
        <p:spPr>
          <a:xfrm>
            <a:off x="8610600" y="4268539"/>
            <a:ext cx="2002471"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7 + 0.3 * (2 - 2) = 7</a:t>
            </a:r>
            <a:endParaRPr kumimoji="1" lang="zh-TW" altLang="en-US" dirty="0">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298A2FF7-32B2-C74A-86F6-E69FB7D65D28}"/>
              </a:ext>
            </a:extLst>
          </p:cNvPr>
          <p:cNvSpPr/>
          <p:nvPr/>
        </p:nvSpPr>
        <p:spPr>
          <a:xfrm>
            <a:off x="1031357" y="2286000"/>
            <a:ext cx="1894360" cy="419876"/>
          </a:xfrm>
          <a:prstGeom prst="rect">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 name="矩形 22">
            <a:extLst>
              <a:ext uri="{FF2B5EF4-FFF2-40B4-BE49-F238E27FC236}">
                <a16:creationId xmlns:a16="http://schemas.microsoft.com/office/drawing/2014/main" id="{6F10B8F2-9813-394F-A827-03E9697143D6}"/>
              </a:ext>
            </a:extLst>
          </p:cNvPr>
          <p:cNvSpPr/>
          <p:nvPr/>
        </p:nvSpPr>
        <p:spPr>
          <a:xfrm>
            <a:off x="1226294" y="3281208"/>
            <a:ext cx="1431846" cy="419876"/>
          </a:xfrm>
          <a:prstGeom prst="rect">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3793040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圖片 13">
            <a:extLst>
              <a:ext uri="{FF2B5EF4-FFF2-40B4-BE49-F238E27FC236}">
                <a16:creationId xmlns:a16="http://schemas.microsoft.com/office/drawing/2014/main" id="{A80E5A28-9C53-C942-8081-09EEE93763D0}"/>
              </a:ext>
            </a:extLst>
          </p:cNvPr>
          <p:cNvPicPr>
            <a:picLocks noChangeAspect="1"/>
          </p:cNvPicPr>
          <p:nvPr/>
        </p:nvPicPr>
        <p:blipFill rotWithShape="1">
          <a:blip r:embed="rId2"/>
          <a:srcRect t="3791" b="17798"/>
          <a:stretch/>
        </p:blipFill>
        <p:spPr>
          <a:xfrm>
            <a:off x="4762684" y="3838853"/>
            <a:ext cx="3682534" cy="2839039"/>
          </a:xfrm>
          <a:prstGeom prst="rect">
            <a:avLst/>
          </a:prstGeom>
        </p:spPr>
      </p:pic>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Differential Evolution (DE) Algorithm (2/3)</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814993"/>
            <a:ext cx="3902149" cy="683659"/>
          </a:xfrm>
        </p:spPr>
        <p:txBody>
          <a:bodyPr/>
          <a:lstStyle/>
          <a:p>
            <a:r>
              <a:rPr kumimoji="1" lang="en-US" altLang="zh-TW" dirty="0">
                <a:latin typeface="Times New Roman" panose="02020603050405020304" pitchFamily="18" charset="0"/>
                <a:cs typeface="Times New Roman" panose="02020603050405020304" pitchFamily="18" charset="0"/>
              </a:rPr>
              <a:t>Crossover : </a:t>
            </a:r>
            <a:r>
              <a:rPr kumimoji="1" lang="en-US" altLang="zh-TW" i="1" dirty="0">
                <a:latin typeface="Times New Roman" panose="02020603050405020304" pitchFamily="18" charset="0"/>
                <a:cs typeface="Times New Roman" panose="02020603050405020304" pitchFamily="18" charset="0"/>
              </a:rPr>
              <a:t>Cr</a:t>
            </a:r>
            <a:r>
              <a:rPr kumimoji="1" lang="en-US" altLang="zh-TW" dirty="0">
                <a:latin typeface="Times New Roman" panose="02020603050405020304" pitchFamily="18" charset="0"/>
                <a:cs typeface="Times New Roman" panose="02020603050405020304" pitchFamily="18" charset="0"/>
              </a:rPr>
              <a:t> = 0.5</a:t>
            </a: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5</a:t>
            </a:fld>
            <a:endParaRPr kumimoji="1" lang="zh-TW" altLang="en-US"/>
          </a:p>
        </p:txBody>
      </p:sp>
      <p:graphicFrame>
        <p:nvGraphicFramePr>
          <p:cNvPr id="8" name="表格 8">
            <a:extLst>
              <a:ext uri="{FF2B5EF4-FFF2-40B4-BE49-F238E27FC236}">
                <a16:creationId xmlns:a16="http://schemas.microsoft.com/office/drawing/2014/main" id="{5448CB94-64F0-484F-9146-AAD3E3BEB0AF}"/>
              </a:ext>
            </a:extLst>
          </p:cNvPr>
          <p:cNvGraphicFramePr>
            <a:graphicFrameLocks noGrp="1"/>
          </p:cNvGraphicFramePr>
          <p:nvPr>
            <p:extLst>
              <p:ext uri="{D42A27DB-BD31-4B8C-83A1-F6EECF244321}">
                <p14:modId xmlns:p14="http://schemas.microsoft.com/office/powerpoint/2010/main" val="2954809700"/>
              </p:ext>
            </p:extLst>
          </p:nvPr>
        </p:nvGraphicFramePr>
        <p:xfrm>
          <a:off x="988230" y="2384942"/>
          <a:ext cx="3124794" cy="1854200"/>
        </p:xfrm>
        <a:graphic>
          <a:graphicData uri="http://schemas.openxmlformats.org/drawingml/2006/table">
            <a:tbl>
              <a:tblPr firstRow="1" bandRow="1">
                <a:tableStyleId>{5940675A-B579-460E-94D1-54222C63F5DA}</a:tableStyleId>
              </a:tblPr>
              <a:tblGrid>
                <a:gridCol w="520799">
                  <a:extLst>
                    <a:ext uri="{9D8B030D-6E8A-4147-A177-3AD203B41FA5}">
                      <a16:colId xmlns:a16="http://schemas.microsoft.com/office/drawing/2014/main" val="3477669018"/>
                    </a:ext>
                  </a:extLst>
                </a:gridCol>
                <a:gridCol w="520799">
                  <a:extLst>
                    <a:ext uri="{9D8B030D-6E8A-4147-A177-3AD203B41FA5}">
                      <a16:colId xmlns:a16="http://schemas.microsoft.com/office/drawing/2014/main" val="142342416"/>
                    </a:ext>
                  </a:extLst>
                </a:gridCol>
                <a:gridCol w="520799">
                  <a:extLst>
                    <a:ext uri="{9D8B030D-6E8A-4147-A177-3AD203B41FA5}">
                      <a16:colId xmlns:a16="http://schemas.microsoft.com/office/drawing/2014/main" val="3156227448"/>
                    </a:ext>
                  </a:extLst>
                </a:gridCol>
                <a:gridCol w="520799">
                  <a:extLst>
                    <a:ext uri="{9D8B030D-6E8A-4147-A177-3AD203B41FA5}">
                      <a16:colId xmlns:a16="http://schemas.microsoft.com/office/drawing/2014/main" val="4044664753"/>
                    </a:ext>
                  </a:extLst>
                </a:gridCol>
                <a:gridCol w="520799">
                  <a:extLst>
                    <a:ext uri="{9D8B030D-6E8A-4147-A177-3AD203B41FA5}">
                      <a16:colId xmlns:a16="http://schemas.microsoft.com/office/drawing/2014/main" val="264551293"/>
                    </a:ext>
                  </a:extLst>
                </a:gridCol>
                <a:gridCol w="520799">
                  <a:extLst>
                    <a:ext uri="{9D8B030D-6E8A-4147-A177-3AD203B41FA5}">
                      <a16:colId xmlns:a16="http://schemas.microsoft.com/office/drawing/2014/main" val="1106817289"/>
                    </a:ext>
                  </a:extLst>
                </a:gridCol>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3263082"/>
                  </a:ext>
                </a:extLst>
              </a:tr>
              <a:tr h="370840">
                <a:tc>
                  <a:txBody>
                    <a:bodyPr/>
                    <a:lstStyle/>
                    <a:p>
                      <a:pPr algn="ctr"/>
                      <a:r>
                        <a:rPr lang="en-US" altLang="zh-TW" dirty="0">
                          <a:latin typeface="Times New Roman" panose="02020603050405020304" pitchFamily="18" charset="0"/>
                          <a:cs typeface="Times New Roman" panose="02020603050405020304" pitchFamily="18" charset="0"/>
                        </a:rPr>
                        <a:t>X</a:t>
                      </a:r>
                      <a:r>
                        <a:rPr lang="en-US" altLang="zh-TW" baseline="-25000" dirty="0">
                          <a:latin typeface="Times New Roman" panose="02020603050405020304" pitchFamily="18" charset="0"/>
                          <a:cs typeface="Times New Roman" panose="02020603050405020304" pitchFamily="18" charset="0"/>
                        </a:rPr>
                        <a:t>1</a:t>
                      </a:r>
                      <a:endParaRPr lang="zh-TW" altLang="en-US" baseline="-25000" dirty="0">
                        <a:latin typeface="Times New Roman" panose="02020603050405020304" pitchFamily="18" charset="0"/>
                        <a:cs typeface="Times New Roman" panose="02020603050405020304" pitchFamily="18"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244064410"/>
                  </a:ext>
                </a:extLst>
              </a:tr>
              <a:tr h="370840">
                <a:tc>
                  <a:txBody>
                    <a:bodyPr/>
                    <a:lstStyle/>
                    <a:p>
                      <a:pPr algn="ctr"/>
                      <a:r>
                        <a:rPr lang="en-US" altLang="zh-TW" dirty="0">
                          <a:latin typeface="Times New Roman" panose="02020603050405020304" pitchFamily="18" charset="0"/>
                          <a:cs typeface="Times New Roman" panose="02020603050405020304" pitchFamily="18" charset="0"/>
                        </a:rPr>
                        <a:t>V</a:t>
                      </a:r>
                      <a:r>
                        <a:rPr lang="en-US" altLang="zh-TW" baseline="-25000" dirty="0">
                          <a:latin typeface="Times New Roman" panose="02020603050405020304" pitchFamily="18" charset="0"/>
                          <a:cs typeface="Times New Roman" panose="02020603050405020304" pitchFamily="18" charset="0"/>
                        </a:rPr>
                        <a:t>1</a:t>
                      </a:r>
                      <a:endParaRPr lang="zh-TW" altLang="en-US" baseline="-25000" dirty="0">
                        <a:latin typeface="Times New Roman" panose="02020603050405020304" pitchFamily="18" charset="0"/>
                        <a:cs typeface="Times New Roman" panose="02020603050405020304" pitchFamily="18"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dirty="0">
                          <a:latin typeface="Times New Roman" panose="02020603050405020304" pitchFamily="18" charset="0"/>
                          <a:cs typeface="Times New Roman" panose="02020603050405020304" pitchFamily="18" charset="0"/>
                        </a:rPr>
                        <a:t>2.4</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en-US" altLang="zh-TW" dirty="0">
                          <a:latin typeface="Times New Roman" panose="02020603050405020304" pitchFamily="18" charset="0"/>
                          <a:cs typeface="Times New Roman" panose="02020603050405020304" pitchFamily="18" charset="0"/>
                        </a:rPr>
                        <a:t>6.1</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en-US" altLang="zh-TW" dirty="0">
                          <a:latin typeface="Times New Roman" panose="02020603050405020304" pitchFamily="18" charset="0"/>
                          <a:cs typeface="Times New Roman" panose="02020603050405020304" pitchFamily="18" charset="0"/>
                        </a:rPr>
                        <a:t>7.5</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en-US" altLang="zh-TW" dirty="0">
                          <a:latin typeface="Times New Roman" panose="02020603050405020304" pitchFamily="18" charset="0"/>
                          <a:cs typeface="Times New Roman" panose="02020603050405020304" pitchFamily="18" charset="0"/>
                        </a:rPr>
                        <a:t>3.9</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651048463"/>
                  </a:ext>
                </a:extLst>
              </a:tr>
              <a:tr h="370840">
                <a:tc>
                  <a:txBody>
                    <a:bodyPr/>
                    <a:lstStyle/>
                    <a:p>
                      <a:pPr algn="ctr"/>
                      <a:r>
                        <a:rPr lang="en-US" altLang="zh-TW" dirty="0">
                          <a:latin typeface="Times New Roman" panose="02020603050405020304" pitchFamily="18" charset="0"/>
                          <a:cs typeface="Times New Roman" panose="02020603050405020304" pitchFamily="18" charset="0"/>
                        </a:rPr>
                        <a:t>U</a:t>
                      </a:r>
                      <a:r>
                        <a:rPr lang="en-US" altLang="zh-TW" baseline="-25000" dirty="0">
                          <a:latin typeface="Times New Roman" panose="02020603050405020304" pitchFamily="18" charset="0"/>
                          <a:cs typeface="Times New Roman" panose="02020603050405020304" pitchFamily="18" charset="0"/>
                        </a:rPr>
                        <a:t>1</a:t>
                      </a:r>
                      <a:endParaRPr lang="zh-TW" altLang="en-US" baseline="-25000" dirty="0">
                        <a:latin typeface="Times New Roman" panose="02020603050405020304" pitchFamily="18" charset="0"/>
                        <a:cs typeface="Times New Roman" panose="02020603050405020304" pitchFamily="18"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6.1</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en-US" altLang="zh-TW" dirty="0">
                          <a:latin typeface="Times New Roman" panose="02020603050405020304" pitchFamily="18" charset="0"/>
                          <a:cs typeface="Times New Roman" panose="02020603050405020304" pitchFamily="18" charset="0"/>
                        </a:rPr>
                        <a:t>7.5</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en-US" altLang="zh-TW" dirty="0">
                          <a:latin typeface="Times New Roman" panose="02020603050405020304" pitchFamily="18" charset="0"/>
                          <a:cs typeface="Times New Roman" panose="02020603050405020304" pitchFamily="18" charset="0"/>
                        </a:rPr>
                        <a:t>3.9</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734090855"/>
                  </a:ext>
                </a:extLst>
              </a:tr>
              <a:tr h="370840">
                <a:tc>
                  <a:txBody>
                    <a:bodyPr/>
                    <a:lstStyle/>
                    <a:p>
                      <a:pPr algn="ctr"/>
                      <a:r>
                        <a:rPr lang="en-US" altLang="zh-TW" dirty="0">
                          <a:latin typeface="Times New Roman" panose="02020603050405020304" pitchFamily="18" charset="0"/>
                          <a:cs typeface="Times New Roman" panose="02020603050405020304" pitchFamily="18" charset="0"/>
                        </a:rPr>
                        <a:t>Cr</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dirty="0">
                          <a:latin typeface="Times New Roman" panose="02020603050405020304" pitchFamily="18" charset="0"/>
                          <a:cs typeface="Times New Roman" panose="02020603050405020304" pitchFamily="18" charset="0"/>
                        </a:rPr>
                        <a:t>0.7</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0.2</a:t>
                      </a:r>
                      <a:endParaRPr lang="zh-TW" altLang="en-US"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latin typeface="Times New Roman" panose="02020603050405020304" pitchFamily="18" charset="0"/>
                          <a:cs typeface="Times New Roman" panose="02020603050405020304" pitchFamily="18" charset="0"/>
                        </a:rPr>
                        <a:t>0.8</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0.5</a:t>
                      </a:r>
                      <a:endParaRPr lang="zh-TW" altLang="en-US"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latin typeface="Times New Roman" panose="02020603050405020304" pitchFamily="18" charset="0"/>
                          <a:cs typeface="Times New Roman" panose="02020603050405020304" pitchFamily="18" charset="0"/>
                        </a:rPr>
                        <a:t>0.9</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0145911"/>
                  </a:ext>
                </a:extLst>
              </a:tr>
            </a:tbl>
          </a:graphicData>
        </a:graphic>
      </p:graphicFrame>
      <p:sp>
        <p:nvSpPr>
          <p:cNvPr id="15" name="內容版面配置區 2">
            <a:extLst>
              <a:ext uri="{FF2B5EF4-FFF2-40B4-BE49-F238E27FC236}">
                <a16:creationId xmlns:a16="http://schemas.microsoft.com/office/drawing/2014/main" id="{91A355D6-535C-D141-BB73-2AAE6CD1489E}"/>
              </a:ext>
            </a:extLst>
          </p:cNvPr>
          <p:cNvSpPr txBox="1">
            <a:spLocks/>
          </p:cNvSpPr>
          <p:nvPr/>
        </p:nvSpPr>
        <p:spPr>
          <a:xfrm>
            <a:off x="4430234" y="1814993"/>
            <a:ext cx="3478616" cy="6836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dirty="0">
                <a:latin typeface="Times New Roman" panose="02020603050405020304" pitchFamily="18" charset="0"/>
                <a:cs typeface="Times New Roman" panose="02020603050405020304" pitchFamily="18" charset="0"/>
              </a:rPr>
              <a:t>Fitness function :</a:t>
            </a:r>
            <a:endParaRPr kumimoji="1" lang="zh-TW" altLang="en-US" baseline="30000" dirty="0">
              <a:latin typeface="Times New Roman" panose="02020603050405020304" pitchFamily="18" charset="0"/>
              <a:cs typeface="Times New Roman" panose="02020603050405020304" pitchFamily="18" charset="0"/>
            </a:endParaRPr>
          </a:p>
        </p:txBody>
      </p:sp>
      <p:pic>
        <p:nvPicPr>
          <p:cNvPr id="22" name="圖片 21">
            <a:extLst>
              <a:ext uri="{FF2B5EF4-FFF2-40B4-BE49-F238E27FC236}">
                <a16:creationId xmlns:a16="http://schemas.microsoft.com/office/drawing/2014/main" id="{A2E190FA-CEC6-9D4B-A873-4FF455F0736F}"/>
              </a:ext>
            </a:extLst>
          </p:cNvPr>
          <p:cNvPicPr>
            <a:picLocks noChangeAspect="1"/>
          </p:cNvPicPr>
          <p:nvPr/>
        </p:nvPicPr>
        <p:blipFill rotWithShape="1">
          <a:blip r:embed="rId3"/>
          <a:srcRect r="27725"/>
          <a:stretch/>
        </p:blipFill>
        <p:spPr>
          <a:xfrm>
            <a:off x="853778" y="5046401"/>
            <a:ext cx="3443181" cy="632479"/>
          </a:xfrm>
          <a:prstGeom prst="rect">
            <a:avLst/>
          </a:prstGeom>
        </p:spPr>
      </p:pic>
      <p:sp>
        <p:nvSpPr>
          <p:cNvPr id="7" name="文字方塊 6">
            <a:extLst>
              <a:ext uri="{FF2B5EF4-FFF2-40B4-BE49-F238E27FC236}">
                <a16:creationId xmlns:a16="http://schemas.microsoft.com/office/drawing/2014/main" id="{380843F6-3405-7642-BD64-3112905A884F}"/>
              </a:ext>
            </a:extLst>
          </p:cNvPr>
          <p:cNvSpPr txBox="1"/>
          <p:nvPr/>
        </p:nvSpPr>
        <p:spPr>
          <a:xfrm>
            <a:off x="2575369" y="4499254"/>
            <a:ext cx="522900" cy="369332"/>
          </a:xfrm>
          <a:prstGeom prst="rect">
            <a:avLst/>
          </a:prstGeom>
          <a:noFill/>
        </p:spPr>
        <p:txBody>
          <a:bodyPr wrap="none" rtlCol="0">
            <a:spAutoFit/>
          </a:bodyPr>
          <a:lstStyle/>
          <a:p>
            <a:r>
              <a:rPr kumimoji="1" lang="en-US" altLang="zh-TW" dirty="0" err="1">
                <a:solidFill>
                  <a:srgbClr val="FF0000"/>
                </a:solidFill>
                <a:latin typeface="Times New Roman" panose="02020603050405020304" pitchFamily="18" charset="0"/>
                <a:cs typeface="Times New Roman" panose="02020603050405020304" pitchFamily="18" charset="0"/>
              </a:rPr>
              <a:t>j</a:t>
            </a:r>
            <a:r>
              <a:rPr kumimoji="1" lang="en-US" altLang="zh-TW" baseline="-25000" dirty="0" err="1">
                <a:solidFill>
                  <a:srgbClr val="FF0000"/>
                </a:solidFill>
                <a:latin typeface="Times New Roman" panose="02020603050405020304" pitchFamily="18" charset="0"/>
                <a:cs typeface="Times New Roman" panose="02020603050405020304" pitchFamily="18" charset="0"/>
              </a:rPr>
              <a:t>rand</a:t>
            </a:r>
            <a:endParaRPr kumimoji="1" lang="zh-TW" altLang="en-US" baseline="-25000" dirty="0">
              <a:solidFill>
                <a:srgbClr val="FF0000"/>
              </a:solidFill>
              <a:latin typeface="Times New Roman" panose="02020603050405020304" pitchFamily="18" charset="0"/>
              <a:cs typeface="Times New Roman" panose="02020603050405020304" pitchFamily="18" charset="0"/>
            </a:endParaRPr>
          </a:p>
        </p:txBody>
      </p:sp>
      <p:cxnSp>
        <p:nvCxnSpPr>
          <p:cNvPr id="11" name="直線箭頭接點 10">
            <a:extLst>
              <a:ext uri="{FF2B5EF4-FFF2-40B4-BE49-F238E27FC236}">
                <a16:creationId xmlns:a16="http://schemas.microsoft.com/office/drawing/2014/main" id="{5ECABBE2-5F69-134A-9F0E-D5FE14F90CA2}"/>
              </a:ext>
            </a:extLst>
          </p:cNvPr>
          <p:cNvCxnSpPr/>
          <p:nvPr/>
        </p:nvCxnSpPr>
        <p:spPr>
          <a:xfrm flipV="1">
            <a:off x="2846708" y="4278150"/>
            <a:ext cx="0" cy="27243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5" name="圖片 24">
            <a:extLst>
              <a:ext uri="{FF2B5EF4-FFF2-40B4-BE49-F238E27FC236}">
                <a16:creationId xmlns:a16="http://schemas.microsoft.com/office/drawing/2014/main" id="{BDA3F414-441B-EF48-8DA2-813DF827E35E}"/>
              </a:ext>
            </a:extLst>
          </p:cNvPr>
          <p:cNvPicPr>
            <a:picLocks noChangeAspect="1"/>
          </p:cNvPicPr>
          <p:nvPr/>
        </p:nvPicPr>
        <p:blipFill>
          <a:blip r:embed="rId4"/>
          <a:stretch>
            <a:fillRect/>
          </a:stretch>
        </p:blipFill>
        <p:spPr>
          <a:xfrm>
            <a:off x="8781472" y="2560346"/>
            <a:ext cx="3101537" cy="630000"/>
          </a:xfrm>
          <a:prstGeom prst="rect">
            <a:avLst/>
          </a:prstGeom>
        </p:spPr>
      </p:pic>
      <p:sp>
        <p:nvSpPr>
          <p:cNvPr id="12" name="文字方塊 11">
            <a:extLst>
              <a:ext uri="{FF2B5EF4-FFF2-40B4-BE49-F238E27FC236}">
                <a16:creationId xmlns:a16="http://schemas.microsoft.com/office/drawing/2014/main" id="{99626DBD-739A-9543-9962-30249B588CCD}"/>
              </a:ext>
            </a:extLst>
          </p:cNvPr>
          <p:cNvSpPr txBox="1"/>
          <p:nvPr/>
        </p:nvSpPr>
        <p:spPr>
          <a:xfrm>
            <a:off x="4540104" y="2732050"/>
            <a:ext cx="3314754"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f(X</a:t>
            </a:r>
            <a:r>
              <a:rPr kumimoji="1" lang="en-US" altLang="zh-TW" baseline="-25000" dirty="0">
                <a:latin typeface="Times New Roman" panose="02020603050405020304" pitchFamily="18" charset="0"/>
                <a:cs typeface="Times New Roman" panose="02020603050405020304" pitchFamily="18" charset="0"/>
              </a:rPr>
              <a:t>1</a:t>
            </a:r>
            <a:r>
              <a:rPr kumimoji="1" lang="en-US" altLang="zh-TW" dirty="0">
                <a:latin typeface="Times New Roman" panose="02020603050405020304" pitchFamily="18" charset="0"/>
                <a:cs typeface="Times New Roman" panose="02020603050405020304" pitchFamily="18" charset="0"/>
              </a:rPr>
              <a:t>) = 9 + 16 + 81 + 4 + 9 = 119</a:t>
            </a:r>
            <a:endParaRPr kumimoji="1" lang="zh-TW" altLang="en-US" dirty="0">
              <a:latin typeface="Times New Roman" panose="02020603050405020304" pitchFamily="18" charset="0"/>
              <a:cs typeface="Times New Roman" panose="02020603050405020304" pitchFamily="18" charset="0"/>
            </a:endParaRPr>
          </a:p>
        </p:txBody>
      </p:sp>
      <p:pic>
        <p:nvPicPr>
          <p:cNvPr id="27" name="圖片 26">
            <a:extLst>
              <a:ext uri="{FF2B5EF4-FFF2-40B4-BE49-F238E27FC236}">
                <a16:creationId xmlns:a16="http://schemas.microsoft.com/office/drawing/2014/main" id="{CF8EBC2E-D735-CB4E-9554-9CA5D3A8EDF3}"/>
              </a:ext>
            </a:extLst>
          </p:cNvPr>
          <p:cNvPicPr>
            <a:picLocks noChangeAspect="1"/>
          </p:cNvPicPr>
          <p:nvPr/>
        </p:nvPicPr>
        <p:blipFill rotWithShape="1">
          <a:blip r:embed="rId2"/>
          <a:srcRect l="36115" t="83756" r="37201"/>
          <a:stretch/>
        </p:blipFill>
        <p:spPr>
          <a:xfrm>
            <a:off x="7202811" y="1576021"/>
            <a:ext cx="1578661" cy="944855"/>
          </a:xfrm>
          <a:prstGeom prst="rect">
            <a:avLst/>
          </a:prstGeom>
        </p:spPr>
      </p:pic>
      <p:sp>
        <p:nvSpPr>
          <p:cNvPr id="28" name="文字方塊 27">
            <a:extLst>
              <a:ext uri="{FF2B5EF4-FFF2-40B4-BE49-F238E27FC236}">
                <a16:creationId xmlns:a16="http://schemas.microsoft.com/office/drawing/2014/main" id="{A41C9027-A732-9149-A892-0C6775A29662}"/>
              </a:ext>
            </a:extLst>
          </p:cNvPr>
          <p:cNvSpPr txBox="1"/>
          <p:nvPr/>
        </p:nvSpPr>
        <p:spPr>
          <a:xfrm>
            <a:off x="4540104" y="3469521"/>
            <a:ext cx="4554452"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f(U</a:t>
            </a:r>
            <a:r>
              <a:rPr kumimoji="1" lang="en-US" altLang="zh-TW" baseline="-25000" dirty="0">
                <a:latin typeface="Times New Roman" panose="02020603050405020304" pitchFamily="18" charset="0"/>
                <a:cs typeface="Times New Roman" panose="02020603050405020304" pitchFamily="18" charset="0"/>
              </a:rPr>
              <a:t>1</a:t>
            </a:r>
            <a:r>
              <a:rPr kumimoji="1" lang="en-US" altLang="zh-TW" dirty="0">
                <a:latin typeface="Times New Roman" panose="02020603050405020304" pitchFamily="18" charset="0"/>
                <a:cs typeface="Times New Roman" panose="02020603050405020304" pitchFamily="18" charset="0"/>
              </a:rPr>
              <a:t>) = 9 + 37.21 + 56.25 + 15.21 + 9 = 126.67</a:t>
            </a:r>
            <a:endParaRPr kumimoji="1" lang="zh-TW" altLang="en-US" dirty="0">
              <a:latin typeface="Times New Roman" panose="02020603050405020304" pitchFamily="18" charset="0"/>
              <a:cs typeface="Times New Roman" panose="02020603050405020304" pitchFamily="18" charset="0"/>
            </a:endParaRPr>
          </a:p>
        </p:txBody>
      </p:sp>
      <p:sp>
        <p:nvSpPr>
          <p:cNvPr id="29" name="內容版面配置區 2">
            <a:extLst>
              <a:ext uri="{FF2B5EF4-FFF2-40B4-BE49-F238E27FC236}">
                <a16:creationId xmlns:a16="http://schemas.microsoft.com/office/drawing/2014/main" id="{8FFF7F18-B68D-1645-8E8E-DA3454A271EA}"/>
              </a:ext>
            </a:extLst>
          </p:cNvPr>
          <p:cNvSpPr txBox="1">
            <a:spLocks/>
          </p:cNvSpPr>
          <p:nvPr/>
        </p:nvSpPr>
        <p:spPr>
          <a:xfrm>
            <a:off x="9245151" y="1814993"/>
            <a:ext cx="2056518" cy="6836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dirty="0">
                <a:latin typeface="Times New Roman" panose="02020603050405020304" pitchFamily="18" charset="0"/>
                <a:cs typeface="Times New Roman" panose="02020603050405020304" pitchFamily="18" charset="0"/>
              </a:rPr>
              <a:t>Selection</a:t>
            </a:r>
            <a:endParaRPr kumimoji="1" lang="zh-TW" altLang="en-US" dirty="0">
              <a:latin typeface="Times New Roman" panose="02020603050405020304" pitchFamily="18" charset="0"/>
              <a:cs typeface="Times New Roman" panose="02020603050405020304" pitchFamily="18" charset="0"/>
            </a:endParaRPr>
          </a:p>
        </p:txBody>
      </p:sp>
      <p:pic>
        <p:nvPicPr>
          <p:cNvPr id="33" name="圖形 32" descr="大拇指朝下 以實心填滿">
            <a:extLst>
              <a:ext uri="{FF2B5EF4-FFF2-40B4-BE49-F238E27FC236}">
                <a16:creationId xmlns:a16="http://schemas.microsoft.com/office/drawing/2014/main" id="{2460D71A-9511-5648-BF8D-A6207B77F86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64436" y="3488859"/>
            <a:ext cx="457200" cy="457200"/>
          </a:xfrm>
          <a:prstGeom prst="rect">
            <a:avLst/>
          </a:prstGeom>
        </p:spPr>
      </p:pic>
      <p:pic>
        <p:nvPicPr>
          <p:cNvPr id="35" name="圖形 34" descr="豎起大拇指標誌 以實心填滿">
            <a:extLst>
              <a:ext uri="{FF2B5EF4-FFF2-40B4-BE49-F238E27FC236}">
                <a16:creationId xmlns:a16="http://schemas.microsoft.com/office/drawing/2014/main" id="{73D0093C-B2C0-7442-84E6-62E1D85BA75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63541" y="2635627"/>
            <a:ext cx="457200" cy="457200"/>
          </a:xfrm>
          <a:prstGeom prst="rect">
            <a:avLst/>
          </a:prstGeom>
        </p:spPr>
      </p:pic>
    </p:spTree>
    <p:extLst>
      <p:ext uri="{BB962C8B-B14F-4D97-AF65-F5344CB8AC3E}">
        <p14:creationId xmlns:p14="http://schemas.microsoft.com/office/powerpoint/2010/main" val="4223684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Differential Evolution (DE) Algorithm (3/3)</a:t>
            </a:r>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825625"/>
            <a:ext cx="5605130" cy="4351338"/>
          </a:xfrm>
        </p:spPr>
        <p:txBody>
          <a:bodyPr/>
          <a:lstStyle/>
          <a:p>
            <a:r>
              <a:rPr kumimoji="1" lang="en-US" altLang="zh-TW" dirty="0">
                <a:latin typeface="Times New Roman" panose="02020603050405020304" pitchFamily="18" charset="0"/>
                <a:cs typeface="Times New Roman" panose="02020603050405020304" pitchFamily="18" charset="0"/>
              </a:rPr>
              <a:t>Mutation</a:t>
            </a:r>
          </a:p>
          <a:p>
            <a:pPr marL="0" indent="0">
              <a:buNone/>
            </a:pPr>
            <a:endParaRPr kumimoji="1" lang="en-US" altLang="zh-TW"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6</a:t>
            </a:fld>
            <a:endParaRPr kumimoji="1" lang="zh-TW" altLang="en-US" dirty="0"/>
          </a:p>
        </p:txBody>
      </p:sp>
      <p:sp>
        <p:nvSpPr>
          <p:cNvPr id="7" name="內容版面配置區 2">
            <a:extLst>
              <a:ext uri="{FF2B5EF4-FFF2-40B4-BE49-F238E27FC236}">
                <a16:creationId xmlns:a16="http://schemas.microsoft.com/office/drawing/2014/main" id="{DC6DCD39-0B0A-9248-B227-39C098EA2E2C}"/>
              </a:ext>
            </a:extLst>
          </p:cNvPr>
          <p:cNvSpPr txBox="1">
            <a:spLocks/>
          </p:cNvSpPr>
          <p:nvPr/>
        </p:nvSpPr>
        <p:spPr>
          <a:xfrm>
            <a:off x="6578008" y="1814439"/>
            <a:ext cx="519090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dirty="0">
                <a:latin typeface="Times New Roman" panose="02020603050405020304" pitchFamily="18" charset="0"/>
                <a:cs typeface="Times New Roman" panose="02020603050405020304" pitchFamily="18" charset="0"/>
              </a:rPr>
              <a:t>Crossover</a:t>
            </a:r>
          </a:p>
          <a:p>
            <a:endParaRPr kumimoji="1" lang="en-US" altLang="zh-TW" dirty="0">
              <a:latin typeface="Times New Roman" panose="02020603050405020304" pitchFamily="18" charset="0"/>
              <a:cs typeface="Times New Roman" panose="02020603050405020304" pitchFamily="18" charset="0"/>
            </a:endParaRPr>
          </a:p>
          <a:p>
            <a:pPr marL="0" indent="0">
              <a:buNone/>
            </a:pPr>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Selection</a:t>
            </a:r>
            <a:endParaRPr kumimoji="1" lang="zh-TW" altLang="en-US"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ACFDD26B-6372-7445-B8E8-78420D36D0D6}"/>
              </a:ext>
            </a:extLst>
          </p:cNvPr>
          <p:cNvPicPr>
            <a:picLocks noChangeAspect="1"/>
          </p:cNvPicPr>
          <p:nvPr/>
        </p:nvPicPr>
        <p:blipFill>
          <a:blip r:embed="rId2"/>
          <a:stretch>
            <a:fillRect/>
          </a:stretch>
        </p:blipFill>
        <p:spPr>
          <a:xfrm>
            <a:off x="1034459" y="2446522"/>
            <a:ext cx="5295900" cy="3644900"/>
          </a:xfrm>
          <a:prstGeom prst="rect">
            <a:avLst/>
          </a:prstGeom>
        </p:spPr>
      </p:pic>
      <p:pic>
        <p:nvPicPr>
          <p:cNvPr id="9" name="圖片 8">
            <a:extLst>
              <a:ext uri="{FF2B5EF4-FFF2-40B4-BE49-F238E27FC236}">
                <a16:creationId xmlns:a16="http://schemas.microsoft.com/office/drawing/2014/main" id="{81B13401-09E1-0A46-986B-98C04D660FE1}"/>
              </a:ext>
            </a:extLst>
          </p:cNvPr>
          <p:cNvPicPr>
            <a:picLocks noChangeAspect="1"/>
          </p:cNvPicPr>
          <p:nvPr/>
        </p:nvPicPr>
        <p:blipFill rotWithShape="1">
          <a:blip r:embed="rId3"/>
          <a:srcRect r="27725"/>
          <a:stretch/>
        </p:blipFill>
        <p:spPr>
          <a:xfrm>
            <a:off x="6670161" y="2457155"/>
            <a:ext cx="4292009" cy="788400"/>
          </a:xfrm>
          <a:prstGeom prst="rect">
            <a:avLst/>
          </a:prstGeom>
        </p:spPr>
      </p:pic>
      <p:pic>
        <p:nvPicPr>
          <p:cNvPr id="10" name="圖片 9">
            <a:extLst>
              <a:ext uri="{FF2B5EF4-FFF2-40B4-BE49-F238E27FC236}">
                <a16:creationId xmlns:a16="http://schemas.microsoft.com/office/drawing/2014/main" id="{A6ED0F3C-21D4-F24B-9655-DFAFD4C5E2F9}"/>
              </a:ext>
            </a:extLst>
          </p:cNvPr>
          <p:cNvPicPr>
            <a:picLocks noChangeAspect="1"/>
          </p:cNvPicPr>
          <p:nvPr/>
        </p:nvPicPr>
        <p:blipFill>
          <a:blip r:embed="rId4"/>
          <a:stretch>
            <a:fillRect/>
          </a:stretch>
        </p:blipFill>
        <p:spPr>
          <a:xfrm>
            <a:off x="6639589" y="4469921"/>
            <a:ext cx="4064000" cy="825500"/>
          </a:xfrm>
          <a:prstGeom prst="rect">
            <a:avLst/>
          </a:prstGeom>
        </p:spPr>
      </p:pic>
      <p:pic>
        <p:nvPicPr>
          <p:cNvPr id="11" name="圖片 10">
            <a:extLst>
              <a:ext uri="{FF2B5EF4-FFF2-40B4-BE49-F238E27FC236}">
                <a16:creationId xmlns:a16="http://schemas.microsoft.com/office/drawing/2014/main" id="{0A114D23-502F-DE4F-969B-B58CCD483889}"/>
              </a:ext>
            </a:extLst>
          </p:cNvPr>
          <p:cNvPicPr>
            <a:picLocks noChangeAspect="1"/>
          </p:cNvPicPr>
          <p:nvPr/>
        </p:nvPicPr>
        <p:blipFill rotWithShape="1">
          <a:blip r:embed="rId3"/>
          <a:srcRect l="72323" t="32406" b="29428"/>
          <a:stretch/>
        </p:blipFill>
        <p:spPr>
          <a:xfrm>
            <a:off x="7341117" y="3449803"/>
            <a:ext cx="1636084" cy="299524"/>
          </a:xfrm>
          <a:prstGeom prst="rect">
            <a:avLst/>
          </a:prstGeom>
        </p:spPr>
      </p:pic>
      <p:sp>
        <p:nvSpPr>
          <p:cNvPr id="12" name="文字方塊 11">
            <a:extLst>
              <a:ext uri="{FF2B5EF4-FFF2-40B4-BE49-F238E27FC236}">
                <a16:creationId xmlns:a16="http://schemas.microsoft.com/office/drawing/2014/main" id="{BED11EE3-36D7-F442-AC6F-AE028FF1A4ED}"/>
              </a:ext>
            </a:extLst>
          </p:cNvPr>
          <p:cNvSpPr txBox="1"/>
          <p:nvPr/>
        </p:nvSpPr>
        <p:spPr>
          <a:xfrm>
            <a:off x="6545669" y="5299800"/>
            <a:ext cx="2328909" cy="1200329"/>
          </a:xfrm>
          <a:prstGeom prst="rect">
            <a:avLst/>
          </a:prstGeom>
          <a:noFill/>
        </p:spPr>
        <p:txBody>
          <a:bodyPr wrap="square" rtlCol="0">
            <a:spAutoFit/>
          </a:bodyPr>
          <a:lstStyle/>
          <a:p>
            <a:r>
              <a:rPr kumimoji="1" lang="en-US" altLang="zh-TW" i="1" dirty="0">
                <a:latin typeface="Times New Roman" panose="02020603050405020304" pitchFamily="18" charset="0"/>
                <a:cs typeface="Times New Roman" panose="02020603050405020304" pitchFamily="18" charset="0"/>
              </a:rPr>
              <a:t>X</a:t>
            </a:r>
            <a:r>
              <a:rPr kumimoji="1" lang="en-US" altLang="zh-TW" i="1" baseline="-25000" dirty="0">
                <a:latin typeface="Times New Roman" panose="02020603050405020304" pitchFamily="18" charset="0"/>
                <a:cs typeface="Times New Roman" panose="02020603050405020304" pitchFamily="18" charset="0"/>
              </a:rPr>
              <a:t>i, G </a:t>
            </a:r>
            <a:r>
              <a:rPr kumimoji="1" lang="en-US" altLang="zh-TW" dirty="0">
                <a:latin typeface="Times New Roman" panose="02020603050405020304" pitchFamily="18" charset="0"/>
                <a:cs typeface="Times New Roman" panose="02020603050405020304" pitchFamily="18" charset="0"/>
              </a:rPr>
              <a:t>: target vector</a:t>
            </a:r>
          </a:p>
          <a:p>
            <a:r>
              <a:rPr kumimoji="1" lang="en-US" altLang="zh-TW" i="1" dirty="0">
                <a:latin typeface="Times New Roman" panose="02020603050405020304" pitchFamily="18" charset="0"/>
                <a:cs typeface="Times New Roman" panose="02020603050405020304" pitchFamily="18" charset="0"/>
              </a:rPr>
              <a:t>V</a:t>
            </a:r>
            <a:r>
              <a:rPr kumimoji="1" lang="en-US" altLang="zh-TW" i="1" baseline="-25000" dirty="0">
                <a:latin typeface="Times New Roman" panose="02020603050405020304" pitchFamily="18" charset="0"/>
                <a:cs typeface="Times New Roman" panose="02020603050405020304" pitchFamily="18" charset="0"/>
              </a:rPr>
              <a:t>i, G </a:t>
            </a:r>
            <a:r>
              <a:rPr kumimoji="1" lang="en-US" altLang="zh-TW" dirty="0">
                <a:latin typeface="Times New Roman" panose="02020603050405020304" pitchFamily="18" charset="0"/>
                <a:cs typeface="Times New Roman" panose="02020603050405020304" pitchFamily="18" charset="0"/>
              </a:rPr>
              <a:t>: mutant vector</a:t>
            </a:r>
          </a:p>
          <a:p>
            <a:r>
              <a:rPr kumimoji="1" lang="en-US" altLang="zh-TW" i="1" dirty="0">
                <a:latin typeface="Times New Roman" panose="02020603050405020304" pitchFamily="18" charset="0"/>
                <a:cs typeface="Times New Roman" panose="02020603050405020304" pitchFamily="18" charset="0"/>
              </a:rPr>
              <a:t>U</a:t>
            </a:r>
            <a:r>
              <a:rPr kumimoji="1" lang="en-US" altLang="zh-TW" i="1" baseline="-25000" dirty="0">
                <a:latin typeface="Times New Roman" panose="02020603050405020304" pitchFamily="18" charset="0"/>
                <a:cs typeface="Times New Roman" panose="02020603050405020304" pitchFamily="18" charset="0"/>
              </a:rPr>
              <a:t>i, G </a:t>
            </a:r>
            <a:r>
              <a:rPr kumimoji="1" lang="en-US" altLang="zh-TW" dirty="0">
                <a:latin typeface="Times New Roman" panose="02020603050405020304" pitchFamily="18" charset="0"/>
                <a:cs typeface="Times New Roman" panose="02020603050405020304" pitchFamily="18" charset="0"/>
              </a:rPr>
              <a:t>: trial vector</a:t>
            </a:r>
          </a:p>
          <a:p>
            <a:r>
              <a:rPr kumimoji="1" lang="en-US" altLang="zh-TW" i="1" dirty="0">
                <a:latin typeface="Times New Roman" panose="02020603050405020304" pitchFamily="18" charset="0"/>
                <a:cs typeface="Times New Roman" panose="02020603050405020304" pitchFamily="18" charset="0"/>
              </a:rPr>
              <a:t>G</a:t>
            </a:r>
            <a:r>
              <a:rPr kumimoji="1" lang="en-US" altLang="zh-TW" dirty="0">
                <a:latin typeface="Times New Roman" panose="02020603050405020304" pitchFamily="18" charset="0"/>
                <a:cs typeface="Times New Roman" panose="02020603050405020304" pitchFamily="18" charset="0"/>
              </a:rPr>
              <a:t> : generation</a:t>
            </a:r>
          </a:p>
        </p:txBody>
      </p:sp>
      <p:sp>
        <p:nvSpPr>
          <p:cNvPr id="13" name="矩形 12">
            <a:extLst>
              <a:ext uri="{FF2B5EF4-FFF2-40B4-BE49-F238E27FC236}">
                <a16:creationId xmlns:a16="http://schemas.microsoft.com/office/drawing/2014/main" id="{36A3F19C-7E7A-A246-BBB8-B9B749DA7F5C}"/>
              </a:ext>
            </a:extLst>
          </p:cNvPr>
          <p:cNvSpPr/>
          <p:nvPr/>
        </p:nvSpPr>
        <p:spPr>
          <a:xfrm>
            <a:off x="8987549" y="5344571"/>
            <a:ext cx="2169992" cy="1200329"/>
          </a:xfrm>
          <a:prstGeom prst="rect">
            <a:avLst/>
          </a:prstGeom>
        </p:spPr>
        <p:txBody>
          <a:bodyPr wrap="square">
            <a:spAutoFit/>
          </a:bodyPr>
          <a:lstStyle/>
          <a:p>
            <a:r>
              <a:rPr kumimoji="1" lang="en-US" altLang="zh-TW" i="1" dirty="0">
                <a:latin typeface="Times New Roman" panose="02020603050405020304" pitchFamily="18" charset="0"/>
                <a:cs typeface="Times New Roman" panose="02020603050405020304" pitchFamily="18" charset="0"/>
              </a:rPr>
              <a:t>r</a:t>
            </a:r>
            <a:r>
              <a:rPr kumimoji="1" lang="en-US" altLang="zh-TW" dirty="0">
                <a:latin typeface="Times New Roman" panose="02020603050405020304" pitchFamily="18" charset="0"/>
                <a:cs typeface="Times New Roman" panose="02020603050405020304" pitchFamily="18" charset="0"/>
              </a:rPr>
              <a:t> : random index</a:t>
            </a:r>
          </a:p>
          <a:p>
            <a:r>
              <a:rPr kumimoji="1" lang="en-US" altLang="zh-TW" b="1" i="1" dirty="0">
                <a:solidFill>
                  <a:srgbClr val="FF0000"/>
                </a:solidFill>
                <a:latin typeface="Times New Roman" panose="02020603050405020304" pitchFamily="18" charset="0"/>
                <a:cs typeface="Times New Roman" panose="02020603050405020304" pitchFamily="18" charset="0"/>
              </a:rPr>
              <a:t>F</a:t>
            </a:r>
            <a:r>
              <a:rPr kumimoji="1" lang="en-US" altLang="zh-TW" b="1" dirty="0">
                <a:solidFill>
                  <a:srgbClr val="FF0000"/>
                </a:solidFill>
                <a:latin typeface="Times New Roman" panose="02020603050405020304" pitchFamily="18" charset="0"/>
                <a:cs typeface="Times New Roman" panose="02020603050405020304" pitchFamily="18" charset="0"/>
              </a:rPr>
              <a:t> : scale factor</a:t>
            </a:r>
          </a:p>
          <a:p>
            <a:r>
              <a:rPr kumimoji="1" lang="en-US" altLang="zh-TW" b="1" i="1" dirty="0">
                <a:solidFill>
                  <a:srgbClr val="FF0000"/>
                </a:solidFill>
                <a:latin typeface="Times New Roman" panose="02020603050405020304" pitchFamily="18" charset="0"/>
                <a:cs typeface="Times New Roman" panose="02020603050405020304" pitchFamily="18" charset="0"/>
              </a:rPr>
              <a:t>Cr</a:t>
            </a:r>
            <a:r>
              <a:rPr kumimoji="1" lang="en-US" altLang="zh-TW" b="1" dirty="0">
                <a:solidFill>
                  <a:srgbClr val="FF0000"/>
                </a:solidFill>
                <a:latin typeface="Times New Roman" panose="02020603050405020304" pitchFamily="18" charset="0"/>
                <a:cs typeface="Times New Roman" panose="02020603050405020304" pitchFamily="18" charset="0"/>
              </a:rPr>
              <a:t> : crossover rate</a:t>
            </a:r>
          </a:p>
          <a:p>
            <a:r>
              <a:rPr kumimoji="1" lang="en-US" altLang="zh-TW" i="1" dirty="0">
                <a:latin typeface="Times New Roman" panose="02020603050405020304" pitchFamily="18" charset="0"/>
                <a:cs typeface="Times New Roman" panose="02020603050405020304" pitchFamily="18" charset="0"/>
              </a:rPr>
              <a:t>D</a:t>
            </a:r>
            <a:r>
              <a:rPr kumimoji="1" lang="en-US" altLang="zh-TW" dirty="0">
                <a:latin typeface="Times New Roman" panose="02020603050405020304" pitchFamily="18" charset="0"/>
                <a:cs typeface="Times New Roman" panose="02020603050405020304" pitchFamily="18" charset="0"/>
              </a:rPr>
              <a:t> : dimension</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6064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Association Rule Mining (ARM) </a:t>
            </a:r>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825625"/>
            <a:ext cx="4690730" cy="4351338"/>
          </a:xfrm>
        </p:spPr>
        <p:txBody>
          <a:bodyPr/>
          <a:lstStyle/>
          <a:p>
            <a:pPr algn="just"/>
            <a:r>
              <a:rPr kumimoji="1" lang="en-US" altLang="zh-TW" dirty="0">
                <a:latin typeface="Times New Roman" panose="02020603050405020304" pitchFamily="18" charset="0"/>
                <a:cs typeface="Times New Roman" panose="02020603050405020304" pitchFamily="18" charset="0"/>
              </a:rPr>
              <a:t>Discover interesting relations between variables in large databases.</a:t>
            </a:r>
          </a:p>
          <a:p>
            <a:pPr algn="just"/>
            <a:r>
              <a:rPr kumimoji="1" lang="en-US" altLang="zh-TW" dirty="0" err="1">
                <a:latin typeface="Times New Roman" panose="02020603050405020304" pitchFamily="18" charset="0"/>
                <a:cs typeface="Times New Roman" panose="02020603050405020304" pitchFamily="18" charset="0"/>
              </a:rPr>
              <a:t>Apriori</a:t>
            </a:r>
            <a:r>
              <a:rPr kumimoji="1" lang="en-US" altLang="zh-TW" dirty="0">
                <a:latin typeface="Times New Roman" panose="02020603050405020304" pitchFamily="18" charset="0"/>
                <a:cs typeface="Times New Roman" panose="02020603050405020304" pitchFamily="18" charset="0"/>
              </a:rPr>
              <a:t> Algorithm</a:t>
            </a:r>
          </a:p>
          <a:p>
            <a:pPr algn="just"/>
            <a:endParaRPr kumimoji="1" lang="en-US" altLang="zh-TW" dirty="0">
              <a:latin typeface="Times New Roman" panose="02020603050405020304" pitchFamily="18" charset="0"/>
              <a:cs typeface="Times New Roman" panose="02020603050405020304" pitchFamily="18" charset="0"/>
            </a:endParaRPr>
          </a:p>
          <a:p>
            <a:pPr algn="just"/>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7</a:t>
            </a:fld>
            <a:endParaRPr kumimoji="1" lang="zh-TW" altLang="en-US"/>
          </a:p>
        </p:txBody>
      </p:sp>
      <p:pic>
        <p:nvPicPr>
          <p:cNvPr id="4" name="圖片 3">
            <a:extLst>
              <a:ext uri="{FF2B5EF4-FFF2-40B4-BE49-F238E27FC236}">
                <a16:creationId xmlns:a16="http://schemas.microsoft.com/office/drawing/2014/main" id="{A4E117DC-FAC8-EA48-BBCE-C55A150F5C4D}"/>
              </a:ext>
            </a:extLst>
          </p:cNvPr>
          <p:cNvPicPr>
            <a:picLocks noChangeAspect="1"/>
          </p:cNvPicPr>
          <p:nvPr/>
        </p:nvPicPr>
        <p:blipFill>
          <a:blip r:embed="rId2"/>
          <a:stretch>
            <a:fillRect/>
          </a:stretch>
        </p:blipFill>
        <p:spPr>
          <a:xfrm>
            <a:off x="5676056" y="1504950"/>
            <a:ext cx="5359400" cy="4851400"/>
          </a:xfrm>
          <a:prstGeom prst="rect">
            <a:avLst/>
          </a:prstGeom>
        </p:spPr>
      </p:pic>
      <p:sp>
        <p:nvSpPr>
          <p:cNvPr id="5" name="矩形 4">
            <a:extLst>
              <a:ext uri="{FF2B5EF4-FFF2-40B4-BE49-F238E27FC236}">
                <a16:creationId xmlns:a16="http://schemas.microsoft.com/office/drawing/2014/main" id="{31E826BD-EE5A-CE49-9A80-7D0913ACF8D4}"/>
              </a:ext>
            </a:extLst>
          </p:cNvPr>
          <p:cNvSpPr/>
          <p:nvPr/>
        </p:nvSpPr>
        <p:spPr>
          <a:xfrm>
            <a:off x="5823984" y="6308209"/>
            <a:ext cx="4628255" cy="369332"/>
          </a:xfrm>
          <a:prstGeom prst="rect">
            <a:avLst/>
          </a:prstGeom>
        </p:spPr>
        <p:txBody>
          <a:bodyPr wrap="none">
            <a:spAutoFit/>
          </a:bodyPr>
          <a:lstStyle/>
          <a:p>
            <a:r>
              <a:rPr lang="en-US" altLang="zh-TW" dirty="0">
                <a:solidFill>
                  <a:srgbClr val="000000"/>
                </a:solidFill>
                <a:latin typeface="Times New Roman" panose="02020603050405020304" pitchFamily="18" charset="0"/>
                <a:cs typeface="Times New Roman" panose="02020603050405020304" pitchFamily="18" charset="0"/>
              </a:rPr>
              <a:t>(a) An example of how </a:t>
            </a:r>
            <a:r>
              <a:rPr lang="en-US" altLang="zh-TW" dirty="0" err="1">
                <a:solidFill>
                  <a:srgbClr val="000000"/>
                </a:solidFill>
                <a:latin typeface="Times New Roman" panose="02020603050405020304" pitchFamily="18" charset="0"/>
                <a:cs typeface="Times New Roman" panose="02020603050405020304" pitchFamily="18" charset="0"/>
              </a:rPr>
              <a:t>Apriori</a:t>
            </a:r>
            <a:r>
              <a:rPr lang="en-US" altLang="zh-TW" dirty="0">
                <a:solidFill>
                  <a:srgbClr val="000000"/>
                </a:solidFill>
                <a:latin typeface="Times New Roman" panose="02020603050405020304" pitchFamily="18" charset="0"/>
                <a:cs typeface="Times New Roman" panose="02020603050405020304" pitchFamily="18" charset="0"/>
              </a:rPr>
              <a:t> algorithm works.</a:t>
            </a:r>
            <a:endParaRPr lang="en-US" altLang="zh-TW"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3844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a:xfrm>
            <a:off x="838200" y="365125"/>
            <a:ext cx="10857614" cy="1325563"/>
          </a:xfrm>
        </p:spPr>
        <p:txBody>
          <a:bodyPr/>
          <a:lstStyle/>
          <a:p>
            <a:r>
              <a:rPr kumimoji="1" lang="en-US" altLang="zh-TW" dirty="0"/>
              <a:t>ARM-Based Parameter Adaptive Strategy (1/4)</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8</a:t>
            </a:fld>
            <a:endParaRPr kumimoji="1" lang="zh-TW" altLang="en-US"/>
          </a:p>
        </p:txBody>
      </p:sp>
      <p:pic>
        <p:nvPicPr>
          <p:cNvPr id="5" name="圖片 4">
            <a:extLst>
              <a:ext uri="{FF2B5EF4-FFF2-40B4-BE49-F238E27FC236}">
                <a16:creationId xmlns:a16="http://schemas.microsoft.com/office/drawing/2014/main" id="{1E415D0D-2EA4-9C47-B01F-192E420F23A2}"/>
              </a:ext>
            </a:extLst>
          </p:cNvPr>
          <p:cNvPicPr>
            <a:picLocks noChangeAspect="1"/>
          </p:cNvPicPr>
          <p:nvPr/>
        </p:nvPicPr>
        <p:blipFill>
          <a:blip r:embed="rId2"/>
          <a:stretch>
            <a:fillRect/>
          </a:stretch>
        </p:blipFill>
        <p:spPr>
          <a:xfrm>
            <a:off x="2069306" y="1825625"/>
            <a:ext cx="8053387" cy="4335103"/>
          </a:xfrm>
          <a:prstGeom prst="rect">
            <a:avLst/>
          </a:prstGeom>
        </p:spPr>
      </p:pic>
    </p:spTree>
    <p:extLst>
      <p:ext uri="{BB962C8B-B14F-4D97-AF65-F5344CB8AC3E}">
        <p14:creationId xmlns:p14="http://schemas.microsoft.com/office/powerpoint/2010/main" val="2669857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B4164ECB-6FE1-9A41-B420-9E964967F0F1}"/>
              </a:ext>
            </a:extLst>
          </p:cNvPr>
          <p:cNvPicPr>
            <a:picLocks noChangeAspect="1"/>
          </p:cNvPicPr>
          <p:nvPr/>
        </p:nvPicPr>
        <p:blipFill>
          <a:blip r:embed="rId2"/>
          <a:stretch>
            <a:fillRect/>
          </a:stretch>
        </p:blipFill>
        <p:spPr>
          <a:xfrm>
            <a:off x="933965" y="4278601"/>
            <a:ext cx="8403413" cy="2450624"/>
          </a:xfrm>
          <a:prstGeom prst="rect">
            <a:avLst/>
          </a:prstGeom>
        </p:spPr>
      </p:pic>
      <p:pic>
        <p:nvPicPr>
          <p:cNvPr id="4" name="圖片 3">
            <a:extLst>
              <a:ext uri="{FF2B5EF4-FFF2-40B4-BE49-F238E27FC236}">
                <a16:creationId xmlns:a16="http://schemas.microsoft.com/office/drawing/2014/main" id="{3BD0D762-A881-4A42-9A4A-D5156F496C21}"/>
              </a:ext>
            </a:extLst>
          </p:cNvPr>
          <p:cNvPicPr>
            <a:picLocks noChangeAspect="1"/>
          </p:cNvPicPr>
          <p:nvPr/>
        </p:nvPicPr>
        <p:blipFill>
          <a:blip r:embed="rId3"/>
          <a:stretch>
            <a:fillRect/>
          </a:stretch>
        </p:blipFill>
        <p:spPr>
          <a:xfrm>
            <a:off x="933965" y="1246853"/>
            <a:ext cx="9512595" cy="3115040"/>
          </a:xfrm>
          <a:prstGeom prst="rect">
            <a:avLst/>
          </a:prstGeom>
        </p:spPr>
      </p:pic>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9</a:t>
            </a:fld>
            <a:endParaRPr kumimoji="1" lang="zh-TW" altLang="en-US"/>
          </a:p>
        </p:txBody>
      </p:sp>
      <p:sp>
        <p:nvSpPr>
          <p:cNvPr id="11" name="標題 1">
            <a:extLst>
              <a:ext uri="{FF2B5EF4-FFF2-40B4-BE49-F238E27FC236}">
                <a16:creationId xmlns:a16="http://schemas.microsoft.com/office/drawing/2014/main" id="{374D06D1-03A8-C848-87F7-D219935A0958}"/>
              </a:ext>
            </a:extLst>
          </p:cNvPr>
          <p:cNvSpPr>
            <a:spLocks noGrp="1"/>
          </p:cNvSpPr>
          <p:nvPr>
            <p:ph type="title"/>
          </p:nvPr>
        </p:nvSpPr>
        <p:spPr>
          <a:xfrm>
            <a:off x="838200" y="365125"/>
            <a:ext cx="10857614" cy="1325563"/>
          </a:xfrm>
        </p:spPr>
        <p:txBody>
          <a:bodyPr/>
          <a:lstStyle/>
          <a:p>
            <a:r>
              <a:rPr kumimoji="1" lang="en-US" altLang="zh-TW" dirty="0"/>
              <a:t>ARM-Based Parameter Adaptive Strategy (2/4)</a:t>
            </a:r>
            <a:endParaRPr kumimoji="1" lang="zh-TW" altLang="en-US" dirty="0"/>
          </a:p>
        </p:txBody>
      </p:sp>
    </p:spTree>
    <p:extLst>
      <p:ext uri="{BB962C8B-B14F-4D97-AF65-F5344CB8AC3E}">
        <p14:creationId xmlns:p14="http://schemas.microsoft.com/office/powerpoint/2010/main" val="3378710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5F72F96D-FC53-0843-810C-97E2D3E015EA}"/>
              </a:ext>
            </a:extLst>
          </p:cNvPr>
          <p:cNvPicPr>
            <a:picLocks noChangeAspect="1"/>
          </p:cNvPicPr>
          <p:nvPr/>
        </p:nvPicPr>
        <p:blipFill>
          <a:blip r:embed="rId2"/>
          <a:stretch>
            <a:fillRect/>
          </a:stretch>
        </p:blipFill>
        <p:spPr>
          <a:xfrm>
            <a:off x="2421564" y="1240595"/>
            <a:ext cx="6962983" cy="5252280"/>
          </a:xfrm>
          <a:prstGeom prst="rect">
            <a:avLst/>
          </a:prstGeom>
        </p:spPr>
      </p:pic>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a:xfrm>
            <a:off x="838200" y="365125"/>
            <a:ext cx="10783186" cy="1325563"/>
          </a:xfrm>
        </p:spPr>
        <p:txBody>
          <a:bodyPr/>
          <a:lstStyle/>
          <a:p>
            <a:r>
              <a:rPr kumimoji="1" lang="en-US" altLang="zh-TW" dirty="0"/>
              <a:t>ARM-Based Parameter Adaptive Strategy (3/4)</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10</a:t>
            </a:fld>
            <a:endParaRPr kumimoji="1" lang="zh-TW" altLang="en-US"/>
          </a:p>
        </p:txBody>
      </p:sp>
    </p:spTree>
    <p:extLst>
      <p:ext uri="{BB962C8B-B14F-4D97-AF65-F5344CB8AC3E}">
        <p14:creationId xmlns:p14="http://schemas.microsoft.com/office/powerpoint/2010/main" val="129155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a:xfrm>
            <a:off x="838199" y="365125"/>
            <a:ext cx="10995837" cy="1325563"/>
          </a:xfrm>
        </p:spPr>
        <p:txBody>
          <a:bodyPr/>
          <a:lstStyle/>
          <a:p>
            <a:r>
              <a:rPr kumimoji="1" lang="en-US" altLang="zh-TW" dirty="0"/>
              <a:t>ARM-Based Parameter Adaptive Strategy (4/4)</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Step 1. Record every successful </a:t>
            </a:r>
            <a:r>
              <a:rPr kumimoji="1" lang="en-US" altLang="zh-TW" i="1" dirty="0">
                <a:latin typeface="Times New Roman" panose="02020603050405020304" pitchFamily="18" charset="0"/>
                <a:cs typeface="Times New Roman" panose="02020603050405020304" pitchFamily="18" charset="0"/>
              </a:rPr>
              <a:t>F</a:t>
            </a:r>
            <a:r>
              <a:rPr kumimoji="1" lang="en-US" altLang="zh-TW" dirty="0">
                <a:latin typeface="Times New Roman" panose="02020603050405020304" pitchFamily="18" charset="0"/>
                <a:cs typeface="Times New Roman" panose="02020603050405020304" pitchFamily="18" charset="0"/>
              </a:rPr>
              <a:t> and </a:t>
            </a:r>
            <a:r>
              <a:rPr kumimoji="1" lang="en-US" altLang="zh-TW" i="1" dirty="0">
                <a:latin typeface="Times New Roman" panose="02020603050405020304" pitchFamily="18" charset="0"/>
                <a:cs typeface="Times New Roman" panose="02020603050405020304" pitchFamily="18" charset="0"/>
              </a:rPr>
              <a:t>Cr</a:t>
            </a:r>
            <a:r>
              <a:rPr kumimoji="1" lang="en-US" altLang="zh-TW" dirty="0">
                <a:latin typeface="Times New Roman" panose="02020603050405020304" pitchFamily="18" charset="0"/>
                <a:cs typeface="Times New Roman" panose="02020603050405020304" pitchFamily="18" charset="0"/>
              </a:rPr>
              <a:t> into original dataset </a:t>
            </a:r>
            <a:r>
              <a:rPr kumimoji="1" lang="en-US" altLang="zh-TW" i="1" dirty="0">
                <a:latin typeface="Times New Roman" panose="02020603050405020304" pitchFamily="18" charset="0"/>
                <a:cs typeface="Times New Roman" panose="02020603050405020304" pitchFamily="18" charset="0"/>
              </a:rPr>
              <a:t>D</a:t>
            </a:r>
            <a:r>
              <a:rPr kumimoji="1" lang="en-US" altLang="zh-TW" i="1" baseline="-25000" dirty="0">
                <a:latin typeface="Times New Roman" panose="02020603050405020304" pitchFamily="18" charset="0"/>
                <a:cs typeface="Times New Roman" panose="02020603050405020304" pitchFamily="18" charset="0"/>
              </a:rPr>
              <a:t>o</a:t>
            </a:r>
            <a:r>
              <a:rPr kumimoji="1" lang="en-US" altLang="zh-TW" dirty="0">
                <a:latin typeface="Times New Roman" panose="02020603050405020304" pitchFamily="18" charset="0"/>
                <a:cs typeface="Times New Roman" panose="02020603050405020304" pitchFamily="18" charset="0"/>
              </a:rPr>
              <a:t>.</a:t>
            </a:r>
          </a:p>
          <a:p>
            <a:r>
              <a:rPr kumimoji="1" lang="en-US" altLang="zh-TW" dirty="0">
                <a:latin typeface="Times New Roman" panose="02020603050405020304" pitchFamily="18" charset="0"/>
                <a:cs typeface="Times New Roman" panose="02020603050405020304" pitchFamily="18" charset="0"/>
              </a:rPr>
              <a:t>Step 2. Discretize </a:t>
            </a:r>
            <a:r>
              <a:rPr kumimoji="1" lang="en-US" altLang="zh-TW" i="1" dirty="0">
                <a:latin typeface="Times New Roman" panose="02020603050405020304" pitchFamily="18" charset="0"/>
                <a:cs typeface="Times New Roman" panose="02020603050405020304" pitchFamily="18" charset="0"/>
              </a:rPr>
              <a:t>D</a:t>
            </a:r>
            <a:r>
              <a:rPr kumimoji="1" lang="en-US" altLang="zh-TW" i="1" baseline="-25000" dirty="0">
                <a:latin typeface="Times New Roman" panose="02020603050405020304" pitchFamily="18" charset="0"/>
                <a:cs typeface="Times New Roman" panose="02020603050405020304" pitchFamily="18" charset="0"/>
              </a:rPr>
              <a:t>o</a:t>
            </a:r>
            <a:r>
              <a:rPr kumimoji="1" lang="en-US" altLang="zh-TW" dirty="0">
                <a:latin typeface="Times New Roman" panose="02020603050405020304" pitchFamily="18" charset="0"/>
                <a:cs typeface="Times New Roman" panose="02020603050405020304" pitchFamily="18" charset="0"/>
              </a:rPr>
              <a:t>.</a:t>
            </a:r>
          </a:p>
          <a:p>
            <a:r>
              <a:rPr kumimoji="1" lang="en-US" altLang="zh-TW" dirty="0">
                <a:latin typeface="Times New Roman" panose="02020603050405020304" pitchFamily="18" charset="0"/>
                <a:cs typeface="Times New Roman" panose="02020603050405020304" pitchFamily="18" charset="0"/>
              </a:rPr>
              <a:t>Step 3. Find the most frequent 2-itemset by using </a:t>
            </a:r>
            <a:r>
              <a:rPr kumimoji="1" lang="en-US" altLang="zh-TW" dirty="0" err="1">
                <a:latin typeface="Times New Roman" panose="02020603050405020304" pitchFamily="18" charset="0"/>
                <a:cs typeface="Times New Roman" panose="02020603050405020304" pitchFamily="18" charset="0"/>
              </a:rPr>
              <a:t>Apriori</a:t>
            </a:r>
            <a:r>
              <a:rPr kumimoji="1" lang="en-US" altLang="zh-TW" dirty="0">
                <a:latin typeface="Times New Roman" panose="02020603050405020304" pitchFamily="18" charset="0"/>
                <a:cs typeface="Times New Roman" panose="02020603050405020304" pitchFamily="18" charset="0"/>
              </a:rPr>
              <a:t> algorithm.</a:t>
            </a:r>
          </a:p>
          <a:p>
            <a:r>
              <a:rPr kumimoji="1" lang="en-US" altLang="zh-TW" dirty="0">
                <a:latin typeface="Times New Roman" panose="02020603050405020304" pitchFamily="18" charset="0"/>
                <a:cs typeface="Times New Roman" panose="02020603050405020304" pitchFamily="18" charset="0"/>
              </a:rPr>
              <a:t>Step 4. Generate new values based on the above association rule.</a:t>
            </a:r>
          </a:p>
          <a:p>
            <a:r>
              <a:rPr kumimoji="1" lang="en-US" altLang="zh-TW" dirty="0">
                <a:latin typeface="Times New Roman" panose="02020603050405020304" pitchFamily="18" charset="0"/>
                <a:cs typeface="Times New Roman" panose="02020603050405020304" pitchFamily="18" charset="0"/>
              </a:rPr>
              <a:t>Step 5. Select better candidate parameters by using a greedy operator. </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11</a:t>
            </a:fld>
            <a:endParaRPr kumimoji="1" lang="zh-TW" altLang="en-US"/>
          </a:p>
        </p:txBody>
      </p:sp>
      <p:pic>
        <p:nvPicPr>
          <p:cNvPr id="4" name="圖片 3">
            <a:extLst>
              <a:ext uri="{FF2B5EF4-FFF2-40B4-BE49-F238E27FC236}">
                <a16:creationId xmlns:a16="http://schemas.microsoft.com/office/drawing/2014/main" id="{74FE4CB0-6927-AC47-8FEB-EAD8685520D7}"/>
              </a:ext>
            </a:extLst>
          </p:cNvPr>
          <p:cNvPicPr>
            <a:picLocks noChangeAspect="1"/>
          </p:cNvPicPr>
          <p:nvPr/>
        </p:nvPicPr>
        <p:blipFill>
          <a:blip r:embed="rId3"/>
          <a:stretch>
            <a:fillRect/>
          </a:stretch>
        </p:blipFill>
        <p:spPr>
          <a:xfrm>
            <a:off x="4578204" y="4384694"/>
            <a:ext cx="6785344" cy="1428493"/>
          </a:xfrm>
          <a:prstGeom prst="rect">
            <a:avLst/>
          </a:prstGeom>
        </p:spPr>
      </p:pic>
      <p:pic>
        <p:nvPicPr>
          <p:cNvPr id="5" name="圖片 4">
            <a:extLst>
              <a:ext uri="{FF2B5EF4-FFF2-40B4-BE49-F238E27FC236}">
                <a16:creationId xmlns:a16="http://schemas.microsoft.com/office/drawing/2014/main" id="{804569CD-6B16-2D44-B772-B477B2C30B51}"/>
              </a:ext>
            </a:extLst>
          </p:cNvPr>
          <p:cNvPicPr>
            <a:picLocks noChangeAspect="1"/>
          </p:cNvPicPr>
          <p:nvPr/>
        </p:nvPicPr>
        <p:blipFill>
          <a:blip r:embed="rId4"/>
          <a:stretch>
            <a:fillRect/>
          </a:stretch>
        </p:blipFill>
        <p:spPr>
          <a:xfrm>
            <a:off x="1135029" y="4502615"/>
            <a:ext cx="3108400" cy="1192649"/>
          </a:xfrm>
          <a:prstGeom prst="rect">
            <a:avLst/>
          </a:prstGeom>
        </p:spPr>
      </p:pic>
      <p:sp>
        <p:nvSpPr>
          <p:cNvPr id="7" name="矩形 6">
            <a:extLst>
              <a:ext uri="{FF2B5EF4-FFF2-40B4-BE49-F238E27FC236}">
                <a16:creationId xmlns:a16="http://schemas.microsoft.com/office/drawing/2014/main" id="{87AAB613-0F79-A148-A6F5-9F3D9FE01036}"/>
              </a:ext>
            </a:extLst>
          </p:cNvPr>
          <p:cNvSpPr/>
          <p:nvPr/>
        </p:nvSpPr>
        <p:spPr>
          <a:xfrm>
            <a:off x="1135029" y="5853181"/>
            <a:ext cx="768159" cy="369332"/>
          </a:xfrm>
          <a:prstGeom prst="rect">
            <a:avLst/>
          </a:prstGeom>
        </p:spPr>
        <p:txBody>
          <a:bodyPr wrap="none">
            <a:spAutoFit/>
          </a:bodyPr>
          <a:lstStyle/>
          <a:p>
            <a:r>
              <a:rPr lang="en-US" altLang="zh-TW" dirty="0">
                <a:solidFill>
                  <a:srgbClr val="000000"/>
                </a:solidFill>
                <a:effectLst/>
                <a:latin typeface="Times New Roman" panose="02020603050405020304" pitchFamily="18" charset="0"/>
                <a:cs typeface="Times New Roman" panose="02020603050405020304" pitchFamily="18" charset="0"/>
              </a:rPr>
              <a:t>Step4.</a:t>
            </a:r>
          </a:p>
        </p:txBody>
      </p:sp>
      <p:sp>
        <p:nvSpPr>
          <p:cNvPr id="8" name="矩形 7">
            <a:extLst>
              <a:ext uri="{FF2B5EF4-FFF2-40B4-BE49-F238E27FC236}">
                <a16:creationId xmlns:a16="http://schemas.microsoft.com/office/drawing/2014/main" id="{9E8CE251-F77E-D846-A298-380E0A8261C8}"/>
              </a:ext>
            </a:extLst>
          </p:cNvPr>
          <p:cNvSpPr/>
          <p:nvPr/>
        </p:nvSpPr>
        <p:spPr>
          <a:xfrm>
            <a:off x="4578204" y="5853181"/>
            <a:ext cx="768159" cy="369332"/>
          </a:xfrm>
          <a:prstGeom prst="rect">
            <a:avLst/>
          </a:prstGeom>
        </p:spPr>
        <p:txBody>
          <a:bodyPr wrap="none">
            <a:spAutoFit/>
          </a:bodyPr>
          <a:lstStyle/>
          <a:p>
            <a:r>
              <a:rPr lang="en-US" altLang="zh-TW" dirty="0">
                <a:solidFill>
                  <a:srgbClr val="000000"/>
                </a:solidFill>
                <a:effectLst/>
                <a:latin typeface="Times New Roman" panose="02020603050405020304" pitchFamily="18" charset="0"/>
                <a:cs typeface="Times New Roman" panose="02020603050405020304" pitchFamily="18" charset="0"/>
              </a:rPr>
              <a:t>Step5.</a:t>
            </a:r>
          </a:p>
        </p:txBody>
      </p:sp>
    </p:spTree>
    <p:extLst>
      <p:ext uri="{BB962C8B-B14F-4D97-AF65-F5344CB8AC3E}">
        <p14:creationId xmlns:p14="http://schemas.microsoft.com/office/powerpoint/2010/main" val="1786845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Results (1/5)</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825625"/>
            <a:ext cx="5062870" cy="4351338"/>
          </a:xfrm>
        </p:spPr>
        <p:txBody>
          <a:bodyPr/>
          <a:lstStyle/>
          <a:p>
            <a:r>
              <a:rPr kumimoji="1" lang="en-US" altLang="zh-TW" dirty="0">
                <a:latin typeface="Times New Roman" panose="02020603050405020304" pitchFamily="18" charset="0"/>
                <a:cs typeface="Times New Roman" panose="02020603050405020304" pitchFamily="18" charset="0"/>
              </a:rPr>
              <a:t>Benchmark : CEC2005</a:t>
            </a:r>
          </a:p>
          <a:p>
            <a:pPr lvl="1"/>
            <a:r>
              <a:rPr kumimoji="1" lang="en-US" altLang="zh-TW" i="1" dirty="0">
                <a:latin typeface="Times New Roman" panose="02020603050405020304" pitchFamily="18" charset="0"/>
                <a:cs typeface="Times New Roman" panose="02020603050405020304" pitchFamily="18" charset="0"/>
              </a:rPr>
              <a:t>f</a:t>
            </a:r>
            <a:r>
              <a:rPr kumimoji="1" lang="en-US" altLang="zh-TW" baseline="-25000" dirty="0">
                <a:latin typeface="Times New Roman" panose="02020603050405020304" pitchFamily="18" charset="0"/>
                <a:cs typeface="Times New Roman" panose="02020603050405020304" pitchFamily="18" charset="0"/>
              </a:rPr>
              <a:t>1</a:t>
            </a:r>
            <a:r>
              <a:rPr kumimoji="1" lang="en-US" altLang="zh-TW" dirty="0">
                <a:latin typeface="Times New Roman" panose="02020603050405020304" pitchFamily="18" charset="0"/>
                <a:cs typeface="Times New Roman" panose="02020603050405020304" pitchFamily="18" charset="0"/>
              </a:rPr>
              <a:t> - </a:t>
            </a:r>
            <a:r>
              <a:rPr kumimoji="1" lang="en-US" altLang="zh-TW" i="1" dirty="0">
                <a:latin typeface="Times New Roman" panose="02020603050405020304" pitchFamily="18" charset="0"/>
                <a:cs typeface="Times New Roman" panose="02020603050405020304" pitchFamily="18" charset="0"/>
              </a:rPr>
              <a:t>f</a:t>
            </a:r>
            <a:r>
              <a:rPr kumimoji="1" lang="en-US" altLang="zh-TW" baseline="-25000" dirty="0">
                <a:latin typeface="Times New Roman" panose="02020603050405020304" pitchFamily="18" charset="0"/>
                <a:cs typeface="Times New Roman" panose="02020603050405020304" pitchFamily="18" charset="0"/>
              </a:rPr>
              <a:t>5</a:t>
            </a:r>
            <a:r>
              <a:rPr kumimoji="1" lang="en-US" altLang="zh-TW" dirty="0">
                <a:latin typeface="Times New Roman" panose="02020603050405020304" pitchFamily="18" charset="0"/>
                <a:cs typeface="Times New Roman" panose="02020603050405020304" pitchFamily="18" charset="0"/>
              </a:rPr>
              <a:t> : unimodal functions</a:t>
            </a:r>
            <a:endParaRPr kumimoji="1" lang="en-US" altLang="zh-TW" baseline="-25000" dirty="0">
              <a:latin typeface="Times New Roman" panose="02020603050405020304" pitchFamily="18" charset="0"/>
              <a:cs typeface="Times New Roman" panose="02020603050405020304" pitchFamily="18" charset="0"/>
            </a:endParaRPr>
          </a:p>
          <a:p>
            <a:pPr lvl="1"/>
            <a:r>
              <a:rPr kumimoji="1" lang="en-US" altLang="zh-TW" i="1" dirty="0">
                <a:latin typeface="Times New Roman" panose="02020603050405020304" pitchFamily="18" charset="0"/>
                <a:cs typeface="Times New Roman" panose="02020603050405020304" pitchFamily="18" charset="0"/>
              </a:rPr>
              <a:t>f</a:t>
            </a:r>
            <a:r>
              <a:rPr kumimoji="1" lang="en-US" altLang="zh-TW" baseline="-25000" dirty="0">
                <a:latin typeface="Times New Roman" panose="02020603050405020304" pitchFamily="18" charset="0"/>
                <a:cs typeface="Times New Roman" panose="02020603050405020304" pitchFamily="18" charset="0"/>
              </a:rPr>
              <a:t>6</a:t>
            </a:r>
            <a:r>
              <a:rPr kumimoji="1" lang="en-US" altLang="zh-TW" dirty="0">
                <a:latin typeface="Times New Roman" panose="02020603050405020304" pitchFamily="18" charset="0"/>
                <a:cs typeface="Times New Roman" panose="02020603050405020304" pitchFamily="18" charset="0"/>
              </a:rPr>
              <a:t> - </a:t>
            </a:r>
            <a:r>
              <a:rPr kumimoji="1" lang="en-US" altLang="zh-TW" i="1" dirty="0">
                <a:latin typeface="Times New Roman" panose="02020603050405020304" pitchFamily="18" charset="0"/>
                <a:cs typeface="Times New Roman" panose="02020603050405020304" pitchFamily="18" charset="0"/>
              </a:rPr>
              <a:t>f</a:t>
            </a:r>
            <a:r>
              <a:rPr kumimoji="1" lang="en-US" altLang="zh-TW" baseline="-25000" dirty="0">
                <a:latin typeface="Times New Roman" panose="02020603050405020304" pitchFamily="18" charset="0"/>
                <a:cs typeface="Times New Roman" panose="02020603050405020304" pitchFamily="18" charset="0"/>
              </a:rPr>
              <a:t>14</a:t>
            </a:r>
            <a:r>
              <a:rPr kumimoji="1" lang="en-US" altLang="zh-TW" dirty="0">
                <a:latin typeface="Times New Roman" panose="02020603050405020304" pitchFamily="18" charset="0"/>
                <a:cs typeface="Times New Roman" panose="02020603050405020304" pitchFamily="18" charset="0"/>
              </a:rPr>
              <a:t> : multimodal functions</a:t>
            </a:r>
            <a:endParaRPr kumimoji="1" lang="en-US" altLang="zh-TW" baseline="-25000" dirty="0">
              <a:latin typeface="Times New Roman" panose="02020603050405020304" pitchFamily="18" charset="0"/>
              <a:cs typeface="Times New Roman" panose="02020603050405020304" pitchFamily="18" charset="0"/>
            </a:endParaRPr>
          </a:p>
          <a:p>
            <a:pPr lvl="1"/>
            <a:r>
              <a:rPr kumimoji="1" lang="en-US" altLang="zh-TW" i="1" dirty="0">
                <a:latin typeface="Times New Roman" panose="02020603050405020304" pitchFamily="18" charset="0"/>
                <a:cs typeface="Times New Roman" panose="02020603050405020304" pitchFamily="18" charset="0"/>
              </a:rPr>
              <a:t>f</a:t>
            </a:r>
            <a:r>
              <a:rPr kumimoji="1" lang="en-US" altLang="zh-TW" baseline="-25000" dirty="0">
                <a:latin typeface="Times New Roman" panose="02020603050405020304" pitchFamily="18" charset="0"/>
                <a:cs typeface="Times New Roman" panose="02020603050405020304" pitchFamily="18" charset="0"/>
              </a:rPr>
              <a:t>15</a:t>
            </a:r>
            <a:r>
              <a:rPr kumimoji="1" lang="en-US" altLang="zh-TW" dirty="0">
                <a:latin typeface="Times New Roman" panose="02020603050405020304" pitchFamily="18" charset="0"/>
                <a:cs typeface="Times New Roman" panose="02020603050405020304" pitchFamily="18" charset="0"/>
              </a:rPr>
              <a:t> - </a:t>
            </a:r>
            <a:r>
              <a:rPr kumimoji="1" lang="en-US" altLang="zh-TW" i="1" dirty="0">
                <a:latin typeface="Times New Roman" panose="02020603050405020304" pitchFamily="18" charset="0"/>
                <a:cs typeface="Times New Roman" panose="02020603050405020304" pitchFamily="18" charset="0"/>
              </a:rPr>
              <a:t>f</a:t>
            </a:r>
            <a:r>
              <a:rPr kumimoji="1" lang="en-US" altLang="zh-TW" baseline="-25000" dirty="0">
                <a:latin typeface="Times New Roman" panose="02020603050405020304" pitchFamily="18" charset="0"/>
                <a:cs typeface="Times New Roman" panose="02020603050405020304" pitchFamily="18" charset="0"/>
              </a:rPr>
              <a:t>25</a:t>
            </a:r>
            <a:r>
              <a:rPr kumimoji="1" lang="en-US" altLang="zh-TW" dirty="0">
                <a:latin typeface="Times New Roman" panose="02020603050405020304" pitchFamily="18" charset="0"/>
                <a:cs typeface="Times New Roman" panose="02020603050405020304" pitchFamily="18" charset="0"/>
              </a:rPr>
              <a:t> : composition functions</a:t>
            </a:r>
          </a:p>
          <a:p>
            <a:endParaRPr kumimoji="1" lang="zh-TW" altLang="en-US" baseline="-25000"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12</a:t>
            </a:fld>
            <a:endParaRPr kumimoji="1" lang="zh-TW" altLang="en-US"/>
          </a:p>
        </p:txBody>
      </p:sp>
      <p:pic>
        <p:nvPicPr>
          <p:cNvPr id="5" name="圖片 4">
            <a:extLst>
              <a:ext uri="{FF2B5EF4-FFF2-40B4-BE49-F238E27FC236}">
                <a16:creationId xmlns:a16="http://schemas.microsoft.com/office/drawing/2014/main" id="{CC8A4A2F-E566-0040-9AB7-9DC6500D78C3}"/>
              </a:ext>
            </a:extLst>
          </p:cNvPr>
          <p:cNvPicPr>
            <a:picLocks noChangeAspect="1"/>
          </p:cNvPicPr>
          <p:nvPr/>
        </p:nvPicPr>
        <p:blipFill>
          <a:blip r:embed="rId2"/>
          <a:stretch>
            <a:fillRect/>
          </a:stretch>
        </p:blipFill>
        <p:spPr>
          <a:xfrm>
            <a:off x="5820145" y="1825625"/>
            <a:ext cx="6197600" cy="4533900"/>
          </a:xfrm>
          <a:prstGeom prst="rect">
            <a:avLst/>
          </a:prstGeom>
        </p:spPr>
      </p:pic>
      <p:sp>
        <p:nvSpPr>
          <p:cNvPr id="7" name="文字方塊 6">
            <a:extLst>
              <a:ext uri="{FF2B5EF4-FFF2-40B4-BE49-F238E27FC236}">
                <a16:creationId xmlns:a16="http://schemas.microsoft.com/office/drawing/2014/main" id="{C8E975DD-A561-1B48-AD07-962BE96D0011}"/>
              </a:ext>
            </a:extLst>
          </p:cNvPr>
          <p:cNvSpPr txBox="1"/>
          <p:nvPr/>
        </p:nvSpPr>
        <p:spPr>
          <a:xfrm>
            <a:off x="1471613" y="2114550"/>
            <a:ext cx="184731" cy="369332"/>
          </a:xfrm>
          <a:prstGeom prst="rect">
            <a:avLst/>
          </a:prstGeom>
          <a:noFill/>
        </p:spPr>
        <p:txBody>
          <a:bodyPr wrap="none" rtlCol="0">
            <a:spAutoFit/>
          </a:bodyPr>
          <a:lstStyle/>
          <a:p>
            <a:endParaRPr kumimoji="1" lang="zh-TW" altLang="en-US" dirty="0"/>
          </a:p>
        </p:txBody>
      </p:sp>
      <p:pic>
        <p:nvPicPr>
          <p:cNvPr id="9" name="圖片 8">
            <a:extLst>
              <a:ext uri="{FF2B5EF4-FFF2-40B4-BE49-F238E27FC236}">
                <a16:creationId xmlns:a16="http://schemas.microsoft.com/office/drawing/2014/main" id="{FBA23ED4-CE7E-5A4F-9371-2B82002BADD3}"/>
              </a:ext>
            </a:extLst>
          </p:cNvPr>
          <p:cNvPicPr>
            <a:picLocks noChangeAspect="1"/>
          </p:cNvPicPr>
          <p:nvPr/>
        </p:nvPicPr>
        <p:blipFill rotWithShape="1">
          <a:blip r:embed="rId3"/>
          <a:srcRect t="3791" b="17798"/>
          <a:stretch/>
        </p:blipFill>
        <p:spPr>
          <a:xfrm>
            <a:off x="16135" y="3890679"/>
            <a:ext cx="3025232" cy="2332294"/>
          </a:xfrm>
          <a:prstGeom prst="rect">
            <a:avLst/>
          </a:prstGeom>
        </p:spPr>
      </p:pic>
      <p:pic>
        <p:nvPicPr>
          <p:cNvPr id="10" name="圖片 9">
            <a:extLst>
              <a:ext uri="{FF2B5EF4-FFF2-40B4-BE49-F238E27FC236}">
                <a16:creationId xmlns:a16="http://schemas.microsoft.com/office/drawing/2014/main" id="{FBC34929-6E42-6244-839D-EEF81C581B7F}"/>
              </a:ext>
            </a:extLst>
          </p:cNvPr>
          <p:cNvPicPr>
            <a:picLocks noChangeAspect="1"/>
          </p:cNvPicPr>
          <p:nvPr/>
        </p:nvPicPr>
        <p:blipFill rotWithShape="1">
          <a:blip r:embed="rId4"/>
          <a:srcRect b="15383"/>
          <a:stretch/>
        </p:blipFill>
        <p:spPr>
          <a:xfrm>
            <a:off x="2880736" y="3890679"/>
            <a:ext cx="2903966" cy="2332294"/>
          </a:xfrm>
          <a:prstGeom prst="rect">
            <a:avLst/>
          </a:prstGeom>
        </p:spPr>
      </p:pic>
    </p:spTree>
    <p:extLst>
      <p:ext uri="{BB962C8B-B14F-4D97-AF65-F5344CB8AC3E}">
        <p14:creationId xmlns:p14="http://schemas.microsoft.com/office/powerpoint/2010/main" val="3813665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Results (2/5)</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13</a:t>
            </a:fld>
            <a:endParaRPr kumimoji="1" lang="zh-TW" altLang="en-US"/>
          </a:p>
        </p:txBody>
      </p:sp>
      <p:pic>
        <p:nvPicPr>
          <p:cNvPr id="10" name="內容版面配置區 9">
            <a:extLst>
              <a:ext uri="{FF2B5EF4-FFF2-40B4-BE49-F238E27FC236}">
                <a16:creationId xmlns:a16="http://schemas.microsoft.com/office/drawing/2014/main" id="{52DF5DF2-6E5C-244C-8881-663D0513A114}"/>
              </a:ext>
            </a:extLst>
          </p:cNvPr>
          <p:cNvPicPr>
            <a:picLocks noGrp="1" noChangeAspect="1"/>
          </p:cNvPicPr>
          <p:nvPr>
            <p:ph idx="1"/>
          </p:nvPr>
        </p:nvPicPr>
        <p:blipFill>
          <a:blip r:embed="rId2"/>
          <a:stretch>
            <a:fillRect/>
          </a:stretch>
        </p:blipFill>
        <p:spPr>
          <a:xfrm>
            <a:off x="-4200" y="1295863"/>
            <a:ext cx="12204000" cy="5077641"/>
          </a:xfrm>
          <a:prstGeom prst="rect">
            <a:avLst/>
          </a:prstGeom>
        </p:spPr>
      </p:pic>
      <p:sp>
        <p:nvSpPr>
          <p:cNvPr id="11" name="矩形 10">
            <a:extLst>
              <a:ext uri="{FF2B5EF4-FFF2-40B4-BE49-F238E27FC236}">
                <a16:creationId xmlns:a16="http://schemas.microsoft.com/office/drawing/2014/main" id="{9AC8C05D-D825-A444-B2A3-8FECFA41913D}"/>
              </a:ext>
            </a:extLst>
          </p:cNvPr>
          <p:cNvSpPr/>
          <p:nvPr/>
        </p:nvSpPr>
        <p:spPr>
          <a:xfrm>
            <a:off x="6103800" y="624726"/>
            <a:ext cx="6096000" cy="646331"/>
          </a:xfrm>
          <a:prstGeom prst="rect">
            <a:avLst/>
          </a:prstGeom>
        </p:spPr>
        <p:txBody>
          <a:bodyPr>
            <a:spAutoFit/>
          </a:bodyPr>
          <a:lstStyle/>
          <a:p>
            <a:pPr marL="285750" indent="-285750">
              <a:buFont typeface="Arial" panose="020B0604020202020204" pitchFamily="34" charset="0"/>
              <a:buChar char="•"/>
            </a:pPr>
            <a:r>
              <a:rPr kumimoji="1" lang="en-US" altLang="zh-TW" dirty="0">
                <a:latin typeface="Times New Roman" panose="02020603050405020304" pitchFamily="18" charset="0"/>
                <a:cs typeface="Times New Roman" panose="02020603050405020304" pitchFamily="18" charset="0"/>
              </a:rPr>
              <a:t>Simple unimodal functions : higher frequency.</a:t>
            </a:r>
          </a:p>
          <a:p>
            <a:pPr marL="285750" indent="-285750">
              <a:buFont typeface="Arial" panose="020B0604020202020204" pitchFamily="34" charset="0"/>
              <a:buChar char="•"/>
            </a:pPr>
            <a:r>
              <a:rPr kumimoji="1" lang="en-US" altLang="zh-TW" dirty="0">
                <a:latin typeface="Times New Roman" panose="02020603050405020304" pitchFamily="18" charset="0"/>
                <a:cs typeface="Times New Roman" panose="02020603050405020304" pitchFamily="18" charset="0"/>
              </a:rPr>
              <a:t>Some complicated multimodal functions : lower frequency.</a:t>
            </a:r>
          </a:p>
        </p:txBody>
      </p:sp>
    </p:spTree>
    <p:extLst>
      <p:ext uri="{BB962C8B-B14F-4D97-AF65-F5344CB8AC3E}">
        <p14:creationId xmlns:p14="http://schemas.microsoft.com/office/powerpoint/2010/main" val="2662201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Results (3/5)</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14</a:t>
            </a:fld>
            <a:endParaRPr kumimoji="1" lang="zh-TW" altLang="en-US"/>
          </a:p>
        </p:txBody>
      </p:sp>
      <p:pic>
        <p:nvPicPr>
          <p:cNvPr id="4" name="圖片 3">
            <a:extLst>
              <a:ext uri="{FF2B5EF4-FFF2-40B4-BE49-F238E27FC236}">
                <a16:creationId xmlns:a16="http://schemas.microsoft.com/office/drawing/2014/main" id="{BC734BF4-975B-1348-A4BA-939F107FBE20}"/>
              </a:ext>
            </a:extLst>
          </p:cNvPr>
          <p:cNvPicPr>
            <a:picLocks noChangeAspect="1"/>
          </p:cNvPicPr>
          <p:nvPr/>
        </p:nvPicPr>
        <p:blipFill>
          <a:blip r:embed="rId2"/>
          <a:stretch>
            <a:fillRect/>
          </a:stretch>
        </p:blipFill>
        <p:spPr>
          <a:xfrm>
            <a:off x="0" y="1261813"/>
            <a:ext cx="12200400" cy="5119174"/>
          </a:xfrm>
          <a:prstGeom prst="rect">
            <a:avLst/>
          </a:prstGeom>
        </p:spPr>
      </p:pic>
      <p:sp>
        <p:nvSpPr>
          <p:cNvPr id="7" name="矩形 6">
            <a:extLst>
              <a:ext uri="{FF2B5EF4-FFF2-40B4-BE49-F238E27FC236}">
                <a16:creationId xmlns:a16="http://schemas.microsoft.com/office/drawing/2014/main" id="{D23EF6EE-30C4-4A49-9CE7-BE51D4B66E8D}"/>
              </a:ext>
            </a:extLst>
          </p:cNvPr>
          <p:cNvSpPr/>
          <p:nvPr/>
        </p:nvSpPr>
        <p:spPr>
          <a:xfrm>
            <a:off x="6103800" y="624726"/>
            <a:ext cx="6096000" cy="646331"/>
          </a:xfrm>
          <a:prstGeom prst="rect">
            <a:avLst/>
          </a:prstGeom>
        </p:spPr>
        <p:txBody>
          <a:bodyPr>
            <a:spAutoFit/>
          </a:bodyPr>
          <a:lstStyle/>
          <a:p>
            <a:pPr marL="285750" indent="-285750">
              <a:buFont typeface="Arial" panose="020B0604020202020204" pitchFamily="34" charset="0"/>
              <a:buChar char="•"/>
            </a:pPr>
            <a:r>
              <a:rPr kumimoji="1" lang="en-US" altLang="zh-TW" dirty="0">
                <a:latin typeface="Times New Roman" panose="02020603050405020304" pitchFamily="18" charset="0"/>
                <a:cs typeface="Times New Roman" panose="02020603050405020304" pitchFamily="18" charset="0"/>
              </a:rPr>
              <a:t>Simple unimodal functions : higher frequency.</a:t>
            </a:r>
          </a:p>
          <a:p>
            <a:pPr marL="285750" indent="-285750">
              <a:buFont typeface="Arial" panose="020B0604020202020204" pitchFamily="34" charset="0"/>
              <a:buChar char="•"/>
            </a:pPr>
            <a:r>
              <a:rPr kumimoji="1" lang="en-US" altLang="zh-TW" dirty="0">
                <a:latin typeface="Times New Roman" panose="02020603050405020304" pitchFamily="18" charset="0"/>
                <a:cs typeface="Times New Roman" panose="02020603050405020304" pitchFamily="18" charset="0"/>
              </a:rPr>
              <a:t>Some complicated multimodal functions : lower frequency.</a:t>
            </a:r>
          </a:p>
        </p:txBody>
      </p:sp>
    </p:spTree>
    <p:extLst>
      <p:ext uri="{BB962C8B-B14F-4D97-AF65-F5344CB8AC3E}">
        <p14:creationId xmlns:p14="http://schemas.microsoft.com/office/powerpoint/2010/main" val="3145826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Results (4/5)</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4210493"/>
            <a:ext cx="10515600" cy="1966470"/>
          </a:xfrm>
        </p:spPr>
        <p:txBody>
          <a:bodyPr/>
          <a:lstStyle/>
          <a:p>
            <a:r>
              <a:rPr kumimoji="1" lang="en-US" altLang="zh-TW" dirty="0">
                <a:latin typeface="Times New Roman" panose="02020603050405020304" pitchFamily="18" charset="0"/>
                <a:cs typeface="Times New Roman" panose="02020603050405020304" pitchFamily="18" charset="0"/>
              </a:rPr>
              <a:t>Influence of different discretized ranges for </a:t>
            </a:r>
            <a:r>
              <a:rPr kumimoji="1" lang="en-US" altLang="zh-TW" i="1" dirty="0">
                <a:latin typeface="Times New Roman" panose="02020603050405020304" pitchFamily="18" charset="0"/>
                <a:cs typeface="Times New Roman" panose="02020603050405020304" pitchFamily="18" charset="0"/>
              </a:rPr>
              <a:t>F</a:t>
            </a:r>
            <a:r>
              <a:rPr kumimoji="1" lang="en-US" altLang="zh-TW" dirty="0">
                <a:latin typeface="Times New Roman" panose="02020603050405020304" pitchFamily="18" charset="0"/>
                <a:cs typeface="Times New Roman" panose="02020603050405020304" pitchFamily="18" charset="0"/>
              </a:rPr>
              <a:t> and </a:t>
            </a:r>
            <a:r>
              <a:rPr kumimoji="1" lang="en-US" altLang="zh-TW" i="1" dirty="0">
                <a:latin typeface="Times New Roman" panose="02020603050405020304" pitchFamily="18" charset="0"/>
                <a:cs typeface="Times New Roman" panose="02020603050405020304" pitchFamily="18" charset="0"/>
              </a:rPr>
              <a:t>Cr</a:t>
            </a:r>
            <a:endParaRPr kumimoji="1" lang="zh-TW" altLang="en-US" i="1"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15</a:t>
            </a:fld>
            <a:endParaRPr kumimoji="1" lang="zh-TW" altLang="en-US"/>
          </a:p>
        </p:txBody>
      </p:sp>
      <p:pic>
        <p:nvPicPr>
          <p:cNvPr id="4" name="圖片 3">
            <a:extLst>
              <a:ext uri="{FF2B5EF4-FFF2-40B4-BE49-F238E27FC236}">
                <a16:creationId xmlns:a16="http://schemas.microsoft.com/office/drawing/2014/main" id="{4329C89F-595A-0644-A02C-7A5613E9AF11}"/>
              </a:ext>
            </a:extLst>
          </p:cNvPr>
          <p:cNvPicPr>
            <a:picLocks noChangeAspect="1"/>
          </p:cNvPicPr>
          <p:nvPr/>
        </p:nvPicPr>
        <p:blipFill>
          <a:blip r:embed="rId2"/>
          <a:stretch>
            <a:fillRect/>
          </a:stretch>
        </p:blipFill>
        <p:spPr>
          <a:xfrm>
            <a:off x="0" y="1477376"/>
            <a:ext cx="12192000" cy="2553730"/>
          </a:xfrm>
          <a:prstGeom prst="rect">
            <a:avLst/>
          </a:prstGeom>
        </p:spPr>
      </p:pic>
    </p:spTree>
    <p:extLst>
      <p:ext uri="{BB962C8B-B14F-4D97-AF65-F5344CB8AC3E}">
        <p14:creationId xmlns:p14="http://schemas.microsoft.com/office/powerpoint/2010/main" val="1320232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Results ()</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16</a:t>
            </a:fld>
            <a:endParaRPr kumimoji="1" lang="zh-TW" altLang="en-US"/>
          </a:p>
        </p:txBody>
      </p:sp>
      <p:pic>
        <p:nvPicPr>
          <p:cNvPr id="5" name="圖片 4">
            <a:extLst>
              <a:ext uri="{FF2B5EF4-FFF2-40B4-BE49-F238E27FC236}">
                <a16:creationId xmlns:a16="http://schemas.microsoft.com/office/drawing/2014/main" id="{C3A5EE9D-F90F-D94D-A248-344C18591027}"/>
              </a:ext>
            </a:extLst>
          </p:cNvPr>
          <p:cNvPicPr>
            <a:picLocks noChangeAspect="1"/>
          </p:cNvPicPr>
          <p:nvPr/>
        </p:nvPicPr>
        <p:blipFill>
          <a:blip r:embed="rId2"/>
          <a:stretch>
            <a:fillRect/>
          </a:stretch>
        </p:blipFill>
        <p:spPr>
          <a:xfrm>
            <a:off x="0" y="203339"/>
            <a:ext cx="12192000" cy="6451322"/>
          </a:xfrm>
          <a:prstGeom prst="rect">
            <a:avLst/>
          </a:prstGeom>
        </p:spPr>
      </p:pic>
    </p:spTree>
    <p:extLst>
      <p:ext uri="{BB962C8B-B14F-4D97-AF65-F5344CB8AC3E}">
        <p14:creationId xmlns:p14="http://schemas.microsoft.com/office/powerpoint/2010/main" val="2853751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Thank you for listening"/>
          <p:cNvSpPr txBox="1">
            <a:spLocks noGrp="1"/>
          </p:cNvSpPr>
          <p:nvPr>
            <p:ph type="title"/>
          </p:nvPr>
        </p:nvSpPr>
        <p:spPr>
          <a:xfrm>
            <a:off x="844550" y="2857500"/>
            <a:ext cx="10502900" cy="1143000"/>
          </a:xfrm>
          <a:prstGeom prst="rect">
            <a:avLst/>
          </a:prstGeom>
        </p:spPr>
        <p:txBody>
          <a:bodyPr/>
          <a:lstStyle/>
          <a:p>
            <a:pPr algn="ctr"/>
            <a:r>
              <a:rPr dirty="0"/>
              <a:t>Thank you for listening</a:t>
            </a:r>
          </a:p>
        </p:txBody>
      </p:sp>
      <p:sp>
        <p:nvSpPr>
          <p:cNvPr id="305" name="幻燈片編號"/>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17</a:t>
            </a:fld>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18</a:t>
            </a:fld>
            <a:endParaRPr kumimoji="1" lang="zh-TW" altLang="en-US"/>
          </a:p>
        </p:txBody>
      </p:sp>
    </p:spTree>
    <p:extLst>
      <p:ext uri="{BB962C8B-B14F-4D97-AF65-F5344CB8AC3E}">
        <p14:creationId xmlns:p14="http://schemas.microsoft.com/office/powerpoint/2010/main" val="370126476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2548</TotalTime>
  <Words>819</Words>
  <Application>Microsoft Macintosh PowerPoint</Application>
  <PresentationFormat>寬螢幕</PresentationFormat>
  <Paragraphs>175</Paragraphs>
  <Slides>19</Slides>
  <Notes>1</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19</vt:i4>
      </vt:variant>
    </vt:vector>
  </HeadingPairs>
  <TitlesOfParts>
    <vt:vector size="24" baseType="lpstr">
      <vt:lpstr>Arial</vt:lpstr>
      <vt:lpstr>Calibri</vt:lpstr>
      <vt:lpstr>Rockwell</vt:lpstr>
      <vt:lpstr>Times New Roman</vt:lpstr>
      <vt:lpstr>Office 佈景主題</vt:lpstr>
      <vt:lpstr>Association Rule Mining Based Parameter Adaptive Strategy for Differential Evolution Algorithms</vt:lpstr>
      <vt:lpstr>Abstract (1/2)</vt:lpstr>
      <vt:lpstr>Abstract (2/2)</vt:lpstr>
      <vt:lpstr>Outline</vt:lpstr>
      <vt:lpstr>Differential Evolution (DE) Algorithm (1/3)</vt:lpstr>
      <vt:lpstr>Differential Evolution (DE) Algorithm (2/3)</vt:lpstr>
      <vt:lpstr>Differential Evolution (DE) Algorithm (3/3)</vt:lpstr>
      <vt:lpstr>Association Rule Mining (ARM) </vt:lpstr>
      <vt:lpstr>ARM-Based Parameter Adaptive Strategy (1/4)</vt:lpstr>
      <vt:lpstr>ARM-Based Parameter Adaptive Strategy (2/4)</vt:lpstr>
      <vt:lpstr>ARM-Based Parameter Adaptive Strategy (3/4)</vt:lpstr>
      <vt:lpstr>ARM-Based Parameter Adaptive Strategy (4/4)</vt:lpstr>
      <vt:lpstr>Results (1/5)</vt:lpstr>
      <vt:lpstr>Results (2/5)</vt:lpstr>
      <vt:lpstr>Results (3/5)</vt:lpstr>
      <vt:lpstr>Results (4/5)</vt:lpstr>
      <vt:lpstr>Results ()</vt:lpstr>
      <vt:lpstr>Thank you for listening</vt:lpstr>
      <vt:lpstr>Abstract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Improved Algorithm for The Longest Common Subsequence Problem</dc:title>
  <dc:creator>宗霖 呂</dc:creator>
  <cp:lastModifiedBy>宗霖 呂</cp:lastModifiedBy>
  <cp:revision>16</cp:revision>
  <dcterms:created xsi:type="dcterms:W3CDTF">2021-03-28T03:57:23Z</dcterms:created>
  <dcterms:modified xsi:type="dcterms:W3CDTF">2022-03-16T10:26:17Z</dcterms:modified>
</cp:coreProperties>
</file>