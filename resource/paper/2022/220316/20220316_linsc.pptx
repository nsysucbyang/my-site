
<file path=[Content_Types].xml><?xml version="1.0" encoding="utf-8"?>
<Types xmlns="http://schemas.openxmlformats.org/package/2006/content-types">
  <Override PartName="/ppt/slideMasters/slideMaster3.xml" ContentType="application/vnd.openxmlformats-officedocument.presentationml.slideMaster+xml"/>
  <Override PartName="/ppt/slideLayouts/slideLayout39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5.xml" ContentType="application/vnd.openxmlformats-officedocument.theme+xml"/>
  <Override PartName="/ppt/slides/slide4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6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0.xml" ContentType="application/vnd.openxmlformats-officedocument.presentationml.slideLayout+xml"/>
  <Override PartName="/docProps/custom.xml" ContentType="application/vnd.openxmlformats-officedocument.custom-properties+xml"/>
  <Override PartName="/ppt/slideMasters/slideMaster6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slideLayouts/slideLayout69.xml" ContentType="application/vnd.openxmlformats-officedocument.presentationml.slideLayout+xml"/>
  <Override PartName="/ppt/theme/theme6.xml" ContentType="application/vnd.openxmlformats-officedocument.theme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6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s/slide1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72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70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Masters/slideMaster5.xml" ContentType="application/vnd.openxmlformats-officedocument.presentationml.slideMaster+xml"/>
  <Override PartName="/ppt/slides/slide8.xml" ContentType="application/vnd.openxmlformats-officedocument.presentationml.slide+xml"/>
  <Override PartName="/ppt/slideLayouts/slideLayout59.xml" ContentType="application/vnd.openxmlformats-officedocument.presentationml.slideLayout+xml"/>
  <Override PartName="/ppt/slideLayouts/slideLayout68.xml" ContentType="application/vnd.openxmlformats-officedocument.presentationml.slideLayout+xml"/>
  <Override PartName="/ppt/theme/theme7.xml" ContentType="application/vnd.openxmlformats-officedocument.them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55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99" r:id="rId2"/>
    <p:sldMasterId id="2147483738" r:id="rId3"/>
    <p:sldMasterId id="2147483712" r:id="rId4"/>
    <p:sldMasterId id="2147483674" r:id="rId5"/>
    <p:sldMasterId id="2147483725" r:id="rId6"/>
  </p:sldMasterIdLst>
  <p:notesMasterIdLst>
    <p:notesMasterId r:id="rId19"/>
  </p:notesMasterIdLst>
  <p:sldIdLst>
    <p:sldId id="256" r:id="rId7"/>
    <p:sldId id="258" r:id="rId8"/>
    <p:sldId id="274" r:id="rId9"/>
    <p:sldId id="261" r:id="rId10"/>
    <p:sldId id="275" r:id="rId11"/>
    <p:sldId id="276" r:id="rId12"/>
    <p:sldId id="281" r:id="rId13"/>
    <p:sldId id="277" r:id="rId14"/>
    <p:sldId id="278" r:id="rId15"/>
    <p:sldId id="279" r:id="rId16"/>
    <p:sldId id="280" r:id="rId17"/>
    <p:sldId id="282" r:id="rId18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vertBarState="maximized">
    <p:restoredLeft sz="34587" autoAdjust="0"/>
    <p:restoredTop sz="94632" autoAdjust="0"/>
  </p:normalViewPr>
  <p:slideViewPr>
    <p:cSldViewPr>
      <p:cViewPr varScale="1">
        <p:scale>
          <a:sx n="109" d="100"/>
          <a:sy n="109" d="100"/>
        </p:scale>
        <p:origin x="-1662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tableStyles" Target="tableStyles.xml"/><Relationship Id="rId10" Type="http://schemas.openxmlformats.org/officeDocument/2006/relationships/slide" Target="slides/slide4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zh-TW" sz="1800" b="0" strike="noStrike" spc="-1">
                <a:solidFill>
                  <a:srgbClr val="000000"/>
                </a:solidFill>
                <a:latin typeface="Calibri"/>
              </a:rPr>
              <a:t>請按這裡移動投影片</a:t>
            </a: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zh-TW" sz="2000" b="0" strike="noStrike" spc="-1">
                <a:latin typeface="Arial"/>
              </a:rPr>
              <a:t>請按這裡編輯備註格式</a:t>
            </a:r>
            <a:endParaRPr lang="en-US" sz="2000" b="0" strike="noStrike" spc="-1"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&lt;頁首&gt;</a:t>
            </a:r>
          </a:p>
        </p:txBody>
      </p:sp>
      <p:sp>
        <p:nvSpPr>
          <p:cNvPr id="85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r"/>
            <a:r>
              <a:rPr lang="en-US" sz="1400" b="0" strike="noStrike" spc="-1">
                <a:latin typeface="Times New Roman"/>
              </a:rPr>
              <a:t>&lt;日期/時間&gt;</a:t>
            </a:r>
          </a:p>
        </p:txBody>
      </p:sp>
      <p:sp>
        <p:nvSpPr>
          <p:cNvPr id="86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&lt;頁尾&gt;</a:t>
            </a:r>
          </a:p>
        </p:txBody>
      </p:sp>
      <p:sp>
        <p:nvSpPr>
          <p:cNvPr id="87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pPr algn="r"/>
            <a:fld id="{331962A5-A15B-4472-A253-73015B2EE908}" type="slidenum">
              <a:rPr lang="en-US" sz="1400" b="0" strike="noStrike" spc="-1">
                <a:latin typeface="Times New Roman"/>
              </a:rPr>
              <a:pPr algn="r"/>
              <a:t>‹#›</a:t>
            </a:fld>
            <a:endParaRPr lang="en-US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8229240" cy="5297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8229240" cy="5297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body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body"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body"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 type="body"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 type="body"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 type="body"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F5B75-ECF6-4BE6-A3DE-C8259B535844}" type="datetimeFigureOut">
              <a:rPr lang="zh-TW" altLang="en-US" smtClean="0"/>
              <a:pPr/>
              <a:t>2022/3/16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404C3-9969-4EFA-96B9-1AADC38D565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dirty="0" smtClean="0"/>
              <a:t>按一下以編輯母片文字樣式</a:t>
            </a:r>
          </a:p>
          <a:p>
            <a:pPr lvl="1"/>
            <a:r>
              <a:rPr lang="zh-TW" altLang="en-US" dirty="0" smtClean="0"/>
              <a:t>第二層</a:t>
            </a:r>
          </a:p>
          <a:p>
            <a:pPr lvl="2"/>
            <a:r>
              <a:rPr lang="zh-TW" altLang="en-US" dirty="0" smtClean="0"/>
              <a:t>第三層</a:t>
            </a:r>
          </a:p>
          <a:p>
            <a:pPr lvl="3"/>
            <a:r>
              <a:rPr lang="zh-TW" altLang="en-US" dirty="0" smtClean="0"/>
              <a:t>第四層</a:t>
            </a:r>
          </a:p>
          <a:p>
            <a:pPr lvl="4"/>
            <a:r>
              <a:rPr lang="zh-TW" altLang="en-US" dirty="0" smtClean="0"/>
              <a:t>第五層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F5B75-ECF6-4BE6-A3DE-C8259B535844}" type="datetimeFigureOut">
              <a:rPr lang="zh-TW" altLang="en-US" smtClean="0"/>
              <a:pPr/>
              <a:t>2022/3/16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404C3-9969-4EFA-96B9-1AADC38D565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itchFamily="18" charset="0"/>
                <a:cs typeface="Times New Roman" pitchFamily="18" charset="0"/>
              </a:defRPr>
            </a:lvl1pPr>
          </a:lstStyle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Times New Roman" pitchFamily="18" charset="0"/>
                <a:cs typeface="Times New Roman" pitchFamily="18" charset="0"/>
              </a:defRPr>
            </a:lvl1pPr>
            <a:lvl2pPr>
              <a:defRPr>
                <a:latin typeface="Times New Roman" pitchFamily="18" charset="0"/>
                <a:cs typeface="Times New Roman" pitchFamily="18" charset="0"/>
              </a:defRPr>
            </a:lvl2pPr>
            <a:lvl3pPr>
              <a:defRPr>
                <a:latin typeface="Times New Roman" pitchFamily="18" charset="0"/>
                <a:cs typeface="Times New Roman" pitchFamily="18" charset="0"/>
              </a:defRPr>
            </a:lvl3pPr>
            <a:lvl4pPr>
              <a:defRPr>
                <a:latin typeface="Times New Roman" pitchFamily="18" charset="0"/>
                <a:cs typeface="Times New Roman" pitchFamily="18" charset="0"/>
              </a:defRPr>
            </a:lvl4pPr>
            <a:lvl5pPr>
              <a:defRPr>
                <a:latin typeface="Times New Roman" pitchFamily="18" charset="0"/>
                <a:cs typeface="Times New Roman" pitchFamily="18" charset="0"/>
              </a:defRPr>
            </a:lvl5pPr>
          </a:lstStyle>
          <a:p>
            <a:pPr lvl="0"/>
            <a:r>
              <a:rPr lang="zh-TW" altLang="en-US" dirty="0" smtClean="0"/>
              <a:t>按一下以編輯母片文字樣式</a:t>
            </a:r>
          </a:p>
          <a:p>
            <a:pPr lvl="1"/>
            <a:r>
              <a:rPr lang="zh-TW" altLang="en-US" dirty="0" smtClean="0"/>
              <a:t>第二層</a:t>
            </a:r>
          </a:p>
          <a:p>
            <a:pPr lvl="2"/>
            <a:r>
              <a:rPr lang="zh-TW" altLang="en-US" dirty="0" smtClean="0"/>
              <a:t>第三層</a:t>
            </a:r>
          </a:p>
          <a:p>
            <a:pPr lvl="3"/>
            <a:r>
              <a:rPr lang="zh-TW" altLang="en-US" dirty="0" smtClean="0"/>
              <a:t>第四層</a:t>
            </a:r>
          </a:p>
          <a:p>
            <a:pPr lvl="4"/>
            <a:r>
              <a:rPr lang="zh-TW" altLang="en-US" dirty="0" smtClean="0"/>
              <a:t>第五層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F5B75-ECF6-4BE6-A3DE-C8259B535844}" type="datetimeFigureOut">
              <a:rPr lang="zh-TW" altLang="en-US" smtClean="0"/>
              <a:pPr/>
              <a:t>2022/3/16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404C3-9969-4EFA-96B9-1AADC38D565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F5B75-ECF6-4BE6-A3DE-C8259B535844}" type="datetimeFigureOut">
              <a:rPr lang="zh-TW" altLang="en-US" smtClean="0"/>
              <a:pPr/>
              <a:t>2022/3/16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404C3-9969-4EFA-96B9-1AADC38D565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F5B75-ECF6-4BE6-A3DE-C8259B535844}" type="datetimeFigureOut">
              <a:rPr lang="zh-TW" altLang="en-US" smtClean="0"/>
              <a:pPr/>
              <a:t>2022/3/16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404C3-9969-4EFA-96B9-1AADC38D565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F5B75-ECF6-4BE6-A3DE-C8259B535844}" type="datetimeFigureOut">
              <a:rPr lang="zh-TW" altLang="en-US" smtClean="0"/>
              <a:pPr/>
              <a:t>2022/3/16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404C3-9969-4EFA-96B9-1AADC38D565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F5B75-ECF6-4BE6-A3DE-C8259B535844}" type="datetimeFigureOut">
              <a:rPr lang="zh-TW" altLang="en-US" smtClean="0"/>
              <a:pPr/>
              <a:t>2022/3/16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404C3-9969-4EFA-96B9-1AADC38D565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F5B75-ECF6-4BE6-A3DE-C8259B535844}" type="datetimeFigureOut">
              <a:rPr lang="zh-TW" altLang="en-US" smtClean="0"/>
              <a:pPr/>
              <a:t>2022/3/16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404C3-9969-4EFA-96B9-1AADC38D565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F5B75-ECF6-4BE6-A3DE-C8259B535844}" type="datetimeFigureOut">
              <a:rPr lang="zh-TW" altLang="en-US" smtClean="0"/>
              <a:pPr/>
              <a:t>2022/3/16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404C3-9969-4EFA-96B9-1AADC38D565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F5B75-ECF6-4BE6-A3DE-C8259B535844}" type="datetimeFigureOut">
              <a:rPr lang="zh-TW" altLang="en-US" smtClean="0"/>
              <a:pPr/>
              <a:t>2022/3/16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404C3-9969-4EFA-96B9-1AADC38D565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F5B75-ECF6-4BE6-A3DE-C8259B535844}" type="datetimeFigureOut">
              <a:rPr lang="zh-TW" altLang="en-US" smtClean="0"/>
              <a:pPr/>
              <a:t>2022/3/16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404C3-9969-4EFA-96B9-1AADC38D565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F5B75-ECF6-4BE6-A3DE-C8259B535844}" type="datetimeFigureOut">
              <a:rPr lang="zh-TW" altLang="en-US" smtClean="0"/>
              <a:pPr/>
              <a:t>2022/3/16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404C3-9969-4EFA-96B9-1AADC38D565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8229240" cy="5297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body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body"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body"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 type="body"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 type="body"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 type="body"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1E863-67F1-4DED-9226-013F8637FBA5}" type="datetimeFigureOut">
              <a:rPr lang="zh-TW" altLang="en-US" smtClean="0"/>
              <a:pPr/>
              <a:t>2022/3/16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AB90B-7E45-4DA0-85F8-FA0EBB18F3F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1E863-67F1-4DED-9226-013F8637FBA5}" type="datetimeFigureOut">
              <a:rPr lang="zh-TW" altLang="en-US" smtClean="0"/>
              <a:pPr/>
              <a:t>2022/3/16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AB90B-7E45-4DA0-85F8-FA0EBB18F3F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標題及物件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dirty="0" smtClean="0"/>
              <a:t>按一下以編輯母片文字樣式</a:t>
            </a:r>
          </a:p>
          <a:p>
            <a:pPr lvl="1"/>
            <a:r>
              <a:rPr lang="zh-TW" altLang="en-US" dirty="0" smtClean="0"/>
              <a:t>第二層</a:t>
            </a:r>
          </a:p>
          <a:p>
            <a:pPr lvl="2"/>
            <a:r>
              <a:rPr lang="zh-TW" altLang="en-US" dirty="0" smtClean="0"/>
              <a:t>第三層</a:t>
            </a:r>
          </a:p>
          <a:p>
            <a:pPr lvl="3"/>
            <a:r>
              <a:rPr lang="zh-TW" altLang="en-US" dirty="0" smtClean="0"/>
              <a:t>第四層</a:t>
            </a:r>
          </a:p>
          <a:p>
            <a:pPr lvl="4"/>
            <a:r>
              <a:rPr lang="zh-TW" altLang="en-US" dirty="0" smtClean="0"/>
              <a:t>第五層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1E863-67F1-4DED-9226-013F8637FBA5}" type="datetimeFigureOut">
              <a:rPr lang="zh-TW" altLang="en-US" smtClean="0"/>
              <a:pPr/>
              <a:t>2022/3/16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AB90B-7E45-4DA0-85F8-FA0EBB18F3F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1E863-67F1-4DED-9226-013F8637FBA5}" type="datetimeFigureOut">
              <a:rPr lang="zh-TW" altLang="en-US" smtClean="0"/>
              <a:pPr/>
              <a:t>2022/3/16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AB90B-7E45-4DA0-85F8-FA0EBB18F3F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1E863-67F1-4DED-9226-013F8637FBA5}" type="datetimeFigureOut">
              <a:rPr lang="zh-TW" altLang="en-US" smtClean="0"/>
              <a:pPr/>
              <a:t>2022/3/16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AB90B-7E45-4DA0-85F8-FA0EBB18F3F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1E863-67F1-4DED-9226-013F8637FBA5}" type="datetimeFigureOut">
              <a:rPr lang="zh-TW" altLang="en-US" smtClean="0"/>
              <a:pPr/>
              <a:t>2022/3/16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AB90B-7E45-4DA0-85F8-FA0EBB18F3F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1E863-67F1-4DED-9226-013F8637FBA5}" type="datetimeFigureOut">
              <a:rPr lang="zh-TW" altLang="en-US" smtClean="0"/>
              <a:pPr/>
              <a:t>2022/3/16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AB90B-7E45-4DA0-85F8-FA0EBB18F3F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1E863-67F1-4DED-9226-013F8637FBA5}" type="datetimeFigureOut">
              <a:rPr lang="zh-TW" altLang="en-US" smtClean="0"/>
              <a:pPr/>
              <a:t>2022/3/16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AB90B-7E45-4DA0-85F8-FA0EBB18F3F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1E863-67F1-4DED-9226-013F8637FBA5}" type="datetimeFigureOut">
              <a:rPr lang="zh-TW" altLang="en-US" smtClean="0"/>
              <a:pPr/>
              <a:t>2022/3/16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AB90B-7E45-4DA0-85F8-FA0EBB18F3F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1E863-67F1-4DED-9226-013F8637FBA5}" type="datetimeFigureOut">
              <a:rPr lang="zh-TW" altLang="en-US" smtClean="0"/>
              <a:pPr/>
              <a:t>2022/3/16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AB90B-7E45-4DA0-85F8-FA0EBB18F3F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1E863-67F1-4DED-9226-013F8637FBA5}" type="datetimeFigureOut">
              <a:rPr lang="zh-TW" altLang="en-US" smtClean="0"/>
              <a:pPr/>
              <a:t>2022/3/16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AB90B-7E45-4DA0-85F8-FA0EBB18F3F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1E863-67F1-4DED-9226-013F8637FBA5}" type="datetimeFigureOut">
              <a:rPr lang="zh-TW" altLang="en-US" smtClean="0"/>
              <a:pPr/>
              <a:t>2022/3/16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AB90B-7E45-4DA0-85F8-FA0EBB18F3F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8229240" cy="5297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body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body"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body"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 type="body"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 type="body"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 type="body"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slideLayout" Target="../slideLayouts/slideLayout60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8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7.xml"/><Relationship Id="rId12" Type="http://schemas.openxmlformats.org/officeDocument/2006/relationships/slideLayout" Target="../slideLayouts/slideLayout72.xml"/><Relationship Id="rId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61.xml"/><Relationship Id="rId6" Type="http://schemas.openxmlformats.org/officeDocument/2006/relationships/slideLayout" Target="../slideLayouts/slideLayout66.xml"/><Relationship Id="rId11" Type="http://schemas.openxmlformats.org/officeDocument/2006/relationships/slideLayout" Target="../slideLayouts/slideLayout71.xml"/><Relationship Id="rId5" Type="http://schemas.openxmlformats.org/officeDocument/2006/relationships/slideLayout" Target="../slideLayouts/slideLayout65.xml"/><Relationship Id="rId10" Type="http://schemas.openxmlformats.org/officeDocument/2006/relationships/slideLayout" Target="../slideLayouts/slideLayout70.xml"/><Relationship Id="rId4" Type="http://schemas.openxmlformats.org/officeDocument/2006/relationships/slideLayout" Target="../slideLayouts/slideLayout64.xml"/><Relationship Id="rId9" Type="http://schemas.openxmlformats.org/officeDocument/2006/relationships/slideLayout" Target="../slideLayouts/slideLayout6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zh-TW" sz="4400" b="0" strike="noStrike" spc="-1">
                <a:solidFill>
                  <a:srgbClr val="000000"/>
                </a:solidFill>
                <a:latin typeface="Calibri"/>
              </a:rPr>
              <a:t>按一下以編輯母片標題樣式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fld id="{BFEC21A0-76F1-4091-8A4E-3D3682A4EBBE}" type="datetime">
              <a:rPr lang="en-US" sz="1200" b="0" strike="noStrike" spc="-1">
                <a:solidFill>
                  <a:srgbClr val="8B8B8B"/>
                </a:solidFill>
                <a:latin typeface="Calibri"/>
              </a:rPr>
              <a:pPr>
                <a:lnSpc>
                  <a:spcPct val="100000"/>
                </a:lnSpc>
              </a:pPr>
              <a:t>3/16/2022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en-US" sz="2400" b="0" strike="noStrike" spc="-1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29C6C588-69D4-483A-BFC4-1F3BDC423AB1}" type="slidenum">
              <a:rPr lang="en-US" sz="1200" b="0" strike="noStrike" spc="-1">
                <a:solidFill>
                  <a:srgbClr val="8B8B8B"/>
                </a:solidFill>
                <a:latin typeface="Calibri"/>
              </a:rPr>
              <a:pPr algn="r">
                <a:lnSpc>
                  <a:spcPct val="100000"/>
                </a:lnSpc>
              </a:pPr>
              <a:t>‹#›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sz="3200" b="0" strike="noStrike" spc="-1" dirty="0">
                <a:solidFill>
                  <a:srgbClr val="000000"/>
                </a:solidFill>
                <a:latin typeface="Calibri"/>
              </a:rPr>
              <a:t>請按這裡編輯大綱文字格式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TW" sz="2400" b="0" strike="noStrike" spc="-1" dirty="0">
                <a:solidFill>
                  <a:srgbClr val="000000"/>
                </a:solidFill>
                <a:latin typeface="Calibri"/>
              </a:rPr>
              <a:t>第二個大綱層次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sz="2000" b="0" strike="noStrike" spc="-1" dirty="0">
                <a:solidFill>
                  <a:srgbClr val="000000"/>
                </a:solidFill>
                <a:latin typeface="Calibri"/>
              </a:rPr>
              <a:t>第三個大綱層次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TW" sz="2000" b="0" strike="noStrike" spc="-1" dirty="0">
                <a:solidFill>
                  <a:srgbClr val="000000"/>
                </a:solidFill>
                <a:latin typeface="Calibri"/>
              </a:rPr>
              <a:t>第四個大綱層次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sz="2000" b="0" strike="noStrike" spc="-1" dirty="0">
                <a:solidFill>
                  <a:srgbClr val="000000"/>
                </a:solidFill>
                <a:latin typeface="Calibri"/>
              </a:rPr>
              <a:t>第五個大綱層次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sz="2000" b="0" strike="noStrike" spc="-1" dirty="0">
                <a:solidFill>
                  <a:srgbClr val="000000"/>
                </a:solidFill>
                <a:latin typeface="Calibri"/>
              </a:rPr>
              <a:t>第六個大綱層次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sz="2000" b="0" strike="noStrike" spc="-1" dirty="0">
                <a:solidFill>
                  <a:srgbClr val="000000"/>
                </a:solidFill>
                <a:latin typeface="Calibri"/>
              </a:rPr>
              <a:t>第七個大綱層次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/>
    <p:bodyStyle/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zh-TW" sz="4400" b="0" strike="noStrike" spc="-1">
                <a:solidFill>
                  <a:srgbClr val="000000"/>
                </a:solidFill>
                <a:latin typeface="Calibri"/>
              </a:rPr>
              <a:t>按一下以編輯母片標題樣式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zh-TW" sz="3200" b="0" strike="noStrike" spc="-1">
                <a:solidFill>
                  <a:srgbClr val="000000"/>
                </a:solidFill>
                <a:latin typeface="Calibri"/>
              </a:rPr>
              <a:t>按一下以編輯母片文字樣式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zh-TW" sz="2800" b="0" strike="noStrike" spc="-1">
                <a:solidFill>
                  <a:srgbClr val="000000"/>
                </a:solidFill>
                <a:latin typeface="Calibri"/>
              </a:rPr>
              <a:t>第二層</a:t>
            </a: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zh-TW" sz="2400" b="0" strike="noStrike" spc="-1">
                <a:solidFill>
                  <a:srgbClr val="000000"/>
                </a:solidFill>
                <a:latin typeface="Calibri"/>
              </a:rPr>
              <a:t>第三層</a:t>
            </a: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zh-TW" sz="2000" b="0" strike="noStrike" spc="-1">
                <a:solidFill>
                  <a:srgbClr val="000000"/>
                </a:solidFill>
                <a:latin typeface="Calibri"/>
              </a:rPr>
              <a:t>第四層</a:t>
            </a:r>
            <a:endParaRPr lang="en-US" sz="2000" b="0" strike="noStrike" spc="-1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zh-TW" sz="2000" b="0" strike="noStrike" spc="-1">
                <a:solidFill>
                  <a:srgbClr val="000000"/>
                </a:solidFill>
                <a:latin typeface="Calibri"/>
              </a:rPr>
              <a:t>第五層</a:t>
            </a:r>
            <a:endParaRPr lang="en-US" sz="2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fld id="{893CB700-50AD-45C2-BC70-355D01B635CF}" type="datetime">
              <a:rPr lang="en-US" sz="1200" b="0" strike="noStrike" spc="-1">
                <a:solidFill>
                  <a:srgbClr val="8B8B8B"/>
                </a:solidFill>
                <a:latin typeface="Calibri"/>
              </a:rPr>
              <a:pPr>
                <a:lnSpc>
                  <a:spcPct val="100000"/>
                </a:lnSpc>
              </a:pPr>
              <a:t>3/16/2022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en-US" sz="2400" b="0" strike="noStrike" spc="-1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57483DBB-7CD5-4C5C-8456-C41942324498}" type="slidenum">
              <a:rPr lang="en-US" sz="1200" b="0" strike="noStrike" spc="-1">
                <a:solidFill>
                  <a:srgbClr val="8B8B8B"/>
                </a:solidFill>
                <a:latin typeface="Calibri"/>
              </a:rPr>
              <a:pPr algn="r">
                <a:lnSpc>
                  <a:spcPct val="100000"/>
                </a:lnSpc>
              </a:pPr>
              <a:t>‹#›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</p:sldLayoutIdLst>
  <p:txStyles>
    <p:titleStyle/>
    <p:bodyStyle/>
    <p:otherStyle/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EF5B75-ECF6-4BE6-A3DE-C8259B535844}" type="datetimeFigureOut">
              <a:rPr lang="zh-TW" altLang="en-US" smtClean="0"/>
              <a:pPr/>
              <a:t>2022/3/16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2404C3-9969-4EFA-96B9-1AADC38D565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5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  <p:sldLayoutId id="2147483749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zh-TW" sz="4400" b="0" strike="noStrike" spc="-1">
                <a:solidFill>
                  <a:srgbClr val="000000"/>
                </a:solidFill>
                <a:latin typeface="Calibri"/>
              </a:rPr>
              <a:t>按一下以編輯母片標題樣式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zh-TW" sz="3200" b="0" strike="noStrike" spc="-1">
                <a:solidFill>
                  <a:srgbClr val="000000"/>
                </a:solidFill>
                <a:latin typeface="Calibri"/>
              </a:rPr>
              <a:t>按一下以編輯母片文字樣式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zh-TW" sz="2800" b="0" strike="noStrike" spc="-1">
                <a:solidFill>
                  <a:srgbClr val="000000"/>
                </a:solidFill>
                <a:latin typeface="Calibri"/>
              </a:rPr>
              <a:t>第二層</a:t>
            </a: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zh-TW" sz="2400" b="0" strike="noStrike" spc="-1">
                <a:solidFill>
                  <a:srgbClr val="000000"/>
                </a:solidFill>
                <a:latin typeface="Calibri"/>
              </a:rPr>
              <a:t>第三層</a:t>
            </a: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zh-TW" sz="2000" b="0" strike="noStrike" spc="-1">
                <a:solidFill>
                  <a:srgbClr val="000000"/>
                </a:solidFill>
                <a:latin typeface="Calibri"/>
              </a:rPr>
              <a:t>第四層</a:t>
            </a:r>
            <a:endParaRPr lang="en-US" sz="2000" b="0" strike="noStrike" spc="-1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zh-TW" sz="2000" b="0" strike="noStrike" spc="-1">
                <a:solidFill>
                  <a:srgbClr val="000000"/>
                </a:solidFill>
                <a:latin typeface="Calibri"/>
              </a:rPr>
              <a:t>第五層</a:t>
            </a:r>
            <a:endParaRPr lang="en-US" sz="2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fld id="{893CB700-50AD-45C2-BC70-355D01B635CF}" type="datetime">
              <a:rPr lang="en-US" sz="1200" b="0" strike="noStrike" spc="-1">
                <a:solidFill>
                  <a:srgbClr val="8B8B8B"/>
                </a:solidFill>
                <a:latin typeface="Calibri"/>
              </a:rPr>
              <a:pPr>
                <a:lnSpc>
                  <a:spcPct val="100000"/>
                </a:lnSpc>
              </a:pPr>
              <a:t>3/16/2022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en-US" sz="2400" b="0" strike="noStrike" spc="-1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57483DBB-7CD5-4C5C-8456-C41942324498}" type="slidenum">
              <a:rPr lang="en-US" sz="1200" b="0" strike="noStrike" spc="-1">
                <a:solidFill>
                  <a:srgbClr val="8B8B8B"/>
                </a:solidFill>
                <a:latin typeface="Calibri"/>
              </a:rPr>
              <a:pPr algn="r">
                <a:lnSpc>
                  <a:spcPct val="100000"/>
                </a:lnSpc>
              </a:pPr>
              <a:t>‹#›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</p:sldLayoutIdLst>
  <p:txStyles>
    <p:titleStyle/>
    <p:bodyStyle/>
    <p:otherStyle/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51E863-67F1-4DED-9226-013F8637FBA5}" type="datetimeFigureOut">
              <a:rPr lang="zh-TW" altLang="en-US" smtClean="0"/>
              <a:pPr/>
              <a:t>2022/3/16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AB90B-7E45-4DA0-85F8-FA0EBB18F3F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751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zh-TW" sz="4400" b="0" strike="noStrike" spc="-1">
                <a:solidFill>
                  <a:srgbClr val="000000"/>
                </a:solidFill>
                <a:latin typeface="Calibri"/>
              </a:rPr>
              <a:t>按一下以編輯母片標題樣式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zh-TW" sz="3200" b="0" strike="noStrike" spc="-1">
                <a:solidFill>
                  <a:srgbClr val="000000"/>
                </a:solidFill>
                <a:latin typeface="Calibri"/>
              </a:rPr>
              <a:t>按一下以編輯母片文字樣式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zh-TW" sz="2800" b="0" strike="noStrike" spc="-1">
                <a:solidFill>
                  <a:srgbClr val="000000"/>
                </a:solidFill>
                <a:latin typeface="Calibri"/>
              </a:rPr>
              <a:t>第二層</a:t>
            </a: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zh-TW" sz="2400" b="0" strike="noStrike" spc="-1">
                <a:solidFill>
                  <a:srgbClr val="000000"/>
                </a:solidFill>
                <a:latin typeface="Calibri"/>
              </a:rPr>
              <a:t>第三層</a:t>
            </a: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zh-TW" sz="2000" b="0" strike="noStrike" spc="-1">
                <a:solidFill>
                  <a:srgbClr val="000000"/>
                </a:solidFill>
                <a:latin typeface="Calibri"/>
              </a:rPr>
              <a:t>第四層</a:t>
            </a:r>
            <a:endParaRPr lang="en-US" sz="2000" b="0" strike="noStrike" spc="-1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zh-TW" sz="2000" b="0" strike="noStrike" spc="-1">
                <a:solidFill>
                  <a:srgbClr val="000000"/>
                </a:solidFill>
                <a:latin typeface="Calibri"/>
              </a:rPr>
              <a:t>第五層</a:t>
            </a:r>
            <a:endParaRPr lang="en-US" sz="2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57483DBB-7CD5-4C5C-8456-C41942324498}" type="slidenum">
              <a:rPr lang="en-US" sz="1200" b="0" strike="noStrike" spc="-1">
                <a:solidFill>
                  <a:srgbClr val="8B8B8B"/>
                </a:solidFill>
                <a:latin typeface="Calibri"/>
              </a:rPr>
              <a:pPr algn="r">
                <a:lnSpc>
                  <a:spcPct val="100000"/>
                </a:lnSpc>
              </a:pPr>
              <a:t>‹#›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extShape 1"/>
          <p:cNvSpPr txBox="1"/>
          <p:nvPr/>
        </p:nvSpPr>
        <p:spPr>
          <a:xfrm>
            <a:off x="714240" y="1285920"/>
            <a:ext cx="7772040" cy="146952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ctr"/>
            <a:r>
              <a:rPr lang="en-US" altLang="zh-TW" sz="3200" dirty="0" err="1" smtClean="0">
                <a:latin typeface="Times New Roman" pitchFamily="18" charset="0"/>
                <a:cs typeface="Times New Roman" pitchFamily="18" charset="0"/>
              </a:rPr>
              <a:t>Combinatorics</a:t>
            </a:r>
            <a:r>
              <a:rPr lang="en-US" altLang="zh-TW" sz="3200" dirty="0" smtClean="0">
                <a:latin typeface="Times New Roman" pitchFamily="18" charset="0"/>
                <a:cs typeface="Times New Roman" pitchFamily="18" charset="0"/>
              </a:rPr>
              <a:t> of minimal absent words</a:t>
            </a:r>
          </a:p>
          <a:p>
            <a:pPr algn="ctr"/>
            <a:r>
              <a:rPr lang="en-US" altLang="zh-TW" sz="3200" dirty="0" smtClean="0">
                <a:latin typeface="Times New Roman" pitchFamily="18" charset="0"/>
                <a:cs typeface="Times New Roman" pitchFamily="18" charset="0"/>
              </a:rPr>
              <a:t>for a sliding window</a:t>
            </a:r>
            <a:endParaRPr lang="en-US" altLang="zh-TW" sz="32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9" name="TextShape 2"/>
          <p:cNvSpPr txBox="1"/>
          <p:nvPr/>
        </p:nvSpPr>
        <p:spPr>
          <a:xfrm>
            <a:off x="1214280" y="3357720"/>
            <a:ext cx="6786360" cy="2071440"/>
          </a:xfrm>
          <a:prstGeom prst="rect">
            <a:avLst/>
          </a:prstGeom>
          <a:noFill/>
          <a:ln>
            <a:noFill/>
          </a:ln>
        </p:spPr>
        <p:txBody>
          <a:bodyPr>
            <a:normAutofit lnSpcReduction="10000"/>
          </a:bodyPr>
          <a:lstStyle/>
          <a:p>
            <a:pPr algn="ctr">
              <a:spcBef>
                <a:spcPts val="479"/>
              </a:spcBef>
              <a:tabLst>
                <a:tab pos="0" algn="l"/>
              </a:tabLst>
            </a:pPr>
            <a:r>
              <a:rPr lang="it-IT" sz="2400" spc="-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Tooru </a:t>
            </a:r>
            <a:r>
              <a:rPr lang="it-IT" sz="2400" spc="-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Akagi, </a:t>
            </a:r>
            <a:r>
              <a:rPr lang="it-IT" sz="2400" spc="-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Yuki </a:t>
            </a:r>
            <a:r>
              <a:rPr lang="it-IT" sz="2400" spc="-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Kuhara, </a:t>
            </a:r>
            <a:r>
              <a:rPr lang="it-IT" sz="2400" spc="-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Takuya </a:t>
            </a:r>
            <a:r>
              <a:rPr lang="it-IT" sz="2400" spc="-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Mieno,</a:t>
            </a:r>
          </a:p>
          <a:p>
            <a:pPr algn="ctr">
              <a:spcBef>
                <a:spcPts val="479"/>
              </a:spcBef>
              <a:tabLst>
                <a:tab pos="0" algn="l"/>
              </a:tabLst>
            </a:pPr>
            <a:r>
              <a:rPr lang="it-IT" sz="2400" spc="-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Yuto Nakashima, Shunsuke Inenaga, </a:t>
            </a:r>
            <a:r>
              <a:rPr lang="it-IT" sz="2400" spc="-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Hideo </a:t>
            </a:r>
            <a:r>
              <a:rPr lang="it-IT" sz="2400" spc="-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Bannai</a:t>
            </a:r>
          </a:p>
          <a:p>
            <a:pPr algn="ctr">
              <a:spcBef>
                <a:spcPts val="479"/>
              </a:spcBef>
              <a:tabLst>
                <a:tab pos="0" algn="l"/>
              </a:tabLst>
            </a:pPr>
            <a:r>
              <a:rPr lang="it-IT" sz="2400" spc="-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it-IT" sz="2400" spc="-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and Masayuki </a:t>
            </a:r>
            <a:r>
              <a:rPr lang="it-IT" sz="2400" spc="-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Takeda</a:t>
            </a:r>
          </a:p>
          <a:p>
            <a:pPr algn="ctr">
              <a:spcBef>
                <a:spcPts val="479"/>
              </a:spcBef>
              <a:tabLst>
                <a:tab pos="0" algn="l"/>
              </a:tabLst>
            </a:pPr>
            <a:endParaRPr lang="en-US" sz="2000" spc="-1" dirty="0" smtClean="0">
              <a:solidFill>
                <a:srgbClr val="000000"/>
              </a:solidFill>
              <a:latin typeface="Times New Roman"/>
            </a:endParaRPr>
          </a:p>
          <a:p>
            <a:pPr algn="ctr">
              <a:spcBef>
                <a:spcPts val="479"/>
              </a:spcBef>
              <a:tabLst>
                <a:tab pos="0" algn="l"/>
              </a:tabLst>
            </a:pPr>
            <a:r>
              <a:rPr lang="en-US" sz="2400" spc="-1" dirty="0" err="1" smtClean="0">
                <a:solidFill>
                  <a:srgbClr val="000000"/>
                </a:solidFill>
                <a:latin typeface="Times New Roman"/>
              </a:rPr>
              <a:t>ArXiv</a:t>
            </a:r>
            <a:r>
              <a:rPr lang="en-US" sz="2400" spc="-1" dirty="0" smtClean="0">
                <a:solidFill>
                  <a:srgbClr val="000000"/>
                </a:solidFill>
                <a:latin typeface="Times New Roman"/>
              </a:rPr>
              <a:t>, </a:t>
            </a:r>
            <a:r>
              <a:rPr lang="en-US" sz="2400" spc="-1" dirty="0" smtClean="0">
                <a:solidFill>
                  <a:srgbClr val="000000"/>
                </a:solidFill>
                <a:latin typeface="Times New Roman"/>
              </a:rPr>
              <a:t>abs/2105.08496</a:t>
            </a:r>
            <a:r>
              <a:rPr lang="en-US" sz="2400" spc="-1" dirty="0" smtClean="0">
                <a:solidFill>
                  <a:srgbClr val="000000"/>
                </a:solidFill>
                <a:latin typeface="Times New Roman"/>
              </a:rPr>
              <a:t>, 2021</a:t>
            </a:r>
            <a:endParaRPr lang="en-US" sz="2400" spc="-1" dirty="0" smtClean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" name="CustomShape 3"/>
          <p:cNvSpPr/>
          <p:nvPr/>
        </p:nvSpPr>
        <p:spPr>
          <a:xfrm>
            <a:off x="5786280" y="5643720"/>
            <a:ext cx="3114360" cy="1037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/>
              </a:rPr>
              <a:t>Presenter: Shin-Cheng Lin</a:t>
            </a:r>
            <a:endParaRPr lang="en-US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/>
              </a:rPr>
              <a:t>Date: </a:t>
            </a:r>
            <a:r>
              <a:rPr lang="en-US" sz="2000" b="0" strike="noStrike" spc="-1" dirty="0" smtClean="0">
                <a:solidFill>
                  <a:srgbClr val="000000"/>
                </a:solidFill>
                <a:latin typeface="Times New Roman"/>
              </a:rPr>
              <a:t>Mar</a:t>
            </a:r>
            <a:r>
              <a:rPr lang="en-US" sz="2000" spc="-1" dirty="0" smtClean="0">
                <a:solidFill>
                  <a:srgbClr val="000000"/>
                </a:solidFill>
                <a:latin typeface="Times New Roman"/>
              </a:rPr>
              <a:t>.</a:t>
            </a:r>
            <a:r>
              <a:rPr lang="en-US" sz="2000" b="0" strike="noStrike" spc="-1" dirty="0" smtClean="0">
                <a:solidFill>
                  <a:srgbClr val="000000"/>
                </a:solidFill>
                <a:latin typeface="Times New Roman"/>
              </a:rPr>
              <a:t> 16, </a:t>
            </a:r>
            <a:r>
              <a:rPr lang="en-US" sz="2000" b="0" strike="noStrike" spc="-1" dirty="0" smtClean="0">
                <a:solidFill>
                  <a:srgbClr val="000000"/>
                </a:solidFill>
                <a:latin typeface="Times New Roman"/>
              </a:rPr>
              <a:t>2022</a:t>
            </a:r>
            <a:endParaRPr lang="en-US" sz="2000" b="0" strike="noStrike" spc="-1" dirty="0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="" xmlns:p14="http://schemas.microsoft.com/office/powerpoint/2010/main" xmlns:p15="http://schemas.microsoft.com/office/powerpoint/2012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4400" b="0" strike="noStrike" spc="-1" dirty="0" smtClean="0">
                <a:solidFill>
                  <a:srgbClr val="000000"/>
                </a:solidFill>
                <a:latin typeface="Times New Roman"/>
              </a:rPr>
              <a:t>Abstract</a:t>
            </a:r>
            <a:endParaRPr lang="en-US" sz="44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2" name="TextShape 2"/>
          <p:cNvSpPr txBox="1"/>
          <p:nvPr/>
        </p:nvSpPr>
        <p:spPr>
          <a:xfrm>
            <a:off x="457200" y="1600200"/>
            <a:ext cx="8229240" cy="511452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A string w is called a minimal absent word (MAW) for another string </a:t>
            </a:r>
            <a:r>
              <a:rPr lang="en-US" sz="2800" i="1" spc="-1" dirty="0" smtClean="0">
                <a:solidFill>
                  <a:srgbClr val="000000"/>
                </a:solidFill>
                <a:latin typeface="Times New Roman"/>
              </a:rPr>
              <a:t>T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 if </a:t>
            </a:r>
            <a:r>
              <a:rPr lang="en-US" sz="2800" i="1" spc="-1" dirty="0" smtClean="0">
                <a:solidFill>
                  <a:srgbClr val="000000"/>
                </a:solidFill>
                <a:latin typeface="Times New Roman"/>
              </a:rPr>
              <a:t>w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does not 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occur in </a:t>
            </a:r>
            <a:r>
              <a:rPr lang="en-US" sz="2800" i="1" spc="-1" dirty="0" smtClean="0">
                <a:solidFill>
                  <a:srgbClr val="000000"/>
                </a:solidFill>
                <a:latin typeface="Times New Roman"/>
              </a:rPr>
              <a:t>T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 but the proper substrings of </a:t>
            </a:r>
            <a:r>
              <a:rPr lang="en-US" sz="2800" i="1" spc="-1" dirty="0" smtClean="0">
                <a:solidFill>
                  <a:srgbClr val="000000"/>
                </a:solidFill>
                <a:latin typeface="Times New Roman"/>
              </a:rPr>
              <a:t>w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 occur in </a:t>
            </a:r>
            <a:r>
              <a:rPr lang="en-US" sz="2800" i="1" spc="-1" dirty="0" smtClean="0">
                <a:solidFill>
                  <a:srgbClr val="000000"/>
                </a:solidFill>
                <a:latin typeface="Times New Roman"/>
              </a:rPr>
              <a:t>T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. For example, let </a:t>
            </a:r>
            <a:r>
              <a:rPr lang="el-GR" sz="2800" spc="-1" dirty="0" smtClean="0">
                <a:solidFill>
                  <a:srgbClr val="000000"/>
                </a:solidFill>
                <a:latin typeface="Times New Roman"/>
              </a:rPr>
              <a:t>Σ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 = {</a:t>
            </a:r>
            <a:r>
              <a:rPr lang="en-US" sz="2800" spc="-1" dirty="0" err="1" smtClean="0">
                <a:solidFill>
                  <a:srgbClr val="000000"/>
                </a:solidFill>
                <a:latin typeface="Times New Roman"/>
              </a:rPr>
              <a:t>a,b,c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} be 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the alphabet. Then, the set of MAWs for string </a:t>
            </a:r>
            <a:r>
              <a:rPr lang="en-US" sz="2800" i="1" spc="-1" dirty="0" smtClean="0">
                <a:solidFill>
                  <a:srgbClr val="000000"/>
                </a:solidFill>
                <a:latin typeface="Times New Roman"/>
              </a:rPr>
              <a:t>w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 = </a:t>
            </a:r>
            <a:r>
              <a:rPr lang="en-US" sz="2800" spc="-1" dirty="0" err="1" smtClean="0">
                <a:solidFill>
                  <a:srgbClr val="000000"/>
                </a:solidFill>
                <a:latin typeface="Times New Roman"/>
              </a:rPr>
              <a:t>abaab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 is 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{</a:t>
            </a:r>
            <a:r>
              <a:rPr lang="en-US" sz="2800" spc="-1" dirty="0" err="1" smtClean="0">
                <a:solidFill>
                  <a:srgbClr val="000000"/>
                </a:solidFill>
                <a:latin typeface="Times New Roman"/>
              </a:rPr>
              <a:t>aaa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, </a:t>
            </a:r>
            <a:r>
              <a:rPr lang="en-US" sz="2800" spc="-1" dirty="0" err="1" smtClean="0">
                <a:solidFill>
                  <a:srgbClr val="000000"/>
                </a:solidFill>
                <a:latin typeface="Times New Roman"/>
              </a:rPr>
              <a:t>aaba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, </a:t>
            </a:r>
            <a:r>
              <a:rPr lang="en-US" sz="2800" spc="-1" dirty="0" err="1" smtClean="0">
                <a:solidFill>
                  <a:srgbClr val="000000"/>
                </a:solidFill>
                <a:latin typeface="Times New Roman"/>
              </a:rPr>
              <a:t>bab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, bb, c}.In 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this paper, we study combinatorial properties of MAWs in the sliding window 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model, namely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, how the set of MAWs changes when a sliding window of fixed length </a:t>
            </a:r>
            <a:r>
              <a:rPr lang="en-US" sz="2800" i="1" spc="-1" dirty="0" smtClean="0">
                <a:solidFill>
                  <a:srgbClr val="000000"/>
                </a:solidFill>
                <a:latin typeface="Times New Roman"/>
              </a:rPr>
              <a:t>d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 is 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shifted over 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the input string T of length n, where 1 ≦ </a:t>
            </a:r>
            <a:r>
              <a:rPr lang="en-US" sz="2800" i="1" spc="-1" dirty="0" smtClean="0">
                <a:solidFill>
                  <a:srgbClr val="000000"/>
                </a:solidFill>
                <a:latin typeface="Times New Roman"/>
              </a:rPr>
              <a:t>d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 ＜ </a:t>
            </a:r>
            <a:r>
              <a:rPr lang="en-US" sz="2800" i="1" spc="-1" dirty="0" smtClean="0">
                <a:solidFill>
                  <a:srgbClr val="000000"/>
                </a:solidFill>
                <a:latin typeface="Times New Roman"/>
              </a:rPr>
              <a:t>n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.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="" xmlns:p14="http://schemas.microsoft.com/office/powerpoint/2010/main" xmlns:p15="http://schemas.microsoft.com/office/powerpoint/2012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4400" b="0" strike="noStrike" spc="-1" dirty="0" smtClean="0">
                <a:solidFill>
                  <a:srgbClr val="000000"/>
                </a:solidFill>
                <a:latin typeface="Times New Roman"/>
              </a:rPr>
              <a:t>Abstract</a:t>
            </a:r>
            <a:endParaRPr lang="en-US" sz="44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2" name="TextShape 2"/>
          <p:cNvSpPr txBox="1"/>
          <p:nvPr/>
        </p:nvSpPr>
        <p:spPr>
          <a:xfrm>
            <a:off x="457200" y="1600200"/>
            <a:ext cx="8229240" cy="511452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We present tight upper 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and lower 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bounds on the maximum number of changes in the set of MAWs for a 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sliding window 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over </a:t>
            </a:r>
            <a:r>
              <a:rPr lang="en-US" sz="2800" i="1" spc="-1" dirty="0" smtClean="0">
                <a:solidFill>
                  <a:srgbClr val="000000"/>
                </a:solidFill>
                <a:latin typeface="Times New Roman"/>
              </a:rPr>
              <a:t>T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, both in the cases of general alphabets and binary alphabets. 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Our bounds 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improve on the previously known best 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bounds.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="" xmlns:p14="http://schemas.microsoft.com/office/powerpoint/2010/main" xmlns:p15="http://schemas.microsoft.com/office/powerpoint/2012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TW" dirty="0" smtClean="0"/>
              <a:t>MAW(</a:t>
            </a:r>
            <a:r>
              <a:rPr lang="en-US" spc="-1" dirty="0" smtClean="0">
                <a:solidFill>
                  <a:srgbClr val="000000"/>
                </a:solidFill>
                <a:latin typeface="Times New Roman"/>
              </a:rPr>
              <a:t>minimal absent </a:t>
            </a:r>
            <a:r>
              <a:rPr lang="en-US" spc="-1" dirty="0" smtClean="0">
                <a:solidFill>
                  <a:srgbClr val="000000"/>
                </a:solidFill>
                <a:latin typeface="Times New Roman"/>
              </a:rPr>
              <a:t>word)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w does not occur in </a:t>
            </a:r>
            <a:r>
              <a:rPr lang="en-US" altLang="zh-TW" dirty="0" smtClean="0"/>
              <a:t>T</a:t>
            </a:r>
            <a:endParaRPr lang="en-US" altLang="zh-TW" dirty="0" smtClean="0"/>
          </a:p>
          <a:p>
            <a:r>
              <a:rPr lang="en-US" altLang="zh-TW" dirty="0" smtClean="0"/>
              <a:t>w[2..] </a:t>
            </a:r>
            <a:r>
              <a:rPr lang="en-US" altLang="zh-TW" dirty="0" smtClean="0"/>
              <a:t>occurs in T</a:t>
            </a:r>
          </a:p>
          <a:p>
            <a:r>
              <a:rPr lang="en-US" altLang="zh-TW" dirty="0" smtClean="0"/>
              <a:t>w[..|w</a:t>
            </a:r>
            <a:r>
              <a:rPr lang="en-US" altLang="zh-TW" dirty="0" smtClean="0"/>
              <a:t>|</a:t>
            </a:r>
            <a:r>
              <a:rPr lang="zh-TW" altLang="en-US" dirty="0" smtClean="0"/>
              <a:t>－</a:t>
            </a:r>
            <a:r>
              <a:rPr lang="en-US" altLang="zh-TW" dirty="0" smtClean="0"/>
              <a:t>1] </a:t>
            </a:r>
            <a:r>
              <a:rPr lang="en-US" altLang="zh-TW" dirty="0" smtClean="0"/>
              <a:t>occurs in T</a:t>
            </a:r>
            <a:endParaRPr lang="zh-TW" alt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6" y="3857628"/>
            <a:ext cx="8359478" cy="8345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TW" dirty="0" smtClean="0"/>
              <a:t>MAWs for a sliding window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appending a letter to the </a:t>
            </a:r>
            <a:r>
              <a:rPr lang="en-US" altLang="zh-TW" dirty="0" smtClean="0"/>
              <a:t>right</a:t>
            </a:r>
          </a:p>
          <a:p>
            <a:r>
              <a:rPr lang="en-US" altLang="zh-TW" dirty="0" smtClean="0"/>
              <a:t>removing the leftmost letter</a:t>
            </a:r>
            <a:endParaRPr lang="zh-TW" altLang="en-U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58" y="2916821"/>
            <a:ext cx="8429684" cy="37268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TW" dirty="0" smtClean="0"/>
              <a:t>MAWs for a sliding window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2382" y="1882145"/>
            <a:ext cx="8739237" cy="34756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TW" dirty="0" smtClean="0"/>
              <a:t>Bounds for </a:t>
            </a:r>
            <a:r>
              <a:rPr lang="en-US" altLang="zh-TW" dirty="0" smtClean="0"/>
              <a:t>the numbers of changes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 smtClean="0"/>
              <a:t>Crochemore</a:t>
            </a:r>
            <a:r>
              <a:rPr lang="en-US" altLang="zh-TW" dirty="0" smtClean="0"/>
              <a:t> </a:t>
            </a:r>
            <a:r>
              <a:rPr lang="en-US" altLang="zh-TW" i="1" dirty="0" smtClean="0"/>
              <a:t>et al</a:t>
            </a:r>
            <a:r>
              <a:rPr lang="en-US" altLang="zh-TW" dirty="0" smtClean="0"/>
              <a:t>.</a:t>
            </a:r>
          </a:p>
          <a:p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r>
              <a:rPr lang="en-US" altLang="zh-TW" dirty="0" smtClean="0"/>
              <a:t>this </a:t>
            </a:r>
            <a:r>
              <a:rPr lang="en-US" altLang="zh-TW" dirty="0" smtClean="0"/>
              <a:t>paper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23028" y="2214554"/>
            <a:ext cx="8463814" cy="7477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19094" y="3000372"/>
            <a:ext cx="8467748" cy="9183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80988" y="4602187"/>
            <a:ext cx="8448730" cy="6842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28596" y="5275479"/>
            <a:ext cx="8358246" cy="7967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00634"/>
          </a:xfrm>
        </p:spPr>
        <p:txBody>
          <a:bodyPr>
            <a:normAutofit/>
          </a:bodyPr>
          <a:lstStyle/>
          <a:p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r>
              <a:rPr lang="en-US" altLang="zh-TW" dirty="0" smtClean="0"/>
              <a:t>|M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|≦1</a:t>
            </a:r>
          </a:p>
          <a:p>
            <a:r>
              <a:rPr lang="en-US" altLang="zh-TW" dirty="0" smtClean="0"/>
              <a:t>|</a:t>
            </a:r>
            <a:r>
              <a:rPr lang="en-US" altLang="zh-TW" dirty="0" smtClean="0"/>
              <a:t>M</a:t>
            </a:r>
            <a:r>
              <a:rPr lang="en-US" altLang="zh-TW" baseline="-25000" dirty="0" smtClean="0"/>
              <a:t>2</a:t>
            </a:r>
            <a:r>
              <a:rPr lang="en-US" altLang="zh-TW" dirty="0" smtClean="0"/>
              <a:t>|≦</a:t>
            </a:r>
            <a:r>
              <a:rPr lang="el-GR" altLang="zh-TW" dirty="0" smtClean="0"/>
              <a:t>σ</a:t>
            </a:r>
            <a:r>
              <a:rPr lang="en-US" altLang="zh-TW" dirty="0" smtClean="0"/>
              <a:t>’</a:t>
            </a:r>
          </a:p>
          <a:p>
            <a:r>
              <a:rPr lang="en-US" altLang="zh-TW" dirty="0" smtClean="0"/>
              <a:t>|</a:t>
            </a:r>
            <a:r>
              <a:rPr lang="en-US" altLang="zh-TW" dirty="0" smtClean="0"/>
              <a:t>M</a:t>
            </a:r>
            <a:r>
              <a:rPr lang="en-US" altLang="zh-TW" baseline="-25000" dirty="0" smtClean="0"/>
              <a:t>3</a:t>
            </a:r>
            <a:r>
              <a:rPr lang="en-US" altLang="zh-TW" dirty="0" smtClean="0"/>
              <a:t>|≦</a:t>
            </a:r>
            <a:r>
              <a:rPr lang="en-US" altLang="zh-TW" i="1" dirty="0" smtClean="0"/>
              <a:t>d</a:t>
            </a:r>
            <a:r>
              <a:rPr lang="zh-TW" altLang="en-US" dirty="0" smtClean="0"/>
              <a:t>－</a:t>
            </a:r>
            <a:r>
              <a:rPr lang="en-US" altLang="zh-TW" dirty="0" smtClean="0"/>
              <a:t>1</a:t>
            </a:r>
            <a:endParaRPr lang="zh-TW" altLang="en-US" dirty="0" smtClean="0"/>
          </a:p>
          <a:p>
            <a:endParaRPr lang="zh-TW" altLang="en-US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79931" y="1428736"/>
            <a:ext cx="6921093" cy="2752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|M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|≦1</a:t>
            </a:r>
          </a:p>
          <a:p>
            <a:pPr lvl="1"/>
            <a:r>
              <a:rPr lang="en-US" altLang="zh-TW" dirty="0" smtClean="0"/>
              <a:t> </a:t>
            </a:r>
            <a:r>
              <a:rPr lang="el-GR" altLang="zh-TW" dirty="0" smtClean="0"/>
              <a:t>α</a:t>
            </a:r>
            <a:r>
              <a:rPr lang="en-US" altLang="zh-TW" baseline="30000" dirty="0" smtClean="0"/>
              <a:t>k</a:t>
            </a:r>
            <a:r>
              <a:rPr lang="en-US" altLang="zh-TW" dirty="0" smtClean="0"/>
              <a:t>, </a:t>
            </a:r>
            <a:r>
              <a:rPr lang="el-GR" altLang="zh-TW" dirty="0" smtClean="0"/>
              <a:t>α</a:t>
            </a:r>
            <a:r>
              <a:rPr lang="en-US" altLang="zh-TW" dirty="0" smtClean="0"/>
              <a:t> </a:t>
            </a:r>
            <a:r>
              <a:rPr lang="el-GR" altLang="zh-TW" dirty="0" smtClean="0"/>
              <a:t>∈</a:t>
            </a:r>
            <a:r>
              <a:rPr lang="en-US" altLang="zh-TW" dirty="0" smtClean="0"/>
              <a:t> </a:t>
            </a:r>
            <a:r>
              <a:rPr lang="el-GR" altLang="zh-TW" dirty="0" smtClean="0"/>
              <a:t>Σ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w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=</a:t>
            </a:r>
            <a:r>
              <a:rPr lang="en-US" altLang="zh-TW" dirty="0" err="1" smtClean="0"/>
              <a:t>w</a:t>
            </a:r>
            <a:r>
              <a:rPr lang="en-US" altLang="zh-TW" baseline="-25000" dirty="0" err="1" smtClean="0"/>
              <a:t>|w</a:t>
            </a:r>
            <a:r>
              <a:rPr lang="en-US" altLang="zh-TW" baseline="-25000" dirty="0" smtClean="0"/>
              <a:t>|</a:t>
            </a:r>
            <a:r>
              <a:rPr lang="en-US" altLang="zh-TW" dirty="0" smtClean="0"/>
              <a:t>=</a:t>
            </a:r>
            <a:r>
              <a:rPr lang="el-GR" altLang="zh-TW" dirty="0" smtClean="0"/>
              <a:t> </a:t>
            </a:r>
            <a:r>
              <a:rPr lang="el-GR" altLang="zh-TW" dirty="0" smtClean="0"/>
              <a:t>α</a:t>
            </a:r>
            <a:endParaRPr lang="en-US" altLang="zh-TW" dirty="0" smtClean="0"/>
          </a:p>
          <a:p>
            <a:endParaRPr lang="en-US" altLang="zh-TW" baseline="-25000" dirty="0" smtClean="0"/>
          </a:p>
          <a:p>
            <a:pPr lvl="1"/>
            <a:endParaRPr lang="zh-TW" alt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04900" y="3643323"/>
            <a:ext cx="6934200" cy="1285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|M</a:t>
            </a:r>
            <a:r>
              <a:rPr lang="en-US" altLang="zh-TW" baseline="-25000" dirty="0" smtClean="0"/>
              <a:t>2</a:t>
            </a:r>
            <a:r>
              <a:rPr lang="en-US" altLang="zh-TW" dirty="0" smtClean="0"/>
              <a:t>|≦</a:t>
            </a:r>
            <a:r>
              <a:rPr lang="el-GR" altLang="zh-TW" dirty="0" smtClean="0"/>
              <a:t>σ</a:t>
            </a:r>
            <a:r>
              <a:rPr lang="en-US" altLang="zh-TW" dirty="0" smtClean="0"/>
              <a:t>’</a:t>
            </a:r>
          </a:p>
          <a:p>
            <a:pPr lvl="1"/>
            <a:r>
              <a:rPr lang="en-US" altLang="zh-TW" dirty="0" smtClean="0"/>
              <a:t>w</a:t>
            </a:r>
            <a:r>
              <a:rPr lang="en-US" altLang="zh-TW" dirty="0" smtClean="0"/>
              <a:t>[..|w|-1] in T[</a:t>
            </a:r>
            <a:r>
              <a:rPr lang="en-US" altLang="zh-TW" dirty="0" err="1" smtClean="0"/>
              <a:t>i</a:t>
            </a:r>
            <a:r>
              <a:rPr lang="en-US" altLang="zh-TW" dirty="0" smtClean="0"/>
              <a:t>..j+1]</a:t>
            </a:r>
          </a:p>
          <a:p>
            <a:pPr lvl="1"/>
            <a:r>
              <a:rPr lang="en-US" altLang="zh-TW" dirty="0" smtClean="0"/>
              <a:t>w[2..] in T[</a:t>
            </a:r>
            <a:r>
              <a:rPr lang="en-US" altLang="zh-TW" dirty="0" err="1" smtClean="0"/>
              <a:t>i</a:t>
            </a:r>
            <a:r>
              <a:rPr lang="en-US" altLang="zh-TW" dirty="0" smtClean="0"/>
              <a:t>..j]</a:t>
            </a:r>
          </a:p>
          <a:p>
            <a:pPr lvl="1"/>
            <a:r>
              <a:rPr lang="en-US" altLang="zh-TW" dirty="0" smtClean="0"/>
              <a:t>=&gt; w=w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,w</a:t>
            </a:r>
            <a:r>
              <a:rPr lang="en-US" altLang="zh-TW" baseline="-25000" dirty="0" smtClean="0"/>
              <a:t>2</a:t>
            </a:r>
            <a:r>
              <a:rPr lang="en-US" altLang="zh-TW" dirty="0" smtClean="0"/>
              <a:t>,w</a:t>
            </a:r>
            <a:r>
              <a:rPr lang="en-US" altLang="zh-TW" baseline="-25000" dirty="0" smtClean="0"/>
              <a:t>3</a:t>
            </a:r>
            <a:r>
              <a:rPr lang="en-US" altLang="zh-TW" dirty="0" smtClean="0"/>
              <a:t>, …</a:t>
            </a:r>
            <a:r>
              <a:rPr lang="en-US" altLang="zh-TW" dirty="0" smtClean="0"/>
              <a:t>, </a:t>
            </a:r>
            <a:r>
              <a:rPr lang="en-US" altLang="zh-TW" dirty="0" err="1" smtClean="0">
                <a:solidFill>
                  <a:srgbClr val="FF0000"/>
                </a:solidFill>
              </a:rPr>
              <a:t>w</a:t>
            </a:r>
            <a:r>
              <a:rPr lang="en-US" altLang="zh-TW" baseline="-25000" dirty="0" err="1" smtClean="0">
                <a:solidFill>
                  <a:srgbClr val="FF0000"/>
                </a:solidFill>
              </a:rPr>
              <a:t>|w</a:t>
            </a:r>
            <a:r>
              <a:rPr lang="en-US" altLang="zh-TW" baseline="-25000" dirty="0" smtClean="0">
                <a:solidFill>
                  <a:srgbClr val="FF0000"/>
                </a:solidFill>
              </a:rPr>
              <a:t>|-2</a:t>
            </a:r>
            <a:r>
              <a:rPr lang="en-US" altLang="zh-TW" dirty="0" smtClean="0"/>
              <a:t>, </a:t>
            </a:r>
            <a:r>
              <a:rPr lang="en-US" altLang="zh-TW" dirty="0" err="1" smtClean="0"/>
              <a:t>w</a:t>
            </a:r>
            <a:r>
              <a:rPr lang="en-US" altLang="zh-TW" baseline="-25000" dirty="0" err="1" smtClean="0"/>
              <a:t>|w</a:t>
            </a:r>
            <a:r>
              <a:rPr lang="en-US" altLang="zh-TW" baseline="-25000" dirty="0" smtClean="0"/>
              <a:t>|-1</a:t>
            </a:r>
            <a:r>
              <a:rPr lang="en-US" altLang="zh-TW" dirty="0" smtClean="0"/>
              <a:t>, </a:t>
            </a:r>
            <a:r>
              <a:rPr lang="en-US" altLang="zh-TW" dirty="0" err="1" smtClean="0"/>
              <a:t>w</a:t>
            </a:r>
            <a:r>
              <a:rPr lang="en-US" altLang="zh-TW" baseline="-25000" dirty="0" err="1" smtClean="0"/>
              <a:t>|w</a:t>
            </a:r>
            <a:r>
              <a:rPr lang="en-US" altLang="zh-TW" baseline="-25000" dirty="0" smtClean="0"/>
              <a:t>|</a:t>
            </a:r>
            <a:r>
              <a:rPr lang="en-US" altLang="zh-TW" dirty="0" smtClean="0"/>
              <a:t> </a:t>
            </a:r>
          </a:p>
          <a:p>
            <a:pPr lvl="1"/>
            <a:r>
              <a:rPr lang="en-US" altLang="zh-TW" dirty="0" err="1" smtClean="0"/>
              <a:t>w</a:t>
            </a:r>
            <a:r>
              <a:rPr lang="en-US" altLang="zh-TW" baseline="-25000" dirty="0" err="1" smtClean="0"/>
              <a:t>|w</a:t>
            </a:r>
            <a:r>
              <a:rPr lang="en-US" altLang="zh-TW" baseline="-25000" dirty="0" smtClean="0"/>
              <a:t>|-2</a:t>
            </a:r>
            <a:r>
              <a:rPr lang="en-US" altLang="zh-TW" dirty="0" smtClean="0"/>
              <a:t> </a:t>
            </a:r>
            <a:r>
              <a:rPr lang="el-GR" altLang="zh-TW" dirty="0" smtClean="0"/>
              <a:t>∈</a:t>
            </a:r>
            <a:r>
              <a:rPr lang="en-US" altLang="zh-TW" dirty="0" smtClean="0"/>
              <a:t> </a:t>
            </a:r>
            <a:r>
              <a:rPr lang="el-GR" altLang="zh-TW" dirty="0" smtClean="0"/>
              <a:t>Σ</a:t>
            </a:r>
            <a:endParaRPr lang="en-US" altLang="zh-TW" dirty="0" smtClean="0"/>
          </a:p>
          <a:p>
            <a:pPr lvl="1"/>
            <a:endParaRPr lang="zh-TW" altLang="en-US" dirty="0"/>
          </a:p>
        </p:txBody>
      </p:sp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14425" y="4857760"/>
            <a:ext cx="6915150" cy="981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000108"/>
            <a:ext cx="8229600" cy="5572164"/>
          </a:xfrm>
        </p:spPr>
        <p:txBody>
          <a:bodyPr/>
          <a:lstStyle/>
          <a:p>
            <a:r>
              <a:rPr lang="en-US" altLang="zh-TW" dirty="0" smtClean="0"/>
              <a:t>|M</a:t>
            </a:r>
            <a:r>
              <a:rPr lang="en-US" altLang="zh-TW" baseline="-25000" dirty="0" smtClean="0"/>
              <a:t>3</a:t>
            </a:r>
            <a:r>
              <a:rPr lang="en-US" altLang="zh-TW" dirty="0" smtClean="0"/>
              <a:t>|≦</a:t>
            </a:r>
            <a:r>
              <a:rPr lang="en-US" altLang="zh-TW" i="1" dirty="0" smtClean="0"/>
              <a:t>d</a:t>
            </a:r>
            <a:r>
              <a:rPr lang="zh-TW" altLang="en-US" dirty="0" smtClean="0"/>
              <a:t>－</a:t>
            </a:r>
            <a:r>
              <a:rPr lang="en-US" altLang="zh-TW" dirty="0" smtClean="0"/>
              <a:t>1</a:t>
            </a:r>
          </a:p>
          <a:p>
            <a:pPr lvl="1"/>
            <a:r>
              <a:rPr lang="en-US" altLang="zh-TW" dirty="0" err="1" smtClean="0"/>
              <a:t>w</a:t>
            </a:r>
            <a:r>
              <a:rPr lang="en-US" altLang="zh-TW" baseline="-25000" dirty="0" err="1" smtClean="0"/>
              <a:t>|w</a:t>
            </a:r>
            <a:r>
              <a:rPr lang="en-US" altLang="zh-TW" baseline="-25000" dirty="0" smtClean="0"/>
              <a:t>|</a:t>
            </a:r>
            <a:r>
              <a:rPr lang="en-US" altLang="zh-TW" dirty="0" smtClean="0"/>
              <a:t>=</a:t>
            </a:r>
            <a:r>
              <a:rPr lang="el-GR" altLang="zh-TW" dirty="0" smtClean="0"/>
              <a:t> </a:t>
            </a:r>
            <a:r>
              <a:rPr lang="en-US" altLang="zh-TW" dirty="0" smtClean="0"/>
              <a:t>T</a:t>
            </a:r>
            <a:r>
              <a:rPr lang="en-US" altLang="zh-TW" baseline="-25000" dirty="0" smtClean="0"/>
              <a:t>j+1</a:t>
            </a:r>
            <a:r>
              <a:rPr lang="en-US" altLang="zh-TW" dirty="0" smtClean="0"/>
              <a:t> </a:t>
            </a:r>
            <a:r>
              <a:rPr lang="en-US" altLang="zh-TW" dirty="0" smtClean="0"/>
              <a:t>=</a:t>
            </a:r>
            <a:r>
              <a:rPr lang="el-GR" altLang="zh-TW" dirty="0" smtClean="0"/>
              <a:t> α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w</a:t>
            </a:r>
            <a:r>
              <a:rPr lang="en-US" altLang="zh-TW" dirty="0" smtClean="0"/>
              <a:t>=w[..|w|</a:t>
            </a:r>
            <a:r>
              <a:rPr lang="zh-TW" altLang="en-US" dirty="0" smtClean="0"/>
              <a:t>－</a:t>
            </a:r>
            <a:r>
              <a:rPr lang="en-US" altLang="zh-TW" dirty="0" smtClean="0"/>
              <a:t>1]</a:t>
            </a:r>
            <a:r>
              <a:rPr lang="en-US" altLang="zh-TW" baseline="-25000" dirty="0" smtClean="0"/>
              <a:t> </a:t>
            </a:r>
            <a:r>
              <a:rPr lang="en-US" altLang="zh-TW" dirty="0" smtClean="0"/>
              <a:t>+</a:t>
            </a:r>
            <a:r>
              <a:rPr lang="el-GR" altLang="zh-TW" dirty="0" smtClean="0"/>
              <a:t> α</a:t>
            </a:r>
            <a:endParaRPr lang="en-US" altLang="zh-TW" baseline="-25000" dirty="0" smtClean="0"/>
          </a:p>
          <a:p>
            <a:endParaRPr lang="zh-TW" altLang="en-US" dirty="0" smtClean="0"/>
          </a:p>
          <a:p>
            <a:endParaRPr lang="zh-TW" alt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09663" y="4800621"/>
            <a:ext cx="6924675" cy="1628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42910" y="3048009"/>
            <a:ext cx="7858180" cy="16373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O(d+</a:t>
            </a:r>
            <a:r>
              <a:rPr lang="el-GR" altLang="zh-TW" dirty="0" smtClean="0"/>
              <a:t> </a:t>
            </a:r>
            <a:r>
              <a:rPr lang="el-GR" altLang="zh-TW" dirty="0" smtClean="0"/>
              <a:t>σ</a:t>
            </a:r>
            <a:r>
              <a:rPr lang="en-US" altLang="zh-TW" dirty="0" smtClean="0"/>
              <a:t>’+1)</a:t>
            </a:r>
          </a:p>
          <a:p>
            <a:r>
              <a:rPr lang="en-US" altLang="zh-TW" dirty="0" smtClean="0"/>
              <a:t>O(d)</a:t>
            </a:r>
            <a:endParaRPr lang="zh-TW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自訂設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自訂設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訂 2">
      <a:majorFont>
        <a:latin typeface="Times New Roman"/>
        <a:ea typeface="新細明體"/>
        <a:cs typeface=""/>
      </a:majorFont>
      <a:minorFont>
        <a:latin typeface="Times New Roman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13094</TotalTime>
  <Words>375</Words>
  <Application>LibreOffice/6.4.6.2$Windows_X86_64 LibreOffice_project/0ce51a4fd21bff07a5c061082cc82c5ed232f115</Application>
  <PresentationFormat>如螢幕大小 (4:3)</PresentationFormat>
  <Paragraphs>48</Paragraphs>
  <Slides>12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6</vt:i4>
      </vt:variant>
      <vt:variant>
        <vt:lpstr>投影片標題</vt:lpstr>
      </vt:variant>
      <vt:variant>
        <vt:i4>12</vt:i4>
      </vt:variant>
    </vt:vector>
  </HeadingPairs>
  <TitlesOfParts>
    <vt:vector size="18" baseType="lpstr">
      <vt:lpstr>Office Theme</vt:lpstr>
      <vt:lpstr>2_Office Theme</vt:lpstr>
      <vt:lpstr>1_自訂設計</vt:lpstr>
      <vt:lpstr>3_Office Theme</vt:lpstr>
      <vt:lpstr>自訂設計</vt:lpstr>
      <vt:lpstr>4_Office Theme</vt:lpstr>
      <vt:lpstr>投影片 1</vt:lpstr>
      <vt:lpstr>投影片 2</vt:lpstr>
      <vt:lpstr>投影片 3</vt:lpstr>
      <vt:lpstr>MAW(minimal absent word)</vt:lpstr>
      <vt:lpstr>MAWs for a sliding window</vt:lpstr>
      <vt:lpstr>MAWs for a sliding window</vt:lpstr>
      <vt:lpstr>Bounds for the numbers of changes</vt:lpstr>
      <vt:lpstr>投影片 8</vt:lpstr>
      <vt:lpstr>投影片 9</vt:lpstr>
      <vt:lpstr>投影片 10</vt:lpstr>
      <vt:lpstr>投影片 11</vt:lpstr>
      <vt:lpstr>投影片 12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Parallel Pairwise Local Sequence Alignment Algorithm</dc:title>
  <dc:subject/>
  <dc:creator>super</dc:creator>
  <dc:description/>
  <cp:lastModifiedBy>S</cp:lastModifiedBy>
  <cp:revision>2670</cp:revision>
  <dcterms:created xsi:type="dcterms:W3CDTF">2020-09-11T11:13:53Z</dcterms:created>
  <dcterms:modified xsi:type="dcterms:W3CDTF">2022-03-16T10:15:17Z</dcterms:modified>
  <dc:language>zh-TW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12.0000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2</vt:i4>
  </property>
  <property fmtid="{D5CDD505-2E9C-101B-9397-08002B2CF9AE}" pid="8" name="PresentationFormat">
    <vt:lpwstr>如螢幕大小 (4:3)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12</vt:i4>
  </property>
</Properties>
</file>