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docProps/custom.xml" ContentType="application/vnd.openxmlformats-officedocument.custom-properties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  <p:sldMasterId id="2147483738" r:id="rId3"/>
    <p:sldMasterId id="2147483712" r:id="rId4"/>
    <p:sldMasterId id="2147483674" r:id="rId5"/>
    <p:sldMasterId id="2147483725" r:id="rId6"/>
  </p:sldMasterIdLst>
  <p:notesMasterIdLst>
    <p:notesMasterId r:id="rId17"/>
  </p:notesMasterIdLst>
  <p:sldIdLst>
    <p:sldId id="256" r:id="rId7"/>
    <p:sldId id="258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4632" autoAdjust="0"/>
  </p:normalViewPr>
  <p:slideViewPr>
    <p:cSldViewPr>
      <p:cViewPr varScale="1">
        <p:scale>
          <a:sx n="109" d="100"/>
          <a:sy n="109" d="100"/>
        </p:scale>
        <p:origin x="-167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5/3/2022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 dirty="0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 dirty="0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5/3/2022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F5B75-ECF6-4BE6-A3DE-C8259B535844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5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5/3/2022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1E863-67F1-4DED-9226-013F8637FBA5}" type="datetimeFigureOut">
              <a:rPr lang="zh-TW" altLang="en-US" smtClean="0"/>
              <a:pPr/>
              <a:t>2022/5/3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51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Noisy Sorting Capacity</a:t>
            </a:r>
            <a:endParaRPr lang="en-US" altLang="zh-TW" sz="4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nl-NL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Ziao Wang, Nadim </a:t>
            </a:r>
            <a:r>
              <a:rPr lang="nl-NL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Ghaddar, </a:t>
            </a:r>
            <a:r>
              <a:rPr lang="nl-NL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Lele </a:t>
            </a:r>
            <a:r>
              <a:rPr lang="nl-NL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Wang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arXiv:2202.01446v1,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Information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Theory, 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Feb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3, 2022</a:t>
            </a:r>
            <a:endParaRPr lang="en-US" sz="2400" spc="-1" dirty="0" smtClean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May 3,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2022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Sorting is the task of ordering n elements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using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pairwise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comparisons. It is well known that m = (</a:t>
            </a:r>
            <a:r>
              <a:rPr lang="en-US" sz="2800" i="1" spc="-1" dirty="0" err="1" smtClean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log</a:t>
            </a:r>
            <a:r>
              <a:rPr lang="en-US" sz="2800" i="1" spc="-1" dirty="0" err="1" smtClean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 comparisons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are both necessary and sufficient when the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outcomes of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comparisons are observed with no noise. In this paper,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we study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sorting problem in the presence of noise. Unlike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common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approach in the literature which aims to minimize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number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of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pairwise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comparisons m to achieve a given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desired error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probability, our goal is to characterize the maximal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ratio </a:t>
            </a:r>
            <a:r>
              <a:rPr lang="en-US" sz="2800" i="1" spc="-1" dirty="0" err="1" smtClean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log</a:t>
            </a:r>
            <a:r>
              <a:rPr lang="en-US" sz="2800" i="1" spc="-1" dirty="0" err="1" smtClean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such that the ordering of the elements can be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estimated with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 vanishing error probability asymptotically.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maximal ratio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is referred to as the noisy sorting capacity. In this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work, we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derive upper and lower bounds on the noisy sorting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capacity. The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algorithm that attains the lower bound is based on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well known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Burnashev–Zigangirov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algorithm for coding over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channels with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feedback. By comparing with existing algorithms in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literature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under the proposed framework, we show that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our algorithm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can achieve a strictly larger ratio asymptotically.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Noisy Searching Problem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the index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* such that </a:t>
            </a:r>
            <a:r>
              <a:rPr lang="el-GR" altLang="zh-TW" i="1" dirty="0" smtClean="0"/>
              <a:t>θ</a:t>
            </a:r>
            <a:r>
              <a:rPr lang="en-US" altLang="zh-TW" i="1" baseline="-25000" dirty="0" err="1" smtClean="0"/>
              <a:t>i</a:t>
            </a:r>
            <a:r>
              <a:rPr lang="en-US" altLang="zh-TW" baseline="-25000" dirty="0" smtClean="0"/>
              <a:t>*</a:t>
            </a:r>
            <a:r>
              <a:rPr lang="el-GR" altLang="zh-TW" i="1" dirty="0" smtClean="0"/>
              <a:t> </a:t>
            </a:r>
            <a:r>
              <a:rPr lang="zh-TW" altLang="el-GR" dirty="0" smtClean="0"/>
              <a:t>＜</a:t>
            </a:r>
            <a:r>
              <a:rPr lang="zh-TW" altLang="el-GR" i="1" dirty="0" smtClean="0"/>
              <a:t> </a:t>
            </a:r>
            <a:r>
              <a:rPr lang="el-GR" altLang="zh-TW" i="1" dirty="0" smtClean="0"/>
              <a:t>θ</a:t>
            </a:r>
            <a:r>
              <a:rPr lang="en-US" altLang="zh-TW" i="1" dirty="0" smtClean="0"/>
              <a:t> </a:t>
            </a:r>
            <a:r>
              <a:rPr lang="zh-TW" altLang="el-GR" dirty="0" smtClean="0"/>
              <a:t>＜</a:t>
            </a:r>
            <a:r>
              <a:rPr lang="en-US" altLang="zh-TW" i="1" dirty="0" smtClean="0"/>
              <a:t> </a:t>
            </a:r>
            <a:r>
              <a:rPr lang="el-GR" altLang="zh-TW" i="1" dirty="0" smtClean="0"/>
              <a:t>θ</a:t>
            </a:r>
            <a:r>
              <a:rPr lang="en-US" altLang="zh-TW" i="1" baseline="-25000" dirty="0" err="1" smtClean="0"/>
              <a:t>i</a:t>
            </a:r>
            <a:r>
              <a:rPr lang="en-US" altLang="zh-TW" baseline="-25000" dirty="0" smtClean="0"/>
              <a:t>*+1</a:t>
            </a:r>
          </a:p>
          <a:p>
            <a:r>
              <a:rPr lang="en-US" altLang="zh-TW" i="1" dirty="0" smtClean="0"/>
              <a:t>p </a:t>
            </a:r>
            <a:r>
              <a:rPr lang="en-US" altLang="zh-TW" dirty="0" smtClean="0"/>
              <a:t>= 1 </a:t>
            </a:r>
            <a:r>
              <a:rPr lang="zh-TW" altLang="en-US" dirty="0" smtClean="0"/>
              <a:t> → </a:t>
            </a:r>
            <a:r>
              <a:rPr lang="en-US" altLang="zh-TW" dirty="0" smtClean="0"/>
              <a:t> </a:t>
            </a:r>
            <a:r>
              <a:rPr lang="en-US" altLang="zh-TW" i="1" dirty="0" err="1" smtClean="0"/>
              <a:t>n</a:t>
            </a:r>
            <a:r>
              <a:rPr lang="en-US" altLang="zh-TW" dirty="0" err="1" smtClean="0"/>
              <a:t>log</a:t>
            </a:r>
            <a:r>
              <a:rPr lang="en-US" altLang="zh-TW" i="1" dirty="0" err="1" smtClean="0"/>
              <a:t>n</a:t>
            </a:r>
            <a:r>
              <a:rPr lang="en-US" altLang="zh-TW" dirty="0" smtClean="0"/>
              <a:t> / </a:t>
            </a:r>
            <a:r>
              <a:rPr lang="en-US" altLang="zh-TW" i="1" dirty="0" smtClean="0"/>
              <a:t>n  </a:t>
            </a:r>
            <a:r>
              <a:rPr lang="en-US" altLang="zh-TW" dirty="0" smtClean="0"/>
              <a:t>=  </a:t>
            </a:r>
            <a:r>
              <a:rPr lang="en-US" altLang="zh-TW" dirty="0" err="1" smtClean="0"/>
              <a:t>log</a:t>
            </a:r>
            <a:r>
              <a:rPr lang="en-US" altLang="zh-TW" i="1" dirty="0" err="1" smtClean="0"/>
              <a:t>n</a:t>
            </a:r>
            <a:endParaRPr lang="en-US" altLang="zh-TW" i="1" dirty="0" smtClean="0"/>
          </a:p>
          <a:p>
            <a:r>
              <a:rPr lang="en-US" altLang="zh-TW" i="1" dirty="0" smtClean="0"/>
              <a:t>p </a:t>
            </a:r>
            <a:r>
              <a:rPr lang="en-US" altLang="zh-TW" dirty="0" smtClean="0"/>
              <a:t>= (1/2, 1]  </a:t>
            </a:r>
            <a:r>
              <a:rPr lang="zh-TW" altLang="en-US" dirty="0" smtClean="0"/>
              <a:t>→ </a:t>
            </a:r>
            <a:r>
              <a:rPr lang="en-US" altLang="zh-TW" i="1" dirty="0" err="1" smtClean="0"/>
              <a:t>mn</a:t>
            </a:r>
            <a:r>
              <a:rPr lang="en-US" altLang="zh-TW" dirty="0" smtClean="0"/>
              <a:t> /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 =  </a:t>
            </a:r>
            <a:r>
              <a:rPr lang="en-US" altLang="zh-TW" i="1" dirty="0" smtClean="0"/>
              <a:t>m</a:t>
            </a:r>
          </a:p>
          <a:p>
            <a:r>
              <a:rPr lang="en-US" altLang="zh-TW" dirty="0" smtClean="0"/>
              <a:t>Achievable rate R = (</a:t>
            </a:r>
            <a:r>
              <a:rPr lang="en-US" altLang="zh-TW" dirty="0" err="1" smtClean="0"/>
              <a:t>log</a:t>
            </a:r>
            <a:r>
              <a:rPr lang="en-US" altLang="zh-TW" i="1" dirty="0" err="1" smtClean="0"/>
              <a:t>n</a:t>
            </a:r>
            <a:r>
              <a:rPr lang="en-US" altLang="zh-TW" dirty="0" smtClean="0"/>
              <a:t>)/</a:t>
            </a:r>
            <a:r>
              <a:rPr lang="en-US" altLang="zh-TW" i="1" dirty="0" smtClean="0"/>
              <a:t>m</a:t>
            </a:r>
            <a:endParaRPr lang="zh-TW" altLang="en-US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Burnashev–Zigangirov</a:t>
            </a:r>
            <a:r>
              <a:rPr lang="en-US" altLang="zh-TW" dirty="0" smtClean="0"/>
              <a:t>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1. find the most likely position of </a:t>
            </a:r>
            <a:r>
              <a:rPr lang="el-GR" altLang="zh-TW" i="1" dirty="0" smtClean="0"/>
              <a:t>θ</a:t>
            </a:r>
            <a:r>
              <a:rPr lang="en-US" altLang="zh-TW" dirty="0" smtClean="0"/>
              <a:t>.</a:t>
            </a:r>
          </a:p>
          <a:p>
            <a:endParaRPr lang="en-US" altLang="zh-TW" i="1" dirty="0" smtClean="0"/>
          </a:p>
          <a:p>
            <a:endParaRPr lang="en-US" altLang="zh-TW" i="1" dirty="0" smtClean="0"/>
          </a:p>
          <a:p>
            <a:endParaRPr lang="en-US" altLang="zh-TW" i="1" dirty="0" smtClean="0"/>
          </a:p>
          <a:p>
            <a:endParaRPr lang="en-US" altLang="zh-TW" i="1" dirty="0" smtClean="0"/>
          </a:p>
          <a:p>
            <a:r>
              <a:rPr lang="en-US" altLang="zh-TW" dirty="0" smtClean="0"/>
              <a:t>Where 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357430"/>
            <a:ext cx="52101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429000"/>
            <a:ext cx="603885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7422" y="4762515"/>
            <a:ext cx="4325475" cy="952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Burnashev–Zigangirov</a:t>
            </a:r>
            <a:r>
              <a:rPr lang="en-US" altLang="zh-TW" dirty="0" smtClean="0"/>
              <a:t>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2</a:t>
            </a:r>
            <a:r>
              <a:rPr lang="en-US" altLang="zh-TW" dirty="0" smtClean="0"/>
              <a:t>. </a:t>
            </a:r>
            <a:r>
              <a:rPr lang="en-US" altLang="zh-TW" dirty="0" err="1" smtClean="0"/>
              <a:t>submmit</a:t>
            </a:r>
            <a:r>
              <a:rPr lang="en-US" altLang="zh-TW" dirty="0" smtClean="0"/>
              <a:t> query </a:t>
            </a:r>
            <a:r>
              <a:rPr lang="el-GR" altLang="zh-TW" i="1" dirty="0" smtClean="0"/>
              <a:t>θ</a:t>
            </a:r>
            <a:r>
              <a:rPr lang="en-US" altLang="zh-TW" i="1" baseline="-25000" dirty="0" smtClean="0"/>
              <a:t>j</a:t>
            </a:r>
            <a:r>
              <a:rPr lang="en-US" altLang="zh-TW" baseline="-25000" dirty="0" smtClean="0"/>
              <a:t>*(</a:t>
            </a:r>
            <a:r>
              <a:rPr lang="en-US" altLang="zh-TW" i="1" baseline="-25000" dirty="0" smtClean="0"/>
              <a:t>k</a:t>
            </a:r>
            <a:r>
              <a:rPr lang="en-US" altLang="zh-TW" baseline="-25000" dirty="0" smtClean="0"/>
              <a:t>)</a:t>
            </a:r>
            <a:r>
              <a:rPr lang="en-US" altLang="zh-TW" dirty="0" smtClean="0"/>
              <a:t> and </a:t>
            </a:r>
            <a:r>
              <a:rPr lang="en-US" altLang="zh-TW" dirty="0" smtClean="0"/>
              <a:t>receive noisy response </a:t>
            </a:r>
            <a:r>
              <a:rPr lang="en-US" altLang="zh-TW" dirty="0" err="1" smtClean="0"/>
              <a:t>Y</a:t>
            </a:r>
            <a:r>
              <a:rPr lang="en-US" altLang="zh-TW" baseline="-25000" dirty="0" err="1" smtClean="0"/>
              <a:t>k</a:t>
            </a:r>
            <a:r>
              <a:rPr lang="en-US" altLang="zh-TW" i="1" dirty="0" smtClean="0"/>
              <a:t>.</a:t>
            </a:r>
            <a:endParaRPr lang="en-US" altLang="zh-TW" i="1" dirty="0" smtClean="0"/>
          </a:p>
          <a:p>
            <a:r>
              <a:rPr lang="en-US" altLang="zh-TW" dirty="0" smtClean="0"/>
              <a:t>3.update </a:t>
            </a:r>
            <a:r>
              <a:rPr lang="en-US" altLang="zh-TW" dirty="0" err="1" smtClean="0"/>
              <a:t>q</a:t>
            </a:r>
            <a:r>
              <a:rPr lang="en-US" altLang="zh-TW" baseline="-25000" dirty="0" err="1" smtClean="0"/>
              <a:t>k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)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endParaRPr lang="en-US" altLang="zh-TW" i="1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Where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and 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2428" y="3214686"/>
            <a:ext cx="7560134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4572008"/>
            <a:ext cx="3071834" cy="923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14546" y="5715016"/>
            <a:ext cx="2643206" cy="715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00364" y="6000768"/>
            <a:ext cx="428628" cy="43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Burnashev–Zigangirov</a:t>
            </a:r>
            <a:r>
              <a:rPr lang="en-US" altLang="zh-TW" dirty="0" smtClean="0"/>
              <a:t>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4. return the most </a:t>
            </a:r>
            <a:r>
              <a:rPr lang="en-US" altLang="zh-TW" dirty="0" smtClean="0"/>
              <a:t>likely position of </a:t>
            </a:r>
            <a:r>
              <a:rPr lang="el-GR" altLang="zh-TW" i="1" dirty="0" smtClean="0"/>
              <a:t>θ</a:t>
            </a:r>
            <a:r>
              <a:rPr lang="en-US" altLang="zh-TW" dirty="0" smtClean="0"/>
              <a:t>.</a:t>
            </a:r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dirty="0" smtClean="0"/>
              <a:t>	</a:t>
            </a:r>
            <a:r>
              <a:rPr lang="en-US" altLang="zh-TW" dirty="0" err="1" smtClean="0"/>
              <a:t>arg</a:t>
            </a:r>
            <a:r>
              <a:rPr lang="en-US" altLang="zh-TW" dirty="0" smtClean="0"/>
              <a:t> max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q</a:t>
            </a:r>
            <a:r>
              <a:rPr lang="en-US" altLang="zh-TW" baseline="-25000" dirty="0" err="1" smtClean="0"/>
              <a:t>m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endParaRPr lang="en-US" altLang="zh-TW" i="1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Noisy </a:t>
            </a:r>
            <a:r>
              <a:rPr lang="en-US" altLang="zh-TW" dirty="0" smtClean="0"/>
              <a:t>Sorting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Get the most correct position of each element by </a:t>
            </a:r>
            <a:r>
              <a:rPr lang="en-US" altLang="zh-TW" dirty="0" err="1" smtClean="0"/>
              <a:t>Burnashev–Zigangirov</a:t>
            </a:r>
            <a:r>
              <a:rPr lang="en-US" altLang="zh-TW" dirty="0" smtClean="0"/>
              <a:t> Algorithm.</a:t>
            </a:r>
          </a:p>
          <a:p>
            <a:r>
              <a:rPr lang="en-US" altLang="zh-TW" dirty="0" smtClean="0"/>
              <a:t>Implement insertion sorting.</a:t>
            </a:r>
            <a:endParaRPr lang="zh-TW" altLang="en-US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 smtClean="0"/>
              <a:t>error probability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                </a:t>
            </a:r>
            <a:r>
              <a:rPr lang="en-US" altLang="zh-TW" dirty="0" err="1" smtClean="0"/>
              <a:t>gose</a:t>
            </a:r>
            <a:r>
              <a:rPr lang="en-US" altLang="zh-TW" dirty="0" smtClean="0"/>
              <a:t> to zero as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zh-TW" altLang="en-US" dirty="0" smtClean="0"/>
              <a:t>→ </a:t>
            </a:r>
            <a:r>
              <a:rPr lang="zh-TW" altLang="en-US" dirty="0" smtClean="0"/>
              <a:t>∞ </a:t>
            </a:r>
            <a:r>
              <a:rPr lang="en-US" altLang="zh-TW" dirty="0" smtClean="0"/>
              <a:t>if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460883"/>
            <a:ext cx="6429420" cy="3494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1564996"/>
            <a:ext cx="3214710" cy="363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7" y="5231260"/>
            <a:ext cx="1641774" cy="412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86314" y="5643578"/>
            <a:ext cx="35242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1063" y="585788"/>
            <a:ext cx="7381875" cy="568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13267</TotalTime>
  <Words>342</Words>
  <Application>LibreOffice/6.4.6.2$Windows_X86_64 LibreOffice_project/0ce51a4fd21bff07a5c061082cc82c5ed232f115</Application>
  <PresentationFormat>如螢幕大小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6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Office Theme</vt:lpstr>
      <vt:lpstr>2_Office Theme</vt:lpstr>
      <vt:lpstr>1_自訂設計</vt:lpstr>
      <vt:lpstr>3_Office Theme</vt:lpstr>
      <vt:lpstr>自訂設計</vt:lpstr>
      <vt:lpstr>4_Office Theme</vt:lpstr>
      <vt:lpstr>投影片 1</vt:lpstr>
      <vt:lpstr>投影片 2</vt:lpstr>
      <vt:lpstr>投影片 3</vt:lpstr>
      <vt:lpstr>Noisy Searching Problem</vt:lpstr>
      <vt:lpstr>Burnashev–Zigangirov Algorithm</vt:lpstr>
      <vt:lpstr>Burnashev–Zigangirov Algorithm</vt:lpstr>
      <vt:lpstr>Burnashev–Zigangirov Algorithm</vt:lpstr>
      <vt:lpstr>Noisy Sorting Algorithm</vt:lpstr>
      <vt:lpstr>The error probability</vt:lpstr>
      <vt:lpstr>投影片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S</cp:lastModifiedBy>
  <cp:revision>2706</cp:revision>
  <dcterms:created xsi:type="dcterms:W3CDTF">2020-09-11T11:13:53Z</dcterms:created>
  <dcterms:modified xsi:type="dcterms:W3CDTF">2022-05-03T07:50:06Z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