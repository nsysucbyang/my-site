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77" r:id="rId3"/>
    <p:sldId id="402" r:id="rId4"/>
    <p:sldId id="403" r:id="rId5"/>
    <p:sldId id="404" r:id="rId6"/>
    <p:sldId id="405" r:id="rId7"/>
    <p:sldId id="406" r:id="rId8"/>
    <p:sldId id="407" r:id="rId9"/>
    <p:sldId id="408" r:id="rId10"/>
    <p:sldId id="409" r:id="rId11"/>
    <p:sldId id="410"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12" autoAdjust="0"/>
    <p:restoredTop sz="94660"/>
  </p:normalViewPr>
  <p:slideViewPr>
    <p:cSldViewPr snapToGrid="0">
      <p:cViewPr varScale="1">
        <p:scale>
          <a:sx n="108" d="100"/>
          <a:sy n="108" d="100"/>
        </p:scale>
        <p:origin x="224" y="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07D48-2AB8-5C4B-8F47-9ED0EA5E921C}" type="datetimeFigureOut">
              <a:rPr kumimoji="1" lang="zh-TW" altLang="en-US" smtClean="0"/>
              <a:t>2022/5/3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TW" altLang="en-US"/>
              <a:t>編輯母片文字樣式
第二層
第三層
第四層
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BB5A20-AB47-424F-A431-A6E616E1DA6D}" type="slidenum">
              <a:rPr kumimoji="1" lang="zh-TW" altLang="en-US" smtClean="0"/>
              <a:t>‹#›</a:t>
            </a:fld>
            <a:endParaRPr kumimoji="1" lang="zh-TW" altLang="en-US"/>
          </a:p>
        </p:txBody>
      </p:sp>
    </p:spTree>
    <p:extLst>
      <p:ext uri="{BB962C8B-B14F-4D97-AF65-F5344CB8AC3E}">
        <p14:creationId xmlns:p14="http://schemas.microsoft.com/office/powerpoint/2010/main" val="2187116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18CF69-B94F-41EF-B44B-5A23E69EE08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94E246-5B84-40A5-9198-A6478B53D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1EC9A6A-81D9-4024-8732-81AD65077381}"/>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8130DAD2-5F2F-477A-933C-533FC70E2DF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6A92E9-2EC9-4E85-A2F5-22556455289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11783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22540F-DED7-457A-80AB-31055F78768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0592121-7306-4FF5-BC1E-2E3C5CBE0E0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2981BAE-3011-41AB-8F71-019D69C97619}"/>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061EB8D7-5BB0-4DA4-91DC-94A162F617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AC93A1-955E-43AC-888B-B961ABB26D4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2436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BE3D72-F1B6-454B-95E8-658A7A02920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528AABC-6381-4A08-A34B-9775E7CAF2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CAAA9C-33BB-4FB2-BED3-BC7D9323EC1A}"/>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8927D4F8-53BF-4473-9B99-4C8E6F8CF6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76C0F19-61B3-4F06-B453-872D9D5E8C3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16282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DBA689-797E-40E7-9EDB-5EDB08C781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2653EE-84F0-4CB2-A6D1-70ECB696DFEB}"/>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7FA3A2B-693F-4492-99C6-0C8FC6BA27B1}"/>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FD31AE8-99C0-43FB-B941-AD2B9251909A}"/>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6" name="頁尾版面配置區 5">
            <a:extLst>
              <a:ext uri="{FF2B5EF4-FFF2-40B4-BE49-F238E27FC236}">
                <a16:creationId xmlns:a16="http://schemas.microsoft.com/office/drawing/2014/main" id="{936224B4-684C-46B7-BBF1-931F646DD61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5CC215-AE48-442C-B3C7-A05DA3D209F2}"/>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672477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8377E4-D784-4175-A078-E0BE59E8F5E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515F7BB-FF4C-4A58-B308-031D2BD238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40221E4-3D33-46C5-9454-CFE7BCF65D9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025487A-E8A1-4109-B68A-4BC8FE81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4B2B406-6511-443F-B0E6-C33BAEC718C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84ACC6-C42F-45F3-BE11-E53C8E2A8114}"/>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8" name="頁尾版面配置區 7">
            <a:extLst>
              <a:ext uri="{FF2B5EF4-FFF2-40B4-BE49-F238E27FC236}">
                <a16:creationId xmlns:a16="http://schemas.microsoft.com/office/drawing/2014/main" id="{219A6C5F-EF9B-49B4-8955-2443396EE26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6F790E7-CBD5-4484-A32F-FEF48BB3A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85530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A7656-D8C4-4701-89D9-F6B0EB1C6EF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C85F66E-3E02-445B-B1D6-9F7F2B97E065}"/>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4" name="頁尾版面配置區 3">
            <a:extLst>
              <a:ext uri="{FF2B5EF4-FFF2-40B4-BE49-F238E27FC236}">
                <a16:creationId xmlns:a16="http://schemas.microsoft.com/office/drawing/2014/main" id="{CDC0B5C4-F60F-472B-877C-D558F28D58B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5AF58D9-56FD-47B2-AFA4-E191E86CD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0914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3D15556-2C7C-43E9-BEE7-2F931FDAD8E9}"/>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3" name="頁尾版面配置區 2">
            <a:extLst>
              <a:ext uri="{FF2B5EF4-FFF2-40B4-BE49-F238E27FC236}">
                <a16:creationId xmlns:a16="http://schemas.microsoft.com/office/drawing/2014/main" id="{BC3A5585-BC54-43DC-AF3A-A0CD372DFBC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7BF090F-6470-4F86-9004-6B7FDBD204E3}"/>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431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103F5-9E97-4826-B0D2-95F4564CD4A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746CFE7-EA93-4D37-81E5-AA67D27F63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3FDF5F1-BC00-46C5-8A6D-53247EAAB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0FA9920-036B-4577-A0AA-EA9558A0A321}"/>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6" name="頁尾版面配置區 5">
            <a:extLst>
              <a:ext uri="{FF2B5EF4-FFF2-40B4-BE49-F238E27FC236}">
                <a16:creationId xmlns:a16="http://schemas.microsoft.com/office/drawing/2014/main" id="{647DF8B8-6B05-4919-B114-D5663C227DE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3666E5C-95E4-4050-9140-1FCCC0B954C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318232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97E922-EA1A-435F-870D-682421C5CC8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18B7BE4-C689-4096-AD49-68F6034EA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AD295FF-4A20-40FD-AC66-98CEC5850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E219DCA-585C-43B6-9552-4EE13F760C74}"/>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6" name="頁尾版面配置區 5">
            <a:extLst>
              <a:ext uri="{FF2B5EF4-FFF2-40B4-BE49-F238E27FC236}">
                <a16:creationId xmlns:a16="http://schemas.microsoft.com/office/drawing/2014/main" id="{77D0F041-3794-4C18-8470-1E81B0B8F04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0689843-4105-446B-A08B-BA8F5DD6481F}"/>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44225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2EB34D-E993-49B7-A454-C7F5A388554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9D361F5-F0E1-4F67-B5F9-593DA8F073A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E843757-966E-48DA-9D3F-7BCB94269088}"/>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A8A665A4-0D51-44C3-83A1-6B3FEA681D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AF5088-2FDA-45E4-A2C5-6563CE3360C5}"/>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65277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B180085-65E4-4ED8-943A-8E4E7DCD727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A358ABA-23C5-47E8-9CA9-2449B434229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6EEC609-328B-4C6E-97B9-64C473DA5B8C}"/>
              </a:ext>
            </a:extLst>
          </p:cNvPr>
          <p:cNvSpPr>
            <a:spLocks noGrp="1"/>
          </p:cNvSpPr>
          <p:nvPr>
            <p:ph type="dt" sz="half" idx="10"/>
          </p:nvPr>
        </p:nvSpPr>
        <p:spPr/>
        <p:txBody>
          <a:body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1FA8800A-57CD-4691-8E11-40185134009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871209D-6627-4CFC-8CFF-DE25AA4FCC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5897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F173FCB-AF51-413B-9EA7-940E652F84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57623B9-D996-4B18-863A-AF24B34F5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610FA5-96C9-43C2-9118-EF308B50C3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42E98C-ACD1-4F21-B7D7-C715BE9B2230}" type="datetimeFigureOut">
              <a:rPr lang="zh-TW" altLang="en-US" smtClean="0"/>
              <a:t>2022/5/3</a:t>
            </a:fld>
            <a:endParaRPr lang="zh-TW" altLang="en-US"/>
          </a:p>
        </p:txBody>
      </p:sp>
      <p:sp>
        <p:nvSpPr>
          <p:cNvPr id="5" name="頁尾版面配置區 4">
            <a:extLst>
              <a:ext uri="{FF2B5EF4-FFF2-40B4-BE49-F238E27FC236}">
                <a16:creationId xmlns:a16="http://schemas.microsoft.com/office/drawing/2014/main" id="{E1A6CC33-55D8-4EFE-8365-937324890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E3263F0-2185-4819-9FD7-AB6DE2AA71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765916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CA1336C-440D-2E43-904F-AABB45E64E1E}"/>
              </a:ext>
            </a:extLst>
          </p:cNvPr>
          <p:cNvSpPr>
            <a:spLocks noGrp="1"/>
          </p:cNvSpPr>
          <p:nvPr/>
        </p:nvSpPr>
        <p:spPr>
          <a:xfrm>
            <a:off x="762001" y="1720670"/>
            <a:ext cx="10525124" cy="1555930"/>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r>
              <a:rPr lang="en-US" altLang="zh-TW" dirty="0"/>
              <a:t>The Game of Bridge: </a:t>
            </a:r>
          </a:p>
          <a:p>
            <a:r>
              <a:rPr lang="en-US" altLang="zh-TW" dirty="0"/>
              <a:t>A Challenge for ILP</a:t>
            </a:r>
            <a:endParaRPr lang="en" altLang="zh-TW" dirty="0"/>
          </a:p>
        </p:txBody>
      </p:sp>
      <p:sp>
        <p:nvSpPr>
          <p:cNvPr id="5" name="副標題 2">
            <a:extLst>
              <a:ext uri="{FF2B5EF4-FFF2-40B4-BE49-F238E27FC236}">
                <a16:creationId xmlns:a16="http://schemas.microsoft.com/office/drawing/2014/main" id="{FD611AA7-209A-4449-AB65-A25622930A66}"/>
              </a:ext>
            </a:extLst>
          </p:cNvPr>
          <p:cNvSpPr>
            <a:spLocks noGrp="1"/>
          </p:cNvSpPr>
          <p:nvPr/>
        </p:nvSpPr>
        <p:spPr>
          <a:xfrm>
            <a:off x="666107" y="3653122"/>
            <a:ext cx="9870558" cy="162877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ctr"/>
            <a:r>
              <a:rPr lang="en-US" altLang="zh-TW" dirty="0">
                <a:latin typeface="Times New Roman"/>
                <a:ea typeface="新細明體"/>
                <a:cs typeface="Times New Roman"/>
              </a:rPr>
              <a:t>Swann </a:t>
            </a:r>
            <a:r>
              <a:rPr lang="en-US" altLang="zh-TW" dirty="0" err="1">
                <a:latin typeface="Times New Roman"/>
                <a:ea typeface="新細明體"/>
                <a:cs typeface="Times New Roman"/>
              </a:rPr>
              <a:t>Legras</a:t>
            </a:r>
            <a:r>
              <a:rPr lang="en-US" altLang="zh-TW" dirty="0">
                <a:latin typeface="Times New Roman"/>
                <a:ea typeface="新細明體"/>
                <a:cs typeface="Times New Roman"/>
              </a:rPr>
              <a:t>, </a:t>
            </a:r>
            <a:r>
              <a:rPr lang="en-US" altLang="zh-TW" dirty="0" err="1">
                <a:latin typeface="Times New Roman"/>
                <a:ea typeface="新細明體"/>
                <a:cs typeface="Times New Roman"/>
              </a:rPr>
              <a:t>C’eline</a:t>
            </a:r>
            <a:r>
              <a:rPr lang="en-US" altLang="zh-TW" dirty="0">
                <a:latin typeface="Times New Roman"/>
                <a:ea typeface="新細明體"/>
                <a:cs typeface="Times New Roman"/>
              </a:rPr>
              <a:t> </a:t>
            </a:r>
            <a:r>
              <a:rPr lang="en-US" altLang="zh-TW" dirty="0" err="1">
                <a:latin typeface="Times New Roman"/>
                <a:ea typeface="新細明體"/>
                <a:cs typeface="Times New Roman"/>
              </a:rPr>
              <a:t>Rouveirol</a:t>
            </a:r>
            <a:r>
              <a:rPr lang="en-US" altLang="zh-TW" dirty="0">
                <a:latin typeface="Times New Roman"/>
                <a:ea typeface="新細明體"/>
                <a:cs typeface="Times New Roman"/>
              </a:rPr>
              <a:t>, and </a:t>
            </a:r>
            <a:r>
              <a:rPr lang="en-US" altLang="zh-TW" dirty="0" err="1">
                <a:latin typeface="Times New Roman"/>
                <a:ea typeface="新細明體"/>
                <a:cs typeface="Times New Roman"/>
              </a:rPr>
              <a:t>V’eronique</a:t>
            </a:r>
            <a:r>
              <a:rPr lang="en-US" altLang="zh-TW" dirty="0">
                <a:latin typeface="Times New Roman"/>
                <a:ea typeface="新細明體"/>
                <a:cs typeface="Times New Roman"/>
              </a:rPr>
              <a:t> </a:t>
            </a:r>
            <a:r>
              <a:rPr lang="en-US" altLang="zh-TW" dirty="0" err="1">
                <a:latin typeface="Times New Roman"/>
                <a:ea typeface="新細明體"/>
                <a:cs typeface="Times New Roman"/>
              </a:rPr>
              <a:t>Ventos</a:t>
            </a:r>
            <a:endParaRPr lang="en-US" altLang="zh-TW" dirty="0">
              <a:latin typeface="Times New Roman"/>
              <a:ea typeface="新細明體"/>
              <a:cs typeface="Times New Roman"/>
            </a:endParaRPr>
          </a:p>
          <a:p>
            <a:r>
              <a:rPr lang="en-US" altLang="zh-TW" dirty="0">
                <a:latin typeface="Times New Roman"/>
                <a:ea typeface="+mn-lt"/>
                <a:cs typeface="+mn-lt"/>
              </a:rPr>
              <a:t>28th International Conference, ILP 2018, Ferrara, Italy, September 2–4, 2018, Proceedings</a:t>
            </a:r>
          </a:p>
        </p:txBody>
      </p:sp>
      <p:sp>
        <p:nvSpPr>
          <p:cNvPr id="6" name="文字方塊 3">
            <a:extLst>
              <a:ext uri="{FF2B5EF4-FFF2-40B4-BE49-F238E27FC236}">
                <a16:creationId xmlns:a16="http://schemas.microsoft.com/office/drawing/2014/main" id="{BF1141FC-B145-834E-9139-2A899AB73EAA}"/>
              </a:ext>
            </a:extLst>
          </p:cNvPr>
          <p:cNvSpPr txBox="1"/>
          <p:nvPr/>
        </p:nvSpPr>
        <p:spPr>
          <a:xfrm>
            <a:off x="9150372" y="5471581"/>
            <a:ext cx="2375522" cy="646331"/>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 altLang="zh-TW" dirty="0">
                <a:latin typeface="Times New Roman" panose="02020603050405020304" pitchFamily="18" charset="0"/>
                <a:cs typeface="Times New Roman" panose="02020603050405020304" pitchFamily="18" charset="0"/>
              </a:rPr>
              <a:t>Presenter: Ying-Yu Lin</a:t>
            </a:r>
          </a:p>
          <a:p>
            <a:pPr algn="r"/>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May</a:t>
            </a:r>
            <a:r>
              <a:rPr kumimoji="1" lang="en" altLang="zh-TW"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3</a:t>
            </a:r>
            <a:r>
              <a:rPr kumimoji="1" lang="en" altLang="zh-TW" dirty="0">
                <a:latin typeface="Times New Roman" panose="02020603050405020304" pitchFamily="18" charset="0"/>
                <a:cs typeface="Times New Roman" panose="02020603050405020304" pitchFamily="18" charset="0"/>
              </a:rPr>
              <a:t>,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75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284482"/>
            <a:ext cx="11439524" cy="6391493"/>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 </a:t>
            </a:r>
          </a:p>
          <a:p>
            <a:pPr algn="just">
              <a:lnSpc>
                <a:spcPts val="3200"/>
              </a:lnSpc>
            </a:pPr>
            <a:endParaRPr lang="en-US" altLang="zh-TW" sz="2800" dirty="0">
              <a:latin typeface="Times New Roman"/>
              <a:ea typeface="+mn-lt"/>
              <a:cs typeface="+mn-lt"/>
            </a:endParaRPr>
          </a:p>
          <a:p>
            <a:pPr algn="just">
              <a:lnSpc>
                <a:spcPts val="3200"/>
              </a:lnSpc>
            </a:pPr>
            <a:r>
              <a:rPr lang="en-US" altLang="zh-TW" sz="2800" dirty="0">
                <a:latin typeface="Times New Roman"/>
                <a:ea typeface="+mn-lt"/>
                <a:cs typeface="+mn-lt"/>
              </a:rPr>
              <a:t>Designs of champion-level systems dedicated to a game have been considered as milestones for Artificial Intelligence. Such a success has not yet happened for the game of Bridge because (</a:t>
            </a:r>
            <a:r>
              <a:rPr lang="en-US" altLang="zh-TW" sz="2800" dirty="0" err="1">
                <a:latin typeface="Times New Roman"/>
                <a:ea typeface="+mn-lt"/>
                <a:cs typeface="+mn-lt"/>
              </a:rPr>
              <a:t>i</a:t>
            </a:r>
            <a:r>
              <a:rPr lang="en-US" altLang="zh-TW" sz="2800" dirty="0">
                <a:latin typeface="Times New Roman"/>
                <a:ea typeface="+mn-lt"/>
                <a:cs typeface="+mn-lt"/>
              </a:rPr>
              <a:t>) Bridge is a partially observable game (ii) a Bridge player must be able to explain at some point the meaning of his actions to his opponents. This paper presents a simple supervised learning problem in Bridge: given a ‘limit hand’, should a player bid or not, only considering his hand and the context of his decision. We describe this problem and some of its candidate </a:t>
            </a:r>
            <a:r>
              <a:rPr lang="en-US" altLang="zh-TW" sz="2800" dirty="0" err="1">
                <a:latin typeface="Times New Roman"/>
                <a:ea typeface="+mn-lt"/>
                <a:cs typeface="+mn-lt"/>
              </a:rPr>
              <a:t>modelisations</a:t>
            </a:r>
            <a:r>
              <a:rPr lang="en-US" altLang="zh-TW" sz="2800" dirty="0">
                <a:latin typeface="Times New Roman"/>
                <a:ea typeface="+mn-lt"/>
                <a:cs typeface="+mn-lt"/>
              </a:rPr>
              <a:t>. We then experiment state of the art propositional machine learning and ILP systems on this problem. Results of these preliminary experiments show that ILP systems are competitive or even outperform propositional Machine Learning systems. ILP systems are moreover able to build explicit models that have been validated by expert Bridge players.</a:t>
            </a:r>
          </a:p>
        </p:txBody>
      </p:sp>
    </p:spTree>
    <p:extLst>
      <p:ext uri="{BB962C8B-B14F-4D97-AF65-F5344CB8AC3E}">
        <p14:creationId xmlns:p14="http://schemas.microsoft.com/office/powerpoint/2010/main" val="35319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 altLang="zh-TW" sz="3600" b="1" dirty="0">
                <a:latin typeface="Times New Roman" pitchFamily="18" charset="0"/>
                <a:cs typeface="Times New Roman" pitchFamily="18" charset="0"/>
              </a:rPr>
              <a:t>Opening Bid problem</a:t>
            </a:r>
            <a:endParaRPr lang="en-US" altLang="zh-TW" sz="36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C487822-ACFF-D84C-A08F-A132CB5BEF28}"/>
                  </a:ext>
                </a:extLst>
              </p:cNvPr>
              <p:cNvSpPr txBox="1">
                <a:spLocks/>
              </p:cNvSpPr>
              <p:nvPr/>
            </p:nvSpPr>
            <p:spPr>
              <a:xfrm>
                <a:off x="587829" y="1825624"/>
                <a:ext cx="11604171" cy="486018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i="1" dirty="0">
                  <a:latin typeface="Cambria Math" panose="02040503050406030204" pitchFamily="18" charset="0"/>
                </a:endParaRPr>
              </a:p>
              <a:p>
                <a:endParaRPr lang="en-US" altLang="zh-TW" i="1" dirty="0">
                  <a:latin typeface="Cambria Math" panose="02040503050406030204" pitchFamily="18" charset="0"/>
                </a:endParaRPr>
              </a:p>
              <a:p>
                <a:endParaRPr lang="en-US" altLang="zh-TW" i="1" dirty="0">
                  <a:latin typeface="Cambria Math" panose="02040503050406030204" pitchFamily="18" charset="0"/>
                </a:endParaRPr>
              </a:p>
              <a:p>
                <a:endParaRPr lang="en-US" altLang="zh-TW" i="1" dirty="0">
                  <a:latin typeface="Cambria Math" panose="02040503050406030204" pitchFamily="18" charset="0"/>
                </a:endParaRPr>
              </a:p>
              <a:p>
                <a:endParaRPr lang="en-US" altLang="zh-TW" b="0" i="1" dirty="0">
                  <a:latin typeface="Cambria Math" panose="02040503050406030204" pitchFamily="18" charset="0"/>
                </a:endParaRPr>
              </a:p>
              <a:p>
                <a14:m>
                  <m:oMath xmlns:m="http://schemas.openxmlformats.org/officeDocument/2006/math">
                    <m:r>
                      <a:rPr lang="en-US" altLang="zh-TW" b="0" i="1" smtClean="0">
                        <a:latin typeface="Cambria Math" panose="02040503050406030204" pitchFamily="18" charset="0"/>
                      </a:rPr>
                      <m:t>𝑐</m:t>
                    </m:r>
                    <m:r>
                      <a:rPr lang="en-US" altLang="zh-TW" b="0" i="1" baseline="-25000" smtClean="0">
                        <a:latin typeface="Cambria Math" panose="02040503050406030204" pitchFamily="18" charset="0"/>
                      </a:rPr>
                      <m:t>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𝑤𝑖𝑡h</m:t>
                    </m:r>
                    <m:r>
                      <a:rPr lang="en-US" altLang="zh-TW" b="0" i="1" smtClean="0">
                        <a:latin typeface="Cambria Math" panose="02040503050406030204" pitchFamily="18" charset="0"/>
                      </a:rPr>
                      <m:t> </m:t>
                    </m:r>
                    <m:r>
                      <a:rPr lang="en-US" altLang="zh-TW" b="0" i="1" smtClean="0">
                        <a:latin typeface="Cambria Math" panose="02040503050406030204" pitchFamily="18" charset="0"/>
                      </a:rPr>
                      <m:t>𝑛</m:t>
                    </m:r>
                    <m:r>
                      <a:rPr lang="en-US" altLang="zh-TW" i="1">
                        <a:latin typeface="Cambria Math" panose="02040503050406030204" pitchFamily="18" charset="0"/>
                      </a:rPr>
                      <m:t>∈</m:t>
                    </m:r>
                  </m:oMath>
                </a14:m>
                <a:r>
                  <a:rPr lang="en-US" altLang="zh-TW" dirty="0"/>
                  <a:t> {1..52}</a:t>
                </a:r>
              </a:p>
              <a:p>
                <a14:m>
                  <m:oMath xmlns:m="http://schemas.openxmlformats.org/officeDocument/2006/math">
                    <m:r>
                      <a:rPr lang="en-US" altLang="zh-TW" b="0" i="1" smtClean="0">
                        <a:latin typeface="Cambria Math" panose="02040503050406030204" pitchFamily="18" charset="0"/>
                      </a:rPr>
                      <m:t>𝑝𝑜𝑠𝑖𝑡𝑖𝑜𝑛</m:t>
                    </m:r>
                    <m:r>
                      <a:rPr lang="en-US" altLang="zh-TW" i="1">
                        <a:latin typeface="Cambria Math" panose="02040503050406030204" pitchFamily="18" charset="0"/>
                      </a:rPr>
                      <m:t>∈</m:t>
                    </m:r>
                    <m:r>
                      <a:rPr lang="en-US" altLang="zh-TW" b="0" i="1" smtClean="0">
                        <a:latin typeface="Cambria Math" panose="02040503050406030204" pitchFamily="18" charset="0"/>
                      </a:rPr>
                      <m:t>{1..4}</m:t>
                    </m:r>
                  </m:oMath>
                </a14:m>
                <a:endParaRPr lang="en-US" altLang="zh-TW" dirty="0"/>
              </a:p>
              <a:p>
                <a14:m>
                  <m:oMath xmlns:m="http://schemas.openxmlformats.org/officeDocument/2006/math">
                    <m:r>
                      <a:rPr lang="en-US" altLang="zh-TW" b="0" i="1" smtClean="0">
                        <a:latin typeface="Cambria Math" panose="02040503050406030204" pitchFamily="18" charset="0"/>
                      </a:rPr>
                      <m:t>𝑣𝑢𝑙𝑛𝑒𝑟𝑎𝑏𝑖𝑙𝑖𝑡𝑦</m:t>
                    </m:r>
                    <m:r>
                      <a:rPr lang="en-US" altLang="zh-TW" i="1">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1..4</m:t>
                        </m:r>
                      </m:e>
                    </m:d>
                  </m:oMath>
                </a14:m>
                <a:endParaRPr lang="en-US" altLang="zh-TW" b="0" dirty="0"/>
              </a:p>
              <a:p>
                <a14:m>
                  <m:oMath xmlns:m="http://schemas.openxmlformats.org/officeDocument/2006/math">
                    <m:r>
                      <a:rPr lang="en-US" altLang="zh-TW" b="0" i="1" smtClean="0">
                        <a:latin typeface="Cambria Math" panose="02040503050406030204" pitchFamily="18" charset="0"/>
                      </a:rPr>
                      <m:t>𝑐𝑙𝑎𝑠𝑠</m:t>
                    </m:r>
                    <m:r>
                      <a:rPr lang="en-US" altLang="zh-TW" i="1">
                        <a:latin typeface="Cambria Math" panose="02040503050406030204" pitchFamily="18" charset="0"/>
                      </a:rPr>
                      <m:t>∈</m:t>
                    </m:r>
                  </m:oMath>
                </a14:m>
                <a:r>
                  <a:rPr lang="en-US" altLang="zh-TW" dirty="0"/>
                  <a:t> {0,1} , class = 1 if the expert opens and 0 if he passes  </a:t>
                </a:r>
                <a:endParaRPr lang="zh-TW" altLang="en-US" dirty="0"/>
              </a:p>
            </p:txBody>
          </p:sp>
        </mc:Choice>
        <mc:Fallback xmlns="">
          <p:sp>
            <p:nvSpPr>
              <p:cNvPr id="3" name="內容版面配置區 2">
                <a:extLst>
                  <a:ext uri="{FF2B5EF4-FFF2-40B4-BE49-F238E27FC236}">
                    <a16:creationId xmlns:a16="http://schemas.microsoft.com/office/drawing/2014/main" id="{3C487822-ACFF-D84C-A08F-A132CB5BEF28}"/>
                  </a:ext>
                </a:extLst>
              </p:cNvPr>
              <p:cNvSpPr txBox="1">
                <a:spLocks noRot="1" noChangeAspect="1" noMove="1" noResize="1" noEditPoints="1" noAdjustHandles="1" noChangeArrowheads="1" noChangeShapeType="1" noTextEdit="1"/>
              </p:cNvSpPr>
              <p:nvPr/>
            </p:nvSpPr>
            <p:spPr>
              <a:xfrm>
                <a:off x="587829" y="1825624"/>
                <a:ext cx="11604171" cy="4860183"/>
              </a:xfrm>
              <a:prstGeom prst="rect">
                <a:avLst/>
              </a:prstGeom>
              <a:blipFill>
                <a:blip r:embed="rId2"/>
                <a:stretch>
                  <a:fillRect l="-874"/>
                </a:stretch>
              </a:blipFill>
            </p:spPr>
            <p:txBody>
              <a:bodyPr/>
              <a:lstStyle/>
              <a:p>
                <a:r>
                  <a:rPr lang="zh-TW" altLang="en-US">
                    <a:noFill/>
                  </a:rPr>
                  <a:t> </a:t>
                </a:r>
              </a:p>
            </p:txBody>
          </p:sp>
        </mc:Fallback>
      </mc:AlternateContent>
      <p:pic>
        <p:nvPicPr>
          <p:cNvPr id="4" name="內容版面配置區 3">
            <a:extLst>
              <a:ext uri="{FF2B5EF4-FFF2-40B4-BE49-F238E27FC236}">
                <a16:creationId xmlns:a16="http://schemas.microsoft.com/office/drawing/2014/main" id="{54E2B328-B5CD-CB43-BA40-1676CB45ACBE}"/>
              </a:ext>
            </a:extLst>
          </p:cNvPr>
          <p:cNvPicPr>
            <a:picLocks noChangeAspect="1"/>
          </p:cNvPicPr>
          <p:nvPr/>
        </p:nvPicPr>
        <p:blipFill>
          <a:blip r:embed="rId3"/>
          <a:stretch>
            <a:fillRect/>
          </a:stretch>
        </p:blipFill>
        <p:spPr>
          <a:xfrm>
            <a:off x="3200811" y="1479770"/>
            <a:ext cx="6378206" cy="2441007"/>
          </a:xfrm>
          <a:prstGeom prst="rect">
            <a:avLst/>
          </a:prstGeom>
        </p:spPr>
      </p:pic>
    </p:spTree>
    <p:extLst>
      <p:ext uri="{BB962C8B-B14F-4D97-AF65-F5344CB8AC3E}">
        <p14:creationId xmlns:p14="http://schemas.microsoft.com/office/powerpoint/2010/main" val="205789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 altLang="zh-TW" sz="3600" b="1" dirty="0" err="1">
                <a:latin typeface="Times New Roman" pitchFamily="18" charset="0"/>
                <a:cs typeface="Times New Roman" pitchFamily="18" charset="0"/>
              </a:rPr>
              <a:t>DataSets</a:t>
            </a:r>
            <a:endParaRPr lang="en-US" altLang="zh-TW" sz="3600" b="1" dirty="0">
              <a:latin typeface="Times New Roman" pitchFamily="18" charset="0"/>
              <a:cs typeface="Times New Roman" pitchFamily="18" charset="0"/>
            </a:endParaRPr>
          </a:p>
        </p:txBody>
      </p:sp>
      <p:sp>
        <p:nvSpPr>
          <p:cNvPr id="3" name="內容版面配置區 2">
            <a:extLst>
              <a:ext uri="{FF2B5EF4-FFF2-40B4-BE49-F238E27FC236}">
                <a16:creationId xmlns:a16="http://schemas.microsoft.com/office/drawing/2014/main" id="{3C487822-ACFF-D84C-A08F-A132CB5BEF28}"/>
              </a:ext>
            </a:extLst>
          </p:cNvPr>
          <p:cNvSpPr txBox="1">
            <a:spLocks/>
          </p:cNvSpPr>
          <p:nvPr/>
        </p:nvSpPr>
        <p:spPr>
          <a:xfrm>
            <a:off x="587829" y="1825624"/>
            <a:ext cx="11604171" cy="486018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TW" i="1" dirty="0">
              <a:latin typeface="Cambria Math" panose="02040503050406030204" pitchFamily="18" charset="0"/>
            </a:endParaRPr>
          </a:p>
        </p:txBody>
      </p:sp>
      <p:pic>
        <p:nvPicPr>
          <p:cNvPr id="6" name="圖片 5">
            <a:extLst>
              <a:ext uri="{FF2B5EF4-FFF2-40B4-BE49-F238E27FC236}">
                <a16:creationId xmlns:a16="http://schemas.microsoft.com/office/drawing/2014/main" id="{C4F890CA-1B0A-8A43-A0ED-98A3C0D08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377" y="2005281"/>
            <a:ext cx="10645074" cy="2981552"/>
          </a:xfrm>
          <a:prstGeom prst="rect">
            <a:avLst/>
          </a:prstGeom>
        </p:spPr>
      </p:pic>
    </p:spTree>
    <p:extLst>
      <p:ext uri="{BB962C8B-B14F-4D97-AF65-F5344CB8AC3E}">
        <p14:creationId xmlns:p14="http://schemas.microsoft.com/office/powerpoint/2010/main" val="2380440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Build Rule Sets with ILP System</a:t>
            </a:r>
          </a:p>
        </p:txBody>
      </p:sp>
      <p:sp>
        <p:nvSpPr>
          <p:cNvPr id="3" name="內容版面配置區 2">
            <a:extLst>
              <a:ext uri="{FF2B5EF4-FFF2-40B4-BE49-F238E27FC236}">
                <a16:creationId xmlns:a16="http://schemas.microsoft.com/office/drawing/2014/main" id="{3C487822-ACFF-D84C-A08F-A132CB5BEF28}"/>
              </a:ext>
            </a:extLst>
          </p:cNvPr>
          <p:cNvSpPr txBox="1">
            <a:spLocks/>
          </p:cNvSpPr>
          <p:nvPr/>
        </p:nvSpPr>
        <p:spPr>
          <a:xfrm>
            <a:off x="587829" y="1825624"/>
            <a:ext cx="11604171" cy="486018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a:latin typeface="Cambria Math" panose="02040503050406030204" pitchFamily="18" charset="0"/>
              </a:rPr>
              <a:t>Tilde: first order logical decision tree</a:t>
            </a:r>
          </a:p>
          <a:p>
            <a:pPr marL="0" indent="0">
              <a:buNone/>
            </a:pPr>
            <a:r>
              <a:rPr lang="en-US" altLang="zh-TW" i="1" dirty="0">
                <a:latin typeface="Cambria Math" panose="02040503050406030204" pitchFamily="18" charset="0"/>
              </a:rPr>
              <a:t> </a:t>
            </a:r>
          </a:p>
          <a:p>
            <a:r>
              <a:rPr lang="en-US" altLang="zh-TW" i="1" dirty="0">
                <a:latin typeface="Cambria Math" panose="02040503050406030204" pitchFamily="18" charset="0"/>
              </a:rPr>
              <a:t>Aleph : top-down</a:t>
            </a:r>
          </a:p>
          <a:p>
            <a:pPr>
              <a:buFontTx/>
              <a:buChar char="-"/>
            </a:pPr>
            <a:r>
              <a:rPr lang="en-US" altLang="zh-TW" i="1" dirty="0">
                <a:latin typeface="Cambria Math" panose="02040503050406030204" pitchFamily="18" charset="0"/>
              </a:rPr>
              <a:t>Select example</a:t>
            </a:r>
          </a:p>
          <a:p>
            <a:pPr>
              <a:buFontTx/>
              <a:buChar char="-"/>
            </a:pPr>
            <a:r>
              <a:rPr lang="en-US" altLang="zh-TW" i="1" dirty="0">
                <a:latin typeface="Cambria Math" panose="02040503050406030204" pitchFamily="18" charset="0"/>
              </a:rPr>
              <a:t>Build most-specific-clause</a:t>
            </a:r>
          </a:p>
          <a:p>
            <a:pPr>
              <a:buFontTx/>
              <a:buChar char="-"/>
            </a:pPr>
            <a:r>
              <a:rPr lang="en-US" altLang="zh-TW" i="1" dirty="0">
                <a:latin typeface="Cambria Math" panose="02040503050406030204" pitchFamily="18" charset="0"/>
              </a:rPr>
              <a:t>Search</a:t>
            </a:r>
          </a:p>
          <a:p>
            <a:pPr>
              <a:buFontTx/>
              <a:buChar char="-"/>
            </a:pPr>
            <a:r>
              <a:rPr lang="en-US" altLang="zh-TW" i="1" dirty="0">
                <a:latin typeface="Cambria Math" panose="02040503050406030204" pitchFamily="18" charset="0"/>
              </a:rPr>
              <a:t>Remove redundant</a:t>
            </a:r>
          </a:p>
          <a:p>
            <a:pPr marL="0" indent="0">
              <a:buNone/>
            </a:pPr>
            <a:endParaRPr lang="en-US" altLang="zh-TW" i="1" dirty="0">
              <a:latin typeface="Cambria Math" panose="02040503050406030204" pitchFamily="18" charset="0"/>
            </a:endParaRPr>
          </a:p>
        </p:txBody>
      </p:sp>
    </p:spTree>
    <p:extLst>
      <p:ext uri="{BB962C8B-B14F-4D97-AF65-F5344CB8AC3E}">
        <p14:creationId xmlns:p14="http://schemas.microsoft.com/office/powerpoint/2010/main" val="92004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Relation Representation</a:t>
            </a:r>
          </a:p>
        </p:txBody>
      </p:sp>
      <p:sp>
        <p:nvSpPr>
          <p:cNvPr id="3" name="內容版面配置區 2">
            <a:extLst>
              <a:ext uri="{FF2B5EF4-FFF2-40B4-BE49-F238E27FC236}">
                <a16:creationId xmlns:a16="http://schemas.microsoft.com/office/drawing/2014/main" id="{3C487822-ACFF-D84C-A08F-A132CB5BEF28}"/>
              </a:ext>
            </a:extLst>
          </p:cNvPr>
          <p:cNvSpPr txBox="1">
            <a:spLocks/>
          </p:cNvSpPr>
          <p:nvPr/>
        </p:nvSpPr>
        <p:spPr>
          <a:xfrm>
            <a:off x="231570" y="3598223"/>
            <a:ext cx="4043548" cy="30875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a:latin typeface="Cambria Math" panose="02040503050406030204" pitchFamily="18" charset="0"/>
              </a:rPr>
              <a:t>BK</a:t>
            </a:r>
            <a:r>
              <a:rPr lang="en-US" altLang="zh-TW" i="1" baseline="-25000" dirty="0">
                <a:latin typeface="Cambria Math" panose="02040503050406030204" pitchFamily="18" charset="0"/>
              </a:rPr>
              <a:t>0</a:t>
            </a:r>
            <a:r>
              <a:rPr lang="en-US" altLang="zh-TW" i="1" dirty="0">
                <a:latin typeface="Cambria Math" panose="02040503050406030204" pitchFamily="18" charset="0"/>
              </a:rPr>
              <a:t>:</a:t>
            </a:r>
          </a:p>
          <a:p>
            <a:pPr marL="0" indent="0">
              <a:buNone/>
            </a:pPr>
            <a:r>
              <a:rPr lang="en-US" altLang="zh-TW" i="1" dirty="0">
                <a:latin typeface="Cambria Math" panose="02040503050406030204" pitchFamily="18" charset="0"/>
              </a:rPr>
              <a:t>- open(E , Class)</a:t>
            </a:r>
          </a:p>
          <a:p>
            <a:pPr>
              <a:buFontTx/>
              <a:buChar char="-"/>
            </a:pPr>
            <a:r>
              <a:rPr lang="en-US" altLang="zh-TW" i="1" dirty="0" err="1">
                <a:latin typeface="Cambria Math" panose="02040503050406030204" pitchFamily="18" charset="0"/>
              </a:rPr>
              <a:t>has_hand</a:t>
            </a:r>
            <a:r>
              <a:rPr lang="en-US" altLang="zh-TW" i="1" dirty="0">
                <a:latin typeface="Cambria Math" panose="02040503050406030204" pitchFamily="18" charset="0"/>
              </a:rPr>
              <a:t>(E , H)</a:t>
            </a:r>
          </a:p>
          <a:p>
            <a:pPr>
              <a:buFontTx/>
              <a:buChar char="-"/>
            </a:pPr>
            <a:r>
              <a:rPr lang="en-US" altLang="zh-TW" i="1" dirty="0" err="1">
                <a:latin typeface="Cambria Math" panose="02040503050406030204" pitchFamily="18" charset="0"/>
              </a:rPr>
              <a:t>has_card</a:t>
            </a:r>
            <a:r>
              <a:rPr lang="en-US" altLang="zh-TW" i="1" dirty="0">
                <a:latin typeface="Cambria Math" panose="02040503050406030204" pitchFamily="18" charset="0"/>
              </a:rPr>
              <a:t>(E , C)</a:t>
            </a:r>
          </a:p>
          <a:p>
            <a:pPr>
              <a:buFontTx/>
              <a:buChar char="-"/>
            </a:pPr>
            <a:r>
              <a:rPr lang="en-US" altLang="zh-TW" i="1" dirty="0">
                <a:latin typeface="Cambria Math" panose="02040503050406030204" pitchFamily="18" charset="0"/>
              </a:rPr>
              <a:t>position(E , P)</a:t>
            </a:r>
          </a:p>
          <a:p>
            <a:pPr>
              <a:buFontTx/>
              <a:buChar char="-"/>
            </a:pPr>
            <a:r>
              <a:rPr lang="en-US" altLang="zh-TW" i="1" dirty="0" err="1">
                <a:latin typeface="Cambria Math" panose="02040503050406030204" pitchFamily="18" charset="0"/>
              </a:rPr>
              <a:t>vuln</a:t>
            </a:r>
            <a:r>
              <a:rPr lang="en-US" altLang="zh-TW" i="1" dirty="0">
                <a:latin typeface="Cambria Math" panose="02040503050406030204" pitchFamily="18" charset="0"/>
              </a:rPr>
              <a:t>(E , V</a:t>
            </a:r>
            <a:r>
              <a:rPr lang="en-US" altLang="zh-TW" i="1" baseline="-25000" dirty="0">
                <a:latin typeface="Cambria Math" panose="02040503050406030204" pitchFamily="18" charset="0"/>
              </a:rPr>
              <a:t>1</a:t>
            </a:r>
            <a:r>
              <a:rPr lang="en-US" altLang="zh-TW" i="1" dirty="0">
                <a:latin typeface="Cambria Math" panose="02040503050406030204" pitchFamily="18" charset="0"/>
              </a:rPr>
              <a:t> , V</a:t>
            </a:r>
            <a:r>
              <a:rPr lang="en-US" altLang="zh-TW" i="1" baseline="-25000" dirty="0">
                <a:latin typeface="Cambria Math" panose="02040503050406030204" pitchFamily="18" charset="0"/>
              </a:rPr>
              <a:t>2</a:t>
            </a:r>
            <a:r>
              <a:rPr lang="en-US" altLang="zh-TW" i="1" dirty="0">
                <a:latin typeface="Cambria Math" panose="02040503050406030204" pitchFamily="18" charset="0"/>
              </a:rPr>
              <a:t>)</a:t>
            </a:r>
          </a:p>
        </p:txBody>
      </p:sp>
      <p:pic>
        <p:nvPicPr>
          <p:cNvPr id="7" name="內容版面配置區 3">
            <a:extLst>
              <a:ext uri="{FF2B5EF4-FFF2-40B4-BE49-F238E27FC236}">
                <a16:creationId xmlns:a16="http://schemas.microsoft.com/office/drawing/2014/main" id="{3BE82351-3711-8042-98CA-5277C7897133}"/>
              </a:ext>
            </a:extLst>
          </p:cNvPr>
          <p:cNvPicPr>
            <a:picLocks noChangeAspect="1"/>
          </p:cNvPicPr>
          <p:nvPr/>
        </p:nvPicPr>
        <p:blipFill>
          <a:blip r:embed="rId2"/>
          <a:stretch>
            <a:fillRect/>
          </a:stretch>
        </p:blipFill>
        <p:spPr>
          <a:xfrm>
            <a:off x="3200811" y="1194763"/>
            <a:ext cx="6378206" cy="2441007"/>
          </a:xfrm>
          <a:prstGeom prst="rect">
            <a:avLst/>
          </a:prstGeom>
        </p:spPr>
      </p:pic>
      <p:sp>
        <p:nvSpPr>
          <p:cNvPr id="8" name="內容版面配置區 2">
            <a:extLst>
              <a:ext uri="{FF2B5EF4-FFF2-40B4-BE49-F238E27FC236}">
                <a16:creationId xmlns:a16="http://schemas.microsoft.com/office/drawing/2014/main" id="{11D0662A-1CE2-5148-9D54-282370BEB6C1}"/>
              </a:ext>
            </a:extLst>
          </p:cNvPr>
          <p:cNvSpPr txBox="1">
            <a:spLocks/>
          </p:cNvSpPr>
          <p:nvPr/>
        </p:nvSpPr>
        <p:spPr>
          <a:xfrm>
            <a:off x="3253839" y="3598223"/>
            <a:ext cx="9120249" cy="3087584"/>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TW" i="1" dirty="0">
              <a:latin typeface="Cambria Math" panose="02040503050406030204" pitchFamily="18" charset="0"/>
            </a:endParaRPr>
          </a:p>
          <a:p>
            <a:pPr marL="0" indent="0">
              <a:buNone/>
            </a:pPr>
            <a:r>
              <a:rPr lang="en-US" altLang="zh-TW" sz="3000" i="1" dirty="0">
                <a:latin typeface="Cambria Math" panose="02040503050406030204" pitchFamily="18" charset="0"/>
              </a:rPr>
              <a:t>- open(e</a:t>
            </a:r>
            <a:r>
              <a:rPr lang="en-US" altLang="zh-TW" sz="3000" i="1" baseline="-25000" dirty="0">
                <a:latin typeface="Cambria Math" panose="02040503050406030204" pitchFamily="18" charset="0"/>
              </a:rPr>
              <a:t>1</a:t>
            </a:r>
            <a:r>
              <a:rPr lang="en-US" altLang="zh-TW" sz="3000" i="1" dirty="0">
                <a:latin typeface="Cambria Math" panose="02040503050406030204" pitchFamily="18" charset="0"/>
              </a:rPr>
              <a:t> , </a:t>
            </a:r>
            <a:r>
              <a:rPr lang="en-US" altLang="zh-TW" sz="3000" i="1" dirty="0" err="1">
                <a:latin typeface="Cambria Math" panose="02040503050406030204" pitchFamily="18" charset="0"/>
              </a:rPr>
              <a:t>pos</a:t>
            </a:r>
            <a:r>
              <a:rPr lang="en-US" altLang="zh-TW" sz="3000" i="1" dirty="0">
                <a:latin typeface="Cambria Math" panose="02040503050406030204" pitchFamily="18" charset="0"/>
              </a:rPr>
              <a:t>)</a:t>
            </a:r>
          </a:p>
          <a:p>
            <a:pPr>
              <a:buFontTx/>
              <a:buChar char="-"/>
            </a:pPr>
            <a:r>
              <a:rPr lang="en-US" altLang="zh-TW" sz="3000" i="1" dirty="0" err="1">
                <a:latin typeface="Cambria Math" panose="02040503050406030204" pitchFamily="18" charset="0"/>
              </a:rPr>
              <a:t>has_hand</a:t>
            </a:r>
            <a:r>
              <a:rPr lang="en-US" altLang="zh-TW" sz="3000" i="1" dirty="0">
                <a:latin typeface="Cambria Math" panose="02040503050406030204" pitchFamily="18" charset="0"/>
              </a:rPr>
              <a:t>(e</a:t>
            </a:r>
            <a:r>
              <a:rPr lang="en-US" altLang="zh-TW" sz="3000" i="1" baseline="-25000" dirty="0">
                <a:latin typeface="Cambria Math" panose="02040503050406030204" pitchFamily="18" charset="0"/>
              </a:rPr>
              <a:t>1</a:t>
            </a:r>
            <a:r>
              <a:rPr lang="en-US" altLang="zh-TW" sz="3000" i="1" dirty="0">
                <a:latin typeface="Cambria Math" panose="02040503050406030204" pitchFamily="18" charset="0"/>
              </a:rPr>
              <a:t>,[c6,c9,d2,d10,dq,dk,h2,h3,hq,s4,s6,s10,sa])</a:t>
            </a:r>
          </a:p>
          <a:p>
            <a:pPr>
              <a:buFontTx/>
              <a:buChar char="-"/>
            </a:pPr>
            <a:r>
              <a:rPr lang="en-US" altLang="zh-TW" sz="3000" i="1" dirty="0" err="1">
                <a:latin typeface="Cambria Math" panose="02040503050406030204" pitchFamily="18" charset="0"/>
              </a:rPr>
              <a:t>has_card</a:t>
            </a:r>
            <a:r>
              <a:rPr lang="en-US" altLang="zh-TW" sz="3000" i="1" dirty="0">
                <a:latin typeface="Cambria Math" panose="02040503050406030204" pitchFamily="18" charset="0"/>
              </a:rPr>
              <a:t>(e</a:t>
            </a:r>
            <a:r>
              <a:rPr lang="en-US" altLang="zh-TW" sz="3000" i="1" baseline="-25000" dirty="0">
                <a:latin typeface="Cambria Math" panose="02040503050406030204" pitchFamily="18" charset="0"/>
              </a:rPr>
              <a:t>1</a:t>
            </a:r>
            <a:r>
              <a:rPr lang="en-US" altLang="zh-TW" sz="3000" i="1" dirty="0">
                <a:latin typeface="Cambria Math" panose="02040503050406030204" pitchFamily="18" charset="0"/>
              </a:rPr>
              <a:t> , c9)</a:t>
            </a:r>
          </a:p>
          <a:p>
            <a:pPr>
              <a:buFontTx/>
              <a:buChar char="-"/>
            </a:pPr>
            <a:r>
              <a:rPr lang="en-US" altLang="zh-TW" sz="3000" i="1" dirty="0">
                <a:latin typeface="Cambria Math" panose="02040503050406030204" pitchFamily="18" charset="0"/>
              </a:rPr>
              <a:t>position(e</a:t>
            </a:r>
            <a:r>
              <a:rPr lang="en-US" altLang="zh-TW" sz="3000" i="1" baseline="-25000" dirty="0">
                <a:latin typeface="Cambria Math" panose="02040503050406030204" pitchFamily="18" charset="0"/>
              </a:rPr>
              <a:t>1</a:t>
            </a:r>
            <a:r>
              <a:rPr lang="en-US" altLang="zh-TW" sz="3000" i="1" dirty="0">
                <a:latin typeface="Cambria Math" panose="02040503050406030204" pitchFamily="18" charset="0"/>
              </a:rPr>
              <a:t>, 4)</a:t>
            </a:r>
          </a:p>
          <a:p>
            <a:pPr>
              <a:buFontTx/>
              <a:buChar char="-"/>
            </a:pPr>
            <a:r>
              <a:rPr lang="en-US" altLang="zh-TW" sz="3000" i="1" dirty="0" err="1">
                <a:latin typeface="Cambria Math" panose="02040503050406030204" pitchFamily="18" charset="0"/>
              </a:rPr>
              <a:t>vuln</a:t>
            </a:r>
            <a:r>
              <a:rPr lang="en-US" altLang="zh-TW" sz="3000" i="1" dirty="0">
                <a:latin typeface="Cambria Math" panose="02040503050406030204" pitchFamily="18" charset="0"/>
              </a:rPr>
              <a:t>(e</a:t>
            </a:r>
            <a:r>
              <a:rPr lang="en-US" altLang="zh-TW" sz="3000" i="1" baseline="-25000" dirty="0">
                <a:latin typeface="Cambria Math" panose="02040503050406030204" pitchFamily="18" charset="0"/>
              </a:rPr>
              <a:t>1</a:t>
            </a:r>
            <a:r>
              <a:rPr lang="en-US" altLang="zh-TW" sz="3000" i="1" dirty="0">
                <a:latin typeface="Cambria Math" panose="02040503050406030204" pitchFamily="18" charset="0"/>
              </a:rPr>
              <a:t> , g , r)	g : not vulnerable , r : vulnerable</a:t>
            </a:r>
          </a:p>
        </p:txBody>
      </p:sp>
    </p:spTree>
    <p:extLst>
      <p:ext uri="{BB962C8B-B14F-4D97-AF65-F5344CB8AC3E}">
        <p14:creationId xmlns:p14="http://schemas.microsoft.com/office/powerpoint/2010/main" val="1262265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Relation Representation</a:t>
            </a:r>
          </a:p>
        </p:txBody>
      </p:sp>
      <p:sp>
        <p:nvSpPr>
          <p:cNvPr id="3" name="內容版面配置區 2">
            <a:extLst>
              <a:ext uri="{FF2B5EF4-FFF2-40B4-BE49-F238E27FC236}">
                <a16:creationId xmlns:a16="http://schemas.microsoft.com/office/drawing/2014/main" id="{3C487822-ACFF-D84C-A08F-A132CB5BEF28}"/>
              </a:ext>
            </a:extLst>
          </p:cNvPr>
          <p:cNvSpPr txBox="1">
            <a:spLocks/>
          </p:cNvSpPr>
          <p:nvPr/>
        </p:nvSpPr>
        <p:spPr>
          <a:xfrm>
            <a:off x="231570" y="3598223"/>
            <a:ext cx="4043548" cy="30875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a:latin typeface="Cambria Math" panose="02040503050406030204" pitchFamily="18" charset="0"/>
              </a:rPr>
              <a:t>BK</a:t>
            </a:r>
            <a:r>
              <a:rPr lang="en-US" altLang="zh-TW" i="1" baseline="-25000" dirty="0">
                <a:latin typeface="Cambria Math" panose="02040503050406030204" pitchFamily="18" charset="0"/>
              </a:rPr>
              <a:t>1</a:t>
            </a:r>
            <a:r>
              <a:rPr lang="en-US" altLang="zh-TW" i="1" dirty="0">
                <a:latin typeface="Cambria Math" panose="02040503050406030204" pitchFamily="18" charset="0"/>
              </a:rPr>
              <a:t>:</a:t>
            </a:r>
          </a:p>
          <a:p>
            <a:pPr marL="0" indent="0">
              <a:buNone/>
            </a:pPr>
            <a:r>
              <a:rPr lang="en-US" altLang="zh-TW" i="1" dirty="0">
                <a:latin typeface="Cambria Math" panose="02040503050406030204" pitchFamily="18" charset="0"/>
              </a:rPr>
              <a:t>- </a:t>
            </a:r>
            <a:r>
              <a:rPr lang="en-US" altLang="zh-TW" i="1" dirty="0" err="1">
                <a:latin typeface="Cambria Math" panose="02040503050406030204" pitchFamily="18" charset="0"/>
              </a:rPr>
              <a:t>has_suit</a:t>
            </a:r>
            <a:r>
              <a:rPr lang="en-US" altLang="zh-TW" i="1" dirty="0">
                <a:latin typeface="Cambria Math" panose="02040503050406030204" pitchFamily="18" charset="0"/>
              </a:rPr>
              <a:t>(Card , Suit)</a:t>
            </a:r>
          </a:p>
          <a:p>
            <a:pPr>
              <a:buFontTx/>
              <a:buChar char="-"/>
            </a:pPr>
            <a:r>
              <a:rPr lang="en-US" altLang="zh-TW" i="1" dirty="0" err="1">
                <a:latin typeface="Cambria Math" panose="02040503050406030204" pitchFamily="18" charset="0"/>
              </a:rPr>
              <a:t>has_rank</a:t>
            </a:r>
            <a:r>
              <a:rPr lang="en-US" altLang="zh-TW" i="1" dirty="0">
                <a:latin typeface="Cambria Math" panose="02040503050406030204" pitchFamily="18" charset="0"/>
              </a:rPr>
              <a:t>(Card , Rank)</a:t>
            </a:r>
          </a:p>
          <a:p>
            <a:pPr>
              <a:buFontTx/>
              <a:buChar char="-"/>
            </a:pPr>
            <a:r>
              <a:rPr lang="en-US" altLang="zh-TW" i="1" dirty="0">
                <a:latin typeface="Cambria Math" panose="02040503050406030204" pitchFamily="18" charset="0"/>
              </a:rPr>
              <a:t>minor(Card)</a:t>
            </a:r>
          </a:p>
          <a:p>
            <a:pPr>
              <a:buFontTx/>
              <a:buChar char="-"/>
            </a:pPr>
            <a:r>
              <a:rPr lang="en-US" altLang="zh-TW" i="1" dirty="0">
                <a:latin typeface="Cambria Math" panose="02040503050406030204" pitchFamily="18" charset="0"/>
              </a:rPr>
              <a:t>honor(Card)</a:t>
            </a:r>
          </a:p>
          <a:p>
            <a:pPr>
              <a:buFontTx/>
              <a:buChar char="-"/>
            </a:pPr>
            <a:r>
              <a:rPr lang="en-US" altLang="zh-TW" i="1" dirty="0" err="1">
                <a:latin typeface="Cambria Math" panose="02040503050406030204" pitchFamily="18" charset="0"/>
              </a:rPr>
              <a:t>small_card</a:t>
            </a:r>
            <a:r>
              <a:rPr lang="en-US" altLang="zh-TW" i="1" dirty="0">
                <a:latin typeface="Cambria Math" panose="02040503050406030204" pitchFamily="18" charset="0"/>
              </a:rPr>
              <a:t>(Card)</a:t>
            </a:r>
          </a:p>
        </p:txBody>
      </p:sp>
      <p:sp>
        <p:nvSpPr>
          <p:cNvPr id="7" name="內容版面配置區 2">
            <a:extLst>
              <a:ext uri="{FF2B5EF4-FFF2-40B4-BE49-F238E27FC236}">
                <a16:creationId xmlns:a16="http://schemas.microsoft.com/office/drawing/2014/main" id="{81323A30-07EB-6940-8AFC-E970830FADD4}"/>
              </a:ext>
            </a:extLst>
          </p:cNvPr>
          <p:cNvSpPr txBox="1">
            <a:spLocks/>
          </p:cNvSpPr>
          <p:nvPr/>
        </p:nvSpPr>
        <p:spPr>
          <a:xfrm>
            <a:off x="6188032" y="3598223"/>
            <a:ext cx="4404757" cy="30875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i="1" dirty="0">
                <a:latin typeface="Cambria Math" panose="02040503050406030204" pitchFamily="18" charset="0"/>
              </a:rPr>
              <a:t>- </a:t>
            </a:r>
            <a:r>
              <a:rPr lang="en-US" altLang="zh-TW" i="1" dirty="0" err="1">
                <a:latin typeface="Cambria Math" panose="02040503050406030204" pitchFamily="18" charset="0"/>
              </a:rPr>
              <a:t>nb</a:t>
            </a:r>
            <a:r>
              <a:rPr lang="en-US" altLang="zh-TW" i="1" dirty="0">
                <a:latin typeface="Cambria Math" panose="02040503050406030204" pitchFamily="18" charset="0"/>
              </a:rPr>
              <a:t>(E , Suit , Number)</a:t>
            </a:r>
          </a:p>
          <a:p>
            <a:pPr>
              <a:buFontTx/>
              <a:buChar char="-"/>
            </a:pPr>
            <a:r>
              <a:rPr lang="en-US" altLang="zh-TW" i="1" dirty="0" err="1">
                <a:latin typeface="Cambria Math" panose="02040503050406030204" pitchFamily="18" charset="0"/>
              </a:rPr>
              <a:t>plusvalue</a:t>
            </a:r>
            <a:r>
              <a:rPr lang="en-US" altLang="zh-TW" i="1" dirty="0">
                <a:latin typeface="Cambria Math" panose="02040503050406030204" pitchFamily="18" charset="0"/>
              </a:rPr>
              <a:t>(E)</a:t>
            </a:r>
          </a:p>
          <a:p>
            <a:pPr>
              <a:buFontTx/>
              <a:buChar char="-"/>
            </a:pPr>
            <a:r>
              <a:rPr lang="en-US" altLang="zh-TW" i="1" dirty="0" err="1">
                <a:latin typeface="Cambria Math" panose="02040503050406030204" pitchFamily="18" charset="0"/>
              </a:rPr>
              <a:t>lteq</a:t>
            </a:r>
            <a:r>
              <a:rPr lang="en-US" altLang="zh-TW" i="1" dirty="0">
                <a:latin typeface="Cambria Math" panose="02040503050406030204" pitchFamily="18" charset="0"/>
              </a:rPr>
              <a:t>(Number , Number)</a:t>
            </a:r>
          </a:p>
          <a:p>
            <a:pPr>
              <a:buFontTx/>
              <a:buChar char="-"/>
            </a:pPr>
            <a:r>
              <a:rPr lang="en-US" altLang="zh-TW" i="1" dirty="0" err="1">
                <a:latin typeface="Cambria Math" panose="02040503050406030204" pitchFamily="18" charset="0"/>
              </a:rPr>
              <a:t>gteq</a:t>
            </a:r>
            <a:r>
              <a:rPr lang="en-US" altLang="zh-TW" i="1" dirty="0">
                <a:latin typeface="Cambria Math" panose="02040503050406030204" pitchFamily="18" charset="0"/>
              </a:rPr>
              <a:t>(Number , Number)</a:t>
            </a:r>
          </a:p>
          <a:p>
            <a:r>
              <a:rPr lang="en-US" altLang="zh-TW" i="1" dirty="0">
                <a:latin typeface="Cambria Math" panose="02040503050406030204" pitchFamily="18" charset="0"/>
              </a:rPr>
              <a:t>BK</a:t>
            </a:r>
            <a:r>
              <a:rPr lang="en-US" altLang="zh-TW" i="1" baseline="-25000" dirty="0">
                <a:latin typeface="Cambria Math" panose="02040503050406030204" pitchFamily="18" charset="0"/>
              </a:rPr>
              <a:t>2</a:t>
            </a:r>
            <a:r>
              <a:rPr lang="en-US" altLang="zh-TW" i="1" dirty="0">
                <a:latin typeface="Cambria Math" panose="02040503050406030204" pitchFamily="18" charset="0"/>
              </a:rPr>
              <a:t>:</a:t>
            </a:r>
          </a:p>
          <a:p>
            <a:pPr>
              <a:buFontTx/>
              <a:buChar char="-"/>
            </a:pPr>
            <a:r>
              <a:rPr lang="en-US" altLang="zh-TW" i="1" dirty="0" err="1">
                <a:latin typeface="Cambria Math" panose="02040503050406030204" pitchFamily="18" charset="0"/>
              </a:rPr>
              <a:t>List_honor</a:t>
            </a:r>
            <a:r>
              <a:rPr lang="en-US" altLang="zh-TW" i="1" dirty="0">
                <a:latin typeface="Cambria Math" panose="02040503050406030204" pitchFamily="18" charset="0"/>
              </a:rPr>
              <a:t>(E , Suit , </a:t>
            </a:r>
            <a:r>
              <a:rPr lang="en-US" altLang="zh-TW" i="1" dirty="0" err="1">
                <a:latin typeface="Cambria Math" panose="02040503050406030204" pitchFamily="18" charset="0"/>
              </a:rPr>
              <a:t>ListH</a:t>
            </a:r>
            <a:r>
              <a:rPr lang="en-US" altLang="zh-TW" i="1" dirty="0">
                <a:latin typeface="Cambria Math" panose="02040503050406030204" pitchFamily="18" charset="0"/>
              </a:rPr>
              <a:t>)</a:t>
            </a:r>
          </a:p>
        </p:txBody>
      </p:sp>
      <p:pic>
        <p:nvPicPr>
          <p:cNvPr id="8" name="內容版面配置區 3">
            <a:extLst>
              <a:ext uri="{FF2B5EF4-FFF2-40B4-BE49-F238E27FC236}">
                <a16:creationId xmlns:a16="http://schemas.microsoft.com/office/drawing/2014/main" id="{3468F49D-2D7E-9943-8897-A0AB764F1F0C}"/>
              </a:ext>
            </a:extLst>
          </p:cNvPr>
          <p:cNvPicPr>
            <a:picLocks noChangeAspect="1"/>
          </p:cNvPicPr>
          <p:nvPr/>
        </p:nvPicPr>
        <p:blipFill>
          <a:blip r:embed="rId2"/>
          <a:stretch>
            <a:fillRect/>
          </a:stretch>
        </p:blipFill>
        <p:spPr>
          <a:xfrm>
            <a:off x="3200811" y="1194763"/>
            <a:ext cx="6378206" cy="2441007"/>
          </a:xfrm>
          <a:prstGeom prst="rect">
            <a:avLst/>
          </a:prstGeom>
        </p:spPr>
      </p:pic>
    </p:spTree>
    <p:extLst>
      <p:ext uri="{BB962C8B-B14F-4D97-AF65-F5344CB8AC3E}">
        <p14:creationId xmlns:p14="http://schemas.microsoft.com/office/powerpoint/2010/main" val="330269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Experiment</a:t>
            </a:r>
          </a:p>
        </p:txBody>
      </p:sp>
      <p:pic>
        <p:nvPicPr>
          <p:cNvPr id="4" name="圖片 3">
            <a:extLst>
              <a:ext uri="{FF2B5EF4-FFF2-40B4-BE49-F238E27FC236}">
                <a16:creationId xmlns:a16="http://schemas.microsoft.com/office/drawing/2014/main" id="{9C43A14E-2B96-9144-83C6-3D3954F3B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14" y="2148444"/>
            <a:ext cx="10947400" cy="3962400"/>
          </a:xfrm>
          <a:prstGeom prst="rect">
            <a:avLst/>
          </a:prstGeom>
        </p:spPr>
      </p:pic>
    </p:spTree>
    <p:extLst>
      <p:ext uri="{BB962C8B-B14F-4D97-AF65-F5344CB8AC3E}">
        <p14:creationId xmlns:p14="http://schemas.microsoft.com/office/powerpoint/2010/main" val="3351700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Experiment</a:t>
            </a:r>
          </a:p>
        </p:txBody>
      </p:sp>
      <p:pic>
        <p:nvPicPr>
          <p:cNvPr id="4" name="圖片 3">
            <a:extLst>
              <a:ext uri="{FF2B5EF4-FFF2-40B4-BE49-F238E27FC236}">
                <a16:creationId xmlns:a16="http://schemas.microsoft.com/office/drawing/2014/main" id="{9C43A14E-2B96-9144-83C6-3D3954F3B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852" y="1839686"/>
            <a:ext cx="10222523" cy="3962400"/>
          </a:xfrm>
          <a:prstGeom prst="rect">
            <a:avLst/>
          </a:prstGeom>
        </p:spPr>
      </p:pic>
      <p:sp>
        <p:nvSpPr>
          <p:cNvPr id="2" name="文字方塊 1">
            <a:extLst>
              <a:ext uri="{FF2B5EF4-FFF2-40B4-BE49-F238E27FC236}">
                <a16:creationId xmlns:a16="http://schemas.microsoft.com/office/drawing/2014/main" id="{1B017457-9D2B-784A-833A-D3F8AAC530B2}"/>
              </a:ext>
            </a:extLst>
          </p:cNvPr>
          <p:cNvSpPr txBox="1"/>
          <p:nvPr/>
        </p:nvSpPr>
        <p:spPr>
          <a:xfrm>
            <a:off x="3348840" y="5802086"/>
            <a:ext cx="771896" cy="523220"/>
          </a:xfrm>
          <a:prstGeom prst="rect">
            <a:avLst/>
          </a:prstGeom>
          <a:noFill/>
        </p:spPr>
        <p:txBody>
          <a:bodyPr wrap="square" rtlCol="0">
            <a:spAutoFit/>
          </a:bodyPr>
          <a:lstStyle/>
          <a:p>
            <a:r>
              <a:rPr kumimoji="1" lang="en-US" altLang="zh-TW" sz="2800" dirty="0"/>
              <a:t>BK</a:t>
            </a:r>
            <a:r>
              <a:rPr kumimoji="1" lang="en-US" altLang="zh-TW" sz="2800" baseline="-25000" dirty="0"/>
              <a:t>1</a:t>
            </a:r>
            <a:endParaRPr kumimoji="1" lang="zh-TW" altLang="en-US" sz="2800" baseline="-25000" dirty="0"/>
          </a:p>
        </p:txBody>
      </p:sp>
      <p:sp>
        <p:nvSpPr>
          <p:cNvPr id="6" name="文字方塊 5">
            <a:extLst>
              <a:ext uri="{FF2B5EF4-FFF2-40B4-BE49-F238E27FC236}">
                <a16:creationId xmlns:a16="http://schemas.microsoft.com/office/drawing/2014/main" id="{325E641E-824E-AB4D-87AE-51A552143C35}"/>
              </a:ext>
            </a:extLst>
          </p:cNvPr>
          <p:cNvSpPr txBox="1"/>
          <p:nvPr/>
        </p:nvSpPr>
        <p:spPr>
          <a:xfrm>
            <a:off x="8880762" y="5802086"/>
            <a:ext cx="771896" cy="523220"/>
          </a:xfrm>
          <a:prstGeom prst="rect">
            <a:avLst/>
          </a:prstGeom>
          <a:noFill/>
        </p:spPr>
        <p:txBody>
          <a:bodyPr wrap="square" rtlCol="0">
            <a:spAutoFit/>
          </a:bodyPr>
          <a:lstStyle/>
          <a:p>
            <a:r>
              <a:rPr kumimoji="1" lang="en-US" altLang="zh-TW" sz="2800" dirty="0"/>
              <a:t>BK</a:t>
            </a:r>
            <a:r>
              <a:rPr kumimoji="1" lang="en-US" altLang="zh-TW" sz="2800" baseline="-25000" dirty="0"/>
              <a:t>2</a:t>
            </a:r>
            <a:endParaRPr kumimoji="1" lang="zh-TW" altLang="en-US" sz="2800" baseline="-25000" dirty="0"/>
          </a:p>
        </p:txBody>
      </p:sp>
    </p:spTree>
    <p:extLst>
      <p:ext uri="{BB962C8B-B14F-4D97-AF65-F5344CB8AC3E}">
        <p14:creationId xmlns:p14="http://schemas.microsoft.com/office/powerpoint/2010/main" val="374855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Experiment</a:t>
            </a:r>
          </a:p>
        </p:txBody>
      </p:sp>
      <p:pic>
        <p:nvPicPr>
          <p:cNvPr id="4" name="圖片 3">
            <a:extLst>
              <a:ext uri="{FF2B5EF4-FFF2-40B4-BE49-F238E27FC236}">
                <a16:creationId xmlns:a16="http://schemas.microsoft.com/office/drawing/2014/main" id="{9C43A14E-2B96-9144-83C6-3D3954F3B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852" y="1848222"/>
            <a:ext cx="10222523" cy="3945328"/>
          </a:xfrm>
          <a:prstGeom prst="rect">
            <a:avLst/>
          </a:prstGeom>
        </p:spPr>
      </p:pic>
    </p:spTree>
    <p:extLst>
      <p:ext uri="{BB962C8B-B14F-4D97-AF65-F5344CB8AC3E}">
        <p14:creationId xmlns:p14="http://schemas.microsoft.com/office/powerpoint/2010/main" val="310517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65352" y="600167"/>
            <a:ext cx="11439524" cy="646331"/>
          </a:xfrm>
          <a:prstGeom prst="rect">
            <a:avLst/>
          </a:prstGeom>
          <a:noFill/>
        </p:spPr>
        <p:txBody>
          <a:bodyPr wrap="square">
            <a:spAutoFit/>
          </a:bodyPr>
          <a:lstStyle/>
          <a:p>
            <a:pPr>
              <a:spcBef>
                <a:spcPts val="1000"/>
              </a:spcBef>
            </a:pPr>
            <a:r>
              <a:rPr lang="en-US" altLang="zh-TW" sz="3600" b="1" dirty="0">
                <a:latin typeface="Times New Roman" pitchFamily="18" charset="0"/>
                <a:cs typeface="Times New Roman" pitchFamily="18" charset="0"/>
              </a:rPr>
              <a:t>Expert Validation</a:t>
            </a:r>
          </a:p>
        </p:txBody>
      </p:sp>
      <p:pic>
        <p:nvPicPr>
          <p:cNvPr id="7" name="圖片 6">
            <a:extLst>
              <a:ext uri="{FF2B5EF4-FFF2-40B4-BE49-F238E27FC236}">
                <a16:creationId xmlns:a16="http://schemas.microsoft.com/office/drawing/2014/main" id="{6D3D8DDD-D200-7941-B4F1-447F1B6629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9489" y="142215"/>
            <a:ext cx="6549576" cy="6502029"/>
          </a:xfrm>
          <a:prstGeom prst="rect">
            <a:avLst/>
          </a:prstGeom>
        </p:spPr>
      </p:pic>
      <p:sp>
        <p:nvSpPr>
          <p:cNvPr id="8" name="內容版面配置區 2">
            <a:extLst>
              <a:ext uri="{FF2B5EF4-FFF2-40B4-BE49-F238E27FC236}">
                <a16:creationId xmlns:a16="http://schemas.microsoft.com/office/drawing/2014/main" id="{47818B37-29A5-C34A-9DDD-D882D7D1A857}"/>
              </a:ext>
            </a:extLst>
          </p:cNvPr>
          <p:cNvSpPr txBox="1">
            <a:spLocks/>
          </p:cNvSpPr>
          <p:nvPr/>
        </p:nvSpPr>
        <p:spPr>
          <a:xfrm>
            <a:off x="480952" y="1704450"/>
            <a:ext cx="4043548" cy="30875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a:latin typeface="Cambria Math" panose="02040503050406030204" pitchFamily="18" charset="0"/>
              </a:rPr>
              <a:t>279 examples:</a:t>
            </a:r>
          </a:p>
          <a:p>
            <a:pPr>
              <a:buFontTx/>
              <a:buChar char="-"/>
            </a:pPr>
            <a:r>
              <a:rPr lang="en-US" altLang="zh-TW" i="1" dirty="0">
                <a:latin typeface="Cambria Math" panose="02040503050406030204" pitchFamily="18" charset="0"/>
              </a:rPr>
              <a:t>No hand with more than 5 cards in a suit</a:t>
            </a:r>
          </a:p>
          <a:p>
            <a:pPr>
              <a:buFontTx/>
              <a:buChar char="-"/>
            </a:pPr>
            <a:r>
              <a:rPr lang="en-US" altLang="zh-TW" i="1" dirty="0">
                <a:latin typeface="Cambria Math" panose="02040503050406030204" pitchFamily="18" charset="0"/>
              </a:rPr>
              <a:t>Position cannot be 3</a:t>
            </a:r>
          </a:p>
        </p:txBody>
      </p:sp>
    </p:spTree>
    <p:extLst>
      <p:ext uri="{BB962C8B-B14F-4D97-AF65-F5344CB8AC3E}">
        <p14:creationId xmlns:p14="http://schemas.microsoft.com/office/powerpoint/2010/main" val="374179432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11428</TotalTime>
  <Words>482</Words>
  <Application>Microsoft Macintosh PowerPoint</Application>
  <PresentationFormat>寬螢幕</PresentationFormat>
  <Paragraphs>63</Paragraphs>
  <Slides>11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新細明體</vt:lpstr>
      <vt:lpstr>Arial</vt:lpstr>
      <vt:lpstr>Calibri</vt:lpstr>
      <vt:lpstr>Calibri Light</vt:lpstr>
      <vt:lpstr>Cambria Math</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映妤 林</dc:creator>
  <cp:lastModifiedBy>Microsoft Office User</cp:lastModifiedBy>
  <cp:revision>100</cp:revision>
  <dcterms:created xsi:type="dcterms:W3CDTF">2021-10-27T06:22:59Z</dcterms:created>
  <dcterms:modified xsi:type="dcterms:W3CDTF">2022-05-03T02:24:34Z</dcterms:modified>
</cp:coreProperties>
</file>