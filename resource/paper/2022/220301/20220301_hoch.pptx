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1" r:id="rId3"/>
    <p:sldId id="258" r:id="rId4"/>
    <p:sldId id="294" r:id="rId5"/>
    <p:sldId id="300" r:id="rId6"/>
    <p:sldId id="295" r:id="rId7"/>
    <p:sldId id="296" r:id="rId8"/>
    <p:sldId id="298" r:id="rId9"/>
    <p:sldId id="299" r:id="rId10"/>
    <p:sldId id="297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9" autoAdjust="0"/>
    <p:restoredTop sz="92275" autoAdjust="0"/>
  </p:normalViewPr>
  <p:slideViewPr>
    <p:cSldViewPr snapToGrid="0">
      <p:cViewPr varScale="1">
        <p:scale>
          <a:sx n="83" d="100"/>
          <a:sy n="83" d="100"/>
        </p:scale>
        <p:origin x="21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35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70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29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13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14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51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528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11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4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13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02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1E1DC-9B0B-4445-BE92-0FA02D7ED6E3}" type="datetimeFigureOut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42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92924" y="1101342"/>
            <a:ext cx="9806152" cy="1299561"/>
          </a:xfrm>
        </p:spPr>
        <p:txBody>
          <a:bodyPr>
            <a:normAutofit fontScale="90000"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longest almost-increasing subsequence</a:t>
            </a: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Amr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Elmasry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110 (2010) 655–658</a:t>
            </a: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88858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Ho</a:t>
            </a: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Mar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1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</a:t>
            </a:r>
          </a:p>
        </p:txBody>
      </p:sp>
    </p:spTree>
    <p:extLst>
      <p:ext uri="{BB962C8B-B14F-4D97-AF65-F5344CB8AC3E}">
        <p14:creationId xmlns:p14="http://schemas.microsoft.com/office/powerpoint/2010/main" val="366250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D0E71-14AD-4E62-972C-221C5E86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239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A93AAD-D6B7-4CD4-AC92-2D3922F8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3689"/>
            <a:ext cx="10515600" cy="4055592"/>
          </a:xfrm>
        </p:spPr>
        <p:txBody>
          <a:bodyPr>
            <a:normAutofit/>
          </a:bodyPr>
          <a:lstStyle/>
          <a:p>
            <a:r>
              <a:rPr lang="en-US" altLang="zh-TW" sz="3200" dirty="0"/>
              <a:t>Given a sequence of n elements, we introduce the notion of an almost-increasing subsequence as the longest subsequence that can be</a:t>
            </a:r>
            <a:r>
              <a:rPr lang="zh-TW" altLang="en-US" sz="3200" dirty="0"/>
              <a:t> </a:t>
            </a:r>
            <a:r>
              <a:rPr lang="en-US" altLang="zh-TW" sz="3200" dirty="0"/>
              <a:t>converted to an increasing subsequence by</a:t>
            </a:r>
            <a:r>
              <a:rPr lang="zh-TW" altLang="en-US" sz="3200" dirty="0"/>
              <a:t> </a:t>
            </a:r>
            <a:r>
              <a:rPr lang="en-US" altLang="zh-TW" sz="3200" dirty="0"/>
              <a:t>possibly adding a value, that is at most a ﬁxed constant, to each of the elements. We show</a:t>
            </a:r>
            <a:r>
              <a:rPr lang="zh-TW" altLang="en-US" sz="3200" dirty="0"/>
              <a:t> </a:t>
            </a:r>
            <a:r>
              <a:rPr lang="en-US" altLang="zh-TW" sz="3200" dirty="0"/>
              <a:t>how to optimally construct such subsequence in O (n </a:t>
            </a:r>
            <a:r>
              <a:rPr lang="en-US" altLang="zh-TW" sz="3200" dirty="0" err="1"/>
              <a:t>logk</a:t>
            </a:r>
            <a:r>
              <a:rPr lang="en-US" altLang="zh-TW" sz="3200" dirty="0"/>
              <a:t>) time, where k is the length of</a:t>
            </a:r>
            <a:r>
              <a:rPr lang="zh-TW" altLang="en-US" sz="3200" dirty="0"/>
              <a:t> </a:t>
            </a:r>
            <a:r>
              <a:rPr lang="en-US" altLang="zh-TW" sz="3200" dirty="0"/>
              <a:t>the output subsequence.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67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080" cy="1325563"/>
          </a:xfrm>
        </p:spPr>
        <p:txBody>
          <a:bodyPr/>
          <a:lstStyle/>
          <a:p>
            <a:r>
              <a:rPr lang="en-US" altLang="zh-TW" dirty="0" err="1"/>
              <a:t>LaIS</a:t>
            </a:r>
            <a:r>
              <a:rPr lang="en-US" altLang="zh-TW" dirty="0"/>
              <a:t> (Longest almost-Increasing Subsequence)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X = </a:t>
            </a:r>
            <a:r>
              <a:rPr lang="en-US" altLang="zh-TW" spc="-1" dirty="0">
                <a:solidFill>
                  <a:srgbClr val="000000"/>
                </a:solidFill>
              </a:rPr>
              <a:t>7, 15, 2, 14, 14, 6, 8, 11, 17, 15, 14,</a:t>
            </a:r>
            <a:r>
              <a:rPr lang="zh-TW" altLang="en-US" spc="-1" dirty="0">
                <a:solidFill>
                  <a:srgbClr val="000000"/>
                </a:solidFill>
              </a:rPr>
              <a:t> </a:t>
            </a:r>
            <a:r>
              <a:rPr lang="en-US" altLang="zh-TW" spc="-1" dirty="0">
                <a:solidFill>
                  <a:srgbClr val="000000"/>
                </a:solidFill>
              </a:rPr>
              <a:t>13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c = 2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LIS(X) = 7, 8, 11, 15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 err="1">
                <a:solidFill>
                  <a:srgbClr val="000000"/>
                </a:solidFill>
              </a:rPr>
              <a:t>LaIS</a:t>
            </a:r>
            <a:r>
              <a:rPr lang="en-US" altLang="zh-TW" spc="-1" dirty="0">
                <a:solidFill>
                  <a:srgbClr val="000000"/>
                </a:solidFill>
              </a:rPr>
              <a:t>(X) = </a:t>
            </a:r>
            <a:r>
              <a:rPr lang="en-US" altLang="zh-TW" sz="2800" spc="-1" dirty="0">
                <a:solidFill>
                  <a:srgbClr val="000000"/>
                </a:solidFill>
              </a:rPr>
              <a:t>7, </a:t>
            </a:r>
            <a:r>
              <a:rPr lang="zh-TW" altLang="en-US" sz="2800" spc="-1" dirty="0">
                <a:solidFill>
                  <a:srgbClr val="000000"/>
                </a:solidFill>
              </a:rPr>
              <a:t> </a:t>
            </a:r>
            <a:r>
              <a:rPr lang="en-US" altLang="zh-TW" sz="2800" spc="-1" dirty="0">
                <a:solidFill>
                  <a:srgbClr val="FF0000"/>
                </a:solidFill>
              </a:rPr>
              <a:t>6</a:t>
            </a:r>
            <a:r>
              <a:rPr lang="en-US" altLang="zh-TW" sz="2800" spc="-1" dirty="0">
                <a:solidFill>
                  <a:srgbClr val="000000"/>
                </a:solidFill>
              </a:rPr>
              <a:t>, </a:t>
            </a:r>
            <a:r>
              <a:rPr lang="zh-TW" altLang="en-US" sz="2800" spc="-1" dirty="0">
                <a:solidFill>
                  <a:srgbClr val="000000"/>
                </a:solidFill>
              </a:rPr>
              <a:t> </a:t>
            </a:r>
            <a:r>
              <a:rPr lang="en-US" altLang="zh-TW" sz="2800" spc="-1" dirty="0">
                <a:solidFill>
                  <a:srgbClr val="000000"/>
                </a:solidFill>
              </a:rPr>
              <a:t>8,</a:t>
            </a:r>
            <a:r>
              <a:rPr lang="zh-TW" altLang="en-US" sz="2800" spc="-1" dirty="0">
                <a:solidFill>
                  <a:srgbClr val="000000"/>
                </a:solidFill>
              </a:rPr>
              <a:t> </a:t>
            </a:r>
            <a:r>
              <a:rPr lang="en-US" altLang="zh-TW" sz="2800" spc="-1" dirty="0">
                <a:solidFill>
                  <a:srgbClr val="000000"/>
                </a:solidFill>
              </a:rPr>
              <a:t>11,</a:t>
            </a:r>
            <a:r>
              <a:rPr lang="zh-TW" altLang="en-US" sz="2800" spc="-1" dirty="0">
                <a:solidFill>
                  <a:srgbClr val="000000"/>
                </a:solidFill>
              </a:rPr>
              <a:t> </a:t>
            </a:r>
            <a:r>
              <a:rPr lang="en-US" altLang="zh-TW" sz="2800" spc="-1" dirty="0"/>
              <a:t>15</a:t>
            </a:r>
            <a:r>
              <a:rPr lang="en-US" altLang="zh-TW" sz="2800" spc="-1" dirty="0">
                <a:solidFill>
                  <a:srgbClr val="000000"/>
                </a:solidFill>
              </a:rPr>
              <a:t>, </a:t>
            </a:r>
            <a:r>
              <a:rPr lang="en-US" altLang="zh-TW" sz="2800" spc="-1" dirty="0">
                <a:solidFill>
                  <a:srgbClr val="FF0000"/>
                </a:solidFill>
              </a:rPr>
              <a:t>14 </a:t>
            </a:r>
            <a:endParaRPr lang="en-US" altLang="zh-TW" spc="-1" dirty="0">
              <a:solidFill>
                <a:srgbClr val="FF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dirty="0"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D7680B3-7DC3-4021-96F2-E9511DE77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895" y="4657712"/>
            <a:ext cx="3118010" cy="4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04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080" cy="1325563"/>
          </a:xfrm>
        </p:spPr>
        <p:txBody>
          <a:bodyPr/>
          <a:lstStyle/>
          <a:p>
            <a:r>
              <a:rPr lang="en-US" altLang="zh-TW" dirty="0"/>
              <a:t>The basic algorithm (1/3)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8075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X = </a:t>
            </a:r>
            <a:r>
              <a:rPr lang="en-US" altLang="zh-TW" spc="-1" dirty="0">
                <a:solidFill>
                  <a:srgbClr val="000000"/>
                </a:solidFill>
              </a:rPr>
              <a:t>7, 15, 2, 14, </a:t>
            </a:r>
            <a:r>
              <a:rPr lang="en-US" altLang="zh-TW" spc="-1" dirty="0"/>
              <a:t>14</a:t>
            </a:r>
            <a:r>
              <a:rPr lang="en-US" altLang="zh-TW" spc="-1" dirty="0">
                <a:solidFill>
                  <a:srgbClr val="000000"/>
                </a:solidFill>
              </a:rPr>
              <a:t>, 6, 8, 11, 17, 15, 14,</a:t>
            </a:r>
            <a:r>
              <a:rPr lang="zh-TW" altLang="en-US" spc="-1" dirty="0">
                <a:solidFill>
                  <a:srgbClr val="000000"/>
                </a:solidFill>
              </a:rPr>
              <a:t> </a:t>
            </a:r>
            <a:r>
              <a:rPr lang="en-US" altLang="zh-TW" spc="-1" dirty="0">
                <a:solidFill>
                  <a:srgbClr val="000000"/>
                </a:solidFill>
              </a:rPr>
              <a:t>13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u="sng" spc="-1" dirty="0">
              <a:solidFill>
                <a:srgbClr val="000000"/>
              </a:solidFill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i="1" spc="-1" dirty="0" err="1">
                <a:solidFill>
                  <a:srgbClr val="000000"/>
                </a:solidFill>
              </a:rPr>
              <a:t>i</a:t>
            </a:r>
            <a:r>
              <a:rPr lang="en-US" altLang="zh-TW" i="1" spc="-1" dirty="0">
                <a:solidFill>
                  <a:srgbClr val="000000"/>
                </a:solidFill>
              </a:rPr>
              <a:t> = 1</a:t>
            </a:r>
          </a:p>
          <a:p>
            <a:pPr marL="457560" lvl="1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pc="-1" dirty="0">
                <a:solidFill>
                  <a:srgbClr val="000000"/>
                </a:solidFill>
              </a:rPr>
              <a:t>                    </a:t>
            </a:r>
            <a:r>
              <a:rPr lang="en-US" altLang="zh-TW" spc="-1" dirty="0">
                <a:solidFill>
                  <a:srgbClr val="FF0000"/>
                </a:solidFill>
              </a:rPr>
              <a:t>7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i="1" spc="-1" dirty="0" err="1">
                <a:solidFill>
                  <a:srgbClr val="000000"/>
                </a:solidFill>
              </a:rPr>
              <a:t>i</a:t>
            </a:r>
            <a:r>
              <a:rPr lang="en-US" altLang="zh-TW" i="1" spc="-1" dirty="0">
                <a:solidFill>
                  <a:srgbClr val="000000"/>
                </a:solidFill>
              </a:rPr>
              <a:t> = 2</a:t>
            </a:r>
          </a:p>
          <a:p>
            <a:pPr marL="457560" lvl="1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pc="-1" dirty="0">
                <a:solidFill>
                  <a:srgbClr val="000000"/>
                </a:solidFill>
              </a:rPr>
              <a:t>                    7</a:t>
            </a:r>
          </a:p>
          <a:p>
            <a:pPr marL="457560" lvl="1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pc="-1" dirty="0">
                <a:solidFill>
                  <a:srgbClr val="000000"/>
                </a:solidFill>
              </a:rPr>
              <a:t>                    7, </a:t>
            </a:r>
            <a:r>
              <a:rPr lang="en-US" altLang="zh-TW" spc="-1" dirty="0">
                <a:solidFill>
                  <a:srgbClr val="FF0000"/>
                </a:solidFill>
              </a:rPr>
              <a:t>15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i="1" spc="-1" dirty="0" err="1">
                <a:solidFill>
                  <a:srgbClr val="000000"/>
                </a:solidFill>
              </a:rPr>
              <a:t>i</a:t>
            </a:r>
            <a:r>
              <a:rPr lang="en-US" altLang="zh-TW" i="1" spc="-1" dirty="0">
                <a:solidFill>
                  <a:srgbClr val="000000"/>
                </a:solidFill>
              </a:rPr>
              <a:t> = 3</a:t>
            </a:r>
          </a:p>
          <a:p>
            <a:pPr marL="457560" lvl="1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pc="-1" dirty="0">
                <a:solidFill>
                  <a:srgbClr val="000000"/>
                </a:solidFill>
              </a:rPr>
              <a:t>                    7</a:t>
            </a:r>
          </a:p>
          <a:p>
            <a:pPr marL="457560" lvl="1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pc="-1" dirty="0">
                <a:solidFill>
                  <a:srgbClr val="000000"/>
                </a:solidFill>
              </a:rPr>
              <a:t>                    7, 15</a:t>
            </a:r>
          </a:p>
          <a:p>
            <a:pPr marL="457560" lvl="1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pc="-1" dirty="0">
                <a:solidFill>
                  <a:srgbClr val="000000"/>
                </a:solidFill>
              </a:rPr>
              <a:t>                    </a:t>
            </a:r>
            <a:r>
              <a:rPr lang="en-US" altLang="zh-TW" spc="-1" dirty="0">
                <a:solidFill>
                  <a:srgbClr val="FF0000"/>
                </a:solidFill>
              </a:rPr>
              <a:t>2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06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080" cy="1325563"/>
          </a:xfrm>
        </p:spPr>
        <p:txBody>
          <a:bodyPr/>
          <a:lstStyle/>
          <a:p>
            <a:r>
              <a:rPr lang="en-US" altLang="zh-TW" dirty="0"/>
              <a:t>The basic algorithm (2/3)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X = </a:t>
            </a:r>
            <a:r>
              <a:rPr lang="en-US" altLang="zh-TW" spc="-1" dirty="0">
                <a:solidFill>
                  <a:srgbClr val="000000"/>
                </a:solidFill>
              </a:rPr>
              <a:t>7, 15, 2, </a:t>
            </a:r>
            <a:r>
              <a:rPr lang="en-US" altLang="zh-TW" spc="-1" dirty="0">
                <a:solidFill>
                  <a:srgbClr val="FF0000"/>
                </a:solidFill>
              </a:rPr>
              <a:t>14</a:t>
            </a:r>
            <a:r>
              <a:rPr lang="en-US" altLang="zh-TW" spc="-1" dirty="0">
                <a:solidFill>
                  <a:srgbClr val="000000"/>
                </a:solidFill>
              </a:rPr>
              <a:t>, </a:t>
            </a:r>
            <a:r>
              <a:rPr lang="en-US" altLang="zh-TW" spc="-1" dirty="0"/>
              <a:t>14</a:t>
            </a:r>
            <a:r>
              <a:rPr lang="en-US" altLang="zh-TW" spc="-1" dirty="0">
                <a:solidFill>
                  <a:srgbClr val="000000"/>
                </a:solidFill>
              </a:rPr>
              <a:t>, 6, 8, 11, 17, 15, 14,</a:t>
            </a:r>
            <a:r>
              <a:rPr lang="zh-TW" altLang="en-US" spc="-1" dirty="0">
                <a:solidFill>
                  <a:srgbClr val="000000"/>
                </a:solidFill>
              </a:rPr>
              <a:t> </a:t>
            </a:r>
            <a:r>
              <a:rPr lang="en-US" altLang="zh-TW" spc="-1" dirty="0">
                <a:solidFill>
                  <a:srgbClr val="000000"/>
                </a:solidFill>
              </a:rPr>
              <a:t>13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i="1" spc="-1" dirty="0" err="1">
                <a:solidFill>
                  <a:srgbClr val="000000"/>
                </a:solidFill>
              </a:rPr>
              <a:t>i</a:t>
            </a:r>
            <a:r>
              <a:rPr lang="en-US" altLang="zh-TW" i="1" spc="-1" dirty="0">
                <a:solidFill>
                  <a:srgbClr val="000000"/>
                </a:solidFill>
              </a:rPr>
              <a:t> = 3                                        </a:t>
            </a:r>
            <a:r>
              <a:rPr lang="en-US" altLang="zh-TW" i="1" spc="-1" dirty="0" err="1">
                <a:solidFill>
                  <a:srgbClr val="000000"/>
                </a:solidFill>
              </a:rPr>
              <a:t>i</a:t>
            </a:r>
            <a:r>
              <a:rPr lang="en-US" altLang="zh-TW" i="1" spc="-1" dirty="0">
                <a:solidFill>
                  <a:srgbClr val="000000"/>
                </a:solidFill>
              </a:rPr>
              <a:t> = 4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u="sng" spc="-1" dirty="0">
                <a:solidFill>
                  <a:srgbClr val="000000"/>
                </a:solidFill>
                <a:latin typeface="Times New Roman"/>
              </a:rPr>
              <a:t>7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7, </a:t>
            </a:r>
            <a:r>
              <a:rPr lang="en-US" altLang="zh-TW" u="sng" spc="-1" dirty="0">
                <a:solidFill>
                  <a:srgbClr val="000000"/>
                </a:solidFill>
                <a:latin typeface="Times New Roman"/>
              </a:rPr>
              <a:t>15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, 14</a:t>
            </a:r>
            <a:endParaRPr lang="en-US" altLang="zh-TW" spc="-1" dirty="0">
              <a:solidFill>
                <a:srgbClr val="FF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u="sng" spc="-1" dirty="0">
                <a:solidFill>
                  <a:srgbClr val="000000"/>
                </a:solidFill>
                <a:latin typeface="Times New Roman"/>
              </a:rPr>
              <a:t>2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4C22DFF7-A0A5-45C1-B352-DADE3E0BC3CE}"/>
              </a:ext>
            </a:extLst>
          </p:cNvPr>
          <p:cNvGrpSpPr/>
          <p:nvPr/>
        </p:nvGrpSpPr>
        <p:grpSpPr>
          <a:xfrm>
            <a:off x="5497287" y="3524447"/>
            <a:ext cx="4484914" cy="2046714"/>
            <a:chOff x="5148944" y="3622418"/>
            <a:chExt cx="4484914" cy="2046714"/>
          </a:xfrm>
        </p:grpSpPr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6CA49502-88B5-47A4-987D-08215B9BA007}"/>
                </a:ext>
              </a:extLst>
            </p:cNvPr>
            <p:cNvSpPr txBox="1"/>
            <p:nvPr/>
          </p:nvSpPr>
          <p:spPr>
            <a:xfrm>
              <a:off x="5148944" y="3622418"/>
              <a:ext cx="4484914" cy="2046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60" indent="0">
                <a:spcBef>
                  <a:spcPts val="561"/>
                </a:spcBef>
                <a:buClr>
                  <a:srgbClr val="000000"/>
                </a:buClr>
                <a:buNone/>
              </a:pPr>
              <a:r>
                <a:rPr lang="en-US" altLang="zh-TW" sz="2800" u="sng" spc="-1" dirty="0">
                  <a:solidFill>
                    <a:srgbClr val="000000"/>
                  </a:solidFill>
                </a:rPr>
                <a:t>7</a:t>
              </a:r>
            </a:p>
            <a:p>
              <a:pPr marL="360" indent="0">
                <a:spcBef>
                  <a:spcPts val="561"/>
                </a:spcBef>
                <a:buClr>
                  <a:srgbClr val="000000"/>
                </a:buClr>
                <a:buNone/>
              </a:pPr>
              <a:r>
                <a:rPr lang="en-US" altLang="zh-TW" sz="2800" spc="-1" dirty="0">
                  <a:solidFill>
                    <a:srgbClr val="000000"/>
                  </a:solidFill>
                </a:rPr>
                <a:t>7, </a:t>
              </a:r>
              <a:r>
                <a:rPr lang="en-US" altLang="zh-TW" sz="2800" u="sng" spc="-1" dirty="0">
                  <a:solidFill>
                    <a:srgbClr val="000000"/>
                  </a:solidFill>
                </a:rPr>
                <a:t>15</a:t>
              </a:r>
              <a:r>
                <a:rPr lang="en-US" altLang="zh-TW" sz="2800" spc="-1" dirty="0">
                  <a:solidFill>
                    <a:srgbClr val="000000"/>
                  </a:solidFill>
                </a:rPr>
                <a:t>, 14, </a:t>
              </a:r>
              <a:r>
                <a:rPr lang="en-US" altLang="zh-TW" sz="2800" spc="-1" dirty="0">
                  <a:solidFill>
                    <a:srgbClr val="FF0000"/>
                  </a:solidFill>
                </a:rPr>
                <a:t>14</a:t>
              </a:r>
              <a:r>
                <a:rPr lang="zh-TW" altLang="en-US" sz="2800" spc="-1" dirty="0">
                  <a:solidFill>
                    <a:srgbClr val="FF0000"/>
                  </a:solidFill>
                </a:rPr>
                <a:t>          </a:t>
              </a:r>
              <a:r>
                <a:rPr lang="en-US" altLang="zh-TW" sz="2800" spc="-1" dirty="0">
                  <a:solidFill>
                    <a:srgbClr val="000000"/>
                  </a:solidFill>
                </a:rPr>
                <a:t>append 14 </a:t>
              </a:r>
              <a:endParaRPr lang="en-US" altLang="zh-TW" sz="2800" spc="-1" dirty="0">
                <a:solidFill>
                  <a:srgbClr val="FF0000"/>
                </a:solidFill>
              </a:endParaRPr>
            </a:p>
            <a:p>
              <a:pPr marL="360" indent="0">
                <a:spcBef>
                  <a:spcPts val="561"/>
                </a:spcBef>
                <a:buClr>
                  <a:srgbClr val="000000"/>
                </a:buClr>
                <a:buNone/>
              </a:pPr>
              <a:r>
                <a:rPr lang="en-US" altLang="zh-TW" sz="2800" u="sng" spc="-1" dirty="0">
                  <a:solidFill>
                    <a:srgbClr val="000000"/>
                  </a:solidFill>
                </a:rPr>
                <a:t>2</a:t>
              </a:r>
            </a:p>
            <a:p>
              <a:pPr marL="360" indent="0">
                <a:spcBef>
                  <a:spcPts val="561"/>
                </a:spcBef>
                <a:buClr>
                  <a:srgbClr val="000000"/>
                </a:buClr>
                <a:buNone/>
              </a:pPr>
              <a:r>
                <a:rPr lang="en-US" altLang="zh-TW" sz="2800" spc="-1" dirty="0">
                  <a:solidFill>
                    <a:srgbClr val="000000"/>
                  </a:solidFill>
                </a:rPr>
                <a:t>7, </a:t>
              </a:r>
              <a:r>
                <a:rPr lang="en-US" altLang="zh-TW" sz="2800" u="sng" spc="-1" dirty="0">
                  <a:solidFill>
                    <a:srgbClr val="FF0000"/>
                  </a:solidFill>
                </a:rPr>
                <a:t>14</a:t>
              </a:r>
              <a:endParaRPr lang="en-US" altLang="zh-TW" sz="2800" spc="-1" dirty="0">
                <a:solidFill>
                  <a:srgbClr val="FF0000"/>
                </a:solidFill>
              </a:endParaRPr>
            </a:p>
          </p:txBody>
        </p:sp>
        <p:sp>
          <p:nvSpPr>
            <p:cNvPr id="5" name="右大括弧 4">
              <a:extLst>
                <a:ext uri="{FF2B5EF4-FFF2-40B4-BE49-F238E27FC236}">
                  <a16:creationId xmlns:a16="http://schemas.microsoft.com/office/drawing/2014/main" id="{E41C9F80-547D-46D9-AE42-CD9D71F55EA5}"/>
                </a:ext>
              </a:extLst>
            </p:cNvPr>
            <p:cNvSpPr/>
            <p:nvPr/>
          </p:nvSpPr>
          <p:spPr>
            <a:xfrm>
              <a:off x="7198179" y="3779496"/>
              <a:ext cx="511628" cy="1204799"/>
            </a:xfrm>
            <a:prstGeom prst="rightBrac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ED3E718B-CC7C-412D-BEDA-014D453267A5}"/>
              </a:ext>
            </a:extLst>
          </p:cNvPr>
          <p:cNvSpPr/>
          <p:nvPr/>
        </p:nvSpPr>
        <p:spPr>
          <a:xfrm>
            <a:off x="3335111" y="4001294"/>
            <a:ext cx="1273628" cy="5878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6362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80067"/>
            <a:ext cx="10927080" cy="1325563"/>
          </a:xfrm>
        </p:spPr>
        <p:txBody>
          <a:bodyPr/>
          <a:lstStyle/>
          <a:p>
            <a:r>
              <a:rPr lang="en-US" altLang="zh-TW" dirty="0"/>
              <a:t>The basic algorithm (3/3)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each iteration: O(n)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complexity: O(n</a:t>
            </a:r>
            <a:r>
              <a:rPr lang="en-US" altLang="zh-TW" spc="-1" baseline="30000" dirty="0">
                <a:solidFill>
                  <a:srgbClr val="000000"/>
                </a:solidFill>
              </a:rPr>
              <a:t>2</a:t>
            </a:r>
            <a:r>
              <a:rPr lang="en-US" altLang="zh-TW" spc="-1" dirty="0">
                <a:solidFill>
                  <a:srgbClr val="000000"/>
                </a:solidFill>
              </a:rPr>
              <a:t>)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u="sng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506A547-3CB1-4E86-9914-88B8706D390F}"/>
              </a:ext>
            </a:extLst>
          </p:cNvPr>
          <p:cNvSpPr txBox="1"/>
          <p:nvPr/>
        </p:nvSpPr>
        <p:spPr>
          <a:xfrm>
            <a:off x="2547257" y="2928261"/>
            <a:ext cx="262345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7</a:t>
            </a:r>
          </a:p>
          <a:p>
            <a:r>
              <a:rPr lang="en-US" altLang="zh-TW" sz="2800" dirty="0"/>
              <a:t>7, 15, 14</a:t>
            </a:r>
          </a:p>
          <a:p>
            <a:r>
              <a:rPr lang="en-US" altLang="zh-TW" sz="2800" dirty="0"/>
              <a:t>2</a:t>
            </a:r>
          </a:p>
          <a:p>
            <a:r>
              <a:rPr lang="en-US" altLang="zh-TW" sz="2800" dirty="0"/>
              <a:t>7, 14</a:t>
            </a:r>
          </a:p>
          <a:p>
            <a:r>
              <a:rPr lang="en-US" altLang="zh-TW" sz="2800" dirty="0"/>
              <a:t>.</a:t>
            </a:r>
          </a:p>
          <a:p>
            <a:r>
              <a:rPr lang="en-US" altLang="zh-TW" sz="2800" dirty="0"/>
              <a:t>.</a:t>
            </a:r>
          </a:p>
          <a:p>
            <a:r>
              <a:rPr lang="en-US" altLang="zh-TW" sz="2800" dirty="0"/>
              <a:t>.</a:t>
            </a:r>
          </a:p>
        </p:txBody>
      </p:sp>
      <p:sp>
        <p:nvSpPr>
          <p:cNvPr id="11" name="左大括弧 10">
            <a:extLst>
              <a:ext uri="{FF2B5EF4-FFF2-40B4-BE49-F238E27FC236}">
                <a16:creationId xmlns:a16="http://schemas.microsoft.com/office/drawing/2014/main" id="{8D6CDB26-D3E4-456D-BC38-011E7B5990D2}"/>
              </a:ext>
            </a:extLst>
          </p:cNvPr>
          <p:cNvSpPr/>
          <p:nvPr/>
        </p:nvSpPr>
        <p:spPr>
          <a:xfrm>
            <a:off x="1371600" y="3127608"/>
            <a:ext cx="914400" cy="284117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0BD2019-EA88-4A63-9256-30544709BBC7}"/>
              </a:ext>
            </a:extLst>
          </p:cNvPr>
          <p:cNvSpPr txBox="1"/>
          <p:nvPr/>
        </p:nvSpPr>
        <p:spPr>
          <a:xfrm>
            <a:off x="870858" y="4220922"/>
            <a:ext cx="435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7545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080" cy="1325563"/>
          </a:xfrm>
        </p:spPr>
        <p:txBody>
          <a:bodyPr/>
          <a:lstStyle/>
          <a:p>
            <a:r>
              <a:rPr lang="en-US" altLang="zh-TW" dirty="0"/>
              <a:t>The improved algorithm</a:t>
            </a:r>
            <a:r>
              <a:rPr lang="zh-TW" altLang="en-US" dirty="0"/>
              <a:t> </a:t>
            </a:r>
            <a:r>
              <a:rPr lang="en-US" altLang="zh-TW" dirty="0"/>
              <a:t>(1/3)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X = </a:t>
            </a:r>
            <a:r>
              <a:rPr lang="en-US" altLang="zh-TW" spc="-1" dirty="0">
                <a:solidFill>
                  <a:srgbClr val="000000"/>
                </a:solidFill>
              </a:rPr>
              <a:t>7, 15, 2, 14, </a:t>
            </a:r>
            <a:r>
              <a:rPr lang="en-US" altLang="zh-TW" spc="-1" dirty="0"/>
              <a:t>14</a:t>
            </a:r>
            <a:r>
              <a:rPr lang="en-US" altLang="zh-TW" spc="-1" dirty="0">
                <a:solidFill>
                  <a:srgbClr val="000000"/>
                </a:solidFill>
              </a:rPr>
              <a:t>, 6, 8, 11, 17, 15, 14,</a:t>
            </a:r>
            <a:r>
              <a:rPr lang="zh-TW" altLang="en-US" spc="-1" dirty="0">
                <a:solidFill>
                  <a:srgbClr val="000000"/>
                </a:solidFill>
              </a:rPr>
              <a:t> </a:t>
            </a:r>
            <a:r>
              <a:rPr lang="en-US" altLang="zh-TW" spc="-1" dirty="0">
                <a:solidFill>
                  <a:srgbClr val="000000"/>
                </a:solidFill>
              </a:rPr>
              <a:t>13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i="1" spc="-1" dirty="0" err="1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i="1" spc="-1" dirty="0">
                <a:solidFill>
                  <a:srgbClr val="000000"/>
                </a:solidFill>
                <a:latin typeface="Times New Roman"/>
              </a:rPr>
              <a:t> = 1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:      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7                                          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i="1" spc="-1" dirty="0" err="1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i="1" spc="-1" dirty="0">
                <a:solidFill>
                  <a:srgbClr val="000000"/>
                </a:solidFill>
                <a:latin typeface="Times New Roman"/>
              </a:rPr>
              <a:t> = 2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:       7,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15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i="1" spc="-1" dirty="0" err="1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i="1" spc="-1" dirty="0">
                <a:solidFill>
                  <a:srgbClr val="000000"/>
                </a:solidFill>
                <a:latin typeface="Times New Roman"/>
              </a:rPr>
              <a:t> = 3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:      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2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, 15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i="1" spc="-1" dirty="0" err="1">
                <a:solidFill>
                  <a:srgbClr val="000000"/>
                </a:solidFill>
                <a:latin typeface="Times New Roman"/>
              </a:rPr>
              <a:t>aIS</a:t>
            </a:r>
            <a:r>
              <a:rPr lang="en-US" altLang="zh-TW" i="1" spc="-1" dirty="0">
                <a:solidFill>
                  <a:srgbClr val="000000"/>
                </a:solidFill>
                <a:latin typeface="Times New Roman"/>
              </a:rPr>
              <a:t> in X</a:t>
            </a:r>
            <a:r>
              <a:rPr lang="en-US" altLang="zh-TW" i="1" spc="-1" baseline="-25000" dirty="0">
                <a:solidFill>
                  <a:srgbClr val="000000"/>
                </a:solidFill>
                <a:latin typeface="Times New Roman"/>
              </a:rPr>
              <a:t>1..3  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and </a:t>
            </a:r>
            <a:r>
              <a:rPr lang="en-US" altLang="zh-TW" i="1" spc="-1" dirty="0">
                <a:solidFill>
                  <a:srgbClr val="000000"/>
                </a:solidFill>
              </a:rPr>
              <a:t>IS in X</a:t>
            </a:r>
            <a:r>
              <a:rPr lang="en-US" altLang="zh-TW" i="1" spc="-1" baseline="-25000" dirty="0">
                <a:solidFill>
                  <a:srgbClr val="000000"/>
                </a:solidFill>
              </a:rPr>
              <a:t>1..3 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:</a:t>
            </a:r>
          </a:p>
          <a:p>
            <a:pPr marL="457560" lvl="1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 length = 1 =&gt; </a:t>
            </a:r>
            <a:r>
              <a:rPr lang="en-US" altLang="zh-TW" sz="2800" spc="-1" dirty="0">
                <a:latin typeface="Times New Roman"/>
              </a:rPr>
              <a:t>2</a:t>
            </a:r>
          </a:p>
          <a:p>
            <a:pPr marL="457560" lvl="1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z="2800" spc="-1" dirty="0">
                <a:solidFill>
                  <a:srgbClr val="000000"/>
                </a:solidFill>
              </a:rPr>
              <a:t> length = 2 =&gt; 7, </a:t>
            </a:r>
            <a:r>
              <a:rPr lang="en-US" altLang="zh-TW" sz="2800" spc="-1" dirty="0"/>
              <a:t>15</a:t>
            </a:r>
            <a:endParaRPr lang="en-US" altLang="zh-TW" sz="2800" spc="-1" dirty="0">
              <a:latin typeface="Times New Roman"/>
            </a:endParaRP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723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080" cy="1325563"/>
          </a:xfrm>
        </p:spPr>
        <p:txBody>
          <a:bodyPr/>
          <a:lstStyle/>
          <a:p>
            <a:r>
              <a:rPr lang="en-US" altLang="zh-TW" dirty="0"/>
              <a:t>The improved algorithm</a:t>
            </a:r>
            <a:r>
              <a:rPr lang="zh-TW" altLang="en-US" dirty="0"/>
              <a:t> </a:t>
            </a:r>
            <a:r>
              <a:rPr lang="en-US" altLang="zh-TW" dirty="0"/>
              <a:t>(2/3)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9975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X = </a:t>
            </a:r>
            <a:r>
              <a:rPr lang="en-US" altLang="zh-TW" spc="-1" dirty="0">
                <a:solidFill>
                  <a:srgbClr val="000000"/>
                </a:solidFill>
              </a:rPr>
              <a:t>7, 15, 2, </a:t>
            </a:r>
            <a:r>
              <a:rPr lang="en-US" altLang="zh-TW" spc="-1" dirty="0">
                <a:solidFill>
                  <a:srgbClr val="FF0000"/>
                </a:solidFill>
              </a:rPr>
              <a:t>14</a:t>
            </a:r>
            <a:r>
              <a:rPr lang="en-US" altLang="zh-TW" spc="-1" dirty="0">
                <a:solidFill>
                  <a:srgbClr val="000000"/>
                </a:solidFill>
              </a:rPr>
              <a:t>, </a:t>
            </a:r>
            <a:r>
              <a:rPr lang="en-US" altLang="zh-TW" spc="-1" dirty="0"/>
              <a:t>14</a:t>
            </a:r>
            <a:r>
              <a:rPr lang="en-US" altLang="zh-TW" spc="-1" dirty="0">
                <a:solidFill>
                  <a:srgbClr val="000000"/>
                </a:solidFill>
              </a:rPr>
              <a:t>, 6, 8, 11, 17, 15, 14,</a:t>
            </a:r>
            <a:r>
              <a:rPr lang="zh-TW" altLang="en-US" spc="-1" dirty="0">
                <a:solidFill>
                  <a:srgbClr val="000000"/>
                </a:solidFill>
              </a:rPr>
              <a:t> </a:t>
            </a:r>
            <a:r>
              <a:rPr lang="en-US" altLang="zh-TW" spc="-1" dirty="0">
                <a:solidFill>
                  <a:srgbClr val="000000"/>
                </a:solidFill>
              </a:rPr>
              <a:t>13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c = 2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i="1" spc="-1" dirty="0" err="1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i="1" spc="-1" dirty="0">
                <a:solidFill>
                  <a:srgbClr val="000000"/>
                </a:solidFill>
                <a:latin typeface="Times New Roman"/>
              </a:rPr>
              <a:t> = 3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:       2, 15</a:t>
            </a:r>
            <a:r>
              <a:rPr lang="zh-TW" altLang="en-US" spc="-1" dirty="0">
                <a:solidFill>
                  <a:srgbClr val="000000"/>
                </a:solidFill>
                <a:latin typeface="Times New Roman"/>
              </a:rPr>
              <a:t>                   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step.1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add 14 to </a:t>
            </a:r>
            <a:r>
              <a:rPr lang="en-US" altLang="zh-TW" spc="-1" dirty="0">
                <a:solidFill>
                  <a:srgbClr val="000000"/>
                </a:solidFill>
              </a:rPr>
              <a:t>first element &gt; 14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i="1" spc="-1" dirty="0" err="1">
                <a:solidFill>
                  <a:srgbClr val="000000"/>
                </a:solidFill>
              </a:rPr>
              <a:t>i</a:t>
            </a:r>
            <a:r>
              <a:rPr lang="en-US" altLang="zh-TW" i="1" spc="-1" dirty="0">
                <a:solidFill>
                  <a:srgbClr val="000000"/>
                </a:solidFill>
              </a:rPr>
              <a:t> = 4</a:t>
            </a:r>
            <a:r>
              <a:rPr lang="en-US" altLang="zh-TW" spc="-1" dirty="0">
                <a:solidFill>
                  <a:srgbClr val="000000"/>
                </a:solidFill>
              </a:rPr>
              <a:t>:       2, </a:t>
            </a:r>
            <a:r>
              <a:rPr lang="en-US" altLang="zh-TW" spc="-1" dirty="0">
                <a:solidFill>
                  <a:srgbClr val="FF0000"/>
                </a:solidFill>
              </a:rPr>
              <a:t>14</a:t>
            </a:r>
            <a:r>
              <a:rPr lang="en-US" altLang="zh-TW" spc="-1" dirty="0">
                <a:solidFill>
                  <a:srgbClr val="000000"/>
                </a:solidFill>
              </a:rPr>
              <a:t>, 15</a:t>
            </a:r>
            <a:r>
              <a:rPr lang="zh-TW" altLang="en-US" spc="-1" dirty="0">
                <a:solidFill>
                  <a:srgbClr val="000000"/>
                </a:solidFill>
              </a:rPr>
              <a:t>              </a:t>
            </a:r>
            <a:r>
              <a:rPr lang="en-US" altLang="zh-TW" spc="-1" dirty="0">
                <a:solidFill>
                  <a:srgbClr val="FF0000"/>
                </a:solidFill>
              </a:rPr>
              <a:t>step.2</a:t>
            </a:r>
            <a:r>
              <a:rPr lang="en-US" altLang="zh-TW" spc="-1" dirty="0">
                <a:solidFill>
                  <a:srgbClr val="000000"/>
                </a:solidFill>
              </a:rPr>
              <a:t> delete first element &gt;= 14 + c  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i="1" spc="-1" dirty="0" err="1">
                <a:solidFill>
                  <a:srgbClr val="000000"/>
                </a:solidFill>
                <a:latin typeface="Times New Roman"/>
              </a:rPr>
              <a:t>aIS</a:t>
            </a:r>
            <a:r>
              <a:rPr lang="en-US" altLang="zh-TW" i="1" spc="-1" dirty="0">
                <a:solidFill>
                  <a:srgbClr val="000000"/>
                </a:solidFill>
                <a:latin typeface="Times New Roman"/>
              </a:rPr>
              <a:t> in X</a:t>
            </a:r>
            <a:r>
              <a:rPr lang="en-US" altLang="zh-TW" i="1" spc="-1" baseline="-25000" dirty="0">
                <a:solidFill>
                  <a:srgbClr val="000000"/>
                </a:solidFill>
                <a:latin typeface="Times New Roman"/>
              </a:rPr>
              <a:t>1..4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:</a:t>
            </a:r>
          </a:p>
          <a:p>
            <a:pPr marL="457560" lvl="1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 length = 1 =&gt; </a:t>
            </a:r>
            <a:r>
              <a:rPr lang="en-US" altLang="zh-TW" sz="2800" spc="-1" dirty="0">
                <a:solidFill>
                  <a:srgbClr val="FF0000"/>
                </a:solidFill>
                <a:latin typeface="Times New Roman"/>
              </a:rPr>
              <a:t>2</a:t>
            </a:r>
            <a:endParaRPr lang="en-US" altLang="zh-TW" sz="2800" spc="-1" dirty="0">
              <a:solidFill>
                <a:srgbClr val="000000"/>
              </a:solidFill>
              <a:latin typeface="Times New Roman"/>
            </a:endParaRPr>
          </a:p>
          <a:p>
            <a:pPr marL="457560" lvl="1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z="2800" spc="-1" dirty="0">
                <a:solidFill>
                  <a:srgbClr val="000000"/>
                </a:solidFill>
              </a:rPr>
              <a:t> length = 2 =&gt; 7, </a:t>
            </a:r>
            <a:r>
              <a:rPr lang="en-US" altLang="zh-TW" sz="2800" spc="-1" dirty="0">
                <a:solidFill>
                  <a:srgbClr val="FF0000"/>
                </a:solidFill>
              </a:rPr>
              <a:t>14</a:t>
            </a:r>
            <a:endParaRPr lang="en-US" altLang="zh-TW" sz="2800" spc="-1" dirty="0">
              <a:solidFill>
                <a:srgbClr val="000000"/>
              </a:solidFill>
            </a:endParaRPr>
          </a:p>
          <a:p>
            <a:pPr marL="457560" lvl="1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z="2800" spc="-1" dirty="0">
                <a:solidFill>
                  <a:srgbClr val="000000"/>
                </a:solidFill>
              </a:rPr>
              <a:t> length = 3 =&gt; 7, </a:t>
            </a:r>
            <a:r>
              <a:rPr lang="en-US" altLang="zh-TW" sz="2800" spc="-1" dirty="0">
                <a:solidFill>
                  <a:srgbClr val="FF0000"/>
                </a:solidFill>
              </a:rPr>
              <a:t>15</a:t>
            </a:r>
            <a:r>
              <a:rPr lang="en-US" altLang="zh-TW" sz="2800" spc="-1" dirty="0"/>
              <a:t>, 14</a:t>
            </a:r>
            <a:endParaRPr lang="en-US" altLang="zh-TW" sz="2800" spc="-1" dirty="0">
              <a:solidFill>
                <a:srgbClr val="000000"/>
              </a:solidFill>
              <a:latin typeface="Times New Roman"/>
            </a:endParaRP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528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080" cy="1325563"/>
          </a:xfrm>
        </p:spPr>
        <p:txBody>
          <a:bodyPr/>
          <a:lstStyle/>
          <a:p>
            <a:r>
              <a:rPr lang="en-US" altLang="zh-TW" dirty="0"/>
              <a:t>The improved algorithm</a:t>
            </a:r>
            <a:r>
              <a:rPr lang="zh-TW" altLang="en-US" dirty="0"/>
              <a:t>  </a:t>
            </a:r>
            <a:r>
              <a:rPr lang="en-US" altLang="zh-TW" dirty="0"/>
              <a:t>(3/3)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let k is the length of  </a:t>
            </a:r>
            <a:r>
              <a:rPr lang="en-US" altLang="zh-TW" spc="-1" dirty="0" err="1">
                <a:solidFill>
                  <a:srgbClr val="000000"/>
                </a:solidFill>
              </a:rPr>
              <a:t>LaIS</a:t>
            </a:r>
            <a:r>
              <a:rPr lang="en-US" altLang="zh-TW" spc="-1" dirty="0">
                <a:solidFill>
                  <a:srgbClr val="000000"/>
                </a:solidFill>
              </a:rPr>
              <a:t>(X)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each iteration: O(</a:t>
            </a:r>
            <a:r>
              <a:rPr lang="en-US" altLang="zh-TW" spc="-1" dirty="0" err="1">
                <a:solidFill>
                  <a:srgbClr val="000000"/>
                </a:solidFill>
              </a:rPr>
              <a:t>logk</a:t>
            </a:r>
            <a:r>
              <a:rPr lang="en-US" altLang="zh-TW" spc="-1" dirty="0">
                <a:solidFill>
                  <a:srgbClr val="000000"/>
                </a:solidFill>
              </a:rPr>
              <a:t>)</a:t>
            </a:r>
          </a:p>
          <a:p>
            <a:pPr marL="914760" lvl="1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predecessor search</a:t>
            </a:r>
          </a:p>
          <a:p>
            <a:pPr marL="914760" lvl="1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successor ﬁnding</a:t>
            </a:r>
          </a:p>
          <a:p>
            <a:pPr marL="914760" lvl="1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insertion</a:t>
            </a:r>
          </a:p>
          <a:p>
            <a:pPr marL="914760" lvl="1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deletion (possible)</a:t>
            </a:r>
          </a:p>
          <a:p>
            <a:pPr marL="914760" lvl="1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complexity: O(n</a:t>
            </a:r>
            <a:r>
              <a:rPr lang="en-US" altLang="zh-TW" spc="-1" baseline="30000" dirty="0">
                <a:solidFill>
                  <a:srgbClr val="000000"/>
                </a:solidFill>
              </a:rPr>
              <a:t> </a:t>
            </a:r>
            <a:r>
              <a:rPr lang="en-US" altLang="zh-TW" spc="-1" dirty="0" err="1">
                <a:solidFill>
                  <a:srgbClr val="000000"/>
                </a:solidFill>
              </a:rPr>
              <a:t>logk</a:t>
            </a:r>
            <a:r>
              <a:rPr lang="en-US" altLang="zh-TW" spc="-1" dirty="0">
                <a:solidFill>
                  <a:srgbClr val="000000"/>
                </a:solidFill>
              </a:rPr>
              <a:t>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877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080" cy="1325563"/>
          </a:xfrm>
        </p:spPr>
        <p:txBody>
          <a:bodyPr/>
          <a:lstStyle/>
          <a:p>
            <a:r>
              <a:rPr lang="en-US" altLang="zh-TW" dirty="0"/>
              <a:t>recursive backtracking algorithm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1060"/>
          </a:xfrm>
        </p:spPr>
        <p:txBody>
          <a:bodyPr>
            <a:normAutofit lnSpcReduction="10000"/>
          </a:bodyPr>
          <a:lstStyle/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                      </a:t>
            </a:r>
            <a:r>
              <a:rPr lang="en-US" altLang="zh-TW" dirty="0" err="1">
                <a:latin typeface="Times New Roman" panose="02020603050405020304" pitchFamily="18" charset="0"/>
              </a:rPr>
              <a:t>LaIS</a:t>
            </a:r>
            <a:r>
              <a:rPr lang="en-US" altLang="zh-TW" dirty="0">
                <a:latin typeface="Times New Roman" panose="02020603050405020304" pitchFamily="18" charset="0"/>
              </a:rPr>
              <a:t>(X</a:t>
            </a:r>
            <a:r>
              <a:rPr lang="en-US" altLang="zh-TW" baseline="-25000" dirty="0">
                <a:latin typeface="Times New Roman" panose="02020603050405020304" pitchFamily="18" charset="0"/>
              </a:rPr>
              <a:t>1..h-1</a:t>
            </a:r>
            <a:r>
              <a:rPr lang="en-US" altLang="zh-TW" dirty="0">
                <a:latin typeface="Times New Roman" panose="02020603050405020304" pitchFamily="18" charset="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</a:rPr>
              <a:t>                      </a:t>
            </a:r>
            <a:r>
              <a:rPr lang="en-US" altLang="zh-TW" dirty="0" err="1">
                <a:latin typeface="Times New Roman" panose="02020603050405020304" pitchFamily="18" charset="0"/>
              </a:rPr>
              <a:t>x</a:t>
            </a:r>
            <a:r>
              <a:rPr lang="en-US" altLang="zh-TW" baseline="-25000" dirty="0" err="1">
                <a:latin typeface="Times New Roman" panose="02020603050405020304" pitchFamily="18" charset="0"/>
              </a:rPr>
              <a:t>h</a:t>
            </a:r>
            <a:r>
              <a:rPr lang="en-US" altLang="zh-TW" dirty="0">
                <a:latin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</a:rPr>
              <a:t>     14-c &lt; </a:t>
            </a:r>
            <a:r>
              <a:rPr lang="en-US" altLang="zh-TW" dirty="0" err="1">
                <a:latin typeface="Times New Roman" panose="02020603050405020304" pitchFamily="18" charset="0"/>
              </a:rPr>
              <a:t>x</a:t>
            </a:r>
            <a:r>
              <a:rPr lang="en-US" altLang="zh-TW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TW" baseline="-25000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</a:rPr>
              <a:t>&lt;= 14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dirty="0">
                <a:latin typeface="Times New Roman" panose="02020603050405020304" pitchFamily="18" charset="0"/>
              </a:rPr>
              <a:t>X = </a:t>
            </a:r>
            <a:r>
              <a:rPr lang="en-US" altLang="zh-TW" spc="-1" dirty="0">
                <a:solidFill>
                  <a:srgbClr val="000000"/>
                </a:solidFill>
              </a:rPr>
              <a:t>7, 15, 2, 14, 14, 6, 8, 11, 17, </a:t>
            </a:r>
            <a:r>
              <a:rPr lang="en-US" altLang="zh-TW" spc="-1" dirty="0"/>
              <a:t>15</a:t>
            </a:r>
            <a:r>
              <a:rPr lang="en-US" altLang="zh-TW" spc="-1" dirty="0">
                <a:solidFill>
                  <a:srgbClr val="000000"/>
                </a:solidFill>
              </a:rPr>
              <a:t>, </a:t>
            </a:r>
            <a:r>
              <a:rPr lang="en-US" altLang="zh-TW" spc="-1" dirty="0">
                <a:solidFill>
                  <a:srgbClr val="FF0000"/>
                </a:solidFill>
              </a:rPr>
              <a:t>14</a:t>
            </a:r>
            <a:r>
              <a:rPr lang="en-US" altLang="zh-TW" spc="-1" dirty="0">
                <a:solidFill>
                  <a:srgbClr val="000000"/>
                </a:solidFill>
              </a:rPr>
              <a:t>,</a:t>
            </a:r>
            <a:r>
              <a:rPr lang="zh-TW" altLang="en-US" spc="-1" dirty="0">
                <a:solidFill>
                  <a:srgbClr val="000000"/>
                </a:solidFill>
              </a:rPr>
              <a:t> </a:t>
            </a:r>
            <a:r>
              <a:rPr lang="en-US" altLang="zh-TW" spc="-1" dirty="0">
                <a:solidFill>
                  <a:srgbClr val="000000"/>
                </a:solidFill>
              </a:rPr>
              <a:t>13, 5, ………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dirty="0" err="1">
                <a:latin typeface="Times New Roman" panose="02020603050405020304" pitchFamily="18" charset="0"/>
              </a:rPr>
              <a:t>LaIS</a:t>
            </a:r>
            <a:r>
              <a:rPr lang="en-US" altLang="zh-TW" dirty="0">
                <a:latin typeface="Times New Roman" panose="02020603050405020304" pitchFamily="18" charset="0"/>
              </a:rPr>
              <a:t>(X) 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sz="2800" spc="-1" dirty="0">
                <a:solidFill>
                  <a:srgbClr val="000000"/>
                </a:solidFill>
              </a:rPr>
              <a:t>7, 6,</a:t>
            </a:r>
            <a:r>
              <a:rPr lang="zh-TW" altLang="en-US" sz="2800" spc="-1" dirty="0">
                <a:solidFill>
                  <a:srgbClr val="000000"/>
                </a:solidFill>
              </a:rPr>
              <a:t> </a:t>
            </a:r>
            <a:r>
              <a:rPr lang="en-US" altLang="zh-TW" sz="2800" spc="-1" dirty="0">
                <a:solidFill>
                  <a:srgbClr val="000000"/>
                </a:solidFill>
              </a:rPr>
              <a:t>8,</a:t>
            </a:r>
            <a:r>
              <a:rPr lang="zh-TW" altLang="en-US" sz="2800" spc="-1" dirty="0">
                <a:solidFill>
                  <a:srgbClr val="000000"/>
                </a:solidFill>
              </a:rPr>
              <a:t> </a:t>
            </a:r>
            <a:r>
              <a:rPr lang="en-US" altLang="zh-TW" sz="2800" spc="-1" dirty="0">
                <a:solidFill>
                  <a:srgbClr val="000000"/>
                </a:solidFill>
              </a:rPr>
              <a:t>11,</a:t>
            </a:r>
            <a:r>
              <a:rPr lang="zh-TW" altLang="en-US" sz="2800" spc="-1" dirty="0">
                <a:solidFill>
                  <a:srgbClr val="000000"/>
                </a:solidFill>
              </a:rPr>
              <a:t> </a:t>
            </a:r>
            <a:r>
              <a:rPr lang="en-US" altLang="zh-TW" sz="2800" spc="-1" dirty="0">
                <a:solidFill>
                  <a:srgbClr val="FF0000"/>
                </a:solidFill>
              </a:rPr>
              <a:t>14</a:t>
            </a:r>
            <a:r>
              <a:rPr lang="en-US" altLang="zh-TW" sz="2800" spc="-1" dirty="0"/>
              <a:t>. 13</a:t>
            </a:r>
            <a:endParaRPr lang="en-US" altLang="zh-TW" sz="2800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dirty="0">
                <a:latin typeface="Times New Roman" panose="02020603050405020304" pitchFamily="18" charset="0"/>
              </a:rPr>
              <a:t>X</a:t>
            </a:r>
            <a:r>
              <a:rPr lang="en-US" altLang="zh-TW" baseline="-25000" dirty="0">
                <a:latin typeface="Times New Roman" panose="02020603050405020304" pitchFamily="18" charset="0"/>
              </a:rPr>
              <a:t>1..h-1 </a:t>
            </a:r>
            <a:r>
              <a:rPr lang="en-US" altLang="zh-TW" dirty="0">
                <a:latin typeface="Times New Roman" panose="02020603050405020304" pitchFamily="18" charset="0"/>
              </a:rPr>
              <a:t>= </a:t>
            </a:r>
            <a:r>
              <a:rPr lang="en-US" altLang="zh-TW" spc="-1" dirty="0">
                <a:solidFill>
                  <a:srgbClr val="000000"/>
                </a:solidFill>
              </a:rPr>
              <a:t>7, 15, 2, 14, 14, 6, 8, </a:t>
            </a:r>
            <a:r>
              <a:rPr lang="en-US" altLang="zh-TW" spc="-1" dirty="0">
                <a:solidFill>
                  <a:srgbClr val="FF0000"/>
                </a:solidFill>
              </a:rPr>
              <a:t>11</a:t>
            </a:r>
            <a:r>
              <a:rPr lang="en-US" altLang="zh-TW" spc="-1" dirty="0">
                <a:solidFill>
                  <a:srgbClr val="000000"/>
                </a:solidFill>
              </a:rPr>
              <a:t>, 17, </a:t>
            </a:r>
            <a:r>
              <a:rPr lang="en-US" altLang="zh-TW" spc="-1" dirty="0"/>
              <a:t>15</a:t>
            </a: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dirty="0" err="1">
                <a:latin typeface="Times New Roman" panose="02020603050405020304" pitchFamily="18" charset="0"/>
              </a:rPr>
              <a:t>LaIS</a:t>
            </a:r>
            <a:r>
              <a:rPr lang="en-US" altLang="zh-TW" dirty="0">
                <a:latin typeface="Times New Roman" panose="02020603050405020304" pitchFamily="18" charset="0"/>
              </a:rPr>
              <a:t>(X</a:t>
            </a:r>
            <a:r>
              <a:rPr lang="en-US" altLang="zh-TW" baseline="-25000" dirty="0">
                <a:latin typeface="Times New Roman" panose="02020603050405020304" pitchFamily="18" charset="0"/>
              </a:rPr>
              <a:t>1..h-1</a:t>
            </a:r>
            <a:r>
              <a:rPr lang="en-US" altLang="zh-TW" dirty="0">
                <a:latin typeface="Times New Roman" panose="02020603050405020304" pitchFamily="18" charset="0"/>
              </a:rPr>
              <a:t>) 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spc="-1" dirty="0">
                <a:solidFill>
                  <a:srgbClr val="000000"/>
                </a:solidFill>
              </a:rPr>
              <a:t>7, 6,</a:t>
            </a:r>
            <a:r>
              <a:rPr lang="zh-TW" altLang="en-US" spc="-1" dirty="0">
                <a:solidFill>
                  <a:srgbClr val="000000"/>
                </a:solidFill>
              </a:rPr>
              <a:t> </a:t>
            </a:r>
            <a:r>
              <a:rPr lang="en-US" altLang="zh-TW" spc="-1" dirty="0">
                <a:solidFill>
                  <a:srgbClr val="000000"/>
                </a:solidFill>
              </a:rPr>
              <a:t>8,</a:t>
            </a:r>
            <a:r>
              <a:rPr lang="zh-TW" altLang="en-US" spc="-1" dirty="0">
                <a:solidFill>
                  <a:srgbClr val="000000"/>
                </a:solidFill>
              </a:rPr>
              <a:t> </a:t>
            </a:r>
            <a:r>
              <a:rPr lang="en-US" altLang="zh-TW" spc="-1" dirty="0">
                <a:solidFill>
                  <a:srgbClr val="FF0000"/>
                </a:solidFill>
              </a:rPr>
              <a:t>11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pc="-1" dirty="0">
              <a:solidFill>
                <a:srgbClr val="FF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pc="-1" dirty="0"/>
              <a:t>recursive ……</a:t>
            </a:r>
            <a:endParaRPr lang="en-US" altLang="zh-TW" spc="-1" dirty="0">
              <a:solidFill>
                <a:srgbClr val="000000"/>
              </a:solidFill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dirty="0">
                <a:latin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</a:rPr>
              <a:t>LaIS</a:t>
            </a:r>
            <a:r>
              <a:rPr lang="en-US" altLang="zh-TW" dirty="0">
                <a:latin typeface="Times New Roman" panose="02020603050405020304" pitchFamily="18" charset="0"/>
              </a:rPr>
              <a:t>(X)  = </a:t>
            </a:r>
            <a:r>
              <a:rPr lang="en-US" altLang="zh-TW" dirty="0" err="1">
                <a:latin typeface="Times New Roman" panose="02020603050405020304" pitchFamily="18" charset="0"/>
              </a:rPr>
              <a:t>LaIS</a:t>
            </a:r>
            <a:r>
              <a:rPr lang="en-US" altLang="zh-TW" dirty="0">
                <a:latin typeface="Times New Roman" panose="02020603050405020304" pitchFamily="18" charset="0"/>
              </a:rPr>
              <a:t>(X</a:t>
            </a:r>
            <a:r>
              <a:rPr lang="en-US" altLang="zh-TW" baseline="-25000" dirty="0">
                <a:latin typeface="Times New Roman" panose="02020603050405020304" pitchFamily="18" charset="0"/>
              </a:rPr>
              <a:t>1..h-1</a:t>
            </a:r>
            <a:r>
              <a:rPr lang="en-US" altLang="zh-TW" dirty="0">
                <a:latin typeface="Times New Roman" panose="02020603050405020304" pitchFamily="18" charset="0"/>
              </a:rPr>
              <a:t>) · </a:t>
            </a:r>
            <a:r>
              <a:rPr lang="en-US" altLang="zh-TW" dirty="0" err="1">
                <a:latin typeface="Times New Roman" panose="02020603050405020304" pitchFamily="18" charset="0"/>
              </a:rPr>
              <a:t>x</a:t>
            </a:r>
            <a:r>
              <a:rPr lang="en-US" altLang="zh-TW" baseline="-25000" dirty="0" err="1">
                <a:latin typeface="Times New Roman" panose="02020603050405020304" pitchFamily="18" charset="0"/>
              </a:rPr>
              <a:t>h</a:t>
            </a:r>
            <a:r>
              <a:rPr lang="en-US" altLang="zh-TW" dirty="0">
                <a:latin typeface="Times New Roman" panose="02020603050405020304" pitchFamily="18" charset="0"/>
              </a:rPr>
              <a:t> · T(X</a:t>
            </a:r>
            <a:r>
              <a:rPr lang="en-US" altLang="zh-TW" baseline="-25000" dirty="0">
                <a:latin typeface="Times New Roman" panose="02020603050405020304" pitchFamily="18" charset="0"/>
              </a:rPr>
              <a:t>h+1..n</a:t>
            </a:r>
            <a:r>
              <a:rPr lang="en-US" altLang="zh-TW" dirty="0">
                <a:latin typeface="Times New Roman" panose="02020603050405020304" pitchFamily="18" charset="0"/>
              </a:rPr>
              <a:t>)</a:t>
            </a:r>
            <a:endParaRPr lang="en-US" altLang="zh-TW" baseline="-25000" dirty="0">
              <a:latin typeface="Times New Roman" panose="02020603050405020304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sz="2800" spc="-1" dirty="0">
              <a:solidFill>
                <a:srgbClr val="000000"/>
              </a:solidFill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4" name="左大括弧 3">
            <a:extLst>
              <a:ext uri="{FF2B5EF4-FFF2-40B4-BE49-F238E27FC236}">
                <a16:creationId xmlns:a16="http://schemas.microsoft.com/office/drawing/2014/main" id="{3DB99BA9-A06D-4E98-B9EA-A7E4148684D8}"/>
              </a:ext>
            </a:extLst>
          </p:cNvPr>
          <p:cNvSpPr/>
          <p:nvPr/>
        </p:nvSpPr>
        <p:spPr>
          <a:xfrm rot="5400000">
            <a:off x="3879967" y="475908"/>
            <a:ext cx="356061" cy="407600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左大括弧 4">
            <a:extLst>
              <a:ext uri="{FF2B5EF4-FFF2-40B4-BE49-F238E27FC236}">
                <a16:creationId xmlns:a16="http://schemas.microsoft.com/office/drawing/2014/main" id="{C1E186F7-EDA4-418B-B3FD-1857A037A685}"/>
              </a:ext>
            </a:extLst>
          </p:cNvPr>
          <p:cNvSpPr/>
          <p:nvPr/>
        </p:nvSpPr>
        <p:spPr>
          <a:xfrm rot="5400000">
            <a:off x="8198427" y="1197733"/>
            <a:ext cx="356064" cy="263236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060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4606</TotalTime>
  <Words>647</Words>
  <Application>Microsoft Office PowerPoint</Application>
  <PresentationFormat>寬螢幕</PresentationFormat>
  <Paragraphs>99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佈景主題</vt:lpstr>
      <vt:lpstr>The longest almost-increasing subsequence</vt:lpstr>
      <vt:lpstr>Abstract</vt:lpstr>
      <vt:lpstr>LaIS (Longest almost-Increasing Subsequence)</vt:lpstr>
      <vt:lpstr>The basic algorithm (1/3)</vt:lpstr>
      <vt:lpstr>The basic algorithm (2/3)</vt:lpstr>
      <vt:lpstr>The basic algorithm (3/3)</vt:lpstr>
      <vt:lpstr>The improved algorithm (1/3)</vt:lpstr>
      <vt:lpstr>The improved algorithm (2/3)</vt:lpstr>
      <vt:lpstr>The improved algorithm  (3/3)</vt:lpstr>
      <vt:lpstr>recursive backtracking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pplab</cp:lastModifiedBy>
  <cp:revision>333</cp:revision>
  <dcterms:created xsi:type="dcterms:W3CDTF">2021-01-03T09:53:04Z</dcterms:created>
  <dcterms:modified xsi:type="dcterms:W3CDTF">2022-03-01T11:37:02Z</dcterms:modified>
</cp:coreProperties>
</file>