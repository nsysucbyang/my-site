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71A6C-2C44-478D-971D-C6B8D23831BB}" type="datetimeFigureOut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8E3AD-4DDF-46F0-847C-9E019181D1B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4395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F9860-E560-416D-9431-5E47F324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134497-E75B-48A4-91DD-EA0D8766E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863F84-58C6-42BD-8450-BB1EF0A0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348C-36CF-493F-87A0-F09F5C79557B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432305-1513-4FF2-B137-EE8BE607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45DE15-CC67-477E-9512-252BB1C1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61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FF7CE-2933-4750-A85D-DACE9F91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F8675F-A7F4-411C-87FE-AF53DB23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D891A1-BED0-4372-94A4-FAEA0FDB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1CB8-68CC-40D0-8B95-D3C3A7ADB4E8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B4587-43E1-4B31-85FA-4F512D06B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62905B-D2C7-4BB5-A1C0-9C466C3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源流明體 M" panose="02020500000000000000" pitchFamily="18" charset="-120"/>
                <a:ea typeface="源流明體 M" panose="02020500000000000000" pitchFamily="18" charset="-120"/>
              </a:defRPr>
            </a:lvl1pPr>
          </a:lstStyle>
          <a:p>
            <a:fld id="{4CD2C34A-D3D3-4A9B-8692-9279E332F0C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4709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A837B-11EB-4BCD-BB75-016BDBC72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1CEDA6-E03F-4FC9-9AE0-3165E22F8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B5DA1D-6AE9-48E7-B940-0B03E7173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9369E-9364-4DE1-B777-922645A66F1A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AA8402-DA28-4A1A-A558-D9347B92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9B33D7-3156-4125-A854-05E2F5EC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13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C2D9AB-19FC-4A41-8B16-512340B3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7EFF3-6358-445E-AB7A-1BC7356097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0E9C49-7EE0-48B3-B571-72D3290F1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1A1EF6-39FE-482A-8143-781B6CB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1FF31-668F-4AB9-96F0-D30DF02CF383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9D48EB-695D-48D5-972D-703BA95F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DEBC84-B4B2-48A5-9453-4968DF60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530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364652-1B77-4696-A668-DE346840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EA96D6-19BA-4F0C-9D27-5E3C91262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DD1974A-B943-4208-8541-2CC97695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F423B03-A8AF-4A4A-8E8F-F37A0EC21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68F243B-B7F9-4BFF-961C-9D0B9CDCA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FF30C15-CFD8-4836-816C-2F7AD002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F927-1548-411C-9F0A-7E2338821FD2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B75EC47-F26E-4E34-8F29-34396015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357AA1-531D-48AF-9CCE-B1E9F1D5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738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71D42C-7250-4132-82B5-5BC22B5A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93FF5C-9744-48EF-A3FE-F6AB363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5000-B342-4B97-BFC6-0D5CDADFA95C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1019B5-97EB-4FAA-B9E0-A8872AE73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A332F1-DF5D-4F87-97BF-68EBD8F1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890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876C78C-4473-4753-A6D0-22BA1F47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F939-D763-48D5-8B03-D0F1129A1E9E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0A9D2FC-48F6-4EB8-9020-7AACF6C9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61A111-BA32-4DCC-B1B3-F6F29930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7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6626C-3788-4FAE-8B9A-B23CC278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050D94-23AF-4060-B5E4-D28F7AF29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7E624D-101B-4B1B-A033-653188284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3E474D-7185-4142-8E1A-C096A190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AF7E-03FF-47C7-BE82-6927213C9CE5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D8FD9AE-93F8-4516-981E-888A35858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C235FE-7EC6-45BD-AFD3-28E23622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626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BEFEB1-3B54-45E8-9090-D0CF4FF9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BE35E7-646E-4404-821A-D22E70E0B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357CA3-B57C-4FE1-AA0C-39A1BB09A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D38B033-98F0-477A-A016-863BD32F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A15A-BC96-4FDC-81B9-0D28C6E02324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7603EF-D0A2-4BE2-BB6E-F1E742856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60FDF8-CDA0-4176-93FB-878ED2BD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22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E1F33-6DA3-4E3D-A50B-59EF3784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53AB78-8699-463C-8D35-0DAE4736C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0C9C6C-B437-4A6A-B50E-D76A9DFEF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8257-1A0C-4C00-86B7-D3CBE1E4FDE3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009B86-8BAF-49D3-9FBD-AF620355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B07FA9-F3F7-4DA7-A0F4-66D3B567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4161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C295D24-4D4D-472A-AB73-D1239EA9C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BDB5D60-51C4-436D-BBDD-F77793327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632C48-A4E5-459A-B5AA-57D86A0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91720-F347-4FFB-ADA5-0AD2EE56A4E5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1A3D36-B64D-4E79-8824-D40005CB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CBCD96-2981-4CEB-BF02-CDF1449F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32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588B45C-60F2-4BCE-B810-D930011E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153474-8A42-4461-A925-C46F6448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A84AEC-A2FC-47EE-8B0B-6CF68B838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A89E-5F59-45C6-916E-2029F486A7DF}" type="datetime1">
              <a:rPr lang="zh-TW" altLang="en-US" smtClean="0"/>
              <a:t>2022/3/1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89F9A5-C535-4FCE-9462-8748EDBDF1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D0B99F-AC6F-4C56-843B-B3324F719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2C34A-D3D3-4A9B-8692-9279E332F0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71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源流明體 M" panose="02020500000000000000" pitchFamily="18" charset="-12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143474-6387-4BE8-A4BF-0CDEA6765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806" y="1122363"/>
            <a:ext cx="11164389" cy="2387600"/>
          </a:xfrm>
        </p:spPr>
        <p:txBody>
          <a:bodyPr/>
          <a:lstStyle/>
          <a:p>
            <a:r>
              <a:rPr lang="en-US" altLang="zh-TW" dirty="0"/>
              <a:t>Order preserving pattern matching revisited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2B8BEBC-EA8D-40AC-8B6F-CE2FB945F5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Md. </a:t>
            </a:r>
            <a:r>
              <a:rPr lang="en-US" altLang="zh-TW" dirty="0" err="1"/>
              <a:t>Mahbubul</a:t>
            </a:r>
            <a:r>
              <a:rPr lang="en-US" altLang="zh-TW" dirty="0"/>
              <a:t> Hasan, A.S.M. </a:t>
            </a:r>
            <a:r>
              <a:rPr lang="en-US" altLang="zh-TW" dirty="0" err="1"/>
              <a:t>Shohidull</a:t>
            </a:r>
            <a:r>
              <a:rPr lang="en-US" altLang="zh-TW" dirty="0"/>
              <a:t> Islam, </a:t>
            </a:r>
          </a:p>
          <a:p>
            <a:r>
              <a:rPr lang="en-US" altLang="zh-TW" dirty="0"/>
              <a:t>Mohammad </a:t>
            </a:r>
            <a:r>
              <a:rPr lang="en-US" altLang="zh-TW" dirty="0" err="1"/>
              <a:t>Saifur</a:t>
            </a:r>
            <a:r>
              <a:rPr lang="en-US" altLang="zh-TW" dirty="0"/>
              <a:t> Rahman, M. </a:t>
            </a:r>
            <a:r>
              <a:rPr lang="en-US" altLang="zh-TW" dirty="0" err="1"/>
              <a:t>Sohel</a:t>
            </a:r>
            <a:r>
              <a:rPr lang="en-US" altLang="zh-TW" dirty="0"/>
              <a:t> Rahman</a:t>
            </a:r>
          </a:p>
          <a:p>
            <a:r>
              <a:rPr lang="en-US" altLang="zh-TW" dirty="0"/>
              <a:t>Pattern Recognition Letters 55 (2015), pp. 15-21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AB8FE2-23CB-4533-87D5-C2F44C82D244}"/>
              </a:ext>
            </a:extLst>
          </p:cNvPr>
          <p:cNvSpPr txBox="1"/>
          <p:nvPr/>
        </p:nvSpPr>
        <p:spPr>
          <a:xfrm>
            <a:off x="8900160" y="6211669"/>
            <a:ext cx="3291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Presenter: Guan-Ting Chen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rPr>
              <a:t>Date: Mar. 1, 2022</a:t>
            </a:r>
          </a:p>
        </p:txBody>
      </p:sp>
    </p:spTree>
    <p:extLst>
      <p:ext uri="{BB962C8B-B14F-4D97-AF65-F5344CB8AC3E}">
        <p14:creationId xmlns:p14="http://schemas.microsoft.com/office/powerpoint/2010/main" val="99284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4AF41-DCC8-4BFE-B3AA-9D793E86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BE2A12-C9F0-4093-A018-44F05764C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In this paper, we study the order preserving pattern matching (OPPM) problem, which is a very recent variant of the classic pattern matching problem. We revisit this variant, present a new interesting pattern matching algorithm and for the ﬁrst time consider string regularities from this new perspective.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099A3E-11CF-4D79-A20E-36E8E58CE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723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368854-D193-45F1-A127-77E22B863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Pattern Matching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7A555ED2-142C-4B79-A54D-67788471D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5797" y="1690688"/>
            <a:ext cx="7720406" cy="482766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B6C1EC-C9D8-42E4-9376-6868169BD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8883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A919AE-C4B3-4D4E-9E19-FF8D2993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Z-function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91DB41-ABC2-4552-A7DD-97E0B34E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Length of the longest substring of S that starts at position </a:t>
            </a:r>
            <a:r>
              <a:rPr lang="en-US" altLang="zh-TW" dirty="0" err="1"/>
              <a:t>i</a:t>
            </a:r>
            <a:r>
              <a:rPr lang="en-US" altLang="zh-TW" dirty="0"/>
              <a:t> and matches a prefix of S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AF699A-D447-401A-BAA6-D8F77326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6C0F4E5-CD15-4A1A-B1D1-786F17699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9134"/>
            <a:ext cx="12192000" cy="118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52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FEAAC1-9A4A-449A-8A5B-E692C3D2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Modified Z-function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BE3CDA-C623-44D1-AE27-73B3B50BE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Length of the longest prefix P of </a:t>
            </a:r>
            <a:r>
              <a:rPr lang="en-US" altLang="zh-TW" dirty="0" err="1"/>
              <a:t>suffix</a:t>
            </a:r>
            <a:r>
              <a:rPr lang="en-US" altLang="zh-TW" baseline="-25000" dirty="0" err="1"/>
              <a:t>i</a:t>
            </a:r>
            <a:r>
              <a:rPr lang="en-US" altLang="zh-TW" dirty="0"/>
              <a:t>(S) such that σ (P) = σ (S[1, |P|]).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6BBA95-0AFC-4E9B-9B29-41A9263C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5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18495D-5F72-4D1F-9850-70AFE3CF1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3429000"/>
            <a:ext cx="6401693" cy="191479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835C379-17F2-444F-97CC-FF4AF1A9B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522" y="2865378"/>
            <a:ext cx="4324954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8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1E12E4-2412-49CF-B899-2D42D337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Improvement of Modiﬁed Z-function.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14FA63-A8E1-4D08-AA16-28233389B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Prev</a:t>
            </a:r>
            <a:endParaRPr lang="en-US" altLang="zh-TW" dirty="0"/>
          </a:p>
          <a:p>
            <a:pPr lvl="1"/>
            <a:r>
              <a:rPr lang="en-US" altLang="zh-TW" dirty="0"/>
              <a:t>Predecessor</a:t>
            </a:r>
          </a:p>
          <a:p>
            <a:r>
              <a:rPr lang="en-US" altLang="zh-TW" dirty="0"/>
              <a:t>Next</a:t>
            </a:r>
          </a:p>
          <a:p>
            <a:pPr lvl="1"/>
            <a:r>
              <a:rPr lang="en-US" altLang="zh-TW" dirty="0"/>
              <a:t>Successor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242325-3638-4698-BEE1-161A0244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6</a:t>
            </a:fld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00B60DB-E360-488D-87AF-4A437F896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22893"/>
              </p:ext>
            </p:extLst>
          </p:nvPr>
        </p:nvGraphicFramePr>
        <p:xfrm>
          <a:off x="2031999" y="3819917"/>
          <a:ext cx="8128001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170919787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84615808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4699902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974179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5830527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44552540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078132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2255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Prev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2176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186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51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E4336-DE7C-4B3D-ABBD-B70716BA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3A9D88-ED9D-492F-B2B4-75866A4EC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Preprocess</a:t>
            </a:r>
          </a:p>
          <a:p>
            <a:pPr lvl="1"/>
            <a:r>
              <a:rPr lang="en-US" altLang="zh-TW" dirty="0"/>
              <a:t> O(</a:t>
            </a:r>
            <a:r>
              <a:rPr lang="en-US" altLang="zh-TW" i="1" dirty="0" err="1"/>
              <a:t>n</a:t>
            </a:r>
            <a:r>
              <a:rPr lang="en-US" altLang="zh-TW" dirty="0" err="1"/>
              <a:t>log</a:t>
            </a:r>
            <a:r>
              <a:rPr lang="en-US" altLang="zh-TW" i="1" dirty="0" err="1"/>
              <a:t>n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while loop</a:t>
            </a:r>
          </a:p>
          <a:p>
            <a:pPr lvl="1"/>
            <a:r>
              <a:rPr lang="en-US" altLang="zh-TW" dirty="0"/>
              <a:t> R + O 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O(</a:t>
            </a:r>
            <a:r>
              <a:rPr lang="en-US" altLang="zh-TW" i="1" dirty="0" err="1"/>
              <a:t>n</a:t>
            </a:r>
            <a:r>
              <a:rPr lang="en-US" altLang="zh-TW" dirty="0" err="1"/>
              <a:t>log</a:t>
            </a:r>
            <a:r>
              <a:rPr lang="en-US" altLang="zh-TW" i="1" dirty="0" err="1"/>
              <a:t>n</a:t>
            </a:r>
            <a:r>
              <a:rPr lang="en-US" altLang="zh-TW" dirty="0"/>
              <a:t>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19AE5C-FEB0-403E-9C85-F39F7B8D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7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8004700-26A6-4303-A1C0-3E8F90DC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24" y="966174"/>
            <a:ext cx="6076176" cy="5687632"/>
          </a:xfrm>
          <a:prstGeom prst="rect">
            <a:avLst/>
          </a:prstGeom>
        </p:spPr>
      </p:pic>
      <p:cxnSp>
        <p:nvCxnSpPr>
          <p:cNvPr id="8" name="接點: 弧形 7">
            <a:extLst>
              <a:ext uri="{FF2B5EF4-FFF2-40B4-BE49-F238E27FC236}">
                <a16:creationId xmlns:a16="http://schemas.microsoft.com/office/drawing/2014/main" id="{42E282C8-FB18-4C16-A5B9-71DCD95CF768}"/>
              </a:ext>
            </a:extLst>
          </p:cNvPr>
          <p:cNvCxnSpPr>
            <a:cxnSpLocks/>
          </p:cNvCxnSpPr>
          <p:nvPr/>
        </p:nvCxnSpPr>
        <p:spPr>
          <a:xfrm rot="10800000">
            <a:off x="2778712" y="3018408"/>
            <a:ext cx="3400149" cy="914400"/>
          </a:xfrm>
          <a:prstGeom prst="curvedConnector3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EED4A75-9875-4092-923B-2A33087C548B}"/>
              </a:ext>
            </a:extLst>
          </p:cNvPr>
          <p:cNvCxnSpPr>
            <a:cxnSpLocks/>
          </p:cNvCxnSpPr>
          <p:nvPr/>
        </p:nvCxnSpPr>
        <p:spPr>
          <a:xfrm flipH="1">
            <a:off x="2858610" y="1961965"/>
            <a:ext cx="3045040" cy="10653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993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CC6A98-4616-4B35-95CA-D600DCBA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Periods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E36317-34AC-4139-8167-2AC9E0C3E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Period p</a:t>
            </a:r>
          </a:p>
          <a:p>
            <a:pPr lvl="1"/>
            <a:r>
              <a:rPr lang="en-US" altLang="zh-TW" dirty="0"/>
              <a:t>S[</a:t>
            </a:r>
            <a:r>
              <a:rPr lang="en-US" altLang="zh-TW" dirty="0" err="1"/>
              <a:t>i</a:t>
            </a:r>
            <a:r>
              <a:rPr lang="en-US" altLang="zh-TW" dirty="0"/>
              <a:t>] = S[p + </a:t>
            </a:r>
            <a:r>
              <a:rPr lang="en-US" altLang="zh-TW" dirty="0" err="1"/>
              <a:t>i</a:t>
            </a:r>
            <a:r>
              <a:rPr lang="en-US" altLang="zh-TW" dirty="0"/>
              <a:t>]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/>
              <a:t>T = P</a:t>
            </a:r>
            <a:r>
              <a:rPr lang="en-US" altLang="zh-TW" baseline="30000" dirty="0"/>
              <a:t>k</a:t>
            </a:r>
          </a:p>
          <a:p>
            <a:pPr lvl="1"/>
            <a:r>
              <a:rPr lang="en-US" altLang="zh-TW" dirty="0"/>
              <a:t>k consecutive repetitions of P</a:t>
            </a:r>
          </a:p>
          <a:p>
            <a:endParaRPr lang="en-US" altLang="zh-TW" dirty="0"/>
          </a:p>
          <a:p>
            <a:r>
              <a:rPr lang="en-US" altLang="zh-TW" dirty="0"/>
              <a:t> P</a:t>
            </a:r>
          </a:p>
          <a:p>
            <a:pPr lvl="1"/>
            <a:r>
              <a:rPr lang="en-US" altLang="zh-TW" dirty="0"/>
              <a:t>Period of any preﬁx of T</a:t>
            </a:r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E44793-5CC8-410C-A6FF-A4E2A37B1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8</a:t>
            </a:fld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E68E501-1CD8-4D51-82C2-F3DC5CD504B8}"/>
              </a:ext>
            </a:extLst>
          </p:cNvPr>
          <p:cNvSpPr txBox="1">
            <a:spLocks/>
          </p:cNvSpPr>
          <p:nvPr/>
        </p:nvSpPr>
        <p:spPr>
          <a:xfrm>
            <a:off x="6096000" y="2560319"/>
            <a:ext cx="5257800" cy="3616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Times New Roman" panose="02020603050405020304" pitchFamily="18" charset="0"/>
                <a:ea typeface="源流明體 M" panose="02020500000000000000" pitchFamily="18" charset="-12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Example</a:t>
            </a:r>
          </a:p>
          <a:p>
            <a:pPr lvl="1"/>
            <a:r>
              <a:rPr lang="en-US" altLang="zh-TW" dirty="0"/>
              <a:t>T = ( 1, 3, 2, </a:t>
            </a:r>
            <a:r>
              <a:rPr lang="en-US" altLang="zh-TW" dirty="0">
                <a:solidFill>
                  <a:srgbClr val="FF0000"/>
                </a:solidFill>
              </a:rPr>
              <a:t>4, 10, 9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chemeClr val="accent1"/>
                </a:solidFill>
              </a:rPr>
              <a:t>5, 11, 7 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P = ( 1, 3, 2 )</a:t>
            </a:r>
          </a:p>
          <a:p>
            <a:pPr lvl="1"/>
            <a:r>
              <a:rPr lang="en-US" altLang="zh-TW" dirty="0"/>
              <a:t>Any prefix of T</a:t>
            </a:r>
          </a:p>
          <a:p>
            <a:pPr lvl="2"/>
            <a:r>
              <a:rPr lang="en-US" altLang="zh-TW" dirty="0"/>
              <a:t>( 1, 3, 2, 4, 10, 9, 5, 11, 7 ) </a:t>
            </a:r>
          </a:p>
          <a:p>
            <a:pPr lvl="2"/>
            <a:r>
              <a:rPr lang="en-US" altLang="zh-TW" dirty="0"/>
              <a:t>( 1, 3, 2, 4 ) </a:t>
            </a:r>
          </a:p>
          <a:p>
            <a:pPr lvl="2"/>
            <a:r>
              <a:rPr lang="en-US" altLang="zh-TW" dirty="0"/>
              <a:t>( 1, 3 ) </a:t>
            </a:r>
          </a:p>
          <a:p>
            <a:pPr lvl="2"/>
            <a:r>
              <a:rPr lang="en-US" altLang="zh-TW" dirty="0"/>
              <a:t>( 1, 3, 2, 4, 10, 9, 5, 11 )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4661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5B8D6-D178-428A-A5BB-883A8EF4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Border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9FF42-14F5-4AB1-91AB-459EBE452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Border</a:t>
            </a:r>
          </a:p>
          <a:p>
            <a:pPr lvl="1"/>
            <a:r>
              <a:rPr lang="el-GR" altLang="zh-TW" dirty="0"/>
              <a:t>σ( </a:t>
            </a:r>
            <a:r>
              <a:rPr lang="en-US" altLang="zh-TW" dirty="0"/>
              <a:t>S[1, L] ) = </a:t>
            </a:r>
            <a:r>
              <a:rPr lang="el-GR" altLang="zh-TW" dirty="0"/>
              <a:t>σ( </a:t>
            </a:r>
            <a:r>
              <a:rPr lang="en-US" altLang="zh-TW" dirty="0"/>
              <a:t>S[ | S | − L + 1, | S | ] 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Only check</a:t>
            </a:r>
          </a:p>
          <a:p>
            <a:pPr lvl="1"/>
            <a:r>
              <a:rPr lang="pl-PL" altLang="zh-TW" dirty="0"/>
              <a:t>i + Z ( i )</a:t>
            </a:r>
            <a:r>
              <a:rPr lang="en-US" altLang="zh-TW" dirty="0"/>
              <a:t> </a:t>
            </a:r>
            <a:r>
              <a:rPr lang="pl-PL" altLang="zh-TW" dirty="0"/>
              <a:t>− 1 = | S |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C10F33-878D-4D9B-8A53-B5246245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20DA12A-E85D-4A0A-985E-601EFA020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229746"/>
              </p:ext>
            </p:extLst>
          </p:nvPr>
        </p:nvGraphicFramePr>
        <p:xfrm>
          <a:off x="2031999" y="2971800"/>
          <a:ext cx="8128001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53138447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5837391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1656433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2882740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88597799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86363076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973341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6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185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1157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029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C4998D-B1E2-446D-8293-2224D88A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Covers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7AA6D3-5AFD-42B7-A521-7DB35AD73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Covers</a:t>
            </a:r>
          </a:p>
          <a:p>
            <a:pPr lvl="1"/>
            <a:r>
              <a:rPr lang="en-US" altLang="zh-TW" dirty="0"/>
              <a:t>S is covered by an Order-Preserving-Representation-occurrence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Example</a:t>
            </a:r>
          </a:p>
          <a:p>
            <a:pPr lvl="1"/>
            <a:r>
              <a:rPr lang="en-US" altLang="zh-TW" dirty="0"/>
              <a:t>S = ( 1, 3, 2, 7, 5, 8, 6 )</a:t>
            </a:r>
          </a:p>
          <a:p>
            <a:pPr lvl="1"/>
            <a:r>
              <a:rPr lang="en-US" altLang="zh-TW" dirty="0"/>
              <a:t>cover C = ( 1, 3, 2 )</a:t>
            </a:r>
          </a:p>
          <a:p>
            <a:pPr lvl="2"/>
            <a:r>
              <a:rPr lang="en-US" altLang="zh-TW" dirty="0"/>
              <a:t>(1, 3, 2), (2, 7, 5), (5, 8, 6)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592F2-FA34-4A17-8553-C5E4E3B4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5685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108B95DC-9997-46D3-B5B0-31C42BEE1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0" y="4017523"/>
            <a:ext cx="6732270" cy="284047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2B2657-2B13-4DFC-8BE7-463F5D47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Order Preserving Covers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3365249-B2A7-4805-9AB0-683A4A0DD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988" y="1420818"/>
            <a:ext cx="5534044" cy="54371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405B7F-C4B0-4D2B-8C0A-BE0EFEB5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E3CAB99C-9297-4A40-845B-52A076512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889098"/>
              </p:ext>
            </p:extLst>
          </p:nvPr>
        </p:nvGraphicFramePr>
        <p:xfrm>
          <a:off x="120968" y="2118077"/>
          <a:ext cx="6484016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0502">
                  <a:extLst>
                    <a:ext uri="{9D8B030D-6E8A-4147-A177-3AD203B41FA5}">
                      <a16:colId xmlns:a16="http://schemas.microsoft.com/office/drawing/2014/main" val="2710717584"/>
                    </a:ext>
                  </a:extLst>
                </a:gridCol>
                <a:gridCol w="810502">
                  <a:extLst>
                    <a:ext uri="{9D8B030D-6E8A-4147-A177-3AD203B41FA5}">
                      <a16:colId xmlns:a16="http://schemas.microsoft.com/office/drawing/2014/main" val="2533703282"/>
                    </a:ext>
                  </a:extLst>
                </a:gridCol>
                <a:gridCol w="810502">
                  <a:extLst>
                    <a:ext uri="{9D8B030D-6E8A-4147-A177-3AD203B41FA5}">
                      <a16:colId xmlns:a16="http://schemas.microsoft.com/office/drawing/2014/main" val="4163777030"/>
                    </a:ext>
                  </a:extLst>
                </a:gridCol>
                <a:gridCol w="810502">
                  <a:extLst>
                    <a:ext uri="{9D8B030D-6E8A-4147-A177-3AD203B41FA5}">
                      <a16:colId xmlns:a16="http://schemas.microsoft.com/office/drawing/2014/main" val="2335204118"/>
                    </a:ext>
                  </a:extLst>
                </a:gridCol>
                <a:gridCol w="810502">
                  <a:extLst>
                    <a:ext uri="{9D8B030D-6E8A-4147-A177-3AD203B41FA5}">
                      <a16:colId xmlns:a16="http://schemas.microsoft.com/office/drawing/2014/main" val="1214032186"/>
                    </a:ext>
                  </a:extLst>
                </a:gridCol>
                <a:gridCol w="810502">
                  <a:extLst>
                    <a:ext uri="{9D8B030D-6E8A-4147-A177-3AD203B41FA5}">
                      <a16:colId xmlns:a16="http://schemas.microsoft.com/office/drawing/2014/main" val="4203630629"/>
                    </a:ext>
                  </a:extLst>
                </a:gridCol>
                <a:gridCol w="810502">
                  <a:extLst>
                    <a:ext uri="{9D8B030D-6E8A-4147-A177-3AD203B41FA5}">
                      <a16:colId xmlns:a16="http://schemas.microsoft.com/office/drawing/2014/main" val="3991049913"/>
                    </a:ext>
                  </a:extLst>
                </a:gridCol>
                <a:gridCol w="810502">
                  <a:extLst>
                    <a:ext uri="{9D8B030D-6E8A-4147-A177-3AD203B41FA5}">
                      <a16:colId xmlns:a16="http://schemas.microsoft.com/office/drawing/2014/main" val="2160412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1158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7251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Z(S)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4641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27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9EA58B-C458-4D0C-A5F9-FC89E01E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2CD0B99-8BA1-4AD6-82B6-13B707A244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6418" y="1645157"/>
            <a:ext cx="6819164" cy="475672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DA15E4-DCCB-46F9-9CD4-8259472F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5563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78AF2-D182-44EC-B801-3EC995FEB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4116FC9-D8D0-4499-858E-C212E5574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7839" y="1518130"/>
            <a:ext cx="6976321" cy="483822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C1449A-5415-4536-8805-878C50647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7474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A34BF7-2E7F-4412-A3E6-0F5654A76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B3BDE524-97AB-484A-9B64-56472E235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6096000" cy="4040052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2D0891-0F5D-4CFD-A833-FD0B50B8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14</a:t>
            </a:fld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D969595-B0FE-40C7-B5B2-F75E45FF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48645"/>
            <a:ext cx="6096000" cy="447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75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16997B-E0B7-43A4-8B0D-E60316E19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Experiments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3CD08EF-D2AC-48F8-ADEC-FB50AE9BF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8533" y="1418331"/>
            <a:ext cx="6874934" cy="530314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EAD3FF-FF74-4780-96D3-FBFBD442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2C34A-D3D3-4A9B-8692-9279E332F0C9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1388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511</Words>
  <Application>Microsoft Office PowerPoint</Application>
  <PresentationFormat>寬螢幕</PresentationFormat>
  <Paragraphs>151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源流明體 M</vt:lpstr>
      <vt:lpstr>Arial</vt:lpstr>
      <vt:lpstr>Calibri</vt:lpstr>
      <vt:lpstr>Times New Roman</vt:lpstr>
      <vt:lpstr>Office 佈景主題</vt:lpstr>
      <vt:lpstr>Order preserving pattern matching revisited</vt:lpstr>
      <vt:lpstr>Abstract</vt:lpstr>
      <vt:lpstr>Order Preserving Pattern Matching</vt:lpstr>
      <vt:lpstr>Z-function</vt:lpstr>
      <vt:lpstr>Modified Z-function</vt:lpstr>
      <vt:lpstr>Improvement of Modiﬁed Z-function.</vt:lpstr>
      <vt:lpstr>Time Complexity</vt:lpstr>
      <vt:lpstr>Order Preserving Periods</vt:lpstr>
      <vt:lpstr>Order Preserving Border</vt:lpstr>
      <vt:lpstr>Order Preserving Covers</vt:lpstr>
      <vt:lpstr>Order Preserving Covers</vt:lpstr>
      <vt:lpstr>Experiments</vt:lpstr>
      <vt:lpstr>Experiments</vt:lpstr>
      <vt:lpstr>Experiments</vt:lpstr>
      <vt:lpstr>Experiments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Ting B</dc:creator>
  <cp:lastModifiedBy>Ting B</cp:lastModifiedBy>
  <cp:revision>133</cp:revision>
  <dcterms:created xsi:type="dcterms:W3CDTF">2022-02-13T12:00:20Z</dcterms:created>
  <dcterms:modified xsi:type="dcterms:W3CDTF">2022-03-01T10:14:16Z</dcterms:modified>
</cp:coreProperties>
</file>