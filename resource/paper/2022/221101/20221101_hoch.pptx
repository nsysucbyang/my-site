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75" r:id="rId3"/>
    <p:sldId id="291" r:id="rId4"/>
    <p:sldId id="355" r:id="rId5"/>
    <p:sldId id="358" r:id="rId6"/>
    <p:sldId id="367" r:id="rId7"/>
    <p:sldId id="369" r:id="rId8"/>
    <p:sldId id="371" r:id="rId9"/>
    <p:sldId id="373" r:id="rId10"/>
    <p:sldId id="374"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E8B1032C-EA38-4F05-BA0D-38AFFFC7BED3}" styleName="淺色樣式 3 - 輔色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68D230F3-CF80-4859-8CE7-A43EE81993B5}" styleName="淺色樣式 1 - 輔色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3296810-A885-4BE3-A3E7-6D5BEEA58F35}" styleName="中等深淺樣式 2 - 輔色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中等深淺樣式 2 - 輔色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559" autoAdjust="0"/>
    <p:restoredTop sz="92275" autoAdjust="0"/>
  </p:normalViewPr>
  <p:slideViewPr>
    <p:cSldViewPr snapToGrid="0">
      <p:cViewPr varScale="1">
        <p:scale>
          <a:sx n="67" d="100"/>
          <a:sy n="67" d="100"/>
        </p:scale>
        <p:origin x="852"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2022/11/1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2095354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2022/11/1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31947089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2022/11/1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27342901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D3D1E1DC-9B0B-4445-BE92-0FA02D7ED6E3}" type="datetimeFigureOut">
              <a:rPr lang="zh-TW" altLang="en-US" smtClean="0"/>
              <a:t>2022/11/1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29881314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D3D1E1DC-9B0B-4445-BE92-0FA02D7ED6E3}" type="datetimeFigureOut">
              <a:rPr lang="zh-TW" altLang="en-US" smtClean="0"/>
              <a:t>2022/11/1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4266146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D3D1E1DC-9B0B-4445-BE92-0FA02D7ED6E3}" type="datetimeFigureOut">
              <a:rPr lang="zh-TW" altLang="en-US" smtClean="0"/>
              <a:t>2022/11/1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34785129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D3D1E1DC-9B0B-4445-BE92-0FA02D7ED6E3}" type="datetimeFigureOut">
              <a:rPr lang="zh-TW" altLang="en-US" smtClean="0"/>
              <a:t>2022/11/1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15952894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D3D1E1DC-9B0B-4445-BE92-0FA02D7ED6E3}" type="datetimeFigureOut">
              <a:rPr lang="zh-TW" altLang="en-US" smtClean="0"/>
              <a:t>2022/11/1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28211108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D3D1E1DC-9B0B-4445-BE92-0FA02D7ED6E3}" type="datetimeFigureOut">
              <a:rPr lang="zh-TW" altLang="en-US" smtClean="0"/>
              <a:t>2022/11/1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15593485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2022/11/1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1457136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D3D1E1DC-9B0B-4445-BE92-0FA02D7ED6E3}" type="datetimeFigureOut">
              <a:rPr lang="zh-TW" altLang="en-US" smtClean="0"/>
              <a:t>2022/11/1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31180259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D1E1DC-9B0B-4445-BE92-0FA02D7ED6E3}" type="datetimeFigureOut">
              <a:rPr lang="zh-TW" altLang="en-US" smtClean="0"/>
              <a:t>2022/11/1</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62D488F-C669-486C-8259-33525C253B4F}" type="slidenum">
              <a:rPr lang="zh-TW" altLang="en-US" smtClean="0"/>
              <a:t>‹#›</a:t>
            </a:fld>
            <a:endParaRPr lang="zh-TW" altLang="en-US"/>
          </a:p>
        </p:txBody>
      </p:sp>
    </p:spTree>
    <p:extLst>
      <p:ext uri="{BB962C8B-B14F-4D97-AF65-F5344CB8AC3E}">
        <p14:creationId xmlns:p14="http://schemas.microsoft.com/office/powerpoint/2010/main" val="5784273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552450" y="1101342"/>
            <a:ext cx="11430000" cy="1299561"/>
          </a:xfrm>
        </p:spPr>
        <p:txBody>
          <a:bodyPr>
            <a:normAutofit fontScale="90000"/>
          </a:bodyPr>
          <a:lstStyle/>
          <a:p>
            <a:r>
              <a:rPr lang="en-US" altLang="zh-TW" sz="4800" dirty="0">
                <a:latin typeface="Times New Roman" panose="02020603050405020304" pitchFamily="18" charset="0"/>
                <a:cs typeface="Times New Roman" panose="02020603050405020304" pitchFamily="18" charset="0"/>
              </a:rPr>
              <a:t>Simple Linear Work Suﬃx Array Construction</a:t>
            </a:r>
          </a:p>
        </p:txBody>
      </p:sp>
      <p:sp>
        <p:nvSpPr>
          <p:cNvPr id="4" name="副標題 2"/>
          <p:cNvSpPr>
            <a:spLocks noGrp="1"/>
          </p:cNvSpPr>
          <p:nvPr>
            <p:ph type="subTitle" idx="1"/>
          </p:nvPr>
        </p:nvSpPr>
        <p:spPr>
          <a:xfrm>
            <a:off x="1524000" y="3429000"/>
            <a:ext cx="9269506" cy="2156012"/>
          </a:xfrm>
        </p:spPr>
        <p:txBody>
          <a:bodyPr>
            <a:normAutofit fontScale="92500" lnSpcReduction="10000"/>
          </a:bodyPr>
          <a:lstStyle/>
          <a:p>
            <a:r>
              <a:rPr lang="it-IT" altLang="zh-TW" sz="2800" dirty="0">
                <a:cs typeface="Times New Roman" panose="02020603050405020304" pitchFamily="18" charset="0"/>
              </a:rPr>
              <a:t>J Kärkkäinen, P Sanders</a:t>
            </a:r>
          </a:p>
          <a:p>
            <a:endParaRPr lang="it-IT" altLang="zh-TW" sz="2800" dirty="0">
              <a:cs typeface="Times New Roman" panose="02020603050405020304" pitchFamily="18" charset="0"/>
            </a:endParaRPr>
          </a:p>
          <a:p>
            <a:pPr>
              <a:spcBef>
                <a:spcPts val="479"/>
              </a:spcBef>
              <a:tabLst>
                <a:tab pos="0" algn="l"/>
              </a:tabLst>
            </a:pPr>
            <a:r>
              <a:rPr lang="en-US" altLang="zh-TW" sz="2800" dirty="0"/>
              <a:t>30th International Colloquium, ICALP 2003:</a:t>
            </a:r>
          </a:p>
          <a:p>
            <a:pPr>
              <a:spcBef>
                <a:spcPts val="479"/>
              </a:spcBef>
              <a:tabLst>
                <a:tab pos="0" algn="l"/>
              </a:tabLst>
            </a:pPr>
            <a:r>
              <a:rPr lang="en-US" altLang="zh-TW" sz="2800" dirty="0"/>
              <a:t>Automata, Languages and Programming,</a:t>
            </a:r>
          </a:p>
          <a:p>
            <a:pPr>
              <a:spcBef>
                <a:spcPts val="479"/>
              </a:spcBef>
              <a:tabLst>
                <a:tab pos="0" algn="l"/>
              </a:tabLst>
            </a:pPr>
            <a:r>
              <a:rPr lang="en-US" altLang="zh-TW" sz="2800" dirty="0"/>
              <a:t> Berlin, Germany, June  30 – July 4, 2003</a:t>
            </a:r>
            <a:endParaRPr lang="en-US" altLang="zh-TW" sz="3600" spc="-1" dirty="0">
              <a:solidFill>
                <a:srgbClr val="000000"/>
              </a:solidFill>
            </a:endParaRPr>
          </a:p>
          <a:p>
            <a:pPr algn="ctr">
              <a:spcBef>
                <a:spcPts val="479"/>
              </a:spcBef>
              <a:tabLst>
                <a:tab pos="0" algn="l"/>
              </a:tabLst>
            </a:pPr>
            <a:endParaRPr lang="en-US" altLang="zh-TW" sz="2800" spc="-1" dirty="0">
              <a:solidFill>
                <a:srgbClr val="000000"/>
              </a:solidFill>
            </a:endParaRPr>
          </a:p>
          <a:p>
            <a:endParaRPr lang="en-US" altLang="zh-TW" sz="2800" dirty="0">
              <a:cs typeface="Times New Roman" panose="02020603050405020304" pitchFamily="18" charset="0"/>
            </a:endParaRPr>
          </a:p>
        </p:txBody>
      </p:sp>
      <p:sp>
        <p:nvSpPr>
          <p:cNvPr id="5" name="矩形 1"/>
          <p:cNvSpPr>
            <a:spLocks noChangeArrowheads="1"/>
          </p:cNvSpPr>
          <p:nvPr/>
        </p:nvSpPr>
        <p:spPr bwMode="auto">
          <a:xfrm>
            <a:off x="8883004" y="5876925"/>
            <a:ext cx="2888582"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kumimoji="1" sz="3200">
                <a:solidFill>
                  <a:schemeClr val="tx1"/>
                </a:solidFill>
                <a:latin typeface="Arial" panose="020B0604020202020204" pitchFamily="34" charset="0"/>
                <a:ea typeface="新細明體" panose="02020500000000000000" pitchFamily="18" charset="-120"/>
              </a:defRPr>
            </a:lvl1pPr>
            <a:lvl2pPr marL="742950" indent="-285750">
              <a:spcBef>
                <a:spcPct val="20000"/>
              </a:spcBef>
              <a:buChar char="–"/>
              <a:defRPr kumimoji="1" sz="2800">
                <a:solidFill>
                  <a:schemeClr val="tx1"/>
                </a:solidFill>
                <a:latin typeface="Arial" panose="020B0604020202020204" pitchFamily="34" charset="0"/>
                <a:ea typeface="新細明體" panose="02020500000000000000" pitchFamily="18" charset="-120"/>
              </a:defRPr>
            </a:lvl2pPr>
            <a:lvl3pPr marL="1143000" indent="-228600">
              <a:spcBef>
                <a:spcPct val="20000"/>
              </a:spcBef>
              <a:buChar char="•"/>
              <a:defRPr kumimoji="1" sz="2400">
                <a:solidFill>
                  <a:schemeClr val="tx1"/>
                </a:solidFill>
                <a:latin typeface="Arial" panose="020B0604020202020204" pitchFamily="34" charset="0"/>
                <a:ea typeface="新細明體" panose="02020500000000000000" pitchFamily="18" charset="-120"/>
              </a:defRPr>
            </a:lvl3pPr>
            <a:lvl4pPr marL="16002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4pPr>
            <a:lvl5pPr marL="2057400" indent="-228600">
              <a:spcBef>
                <a:spcPct val="20000"/>
              </a:spcBef>
              <a:buChar char="»"/>
              <a:defRPr kumimoji="1" sz="2000">
                <a:solidFill>
                  <a:schemeClr val="tx1"/>
                </a:solidFill>
                <a:latin typeface="Arial" panose="020B0604020202020204" pitchFamily="34" charset="0"/>
                <a:ea typeface="新細明體" panose="02020500000000000000" pitchFamily="18" charset="-120"/>
              </a:defRPr>
            </a:lvl5pPr>
            <a:lvl6pPr marL="25146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6pPr>
            <a:lvl7pPr marL="29718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7pPr>
            <a:lvl8pPr marL="34290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8pPr>
            <a:lvl9pPr marL="3886200" indent="-228600" eaLnBrk="0" fontAlgn="base" hangingPunct="0">
              <a:spcBef>
                <a:spcPct val="20000"/>
              </a:spcBef>
              <a:spcAft>
                <a:spcPct val="0"/>
              </a:spcAft>
              <a:buChar char="»"/>
              <a:defRPr kumimoji="1" sz="2000">
                <a:solidFill>
                  <a:schemeClr val="tx1"/>
                </a:solidFill>
                <a:latin typeface="Arial" panose="020B0604020202020204" pitchFamily="34" charset="0"/>
                <a:ea typeface="新細明體" panose="02020500000000000000" pitchFamily="18" charset="-120"/>
              </a:defRPr>
            </a:lvl9pPr>
          </a:lstStyle>
          <a:p>
            <a:pPr>
              <a:lnSpc>
                <a:spcPct val="90000"/>
              </a:lnSpc>
              <a:spcBef>
                <a:spcPct val="0"/>
              </a:spcBef>
              <a:buNone/>
            </a:pPr>
            <a:r>
              <a:rPr lang="en-US" altLang="zh-TW" sz="2000" dirty="0">
                <a:latin typeface="Times New Roman" panose="02020603050405020304" pitchFamily="18" charset="0"/>
                <a:cs typeface="Times New Roman" panose="02020603050405020304" pitchFamily="18" charset="0"/>
              </a:rPr>
              <a:t>Presenter: Cheng-Han Ho</a:t>
            </a:r>
          </a:p>
          <a:p>
            <a:pPr>
              <a:lnSpc>
                <a:spcPct val="90000"/>
              </a:lnSpc>
              <a:spcBef>
                <a:spcPct val="0"/>
              </a:spcBef>
              <a:buNone/>
            </a:pPr>
            <a:r>
              <a:rPr lang="en-US" altLang="zh-TW" sz="2000" dirty="0">
                <a:latin typeface="Times New Roman" panose="02020603050405020304" pitchFamily="18" charset="0"/>
                <a:cs typeface="Times New Roman" panose="02020603050405020304" pitchFamily="18" charset="0"/>
              </a:rPr>
              <a:t>Date: Nov. 1, 2022</a:t>
            </a:r>
          </a:p>
        </p:txBody>
      </p:sp>
    </p:spTree>
    <p:extLst>
      <p:ext uri="{BB962C8B-B14F-4D97-AF65-F5344CB8AC3E}">
        <p14:creationId xmlns:p14="http://schemas.microsoft.com/office/powerpoint/2010/main" val="36625050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ED0E71-14AD-4E62-972C-221C5E865D7B}"/>
              </a:ext>
            </a:extLst>
          </p:cNvPr>
          <p:cNvSpPr>
            <a:spLocks noGrp="1"/>
          </p:cNvSpPr>
          <p:nvPr>
            <p:ph type="title"/>
          </p:nvPr>
        </p:nvSpPr>
        <p:spPr>
          <a:xfrm>
            <a:off x="838200" y="365125"/>
            <a:ext cx="10515600" cy="1382395"/>
          </a:xfrm>
        </p:spPr>
        <p:txBody>
          <a:bodyPr/>
          <a:lstStyle/>
          <a:p>
            <a:r>
              <a:rPr lang="en-US" altLang="zh-TW" dirty="0">
                <a:latin typeface="Times New Roman" panose="02020603050405020304" pitchFamily="18" charset="0"/>
                <a:cs typeface="Times New Roman" panose="02020603050405020304" pitchFamily="18" charset="0"/>
              </a:rPr>
              <a:t>Abstract (1/2) </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2A93AAD-D6B7-4CD4-AC92-2D3922F8C487}"/>
              </a:ext>
            </a:extLst>
          </p:cNvPr>
          <p:cNvSpPr>
            <a:spLocks noGrp="1"/>
          </p:cNvSpPr>
          <p:nvPr>
            <p:ph idx="1"/>
          </p:nvPr>
        </p:nvSpPr>
        <p:spPr>
          <a:xfrm>
            <a:off x="838200" y="1747520"/>
            <a:ext cx="11029950" cy="5110480"/>
          </a:xfrm>
        </p:spPr>
        <p:txBody>
          <a:bodyPr>
            <a:normAutofit lnSpcReduction="10000"/>
          </a:bodyPr>
          <a:lstStyle/>
          <a:p>
            <a:r>
              <a:rPr lang="en-US" altLang="zh-TW" sz="3200" dirty="0"/>
              <a:t>A suﬃx array represents the suﬃxes of a string in sorted order. Being a simpler and more compact alternative to suﬃx trees, it is an important tool for full text indexing and other string processing tasks. We introduce the skew algorithm for suﬃx array construction over integer alphabets that can be implemented to run in linear time using integer sorting as its only nontrivial subroutine:</a:t>
            </a:r>
          </a:p>
          <a:p>
            <a:pPr marL="457200" lvl="1" indent="0">
              <a:buNone/>
            </a:pPr>
            <a:r>
              <a:rPr lang="en-US" altLang="zh-TW" sz="3200" dirty="0"/>
              <a:t>1. recursively sort suﬃxes beginning at positions </a:t>
            </a:r>
            <a:r>
              <a:rPr lang="en-US" altLang="zh-TW" sz="3200" dirty="0" err="1"/>
              <a:t>i</a:t>
            </a:r>
            <a:r>
              <a:rPr lang="en-US" altLang="zh-TW" sz="3200" dirty="0"/>
              <a:t> mod 3 = 0.</a:t>
            </a:r>
          </a:p>
          <a:p>
            <a:pPr marL="457200" lvl="1" indent="0">
              <a:buNone/>
            </a:pPr>
            <a:r>
              <a:rPr lang="en-US" altLang="zh-TW" sz="3200" dirty="0"/>
              <a:t>2. sort the remaining suﬃxes using the information obtained in step one.</a:t>
            </a:r>
          </a:p>
          <a:p>
            <a:pPr marL="457200" lvl="1" indent="0">
              <a:buNone/>
            </a:pPr>
            <a:r>
              <a:rPr lang="en-US" altLang="zh-TW" sz="3200" dirty="0"/>
              <a:t>3. merge the two sorted sequences obtained in steps one and two.</a:t>
            </a:r>
          </a:p>
        </p:txBody>
      </p:sp>
    </p:spTree>
    <p:extLst>
      <p:ext uri="{BB962C8B-B14F-4D97-AF65-F5344CB8AC3E}">
        <p14:creationId xmlns:p14="http://schemas.microsoft.com/office/powerpoint/2010/main" val="7733426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2ED0E71-14AD-4E62-972C-221C5E865D7B}"/>
              </a:ext>
            </a:extLst>
          </p:cNvPr>
          <p:cNvSpPr>
            <a:spLocks noGrp="1"/>
          </p:cNvSpPr>
          <p:nvPr>
            <p:ph type="title"/>
          </p:nvPr>
        </p:nvSpPr>
        <p:spPr>
          <a:xfrm>
            <a:off x="838200" y="365125"/>
            <a:ext cx="10515600" cy="1382395"/>
          </a:xfrm>
        </p:spPr>
        <p:txBody>
          <a:bodyPr/>
          <a:lstStyle/>
          <a:p>
            <a:r>
              <a:rPr lang="en-US" altLang="zh-TW" dirty="0">
                <a:latin typeface="Times New Roman" panose="02020603050405020304" pitchFamily="18" charset="0"/>
                <a:cs typeface="Times New Roman" panose="02020603050405020304" pitchFamily="18" charset="0"/>
              </a:rPr>
              <a:t>Abstract (2/2)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02A93AAD-D6B7-4CD4-AC92-2D3922F8C487}"/>
              </a:ext>
            </a:extLst>
          </p:cNvPr>
          <p:cNvSpPr>
            <a:spLocks noGrp="1"/>
          </p:cNvSpPr>
          <p:nvPr>
            <p:ph idx="1"/>
          </p:nvPr>
        </p:nvSpPr>
        <p:spPr>
          <a:xfrm>
            <a:off x="838200" y="1747520"/>
            <a:ext cx="10515600" cy="4745355"/>
          </a:xfrm>
        </p:spPr>
        <p:txBody>
          <a:bodyPr>
            <a:normAutofit/>
          </a:bodyPr>
          <a:lstStyle/>
          <a:p>
            <a:r>
              <a:rPr lang="en-US" altLang="zh-TW" sz="3200" dirty="0"/>
              <a:t>The algorithm is much simpler than previous linear time algorithms that are all based on the more complicated suﬃx tree data structure. Since sorting is a well studied problem, we obtain optimal algorithms for several other models of computation, e.g. external memory with parallel disks, cache oblivious, and parallel. The adaptations for BSP and EREW-PRAM are asymptotically faster than the best previously known</a:t>
            </a:r>
            <a:r>
              <a:rPr lang="zh-TW" altLang="en-US" sz="3200" dirty="0"/>
              <a:t> </a:t>
            </a:r>
            <a:r>
              <a:rPr lang="en-US" altLang="zh-TW" sz="3200" dirty="0"/>
              <a:t>algorithms.</a:t>
            </a:r>
            <a:endParaRPr lang="en-US" altLang="zh-TW"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4767827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A5A1F1-9D22-29BE-3FAF-0BE23A1FE8E5}"/>
              </a:ext>
            </a:extLst>
          </p:cNvPr>
          <p:cNvSpPr>
            <a:spLocks noGrp="1"/>
          </p:cNvSpPr>
          <p:nvPr>
            <p:ph type="title"/>
          </p:nvPr>
        </p:nvSpPr>
        <p:spPr/>
        <p:txBody>
          <a:bodyPr/>
          <a:lstStyle/>
          <a:p>
            <a:r>
              <a:rPr lang="en-US" altLang="zh-TW" dirty="0"/>
              <a:t>Suffix Array (1/2)</a:t>
            </a:r>
            <a:endParaRPr lang="zh-TW" altLang="en-US" dirty="0"/>
          </a:p>
        </p:txBody>
      </p:sp>
      <p:sp>
        <p:nvSpPr>
          <p:cNvPr id="3" name="內容版面配置區 2">
            <a:extLst>
              <a:ext uri="{FF2B5EF4-FFF2-40B4-BE49-F238E27FC236}">
                <a16:creationId xmlns:a16="http://schemas.microsoft.com/office/drawing/2014/main" id="{21403746-298B-6D00-7B7B-8A9A54F8B177}"/>
              </a:ext>
            </a:extLst>
          </p:cNvPr>
          <p:cNvSpPr>
            <a:spLocks noGrp="1"/>
          </p:cNvSpPr>
          <p:nvPr>
            <p:ph idx="1"/>
          </p:nvPr>
        </p:nvSpPr>
        <p:spPr>
          <a:xfrm>
            <a:off x="838200" y="1690688"/>
            <a:ext cx="10515600" cy="4486275"/>
          </a:xfrm>
        </p:spPr>
        <p:txBody>
          <a:bodyPr>
            <a:normAutofit lnSpcReduction="10000"/>
          </a:bodyPr>
          <a:lstStyle/>
          <a:p>
            <a:r>
              <a:rPr lang="en-US" altLang="zh-TW" dirty="0"/>
              <a:t>W = </a:t>
            </a:r>
            <a:r>
              <a:rPr lang="pt-BR" altLang="zh-TW" sz="2800" dirty="0"/>
              <a:t>yabbadabbado</a:t>
            </a:r>
            <a:endParaRPr lang="en-US" altLang="zh-TW" dirty="0"/>
          </a:p>
          <a:p>
            <a:endParaRPr lang="en-US" altLang="zh-TW" dirty="0"/>
          </a:p>
          <a:p>
            <a:r>
              <a:rPr lang="en-US" altLang="zh-TW" dirty="0"/>
              <a:t>SA[0] = </a:t>
            </a:r>
            <a:r>
              <a:rPr lang="pt-BR" altLang="zh-TW" sz="2800" dirty="0"/>
              <a:t>yabbadabbado</a:t>
            </a:r>
            <a:r>
              <a:rPr lang="en-US" altLang="zh-TW" dirty="0"/>
              <a:t>               SA[7] </a:t>
            </a:r>
            <a:r>
              <a:rPr lang="zh-TW" altLang="en-US" dirty="0"/>
              <a:t>  </a:t>
            </a:r>
            <a:r>
              <a:rPr lang="en-US" altLang="zh-TW" dirty="0"/>
              <a:t>= </a:t>
            </a:r>
            <a:r>
              <a:rPr lang="pt-BR" altLang="zh-TW" sz="2800" dirty="0"/>
              <a:t>bbado</a:t>
            </a:r>
            <a:endParaRPr lang="en-US" altLang="zh-TW" dirty="0"/>
          </a:p>
          <a:p>
            <a:r>
              <a:rPr lang="en-US" altLang="zh-TW" dirty="0"/>
              <a:t>SA[1] = </a:t>
            </a:r>
            <a:r>
              <a:rPr lang="pt-BR" altLang="zh-TW" sz="2800" dirty="0"/>
              <a:t>abbadabbado</a:t>
            </a:r>
            <a:r>
              <a:rPr lang="en-US" altLang="zh-TW" dirty="0"/>
              <a:t>                 SA[8] </a:t>
            </a:r>
            <a:r>
              <a:rPr lang="zh-TW" altLang="en-US" dirty="0"/>
              <a:t>  </a:t>
            </a:r>
            <a:r>
              <a:rPr lang="en-US" altLang="zh-TW" dirty="0"/>
              <a:t>= </a:t>
            </a:r>
            <a:r>
              <a:rPr lang="pt-BR" altLang="zh-TW" sz="2800" dirty="0"/>
              <a:t>bado</a:t>
            </a:r>
            <a:endParaRPr lang="en-US" altLang="zh-TW" dirty="0"/>
          </a:p>
          <a:p>
            <a:r>
              <a:rPr lang="en-US" altLang="zh-TW" dirty="0"/>
              <a:t>SA[2] = </a:t>
            </a:r>
            <a:r>
              <a:rPr lang="pt-BR" altLang="zh-TW" sz="2800" dirty="0"/>
              <a:t>bbadabbado</a:t>
            </a:r>
            <a:r>
              <a:rPr lang="en-US" altLang="zh-TW" dirty="0"/>
              <a:t>                   SA[9] </a:t>
            </a:r>
            <a:r>
              <a:rPr lang="zh-TW" altLang="en-US" dirty="0"/>
              <a:t>  </a:t>
            </a:r>
            <a:r>
              <a:rPr lang="en-US" altLang="zh-TW" dirty="0"/>
              <a:t>= </a:t>
            </a:r>
            <a:r>
              <a:rPr lang="pt-BR" altLang="zh-TW" sz="2800" dirty="0"/>
              <a:t>ado</a:t>
            </a:r>
            <a:endParaRPr lang="en-US" altLang="zh-TW" dirty="0"/>
          </a:p>
          <a:p>
            <a:r>
              <a:rPr lang="en-US" altLang="zh-TW" dirty="0"/>
              <a:t>SA[3] = </a:t>
            </a:r>
            <a:r>
              <a:rPr lang="pt-BR" altLang="zh-TW" sz="2800" dirty="0"/>
              <a:t>badabbado</a:t>
            </a:r>
            <a:r>
              <a:rPr lang="en-US" altLang="zh-TW" dirty="0"/>
              <a:t>                     SA[10] =</a:t>
            </a:r>
            <a:r>
              <a:rPr lang="zh-TW" altLang="en-US" dirty="0"/>
              <a:t> </a:t>
            </a:r>
            <a:r>
              <a:rPr lang="pt-BR" altLang="zh-TW" sz="2800" dirty="0"/>
              <a:t>do</a:t>
            </a:r>
            <a:endParaRPr lang="en-US" altLang="zh-TW" dirty="0"/>
          </a:p>
          <a:p>
            <a:r>
              <a:rPr lang="en-US" altLang="zh-TW" dirty="0"/>
              <a:t>SA[4] = </a:t>
            </a:r>
            <a:r>
              <a:rPr lang="pt-BR" altLang="zh-TW" sz="2800" dirty="0"/>
              <a:t>adabbado</a:t>
            </a:r>
            <a:r>
              <a:rPr lang="en-US" altLang="zh-TW" dirty="0"/>
              <a:t>                       SA[11] = </a:t>
            </a:r>
            <a:r>
              <a:rPr lang="pt-BR" altLang="zh-TW" sz="2800" dirty="0"/>
              <a:t>do</a:t>
            </a:r>
            <a:endParaRPr lang="en-US" altLang="zh-TW" dirty="0"/>
          </a:p>
          <a:p>
            <a:r>
              <a:rPr lang="en-US" altLang="zh-TW" dirty="0"/>
              <a:t>SA[5] = </a:t>
            </a:r>
            <a:r>
              <a:rPr lang="pt-BR" altLang="zh-TW" sz="2800" dirty="0"/>
              <a:t>dabbado</a:t>
            </a:r>
            <a:endParaRPr lang="en-US" altLang="zh-TW" dirty="0"/>
          </a:p>
          <a:p>
            <a:r>
              <a:rPr lang="en-US" altLang="zh-TW" dirty="0"/>
              <a:t>SA[6] = </a:t>
            </a:r>
            <a:r>
              <a:rPr lang="pt-BR" altLang="zh-TW" sz="2800" dirty="0"/>
              <a:t>abbado</a:t>
            </a:r>
            <a:endParaRPr lang="en-US" altLang="zh-TW" dirty="0"/>
          </a:p>
          <a:p>
            <a:endParaRPr lang="en-US" altLang="zh-TW" dirty="0"/>
          </a:p>
          <a:p>
            <a:endParaRPr lang="zh-TW" altLang="en-US" dirty="0"/>
          </a:p>
        </p:txBody>
      </p:sp>
    </p:spTree>
    <p:extLst>
      <p:ext uri="{BB962C8B-B14F-4D97-AF65-F5344CB8AC3E}">
        <p14:creationId xmlns:p14="http://schemas.microsoft.com/office/powerpoint/2010/main" val="359526661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8A5A1F1-9D22-29BE-3FAF-0BE23A1FE8E5}"/>
              </a:ext>
            </a:extLst>
          </p:cNvPr>
          <p:cNvSpPr>
            <a:spLocks noGrp="1"/>
          </p:cNvSpPr>
          <p:nvPr>
            <p:ph type="title"/>
          </p:nvPr>
        </p:nvSpPr>
        <p:spPr/>
        <p:txBody>
          <a:bodyPr/>
          <a:lstStyle/>
          <a:p>
            <a:r>
              <a:rPr lang="en-US" altLang="zh-TW" dirty="0"/>
              <a:t>Suffix Array (2/2)</a:t>
            </a:r>
            <a:endParaRPr lang="zh-TW" altLang="en-US" dirty="0"/>
          </a:p>
        </p:txBody>
      </p:sp>
      <p:sp>
        <p:nvSpPr>
          <p:cNvPr id="3" name="內容版面配置區 2">
            <a:extLst>
              <a:ext uri="{FF2B5EF4-FFF2-40B4-BE49-F238E27FC236}">
                <a16:creationId xmlns:a16="http://schemas.microsoft.com/office/drawing/2014/main" id="{21403746-298B-6D00-7B7B-8A9A54F8B177}"/>
              </a:ext>
            </a:extLst>
          </p:cNvPr>
          <p:cNvSpPr>
            <a:spLocks noGrp="1"/>
          </p:cNvSpPr>
          <p:nvPr>
            <p:ph idx="1"/>
          </p:nvPr>
        </p:nvSpPr>
        <p:spPr>
          <a:xfrm>
            <a:off x="838200" y="1690688"/>
            <a:ext cx="10515600" cy="4486275"/>
          </a:xfrm>
        </p:spPr>
        <p:txBody>
          <a:bodyPr>
            <a:normAutofit/>
          </a:bodyPr>
          <a:lstStyle/>
          <a:p>
            <a:r>
              <a:rPr lang="en-US" altLang="zh-TW" dirty="0"/>
              <a:t>W = </a:t>
            </a:r>
            <a:r>
              <a:rPr lang="pt-BR" altLang="zh-TW" sz="2800" dirty="0"/>
              <a:t>yabbadabbado</a:t>
            </a:r>
            <a:endParaRPr lang="en-US" altLang="zh-TW" dirty="0"/>
          </a:p>
          <a:p>
            <a:endParaRPr lang="en-US" altLang="zh-TW" dirty="0"/>
          </a:p>
          <a:p>
            <a:r>
              <a:rPr lang="zh-TW" altLang="en-US" dirty="0"/>
              <a:t>根據</a:t>
            </a:r>
            <a:r>
              <a:rPr lang="zh-TW" altLang="en-US" b="0" i="0" dirty="0">
                <a:solidFill>
                  <a:srgbClr val="FF0000"/>
                </a:solidFill>
                <a:effectLst/>
                <a:latin typeface="arial" panose="020B0604020202020204" pitchFamily="34" charset="0"/>
              </a:rPr>
              <a:t>字典序</a:t>
            </a:r>
            <a:r>
              <a:rPr lang="zh-TW" altLang="en-US" dirty="0"/>
              <a:t>排序</a:t>
            </a:r>
            <a:endParaRPr lang="en-US" altLang="zh-TW" dirty="0"/>
          </a:p>
          <a:p>
            <a:endParaRPr lang="en-US" altLang="zh-TW" dirty="0"/>
          </a:p>
          <a:p>
            <a:endParaRPr lang="en-US" altLang="zh-TW" dirty="0"/>
          </a:p>
          <a:p>
            <a:endParaRPr lang="en-US" altLang="zh-TW" dirty="0"/>
          </a:p>
          <a:p>
            <a:endParaRPr lang="zh-TW" altLang="en-US" dirty="0"/>
          </a:p>
        </p:txBody>
      </p:sp>
      <p:graphicFrame>
        <p:nvGraphicFramePr>
          <p:cNvPr id="6" name="表格 6">
            <a:extLst>
              <a:ext uri="{FF2B5EF4-FFF2-40B4-BE49-F238E27FC236}">
                <a16:creationId xmlns:a16="http://schemas.microsoft.com/office/drawing/2014/main" id="{54FF4CE7-DCF8-A32C-050D-92CFB6916AF8}"/>
              </a:ext>
            </a:extLst>
          </p:cNvPr>
          <p:cNvGraphicFramePr>
            <a:graphicFrameLocks noGrp="1"/>
          </p:cNvGraphicFramePr>
          <p:nvPr>
            <p:extLst>
              <p:ext uri="{D42A27DB-BD31-4B8C-83A1-F6EECF244321}">
                <p14:modId xmlns:p14="http://schemas.microsoft.com/office/powerpoint/2010/main" val="834566248"/>
              </p:ext>
            </p:extLst>
          </p:nvPr>
        </p:nvGraphicFramePr>
        <p:xfrm>
          <a:off x="7595470" y="365125"/>
          <a:ext cx="4320000" cy="5943600"/>
        </p:xfrm>
        <a:graphic>
          <a:graphicData uri="http://schemas.openxmlformats.org/drawingml/2006/table">
            <a:tbl>
              <a:tblPr firstRow="1" bandRow="1">
                <a:tableStyleId>{93296810-A885-4BE3-A3E7-6D5BEEA58F35}</a:tableStyleId>
              </a:tblPr>
              <a:tblGrid>
                <a:gridCol w="1080000">
                  <a:extLst>
                    <a:ext uri="{9D8B030D-6E8A-4147-A177-3AD203B41FA5}">
                      <a16:colId xmlns:a16="http://schemas.microsoft.com/office/drawing/2014/main" val="4293477833"/>
                    </a:ext>
                  </a:extLst>
                </a:gridCol>
                <a:gridCol w="1080000">
                  <a:extLst>
                    <a:ext uri="{9D8B030D-6E8A-4147-A177-3AD203B41FA5}">
                      <a16:colId xmlns:a16="http://schemas.microsoft.com/office/drawing/2014/main" val="3348679993"/>
                    </a:ext>
                  </a:extLst>
                </a:gridCol>
                <a:gridCol w="2160000">
                  <a:extLst>
                    <a:ext uri="{9D8B030D-6E8A-4147-A177-3AD203B41FA5}">
                      <a16:colId xmlns:a16="http://schemas.microsoft.com/office/drawing/2014/main" val="2475924479"/>
                    </a:ext>
                  </a:extLst>
                </a:gridCol>
              </a:tblGrid>
              <a:tr h="370840">
                <a:tc>
                  <a:txBody>
                    <a:bodyPr/>
                    <a:lstStyle/>
                    <a:p>
                      <a:pPr algn="ctr"/>
                      <a:r>
                        <a:rPr lang="en-US" altLang="zh-TW" sz="2400" b="0" dirty="0" err="1">
                          <a:solidFill>
                            <a:schemeClr val="tx1"/>
                          </a:solidFill>
                        </a:rPr>
                        <a:t>i</a:t>
                      </a:r>
                      <a:endParaRPr lang="zh-TW" altLang="en-US" sz="2400" b="0" dirty="0">
                        <a:solidFill>
                          <a:schemeClr val="tx1"/>
                        </a:solidFill>
                      </a:endParaRPr>
                    </a:p>
                  </a:txBody>
                  <a:tcPr>
                    <a:solidFill>
                      <a:schemeClr val="accent3">
                        <a:lumMod val="40000"/>
                        <a:lumOff val="60000"/>
                      </a:schemeClr>
                    </a:solidFill>
                  </a:tcPr>
                </a:tc>
                <a:tc>
                  <a:txBody>
                    <a:bodyPr/>
                    <a:lstStyle/>
                    <a:p>
                      <a:pPr algn="ctr"/>
                      <a:r>
                        <a:rPr lang="en-US" altLang="zh-TW" sz="2400" b="0" dirty="0">
                          <a:solidFill>
                            <a:schemeClr val="tx1"/>
                          </a:solidFill>
                        </a:rPr>
                        <a:t>SA[</a:t>
                      </a:r>
                      <a:r>
                        <a:rPr lang="en-US" altLang="zh-TW" sz="2400" b="0" dirty="0" err="1">
                          <a:solidFill>
                            <a:schemeClr val="tx1"/>
                          </a:solidFill>
                        </a:rPr>
                        <a:t>i</a:t>
                      </a:r>
                      <a:r>
                        <a:rPr lang="en-US" altLang="zh-TW" sz="2400" b="0" dirty="0">
                          <a:solidFill>
                            <a:schemeClr val="tx1"/>
                          </a:solidFill>
                        </a:rPr>
                        <a:t>]</a:t>
                      </a:r>
                      <a:endParaRPr lang="zh-TW" altLang="en-US" sz="2400" b="0" dirty="0">
                        <a:solidFill>
                          <a:schemeClr val="tx1"/>
                        </a:solidFill>
                      </a:endParaRPr>
                    </a:p>
                  </a:txBody>
                  <a:tcPr>
                    <a:solidFill>
                      <a:schemeClr val="accent3">
                        <a:lumMod val="40000"/>
                        <a:lumOff val="60000"/>
                      </a:schemeClr>
                    </a:solidFill>
                  </a:tcPr>
                </a:tc>
                <a:tc>
                  <a:txBody>
                    <a:bodyPr/>
                    <a:lstStyle/>
                    <a:p>
                      <a:pPr algn="ctr"/>
                      <a:r>
                        <a:rPr lang="en-US" altLang="zh-TW" sz="2400" b="0" dirty="0" err="1">
                          <a:solidFill>
                            <a:schemeClr val="tx1"/>
                          </a:solidFill>
                        </a:rPr>
                        <a:t>suf</a:t>
                      </a:r>
                      <a:r>
                        <a:rPr lang="en-US" altLang="zh-TW" sz="2400" b="0" baseline="-25000" dirty="0" err="1">
                          <a:solidFill>
                            <a:schemeClr val="tx1"/>
                          </a:solidFill>
                        </a:rPr>
                        <a:t>SA</a:t>
                      </a:r>
                      <a:r>
                        <a:rPr lang="en-US" altLang="zh-TW" sz="2400" b="0" baseline="-25000" dirty="0">
                          <a:solidFill>
                            <a:schemeClr val="tx1"/>
                          </a:solidFill>
                        </a:rPr>
                        <a:t>[</a:t>
                      </a:r>
                      <a:r>
                        <a:rPr lang="en-US" altLang="zh-TW" sz="2400" b="0" baseline="-25000" dirty="0" err="1">
                          <a:solidFill>
                            <a:schemeClr val="tx1"/>
                          </a:solidFill>
                        </a:rPr>
                        <a:t>i</a:t>
                      </a:r>
                      <a:r>
                        <a:rPr lang="en-US" altLang="zh-TW" sz="2400" b="0" baseline="-25000" dirty="0">
                          <a:solidFill>
                            <a:schemeClr val="tx1"/>
                          </a:solidFill>
                        </a:rPr>
                        <a:t>]</a:t>
                      </a:r>
                      <a:endParaRPr lang="zh-TW" altLang="en-US" sz="2400" b="0" dirty="0">
                        <a:solidFill>
                          <a:schemeClr val="tx1"/>
                        </a:solidFill>
                      </a:endParaRPr>
                    </a:p>
                  </a:txBody>
                  <a:tcPr>
                    <a:solidFill>
                      <a:schemeClr val="accent3">
                        <a:lumMod val="40000"/>
                        <a:lumOff val="60000"/>
                      </a:schemeClr>
                    </a:solidFill>
                  </a:tcPr>
                </a:tc>
                <a:extLst>
                  <a:ext uri="{0D108BD9-81ED-4DB2-BD59-A6C34878D82A}">
                    <a16:rowId xmlns:a16="http://schemas.microsoft.com/office/drawing/2014/main" val="3043186845"/>
                  </a:ext>
                </a:extLst>
              </a:tr>
              <a:tr h="370840">
                <a:tc>
                  <a:txBody>
                    <a:bodyPr/>
                    <a:lstStyle/>
                    <a:p>
                      <a:pPr algn="ctr"/>
                      <a:r>
                        <a:rPr lang="en-US" altLang="zh-TW" sz="2400" dirty="0">
                          <a:solidFill>
                            <a:schemeClr val="tx1"/>
                          </a:solidFill>
                        </a:rPr>
                        <a:t>0</a:t>
                      </a:r>
                      <a:endParaRPr lang="zh-TW" altLang="en-US" sz="2400" dirty="0">
                        <a:solidFill>
                          <a:schemeClr val="tx1"/>
                        </a:solidFill>
                      </a:endParaRPr>
                    </a:p>
                  </a:txBody>
                  <a:tcPr/>
                </a:tc>
                <a:tc>
                  <a:txBody>
                    <a:bodyPr/>
                    <a:lstStyle/>
                    <a:p>
                      <a:pPr algn="ctr"/>
                      <a:r>
                        <a:rPr lang="en-US" altLang="zh-TW" sz="2400" dirty="0">
                          <a:solidFill>
                            <a:schemeClr val="tx1"/>
                          </a:solidFill>
                        </a:rPr>
                        <a:t>1</a:t>
                      </a:r>
                      <a:endParaRPr lang="zh-TW" altLang="en-US" sz="2400" dirty="0">
                        <a:solidFill>
                          <a:schemeClr val="tx1"/>
                        </a:solidFill>
                      </a:endParaRPr>
                    </a:p>
                  </a:txBody>
                  <a:tcPr/>
                </a:tc>
                <a:tc>
                  <a:txBody>
                    <a:bodyPr/>
                    <a:lstStyle/>
                    <a:p>
                      <a:pPr algn="l"/>
                      <a:r>
                        <a:rPr lang="pt-BR" altLang="zh-TW" sz="2400" dirty="0"/>
                        <a:t>abbadabbado</a:t>
                      </a:r>
                      <a:endParaRPr lang="zh-TW" altLang="en-US" sz="2400" dirty="0">
                        <a:solidFill>
                          <a:schemeClr val="tx1"/>
                        </a:solidFill>
                      </a:endParaRPr>
                    </a:p>
                  </a:txBody>
                  <a:tcPr/>
                </a:tc>
                <a:extLst>
                  <a:ext uri="{0D108BD9-81ED-4DB2-BD59-A6C34878D82A}">
                    <a16:rowId xmlns:a16="http://schemas.microsoft.com/office/drawing/2014/main" val="968158447"/>
                  </a:ext>
                </a:extLst>
              </a:tr>
              <a:tr h="370840">
                <a:tc>
                  <a:txBody>
                    <a:bodyPr/>
                    <a:lstStyle/>
                    <a:p>
                      <a:pPr algn="ctr"/>
                      <a:r>
                        <a:rPr lang="en-US" altLang="zh-TW" sz="2400" dirty="0">
                          <a:solidFill>
                            <a:schemeClr val="tx1"/>
                          </a:solidFill>
                        </a:rPr>
                        <a:t>1</a:t>
                      </a:r>
                      <a:endParaRPr lang="zh-TW" altLang="en-US" sz="2400" dirty="0">
                        <a:solidFill>
                          <a:schemeClr val="tx1"/>
                        </a:solidFill>
                      </a:endParaRPr>
                    </a:p>
                  </a:txBody>
                  <a:tcPr/>
                </a:tc>
                <a:tc>
                  <a:txBody>
                    <a:bodyPr/>
                    <a:lstStyle/>
                    <a:p>
                      <a:pPr algn="ctr"/>
                      <a:r>
                        <a:rPr lang="en-US" altLang="zh-TW" sz="2400" dirty="0">
                          <a:solidFill>
                            <a:schemeClr val="tx1"/>
                          </a:solidFill>
                        </a:rPr>
                        <a:t>6</a:t>
                      </a:r>
                      <a:endParaRPr lang="zh-TW" altLang="en-US" sz="2400" dirty="0">
                        <a:solidFill>
                          <a:schemeClr val="tx1"/>
                        </a:solidFill>
                      </a:endParaRPr>
                    </a:p>
                  </a:txBody>
                  <a:tcPr/>
                </a:tc>
                <a:tc>
                  <a:txBody>
                    <a:bodyPr/>
                    <a:lstStyle/>
                    <a:p>
                      <a:pPr algn="l"/>
                      <a:r>
                        <a:rPr lang="pt-BR" altLang="zh-TW" sz="2400" dirty="0"/>
                        <a:t>abbado</a:t>
                      </a:r>
                      <a:endParaRPr lang="zh-TW" altLang="en-US" sz="2400" dirty="0">
                        <a:solidFill>
                          <a:schemeClr val="tx1"/>
                        </a:solidFill>
                      </a:endParaRPr>
                    </a:p>
                  </a:txBody>
                  <a:tcPr/>
                </a:tc>
                <a:extLst>
                  <a:ext uri="{0D108BD9-81ED-4DB2-BD59-A6C34878D82A}">
                    <a16:rowId xmlns:a16="http://schemas.microsoft.com/office/drawing/2014/main" val="66801318"/>
                  </a:ext>
                </a:extLst>
              </a:tr>
              <a:tr h="370840">
                <a:tc>
                  <a:txBody>
                    <a:bodyPr/>
                    <a:lstStyle/>
                    <a:p>
                      <a:pPr algn="ctr"/>
                      <a:r>
                        <a:rPr lang="en-US" altLang="zh-TW" sz="2400" dirty="0">
                          <a:solidFill>
                            <a:schemeClr val="tx1"/>
                          </a:solidFill>
                        </a:rPr>
                        <a:t>2</a:t>
                      </a:r>
                      <a:endParaRPr lang="zh-TW" altLang="en-US" sz="2400" dirty="0">
                        <a:solidFill>
                          <a:schemeClr val="tx1"/>
                        </a:solidFill>
                      </a:endParaRPr>
                    </a:p>
                  </a:txBody>
                  <a:tcPr/>
                </a:tc>
                <a:tc>
                  <a:txBody>
                    <a:bodyPr/>
                    <a:lstStyle/>
                    <a:p>
                      <a:pPr algn="ctr"/>
                      <a:r>
                        <a:rPr lang="en-US" altLang="zh-TW" sz="2400" dirty="0">
                          <a:solidFill>
                            <a:schemeClr val="tx1"/>
                          </a:solidFill>
                        </a:rPr>
                        <a:t>4</a:t>
                      </a:r>
                      <a:endParaRPr lang="zh-TW" altLang="en-US" sz="2400" dirty="0">
                        <a:solidFill>
                          <a:schemeClr val="tx1"/>
                        </a:solidFill>
                      </a:endParaRPr>
                    </a:p>
                  </a:txBody>
                  <a:tcPr/>
                </a:tc>
                <a:tc>
                  <a:txBody>
                    <a:bodyPr/>
                    <a:lstStyle/>
                    <a:p>
                      <a:pPr algn="l"/>
                      <a:r>
                        <a:rPr lang="pt-BR" altLang="zh-TW" sz="2400" dirty="0"/>
                        <a:t>adabbado</a:t>
                      </a:r>
                      <a:endParaRPr lang="zh-TW" altLang="en-US" sz="2400" dirty="0">
                        <a:solidFill>
                          <a:schemeClr val="tx1"/>
                        </a:solidFill>
                      </a:endParaRPr>
                    </a:p>
                  </a:txBody>
                  <a:tcPr/>
                </a:tc>
                <a:extLst>
                  <a:ext uri="{0D108BD9-81ED-4DB2-BD59-A6C34878D82A}">
                    <a16:rowId xmlns:a16="http://schemas.microsoft.com/office/drawing/2014/main" val="1784571754"/>
                  </a:ext>
                </a:extLst>
              </a:tr>
              <a:tr h="370840">
                <a:tc>
                  <a:txBody>
                    <a:bodyPr/>
                    <a:lstStyle/>
                    <a:p>
                      <a:pPr algn="ctr"/>
                      <a:r>
                        <a:rPr lang="en-US" altLang="zh-TW" sz="2400" dirty="0">
                          <a:solidFill>
                            <a:schemeClr val="tx1"/>
                          </a:solidFill>
                        </a:rPr>
                        <a:t>3</a:t>
                      </a:r>
                      <a:endParaRPr lang="zh-TW" altLang="en-US" sz="2400" dirty="0">
                        <a:solidFill>
                          <a:schemeClr val="tx1"/>
                        </a:solidFill>
                      </a:endParaRPr>
                    </a:p>
                  </a:txBody>
                  <a:tcPr/>
                </a:tc>
                <a:tc>
                  <a:txBody>
                    <a:bodyPr/>
                    <a:lstStyle/>
                    <a:p>
                      <a:pPr algn="ctr"/>
                      <a:r>
                        <a:rPr lang="en-US" altLang="zh-TW" sz="2400" dirty="0">
                          <a:solidFill>
                            <a:schemeClr val="tx1"/>
                          </a:solidFill>
                        </a:rPr>
                        <a:t>9</a:t>
                      </a:r>
                      <a:endParaRPr lang="zh-TW" altLang="en-US" sz="2400" dirty="0">
                        <a:solidFill>
                          <a:schemeClr val="tx1"/>
                        </a:solidFill>
                      </a:endParaRPr>
                    </a:p>
                  </a:txBody>
                  <a:tcPr/>
                </a:tc>
                <a:tc>
                  <a:txBody>
                    <a:bodyPr/>
                    <a:lstStyle/>
                    <a:p>
                      <a:pPr algn="l"/>
                      <a:r>
                        <a:rPr lang="pt-BR" altLang="zh-TW" sz="2400" dirty="0"/>
                        <a:t>ado</a:t>
                      </a:r>
                      <a:endParaRPr lang="zh-TW" altLang="en-US" sz="2400" dirty="0">
                        <a:solidFill>
                          <a:schemeClr val="tx1"/>
                        </a:solidFill>
                      </a:endParaRPr>
                    </a:p>
                  </a:txBody>
                  <a:tcPr/>
                </a:tc>
                <a:extLst>
                  <a:ext uri="{0D108BD9-81ED-4DB2-BD59-A6C34878D82A}">
                    <a16:rowId xmlns:a16="http://schemas.microsoft.com/office/drawing/2014/main" val="842322619"/>
                  </a:ext>
                </a:extLst>
              </a:tr>
              <a:tr h="370840">
                <a:tc>
                  <a:txBody>
                    <a:bodyPr/>
                    <a:lstStyle/>
                    <a:p>
                      <a:pPr algn="ctr"/>
                      <a:r>
                        <a:rPr lang="en-US" altLang="zh-TW" sz="2400" dirty="0">
                          <a:solidFill>
                            <a:schemeClr val="tx1"/>
                          </a:solidFill>
                        </a:rPr>
                        <a:t>4</a:t>
                      </a:r>
                      <a:endParaRPr lang="zh-TW" altLang="en-US" sz="2400" dirty="0">
                        <a:solidFill>
                          <a:schemeClr val="tx1"/>
                        </a:solidFill>
                      </a:endParaRPr>
                    </a:p>
                  </a:txBody>
                  <a:tcPr/>
                </a:tc>
                <a:tc>
                  <a:txBody>
                    <a:bodyPr/>
                    <a:lstStyle/>
                    <a:p>
                      <a:pPr algn="ctr"/>
                      <a:r>
                        <a:rPr lang="en-US" altLang="zh-TW" sz="2400" dirty="0">
                          <a:solidFill>
                            <a:schemeClr val="tx1"/>
                          </a:solidFill>
                        </a:rPr>
                        <a:t>3</a:t>
                      </a:r>
                      <a:endParaRPr lang="zh-TW" altLang="en-US" sz="2400" dirty="0">
                        <a:solidFill>
                          <a:schemeClr val="tx1"/>
                        </a:solidFill>
                      </a:endParaRPr>
                    </a:p>
                  </a:txBody>
                  <a:tcPr/>
                </a:tc>
                <a:tc>
                  <a:txBody>
                    <a:bodyPr/>
                    <a:lstStyle/>
                    <a:p>
                      <a:pPr algn="l"/>
                      <a:r>
                        <a:rPr lang="pt-BR" altLang="zh-TW" sz="2400" dirty="0"/>
                        <a:t>badabbado</a:t>
                      </a:r>
                      <a:endParaRPr lang="zh-TW" altLang="en-US" sz="2400" dirty="0">
                        <a:solidFill>
                          <a:schemeClr val="tx1"/>
                        </a:solidFill>
                      </a:endParaRPr>
                    </a:p>
                  </a:txBody>
                  <a:tcPr/>
                </a:tc>
                <a:extLst>
                  <a:ext uri="{0D108BD9-81ED-4DB2-BD59-A6C34878D82A}">
                    <a16:rowId xmlns:a16="http://schemas.microsoft.com/office/drawing/2014/main" val="367849289"/>
                  </a:ext>
                </a:extLst>
              </a:tr>
              <a:tr h="370840">
                <a:tc>
                  <a:txBody>
                    <a:bodyPr/>
                    <a:lstStyle/>
                    <a:p>
                      <a:pPr algn="ctr"/>
                      <a:r>
                        <a:rPr lang="en-US" altLang="zh-TW" sz="2400" dirty="0">
                          <a:solidFill>
                            <a:schemeClr val="tx1"/>
                          </a:solidFill>
                        </a:rPr>
                        <a:t>5</a:t>
                      </a:r>
                      <a:endParaRPr lang="zh-TW" altLang="en-US" sz="2400" dirty="0">
                        <a:solidFill>
                          <a:schemeClr val="tx1"/>
                        </a:solidFill>
                      </a:endParaRPr>
                    </a:p>
                  </a:txBody>
                  <a:tcPr/>
                </a:tc>
                <a:tc>
                  <a:txBody>
                    <a:bodyPr/>
                    <a:lstStyle/>
                    <a:p>
                      <a:pPr algn="ctr"/>
                      <a:r>
                        <a:rPr lang="en-US" altLang="zh-TW" sz="2400" dirty="0">
                          <a:solidFill>
                            <a:schemeClr val="tx1"/>
                          </a:solidFill>
                        </a:rPr>
                        <a:t>8</a:t>
                      </a:r>
                      <a:endParaRPr lang="zh-TW" altLang="en-US" sz="2400" dirty="0">
                        <a:solidFill>
                          <a:schemeClr val="tx1"/>
                        </a:solidFill>
                      </a:endParaRPr>
                    </a:p>
                  </a:txBody>
                  <a:tcPr/>
                </a:tc>
                <a:tc>
                  <a:txBody>
                    <a:bodyPr/>
                    <a:lstStyle/>
                    <a:p>
                      <a:pPr algn="l"/>
                      <a:r>
                        <a:rPr lang="pt-BR" altLang="zh-TW" sz="2400" dirty="0"/>
                        <a:t>bado</a:t>
                      </a:r>
                      <a:endParaRPr lang="zh-TW" altLang="en-US" sz="2400" dirty="0">
                        <a:solidFill>
                          <a:schemeClr val="tx1"/>
                        </a:solidFill>
                      </a:endParaRPr>
                    </a:p>
                  </a:txBody>
                  <a:tcPr/>
                </a:tc>
                <a:extLst>
                  <a:ext uri="{0D108BD9-81ED-4DB2-BD59-A6C34878D82A}">
                    <a16:rowId xmlns:a16="http://schemas.microsoft.com/office/drawing/2014/main" val="3189783199"/>
                  </a:ext>
                </a:extLst>
              </a:tr>
              <a:tr h="370840">
                <a:tc>
                  <a:txBody>
                    <a:bodyPr/>
                    <a:lstStyle/>
                    <a:p>
                      <a:pPr algn="ctr"/>
                      <a:r>
                        <a:rPr lang="en-US" altLang="zh-TW" sz="2400" dirty="0">
                          <a:solidFill>
                            <a:schemeClr val="tx1"/>
                          </a:solidFill>
                        </a:rPr>
                        <a:t>6</a:t>
                      </a:r>
                      <a:endParaRPr lang="zh-TW" altLang="en-US" sz="2400" dirty="0">
                        <a:solidFill>
                          <a:schemeClr val="tx1"/>
                        </a:solidFill>
                      </a:endParaRPr>
                    </a:p>
                  </a:txBody>
                  <a:tcPr/>
                </a:tc>
                <a:tc>
                  <a:txBody>
                    <a:bodyPr/>
                    <a:lstStyle/>
                    <a:p>
                      <a:pPr algn="ctr"/>
                      <a:r>
                        <a:rPr lang="en-US" altLang="zh-TW" sz="2400" dirty="0">
                          <a:solidFill>
                            <a:schemeClr val="tx1"/>
                          </a:solidFill>
                        </a:rPr>
                        <a:t>2</a:t>
                      </a:r>
                      <a:endParaRPr lang="zh-TW" altLang="en-US" sz="2400" dirty="0">
                        <a:solidFill>
                          <a:schemeClr val="tx1"/>
                        </a:solidFill>
                      </a:endParaRPr>
                    </a:p>
                  </a:txBody>
                  <a:tcPr/>
                </a:tc>
                <a:tc>
                  <a:txBody>
                    <a:bodyPr/>
                    <a:lstStyle/>
                    <a:p>
                      <a:pPr algn="l"/>
                      <a:r>
                        <a:rPr lang="pt-BR" altLang="zh-TW" sz="2400" dirty="0"/>
                        <a:t>bbadabbado</a:t>
                      </a:r>
                      <a:endParaRPr lang="zh-TW" altLang="en-US" sz="2400" dirty="0">
                        <a:solidFill>
                          <a:schemeClr val="tx1"/>
                        </a:solidFill>
                      </a:endParaRPr>
                    </a:p>
                  </a:txBody>
                  <a:tcPr/>
                </a:tc>
                <a:extLst>
                  <a:ext uri="{0D108BD9-81ED-4DB2-BD59-A6C34878D82A}">
                    <a16:rowId xmlns:a16="http://schemas.microsoft.com/office/drawing/2014/main" val="3589006111"/>
                  </a:ext>
                </a:extLst>
              </a:tr>
              <a:tr h="370840">
                <a:tc>
                  <a:txBody>
                    <a:bodyPr/>
                    <a:lstStyle/>
                    <a:p>
                      <a:pPr algn="ctr"/>
                      <a:r>
                        <a:rPr lang="en-US" altLang="zh-TW" sz="2400" dirty="0">
                          <a:solidFill>
                            <a:schemeClr val="tx1"/>
                          </a:solidFill>
                        </a:rPr>
                        <a:t>7</a:t>
                      </a:r>
                      <a:endParaRPr lang="zh-TW" altLang="en-US" sz="2400" dirty="0">
                        <a:solidFill>
                          <a:schemeClr val="tx1"/>
                        </a:solidFill>
                      </a:endParaRPr>
                    </a:p>
                  </a:txBody>
                  <a:tcPr/>
                </a:tc>
                <a:tc>
                  <a:txBody>
                    <a:bodyPr/>
                    <a:lstStyle/>
                    <a:p>
                      <a:pPr algn="ctr"/>
                      <a:r>
                        <a:rPr lang="en-US" altLang="zh-TW" sz="2400" dirty="0">
                          <a:solidFill>
                            <a:schemeClr val="tx1"/>
                          </a:solidFill>
                        </a:rPr>
                        <a:t>7</a:t>
                      </a:r>
                      <a:endParaRPr lang="zh-TW" altLang="en-US" sz="2400" dirty="0">
                        <a:solidFill>
                          <a:schemeClr val="tx1"/>
                        </a:solidFill>
                      </a:endParaRPr>
                    </a:p>
                  </a:txBody>
                  <a:tcPr/>
                </a:tc>
                <a:tc>
                  <a:txBody>
                    <a:bodyPr/>
                    <a:lstStyle/>
                    <a:p>
                      <a:pPr algn="l"/>
                      <a:r>
                        <a:rPr lang="pt-BR" altLang="zh-TW" sz="2400" dirty="0"/>
                        <a:t>bbado</a:t>
                      </a:r>
                      <a:endParaRPr lang="zh-TW" altLang="en-US" sz="2400" dirty="0">
                        <a:solidFill>
                          <a:schemeClr val="tx1"/>
                        </a:solidFill>
                      </a:endParaRPr>
                    </a:p>
                  </a:txBody>
                  <a:tcPr/>
                </a:tc>
                <a:extLst>
                  <a:ext uri="{0D108BD9-81ED-4DB2-BD59-A6C34878D82A}">
                    <a16:rowId xmlns:a16="http://schemas.microsoft.com/office/drawing/2014/main" val="108170945"/>
                  </a:ext>
                </a:extLst>
              </a:tr>
              <a:tr h="370840">
                <a:tc>
                  <a:txBody>
                    <a:bodyPr/>
                    <a:lstStyle/>
                    <a:p>
                      <a:pPr algn="ctr"/>
                      <a:r>
                        <a:rPr lang="en-US" altLang="zh-TW" sz="2400" dirty="0">
                          <a:solidFill>
                            <a:schemeClr val="tx1"/>
                          </a:solidFill>
                        </a:rPr>
                        <a:t>8</a:t>
                      </a:r>
                      <a:endParaRPr lang="zh-TW" altLang="en-US" sz="2400" dirty="0">
                        <a:solidFill>
                          <a:schemeClr val="tx1"/>
                        </a:solidFill>
                      </a:endParaRPr>
                    </a:p>
                  </a:txBody>
                  <a:tcPr/>
                </a:tc>
                <a:tc>
                  <a:txBody>
                    <a:bodyPr/>
                    <a:lstStyle/>
                    <a:p>
                      <a:pPr algn="ctr"/>
                      <a:r>
                        <a:rPr lang="en-US" altLang="zh-TW" sz="2400" dirty="0">
                          <a:solidFill>
                            <a:schemeClr val="tx1"/>
                          </a:solidFill>
                        </a:rPr>
                        <a:t>5</a:t>
                      </a:r>
                      <a:endParaRPr lang="zh-TW" altLang="en-US" sz="2400" dirty="0">
                        <a:solidFill>
                          <a:schemeClr val="tx1"/>
                        </a:solidFill>
                      </a:endParaRPr>
                    </a:p>
                  </a:txBody>
                  <a:tcPr/>
                </a:tc>
                <a:tc>
                  <a:txBody>
                    <a:bodyPr/>
                    <a:lstStyle/>
                    <a:p>
                      <a:pPr algn="l"/>
                      <a:r>
                        <a:rPr lang="pt-BR" altLang="zh-TW" sz="2400" dirty="0"/>
                        <a:t>dabbado</a:t>
                      </a:r>
                      <a:endParaRPr lang="zh-TW" altLang="en-US" sz="2400" dirty="0">
                        <a:solidFill>
                          <a:schemeClr val="tx1"/>
                        </a:solidFill>
                      </a:endParaRPr>
                    </a:p>
                  </a:txBody>
                  <a:tcPr/>
                </a:tc>
                <a:extLst>
                  <a:ext uri="{0D108BD9-81ED-4DB2-BD59-A6C34878D82A}">
                    <a16:rowId xmlns:a16="http://schemas.microsoft.com/office/drawing/2014/main" val="89753937"/>
                  </a:ext>
                </a:extLst>
              </a:tr>
              <a:tr h="370840">
                <a:tc>
                  <a:txBody>
                    <a:bodyPr/>
                    <a:lstStyle/>
                    <a:p>
                      <a:pPr algn="ctr"/>
                      <a:r>
                        <a:rPr lang="en-US" altLang="zh-TW" sz="2400" dirty="0">
                          <a:solidFill>
                            <a:schemeClr val="tx1"/>
                          </a:solidFill>
                        </a:rPr>
                        <a:t>9</a:t>
                      </a:r>
                      <a:endParaRPr lang="zh-TW" altLang="en-US" sz="2400" dirty="0">
                        <a:solidFill>
                          <a:schemeClr val="tx1"/>
                        </a:solidFill>
                      </a:endParaRPr>
                    </a:p>
                  </a:txBody>
                  <a:tcPr/>
                </a:tc>
                <a:tc>
                  <a:txBody>
                    <a:bodyPr/>
                    <a:lstStyle/>
                    <a:p>
                      <a:pPr algn="ctr"/>
                      <a:r>
                        <a:rPr lang="en-US" altLang="zh-TW" sz="2400" dirty="0">
                          <a:solidFill>
                            <a:schemeClr val="tx1"/>
                          </a:solidFill>
                        </a:rPr>
                        <a:t>10</a:t>
                      </a:r>
                      <a:endParaRPr lang="zh-TW" altLang="en-US" sz="2400" dirty="0">
                        <a:solidFill>
                          <a:schemeClr val="tx1"/>
                        </a:solidFill>
                      </a:endParaRPr>
                    </a:p>
                  </a:txBody>
                  <a:tcPr/>
                </a:tc>
                <a:tc>
                  <a:txBody>
                    <a:bodyPr/>
                    <a:lstStyle/>
                    <a:p>
                      <a:pPr algn="l"/>
                      <a:r>
                        <a:rPr lang="pt-BR" altLang="zh-TW" sz="2400" dirty="0"/>
                        <a:t>do</a:t>
                      </a:r>
                      <a:endParaRPr lang="zh-TW" altLang="en-US" sz="2400" dirty="0">
                        <a:solidFill>
                          <a:schemeClr val="tx1"/>
                        </a:solidFill>
                      </a:endParaRPr>
                    </a:p>
                  </a:txBody>
                  <a:tcPr/>
                </a:tc>
                <a:extLst>
                  <a:ext uri="{0D108BD9-81ED-4DB2-BD59-A6C34878D82A}">
                    <a16:rowId xmlns:a16="http://schemas.microsoft.com/office/drawing/2014/main" val="1404756939"/>
                  </a:ext>
                </a:extLst>
              </a:tr>
              <a:tr h="370840">
                <a:tc>
                  <a:txBody>
                    <a:bodyPr/>
                    <a:lstStyle/>
                    <a:p>
                      <a:pPr algn="ctr"/>
                      <a:r>
                        <a:rPr lang="en-US" altLang="zh-TW" sz="2400" dirty="0">
                          <a:solidFill>
                            <a:schemeClr val="tx1"/>
                          </a:solidFill>
                        </a:rPr>
                        <a:t>10</a:t>
                      </a:r>
                      <a:endParaRPr lang="zh-TW" altLang="en-US" sz="2400" dirty="0">
                        <a:solidFill>
                          <a:schemeClr val="tx1"/>
                        </a:solidFill>
                      </a:endParaRPr>
                    </a:p>
                  </a:txBody>
                  <a:tcPr/>
                </a:tc>
                <a:tc>
                  <a:txBody>
                    <a:bodyPr/>
                    <a:lstStyle/>
                    <a:p>
                      <a:pPr algn="ctr"/>
                      <a:r>
                        <a:rPr lang="en-US" altLang="zh-TW" sz="2400" dirty="0">
                          <a:solidFill>
                            <a:schemeClr val="tx1"/>
                          </a:solidFill>
                        </a:rPr>
                        <a:t>11</a:t>
                      </a:r>
                      <a:endParaRPr lang="zh-TW" altLang="en-US" sz="2400" dirty="0">
                        <a:solidFill>
                          <a:schemeClr val="tx1"/>
                        </a:solidFill>
                      </a:endParaRPr>
                    </a:p>
                  </a:txBody>
                  <a:tcPr/>
                </a:tc>
                <a:tc>
                  <a:txBody>
                    <a:bodyPr/>
                    <a:lstStyle/>
                    <a:p>
                      <a:pPr algn="l"/>
                      <a:r>
                        <a:rPr lang="pt-BR" altLang="zh-TW" sz="2400" dirty="0"/>
                        <a:t>o</a:t>
                      </a:r>
                      <a:endParaRPr lang="zh-TW" altLang="en-US" sz="2400" dirty="0">
                        <a:solidFill>
                          <a:schemeClr val="tx1"/>
                        </a:solidFill>
                      </a:endParaRPr>
                    </a:p>
                  </a:txBody>
                  <a:tcPr/>
                </a:tc>
                <a:extLst>
                  <a:ext uri="{0D108BD9-81ED-4DB2-BD59-A6C34878D82A}">
                    <a16:rowId xmlns:a16="http://schemas.microsoft.com/office/drawing/2014/main" val="1650676281"/>
                  </a:ext>
                </a:extLst>
              </a:tr>
              <a:tr h="370840">
                <a:tc>
                  <a:txBody>
                    <a:bodyPr/>
                    <a:lstStyle/>
                    <a:p>
                      <a:pPr algn="ctr"/>
                      <a:r>
                        <a:rPr lang="en-US" altLang="zh-TW" sz="2400" dirty="0">
                          <a:solidFill>
                            <a:schemeClr val="tx1"/>
                          </a:solidFill>
                        </a:rPr>
                        <a:t>11</a:t>
                      </a:r>
                      <a:endParaRPr lang="zh-TW" altLang="en-US" sz="2400" dirty="0">
                        <a:solidFill>
                          <a:schemeClr val="tx1"/>
                        </a:solidFill>
                      </a:endParaRPr>
                    </a:p>
                  </a:txBody>
                  <a:tcPr/>
                </a:tc>
                <a:tc>
                  <a:txBody>
                    <a:bodyPr/>
                    <a:lstStyle/>
                    <a:p>
                      <a:pPr algn="ctr"/>
                      <a:r>
                        <a:rPr lang="en-US" altLang="zh-TW" sz="2400" dirty="0">
                          <a:solidFill>
                            <a:schemeClr val="tx1"/>
                          </a:solidFill>
                        </a:rPr>
                        <a:t>0</a:t>
                      </a:r>
                      <a:endParaRPr lang="zh-TW" altLang="en-US" sz="2400" dirty="0">
                        <a:solidFill>
                          <a:schemeClr val="tx1"/>
                        </a:solidFill>
                      </a:endParaRPr>
                    </a:p>
                  </a:txBody>
                  <a:tcPr/>
                </a:tc>
                <a:tc>
                  <a:txBody>
                    <a:bodyPr/>
                    <a:lstStyle/>
                    <a:p>
                      <a:pPr algn="l"/>
                      <a:r>
                        <a:rPr lang="pt-BR" altLang="zh-TW" sz="2400" dirty="0"/>
                        <a:t>yabbadabbado</a:t>
                      </a:r>
                      <a:endParaRPr lang="zh-TW" altLang="en-US" sz="2400" dirty="0">
                        <a:solidFill>
                          <a:schemeClr val="tx1"/>
                        </a:solidFill>
                      </a:endParaRPr>
                    </a:p>
                  </a:txBody>
                  <a:tcPr/>
                </a:tc>
                <a:extLst>
                  <a:ext uri="{0D108BD9-81ED-4DB2-BD59-A6C34878D82A}">
                    <a16:rowId xmlns:a16="http://schemas.microsoft.com/office/drawing/2014/main" val="3764040388"/>
                  </a:ext>
                </a:extLst>
              </a:tr>
            </a:tbl>
          </a:graphicData>
        </a:graphic>
      </p:graphicFrame>
    </p:spTree>
    <p:extLst>
      <p:ext uri="{BB962C8B-B14F-4D97-AF65-F5344CB8AC3E}">
        <p14:creationId xmlns:p14="http://schemas.microsoft.com/office/powerpoint/2010/main" val="17731006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A2D2D7-9727-97A4-FC80-0B9A9D78D44E}"/>
              </a:ext>
            </a:extLst>
          </p:cNvPr>
          <p:cNvSpPr>
            <a:spLocks noGrp="1"/>
          </p:cNvSpPr>
          <p:nvPr>
            <p:ph type="title"/>
          </p:nvPr>
        </p:nvSpPr>
        <p:spPr>
          <a:xfrm>
            <a:off x="838200" y="365125"/>
            <a:ext cx="11022106" cy="1325563"/>
          </a:xfrm>
        </p:spPr>
        <p:txBody>
          <a:bodyPr/>
          <a:lstStyle/>
          <a:p>
            <a:r>
              <a:rPr lang="en-US" altLang="zh-TW" dirty="0"/>
              <a:t>algorithm</a:t>
            </a:r>
            <a:endParaRPr lang="zh-TW" altLang="en-US" dirty="0"/>
          </a:p>
        </p:txBody>
      </p:sp>
      <p:sp>
        <p:nvSpPr>
          <p:cNvPr id="3" name="內容版面配置區 2">
            <a:extLst>
              <a:ext uri="{FF2B5EF4-FFF2-40B4-BE49-F238E27FC236}">
                <a16:creationId xmlns:a16="http://schemas.microsoft.com/office/drawing/2014/main" id="{A019C88F-F1C9-95B6-6D86-23C5334A452C}"/>
              </a:ext>
            </a:extLst>
          </p:cNvPr>
          <p:cNvSpPr>
            <a:spLocks noGrp="1"/>
          </p:cNvSpPr>
          <p:nvPr>
            <p:ph idx="1"/>
          </p:nvPr>
        </p:nvSpPr>
        <p:spPr/>
        <p:txBody>
          <a:bodyPr/>
          <a:lstStyle/>
          <a:p>
            <a:r>
              <a:rPr lang="zh-TW" altLang="en-US" dirty="0"/>
              <a:t>使用 </a:t>
            </a:r>
            <a:r>
              <a:rPr lang="en-US" altLang="zh-TW" dirty="0">
                <a:solidFill>
                  <a:srgbClr val="FF0000"/>
                </a:solidFill>
              </a:rPr>
              <a:t>divide-and-conquer</a:t>
            </a:r>
            <a:r>
              <a:rPr lang="zh-TW" altLang="en-US" dirty="0"/>
              <a:t> 找 </a:t>
            </a:r>
            <a:r>
              <a:rPr lang="en-US" altLang="zh-TW" dirty="0"/>
              <a:t>suffix array</a:t>
            </a:r>
            <a:endParaRPr lang="zh-TW" altLang="en-US" dirty="0"/>
          </a:p>
        </p:txBody>
      </p:sp>
    </p:spTree>
    <p:extLst>
      <p:ext uri="{BB962C8B-B14F-4D97-AF65-F5344CB8AC3E}">
        <p14:creationId xmlns:p14="http://schemas.microsoft.com/office/powerpoint/2010/main" val="3954136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019C88F-F1C9-95B6-6D86-23C5334A452C}"/>
              </a:ext>
            </a:extLst>
          </p:cNvPr>
          <p:cNvSpPr>
            <a:spLocks noGrp="1"/>
          </p:cNvSpPr>
          <p:nvPr>
            <p:ph idx="1"/>
          </p:nvPr>
        </p:nvSpPr>
        <p:spPr>
          <a:xfrm>
            <a:off x="838200" y="447955"/>
            <a:ext cx="10515600" cy="4351338"/>
          </a:xfrm>
        </p:spPr>
        <p:txBody>
          <a:bodyPr/>
          <a:lstStyle/>
          <a:p>
            <a:r>
              <a:rPr lang="en-US" altLang="zh-TW" dirty="0">
                <a:solidFill>
                  <a:srgbClr val="FF0000"/>
                </a:solidFill>
              </a:rPr>
              <a:t>Step.1</a:t>
            </a:r>
            <a:r>
              <a:rPr lang="en-US" altLang="zh-TW" dirty="0"/>
              <a:t> </a:t>
            </a:r>
            <a:r>
              <a:rPr lang="zh-TW" altLang="en-US" dirty="0"/>
              <a:t>建立 </a:t>
            </a:r>
            <a:r>
              <a:rPr lang="en-US" altLang="zh-TW" i="1" dirty="0" err="1"/>
              <a:t>i</a:t>
            </a:r>
            <a:r>
              <a:rPr lang="en-US" altLang="zh-TW" dirty="0"/>
              <a:t> mod3 </a:t>
            </a:r>
            <a:r>
              <a:rPr lang="zh-TW" altLang="en-US" b="0" i="0" dirty="0">
                <a:effectLst/>
                <a:latin typeface="arial" panose="020B0604020202020204" pitchFamily="34" charset="0"/>
              </a:rPr>
              <a:t>≠</a:t>
            </a:r>
            <a:r>
              <a:rPr lang="en-US" altLang="zh-TW" dirty="0"/>
              <a:t> 0</a:t>
            </a:r>
            <a:r>
              <a:rPr lang="zh-TW" altLang="en-US" dirty="0"/>
              <a:t> 的 </a:t>
            </a:r>
            <a:r>
              <a:rPr lang="en-US" altLang="zh-TW" dirty="0"/>
              <a:t>suffix array</a:t>
            </a:r>
          </a:p>
          <a:p>
            <a:endParaRPr lang="en-US" altLang="zh-TW" dirty="0"/>
          </a:p>
          <a:p>
            <a:endParaRPr lang="zh-TW" altLang="en-US" dirty="0"/>
          </a:p>
        </p:txBody>
      </p:sp>
      <p:graphicFrame>
        <p:nvGraphicFramePr>
          <p:cNvPr id="4" name="表格 4">
            <a:extLst>
              <a:ext uri="{FF2B5EF4-FFF2-40B4-BE49-F238E27FC236}">
                <a16:creationId xmlns:a16="http://schemas.microsoft.com/office/drawing/2014/main" id="{E5ACF623-BD5C-236C-EC75-92F0134CB009}"/>
              </a:ext>
            </a:extLst>
          </p:cNvPr>
          <p:cNvGraphicFramePr>
            <a:graphicFrameLocks noGrp="1"/>
          </p:cNvGraphicFramePr>
          <p:nvPr>
            <p:extLst>
              <p:ext uri="{D42A27DB-BD31-4B8C-83A1-F6EECF244321}">
                <p14:modId xmlns:p14="http://schemas.microsoft.com/office/powerpoint/2010/main" val="434877048"/>
              </p:ext>
            </p:extLst>
          </p:nvPr>
        </p:nvGraphicFramePr>
        <p:xfrm>
          <a:off x="363070" y="1500281"/>
          <a:ext cx="8604000" cy="914400"/>
        </p:xfrm>
        <a:graphic>
          <a:graphicData uri="http://schemas.openxmlformats.org/drawingml/2006/table">
            <a:tbl>
              <a:tblPr firstRow="1" bandRow="1">
                <a:tableStyleId>{E8B1032C-EA38-4F05-BA0D-38AFFFC7BED3}</a:tableStyleId>
              </a:tblPr>
              <a:tblGrid>
                <a:gridCol w="828000">
                  <a:extLst>
                    <a:ext uri="{9D8B030D-6E8A-4147-A177-3AD203B41FA5}">
                      <a16:colId xmlns:a16="http://schemas.microsoft.com/office/drawing/2014/main" val="3687563117"/>
                    </a:ext>
                  </a:extLst>
                </a:gridCol>
                <a:gridCol w="648000">
                  <a:extLst>
                    <a:ext uri="{9D8B030D-6E8A-4147-A177-3AD203B41FA5}">
                      <a16:colId xmlns:a16="http://schemas.microsoft.com/office/drawing/2014/main" val="3458925501"/>
                    </a:ext>
                  </a:extLst>
                </a:gridCol>
                <a:gridCol w="648000">
                  <a:extLst>
                    <a:ext uri="{9D8B030D-6E8A-4147-A177-3AD203B41FA5}">
                      <a16:colId xmlns:a16="http://schemas.microsoft.com/office/drawing/2014/main" val="4030832065"/>
                    </a:ext>
                  </a:extLst>
                </a:gridCol>
                <a:gridCol w="648000">
                  <a:extLst>
                    <a:ext uri="{9D8B030D-6E8A-4147-A177-3AD203B41FA5}">
                      <a16:colId xmlns:a16="http://schemas.microsoft.com/office/drawing/2014/main" val="1724438594"/>
                    </a:ext>
                  </a:extLst>
                </a:gridCol>
                <a:gridCol w="648000">
                  <a:extLst>
                    <a:ext uri="{9D8B030D-6E8A-4147-A177-3AD203B41FA5}">
                      <a16:colId xmlns:a16="http://schemas.microsoft.com/office/drawing/2014/main" val="4209229924"/>
                    </a:ext>
                  </a:extLst>
                </a:gridCol>
                <a:gridCol w="648000">
                  <a:extLst>
                    <a:ext uri="{9D8B030D-6E8A-4147-A177-3AD203B41FA5}">
                      <a16:colId xmlns:a16="http://schemas.microsoft.com/office/drawing/2014/main" val="2908390315"/>
                    </a:ext>
                  </a:extLst>
                </a:gridCol>
                <a:gridCol w="648000">
                  <a:extLst>
                    <a:ext uri="{9D8B030D-6E8A-4147-A177-3AD203B41FA5}">
                      <a16:colId xmlns:a16="http://schemas.microsoft.com/office/drawing/2014/main" val="1002060645"/>
                    </a:ext>
                  </a:extLst>
                </a:gridCol>
                <a:gridCol w="648000">
                  <a:extLst>
                    <a:ext uri="{9D8B030D-6E8A-4147-A177-3AD203B41FA5}">
                      <a16:colId xmlns:a16="http://schemas.microsoft.com/office/drawing/2014/main" val="2341577556"/>
                    </a:ext>
                  </a:extLst>
                </a:gridCol>
                <a:gridCol w="648000">
                  <a:extLst>
                    <a:ext uri="{9D8B030D-6E8A-4147-A177-3AD203B41FA5}">
                      <a16:colId xmlns:a16="http://schemas.microsoft.com/office/drawing/2014/main" val="476296480"/>
                    </a:ext>
                  </a:extLst>
                </a:gridCol>
                <a:gridCol w="648000">
                  <a:extLst>
                    <a:ext uri="{9D8B030D-6E8A-4147-A177-3AD203B41FA5}">
                      <a16:colId xmlns:a16="http://schemas.microsoft.com/office/drawing/2014/main" val="1461677071"/>
                    </a:ext>
                  </a:extLst>
                </a:gridCol>
                <a:gridCol w="648000">
                  <a:extLst>
                    <a:ext uri="{9D8B030D-6E8A-4147-A177-3AD203B41FA5}">
                      <a16:colId xmlns:a16="http://schemas.microsoft.com/office/drawing/2014/main" val="2307505867"/>
                    </a:ext>
                  </a:extLst>
                </a:gridCol>
                <a:gridCol w="648000">
                  <a:extLst>
                    <a:ext uri="{9D8B030D-6E8A-4147-A177-3AD203B41FA5}">
                      <a16:colId xmlns:a16="http://schemas.microsoft.com/office/drawing/2014/main" val="886355715"/>
                    </a:ext>
                  </a:extLst>
                </a:gridCol>
                <a:gridCol w="648000">
                  <a:extLst>
                    <a:ext uri="{9D8B030D-6E8A-4147-A177-3AD203B41FA5}">
                      <a16:colId xmlns:a16="http://schemas.microsoft.com/office/drawing/2014/main" val="4061749657"/>
                    </a:ext>
                  </a:extLst>
                </a:gridCol>
              </a:tblGrid>
              <a:tr h="288000">
                <a:tc>
                  <a:txBody>
                    <a:bodyPr/>
                    <a:lstStyle/>
                    <a:p>
                      <a:pPr algn="ctr"/>
                      <a:r>
                        <a:rPr lang="en-US" altLang="zh-TW" sz="2400" b="0" dirty="0" err="1"/>
                        <a:t>i</a:t>
                      </a:r>
                      <a:endParaRPr lang="zh-TW" altLang="en-US" sz="2400" b="0" dirty="0"/>
                    </a:p>
                  </a:txBody>
                  <a:tcPr>
                    <a:solidFill>
                      <a:schemeClr val="bg2"/>
                    </a:solidFill>
                  </a:tcPr>
                </a:tc>
                <a:tc>
                  <a:txBody>
                    <a:bodyPr/>
                    <a:lstStyle/>
                    <a:p>
                      <a:pPr algn="ctr"/>
                      <a:r>
                        <a:rPr lang="en-US" altLang="zh-TW" sz="2400" b="0" dirty="0"/>
                        <a:t>0</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solidFill>
                      <a:schemeClr val="bg2"/>
                    </a:solidFill>
                  </a:tcPr>
                </a:tc>
                <a:tc>
                  <a:txBody>
                    <a:bodyPr/>
                    <a:lstStyle/>
                    <a:p>
                      <a:pPr algn="ctr"/>
                      <a:r>
                        <a:rPr lang="en-US" altLang="zh-TW" sz="2400" b="0" dirty="0"/>
                        <a:t>2</a:t>
                      </a:r>
                      <a:endParaRPr lang="zh-TW" altLang="en-US" sz="2400" b="0" dirty="0"/>
                    </a:p>
                  </a:txBody>
                  <a:tcPr>
                    <a:solidFill>
                      <a:schemeClr val="bg2"/>
                    </a:solidFill>
                  </a:tcPr>
                </a:tc>
                <a:tc>
                  <a:txBody>
                    <a:bodyPr/>
                    <a:lstStyle/>
                    <a:p>
                      <a:pPr algn="ctr"/>
                      <a:r>
                        <a:rPr lang="en-US" altLang="zh-TW" sz="2400" b="0" dirty="0"/>
                        <a:t>3</a:t>
                      </a:r>
                      <a:endParaRPr lang="zh-TW" altLang="en-US" sz="2400" b="0" dirty="0"/>
                    </a:p>
                  </a:txBody>
                  <a:tcPr>
                    <a:solidFill>
                      <a:schemeClr val="bg2"/>
                    </a:solidFill>
                  </a:tcPr>
                </a:tc>
                <a:tc>
                  <a:txBody>
                    <a:bodyPr/>
                    <a:lstStyle/>
                    <a:p>
                      <a:pPr algn="ctr"/>
                      <a:r>
                        <a:rPr lang="en-US" altLang="zh-TW" sz="2400" b="0" dirty="0"/>
                        <a:t>4</a:t>
                      </a:r>
                      <a:endParaRPr lang="zh-TW" altLang="en-US" sz="2400" b="0" dirty="0"/>
                    </a:p>
                  </a:txBody>
                  <a:tcPr>
                    <a:solidFill>
                      <a:schemeClr val="bg2"/>
                    </a:solidFill>
                  </a:tcPr>
                </a:tc>
                <a:tc>
                  <a:txBody>
                    <a:bodyPr/>
                    <a:lstStyle/>
                    <a:p>
                      <a:pPr algn="ctr"/>
                      <a:r>
                        <a:rPr lang="en-US" altLang="zh-TW" sz="2400" b="0" dirty="0"/>
                        <a:t>5</a:t>
                      </a:r>
                      <a:endParaRPr lang="zh-TW" altLang="en-US" sz="2400" b="0" dirty="0"/>
                    </a:p>
                  </a:txBody>
                  <a:tcPr>
                    <a:solidFill>
                      <a:schemeClr val="bg2"/>
                    </a:solidFill>
                  </a:tcPr>
                </a:tc>
                <a:tc>
                  <a:txBody>
                    <a:bodyPr/>
                    <a:lstStyle/>
                    <a:p>
                      <a:pPr algn="ctr"/>
                      <a:r>
                        <a:rPr lang="en-US" altLang="zh-TW" sz="2400" b="0" dirty="0"/>
                        <a:t>6</a:t>
                      </a:r>
                      <a:endParaRPr lang="zh-TW" altLang="en-US" sz="2400" b="0" dirty="0"/>
                    </a:p>
                  </a:txBody>
                  <a:tcPr>
                    <a:solidFill>
                      <a:schemeClr val="bg2"/>
                    </a:solidFill>
                  </a:tcPr>
                </a:tc>
                <a:tc>
                  <a:txBody>
                    <a:bodyPr/>
                    <a:lstStyle/>
                    <a:p>
                      <a:pPr algn="ctr"/>
                      <a:r>
                        <a:rPr lang="en-US" altLang="zh-TW" sz="2400" b="0" dirty="0"/>
                        <a:t>7</a:t>
                      </a:r>
                      <a:endParaRPr lang="zh-TW" altLang="en-US" sz="2400" b="0" dirty="0"/>
                    </a:p>
                  </a:txBody>
                  <a:tcPr>
                    <a:solidFill>
                      <a:schemeClr val="bg2"/>
                    </a:solidFill>
                  </a:tcPr>
                </a:tc>
                <a:tc>
                  <a:txBody>
                    <a:bodyPr/>
                    <a:lstStyle/>
                    <a:p>
                      <a:pPr algn="ctr"/>
                      <a:r>
                        <a:rPr lang="en-US" altLang="zh-TW" sz="2400" b="0" dirty="0"/>
                        <a:t>8</a:t>
                      </a:r>
                      <a:endParaRPr lang="zh-TW" altLang="en-US" sz="2400" b="0" dirty="0"/>
                    </a:p>
                  </a:txBody>
                  <a:tcPr>
                    <a:solidFill>
                      <a:schemeClr val="bg2"/>
                    </a:solidFill>
                  </a:tcPr>
                </a:tc>
                <a:tc>
                  <a:txBody>
                    <a:bodyPr/>
                    <a:lstStyle/>
                    <a:p>
                      <a:pPr algn="ctr"/>
                      <a:r>
                        <a:rPr lang="en-US" altLang="zh-TW" sz="2400" b="0" dirty="0"/>
                        <a:t>9</a:t>
                      </a:r>
                      <a:endParaRPr lang="zh-TW" altLang="en-US" sz="2400" b="0" dirty="0"/>
                    </a:p>
                  </a:txBody>
                  <a:tcPr>
                    <a:solidFill>
                      <a:schemeClr val="bg2"/>
                    </a:solidFill>
                  </a:tcPr>
                </a:tc>
                <a:tc>
                  <a:txBody>
                    <a:bodyPr/>
                    <a:lstStyle/>
                    <a:p>
                      <a:pPr algn="ctr"/>
                      <a:r>
                        <a:rPr lang="en-US" altLang="zh-TW" sz="2400" b="0" dirty="0"/>
                        <a:t>10</a:t>
                      </a:r>
                      <a:endParaRPr lang="zh-TW" altLang="en-US" sz="2400" b="0" dirty="0"/>
                    </a:p>
                  </a:txBody>
                  <a:tcPr>
                    <a:solidFill>
                      <a:schemeClr val="bg2"/>
                    </a:solidFill>
                  </a:tcPr>
                </a:tc>
                <a:tc>
                  <a:txBody>
                    <a:bodyPr/>
                    <a:lstStyle/>
                    <a:p>
                      <a:pPr algn="ctr"/>
                      <a:r>
                        <a:rPr lang="en-US" altLang="zh-TW" sz="2400" b="0" dirty="0"/>
                        <a:t>11</a:t>
                      </a:r>
                      <a:endParaRPr lang="zh-TW" altLang="en-US" sz="2400" b="0" dirty="0"/>
                    </a:p>
                  </a:txBody>
                  <a:tcPr>
                    <a:solidFill>
                      <a:schemeClr val="bg2"/>
                    </a:solidFill>
                  </a:tcPr>
                </a:tc>
                <a:extLst>
                  <a:ext uri="{0D108BD9-81ED-4DB2-BD59-A6C34878D82A}">
                    <a16:rowId xmlns:a16="http://schemas.microsoft.com/office/drawing/2014/main" val="4195531117"/>
                  </a:ext>
                </a:extLst>
              </a:tr>
              <a:tr h="288000">
                <a:tc>
                  <a:txBody>
                    <a:bodyPr/>
                    <a:lstStyle/>
                    <a:p>
                      <a:pPr algn="ctr"/>
                      <a:r>
                        <a:rPr lang="en-US" altLang="zh-TW" sz="2400" b="0" dirty="0"/>
                        <a:t>W</a:t>
                      </a:r>
                      <a:endParaRPr lang="zh-TW" altLang="en-US" sz="2400" b="0" dirty="0"/>
                    </a:p>
                  </a:txBody>
                  <a:tcPr>
                    <a:solidFill>
                      <a:schemeClr val="bg2"/>
                    </a:solidFill>
                  </a:tcPr>
                </a:tc>
                <a:tc>
                  <a:txBody>
                    <a:bodyPr/>
                    <a:lstStyle/>
                    <a:p>
                      <a:pPr algn="ctr"/>
                      <a:r>
                        <a:rPr lang="en-US" altLang="zh-TW" sz="2400" b="0" dirty="0"/>
                        <a:t>y</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d</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d</a:t>
                      </a:r>
                      <a:endParaRPr lang="zh-TW" altLang="en-US" sz="2400" b="0" dirty="0"/>
                    </a:p>
                  </a:txBody>
                  <a:tcPr>
                    <a:noFill/>
                  </a:tcPr>
                </a:tc>
                <a:tc>
                  <a:txBody>
                    <a:bodyPr/>
                    <a:lstStyle/>
                    <a:p>
                      <a:pPr algn="ctr"/>
                      <a:r>
                        <a:rPr lang="en-US" altLang="zh-TW" sz="2400" b="0" dirty="0"/>
                        <a:t>o</a:t>
                      </a:r>
                      <a:endParaRPr lang="zh-TW" altLang="en-US" sz="2400" b="0" dirty="0"/>
                    </a:p>
                  </a:txBody>
                  <a:tcPr>
                    <a:noFill/>
                  </a:tcPr>
                </a:tc>
                <a:extLst>
                  <a:ext uri="{0D108BD9-81ED-4DB2-BD59-A6C34878D82A}">
                    <a16:rowId xmlns:a16="http://schemas.microsoft.com/office/drawing/2014/main" val="3474810379"/>
                  </a:ext>
                </a:extLst>
              </a:tr>
            </a:tbl>
          </a:graphicData>
        </a:graphic>
      </p:graphicFrame>
      <p:graphicFrame>
        <p:nvGraphicFramePr>
          <p:cNvPr id="5" name="表格 4">
            <a:extLst>
              <a:ext uri="{FF2B5EF4-FFF2-40B4-BE49-F238E27FC236}">
                <a16:creationId xmlns:a16="http://schemas.microsoft.com/office/drawing/2014/main" id="{F3B2450E-5C90-8C6C-0B48-0576C1556D05}"/>
              </a:ext>
            </a:extLst>
          </p:cNvPr>
          <p:cNvGraphicFramePr>
            <a:graphicFrameLocks noGrp="1"/>
          </p:cNvGraphicFramePr>
          <p:nvPr>
            <p:extLst>
              <p:ext uri="{D42A27DB-BD31-4B8C-83A1-F6EECF244321}">
                <p14:modId xmlns:p14="http://schemas.microsoft.com/office/powerpoint/2010/main" val="1240928249"/>
              </p:ext>
            </p:extLst>
          </p:nvPr>
        </p:nvGraphicFramePr>
        <p:xfrm>
          <a:off x="363070" y="2892425"/>
          <a:ext cx="7344000" cy="1828800"/>
        </p:xfrm>
        <a:graphic>
          <a:graphicData uri="http://schemas.openxmlformats.org/drawingml/2006/table">
            <a:tbl>
              <a:tblPr firstRow="1" bandRow="1">
                <a:tableStyleId>{E8B1032C-EA38-4F05-BA0D-38AFFFC7BED3}</a:tableStyleId>
              </a:tblPr>
              <a:tblGrid>
                <a:gridCol w="2160000">
                  <a:extLst>
                    <a:ext uri="{9D8B030D-6E8A-4147-A177-3AD203B41FA5}">
                      <a16:colId xmlns:a16="http://schemas.microsoft.com/office/drawing/2014/main" val="3687563117"/>
                    </a:ext>
                  </a:extLst>
                </a:gridCol>
                <a:gridCol w="648000">
                  <a:extLst>
                    <a:ext uri="{9D8B030D-6E8A-4147-A177-3AD203B41FA5}">
                      <a16:colId xmlns:a16="http://schemas.microsoft.com/office/drawing/2014/main" val="3458925501"/>
                    </a:ext>
                  </a:extLst>
                </a:gridCol>
                <a:gridCol w="648000">
                  <a:extLst>
                    <a:ext uri="{9D8B030D-6E8A-4147-A177-3AD203B41FA5}">
                      <a16:colId xmlns:a16="http://schemas.microsoft.com/office/drawing/2014/main" val="4030832065"/>
                    </a:ext>
                  </a:extLst>
                </a:gridCol>
                <a:gridCol w="648000">
                  <a:extLst>
                    <a:ext uri="{9D8B030D-6E8A-4147-A177-3AD203B41FA5}">
                      <a16:colId xmlns:a16="http://schemas.microsoft.com/office/drawing/2014/main" val="1724438594"/>
                    </a:ext>
                  </a:extLst>
                </a:gridCol>
                <a:gridCol w="648000">
                  <a:extLst>
                    <a:ext uri="{9D8B030D-6E8A-4147-A177-3AD203B41FA5}">
                      <a16:colId xmlns:a16="http://schemas.microsoft.com/office/drawing/2014/main" val="4209229924"/>
                    </a:ext>
                  </a:extLst>
                </a:gridCol>
                <a:gridCol w="648000">
                  <a:extLst>
                    <a:ext uri="{9D8B030D-6E8A-4147-A177-3AD203B41FA5}">
                      <a16:colId xmlns:a16="http://schemas.microsoft.com/office/drawing/2014/main" val="2908390315"/>
                    </a:ext>
                  </a:extLst>
                </a:gridCol>
                <a:gridCol w="648000">
                  <a:extLst>
                    <a:ext uri="{9D8B030D-6E8A-4147-A177-3AD203B41FA5}">
                      <a16:colId xmlns:a16="http://schemas.microsoft.com/office/drawing/2014/main" val="1002060645"/>
                    </a:ext>
                  </a:extLst>
                </a:gridCol>
                <a:gridCol w="648000">
                  <a:extLst>
                    <a:ext uri="{9D8B030D-6E8A-4147-A177-3AD203B41FA5}">
                      <a16:colId xmlns:a16="http://schemas.microsoft.com/office/drawing/2014/main" val="2341577556"/>
                    </a:ext>
                  </a:extLst>
                </a:gridCol>
                <a:gridCol w="648000">
                  <a:extLst>
                    <a:ext uri="{9D8B030D-6E8A-4147-A177-3AD203B41FA5}">
                      <a16:colId xmlns:a16="http://schemas.microsoft.com/office/drawing/2014/main" val="476296480"/>
                    </a:ext>
                  </a:extLst>
                </a:gridCol>
              </a:tblGrid>
              <a:tr h="288000">
                <a:tc>
                  <a:txBody>
                    <a:bodyPr/>
                    <a:lstStyle/>
                    <a:p>
                      <a:pPr algn="ctr"/>
                      <a:r>
                        <a:rPr lang="en-US" altLang="zh-TW" sz="2400" b="0" dirty="0"/>
                        <a:t>pos in W</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solidFill>
                      <a:schemeClr val="accent3">
                        <a:lumMod val="40000"/>
                        <a:lumOff val="60000"/>
                      </a:schemeClr>
                    </a:solidFill>
                  </a:tcPr>
                </a:tc>
                <a:tc>
                  <a:txBody>
                    <a:bodyPr/>
                    <a:lstStyle/>
                    <a:p>
                      <a:pPr algn="ctr"/>
                      <a:r>
                        <a:rPr lang="en-US" altLang="zh-TW" sz="2400" b="0" dirty="0"/>
                        <a:t>4</a:t>
                      </a:r>
                      <a:endParaRPr lang="zh-TW" altLang="en-US" sz="2400" b="0" dirty="0"/>
                    </a:p>
                  </a:txBody>
                  <a:tcPr>
                    <a:solidFill>
                      <a:schemeClr val="accent3">
                        <a:lumMod val="40000"/>
                        <a:lumOff val="60000"/>
                      </a:schemeClr>
                    </a:solidFill>
                  </a:tcPr>
                </a:tc>
                <a:tc>
                  <a:txBody>
                    <a:bodyPr/>
                    <a:lstStyle/>
                    <a:p>
                      <a:pPr algn="ctr"/>
                      <a:r>
                        <a:rPr lang="en-US" altLang="zh-TW" sz="2400" b="0" dirty="0"/>
                        <a:t>7</a:t>
                      </a:r>
                      <a:endParaRPr lang="zh-TW" altLang="en-US" sz="2400" b="0" dirty="0"/>
                    </a:p>
                  </a:txBody>
                  <a:tcPr>
                    <a:solidFill>
                      <a:schemeClr val="accent3">
                        <a:lumMod val="40000"/>
                        <a:lumOff val="60000"/>
                      </a:schemeClr>
                    </a:solidFill>
                  </a:tcPr>
                </a:tc>
                <a:tc>
                  <a:txBody>
                    <a:bodyPr/>
                    <a:lstStyle/>
                    <a:p>
                      <a:pPr algn="ctr"/>
                      <a:r>
                        <a:rPr lang="en-US" altLang="zh-TW" sz="2400" b="0" dirty="0"/>
                        <a:t>10</a:t>
                      </a:r>
                      <a:endParaRPr lang="zh-TW" altLang="en-US" sz="2400" b="0" dirty="0"/>
                    </a:p>
                  </a:txBody>
                  <a:tcPr>
                    <a:solidFill>
                      <a:schemeClr val="accent3">
                        <a:lumMod val="40000"/>
                        <a:lumOff val="60000"/>
                      </a:schemeClr>
                    </a:solidFill>
                  </a:tcPr>
                </a:tc>
                <a:tc>
                  <a:txBody>
                    <a:bodyPr/>
                    <a:lstStyle/>
                    <a:p>
                      <a:pPr algn="ctr"/>
                      <a:r>
                        <a:rPr lang="en-US" altLang="zh-TW" sz="2400" b="0" dirty="0"/>
                        <a:t>2</a:t>
                      </a:r>
                      <a:endParaRPr lang="zh-TW" altLang="en-US" sz="2400" b="0" dirty="0"/>
                    </a:p>
                  </a:txBody>
                  <a:tcPr>
                    <a:solidFill>
                      <a:schemeClr val="accent3">
                        <a:lumMod val="40000"/>
                        <a:lumOff val="60000"/>
                      </a:schemeClr>
                    </a:solidFill>
                  </a:tcPr>
                </a:tc>
                <a:tc>
                  <a:txBody>
                    <a:bodyPr/>
                    <a:lstStyle/>
                    <a:p>
                      <a:pPr algn="ctr"/>
                      <a:r>
                        <a:rPr lang="en-US" altLang="zh-TW" sz="2400" b="0" dirty="0"/>
                        <a:t>5</a:t>
                      </a:r>
                      <a:endParaRPr lang="zh-TW" altLang="en-US" sz="2400" b="0" dirty="0"/>
                    </a:p>
                  </a:txBody>
                  <a:tcPr>
                    <a:solidFill>
                      <a:schemeClr val="accent3">
                        <a:lumMod val="40000"/>
                        <a:lumOff val="60000"/>
                      </a:schemeClr>
                    </a:solidFill>
                  </a:tcPr>
                </a:tc>
                <a:tc>
                  <a:txBody>
                    <a:bodyPr/>
                    <a:lstStyle/>
                    <a:p>
                      <a:pPr algn="ctr"/>
                      <a:r>
                        <a:rPr lang="en-US" altLang="zh-TW" sz="2400" b="0" dirty="0"/>
                        <a:t>8</a:t>
                      </a:r>
                      <a:endParaRPr lang="zh-TW" altLang="en-US" sz="2400" b="0" dirty="0"/>
                    </a:p>
                  </a:txBody>
                  <a:tcPr>
                    <a:solidFill>
                      <a:schemeClr val="accent3">
                        <a:lumMod val="40000"/>
                        <a:lumOff val="60000"/>
                      </a:schemeClr>
                    </a:solidFill>
                  </a:tcPr>
                </a:tc>
                <a:tc>
                  <a:txBody>
                    <a:bodyPr/>
                    <a:lstStyle/>
                    <a:p>
                      <a:pPr algn="ctr"/>
                      <a:r>
                        <a:rPr lang="en-US" altLang="zh-TW" sz="2400" b="0" dirty="0"/>
                        <a:t>11</a:t>
                      </a:r>
                      <a:endParaRPr lang="zh-TW" altLang="en-US" sz="2400" b="0" dirty="0"/>
                    </a:p>
                  </a:txBody>
                  <a:tcPr>
                    <a:solidFill>
                      <a:schemeClr val="accent3">
                        <a:lumMod val="40000"/>
                        <a:lumOff val="60000"/>
                      </a:schemeClr>
                    </a:solidFill>
                  </a:tcPr>
                </a:tc>
                <a:extLst>
                  <a:ext uri="{0D108BD9-81ED-4DB2-BD59-A6C34878D82A}">
                    <a16:rowId xmlns:a16="http://schemas.microsoft.com/office/drawing/2014/main" val="3474810379"/>
                  </a:ext>
                </a:extLst>
              </a:tr>
              <a:tr h="288000">
                <a:tc>
                  <a:txBody>
                    <a:bodyPr/>
                    <a:lstStyle/>
                    <a:p>
                      <a:pPr algn="ctr"/>
                      <a:r>
                        <a:rPr lang="en-US" altLang="zh-TW" sz="2400" b="0" dirty="0"/>
                        <a:t>w</a:t>
                      </a:r>
                      <a:r>
                        <a:rPr lang="en-US" altLang="zh-TW" sz="2400" b="0" baseline="-25000" dirty="0"/>
                        <a:t>p</a:t>
                      </a:r>
                      <a:r>
                        <a:rPr lang="en-US" altLang="zh-TW" sz="2400" b="0" baseline="0" dirty="0"/>
                        <a:t>…w</a:t>
                      </a:r>
                      <a:r>
                        <a:rPr lang="en-US" altLang="zh-TW" sz="2400" b="0" baseline="-25000" dirty="0"/>
                        <a:t>p+2</a:t>
                      </a:r>
                      <a:endParaRPr lang="zh-TW" altLang="en-US" sz="2400" b="0" dirty="0"/>
                    </a:p>
                  </a:txBody>
                  <a:tcPr>
                    <a:solidFill>
                      <a:schemeClr val="bg2"/>
                    </a:solidFill>
                  </a:tcPr>
                </a:tc>
                <a:tc>
                  <a:txBody>
                    <a:bodyPr/>
                    <a:lstStyle/>
                    <a:p>
                      <a:pPr algn="ctr"/>
                      <a:r>
                        <a:rPr lang="en-US" altLang="zh-TW" sz="2400" b="0" dirty="0"/>
                        <a:t>abb</a:t>
                      </a:r>
                      <a:endParaRPr lang="zh-TW" altLang="en-US" sz="2400" b="0" dirty="0"/>
                    </a:p>
                  </a:txBody>
                  <a:tcPr>
                    <a:solidFill>
                      <a:schemeClr val="accent6">
                        <a:lumMod val="20000"/>
                        <a:lumOff val="80000"/>
                      </a:schemeClr>
                    </a:solidFill>
                  </a:tcPr>
                </a:tc>
                <a:tc>
                  <a:txBody>
                    <a:bodyPr/>
                    <a:lstStyle/>
                    <a:p>
                      <a:pPr algn="ctr"/>
                      <a:r>
                        <a:rPr lang="en-US" altLang="zh-TW" sz="2400" b="0" dirty="0" err="1"/>
                        <a:t>ada</a:t>
                      </a:r>
                      <a:endParaRPr lang="zh-TW" altLang="en-US" sz="2400" b="0" dirty="0"/>
                    </a:p>
                  </a:txBody>
                  <a:tcPr>
                    <a:solidFill>
                      <a:schemeClr val="accent6">
                        <a:lumMod val="20000"/>
                        <a:lumOff val="80000"/>
                      </a:schemeClr>
                    </a:solidFill>
                  </a:tcPr>
                </a:tc>
                <a:tc>
                  <a:txBody>
                    <a:bodyPr/>
                    <a:lstStyle/>
                    <a:p>
                      <a:pPr algn="ctr"/>
                      <a:r>
                        <a:rPr lang="en-US" altLang="zh-TW" sz="2400" b="0" dirty="0" err="1"/>
                        <a:t>bba</a:t>
                      </a:r>
                      <a:endParaRPr lang="zh-TW" altLang="en-US" sz="2400" b="0" dirty="0"/>
                    </a:p>
                  </a:txBody>
                  <a:tcPr>
                    <a:solidFill>
                      <a:schemeClr val="accent6">
                        <a:lumMod val="20000"/>
                        <a:lumOff val="80000"/>
                      </a:schemeClr>
                    </a:solidFill>
                  </a:tcPr>
                </a:tc>
                <a:tc>
                  <a:txBody>
                    <a:bodyPr/>
                    <a:lstStyle/>
                    <a:p>
                      <a:pPr algn="ctr"/>
                      <a:r>
                        <a:rPr lang="en-US" altLang="zh-TW" sz="2400" b="0" dirty="0"/>
                        <a:t>do$</a:t>
                      </a:r>
                      <a:endParaRPr lang="zh-TW" altLang="en-US" sz="2400" b="0" dirty="0"/>
                    </a:p>
                  </a:txBody>
                  <a:tcPr>
                    <a:solidFill>
                      <a:schemeClr val="accent6">
                        <a:lumMod val="20000"/>
                        <a:lumOff val="80000"/>
                      </a:schemeClr>
                    </a:solidFill>
                  </a:tcPr>
                </a:tc>
                <a:tc>
                  <a:txBody>
                    <a:bodyPr/>
                    <a:lstStyle/>
                    <a:p>
                      <a:pPr algn="ctr"/>
                      <a:r>
                        <a:rPr lang="en-US" altLang="zh-TW" sz="2400" b="0" dirty="0" err="1"/>
                        <a:t>bba</a:t>
                      </a:r>
                      <a:endParaRPr lang="zh-TW" altLang="en-US" sz="2400" b="0" dirty="0"/>
                    </a:p>
                  </a:txBody>
                  <a:tcPr>
                    <a:solidFill>
                      <a:schemeClr val="accent6">
                        <a:lumMod val="20000"/>
                        <a:lumOff val="80000"/>
                      </a:schemeClr>
                    </a:solidFill>
                  </a:tcPr>
                </a:tc>
                <a:tc>
                  <a:txBody>
                    <a:bodyPr/>
                    <a:lstStyle/>
                    <a:p>
                      <a:pPr algn="ctr"/>
                      <a:r>
                        <a:rPr lang="en-US" altLang="zh-TW" sz="2400" b="0" dirty="0"/>
                        <a:t>dab</a:t>
                      </a:r>
                      <a:endParaRPr lang="zh-TW" altLang="en-US" sz="2400" b="0" dirty="0"/>
                    </a:p>
                  </a:txBody>
                  <a:tcPr>
                    <a:solidFill>
                      <a:schemeClr val="accent6">
                        <a:lumMod val="20000"/>
                        <a:lumOff val="80000"/>
                      </a:schemeClr>
                    </a:solidFill>
                  </a:tcPr>
                </a:tc>
                <a:tc>
                  <a:txBody>
                    <a:bodyPr/>
                    <a:lstStyle/>
                    <a:p>
                      <a:pPr algn="ctr"/>
                      <a:r>
                        <a:rPr lang="en-US" altLang="zh-TW" sz="2400" b="0" dirty="0"/>
                        <a:t>bad</a:t>
                      </a:r>
                      <a:endParaRPr lang="zh-TW" altLang="en-US" sz="2400" b="0" dirty="0"/>
                    </a:p>
                  </a:txBody>
                  <a:tcPr>
                    <a:solidFill>
                      <a:schemeClr val="accent6">
                        <a:lumMod val="20000"/>
                        <a:lumOff val="80000"/>
                      </a:schemeClr>
                    </a:solidFill>
                  </a:tcPr>
                </a:tc>
                <a:tc>
                  <a:txBody>
                    <a:bodyPr/>
                    <a:lstStyle/>
                    <a:p>
                      <a:pPr algn="ctr"/>
                      <a:r>
                        <a:rPr lang="en-US" altLang="zh-TW" sz="2400" b="0" dirty="0"/>
                        <a:t>o$$</a:t>
                      </a:r>
                      <a:endParaRPr lang="zh-TW" altLang="en-US" sz="2400" b="0" dirty="0"/>
                    </a:p>
                  </a:txBody>
                  <a:tcPr>
                    <a:solidFill>
                      <a:schemeClr val="accent6">
                        <a:lumMod val="20000"/>
                        <a:lumOff val="80000"/>
                      </a:schemeClr>
                    </a:solidFill>
                  </a:tcPr>
                </a:tc>
                <a:extLst>
                  <a:ext uri="{0D108BD9-81ED-4DB2-BD59-A6C34878D82A}">
                    <a16:rowId xmlns:a16="http://schemas.microsoft.com/office/drawing/2014/main" val="3281406572"/>
                  </a:ext>
                </a:extLst>
              </a:tr>
              <a:tr h="288000">
                <a:tc>
                  <a:txBody>
                    <a:bodyPr/>
                    <a:lstStyle/>
                    <a:p>
                      <a:pPr algn="ctr"/>
                      <a:r>
                        <a:rPr lang="en-US" altLang="zh-TW" sz="2400" b="0" dirty="0"/>
                        <a:t>sort order</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solidFill>
                      <a:schemeClr val="bg1">
                        <a:alpha val="20000"/>
                      </a:schemeClr>
                    </a:solidFill>
                  </a:tcPr>
                </a:tc>
                <a:tc>
                  <a:txBody>
                    <a:bodyPr/>
                    <a:lstStyle/>
                    <a:p>
                      <a:pPr algn="ctr"/>
                      <a:r>
                        <a:rPr lang="en-US" altLang="zh-TW" sz="2400" b="0" dirty="0"/>
                        <a:t>2</a:t>
                      </a:r>
                      <a:endParaRPr lang="zh-TW" altLang="en-US" sz="2400" b="0" dirty="0"/>
                    </a:p>
                  </a:txBody>
                  <a:tcPr>
                    <a:solidFill>
                      <a:schemeClr val="bg1">
                        <a:alpha val="20000"/>
                      </a:schemeClr>
                    </a:solidFill>
                  </a:tcPr>
                </a:tc>
                <a:tc>
                  <a:txBody>
                    <a:bodyPr/>
                    <a:lstStyle/>
                    <a:p>
                      <a:pPr algn="ctr"/>
                      <a:r>
                        <a:rPr lang="en-US" altLang="zh-TW" sz="2400" b="0" dirty="0"/>
                        <a:t>4</a:t>
                      </a:r>
                      <a:endParaRPr lang="zh-TW" altLang="en-US" sz="2400" b="0" dirty="0"/>
                    </a:p>
                  </a:txBody>
                  <a:tcPr>
                    <a:solidFill>
                      <a:schemeClr val="bg1">
                        <a:alpha val="20000"/>
                      </a:schemeClr>
                    </a:solidFill>
                  </a:tcPr>
                </a:tc>
                <a:tc>
                  <a:txBody>
                    <a:bodyPr/>
                    <a:lstStyle/>
                    <a:p>
                      <a:pPr algn="ctr"/>
                      <a:r>
                        <a:rPr lang="en-US" altLang="zh-TW" sz="2400" b="0" dirty="0"/>
                        <a:t>6</a:t>
                      </a:r>
                      <a:endParaRPr lang="zh-TW" altLang="en-US" sz="2400" b="0" dirty="0"/>
                    </a:p>
                  </a:txBody>
                  <a:tcPr>
                    <a:solidFill>
                      <a:schemeClr val="bg1">
                        <a:alpha val="20000"/>
                      </a:schemeClr>
                    </a:solidFill>
                  </a:tcPr>
                </a:tc>
                <a:tc>
                  <a:txBody>
                    <a:bodyPr/>
                    <a:lstStyle/>
                    <a:p>
                      <a:pPr algn="ctr"/>
                      <a:r>
                        <a:rPr lang="en-US" altLang="zh-TW" sz="2400" b="0" dirty="0"/>
                        <a:t>4</a:t>
                      </a:r>
                      <a:endParaRPr lang="zh-TW" altLang="en-US" sz="2400" b="0" dirty="0"/>
                    </a:p>
                  </a:txBody>
                  <a:tcPr>
                    <a:solidFill>
                      <a:schemeClr val="bg1">
                        <a:alpha val="20000"/>
                      </a:schemeClr>
                    </a:solidFill>
                  </a:tcPr>
                </a:tc>
                <a:tc>
                  <a:txBody>
                    <a:bodyPr/>
                    <a:lstStyle/>
                    <a:p>
                      <a:pPr algn="ctr"/>
                      <a:r>
                        <a:rPr lang="en-US" altLang="zh-TW" sz="2400" b="0" dirty="0"/>
                        <a:t>5</a:t>
                      </a:r>
                      <a:endParaRPr lang="zh-TW" altLang="en-US" sz="2400" b="0" dirty="0"/>
                    </a:p>
                  </a:txBody>
                  <a:tcPr>
                    <a:solidFill>
                      <a:schemeClr val="bg1">
                        <a:alpha val="20000"/>
                      </a:schemeClr>
                    </a:solidFill>
                  </a:tcPr>
                </a:tc>
                <a:tc>
                  <a:txBody>
                    <a:bodyPr/>
                    <a:lstStyle/>
                    <a:p>
                      <a:pPr algn="ctr"/>
                      <a:r>
                        <a:rPr lang="en-US" altLang="zh-TW" sz="2400" b="0" dirty="0"/>
                        <a:t>3</a:t>
                      </a:r>
                      <a:endParaRPr lang="zh-TW" altLang="en-US" sz="2400" b="0" dirty="0"/>
                    </a:p>
                  </a:txBody>
                  <a:tcPr>
                    <a:solidFill>
                      <a:schemeClr val="bg1">
                        <a:alpha val="20000"/>
                      </a:schemeClr>
                    </a:solidFill>
                  </a:tcPr>
                </a:tc>
                <a:tc>
                  <a:txBody>
                    <a:bodyPr/>
                    <a:lstStyle/>
                    <a:p>
                      <a:pPr algn="ctr"/>
                      <a:r>
                        <a:rPr lang="en-US" altLang="zh-TW" sz="2400" b="0" dirty="0"/>
                        <a:t>7</a:t>
                      </a:r>
                      <a:endParaRPr lang="zh-TW" altLang="en-US" sz="2400" b="0" dirty="0"/>
                    </a:p>
                  </a:txBody>
                  <a:tcPr>
                    <a:solidFill>
                      <a:schemeClr val="bg1">
                        <a:alpha val="20000"/>
                      </a:schemeClr>
                    </a:solidFill>
                  </a:tcPr>
                </a:tc>
                <a:extLst>
                  <a:ext uri="{0D108BD9-81ED-4DB2-BD59-A6C34878D82A}">
                    <a16:rowId xmlns:a16="http://schemas.microsoft.com/office/drawing/2014/main" val="2853625154"/>
                  </a:ext>
                </a:extLst>
              </a:tr>
              <a:tr h="288000">
                <a:tc>
                  <a:txBody>
                    <a:bodyPr/>
                    <a:lstStyle/>
                    <a:p>
                      <a:pPr algn="ctr"/>
                      <a:r>
                        <a:rPr lang="en-US" altLang="zh-TW" sz="2400" b="0" dirty="0"/>
                        <a:t>recursive order</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solidFill>
                      <a:schemeClr val="accent6">
                        <a:lumMod val="20000"/>
                        <a:lumOff val="80000"/>
                      </a:schemeClr>
                    </a:solidFill>
                  </a:tcPr>
                </a:tc>
                <a:tc>
                  <a:txBody>
                    <a:bodyPr/>
                    <a:lstStyle/>
                    <a:p>
                      <a:pPr algn="ctr"/>
                      <a:r>
                        <a:rPr lang="en-US" altLang="zh-TW" sz="2400" b="0" dirty="0"/>
                        <a:t>2</a:t>
                      </a:r>
                      <a:endParaRPr lang="zh-TW" altLang="en-US" sz="2400" b="0" dirty="0"/>
                    </a:p>
                  </a:txBody>
                  <a:tcPr>
                    <a:solidFill>
                      <a:schemeClr val="accent6">
                        <a:lumMod val="20000"/>
                        <a:lumOff val="80000"/>
                      </a:schemeClr>
                    </a:solidFill>
                  </a:tcPr>
                </a:tc>
                <a:tc>
                  <a:txBody>
                    <a:bodyPr/>
                    <a:lstStyle/>
                    <a:p>
                      <a:pPr algn="ctr"/>
                      <a:r>
                        <a:rPr lang="en-US" altLang="zh-TW" sz="2400" b="0" dirty="0"/>
                        <a:t>5</a:t>
                      </a:r>
                      <a:endParaRPr lang="zh-TW" altLang="en-US" sz="2400" b="0" dirty="0"/>
                    </a:p>
                  </a:txBody>
                  <a:tcPr>
                    <a:solidFill>
                      <a:schemeClr val="accent6">
                        <a:lumMod val="20000"/>
                        <a:lumOff val="80000"/>
                      </a:schemeClr>
                    </a:solidFill>
                  </a:tcPr>
                </a:tc>
                <a:tc>
                  <a:txBody>
                    <a:bodyPr/>
                    <a:lstStyle/>
                    <a:p>
                      <a:pPr algn="ctr"/>
                      <a:r>
                        <a:rPr lang="en-US" altLang="zh-TW" sz="2400" b="0" dirty="0"/>
                        <a:t>7</a:t>
                      </a:r>
                      <a:endParaRPr lang="zh-TW" altLang="en-US" sz="2400" b="0" dirty="0"/>
                    </a:p>
                  </a:txBody>
                  <a:tcPr>
                    <a:solidFill>
                      <a:schemeClr val="accent6">
                        <a:lumMod val="20000"/>
                        <a:lumOff val="80000"/>
                      </a:schemeClr>
                    </a:solidFill>
                  </a:tcPr>
                </a:tc>
                <a:tc>
                  <a:txBody>
                    <a:bodyPr/>
                    <a:lstStyle/>
                    <a:p>
                      <a:pPr algn="ctr"/>
                      <a:r>
                        <a:rPr lang="en-US" altLang="zh-TW" sz="2400" b="0" dirty="0"/>
                        <a:t>4</a:t>
                      </a:r>
                      <a:endParaRPr lang="zh-TW" altLang="en-US" sz="2400" b="0" dirty="0"/>
                    </a:p>
                  </a:txBody>
                  <a:tcPr>
                    <a:solidFill>
                      <a:schemeClr val="accent6">
                        <a:lumMod val="20000"/>
                        <a:lumOff val="80000"/>
                      </a:schemeClr>
                    </a:solidFill>
                  </a:tcPr>
                </a:tc>
                <a:tc>
                  <a:txBody>
                    <a:bodyPr/>
                    <a:lstStyle/>
                    <a:p>
                      <a:pPr algn="ctr"/>
                      <a:r>
                        <a:rPr lang="en-US" altLang="zh-TW" sz="2400" b="0" dirty="0"/>
                        <a:t>6</a:t>
                      </a:r>
                      <a:endParaRPr lang="zh-TW" altLang="en-US" sz="2400" b="0" dirty="0"/>
                    </a:p>
                  </a:txBody>
                  <a:tcPr>
                    <a:solidFill>
                      <a:schemeClr val="accent6">
                        <a:lumMod val="20000"/>
                        <a:lumOff val="80000"/>
                      </a:schemeClr>
                    </a:solidFill>
                  </a:tcPr>
                </a:tc>
                <a:tc>
                  <a:txBody>
                    <a:bodyPr/>
                    <a:lstStyle/>
                    <a:p>
                      <a:pPr algn="ctr"/>
                      <a:r>
                        <a:rPr lang="en-US" altLang="zh-TW" sz="2400" b="0" dirty="0"/>
                        <a:t>3</a:t>
                      </a:r>
                      <a:endParaRPr lang="zh-TW" altLang="en-US" sz="2400" b="0" dirty="0"/>
                    </a:p>
                  </a:txBody>
                  <a:tcPr>
                    <a:solidFill>
                      <a:schemeClr val="accent6">
                        <a:lumMod val="20000"/>
                        <a:lumOff val="80000"/>
                      </a:schemeClr>
                    </a:solidFill>
                  </a:tcPr>
                </a:tc>
                <a:tc>
                  <a:txBody>
                    <a:bodyPr/>
                    <a:lstStyle/>
                    <a:p>
                      <a:pPr algn="ctr"/>
                      <a:r>
                        <a:rPr lang="en-US" altLang="zh-TW" sz="2400" b="0" dirty="0"/>
                        <a:t>8</a:t>
                      </a:r>
                      <a:endParaRPr lang="zh-TW" altLang="en-US" sz="2400" b="0" dirty="0"/>
                    </a:p>
                  </a:txBody>
                  <a:tcPr>
                    <a:solidFill>
                      <a:schemeClr val="accent6">
                        <a:lumMod val="20000"/>
                        <a:lumOff val="80000"/>
                      </a:schemeClr>
                    </a:solidFill>
                  </a:tcPr>
                </a:tc>
                <a:extLst>
                  <a:ext uri="{0D108BD9-81ED-4DB2-BD59-A6C34878D82A}">
                    <a16:rowId xmlns:a16="http://schemas.microsoft.com/office/drawing/2014/main" val="2693701567"/>
                  </a:ext>
                </a:extLst>
              </a:tr>
            </a:tbl>
          </a:graphicData>
        </a:graphic>
      </p:graphicFrame>
      <p:graphicFrame>
        <p:nvGraphicFramePr>
          <p:cNvPr id="8" name="表格 6">
            <a:extLst>
              <a:ext uri="{FF2B5EF4-FFF2-40B4-BE49-F238E27FC236}">
                <a16:creationId xmlns:a16="http://schemas.microsoft.com/office/drawing/2014/main" id="{5B7AA2BC-B270-65D7-895B-8ADF898CAEBC}"/>
              </a:ext>
            </a:extLst>
          </p:cNvPr>
          <p:cNvGraphicFramePr>
            <a:graphicFrameLocks noGrp="1"/>
          </p:cNvGraphicFramePr>
          <p:nvPr>
            <p:extLst>
              <p:ext uri="{D42A27DB-BD31-4B8C-83A1-F6EECF244321}">
                <p14:modId xmlns:p14="http://schemas.microsoft.com/office/powerpoint/2010/main" val="3316075009"/>
              </p:ext>
            </p:extLst>
          </p:nvPr>
        </p:nvGraphicFramePr>
        <p:xfrm>
          <a:off x="9556870" y="1500281"/>
          <a:ext cx="2160000" cy="4114800"/>
        </p:xfrm>
        <a:graphic>
          <a:graphicData uri="http://schemas.openxmlformats.org/drawingml/2006/table">
            <a:tbl>
              <a:tblPr firstRow="1" bandRow="1">
                <a:tableStyleId>{93296810-A885-4BE3-A3E7-6D5BEEA58F35}</a:tableStyleId>
              </a:tblPr>
              <a:tblGrid>
                <a:gridCol w="2160000">
                  <a:extLst>
                    <a:ext uri="{9D8B030D-6E8A-4147-A177-3AD203B41FA5}">
                      <a16:colId xmlns:a16="http://schemas.microsoft.com/office/drawing/2014/main" val="2475924479"/>
                    </a:ext>
                  </a:extLst>
                </a:gridCol>
              </a:tblGrid>
              <a:tr h="370840">
                <a:tc>
                  <a:txBody>
                    <a:bodyPr/>
                    <a:lstStyle/>
                    <a:p>
                      <a:pPr algn="ctr"/>
                      <a:r>
                        <a:rPr lang="en-US" altLang="zh-TW" sz="2400" b="0" dirty="0" err="1">
                          <a:solidFill>
                            <a:schemeClr val="tx1"/>
                          </a:solidFill>
                        </a:rPr>
                        <a:t>suf</a:t>
                      </a:r>
                      <a:r>
                        <a:rPr lang="en-US" altLang="zh-TW" sz="2400" b="0" baseline="-25000" dirty="0" err="1">
                          <a:solidFill>
                            <a:schemeClr val="tx1"/>
                          </a:solidFill>
                        </a:rPr>
                        <a:t>SA</a:t>
                      </a:r>
                      <a:r>
                        <a:rPr lang="en-US" altLang="zh-TW" sz="2400" b="0" baseline="-25000" dirty="0">
                          <a:solidFill>
                            <a:schemeClr val="tx1"/>
                          </a:solidFill>
                        </a:rPr>
                        <a:t>[</a:t>
                      </a:r>
                      <a:r>
                        <a:rPr lang="en-US" altLang="zh-TW" sz="2400" b="0" baseline="-25000" dirty="0" err="1">
                          <a:solidFill>
                            <a:schemeClr val="tx1"/>
                          </a:solidFill>
                        </a:rPr>
                        <a:t>i</a:t>
                      </a:r>
                      <a:r>
                        <a:rPr lang="en-US" altLang="zh-TW" sz="2400" b="0" baseline="-25000" dirty="0">
                          <a:solidFill>
                            <a:schemeClr val="tx1"/>
                          </a:solidFill>
                        </a:rPr>
                        <a:t>]</a:t>
                      </a:r>
                      <a:endParaRPr lang="zh-TW" altLang="en-US" sz="2400" b="0" dirty="0">
                        <a:solidFill>
                          <a:schemeClr val="tx1"/>
                        </a:solidFill>
                      </a:endParaRPr>
                    </a:p>
                  </a:txBody>
                  <a:tcPr>
                    <a:solidFill>
                      <a:schemeClr val="accent3">
                        <a:lumMod val="40000"/>
                        <a:lumOff val="60000"/>
                      </a:schemeClr>
                    </a:solidFill>
                  </a:tcPr>
                </a:tc>
                <a:extLst>
                  <a:ext uri="{0D108BD9-81ED-4DB2-BD59-A6C34878D82A}">
                    <a16:rowId xmlns:a16="http://schemas.microsoft.com/office/drawing/2014/main" val="3043186845"/>
                  </a:ext>
                </a:extLst>
              </a:tr>
              <a:tr h="370840">
                <a:tc>
                  <a:txBody>
                    <a:bodyPr/>
                    <a:lstStyle/>
                    <a:p>
                      <a:pPr algn="l"/>
                      <a:r>
                        <a:rPr lang="pt-BR" altLang="zh-TW" sz="2400" dirty="0"/>
                        <a:t>abbadabbado</a:t>
                      </a:r>
                      <a:endParaRPr lang="zh-TW" altLang="en-US" sz="2400" dirty="0">
                        <a:solidFill>
                          <a:schemeClr val="tx1"/>
                        </a:solidFill>
                      </a:endParaRPr>
                    </a:p>
                  </a:txBody>
                  <a:tcPr/>
                </a:tc>
                <a:extLst>
                  <a:ext uri="{0D108BD9-81ED-4DB2-BD59-A6C34878D82A}">
                    <a16:rowId xmlns:a16="http://schemas.microsoft.com/office/drawing/2014/main" val="968158447"/>
                  </a:ext>
                </a:extLst>
              </a:tr>
              <a:tr h="370840">
                <a:tc>
                  <a:txBody>
                    <a:bodyPr/>
                    <a:lstStyle/>
                    <a:p>
                      <a:pPr algn="l"/>
                      <a:r>
                        <a:rPr lang="pt-BR" altLang="zh-TW" sz="2400" dirty="0"/>
                        <a:t>adabbado</a:t>
                      </a:r>
                      <a:endParaRPr lang="zh-TW" altLang="en-US" sz="2400" dirty="0">
                        <a:solidFill>
                          <a:schemeClr val="tx1"/>
                        </a:solidFill>
                      </a:endParaRPr>
                    </a:p>
                  </a:txBody>
                  <a:tcPr/>
                </a:tc>
                <a:extLst>
                  <a:ext uri="{0D108BD9-81ED-4DB2-BD59-A6C34878D82A}">
                    <a16:rowId xmlns:a16="http://schemas.microsoft.com/office/drawing/2014/main" val="1784571754"/>
                  </a:ext>
                </a:extLst>
              </a:tr>
              <a:tr h="370840">
                <a:tc>
                  <a:txBody>
                    <a:bodyPr/>
                    <a:lstStyle/>
                    <a:p>
                      <a:pPr algn="l"/>
                      <a:r>
                        <a:rPr lang="pt-BR" altLang="zh-TW" sz="2400" dirty="0"/>
                        <a:t>bado</a:t>
                      </a:r>
                      <a:endParaRPr lang="zh-TW" altLang="en-US" sz="2400" dirty="0">
                        <a:solidFill>
                          <a:schemeClr val="tx1"/>
                        </a:solidFill>
                      </a:endParaRPr>
                    </a:p>
                  </a:txBody>
                  <a:tcPr/>
                </a:tc>
                <a:extLst>
                  <a:ext uri="{0D108BD9-81ED-4DB2-BD59-A6C34878D82A}">
                    <a16:rowId xmlns:a16="http://schemas.microsoft.com/office/drawing/2014/main" val="3189783199"/>
                  </a:ext>
                </a:extLst>
              </a:tr>
              <a:tr h="370840">
                <a:tc>
                  <a:txBody>
                    <a:bodyPr/>
                    <a:lstStyle/>
                    <a:p>
                      <a:pPr algn="l"/>
                      <a:r>
                        <a:rPr lang="pt-BR" altLang="zh-TW" sz="2400" dirty="0"/>
                        <a:t>bbadabbado</a:t>
                      </a:r>
                      <a:endParaRPr lang="zh-TW" altLang="en-US" sz="2400" dirty="0">
                        <a:solidFill>
                          <a:schemeClr val="tx1"/>
                        </a:solidFill>
                      </a:endParaRPr>
                    </a:p>
                  </a:txBody>
                  <a:tcPr/>
                </a:tc>
                <a:extLst>
                  <a:ext uri="{0D108BD9-81ED-4DB2-BD59-A6C34878D82A}">
                    <a16:rowId xmlns:a16="http://schemas.microsoft.com/office/drawing/2014/main" val="3589006111"/>
                  </a:ext>
                </a:extLst>
              </a:tr>
              <a:tr h="370840">
                <a:tc>
                  <a:txBody>
                    <a:bodyPr/>
                    <a:lstStyle/>
                    <a:p>
                      <a:pPr algn="l"/>
                      <a:r>
                        <a:rPr lang="pt-BR" altLang="zh-TW" sz="2400" dirty="0"/>
                        <a:t>bbado</a:t>
                      </a:r>
                      <a:endParaRPr lang="zh-TW" altLang="en-US" sz="2400" dirty="0">
                        <a:solidFill>
                          <a:schemeClr val="tx1"/>
                        </a:solidFill>
                      </a:endParaRPr>
                    </a:p>
                  </a:txBody>
                  <a:tcPr/>
                </a:tc>
                <a:extLst>
                  <a:ext uri="{0D108BD9-81ED-4DB2-BD59-A6C34878D82A}">
                    <a16:rowId xmlns:a16="http://schemas.microsoft.com/office/drawing/2014/main" val="108170945"/>
                  </a:ext>
                </a:extLst>
              </a:tr>
              <a:tr h="370840">
                <a:tc>
                  <a:txBody>
                    <a:bodyPr/>
                    <a:lstStyle/>
                    <a:p>
                      <a:pPr algn="l"/>
                      <a:r>
                        <a:rPr lang="pt-BR" altLang="zh-TW" sz="2400" dirty="0"/>
                        <a:t>dabbado</a:t>
                      </a:r>
                      <a:endParaRPr lang="zh-TW" altLang="en-US" sz="2400" dirty="0">
                        <a:solidFill>
                          <a:schemeClr val="tx1"/>
                        </a:solidFill>
                      </a:endParaRPr>
                    </a:p>
                  </a:txBody>
                  <a:tcPr/>
                </a:tc>
                <a:extLst>
                  <a:ext uri="{0D108BD9-81ED-4DB2-BD59-A6C34878D82A}">
                    <a16:rowId xmlns:a16="http://schemas.microsoft.com/office/drawing/2014/main" val="89753937"/>
                  </a:ext>
                </a:extLst>
              </a:tr>
              <a:tr h="370840">
                <a:tc>
                  <a:txBody>
                    <a:bodyPr/>
                    <a:lstStyle/>
                    <a:p>
                      <a:pPr algn="l"/>
                      <a:r>
                        <a:rPr lang="pt-BR" altLang="zh-TW" sz="2400" dirty="0"/>
                        <a:t>do</a:t>
                      </a:r>
                      <a:endParaRPr lang="zh-TW" altLang="en-US" sz="2400" dirty="0">
                        <a:solidFill>
                          <a:schemeClr val="tx1"/>
                        </a:solidFill>
                      </a:endParaRPr>
                    </a:p>
                  </a:txBody>
                  <a:tcPr/>
                </a:tc>
                <a:extLst>
                  <a:ext uri="{0D108BD9-81ED-4DB2-BD59-A6C34878D82A}">
                    <a16:rowId xmlns:a16="http://schemas.microsoft.com/office/drawing/2014/main" val="1404756939"/>
                  </a:ext>
                </a:extLst>
              </a:tr>
              <a:tr h="370840">
                <a:tc>
                  <a:txBody>
                    <a:bodyPr/>
                    <a:lstStyle/>
                    <a:p>
                      <a:pPr algn="l"/>
                      <a:r>
                        <a:rPr lang="pt-BR" altLang="zh-TW" sz="2400" dirty="0"/>
                        <a:t>o</a:t>
                      </a:r>
                      <a:endParaRPr lang="zh-TW" altLang="en-US" sz="2400" dirty="0">
                        <a:solidFill>
                          <a:schemeClr val="tx1"/>
                        </a:solidFill>
                      </a:endParaRPr>
                    </a:p>
                  </a:txBody>
                  <a:tcPr/>
                </a:tc>
                <a:extLst>
                  <a:ext uri="{0D108BD9-81ED-4DB2-BD59-A6C34878D82A}">
                    <a16:rowId xmlns:a16="http://schemas.microsoft.com/office/drawing/2014/main" val="1650676281"/>
                  </a:ext>
                </a:extLst>
              </a:tr>
            </a:tbl>
          </a:graphicData>
        </a:graphic>
      </p:graphicFrame>
      <p:sp>
        <p:nvSpPr>
          <p:cNvPr id="10" name="文字方塊 9">
            <a:extLst>
              <a:ext uri="{FF2B5EF4-FFF2-40B4-BE49-F238E27FC236}">
                <a16:creationId xmlns:a16="http://schemas.microsoft.com/office/drawing/2014/main" id="{7664125F-710C-01C0-2FA8-45CB04BCB363}"/>
              </a:ext>
            </a:extLst>
          </p:cNvPr>
          <p:cNvSpPr txBox="1"/>
          <p:nvPr/>
        </p:nvSpPr>
        <p:spPr>
          <a:xfrm>
            <a:off x="466165" y="5126886"/>
            <a:ext cx="6113929" cy="1200329"/>
          </a:xfrm>
          <a:prstGeom prst="rect">
            <a:avLst/>
          </a:prstGeom>
          <a:noFill/>
        </p:spPr>
        <p:txBody>
          <a:bodyPr wrap="square" rtlCol="0">
            <a:spAutoFit/>
          </a:bodyPr>
          <a:lstStyle/>
          <a:p>
            <a:r>
              <a:rPr lang="zh-TW" altLang="en-US" sz="2400" dirty="0"/>
              <a:t>先用 </a:t>
            </a:r>
            <a:r>
              <a:rPr lang="en-US" altLang="zh-TW" sz="2400" dirty="0"/>
              <a:t>radix sort</a:t>
            </a:r>
          </a:p>
          <a:p>
            <a:pPr lvl="1"/>
            <a:r>
              <a:rPr lang="zh-TW" altLang="en-US" sz="2400" dirty="0"/>
              <a:t>如果沒有重複的順序</a:t>
            </a:r>
            <a:r>
              <a:rPr lang="en-US" altLang="zh-TW" sz="2400" dirty="0"/>
              <a:t>: </a:t>
            </a:r>
            <a:r>
              <a:rPr lang="en-US" altLang="zh-TW" sz="2400" dirty="0">
                <a:solidFill>
                  <a:srgbClr val="FF0000"/>
                </a:solidFill>
              </a:rPr>
              <a:t>step.1 </a:t>
            </a:r>
            <a:r>
              <a:rPr lang="zh-TW" altLang="en-US" sz="2400" dirty="0">
                <a:solidFill>
                  <a:srgbClr val="FF0000"/>
                </a:solidFill>
              </a:rPr>
              <a:t>結束</a:t>
            </a:r>
            <a:endParaRPr lang="en-US" altLang="zh-TW" sz="2400" dirty="0">
              <a:solidFill>
                <a:srgbClr val="FF0000"/>
              </a:solidFill>
            </a:endParaRPr>
          </a:p>
          <a:p>
            <a:pPr lvl="1"/>
            <a:r>
              <a:rPr lang="zh-TW" altLang="en-US" sz="2400" dirty="0"/>
              <a:t>如果有重複的順序</a:t>
            </a:r>
            <a:r>
              <a:rPr lang="en-US" altLang="zh-TW" sz="2400" dirty="0"/>
              <a:t>:</a:t>
            </a:r>
            <a:r>
              <a:rPr lang="zh-TW" altLang="en-US" sz="2400" dirty="0"/>
              <a:t> </a:t>
            </a:r>
            <a:r>
              <a:rPr lang="zh-TW" altLang="en-US" sz="2400" dirty="0">
                <a:solidFill>
                  <a:srgbClr val="FF0000"/>
                </a:solidFill>
              </a:rPr>
              <a:t>遞迴繼續找</a:t>
            </a:r>
            <a:endParaRPr lang="zh-TW" altLang="en-US" sz="2400" dirty="0"/>
          </a:p>
        </p:txBody>
      </p:sp>
    </p:spTree>
    <p:extLst>
      <p:ext uri="{BB962C8B-B14F-4D97-AF65-F5344CB8AC3E}">
        <p14:creationId xmlns:p14="http://schemas.microsoft.com/office/powerpoint/2010/main" val="42890363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019C88F-F1C9-95B6-6D86-23C5334A452C}"/>
              </a:ext>
            </a:extLst>
          </p:cNvPr>
          <p:cNvSpPr>
            <a:spLocks noGrp="1"/>
          </p:cNvSpPr>
          <p:nvPr>
            <p:ph idx="1"/>
          </p:nvPr>
        </p:nvSpPr>
        <p:spPr>
          <a:xfrm>
            <a:off x="838200" y="447955"/>
            <a:ext cx="10515600" cy="4351338"/>
          </a:xfrm>
        </p:spPr>
        <p:txBody>
          <a:bodyPr/>
          <a:lstStyle/>
          <a:p>
            <a:r>
              <a:rPr lang="en-US" altLang="zh-TW" dirty="0">
                <a:solidFill>
                  <a:srgbClr val="FF0000"/>
                </a:solidFill>
              </a:rPr>
              <a:t>Step.2 </a:t>
            </a:r>
            <a:r>
              <a:rPr lang="zh-TW" altLang="en-US" dirty="0"/>
              <a:t>建立 </a:t>
            </a:r>
            <a:r>
              <a:rPr lang="en-US" altLang="zh-TW" i="1" dirty="0" err="1"/>
              <a:t>i</a:t>
            </a:r>
            <a:r>
              <a:rPr lang="en-US" altLang="zh-TW" dirty="0"/>
              <a:t> mod3 </a:t>
            </a:r>
            <a:r>
              <a:rPr lang="en-US" altLang="zh-TW" b="0" i="0" dirty="0">
                <a:effectLst/>
                <a:latin typeface="arial" panose="020B0604020202020204" pitchFamily="34" charset="0"/>
              </a:rPr>
              <a:t>=</a:t>
            </a:r>
            <a:r>
              <a:rPr lang="en-US" altLang="zh-TW" dirty="0"/>
              <a:t> 0</a:t>
            </a:r>
            <a:r>
              <a:rPr lang="zh-TW" altLang="en-US" dirty="0"/>
              <a:t> 的 </a:t>
            </a:r>
            <a:r>
              <a:rPr lang="en-US" altLang="zh-TW" dirty="0"/>
              <a:t>suffix array</a:t>
            </a:r>
          </a:p>
        </p:txBody>
      </p:sp>
      <p:graphicFrame>
        <p:nvGraphicFramePr>
          <p:cNvPr id="4" name="表格 4">
            <a:extLst>
              <a:ext uri="{FF2B5EF4-FFF2-40B4-BE49-F238E27FC236}">
                <a16:creationId xmlns:a16="http://schemas.microsoft.com/office/drawing/2014/main" id="{E5ACF623-BD5C-236C-EC75-92F0134CB009}"/>
              </a:ext>
            </a:extLst>
          </p:cNvPr>
          <p:cNvGraphicFramePr>
            <a:graphicFrameLocks noGrp="1"/>
          </p:cNvGraphicFramePr>
          <p:nvPr>
            <p:extLst>
              <p:ext uri="{D42A27DB-BD31-4B8C-83A1-F6EECF244321}">
                <p14:modId xmlns:p14="http://schemas.microsoft.com/office/powerpoint/2010/main" val="3556969324"/>
              </p:ext>
            </p:extLst>
          </p:nvPr>
        </p:nvGraphicFramePr>
        <p:xfrm>
          <a:off x="2029945" y="1500281"/>
          <a:ext cx="8604000" cy="914400"/>
        </p:xfrm>
        <a:graphic>
          <a:graphicData uri="http://schemas.openxmlformats.org/drawingml/2006/table">
            <a:tbl>
              <a:tblPr firstRow="1" bandRow="1">
                <a:tableStyleId>{E8B1032C-EA38-4F05-BA0D-38AFFFC7BED3}</a:tableStyleId>
              </a:tblPr>
              <a:tblGrid>
                <a:gridCol w="828000">
                  <a:extLst>
                    <a:ext uri="{9D8B030D-6E8A-4147-A177-3AD203B41FA5}">
                      <a16:colId xmlns:a16="http://schemas.microsoft.com/office/drawing/2014/main" val="3687563117"/>
                    </a:ext>
                  </a:extLst>
                </a:gridCol>
                <a:gridCol w="648000">
                  <a:extLst>
                    <a:ext uri="{9D8B030D-6E8A-4147-A177-3AD203B41FA5}">
                      <a16:colId xmlns:a16="http://schemas.microsoft.com/office/drawing/2014/main" val="3458925501"/>
                    </a:ext>
                  </a:extLst>
                </a:gridCol>
                <a:gridCol w="648000">
                  <a:extLst>
                    <a:ext uri="{9D8B030D-6E8A-4147-A177-3AD203B41FA5}">
                      <a16:colId xmlns:a16="http://schemas.microsoft.com/office/drawing/2014/main" val="4030832065"/>
                    </a:ext>
                  </a:extLst>
                </a:gridCol>
                <a:gridCol w="648000">
                  <a:extLst>
                    <a:ext uri="{9D8B030D-6E8A-4147-A177-3AD203B41FA5}">
                      <a16:colId xmlns:a16="http://schemas.microsoft.com/office/drawing/2014/main" val="1724438594"/>
                    </a:ext>
                  </a:extLst>
                </a:gridCol>
                <a:gridCol w="648000">
                  <a:extLst>
                    <a:ext uri="{9D8B030D-6E8A-4147-A177-3AD203B41FA5}">
                      <a16:colId xmlns:a16="http://schemas.microsoft.com/office/drawing/2014/main" val="4209229924"/>
                    </a:ext>
                  </a:extLst>
                </a:gridCol>
                <a:gridCol w="648000">
                  <a:extLst>
                    <a:ext uri="{9D8B030D-6E8A-4147-A177-3AD203B41FA5}">
                      <a16:colId xmlns:a16="http://schemas.microsoft.com/office/drawing/2014/main" val="2908390315"/>
                    </a:ext>
                  </a:extLst>
                </a:gridCol>
                <a:gridCol w="648000">
                  <a:extLst>
                    <a:ext uri="{9D8B030D-6E8A-4147-A177-3AD203B41FA5}">
                      <a16:colId xmlns:a16="http://schemas.microsoft.com/office/drawing/2014/main" val="1002060645"/>
                    </a:ext>
                  </a:extLst>
                </a:gridCol>
                <a:gridCol w="648000">
                  <a:extLst>
                    <a:ext uri="{9D8B030D-6E8A-4147-A177-3AD203B41FA5}">
                      <a16:colId xmlns:a16="http://schemas.microsoft.com/office/drawing/2014/main" val="2341577556"/>
                    </a:ext>
                  </a:extLst>
                </a:gridCol>
                <a:gridCol w="648000">
                  <a:extLst>
                    <a:ext uri="{9D8B030D-6E8A-4147-A177-3AD203B41FA5}">
                      <a16:colId xmlns:a16="http://schemas.microsoft.com/office/drawing/2014/main" val="476296480"/>
                    </a:ext>
                  </a:extLst>
                </a:gridCol>
                <a:gridCol w="648000">
                  <a:extLst>
                    <a:ext uri="{9D8B030D-6E8A-4147-A177-3AD203B41FA5}">
                      <a16:colId xmlns:a16="http://schemas.microsoft.com/office/drawing/2014/main" val="1461677071"/>
                    </a:ext>
                  </a:extLst>
                </a:gridCol>
                <a:gridCol w="648000">
                  <a:extLst>
                    <a:ext uri="{9D8B030D-6E8A-4147-A177-3AD203B41FA5}">
                      <a16:colId xmlns:a16="http://schemas.microsoft.com/office/drawing/2014/main" val="2307505867"/>
                    </a:ext>
                  </a:extLst>
                </a:gridCol>
                <a:gridCol w="648000">
                  <a:extLst>
                    <a:ext uri="{9D8B030D-6E8A-4147-A177-3AD203B41FA5}">
                      <a16:colId xmlns:a16="http://schemas.microsoft.com/office/drawing/2014/main" val="886355715"/>
                    </a:ext>
                  </a:extLst>
                </a:gridCol>
                <a:gridCol w="648000">
                  <a:extLst>
                    <a:ext uri="{9D8B030D-6E8A-4147-A177-3AD203B41FA5}">
                      <a16:colId xmlns:a16="http://schemas.microsoft.com/office/drawing/2014/main" val="4061749657"/>
                    </a:ext>
                  </a:extLst>
                </a:gridCol>
              </a:tblGrid>
              <a:tr h="288000">
                <a:tc>
                  <a:txBody>
                    <a:bodyPr/>
                    <a:lstStyle/>
                    <a:p>
                      <a:pPr algn="ctr"/>
                      <a:r>
                        <a:rPr lang="en-US" altLang="zh-TW" sz="2400" b="0" dirty="0" err="1"/>
                        <a:t>i</a:t>
                      </a:r>
                      <a:endParaRPr lang="zh-TW" altLang="en-US" sz="2400" b="0" dirty="0"/>
                    </a:p>
                  </a:txBody>
                  <a:tcPr>
                    <a:solidFill>
                      <a:schemeClr val="bg2"/>
                    </a:solidFill>
                  </a:tcPr>
                </a:tc>
                <a:tc>
                  <a:txBody>
                    <a:bodyPr/>
                    <a:lstStyle/>
                    <a:p>
                      <a:pPr algn="ctr"/>
                      <a:r>
                        <a:rPr lang="en-US" altLang="zh-TW" sz="2400" b="0" dirty="0"/>
                        <a:t>0</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solidFill>
                      <a:schemeClr val="bg2"/>
                    </a:solidFill>
                  </a:tcPr>
                </a:tc>
                <a:tc>
                  <a:txBody>
                    <a:bodyPr/>
                    <a:lstStyle/>
                    <a:p>
                      <a:pPr algn="ctr"/>
                      <a:r>
                        <a:rPr lang="en-US" altLang="zh-TW" sz="2400" b="0" dirty="0"/>
                        <a:t>2</a:t>
                      </a:r>
                      <a:endParaRPr lang="zh-TW" altLang="en-US" sz="2400" b="0" dirty="0"/>
                    </a:p>
                  </a:txBody>
                  <a:tcPr>
                    <a:solidFill>
                      <a:schemeClr val="bg2"/>
                    </a:solidFill>
                  </a:tcPr>
                </a:tc>
                <a:tc>
                  <a:txBody>
                    <a:bodyPr/>
                    <a:lstStyle/>
                    <a:p>
                      <a:pPr algn="ctr"/>
                      <a:r>
                        <a:rPr lang="en-US" altLang="zh-TW" sz="2400" b="0" dirty="0"/>
                        <a:t>3</a:t>
                      </a:r>
                      <a:endParaRPr lang="zh-TW" altLang="en-US" sz="2400" b="0" dirty="0"/>
                    </a:p>
                  </a:txBody>
                  <a:tcPr>
                    <a:solidFill>
                      <a:schemeClr val="bg2"/>
                    </a:solidFill>
                  </a:tcPr>
                </a:tc>
                <a:tc>
                  <a:txBody>
                    <a:bodyPr/>
                    <a:lstStyle/>
                    <a:p>
                      <a:pPr algn="ctr"/>
                      <a:r>
                        <a:rPr lang="en-US" altLang="zh-TW" sz="2400" b="0" dirty="0"/>
                        <a:t>4</a:t>
                      </a:r>
                      <a:endParaRPr lang="zh-TW" altLang="en-US" sz="2400" b="0" dirty="0"/>
                    </a:p>
                  </a:txBody>
                  <a:tcPr>
                    <a:solidFill>
                      <a:schemeClr val="bg2"/>
                    </a:solidFill>
                  </a:tcPr>
                </a:tc>
                <a:tc>
                  <a:txBody>
                    <a:bodyPr/>
                    <a:lstStyle/>
                    <a:p>
                      <a:pPr algn="ctr"/>
                      <a:r>
                        <a:rPr lang="en-US" altLang="zh-TW" sz="2400" b="0" dirty="0"/>
                        <a:t>5</a:t>
                      </a:r>
                      <a:endParaRPr lang="zh-TW" altLang="en-US" sz="2400" b="0" dirty="0"/>
                    </a:p>
                  </a:txBody>
                  <a:tcPr>
                    <a:solidFill>
                      <a:schemeClr val="bg2"/>
                    </a:solidFill>
                  </a:tcPr>
                </a:tc>
                <a:tc>
                  <a:txBody>
                    <a:bodyPr/>
                    <a:lstStyle/>
                    <a:p>
                      <a:pPr algn="ctr"/>
                      <a:r>
                        <a:rPr lang="en-US" altLang="zh-TW" sz="2400" b="0" dirty="0"/>
                        <a:t>6</a:t>
                      </a:r>
                      <a:endParaRPr lang="zh-TW" altLang="en-US" sz="2400" b="0" dirty="0"/>
                    </a:p>
                  </a:txBody>
                  <a:tcPr>
                    <a:solidFill>
                      <a:schemeClr val="bg2"/>
                    </a:solidFill>
                  </a:tcPr>
                </a:tc>
                <a:tc>
                  <a:txBody>
                    <a:bodyPr/>
                    <a:lstStyle/>
                    <a:p>
                      <a:pPr algn="ctr"/>
                      <a:r>
                        <a:rPr lang="en-US" altLang="zh-TW" sz="2400" b="0" dirty="0"/>
                        <a:t>7</a:t>
                      </a:r>
                      <a:endParaRPr lang="zh-TW" altLang="en-US" sz="2400" b="0" dirty="0"/>
                    </a:p>
                  </a:txBody>
                  <a:tcPr>
                    <a:solidFill>
                      <a:schemeClr val="bg2"/>
                    </a:solidFill>
                  </a:tcPr>
                </a:tc>
                <a:tc>
                  <a:txBody>
                    <a:bodyPr/>
                    <a:lstStyle/>
                    <a:p>
                      <a:pPr algn="ctr"/>
                      <a:r>
                        <a:rPr lang="en-US" altLang="zh-TW" sz="2400" b="0" dirty="0"/>
                        <a:t>8</a:t>
                      </a:r>
                      <a:endParaRPr lang="zh-TW" altLang="en-US" sz="2400" b="0" dirty="0"/>
                    </a:p>
                  </a:txBody>
                  <a:tcPr>
                    <a:solidFill>
                      <a:schemeClr val="bg2"/>
                    </a:solidFill>
                  </a:tcPr>
                </a:tc>
                <a:tc>
                  <a:txBody>
                    <a:bodyPr/>
                    <a:lstStyle/>
                    <a:p>
                      <a:pPr algn="ctr"/>
                      <a:r>
                        <a:rPr lang="en-US" altLang="zh-TW" sz="2400" b="0" dirty="0"/>
                        <a:t>9</a:t>
                      </a:r>
                      <a:endParaRPr lang="zh-TW" altLang="en-US" sz="2400" b="0" dirty="0"/>
                    </a:p>
                  </a:txBody>
                  <a:tcPr>
                    <a:solidFill>
                      <a:schemeClr val="bg2"/>
                    </a:solidFill>
                  </a:tcPr>
                </a:tc>
                <a:tc>
                  <a:txBody>
                    <a:bodyPr/>
                    <a:lstStyle/>
                    <a:p>
                      <a:pPr algn="ctr"/>
                      <a:r>
                        <a:rPr lang="en-US" altLang="zh-TW" sz="2400" b="0" dirty="0"/>
                        <a:t>10</a:t>
                      </a:r>
                      <a:endParaRPr lang="zh-TW" altLang="en-US" sz="2400" b="0" dirty="0"/>
                    </a:p>
                  </a:txBody>
                  <a:tcPr>
                    <a:solidFill>
                      <a:schemeClr val="bg2"/>
                    </a:solidFill>
                  </a:tcPr>
                </a:tc>
                <a:tc>
                  <a:txBody>
                    <a:bodyPr/>
                    <a:lstStyle/>
                    <a:p>
                      <a:pPr algn="ctr"/>
                      <a:r>
                        <a:rPr lang="en-US" altLang="zh-TW" sz="2400" b="0" dirty="0"/>
                        <a:t>11</a:t>
                      </a:r>
                      <a:endParaRPr lang="zh-TW" altLang="en-US" sz="2400" b="0" dirty="0"/>
                    </a:p>
                  </a:txBody>
                  <a:tcPr>
                    <a:solidFill>
                      <a:schemeClr val="bg2"/>
                    </a:solidFill>
                  </a:tcPr>
                </a:tc>
                <a:extLst>
                  <a:ext uri="{0D108BD9-81ED-4DB2-BD59-A6C34878D82A}">
                    <a16:rowId xmlns:a16="http://schemas.microsoft.com/office/drawing/2014/main" val="4195531117"/>
                  </a:ext>
                </a:extLst>
              </a:tr>
              <a:tr h="288000">
                <a:tc>
                  <a:txBody>
                    <a:bodyPr/>
                    <a:lstStyle/>
                    <a:p>
                      <a:pPr algn="ctr"/>
                      <a:r>
                        <a:rPr lang="en-US" altLang="zh-TW" sz="2400" b="0" dirty="0"/>
                        <a:t>W</a:t>
                      </a:r>
                      <a:endParaRPr lang="zh-TW" altLang="en-US" sz="2400" b="0" dirty="0"/>
                    </a:p>
                  </a:txBody>
                  <a:tcPr>
                    <a:solidFill>
                      <a:schemeClr val="bg2"/>
                    </a:solidFill>
                  </a:tcPr>
                </a:tc>
                <a:tc>
                  <a:txBody>
                    <a:bodyPr/>
                    <a:lstStyle/>
                    <a:p>
                      <a:pPr algn="ctr"/>
                      <a:r>
                        <a:rPr lang="en-US" altLang="zh-TW" sz="2400" b="0" dirty="0"/>
                        <a:t>y</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d</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b</a:t>
                      </a:r>
                      <a:endParaRPr lang="zh-TW" altLang="en-US" sz="2400" b="0" dirty="0"/>
                    </a:p>
                  </a:txBody>
                  <a:tcPr>
                    <a:noFill/>
                  </a:tcPr>
                </a:tc>
                <a:tc>
                  <a:txBody>
                    <a:bodyPr/>
                    <a:lstStyle/>
                    <a:p>
                      <a:pPr algn="ctr"/>
                      <a:r>
                        <a:rPr lang="en-US" altLang="zh-TW" sz="2400" b="0" dirty="0"/>
                        <a:t>a</a:t>
                      </a:r>
                      <a:endParaRPr lang="zh-TW" altLang="en-US" sz="2400" b="0" dirty="0"/>
                    </a:p>
                  </a:txBody>
                  <a:tcPr>
                    <a:noFill/>
                  </a:tcPr>
                </a:tc>
                <a:tc>
                  <a:txBody>
                    <a:bodyPr/>
                    <a:lstStyle/>
                    <a:p>
                      <a:pPr algn="ctr"/>
                      <a:r>
                        <a:rPr lang="en-US" altLang="zh-TW" sz="2400" b="0" dirty="0"/>
                        <a:t>d</a:t>
                      </a:r>
                      <a:endParaRPr lang="zh-TW" altLang="en-US" sz="2400" b="0" dirty="0"/>
                    </a:p>
                  </a:txBody>
                  <a:tcPr>
                    <a:noFill/>
                  </a:tcPr>
                </a:tc>
                <a:tc>
                  <a:txBody>
                    <a:bodyPr/>
                    <a:lstStyle/>
                    <a:p>
                      <a:pPr algn="ctr"/>
                      <a:r>
                        <a:rPr lang="en-US" altLang="zh-TW" sz="2400" b="0" dirty="0"/>
                        <a:t>o</a:t>
                      </a:r>
                      <a:endParaRPr lang="zh-TW" altLang="en-US" sz="2400" b="0" dirty="0"/>
                    </a:p>
                  </a:txBody>
                  <a:tcPr>
                    <a:noFill/>
                  </a:tcPr>
                </a:tc>
                <a:extLst>
                  <a:ext uri="{0D108BD9-81ED-4DB2-BD59-A6C34878D82A}">
                    <a16:rowId xmlns:a16="http://schemas.microsoft.com/office/drawing/2014/main" val="3474810379"/>
                  </a:ext>
                </a:extLst>
              </a:tr>
            </a:tbl>
          </a:graphicData>
        </a:graphic>
      </p:graphicFrame>
      <p:graphicFrame>
        <p:nvGraphicFramePr>
          <p:cNvPr id="5" name="表格 4">
            <a:extLst>
              <a:ext uri="{FF2B5EF4-FFF2-40B4-BE49-F238E27FC236}">
                <a16:creationId xmlns:a16="http://schemas.microsoft.com/office/drawing/2014/main" id="{F3B2450E-5C90-8C6C-0B48-0576C1556D05}"/>
              </a:ext>
            </a:extLst>
          </p:cNvPr>
          <p:cNvGraphicFramePr>
            <a:graphicFrameLocks noGrp="1"/>
          </p:cNvGraphicFramePr>
          <p:nvPr>
            <p:extLst>
              <p:ext uri="{D42A27DB-BD31-4B8C-83A1-F6EECF244321}">
                <p14:modId xmlns:p14="http://schemas.microsoft.com/office/powerpoint/2010/main" val="2114746602"/>
              </p:ext>
            </p:extLst>
          </p:nvPr>
        </p:nvGraphicFramePr>
        <p:xfrm>
          <a:off x="2277595" y="2892425"/>
          <a:ext cx="6624000" cy="1371600"/>
        </p:xfrm>
        <a:graphic>
          <a:graphicData uri="http://schemas.openxmlformats.org/drawingml/2006/table">
            <a:tbl>
              <a:tblPr firstRow="1" bandRow="1">
                <a:tableStyleId>{E8B1032C-EA38-4F05-BA0D-38AFFFC7BED3}</a:tableStyleId>
              </a:tblPr>
              <a:tblGrid>
                <a:gridCol w="1440000">
                  <a:extLst>
                    <a:ext uri="{9D8B030D-6E8A-4147-A177-3AD203B41FA5}">
                      <a16:colId xmlns:a16="http://schemas.microsoft.com/office/drawing/2014/main" val="3687563117"/>
                    </a:ext>
                  </a:extLst>
                </a:gridCol>
                <a:gridCol w="648000">
                  <a:extLst>
                    <a:ext uri="{9D8B030D-6E8A-4147-A177-3AD203B41FA5}">
                      <a16:colId xmlns:a16="http://schemas.microsoft.com/office/drawing/2014/main" val="3458925501"/>
                    </a:ext>
                  </a:extLst>
                </a:gridCol>
                <a:gridCol w="648000">
                  <a:extLst>
                    <a:ext uri="{9D8B030D-6E8A-4147-A177-3AD203B41FA5}">
                      <a16:colId xmlns:a16="http://schemas.microsoft.com/office/drawing/2014/main" val="4030832065"/>
                    </a:ext>
                  </a:extLst>
                </a:gridCol>
                <a:gridCol w="648000">
                  <a:extLst>
                    <a:ext uri="{9D8B030D-6E8A-4147-A177-3AD203B41FA5}">
                      <a16:colId xmlns:a16="http://schemas.microsoft.com/office/drawing/2014/main" val="1724438594"/>
                    </a:ext>
                  </a:extLst>
                </a:gridCol>
                <a:gridCol w="648000">
                  <a:extLst>
                    <a:ext uri="{9D8B030D-6E8A-4147-A177-3AD203B41FA5}">
                      <a16:colId xmlns:a16="http://schemas.microsoft.com/office/drawing/2014/main" val="4209229924"/>
                    </a:ext>
                  </a:extLst>
                </a:gridCol>
                <a:gridCol w="648000">
                  <a:extLst>
                    <a:ext uri="{9D8B030D-6E8A-4147-A177-3AD203B41FA5}">
                      <a16:colId xmlns:a16="http://schemas.microsoft.com/office/drawing/2014/main" val="2908390315"/>
                    </a:ext>
                  </a:extLst>
                </a:gridCol>
                <a:gridCol w="648000">
                  <a:extLst>
                    <a:ext uri="{9D8B030D-6E8A-4147-A177-3AD203B41FA5}">
                      <a16:colId xmlns:a16="http://schemas.microsoft.com/office/drawing/2014/main" val="1002060645"/>
                    </a:ext>
                  </a:extLst>
                </a:gridCol>
                <a:gridCol w="648000">
                  <a:extLst>
                    <a:ext uri="{9D8B030D-6E8A-4147-A177-3AD203B41FA5}">
                      <a16:colId xmlns:a16="http://schemas.microsoft.com/office/drawing/2014/main" val="2341577556"/>
                    </a:ext>
                  </a:extLst>
                </a:gridCol>
                <a:gridCol w="648000">
                  <a:extLst>
                    <a:ext uri="{9D8B030D-6E8A-4147-A177-3AD203B41FA5}">
                      <a16:colId xmlns:a16="http://schemas.microsoft.com/office/drawing/2014/main" val="476296480"/>
                    </a:ext>
                  </a:extLst>
                </a:gridCol>
              </a:tblGrid>
              <a:tr h="288000">
                <a:tc>
                  <a:txBody>
                    <a:bodyPr/>
                    <a:lstStyle/>
                    <a:p>
                      <a:pPr algn="ctr"/>
                      <a:r>
                        <a:rPr lang="en-US" altLang="zh-TW" sz="2400" b="0" dirty="0"/>
                        <a:t>pos in W</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solidFill>
                      <a:schemeClr val="accent3">
                        <a:lumMod val="40000"/>
                        <a:lumOff val="60000"/>
                      </a:schemeClr>
                    </a:solidFill>
                  </a:tcPr>
                </a:tc>
                <a:tc>
                  <a:txBody>
                    <a:bodyPr/>
                    <a:lstStyle/>
                    <a:p>
                      <a:pPr algn="ctr"/>
                      <a:r>
                        <a:rPr lang="en-US" altLang="zh-TW" sz="2400" b="0" dirty="0"/>
                        <a:t>4</a:t>
                      </a:r>
                      <a:endParaRPr lang="zh-TW" altLang="en-US" sz="2400" b="0" dirty="0"/>
                    </a:p>
                  </a:txBody>
                  <a:tcPr>
                    <a:solidFill>
                      <a:schemeClr val="accent3">
                        <a:lumMod val="40000"/>
                        <a:lumOff val="60000"/>
                      </a:schemeClr>
                    </a:solidFill>
                  </a:tcPr>
                </a:tc>
                <a:tc>
                  <a:txBody>
                    <a:bodyPr/>
                    <a:lstStyle/>
                    <a:p>
                      <a:pPr algn="ctr"/>
                      <a:r>
                        <a:rPr lang="en-US" altLang="zh-TW" sz="2400" b="0" dirty="0"/>
                        <a:t>7</a:t>
                      </a:r>
                      <a:endParaRPr lang="zh-TW" altLang="en-US" sz="2400" b="0" dirty="0"/>
                    </a:p>
                  </a:txBody>
                  <a:tcPr>
                    <a:solidFill>
                      <a:schemeClr val="accent3">
                        <a:lumMod val="40000"/>
                        <a:lumOff val="60000"/>
                      </a:schemeClr>
                    </a:solidFill>
                  </a:tcPr>
                </a:tc>
                <a:tc>
                  <a:txBody>
                    <a:bodyPr/>
                    <a:lstStyle/>
                    <a:p>
                      <a:pPr algn="ctr"/>
                      <a:r>
                        <a:rPr lang="en-US" altLang="zh-TW" sz="2400" b="0" dirty="0"/>
                        <a:t>10</a:t>
                      </a:r>
                      <a:endParaRPr lang="zh-TW" altLang="en-US" sz="2400" b="0" dirty="0"/>
                    </a:p>
                  </a:txBody>
                  <a:tcPr>
                    <a:solidFill>
                      <a:schemeClr val="accent3">
                        <a:lumMod val="40000"/>
                        <a:lumOff val="60000"/>
                      </a:schemeClr>
                    </a:solidFill>
                  </a:tcPr>
                </a:tc>
                <a:tc>
                  <a:txBody>
                    <a:bodyPr/>
                    <a:lstStyle/>
                    <a:p>
                      <a:pPr algn="ctr"/>
                      <a:r>
                        <a:rPr lang="en-US" altLang="zh-TW" sz="2400" b="0" dirty="0"/>
                        <a:t>2</a:t>
                      </a:r>
                      <a:endParaRPr lang="zh-TW" altLang="en-US" sz="2400" b="0" dirty="0"/>
                    </a:p>
                  </a:txBody>
                  <a:tcPr>
                    <a:solidFill>
                      <a:schemeClr val="accent3">
                        <a:lumMod val="40000"/>
                        <a:lumOff val="60000"/>
                      </a:schemeClr>
                    </a:solidFill>
                  </a:tcPr>
                </a:tc>
                <a:tc>
                  <a:txBody>
                    <a:bodyPr/>
                    <a:lstStyle/>
                    <a:p>
                      <a:pPr algn="ctr"/>
                      <a:r>
                        <a:rPr lang="en-US" altLang="zh-TW" sz="2400" b="0" dirty="0"/>
                        <a:t>5</a:t>
                      </a:r>
                      <a:endParaRPr lang="zh-TW" altLang="en-US" sz="2400" b="0" dirty="0"/>
                    </a:p>
                  </a:txBody>
                  <a:tcPr>
                    <a:solidFill>
                      <a:schemeClr val="accent3">
                        <a:lumMod val="40000"/>
                        <a:lumOff val="60000"/>
                      </a:schemeClr>
                    </a:solidFill>
                  </a:tcPr>
                </a:tc>
                <a:tc>
                  <a:txBody>
                    <a:bodyPr/>
                    <a:lstStyle/>
                    <a:p>
                      <a:pPr algn="ctr"/>
                      <a:r>
                        <a:rPr lang="en-US" altLang="zh-TW" sz="2400" b="0" dirty="0"/>
                        <a:t>8</a:t>
                      </a:r>
                      <a:endParaRPr lang="zh-TW" altLang="en-US" sz="2400" b="0" dirty="0"/>
                    </a:p>
                  </a:txBody>
                  <a:tcPr>
                    <a:solidFill>
                      <a:schemeClr val="accent3">
                        <a:lumMod val="40000"/>
                        <a:lumOff val="60000"/>
                      </a:schemeClr>
                    </a:solidFill>
                  </a:tcPr>
                </a:tc>
                <a:tc>
                  <a:txBody>
                    <a:bodyPr/>
                    <a:lstStyle/>
                    <a:p>
                      <a:pPr algn="ctr"/>
                      <a:r>
                        <a:rPr lang="en-US" altLang="zh-TW" sz="2400" b="0" dirty="0"/>
                        <a:t>11</a:t>
                      </a:r>
                      <a:endParaRPr lang="zh-TW" altLang="en-US" sz="2400" b="0" dirty="0"/>
                    </a:p>
                  </a:txBody>
                  <a:tcPr>
                    <a:solidFill>
                      <a:schemeClr val="accent3">
                        <a:lumMod val="40000"/>
                        <a:lumOff val="60000"/>
                      </a:schemeClr>
                    </a:solidFill>
                  </a:tcPr>
                </a:tc>
                <a:extLst>
                  <a:ext uri="{0D108BD9-81ED-4DB2-BD59-A6C34878D82A}">
                    <a16:rowId xmlns:a16="http://schemas.microsoft.com/office/drawing/2014/main" val="3474810379"/>
                  </a:ext>
                </a:extLst>
              </a:tr>
              <a:tr h="288000">
                <a:tc>
                  <a:txBody>
                    <a:bodyPr/>
                    <a:lstStyle/>
                    <a:p>
                      <a:pPr algn="ctr"/>
                      <a:r>
                        <a:rPr lang="en-US" altLang="zh-TW" sz="2400" b="0" dirty="0"/>
                        <a:t>w</a:t>
                      </a:r>
                      <a:r>
                        <a:rPr lang="en-US" altLang="zh-TW" sz="2400" b="0" baseline="-25000" dirty="0"/>
                        <a:t>p</a:t>
                      </a:r>
                      <a:r>
                        <a:rPr lang="en-US" altLang="zh-TW" sz="2400" b="0" baseline="0" dirty="0"/>
                        <a:t>…w</a:t>
                      </a:r>
                      <a:r>
                        <a:rPr lang="en-US" altLang="zh-TW" sz="2400" b="0" baseline="-25000" dirty="0"/>
                        <a:t>p+2</a:t>
                      </a:r>
                      <a:endParaRPr lang="zh-TW" altLang="en-US" sz="2400" b="0" dirty="0"/>
                    </a:p>
                  </a:txBody>
                  <a:tcPr>
                    <a:solidFill>
                      <a:schemeClr val="bg2"/>
                    </a:solidFill>
                  </a:tcPr>
                </a:tc>
                <a:tc>
                  <a:txBody>
                    <a:bodyPr/>
                    <a:lstStyle/>
                    <a:p>
                      <a:pPr algn="ctr"/>
                      <a:r>
                        <a:rPr lang="en-US" altLang="zh-TW" sz="2400" b="0" dirty="0"/>
                        <a:t>abb</a:t>
                      </a:r>
                      <a:endParaRPr lang="zh-TW" altLang="en-US" sz="2400" b="0" dirty="0"/>
                    </a:p>
                  </a:txBody>
                  <a:tcPr>
                    <a:solidFill>
                      <a:schemeClr val="accent6">
                        <a:lumMod val="20000"/>
                        <a:lumOff val="80000"/>
                      </a:schemeClr>
                    </a:solidFill>
                  </a:tcPr>
                </a:tc>
                <a:tc>
                  <a:txBody>
                    <a:bodyPr/>
                    <a:lstStyle/>
                    <a:p>
                      <a:pPr algn="ctr"/>
                      <a:r>
                        <a:rPr lang="en-US" altLang="zh-TW" sz="2400" b="0" dirty="0" err="1"/>
                        <a:t>ada</a:t>
                      </a:r>
                      <a:endParaRPr lang="zh-TW" altLang="en-US" sz="2400" b="0" dirty="0"/>
                    </a:p>
                  </a:txBody>
                  <a:tcPr>
                    <a:solidFill>
                      <a:schemeClr val="accent6">
                        <a:lumMod val="20000"/>
                        <a:lumOff val="80000"/>
                      </a:schemeClr>
                    </a:solidFill>
                  </a:tcPr>
                </a:tc>
                <a:tc>
                  <a:txBody>
                    <a:bodyPr/>
                    <a:lstStyle/>
                    <a:p>
                      <a:pPr algn="ctr"/>
                      <a:r>
                        <a:rPr lang="en-US" altLang="zh-TW" sz="2400" b="0" dirty="0" err="1"/>
                        <a:t>bba</a:t>
                      </a:r>
                      <a:endParaRPr lang="zh-TW" altLang="en-US" sz="2400" b="0" dirty="0"/>
                    </a:p>
                  </a:txBody>
                  <a:tcPr>
                    <a:solidFill>
                      <a:schemeClr val="accent6">
                        <a:lumMod val="20000"/>
                        <a:lumOff val="80000"/>
                      </a:schemeClr>
                    </a:solidFill>
                  </a:tcPr>
                </a:tc>
                <a:tc>
                  <a:txBody>
                    <a:bodyPr/>
                    <a:lstStyle/>
                    <a:p>
                      <a:pPr algn="ctr"/>
                      <a:r>
                        <a:rPr lang="en-US" altLang="zh-TW" sz="2400" b="0" dirty="0"/>
                        <a:t>do$</a:t>
                      </a:r>
                      <a:endParaRPr lang="zh-TW" altLang="en-US" sz="2400" b="0" dirty="0"/>
                    </a:p>
                  </a:txBody>
                  <a:tcPr>
                    <a:solidFill>
                      <a:schemeClr val="accent6">
                        <a:lumMod val="20000"/>
                        <a:lumOff val="80000"/>
                      </a:schemeClr>
                    </a:solidFill>
                  </a:tcPr>
                </a:tc>
                <a:tc>
                  <a:txBody>
                    <a:bodyPr/>
                    <a:lstStyle/>
                    <a:p>
                      <a:pPr algn="ctr"/>
                      <a:r>
                        <a:rPr lang="en-US" altLang="zh-TW" sz="2400" b="0" dirty="0" err="1"/>
                        <a:t>bba</a:t>
                      </a:r>
                      <a:endParaRPr lang="zh-TW" altLang="en-US" sz="2400" b="0" dirty="0"/>
                    </a:p>
                  </a:txBody>
                  <a:tcPr>
                    <a:solidFill>
                      <a:schemeClr val="accent6">
                        <a:lumMod val="20000"/>
                        <a:lumOff val="80000"/>
                      </a:schemeClr>
                    </a:solidFill>
                  </a:tcPr>
                </a:tc>
                <a:tc>
                  <a:txBody>
                    <a:bodyPr/>
                    <a:lstStyle/>
                    <a:p>
                      <a:pPr algn="ctr"/>
                      <a:r>
                        <a:rPr lang="en-US" altLang="zh-TW" sz="2400" b="0" dirty="0"/>
                        <a:t>dab</a:t>
                      </a:r>
                      <a:endParaRPr lang="zh-TW" altLang="en-US" sz="2400" b="0" dirty="0"/>
                    </a:p>
                  </a:txBody>
                  <a:tcPr>
                    <a:solidFill>
                      <a:schemeClr val="accent6">
                        <a:lumMod val="20000"/>
                        <a:lumOff val="80000"/>
                      </a:schemeClr>
                    </a:solidFill>
                  </a:tcPr>
                </a:tc>
                <a:tc>
                  <a:txBody>
                    <a:bodyPr/>
                    <a:lstStyle/>
                    <a:p>
                      <a:pPr algn="ctr"/>
                      <a:r>
                        <a:rPr lang="en-US" altLang="zh-TW" sz="2400" b="0" dirty="0"/>
                        <a:t>bad</a:t>
                      </a:r>
                      <a:endParaRPr lang="zh-TW" altLang="en-US" sz="2400" b="0" dirty="0"/>
                    </a:p>
                  </a:txBody>
                  <a:tcPr>
                    <a:solidFill>
                      <a:schemeClr val="accent6">
                        <a:lumMod val="20000"/>
                        <a:lumOff val="80000"/>
                      </a:schemeClr>
                    </a:solidFill>
                  </a:tcPr>
                </a:tc>
                <a:tc>
                  <a:txBody>
                    <a:bodyPr/>
                    <a:lstStyle/>
                    <a:p>
                      <a:pPr algn="ctr"/>
                      <a:r>
                        <a:rPr lang="en-US" altLang="zh-TW" sz="2400" b="0" dirty="0"/>
                        <a:t>o$$</a:t>
                      </a:r>
                      <a:endParaRPr lang="zh-TW" altLang="en-US" sz="2400" b="0" dirty="0"/>
                    </a:p>
                  </a:txBody>
                  <a:tcPr>
                    <a:solidFill>
                      <a:schemeClr val="accent6">
                        <a:lumMod val="20000"/>
                        <a:lumOff val="80000"/>
                      </a:schemeClr>
                    </a:solidFill>
                  </a:tcPr>
                </a:tc>
                <a:extLst>
                  <a:ext uri="{0D108BD9-81ED-4DB2-BD59-A6C34878D82A}">
                    <a16:rowId xmlns:a16="http://schemas.microsoft.com/office/drawing/2014/main" val="3281406572"/>
                  </a:ext>
                </a:extLst>
              </a:tr>
              <a:tr h="288000">
                <a:tc>
                  <a:txBody>
                    <a:bodyPr/>
                    <a:lstStyle/>
                    <a:p>
                      <a:pPr algn="ctr"/>
                      <a:r>
                        <a:rPr lang="en-US" altLang="zh-TW" sz="2400" b="0" dirty="0"/>
                        <a:t>order</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solidFill>
                      <a:schemeClr val="accent6">
                        <a:lumMod val="20000"/>
                        <a:lumOff val="80000"/>
                      </a:schemeClr>
                    </a:solidFill>
                  </a:tcPr>
                </a:tc>
                <a:tc>
                  <a:txBody>
                    <a:bodyPr/>
                    <a:lstStyle/>
                    <a:p>
                      <a:pPr algn="ctr"/>
                      <a:r>
                        <a:rPr lang="en-US" altLang="zh-TW" sz="2400" b="0" dirty="0"/>
                        <a:t>2</a:t>
                      </a:r>
                      <a:endParaRPr lang="zh-TW" altLang="en-US" sz="2400" b="0" dirty="0"/>
                    </a:p>
                  </a:txBody>
                  <a:tcPr>
                    <a:solidFill>
                      <a:schemeClr val="accent6">
                        <a:lumMod val="20000"/>
                        <a:lumOff val="80000"/>
                      </a:schemeClr>
                    </a:solidFill>
                  </a:tcPr>
                </a:tc>
                <a:tc>
                  <a:txBody>
                    <a:bodyPr/>
                    <a:lstStyle/>
                    <a:p>
                      <a:pPr algn="ctr"/>
                      <a:r>
                        <a:rPr lang="en-US" altLang="zh-TW" sz="2400" b="0" dirty="0"/>
                        <a:t>5</a:t>
                      </a:r>
                      <a:endParaRPr lang="zh-TW" altLang="en-US" sz="2400" b="0" dirty="0"/>
                    </a:p>
                  </a:txBody>
                  <a:tcPr>
                    <a:solidFill>
                      <a:schemeClr val="accent6">
                        <a:lumMod val="20000"/>
                        <a:lumOff val="80000"/>
                      </a:schemeClr>
                    </a:solidFill>
                  </a:tcPr>
                </a:tc>
                <a:tc>
                  <a:txBody>
                    <a:bodyPr/>
                    <a:lstStyle/>
                    <a:p>
                      <a:pPr algn="ctr"/>
                      <a:r>
                        <a:rPr lang="en-US" altLang="zh-TW" sz="2400" b="0" dirty="0"/>
                        <a:t>7</a:t>
                      </a:r>
                      <a:endParaRPr lang="zh-TW" altLang="en-US" sz="2400" b="0" dirty="0"/>
                    </a:p>
                  </a:txBody>
                  <a:tcPr>
                    <a:solidFill>
                      <a:schemeClr val="accent6">
                        <a:lumMod val="20000"/>
                        <a:lumOff val="80000"/>
                      </a:schemeClr>
                    </a:solidFill>
                  </a:tcPr>
                </a:tc>
                <a:tc>
                  <a:txBody>
                    <a:bodyPr/>
                    <a:lstStyle/>
                    <a:p>
                      <a:pPr algn="ctr"/>
                      <a:r>
                        <a:rPr lang="en-US" altLang="zh-TW" sz="2400" b="0" dirty="0"/>
                        <a:t>4</a:t>
                      </a:r>
                      <a:endParaRPr lang="zh-TW" altLang="en-US" sz="2400" b="0" dirty="0"/>
                    </a:p>
                  </a:txBody>
                  <a:tcPr>
                    <a:solidFill>
                      <a:schemeClr val="accent6">
                        <a:lumMod val="20000"/>
                        <a:lumOff val="80000"/>
                      </a:schemeClr>
                    </a:solidFill>
                  </a:tcPr>
                </a:tc>
                <a:tc>
                  <a:txBody>
                    <a:bodyPr/>
                    <a:lstStyle/>
                    <a:p>
                      <a:pPr algn="ctr"/>
                      <a:r>
                        <a:rPr lang="en-US" altLang="zh-TW" sz="2400" b="0" dirty="0"/>
                        <a:t>6</a:t>
                      </a:r>
                      <a:endParaRPr lang="zh-TW" altLang="en-US" sz="2400" b="0" dirty="0"/>
                    </a:p>
                  </a:txBody>
                  <a:tcPr>
                    <a:solidFill>
                      <a:schemeClr val="accent6">
                        <a:lumMod val="20000"/>
                        <a:lumOff val="80000"/>
                      </a:schemeClr>
                    </a:solidFill>
                  </a:tcPr>
                </a:tc>
                <a:tc>
                  <a:txBody>
                    <a:bodyPr/>
                    <a:lstStyle/>
                    <a:p>
                      <a:pPr algn="ctr"/>
                      <a:r>
                        <a:rPr lang="en-US" altLang="zh-TW" sz="2400" b="0" dirty="0"/>
                        <a:t>3</a:t>
                      </a:r>
                      <a:endParaRPr lang="zh-TW" altLang="en-US" sz="2400" b="0" dirty="0"/>
                    </a:p>
                  </a:txBody>
                  <a:tcPr>
                    <a:solidFill>
                      <a:schemeClr val="accent6">
                        <a:lumMod val="20000"/>
                        <a:lumOff val="80000"/>
                      </a:schemeClr>
                    </a:solidFill>
                  </a:tcPr>
                </a:tc>
                <a:tc>
                  <a:txBody>
                    <a:bodyPr/>
                    <a:lstStyle/>
                    <a:p>
                      <a:pPr algn="ctr"/>
                      <a:r>
                        <a:rPr lang="en-US" altLang="zh-TW" sz="2400" b="0" dirty="0"/>
                        <a:t>8</a:t>
                      </a:r>
                      <a:endParaRPr lang="zh-TW" altLang="en-US" sz="2400" b="0" dirty="0"/>
                    </a:p>
                  </a:txBody>
                  <a:tcPr>
                    <a:solidFill>
                      <a:schemeClr val="accent6">
                        <a:lumMod val="20000"/>
                        <a:lumOff val="80000"/>
                      </a:schemeClr>
                    </a:solidFill>
                  </a:tcPr>
                </a:tc>
                <a:extLst>
                  <a:ext uri="{0D108BD9-81ED-4DB2-BD59-A6C34878D82A}">
                    <a16:rowId xmlns:a16="http://schemas.microsoft.com/office/drawing/2014/main" val="2693701567"/>
                  </a:ext>
                </a:extLst>
              </a:tr>
            </a:tbl>
          </a:graphicData>
        </a:graphic>
      </p:graphicFrame>
      <p:graphicFrame>
        <p:nvGraphicFramePr>
          <p:cNvPr id="2" name="表格 1">
            <a:extLst>
              <a:ext uri="{FF2B5EF4-FFF2-40B4-BE49-F238E27FC236}">
                <a16:creationId xmlns:a16="http://schemas.microsoft.com/office/drawing/2014/main" id="{50EECD9A-1F5D-D192-AFAF-5B7D776EBC1C}"/>
              </a:ext>
            </a:extLst>
          </p:cNvPr>
          <p:cNvGraphicFramePr>
            <a:graphicFrameLocks noGrp="1"/>
          </p:cNvGraphicFramePr>
          <p:nvPr>
            <p:extLst>
              <p:ext uri="{D42A27DB-BD31-4B8C-83A1-F6EECF244321}">
                <p14:modId xmlns:p14="http://schemas.microsoft.com/office/powerpoint/2010/main" val="302784589"/>
              </p:ext>
            </p:extLst>
          </p:nvPr>
        </p:nvGraphicFramePr>
        <p:xfrm>
          <a:off x="2277595" y="4647920"/>
          <a:ext cx="4032000" cy="1828800"/>
        </p:xfrm>
        <a:graphic>
          <a:graphicData uri="http://schemas.openxmlformats.org/drawingml/2006/table">
            <a:tbl>
              <a:tblPr firstRow="1" bandRow="1">
                <a:tableStyleId>{E8B1032C-EA38-4F05-BA0D-38AFFFC7BED3}</a:tableStyleId>
              </a:tblPr>
              <a:tblGrid>
                <a:gridCol w="1440000">
                  <a:extLst>
                    <a:ext uri="{9D8B030D-6E8A-4147-A177-3AD203B41FA5}">
                      <a16:colId xmlns:a16="http://schemas.microsoft.com/office/drawing/2014/main" val="3687563117"/>
                    </a:ext>
                  </a:extLst>
                </a:gridCol>
                <a:gridCol w="648000">
                  <a:extLst>
                    <a:ext uri="{9D8B030D-6E8A-4147-A177-3AD203B41FA5}">
                      <a16:colId xmlns:a16="http://schemas.microsoft.com/office/drawing/2014/main" val="3458925501"/>
                    </a:ext>
                  </a:extLst>
                </a:gridCol>
                <a:gridCol w="648000">
                  <a:extLst>
                    <a:ext uri="{9D8B030D-6E8A-4147-A177-3AD203B41FA5}">
                      <a16:colId xmlns:a16="http://schemas.microsoft.com/office/drawing/2014/main" val="4030832065"/>
                    </a:ext>
                  </a:extLst>
                </a:gridCol>
                <a:gridCol w="648000">
                  <a:extLst>
                    <a:ext uri="{9D8B030D-6E8A-4147-A177-3AD203B41FA5}">
                      <a16:colId xmlns:a16="http://schemas.microsoft.com/office/drawing/2014/main" val="1724438594"/>
                    </a:ext>
                  </a:extLst>
                </a:gridCol>
                <a:gridCol w="648000">
                  <a:extLst>
                    <a:ext uri="{9D8B030D-6E8A-4147-A177-3AD203B41FA5}">
                      <a16:colId xmlns:a16="http://schemas.microsoft.com/office/drawing/2014/main" val="4209229924"/>
                    </a:ext>
                  </a:extLst>
                </a:gridCol>
              </a:tblGrid>
              <a:tr h="288000">
                <a:tc>
                  <a:txBody>
                    <a:bodyPr/>
                    <a:lstStyle/>
                    <a:p>
                      <a:pPr algn="ctr"/>
                      <a:r>
                        <a:rPr lang="en-US" altLang="zh-TW" sz="2400" b="0" dirty="0"/>
                        <a:t>pos in W</a:t>
                      </a:r>
                      <a:endParaRPr lang="zh-TW" altLang="en-US" sz="2400" b="0" dirty="0"/>
                    </a:p>
                  </a:txBody>
                  <a:tcPr>
                    <a:solidFill>
                      <a:schemeClr val="bg2"/>
                    </a:solidFill>
                  </a:tcPr>
                </a:tc>
                <a:tc>
                  <a:txBody>
                    <a:bodyPr/>
                    <a:lstStyle/>
                    <a:p>
                      <a:pPr algn="ctr"/>
                      <a:r>
                        <a:rPr lang="en-US" altLang="zh-TW" sz="2400" b="0" dirty="0"/>
                        <a:t>0</a:t>
                      </a:r>
                      <a:endParaRPr lang="zh-TW" altLang="en-US" sz="2400" b="0" dirty="0"/>
                    </a:p>
                  </a:txBody>
                  <a:tcPr>
                    <a:solidFill>
                      <a:schemeClr val="accent3">
                        <a:lumMod val="40000"/>
                        <a:lumOff val="60000"/>
                      </a:schemeClr>
                    </a:solidFill>
                  </a:tcPr>
                </a:tc>
                <a:tc>
                  <a:txBody>
                    <a:bodyPr/>
                    <a:lstStyle/>
                    <a:p>
                      <a:pPr algn="ctr"/>
                      <a:r>
                        <a:rPr lang="en-US" altLang="zh-TW" sz="2400" b="0" dirty="0"/>
                        <a:t>3</a:t>
                      </a:r>
                      <a:endParaRPr lang="zh-TW" altLang="en-US" sz="2400" b="0" dirty="0"/>
                    </a:p>
                  </a:txBody>
                  <a:tcPr>
                    <a:solidFill>
                      <a:schemeClr val="accent3">
                        <a:lumMod val="40000"/>
                        <a:lumOff val="60000"/>
                      </a:schemeClr>
                    </a:solidFill>
                  </a:tcPr>
                </a:tc>
                <a:tc>
                  <a:txBody>
                    <a:bodyPr/>
                    <a:lstStyle/>
                    <a:p>
                      <a:pPr algn="ctr"/>
                      <a:r>
                        <a:rPr lang="en-US" altLang="zh-TW" sz="2400" b="0" dirty="0"/>
                        <a:t>6</a:t>
                      </a:r>
                      <a:endParaRPr lang="zh-TW" altLang="en-US" sz="2400" b="0" dirty="0"/>
                    </a:p>
                  </a:txBody>
                  <a:tcPr>
                    <a:solidFill>
                      <a:schemeClr val="accent3">
                        <a:lumMod val="40000"/>
                        <a:lumOff val="60000"/>
                      </a:schemeClr>
                    </a:solidFill>
                  </a:tcPr>
                </a:tc>
                <a:tc>
                  <a:txBody>
                    <a:bodyPr/>
                    <a:lstStyle/>
                    <a:p>
                      <a:pPr algn="ctr"/>
                      <a:r>
                        <a:rPr lang="en-US" altLang="zh-TW" sz="2400" b="0" dirty="0"/>
                        <a:t>9</a:t>
                      </a:r>
                      <a:endParaRPr lang="zh-TW" altLang="en-US" sz="2400" b="0" dirty="0"/>
                    </a:p>
                  </a:txBody>
                  <a:tcPr>
                    <a:solidFill>
                      <a:schemeClr val="accent3">
                        <a:lumMod val="40000"/>
                        <a:lumOff val="60000"/>
                      </a:schemeClr>
                    </a:solidFill>
                  </a:tcPr>
                </a:tc>
                <a:extLst>
                  <a:ext uri="{0D108BD9-81ED-4DB2-BD59-A6C34878D82A}">
                    <a16:rowId xmlns:a16="http://schemas.microsoft.com/office/drawing/2014/main" val="3474810379"/>
                  </a:ext>
                </a:extLst>
              </a:tr>
              <a:tr h="288000">
                <a:tc>
                  <a:txBody>
                    <a:bodyPr/>
                    <a:lstStyle/>
                    <a:p>
                      <a:pPr algn="ctr"/>
                      <a:r>
                        <a:rPr lang="en-US" altLang="zh-TW" sz="2400" b="0" dirty="0"/>
                        <a:t>w</a:t>
                      </a:r>
                      <a:r>
                        <a:rPr lang="en-US" altLang="zh-TW" sz="2400" b="0" baseline="-25000" dirty="0"/>
                        <a:t>p</a:t>
                      </a:r>
                      <a:r>
                        <a:rPr lang="en-US" altLang="zh-TW" sz="2400" b="0" baseline="0" dirty="0"/>
                        <a:t>…w</a:t>
                      </a:r>
                      <a:r>
                        <a:rPr lang="en-US" altLang="zh-TW" sz="2400" b="0" baseline="-25000" dirty="0"/>
                        <a:t>p+2</a:t>
                      </a:r>
                      <a:endParaRPr lang="zh-TW" altLang="en-US" sz="2400" b="0" dirty="0"/>
                    </a:p>
                  </a:txBody>
                  <a:tcPr>
                    <a:solidFill>
                      <a:schemeClr val="bg2"/>
                    </a:solidFill>
                  </a:tcPr>
                </a:tc>
                <a:tc>
                  <a:txBody>
                    <a:bodyPr/>
                    <a:lstStyle/>
                    <a:p>
                      <a:pPr algn="ctr"/>
                      <a:r>
                        <a:rPr lang="en-US" altLang="zh-TW" sz="2400" b="0" dirty="0" err="1"/>
                        <a:t>yab</a:t>
                      </a:r>
                      <a:endParaRPr lang="zh-TW" altLang="en-US" sz="2400" b="0" dirty="0"/>
                    </a:p>
                  </a:txBody>
                  <a:tcPr>
                    <a:solidFill>
                      <a:schemeClr val="accent6">
                        <a:lumMod val="20000"/>
                        <a:lumOff val="80000"/>
                      </a:schemeClr>
                    </a:solidFill>
                  </a:tcPr>
                </a:tc>
                <a:tc>
                  <a:txBody>
                    <a:bodyPr/>
                    <a:lstStyle/>
                    <a:p>
                      <a:pPr algn="ctr"/>
                      <a:r>
                        <a:rPr lang="en-US" altLang="zh-TW" sz="2400" b="0" dirty="0"/>
                        <a:t>bad</a:t>
                      </a:r>
                      <a:endParaRPr lang="zh-TW" altLang="en-US" sz="2400" b="0" dirty="0"/>
                    </a:p>
                  </a:txBody>
                  <a:tcPr>
                    <a:solidFill>
                      <a:schemeClr val="accent6">
                        <a:lumMod val="20000"/>
                        <a:lumOff val="80000"/>
                      </a:schemeClr>
                    </a:solidFill>
                  </a:tcPr>
                </a:tc>
                <a:tc>
                  <a:txBody>
                    <a:bodyPr/>
                    <a:lstStyle/>
                    <a:p>
                      <a:pPr algn="ctr"/>
                      <a:r>
                        <a:rPr lang="en-US" altLang="zh-TW" sz="2400" b="0" dirty="0"/>
                        <a:t>abb</a:t>
                      </a:r>
                      <a:endParaRPr lang="zh-TW" altLang="en-US" sz="2400" b="0" dirty="0"/>
                    </a:p>
                  </a:txBody>
                  <a:tcPr>
                    <a:solidFill>
                      <a:schemeClr val="accent6">
                        <a:lumMod val="20000"/>
                        <a:lumOff val="80000"/>
                      </a:schemeClr>
                    </a:solidFill>
                  </a:tcPr>
                </a:tc>
                <a:tc>
                  <a:txBody>
                    <a:bodyPr/>
                    <a:lstStyle/>
                    <a:p>
                      <a:pPr algn="ctr"/>
                      <a:r>
                        <a:rPr lang="en-US" altLang="zh-TW" sz="2400" b="0" dirty="0"/>
                        <a:t>ado</a:t>
                      </a:r>
                      <a:endParaRPr lang="zh-TW" altLang="en-US" sz="2400" b="0" dirty="0"/>
                    </a:p>
                  </a:txBody>
                  <a:tcPr>
                    <a:solidFill>
                      <a:schemeClr val="accent6">
                        <a:lumMod val="20000"/>
                        <a:lumOff val="80000"/>
                      </a:schemeClr>
                    </a:solidFill>
                  </a:tcPr>
                </a:tc>
                <a:extLst>
                  <a:ext uri="{0D108BD9-81ED-4DB2-BD59-A6C34878D82A}">
                    <a16:rowId xmlns:a16="http://schemas.microsoft.com/office/drawing/2014/main" val="3281406572"/>
                  </a:ext>
                </a:extLst>
              </a:tr>
              <a:tr h="288000">
                <a:tc>
                  <a:txBody>
                    <a:bodyPr/>
                    <a:lstStyle/>
                    <a:p>
                      <a:pPr algn="ctr"/>
                      <a:r>
                        <a:rPr lang="en-US" altLang="zh-TW" sz="2400" b="0" dirty="0"/>
                        <a:t>pair</a:t>
                      </a:r>
                      <a:endParaRPr lang="zh-TW" altLang="en-US" sz="2400" b="0" dirty="0"/>
                    </a:p>
                  </a:txBody>
                  <a:tcPr>
                    <a:solidFill>
                      <a:schemeClr val="bg2"/>
                    </a:solidFill>
                  </a:tcPr>
                </a:tc>
                <a:tc>
                  <a:txBody>
                    <a:bodyPr/>
                    <a:lstStyle/>
                    <a:p>
                      <a:pPr algn="ctr"/>
                      <a:r>
                        <a:rPr lang="en-US" altLang="zh-TW" sz="2400" b="0" dirty="0"/>
                        <a:t>y1</a:t>
                      </a:r>
                      <a:endParaRPr lang="zh-TW" altLang="en-US" sz="2400" b="0" dirty="0"/>
                    </a:p>
                  </a:txBody>
                  <a:tcPr>
                    <a:solidFill>
                      <a:schemeClr val="accent6">
                        <a:lumMod val="20000"/>
                        <a:lumOff val="80000"/>
                      </a:schemeClr>
                    </a:solidFill>
                  </a:tcPr>
                </a:tc>
                <a:tc>
                  <a:txBody>
                    <a:bodyPr/>
                    <a:lstStyle/>
                    <a:p>
                      <a:pPr algn="ctr"/>
                      <a:r>
                        <a:rPr lang="en-US" altLang="zh-TW" sz="2400" b="0" dirty="0"/>
                        <a:t>b2</a:t>
                      </a:r>
                      <a:endParaRPr lang="zh-TW" altLang="en-US" sz="2400" b="0" dirty="0"/>
                    </a:p>
                  </a:txBody>
                  <a:tcPr>
                    <a:solidFill>
                      <a:schemeClr val="accent6">
                        <a:lumMod val="20000"/>
                        <a:lumOff val="80000"/>
                      </a:schemeClr>
                    </a:solidFill>
                  </a:tcPr>
                </a:tc>
                <a:tc>
                  <a:txBody>
                    <a:bodyPr/>
                    <a:lstStyle/>
                    <a:p>
                      <a:pPr algn="ctr"/>
                      <a:r>
                        <a:rPr lang="en-US" altLang="zh-TW" sz="2400" b="0" dirty="0"/>
                        <a:t>a5</a:t>
                      </a:r>
                      <a:endParaRPr lang="zh-TW" altLang="en-US" sz="2400" b="0" dirty="0"/>
                    </a:p>
                  </a:txBody>
                  <a:tcPr>
                    <a:solidFill>
                      <a:schemeClr val="accent6">
                        <a:lumMod val="20000"/>
                        <a:lumOff val="80000"/>
                      </a:schemeClr>
                    </a:solidFill>
                  </a:tcPr>
                </a:tc>
                <a:tc>
                  <a:txBody>
                    <a:bodyPr/>
                    <a:lstStyle/>
                    <a:p>
                      <a:pPr algn="ctr"/>
                      <a:r>
                        <a:rPr lang="en-US" altLang="zh-TW" sz="2400" b="0" dirty="0"/>
                        <a:t>a7</a:t>
                      </a:r>
                      <a:endParaRPr lang="zh-TW" altLang="en-US" sz="2400" b="0" dirty="0"/>
                    </a:p>
                  </a:txBody>
                  <a:tcPr>
                    <a:solidFill>
                      <a:schemeClr val="accent6">
                        <a:lumMod val="20000"/>
                        <a:lumOff val="80000"/>
                      </a:schemeClr>
                    </a:solidFill>
                  </a:tcPr>
                </a:tc>
                <a:extLst>
                  <a:ext uri="{0D108BD9-81ED-4DB2-BD59-A6C34878D82A}">
                    <a16:rowId xmlns:a16="http://schemas.microsoft.com/office/drawing/2014/main" val="3883454562"/>
                  </a:ext>
                </a:extLst>
              </a:tr>
              <a:tr h="288000">
                <a:tc>
                  <a:txBody>
                    <a:bodyPr/>
                    <a:lstStyle/>
                    <a:p>
                      <a:pPr algn="ctr"/>
                      <a:r>
                        <a:rPr lang="en-US" altLang="zh-TW" sz="2400" b="0" dirty="0"/>
                        <a:t>order</a:t>
                      </a:r>
                      <a:endParaRPr lang="zh-TW" altLang="en-US" sz="2400" b="0" dirty="0"/>
                    </a:p>
                  </a:txBody>
                  <a:tcPr>
                    <a:solidFill>
                      <a:schemeClr val="bg2"/>
                    </a:solidFill>
                  </a:tcPr>
                </a:tc>
                <a:tc>
                  <a:txBody>
                    <a:bodyPr/>
                    <a:lstStyle/>
                    <a:p>
                      <a:pPr algn="ctr"/>
                      <a:r>
                        <a:rPr lang="en-US" altLang="zh-TW" sz="2400" b="0" dirty="0"/>
                        <a:t>4</a:t>
                      </a:r>
                      <a:endParaRPr lang="zh-TW" altLang="en-US" sz="2400" b="0" dirty="0"/>
                    </a:p>
                  </a:txBody>
                  <a:tcPr>
                    <a:solidFill>
                      <a:schemeClr val="bg1">
                        <a:alpha val="20000"/>
                      </a:schemeClr>
                    </a:solidFill>
                  </a:tcPr>
                </a:tc>
                <a:tc>
                  <a:txBody>
                    <a:bodyPr/>
                    <a:lstStyle/>
                    <a:p>
                      <a:pPr algn="ctr"/>
                      <a:r>
                        <a:rPr lang="en-US" altLang="zh-TW" sz="2400" b="0" dirty="0"/>
                        <a:t>3</a:t>
                      </a:r>
                      <a:endParaRPr lang="zh-TW" altLang="en-US" sz="2400" b="0" dirty="0"/>
                    </a:p>
                  </a:txBody>
                  <a:tcPr>
                    <a:solidFill>
                      <a:schemeClr val="bg1">
                        <a:alpha val="20000"/>
                      </a:schemeClr>
                    </a:solidFill>
                  </a:tcPr>
                </a:tc>
                <a:tc>
                  <a:txBody>
                    <a:bodyPr/>
                    <a:lstStyle/>
                    <a:p>
                      <a:pPr algn="ctr"/>
                      <a:r>
                        <a:rPr lang="en-US" altLang="zh-TW" sz="2400" b="0" dirty="0"/>
                        <a:t>1</a:t>
                      </a:r>
                      <a:endParaRPr lang="zh-TW" altLang="en-US" sz="2400" b="0" dirty="0"/>
                    </a:p>
                  </a:txBody>
                  <a:tcPr>
                    <a:solidFill>
                      <a:schemeClr val="bg1">
                        <a:alpha val="20000"/>
                      </a:schemeClr>
                    </a:solidFill>
                  </a:tcPr>
                </a:tc>
                <a:tc>
                  <a:txBody>
                    <a:bodyPr/>
                    <a:lstStyle/>
                    <a:p>
                      <a:pPr algn="ctr"/>
                      <a:r>
                        <a:rPr lang="en-US" altLang="zh-TW" sz="2400" b="0" dirty="0"/>
                        <a:t>2</a:t>
                      </a:r>
                      <a:endParaRPr lang="zh-TW" altLang="en-US" sz="2400" b="0" dirty="0"/>
                    </a:p>
                  </a:txBody>
                  <a:tcPr>
                    <a:solidFill>
                      <a:schemeClr val="bg1">
                        <a:alpha val="20000"/>
                      </a:schemeClr>
                    </a:solidFill>
                  </a:tcPr>
                </a:tc>
                <a:extLst>
                  <a:ext uri="{0D108BD9-81ED-4DB2-BD59-A6C34878D82A}">
                    <a16:rowId xmlns:a16="http://schemas.microsoft.com/office/drawing/2014/main" val="2853625154"/>
                  </a:ext>
                </a:extLst>
              </a:tr>
            </a:tbl>
          </a:graphicData>
        </a:graphic>
      </p:graphicFrame>
      <p:graphicFrame>
        <p:nvGraphicFramePr>
          <p:cNvPr id="6" name="表格 6">
            <a:extLst>
              <a:ext uri="{FF2B5EF4-FFF2-40B4-BE49-F238E27FC236}">
                <a16:creationId xmlns:a16="http://schemas.microsoft.com/office/drawing/2014/main" id="{36963746-23A4-9942-DDDA-0D5C453A5AAD}"/>
              </a:ext>
            </a:extLst>
          </p:cNvPr>
          <p:cNvGraphicFramePr>
            <a:graphicFrameLocks noGrp="1"/>
          </p:cNvGraphicFramePr>
          <p:nvPr>
            <p:extLst>
              <p:ext uri="{D42A27DB-BD31-4B8C-83A1-F6EECF244321}">
                <p14:modId xmlns:p14="http://schemas.microsoft.com/office/powerpoint/2010/main" val="2335759621"/>
              </p:ext>
            </p:extLst>
          </p:nvPr>
        </p:nvGraphicFramePr>
        <p:xfrm>
          <a:off x="9653055" y="4102287"/>
          <a:ext cx="2160000" cy="2286000"/>
        </p:xfrm>
        <a:graphic>
          <a:graphicData uri="http://schemas.openxmlformats.org/drawingml/2006/table">
            <a:tbl>
              <a:tblPr firstRow="1" bandRow="1">
                <a:tableStyleId>{93296810-A885-4BE3-A3E7-6D5BEEA58F35}</a:tableStyleId>
              </a:tblPr>
              <a:tblGrid>
                <a:gridCol w="2160000">
                  <a:extLst>
                    <a:ext uri="{9D8B030D-6E8A-4147-A177-3AD203B41FA5}">
                      <a16:colId xmlns:a16="http://schemas.microsoft.com/office/drawing/2014/main" val="2475924479"/>
                    </a:ext>
                  </a:extLst>
                </a:gridCol>
              </a:tblGrid>
              <a:tr h="370840">
                <a:tc>
                  <a:txBody>
                    <a:bodyPr/>
                    <a:lstStyle/>
                    <a:p>
                      <a:pPr algn="ctr"/>
                      <a:r>
                        <a:rPr lang="en-US" altLang="zh-TW" sz="2400" b="0" dirty="0" err="1">
                          <a:solidFill>
                            <a:schemeClr val="tx1"/>
                          </a:solidFill>
                        </a:rPr>
                        <a:t>suf</a:t>
                      </a:r>
                      <a:r>
                        <a:rPr lang="en-US" altLang="zh-TW" sz="2400" b="0" baseline="-25000" dirty="0" err="1">
                          <a:solidFill>
                            <a:schemeClr val="tx1"/>
                          </a:solidFill>
                        </a:rPr>
                        <a:t>SA</a:t>
                      </a:r>
                      <a:r>
                        <a:rPr lang="en-US" altLang="zh-TW" sz="2400" b="0" baseline="-25000" dirty="0">
                          <a:solidFill>
                            <a:schemeClr val="tx1"/>
                          </a:solidFill>
                        </a:rPr>
                        <a:t>[</a:t>
                      </a:r>
                      <a:r>
                        <a:rPr lang="en-US" altLang="zh-TW" sz="2400" b="0" baseline="-25000" dirty="0" err="1">
                          <a:solidFill>
                            <a:schemeClr val="tx1"/>
                          </a:solidFill>
                        </a:rPr>
                        <a:t>i</a:t>
                      </a:r>
                      <a:r>
                        <a:rPr lang="en-US" altLang="zh-TW" sz="2400" b="0" baseline="-25000" dirty="0">
                          <a:solidFill>
                            <a:schemeClr val="tx1"/>
                          </a:solidFill>
                        </a:rPr>
                        <a:t>]</a:t>
                      </a:r>
                      <a:endParaRPr lang="zh-TW" altLang="en-US" sz="2400" b="0" dirty="0">
                        <a:solidFill>
                          <a:schemeClr val="tx1"/>
                        </a:solidFill>
                      </a:endParaRPr>
                    </a:p>
                  </a:txBody>
                  <a:tcPr>
                    <a:solidFill>
                      <a:schemeClr val="accent3">
                        <a:lumMod val="40000"/>
                        <a:lumOff val="60000"/>
                      </a:schemeClr>
                    </a:solidFill>
                  </a:tcPr>
                </a:tc>
                <a:extLst>
                  <a:ext uri="{0D108BD9-81ED-4DB2-BD59-A6C34878D82A}">
                    <a16:rowId xmlns:a16="http://schemas.microsoft.com/office/drawing/2014/main" val="3043186845"/>
                  </a:ext>
                </a:extLst>
              </a:tr>
              <a:tr h="370840">
                <a:tc>
                  <a:txBody>
                    <a:bodyPr/>
                    <a:lstStyle/>
                    <a:p>
                      <a:pPr algn="l"/>
                      <a:r>
                        <a:rPr lang="pt-BR" altLang="zh-TW" sz="2400" dirty="0"/>
                        <a:t>abbado</a:t>
                      </a:r>
                      <a:endParaRPr lang="zh-TW" altLang="en-US" sz="2400" dirty="0">
                        <a:solidFill>
                          <a:schemeClr val="tx1"/>
                        </a:solidFill>
                      </a:endParaRPr>
                    </a:p>
                  </a:txBody>
                  <a:tcPr/>
                </a:tc>
                <a:extLst>
                  <a:ext uri="{0D108BD9-81ED-4DB2-BD59-A6C34878D82A}">
                    <a16:rowId xmlns:a16="http://schemas.microsoft.com/office/drawing/2014/main" val="66801318"/>
                  </a:ext>
                </a:extLst>
              </a:tr>
              <a:tr h="370840">
                <a:tc>
                  <a:txBody>
                    <a:bodyPr/>
                    <a:lstStyle/>
                    <a:p>
                      <a:pPr algn="l"/>
                      <a:r>
                        <a:rPr lang="pt-BR" altLang="zh-TW" sz="2400" dirty="0"/>
                        <a:t>ado</a:t>
                      </a:r>
                      <a:endParaRPr lang="zh-TW" altLang="en-US" sz="2400" dirty="0">
                        <a:solidFill>
                          <a:schemeClr val="tx1"/>
                        </a:solidFill>
                      </a:endParaRPr>
                    </a:p>
                  </a:txBody>
                  <a:tcPr/>
                </a:tc>
                <a:extLst>
                  <a:ext uri="{0D108BD9-81ED-4DB2-BD59-A6C34878D82A}">
                    <a16:rowId xmlns:a16="http://schemas.microsoft.com/office/drawing/2014/main" val="842322619"/>
                  </a:ext>
                </a:extLst>
              </a:tr>
              <a:tr h="370840">
                <a:tc>
                  <a:txBody>
                    <a:bodyPr/>
                    <a:lstStyle/>
                    <a:p>
                      <a:pPr algn="l"/>
                      <a:r>
                        <a:rPr lang="pt-BR" altLang="zh-TW" sz="2400" dirty="0"/>
                        <a:t>badabbado</a:t>
                      </a:r>
                      <a:endParaRPr lang="zh-TW" altLang="en-US" sz="2400" dirty="0">
                        <a:solidFill>
                          <a:schemeClr val="tx1"/>
                        </a:solidFill>
                      </a:endParaRPr>
                    </a:p>
                  </a:txBody>
                  <a:tcPr/>
                </a:tc>
                <a:extLst>
                  <a:ext uri="{0D108BD9-81ED-4DB2-BD59-A6C34878D82A}">
                    <a16:rowId xmlns:a16="http://schemas.microsoft.com/office/drawing/2014/main" val="367849289"/>
                  </a:ext>
                </a:extLst>
              </a:tr>
              <a:tr h="370840">
                <a:tc>
                  <a:txBody>
                    <a:bodyPr/>
                    <a:lstStyle/>
                    <a:p>
                      <a:pPr algn="l"/>
                      <a:r>
                        <a:rPr lang="pt-BR" altLang="zh-TW" sz="2400" dirty="0"/>
                        <a:t>yabbadabbado</a:t>
                      </a:r>
                      <a:endParaRPr lang="zh-TW" altLang="en-US" sz="2400" dirty="0">
                        <a:solidFill>
                          <a:schemeClr val="tx1"/>
                        </a:solidFill>
                      </a:endParaRPr>
                    </a:p>
                  </a:txBody>
                  <a:tcPr/>
                </a:tc>
                <a:extLst>
                  <a:ext uri="{0D108BD9-81ED-4DB2-BD59-A6C34878D82A}">
                    <a16:rowId xmlns:a16="http://schemas.microsoft.com/office/drawing/2014/main" val="3764040388"/>
                  </a:ext>
                </a:extLst>
              </a:tr>
            </a:tbl>
          </a:graphicData>
        </a:graphic>
      </p:graphicFrame>
      <p:sp>
        <p:nvSpPr>
          <p:cNvPr id="7" name="內容版面配置區 2">
            <a:extLst>
              <a:ext uri="{FF2B5EF4-FFF2-40B4-BE49-F238E27FC236}">
                <a16:creationId xmlns:a16="http://schemas.microsoft.com/office/drawing/2014/main" id="{D20EEDE3-D407-FD5E-431D-D7B9737E648C}"/>
              </a:ext>
            </a:extLst>
          </p:cNvPr>
          <p:cNvSpPr txBox="1">
            <a:spLocks/>
          </p:cNvSpPr>
          <p:nvPr/>
        </p:nvSpPr>
        <p:spPr>
          <a:xfrm>
            <a:off x="150860" y="2860675"/>
            <a:ext cx="10515600" cy="3768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i="1" dirty="0" err="1"/>
              <a:t>i</a:t>
            </a:r>
            <a:r>
              <a:rPr lang="en-US" altLang="zh-TW" dirty="0"/>
              <a:t> mod3 </a:t>
            </a:r>
            <a:r>
              <a:rPr lang="zh-TW" altLang="en-US" b="0" i="0" dirty="0">
                <a:effectLst/>
                <a:latin typeface="arial" panose="020B0604020202020204" pitchFamily="34" charset="0"/>
              </a:rPr>
              <a:t>≠</a:t>
            </a:r>
            <a:r>
              <a:rPr lang="en-US" altLang="zh-TW" dirty="0"/>
              <a:t> 0</a:t>
            </a:r>
          </a:p>
          <a:p>
            <a:endParaRPr lang="en-US" altLang="zh-TW" dirty="0"/>
          </a:p>
          <a:p>
            <a:pPr marL="0" indent="0">
              <a:buNone/>
            </a:pPr>
            <a:endParaRPr lang="en-US" altLang="zh-TW" dirty="0"/>
          </a:p>
          <a:p>
            <a:pPr marL="0" indent="0">
              <a:buNone/>
            </a:pPr>
            <a:endParaRPr lang="en-US" altLang="zh-TW" dirty="0"/>
          </a:p>
          <a:p>
            <a:r>
              <a:rPr lang="en-US" altLang="zh-TW" i="1" dirty="0" err="1"/>
              <a:t>i</a:t>
            </a:r>
            <a:r>
              <a:rPr lang="en-US" altLang="zh-TW" dirty="0"/>
              <a:t> mod3 </a:t>
            </a:r>
            <a:r>
              <a:rPr lang="en-US" altLang="zh-TW" b="0" i="0" dirty="0">
                <a:effectLst/>
                <a:latin typeface="arial" panose="020B0604020202020204" pitchFamily="34" charset="0"/>
              </a:rPr>
              <a:t>=</a:t>
            </a:r>
            <a:r>
              <a:rPr lang="en-US" altLang="zh-TW" dirty="0"/>
              <a:t> 0</a:t>
            </a:r>
            <a:endParaRPr lang="zh-TW" altLang="en-US" dirty="0"/>
          </a:p>
        </p:txBody>
      </p:sp>
    </p:spTree>
    <p:extLst>
      <p:ext uri="{BB962C8B-B14F-4D97-AF65-F5344CB8AC3E}">
        <p14:creationId xmlns:p14="http://schemas.microsoft.com/office/powerpoint/2010/main" val="154244404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內容版面配置區 2">
            <a:extLst>
              <a:ext uri="{FF2B5EF4-FFF2-40B4-BE49-F238E27FC236}">
                <a16:creationId xmlns:a16="http://schemas.microsoft.com/office/drawing/2014/main" id="{A019C88F-F1C9-95B6-6D86-23C5334A452C}"/>
              </a:ext>
            </a:extLst>
          </p:cNvPr>
          <p:cNvSpPr>
            <a:spLocks noGrp="1"/>
          </p:cNvSpPr>
          <p:nvPr>
            <p:ph idx="1"/>
          </p:nvPr>
        </p:nvSpPr>
        <p:spPr>
          <a:xfrm>
            <a:off x="384411" y="357048"/>
            <a:ext cx="10515600" cy="4351338"/>
          </a:xfrm>
        </p:spPr>
        <p:txBody>
          <a:bodyPr/>
          <a:lstStyle/>
          <a:p>
            <a:r>
              <a:rPr lang="en-US" altLang="zh-TW" dirty="0">
                <a:solidFill>
                  <a:srgbClr val="FF0000"/>
                </a:solidFill>
              </a:rPr>
              <a:t>Step.3 </a:t>
            </a:r>
            <a:r>
              <a:rPr lang="zh-TW" altLang="en-US" dirty="0"/>
              <a:t>合併兩個 </a:t>
            </a:r>
            <a:r>
              <a:rPr lang="en-US" altLang="zh-TW" dirty="0"/>
              <a:t>suffix array</a:t>
            </a:r>
            <a:endParaRPr lang="zh-TW" altLang="en-US" dirty="0"/>
          </a:p>
        </p:txBody>
      </p:sp>
      <p:graphicFrame>
        <p:nvGraphicFramePr>
          <p:cNvPr id="2" name="表格 1">
            <a:extLst>
              <a:ext uri="{FF2B5EF4-FFF2-40B4-BE49-F238E27FC236}">
                <a16:creationId xmlns:a16="http://schemas.microsoft.com/office/drawing/2014/main" id="{50EECD9A-1F5D-D192-AFAF-5B7D776EBC1C}"/>
              </a:ext>
            </a:extLst>
          </p:cNvPr>
          <p:cNvGraphicFramePr>
            <a:graphicFrameLocks noGrp="1"/>
          </p:cNvGraphicFramePr>
          <p:nvPr>
            <p:extLst>
              <p:ext uri="{D42A27DB-BD31-4B8C-83A1-F6EECF244321}">
                <p14:modId xmlns:p14="http://schemas.microsoft.com/office/powerpoint/2010/main" val="998776739"/>
              </p:ext>
            </p:extLst>
          </p:nvPr>
        </p:nvGraphicFramePr>
        <p:xfrm>
          <a:off x="2042211" y="3677024"/>
          <a:ext cx="4320000" cy="1828800"/>
        </p:xfrm>
        <a:graphic>
          <a:graphicData uri="http://schemas.openxmlformats.org/drawingml/2006/table">
            <a:tbl>
              <a:tblPr firstRow="1" bandRow="1">
                <a:tableStyleId>{E8B1032C-EA38-4F05-BA0D-38AFFFC7BED3}</a:tableStyleId>
              </a:tblPr>
              <a:tblGrid>
                <a:gridCol w="1440000">
                  <a:extLst>
                    <a:ext uri="{9D8B030D-6E8A-4147-A177-3AD203B41FA5}">
                      <a16:colId xmlns:a16="http://schemas.microsoft.com/office/drawing/2014/main" val="3687563117"/>
                    </a:ext>
                  </a:extLst>
                </a:gridCol>
                <a:gridCol w="720000">
                  <a:extLst>
                    <a:ext uri="{9D8B030D-6E8A-4147-A177-3AD203B41FA5}">
                      <a16:colId xmlns:a16="http://schemas.microsoft.com/office/drawing/2014/main" val="3458925501"/>
                    </a:ext>
                  </a:extLst>
                </a:gridCol>
                <a:gridCol w="720000">
                  <a:extLst>
                    <a:ext uri="{9D8B030D-6E8A-4147-A177-3AD203B41FA5}">
                      <a16:colId xmlns:a16="http://schemas.microsoft.com/office/drawing/2014/main" val="4030832065"/>
                    </a:ext>
                  </a:extLst>
                </a:gridCol>
                <a:gridCol w="720000">
                  <a:extLst>
                    <a:ext uri="{9D8B030D-6E8A-4147-A177-3AD203B41FA5}">
                      <a16:colId xmlns:a16="http://schemas.microsoft.com/office/drawing/2014/main" val="1724438594"/>
                    </a:ext>
                  </a:extLst>
                </a:gridCol>
                <a:gridCol w="720000">
                  <a:extLst>
                    <a:ext uri="{9D8B030D-6E8A-4147-A177-3AD203B41FA5}">
                      <a16:colId xmlns:a16="http://schemas.microsoft.com/office/drawing/2014/main" val="4209229924"/>
                    </a:ext>
                  </a:extLst>
                </a:gridCol>
              </a:tblGrid>
              <a:tr h="288000">
                <a:tc>
                  <a:txBody>
                    <a:bodyPr/>
                    <a:lstStyle/>
                    <a:p>
                      <a:pPr algn="ctr"/>
                      <a:r>
                        <a:rPr lang="en-US" altLang="zh-TW" sz="2400" b="0" dirty="0"/>
                        <a:t>pos in W</a:t>
                      </a:r>
                      <a:endParaRPr lang="zh-TW" altLang="en-US" sz="2400" b="0" dirty="0"/>
                    </a:p>
                  </a:txBody>
                  <a:tcPr>
                    <a:solidFill>
                      <a:schemeClr val="bg2"/>
                    </a:solidFill>
                  </a:tcPr>
                </a:tc>
                <a:tc>
                  <a:txBody>
                    <a:bodyPr/>
                    <a:lstStyle/>
                    <a:p>
                      <a:pPr algn="ctr"/>
                      <a:r>
                        <a:rPr lang="en-US" altLang="zh-TW" sz="2400" b="0" dirty="0"/>
                        <a:t>6</a:t>
                      </a:r>
                      <a:endParaRPr lang="zh-TW" altLang="en-US" sz="2400" b="0" dirty="0"/>
                    </a:p>
                  </a:txBody>
                  <a:tcPr>
                    <a:solidFill>
                      <a:schemeClr val="accent3">
                        <a:lumMod val="40000"/>
                        <a:lumOff val="60000"/>
                      </a:schemeClr>
                    </a:solidFill>
                  </a:tcPr>
                </a:tc>
                <a:tc>
                  <a:txBody>
                    <a:bodyPr/>
                    <a:lstStyle/>
                    <a:p>
                      <a:pPr algn="ctr"/>
                      <a:r>
                        <a:rPr lang="en-US" altLang="zh-TW" sz="2400" b="0" dirty="0"/>
                        <a:t>9</a:t>
                      </a:r>
                      <a:endParaRPr lang="zh-TW" altLang="en-US" sz="2400" b="0" dirty="0"/>
                    </a:p>
                  </a:txBody>
                  <a:tcPr>
                    <a:solidFill>
                      <a:schemeClr val="accent3">
                        <a:lumMod val="40000"/>
                        <a:lumOff val="60000"/>
                      </a:schemeClr>
                    </a:solidFill>
                  </a:tcPr>
                </a:tc>
                <a:tc>
                  <a:txBody>
                    <a:bodyPr/>
                    <a:lstStyle/>
                    <a:p>
                      <a:pPr algn="ctr"/>
                      <a:r>
                        <a:rPr lang="en-US" altLang="zh-TW" sz="2400" b="0" dirty="0"/>
                        <a:t>3</a:t>
                      </a:r>
                      <a:endParaRPr lang="zh-TW" altLang="en-US" sz="2400" b="0" dirty="0"/>
                    </a:p>
                  </a:txBody>
                  <a:tcPr>
                    <a:solidFill>
                      <a:schemeClr val="accent3">
                        <a:lumMod val="40000"/>
                        <a:lumOff val="60000"/>
                      </a:schemeClr>
                    </a:solidFill>
                  </a:tcPr>
                </a:tc>
                <a:tc>
                  <a:txBody>
                    <a:bodyPr/>
                    <a:lstStyle/>
                    <a:p>
                      <a:pPr algn="ctr"/>
                      <a:r>
                        <a:rPr lang="en-US" altLang="zh-TW" sz="2400" b="0" dirty="0"/>
                        <a:t>0</a:t>
                      </a:r>
                      <a:endParaRPr lang="zh-TW" altLang="en-US" sz="2400" b="0" dirty="0"/>
                    </a:p>
                  </a:txBody>
                  <a:tcPr>
                    <a:solidFill>
                      <a:schemeClr val="accent3">
                        <a:lumMod val="40000"/>
                        <a:lumOff val="60000"/>
                      </a:schemeClr>
                    </a:solidFill>
                  </a:tcPr>
                </a:tc>
                <a:extLst>
                  <a:ext uri="{0D108BD9-81ED-4DB2-BD59-A6C34878D82A}">
                    <a16:rowId xmlns:a16="http://schemas.microsoft.com/office/drawing/2014/main" val="3474810379"/>
                  </a:ext>
                </a:extLst>
              </a:tr>
              <a:tr h="288000">
                <a:tc>
                  <a:txBody>
                    <a:bodyPr/>
                    <a:lstStyle/>
                    <a:p>
                      <a:pPr algn="ctr"/>
                      <a:r>
                        <a:rPr lang="en-US" altLang="zh-TW" sz="2400" b="0" dirty="0"/>
                        <a:t>w</a:t>
                      </a:r>
                      <a:r>
                        <a:rPr lang="en-US" altLang="zh-TW" sz="2400" b="0" baseline="-25000" dirty="0"/>
                        <a:t>p</a:t>
                      </a:r>
                      <a:r>
                        <a:rPr lang="en-US" altLang="zh-TW" sz="2400" b="0" baseline="0" dirty="0"/>
                        <a:t>…w</a:t>
                      </a:r>
                      <a:r>
                        <a:rPr lang="en-US" altLang="zh-TW" sz="2400" b="0" baseline="-25000" dirty="0"/>
                        <a:t>p+2</a:t>
                      </a:r>
                      <a:endParaRPr lang="zh-TW" altLang="en-US" sz="2400" b="0" dirty="0"/>
                    </a:p>
                  </a:txBody>
                  <a:tcPr>
                    <a:solidFill>
                      <a:schemeClr val="bg2"/>
                    </a:solidFill>
                  </a:tcPr>
                </a:tc>
                <a:tc>
                  <a:txBody>
                    <a:bodyPr/>
                    <a:lstStyle/>
                    <a:p>
                      <a:pPr algn="ctr"/>
                      <a:r>
                        <a:rPr lang="en-US" altLang="zh-TW" sz="2400" b="0" dirty="0"/>
                        <a:t>abb</a:t>
                      </a:r>
                      <a:endParaRPr lang="zh-TW" altLang="en-US" sz="2400" b="0" dirty="0"/>
                    </a:p>
                  </a:txBody>
                  <a:tcPr>
                    <a:solidFill>
                      <a:schemeClr val="accent6">
                        <a:lumMod val="20000"/>
                        <a:lumOff val="80000"/>
                      </a:schemeClr>
                    </a:solidFill>
                  </a:tcPr>
                </a:tc>
                <a:tc>
                  <a:txBody>
                    <a:bodyPr/>
                    <a:lstStyle/>
                    <a:p>
                      <a:pPr algn="ctr"/>
                      <a:r>
                        <a:rPr lang="en-US" altLang="zh-TW" sz="2400" b="0" dirty="0"/>
                        <a:t>ado</a:t>
                      </a:r>
                      <a:endParaRPr lang="zh-TW" altLang="en-US" sz="2400" b="0" dirty="0"/>
                    </a:p>
                  </a:txBody>
                  <a:tcPr>
                    <a:solidFill>
                      <a:schemeClr val="accent6">
                        <a:lumMod val="20000"/>
                        <a:lumOff val="80000"/>
                      </a:schemeClr>
                    </a:solidFill>
                  </a:tcPr>
                </a:tc>
                <a:tc>
                  <a:txBody>
                    <a:bodyPr/>
                    <a:lstStyle/>
                    <a:p>
                      <a:pPr algn="ctr"/>
                      <a:r>
                        <a:rPr lang="en-US" altLang="zh-TW" sz="2400" b="0" dirty="0"/>
                        <a:t>bad</a:t>
                      </a:r>
                      <a:endParaRPr lang="zh-TW" altLang="en-US" sz="2400" b="0" dirty="0"/>
                    </a:p>
                  </a:txBody>
                  <a:tcPr>
                    <a:solidFill>
                      <a:schemeClr val="accent6">
                        <a:lumMod val="20000"/>
                        <a:lumOff val="80000"/>
                      </a:schemeClr>
                    </a:solidFill>
                  </a:tcPr>
                </a:tc>
                <a:tc>
                  <a:txBody>
                    <a:bodyPr/>
                    <a:lstStyle/>
                    <a:p>
                      <a:pPr algn="ctr"/>
                      <a:r>
                        <a:rPr lang="en-US" altLang="zh-TW" sz="2400" b="0" dirty="0" err="1"/>
                        <a:t>yab</a:t>
                      </a:r>
                      <a:endParaRPr lang="zh-TW" altLang="en-US" sz="2400" b="0" dirty="0"/>
                    </a:p>
                  </a:txBody>
                  <a:tcPr>
                    <a:solidFill>
                      <a:schemeClr val="accent6">
                        <a:lumMod val="20000"/>
                        <a:lumOff val="80000"/>
                      </a:schemeClr>
                    </a:solidFill>
                  </a:tcPr>
                </a:tc>
                <a:extLst>
                  <a:ext uri="{0D108BD9-81ED-4DB2-BD59-A6C34878D82A}">
                    <a16:rowId xmlns:a16="http://schemas.microsoft.com/office/drawing/2014/main" val="3281406572"/>
                  </a:ext>
                </a:extLst>
              </a:tr>
              <a:tr h="288000">
                <a:tc>
                  <a:txBody>
                    <a:bodyPr/>
                    <a:lstStyle/>
                    <a:p>
                      <a:pPr algn="ctr"/>
                      <a:r>
                        <a:rPr lang="en-US" altLang="zh-TW" sz="2400" b="0" dirty="0"/>
                        <a:t>pair-2</a:t>
                      </a:r>
                      <a:endParaRPr lang="zh-TW" altLang="en-US" sz="2400" b="0" dirty="0"/>
                    </a:p>
                  </a:txBody>
                  <a:tcPr>
                    <a:solidFill>
                      <a:schemeClr val="bg2"/>
                    </a:solidFill>
                  </a:tcPr>
                </a:tc>
                <a:tc>
                  <a:txBody>
                    <a:bodyPr/>
                    <a:lstStyle/>
                    <a:p>
                      <a:pPr algn="ctr"/>
                      <a:r>
                        <a:rPr lang="en-US" altLang="zh-TW" sz="2400" b="0" dirty="0"/>
                        <a:t>ab3</a:t>
                      </a:r>
                      <a:endParaRPr lang="zh-TW" altLang="en-US" sz="2400" b="0" dirty="0"/>
                    </a:p>
                  </a:txBody>
                  <a:tcPr>
                    <a:solidFill>
                      <a:schemeClr val="bg1"/>
                    </a:solidFill>
                  </a:tcPr>
                </a:tc>
                <a:tc>
                  <a:txBody>
                    <a:bodyPr/>
                    <a:lstStyle/>
                    <a:p>
                      <a:pPr algn="ctr"/>
                      <a:r>
                        <a:rPr lang="en-US" altLang="zh-TW" sz="2400" b="0" dirty="0"/>
                        <a:t>ad8</a:t>
                      </a:r>
                      <a:endParaRPr lang="zh-TW" altLang="en-US" sz="2400" b="0" dirty="0"/>
                    </a:p>
                  </a:txBody>
                  <a:tcPr>
                    <a:solidFill>
                      <a:schemeClr val="bg1"/>
                    </a:solidFill>
                  </a:tcPr>
                </a:tc>
                <a:tc>
                  <a:txBody>
                    <a:bodyPr/>
                    <a:lstStyle/>
                    <a:p>
                      <a:pPr algn="ctr"/>
                      <a:r>
                        <a:rPr lang="en-US" altLang="zh-TW" sz="2400" b="0" dirty="0"/>
                        <a:t>ba6</a:t>
                      </a:r>
                      <a:endParaRPr lang="zh-TW" altLang="en-US" sz="2400" b="0" dirty="0"/>
                    </a:p>
                  </a:txBody>
                  <a:tcPr>
                    <a:solidFill>
                      <a:schemeClr val="bg1"/>
                    </a:solidFill>
                  </a:tcPr>
                </a:tc>
                <a:tc>
                  <a:txBody>
                    <a:bodyPr/>
                    <a:lstStyle/>
                    <a:p>
                      <a:pPr algn="ctr"/>
                      <a:r>
                        <a:rPr lang="en-US" altLang="zh-TW" sz="2400" b="0" dirty="0"/>
                        <a:t>ya4</a:t>
                      </a:r>
                      <a:endParaRPr lang="zh-TW" altLang="en-US" sz="2400" b="0" dirty="0"/>
                    </a:p>
                  </a:txBody>
                  <a:tcPr>
                    <a:solidFill>
                      <a:schemeClr val="bg1"/>
                    </a:solidFill>
                  </a:tcPr>
                </a:tc>
                <a:extLst>
                  <a:ext uri="{0D108BD9-81ED-4DB2-BD59-A6C34878D82A}">
                    <a16:rowId xmlns:a16="http://schemas.microsoft.com/office/drawing/2014/main" val="3883454562"/>
                  </a:ext>
                </a:extLst>
              </a:tr>
              <a:tr h="288000">
                <a:tc>
                  <a:txBody>
                    <a:bodyPr/>
                    <a:lstStyle/>
                    <a:p>
                      <a:pPr algn="ctr"/>
                      <a:r>
                        <a:rPr lang="en-US" altLang="zh-TW" sz="2400" b="0" dirty="0"/>
                        <a:t>pair-1</a:t>
                      </a:r>
                      <a:endParaRPr lang="zh-TW" altLang="en-US" sz="2400" b="0" dirty="0"/>
                    </a:p>
                  </a:txBody>
                  <a:tcPr>
                    <a:solidFill>
                      <a:schemeClr val="bg2"/>
                    </a:solidFill>
                  </a:tcPr>
                </a:tc>
                <a:tc>
                  <a:txBody>
                    <a:bodyPr/>
                    <a:lstStyle/>
                    <a:p>
                      <a:pPr algn="ctr"/>
                      <a:r>
                        <a:rPr lang="en-US" altLang="zh-TW" sz="2400" b="0" dirty="0"/>
                        <a:t>a5</a:t>
                      </a:r>
                      <a:endParaRPr lang="zh-TW" altLang="en-US" sz="2400" b="0" dirty="0"/>
                    </a:p>
                  </a:txBody>
                  <a:tcPr>
                    <a:solidFill>
                      <a:schemeClr val="accent6">
                        <a:lumMod val="20000"/>
                        <a:lumOff val="80000"/>
                      </a:schemeClr>
                    </a:solidFill>
                  </a:tcPr>
                </a:tc>
                <a:tc>
                  <a:txBody>
                    <a:bodyPr/>
                    <a:lstStyle/>
                    <a:p>
                      <a:pPr algn="ctr"/>
                      <a:r>
                        <a:rPr lang="en-US" altLang="zh-TW" sz="2400" b="0" dirty="0"/>
                        <a:t>a7</a:t>
                      </a:r>
                      <a:endParaRPr lang="zh-TW" altLang="en-US" sz="2400" b="0" dirty="0"/>
                    </a:p>
                  </a:txBody>
                  <a:tcPr>
                    <a:solidFill>
                      <a:schemeClr val="accent6">
                        <a:lumMod val="20000"/>
                        <a:lumOff val="80000"/>
                      </a:schemeClr>
                    </a:solidFill>
                  </a:tcPr>
                </a:tc>
                <a:tc>
                  <a:txBody>
                    <a:bodyPr/>
                    <a:lstStyle/>
                    <a:p>
                      <a:pPr algn="ctr"/>
                      <a:r>
                        <a:rPr lang="en-US" altLang="zh-TW" sz="2400" b="0" dirty="0"/>
                        <a:t>b2</a:t>
                      </a:r>
                      <a:endParaRPr lang="zh-TW" altLang="en-US" sz="2400" b="0" dirty="0"/>
                    </a:p>
                  </a:txBody>
                  <a:tcPr>
                    <a:solidFill>
                      <a:schemeClr val="accent6">
                        <a:lumMod val="20000"/>
                        <a:lumOff val="80000"/>
                      </a:schemeClr>
                    </a:solidFill>
                  </a:tcPr>
                </a:tc>
                <a:tc>
                  <a:txBody>
                    <a:bodyPr/>
                    <a:lstStyle/>
                    <a:p>
                      <a:pPr algn="ctr"/>
                      <a:r>
                        <a:rPr lang="en-US" altLang="zh-TW" sz="2400" b="0" dirty="0"/>
                        <a:t>y1</a:t>
                      </a:r>
                      <a:endParaRPr lang="zh-TW" altLang="en-US" sz="2400" b="0" dirty="0"/>
                    </a:p>
                  </a:txBody>
                  <a:tcPr>
                    <a:solidFill>
                      <a:schemeClr val="accent6">
                        <a:lumMod val="20000"/>
                        <a:lumOff val="80000"/>
                      </a:schemeClr>
                    </a:solidFill>
                  </a:tcPr>
                </a:tc>
                <a:extLst>
                  <a:ext uri="{0D108BD9-81ED-4DB2-BD59-A6C34878D82A}">
                    <a16:rowId xmlns:a16="http://schemas.microsoft.com/office/drawing/2014/main" val="2473674384"/>
                  </a:ext>
                </a:extLst>
              </a:tr>
            </a:tbl>
          </a:graphicData>
        </a:graphic>
      </p:graphicFrame>
      <p:graphicFrame>
        <p:nvGraphicFramePr>
          <p:cNvPr id="6" name="表格 5">
            <a:extLst>
              <a:ext uri="{FF2B5EF4-FFF2-40B4-BE49-F238E27FC236}">
                <a16:creationId xmlns:a16="http://schemas.microsoft.com/office/drawing/2014/main" id="{681A51AF-200A-A8E6-F6E5-34D8BB6196BE}"/>
              </a:ext>
            </a:extLst>
          </p:cNvPr>
          <p:cNvGraphicFramePr>
            <a:graphicFrameLocks noGrp="1"/>
          </p:cNvGraphicFramePr>
          <p:nvPr>
            <p:extLst>
              <p:ext uri="{D42A27DB-BD31-4B8C-83A1-F6EECF244321}">
                <p14:modId xmlns:p14="http://schemas.microsoft.com/office/powerpoint/2010/main" val="2700521085"/>
              </p:ext>
            </p:extLst>
          </p:nvPr>
        </p:nvGraphicFramePr>
        <p:xfrm>
          <a:off x="2042211" y="1109009"/>
          <a:ext cx="7200000" cy="2286000"/>
        </p:xfrm>
        <a:graphic>
          <a:graphicData uri="http://schemas.openxmlformats.org/drawingml/2006/table">
            <a:tbl>
              <a:tblPr firstRow="1" bandRow="1">
                <a:tableStyleId>{E8B1032C-EA38-4F05-BA0D-38AFFFC7BED3}</a:tableStyleId>
              </a:tblPr>
              <a:tblGrid>
                <a:gridCol w="1440000">
                  <a:extLst>
                    <a:ext uri="{9D8B030D-6E8A-4147-A177-3AD203B41FA5}">
                      <a16:colId xmlns:a16="http://schemas.microsoft.com/office/drawing/2014/main" val="3687563117"/>
                    </a:ext>
                  </a:extLst>
                </a:gridCol>
                <a:gridCol w="720000">
                  <a:extLst>
                    <a:ext uri="{9D8B030D-6E8A-4147-A177-3AD203B41FA5}">
                      <a16:colId xmlns:a16="http://schemas.microsoft.com/office/drawing/2014/main" val="3458925501"/>
                    </a:ext>
                  </a:extLst>
                </a:gridCol>
                <a:gridCol w="720000">
                  <a:extLst>
                    <a:ext uri="{9D8B030D-6E8A-4147-A177-3AD203B41FA5}">
                      <a16:colId xmlns:a16="http://schemas.microsoft.com/office/drawing/2014/main" val="4030832065"/>
                    </a:ext>
                  </a:extLst>
                </a:gridCol>
                <a:gridCol w="720000">
                  <a:extLst>
                    <a:ext uri="{9D8B030D-6E8A-4147-A177-3AD203B41FA5}">
                      <a16:colId xmlns:a16="http://schemas.microsoft.com/office/drawing/2014/main" val="1724438594"/>
                    </a:ext>
                  </a:extLst>
                </a:gridCol>
                <a:gridCol w="720000">
                  <a:extLst>
                    <a:ext uri="{9D8B030D-6E8A-4147-A177-3AD203B41FA5}">
                      <a16:colId xmlns:a16="http://schemas.microsoft.com/office/drawing/2014/main" val="4209229924"/>
                    </a:ext>
                  </a:extLst>
                </a:gridCol>
                <a:gridCol w="720000">
                  <a:extLst>
                    <a:ext uri="{9D8B030D-6E8A-4147-A177-3AD203B41FA5}">
                      <a16:colId xmlns:a16="http://schemas.microsoft.com/office/drawing/2014/main" val="939867404"/>
                    </a:ext>
                  </a:extLst>
                </a:gridCol>
                <a:gridCol w="720000">
                  <a:extLst>
                    <a:ext uri="{9D8B030D-6E8A-4147-A177-3AD203B41FA5}">
                      <a16:colId xmlns:a16="http://schemas.microsoft.com/office/drawing/2014/main" val="1896014268"/>
                    </a:ext>
                  </a:extLst>
                </a:gridCol>
                <a:gridCol w="720000">
                  <a:extLst>
                    <a:ext uri="{9D8B030D-6E8A-4147-A177-3AD203B41FA5}">
                      <a16:colId xmlns:a16="http://schemas.microsoft.com/office/drawing/2014/main" val="1327895291"/>
                    </a:ext>
                  </a:extLst>
                </a:gridCol>
                <a:gridCol w="720000">
                  <a:extLst>
                    <a:ext uri="{9D8B030D-6E8A-4147-A177-3AD203B41FA5}">
                      <a16:colId xmlns:a16="http://schemas.microsoft.com/office/drawing/2014/main" val="441416911"/>
                    </a:ext>
                  </a:extLst>
                </a:gridCol>
              </a:tblGrid>
              <a:tr h="288000">
                <a:tc>
                  <a:txBody>
                    <a:bodyPr/>
                    <a:lstStyle/>
                    <a:p>
                      <a:pPr algn="ctr"/>
                      <a:r>
                        <a:rPr lang="en-US" altLang="zh-TW" sz="2400" b="0" dirty="0"/>
                        <a:t>pos in W</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solidFill>
                      <a:schemeClr val="accent3">
                        <a:lumMod val="40000"/>
                        <a:lumOff val="60000"/>
                      </a:schemeClr>
                    </a:solidFill>
                  </a:tcPr>
                </a:tc>
                <a:tc>
                  <a:txBody>
                    <a:bodyPr/>
                    <a:lstStyle/>
                    <a:p>
                      <a:pPr algn="ctr"/>
                      <a:r>
                        <a:rPr lang="en-US" altLang="zh-TW" sz="2400" b="0" dirty="0"/>
                        <a:t>4</a:t>
                      </a:r>
                      <a:endParaRPr lang="zh-TW" altLang="en-US" sz="2400" b="0" dirty="0"/>
                    </a:p>
                  </a:txBody>
                  <a:tcPr>
                    <a:solidFill>
                      <a:schemeClr val="accent3">
                        <a:lumMod val="40000"/>
                        <a:lumOff val="60000"/>
                      </a:schemeClr>
                    </a:solidFill>
                  </a:tcPr>
                </a:tc>
                <a:tc>
                  <a:txBody>
                    <a:bodyPr/>
                    <a:lstStyle/>
                    <a:p>
                      <a:pPr algn="ctr"/>
                      <a:r>
                        <a:rPr lang="en-US" altLang="zh-TW" sz="2400" b="0" dirty="0"/>
                        <a:t>8</a:t>
                      </a:r>
                      <a:endParaRPr lang="zh-TW" altLang="en-US" sz="2400" b="0" dirty="0"/>
                    </a:p>
                  </a:txBody>
                  <a:tcPr>
                    <a:solidFill>
                      <a:schemeClr val="accent3">
                        <a:lumMod val="40000"/>
                        <a:lumOff val="60000"/>
                      </a:schemeClr>
                    </a:solidFill>
                  </a:tcPr>
                </a:tc>
                <a:tc>
                  <a:txBody>
                    <a:bodyPr/>
                    <a:lstStyle/>
                    <a:p>
                      <a:pPr algn="ctr"/>
                      <a:r>
                        <a:rPr lang="en-US" altLang="zh-TW" sz="2400" b="0" dirty="0"/>
                        <a:t>2</a:t>
                      </a:r>
                      <a:endParaRPr lang="zh-TW" altLang="en-US" sz="2400" b="0" dirty="0"/>
                    </a:p>
                  </a:txBody>
                  <a:tcPr>
                    <a:solidFill>
                      <a:schemeClr val="accent3">
                        <a:lumMod val="40000"/>
                        <a:lumOff val="60000"/>
                      </a:schemeClr>
                    </a:solidFill>
                  </a:tcPr>
                </a:tc>
                <a:tc>
                  <a:txBody>
                    <a:bodyPr/>
                    <a:lstStyle/>
                    <a:p>
                      <a:pPr algn="ctr"/>
                      <a:r>
                        <a:rPr lang="en-US" altLang="zh-TW" sz="2400" b="0" dirty="0"/>
                        <a:t>7</a:t>
                      </a:r>
                      <a:endParaRPr lang="zh-TW" altLang="en-US" sz="2400" b="0" dirty="0"/>
                    </a:p>
                  </a:txBody>
                  <a:tcPr>
                    <a:solidFill>
                      <a:schemeClr val="accent3">
                        <a:lumMod val="40000"/>
                        <a:lumOff val="60000"/>
                      </a:schemeClr>
                    </a:solidFill>
                  </a:tcPr>
                </a:tc>
                <a:tc>
                  <a:txBody>
                    <a:bodyPr/>
                    <a:lstStyle/>
                    <a:p>
                      <a:pPr algn="ctr"/>
                      <a:r>
                        <a:rPr lang="en-US" altLang="zh-TW" sz="2400" b="0" dirty="0"/>
                        <a:t>5</a:t>
                      </a:r>
                      <a:endParaRPr lang="zh-TW" altLang="en-US" sz="2400" b="0" dirty="0"/>
                    </a:p>
                  </a:txBody>
                  <a:tcPr>
                    <a:solidFill>
                      <a:schemeClr val="accent3">
                        <a:lumMod val="40000"/>
                        <a:lumOff val="60000"/>
                      </a:schemeClr>
                    </a:solidFill>
                  </a:tcPr>
                </a:tc>
                <a:tc>
                  <a:txBody>
                    <a:bodyPr/>
                    <a:lstStyle/>
                    <a:p>
                      <a:pPr algn="ctr"/>
                      <a:r>
                        <a:rPr lang="en-US" altLang="zh-TW" sz="2400" b="0" dirty="0"/>
                        <a:t>10</a:t>
                      </a:r>
                      <a:endParaRPr lang="zh-TW" altLang="en-US" sz="2400" b="0" dirty="0"/>
                    </a:p>
                  </a:txBody>
                  <a:tcPr>
                    <a:solidFill>
                      <a:schemeClr val="accent3">
                        <a:lumMod val="40000"/>
                        <a:lumOff val="60000"/>
                      </a:schemeClr>
                    </a:solidFill>
                  </a:tcPr>
                </a:tc>
                <a:tc>
                  <a:txBody>
                    <a:bodyPr/>
                    <a:lstStyle/>
                    <a:p>
                      <a:pPr algn="ctr"/>
                      <a:r>
                        <a:rPr lang="en-US" altLang="zh-TW" sz="2400" b="0" dirty="0"/>
                        <a:t>11</a:t>
                      </a:r>
                      <a:endParaRPr lang="zh-TW" altLang="en-US" sz="2400" b="0" dirty="0"/>
                    </a:p>
                  </a:txBody>
                  <a:tcPr>
                    <a:solidFill>
                      <a:schemeClr val="accent3">
                        <a:lumMod val="40000"/>
                        <a:lumOff val="60000"/>
                      </a:schemeClr>
                    </a:solidFill>
                  </a:tcPr>
                </a:tc>
                <a:extLst>
                  <a:ext uri="{0D108BD9-81ED-4DB2-BD59-A6C34878D82A}">
                    <a16:rowId xmlns:a16="http://schemas.microsoft.com/office/drawing/2014/main" val="3474810379"/>
                  </a:ext>
                </a:extLst>
              </a:tr>
              <a:tr h="288000">
                <a:tc>
                  <a:txBody>
                    <a:bodyPr/>
                    <a:lstStyle/>
                    <a:p>
                      <a:pPr algn="ctr"/>
                      <a:r>
                        <a:rPr lang="en-US" altLang="zh-TW" sz="2400" b="0" dirty="0"/>
                        <a:t>w</a:t>
                      </a:r>
                      <a:r>
                        <a:rPr lang="en-US" altLang="zh-TW" sz="2400" b="0" baseline="-25000" dirty="0"/>
                        <a:t>p</a:t>
                      </a:r>
                      <a:r>
                        <a:rPr lang="en-US" altLang="zh-TW" sz="2400" b="0" baseline="0" dirty="0"/>
                        <a:t>…w</a:t>
                      </a:r>
                      <a:r>
                        <a:rPr lang="en-US" altLang="zh-TW" sz="2400" b="0" baseline="-25000" dirty="0"/>
                        <a:t>p+2</a:t>
                      </a:r>
                      <a:endParaRPr lang="zh-TW" altLang="en-US" sz="2400" b="0" dirty="0"/>
                    </a:p>
                  </a:txBody>
                  <a:tcPr>
                    <a:solidFill>
                      <a:schemeClr val="bg2"/>
                    </a:solidFill>
                  </a:tcPr>
                </a:tc>
                <a:tc>
                  <a:txBody>
                    <a:bodyPr/>
                    <a:lstStyle/>
                    <a:p>
                      <a:pPr algn="ctr"/>
                      <a:r>
                        <a:rPr lang="en-US" altLang="zh-TW" sz="2400" b="0" dirty="0"/>
                        <a:t>abb</a:t>
                      </a:r>
                      <a:endParaRPr lang="zh-TW" altLang="en-US" sz="2400" b="0" dirty="0"/>
                    </a:p>
                  </a:txBody>
                  <a:tcPr>
                    <a:solidFill>
                      <a:schemeClr val="accent6">
                        <a:lumMod val="20000"/>
                        <a:lumOff val="80000"/>
                      </a:schemeClr>
                    </a:solidFill>
                  </a:tcPr>
                </a:tc>
                <a:tc>
                  <a:txBody>
                    <a:bodyPr/>
                    <a:lstStyle/>
                    <a:p>
                      <a:pPr algn="ctr"/>
                      <a:r>
                        <a:rPr lang="en-US" altLang="zh-TW" sz="2400" b="0" dirty="0" err="1"/>
                        <a:t>ada</a:t>
                      </a:r>
                      <a:endParaRPr lang="zh-TW" altLang="en-US" sz="2400" b="0" dirty="0"/>
                    </a:p>
                  </a:txBody>
                  <a:tcPr>
                    <a:solidFill>
                      <a:schemeClr val="accent6">
                        <a:lumMod val="20000"/>
                        <a:lumOff val="80000"/>
                      </a:schemeClr>
                    </a:solidFill>
                  </a:tcPr>
                </a:tc>
                <a:tc>
                  <a:txBody>
                    <a:bodyPr/>
                    <a:lstStyle/>
                    <a:p>
                      <a:pPr algn="ctr"/>
                      <a:r>
                        <a:rPr lang="en-US" altLang="zh-TW" sz="2400" b="0" dirty="0" err="1"/>
                        <a:t>bba</a:t>
                      </a:r>
                      <a:endParaRPr lang="zh-TW" altLang="en-US" sz="2400" b="0" dirty="0"/>
                    </a:p>
                  </a:txBody>
                  <a:tcPr>
                    <a:solidFill>
                      <a:schemeClr val="accent6">
                        <a:lumMod val="20000"/>
                        <a:lumOff val="80000"/>
                      </a:schemeClr>
                    </a:solidFill>
                  </a:tcPr>
                </a:tc>
                <a:tc>
                  <a:txBody>
                    <a:bodyPr/>
                    <a:lstStyle/>
                    <a:p>
                      <a:pPr algn="ctr"/>
                      <a:r>
                        <a:rPr lang="en-US" altLang="zh-TW" sz="2400" b="0" dirty="0"/>
                        <a:t>do$</a:t>
                      </a:r>
                      <a:endParaRPr lang="zh-TW" altLang="en-US" sz="2400" b="0" dirty="0"/>
                    </a:p>
                  </a:txBody>
                  <a:tcPr>
                    <a:solidFill>
                      <a:schemeClr val="accent6">
                        <a:lumMod val="20000"/>
                        <a:lumOff val="80000"/>
                      </a:schemeClr>
                    </a:solidFill>
                  </a:tcPr>
                </a:tc>
                <a:tc>
                  <a:txBody>
                    <a:bodyPr/>
                    <a:lstStyle/>
                    <a:p>
                      <a:pPr algn="ctr"/>
                      <a:r>
                        <a:rPr lang="en-US" altLang="zh-TW" sz="2400" b="0" dirty="0" err="1"/>
                        <a:t>bba</a:t>
                      </a:r>
                      <a:endParaRPr lang="zh-TW" altLang="en-US" sz="2400" b="0" dirty="0"/>
                    </a:p>
                  </a:txBody>
                  <a:tcPr>
                    <a:solidFill>
                      <a:schemeClr val="accent6">
                        <a:lumMod val="20000"/>
                        <a:lumOff val="80000"/>
                      </a:schemeClr>
                    </a:solidFill>
                  </a:tcPr>
                </a:tc>
                <a:tc>
                  <a:txBody>
                    <a:bodyPr/>
                    <a:lstStyle/>
                    <a:p>
                      <a:pPr algn="ctr"/>
                      <a:r>
                        <a:rPr lang="en-US" altLang="zh-TW" sz="2400" b="0" dirty="0"/>
                        <a:t>dab</a:t>
                      </a:r>
                      <a:endParaRPr lang="zh-TW" altLang="en-US" sz="2400" b="0" dirty="0"/>
                    </a:p>
                  </a:txBody>
                  <a:tcPr>
                    <a:solidFill>
                      <a:schemeClr val="accent6">
                        <a:lumMod val="20000"/>
                        <a:lumOff val="80000"/>
                      </a:schemeClr>
                    </a:solidFill>
                  </a:tcPr>
                </a:tc>
                <a:tc>
                  <a:txBody>
                    <a:bodyPr/>
                    <a:lstStyle/>
                    <a:p>
                      <a:pPr algn="ctr"/>
                      <a:r>
                        <a:rPr lang="en-US" altLang="zh-TW" sz="2400" b="0" dirty="0"/>
                        <a:t>bad</a:t>
                      </a:r>
                      <a:endParaRPr lang="zh-TW" altLang="en-US" sz="2400" b="0" dirty="0"/>
                    </a:p>
                  </a:txBody>
                  <a:tcPr>
                    <a:solidFill>
                      <a:schemeClr val="accent6">
                        <a:lumMod val="20000"/>
                        <a:lumOff val="80000"/>
                      </a:schemeClr>
                    </a:solidFill>
                  </a:tcPr>
                </a:tc>
                <a:tc>
                  <a:txBody>
                    <a:bodyPr/>
                    <a:lstStyle/>
                    <a:p>
                      <a:pPr algn="ctr"/>
                      <a:r>
                        <a:rPr lang="en-US" altLang="zh-TW" sz="2400" b="0" dirty="0"/>
                        <a:t>o$$</a:t>
                      </a:r>
                      <a:endParaRPr lang="zh-TW" altLang="en-US" sz="2400" b="0" dirty="0"/>
                    </a:p>
                  </a:txBody>
                  <a:tcPr>
                    <a:solidFill>
                      <a:schemeClr val="accent6">
                        <a:lumMod val="20000"/>
                        <a:lumOff val="80000"/>
                      </a:schemeClr>
                    </a:solidFill>
                  </a:tcPr>
                </a:tc>
                <a:extLst>
                  <a:ext uri="{0D108BD9-81ED-4DB2-BD59-A6C34878D82A}">
                    <a16:rowId xmlns:a16="http://schemas.microsoft.com/office/drawing/2014/main" val="3281406572"/>
                  </a:ext>
                </a:extLst>
              </a:tr>
              <a:tr h="288000">
                <a:tc>
                  <a:txBody>
                    <a:bodyPr/>
                    <a:lstStyle/>
                    <a:p>
                      <a:pPr algn="ctr"/>
                      <a:r>
                        <a:rPr lang="en-US" altLang="zh-TW" sz="2400" b="0" dirty="0"/>
                        <a:t>order</a:t>
                      </a:r>
                      <a:endParaRPr lang="zh-TW" altLang="en-US" sz="2400" b="0" dirty="0"/>
                    </a:p>
                  </a:txBody>
                  <a:tcPr>
                    <a:solidFill>
                      <a:schemeClr val="bg2"/>
                    </a:solidFill>
                  </a:tcPr>
                </a:tc>
                <a:tc>
                  <a:txBody>
                    <a:bodyPr/>
                    <a:lstStyle/>
                    <a:p>
                      <a:pPr algn="ctr"/>
                      <a:r>
                        <a:rPr lang="en-US" altLang="zh-TW" sz="2400" b="0" dirty="0"/>
                        <a:t>1</a:t>
                      </a:r>
                      <a:endParaRPr lang="zh-TW" altLang="en-US" sz="2400" b="0" dirty="0"/>
                    </a:p>
                  </a:txBody>
                  <a:tcPr>
                    <a:solidFill>
                      <a:schemeClr val="accent6">
                        <a:lumMod val="20000"/>
                        <a:lumOff val="80000"/>
                      </a:schemeClr>
                    </a:solidFill>
                  </a:tcPr>
                </a:tc>
                <a:tc>
                  <a:txBody>
                    <a:bodyPr/>
                    <a:lstStyle/>
                    <a:p>
                      <a:pPr algn="ctr"/>
                      <a:r>
                        <a:rPr lang="en-US" altLang="zh-TW" sz="2400" b="0" dirty="0"/>
                        <a:t>2</a:t>
                      </a:r>
                      <a:endParaRPr lang="zh-TW" altLang="en-US" sz="2400" b="0" dirty="0"/>
                    </a:p>
                  </a:txBody>
                  <a:tcPr>
                    <a:solidFill>
                      <a:schemeClr val="accent6">
                        <a:lumMod val="20000"/>
                        <a:lumOff val="80000"/>
                      </a:schemeClr>
                    </a:solidFill>
                  </a:tcPr>
                </a:tc>
                <a:tc>
                  <a:txBody>
                    <a:bodyPr/>
                    <a:lstStyle/>
                    <a:p>
                      <a:pPr algn="ctr"/>
                      <a:r>
                        <a:rPr lang="en-US" altLang="zh-TW" sz="2400" b="0" dirty="0"/>
                        <a:t>3</a:t>
                      </a:r>
                      <a:endParaRPr lang="zh-TW" altLang="en-US" sz="2400" b="0" dirty="0"/>
                    </a:p>
                  </a:txBody>
                  <a:tcPr>
                    <a:solidFill>
                      <a:schemeClr val="accent6">
                        <a:lumMod val="20000"/>
                        <a:lumOff val="80000"/>
                      </a:schemeClr>
                    </a:solidFill>
                  </a:tcPr>
                </a:tc>
                <a:tc>
                  <a:txBody>
                    <a:bodyPr/>
                    <a:lstStyle/>
                    <a:p>
                      <a:pPr algn="ctr"/>
                      <a:r>
                        <a:rPr lang="en-US" altLang="zh-TW" sz="2400" b="0" dirty="0"/>
                        <a:t>4</a:t>
                      </a:r>
                      <a:endParaRPr lang="zh-TW" altLang="en-US" sz="2400" b="0" dirty="0"/>
                    </a:p>
                  </a:txBody>
                  <a:tcPr>
                    <a:solidFill>
                      <a:schemeClr val="accent6">
                        <a:lumMod val="20000"/>
                        <a:lumOff val="80000"/>
                      </a:schemeClr>
                    </a:solidFill>
                  </a:tcPr>
                </a:tc>
                <a:tc>
                  <a:txBody>
                    <a:bodyPr/>
                    <a:lstStyle/>
                    <a:p>
                      <a:pPr algn="ctr"/>
                      <a:r>
                        <a:rPr lang="en-US" altLang="zh-TW" sz="2400" b="0" dirty="0"/>
                        <a:t>5</a:t>
                      </a:r>
                      <a:endParaRPr lang="zh-TW" altLang="en-US" sz="2400" b="0" dirty="0"/>
                    </a:p>
                  </a:txBody>
                  <a:tcPr>
                    <a:solidFill>
                      <a:schemeClr val="accent6">
                        <a:lumMod val="20000"/>
                        <a:lumOff val="80000"/>
                      </a:schemeClr>
                    </a:solidFill>
                  </a:tcPr>
                </a:tc>
                <a:tc>
                  <a:txBody>
                    <a:bodyPr/>
                    <a:lstStyle/>
                    <a:p>
                      <a:pPr algn="ctr"/>
                      <a:r>
                        <a:rPr lang="en-US" altLang="zh-TW" sz="2400" b="0" dirty="0"/>
                        <a:t>6</a:t>
                      </a:r>
                      <a:endParaRPr lang="zh-TW" altLang="en-US" sz="2400" b="0" dirty="0"/>
                    </a:p>
                  </a:txBody>
                  <a:tcPr>
                    <a:solidFill>
                      <a:schemeClr val="accent6">
                        <a:lumMod val="20000"/>
                        <a:lumOff val="80000"/>
                      </a:schemeClr>
                    </a:solidFill>
                  </a:tcPr>
                </a:tc>
                <a:tc>
                  <a:txBody>
                    <a:bodyPr/>
                    <a:lstStyle/>
                    <a:p>
                      <a:pPr algn="ctr"/>
                      <a:r>
                        <a:rPr lang="en-US" altLang="zh-TW" sz="2400" b="0" dirty="0"/>
                        <a:t>7</a:t>
                      </a:r>
                      <a:endParaRPr lang="zh-TW" altLang="en-US" sz="2400" b="0" dirty="0"/>
                    </a:p>
                  </a:txBody>
                  <a:tcPr>
                    <a:solidFill>
                      <a:schemeClr val="accent6">
                        <a:lumMod val="20000"/>
                        <a:lumOff val="80000"/>
                      </a:schemeClr>
                    </a:solidFill>
                  </a:tcPr>
                </a:tc>
                <a:tc>
                  <a:txBody>
                    <a:bodyPr/>
                    <a:lstStyle/>
                    <a:p>
                      <a:pPr algn="ctr"/>
                      <a:r>
                        <a:rPr lang="en-US" altLang="zh-TW" sz="2400" b="0" dirty="0"/>
                        <a:t>8</a:t>
                      </a:r>
                      <a:endParaRPr lang="zh-TW" altLang="en-US" sz="2400" b="0" dirty="0"/>
                    </a:p>
                  </a:txBody>
                  <a:tcPr>
                    <a:solidFill>
                      <a:schemeClr val="accent6">
                        <a:lumMod val="20000"/>
                        <a:lumOff val="80000"/>
                      </a:schemeClr>
                    </a:solidFill>
                  </a:tcPr>
                </a:tc>
                <a:extLst>
                  <a:ext uri="{0D108BD9-81ED-4DB2-BD59-A6C34878D82A}">
                    <a16:rowId xmlns:a16="http://schemas.microsoft.com/office/drawing/2014/main" val="1505465027"/>
                  </a:ext>
                </a:extLst>
              </a:tr>
              <a:tr h="360091">
                <a:tc>
                  <a:txBody>
                    <a:bodyPr/>
                    <a:lstStyle/>
                    <a:p>
                      <a:pPr algn="ctr"/>
                      <a:r>
                        <a:rPr lang="en-US" altLang="zh-TW" sz="2400" b="0" dirty="0"/>
                        <a:t>pair-2</a:t>
                      </a:r>
                      <a:endParaRPr lang="zh-TW" altLang="en-US" sz="2400" b="0" dirty="0"/>
                    </a:p>
                  </a:txBody>
                  <a:tcPr>
                    <a:solidFill>
                      <a:schemeClr val="bg2"/>
                    </a:solidFill>
                  </a:tcPr>
                </a:tc>
                <a:tc>
                  <a:txBody>
                    <a:bodyPr/>
                    <a:lstStyle/>
                    <a:p>
                      <a:pPr algn="ctr"/>
                      <a:endParaRPr lang="zh-TW" altLang="en-US" sz="2400" b="0" dirty="0"/>
                    </a:p>
                  </a:txBody>
                  <a:tcPr>
                    <a:solidFill>
                      <a:schemeClr val="bg1"/>
                    </a:solidFill>
                  </a:tcPr>
                </a:tc>
                <a:tc>
                  <a:txBody>
                    <a:bodyPr/>
                    <a:lstStyle/>
                    <a:p>
                      <a:pPr algn="ctr"/>
                      <a:endParaRPr lang="zh-TW" altLang="en-US" sz="2400" b="0" dirty="0"/>
                    </a:p>
                  </a:txBody>
                  <a:tcPr>
                    <a:solidFill>
                      <a:schemeClr val="bg1"/>
                    </a:solidFill>
                  </a:tcPr>
                </a:tc>
                <a:tc>
                  <a:txBody>
                    <a:bodyPr/>
                    <a:lstStyle/>
                    <a:p>
                      <a:pPr algn="ctr"/>
                      <a:r>
                        <a:rPr lang="en-US" altLang="zh-TW" sz="2400" b="0" dirty="0"/>
                        <a:t>ba7</a:t>
                      </a:r>
                      <a:endParaRPr lang="zh-TW" altLang="en-US" sz="2400" b="0" dirty="0"/>
                    </a:p>
                  </a:txBody>
                  <a:tcPr>
                    <a:solidFill>
                      <a:schemeClr val="bg1"/>
                    </a:solidFill>
                  </a:tcPr>
                </a:tc>
                <a:tc>
                  <a:txBody>
                    <a:bodyPr/>
                    <a:lstStyle/>
                    <a:p>
                      <a:pPr algn="ctr"/>
                      <a:r>
                        <a:rPr lang="en-US" altLang="zh-TW" sz="2400" b="0" dirty="0"/>
                        <a:t>bb2</a:t>
                      </a:r>
                      <a:endParaRPr lang="zh-TW" altLang="en-US" sz="2400" b="0" dirty="0"/>
                    </a:p>
                  </a:txBody>
                  <a:tcPr>
                    <a:solidFill>
                      <a:schemeClr val="bg1"/>
                    </a:solidFill>
                  </a:tcPr>
                </a:tc>
                <a:tc>
                  <a:txBody>
                    <a:bodyPr/>
                    <a:lstStyle/>
                    <a:p>
                      <a:pPr algn="ctr"/>
                      <a:endParaRPr lang="zh-TW" altLang="en-US" sz="2400" b="0" dirty="0"/>
                    </a:p>
                  </a:txBody>
                  <a:tcPr>
                    <a:solidFill>
                      <a:schemeClr val="bg1"/>
                    </a:solidFill>
                  </a:tcPr>
                </a:tc>
                <a:tc>
                  <a:txBody>
                    <a:bodyPr/>
                    <a:lstStyle/>
                    <a:p>
                      <a:pPr algn="ctr"/>
                      <a:r>
                        <a:rPr lang="en-US" altLang="zh-TW" sz="2400" b="0" dirty="0"/>
                        <a:t>da5</a:t>
                      </a:r>
                      <a:endParaRPr lang="zh-TW" altLang="en-US" sz="2400" b="0" dirty="0"/>
                    </a:p>
                  </a:txBody>
                  <a:tcPr>
                    <a:solidFill>
                      <a:schemeClr val="bg1"/>
                    </a:solidFill>
                  </a:tcPr>
                </a:tc>
                <a:tc>
                  <a:txBody>
                    <a:bodyPr/>
                    <a:lstStyle/>
                    <a:p>
                      <a:pPr algn="ctr"/>
                      <a:endParaRPr lang="zh-TW" altLang="en-US" sz="2400" b="0" dirty="0"/>
                    </a:p>
                  </a:txBody>
                  <a:tcPr>
                    <a:solidFill>
                      <a:schemeClr val="bg1"/>
                    </a:solidFill>
                  </a:tcPr>
                </a:tc>
                <a:tc>
                  <a:txBody>
                    <a:bodyPr/>
                    <a:lstStyle/>
                    <a:p>
                      <a:pPr algn="ctr"/>
                      <a:r>
                        <a:rPr lang="en-US" altLang="zh-TW" sz="2400" b="0" dirty="0"/>
                        <a:t>o$$</a:t>
                      </a:r>
                      <a:endParaRPr lang="zh-TW" altLang="en-US" sz="2400" b="0" dirty="0"/>
                    </a:p>
                  </a:txBody>
                  <a:tcPr>
                    <a:solidFill>
                      <a:schemeClr val="bg1"/>
                    </a:solidFill>
                  </a:tcPr>
                </a:tc>
                <a:extLst>
                  <a:ext uri="{0D108BD9-81ED-4DB2-BD59-A6C34878D82A}">
                    <a16:rowId xmlns:a16="http://schemas.microsoft.com/office/drawing/2014/main" val="3883454562"/>
                  </a:ext>
                </a:extLst>
              </a:tr>
              <a:tr h="288000">
                <a:tc>
                  <a:txBody>
                    <a:bodyPr/>
                    <a:lstStyle/>
                    <a:p>
                      <a:pPr algn="ctr"/>
                      <a:r>
                        <a:rPr lang="en-US" altLang="zh-TW" sz="2400" b="0" dirty="0"/>
                        <a:t>pair-1</a:t>
                      </a:r>
                      <a:endParaRPr lang="zh-TW" altLang="en-US" sz="2400" b="0" dirty="0"/>
                    </a:p>
                  </a:txBody>
                  <a:tcPr>
                    <a:solidFill>
                      <a:schemeClr val="bg2"/>
                    </a:solidFill>
                  </a:tcPr>
                </a:tc>
                <a:tc>
                  <a:txBody>
                    <a:bodyPr/>
                    <a:lstStyle/>
                    <a:p>
                      <a:pPr algn="ctr"/>
                      <a:r>
                        <a:rPr lang="en-US" altLang="zh-TW" sz="2400" b="0" dirty="0"/>
                        <a:t>a4</a:t>
                      </a:r>
                      <a:endParaRPr lang="zh-TW" altLang="en-US" sz="2400" b="0" dirty="0"/>
                    </a:p>
                  </a:txBody>
                  <a:tcPr>
                    <a:solidFill>
                      <a:schemeClr val="accent6">
                        <a:lumMod val="20000"/>
                        <a:lumOff val="80000"/>
                      </a:schemeClr>
                    </a:solidFill>
                  </a:tcPr>
                </a:tc>
                <a:tc>
                  <a:txBody>
                    <a:bodyPr/>
                    <a:lstStyle/>
                    <a:p>
                      <a:pPr algn="ctr"/>
                      <a:r>
                        <a:rPr lang="en-US" altLang="zh-TW" sz="2400" b="0" dirty="0"/>
                        <a:t>a6</a:t>
                      </a:r>
                      <a:endParaRPr lang="zh-TW" altLang="en-US" sz="2400" b="0" dirty="0"/>
                    </a:p>
                  </a:txBody>
                  <a:tcPr>
                    <a:solidFill>
                      <a:schemeClr val="accent6">
                        <a:lumMod val="20000"/>
                        <a:lumOff val="80000"/>
                      </a:schemeClr>
                    </a:solidFill>
                  </a:tcPr>
                </a:tc>
                <a:tc>
                  <a:txBody>
                    <a:bodyPr/>
                    <a:lstStyle/>
                    <a:p>
                      <a:pPr algn="ctr"/>
                      <a:endParaRPr lang="zh-TW" altLang="en-US" sz="2400" b="0" dirty="0"/>
                    </a:p>
                  </a:txBody>
                  <a:tcPr>
                    <a:solidFill>
                      <a:schemeClr val="accent6">
                        <a:lumMod val="20000"/>
                        <a:lumOff val="80000"/>
                      </a:schemeClr>
                    </a:solidFill>
                  </a:tcPr>
                </a:tc>
                <a:tc>
                  <a:txBody>
                    <a:bodyPr/>
                    <a:lstStyle/>
                    <a:p>
                      <a:pPr algn="ctr"/>
                      <a:endParaRPr lang="zh-TW" altLang="en-US" sz="2400" b="0" dirty="0"/>
                    </a:p>
                  </a:txBody>
                  <a:tcPr>
                    <a:solidFill>
                      <a:schemeClr val="accent6">
                        <a:lumMod val="20000"/>
                        <a:lumOff val="80000"/>
                      </a:schemeClr>
                    </a:solidFill>
                  </a:tcPr>
                </a:tc>
                <a:tc>
                  <a:txBody>
                    <a:bodyPr/>
                    <a:lstStyle/>
                    <a:p>
                      <a:pPr algn="ctr"/>
                      <a:r>
                        <a:rPr lang="en-US" altLang="zh-TW" sz="2400" b="0" dirty="0"/>
                        <a:t>b3</a:t>
                      </a:r>
                      <a:endParaRPr lang="zh-TW" altLang="en-US" sz="2400" b="0" dirty="0"/>
                    </a:p>
                  </a:txBody>
                  <a:tcPr>
                    <a:solidFill>
                      <a:schemeClr val="accent6">
                        <a:lumMod val="20000"/>
                        <a:lumOff val="80000"/>
                      </a:schemeClr>
                    </a:solidFill>
                  </a:tcPr>
                </a:tc>
                <a:tc>
                  <a:txBody>
                    <a:bodyPr/>
                    <a:lstStyle/>
                    <a:p>
                      <a:pPr algn="ctr"/>
                      <a:endParaRPr lang="zh-TW" altLang="en-US" sz="2400" b="0" dirty="0"/>
                    </a:p>
                  </a:txBody>
                  <a:tcPr>
                    <a:solidFill>
                      <a:schemeClr val="accent6">
                        <a:lumMod val="20000"/>
                        <a:lumOff val="80000"/>
                      </a:schemeClr>
                    </a:solidFill>
                  </a:tcPr>
                </a:tc>
                <a:tc>
                  <a:txBody>
                    <a:bodyPr/>
                    <a:lstStyle/>
                    <a:p>
                      <a:pPr algn="ctr"/>
                      <a:r>
                        <a:rPr lang="en-US" altLang="zh-TW" sz="2400" b="0" dirty="0"/>
                        <a:t>d8</a:t>
                      </a:r>
                      <a:endParaRPr lang="zh-TW" altLang="en-US" sz="2400" b="0" dirty="0"/>
                    </a:p>
                  </a:txBody>
                  <a:tcPr>
                    <a:solidFill>
                      <a:schemeClr val="accent6">
                        <a:lumMod val="20000"/>
                        <a:lumOff val="80000"/>
                      </a:schemeClr>
                    </a:solidFill>
                  </a:tcPr>
                </a:tc>
                <a:tc>
                  <a:txBody>
                    <a:bodyPr/>
                    <a:lstStyle/>
                    <a:p>
                      <a:pPr algn="ctr"/>
                      <a:endParaRPr lang="zh-TW" altLang="en-US" sz="2400" b="0" dirty="0"/>
                    </a:p>
                  </a:txBody>
                  <a:tcPr>
                    <a:solidFill>
                      <a:schemeClr val="accent6">
                        <a:lumMod val="20000"/>
                        <a:lumOff val="80000"/>
                      </a:schemeClr>
                    </a:solidFill>
                  </a:tcPr>
                </a:tc>
                <a:extLst>
                  <a:ext uri="{0D108BD9-81ED-4DB2-BD59-A6C34878D82A}">
                    <a16:rowId xmlns:a16="http://schemas.microsoft.com/office/drawing/2014/main" val="2473674384"/>
                  </a:ext>
                </a:extLst>
              </a:tr>
            </a:tbl>
          </a:graphicData>
        </a:graphic>
      </p:graphicFrame>
      <p:sp>
        <p:nvSpPr>
          <p:cNvPr id="7" name="文字方塊 6">
            <a:extLst>
              <a:ext uri="{FF2B5EF4-FFF2-40B4-BE49-F238E27FC236}">
                <a16:creationId xmlns:a16="http://schemas.microsoft.com/office/drawing/2014/main" id="{1E34805F-ED53-85D5-2FE6-9F2267465E3D}"/>
              </a:ext>
            </a:extLst>
          </p:cNvPr>
          <p:cNvSpPr txBox="1"/>
          <p:nvPr/>
        </p:nvSpPr>
        <p:spPr>
          <a:xfrm>
            <a:off x="384411" y="5788461"/>
            <a:ext cx="7419975" cy="584775"/>
          </a:xfrm>
          <a:prstGeom prst="rect">
            <a:avLst/>
          </a:prstGeom>
          <a:noFill/>
        </p:spPr>
        <p:txBody>
          <a:bodyPr wrap="square" rtlCol="0">
            <a:spAutoFit/>
          </a:bodyPr>
          <a:lstStyle/>
          <a:p>
            <a:r>
              <a:rPr lang="en-US" altLang="zh-TW" sz="3200" dirty="0"/>
              <a:t>Merge: 1, 6, 4, 9, 3, 8, 2, 7, 5, 10, 11, 0</a:t>
            </a:r>
            <a:endParaRPr lang="zh-TW" altLang="en-US" sz="3200" dirty="0"/>
          </a:p>
        </p:txBody>
      </p:sp>
      <p:sp>
        <p:nvSpPr>
          <p:cNvPr id="11" name="內容版面配置區 2">
            <a:extLst>
              <a:ext uri="{FF2B5EF4-FFF2-40B4-BE49-F238E27FC236}">
                <a16:creationId xmlns:a16="http://schemas.microsoft.com/office/drawing/2014/main" id="{5AB91F92-BE56-8045-7974-E18FA9D31773}"/>
              </a:ext>
            </a:extLst>
          </p:cNvPr>
          <p:cNvSpPr txBox="1">
            <a:spLocks/>
          </p:cNvSpPr>
          <p:nvPr/>
        </p:nvSpPr>
        <p:spPr>
          <a:xfrm>
            <a:off x="22461" y="1256180"/>
            <a:ext cx="10515600" cy="376872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TW" i="1" dirty="0" err="1"/>
              <a:t>i</a:t>
            </a:r>
            <a:r>
              <a:rPr lang="en-US" altLang="zh-TW" dirty="0"/>
              <a:t> mod3 </a:t>
            </a:r>
            <a:r>
              <a:rPr lang="zh-TW" altLang="en-US" b="0" i="0" dirty="0">
                <a:effectLst/>
                <a:latin typeface="arial" panose="020B0604020202020204" pitchFamily="34" charset="0"/>
              </a:rPr>
              <a:t>≠</a:t>
            </a:r>
            <a:r>
              <a:rPr lang="en-US" altLang="zh-TW" dirty="0"/>
              <a:t> 0</a:t>
            </a:r>
          </a:p>
          <a:p>
            <a:endParaRPr lang="en-US" altLang="zh-TW" dirty="0"/>
          </a:p>
          <a:p>
            <a:pPr marL="0" indent="0">
              <a:buNone/>
            </a:pPr>
            <a:endParaRPr lang="en-US" altLang="zh-TW" dirty="0"/>
          </a:p>
          <a:p>
            <a:pPr marL="0" indent="0">
              <a:buNone/>
            </a:pPr>
            <a:endParaRPr lang="en-US" altLang="zh-TW" dirty="0"/>
          </a:p>
          <a:p>
            <a:pPr marL="0" indent="0">
              <a:buNone/>
            </a:pPr>
            <a:endParaRPr lang="en-US" altLang="zh-TW" dirty="0"/>
          </a:p>
          <a:p>
            <a:r>
              <a:rPr lang="en-US" altLang="zh-TW" i="1" dirty="0" err="1"/>
              <a:t>i</a:t>
            </a:r>
            <a:r>
              <a:rPr lang="en-US" altLang="zh-TW" dirty="0"/>
              <a:t> mod3 </a:t>
            </a:r>
            <a:r>
              <a:rPr lang="en-US" altLang="zh-TW" b="0" i="0" dirty="0">
                <a:effectLst/>
                <a:latin typeface="arial" panose="020B0604020202020204" pitchFamily="34" charset="0"/>
              </a:rPr>
              <a:t>=</a:t>
            </a:r>
            <a:r>
              <a:rPr lang="en-US" altLang="zh-TW" dirty="0"/>
              <a:t> 0</a:t>
            </a:r>
            <a:endParaRPr lang="zh-TW" altLang="en-US" dirty="0"/>
          </a:p>
        </p:txBody>
      </p:sp>
    </p:spTree>
    <p:extLst>
      <p:ext uri="{BB962C8B-B14F-4D97-AF65-F5344CB8AC3E}">
        <p14:creationId xmlns:p14="http://schemas.microsoft.com/office/powerpoint/2010/main" val="30141026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66A2D2D7-9727-97A4-FC80-0B9A9D78D44E}"/>
              </a:ext>
            </a:extLst>
          </p:cNvPr>
          <p:cNvSpPr>
            <a:spLocks noGrp="1"/>
          </p:cNvSpPr>
          <p:nvPr>
            <p:ph type="title"/>
          </p:nvPr>
        </p:nvSpPr>
        <p:spPr>
          <a:xfrm>
            <a:off x="838200" y="365125"/>
            <a:ext cx="11022106" cy="1325563"/>
          </a:xfrm>
        </p:spPr>
        <p:txBody>
          <a:bodyPr/>
          <a:lstStyle/>
          <a:p>
            <a:r>
              <a:rPr lang="en-US" altLang="zh-TW" dirty="0"/>
              <a:t>divide-and-conquer approach</a:t>
            </a:r>
            <a:endParaRPr lang="zh-TW" altLang="en-US" dirty="0"/>
          </a:p>
        </p:txBody>
      </p:sp>
      <p:sp>
        <p:nvSpPr>
          <p:cNvPr id="3" name="內容版面配置區 2">
            <a:extLst>
              <a:ext uri="{FF2B5EF4-FFF2-40B4-BE49-F238E27FC236}">
                <a16:creationId xmlns:a16="http://schemas.microsoft.com/office/drawing/2014/main" id="{A019C88F-F1C9-95B6-6D86-23C5334A452C}"/>
              </a:ext>
            </a:extLst>
          </p:cNvPr>
          <p:cNvSpPr>
            <a:spLocks noGrp="1"/>
          </p:cNvSpPr>
          <p:nvPr>
            <p:ph idx="1"/>
          </p:nvPr>
        </p:nvSpPr>
        <p:spPr/>
        <p:txBody>
          <a:bodyPr/>
          <a:lstStyle/>
          <a:p>
            <a:r>
              <a:rPr lang="en-US" altLang="zh-TW" dirty="0">
                <a:solidFill>
                  <a:srgbClr val="FF0000"/>
                </a:solidFill>
              </a:rPr>
              <a:t>Step.1</a:t>
            </a:r>
            <a:r>
              <a:rPr lang="en-US" altLang="zh-TW" dirty="0"/>
              <a:t> </a:t>
            </a:r>
            <a:r>
              <a:rPr lang="zh-TW" altLang="en-US" dirty="0"/>
              <a:t>建立 </a:t>
            </a:r>
            <a:r>
              <a:rPr lang="en-US" altLang="zh-TW" i="1" dirty="0" err="1"/>
              <a:t>i</a:t>
            </a:r>
            <a:r>
              <a:rPr lang="en-US" altLang="zh-TW" dirty="0"/>
              <a:t> mod3 </a:t>
            </a:r>
            <a:r>
              <a:rPr lang="zh-TW" altLang="en-US" b="0" i="0" dirty="0">
                <a:effectLst/>
                <a:latin typeface="arial" panose="020B0604020202020204" pitchFamily="34" charset="0"/>
              </a:rPr>
              <a:t>≠</a:t>
            </a:r>
            <a:r>
              <a:rPr lang="en-US" altLang="zh-TW" dirty="0"/>
              <a:t> 0</a:t>
            </a:r>
            <a:r>
              <a:rPr lang="zh-TW" altLang="en-US" dirty="0"/>
              <a:t> 的 </a:t>
            </a:r>
            <a:r>
              <a:rPr lang="en-US" altLang="zh-TW" dirty="0"/>
              <a:t>suffix array</a:t>
            </a:r>
          </a:p>
          <a:p>
            <a:r>
              <a:rPr lang="en-US" altLang="zh-TW" dirty="0">
                <a:solidFill>
                  <a:srgbClr val="FF0000"/>
                </a:solidFill>
              </a:rPr>
              <a:t>Step.2 </a:t>
            </a:r>
            <a:r>
              <a:rPr lang="zh-TW" altLang="en-US" dirty="0"/>
              <a:t>建立 </a:t>
            </a:r>
            <a:r>
              <a:rPr lang="en-US" altLang="zh-TW" i="1" dirty="0" err="1"/>
              <a:t>i</a:t>
            </a:r>
            <a:r>
              <a:rPr lang="en-US" altLang="zh-TW" dirty="0"/>
              <a:t> mod3 </a:t>
            </a:r>
            <a:r>
              <a:rPr lang="en-US" altLang="zh-TW" b="0" i="0" dirty="0">
                <a:effectLst/>
                <a:latin typeface="arial" panose="020B0604020202020204" pitchFamily="34" charset="0"/>
              </a:rPr>
              <a:t>=</a:t>
            </a:r>
            <a:r>
              <a:rPr lang="en-US" altLang="zh-TW" dirty="0"/>
              <a:t> 0</a:t>
            </a:r>
            <a:r>
              <a:rPr lang="zh-TW" altLang="en-US" dirty="0"/>
              <a:t> 的 </a:t>
            </a:r>
            <a:r>
              <a:rPr lang="en-US" altLang="zh-TW" dirty="0"/>
              <a:t>suffix array</a:t>
            </a:r>
          </a:p>
          <a:p>
            <a:r>
              <a:rPr lang="en-US" altLang="zh-TW" dirty="0">
                <a:solidFill>
                  <a:srgbClr val="FF0000"/>
                </a:solidFill>
              </a:rPr>
              <a:t>Step.3 </a:t>
            </a:r>
            <a:r>
              <a:rPr lang="zh-TW" altLang="en-US" dirty="0"/>
              <a:t>合併兩個 </a:t>
            </a:r>
            <a:r>
              <a:rPr lang="en-US" altLang="zh-TW" dirty="0"/>
              <a:t>suffix array</a:t>
            </a:r>
          </a:p>
          <a:p>
            <a:endParaRPr lang="en-US" altLang="zh-TW" dirty="0"/>
          </a:p>
          <a:p>
            <a:r>
              <a:rPr lang="en-US" altLang="zh-TW" dirty="0"/>
              <a:t>T(n) = O(n) + T(2n/3)  </a:t>
            </a:r>
          </a:p>
          <a:p>
            <a:endParaRPr lang="en-US" altLang="zh-TW" dirty="0"/>
          </a:p>
          <a:p>
            <a:r>
              <a:rPr lang="en-US" altLang="zh-TW" dirty="0">
                <a:solidFill>
                  <a:srgbClr val="00B0F0"/>
                </a:solidFill>
              </a:rPr>
              <a:t>Linear time</a:t>
            </a:r>
            <a:endParaRPr lang="zh-TW" altLang="en-US" dirty="0">
              <a:solidFill>
                <a:srgbClr val="00B0F0"/>
              </a:solidFill>
            </a:endParaRPr>
          </a:p>
        </p:txBody>
      </p:sp>
    </p:spTree>
    <p:extLst>
      <p:ext uri="{BB962C8B-B14F-4D97-AF65-F5344CB8AC3E}">
        <p14:creationId xmlns:p14="http://schemas.microsoft.com/office/powerpoint/2010/main" val="3370483715"/>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訂 1">
      <a:majorFont>
        <a:latin typeface="Times New Roman"/>
        <a:ea typeface="微軟正黑體"/>
        <a:cs typeface=""/>
      </a:majorFont>
      <a:minorFont>
        <a:latin typeface="Times New Roman"/>
        <a:ea typeface="微軟正黑體"/>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11322</TotalTime>
  <Words>778</Words>
  <Application>Microsoft Office PowerPoint</Application>
  <PresentationFormat>寬螢幕</PresentationFormat>
  <Paragraphs>304</Paragraphs>
  <Slides>10</Slides>
  <Notes>0</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10</vt:i4>
      </vt:variant>
    </vt:vector>
  </HeadingPairs>
  <TitlesOfParts>
    <vt:vector size="14" baseType="lpstr">
      <vt:lpstr>Arial</vt:lpstr>
      <vt:lpstr>Arial</vt:lpstr>
      <vt:lpstr>Times New Roman</vt:lpstr>
      <vt:lpstr>Office 佈景主題</vt:lpstr>
      <vt:lpstr>Simple Linear Work Suﬃx Array Construction</vt:lpstr>
      <vt:lpstr>Abstract (1/2) </vt:lpstr>
      <vt:lpstr>Abstract (2/2)</vt:lpstr>
      <vt:lpstr>Suffix Array (1/2)</vt:lpstr>
      <vt:lpstr>Suffix Array (2/2)</vt:lpstr>
      <vt:lpstr>algorithm</vt:lpstr>
      <vt:lpstr>PowerPoint 簡報</vt:lpstr>
      <vt:lpstr>PowerPoint 簡報</vt:lpstr>
      <vt:lpstr>PowerPoint 簡報</vt:lpstr>
      <vt:lpstr>divide-and-conquer approach</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Alex</dc:creator>
  <cp:lastModifiedBy>M103040056</cp:lastModifiedBy>
  <cp:revision>416</cp:revision>
  <dcterms:created xsi:type="dcterms:W3CDTF">2021-01-03T09:53:04Z</dcterms:created>
  <dcterms:modified xsi:type="dcterms:W3CDTF">2022-11-01T10:34:02Z</dcterms:modified>
</cp:coreProperties>
</file>