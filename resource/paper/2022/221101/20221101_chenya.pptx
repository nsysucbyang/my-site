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6"/>
  </p:notesMasterIdLst>
  <p:sldIdLst>
    <p:sldId id="256" r:id="rId2"/>
    <p:sldId id="265" r:id="rId3"/>
    <p:sldId id="266" r:id="rId4"/>
    <p:sldId id="257" r:id="rId5"/>
    <p:sldId id="268" r:id="rId6"/>
    <p:sldId id="259" r:id="rId7"/>
    <p:sldId id="275" r:id="rId8"/>
    <p:sldId id="267" r:id="rId9"/>
    <p:sldId id="274" r:id="rId10"/>
    <p:sldId id="271" r:id="rId11"/>
    <p:sldId id="260" r:id="rId12"/>
    <p:sldId id="263" r:id="rId13"/>
    <p:sldId id="262" r:id="rId14"/>
    <p:sldId id="273" r:id="rId15"/>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770"/>
    <p:restoredTop sz="94699"/>
  </p:normalViewPr>
  <p:slideViewPr>
    <p:cSldViewPr snapToGrid="0" snapToObjects="1">
      <p:cViewPr varScale="1">
        <p:scale>
          <a:sx n="103" d="100"/>
          <a:sy n="103" d="100"/>
        </p:scale>
        <p:origin x="65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C87B1E-D7BB-234A-BB61-4186E7CB5889}" type="datetimeFigureOut">
              <a:rPr kumimoji="1" lang="zh-TW" altLang="en-US" smtClean="0"/>
              <a:t>2022/10/31</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A56A01-BB7F-2749-98D2-EC6EAA37179B}" type="slidenum">
              <a:rPr kumimoji="1" lang="zh-TW" altLang="en-US" smtClean="0"/>
              <a:t>‹#›</a:t>
            </a:fld>
            <a:endParaRPr kumimoji="1" lang="zh-TW" altLang="en-US"/>
          </a:p>
        </p:txBody>
      </p:sp>
    </p:spTree>
    <p:extLst>
      <p:ext uri="{BB962C8B-B14F-4D97-AF65-F5344CB8AC3E}">
        <p14:creationId xmlns:p14="http://schemas.microsoft.com/office/powerpoint/2010/main" val="139445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4</a:t>
            </a:fld>
            <a:endParaRPr kumimoji="1" lang="zh-TW" altLang="en-US"/>
          </a:p>
        </p:txBody>
      </p:sp>
    </p:spTree>
    <p:extLst>
      <p:ext uri="{BB962C8B-B14F-4D97-AF65-F5344CB8AC3E}">
        <p14:creationId xmlns:p14="http://schemas.microsoft.com/office/powerpoint/2010/main" val="11939366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5</a:t>
            </a:fld>
            <a:endParaRPr kumimoji="1" lang="zh-TW" altLang="en-US"/>
          </a:p>
        </p:txBody>
      </p:sp>
    </p:spTree>
    <p:extLst>
      <p:ext uri="{BB962C8B-B14F-4D97-AF65-F5344CB8AC3E}">
        <p14:creationId xmlns:p14="http://schemas.microsoft.com/office/powerpoint/2010/main" val="16239482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9</a:t>
            </a:fld>
            <a:endParaRPr kumimoji="1" lang="zh-TW" altLang="en-US"/>
          </a:p>
        </p:txBody>
      </p:sp>
    </p:spTree>
    <p:extLst>
      <p:ext uri="{BB962C8B-B14F-4D97-AF65-F5344CB8AC3E}">
        <p14:creationId xmlns:p14="http://schemas.microsoft.com/office/powerpoint/2010/main" val="8282354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10</a:t>
            </a:fld>
            <a:endParaRPr kumimoji="1" lang="zh-TW" altLang="en-US"/>
          </a:p>
        </p:txBody>
      </p:sp>
    </p:spTree>
    <p:extLst>
      <p:ext uri="{BB962C8B-B14F-4D97-AF65-F5344CB8AC3E}">
        <p14:creationId xmlns:p14="http://schemas.microsoft.com/office/powerpoint/2010/main" val="25599229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D501DD-7617-CF45-952C-148738FE8509}"/>
              </a:ext>
            </a:extLst>
          </p:cNvPr>
          <p:cNvSpPr>
            <a:spLocks noGrp="1"/>
          </p:cNvSpPr>
          <p:nvPr>
            <p:ph type="ctrTitle"/>
          </p:nvPr>
        </p:nvSpPr>
        <p:spPr>
          <a:xfrm>
            <a:off x="1524000" y="1122363"/>
            <a:ext cx="9144000" cy="2387600"/>
          </a:xfrm>
        </p:spPr>
        <p:txBody>
          <a:bodyPr anchor="b"/>
          <a:lstStyle>
            <a:lvl1pPr algn="ctr">
              <a:defRPr sz="6000"/>
            </a:lvl1pPr>
          </a:lstStyle>
          <a:p>
            <a:r>
              <a:rPr kumimoji="1" lang="zh-TW" altLang="en-US"/>
              <a:t>按一下以編輯母片標題樣式</a:t>
            </a:r>
          </a:p>
        </p:txBody>
      </p:sp>
      <p:sp>
        <p:nvSpPr>
          <p:cNvPr id="3" name="副標題 2">
            <a:extLst>
              <a:ext uri="{FF2B5EF4-FFF2-40B4-BE49-F238E27FC236}">
                <a16:creationId xmlns:a16="http://schemas.microsoft.com/office/drawing/2014/main" id="{0349E178-73AA-644C-8223-66BF713642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a:t>按一下以編輯母片子標題樣式</a:t>
            </a:r>
          </a:p>
        </p:txBody>
      </p:sp>
      <p:sp>
        <p:nvSpPr>
          <p:cNvPr id="4" name="日期版面配置區 3">
            <a:extLst>
              <a:ext uri="{FF2B5EF4-FFF2-40B4-BE49-F238E27FC236}">
                <a16:creationId xmlns:a16="http://schemas.microsoft.com/office/drawing/2014/main" id="{B653253A-849A-4D45-A3E7-4D1991E4C901}"/>
              </a:ext>
            </a:extLst>
          </p:cNvPr>
          <p:cNvSpPr>
            <a:spLocks noGrp="1"/>
          </p:cNvSpPr>
          <p:nvPr>
            <p:ph type="dt" sz="half" idx="10"/>
          </p:nvPr>
        </p:nvSpPr>
        <p:spPr/>
        <p:txBody>
          <a:bodyPr/>
          <a:lstStyle/>
          <a:p>
            <a:fld id="{A2F653D5-883A-5840-B916-BEC4DF4506D5}" type="datetime1">
              <a:rPr kumimoji="1" lang="zh-TW" altLang="en-US" smtClean="0"/>
              <a:t>2022/10/31</a:t>
            </a:fld>
            <a:endParaRPr kumimoji="1" lang="zh-TW" altLang="en-US"/>
          </a:p>
        </p:txBody>
      </p:sp>
      <p:sp>
        <p:nvSpPr>
          <p:cNvPr id="5" name="頁尾版面配置區 4">
            <a:extLst>
              <a:ext uri="{FF2B5EF4-FFF2-40B4-BE49-F238E27FC236}">
                <a16:creationId xmlns:a16="http://schemas.microsoft.com/office/drawing/2014/main" id="{A6ECDC78-3D4D-404B-AFA4-5B8A4BFDC68F}"/>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BB6C002C-0479-C74D-9FB3-84645C0AAB3D}"/>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1205809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F7A464A-FDF4-3341-B07B-24B820E47B20}"/>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4FA333E2-9D9C-8C49-8592-A408903CFAD9}"/>
              </a:ext>
            </a:extLst>
          </p:cNvPr>
          <p:cNvSpPr>
            <a:spLocks noGrp="1"/>
          </p:cNvSpPr>
          <p:nvPr>
            <p:ph idx="1"/>
          </p:nvPr>
        </p:nvSpPr>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75D6F474-7FB1-5646-B2F2-525F8D173137}"/>
              </a:ext>
            </a:extLst>
          </p:cNvPr>
          <p:cNvSpPr>
            <a:spLocks noGrp="1"/>
          </p:cNvSpPr>
          <p:nvPr>
            <p:ph type="dt" sz="half" idx="10"/>
          </p:nvPr>
        </p:nvSpPr>
        <p:spPr/>
        <p:txBody>
          <a:bodyPr/>
          <a:lstStyle/>
          <a:p>
            <a:fld id="{252429E5-98E1-4140-9D90-8AD9B393DC63}" type="datetime1">
              <a:rPr kumimoji="1" lang="zh-TW" altLang="en-US" smtClean="0"/>
              <a:t>2022/10/31</a:t>
            </a:fld>
            <a:endParaRPr kumimoji="1" lang="zh-TW" altLang="en-US"/>
          </a:p>
        </p:txBody>
      </p:sp>
      <p:sp>
        <p:nvSpPr>
          <p:cNvPr id="5" name="頁尾版面配置區 4">
            <a:extLst>
              <a:ext uri="{FF2B5EF4-FFF2-40B4-BE49-F238E27FC236}">
                <a16:creationId xmlns:a16="http://schemas.microsoft.com/office/drawing/2014/main" id="{4534CE80-A870-164A-A65F-809FC9C002C8}"/>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E5BB9FA6-21BE-FF46-A0DD-80A4E3E45C48}"/>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22385678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A6485C0-58BA-C248-AFEC-796DBE7A28BC}"/>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80E020E7-FE89-E04B-A373-97BD15E9BAA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按一下以編輯母片文字樣式</a:t>
            </a:r>
          </a:p>
        </p:txBody>
      </p:sp>
      <p:sp>
        <p:nvSpPr>
          <p:cNvPr id="4" name="日期版面配置區 3">
            <a:extLst>
              <a:ext uri="{FF2B5EF4-FFF2-40B4-BE49-F238E27FC236}">
                <a16:creationId xmlns:a16="http://schemas.microsoft.com/office/drawing/2014/main" id="{C1132D52-ED19-E540-984A-CB07B5F73432}"/>
              </a:ext>
            </a:extLst>
          </p:cNvPr>
          <p:cNvSpPr>
            <a:spLocks noGrp="1"/>
          </p:cNvSpPr>
          <p:nvPr>
            <p:ph type="dt" sz="half" idx="10"/>
          </p:nvPr>
        </p:nvSpPr>
        <p:spPr/>
        <p:txBody>
          <a:bodyPr/>
          <a:lstStyle/>
          <a:p>
            <a:fld id="{0D40C34D-36C3-F34E-AF6E-5E7D513EECD1}" type="datetime1">
              <a:rPr kumimoji="1" lang="zh-TW" altLang="en-US" smtClean="0"/>
              <a:t>2022/10/31</a:t>
            </a:fld>
            <a:endParaRPr kumimoji="1" lang="zh-TW" altLang="en-US"/>
          </a:p>
        </p:txBody>
      </p:sp>
      <p:sp>
        <p:nvSpPr>
          <p:cNvPr id="5" name="頁尾版面配置區 4">
            <a:extLst>
              <a:ext uri="{FF2B5EF4-FFF2-40B4-BE49-F238E27FC236}">
                <a16:creationId xmlns:a16="http://schemas.microsoft.com/office/drawing/2014/main" id="{7A6BDAE5-6429-1646-BE72-C577966D27BC}"/>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1FD161E-0E50-D549-9D79-396E6719964B}"/>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3480730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2C827E9-DFE9-224C-9899-DD344BC7F31A}"/>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6BF56C89-BB60-5D4A-B951-F0C1C7545877}"/>
              </a:ext>
            </a:extLst>
          </p:cNvPr>
          <p:cNvSpPr>
            <a:spLocks noGrp="1"/>
          </p:cNvSpPr>
          <p:nvPr>
            <p:ph sz="half" idx="1"/>
          </p:nvPr>
        </p:nvSpPr>
        <p:spPr>
          <a:xfrm>
            <a:off x="838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716C126F-4174-1949-9558-B4C272D36FDA}"/>
              </a:ext>
            </a:extLst>
          </p:cNvPr>
          <p:cNvSpPr>
            <a:spLocks noGrp="1"/>
          </p:cNvSpPr>
          <p:nvPr>
            <p:ph sz="half" idx="2"/>
          </p:nvPr>
        </p:nvSpPr>
        <p:spPr>
          <a:xfrm>
            <a:off x="6172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04765A31-2149-0648-8A59-90D896183FFF}"/>
              </a:ext>
            </a:extLst>
          </p:cNvPr>
          <p:cNvSpPr>
            <a:spLocks noGrp="1"/>
          </p:cNvSpPr>
          <p:nvPr>
            <p:ph type="dt" sz="half" idx="10"/>
          </p:nvPr>
        </p:nvSpPr>
        <p:spPr/>
        <p:txBody>
          <a:bodyPr/>
          <a:lstStyle/>
          <a:p>
            <a:fld id="{82B76D90-58FA-0641-BF29-5E2687B5D06E}" type="datetime1">
              <a:rPr kumimoji="1" lang="zh-TW" altLang="en-US" smtClean="0"/>
              <a:t>2022/10/31</a:t>
            </a:fld>
            <a:endParaRPr kumimoji="1" lang="zh-TW" altLang="en-US"/>
          </a:p>
        </p:txBody>
      </p:sp>
      <p:sp>
        <p:nvSpPr>
          <p:cNvPr id="6" name="頁尾版面配置區 5">
            <a:extLst>
              <a:ext uri="{FF2B5EF4-FFF2-40B4-BE49-F238E27FC236}">
                <a16:creationId xmlns:a16="http://schemas.microsoft.com/office/drawing/2014/main" id="{EEC8BAB3-FB47-3344-B999-5CB7AACA7071}"/>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93B979C4-5F59-314A-943B-7732149E643F}"/>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13479980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5675BCB-A32E-984F-994B-6AD69C183376}"/>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EF3BBA48-11AB-EA42-B26E-97C56E55B8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4" name="內容版面配置區 3">
            <a:extLst>
              <a:ext uri="{FF2B5EF4-FFF2-40B4-BE49-F238E27FC236}">
                <a16:creationId xmlns:a16="http://schemas.microsoft.com/office/drawing/2014/main" id="{C045D110-23DF-BA43-8D13-0E9505DCCED9}"/>
              </a:ext>
            </a:extLst>
          </p:cNvPr>
          <p:cNvSpPr>
            <a:spLocks noGrp="1"/>
          </p:cNvSpPr>
          <p:nvPr>
            <p:ph sz="half" idx="2"/>
          </p:nvPr>
        </p:nvSpPr>
        <p:spPr>
          <a:xfrm>
            <a:off x="839788" y="2505075"/>
            <a:ext cx="5157787"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B0FA7828-C650-A046-B918-8845F0B6A8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6" name="內容版面配置區 5">
            <a:extLst>
              <a:ext uri="{FF2B5EF4-FFF2-40B4-BE49-F238E27FC236}">
                <a16:creationId xmlns:a16="http://schemas.microsoft.com/office/drawing/2014/main" id="{D2DE3B6E-6238-D149-9212-48351BD8A3BD}"/>
              </a:ext>
            </a:extLst>
          </p:cNvPr>
          <p:cNvSpPr>
            <a:spLocks noGrp="1"/>
          </p:cNvSpPr>
          <p:nvPr>
            <p:ph sz="quarter" idx="4"/>
          </p:nvPr>
        </p:nvSpPr>
        <p:spPr>
          <a:xfrm>
            <a:off x="6172200" y="2505075"/>
            <a:ext cx="5183188"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4A5BA387-FB25-3242-BD50-C95AE8C57586}"/>
              </a:ext>
            </a:extLst>
          </p:cNvPr>
          <p:cNvSpPr>
            <a:spLocks noGrp="1"/>
          </p:cNvSpPr>
          <p:nvPr>
            <p:ph type="dt" sz="half" idx="10"/>
          </p:nvPr>
        </p:nvSpPr>
        <p:spPr/>
        <p:txBody>
          <a:bodyPr/>
          <a:lstStyle/>
          <a:p>
            <a:fld id="{65C3B0E6-B8C8-474E-B122-D8F5DE0AFAD2}" type="datetime1">
              <a:rPr kumimoji="1" lang="zh-TW" altLang="en-US" smtClean="0"/>
              <a:t>2022/10/31</a:t>
            </a:fld>
            <a:endParaRPr kumimoji="1" lang="zh-TW" altLang="en-US"/>
          </a:p>
        </p:txBody>
      </p:sp>
      <p:sp>
        <p:nvSpPr>
          <p:cNvPr id="8" name="頁尾版面配置區 7">
            <a:extLst>
              <a:ext uri="{FF2B5EF4-FFF2-40B4-BE49-F238E27FC236}">
                <a16:creationId xmlns:a16="http://schemas.microsoft.com/office/drawing/2014/main" id="{DEDC4116-BEB6-7E4E-A4A7-D2553343B24F}"/>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CD0F097C-57D7-B44E-A73C-8373F218B190}"/>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2075894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8114667-755C-594C-B649-0C584C797C69}"/>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3ABF655D-EEC9-1849-AFE9-30359B4DAFF8}"/>
              </a:ext>
            </a:extLst>
          </p:cNvPr>
          <p:cNvSpPr>
            <a:spLocks noGrp="1"/>
          </p:cNvSpPr>
          <p:nvPr>
            <p:ph type="dt" sz="half" idx="10"/>
          </p:nvPr>
        </p:nvSpPr>
        <p:spPr/>
        <p:txBody>
          <a:bodyPr/>
          <a:lstStyle/>
          <a:p>
            <a:fld id="{8869937B-9027-774A-B9FD-9279ACD255BD}" type="datetime1">
              <a:rPr kumimoji="1" lang="zh-TW" altLang="en-US" smtClean="0"/>
              <a:t>2022/10/31</a:t>
            </a:fld>
            <a:endParaRPr kumimoji="1" lang="zh-TW" altLang="en-US"/>
          </a:p>
        </p:txBody>
      </p:sp>
      <p:sp>
        <p:nvSpPr>
          <p:cNvPr id="4" name="頁尾版面配置區 3">
            <a:extLst>
              <a:ext uri="{FF2B5EF4-FFF2-40B4-BE49-F238E27FC236}">
                <a16:creationId xmlns:a16="http://schemas.microsoft.com/office/drawing/2014/main" id="{135848DC-EF7E-5E45-97D5-BB002916150F}"/>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BEF47D0D-FB63-C04A-88AA-4663F56A5B04}"/>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1244298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730D0DAB-E3AB-C542-BAF1-FA0813FFFB56}"/>
              </a:ext>
            </a:extLst>
          </p:cNvPr>
          <p:cNvSpPr>
            <a:spLocks noGrp="1"/>
          </p:cNvSpPr>
          <p:nvPr>
            <p:ph type="dt" sz="half" idx="10"/>
          </p:nvPr>
        </p:nvSpPr>
        <p:spPr/>
        <p:txBody>
          <a:bodyPr/>
          <a:lstStyle/>
          <a:p>
            <a:fld id="{6C319104-FA4D-834B-9033-B46E2F34E77F}" type="datetime1">
              <a:rPr kumimoji="1" lang="zh-TW" altLang="en-US" smtClean="0"/>
              <a:t>2022/10/31</a:t>
            </a:fld>
            <a:endParaRPr kumimoji="1" lang="zh-TW" altLang="en-US"/>
          </a:p>
        </p:txBody>
      </p:sp>
      <p:sp>
        <p:nvSpPr>
          <p:cNvPr id="3" name="頁尾版面配置區 2">
            <a:extLst>
              <a:ext uri="{FF2B5EF4-FFF2-40B4-BE49-F238E27FC236}">
                <a16:creationId xmlns:a16="http://schemas.microsoft.com/office/drawing/2014/main" id="{A44257D8-EC9E-534F-9065-715A4574FDC7}"/>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F0029C47-757A-114F-A178-225027BD7FDF}"/>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1786642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96441E4-4620-9244-B66E-26EC9ECBAE2B}"/>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A6E2631A-AADB-4344-B902-B53FE9F513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9D2930E1-81A7-6848-925D-24DF95107A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34A1FEB3-ECC3-AD41-BEA6-44C6F60FF1DE}"/>
              </a:ext>
            </a:extLst>
          </p:cNvPr>
          <p:cNvSpPr>
            <a:spLocks noGrp="1"/>
          </p:cNvSpPr>
          <p:nvPr>
            <p:ph type="dt" sz="half" idx="10"/>
          </p:nvPr>
        </p:nvSpPr>
        <p:spPr/>
        <p:txBody>
          <a:bodyPr/>
          <a:lstStyle/>
          <a:p>
            <a:fld id="{BAC173C6-1BDC-EF4C-9138-1B867971D82A}" type="datetime1">
              <a:rPr kumimoji="1" lang="zh-TW" altLang="en-US" smtClean="0"/>
              <a:t>2022/10/31</a:t>
            </a:fld>
            <a:endParaRPr kumimoji="1" lang="zh-TW" altLang="en-US"/>
          </a:p>
        </p:txBody>
      </p:sp>
      <p:sp>
        <p:nvSpPr>
          <p:cNvPr id="6" name="頁尾版面配置區 5">
            <a:extLst>
              <a:ext uri="{FF2B5EF4-FFF2-40B4-BE49-F238E27FC236}">
                <a16:creationId xmlns:a16="http://schemas.microsoft.com/office/drawing/2014/main" id="{42CC6D6D-32D3-0F46-8645-9348CDCC2DA1}"/>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A0AFE86A-1C31-4A46-A584-5E4CEF4AEA2B}"/>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8033532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E1D89C4-8B50-834A-81C5-869F9DC9C0F0}"/>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D5534F9E-8511-5F4A-A82F-05692527D3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TW" altLang="en-US"/>
          </a:p>
        </p:txBody>
      </p:sp>
      <p:sp>
        <p:nvSpPr>
          <p:cNvPr id="4" name="文字版面配置區 3">
            <a:extLst>
              <a:ext uri="{FF2B5EF4-FFF2-40B4-BE49-F238E27FC236}">
                <a16:creationId xmlns:a16="http://schemas.microsoft.com/office/drawing/2014/main" id="{AB5567A0-F6B9-9340-A872-76C4D30942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9579205F-B98C-E943-92A5-27963140F3C8}"/>
              </a:ext>
            </a:extLst>
          </p:cNvPr>
          <p:cNvSpPr>
            <a:spLocks noGrp="1"/>
          </p:cNvSpPr>
          <p:nvPr>
            <p:ph type="dt" sz="half" idx="10"/>
          </p:nvPr>
        </p:nvSpPr>
        <p:spPr/>
        <p:txBody>
          <a:bodyPr/>
          <a:lstStyle/>
          <a:p>
            <a:fld id="{5708567F-5EDC-4F4F-93AF-7C8D00AA37FD}" type="datetime1">
              <a:rPr kumimoji="1" lang="zh-TW" altLang="en-US" smtClean="0"/>
              <a:t>2022/10/31</a:t>
            </a:fld>
            <a:endParaRPr kumimoji="1" lang="zh-TW" altLang="en-US"/>
          </a:p>
        </p:txBody>
      </p:sp>
      <p:sp>
        <p:nvSpPr>
          <p:cNvPr id="6" name="頁尾版面配置區 5">
            <a:extLst>
              <a:ext uri="{FF2B5EF4-FFF2-40B4-BE49-F238E27FC236}">
                <a16:creationId xmlns:a16="http://schemas.microsoft.com/office/drawing/2014/main" id="{30A25F96-ED76-8549-9FD6-2B59D2856A98}"/>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0696D537-3F67-CD44-B755-194C465EDB54}"/>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23134918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FD6AB28-6653-9C49-A992-A4247978B7D2}"/>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F6E57488-2CEC-AB48-B522-A9BF17B67ED1}"/>
              </a:ext>
            </a:extLst>
          </p:cNvPr>
          <p:cNvSpPr>
            <a:spLocks noGrp="1"/>
          </p:cNvSpPr>
          <p:nvPr>
            <p:ph type="body" orient="vert" idx="1"/>
          </p:nvPr>
        </p:nvSpPr>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5F9DC675-96A7-5740-944C-CAFED91F8875}"/>
              </a:ext>
            </a:extLst>
          </p:cNvPr>
          <p:cNvSpPr>
            <a:spLocks noGrp="1"/>
          </p:cNvSpPr>
          <p:nvPr>
            <p:ph type="dt" sz="half" idx="10"/>
          </p:nvPr>
        </p:nvSpPr>
        <p:spPr/>
        <p:txBody>
          <a:bodyPr/>
          <a:lstStyle/>
          <a:p>
            <a:fld id="{419ABB45-072B-E944-9661-5DAAF6BF234C}" type="datetime1">
              <a:rPr kumimoji="1" lang="zh-TW" altLang="en-US" smtClean="0"/>
              <a:t>2022/10/31</a:t>
            </a:fld>
            <a:endParaRPr kumimoji="1" lang="zh-TW" altLang="en-US"/>
          </a:p>
        </p:txBody>
      </p:sp>
      <p:sp>
        <p:nvSpPr>
          <p:cNvPr id="5" name="頁尾版面配置區 4">
            <a:extLst>
              <a:ext uri="{FF2B5EF4-FFF2-40B4-BE49-F238E27FC236}">
                <a16:creationId xmlns:a16="http://schemas.microsoft.com/office/drawing/2014/main" id="{EE19B60E-DE36-CE48-92C7-29C904047F0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8A11CB14-7E7D-DA4F-95BF-F4F6A71A702C}"/>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4137844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3137A97-13EF-684A-A0A9-0B2C4B915BF7}"/>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C14D9E75-6CF5-DE45-9FA4-3A5D546C876F}"/>
              </a:ext>
            </a:extLst>
          </p:cNvPr>
          <p:cNvSpPr>
            <a:spLocks noGrp="1"/>
          </p:cNvSpPr>
          <p:nvPr>
            <p:ph type="body" orient="vert" idx="1"/>
          </p:nvPr>
        </p:nvSpPr>
        <p:spPr>
          <a:xfrm>
            <a:off x="838200" y="365125"/>
            <a:ext cx="7734300" cy="5811838"/>
          </a:xfrm>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B9846D7A-FDC0-584E-83DF-7CFDFE86ADAC}"/>
              </a:ext>
            </a:extLst>
          </p:cNvPr>
          <p:cNvSpPr>
            <a:spLocks noGrp="1"/>
          </p:cNvSpPr>
          <p:nvPr>
            <p:ph type="dt" sz="half" idx="10"/>
          </p:nvPr>
        </p:nvSpPr>
        <p:spPr/>
        <p:txBody>
          <a:bodyPr/>
          <a:lstStyle/>
          <a:p>
            <a:fld id="{FA3D0E93-5293-2E45-810C-52C7374A43E9}" type="datetime1">
              <a:rPr kumimoji="1" lang="zh-TW" altLang="en-US" smtClean="0"/>
              <a:t>2022/10/31</a:t>
            </a:fld>
            <a:endParaRPr kumimoji="1" lang="zh-TW" altLang="en-US"/>
          </a:p>
        </p:txBody>
      </p:sp>
      <p:sp>
        <p:nvSpPr>
          <p:cNvPr id="5" name="頁尾版面配置區 4">
            <a:extLst>
              <a:ext uri="{FF2B5EF4-FFF2-40B4-BE49-F238E27FC236}">
                <a16:creationId xmlns:a16="http://schemas.microsoft.com/office/drawing/2014/main" id="{B05227D2-8B70-D046-B3FE-419A3723BF43}"/>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0C29F65E-93FE-3541-912C-7DF85AF21685}"/>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2853969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5422299C-DADF-924C-A256-3B359ECFB5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7E7C0D55-55DC-8A4F-8D1C-054CD64B89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D4F6F637-18F3-BD4C-908D-9F4BD7CEC2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2D2FFB-DAFA-B349-908F-41F05A7F02F7}" type="datetime1">
              <a:rPr kumimoji="1" lang="zh-TW" altLang="en-US" smtClean="0"/>
              <a:t>2022/10/31</a:t>
            </a:fld>
            <a:endParaRPr kumimoji="1" lang="zh-TW" altLang="en-US"/>
          </a:p>
        </p:txBody>
      </p:sp>
      <p:sp>
        <p:nvSpPr>
          <p:cNvPr id="5" name="頁尾版面配置區 4">
            <a:extLst>
              <a:ext uri="{FF2B5EF4-FFF2-40B4-BE49-F238E27FC236}">
                <a16:creationId xmlns:a16="http://schemas.microsoft.com/office/drawing/2014/main" id="{8189E3A8-AF3F-CA42-A297-2EE032B20F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CD309E7D-F646-F04E-B26F-BEF4E72885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3965180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3.jpeg"/><Relationship Id="rId7" Type="http://schemas.openxmlformats.org/officeDocument/2006/relationships/image" Target="../media/image8.sv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9" Type="http://schemas.openxmlformats.org/officeDocument/2006/relationships/image" Target="../media/image10.sv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8.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5C7C8A-452E-D943-890A-99D101A85538}"/>
              </a:ext>
            </a:extLst>
          </p:cNvPr>
          <p:cNvSpPr>
            <a:spLocks noGrp="1"/>
          </p:cNvSpPr>
          <p:nvPr>
            <p:ph type="ctrTitle"/>
          </p:nvPr>
        </p:nvSpPr>
        <p:spPr/>
        <p:txBody>
          <a:bodyPr>
            <a:normAutofit/>
          </a:bodyPr>
          <a:lstStyle/>
          <a:p>
            <a:r>
              <a:rPr lang="en" altLang="zh-TW" sz="4800" b="1" dirty="0">
                <a:latin typeface="Times" pitchFamily="2" charset="0"/>
              </a:rPr>
              <a:t>Contract Bridge Bidding</a:t>
            </a:r>
            <a:br>
              <a:rPr lang="en" altLang="zh-TW" sz="4800" b="1" dirty="0">
                <a:latin typeface="Times" pitchFamily="2" charset="0"/>
              </a:rPr>
            </a:br>
            <a:r>
              <a:rPr lang="en" altLang="zh-TW" sz="4800" b="1" dirty="0">
                <a:latin typeface="Times" pitchFamily="2" charset="0"/>
              </a:rPr>
              <a:t>by Learning</a:t>
            </a:r>
            <a:endParaRPr kumimoji="1" lang="zh-TW" altLang="en-US" sz="4800" b="1" dirty="0">
              <a:latin typeface="Times" pitchFamily="2" charset="0"/>
            </a:endParaRPr>
          </a:p>
        </p:txBody>
      </p:sp>
      <p:sp>
        <p:nvSpPr>
          <p:cNvPr id="3" name="副標題 2">
            <a:extLst>
              <a:ext uri="{FF2B5EF4-FFF2-40B4-BE49-F238E27FC236}">
                <a16:creationId xmlns:a16="http://schemas.microsoft.com/office/drawing/2014/main" id="{AA9CE59C-0A7C-3340-9871-01BB9F00CC93}"/>
              </a:ext>
            </a:extLst>
          </p:cNvPr>
          <p:cNvSpPr>
            <a:spLocks noGrp="1"/>
          </p:cNvSpPr>
          <p:nvPr>
            <p:ph type="subTitle" idx="1"/>
          </p:nvPr>
        </p:nvSpPr>
        <p:spPr/>
        <p:txBody>
          <a:bodyPr>
            <a:normAutofit/>
          </a:bodyPr>
          <a:lstStyle/>
          <a:p>
            <a:pPr>
              <a:lnSpc>
                <a:spcPct val="100000"/>
              </a:lnSpc>
            </a:pPr>
            <a:endParaRPr lang="en" altLang="zh-TW" dirty="0">
              <a:latin typeface="Times" pitchFamily="2" charset="0"/>
            </a:endParaRPr>
          </a:p>
          <a:p>
            <a:pPr>
              <a:lnSpc>
                <a:spcPct val="100000"/>
              </a:lnSpc>
            </a:pPr>
            <a:r>
              <a:rPr lang="en" altLang="zh-TW" dirty="0">
                <a:latin typeface="Times" pitchFamily="2" charset="0"/>
              </a:rPr>
              <a:t>Chun-Yen Ho and </a:t>
            </a:r>
            <a:r>
              <a:rPr lang="en" altLang="zh-TW" dirty="0" err="1">
                <a:latin typeface="Times" pitchFamily="2" charset="0"/>
              </a:rPr>
              <a:t>Hsuan</a:t>
            </a:r>
            <a:r>
              <a:rPr lang="en" altLang="zh-TW" dirty="0">
                <a:latin typeface="Times" pitchFamily="2" charset="0"/>
              </a:rPr>
              <a:t>-Tien Lin</a:t>
            </a:r>
            <a:br>
              <a:rPr lang="en" altLang="zh-TW" dirty="0">
                <a:latin typeface="Times" pitchFamily="2" charset="0"/>
              </a:rPr>
            </a:br>
            <a:r>
              <a:rPr lang="en" altLang="zh-TW" sz="2000" dirty="0">
                <a:latin typeface="Times" pitchFamily="2" charset="0"/>
              </a:rPr>
              <a:t>Workshops at the Twenty-Ninth AAAI Conference on Artificial Intelligence, 2015</a:t>
            </a:r>
          </a:p>
        </p:txBody>
      </p:sp>
      <p:sp>
        <p:nvSpPr>
          <p:cNvPr id="4" name="文字方塊 3">
            <a:extLst>
              <a:ext uri="{FF2B5EF4-FFF2-40B4-BE49-F238E27FC236}">
                <a16:creationId xmlns:a16="http://schemas.microsoft.com/office/drawing/2014/main" id="{66ED1160-6DCB-BA45-A8E3-C0A533D93526}"/>
              </a:ext>
            </a:extLst>
          </p:cNvPr>
          <p:cNvSpPr txBox="1"/>
          <p:nvPr/>
        </p:nvSpPr>
        <p:spPr>
          <a:xfrm>
            <a:off x="9461868" y="5993027"/>
            <a:ext cx="2412263" cy="646331"/>
          </a:xfrm>
          <a:prstGeom prst="rect">
            <a:avLst/>
          </a:prstGeom>
          <a:noFill/>
        </p:spPr>
        <p:txBody>
          <a:bodyPr wrap="none" rtlCol="0">
            <a:spAutoFit/>
          </a:bodyPr>
          <a:lstStyle/>
          <a:p>
            <a:r>
              <a:rPr kumimoji="1" lang="en-US" altLang="zh-TW" dirty="0">
                <a:latin typeface="Times" pitchFamily="2" charset="0"/>
              </a:rPr>
              <a:t>Presenter: Yun-An Chen</a:t>
            </a:r>
          </a:p>
          <a:p>
            <a:r>
              <a:rPr kumimoji="1" lang="en-US" altLang="zh-TW" dirty="0">
                <a:latin typeface="Times" pitchFamily="2" charset="0"/>
              </a:rPr>
              <a:t>Date: Nov. 1, 2022</a:t>
            </a:r>
            <a:endParaRPr kumimoji="1" lang="zh-TW" altLang="en-US" dirty="0">
              <a:latin typeface="Times" pitchFamily="2" charset="0"/>
            </a:endParaRPr>
          </a:p>
        </p:txBody>
      </p:sp>
    </p:spTree>
    <p:extLst>
      <p:ext uri="{BB962C8B-B14F-4D97-AF65-F5344CB8AC3E}">
        <p14:creationId xmlns:p14="http://schemas.microsoft.com/office/powerpoint/2010/main" val="3994279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67C017-EEF6-AF41-82FB-650CB4935125}"/>
              </a:ext>
            </a:extLst>
          </p:cNvPr>
          <p:cNvSpPr>
            <a:spLocks noGrp="1"/>
          </p:cNvSpPr>
          <p:nvPr>
            <p:ph type="title"/>
          </p:nvPr>
        </p:nvSpPr>
        <p:spPr/>
        <p:txBody>
          <a:bodyPr/>
          <a:lstStyle/>
          <a:p>
            <a:pPr algn="ctr"/>
            <a:r>
              <a:rPr kumimoji="1" lang="en-US" altLang="zh-TW" dirty="0">
                <a:latin typeface="Times" pitchFamily="2" charset="0"/>
              </a:rPr>
              <a:t>Abstract(1/2)</a:t>
            </a:r>
            <a:endParaRPr kumimoji="1" lang="zh-TW" altLang="en-US" dirty="0">
              <a:latin typeface="Times" pitchFamily="2" charset="0"/>
            </a:endParaRPr>
          </a:p>
        </p:txBody>
      </p:sp>
      <p:sp>
        <p:nvSpPr>
          <p:cNvPr id="3" name="內容版面配置區 2">
            <a:extLst>
              <a:ext uri="{FF2B5EF4-FFF2-40B4-BE49-F238E27FC236}">
                <a16:creationId xmlns:a16="http://schemas.microsoft.com/office/drawing/2014/main" id="{8D09F5D7-A24C-7540-ADEE-E8D83623F3F0}"/>
              </a:ext>
            </a:extLst>
          </p:cNvPr>
          <p:cNvSpPr>
            <a:spLocks noGrp="1"/>
          </p:cNvSpPr>
          <p:nvPr>
            <p:ph idx="1"/>
          </p:nvPr>
        </p:nvSpPr>
        <p:spPr/>
        <p:txBody>
          <a:bodyPr>
            <a:normAutofit/>
          </a:bodyPr>
          <a:lstStyle/>
          <a:p>
            <a:pPr marL="0" indent="0" algn="just">
              <a:lnSpc>
                <a:spcPct val="150000"/>
              </a:lnSpc>
              <a:buNone/>
            </a:pPr>
            <a:r>
              <a:rPr lang="en" altLang="zh-TW" sz="2400" dirty="0">
                <a:latin typeface="Times" pitchFamily="2" charset="0"/>
              </a:rPr>
              <a:t>Contract bridge is an example of an incomplete information game for which computers typically do not perform better than expert human bridge players. In particular, the typical bidding decisions of human bridge players are difficult to mimic with a computer program, and thus automatic bridge bidding remains to be a challenging research problem. Currently, the possibility of automatic bidding without mimicking human players has not been fully studied. </a:t>
            </a:r>
          </a:p>
        </p:txBody>
      </p:sp>
      <p:sp>
        <p:nvSpPr>
          <p:cNvPr id="4" name="投影片編號版面配置區 3">
            <a:extLst>
              <a:ext uri="{FF2B5EF4-FFF2-40B4-BE49-F238E27FC236}">
                <a16:creationId xmlns:a16="http://schemas.microsoft.com/office/drawing/2014/main" id="{60FFF1FB-1064-484B-B5D3-305DF5596F8C}"/>
              </a:ext>
            </a:extLst>
          </p:cNvPr>
          <p:cNvSpPr>
            <a:spLocks noGrp="1"/>
          </p:cNvSpPr>
          <p:nvPr>
            <p:ph type="sldNum" sz="quarter" idx="12"/>
          </p:nvPr>
        </p:nvSpPr>
        <p:spPr/>
        <p:txBody>
          <a:bodyPr/>
          <a:lstStyle/>
          <a:p>
            <a:fld id="{D1303F21-0339-114F-A835-EDFAC68AEBBB}" type="slidenum">
              <a:rPr kumimoji="1" lang="zh-TW" altLang="en-US" smtClean="0"/>
              <a:t>2</a:t>
            </a:fld>
            <a:endParaRPr kumimoji="1" lang="zh-TW" altLang="en-US"/>
          </a:p>
        </p:txBody>
      </p:sp>
    </p:spTree>
    <p:extLst>
      <p:ext uri="{BB962C8B-B14F-4D97-AF65-F5344CB8AC3E}">
        <p14:creationId xmlns:p14="http://schemas.microsoft.com/office/powerpoint/2010/main" val="4069224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67C017-EEF6-AF41-82FB-650CB4935125}"/>
              </a:ext>
            </a:extLst>
          </p:cNvPr>
          <p:cNvSpPr>
            <a:spLocks noGrp="1"/>
          </p:cNvSpPr>
          <p:nvPr>
            <p:ph type="title"/>
          </p:nvPr>
        </p:nvSpPr>
        <p:spPr/>
        <p:txBody>
          <a:bodyPr/>
          <a:lstStyle/>
          <a:p>
            <a:pPr algn="ctr"/>
            <a:r>
              <a:rPr kumimoji="1" lang="en-US" altLang="zh-TW" dirty="0">
                <a:latin typeface="Times" pitchFamily="2" charset="0"/>
              </a:rPr>
              <a:t>Abstract(2/2)</a:t>
            </a:r>
            <a:endParaRPr kumimoji="1" lang="zh-TW" altLang="en-US" dirty="0">
              <a:latin typeface="Times" pitchFamily="2" charset="0"/>
            </a:endParaRPr>
          </a:p>
        </p:txBody>
      </p:sp>
      <p:sp>
        <p:nvSpPr>
          <p:cNvPr id="3" name="內容版面配置區 2">
            <a:extLst>
              <a:ext uri="{FF2B5EF4-FFF2-40B4-BE49-F238E27FC236}">
                <a16:creationId xmlns:a16="http://schemas.microsoft.com/office/drawing/2014/main" id="{8D09F5D7-A24C-7540-ADEE-E8D83623F3F0}"/>
              </a:ext>
            </a:extLst>
          </p:cNvPr>
          <p:cNvSpPr>
            <a:spLocks noGrp="1"/>
          </p:cNvSpPr>
          <p:nvPr>
            <p:ph idx="1"/>
          </p:nvPr>
        </p:nvSpPr>
        <p:spPr>
          <a:xfrm>
            <a:off x="838200" y="1690688"/>
            <a:ext cx="10515600" cy="4546600"/>
          </a:xfrm>
        </p:spPr>
        <p:txBody>
          <a:bodyPr>
            <a:noAutofit/>
          </a:bodyPr>
          <a:lstStyle/>
          <a:p>
            <a:pPr marL="0" indent="0" algn="just">
              <a:lnSpc>
                <a:spcPct val="150000"/>
              </a:lnSpc>
              <a:buNone/>
            </a:pPr>
            <a:r>
              <a:rPr lang="en" altLang="zh-TW" sz="2400" dirty="0">
                <a:latin typeface="Times" pitchFamily="2" charset="0"/>
              </a:rPr>
              <a:t>In this work, we take an initiative to study such a possibility for the specific problem of bidding without competition. We propose a novel learning framework to let a computer program learn its own bidding decisions. The framework transforms the bidding problem into a learning problem, and then solves the problem with a carefully designed model that consists of cost-sensitive classifiers and upper-confidence-bound algorithms. We validate the proposed model and find that it performs competitively to the champion computer bridge program that mimics human bidding decisions. </a:t>
            </a:r>
          </a:p>
        </p:txBody>
      </p:sp>
      <p:sp>
        <p:nvSpPr>
          <p:cNvPr id="4" name="投影片編號版面配置區 3">
            <a:extLst>
              <a:ext uri="{FF2B5EF4-FFF2-40B4-BE49-F238E27FC236}">
                <a16:creationId xmlns:a16="http://schemas.microsoft.com/office/drawing/2014/main" id="{D30063C2-B176-C143-AD15-5E06A3E64C16}"/>
              </a:ext>
            </a:extLst>
          </p:cNvPr>
          <p:cNvSpPr>
            <a:spLocks noGrp="1"/>
          </p:cNvSpPr>
          <p:nvPr>
            <p:ph type="sldNum" sz="quarter" idx="12"/>
          </p:nvPr>
        </p:nvSpPr>
        <p:spPr/>
        <p:txBody>
          <a:bodyPr/>
          <a:lstStyle/>
          <a:p>
            <a:fld id="{D1303F21-0339-114F-A835-EDFAC68AEBBB}" type="slidenum">
              <a:rPr kumimoji="1" lang="zh-TW" altLang="en-US" smtClean="0"/>
              <a:t>3</a:t>
            </a:fld>
            <a:endParaRPr kumimoji="1" lang="zh-TW" altLang="en-US"/>
          </a:p>
        </p:txBody>
      </p:sp>
    </p:spTree>
    <p:extLst>
      <p:ext uri="{BB962C8B-B14F-4D97-AF65-F5344CB8AC3E}">
        <p14:creationId xmlns:p14="http://schemas.microsoft.com/office/powerpoint/2010/main" val="1604132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pPr algn="ctr"/>
            <a:r>
              <a:rPr lang="en" altLang="zh-TW" dirty="0">
                <a:latin typeface="Times" pitchFamily="2" charset="0"/>
              </a:rPr>
              <a:t>Problem Setup</a:t>
            </a:r>
            <a:endParaRPr kumimoji="1" lang="zh-TW" altLang="en-US" dirty="0">
              <a:latin typeface="Times" pitchFamily="2" charset="0"/>
            </a:endParaRP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AEC2A638-FB11-BC41-B4C4-91EA30E22F7F}"/>
                  </a:ext>
                </a:extLst>
              </p:cNvPr>
              <p:cNvSpPr>
                <a:spLocks noGrp="1"/>
              </p:cNvSpPr>
              <p:nvPr>
                <p:ph idx="1"/>
              </p:nvPr>
            </p:nvSpPr>
            <p:spPr/>
            <p:txBody>
              <a:bodyPr/>
              <a:lstStyle/>
              <a:p>
                <a:pPr>
                  <a:lnSpc>
                    <a:spcPct val="100000"/>
                  </a:lnSpc>
                </a:pPr>
                <a:r>
                  <a:rPr lang="en" altLang="zh-TW" dirty="0">
                    <a:latin typeface="Times" pitchFamily="2" charset="0"/>
                  </a:rPr>
                  <a:t>Bidding without competition </a:t>
                </a:r>
              </a:p>
              <a:p>
                <a:pPr>
                  <a:lnSpc>
                    <a:spcPct val="100000"/>
                  </a:lnSpc>
                </a:pPr>
                <a:r>
                  <a:rPr lang="en" altLang="zh-TW" dirty="0">
                    <a:latin typeface="Times" pitchFamily="2" charset="0"/>
                  </a:rPr>
                  <a:t>Bidding strategy </a:t>
                </a:r>
                <a:r>
                  <a:rPr lang="en" altLang="zh-TW" dirty="0">
                    <a:solidFill>
                      <a:srgbClr val="C00000"/>
                    </a:solidFill>
                    <a:latin typeface="Times" pitchFamily="2" charset="0"/>
                  </a:rPr>
                  <a:t>G(</a:t>
                </a:r>
                <a14:m>
                  <m:oMath xmlns:m="http://schemas.openxmlformats.org/officeDocument/2006/math">
                    <m:sSub>
                      <m:sSubPr>
                        <m:ctrlPr>
                          <a:rPr lang="en" altLang="zh-TW" i="1" smtClean="0">
                            <a:solidFill>
                              <a:srgbClr val="C00000"/>
                            </a:solidFill>
                            <a:latin typeface="Cambria Math" panose="02040503050406030204" pitchFamily="18" charset="0"/>
                          </a:rPr>
                        </m:ctrlPr>
                      </m:sSubPr>
                      <m:e>
                        <m:r>
                          <a:rPr lang="en-US" altLang="zh-TW" b="0" i="1" smtClean="0">
                            <a:solidFill>
                              <a:srgbClr val="C00000"/>
                            </a:solidFill>
                            <a:latin typeface="Cambria Math" panose="02040503050406030204" pitchFamily="18" charset="0"/>
                          </a:rPr>
                          <m:t>𝑋</m:t>
                        </m:r>
                      </m:e>
                      <m:sub>
                        <m:r>
                          <a:rPr lang="en-US" altLang="zh-TW" b="0" i="1" smtClean="0">
                            <a:solidFill>
                              <a:srgbClr val="C00000"/>
                            </a:solidFill>
                            <a:latin typeface="Cambria Math" panose="02040503050406030204" pitchFamily="18" charset="0"/>
                          </a:rPr>
                          <m:t>𝑛</m:t>
                        </m:r>
                      </m:sub>
                    </m:sSub>
                  </m:oMath>
                </a14:m>
                <a:r>
                  <a:rPr lang="en" altLang="zh-TW" dirty="0">
                    <a:solidFill>
                      <a:srgbClr val="C00000"/>
                    </a:solidFill>
                    <a:latin typeface="Times" pitchFamily="2" charset="0"/>
                  </a:rPr>
                  <a:t>, </a:t>
                </a:r>
                <a14:m>
                  <m:oMath xmlns:m="http://schemas.openxmlformats.org/officeDocument/2006/math">
                    <m:sSub>
                      <m:sSubPr>
                        <m:ctrlPr>
                          <a:rPr lang="en" altLang="zh-TW" i="1" smtClean="0">
                            <a:solidFill>
                              <a:srgbClr val="C00000"/>
                            </a:solidFill>
                            <a:latin typeface="Cambria Math" panose="02040503050406030204" pitchFamily="18" charset="0"/>
                          </a:rPr>
                        </m:ctrlPr>
                      </m:sSubPr>
                      <m:e>
                        <m:r>
                          <a:rPr lang="en-US" altLang="zh-TW" b="0" i="1" smtClean="0">
                            <a:solidFill>
                              <a:srgbClr val="C00000"/>
                            </a:solidFill>
                            <a:latin typeface="Cambria Math" panose="02040503050406030204" pitchFamily="18" charset="0"/>
                          </a:rPr>
                          <m:t>𝑋</m:t>
                        </m:r>
                      </m:e>
                      <m:sub>
                        <m:r>
                          <a:rPr lang="en-US" altLang="zh-TW" b="0" i="1" smtClean="0">
                            <a:solidFill>
                              <a:srgbClr val="C00000"/>
                            </a:solidFill>
                            <a:latin typeface="Cambria Math" panose="02040503050406030204" pitchFamily="18" charset="0"/>
                          </a:rPr>
                          <m:t>𝑠</m:t>
                        </m:r>
                      </m:sub>
                    </m:sSub>
                  </m:oMath>
                </a14:m>
                <a:r>
                  <a:rPr lang="en" altLang="zh-TW" dirty="0">
                    <a:solidFill>
                      <a:srgbClr val="C00000"/>
                    </a:solidFill>
                    <a:latin typeface="Times" pitchFamily="2" charset="0"/>
                  </a:rPr>
                  <a:t>)</a:t>
                </a:r>
                <a:r>
                  <a:rPr lang="en" altLang="zh-TW" dirty="0">
                    <a:latin typeface="Times" pitchFamily="2" charset="0"/>
                  </a:rPr>
                  <a:t>: </a:t>
                </a:r>
              </a:p>
              <a:p>
                <a:pPr marL="457200" lvl="1" indent="0">
                  <a:lnSpc>
                    <a:spcPct val="100000"/>
                  </a:lnSpc>
                  <a:buNone/>
                </a:pPr>
                <a:r>
                  <a:rPr kumimoji="1" lang="en-US" altLang="zh-TW" sz="2000" dirty="0">
                    <a:latin typeface="Times" pitchFamily="2" charset="0"/>
                  </a:rPr>
                  <a:t>bidding function g(X, </a:t>
                </a:r>
                <a14:m>
                  <m:oMath xmlns:m="http://schemas.openxmlformats.org/officeDocument/2006/math">
                    <m:sSup>
                      <m:sSupPr>
                        <m:ctrlPr>
                          <a:rPr kumimoji="1" lang="en-US" altLang="zh-TW" sz="2000" i="1" smtClean="0">
                            <a:latin typeface="Cambria Math" panose="02040503050406030204" pitchFamily="18" charset="0"/>
                          </a:rPr>
                        </m:ctrlPr>
                      </m:sSupPr>
                      <m:e>
                        <m:r>
                          <a:rPr kumimoji="1" lang="en-US" altLang="zh-TW" sz="2000" b="0" i="1" smtClean="0">
                            <a:latin typeface="Cambria Math" panose="02040503050406030204" pitchFamily="18" charset="0"/>
                          </a:rPr>
                          <m:t>𝑏</m:t>
                        </m:r>
                      </m:e>
                      <m:sup>
                        <m:r>
                          <a:rPr kumimoji="1" lang="en-US" altLang="zh-TW" sz="2000" b="0" i="1" smtClean="0">
                            <a:latin typeface="Cambria Math" panose="02040503050406030204" pitchFamily="18" charset="0"/>
                          </a:rPr>
                          <m:t>𝑘</m:t>
                        </m:r>
                      </m:sup>
                    </m:sSup>
                  </m:oMath>
                </a14:m>
                <a:r>
                  <a:rPr kumimoji="1" lang="en-US" altLang="zh-TW" sz="2000" dirty="0">
                    <a:latin typeface="Times" pitchFamily="2" charset="0"/>
                  </a:rPr>
                  <a:t>)</a:t>
                </a:r>
                <a:endParaRPr kumimoji="1" lang="en-US" altLang="zh-TW" sz="2000" b="0" dirty="0">
                  <a:latin typeface="Times" pitchFamily="2" charset="0"/>
                  <a:ea typeface="Cambria Math" panose="02040503050406030204" pitchFamily="18" charset="0"/>
                </a:endParaRPr>
              </a:p>
              <a:p>
                <a:pPr marL="457200" lvl="1" indent="0">
                  <a:lnSpc>
                    <a:spcPct val="100000"/>
                  </a:lnSpc>
                  <a:buNone/>
                </a:pPr>
                <a:r>
                  <a:rPr kumimoji="1" lang="en-US" altLang="zh-TW" sz="2000" dirty="0">
                    <a:latin typeface="Times" pitchFamily="2" charset="0"/>
                  </a:rPr>
                  <a:t>b[1] = g(</a:t>
                </a:r>
                <a14:m>
                  <m:oMath xmlns:m="http://schemas.openxmlformats.org/officeDocument/2006/math">
                    <m:sSub>
                      <m:sSubPr>
                        <m:ctrlPr>
                          <a:rPr lang="en" altLang="zh-TW" sz="2000" i="1" smtClean="0">
                            <a:latin typeface="Cambria Math" panose="02040503050406030204" pitchFamily="18" charset="0"/>
                          </a:rPr>
                        </m:ctrlPr>
                      </m:sSubPr>
                      <m:e>
                        <m:r>
                          <a:rPr lang="en-US" altLang="zh-TW" sz="2000" b="0" i="1" smtClean="0">
                            <a:latin typeface="Cambria Math" panose="02040503050406030204" pitchFamily="18" charset="0"/>
                          </a:rPr>
                          <m:t>𝑋</m:t>
                        </m:r>
                      </m:e>
                      <m:sub>
                        <m:r>
                          <a:rPr lang="en-US" altLang="zh-TW" sz="2000" b="0" i="1" smtClean="0">
                            <a:latin typeface="Cambria Math" panose="02040503050406030204" pitchFamily="18" charset="0"/>
                          </a:rPr>
                          <m:t>1</m:t>
                        </m:r>
                      </m:sub>
                    </m:sSub>
                  </m:oMath>
                </a14:m>
                <a:r>
                  <a:rPr kumimoji="1" lang="en-US" altLang="zh-TW" sz="2000" dirty="0">
                    <a:latin typeface="Times" pitchFamily="2" charset="0"/>
                  </a:rPr>
                  <a:t>, ∅), b[2] = g(</a:t>
                </a:r>
                <a14:m>
                  <m:oMath xmlns:m="http://schemas.openxmlformats.org/officeDocument/2006/math">
                    <m:sSub>
                      <m:sSubPr>
                        <m:ctrlPr>
                          <a:rPr lang="en" altLang="zh-TW" sz="2000" i="1" smtClean="0">
                            <a:latin typeface="Cambria Math" panose="02040503050406030204" pitchFamily="18" charset="0"/>
                          </a:rPr>
                        </m:ctrlPr>
                      </m:sSubPr>
                      <m:e>
                        <m:r>
                          <a:rPr lang="en-US" altLang="zh-TW" sz="2000" b="0" i="1" smtClean="0">
                            <a:latin typeface="Cambria Math" panose="02040503050406030204" pitchFamily="18" charset="0"/>
                          </a:rPr>
                          <m:t>𝑋</m:t>
                        </m:r>
                      </m:e>
                      <m:sub>
                        <m:r>
                          <a:rPr lang="en-US" altLang="zh-TW" sz="2000" b="0" i="1" smtClean="0">
                            <a:latin typeface="Cambria Math" panose="02040503050406030204" pitchFamily="18" charset="0"/>
                          </a:rPr>
                          <m:t>2</m:t>
                        </m:r>
                      </m:sub>
                    </m:sSub>
                  </m:oMath>
                </a14:m>
                <a:r>
                  <a:rPr kumimoji="1" lang="en-US" altLang="zh-TW" sz="2000" dirty="0">
                    <a:latin typeface="Times" pitchFamily="2" charset="0"/>
                  </a:rPr>
                  <a:t>, </a:t>
                </a:r>
                <a14:m>
                  <m:oMath xmlns:m="http://schemas.openxmlformats.org/officeDocument/2006/math">
                    <m:sSup>
                      <m:sSupPr>
                        <m:ctrlPr>
                          <a:rPr kumimoji="1" lang="en-US" altLang="zh-TW" sz="2000" i="1" smtClean="0">
                            <a:solidFill>
                              <a:schemeClr val="accent6">
                                <a:lumMod val="75000"/>
                              </a:schemeClr>
                            </a:solidFill>
                            <a:latin typeface="Cambria Math" panose="02040503050406030204" pitchFamily="18" charset="0"/>
                          </a:rPr>
                        </m:ctrlPr>
                      </m:sSupPr>
                      <m:e>
                        <m:r>
                          <a:rPr kumimoji="1" lang="en-US" altLang="zh-TW" sz="2000" b="0" i="1" smtClean="0">
                            <a:solidFill>
                              <a:schemeClr val="accent6">
                                <a:lumMod val="75000"/>
                              </a:schemeClr>
                            </a:solidFill>
                            <a:latin typeface="Cambria Math" panose="02040503050406030204" pitchFamily="18" charset="0"/>
                          </a:rPr>
                          <m:t>𝑏</m:t>
                        </m:r>
                      </m:e>
                      <m:sup>
                        <m:r>
                          <a:rPr kumimoji="1" lang="en-US" altLang="zh-TW" sz="2000" b="0" i="1" smtClean="0">
                            <a:solidFill>
                              <a:schemeClr val="accent6">
                                <a:lumMod val="75000"/>
                              </a:schemeClr>
                            </a:solidFill>
                            <a:latin typeface="Cambria Math" panose="02040503050406030204" pitchFamily="18" charset="0"/>
                          </a:rPr>
                          <m:t>1</m:t>
                        </m:r>
                      </m:sup>
                    </m:sSup>
                  </m:oMath>
                </a14:m>
                <a:r>
                  <a:rPr kumimoji="1" lang="en-US" altLang="zh-TW" sz="2000" dirty="0">
                    <a:latin typeface="Times" pitchFamily="2" charset="0"/>
                  </a:rPr>
                  <a:t>), …, b[</a:t>
                </a:r>
                <a:r>
                  <a:rPr kumimoji="1" lang="en-US" altLang="zh-TW" sz="2000" dirty="0" err="1">
                    <a:latin typeface="Times" pitchFamily="2" charset="0"/>
                  </a:rPr>
                  <a:t>i</a:t>
                </a:r>
                <a:r>
                  <a:rPr kumimoji="1" lang="en-US" altLang="zh-TW" sz="2000" dirty="0">
                    <a:latin typeface="Times" pitchFamily="2" charset="0"/>
                  </a:rPr>
                  <a:t>] = g(</a:t>
                </a:r>
                <a14:m>
                  <m:oMath xmlns:m="http://schemas.openxmlformats.org/officeDocument/2006/math">
                    <m:sSub>
                      <m:sSubPr>
                        <m:ctrlPr>
                          <a:rPr lang="en" altLang="zh-TW" sz="2000" i="1" smtClean="0">
                            <a:latin typeface="Cambria Math" panose="02040503050406030204" pitchFamily="18" charset="0"/>
                          </a:rPr>
                        </m:ctrlPr>
                      </m:sSubPr>
                      <m:e>
                        <m:r>
                          <a:rPr lang="en-US" altLang="zh-TW" sz="2000" b="0" i="1" smtClean="0">
                            <a:latin typeface="Cambria Math" panose="02040503050406030204" pitchFamily="18" charset="0"/>
                          </a:rPr>
                          <m:t>𝑋</m:t>
                        </m:r>
                      </m:e>
                      <m:sub>
                        <m:r>
                          <m:rPr>
                            <m:nor/>
                          </m:rPr>
                          <a:rPr lang="en-US" altLang="zh-TW" sz="2000" b="0" i="0" smtClean="0">
                            <a:latin typeface="Cambria Math" panose="02040503050406030204" pitchFamily="18" charset="0"/>
                          </a:rPr>
                          <m:t>i</m:t>
                        </m:r>
                      </m:sub>
                    </m:sSub>
                  </m:oMath>
                </a14:m>
                <a:r>
                  <a:rPr kumimoji="1" lang="en-US" altLang="zh-TW" sz="2000" dirty="0">
                    <a:latin typeface="Times" pitchFamily="2" charset="0"/>
                  </a:rPr>
                  <a:t>, </a:t>
                </a:r>
                <a14:m>
                  <m:oMath xmlns:m="http://schemas.openxmlformats.org/officeDocument/2006/math">
                    <m:sSup>
                      <m:sSupPr>
                        <m:ctrlPr>
                          <a:rPr kumimoji="1" lang="en-US" altLang="zh-TW" sz="2000" i="1" smtClean="0">
                            <a:latin typeface="Cambria Math" panose="02040503050406030204" pitchFamily="18" charset="0"/>
                          </a:rPr>
                        </m:ctrlPr>
                      </m:sSupPr>
                      <m:e>
                        <m:r>
                          <a:rPr kumimoji="1" lang="en-US" altLang="zh-TW" sz="2000" b="0" i="1" smtClean="0">
                            <a:latin typeface="Cambria Math" panose="02040503050406030204" pitchFamily="18" charset="0"/>
                          </a:rPr>
                          <m:t>𝑏</m:t>
                        </m:r>
                      </m:e>
                      <m:sup>
                        <m:r>
                          <a:rPr kumimoji="1" lang="en-US" altLang="zh-TW" sz="2000" b="0" i="1" smtClean="0">
                            <a:latin typeface="Cambria Math" panose="02040503050406030204" pitchFamily="18" charset="0"/>
                          </a:rPr>
                          <m:t>𝑖</m:t>
                        </m:r>
                        <m:r>
                          <a:rPr kumimoji="1" lang="en-US" altLang="zh-TW" sz="2000" b="0" i="1" dirty="0" smtClean="0">
                            <a:latin typeface="Cambria Math" panose="02040503050406030204" pitchFamily="18" charset="0"/>
                          </a:rPr>
                          <m:t>−1</m:t>
                        </m:r>
                      </m:sup>
                    </m:sSup>
                  </m:oMath>
                </a14:m>
                <a:r>
                  <a:rPr kumimoji="1" lang="en-US" altLang="zh-TW" sz="2000" dirty="0">
                    <a:latin typeface="Times" pitchFamily="2" charset="0"/>
                  </a:rPr>
                  <a:t>)</a:t>
                </a:r>
              </a:p>
              <a:p>
                <a:pPr marL="457200" lvl="1" indent="0">
                  <a:lnSpc>
                    <a:spcPct val="100000"/>
                  </a:lnSpc>
                  <a:buNone/>
                </a:pPr>
                <a:r>
                  <a:rPr kumimoji="1" lang="en-US" altLang="zh-TW" sz="2000" dirty="0">
                    <a:latin typeface="Times" pitchFamily="2" charset="0"/>
                  </a:rPr>
                  <a:t>PASS = g(</a:t>
                </a:r>
                <a14:m>
                  <m:oMath xmlns:m="http://schemas.openxmlformats.org/officeDocument/2006/math">
                    <m:sSub>
                      <m:sSubPr>
                        <m:ctrlPr>
                          <a:rPr lang="en" altLang="zh-TW" sz="2000" i="1" smtClean="0">
                            <a:latin typeface="Cambria Math" panose="02040503050406030204" pitchFamily="18" charset="0"/>
                          </a:rPr>
                        </m:ctrlPr>
                      </m:sSubPr>
                      <m:e>
                        <m:r>
                          <a:rPr lang="en-US" altLang="zh-TW" sz="2000" b="0" i="1" smtClean="0">
                            <a:latin typeface="Cambria Math" panose="02040503050406030204" pitchFamily="18" charset="0"/>
                          </a:rPr>
                          <m:t>𝑋</m:t>
                        </m:r>
                      </m:e>
                      <m:sub>
                        <m:r>
                          <m:rPr>
                            <m:nor/>
                          </m:rPr>
                          <a:rPr lang="en-US" altLang="zh-TW" sz="2000" b="0" i="0" smtClean="0">
                            <a:latin typeface="Cambria Math" panose="02040503050406030204" pitchFamily="18" charset="0"/>
                          </a:rPr>
                          <m:t>i</m:t>
                        </m:r>
                        <m:r>
                          <m:rPr>
                            <m:nor/>
                          </m:rPr>
                          <a:rPr kumimoji="1" lang="en-US" altLang="zh-TW" sz="2000" b="0" i="0" dirty="0" smtClean="0">
                            <a:latin typeface="Times" pitchFamily="2" charset="0"/>
                          </a:rPr>
                          <m:t>+</m:t>
                        </m:r>
                        <m:r>
                          <a:rPr kumimoji="1" lang="en-US" altLang="zh-TW" sz="2000" b="0" i="1" dirty="0" smtClean="0">
                            <a:latin typeface="Cambria Math" panose="02040503050406030204" pitchFamily="18" charset="0"/>
                          </a:rPr>
                          <m:t>1</m:t>
                        </m:r>
                      </m:sub>
                    </m:sSub>
                  </m:oMath>
                </a14:m>
                <a:r>
                  <a:rPr kumimoji="1" lang="en-US" altLang="zh-TW" sz="2000" dirty="0">
                    <a:latin typeface="Times" pitchFamily="2" charset="0"/>
                  </a:rPr>
                  <a:t>, b)</a:t>
                </a:r>
              </a:p>
              <a:p>
                <a:pPr marL="457200" lvl="1" indent="0">
                  <a:lnSpc>
                    <a:spcPct val="100000"/>
                  </a:lnSpc>
                  <a:buNone/>
                </a:pPr>
                <a:endParaRPr kumimoji="1" lang="en-US" altLang="zh-TW" sz="2000" dirty="0">
                  <a:latin typeface="Times" pitchFamily="2" charset="0"/>
                </a:endParaRPr>
              </a:p>
              <a:p>
                <a:pPr>
                  <a:lnSpc>
                    <a:spcPct val="100000"/>
                  </a:lnSpc>
                </a:pPr>
                <a:r>
                  <a:rPr kumimoji="1" lang="en-US" altLang="zh-TW" dirty="0">
                    <a:latin typeface="Times" pitchFamily="2" charset="0"/>
                  </a:rPr>
                  <a:t>Double dummy analysis:</a:t>
                </a:r>
              </a:p>
              <a:p>
                <a:pPr marL="457200" lvl="1" indent="0">
                  <a:lnSpc>
                    <a:spcPct val="100000"/>
                  </a:lnSpc>
                  <a:buNone/>
                </a:pPr>
                <a:r>
                  <a:rPr kumimoji="1" lang="en-US" altLang="zh-TW" sz="2000" dirty="0">
                    <a:latin typeface="Times" pitchFamily="2" charset="0"/>
                  </a:rPr>
                  <a:t>cost vector c = best score – other possible scores (IMP)</a:t>
                </a:r>
              </a:p>
              <a:p>
                <a:pPr marL="457200" lvl="1" indent="0">
                  <a:lnSpc>
                    <a:spcPct val="100000"/>
                  </a:lnSpc>
                  <a:buNone/>
                </a:pPr>
                <a:r>
                  <a:rPr kumimoji="1" lang="en-US" altLang="zh-TW" sz="2000" dirty="0">
                    <a:latin typeface="Times" pitchFamily="2" charset="0"/>
                  </a:rPr>
                  <a:t>reward r = maximum possible cost</a:t>
                </a:r>
                <a:r>
                  <a:rPr kumimoji="1" lang="en-US" altLang="zh-TW" sz="2000" dirty="0">
                    <a:solidFill>
                      <a:schemeClr val="accent6">
                        <a:lumMod val="75000"/>
                      </a:schemeClr>
                    </a:solidFill>
                    <a:latin typeface="Times" pitchFamily="2" charset="0"/>
                  </a:rPr>
                  <a:t>(24) </a:t>
                </a:r>
                <a:r>
                  <a:rPr kumimoji="1" lang="en-US" altLang="zh-TW" sz="2000" dirty="0">
                    <a:latin typeface="Times" pitchFamily="2" charset="0"/>
                  </a:rPr>
                  <a:t>– cost</a:t>
                </a:r>
              </a:p>
              <a:p>
                <a:pPr marL="0" indent="0">
                  <a:lnSpc>
                    <a:spcPct val="100000"/>
                  </a:lnSpc>
                  <a:buNone/>
                </a:pPr>
                <a:endParaRPr kumimoji="1" lang="en-US" altLang="zh-TW" sz="2000" dirty="0">
                  <a:latin typeface="Times" pitchFamily="2" charset="0"/>
                </a:endParaRPr>
              </a:p>
            </p:txBody>
          </p:sp>
        </mc:Choice>
        <mc:Fallback xmlns="">
          <p:sp>
            <p:nvSpPr>
              <p:cNvPr id="3" name="內容版面配置區 2">
                <a:extLst>
                  <a:ext uri="{FF2B5EF4-FFF2-40B4-BE49-F238E27FC236}">
                    <a16:creationId xmlns:a16="http://schemas.microsoft.com/office/drawing/2014/main" id="{AEC2A638-FB11-BC41-B4C4-91EA30E22F7F}"/>
                  </a:ext>
                </a:extLst>
              </p:cNvPr>
              <p:cNvSpPr>
                <a:spLocks noGrp="1" noRot="1" noChangeAspect="1" noMove="1" noResize="1" noEditPoints="1" noAdjustHandles="1" noChangeArrowheads="1" noChangeShapeType="1" noTextEdit="1"/>
              </p:cNvSpPr>
              <p:nvPr>
                <p:ph idx="1"/>
              </p:nvPr>
            </p:nvSpPr>
            <p:spPr>
              <a:blipFill>
                <a:blip r:embed="rId3"/>
                <a:stretch>
                  <a:fillRect l="-1086" t="-1453"/>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4</a:t>
            </a:fld>
            <a:endParaRPr kumimoji="1" lang="zh-TW" altLang="en-US" dirty="0"/>
          </a:p>
        </p:txBody>
      </p:sp>
      <p:grpSp>
        <p:nvGrpSpPr>
          <p:cNvPr id="16" name="群組 15">
            <a:extLst>
              <a:ext uri="{FF2B5EF4-FFF2-40B4-BE49-F238E27FC236}">
                <a16:creationId xmlns:a16="http://schemas.microsoft.com/office/drawing/2014/main" id="{4DAC7B77-505C-5C40-96D3-D3F09B09FCE4}"/>
              </a:ext>
            </a:extLst>
          </p:cNvPr>
          <p:cNvGrpSpPr/>
          <p:nvPr/>
        </p:nvGrpSpPr>
        <p:grpSpPr>
          <a:xfrm>
            <a:off x="7512908" y="2004020"/>
            <a:ext cx="3840892" cy="3653641"/>
            <a:chOff x="7971722" y="1964798"/>
            <a:chExt cx="3624715" cy="3263683"/>
          </a:xfrm>
        </p:grpSpPr>
        <p:pic>
          <p:nvPicPr>
            <p:cNvPr id="11" name="圖片 10" descr="一張含有 文字 的圖片&#10;&#10;自動產生的描述">
              <a:extLst>
                <a:ext uri="{FF2B5EF4-FFF2-40B4-BE49-F238E27FC236}">
                  <a16:creationId xmlns:a16="http://schemas.microsoft.com/office/drawing/2014/main" id="{1D6FF759-DC20-DE4A-B6EF-B0A02AB9EFCE}"/>
                </a:ext>
              </a:extLst>
            </p:cNvPr>
            <p:cNvPicPr>
              <a:picLocks noChangeAspect="1"/>
            </p:cNvPicPr>
            <p:nvPr/>
          </p:nvPicPr>
          <p:blipFill>
            <a:blip r:embed="rId4"/>
            <a:stretch>
              <a:fillRect/>
            </a:stretch>
          </p:blipFill>
          <p:spPr>
            <a:xfrm>
              <a:off x="7971722" y="2302855"/>
              <a:ext cx="3624715" cy="2587570"/>
            </a:xfrm>
            <a:prstGeom prst="rect">
              <a:avLst/>
            </a:prstGeom>
          </p:spPr>
        </p:pic>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AA143688-871B-D04F-BB28-00745540A5A8}"/>
                    </a:ext>
                  </a:extLst>
                </p:cNvPr>
                <p:cNvSpPr txBox="1"/>
                <p:nvPr/>
              </p:nvSpPr>
              <p:spPr>
                <a:xfrm>
                  <a:off x="8737746" y="1964798"/>
                  <a:ext cx="2318642" cy="329913"/>
                </a:xfrm>
                <a:prstGeom prst="rect">
                  <a:avLst/>
                </a:prstGeom>
                <a:noFill/>
              </p:spPr>
              <p:txBody>
                <a:bodyPr wrap="square">
                  <a:spAutoFit/>
                </a:bodyPr>
                <a:lstStyle/>
                <a:p>
                  <a:pPr algn="ctr"/>
                  <a:r>
                    <a:rPr kumimoji="1" lang="en-US" altLang="zh-TW" dirty="0">
                      <a:solidFill>
                        <a:schemeClr val="accent6">
                          <a:lumMod val="75000"/>
                        </a:schemeClr>
                      </a:solidFill>
                      <a:latin typeface="Times" pitchFamily="2" charset="0"/>
                    </a:rPr>
                    <a:t>b[1] = g(</a:t>
                  </a:r>
                  <a14:m>
                    <m:oMath xmlns:m="http://schemas.openxmlformats.org/officeDocument/2006/math">
                      <m:sSub>
                        <m:sSubPr>
                          <m:ctrlPr>
                            <a:rPr lang="en" altLang="zh-TW" i="1" smtClean="0">
                              <a:solidFill>
                                <a:schemeClr val="accent6">
                                  <a:lumMod val="75000"/>
                                </a:schemeClr>
                              </a:solidFill>
                              <a:latin typeface="Cambria Math" panose="02040503050406030204" pitchFamily="18" charset="0"/>
                            </a:rPr>
                          </m:ctrlPr>
                        </m:sSubPr>
                        <m:e>
                          <m:r>
                            <a:rPr lang="en-US" altLang="zh-TW" b="0" i="1" smtClean="0">
                              <a:solidFill>
                                <a:schemeClr val="accent6">
                                  <a:lumMod val="75000"/>
                                </a:schemeClr>
                              </a:solidFill>
                              <a:latin typeface="Cambria Math" panose="02040503050406030204" pitchFamily="18" charset="0"/>
                            </a:rPr>
                            <m:t>𝑋</m:t>
                          </m:r>
                        </m:e>
                        <m:sub>
                          <m:r>
                            <a:rPr lang="en-US" altLang="zh-TW" b="0" i="1" smtClean="0">
                              <a:solidFill>
                                <a:schemeClr val="accent6">
                                  <a:lumMod val="75000"/>
                                </a:schemeClr>
                              </a:solidFill>
                              <a:latin typeface="Cambria Math" panose="02040503050406030204" pitchFamily="18" charset="0"/>
                            </a:rPr>
                            <m:t>𝑛</m:t>
                          </m:r>
                        </m:sub>
                      </m:sSub>
                    </m:oMath>
                  </a14:m>
                  <a:r>
                    <a:rPr kumimoji="1" lang="en-US" altLang="zh-TW" dirty="0">
                      <a:solidFill>
                        <a:schemeClr val="accent6">
                          <a:lumMod val="75000"/>
                        </a:schemeClr>
                      </a:solidFill>
                      <a:latin typeface="Times" pitchFamily="2" charset="0"/>
                    </a:rPr>
                    <a:t>, ∅) = 1NT </a:t>
                  </a:r>
                  <a:endParaRPr lang="zh-TW" altLang="en-US" dirty="0">
                    <a:solidFill>
                      <a:schemeClr val="accent6">
                        <a:lumMod val="75000"/>
                      </a:schemeClr>
                    </a:solidFill>
                  </a:endParaRPr>
                </a:p>
              </p:txBody>
            </p:sp>
          </mc:Choice>
          <mc:Fallback xmlns="">
            <p:sp>
              <p:nvSpPr>
                <p:cNvPr id="13" name="文字方塊 12">
                  <a:extLst>
                    <a:ext uri="{FF2B5EF4-FFF2-40B4-BE49-F238E27FC236}">
                      <a16:creationId xmlns:a16="http://schemas.microsoft.com/office/drawing/2014/main" id="{AA143688-871B-D04F-BB28-00745540A5A8}"/>
                    </a:ext>
                  </a:extLst>
                </p:cNvPr>
                <p:cNvSpPr txBox="1">
                  <a:spLocks noRot="1" noChangeAspect="1" noMove="1" noResize="1" noEditPoints="1" noAdjustHandles="1" noChangeArrowheads="1" noChangeShapeType="1" noTextEdit="1"/>
                </p:cNvSpPr>
                <p:nvPr/>
              </p:nvSpPr>
              <p:spPr>
                <a:xfrm>
                  <a:off x="8737746" y="1964798"/>
                  <a:ext cx="2318642" cy="329913"/>
                </a:xfrm>
                <a:prstGeom prst="rect">
                  <a:avLst/>
                </a:prstGeom>
                <a:blipFill>
                  <a:blip r:embed="rId5"/>
                  <a:stretch>
                    <a:fillRect t="-10000" b="-233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4AF06086-B043-214D-87AD-2DFA0FBA3A9E}"/>
                    </a:ext>
                  </a:extLst>
                </p:cNvPr>
                <p:cNvSpPr txBox="1"/>
                <p:nvPr/>
              </p:nvSpPr>
              <p:spPr>
                <a:xfrm>
                  <a:off x="8737746" y="4898568"/>
                  <a:ext cx="2318640" cy="329913"/>
                </a:xfrm>
                <a:prstGeom prst="rect">
                  <a:avLst/>
                </a:prstGeom>
                <a:noFill/>
              </p:spPr>
              <p:txBody>
                <a:bodyPr wrap="square">
                  <a:spAutoFit/>
                </a:bodyPr>
                <a:lstStyle/>
                <a:p>
                  <a:pPr algn="ctr"/>
                  <a:r>
                    <a:rPr kumimoji="1" lang="en-US" altLang="zh-TW" dirty="0">
                      <a:solidFill>
                        <a:schemeClr val="accent6">
                          <a:lumMod val="75000"/>
                        </a:schemeClr>
                      </a:solidFill>
                      <a:latin typeface="Times" pitchFamily="2" charset="0"/>
                    </a:rPr>
                    <a:t>b[2] = g(</a:t>
                  </a:r>
                  <a14:m>
                    <m:oMath xmlns:m="http://schemas.openxmlformats.org/officeDocument/2006/math">
                      <m:sSub>
                        <m:sSubPr>
                          <m:ctrlPr>
                            <a:rPr lang="en" altLang="zh-TW" i="1" smtClean="0">
                              <a:solidFill>
                                <a:schemeClr val="accent6">
                                  <a:lumMod val="75000"/>
                                </a:schemeClr>
                              </a:solidFill>
                              <a:latin typeface="Cambria Math" panose="02040503050406030204" pitchFamily="18" charset="0"/>
                            </a:rPr>
                          </m:ctrlPr>
                        </m:sSubPr>
                        <m:e>
                          <m:r>
                            <a:rPr lang="en-US" altLang="zh-TW" b="0" i="1" smtClean="0">
                              <a:solidFill>
                                <a:schemeClr val="accent6">
                                  <a:lumMod val="75000"/>
                                </a:schemeClr>
                              </a:solidFill>
                              <a:latin typeface="Cambria Math" panose="02040503050406030204" pitchFamily="18" charset="0"/>
                            </a:rPr>
                            <m:t>𝑋</m:t>
                          </m:r>
                        </m:e>
                        <m:sub>
                          <m:r>
                            <a:rPr lang="en-US" altLang="zh-TW" b="0" i="1" smtClean="0">
                              <a:solidFill>
                                <a:schemeClr val="accent6">
                                  <a:lumMod val="75000"/>
                                </a:schemeClr>
                              </a:solidFill>
                              <a:latin typeface="Cambria Math" panose="02040503050406030204" pitchFamily="18" charset="0"/>
                            </a:rPr>
                            <m:t>𝑠</m:t>
                          </m:r>
                        </m:sub>
                      </m:sSub>
                    </m:oMath>
                  </a14:m>
                  <a:r>
                    <a:rPr kumimoji="1" lang="en-US" altLang="zh-TW" dirty="0">
                      <a:solidFill>
                        <a:schemeClr val="accent6">
                          <a:lumMod val="75000"/>
                        </a:schemeClr>
                      </a:solidFill>
                      <a:latin typeface="Times" pitchFamily="2" charset="0"/>
                    </a:rPr>
                    <a:t>, 1NT) = 2S </a:t>
                  </a:r>
                  <a:endParaRPr lang="zh-TW" altLang="en-US" dirty="0">
                    <a:solidFill>
                      <a:schemeClr val="accent6">
                        <a:lumMod val="75000"/>
                      </a:schemeClr>
                    </a:solidFill>
                  </a:endParaRPr>
                </a:p>
              </p:txBody>
            </p:sp>
          </mc:Choice>
          <mc:Fallback xmlns="">
            <p:sp>
              <p:nvSpPr>
                <p:cNvPr id="14" name="文字方塊 13">
                  <a:extLst>
                    <a:ext uri="{FF2B5EF4-FFF2-40B4-BE49-F238E27FC236}">
                      <a16:creationId xmlns:a16="http://schemas.microsoft.com/office/drawing/2014/main" id="{4AF06086-B043-214D-87AD-2DFA0FBA3A9E}"/>
                    </a:ext>
                  </a:extLst>
                </p:cNvPr>
                <p:cNvSpPr txBox="1">
                  <a:spLocks noRot="1" noChangeAspect="1" noMove="1" noResize="1" noEditPoints="1" noAdjustHandles="1" noChangeArrowheads="1" noChangeShapeType="1" noTextEdit="1"/>
                </p:cNvSpPr>
                <p:nvPr/>
              </p:nvSpPr>
              <p:spPr>
                <a:xfrm>
                  <a:off x="8737746" y="4898568"/>
                  <a:ext cx="2318640" cy="329913"/>
                </a:xfrm>
                <a:prstGeom prst="rect">
                  <a:avLst/>
                </a:prstGeom>
                <a:blipFill>
                  <a:blip r:embed="rId6"/>
                  <a:stretch>
                    <a:fillRect t="-6667" r="-1538" b="-23333"/>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13924108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FDF01EB-A175-3F4A-8121-EDA3DB55ADBC}"/>
              </a:ext>
            </a:extLst>
          </p:cNvPr>
          <p:cNvSpPr>
            <a:spLocks noGrp="1"/>
          </p:cNvSpPr>
          <p:nvPr>
            <p:ph type="title"/>
          </p:nvPr>
        </p:nvSpPr>
        <p:spPr/>
        <p:txBody>
          <a:bodyPr/>
          <a:lstStyle/>
          <a:p>
            <a:pPr algn="ctr"/>
            <a:r>
              <a:rPr lang="en" altLang="zh-TW" dirty="0">
                <a:latin typeface="Times" pitchFamily="2" charset="0"/>
              </a:rPr>
              <a:t>Contextual bandit problem</a:t>
            </a:r>
          </a:p>
        </p:txBody>
      </p:sp>
      <p:sp>
        <p:nvSpPr>
          <p:cNvPr id="8" name="投影片編號版面配置區 7">
            <a:extLst>
              <a:ext uri="{FF2B5EF4-FFF2-40B4-BE49-F238E27FC236}">
                <a16:creationId xmlns:a16="http://schemas.microsoft.com/office/drawing/2014/main" id="{2BEEE4AF-42D2-A240-92B5-9E2934625583}"/>
              </a:ext>
            </a:extLst>
          </p:cNvPr>
          <p:cNvSpPr>
            <a:spLocks noGrp="1"/>
          </p:cNvSpPr>
          <p:nvPr>
            <p:ph type="sldNum" sz="quarter" idx="12"/>
          </p:nvPr>
        </p:nvSpPr>
        <p:spPr/>
        <p:txBody>
          <a:bodyPr/>
          <a:lstStyle/>
          <a:p>
            <a:fld id="{D1303F21-0339-114F-A835-EDFAC68AEBBB}" type="slidenum">
              <a:rPr kumimoji="1" lang="zh-TW" altLang="en-US" smtClean="0"/>
              <a:t>5</a:t>
            </a:fld>
            <a:endParaRPr kumimoji="1" lang="zh-TW" altLang="en-US"/>
          </a:p>
        </p:txBody>
      </p:sp>
      <p:pic>
        <p:nvPicPr>
          <p:cNvPr id="13" name="圖片 12" descr="一張含有 文字, 室內 的圖片&#10;&#10;自動產生的描述">
            <a:extLst>
              <a:ext uri="{FF2B5EF4-FFF2-40B4-BE49-F238E27FC236}">
                <a16:creationId xmlns:a16="http://schemas.microsoft.com/office/drawing/2014/main" id="{055A70FC-CCFF-0E4D-9A32-F59E513039BA}"/>
              </a:ext>
            </a:extLst>
          </p:cNvPr>
          <p:cNvPicPr>
            <a:picLocks noChangeAspect="1"/>
          </p:cNvPicPr>
          <p:nvPr/>
        </p:nvPicPr>
        <p:blipFill>
          <a:blip r:embed="rId3"/>
          <a:stretch>
            <a:fillRect/>
          </a:stretch>
        </p:blipFill>
        <p:spPr>
          <a:xfrm>
            <a:off x="1355301" y="1935480"/>
            <a:ext cx="2611967" cy="3917950"/>
          </a:xfrm>
          <a:prstGeom prst="rect">
            <a:avLst/>
          </a:prstGeom>
        </p:spPr>
      </p:pic>
      <p:sp>
        <p:nvSpPr>
          <p:cNvPr id="76" name="文字方塊 75">
            <a:extLst>
              <a:ext uri="{FF2B5EF4-FFF2-40B4-BE49-F238E27FC236}">
                <a16:creationId xmlns:a16="http://schemas.microsoft.com/office/drawing/2014/main" id="{8A38B6E3-1D26-2746-B553-77DC147D8CD8}"/>
              </a:ext>
            </a:extLst>
          </p:cNvPr>
          <p:cNvSpPr txBox="1"/>
          <p:nvPr/>
        </p:nvSpPr>
        <p:spPr>
          <a:xfrm>
            <a:off x="9587377" y="3523329"/>
            <a:ext cx="1584088" cy="461665"/>
          </a:xfrm>
          <a:prstGeom prst="rect">
            <a:avLst/>
          </a:prstGeom>
          <a:noFill/>
        </p:spPr>
        <p:txBody>
          <a:bodyPr wrap="none" rtlCol="0">
            <a:spAutoFit/>
          </a:bodyPr>
          <a:lstStyle/>
          <a:p>
            <a:r>
              <a:rPr kumimoji="1" lang="en-US" altLang="zh-TW" sz="2400" dirty="0">
                <a:solidFill>
                  <a:schemeClr val="accent2">
                    <a:lumMod val="50000"/>
                  </a:schemeClr>
                </a:solidFill>
                <a:latin typeface="Times" pitchFamily="2" charset="0"/>
              </a:rPr>
              <a:t>exploration</a:t>
            </a:r>
            <a:endParaRPr kumimoji="1" lang="zh-TW" altLang="en-US" sz="2400" dirty="0">
              <a:solidFill>
                <a:schemeClr val="accent2">
                  <a:lumMod val="50000"/>
                </a:schemeClr>
              </a:solidFill>
              <a:latin typeface="Times" pitchFamily="2" charset="0"/>
            </a:endParaRPr>
          </a:p>
        </p:txBody>
      </p:sp>
      <p:sp>
        <p:nvSpPr>
          <p:cNvPr id="77" name="文字方塊 76">
            <a:extLst>
              <a:ext uri="{FF2B5EF4-FFF2-40B4-BE49-F238E27FC236}">
                <a16:creationId xmlns:a16="http://schemas.microsoft.com/office/drawing/2014/main" id="{FBD2E727-DDF3-2046-9D67-7A41E467DAB4}"/>
              </a:ext>
            </a:extLst>
          </p:cNvPr>
          <p:cNvSpPr txBox="1"/>
          <p:nvPr/>
        </p:nvSpPr>
        <p:spPr>
          <a:xfrm>
            <a:off x="6522090" y="5636997"/>
            <a:ext cx="1651414" cy="461665"/>
          </a:xfrm>
          <a:prstGeom prst="rect">
            <a:avLst/>
          </a:prstGeom>
          <a:noFill/>
        </p:spPr>
        <p:txBody>
          <a:bodyPr wrap="none" rtlCol="0">
            <a:spAutoFit/>
          </a:bodyPr>
          <a:lstStyle/>
          <a:p>
            <a:r>
              <a:rPr kumimoji="1" lang="en-US" altLang="zh-TW" sz="2400" dirty="0">
                <a:solidFill>
                  <a:schemeClr val="accent6">
                    <a:lumMod val="50000"/>
                  </a:schemeClr>
                </a:solidFill>
                <a:latin typeface="Times" pitchFamily="2" charset="0"/>
              </a:rPr>
              <a:t>exploitation</a:t>
            </a:r>
            <a:endParaRPr kumimoji="1" lang="zh-TW" altLang="en-US" sz="2400" dirty="0">
              <a:solidFill>
                <a:schemeClr val="accent6">
                  <a:lumMod val="50000"/>
                </a:schemeClr>
              </a:solidFill>
              <a:latin typeface="Times" pitchFamily="2" charset="0"/>
            </a:endParaRPr>
          </a:p>
        </p:txBody>
      </p:sp>
      <p:grpSp>
        <p:nvGrpSpPr>
          <p:cNvPr id="84" name="群組 83">
            <a:extLst>
              <a:ext uri="{FF2B5EF4-FFF2-40B4-BE49-F238E27FC236}">
                <a16:creationId xmlns:a16="http://schemas.microsoft.com/office/drawing/2014/main" id="{30FB9BCF-4CA8-F540-87C3-45D94DE49436}"/>
              </a:ext>
            </a:extLst>
          </p:cNvPr>
          <p:cNvGrpSpPr/>
          <p:nvPr/>
        </p:nvGrpSpPr>
        <p:grpSpPr>
          <a:xfrm>
            <a:off x="5167904" y="2339194"/>
            <a:ext cx="5694409" cy="3293256"/>
            <a:chOff x="5167904" y="2339194"/>
            <a:chExt cx="5694409" cy="3293256"/>
          </a:xfrm>
        </p:grpSpPr>
        <p:grpSp>
          <p:nvGrpSpPr>
            <p:cNvPr id="75" name="群組 74">
              <a:extLst>
                <a:ext uri="{FF2B5EF4-FFF2-40B4-BE49-F238E27FC236}">
                  <a16:creationId xmlns:a16="http://schemas.microsoft.com/office/drawing/2014/main" id="{8A6A9443-ACFF-CF42-8DF3-15198BBC0E8B}"/>
                </a:ext>
              </a:extLst>
            </p:cNvPr>
            <p:cNvGrpSpPr/>
            <p:nvPr/>
          </p:nvGrpSpPr>
          <p:grpSpPr>
            <a:xfrm>
              <a:off x="5212083" y="2339194"/>
              <a:ext cx="5650230" cy="3293256"/>
              <a:chOff x="4804410" y="1899794"/>
              <a:chExt cx="6252210" cy="3793616"/>
            </a:xfrm>
          </p:grpSpPr>
          <p:pic>
            <p:nvPicPr>
              <p:cNvPr id="18" name="圖形 17" descr="吃角子老虎 (輸) 以實心填滿">
                <a:extLst>
                  <a:ext uri="{FF2B5EF4-FFF2-40B4-BE49-F238E27FC236}">
                    <a16:creationId xmlns:a16="http://schemas.microsoft.com/office/drawing/2014/main" id="{32179178-8150-EC40-8818-955A419D2DB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804410" y="4093210"/>
                <a:ext cx="1600200" cy="1600200"/>
              </a:xfrm>
              <a:prstGeom prst="rect">
                <a:avLst/>
              </a:prstGeom>
            </p:spPr>
          </p:pic>
          <p:pic>
            <p:nvPicPr>
              <p:cNvPr id="49" name="圖形 48" descr="吃角子老虎 (輸) 以實心填滿">
                <a:extLst>
                  <a:ext uri="{FF2B5EF4-FFF2-40B4-BE49-F238E27FC236}">
                    <a16:creationId xmlns:a16="http://schemas.microsoft.com/office/drawing/2014/main" id="{536AFD7B-4B42-CA42-95A2-9B58E49B6F4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330315" y="4087972"/>
                <a:ext cx="1600200" cy="1600200"/>
              </a:xfrm>
              <a:prstGeom prst="rect">
                <a:avLst/>
              </a:prstGeom>
            </p:spPr>
          </p:pic>
          <p:pic>
            <p:nvPicPr>
              <p:cNvPr id="52" name="圖形 51" descr="吃角子老虎 (輸) 以實心填滿">
                <a:extLst>
                  <a:ext uri="{FF2B5EF4-FFF2-40B4-BE49-F238E27FC236}">
                    <a16:creationId xmlns:a16="http://schemas.microsoft.com/office/drawing/2014/main" id="{4898FF12-69F9-5A4F-AE27-C9278449E17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930515" y="4087972"/>
                <a:ext cx="1600200" cy="1600200"/>
              </a:xfrm>
              <a:prstGeom prst="rect">
                <a:avLst/>
              </a:prstGeom>
            </p:spPr>
          </p:pic>
          <p:pic>
            <p:nvPicPr>
              <p:cNvPr id="53" name="圖形 52" descr="吃角子老虎 (輸) 以實心填滿">
                <a:extLst>
                  <a:ext uri="{FF2B5EF4-FFF2-40B4-BE49-F238E27FC236}">
                    <a16:creationId xmlns:a16="http://schemas.microsoft.com/office/drawing/2014/main" id="{82915A0E-B647-5541-A547-64E98D22F5F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456420" y="4087972"/>
                <a:ext cx="1600200" cy="1600200"/>
              </a:xfrm>
              <a:prstGeom prst="rect">
                <a:avLst/>
              </a:prstGeom>
            </p:spPr>
          </p:pic>
          <p:pic>
            <p:nvPicPr>
              <p:cNvPr id="55" name="圖形 54" descr="機器人 以實心填滿">
                <a:extLst>
                  <a:ext uri="{FF2B5EF4-FFF2-40B4-BE49-F238E27FC236}">
                    <a16:creationId xmlns:a16="http://schemas.microsoft.com/office/drawing/2014/main" id="{87BA6E1E-4BBA-9445-A538-FD41D384A50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448550" y="1899794"/>
                <a:ext cx="1116458" cy="1116458"/>
              </a:xfrm>
              <a:prstGeom prst="rect">
                <a:avLst/>
              </a:prstGeom>
            </p:spPr>
          </p:pic>
          <p:cxnSp>
            <p:nvCxnSpPr>
              <p:cNvPr id="57" name="直線箭頭接點 56">
                <a:extLst>
                  <a:ext uri="{FF2B5EF4-FFF2-40B4-BE49-F238E27FC236}">
                    <a16:creationId xmlns:a16="http://schemas.microsoft.com/office/drawing/2014/main" id="{AAB65CF9-F1D8-754A-937E-CEF09519C81C}"/>
                  </a:ext>
                </a:extLst>
              </p:cNvPr>
              <p:cNvCxnSpPr>
                <a:cxnSpLocks/>
                <a:stCxn id="55" idx="2"/>
              </p:cNvCxnSpPr>
              <p:nvPr/>
            </p:nvCxnSpPr>
            <p:spPr>
              <a:xfrm flipH="1">
                <a:off x="6172200" y="3016251"/>
                <a:ext cx="1834579" cy="1601469"/>
              </a:xfrm>
              <a:prstGeom prst="straightConnector1">
                <a:avLst/>
              </a:prstGeom>
              <a:ln w="254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線箭頭接點 58">
                <a:extLst>
                  <a:ext uri="{FF2B5EF4-FFF2-40B4-BE49-F238E27FC236}">
                    <a16:creationId xmlns:a16="http://schemas.microsoft.com/office/drawing/2014/main" id="{A9BA7031-B0FD-FF4A-BFEB-AD5995D1169F}"/>
                  </a:ext>
                </a:extLst>
              </p:cNvPr>
              <p:cNvCxnSpPr>
                <a:cxnSpLocks/>
                <a:stCxn id="55" idx="2"/>
              </p:cNvCxnSpPr>
              <p:nvPr/>
            </p:nvCxnSpPr>
            <p:spPr>
              <a:xfrm flipH="1">
                <a:off x="7772400" y="3016251"/>
                <a:ext cx="234379" cy="1601469"/>
              </a:xfrm>
              <a:prstGeom prst="straightConnector1">
                <a:avLst/>
              </a:prstGeom>
              <a:ln w="254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線箭頭接點 64">
                <a:extLst>
                  <a:ext uri="{FF2B5EF4-FFF2-40B4-BE49-F238E27FC236}">
                    <a16:creationId xmlns:a16="http://schemas.microsoft.com/office/drawing/2014/main" id="{BA4AD061-A04D-7448-B5A1-DAB88FEEBFB2}"/>
                  </a:ext>
                </a:extLst>
              </p:cNvPr>
              <p:cNvCxnSpPr>
                <a:cxnSpLocks/>
                <a:stCxn id="55" idx="2"/>
              </p:cNvCxnSpPr>
              <p:nvPr/>
            </p:nvCxnSpPr>
            <p:spPr>
              <a:xfrm>
                <a:off x="8006779" y="3016251"/>
                <a:ext cx="1341056" cy="1601469"/>
              </a:xfrm>
              <a:prstGeom prst="straightConnector1">
                <a:avLst/>
              </a:prstGeom>
              <a:ln w="254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8" name="直線箭頭接點 67">
                <a:extLst>
                  <a:ext uri="{FF2B5EF4-FFF2-40B4-BE49-F238E27FC236}">
                    <a16:creationId xmlns:a16="http://schemas.microsoft.com/office/drawing/2014/main" id="{EA570EB8-9B37-D441-909D-CE2733FD8CB9}"/>
                  </a:ext>
                </a:extLst>
              </p:cNvPr>
              <p:cNvCxnSpPr>
                <a:cxnSpLocks/>
                <a:stCxn id="55" idx="2"/>
              </p:cNvCxnSpPr>
              <p:nvPr/>
            </p:nvCxnSpPr>
            <p:spPr>
              <a:xfrm>
                <a:off x="8006779" y="3016251"/>
                <a:ext cx="2829919" cy="1601469"/>
              </a:xfrm>
              <a:prstGeom prst="straightConnector1">
                <a:avLst/>
              </a:prstGeom>
              <a:ln w="254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79" name="文字方塊 78">
              <a:extLst>
                <a:ext uri="{FF2B5EF4-FFF2-40B4-BE49-F238E27FC236}">
                  <a16:creationId xmlns:a16="http://schemas.microsoft.com/office/drawing/2014/main" id="{878B1FBB-BA10-3C4A-BA4F-AFEA4F935C0F}"/>
                </a:ext>
              </a:extLst>
            </p:cNvPr>
            <p:cNvSpPr txBox="1"/>
            <p:nvPr/>
          </p:nvSpPr>
          <p:spPr>
            <a:xfrm>
              <a:off x="5167904" y="2659890"/>
              <a:ext cx="2611967" cy="400110"/>
            </a:xfrm>
            <a:prstGeom prst="rect">
              <a:avLst/>
            </a:prstGeom>
            <a:noFill/>
          </p:spPr>
          <p:txBody>
            <a:bodyPr wrap="square">
              <a:spAutoFit/>
            </a:bodyPr>
            <a:lstStyle/>
            <a:p>
              <a:r>
                <a:rPr lang="en" altLang="zh-TW" sz="2000" b="1" dirty="0">
                  <a:latin typeface="Times" pitchFamily="2" charset="0"/>
                </a:rPr>
                <a:t>Multi-armed bandit</a:t>
              </a:r>
              <a:endParaRPr lang="zh-TW" altLang="en-US" sz="2000" dirty="0"/>
            </a:p>
          </p:txBody>
        </p:sp>
      </p:grpSp>
      <p:sp>
        <p:nvSpPr>
          <p:cNvPr id="85" name="文字方塊 84">
            <a:extLst>
              <a:ext uri="{FF2B5EF4-FFF2-40B4-BE49-F238E27FC236}">
                <a16:creationId xmlns:a16="http://schemas.microsoft.com/office/drawing/2014/main" id="{0FCBEE9A-F7EB-6948-9A3E-F8041CD4BC74}"/>
              </a:ext>
            </a:extLst>
          </p:cNvPr>
          <p:cNvSpPr txBox="1"/>
          <p:nvPr/>
        </p:nvSpPr>
        <p:spPr>
          <a:xfrm>
            <a:off x="10275718" y="5667841"/>
            <a:ext cx="775696" cy="400110"/>
          </a:xfrm>
          <a:prstGeom prst="rect">
            <a:avLst/>
          </a:prstGeom>
          <a:noFill/>
        </p:spPr>
        <p:txBody>
          <a:bodyPr wrap="square">
            <a:spAutoFit/>
          </a:bodyPr>
          <a:lstStyle/>
          <a:p>
            <a:r>
              <a:rPr lang="en" altLang="zh-TW" sz="2000" b="1" dirty="0">
                <a:latin typeface="Times" pitchFamily="2" charset="0"/>
              </a:rPr>
              <a:t>M=4</a:t>
            </a:r>
            <a:endParaRPr lang="zh-TW" altLang="en-US" sz="2000" dirty="0"/>
          </a:p>
        </p:txBody>
      </p:sp>
    </p:spTree>
    <p:extLst>
      <p:ext uri="{BB962C8B-B14F-4D97-AF65-F5344CB8AC3E}">
        <p14:creationId xmlns:p14="http://schemas.microsoft.com/office/powerpoint/2010/main" val="5339644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FDF01EB-A175-3F4A-8121-EDA3DB55ADBC}"/>
              </a:ext>
            </a:extLst>
          </p:cNvPr>
          <p:cNvSpPr>
            <a:spLocks noGrp="1"/>
          </p:cNvSpPr>
          <p:nvPr>
            <p:ph type="title"/>
          </p:nvPr>
        </p:nvSpPr>
        <p:spPr/>
        <p:txBody>
          <a:bodyPr/>
          <a:lstStyle/>
          <a:p>
            <a:pPr algn="ctr"/>
            <a:r>
              <a:rPr lang="en" altLang="zh-TW" dirty="0">
                <a:latin typeface="Times" pitchFamily="2" charset="0"/>
              </a:rPr>
              <a:t>Multi-layer bandit model</a:t>
            </a:r>
          </a:p>
        </p:txBody>
      </p:sp>
      <p:sp>
        <p:nvSpPr>
          <p:cNvPr id="3" name="投影片編號版面配置區 2">
            <a:extLst>
              <a:ext uri="{FF2B5EF4-FFF2-40B4-BE49-F238E27FC236}">
                <a16:creationId xmlns:a16="http://schemas.microsoft.com/office/drawing/2014/main" id="{43DB67C9-58A9-6E42-A7A6-F8C007141253}"/>
              </a:ext>
            </a:extLst>
          </p:cNvPr>
          <p:cNvSpPr>
            <a:spLocks noGrp="1"/>
          </p:cNvSpPr>
          <p:nvPr>
            <p:ph type="sldNum" sz="quarter" idx="12"/>
          </p:nvPr>
        </p:nvSpPr>
        <p:spPr/>
        <p:txBody>
          <a:bodyPr/>
          <a:lstStyle/>
          <a:p>
            <a:fld id="{D1303F21-0339-114F-A835-EDFAC68AEBBB}" type="slidenum">
              <a:rPr kumimoji="1" lang="zh-TW" altLang="en-US" smtClean="0"/>
              <a:t>6</a:t>
            </a:fld>
            <a:endParaRPr kumimoji="1" lang="zh-TW" altLang="en-US"/>
          </a:p>
        </p:txBody>
      </p:sp>
      <p:grpSp>
        <p:nvGrpSpPr>
          <p:cNvPr id="30" name="群組 29">
            <a:extLst>
              <a:ext uri="{FF2B5EF4-FFF2-40B4-BE49-F238E27FC236}">
                <a16:creationId xmlns:a16="http://schemas.microsoft.com/office/drawing/2014/main" id="{160B77D3-4523-0E47-9688-340B87703BC1}"/>
              </a:ext>
            </a:extLst>
          </p:cNvPr>
          <p:cNvGrpSpPr/>
          <p:nvPr/>
        </p:nvGrpSpPr>
        <p:grpSpPr>
          <a:xfrm>
            <a:off x="416041" y="1690688"/>
            <a:ext cx="11102657" cy="4817983"/>
            <a:chOff x="416041" y="1690688"/>
            <a:chExt cx="11102657" cy="4817983"/>
          </a:xfrm>
        </p:grpSpPr>
        <p:grpSp>
          <p:nvGrpSpPr>
            <p:cNvPr id="29" name="群組 28">
              <a:extLst>
                <a:ext uri="{FF2B5EF4-FFF2-40B4-BE49-F238E27FC236}">
                  <a16:creationId xmlns:a16="http://schemas.microsoft.com/office/drawing/2014/main" id="{B928E373-77BF-514A-97CC-20FAB85C97B8}"/>
                </a:ext>
              </a:extLst>
            </p:cNvPr>
            <p:cNvGrpSpPr/>
            <p:nvPr/>
          </p:nvGrpSpPr>
          <p:grpSpPr>
            <a:xfrm>
              <a:off x="416041" y="1690688"/>
              <a:ext cx="11102657" cy="4817983"/>
              <a:chOff x="416041" y="1690688"/>
              <a:chExt cx="11102657" cy="4817983"/>
            </a:xfrm>
          </p:grpSpPr>
          <p:pic>
            <p:nvPicPr>
              <p:cNvPr id="4" name="圖片 3">
                <a:extLst>
                  <a:ext uri="{FF2B5EF4-FFF2-40B4-BE49-F238E27FC236}">
                    <a16:creationId xmlns:a16="http://schemas.microsoft.com/office/drawing/2014/main" id="{33F3DC94-2731-C149-B7B8-D661586A1501}"/>
                  </a:ext>
                </a:extLst>
              </p:cNvPr>
              <p:cNvPicPr>
                <a:picLocks noChangeAspect="1"/>
              </p:cNvPicPr>
              <p:nvPr/>
            </p:nvPicPr>
            <p:blipFill>
              <a:blip r:embed="rId2"/>
              <a:stretch>
                <a:fillRect/>
              </a:stretch>
            </p:blipFill>
            <p:spPr>
              <a:xfrm>
                <a:off x="2637931" y="1690688"/>
                <a:ext cx="6916137" cy="4817983"/>
              </a:xfrm>
              <a:prstGeom prst="rect">
                <a:avLst/>
              </a:prstGeom>
            </p:spPr>
          </p:pic>
          <p:sp>
            <p:nvSpPr>
              <p:cNvPr id="8" name="文字方塊 7">
                <a:extLst>
                  <a:ext uri="{FF2B5EF4-FFF2-40B4-BE49-F238E27FC236}">
                    <a16:creationId xmlns:a16="http://schemas.microsoft.com/office/drawing/2014/main" id="{2F420DC5-D982-BD4F-821D-ABB7EA3F357C}"/>
                  </a:ext>
                </a:extLst>
              </p:cNvPr>
              <p:cNvSpPr txBox="1"/>
              <p:nvPr/>
            </p:nvSpPr>
            <p:spPr>
              <a:xfrm>
                <a:off x="8821129" y="2089526"/>
                <a:ext cx="2697569" cy="400110"/>
              </a:xfrm>
              <a:prstGeom prst="rect">
                <a:avLst/>
              </a:prstGeom>
              <a:solidFill>
                <a:schemeClr val="accent6">
                  <a:lumMod val="20000"/>
                  <a:lumOff val="80000"/>
                </a:schemeClr>
              </a:solidFill>
            </p:spPr>
            <p:txBody>
              <a:bodyPr wrap="square" rtlCol="0">
                <a:spAutoFit/>
              </a:bodyPr>
              <a:lstStyle/>
              <a:p>
                <a:r>
                  <a:rPr kumimoji="1" lang="en-US" altLang="zh-TW" sz="2000" b="1" dirty="0">
                    <a:solidFill>
                      <a:schemeClr val="accent6">
                        <a:lumMod val="50000"/>
                      </a:schemeClr>
                    </a:solidFill>
                    <a:latin typeface="Times" pitchFamily="2" charset="0"/>
                  </a:rPr>
                  <a:t>bidding node V(b, g)</a:t>
                </a:r>
                <a:endParaRPr kumimoji="1" lang="zh-TW" altLang="en-US" sz="2000" b="1" dirty="0">
                  <a:solidFill>
                    <a:schemeClr val="accent6">
                      <a:lumMod val="50000"/>
                    </a:schemeClr>
                  </a:solidFill>
                  <a:latin typeface="Times" pitchFamily="2" charset="0"/>
                </a:endParaRPr>
              </a:p>
            </p:txBody>
          </p:sp>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BE182E42-70C2-4C43-93D9-BD2B5EEC64EA}"/>
                      </a:ext>
                    </a:extLst>
                  </p:cNvPr>
                  <p:cNvSpPr txBox="1"/>
                  <p:nvPr/>
                </p:nvSpPr>
                <p:spPr>
                  <a:xfrm>
                    <a:off x="5654335" y="2140762"/>
                    <a:ext cx="1513684" cy="400110"/>
                  </a:xfrm>
                  <a:prstGeom prst="rect">
                    <a:avLst/>
                  </a:prstGeom>
                  <a:noFill/>
                </p:spPr>
                <p:txBody>
                  <a:bodyPr wrap="none" rtlCol="0">
                    <a:spAutoFit/>
                  </a:bodyPr>
                  <a:lstStyle/>
                  <a:p>
                    <a:r>
                      <a:rPr kumimoji="1" lang="en-US" altLang="zh-TW" sz="2000" dirty="0">
                        <a:solidFill>
                          <a:schemeClr val="accent5">
                            <a:lumMod val="75000"/>
                          </a:schemeClr>
                        </a:solidFill>
                        <a:latin typeface="Times" pitchFamily="2" charset="0"/>
                      </a:rPr>
                      <a:t>Input </a:t>
                    </a:r>
                    <a14:m>
                      <m:oMath xmlns:m="http://schemas.openxmlformats.org/officeDocument/2006/math">
                        <m:sSub>
                          <m:sSubPr>
                            <m:ctrlPr>
                              <a:rPr kumimoji="1" lang="en-US" altLang="zh-TW" sz="2000" i="1" smtClean="0">
                                <a:solidFill>
                                  <a:schemeClr val="accent5">
                                    <a:lumMod val="75000"/>
                                  </a:schemeClr>
                                </a:solidFill>
                                <a:latin typeface="Cambria Math" panose="02040503050406030204" pitchFamily="18" charset="0"/>
                              </a:rPr>
                            </m:ctrlPr>
                          </m:sSubPr>
                          <m:e>
                            <m:r>
                              <a:rPr kumimoji="1" lang="en-US" altLang="zh-TW" sz="2000" b="0" i="1" smtClean="0">
                                <a:solidFill>
                                  <a:schemeClr val="accent5">
                                    <a:lumMod val="75000"/>
                                  </a:schemeClr>
                                </a:solidFill>
                                <a:latin typeface="Cambria Math" panose="02040503050406030204" pitchFamily="18" charset="0"/>
                              </a:rPr>
                              <m:t>𝑥</m:t>
                            </m:r>
                          </m:e>
                          <m:sub>
                            <m:r>
                              <a:rPr kumimoji="1" lang="en-US" altLang="zh-TW" sz="2000" b="0" i="1" smtClean="0">
                                <a:solidFill>
                                  <a:schemeClr val="accent5">
                                    <a:lumMod val="75000"/>
                                  </a:schemeClr>
                                </a:solidFill>
                                <a:latin typeface="Cambria Math" panose="02040503050406030204" pitchFamily="18" charset="0"/>
                              </a:rPr>
                              <m:t>𝑛</m:t>
                            </m:r>
                          </m:sub>
                        </m:sSub>
                      </m:oMath>
                    </a14:m>
                    <a:r>
                      <a:rPr kumimoji="1" lang="en-US" altLang="zh-TW" sz="2000" dirty="0">
                        <a:solidFill>
                          <a:schemeClr val="accent5">
                            <a:lumMod val="75000"/>
                          </a:schemeClr>
                        </a:solidFill>
                        <a:latin typeface="Times" pitchFamily="2" charset="0"/>
                      </a:rPr>
                      <a:t> to g</a:t>
                    </a:r>
                    <a:endParaRPr kumimoji="1" lang="zh-TW" altLang="en-US" sz="2000" dirty="0">
                      <a:solidFill>
                        <a:schemeClr val="accent5">
                          <a:lumMod val="75000"/>
                        </a:schemeClr>
                      </a:solidFill>
                      <a:latin typeface="Times" pitchFamily="2" charset="0"/>
                    </a:endParaRPr>
                  </a:p>
                </p:txBody>
              </p:sp>
            </mc:Choice>
            <mc:Fallback xmlns="">
              <p:sp>
                <p:nvSpPr>
                  <p:cNvPr id="6" name="文字方塊 5">
                    <a:extLst>
                      <a:ext uri="{FF2B5EF4-FFF2-40B4-BE49-F238E27FC236}">
                        <a16:creationId xmlns:a16="http://schemas.microsoft.com/office/drawing/2014/main" id="{BE182E42-70C2-4C43-93D9-BD2B5EEC64EA}"/>
                      </a:ext>
                    </a:extLst>
                  </p:cNvPr>
                  <p:cNvSpPr txBox="1">
                    <a:spLocks noRot="1" noChangeAspect="1" noMove="1" noResize="1" noEditPoints="1" noAdjustHandles="1" noChangeArrowheads="1" noChangeShapeType="1" noTextEdit="1"/>
                  </p:cNvSpPr>
                  <p:nvPr/>
                </p:nvSpPr>
                <p:spPr>
                  <a:xfrm>
                    <a:off x="5654335" y="2140762"/>
                    <a:ext cx="1513684" cy="400110"/>
                  </a:xfrm>
                  <a:prstGeom prst="rect">
                    <a:avLst/>
                  </a:prstGeom>
                  <a:blipFill>
                    <a:blip r:embed="rId3"/>
                    <a:stretch>
                      <a:fillRect l="-4167" t="-6061" r="-3333" b="-24242"/>
                    </a:stretch>
                  </a:blipFill>
                </p:spPr>
                <p:txBody>
                  <a:bodyPr/>
                  <a:lstStyle/>
                  <a:p>
                    <a:r>
                      <a:rPr lang="zh-TW" altLang="en-US">
                        <a:noFill/>
                      </a:rPr>
                      <a:t> </a:t>
                    </a:r>
                  </a:p>
                </p:txBody>
              </p:sp>
            </mc:Fallback>
          </mc:AlternateContent>
          <p:sp>
            <p:nvSpPr>
              <p:cNvPr id="7" name="文字方塊 6">
                <a:extLst>
                  <a:ext uri="{FF2B5EF4-FFF2-40B4-BE49-F238E27FC236}">
                    <a16:creationId xmlns:a16="http://schemas.microsoft.com/office/drawing/2014/main" id="{FFFCF87B-B83E-2C40-81BD-C295C4948168}"/>
                  </a:ext>
                </a:extLst>
              </p:cNvPr>
              <p:cNvSpPr txBox="1"/>
              <p:nvPr/>
            </p:nvSpPr>
            <p:spPr>
              <a:xfrm>
                <a:off x="416041" y="3299946"/>
                <a:ext cx="2767104" cy="400110"/>
              </a:xfrm>
              <a:prstGeom prst="rect">
                <a:avLst/>
              </a:prstGeom>
              <a:solidFill>
                <a:schemeClr val="accent2">
                  <a:lumMod val="20000"/>
                  <a:lumOff val="80000"/>
                </a:schemeClr>
              </a:solidFill>
            </p:spPr>
            <p:txBody>
              <a:bodyPr wrap="none" rtlCol="0">
                <a:spAutoFit/>
              </a:bodyPr>
              <a:lstStyle/>
              <a:p>
                <a:pPr algn="ctr"/>
                <a:r>
                  <a:rPr kumimoji="1" lang="en-US" altLang="zh-TW" sz="2000" dirty="0">
                    <a:solidFill>
                      <a:srgbClr val="C00000"/>
                    </a:solidFill>
                    <a:latin typeface="Times" pitchFamily="2" charset="0"/>
                  </a:rPr>
                  <a:t>the prediction of g = b[1]</a:t>
                </a:r>
                <a:endParaRPr kumimoji="1" lang="zh-TW" altLang="en-US" sz="2000" dirty="0">
                  <a:solidFill>
                    <a:srgbClr val="C00000"/>
                  </a:solidFill>
                  <a:latin typeface="Times" pitchFamily="2" charset="0"/>
                </a:endParaRPr>
              </a:p>
            </p:txBody>
          </p:sp>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965A4AEE-1972-8449-9CC7-1B168BED67A1}"/>
                      </a:ext>
                    </a:extLst>
                  </p:cNvPr>
                  <p:cNvSpPr txBox="1"/>
                  <p:nvPr/>
                </p:nvSpPr>
                <p:spPr>
                  <a:xfrm>
                    <a:off x="1728749" y="2089824"/>
                    <a:ext cx="2187931" cy="400110"/>
                  </a:xfrm>
                  <a:prstGeom prst="rect">
                    <a:avLst/>
                  </a:prstGeom>
                  <a:solidFill>
                    <a:schemeClr val="accent3">
                      <a:lumMod val="20000"/>
                      <a:lumOff val="80000"/>
                    </a:schemeClr>
                  </a:solidFill>
                </p:spPr>
                <p:txBody>
                  <a:bodyPr wrap="square">
                    <a:spAutoFit/>
                  </a:bodyPr>
                  <a:lstStyle/>
                  <a:p>
                    <a:pPr algn="ctr"/>
                    <a:r>
                      <a:rPr kumimoji="1" lang="en-US" altLang="zh-TW" sz="2000" dirty="0">
                        <a:latin typeface="Times" pitchFamily="2" charset="0"/>
                      </a:rPr>
                      <a:t>root node: g(</a:t>
                    </a:r>
                    <a14:m>
                      <m:oMath xmlns:m="http://schemas.openxmlformats.org/officeDocument/2006/math">
                        <m:sSub>
                          <m:sSubPr>
                            <m:ctrlPr>
                              <a:rPr lang="en" altLang="zh-TW" sz="2000" i="1" smtClean="0">
                                <a:latin typeface="Cambria Math" panose="02040503050406030204" pitchFamily="18" charset="0"/>
                              </a:rPr>
                            </m:ctrlPr>
                          </m:sSubPr>
                          <m:e>
                            <m:r>
                              <a:rPr lang="en-US" altLang="zh-TW" sz="2000" b="0" i="1" smtClean="0">
                                <a:latin typeface="Cambria Math" panose="02040503050406030204" pitchFamily="18" charset="0"/>
                              </a:rPr>
                              <m:t>𝑋</m:t>
                            </m:r>
                          </m:e>
                          <m:sub>
                            <m:r>
                              <a:rPr lang="en-US" altLang="zh-TW" sz="2000" b="0" i="1" smtClean="0">
                                <a:latin typeface="Cambria Math" panose="02040503050406030204" pitchFamily="18" charset="0"/>
                              </a:rPr>
                              <m:t>𝑛</m:t>
                            </m:r>
                          </m:sub>
                        </m:sSub>
                      </m:oMath>
                    </a14:m>
                    <a:r>
                      <a:rPr kumimoji="1" lang="en-US" altLang="zh-TW" sz="2000" dirty="0">
                        <a:latin typeface="Times" pitchFamily="2" charset="0"/>
                      </a:rPr>
                      <a:t>, ∅) </a:t>
                    </a:r>
                    <a:endParaRPr lang="zh-TW" altLang="en-US" sz="2000" dirty="0"/>
                  </a:p>
                </p:txBody>
              </p:sp>
            </mc:Choice>
            <mc:Fallback xmlns="">
              <p:sp>
                <p:nvSpPr>
                  <p:cNvPr id="10" name="文字方塊 9">
                    <a:extLst>
                      <a:ext uri="{FF2B5EF4-FFF2-40B4-BE49-F238E27FC236}">
                        <a16:creationId xmlns:a16="http://schemas.microsoft.com/office/drawing/2014/main" id="{965A4AEE-1972-8449-9CC7-1B168BED67A1}"/>
                      </a:ext>
                    </a:extLst>
                  </p:cNvPr>
                  <p:cNvSpPr txBox="1">
                    <a:spLocks noRot="1" noChangeAspect="1" noMove="1" noResize="1" noEditPoints="1" noAdjustHandles="1" noChangeArrowheads="1" noChangeShapeType="1" noTextEdit="1"/>
                  </p:cNvSpPr>
                  <p:nvPr/>
                </p:nvSpPr>
                <p:spPr>
                  <a:xfrm>
                    <a:off x="1728749" y="2089824"/>
                    <a:ext cx="2187931" cy="400110"/>
                  </a:xfrm>
                  <a:prstGeom prst="rect">
                    <a:avLst/>
                  </a:prstGeom>
                  <a:blipFill>
                    <a:blip r:embed="rId4"/>
                    <a:stretch>
                      <a:fillRect l="-2312" t="-12500" r="-4624" b="-28125"/>
                    </a:stretch>
                  </a:blipFill>
                </p:spPr>
                <p:txBody>
                  <a:bodyPr/>
                  <a:lstStyle/>
                  <a:p>
                    <a:r>
                      <a:rPr lang="zh-TW" altLang="en-US">
                        <a:noFill/>
                      </a:rPr>
                      <a:t> </a:t>
                    </a:r>
                  </a:p>
                </p:txBody>
              </p:sp>
            </mc:Fallback>
          </mc:AlternateContent>
        </p:grpSp>
        <p:cxnSp>
          <p:nvCxnSpPr>
            <p:cNvPr id="14" name="曲線接點 13">
              <a:extLst>
                <a:ext uri="{FF2B5EF4-FFF2-40B4-BE49-F238E27FC236}">
                  <a16:creationId xmlns:a16="http://schemas.microsoft.com/office/drawing/2014/main" id="{C309B8A0-CF4E-B443-BF34-B533C05C8499}"/>
                </a:ext>
              </a:extLst>
            </p:cNvPr>
            <p:cNvCxnSpPr>
              <a:cxnSpLocks/>
              <a:stCxn id="6" idx="0"/>
            </p:cNvCxnSpPr>
            <p:nvPr/>
          </p:nvCxnSpPr>
          <p:spPr>
            <a:xfrm rot="16200000" flipH="1" flipV="1">
              <a:off x="5750085" y="1609668"/>
              <a:ext cx="129998" cy="1192186"/>
            </a:xfrm>
            <a:prstGeom prst="curvedConnector4">
              <a:avLst>
                <a:gd name="adj1" fmla="val -351698"/>
                <a:gd name="adj2" fmla="val 57454"/>
              </a:avLst>
            </a:prstGeom>
            <a:ln w="34925">
              <a:solidFill>
                <a:schemeClr val="accent5">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1" name="文字方塊 30">
                <a:extLst>
                  <a:ext uri="{FF2B5EF4-FFF2-40B4-BE49-F238E27FC236}">
                    <a16:creationId xmlns:a16="http://schemas.microsoft.com/office/drawing/2014/main" id="{61CFABFE-BC04-4C4F-B759-C37579B1F853}"/>
                  </a:ext>
                </a:extLst>
              </p:cNvPr>
              <p:cNvSpPr txBox="1"/>
              <p:nvPr/>
            </p:nvSpPr>
            <p:spPr>
              <a:xfrm>
                <a:off x="9442118" y="5801652"/>
                <a:ext cx="1011815" cy="338554"/>
              </a:xfrm>
              <a:prstGeom prst="rect">
                <a:avLst/>
              </a:prstGeom>
              <a:noFill/>
            </p:spPr>
            <p:txBody>
              <a:bodyPr wrap="none" rtlCol="0">
                <a:spAutoFit/>
              </a:bodyPr>
              <a:lstStyle/>
              <a:p>
                <a:r>
                  <a:rPr kumimoji="1" lang="en-US" altLang="zh-TW" sz="1600" dirty="0">
                    <a:solidFill>
                      <a:schemeClr val="accent6">
                        <a:lumMod val="50000"/>
                      </a:schemeClr>
                    </a:solidFill>
                    <a:latin typeface="Times" pitchFamily="2" charset="0"/>
                  </a:rPr>
                  <a:t>M=2, </a:t>
                </a:r>
                <a14:m>
                  <m:oMath xmlns:m="http://schemas.openxmlformats.org/officeDocument/2006/math">
                    <m:r>
                      <a:rPr kumimoji="1" lang="en-US" altLang="zh-TW" sz="1600" i="1" smtClean="0">
                        <a:solidFill>
                          <a:schemeClr val="accent6">
                            <a:lumMod val="50000"/>
                          </a:schemeClr>
                        </a:solidFill>
                        <a:latin typeface="Cambria Math" panose="02040503050406030204" pitchFamily="18" charset="0"/>
                        <a:ea typeface="Cambria Math" panose="02040503050406030204" pitchFamily="18" charset="0"/>
                      </a:rPr>
                      <m:t>ℓ</m:t>
                    </m:r>
                  </m:oMath>
                </a14:m>
                <a:r>
                  <a:rPr kumimoji="1" lang="en-US" altLang="zh-TW" sz="1600" dirty="0">
                    <a:solidFill>
                      <a:schemeClr val="accent6">
                        <a:lumMod val="50000"/>
                      </a:schemeClr>
                    </a:solidFill>
                    <a:latin typeface="Times" pitchFamily="2" charset="0"/>
                  </a:rPr>
                  <a:t>=3</a:t>
                </a:r>
                <a:endParaRPr kumimoji="1" lang="zh-TW" altLang="en-US" sz="1600" dirty="0">
                  <a:solidFill>
                    <a:schemeClr val="accent6">
                      <a:lumMod val="50000"/>
                    </a:schemeClr>
                  </a:solidFill>
                  <a:latin typeface="Times" pitchFamily="2" charset="0"/>
                </a:endParaRPr>
              </a:p>
            </p:txBody>
          </p:sp>
        </mc:Choice>
        <mc:Fallback xmlns="">
          <p:sp>
            <p:nvSpPr>
              <p:cNvPr id="31" name="文字方塊 30">
                <a:extLst>
                  <a:ext uri="{FF2B5EF4-FFF2-40B4-BE49-F238E27FC236}">
                    <a16:creationId xmlns:a16="http://schemas.microsoft.com/office/drawing/2014/main" id="{61CFABFE-BC04-4C4F-B759-C37579B1F853}"/>
                  </a:ext>
                </a:extLst>
              </p:cNvPr>
              <p:cNvSpPr txBox="1">
                <a:spLocks noRot="1" noChangeAspect="1" noMove="1" noResize="1" noEditPoints="1" noAdjustHandles="1" noChangeArrowheads="1" noChangeShapeType="1" noTextEdit="1"/>
              </p:cNvSpPr>
              <p:nvPr/>
            </p:nvSpPr>
            <p:spPr>
              <a:xfrm>
                <a:off x="9442118" y="5801652"/>
                <a:ext cx="1011815" cy="338554"/>
              </a:xfrm>
              <a:prstGeom prst="rect">
                <a:avLst/>
              </a:prstGeom>
              <a:blipFill>
                <a:blip r:embed="rId6"/>
                <a:stretch>
                  <a:fillRect l="-2469" r="-2469" b="-2500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9231084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FDF01EB-A175-3F4A-8121-EDA3DB55ADBC}"/>
              </a:ext>
            </a:extLst>
          </p:cNvPr>
          <p:cNvSpPr>
            <a:spLocks noGrp="1"/>
          </p:cNvSpPr>
          <p:nvPr>
            <p:ph type="title"/>
          </p:nvPr>
        </p:nvSpPr>
        <p:spPr/>
        <p:txBody>
          <a:bodyPr/>
          <a:lstStyle/>
          <a:p>
            <a:pPr algn="ctr"/>
            <a:r>
              <a:rPr lang="en" altLang="zh-TW" dirty="0">
                <a:latin typeface="Times" pitchFamily="2" charset="0"/>
              </a:rPr>
              <a:t>Multi-layer bandit model</a:t>
            </a:r>
          </a:p>
        </p:txBody>
      </p:sp>
      <p:sp>
        <p:nvSpPr>
          <p:cNvPr id="3" name="投影片編號版面配置區 2">
            <a:extLst>
              <a:ext uri="{FF2B5EF4-FFF2-40B4-BE49-F238E27FC236}">
                <a16:creationId xmlns:a16="http://schemas.microsoft.com/office/drawing/2014/main" id="{43DB67C9-58A9-6E42-A7A6-F8C007141253}"/>
              </a:ext>
            </a:extLst>
          </p:cNvPr>
          <p:cNvSpPr>
            <a:spLocks noGrp="1"/>
          </p:cNvSpPr>
          <p:nvPr>
            <p:ph type="sldNum" sz="quarter" idx="12"/>
          </p:nvPr>
        </p:nvSpPr>
        <p:spPr/>
        <p:txBody>
          <a:bodyPr/>
          <a:lstStyle/>
          <a:p>
            <a:fld id="{D1303F21-0339-114F-A835-EDFAC68AEBBB}" type="slidenum">
              <a:rPr kumimoji="1" lang="zh-TW" altLang="en-US" smtClean="0"/>
              <a:t>7</a:t>
            </a:fld>
            <a:endParaRPr kumimoji="1" lang="zh-TW" altLang="en-US"/>
          </a:p>
        </p:txBody>
      </p:sp>
      <p:grpSp>
        <p:nvGrpSpPr>
          <p:cNvPr id="30" name="群組 29">
            <a:extLst>
              <a:ext uri="{FF2B5EF4-FFF2-40B4-BE49-F238E27FC236}">
                <a16:creationId xmlns:a16="http://schemas.microsoft.com/office/drawing/2014/main" id="{160B77D3-4523-0E47-9688-340B87703BC1}"/>
              </a:ext>
            </a:extLst>
          </p:cNvPr>
          <p:cNvGrpSpPr/>
          <p:nvPr/>
        </p:nvGrpSpPr>
        <p:grpSpPr>
          <a:xfrm>
            <a:off x="1127000" y="1690688"/>
            <a:ext cx="10391698" cy="4817983"/>
            <a:chOff x="1127000" y="1690688"/>
            <a:chExt cx="10391698" cy="4817983"/>
          </a:xfrm>
        </p:grpSpPr>
        <p:grpSp>
          <p:nvGrpSpPr>
            <p:cNvPr id="29" name="群組 28">
              <a:extLst>
                <a:ext uri="{FF2B5EF4-FFF2-40B4-BE49-F238E27FC236}">
                  <a16:creationId xmlns:a16="http://schemas.microsoft.com/office/drawing/2014/main" id="{B928E373-77BF-514A-97CC-20FAB85C97B8}"/>
                </a:ext>
              </a:extLst>
            </p:cNvPr>
            <p:cNvGrpSpPr/>
            <p:nvPr/>
          </p:nvGrpSpPr>
          <p:grpSpPr>
            <a:xfrm>
              <a:off x="1127000" y="1690688"/>
              <a:ext cx="10391698" cy="4817983"/>
              <a:chOff x="1127000" y="1690688"/>
              <a:chExt cx="10391698" cy="4817983"/>
            </a:xfrm>
          </p:grpSpPr>
          <p:pic>
            <p:nvPicPr>
              <p:cNvPr id="4" name="圖片 3">
                <a:extLst>
                  <a:ext uri="{FF2B5EF4-FFF2-40B4-BE49-F238E27FC236}">
                    <a16:creationId xmlns:a16="http://schemas.microsoft.com/office/drawing/2014/main" id="{33F3DC94-2731-C149-B7B8-D661586A1501}"/>
                  </a:ext>
                </a:extLst>
              </p:cNvPr>
              <p:cNvPicPr>
                <a:picLocks noChangeAspect="1"/>
              </p:cNvPicPr>
              <p:nvPr/>
            </p:nvPicPr>
            <p:blipFill>
              <a:blip r:embed="rId2"/>
              <a:stretch>
                <a:fillRect/>
              </a:stretch>
            </p:blipFill>
            <p:spPr>
              <a:xfrm>
                <a:off x="2637931" y="1690688"/>
                <a:ext cx="6916137" cy="4817983"/>
              </a:xfrm>
              <a:prstGeom prst="rect">
                <a:avLst/>
              </a:prstGeom>
            </p:spPr>
          </p:pic>
          <p:sp>
            <p:nvSpPr>
              <p:cNvPr id="8" name="文字方塊 7">
                <a:extLst>
                  <a:ext uri="{FF2B5EF4-FFF2-40B4-BE49-F238E27FC236}">
                    <a16:creationId xmlns:a16="http://schemas.microsoft.com/office/drawing/2014/main" id="{2F420DC5-D982-BD4F-821D-ABB7EA3F357C}"/>
                  </a:ext>
                </a:extLst>
              </p:cNvPr>
              <p:cNvSpPr txBox="1"/>
              <p:nvPr/>
            </p:nvSpPr>
            <p:spPr>
              <a:xfrm>
                <a:off x="8821129" y="2089526"/>
                <a:ext cx="2697569" cy="400110"/>
              </a:xfrm>
              <a:prstGeom prst="rect">
                <a:avLst/>
              </a:prstGeom>
              <a:solidFill>
                <a:schemeClr val="accent6">
                  <a:lumMod val="20000"/>
                  <a:lumOff val="80000"/>
                </a:schemeClr>
              </a:solidFill>
            </p:spPr>
            <p:txBody>
              <a:bodyPr wrap="square" rtlCol="0">
                <a:spAutoFit/>
              </a:bodyPr>
              <a:lstStyle/>
              <a:p>
                <a:r>
                  <a:rPr kumimoji="1" lang="en-US" altLang="zh-TW" sz="2000" b="1" dirty="0">
                    <a:solidFill>
                      <a:schemeClr val="accent6">
                        <a:lumMod val="50000"/>
                      </a:schemeClr>
                    </a:solidFill>
                    <a:latin typeface="Times" pitchFamily="2" charset="0"/>
                  </a:rPr>
                  <a:t>bidding node V(b, g)</a:t>
                </a:r>
                <a:endParaRPr kumimoji="1" lang="zh-TW" altLang="en-US" sz="2000" b="1" dirty="0">
                  <a:solidFill>
                    <a:schemeClr val="accent6">
                      <a:lumMod val="50000"/>
                    </a:schemeClr>
                  </a:solidFill>
                  <a:latin typeface="Times" pitchFamily="2" charset="0"/>
                </a:endParaRPr>
              </a:p>
            </p:txBody>
          </p:sp>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BE182E42-70C2-4C43-93D9-BD2B5EEC64EA}"/>
                      </a:ext>
                    </a:extLst>
                  </p:cNvPr>
                  <p:cNvSpPr txBox="1"/>
                  <p:nvPr/>
                </p:nvSpPr>
                <p:spPr>
                  <a:xfrm>
                    <a:off x="5654335" y="2140762"/>
                    <a:ext cx="1513684" cy="400110"/>
                  </a:xfrm>
                  <a:prstGeom prst="rect">
                    <a:avLst/>
                  </a:prstGeom>
                  <a:noFill/>
                </p:spPr>
                <p:txBody>
                  <a:bodyPr wrap="none" rtlCol="0">
                    <a:spAutoFit/>
                  </a:bodyPr>
                  <a:lstStyle/>
                  <a:p>
                    <a:r>
                      <a:rPr kumimoji="1" lang="en-US" altLang="zh-TW" sz="2000" dirty="0">
                        <a:solidFill>
                          <a:schemeClr val="accent5">
                            <a:lumMod val="75000"/>
                          </a:schemeClr>
                        </a:solidFill>
                        <a:latin typeface="Times" pitchFamily="2" charset="0"/>
                      </a:rPr>
                      <a:t>Input </a:t>
                    </a:r>
                    <a14:m>
                      <m:oMath xmlns:m="http://schemas.openxmlformats.org/officeDocument/2006/math">
                        <m:sSub>
                          <m:sSubPr>
                            <m:ctrlPr>
                              <a:rPr kumimoji="1" lang="en-US" altLang="zh-TW" sz="2000" i="1" smtClean="0">
                                <a:solidFill>
                                  <a:schemeClr val="accent5">
                                    <a:lumMod val="75000"/>
                                  </a:schemeClr>
                                </a:solidFill>
                                <a:latin typeface="Cambria Math" panose="02040503050406030204" pitchFamily="18" charset="0"/>
                              </a:rPr>
                            </m:ctrlPr>
                          </m:sSubPr>
                          <m:e>
                            <m:r>
                              <a:rPr kumimoji="1" lang="en-US" altLang="zh-TW" sz="2000" b="0" i="1" smtClean="0">
                                <a:solidFill>
                                  <a:schemeClr val="accent5">
                                    <a:lumMod val="75000"/>
                                  </a:schemeClr>
                                </a:solidFill>
                                <a:latin typeface="Cambria Math" panose="02040503050406030204" pitchFamily="18" charset="0"/>
                              </a:rPr>
                              <m:t>𝑥</m:t>
                            </m:r>
                          </m:e>
                          <m:sub>
                            <m:r>
                              <a:rPr kumimoji="1" lang="en-US" altLang="zh-TW" sz="2000" b="0" i="1" smtClean="0">
                                <a:solidFill>
                                  <a:schemeClr val="accent5">
                                    <a:lumMod val="75000"/>
                                  </a:schemeClr>
                                </a:solidFill>
                                <a:latin typeface="Cambria Math" panose="02040503050406030204" pitchFamily="18" charset="0"/>
                              </a:rPr>
                              <m:t>𝑛</m:t>
                            </m:r>
                          </m:sub>
                        </m:sSub>
                      </m:oMath>
                    </a14:m>
                    <a:r>
                      <a:rPr kumimoji="1" lang="en-US" altLang="zh-TW" sz="2000" dirty="0">
                        <a:solidFill>
                          <a:schemeClr val="accent5">
                            <a:lumMod val="75000"/>
                          </a:schemeClr>
                        </a:solidFill>
                        <a:latin typeface="Times" pitchFamily="2" charset="0"/>
                      </a:rPr>
                      <a:t> to g</a:t>
                    </a:r>
                    <a:endParaRPr kumimoji="1" lang="zh-TW" altLang="en-US" sz="2000" dirty="0">
                      <a:solidFill>
                        <a:schemeClr val="accent5">
                          <a:lumMod val="75000"/>
                        </a:schemeClr>
                      </a:solidFill>
                      <a:latin typeface="Times" pitchFamily="2" charset="0"/>
                    </a:endParaRPr>
                  </a:p>
                </p:txBody>
              </p:sp>
            </mc:Choice>
            <mc:Fallback xmlns="">
              <p:sp>
                <p:nvSpPr>
                  <p:cNvPr id="6" name="文字方塊 5">
                    <a:extLst>
                      <a:ext uri="{FF2B5EF4-FFF2-40B4-BE49-F238E27FC236}">
                        <a16:creationId xmlns:a16="http://schemas.microsoft.com/office/drawing/2014/main" id="{BE182E42-70C2-4C43-93D9-BD2B5EEC64EA}"/>
                      </a:ext>
                    </a:extLst>
                  </p:cNvPr>
                  <p:cNvSpPr txBox="1">
                    <a:spLocks noRot="1" noChangeAspect="1" noMove="1" noResize="1" noEditPoints="1" noAdjustHandles="1" noChangeArrowheads="1" noChangeShapeType="1" noTextEdit="1"/>
                  </p:cNvSpPr>
                  <p:nvPr/>
                </p:nvSpPr>
                <p:spPr>
                  <a:xfrm>
                    <a:off x="5654335" y="2140762"/>
                    <a:ext cx="1513684" cy="400110"/>
                  </a:xfrm>
                  <a:prstGeom prst="rect">
                    <a:avLst/>
                  </a:prstGeom>
                  <a:blipFill>
                    <a:blip r:embed="rId3"/>
                    <a:stretch>
                      <a:fillRect l="-4167" t="-6061" r="-3333" b="-2424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E805971A-822F-FD4C-A5B7-29DEBF6AD687}"/>
                      </a:ext>
                    </a:extLst>
                  </p:cNvPr>
                  <p:cNvSpPr txBox="1"/>
                  <p:nvPr/>
                </p:nvSpPr>
                <p:spPr>
                  <a:xfrm>
                    <a:off x="4226034" y="3700056"/>
                    <a:ext cx="1483868" cy="400110"/>
                  </a:xfrm>
                  <a:prstGeom prst="rect">
                    <a:avLst/>
                  </a:prstGeom>
                  <a:noFill/>
                </p:spPr>
                <p:txBody>
                  <a:bodyPr wrap="none" rtlCol="0">
                    <a:spAutoFit/>
                  </a:bodyPr>
                  <a:lstStyle/>
                  <a:p>
                    <a:r>
                      <a:rPr kumimoji="1" lang="en-US" altLang="zh-TW" sz="2000" dirty="0">
                        <a:solidFill>
                          <a:schemeClr val="accent5">
                            <a:lumMod val="75000"/>
                          </a:schemeClr>
                        </a:solidFill>
                        <a:latin typeface="Times" pitchFamily="2" charset="0"/>
                      </a:rPr>
                      <a:t>Input </a:t>
                    </a:r>
                    <a14:m>
                      <m:oMath xmlns:m="http://schemas.openxmlformats.org/officeDocument/2006/math">
                        <m:sSub>
                          <m:sSubPr>
                            <m:ctrlPr>
                              <a:rPr kumimoji="1" lang="en-US" altLang="zh-TW" sz="2000" i="1" smtClean="0">
                                <a:solidFill>
                                  <a:schemeClr val="accent5">
                                    <a:lumMod val="75000"/>
                                  </a:schemeClr>
                                </a:solidFill>
                                <a:latin typeface="Cambria Math" panose="02040503050406030204" pitchFamily="18" charset="0"/>
                              </a:rPr>
                            </m:ctrlPr>
                          </m:sSubPr>
                          <m:e>
                            <m:r>
                              <a:rPr kumimoji="1" lang="en-US" altLang="zh-TW" sz="2000" b="0" i="1" smtClean="0">
                                <a:solidFill>
                                  <a:schemeClr val="accent5">
                                    <a:lumMod val="75000"/>
                                  </a:schemeClr>
                                </a:solidFill>
                                <a:latin typeface="Cambria Math" panose="02040503050406030204" pitchFamily="18" charset="0"/>
                              </a:rPr>
                              <m:t>𝑥</m:t>
                            </m:r>
                          </m:e>
                          <m:sub>
                            <m:r>
                              <a:rPr kumimoji="1" lang="en-US" altLang="zh-TW" sz="2000" b="0" i="1" smtClean="0">
                                <a:solidFill>
                                  <a:schemeClr val="accent5">
                                    <a:lumMod val="75000"/>
                                  </a:schemeClr>
                                </a:solidFill>
                                <a:latin typeface="Cambria Math" panose="02040503050406030204" pitchFamily="18" charset="0"/>
                              </a:rPr>
                              <m:t>𝑠</m:t>
                            </m:r>
                          </m:sub>
                        </m:sSub>
                      </m:oMath>
                    </a14:m>
                    <a:r>
                      <a:rPr kumimoji="1" lang="en-US" altLang="zh-TW" sz="2000" dirty="0">
                        <a:solidFill>
                          <a:schemeClr val="accent5">
                            <a:lumMod val="75000"/>
                          </a:schemeClr>
                        </a:solidFill>
                        <a:latin typeface="Times" pitchFamily="2" charset="0"/>
                      </a:rPr>
                      <a:t> to g</a:t>
                    </a:r>
                    <a:endParaRPr kumimoji="1" lang="zh-TW" altLang="en-US" sz="2000" dirty="0">
                      <a:solidFill>
                        <a:schemeClr val="accent5">
                          <a:lumMod val="75000"/>
                        </a:schemeClr>
                      </a:solidFill>
                      <a:latin typeface="Times" pitchFamily="2" charset="0"/>
                    </a:endParaRPr>
                  </a:p>
                </p:txBody>
              </p:sp>
            </mc:Choice>
            <mc:Fallback xmlns="">
              <p:sp>
                <p:nvSpPr>
                  <p:cNvPr id="11" name="文字方塊 10">
                    <a:extLst>
                      <a:ext uri="{FF2B5EF4-FFF2-40B4-BE49-F238E27FC236}">
                        <a16:creationId xmlns:a16="http://schemas.microsoft.com/office/drawing/2014/main" id="{E805971A-822F-FD4C-A5B7-29DEBF6AD687}"/>
                      </a:ext>
                    </a:extLst>
                  </p:cNvPr>
                  <p:cNvSpPr txBox="1">
                    <a:spLocks noRot="1" noChangeAspect="1" noMove="1" noResize="1" noEditPoints="1" noAdjustHandles="1" noChangeArrowheads="1" noChangeShapeType="1" noTextEdit="1"/>
                  </p:cNvSpPr>
                  <p:nvPr/>
                </p:nvSpPr>
                <p:spPr>
                  <a:xfrm>
                    <a:off x="4226034" y="3700056"/>
                    <a:ext cx="1483868" cy="400110"/>
                  </a:xfrm>
                  <a:prstGeom prst="rect">
                    <a:avLst/>
                  </a:prstGeom>
                  <a:blipFill>
                    <a:blip r:embed="rId5"/>
                    <a:stretch>
                      <a:fillRect l="-4237" t="-9091" r="-3390" b="-24242"/>
                    </a:stretch>
                  </a:blipFill>
                </p:spPr>
                <p:txBody>
                  <a:bodyPr/>
                  <a:lstStyle/>
                  <a:p>
                    <a:r>
                      <a:rPr lang="zh-TW" altLang="en-US">
                        <a:noFill/>
                      </a:rPr>
                      <a:t> </a:t>
                    </a:r>
                  </a:p>
                </p:txBody>
              </p:sp>
            </mc:Fallback>
          </mc:AlternateContent>
          <p:sp>
            <p:nvSpPr>
              <p:cNvPr id="12" name="文字方塊 11">
                <a:extLst>
                  <a:ext uri="{FF2B5EF4-FFF2-40B4-BE49-F238E27FC236}">
                    <a16:creationId xmlns:a16="http://schemas.microsoft.com/office/drawing/2014/main" id="{EA7E2390-5942-5849-8C85-3232DF1D08D0}"/>
                  </a:ext>
                </a:extLst>
              </p:cNvPr>
              <p:cNvSpPr txBox="1"/>
              <p:nvPr/>
            </p:nvSpPr>
            <p:spPr>
              <a:xfrm>
                <a:off x="1127000" y="4650918"/>
                <a:ext cx="611065" cy="400110"/>
              </a:xfrm>
              <a:prstGeom prst="rect">
                <a:avLst/>
              </a:prstGeom>
              <a:solidFill>
                <a:schemeClr val="accent2">
                  <a:lumMod val="20000"/>
                  <a:lumOff val="80000"/>
                </a:schemeClr>
              </a:solidFill>
            </p:spPr>
            <p:txBody>
              <a:bodyPr wrap="none" rtlCol="0">
                <a:spAutoFit/>
              </a:bodyPr>
              <a:lstStyle/>
              <a:p>
                <a:pPr algn="ctr"/>
                <a:r>
                  <a:rPr kumimoji="1" lang="en-US" altLang="zh-TW" sz="2000" dirty="0">
                    <a:solidFill>
                      <a:srgbClr val="C00000"/>
                    </a:solidFill>
                    <a:latin typeface="Times" pitchFamily="2" charset="0"/>
                  </a:rPr>
                  <a:t>b[2]</a:t>
                </a:r>
                <a:endParaRPr kumimoji="1" lang="zh-TW" altLang="en-US" sz="2000" dirty="0">
                  <a:solidFill>
                    <a:srgbClr val="C00000"/>
                  </a:solidFill>
                  <a:latin typeface="Times" pitchFamily="2" charset="0"/>
                </a:endParaRPr>
              </a:p>
            </p:txBody>
          </p:sp>
          <p:cxnSp>
            <p:nvCxnSpPr>
              <p:cNvPr id="17" name="曲線接點 16">
                <a:extLst>
                  <a:ext uri="{FF2B5EF4-FFF2-40B4-BE49-F238E27FC236}">
                    <a16:creationId xmlns:a16="http://schemas.microsoft.com/office/drawing/2014/main" id="{E6511AFC-141F-4744-863D-820B3415EFD3}"/>
                  </a:ext>
                </a:extLst>
              </p:cNvPr>
              <p:cNvCxnSpPr>
                <a:cxnSpLocks/>
              </p:cNvCxnSpPr>
              <p:nvPr/>
            </p:nvCxnSpPr>
            <p:spPr>
              <a:xfrm rot="10800000">
                <a:off x="3916682" y="3299948"/>
                <a:ext cx="1051286" cy="400108"/>
              </a:xfrm>
              <a:prstGeom prst="curvedConnector3">
                <a:avLst>
                  <a:gd name="adj1" fmla="val 50000"/>
                </a:avLst>
              </a:prstGeom>
              <a:ln w="34925">
                <a:solidFill>
                  <a:schemeClr val="accent5">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4" name="曲線接點 13">
              <a:extLst>
                <a:ext uri="{FF2B5EF4-FFF2-40B4-BE49-F238E27FC236}">
                  <a16:creationId xmlns:a16="http://schemas.microsoft.com/office/drawing/2014/main" id="{C309B8A0-CF4E-B443-BF34-B533C05C8499}"/>
                </a:ext>
              </a:extLst>
            </p:cNvPr>
            <p:cNvCxnSpPr>
              <a:cxnSpLocks/>
              <a:stCxn id="6" idx="0"/>
            </p:cNvCxnSpPr>
            <p:nvPr/>
          </p:nvCxnSpPr>
          <p:spPr>
            <a:xfrm rot="16200000" flipH="1" flipV="1">
              <a:off x="5750085" y="1609668"/>
              <a:ext cx="129998" cy="1192186"/>
            </a:xfrm>
            <a:prstGeom prst="curvedConnector4">
              <a:avLst>
                <a:gd name="adj1" fmla="val -351698"/>
                <a:gd name="adj2" fmla="val 57454"/>
              </a:avLst>
            </a:prstGeom>
            <a:ln w="34925">
              <a:solidFill>
                <a:schemeClr val="accent5">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1" name="文字方塊 30">
                <a:extLst>
                  <a:ext uri="{FF2B5EF4-FFF2-40B4-BE49-F238E27FC236}">
                    <a16:creationId xmlns:a16="http://schemas.microsoft.com/office/drawing/2014/main" id="{61CFABFE-BC04-4C4F-B759-C37579B1F853}"/>
                  </a:ext>
                </a:extLst>
              </p:cNvPr>
              <p:cNvSpPr txBox="1"/>
              <p:nvPr/>
            </p:nvSpPr>
            <p:spPr>
              <a:xfrm>
                <a:off x="9442118" y="5801652"/>
                <a:ext cx="1011815" cy="338554"/>
              </a:xfrm>
              <a:prstGeom prst="rect">
                <a:avLst/>
              </a:prstGeom>
              <a:noFill/>
            </p:spPr>
            <p:txBody>
              <a:bodyPr wrap="none" rtlCol="0">
                <a:spAutoFit/>
              </a:bodyPr>
              <a:lstStyle/>
              <a:p>
                <a:r>
                  <a:rPr kumimoji="1" lang="en-US" altLang="zh-TW" sz="1600" dirty="0">
                    <a:solidFill>
                      <a:schemeClr val="accent6">
                        <a:lumMod val="50000"/>
                      </a:schemeClr>
                    </a:solidFill>
                    <a:latin typeface="Times" pitchFamily="2" charset="0"/>
                  </a:rPr>
                  <a:t>M=2, </a:t>
                </a:r>
                <a14:m>
                  <m:oMath xmlns:m="http://schemas.openxmlformats.org/officeDocument/2006/math">
                    <m:r>
                      <a:rPr kumimoji="1" lang="en-US" altLang="zh-TW" sz="1600" i="1" smtClean="0">
                        <a:solidFill>
                          <a:schemeClr val="accent6">
                            <a:lumMod val="50000"/>
                          </a:schemeClr>
                        </a:solidFill>
                        <a:latin typeface="Cambria Math" panose="02040503050406030204" pitchFamily="18" charset="0"/>
                        <a:ea typeface="Cambria Math" panose="02040503050406030204" pitchFamily="18" charset="0"/>
                      </a:rPr>
                      <m:t>ℓ</m:t>
                    </m:r>
                  </m:oMath>
                </a14:m>
                <a:r>
                  <a:rPr kumimoji="1" lang="en-US" altLang="zh-TW" sz="1600" dirty="0">
                    <a:solidFill>
                      <a:schemeClr val="accent6">
                        <a:lumMod val="50000"/>
                      </a:schemeClr>
                    </a:solidFill>
                    <a:latin typeface="Times" pitchFamily="2" charset="0"/>
                  </a:rPr>
                  <a:t>=3</a:t>
                </a:r>
                <a:endParaRPr kumimoji="1" lang="zh-TW" altLang="en-US" sz="1600" dirty="0">
                  <a:solidFill>
                    <a:schemeClr val="accent6">
                      <a:lumMod val="50000"/>
                    </a:schemeClr>
                  </a:solidFill>
                  <a:latin typeface="Times" pitchFamily="2" charset="0"/>
                </a:endParaRPr>
              </a:p>
            </p:txBody>
          </p:sp>
        </mc:Choice>
        <mc:Fallback xmlns="">
          <p:sp>
            <p:nvSpPr>
              <p:cNvPr id="31" name="文字方塊 30">
                <a:extLst>
                  <a:ext uri="{FF2B5EF4-FFF2-40B4-BE49-F238E27FC236}">
                    <a16:creationId xmlns:a16="http://schemas.microsoft.com/office/drawing/2014/main" id="{61CFABFE-BC04-4C4F-B759-C37579B1F853}"/>
                  </a:ext>
                </a:extLst>
              </p:cNvPr>
              <p:cNvSpPr txBox="1">
                <a:spLocks noRot="1" noChangeAspect="1" noMove="1" noResize="1" noEditPoints="1" noAdjustHandles="1" noChangeArrowheads="1" noChangeShapeType="1" noTextEdit="1"/>
              </p:cNvSpPr>
              <p:nvPr/>
            </p:nvSpPr>
            <p:spPr>
              <a:xfrm>
                <a:off x="9442118" y="5801652"/>
                <a:ext cx="1011815" cy="338554"/>
              </a:xfrm>
              <a:prstGeom prst="rect">
                <a:avLst/>
              </a:prstGeom>
              <a:blipFill>
                <a:blip r:embed="rId6"/>
                <a:stretch>
                  <a:fillRect l="-2469" r="-2469" b="-25000"/>
                </a:stretch>
              </a:blipFill>
            </p:spPr>
            <p:txBody>
              <a:bodyPr/>
              <a:lstStyle/>
              <a:p>
                <a:r>
                  <a:rPr lang="zh-TW" altLang="en-US">
                    <a:noFill/>
                  </a:rPr>
                  <a:t> </a:t>
                </a:r>
              </a:p>
            </p:txBody>
          </p:sp>
        </mc:Fallback>
      </mc:AlternateContent>
      <p:sp>
        <p:nvSpPr>
          <p:cNvPr id="16" name="文字方塊 15">
            <a:extLst>
              <a:ext uri="{FF2B5EF4-FFF2-40B4-BE49-F238E27FC236}">
                <a16:creationId xmlns:a16="http://schemas.microsoft.com/office/drawing/2014/main" id="{BEB40AF3-7AE8-8C4A-B811-7B31827E678F}"/>
              </a:ext>
            </a:extLst>
          </p:cNvPr>
          <p:cNvSpPr txBox="1"/>
          <p:nvPr/>
        </p:nvSpPr>
        <p:spPr>
          <a:xfrm>
            <a:off x="2572112" y="2925245"/>
            <a:ext cx="1063342" cy="400110"/>
          </a:xfrm>
          <a:prstGeom prst="rect">
            <a:avLst/>
          </a:prstGeom>
          <a:solidFill>
            <a:schemeClr val="accent6">
              <a:lumMod val="20000"/>
              <a:lumOff val="80000"/>
            </a:schemeClr>
          </a:solidFill>
        </p:spPr>
        <p:txBody>
          <a:bodyPr wrap="square" rtlCol="0">
            <a:spAutoFit/>
          </a:bodyPr>
          <a:lstStyle/>
          <a:p>
            <a:r>
              <a:rPr kumimoji="1" lang="en-US" altLang="zh-TW" sz="2000" b="1" dirty="0">
                <a:solidFill>
                  <a:schemeClr val="accent6">
                    <a:lumMod val="50000"/>
                  </a:schemeClr>
                </a:solidFill>
                <a:latin typeface="Times" pitchFamily="2" charset="0"/>
              </a:rPr>
              <a:t>(pass, g)</a:t>
            </a:r>
            <a:endParaRPr kumimoji="1" lang="zh-TW" altLang="en-US" sz="2000" b="1" dirty="0">
              <a:solidFill>
                <a:schemeClr val="accent6">
                  <a:lumMod val="50000"/>
                </a:schemeClr>
              </a:solidFill>
              <a:latin typeface="Times" pitchFamily="2" charset="0"/>
            </a:endParaRPr>
          </a:p>
        </p:txBody>
      </p:sp>
      <p:sp>
        <p:nvSpPr>
          <p:cNvPr id="18" name="文字方塊 17">
            <a:extLst>
              <a:ext uri="{FF2B5EF4-FFF2-40B4-BE49-F238E27FC236}">
                <a16:creationId xmlns:a16="http://schemas.microsoft.com/office/drawing/2014/main" id="{390AC30D-42EA-1742-AA9F-EED9E7FCAD2B}"/>
              </a:ext>
            </a:extLst>
          </p:cNvPr>
          <p:cNvSpPr txBox="1"/>
          <p:nvPr/>
        </p:nvSpPr>
        <p:spPr>
          <a:xfrm>
            <a:off x="2187997" y="4650918"/>
            <a:ext cx="899867" cy="400110"/>
          </a:xfrm>
          <a:prstGeom prst="rect">
            <a:avLst/>
          </a:prstGeom>
          <a:solidFill>
            <a:schemeClr val="accent6">
              <a:lumMod val="20000"/>
              <a:lumOff val="80000"/>
            </a:schemeClr>
          </a:solidFill>
        </p:spPr>
        <p:txBody>
          <a:bodyPr wrap="square" rtlCol="0">
            <a:spAutoFit/>
          </a:bodyPr>
          <a:lstStyle/>
          <a:p>
            <a:r>
              <a:rPr kumimoji="1" lang="en-US" altLang="zh-TW" sz="2000" b="1" dirty="0">
                <a:solidFill>
                  <a:schemeClr val="accent6">
                    <a:lumMod val="50000"/>
                  </a:schemeClr>
                </a:solidFill>
                <a:latin typeface="Times" pitchFamily="2" charset="0"/>
              </a:rPr>
              <a:t>(1C, g)</a:t>
            </a:r>
            <a:endParaRPr kumimoji="1" lang="zh-TW" altLang="en-US" sz="2000" b="1" dirty="0">
              <a:solidFill>
                <a:schemeClr val="accent6">
                  <a:lumMod val="50000"/>
                </a:schemeClr>
              </a:solidFill>
              <a:latin typeface="Times" pitchFamily="2" charset="0"/>
            </a:endParaRPr>
          </a:p>
        </p:txBody>
      </p:sp>
    </p:spTree>
    <p:extLst>
      <p:ext uri="{BB962C8B-B14F-4D97-AF65-F5344CB8AC3E}">
        <p14:creationId xmlns:p14="http://schemas.microsoft.com/office/powerpoint/2010/main" val="21723421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FDF01EB-A175-3F4A-8121-EDA3DB55ADBC}"/>
              </a:ext>
            </a:extLst>
          </p:cNvPr>
          <p:cNvSpPr>
            <a:spLocks noGrp="1"/>
          </p:cNvSpPr>
          <p:nvPr>
            <p:ph type="title"/>
          </p:nvPr>
        </p:nvSpPr>
        <p:spPr/>
        <p:txBody>
          <a:bodyPr/>
          <a:lstStyle/>
          <a:p>
            <a:pPr algn="ctr"/>
            <a:r>
              <a:rPr lang="en" altLang="zh-TW" dirty="0">
                <a:latin typeface="Times" pitchFamily="2" charset="0"/>
              </a:rPr>
              <a:t>Multi-layer bandit model</a:t>
            </a:r>
            <a:r>
              <a:rPr lang="en-US" altLang="zh-TW" dirty="0">
                <a:latin typeface="Times" pitchFamily="2" charset="0"/>
              </a:rPr>
              <a:t>(</a:t>
            </a:r>
            <a:r>
              <a:rPr lang="en" altLang="zh-TW" dirty="0">
                <a:latin typeface="Times" pitchFamily="2" charset="0"/>
              </a:rPr>
              <a:t>Layered model)</a:t>
            </a:r>
          </a:p>
        </p:txBody>
      </p:sp>
      <p:sp>
        <p:nvSpPr>
          <p:cNvPr id="3" name="投影片編號版面配置區 2">
            <a:extLst>
              <a:ext uri="{FF2B5EF4-FFF2-40B4-BE49-F238E27FC236}">
                <a16:creationId xmlns:a16="http://schemas.microsoft.com/office/drawing/2014/main" id="{DCD5AAAF-48D1-E24C-9A43-0A027F45BBD1}"/>
              </a:ext>
            </a:extLst>
          </p:cNvPr>
          <p:cNvSpPr>
            <a:spLocks noGrp="1"/>
          </p:cNvSpPr>
          <p:nvPr>
            <p:ph type="sldNum" sz="quarter" idx="12"/>
          </p:nvPr>
        </p:nvSpPr>
        <p:spPr/>
        <p:txBody>
          <a:bodyPr/>
          <a:lstStyle/>
          <a:p>
            <a:fld id="{D1303F21-0339-114F-A835-EDFAC68AEBBB}" type="slidenum">
              <a:rPr kumimoji="1" lang="zh-TW" altLang="en-US" smtClean="0"/>
              <a:t>8</a:t>
            </a:fld>
            <a:endParaRPr kumimoji="1" lang="zh-TW" altLang="en-US"/>
          </a:p>
        </p:txBody>
      </p:sp>
      <p:grpSp>
        <p:nvGrpSpPr>
          <p:cNvPr id="11" name="群組 10">
            <a:extLst>
              <a:ext uri="{FF2B5EF4-FFF2-40B4-BE49-F238E27FC236}">
                <a16:creationId xmlns:a16="http://schemas.microsoft.com/office/drawing/2014/main" id="{F4678AD4-2BBC-974C-A4C4-5940DD2F0060}"/>
              </a:ext>
            </a:extLst>
          </p:cNvPr>
          <p:cNvGrpSpPr/>
          <p:nvPr/>
        </p:nvGrpSpPr>
        <p:grpSpPr>
          <a:xfrm>
            <a:off x="304801" y="1769648"/>
            <a:ext cx="8606789" cy="4602227"/>
            <a:chOff x="304801" y="1769648"/>
            <a:chExt cx="8606789" cy="4602227"/>
          </a:xfrm>
        </p:grpSpPr>
        <p:grpSp>
          <p:nvGrpSpPr>
            <p:cNvPr id="10" name="群組 9">
              <a:extLst>
                <a:ext uri="{FF2B5EF4-FFF2-40B4-BE49-F238E27FC236}">
                  <a16:creationId xmlns:a16="http://schemas.microsoft.com/office/drawing/2014/main" id="{7C22152C-483C-094B-8419-5E9E8BDEB982}"/>
                </a:ext>
              </a:extLst>
            </p:cNvPr>
            <p:cNvGrpSpPr/>
            <p:nvPr/>
          </p:nvGrpSpPr>
          <p:grpSpPr>
            <a:xfrm>
              <a:off x="304801" y="1769648"/>
              <a:ext cx="8606789" cy="4602227"/>
              <a:chOff x="304801" y="1769648"/>
              <a:chExt cx="8606789" cy="4602227"/>
            </a:xfrm>
          </p:grpSpPr>
          <p:pic>
            <p:nvPicPr>
              <p:cNvPr id="6" name="圖片 5">
                <a:extLst>
                  <a:ext uri="{FF2B5EF4-FFF2-40B4-BE49-F238E27FC236}">
                    <a16:creationId xmlns:a16="http://schemas.microsoft.com/office/drawing/2014/main" id="{C5DEEAB6-438E-4A4D-86C2-E43896F32E1D}"/>
                  </a:ext>
                </a:extLst>
              </p:cNvPr>
              <p:cNvPicPr>
                <a:picLocks noChangeAspect="1"/>
              </p:cNvPicPr>
              <p:nvPr/>
            </p:nvPicPr>
            <p:blipFill>
              <a:blip r:embed="rId2"/>
              <a:stretch>
                <a:fillRect/>
              </a:stretch>
            </p:blipFill>
            <p:spPr>
              <a:xfrm>
                <a:off x="3280410" y="1769648"/>
                <a:ext cx="5631180" cy="4602227"/>
              </a:xfrm>
              <a:prstGeom prst="rect">
                <a:avLst/>
              </a:prstGeom>
            </p:spPr>
          </p:pic>
          <p:sp>
            <p:nvSpPr>
              <p:cNvPr id="8" name="文字方塊 7">
                <a:extLst>
                  <a:ext uri="{FF2B5EF4-FFF2-40B4-BE49-F238E27FC236}">
                    <a16:creationId xmlns:a16="http://schemas.microsoft.com/office/drawing/2014/main" id="{D7F8DB14-83F5-BB48-965E-B7CBDA7D388C}"/>
                  </a:ext>
                </a:extLst>
              </p:cNvPr>
              <p:cNvSpPr txBox="1"/>
              <p:nvPr/>
            </p:nvSpPr>
            <p:spPr>
              <a:xfrm>
                <a:off x="304801" y="2348641"/>
                <a:ext cx="4130040" cy="400110"/>
              </a:xfrm>
              <a:prstGeom prst="rect">
                <a:avLst/>
              </a:prstGeom>
              <a:solidFill>
                <a:schemeClr val="accent4">
                  <a:lumMod val="20000"/>
                  <a:lumOff val="80000"/>
                </a:schemeClr>
              </a:solidFill>
            </p:spPr>
            <p:txBody>
              <a:bodyPr wrap="square">
                <a:spAutoFit/>
              </a:bodyPr>
              <a:lstStyle/>
              <a:p>
                <a:pPr algn="ctr"/>
                <a:r>
                  <a:rPr kumimoji="1" lang="en-US" altLang="zh-TW" sz="2000" dirty="0">
                    <a:latin typeface="Times" pitchFamily="2" charset="0"/>
                  </a:rPr>
                  <a:t>Combining the non-terminal nodes </a:t>
                </a:r>
                <a:endParaRPr lang="zh-TW" altLang="en-US" sz="2000" dirty="0"/>
              </a:p>
            </p:txBody>
          </p:sp>
        </p:grpSp>
        <p:sp>
          <p:nvSpPr>
            <p:cNvPr id="9" name="橢圓 8">
              <a:extLst>
                <a:ext uri="{FF2B5EF4-FFF2-40B4-BE49-F238E27FC236}">
                  <a16:creationId xmlns:a16="http://schemas.microsoft.com/office/drawing/2014/main" id="{DE37A5CD-28AD-CA4F-B4C6-A61491EF93EA}"/>
                </a:ext>
              </a:extLst>
            </p:cNvPr>
            <p:cNvSpPr/>
            <p:nvPr/>
          </p:nvSpPr>
          <p:spPr>
            <a:xfrm>
              <a:off x="4617720" y="4101241"/>
              <a:ext cx="807720" cy="843750"/>
            </a:xfrm>
            <a:prstGeom prst="ellipse">
              <a:avLst/>
            </a:prstGeom>
            <a:noFill/>
            <a:ln w="44450">
              <a:solidFill>
                <a:schemeClr val="accent4">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spTree>
    <p:extLst>
      <p:ext uri="{BB962C8B-B14F-4D97-AF65-F5344CB8AC3E}">
        <p14:creationId xmlns:p14="http://schemas.microsoft.com/office/powerpoint/2010/main" val="3326541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FDF01EB-A175-3F4A-8121-EDA3DB55ADBC}"/>
              </a:ext>
            </a:extLst>
          </p:cNvPr>
          <p:cNvSpPr>
            <a:spLocks noGrp="1"/>
          </p:cNvSpPr>
          <p:nvPr>
            <p:ph type="title"/>
          </p:nvPr>
        </p:nvSpPr>
        <p:spPr/>
        <p:txBody>
          <a:bodyPr/>
          <a:lstStyle/>
          <a:p>
            <a:pPr algn="ctr"/>
            <a:r>
              <a:rPr lang="en" altLang="zh-TW" b="1" dirty="0">
                <a:latin typeface="Times" pitchFamily="2" charset="0"/>
              </a:rPr>
              <a:t>CSTSR - ridge regression</a:t>
            </a:r>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E2083B75-83B6-8B43-A9F2-2A6E7A8C2646}"/>
                  </a:ext>
                </a:extLst>
              </p:cNvPr>
              <p:cNvSpPr>
                <a:spLocks noGrp="1"/>
              </p:cNvSpPr>
              <p:nvPr>
                <p:ph idx="1"/>
              </p:nvPr>
            </p:nvSpPr>
            <p:spPr/>
            <p:txBody>
              <a:bodyPr>
                <a:normAutofit/>
              </a:bodyPr>
              <a:lstStyle/>
              <a:p>
                <a:pPr marL="0" indent="0">
                  <a:lnSpc>
                    <a:spcPct val="150000"/>
                  </a:lnSpc>
                  <a:buNone/>
                </a:pPr>
                <a:r>
                  <a:rPr kumimoji="1" lang="en-US" altLang="zh-TW" dirty="0">
                    <a:latin typeface="Times" pitchFamily="2" charset="0"/>
                  </a:rPr>
                  <a:t>For each possible bid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𝑏</m:t>
                        </m:r>
                      </m:e>
                      <m:sub>
                        <m:r>
                          <a:rPr kumimoji="1" lang="en-US" altLang="zh-TW" i="1">
                            <a:latin typeface="Cambria Math" panose="02040503050406030204" pitchFamily="18" charset="0"/>
                          </a:rPr>
                          <m:t>𝑚</m:t>
                        </m:r>
                      </m:sub>
                    </m:sSub>
                  </m:oMath>
                </a14:m>
                <a:r>
                  <a:rPr kumimoji="1" lang="en-US" altLang="zh-TW" dirty="0">
                    <a:latin typeface="Times" pitchFamily="2" charset="0"/>
                  </a:rPr>
                  <a:t>, compute the </a:t>
                </a:r>
                <a:r>
                  <a:rPr kumimoji="1" lang="en-US" altLang="zh-TW" dirty="0">
                    <a:solidFill>
                      <a:schemeClr val="accent2">
                        <a:lumMod val="50000"/>
                      </a:schemeClr>
                    </a:solidFill>
                    <a:latin typeface="Times" pitchFamily="2" charset="0"/>
                  </a:rPr>
                  <a:t>weight vector </a:t>
                </a:r>
                <a14:m>
                  <m:oMath xmlns:m="http://schemas.openxmlformats.org/officeDocument/2006/math">
                    <m:sSub>
                      <m:sSubPr>
                        <m:ctrlPr>
                          <a:rPr kumimoji="1" lang="en-US" altLang="zh-TW" i="1" smtClean="0">
                            <a:solidFill>
                              <a:schemeClr val="accent2">
                                <a:lumMod val="50000"/>
                              </a:schemeClr>
                            </a:solidFill>
                            <a:latin typeface="Cambria Math" panose="02040503050406030204" pitchFamily="18" charset="0"/>
                          </a:rPr>
                        </m:ctrlPr>
                      </m:sSubPr>
                      <m:e>
                        <m:r>
                          <a:rPr kumimoji="1" lang="en-US" altLang="zh-TW" i="1">
                            <a:solidFill>
                              <a:schemeClr val="accent2">
                                <a:lumMod val="50000"/>
                              </a:schemeClr>
                            </a:solidFill>
                            <a:latin typeface="Cambria Math" panose="02040503050406030204" pitchFamily="18" charset="0"/>
                          </a:rPr>
                          <m:t>𝑤</m:t>
                        </m:r>
                      </m:e>
                      <m:sub>
                        <m:r>
                          <a:rPr kumimoji="1" lang="en-US" altLang="zh-TW" i="1">
                            <a:solidFill>
                              <a:schemeClr val="accent2">
                                <a:lumMod val="50000"/>
                              </a:schemeClr>
                            </a:solidFill>
                            <a:latin typeface="Cambria Math" panose="02040503050406030204" pitchFamily="18" charset="0"/>
                          </a:rPr>
                          <m:t>𝑚</m:t>
                        </m:r>
                      </m:sub>
                    </m:sSub>
                  </m:oMath>
                </a14:m>
                <a:r>
                  <a:rPr kumimoji="1" lang="en-US" altLang="zh-TW" dirty="0">
                    <a:solidFill>
                      <a:schemeClr val="accent2">
                        <a:lumMod val="50000"/>
                      </a:schemeClr>
                    </a:solidFill>
                    <a:latin typeface="Times" pitchFamily="2" charset="0"/>
                  </a:rPr>
                  <a:t> </a:t>
                </a:r>
                <a:r>
                  <a:rPr kumimoji="1" lang="en-US" altLang="zh-TW" dirty="0">
                    <a:latin typeface="Times" pitchFamily="2" charset="0"/>
                  </a:rPr>
                  <a:t>for estimating the </a:t>
                </a:r>
                <a:r>
                  <a:rPr kumimoji="1" lang="en-US" altLang="zh-TW" dirty="0">
                    <a:solidFill>
                      <a:srgbClr val="C00000"/>
                    </a:solidFill>
                    <a:latin typeface="Times" pitchFamily="2" charset="0"/>
                  </a:rPr>
                  <a:t>potential reward</a:t>
                </a:r>
                <a:r>
                  <a:rPr kumimoji="1" lang="en-US" altLang="zh-TW" dirty="0">
                    <a:solidFill>
                      <a:srgbClr val="C00000"/>
                    </a:solidFill>
                  </a:rPr>
                  <a:t> </a:t>
                </a:r>
                <a14:m>
                  <m:oMath xmlns:m="http://schemas.openxmlformats.org/officeDocument/2006/math">
                    <m:sSubSup>
                      <m:sSubSupPr>
                        <m:ctrlPr>
                          <a:rPr kumimoji="1" lang="en-US" altLang="zh-TW" i="1">
                            <a:solidFill>
                              <a:srgbClr val="C00000"/>
                            </a:solidFill>
                            <a:latin typeface="Cambria Math" panose="02040503050406030204" pitchFamily="18" charset="0"/>
                          </a:rPr>
                        </m:ctrlPr>
                      </m:sSubSupPr>
                      <m:e>
                        <m:r>
                          <a:rPr kumimoji="1" lang="en-US" altLang="zh-TW" i="1">
                            <a:solidFill>
                              <a:srgbClr val="C00000"/>
                            </a:solidFill>
                            <a:latin typeface="Cambria Math" panose="02040503050406030204" pitchFamily="18" charset="0"/>
                          </a:rPr>
                          <m:t>𝑤</m:t>
                        </m:r>
                      </m:e>
                      <m:sub>
                        <m:r>
                          <a:rPr kumimoji="1" lang="en-US" altLang="zh-TW" i="1">
                            <a:solidFill>
                              <a:srgbClr val="C00000"/>
                            </a:solidFill>
                            <a:latin typeface="Cambria Math" panose="02040503050406030204" pitchFamily="18" charset="0"/>
                          </a:rPr>
                          <m:t>𝑚</m:t>
                        </m:r>
                      </m:sub>
                      <m:sup>
                        <m:r>
                          <a:rPr kumimoji="1" lang="en-US" altLang="zh-TW" i="1">
                            <a:solidFill>
                              <a:srgbClr val="C00000"/>
                            </a:solidFill>
                            <a:latin typeface="Cambria Math" panose="02040503050406030204" pitchFamily="18" charset="0"/>
                          </a:rPr>
                          <m:t>𝑇</m:t>
                        </m:r>
                      </m:sup>
                    </m:sSubSup>
                    <m:r>
                      <a:rPr kumimoji="1" lang="en-US" altLang="zh-TW" i="1">
                        <a:solidFill>
                          <a:srgbClr val="C00000"/>
                        </a:solidFill>
                        <a:latin typeface="Cambria Math" panose="02040503050406030204" pitchFamily="18" charset="0"/>
                      </a:rPr>
                      <m:t>𝑋</m:t>
                    </m:r>
                    <m:r>
                      <a:rPr kumimoji="1" lang="en-US" altLang="zh-TW" i="1">
                        <a:solidFill>
                          <a:srgbClr val="C00000"/>
                        </a:solidFill>
                        <a:latin typeface="Cambria Math" panose="02040503050406030204" pitchFamily="18" charset="0"/>
                      </a:rPr>
                      <m:t> </m:t>
                    </m:r>
                  </m:oMath>
                </a14:m>
                <a:r>
                  <a:rPr kumimoji="1" lang="en-US" altLang="zh-TW" dirty="0">
                    <a:latin typeface="Times" pitchFamily="2" charset="0"/>
                  </a:rPr>
                  <a:t>of making the bid.</a:t>
                </a:r>
              </a:p>
              <a:p>
                <a:pPr marL="0" indent="0">
                  <a:buNone/>
                </a:pPr>
                <a:endParaRPr lang="en" altLang="zh-TW" dirty="0">
                  <a:latin typeface="Times" pitchFamily="2" charset="0"/>
                </a:endParaRPr>
              </a:p>
              <a:p>
                <a:pPr marL="0" indent="0">
                  <a:buNone/>
                </a:pPr>
                <a:r>
                  <a:rPr kumimoji="1" lang="en-US" altLang="zh-TW" dirty="0">
                    <a:latin typeface="Times" pitchFamily="2" charset="0"/>
                  </a:rPr>
                  <a:t> </a:t>
                </a:r>
                <a14:m>
                  <m:oMath xmlns:m="http://schemas.openxmlformats.org/officeDocument/2006/math">
                    <m:sSub>
                      <m:sSubPr>
                        <m:ctrlPr>
                          <a:rPr kumimoji="1" lang="en-US" altLang="zh-TW" i="1" smtClean="0">
                            <a:solidFill>
                              <a:schemeClr val="tx1"/>
                            </a:solidFill>
                            <a:latin typeface="Cambria Math" panose="02040503050406030204" pitchFamily="18" charset="0"/>
                          </a:rPr>
                        </m:ctrlPr>
                      </m:sSubPr>
                      <m:e>
                        <m:r>
                          <a:rPr kumimoji="1" lang="en-US" altLang="zh-TW" i="1">
                            <a:solidFill>
                              <a:schemeClr val="tx1"/>
                            </a:solidFill>
                            <a:latin typeface="Cambria Math" panose="02040503050406030204" pitchFamily="18" charset="0"/>
                          </a:rPr>
                          <m:t>𝑤</m:t>
                        </m:r>
                      </m:e>
                      <m:sub>
                        <m:r>
                          <a:rPr kumimoji="1" lang="en-US" altLang="zh-TW" i="1">
                            <a:solidFill>
                              <a:schemeClr val="tx1"/>
                            </a:solidFill>
                            <a:latin typeface="Cambria Math" panose="02040503050406030204" pitchFamily="18" charset="0"/>
                          </a:rPr>
                          <m:t>𝑚</m:t>
                        </m:r>
                      </m:sub>
                    </m:sSub>
                    <m:r>
                      <a:rPr kumimoji="1" lang="en-US" altLang="zh-TW" i="1">
                        <a:solidFill>
                          <a:schemeClr val="tx1"/>
                        </a:solidFill>
                        <a:latin typeface="Cambria Math" panose="02040503050406030204" pitchFamily="18" charset="0"/>
                      </a:rPr>
                      <m:t>=</m:t>
                    </m:r>
                    <m:sSup>
                      <m:sSupPr>
                        <m:ctrlPr>
                          <a:rPr kumimoji="1" lang="en-US" altLang="zh-TW" i="1">
                            <a:solidFill>
                              <a:schemeClr val="tx1"/>
                            </a:solidFill>
                            <a:latin typeface="Cambria Math" panose="02040503050406030204" pitchFamily="18" charset="0"/>
                            <a:ea typeface="Cambria Math" panose="02040503050406030204" pitchFamily="18" charset="0"/>
                          </a:rPr>
                        </m:ctrlPr>
                      </m:sSupPr>
                      <m:e>
                        <m:d>
                          <m:dPr>
                            <m:ctrlPr>
                              <a:rPr kumimoji="1" lang="en-US" altLang="zh-TW" i="1">
                                <a:solidFill>
                                  <a:schemeClr val="tx1"/>
                                </a:solidFill>
                                <a:latin typeface="Cambria Math" panose="02040503050406030204" pitchFamily="18" charset="0"/>
                                <a:ea typeface="Cambria Math" panose="02040503050406030204" pitchFamily="18" charset="0"/>
                              </a:rPr>
                            </m:ctrlPr>
                          </m:dPr>
                          <m:e>
                            <m:sSubSup>
                              <m:sSubSupPr>
                                <m:ctrlPr>
                                  <a:rPr kumimoji="1" lang="en-US" altLang="zh-TW" i="1">
                                    <a:solidFill>
                                      <a:schemeClr val="tx1"/>
                                    </a:solidFill>
                                    <a:latin typeface="Cambria Math" panose="02040503050406030204" pitchFamily="18" charset="0"/>
                                    <a:ea typeface="Cambria Math" panose="02040503050406030204" pitchFamily="18" charset="0"/>
                                  </a:rPr>
                                </m:ctrlPr>
                              </m:sSubSupPr>
                              <m:e>
                                <m:r>
                                  <a:rPr kumimoji="1" lang="en-US" altLang="zh-TW" i="1">
                                    <a:solidFill>
                                      <a:schemeClr val="tx1"/>
                                    </a:solidFill>
                                    <a:latin typeface="Cambria Math" panose="02040503050406030204" pitchFamily="18" charset="0"/>
                                    <a:ea typeface="Cambria Math" panose="02040503050406030204" pitchFamily="18" charset="0"/>
                                  </a:rPr>
                                  <m:t>𝑋</m:t>
                                </m:r>
                              </m:e>
                              <m:sub>
                                <m:r>
                                  <a:rPr kumimoji="1" lang="en-US" altLang="zh-TW" i="1">
                                    <a:solidFill>
                                      <a:schemeClr val="tx1"/>
                                    </a:solidFill>
                                    <a:latin typeface="Cambria Math" panose="02040503050406030204" pitchFamily="18" charset="0"/>
                                    <a:ea typeface="Cambria Math" panose="02040503050406030204" pitchFamily="18" charset="0"/>
                                  </a:rPr>
                                  <m:t>𝑚</m:t>
                                </m:r>
                              </m:sub>
                              <m:sup>
                                <m:r>
                                  <a:rPr kumimoji="1" lang="en-US" altLang="zh-TW" i="1">
                                    <a:solidFill>
                                      <a:schemeClr val="tx1"/>
                                    </a:solidFill>
                                    <a:latin typeface="Cambria Math" panose="02040503050406030204" pitchFamily="18" charset="0"/>
                                    <a:ea typeface="Cambria Math" panose="02040503050406030204" pitchFamily="18" charset="0"/>
                                  </a:rPr>
                                  <m:t>𝑇</m:t>
                                </m:r>
                              </m:sup>
                            </m:sSubSup>
                            <m:sSub>
                              <m:sSubPr>
                                <m:ctrlPr>
                                  <a:rPr kumimoji="1" lang="en-US" altLang="zh-TW" i="1">
                                    <a:solidFill>
                                      <a:schemeClr val="tx1"/>
                                    </a:solidFill>
                                    <a:latin typeface="Cambria Math" panose="02040503050406030204" pitchFamily="18" charset="0"/>
                                    <a:ea typeface="Cambria Math" panose="02040503050406030204" pitchFamily="18" charset="0"/>
                                  </a:rPr>
                                </m:ctrlPr>
                              </m:sSubPr>
                              <m:e>
                                <m:r>
                                  <a:rPr kumimoji="1" lang="en-US" altLang="zh-TW" i="1">
                                    <a:solidFill>
                                      <a:schemeClr val="tx1"/>
                                    </a:solidFill>
                                    <a:latin typeface="Cambria Math" panose="02040503050406030204" pitchFamily="18" charset="0"/>
                                    <a:ea typeface="Cambria Math" panose="02040503050406030204" pitchFamily="18" charset="0"/>
                                  </a:rPr>
                                  <m:t>𝑋</m:t>
                                </m:r>
                              </m:e>
                              <m:sub>
                                <m:r>
                                  <a:rPr kumimoji="1" lang="en-US" altLang="zh-TW" i="1">
                                    <a:solidFill>
                                      <a:schemeClr val="tx1"/>
                                    </a:solidFill>
                                    <a:latin typeface="Cambria Math" panose="02040503050406030204" pitchFamily="18" charset="0"/>
                                    <a:ea typeface="Cambria Math" panose="02040503050406030204" pitchFamily="18" charset="0"/>
                                  </a:rPr>
                                  <m:t>𝑚</m:t>
                                </m:r>
                              </m:sub>
                            </m:sSub>
                            <m:r>
                              <a:rPr kumimoji="1" lang="en-US" altLang="zh-TW" i="1">
                                <a:solidFill>
                                  <a:schemeClr val="tx1"/>
                                </a:solidFill>
                                <a:latin typeface="Cambria Math" panose="02040503050406030204" pitchFamily="18" charset="0"/>
                                <a:ea typeface="Cambria Math" panose="02040503050406030204" pitchFamily="18" charset="0"/>
                              </a:rPr>
                              <m:t>+</m:t>
                            </m:r>
                            <m:r>
                              <a:rPr kumimoji="1" lang="en-US" altLang="zh-TW" i="1">
                                <a:solidFill>
                                  <a:schemeClr val="tx1"/>
                                </a:solidFill>
                                <a:latin typeface="Cambria Math" panose="02040503050406030204" pitchFamily="18" charset="0"/>
                                <a:ea typeface="Cambria Math" panose="02040503050406030204" pitchFamily="18" charset="0"/>
                              </a:rPr>
                              <m:t>𝜆</m:t>
                            </m:r>
                            <m:r>
                              <a:rPr kumimoji="1" lang="en-US" altLang="zh-TW" i="1">
                                <a:solidFill>
                                  <a:schemeClr val="tx1"/>
                                </a:solidFill>
                                <a:latin typeface="Cambria Math" panose="02040503050406030204" pitchFamily="18" charset="0"/>
                                <a:ea typeface="Cambria Math" panose="02040503050406030204" pitchFamily="18" charset="0"/>
                              </a:rPr>
                              <m:t>𝐼</m:t>
                            </m:r>
                          </m:e>
                        </m:d>
                      </m:e>
                      <m:sup>
                        <m:r>
                          <a:rPr kumimoji="1" lang="en-US" altLang="zh-TW" i="1">
                            <a:solidFill>
                              <a:schemeClr val="tx1"/>
                            </a:solidFill>
                            <a:latin typeface="Cambria Math" panose="02040503050406030204" pitchFamily="18" charset="0"/>
                            <a:ea typeface="Cambria Math" panose="02040503050406030204" pitchFamily="18" charset="0"/>
                          </a:rPr>
                          <m:t>−1</m:t>
                        </m:r>
                      </m:sup>
                    </m:sSup>
                    <m:r>
                      <a:rPr kumimoji="1" lang="en-US" altLang="zh-TW" i="1">
                        <a:solidFill>
                          <a:schemeClr val="tx1"/>
                        </a:solidFill>
                        <a:latin typeface="Cambria Math" panose="02040503050406030204" pitchFamily="18" charset="0"/>
                        <a:ea typeface="Cambria Math" panose="02040503050406030204" pitchFamily="18" charset="0"/>
                      </a:rPr>
                      <m:t>(</m:t>
                    </m:r>
                    <m:sSubSup>
                      <m:sSubSupPr>
                        <m:ctrlPr>
                          <a:rPr kumimoji="1" lang="en-US" altLang="zh-TW" i="1">
                            <a:solidFill>
                              <a:schemeClr val="tx1"/>
                            </a:solidFill>
                            <a:latin typeface="Cambria Math" panose="02040503050406030204" pitchFamily="18" charset="0"/>
                            <a:ea typeface="Cambria Math" panose="02040503050406030204" pitchFamily="18" charset="0"/>
                          </a:rPr>
                        </m:ctrlPr>
                      </m:sSubSupPr>
                      <m:e>
                        <m:r>
                          <a:rPr kumimoji="1" lang="en-US" altLang="zh-TW" i="1">
                            <a:solidFill>
                              <a:schemeClr val="tx1"/>
                            </a:solidFill>
                            <a:latin typeface="Cambria Math" panose="02040503050406030204" pitchFamily="18" charset="0"/>
                            <a:ea typeface="Cambria Math" panose="02040503050406030204" pitchFamily="18" charset="0"/>
                          </a:rPr>
                          <m:t>𝑋</m:t>
                        </m:r>
                      </m:e>
                      <m:sub>
                        <m:r>
                          <a:rPr kumimoji="1" lang="en-US" altLang="zh-TW" i="1">
                            <a:solidFill>
                              <a:schemeClr val="tx1"/>
                            </a:solidFill>
                            <a:latin typeface="Cambria Math" panose="02040503050406030204" pitchFamily="18" charset="0"/>
                            <a:ea typeface="Cambria Math" panose="02040503050406030204" pitchFamily="18" charset="0"/>
                          </a:rPr>
                          <m:t>𝑚</m:t>
                        </m:r>
                      </m:sub>
                      <m:sup>
                        <m:r>
                          <a:rPr kumimoji="1" lang="en-US" altLang="zh-TW" i="1">
                            <a:solidFill>
                              <a:schemeClr val="tx1"/>
                            </a:solidFill>
                            <a:latin typeface="Cambria Math" panose="02040503050406030204" pitchFamily="18" charset="0"/>
                            <a:ea typeface="Cambria Math" panose="02040503050406030204" pitchFamily="18" charset="0"/>
                          </a:rPr>
                          <m:t>𝑇</m:t>
                        </m:r>
                      </m:sup>
                    </m:sSubSup>
                    <m:sSub>
                      <m:sSubPr>
                        <m:ctrlPr>
                          <a:rPr kumimoji="1" lang="en-US" altLang="zh-TW" i="1">
                            <a:solidFill>
                              <a:schemeClr val="tx1"/>
                            </a:solidFill>
                            <a:latin typeface="Cambria Math" panose="02040503050406030204" pitchFamily="18" charset="0"/>
                            <a:ea typeface="Cambria Math" panose="02040503050406030204" pitchFamily="18" charset="0"/>
                          </a:rPr>
                        </m:ctrlPr>
                      </m:sSubPr>
                      <m:e>
                        <m:r>
                          <a:rPr kumimoji="1" lang="en-US" altLang="zh-TW" i="1">
                            <a:solidFill>
                              <a:schemeClr val="tx1"/>
                            </a:solidFill>
                            <a:latin typeface="Cambria Math" panose="02040503050406030204" pitchFamily="18" charset="0"/>
                            <a:ea typeface="Cambria Math" panose="02040503050406030204" pitchFamily="18" charset="0"/>
                          </a:rPr>
                          <m:t>𝑟</m:t>
                        </m:r>
                      </m:e>
                      <m:sub>
                        <m:r>
                          <a:rPr kumimoji="1" lang="en-US" altLang="zh-TW" i="1">
                            <a:solidFill>
                              <a:schemeClr val="tx1"/>
                            </a:solidFill>
                            <a:latin typeface="Cambria Math" panose="02040503050406030204" pitchFamily="18" charset="0"/>
                            <a:ea typeface="Cambria Math" panose="02040503050406030204" pitchFamily="18" charset="0"/>
                          </a:rPr>
                          <m:t>𝑚</m:t>
                        </m:r>
                      </m:sub>
                    </m:sSub>
                    <m:r>
                      <a:rPr kumimoji="1" lang="en-US" altLang="zh-TW" i="1">
                        <a:solidFill>
                          <a:schemeClr val="tx1"/>
                        </a:solidFill>
                        <a:latin typeface="Cambria Math" panose="02040503050406030204" pitchFamily="18" charset="0"/>
                        <a:ea typeface="Cambria Math" panose="02040503050406030204" pitchFamily="18" charset="0"/>
                      </a:rPr>
                      <m:t>)</m:t>
                    </m:r>
                  </m:oMath>
                </a14:m>
                <a:endParaRPr lang="en" altLang="zh-TW" dirty="0">
                  <a:solidFill>
                    <a:schemeClr val="tx1"/>
                  </a:solidFill>
                  <a:latin typeface="Times" pitchFamily="2" charset="0"/>
                </a:endParaRPr>
              </a:p>
              <a:p>
                <a:pPr marL="0" indent="0">
                  <a:buNone/>
                </a:pPr>
                <a:endParaRPr lang="en" altLang="zh-TW" dirty="0">
                  <a:solidFill>
                    <a:srgbClr val="C00000"/>
                  </a:solidFill>
                  <a:latin typeface="Times" pitchFamily="2" charset="0"/>
                </a:endParaRPr>
              </a:p>
              <a:p>
                <a:pPr marL="0" indent="0">
                  <a:buNone/>
                </a:pPr>
                <a:endParaRPr lang="en" altLang="zh-TW" dirty="0">
                  <a:latin typeface="Times" pitchFamily="2" charset="0"/>
                </a:endParaRPr>
              </a:p>
              <a:p>
                <a:pPr marL="0" indent="0">
                  <a:buNone/>
                </a:pPr>
                <a:r>
                  <a:rPr lang="en" altLang="zh-TW" dirty="0">
                    <a:latin typeface="Times" pitchFamily="2" charset="0"/>
                  </a:rPr>
                  <a:t>CSTSR predicts the bid associated with the maximum potential rewards.</a:t>
                </a:r>
              </a:p>
            </p:txBody>
          </p:sp>
        </mc:Choice>
        <mc:Fallback>
          <p:sp>
            <p:nvSpPr>
              <p:cNvPr id="3" name="內容版面配置區 2">
                <a:extLst>
                  <a:ext uri="{FF2B5EF4-FFF2-40B4-BE49-F238E27FC236}">
                    <a16:creationId xmlns:a16="http://schemas.microsoft.com/office/drawing/2014/main" id="{E2083B75-83B6-8B43-A9F2-2A6E7A8C2646}"/>
                  </a:ext>
                </a:extLst>
              </p:cNvPr>
              <p:cNvSpPr>
                <a:spLocks noGrp="1" noRot="1" noChangeAspect="1" noMove="1" noResize="1" noEditPoints="1" noAdjustHandles="1" noChangeArrowheads="1" noChangeShapeType="1" noTextEdit="1"/>
              </p:cNvSpPr>
              <p:nvPr>
                <p:ph idx="1"/>
              </p:nvPr>
            </p:nvSpPr>
            <p:spPr>
              <a:blipFill>
                <a:blip r:embed="rId3"/>
                <a:stretch>
                  <a:fillRect l="-1206" r="-965"/>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15855D26-591F-6B40-A35A-937EC056CE5F}"/>
              </a:ext>
            </a:extLst>
          </p:cNvPr>
          <p:cNvSpPr>
            <a:spLocks noGrp="1"/>
          </p:cNvSpPr>
          <p:nvPr>
            <p:ph type="sldNum" sz="quarter" idx="12"/>
          </p:nvPr>
        </p:nvSpPr>
        <p:spPr/>
        <p:txBody>
          <a:bodyPr/>
          <a:lstStyle/>
          <a:p>
            <a:fld id="{D1303F21-0339-114F-A835-EDFAC68AEBBB}" type="slidenum">
              <a:rPr kumimoji="1" lang="zh-TW" altLang="en-US" smtClean="0"/>
              <a:t>9</a:t>
            </a:fld>
            <a:endParaRPr kumimoji="1" lang="zh-TW" altLang="en-US" dirty="0"/>
          </a:p>
        </p:txBody>
      </p:sp>
      <mc:AlternateContent xmlns:mc="http://schemas.openxmlformats.org/markup-compatibility/2006">
        <mc:Choice xmlns:a14="http://schemas.microsoft.com/office/drawing/2010/main" Requires="a14">
          <p:sp>
            <p:nvSpPr>
              <p:cNvPr id="5" name="文字方塊 4">
                <a:extLst>
                  <a:ext uri="{FF2B5EF4-FFF2-40B4-BE49-F238E27FC236}">
                    <a16:creationId xmlns:a16="http://schemas.microsoft.com/office/drawing/2014/main" id="{D850AEF9-2D32-2944-AEB9-4F83F4FBC26A}"/>
                  </a:ext>
                </a:extLst>
              </p:cNvPr>
              <p:cNvSpPr txBox="1"/>
              <p:nvPr/>
            </p:nvSpPr>
            <p:spPr>
              <a:xfrm>
                <a:off x="6443535" y="4030861"/>
                <a:ext cx="4556760" cy="369332"/>
              </a:xfrm>
              <a:prstGeom prst="rect">
                <a:avLst/>
              </a:prstGeom>
              <a:noFill/>
              <a:ln w="19050">
                <a:solidFill>
                  <a:schemeClr val="accent6">
                    <a:lumMod val="60000"/>
                    <a:lumOff val="40000"/>
                  </a:schemeClr>
                </a:solidFill>
                <a:prstDash val="dash"/>
              </a:ln>
            </p:spPr>
            <p:txBody>
              <a:bodyPr wrap="square">
                <a:spAutoFit/>
              </a:bodyPr>
              <a:lstStyle/>
              <a:p>
                <a14:m>
                  <m:oMath xmlns:m="http://schemas.openxmlformats.org/officeDocument/2006/math">
                    <m:sSub>
                      <m:sSubPr>
                        <m:ctrlPr>
                          <a:rPr kumimoji="1" lang="en-US" altLang="zh-TW" i="1" smtClean="0">
                            <a:latin typeface="Cambria Math" panose="02040503050406030204" pitchFamily="18" charset="0"/>
                          </a:rPr>
                        </m:ctrlPr>
                      </m:sSubPr>
                      <m:e>
                        <m:r>
                          <a:rPr kumimoji="1" lang="en-US" altLang="zh-TW" b="0" i="1" smtClean="0">
                            <a:latin typeface="Cambria Math" panose="02040503050406030204" pitchFamily="18" charset="0"/>
                          </a:rPr>
                          <m:t>𝑟</m:t>
                        </m:r>
                      </m:e>
                      <m:sub>
                        <m:r>
                          <a:rPr kumimoji="1" lang="en-US" altLang="zh-TW" i="1">
                            <a:latin typeface="Cambria Math" panose="02040503050406030204" pitchFamily="18" charset="0"/>
                          </a:rPr>
                          <m:t>𝑚</m:t>
                        </m:r>
                      </m:sub>
                    </m:sSub>
                  </m:oMath>
                </a14:m>
                <a:r>
                  <a:rPr lang="en-US" altLang="zh-TW" dirty="0"/>
                  <a:t> : </a:t>
                </a:r>
                <a:r>
                  <a:rPr lang="en-US" altLang="zh-TW" dirty="0">
                    <a:latin typeface="Times" pitchFamily="2" charset="0"/>
                  </a:rPr>
                  <a:t>all the rewards gathered when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𝑏</m:t>
                        </m:r>
                      </m:e>
                      <m:sub>
                        <m:r>
                          <a:rPr kumimoji="1" lang="en-US" altLang="zh-TW" i="1">
                            <a:latin typeface="Cambria Math" panose="02040503050406030204" pitchFamily="18" charset="0"/>
                          </a:rPr>
                          <m:t>𝑚</m:t>
                        </m:r>
                      </m:sub>
                    </m:sSub>
                    <m:r>
                      <a:rPr kumimoji="1" lang="en-US" altLang="zh-TW" i="1">
                        <a:latin typeface="Cambria Math" panose="02040503050406030204" pitchFamily="18" charset="0"/>
                      </a:rPr>
                      <m:t> </m:t>
                    </m:r>
                  </m:oMath>
                </a14:m>
                <a:r>
                  <a:rPr lang="en-US" altLang="zh-TW" dirty="0">
                    <a:latin typeface="Times" pitchFamily="2" charset="0"/>
                  </a:rPr>
                  <a:t>is made</a:t>
                </a:r>
              </a:p>
            </p:txBody>
          </p:sp>
        </mc:Choice>
        <mc:Fallback>
          <p:sp>
            <p:nvSpPr>
              <p:cNvPr id="5" name="文字方塊 4">
                <a:extLst>
                  <a:ext uri="{FF2B5EF4-FFF2-40B4-BE49-F238E27FC236}">
                    <a16:creationId xmlns:a16="http://schemas.microsoft.com/office/drawing/2014/main" id="{D850AEF9-2D32-2944-AEB9-4F83F4FBC26A}"/>
                  </a:ext>
                </a:extLst>
              </p:cNvPr>
              <p:cNvSpPr txBox="1">
                <a:spLocks noRot="1" noChangeAspect="1" noMove="1" noResize="1" noEditPoints="1" noAdjustHandles="1" noChangeArrowheads="1" noChangeShapeType="1" noTextEdit="1"/>
              </p:cNvSpPr>
              <p:nvPr/>
            </p:nvSpPr>
            <p:spPr>
              <a:xfrm>
                <a:off x="6443535" y="4030861"/>
                <a:ext cx="4556760" cy="369332"/>
              </a:xfrm>
              <a:prstGeom prst="rect">
                <a:avLst/>
              </a:prstGeom>
              <a:blipFill>
                <a:blip r:embed="rId4"/>
                <a:stretch>
                  <a:fillRect t="-6250" b="-18750"/>
                </a:stretch>
              </a:blipFill>
              <a:ln w="19050">
                <a:solidFill>
                  <a:schemeClr val="accent6">
                    <a:lumMod val="60000"/>
                    <a:lumOff val="40000"/>
                  </a:schemeClr>
                </a:solidFill>
                <a:prstDash val="dash"/>
              </a:ln>
            </p:spPr>
            <p:txBody>
              <a:bodyPr/>
              <a:lstStyle/>
              <a:p>
                <a:r>
                  <a:rPr lang="zh-TW" altLang="en-US">
                    <a:noFill/>
                  </a:rPr>
                  <a:t> </a:t>
                </a:r>
              </a:p>
            </p:txBody>
          </p:sp>
        </mc:Fallback>
      </mc:AlternateContent>
      <p:cxnSp>
        <p:nvCxnSpPr>
          <p:cNvPr id="7" name="直線接點 6">
            <a:extLst>
              <a:ext uri="{FF2B5EF4-FFF2-40B4-BE49-F238E27FC236}">
                <a16:creationId xmlns:a16="http://schemas.microsoft.com/office/drawing/2014/main" id="{3F7C6AF2-5EB3-4D49-B316-09FDECA2397B}"/>
              </a:ext>
            </a:extLst>
          </p:cNvPr>
          <p:cNvCxnSpPr/>
          <p:nvPr/>
        </p:nvCxnSpPr>
        <p:spPr>
          <a:xfrm>
            <a:off x="4967416" y="4242008"/>
            <a:ext cx="383060" cy="0"/>
          </a:xfrm>
          <a:prstGeom prst="line">
            <a:avLst/>
          </a:prstGeom>
          <a:ln w="762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8" name="文字方塊 7">
                <a:extLst>
                  <a:ext uri="{FF2B5EF4-FFF2-40B4-BE49-F238E27FC236}">
                    <a16:creationId xmlns:a16="http://schemas.microsoft.com/office/drawing/2014/main" id="{09B089B8-B796-644B-B663-F3FFEB2FF948}"/>
                  </a:ext>
                </a:extLst>
              </p:cNvPr>
              <p:cNvSpPr txBox="1"/>
              <p:nvPr/>
            </p:nvSpPr>
            <p:spPr>
              <a:xfrm>
                <a:off x="6443535" y="4535130"/>
                <a:ext cx="4215714" cy="369332"/>
              </a:xfrm>
              <a:prstGeom prst="rect">
                <a:avLst/>
              </a:prstGeom>
              <a:noFill/>
              <a:ln w="19050">
                <a:solidFill>
                  <a:schemeClr val="accent5">
                    <a:lumMod val="60000"/>
                    <a:lumOff val="40000"/>
                  </a:schemeClr>
                </a:solidFill>
                <a:prstDash val="dash"/>
              </a:ln>
            </p:spPr>
            <p:txBody>
              <a:bodyPr wrap="square">
                <a:spAutoFit/>
              </a:bodyPr>
              <a:lstStyle/>
              <a:p>
                <a14:m>
                  <m:oMath xmlns:m="http://schemas.openxmlformats.org/officeDocument/2006/math">
                    <m:sSub>
                      <m:sSubPr>
                        <m:ctrlPr>
                          <a:rPr kumimoji="1" lang="en-US" altLang="zh-TW" i="1">
                            <a:latin typeface="Cambria Math" panose="02040503050406030204" pitchFamily="18" charset="0"/>
                          </a:rPr>
                        </m:ctrlPr>
                      </m:sSubPr>
                      <m:e>
                        <m:r>
                          <a:rPr kumimoji="1" lang="en-US" altLang="zh-TW" b="0" i="1" smtClean="0">
                            <a:latin typeface="Cambria Math" panose="02040503050406030204" pitchFamily="18" charset="0"/>
                          </a:rPr>
                          <m:t>𝑋</m:t>
                        </m:r>
                      </m:e>
                      <m:sub>
                        <m:r>
                          <a:rPr kumimoji="1" lang="en-US" altLang="zh-TW" i="1">
                            <a:latin typeface="Cambria Math" panose="02040503050406030204" pitchFamily="18" charset="0"/>
                          </a:rPr>
                          <m:t>𝑚</m:t>
                        </m:r>
                      </m:sub>
                    </m:sSub>
                  </m:oMath>
                </a14:m>
                <a:r>
                  <a:rPr lang="en-US" altLang="zh-TW" dirty="0">
                    <a:latin typeface="Times" pitchFamily="2" charset="0"/>
                  </a:rPr>
                  <a:t>: all the x associated with those rewards</a:t>
                </a:r>
              </a:p>
            </p:txBody>
          </p:sp>
        </mc:Choice>
        <mc:Fallback>
          <p:sp>
            <p:nvSpPr>
              <p:cNvPr id="8" name="文字方塊 7">
                <a:extLst>
                  <a:ext uri="{FF2B5EF4-FFF2-40B4-BE49-F238E27FC236}">
                    <a16:creationId xmlns:a16="http://schemas.microsoft.com/office/drawing/2014/main" id="{09B089B8-B796-644B-B663-F3FFEB2FF948}"/>
                  </a:ext>
                </a:extLst>
              </p:cNvPr>
              <p:cNvSpPr txBox="1">
                <a:spLocks noRot="1" noChangeAspect="1" noMove="1" noResize="1" noEditPoints="1" noAdjustHandles="1" noChangeArrowheads="1" noChangeShapeType="1" noTextEdit="1"/>
              </p:cNvSpPr>
              <p:nvPr/>
            </p:nvSpPr>
            <p:spPr>
              <a:xfrm>
                <a:off x="6443535" y="4535130"/>
                <a:ext cx="4215714" cy="369332"/>
              </a:xfrm>
              <a:prstGeom prst="rect">
                <a:avLst/>
              </a:prstGeom>
              <a:blipFill>
                <a:blip r:embed="rId5"/>
                <a:stretch>
                  <a:fillRect t="-6250" b="-18750"/>
                </a:stretch>
              </a:blipFill>
              <a:ln w="19050">
                <a:solidFill>
                  <a:schemeClr val="accent5">
                    <a:lumMod val="60000"/>
                    <a:lumOff val="40000"/>
                  </a:schemeClr>
                </a:solidFill>
                <a:prstDash val="dash"/>
              </a:ln>
            </p:spPr>
            <p:txBody>
              <a:bodyPr/>
              <a:lstStyle/>
              <a:p>
                <a:r>
                  <a:rPr lang="zh-TW" altLang="en-US">
                    <a:noFill/>
                  </a:rPr>
                  <a:t> </a:t>
                </a:r>
              </a:p>
            </p:txBody>
          </p:sp>
        </mc:Fallback>
      </mc:AlternateContent>
      <p:cxnSp>
        <p:nvCxnSpPr>
          <p:cNvPr id="9" name="直線接點 8">
            <a:extLst>
              <a:ext uri="{FF2B5EF4-FFF2-40B4-BE49-F238E27FC236}">
                <a16:creationId xmlns:a16="http://schemas.microsoft.com/office/drawing/2014/main" id="{E781E2B4-79DD-644B-92B3-642A9FAA3C7E}"/>
              </a:ext>
            </a:extLst>
          </p:cNvPr>
          <p:cNvCxnSpPr/>
          <p:nvPr/>
        </p:nvCxnSpPr>
        <p:spPr>
          <a:xfrm>
            <a:off x="2623751" y="4242008"/>
            <a:ext cx="383060" cy="0"/>
          </a:xfrm>
          <a:prstGeom prst="line">
            <a:avLst/>
          </a:prstGeom>
          <a:ln w="762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 name="直線接點 9">
            <a:extLst>
              <a:ext uri="{FF2B5EF4-FFF2-40B4-BE49-F238E27FC236}">
                <a16:creationId xmlns:a16="http://schemas.microsoft.com/office/drawing/2014/main" id="{6E039A1F-6856-A24B-872C-93D3663C2D13}"/>
              </a:ext>
            </a:extLst>
          </p:cNvPr>
          <p:cNvCxnSpPr/>
          <p:nvPr/>
        </p:nvCxnSpPr>
        <p:spPr>
          <a:xfrm>
            <a:off x="3513438" y="4242008"/>
            <a:ext cx="383060" cy="0"/>
          </a:xfrm>
          <a:prstGeom prst="line">
            <a:avLst/>
          </a:prstGeom>
          <a:ln w="762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221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FDF01EB-A175-3F4A-8121-EDA3DB55ADBC}"/>
              </a:ext>
            </a:extLst>
          </p:cNvPr>
          <p:cNvSpPr>
            <a:spLocks noGrp="1"/>
          </p:cNvSpPr>
          <p:nvPr>
            <p:ph type="title"/>
          </p:nvPr>
        </p:nvSpPr>
        <p:spPr/>
        <p:txBody>
          <a:bodyPr/>
          <a:lstStyle/>
          <a:p>
            <a:pPr algn="ctr"/>
            <a:r>
              <a:rPr lang="en" altLang="zh-TW" b="1" dirty="0" err="1">
                <a:latin typeface="Times" pitchFamily="2" charset="0"/>
              </a:rPr>
              <a:t>LinUCB</a:t>
            </a:r>
            <a:r>
              <a:rPr lang="en" altLang="zh-TW" b="1" dirty="0">
                <a:latin typeface="Times" pitchFamily="2" charset="0"/>
              </a:rPr>
              <a:t> algorithm</a:t>
            </a:r>
          </a:p>
        </p:txBody>
      </p:sp>
      <mc:AlternateContent xmlns:mc="http://schemas.openxmlformats.org/markup-compatibility/2006" xmlns:a14="http://schemas.microsoft.com/office/drawing/2010/main">
        <mc:Choice Requires="a14">
          <p:sp>
            <p:nvSpPr>
              <p:cNvPr id="4" name="內容版面配置區 3">
                <a:extLst>
                  <a:ext uri="{FF2B5EF4-FFF2-40B4-BE49-F238E27FC236}">
                    <a16:creationId xmlns:a16="http://schemas.microsoft.com/office/drawing/2014/main" id="{8A6BE93E-2F86-BC49-9E2C-8FC6A6AF5F77}"/>
                  </a:ext>
                </a:extLst>
              </p:cNvPr>
              <p:cNvSpPr>
                <a:spLocks noGrp="1"/>
              </p:cNvSpPr>
              <p:nvPr>
                <p:ph idx="1"/>
              </p:nvPr>
            </p:nvSpPr>
            <p:spPr/>
            <p:txBody>
              <a:bodyPr>
                <a:normAutofit lnSpcReduction="10000"/>
              </a:bodyPr>
              <a:lstStyle/>
              <a:p>
                <a:pPr>
                  <a:lnSpc>
                    <a:spcPct val="150000"/>
                  </a:lnSpc>
                </a:pPr>
                <a:r>
                  <a:rPr kumimoji="1" lang="en-US" altLang="zh-TW" dirty="0">
                    <a:latin typeface="Times" pitchFamily="2" charset="0"/>
                  </a:rPr>
                  <a:t>Upper confidence bound(UCB)</a:t>
                </a:r>
              </a:p>
              <a:p>
                <a:pPr>
                  <a:lnSpc>
                    <a:spcPct val="150000"/>
                  </a:lnSpc>
                </a:pPr>
                <a:r>
                  <a:rPr kumimoji="1" lang="en-US" altLang="zh-TW" dirty="0" err="1">
                    <a:latin typeface="Times" pitchFamily="2" charset="0"/>
                  </a:rPr>
                  <a:t>LinUCB</a:t>
                </a:r>
                <a:r>
                  <a:rPr kumimoji="1" lang="en-US" altLang="zh-TW" dirty="0">
                    <a:latin typeface="Times" pitchFamily="2" charset="0"/>
                  </a:rPr>
                  <a:t>: selecting the bid that maximized</a:t>
                </a:r>
              </a:p>
              <a:p>
                <a:pPr marL="0" indent="0">
                  <a:lnSpc>
                    <a:spcPct val="150000"/>
                  </a:lnSpc>
                  <a:buNone/>
                </a:pPr>
                <a:r>
                  <a:rPr kumimoji="1" lang="en-US" altLang="zh-TW" dirty="0">
                    <a:solidFill>
                      <a:srgbClr val="C00000"/>
                    </a:solidFill>
                    <a:latin typeface="Times" pitchFamily="2" charset="0"/>
                  </a:rPr>
                  <a:t>	</a:t>
                </a:r>
                <a14:m>
                  <m:oMath xmlns:m="http://schemas.openxmlformats.org/officeDocument/2006/math">
                    <m:sSubSup>
                      <m:sSubSupPr>
                        <m:ctrlPr>
                          <a:rPr kumimoji="1" lang="en-US" altLang="zh-TW" i="1" smtClean="0">
                            <a:solidFill>
                              <a:srgbClr val="C00000"/>
                            </a:solidFill>
                            <a:latin typeface="Cambria Math" panose="02040503050406030204" pitchFamily="18" charset="0"/>
                          </a:rPr>
                        </m:ctrlPr>
                      </m:sSubSupPr>
                      <m:e>
                        <m:r>
                          <a:rPr kumimoji="1" lang="en-US" altLang="zh-TW" i="1">
                            <a:solidFill>
                              <a:srgbClr val="C00000"/>
                            </a:solidFill>
                            <a:latin typeface="Cambria Math" panose="02040503050406030204" pitchFamily="18" charset="0"/>
                          </a:rPr>
                          <m:t>𝑤</m:t>
                        </m:r>
                      </m:e>
                      <m:sub>
                        <m:r>
                          <a:rPr kumimoji="1" lang="en-US" altLang="zh-TW" i="1">
                            <a:solidFill>
                              <a:srgbClr val="C00000"/>
                            </a:solidFill>
                            <a:latin typeface="Cambria Math" panose="02040503050406030204" pitchFamily="18" charset="0"/>
                          </a:rPr>
                          <m:t>𝑚</m:t>
                        </m:r>
                      </m:sub>
                      <m:sup>
                        <m:r>
                          <a:rPr kumimoji="1" lang="en-US" altLang="zh-TW" i="1">
                            <a:solidFill>
                              <a:srgbClr val="C00000"/>
                            </a:solidFill>
                            <a:latin typeface="Cambria Math" panose="02040503050406030204" pitchFamily="18" charset="0"/>
                          </a:rPr>
                          <m:t>𝑇</m:t>
                        </m:r>
                      </m:sup>
                    </m:sSubSup>
                    <m:r>
                      <a:rPr kumimoji="1" lang="en-US" altLang="zh-TW" i="1">
                        <a:solidFill>
                          <a:srgbClr val="C00000"/>
                        </a:solidFill>
                        <a:latin typeface="Cambria Math" panose="02040503050406030204" pitchFamily="18" charset="0"/>
                      </a:rPr>
                      <m:t>𝑋</m:t>
                    </m:r>
                  </m:oMath>
                </a14:m>
                <a:r>
                  <a:rPr kumimoji="1" lang="en-US" altLang="zh-TW" dirty="0">
                    <a:solidFill>
                      <a:schemeClr val="accent6">
                        <a:lumMod val="50000"/>
                      </a:schemeClr>
                    </a:solidFill>
                  </a:rPr>
                  <a:t> + </a:t>
                </a:r>
                <a14:m>
                  <m:oMath xmlns:m="http://schemas.openxmlformats.org/officeDocument/2006/math">
                    <m:r>
                      <a:rPr kumimoji="1" lang="en-US" altLang="zh-TW" i="1" smtClean="0">
                        <a:solidFill>
                          <a:schemeClr val="accent6">
                            <a:lumMod val="75000"/>
                          </a:schemeClr>
                        </a:solidFill>
                        <a:latin typeface="Cambria Math" panose="02040503050406030204" pitchFamily="18" charset="0"/>
                        <a:ea typeface="Cambria Math" panose="02040503050406030204" pitchFamily="18" charset="0"/>
                      </a:rPr>
                      <m:t>𝛼</m:t>
                    </m:r>
                    <m:rad>
                      <m:radPr>
                        <m:degHide m:val="on"/>
                        <m:ctrlPr>
                          <a:rPr kumimoji="1" lang="en-US" altLang="zh-TW" i="1">
                            <a:solidFill>
                              <a:schemeClr val="accent4">
                                <a:lumMod val="50000"/>
                              </a:schemeClr>
                            </a:solidFill>
                            <a:latin typeface="Cambria Math" panose="02040503050406030204" pitchFamily="18" charset="0"/>
                            <a:ea typeface="Cambria Math" panose="02040503050406030204" pitchFamily="18" charset="0"/>
                          </a:rPr>
                        </m:ctrlPr>
                      </m:radPr>
                      <m:deg/>
                      <m:e>
                        <m:sSup>
                          <m:sSupPr>
                            <m:ctrlPr>
                              <a:rPr kumimoji="1" lang="en-US" altLang="zh-TW" i="1">
                                <a:solidFill>
                                  <a:schemeClr val="accent4">
                                    <a:lumMod val="50000"/>
                                  </a:schemeClr>
                                </a:solidFill>
                                <a:latin typeface="Cambria Math" panose="02040503050406030204" pitchFamily="18" charset="0"/>
                                <a:ea typeface="Cambria Math" panose="02040503050406030204" pitchFamily="18" charset="0"/>
                              </a:rPr>
                            </m:ctrlPr>
                          </m:sSupPr>
                          <m:e>
                            <m:r>
                              <a:rPr kumimoji="1" lang="en-US" altLang="zh-TW" i="1">
                                <a:solidFill>
                                  <a:schemeClr val="accent4">
                                    <a:lumMod val="50000"/>
                                  </a:schemeClr>
                                </a:solidFill>
                                <a:latin typeface="Cambria Math" panose="02040503050406030204" pitchFamily="18" charset="0"/>
                                <a:ea typeface="Cambria Math" panose="02040503050406030204" pitchFamily="18" charset="0"/>
                              </a:rPr>
                              <m:t>𝑋</m:t>
                            </m:r>
                          </m:e>
                          <m:sup>
                            <m:r>
                              <a:rPr kumimoji="1" lang="en-US" altLang="zh-TW" i="1">
                                <a:solidFill>
                                  <a:schemeClr val="accent4">
                                    <a:lumMod val="50000"/>
                                  </a:schemeClr>
                                </a:solidFill>
                                <a:latin typeface="Cambria Math" panose="02040503050406030204" pitchFamily="18" charset="0"/>
                                <a:ea typeface="Cambria Math" panose="02040503050406030204" pitchFamily="18" charset="0"/>
                              </a:rPr>
                              <m:t>𝑇</m:t>
                            </m:r>
                          </m:sup>
                        </m:sSup>
                        <m:r>
                          <a:rPr kumimoji="1" lang="en-US" altLang="zh-TW" b="0" i="1" smtClean="0">
                            <a:solidFill>
                              <a:schemeClr val="accent4">
                                <a:lumMod val="50000"/>
                              </a:schemeClr>
                            </a:solidFill>
                            <a:latin typeface="Cambria Math" panose="02040503050406030204" pitchFamily="18" charset="0"/>
                            <a:ea typeface="Cambria Math" panose="02040503050406030204" pitchFamily="18" charset="0"/>
                          </a:rPr>
                          <m:t>(</m:t>
                        </m:r>
                        <m:sSup>
                          <m:sSupPr>
                            <m:ctrlPr>
                              <a:rPr kumimoji="1" lang="en-US" altLang="zh-TW" i="1">
                                <a:solidFill>
                                  <a:schemeClr val="accent4">
                                    <a:lumMod val="50000"/>
                                  </a:schemeClr>
                                </a:solidFill>
                                <a:latin typeface="Cambria Math" panose="02040503050406030204" pitchFamily="18" charset="0"/>
                                <a:ea typeface="Cambria Math" panose="02040503050406030204" pitchFamily="18" charset="0"/>
                              </a:rPr>
                            </m:ctrlPr>
                          </m:sSupPr>
                          <m:e>
                            <m:sSubSup>
                              <m:sSubSupPr>
                                <m:ctrlPr>
                                  <a:rPr kumimoji="1" lang="en-US" altLang="zh-TW" i="1">
                                    <a:solidFill>
                                      <a:schemeClr val="accent4">
                                        <a:lumMod val="50000"/>
                                      </a:schemeClr>
                                    </a:solidFill>
                                    <a:latin typeface="Cambria Math" panose="02040503050406030204" pitchFamily="18" charset="0"/>
                                    <a:ea typeface="Cambria Math" panose="02040503050406030204" pitchFamily="18" charset="0"/>
                                  </a:rPr>
                                </m:ctrlPr>
                              </m:sSubSupPr>
                              <m:e>
                                <m:r>
                                  <a:rPr kumimoji="1" lang="en-US" altLang="zh-TW" i="1">
                                    <a:solidFill>
                                      <a:schemeClr val="accent4">
                                        <a:lumMod val="50000"/>
                                      </a:schemeClr>
                                    </a:solidFill>
                                    <a:latin typeface="Cambria Math" panose="02040503050406030204" pitchFamily="18" charset="0"/>
                                    <a:ea typeface="Cambria Math" panose="02040503050406030204" pitchFamily="18" charset="0"/>
                                  </a:rPr>
                                  <m:t>𝑋</m:t>
                                </m:r>
                              </m:e>
                              <m:sub>
                                <m:r>
                                  <a:rPr kumimoji="1" lang="en-US" altLang="zh-TW" i="1">
                                    <a:solidFill>
                                      <a:schemeClr val="accent4">
                                        <a:lumMod val="50000"/>
                                      </a:schemeClr>
                                    </a:solidFill>
                                    <a:latin typeface="Cambria Math" panose="02040503050406030204" pitchFamily="18" charset="0"/>
                                    <a:ea typeface="Cambria Math" panose="02040503050406030204" pitchFamily="18" charset="0"/>
                                  </a:rPr>
                                  <m:t>𝑚</m:t>
                                </m:r>
                              </m:sub>
                              <m:sup>
                                <m:r>
                                  <a:rPr kumimoji="1" lang="en-US" altLang="zh-TW" i="1">
                                    <a:solidFill>
                                      <a:schemeClr val="accent4">
                                        <a:lumMod val="50000"/>
                                      </a:schemeClr>
                                    </a:solidFill>
                                    <a:latin typeface="Cambria Math" panose="02040503050406030204" pitchFamily="18" charset="0"/>
                                    <a:ea typeface="Cambria Math" panose="02040503050406030204" pitchFamily="18" charset="0"/>
                                  </a:rPr>
                                  <m:t>𝑇</m:t>
                                </m:r>
                              </m:sup>
                            </m:sSubSup>
                            <m:sSub>
                              <m:sSubPr>
                                <m:ctrlPr>
                                  <a:rPr kumimoji="1" lang="en-US" altLang="zh-TW" i="1">
                                    <a:solidFill>
                                      <a:schemeClr val="accent4">
                                        <a:lumMod val="50000"/>
                                      </a:schemeClr>
                                    </a:solidFill>
                                    <a:latin typeface="Cambria Math" panose="02040503050406030204" pitchFamily="18" charset="0"/>
                                    <a:ea typeface="Cambria Math" panose="02040503050406030204" pitchFamily="18" charset="0"/>
                                  </a:rPr>
                                </m:ctrlPr>
                              </m:sSubPr>
                              <m:e>
                                <m:r>
                                  <a:rPr kumimoji="1" lang="en-US" altLang="zh-TW" i="1">
                                    <a:solidFill>
                                      <a:schemeClr val="accent4">
                                        <a:lumMod val="50000"/>
                                      </a:schemeClr>
                                    </a:solidFill>
                                    <a:latin typeface="Cambria Math" panose="02040503050406030204" pitchFamily="18" charset="0"/>
                                    <a:ea typeface="Cambria Math" panose="02040503050406030204" pitchFamily="18" charset="0"/>
                                  </a:rPr>
                                  <m:t>𝑋</m:t>
                                </m:r>
                              </m:e>
                              <m:sub>
                                <m:r>
                                  <a:rPr kumimoji="1" lang="en-US" altLang="zh-TW" i="1">
                                    <a:solidFill>
                                      <a:schemeClr val="accent4">
                                        <a:lumMod val="50000"/>
                                      </a:schemeClr>
                                    </a:solidFill>
                                    <a:latin typeface="Cambria Math" panose="02040503050406030204" pitchFamily="18" charset="0"/>
                                    <a:ea typeface="Cambria Math" panose="02040503050406030204" pitchFamily="18" charset="0"/>
                                  </a:rPr>
                                  <m:t>𝑚</m:t>
                                </m:r>
                              </m:sub>
                            </m:sSub>
                            <m:r>
                              <a:rPr kumimoji="1" lang="en-US" altLang="zh-TW" i="1">
                                <a:solidFill>
                                  <a:schemeClr val="accent4">
                                    <a:lumMod val="50000"/>
                                  </a:schemeClr>
                                </a:solidFill>
                                <a:latin typeface="Cambria Math" panose="02040503050406030204" pitchFamily="18" charset="0"/>
                                <a:ea typeface="Cambria Math" panose="02040503050406030204" pitchFamily="18" charset="0"/>
                              </a:rPr>
                              <m:t>+</m:t>
                            </m:r>
                            <m:r>
                              <a:rPr kumimoji="1" lang="en-US" altLang="zh-TW" i="1">
                                <a:solidFill>
                                  <a:schemeClr val="accent4">
                                    <a:lumMod val="50000"/>
                                  </a:schemeClr>
                                </a:solidFill>
                                <a:latin typeface="Cambria Math" panose="02040503050406030204" pitchFamily="18" charset="0"/>
                                <a:ea typeface="Cambria Math" panose="02040503050406030204" pitchFamily="18" charset="0"/>
                              </a:rPr>
                              <m:t>𝜆</m:t>
                            </m:r>
                            <m:r>
                              <a:rPr kumimoji="1" lang="en-US" altLang="zh-TW" i="1">
                                <a:solidFill>
                                  <a:schemeClr val="accent4">
                                    <a:lumMod val="50000"/>
                                  </a:schemeClr>
                                </a:solidFill>
                                <a:latin typeface="Cambria Math" panose="02040503050406030204" pitchFamily="18" charset="0"/>
                                <a:ea typeface="Cambria Math" panose="02040503050406030204" pitchFamily="18" charset="0"/>
                              </a:rPr>
                              <m:t>𝐼</m:t>
                            </m:r>
                            <m:r>
                              <a:rPr kumimoji="1" lang="en-US" altLang="zh-TW" i="1">
                                <a:solidFill>
                                  <a:schemeClr val="accent4">
                                    <a:lumMod val="50000"/>
                                  </a:schemeClr>
                                </a:solidFill>
                                <a:latin typeface="Cambria Math" panose="02040503050406030204" pitchFamily="18" charset="0"/>
                                <a:ea typeface="Cambria Math" panose="02040503050406030204" pitchFamily="18" charset="0"/>
                              </a:rPr>
                              <m:t>)</m:t>
                            </m:r>
                          </m:e>
                          <m:sup>
                            <m:r>
                              <a:rPr kumimoji="1" lang="en-US" altLang="zh-TW" i="1">
                                <a:solidFill>
                                  <a:schemeClr val="accent4">
                                    <a:lumMod val="50000"/>
                                  </a:schemeClr>
                                </a:solidFill>
                                <a:latin typeface="Cambria Math" panose="02040503050406030204" pitchFamily="18" charset="0"/>
                                <a:ea typeface="Cambria Math" panose="02040503050406030204" pitchFamily="18" charset="0"/>
                              </a:rPr>
                              <m:t>−1</m:t>
                            </m:r>
                          </m:sup>
                        </m:sSup>
                        <m:r>
                          <a:rPr kumimoji="1" lang="en-US" altLang="zh-TW" i="1">
                            <a:solidFill>
                              <a:schemeClr val="accent4">
                                <a:lumMod val="50000"/>
                              </a:schemeClr>
                            </a:solidFill>
                            <a:latin typeface="Cambria Math" panose="02040503050406030204" pitchFamily="18" charset="0"/>
                            <a:ea typeface="Cambria Math" panose="02040503050406030204" pitchFamily="18" charset="0"/>
                          </a:rPr>
                          <m:t>𝑋</m:t>
                        </m:r>
                      </m:e>
                    </m:rad>
                  </m:oMath>
                </a14:m>
                <a:endParaRPr kumimoji="1" lang="en-US" altLang="zh-TW" dirty="0">
                  <a:latin typeface="Times" pitchFamily="2" charset="0"/>
                </a:endParaRPr>
              </a:p>
              <a:p>
                <a:pPr marL="0" indent="0">
                  <a:lnSpc>
                    <a:spcPct val="150000"/>
                  </a:lnSpc>
                  <a:buNone/>
                </a:pPr>
                <a:endParaRPr kumimoji="1" lang="en-US" altLang="zh-TW" dirty="0">
                  <a:latin typeface="Times" pitchFamily="2" charset="0"/>
                </a:endParaRPr>
              </a:p>
              <a:p>
                <a:pPr>
                  <a:lnSpc>
                    <a:spcPct val="150000"/>
                  </a:lnSpc>
                </a:pPr>
                <a:r>
                  <a:rPr kumimoji="1" lang="en-US" altLang="zh-TW" dirty="0">
                    <a:latin typeface="Times" pitchFamily="2" charset="0"/>
                  </a:rPr>
                  <a:t>UCB1: </a:t>
                </a:r>
                <a14:m>
                  <m:oMath xmlns:m="http://schemas.openxmlformats.org/officeDocument/2006/math">
                    <m:sSubSup>
                      <m:sSubSupPr>
                        <m:ctrlPr>
                          <a:rPr kumimoji="1" lang="en-US" altLang="zh-TW" i="1" smtClean="0">
                            <a:solidFill>
                              <a:srgbClr val="C00000"/>
                            </a:solidFill>
                            <a:latin typeface="Cambria Math" panose="02040503050406030204" pitchFamily="18" charset="0"/>
                          </a:rPr>
                        </m:ctrlPr>
                      </m:sSubSupPr>
                      <m:e>
                        <m:r>
                          <a:rPr kumimoji="1" lang="en-US" altLang="zh-TW" i="1">
                            <a:solidFill>
                              <a:srgbClr val="C00000"/>
                            </a:solidFill>
                            <a:latin typeface="Cambria Math" panose="02040503050406030204" pitchFamily="18" charset="0"/>
                          </a:rPr>
                          <m:t>𝑤</m:t>
                        </m:r>
                      </m:e>
                      <m:sub>
                        <m:r>
                          <a:rPr kumimoji="1" lang="en-US" altLang="zh-TW" i="1">
                            <a:solidFill>
                              <a:srgbClr val="C00000"/>
                            </a:solidFill>
                            <a:latin typeface="Cambria Math" panose="02040503050406030204" pitchFamily="18" charset="0"/>
                          </a:rPr>
                          <m:t>𝑚</m:t>
                        </m:r>
                      </m:sub>
                      <m:sup>
                        <m:r>
                          <a:rPr kumimoji="1" lang="en-US" altLang="zh-TW" i="1">
                            <a:solidFill>
                              <a:srgbClr val="C00000"/>
                            </a:solidFill>
                            <a:latin typeface="Cambria Math" panose="02040503050406030204" pitchFamily="18" charset="0"/>
                          </a:rPr>
                          <m:t>𝑇</m:t>
                        </m:r>
                      </m:sup>
                    </m:sSubSup>
                    <m:r>
                      <a:rPr kumimoji="1" lang="en-US" altLang="zh-TW" i="1">
                        <a:solidFill>
                          <a:srgbClr val="C00000"/>
                        </a:solidFill>
                        <a:latin typeface="Cambria Math" panose="02040503050406030204" pitchFamily="18" charset="0"/>
                      </a:rPr>
                      <m:t>𝑋</m:t>
                    </m:r>
                  </m:oMath>
                </a14:m>
                <a:r>
                  <a:rPr kumimoji="1" lang="en-US" altLang="zh-TW" dirty="0">
                    <a:solidFill>
                      <a:schemeClr val="accent6">
                        <a:lumMod val="50000"/>
                      </a:schemeClr>
                    </a:solidFill>
                  </a:rPr>
                  <a:t> + </a:t>
                </a:r>
                <a14:m>
                  <m:oMath xmlns:m="http://schemas.openxmlformats.org/officeDocument/2006/math">
                    <m:rad>
                      <m:radPr>
                        <m:degHide m:val="on"/>
                        <m:ctrlPr>
                          <a:rPr kumimoji="1" lang="en-US" altLang="zh-TW" i="1">
                            <a:solidFill>
                              <a:schemeClr val="accent4">
                                <a:lumMod val="50000"/>
                              </a:schemeClr>
                            </a:solidFill>
                            <a:latin typeface="Cambria Math" panose="02040503050406030204" pitchFamily="18" charset="0"/>
                            <a:ea typeface="Cambria Math" panose="02040503050406030204" pitchFamily="18" charset="0"/>
                          </a:rPr>
                        </m:ctrlPr>
                      </m:radPr>
                      <m:deg/>
                      <m:e>
                        <m:f>
                          <m:fPr>
                            <m:ctrlPr>
                              <a:rPr kumimoji="1" lang="en-US" altLang="zh-TW" i="1">
                                <a:solidFill>
                                  <a:schemeClr val="accent4">
                                    <a:lumMod val="50000"/>
                                  </a:schemeClr>
                                </a:solidFill>
                                <a:latin typeface="Cambria Math" panose="02040503050406030204" pitchFamily="18" charset="0"/>
                                <a:ea typeface="Cambria Math" panose="02040503050406030204" pitchFamily="18" charset="0"/>
                              </a:rPr>
                            </m:ctrlPr>
                          </m:fPr>
                          <m:num>
                            <m:r>
                              <a:rPr kumimoji="1" lang="en-US" altLang="zh-TW" i="1">
                                <a:solidFill>
                                  <a:schemeClr val="accent4">
                                    <a:lumMod val="50000"/>
                                  </a:schemeClr>
                                </a:solidFill>
                                <a:latin typeface="Cambria Math" panose="02040503050406030204" pitchFamily="18" charset="0"/>
                                <a:ea typeface="Cambria Math" panose="02040503050406030204" pitchFamily="18" charset="0"/>
                              </a:rPr>
                              <m:t>2</m:t>
                            </m:r>
                            <m:r>
                              <m:rPr>
                                <m:sty m:val="p"/>
                              </m:rPr>
                              <a:rPr kumimoji="1" lang="en-US" altLang="zh-TW">
                                <a:solidFill>
                                  <a:schemeClr val="accent4">
                                    <a:lumMod val="50000"/>
                                  </a:schemeClr>
                                </a:solidFill>
                                <a:latin typeface="Cambria Math" panose="02040503050406030204" pitchFamily="18" charset="0"/>
                                <a:ea typeface="Cambria Math" panose="02040503050406030204" pitchFamily="18" charset="0"/>
                              </a:rPr>
                              <m:t>ln</m:t>
                            </m:r>
                            <m:r>
                              <a:rPr kumimoji="1" lang="en-US" altLang="zh-TW" i="1">
                                <a:solidFill>
                                  <a:schemeClr val="accent4">
                                    <a:lumMod val="50000"/>
                                  </a:schemeClr>
                                </a:solidFill>
                                <a:latin typeface="Cambria Math" panose="02040503050406030204" pitchFamily="18" charset="0"/>
                                <a:ea typeface="Cambria Math" panose="02040503050406030204" pitchFamily="18" charset="0"/>
                              </a:rPr>
                              <m:t>(</m:t>
                            </m:r>
                            <m:r>
                              <a:rPr kumimoji="1" lang="en-US" altLang="zh-TW" i="1" smtClean="0">
                                <a:solidFill>
                                  <a:schemeClr val="accent6">
                                    <a:lumMod val="50000"/>
                                  </a:schemeClr>
                                </a:solidFill>
                                <a:latin typeface="Cambria Math" panose="02040503050406030204" pitchFamily="18" charset="0"/>
                                <a:ea typeface="Cambria Math" panose="02040503050406030204" pitchFamily="18" charset="0"/>
                              </a:rPr>
                              <m:t>𝑇</m:t>
                            </m:r>
                            <m:r>
                              <a:rPr kumimoji="1" lang="en-US" altLang="zh-TW" i="1">
                                <a:solidFill>
                                  <a:schemeClr val="accent4">
                                    <a:lumMod val="50000"/>
                                  </a:schemeClr>
                                </a:solidFill>
                                <a:latin typeface="Cambria Math" panose="02040503050406030204" pitchFamily="18" charset="0"/>
                                <a:ea typeface="Cambria Math" panose="02040503050406030204" pitchFamily="18" charset="0"/>
                              </a:rPr>
                              <m:t>)</m:t>
                            </m:r>
                          </m:num>
                          <m:den>
                            <m:sSub>
                              <m:sSubPr>
                                <m:ctrlPr>
                                  <a:rPr kumimoji="1" lang="en-US" altLang="zh-TW" i="1" smtClean="0">
                                    <a:solidFill>
                                      <a:schemeClr val="accent5">
                                        <a:lumMod val="50000"/>
                                      </a:schemeClr>
                                    </a:solidFill>
                                    <a:latin typeface="Cambria Math" panose="02040503050406030204" pitchFamily="18" charset="0"/>
                                    <a:ea typeface="Cambria Math" panose="02040503050406030204" pitchFamily="18" charset="0"/>
                                  </a:rPr>
                                </m:ctrlPr>
                              </m:sSubPr>
                              <m:e>
                                <m:r>
                                  <a:rPr kumimoji="1" lang="en-US" altLang="zh-TW" i="1">
                                    <a:solidFill>
                                      <a:schemeClr val="accent5">
                                        <a:lumMod val="50000"/>
                                      </a:schemeClr>
                                    </a:solidFill>
                                    <a:latin typeface="Cambria Math" panose="02040503050406030204" pitchFamily="18" charset="0"/>
                                    <a:ea typeface="Cambria Math" panose="02040503050406030204" pitchFamily="18" charset="0"/>
                                  </a:rPr>
                                  <m:t>𝑇</m:t>
                                </m:r>
                              </m:e>
                              <m:sub>
                                <m:r>
                                  <a:rPr kumimoji="1" lang="en-US" altLang="zh-TW" i="1" smtClean="0">
                                    <a:solidFill>
                                      <a:schemeClr val="accent5">
                                        <a:lumMod val="50000"/>
                                      </a:schemeClr>
                                    </a:solidFill>
                                    <a:latin typeface="Cambria Math" panose="02040503050406030204" pitchFamily="18" charset="0"/>
                                    <a:ea typeface="Cambria Math" panose="02040503050406030204" pitchFamily="18" charset="0"/>
                                  </a:rPr>
                                  <m:t>𝑚</m:t>
                                </m:r>
                              </m:sub>
                            </m:sSub>
                          </m:den>
                        </m:f>
                      </m:e>
                    </m:rad>
                  </m:oMath>
                </a14:m>
                <a:endParaRPr kumimoji="1" lang="en-US" altLang="zh-TW" dirty="0">
                  <a:latin typeface="Times" pitchFamily="2" charset="0"/>
                </a:endParaRPr>
              </a:p>
            </p:txBody>
          </p:sp>
        </mc:Choice>
        <mc:Fallback xmlns="">
          <p:sp>
            <p:nvSpPr>
              <p:cNvPr id="4" name="內容版面配置區 3">
                <a:extLst>
                  <a:ext uri="{FF2B5EF4-FFF2-40B4-BE49-F238E27FC236}">
                    <a16:creationId xmlns:a16="http://schemas.microsoft.com/office/drawing/2014/main" id="{8A6BE93E-2F86-BC49-9E2C-8FC6A6AF5F77}"/>
                  </a:ext>
                </a:extLst>
              </p:cNvPr>
              <p:cNvSpPr>
                <a:spLocks noGrp="1" noRot="1" noChangeAspect="1" noMove="1" noResize="1" noEditPoints="1" noAdjustHandles="1" noChangeArrowheads="1" noChangeShapeType="1" noTextEdit="1"/>
              </p:cNvSpPr>
              <p:nvPr>
                <p:ph idx="1"/>
              </p:nvPr>
            </p:nvSpPr>
            <p:spPr>
              <a:blipFill>
                <a:blip r:embed="rId3"/>
                <a:stretch>
                  <a:fillRect l="-1086"/>
                </a:stretch>
              </a:blipFill>
            </p:spPr>
            <p:txBody>
              <a:bodyPr/>
              <a:lstStyle/>
              <a:p>
                <a:r>
                  <a:rPr lang="zh-TW" altLang="en-US">
                    <a:noFill/>
                  </a:rPr>
                  <a:t> </a:t>
                </a:r>
              </a:p>
            </p:txBody>
          </p:sp>
        </mc:Fallback>
      </mc:AlternateContent>
      <p:sp>
        <p:nvSpPr>
          <p:cNvPr id="3" name="投影片編號版面配置區 2">
            <a:extLst>
              <a:ext uri="{FF2B5EF4-FFF2-40B4-BE49-F238E27FC236}">
                <a16:creationId xmlns:a16="http://schemas.microsoft.com/office/drawing/2014/main" id="{DCD5AAAF-48D1-E24C-9A43-0A027F45BBD1}"/>
              </a:ext>
            </a:extLst>
          </p:cNvPr>
          <p:cNvSpPr>
            <a:spLocks noGrp="1"/>
          </p:cNvSpPr>
          <p:nvPr>
            <p:ph type="sldNum" sz="quarter" idx="12"/>
          </p:nvPr>
        </p:nvSpPr>
        <p:spPr/>
        <p:txBody>
          <a:bodyPr/>
          <a:lstStyle/>
          <a:p>
            <a:fld id="{D1303F21-0339-114F-A835-EDFAC68AEBBB}" type="slidenum">
              <a:rPr kumimoji="1" lang="zh-TW" altLang="en-US" smtClean="0"/>
              <a:t>10</a:t>
            </a:fld>
            <a:endParaRPr kumimoji="1" lang="zh-TW" altLang="en-US"/>
          </a:p>
        </p:txBody>
      </p:sp>
      <p:sp>
        <p:nvSpPr>
          <p:cNvPr id="19" name="文字方塊 18">
            <a:extLst>
              <a:ext uri="{FF2B5EF4-FFF2-40B4-BE49-F238E27FC236}">
                <a16:creationId xmlns:a16="http://schemas.microsoft.com/office/drawing/2014/main" id="{252ED917-6F8C-CD49-9D2B-31065EFC5847}"/>
              </a:ext>
            </a:extLst>
          </p:cNvPr>
          <p:cNvSpPr txBox="1"/>
          <p:nvPr/>
        </p:nvSpPr>
        <p:spPr>
          <a:xfrm>
            <a:off x="1444505" y="4030468"/>
            <a:ext cx="1896350" cy="400110"/>
          </a:xfrm>
          <a:prstGeom prst="rect">
            <a:avLst/>
          </a:prstGeom>
          <a:noFill/>
        </p:spPr>
        <p:txBody>
          <a:bodyPr wrap="square">
            <a:spAutoFit/>
          </a:bodyPr>
          <a:lstStyle/>
          <a:p>
            <a:pPr marL="0" indent="0">
              <a:buNone/>
            </a:pPr>
            <a:r>
              <a:rPr kumimoji="1" lang="en-US" altLang="zh-TW" sz="2000" dirty="0">
                <a:solidFill>
                  <a:srgbClr val="C00000"/>
                </a:solidFill>
                <a:latin typeface="Times" pitchFamily="2" charset="0"/>
              </a:rPr>
              <a:t>potential reward</a:t>
            </a:r>
          </a:p>
        </p:txBody>
      </p:sp>
      <p:sp>
        <p:nvSpPr>
          <p:cNvPr id="21" name="文字方塊 20">
            <a:extLst>
              <a:ext uri="{FF2B5EF4-FFF2-40B4-BE49-F238E27FC236}">
                <a16:creationId xmlns:a16="http://schemas.microsoft.com/office/drawing/2014/main" id="{0310A26A-06A2-684E-A494-117D881849AA}"/>
              </a:ext>
            </a:extLst>
          </p:cNvPr>
          <p:cNvSpPr txBox="1"/>
          <p:nvPr/>
        </p:nvSpPr>
        <p:spPr>
          <a:xfrm>
            <a:off x="3947160" y="4026206"/>
            <a:ext cx="1896350" cy="400110"/>
          </a:xfrm>
          <a:prstGeom prst="rect">
            <a:avLst/>
          </a:prstGeom>
          <a:noFill/>
        </p:spPr>
        <p:txBody>
          <a:bodyPr wrap="square">
            <a:spAutoFit/>
          </a:bodyPr>
          <a:lstStyle/>
          <a:p>
            <a:pPr marL="0" indent="0">
              <a:buNone/>
            </a:pPr>
            <a:r>
              <a:rPr kumimoji="1" lang="en-US" altLang="zh-TW" sz="2000" dirty="0">
                <a:solidFill>
                  <a:schemeClr val="accent4">
                    <a:lumMod val="50000"/>
                  </a:schemeClr>
                </a:solidFill>
                <a:latin typeface="Times" pitchFamily="2" charset="0"/>
              </a:rPr>
              <a:t>uncertainty of X</a:t>
            </a:r>
          </a:p>
        </p:txBody>
      </p:sp>
      <p:pic>
        <p:nvPicPr>
          <p:cNvPr id="38" name="圖片 37">
            <a:extLst>
              <a:ext uri="{FF2B5EF4-FFF2-40B4-BE49-F238E27FC236}">
                <a16:creationId xmlns:a16="http://schemas.microsoft.com/office/drawing/2014/main" id="{2B89994F-8905-8E4B-B274-2FC25A35926E}"/>
              </a:ext>
            </a:extLst>
          </p:cNvPr>
          <p:cNvPicPr>
            <a:picLocks noChangeAspect="1"/>
          </p:cNvPicPr>
          <p:nvPr/>
        </p:nvPicPr>
        <p:blipFill rotWithShape="1">
          <a:blip r:embed="rId4"/>
          <a:srcRect b="7742"/>
          <a:stretch/>
        </p:blipFill>
        <p:spPr>
          <a:xfrm>
            <a:off x="7709284" y="2291023"/>
            <a:ext cx="3644516" cy="2747963"/>
          </a:xfrm>
          <a:prstGeom prst="rect">
            <a:avLst/>
          </a:prstGeom>
        </p:spPr>
      </p:pic>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AC9141B9-4910-DE4F-9BC1-E130A8CCE3C0}"/>
                  </a:ext>
                </a:extLst>
              </p:cNvPr>
              <p:cNvSpPr txBox="1"/>
              <p:nvPr/>
            </p:nvSpPr>
            <p:spPr>
              <a:xfrm>
                <a:off x="5410927" y="5838409"/>
                <a:ext cx="4233013" cy="338554"/>
              </a:xfrm>
              <a:prstGeom prst="rect">
                <a:avLst/>
              </a:prstGeom>
              <a:noFill/>
            </p:spPr>
            <p:txBody>
              <a:bodyPr wrap="square">
                <a:spAutoFit/>
              </a:bodyPr>
              <a:lstStyle/>
              <a:p>
                <a14:m>
                  <m:oMath xmlns:m="http://schemas.openxmlformats.org/officeDocument/2006/math">
                    <m:sSub>
                      <m:sSubPr>
                        <m:ctrlPr>
                          <a:rPr kumimoji="1" lang="en-US" altLang="zh-TW" sz="1600" i="1" smtClean="0">
                            <a:solidFill>
                              <a:schemeClr val="accent5">
                                <a:lumMod val="50000"/>
                              </a:schemeClr>
                            </a:solidFill>
                            <a:latin typeface="Cambria Math" panose="02040503050406030204" pitchFamily="18" charset="0"/>
                            <a:ea typeface="Cambria Math" panose="02040503050406030204" pitchFamily="18" charset="0"/>
                          </a:rPr>
                        </m:ctrlPr>
                      </m:sSubPr>
                      <m:e>
                        <m:r>
                          <a:rPr kumimoji="1" lang="en-US" altLang="zh-TW" sz="1600" i="1">
                            <a:solidFill>
                              <a:schemeClr val="accent5">
                                <a:lumMod val="50000"/>
                              </a:schemeClr>
                            </a:solidFill>
                            <a:latin typeface="Cambria Math" panose="02040503050406030204" pitchFamily="18" charset="0"/>
                            <a:ea typeface="Cambria Math" panose="02040503050406030204" pitchFamily="18" charset="0"/>
                          </a:rPr>
                          <m:t>𝑇</m:t>
                        </m:r>
                      </m:e>
                      <m:sub>
                        <m:r>
                          <a:rPr kumimoji="1" lang="en-US" altLang="zh-TW" sz="1600" i="1">
                            <a:solidFill>
                              <a:schemeClr val="accent5">
                                <a:lumMod val="50000"/>
                              </a:schemeClr>
                            </a:solidFill>
                            <a:latin typeface="Cambria Math" panose="02040503050406030204" pitchFamily="18" charset="0"/>
                            <a:ea typeface="Cambria Math" panose="02040503050406030204" pitchFamily="18" charset="0"/>
                          </a:rPr>
                          <m:t>𝑚</m:t>
                        </m:r>
                      </m:sub>
                    </m:sSub>
                    <m:r>
                      <a:rPr kumimoji="1" lang="en-US" altLang="zh-TW" sz="1600" b="0" i="1" smtClean="0">
                        <a:solidFill>
                          <a:schemeClr val="accent5">
                            <a:lumMod val="50000"/>
                          </a:schemeClr>
                        </a:solidFill>
                        <a:latin typeface="Cambria Math" panose="02040503050406030204" pitchFamily="18" charset="0"/>
                        <a:ea typeface="Cambria Math" panose="02040503050406030204" pitchFamily="18" charset="0"/>
                      </a:rPr>
                      <m:t>:</m:t>
                    </m:r>
                    <m:r>
                      <a:rPr kumimoji="1" lang="en-US" altLang="zh-TW" sz="1600" i="1">
                        <a:solidFill>
                          <a:schemeClr val="accent5">
                            <a:lumMod val="50000"/>
                          </a:schemeClr>
                        </a:solidFill>
                        <a:latin typeface="Cambria Math" panose="02040503050406030204" pitchFamily="18" charset="0"/>
                        <a:ea typeface="Cambria Math" panose="02040503050406030204" pitchFamily="18" charset="0"/>
                      </a:rPr>
                      <m:t> </m:t>
                    </m:r>
                  </m:oMath>
                </a14:m>
                <a:r>
                  <a:rPr kumimoji="1" lang="en-US" altLang="zh-TW" sz="1600" dirty="0">
                    <a:solidFill>
                      <a:schemeClr val="accent5">
                        <a:lumMod val="50000"/>
                      </a:schemeClr>
                    </a:solidFill>
                    <a:latin typeface="Times" pitchFamily="2" charset="0"/>
                  </a:rPr>
                  <a:t>the number of examples used to update </a:t>
                </a:r>
                <a14:m>
                  <m:oMath xmlns:m="http://schemas.openxmlformats.org/officeDocument/2006/math">
                    <m:sSub>
                      <m:sSubPr>
                        <m:ctrlPr>
                          <a:rPr kumimoji="1" lang="en-US" altLang="zh-TW" sz="1600" i="1" smtClean="0">
                            <a:solidFill>
                              <a:schemeClr val="accent5">
                                <a:lumMod val="50000"/>
                              </a:schemeClr>
                            </a:solidFill>
                            <a:latin typeface="Cambria Math" panose="02040503050406030204" pitchFamily="18" charset="0"/>
                          </a:rPr>
                        </m:ctrlPr>
                      </m:sSubPr>
                      <m:e>
                        <m:r>
                          <a:rPr kumimoji="1" lang="en-US" altLang="zh-TW" sz="1600" b="0" i="1" smtClean="0">
                            <a:solidFill>
                              <a:schemeClr val="accent5">
                                <a:lumMod val="50000"/>
                              </a:schemeClr>
                            </a:solidFill>
                            <a:latin typeface="Cambria Math" panose="02040503050406030204" pitchFamily="18" charset="0"/>
                          </a:rPr>
                          <m:t>𝑤</m:t>
                        </m:r>
                      </m:e>
                      <m:sub>
                        <m:r>
                          <a:rPr kumimoji="1" lang="en-US" altLang="zh-TW" sz="1600" b="0" i="1" smtClean="0">
                            <a:solidFill>
                              <a:schemeClr val="accent5">
                                <a:lumMod val="50000"/>
                              </a:schemeClr>
                            </a:solidFill>
                            <a:latin typeface="Cambria Math" panose="02040503050406030204" pitchFamily="18" charset="0"/>
                          </a:rPr>
                          <m:t>𝑚</m:t>
                        </m:r>
                      </m:sub>
                    </m:sSub>
                  </m:oMath>
                </a14:m>
                <a:endParaRPr kumimoji="1" lang="en-US" altLang="zh-TW" sz="1600" dirty="0">
                  <a:solidFill>
                    <a:schemeClr val="accent5">
                      <a:lumMod val="50000"/>
                    </a:schemeClr>
                  </a:solidFill>
                  <a:latin typeface="Times" pitchFamily="2" charset="0"/>
                </a:endParaRPr>
              </a:p>
            </p:txBody>
          </p:sp>
        </mc:Choice>
        <mc:Fallback xmlns="">
          <p:sp>
            <p:nvSpPr>
              <p:cNvPr id="8" name="文字方塊 7">
                <a:extLst>
                  <a:ext uri="{FF2B5EF4-FFF2-40B4-BE49-F238E27FC236}">
                    <a16:creationId xmlns:a16="http://schemas.microsoft.com/office/drawing/2014/main" id="{AC9141B9-4910-DE4F-9BC1-E130A8CCE3C0}"/>
                  </a:ext>
                </a:extLst>
              </p:cNvPr>
              <p:cNvSpPr txBox="1">
                <a:spLocks noRot="1" noChangeAspect="1" noMove="1" noResize="1" noEditPoints="1" noAdjustHandles="1" noChangeArrowheads="1" noChangeShapeType="1" noTextEdit="1"/>
              </p:cNvSpPr>
              <p:nvPr/>
            </p:nvSpPr>
            <p:spPr>
              <a:xfrm>
                <a:off x="5410927" y="5838409"/>
                <a:ext cx="4233013" cy="338554"/>
              </a:xfrm>
              <a:prstGeom prst="rect">
                <a:avLst/>
              </a:prstGeom>
              <a:blipFill>
                <a:blip r:embed="rId5"/>
                <a:stretch>
                  <a:fillRect b="-2142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id="{19511D0A-3521-5344-AD07-E490C9727680}"/>
                  </a:ext>
                </a:extLst>
              </p:cNvPr>
              <p:cNvSpPr txBox="1"/>
              <p:nvPr/>
            </p:nvSpPr>
            <p:spPr>
              <a:xfrm>
                <a:off x="5410927" y="5536812"/>
                <a:ext cx="3644516" cy="338554"/>
              </a:xfrm>
              <a:prstGeom prst="rect">
                <a:avLst/>
              </a:prstGeom>
              <a:noFill/>
            </p:spPr>
            <p:txBody>
              <a:bodyPr wrap="square">
                <a:spAutoFit/>
              </a:bodyPr>
              <a:lstStyle/>
              <a:p>
                <a14:m>
                  <m:oMath xmlns:m="http://schemas.openxmlformats.org/officeDocument/2006/math">
                    <m:r>
                      <a:rPr kumimoji="1" lang="en-US" altLang="zh-TW" sz="1600" i="1">
                        <a:solidFill>
                          <a:schemeClr val="accent6">
                            <a:lumMod val="50000"/>
                          </a:schemeClr>
                        </a:solidFill>
                        <a:latin typeface="Cambria Math" panose="02040503050406030204" pitchFamily="18" charset="0"/>
                        <a:ea typeface="Cambria Math" panose="02040503050406030204" pitchFamily="18" charset="0"/>
                      </a:rPr>
                      <m:t>𝑇</m:t>
                    </m:r>
                    <m:r>
                      <a:rPr kumimoji="1" lang="en-US" altLang="zh-TW" sz="1600" b="0" i="1" smtClean="0">
                        <a:solidFill>
                          <a:schemeClr val="accent5">
                            <a:lumMod val="50000"/>
                          </a:schemeClr>
                        </a:solidFill>
                        <a:latin typeface="Cambria Math" panose="02040503050406030204" pitchFamily="18" charset="0"/>
                        <a:ea typeface="Cambria Math" panose="02040503050406030204" pitchFamily="18" charset="0"/>
                      </a:rPr>
                      <m:t>:</m:t>
                    </m:r>
                    <m:r>
                      <a:rPr kumimoji="1" lang="en-US" altLang="zh-TW" sz="1600" i="1">
                        <a:solidFill>
                          <a:schemeClr val="accent5">
                            <a:lumMod val="50000"/>
                          </a:schemeClr>
                        </a:solidFill>
                        <a:latin typeface="Cambria Math" panose="02040503050406030204" pitchFamily="18" charset="0"/>
                        <a:ea typeface="Cambria Math" panose="02040503050406030204" pitchFamily="18" charset="0"/>
                      </a:rPr>
                      <m:t> </m:t>
                    </m:r>
                  </m:oMath>
                </a14:m>
                <a:r>
                  <a:rPr kumimoji="1" lang="en-US" altLang="zh-TW" sz="1600" dirty="0">
                    <a:solidFill>
                      <a:schemeClr val="accent5">
                        <a:lumMod val="50000"/>
                      </a:schemeClr>
                    </a:solidFill>
                    <a:latin typeface="Times" pitchFamily="2" charset="0"/>
                  </a:rPr>
                  <a:t>the examples used to learn the entire g</a:t>
                </a:r>
              </a:p>
            </p:txBody>
          </p:sp>
        </mc:Choice>
        <mc:Fallback xmlns="">
          <p:sp>
            <p:nvSpPr>
              <p:cNvPr id="9" name="文字方塊 8">
                <a:extLst>
                  <a:ext uri="{FF2B5EF4-FFF2-40B4-BE49-F238E27FC236}">
                    <a16:creationId xmlns:a16="http://schemas.microsoft.com/office/drawing/2014/main" id="{19511D0A-3521-5344-AD07-E490C9727680}"/>
                  </a:ext>
                </a:extLst>
              </p:cNvPr>
              <p:cNvSpPr txBox="1">
                <a:spLocks noRot="1" noChangeAspect="1" noMove="1" noResize="1" noEditPoints="1" noAdjustHandles="1" noChangeArrowheads="1" noChangeShapeType="1" noTextEdit="1"/>
              </p:cNvSpPr>
              <p:nvPr/>
            </p:nvSpPr>
            <p:spPr>
              <a:xfrm>
                <a:off x="5410927" y="5536812"/>
                <a:ext cx="3644516" cy="338554"/>
              </a:xfrm>
              <a:prstGeom prst="rect">
                <a:avLst/>
              </a:prstGeom>
              <a:blipFill>
                <a:blip r:embed="rId6"/>
                <a:stretch>
                  <a:fillRect b="-2500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7688897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圖片 7" descr="一張含有 文字 的圖片&#10;&#10;自動產生的描述">
            <a:extLst>
              <a:ext uri="{FF2B5EF4-FFF2-40B4-BE49-F238E27FC236}">
                <a16:creationId xmlns:a16="http://schemas.microsoft.com/office/drawing/2014/main" id="{F3F4CAF2-665E-154F-91BA-66F5BB4DBE55}"/>
              </a:ext>
            </a:extLst>
          </p:cNvPr>
          <p:cNvPicPr>
            <a:picLocks noChangeAspect="1"/>
          </p:cNvPicPr>
          <p:nvPr/>
        </p:nvPicPr>
        <p:blipFill>
          <a:blip r:embed="rId2"/>
          <a:stretch>
            <a:fillRect/>
          </a:stretch>
        </p:blipFill>
        <p:spPr>
          <a:xfrm>
            <a:off x="5045393" y="155666"/>
            <a:ext cx="5957887" cy="6546667"/>
          </a:xfrm>
          <a:prstGeom prst="rect">
            <a:avLst/>
          </a:prstGeom>
        </p:spPr>
      </p:pic>
      <p:sp>
        <p:nvSpPr>
          <p:cNvPr id="9" name="標題 1">
            <a:extLst>
              <a:ext uri="{FF2B5EF4-FFF2-40B4-BE49-F238E27FC236}">
                <a16:creationId xmlns:a16="http://schemas.microsoft.com/office/drawing/2014/main" id="{3AF3722F-C9A0-5E43-B30B-CB1331DF9E8A}"/>
              </a:ext>
            </a:extLst>
          </p:cNvPr>
          <p:cNvSpPr>
            <a:spLocks noGrp="1"/>
          </p:cNvSpPr>
          <p:nvPr>
            <p:ph type="title"/>
          </p:nvPr>
        </p:nvSpPr>
        <p:spPr>
          <a:xfrm>
            <a:off x="838200" y="365125"/>
            <a:ext cx="10515600" cy="1325563"/>
          </a:xfrm>
        </p:spPr>
        <p:txBody>
          <a:bodyPr/>
          <a:lstStyle/>
          <a:p>
            <a:r>
              <a:rPr lang="en" altLang="zh-TW" b="1" dirty="0">
                <a:latin typeface="Times" pitchFamily="2" charset="0"/>
              </a:rPr>
              <a:t>Algorithm</a:t>
            </a:r>
          </a:p>
        </p:txBody>
      </p:sp>
      <p:sp>
        <p:nvSpPr>
          <p:cNvPr id="2" name="投影片編號版面配置區 1">
            <a:extLst>
              <a:ext uri="{FF2B5EF4-FFF2-40B4-BE49-F238E27FC236}">
                <a16:creationId xmlns:a16="http://schemas.microsoft.com/office/drawing/2014/main" id="{FB2DEDBC-8551-894D-B38F-FB56DC81A97E}"/>
              </a:ext>
            </a:extLst>
          </p:cNvPr>
          <p:cNvSpPr>
            <a:spLocks noGrp="1"/>
          </p:cNvSpPr>
          <p:nvPr>
            <p:ph type="sldNum" sz="quarter" idx="12"/>
          </p:nvPr>
        </p:nvSpPr>
        <p:spPr/>
        <p:txBody>
          <a:bodyPr/>
          <a:lstStyle/>
          <a:p>
            <a:fld id="{D1303F21-0339-114F-A835-EDFAC68AEBBB}" type="slidenum">
              <a:rPr kumimoji="1" lang="zh-TW" altLang="en-US" smtClean="0"/>
              <a:t>11</a:t>
            </a:fld>
            <a:endParaRPr kumimoji="1" lang="zh-TW" altLang="en-US"/>
          </a:p>
        </p:txBody>
      </p:sp>
    </p:spTree>
    <p:extLst>
      <p:ext uri="{BB962C8B-B14F-4D97-AF65-F5344CB8AC3E}">
        <p14:creationId xmlns:p14="http://schemas.microsoft.com/office/powerpoint/2010/main" val="8567921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FDF01EB-A175-3F4A-8121-EDA3DB55ADBC}"/>
              </a:ext>
            </a:extLst>
          </p:cNvPr>
          <p:cNvSpPr>
            <a:spLocks noGrp="1"/>
          </p:cNvSpPr>
          <p:nvPr>
            <p:ph type="title"/>
          </p:nvPr>
        </p:nvSpPr>
        <p:spPr/>
        <p:txBody>
          <a:bodyPr/>
          <a:lstStyle/>
          <a:p>
            <a:pPr algn="ctr"/>
            <a:r>
              <a:rPr lang="en" altLang="zh-TW" b="1" dirty="0">
                <a:latin typeface="Times" pitchFamily="2" charset="0"/>
              </a:rPr>
              <a:t>Experiments</a:t>
            </a:r>
            <a:endParaRPr kumimoji="1" lang="zh-TW" altLang="en-US" b="1" dirty="0">
              <a:latin typeface="Times" pitchFamily="2" charset="0"/>
            </a:endParaRP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E2083B75-83B6-8B43-A9F2-2A6E7A8C2646}"/>
                  </a:ext>
                </a:extLst>
              </p:cNvPr>
              <p:cNvSpPr>
                <a:spLocks noGrp="1"/>
              </p:cNvSpPr>
              <p:nvPr>
                <p:ph idx="1"/>
              </p:nvPr>
            </p:nvSpPr>
            <p:spPr/>
            <p:txBody>
              <a:bodyPr/>
              <a:lstStyle/>
              <a:p>
                <a:r>
                  <a:rPr lang="en" altLang="zh-TW" dirty="0">
                    <a:latin typeface="Times" pitchFamily="2" charset="0"/>
                  </a:rPr>
                  <a:t>Baseline model: </a:t>
                </a:r>
                <a14:m>
                  <m:oMath xmlns:m="http://schemas.openxmlformats.org/officeDocument/2006/math">
                    <m:sSub>
                      <m:sSubPr>
                        <m:ctrlPr>
                          <a:rPr lang="en" altLang="zh-TW" i="1">
                            <a:latin typeface="Cambria Math" panose="02040503050406030204" pitchFamily="18" charset="0"/>
                          </a:rPr>
                        </m:ctrlPr>
                      </m:sSubPr>
                      <m:e>
                        <m:r>
                          <a:rPr lang="en-US" altLang="zh-TW" i="1">
                            <a:latin typeface="Cambria Math" panose="02040503050406030204" pitchFamily="18" charset="0"/>
                          </a:rPr>
                          <m:t>𝐷</m:t>
                        </m:r>
                      </m:e>
                      <m:sub>
                        <m:r>
                          <a:rPr lang="en-US" altLang="zh-TW" i="1">
                            <a:latin typeface="Cambria Math" panose="02040503050406030204" pitchFamily="18" charset="0"/>
                          </a:rPr>
                          <m:t>𝑏𝑎𝑠𝑒</m:t>
                        </m:r>
                      </m:sub>
                    </m:sSub>
                    <m:r>
                      <a:rPr lang="en-US" altLang="zh-TW" i="1">
                        <a:latin typeface="Cambria Math" panose="02040503050406030204" pitchFamily="18" charset="0"/>
                      </a:rPr>
                      <m:t>=</m:t>
                    </m:r>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𝑛𝑖</m:t>
                            </m:r>
                          </m:sub>
                        </m:sSub>
                        <m:r>
                          <a:rPr lang="en-US" altLang="zh-TW" i="1">
                            <a:latin typeface="Cambria Math" panose="02040503050406030204" pitchFamily="18" charset="0"/>
                          </a:rPr>
                          <m:t>, </m:t>
                        </m:r>
                        <m:sSub>
                          <m:sSubPr>
                            <m:ctrlPr>
                              <a:rPr lang="en-US" altLang="zh-TW" i="1">
                                <a:latin typeface="Cambria Math" panose="02040503050406030204" pitchFamily="18" charset="0"/>
                              </a:rPr>
                            </m:ctrlPr>
                          </m:sSubPr>
                          <m:e>
                            <m:r>
                              <a:rPr lang="en-US" altLang="zh-TW" i="1">
                                <a:latin typeface="Cambria Math" panose="02040503050406030204" pitchFamily="18" charset="0"/>
                              </a:rPr>
                              <m:t>𝑐</m:t>
                            </m:r>
                          </m:e>
                          <m:sub>
                            <m:r>
                              <a:rPr lang="en-US" altLang="zh-TW" i="1">
                                <a:latin typeface="Cambria Math" panose="02040503050406030204" pitchFamily="18" charset="0"/>
                              </a:rPr>
                              <m:t>𝑖</m:t>
                            </m:r>
                          </m:sub>
                        </m:sSub>
                        <m:r>
                          <a:rPr lang="en-US" altLang="zh-TW" i="1">
                            <a:latin typeface="Cambria Math" panose="02040503050406030204" pitchFamily="18" charset="0"/>
                          </a:rPr>
                          <m:t>)}</m:t>
                        </m:r>
                      </m:e>
                      <m:sub>
                        <m:r>
                          <a:rPr lang="en-US" altLang="zh-TW" i="1">
                            <a:latin typeface="Cambria Math" panose="02040503050406030204" pitchFamily="18" charset="0"/>
                          </a:rPr>
                          <m:t>𝑖</m:t>
                        </m:r>
                        <m:r>
                          <a:rPr lang="en-US" altLang="zh-TW" i="1">
                            <a:latin typeface="Cambria Math" panose="02040503050406030204" pitchFamily="18" charset="0"/>
                          </a:rPr>
                          <m:t>=1</m:t>
                        </m:r>
                      </m:sub>
                      <m:sup>
                        <m:r>
                          <a:rPr lang="en-US" altLang="zh-TW" i="1">
                            <a:latin typeface="Cambria Math" panose="02040503050406030204" pitchFamily="18" charset="0"/>
                          </a:rPr>
                          <m:t>𝑁</m:t>
                        </m:r>
                      </m:sup>
                    </m:sSubSup>
                  </m:oMath>
                </a14:m>
                <a:endParaRPr lang="en" altLang="zh-TW" dirty="0">
                  <a:latin typeface="Times" pitchFamily="2" charset="0"/>
                </a:endParaRPr>
              </a:p>
              <a:p>
                <a:r>
                  <a:rPr lang="en" altLang="zh-TW" dirty="0">
                    <a:latin typeface="Times" pitchFamily="2" charset="0"/>
                  </a:rPr>
                  <a:t>Optimistic model: </a:t>
                </a:r>
                <a14:m>
                  <m:oMath xmlns:m="http://schemas.openxmlformats.org/officeDocument/2006/math">
                    <m:sSub>
                      <m:sSubPr>
                        <m:ctrlPr>
                          <a:rPr lang="en" altLang="zh-TW" i="1">
                            <a:latin typeface="Cambria Math" panose="02040503050406030204" pitchFamily="18" charset="0"/>
                          </a:rPr>
                        </m:ctrlPr>
                      </m:sSubPr>
                      <m:e>
                        <m:r>
                          <a:rPr lang="en-US" altLang="zh-TW" i="1">
                            <a:latin typeface="Cambria Math" panose="02040503050406030204" pitchFamily="18" charset="0"/>
                          </a:rPr>
                          <m:t>𝐷</m:t>
                        </m:r>
                      </m:e>
                      <m:sub>
                        <m:r>
                          <a:rPr lang="en-US" altLang="zh-TW" i="1">
                            <a:latin typeface="Cambria Math" panose="02040503050406030204" pitchFamily="18" charset="0"/>
                          </a:rPr>
                          <m:t>𝑐h𝑒𝑎𝑡</m:t>
                        </m:r>
                      </m:sub>
                    </m:sSub>
                    <m:r>
                      <a:rPr lang="en-US" altLang="zh-TW" i="1">
                        <a:latin typeface="Cambria Math" panose="02040503050406030204" pitchFamily="18" charset="0"/>
                      </a:rPr>
                      <m:t>=</m:t>
                    </m:r>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m:t>
                            </m:r>
                            <m:r>
                              <a:rPr lang="en-US" altLang="zh-TW" i="1">
                                <a:latin typeface="Cambria Math" panose="02040503050406030204" pitchFamily="18" charset="0"/>
                              </a:rPr>
                              <m:t>𝑥</m:t>
                            </m:r>
                          </m:e>
                          <m:sub>
                            <m:r>
                              <a:rPr lang="en-US" altLang="zh-TW" i="1">
                                <a:latin typeface="Cambria Math" panose="02040503050406030204" pitchFamily="18" charset="0"/>
                              </a:rPr>
                              <m:t>𝑛𝑖</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𝑠𝑖</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𝑐</m:t>
                            </m:r>
                          </m:e>
                          <m:sub>
                            <m:r>
                              <a:rPr lang="en-US" altLang="zh-TW" i="1">
                                <a:latin typeface="Cambria Math" panose="02040503050406030204" pitchFamily="18" charset="0"/>
                              </a:rPr>
                              <m:t>𝑖</m:t>
                            </m:r>
                          </m:sub>
                        </m:sSub>
                        <m:r>
                          <a:rPr lang="en-US" altLang="zh-TW" i="1">
                            <a:latin typeface="Cambria Math" panose="02040503050406030204" pitchFamily="18" charset="0"/>
                          </a:rPr>
                          <m:t>)}</m:t>
                        </m:r>
                      </m:e>
                      <m:sub>
                        <m:r>
                          <a:rPr lang="en-US" altLang="zh-TW" i="1">
                            <a:latin typeface="Cambria Math" panose="02040503050406030204" pitchFamily="18" charset="0"/>
                          </a:rPr>
                          <m:t>𝑖</m:t>
                        </m:r>
                        <m:r>
                          <a:rPr lang="en-US" altLang="zh-TW" i="1">
                            <a:latin typeface="Cambria Math" panose="02040503050406030204" pitchFamily="18" charset="0"/>
                          </a:rPr>
                          <m:t>=1</m:t>
                        </m:r>
                      </m:sub>
                      <m:sup>
                        <m:r>
                          <a:rPr lang="en-US" altLang="zh-TW" i="1">
                            <a:latin typeface="Cambria Math" panose="02040503050406030204" pitchFamily="18" charset="0"/>
                          </a:rPr>
                          <m:t>𝑁</m:t>
                        </m:r>
                      </m:sup>
                    </m:sSubSup>
                  </m:oMath>
                </a14:m>
                <a:endParaRPr lang="en" altLang="zh-TW" dirty="0">
                  <a:latin typeface="Times" pitchFamily="2" charset="0"/>
                </a:endParaRPr>
              </a:p>
            </p:txBody>
          </p:sp>
        </mc:Choice>
        <mc:Fallback xmlns="">
          <p:sp>
            <p:nvSpPr>
              <p:cNvPr id="3" name="內容版面配置區 2">
                <a:extLst>
                  <a:ext uri="{FF2B5EF4-FFF2-40B4-BE49-F238E27FC236}">
                    <a16:creationId xmlns:a16="http://schemas.microsoft.com/office/drawing/2014/main" id="{E2083B75-83B6-8B43-A9F2-2A6E7A8C2646}"/>
                  </a:ext>
                </a:extLst>
              </p:cNvPr>
              <p:cNvSpPr>
                <a:spLocks noGrp="1" noRot="1" noChangeAspect="1" noMove="1" noResize="1" noEditPoints="1" noAdjustHandles="1" noChangeArrowheads="1" noChangeShapeType="1" noTextEdit="1"/>
              </p:cNvSpPr>
              <p:nvPr>
                <p:ph idx="1"/>
              </p:nvPr>
            </p:nvSpPr>
            <p:spPr>
              <a:blipFill>
                <a:blip r:embed="rId2"/>
                <a:stretch>
                  <a:fillRect l="-1086" t="-1744"/>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377FCF81-02B4-6F41-9CE5-6049E5082CA5}"/>
              </a:ext>
            </a:extLst>
          </p:cNvPr>
          <p:cNvSpPr>
            <a:spLocks noGrp="1"/>
          </p:cNvSpPr>
          <p:nvPr>
            <p:ph type="sldNum" sz="quarter" idx="12"/>
          </p:nvPr>
        </p:nvSpPr>
        <p:spPr/>
        <p:txBody>
          <a:bodyPr/>
          <a:lstStyle/>
          <a:p>
            <a:fld id="{D1303F21-0339-114F-A835-EDFAC68AEBBB}" type="slidenum">
              <a:rPr kumimoji="1" lang="zh-TW" altLang="en-US" smtClean="0"/>
              <a:t>12</a:t>
            </a:fld>
            <a:endParaRPr kumimoji="1" lang="zh-TW" altLang="en-US"/>
          </a:p>
        </p:txBody>
      </p:sp>
      <p:pic>
        <p:nvPicPr>
          <p:cNvPr id="11" name="圖片 10" descr="一張含有 桌 的圖片&#10;&#10;自動產生的描述">
            <a:extLst>
              <a:ext uri="{FF2B5EF4-FFF2-40B4-BE49-F238E27FC236}">
                <a16:creationId xmlns:a16="http://schemas.microsoft.com/office/drawing/2014/main" id="{1EE5FF44-284F-474B-BE73-B3C044057D7C}"/>
              </a:ext>
            </a:extLst>
          </p:cNvPr>
          <p:cNvPicPr>
            <a:picLocks noChangeAspect="1"/>
          </p:cNvPicPr>
          <p:nvPr/>
        </p:nvPicPr>
        <p:blipFill>
          <a:blip r:embed="rId3"/>
          <a:stretch>
            <a:fillRect/>
          </a:stretch>
        </p:blipFill>
        <p:spPr>
          <a:xfrm>
            <a:off x="2657225" y="3429000"/>
            <a:ext cx="6877549" cy="2499360"/>
          </a:xfrm>
          <a:prstGeom prst="rect">
            <a:avLst/>
          </a:prstGeom>
        </p:spPr>
      </p:pic>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E58D45EE-55D8-5A4B-9861-2E3C853D2344}"/>
                  </a:ext>
                </a:extLst>
              </p:cNvPr>
              <p:cNvSpPr txBox="1"/>
              <p:nvPr/>
            </p:nvSpPr>
            <p:spPr>
              <a:xfrm>
                <a:off x="8081319" y="1870075"/>
                <a:ext cx="2248930" cy="400110"/>
              </a:xfrm>
              <a:prstGeom prst="rect">
                <a:avLst/>
              </a:prstGeom>
              <a:noFill/>
            </p:spPr>
            <p:txBody>
              <a:bodyPr wrap="square">
                <a:spAutoFit/>
              </a:bodyPr>
              <a:lstStyle/>
              <a:p>
                <a:pPr algn="ctr"/>
                <a:r>
                  <a:rPr kumimoji="1" lang="en-US" altLang="zh-TW" sz="2000" dirty="0">
                    <a:solidFill>
                      <a:schemeClr val="accent6">
                        <a:lumMod val="50000"/>
                      </a:schemeClr>
                    </a:solidFill>
                    <a:latin typeface="Times" pitchFamily="2" charset="0"/>
                  </a:rPr>
                  <a:t>g(</a:t>
                </a:r>
                <a14:m>
                  <m:oMath xmlns:m="http://schemas.openxmlformats.org/officeDocument/2006/math">
                    <m:sSub>
                      <m:sSubPr>
                        <m:ctrlPr>
                          <a:rPr lang="en" altLang="zh-TW" sz="2000" i="1" smtClean="0">
                            <a:solidFill>
                              <a:schemeClr val="accent6">
                                <a:lumMod val="50000"/>
                              </a:schemeClr>
                            </a:solidFill>
                            <a:latin typeface="Cambria Math" panose="02040503050406030204" pitchFamily="18" charset="0"/>
                          </a:rPr>
                        </m:ctrlPr>
                      </m:sSubPr>
                      <m:e>
                        <m:r>
                          <a:rPr lang="en-US" altLang="zh-TW" sz="2000" b="0" i="1" smtClean="0">
                            <a:solidFill>
                              <a:schemeClr val="accent6">
                                <a:lumMod val="50000"/>
                              </a:schemeClr>
                            </a:solidFill>
                            <a:latin typeface="Cambria Math" panose="02040503050406030204" pitchFamily="18" charset="0"/>
                          </a:rPr>
                          <m:t>𝑋</m:t>
                        </m:r>
                      </m:e>
                      <m:sub>
                        <m:r>
                          <a:rPr lang="en-US" altLang="zh-TW" sz="2000" b="0" i="1" smtClean="0">
                            <a:solidFill>
                              <a:schemeClr val="accent6">
                                <a:lumMod val="50000"/>
                              </a:schemeClr>
                            </a:solidFill>
                            <a:latin typeface="Cambria Math" panose="02040503050406030204" pitchFamily="18" charset="0"/>
                          </a:rPr>
                          <m:t>𝑠</m:t>
                        </m:r>
                      </m:sub>
                    </m:sSub>
                  </m:oMath>
                </a14:m>
                <a:r>
                  <a:rPr kumimoji="1" lang="en-US" altLang="zh-TW" sz="2000" dirty="0">
                    <a:solidFill>
                      <a:schemeClr val="accent6">
                        <a:lumMod val="50000"/>
                      </a:schemeClr>
                    </a:solidFill>
                    <a:latin typeface="Times" pitchFamily="2" charset="0"/>
                  </a:rPr>
                  <a:t>, </a:t>
                </a:r>
                <a14:m>
                  <m:oMath xmlns:m="http://schemas.openxmlformats.org/officeDocument/2006/math">
                    <m:sSup>
                      <m:sSupPr>
                        <m:ctrlPr>
                          <a:rPr kumimoji="1" lang="en-US" altLang="zh-TW" sz="2000" i="1" smtClean="0">
                            <a:solidFill>
                              <a:schemeClr val="accent6">
                                <a:lumMod val="50000"/>
                              </a:schemeClr>
                            </a:solidFill>
                            <a:latin typeface="Cambria Math" panose="02040503050406030204" pitchFamily="18" charset="0"/>
                          </a:rPr>
                        </m:ctrlPr>
                      </m:sSupPr>
                      <m:e>
                        <m:r>
                          <a:rPr kumimoji="1" lang="en-US" altLang="zh-TW" sz="2000" i="1">
                            <a:solidFill>
                              <a:schemeClr val="accent6">
                                <a:lumMod val="50000"/>
                              </a:schemeClr>
                            </a:solidFill>
                            <a:latin typeface="Cambria Math" panose="02040503050406030204" pitchFamily="18" charset="0"/>
                          </a:rPr>
                          <m:t>𝑏</m:t>
                        </m:r>
                      </m:e>
                      <m:sup>
                        <m:r>
                          <a:rPr kumimoji="1" lang="en-US" altLang="zh-TW" sz="2000" i="1">
                            <a:solidFill>
                              <a:schemeClr val="accent6">
                                <a:lumMod val="50000"/>
                              </a:schemeClr>
                            </a:solidFill>
                            <a:latin typeface="Cambria Math" panose="02040503050406030204" pitchFamily="18" charset="0"/>
                          </a:rPr>
                          <m:t>1</m:t>
                        </m:r>
                      </m:sup>
                    </m:sSup>
                  </m:oMath>
                </a14:m>
                <a:r>
                  <a:rPr kumimoji="1" lang="en-US" altLang="zh-TW" sz="2000" dirty="0">
                    <a:solidFill>
                      <a:schemeClr val="accent6">
                        <a:lumMod val="50000"/>
                      </a:schemeClr>
                    </a:solidFill>
                    <a:latin typeface="Times" pitchFamily="2" charset="0"/>
                  </a:rPr>
                  <a:t>) = PASS</a:t>
                </a:r>
                <a:endParaRPr lang="zh-TW" altLang="en-US" sz="2000" dirty="0">
                  <a:solidFill>
                    <a:schemeClr val="accent6">
                      <a:lumMod val="50000"/>
                    </a:schemeClr>
                  </a:solidFill>
                </a:endParaRPr>
              </a:p>
            </p:txBody>
          </p:sp>
        </mc:Choice>
        <mc:Fallback xmlns="">
          <p:sp>
            <p:nvSpPr>
              <p:cNvPr id="6" name="文字方塊 5">
                <a:extLst>
                  <a:ext uri="{FF2B5EF4-FFF2-40B4-BE49-F238E27FC236}">
                    <a16:creationId xmlns:a16="http://schemas.microsoft.com/office/drawing/2014/main" id="{E58D45EE-55D8-5A4B-9861-2E3C853D2344}"/>
                  </a:ext>
                </a:extLst>
              </p:cNvPr>
              <p:cNvSpPr txBox="1">
                <a:spLocks noRot="1" noChangeAspect="1" noMove="1" noResize="1" noEditPoints="1" noAdjustHandles="1" noChangeArrowheads="1" noChangeShapeType="1" noTextEdit="1"/>
              </p:cNvSpPr>
              <p:nvPr/>
            </p:nvSpPr>
            <p:spPr>
              <a:xfrm>
                <a:off x="8081319" y="1870075"/>
                <a:ext cx="2248930" cy="400110"/>
              </a:xfrm>
              <a:prstGeom prst="rect">
                <a:avLst/>
              </a:prstGeom>
              <a:blipFill>
                <a:blip r:embed="rId4"/>
                <a:stretch>
                  <a:fillRect t="-9375" b="-28125"/>
                </a:stretch>
              </a:blipFill>
            </p:spPr>
            <p:txBody>
              <a:bodyPr/>
              <a:lstStyle/>
              <a:p>
                <a:r>
                  <a:rPr lang="zh-TW" altLang="en-US">
                    <a:noFill/>
                  </a:rPr>
                  <a:t> </a:t>
                </a:r>
              </a:p>
            </p:txBody>
          </p:sp>
        </mc:Fallback>
      </mc:AlternateContent>
      <p:sp>
        <p:nvSpPr>
          <p:cNvPr id="7" name="矩形 6">
            <a:extLst>
              <a:ext uri="{FF2B5EF4-FFF2-40B4-BE49-F238E27FC236}">
                <a16:creationId xmlns:a16="http://schemas.microsoft.com/office/drawing/2014/main" id="{64CF0CF4-7172-CE41-98E2-1DDD9F34A80D}"/>
              </a:ext>
            </a:extLst>
          </p:cNvPr>
          <p:cNvSpPr/>
          <p:nvPr/>
        </p:nvSpPr>
        <p:spPr>
          <a:xfrm>
            <a:off x="8217244" y="3429000"/>
            <a:ext cx="1223318" cy="1550773"/>
          </a:xfrm>
          <a:custGeom>
            <a:avLst/>
            <a:gdLst>
              <a:gd name="connsiteX0" fmla="*/ 0 w 1223318"/>
              <a:gd name="connsiteY0" fmla="*/ 0 h 1550773"/>
              <a:gd name="connsiteX1" fmla="*/ 599426 w 1223318"/>
              <a:gd name="connsiteY1" fmla="*/ 0 h 1550773"/>
              <a:gd name="connsiteX2" fmla="*/ 1223318 w 1223318"/>
              <a:gd name="connsiteY2" fmla="*/ 0 h 1550773"/>
              <a:gd name="connsiteX3" fmla="*/ 1223318 w 1223318"/>
              <a:gd name="connsiteY3" fmla="*/ 547940 h 1550773"/>
              <a:gd name="connsiteX4" fmla="*/ 1223318 w 1223318"/>
              <a:gd name="connsiteY4" fmla="*/ 1064864 h 1550773"/>
              <a:gd name="connsiteX5" fmla="*/ 1223318 w 1223318"/>
              <a:gd name="connsiteY5" fmla="*/ 1550773 h 1550773"/>
              <a:gd name="connsiteX6" fmla="*/ 636125 w 1223318"/>
              <a:gd name="connsiteY6" fmla="*/ 1550773 h 1550773"/>
              <a:gd name="connsiteX7" fmla="*/ 0 w 1223318"/>
              <a:gd name="connsiteY7" fmla="*/ 1550773 h 1550773"/>
              <a:gd name="connsiteX8" fmla="*/ 0 w 1223318"/>
              <a:gd name="connsiteY8" fmla="*/ 1002833 h 1550773"/>
              <a:gd name="connsiteX9" fmla="*/ 0 w 1223318"/>
              <a:gd name="connsiteY9" fmla="*/ 454893 h 1550773"/>
              <a:gd name="connsiteX10" fmla="*/ 0 w 1223318"/>
              <a:gd name="connsiteY10" fmla="*/ 0 h 1550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3318" h="1550773" extrusionOk="0">
                <a:moveTo>
                  <a:pt x="0" y="0"/>
                </a:moveTo>
                <a:cubicBezTo>
                  <a:pt x="216316" y="-4669"/>
                  <a:pt x="366354" y="-2738"/>
                  <a:pt x="599426" y="0"/>
                </a:cubicBezTo>
                <a:cubicBezTo>
                  <a:pt x="832498" y="2738"/>
                  <a:pt x="1004686" y="7308"/>
                  <a:pt x="1223318" y="0"/>
                </a:cubicBezTo>
                <a:cubicBezTo>
                  <a:pt x="1216946" y="254875"/>
                  <a:pt x="1225308" y="296059"/>
                  <a:pt x="1223318" y="547940"/>
                </a:cubicBezTo>
                <a:cubicBezTo>
                  <a:pt x="1221328" y="799821"/>
                  <a:pt x="1210083" y="889836"/>
                  <a:pt x="1223318" y="1064864"/>
                </a:cubicBezTo>
                <a:cubicBezTo>
                  <a:pt x="1236553" y="1239892"/>
                  <a:pt x="1245679" y="1418514"/>
                  <a:pt x="1223318" y="1550773"/>
                </a:cubicBezTo>
                <a:cubicBezTo>
                  <a:pt x="1064138" y="1575626"/>
                  <a:pt x="831787" y="1573121"/>
                  <a:pt x="636125" y="1550773"/>
                </a:cubicBezTo>
                <a:cubicBezTo>
                  <a:pt x="440463" y="1528425"/>
                  <a:pt x="253339" y="1526222"/>
                  <a:pt x="0" y="1550773"/>
                </a:cubicBezTo>
                <a:cubicBezTo>
                  <a:pt x="-21066" y="1353036"/>
                  <a:pt x="-17412" y="1120487"/>
                  <a:pt x="0" y="1002833"/>
                </a:cubicBezTo>
                <a:cubicBezTo>
                  <a:pt x="17412" y="885179"/>
                  <a:pt x="-10424" y="681052"/>
                  <a:pt x="0" y="454893"/>
                </a:cubicBezTo>
                <a:cubicBezTo>
                  <a:pt x="10424" y="228734"/>
                  <a:pt x="293" y="147815"/>
                  <a:pt x="0" y="0"/>
                </a:cubicBezTo>
                <a:close/>
              </a:path>
            </a:pathLst>
          </a:custGeom>
          <a:noFill/>
          <a:ln w="38100">
            <a:solidFill>
              <a:srgbClr val="FF0000"/>
            </a:soli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 name="矩形 7">
            <a:extLst>
              <a:ext uri="{FF2B5EF4-FFF2-40B4-BE49-F238E27FC236}">
                <a16:creationId xmlns:a16="http://schemas.microsoft.com/office/drawing/2014/main" id="{B743531C-E710-DE41-8CBA-F0B166CA79ED}"/>
              </a:ext>
            </a:extLst>
          </p:cNvPr>
          <p:cNvSpPr/>
          <p:nvPr/>
        </p:nvSpPr>
        <p:spPr>
          <a:xfrm>
            <a:off x="6858001" y="4979773"/>
            <a:ext cx="1223318" cy="297502"/>
          </a:xfrm>
          <a:custGeom>
            <a:avLst/>
            <a:gdLst>
              <a:gd name="connsiteX0" fmla="*/ 0 w 1223318"/>
              <a:gd name="connsiteY0" fmla="*/ 0 h 297502"/>
              <a:gd name="connsiteX1" fmla="*/ 599426 w 1223318"/>
              <a:gd name="connsiteY1" fmla="*/ 0 h 297502"/>
              <a:gd name="connsiteX2" fmla="*/ 1223318 w 1223318"/>
              <a:gd name="connsiteY2" fmla="*/ 0 h 297502"/>
              <a:gd name="connsiteX3" fmla="*/ 1223318 w 1223318"/>
              <a:gd name="connsiteY3" fmla="*/ 297502 h 297502"/>
              <a:gd name="connsiteX4" fmla="*/ 611659 w 1223318"/>
              <a:gd name="connsiteY4" fmla="*/ 297502 h 297502"/>
              <a:gd name="connsiteX5" fmla="*/ 0 w 1223318"/>
              <a:gd name="connsiteY5" fmla="*/ 297502 h 297502"/>
              <a:gd name="connsiteX6" fmla="*/ 0 w 1223318"/>
              <a:gd name="connsiteY6" fmla="*/ 0 h 297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3318" h="297502" extrusionOk="0">
                <a:moveTo>
                  <a:pt x="0" y="0"/>
                </a:moveTo>
                <a:cubicBezTo>
                  <a:pt x="216316" y="-4669"/>
                  <a:pt x="366354" y="-2738"/>
                  <a:pt x="599426" y="0"/>
                </a:cubicBezTo>
                <a:cubicBezTo>
                  <a:pt x="832498" y="2738"/>
                  <a:pt x="1004686" y="7308"/>
                  <a:pt x="1223318" y="0"/>
                </a:cubicBezTo>
                <a:cubicBezTo>
                  <a:pt x="1221845" y="109960"/>
                  <a:pt x="1210594" y="186181"/>
                  <a:pt x="1223318" y="297502"/>
                </a:cubicBezTo>
                <a:cubicBezTo>
                  <a:pt x="1077583" y="298763"/>
                  <a:pt x="788721" y="289873"/>
                  <a:pt x="611659" y="297502"/>
                </a:cubicBezTo>
                <a:cubicBezTo>
                  <a:pt x="434597" y="305131"/>
                  <a:pt x="288898" y="277367"/>
                  <a:pt x="0" y="297502"/>
                </a:cubicBezTo>
                <a:cubicBezTo>
                  <a:pt x="-304" y="171248"/>
                  <a:pt x="-13645" y="136243"/>
                  <a:pt x="0" y="0"/>
                </a:cubicBezTo>
                <a:close/>
              </a:path>
            </a:pathLst>
          </a:custGeom>
          <a:noFill/>
          <a:ln w="38100">
            <a:solidFill>
              <a:srgbClr val="FF0000"/>
            </a:soli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18367919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FDF01EB-A175-3F4A-8121-EDA3DB55ADBC}"/>
              </a:ext>
            </a:extLst>
          </p:cNvPr>
          <p:cNvSpPr>
            <a:spLocks noGrp="1"/>
          </p:cNvSpPr>
          <p:nvPr>
            <p:ph type="title"/>
          </p:nvPr>
        </p:nvSpPr>
        <p:spPr/>
        <p:txBody>
          <a:bodyPr/>
          <a:lstStyle/>
          <a:p>
            <a:pPr algn="ctr"/>
            <a:r>
              <a:rPr lang="en" altLang="zh-TW" b="1" dirty="0">
                <a:latin typeface="Times" pitchFamily="2" charset="0"/>
              </a:rPr>
              <a:t>Experiments</a:t>
            </a:r>
          </a:p>
        </p:txBody>
      </p:sp>
      <p:sp>
        <p:nvSpPr>
          <p:cNvPr id="4" name="內容版面配置區 3">
            <a:extLst>
              <a:ext uri="{FF2B5EF4-FFF2-40B4-BE49-F238E27FC236}">
                <a16:creationId xmlns:a16="http://schemas.microsoft.com/office/drawing/2014/main" id="{EE67E658-80EE-C945-90A6-DE5FEF21FAC3}"/>
              </a:ext>
            </a:extLst>
          </p:cNvPr>
          <p:cNvSpPr>
            <a:spLocks noGrp="1"/>
          </p:cNvSpPr>
          <p:nvPr>
            <p:ph idx="1"/>
          </p:nvPr>
        </p:nvSpPr>
        <p:spPr/>
        <p:txBody>
          <a:bodyPr/>
          <a:lstStyle/>
          <a:p>
            <a:r>
              <a:rPr lang="en-US" altLang="zh-TW" sz="2800" dirty="0">
                <a:latin typeface="Times" pitchFamily="2" charset="0"/>
                <a:cs typeface="Times New Roman" panose="02020603050405020304" pitchFamily="18" charset="0"/>
              </a:rPr>
              <a:t>The t</a:t>
            </a:r>
            <a:r>
              <a:rPr lang="en-US" altLang="zh-TW" sz="2800" dirty="0">
                <a:effectLst/>
                <a:latin typeface="Times" pitchFamily="2" charset="0"/>
                <a:cs typeface="Times New Roman" panose="02020603050405020304" pitchFamily="18" charset="0"/>
              </a:rPr>
              <a:t>otal cost of Wbridge5</a:t>
            </a:r>
            <a:r>
              <a:rPr lang="en-US" altLang="zh-TW" sz="2800" dirty="0">
                <a:latin typeface="Times" pitchFamily="2" charset="0"/>
                <a:ea typeface="楷體-繁" panose="02010600040101010101" pitchFamily="2" charset="-120"/>
                <a:cs typeface="Times New Roman" panose="02020603050405020304" pitchFamily="18" charset="0"/>
              </a:rPr>
              <a:t> minus the total cost of </a:t>
            </a:r>
            <a:r>
              <a:rPr lang="en-US" altLang="zh-TW" sz="2800" dirty="0">
                <a:effectLst/>
                <a:latin typeface="Times" pitchFamily="2" charset="0"/>
                <a:ea typeface="楷體-繁" panose="02010600040101010101" pitchFamily="2" charset="-120"/>
                <a:cs typeface="Times New Roman" panose="02020603050405020304" pitchFamily="18" charset="0"/>
              </a:rPr>
              <a:t>proposed model.</a:t>
            </a:r>
            <a:endParaRPr lang="zh-TW" altLang="en-US" sz="2800" dirty="0">
              <a:latin typeface="Times" pitchFamily="2" charset="0"/>
            </a:endParaRPr>
          </a:p>
          <a:p>
            <a:pPr marL="0" indent="0">
              <a:buNone/>
            </a:pPr>
            <a:endParaRPr lang="zh-TW" altLang="en-US" dirty="0"/>
          </a:p>
        </p:txBody>
      </p:sp>
      <p:sp>
        <p:nvSpPr>
          <p:cNvPr id="3" name="投影片編號版面配置區 2">
            <a:extLst>
              <a:ext uri="{FF2B5EF4-FFF2-40B4-BE49-F238E27FC236}">
                <a16:creationId xmlns:a16="http://schemas.microsoft.com/office/drawing/2014/main" id="{E95941D5-EE91-E142-81D8-4062D50ADF92}"/>
              </a:ext>
            </a:extLst>
          </p:cNvPr>
          <p:cNvSpPr>
            <a:spLocks noGrp="1"/>
          </p:cNvSpPr>
          <p:nvPr>
            <p:ph type="sldNum" sz="quarter" idx="12"/>
          </p:nvPr>
        </p:nvSpPr>
        <p:spPr/>
        <p:txBody>
          <a:bodyPr/>
          <a:lstStyle/>
          <a:p>
            <a:fld id="{D1303F21-0339-114F-A835-EDFAC68AEBBB}" type="slidenum">
              <a:rPr kumimoji="1" lang="zh-TW" altLang="en-US" smtClean="0"/>
              <a:t>13</a:t>
            </a:fld>
            <a:endParaRPr kumimoji="1" lang="zh-TW" altLang="en-US"/>
          </a:p>
        </p:txBody>
      </p:sp>
      <p:grpSp>
        <p:nvGrpSpPr>
          <p:cNvPr id="6" name="群組 5">
            <a:extLst>
              <a:ext uri="{FF2B5EF4-FFF2-40B4-BE49-F238E27FC236}">
                <a16:creationId xmlns:a16="http://schemas.microsoft.com/office/drawing/2014/main" id="{156AEAE2-1ECD-9E4A-9A55-E6160879EEA7}"/>
              </a:ext>
            </a:extLst>
          </p:cNvPr>
          <p:cNvGrpSpPr/>
          <p:nvPr/>
        </p:nvGrpSpPr>
        <p:grpSpPr>
          <a:xfrm>
            <a:off x="1875723" y="2781812"/>
            <a:ext cx="8440553" cy="3016091"/>
            <a:chOff x="1875723" y="2361683"/>
            <a:chExt cx="8440553" cy="3016091"/>
          </a:xfrm>
        </p:grpSpPr>
        <p:pic>
          <p:nvPicPr>
            <p:cNvPr id="5" name="圖片 4" descr="一張含有 桌 的圖片&#10;&#10;自動產生的描述">
              <a:extLst>
                <a:ext uri="{FF2B5EF4-FFF2-40B4-BE49-F238E27FC236}">
                  <a16:creationId xmlns:a16="http://schemas.microsoft.com/office/drawing/2014/main" id="{7B6444FF-0B49-D145-AE7C-9F81A742D507}"/>
                </a:ext>
              </a:extLst>
            </p:cNvPr>
            <p:cNvPicPr>
              <a:picLocks noChangeAspect="1"/>
            </p:cNvPicPr>
            <p:nvPr/>
          </p:nvPicPr>
          <p:blipFill>
            <a:blip r:embed="rId2"/>
            <a:stretch>
              <a:fillRect/>
            </a:stretch>
          </p:blipFill>
          <p:spPr>
            <a:xfrm>
              <a:off x="1875723" y="2361683"/>
              <a:ext cx="8440553" cy="3016091"/>
            </a:xfrm>
            <a:prstGeom prst="rect">
              <a:avLst/>
            </a:prstGeom>
          </p:spPr>
        </p:pic>
        <p:sp>
          <p:nvSpPr>
            <p:cNvPr id="10" name="矩形 9">
              <a:extLst>
                <a:ext uri="{FF2B5EF4-FFF2-40B4-BE49-F238E27FC236}">
                  <a16:creationId xmlns:a16="http://schemas.microsoft.com/office/drawing/2014/main" id="{E3F76E8C-303B-4341-88E2-30B4FE198ED7}"/>
                </a:ext>
              </a:extLst>
            </p:cNvPr>
            <p:cNvSpPr/>
            <p:nvPr/>
          </p:nvSpPr>
          <p:spPr>
            <a:xfrm>
              <a:off x="1985008" y="3413760"/>
              <a:ext cx="8191499" cy="472440"/>
            </a:xfrm>
            <a:custGeom>
              <a:avLst/>
              <a:gdLst>
                <a:gd name="connsiteX0" fmla="*/ 0 w 8191499"/>
                <a:gd name="connsiteY0" fmla="*/ 0 h 472440"/>
                <a:gd name="connsiteX1" fmla="*/ 600710 w 8191499"/>
                <a:gd name="connsiteY1" fmla="*/ 0 h 472440"/>
                <a:gd name="connsiteX2" fmla="*/ 1037590 w 8191499"/>
                <a:gd name="connsiteY2" fmla="*/ 0 h 472440"/>
                <a:gd name="connsiteX3" fmla="*/ 1884045 w 8191499"/>
                <a:gd name="connsiteY3" fmla="*/ 0 h 472440"/>
                <a:gd name="connsiteX4" fmla="*/ 2484755 w 8191499"/>
                <a:gd name="connsiteY4" fmla="*/ 0 h 472440"/>
                <a:gd name="connsiteX5" fmla="*/ 3085465 w 8191499"/>
                <a:gd name="connsiteY5" fmla="*/ 0 h 472440"/>
                <a:gd name="connsiteX6" fmla="*/ 3931920 w 8191499"/>
                <a:gd name="connsiteY6" fmla="*/ 0 h 472440"/>
                <a:gd name="connsiteX7" fmla="*/ 4450714 w 8191499"/>
                <a:gd name="connsiteY7" fmla="*/ 0 h 472440"/>
                <a:gd name="connsiteX8" fmla="*/ 5297169 w 8191499"/>
                <a:gd name="connsiteY8" fmla="*/ 0 h 472440"/>
                <a:gd name="connsiteX9" fmla="*/ 6143624 w 8191499"/>
                <a:gd name="connsiteY9" fmla="*/ 0 h 472440"/>
                <a:gd name="connsiteX10" fmla="*/ 6826249 w 8191499"/>
                <a:gd name="connsiteY10" fmla="*/ 0 h 472440"/>
                <a:gd name="connsiteX11" fmla="*/ 8191499 w 8191499"/>
                <a:gd name="connsiteY11" fmla="*/ 0 h 472440"/>
                <a:gd name="connsiteX12" fmla="*/ 8191499 w 8191499"/>
                <a:gd name="connsiteY12" fmla="*/ 472440 h 472440"/>
                <a:gd name="connsiteX13" fmla="*/ 7754619 w 8191499"/>
                <a:gd name="connsiteY13" fmla="*/ 472440 h 472440"/>
                <a:gd name="connsiteX14" fmla="*/ 6908164 w 8191499"/>
                <a:gd name="connsiteY14" fmla="*/ 472440 h 472440"/>
                <a:gd name="connsiteX15" fmla="*/ 6389369 w 8191499"/>
                <a:gd name="connsiteY15" fmla="*/ 472440 h 472440"/>
                <a:gd name="connsiteX16" fmla="*/ 5706744 w 8191499"/>
                <a:gd name="connsiteY16" fmla="*/ 472440 h 472440"/>
                <a:gd name="connsiteX17" fmla="*/ 4860289 w 8191499"/>
                <a:gd name="connsiteY17" fmla="*/ 472440 h 472440"/>
                <a:gd name="connsiteX18" fmla="*/ 4177664 w 8191499"/>
                <a:gd name="connsiteY18" fmla="*/ 472440 h 472440"/>
                <a:gd name="connsiteX19" fmla="*/ 3740785 w 8191499"/>
                <a:gd name="connsiteY19" fmla="*/ 472440 h 472440"/>
                <a:gd name="connsiteX20" fmla="*/ 3221990 w 8191499"/>
                <a:gd name="connsiteY20" fmla="*/ 472440 h 472440"/>
                <a:gd name="connsiteX21" fmla="*/ 2375535 w 8191499"/>
                <a:gd name="connsiteY21" fmla="*/ 472440 h 472440"/>
                <a:gd name="connsiteX22" fmla="*/ 1692910 w 8191499"/>
                <a:gd name="connsiteY22" fmla="*/ 472440 h 472440"/>
                <a:gd name="connsiteX23" fmla="*/ 1174115 w 8191499"/>
                <a:gd name="connsiteY23" fmla="*/ 472440 h 472440"/>
                <a:gd name="connsiteX24" fmla="*/ 0 w 8191499"/>
                <a:gd name="connsiteY24" fmla="*/ 472440 h 472440"/>
                <a:gd name="connsiteX25" fmla="*/ 0 w 8191499"/>
                <a:gd name="connsiteY25" fmla="*/ 0 h 472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191499" h="472440" extrusionOk="0">
                  <a:moveTo>
                    <a:pt x="0" y="0"/>
                  </a:moveTo>
                  <a:cubicBezTo>
                    <a:pt x="247265" y="11274"/>
                    <a:pt x="324647" y="-8574"/>
                    <a:pt x="600710" y="0"/>
                  </a:cubicBezTo>
                  <a:cubicBezTo>
                    <a:pt x="876773" y="8574"/>
                    <a:pt x="944328" y="4821"/>
                    <a:pt x="1037590" y="0"/>
                  </a:cubicBezTo>
                  <a:cubicBezTo>
                    <a:pt x="1130852" y="-4821"/>
                    <a:pt x="1694905" y="41030"/>
                    <a:pt x="1884045" y="0"/>
                  </a:cubicBezTo>
                  <a:cubicBezTo>
                    <a:pt x="2073185" y="-41030"/>
                    <a:pt x="2282677" y="27211"/>
                    <a:pt x="2484755" y="0"/>
                  </a:cubicBezTo>
                  <a:cubicBezTo>
                    <a:pt x="2686833" y="-27211"/>
                    <a:pt x="2889892" y="-25421"/>
                    <a:pt x="3085465" y="0"/>
                  </a:cubicBezTo>
                  <a:cubicBezTo>
                    <a:pt x="3281038" y="25421"/>
                    <a:pt x="3511656" y="-36395"/>
                    <a:pt x="3931920" y="0"/>
                  </a:cubicBezTo>
                  <a:cubicBezTo>
                    <a:pt x="4352185" y="36395"/>
                    <a:pt x="4201807" y="6004"/>
                    <a:pt x="4450714" y="0"/>
                  </a:cubicBezTo>
                  <a:cubicBezTo>
                    <a:pt x="4699621" y="-6004"/>
                    <a:pt x="5053073" y="-8112"/>
                    <a:pt x="5297169" y="0"/>
                  </a:cubicBezTo>
                  <a:cubicBezTo>
                    <a:pt x="5541265" y="8112"/>
                    <a:pt x="5869692" y="13757"/>
                    <a:pt x="6143624" y="0"/>
                  </a:cubicBezTo>
                  <a:cubicBezTo>
                    <a:pt x="6417557" y="-13757"/>
                    <a:pt x="6541997" y="-7115"/>
                    <a:pt x="6826249" y="0"/>
                  </a:cubicBezTo>
                  <a:cubicBezTo>
                    <a:pt x="7110502" y="7115"/>
                    <a:pt x="7835157" y="-28189"/>
                    <a:pt x="8191499" y="0"/>
                  </a:cubicBezTo>
                  <a:cubicBezTo>
                    <a:pt x="8202331" y="143880"/>
                    <a:pt x="8170551" y="278858"/>
                    <a:pt x="8191499" y="472440"/>
                  </a:cubicBezTo>
                  <a:cubicBezTo>
                    <a:pt x="8075625" y="481627"/>
                    <a:pt x="7851524" y="461152"/>
                    <a:pt x="7754619" y="472440"/>
                  </a:cubicBezTo>
                  <a:cubicBezTo>
                    <a:pt x="7657714" y="483728"/>
                    <a:pt x="7110155" y="467671"/>
                    <a:pt x="6908164" y="472440"/>
                  </a:cubicBezTo>
                  <a:cubicBezTo>
                    <a:pt x="6706173" y="477209"/>
                    <a:pt x="6646142" y="458236"/>
                    <a:pt x="6389369" y="472440"/>
                  </a:cubicBezTo>
                  <a:cubicBezTo>
                    <a:pt x="6132597" y="486644"/>
                    <a:pt x="5876650" y="441756"/>
                    <a:pt x="5706744" y="472440"/>
                  </a:cubicBezTo>
                  <a:cubicBezTo>
                    <a:pt x="5536838" y="503124"/>
                    <a:pt x="5278662" y="435139"/>
                    <a:pt x="4860289" y="472440"/>
                  </a:cubicBezTo>
                  <a:cubicBezTo>
                    <a:pt x="4441917" y="509741"/>
                    <a:pt x="4496912" y="444901"/>
                    <a:pt x="4177664" y="472440"/>
                  </a:cubicBezTo>
                  <a:cubicBezTo>
                    <a:pt x="3858416" y="499979"/>
                    <a:pt x="3868752" y="485322"/>
                    <a:pt x="3740785" y="472440"/>
                  </a:cubicBezTo>
                  <a:cubicBezTo>
                    <a:pt x="3612818" y="459558"/>
                    <a:pt x="3375519" y="459905"/>
                    <a:pt x="3221990" y="472440"/>
                  </a:cubicBezTo>
                  <a:cubicBezTo>
                    <a:pt x="3068461" y="484975"/>
                    <a:pt x="2563989" y="434743"/>
                    <a:pt x="2375535" y="472440"/>
                  </a:cubicBezTo>
                  <a:cubicBezTo>
                    <a:pt x="2187081" y="510137"/>
                    <a:pt x="1962126" y="486467"/>
                    <a:pt x="1692910" y="472440"/>
                  </a:cubicBezTo>
                  <a:cubicBezTo>
                    <a:pt x="1423695" y="458413"/>
                    <a:pt x="1343490" y="457239"/>
                    <a:pt x="1174115" y="472440"/>
                  </a:cubicBezTo>
                  <a:cubicBezTo>
                    <a:pt x="1004740" y="487641"/>
                    <a:pt x="254984" y="468052"/>
                    <a:pt x="0" y="472440"/>
                  </a:cubicBezTo>
                  <a:cubicBezTo>
                    <a:pt x="9066" y="257631"/>
                    <a:pt x="1935" y="109485"/>
                    <a:pt x="0" y="0"/>
                  </a:cubicBezTo>
                  <a:close/>
                </a:path>
              </a:pathLst>
            </a:custGeom>
            <a:noFill/>
            <a:ln w="38100">
              <a:solidFill>
                <a:srgbClr val="FF0000"/>
              </a:soli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spTree>
    <p:extLst>
      <p:ext uri="{BB962C8B-B14F-4D97-AF65-F5344CB8AC3E}">
        <p14:creationId xmlns:p14="http://schemas.microsoft.com/office/powerpoint/2010/main" val="8061400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FDF01EB-A175-3F4A-8121-EDA3DB55ADBC}"/>
              </a:ext>
            </a:extLst>
          </p:cNvPr>
          <p:cNvSpPr>
            <a:spLocks noGrp="1"/>
          </p:cNvSpPr>
          <p:nvPr>
            <p:ph type="title"/>
          </p:nvPr>
        </p:nvSpPr>
        <p:spPr/>
        <p:txBody>
          <a:bodyPr/>
          <a:lstStyle/>
          <a:p>
            <a:pPr algn="ctr"/>
            <a:r>
              <a:rPr lang="en" altLang="zh-TW" b="1" dirty="0">
                <a:latin typeface="Times" pitchFamily="2" charset="0"/>
              </a:rPr>
              <a:t>Experiments</a:t>
            </a:r>
          </a:p>
        </p:txBody>
      </p:sp>
      <p:sp>
        <p:nvSpPr>
          <p:cNvPr id="3" name="投影片編號版面配置區 2">
            <a:extLst>
              <a:ext uri="{FF2B5EF4-FFF2-40B4-BE49-F238E27FC236}">
                <a16:creationId xmlns:a16="http://schemas.microsoft.com/office/drawing/2014/main" id="{E95941D5-EE91-E142-81D8-4062D50ADF92}"/>
              </a:ext>
            </a:extLst>
          </p:cNvPr>
          <p:cNvSpPr>
            <a:spLocks noGrp="1"/>
          </p:cNvSpPr>
          <p:nvPr>
            <p:ph type="sldNum" sz="quarter" idx="12"/>
          </p:nvPr>
        </p:nvSpPr>
        <p:spPr/>
        <p:txBody>
          <a:bodyPr/>
          <a:lstStyle/>
          <a:p>
            <a:fld id="{D1303F21-0339-114F-A835-EDFAC68AEBBB}" type="slidenum">
              <a:rPr kumimoji="1" lang="zh-TW" altLang="en-US" smtClean="0"/>
              <a:t>14</a:t>
            </a:fld>
            <a:endParaRPr kumimoji="1" lang="zh-TW" altLang="en-US"/>
          </a:p>
        </p:txBody>
      </p:sp>
      <p:grpSp>
        <p:nvGrpSpPr>
          <p:cNvPr id="4" name="群組 3">
            <a:extLst>
              <a:ext uri="{FF2B5EF4-FFF2-40B4-BE49-F238E27FC236}">
                <a16:creationId xmlns:a16="http://schemas.microsoft.com/office/drawing/2014/main" id="{AD624EDC-BEF8-5145-84EE-AEF2AA45AEC9}"/>
              </a:ext>
            </a:extLst>
          </p:cNvPr>
          <p:cNvGrpSpPr/>
          <p:nvPr/>
        </p:nvGrpSpPr>
        <p:grpSpPr>
          <a:xfrm>
            <a:off x="944585" y="1948339"/>
            <a:ext cx="10302830" cy="4150360"/>
            <a:chOff x="944585" y="1948339"/>
            <a:chExt cx="10302830" cy="4150360"/>
          </a:xfrm>
        </p:grpSpPr>
        <p:pic>
          <p:nvPicPr>
            <p:cNvPr id="6" name="圖片 5" descr="一張含有 桌 的圖片&#10;&#10;自動產生的描述">
              <a:extLst>
                <a:ext uri="{FF2B5EF4-FFF2-40B4-BE49-F238E27FC236}">
                  <a16:creationId xmlns:a16="http://schemas.microsoft.com/office/drawing/2014/main" id="{71C95823-E9C5-6A41-BB4A-70A28B5921A3}"/>
                </a:ext>
              </a:extLst>
            </p:cNvPr>
            <p:cNvPicPr>
              <a:picLocks noChangeAspect="1"/>
            </p:cNvPicPr>
            <p:nvPr/>
          </p:nvPicPr>
          <p:blipFill>
            <a:blip r:embed="rId2"/>
            <a:stretch>
              <a:fillRect/>
            </a:stretch>
          </p:blipFill>
          <p:spPr>
            <a:xfrm>
              <a:off x="944585" y="1948339"/>
              <a:ext cx="10302830" cy="4150360"/>
            </a:xfrm>
            <a:prstGeom prst="rect">
              <a:avLst/>
            </a:prstGeom>
          </p:spPr>
        </p:pic>
        <p:sp>
          <p:nvSpPr>
            <p:cNvPr id="10" name="矩形 9">
              <a:extLst>
                <a:ext uri="{FF2B5EF4-FFF2-40B4-BE49-F238E27FC236}">
                  <a16:creationId xmlns:a16="http://schemas.microsoft.com/office/drawing/2014/main" id="{13E33A0A-B1FD-4049-B2B8-D8F43AB8BE13}"/>
                </a:ext>
              </a:extLst>
            </p:cNvPr>
            <p:cNvSpPr/>
            <p:nvPr/>
          </p:nvSpPr>
          <p:spPr>
            <a:xfrm>
              <a:off x="8877300" y="2880360"/>
              <a:ext cx="2270760" cy="304800"/>
            </a:xfrm>
            <a:custGeom>
              <a:avLst/>
              <a:gdLst>
                <a:gd name="connsiteX0" fmla="*/ 0 w 2270760"/>
                <a:gd name="connsiteY0" fmla="*/ 0 h 304800"/>
                <a:gd name="connsiteX1" fmla="*/ 544982 w 2270760"/>
                <a:gd name="connsiteY1" fmla="*/ 0 h 304800"/>
                <a:gd name="connsiteX2" fmla="*/ 1044550 w 2270760"/>
                <a:gd name="connsiteY2" fmla="*/ 0 h 304800"/>
                <a:gd name="connsiteX3" fmla="*/ 1657655 w 2270760"/>
                <a:gd name="connsiteY3" fmla="*/ 0 h 304800"/>
                <a:gd name="connsiteX4" fmla="*/ 2270760 w 2270760"/>
                <a:gd name="connsiteY4" fmla="*/ 0 h 304800"/>
                <a:gd name="connsiteX5" fmla="*/ 2270760 w 2270760"/>
                <a:gd name="connsiteY5" fmla="*/ 304800 h 304800"/>
                <a:gd name="connsiteX6" fmla="*/ 1748485 w 2270760"/>
                <a:gd name="connsiteY6" fmla="*/ 304800 h 304800"/>
                <a:gd name="connsiteX7" fmla="*/ 1226210 w 2270760"/>
                <a:gd name="connsiteY7" fmla="*/ 304800 h 304800"/>
                <a:gd name="connsiteX8" fmla="*/ 613105 w 2270760"/>
                <a:gd name="connsiteY8" fmla="*/ 304800 h 304800"/>
                <a:gd name="connsiteX9" fmla="*/ 0 w 2270760"/>
                <a:gd name="connsiteY9" fmla="*/ 304800 h 304800"/>
                <a:gd name="connsiteX10" fmla="*/ 0 w 2270760"/>
                <a:gd name="connsiteY10" fmla="*/ 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70760" h="304800" extrusionOk="0">
                  <a:moveTo>
                    <a:pt x="0" y="0"/>
                  </a:moveTo>
                  <a:cubicBezTo>
                    <a:pt x="222718" y="-21217"/>
                    <a:pt x="339054" y="-23159"/>
                    <a:pt x="544982" y="0"/>
                  </a:cubicBezTo>
                  <a:cubicBezTo>
                    <a:pt x="750910" y="23159"/>
                    <a:pt x="854819" y="3058"/>
                    <a:pt x="1044550" y="0"/>
                  </a:cubicBezTo>
                  <a:cubicBezTo>
                    <a:pt x="1234281" y="-3058"/>
                    <a:pt x="1380238" y="-16551"/>
                    <a:pt x="1657655" y="0"/>
                  </a:cubicBezTo>
                  <a:cubicBezTo>
                    <a:pt x="1935073" y="16551"/>
                    <a:pt x="2054046" y="-8869"/>
                    <a:pt x="2270760" y="0"/>
                  </a:cubicBezTo>
                  <a:cubicBezTo>
                    <a:pt x="2274527" y="133951"/>
                    <a:pt x="2274952" y="212395"/>
                    <a:pt x="2270760" y="304800"/>
                  </a:cubicBezTo>
                  <a:cubicBezTo>
                    <a:pt x="2060628" y="319150"/>
                    <a:pt x="1871244" y="286725"/>
                    <a:pt x="1748485" y="304800"/>
                  </a:cubicBezTo>
                  <a:cubicBezTo>
                    <a:pt x="1625726" y="322875"/>
                    <a:pt x="1343106" y="284956"/>
                    <a:pt x="1226210" y="304800"/>
                  </a:cubicBezTo>
                  <a:cubicBezTo>
                    <a:pt x="1109314" y="324644"/>
                    <a:pt x="883315" y="308569"/>
                    <a:pt x="613105" y="304800"/>
                  </a:cubicBezTo>
                  <a:cubicBezTo>
                    <a:pt x="342896" y="301031"/>
                    <a:pt x="255027" y="334785"/>
                    <a:pt x="0" y="304800"/>
                  </a:cubicBezTo>
                  <a:cubicBezTo>
                    <a:pt x="12758" y="222881"/>
                    <a:pt x="-926" y="140063"/>
                    <a:pt x="0" y="0"/>
                  </a:cubicBezTo>
                  <a:close/>
                </a:path>
              </a:pathLst>
            </a:custGeom>
            <a:noFill/>
            <a:ln w="38100">
              <a:solidFill>
                <a:srgbClr val="FF0000"/>
              </a:soli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 name="矩形 10">
              <a:extLst>
                <a:ext uri="{FF2B5EF4-FFF2-40B4-BE49-F238E27FC236}">
                  <a16:creationId xmlns:a16="http://schemas.microsoft.com/office/drawing/2014/main" id="{0ACBC9C8-6D35-B140-96F5-177CDF00E489}"/>
                </a:ext>
              </a:extLst>
            </p:cNvPr>
            <p:cNvSpPr/>
            <p:nvPr/>
          </p:nvSpPr>
          <p:spPr>
            <a:xfrm>
              <a:off x="8877300" y="3460910"/>
              <a:ext cx="2270760" cy="304800"/>
            </a:xfrm>
            <a:custGeom>
              <a:avLst/>
              <a:gdLst>
                <a:gd name="connsiteX0" fmla="*/ 0 w 2270760"/>
                <a:gd name="connsiteY0" fmla="*/ 0 h 304800"/>
                <a:gd name="connsiteX1" fmla="*/ 544982 w 2270760"/>
                <a:gd name="connsiteY1" fmla="*/ 0 h 304800"/>
                <a:gd name="connsiteX2" fmla="*/ 1044550 w 2270760"/>
                <a:gd name="connsiteY2" fmla="*/ 0 h 304800"/>
                <a:gd name="connsiteX3" fmla="*/ 1657655 w 2270760"/>
                <a:gd name="connsiteY3" fmla="*/ 0 h 304800"/>
                <a:gd name="connsiteX4" fmla="*/ 2270760 w 2270760"/>
                <a:gd name="connsiteY4" fmla="*/ 0 h 304800"/>
                <a:gd name="connsiteX5" fmla="*/ 2270760 w 2270760"/>
                <a:gd name="connsiteY5" fmla="*/ 304800 h 304800"/>
                <a:gd name="connsiteX6" fmla="*/ 1748485 w 2270760"/>
                <a:gd name="connsiteY6" fmla="*/ 304800 h 304800"/>
                <a:gd name="connsiteX7" fmla="*/ 1226210 w 2270760"/>
                <a:gd name="connsiteY7" fmla="*/ 304800 h 304800"/>
                <a:gd name="connsiteX8" fmla="*/ 613105 w 2270760"/>
                <a:gd name="connsiteY8" fmla="*/ 304800 h 304800"/>
                <a:gd name="connsiteX9" fmla="*/ 0 w 2270760"/>
                <a:gd name="connsiteY9" fmla="*/ 304800 h 304800"/>
                <a:gd name="connsiteX10" fmla="*/ 0 w 2270760"/>
                <a:gd name="connsiteY10" fmla="*/ 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70760" h="304800" extrusionOk="0">
                  <a:moveTo>
                    <a:pt x="0" y="0"/>
                  </a:moveTo>
                  <a:cubicBezTo>
                    <a:pt x="222718" y="-21217"/>
                    <a:pt x="339054" y="-23159"/>
                    <a:pt x="544982" y="0"/>
                  </a:cubicBezTo>
                  <a:cubicBezTo>
                    <a:pt x="750910" y="23159"/>
                    <a:pt x="854819" y="3058"/>
                    <a:pt x="1044550" y="0"/>
                  </a:cubicBezTo>
                  <a:cubicBezTo>
                    <a:pt x="1234281" y="-3058"/>
                    <a:pt x="1380238" y="-16551"/>
                    <a:pt x="1657655" y="0"/>
                  </a:cubicBezTo>
                  <a:cubicBezTo>
                    <a:pt x="1935073" y="16551"/>
                    <a:pt x="2054046" y="-8869"/>
                    <a:pt x="2270760" y="0"/>
                  </a:cubicBezTo>
                  <a:cubicBezTo>
                    <a:pt x="2274527" y="133951"/>
                    <a:pt x="2274952" y="212395"/>
                    <a:pt x="2270760" y="304800"/>
                  </a:cubicBezTo>
                  <a:cubicBezTo>
                    <a:pt x="2060628" y="319150"/>
                    <a:pt x="1871244" y="286725"/>
                    <a:pt x="1748485" y="304800"/>
                  </a:cubicBezTo>
                  <a:cubicBezTo>
                    <a:pt x="1625726" y="322875"/>
                    <a:pt x="1343106" y="284956"/>
                    <a:pt x="1226210" y="304800"/>
                  </a:cubicBezTo>
                  <a:cubicBezTo>
                    <a:pt x="1109314" y="324644"/>
                    <a:pt x="883315" y="308569"/>
                    <a:pt x="613105" y="304800"/>
                  </a:cubicBezTo>
                  <a:cubicBezTo>
                    <a:pt x="342896" y="301031"/>
                    <a:pt x="255027" y="334785"/>
                    <a:pt x="0" y="304800"/>
                  </a:cubicBezTo>
                  <a:cubicBezTo>
                    <a:pt x="12758" y="222881"/>
                    <a:pt x="-926" y="140063"/>
                    <a:pt x="0" y="0"/>
                  </a:cubicBezTo>
                  <a:close/>
                </a:path>
              </a:pathLst>
            </a:custGeom>
            <a:noFill/>
            <a:ln w="38100">
              <a:solidFill>
                <a:srgbClr val="FF0000"/>
              </a:soli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spTree>
    <p:extLst>
      <p:ext uri="{BB962C8B-B14F-4D97-AF65-F5344CB8AC3E}">
        <p14:creationId xmlns:p14="http://schemas.microsoft.com/office/powerpoint/2010/main" val="3042594358"/>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9039</TotalTime>
  <Words>597</Words>
  <Application>Microsoft Macintosh PowerPoint</Application>
  <PresentationFormat>寬螢幕</PresentationFormat>
  <Paragraphs>86</Paragraphs>
  <Slides>14</Slides>
  <Notes>4</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14</vt:i4>
      </vt:variant>
    </vt:vector>
  </HeadingPairs>
  <TitlesOfParts>
    <vt:vector size="20" baseType="lpstr">
      <vt:lpstr>Arial</vt:lpstr>
      <vt:lpstr>Calibri</vt:lpstr>
      <vt:lpstr>Calibri Light</vt:lpstr>
      <vt:lpstr>Cambria Math</vt:lpstr>
      <vt:lpstr>Times</vt:lpstr>
      <vt:lpstr>Office 佈景主題</vt:lpstr>
      <vt:lpstr>Contract Bridge Bidding by Learning</vt:lpstr>
      <vt:lpstr>Abstract(1/2)</vt:lpstr>
      <vt:lpstr>Abstract(2/2)</vt:lpstr>
      <vt:lpstr>Problem Setup</vt:lpstr>
      <vt:lpstr>Contextual bandit problem</vt:lpstr>
      <vt:lpstr>Multi-layer bandit model</vt:lpstr>
      <vt:lpstr>Multi-layer bandit model</vt:lpstr>
      <vt:lpstr>Multi-layer bandit model(Layered model)</vt:lpstr>
      <vt:lpstr>CSTSR - ridge regression</vt:lpstr>
      <vt:lpstr>LinUCB algorithm</vt:lpstr>
      <vt:lpstr>Algorithm</vt:lpstr>
      <vt:lpstr>Experiments</vt:lpstr>
      <vt:lpstr>Experiments</vt:lpstr>
      <vt:lpstr>Experiments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Contract Bridge Bidding by Learning</dc:title>
  <dc:creator>D096050007</dc:creator>
  <cp:lastModifiedBy>D096050007</cp:lastModifiedBy>
  <cp:revision>224</cp:revision>
  <dcterms:created xsi:type="dcterms:W3CDTF">2022-08-02T05:08:02Z</dcterms:created>
  <dcterms:modified xsi:type="dcterms:W3CDTF">2022-11-01T09:31:42Z</dcterms:modified>
</cp:coreProperties>
</file>