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60" r:id="rId4"/>
    <p:sldId id="262" r:id="rId5"/>
    <p:sldId id="263" r:id="rId6"/>
    <p:sldId id="259" r:id="rId7"/>
    <p:sldId id="261" r:id="rId8"/>
    <p:sldId id="264" r:id="rId9"/>
    <p:sldId id="265" r:id="rId10"/>
    <p:sldId id="266"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647" autoAdjust="0"/>
  </p:normalViewPr>
  <p:slideViewPr>
    <p:cSldViewPr snapToGrid="0">
      <p:cViewPr varScale="1">
        <p:scale>
          <a:sx n="88" d="100"/>
          <a:sy n="88" d="100"/>
        </p:scale>
        <p:origin x="147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6D34A-238D-4485-A40B-F87E86E9258E}" type="datetimeFigureOut">
              <a:rPr lang="zh-TW" altLang="en-US" smtClean="0"/>
              <a:t>2022/9/26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64390-0ED7-4C75-BFE1-36BE5D3D4367}" type="slidenum">
              <a:rPr lang="zh-TW" altLang="en-US" smtClean="0"/>
              <a:t>‹#›</a:t>
            </a:fld>
            <a:endParaRPr lang="zh-TW" altLang="en-US"/>
          </a:p>
        </p:txBody>
      </p:sp>
    </p:spTree>
    <p:extLst>
      <p:ext uri="{BB962C8B-B14F-4D97-AF65-F5344CB8AC3E}">
        <p14:creationId xmlns:p14="http://schemas.microsoft.com/office/powerpoint/2010/main" val="299655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2</a:t>
            </a:fld>
            <a:endParaRPr lang="zh-TW" altLang="en-US"/>
          </a:p>
        </p:txBody>
      </p:sp>
    </p:spTree>
    <p:extLst>
      <p:ext uri="{BB962C8B-B14F-4D97-AF65-F5344CB8AC3E}">
        <p14:creationId xmlns:p14="http://schemas.microsoft.com/office/powerpoint/2010/main" val="17722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Heft </a:t>
            </a:r>
            <a:r>
              <a:rPr lang="en-US" altLang="zh-TW" dirty="0" err="1"/>
              <a:t>uprank</a:t>
            </a:r>
            <a:endParaRPr lang="en-US" altLang="zh-TW" dirty="0"/>
          </a:p>
          <a:p>
            <a:r>
              <a:rPr lang="en-US" altLang="zh-TW" dirty="0" err="1"/>
              <a:t>Cpop</a:t>
            </a:r>
            <a:r>
              <a:rPr lang="en-US" altLang="zh-TW" dirty="0"/>
              <a:t> </a:t>
            </a:r>
            <a:r>
              <a:rPr lang="en-US" altLang="zh-TW" dirty="0" err="1"/>
              <a:t>uprank</a:t>
            </a:r>
            <a:r>
              <a:rPr lang="en-US" altLang="zh-TW" dirty="0"/>
              <a:t> +downrank</a:t>
            </a:r>
          </a:p>
          <a:p>
            <a:r>
              <a:rPr lang="en-US" altLang="zh-TW" dirty="0"/>
              <a:t>Pets </a:t>
            </a:r>
            <a:r>
              <a:rPr lang="en-US" altLang="zh-TW" dirty="0" err="1"/>
              <a:t>acc+dtc+rpt</a:t>
            </a:r>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5</a:t>
            </a:fld>
            <a:endParaRPr lang="zh-TW" altLang="en-US"/>
          </a:p>
        </p:txBody>
      </p:sp>
    </p:spTree>
    <p:extLst>
      <p:ext uri="{BB962C8B-B14F-4D97-AF65-F5344CB8AC3E}">
        <p14:creationId xmlns:p14="http://schemas.microsoft.com/office/powerpoint/2010/main" val="1735620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看起來是要讓可能會用最久時間</a:t>
            </a:r>
            <a:r>
              <a:rPr lang="en-US" altLang="zh-TW" dirty="0"/>
              <a:t>task</a:t>
            </a:r>
            <a:r>
              <a:rPr lang="zh-TW" altLang="en-US" dirty="0"/>
              <a:t>的先選</a:t>
            </a:r>
            <a:r>
              <a:rPr lang="en-US" altLang="zh-TW" dirty="0"/>
              <a:t>processor</a:t>
            </a:r>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6</a:t>
            </a:fld>
            <a:endParaRPr lang="zh-TW" altLang="en-US"/>
          </a:p>
        </p:txBody>
      </p:sp>
    </p:spTree>
    <p:extLst>
      <p:ext uri="{BB962C8B-B14F-4D97-AF65-F5344CB8AC3E}">
        <p14:creationId xmlns:p14="http://schemas.microsoft.com/office/powerpoint/2010/main" val="2072125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8</a:t>
            </a:fld>
            <a:endParaRPr lang="zh-TW" altLang="en-US"/>
          </a:p>
        </p:txBody>
      </p:sp>
    </p:spTree>
    <p:extLst>
      <p:ext uri="{BB962C8B-B14F-4D97-AF65-F5344CB8AC3E}">
        <p14:creationId xmlns:p14="http://schemas.microsoft.com/office/powerpoint/2010/main" val="2826258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Ccr</a:t>
            </a:r>
            <a:r>
              <a:rPr lang="en-US" altLang="zh-TW" dirty="0"/>
              <a:t>=mean computation time/mean communication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Parallelization factor</a:t>
            </a:r>
            <a:r>
              <a:rPr lang="zh-TW" altLang="en-US" dirty="0">
                <a:latin typeface="Times New Roman" panose="02020603050405020304" pitchFamily="18" charset="0"/>
                <a:cs typeface="Times New Roman" panose="02020603050405020304" pitchFamily="18" charset="0"/>
              </a:rPr>
              <a:t> 控制高矮胖瘦</a:t>
            </a:r>
            <a:endParaRPr lang="en-US" altLang="zh-TW"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Heterogeneity factor</a:t>
            </a:r>
            <a:r>
              <a:rPr lang="zh-TW" altLang="en-US" dirty="0">
                <a:latin typeface="Times New Roman" panose="02020603050405020304" pitchFamily="18" charset="0"/>
                <a:cs typeface="Times New Roman" panose="02020603050405020304" pitchFamily="18" charset="0"/>
              </a:rPr>
              <a:t> 控制在不同</a:t>
            </a:r>
            <a:r>
              <a:rPr lang="en-US" altLang="zh-TW" dirty="0">
                <a:latin typeface="Times New Roman" panose="02020603050405020304" pitchFamily="18" charset="0"/>
                <a:cs typeface="Times New Roman" panose="02020603050405020304" pitchFamily="18" charset="0"/>
              </a:rPr>
              <a:t>processor</a:t>
            </a:r>
            <a:r>
              <a:rPr lang="zh-TW" altLang="en-US" dirty="0">
                <a:latin typeface="Times New Roman" panose="02020603050405020304" pitchFamily="18" charset="0"/>
                <a:cs typeface="Times New Roman" panose="02020603050405020304" pitchFamily="18" charset="0"/>
              </a:rPr>
              <a:t>上的執行時間</a:t>
            </a:r>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9</a:t>
            </a:fld>
            <a:endParaRPr lang="zh-TW" altLang="en-US"/>
          </a:p>
        </p:txBody>
      </p:sp>
    </p:spTree>
    <p:extLst>
      <p:ext uri="{BB962C8B-B14F-4D97-AF65-F5344CB8AC3E}">
        <p14:creationId xmlns:p14="http://schemas.microsoft.com/office/powerpoint/2010/main" val="3926052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Mr</a:t>
            </a:r>
            <a:r>
              <a:rPr lang="en-US" altLang="zh-TW" dirty="0"/>
              <a:t>=</a:t>
            </a:r>
            <a:r>
              <a:rPr lang="en-US" altLang="zh-TW" dirty="0" err="1"/>
              <a:t>makespan</a:t>
            </a:r>
            <a:r>
              <a:rPr lang="en-US" altLang="zh-TW" dirty="0"/>
              <a:t>/lower bound</a:t>
            </a:r>
          </a:p>
          <a:p>
            <a:r>
              <a:rPr lang="en-US" altLang="zh-TW" dirty="0"/>
              <a:t>Speedup=sequential </a:t>
            </a:r>
            <a:r>
              <a:rPr lang="en-US" altLang="zh-TW" dirty="0" err="1"/>
              <a:t>excution</a:t>
            </a:r>
            <a:r>
              <a:rPr lang="en-US" altLang="zh-TW" dirty="0"/>
              <a:t> time/parallel </a:t>
            </a:r>
            <a:r>
              <a:rPr lang="en-US" altLang="zh-TW" dirty="0" err="1"/>
              <a:t>excution</a:t>
            </a:r>
            <a:r>
              <a:rPr lang="en-US" altLang="zh-TW" dirty="0"/>
              <a:t> time</a:t>
            </a:r>
          </a:p>
          <a:p>
            <a:r>
              <a:rPr lang="en-US" altLang="zh-TW" dirty="0"/>
              <a:t>Efficiency=speed/number of processor used</a:t>
            </a:r>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10</a:t>
            </a:fld>
            <a:endParaRPr lang="zh-TW" altLang="en-US"/>
          </a:p>
        </p:txBody>
      </p:sp>
    </p:spTree>
    <p:extLst>
      <p:ext uri="{BB962C8B-B14F-4D97-AF65-F5344CB8AC3E}">
        <p14:creationId xmlns:p14="http://schemas.microsoft.com/office/powerpoint/2010/main" val="2158733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4ABE8-C94B-E18D-858B-D5BD0B4579D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CA81801-27CB-33FE-9BBB-35B4A8F852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8ADB085-0E96-5673-674A-BC4F57676851}"/>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5" name="頁尾版面配置區 4">
            <a:extLst>
              <a:ext uri="{FF2B5EF4-FFF2-40B4-BE49-F238E27FC236}">
                <a16:creationId xmlns:a16="http://schemas.microsoft.com/office/drawing/2014/main" id="{1831A456-1F52-86D4-BFE3-76ABE85BB6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DF849C-9AC1-D660-80F3-CABBA22CD5CE}"/>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4348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899BAC-4486-BEF7-ED50-76C27F54AF1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F2E3A36-69DA-7675-1A1B-4D2E591884A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821D62-ACEA-785E-4FFC-8E12E75126CD}"/>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5" name="頁尾版面配置區 4">
            <a:extLst>
              <a:ext uri="{FF2B5EF4-FFF2-40B4-BE49-F238E27FC236}">
                <a16:creationId xmlns:a16="http://schemas.microsoft.com/office/drawing/2014/main" id="{4841D5E2-D6EE-E68D-93EB-CCA47810EF9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11382C-634C-3346-3E34-C9DBDEC86A59}"/>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1487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DA36C7-53F1-0E07-AE4C-737515EF722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A0F2F28-0C20-E02F-D9F5-F925DC3A0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33F3457-6D4B-1B0D-B443-1D535B4D6AA4}"/>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5" name="頁尾版面配置區 4">
            <a:extLst>
              <a:ext uri="{FF2B5EF4-FFF2-40B4-BE49-F238E27FC236}">
                <a16:creationId xmlns:a16="http://schemas.microsoft.com/office/drawing/2014/main" id="{299A57AC-C319-CF75-1669-B27D371A82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D198BE-D8B1-8E13-013A-C67E3615DDB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913099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91C669-6150-BD36-BB37-4BEF5D5EBF5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063AE35-8B3A-D343-2183-BAB81EFC27C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0271FDD-84FF-945B-DE66-2BCCF0B2DCF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42860B6-9AB1-02DB-31C2-8D48D592E298}"/>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6" name="頁尾版面配置區 5">
            <a:extLst>
              <a:ext uri="{FF2B5EF4-FFF2-40B4-BE49-F238E27FC236}">
                <a16:creationId xmlns:a16="http://schemas.microsoft.com/office/drawing/2014/main" id="{FE995E2A-3CD8-8A87-DC71-C38BF7D4A07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32CE0F6-D5BF-132D-C7DF-40A33A4BBF2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77462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4C8182-EBB8-EE7D-8C08-A13FEBAE9C5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CEE536-50FA-581D-B2BE-81FD97BA9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2F668FA-86CB-DA15-AB1A-E311480B806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5881DE1-F36F-92A4-FC1C-8AEA2099A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32B3EA3-970C-61D2-A1B8-E1EDEE49C77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96277DE-52AE-290B-5D6D-2B1FBCEC6DA4}"/>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8" name="頁尾版面配置區 7">
            <a:extLst>
              <a:ext uri="{FF2B5EF4-FFF2-40B4-BE49-F238E27FC236}">
                <a16:creationId xmlns:a16="http://schemas.microsoft.com/office/drawing/2014/main" id="{59E9EE01-71CA-9575-4F3B-5E4014D35FE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A9CFD94-812A-F5B7-A452-671C0AE9E59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777047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4B7F7-64B8-FFE6-EA23-1CA37B4DAA5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F139E3A-2C6B-C838-82DD-2046F3CB9E37}"/>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4" name="頁尾版面配置區 3">
            <a:extLst>
              <a:ext uri="{FF2B5EF4-FFF2-40B4-BE49-F238E27FC236}">
                <a16:creationId xmlns:a16="http://schemas.microsoft.com/office/drawing/2014/main" id="{98A57213-0BE3-60B7-E7B6-8C1ECA997C5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B1CA4A1-5503-DFDB-78CE-BB6301F635B5}"/>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141699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90E34BB-6EB1-BAD1-FC6D-EE971E88AAF6}"/>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3" name="頁尾版面配置區 2">
            <a:extLst>
              <a:ext uri="{FF2B5EF4-FFF2-40B4-BE49-F238E27FC236}">
                <a16:creationId xmlns:a16="http://schemas.microsoft.com/office/drawing/2014/main" id="{4E6D17BE-E03F-39BD-6867-426E8BA1700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6860872-9876-819D-901A-979413381FF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93526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F21EDC-93FA-CEEC-2DC0-296C8A5DF63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E4966D3-0321-9530-3BBE-6A172CD7E2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853AC8E-357E-B12C-959A-68FC689CBF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921B7E-E740-F038-426B-5A80531C4364}"/>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6" name="頁尾版面配置區 5">
            <a:extLst>
              <a:ext uri="{FF2B5EF4-FFF2-40B4-BE49-F238E27FC236}">
                <a16:creationId xmlns:a16="http://schemas.microsoft.com/office/drawing/2014/main" id="{2499217B-E73E-A066-AFAB-3DB571E2F13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773783-7C44-3528-705C-820CBFB9237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77087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05790-6942-CB7A-4284-94709472C62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42F9CDC-8A00-5D70-4208-2928A6442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9506B2-7081-438F-73C0-5F1938250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4FB9D4E-3F43-D3BC-24A8-B5EA2B4379ED}"/>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6" name="頁尾版面配置區 5">
            <a:extLst>
              <a:ext uri="{FF2B5EF4-FFF2-40B4-BE49-F238E27FC236}">
                <a16:creationId xmlns:a16="http://schemas.microsoft.com/office/drawing/2014/main" id="{B72AE023-8F09-3BE0-F98C-7478FB82901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A4E2CE-60C0-A2D3-7563-D84C7AD366F7}"/>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91916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0DE12D-8D14-DE93-59D0-3BFA90F41D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0B086A79-EF8D-9ED3-294A-0EDB04DF910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0D790C4-7B71-165D-CED5-B5A3CC60F375}"/>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5" name="頁尾版面配置區 4">
            <a:extLst>
              <a:ext uri="{FF2B5EF4-FFF2-40B4-BE49-F238E27FC236}">
                <a16:creationId xmlns:a16="http://schemas.microsoft.com/office/drawing/2014/main" id="{01022FF6-BD27-B989-BD6E-04A8E6F7E5E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6AB840-CA5F-FE7D-F5B2-A2A94306FCD6}"/>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3001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EB9134E-AF1E-B42A-2102-7665CE0D638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90DAC8B-1A34-5904-7632-9E9B2121BA8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1E19192-D5C1-DC8D-BAE0-86BDD62952DF}"/>
              </a:ext>
            </a:extLst>
          </p:cNvPr>
          <p:cNvSpPr>
            <a:spLocks noGrp="1"/>
          </p:cNvSpPr>
          <p:nvPr>
            <p:ph type="dt" sz="half" idx="10"/>
          </p:nvPr>
        </p:nvSpPr>
        <p:spPr/>
        <p:txBody>
          <a:bodyPr/>
          <a:lstStyle/>
          <a:p>
            <a:fld id="{CC033F32-0F6C-4691-9822-F43EC9D63E1A}" type="datetimeFigureOut">
              <a:rPr lang="zh-TW" altLang="en-US" smtClean="0"/>
              <a:t>2022/9/26</a:t>
            </a:fld>
            <a:endParaRPr lang="zh-TW" altLang="en-US"/>
          </a:p>
        </p:txBody>
      </p:sp>
      <p:sp>
        <p:nvSpPr>
          <p:cNvPr id="5" name="頁尾版面配置區 4">
            <a:extLst>
              <a:ext uri="{FF2B5EF4-FFF2-40B4-BE49-F238E27FC236}">
                <a16:creationId xmlns:a16="http://schemas.microsoft.com/office/drawing/2014/main" id="{F9947EDF-FE6F-BF6C-D0EB-476DA14D7A2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75C11C2-33BA-4948-8EB8-C09F19D6E30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886665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1C5B211-6D25-144F-AF56-36672E6CFB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2C0595F-6EF9-4A8A-CE24-F423A3258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073B7A-3877-B4D7-EC9E-AD672F206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33F32-0F6C-4691-9822-F43EC9D63E1A}" type="datetimeFigureOut">
              <a:rPr lang="zh-TW" altLang="en-US" smtClean="0"/>
              <a:t>2022/9/26</a:t>
            </a:fld>
            <a:endParaRPr lang="zh-TW" altLang="en-US"/>
          </a:p>
        </p:txBody>
      </p:sp>
      <p:sp>
        <p:nvSpPr>
          <p:cNvPr id="5" name="頁尾版面配置區 4">
            <a:extLst>
              <a:ext uri="{FF2B5EF4-FFF2-40B4-BE49-F238E27FC236}">
                <a16:creationId xmlns:a16="http://schemas.microsoft.com/office/drawing/2014/main" id="{1A50C37F-EF86-75C0-3D9C-8A5C9D823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3F84A5E-DB06-195D-E20D-1A9F0FEE1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528470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390EC-3505-4614-AC8B-E5220F3B9165}"/>
              </a:ext>
            </a:extLst>
          </p:cNvPr>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A New Heuristic for Minimizing Schedule Length in</a:t>
            </a:r>
            <a:br>
              <a:rPr lang="en-US" altLang="zh-TW" sz="4400" dirty="0">
                <a:latin typeface="Times New Roman" panose="02020603050405020304" pitchFamily="18" charset="0"/>
                <a:cs typeface="Times New Roman" panose="02020603050405020304" pitchFamily="18" charset="0"/>
              </a:rPr>
            </a:br>
            <a:r>
              <a:rPr lang="en-US" altLang="zh-TW" sz="4400" dirty="0">
                <a:latin typeface="Times New Roman" panose="02020603050405020304" pitchFamily="18" charset="0"/>
                <a:cs typeface="Times New Roman" panose="02020603050405020304" pitchFamily="18" charset="0"/>
              </a:rPr>
              <a:t>Heterogeneous Computing Systems </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C88D9F7-F986-E365-FDC2-C6659A6332D8}"/>
              </a:ext>
            </a:extLst>
          </p:cNvPr>
          <p:cNvSpPr>
            <a:spLocks noGrp="1"/>
          </p:cNvSpPr>
          <p:nvPr>
            <p:ph type="subTitle" idx="1"/>
          </p:nvPr>
        </p:nvSpPr>
        <p:spPr/>
        <p:txBody>
          <a:bodyPr/>
          <a:lstStyle/>
          <a:p>
            <a:r>
              <a:rPr lang="en-US" altLang="zh-TW" dirty="0">
                <a:latin typeface="Times New Roman" panose="02020603050405020304" pitchFamily="18" charset="0"/>
                <a:cs typeface="Times New Roman" panose="02020603050405020304" pitchFamily="18" charset="0"/>
              </a:rPr>
              <a:t>D. Sirisha</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a:t>
            </a:r>
            <a:r>
              <a:rPr lang="en-US" altLang="zh-TW" dirty="0" err="1">
                <a:latin typeface="Times New Roman" panose="02020603050405020304" pitchFamily="18" charset="0"/>
                <a:cs typeface="Times New Roman" panose="02020603050405020304" pitchFamily="18" charset="0"/>
              </a:rPr>
              <a:t>G.Vijaya</a:t>
            </a:r>
            <a:r>
              <a:rPr lang="en-US" altLang="zh-TW" dirty="0">
                <a:latin typeface="Times New Roman" panose="02020603050405020304" pitchFamily="18" charset="0"/>
                <a:cs typeface="Times New Roman" panose="02020603050405020304" pitchFamily="18" charset="0"/>
              </a:rPr>
              <a:t> Kumari</a:t>
            </a:r>
          </a:p>
          <a:p>
            <a:r>
              <a:rPr lang="en-US" altLang="zh-TW" sz="2400" dirty="0">
                <a:latin typeface="Times New Roman" panose="02020603050405020304" pitchFamily="18" charset="0"/>
                <a:cs typeface="Times New Roman" panose="02020603050405020304" pitchFamily="18" charset="0"/>
              </a:rPr>
              <a:t>2015 IEEE International Conference on Electrical, Computer and Communication Technologies (ICECCT)</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0B04478-59CB-DCC3-9EC8-DF5AE437110D}"/>
              </a:ext>
            </a:extLst>
          </p:cNvPr>
          <p:cNvSpPr txBox="1"/>
          <p:nvPr/>
        </p:nvSpPr>
        <p:spPr>
          <a:xfrm>
            <a:off x="8489576" y="5531224"/>
            <a:ext cx="3397624"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Sept. 27, 2022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02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Heterogeneous environments includes resources with diverse capabilities necessitates efficient task-to-processor assignment for accomplishing high performance. In the proposed work a new heuristic approach for scheduling the tasks independent of their levels in the precedence constrained task graph is detailed. Schedules with shorter span are achieved by reducing the start time of the independent tasks. The proposed algorithm is compared with the available literature and an improvement in the schedule length is obtained.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73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682F43-E7DD-202B-3123-B2B26DAE05C4}"/>
              </a:ext>
            </a:extLst>
          </p:cNvPr>
          <p:cNvSpPr>
            <a:spLocks noGrp="1"/>
          </p:cNvSpPr>
          <p:nvPr>
            <p:ph type="title"/>
          </p:nvPr>
        </p:nvSpPr>
        <p:spPr/>
        <p:txBody>
          <a:bodyPr/>
          <a:lstStyle/>
          <a:p>
            <a:r>
              <a:rPr lang="en-US" altLang="zh-TW" dirty="0"/>
              <a:t>Problem</a:t>
            </a:r>
            <a:endParaRPr lang="zh-TW" altLang="en-US" dirty="0"/>
          </a:p>
        </p:txBody>
      </p:sp>
      <p:sp>
        <p:nvSpPr>
          <p:cNvPr id="3" name="內容版面配置區 2">
            <a:extLst>
              <a:ext uri="{FF2B5EF4-FFF2-40B4-BE49-F238E27FC236}">
                <a16:creationId xmlns:a16="http://schemas.microsoft.com/office/drawing/2014/main" id="{80061C1F-583B-9322-1CE5-B2CE7D869461}"/>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E7ACD195-79FB-312E-B582-C21A7B7FB7EA}"/>
              </a:ext>
            </a:extLst>
          </p:cNvPr>
          <p:cNvPicPr>
            <a:picLocks noChangeAspect="1"/>
          </p:cNvPicPr>
          <p:nvPr/>
        </p:nvPicPr>
        <p:blipFill>
          <a:blip r:embed="rId2"/>
          <a:stretch>
            <a:fillRect/>
          </a:stretch>
        </p:blipFill>
        <p:spPr>
          <a:xfrm>
            <a:off x="1436914" y="1825625"/>
            <a:ext cx="5234218" cy="4102904"/>
          </a:xfrm>
          <a:prstGeom prst="rect">
            <a:avLst/>
          </a:prstGeom>
        </p:spPr>
      </p:pic>
    </p:spTree>
    <p:extLst>
      <p:ext uri="{BB962C8B-B14F-4D97-AF65-F5344CB8AC3E}">
        <p14:creationId xmlns:p14="http://schemas.microsoft.com/office/powerpoint/2010/main" val="4283277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99A6E7-3B5B-574E-32BE-7F7856065777}"/>
              </a:ext>
            </a:extLst>
          </p:cNvPr>
          <p:cNvSpPr>
            <a:spLocks noGrp="1"/>
          </p:cNvSpPr>
          <p:nvPr>
            <p:ph type="title"/>
          </p:nvPr>
        </p:nvSpPr>
        <p:spPr/>
        <p:txBody>
          <a:bodyPr/>
          <a:lstStyle/>
          <a:p>
            <a:r>
              <a:rPr lang="en-US" altLang="zh-TW" dirty="0"/>
              <a:t>MSL algorithm</a:t>
            </a:r>
            <a:endParaRPr lang="zh-TW" altLang="en-US" dirty="0"/>
          </a:p>
        </p:txBody>
      </p:sp>
      <p:sp>
        <p:nvSpPr>
          <p:cNvPr id="3" name="內容版面配置區 2">
            <a:extLst>
              <a:ext uri="{FF2B5EF4-FFF2-40B4-BE49-F238E27FC236}">
                <a16:creationId xmlns:a16="http://schemas.microsoft.com/office/drawing/2014/main" id="{03023016-86A9-23E2-03ED-D1D83499A76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Task Ordering Phase</a:t>
            </a:r>
          </a:p>
          <a:p>
            <a:r>
              <a:rPr lang="en-US" altLang="zh-TW" dirty="0"/>
              <a:t>Task Mapping Phase</a:t>
            </a:r>
            <a:endParaRPr lang="zh-TW" altLang="en-US" dirty="0"/>
          </a:p>
        </p:txBody>
      </p:sp>
      <p:pic>
        <p:nvPicPr>
          <p:cNvPr id="4" name="圖片 3">
            <a:extLst>
              <a:ext uri="{FF2B5EF4-FFF2-40B4-BE49-F238E27FC236}">
                <a16:creationId xmlns:a16="http://schemas.microsoft.com/office/drawing/2014/main" id="{1EA04422-95FF-A96B-FE34-8CBCA8B72652}"/>
              </a:ext>
            </a:extLst>
          </p:cNvPr>
          <p:cNvPicPr>
            <a:picLocks noChangeAspect="1"/>
          </p:cNvPicPr>
          <p:nvPr/>
        </p:nvPicPr>
        <p:blipFill>
          <a:blip r:embed="rId2"/>
          <a:stretch>
            <a:fillRect/>
          </a:stretch>
        </p:blipFill>
        <p:spPr>
          <a:xfrm>
            <a:off x="7101230" y="1926186"/>
            <a:ext cx="4041998" cy="3462828"/>
          </a:xfrm>
          <a:prstGeom prst="rect">
            <a:avLst/>
          </a:prstGeom>
        </p:spPr>
      </p:pic>
    </p:spTree>
    <p:extLst>
      <p:ext uri="{BB962C8B-B14F-4D97-AF65-F5344CB8AC3E}">
        <p14:creationId xmlns:p14="http://schemas.microsoft.com/office/powerpoint/2010/main" val="992923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873FE2-C3EE-D182-672F-AB40729BE33D}"/>
              </a:ext>
            </a:extLst>
          </p:cNvPr>
          <p:cNvSpPr>
            <a:spLocks noGrp="1"/>
          </p:cNvSpPr>
          <p:nvPr>
            <p:ph type="title"/>
          </p:nvPr>
        </p:nvSpPr>
        <p:spPr/>
        <p:txBody>
          <a:bodyPr/>
          <a:lstStyle/>
          <a:p>
            <a:r>
              <a:rPr lang="en-US" altLang="zh-TW" dirty="0"/>
              <a:t>Related work</a:t>
            </a:r>
            <a:endParaRPr lang="zh-TW" altLang="en-US" dirty="0"/>
          </a:p>
        </p:txBody>
      </p:sp>
      <p:sp>
        <p:nvSpPr>
          <p:cNvPr id="3" name="內容版面配置區 2">
            <a:extLst>
              <a:ext uri="{FF2B5EF4-FFF2-40B4-BE49-F238E27FC236}">
                <a16:creationId xmlns:a16="http://schemas.microsoft.com/office/drawing/2014/main" id="{E21DFCBD-4F09-32E2-F3CF-FD78EEF3B8BB}"/>
              </a:ext>
            </a:extLst>
          </p:cNvPr>
          <p:cNvSpPr>
            <a:spLocks noGrp="1"/>
          </p:cNvSpPr>
          <p:nvPr>
            <p:ph idx="1"/>
          </p:nvPr>
        </p:nvSpPr>
        <p:spPr/>
        <p:txBody>
          <a:bodyPr/>
          <a:lstStyle/>
          <a:p>
            <a:r>
              <a:rPr lang="en-US" altLang="zh-TW" dirty="0"/>
              <a:t>HEFT Algorithm</a:t>
            </a:r>
          </a:p>
          <a:p>
            <a:r>
              <a:rPr lang="en-US" altLang="zh-TW" dirty="0"/>
              <a:t>CPOP Algorithm</a:t>
            </a:r>
          </a:p>
          <a:p>
            <a:r>
              <a:rPr lang="en-US" altLang="zh-TW" dirty="0"/>
              <a:t>PETS Algorithm</a:t>
            </a:r>
            <a:endParaRPr lang="zh-TW" altLang="en-US" dirty="0"/>
          </a:p>
        </p:txBody>
      </p:sp>
      <p:pic>
        <p:nvPicPr>
          <p:cNvPr id="4" name="圖片 3">
            <a:extLst>
              <a:ext uri="{FF2B5EF4-FFF2-40B4-BE49-F238E27FC236}">
                <a16:creationId xmlns:a16="http://schemas.microsoft.com/office/drawing/2014/main" id="{316DB158-E9E5-EB19-EB48-EEBF9C61CC6B}"/>
              </a:ext>
            </a:extLst>
          </p:cNvPr>
          <p:cNvPicPr>
            <a:picLocks noChangeAspect="1"/>
          </p:cNvPicPr>
          <p:nvPr/>
        </p:nvPicPr>
        <p:blipFill>
          <a:blip r:embed="rId3"/>
          <a:stretch>
            <a:fillRect/>
          </a:stretch>
        </p:blipFill>
        <p:spPr>
          <a:xfrm>
            <a:off x="6455228" y="1553482"/>
            <a:ext cx="5234218" cy="4102904"/>
          </a:xfrm>
          <a:prstGeom prst="rect">
            <a:avLst/>
          </a:prstGeom>
        </p:spPr>
      </p:pic>
    </p:spTree>
    <p:extLst>
      <p:ext uri="{BB962C8B-B14F-4D97-AF65-F5344CB8AC3E}">
        <p14:creationId xmlns:p14="http://schemas.microsoft.com/office/powerpoint/2010/main" val="458313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FF4144-5DB7-5B53-E76D-56B279F4131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Task Ordering Phase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50E1E12-E425-5B82-1999-59560CD42F87}"/>
                  </a:ext>
                </a:extLst>
              </p:cNvPr>
              <p:cNvSpPr>
                <a:spLocks noGrp="1"/>
              </p:cNvSpPr>
              <p:nvPr>
                <p:ph idx="1"/>
              </p:nvPr>
            </p:nvSpPr>
            <p:spPr/>
            <p:txBody>
              <a:bodyPr/>
              <a:lstStyle/>
              <a:p>
                <a:r>
                  <a:rPr lang="en-US" altLang="zh-TW" dirty="0"/>
                  <a:t>Rank(</a:t>
                </a:r>
                <a14:m>
                  <m:oMath xmlns:m="http://schemas.openxmlformats.org/officeDocument/2006/math">
                    <m:sSub>
                      <m:sSubPr>
                        <m:ctrlPr>
                          <a:rPr lang="en-US" altLang="zh-TW" i="1" smtClean="0">
                            <a:solidFill>
                              <a:srgbClr val="836967"/>
                            </a:solidFill>
                            <a:latin typeface="Cambria Math" panose="02040503050406030204" pitchFamily="18" charset="0"/>
                          </a:rPr>
                        </m:ctrlPr>
                      </m:sSubPr>
                      <m:e>
                        <m:r>
                          <a:rPr lang="en-US" altLang="zh-TW" i="1" smtClean="0">
                            <a:latin typeface="Cambria Math" panose="02040503050406030204" pitchFamily="18" charset="0"/>
                          </a:rPr>
                          <m:t>𝑡</m:t>
                        </m:r>
                      </m:e>
                      <m:sub>
                        <m:r>
                          <a:rPr lang="en-US" altLang="zh-TW" i="1" smtClean="0">
                            <a:latin typeface="Cambria Math" panose="02040503050406030204" pitchFamily="18" charset="0"/>
                          </a:rPr>
                          <m:t>𝑖</m:t>
                        </m:r>
                      </m:sub>
                    </m:sSub>
                  </m:oMath>
                </a14:m>
                <a:r>
                  <a:rPr lang="en-US" altLang="zh-TW" dirty="0"/>
                  <a:t>)=MET (</a:t>
                </a:r>
                <a14:m>
                  <m:oMath xmlns:m="http://schemas.openxmlformats.org/officeDocument/2006/math">
                    <m:sSub>
                      <m:sSubPr>
                        <m:ctrlPr>
                          <a:rPr lang="en-US" altLang="zh-TW" i="1">
                            <a:solidFill>
                              <a:srgbClr val="836967"/>
                            </a:solidFill>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𝑖</m:t>
                        </m:r>
                      </m:sub>
                    </m:sSub>
                  </m:oMath>
                </a14:m>
                <a:r>
                  <a:rPr lang="en-US" altLang="zh-TW" dirty="0"/>
                  <a:t>) + TCT (</a:t>
                </a:r>
                <a14:m>
                  <m:oMath xmlns:m="http://schemas.openxmlformats.org/officeDocument/2006/math">
                    <m:sSub>
                      <m:sSubPr>
                        <m:ctrlPr>
                          <a:rPr lang="en-US" altLang="zh-TW" i="1">
                            <a:solidFill>
                              <a:srgbClr val="836967"/>
                            </a:solidFill>
                            <a:latin typeface="Cambria Math" panose="02040503050406030204" pitchFamily="18" charset="0"/>
                          </a:rPr>
                        </m:ctrlPr>
                      </m:sSubPr>
                      <m:e>
                        <m:r>
                          <a:rPr lang="en-US" altLang="zh-TW" i="1">
                            <a:latin typeface="Cambria Math" panose="02040503050406030204" pitchFamily="18" charset="0"/>
                          </a:rPr>
                          <m:t>𝑡</m:t>
                        </m:r>
                      </m:e>
                      <m:sub>
                        <m:r>
                          <a:rPr lang="en-US" altLang="zh-TW" i="1">
                            <a:latin typeface="Cambria Math" panose="02040503050406030204" pitchFamily="18" charset="0"/>
                          </a:rPr>
                          <m:t>𝑖</m:t>
                        </m:r>
                      </m:sub>
                    </m:sSub>
                  </m:oMath>
                </a14:m>
                <a:r>
                  <a:rPr lang="en-US" altLang="zh-TW" dirty="0"/>
                  <a:t>)</a:t>
                </a:r>
                <a:endParaRPr lang="zh-TW" altLang="en-US" dirty="0"/>
              </a:p>
            </p:txBody>
          </p:sp>
        </mc:Choice>
        <mc:Fallback xmlns="">
          <p:sp>
            <p:nvSpPr>
              <p:cNvPr id="3" name="內容版面配置區 2">
                <a:extLst>
                  <a:ext uri="{FF2B5EF4-FFF2-40B4-BE49-F238E27FC236}">
                    <a16:creationId xmlns:a16="http://schemas.microsoft.com/office/drawing/2014/main" id="{550E1E12-E425-5B82-1999-59560CD42F87}"/>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27408CEA-F439-2DDC-F19D-439E2C9055AF}"/>
              </a:ext>
            </a:extLst>
          </p:cNvPr>
          <p:cNvPicPr>
            <a:picLocks noChangeAspect="1"/>
          </p:cNvPicPr>
          <p:nvPr/>
        </p:nvPicPr>
        <p:blipFill>
          <a:blip r:embed="rId4"/>
          <a:stretch>
            <a:fillRect/>
          </a:stretch>
        </p:blipFill>
        <p:spPr>
          <a:xfrm>
            <a:off x="1307495" y="2711239"/>
            <a:ext cx="4037389" cy="3465724"/>
          </a:xfrm>
          <a:prstGeom prst="rect">
            <a:avLst/>
          </a:prstGeom>
        </p:spPr>
      </p:pic>
      <p:pic>
        <p:nvPicPr>
          <p:cNvPr id="6" name="圖片 5">
            <a:extLst>
              <a:ext uri="{FF2B5EF4-FFF2-40B4-BE49-F238E27FC236}">
                <a16:creationId xmlns:a16="http://schemas.microsoft.com/office/drawing/2014/main" id="{6CE37218-F227-3831-24F4-A5D173113B66}"/>
              </a:ext>
            </a:extLst>
          </p:cNvPr>
          <p:cNvPicPr>
            <a:picLocks noChangeAspect="1"/>
          </p:cNvPicPr>
          <p:nvPr/>
        </p:nvPicPr>
        <p:blipFill>
          <a:blip r:embed="rId5"/>
          <a:stretch>
            <a:fillRect/>
          </a:stretch>
        </p:blipFill>
        <p:spPr>
          <a:xfrm>
            <a:off x="6119582" y="1825625"/>
            <a:ext cx="5234218" cy="4102904"/>
          </a:xfrm>
          <a:prstGeom prst="rect">
            <a:avLst/>
          </a:prstGeom>
        </p:spPr>
      </p:pic>
    </p:spTree>
    <p:extLst>
      <p:ext uri="{BB962C8B-B14F-4D97-AF65-F5344CB8AC3E}">
        <p14:creationId xmlns:p14="http://schemas.microsoft.com/office/powerpoint/2010/main" val="92762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95F463-3533-BCDE-82A6-275C867B047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Task Mapping Phase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5A4EE2E-61DC-CB16-0AA7-E6793BABBA95}"/>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1F1D8B7-5C92-BE6D-52F7-F04D26954558}"/>
              </a:ext>
            </a:extLst>
          </p:cNvPr>
          <p:cNvPicPr>
            <a:picLocks noChangeAspect="1"/>
          </p:cNvPicPr>
          <p:nvPr/>
        </p:nvPicPr>
        <p:blipFill>
          <a:blip r:embed="rId2"/>
          <a:stretch>
            <a:fillRect/>
          </a:stretch>
        </p:blipFill>
        <p:spPr>
          <a:xfrm>
            <a:off x="640661" y="1825625"/>
            <a:ext cx="5539823" cy="4146953"/>
          </a:xfrm>
          <a:prstGeom prst="rect">
            <a:avLst/>
          </a:prstGeom>
        </p:spPr>
      </p:pic>
      <p:pic>
        <p:nvPicPr>
          <p:cNvPr id="9" name="圖片 8">
            <a:extLst>
              <a:ext uri="{FF2B5EF4-FFF2-40B4-BE49-F238E27FC236}">
                <a16:creationId xmlns:a16="http://schemas.microsoft.com/office/drawing/2014/main" id="{23B45A78-2080-9DE3-A6DF-9E2024E01FC4}"/>
              </a:ext>
            </a:extLst>
          </p:cNvPr>
          <p:cNvPicPr>
            <a:picLocks noChangeAspect="1"/>
          </p:cNvPicPr>
          <p:nvPr/>
        </p:nvPicPr>
        <p:blipFill>
          <a:blip r:embed="rId3"/>
          <a:stretch>
            <a:fillRect/>
          </a:stretch>
        </p:blipFill>
        <p:spPr>
          <a:xfrm>
            <a:off x="6378024" y="1690688"/>
            <a:ext cx="5686986" cy="4245214"/>
          </a:xfrm>
          <a:prstGeom prst="rect">
            <a:avLst/>
          </a:prstGeom>
        </p:spPr>
      </p:pic>
    </p:spTree>
    <p:extLst>
      <p:ext uri="{BB962C8B-B14F-4D97-AF65-F5344CB8AC3E}">
        <p14:creationId xmlns:p14="http://schemas.microsoft.com/office/powerpoint/2010/main" val="944989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2DC531-3B3E-8366-9996-9376A4381F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a:extLst>
              <a:ext uri="{FF2B5EF4-FFF2-40B4-BE49-F238E27FC236}">
                <a16:creationId xmlns:a16="http://schemas.microsoft.com/office/drawing/2014/main" id="{D4A06E93-3C15-A4A4-DCDA-31B4752A6A45}"/>
              </a:ext>
            </a:extLst>
          </p:cNvPr>
          <p:cNvSpPr>
            <a:spLocks noGrp="1"/>
          </p:cNvSpPr>
          <p:nvPr>
            <p:ph idx="1"/>
          </p:nvPr>
        </p:nvSpPr>
        <p:spPr/>
        <p:txBody>
          <a:bodyPr/>
          <a:lstStyle/>
          <a:p>
            <a:endParaRPr lang="zh-TW" altLang="en-US"/>
          </a:p>
        </p:txBody>
      </p:sp>
      <p:pic>
        <p:nvPicPr>
          <p:cNvPr id="9" name="圖片 8">
            <a:extLst>
              <a:ext uri="{FF2B5EF4-FFF2-40B4-BE49-F238E27FC236}">
                <a16:creationId xmlns:a16="http://schemas.microsoft.com/office/drawing/2014/main" id="{5B8C0F45-E236-9E27-FBC0-3B2BA79D439E}"/>
              </a:ext>
            </a:extLst>
          </p:cNvPr>
          <p:cNvPicPr>
            <a:picLocks noChangeAspect="1"/>
          </p:cNvPicPr>
          <p:nvPr/>
        </p:nvPicPr>
        <p:blipFill>
          <a:blip r:embed="rId3"/>
          <a:stretch>
            <a:fillRect/>
          </a:stretch>
        </p:blipFill>
        <p:spPr>
          <a:xfrm>
            <a:off x="838200" y="1937658"/>
            <a:ext cx="10146747" cy="3913956"/>
          </a:xfrm>
          <a:prstGeom prst="rect">
            <a:avLst/>
          </a:prstGeom>
        </p:spPr>
      </p:pic>
    </p:spTree>
    <p:extLst>
      <p:ext uri="{BB962C8B-B14F-4D97-AF65-F5344CB8AC3E}">
        <p14:creationId xmlns:p14="http://schemas.microsoft.com/office/powerpoint/2010/main" val="191061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F01481-3115-E1D7-34D8-2C19D1FB308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Parameter</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400485C-F743-1412-1EA3-CA7DF491CE96}"/>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Communication to execution ratio</a:t>
            </a:r>
          </a:p>
          <a:p>
            <a:r>
              <a:rPr lang="en-US" altLang="zh-TW" dirty="0">
                <a:latin typeface="Times New Roman" panose="02020603050405020304" pitchFamily="18" charset="0"/>
                <a:cs typeface="Times New Roman" panose="02020603050405020304" pitchFamily="18" charset="0"/>
              </a:rPr>
              <a:t>Parallelization factor</a:t>
            </a:r>
          </a:p>
          <a:p>
            <a:r>
              <a:rPr lang="en-US" altLang="zh-TW" dirty="0">
                <a:latin typeface="Times New Roman" panose="02020603050405020304" pitchFamily="18" charset="0"/>
                <a:cs typeface="Times New Roman" panose="02020603050405020304" pitchFamily="18" charset="0"/>
              </a:rPr>
              <a:t>Heterogeneity factor</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FD817265-A59F-01FC-05C8-553D8B8A6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3382" y="1690688"/>
            <a:ext cx="3010320" cy="4029637"/>
          </a:xfrm>
          <a:prstGeom prst="rect">
            <a:avLst/>
          </a:prstGeom>
        </p:spPr>
      </p:pic>
    </p:spTree>
    <p:extLst>
      <p:ext uri="{BB962C8B-B14F-4D97-AF65-F5344CB8AC3E}">
        <p14:creationId xmlns:p14="http://schemas.microsoft.com/office/powerpoint/2010/main" val="3859344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F4B084-C564-469B-5381-696DBFB09BC0}"/>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Peformance</a:t>
            </a:r>
            <a:r>
              <a:rPr lang="en-US" altLang="zh-TW" dirty="0">
                <a:latin typeface="Times New Roman" panose="02020603050405020304" pitchFamily="18" charset="0"/>
                <a:cs typeface="Times New Roman" panose="02020603050405020304" pitchFamily="18" charset="0"/>
              </a:rPr>
              <a:t> Analysis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067DC87-FDC7-50E7-5DC9-F7F22CC60F74}"/>
              </a:ext>
            </a:extLst>
          </p:cNvPr>
          <p:cNvSpPr>
            <a:spLocks noGrp="1"/>
          </p:cNvSpPr>
          <p:nvPr>
            <p:ph idx="1"/>
          </p:nvPr>
        </p:nvSpPr>
        <p:spPr/>
        <p:txBody>
          <a:bodyPr/>
          <a:lstStyle/>
          <a:p>
            <a:endParaRPr lang="zh-TW" altLang="en-US" dirty="0"/>
          </a:p>
        </p:txBody>
      </p:sp>
      <p:pic>
        <p:nvPicPr>
          <p:cNvPr id="5" name="圖片 4">
            <a:extLst>
              <a:ext uri="{FF2B5EF4-FFF2-40B4-BE49-F238E27FC236}">
                <a16:creationId xmlns:a16="http://schemas.microsoft.com/office/drawing/2014/main" id="{38B5636C-C167-9DB4-0CA4-CC916DF4F495}"/>
              </a:ext>
            </a:extLst>
          </p:cNvPr>
          <p:cNvPicPr>
            <a:picLocks noChangeAspect="1"/>
          </p:cNvPicPr>
          <p:nvPr/>
        </p:nvPicPr>
        <p:blipFill>
          <a:blip r:embed="rId3"/>
          <a:stretch>
            <a:fillRect/>
          </a:stretch>
        </p:blipFill>
        <p:spPr>
          <a:xfrm>
            <a:off x="838200" y="1690687"/>
            <a:ext cx="4474029" cy="2281627"/>
          </a:xfrm>
          <a:prstGeom prst="rect">
            <a:avLst/>
          </a:prstGeom>
        </p:spPr>
      </p:pic>
      <p:pic>
        <p:nvPicPr>
          <p:cNvPr id="7" name="圖片 6">
            <a:extLst>
              <a:ext uri="{FF2B5EF4-FFF2-40B4-BE49-F238E27FC236}">
                <a16:creationId xmlns:a16="http://schemas.microsoft.com/office/drawing/2014/main" id="{14EF50D1-D077-B684-79EA-27C734C13769}"/>
              </a:ext>
            </a:extLst>
          </p:cNvPr>
          <p:cNvPicPr>
            <a:picLocks noChangeAspect="1"/>
          </p:cNvPicPr>
          <p:nvPr/>
        </p:nvPicPr>
        <p:blipFill>
          <a:blip r:embed="rId4"/>
          <a:stretch>
            <a:fillRect/>
          </a:stretch>
        </p:blipFill>
        <p:spPr>
          <a:xfrm>
            <a:off x="6178089" y="1737039"/>
            <a:ext cx="4696740" cy="2235275"/>
          </a:xfrm>
          <a:prstGeom prst="rect">
            <a:avLst/>
          </a:prstGeom>
        </p:spPr>
      </p:pic>
      <p:pic>
        <p:nvPicPr>
          <p:cNvPr id="9" name="圖片 8">
            <a:extLst>
              <a:ext uri="{FF2B5EF4-FFF2-40B4-BE49-F238E27FC236}">
                <a16:creationId xmlns:a16="http://schemas.microsoft.com/office/drawing/2014/main" id="{C2C134E0-3B56-42CB-6EDE-9BA2CCD9DBB7}"/>
              </a:ext>
            </a:extLst>
          </p:cNvPr>
          <p:cNvPicPr>
            <a:picLocks noChangeAspect="1"/>
          </p:cNvPicPr>
          <p:nvPr/>
        </p:nvPicPr>
        <p:blipFill>
          <a:blip r:embed="rId5"/>
          <a:stretch>
            <a:fillRect/>
          </a:stretch>
        </p:blipFill>
        <p:spPr>
          <a:xfrm>
            <a:off x="787865" y="4211247"/>
            <a:ext cx="4524364" cy="2281628"/>
          </a:xfrm>
          <a:prstGeom prst="rect">
            <a:avLst/>
          </a:prstGeom>
        </p:spPr>
      </p:pic>
      <p:pic>
        <p:nvPicPr>
          <p:cNvPr id="11" name="圖片 10">
            <a:extLst>
              <a:ext uri="{FF2B5EF4-FFF2-40B4-BE49-F238E27FC236}">
                <a16:creationId xmlns:a16="http://schemas.microsoft.com/office/drawing/2014/main" id="{E5F3A777-6DEF-82BD-8ECF-15E7A25D96E7}"/>
              </a:ext>
            </a:extLst>
          </p:cNvPr>
          <p:cNvPicPr>
            <a:picLocks noChangeAspect="1"/>
          </p:cNvPicPr>
          <p:nvPr/>
        </p:nvPicPr>
        <p:blipFill>
          <a:blip r:embed="rId6"/>
          <a:stretch>
            <a:fillRect/>
          </a:stretch>
        </p:blipFill>
        <p:spPr>
          <a:xfrm>
            <a:off x="6243404" y="4018665"/>
            <a:ext cx="4855029" cy="2599961"/>
          </a:xfrm>
          <a:prstGeom prst="rect">
            <a:avLst/>
          </a:prstGeom>
        </p:spPr>
      </p:pic>
    </p:spTree>
    <p:extLst>
      <p:ext uri="{BB962C8B-B14F-4D97-AF65-F5344CB8AC3E}">
        <p14:creationId xmlns:p14="http://schemas.microsoft.com/office/powerpoint/2010/main" val="31359448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8180</TotalTime>
  <Words>251</Words>
  <Application>Microsoft Office PowerPoint</Application>
  <PresentationFormat>寬螢幕</PresentationFormat>
  <Paragraphs>40</Paragraphs>
  <Slides>10</Slides>
  <Notes>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Arial</vt:lpstr>
      <vt:lpstr>Calibri</vt:lpstr>
      <vt:lpstr>Calibri Light</vt:lpstr>
      <vt:lpstr>Cambria Math</vt:lpstr>
      <vt:lpstr>Times New Roman</vt:lpstr>
      <vt:lpstr>Office 佈景主題</vt:lpstr>
      <vt:lpstr>A New Heuristic for Minimizing Schedule Length in Heterogeneous Computing Systems </vt:lpstr>
      <vt:lpstr>Abstract</vt:lpstr>
      <vt:lpstr>Problem</vt:lpstr>
      <vt:lpstr>MSL algorithm</vt:lpstr>
      <vt:lpstr>Related work</vt:lpstr>
      <vt:lpstr>Task Ordering Phase</vt:lpstr>
      <vt:lpstr>Task Mapping Phase</vt:lpstr>
      <vt:lpstr>Result</vt:lpstr>
      <vt:lpstr>Parameter</vt:lpstr>
      <vt:lpstr>Peformance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Cost-Effective Deadline-Constrained Dynamic Scheduling Algorithm for Scientific Workflows in a Cloud Environment</dc:title>
  <dc:creator>志軒 簡</dc:creator>
  <cp:lastModifiedBy>M103040069</cp:lastModifiedBy>
  <cp:revision>27</cp:revision>
  <dcterms:created xsi:type="dcterms:W3CDTF">2022-06-30T13:07:17Z</dcterms:created>
  <dcterms:modified xsi:type="dcterms:W3CDTF">2022-09-27T10:01:42Z</dcterms:modified>
</cp:coreProperties>
</file>