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630" r:id="rId4"/>
    <p:sldId id="626" r:id="rId5"/>
    <p:sldId id="661" r:id="rId6"/>
    <p:sldId id="631" r:id="rId7"/>
    <p:sldId id="633" r:id="rId8"/>
    <p:sldId id="634" r:id="rId9"/>
    <p:sldId id="635" r:id="rId10"/>
    <p:sldId id="636" r:id="rId11"/>
    <p:sldId id="637" r:id="rId12"/>
    <p:sldId id="638" r:id="rId13"/>
    <p:sldId id="640" r:id="rId14"/>
    <p:sldId id="641" r:id="rId15"/>
    <p:sldId id="642" r:id="rId16"/>
    <p:sldId id="651" r:id="rId17"/>
    <p:sldId id="652" r:id="rId18"/>
    <p:sldId id="628" r:id="rId19"/>
    <p:sldId id="655" r:id="rId20"/>
    <p:sldId id="658" r:id="rId21"/>
    <p:sldId id="659" r:id="rId22"/>
    <p:sldId id="660" r:id="rId23"/>
    <p:sldId id="662" r:id="rId24"/>
    <p:sldId id="654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5E"/>
    <a:srgbClr val="006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6"/>
    <p:restoredTop sz="94651"/>
  </p:normalViewPr>
  <p:slideViewPr>
    <p:cSldViewPr snapToGrid="0" snapToObjects="1">
      <p:cViewPr varScale="1">
        <p:scale>
          <a:sx n="108" d="100"/>
          <a:sy n="108" d="100"/>
        </p:scale>
        <p:origin x="1068" y="9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6ACD4-E003-2242-B9CA-E02B5AF3FB40}" type="datetimeFigureOut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3EC9A-E9ED-9349-8355-BBED17A59AE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2757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09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807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50166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976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10561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628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3983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575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270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2534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66783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34386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8601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564184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51241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9952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74846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00688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30023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33234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35284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22120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74200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72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AEA1F-A529-C543-B122-C79D75A9B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DD9FD8-F935-E844-A72C-FAE789896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C0D9A1-7770-C641-A8C0-606BF98C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BFA9-06E6-D94C-BFAB-00CD3E67D7CA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BCB7AA-EFDA-274E-84A3-EA456969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244F54-1A74-754B-AE80-2EB58A8C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047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4CB43F-26AB-CF45-BC2B-42C35EFC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E32C75-2052-DB40-A461-36210C8B9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B5B8BB-C487-024F-8342-82E120D7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9F56-7251-2A4E-B88C-9FA56DA971A2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DB6457-5B1C-5C43-993D-27829244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62B42F-8467-404B-993B-90C6AB09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636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170811-0E27-3F4A-9FC4-E738C4884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E5B833-DE7E-514A-A3BB-498EA25F8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9012DC-A094-0C49-AF63-77A9BC0C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BE05-D7D8-CE48-BED7-FADBCDD058D3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681F3F-8B18-5E4A-B94C-E0F04F6D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F5FF4F-5214-DD4B-855C-6B9371D1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304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882D9-952A-8D49-808D-F9C724C4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B7EE43-F00B-574A-B051-D41906747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37477A-8891-A04E-BAB7-2A9063F3A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D9D3DB-CD12-0D44-BC6B-9E01517E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AEDC-7C8B-3540-9A2F-CC1D71E85B37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6F5FDC-A454-3542-889C-DB427845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C0BA6C-365F-7247-8F1F-800FCF56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513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11E6E4-8C26-9845-A608-845A29D9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D56C9F-BAB2-A44F-9FB7-0DD4FABE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49941A-4AF2-DE4C-8872-DB58DD0FD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13D1809-F7A2-1442-945E-4020E7A08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06F2CD3-B24B-3A49-8455-4F00DFEAF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8489589-56C1-5A4B-AFBA-BFF118CF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E8F2B-828C-4346-A20E-816C69F070C7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040059-A5AC-E542-9B5A-8610AC2B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ACD37C-461B-F740-AEBD-13A5C588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8261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A07EF-BD14-6A4E-9E7A-01112770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516926-65AB-2B43-8956-806D63E4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EDE7-124B-8648-A6E1-0F7BD60577D5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1506ED5-ACE4-8543-AB63-CAD9A1CF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7937CF-BB72-C745-9D22-A91A17D4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81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D695AD6-1153-9040-AB1D-B2D44ABA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F867-330B-B940-B03B-359E64A64E91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15C32C-4453-0C45-8886-0FE61DFF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6D8C40-590C-6948-B426-EEC75AA4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486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C40CD-D888-CE44-8EA1-870871B2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717B6F-F2B3-E74B-A6AC-1F8A73FE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026A48-EF1D-AC4D-BBCE-6A5E3F68C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9D3DA3-4F7A-E84C-8D0C-4136384A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C841B-36FA-B747-9C29-B2CC33419BAD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0622E9-EF61-B240-BCA9-ED4FEE18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45D1D9-45C8-2747-A836-4C540ADA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3705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F1945-5D1A-FA42-B151-1902F077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AE12B54-DEE8-CD44-80D0-699B3EC76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32D9B0-9463-9A41-950F-9BF96DB3B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17CBBB-F497-3F47-A634-7E1C26A6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11F8-3573-2C4D-942C-15D8B1AFD37A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72FF00-F770-D24D-BC3C-96839028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E96447-76E1-3441-BF93-0AD4F6A3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792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EADACA-591C-894C-8A56-E9039DC8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34F77E-58B2-F642-A872-DFADE8503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7DD8E6-742C-0046-98FB-C68B25E9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C2E09-2527-7F4B-A110-6FBD9BD98EA4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1A71D3-388B-514F-8378-18AAC64F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9FA401-5A1D-EB45-897D-9BC4EA39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871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F60141-0602-B742-8666-ECC19E887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AE28AB-9E4D-BC42-8236-186DA1B75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D0288D-DAAC-F54F-BFDB-B956C149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37416-B0F7-124A-B838-350974E17640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7B70EB-CA3F-B94B-BE42-35D4ACFD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C76C1B-159C-6448-A7AB-D9F42BF9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621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E7502D-DE5C-784A-9CEB-7BE7BC05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1151CC-D4D4-2743-A29A-CC244CCF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53E478-1C82-2041-9B51-0C1B1A0E5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F2B49-F11D-2146-BF8E-8F79505A16F7}" type="datetime1">
              <a:rPr kumimoji="1" lang="zh-TW" altLang="en-US" smtClean="0"/>
              <a:t>2022/9/27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56AFCE-4718-5242-B260-6133B61B1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F70ED3-ECE3-3A4A-A44B-2CD3BC618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0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50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12" Type="http://schemas.openxmlformats.org/officeDocument/2006/relationships/image" Target="../media/image1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130.png"/><Relationship Id="rId5" Type="http://schemas.openxmlformats.org/officeDocument/2006/relationships/image" Target="../media/image12.png"/><Relationship Id="rId15" Type="http://schemas.openxmlformats.org/officeDocument/2006/relationships/image" Target="../media/image170.png"/><Relationship Id="rId10" Type="http://schemas.openxmlformats.org/officeDocument/2006/relationships/image" Target="../media/image120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14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50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5" Type="http://schemas.openxmlformats.org/officeDocument/2006/relationships/image" Target="../media/image170.png"/><Relationship Id="rId10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14" Type="http://schemas.openxmlformats.org/officeDocument/2006/relationships/image" Target="../media/image16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Deep Reinforcement Learning and Search</a:t>
            </a:r>
            <a:b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Imperfect-Information Games</a:t>
            </a:r>
            <a:endParaRPr kumimoji="1" lang="en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ctr"/>
            <a:r>
              <a:rPr lang="en-US" altLang="zh-TW" dirty="0">
                <a:latin typeface="Times New Roman"/>
                <a:ea typeface="新細明體"/>
                <a:cs typeface="Times New Roman"/>
              </a:rPr>
              <a:t>Noam Brown, Anton Bakhtin, Adam </a:t>
            </a:r>
            <a:r>
              <a:rPr lang="en-US" altLang="zh-TW" dirty="0" err="1">
                <a:latin typeface="Times New Roman"/>
                <a:ea typeface="新細明體"/>
                <a:cs typeface="Times New Roman"/>
              </a:rPr>
              <a:t>Lerer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, </a:t>
            </a:r>
            <a:r>
              <a:rPr lang="en-US" altLang="zh-TW" dirty="0" err="1">
                <a:latin typeface="Times New Roman"/>
                <a:ea typeface="新細明體"/>
                <a:cs typeface="Times New Roman"/>
              </a:rPr>
              <a:t>Qucheng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 Gong</a:t>
            </a:r>
          </a:p>
          <a:p>
            <a:pPr fontAlgn="ctr"/>
            <a:r>
              <a:rPr lang="en-US" altLang="zh-TW" dirty="0">
                <a:latin typeface="Times New Roman"/>
                <a:ea typeface="+mn-lt"/>
                <a:cs typeface="+mn-lt"/>
              </a:rPr>
              <a:t>the 34th International Conference on Neural Information Processing Systems, December 2020, pp. 17057–17069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Ying-Yu Lin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Sept.27, 2022</a:t>
            </a:r>
          </a:p>
        </p:txBody>
      </p:sp>
    </p:spTree>
    <p:extLst>
      <p:ext uri="{BB962C8B-B14F-4D97-AF65-F5344CB8AC3E}">
        <p14:creationId xmlns:p14="http://schemas.microsoft.com/office/powerpoint/2010/main" val="82781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456"/>
            <a:ext cx="10863804" cy="510362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deep reinforcement learning and search at both training and test time is a powerful paradigm that has led to a number of successes in single-agent settings and perfect-information games, best exemplified by Alpha Zero. However, prior algorithms of this form cannot cope with imperfect-information games. This paper presents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ReBeL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general framework for self-play reinforcement learning and search that provably converges to a Nash equilibrium in any two-player zero sum game. In the simpler setting of perfect-information games,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ReBeL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to an algorithm similar to Alpha Zero. Results in two different imperfect-information games show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ReBeL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converges to an approximate Nash equilibrium. We also show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ReBeL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superhuman performance in heads-up no-limit Texas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hold’em</a:t>
            </a:r>
            <a:r>
              <a:rPr kumimoji="1" lang="en-US" altLang="zh-TW" sz="2400" dirty="0"/>
              <a:t>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poker, while using far less domain knowledge than any prior poker AI.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12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Milestone AI achievement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3804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AlphaGo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-used human data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-used expert features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 err="1"/>
              <a:t>AlphaZero</a:t>
            </a:r>
            <a:endParaRPr kumimoji="1" lang="en-US" altLang="zh-TW" dirty="0"/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-plays Chess, Go, and Shogi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-limited to perfect information games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595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Recursive Belief-based Learning (</a:t>
            </a:r>
            <a:r>
              <a:rPr kumimoji="1" lang="en-US" altLang="zh-TW" b="1" dirty="0" err="1"/>
              <a:t>ReBeL</a:t>
            </a:r>
            <a:r>
              <a:rPr kumimoji="1" lang="en-US" altLang="zh-TW" b="1" dirty="0"/>
              <a:t>)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3804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Work for both perfect and imperfect information games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Provably converges to Nash in two-player zero-sum games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Superhuman in two-player no-limit </a:t>
            </a:r>
            <a:r>
              <a:rPr lang="en-US" altLang="zh-TW" dirty="0" err="1"/>
              <a:t>hold’em</a:t>
            </a:r>
            <a:r>
              <a:rPr lang="en-US" altLang="zh-TW" dirty="0"/>
              <a:t> poker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Uses far less domain knowledge than prior poker bots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In perfect-information games, </a:t>
            </a:r>
            <a:r>
              <a:rPr lang="en-US" altLang="zh-TW" dirty="0" err="1"/>
              <a:t>ReBeL</a:t>
            </a:r>
            <a:r>
              <a:rPr lang="en-US" altLang="zh-TW" dirty="0"/>
              <a:t> reduces to an algorithm similar to Alpha Zero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1908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Rule of Chess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5</a:t>
            </a:fld>
            <a:endParaRPr kumimoji="1"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49D569CF-A2E0-67C0-9F57-0BC559859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344" y="1690688"/>
            <a:ext cx="10515600" cy="435133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6FD6E0C-376A-1A79-68CF-A67B33599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44" y="1685131"/>
            <a:ext cx="2495550" cy="218122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C74625D-7434-C082-FDE1-14A8B7310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617" y="1618457"/>
            <a:ext cx="2447925" cy="22479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E4D981F-7245-6153-B8DE-55C8098B75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265" y="1637507"/>
            <a:ext cx="2543175" cy="22098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1FCC509-C1F0-AC9F-7B79-11CA4FE5A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3164" y="1618388"/>
            <a:ext cx="2476500" cy="22479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050857FC-C7F6-E93F-E323-A558E7CFCC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9239" y="4100512"/>
            <a:ext cx="2562225" cy="220027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CB42273A-01AC-7AAA-F018-B4A6705B5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7856" y="4106068"/>
            <a:ext cx="2228850" cy="226695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E9E30491-C1D8-3B55-A561-27DCBCE6B9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3098" y="4115593"/>
            <a:ext cx="22383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88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Search in perfect information games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307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In perfect information games, </a:t>
            </a:r>
            <a:r>
              <a:rPr kumimoji="1" lang="en-US" altLang="zh-TW" b="1" dirty="0"/>
              <a:t>the value of a state</a:t>
            </a:r>
            <a:r>
              <a:rPr kumimoji="1" lang="en-US" altLang="zh-TW" dirty="0"/>
              <a:t> is the </a:t>
            </a:r>
            <a:r>
              <a:rPr kumimoji="1" lang="en-US" altLang="zh-TW" b="1" dirty="0"/>
              <a:t>unique</a:t>
            </a:r>
            <a:r>
              <a:rPr kumimoji="1" lang="en-US" altLang="zh-TW" dirty="0"/>
              <a:t> value resulting from both players playing optimally from that point forward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A value network takes a state as input and outputs an estimate of the state value</a:t>
            </a:r>
          </a:p>
          <a:p>
            <a:pPr>
              <a:lnSpc>
                <a:spcPct val="120000"/>
              </a:lnSpc>
            </a:pP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3C6D3D88-9473-A42B-5ADF-20C58F4F28F3}"/>
              </a:ext>
            </a:extLst>
          </p:cNvPr>
          <p:cNvGrpSpPr/>
          <p:nvPr/>
        </p:nvGrpSpPr>
        <p:grpSpPr>
          <a:xfrm>
            <a:off x="7724697" y="2494616"/>
            <a:ext cx="4467303" cy="2281486"/>
            <a:chOff x="7724697" y="2494616"/>
            <a:chExt cx="4467303" cy="228148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9473AE0-766F-7F60-D151-9C2B6D749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88012" y="2494616"/>
              <a:ext cx="2265788" cy="2281486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9EDD6549-4990-1F1D-0FC9-AA02F835DCE5}"/>
                </a:ext>
              </a:extLst>
            </p:cNvPr>
            <p:cNvSpPr txBox="1"/>
            <p:nvPr/>
          </p:nvSpPr>
          <p:spPr>
            <a:xfrm>
              <a:off x="7724697" y="3285547"/>
              <a:ext cx="4467303" cy="712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altLang="zh-TW" sz="3600" dirty="0" err="1"/>
                <a:t>f</a:t>
              </a:r>
              <a:r>
                <a:rPr lang="en-US" altLang="zh-TW" sz="3600" baseline="-25000" dirty="0" err="1"/>
                <a:t>white</a:t>
              </a:r>
              <a:r>
                <a:rPr lang="en-US" altLang="zh-TW" sz="3600" dirty="0"/>
                <a:t>(			)=1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999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Search in perfect information games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307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In principle, backward induction alone can solve Chess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But this would be far too expensive in practice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7</a:t>
            </a:fld>
            <a:endParaRPr kumimoji="1" lang="zh-TW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20246E65-9989-31F4-F27D-20069D23DEA0}"/>
              </a:ext>
            </a:extLst>
          </p:cNvPr>
          <p:cNvSpPr/>
          <p:nvPr/>
        </p:nvSpPr>
        <p:spPr>
          <a:xfrm>
            <a:off x="6875719" y="3054286"/>
            <a:ext cx="3469761" cy="299117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右大括弧 6">
            <a:extLst>
              <a:ext uri="{FF2B5EF4-FFF2-40B4-BE49-F238E27FC236}">
                <a16:creationId xmlns:a16="http://schemas.microsoft.com/office/drawing/2014/main" id="{7DB35ADA-2B7A-0299-9A86-1905D656BCFC}"/>
              </a:ext>
            </a:extLst>
          </p:cNvPr>
          <p:cNvSpPr/>
          <p:nvPr/>
        </p:nvSpPr>
        <p:spPr>
          <a:xfrm rot="19677794">
            <a:off x="9664252" y="2650345"/>
            <a:ext cx="635895" cy="3275740"/>
          </a:xfrm>
          <a:prstGeom prst="rightBrace">
            <a:avLst>
              <a:gd name="adj1" fmla="val 8333"/>
              <a:gd name="adj2" fmla="val 5022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1ECC0C4-FA7A-5FBE-BA91-9640E1C12744}"/>
              </a:ext>
            </a:extLst>
          </p:cNvPr>
          <p:cNvSpPr txBox="1"/>
          <p:nvPr/>
        </p:nvSpPr>
        <p:spPr>
          <a:xfrm>
            <a:off x="10094520" y="3354963"/>
            <a:ext cx="1875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Whole game is too large to solve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818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Search in perfect information games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307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Instead, chess AI’ s do search: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1.Look ~10 moves ahead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2.Estimate those state values using the value network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3.Do backward induction using those state values (ignore the game below those states)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 In other word , solve a subgame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If the value network is perfect, this computes the optimal action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8</a:t>
            </a:fld>
            <a:endParaRPr kumimoji="1" lang="zh-TW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20246E65-9989-31F4-F27D-20069D23DEA0}"/>
              </a:ext>
            </a:extLst>
          </p:cNvPr>
          <p:cNvSpPr/>
          <p:nvPr/>
        </p:nvSpPr>
        <p:spPr>
          <a:xfrm>
            <a:off x="7837148" y="2886994"/>
            <a:ext cx="3469761" cy="299117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右大括弧 6">
            <a:extLst>
              <a:ext uri="{FF2B5EF4-FFF2-40B4-BE49-F238E27FC236}">
                <a16:creationId xmlns:a16="http://schemas.microsoft.com/office/drawing/2014/main" id="{7DB35ADA-2B7A-0299-9A86-1905D656BCFC}"/>
              </a:ext>
            </a:extLst>
          </p:cNvPr>
          <p:cNvSpPr/>
          <p:nvPr/>
        </p:nvSpPr>
        <p:spPr>
          <a:xfrm rot="19677794">
            <a:off x="10116297" y="2629293"/>
            <a:ext cx="635895" cy="1355215"/>
          </a:xfrm>
          <a:prstGeom prst="rightBrace">
            <a:avLst>
              <a:gd name="adj1" fmla="val 8333"/>
              <a:gd name="adj2" fmla="val 5022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1ECC0C4-FA7A-5FBE-BA91-9640E1C12744}"/>
              </a:ext>
            </a:extLst>
          </p:cNvPr>
          <p:cNvSpPr txBox="1"/>
          <p:nvPr/>
        </p:nvSpPr>
        <p:spPr>
          <a:xfrm>
            <a:off x="10812258" y="2872915"/>
            <a:ext cx="187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Subgame</a:t>
            </a:r>
            <a:endParaRPr lang="zh-TW" altLang="en-US" dirty="0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47BB3452-A8A5-1969-210C-DB7AA7620414}"/>
              </a:ext>
            </a:extLst>
          </p:cNvPr>
          <p:cNvSpPr/>
          <p:nvPr/>
        </p:nvSpPr>
        <p:spPr>
          <a:xfrm>
            <a:off x="8798577" y="2889725"/>
            <a:ext cx="1546904" cy="1325564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BB3C271-CF6B-3B02-07A0-FD04139D5D6B}"/>
              </a:ext>
            </a:extLst>
          </p:cNvPr>
          <p:cNvSpPr/>
          <p:nvPr/>
        </p:nvSpPr>
        <p:spPr>
          <a:xfrm>
            <a:off x="8826673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60EF1F05-BED3-2DDA-B77E-F68C8FC823CC}"/>
              </a:ext>
            </a:extLst>
          </p:cNvPr>
          <p:cNvSpPr/>
          <p:nvPr/>
        </p:nvSpPr>
        <p:spPr>
          <a:xfrm>
            <a:off x="9245732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FA030EF-0CA2-1CE6-96E5-A943F7FA0E0C}"/>
              </a:ext>
            </a:extLst>
          </p:cNvPr>
          <p:cNvSpPr/>
          <p:nvPr/>
        </p:nvSpPr>
        <p:spPr>
          <a:xfrm>
            <a:off x="9664791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F5B1841-00D2-5216-C497-2B830019867A}"/>
              </a:ext>
            </a:extLst>
          </p:cNvPr>
          <p:cNvSpPr/>
          <p:nvPr/>
        </p:nvSpPr>
        <p:spPr>
          <a:xfrm>
            <a:off x="10083851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33F3934-13A1-25A8-6F6C-325C634B9EB5}"/>
              </a:ext>
            </a:extLst>
          </p:cNvPr>
          <p:cNvSpPr txBox="1"/>
          <p:nvPr/>
        </p:nvSpPr>
        <p:spPr>
          <a:xfrm>
            <a:off x="9254544" y="3209302"/>
            <a:ext cx="858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Solve with search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6B53CAE-FB42-D6F3-9C2C-EF2A71B7F27E}"/>
              </a:ext>
            </a:extLst>
          </p:cNvPr>
          <p:cNvCxnSpPr>
            <a:stCxn id="8" idx="4"/>
          </p:cNvCxnSpPr>
          <p:nvPr/>
        </p:nvCxnSpPr>
        <p:spPr>
          <a:xfrm flipH="1">
            <a:off x="8973906" y="4352510"/>
            <a:ext cx="1" cy="84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0D2A617-08EF-7DB6-0629-5531701C83C2}"/>
              </a:ext>
            </a:extLst>
          </p:cNvPr>
          <p:cNvSpPr txBox="1"/>
          <p:nvPr/>
        </p:nvSpPr>
        <p:spPr>
          <a:xfrm>
            <a:off x="8503023" y="5228906"/>
            <a:ext cx="187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Leaf node</a:t>
            </a:r>
            <a:endParaRPr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35FCF21-EBDC-ABD5-80DF-B29524AE1E99}"/>
              </a:ext>
            </a:extLst>
          </p:cNvPr>
          <p:cNvSpPr/>
          <p:nvPr/>
        </p:nvSpPr>
        <p:spPr>
          <a:xfrm>
            <a:off x="9424649" y="2742491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87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Search in perfect information games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307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In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AlphaZero</a:t>
            </a:r>
            <a:r>
              <a:rPr kumimoji="1" lang="en-US" altLang="zh-TW" dirty="0"/>
              <a:t>,</a:t>
            </a:r>
            <a:r>
              <a:rPr kumimoji="1" lang="zh-TW" altLang="en-US" dirty="0"/>
              <a:t> </a:t>
            </a:r>
            <a:r>
              <a:rPr kumimoji="1" lang="en-US" altLang="zh-TW" dirty="0"/>
              <a:t>the</a:t>
            </a:r>
            <a:r>
              <a:rPr kumimoji="1" lang="zh-TW" altLang="en-US" dirty="0"/>
              <a:t> </a:t>
            </a:r>
            <a:r>
              <a:rPr kumimoji="1" lang="en-US" altLang="zh-TW" dirty="0"/>
              <a:t>subgame</a:t>
            </a:r>
            <a:r>
              <a:rPr kumimoji="1" lang="zh-TW" altLang="en-US" dirty="0"/>
              <a:t> </a:t>
            </a:r>
            <a:r>
              <a:rPr kumimoji="1" lang="en-US" altLang="zh-TW" dirty="0"/>
              <a:t>grows</a:t>
            </a:r>
            <a:r>
              <a:rPr kumimoji="1" lang="zh-TW" altLang="en-US" dirty="0"/>
              <a:t> </a:t>
            </a:r>
            <a:r>
              <a:rPr kumimoji="1" lang="en-US" altLang="zh-TW" dirty="0"/>
              <a:t>in</a:t>
            </a:r>
            <a:r>
              <a:rPr kumimoji="1" lang="zh-TW" altLang="en-US" dirty="0"/>
              <a:t> </a:t>
            </a:r>
            <a:r>
              <a:rPr kumimoji="1" lang="en-US" altLang="zh-TW" dirty="0"/>
              <a:t>size</a:t>
            </a:r>
            <a:r>
              <a:rPr kumimoji="1" lang="zh-TW" altLang="en-US" dirty="0"/>
              <a:t> </a:t>
            </a:r>
            <a:r>
              <a:rPr kumimoji="1" lang="en-US" altLang="zh-TW" dirty="0"/>
              <a:t>as</a:t>
            </a:r>
            <a:r>
              <a:rPr kumimoji="1" lang="zh-TW" altLang="en-US" dirty="0"/>
              <a:t> </a:t>
            </a:r>
            <a:r>
              <a:rPr kumimoji="1" lang="en-US" altLang="zh-TW" dirty="0"/>
              <a:t>it is solved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In principle, </a:t>
            </a:r>
            <a:r>
              <a:rPr kumimoji="1" lang="en-US" altLang="zh-TW" dirty="0" err="1"/>
              <a:t>ReBeL</a:t>
            </a:r>
            <a:r>
              <a:rPr kumimoji="1" lang="en-US" altLang="zh-TW" dirty="0"/>
              <a:t> can do the same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For simplicity, we assume subgames are fixed in size 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-Imagine subgames as containing every    state reachable within 5 actions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9</a:t>
            </a:fld>
            <a:endParaRPr kumimoji="1" lang="zh-TW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20246E65-9989-31F4-F27D-20069D23DEA0}"/>
              </a:ext>
            </a:extLst>
          </p:cNvPr>
          <p:cNvSpPr/>
          <p:nvPr/>
        </p:nvSpPr>
        <p:spPr>
          <a:xfrm>
            <a:off x="7837148" y="2886994"/>
            <a:ext cx="3469761" cy="299117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右大括弧 6">
            <a:extLst>
              <a:ext uri="{FF2B5EF4-FFF2-40B4-BE49-F238E27FC236}">
                <a16:creationId xmlns:a16="http://schemas.microsoft.com/office/drawing/2014/main" id="{7DB35ADA-2B7A-0299-9A86-1905D656BCFC}"/>
              </a:ext>
            </a:extLst>
          </p:cNvPr>
          <p:cNvSpPr/>
          <p:nvPr/>
        </p:nvSpPr>
        <p:spPr>
          <a:xfrm rot="19677794">
            <a:off x="10116297" y="2629293"/>
            <a:ext cx="635895" cy="1355215"/>
          </a:xfrm>
          <a:prstGeom prst="rightBrace">
            <a:avLst>
              <a:gd name="adj1" fmla="val 8333"/>
              <a:gd name="adj2" fmla="val 5022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1ECC0C4-FA7A-5FBE-BA91-9640E1C12744}"/>
              </a:ext>
            </a:extLst>
          </p:cNvPr>
          <p:cNvSpPr txBox="1"/>
          <p:nvPr/>
        </p:nvSpPr>
        <p:spPr>
          <a:xfrm>
            <a:off x="10812258" y="2872915"/>
            <a:ext cx="187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Subgame</a:t>
            </a:r>
            <a:endParaRPr lang="zh-TW" altLang="en-US" dirty="0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47BB3452-A8A5-1969-210C-DB7AA7620414}"/>
              </a:ext>
            </a:extLst>
          </p:cNvPr>
          <p:cNvSpPr/>
          <p:nvPr/>
        </p:nvSpPr>
        <p:spPr>
          <a:xfrm>
            <a:off x="8798577" y="2889725"/>
            <a:ext cx="1546904" cy="1325564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BB3C271-CF6B-3B02-07A0-FD04139D5D6B}"/>
              </a:ext>
            </a:extLst>
          </p:cNvPr>
          <p:cNvSpPr/>
          <p:nvPr/>
        </p:nvSpPr>
        <p:spPr>
          <a:xfrm>
            <a:off x="8826673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60EF1F05-BED3-2DDA-B77E-F68C8FC823CC}"/>
              </a:ext>
            </a:extLst>
          </p:cNvPr>
          <p:cNvSpPr/>
          <p:nvPr/>
        </p:nvSpPr>
        <p:spPr>
          <a:xfrm>
            <a:off x="9245732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FA030EF-0CA2-1CE6-96E5-A943F7FA0E0C}"/>
              </a:ext>
            </a:extLst>
          </p:cNvPr>
          <p:cNvSpPr/>
          <p:nvPr/>
        </p:nvSpPr>
        <p:spPr>
          <a:xfrm>
            <a:off x="9664791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F5B1841-00D2-5216-C497-2B830019867A}"/>
              </a:ext>
            </a:extLst>
          </p:cNvPr>
          <p:cNvSpPr/>
          <p:nvPr/>
        </p:nvSpPr>
        <p:spPr>
          <a:xfrm>
            <a:off x="10083851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33F3934-13A1-25A8-6F6C-325C634B9EB5}"/>
              </a:ext>
            </a:extLst>
          </p:cNvPr>
          <p:cNvSpPr txBox="1"/>
          <p:nvPr/>
        </p:nvSpPr>
        <p:spPr>
          <a:xfrm>
            <a:off x="9254544" y="3209302"/>
            <a:ext cx="858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Solve with search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6B53CAE-FB42-D6F3-9C2C-EF2A71B7F27E}"/>
              </a:ext>
            </a:extLst>
          </p:cNvPr>
          <p:cNvCxnSpPr>
            <a:stCxn id="8" idx="4"/>
          </p:cNvCxnSpPr>
          <p:nvPr/>
        </p:nvCxnSpPr>
        <p:spPr>
          <a:xfrm flipH="1">
            <a:off x="8973906" y="4352510"/>
            <a:ext cx="1" cy="84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0D2A617-08EF-7DB6-0629-5531701C83C2}"/>
              </a:ext>
            </a:extLst>
          </p:cNvPr>
          <p:cNvSpPr txBox="1"/>
          <p:nvPr/>
        </p:nvSpPr>
        <p:spPr>
          <a:xfrm>
            <a:off x="8503023" y="5228906"/>
            <a:ext cx="187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Leaf node</a:t>
            </a:r>
            <a:endParaRPr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B9BA62B9-3B5D-44A6-4555-F9315654AEA0}"/>
              </a:ext>
            </a:extLst>
          </p:cNvPr>
          <p:cNvSpPr/>
          <p:nvPr/>
        </p:nvSpPr>
        <p:spPr>
          <a:xfrm>
            <a:off x="9424649" y="2742491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70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 err="1"/>
              <a:t>AlphaZero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307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Whenever an agent acts, generate a subgame and solve it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 Set leaf node values based on value net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10</a:t>
            </a:fld>
            <a:endParaRPr kumimoji="1" lang="zh-TW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20246E65-9989-31F4-F27D-20069D23DEA0}"/>
              </a:ext>
            </a:extLst>
          </p:cNvPr>
          <p:cNvSpPr/>
          <p:nvPr/>
        </p:nvSpPr>
        <p:spPr>
          <a:xfrm>
            <a:off x="7837148" y="2886994"/>
            <a:ext cx="3469761" cy="299117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BB3C271-CF6B-3B02-07A0-FD04139D5D6B}"/>
              </a:ext>
            </a:extLst>
          </p:cNvPr>
          <p:cNvSpPr/>
          <p:nvPr/>
        </p:nvSpPr>
        <p:spPr>
          <a:xfrm>
            <a:off x="9422461" y="2804980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6B53CAE-FB42-D6F3-9C2C-EF2A71B7F27E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9673804" y="2684206"/>
            <a:ext cx="428841" cy="163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0D2A617-08EF-7DB6-0629-5531701C83C2}"/>
              </a:ext>
            </a:extLst>
          </p:cNvPr>
          <p:cNvSpPr txBox="1"/>
          <p:nvPr/>
        </p:nvSpPr>
        <p:spPr>
          <a:xfrm>
            <a:off x="10102645" y="2313551"/>
            <a:ext cx="187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Start of game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3771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 err="1"/>
              <a:t>AlphaZero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307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Whenever an agent acts, generate a subgame and solve it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 Set leaf node values based on value net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Choose next action based on solution to subgame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Repeat until end of game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Final value is used as a training example for all encountered states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11</a:t>
            </a:fld>
            <a:endParaRPr kumimoji="1" lang="zh-TW" altLang="en-US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947A89B6-9F27-4D30-A75E-C0EE74D5B804}"/>
              </a:ext>
            </a:extLst>
          </p:cNvPr>
          <p:cNvSpPr/>
          <p:nvPr/>
        </p:nvSpPr>
        <p:spPr>
          <a:xfrm>
            <a:off x="8798577" y="2889725"/>
            <a:ext cx="1546904" cy="1325564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20246E65-9989-31F4-F27D-20069D23DEA0}"/>
              </a:ext>
            </a:extLst>
          </p:cNvPr>
          <p:cNvSpPr/>
          <p:nvPr/>
        </p:nvSpPr>
        <p:spPr>
          <a:xfrm>
            <a:off x="7837148" y="2886994"/>
            <a:ext cx="3469761" cy="299117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BB3C271-CF6B-3B02-07A0-FD04139D5D6B}"/>
              </a:ext>
            </a:extLst>
          </p:cNvPr>
          <p:cNvSpPr/>
          <p:nvPr/>
        </p:nvSpPr>
        <p:spPr>
          <a:xfrm>
            <a:off x="9422461" y="2804980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6B53CAE-FB42-D6F3-9C2C-EF2A71B7F27E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9673804" y="2684206"/>
            <a:ext cx="428841" cy="163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0D2A617-08EF-7DB6-0629-5531701C83C2}"/>
              </a:ext>
            </a:extLst>
          </p:cNvPr>
          <p:cNvSpPr txBox="1"/>
          <p:nvPr/>
        </p:nvSpPr>
        <p:spPr>
          <a:xfrm>
            <a:off x="10102645" y="2313551"/>
            <a:ext cx="187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Start of game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77538F2-FF1C-ADF7-1C3F-9E10B60BE643}"/>
              </a:ext>
            </a:extLst>
          </p:cNvPr>
          <p:cNvSpPr/>
          <p:nvPr/>
        </p:nvSpPr>
        <p:spPr>
          <a:xfrm>
            <a:off x="8826673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F6B268CF-2D24-50EB-BBBD-8B8611646102}"/>
              </a:ext>
            </a:extLst>
          </p:cNvPr>
          <p:cNvSpPr/>
          <p:nvPr/>
        </p:nvSpPr>
        <p:spPr>
          <a:xfrm>
            <a:off x="9245732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70FD980-53C5-ED3C-6E90-76A21A447F82}"/>
              </a:ext>
            </a:extLst>
          </p:cNvPr>
          <p:cNvSpPr/>
          <p:nvPr/>
        </p:nvSpPr>
        <p:spPr>
          <a:xfrm>
            <a:off x="9664791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6672AB51-70AA-1B77-6AAE-F4ECCAB84EB3}"/>
              </a:ext>
            </a:extLst>
          </p:cNvPr>
          <p:cNvSpPr/>
          <p:nvPr/>
        </p:nvSpPr>
        <p:spPr>
          <a:xfrm>
            <a:off x="10083851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F75A8BE-12C1-CE16-A392-718C10A832AB}"/>
              </a:ext>
            </a:extLst>
          </p:cNvPr>
          <p:cNvSpPr/>
          <p:nvPr/>
        </p:nvSpPr>
        <p:spPr>
          <a:xfrm>
            <a:off x="9558962" y="3326287"/>
            <a:ext cx="294467" cy="2944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41374489-476E-53E1-969A-7B9D23C42F44}"/>
              </a:ext>
            </a:extLst>
          </p:cNvPr>
          <p:cNvCxnSpPr>
            <a:cxnSpLocks/>
            <a:stCxn id="12" idx="0"/>
            <a:endCxn id="8" idx="4"/>
          </p:cNvCxnSpPr>
          <p:nvPr/>
        </p:nvCxnSpPr>
        <p:spPr>
          <a:xfrm flipH="1" flipV="1">
            <a:off x="9569695" y="3099447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65AF71D-18B3-B26F-3BCD-3E6374984EF8}"/>
              </a:ext>
            </a:extLst>
          </p:cNvPr>
          <p:cNvGrpSpPr/>
          <p:nvPr/>
        </p:nvGrpSpPr>
        <p:grpSpPr>
          <a:xfrm>
            <a:off x="8942444" y="3620754"/>
            <a:ext cx="1579741" cy="1462785"/>
            <a:chOff x="6662128" y="3842128"/>
            <a:chExt cx="1579741" cy="1462785"/>
          </a:xfrm>
        </p:grpSpPr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0568AA52-1458-3119-04AD-7D432965E073}"/>
                </a:ext>
              </a:extLst>
            </p:cNvPr>
            <p:cNvSpPr/>
            <p:nvPr/>
          </p:nvSpPr>
          <p:spPr>
            <a:xfrm>
              <a:off x="6662128" y="3842128"/>
              <a:ext cx="1546904" cy="1325564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499DB2F8-581A-3796-C6B3-6ED0D44E80CE}"/>
                </a:ext>
              </a:extLst>
            </p:cNvPr>
            <p:cNvSpPr/>
            <p:nvPr/>
          </p:nvSpPr>
          <p:spPr>
            <a:xfrm>
              <a:off x="6690224" y="5010446"/>
              <a:ext cx="294467" cy="2944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C33B2C0F-6C50-9F4D-D629-583A2DC52ED4}"/>
                </a:ext>
              </a:extLst>
            </p:cNvPr>
            <p:cNvSpPr/>
            <p:nvPr/>
          </p:nvSpPr>
          <p:spPr>
            <a:xfrm>
              <a:off x="7109283" y="5010446"/>
              <a:ext cx="294467" cy="2944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A18D8E39-6BFD-5C47-47CC-22167BEA24EE}"/>
                </a:ext>
              </a:extLst>
            </p:cNvPr>
            <p:cNvSpPr/>
            <p:nvPr/>
          </p:nvSpPr>
          <p:spPr>
            <a:xfrm>
              <a:off x="7528342" y="5010446"/>
              <a:ext cx="294467" cy="2944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CE723C5D-4BBC-2DD8-A189-95D0AFD0290D}"/>
                </a:ext>
              </a:extLst>
            </p:cNvPr>
            <p:cNvSpPr/>
            <p:nvPr/>
          </p:nvSpPr>
          <p:spPr>
            <a:xfrm>
              <a:off x="7947402" y="5010446"/>
              <a:ext cx="294467" cy="29446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335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 err="1"/>
              <a:t>AlphaZero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307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With some random exploration, </a:t>
            </a:r>
            <a:r>
              <a:rPr kumimoji="1" lang="en-US" altLang="zh-TW" dirty="0" err="1"/>
              <a:t>AlphaZero</a:t>
            </a:r>
            <a:r>
              <a:rPr kumimoji="1" lang="en-US" altLang="zh-TW" dirty="0"/>
              <a:t> will eventually encounter every state and learn every state’s true value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 err="1"/>
              <a:t>AlphaZero</a:t>
            </a:r>
            <a:r>
              <a:rPr kumimoji="1" lang="en-US" altLang="zh-TW" dirty="0"/>
              <a:t> doesn’t work in imperfect information games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-because “state” do not have unique values in imperfect information games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12</a:t>
            </a:fld>
            <a:endParaRPr kumimoji="1" lang="zh-TW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20246E65-9989-31F4-F27D-20069D23DEA0}"/>
              </a:ext>
            </a:extLst>
          </p:cNvPr>
          <p:cNvSpPr/>
          <p:nvPr/>
        </p:nvSpPr>
        <p:spPr>
          <a:xfrm>
            <a:off x="7837148" y="2886994"/>
            <a:ext cx="3469761" cy="299117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BB3C271-CF6B-3B02-07A0-FD04139D5D6B}"/>
              </a:ext>
            </a:extLst>
          </p:cNvPr>
          <p:cNvSpPr/>
          <p:nvPr/>
        </p:nvSpPr>
        <p:spPr>
          <a:xfrm>
            <a:off x="9422461" y="2804980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FDD8B19-285D-D085-BC5E-4999EA7DC7ED}"/>
              </a:ext>
            </a:extLst>
          </p:cNvPr>
          <p:cNvSpPr/>
          <p:nvPr/>
        </p:nvSpPr>
        <p:spPr>
          <a:xfrm>
            <a:off x="9558962" y="3326287"/>
            <a:ext cx="294467" cy="2944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B902B56-62FF-13D5-3BC4-2AE04059786E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9569695" y="3099447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C1F884EC-9BBD-E3F1-CC8D-BACF40440DF5}"/>
              </a:ext>
            </a:extLst>
          </p:cNvPr>
          <p:cNvSpPr/>
          <p:nvPr/>
        </p:nvSpPr>
        <p:spPr>
          <a:xfrm>
            <a:off x="9292555" y="4001286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53861140-E585-8285-5CA5-CE8A8731ECFE}"/>
              </a:ext>
            </a:extLst>
          </p:cNvPr>
          <p:cNvSpPr/>
          <p:nvPr/>
        </p:nvSpPr>
        <p:spPr>
          <a:xfrm>
            <a:off x="9429056" y="4522593"/>
            <a:ext cx="294467" cy="2944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1E5E570-91B6-4B44-8310-35BCA3C8A2FF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>
            <a:off x="9439789" y="4295753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C2A1DE5B-DE06-B269-DAB8-7802FFAFF373}"/>
              </a:ext>
            </a:extLst>
          </p:cNvPr>
          <p:cNvSpPr/>
          <p:nvPr/>
        </p:nvSpPr>
        <p:spPr>
          <a:xfrm>
            <a:off x="9537846" y="5201952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B6D484B-7AC3-E964-1737-B8861826C102}"/>
              </a:ext>
            </a:extLst>
          </p:cNvPr>
          <p:cNvSpPr/>
          <p:nvPr/>
        </p:nvSpPr>
        <p:spPr>
          <a:xfrm>
            <a:off x="9674347" y="5723259"/>
            <a:ext cx="294467" cy="29446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9519A1B-B5DA-6713-9F2C-4DDCF755F1AE}"/>
              </a:ext>
            </a:extLst>
          </p:cNvPr>
          <p:cNvCxnSpPr>
            <a:stCxn id="13" idx="4"/>
            <a:endCxn id="14" idx="0"/>
          </p:cNvCxnSpPr>
          <p:nvPr/>
        </p:nvCxnSpPr>
        <p:spPr>
          <a:xfrm>
            <a:off x="9685080" y="5496419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2D2DC63-A5F5-C66C-3B50-FB7CB8636832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9439789" y="3620754"/>
            <a:ext cx="266407" cy="380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43BCD75D-ABAA-6A6F-409E-20EA3153BAFE}"/>
              </a:ext>
            </a:extLst>
          </p:cNvPr>
          <p:cNvCxnSpPr>
            <a:stCxn id="11" idx="4"/>
            <a:endCxn id="13" idx="0"/>
          </p:cNvCxnSpPr>
          <p:nvPr/>
        </p:nvCxnSpPr>
        <p:spPr>
          <a:xfrm>
            <a:off x="9576290" y="4817060"/>
            <a:ext cx="108790" cy="3848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5721A63-BEB3-E9B9-3668-1C5198F7DAD1}"/>
              </a:ext>
            </a:extLst>
          </p:cNvPr>
          <p:cNvSpPr txBox="1"/>
          <p:nvPr/>
        </p:nvSpPr>
        <p:spPr>
          <a:xfrm>
            <a:off x="9312255" y="605990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Blue wins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246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Search in Imperfect information games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13</a:t>
            </a:fld>
            <a:endParaRPr kumimoji="1" lang="zh-TW" altLang="en-US"/>
          </a:p>
        </p:txBody>
      </p: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3CE063CC-4BC8-D56B-CEB3-5A379CCD0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Our entire policy is common knowledge, but the outcomes of random processes are not common knowledge</a:t>
            </a:r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78A80B5F-AFF2-2519-377F-0651A9F3C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02" y="2487726"/>
            <a:ext cx="4532377" cy="1663360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318A5076-8EDE-DE1D-5E9E-B66F0A27CEBE}"/>
              </a:ext>
            </a:extLst>
          </p:cNvPr>
          <p:cNvSpPr txBox="1"/>
          <p:nvPr/>
        </p:nvSpPr>
        <p:spPr>
          <a:xfrm>
            <a:off x="2478038" y="1911475"/>
            <a:ext cx="28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Rock-Paper-Scissors+</a:t>
            </a:r>
            <a:endParaRPr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2E0C411-7539-6194-10BE-0BE7475C2851}"/>
              </a:ext>
            </a:extLst>
          </p:cNvPr>
          <p:cNvSpPr txBox="1"/>
          <p:nvPr/>
        </p:nvSpPr>
        <p:spPr>
          <a:xfrm>
            <a:off x="6639347" y="1978943"/>
            <a:ext cx="4671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Depth-Limited Rock-Paper-Scissors+</a:t>
            </a:r>
            <a:endParaRPr lang="zh-TW" altLang="en-US" sz="2400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BAB8FCA-0B45-9727-9367-22E38A08F0DF}"/>
              </a:ext>
            </a:extLst>
          </p:cNvPr>
          <p:cNvGrpSpPr/>
          <p:nvPr/>
        </p:nvGrpSpPr>
        <p:grpSpPr>
          <a:xfrm>
            <a:off x="951437" y="2340032"/>
            <a:ext cx="5999639" cy="2944268"/>
            <a:chOff x="84426" y="1945757"/>
            <a:chExt cx="5999639" cy="2944268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81D05CCC-B652-A77C-880B-DE0AF59B1056}"/>
                </a:ext>
              </a:extLst>
            </p:cNvPr>
            <p:cNvSpPr/>
            <p:nvPr/>
          </p:nvSpPr>
          <p:spPr>
            <a:xfrm>
              <a:off x="2615608" y="1945757"/>
              <a:ext cx="712382" cy="712382"/>
            </a:xfrm>
            <a:prstGeom prst="ellipse">
              <a:avLst/>
            </a:prstGeom>
            <a:solidFill>
              <a:srgbClr val="0069C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1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F87D7FCF-8C1B-E8DF-9A3A-7A67FC656C8B}"/>
                </a:ext>
              </a:extLst>
            </p:cNvPr>
            <p:cNvSpPr/>
            <p:nvPr/>
          </p:nvSpPr>
          <p:spPr>
            <a:xfrm>
              <a:off x="482009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C8290A9E-13CB-A9DD-3576-EFF1EC2322CE}"/>
                </a:ext>
              </a:extLst>
            </p:cNvPr>
            <p:cNvSpPr/>
            <p:nvPr/>
          </p:nvSpPr>
          <p:spPr>
            <a:xfrm>
              <a:off x="2615608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9A45A639-01A1-1252-C633-397C38AD00E1}"/>
                </a:ext>
              </a:extLst>
            </p:cNvPr>
            <p:cNvSpPr/>
            <p:nvPr/>
          </p:nvSpPr>
          <p:spPr>
            <a:xfrm>
              <a:off x="4823634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04E87A75-36E0-2F47-12CA-403C9AC979EA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3327990" y="3576139"/>
              <a:ext cx="14956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E10DC0CC-9E55-589F-B573-11CF6F43D382}"/>
                </a:ext>
              </a:extLst>
            </p:cNvPr>
            <p:cNvCxnSpPr>
              <a:stCxn id="7" idx="2"/>
              <a:endCxn id="6" idx="6"/>
            </p:cNvCxnSpPr>
            <p:nvPr/>
          </p:nvCxnSpPr>
          <p:spPr>
            <a:xfrm flipH="1">
              <a:off x="1194391" y="3576139"/>
              <a:ext cx="142121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D3404038-FE5E-FA33-3E81-0F7867C28371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1090065" y="2553813"/>
              <a:ext cx="1629869" cy="770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BBD35A93-1839-089B-C8AE-492C2ED1C4DE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>
              <a:off x="2971799" y="2658139"/>
              <a:ext cx="0" cy="56180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D93E1A6E-7C85-D3F7-EB1F-2D7ED9CBAE8A}"/>
                </a:ext>
              </a:extLst>
            </p:cNvPr>
            <p:cNvCxnSpPr>
              <a:stCxn id="5" idx="5"/>
              <a:endCxn id="8" idx="1"/>
            </p:cNvCxnSpPr>
            <p:nvPr/>
          </p:nvCxnSpPr>
          <p:spPr>
            <a:xfrm>
              <a:off x="3223664" y="2553813"/>
              <a:ext cx="1704296" cy="770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796A2D0-B771-6635-F704-607B9DCC2FFC}"/>
                </a:ext>
              </a:extLst>
            </p:cNvPr>
            <p:cNvSpPr txBox="1"/>
            <p:nvPr/>
          </p:nvSpPr>
          <p:spPr>
            <a:xfrm rot="19739989">
              <a:off x="1703931" y="2376499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Rock</a:t>
              </a:r>
              <a:endParaRPr lang="zh-TW" altLang="en-US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37E1627-B86E-918E-0F81-09CBB007E7F2}"/>
                </a:ext>
              </a:extLst>
            </p:cNvPr>
            <p:cNvSpPr txBox="1"/>
            <p:nvPr/>
          </p:nvSpPr>
          <p:spPr>
            <a:xfrm rot="1715645">
              <a:off x="3469059" y="2586586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Scissors</a:t>
              </a:r>
              <a:endParaRPr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5E3F8DF2-760B-D1AA-8C44-47D95CAA4E78}"/>
                </a:ext>
              </a:extLst>
            </p:cNvPr>
            <p:cNvSpPr txBox="1"/>
            <p:nvPr/>
          </p:nvSpPr>
          <p:spPr>
            <a:xfrm rot="5400000">
              <a:off x="2547754" y="2966346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Paper</a:t>
              </a:r>
              <a:endParaRPr lang="zh-TW" altLang="en-US" dirty="0"/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45576A29-A7E1-B617-44BA-0CCE83EF11EE}"/>
                </a:ext>
              </a:extLst>
            </p:cNvPr>
            <p:cNvGrpSpPr/>
            <p:nvPr/>
          </p:nvGrpSpPr>
          <p:grpSpPr>
            <a:xfrm>
              <a:off x="124229" y="3518527"/>
              <a:ext cx="1545231" cy="1310073"/>
              <a:chOff x="124229" y="3518527"/>
              <a:chExt cx="1545231" cy="1310073"/>
            </a:xfrm>
          </p:grpSpPr>
          <p:cxnSp>
            <p:nvCxnSpPr>
              <p:cNvPr id="49" name="直線單箭頭接點 48">
                <a:extLst>
                  <a:ext uri="{FF2B5EF4-FFF2-40B4-BE49-F238E27FC236}">
                    <a16:creationId xmlns:a16="http://schemas.microsoft.com/office/drawing/2014/main" id="{15AFEA3D-D683-3981-AC7B-161125E2DEF4}"/>
                  </a:ext>
                </a:extLst>
              </p:cNvPr>
              <p:cNvCxnSpPr>
                <a:stCxn id="6" idx="4"/>
              </p:cNvCxnSpPr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單箭頭接點 49">
                <a:extLst>
                  <a:ext uri="{FF2B5EF4-FFF2-40B4-BE49-F238E27FC236}">
                    <a16:creationId xmlns:a16="http://schemas.microsoft.com/office/drawing/2014/main" id="{E9281193-9D67-49B6-1619-48B99E4B7013}"/>
                  </a:ext>
                </a:extLst>
              </p:cNvPr>
              <p:cNvCxnSpPr>
                <a:stCxn id="6" idx="3"/>
              </p:cNvCxnSpPr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>
                <a:extLst>
                  <a:ext uri="{FF2B5EF4-FFF2-40B4-BE49-F238E27FC236}">
                    <a16:creationId xmlns:a16="http://schemas.microsoft.com/office/drawing/2014/main" id="{59804742-E717-45DE-CC31-970AF0150CB2}"/>
                  </a:ext>
                </a:extLst>
              </p:cNvPr>
              <p:cNvCxnSpPr>
                <a:stCxn id="6" idx="5"/>
              </p:cNvCxnSpPr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40EC76F5-320A-4B8C-2F75-E510FC9D1630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CA8CCD7A-117D-E58D-AA14-42A9FA3FAE3D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ADFB5979-9112-B6BB-11D5-E15F3A3BEBE3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62D2ED05-26E5-DD21-8E48-06B7BD0C2E41}"/>
                </a:ext>
              </a:extLst>
            </p:cNvPr>
            <p:cNvGrpSpPr/>
            <p:nvPr/>
          </p:nvGrpSpPr>
          <p:grpSpPr>
            <a:xfrm>
              <a:off x="2256431" y="3511710"/>
              <a:ext cx="1545231" cy="1310073"/>
              <a:chOff x="124229" y="3518527"/>
              <a:chExt cx="1545231" cy="1310073"/>
            </a:xfrm>
          </p:grpSpPr>
          <p:cxnSp>
            <p:nvCxnSpPr>
              <p:cNvPr id="43" name="直線單箭頭接點 42">
                <a:extLst>
                  <a:ext uri="{FF2B5EF4-FFF2-40B4-BE49-F238E27FC236}">
                    <a16:creationId xmlns:a16="http://schemas.microsoft.com/office/drawing/2014/main" id="{63CBCBAD-4593-0267-E078-05B34325BDA8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單箭頭接點 43">
                <a:extLst>
                  <a:ext uri="{FF2B5EF4-FFF2-40B4-BE49-F238E27FC236}">
                    <a16:creationId xmlns:a16="http://schemas.microsoft.com/office/drawing/2014/main" id="{1928195F-6FDD-F59B-1419-6C6BD4B7E7A3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單箭頭接點 44">
                <a:extLst>
                  <a:ext uri="{FF2B5EF4-FFF2-40B4-BE49-F238E27FC236}">
                    <a16:creationId xmlns:a16="http://schemas.microsoft.com/office/drawing/2014/main" id="{88749DC4-5358-EF4A-9801-6690A99789F8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9171D795-FD02-AB1A-09BC-DA4AEFFA6877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BF383236-D206-6C26-D975-4A3C9FA21BDB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47E27C0-7082-6C02-B0E6-170FDF2607CC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0573ABC7-D5CD-8EFC-A21B-41FE3BD1720B}"/>
                </a:ext>
              </a:extLst>
            </p:cNvPr>
            <p:cNvGrpSpPr/>
            <p:nvPr/>
          </p:nvGrpSpPr>
          <p:grpSpPr>
            <a:xfrm>
              <a:off x="4444158" y="3519664"/>
              <a:ext cx="1545231" cy="1310073"/>
              <a:chOff x="124229" y="3518527"/>
              <a:chExt cx="1545231" cy="1310073"/>
            </a:xfrm>
          </p:grpSpPr>
          <p:cxnSp>
            <p:nvCxnSpPr>
              <p:cNvPr id="37" name="直線單箭頭接點 36">
                <a:extLst>
                  <a:ext uri="{FF2B5EF4-FFF2-40B4-BE49-F238E27FC236}">
                    <a16:creationId xmlns:a16="http://schemas.microsoft.com/office/drawing/2014/main" id="{3E01B353-8272-6BC8-9F22-295673EC4C24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單箭頭接點 37">
                <a:extLst>
                  <a:ext uri="{FF2B5EF4-FFF2-40B4-BE49-F238E27FC236}">
                    <a16:creationId xmlns:a16="http://schemas.microsoft.com/office/drawing/2014/main" id="{20B35A1F-74AE-10CC-ADAA-709EDDE80EAA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單箭頭接點 38">
                <a:extLst>
                  <a:ext uri="{FF2B5EF4-FFF2-40B4-BE49-F238E27FC236}">
                    <a16:creationId xmlns:a16="http://schemas.microsoft.com/office/drawing/2014/main" id="{71DF9074-AB4D-0443-9FB7-1883ACBA2363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3892788-695D-C13E-9B71-8D76D581CDDE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2F9902A-21CA-FF06-6A62-7370C7DE1285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8FAB4F99-ABB9-A0B6-688F-89C9A0E52BE0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CF48A14B-E1D5-BEE6-FA23-C623A2D71585}"/>
                </a:ext>
              </a:extLst>
            </p:cNvPr>
            <p:cNvSpPr txBox="1"/>
            <p:nvPr/>
          </p:nvSpPr>
          <p:spPr>
            <a:xfrm>
              <a:off x="84426" y="4491217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38C03A5B-499E-F2E6-0668-46300850ECA1}"/>
                </a:ext>
              </a:extLst>
            </p:cNvPr>
            <p:cNvSpPr txBox="1"/>
            <p:nvPr/>
          </p:nvSpPr>
          <p:spPr>
            <a:xfrm>
              <a:off x="582521" y="449121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-1</a:t>
              </a:r>
              <a:endParaRPr lang="zh-TW" altLang="en-US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9C643B0E-E00B-2106-1D8E-5646D7E2B935}"/>
                </a:ext>
              </a:extLst>
            </p:cNvPr>
            <p:cNvSpPr txBox="1"/>
            <p:nvPr/>
          </p:nvSpPr>
          <p:spPr>
            <a:xfrm>
              <a:off x="1217907" y="450585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5FFB4D88-6B01-CF82-676A-A291EB6B1F89}"/>
                </a:ext>
              </a:extLst>
            </p:cNvPr>
            <p:cNvSpPr txBox="1"/>
            <p:nvPr/>
          </p:nvSpPr>
          <p:spPr>
            <a:xfrm>
              <a:off x="2232391" y="4489816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3156E040-CA73-997A-74A3-7437F1FF6393}"/>
                </a:ext>
              </a:extLst>
            </p:cNvPr>
            <p:cNvSpPr txBox="1"/>
            <p:nvPr/>
          </p:nvSpPr>
          <p:spPr>
            <a:xfrm>
              <a:off x="2807486" y="448981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1F2BE932-A21B-A946-CE7C-C0A31F96C01A}"/>
                </a:ext>
              </a:extLst>
            </p:cNvPr>
            <p:cNvSpPr txBox="1"/>
            <p:nvPr/>
          </p:nvSpPr>
          <p:spPr>
            <a:xfrm>
              <a:off x="3336997" y="450445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286FEF46-C46B-32AA-F929-DEEB06429A35}"/>
                </a:ext>
              </a:extLst>
            </p:cNvPr>
            <p:cNvSpPr txBox="1"/>
            <p:nvPr/>
          </p:nvSpPr>
          <p:spPr>
            <a:xfrm>
              <a:off x="4366081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6DEA958A-4D4C-FCDC-7C0C-89448F2B84EF}"/>
                </a:ext>
              </a:extLst>
            </p:cNvPr>
            <p:cNvSpPr txBox="1"/>
            <p:nvPr/>
          </p:nvSpPr>
          <p:spPr>
            <a:xfrm>
              <a:off x="5001289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711C4622-B63C-64D6-BDB8-EA09E04B3B5A}"/>
                </a:ext>
              </a:extLst>
            </p:cNvPr>
            <p:cNvSpPr txBox="1"/>
            <p:nvPr/>
          </p:nvSpPr>
          <p:spPr>
            <a:xfrm>
              <a:off x="5559675" y="452069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969E439E-6229-FEE3-EC85-AA0E5D9B6293}"/>
                </a:ext>
              </a:extLst>
            </p:cNvPr>
            <p:cNvSpPr txBox="1"/>
            <p:nvPr/>
          </p:nvSpPr>
          <p:spPr>
            <a:xfrm>
              <a:off x="380011" y="2929542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664B5B46-BE6A-287B-4999-5E36C08DB951}"/>
                </a:ext>
              </a:extLst>
            </p:cNvPr>
            <p:cNvSpPr txBox="1"/>
            <p:nvPr/>
          </p:nvSpPr>
          <p:spPr>
            <a:xfrm>
              <a:off x="2216773" y="2914537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A09B879B-D31D-F4E6-A273-D3C36AF9FECC}"/>
                </a:ext>
              </a:extLst>
            </p:cNvPr>
            <p:cNvSpPr txBox="1"/>
            <p:nvPr/>
          </p:nvSpPr>
          <p:spPr>
            <a:xfrm>
              <a:off x="4668068" y="2923410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0.2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2C2EBF1-843F-16EB-8AB3-EB7B71EBE847}"/>
              </a:ext>
            </a:extLst>
          </p:cNvPr>
          <p:cNvSpPr txBox="1"/>
          <p:nvPr/>
        </p:nvSpPr>
        <p:spPr>
          <a:xfrm>
            <a:off x="6804569" y="3372829"/>
            <a:ext cx="109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P = 0.8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BD6D19AF-A047-99F7-9C9E-DC32645AFA51}"/>
              </a:ext>
            </a:extLst>
          </p:cNvPr>
          <p:cNvSpPr txBox="1"/>
          <p:nvPr/>
        </p:nvSpPr>
        <p:spPr>
          <a:xfrm>
            <a:off x="8241840" y="3357824"/>
            <a:ext cx="109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P = 0.1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CC19806C-B4CF-F127-BCD5-1698B7810EFC}"/>
              </a:ext>
            </a:extLst>
          </p:cNvPr>
          <p:cNvSpPr txBox="1"/>
          <p:nvPr/>
        </p:nvSpPr>
        <p:spPr>
          <a:xfrm>
            <a:off x="10577719" y="3366697"/>
            <a:ext cx="109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P = 0.1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907AF8D9-D0DC-5500-36BD-E896F708EF1B}"/>
              </a:ext>
            </a:extLst>
          </p:cNvPr>
          <p:cNvSpPr txBox="1"/>
          <p:nvPr/>
        </p:nvSpPr>
        <p:spPr>
          <a:xfrm>
            <a:off x="7125886" y="3846130"/>
            <a:ext cx="46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-1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531811EF-518F-AE8C-105B-F1CC6FC24260}"/>
              </a:ext>
            </a:extLst>
          </p:cNvPr>
          <p:cNvSpPr txBox="1"/>
          <p:nvPr/>
        </p:nvSpPr>
        <p:spPr>
          <a:xfrm>
            <a:off x="8858165" y="3846130"/>
            <a:ext cx="46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2E52AF79-E565-74FF-EE9C-91916851833E}"/>
              </a:ext>
            </a:extLst>
          </p:cNvPr>
          <p:cNvSpPr txBox="1"/>
          <p:nvPr/>
        </p:nvSpPr>
        <p:spPr>
          <a:xfrm>
            <a:off x="10590765" y="3846130"/>
            <a:ext cx="46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25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Search in Imperfect information games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14</a:t>
            </a:fld>
            <a:endParaRPr kumimoji="1" lang="zh-TW" altLang="en-US"/>
          </a:p>
        </p:txBody>
      </p: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3CE063CC-4BC8-D56B-CEB3-5A379CCD0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825625"/>
            <a:ext cx="11364686" cy="4814872"/>
          </a:xfrm>
        </p:spPr>
        <p:txBody>
          <a:bodyPr>
            <a:normAutofit fontScale="92500" lnSpcReduction="20000"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Our solution: condition value on probability distribution over possible states</a:t>
            </a:r>
          </a:p>
          <a:p>
            <a:pPr lvl="1"/>
            <a:r>
              <a:rPr lang="en-US" altLang="zh-TW" dirty="0"/>
              <a:t>V(Rock) is not well-defined</a:t>
            </a:r>
          </a:p>
          <a:p>
            <a:pPr lvl="1"/>
            <a:r>
              <a:rPr lang="en-US" altLang="zh-TW" dirty="0"/>
              <a:t>V([0.8Rock, 0.1Paper, 0.1Scissors]) = -0.6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5CEB29-69D5-9A9F-A315-5707E5B2A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02" y="2487726"/>
            <a:ext cx="4532377" cy="166336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7783FA6-88BA-9036-E134-AED71DA64E3D}"/>
              </a:ext>
            </a:extLst>
          </p:cNvPr>
          <p:cNvSpPr txBox="1"/>
          <p:nvPr/>
        </p:nvSpPr>
        <p:spPr>
          <a:xfrm>
            <a:off x="2478038" y="1911475"/>
            <a:ext cx="28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Rock-Paper-Scissors+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FC52EF1-A75B-4691-8648-927F99AC3D39}"/>
              </a:ext>
            </a:extLst>
          </p:cNvPr>
          <p:cNvSpPr txBox="1"/>
          <p:nvPr/>
        </p:nvSpPr>
        <p:spPr>
          <a:xfrm>
            <a:off x="6639347" y="1978943"/>
            <a:ext cx="4671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Depth-Limited Rock-Paper-Scissors+</a:t>
            </a:r>
            <a:endParaRPr lang="zh-TW" altLang="en-US" sz="24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6B4378F1-821D-2F07-BBF1-C92C6011F9D5}"/>
              </a:ext>
            </a:extLst>
          </p:cNvPr>
          <p:cNvGrpSpPr/>
          <p:nvPr/>
        </p:nvGrpSpPr>
        <p:grpSpPr>
          <a:xfrm>
            <a:off x="951437" y="2340032"/>
            <a:ext cx="5999639" cy="2944268"/>
            <a:chOff x="84426" y="1945757"/>
            <a:chExt cx="5999639" cy="2944268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AF4378F5-C138-CD19-3001-EE98F42BEC1A}"/>
                </a:ext>
              </a:extLst>
            </p:cNvPr>
            <p:cNvSpPr/>
            <p:nvPr/>
          </p:nvSpPr>
          <p:spPr>
            <a:xfrm>
              <a:off x="2615608" y="1945757"/>
              <a:ext cx="712382" cy="712382"/>
            </a:xfrm>
            <a:prstGeom prst="ellipse">
              <a:avLst/>
            </a:prstGeom>
            <a:solidFill>
              <a:srgbClr val="0069C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1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9ACE8471-4A91-D14A-E970-E8FEB9626715}"/>
                </a:ext>
              </a:extLst>
            </p:cNvPr>
            <p:cNvSpPr/>
            <p:nvPr/>
          </p:nvSpPr>
          <p:spPr>
            <a:xfrm>
              <a:off x="482009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7D66C240-EA9D-E1FD-04D2-7D98FE760010}"/>
                </a:ext>
              </a:extLst>
            </p:cNvPr>
            <p:cNvSpPr/>
            <p:nvPr/>
          </p:nvSpPr>
          <p:spPr>
            <a:xfrm>
              <a:off x="2615608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046F02AA-A05E-BE06-A2A2-916A78AB9C60}"/>
                </a:ext>
              </a:extLst>
            </p:cNvPr>
            <p:cNvSpPr/>
            <p:nvPr/>
          </p:nvSpPr>
          <p:spPr>
            <a:xfrm>
              <a:off x="4823634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A04A58A8-5111-9529-8016-8D657F31E03A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>
              <a:off x="3327990" y="3576139"/>
              <a:ext cx="14956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426EC64E-4DA7-7DCF-DAA6-035D9A8506AE}"/>
                </a:ext>
              </a:extLst>
            </p:cNvPr>
            <p:cNvCxnSpPr>
              <a:stCxn id="10" idx="2"/>
              <a:endCxn id="9" idx="6"/>
            </p:cNvCxnSpPr>
            <p:nvPr/>
          </p:nvCxnSpPr>
          <p:spPr>
            <a:xfrm flipH="1">
              <a:off x="1194391" y="3576139"/>
              <a:ext cx="142121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E4F5D6E2-9A2C-FCA6-9A8F-101BFCB5A06D}"/>
                </a:ext>
              </a:extLst>
            </p:cNvPr>
            <p:cNvCxnSpPr>
              <a:stCxn id="8" idx="3"/>
              <a:endCxn id="9" idx="7"/>
            </p:cNvCxnSpPr>
            <p:nvPr/>
          </p:nvCxnSpPr>
          <p:spPr>
            <a:xfrm flipH="1">
              <a:off x="1090065" y="2553813"/>
              <a:ext cx="1629869" cy="770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BD34A4A5-D5E0-10B5-6E14-E24E09A6C2BC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>
              <a:off x="2971799" y="2658139"/>
              <a:ext cx="0" cy="56180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FB1E0903-DE2E-282D-43CE-B6E00E705DB3}"/>
                </a:ext>
              </a:extLst>
            </p:cNvPr>
            <p:cNvCxnSpPr>
              <a:stCxn id="8" idx="5"/>
              <a:endCxn id="11" idx="1"/>
            </p:cNvCxnSpPr>
            <p:nvPr/>
          </p:nvCxnSpPr>
          <p:spPr>
            <a:xfrm>
              <a:off x="3223664" y="2553813"/>
              <a:ext cx="1704296" cy="770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F6DAA618-CDC1-CB47-FF27-1E7AFDA134EA}"/>
                </a:ext>
              </a:extLst>
            </p:cNvPr>
            <p:cNvSpPr txBox="1"/>
            <p:nvPr/>
          </p:nvSpPr>
          <p:spPr>
            <a:xfrm rot="19739989">
              <a:off x="1703931" y="2376499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Rock</a:t>
              </a:r>
              <a:endParaRPr lang="zh-TW" altLang="en-US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2DD6D423-3F60-1A78-8B8C-D62403D5537A}"/>
                </a:ext>
              </a:extLst>
            </p:cNvPr>
            <p:cNvSpPr txBox="1"/>
            <p:nvPr/>
          </p:nvSpPr>
          <p:spPr>
            <a:xfrm rot="1715645">
              <a:off x="3469059" y="2586586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Scissors</a:t>
              </a:r>
              <a:endParaRPr lang="zh-TW" altLang="en-US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996DA292-A21D-CD0F-C9A4-F78DDCA6F532}"/>
                </a:ext>
              </a:extLst>
            </p:cNvPr>
            <p:cNvSpPr txBox="1"/>
            <p:nvPr/>
          </p:nvSpPr>
          <p:spPr>
            <a:xfrm rot="5400000">
              <a:off x="2547754" y="2966346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Paper</a:t>
              </a:r>
              <a:endParaRPr lang="zh-TW" altLang="en-US" dirty="0"/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DE9DC480-67BF-EC3C-9D15-F254BD2C53F9}"/>
                </a:ext>
              </a:extLst>
            </p:cNvPr>
            <p:cNvGrpSpPr/>
            <p:nvPr/>
          </p:nvGrpSpPr>
          <p:grpSpPr>
            <a:xfrm>
              <a:off x="124229" y="3518527"/>
              <a:ext cx="1545231" cy="1310073"/>
              <a:chOff x="124229" y="3518527"/>
              <a:chExt cx="1545231" cy="1310073"/>
            </a:xfrm>
          </p:grpSpPr>
          <p:cxnSp>
            <p:nvCxnSpPr>
              <p:cNvPr id="52" name="直線單箭頭接點 51">
                <a:extLst>
                  <a:ext uri="{FF2B5EF4-FFF2-40B4-BE49-F238E27FC236}">
                    <a16:creationId xmlns:a16="http://schemas.microsoft.com/office/drawing/2014/main" id="{940B9FEB-A632-8205-4AB5-552A5316CBD4}"/>
                  </a:ext>
                </a:extLst>
              </p:cNvPr>
              <p:cNvCxnSpPr>
                <a:stCxn id="9" idx="4"/>
              </p:cNvCxnSpPr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單箭頭接點 52">
                <a:extLst>
                  <a:ext uri="{FF2B5EF4-FFF2-40B4-BE49-F238E27FC236}">
                    <a16:creationId xmlns:a16="http://schemas.microsoft.com/office/drawing/2014/main" id="{FD29BD2D-5CBC-306B-1FD8-FFDE72C3686F}"/>
                  </a:ext>
                </a:extLst>
              </p:cNvPr>
              <p:cNvCxnSpPr>
                <a:stCxn id="9" idx="3"/>
              </p:cNvCxnSpPr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單箭頭接點 53">
                <a:extLst>
                  <a:ext uri="{FF2B5EF4-FFF2-40B4-BE49-F238E27FC236}">
                    <a16:creationId xmlns:a16="http://schemas.microsoft.com/office/drawing/2014/main" id="{41DFB61B-1803-DF59-102F-DE0C567B6CDA}"/>
                  </a:ext>
                </a:extLst>
              </p:cNvPr>
              <p:cNvCxnSpPr>
                <a:stCxn id="9" idx="5"/>
              </p:cNvCxnSpPr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DB21CC10-8969-4859-784B-9BCB2D5182CE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155136B-76FF-6B1F-CA0C-973B555BE544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BB088055-ADF4-1E5F-4AC3-A23CE89E6E39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C4B50E19-C260-7A3C-3A98-FBDDDFC60AFF}"/>
                </a:ext>
              </a:extLst>
            </p:cNvPr>
            <p:cNvGrpSpPr/>
            <p:nvPr/>
          </p:nvGrpSpPr>
          <p:grpSpPr>
            <a:xfrm>
              <a:off x="2256431" y="3511710"/>
              <a:ext cx="1545231" cy="1310073"/>
              <a:chOff x="124229" y="3518527"/>
              <a:chExt cx="1545231" cy="1310073"/>
            </a:xfrm>
          </p:grpSpPr>
          <p:cxnSp>
            <p:nvCxnSpPr>
              <p:cNvPr id="46" name="直線單箭頭接點 45">
                <a:extLst>
                  <a:ext uri="{FF2B5EF4-FFF2-40B4-BE49-F238E27FC236}">
                    <a16:creationId xmlns:a16="http://schemas.microsoft.com/office/drawing/2014/main" id="{C29FF2D9-740A-C9C4-EE42-5B8FDBF73B3C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單箭頭接點 46">
                <a:extLst>
                  <a:ext uri="{FF2B5EF4-FFF2-40B4-BE49-F238E27FC236}">
                    <a16:creationId xmlns:a16="http://schemas.microsoft.com/office/drawing/2014/main" id="{01D6C1F5-4515-3E34-8E4C-41F01E6BC948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單箭頭接點 47">
                <a:extLst>
                  <a:ext uri="{FF2B5EF4-FFF2-40B4-BE49-F238E27FC236}">
                    <a16:creationId xmlns:a16="http://schemas.microsoft.com/office/drawing/2014/main" id="{C72817AE-C17E-C009-5B33-EAAD25E75397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531716A1-B552-B491-4B19-EDE6AFF58F23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DA3B25A7-B810-32B1-6C76-51D3CB67F4B2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F2367F39-A54D-869C-1FFF-AEEC3850C1C8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41E79F56-7AF9-D69F-4398-0FA4CE14903D}"/>
                </a:ext>
              </a:extLst>
            </p:cNvPr>
            <p:cNvGrpSpPr/>
            <p:nvPr/>
          </p:nvGrpSpPr>
          <p:grpSpPr>
            <a:xfrm>
              <a:off x="4444158" y="3519664"/>
              <a:ext cx="1545231" cy="1310073"/>
              <a:chOff x="124229" y="3518527"/>
              <a:chExt cx="1545231" cy="1310073"/>
            </a:xfrm>
          </p:grpSpPr>
          <p:cxnSp>
            <p:nvCxnSpPr>
              <p:cNvPr id="40" name="直線單箭頭接點 39">
                <a:extLst>
                  <a:ext uri="{FF2B5EF4-FFF2-40B4-BE49-F238E27FC236}">
                    <a16:creationId xmlns:a16="http://schemas.microsoft.com/office/drawing/2014/main" id="{EA315ECF-582C-EA15-6324-6F8C1BCFF97B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單箭頭接點 40">
                <a:extLst>
                  <a:ext uri="{FF2B5EF4-FFF2-40B4-BE49-F238E27FC236}">
                    <a16:creationId xmlns:a16="http://schemas.microsoft.com/office/drawing/2014/main" id="{2A1EDF7D-8BB9-A230-2401-3755BBFA2B98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單箭頭接點 41">
                <a:extLst>
                  <a:ext uri="{FF2B5EF4-FFF2-40B4-BE49-F238E27FC236}">
                    <a16:creationId xmlns:a16="http://schemas.microsoft.com/office/drawing/2014/main" id="{EE705F95-22EA-98F3-7E09-796B344C49A7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5E3E2864-3B16-2E26-AF1B-90128910D084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24BB44A3-F6C1-5744-6D26-7142FAA0D452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3360A57-B28C-3573-7086-2942F6D88A95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CB12BCD0-5B07-F21E-10EA-FD300A09CE96}"/>
                </a:ext>
              </a:extLst>
            </p:cNvPr>
            <p:cNvSpPr txBox="1"/>
            <p:nvPr/>
          </p:nvSpPr>
          <p:spPr>
            <a:xfrm>
              <a:off x="84426" y="4491217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65379A06-4A58-FA2B-A24B-E4FB9D09D182}"/>
                </a:ext>
              </a:extLst>
            </p:cNvPr>
            <p:cNvSpPr txBox="1"/>
            <p:nvPr/>
          </p:nvSpPr>
          <p:spPr>
            <a:xfrm>
              <a:off x="582521" y="449121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-1</a:t>
              </a:r>
              <a:endParaRPr lang="zh-TW" altLang="en-US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087A2E64-A6E9-5AF3-332C-3B015A0CFB78}"/>
                </a:ext>
              </a:extLst>
            </p:cNvPr>
            <p:cNvSpPr txBox="1"/>
            <p:nvPr/>
          </p:nvSpPr>
          <p:spPr>
            <a:xfrm>
              <a:off x="1217907" y="450585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B48BDEB6-FDF8-A208-45FC-2893089EF193}"/>
                </a:ext>
              </a:extLst>
            </p:cNvPr>
            <p:cNvSpPr txBox="1"/>
            <p:nvPr/>
          </p:nvSpPr>
          <p:spPr>
            <a:xfrm>
              <a:off x="2232391" y="4489816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76DE1677-D601-CB00-1785-611B6484F1BC}"/>
                </a:ext>
              </a:extLst>
            </p:cNvPr>
            <p:cNvSpPr txBox="1"/>
            <p:nvPr/>
          </p:nvSpPr>
          <p:spPr>
            <a:xfrm>
              <a:off x="2807486" y="448981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C65EA5F8-816C-F86D-BF46-03115DBE1AF9}"/>
                </a:ext>
              </a:extLst>
            </p:cNvPr>
            <p:cNvSpPr txBox="1"/>
            <p:nvPr/>
          </p:nvSpPr>
          <p:spPr>
            <a:xfrm>
              <a:off x="3336997" y="450445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505C105D-A374-8762-3230-56A42CA35A53}"/>
                </a:ext>
              </a:extLst>
            </p:cNvPr>
            <p:cNvSpPr txBox="1"/>
            <p:nvPr/>
          </p:nvSpPr>
          <p:spPr>
            <a:xfrm>
              <a:off x="4366081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7B90496D-F488-F37E-ECE2-269CBEFA8118}"/>
                </a:ext>
              </a:extLst>
            </p:cNvPr>
            <p:cNvSpPr txBox="1"/>
            <p:nvPr/>
          </p:nvSpPr>
          <p:spPr>
            <a:xfrm>
              <a:off x="5001289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C75784BA-33F4-DB65-5DE6-F921A9155C49}"/>
                </a:ext>
              </a:extLst>
            </p:cNvPr>
            <p:cNvSpPr txBox="1"/>
            <p:nvPr/>
          </p:nvSpPr>
          <p:spPr>
            <a:xfrm>
              <a:off x="5559675" y="452069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D8A526C2-0744-B664-68A1-611D4B7F7992}"/>
                </a:ext>
              </a:extLst>
            </p:cNvPr>
            <p:cNvSpPr txBox="1"/>
            <p:nvPr/>
          </p:nvSpPr>
          <p:spPr>
            <a:xfrm>
              <a:off x="380011" y="2929542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0DFFA791-FBCB-04F2-B506-6703274F2B21}"/>
                </a:ext>
              </a:extLst>
            </p:cNvPr>
            <p:cNvSpPr txBox="1"/>
            <p:nvPr/>
          </p:nvSpPr>
          <p:spPr>
            <a:xfrm>
              <a:off x="2216773" y="2914537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66A170A3-CF4A-67D8-3893-E14ABDE560F4}"/>
                </a:ext>
              </a:extLst>
            </p:cNvPr>
            <p:cNvSpPr txBox="1"/>
            <p:nvPr/>
          </p:nvSpPr>
          <p:spPr>
            <a:xfrm>
              <a:off x="4668068" y="2923410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0.2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C8FC22B9-46F7-2EC3-736A-91D42D028735}"/>
              </a:ext>
            </a:extLst>
          </p:cNvPr>
          <p:cNvSpPr txBox="1"/>
          <p:nvPr/>
        </p:nvSpPr>
        <p:spPr>
          <a:xfrm>
            <a:off x="6804569" y="3372829"/>
            <a:ext cx="109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P = 0.8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C9E6C469-3102-0BC7-47FC-85699D1B0DD9}"/>
              </a:ext>
            </a:extLst>
          </p:cNvPr>
          <p:cNvSpPr txBox="1"/>
          <p:nvPr/>
        </p:nvSpPr>
        <p:spPr>
          <a:xfrm>
            <a:off x="8241840" y="3357824"/>
            <a:ext cx="109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P = 0.1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B7808A85-B28E-A26D-6BE1-4499B103444A}"/>
              </a:ext>
            </a:extLst>
          </p:cNvPr>
          <p:cNvSpPr txBox="1"/>
          <p:nvPr/>
        </p:nvSpPr>
        <p:spPr>
          <a:xfrm>
            <a:off x="10577719" y="3366697"/>
            <a:ext cx="109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P = 0.1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93EE845F-2F7B-7095-3095-68250912D03B}"/>
              </a:ext>
            </a:extLst>
          </p:cNvPr>
          <p:cNvSpPr txBox="1"/>
          <p:nvPr/>
        </p:nvSpPr>
        <p:spPr>
          <a:xfrm>
            <a:off x="7125886" y="3846130"/>
            <a:ext cx="46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-1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97D579BF-BFE0-7330-1915-570CF223BD09}"/>
              </a:ext>
            </a:extLst>
          </p:cNvPr>
          <p:cNvSpPr txBox="1"/>
          <p:nvPr/>
        </p:nvSpPr>
        <p:spPr>
          <a:xfrm>
            <a:off x="8858165" y="3846130"/>
            <a:ext cx="46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05282AF4-23B8-17FF-C7A1-6A43936ADB88}"/>
              </a:ext>
            </a:extLst>
          </p:cNvPr>
          <p:cNvSpPr txBox="1"/>
          <p:nvPr/>
        </p:nvSpPr>
        <p:spPr>
          <a:xfrm>
            <a:off x="10590765" y="3846130"/>
            <a:ext cx="46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694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Converting imperfect information games to continuous-state perfect information games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15</a:t>
            </a:fld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C96B88C-D61A-73D9-3614-1EAC1864B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7907" y="2563021"/>
            <a:ext cx="909169" cy="909169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1843838-1C1E-2027-E7A8-C4CFD768D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907" y="5367514"/>
            <a:ext cx="984957" cy="98495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CCDA55C-33BC-21AA-51D1-45F7FF68C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199" y="3776466"/>
            <a:ext cx="1018831" cy="1018831"/>
          </a:xfrm>
          <a:prstGeom prst="rect">
            <a:avLst/>
          </a:prstGeom>
        </p:spPr>
      </p:pic>
      <p:pic>
        <p:nvPicPr>
          <p:cNvPr id="1026" name="Picture 2" descr="方塊K – LYS36 ☀ 筆記僅供參考（有上榜2次）">
            <a:extLst>
              <a:ext uri="{FF2B5EF4-FFF2-40B4-BE49-F238E27FC236}">
                <a16:creationId xmlns:a16="http://schemas.microsoft.com/office/drawing/2014/main" id="{DEAFC541-E9A2-2024-BFEC-802C7EF21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234" y="5216713"/>
            <a:ext cx="909168" cy="128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黑桃A – LYS36 ☀ 筆記僅供參考（有上榜2次）">
            <a:extLst>
              <a:ext uri="{FF2B5EF4-FFF2-40B4-BE49-F238E27FC236}">
                <a16:creationId xmlns:a16="http://schemas.microsoft.com/office/drawing/2014/main" id="{F09E25DD-9609-8501-1D19-6443A9008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233" y="2374325"/>
            <a:ext cx="909169" cy="128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83953E99-4CC7-FFA4-C811-D31E3F1FE886}"/>
              </a:ext>
            </a:extLst>
          </p:cNvPr>
          <p:cNvSpPr/>
          <p:nvPr/>
        </p:nvSpPr>
        <p:spPr>
          <a:xfrm>
            <a:off x="1440034" y="3935959"/>
            <a:ext cx="1582057" cy="784434"/>
          </a:xfrm>
          <a:prstGeom prst="wedgeRoundRectCallout">
            <a:avLst>
              <a:gd name="adj1" fmla="val -35512"/>
              <a:gd name="adj2" fmla="val -9477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I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bet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EADAAC1-E976-3E43-6871-98FB22FD8EAD}"/>
              </a:ext>
            </a:extLst>
          </p:cNvPr>
          <p:cNvSpPr txBox="1"/>
          <p:nvPr/>
        </p:nvSpPr>
        <p:spPr>
          <a:xfrm>
            <a:off x="1380461" y="1862354"/>
            <a:ext cx="258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Discrete Representation </a:t>
            </a:r>
            <a:endParaRPr lang="zh-TW" altLang="en-US" dirty="0"/>
          </a:p>
        </p:txBody>
      </p:sp>
      <p:pic>
        <p:nvPicPr>
          <p:cNvPr id="12" name="內容版面配置區 4">
            <a:extLst>
              <a:ext uri="{FF2B5EF4-FFF2-40B4-BE49-F238E27FC236}">
                <a16:creationId xmlns:a16="http://schemas.microsoft.com/office/drawing/2014/main" id="{3563B8F3-C85F-EDCC-7556-7930730C6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839" y="2563021"/>
            <a:ext cx="909169" cy="90916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91CB92-7D3E-606C-0BB1-50B78CB7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839" y="5367514"/>
            <a:ext cx="984957" cy="984957"/>
          </a:xfrm>
          <a:prstGeom prst="rect">
            <a:avLst/>
          </a:prstGeom>
        </p:spPr>
      </p:pic>
      <p:pic>
        <p:nvPicPr>
          <p:cNvPr id="16" name="Picture 4" descr="黑桃A – LYS36 ☀ 筆記僅供參考（有上榜2次）">
            <a:extLst>
              <a:ext uri="{FF2B5EF4-FFF2-40B4-BE49-F238E27FC236}">
                <a16:creationId xmlns:a16="http://schemas.microsoft.com/office/drawing/2014/main" id="{C428386A-EDB2-DD0F-2BAB-B2FD62C39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207" y="2374325"/>
            <a:ext cx="909169" cy="128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600B993E-9E3A-0275-439E-C1FC702968DE}"/>
              </a:ext>
            </a:extLst>
          </p:cNvPr>
          <p:cNvSpPr/>
          <p:nvPr/>
        </p:nvSpPr>
        <p:spPr>
          <a:xfrm>
            <a:off x="6985593" y="3720409"/>
            <a:ext cx="2743199" cy="1431555"/>
          </a:xfrm>
          <a:prstGeom prst="wedgeRoundRectCallout">
            <a:avLst>
              <a:gd name="adj1" fmla="val -25459"/>
              <a:gd name="adj2" fmla="val -6435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If I have a 2 I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bet 50%.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If I have a 3 I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fold 100%.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…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If I have a A I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bet 100%.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48EEF68-F3D9-291C-C679-79FCDD8E0E6F}"/>
              </a:ext>
            </a:extLst>
          </p:cNvPr>
          <p:cNvSpPr txBox="1"/>
          <p:nvPr/>
        </p:nvSpPr>
        <p:spPr>
          <a:xfrm>
            <a:off x="7303393" y="1862354"/>
            <a:ext cx="258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Belief Representation </a:t>
            </a:r>
            <a:endParaRPr lang="zh-TW" altLang="en-US" dirty="0"/>
          </a:p>
        </p:txBody>
      </p:sp>
      <p:sp>
        <p:nvSpPr>
          <p:cNvPr id="20" name="語音泡泡: 圓角矩形 19">
            <a:extLst>
              <a:ext uri="{FF2B5EF4-FFF2-40B4-BE49-F238E27FC236}">
                <a16:creationId xmlns:a16="http://schemas.microsoft.com/office/drawing/2014/main" id="{FCD5E706-E409-1DFD-14CB-4ADFDF27F8BD}"/>
              </a:ext>
            </a:extLst>
          </p:cNvPr>
          <p:cNvSpPr/>
          <p:nvPr/>
        </p:nvSpPr>
        <p:spPr>
          <a:xfrm>
            <a:off x="10210001" y="5215249"/>
            <a:ext cx="1582057" cy="784434"/>
          </a:xfrm>
          <a:prstGeom prst="wedgeRoundRectCallout">
            <a:avLst>
              <a:gd name="adj1" fmla="val -35512"/>
              <a:gd name="adj2" fmla="val -9477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Player1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bets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169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Converting imperfect information games to continuous-state perfect information games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16</a:t>
            </a:fld>
            <a:endParaRPr kumimoji="1"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C96B88C-D61A-73D9-3614-1EAC1864B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7907" y="2563021"/>
            <a:ext cx="909169" cy="909169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1843838-1C1E-2027-E7A8-C4CFD768D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907" y="5469112"/>
            <a:ext cx="984957" cy="98495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CCDA55C-33BC-21AA-51D1-45F7FF68C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748" y="3991519"/>
            <a:ext cx="1018831" cy="1018831"/>
          </a:xfrm>
          <a:prstGeom prst="rect">
            <a:avLst/>
          </a:prstGeom>
        </p:spPr>
      </p:pic>
      <p:sp>
        <p:nvSpPr>
          <p:cNvPr id="3" name="語音泡泡: 圓角矩形 2">
            <a:extLst>
              <a:ext uri="{FF2B5EF4-FFF2-40B4-BE49-F238E27FC236}">
                <a16:creationId xmlns:a16="http://schemas.microsoft.com/office/drawing/2014/main" id="{76629459-F968-CC14-F22C-CF72A7500AA3}"/>
              </a:ext>
            </a:extLst>
          </p:cNvPr>
          <p:cNvSpPr/>
          <p:nvPr/>
        </p:nvSpPr>
        <p:spPr>
          <a:xfrm>
            <a:off x="928094" y="3785158"/>
            <a:ext cx="2743199" cy="1431555"/>
          </a:xfrm>
          <a:prstGeom prst="wedgeRoundRectCallout">
            <a:avLst>
              <a:gd name="adj1" fmla="val -25459"/>
              <a:gd name="adj2" fmla="val -6435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I bet with my 2.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I fold with my 3.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…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I bet with my 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4DCE73-46EE-C0D1-9002-C32BEA781E04}"/>
                  </a:ext>
                </a:extLst>
              </p:cNvPr>
              <p:cNvSpPr txBox="1"/>
              <p:nvPr/>
            </p:nvSpPr>
            <p:spPr>
              <a:xfrm>
                <a:off x="7242629" y="3870120"/>
                <a:ext cx="4949371" cy="126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𝑓𝑜𝑙𝑑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=0.08=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𝑓𝑜𝑙𝑑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𝑏𝑒𝑡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=0.92=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𝑏𝑒𝑡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4DCE73-46EE-C0D1-9002-C32BEA78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29" y="3870120"/>
                <a:ext cx="4949371" cy="12616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黑桃2 – LYS36 ☀ 筆記僅供參考（有上榜2次）">
            <a:extLst>
              <a:ext uri="{FF2B5EF4-FFF2-40B4-BE49-F238E27FC236}">
                <a16:creationId xmlns:a16="http://schemas.microsoft.com/office/drawing/2014/main" id="{391E3D3A-82AF-B4A8-7D59-A524B5A2D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88" y="2930089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黑桃3 – LYS36 ☀ 筆記僅供參考（有上榜2次）">
            <a:extLst>
              <a:ext uri="{FF2B5EF4-FFF2-40B4-BE49-F238E27FC236}">
                <a16:creationId xmlns:a16="http://schemas.microsoft.com/office/drawing/2014/main" id="{7FC6F958-2404-5B30-B3DF-0520251A4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405" y="2931220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黑桃3 – LYS36 ☀ 筆記僅供參考（有上榜2次）">
            <a:extLst>
              <a:ext uri="{FF2B5EF4-FFF2-40B4-BE49-F238E27FC236}">
                <a16:creationId xmlns:a16="http://schemas.microsoft.com/office/drawing/2014/main" id="{229BB936-F3F0-2A32-A5C9-08E9EF1A6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79" y="2947931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B13B82A-86DB-1C45-E66E-7AC58D5737A8}"/>
                  </a:ext>
                </a:extLst>
              </p:cNvPr>
              <p:cNvSpPr txBox="1"/>
              <p:nvPr/>
            </p:nvSpPr>
            <p:spPr>
              <a:xfrm>
                <a:off x="3382042" y="2429160"/>
                <a:ext cx="1447202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B13B82A-86DB-1C45-E66E-7AC58D573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42" y="2429160"/>
                <a:ext cx="1447202" cy="497059"/>
              </a:xfrm>
              <a:prstGeom prst="rect">
                <a:avLst/>
              </a:prstGeom>
              <a:blipFill>
                <a:blip r:embed="rId10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044FD81-7B3D-6F29-01D0-9BC0FA89BE9C}"/>
                  </a:ext>
                </a:extLst>
              </p:cNvPr>
              <p:cNvSpPr txBox="1"/>
              <p:nvPr/>
            </p:nvSpPr>
            <p:spPr>
              <a:xfrm>
                <a:off x="4445598" y="2429160"/>
                <a:ext cx="1287545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044FD81-7B3D-6F29-01D0-9BC0FA89B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598" y="2429160"/>
                <a:ext cx="1287545" cy="497059"/>
              </a:xfrm>
              <a:prstGeom prst="rect">
                <a:avLst/>
              </a:prstGeom>
              <a:blipFill>
                <a:blip r:embed="rId11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14F56E5-B569-6FE2-1B44-FEC0CD3019FA}"/>
                  </a:ext>
                </a:extLst>
              </p:cNvPr>
              <p:cNvSpPr txBox="1"/>
              <p:nvPr/>
            </p:nvSpPr>
            <p:spPr>
              <a:xfrm>
                <a:off x="5815086" y="2429160"/>
                <a:ext cx="1287545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14F56E5-B569-6FE2-1B44-FEC0CD301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086" y="2429160"/>
                <a:ext cx="1287545" cy="497059"/>
              </a:xfrm>
              <a:prstGeom prst="rect">
                <a:avLst/>
              </a:prstGeom>
              <a:blipFill>
                <a:blip r:embed="rId1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D927BC3B-6033-5130-0455-7879AA53EA36}"/>
              </a:ext>
            </a:extLst>
          </p:cNvPr>
          <p:cNvSpPr txBox="1"/>
          <p:nvPr/>
        </p:nvSpPr>
        <p:spPr>
          <a:xfrm>
            <a:off x="5456800" y="3102858"/>
            <a:ext cx="55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  <p:pic>
        <p:nvPicPr>
          <p:cNvPr id="22" name="Picture 2" descr="黑桃2 – LYS36 ☀ 筆記僅供參考（有上榜2次）">
            <a:extLst>
              <a:ext uri="{FF2B5EF4-FFF2-40B4-BE49-F238E27FC236}">
                <a16:creationId xmlns:a16="http://schemas.microsoft.com/office/drawing/2014/main" id="{FDF2EC91-372E-409C-0EF2-FAF30F0B5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88" y="5474090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黑桃3 – LYS36 ☀ 筆記僅供參考（有上榜2次）">
            <a:extLst>
              <a:ext uri="{FF2B5EF4-FFF2-40B4-BE49-F238E27FC236}">
                <a16:creationId xmlns:a16="http://schemas.microsoft.com/office/drawing/2014/main" id="{F785A848-0A00-E858-D956-6D70A2424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405" y="5475221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黑桃3 – LYS36 ☀ 筆記僅供參考（有上榜2次）">
            <a:extLst>
              <a:ext uri="{FF2B5EF4-FFF2-40B4-BE49-F238E27FC236}">
                <a16:creationId xmlns:a16="http://schemas.microsoft.com/office/drawing/2014/main" id="{4FAB5E9C-735F-67C5-83A2-CB277AFA5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79" y="5491932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FCA4640-4221-3305-B1AF-300D1F2F55F0}"/>
                  </a:ext>
                </a:extLst>
              </p:cNvPr>
              <p:cNvSpPr txBox="1"/>
              <p:nvPr/>
            </p:nvSpPr>
            <p:spPr>
              <a:xfrm>
                <a:off x="3382042" y="4973161"/>
                <a:ext cx="1447202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FCA4640-4221-3305-B1AF-300D1F2F5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42" y="4973161"/>
                <a:ext cx="1447202" cy="497059"/>
              </a:xfrm>
              <a:prstGeom prst="rect">
                <a:avLst/>
              </a:prstGeom>
              <a:blipFill>
                <a:blip r:embed="rId1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AEC98A2F-3504-302A-6FB6-B4ABE28452D7}"/>
                  </a:ext>
                </a:extLst>
              </p:cNvPr>
              <p:cNvSpPr txBox="1"/>
              <p:nvPr/>
            </p:nvSpPr>
            <p:spPr>
              <a:xfrm>
                <a:off x="4445598" y="4973161"/>
                <a:ext cx="1287545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AEC98A2F-3504-302A-6FB6-B4ABE2845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598" y="4973161"/>
                <a:ext cx="1287545" cy="497059"/>
              </a:xfrm>
              <a:prstGeom prst="rect">
                <a:avLst/>
              </a:prstGeom>
              <a:blipFill>
                <a:blip r:embed="rId1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AF1CE74-44A1-E205-B05B-D3257F2DB53D}"/>
                  </a:ext>
                </a:extLst>
              </p:cNvPr>
              <p:cNvSpPr txBox="1"/>
              <p:nvPr/>
            </p:nvSpPr>
            <p:spPr>
              <a:xfrm>
                <a:off x="5815086" y="4973161"/>
                <a:ext cx="1287545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AF1CE74-44A1-E205-B05B-D3257F2DB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086" y="4973161"/>
                <a:ext cx="1287545" cy="497059"/>
              </a:xfrm>
              <a:prstGeom prst="rect">
                <a:avLst/>
              </a:prstGeom>
              <a:blipFill>
                <a:blip r:embed="rId1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90E6D100-4CDC-3104-64D5-91909377EA0D}"/>
              </a:ext>
            </a:extLst>
          </p:cNvPr>
          <p:cNvSpPr txBox="1"/>
          <p:nvPr/>
        </p:nvSpPr>
        <p:spPr>
          <a:xfrm>
            <a:off x="5456800" y="5646859"/>
            <a:ext cx="55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4737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Converting imperfect information games to continuous-state perfect information games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17</a:t>
            </a:fld>
            <a:endParaRPr kumimoji="1"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C96B88C-D61A-73D9-3614-1EAC1864B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7907" y="2563021"/>
            <a:ext cx="909169" cy="909169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1843838-1C1E-2027-E7A8-C4CFD768D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907" y="5469112"/>
            <a:ext cx="984957" cy="98495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CCDA55C-33BC-21AA-51D1-45F7FF68C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748" y="3991519"/>
            <a:ext cx="1018831" cy="1018831"/>
          </a:xfrm>
          <a:prstGeom prst="rect">
            <a:avLst/>
          </a:prstGeom>
        </p:spPr>
      </p:pic>
      <p:sp>
        <p:nvSpPr>
          <p:cNvPr id="3" name="語音泡泡: 圓角矩形 2">
            <a:extLst>
              <a:ext uri="{FF2B5EF4-FFF2-40B4-BE49-F238E27FC236}">
                <a16:creationId xmlns:a16="http://schemas.microsoft.com/office/drawing/2014/main" id="{76629459-F968-CC14-F22C-CF72A7500AA3}"/>
              </a:ext>
            </a:extLst>
          </p:cNvPr>
          <p:cNvSpPr/>
          <p:nvPr/>
        </p:nvSpPr>
        <p:spPr>
          <a:xfrm>
            <a:off x="928094" y="3785158"/>
            <a:ext cx="2743199" cy="1431555"/>
          </a:xfrm>
          <a:prstGeom prst="wedgeRoundRectCallout">
            <a:avLst>
              <a:gd name="adj1" fmla="val -25459"/>
              <a:gd name="adj2" fmla="val -6435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I bet with my 2.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I fold with my 3.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…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I bet with my 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4DCE73-46EE-C0D1-9002-C32BEA781E04}"/>
                  </a:ext>
                </a:extLst>
              </p:cNvPr>
              <p:cNvSpPr txBox="1"/>
              <p:nvPr/>
            </p:nvSpPr>
            <p:spPr>
              <a:xfrm>
                <a:off x="7242629" y="3870120"/>
                <a:ext cx="4949371" cy="126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𝑓𝑜𝑙𝑑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=0.08=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𝑓𝑜𝑙𝑑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𝑏𝑒𝑡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=0.92=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𝑏𝑒𝑡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4DCE73-46EE-C0D1-9002-C32BEA78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629" y="3870120"/>
                <a:ext cx="4949371" cy="12616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黑桃2 – LYS36 ☀ 筆記僅供參考（有上榜2次）">
            <a:extLst>
              <a:ext uri="{FF2B5EF4-FFF2-40B4-BE49-F238E27FC236}">
                <a16:creationId xmlns:a16="http://schemas.microsoft.com/office/drawing/2014/main" id="{391E3D3A-82AF-B4A8-7D59-A524B5A2D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88" y="2930089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黑桃3 – LYS36 ☀ 筆記僅供參考（有上榜2次）">
            <a:extLst>
              <a:ext uri="{FF2B5EF4-FFF2-40B4-BE49-F238E27FC236}">
                <a16:creationId xmlns:a16="http://schemas.microsoft.com/office/drawing/2014/main" id="{7FC6F958-2404-5B30-B3DF-0520251A4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405" y="2931220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黑桃3 – LYS36 ☀ 筆記僅供參考（有上榜2次）">
            <a:extLst>
              <a:ext uri="{FF2B5EF4-FFF2-40B4-BE49-F238E27FC236}">
                <a16:creationId xmlns:a16="http://schemas.microsoft.com/office/drawing/2014/main" id="{229BB936-F3F0-2A32-A5C9-08E9EF1A6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79" y="2947931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B13B82A-86DB-1C45-E66E-7AC58D5737A8}"/>
                  </a:ext>
                </a:extLst>
              </p:cNvPr>
              <p:cNvSpPr txBox="1"/>
              <p:nvPr/>
            </p:nvSpPr>
            <p:spPr>
              <a:xfrm>
                <a:off x="3382042" y="2429160"/>
                <a:ext cx="1447202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B13B82A-86DB-1C45-E66E-7AC58D573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42" y="2429160"/>
                <a:ext cx="1447202" cy="497059"/>
              </a:xfrm>
              <a:prstGeom prst="rect">
                <a:avLst/>
              </a:prstGeom>
              <a:blipFill>
                <a:blip r:embed="rId10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044FD81-7B3D-6F29-01D0-9BC0FA89BE9C}"/>
                  </a:ext>
                </a:extLst>
              </p:cNvPr>
              <p:cNvSpPr txBox="1"/>
              <p:nvPr/>
            </p:nvSpPr>
            <p:spPr>
              <a:xfrm>
                <a:off x="4445598" y="2618442"/>
                <a:ext cx="12875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044FD81-7B3D-6F29-01D0-9BC0FA89B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598" y="2618442"/>
                <a:ext cx="1287545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14F56E5-B569-6FE2-1B44-FEC0CD3019FA}"/>
                  </a:ext>
                </a:extLst>
              </p:cNvPr>
              <p:cNvSpPr txBox="1"/>
              <p:nvPr/>
            </p:nvSpPr>
            <p:spPr>
              <a:xfrm>
                <a:off x="5815086" y="2429160"/>
                <a:ext cx="1287545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14F56E5-B569-6FE2-1B44-FEC0CD301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086" y="2429160"/>
                <a:ext cx="1287545" cy="497059"/>
              </a:xfrm>
              <a:prstGeom prst="rect">
                <a:avLst/>
              </a:prstGeom>
              <a:blipFill>
                <a:blip r:embed="rId1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D927BC3B-6033-5130-0455-7879AA53EA36}"/>
              </a:ext>
            </a:extLst>
          </p:cNvPr>
          <p:cNvSpPr txBox="1"/>
          <p:nvPr/>
        </p:nvSpPr>
        <p:spPr>
          <a:xfrm>
            <a:off x="5456800" y="3102858"/>
            <a:ext cx="55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  <p:pic>
        <p:nvPicPr>
          <p:cNvPr id="22" name="Picture 2" descr="黑桃2 – LYS36 ☀ 筆記僅供參考（有上榜2次）">
            <a:extLst>
              <a:ext uri="{FF2B5EF4-FFF2-40B4-BE49-F238E27FC236}">
                <a16:creationId xmlns:a16="http://schemas.microsoft.com/office/drawing/2014/main" id="{FDF2EC91-372E-409C-0EF2-FAF30F0B5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88" y="5474090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黑桃3 – LYS36 ☀ 筆記僅供參考（有上榜2次）">
            <a:extLst>
              <a:ext uri="{FF2B5EF4-FFF2-40B4-BE49-F238E27FC236}">
                <a16:creationId xmlns:a16="http://schemas.microsoft.com/office/drawing/2014/main" id="{F785A848-0A00-E858-D956-6D70A2424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405" y="5475221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黑桃3 – LYS36 ☀ 筆記僅供參考（有上榜2次）">
            <a:extLst>
              <a:ext uri="{FF2B5EF4-FFF2-40B4-BE49-F238E27FC236}">
                <a16:creationId xmlns:a16="http://schemas.microsoft.com/office/drawing/2014/main" id="{4FAB5E9C-735F-67C5-83A2-CB277AFA5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79" y="5491932"/>
            <a:ext cx="679910" cy="9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FCA4640-4221-3305-B1AF-300D1F2F55F0}"/>
                  </a:ext>
                </a:extLst>
              </p:cNvPr>
              <p:cNvSpPr txBox="1"/>
              <p:nvPr/>
            </p:nvSpPr>
            <p:spPr>
              <a:xfrm>
                <a:off x="3382042" y="4973161"/>
                <a:ext cx="1447202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FCA4640-4221-3305-B1AF-300D1F2F5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42" y="4973161"/>
                <a:ext cx="1447202" cy="497059"/>
              </a:xfrm>
              <a:prstGeom prst="rect">
                <a:avLst/>
              </a:prstGeom>
              <a:blipFill>
                <a:blip r:embed="rId1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AEC98A2F-3504-302A-6FB6-B4ABE28452D7}"/>
                  </a:ext>
                </a:extLst>
              </p:cNvPr>
              <p:cNvSpPr txBox="1"/>
              <p:nvPr/>
            </p:nvSpPr>
            <p:spPr>
              <a:xfrm>
                <a:off x="4445598" y="4973161"/>
                <a:ext cx="1287545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AEC98A2F-3504-302A-6FB6-B4ABE2845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598" y="4973161"/>
                <a:ext cx="1287545" cy="497059"/>
              </a:xfrm>
              <a:prstGeom prst="rect">
                <a:avLst/>
              </a:prstGeom>
              <a:blipFill>
                <a:blip r:embed="rId1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AF1CE74-44A1-E205-B05B-D3257F2DB53D}"/>
                  </a:ext>
                </a:extLst>
              </p:cNvPr>
              <p:cNvSpPr txBox="1"/>
              <p:nvPr/>
            </p:nvSpPr>
            <p:spPr>
              <a:xfrm>
                <a:off x="5815086" y="4973161"/>
                <a:ext cx="1287545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AF1CE74-44A1-E205-B05B-D3257F2DB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086" y="4973161"/>
                <a:ext cx="1287545" cy="497059"/>
              </a:xfrm>
              <a:prstGeom prst="rect">
                <a:avLst/>
              </a:prstGeom>
              <a:blipFill>
                <a:blip r:embed="rId1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90E6D100-4CDC-3104-64D5-91909377EA0D}"/>
              </a:ext>
            </a:extLst>
          </p:cNvPr>
          <p:cNvSpPr txBox="1"/>
          <p:nvPr/>
        </p:nvSpPr>
        <p:spPr>
          <a:xfrm>
            <a:off x="5456800" y="5646859"/>
            <a:ext cx="55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DA969CD-07FE-04F3-1234-9D4CDA86C83D}"/>
              </a:ext>
            </a:extLst>
          </p:cNvPr>
          <p:cNvSpPr/>
          <p:nvPr/>
        </p:nvSpPr>
        <p:spPr>
          <a:xfrm>
            <a:off x="3382042" y="2120590"/>
            <a:ext cx="3555787" cy="4760686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D3AC5E-F8AD-4940-2ED8-5DFDDDE17CA3}"/>
              </a:ext>
            </a:extLst>
          </p:cNvPr>
          <p:cNvSpPr txBox="1"/>
          <p:nvPr/>
        </p:nvSpPr>
        <p:spPr>
          <a:xfrm>
            <a:off x="6564086" y="1852902"/>
            <a:ext cx="204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Public Belief State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83E8ACB-FFD5-7946-5742-736DC26A916B}"/>
              </a:ext>
            </a:extLst>
          </p:cNvPr>
          <p:cNvSpPr/>
          <p:nvPr/>
        </p:nvSpPr>
        <p:spPr>
          <a:xfrm>
            <a:off x="609600" y="3472190"/>
            <a:ext cx="3186641" cy="2019742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52BEE66-969B-B306-F294-6A29D22D22B5}"/>
              </a:ext>
            </a:extLst>
          </p:cNvPr>
          <p:cNvSpPr txBox="1"/>
          <p:nvPr/>
        </p:nvSpPr>
        <p:spPr>
          <a:xfrm>
            <a:off x="206494" y="2823021"/>
            <a:ext cx="1135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>
                    <a:lumMod val="75000"/>
                  </a:schemeClr>
                </a:solidFill>
              </a:rPr>
              <a:t>Public Belief</a:t>
            </a:r>
          </a:p>
          <a:p>
            <a:r>
              <a:rPr lang="en-US" altLang="zh-TW" dirty="0">
                <a:solidFill>
                  <a:schemeClr val="accent4">
                    <a:lumMod val="75000"/>
                  </a:schemeClr>
                </a:solidFill>
              </a:rPr>
              <a:t>Action</a:t>
            </a:r>
            <a:endParaRPr lang="zh-TW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0A9D4E6B-5760-1123-B45B-2C9D83C07F1F}"/>
              </a:ext>
            </a:extLst>
          </p:cNvPr>
          <p:cNvSpPr/>
          <p:nvPr/>
        </p:nvSpPr>
        <p:spPr>
          <a:xfrm>
            <a:off x="7283192" y="5469112"/>
            <a:ext cx="1582057" cy="784434"/>
          </a:xfrm>
          <a:prstGeom prst="wedgeRoundRectCallout">
            <a:avLst>
              <a:gd name="adj1" fmla="val -35512"/>
              <a:gd name="adj2" fmla="val -9477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Player1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bets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298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Properties of Public Belief States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3" y="1825625"/>
            <a:ext cx="1135781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Identical to perfect-information states in perfect-information games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Always have a single unique value (in two player zero-sum games)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Action/state space is continuous and high-dimensional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 -In Texas </a:t>
            </a:r>
            <a:r>
              <a:rPr kumimoji="1" lang="en-US" altLang="zh-TW" dirty="0" err="1"/>
              <a:t>hold’em</a:t>
            </a:r>
            <a:r>
              <a:rPr kumimoji="1" lang="en-US" altLang="zh-TW" dirty="0"/>
              <a:t>, action/state space has thousands of dimensions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But the action space is a </a:t>
            </a:r>
            <a:r>
              <a:rPr kumimoji="1" lang="en-US" altLang="zh-TW" b="1" dirty="0"/>
              <a:t>convex optimization problem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-Can use iterative gradient-descent-like algorithms to find the optimal policy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-Typically use Fictitious Play or Counterfactual Regret Minimization (CFR)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9677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 err="1"/>
              <a:t>ReBeL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307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Whenever an agent acts, generate a subgame and solve it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 Solve using Fictitious Play or CFR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-Take next action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FP/CFR are iterative, so value net must be accurate on every iteration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To ensure proper exploration, we stop FP/CFR on a random iteration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19</a:t>
            </a:fld>
            <a:endParaRPr kumimoji="1" lang="zh-TW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20246E65-9989-31F4-F27D-20069D23DEA0}"/>
              </a:ext>
            </a:extLst>
          </p:cNvPr>
          <p:cNvSpPr/>
          <p:nvPr/>
        </p:nvSpPr>
        <p:spPr>
          <a:xfrm>
            <a:off x="7837148" y="2886994"/>
            <a:ext cx="3469761" cy="299117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47BB3452-A8A5-1969-210C-DB7AA7620414}"/>
              </a:ext>
            </a:extLst>
          </p:cNvPr>
          <p:cNvSpPr/>
          <p:nvPr/>
        </p:nvSpPr>
        <p:spPr>
          <a:xfrm>
            <a:off x="8798577" y="2889725"/>
            <a:ext cx="1546904" cy="1325564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BB3C271-CF6B-3B02-07A0-FD04139D5D6B}"/>
              </a:ext>
            </a:extLst>
          </p:cNvPr>
          <p:cNvSpPr/>
          <p:nvPr/>
        </p:nvSpPr>
        <p:spPr>
          <a:xfrm>
            <a:off x="8826673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60EF1F05-BED3-2DDA-B77E-F68C8FC823CC}"/>
              </a:ext>
            </a:extLst>
          </p:cNvPr>
          <p:cNvSpPr/>
          <p:nvPr/>
        </p:nvSpPr>
        <p:spPr>
          <a:xfrm>
            <a:off x="9245732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FA030EF-0CA2-1CE6-96E5-A943F7FA0E0C}"/>
              </a:ext>
            </a:extLst>
          </p:cNvPr>
          <p:cNvSpPr/>
          <p:nvPr/>
        </p:nvSpPr>
        <p:spPr>
          <a:xfrm>
            <a:off x="9664791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F5B1841-00D2-5216-C497-2B830019867A}"/>
              </a:ext>
            </a:extLst>
          </p:cNvPr>
          <p:cNvSpPr/>
          <p:nvPr/>
        </p:nvSpPr>
        <p:spPr>
          <a:xfrm>
            <a:off x="10083851" y="4058043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33F3934-13A1-25A8-6F6C-325C634B9EB5}"/>
              </a:ext>
            </a:extLst>
          </p:cNvPr>
          <p:cNvSpPr txBox="1"/>
          <p:nvPr/>
        </p:nvSpPr>
        <p:spPr>
          <a:xfrm>
            <a:off x="9158847" y="3209302"/>
            <a:ext cx="858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Solve with FP/CFR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6B53CAE-FB42-D6F3-9C2C-EF2A71B7F27E}"/>
              </a:ext>
            </a:extLst>
          </p:cNvPr>
          <p:cNvCxnSpPr>
            <a:stCxn id="8" idx="4"/>
          </p:cNvCxnSpPr>
          <p:nvPr/>
        </p:nvCxnSpPr>
        <p:spPr>
          <a:xfrm flipH="1">
            <a:off x="8973906" y="4352510"/>
            <a:ext cx="1" cy="84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0D2A617-08EF-7DB6-0629-5531701C83C2}"/>
              </a:ext>
            </a:extLst>
          </p:cNvPr>
          <p:cNvSpPr txBox="1"/>
          <p:nvPr/>
        </p:nvSpPr>
        <p:spPr>
          <a:xfrm>
            <a:off x="8503023" y="5228906"/>
            <a:ext cx="187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Leaf node</a:t>
            </a:r>
            <a:endParaRPr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58B96BF-AB4C-8C5C-D38B-392C9971DF0A}"/>
              </a:ext>
            </a:extLst>
          </p:cNvPr>
          <p:cNvSpPr/>
          <p:nvPr/>
        </p:nvSpPr>
        <p:spPr>
          <a:xfrm>
            <a:off x="9422461" y="2804980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B6061AB-0906-2737-1A06-33E8A5D225B6}"/>
              </a:ext>
            </a:extLst>
          </p:cNvPr>
          <p:cNvCxnSpPr>
            <a:cxnSpLocks/>
            <a:stCxn id="11" idx="7"/>
          </p:cNvCxnSpPr>
          <p:nvPr/>
        </p:nvCxnSpPr>
        <p:spPr>
          <a:xfrm flipV="1">
            <a:off x="9673804" y="2684206"/>
            <a:ext cx="428841" cy="1638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22D8457-369A-89C3-4D60-F3C11C8DCD62}"/>
              </a:ext>
            </a:extLst>
          </p:cNvPr>
          <p:cNvSpPr txBox="1"/>
          <p:nvPr/>
        </p:nvSpPr>
        <p:spPr>
          <a:xfrm>
            <a:off x="9812024" y="2207122"/>
            <a:ext cx="2527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Initial PBS of the game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6452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 err="1"/>
              <a:t>ReBeL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307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TW" dirty="0"/>
              <a:t>Whenever an agent acts, generate a subgame and solve it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 Solve using Fictitious Play or CFR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TW" dirty="0"/>
              <a:t>  -Take next action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Repeat until end of game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Final value is used as a training example for all encountered PBSs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20</a:t>
            </a:fld>
            <a:endParaRPr kumimoji="1" lang="zh-TW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20246E65-9989-31F4-F27D-20069D23DEA0}"/>
              </a:ext>
            </a:extLst>
          </p:cNvPr>
          <p:cNvSpPr/>
          <p:nvPr/>
        </p:nvSpPr>
        <p:spPr>
          <a:xfrm>
            <a:off x="7837148" y="2886994"/>
            <a:ext cx="3469761" cy="299117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BB3C271-CF6B-3B02-07A0-FD04139D5D6B}"/>
              </a:ext>
            </a:extLst>
          </p:cNvPr>
          <p:cNvSpPr/>
          <p:nvPr/>
        </p:nvSpPr>
        <p:spPr>
          <a:xfrm>
            <a:off x="9422461" y="2804980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FDD8B19-285D-D085-BC5E-4999EA7DC7ED}"/>
              </a:ext>
            </a:extLst>
          </p:cNvPr>
          <p:cNvSpPr/>
          <p:nvPr/>
        </p:nvSpPr>
        <p:spPr>
          <a:xfrm>
            <a:off x="9558962" y="3326287"/>
            <a:ext cx="294467" cy="2944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B902B56-62FF-13D5-3BC4-2AE04059786E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9569695" y="3099447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C1F884EC-9BBD-E3F1-CC8D-BACF40440DF5}"/>
              </a:ext>
            </a:extLst>
          </p:cNvPr>
          <p:cNvSpPr/>
          <p:nvPr/>
        </p:nvSpPr>
        <p:spPr>
          <a:xfrm>
            <a:off x="9292555" y="4001286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53861140-E585-8285-5CA5-CE8A8731ECFE}"/>
              </a:ext>
            </a:extLst>
          </p:cNvPr>
          <p:cNvSpPr/>
          <p:nvPr/>
        </p:nvSpPr>
        <p:spPr>
          <a:xfrm>
            <a:off x="9429056" y="4522593"/>
            <a:ext cx="294467" cy="2944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1E5E570-91B6-4B44-8310-35BCA3C8A2FF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>
            <a:off x="9439789" y="4295753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C2A1DE5B-DE06-B269-DAB8-7802FFAFF373}"/>
              </a:ext>
            </a:extLst>
          </p:cNvPr>
          <p:cNvSpPr/>
          <p:nvPr/>
        </p:nvSpPr>
        <p:spPr>
          <a:xfrm>
            <a:off x="9537846" y="5201952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B6D484B-7AC3-E964-1737-B8861826C102}"/>
              </a:ext>
            </a:extLst>
          </p:cNvPr>
          <p:cNvSpPr/>
          <p:nvPr/>
        </p:nvSpPr>
        <p:spPr>
          <a:xfrm>
            <a:off x="9674347" y="5723259"/>
            <a:ext cx="294467" cy="29446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9519A1B-B5DA-6713-9F2C-4DDCF755F1AE}"/>
              </a:ext>
            </a:extLst>
          </p:cNvPr>
          <p:cNvCxnSpPr>
            <a:stCxn id="13" idx="4"/>
            <a:endCxn id="14" idx="0"/>
          </p:cNvCxnSpPr>
          <p:nvPr/>
        </p:nvCxnSpPr>
        <p:spPr>
          <a:xfrm>
            <a:off x="9685080" y="5496419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2D2DC63-A5F5-C66C-3B50-FB7CB8636832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9439789" y="3620754"/>
            <a:ext cx="266407" cy="380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43BCD75D-ABAA-6A6F-409E-20EA3153BAFE}"/>
              </a:ext>
            </a:extLst>
          </p:cNvPr>
          <p:cNvCxnSpPr>
            <a:stCxn id="11" idx="4"/>
            <a:endCxn id="13" idx="0"/>
          </p:cNvCxnSpPr>
          <p:nvPr/>
        </p:nvCxnSpPr>
        <p:spPr>
          <a:xfrm>
            <a:off x="9576290" y="4817060"/>
            <a:ext cx="108790" cy="3848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5721A63-BEB3-E9B9-3668-1C5198F7DAD1}"/>
              </a:ext>
            </a:extLst>
          </p:cNvPr>
          <p:cNvSpPr txBox="1"/>
          <p:nvPr/>
        </p:nvSpPr>
        <p:spPr>
          <a:xfrm>
            <a:off x="9312255" y="605990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Blue wins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200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 err="1"/>
              <a:t>ReBeL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381307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TW" dirty="0"/>
                  <a:t>As with </a:t>
                </a:r>
                <a:r>
                  <a:rPr kumimoji="1" lang="en-US" altLang="zh-TW" dirty="0" err="1"/>
                  <a:t>AlphaZero</a:t>
                </a:r>
                <a:r>
                  <a:rPr kumimoji="1" lang="en-US" altLang="zh-TW" dirty="0"/>
                  <a:t>, </a:t>
                </a:r>
                <a:r>
                  <a:rPr kumimoji="1" lang="en-US" altLang="zh-TW" dirty="0" err="1"/>
                  <a:t>ReBeL</a:t>
                </a:r>
                <a:r>
                  <a:rPr kumimoji="1" lang="en-US" altLang="zh-TW" dirty="0"/>
                  <a:t> chooses a random action with </a:t>
                </a:r>
                <a:r>
                  <a:rPr kumimoji="1" lang="az-Cyrl-AZ" altLang="zh-TW" dirty="0"/>
                  <a:t>є</a:t>
                </a:r>
                <a:r>
                  <a:rPr kumimoji="1" lang="en-US" altLang="zh-TW" dirty="0"/>
                  <a:t> probability to ensure proper exploration</a:t>
                </a:r>
              </a:p>
              <a:p>
                <a:pPr>
                  <a:lnSpc>
                    <a:spcPct val="120000"/>
                  </a:lnSpc>
                </a:pPr>
                <a:r>
                  <a:rPr kumimoji="1" lang="en-US" altLang="zh-TW" dirty="0"/>
                  <a:t>Theorem: With tabular tracking of PBS values, </a:t>
                </a:r>
                <a:r>
                  <a:rPr kumimoji="1" lang="en-US" altLang="zh-TW" dirty="0" err="1"/>
                  <a:t>ReBeL</a:t>
                </a:r>
                <a:r>
                  <a:rPr kumimoji="1" lang="en-US" altLang="zh-TW" dirty="0"/>
                  <a:t> will converge to a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den>
                    </m:f>
                  </m:oMath>
                </a14:m>
                <a:r>
                  <a:rPr kumimoji="1" lang="en-US" altLang="zh-TW" dirty="0"/>
                  <a:t> Nash equilibrium in finite time, where T is the number of CFR iterations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381307" cy="4351338"/>
              </a:xfrm>
              <a:blipFill>
                <a:blip r:embed="rId3"/>
                <a:stretch>
                  <a:fillRect l="-1721" t="-420" r="-3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21</a:t>
            </a:fld>
            <a:endParaRPr kumimoji="1" lang="zh-TW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20246E65-9989-31F4-F27D-20069D23DEA0}"/>
              </a:ext>
            </a:extLst>
          </p:cNvPr>
          <p:cNvSpPr/>
          <p:nvPr/>
        </p:nvSpPr>
        <p:spPr>
          <a:xfrm>
            <a:off x="7837148" y="2886994"/>
            <a:ext cx="3469761" cy="299117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BB3C271-CF6B-3B02-07A0-FD04139D5D6B}"/>
              </a:ext>
            </a:extLst>
          </p:cNvPr>
          <p:cNvSpPr/>
          <p:nvPr/>
        </p:nvSpPr>
        <p:spPr>
          <a:xfrm>
            <a:off x="9422461" y="2804980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FDD8B19-285D-D085-BC5E-4999EA7DC7ED}"/>
              </a:ext>
            </a:extLst>
          </p:cNvPr>
          <p:cNvSpPr/>
          <p:nvPr/>
        </p:nvSpPr>
        <p:spPr>
          <a:xfrm>
            <a:off x="9558962" y="3326287"/>
            <a:ext cx="294467" cy="2944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B902B56-62FF-13D5-3BC4-2AE04059786E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9569695" y="3099447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C1F884EC-9BBD-E3F1-CC8D-BACF40440DF5}"/>
              </a:ext>
            </a:extLst>
          </p:cNvPr>
          <p:cNvSpPr/>
          <p:nvPr/>
        </p:nvSpPr>
        <p:spPr>
          <a:xfrm>
            <a:off x="9292555" y="4001286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53861140-E585-8285-5CA5-CE8A8731ECFE}"/>
              </a:ext>
            </a:extLst>
          </p:cNvPr>
          <p:cNvSpPr/>
          <p:nvPr/>
        </p:nvSpPr>
        <p:spPr>
          <a:xfrm>
            <a:off x="9429056" y="4522593"/>
            <a:ext cx="294467" cy="2944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1E5E570-91B6-4B44-8310-35BCA3C8A2FF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>
            <a:off x="9439789" y="4295753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C2A1DE5B-DE06-B269-DAB8-7802FFAFF373}"/>
              </a:ext>
            </a:extLst>
          </p:cNvPr>
          <p:cNvSpPr/>
          <p:nvPr/>
        </p:nvSpPr>
        <p:spPr>
          <a:xfrm>
            <a:off x="9537846" y="5201952"/>
            <a:ext cx="294467" cy="2944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B6D484B-7AC3-E964-1737-B8861826C102}"/>
              </a:ext>
            </a:extLst>
          </p:cNvPr>
          <p:cNvSpPr/>
          <p:nvPr/>
        </p:nvSpPr>
        <p:spPr>
          <a:xfrm>
            <a:off x="9674347" y="5723259"/>
            <a:ext cx="294467" cy="29446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9519A1B-B5DA-6713-9F2C-4DDCF755F1AE}"/>
              </a:ext>
            </a:extLst>
          </p:cNvPr>
          <p:cNvCxnSpPr>
            <a:stCxn id="13" idx="4"/>
            <a:endCxn id="14" idx="0"/>
          </p:cNvCxnSpPr>
          <p:nvPr/>
        </p:nvCxnSpPr>
        <p:spPr>
          <a:xfrm>
            <a:off x="9685080" y="5496419"/>
            <a:ext cx="136501" cy="22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2D2DC63-A5F5-C66C-3B50-FB7CB8636832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9439789" y="3620754"/>
            <a:ext cx="266407" cy="380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43BCD75D-ABAA-6A6F-409E-20EA3153BAFE}"/>
              </a:ext>
            </a:extLst>
          </p:cNvPr>
          <p:cNvCxnSpPr>
            <a:stCxn id="11" idx="4"/>
            <a:endCxn id="13" idx="0"/>
          </p:cNvCxnSpPr>
          <p:nvPr/>
        </p:nvCxnSpPr>
        <p:spPr>
          <a:xfrm>
            <a:off x="9576290" y="4817060"/>
            <a:ext cx="108790" cy="3848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5721A63-BEB3-E9B9-3668-1C5198F7DAD1}"/>
              </a:ext>
            </a:extLst>
          </p:cNvPr>
          <p:cNvSpPr txBox="1"/>
          <p:nvPr/>
        </p:nvSpPr>
        <p:spPr>
          <a:xfrm>
            <a:off x="9312255" y="605990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Blue wins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82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Playing Nash at Test Time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22</a:t>
            </a:fld>
            <a:endParaRPr kumimoji="1" lang="zh-TW" altLang="en-US" dirty="0"/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21C6B7E9-E750-BEB4-A267-775CB7582BC7}"/>
              </a:ext>
            </a:extLst>
          </p:cNvPr>
          <p:cNvGrpSpPr/>
          <p:nvPr/>
        </p:nvGrpSpPr>
        <p:grpSpPr>
          <a:xfrm>
            <a:off x="219855" y="2504588"/>
            <a:ext cx="5999639" cy="2944268"/>
            <a:chOff x="84426" y="1945757"/>
            <a:chExt cx="5999639" cy="2944268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2A5EC229-0F67-BA01-7538-DF061C2AAEA1}"/>
                </a:ext>
              </a:extLst>
            </p:cNvPr>
            <p:cNvSpPr/>
            <p:nvPr/>
          </p:nvSpPr>
          <p:spPr>
            <a:xfrm>
              <a:off x="2615608" y="1945757"/>
              <a:ext cx="712382" cy="712382"/>
            </a:xfrm>
            <a:prstGeom prst="ellipse">
              <a:avLst/>
            </a:prstGeom>
            <a:solidFill>
              <a:srgbClr val="0069C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1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CA2D1E5A-3B60-C6D0-F20E-9AAF149F2F56}"/>
                </a:ext>
              </a:extLst>
            </p:cNvPr>
            <p:cNvSpPr/>
            <p:nvPr/>
          </p:nvSpPr>
          <p:spPr>
            <a:xfrm>
              <a:off x="482009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9D823D98-1E0D-7234-75C2-A512AC05EF0D}"/>
                </a:ext>
              </a:extLst>
            </p:cNvPr>
            <p:cNvSpPr/>
            <p:nvPr/>
          </p:nvSpPr>
          <p:spPr>
            <a:xfrm>
              <a:off x="2615608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F21ECB37-6ADC-8AC4-AFB3-3901CF951E88}"/>
                </a:ext>
              </a:extLst>
            </p:cNvPr>
            <p:cNvSpPr/>
            <p:nvPr/>
          </p:nvSpPr>
          <p:spPr>
            <a:xfrm>
              <a:off x="4823634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A74F959B-D62A-7442-7BF0-A1E14967D6B2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3327990" y="3576139"/>
              <a:ext cx="14956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F9ECBC22-2ACA-FF49-55CF-083E6C60FDEA}"/>
                </a:ext>
              </a:extLst>
            </p:cNvPr>
            <p:cNvCxnSpPr>
              <a:stCxn id="20" idx="2"/>
              <a:endCxn id="17" idx="6"/>
            </p:cNvCxnSpPr>
            <p:nvPr/>
          </p:nvCxnSpPr>
          <p:spPr>
            <a:xfrm flipH="1">
              <a:off x="1194391" y="3576139"/>
              <a:ext cx="142121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C47B5CD2-641A-C239-B86E-607C56C889DF}"/>
                </a:ext>
              </a:extLst>
            </p:cNvPr>
            <p:cNvCxnSpPr>
              <a:stCxn id="16" idx="3"/>
              <a:endCxn id="17" idx="7"/>
            </p:cNvCxnSpPr>
            <p:nvPr/>
          </p:nvCxnSpPr>
          <p:spPr>
            <a:xfrm flipH="1">
              <a:off x="1090065" y="2553813"/>
              <a:ext cx="1629869" cy="770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466C2676-9992-A11B-5CB2-D51E7344F886}"/>
                </a:ext>
              </a:extLst>
            </p:cNvPr>
            <p:cNvCxnSpPr>
              <a:cxnSpLocks/>
              <a:stCxn id="16" idx="4"/>
              <a:endCxn id="20" idx="0"/>
            </p:cNvCxnSpPr>
            <p:nvPr/>
          </p:nvCxnSpPr>
          <p:spPr>
            <a:xfrm>
              <a:off x="2971799" y="2658139"/>
              <a:ext cx="0" cy="56180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BF8D2DC9-B550-C792-E75B-B5AF11EC23A9}"/>
                </a:ext>
              </a:extLst>
            </p:cNvPr>
            <p:cNvCxnSpPr>
              <a:stCxn id="16" idx="5"/>
              <a:endCxn id="21" idx="1"/>
            </p:cNvCxnSpPr>
            <p:nvPr/>
          </p:nvCxnSpPr>
          <p:spPr>
            <a:xfrm>
              <a:off x="3223664" y="2553813"/>
              <a:ext cx="1704296" cy="770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0A557EC1-E24D-DCB3-41CF-EDCEE03D3B2A}"/>
                </a:ext>
              </a:extLst>
            </p:cNvPr>
            <p:cNvSpPr txBox="1"/>
            <p:nvPr/>
          </p:nvSpPr>
          <p:spPr>
            <a:xfrm rot="19739989">
              <a:off x="1703931" y="2376499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Rock</a:t>
              </a:r>
              <a:endParaRPr lang="zh-TW" altLang="en-US" dirty="0"/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9EB00456-7BE1-59E4-EB79-C07A8D4501D1}"/>
                </a:ext>
              </a:extLst>
            </p:cNvPr>
            <p:cNvSpPr txBox="1"/>
            <p:nvPr/>
          </p:nvSpPr>
          <p:spPr>
            <a:xfrm rot="1715645">
              <a:off x="3469059" y="2586586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Scissors</a:t>
              </a:r>
              <a:endParaRPr lang="zh-TW" altLang="en-US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64E83A5C-3E8B-9AB4-42F8-F3B610CFACD5}"/>
                </a:ext>
              </a:extLst>
            </p:cNvPr>
            <p:cNvSpPr txBox="1"/>
            <p:nvPr/>
          </p:nvSpPr>
          <p:spPr>
            <a:xfrm rot="5400000">
              <a:off x="2547754" y="2966346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Paper</a:t>
              </a:r>
              <a:endParaRPr lang="zh-TW" altLang="en-US" dirty="0"/>
            </a:p>
          </p:txBody>
        </p:sp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40136E67-6CB2-CF33-3284-BC65EC644357}"/>
                </a:ext>
              </a:extLst>
            </p:cNvPr>
            <p:cNvGrpSpPr/>
            <p:nvPr/>
          </p:nvGrpSpPr>
          <p:grpSpPr>
            <a:xfrm>
              <a:off x="124229" y="3518527"/>
              <a:ext cx="1545231" cy="1310073"/>
              <a:chOff x="124229" y="3518527"/>
              <a:chExt cx="1545231" cy="1310073"/>
            </a:xfrm>
          </p:grpSpPr>
          <p:cxnSp>
            <p:nvCxnSpPr>
              <p:cNvPr id="43" name="直線單箭頭接點 42">
                <a:extLst>
                  <a:ext uri="{FF2B5EF4-FFF2-40B4-BE49-F238E27FC236}">
                    <a16:creationId xmlns:a16="http://schemas.microsoft.com/office/drawing/2014/main" id="{D0566A79-8054-41A8-B86C-496B48E4D314}"/>
                  </a:ext>
                </a:extLst>
              </p:cNvPr>
              <p:cNvCxnSpPr>
                <a:stCxn id="17" idx="4"/>
              </p:cNvCxnSpPr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單箭頭接點 46">
                <a:extLst>
                  <a:ext uri="{FF2B5EF4-FFF2-40B4-BE49-F238E27FC236}">
                    <a16:creationId xmlns:a16="http://schemas.microsoft.com/office/drawing/2014/main" id="{1E293697-8AEA-F382-A284-0F59F37B709F}"/>
                  </a:ext>
                </a:extLst>
              </p:cNvPr>
              <p:cNvCxnSpPr>
                <a:stCxn id="17" idx="3"/>
              </p:cNvCxnSpPr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單箭頭接點 48">
                <a:extLst>
                  <a:ext uri="{FF2B5EF4-FFF2-40B4-BE49-F238E27FC236}">
                    <a16:creationId xmlns:a16="http://schemas.microsoft.com/office/drawing/2014/main" id="{6938E19D-AADC-E4DF-8D40-624545C28F07}"/>
                  </a:ext>
                </a:extLst>
              </p:cNvPr>
              <p:cNvCxnSpPr>
                <a:stCxn id="17" idx="5"/>
              </p:cNvCxnSpPr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85A6EF88-0D31-976E-2F19-2D07126A3B3F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A31E2782-6A8C-EBDC-675A-4363446EC4C5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907FBFA1-A59A-7A3E-6F1D-46806FD4C1E7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FCE14479-36B8-F9D3-2AEA-3917EFA2745E}"/>
                </a:ext>
              </a:extLst>
            </p:cNvPr>
            <p:cNvGrpSpPr/>
            <p:nvPr/>
          </p:nvGrpSpPr>
          <p:grpSpPr>
            <a:xfrm>
              <a:off x="2256431" y="3511710"/>
              <a:ext cx="1545231" cy="1310073"/>
              <a:chOff x="124229" y="3518527"/>
              <a:chExt cx="1545231" cy="1310073"/>
            </a:xfrm>
          </p:grpSpPr>
          <p:cxnSp>
            <p:nvCxnSpPr>
              <p:cNvPr id="68" name="直線單箭頭接點 67">
                <a:extLst>
                  <a:ext uri="{FF2B5EF4-FFF2-40B4-BE49-F238E27FC236}">
                    <a16:creationId xmlns:a16="http://schemas.microsoft.com/office/drawing/2014/main" id="{7976E17C-2A9F-B129-2CFE-790B96FFDD66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>
                <a:extLst>
                  <a:ext uri="{FF2B5EF4-FFF2-40B4-BE49-F238E27FC236}">
                    <a16:creationId xmlns:a16="http://schemas.microsoft.com/office/drawing/2014/main" id="{4705E117-B51E-4654-66F3-AF123CED211B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>
                <a:extLst>
                  <a:ext uri="{FF2B5EF4-FFF2-40B4-BE49-F238E27FC236}">
                    <a16:creationId xmlns:a16="http://schemas.microsoft.com/office/drawing/2014/main" id="{D33AD976-0AD3-0DAF-EBB7-221F9800A03A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680F4E28-776B-446E-479E-63FC5DF7637A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B59F81E2-A502-045D-C54C-42966FABF275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B9F4D446-D0CC-99C3-DE62-EE78A7596AC5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3AEBD690-174A-A9DC-DB66-ED168B3E59ED}"/>
                </a:ext>
              </a:extLst>
            </p:cNvPr>
            <p:cNvGrpSpPr/>
            <p:nvPr/>
          </p:nvGrpSpPr>
          <p:grpSpPr>
            <a:xfrm>
              <a:off x="4444158" y="3519664"/>
              <a:ext cx="1545231" cy="1310073"/>
              <a:chOff x="124229" y="3518527"/>
              <a:chExt cx="1545231" cy="1310073"/>
            </a:xfrm>
          </p:grpSpPr>
          <p:cxnSp>
            <p:nvCxnSpPr>
              <p:cNvPr id="75" name="直線單箭頭接點 74">
                <a:extLst>
                  <a:ext uri="{FF2B5EF4-FFF2-40B4-BE49-F238E27FC236}">
                    <a16:creationId xmlns:a16="http://schemas.microsoft.com/office/drawing/2014/main" id="{EAC6E7D8-3088-8839-8EAC-D5168213627B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單箭頭接點 75">
                <a:extLst>
                  <a:ext uri="{FF2B5EF4-FFF2-40B4-BE49-F238E27FC236}">
                    <a16:creationId xmlns:a16="http://schemas.microsoft.com/office/drawing/2014/main" id="{D05AF52E-F476-1C1D-8C3B-A8E4A353C34B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單箭頭接點 76">
                <a:extLst>
                  <a:ext uri="{FF2B5EF4-FFF2-40B4-BE49-F238E27FC236}">
                    <a16:creationId xmlns:a16="http://schemas.microsoft.com/office/drawing/2014/main" id="{5D7B6A69-172F-9B70-4513-554E331FD409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75B882C8-954C-DC7A-EDC0-847F82C94DE4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6BDBB1F9-8D48-349F-466F-42B14833D06E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5E3B994-D600-BD12-88D4-B979538DD7DD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BA4DE825-2AEC-72EE-882B-69386A0D628C}"/>
                </a:ext>
              </a:extLst>
            </p:cNvPr>
            <p:cNvSpPr txBox="1"/>
            <p:nvPr/>
          </p:nvSpPr>
          <p:spPr>
            <a:xfrm>
              <a:off x="84426" y="4491217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0DAD09C0-A229-F82C-B619-B24428815248}"/>
                </a:ext>
              </a:extLst>
            </p:cNvPr>
            <p:cNvSpPr txBox="1"/>
            <p:nvPr/>
          </p:nvSpPr>
          <p:spPr>
            <a:xfrm>
              <a:off x="582521" y="449121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-1</a:t>
              </a:r>
              <a:endParaRPr lang="zh-TW" altLang="en-US" dirty="0"/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2F641288-94B0-7B7B-9473-EF0E15E05778}"/>
                </a:ext>
              </a:extLst>
            </p:cNvPr>
            <p:cNvSpPr txBox="1"/>
            <p:nvPr/>
          </p:nvSpPr>
          <p:spPr>
            <a:xfrm>
              <a:off x="1217907" y="450585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14B344E6-4534-988B-80D9-490B227FB870}"/>
                </a:ext>
              </a:extLst>
            </p:cNvPr>
            <p:cNvSpPr txBox="1"/>
            <p:nvPr/>
          </p:nvSpPr>
          <p:spPr>
            <a:xfrm>
              <a:off x="2232391" y="4489816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015F1DE7-67A8-D8B3-EDA0-FF3678EE94E0}"/>
                </a:ext>
              </a:extLst>
            </p:cNvPr>
            <p:cNvSpPr txBox="1"/>
            <p:nvPr/>
          </p:nvSpPr>
          <p:spPr>
            <a:xfrm>
              <a:off x="2807486" y="448981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6FA29A0B-5AF5-C304-1EA6-9EECE56A2539}"/>
                </a:ext>
              </a:extLst>
            </p:cNvPr>
            <p:cNvSpPr txBox="1"/>
            <p:nvPr/>
          </p:nvSpPr>
          <p:spPr>
            <a:xfrm>
              <a:off x="3336997" y="450445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7B685AE9-85B1-D894-E074-4E956FEA70B8}"/>
                </a:ext>
              </a:extLst>
            </p:cNvPr>
            <p:cNvSpPr txBox="1"/>
            <p:nvPr/>
          </p:nvSpPr>
          <p:spPr>
            <a:xfrm>
              <a:off x="4366081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492CEAAA-9A59-3DFC-AAF7-71AB3636849B}"/>
                </a:ext>
              </a:extLst>
            </p:cNvPr>
            <p:cNvSpPr txBox="1"/>
            <p:nvPr/>
          </p:nvSpPr>
          <p:spPr>
            <a:xfrm>
              <a:off x="5001289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957833BF-DF78-D226-04B3-2C41B7BAA75E}"/>
                </a:ext>
              </a:extLst>
            </p:cNvPr>
            <p:cNvSpPr txBox="1"/>
            <p:nvPr/>
          </p:nvSpPr>
          <p:spPr>
            <a:xfrm>
              <a:off x="5559675" y="452069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47907E32-E818-28DB-5602-22898F23EA98}"/>
                </a:ext>
              </a:extLst>
            </p:cNvPr>
            <p:cNvSpPr txBox="1"/>
            <p:nvPr/>
          </p:nvSpPr>
          <p:spPr>
            <a:xfrm>
              <a:off x="380011" y="2929542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0.401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CD3EBD69-90D8-5063-5815-C2241B8F100F}"/>
                </a:ext>
              </a:extLst>
            </p:cNvPr>
            <p:cNvSpPr txBox="1"/>
            <p:nvPr/>
          </p:nvSpPr>
          <p:spPr>
            <a:xfrm>
              <a:off x="2216773" y="2914537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D6B50FAE-DED4-17EC-C4F6-4ECEFC796E81}"/>
                </a:ext>
              </a:extLst>
            </p:cNvPr>
            <p:cNvSpPr txBox="1"/>
            <p:nvPr/>
          </p:nvSpPr>
          <p:spPr>
            <a:xfrm>
              <a:off x="4668068" y="2923410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0.199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22DE83D5-CF6B-7E2A-691A-301378F62EEA}"/>
              </a:ext>
            </a:extLst>
          </p:cNvPr>
          <p:cNvGrpSpPr/>
          <p:nvPr/>
        </p:nvGrpSpPr>
        <p:grpSpPr>
          <a:xfrm>
            <a:off x="6190757" y="3443892"/>
            <a:ext cx="5999639" cy="1975488"/>
            <a:chOff x="84426" y="2914537"/>
            <a:chExt cx="5999639" cy="1975488"/>
          </a:xfrm>
        </p:grpSpPr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B1EC5388-B917-84DD-130F-D162D1F51D2F}"/>
                </a:ext>
              </a:extLst>
            </p:cNvPr>
            <p:cNvSpPr/>
            <p:nvPr/>
          </p:nvSpPr>
          <p:spPr>
            <a:xfrm>
              <a:off x="482009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63EF8460-BE7F-B519-00BC-AD8BA245FCDE}"/>
                </a:ext>
              </a:extLst>
            </p:cNvPr>
            <p:cNvSpPr/>
            <p:nvPr/>
          </p:nvSpPr>
          <p:spPr>
            <a:xfrm>
              <a:off x="2615608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95C59083-35D3-F228-51F0-9EC017F5F9FA}"/>
                </a:ext>
              </a:extLst>
            </p:cNvPr>
            <p:cNvSpPr/>
            <p:nvPr/>
          </p:nvSpPr>
          <p:spPr>
            <a:xfrm>
              <a:off x="4823634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99" name="直線接點 98">
              <a:extLst>
                <a:ext uri="{FF2B5EF4-FFF2-40B4-BE49-F238E27FC236}">
                  <a16:creationId xmlns:a16="http://schemas.microsoft.com/office/drawing/2014/main" id="{A80C8780-934D-0159-EB84-86EE05CDDA9D}"/>
                </a:ext>
              </a:extLst>
            </p:cNvPr>
            <p:cNvCxnSpPr>
              <a:cxnSpLocks/>
              <a:stCxn id="97" idx="6"/>
              <a:endCxn id="98" idx="2"/>
            </p:cNvCxnSpPr>
            <p:nvPr/>
          </p:nvCxnSpPr>
          <p:spPr>
            <a:xfrm>
              <a:off x="3327990" y="3576139"/>
              <a:ext cx="14956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A7BEA8BA-DADB-4949-1286-BE05FBB21128}"/>
                </a:ext>
              </a:extLst>
            </p:cNvPr>
            <p:cNvCxnSpPr>
              <a:stCxn id="97" idx="2"/>
              <a:endCxn id="96" idx="6"/>
            </p:cNvCxnSpPr>
            <p:nvPr/>
          </p:nvCxnSpPr>
          <p:spPr>
            <a:xfrm flipH="1">
              <a:off x="1194391" y="3576139"/>
              <a:ext cx="142121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群組 106">
              <a:extLst>
                <a:ext uri="{FF2B5EF4-FFF2-40B4-BE49-F238E27FC236}">
                  <a16:creationId xmlns:a16="http://schemas.microsoft.com/office/drawing/2014/main" id="{DD4488FD-451F-0D9F-5804-1A40DE48A431}"/>
                </a:ext>
              </a:extLst>
            </p:cNvPr>
            <p:cNvGrpSpPr/>
            <p:nvPr/>
          </p:nvGrpSpPr>
          <p:grpSpPr>
            <a:xfrm>
              <a:off x="124229" y="3518527"/>
              <a:ext cx="1545231" cy="1310073"/>
              <a:chOff x="124229" y="3518527"/>
              <a:chExt cx="1545231" cy="1310073"/>
            </a:xfrm>
          </p:grpSpPr>
          <p:cxnSp>
            <p:nvCxnSpPr>
              <p:cNvPr id="134" name="直線單箭頭接點 133">
                <a:extLst>
                  <a:ext uri="{FF2B5EF4-FFF2-40B4-BE49-F238E27FC236}">
                    <a16:creationId xmlns:a16="http://schemas.microsoft.com/office/drawing/2014/main" id="{3CE5263C-E65E-FD77-3B27-F822A32DDEB1}"/>
                  </a:ext>
                </a:extLst>
              </p:cNvPr>
              <p:cNvCxnSpPr>
                <a:stCxn id="96" idx="4"/>
              </p:cNvCxnSpPr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單箭頭接點 134">
                <a:extLst>
                  <a:ext uri="{FF2B5EF4-FFF2-40B4-BE49-F238E27FC236}">
                    <a16:creationId xmlns:a16="http://schemas.microsoft.com/office/drawing/2014/main" id="{AE285312-0AD8-1063-6066-B7CB34EDB028}"/>
                  </a:ext>
                </a:extLst>
              </p:cNvPr>
              <p:cNvCxnSpPr>
                <a:stCxn id="96" idx="3"/>
              </p:cNvCxnSpPr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單箭頭接點 135">
                <a:extLst>
                  <a:ext uri="{FF2B5EF4-FFF2-40B4-BE49-F238E27FC236}">
                    <a16:creationId xmlns:a16="http://schemas.microsoft.com/office/drawing/2014/main" id="{FB85A2E9-AC74-C6DA-3668-B3D6CE48C1AA}"/>
                  </a:ext>
                </a:extLst>
              </p:cNvPr>
              <p:cNvCxnSpPr>
                <a:stCxn id="96" idx="5"/>
              </p:cNvCxnSpPr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19DA3438-C53B-BD05-23D9-9DAC2B45F98C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BA3A8981-D9E2-D18F-CFEE-587C4DBA8262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</p:grpSp>
        <p:grpSp>
          <p:nvGrpSpPr>
            <p:cNvPr id="108" name="群組 107">
              <a:extLst>
                <a:ext uri="{FF2B5EF4-FFF2-40B4-BE49-F238E27FC236}">
                  <a16:creationId xmlns:a16="http://schemas.microsoft.com/office/drawing/2014/main" id="{E4759D39-AE87-99C1-8E9E-7D5361328DB3}"/>
                </a:ext>
              </a:extLst>
            </p:cNvPr>
            <p:cNvGrpSpPr/>
            <p:nvPr/>
          </p:nvGrpSpPr>
          <p:grpSpPr>
            <a:xfrm>
              <a:off x="2256431" y="3511710"/>
              <a:ext cx="1545231" cy="1310073"/>
              <a:chOff x="124229" y="3518527"/>
              <a:chExt cx="1545231" cy="1310073"/>
            </a:xfrm>
          </p:grpSpPr>
          <p:cxnSp>
            <p:nvCxnSpPr>
              <p:cNvPr id="128" name="直線單箭頭接點 127">
                <a:extLst>
                  <a:ext uri="{FF2B5EF4-FFF2-40B4-BE49-F238E27FC236}">
                    <a16:creationId xmlns:a16="http://schemas.microsoft.com/office/drawing/2014/main" id="{B06940C6-AFB6-8819-94C1-634CE449C2FA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線單箭頭接點 128">
                <a:extLst>
                  <a:ext uri="{FF2B5EF4-FFF2-40B4-BE49-F238E27FC236}">
                    <a16:creationId xmlns:a16="http://schemas.microsoft.com/office/drawing/2014/main" id="{211474CA-BB78-092D-3520-9ECCF5E604EC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單箭頭接點 129">
                <a:extLst>
                  <a:ext uri="{FF2B5EF4-FFF2-40B4-BE49-F238E27FC236}">
                    <a16:creationId xmlns:a16="http://schemas.microsoft.com/office/drawing/2014/main" id="{9131E22D-07DB-0490-E6C0-BB629C9E1BF5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77D5302A-C09C-6C67-5ACA-6D6CFBAAA50F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743CB71-039E-DCC4-DF55-243BCBDA3322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</p:grpSp>
        <p:grpSp>
          <p:nvGrpSpPr>
            <p:cNvPr id="109" name="群組 108">
              <a:extLst>
                <a:ext uri="{FF2B5EF4-FFF2-40B4-BE49-F238E27FC236}">
                  <a16:creationId xmlns:a16="http://schemas.microsoft.com/office/drawing/2014/main" id="{6DA09CEF-0978-2EB4-F220-FB54B46EAA1B}"/>
                </a:ext>
              </a:extLst>
            </p:cNvPr>
            <p:cNvGrpSpPr/>
            <p:nvPr/>
          </p:nvGrpSpPr>
          <p:grpSpPr>
            <a:xfrm>
              <a:off x="4444158" y="3519664"/>
              <a:ext cx="1545231" cy="1310073"/>
              <a:chOff x="124229" y="3518527"/>
              <a:chExt cx="1545231" cy="1310073"/>
            </a:xfrm>
          </p:grpSpPr>
          <p:cxnSp>
            <p:nvCxnSpPr>
              <p:cNvPr id="122" name="直線單箭頭接點 121">
                <a:extLst>
                  <a:ext uri="{FF2B5EF4-FFF2-40B4-BE49-F238E27FC236}">
                    <a16:creationId xmlns:a16="http://schemas.microsoft.com/office/drawing/2014/main" id="{03658785-18B1-61B1-F36A-D28074E26828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單箭頭接點 122">
                <a:extLst>
                  <a:ext uri="{FF2B5EF4-FFF2-40B4-BE49-F238E27FC236}">
                    <a16:creationId xmlns:a16="http://schemas.microsoft.com/office/drawing/2014/main" id="{7BFB2B8D-BE3A-109F-CE06-94F3C552132F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單箭頭接點 123">
                <a:extLst>
                  <a:ext uri="{FF2B5EF4-FFF2-40B4-BE49-F238E27FC236}">
                    <a16:creationId xmlns:a16="http://schemas.microsoft.com/office/drawing/2014/main" id="{3D60CF78-2891-5915-5CC8-457492E9D61C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5FEFC846-754F-7B32-8DDD-37F602BDFE7B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DA97F967-1B70-1DF2-AFDC-2B527AD3AF59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</p:grp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5B9C6121-862D-3A46-7616-3DCA3D328985}"/>
                </a:ext>
              </a:extLst>
            </p:cNvPr>
            <p:cNvSpPr txBox="1"/>
            <p:nvPr/>
          </p:nvSpPr>
          <p:spPr>
            <a:xfrm>
              <a:off x="84426" y="4491217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560673D6-1AED-EE3C-7993-0A321A34F991}"/>
                </a:ext>
              </a:extLst>
            </p:cNvPr>
            <p:cNvSpPr txBox="1"/>
            <p:nvPr/>
          </p:nvSpPr>
          <p:spPr>
            <a:xfrm>
              <a:off x="582521" y="449121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-1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AA4AE367-AC9F-2757-2CAB-76548C2177B0}"/>
                </a:ext>
              </a:extLst>
            </p:cNvPr>
            <p:cNvSpPr txBox="1"/>
            <p:nvPr/>
          </p:nvSpPr>
          <p:spPr>
            <a:xfrm>
              <a:off x="1217907" y="450585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04EA17BC-A3AF-0E42-BFF3-45D951F792C8}"/>
                </a:ext>
              </a:extLst>
            </p:cNvPr>
            <p:cNvSpPr txBox="1"/>
            <p:nvPr/>
          </p:nvSpPr>
          <p:spPr>
            <a:xfrm>
              <a:off x="2232391" y="4489816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80DE4CD3-8F66-8719-F4B1-1B346B17DECB}"/>
                </a:ext>
              </a:extLst>
            </p:cNvPr>
            <p:cNvSpPr txBox="1"/>
            <p:nvPr/>
          </p:nvSpPr>
          <p:spPr>
            <a:xfrm>
              <a:off x="2807486" y="448981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0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E8293269-7972-25C3-2A51-A30918BDBF57}"/>
                </a:ext>
              </a:extLst>
            </p:cNvPr>
            <p:cNvSpPr txBox="1"/>
            <p:nvPr/>
          </p:nvSpPr>
          <p:spPr>
            <a:xfrm>
              <a:off x="3336997" y="450445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CB5AE367-A0F3-EDBF-74FA-C8BAD06452AA}"/>
                </a:ext>
              </a:extLst>
            </p:cNvPr>
            <p:cNvSpPr txBox="1"/>
            <p:nvPr/>
          </p:nvSpPr>
          <p:spPr>
            <a:xfrm>
              <a:off x="4366081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33F057A4-79B1-8653-DD76-B0F4A7AFB926}"/>
                </a:ext>
              </a:extLst>
            </p:cNvPr>
            <p:cNvSpPr txBox="1"/>
            <p:nvPr/>
          </p:nvSpPr>
          <p:spPr>
            <a:xfrm>
              <a:off x="5001289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2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8" name="文字方塊 117">
              <a:extLst>
                <a:ext uri="{FF2B5EF4-FFF2-40B4-BE49-F238E27FC236}">
                  <a16:creationId xmlns:a16="http://schemas.microsoft.com/office/drawing/2014/main" id="{EA105B11-7DFD-0C68-A4E2-4B5AF7D9992F}"/>
                </a:ext>
              </a:extLst>
            </p:cNvPr>
            <p:cNvSpPr txBox="1"/>
            <p:nvPr/>
          </p:nvSpPr>
          <p:spPr>
            <a:xfrm>
              <a:off x="5559675" y="452069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BB94D73E-E516-878E-E5F9-F1EC2BF4864B}"/>
                </a:ext>
              </a:extLst>
            </p:cNvPr>
            <p:cNvSpPr txBox="1"/>
            <p:nvPr/>
          </p:nvSpPr>
          <p:spPr>
            <a:xfrm>
              <a:off x="380011" y="2929542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0.401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782E054A-C1AE-C344-856A-497866655D91}"/>
                </a:ext>
              </a:extLst>
            </p:cNvPr>
            <p:cNvSpPr txBox="1"/>
            <p:nvPr/>
          </p:nvSpPr>
          <p:spPr>
            <a:xfrm>
              <a:off x="2521573" y="2914537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21" name="文字方塊 120">
              <a:extLst>
                <a:ext uri="{FF2B5EF4-FFF2-40B4-BE49-F238E27FC236}">
                  <a16:creationId xmlns:a16="http://schemas.microsoft.com/office/drawing/2014/main" id="{BFE825FE-EAFA-7AEB-88D8-E63FE679D149}"/>
                </a:ext>
              </a:extLst>
            </p:cNvPr>
            <p:cNvSpPr txBox="1"/>
            <p:nvPr/>
          </p:nvSpPr>
          <p:spPr>
            <a:xfrm>
              <a:off x="4668068" y="2923410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0.199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302D679E-C9A8-8C17-4AD0-C5BB64973BE3}"/>
              </a:ext>
            </a:extLst>
          </p:cNvPr>
          <p:cNvSpPr txBox="1"/>
          <p:nvPr/>
        </p:nvSpPr>
        <p:spPr>
          <a:xfrm rot="5400000">
            <a:off x="6645687" y="4596064"/>
            <a:ext cx="84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Paper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BF54905B-4817-2922-382C-13E629AC914E}"/>
              </a:ext>
            </a:extLst>
          </p:cNvPr>
          <p:cNvSpPr txBox="1"/>
          <p:nvPr/>
        </p:nvSpPr>
        <p:spPr>
          <a:xfrm rot="5400000">
            <a:off x="8777889" y="4589247"/>
            <a:ext cx="84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Paper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59489D54-D82F-A8CA-817C-3BC1C6E787E7}"/>
              </a:ext>
            </a:extLst>
          </p:cNvPr>
          <p:cNvSpPr txBox="1"/>
          <p:nvPr/>
        </p:nvSpPr>
        <p:spPr>
          <a:xfrm rot="5400000">
            <a:off x="10965616" y="4597201"/>
            <a:ext cx="84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Paper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75DD6691-E176-AFBE-BED0-46D9D49CDEC4}"/>
              </a:ext>
            </a:extLst>
          </p:cNvPr>
          <p:cNvSpPr txBox="1"/>
          <p:nvPr/>
        </p:nvSpPr>
        <p:spPr>
          <a:xfrm>
            <a:off x="1977524" y="1911475"/>
            <a:ext cx="28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Rock-Paper-Scissors+</a:t>
            </a:r>
            <a:endParaRPr lang="zh-TW" altLang="en-US" sz="2400" dirty="0"/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F0F86069-EC7C-7AAD-719D-83C1441DC134}"/>
              </a:ext>
            </a:extLst>
          </p:cNvPr>
          <p:cNvSpPr txBox="1"/>
          <p:nvPr/>
        </p:nvSpPr>
        <p:spPr>
          <a:xfrm>
            <a:off x="6879979" y="1978943"/>
            <a:ext cx="4027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Rock-Paper-Scissors+ Subgame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98422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Playing Nash at Test Time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23</a:t>
            </a:fld>
            <a:endParaRPr kumimoji="1" lang="zh-TW" altLang="en-US" dirty="0"/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21C6B7E9-E750-BEB4-A267-775CB7582BC7}"/>
              </a:ext>
            </a:extLst>
          </p:cNvPr>
          <p:cNvGrpSpPr/>
          <p:nvPr/>
        </p:nvGrpSpPr>
        <p:grpSpPr>
          <a:xfrm>
            <a:off x="219855" y="2504588"/>
            <a:ext cx="5999639" cy="2944268"/>
            <a:chOff x="84426" y="1945757"/>
            <a:chExt cx="5999639" cy="2944268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2A5EC229-0F67-BA01-7538-DF061C2AAEA1}"/>
                </a:ext>
              </a:extLst>
            </p:cNvPr>
            <p:cNvSpPr/>
            <p:nvPr/>
          </p:nvSpPr>
          <p:spPr>
            <a:xfrm>
              <a:off x="2615608" y="1945757"/>
              <a:ext cx="712382" cy="712382"/>
            </a:xfrm>
            <a:prstGeom prst="ellipse">
              <a:avLst/>
            </a:prstGeom>
            <a:solidFill>
              <a:srgbClr val="0069C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1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CA2D1E5A-3B60-C6D0-F20E-9AAF149F2F56}"/>
                </a:ext>
              </a:extLst>
            </p:cNvPr>
            <p:cNvSpPr/>
            <p:nvPr/>
          </p:nvSpPr>
          <p:spPr>
            <a:xfrm>
              <a:off x="482009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9D823D98-1E0D-7234-75C2-A512AC05EF0D}"/>
                </a:ext>
              </a:extLst>
            </p:cNvPr>
            <p:cNvSpPr/>
            <p:nvPr/>
          </p:nvSpPr>
          <p:spPr>
            <a:xfrm>
              <a:off x="2615608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F21ECB37-6ADC-8AC4-AFB3-3901CF951E88}"/>
                </a:ext>
              </a:extLst>
            </p:cNvPr>
            <p:cNvSpPr/>
            <p:nvPr/>
          </p:nvSpPr>
          <p:spPr>
            <a:xfrm>
              <a:off x="4823634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A74F959B-D62A-7442-7BF0-A1E14967D6B2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3327990" y="3576139"/>
              <a:ext cx="14956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F9ECBC22-2ACA-FF49-55CF-083E6C60FDEA}"/>
                </a:ext>
              </a:extLst>
            </p:cNvPr>
            <p:cNvCxnSpPr>
              <a:stCxn id="20" idx="2"/>
              <a:endCxn id="17" idx="6"/>
            </p:cNvCxnSpPr>
            <p:nvPr/>
          </p:nvCxnSpPr>
          <p:spPr>
            <a:xfrm flipH="1">
              <a:off x="1194391" y="3576139"/>
              <a:ext cx="142121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C47B5CD2-641A-C239-B86E-607C56C889DF}"/>
                </a:ext>
              </a:extLst>
            </p:cNvPr>
            <p:cNvCxnSpPr>
              <a:stCxn id="16" idx="3"/>
              <a:endCxn id="17" idx="7"/>
            </p:cNvCxnSpPr>
            <p:nvPr/>
          </p:nvCxnSpPr>
          <p:spPr>
            <a:xfrm flipH="1">
              <a:off x="1090065" y="2553813"/>
              <a:ext cx="1629869" cy="770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466C2676-9992-A11B-5CB2-D51E7344F886}"/>
                </a:ext>
              </a:extLst>
            </p:cNvPr>
            <p:cNvCxnSpPr>
              <a:cxnSpLocks/>
              <a:stCxn id="16" idx="4"/>
              <a:endCxn id="20" idx="0"/>
            </p:cNvCxnSpPr>
            <p:nvPr/>
          </p:nvCxnSpPr>
          <p:spPr>
            <a:xfrm>
              <a:off x="2971799" y="2658139"/>
              <a:ext cx="0" cy="56180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BF8D2DC9-B550-C792-E75B-B5AF11EC23A9}"/>
                </a:ext>
              </a:extLst>
            </p:cNvPr>
            <p:cNvCxnSpPr>
              <a:stCxn id="16" idx="5"/>
              <a:endCxn id="21" idx="1"/>
            </p:cNvCxnSpPr>
            <p:nvPr/>
          </p:nvCxnSpPr>
          <p:spPr>
            <a:xfrm>
              <a:off x="3223664" y="2553813"/>
              <a:ext cx="1704296" cy="770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0A557EC1-E24D-DCB3-41CF-EDCEE03D3B2A}"/>
                </a:ext>
              </a:extLst>
            </p:cNvPr>
            <p:cNvSpPr txBox="1"/>
            <p:nvPr/>
          </p:nvSpPr>
          <p:spPr>
            <a:xfrm rot="19739989">
              <a:off x="1703931" y="2376499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Rock</a:t>
              </a:r>
              <a:endParaRPr lang="zh-TW" altLang="en-US" dirty="0"/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9EB00456-7BE1-59E4-EB79-C07A8D4501D1}"/>
                </a:ext>
              </a:extLst>
            </p:cNvPr>
            <p:cNvSpPr txBox="1"/>
            <p:nvPr/>
          </p:nvSpPr>
          <p:spPr>
            <a:xfrm rot="1715645">
              <a:off x="3469059" y="2586586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Scissors</a:t>
              </a:r>
              <a:endParaRPr lang="zh-TW" altLang="en-US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64E83A5C-3E8B-9AB4-42F8-F3B610CFACD5}"/>
                </a:ext>
              </a:extLst>
            </p:cNvPr>
            <p:cNvSpPr txBox="1"/>
            <p:nvPr/>
          </p:nvSpPr>
          <p:spPr>
            <a:xfrm rot="5400000">
              <a:off x="2547754" y="2966346"/>
              <a:ext cx="1213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Paper</a:t>
              </a:r>
              <a:endParaRPr lang="zh-TW" altLang="en-US" dirty="0"/>
            </a:p>
          </p:txBody>
        </p:sp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40136E67-6CB2-CF33-3284-BC65EC644357}"/>
                </a:ext>
              </a:extLst>
            </p:cNvPr>
            <p:cNvGrpSpPr/>
            <p:nvPr/>
          </p:nvGrpSpPr>
          <p:grpSpPr>
            <a:xfrm>
              <a:off x="124229" y="3518527"/>
              <a:ext cx="1545231" cy="1310073"/>
              <a:chOff x="124229" y="3518527"/>
              <a:chExt cx="1545231" cy="1310073"/>
            </a:xfrm>
          </p:grpSpPr>
          <p:cxnSp>
            <p:nvCxnSpPr>
              <p:cNvPr id="43" name="直線單箭頭接點 42">
                <a:extLst>
                  <a:ext uri="{FF2B5EF4-FFF2-40B4-BE49-F238E27FC236}">
                    <a16:creationId xmlns:a16="http://schemas.microsoft.com/office/drawing/2014/main" id="{D0566A79-8054-41A8-B86C-496B48E4D314}"/>
                  </a:ext>
                </a:extLst>
              </p:cNvPr>
              <p:cNvCxnSpPr>
                <a:stCxn id="17" idx="4"/>
              </p:cNvCxnSpPr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單箭頭接點 46">
                <a:extLst>
                  <a:ext uri="{FF2B5EF4-FFF2-40B4-BE49-F238E27FC236}">
                    <a16:creationId xmlns:a16="http://schemas.microsoft.com/office/drawing/2014/main" id="{1E293697-8AEA-F382-A284-0F59F37B709F}"/>
                  </a:ext>
                </a:extLst>
              </p:cNvPr>
              <p:cNvCxnSpPr>
                <a:stCxn id="17" idx="3"/>
              </p:cNvCxnSpPr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單箭頭接點 48">
                <a:extLst>
                  <a:ext uri="{FF2B5EF4-FFF2-40B4-BE49-F238E27FC236}">
                    <a16:creationId xmlns:a16="http://schemas.microsoft.com/office/drawing/2014/main" id="{6938E19D-AADC-E4DF-8D40-624545C28F07}"/>
                  </a:ext>
                </a:extLst>
              </p:cNvPr>
              <p:cNvCxnSpPr>
                <a:stCxn id="17" idx="5"/>
              </p:cNvCxnSpPr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85A6EF88-0D31-976E-2F19-2D07126A3B3F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A31E2782-6A8C-EBDC-675A-4363446EC4C5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907FBFA1-A59A-7A3E-6F1D-46806FD4C1E7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FCE14479-36B8-F9D3-2AEA-3917EFA2745E}"/>
                </a:ext>
              </a:extLst>
            </p:cNvPr>
            <p:cNvGrpSpPr/>
            <p:nvPr/>
          </p:nvGrpSpPr>
          <p:grpSpPr>
            <a:xfrm>
              <a:off x="2256431" y="3511710"/>
              <a:ext cx="1545231" cy="1310073"/>
              <a:chOff x="124229" y="3518527"/>
              <a:chExt cx="1545231" cy="1310073"/>
            </a:xfrm>
          </p:grpSpPr>
          <p:cxnSp>
            <p:nvCxnSpPr>
              <p:cNvPr id="68" name="直線單箭頭接點 67">
                <a:extLst>
                  <a:ext uri="{FF2B5EF4-FFF2-40B4-BE49-F238E27FC236}">
                    <a16:creationId xmlns:a16="http://schemas.microsoft.com/office/drawing/2014/main" id="{7976E17C-2A9F-B129-2CFE-790B96FFDD66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>
                <a:extLst>
                  <a:ext uri="{FF2B5EF4-FFF2-40B4-BE49-F238E27FC236}">
                    <a16:creationId xmlns:a16="http://schemas.microsoft.com/office/drawing/2014/main" id="{4705E117-B51E-4654-66F3-AF123CED211B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>
                <a:extLst>
                  <a:ext uri="{FF2B5EF4-FFF2-40B4-BE49-F238E27FC236}">
                    <a16:creationId xmlns:a16="http://schemas.microsoft.com/office/drawing/2014/main" id="{D33AD976-0AD3-0DAF-EBB7-221F9800A03A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680F4E28-776B-446E-479E-63FC5DF7637A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B59F81E2-A502-045D-C54C-42966FABF275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B9F4D446-D0CC-99C3-DE62-EE78A7596AC5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3AEBD690-174A-A9DC-DB66-ED168B3E59ED}"/>
                </a:ext>
              </a:extLst>
            </p:cNvPr>
            <p:cNvGrpSpPr/>
            <p:nvPr/>
          </p:nvGrpSpPr>
          <p:grpSpPr>
            <a:xfrm>
              <a:off x="4444158" y="3519664"/>
              <a:ext cx="1545231" cy="1310073"/>
              <a:chOff x="124229" y="3518527"/>
              <a:chExt cx="1545231" cy="1310073"/>
            </a:xfrm>
          </p:grpSpPr>
          <p:cxnSp>
            <p:nvCxnSpPr>
              <p:cNvPr id="75" name="直線單箭頭接點 74">
                <a:extLst>
                  <a:ext uri="{FF2B5EF4-FFF2-40B4-BE49-F238E27FC236}">
                    <a16:creationId xmlns:a16="http://schemas.microsoft.com/office/drawing/2014/main" id="{EAC6E7D8-3088-8839-8EAC-D5168213627B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單箭頭接點 75">
                <a:extLst>
                  <a:ext uri="{FF2B5EF4-FFF2-40B4-BE49-F238E27FC236}">
                    <a16:creationId xmlns:a16="http://schemas.microsoft.com/office/drawing/2014/main" id="{D05AF52E-F476-1C1D-8C3B-A8E4A353C34B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單箭頭接點 76">
                <a:extLst>
                  <a:ext uri="{FF2B5EF4-FFF2-40B4-BE49-F238E27FC236}">
                    <a16:creationId xmlns:a16="http://schemas.microsoft.com/office/drawing/2014/main" id="{5D7B6A69-172F-9B70-4513-554E331FD409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75B882C8-954C-DC7A-EDC0-847F82C94DE4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6BDBB1F9-8D48-349F-466F-42B14833D06E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5E3B994-D600-BD12-88D4-B979538DD7DD}"/>
                  </a:ext>
                </a:extLst>
              </p:cNvPr>
              <p:cNvSpPr txBox="1"/>
              <p:nvPr/>
            </p:nvSpPr>
            <p:spPr>
              <a:xfrm rot="5400000">
                <a:off x="539356" y="4066709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Paper</a:t>
                </a:r>
                <a:endParaRPr lang="zh-TW" altLang="en-US" dirty="0"/>
              </a:p>
            </p:txBody>
          </p:sp>
        </p:grp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BA4DE825-2AEC-72EE-882B-69386A0D628C}"/>
                </a:ext>
              </a:extLst>
            </p:cNvPr>
            <p:cNvSpPr txBox="1"/>
            <p:nvPr/>
          </p:nvSpPr>
          <p:spPr>
            <a:xfrm>
              <a:off x="84426" y="4491217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0DAD09C0-A229-F82C-B619-B24428815248}"/>
                </a:ext>
              </a:extLst>
            </p:cNvPr>
            <p:cNvSpPr txBox="1"/>
            <p:nvPr/>
          </p:nvSpPr>
          <p:spPr>
            <a:xfrm>
              <a:off x="582521" y="449121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-1</a:t>
              </a:r>
              <a:endParaRPr lang="zh-TW" altLang="en-US" dirty="0"/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2F641288-94B0-7B7B-9473-EF0E15E05778}"/>
                </a:ext>
              </a:extLst>
            </p:cNvPr>
            <p:cNvSpPr txBox="1"/>
            <p:nvPr/>
          </p:nvSpPr>
          <p:spPr>
            <a:xfrm>
              <a:off x="1217907" y="450585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14B344E6-4534-988B-80D9-490B227FB870}"/>
                </a:ext>
              </a:extLst>
            </p:cNvPr>
            <p:cNvSpPr txBox="1"/>
            <p:nvPr/>
          </p:nvSpPr>
          <p:spPr>
            <a:xfrm>
              <a:off x="2232391" y="4489816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015F1DE7-67A8-D8B3-EDA0-FF3678EE94E0}"/>
                </a:ext>
              </a:extLst>
            </p:cNvPr>
            <p:cNvSpPr txBox="1"/>
            <p:nvPr/>
          </p:nvSpPr>
          <p:spPr>
            <a:xfrm>
              <a:off x="2807486" y="448981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6FA29A0B-5AF5-C304-1EA6-9EECE56A2539}"/>
                </a:ext>
              </a:extLst>
            </p:cNvPr>
            <p:cNvSpPr txBox="1"/>
            <p:nvPr/>
          </p:nvSpPr>
          <p:spPr>
            <a:xfrm>
              <a:off x="3336997" y="450445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7B685AE9-85B1-D894-E074-4E956FEA70B8}"/>
                </a:ext>
              </a:extLst>
            </p:cNvPr>
            <p:cNvSpPr txBox="1"/>
            <p:nvPr/>
          </p:nvSpPr>
          <p:spPr>
            <a:xfrm>
              <a:off x="4366081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492CEAAA-9A59-3DFC-AAF7-71AB3636849B}"/>
                </a:ext>
              </a:extLst>
            </p:cNvPr>
            <p:cNvSpPr txBox="1"/>
            <p:nvPr/>
          </p:nvSpPr>
          <p:spPr>
            <a:xfrm>
              <a:off x="5001289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957833BF-DF78-D226-04B3-2C41B7BAA75E}"/>
                </a:ext>
              </a:extLst>
            </p:cNvPr>
            <p:cNvSpPr txBox="1"/>
            <p:nvPr/>
          </p:nvSpPr>
          <p:spPr>
            <a:xfrm>
              <a:off x="5559675" y="452069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47907E32-E818-28DB-5602-22898F23EA98}"/>
                </a:ext>
              </a:extLst>
            </p:cNvPr>
            <p:cNvSpPr txBox="1"/>
            <p:nvPr/>
          </p:nvSpPr>
          <p:spPr>
            <a:xfrm>
              <a:off x="380011" y="2929542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0.401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CD3EBD69-90D8-5063-5815-C2241B8F100F}"/>
                </a:ext>
              </a:extLst>
            </p:cNvPr>
            <p:cNvSpPr txBox="1"/>
            <p:nvPr/>
          </p:nvSpPr>
          <p:spPr>
            <a:xfrm>
              <a:off x="2216773" y="2914537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0.4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D6B50FAE-DED4-17EC-C4F6-4ECEFC796E81}"/>
                </a:ext>
              </a:extLst>
            </p:cNvPr>
            <p:cNvSpPr txBox="1"/>
            <p:nvPr/>
          </p:nvSpPr>
          <p:spPr>
            <a:xfrm>
              <a:off x="4668068" y="2923410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0.199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22DE83D5-CF6B-7E2A-691A-301378F62EEA}"/>
              </a:ext>
            </a:extLst>
          </p:cNvPr>
          <p:cNvGrpSpPr/>
          <p:nvPr/>
        </p:nvGrpSpPr>
        <p:grpSpPr>
          <a:xfrm>
            <a:off x="6190757" y="3443892"/>
            <a:ext cx="5999639" cy="1975488"/>
            <a:chOff x="84426" y="2914537"/>
            <a:chExt cx="5999639" cy="1975488"/>
          </a:xfrm>
        </p:grpSpPr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B1EC5388-B917-84DD-130F-D162D1F51D2F}"/>
                </a:ext>
              </a:extLst>
            </p:cNvPr>
            <p:cNvSpPr/>
            <p:nvPr/>
          </p:nvSpPr>
          <p:spPr>
            <a:xfrm>
              <a:off x="482009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63EF8460-BE7F-B519-00BC-AD8BA245FCDE}"/>
                </a:ext>
              </a:extLst>
            </p:cNvPr>
            <p:cNvSpPr/>
            <p:nvPr/>
          </p:nvSpPr>
          <p:spPr>
            <a:xfrm>
              <a:off x="2615608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95C59083-35D3-F228-51F0-9EC017F5F9FA}"/>
                </a:ext>
              </a:extLst>
            </p:cNvPr>
            <p:cNvSpPr/>
            <p:nvPr/>
          </p:nvSpPr>
          <p:spPr>
            <a:xfrm>
              <a:off x="4823634" y="3219948"/>
              <a:ext cx="712382" cy="712382"/>
            </a:xfrm>
            <a:prstGeom prst="ellipse">
              <a:avLst/>
            </a:prstGeom>
            <a:solidFill>
              <a:srgbClr val="FF6F5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99" name="直線接點 98">
              <a:extLst>
                <a:ext uri="{FF2B5EF4-FFF2-40B4-BE49-F238E27FC236}">
                  <a16:creationId xmlns:a16="http://schemas.microsoft.com/office/drawing/2014/main" id="{A80C8780-934D-0159-EB84-86EE05CDDA9D}"/>
                </a:ext>
              </a:extLst>
            </p:cNvPr>
            <p:cNvCxnSpPr>
              <a:cxnSpLocks/>
              <a:stCxn id="97" idx="6"/>
              <a:endCxn id="98" idx="2"/>
            </p:cNvCxnSpPr>
            <p:nvPr/>
          </p:nvCxnSpPr>
          <p:spPr>
            <a:xfrm>
              <a:off x="3327990" y="3576139"/>
              <a:ext cx="14956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A7BEA8BA-DADB-4949-1286-BE05FBB21128}"/>
                </a:ext>
              </a:extLst>
            </p:cNvPr>
            <p:cNvCxnSpPr>
              <a:stCxn id="97" idx="2"/>
              <a:endCxn id="96" idx="6"/>
            </p:cNvCxnSpPr>
            <p:nvPr/>
          </p:nvCxnSpPr>
          <p:spPr>
            <a:xfrm flipH="1">
              <a:off x="1194391" y="3576139"/>
              <a:ext cx="142121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群組 106">
              <a:extLst>
                <a:ext uri="{FF2B5EF4-FFF2-40B4-BE49-F238E27FC236}">
                  <a16:creationId xmlns:a16="http://schemas.microsoft.com/office/drawing/2014/main" id="{DD4488FD-451F-0D9F-5804-1A40DE48A431}"/>
                </a:ext>
              </a:extLst>
            </p:cNvPr>
            <p:cNvGrpSpPr/>
            <p:nvPr/>
          </p:nvGrpSpPr>
          <p:grpSpPr>
            <a:xfrm>
              <a:off x="124229" y="3518527"/>
              <a:ext cx="1545231" cy="1310073"/>
              <a:chOff x="124229" y="3518527"/>
              <a:chExt cx="1545231" cy="1310073"/>
            </a:xfrm>
          </p:grpSpPr>
          <p:cxnSp>
            <p:nvCxnSpPr>
              <p:cNvPr id="134" name="直線單箭頭接點 133">
                <a:extLst>
                  <a:ext uri="{FF2B5EF4-FFF2-40B4-BE49-F238E27FC236}">
                    <a16:creationId xmlns:a16="http://schemas.microsoft.com/office/drawing/2014/main" id="{3CE5263C-E65E-FD77-3B27-F822A32DDEB1}"/>
                  </a:ext>
                </a:extLst>
              </p:cNvPr>
              <p:cNvCxnSpPr>
                <a:stCxn id="96" idx="4"/>
              </p:cNvCxnSpPr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單箭頭接點 134">
                <a:extLst>
                  <a:ext uri="{FF2B5EF4-FFF2-40B4-BE49-F238E27FC236}">
                    <a16:creationId xmlns:a16="http://schemas.microsoft.com/office/drawing/2014/main" id="{AE285312-0AD8-1063-6066-B7CB34EDB028}"/>
                  </a:ext>
                </a:extLst>
              </p:cNvPr>
              <p:cNvCxnSpPr>
                <a:stCxn id="96" idx="3"/>
              </p:cNvCxnSpPr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單箭頭接點 135">
                <a:extLst>
                  <a:ext uri="{FF2B5EF4-FFF2-40B4-BE49-F238E27FC236}">
                    <a16:creationId xmlns:a16="http://schemas.microsoft.com/office/drawing/2014/main" id="{FB85A2E9-AC74-C6DA-3668-B3D6CE48C1AA}"/>
                  </a:ext>
                </a:extLst>
              </p:cNvPr>
              <p:cNvCxnSpPr>
                <a:stCxn id="96" idx="5"/>
              </p:cNvCxnSpPr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19DA3438-C53B-BD05-23D9-9DAC2B45F98C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BA3A8981-D9E2-D18F-CFEE-587C4DBA8262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</p:grpSp>
        <p:grpSp>
          <p:nvGrpSpPr>
            <p:cNvPr id="108" name="群組 107">
              <a:extLst>
                <a:ext uri="{FF2B5EF4-FFF2-40B4-BE49-F238E27FC236}">
                  <a16:creationId xmlns:a16="http://schemas.microsoft.com/office/drawing/2014/main" id="{E4759D39-AE87-99C1-8E9E-7D5361328DB3}"/>
                </a:ext>
              </a:extLst>
            </p:cNvPr>
            <p:cNvGrpSpPr/>
            <p:nvPr/>
          </p:nvGrpSpPr>
          <p:grpSpPr>
            <a:xfrm>
              <a:off x="2256431" y="3511710"/>
              <a:ext cx="1545231" cy="1310073"/>
              <a:chOff x="124229" y="3518527"/>
              <a:chExt cx="1545231" cy="1310073"/>
            </a:xfrm>
          </p:grpSpPr>
          <p:cxnSp>
            <p:nvCxnSpPr>
              <p:cNvPr id="128" name="直線單箭頭接點 127">
                <a:extLst>
                  <a:ext uri="{FF2B5EF4-FFF2-40B4-BE49-F238E27FC236}">
                    <a16:creationId xmlns:a16="http://schemas.microsoft.com/office/drawing/2014/main" id="{B06940C6-AFB6-8819-94C1-634CE449C2FA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線單箭頭接點 128">
                <a:extLst>
                  <a:ext uri="{FF2B5EF4-FFF2-40B4-BE49-F238E27FC236}">
                    <a16:creationId xmlns:a16="http://schemas.microsoft.com/office/drawing/2014/main" id="{211474CA-BB78-092D-3520-9ECCF5E604EC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單箭頭接點 129">
                <a:extLst>
                  <a:ext uri="{FF2B5EF4-FFF2-40B4-BE49-F238E27FC236}">
                    <a16:creationId xmlns:a16="http://schemas.microsoft.com/office/drawing/2014/main" id="{9131E22D-07DB-0490-E6C0-BB629C9E1BF5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77D5302A-C09C-6C67-5ACA-6D6CFBAAA50F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743CB71-039E-DCC4-DF55-243BCBDA3322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</p:grpSp>
        <p:grpSp>
          <p:nvGrpSpPr>
            <p:cNvPr id="109" name="群組 108">
              <a:extLst>
                <a:ext uri="{FF2B5EF4-FFF2-40B4-BE49-F238E27FC236}">
                  <a16:creationId xmlns:a16="http://schemas.microsoft.com/office/drawing/2014/main" id="{6DA09CEF-0978-2EB4-F220-FB54B46EAA1B}"/>
                </a:ext>
              </a:extLst>
            </p:cNvPr>
            <p:cNvGrpSpPr/>
            <p:nvPr/>
          </p:nvGrpSpPr>
          <p:grpSpPr>
            <a:xfrm>
              <a:off x="4444158" y="3519664"/>
              <a:ext cx="1545231" cy="1310073"/>
              <a:chOff x="124229" y="3518527"/>
              <a:chExt cx="1545231" cy="1310073"/>
            </a:xfrm>
          </p:grpSpPr>
          <p:cxnSp>
            <p:nvCxnSpPr>
              <p:cNvPr id="122" name="直線單箭頭接點 121">
                <a:extLst>
                  <a:ext uri="{FF2B5EF4-FFF2-40B4-BE49-F238E27FC236}">
                    <a16:creationId xmlns:a16="http://schemas.microsoft.com/office/drawing/2014/main" id="{03658785-18B1-61B1-F36A-D28074E26828}"/>
                  </a:ext>
                </a:extLst>
              </p:cNvPr>
              <p:cNvCxnSpPr/>
              <p:nvPr/>
            </p:nvCxnSpPr>
            <p:spPr>
              <a:xfrm>
                <a:off x="838200" y="3932330"/>
                <a:ext cx="0" cy="60792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單箭頭接點 122">
                <a:extLst>
                  <a:ext uri="{FF2B5EF4-FFF2-40B4-BE49-F238E27FC236}">
                    <a16:creationId xmlns:a16="http://schemas.microsoft.com/office/drawing/2014/main" id="{7BFB2B8D-BE3A-109F-CE06-94F3C552132F}"/>
                  </a:ext>
                </a:extLst>
              </p:cNvPr>
              <p:cNvCxnSpPr/>
              <p:nvPr/>
            </p:nvCxnSpPr>
            <p:spPr>
              <a:xfrm flipH="1">
                <a:off x="254000" y="3828004"/>
                <a:ext cx="332335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單箭頭接點 123">
                <a:extLst>
                  <a:ext uri="{FF2B5EF4-FFF2-40B4-BE49-F238E27FC236}">
                    <a16:creationId xmlns:a16="http://schemas.microsoft.com/office/drawing/2014/main" id="{3D60CF78-2891-5915-5CC8-457492E9D61C}"/>
                  </a:ext>
                </a:extLst>
              </p:cNvPr>
              <p:cNvCxnSpPr/>
              <p:nvPr/>
            </p:nvCxnSpPr>
            <p:spPr>
              <a:xfrm>
                <a:off x="1090065" y="3828004"/>
                <a:ext cx="292577" cy="712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5FEFC846-754F-7B32-8DDD-37F602BDFE7B}"/>
                  </a:ext>
                </a:extLst>
              </p:cNvPr>
              <p:cNvSpPr txBox="1"/>
              <p:nvPr/>
            </p:nvSpPr>
            <p:spPr>
              <a:xfrm rot="17641688">
                <a:off x="-114476" y="3757232"/>
                <a:ext cx="8467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Rock</a:t>
                </a:r>
                <a:endParaRPr lang="zh-TW" altLang="en-US" dirty="0"/>
              </a:p>
            </p:txBody>
          </p:sp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DA97F967-1B70-1DF2-AFDC-2B527AD3AF59}"/>
                  </a:ext>
                </a:extLst>
              </p:cNvPr>
              <p:cNvSpPr txBox="1"/>
              <p:nvPr/>
            </p:nvSpPr>
            <p:spPr>
              <a:xfrm rot="3958333">
                <a:off x="904794" y="4063934"/>
                <a:ext cx="116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Scissors</a:t>
                </a:r>
                <a:endParaRPr lang="zh-TW" altLang="en-US" dirty="0"/>
              </a:p>
            </p:txBody>
          </p:sp>
        </p:grp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5B9C6121-862D-3A46-7616-3DCA3D328985}"/>
                </a:ext>
              </a:extLst>
            </p:cNvPr>
            <p:cNvSpPr txBox="1"/>
            <p:nvPr/>
          </p:nvSpPr>
          <p:spPr>
            <a:xfrm>
              <a:off x="84426" y="4491217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560673D6-1AED-EE3C-7993-0A321A34F991}"/>
                </a:ext>
              </a:extLst>
            </p:cNvPr>
            <p:cNvSpPr txBox="1"/>
            <p:nvPr/>
          </p:nvSpPr>
          <p:spPr>
            <a:xfrm>
              <a:off x="582521" y="449121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-1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AA4AE367-AC9F-2757-2CAB-76548C2177B0}"/>
                </a:ext>
              </a:extLst>
            </p:cNvPr>
            <p:cNvSpPr txBox="1"/>
            <p:nvPr/>
          </p:nvSpPr>
          <p:spPr>
            <a:xfrm>
              <a:off x="1217907" y="4505857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04EA17BC-A3AF-0E42-BFF3-45D951F792C8}"/>
                </a:ext>
              </a:extLst>
            </p:cNvPr>
            <p:cNvSpPr txBox="1"/>
            <p:nvPr/>
          </p:nvSpPr>
          <p:spPr>
            <a:xfrm>
              <a:off x="2232391" y="4489816"/>
              <a:ext cx="339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80DE4CD3-8F66-8719-F4B1-1B346B17DECB}"/>
                </a:ext>
              </a:extLst>
            </p:cNvPr>
            <p:cNvSpPr txBox="1"/>
            <p:nvPr/>
          </p:nvSpPr>
          <p:spPr>
            <a:xfrm>
              <a:off x="2807486" y="448981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0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E8293269-7972-25C3-2A51-A30918BDBF57}"/>
                </a:ext>
              </a:extLst>
            </p:cNvPr>
            <p:cNvSpPr txBox="1"/>
            <p:nvPr/>
          </p:nvSpPr>
          <p:spPr>
            <a:xfrm>
              <a:off x="3336997" y="4504456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CB5AE367-A0F3-EDBF-74FA-C8BAD06452AA}"/>
                </a:ext>
              </a:extLst>
            </p:cNvPr>
            <p:cNvSpPr txBox="1"/>
            <p:nvPr/>
          </p:nvSpPr>
          <p:spPr>
            <a:xfrm>
              <a:off x="4366081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-2</a:t>
              </a:r>
              <a:endParaRPr lang="zh-TW" altLang="en-US" dirty="0"/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33F057A4-79B1-8653-DD76-B0F4A7AFB926}"/>
                </a:ext>
              </a:extLst>
            </p:cNvPr>
            <p:cNvSpPr txBox="1"/>
            <p:nvPr/>
          </p:nvSpPr>
          <p:spPr>
            <a:xfrm>
              <a:off x="5001289" y="450605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2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8" name="文字方塊 117">
              <a:extLst>
                <a:ext uri="{FF2B5EF4-FFF2-40B4-BE49-F238E27FC236}">
                  <a16:creationId xmlns:a16="http://schemas.microsoft.com/office/drawing/2014/main" id="{EA105B11-7DFD-0C68-A4E2-4B5AF7D9992F}"/>
                </a:ext>
              </a:extLst>
            </p:cNvPr>
            <p:cNvSpPr txBox="1"/>
            <p:nvPr/>
          </p:nvSpPr>
          <p:spPr>
            <a:xfrm>
              <a:off x="5559675" y="4520693"/>
              <a:ext cx="524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BB94D73E-E516-878E-E5F9-F1EC2BF4864B}"/>
                </a:ext>
              </a:extLst>
            </p:cNvPr>
            <p:cNvSpPr txBox="1"/>
            <p:nvPr/>
          </p:nvSpPr>
          <p:spPr>
            <a:xfrm>
              <a:off x="513173" y="2929542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782E054A-C1AE-C344-856A-497866655D91}"/>
                </a:ext>
              </a:extLst>
            </p:cNvPr>
            <p:cNvSpPr txBox="1"/>
            <p:nvPr/>
          </p:nvSpPr>
          <p:spPr>
            <a:xfrm>
              <a:off x="2663621" y="2914537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0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21" name="文字方塊 120">
              <a:extLst>
                <a:ext uri="{FF2B5EF4-FFF2-40B4-BE49-F238E27FC236}">
                  <a16:creationId xmlns:a16="http://schemas.microsoft.com/office/drawing/2014/main" id="{BFE825FE-EAFA-7AEB-88D8-E63FE679D149}"/>
                </a:ext>
              </a:extLst>
            </p:cNvPr>
            <p:cNvSpPr txBox="1"/>
            <p:nvPr/>
          </p:nvSpPr>
          <p:spPr>
            <a:xfrm>
              <a:off x="4668068" y="2923410"/>
              <a:ext cx="109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P = 1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302D679E-C9A8-8C17-4AD0-C5BB64973BE3}"/>
              </a:ext>
            </a:extLst>
          </p:cNvPr>
          <p:cNvSpPr txBox="1"/>
          <p:nvPr/>
        </p:nvSpPr>
        <p:spPr>
          <a:xfrm rot="5400000">
            <a:off x="6645687" y="4596064"/>
            <a:ext cx="84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Paper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BF54905B-4817-2922-382C-13E629AC914E}"/>
              </a:ext>
            </a:extLst>
          </p:cNvPr>
          <p:cNvSpPr txBox="1"/>
          <p:nvPr/>
        </p:nvSpPr>
        <p:spPr>
          <a:xfrm rot="5400000">
            <a:off x="8777889" y="4589247"/>
            <a:ext cx="84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Paper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59489D54-D82F-A8CA-817C-3BC1C6E787E7}"/>
              </a:ext>
            </a:extLst>
          </p:cNvPr>
          <p:cNvSpPr txBox="1"/>
          <p:nvPr/>
        </p:nvSpPr>
        <p:spPr>
          <a:xfrm rot="5400000">
            <a:off x="10965616" y="4597201"/>
            <a:ext cx="84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Paper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75DD6691-E176-AFBE-BED0-46D9D49CDEC4}"/>
              </a:ext>
            </a:extLst>
          </p:cNvPr>
          <p:cNvSpPr txBox="1"/>
          <p:nvPr/>
        </p:nvSpPr>
        <p:spPr>
          <a:xfrm>
            <a:off x="1977524" y="1911475"/>
            <a:ext cx="28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Rock-Paper-Scissors+</a:t>
            </a:r>
            <a:endParaRPr lang="zh-TW" altLang="en-US" sz="2400" dirty="0"/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F0F86069-EC7C-7AAD-719D-83C1441DC134}"/>
              </a:ext>
            </a:extLst>
          </p:cNvPr>
          <p:cNvSpPr txBox="1"/>
          <p:nvPr/>
        </p:nvSpPr>
        <p:spPr>
          <a:xfrm>
            <a:off x="6879979" y="1978943"/>
            <a:ext cx="4027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Rock-Paper-Scissors+ Subgame</a:t>
            </a:r>
            <a:endParaRPr lang="zh-TW" altLang="en-US" sz="24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E581E5-BE07-0DD5-C494-27B27DDB42C6}"/>
              </a:ext>
            </a:extLst>
          </p:cNvPr>
          <p:cNvSpPr txBox="1"/>
          <p:nvPr/>
        </p:nvSpPr>
        <p:spPr>
          <a:xfrm>
            <a:off x="778287" y="5686013"/>
            <a:ext cx="10571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Solution: Stop FP/CFR on a random iteration and assume beliefs from that iteration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5861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Result in Two-Player No Limit Texas </a:t>
            </a:r>
            <a:r>
              <a:rPr kumimoji="1" lang="en-US" altLang="zh-TW" b="1" dirty="0" err="1"/>
              <a:t>Hold’em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C1519C9-FF88-6C04-4494-DFD8A86E6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3843" y="2290252"/>
            <a:ext cx="11884313" cy="3102542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24</a:t>
            </a:fld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B335C2-6CD4-23E0-B8D3-3DA5D910E8C7}"/>
              </a:ext>
            </a:extLst>
          </p:cNvPr>
          <p:cNvSpPr/>
          <p:nvPr/>
        </p:nvSpPr>
        <p:spPr>
          <a:xfrm>
            <a:off x="284086" y="4731798"/>
            <a:ext cx="11603114" cy="4705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528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7904</TotalTime>
  <Words>1418</Words>
  <Application>Microsoft Office PowerPoint</Application>
  <PresentationFormat>寬螢幕</PresentationFormat>
  <Paragraphs>388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Times New Roman</vt:lpstr>
      <vt:lpstr>Office 佈景主題</vt:lpstr>
      <vt:lpstr>Combining Deep Reinforcement Learning and Search for Imperfect-Information Games</vt:lpstr>
      <vt:lpstr>Abstract </vt:lpstr>
      <vt:lpstr>Milestone AI achievement</vt:lpstr>
      <vt:lpstr>Recursive Belief-based Learning (ReBeL)</vt:lpstr>
      <vt:lpstr>Rule of Chess</vt:lpstr>
      <vt:lpstr>Search in perfect information games</vt:lpstr>
      <vt:lpstr>Search in perfect information games</vt:lpstr>
      <vt:lpstr>Search in perfect information games</vt:lpstr>
      <vt:lpstr>Search in perfect information games</vt:lpstr>
      <vt:lpstr>AlphaZero</vt:lpstr>
      <vt:lpstr>AlphaZero</vt:lpstr>
      <vt:lpstr>AlphaZero</vt:lpstr>
      <vt:lpstr>Search in Imperfect information games</vt:lpstr>
      <vt:lpstr>Search in Imperfect information games</vt:lpstr>
      <vt:lpstr>Converting imperfect information games to continuous-state perfect information games</vt:lpstr>
      <vt:lpstr>Converting imperfect information games to continuous-state perfect information games</vt:lpstr>
      <vt:lpstr>Converting imperfect information games to continuous-state perfect information games</vt:lpstr>
      <vt:lpstr>Properties of Public Belief States</vt:lpstr>
      <vt:lpstr>ReBeL</vt:lpstr>
      <vt:lpstr>ReBeL</vt:lpstr>
      <vt:lpstr>ReBeL</vt:lpstr>
      <vt:lpstr>Playing Nash at Test Time</vt:lpstr>
      <vt:lpstr>Playing Nash at Test Time</vt:lpstr>
      <vt:lpstr>Result in Two-Player No Limit Texas Hold’em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Deep Learning based Urban Traffic Incident Detection </dc:title>
  <dc:creator>Microsoft Office User</dc:creator>
  <cp:lastModifiedBy>M103040019</cp:lastModifiedBy>
  <cp:revision>66</cp:revision>
  <dcterms:created xsi:type="dcterms:W3CDTF">2022-05-15T13:18:58Z</dcterms:created>
  <dcterms:modified xsi:type="dcterms:W3CDTF">2022-09-27T09:15:38Z</dcterms:modified>
</cp:coreProperties>
</file>