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72"/>
    <p:restoredTop sz="95788"/>
  </p:normalViewPr>
  <p:slideViewPr>
    <p:cSldViewPr snapToGrid="0" snapToObjects="1">
      <p:cViewPr varScale="1">
        <p:scale>
          <a:sx n="124" d="100"/>
          <a:sy n="124" d="100"/>
        </p:scale>
        <p:origin x="192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9377A-D5E9-224B-AD82-D15977FF7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4F2E2-963D-594E-987C-747AED6517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3D96F-FFC3-C647-A4B8-DE0705E8B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8931-8EF3-BB4E-A6E4-D45F5DBA70B6}" type="datetimeFigureOut">
              <a:rPr lang="en-US" smtClean="0"/>
              <a:t>9/27/22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208EC-168B-AB4A-A72A-2413F97E9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BC734-95AE-D746-B2D3-AEA163D70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DDC59-FC01-2D42-94CE-E0F67132E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138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83414-EAF7-444B-B975-9D9AE6B49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15823-A680-D841-9214-E12D15738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76712-87AE-0346-A898-0363813A7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8931-8EF3-BB4E-A6E4-D45F5DBA70B6}" type="datetimeFigureOut">
              <a:rPr lang="en-US" smtClean="0"/>
              <a:t>9/27/22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7111D-A435-094E-BAB7-66421AC8E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F45CA-8018-B44D-B633-9A629748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DDC59-FC01-2D42-94CE-E0F67132E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30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BA3C9-B32F-B84D-9E06-34D8CB2A8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50F54E-713A-D04B-A275-A985E58B8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0FE3C-AF46-2F45-AA85-D945A65A0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8931-8EF3-BB4E-A6E4-D45F5DBA70B6}" type="datetimeFigureOut">
              <a:rPr lang="en-US" smtClean="0"/>
              <a:t>9/27/22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02F9F-85AC-3F48-88A1-C03AD92EE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37FC7-9BF7-1546-B19D-F10A758E2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DDC59-FC01-2D42-94CE-E0F67132E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82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6D78-C2D3-3F4E-9041-53338652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94E72-2DA9-E741-B024-5505951D2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C8E92C-B602-CD45-8491-47504B537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83D3C-E4A0-A94A-A747-1BE6922D8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8931-8EF3-BB4E-A6E4-D45F5DBA70B6}" type="datetimeFigureOut">
              <a:rPr lang="en-US" smtClean="0"/>
              <a:t>9/27/22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EA50FF-F880-A14C-8E1A-ED2633700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B34E29-2ABD-0A4A-B908-BFE5BB630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DDC59-FC01-2D42-94CE-E0F67132E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254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53041-32DB-9B49-84D5-BC86B05F6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56F2A-D924-1844-9852-46A64E30C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05BFBF-B8E4-D344-9414-40AB20C63A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12B3BD-F98B-924D-B461-1439ED481A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872248-C777-7F42-8427-97AA476B43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3D2B5D-595C-5D4F-BA87-88A210F67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8931-8EF3-BB4E-A6E4-D45F5DBA70B6}" type="datetimeFigureOut">
              <a:rPr lang="en-US" smtClean="0"/>
              <a:t>9/27/22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102985-B2B8-694C-95E4-9A549B928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74D5EA-9820-C342-8854-F159B548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DDC59-FC01-2D42-94CE-E0F67132E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164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F1507-AA5D-B346-AED1-1FE513B22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BFBB03-B856-7243-8B47-A10ECD55A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8931-8EF3-BB4E-A6E4-D45F5DBA70B6}" type="datetimeFigureOut">
              <a:rPr lang="en-US" smtClean="0"/>
              <a:t>9/27/22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0769CC-8B59-9B4A-AEAC-E42A4918D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E92023-E677-7D45-8196-486A2900A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DDC59-FC01-2D42-94CE-E0F67132E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52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2518F7-5F80-C640-95AE-601CC1F50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8931-8EF3-BB4E-A6E4-D45F5DBA70B6}" type="datetimeFigureOut">
              <a:rPr lang="en-US" smtClean="0"/>
              <a:t>9/27/22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4B2DB2-3D04-A542-9DD4-966A4433A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EB29A-034B-A54C-A004-132A585CB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DDC59-FC01-2D42-94CE-E0F67132E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25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A1167-FF94-154B-9450-B4B22CC23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53F87-2FF0-7F45-B037-B78043F4F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21170A-28C5-0244-8B72-9161888A1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E1CAD2-4A73-0A41-B4AC-65DE6848F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8931-8EF3-BB4E-A6E4-D45F5DBA70B6}" type="datetimeFigureOut">
              <a:rPr lang="en-US" smtClean="0"/>
              <a:t>9/27/22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05371-115C-1B47-97F8-905C36E59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7D2D-F65E-FA43-8CC0-A17CD208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DDC59-FC01-2D42-94CE-E0F67132E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712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C15BC-C5B5-684C-B7A2-9C77306A6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6400F8-CB11-344B-8C54-F52A295F36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2EDB6B-6856-2847-A3CB-6F8815CCC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ACF4C1-A19F-DF45-B0CE-9A26E35BB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8931-8EF3-BB4E-A6E4-D45F5DBA70B6}" type="datetimeFigureOut">
              <a:rPr lang="en-US" smtClean="0"/>
              <a:t>9/27/22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E0627-78C6-D64D-A159-8F103BAD6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63263-AC07-E54B-9F4A-95287729C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DDC59-FC01-2D42-94CE-E0F67132E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488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B65BF-447A-C14A-BA91-A9D53D2D2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EBF5CC-8643-5442-85BF-B88738223B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9EEDB-A28F-5649-9CC3-1B65F0799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8931-8EF3-BB4E-A6E4-D45F5DBA70B6}" type="datetimeFigureOut">
              <a:rPr lang="en-US" smtClean="0"/>
              <a:t>9/27/22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FF055-E690-9649-A215-7EF67B4D5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7D414-F059-D740-8A2B-2F9E69432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DDC59-FC01-2D42-94CE-E0F67132E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685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67B5C3-FB06-F346-A140-3B2935948C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87D71D-26F8-7141-ADFC-04F5FD842F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94D17-3BA1-8849-ACC3-EBBB3A3AC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8931-8EF3-BB4E-A6E4-D45F5DBA70B6}" type="datetimeFigureOut">
              <a:rPr lang="en-US" smtClean="0"/>
              <a:t>9/27/22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345CA-0D29-7248-8EBC-B2209B1F7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E8A43-B160-2C48-9864-8DEC2CD39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DDC59-FC01-2D42-94CE-E0F67132E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843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5B99F1-BDD8-5F46-9BCE-3DD4806C9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8F5F9-A4FD-F047-B0E0-7C11AAEB5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767E4-E3AC-A841-A47D-DFB924D80E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678931-8EF3-BB4E-A6E4-D45F5DBA70B6}" type="datetimeFigureOut">
              <a:rPr lang="en-US" smtClean="0"/>
              <a:t>9/27/22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D132B-52D0-D145-94CF-102DEB9C4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5B069-D025-5D4D-98CC-DE07FAD7B4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DDDC59-FC01-2D42-94CE-E0F67132E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945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42B4C-8D59-5B4A-8E2F-8D3DC4E402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Boosting a Bridge Artificial Intelligence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4D6E9-8AA0-AC4E-AABA-A9DDED2B5B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209" y="3602038"/>
            <a:ext cx="11783291" cy="1655762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Veronique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Ventos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Yves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Olivier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Teytaud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Solène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Thépaut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Ventos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29th International Conference on Tools with Artificial Intelligence (ICTAI), 2017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5217F6-5BC6-7041-B7BC-7974A5B74989}"/>
              </a:ext>
            </a:extLst>
          </p:cNvPr>
          <p:cNvSpPr txBox="1"/>
          <p:nvPr/>
        </p:nvSpPr>
        <p:spPr>
          <a:xfrm>
            <a:off x="9358179" y="5735782"/>
            <a:ext cx="23523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Yu-Yen Chu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Sept. 27, 2022</a:t>
            </a:r>
          </a:p>
        </p:txBody>
      </p:sp>
    </p:spTree>
    <p:extLst>
      <p:ext uri="{BB962C8B-B14F-4D97-AF65-F5344CB8AC3E}">
        <p14:creationId xmlns:p14="http://schemas.microsoft.com/office/powerpoint/2010/main" val="3281282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D2FD8-4CB3-A145-8E9C-0573499C5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565CE-CAB5-AD47-993F-3375C1012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869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 is an incomplete information game which is complex both for humans and for Computer-Bridge programs. The purpose of this paper is to present our work related to the adaptation to Bridge of a recent methodology used for boosting game Artificial Intelligence (AI) by seeking a random seed, or a probability distribution on random seeds, better than the others on a particular game. The Bridge AI Wbridge5 developed by Yves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been boosted with the best seed found on the outcome of these experiments and has won the World Computer-Bridge Championship in September 2016.</a:t>
            </a:r>
          </a:p>
        </p:txBody>
      </p:sp>
    </p:spTree>
    <p:extLst>
      <p:ext uri="{BB962C8B-B14F-4D97-AF65-F5344CB8AC3E}">
        <p14:creationId xmlns:p14="http://schemas.microsoft.com/office/powerpoint/2010/main" val="2344336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D2FD8-4CB3-A145-8E9C-0573499C5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565CE-CAB5-AD47-993F-3375C1012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33364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stochastic game: Even if every player does the same action, the result is not the same. Bridge is a stochastic game because cards are different in different rounds.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stochastic 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Even if the information received by the AI is the same, the action is not the same. An AI is stochastic if it uses pseudo-random.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stochastic AI has clean random seed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If we set up a random seed, the AI is not stochastic.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methodology is for an AI which is both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stochastic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clean random seed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1301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D2FD8-4CB3-A145-8E9C-0573499C5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Seed Methodology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B565CE-CAB5-AD47-993F-3375C10124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47664" cy="4351338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R(i, j) is the simulation result, which is AI(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against AI(j) . Note that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 ∈ {1, 2, … , N}, and R(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j) has larger value when AI(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wins.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Best Seed approach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Choose seed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which lets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maximum.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Robust Seed approach: Choose k best seed, and apply uniform policy over these k seeds.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Nash approach:</a:t>
                </a:r>
                <a:r>
                  <a:rPr lang="zh-Hant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Han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Nash equilibrium. This generates p, the probability distribution of choosing seed </a:t>
                </a:r>
                <a:r>
                  <a:rPr lang="en-US" altLang="zh-Hant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Han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we choose seed </a:t>
                </a:r>
                <a:r>
                  <a:rPr lang="en-US" altLang="zh-Hant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Han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probability p(</a:t>
                </a:r>
                <a:r>
                  <a:rPr lang="en-US" altLang="zh-Hant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Han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B565CE-CAB5-AD47-993F-3375C10124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47664" cy="4351338"/>
              </a:xfrm>
              <a:blipFill>
                <a:blip r:embed="rId2"/>
                <a:stretch>
                  <a:fillRect l="-945" t="-1754" r="-1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B40A70F-45C3-6947-8CEA-89C201A730AE}"/>
              </a:ext>
            </a:extLst>
          </p:cNvPr>
          <p:cNvSpPr txBox="1"/>
          <p:nvPr/>
        </p:nvSpPr>
        <p:spPr>
          <a:xfrm>
            <a:off x="8728364" y="1363960"/>
            <a:ext cx="28575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AI with seed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850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D2FD8-4CB3-A145-8E9C-0573499C5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565CE-CAB5-AD47-993F-3375C1012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955483" cy="481416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Wbridge5 AI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bidding stage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two AIs. (N and S are the same, and so are E and W.)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uncertainty, so simulation is more powerful.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 play needs too much time.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double-dummy approach to evaluate the contract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j) = 12 means AI(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wins 12 IMPs against AI(j) on a 64-board match.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tables. With same hand, AI(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sits NS position at one table, and sits EW position at the other table.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pair of seed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j) uses different boards.</a:t>
            </a:r>
          </a:p>
        </p:txBody>
      </p:sp>
    </p:spTree>
    <p:extLst>
      <p:ext uri="{BB962C8B-B14F-4D97-AF65-F5344CB8AC3E}">
        <p14:creationId xmlns:p14="http://schemas.microsoft.com/office/powerpoint/2010/main" val="3608985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D2FD8-4CB3-A145-8E9C-0573499C5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B565CE-CAB5-AD47-993F-3375C10124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415156" cy="4876511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Uses cross-validation between 40 seeds.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39</a:t>
                </a:r>
                <a:r>
                  <a:rPr lang="en-US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best one, which wins 269 IMPs over 39*64 boards. (0.11 IMP per board)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Best seed (39</a:t>
                </a:r>
                <a:r>
                  <a:rPr lang="en-US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against worst seed (22</a:t>
                </a:r>
                <a:r>
                  <a:rPr lang="en-US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nd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best seed wins 163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2.62 IMPs over 1000 boards. (0.16 IMP per board)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Best seed (39</a:t>
                </a:r>
                <a:r>
                  <a:rPr lang="en-US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against second best seed (13</a:t>
                </a:r>
                <a:r>
                  <a:rPr lang="en-US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which wins 269 IMPs over 39*64 boards): best seed wins 138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2.86 IMPs over 1000 boards. (0.14 IMP per board)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Best seed (39</a:t>
                </a:r>
                <a:r>
                  <a:rPr lang="en-US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against previous version of Wbridge5: best seed wins 97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2.75 IMPs over 1000 boards. (</a:t>
                </a:r>
                <a:r>
                  <a:rPr 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0.10 IMP per board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B565CE-CAB5-AD47-993F-3375C10124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415156" cy="4876511"/>
              </a:xfrm>
              <a:blipFill>
                <a:blip r:embed="rId2"/>
                <a:stretch>
                  <a:fillRect l="-974" t="-1563" r="-853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2451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D2FD8-4CB3-A145-8E9C-0573499C5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565CE-CAB5-AD47-993F-3375C1012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boosted Wbridge5 AI won the 20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World Computer-Bridge Championship.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Round-robin: wins first place. (VP score of top three: 91.87, 90.07, 89.21)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Semi-final: 140.6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131 (IMPs) over 64 boards. (0.15 IMPs per board)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Final: 162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156 (IMPs) over 64 boards. (0.09 IMPs per board)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championship Jack was absent.</a:t>
            </a:r>
          </a:p>
          <a:p>
            <a:pPr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61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D2FD8-4CB3-A145-8E9C-0573499C5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565CE-CAB5-AD47-993F-3375C1012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practice, double-dummy approach is used in the first to fourth rounds, and single-dummy approach (more effective but more costly) is used in the rest of the rounds. (computational reasons)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Single-dummy approach is usually kept private because it is built by developers’ own strategies.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 AI has shortcoming in card play stage: it can only consider the information from bidding stage, but it cannot consider the information from previous played cards.</a:t>
            </a:r>
          </a:p>
        </p:txBody>
      </p:sp>
    </p:spTree>
    <p:extLst>
      <p:ext uri="{BB962C8B-B14F-4D97-AF65-F5344CB8AC3E}">
        <p14:creationId xmlns:p14="http://schemas.microsoft.com/office/powerpoint/2010/main" val="3543726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1323</TotalTime>
  <Words>775</Words>
  <Application>Microsoft Macintosh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新細明體</vt:lpstr>
      <vt:lpstr>Arial</vt:lpstr>
      <vt:lpstr>Calibri</vt:lpstr>
      <vt:lpstr>Calibri Light</vt:lpstr>
      <vt:lpstr>Cambria Math</vt:lpstr>
      <vt:lpstr>Times New Roman</vt:lpstr>
      <vt:lpstr>Office Theme</vt:lpstr>
      <vt:lpstr>Boosting a Bridge Artificial Intelligence</vt:lpstr>
      <vt:lpstr>Abstract</vt:lpstr>
      <vt:lpstr>Seed Methodology</vt:lpstr>
      <vt:lpstr>Seed Methodology</vt:lpstr>
      <vt:lpstr>Implementation</vt:lpstr>
      <vt:lpstr>Result</vt:lpstr>
      <vt:lpstr>Others</vt:lpstr>
      <vt:lpstr>Others</vt:lpstr>
    </vt:vector>
  </TitlesOfParts>
  <Company/>
  <LinksUpToDate>false</LinksUpToDate>
  <SharedDoc>false</SharedDoc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Boosting a Bridge Artificial Intelligence</dc:title>
  <dc:creator>Microsoft Office 使用者</dc:creator>
  <cp:lastModifiedBy>Microsoft Office 使用者</cp:lastModifiedBy>
  <cp:revision>60</cp:revision>
  <dcterms:created xsi:type="dcterms:W3CDTF">2022-09-25T10:55:58Z</dcterms:created>
  <dcterms:modified xsi:type="dcterms:W3CDTF">2022-09-27T06:09:59Z</dcterms:modified>
</cp:coreProperties>
</file>