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91" r:id="rId3"/>
    <p:sldId id="258" r:id="rId4"/>
    <p:sldId id="316" r:id="rId5"/>
    <p:sldId id="313" r:id="rId6"/>
    <p:sldId id="317" r:id="rId7"/>
    <p:sldId id="315" r:id="rId8"/>
    <p:sldId id="318" r:id="rId9"/>
    <p:sldId id="319" r:id="rId10"/>
    <p:sldId id="314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2275" autoAdjust="0"/>
  </p:normalViewPr>
  <p:slideViewPr>
    <p:cSldViewPr snapToGrid="0">
      <p:cViewPr varScale="1">
        <p:scale>
          <a:sx n="67" d="100"/>
          <a:sy n="67" d="100"/>
        </p:scale>
        <p:origin x="8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6E253-0C11-433E-BFC3-9EAF88CE3C90}" type="datetimeFigureOut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2B2AC-1C42-46CA-87D8-F081B650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618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FD0D-02DC-45DD-A4EF-5039129EB53C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6968-6609-415E-927D-3FD7D0A68C47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9A63B-7BC3-4959-B642-6CE61F8529F4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8527-84CC-495C-B6D5-645C3A3C934C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C9E45-371D-4261-A34D-66AF68293B71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E153-9F2F-4257-9A1F-493FBF55E003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9DB-A86B-40E5-BB32-C95188635F17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C5C3-6ED1-4188-9C83-0A8422E4EABA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827E-66AD-49B7-9682-07CFB88B8B50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CF21C-D548-46E3-B09B-1E69087335CD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D679A-4754-4311-8DBE-4115BFACD3C8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BB80C-0DBD-42E8-BF5C-AC5D9847E869}" type="datetime1">
              <a:rPr lang="zh-TW" altLang="en-US" smtClean="0"/>
              <a:t>2022/5/8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92924" y="1101342"/>
            <a:ext cx="10212138" cy="1299561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increasing subsequences in sliding</a:t>
            </a:r>
            <a:b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Michael H. Albert , Alexander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Golynski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Angele M. Hamel, Alejandro Lopez-Ortiz , S. Srinivasa Rao , Mohammad Ali Safari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 321 (2004) 405–414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888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May 9, 2022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A200FF1-1E71-4070-A8EE-BF584004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689"/>
            <a:ext cx="10515600" cy="4055592"/>
          </a:xfrm>
        </p:spPr>
        <p:txBody>
          <a:bodyPr>
            <a:normAutofit/>
          </a:bodyPr>
          <a:lstStyle/>
          <a:p>
            <a:r>
              <a:rPr lang="en-US" altLang="zh-TW" dirty="0"/>
              <a:t>We consider the problem of finding the longest increasing subsequence in a sliding window over a given sequence (LISW). We propose an output-sensitive data structure that solves this problem in time O(n log </a:t>
            </a:r>
            <a:r>
              <a:rPr lang="en-US" altLang="zh-TW" dirty="0" err="1"/>
              <a:t>log</a:t>
            </a:r>
            <a:r>
              <a:rPr lang="en-US" altLang="zh-TW" dirty="0"/>
              <a:t> n +OUTPUT) for a sequence of n elements. This data structure substantially improves over the naive generalization of the longest</a:t>
            </a:r>
            <a:r>
              <a:rPr lang="zh-TW" altLang="en-US" dirty="0"/>
              <a:t> </a:t>
            </a:r>
            <a:r>
              <a:rPr lang="en-US" altLang="zh-TW" dirty="0"/>
              <a:t>increasing subsequence algorithm and in fact produces an output-sensitive optimal solution.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66B1A2-0D4D-4993-945C-45C1D34E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4252" cy="1325563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LIS (Longest Increasing Subsequence)</a:t>
            </a:r>
            <a:endParaRPr lang="en-US" altLang="zh-TW" sz="36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A =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35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7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8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16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514710" indent="-51435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O(n log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log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n)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1DB4B75-6C44-BA4A-70E6-BD60B09A4344}"/>
              </a:ext>
            </a:extLst>
          </p:cNvPr>
          <p:cNvSpPr txBox="1"/>
          <p:nvPr/>
        </p:nvSpPr>
        <p:spPr>
          <a:xfrm>
            <a:off x="6233652" y="1668036"/>
            <a:ext cx="56388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3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35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25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257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247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2478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1478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1468</a:t>
            </a: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7790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4775" y="365125"/>
            <a:ext cx="12087225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/>
              <a:t>LISW (Longest increasing subsequences in sliding windows)</a:t>
            </a:r>
            <a:endParaRPr lang="en-US" altLang="zh-TW" sz="36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A = </a:t>
            </a:r>
            <a:r>
              <a:rPr lang="en-US" altLang="zh-TW" spc="-1" dirty="0">
                <a:latin typeface="Times New Roman"/>
              </a:rPr>
              <a:t>257368491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514710" indent="-51435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514710" indent="-51435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each window: O(w log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log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w)</a:t>
            </a:r>
          </a:p>
          <a:p>
            <a:pPr marL="514710" indent="-51435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naive </a:t>
            </a:r>
            <a:r>
              <a:rPr lang="en-US" altLang="zh-TW" sz="2800" dirty="0"/>
              <a:t>LISW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pl-PL" altLang="zh-TW" spc="-1" dirty="0">
                <a:solidFill>
                  <a:srgbClr val="000000"/>
                </a:solidFill>
                <a:latin typeface="Times New Roman"/>
              </a:rPr>
              <a:t>O(nw log log w)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E8B65A5-2DD7-D87D-EF3B-25A25E2BC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89801"/>
            <a:ext cx="10433768" cy="111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1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803F943-54A7-692C-2BDC-D333DAB6C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82" y="1633538"/>
            <a:ext cx="11456036" cy="406418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row tower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1060"/>
          </a:xfrm>
        </p:spPr>
        <p:txBody>
          <a:bodyPr>
            <a:norm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CFD835-1857-4C48-86E6-01805FC4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094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803F943-54A7-692C-2BDC-D333DAB6C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82" y="1633538"/>
            <a:ext cx="11456036" cy="406418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drop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out times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1060"/>
          </a:xfrm>
        </p:spPr>
        <p:txBody>
          <a:bodyPr>
            <a:norm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>
                <a:latin typeface="Times New Roman" panose="02020603050405020304" pitchFamily="18" charset="0"/>
              </a:rPr>
              <a:t>drop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out times = (7, 3, 8, 1)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CFD835-1857-4C48-86E6-01805FC4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41E7AE-5CC1-A8D3-4AC4-FCE7E1FD2138}"/>
              </a:ext>
            </a:extLst>
          </p:cNvPr>
          <p:cNvSpPr/>
          <p:nvPr/>
        </p:nvSpPr>
        <p:spPr>
          <a:xfrm>
            <a:off x="10172700" y="1825625"/>
            <a:ext cx="1485900" cy="2898775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289581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sliding window (1/3)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1060"/>
          </a:xfrm>
        </p:spPr>
        <p:txBody>
          <a:bodyPr>
            <a:norm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CFD835-1857-4C48-86E6-01805FC4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3736AD23-314B-915E-8444-59E0992D4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09" y="1820835"/>
            <a:ext cx="11044981" cy="369895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F174223-1494-BCBE-5752-35F15443B9F1}"/>
              </a:ext>
            </a:extLst>
          </p:cNvPr>
          <p:cNvSpPr txBox="1"/>
          <p:nvPr/>
        </p:nvSpPr>
        <p:spPr>
          <a:xfrm>
            <a:off x="573509" y="5395078"/>
            <a:ext cx="1131570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400" dirty="0">
                <a:latin typeface="Times New Roman" panose="02020603050405020304" pitchFamily="18" charset="0"/>
              </a:rPr>
              <a:t>drop out times =  (1, 4, 5, 6)   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400" dirty="0">
                <a:latin typeface="Times New Roman" panose="02020603050405020304" pitchFamily="18" charset="0"/>
              </a:rPr>
              <a:t>remove 2: (3, 4, 5)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400" dirty="0">
                <a:latin typeface="Times New Roman" panose="02020603050405020304" pitchFamily="18" charset="0"/>
              </a:rPr>
              <a:t>add 4: (3, 6, 4)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z="2000" dirty="0">
              <a:latin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98E80F-E5EC-4A05-A369-A2BAAD56DE9C}"/>
              </a:ext>
            </a:extLst>
          </p:cNvPr>
          <p:cNvSpPr/>
          <p:nvPr/>
        </p:nvSpPr>
        <p:spPr>
          <a:xfrm>
            <a:off x="1876424" y="2362953"/>
            <a:ext cx="4143375" cy="249479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59090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sliding window (2/3)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1060"/>
          </a:xfrm>
        </p:spPr>
        <p:txBody>
          <a:bodyPr>
            <a:norm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CFD835-1857-4C48-86E6-01805FC4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3736AD23-314B-915E-8444-59E0992D4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09" y="1820835"/>
            <a:ext cx="11044981" cy="369895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F174223-1494-BCBE-5752-35F15443B9F1}"/>
              </a:ext>
            </a:extLst>
          </p:cNvPr>
          <p:cNvSpPr txBox="1"/>
          <p:nvPr/>
        </p:nvSpPr>
        <p:spPr>
          <a:xfrm>
            <a:off x="573509" y="5395078"/>
            <a:ext cx="1131570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400" dirty="0">
                <a:latin typeface="Times New Roman" panose="02020603050405020304" pitchFamily="18" charset="0"/>
              </a:rPr>
              <a:t>drop out times =  (3, 6, 4)   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400" dirty="0">
                <a:latin typeface="Times New Roman" panose="02020603050405020304" pitchFamily="18" charset="0"/>
              </a:rPr>
              <a:t>remove 5: (2, 5, 3)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400" dirty="0">
                <a:latin typeface="Times New Roman" panose="02020603050405020304" pitchFamily="18" charset="0"/>
              </a:rPr>
              <a:t>add 9: (2, 5, 3, 6)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z="2000" dirty="0">
              <a:latin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98E80F-E5EC-4A05-A369-A2BAAD56DE9C}"/>
              </a:ext>
            </a:extLst>
          </p:cNvPr>
          <p:cNvSpPr/>
          <p:nvPr/>
        </p:nvSpPr>
        <p:spPr>
          <a:xfrm>
            <a:off x="4600574" y="2362953"/>
            <a:ext cx="4143375" cy="249479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27502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sliding window (3/3)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1060"/>
          </a:xfrm>
        </p:spPr>
        <p:txBody>
          <a:bodyPr>
            <a:norm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CFD835-1857-4C48-86E6-01805FC4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3736AD23-314B-915E-8444-59E0992D4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09" y="1820835"/>
            <a:ext cx="11044981" cy="369895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F174223-1494-BCBE-5752-35F15443B9F1}"/>
              </a:ext>
            </a:extLst>
          </p:cNvPr>
          <p:cNvSpPr txBox="1"/>
          <p:nvPr/>
        </p:nvSpPr>
        <p:spPr>
          <a:xfrm>
            <a:off x="573509" y="5404603"/>
            <a:ext cx="1131570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400" dirty="0">
                <a:latin typeface="Times New Roman" panose="02020603050405020304" pitchFamily="18" charset="0"/>
              </a:rPr>
              <a:t>drop out times =  (2, 5, 3, 6)   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400" dirty="0">
                <a:latin typeface="Times New Roman" panose="02020603050405020304" pitchFamily="18" charset="0"/>
              </a:rPr>
              <a:t>remove 7: (1, 4, 2, 5)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400" dirty="0">
                <a:latin typeface="Times New Roman" panose="02020603050405020304" pitchFamily="18" charset="0"/>
              </a:rPr>
              <a:t>add 1: (6, 1, 4, 2)</a:t>
            </a:r>
            <a:r>
              <a:rPr lang="zh-TW" altLang="en-US" sz="2400" dirty="0">
                <a:latin typeface="Times New Roman" panose="02020603050405020304" pitchFamily="18" charset="0"/>
              </a:rPr>
              <a:t>   </a:t>
            </a:r>
            <a:r>
              <a:rPr lang="en-US" altLang="zh-TW" sz="2400" dirty="0">
                <a:latin typeface="Times New Roman" panose="02020603050405020304" pitchFamily="18" charset="0"/>
              </a:rPr>
              <a:t>(6, 1, 2, 4)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z="2000" dirty="0">
              <a:latin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98E80F-E5EC-4A05-A369-A2BAAD56DE9C}"/>
              </a:ext>
            </a:extLst>
          </p:cNvPr>
          <p:cNvSpPr/>
          <p:nvPr/>
        </p:nvSpPr>
        <p:spPr>
          <a:xfrm>
            <a:off x="7286624" y="2362953"/>
            <a:ext cx="4143375" cy="249479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256275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complexity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1060"/>
          </a:xfrm>
        </p:spPr>
        <p:txBody>
          <a:bodyPr>
            <a:norm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pc="-1" dirty="0">
                <a:solidFill>
                  <a:srgbClr val="000000"/>
                </a:solidFill>
              </a:rPr>
              <a:t>remove / add : O(</a:t>
            </a:r>
            <a:r>
              <a:rPr lang="zh-TW" altLang="en-US" spc="-1" dirty="0">
                <a:solidFill>
                  <a:srgbClr val="000000"/>
                </a:solidFill>
              </a:rPr>
              <a:t>𝓁</a:t>
            </a:r>
            <a:r>
              <a:rPr lang="en-US" altLang="zh-TW" spc="-1" dirty="0">
                <a:solidFill>
                  <a:srgbClr val="000000"/>
                </a:solidFill>
              </a:rPr>
              <a:t>)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pc="-1" dirty="0">
                <a:solidFill>
                  <a:srgbClr val="000000"/>
                </a:solidFill>
              </a:rPr>
              <a:t>initialization: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pc="-1" dirty="0">
                <a:solidFill>
                  <a:srgbClr val="000000"/>
                </a:solidFill>
              </a:rPr>
              <a:t>output: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pc="-1" dirty="0">
                <a:solidFill>
                  <a:srgbClr val="000000"/>
                </a:solidFill>
              </a:rPr>
              <a:t>total:  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CFD835-1857-4C48-86E6-01805FC4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9FFE781-41EF-DBA4-7BCD-355B88128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66" y="4627593"/>
            <a:ext cx="3320893" cy="42224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E6045BF-B407-9B73-B232-6E11A0C36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888" y="3716779"/>
            <a:ext cx="2389451" cy="39293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A25582B-AD5A-6FB1-A7FB-408EA8135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158" y="2777326"/>
            <a:ext cx="3240715" cy="42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2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11868</TotalTime>
  <Words>349</Words>
  <Application>Microsoft Office PowerPoint</Application>
  <PresentationFormat>寬螢幕</PresentationFormat>
  <Paragraphs>101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佈景主題</vt:lpstr>
      <vt:lpstr>Longest increasing subsequences in sliding windows</vt:lpstr>
      <vt:lpstr>Abstract</vt:lpstr>
      <vt:lpstr>LIS (Longest Increasing Subsequence)</vt:lpstr>
      <vt:lpstr>LISW (Longest increasing subsequences in sliding windows)</vt:lpstr>
      <vt:lpstr>row tower</vt:lpstr>
      <vt:lpstr>drop out times</vt:lpstr>
      <vt:lpstr>sliding window (1/3)</vt:lpstr>
      <vt:lpstr>sliding window (2/3)</vt:lpstr>
      <vt:lpstr>sliding window (3/3)</vt:lpstr>
      <vt:lpstr>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M103040056</cp:lastModifiedBy>
  <cp:revision>388</cp:revision>
  <dcterms:created xsi:type="dcterms:W3CDTF">2021-01-03T09:53:04Z</dcterms:created>
  <dcterms:modified xsi:type="dcterms:W3CDTF">2022-05-12T06:52:57Z</dcterms:modified>
</cp:coreProperties>
</file>