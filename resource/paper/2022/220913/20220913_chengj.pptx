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9221D89-7331-4929-97B5-E6FE007A3512}">
  <a:tblStyle styleId="{19221D89-7331-4929-97B5-E6FE007A351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529536bda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529536bda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1529536bdaa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1529536bda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529536bdaa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529536bdaa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1529536bdaa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1529536bdaa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529536bdaa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1529536bdaa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529dd3040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529dd3040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529536bdaa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1529536bdaa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529536bdaa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1529536bdaa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529792469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529792469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529536bdaa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529536bdaa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529536bdaa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529536bdaa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529536bdaa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1529536bdaa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52f2af7d64_4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152f2af7d64_4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52f2af7d64_4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152f2af7d64_4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529536bdaa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529536bdaa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529a603a4e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1529a603a4e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52f2af7d64_2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52f2af7d64_2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7.png"/><Relationship Id="rId5" Type="http://schemas.openxmlformats.org/officeDocument/2006/relationships/image" Target="../media/image12.png"/><Relationship Id="rId6"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zh-TW">
                <a:latin typeface="Times New Roman"/>
                <a:ea typeface="Times New Roman"/>
                <a:cs typeface="Times New Roman"/>
                <a:sym typeface="Times New Roman"/>
              </a:rPr>
              <a:t>Modified Genetic Algorithm </a:t>
            </a:r>
            <a:endParaRPr>
              <a:latin typeface="Times New Roman"/>
              <a:ea typeface="Times New Roman"/>
              <a:cs typeface="Times New Roman"/>
              <a:sym typeface="Times New Roman"/>
            </a:endParaRPr>
          </a:p>
          <a:p>
            <a:pPr indent="0" lvl="0" marL="0" rtl="0" algn="ctr">
              <a:spcBef>
                <a:spcPts val="0"/>
              </a:spcBef>
              <a:spcAft>
                <a:spcPts val="0"/>
              </a:spcAft>
              <a:buNone/>
            </a:pPr>
            <a:r>
              <a:rPr lang="zh-TW">
                <a:latin typeface="Times New Roman"/>
                <a:ea typeface="Times New Roman"/>
                <a:cs typeface="Times New Roman"/>
                <a:sym typeface="Times New Roman"/>
              </a:rPr>
              <a:t>for Solving n-Queens Problem</a:t>
            </a:r>
            <a:endParaRPr>
              <a:latin typeface="Times New Roman"/>
              <a:ea typeface="Times New Roman"/>
              <a:cs typeface="Times New Roman"/>
              <a:sym typeface="Times New Roman"/>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zh-TW">
                <a:solidFill>
                  <a:schemeClr val="dk1"/>
                </a:solidFill>
                <a:latin typeface="Times New Roman"/>
                <a:ea typeface="Times New Roman"/>
                <a:cs typeface="Times New Roman"/>
                <a:sym typeface="Times New Roman"/>
              </a:rPr>
              <a:t>Jalal eddin Aghazadeh heris, Mohammadreza Asgari Oskoei</a:t>
            </a:r>
            <a:endParaRPr>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lang="zh-TW">
                <a:solidFill>
                  <a:schemeClr val="dk1"/>
                </a:solidFill>
                <a:latin typeface="Times New Roman"/>
                <a:ea typeface="Times New Roman"/>
                <a:cs typeface="Times New Roman"/>
                <a:sym typeface="Times New Roman"/>
              </a:rPr>
              <a:t>Iranian Conference on Intelligent Systems (ICIS), 2014</a:t>
            </a:r>
            <a:endParaRPr>
              <a:solidFill>
                <a:schemeClr val="dk1"/>
              </a:solidFill>
              <a:latin typeface="Times New Roman"/>
              <a:ea typeface="Times New Roman"/>
              <a:cs typeface="Times New Roman"/>
              <a:sym typeface="Times New Roman"/>
            </a:endParaRPr>
          </a:p>
        </p:txBody>
      </p:sp>
      <p:sp>
        <p:nvSpPr>
          <p:cNvPr id="56" name="Google Shape;56;p13"/>
          <p:cNvSpPr txBox="1"/>
          <p:nvPr/>
        </p:nvSpPr>
        <p:spPr>
          <a:xfrm>
            <a:off x="5223900" y="4343100"/>
            <a:ext cx="3920100" cy="800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zh-TW" sz="2000">
                <a:latin typeface="Times New Roman"/>
                <a:ea typeface="Times New Roman"/>
                <a:cs typeface="Times New Roman"/>
                <a:sym typeface="Times New Roman"/>
              </a:rPr>
              <a:t>Presenter: Chen Guan-Jie</a:t>
            </a:r>
            <a:endParaRPr sz="2000">
              <a:latin typeface="Times New Roman"/>
              <a:ea typeface="Times New Roman"/>
              <a:cs typeface="Times New Roman"/>
              <a:sym typeface="Times New Roman"/>
            </a:endParaRPr>
          </a:p>
          <a:p>
            <a:pPr indent="0" lvl="0" marL="0" rtl="0" algn="r">
              <a:spcBef>
                <a:spcPts val="0"/>
              </a:spcBef>
              <a:spcAft>
                <a:spcPts val="0"/>
              </a:spcAft>
              <a:buNone/>
            </a:pPr>
            <a:r>
              <a:rPr lang="zh-TW" sz="2000">
                <a:latin typeface="Times New Roman"/>
                <a:ea typeface="Times New Roman"/>
                <a:cs typeface="Times New Roman"/>
                <a:sym typeface="Times New Roman"/>
              </a:rPr>
              <a:t>Date: Sept, 13, 2022</a:t>
            </a:r>
            <a:endParaRPr sz="200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290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Abstract (1 / 2)</a:t>
            </a:r>
            <a:endParaRPr>
              <a:latin typeface="Times New Roman"/>
              <a:ea typeface="Times New Roman"/>
              <a:cs typeface="Times New Roman"/>
              <a:sym typeface="Times New Roman"/>
            </a:endParaRPr>
          </a:p>
        </p:txBody>
      </p:sp>
      <p:sp>
        <p:nvSpPr>
          <p:cNvPr id="62" name="Google Shape;62;p14"/>
          <p:cNvSpPr txBox="1"/>
          <p:nvPr>
            <p:ph idx="1" type="body"/>
          </p:nvPr>
        </p:nvSpPr>
        <p:spPr>
          <a:xfrm>
            <a:off x="311700" y="8635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zh-TW" sz="2400">
                <a:solidFill>
                  <a:schemeClr val="dk1"/>
                </a:solidFill>
                <a:latin typeface="Times New Roman"/>
                <a:ea typeface="Times New Roman"/>
                <a:cs typeface="Times New Roman"/>
                <a:sym typeface="Times New Roman"/>
              </a:rPr>
              <a:t>Genetic algorithm is applicable to a wide range of constraint satisfaction problems such as n-queens problem. In the absence of specialized solution for a particular problem, genetic algorithm would be efficient. But holism and random choices cause problem for genetic algorithm in searching large state spaces. So, the efficiency of this algorithm would be demoted when the size of state space of the problem grows exponentially. In this paper, we attempt to cover this weakness by using local search algorithm like minimal conflicts algorithm.</a:t>
            </a:r>
            <a:endParaRPr sz="2400">
              <a:solidFill>
                <a:schemeClr val="dk1"/>
              </a:solidFill>
              <a:latin typeface="Times New Roman"/>
              <a:ea typeface="Times New Roman"/>
              <a:cs typeface="Times New Roman"/>
              <a:sym typeface="Times New Roman"/>
            </a:endParaRPr>
          </a:p>
        </p:txBody>
      </p:sp>
      <p:sp>
        <p:nvSpPr>
          <p:cNvPr id="63" name="Google Shape;6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290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Abstract (2 / 2)</a:t>
            </a:r>
            <a:endParaRPr>
              <a:latin typeface="Times New Roman"/>
              <a:ea typeface="Times New Roman"/>
              <a:cs typeface="Times New Roman"/>
              <a:sym typeface="Times New Roman"/>
            </a:endParaRPr>
          </a:p>
        </p:txBody>
      </p:sp>
      <p:sp>
        <p:nvSpPr>
          <p:cNvPr id="69" name="Google Shape;69;p15"/>
          <p:cNvSpPr txBox="1"/>
          <p:nvPr>
            <p:ph idx="1" type="body"/>
          </p:nvPr>
        </p:nvSpPr>
        <p:spPr>
          <a:xfrm>
            <a:off x="311700" y="8635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zh-TW" sz="2400">
                <a:solidFill>
                  <a:srgbClr val="000000"/>
                </a:solidFill>
                <a:latin typeface="Times New Roman"/>
                <a:ea typeface="Times New Roman"/>
                <a:cs typeface="Times New Roman"/>
                <a:sym typeface="Times New Roman"/>
              </a:rPr>
              <a:t>Minimal conflicts algorithm is trying to provide partial view for genetic algorithm by locally searching the state space. This may cause genetic algorithm to take longer steps toward the solution. Modified genetic algorithm, is the result of collaboration between genetic algorithm and minimal conflicts algorithm. Comparing the results of applying standard genetic algorithm and modified genetic algorithm on n-queens problem in section VI, indicates the amount of performance improvement.</a:t>
            </a:r>
            <a:endParaRPr sz="2400">
              <a:solidFill>
                <a:srgbClr val="000000"/>
              </a:solidFill>
              <a:latin typeface="Times New Roman"/>
              <a:ea typeface="Times New Roman"/>
              <a:cs typeface="Times New Roman"/>
              <a:sym typeface="Times New Roman"/>
            </a:endParaRPr>
          </a:p>
        </p:txBody>
      </p:sp>
      <p:sp>
        <p:nvSpPr>
          <p:cNvPr id="70" name="Google Shape;7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N-queens Problem</a:t>
            </a:r>
            <a:endParaRPr>
              <a:latin typeface="Times New Roman"/>
              <a:ea typeface="Times New Roman"/>
              <a:cs typeface="Times New Roman"/>
              <a:sym typeface="Times New Roman"/>
            </a:endParaRPr>
          </a:p>
        </p:txBody>
      </p:sp>
      <p:sp>
        <p:nvSpPr>
          <p:cNvPr id="76" name="Google Shape;76;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Rules</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zh-TW" sz="2400">
                <a:solidFill>
                  <a:schemeClr val="dk1"/>
                </a:solidFill>
                <a:latin typeface="Times New Roman"/>
                <a:ea typeface="Times New Roman"/>
                <a:cs typeface="Times New Roman"/>
                <a:sym typeface="Times New Roman"/>
              </a:rPr>
              <a:t>．1: no two queens can share a same row</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zh-TW" sz="2400">
                <a:solidFill>
                  <a:schemeClr val="dk1"/>
                </a:solidFill>
                <a:latin typeface="Times New Roman"/>
                <a:ea typeface="Times New Roman"/>
                <a:cs typeface="Times New Roman"/>
                <a:sym typeface="Times New Roman"/>
              </a:rPr>
              <a:t>．2: no two queens can share a same column</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zh-TW" sz="2400">
                <a:solidFill>
                  <a:schemeClr val="dk1"/>
                </a:solidFill>
                <a:latin typeface="Times New Roman"/>
                <a:ea typeface="Times New Roman"/>
                <a:cs typeface="Times New Roman"/>
                <a:sym typeface="Times New Roman"/>
              </a:rPr>
              <a:t>．3: no two queens can share a same diameter</a:t>
            </a:r>
            <a:endParaRPr sz="2400">
              <a:solidFill>
                <a:schemeClr val="dk1"/>
              </a:solidFill>
              <a:latin typeface="Times New Roman"/>
              <a:ea typeface="Times New Roman"/>
              <a:cs typeface="Times New Roman"/>
              <a:sym typeface="Times New Roman"/>
            </a:endParaRPr>
          </a:p>
        </p:txBody>
      </p:sp>
      <p:pic>
        <p:nvPicPr>
          <p:cNvPr id="77" name="Google Shape;77;p16"/>
          <p:cNvPicPr preferRelativeResize="0"/>
          <p:nvPr/>
        </p:nvPicPr>
        <p:blipFill>
          <a:blip r:embed="rId3">
            <a:alphaModFix/>
          </a:blip>
          <a:stretch>
            <a:fillRect/>
          </a:stretch>
        </p:blipFill>
        <p:spPr>
          <a:xfrm>
            <a:off x="6416899" y="1477476"/>
            <a:ext cx="2339200" cy="2339225"/>
          </a:xfrm>
          <a:prstGeom prst="rect">
            <a:avLst/>
          </a:prstGeom>
          <a:noFill/>
          <a:ln>
            <a:noFill/>
          </a:ln>
        </p:spPr>
      </p:pic>
      <p:sp>
        <p:nvSpPr>
          <p:cNvPr id="78" name="Google Shape;78;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zh-TW">
                <a:latin typeface="Times New Roman"/>
                <a:ea typeface="Times New Roman"/>
                <a:cs typeface="Times New Roman"/>
                <a:sym typeface="Times New Roman"/>
              </a:rPr>
              <a:t>N-queens Problem</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84" name="Google Shape;84;p17"/>
          <p:cNvSpPr txBox="1"/>
          <p:nvPr>
            <p:ph idx="1" type="body"/>
          </p:nvPr>
        </p:nvSpPr>
        <p:spPr>
          <a:xfrm>
            <a:off x="311700" y="1152475"/>
            <a:ext cx="8832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C</a:t>
            </a:r>
            <a:r>
              <a:rPr lang="zh-TW" sz="2400">
                <a:solidFill>
                  <a:schemeClr val="dk1"/>
                </a:solidFill>
                <a:latin typeface="Times New Roman"/>
                <a:ea typeface="Times New Roman"/>
                <a:cs typeface="Times New Roman"/>
                <a:sym typeface="Times New Roman"/>
              </a:rPr>
              <a:t>onstraints</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zh-TW"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p:txBody>
      </p:sp>
      <p:pic>
        <p:nvPicPr>
          <p:cNvPr id="85" name="Google Shape;85;p17"/>
          <p:cNvPicPr preferRelativeResize="0"/>
          <p:nvPr/>
        </p:nvPicPr>
        <p:blipFill>
          <a:blip r:embed="rId3">
            <a:alphaModFix/>
          </a:blip>
          <a:stretch>
            <a:fillRect/>
          </a:stretch>
        </p:blipFill>
        <p:spPr>
          <a:xfrm>
            <a:off x="871549" y="2057400"/>
            <a:ext cx="4409281" cy="628650"/>
          </a:xfrm>
          <a:prstGeom prst="rect">
            <a:avLst/>
          </a:prstGeom>
          <a:noFill/>
          <a:ln>
            <a:noFill/>
          </a:ln>
        </p:spPr>
      </p:pic>
      <p:pic>
        <p:nvPicPr>
          <p:cNvPr id="86" name="Google Shape;86;p17"/>
          <p:cNvPicPr preferRelativeResize="0"/>
          <p:nvPr/>
        </p:nvPicPr>
        <p:blipFill rotWithShape="1">
          <a:blip r:embed="rId4">
            <a:alphaModFix/>
          </a:blip>
          <a:srcRect b="0" l="0" r="0" t="0"/>
          <a:stretch/>
        </p:blipFill>
        <p:spPr>
          <a:xfrm>
            <a:off x="769425" y="2872524"/>
            <a:ext cx="2729057" cy="581025"/>
          </a:xfrm>
          <a:prstGeom prst="rect">
            <a:avLst/>
          </a:prstGeom>
          <a:noFill/>
          <a:ln>
            <a:noFill/>
          </a:ln>
        </p:spPr>
      </p:pic>
      <p:pic>
        <p:nvPicPr>
          <p:cNvPr id="87" name="Google Shape;87;p17"/>
          <p:cNvPicPr preferRelativeResize="0"/>
          <p:nvPr/>
        </p:nvPicPr>
        <p:blipFill rotWithShape="1">
          <a:blip r:embed="rId5">
            <a:alphaModFix/>
          </a:blip>
          <a:srcRect b="720" l="-1390" r="1390" t="-719"/>
          <a:stretch/>
        </p:blipFill>
        <p:spPr>
          <a:xfrm>
            <a:off x="866773" y="3640023"/>
            <a:ext cx="3331408" cy="533375"/>
          </a:xfrm>
          <a:prstGeom prst="rect">
            <a:avLst/>
          </a:prstGeom>
          <a:noFill/>
          <a:ln>
            <a:noFill/>
          </a:ln>
        </p:spPr>
      </p:pic>
      <p:pic>
        <p:nvPicPr>
          <p:cNvPr id="88" name="Google Shape;88;p17"/>
          <p:cNvPicPr preferRelativeResize="0"/>
          <p:nvPr/>
        </p:nvPicPr>
        <p:blipFill>
          <a:blip r:embed="rId6">
            <a:alphaModFix/>
          </a:blip>
          <a:stretch>
            <a:fillRect/>
          </a:stretch>
        </p:blipFill>
        <p:spPr>
          <a:xfrm>
            <a:off x="6416899" y="1477476"/>
            <a:ext cx="2339200" cy="2339225"/>
          </a:xfrm>
          <a:prstGeom prst="rect">
            <a:avLst/>
          </a:prstGeom>
          <a:noFill/>
          <a:ln>
            <a:noFill/>
          </a:ln>
        </p:spPr>
      </p:pic>
      <p:sp>
        <p:nvSpPr>
          <p:cNvPr id="89" name="Google Shape;89;p17"/>
          <p:cNvSpPr txBox="1"/>
          <p:nvPr/>
        </p:nvSpPr>
        <p:spPr>
          <a:xfrm>
            <a:off x="5196000" y="2051800"/>
            <a:ext cx="3948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400">
                <a:latin typeface="Times New Roman"/>
                <a:ea typeface="Times New Roman"/>
                <a:cs typeface="Times New Roman"/>
                <a:sym typeface="Times New Roman"/>
              </a:rPr>
              <a:t>(rule2)</a:t>
            </a:r>
            <a:endParaRPr sz="2400">
              <a:latin typeface="Times New Roman"/>
              <a:ea typeface="Times New Roman"/>
              <a:cs typeface="Times New Roman"/>
              <a:sym typeface="Times New Roman"/>
            </a:endParaRPr>
          </a:p>
        </p:txBody>
      </p:sp>
      <p:sp>
        <p:nvSpPr>
          <p:cNvPr id="90" name="Google Shape;90;p17"/>
          <p:cNvSpPr txBox="1"/>
          <p:nvPr/>
        </p:nvSpPr>
        <p:spPr>
          <a:xfrm>
            <a:off x="3448250" y="2885988"/>
            <a:ext cx="3948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400">
                <a:latin typeface="Times New Roman"/>
                <a:ea typeface="Times New Roman"/>
                <a:cs typeface="Times New Roman"/>
                <a:sym typeface="Times New Roman"/>
              </a:rPr>
              <a:t>(rule1)</a:t>
            </a:r>
            <a:endParaRPr sz="2400">
              <a:latin typeface="Times New Roman"/>
              <a:ea typeface="Times New Roman"/>
              <a:cs typeface="Times New Roman"/>
              <a:sym typeface="Times New Roman"/>
            </a:endParaRPr>
          </a:p>
        </p:txBody>
      </p:sp>
      <p:sp>
        <p:nvSpPr>
          <p:cNvPr id="91" name="Google Shape;91;p17"/>
          <p:cNvSpPr txBox="1"/>
          <p:nvPr/>
        </p:nvSpPr>
        <p:spPr>
          <a:xfrm>
            <a:off x="4255100" y="3640000"/>
            <a:ext cx="3948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400">
                <a:latin typeface="Times New Roman"/>
                <a:ea typeface="Times New Roman"/>
                <a:cs typeface="Times New Roman"/>
                <a:sym typeface="Times New Roman"/>
              </a:rPr>
              <a:t>(rule3)</a:t>
            </a:r>
            <a:endParaRPr sz="2400">
              <a:latin typeface="Times New Roman"/>
              <a:ea typeface="Times New Roman"/>
              <a:cs typeface="Times New Roman"/>
              <a:sym typeface="Times New Roman"/>
            </a:endParaRPr>
          </a:p>
        </p:txBody>
      </p:sp>
      <p:sp>
        <p:nvSpPr>
          <p:cNvPr id="92" name="Google Shape;92;p17"/>
          <p:cNvSpPr txBox="1"/>
          <p:nvPr/>
        </p:nvSpPr>
        <p:spPr>
          <a:xfrm>
            <a:off x="5752500" y="3816700"/>
            <a:ext cx="33915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A={(3, 8, 4, 7, 1, 6, 2, 5)}</a:t>
            </a:r>
            <a:endParaRPr sz="2400">
              <a:latin typeface="Times New Roman"/>
              <a:ea typeface="Times New Roman"/>
              <a:cs typeface="Times New Roman"/>
              <a:sym typeface="Times New Roman"/>
            </a:endParaRPr>
          </a:p>
        </p:txBody>
      </p:sp>
      <p:sp>
        <p:nvSpPr>
          <p:cNvPr id="93" name="Google Shape;93;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Modified Genetic Algorithm vs Standard Genetic Algorithm</a:t>
            </a:r>
            <a:endParaRPr>
              <a:latin typeface="Times New Roman"/>
              <a:ea typeface="Times New Roman"/>
              <a:cs typeface="Times New Roman"/>
              <a:sym typeface="Times New Roman"/>
            </a:endParaRPr>
          </a:p>
        </p:txBody>
      </p:sp>
      <p:sp>
        <p:nvSpPr>
          <p:cNvPr id="99" name="Google Shape;99;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．Minimal conflicts algorithm</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zh-TW" sz="2400">
                <a:solidFill>
                  <a:schemeClr val="dk1"/>
                </a:solidFill>
                <a:latin typeface="Times New Roman"/>
                <a:ea typeface="Times New Roman"/>
                <a:cs typeface="Times New Roman"/>
                <a:sym typeface="Times New Roman"/>
              </a:rPr>
              <a:t>．Crossover with best break-point</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．Greedy initialization instead of random initialization</a:t>
            </a:r>
            <a:endParaRPr sz="2400">
              <a:solidFill>
                <a:schemeClr val="dk1"/>
              </a:solidFill>
              <a:latin typeface="Times New Roman"/>
              <a:ea typeface="Times New Roman"/>
              <a:cs typeface="Times New Roman"/>
              <a:sym typeface="Times New Roman"/>
            </a:endParaRPr>
          </a:p>
        </p:txBody>
      </p:sp>
      <p:sp>
        <p:nvSpPr>
          <p:cNvPr id="100" name="Google Shape;100;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Minimal Conflicts Algorithm</a:t>
            </a:r>
            <a:endParaRPr>
              <a:latin typeface="Times New Roman"/>
              <a:ea typeface="Times New Roman"/>
              <a:cs typeface="Times New Roman"/>
              <a:sym typeface="Times New Roman"/>
            </a:endParaRPr>
          </a:p>
        </p:txBody>
      </p:sp>
      <p:sp>
        <p:nvSpPr>
          <p:cNvPr id="106" name="Google Shape;106;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pic>
        <p:nvPicPr>
          <p:cNvPr id="107" name="Google Shape;107;p19"/>
          <p:cNvPicPr preferRelativeResize="0"/>
          <p:nvPr/>
        </p:nvPicPr>
        <p:blipFill>
          <a:blip r:embed="rId3">
            <a:alphaModFix/>
          </a:blip>
          <a:stretch>
            <a:fillRect/>
          </a:stretch>
        </p:blipFill>
        <p:spPr>
          <a:xfrm>
            <a:off x="311703" y="1017725"/>
            <a:ext cx="4884324" cy="3903649"/>
          </a:xfrm>
          <a:prstGeom prst="rect">
            <a:avLst/>
          </a:prstGeom>
          <a:noFill/>
          <a:ln>
            <a:noFill/>
          </a:ln>
        </p:spPr>
      </p:pic>
      <p:pic>
        <p:nvPicPr>
          <p:cNvPr id="108" name="Google Shape;108;p19"/>
          <p:cNvPicPr preferRelativeResize="0"/>
          <p:nvPr/>
        </p:nvPicPr>
        <p:blipFill>
          <a:blip r:embed="rId4">
            <a:alphaModFix/>
          </a:blip>
          <a:stretch>
            <a:fillRect/>
          </a:stretch>
        </p:blipFill>
        <p:spPr>
          <a:xfrm>
            <a:off x="5864650" y="2680550"/>
            <a:ext cx="2534024" cy="2363900"/>
          </a:xfrm>
          <a:prstGeom prst="rect">
            <a:avLst/>
          </a:prstGeom>
          <a:noFill/>
          <a:ln>
            <a:noFill/>
          </a:ln>
        </p:spPr>
      </p:pic>
      <p:pic>
        <p:nvPicPr>
          <p:cNvPr id="109" name="Google Shape;109;p19"/>
          <p:cNvPicPr preferRelativeResize="0"/>
          <p:nvPr/>
        </p:nvPicPr>
        <p:blipFill>
          <a:blip r:embed="rId5">
            <a:alphaModFix/>
          </a:blip>
          <a:stretch>
            <a:fillRect/>
          </a:stretch>
        </p:blipFill>
        <p:spPr>
          <a:xfrm>
            <a:off x="5864650" y="33029"/>
            <a:ext cx="2534024" cy="2619071"/>
          </a:xfrm>
          <a:prstGeom prst="rect">
            <a:avLst/>
          </a:prstGeom>
          <a:noFill/>
          <a:ln>
            <a:noFill/>
          </a:ln>
        </p:spPr>
      </p:pic>
      <p:sp>
        <p:nvSpPr>
          <p:cNvPr id="110" name="Google Shape;110;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Genetic Algorithm</a:t>
            </a:r>
            <a:endParaRPr>
              <a:latin typeface="Times New Roman"/>
              <a:ea typeface="Times New Roman"/>
              <a:cs typeface="Times New Roman"/>
              <a:sym typeface="Times New Roman"/>
            </a:endParaRPr>
          </a:p>
        </p:txBody>
      </p:sp>
      <p:sp>
        <p:nvSpPr>
          <p:cNvPr id="116" name="Google Shape;116;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p:txBody>
      </p:sp>
      <p:pic>
        <p:nvPicPr>
          <p:cNvPr id="117" name="Google Shape;117;p20"/>
          <p:cNvPicPr preferRelativeResize="0"/>
          <p:nvPr/>
        </p:nvPicPr>
        <p:blipFill>
          <a:blip r:embed="rId3">
            <a:alphaModFix/>
          </a:blip>
          <a:stretch>
            <a:fillRect/>
          </a:stretch>
        </p:blipFill>
        <p:spPr>
          <a:xfrm>
            <a:off x="311700" y="1017725"/>
            <a:ext cx="4995051" cy="3918475"/>
          </a:xfrm>
          <a:prstGeom prst="rect">
            <a:avLst/>
          </a:prstGeom>
          <a:noFill/>
          <a:ln>
            <a:noFill/>
          </a:ln>
        </p:spPr>
      </p:pic>
      <p:pic>
        <p:nvPicPr>
          <p:cNvPr id="118" name="Google Shape;118;p20"/>
          <p:cNvPicPr preferRelativeResize="0"/>
          <p:nvPr/>
        </p:nvPicPr>
        <p:blipFill>
          <a:blip r:embed="rId4">
            <a:alphaModFix/>
          </a:blip>
          <a:stretch>
            <a:fillRect/>
          </a:stretch>
        </p:blipFill>
        <p:spPr>
          <a:xfrm>
            <a:off x="6473800" y="1912000"/>
            <a:ext cx="1663375" cy="451225"/>
          </a:xfrm>
          <a:prstGeom prst="rect">
            <a:avLst/>
          </a:prstGeom>
          <a:noFill/>
          <a:ln>
            <a:noFill/>
          </a:ln>
        </p:spPr>
      </p:pic>
      <p:sp>
        <p:nvSpPr>
          <p:cNvPr id="119" name="Google Shape;119;p20"/>
          <p:cNvSpPr txBox="1"/>
          <p:nvPr/>
        </p:nvSpPr>
        <p:spPr>
          <a:xfrm>
            <a:off x="5140538" y="1017725"/>
            <a:ext cx="43299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2400">
                <a:latin typeface="Times New Roman"/>
                <a:ea typeface="Times New Roman"/>
                <a:cs typeface="Times New Roman"/>
                <a:sym typeface="Times New Roman"/>
              </a:rPr>
              <a:t>Roulette Wheel Fomula</a:t>
            </a:r>
            <a:endParaRPr sz="2400">
              <a:latin typeface="Times New Roman"/>
              <a:ea typeface="Times New Roman"/>
              <a:cs typeface="Times New Roman"/>
              <a:sym typeface="Times New Roman"/>
            </a:endParaRPr>
          </a:p>
          <a:p>
            <a:pPr indent="0" lvl="0" marL="0" rtl="0" algn="ctr">
              <a:spcBef>
                <a:spcPts val="0"/>
              </a:spcBef>
              <a:spcAft>
                <a:spcPts val="0"/>
              </a:spcAft>
              <a:buNone/>
            </a:pPr>
            <a:r>
              <a:rPr lang="zh-TW" sz="2400">
                <a:latin typeface="Times New Roman"/>
                <a:ea typeface="Times New Roman"/>
                <a:cs typeface="Times New Roman"/>
                <a:sym typeface="Times New Roman"/>
              </a:rPr>
              <a:t>(Selection Phase)</a:t>
            </a:r>
            <a:endParaRPr sz="2400">
              <a:latin typeface="Times New Roman"/>
              <a:ea typeface="Times New Roman"/>
              <a:cs typeface="Times New Roman"/>
              <a:sym typeface="Times New Roman"/>
            </a:endParaRPr>
          </a:p>
        </p:txBody>
      </p:sp>
      <p:sp>
        <p:nvSpPr>
          <p:cNvPr id="120" name="Google Shape;120;p20"/>
          <p:cNvSpPr txBox="1"/>
          <p:nvPr/>
        </p:nvSpPr>
        <p:spPr>
          <a:xfrm>
            <a:off x="5696025" y="2431100"/>
            <a:ext cx="34479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400">
                <a:latin typeface="Times New Roman"/>
                <a:ea typeface="Times New Roman"/>
                <a:cs typeface="Times New Roman"/>
                <a:sym typeface="Times New Roman"/>
              </a:rPr>
              <a:t>fi: the fitness function</a:t>
            </a:r>
            <a:endParaRPr sz="2400">
              <a:latin typeface="Times New Roman"/>
              <a:ea typeface="Times New Roman"/>
              <a:cs typeface="Times New Roman"/>
              <a:sym typeface="Times New Roman"/>
            </a:endParaRPr>
          </a:p>
          <a:p>
            <a:pPr indent="0" lvl="0" marL="0" rtl="0" algn="l">
              <a:spcBef>
                <a:spcPts val="0"/>
              </a:spcBef>
              <a:spcAft>
                <a:spcPts val="0"/>
              </a:spcAft>
              <a:buNone/>
            </a:pPr>
            <a:r>
              <a:rPr lang="zh-TW" sz="2400">
                <a:latin typeface="Times New Roman"/>
                <a:ea typeface="Times New Roman"/>
                <a:cs typeface="Times New Roman"/>
                <a:sym typeface="Times New Roman"/>
              </a:rPr>
              <a:t>(is measure of distance or </a:t>
            </a:r>
            <a:r>
              <a:rPr lang="zh-TW" sz="2400">
                <a:solidFill>
                  <a:srgbClr val="FF0000"/>
                </a:solidFill>
                <a:latin typeface="Times New Roman"/>
                <a:ea typeface="Times New Roman"/>
                <a:cs typeface="Times New Roman"/>
                <a:sym typeface="Times New Roman"/>
              </a:rPr>
              <a:t>proximity</a:t>
            </a:r>
            <a:r>
              <a:rPr lang="zh-TW" sz="2400">
                <a:latin typeface="Times New Roman"/>
                <a:ea typeface="Times New Roman"/>
                <a:cs typeface="Times New Roman"/>
                <a:sym typeface="Times New Roman"/>
              </a:rPr>
              <a:t> of a candidate for problem’s solution)</a:t>
            </a:r>
            <a:endParaRPr sz="2400">
              <a:latin typeface="Times New Roman"/>
              <a:ea typeface="Times New Roman"/>
              <a:cs typeface="Times New Roman"/>
              <a:sym typeface="Times New Roman"/>
            </a:endParaRPr>
          </a:p>
          <a:p>
            <a:pPr indent="0" lvl="0" marL="0" rtl="0" algn="l">
              <a:spcBef>
                <a:spcPts val="0"/>
              </a:spcBef>
              <a:spcAft>
                <a:spcPts val="0"/>
              </a:spcAft>
              <a:buNone/>
            </a:pPr>
            <a:r>
              <a:rPr lang="zh-TW" sz="2400">
                <a:latin typeface="Times New Roman"/>
                <a:ea typeface="Times New Roman"/>
                <a:cs typeface="Times New Roman"/>
                <a:sym typeface="Times New Roman"/>
              </a:rPr>
              <a:t>k: size of population</a:t>
            </a:r>
            <a:endParaRPr sz="2400">
              <a:latin typeface="Times New Roman"/>
              <a:ea typeface="Times New Roman"/>
              <a:cs typeface="Times New Roman"/>
              <a:sym typeface="Times New Roman"/>
            </a:endParaRPr>
          </a:p>
        </p:txBody>
      </p:sp>
      <p:sp>
        <p:nvSpPr>
          <p:cNvPr id="121" name="Google Shape;121;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Standard Genetic Algorithm (Recombination Phase)</a:t>
            </a:r>
            <a:endParaRPr>
              <a:latin typeface="Times New Roman"/>
              <a:ea typeface="Times New Roman"/>
              <a:cs typeface="Times New Roman"/>
              <a:sym typeface="Times New Roman"/>
            </a:endParaRPr>
          </a:p>
        </p:txBody>
      </p:sp>
      <p:sp>
        <p:nvSpPr>
          <p:cNvPr id="127" name="Google Shape;127;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sz="2400">
                <a:solidFill>
                  <a:schemeClr val="dk1"/>
                </a:solidFill>
                <a:latin typeface="Times New Roman"/>
                <a:ea typeface="Times New Roman"/>
                <a:cs typeface="Times New Roman"/>
                <a:sym typeface="Times New Roman"/>
              </a:rPr>
              <a:t>Mutation</a:t>
            </a:r>
            <a:endParaRPr sz="2400">
              <a:solidFill>
                <a:schemeClr val="dk1"/>
              </a:solidFill>
              <a:latin typeface="Times New Roman"/>
              <a:ea typeface="Times New Roman"/>
              <a:cs typeface="Times New Roman"/>
              <a:sym typeface="Times New Roman"/>
            </a:endParaRPr>
          </a:p>
        </p:txBody>
      </p:sp>
      <p:pic>
        <p:nvPicPr>
          <p:cNvPr id="128" name="Google Shape;128;p21"/>
          <p:cNvPicPr preferRelativeResize="0"/>
          <p:nvPr/>
        </p:nvPicPr>
        <p:blipFill>
          <a:blip r:embed="rId3">
            <a:alphaModFix/>
          </a:blip>
          <a:stretch>
            <a:fillRect/>
          </a:stretch>
        </p:blipFill>
        <p:spPr>
          <a:xfrm>
            <a:off x="2286000" y="2301515"/>
            <a:ext cx="4572001" cy="1324075"/>
          </a:xfrm>
          <a:prstGeom prst="rect">
            <a:avLst/>
          </a:prstGeom>
          <a:noFill/>
          <a:ln>
            <a:noFill/>
          </a:ln>
        </p:spPr>
      </p:pic>
      <p:sp>
        <p:nvSpPr>
          <p:cNvPr id="129" name="Google Shape;129;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Standard </a:t>
            </a:r>
            <a:r>
              <a:rPr lang="zh-TW">
                <a:latin typeface="Times New Roman"/>
                <a:ea typeface="Times New Roman"/>
                <a:cs typeface="Times New Roman"/>
                <a:sym typeface="Times New Roman"/>
              </a:rPr>
              <a:t>Genetic Algorithm (Recombination Phase)</a:t>
            </a:r>
            <a:endParaRPr/>
          </a:p>
        </p:txBody>
      </p:sp>
      <p:sp>
        <p:nvSpPr>
          <p:cNvPr id="135" name="Google Shape;135;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sz="2400">
                <a:solidFill>
                  <a:schemeClr val="dk1"/>
                </a:solidFill>
                <a:latin typeface="Times New Roman"/>
                <a:ea typeface="Times New Roman"/>
                <a:cs typeface="Times New Roman"/>
                <a:sym typeface="Times New Roman"/>
              </a:rPr>
              <a:t>PMX Crossover</a:t>
            </a:r>
            <a:endParaRPr sz="2400">
              <a:solidFill>
                <a:schemeClr val="dk1"/>
              </a:solidFill>
              <a:latin typeface="Times New Roman"/>
              <a:ea typeface="Times New Roman"/>
              <a:cs typeface="Times New Roman"/>
              <a:sym typeface="Times New Roman"/>
            </a:endParaRPr>
          </a:p>
        </p:txBody>
      </p:sp>
      <p:pic>
        <p:nvPicPr>
          <p:cNvPr id="136" name="Google Shape;136;p22"/>
          <p:cNvPicPr preferRelativeResize="0"/>
          <p:nvPr/>
        </p:nvPicPr>
        <p:blipFill>
          <a:blip r:embed="rId3">
            <a:alphaModFix/>
          </a:blip>
          <a:stretch>
            <a:fillRect/>
          </a:stretch>
        </p:blipFill>
        <p:spPr>
          <a:xfrm>
            <a:off x="311707" y="2216725"/>
            <a:ext cx="4144036" cy="2000250"/>
          </a:xfrm>
          <a:prstGeom prst="rect">
            <a:avLst/>
          </a:prstGeom>
          <a:noFill/>
          <a:ln>
            <a:noFill/>
          </a:ln>
        </p:spPr>
      </p:pic>
      <p:pic>
        <p:nvPicPr>
          <p:cNvPr id="137" name="Google Shape;137;p22"/>
          <p:cNvPicPr preferRelativeResize="0"/>
          <p:nvPr/>
        </p:nvPicPr>
        <p:blipFill>
          <a:blip r:embed="rId4">
            <a:alphaModFix/>
          </a:blip>
          <a:stretch>
            <a:fillRect/>
          </a:stretch>
        </p:blipFill>
        <p:spPr>
          <a:xfrm>
            <a:off x="4607969" y="2216725"/>
            <a:ext cx="4224338" cy="2000250"/>
          </a:xfrm>
          <a:prstGeom prst="rect">
            <a:avLst/>
          </a:prstGeom>
          <a:noFill/>
          <a:ln>
            <a:noFill/>
          </a:ln>
        </p:spPr>
      </p:pic>
      <p:sp>
        <p:nvSpPr>
          <p:cNvPr id="138" name="Google Shape;138;p22"/>
          <p:cNvSpPr txBox="1"/>
          <p:nvPr/>
        </p:nvSpPr>
        <p:spPr>
          <a:xfrm>
            <a:off x="1657600" y="4216975"/>
            <a:ext cx="11955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2400">
                <a:latin typeface="Times New Roman"/>
                <a:ea typeface="Times New Roman"/>
                <a:cs typeface="Times New Roman"/>
                <a:sym typeface="Times New Roman"/>
              </a:rPr>
              <a:t>Invalid</a:t>
            </a:r>
            <a:endParaRPr sz="2400">
              <a:latin typeface="Times New Roman"/>
              <a:ea typeface="Times New Roman"/>
              <a:cs typeface="Times New Roman"/>
              <a:sym typeface="Times New Roman"/>
            </a:endParaRPr>
          </a:p>
        </p:txBody>
      </p:sp>
      <p:sp>
        <p:nvSpPr>
          <p:cNvPr id="139" name="Google Shape;139;p22"/>
          <p:cNvSpPr txBox="1"/>
          <p:nvPr/>
        </p:nvSpPr>
        <p:spPr>
          <a:xfrm>
            <a:off x="5298575" y="4216975"/>
            <a:ext cx="28431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2400">
                <a:latin typeface="Times New Roman"/>
                <a:ea typeface="Times New Roman"/>
                <a:cs typeface="Times New Roman"/>
                <a:sym typeface="Times New Roman"/>
              </a:rPr>
              <a:t>Fixed</a:t>
            </a:r>
            <a:endParaRPr sz="2400">
              <a:latin typeface="Times New Roman"/>
              <a:ea typeface="Times New Roman"/>
              <a:cs typeface="Times New Roman"/>
              <a:sym typeface="Times New Roman"/>
            </a:endParaRPr>
          </a:p>
        </p:txBody>
      </p:sp>
      <p:sp>
        <p:nvSpPr>
          <p:cNvPr id="140" name="Google Shape;140;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Modified </a:t>
            </a:r>
            <a:r>
              <a:rPr lang="zh-TW">
                <a:latin typeface="Times New Roman"/>
                <a:ea typeface="Times New Roman"/>
                <a:cs typeface="Times New Roman"/>
                <a:sym typeface="Times New Roman"/>
              </a:rPr>
              <a:t>Genetic Algorithm (Recombination Phase)</a:t>
            </a:r>
            <a:endParaRPr/>
          </a:p>
        </p:txBody>
      </p:sp>
      <p:sp>
        <p:nvSpPr>
          <p:cNvPr id="146" name="Google Shape;14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sz="2400">
                <a:solidFill>
                  <a:schemeClr val="dk1"/>
                </a:solidFill>
                <a:latin typeface="Times New Roman"/>
                <a:ea typeface="Times New Roman"/>
                <a:cs typeface="Times New Roman"/>
                <a:sym typeface="Times New Roman"/>
              </a:rPr>
              <a:t>Mutation</a:t>
            </a:r>
            <a:endParaRPr sz="2400">
              <a:solidFill>
                <a:schemeClr val="dk1"/>
              </a:solidFill>
              <a:latin typeface="Times New Roman"/>
              <a:ea typeface="Times New Roman"/>
              <a:cs typeface="Times New Roman"/>
              <a:sym typeface="Times New Roman"/>
            </a:endParaRPr>
          </a:p>
        </p:txBody>
      </p:sp>
      <p:pic>
        <p:nvPicPr>
          <p:cNvPr id="147" name="Google Shape;147;p23"/>
          <p:cNvPicPr preferRelativeResize="0"/>
          <p:nvPr/>
        </p:nvPicPr>
        <p:blipFill>
          <a:blip r:embed="rId3">
            <a:alphaModFix/>
          </a:blip>
          <a:stretch>
            <a:fillRect/>
          </a:stretch>
        </p:blipFill>
        <p:spPr>
          <a:xfrm>
            <a:off x="3062288" y="1800225"/>
            <a:ext cx="3019425" cy="1543050"/>
          </a:xfrm>
          <a:prstGeom prst="rect">
            <a:avLst/>
          </a:prstGeom>
          <a:noFill/>
          <a:ln>
            <a:noFill/>
          </a:ln>
        </p:spPr>
      </p:pic>
      <p:sp>
        <p:nvSpPr>
          <p:cNvPr id="148" name="Google Shape;148;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Modified </a:t>
            </a:r>
            <a:r>
              <a:rPr lang="zh-TW">
                <a:latin typeface="Times New Roman"/>
                <a:ea typeface="Times New Roman"/>
                <a:cs typeface="Times New Roman"/>
                <a:sym typeface="Times New Roman"/>
              </a:rPr>
              <a:t>Genetic Algorithm (Recombination Phase)</a:t>
            </a:r>
            <a:endParaRPr/>
          </a:p>
        </p:txBody>
      </p:sp>
      <p:sp>
        <p:nvSpPr>
          <p:cNvPr id="154" name="Google Shape;154;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sz="2400">
                <a:solidFill>
                  <a:schemeClr val="dk1"/>
                </a:solidFill>
                <a:latin typeface="Times New Roman"/>
                <a:ea typeface="Times New Roman"/>
                <a:cs typeface="Times New Roman"/>
                <a:sym typeface="Times New Roman"/>
              </a:rPr>
              <a:t>Crossover</a:t>
            </a:r>
            <a:endParaRPr sz="2400">
              <a:solidFill>
                <a:schemeClr val="dk1"/>
              </a:solidFill>
              <a:latin typeface="Times New Roman"/>
              <a:ea typeface="Times New Roman"/>
              <a:cs typeface="Times New Roman"/>
              <a:sym typeface="Times New Roman"/>
            </a:endParaRPr>
          </a:p>
        </p:txBody>
      </p:sp>
      <p:pic>
        <p:nvPicPr>
          <p:cNvPr id="155" name="Google Shape;155;p24"/>
          <p:cNvPicPr preferRelativeResize="0"/>
          <p:nvPr/>
        </p:nvPicPr>
        <p:blipFill>
          <a:blip r:embed="rId3">
            <a:alphaModFix/>
          </a:blip>
          <a:stretch>
            <a:fillRect/>
          </a:stretch>
        </p:blipFill>
        <p:spPr>
          <a:xfrm>
            <a:off x="1419225" y="2041525"/>
            <a:ext cx="6305550" cy="1638300"/>
          </a:xfrm>
          <a:prstGeom prst="rect">
            <a:avLst/>
          </a:prstGeom>
          <a:noFill/>
          <a:ln>
            <a:noFill/>
          </a:ln>
        </p:spPr>
      </p:pic>
      <p:sp>
        <p:nvSpPr>
          <p:cNvPr id="156" name="Google Shape;15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Greedy Initialization </a:t>
            </a:r>
            <a:endParaRPr>
              <a:latin typeface="Times New Roman"/>
              <a:ea typeface="Times New Roman"/>
              <a:cs typeface="Times New Roman"/>
              <a:sym typeface="Times New Roman"/>
            </a:endParaRPr>
          </a:p>
        </p:txBody>
      </p:sp>
      <p:sp>
        <p:nvSpPr>
          <p:cNvPr id="162" name="Google Shape;162;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graphicFrame>
        <p:nvGraphicFramePr>
          <p:cNvPr id="163" name="Google Shape;163;p25"/>
          <p:cNvGraphicFramePr/>
          <p:nvPr/>
        </p:nvGraphicFramePr>
        <p:xfrm>
          <a:off x="1335800" y="1809750"/>
          <a:ext cx="3000000" cy="3000000"/>
        </p:xfrm>
        <a:graphic>
          <a:graphicData uri="http://schemas.openxmlformats.org/drawingml/2006/table">
            <a:tbl>
              <a:tblPr>
                <a:noFill/>
                <a:tableStyleId>{19221D89-7331-4929-97B5-E6FE007A3512}</a:tableStyleId>
              </a:tblPr>
              <a:tblGrid>
                <a:gridCol w="623825"/>
                <a:gridCol w="623825"/>
                <a:gridCol w="623825"/>
                <a:gridCol w="623825"/>
              </a:tblGrid>
              <a:tr h="596900">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txBody>
                  <a:tcPr marT="91425" marB="91425" marR="91425" marL="91425">
                    <a:solidFill>
                      <a:srgbClr val="4A86E8"/>
                    </a:solidFill>
                  </a:tcPr>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1</a:t>
                      </a:r>
                      <a:endParaRPr sz="2400">
                        <a:latin typeface="Times New Roman"/>
                        <a:ea typeface="Times New Roman"/>
                        <a:cs typeface="Times New Roman"/>
                        <a:sym typeface="Times New Roman"/>
                      </a:endParaRPr>
                    </a:p>
                  </a:txBody>
                  <a:tcPr marT="91425" marB="91425" marR="91425" marL="91425">
                    <a:solidFill>
                      <a:schemeClr val="accent4"/>
                    </a:solidFill>
                  </a:tcPr>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1</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1</a:t>
                      </a:r>
                      <a:endParaRPr sz="2400">
                        <a:latin typeface="Times New Roman"/>
                        <a:ea typeface="Times New Roman"/>
                        <a:cs typeface="Times New Roman"/>
                        <a:sym typeface="Times New Roman"/>
                      </a:endParaRPr>
                    </a:p>
                  </a:txBody>
                  <a:tcPr marT="91425" marB="91425" marR="91425" marL="91425"/>
                </a:tc>
              </a:tr>
              <a:tr h="596900">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1</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1</a:t>
                      </a:r>
                      <a:endParaRPr sz="2400">
                        <a:latin typeface="Times New Roman"/>
                        <a:ea typeface="Times New Roman"/>
                        <a:cs typeface="Times New Roman"/>
                        <a:sym typeface="Times New Roman"/>
                      </a:endParaRPr>
                    </a:p>
                  </a:txBody>
                  <a:tcPr marT="91425" marB="91425" marR="91425" marL="91425">
                    <a:solidFill>
                      <a:schemeClr val="accent4"/>
                    </a:solidFill>
                  </a:tcPr>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0</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0</a:t>
                      </a:r>
                      <a:endParaRPr sz="2400">
                        <a:latin typeface="Times New Roman"/>
                        <a:ea typeface="Times New Roman"/>
                        <a:cs typeface="Times New Roman"/>
                        <a:sym typeface="Times New Roman"/>
                      </a:endParaRPr>
                    </a:p>
                  </a:txBody>
                  <a:tcPr marT="91425" marB="91425" marR="91425" marL="91425"/>
                </a:tc>
              </a:tr>
              <a:tr h="596900">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1</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0</a:t>
                      </a:r>
                      <a:endParaRPr sz="2400">
                        <a:latin typeface="Times New Roman"/>
                        <a:ea typeface="Times New Roman"/>
                        <a:cs typeface="Times New Roman"/>
                        <a:sym typeface="Times New Roman"/>
                      </a:endParaRPr>
                    </a:p>
                  </a:txBody>
                  <a:tcPr marT="91425" marB="91425" marR="91425" marL="91425">
                    <a:solidFill>
                      <a:schemeClr val="accent4"/>
                    </a:solidFill>
                  </a:tcPr>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1</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0</a:t>
                      </a:r>
                      <a:endParaRPr sz="2400">
                        <a:latin typeface="Times New Roman"/>
                        <a:ea typeface="Times New Roman"/>
                        <a:cs typeface="Times New Roman"/>
                        <a:sym typeface="Times New Roman"/>
                      </a:endParaRPr>
                    </a:p>
                  </a:txBody>
                  <a:tcPr marT="91425" marB="91425" marR="91425" marL="91425"/>
                </a:tc>
              </a:tr>
              <a:tr h="596900">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1</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0</a:t>
                      </a:r>
                      <a:endParaRPr sz="2400">
                        <a:latin typeface="Times New Roman"/>
                        <a:ea typeface="Times New Roman"/>
                        <a:cs typeface="Times New Roman"/>
                        <a:sym typeface="Times New Roman"/>
                      </a:endParaRPr>
                    </a:p>
                  </a:txBody>
                  <a:tcPr marT="91425" marB="91425" marR="91425" marL="91425">
                    <a:solidFill>
                      <a:schemeClr val="accent4"/>
                    </a:solidFill>
                  </a:tcPr>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0</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1</a:t>
                      </a:r>
                      <a:endParaRPr sz="2400">
                        <a:latin typeface="Times New Roman"/>
                        <a:ea typeface="Times New Roman"/>
                        <a:cs typeface="Times New Roman"/>
                        <a:sym typeface="Times New Roman"/>
                      </a:endParaRPr>
                    </a:p>
                  </a:txBody>
                  <a:tcPr marT="91425" marB="91425" marR="91425" marL="91425"/>
                </a:tc>
              </a:tr>
            </a:tbl>
          </a:graphicData>
        </a:graphic>
      </p:graphicFrame>
      <p:graphicFrame>
        <p:nvGraphicFramePr>
          <p:cNvPr id="164" name="Google Shape;164;p25"/>
          <p:cNvGraphicFramePr/>
          <p:nvPr/>
        </p:nvGraphicFramePr>
        <p:xfrm>
          <a:off x="5241875" y="1790850"/>
          <a:ext cx="3000000" cy="3000000"/>
        </p:xfrm>
        <a:graphic>
          <a:graphicData uri="http://schemas.openxmlformats.org/drawingml/2006/table">
            <a:tbl>
              <a:tblPr>
                <a:noFill/>
                <a:tableStyleId>{19221D89-7331-4929-97B5-E6FE007A3512}</a:tableStyleId>
              </a:tblPr>
              <a:tblGrid>
                <a:gridCol w="623825"/>
                <a:gridCol w="623825"/>
                <a:gridCol w="623825"/>
                <a:gridCol w="623825"/>
              </a:tblGrid>
              <a:tr h="606350">
                <a:tc>
                  <a:txBody>
                    <a:bodyPr/>
                    <a:lstStyle/>
                    <a:p>
                      <a:pPr indent="0" lvl="0" marL="0" rtl="0" algn="ctr">
                        <a:spcBef>
                          <a:spcPts val="0"/>
                        </a:spcBef>
                        <a:spcAft>
                          <a:spcPts val="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2</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1</a:t>
                      </a:r>
                      <a:endParaRPr sz="2400">
                        <a:latin typeface="Times New Roman"/>
                        <a:ea typeface="Times New Roman"/>
                        <a:cs typeface="Times New Roman"/>
                        <a:sym typeface="Times New Roman"/>
                      </a:endParaRPr>
                    </a:p>
                  </a:txBody>
                  <a:tcPr marT="91425" marB="91425" marR="91425" marL="91425">
                    <a:solidFill>
                      <a:schemeClr val="accent4"/>
                    </a:solidFill>
                  </a:tcPr>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2</a:t>
                      </a:r>
                      <a:endParaRPr sz="2400">
                        <a:latin typeface="Times New Roman"/>
                        <a:ea typeface="Times New Roman"/>
                        <a:cs typeface="Times New Roman"/>
                        <a:sym typeface="Times New Roman"/>
                      </a:endParaRPr>
                    </a:p>
                  </a:txBody>
                  <a:tcPr marT="91425" marB="91425" marR="91425" marL="91425"/>
                </a:tc>
              </a:tr>
              <a:tr h="606350">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2</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2</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1</a:t>
                      </a:r>
                      <a:endParaRPr sz="2400">
                        <a:latin typeface="Times New Roman"/>
                        <a:ea typeface="Times New Roman"/>
                        <a:cs typeface="Times New Roman"/>
                        <a:sym typeface="Times New Roman"/>
                      </a:endParaRPr>
                    </a:p>
                  </a:txBody>
                  <a:tcPr marT="91425" marB="91425" marR="91425" marL="91425">
                    <a:solidFill>
                      <a:schemeClr val="accent4"/>
                    </a:solidFill>
                  </a:tcPr>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0</a:t>
                      </a:r>
                      <a:endParaRPr sz="2400">
                        <a:latin typeface="Times New Roman"/>
                        <a:ea typeface="Times New Roman"/>
                        <a:cs typeface="Times New Roman"/>
                        <a:sym typeface="Times New Roman"/>
                      </a:endParaRPr>
                    </a:p>
                  </a:txBody>
                  <a:tcPr marT="91425" marB="91425" marR="91425" marL="91425"/>
                </a:tc>
              </a:tr>
              <a:tr h="606350">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2</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txBody>
                  <a:tcPr marT="91425" marB="91425" marR="91425" marL="91425">
                    <a:solidFill>
                      <a:srgbClr val="4A86E8"/>
                    </a:solidFill>
                  </a:tcPr>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2</a:t>
                      </a:r>
                      <a:endParaRPr sz="2400">
                        <a:latin typeface="Times New Roman"/>
                        <a:ea typeface="Times New Roman"/>
                        <a:cs typeface="Times New Roman"/>
                        <a:sym typeface="Times New Roman"/>
                      </a:endParaRPr>
                    </a:p>
                  </a:txBody>
                  <a:tcPr marT="91425" marB="91425" marR="91425" marL="91425">
                    <a:solidFill>
                      <a:schemeClr val="accent4"/>
                    </a:solidFill>
                  </a:tcPr>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1</a:t>
                      </a:r>
                      <a:endParaRPr sz="2400">
                        <a:latin typeface="Times New Roman"/>
                        <a:ea typeface="Times New Roman"/>
                        <a:cs typeface="Times New Roman"/>
                        <a:sym typeface="Times New Roman"/>
                      </a:endParaRPr>
                    </a:p>
                  </a:txBody>
                  <a:tcPr marT="91425" marB="91425" marR="91425" marL="91425"/>
                </a:tc>
              </a:tr>
              <a:tr h="606350">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2</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1</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1</a:t>
                      </a:r>
                      <a:endParaRPr sz="2400">
                        <a:latin typeface="Times New Roman"/>
                        <a:ea typeface="Times New Roman"/>
                        <a:cs typeface="Times New Roman"/>
                        <a:sym typeface="Times New Roman"/>
                      </a:endParaRPr>
                    </a:p>
                  </a:txBody>
                  <a:tcPr marT="91425" marB="91425" marR="91425" marL="91425">
                    <a:solidFill>
                      <a:schemeClr val="accent4"/>
                    </a:solidFill>
                  </a:tcPr>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1</a:t>
                      </a:r>
                      <a:endParaRPr sz="2400">
                        <a:latin typeface="Times New Roman"/>
                        <a:ea typeface="Times New Roman"/>
                        <a:cs typeface="Times New Roman"/>
                        <a:sym typeface="Times New Roman"/>
                      </a:endParaRPr>
                    </a:p>
                  </a:txBody>
                  <a:tcPr marT="91425" marB="91425" marR="91425" marL="91425"/>
                </a:tc>
              </a:tr>
            </a:tbl>
          </a:graphicData>
        </a:graphic>
      </p:graphicFrame>
      <p:sp>
        <p:nvSpPr>
          <p:cNvPr id="165" name="Google Shape;165;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Greedy Initialization</a:t>
            </a:r>
            <a:endParaRPr>
              <a:latin typeface="Times New Roman"/>
              <a:ea typeface="Times New Roman"/>
              <a:cs typeface="Times New Roman"/>
              <a:sym typeface="Times New Roman"/>
            </a:endParaRPr>
          </a:p>
        </p:txBody>
      </p:sp>
      <p:sp>
        <p:nvSpPr>
          <p:cNvPr id="171" name="Google Shape;171;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graphicFrame>
        <p:nvGraphicFramePr>
          <p:cNvPr id="172" name="Google Shape;172;p26"/>
          <p:cNvGraphicFramePr/>
          <p:nvPr/>
        </p:nvGraphicFramePr>
        <p:xfrm>
          <a:off x="1335800" y="1809750"/>
          <a:ext cx="3000000" cy="3000000"/>
        </p:xfrm>
        <a:graphic>
          <a:graphicData uri="http://schemas.openxmlformats.org/drawingml/2006/table">
            <a:tbl>
              <a:tblPr>
                <a:noFill/>
                <a:tableStyleId>{19221D89-7331-4929-97B5-E6FE007A3512}</a:tableStyleId>
              </a:tblPr>
              <a:tblGrid>
                <a:gridCol w="623825"/>
                <a:gridCol w="623825"/>
                <a:gridCol w="623825"/>
                <a:gridCol w="623825"/>
              </a:tblGrid>
              <a:tr h="596900">
                <a:tc>
                  <a:txBody>
                    <a:bodyPr/>
                    <a:lstStyle/>
                    <a:p>
                      <a:pPr indent="0" lvl="0" marL="0" rtl="0" algn="ctr">
                        <a:spcBef>
                          <a:spcPts val="0"/>
                        </a:spcBef>
                        <a:spcAft>
                          <a:spcPts val="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3</a:t>
                      </a:r>
                      <a:endParaRPr sz="24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2</a:t>
                      </a:r>
                      <a:endParaRPr sz="24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3</a:t>
                      </a:r>
                      <a:endParaRPr sz="2400">
                        <a:latin typeface="Times New Roman"/>
                        <a:ea typeface="Times New Roman"/>
                        <a:cs typeface="Times New Roman"/>
                        <a:sym typeface="Times New Roman"/>
                      </a:endParaRPr>
                    </a:p>
                  </a:txBody>
                  <a:tcPr marT="91425" marB="91425" marR="91425" marL="91425">
                    <a:solidFill>
                      <a:schemeClr val="accent4"/>
                    </a:solidFill>
                  </a:tcPr>
                </a:tc>
              </a:tr>
              <a:tr h="596900">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3</a:t>
                      </a:r>
                      <a:endParaRPr sz="24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3</a:t>
                      </a:r>
                      <a:endParaRPr sz="24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solidFill>
                      <a:srgbClr val="4A86E8"/>
                    </a:solidFill>
                  </a:tcPr>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1</a:t>
                      </a:r>
                      <a:endParaRPr sz="2400">
                        <a:latin typeface="Times New Roman"/>
                        <a:ea typeface="Times New Roman"/>
                        <a:cs typeface="Times New Roman"/>
                        <a:sym typeface="Times New Roman"/>
                      </a:endParaRPr>
                    </a:p>
                  </a:txBody>
                  <a:tcPr marT="91425" marB="91425" marR="91425" marL="91425">
                    <a:solidFill>
                      <a:schemeClr val="accent4"/>
                    </a:solidFill>
                  </a:tcPr>
                </a:tc>
              </a:tr>
              <a:tr h="596900">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2</a:t>
                      </a:r>
                      <a:endParaRPr sz="24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3</a:t>
                      </a:r>
                      <a:endParaRPr sz="24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2</a:t>
                      </a:r>
                      <a:endParaRPr sz="2400">
                        <a:latin typeface="Times New Roman"/>
                        <a:ea typeface="Times New Roman"/>
                        <a:cs typeface="Times New Roman"/>
                        <a:sym typeface="Times New Roman"/>
                      </a:endParaRPr>
                    </a:p>
                  </a:txBody>
                  <a:tcPr marT="91425" marB="91425" marR="91425" marL="91425">
                    <a:solidFill>
                      <a:schemeClr val="accent4"/>
                    </a:solidFill>
                  </a:tcPr>
                </a:tc>
              </a:tr>
              <a:tr h="596900">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3</a:t>
                      </a:r>
                      <a:endParaRPr sz="24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1</a:t>
                      </a:r>
                      <a:endParaRPr sz="24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zh-TW" sz="2400">
                          <a:latin typeface="Times New Roman"/>
                          <a:ea typeface="Times New Roman"/>
                          <a:cs typeface="Times New Roman"/>
                          <a:sym typeface="Times New Roman"/>
                        </a:rPr>
                        <a:t>2</a:t>
                      </a:r>
                      <a:endParaRPr sz="24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1</a:t>
                      </a:r>
                      <a:endParaRPr sz="2400">
                        <a:latin typeface="Times New Roman"/>
                        <a:ea typeface="Times New Roman"/>
                        <a:cs typeface="Times New Roman"/>
                        <a:sym typeface="Times New Roman"/>
                      </a:endParaRPr>
                    </a:p>
                  </a:txBody>
                  <a:tcPr marT="91425" marB="91425" marR="91425" marL="91425">
                    <a:solidFill>
                      <a:schemeClr val="accent4"/>
                    </a:solidFill>
                  </a:tcPr>
                </a:tc>
              </a:tr>
            </a:tbl>
          </a:graphicData>
        </a:graphic>
      </p:graphicFrame>
      <p:graphicFrame>
        <p:nvGraphicFramePr>
          <p:cNvPr id="173" name="Google Shape;173;p26"/>
          <p:cNvGraphicFramePr/>
          <p:nvPr/>
        </p:nvGraphicFramePr>
        <p:xfrm>
          <a:off x="5241875" y="1790850"/>
          <a:ext cx="3000000" cy="3000000"/>
        </p:xfrm>
        <a:graphic>
          <a:graphicData uri="http://schemas.openxmlformats.org/drawingml/2006/table">
            <a:tbl>
              <a:tblPr>
                <a:noFill/>
                <a:tableStyleId>{19221D89-7331-4929-97B5-E6FE007A3512}</a:tableStyleId>
              </a:tblPr>
              <a:tblGrid>
                <a:gridCol w="623825"/>
                <a:gridCol w="623825"/>
                <a:gridCol w="623825"/>
                <a:gridCol w="623825"/>
              </a:tblGrid>
              <a:tr h="606350">
                <a:tc>
                  <a:txBody>
                    <a:bodyPr/>
                    <a:lstStyle/>
                    <a:p>
                      <a:pPr indent="0" lvl="0" marL="0" rtl="0" algn="ctr">
                        <a:spcBef>
                          <a:spcPts val="0"/>
                        </a:spcBef>
                        <a:spcAft>
                          <a:spcPts val="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3</a:t>
                      </a:r>
                      <a:endParaRPr sz="24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2</a:t>
                      </a:r>
                      <a:endParaRPr sz="24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4</a:t>
                      </a:r>
                      <a:endParaRPr sz="24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606350">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3</a:t>
                      </a:r>
                      <a:endParaRPr sz="24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4</a:t>
                      </a:r>
                      <a:endParaRPr sz="24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2</a:t>
                      </a:r>
                      <a:endParaRPr sz="24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606350">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2</a:t>
                      </a:r>
                      <a:endParaRPr sz="24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4</a:t>
                      </a:r>
                      <a:endParaRPr sz="24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3</a:t>
                      </a:r>
                      <a:endParaRPr sz="24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606350">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4</a:t>
                      </a:r>
                      <a:endParaRPr sz="24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2</a:t>
                      </a:r>
                      <a:endParaRPr sz="24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zh-TW" sz="2400">
                          <a:latin typeface="Times New Roman"/>
                          <a:ea typeface="Times New Roman"/>
                          <a:cs typeface="Times New Roman"/>
                          <a:sym typeface="Times New Roman"/>
                        </a:rPr>
                        <a:t>3</a:t>
                      </a:r>
                      <a:endParaRPr sz="24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solidFill>
                      <a:srgbClr val="4A86E8"/>
                    </a:solidFill>
                  </a:tcPr>
                </a:tc>
              </a:tr>
            </a:tbl>
          </a:graphicData>
        </a:graphic>
      </p:graphicFrame>
      <p:sp>
        <p:nvSpPr>
          <p:cNvPr id="174" name="Google Shape;174;p26"/>
          <p:cNvSpPr txBox="1"/>
          <p:nvPr/>
        </p:nvSpPr>
        <p:spPr>
          <a:xfrm>
            <a:off x="5391675" y="4216250"/>
            <a:ext cx="21957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2400">
                <a:latin typeface="Times New Roman"/>
                <a:ea typeface="Times New Roman"/>
                <a:cs typeface="Times New Roman"/>
                <a:sym typeface="Times New Roman"/>
              </a:rPr>
              <a:t>(</a:t>
            </a:r>
            <a:r>
              <a:rPr lang="zh-TW" sz="2400">
                <a:latin typeface="Times New Roman"/>
                <a:ea typeface="Times New Roman"/>
                <a:cs typeface="Times New Roman"/>
                <a:sym typeface="Times New Roman"/>
              </a:rPr>
              <a:t>not a solution)</a:t>
            </a:r>
            <a:endParaRPr sz="2400">
              <a:latin typeface="Times New Roman"/>
              <a:ea typeface="Times New Roman"/>
              <a:cs typeface="Times New Roman"/>
              <a:sym typeface="Times New Roman"/>
            </a:endParaRPr>
          </a:p>
        </p:txBody>
      </p:sp>
      <p:sp>
        <p:nvSpPr>
          <p:cNvPr id="175" name="Google Shape;175;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Flowchart</a:t>
            </a:r>
            <a:endParaRPr>
              <a:latin typeface="Times New Roman"/>
              <a:ea typeface="Times New Roman"/>
              <a:cs typeface="Times New Roman"/>
              <a:sym typeface="Times New Roman"/>
            </a:endParaRPr>
          </a:p>
        </p:txBody>
      </p:sp>
      <p:sp>
        <p:nvSpPr>
          <p:cNvPr id="181" name="Google Shape;181;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p:txBody>
      </p:sp>
      <p:pic>
        <p:nvPicPr>
          <p:cNvPr id="182" name="Google Shape;182;p27"/>
          <p:cNvPicPr preferRelativeResize="0"/>
          <p:nvPr/>
        </p:nvPicPr>
        <p:blipFill>
          <a:blip r:embed="rId3">
            <a:alphaModFix/>
          </a:blip>
          <a:stretch>
            <a:fillRect/>
          </a:stretch>
        </p:blipFill>
        <p:spPr>
          <a:xfrm>
            <a:off x="1899171" y="0"/>
            <a:ext cx="3059658" cy="5143499"/>
          </a:xfrm>
          <a:prstGeom prst="rect">
            <a:avLst/>
          </a:prstGeom>
          <a:noFill/>
          <a:ln>
            <a:noFill/>
          </a:ln>
        </p:spPr>
      </p:pic>
      <p:sp>
        <p:nvSpPr>
          <p:cNvPr id="183" name="Google Shape;183;p27"/>
          <p:cNvSpPr txBox="1"/>
          <p:nvPr/>
        </p:nvSpPr>
        <p:spPr>
          <a:xfrm>
            <a:off x="5131750" y="2843000"/>
            <a:ext cx="38778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400">
                <a:latin typeface="Times New Roman"/>
                <a:ea typeface="Times New Roman"/>
                <a:cs typeface="Times New Roman"/>
                <a:sym typeface="Times New Roman"/>
              </a:rPr>
              <a:t>Gray areas: modified section of standard genetic algorithm</a:t>
            </a:r>
            <a:endParaRPr sz="2400">
              <a:latin typeface="Times New Roman"/>
              <a:ea typeface="Times New Roman"/>
              <a:cs typeface="Times New Roman"/>
              <a:sym typeface="Times New Roman"/>
            </a:endParaRPr>
          </a:p>
        </p:txBody>
      </p:sp>
      <p:sp>
        <p:nvSpPr>
          <p:cNvPr id="184" name="Google Shape;184;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Result</a:t>
            </a:r>
            <a:endParaRPr>
              <a:latin typeface="Times New Roman"/>
              <a:ea typeface="Times New Roman"/>
              <a:cs typeface="Times New Roman"/>
              <a:sym typeface="Times New Roman"/>
            </a:endParaRPr>
          </a:p>
        </p:txBody>
      </p:sp>
      <p:sp>
        <p:nvSpPr>
          <p:cNvPr id="190" name="Google Shape;190;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pic>
        <p:nvPicPr>
          <p:cNvPr id="191" name="Google Shape;191;p28"/>
          <p:cNvPicPr preferRelativeResize="0"/>
          <p:nvPr/>
        </p:nvPicPr>
        <p:blipFill>
          <a:blip r:embed="rId3">
            <a:alphaModFix/>
          </a:blip>
          <a:stretch>
            <a:fillRect/>
          </a:stretch>
        </p:blipFill>
        <p:spPr>
          <a:xfrm>
            <a:off x="159300" y="1803500"/>
            <a:ext cx="4477694" cy="2673250"/>
          </a:xfrm>
          <a:prstGeom prst="rect">
            <a:avLst/>
          </a:prstGeom>
          <a:noFill/>
          <a:ln>
            <a:noFill/>
          </a:ln>
        </p:spPr>
      </p:pic>
      <p:pic>
        <p:nvPicPr>
          <p:cNvPr id="192" name="Google Shape;192;p28"/>
          <p:cNvPicPr preferRelativeResize="0"/>
          <p:nvPr/>
        </p:nvPicPr>
        <p:blipFill>
          <a:blip r:embed="rId4">
            <a:alphaModFix/>
          </a:blip>
          <a:stretch>
            <a:fillRect/>
          </a:stretch>
        </p:blipFill>
        <p:spPr>
          <a:xfrm>
            <a:off x="4738146" y="1803504"/>
            <a:ext cx="4246549" cy="2673250"/>
          </a:xfrm>
          <a:prstGeom prst="rect">
            <a:avLst/>
          </a:prstGeom>
          <a:noFill/>
          <a:ln>
            <a:noFill/>
          </a:ln>
        </p:spPr>
      </p:pic>
      <p:sp>
        <p:nvSpPr>
          <p:cNvPr id="193" name="Google Shape;193;p28"/>
          <p:cNvSpPr txBox="1"/>
          <p:nvPr/>
        </p:nvSpPr>
        <p:spPr>
          <a:xfrm>
            <a:off x="-495050" y="1064750"/>
            <a:ext cx="57864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2400">
                <a:latin typeface="Times New Roman"/>
                <a:ea typeface="Times New Roman"/>
                <a:cs typeface="Times New Roman"/>
                <a:sym typeface="Times New Roman"/>
              </a:rPr>
              <a:t>Average Number of Iterations</a:t>
            </a:r>
            <a:endParaRPr sz="2400">
              <a:latin typeface="Times New Roman"/>
              <a:ea typeface="Times New Roman"/>
              <a:cs typeface="Times New Roman"/>
              <a:sym typeface="Times New Roman"/>
            </a:endParaRPr>
          </a:p>
        </p:txBody>
      </p:sp>
      <p:sp>
        <p:nvSpPr>
          <p:cNvPr id="194" name="Google Shape;194;p28"/>
          <p:cNvSpPr txBox="1"/>
          <p:nvPr/>
        </p:nvSpPr>
        <p:spPr>
          <a:xfrm>
            <a:off x="4957775" y="880100"/>
            <a:ext cx="38073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2400">
                <a:latin typeface="Times New Roman"/>
                <a:ea typeface="Times New Roman"/>
                <a:cs typeface="Times New Roman"/>
                <a:sym typeface="Times New Roman"/>
              </a:rPr>
              <a:t>Average Times of Evaluating Fitness Function</a:t>
            </a:r>
            <a:endParaRPr sz="2400">
              <a:latin typeface="Times New Roman"/>
              <a:ea typeface="Times New Roman"/>
              <a:cs typeface="Times New Roman"/>
              <a:sym typeface="Times New Roman"/>
            </a:endParaRPr>
          </a:p>
        </p:txBody>
      </p:sp>
      <p:sp>
        <p:nvSpPr>
          <p:cNvPr id="195" name="Google Shape;195;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 </a:t>
            </a:r>
            <a:endParaRPr/>
          </a:p>
        </p:txBody>
      </p:sp>
      <p:sp>
        <p:nvSpPr>
          <p:cNvPr id="201" name="Google Shape;201;p29"/>
          <p:cNvSpPr txBox="1"/>
          <p:nvPr>
            <p:ph idx="1" type="body"/>
          </p:nvPr>
        </p:nvSpPr>
        <p:spPr>
          <a:xfrm>
            <a:off x="311700" y="1353325"/>
            <a:ext cx="8520600" cy="10863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zh-TW" sz="4800">
                <a:solidFill>
                  <a:schemeClr val="dk1"/>
                </a:solidFill>
                <a:latin typeface="Times New Roman"/>
                <a:ea typeface="Times New Roman"/>
                <a:cs typeface="Times New Roman"/>
                <a:sym typeface="Times New Roman"/>
              </a:rPr>
              <a:t>Thanks for your patience</a:t>
            </a:r>
            <a:endParaRPr sz="4800">
              <a:solidFill>
                <a:schemeClr val="dk1"/>
              </a:solidFill>
              <a:latin typeface="Times New Roman"/>
              <a:ea typeface="Times New Roman"/>
              <a:cs typeface="Times New Roman"/>
              <a:sym typeface="Times New Roman"/>
            </a:endParaRPr>
          </a:p>
        </p:txBody>
      </p:sp>
      <p:sp>
        <p:nvSpPr>
          <p:cNvPr id="202" name="Google Shape;202;p29"/>
          <p:cNvSpPr/>
          <p:nvPr/>
        </p:nvSpPr>
        <p:spPr>
          <a:xfrm>
            <a:off x="3987600" y="2357825"/>
            <a:ext cx="1168800" cy="11403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