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358" r:id="rId4"/>
    <p:sldId id="258" r:id="rId5"/>
    <p:sldId id="347" r:id="rId6"/>
    <p:sldId id="360" r:id="rId7"/>
    <p:sldId id="362" r:id="rId8"/>
    <p:sldId id="359" r:id="rId9"/>
    <p:sldId id="361" r:id="rId10"/>
    <p:sldId id="35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2275" autoAdjust="0"/>
  </p:normalViewPr>
  <p:slideViewPr>
    <p:cSldViewPr snapToGrid="0">
      <p:cViewPr varScale="1">
        <p:scale>
          <a:sx n="67" d="100"/>
          <a:sy n="67" d="100"/>
        </p:scale>
        <p:origin x="5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2924" y="1101343"/>
            <a:ext cx="9806152" cy="906752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Palindrome pattern matching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fr-F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Tomohiro I, Shunsuke Inenaga, Masayuki Takeda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 483 (2013) 162–170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 13, 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448"/>
            <a:ext cx="10515600" cy="5021427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A palindrome is a string that reads the same forward and backward. For a string x, let Pals(x) be the set of all maximal palindromes of x, where each maximal palindrome in Pals(x) is encoded by a pair (c, r) of its center c and its radius r. Given a text t of length n and a pattern p of length m, the palindrome pattern matching problem is to compute all positions 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of t such that Pals(p) = Pals(t[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: 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+ m − 1]). We present linear-time algorithms to solve this problem.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  <a:latin typeface="Times New Roman"/>
                  </a:rPr>
                  <a:t>aabbaa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6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b="0" i="0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acc>
                      <m:accPr>
                        <m:chr m:val="̃"/>
                        <m:ctrlP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  <a:latin typeface="Times New Roman"/>
                  </a:rPr>
                  <a:t>aabbaa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6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43080" indent="-342720">
                  <a:spcBef>
                    <a:spcPts val="56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zh-TW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w is a p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alindrome</a:t>
                </a:r>
                <a:endParaRPr lang="en-US" altLang="zh-TW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627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 Pattern Matching Problem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t = </a:t>
            </a:r>
            <a:r>
              <a:rPr lang="en-US" altLang="zh-TW" dirty="0" err="1">
                <a:latin typeface="Times New Roman" panose="02020603050405020304" pitchFamily="18" charset="0"/>
              </a:rPr>
              <a:t>aabbaaccddcc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</a:rPr>
              <a:t>aabbaa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 err="1">
                <a:latin typeface="Times New Roman" panose="02020603050405020304" pitchFamily="18" charset="0"/>
              </a:rPr>
              <a:t>ans</a:t>
            </a:r>
            <a:r>
              <a:rPr lang="en-US" altLang="zh-TW" dirty="0">
                <a:latin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</a:rPr>
              <a:t>aabbaa</a:t>
            </a:r>
            <a:r>
              <a:rPr lang="en-US" altLang="zh-TW" dirty="0">
                <a:latin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</a:rPr>
              <a:t>ccddcc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904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LPal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(Longest Palindrome)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t = </a:t>
            </a:r>
            <a:r>
              <a:rPr lang="en-US" altLang="zh-TW" spc="-1" dirty="0" err="1">
                <a:solidFill>
                  <a:srgbClr val="000000"/>
                </a:solidFill>
              </a:rPr>
              <a:t>aabbaaccddcc</a:t>
            </a: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LPal</a:t>
            </a:r>
            <a:r>
              <a:rPr lang="en-US" altLang="zh-TW" spc="-1" dirty="0">
                <a:solidFill>
                  <a:srgbClr val="000000"/>
                </a:solidFill>
              </a:rPr>
              <a:t>[</a:t>
            </a:r>
            <a:r>
              <a:rPr lang="en-US" altLang="zh-TW" spc="-1" dirty="0" err="1">
                <a:solidFill>
                  <a:srgbClr val="000000"/>
                </a:solidFill>
              </a:rPr>
              <a:t>i</a:t>
            </a:r>
            <a:r>
              <a:rPr lang="en-US" altLang="zh-TW" spc="-1" dirty="0">
                <a:solidFill>
                  <a:srgbClr val="000000"/>
                </a:solidFill>
              </a:rPr>
              <a:t>]:</a:t>
            </a:r>
            <a:r>
              <a:rPr lang="zh-TW" altLang="en-US" spc="-1" dirty="0">
                <a:solidFill>
                  <a:srgbClr val="000000"/>
                </a:solidFill>
              </a:rPr>
              <a:t> 以</a:t>
            </a:r>
            <a:r>
              <a:rPr lang="en-US" altLang="zh-TW" spc="-1" dirty="0">
                <a:solidFill>
                  <a:srgbClr val="000000"/>
                </a:solidFill>
              </a:rPr>
              <a:t> t [</a:t>
            </a:r>
            <a:r>
              <a:rPr lang="en-US" altLang="zh-TW" spc="-1" dirty="0" err="1">
                <a:solidFill>
                  <a:srgbClr val="000000"/>
                </a:solidFill>
              </a:rPr>
              <a:t>i</a:t>
            </a:r>
            <a:r>
              <a:rPr lang="en-US" altLang="zh-TW" spc="-1" dirty="0">
                <a:solidFill>
                  <a:srgbClr val="000000"/>
                </a:solidFill>
              </a:rPr>
              <a:t>] </a:t>
            </a:r>
            <a:r>
              <a:rPr lang="zh-TW" altLang="en-US" spc="-1" dirty="0">
                <a:solidFill>
                  <a:srgbClr val="000000"/>
                </a:solidFill>
              </a:rPr>
              <a:t>當結尾的 </a:t>
            </a:r>
            <a:r>
              <a:rPr lang="en-US" altLang="zh-TW" spc="-1" dirty="0">
                <a:solidFill>
                  <a:srgbClr val="000000"/>
                </a:solidFill>
              </a:rPr>
              <a:t>l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ongest palindrome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18AF3AC-BA55-DD3A-E640-E8546847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760900"/>
              </p:ext>
            </p:extLst>
          </p:nvPr>
        </p:nvGraphicFramePr>
        <p:xfrm>
          <a:off x="645459" y="4541043"/>
          <a:ext cx="10652473" cy="1404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95218811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t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LPal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4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2700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center-distinct maximal palindromes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2550"/>
            <a:ext cx="10515600" cy="4824413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t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aaabbaaccddcc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(c, r)     c: center,    r: radius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Pals(t) =   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18AF3AC-BA55-DD3A-E640-E8546847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148073"/>
              </p:ext>
            </p:extLst>
          </p:nvPr>
        </p:nvGraphicFramePr>
        <p:xfrm>
          <a:off x="454217" y="4991339"/>
          <a:ext cx="10899583" cy="1404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1952188116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54477113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t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LPal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AC41A123-BED8-A52C-3218-9CAAFBF0FCC1}"/>
              </a:ext>
            </a:extLst>
          </p:cNvPr>
          <p:cNvSpPr txBox="1"/>
          <p:nvPr/>
        </p:nvSpPr>
        <p:spPr>
          <a:xfrm>
            <a:off x="2838451" y="2707860"/>
            <a:ext cx="6743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(1, 0.5), (1.5, 1), (2, 1.5), (2.5, 1), (3, 0.5), (3.5, 0),</a:t>
            </a:r>
          </a:p>
          <a:p>
            <a:r>
              <a:rPr lang="en-US" altLang="zh-TW" sz="2400" dirty="0"/>
              <a:t>(4, 0.5), (4.5, 3), (5, 0.5), (5.5, 0), (6, 0.5), (6.5, 1),</a:t>
            </a:r>
          </a:p>
          <a:p>
            <a:r>
              <a:rPr lang="en-US" altLang="zh-TW" sz="2400" dirty="0"/>
              <a:t>(7, 0.5), (7.5, 0), (8, 0.5), (8.5, 1), (9, 0.5), (9.5, 0),</a:t>
            </a:r>
          </a:p>
          <a:p>
            <a:r>
              <a:rPr lang="en-US" altLang="zh-TW" sz="2400" dirty="0"/>
              <a:t>(10, 0.5), (10.5, 3), (11, 0.5), (11.5, 0), (12, 0.5)</a:t>
            </a:r>
          </a:p>
          <a:p>
            <a:r>
              <a:rPr lang="en-US" altLang="zh-TW" sz="2400" dirty="0"/>
              <a:t>(12.5, 1), (13, 0.5)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78709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9203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 border array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441526"/>
            <a:ext cx="11092031" cy="5325034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i="1" spc="-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p = </a:t>
            </a:r>
            <a:r>
              <a:rPr lang="en-US" altLang="zh-TW" spc="-1" dirty="0" err="1">
                <a:solidFill>
                  <a:srgbClr val="000000"/>
                </a:solidFill>
              </a:rPr>
              <a:t>aabbaa</a:t>
            </a: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pal-borders = {4, 3, 2, 1, 0}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Pals(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aabb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) 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Pals(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)  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　 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Pals(aa) 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Pals(a)           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Pals(</a:t>
            </a:r>
            <a:r>
              <a:rPr lang="el-GR" altLang="zh-TW" spc="-1" dirty="0">
                <a:solidFill>
                  <a:srgbClr val="000000"/>
                </a:solidFill>
                <a:latin typeface="Times New Roman"/>
              </a:rPr>
              <a:t>ε)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8C0343-835B-1E90-61AD-4B35D9CE71A9}"/>
              </a:ext>
            </a:extLst>
          </p:cNvPr>
          <p:cNvSpPr txBox="1"/>
          <p:nvPr/>
        </p:nvSpPr>
        <p:spPr>
          <a:xfrm>
            <a:off x="3374310" y="3732906"/>
            <a:ext cx="37866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z="2600" spc="-1" dirty="0">
                <a:solidFill>
                  <a:srgbClr val="000000"/>
                </a:solidFill>
                <a:latin typeface="Times New Roman"/>
              </a:rPr>
              <a:t>= Pals(</a:t>
            </a:r>
            <a:r>
              <a:rPr lang="en-US" altLang="zh-TW" sz="2600" spc="-1" dirty="0" err="1">
                <a:solidFill>
                  <a:srgbClr val="000000"/>
                </a:solidFill>
                <a:latin typeface="Times New Roman"/>
              </a:rPr>
              <a:t>bbaa</a:t>
            </a:r>
            <a:r>
              <a:rPr lang="en-US" altLang="zh-TW" sz="2600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z="2600" spc="-1" dirty="0">
                <a:solidFill>
                  <a:srgbClr val="000000"/>
                </a:solidFill>
                <a:latin typeface="Times New Roman"/>
              </a:rPr>
              <a:t>= Pals(</a:t>
            </a:r>
            <a:r>
              <a:rPr lang="en-US" altLang="zh-TW" sz="2600" spc="-1" dirty="0" err="1">
                <a:solidFill>
                  <a:srgbClr val="000000"/>
                </a:solidFill>
                <a:latin typeface="Times New Roman"/>
              </a:rPr>
              <a:t>bba</a:t>
            </a:r>
            <a:r>
              <a:rPr lang="en-US" altLang="zh-TW" sz="2600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z="2600" spc="-1" dirty="0">
                <a:solidFill>
                  <a:srgbClr val="000000"/>
                </a:solidFill>
                <a:latin typeface="Times New Roman"/>
              </a:rPr>
              <a:t>= Pals(bb)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z="2600" spc="-1" dirty="0">
                <a:solidFill>
                  <a:srgbClr val="000000"/>
                </a:solidFill>
                <a:latin typeface="Times New Roman"/>
              </a:rPr>
              <a:t>= Pals(a)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l-GR" altLang="zh-TW" sz="2600" spc="-1" dirty="0">
                <a:solidFill>
                  <a:srgbClr val="000000"/>
                </a:solidFill>
                <a:latin typeface="Times New Roman"/>
              </a:rPr>
              <a:t>= </a:t>
            </a:r>
            <a:r>
              <a:rPr lang="en-US" altLang="zh-TW" sz="2600" spc="-1" dirty="0">
                <a:solidFill>
                  <a:srgbClr val="000000"/>
                </a:solidFill>
                <a:latin typeface="Times New Roman"/>
              </a:rPr>
              <a:t>Pals(</a:t>
            </a:r>
            <a:r>
              <a:rPr lang="el-GR" altLang="zh-TW" sz="2600" spc="-1" dirty="0">
                <a:solidFill>
                  <a:srgbClr val="000000"/>
                </a:solidFill>
                <a:latin typeface="Times New Roman"/>
              </a:rPr>
              <a:t>ε)</a:t>
            </a:r>
            <a:endParaRPr lang="en-US" altLang="zh-TW" sz="2600" spc="-1" dirty="0">
              <a:solidFill>
                <a:srgbClr val="000000"/>
              </a:solidFill>
              <a:latin typeface="Times New Roman"/>
            </a:endParaRPr>
          </a:p>
          <a:p>
            <a:endParaRPr lang="zh-TW" altLang="en-US" sz="26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3FB0921-2A71-5626-B22C-3F86B277C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553775"/>
              </p:ext>
            </p:extLst>
          </p:nvPr>
        </p:nvGraphicFramePr>
        <p:xfrm>
          <a:off x="5772339" y="4920305"/>
          <a:ext cx="6209922" cy="157257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</a:tblGrid>
              <a:tr h="52419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p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border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83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 Pattern Matching (1/3)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</a:rPr>
              <a:t>aabbaa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</a:rPr>
              <a:t>ccddcc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zh-TW" altLang="en-US" dirty="0">
                <a:latin typeface="Times New Roman" panose="02020603050405020304" pitchFamily="18" charset="0"/>
              </a:rPr>
              <a:t>相同 </a:t>
            </a:r>
            <a:r>
              <a:rPr lang="en-US" altLang="zh-TW" dirty="0">
                <a:latin typeface="Times New Roman" panose="02020603050405020304" pitchFamily="18" charset="0"/>
              </a:rPr>
              <a:t>pattern</a:t>
            </a:r>
            <a:r>
              <a:rPr lang="zh-TW" altLang="en-US" dirty="0">
                <a:latin typeface="Times New Roman" panose="02020603050405020304" pitchFamily="18" charset="0"/>
              </a:rPr>
              <a:t> 之字串，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LPal</a:t>
            </a:r>
            <a:r>
              <a:rPr lang="zh-TW" altLang="en-US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會相等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439C2D4-A9FF-F7F4-F32C-FB1A3D5D0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796527"/>
              </p:ext>
            </p:extLst>
          </p:nvPr>
        </p:nvGraphicFramePr>
        <p:xfrm>
          <a:off x="6349372" y="3734644"/>
          <a:ext cx="5735947" cy="1404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x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LPal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3B211E-1416-D80D-A8ED-EE7962C69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043571"/>
              </p:ext>
            </p:extLst>
          </p:nvPr>
        </p:nvGraphicFramePr>
        <p:xfrm>
          <a:off x="6349372" y="5295080"/>
          <a:ext cx="5735947" cy="1404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y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LPal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46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 Pattern Matching (2/3)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t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aaabbaaccddcc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 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p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aabbaa</a:t>
            </a:r>
            <a:endParaRPr lang="en-US" altLang="zh-TW" spc="-1" dirty="0">
              <a:solidFill>
                <a:srgbClr val="000000"/>
              </a:solidFill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18AF3AC-BA55-DD3A-E640-E854684713E7}"/>
              </a:ext>
            </a:extLst>
          </p:cNvPr>
          <p:cNvGraphicFramePr>
            <a:graphicFrameLocks noGrp="1"/>
          </p:cNvGraphicFramePr>
          <p:nvPr/>
        </p:nvGraphicFramePr>
        <p:xfrm>
          <a:off x="663227" y="3030042"/>
          <a:ext cx="10899583" cy="1404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1952188116"/>
                    </a:ext>
                  </a:extLst>
                </a:gridCol>
                <a:gridCol w="760891">
                  <a:extLst>
                    <a:ext uri="{9D8B030D-6E8A-4147-A177-3AD203B41FA5}">
                      <a16:colId xmlns:a16="http://schemas.microsoft.com/office/drawing/2014/main" val="54477113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t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LPal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0A7CB50-1C2D-F4D5-8552-4EE87C6BC8E7}"/>
              </a:ext>
            </a:extLst>
          </p:cNvPr>
          <p:cNvGraphicFramePr>
            <a:graphicFrameLocks noGrp="1"/>
          </p:cNvGraphicFramePr>
          <p:nvPr/>
        </p:nvGraphicFramePr>
        <p:xfrm>
          <a:off x="654262" y="4681984"/>
          <a:ext cx="5924526" cy="1872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p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LPal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border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392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AC41A123-BED8-A52C-3218-9CAAFBF0FCC1}"/>
              </a:ext>
            </a:extLst>
          </p:cNvPr>
          <p:cNvSpPr txBox="1"/>
          <p:nvPr/>
        </p:nvSpPr>
        <p:spPr>
          <a:xfrm>
            <a:off x="6762726" y="4861659"/>
            <a:ext cx="54382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(1, 0.5), (1.5, 1), (2, 1.5), (2.5, 1), (3, 0.5), (3.5, 0),</a:t>
            </a:r>
          </a:p>
          <a:p>
            <a:r>
              <a:rPr lang="en-US" altLang="zh-TW" sz="2000" dirty="0"/>
              <a:t>(4, 0.5), (4.5, 3), (5, 0.5), (5.5, 0), (6, 0.5), (6.5, 1),</a:t>
            </a:r>
          </a:p>
          <a:p>
            <a:r>
              <a:rPr lang="en-US" altLang="zh-TW" sz="2000" dirty="0"/>
              <a:t>(7, 0.5), (7.5, 0), (8, 0.5), (8.5, 1), (9, 0.5), (9.5, 0),</a:t>
            </a:r>
          </a:p>
          <a:p>
            <a:r>
              <a:rPr lang="en-US" altLang="zh-TW" sz="2000" dirty="0"/>
              <a:t>(10, 0.5), (10.5, 3), (11, 0.5), (11.5, 0), (12, 0.5)</a:t>
            </a:r>
          </a:p>
          <a:p>
            <a:r>
              <a:rPr lang="en-US" altLang="zh-TW" sz="2000" dirty="0"/>
              <a:t>(12.5, 1), (13, 0.5)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4918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 Pattern Matching (3/3)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Step.1: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LPal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Step.2: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 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 border array</a:t>
            </a:r>
            <a:r>
              <a:rPr lang="zh-TW" altLang="en-US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Step.3: </a:t>
            </a:r>
            <a:r>
              <a:rPr lang="zh-TW" altLang="en-US" spc="-1" dirty="0">
                <a:latin typeface="Times New Roman"/>
              </a:rPr>
              <a:t>執行回文版本的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KMP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70C0"/>
                </a:solidFill>
                <a:latin typeface="Times New Roman"/>
              </a:rPr>
              <a:t>Linear-time </a:t>
            </a:r>
          </a:p>
        </p:txBody>
      </p:sp>
    </p:spTree>
    <p:extLst>
      <p:ext uri="{BB962C8B-B14F-4D97-AF65-F5344CB8AC3E}">
        <p14:creationId xmlns:p14="http://schemas.microsoft.com/office/powerpoint/2010/main" val="3774616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9543</TotalTime>
  <Words>807</Words>
  <Application>Microsoft Office PowerPoint</Application>
  <PresentationFormat>寬螢幕</PresentationFormat>
  <Paragraphs>276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Cambria Math</vt:lpstr>
      <vt:lpstr>Times New Roman</vt:lpstr>
      <vt:lpstr>Office 佈景主題</vt:lpstr>
      <vt:lpstr>Palindrome pattern matching</vt:lpstr>
      <vt:lpstr>Abstract </vt:lpstr>
      <vt:lpstr>Palindrome</vt:lpstr>
      <vt:lpstr>Palindrome Pattern Matching Problem</vt:lpstr>
      <vt:lpstr>LPal (Longest Palindrome)</vt:lpstr>
      <vt:lpstr>center-distinct maximal palindromes</vt:lpstr>
      <vt:lpstr>palindrome border array </vt:lpstr>
      <vt:lpstr>Palindrome Pattern Matching (1/3)</vt:lpstr>
      <vt:lpstr>Palindrome Pattern Matching (2/3)</vt:lpstr>
      <vt:lpstr>Palindrome Pattern Matching (3/3)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M103040056</cp:lastModifiedBy>
  <cp:revision>403</cp:revision>
  <dcterms:created xsi:type="dcterms:W3CDTF">2021-01-03T09:53:04Z</dcterms:created>
  <dcterms:modified xsi:type="dcterms:W3CDTF">2022-09-13T10:21:21Z</dcterms:modified>
</cp:coreProperties>
</file>