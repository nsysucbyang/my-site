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99" r:id="rId2"/>
    <p:sldMasterId id="2147483738" r:id="rId3"/>
    <p:sldMasterId id="2147483712" r:id="rId4"/>
    <p:sldMasterId id="2147483674" r:id="rId5"/>
    <p:sldMasterId id="2147483725" r:id="rId6"/>
  </p:sldMasterIdLst>
  <p:notesMasterIdLst>
    <p:notesMasterId r:id="rId19"/>
  </p:notesMasterIdLst>
  <p:sldIdLst>
    <p:sldId id="256" r:id="rId7"/>
    <p:sldId id="258" r:id="rId8"/>
    <p:sldId id="274" r:id="rId9"/>
    <p:sldId id="275" r:id="rId10"/>
    <p:sldId id="276" r:id="rId11"/>
    <p:sldId id="277" r:id="rId12"/>
    <p:sldId id="278" r:id="rId13"/>
    <p:sldId id="279" r:id="rId14"/>
    <p:sldId id="280" r:id="rId15"/>
    <p:sldId id="281" r:id="rId16"/>
    <p:sldId id="282" r:id="rId17"/>
    <p:sldId id="283" r:id="rId1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87" autoAdjust="0"/>
    <p:restoredTop sz="94632" autoAdjust="0"/>
  </p:normalViewPr>
  <p:slideViewPr>
    <p:cSldViewPr>
      <p:cViewPr varScale="1">
        <p:scale>
          <a:sx n="110" d="100"/>
          <a:sy n="110" d="100"/>
        </p:scale>
        <p:origin x="1260"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r>
              <a:rPr lang="zh-TW" sz="1800" b="0" strike="noStrike" spc="-1">
                <a:solidFill>
                  <a:srgbClr val="000000"/>
                </a:solidFill>
                <a:latin typeface="Calibri"/>
              </a:rPr>
              <a:t>請按這裡移動投影片</a:t>
            </a:r>
            <a:endParaRPr lang="en-US" sz="1800" b="0" strike="noStrike" spc="-1">
              <a:solidFill>
                <a:srgbClr val="000000"/>
              </a:solidFill>
              <a:latin typeface="Calibri"/>
            </a:endParaRPr>
          </a:p>
        </p:txBody>
      </p:sp>
      <p:sp>
        <p:nvSpPr>
          <p:cNvPr id="83" name="PlaceHolder 2"/>
          <p:cNvSpPr>
            <a:spLocks noGrp="1"/>
          </p:cNvSpPr>
          <p:nvPr>
            <p:ph type="body"/>
          </p:nvPr>
        </p:nvSpPr>
        <p:spPr>
          <a:xfrm>
            <a:off x="756000" y="5078520"/>
            <a:ext cx="6047640" cy="4811040"/>
          </a:xfrm>
          <a:prstGeom prst="rect">
            <a:avLst/>
          </a:prstGeom>
        </p:spPr>
        <p:txBody>
          <a:bodyPr lIns="0" tIns="0" rIns="0" bIns="0">
            <a:noAutofit/>
          </a:bodyPr>
          <a:lstStyle/>
          <a:p>
            <a:r>
              <a:rPr lang="zh-TW" sz="2000" b="0" strike="noStrike" spc="-1">
                <a:latin typeface="Arial"/>
              </a:rPr>
              <a:t>請按這裡編輯備註格式</a:t>
            </a:r>
            <a:endParaRPr lang="en-US" sz="2000" b="0" strike="noStrike" spc="-1">
              <a:latin typeface="Arial"/>
            </a:endParaRPr>
          </a:p>
        </p:txBody>
      </p:sp>
      <p:sp>
        <p:nvSpPr>
          <p:cNvPr id="84" name="PlaceHolder 3"/>
          <p:cNvSpPr>
            <a:spLocks noGrp="1"/>
          </p:cNvSpPr>
          <p:nvPr>
            <p:ph type="hdr"/>
          </p:nvPr>
        </p:nvSpPr>
        <p:spPr>
          <a:xfrm>
            <a:off x="0" y="0"/>
            <a:ext cx="3280680" cy="534240"/>
          </a:xfrm>
          <a:prstGeom prst="rect">
            <a:avLst/>
          </a:prstGeom>
        </p:spPr>
        <p:txBody>
          <a:bodyPr lIns="0" tIns="0" rIns="0" bIns="0">
            <a:noAutofit/>
          </a:bodyPr>
          <a:lstStyle/>
          <a:p>
            <a:r>
              <a:rPr lang="en-US" sz="1400" b="0" strike="noStrike" spc="-1">
                <a:latin typeface="Times New Roman"/>
              </a:rPr>
              <a:t>&lt;頁首&gt;</a:t>
            </a:r>
          </a:p>
        </p:txBody>
      </p:sp>
      <p:sp>
        <p:nvSpPr>
          <p:cNvPr id="85"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US" sz="1400" b="0" strike="noStrike" spc="-1">
                <a:latin typeface="Times New Roman"/>
              </a:rPr>
              <a:t>&lt;日期/時間&gt;</a:t>
            </a:r>
          </a:p>
        </p:txBody>
      </p:sp>
      <p:sp>
        <p:nvSpPr>
          <p:cNvPr id="86"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US" sz="1400" b="0" strike="noStrike" spc="-1">
                <a:latin typeface="Times New Roman"/>
              </a:rPr>
              <a:t>&lt;頁尾&gt;</a:t>
            </a:r>
          </a:p>
        </p:txBody>
      </p:sp>
      <p:sp>
        <p:nvSpPr>
          <p:cNvPr id="87"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331962A5-A15B-4472-A253-73015B2EE908}" type="slidenum">
              <a:rPr lang="en-US" sz="1400" b="0" strike="noStrike" spc="-1">
                <a:latin typeface="Times New Roman"/>
              </a:rPr>
              <a:pPr algn="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1"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6"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7"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0"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1"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4"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5"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8"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3"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7"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8"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2022/6/7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2022/6/7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atin typeface="Times New Roman" pitchFamily="18" charset="0"/>
                <a:cs typeface="Times New Roman" pitchFamily="18" charset="0"/>
              </a:defRPr>
            </a:lvl1p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lvl1pPr>
              <a:defRPr>
                <a:latin typeface="Times New Roman" pitchFamily="18" charset="0"/>
                <a:cs typeface="Times New Roman" pitchFamily="18" charset="0"/>
              </a:defRPr>
            </a:lvl1pPr>
            <a:lvl2pPr>
              <a:defRPr>
                <a:latin typeface="Times New Roman" pitchFamily="18" charset="0"/>
                <a:cs typeface="Times New Roman" pitchFamily="18" charset="0"/>
              </a:defRPr>
            </a:lvl2pPr>
            <a:lvl3pPr>
              <a:defRPr>
                <a:latin typeface="Times New Roman" pitchFamily="18" charset="0"/>
                <a:cs typeface="Times New Roman" pitchFamily="18" charset="0"/>
              </a:defRPr>
            </a:lvl3pPr>
            <a:lvl4pPr>
              <a:defRPr>
                <a:latin typeface="Times New Roman" pitchFamily="18" charset="0"/>
                <a:cs typeface="Times New Roman" pitchFamily="18" charset="0"/>
              </a:defRPr>
            </a:lvl4pPr>
            <a:lvl5pPr>
              <a:defRPr>
                <a:latin typeface="Times New Roman" pitchFamily="18" charset="0"/>
                <a:cs typeface="Times New Roman" pitchFamily="18" charset="0"/>
              </a:defRPr>
            </a:lvl5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2022/6/7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2022/6/7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2022/6/7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86EF5B75-ECF6-4BE6-A3DE-C8259B535844}" type="datetimeFigureOut">
              <a:rPr lang="zh-TW" altLang="en-US" smtClean="0"/>
              <a:pPr/>
              <a:t>2022/6/7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86EF5B75-ECF6-4BE6-A3DE-C8259B535844}" type="datetimeFigureOut">
              <a:rPr lang="zh-TW" altLang="en-US" smtClean="0"/>
              <a:pPr/>
              <a:t>2022/6/7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6EF5B75-ECF6-4BE6-A3DE-C8259B535844}" type="datetimeFigureOut">
              <a:rPr lang="zh-TW" altLang="en-US" smtClean="0"/>
              <a:pPr/>
              <a:t>2022/6/7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2022/6/7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2022/6/7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2022/6/7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2022/6/7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2022/6/7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2022/6/7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1_標題及物件T">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2022/6/7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2022/6/7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2022/6/7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A551E863-67F1-4DED-9226-013F8637FBA5}" type="datetimeFigureOut">
              <a:rPr lang="zh-TW" altLang="en-US" smtClean="0"/>
              <a:pPr/>
              <a:t>2022/6/7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A551E863-67F1-4DED-9226-013F8637FBA5}" type="datetimeFigureOut">
              <a:rPr lang="zh-TW" altLang="en-US" smtClean="0"/>
              <a:pPr/>
              <a:t>2022/6/7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A551E863-67F1-4DED-9226-013F8637FBA5}" type="datetimeFigureOut">
              <a:rPr lang="zh-TW" altLang="en-US" smtClean="0"/>
              <a:pPr/>
              <a:t>2022/6/7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2022/6/7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2022/6/7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2022/6/7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2022/6/7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6" name="PlaceHolder 2"/>
          <p:cNvSpPr>
            <a:spLocks noGrp="1"/>
          </p:cNvSpPr>
          <p:nvPr>
            <p:ph type="dt"/>
          </p:nvPr>
        </p:nvSpPr>
        <p:spPr>
          <a:xfrm>
            <a:off x="457200" y="6356520"/>
            <a:ext cx="2133360" cy="364680"/>
          </a:xfrm>
          <a:prstGeom prst="rect">
            <a:avLst/>
          </a:prstGeom>
        </p:spPr>
        <p:txBody>
          <a:bodyPr anchor="ctr">
            <a:noAutofit/>
          </a:bodyPr>
          <a:lstStyle/>
          <a:p>
            <a:pPr>
              <a:lnSpc>
                <a:spcPct val="100000"/>
              </a:lnSpc>
            </a:pPr>
            <a:fld id="{BFEC21A0-76F1-4091-8A4E-3D3682A4EBBE}" type="datetime">
              <a:rPr lang="en-US" sz="1200" b="0" strike="noStrike" spc="-1">
                <a:solidFill>
                  <a:srgbClr val="8B8B8B"/>
                </a:solidFill>
                <a:latin typeface="Calibri"/>
              </a:rPr>
              <a:pPr>
                <a:lnSpc>
                  <a:spcPct val="100000"/>
                </a:lnSpc>
              </a:pPr>
              <a:t>6/7/2022</a:t>
            </a:fld>
            <a:endParaRPr lang="en-US" sz="1200" b="0" strike="noStrike" spc="-1">
              <a:latin typeface="Times New Roman"/>
            </a:endParaRPr>
          </a:p>
        </p:txBody>
      </p:sp>
      <p:sp>
        <p:nvSpPr>
          <p:cNvPr id="2" name="PlaceHolder 3"/>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3" name="PlaceHolder 4"/>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29C6C588-69D4-483A-BFC4-1F3BDC423AB1}"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
        <p:nvSpPr>
          <p:cNvPr id="4" name="PlaceHolder 5"/>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zh-TW" sz="3200" b="0" strike="noStrike" spc="-1" dirty="0">
                <a:solidFill>
                  <a:srgbClr val="000000"/>
                </a:solidFill>
                <a:latin typeface="Calibri"/>
              </a:rPr>
              <a:t>請按這裡編輯大綱文字格式</a:t>
            </a:r>
            <a:endParaRPr lang="en-US" sz="3200" b="0" strike="noStrike" spc="-1" dirty="0">
              <a:solidFill>
                <a:srgbClr val="000000"/>
              </a:solidFill>
              <a:latin typeface="Calibri"/>
            </a:endParaRPr>
          </a:p>
          <a:p>
            <a:pPr marL="864000" lvl="1" indent="-324000">
              <a:spcBef>
                <a:spcPts val="1134"/>
              </a:spcBef>
              <a:buClr>
                <a:srgbClr val="000000"/>
              </a:buClr>
              <a:buSzPct val="75000"/>
              <a:buFont typeface="Symbol" charset="2"/>
              <a:buChar char=""/>
            </a:pPr>
            <a:r>
              <a:rPr lang="zh-TW" sz="2400" b="0" strike="noStrike" spc="-1" dirty="0">
                <a:solidFill>
                  <a:srgbClr val="000000"/>
                </a:solidFill>
                <a:latin typeface="Calibri"/>
              </a:rPr>
              <a:t>第二個大綱層次</a:t>
            </a:r>
            <a:endParaRPr lang="en-US" sz="2400" b="0" strike="noStrike" spc="-1" dirty="0">
              <a:solidFill>
                <a:srgbClr val="000000"/>
              </a:solidFill>
              <a:latin typeface="Calibri"/>
            </a:endParaRPr>
          </a:p>
          <a:p>
            <a:pPr marL="1296000" lvl="2" indent="-288000">
              <a:spcBef>
                <a:spcPts val="850"/>
              </a:spcBef>
              <a:buClr>
                <a:srgbClr val="000000"/>
              </a:buClr>
              <a:buSzPct val="45000"/>
              <a:buFont typeface="Wingdings" charset="2"/>
              <a:buChar char=""/>
            </a:pPr>
            <a:r>
              <a:rPr lang="zh-TW" sz="2000" b="0" strike="noStrike" spc="-1" dirty="0">
                <a:solidFill>
                  <a:srgbClr val="000000"/>
                </a:solidFill>
                <a:latin typeface="Calibri"/>
              </a:rPr>
              <a:t>第三個大綱層次</a:t>
            </a:r>
            <a:endParaRPr lang="en-US" sz="2000" b="0" strike="noStrike" spc="-1" dirty="0">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dirty="0">
                <a:solidFill>
                  <a:srgbClr val="000000"/>
                </a:solidFill>
                <a:latin typeface="Calibri"/>
              </a:rPr>
              <a:t>第四個大綱層次</a:t>
            </a:r>
            <a:endParaRPr lang="en-US" sz="2000" b="0" strike="noStrike" spc="-1" dirty="0">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dirty="0">
                <a:solidFill>
                  <a:srgbClr val="000000"/>
                </a:solidFill>
                <a:latin typeface="Calibri"/>
              </a:rPr>
              <a:t>第五個大綱層次</a:t>
            </a:r>
            <a:endParaRPr lang="en-US" sz="2000" b="0" strike="noStrike" spc="-1" dirty="0">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dirty="0">
                <a:solidFill>
                  <a:srgbClr val="000000"/>
                </a:solidFill>
                <a:latin typeface="Calibri"/>
              </a:rPr>
              <a:t>第六個大綱層次</a:t>
            </a:r>
            <a:endParaRPr lang="en-US" sz="2000" b="0" strike="noStrike" spc="-1" dirty="0">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dirty="0">
                <a:solidFill>
                  <a:srgbClr val="000000"/>
                </a:solidFill>
                <a:latin typeface="Calibri"/>
              </a:rPr>
              <a:t>第七個大綱層次</a:t>
            </a:r>
            <a:endParaRPr lang="en-US" sz="2000" b="0" strike="noStrike" spc="-1" dirty="0">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6/7/2022</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EF5B75-ECF6-4BE6-A3DE-C8259B535844}" type="datetimeFigureOut">
              <a:rPr lang="zh-TW" altLang="en-US" smtClean="0"/>
              <a:pPr/>
              <a:t>2022/6/7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2404C3-9969-4EFA-96B9-1AADC38D565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5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6/7/2022</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51E863-67F1-4DED-9226-013F8637FBA5}" type="datetimeFigureOut">
              <a:rPr lang="zh-TW" altLang="en-US" smtClean="0"/>
              <a:pPr/>
              <a:t>2022/6/7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FAB90B-7E45-4DA0-85F8-FA0EBB18F3F7}"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751"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Shape 1"/>
          <p:cNvSpPr txBox="1"/>
          <p:nvPr/>
        </p:nvSpPr>
        <p:spPr>
          <a:xfrm>
            <a:off x="714240" y="1285920"/>
            <a:ext cx="7772040" cy="1469520"/>
          </a:xfrm>
          <a:prstGeom prst="rect">
            <a:avLst/>
          </a:prstGeom>
          <a:noFill/>
          <a:ln>
            <a:noFill/>
          </a:ln>
        </p:spPr>
        <p:txBody>
          <a:bodyPr anchor="ctr">
            <a:noAutofit/>
          </a:bodyPr>
          <a:lstStyle/>
          <a:p>
            <a:pPr algn="ctr"/>
            <a:r>
              <a:rPr lang="en-US" altLang="zh-TW" sz="2800" dirty="0" smtClean="0">
                <a:latin typeface="Times New Roman" pitchFamily="18" charset="0"/>
                <a:cs typeface="Times New Roman" pitchFamily="18" charset="0"/>
              </a:rPr>
              <a:t>A New Linear-Time "On-Line" Algorithm for Finding the Smallest Initial Palindrome of a String</a:t>
            </a:r>
          </a:p>
        </p:txBody>
      </p:sp>
      <p:sp>
        <p:nvSpPr>
          <p:cNvPr id="89" name="TextShape 2"/>
          <p:cNvSpPr txBox="1"/>
          <p:nvPr/>
        </p:nvSpPr>
        <p:spPr>
          <a:xfrm>
            <a:off x="1214280" y="3357720"/>
            <a:ext cx="6786360" cy="2071440"/>
          </a:xfrm>
          <a:prstGeom prst="rect">
            <a:avLst/>
          </a:prstGeom>
          <a:noFill/>
          <a:ln>
            <a:noFill/>
          </a:ln>
        </p:spPr>
        <p:txBody>
          <a:bodyPr>
            <a:normAutofit/>
          </a:bodyPr>
          <a:lstStyle/>
          <a:p>
            <a:pPr algn="ctr">
              <a:spcBef>
                <a:spcPts val="479"/>
              </a:spcBef>
              <a:tabLst>
                <a:tab pos="0" algn="l"/>
              </a:tabLst>
            </a:pPr>
            <a:r>
              <a:rPr lang="nl-NL" sz="2400" spc="-1" dirty="0" smtClean="0">
                <a:solidFill>
                  <a:srgbClr val="000000"/>
                </a:solidFill>
                <a:latin typeface="Times New Roman" pitchFamily="18" charset="0"/>
                <a:cs typeface="Times New Roman" pitchFamily="18" charset="0"/>
              </a:rPr>
              <a:t>Glenn Manacher</a:t>
            </a:r>
          </a:p>
          <a:p>
            <a:pPr algn="ctr">
              <a:spcBef>
                <a:spcPts val="479"/>
              </a:spcBef>
              <a:tabLst>
                <a:tab pos="0" algn="l"/>
              </a:tabLst>
            </a:pPr>
            <a:endParaRPr lang="en-US" sz="2000" spc="-1" dirty="0" smtClean="0">
              <a:solidFill>
                <a:srgbClr val="000000"/>
              </a:solidFill>
              <a:latin typeface="Times New Roman"/>
            </a:endParaRPr>
          </a:p>
          <a:p>
            <a:pPr algn="ctr">
              <a:spcBef>
                <a:spcPts val="479"/>
              </a:spcBef>
              <a:tabLst>
                <a:tab pos="0" algn="l"/>
              </a:tabLst>
            </a:pPr>
            <a:endParaRPr lang="en-US" sz="2000" spc="-1" dirty="0" smtClean="0">
              <a:solidFill>
                <a:srgbClr val="000000"/>
              </a:solidFill>
              <a:latin typeface="Times New Roman"/>
            </a:endParaRPr>
          </a:p>
          <a:p>
            <a:pPr algn="ctr">
              <a:spcBef>
                <a:spcPts val="479"/>
              </a:spcBef>
              <a:tabLst>
                <a:tab pos="0" algn="l"/>
              </a:tabLst>
            </a:pPr>
            <a:r>
              <a:rPr lang="en-US" sz="2400" spc="-1" dirty="0" smtClean="0">
                <a:solidFill>
                  <a:srgbClr val="000000"/>
                </a:solidFill>
                <a:latin typeface="Times New Roman"/>
              </a:rPr>
              <a:t>Journal of the ACM, Volume 22, Issue 3,</a:t>
            </a:r>
          </a:p>
          <a:p>
            <a:pPr algn="ctr">
              <a:spcBef>
                <a:spcPts val="479"/>
              </a:spcBef>
              <a:tabLst>
                <a:tab pos="0" algn="l"/>
              </a:tabLst>
            </a:pPr>
            <a:r>
              <a:rPr lang="en-US" sz="2400" spc="-1" dirty="0" smtClean="0">
                <a:solidFill>
                  <a:srgbClr val="000000"/>
                </a:solidFill>
                <a:latin typeface="Times New Roman"/>
              </a:rPr>
              <a:t> July 1975,  pp 346–351</a:t>
            </a:r>
          </a:p>
        </p:txBody>
      </p:sp>
      <p:sp>
        <p:nvSpPr>
          <p:cNvPr id="90" name="CustomShape 3"/>
          <p:cNvSpPr/>
          <p:nvPr/>
        </p:nvSpPr>
        <p:spPr>
          <a:xfrm>
            <a:off x="5786280" y="5643720"/>
            <a:ext cx="3114360" cy="1037880"/>
          </a:xfrm>
          <a:prstGeom prst="rect">
            <a:avLst/>
          </a:prstGeom>
          <a:noFill/>
          <a:ln>
            <a:noFill/>
          </a:ln>
        </p:spPr>
        <p:style>
          <a:lnRef idx="0">
            <a:scrgbClr r="0" g="0" b="0"/>
          </a:lnRef>
          <a:fillRef idx="0">
            <a:scrgbClr r="0" g="0" b="0"/>
          </a:fillRef>
          <a:effectRef idx="0">
            <a:scrgbClr r="0" g="0" b="0"/>
          </a:effectRef>
          <a:fontRef idx="minor"/>
        </p:style>
        <p:txBody>
          <a:bodyPr>
            <a:normAutofit/>
          </a:bodyPr>
          <a:lstStyle/>
          <a:p>
            <a:pPr>
              <a:lnSpc>
                <a:spcPct val="100000"/>
              </a:lnSpc>
              <a:spcBef>
                <a:spcPts val="400"/>
              </a:spcBef>
              <a:tabLst>
                <a:tab pos="0" algn="l"/>
              </a:tabLst>
            </a:pPr>
            <a:r>
              <a:rPr lang="en-US" sz="2000" b="0" strike="noStrike" spc="-1" dirty="0">
                <a:solidFill>
                  <a:srgbClr val="000000"/>
                </a:solidFill>
                <a:latin typeface="Times New Roman"/>
              </a:rPr>
              <a:t>Presenter: Shin-Cheng Lin</a:t>
            </a:r>
            <a:endParaRPr lang="en-US" sz="2000" b="0" strike="noStrike" spc="-1" dirty="0">
              <a:latin typeface="Arial"/>
            </a:endParaRPr>
          </a:p>
          <a:p>
            <a:pPr>
              <a:lnSpc>
                <a:spcPct val="100000"/>
              </a:lnSpc>
              <a:spcBef>
                <a:spcPts val="400"/>
              </a:spcBef>
              <a:tabLst>
                <a:tab pos="0" algn="l"/>
              </a:tabLst>
            </a:pPr>
            <a:r>
              <a:rPr lang="en-US" sz="2000" b="0" strike="noStrike" spc="-1" dirty="0">
                <a:solidFill>
                  <a:srgbClr val="000000"/>
                </a:solidFill>
                <a:latin typeface="Times New Roman"/>
              </a:rPr>
              <a:t>Date</a:t>
            </a:r>
            <a:r>
              <a:rPr lang="en-US" sz="2000" b="0" strike="noStrike" spc="-1">
                <a:solidFill>
                  <a:srgbClr val="000000"/>
                </a:solidFill>
                <a:latin typeface="Times New Roman"/>
              </a:rPr>
              <a:t>: </a:t>
            </a:r>
            <a:r>
              <a:rPr lang="en-US" altLang="zh-TW" sz="2000" b="0" strike="noStrike" spc="-1" smtClean="0">
                <a:solidFill>
                  <a:srgbClr val="000000"/>
                </a:solidFill>
                <a:latin typeface="Times New Roman"/>
              </a:rPr>
              <a:t>June</a:t>
            </a:r>
            <a:r>
              <a:rPr lang="en-US" sz="2000" b="0" strike="noStrike" spc="-1" smtClean="0">
                <a:solidFill>
                  <a:srgbClr val="000000"/>
                </a:solidFill>
                <a:latin typeface="Times New Roman"/>
              </a:rPr>
              <a:t> </a:t>
            </a:r>
            <a:r>
              <a:rPr lang="en-US" sz="2000" b="0" strike="noStrike" spc="-1" dirty="0" smtClean="0">
                <a:solidFill>
                  <a:srgbClr val="000000"/>
                </a:solidFill>
                <a:latin typeface="Times New Roman"/>
              </a:rPr>
              <a:t>7, 2022</a:t>
            </a:r>
            <a:endParaRPr lang="en-US" sz="2000" b="0" strike="noStrike" spc="-1" dirty="0">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dirty="0" smtClean="0">
                <a:solidFill>
                  <a:srgbClr val="000000"/>
                </a:solidFill>
                <a:latin typeface="Times New Roman"/>
              </a:rPr>
              <a:t>Abstract</a:t>
            </a:r>
            <a:endParaRPr lang="en-US" sz="4400" b="0" strike="noStrike" spc="-1" dirty="0">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spcBef>
                <a:spcPts val="561"/>
              </a:spcBef>
              <a:buClr>
                <a:srgbClr val="000000"/>
              </a:buClr>
              <a:buFont typeface="Arial"/>
              <a:buChar char="•"/>
            </a:pPr>
            <a:r>
              <a:rPr lang="en-US" sz="2800" spc="-1" dirty="0" smtClean="0">
                <a:solidFill>
                  <a:srgbClr val="000000"/>
                </a:solidFill>
                <a:latin typeface="Times New Roman"/>
              </a:rPr>
              <a:t>Despite significant advances in linear-time scanning algorithms, particularly those based wholly or in part on either Cook's linear-time simulation of two-way deterministic pushdown automata or Weiner's algorithm, the problem of recognizing the initial leftmost </a:t>
            </a:r>
            <a:r>
              <a:rPr lang="en-US" sz="2800" spc="-1" dirty="0" err="1" smtClean="0">
                <a:solidFill>
                  <a:srgbClr val="000000"/>
                </a:solidFill>
                <a:latin typeface="Times New Roman"/>
              </a:rPr>
              <a:t>nonvoid</a:t>
            </a:r>
            <a:r>
              <a:rPr lang="en-US" sz="2800" spc="-1" dirty="0" smtClean="0">
                <a:solidFill>
                  <a:srgbClr val="000000"/>
                </a:solidFill>
                <a:latin typeface="Times New Roman"/>
              </a:rPr>
              <a:t> palindrome of a string in time proportional to the length N of the palindrome, examining no symbols other than those in the palindrome, has remained open. The present algorithm solves this problem, assuming that addition of two integers less than or equal to N may be performed in a single </a:t>
            </a:r>
            <a:r>
              <a:rPr lang="en-US" sz="2800" spc="-1" smtClean="0">
                <a:solidFill>
                  <a:srgbClr val="000000"/>
                </a:solidFill>
                <a:latin typeface="Times New Roman"/>
              </a:rPr>
              <a:t>operation.</a:t>
            </a:r>
            <a:endParaRPr lang="en-US" sz="2800" b="0" strike="noStrike" spc="-1" dirty="0">
              <a:solidFill>
                <a:srgbClr val="000000"/>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dirty="0" smtClean="0">
                <a:solidFill>
                  <a:srgbClr val="000000"/>
                </a:solidFill>
                <a:latin typeface="Times New Roman"/>
              </a:rPr>
              <a:t>Abstract</a:t>
            </a:r>
            <a:endParaRPr lang="en-US" sz="4400" b="0" strike="noStrike" spc="-1" dirty="0">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spcBef>
                <a:spcPts val="561"/>
              </a:spcBef>
              <a:buClr>
                <a:srgbClr val="000000"/>
              </a:buClr>
              <a:buFont typeface="Arial"/>
              <a:buChar char="•"/>
            </a:pPr>
            <a:r>
              <a:rPr lang="en-US" sz="2800" spc="-1" dirty="0" smtClean="0">
                <a:solidFill>
                  <a:srgbClr val="000000"/>
                </a:solidFill>
                <a:latin typeface="Times New Roman"/>
              </a:rPr>
              <a:t>Like the Knuth-Morris-Pratt algorithm, it runs in time independent of the size of the input alphabet. The algorithm as presented finds only even palindromes. However, an extension allows one to recognize the initial odd or even palindrome of length 2 or greater. Other easy extensions permit the recognition of strings (</a:t>
            </a:r>
            <a:r>
              <a:rPr lang="en-US" sz="2800" spc="-1" dirty="0" err="1" smtClean="0">
                <a:solidFill>
                  <a:srgbClr val="000000"/>
                </a:solidFill>
                <a:latin typeface="Times New Roman"/>
              </a:rPr>
              <a:t>ww</a:t>
            </a:r>
            <a:r>
              <a:rPr lang="en-US" sz="2800" spc="-1" baseline="30000" dirty="0" err="1" smtClean="0">
                <a:solidFill>
                  <a:srgbClr val="000000"/>
                </a:solidFill>
                <a:latin typeface="Times New Roman"/>
              </a:rPr>
              <a:t>R</a:t>
            </a:r>
            <a:r>
              <a:rPr lang="en-US" sz="2800" spc="-1" dirty="0" smtClean="0">
                <a:solidFill>
                  <a:srgbClr val="000000"/>
                </a:solidFill>
                <a:latin typeface="Times New Roman"/>
              </a:rPr>
              <a:t>)* of even palindromes and of all the initial palindromes. It appears possible that further extension may be used to show that (</a:t>
            </a:r>
            <a:r>
              <a:rPr lang="en-US" sz="2800" spc="-1" dirty="0" err="1" smtClean="0">
                <a:solidFill>
                  <a:srgbClr val="000000"/>
                </a:solidFill>
                <a:latin typeface="Times New Roman"/>
              </a:rPr>
              <a:t>ww</a:t>
            </a:r>
            <a:r>
              <a:rPr lang="en-US" sz="2800" spc="-1" baseline="30000" dirty="0" err="1" smtClean="0">
                <a:solidFill>
                  <a:srgbClr val="000000"/>
                </a:solidFill>
                <a:latin typeface="Times New Roman"/>
              </a:rPr>
              <a:t>R</a:t>
            </a:r>
            <a:r>
              <a:rPr lang="en-US" sz="2800" spc="-1" dirty="0" smtClean="0">
                <a:solidFill>
                  <a:srgbClr val="000000"/>
                </a:solidFill>
                <a:latin typeface="Times New Roman"/>
              </a:rPr>
              <a:t>)* is in a sense recognizable in real time on a reasonably defined random access machine.</a:t>
            </a:r>
            <a:endParaRPr lang="en-US" sz="2800" b="0" strike="noStrike" spc="-1" dirty="0">
              <a:solidFill>
                <a:srgbClr val="000000"/>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spc="-1" dirty="0" smtClean="0">
                <a:solidFill>
                  <a:srgbClr val="000000"/>
                </a:solidFill>
              </a:rPr>
              <a:t>palindrome</a:t>
            </a:r>
            <a:endParaRPr lang="zh-TW" altLang="en-US" dirty="0"/>
          </a:p>
        </p:txBody>
      </p:sp>
      <p:sp>
        <p:nvSpPr>
          <p:cNvPr id="5" name="內容版面配置區 4"/>
          <p:cNvSpPr>
            <a:spLocks noGrp="1"/>
          </p:cNvSpPr>
          <p:nvPr>
            <p:ph idx="1"/>
          </p:nvPr>
        </p:nvSpPr>
        <p:spPr/>
        <p:txBody>
          <a:bodyPr/>
          <a:lstStyle/>
          <a:p>
            <a:r>
              <a:rPr lang="en-US" altLang="zh-TW" dirty="0" smtClean="0"/>
              <a:t>123321</a:t>
            </a:r>
          </a:p>
          <a:p>
            <a:r>
              <a:rPr lang="en-US" altLang="zh-TW" dirty="0" smtClean="0"/>
              <a:t>13531</a:t>
            </a:r>
          </a:p>
          <a:p>
            <a:r>
              <a:rPr lang="en-US" altLang="zh-TW" dirty="0" smtClean="0"/>
              <a:t>1100110000110011</a:t>
            </a:r>
            <a:endParaRPr lang="zh-TW"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err="1" smtClean="0"/>
              <a:t>Manacher’s</a:t>
            </a:r>
            <a:r>
              <a:rPr lang="en-US" altLang="zh-TW" dirty="0" smtClean="0"/>
              <a:t> Algorithm</a:t>
            </a:r>
            <a:endParaRPr lang="zh-TW" altLang="en-US" dirty="0"/>
          </a:p>
        </p:txBody>
      </p:sp>
      <p:sp>
        <p:nvSpPr>
          <p:cNvPr id="3" name="內容版面配置區 2"/>
          <p:cNvSpPr>
            <a:spLocks noGrp="1"/>
          </p:cNvSpPr>
          <p:nvPr>
            <p:ph idx="1"/>
          </p:nvPr>
        </p:nvSpPr>
        <p:spPr/>
        <p:txBody>
          <a:bodyPr/>
          <a:lstStyle/>
          <a:p>
            <a:r>
              <a:rPr lang="en-US" altLang="zh-TW" dirty="0" smtClean="0"/>
              <a:t>0101001011</a:t>
            </a:r>
          </a:p>
          <a:p>
            <a:r>
              <a:rPr lang="en-US" altLang="zh-TW" dirty="0" smtClean="0"/>
              <a:t>0#1#0#1#0#0#1#0#1#1</a:t>
            </a:r>
            <a:endParaRPr lang="zh-TW" altLang="en-US" dirty="0"/>
          </a:p>
        </p:txBody>
      </p:sp>
      <p:graphicFrame>
        <p:nvGraphicFramePr>
          <p:cNvPr id="4" name="表格 3"/>
          <p:cNvGraphicFramePr>
            <a:graphicFrameLocks noGrp="1"/>
          </p:cNvGraphicFramePr>
          <p:nvPr>
            <p:extLst>
              <p:ext uri="{D42A27DB-BD31-4B8C-83A1-F6EECF244321}">
                <p14:modId xmlns:p14="http://schemas.microsoft.com/office/powerpoint/2010/main" val="3071838745"/>
              </p:ext>
            </p:extLst>
          </p:nvPr>
        </p:nvGraphicFramePr>
        <p:xfrm>
          <a:off x="642904" y="3401700"/>
          <a:ext cx="7786751" cy="741680"/>
        </p:xfrm>
        <a:graphic>
          <a:graphicData uri="http://schemas.openxmlformats.org/drawingml/2006/table">
            <a:tbl>
              <a:tblPr firstRow="1" bandRow="1">
                <a:tableStyleId>{5C22544A-7EE6-4342-B048-85BDC9FD1C3A}</a:tableStyleId>
              </a:tblPr>
              <a:tblGrid>
                <a:gridCol w="409829">
                  <a:extLst>
                    <a:ext uri="{9D8B030D-6E8A-4147-A177-3AD203B41FA5}">
                      <a16:colId xmlns:a16="http://schemas.microsoft.com/office/drawing/2014/main" val="20000"/>
                    </a:ext>
                  </a:extLst>
                </a:gridCol>
                <a:gridCol w="409829">
                  <a:extLst>
                    <a:ext uri="{9D8B030D-6E8A-4147-A177-3AD203B41FA5}">
                      <a16:colId xmlns:a16="http://schemas.microsoft.com/office/drawing/2014/main" val="20001"/>
                    </a:ext>
                  </a:extLst>
                </a:gridCol>
                <a:gridCol w="409829">
                  <a:extLst>
                    <a:ext uri="{9D8B030D-6E8A-4147-A177-3AD203B41FA5}">
                      <a16:colId xmlns:a16="http://schemas.microsoft.com/office/drawing/2014/main" val="20002"/>
                    </a:ext>
                  </a:extLst>
                </a:gridCol>
                <a:gridCol w="409829">
                  <a:extLst>
                    <a:ext uri="{9D8B030D-6E8A-4147-A177-3AD203B41FA5}">
                      <a16:colId xmlns:a16="http://schemas.microsoft.com/office/drawing/2014/main" val="20003"/>
                    </a:ext>
                  </a:extLst>
                </a:gridCol>
                <a:gridCol w="409829">
                  <a:extLst>
                    <a:ext uri="{9D8B030D-6E8A-4147-A177-3AD203B41FA5}">
                      <a16:colId xmlns:a16="http://schemas.microsoft.com/office/drawing/2014/main" val="20004"/>
                    </a:ext>
                  </a:extLst>
                </a:gridCol>
                <a:gridCol w="409829">
                  <a:extLst>
                    <a:ext uri="{9D8B030D-6E8A-4147-A177-3AD203B41FA5}">
                      <a16:colId xmlns:a16="http://schemas.microsoft.com/office/drawing/2014/main" val="20005"/>
                    </a:ext>
                  </a:extLst>
                </a:gridCol>
                <a:gridCol w="409829">
                  <a:extLst>
                    <a:ext uri="{9D8B030D-6E8A-4147-A177-3AD203B41FA5}">
                      <a16:colId xmlns:a16="http://schemas.microsoft.com/office/drawing/2014/main" val="20006"/>
                    </a:ext>
                  </a:extLst>
                </a:gridCol>
                <a:gridCol w="409829">
                  <a:extLst>
                    <a:ext uri="{9D8B030D-6E8A-4147-A177-3AD203B41FA5}">
                      <a16:colId xmlns:a16="http://schemas.microsoft.com/office/drawing/2014/main" val="20007"/>
                    </a:ext>
                  </a:extLst>
                </a:gridCol>
                <a:gridCol w="409829">
                  <a:extLst>
                    <a:ext uri="{9D8B030D-6E8A-4147-A177-3AD203B41FA5}">
                      <a16:colId xmlns:a16="http://schemas.microsoft.com/office/drawing/2014/main" val="20008"/>
                    </a:ext>
                  </a:extLst>
                </a:gridCol>
                <a:gridCol w="409829">
                  <a:extLst>
                    <a:ext uri="{9D8B030D-6E8A-4147-A177-3AD203B41FA5}">
                      <a16:colId xmlns:a16="http://schemas.microsoft.com/office/drawing/2014/main" val="20009"/>
                    </a:ext>
                  </a:extLst>
                </a:gridCol>
                <a:gridCol w="409829">
                  <a:extLst>
                    <a:ext uri="{9D8B030D-6E8A-4147-A177-3AD203B41FA5}">
                      <a16:colId xmlns:a16="http://schemas.microsoft.com/office/drawing/2014/main" val="20010"/>
                    </a:ext>
                  </a:extLst>
                </a:gridCol>
                <a:gridCol w="409829">
                  <a:extLst>
                    <a:ext uri="{9D8B030D-6E8A-4147-A177-3AD203B41FA5}">
                      <a16:colId xmlns:a16="http://schemas.microsoft.com/office/drawing/2014/main" val="20011"/>
                    </a:ext>
                  </a:extLst>
                </a:gridCol>
                <a:gridCol w="409829">
                  <a:extLst>
                    <a:ext uri="{9D8B030D-6E8A-4147-A177-3AD203B41FA5}">
                      <a16:colId xmlns:a16="http://schemas.microsoft.com/office/drawing/2014/main" val="20012"/>
                    </a:ext>
                  </a:extLst>
                </a:gridCol>
                <a:gridCol w="409829">
                  <a:extLst>
                    <a:ext uri="{9D8B030D-6E8A-4147-A177-3AD203B41FA5}">
                      <a16:colId xmlns:a16="http://schemas.microsoft.com/office/drawing/2014/main" val="20013"/>
                    </a:ext>
                  </a:extLst>
                </a:gridCol>
                <a:gridCol w="409829">
                  <a:extLst>
                    <a:ext uri="{9D8B030D-6E8A-4147-A177-3AD203B41FA5}">
                      <a16:colId xmlns:a16="http://schemas.microsoft.com/office/drawing/2014/main" val="20014"/>
                    </a:ext>
                  </a:extLst>
                </a:gridCol>
                <a:gridCol w="409829">
                  <a:extLst>
                    <a:ext uri="{9D8B030D-6E8A-4147-A177-3AD203B41FA5}">
                      <a16:colId xmlns:a16="http://schemas.microsoft.com/office/drawing/2014/main" val="20015"/>
                    </a:ext>
                  </a:extLst>
                </a:gridCol>
                <a:gridCol w="409829">
                  <a:extLst>
                    <a:ext uri="{9D8B030D-6E8A-4147-A177-3AD203B41FA5}">
                      <a16:colId xmlns:a16="http://schemas.microsoft.com/office/drawing/2014/main" val="20016"/>
                    </a:ext>
                  </a:extLst>
                </a:gridCol>
                <a:gridCol w="409829">
                  <a:extLst>
                    <a:ext uri="{9D8B030D-6E8A-4147-A177-3AD203B41FA5}">
                      <a16:colId xmlns:a16="http://schemas.microsoft.com/office/drawing/2014/main" val="20017"/>
                    </a:ext>
                  </a:extLst>
                </a:gridCol>
                <a:gridCol w="409829">
                  <a:extLst>
                    <a:ext uri="{9D8B030D-6E8A-4147-A177-3AD203B41FA5}">
                      <a16:colId xmlns:a16="http://schemas.microsoft.com/office/drawing/2014/main" val="20018"/>
                    </a:ext>
                  </a:extLst>
                </a:gridCol>
              </a:tblGrid>
              <a:tr h="370840">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extLst>
                  <a:ext uri="{0D108BD9-81ED-4DB2-BD59-A6C34878D82A}">
                    <a16:rowId xmlns:a16="http://schemas.microsoft.com/office/drawing/2014/main" val="10000"/>
                  </a:ext>
                </a:extLst>
              </a:tr>
              <a:tr h="370840">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solidFill>
                            <a:srgbClr val="0070C0"/>
                          </a:solidFill>
                        </a:rPr>
                        <a:t>2</a:t>
                      </a:r>
                      <a:endParaRPr lang="zh-TW" altLang="en-US" dirty="0">
                        <a:solidFill>
                          <a:srgbClr val="0070C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solidFill>
                            <a:srgbClr val="0070C0"/>
                          </a:solidFill>
                        </a:rPr>
                        <a:t>2</a:t>
                      </a:r>
                      <a:endParaRPr lang="zh-TW" altLang="en-US" dirty="0">
                        <a:solidFill>
                          <a:srgbClr val="0070C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solidFill>
                            <a:srgbClr val="FF0000"/>
                          </a:solidFill>
                        </a:rPr>
                        <a:t>4</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solidFill>
                            <a:schemeClr val="tx2"/>
                          </a:solidFill>
                        </a:rPr>
                        <a:t>8</a:t>
                      </a:r>
                      <a:endParaRPr lang="zh-TW" altLang="en-US" dirty="0">
                        <a:solidFill>
                          <a:schemeClr val="tx2"/>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solidFill>
                            <a:srgbClr val="FF0000"/>
                          </a:solidFill>
                        </a:rPr>
                        <a:t>4</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solidFill>
                            <a:srgbClr val="0070C0"/>
                          </a:solidFill>
                        </a:rPr>
                        <a:t>2</a:t>
                      </a:r>
                      <a:endParaRPr lang="zh-TW" altLang="en-US" dirty="0">
                        <a:solidFill>
                          <a:srgbClr val="0070C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solidFill>
                            <a:srgbClr val="0070C0"/>
                          </a:solidFill>
                        </a:rPr>
                        <a:t>2</a:t>
                      </a:r>
                      <a:endParaRPr lang="zh-TW" altLang="en-US" dirty="0">
                        <a:solidFill>
                          <a:srgbClr val="0070C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err="1" smtClean="0"/>
              <a:t>Manacher’s</a:t>
            </a:r>
            <a:r>
              <a:rPr lang="en-US" altLang="zh-TW" dirty="0" smtClean="0"/>
              <a:t> Algorithm</a:t>
            </a:r>
            <a:endParaRPr lang="zh-TW" altLang="en-US" dirty="0"/>
          </a:p>
        </p:txBody>
      </p:sp>
      <p:sp>
        <p:nvSpPr>
          <p:cNvPr id="3" name="內容版面配置區 2"/>
          <p:cNvSpPr>
            <a:spLocks noGrp="1"/>
          </p:cNvSpPr>
          <p:nvPr>
            <p:ph idx="1"/>
          </p:nvPr>
        </p:nvSpPr>
        <p:spPr/>
        <p:txBody>
          <a:bodyPr/>
          <a:lstStyle/>
          <a:p>
            <a:r>
              <a:rPr lang="en-US" altLang="zh-TW" dirty="0" smtClean="0"/>
              <a:t>0101001011</a:t>
            </a:r>
          </a:p>
          <a:p>
            <a:r>
              <a:rPr lang="en-US" altLang="zh-TW" dirty="0" smtClean="0"/>
              <a:t>0#1#0#1#0#0#1#0#1#1</a:t>
            </a:r>
            <a:endParaRPr lang="zh-TW" altLang="en-US" dirty="0"/>
          </a:p>
        </p:txBody>
      </p:sp>
      <p:graphicFrame>
        <p:nvGraphicFramePr>
          <p:cNvPr id="4" name="表格 3"/>
          <p:cNvGraphicFramePr>
            <a:graphicFrameLocks noGrp="1"/>
          </p:cNvGraphicFramePr>
          <p:nvPr/>
        </p:nvGraphicFramePr>
        <p:xfrm>
          <a:off x="642904" y="3973204"/>
          <a:ext cx="7786751" cy="741680"/>
        </p:xfrm>
        <a:graphic>
          <a:graphicData uri="http://schemas.openxmlformats.org/drawingml/2006/table">
            <a:tbl>
              <a:tblPr firstRow="1" bandRow="1">
                <a:tableStyleId>{5C22544A-7EE6-4342-B048-85BDC9FD1C3A}</a:tableStyleId>
              </a:tblPr>
              <a:tblGrid>
                <a:gridCol w="409829">
                  <a:extLst>
                    <a:ext uri="{9D8B030D-6E8A-4147-A177-3AD203B41FA5}">
                      <a16:colId xmlns:a16="http://schemas.microsoft.com/office/drawing/2014/main" val="20000"/>
                    </a:ext>
                  </a:extLst>
                </a:gridCol>
                <a:gridCol w="409829">
                  <a:extLst>
                    <a:ext uri="{9D8B030D-6E8A-4147-A177-3AD203B41FA5}">
                      <a16:colId xmlns:a16="http://schemas.microsoft.com/office/drawing/2014/main" val="20001"/>
                    </a:ext>
                  </a:extLst>
                </a:gridCol>
                <a:gridCol w="409829">
                  <a:extLst>
                    <a:ext uri="{9D8B030D-6E8A-4147-A177-3AD203B41FA5}">
                      <a16:colId xmlns:a16="http://schemas.microsoft.com/office/drawing/2014/main" val="20002"/>
                    </a:ext>
                  </a:extLst>
                </a:gridCol>
                <a:gridCol w="409829">
                  <a:extLst>
                    <a:ext uri="{9D8B030D-6E8A-4147-A177-3AD203B41FA5}">
                      <a16:colId xmlns:a16="http://schemas.microsoft.com/office/drawing/2014/main" val="20003"/>
                    </a:ext>
                  </a:extLst>
                </a:gridCol>
                <a:gridCol w="409829">
                  <a:extLst>
                    <a:ext uri="{9D8B030D-6E8A-4147-A177-3AD203B41FA5}">
                      <a16:colId xmlns:a16="http://schemas.microsoft.com/office/drawing/2014/main" val="20004"/>
                    </a:ext>
                  </a:extLst>
                </a:gridCol>
                <a:gridCol w="409829">
                  <a:extLst>
                    <a:ext uri="{9D8B030D-6E8A-4147-A177-3AD203B41FA5}">
                      <a16:colId xmlns:a16="http://schemas.microsoft.com/office/drawing/2014/main" val="20005"/>
                    </a:ext>
                  </a:extLst>
                </a:gridCol>
                <a:gridCol w="409829">
                  <a:extLst>
                    <a:ext uri="{9D8B030D-6E8A-4147-A177-3AD203B41FA5}">
                      <a16:colId xmlns:a16="http://schemas.microsoft.com/office/drawing/2014/main" val="20006"/>
                    </a:ext>
                  </a:extLst>
                </a:gridCol>
                <a:gridCol w="409829">
                  <a:extLst>
                    <a:ext uri="{9D8B030D-6E8A-4147-A177-3AD203B41FA5}">
                      <a16:colId xmlns:a16="http://schemas.microsoft.com/office/drawing/2014/main" val="20007"/>
                    </a:ext>
                  </a:extLst>
                </a:gridCol>
                <a:gridCol w="409829">
                  <a:extLst>
                    <a:ext uri="{9D8B030D-6E8A-4147-A177-3AD203B41FA5}">
                      <a16:colId xmlns:a16="http://schemas.microsoft.com/office/drawing/2014/main" val="20008"/>
                    </a:ext>
                  </a:extLst>
                </a:gridCol>
                <a:gridCol w="409829">
                  <a:extLst>
                    <a:ext uri="{9D8B030D-6E8A-4147-A177-3AD203B41FA5}">
                      <a16:colId xmlns:a16="http://schemas.microsoft.com/office/drawing/2014/main" val="20009"/>
                    </a:ext>
                  </a:extLst>
                </a:gridCol>
                <a:gridCol w="409829">
                  <a:extLst>
                    <a:ext uri="{9D8B030D-6E8A-4147-A177-3AD203B41FA5}">
                      <a16:colId xmlns:a16="http://schemas.microsoft.com/office/drawing/2014/main" val="20010"/>
                    </a:ext>
                  </a:extLst>
                </a:gridCol>
                <a:gridCol w="409829">
                  <a:extLst>
                    <a:ext uri="{9D8B030D-6E8A-4147-A177-3AD203B41FA5}">
                      <a16:colId xmlns:a16="http://schemas.microsoft.com/office/drawing/2014/main" val="20011"/>
                    </a:ext>
                  </a:extLst>
                </a:gridCol>
                <a:gridCol w="409829">
                  <a:extLst>
                    <a:ext uri="{9D8B030D-6E8A-4147-A177-3AD203B41FA5}">
                      <a16:colId xmlns:a16="http://schemas.microsoft.com/office/drawing/2014/main" val="20012"/>
                    </a:ext>
                  </a:extLst>
                </a:gridCol>
                <a:gridCol w="409829">
                  <a:extLst>
                    <a:ext uri="{9D8B030D-6E8A-4147-A177-3AD203B41FA5}">
                      <a16:colId xmlns:a16="http://schemas.microsoft.com/office/drawing/2014/main" val="20013"/>
                    </a:ext>
                  </a:extLst>
                </a:gridCol>
                <a:gridCol w="409829">
                  <a:extLst>
                    <a:ext uri="{9D8B030D-6E8A-4147-A177-3AD203B41FA5}">
                      <a16:colId xmlns:a16="http://schemas.microsoft.com/office/drawing/2014/main" val="20014"/>
                    </a:ext>
                  </a:extLst>
                </a:gridCol>
                <a:gridCol w="409829">
                  <a:extLst>
                    <a:ext uri="{9D8B030D-6E8A-4147-A177-3AD203B41FA5}">
                      <a16:colId xmlns:a16="http://schemas.microsoft.com/office/drawing/2014/main" val="20015"/>
                    </a:ext>
                  </a:extLst>
                </a:gridCol>
                <a:gridCol w="409829">
                  <a:extLst>
                    <a:ext uri="{9D8B030D-6E8A-4147-A177-3AD203B41FA5}">
                      <a16:colId xmlns:a16="http://schemas.microsoft.com/office/drawing/2014/main" val="20016"/>
                    </a:ext>
                  </a:extLst>
                </a:gridCol>
                <a:gridCol w="409829">
                  <a:extLst>
                    <a:ext uri="{9D8B030D-6E8A-4147-A177-3AD203B41FA5}">
                      <a16:colId xmlns:a16="http://schemas.microsoft.com/office/drawing/2014/main" val="20017"/>
                    </a:ext>
                  </a:extLst>
                </a:gridCol>
                <a:gridCol w="409829">
                  <a:extLst>
                    <a:ext uri="{9D8B030D-6E8A-4147-A177-3AD203B41FA5}">
                      <a16:colId xmlns:a16="http://schemas.microsoft.com/office/drawing/2014/main" val="20018"/>
                    </a:ext>
                  </a:extLst>
                </a:gridCol>
              </a:tblGrid>
              <a:tr h="370840">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extLst>
                  <a:ext uri="{0D108BD9-81ED-4DB2-BD59-A6C34878D82A}">
                    <a16:rowId xmlns:a16="http://schemas.microsoft.com/office/drawing/2014/main" val="10000"/>
                  </a:ext>
                </a:extLst>
              </a:tr>
              <a:tr h="370840">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4</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10001"/>
                  </a:ext>
                </a:extLst>
              </a:tr>
            </a:tbl>
          </a:graphicData>
        </a:graphic>
      </p:graphicFrame>
      <p:sp>
        <p:nvSpPr>
          <p:cNvPr id="5" name="向上箭號 4"/>
          <p:cNvSpPr/>
          <p:nvPr/>
        </p:nvSpPr>
        <p:spPr>
          <a:xfrm>
            <a:off x="3071802" y="4857760"/>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 name="文字方塊 5"/>
          <p:cNvSpPr txBox="1"/>
          <p:nvPr/>
        </p:nvSpPr>
        <p:spPr>
          <a:xfrm>
            <a:off x="2928926" y="5500702"/>
            <a:ext cx="761747" cy="369332"/>
          </a:xfrm>
          <a:prstGeom prst="rect">
            <a:avLst/>
          </a:prstGeom>
          <a:noFill/>
        </p:spPr>
        <p:txBody>
          <a:bodyPr wrap="none" rtlCol="0">
            <a:spAutoFit/>
          </a:bodyPr>
          <a:lstStyle/>
          <a:p>
            <a:r>
              <a:rPr lang="en-US" altLang="zh-TW" dirty="0" smtClean="0"/>
              <a:t>cursor</a:t>
            </a:r>
            <a:endParaRPr lang="zh-TW" altLang="en-US" dirty="0"/>
          </a:p>
        </p:txBody>
      </p:sp>
      <p:sp>
        <p:nvSpPr>
          <p:cNvPr id="9" name="向上箭號 8"/>
          <p:cNvSpPr/>
          <p:nvPr/>
        </p:nvSpPr>
        <p:spPr>
          <a:xfrm>
            <a:off x="4310319" y="4857760"/>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文字方塊 9"/>
          <p:cNvSpPr txBox="1"/>
          <p:nvPr/>
        </p:nvSpPr>
        <p:spPr>
          <a:xfrm>
            <a:off x="4237069" y="5500702"/>
            <a:ext cx="620683" cy="369332"/>
          </a:xfrm>
          <a:prstGeom prst="rect">
            <a:avLst/>
          </a:prstGeom>
          <a:noFill/>
        </p:spPr>
        <p:txBody>
          <a:bodyPr wrap="none" rtlCol="0">
            <a:spAutoFit/>
          </a:bodyPr>
          <a:lstStyle/>
          <a:p>
            <a:r>
              <a:rPr lang="en-US" altLang="zh-TW" dirty="0" smtClean="0"/>
              <a:t>right</a:t>
            </a:r>
          </a:p>
        </p:txBody>
      </p:sp>
      <p:sp>
        <p:nvSpPr>
          <p:cNvPr id="12" name="向上箭號 11"/>
          <p:cNvSpPr/>
          <p:nvPr/>
        </p:nvSpPr>
        <p:spPr>
          <a:xfrm rot="10800000">
            <a:off x="3071802" y="3226828"/>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文字方塊 12"/>
          <p:cNvSpPr txBox="1"/>
          <p:nvPr/>
        </p:nvSpPr>
        <p:spPr>
          <a:xfrm>
            <a:off x="2952997" y="2857496"/>
            <a:ext cx="748923" cy="369332"/>
          </a:xfrm>
          <a:prstGeom prst="rect">
            <a:avLst/>
          </a:prstGeom>
          <a:noFill/>
        </p:spPr>
        <p:txBody>
          <a:bodyPr wrap="none" rtlCol="0">
            <a:spAutoFit/>
          </a:bodyPr>
          <a:lstStyle/>
          <a:p>
            <a:r>
              <a:rPr lang="en-US" altLang="zh-TW" dirty="0" smtClean="0"/>
              <a:t>center</a:t>
            </a:r>
            <a:endParaRPr lang="zh-TW"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err="1" smtClean="0"/>
              <a:t>Manacher’s</a:t>
            </a:r>
            <a:r>
              <a:rPr lang="en-US" altLang="zh-TW" dirty="0" smtClean="0"/>
              <a:t> Algorithm</a:t>
            </a:r>
            <a:endParaRPr lang="zh-TW" altLang="en-US" dirty="0"/>
          </a:p>
        </p:txBody>
      </p:sp>
      <p:sp>
        <p:nvSpPr>
          <p:cNvPr id="3" name="內容版面配置區 2"/>
          <p:cNvSpPr>
            <a:spLocks noGrp="1"/>
          </p:cNvSpPr>
          <p:nvPr>
            <p:ph idx="1"/>
          </p:nvPr>
        </p:nvSpPr>
        <p:spPr/>
        <p:txBody>
          <a:bodyPr/>
          <a:lstStyle/>
          <a:p>
            <a:r>
              <a:rPr lang="en-US" altLang="zh-TW" dirty="0" smtClean="0"/>
              <a:t>0101001011</a:t>
            </a:r>
          </a:p>
          <a:p>
            <a:r>
              <a:rPr lang="en-US" altLang="zh-TW" dirty="0" smtClean="0"/>
              <a:t>0#1#0#1#0#0#1#0#1#1</a:t>
            </a:r>
            <a:endParaRPr lang="zh-TW" altLang="en-US" dirty="0"/>
          </a:p>
        </p:txBody>
      </p:sp>
      <p:graphicFrame>
        <p:nvGraphicFramePr>
          <p:cNvPr id="4" name="表格 3"/>
          <p:cNvGraphicFramePr>
            <a:graphicFrameLocks noGrp="1"/>
          </p:cNvGraphicFramePr>
          <p:nvPr/>
        </p:nvGraphicFramePr>
        <p:xfrm>
          <a:off x="642904" y="3973204"/>
          <a:ext cx="7786751" cy="741680"/>
        </p:xfrm>
        <a:graphic>
          <a:graphicData uri="http://schemas.openxmlformats.org/drawingml/2006/table">
            <a:tbl>
              <a:tblPr firstRow="1" bandRow="1">
                <a:tableStyleId>{5C22544A-7EE6-4342-B048-85BDC9FD1C3A}</a:tableStyleId>
              </a:tblPr>
              <a:tblGrid>
                <a:gridCol w="409829">
                  <a:extLst>
                    <a:ext uri="{9D8B030D-6E8A-4147-A177-3AD203B41FA5}">
                      <a16:colId xmlns:a16="http://schemas.microsoft.com/office/drawing/2014/main" val="20000"/>
                    </a:ext>
                  </a:extLst>
                </a:gridCol>
                <a:gridCol w="409829">
                  <a:extLst>
                    <a:ext uri="{9D8B030D-6E8A-4147-A177-3AD203B41FA5}">
                      <a16:colId xmlns:a16="http://schemas.microsoft.com/office/drawing/2014/main" val="20001"/>
                    </a:ext>
                  </a:extLst>
                </a:gridCol>
                <a:gridCol w="409829">
                  <a:extLst>
                    <a:ext uri="{9D8B030D-6E8A-4147-A177-3AD203B41FA5}">
                      <a16:colId xmlns:a16="http://schemas.microsoft.com/office/drawing/2014/main" val="20002"/>
                    </a:ext>
                  </a:extLst>
                </a:gridCol>
                <a:gridCol w="409829">
                  <a:extLst>
                    <a:ext uri="{9D8B030D-6E8A-4147-A177-3AD203B41FA5}">
                      <a16:colId xmlns:a16="http://schemas.microsoft.com/office/drawing/2014/main" val="20003"/>
                    </a:ext>
                  </a:extLst>
                </a:gridCol>
                <a:gridCol w="409829">
                  <a:extLst>
                    <a:ext uri="{9D8B030D-6E8A-4147-A177-3AD203B41FA5}">
                      <a16:colId xmlns:a16="http://schemas.microsoft.com/office/drawing/2014/main" val="20004"/>
                    </a:ext>
                  </a:extLst>
                </a:gridCol>
                <a:gridCol w="409829">
                  <a:extLst>
                    <a:ext uri="{9D8B030D-6E8A-4147-A177-3AD203B41FA5}">
                      <a16:colId xmlns:a16="http://schemas.microsoft.com/office/drawing/2014/main" val="20005"/>
                    </a:ext>
                  </a:extLst>
                </a:gridCol>
                <a:gridCol w="409829">
                  <a:extLst>
                    <a:ext uri="{9D8B030D-6E8A-4147-A177-3AD203B41FA5}">
                      <a16:colId xmlns:a16="http://schemas.microsoft.com/office/drawing/2014/main" val="20006"/>
                    </a:ext>
                  </a:extLst>
                </a:gridCol>
                <a:gridCol w="409829">
                  <a:extLst>
                    <a:ext uri="{9D8B030D-6E8A-4147-A177-3AD203B41FA5}">
                      <a16:colId xmlns:a16="http://schemas.microsoft.com/office/drawing/2014/main" val="20007"/>
                    </a:ext>
                  </a:extLst>
                </a:gridCol>
                <a:gridCol w="409829">
                  <a:extLst>
                    <a:ext uri="{9D8B030D-6E8A-4147-A177-3AD203B41FA5}">
                      <a16:colId xmlns:a16="http://schemas.microsoft.com/office/drawing/2014/main" val="20008"/>
                    </a:ext>
                  </a:extLst>
                </a:gridCol>
                <a:gridCol w="409829">
                  <a:extLst>
                    <a:ext uri="{9D8B030D-6E8A-4147-A177-3AD203B41FA5}">
                      <a16:colId xmlns:a16="http://schemas.microsoft.com/office/drawing/2014/main" val="20009"/>
                    </a:ext>
                  </a:extLst>
                </a:gridCol>
                <a:gridCol w="409829">
                  <a:extLst>
                    <a:ext uri="{9D8B030D-6E8A-4147-A177-3AD203B41FA5}">
                      <a16:colId xmlns:a16="http://schemas.microsoft.com/office/drawing/2014/main" val="20010"/>
                    </a:ext>
                  </a:extLst>
                </a:gridCol>
                <a:gridCol w="409829">
                  <a:extLst>
                    <a:ext uri="{9D8B030D-6E8A-4147-A177-3AD203B41FA5}">
                      <a16:colId xmlns:a16="http://schemas.microsoft.com/office/drawing/2014/main" val="20011"/>
                    </a:ext>
                  </a:extLst>
                </a:gridCol>
                <a:gridCol w="409829">
                  <a:extLst>
                    <a:ext uri="{9D8B030D-6E8A-4147-A177-3AD203B41FA5}">
                      <a16:colId xmlns:a16="http://schemas.microsoft.com/office/drawing/2014/main" val="20012"/>
                    </a:ext>
                  </a:extLst>
                </a:gridCol>
                <a:gridCol w="409829">
                  <a:extLst>
                    <a:ext uri="{9D8B030D-6E8A-4147-A177-3AD203B41FA5}">
                      <a16:colId xmlns:a16="http://schemas.microsoft.com/office/drawing/2014/main" val="20013"/>
                    </a:ext>
                  </a:extLst>
                </a:gridCol>
                <a:gridCol w="409829">
                  <a:extLst>
                    <a:ext uri="{9D8B030D-6E8A-4147-A177-3AD203B41FA5}">
                      <a16:colId xmlns:a16="http://schemas.microsoft.com/office/drawing/2014/main" val="20014"/>
                    </a:ext>
                  </a:extLst>
                </a:gridCol>
                <a:gridCol w="409829">
                  <a:extLst>
                    <a:ext uri="{9D8B030D-6E8A-4147-A177-3AD203B41FA5}">
                      <a16:colId xmlns:a16="http://schemas.microsoft.com/office/drawing/2014/main" val="20015"/>
                    </a:ext>
                  </a:extLst>
                </a:gridCol>
                <a:gridCol w="409829">
                  <a:extLst>
                    <a:ext uri="{9D8B030D-6E8A-4147-A177-3AD203B41FA5}">
                      <a16:colId xmlns:a16="http://schemas.microsoft.com/office/drawing/2014/main" val="20016"/>
                    </a:ext>
                  </a:extLst>
                </a:gridCol>
                <a:gridCol w="409829">
                  <a:extLst>
                    <a:ext uri="{9D8B030D-6E8A-4147-A177-3AD203B41FA5}">
                      <a16:colId xmlns:a16="http://schemas.microsoft.com/office/drawing/2014/main" val="20017"/>
                    </a:ext>
                  </a:extLst>
                </a:gridCol>
                <a:gridCol w="409829">
                  <a:extLst>
                    <a:ext uri="{9D8B030D-6E8A-4147-A177-3AD203B41FA5}">
                      <a16:colId xmlns:a16="http://schemas.microsoft.com/office/drawing/2014/main" val="20018"/>
                    </a:ext>
                  </a:extLst>
                </a:gridCol>
              </a:tblGrid>
              <a:tr h="370840">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extLst>
                  <a:ext uri="{0D108BD9-81ED-4DB2-BD59-A6C34878D82A}">
                    <a16:rowId xmlns:a16="http://schemas.microsoft.com/office/drawing/2014/main" val="10000"/>
                  </a:ext>
                </a:extLst>
              </a:tr>
              <a:tr h="370840">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1</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10001"/>
                  </a:ext>
                </a:extLst>
              </a:tr>
            </a:tbl>
          </a:graphicData>
        </a:graphic>
      </p:graphicFrame>
      <p:sp>
        <p:nvSpPr>
          <p:cNvPr id="5" name="向上箭號 4"/>
          <p:cNvSpPr/>
          <p:nvPr/>
        </p:nvSpPr>
        <p:spPr>
          <a:xfrm>
            <a:off x="3453063" y="4857760"/>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 name="文字方塊 5"/>
          <p:cNvSpPr txBox="1"/>
          <p:nvPr/>
        </p:nvSpPr>
        <p:spPr>
          <a:xfrm>
            <a:off x="3310187" y="5500702"/>
            <a:ext cx="761747" cy="369332"/>
          </a:xfrm>
          <a:prstGeom prst="rect">
            <a:avLst/>
          </a:prstGeom>
          <a:noFill/>
        </p:spPr>
        <p:txBody>
          <a:bodyPr wrap="none" rtlCol="0">
            <a:spAutoFit/>
          </a:bodyPr>
          <a:lstStyle/>
          <a:p>
            <a:r>
              <a:rPr lang="en-US" altLang="zh-TW" dirty="0" smtClean="0"/>
              <a:t>cursor</a:t>
            </a:r>
            <a:endParaRPr lang="zh-TW" altLang="en-US" dirty="0"/>
          </a:p>
        </p:txBody>
      </p:sp>
      <p:sp>
        <p:nvSpPr>
          <p:cNvPr id="9" name="向上箭號 8"/>
          <p:cNvSpPr/>
          <p:nvPr/>
        </p:nvSpPr>
        <p:spPr>
          <a:xfrm>
            <a:off x="4310319" y="4857760"/>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文字方塊 9"/>
          <p:cNvSpPr txBox="1"/>
          <p:nvPr/>
        </p:nvSpPr>
        <p:spPr>
          <a:xfrm>
            <a:off x="4237069" y="5500702"/>
            <a:ext cx="620683" cy="369332"/>
          </a:xfrm>
          <a:prstGeom prst="rect">
            <a:avLst/>
          </a:prstGeom>
          <a:noFill/>
        </p:spPr>
        <p:txBody>
          <a:bodyPr wrap="none" rtlCol="0">
            <a:spAutoFit/>
          </a:bodyPr>
          <a:lstStyle/>
          <a:p>
            <a:r>
              <a:rPr lang="en-US" altLang="zh-TW" dirty="0" smtClean="0"/>
              <a:t>right</a:t>
            </a:r>
          </a:p>
        </p:txBody>
      </p:sp>
      <p:sp>
        <p:nvSpPr>
          <p:cNvPr id="12" name="向上箭號 11"/>
          <p:cNvSpPr/>
          <p:nvPr/>
        </p:nvSpPr>
        <p:spPr>
          <a:xfrm rot="10800000">
            <a:off x="3071802" y="3226828"/>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文字方塊 12"/>
          <p:cNvSpPr txBox="1"/>
          <p:nvPr/>
        </p:nvSpPr>
        <p:spPr>
          <a:xfrm>
            <a:off x="2952997" y="2857496"/>
            <a:ext cx="748923" cy="369332"/>
          </a:xfrm>
          <a:prstGeom prst="rect">
            <a:avLst/>
          </a:prstGeom>
          <a:noFill/>
        </p:spPr>
        <p:txBody>
          <a:bodyPr wrap="none" rtlCol="0">
            <a:spAutoFit/>
          </a:bodyPr>
          <a:lstStyle/>
          <a:p>
            <a:r>
              <a:rPr lang="en-US" altLang="zh-TW" dirty="0" smtClean="0"/>
              <a:t>center</a:t>
            </a:r>
            <a:endParaRPr lang="zh-TW" altLang="en-US" dirty="0"/>
          </a:p>
        </p:txBody>
      </p:sp>
      <p:sp>
        <p:nvSpPr>
          <p:cNvPr id="14" name="向下箭號 13"/>
          <p:cNvSpPr/>
          <p:nvPr/>
        </p:nvSpPr>
        <p:spPr>
          <a:xfrm>
            <a:off x="3643306" y="3571876"/>
            <a:ext cx="214314" cy="3354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err="1" smtClean="0"/>
              <a:t>Manacher’s</a:t>
            </a:r>
            <a:r>
              <a:rPr lang="en-US" altLang="zh-TW" dirty="0" smtClean="0"/>
              <a:t> Algorithm</a:t>
            </a:r>
            <a:endParaRPr lang="zh-TW" altLang="en-US" dirty="0"/>
          </a:p>
        </p:txBody>
      </p:sp>
      <p:sp>
        <p:nvSpPr>
          <p:cNvPr id="3" name="內容版面配置區 2"/>
          <p:cNvSpPr>
            <a:spLocks noGrp="1"/>
          </p:cNvSpPr>
          <p:nvPr>
            <p:ph idx="1"/>
          </p:nvPr>
        </p:nvSpPr>
        <p:spPr/>
        <p:txBody>
          <a:bodyPr/>
          <a:lstStyle/>
          <a:p>
            <a:r>
              <a:rPr lang="en-US" altLang="zh-TW" dirty="0" smtClean="0"/>
              <a:t>0101001011</a:t>
            </a:r>
          </a:p>
          <a:p>
            <a:r>
              <a:rPr lang="en-US" altLang="zh-TW" dirty="0" smtClean="0"/>
              <a:t>0#1#0#1#0#0#1#0#1#1</a:t>
            </a:r>
            <a:endParaRPr lang="zh-TW" altLang="en-US" dirty="0"/>
          </a:p>
        </p:txBody>
      </p:sp>
      <p:graphicFrame>
        <p:nvGraphicFramePr>
          <p:cNvPr id="4" name="表格 3"/>
          <p:cNvGraphicFramePr>
            <a:graphicFrameLocks noGrp="1"/>
          </p:cNvGraphicFramePr>
          <p:nvPr/>
        </p:nvGraphicFramePr>
        <p:xfrm>
          <a:off x="642904" y="3973204"/>
          <a:ext cx="7786751" cy="741680"/>
        </p:xfrm>
        <a:graphic>
          <a:graphicData uri="http://schemas.openxmlformats.org/drawingml/2006/table">
            <a:tbl>
              <a:tblPr firstRow="1" bandRow="1">
                <a:tableStyleId>{5C22544A-7EE6-4342-B048-85BDC9FD1C3A}</a:tableStyleId>
              </a:tblPr>
              <a:tblGrid>
                <a:gridCol w="409829">
                  <a:extLst>
                    <a:ext uri="{9D8B030D-6E8A-4147-A177-3AD203B41FA5}">
                      <a16:colId xmlns:a16="http://schemas.microsoft.com/office/drawing/2014/main" val="20000"/>
                    </a:ext>
                  </a:extLst>
                </a:gridCol>
                <a:gridCol w="409829">
                  <a:extLst>
                    <a:ext uri="{9D8B030D-6E8A-4147-A177-3AD203B41FA5}">
                      <a16:colId xmlns:a16="http://schemas.microsoft.com/office/drawing/2014/main" val="20001"/>
                    </a:ext>
                  </a:extLst>
                </a:gridCol>
                <a:gridCol w="409829">
                  <a:extLst>
                    <a:ext uri="{9D8B030D-6E8A-4147-A177-3AD203B41FA5}">
                      <a16:colId xmlns:a16="http://schemas.microsoft.com/office/drawing/2014/main" val="20002"/>
                    </a:ext>
                  </a:extLst>
                </a:gridCol>
                <a:gridCol w="409829">
                  <a:extLst>
                    <a:ext uri="{9D8B030D-6E8A-4147-A177-3AD203B41FA5}">
                      <a16:colId xmlns:a16="http://schemas.microsoft.com/office/drawing/2014/main" val="20003"/>
                    </a:ext>
                  </a:extLst>
                </a:gridCol>
                <a:gridCol w="409829">
                  <a:extLst>
                    <a:ext uri="{9D8B030D-6E8A-4147-A177-3AD203B41FA5}">
                      <a16:colId xmlns:a16="http://schemas.microsoft.com/office/drawing/2014/main" val="20004"/>
                    </a:ext>
                  </a:extLst>
                </a:gridCol>
                <a:gridCol w="409829">
                  <a:extLst>
                    <a:ext uri="{9D8B030D-6E8A-4147-A177-3AD203B41FA5}">
                      <a16:colId xmlns:a16="http://schemas.microsoft.com/office/drawing/2014/main" val="20005"/>
                    </a:ext>
                  </a:extLst>
                </a:gridCol>
                <a:gridCol w="409829">
                  <a:extLst>
                    <a:ext uri="{9D8B030D-6E8A-4147-A177-3AD203B41FA5}">
                      <a16:colId xmlns:a16="http://schemas.microsoft.com/office/drawing/2014/main" val="20006"/>
                    </a:ext>
                  </a:extLst>
                </a:gridCol>
                <a:gridCol w="409829">
                  <a:extLst>
                    <a:ext uri="{9D8B030D-6E8A-4147-A177-3AD203B41FA5}">
                      <a16:colId xmlns:a16="http://schemas.microsoft.com/office/drawing/2014/main" val="20007"/>
                    </a:ext>
                  </a:extLst>
                </a:gridCol>
                <a:gridCol w="409829">
                  <a:extLst>
                    <a:ext uri="{9D8B030D-6E8A-4147-A177-3AD203B41FA5}">
                      <a16:colId xmlns:a16="http://schemas.microsoft.com/office/drawing/2014/main" val="20008"/>
                    </a:ext>
                  </a:extLst>
                </a:gridCol>
                <a:gridCol w="409829">
                  <a:extLst>
                    <a:ext uri="{9D8B030D-6E8A-4147-A177-3AD203B41FA5}">
                      <a16:colId xmlns:a16="http://schemas.microsoft.com/office/drawing/2014/main" val="20009"/>
                    </a:ext>
                  </a:extLst>
                </a:gridCol>
                <a:gridCol w="409829">
                  <a:extLst>
                    <a:ext uri="{9D8B030D-6E8A-4147-A177-3AD203B41FA5}">
                      <a16:colId xmlns:a16="http://schemas.microsoft.com/office/drawing/2014/main" val="20010"/>
                    </a:ext>
                  </a:extLst>
                </a:gridCol>
                <a:gridCol w="409829">
                  <a:extLst>
                    <a:ext uri="{9D8B030D-6E8A-4147-A177-3AD203B41FA5}">
                      <a16:colId xmlns:a16="http://schemas.microsoft.com/office/drawing/2014/main" val="20011"/>
                    </a:ext>
                  </a:extLst>
                </a:gridCol>
                <a:gridCol w="409829">
                  <a:extLst>
                    <a:ext uri="{9D8B030D-6E8A-4147-A177-3AD203B41FA5}">
                      <a16:colId xmlns:a16="http://schemas.microsoft.com/office/drawing/2014/main" val="20012"/>
                    </a:ext>
                  </a:extLst>
                </a:gridCol>
                <a:gridCol w="409829">
                  <a:extLst>
                    <a:ext uri="{9D8B030D-6E8A-4147-A177-3AD203B41FA5}">
                      <a16:colId xmlns:a16="http://schemas.microsoft.com/office/drawing/2014/main" val="20013"/>
                    </a:ext>
                  </a:extLst>
                </a:gridCol>
                <a:gridCol w="409829">
                  <a:extLst>
                    <a:ext uri="{9D8B030D-6E8A-4147-A177-3AD203B41FA5}">
                      <a16:colId xmlns:a16="http://schemas.microsoft.com/office/drawing/2014/main" val="20014"/>
                    </a:ext>
                  </a:extLst>
                </a:gridCol>
                <a:gridCol w="409829">
                  <a:extLst>
                    <a:ext uri="{9D8B030D-6E8A-4147-A177-3AD203B41FA5}">
                      <a16:colId xmlns:a16="http://schemas.microsoft.com/office/drawing/2014/main" val="20015"/>
                    </a:ext>
                  </a:extLst>
                </a:gridCol>
                <a:gridCol w="409829">
                  <a:extLst>
                    <a:ext uri="{9D8B030D-6E8A-4147-A177-3AD203B41FA5}">
                      <a16:colId xmlns:a16="http://schemas.microsoft.com/office/drawing/2014/main" val="20016"/>
                    </a:ext>
                  </a:extLst>
                </a:gridCol>
                <a:gridCol w="409829">
                  <a:extLst>
                    <a:ext uri="{9D8B030D-6E8A-4147-A177-3AD203B41FA5}">
                      <a16:colId xmlns:a16="http://schemas.microsoft.com/office/drawing/2014/main" val="20017"/>
                    </a:ext>
                  </a:extLst>
                </a:gridCol>
                <a:gridCol w="409829">
                  <a:extLst>
                    <a:ext uri="{9D8B030D-6E8A-4147-A177-3AD203B41FA5}">
                      <a16:colId xmlns:a16="http://schemas.microsoft.com/office/drawing/2014/main" val="20018"/>
                    </a:ext>
                  </a:extLst>
                </a:gridCol>
              </a:tblGrid>
              <a:tr h="370840">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solidFill>
                            <a:srgbClr val="FF0000"/>
                          </a:solidFill>
                        </a:rPr>
                        <a:t>0</a:t>
                      </a:r>
                      <a:endParaRPr lang="zh-TW" altLang="en-US" dirty="0">
                        <a:solidFill>
                          <a:srgbClr val="FF0000"/>
                        </a:solidFill>
                      </a:endParaRPr>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extLst>
                  <a:ext uri="{0D108BD9-81ED-4DB2-BD59-A6C34878D82A}">
                    <a16:rowId xmlns:a16="http://schemas.microsoft.com/office/drawing/2014/main" val="10000"/>
                  </a:ext>
                </a:extLst>
              </a:tr>
              <a:tr h="370840">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10001"/>
                  </a:ext>
                </a:extLst>
              </a:tr>
            </a:tbl>
          </a:graphicData>
        </a:graphic>
      </p:graphicFrame>
      <p:sp>
        <p:nvSpPr>
          <p:cNvPr id="5" name="向上箭號 4"/>
          <p:cNvSpPr/>
          <p:nvPr/>
        </p:nvSpPr>
        <p:spPr>
          <a:xfrm>
            <a:off x="3857620" y="4857760"/>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 name="文字方塊 5"/>
          <p:cNvSpPr txBox="1"/>
          <p:nvPr/>
        </p:nvSpPr>
        <p:spPr>
          <a:xfrm>
            <a:off x="3643306" y="5500702"/>
            <a:ext cx="761747" cy="369332"/>
          </a:xfrm>
          <a:prstGeom prst="rect">
            <a:avLst/>
          </a:prstGeom>
          <a:noFill/>
        </p:spPr>
        <p:txBody>
          <a:bodyPr wrap="none" rtlCol="0">
            <a:spAutoFit/>
          </a:bodyPr>
          <a:lstStyle/>
          <a:p>
            <a:r>
              <a:rPr lang="en-US" altLang="zh-TW" dirty="0" smtClean="0"/>
              <a:t>cursor</a:t>
            </a:r>
            <a:endParaRPr lang="zh-TW" altLang="en-US" dirty="0"/>
          </a:p>
        </p:txBody>
      </p:sp>
      <p:sp>
        <p:nvSpPr>
          <p:cNvPr id="9" name="向上箭號 8"/>
          <p:cNvSpPr/>
          <p:nvPr/>
        </p:nvSpPr>
        <p:spPr>
          <a:xfrm>
            <a:off x="4381757" y="4857760"/>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文字方塊 9"/>
          <p:cNvSpPr txBox="1"/>
          <p:nvPr/>
        </p:nvSpPr>
        <p:spPr>
          <a:xfrm>
            <a:off x="4357686" y="5500702"/>
            <a:ext cx="620683" cy="369332"/>
          </a:xfrm>
          <a:prstGeom prst="rect">
            <a:avLst/>
          </a:prstGeom>
          <a:noFill/>
        </p:spPr>
        <p:txBody>
          <a:bodyPr wrap="none" rtlCol="0">
            <a:spAutoFit/>
          </a:bodyPr>
          <a:lstStyle/>
          <a:p>
            <a:r>
              <a:rPr lang="en-US" altLang="zh-TW" dirty="0" smtClean="0"/>
              <a:t>right</a:t>
            </a:r>
          </a:p>
        </p:txBody>
      </p:sp>
      <p:sp>
        <p:nvSpPr>
          <p:cNvPr id="12" name="向上箭號 11"/>
          <p:cNvSpPr/>
          <p:nvPr/>
        </p:nvSpPr>
        <p:spPr>
          <a:xfrm rot="10800000">
            <a:off x="3904987" y="3226828"/>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文字方塊 12"/>
          <p:cNvSpPr txBox="1"/>
          <p:nvPr/>
        </p:nvSpPr>
        <p:spPr>
          <a:xfrm>
            <a:off x="3786182" y="2857496"/>
            <a:ext cx="748923" cy="369332"/>
          </a:xfrm>
          <a:prstGeom prst="rect">
            <a:avLst/>
          </a:prstGeom>
          <a:noFill/>
        </p:spPr>
        <p:txBody>
          <a:bodyPr wrap="none" rtlCol="0">
            <a:spAutoFit/>
          </a:bodyPr>
          <a:lstStyle/>
          <a:p>
            <a:r>
              <a:rPr lang="en-US" altLang="zh-TW" dirty="0" smtClean="0"/>
              <a:t>center</a:t>
            </a:r>
            <a:endParaRPr lang="zh-TW" altLang="en-US" dirty="0"/>
          </a:p>
        </p:txBody>
      </p:sp>
      <p:sp>
        <p:nvSpPr>
          <p:cNvPr id="14" name="向下箭號 13"/>
          <p:cNvSpPr/>
          <p:nvPr/>
        </p:nvSpPr>
        <p:spPr>
          <a:xfrm>
            <a:off x="4429124" y="3571876"/>
            <a:ext cx="214314" cy="3354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向上箭號 14"/>
          <p:cNvSpPr/>
          <p:nvPr/>
        </p:nvSpPr>
        <p:spPr>
          <a:xfrm rot="10800000">
            <a:off x="3071802" y="3226828"/>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6" name="文字方塊 15"/>
          <p:cNvSpPr txBox="1"/>
          <p:nvPr/>
        </p:nvSpPr>
        <p:spPr>
          <a:xfrm>
            <a:off x="2952997" y="2857496"/>
            <a:ext cx="748923" cy="369332"/>
          </a:xfrm>
          <a:prstGeom prst="rect">
            <a:avLst/>
          </a:prstGeom>
          <a:noFill/>
        </p:spPr>
        <p:txBody>
          <a:bodyPr wrap="none" rtlCol="0">
            <a:spAutoFit/>
          </a:bodyPr>
          <a:lstStyle/>
          <a:p>
            <a:r>
              <a:rPr lang="en-US" altLang="zh-TW" dirty="0" smtClean="0"/>
              <a:t>center</a:t>
            </a:r>
            <a:endParaRPr lang="zh-TW" altLang="en-US" dirty="0"/>
          </a:p>
        </p:txBody>
      </p:sp>
      <p:sp>
        <p:nvSpPr>
          <p:cNvPr id="17" name="向右箭號 16"/>
          <p:cNvSpPr/>
          <p:nvPr/>
        </p:nvSpPr>
        <p:spPr>
          <a:xfrm>
            <a:off x="3571868" y="3372996"/>
            <a:ext cx="285752" cy="1274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err="1" smtClean="0"/>
              <a:t>Manacher’s</a:t>
            </a:r>
            <a:r>
              <a:rPr lang="en-US" altLang="zh-TW" dirty="0" smtClean="0"/>
              <a:t> Algorithm</a:t>
            </a:r>
            <a:endParaRPr lang="zh-TW" altLang="en-US" dirty="0"/>
          </a:p>
        </p:txBody>
      </p:sp>
      <p:sp>
        <p:nvSpPr>
          <p:cNvPr id="3" name="內容版面配置區 2"/>
          <p:cNvSpPr>
            <a:spLocks noGrp="1"/>
          </p:cNvSpPr>
          <p:nvPr>
            <p:ph idx="1"/>
          </p:nvPr>
        </p:nvSpPr>
        <p:spPr/>
        <p:txBody>
          <a:bodyPr/>
          <a:lstStyle/>
          <a:p>
            <a:r>
              <a:rPr lang="en-US" altLang="zh-TW" dirty="0" smtClean="0"/>
              <a:t>0101001011</a:t>
            </a:r>
          </a:p>
          <a:p>
            <a:r>
              <a:rPr lang="en-US" altLang="zh-TW" dirty="0" smtClean="0"/>
              <a:t>0#1#0#1#0#0#1#0#1#1</a:t>
            </a:r>
            <a:endParaRPr lang="zh-TW" altLang="en-US" dirty="0"/>
          </a:p>
        </p:txBody>
      </p:sp>
      <p:graphicFrame>
        <p:nvGraphicFramePr>
          <p:cNvPr id="4" name="表格 3"/>
          <p:cNvGraphicFramePr>
            <a:graphicFrameLocks noGrp="1"/>
          </p:cNvGraphicFramePr>
          <p:nvPr/>
        </p:nvGraphicFramePr>
        <p:xfrm>
          <a:off x="642904" y="3973204"/>
          <a:ext cx="7786751" cy="741680"/>
        </p:xfrm>
        <a:graphic>
          <a:graphicData uri="http://schemas.openxmlformats.org/drawingml/2006/table">
            <a:tbl>
              <a:tblPr firstRow="1" bandRow="1">
                <a:tableStyleId>{5C22544A-7EE6-4342-B048-85BDC9FD1C3A}</a:tableStyleId>
              </a:tblPr>
              <a:tblGrid>
                <a:gridCol w="409829">
                  <a:extLst>
                    <a:ext uri="{9D8B030D-6E8A-4147-A177-3AD203B41FA5}">
                      <a16:colId xmlns:a16="http://schemas.microsoft.com/office/drawing/2014/main" val="20000"/>
                    </a:ext>
                  </a:extLst>
                </a:gridCol>
                <a:gridCol w="409829">
                  <a:extLst>
                    <a:ext uri="{9D8B030D-6E8A-4147-A177-3AD203B41FA5}">
                      <a16:colId xmlns:a16="http://schemas.microsoft.com/office/drawing/2014/main" val="20001"/>
                    </a:ext>
                  </a:extLst>
                </a:gridCol>
                <a:gridCol w="409829">
                  <a:extLst>
                    <a:ext uri="{9D8B030D-6E8A-4147-A177-3AD203B41FA5}">
                      <a16:colId xmlns:a16="http://schemas.microsoft.com/office/drawing/2014/main" val="20002"/>
                    </a:ext>
                  </a:extLst>
                </a:gridCol>
                <a:gridCol w="409829">
                  <a:extLst>
                    <a:ext uri="{9D8B030D-6E8A-4147-A177-3AD203B41FA5}">
                      <a16:colId xmlns:a16="http://schemas.microsoft.com/office/drawing/2014/main" val="20003"/>
                    </a:ext>
                  </a:extLst>
                </a:gridCol>
                <a:gridCol w="409829">
                  <a:extLst>
                    <a:ext uri="{9D8B030D-6E8A-4147-A177-3AD203B41FA5}">
                      <a16:colId xmlns:a16="http://schemas.microsoft.com/office/drawing/2014/main" val="20004"/>
                    </a:ext>
                  </a:extLst>
                </a:gridCol>
                <a:gridCol w="409829">
                  <a:extLst>
                    <a:ext uri="{9D8B030D-6E8A-4147-A177-3AD203B41FA5}">
                      <a16:colId xmlns:a16="http://schemas.microsoft.com/office/drawing/2014/main" val="20005"/>
                    </a:ext>
                  </a:extLst>
                </a:gridCol>
                <a:gridCol w="409829">
                  <a:extLst>
                    <a:ext uri="{9D8B030D-6E8A-4147-A177-3AD203B41FA5}">
                      <a16:colId xmlns:a16="http://schemas.microsoft.com/office/drawing/2014/main" val="20006"/>
                    </a:ext>
                  </a:extLst>
                </a:gridCol>
                <a:gridCol w="409829">
                  <a:extLst>
                    <a:ext uri="{9D8B030D-6E8A-4147-A177-3AD203B41FA5}">
                      <a16:colId xmlns:a16="http://schemas.microsoft.com/office/drawing/2014/main" val="20007"/>
                    </a:ext>
                  </a:extLst>
                </a:gridCol>
                <a:gridCol w="409829">
                  <a:extLst>
                    <a:ext uri="{9D8B030D-6E8A-4147-A177-3AD203B41FA5}">
                      <a16:colId xmlns:a16="http://schemas.microsoft.com/office/drawing/2014/main" val="20008"/>
                    </a:ext>
                  </a:extLst>
                </a:gridCol>
                <a:gridCol w="409829">
                  <a:extLst>
                    <a:ext uri="{9D8B030D-6E8A-4147-A177-3AD203B41FA5}">
                      <a16:colId xmlns:a16="http://schemas.microsoft.com/office/drawing/2014/main" val="20009"/>
                    </a:ext>
                  </a:extLst>
                </a:gridCol>
                <a:gridCol w="409829">
                  <a:extLst>
                    <a:ext uri="{9D8B030D-6E8A-4147-A177-3AD203B41FA5}">
                      <a16:colId xmlns:a16="http://schemas.microsoft.com/office/drawing/2014/main" val="20010"/>
                    </a:ext>
                  </a:extLst>
                </a:gridCol>
                <a:gridCol w="409829">
                  <a:extLst>
                    <a:ext uri="{9D8B030D-6E8A-4147-A177-3AD203B41FA5}">
                      <a16:colId xmlns:a16="http://schemas.microsoft.com/office/drawing/2014/main" val="20011"/>
                    </a:ext>
                  </a:extLst>
                </a:gridCol>
                <a:gridCol w="409829">
                  <a:extLst>
                    <a:ext uri="{9D8B030D-6E8A-4147-A177-3AD203B41FA5}">
                      <a16:colId xmlns:a16="http://schemas.microsoft.com/office/drawing/2014/main" val="20012"/>
                    </a:ext>
                  </a:extLst>
                </a:gridCol>
                <a:gridCol w="409829">
                  <a:extLst>
                    <a:ext uri="{9D8B030D-6E8A-4147-A177-3AD203B41FA5}">
                      <a16:colId xmlns:a16="http://schemas.microsoft.com/office/drawing/2014/main" val="20013"/>
                    </a:ext>
                  </a:extLst>
                </a:gridCol>
                <a:gridCol w="409829">
                  <a:extLst>
                    <a:ext uri="{9D8B030D-6E8A-4147-A177-3AD203B41FA5}">
                      <a16:colId xmlns:a16="http://schemas.microsoft.com/office/drawing/2014/main" val="20014"/>
                    </a:ext>
                  </a:extLst>
                </a:gridCol>
                <a:gridCol w="409829">
                  <a:extLst>
                    <a:ext uri="{9D8B030D-6E8A-4147-A177-3AD203B41FA5}">
                      <a16:colId xmlns:a16="http://schemas.microsoft.com/office/drawing/2014/main" val="20015"/>
                    </a:ext>
                  </a:extLst>
                </a:gridCol>
                <a:gridCol w="409829">
                  <a:extLst>
                    <a:ext uri="{9D8B030D-6E8A-4147-A177-3AD203B41FA5}">
                      <a16:colId xmlns:a16="http://schemas.microsoft.com/office/drawing/2014/main" val="20016"/>
                    </a:ext>
                  </a:extLst>
                </a:gridCol>
                <a:gridCol w="409829">
                  <a:extLst>
                    <a:ext uri="{9D8B030D-6E8A-4147-A177-3AD203B41FA5}">
                      <a16:colId xmlns:a16="http://schemas.microsoft.com/office/drawing/2014/main" val="20017"/>
                    </a:ext>
                  </a:extLst>
                </a:gridCol>
                <a:gridCol w="409829">
                  <a:extLst>
                    <a:ext uri="{9D8B030D-6E8A-4147-A177-3AD203B41FA5}">
                      <a16:colId xmlns:a16="http://schemas.microsoft.com/office/drawing/2014/main" val="20018"/>
                    </a:ext>
                  </a:extLst>
                </a:gridCol>
              </a:tblGrid>
              <a:tr h="370840">
                <a:tc>
                  <a:txBody>
                    <a:bodyPr/>
                    <a:lstStyle/>
                    <a:p>
                      <a:pPr algn="ctr"/>
                      <a:r>
                        <a:rPr lang="en-US" altLang="zh-TW" dirty="0" smtClean="0">
                          <a:solidFill>
                            <a:srgbClr val="FF0000"/>
                          </a:solidFill>
                        </a:rPr>
                        <a:t>0</a:t>
                      </a:r>
                      <a:endParaRPr lang="zh-TW" altLang="en-US" dirty="0">
                        <a:solidFill>
                          <a:srgbClr val="FF0000"/>
                        </a:solidFill>
                      </a:endParaRPr>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solidFill>
                            <a:schemeClr val="bg1"/>
                          </a:solidFill>
                        </a:rPr>
                        <a:t>1</a:t>
                      </a:r>
                      <a:endParaRPr lang="zh-TW" altLang="en-US" dirty="0">
                        <a:solidFill>
                          <a:schemeClr val="bg1"/>
                        </a:solidFill>
                      </a:endParaRPr>
                    </a:p>
                  </a:txBody>
                  <a:tcPr/>
                </a:tc>
                <a:tc>
                  <a:txBody>
                    <a:bodyPr/>
                    <a:lstStyle/>
                    <a:p>
                      <a:pPr algn="ctr"/>
                      <a:r>
                        <a:rPr lang="en-US" altLang="zh-TW" dirty="0" smtClean="0"/>
                        <a: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solidFill>
                            <a:srgbClr val="92D050"/>
                          </a:solidFill>
                        </a:rPr>
                        <a:t>0</a:t>
                      </a:r>
                      <a:endParaRPr lang="zh-TW" altLang="en-US" dirty="0">
                        <a:solidFill>
                          <a:srgbClr val="92D050"/>
                        </a:solidFill>
                      </a:endParaRPr>
                    </a:p>
                  </a:txBody>
                  <a:tcPr/>
                </a:tc>
                <a:tc>
                  <a:txBody>
                    <a:bodyPr/>
                    <a:lstStyle/>
                    <a:p>
                      <a:pPr algn="ctr"/>
                      <a:r>
                        <a:rPr lang="en-US" altLang="zh-TW" dirty="0" smtClean="0">
                          <a:solidFill>
                            <a:srgbClr val="92D050"/>
                          </a:solidFill>
                        </a:rPr>
                        <a:t>#</a:t>
                      </a:r>
                      <a:endParaRPr lang="zh-TW" altLang="en-US" dirty="0">
                        <a:solidFill>
                          <a:srgbClr val="92D050"/>
                        </a:solidFill>
                      </a:endParaRPr>
                    </a:p>
                  </a:txBody>
                  <a:tcPr/>
                </a:tc>
                <a:tc>
                  <a:txBody>
                    <a:bodyPr/>
                    <a:lstStyle/>
                    <a:p>
                      <a:pPr algn="ctr"/>
                      <a:r>
                        <a:rPr lang="en-US" altLang="zh-TW" dirty="0" smtClean="0">
                          <a:solidFill>
                            <a:srgbClr val="92D050"/>
                          </a:solidFill>
                        </a:rPr>
                        <a:t>1</a:t>
                      </a:r>
                      <a:endParaRPr lang="zh-TW" altLang="en-US" dirty="0">
                        <a:solidFill>
                          <a:srgbClr val="92D050"/>
                        </a:solidFill>
                      </a:endParaRPr>
                    </a:p>
                  </a:txBody>
                  <a:tcPr/>
                </a:tc>
                <a:tc>
                  <a:txBody>
                    <a:bodyPr/>
                    <a:lstStyle/>
                    <a:p>
                      <a:pPr algn="ctr"/>
                      <a:r>
                        <a:rPr lang="en-US" altLang="zh-TW" dirty="0" smtClean="0">
                          <a:solidFill>
                            <a:srgbClr val="92D050"/>
                          </a:solidFill>
                        </a:rPr>
                        <a:t>#</a:t>
                      </a:r>
                      <a:endParaRPr lang="zh-TW" altLang="en-US" dirty="0">
                        <a:solidFill>
                          <a:srgbClr val="92D050"/>
                        </a:solidFill>
                      </a:endParaRPr>
                    </a:p>
                  </a:txBody>
                  <a:tcPr/>
                </a:tc>
                <a:tc>
                  <a:txBody>
                    <a:bodyPr/>
                    <a:lstStyle/>
                    <a:p>
                      <a:pPr algn="ctr"/>
                      <a:r>
                        <a:rPr lang="en-US" altLang="zh-TW" dirty="0" smtClean="0">
                          <a:solidFill>
                            <a:srgbClr val="92D050"/>
                          </a:solidFill>
                        </a:rPr>
                        <a:t>0</a:t>
                      </a:r>
                      <a:endParaRPr lang="zh-TW" altLang="en-US" dirty="0">
                        <a:solidFill>
                          <a:srgbClr val="92D050"/>
                        </a:solidFill>
                      </a:endParaRPr>
                    </a:p>
                  </a:txBody>
                  <a:tcPr/>
                </a:tc>
                <a:tc>
                  <a:txBody>
                    <a:bodyPr/>
                    <a:lstStyle/>
                    <a:p>
                      <a:pPr algn="ctr"/>
                      <a:r>
                        <a:rPr lang="en-US" altLang="zh-TW" dirty="0" smtClean="0">
                          <a:solidFill>
                            <a:srgbClr val="92D050"/>
                          </a:solidFill>
                        </a:rPr>
                        <a:t>#</a:t>
                      </a:r>
                      <a:endParaRPr lang="zh-TW" altLang="en-US" dirty="0">
                        <a:solidFill>
                          <a:srgbClr val="92D050"/>
                        </a:solidFill>
                      </a:endParaRPr>
                    </a:p>
                  </a:txBody>
                  <a:tcPr/>
                </a:tc>
                <a:tc>
                  <a:txBody>
                    <a:bodyPr/>
                    <a:lstStyle/>
                    <a:p>
                      <a:pPr algn="ctr"/>
                      <a:r>
                        <a:rPr lang="en-US" altLang="zh-TW" dirty="0" smtClean="0">
                          <a:solidFill>
                            <a:srgbClr val="92D050"/>
                          </a:solidFill>
                        </a:rPr>
                        <a:t>1</a:t>
                      </a:r>
                      <a:endParaRPr lang="zh-TW" altLang="en-US" dirty="0">
                        <a:solidFill>
                          <a:srgbClr val="92D050"/>
                        </a:solidFill>
                      </a:endParaRPr>
                    </a:p>
                  </a:txBody>
                  <a:tcPr/>
                </a:tc>
                <a:tc>
                  <a:txBody>
                    <a:bodyPr/>
                    <a:lstStyle/>
                    <a:p>
                      <a:pPr algn="ctr"/>
                      <a:r>
                        <a:rPr lang="en-US" altLang="zh-TW" dirty="0" smtClean="0">
                          <a:solidFill>
                            <a:srgbClr val="92D050"/>
                          </a:solidFill>
                        </a:rPr>
                        <a:t>#</a:t>
                      </a:r>
                      <a:endParaRPr lang="zh-TW" altLang="en-US" dirty="0">
                        <a:solidFill>
                          <a:srgbClr val="92D050"/>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extLst>
                  <a:ext uri="{0D108BD9-81ED-4DB2-BD59-A6C34878D82A}">
                    <a16:rowId xmlns:a16="http://schemas.microsoft.com/office/drawing/2014/main" val="10000"/>
                  </a:ext>
                </a:extLst>
              </a:tr>
              <a:tr h="370840">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8</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10001"/>
                  </a:ext>
                </a:extLst>
              </a:tr>
            </a:tbl>
          </a:graphicData>
        </a:graphic>
      </p:graphicFrame>
      <p:sp>
        <p:nvSpPr>
          <p:cNvPr id="12" name="向上箭號 11"/>
          <p:cNvSpPr/>
          <p:nvPr/>
        </p:nvSpPr>
        <p:spPr>
          <a:xfrm rot="10800000">
            <a:off x="3796654" y="3226828"/>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文字方塊 12"/>
          <p:cNvSpPr txBox="1"/>
          <p:nvPr/>
        </p:nvSpPr>
        <p:spPr>
          <a:xfrm>
            <a:off x="3500430" y="2928934"/>
            <a:ext cx="748923" cy="369332"/>
          </a:xfrm>
          <a:prstGeom prst="rect">
            <a:avLst/>
          </a:prstGeom>
          <a:noFill/>
        </p:spPr>
        <p:txBody>
          <a:bodyPr wrap="none" rtlCol="0">
            <a:spAutoFit/>
          </a:bodyPr>
          <a:lstStyle/>
          <a:p>
            <a:r>
              <a:rPr lang="en-US" altLang="zh-TW" dirty="0" smtClean="0"/>
              <a:t>center</a:t>
            </a:r>
            <a:endParaRPr lang="zh-TW" altLang="en-US" dirty="0"/>
          </a:p>
        </p:txBody>
      </p:sp>
      <p:sp>
        <p:nvSpPr>
          <p:cNvPr id="14" name="向下箭號 13"/>
          <p:cNvSpPr/>
          <p:nvPr/>
        </p:nvSpPr>
        <p:spPr>
          <a:xfrm>
            <a:off x="4429124" y="3571876"/>
            <a:ext cx="214314" cy="3354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向上箭號 14"/>
          <p:cNvSpPr/>
          <p:nvPr/>
        </p:nvSpPr>
        <p:spPr>
          <a:xfrm>
            <a:off x="4310319" y="4786322"/>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6" name="文字方塊 15"/>
          <p:cNvSpPr txBox="1"/>
          <p:nvPr/>
        </p:nvSpPr>
        <p:spPr>
          <a:xfrm>
            <a:off x="4096005" y="5429264"/>
            <a:ext cx="761747" cy="369332"/>
          </a:xfrm>
          <a:prstGeom prst="rect">
            <a:avLst/>
          </a:prstGeom>
          <a:noFill/>
        </p:spPr>
        <p:txBody>
          <a:bodyPr wrap="none" rtlCol="0">
            <a:spAutoFit/>
          </a:bodyPr>
          <a:lstStyle/>
          <a:p>
            <a:r>
              <a:rPr lang="en-US" altLang="zh-TW" dirty="0" smtClean="0"/>
              <a:t>cursor</a:t>
            </a:r>
            <a:endParaRPr lang="zh-TW" altLang="en-US" dirty="0"/>
          </a:p>
        </p:txBody>
      </p:sp>
      <p:sp>
        <p:nvSpPr>
          <p:cNvPr id="17" name="向上箭號 16"/>
          <p:cNvSpPr/>
          <p:nvPr/>
        </p:nvSpPr>
        <p:spPr>
          <a:xfrm>
            <a:off x="7618726" y="5072074"/>
            <a:ext cx="484632" cy="13451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 name="文字方塊 17"/>
          <p:cNvSpPr txBox="1"/>
          <p:nvPr/>
        </p:nvSpPr>
        <p:spPr>
          <a:xfrm>
            <a:off x="7594655" y="6345816"/>
            <a:ext cx="620683" cy="369332"/>
          </a:xfrm>
          <a:prstGeom prst="rect">
            <a:avLst/>
          </a:prstGeom>
          <a:noFill/>
        </p:spPr>
        <p:txBody>
          <a:bodyPr wrap="none" rtlCol="0">
            <a:spAutoFit/>
          </a:bodyPr>
          <a:lstStyle/>
          <a:p>
            <a:r>
              <a:rPr lang="en-US" altLang="zh-TW" dirty="0" smtClean="0"/>
              <a:t>right</a:t>
            </a:r>
          </a:p>
        </p:txBody>
      </p:sp>
      <p:sp>
        <p:nvSpPr>
          <p:cNvPr id="19" name="向上箭號 18"/>
          <p:cNvSpPr/>
          <p:nvPr/>
        </p:nvSpPr>
        <p:spPr>
          <a:xfrm>
            <a:off x="4310319" y="5702874"/>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 name="文字方塊 19"/>
          <p:cNvSpPr txBox="1"/>
          <p:nvPr/>
        </p:nvSpPr>
        <p:spPr>
          <a:xfrm>
            <a:off x="4286248" y="6345816"/>
            <a:ext cx="620683" cy="369332"/>
          </a:xfrm>
          <a:prstGeom prst="rect">
            <a:avLst/>
          </a:prstGeom>
          <a:noFill/>
        </p:spPr>
        <p:txBody>
          <a:bodyPr wrap="none" rtlCol="0">
            <a:spAutoFit/>
          </a:bodyPr>
          <a:lstStyle/>
          <a:p>
            <a:r>
              <a:rPr lang="en-US" altLang="zh-TW" dirty="0" smtClean="0"/>
              <a:t>right</a:t>
            </a:r>
          </a:p>
        </p:txBody>
      </p:sp>
      <p:sp>
        <p:nvSpPr>
          <p:cNvPr id="21" name="向右箭號 20"/>
          <p:cNvSpPr/>
          <p:nvPr/>
        </p:nvSpPr>
        <p:spPr>
          <a:xfrm>
            <a:off x="5000628" y="6000768"/>
            <a:ext cx="2500330" cy="2143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向上箭號 21"/>
          <p:cNvSpPr/>
          <p:nvPr/>
        </p:nvSpPr>
        <p:spPr>
          <a:xfrm rot="10800000">
            <a:off x="4333615" y="2928932"/>
            <a:ext cx="484632" cy="571505"/>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文字方塊 22"/>
          <p:cNvSpPr txBox="1"/>
          <p:nvPr/>
        </p:nvSpPr>
        <p:spPr>
          <a:xfrm>
            <a:off x="4214810" y="2618896"/>
            <a:ext cx="748923" cy="369332"/>
          </a:xfrm>
          <a:prstGeom prst="rect">
            <a:avLst/>
          </a:prstGeom>
          <a:noFill/>
        </p:spPr>
        <p:txBody>
          <a:bodyPr wrap="none" rtlCol="0">
            <a:spAutoFit/>
          </a:bodyPr>
          <a:lstStyle/>
          <a:p>
            <a:r>
              <a:rPr lang="en-US" altLang="zh-TW" dirty="0" smtClean="0"/>
              <a:t>center</a:t>
            </a:r>
            <a:endParaRPr lang="zh-TW" altLang="en-US" dirty="0"/>
          </a:p>
        </p:txBody>
      </p:sp>
      <p:cxnSp>
        <p:nvCxnSpPr>
          <p:cNvPr id="25" name="直線單箭頭接點 24"/>
          <p:cNvCxnSpPr/>
          <p:nvPr/>
        </p:nvCxnSpPr>
        <p:spPr>
          <a:xfrm rot="5400000" flipH="1" flipV="1">
            <a:off x="4179091" y="3036091"/>
            <a:ext cx="214314" cy="1428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err="1" smtClean="0"/>
              <a:t>Manacher’s</a:t>
            </a:r>
            <a:r>
              <a:rPr lang="en-US" altLang="zh-TW" dirty="0" smtClean="0"/>
              <a:t> Algorithm</a:t>
            </a:r>
            <a:endParaRPr lang="zh-TW" altLang="en-US" dirty="0"/>
          </a:p>
        </p:txBody>
      </p:sp>
      <p:sp>
        <p:nvSpPr>
          <p:cNvPr id="3" name="內容版面配置區 2"/>
          <p:cNvSpPr>
            <a:spLocks noGrp="1"/>
          </p:cNvSpPr>
          <p:nvPr>
            <p:ph idx="1"/>
          </p:nvPr>
        </p:nvSpPr>
        <p:spPr/>
        <p:txBody>
          <a:bodyPr/>
          <a:lstStyle/>
          <a:p>
            <a:r>
              <a:rPr lang="en-US" altLang="zh-TW" dirty="0" smtClean="0"/>
              <a:t>0101001011</a:t>
            </a:r>
          </a:p>
          <a:p>
            <a:r>
              <a:rPr lang="en-US" altLang="zh-TW" dirty="0" smtClean="0"/>
              <a:t>0#1#0#1#0#0#1#0#1#1</a:t>
            </a:r>
            <a:endParaRPr lang="zh-TW" altLang="en-US" dirty="0"/>
          </a:p>
        </p:txBody>
      </p:sp>
      <p:graphicFrame>
        <p:nvGraphicFramePr>
          <p:cNvPr id="4" name="表格 3"/>
          <p:cNvGraphicFramePr>
            <a:graphicFrameLocks noGrp="1"/>
          </p:cNvGraphicFramePr>
          <p:nvPr/>
        </p:nvGraphicFramePr>
        <p:xfrm>
          <a:off x="642904" y="3973204"/>
          <a:ext cx="7786751" cy="741680"/>
        </p:xfrm>
        <a:graphic>
          <a:graphicData uri="http://schemas.openxmlformats.org/drawingml/2006/table">
            <a:tbl>
              <a:tblPr firstRow="1" bandRow="1">
                <a:tableStyleId>{5C22544A-7EE6-4342-B048-85BDC9FD1C3A}</a:tableStyleId>
              </a:tblPr>
              <a:tblGrid>
                <a:gridCol w="409829">
                  <a:extLst>
                    <a:ext uri="{9D8B030D-6E8A-4147-A177-3AD203B41FA5}">
                      <a16:colId xmlns:a16="http://schemas.microsoft.com/office/drawing/2014/main" val="20000"/>
                    </a:ext>
                  </a:extLst>
                </a:gridCol>
                <a:gridCol w="409829">
                  <a:extLst>
                    <a:ext uri="{9D8B030D-6E8A-4147-A177-3AD203B41FA5}">
                      <a16:colId xmlns:a16="http://schemas.microsoft.com/office/drawing/2014/main" val="20001"/>
                    </a:ext>
                  </a:extLst>
                </a:gridCol>
                <a:gridCol w="409829">
                  <a:extLst>
                    <a:ext uri="{9D8B030D-6E8A-4147-A177-3AD203B41FA5}">
                      <a16:colId xmlns:a16="http://schemas.microsoft.com/office/drawing/2014/main" val="20002"/>
                    </a:ext>
                  </a:extLst>
                </a:gridCol>
                <a:gridCol w="409829">
                  <a:extLst>
                    <a:ext uri="{9D8B030D-6E8A-4147-A177-3AD203B41FA5}">
                      <a16:colId xmlns:a16="http://schemas.microsoft.com/office/drawing/2014/main" val="20003"/>
                    </a:ext>
                  </a:extLst>
                </a:gridCol>
                <a:gridCol w="409829">
                  <a:extLst>
                    <a:ext uri="{9D8B030D-6E8A-4147-A177-3AD203B41FA5}">
                      <a16:colId xmlns:a16="http://schemas.microsoft.com/office/drawing/2014/main" val="20004"/>
                    </a:ext>
                  </a:extLst>
                </a:gridCol>
                <a:gridCol w="409829">
                  <a:extLst>
                    <a:ext uri="{9D8B030D-6E8A-4147-A177-3AD203B41FA5}">
                      <a16:colId xmlns:a16="http://schemas.microsoft.com/office/drawing/2014/main" val="20005"/>
                    </a:ext>
                  </a:extLst>
                </a:gridCol>
                <a:gridCol w="409829">
                  <a:extLst>
                    <a:ext uri="{9D8B030D-6E8A-4147-A177-3AD203B41FA5}">
                      <a16:colId xmlns:a16="http://schemas.microsoft.com/office/drawing/2014/main" val="20006"/>
                    </a:ext>
                  </a:extLst>
                </a:gridCol>
                <a:gridCol w="409829">
                  <a:extLst>
                    <a:ext uri="{9D8B030D-6E8A-4147-A177-3AD203B41FA5}">
                      <a16:colId xmlns:a16="http://schemas.microsoft.com/office/drawing/2014/main" val="20007"/>
                    </a:ext>
                  </a:extLst>
                </a:gridCol>
                <a:gridCol w="409829">
                  <a:extLst>
                    <a:ext uri="{9D8B030D-6E8A-4147-A177-3AD203B41FA5}">
                      <a16:colId xmlns:a16="http://schemas.microsoft.com/office/drawing/2014/main" val="20008"/>
                    </a:ext>
                  </a:extLst>
                </a:gridCol>
                <a:gridCol w="409829">
                  <a:extLst>
                    <a:ext uri="{9D8B030D-6E8A-4147-A177-3AD203B41FA5}">
                      <a16:colId xmlns:a16="http://schemas.microsoft.com/office/drawing/2014/main" val="20009"/>
                    </a:ext>
                  </a:extLst>
                </a:gridCol>
                <a:gridCol w="409829">
                  <a:extLst>
                    <a:ext uri="{9D8B030D-6E8A-4147-A177-3AD203B41FA5}">
                      <a16:colId xmlns:a16="http://schemas.microsoft.com/office/drawing/2014/main" val="20010"/>
                    </a:ext>
                  </a:extLst>
                </a:gridCol>
                <a:gridCol w="409829">
                  <a:extLst>
                    <a:ext uri="{9D8B030D-6E8A-4147-A177-3AD203B41FA5}">
                      <a16:colId xmlns:a16="http://schemas.microsoft.com/office/drawing/2014/main" val="20011"/>
                    </a:ext>
                  </a:extLst>
                </a:gridCol>
                <a:gridCol w="409829">
                  <a:extLst>
                    <a:ext uri="{9D8B030D-6E8A-4147-A177-3AD203B41FA5}">
                      <a16:colId xmlns:a16="http://schemas.microsoft.com/office/drawing/2014/main" val="20012"/>
                    </a:ext>
                  </a:extLst>
                </a:gridCol>
                <a:gridCol w="409829">
                  <a:extLst>
                    <a:ext uri="{9D8B030D-6E8A-4147-A177-3AD203B41FA5}">
                      <a16:colId xmlns:a16="http://schemas.microsoft.com/office/drawing/2014/main" val="20013"/>
                    </a:ext>
                  </a:extLst>
                </a:gridCol>
                <a:gridCol w="409829">
                  <a:extLst>
                    <a:ext uri="{9D8B030D-6E8A-4147-A177-3AD203B41FA5}">
                      <a16:colId xmlns:a16="http://schemas.microsoft.com/office/drawing/2014/main" val="20014"/>
                    </a:ext>
                  </a:extLst>
                </a:gridCol>
                <a:gridCol w="409829">
                  <a:extLst>
                    <a:ext uri="{9D8B030D-6E8A-4147-A177-3AD203B41FA5}">
                      <a16:colId xmlns:a16="http://schemas.microsoft.com/office/drawing/2014/main" val="20015"/>
                    </a:ext>
                  </a:extLst>
                </a:gridCol>
                <a:gridCol w="409829">
                  <a:extLst>
                    <a:ext uri="{9D8B030D-6E8A-4147-A177-3AD203B41FA5}">
                      <a16:colId xmlns:a16="http://schemas.microsoft.com/office/drawing/2014/main" val="20016"/>
                    </a:ext>
                  </a:extLst>
                </a:gridCol>
                <a:gridCol w="409829">
                  <a:extLst>
                    <a:ext uri="{9D8B030D-6E8A-4147-A177-3AD203B41FA5}">
                      <a16:colId xmlns:a16="http://schemas.microsoft.com/office/drawing/2014/main" val="20017"/>
                    </a:ext>
                  </a:extLst>
                </a:gridCol>
                <a:gridCol w="409829">
                  <a:extLst>
                    <a:ext uri="{9D8B030D-6E8A-4147-A177-3AD203B41FA5}">
                      <a16:colId xmlns:a16="http://schemas.microsoft.com/office/drawing/2014/main" val="20018"/>
                    </a:ext>
                  </a:extLst>
                </a:gridCol>
              </a:tblGrid>
              <a:tr h="370840">
                <a:tc>
                  <a:txBody>
                    <a:bodyPr/>
                    <a:lstStyle/>
                    <a:p>
                      <a:pPr algn="ctr"/>
                      <a:r>
                        <a:rPr lang="en-US" altLang="zh-TW" dirty="0" smtClean="0">
                          <a:solidFill>
                            <a:schemeClr val="bg1"/>
                          </a:solidFill>
                        </a:rPr>
                        <a:t>0</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1</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0</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1</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0</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0</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1</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rgbClr val="FF0000"/>
                          </a:solidFill>
                        </a:rPr>
                        <a:t>0</a:t>
                      </a:r>
                      <a:endParaRPr lang="zh-TW" altLang="en-US" dirty="0">
                        <a:solidFill>
                          <a:srgbClr val="FF0000"/>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1</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extLst>
                  <a:ext uri="{0D108BD9-81ED-4DB2-BD59-A6C34878D82A}">
                    <a16:rowId xmlns:a16="http://schemas.microsoft.com/office/drawing/2014/main" val="10000"/>
                  </a:ext>
                </a:extLst>
              </a:tr>
              <a:tr h="370840">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4</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8</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4</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endParaRPr lang="zh-TW" altLang="en-US" dirty="0">
                        <a:solidFill>
                          <a:schemeClr val="tx1"/>
                        </a:solidFill>
                      </a:endParaRPr>
                    </a:p>
                  </a:txBody>
                  <a:tcPr/>
                </a:tc>
                <a:tc>
                  <a:txBody>
                    <a:bodyPr/>
                    <a:lstStyle/>
                    <a:p>
                      <a:pPr algn="ct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p:sp>
        <p:nvSpPr>
          <p:cNvPr id="12" name="向上箭號 11"/>
          <p:cNvSpPr/>
          <p:nvPr/>
        </p:nvSpPr>
        <p:spPr>
          <a:xfrm rot="10800000">
            <a:off x="4299072" y="3226828"/>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文字方塊 12"/>
          <p:cNvSpPr txBox="1"/>
          <p:nvPr/>
        </p:nvSpPr>
        <p:spPr>
          <a:xfrm>
            <a:off x="4180267" y="2857496"/>
            <a:ext cx="748923" cy="369332"/>
          </a:xfrm>
          <a:prstGeom prst="rect">
            <a:avLst/>
          </a:prstGeom>
          <a:noFill/>
        </p:spPr>
        <p:txBody>
          <a:bodyPr wrap="none" rtlCol="0">
            <a:spAutoFit/>
          </a:bodyPr>
          <a:lstStyle/>
          <a:p>
            <a:r>
              <a:rPr lang="en-US" altLang="zh-TW" dirty="0" smtClean="0"/>
              <a:t>center</a:t>
            </a:r>
            <a:endParaRPr lang="zh-TW" altLang="en-US" dirty="0"/>
          </a:p>
        </p:txBody>
      </p:sp>
      <p:sp>
        <p:nvSpPr>
          <p:cNvPr id="15" name="向上箭號 14"/>
          <p:cNvSpPr/>
          <p:nvPr/>
        </p:nvSpPr>
        <p:spPr>
          <a:xfrm>
            <a:off x="7072330" y="4786322"/>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6" name="文字方塊 15"/>
          <p:cNvSpPr txBox="1"/>
          <p:nvPr/>
        </p:nvSpPr>
        <p:spPr>
          <a:xfrm>
            <a:off x="6858016" y="5429264"/>
            <a:ext cx="761747" cy="369332"/>
          </a:xfrm>
          <a:prstGeom prst="rect">
            <a:avLst/>
          </a:prstGeom>
          <a:noFill/>
        </p:spPr>
        <p:txBody>
          <a:bodyPr wrap="none" rtlCol="0">
            <a:spAutoFit/>
          </a:bodyPr>
          <a:lstStyle/>
          <a:p>
            <a:r>
              <a:rPr lang="en-US" altLang="zh-TW" dirty="0" smtClean="0"/>
              <a:t>cursor</a:t>
            </a:r>
            <a:endParaRPr lang="zh-TW" altLang="en-US" dirty="0"/>
          </a:p>
        </p:txBody>
      </p:sp>
      <p:sp>
        <p:nvSpPr>
          <p:cNvPr id="19" name="向上箭號 18"/>
          <p:cNvSpPr/>
          <p:nvPr/>
        </p:nvSpPr>
        <p:spPr>
          <a:xfrm>
            <a:off x="7572396" y="4786322"/>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 name="文字方塊 19"/>
          <p:cNvSpPr txBox="1"/>
          <p:nvPr/>
        </p:nvSpPr>
        <p:spPr>
          <a:xfrm>
            <a:off x="7548325" y="5429264"/>
            <a:ext cx="620683" cy="369332"/>
          </a:xfrm>
          <a:prstGeom prst="rect">
            <a:avLst/>
          </a:prstGeom>
          <a:noFill/>
        </p:spPr>
        <p:txBody>
          <a:bodyPr wrap="none" rtlCol="0">
            <a:spAutoFit/>
          </a:bodyPr>
          <a:lstStyle/>
          <a:p>
            <a:r>
              <a:rPr lang="en-US" altLang="zh-TW" dirty="0" smtClean="0"/>
              <a:t>right</a:t>
            </a:r>
          </a:p>
        </p:txBody>
      </p:sp>
      <p:sp>
        <p:nvSpPr>
          <p:cNvPr id="22" name="向下箭號 21"/>
          <p:cNvSpPr/>
          <p:nvPr/>
        </p:nvSpPr>
        <p:spPr>
          <a:xfrm>
            <a:off x="7715272" y="3571876"/>
            <a:ext cx="214314" cy="3354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向上箭號 22"/>
          <p:cNvSpPr/>
          <p:nvPr/>
        </p:nvSpPr>
        <p:spPr>
          <a:xfrm rot="10800000">
            <a:off x="7119697" y="3226828"/>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4" name="文字方塊 23"/>
          <p:cNvSpPr txBox="1"/>
          <p:nvPr/>
        </p:nvSpPr>
        <p:spPr>
          <a:xfrm>
            <a:off x="7000892" y="2857496"/>
            <a:ext cx="748923" cy="369332"/>
          </a:xfrm>
          <a:prstGeom prst="rect">
            <a:avLst/>
          </a:prstGeom>
          <a:noFill/>
        </p:spPr>
        <p:txBody>
          <a:bodyPr wrap="none" rtlCol="0">
            <a:spAutoFit/>
          </a:bodyPr>
          <a:lstStyle/>
          <a:p>
            <a:r>
              <a:rPr lang="en-US" altLang="zh-TW" dirty="0" smtClean="0"/>
              <a:t>center</a:t>
            </a:r>
            <a:endParaRPr lang="zh-TW" altLang="en-US" dirty="0"/>
          </a:p>
        </p:txBody>
      </p:sp>
      <p:sp>
        <p:nvSpPr>
          <p:cNvPr id="25" name="向右箭號 24"/>
          <p:cNvSpPr/>
          <p:nvPr/>
        </p:nvSpPr>
        <p:spPr>
          <a:xfrm>
            <a:off x="4786314" y="3429000"/>
            <a:ext cx="2286016" cy="2143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err="1" smtClean="0"/>
              <a:t>Manacher’s</a:t>
            </a:r>
            <a:r>
              <a:rPr lang="en-US" altLang="zh-TW" dirty="0" smtClean="0"/>
              <a:t> Algorithm</a:t>
            </a:r>
            <a:endParaRPr lang="zh-TW" altLang="en-US" dirty="0"/>
          </a:p>
        </p:txBody>
      </p:sp>
      <p:sp>
        <p:nvSpPr>
          <p:cNvPr id="3" name="內容版面配置區 2"/>
          <p:cNvSpPr>
            <a:spLocks noGrp="1"/>
          </p:cNvSpPr>
          <p:nvPr>
            <p:ph idx="1"/>
          </p:nvPr>
        </p:nvSpPr>
        <p:spPr>
          <a:noFill/>
        </p:spPr>
        <p:txBody>
          <a:bodyPr/>
          <a:lstStyle/>
          <a:p>
            <a:r>
              <a:rPr lang="en-US" altLang="zh-TW" dirty="0" smtClean="0"/>
              <a:t>0101001011</a:t>
            </a:r>
          </a:p>
          <a:p>
            <a:r>
              <a:rPr lang="en-US" altLang="zh-TW" dirty="0" smtClean="0"/>
              <a:t>0#1#0#1#0#0#1#0#1#1</a:t>
            </a:r>
            <a:endParaRPr lang="zh-TW" altLang="en-US" dirty="0"/>
          </a:p>
        </p:txBody>
      </p:sp>
      <p:graphicFrame>
        <p:nvGraphicFramePr>
          <p:cNvPr id="4" name="表格 3"/>
          <p:cNvGraphicFramePr>
            <a:graphicFrameLocks noGrp="1"/>
          </p:cNvGraphicFramePr>
          <p:nvPr/>
        </p:nvGraphicFramePr>
        <p:xfrm>
          <a:off x="642904" y="3973204"/>
          <a:ext cx="7786751" cy="741680"/>
        </p:xfrm>
        <a:graphic>
          <a:graphicData uri="http://schemas.openxmlformats.org/drawingml/2006/table">
            <a:tbl>
              <a:tblPr firstRow="1" bandRow="1">
                <a:tableStyleId>{5C22544A-7EE6-4342-B048-85BDC9FD1C3A}</a:tableStyleId>
              </a:tblPr>
              <a:tblGrid>
                <a:gridCol w="409829">
                  <a:extLst>
                    <a:ext uri="{9D8B030D-6E8A-4147-A177-3AD203B41FA5}">
                      <a16:colId xmlns:a16="http://schemas.microsoft.com/office/drawing/2014/main" val="20000"/>
                    </a:ext>
                  </a:extLst>
                </a:gridCol>
                <a:gridCol w="409829">
                  <a:extLst>
                    <a:ext uri="{9D8B030D-6E8A-4147-A177-3AD203B41FA5}">
                      <a16:colId xmlns:a16="http://schemas.microsoft.com/office/drawing/2014/main" val="20001"/>
                    </a:ext>
                  </a:extLst>
                </a:gridCol>
                <a:gridCol w="409829">
                  <a:extLst>
                    <a:ext uri="{9D8B030D-6E8A-4147-A177-3AD203B41FA5}">
                      <a16:colId xmlns:a16="http://schemas.microsoft.com/office/drawing/2014/main" val="20002"/>
                    </a:ext>
                  </a:extLst>
                </a:gridCol>
                <a:gridCol w="409829">
                  <a:extLst>
                    <a:ext uri="{9D8B030D-6E8A-4147-A177-3AD203B41FA5}">
                      <a16:colId xmlns:a16="http://schemas.microsoft.com/office/drawing/2014/main" val="20003"/>
                    </a:ext>
                  </a:extLst>
                </a:gridCol>
                <a:gridCol w="409829">
                  <a:extLst>
                    <a:ext uri="{9D8B030D-6E8A-4147-A177-3AD203B41FA5}">
                      <a16:colId xmlns:a16="http://schemas.microsoft.com/office/drawing/2014/main" val="20004"/>
                    </a:ext>
                  </a:extLst>
                </a:gridCol>
                <a:gridCol w="409829">
                  <a:extLst>
                    <a:ext uri="{9D8B030D-6E8A-4147-A177-3AD203B41FA5}">
                      <a16:colId xmlns:a16="http://schemas.microsoft.com/office/drawing/2014/main" val="20005"/>
                    </a:ext>
                  </a:extLst>
                </a:gridCol>
                <a:gridCol w="409829">
                  <a:extLst>
                    <a:ext uri="{9D8B030D-6E8A-4147-A177-3AD203B41FA5}">
                      <a16:colId xmlns:a16="http://schemas.microsoft.com/office/drawing/2014/main" val="20006"/>
                    </a:ext>
                  </a:extLst>
                </a:gridCol>
                <a:gridCol w="409829">
                  <a:extLst>
                    <a:ext uri="{9D8B030D-6E8A-4147-A177-3AD203B41FA5}">
                      <a16:colId xmlns:a16="http://schemas.microsoft.com/office/drawing/2014/main" val="20007"/>
                    </a:ext>
                  </a:extLst>
                </a:gridCol>
                <a:gridCol w="409829">
                  <a:extLst>
                    <a:ext uri="{9D8B030D-6E8A-4147-A177-3AD203B41FA5}">
                      <a16:colId xmlns:a16="http://schemas.microsoft.com/office/drawing/2014/main" val="20008"/>
                    </a:ext>
                  </a:extLst>
                </a:gridCol>
                <a:gridCol w="409829">
                  <a:extLst>
                    <a:ext uri="{9D8B030D-6E8A-4147-A177-3AD203B41FA5}">
                      <a16:colId xmlns:a16="http://schemas.microsoft.com/office/drawing/2014/main" val="20009"/>
                    </a:ext>
                  </a:extLst>
                </a:gridCol>
                <a:gridCol w="409829">
                  <a:extLst>
                    <a:ext uri="{9D8B030D-6E8A-4147-A177-3AD203B41FA5}">
                      <a16:colId xmlns:a16="http://schemas.microsoft.com/office/drawing/2014/main" val="20010"/>
                    </a:ext>
                  </a:extLst>
                </a:gridCol>
                <a:gridCol w="409829">
                  <a:extLst>
                    <a:ext uri="{9D8B030D-6E8A-4147-A177-3AD203B41FA5}">
                      <a16:colId xmlns:a16="http://schemas.microsoft.com/office/drawing/2014/main" val="20011"/>
                    </a:ext>
                  </a:extLst>
                </a:gridCol>
                <a:gridCol w="409829">
                  <a:extLst>
                    <a:ext uri="{9D8B030D-6E8A-4147-A177-3AD203B41FA5}">
                      <a16:colId xmlns:a16="http://schemas.microsoft.com/office/drawing/2014/main" val="20012"/>
                    </a:ext>
                  </a:extLst>
                </a:gridCol>
                <a:gridCol w="409829">
                  <a:extLst>
                    <a:ext uri="{9D8B030D-6E8A-4147-A177-3AD203B41FA5}">
                      <a16:colId xmlns:a16="http://schemas.microsoft.com/office/drawing/2014/main" val="20013"/>
                    </a:ext>
                  </a:extLst>
                </a:gridCol>
                <a:gridCol w="409829">
                  <a:extLst>
                    <a:ext uri="{9D8B030D-6E8A-4147-A177-3AD203B41FA5}">
                      <a16:colId xmlns:a16="http://schemas.microsoft.com/office/drawing/2014/main" val="20014"/>
                    </a:ext>
                  </a:extLst>
                </a:gridCol>
                <a:gridCol w="409829">
                  <a:extLst>
                    <a:ext uri="{9D8B030D-6E8A-4147-A177-3AD203B41FA5}">
                      <a16:colId xmlns:a16="http://schemas.microsoft.com/office/drawing/2014/main" val="20015"/>
                    </a:ext>
                  </a:extLst>
                </a:gridCol>
                <a:gridCol w="409829">
                  <a:extLst>
                    <a:ext uri="{9D8B030D-6E8A-4147-A177-3AD203B41FA5}">
                      <a16:colId xmlns:a16="http://schemas.microsoft.com/office/drawing/2014/main" val="20016"/>
                    </a:ext>
                  </a:extLst>
                </a:gridCol>
                <a:gridCol w="409829">
                  <a:extLst>
                    <a:ext uri="{9D8B030D-6E8A-4147-A177-3AD203B41FA5}">
                      <a16:colId xmlns:a16="http://schemas.microsoft.com/office/drawing/2014/main" val="20017"/>
                    </a:ext>
                  </a:extLst>
                </a:gridCol>
                <a:gridCol w="409829">
                  <a:extLst>
                    <a:ext uri="{9D8B030D-6E8A-4147-A177-3AD203B41FA5}">
                      <a16:colId xmlns:a16="http://schemas.microsoft.com/office/drawing/2014/main" val="20018"/>
                    </a:ext>
                  </a:extLst>
                </a:gridCol>
              </a:tblGrid>
              <a:tr h="370840">
                <a:tc>
                  <a:txBody>
                    <a:bodyPr/>
                    <a:lstStyle/>
                    <a:p>
                      <a:pPr algn="ctr"/>
                      <a:r>
                        <a:rPr lang="en-US" altLang="zh-TW" dirty="0" smtClean="0">
                          <a:solidFill>
                            <a:schemeClr val="bg1"/>
                          </a:solidFill>
                        </a:rPr>
                        <a:t>0</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1</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0</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1</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0</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0</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1</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0</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1</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1</a:t>
                      </a:r>
                      <a:endParaRPr lang="zh-TW" altLang="en-US" dirty="0">
                        <a:solidFill>
                          <a:schemeClr val="bg1"/>
                        </a:solidFill>
                      </a:endParaRPr>
                    </a:p>
                  </a:txBody>
                  <a:tcPr/>
                </a:tc>
                <a:extLst>
                  <a:ext uri="{0D108BD9-81ED-4DB2-BD59-A6C34878D82A}">
                    <a16:rowId xmlns:a16="http://schemas.microsoft.com/office/drawing/2014/main" val="10000"/>
                  </a:ext>
                </a:extLst>
              </a:tr>
              <a:tr h="370840">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4</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8</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4</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endParaRPr lang="zh-TW" altLang="en-US" dirty="0">
                        <a:solidFill>
                          <a:schemeClr val="tx1"/>
                        </a:solidFill>
                      </a:endParaRPr>
                    </a:p>
                  </a:txBody>
                  <a:tcPr/>
                </a:tc>
                <a:extLst>
                  <a:ext uri="{0D108BD9-81ED-4DB2-BD59-A6C34878D82A}">
                    <a16:rowId xmlns:a16="http://schemas.microsoft.com/office/drawing/2014/main" val="10001"/>
                  </a:ext>
                </a:extLst>
              </a:tr>
            </a:tbl>
          </a:graphicData>
        </a:graphic>
      </p:graphicFrame>
      <p:sp>
        <p:nvSpPr>
          <p:cNvPr id="15" name="向上箭號 14"/>
          <p:cNvSpPr/>
          <p:nvPr/>
        </p:nvSpPr>
        <p:spPr>
          <a:xfrm>
            <a:off x="7572396" y="4786322"/>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6" name="文字方塊 15"/>
          <p:cNvSpPr txBox="1"/>
          <p:nvPr/>
        </p:nvSpPr>
        <p:spPr>
          <a:xfrm>
            <a:off x="7358082" y="5429264"/>
            <a:ext cx="761747" cy="369332"/>
          </a:xfrm>
          <a:prstGeom prst="rect">
            <a:avLst/>
          </a:prstGeom>
          <a:noFill/>
        </p:spPr>
        <p:txBody>
          <a:bodyPr wrap="none" rtlCol="0">
            <a:spAutoFit/>
          </a:bodyPr>
          <a:lstStyle/>
          <a:p>
            <a:r>
              <a:rPr lang="en-US" altLang="zh-TW" dirty="0" smtClean="0"/>
              <a:t>cursor</a:t>
            </a:r>
            <a:endParaRPr lang="zh-TW" altLang="en-US" dirty="0"/>
          </a:p>
        </p:txBody>
      </p:sp>
      <p:sp>
        <p:nvSpPr>
          <p:cNvPr id="19" name="向上箭號 18"/>
          <p:cNvSpPr/>
          <p:nvPr/>
        </p:nvSpPr>
        <p:spPr>
          <a:xfrm>
            <a:off x="7475850" y="5774312"/>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 name="文字方塊 19"/>
          <p:cNvSpPr txBox="1"/>
          <p:nvPr/>
        </p:nvSpPr>
        <p:spPr>
          <a:xfrm>
            <a:off x="7451779" y="6417254"/>
            <a:ext cx="620683" cy="369332"/>
          </a:xfrm>
          <a:prstGeom prst="rect">
            <a:avLst/>
          </a:prstGeom>
          <a:noFill/>
        </p:spPr>
        <p:txBody>
          <a:bodyPr wrap="none" rtlCol="0">
            <a:spAutoFit/>
          </a:bodyPr>
          <a:lstStyle/>
          <a:p>
            <a:r>
              <a:rPr lang="en-US" altLang="zh-TW" dirty="0" smtClean="0"/>
              <a:t>right</a:t>
            </a:r>
          </a:p>
        </p:txBody>
      </p:sp>
      <p:sp>
        <p:nvSpPr>
          <p:cNvPr id="22" name="向下箭號 21"/>
          <p:cNvSpPr/>
          <p:nvPr/>
        </p:nvSpPr>
        <p:spPr>
          <a:xfrm>
            <a:off x="7715272" y="3571876"/>
            <a:ext cx="214314" cy="3354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向上箭號 22"/>
          <p:cNvSpPr/>
          <p:nvPr/>
        </p:nvSpPr>
        <p:spPr>
          <a:xfrm rot="10800000">
            <a:off x="7119697" y="3226828"/>
            <a:ext cx="484632" cy="714380"/>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4" name="文字方塊 23"/>
          <p:cNvSpPr txBox="1"/>
          <p:nvPr/>
        </p:nvSpPr>
        <p:spPr>
          <a:xfrm>
            <a:off x="6786578" y="2916792"/>
            <a:ext cx="748923" cy="369332"/>
          </a:xfrm>
          <a:prstGeom prst="rect">
            <a:avLst/>
          </a:prstGeom>
          <a:noFill/>
        </p:spPr>
        <p:txBody>
          <a:bodyPr wrap="none" rtlCol="0">
            <a:spAutoFit/>
          </a:bodyPr>
          <a:lstStyle/>
          <a:p>
            <a:r>
              <a:rPr lang="en-US" altLang="zh-TW" dirty="0" smtClean="0"/>
              <a:t>center</a:t>
            </a:r>
            <a:endParaRPr lang="zh-TW" altLang="en-US" dirty="0"/>
          </a:p>
        </p:txBody>
      </p:sp>
      <p:sp>
        <p:nvSpPr>
          <p:cNvPr id="21" name="向上箭號 20"/>
          <p:cNvSpPr/>
          <p:nvPr/>
        </p:nvSpPr>
        <p:spPr>
          <a:xfrm rot="10800000">
            <a:off x="7619763" y="2953218"/>
            <a:ext cx="484632" cy="571505"/>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6" name="文字方塊 25"/>
          <p:cNvSpPr txBox="1"/>
          <p:nvPr/>
        </p:nvSpPr>
        <p:spPr>
          <a:xfrm>
            <a:off x="7500958" y="2643182"/>
            <a:ext cx="748923" cy="369332"/>
          </a:xfrm>
          <a:prstGeom prst="rect">
            <a:avLst/>
          </a:prstGeom>
          <a:noFill/>
        </p:spPr>
        <p:txBody>
          <a:bodyPr wrap="none" rtlCol="0">
            <a:spAutoFit/>
          </a:bodyPr>
          <a:lstStyle/>
          <a:p>
            <a:r>
              <a:rPr lang="en-US" altLang="zh-TW" dirty="0" smtClean="0"/>
              <a:t>center</a:t>
            </a:r>
            <a:endParaRPr lang="zh-TW" altLang="en-US" dirty="0"/>
          </a:p>
        </p:txBody>
      </p:sp>
      <p:cxnSp>
        <p:nvCxnSpPr>
          <p:cNvPr id="27" name="直線單箭頭接點 26"/>
          <p:cNvCxnSpPr/>
          <p:nvPr/>
        </p:nvCxnSpPr>
        <p:spPr>
          <a:xfrm rot="5400000" flipH="1" flipV="1">
            <a:off x="7453096" y="3048234"/>
            <a:ext cx="238600" cy="1428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8" name="向上箭號 27"/>
          <p:cNvSpPr/>
          <p:nvPr/>
        </p:nvSpPr>
        <p:spPr>
          <a:xfrm>
            <a:off x="8096533" y="5072074"/>
            <a:ext cx="484632" cy="1285884"/>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文字方塊 28"/>
          <p:cNvSpPr txBox="1"/>
          <p:nvPr/>
        </p:nvSpPr>
        <p:spPr>
          <a:xfrm>
            <a:off x="8072462" y="6286520"/>
            <a:ext cx="620683" cy="369332"/>
          </a:xfrm>
          <a:prstGeom prst="rect">
            <a:avLst/>
          </a:prstGeom>
          <a:noFill/>
        </p:spPr>
        <p:txBody>
          <a:bodyPr wrap="none" rtlCol="0">
            <a:spAutoFit/>
          </a:bodyPr>
          <a:lstStyle/>
          <a:p>
            <a:r>
              <a:rPr lang="en-US" altLang="zh-TW" dirty="0" smtClean="0"/>
              <a:t>right</a:t>
            </a:r>
          </a:p>
        </p:txBody>
      </p:sp>
      <p:cxnSp>
        <p:nvCxnSpPr>
          <p:cNvPr id="30" name="直線單箭頭接點 29"/>
          <p:cNvCxnSpPr/>
          <p:nvPr/>
        </p:nvCxnSpPr>
        <p:spPr>
          <a:xfrm rot="5400000" flipH="1" flipV="1">
            <a:off x="7858148" y="6000767"/>
            <a:ext cx="428629" cy="1428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err="1" smtClean="0"/>
              <a:t>Manacher’s</a:t>
            </a:r>
            <a:r>
              <a:rPr lang="en-US" altLang="zh-TW" dirty="0" smtClean="0"/>
              <a:t> Algorithm</a:t>
            </a:r>
            <a:endParaRPr lang="zh-TW" altLang="en-US" dirty="0"/>
          </a:p>
        </p:txBody>
      </p:sp>
      <p:sp>
        <p:nvSpPr>
          <p:cNvPr id="3" name="內容版面配置區 2"/>
          <p:cNvSpPr>
            <a:spLocks noGrp="1"/>
          </p:cNvSpPr>
          <p:nvPr>
            <p:ph idx="1"/>
          </p:nvPr>
        </p:nvSpPr>
        <p:spPr>
          <a:noFill/>
        </p:spPr>
        <p:txBody>
          <a:bodyPr/>
          <a:lstStyle/>
          <a:p>
            <a:r>
              <a:rPr lang="en-US" altLang="zh-TW" dirty="0" smtClean="0"/>
              <a:t>0101001011</a:t>
            </a:r>
          </a:p>
          <a:p>
            <a:r>
              <a:rPr lang="en-US" altLang="zh-TW" dirty="0" smtClean="0"/>
              <a:t>0#1#0#1#0#0#1#0#1#1</a:t>
            </a:r>
            <a:endParaRPr lang="zh-TW" altLang="en-US" dirty="0"/>
          </a:p>
        </p:txBody>
      </p:sp>
      <p:graphicFrame>
        <p:nvGraphicFramePr>
          <p:cNvPr id="4" name="表格 3"/>
          <p:cNvGraphicFramePr>
            <a:graphicFrameLocks noGrp="1"/>
          </p:cNvGraphicFramePr>
          <p:nvPr/>
        </p:nvGraphicFramePr>
        <p:xfrm>
          <a:off x="642904" y="3973204"/>
          <a:ext cx="7786751" cy="741680"/>
        </p:xfrm>
        <a:graphic>
          <a:graphicData uri="http://schemas.openxmlformats.org/drawingml/2006/table">
            <a:tbl>
              <a:tblPr firstRow="1" bandRow="1">
                <a:tableStyleId>{5C22544A-7EE6-4342-B048-85BDC9FD1C3A}</a:tableStyleId>
              </a:tblPr>
              <a:tblGrid>
                <a:gridCol w="409829">
                  <a:extLst>
                    <a:ext uri="{9D8B030D-6E8A-4147-A177-3AD203B41FA5}">
                      <a16:colId xmlns:a16="http://schemas.microsoft.com/office/drawing/2014/main" val="20000"/>
                    </a:ext>
                  </a:extLst>
                </a:gridCol>
                <a:gridCol w="409829">
                  <a:extLst>
                    <a:ext uri="{9D8B030D-6E8A-4147-A177-3AD203B41FA5}">
                      <a16:colId xmlns:a16="http://schemas.microsoft.com/office/drawing/2014/main" val="20001"/>
                    </a:ext>
                  </a:extLst>
                </a:gridCol>
                <a:gridCol w="409829">
                  <a:extLst>
                    <a:ext uri="{9D8B030D-6E8A-4147-A177-3AD203B41FA5}">
                      <a16:colId xmlns:a16="http://schemas.microsoft.com/office/drawing/2014/main" val="20002"/>
                    </a:ext>
                  </a:extLst>
                </a:gridCol>
                <a:gridCol w="409829">
                  <a:extLst>
                    <a:ext uri="{9D8B030D-6E8A-4147-A177-3AD203B41FA5}">
                      <a16:colId xmlns:a16="http://schemas.microsoft.com/office/drawing/2014/main" val="20003"/>
                    </a:ext>
                  </a:extLst>
                </a:gridCol>
                <a:gridCol w="409829">
                  <a:extLst>
                    <a:ext uri="{9D8B030D-6E8A-4147-A177-3AD203B41FA5}">
                      <a16:colId xmlns:a16="http://schemas.microsoft.com/office/drawing/2014/main" val="20004"/>
                    </a:ext>
                  </a:extLst>
                </a:gridCol>
                <a:gridCol w="409829">
                  <a:extLst>
                    <a:ext uri="{9D8B030D-6E8A-4147-A177-3AD203B41FA5}">
                      <a16:colId xmlns:a16="http://schemas.microsoft.com/office/drawing/2014/main" val="20005"/>
                    </a:ext>
                  </a:extLst>
                </a:gridCol>
                <a:gridCol w="409829">
                  <a:extLst>
                    <a:ext uri="{9D8B030D-6E8A-4147-A177-3AD203B41FA5}">
                      <a16:colId xmlns:a16="http://schemas.microsoft.com/office/drawing/2014/main" val="20006"/>
                    </a:ext>
                  </a:extLst>
                </a:gridCol>
                <a:gridCol w="409829">
                  <a:extLst>
                    <a:ext uri="{9D8B030D-6E8A-4147-A177-3AD203B41FA5}">
                      <a16:colId xmlns:a16="http://schemas.microsoft.com/office/drawing/2014/main" val="20007"/>
                    </a:ext>
                  </a:extLst>
                </a:gridCol>
                <a:gridCol w="409829">
                  <a:extLst>
                    <a:ext uri="{9D8B030D-6E8A-4147-A177-3AD203B41FA5}">
                      <a16:colId xmlns:a16="http://schemas.microsoft.com/office/drawing/2014/main" val="20008"/>
                    </a:ext>
                  </a:extLst>
                </a:gridCol>
                <a:gridCol w="409829">
                  <a:extLst>
                    <a:ext uri="{9D8B030D-6E8A-4147-A177-3AD203B41FA5}">
                      <a16:colId xmlns:a16="http://schemas.microsoft.com/office/drawing/2014/main" val="20009"/>
                    </a:ext>
                  </a:extLst>
                </a:gridCol>
                <a:gridCol w="409829">
                  <a:extLst>
                    <a:ext uri="{9D8B030D-6E8A-4147-A177-3AD203B41FA5}">
                      <a16:colId xmlns:a16="http://schemas.microsoft.com/office/drawing/2014/main" val="20010"/>
                    </a:ext>
                  </a:extLst>
                </a:gridCol>
                <a:gridCol w="409829">
                  <a:extLst>
                    <a:ext uri="{9D8B030D-6E8A-4147-A177-3AD203B41FA5}">
                      <a16:colId xmlns:a16="http://schemas.microsoft.com/office/drawing/2014/main" val="20011"/>
                    </a:ext>
                  </a:extLst>
                </a:gridCol>
                <a:gridCol w="409829">
                  <a:extLst>
                    <a:ext uri="{9D8B030D-6E8A-4147-A177-3AD203B41FA5}">
                      <a16:colId xmlns:a16="http://schemas.microsoft.com/office/drawing/2014/main" val="20012"/>
                    </a:ext>
                  </a:extLst>
                </a:gridCol>
                <a:gridCol w="409829">
                  <a:extLst>
                    <a:ext uri="{9D8B030D-6E8A-4147-A177-3AD203B41FA5}">
                      <a16:colId xmlns:a16="http://schemas.microsoft.com/office/drawing/2014/main" val="20013"/>
                    </a:ext>
                  </a:extLst>
                </a:gridCol>
                <a:gridCol w="409829">
                  <a:extLst>
                    <a:ext uri="{9D8B030D-6E8A-4147-A177-3AD203B41FA5}">
                      <a16:colId xmlns:a16="http://schemas.microsoft.com/office/drawing/2014/main" val="20014"/>
                    </a:ext>
                  </a:extLst>
                </a:gridCol>
                <a:gridCol w="409829">
                  <a:extLst>
                    <a:ext uri="{9D8B030D-6E8A-4147-A177-3AD203B41FA5}">
                      <a16:colId xmlns:a16="http://schemas.microsoft.com/office/drawing/2014/main" val="20015"/>
                    </a:ext>
                  </a:extLst>
                </a:gridCol>
                <a:gridCol w="409829">
                  <a:extLst>
                    <a:ext uri="{9D8B030D-6E8A-4147-A177-3AD203B41FA5}">
                      <a16:colId xmlns:a16="http://schemas.microsoft.com/office/drawing/2014/main" val="20016"/>
                    </a:ext>
                  </a:extLst>
                </a:gridCol>
                <a:gridCol w="409829">
                  <a:extLst>
                    <a:ext uri="{9D8B030D-6E8A-4147-A177-3AD203B41FA5}">
                      <a16:colId xmlns:a16="http://schemas.microsoft.com/office/drawing/2014/main" val="20017"/>
                    </a:ext>
                  </a:extLst>
                </a:gridCol>
                <a:gridCol w="409829">
                  <a:extLst>
                    <a:ext uri="{9D8B030D-6E8A-4147-A177-3AD203B41FA5}">
                      <a16:colId xmlns:a16="http://schemas.microsoft.com/office/drawing/2014/main" val="20018"/>
                    </a:ext>
                  </a:extLst>
                </a:gridCol>
              </a:tblGrid>
              <a:tr h="370840">
                <a:tc>
                  <a:txBody>
                    <a:bodyPr/>
                    <a:lstStyle/>
                    <a:p>
                      <a:pPr algn="ctr"/>
                      <a:r>
                        <a:rPr lang="en-US" altLang="zh-TW" dirty="0" smtClean="0">
                          <a:solidFill>
                            <a:schemeClr val="bg1"/>
                          </a:solidFill>
                        </a:rPr>
                        <a:t>0</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1</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0</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1</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0</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0</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1</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0</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1</a:t>
                      </a:r>
                      <a:endParaRPr lang="zh-TW" altLang="en-US" dirty="0">
                        <a:solidFill>
                          <a:schemeClr val="bg1"/>
                        </a:solidFill>
                      </a:endParaRPr>
                    </a:p>
                  </a:txBody>
                  <a:tcPr/>
                </a:tc>
                <a:tc>
                  <a:txBody>
                    <a:bodyPr/>
                    <a:lstStyle/>
                    <a:p>
                      <a:pPr algn="ctr"/>
                      <a:r>
                        <a:rPr lang="en-US" altLang="zh-TW" dirty="0" smtClean="0">
                          <a:solidFill>
                            <a:schemeClr val="bg1"/>
                          </a:solidFill>
                        </a:rPr>
                        <a:t>#</a:t>
                      </a:r>
                      <a:endParaRPr lang="zh-TW" altLang="en-US" dirty="0">
                        <a:solidFill>
                          <a:schemeClr val="bg1"/>
                        </a:solidFill>
                      </a:endParaRPr>
                    </a:p>
                  </a:txBody>
                  <a:tcPr/>
                </a:tc>
                <a:tc>
                  <a:txBody>
                    <a:bodyPr/>
                    <a:lstStyle/>
                    <a:p>
                      <a:pPr algn="ctr"/>
                      <a:r>
                        <a:rPr lang="en-US" altLang="zh-TW" dirty="0" smtClean="0">
                          <a:solidFill>
                            <a:schemeClr val="bg1"/>
                          </a:solidFill>
                        </a:rPr>
                        <a:t>1</a:t>
                      </a:r>
                      <a:endParaRPr lang="zh-TW" altLang="en-US" dirty="0">
                        <a:solidFill>
                          <a:schemeClr val="bg1"/>
                        </a:solidFill>
                      </a:endParaRPr>
                    </a:p>
                  </a:txBody>
                  <a:tcPr/>
                </a:tc>
                <a:extLst>
                  <a:ext uri="{0D108BD9-81ED-4DB2-BD59-A6C34878D82A}">
                    <a16:rowId xmlns:a16="http://schemas.microsoft.com/office/drawing/2014/main" val="10000"/>
                  </a:ext>
                </a:extLst>
              </a:tr>
              <a:tr h="370840">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4</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8</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4</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accent2"/>
                          </a:solidFill>
                        </a:rPr>
                        <a:t>1</a:t>
                      </a:r>
                      <a:endParaRPr lang="zh-TW" altLang="en-US" dirty="0">
                        <a:solidFill>
                          <a:schemeClr val="accent2"/>
                        </a:solidFill>
                      </a:endParaRPr>
                    </a:p>
                  </a:txBody>
                  <a:tcPr/>
                </a:tc>
                <a:extLst>
                  <a:ext uri="{0D108BD9-81ED-4DB2-BD59-A6C34878D82A}">
                    <a16:rowId xmlns:a16="http://schemas.microsoft.com/office/drawing/2014/main" val="10001"/>
                  </a:ext>
                </a:extLst>
              </a:tr>
            </a:tbl>
          </a:graphicData>
        </a:graphic>
      </p:graphicFrame>
      <p:sp>
        <p:nvSpPr>
          <p:cNvPr id="16" name="文字方塊 15"/>
          <p:cNvSpPr txBox="1"/>
          <p:nvPr/>
        </p:nvSpPr>
        <p:spPr>
          <a:xfrm>
            <a:off x="7858148" y="6000768"/>
            <a:ext cx="761747" cy="369332"/>
          </a:xfrm>
          <a:prstGeom prst="rect">
            <a:avLst/>
          </a:prstGeom>
          <a:noFill/>
        </p:spPr>
        <p:txBody>
          <a:bodyPr wrap="none" rtlCol="0">
            <a:spAutoFit/>
          </a:bodyPr>
          <a:lstStyle/>
          <a:p>
            <a:r>
              <a:rPr lang="en-US" altLang="zh-TW" dirty="0" smtClean="0"/>
              <a:t>cursor</a:t>
            </a:r>
            <a:endParaRPr lang="zh-TW" altLang="en-US" dirty="0"/>
          </a:p>
        </p:txBody>
      </p:sp>
      <p:sp>
        <p:nvSpPr>
          <p:cNvPr id="21" name="向上箭號 20"/>
          <p:cNvSpPr/>
          <p:nvPr/>
        </p:nvSpPr>
        <p:spPr>
          <a:xfrm rot="10800000">
            <a:off x="7619763" y="3143247"/>
            <a:ext cx="484632" cy="714379"/>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6" name="文字方塊 25"/>
          <p:cNvSpPr txBox="1"/>
          <p:nvPr/>
        </p:nvSpPr>
        <p:spPr>
          <a:xfrm>
            <a:off x="7466415" y="2786058"/>
            <a:ext cx="748923" cy="369332"/>
          </a:xfrm>
          <a:prstGeom prst="rect">
            <a:avLst/>
          </a:prstGeom>
          <a:noFill/>
        </p:spPr>
        <p:txBody>
          <a:bodyPr wrap="none" rtlCol="0">
            <a:spAutoFit/>
          </a:bodyPr>
          <a:lstStyle/>
          <a:p>
            <a:r>
              <a:rPr lang="en-US" altLang="zh-TW" dirty="0" smtClean="0"/>
              <a:t>center</a:t>
            </a:r>
            <a:endParaRPr lang="zh-TW" altLang="en-US" dirty="0"/>
          </a:p>
        </p:txBody>
      </p:sp>
      <p:sp>
        <p:nvSpPr>
          <p:cNvPr id="28" name="向上箭號 27"/>
          <p:cNvSpPr/>
          <p:nvPr/>
        </p:nvSpPr>
        <p:spPr>
          <a:xfrm>
            <a:off x="7953657" y="4786322"/>
            <a:ext cx="484632" cy="928694"/>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文字方塊 28"/>
          <p:cNvSpPr txBox="1"/>
          <p:nvPr/>
        </p:nvSpPr>
        <p:spPr>
          <a:xfrm>
            <a:off x="7929586" y="5715016"/>
            <a:ext cx="620683" cy="369332"/>
          </a:xfrm>
          <a:prstGeom prst="rect">
            <a:avLst/>
          </a:prstGeom>
          <a:noFill/>
        </p:spPr>
        <p:txBody>
          <a:bodyPr wrap="none" rtlCol="0">
            <a:spAutoFit/>
          </a:bodyPr>
          <a:lstStyle/>
          <a:p>
            <a:r>
              <a:rPr lang="en-US" altLang="zh-TW" dirty="0" smtClean="0"/>
              <a:t>right</a:t>
            </a:r>
          </a:p>
        </p:txBody>
      </p:sp>
      <p:cxnSp>
        <p:nvCxnSpPr>
          <p:cNvPr id="25" name="弧形接點 24"/>
          <p:cNvCxnSpPr/>
          <p:nvPr/>
        </p:nvCxnSpPr>
        <p:spPr>
          <a:xfrm rot="10800000" flipV="1">
            <a:off x="6572264" y="4572008"/>
            <a:ext cx="1571636" cy="1500198"/>
          </a:xfrm>
          <a:prstGeom prst="curvedConnector3">
            <a:avLst>
              <a:gd name="adj1" fmla="val 50000"/>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1" name="文字方塊 30"/>
          <p:cNvSpPr txBox="1"/>
          <p:nvPr/>
        </p:nvSpPr>
        <p:spPr>
          <a:xfrm>
            <a:off x="2285984" y="5857892"/>
            <a:ext cx="4490525" cy="369332"/>
          </a:xfrm>
          <a:prstGeom prst="rect">
            <a:avLst/>
          </a:prstGeom>
          <a:noFill/>
        </p:spPr>
        <p:txBody>
          <a:bodyPr wrap="none" rtlCol="0">
            <a:spAutoFit/>
          </a:bodyPr>
          <a:lstStyle/>
          <a:p>
            <a:r>
              <a:rPr lang="en-US" altLang="zh-TW" dirty="0" smtClean="0"/>
              <a:t>min( right-cursor+1, M(center-(right-center)) )</a:t>
            </a:r>
            <a:endParaRPr lang="zh-TW" altLang="en-US" dirty="0"/>
          </a:p>
        </p:txBody>
      </p:sp>
      <p:cxnSp>
        <p:nvCxnSpPr>
          <p:cNvPr id="33" name="直線單箭頭接點 32"/>
          <p:cNvCxnSpPr/>
          <p:nvPr/>
        </p:nvCxnSpPr>
        <p:spPr>
          <a:xfrm flipV="1">
            <a:off x="5500694" y="4714884"/>
            <a:ext cx="1857388" cy="1214446"/>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訂 2">
      <a:majorFont>
        <a:latin typeface="Times New Roman"/>
        <a:ea typeface="新細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13492</TotalTime>
  <Words>570</Words>
  <Application>Microsoft Office PowerPoint</Application>
  <PresentationFormat>如螢幕大小 (4:3)</PresentationFormat>
  <Paragraphs>327</Paragraphs>
  <Slides>12</Slides>
  <Notes>0</Notes>
  <HiddenSlides>0</HiddenSlides>
  <MMClips>0</MMClips>
  <ScaleCrop>false</ScaleCrop>
  <HeadingPairs>
    <vt:vector size="6" baseType="variant">
      <vt:variant>
        <vt:lpstr>使用字型</vt:lpstr>
      </vt:variant>
      <vt:variant>
        <vt:i4>7</vt:i4>
      </vt:variant>
      <vt:variant>
        <vt:lpstr>佈景主題</vt:lpstr>
      </vt:variant>
      <vt:variant>
        <vt:i4>6</vt:i4>
      </vt:variant>
      <vt:variant>
        <vt:lpstr>投影片標題</vt:lpstr>
      </vt:variant>
      <vt:variant>
        <vt:i4>12</vt:i4>
      </vt:variant>
    </vt:vector>
  </HeadingPairs>
  <TitlesOfParts>
    <vt:vector size="25" baseType="lpstr">
      <vt:lpstr>新細明體</vt:lpstr>
      <vt:lpstr>Arial</vt:lpstr>
      <vt:lpstr>Calibri</vt:lpstr>
      <vt:lpstr>DejaVu Sans</vt:lpstr>
      <vt:lpstr>Symbol</vt:lpstr>
      <vt:lpstr>Times New Roman</vt:lpstr>
      <vt:lpstr>Wingdings</vt:lpstr>
      <vt:lpstr>Office Theme</vt:lpstr>
      <vt:lpstr>2_Office Theme</vt:lpstr>
      <vt:lpstr>1_自訂設計</vt:lpstr>
      <vt:lpstr>3_Office Theme</vt:lpstr>
      <vt:lpstr>自訂設計</vt:lpstr>
      <vt:lpstr>4_Office Theme</vt:lpstr>
      <vt:lpstr>PowerPoint 簡報</vt:lpstr>
      <vt:lpstr>PowerPoint 簡報</vt:lpstr>
      <vt:lpstr>PowerPoint 簡報</vt:lpstr>
      <vt:lpstr>palindrome</vt:lpstr>
      <vt:lpstr>Manacher’s Algorithm</vt:lpstr>
      <vt:lpstr>Manacher’s Algorithm</vt:lpstr>
      <vt:lpstr>Manacher’s Algorithm</vt:lpstr>
      <vt:lpstr>Manacher’s Algorithm</vt:lpstr>
      <vt:lpstr>Manacher’s Algorithm</vt:lpstr>
      <vt:lpstr>Manacher’s Algorithm</vt:lpstr>
      <vt:lpstr>Manacher’s Algorithm</vt:lpstr>
      <vt:lpstr>Manacher’s 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Parallel Pairwise Local Sequence Alignment Algorithm</dc:title>
  <dc:subject/>
  <dc:creator>super</dc:creator>
  <dc:description/>
  <cp:lastModifiedBy>S</cp:lastModifiedBy>
  <cp:revision>2747</cp:revision>
  <dcterms:created xsi:type="dcterms:W3CDTF">2020-09-11T11:13:53Z</dcterms:created>
  <dcterms:modified xsi:type="dcterms:W3CDTF">2022-06-07T11:32:00Z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如螢幕大小 (4:3)</vt:lpwstr>
  </property>
  <property fmtid="{D5CDD505-2E9C-101B-9397-08002B2CF9AE}" pid="9" name="ScaleCrop">
    <vt:bool>false</vt:bool>
  </property>
  <property fmtid="{D5CDD505-2E9C-101B-9397-08002B2CF9AE}" pid="10" name="ShareDoc">
    <vt:bool>false</vt:bool>
  </property>
  <property fmtid="{D5CDD505-2E9C-101B-9397-08002B2CF9AE}" pid="11" name="Slides">
    <vt:i4>12</vt:i4>
  </property>
</Properties>
</file>