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6"/>
  </p:notesMasterIdLst>
  <p:sldIdLst>
    <p:sldId id="256" r:id="rId2"/>
    <p:sldId id="259" r:id="rId3"/>
    <p:sldId id="271"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51"/>
  </p:normalViewPr>
  <p:slideViewPr>
    <p:cSldViewPr snapToGrid="0" snapToObjects="1">
      <p:cViewPr varScale="1">
        <p:scale>
          <a:sx n="108" d="100"/>
          <a:sy n="108" d="100"/>
        </p:scale>
        <p:origin x="678" y="78"/>
      </p:cViewPr>
      <p:guideLst/>
    </p:cSldViewPr>
  </p:slideViewPr>
  <p:outlineViewPr>
    <p:cViewPr>
      <p:scale>
        <a:sx n="33" d="100"/>
        <a:sy n="33" d="100"/>
      </p:scale>
      <p:origin x="0" y="-576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86ACD4-E003-2242-B9CA-E02B5AF3FB40}" type="datetimeFigureOut">
              <a:rPr kumimoji="1" lang="zh-TW" altLang="en-US" smtClean="0"/>
              <a:t>2022/6/7</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TW" altLang="en-US"/>
              <a:t>編輯母片文字樣式
第二層
第三層
第四層
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D3EC9A-E9ED-9349-8355-BBED17A59AE8}" type="slidenum">
              <a:rPr kumimoji="1" lang="zh-TW" altLang="en-US" smtClean="0"/>
              <a:t>‹#›</a:t>
            </a:fld>
            <a:endParaRPr kumimoji="1" lang="zh-TW" altLang="en-US"/>
          </a:p>
        </p:txBody>
      </p:sp>
    </p:spTree>
    <p:extLst>
      <p:ext uri="{BB962C8B-B14F-4D97-AF65-F5344CB8AC3E}">
        <p14:creationId xmlns:p14="http://schemas.microsoft.com/office/powerpoint/2010/main" val="1352757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a:t>
            </a:fld>
            <a:endParaRPr kumimoji="1" lang="zh-TW" altLang="en-US"/>
          </a:p>
        </p:txBody>
      </p:sp>
    </p:spTree>
    <p:extLst>
      <p:ext uri="{BB962C8B-B14F-4D97-AF65-F5344CB8AC3E}">
        <p14:creationId xmlns:p14="http://schemas.microsoft.com/office/powerpoint/2010/main" val="4058093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2</a:t>
            </a:fld>
            <a:endParaRPr kumimoji="1" lang="zh-TW" altLang="en-US"/>
          </a:p>
        </p:txBody>
      </p:sp>
    </p:spTree>
    <p:extLst>
      <p:ext uri="{BB962C8B-B14F-4D97-AF65-F5344CB8AC3E}">
        <p14:creationId xmlns:p14="http://schemas.microsoft.com/office/powerpoint/2010/main" val="1678077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3</a:t>
            </a:fld>
            <a:endParaRPr kumimoji="1" lang="zh-TW" altLang="en-US"/>
          </a:p>
        </p:txBody>
      </p:sp>
    </p:spTree>
    <p:extLst>
      <p:ext uri="{BB962C8B-B14F-4D97-AF65-F5344CB8AC3E}">
        <p14:creationId xmlns:p14="http://schemas.microsoft.com/office/powerpoint/2010/main" val="3258046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9</a:t>
            </a:fld>
            <a:endParaRPr kumimoji="1" lang="zh-TW" altLang="en-US"/>
          </a:p>
        </p:txBody>
      </p:sp>
    </p:spTree>
    <p:extLst>
      <p:ext uri="{BB962C8B-B14F-4D97-AF65-F5344CB8AC3E}">
        <p14:creationId xmlns:p14="http://schemas.microsoft.com/office/powerpoint/2010/main" val="1188375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9AEA1F-A529-C543-B122-C79D75A9B468}"/>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4CDD9FD8-F935-E844-A72C-FAE789896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8CC0D9A1-7770-C641-A8C0-606BF98C1C01}"/>
              </a:ext>
            </a:extLst>
          </p:cNvPr>
          <p:cNvSpPr>
            <a:spLocks noGrp="1"/>
          </p:cNvSpPr>
          <p:nvPr>
            <p:ph type="dt" sz="half" idx="10"/>
          </p:nvPr>
        </p:nvSpPr>
        <p:spPr/>
        <p:txBody>
          <a:bodyPr/>
          <a:lstStyle/>
          <a:p>
            <a:fld id="{702FBFA9-06E6-D94C-BFAB-00CD3E67D7CA}" type="datetime1">
              <a:rPr kumimoji="1" lang="zh-TW" altLang="en-US" smtClean="0"/>
              <a:t>2022/6/7</a:t>
            </a:fld>
            <a:endParaRPr kumimoji="1" lang="zh-TW" altLang="en-US"/>
          </a:p>
        </p:txBody>
      </p:sp>
      <p:sp>
        <p:nvSpPr>
          <p:cNvPr id="5" name="頁尾版面配置區 4">
            <a:extLst>
              <a:ext uri="{FF2B5EF4-FFF2-40B4-BE49-F238E27FC236}">
                <a16:creationId xmlns:a16="http://schemas.microsoft.com/office/drawing/2014/main" id="{F8BCB7AA-EFDA-274E-84A3-EA456969A76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E244F54-1A74-754B-AE80-2EB58A8CF9E6}"/>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4270472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4CB43F-26AB-CF45-BC2B-42C35EFCDA2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2E32C75-2052-DB40-A461-36210C8B9131}"/>
              </a:ext>
            </a:extLst>
          </p:cNvPr>
          <p:cNvSpPr>
            <a:spLocks noGrp="1"/>
          </p:cNvSpPr>
          <p:nvPr>
            <p:ph idx="1"/>
          </p:nvPr>
        </p:nvSpPr>
        <p:spPr/>
        <p:txBody>
          <a:bodyPr/>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44B5B8BB-C487-024F-8342-82E120D7DAF3}"/>
              </a:ext>
            </a:extLst>
          </p:cNvPr>
          <p:cNvSpPr>
            <a:spLocks noGrp="1"/>
          </p:cNvSpPr>
          <p:nvPr>
            <p:ph type="dt" sz="half" idx="10"/>
          </p:nvPr>
        </p:nvSpPr>
        <p:spPr/>
        <p:txBody>
          <a:bodyPr/>
          <a:lstStyle/>
          <a:p>
            <a:fld id="{657A9F56-7251-2A4E-B88C-9FA56DA971A2}" type="datetime1">
              <a:rPr kumimoji="1" lang="zh-TW" altLang="en-US" smtClean="0"/>
              <a:t>2022/6/7</a:t>
            </a:fld>
            <a:endParaRPr kumimoji="1" lang="zh-TW" altLang="en-US"/>
          </a:p>
        </p:txBody>
      </p:sp>
      <p:sp>
        <p:nvSpPr>
          <p:cNvPr id="5" name="頁尾版面配置區 4">
            <a:extLst>
              <a:ext uri="{FF2B5EF4-FFF2-40B4-BE49-F238E27FC236}">
                <a16:creationId xmlns:a16="http://schemas.microsoft.com/office/drawing/2014/main" id="{B8DB6457-5B1C-5C43-993D-2782924418C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2762B42F-8467-404B-993B-90C6AB0903DB}"/>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3476361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170811-0E27-3F4A-9FC4-E738C4884280}"/>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A5E5B833-DE7E-514A-A3BB-498EA25F8F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009012DC-A094-0C49-AF63-77A9BC0CBDEC}"/>
              </a:ext>
            </a:extLst>
          </p:cNvPr>
          <p:cNvSpPr>
            <a:spLocks noGrp="1"/>
          </p:cNvSpPr>
          <p:nvPr>
            <p:ph type="dt" sz="half" idx="10"/>
          </p:nvPr>
        </p:nvSpPr>
        <p:spPr/>
        <p:txBody>
          <a:bodyPr/>
          <a:lstStyle/>
          <a:p>
            <a:fld id="{B59ABE05-D7D8-CE48-BED7-FADBCDD058D3}" type="datetime1">
              <a:rPr kumimoji="1" lang="zh-TW" altLang="en-US" smtClean="0"/>
              <a:t>2022/6/7</a:t>
            </a:fld>
            <a:endParaRPr kumimoji="1" lang="zh-TW" altLang="en-US"/>
          </a:p>
        </p:txBody>
      </p:sp>
      <p:sp>
        <p:nvSpPr>
          <p:cNvPr id="5" name="頁尾版面配置區 4">
            <a:extLst>
              <a:ext uri="{FF2B5EF4-FFF2-40B4-BE49-F238E27FC236}">
                <a16:creationId xmlns:a16="http://schemas.microsoft.com/office/drawing/2014/main" id="{C7681F3F-8B18-5E4A-B94C-E0F04F6D76B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4F5FF4F-5214-DD4B-855C-6B9371D136BD}"/>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583049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8882D9-952A-8D49-808D-F9C724C4A44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2B7EE43-F00B-574A-B051-D41906747EA5}"/>
              </a:ext>
            </a:extLst>
          </p:cNvPr>
          <p:cNvSpPr>
            <a:spLocks noGrp="1"/>
          </p:cNvSpPr>
          <p:nvPr>
            <p:ph sz="half" idx="1"/>
          </p:nvPr>
        </p:nvSpPr>
        <p:spPr>
          <a:xfrm>
            <a:off x="838200" y="1825625"/>
            <a:ext cx="5181600" cy="4351338"/>
          </a:xfrm>
        </p:spPr>
        <p:txBody>
          <a:bodyPr/>
          <a:lstStyle/>
          <a:p>
            <a:r>
              <a:rPr kumimoji="1" lang="zh-TW" altLang="en-US"/>
              <a:t>編輯母片文字樣式
第二層
第三層
第四層
第五層</a:t>
            </a:r>
          </a:p>
        </p:txBody>
      </p:sp>
      <p:sp>
        <p:nvSpPr>
          <p:cNvPr id="4" name="內容版面配置區 3">
            <a:extLst>
              <a:ext uri="{FF2B5EF4-FFF2-40B4-BE49-F238E27FC236}">
                <a16:creationId xmlns:a16="http://schemas.microsoft.com/office/drawing/2014/main" id="{7137477A-8891-A04E-BAB7-2A9063F3AD5C}"/>
              </a:ext>
            </a:extLst>
          </p:cNvPr>
          <p:cNvSpPr>
            <a:spLocks noGrp="1"/>
          </p:cNvSpPr>
          <p:nvPr>
            <p:ph sz="half" idx="2"/>
          </p:nvPr>
        </p:nvSpPr>
        <p:spPr>
          <a:xfrm>
            <a:off x="6172200" y="1825625"/>
            <a:ext cx="5181600" cy="4351338"/>
          </a:xfrm>
        </p:spPr>
        <p:txBody>
          <a:bodyPr/>
          <a:lstStyle/>
          <a:p>
            <a:r>
              <a:rPr kumimoji="1" lang="zh-TW" altLang="en-US"/>
              <a:t>編輯母片文字樣式
第二層
第三層
第四層
第五層</a:t>
            </a:r>
          </a:p>
        </p:txBody>
      </p:sp>
      <p:sp>
        <p:nvSpPr>
          <p:cNvPr id="5" name="日期版面配置區 4">
            <a:extLst>
              <a:ext uri="{FF2B5EF4-FFF2-40B4-BE49-F238E27FC236}">
                <a16:creationId xmlns:a16="http://schemas.microsoft.com/office/drawing/2014/main" id="{21D9D3DB-CD12-0D44-BC6B-9E01517E0F3E}"/>
              </a:ext>
            </a:extLst>
          </p:cNvPr>
          <p:cNvSpPr>
            <a:spLocks noGrp="1"/>
          </p:cNvSpPr>
          <p:nvPr>
            <p:ph type="dt" sz="half" idx="10"/>
          </p:nvPr>
        </p:nvSpPr>
        <p:spPr/>
        <p:txBody>
          <a:bodyPr/>
          <a:lstStyle/>
          <a:p>
            <a:fld id="{5E18AEDC-7C8B-3540-9A2F-CC1D71E85B37}" type="datetime1">
              <a:rPr kumimoji="1" lang="zh-TW" altLang="en-US" smtClean="0"/>
              <a:t>2022/6/7</a:t>
            </a:fld>
            <a:endParaRPr kumimoji="1" lang="zh-TW" altLang="en-US"/>
          </a:p>
        </p:txBody>
      </p:sp>
      <p:sp>
        <p:nvSpPr>
          <p:cNvPr id="6" name="頁尾版面配置區 5">
            <a:extLst>
              <a:ext uri="{FF2B5EF4-FFF2-40B4-BE49-F238E27FC236}">
                <a16:creationId xmlns:a16="http://schemas.microsoft.com/office/drawing/2014/main" id="{176F5FDC-A454-3542-889C-DB427845BFA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8C0BA6C-365F-7247-8F1F-800FCF564364}"/>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4275134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11E6E4-8C26-9845-A608-845A29D9C554}"/>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BD56C9F-BAB2-A44F-9FB7-0DD4FABE3D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TW" altLang="en-US"/>
              <a:t>編輯母片文字樣式
第二層
第三層
第四層
第五層</a:t>
            </a:r>
          </a:p>
        </p:txBody>
      </p:sp>
      <p:sp>
        <p:nvSpPr>
          <p:cNvPr id="4" name="內容版面配置區 3">
            <a:extLst>
              <a:ext uri="{FF2B5EF4-FFF2-40B4-BE49-F238E27FC236}">
                <a16:creationId xmlns:a16="http://schemas.microsoft.com/office/drawing/2014/main" id="{FE49941A-4AF2-DE4C-8872-DB58DD0FDD39}"/>
              </a:ext>
            </a:extLst>
          </p:cNvPr>
          <p:cNvSpPr>
            <a:spLocks noGrp="1"/>
          </p:cNvSpPr>
          <p:nvPr>
            <p:ph sz="half" idx="2"/>
          </p:nvPr>
        </p:nvSpPr>
        <p:spPr>
          <a:xfrm>
            <a:off x="839788" y="2505075"/>
            <a:ext cx="5157787" cy="3684588"/>
          </a:xfrm>
        </p:spPr>
        <p:txBody>
          <a:bodyPr/>
          <a:lstStyle/>
          <a:p>
            <a:r>
              <a:rPr kumimoji="1" lang="zh-TW" altLang="en-US"/>
              <a:t>編輯母片文字樣式
第二層
第三層
第四層
第五層</a:t>
            </a:r>
          </a:p>
        </p:txBody>
      </p:sp>
      <p:sp>
        <p:nvSpPr>
          <p:cNvPr id="5" name="文字版面配置區 4">
            <a:extLst>
              <a:ext uri="{FF2B5EF4-FFF2-40B4-BE49-F238E27FC236}">
                <a16:creationId xmlns:a16="http://schemas.microsoft.com/office/drawing/2014/main" id="{C13D1809-F7A2-1442-945E-4020E7A08E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TW" altLang="en-US"/>
              <a:t>編輯母片文字樣式
第二層
第三層
第四層
第五層</a:t>
            </a:r>
          </a:p>
        </p:txBody>
      </p:sp>
      <p:sp>
        <p:nvSpPr>
          <p:cNvPr id="6" name="內容版面配置區 5">
            <a:extLst>
              <a:ext uri="{FF2B5EF4-FFF2-40B4-BE49-F238E27FC236}">
                <a16:creationId xmlns:a16="http://schemas.microsoft.com/office/drawing/2014/main" id="{C06F2CD3-B24B-3A49-8455-4F00DFEAF3D2}"/>
              </a:ext>
            </a:extLst>
          </p:cNvPr>
          <p:cNvSpPr>
            <a:spLocks noGrp="1"/>
          </p:cNvSpPr>
          <p:nvPr>
            <p:ph sz="quarter" idx="4"/>
          </p:nvPr>
        </p:nvSpPr>
        <p:spPr>
          <a:xfrm>
            <a:off x="6172200" y="2505075"/>
            <a:ext cx="5183188" cy="3684588"/>
          </a:xfrm>
        </p:spPr>
        <p:txBody>
          <a:bodyPr/>
          <a:lstStyle/>
          <a:p>
            <a:r>
              <a:rPr kumimoji="1" lang="zh-TW" altLang="en-US"/>
              <a:t>編輯母片文字樣式
第二層
第三層
第四層
第五層</a:t>
            </a:r>
          </a:p>
        </p:txBody>
      </p:sp>
      <p:sp>
        <p:nvSpPr>
          <p:cNvPr id="7" name="日期版面配置區 6">
            <a:extLst>
              <a:ext uri="{FF2B5EF4-FFF2-40B4-BE49-F238E27FC236}">
                <a16:creationId xmlns:a16="http://schemas.microsoft.com/office/drawing/2014/main" id="{78489589-56C1-5A4B-AFBA-BFF118CFC9D4}"/>
              </a:ext>
            </a:extLst>
          </p:cNvPr>
          <p:cNvSpPr>
            <a:spLocks noGrp="1"/>
          </p:cNvSpPr>
          <p:nvPr>
            <p:ph type="dt" sz="half" idx="10"/>
          </p:nvPr>
        </p:nvSpPr>
        <p:spPr/>
        <p:txBody>
          <a:bodyPr/>
          <a:lstStyle/>
          <a:p>
            <a:fld id="{83CE8F2B-828C-4346-A20E-816C69F070C7}" type="datetime1">
              <a:rPr kumimoji="1" lang="zh-TW" altLang="en-US" smtClean="0"/>
              <a:t>2022/6/7</a:t>
            </a:fld>
            <a:endParaRPr kumimoji="1" lang="zh-TW" altLang="en-US"/>
          </a:p>
        </p:txBody>
      </p:sp>
      <p:sp>
        <p:nvSpPr>
          <p:cNvPr id="8" name="頁尾版面配置區 7">
            <a:extLst>
              <a:ext uri="{FF2B5EF4-FFF2-40B4-BE49-F238E27FC236}">
                <a16:creationId xmlns:a16="http://schemas.microsoft.com/office/drawing/2014/main" id="{7B040059-A5AC-E542-9B5A-8610AC2BAD26}"/>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5ACD37C-461B-F740-AEBD-13A5C588BD83}"/>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2108261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4A07EF-BD14-6A4E-9E7A-01112770CC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76516926-65AB-2B43-8956-806D63E493DD}"/>
              </a:ext>
            </a:extLst>
          </p:cNvPr>
          <p:cNvSpPr>
            <a:spLocks noGrp="1"/>
          </p:cNvSpPr>
          <p:nvPr>
            <p:ph type="dt" sz="half" idx="10"/>
          </p:nvPr>
        </p:nvSpPr>
        <p:spPr/>
        <p:txBody>
          <a:bodyPr/>
          <a:lstStyle/>
          <a:p>
            <a:fld id="{72B5EDE7-124B-8648-A6E1-0F7BD60577D5}" type="datetime1">
              <a:rPr kumimoji="1" lang="zh-TW" altLang="en-US" smtClean="0"/>
              <a:t>2022/6/7</a:t>
            </a:fld>
            <a:endParaRPr kumimoji="1" lang="zh-TW" altLang="en-US"/>
          </a:p>
        </p:txBody>
      </p:sp>
      <p:sp>
        <p:nvSpPr>
          <p:cNvPr id="4" name="頁尾版面配置區 3">
            <a:extLst>
              <a:ext uri="{FF2B5EF4-FFF2-40B4-BE49-F238E27FC236}">
                <a16:creationId xmlns:a16="http://schemas.microsoft.com/office/drawing/2014/main" id="{81506ED5-ACE4-8543-AB63-CAD9A1CFB941}"/>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107937CF-BB72-C745-9D22-A91A17D4D37B}"/>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598174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D695AD6-1153-9040-AB1D-B2D44ABA238A}"/>
              </a:ext>
            </a:extLst>
          </p:cNvPr>
          <p:cNvSpPr>
            <a:spLocks noGrp="1"/>
          </p:cNvSpPr>
          <p:nvPr>
            <p:ph type="dt" sz="half" idx="10"/>
          </p:nvPr>
        </p:nvSpPr>
        <p:spPr/>
        <p:txBody>
          <a:bodyPr/>
          <a:lstStyle/>
          <a:p>
            <a:fld id="{D915F867-330B-B940-B03B-359E64A64E91}" type="datetime1">
              <a:rPr kumimoji="1" lang="zh-TW" altLang="en-US" smtClean="0"/>
              <a:t>2022/6/7</a:t>
            </a:fld>
            <a:endParaRPr kumimoji="1" lang="zh-TW" altLang="en-US"/>
          </a:p>
        </p:txBody>
      </p:sp>
      <p:sp>
        <p:nvSpPr>
          <p:cNvPr id="3" name="頁尾版面配置區 2">
            <a:extLst>
              <a:ext uri="{FF2B5EF4-FFF2-40B4-BE49-F238E27FC236}">
                <a16:creationId xmlns:a16="http://schemas.microsoft.com/office/drawing/2014/main" id="{8815C32C-4453-0C45-8886-0FE61DFFE4C3}"/>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9C6D8C40-590C-6948-B426-EEC75AA4C681}"/>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3744866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9C40CD-D888-CE44-8EA1-870871B2AC0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717B6F-F2B3-E74B-A6AC-1F8A73FEFF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kumimoji="1" lang="zh-TW" altLang="en-US"/>
              <a:t>編輯母片文字樣式
第二層
第三層
第四層
第五層</a:t>
            </a:r>
          </a:p>
        </p:txBody>
      </p:sp>
      <p:sp>
        <p:nvSpPr>
          <p:cNvPr id="4" name="文字版面配置區 3">
            <a:extLst>
              <a:ext uri="{FF2B5EF4-FFF2-40B4-BE49-F238E27FC236}">
                <a16:creationId xmlns:a16="http://schemas.microsoft.com/office/drawing/2014/main" id="{30026A48-EF1D-AC4D-BBCE-6A5E3F68C7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TW" altLang="en-US"/>
              <a:t>編輯母片文字樣式
第二層
第三層
第四層
第五層</a:t>
            </a:r>
          </a:p>
        </p:txBody>
      </p:sp>
      <p:sp>
        <p:nvSpPr>
          <p:cNvPr id="5" name="日期版面配置區 4">
            <a:extLst>
              <a:ext uri="{FF2B5EF4-FFF2-40B4-BE49-F238E27FC236}">
                <a16:creationId xmlns:a16="http://schemas.microsoft.com/office/drawing/2014/main" id="{9B9D3DA3-4F7A-E84C-8D0C-4136384AAF68}"/>
              </a:ext>
            </a:extLst>
          </p:cNvPr>
          <p:cNvSpPr>
            <a:spLocks noGrp="1"/>
          </p:cNvSpPr>
          <p:nvPr>
            <p:ph type="dt" sz="half" idx="10"/>
          </p:nvPr>
        </p:nvSpPr>
        <p:spPr/>
        <p:txBody>
          <a:bodyPr/>
          <a:lstStyle/>
          <a:p>
            <a:fld id="{1CCC841B-36FA-B747-9C29-B2CC33419BAD}" type="datetime1">
              <a:rPr kumimoji="1" lang="zh-TW" altLang="en-US" smtClean="0"/>
              <a:t>2022/6/7</a:t>
            </a:fld>
            <a:endParaRPr kumimoji="1" lang="zh-TW" altLang="en-US"/>
          </a:p>
        </p:txBody>
      </p:sp>
      <p:sp>
        <p:nvSpPr>
          <p:cNvPr id="6" name="頁尾版面配置區 5">
            <a:extLst>
              <a:ext uri="{FF2B5EF4-FFF2-40B4-BE49-F238E27FC236}">
                <a16:creationId xmlns:a16="http://schemas.microsoft.com/office/drawing/2014/main" id="{550622E9-EF61-B240-BCA9-ED4FEE18A4A9}"/>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7F45D1D9-45C8-2747-A836-4C540ADA4C7A}"/>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3637057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8F1945-5D1A-FA42-B151-1902F0778244}"/>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2AE12B54-DEE8-CD44-80D0-699B3EC76D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BF32D9B0-9463-9A41-950F-9BF96DB3B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TW" altLang="en-US"/>
              <a:t>編輯母片文字樣式
第二層
第三層
第四層
第五層</a:t>
            </a:r>
          </a:p>
        </p:txBody>
      </p:sp>
      <p:sp>
        <p:nvSpPr>
          <p:cNvPr id="5" name="日期版面配置區 4">
            <a:extLst>
              <a:ext uri="{FF2B5EF4-FFF2-40B4-BE49-F238E27FC236}">
                <a16:creationId xmlns:a16="http://schemas.microsoft.com/office/drawing/2014/main" id="{F917CBBB-F497-3F47-A634-7E1C26A6F243}"/>
              </a:ext>
            </a:extLst>
          </p:cNvPr>
          <p:cNvSpPr>
            <a:spLocks noGrp="1"/>
          </p:cNvSpPr>
          <p:nvPr>
            <p:ph type="dt" sz="half" idx="10"/>
          </p:nvPr>
        </p:nvSpPr>
        <p:spPr/>
        <p:txBody>
          <a:bodyPr/>
          <a:lstStyle/>
          <a:p>
            <a:fld id="{241611F8-3573-2C4D-942C-15D8B1AFD37A}" type="datetime1">
              <a:rPr kumimoji="1" lang="zh-TW" altLang="en-US" smtClean="0"/>
              <a:t>2022/6/7</a:t>
            </a:fld>
            <a:endParaRPr kumimoji="1" lang="zh-TW" altLang="en-US"/>
          </a:p>
        </p:txBody>
      </p:sp>
      <p:sp>
        <p:nvSpPr>
          <p:cNvPr id="6" name="頁尾版面配置區 5">
            <a:extLst>
              <a:ext uri="{FF2B5EF4-FFF2-40B4-BE49-F238E27FC236}">
                <a16:creationId xmlns:a16="http://schemas.microsoft.com/office/drawing/2014/main" id="{3172FF00-F770-D24D-BC3C-968390289FF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0E96447-76E1-3441-BF93-0AD4F6A378A5}"/>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135792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EADACA-591C-894C-8A56-E9039DC82893}"/>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AC34F77E-58B2-F642-A872-DFADE850375C}"/>
              </a:ext>
            </a:extLst>
          </p:cNvPr>
          <p:cNvSpPr>
            <a:spLocks noGrp="1"/>
          </p:cNvSpPr>
          <p:nvPr>
            <p:ph type="body" orient="vert" idx="1"/>
          </p:nvPr>
        </p:nvSpPr>
        <p:spPr/>
        <p:txBody>
          <a:bodyPr vert="eaVert"/>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377DD8E6-742C-0046-98FB-C68B25E94684}"/>
              </a:ext>
            </a:extLst>
          </p:cNvPr>
          <p:cNvSpPr>
            <a:spLocks noGrp="1"/>
          </p:cNvSpPr>
          <p:nvPr>
            <p:ph type="dt" sz="half" idx="10"/>
          </p:nvPr>
        </p:nvSpPr>
        <p:spPr/>
        <p:txBody>
          <a:bodyPr/>
          <a:lstStyle/>
          <a:p>
            <a:fld id="{9D2C2E09-2527-7F4B-A110-6FBD9BD98EA4}" type="datetime1">
              <a:rPr kumimoji="1" lang="zh-TW" altLang="en-US" smtClean="0"/>
              <a:t>2022/6/7</a:t>
            </a:fld>
            <a:endParaRPr kumimoji="1" lang="zh-TW" altLang="en-US"/>
          </a:p>
        </p:txBody>
      </p:sp>
      <p:sp>
        <p:nvSpPr>
          <p:cNvPr id="5" name="頁尾版面配置區 4">
            <a:extLst>
              <a:ext uri="{FF2B5EF4-FFF2-40B4-BE49-F238E27FC236}">
                <a16:creationId xmlns:a16="http://schemas.microsoft.com/office/drawing/2014/main" id="{511A71D3-388B-514F-8378-18AAC64F65A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09FA401-5A1D-EB45-897D-9BC4EA39C416}"/>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528715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7EF60141-0602-B742-8666-ECC19E88747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FAE28AB-9E4D-BC42-8236-186DA1B75BCA}"/>
              </a:ext>
            </a:extLst>
          </p:cNvPr>
          <p:cNvSpPr>
            <a:spLocks noGrp="1"/>
          </p:cNvSpPr>
          <p:nvPr>
            <p:ph type="body" orient="vert" idx="1"/>
          </p:nvPr>
        </p:nvSpPr>
        <p:spPr>
          <a:xfrm>
            <a:off x="838200" y="365125"/>
            <a:ext cx="7734300" cy="5811838"/>
          </a:xfrm>
        </p:spPr>
        <p:txBody>
          <a:bodyPr vert="eaVert"/>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E5D0288D-DAAC-F54F-BFDB-B956C149655A}"/>
              </a:ext>
            </a:extLst>
          </p:cNvPr>
          <p:cNvSpPr>
            <a:spLocks noGrp="1"/>
          </p:cNvSpPr>
          <p:nvPr>
            <p:ph type="dt" sz="half" idx="10"/>
          </p:nvPr>
        </p:nvSpPr>
        <p:spPr/>
        <p:txBody>
          <a:bodyPr/>
          <a:lstStyle/>
          <a:p>
            <a:fld id="{BEC37416-B0F7-124A-B838-350974E17640}" type="datetime1">
              <a:rPr kumimoji="1" lang="zh-TW" altLang="en-US" smtClean="0"/>
              <a:t>2022/6/7</a:t>
            </a:fld>
            <a:endParaRPr kumimoji="1" lang="zh-TW" altLang="en-US"/>
          </a:p>
        </p:txBody>
      </p:sp>
      <p:sp>
        <p:nvSpPr>
          <p:cNvPr id="5" name="頁尾版面配置區 4">
            <a:extLst>
              <a:ext uri="{FF2B5EF4-FFF2-40B4-BE49-F238E27FC236}">
                <a16:creationId xmlns:a16="http://schemas.microsoft.com/office/drawing/2014/main" id="{8B7B70EB-CA3F-B94B-BE42-35D4ACFD26B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51C76C1B-159C-6448-A7AB-D9F42BF9012D}"/>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646216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6E7502D-DE5C-784A-9CEB-7BE7BC0574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641151CC-D4D4-2743-A29A-CC244CCF1C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A053E478-1C82-2041-9B51-0C1B1A0E5B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F2B49-F11D-2146-BF8E-8F79505A16F7}" type="datetime1">
              <a:rPr kumimoji="1" lang="zh-TW" altLang="en-US" smtClean="0"/>
              <a:t>2022/6/7</a:t>
            </a:fld>
            <a:endParaRPr kumimoji="1" lang="zh-TW" altLang="en-US"/>
          </a:p>
        </p:txBody>
      </p:sp>
      <p:sp>
        <p:nvSpPr>
          <p:cNvPr id="5" name="頁尾版面配置區 4">
            <a:extLst>
              <a:ext uri="{FF2B5EF4-FFF2-40B4-BE49-F238E27FC236}">
                <a16:creationId xmlns:a16="http://schemas.microsoft.com/office/drawing/2014/main" id="{9A56AFCE-4718-5242-B260-6133B61B1F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AF70ED3-ECE3-3A4A-A44B-2CD3BC618B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139099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B36ABE-AAF8-A44E-9A2F-7BC45939FD43}"/>
              </a:ext>
            </a:extLst>
          </p:cNvPr>
          <p:cNvSpPr>
            <a:spLocks noGrp="1"/>
          </p:cNvSpPr>
          <p:nvPr>
            <p:ph type="ctrTitle"/>
          </p:nvPr>
        </p:nvSpPr>
        <p:spPr/>
        <p:txBody>
          <a:bodyPr>
            <a:normAutofit fontScale="90000"/>
          </a:bodyPr>
          <a:lstStyle/>
          <a:p>
            <a:r>
              <a:rPr kumimoji="1" lang="en" altLang="zh-TW" dirty="0">
                <a:latin typeface="Times New Roman" panose="02020603050405020304" pitchFamily="18" charset="0"/>
                <a:cs typeface="Times New Roman" panose="02020603050405020304" pitchFamily="18" charset="0"/>
              </a:rPr>
              <a:t>Fuzzy Deep Learning based Urban </a:t>
            </a:r>
            <a:r>
              <a:rPr kumimoji="1" lang="en" altLang="zh-TW" sz="5300" dirty="0">
                <a:latin typeface="Times New Roman" panose="02020603050405020304" pitchFamily="18" charset="0"/>
                <a:cs typeface="Times New Roman" panose="02020603050405020304" pitchFamily="18" charset="0"/>
              </a:rPr>
              <a:t>Traffic</a:t>
            </a:r>
            <a:r>
              <a:rPr kumimoji="1" lang="en" altLang="zh-TW" dirty="0">
                <a:latin typeface="Times New Roman" panose="02020603050405020304" pitchFamily="18" charset="0"/>
                <a:cs typeface="Times New Roman" panose="02020603050405020304" pitchFamily="18" charset="0"/>
              </a:rPr>
              <a:t> Incident Detection </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E5B5F14B-80FA-484A-93C9-1FC3F30ECA32}"/>
              </a:ext>
            </a:extLst>
          </p:cNvPr>
          <p:cNvSpPr>
            <a:spLocks noGrp="1"/>
          </p:cNvSpPr>
          <p:nvPr>
            <p:ph type="subTitle" idx="1"/>
          </p:nvPr>
        </p:nvSpPr>
        <p:spPr/>
        <p:txBody>
          <a:bodyPr/>
          <a:lstStyle/>
          <a:p>
            <a:r>
              <a:rPr kumimoji="1" lang="en" altLang="zh-TW" dirty="0" err="1">
                <a:latin typeface="Times New Roman" panose="02020603050405020304" pitchFamily="18" charset="0"/>
                <a:cs typeface="Times New Roman" panose="02020603050405020304" pitchFamily="18" charset="0"/>
              </a:rPr>
              <a:t>Chaimae</a:t>
            </a:r>
            <a:r>
              <a:rPr kumimoji="1" lang="en" altLang="zh-TW" dirty="0">
                <a:latin typeface="Times New Roman" panose="02020603050405020304" pitchFamily="18" charset="0"/>
                <a:cs typeface="Times New Roman" panose="02020603050405020304" pitchFamily="18" charset="0"/>
              </a:rPr>
              <a:t> El </a:t>
            </a:r>
            <a:r>
              <a:rPr kumimoji="1" lang="en" altLang="zh-TW" dirty="0" err="1">
                <a:latin typeface="Times New Roman" panose="02020603050405020304" pitchFamily="18" charset="0"/>
                <a:cs typeface="Times New Roman" panose="02020603050405020304" pitchFamily="18" charset="0"/>
              </a:rPr>
              <a:t>Hatri</a:t>
            </a:r>
            <a:r>
              <a:rPr kumimoji="1" lang="en" altLang="zh-TW" dirty="0">
                <a:latin typeface="Times New Roman" panose="02020603050405020304" pitchFamily="18" charset="0"/>
                <a:cs typeface="Times New Roman" panose="02020603050405020304" pitchFamily="18" charset="0"/>
              </a:rPr>
              <a:t>, </a:t>
            </a:r>
            <a:r>
              <a:rPr kumimoji="1" lang="en" altLang="zh-TW" dirty="0" err="1">
                <a:latin typeface="Times New Roman" panose="02020603050405020304" pitchFamily="18" charset="0"/>
                <a:cs typeface="Times New Roman" panose="02020603050405020304" pitchFamily="18" charset="0"/>
              </a:rPr>
              <a:t>Jaouad</a:t>
            </a:r>
            <a:r>
              <a:rPr kumimoji="1" lang="en" altLang="zh-TW" dirty="0">
                <a:latin typeface="Times New Roman" panose="02020603050405020304" pitchFamily="18" charset="0"/>
                <a:cs typeface="Times New Roman" panose="02020603050405020304" pitchFamily="18" charset="0"/>
              </a:rPr>
              <a:t> </a:t>
            </a:r>
            <a:r>
              <a:rPr kumimoji="1" lang="en" altLang="zh-TW" dirty="0" err="1">
                <a:latin typeface="Times New Roman" panose="02020603050405020304" pitchFamily="18" charset="0"/>
                <a:cs typeface="Times New Roman" panose="02020603050405020304" pitchFamily="18" charset="0"/>
              </a:rPr>
              <a:t>Boumhidi</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Cognitive Systems Research, Volume 50, August 2018, Pages 206-213</a:t>
            </a:r>
          </a:p>
          <a:p>
            <a:endParaRPr kumimoji="1" lang="zh-TW" altLang="en-US"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0F52706B-9798-8F45-B922-E99F0F5C4CA1}"/>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Ying-Yu Lin</a:t>
            </a:r>
          </a:p>
          <a:p>
            <a:r>
              <a:rPr kumimoji="1" lang="en" altLang="zh-TW" dirty="0">
                <a:latin typeface="Times New Roman" panose="02020603050405020304" pitchFamily="18" charset="0"/>
                <a:cs typeface="Times New Roman" panose="02020603050405020304" pitchFamily="18" charset="0"/>
              </a:rPr>
              <a:t>Date: Jun.7, 2022</a:t>
            </a:r>
          </a:p>
        </p:txBody>
      </p:sp>
    </p:spTree>
    <p:extLst>
      <p:ext uri="{BB962C8B-B14F-4D97-AF65-F5344CB8AC3E}">
        <p14:creationId xmlns:p14="http://schemas.microsoft.com/office/powerpoint/2010/main" val="827819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(1/2)</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p:txBody>
          <a:bodyPr>
            <a:normAutofit/>
          </a:bodyPr>
          <a:lstStyle/>
          <a:p>
            <a:pPr marL="0" indent="0">
              <a:lnSpc>
                <a:spcPct val="120000"/>
              </a:lnSpc>
              <a:buNone/>
            </a:pPr>
            <a:r>
              <a:rPr kumimoji="1" lang="en-US" altLang="zh-TW" sz="2400" dirty="0">
                <a:latin typeface="Times New Roman" panose="02020603050405020304" pitchFamily="18" charset="0"/>
                <a:cs typeface="Times New Roman" panose="02020603050405020304" pitchFamily="18" charset="0"/>
              </a:rPr>
              <a:t>Traffic incident detection (TID) is an important part of any modern traffic control because it offers an opportunity to </a:t>
            </a:r>
            <a:r>
              <a:rPr kumimoji="1" lang="en-US" altLang="zh-TW" sz="2400" dirty="0" err="1">
                <a:latin typeface="Times New Roman" panose="02020603050405020304" pitchFamily="18" charset="0"/>
                <a:cs typeface="Times New Roman" panose="02020603050405020304" pitchFamily="18" charset="0"/>
              </a:rPr>
              <a:t>maximise</a:t>
            </a:r>
            <a:r>
              <a:rPr kumimoji="1" lang="en-US" altLang="zh-TW" sz="2400" dirty="0">
                <a:latin typeface="Times New Roman" panose="02020603050405020304" pitchFamily="18" charset="0"/>
                <a:cs typeface="Times New Roman" panose="02020603050405020304" pitchFamily="18" charset="0"/>
              </a:rPr>
              <a:t> road system performance. For the complexity and the nonlinear characteristics of traffic incidents, this paper proposes a novel fuzzy deep learning based TID method which considers the spatial and temporal correlations of traffic flow inherently. Parameters of the deep network are initialized using a Stacked Auto-Encoder (SAE) model following a layer by layer pre-training procedure. To conduct the fine tuning step, the back-propagation algorithm is used to precisely adjust the parameters in the deep network. </a:t>
            </a: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2</a:t>
            </a:fld>
            <a:endParaRPr kumimoji="1" lang="zh-TW" altLang="en-US"/>
          </a:p>
        </p:txBody>
      </p:sp>
    </p:spTree>
    <p:extLst>
      <p:ext uri="{BB962C8B-B14F-4D97-AF65-F5344CB8AC3E}">
        <p14:creationId xmlns:p14="http://schemas.microsoft.com/office/powerpoint/2010/main" val="58127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(2/2)</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p:txBody>
          <a:bodyPr>
            <a:normAutofit/>
          </a:bodyPr>
          <a:lstStyle/>
          <a:p>
            <a:pPr marL="0" indent="0">
              <a:lnSpc>
                <a:spcPct val="120000"/>
              </a:lnSpc>
              <a:buNone/>
            </a:pPr>
            <a:r>
              <a:rPr kumimoji="1" lang="en-US" altLang="zh-TW" sz="2400" dirty="0">
                <a:latin typeface="Times New Roman" panose="02020603050405020304" pitchFamily="18" charset="0"/>
                <a:cs typeface="Times New Roman" panose="02020603050405020304" pitchFamily="18" charset="0"/>
              </a:rPr>
              <a:t>Fuzzy logic is employed to control the learning parameters where the objective is to reduce the possibility of overshooting during the learning process, increase the convergence speed and minimize the error. To find the best architecture of the deep network, we used a separate validation set to evaluate different architectures generated randomly based on the Mean Squared Error (MSE). Simulation results show that the proposed incident detection method has many advantages such as higher detection rate and lower false alarm rate. </a:t>
            </a: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3</a:t>
            </a:fld>
            <a:endParaRPr kumimoji="1" lang="zh-TW" altLang="en-US"/>
          </a:p>
        </p:txBody>
      </p:sp>
    </p:spTree>
    <p:extLst>
      <p:ext uri="{BB962C8B-B14F-4D97-AF65-F5344CB8AC3E}">
        <p14:creationId xmlns:p14="http://schemas.microsoft.com/office/powerpoint/2010/main" val="74401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Automatic incident detection techniques</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p:txBody>
          <a:bodyPr>
            <a:normAutofit lnSpcReduction="10000"/>
          </a:bodyPr>
          <a:lstStyle/>
          <a:p>
            <a:pPr>
              <a:lnSpc>
                <a:spcPct val="100000"/>
              </a:lnSpc>
            </a:pPr>
            <a:r>
              <a:rPr kumimoji="1" lang="en-US" altLang="zh-TW" dirty="0">
                <a:latin typeface="Times New Roman" panose="02020603050405020304" pitchFamily="18" charset="0"/>
                <a:cs typeface="Times New Roman" panose="02020603050405020304" pitchFamily="18" charset="0"/>
              </a:rPr>
              <a:t>Support Vector Machine (SVM)</a:t>
            </a:r>
          </a:p>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  - limitation : choice of </a:t>
            </a:r>
            <a:r>
              <a:rPr kumimoji="1" lang="en-US" altLang="zh-CN" dirty="0">
                <a:latin typeface="Times New Roman" panose="02020603050405020304" pitchFamily="18" charset="0"/>
                <a:cs typeface="Times New Roman" panose="02020603050405020304" pitchFamily="18" charset="0"/>
              </a:rPr>
              <a:t>kernel function</a:t>
            </a:r>
          </a:p>
          <a:p>
            <a:pPr marL="0" indent="0">
              <a:lnSpc>
                <a:spcPct val="100000"/>
              </a:lnSpc>
              <a:buNone/>
            </a:pPr>
            <a:endParaRPr kumimoji="1" lang="en-US" altLang="zh-TW" dirty="0">
              <a:latin typeface="Times New Roman" panose="02020603050405020304" pitchFamily="18" charset="0"/>
              <a:cs typeface="Times New Roman" panose="02020603050405020304" pitchFamily="18" charset="0"/>
            </a:endParaRPr>
          </a:p>
          <a:p>
            <a:pPr>
              <a:lnSpc>
                <a:spcPct val="100000"/>
              </a:lnSpc>
            </a:pPr>
            <a:r>
              <a:rPr kumimoji="1" lang="en-US" altLang="zh-TW" dirty="0">
                <a:latin typeface="Times New Roman" panose="02020603050405020304" pitchFamily="18" charset="0"/>
                <a:cs typeface="Times New Roman" panose="02020603050405020304" pitchFamily="18" charset="0"/>
              </a:rPr>
              <a:t>Fuzzy Logic (FL)</a:t>
            </a:r>
          </a:p>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  - affected by subjective decisions</a:t>
            </a:r>
          </a:p>
          <a:p>
            <a:pPr marL="0" indent="0">
              <a:lnSpc>
                <a:spcPct val="100000"/>
              </a:lnSpc>
              <a:buNone/>
            </a:pPr>
            <a:endParaRPr kumimoji="1" lang="en-US" altLang="zh-TW" dirty="0">
              <a:latin typeface="Times New Roman" panose="02020603050405020304" pitchFamily="18" charset="0"/>
              <a:cs typeface="Times New Roman" panose="02020603050405020304" pitchFamily="18" charset="0"/>
            </a:endParaRPr>
          </a:p>
          <a:p>
            <a:pPr>
              <a:lnSpc>
                <a:spcPct val="100000"/>
              </a:lnSpc>
            </a:pPr>
            <a:r>
              <a:rPr kumimoji="1" lang="en-US" altLang="zh-TW" dirty="0">
                <a:latin typeface="Times New Roman" panose="02020603050405020304" pitchFamily="18" charset="0"/>
                <a:cs typeface="Times New Roman" panose="02020603050405020304" pitchFamily="18" charset="0"/>
              </a:rPr>
              <a:t>Back-Propagation Neural Network (BPNN)</a:t>
            </a:r>
          </a:p>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 - slow convergence, possibility of getting caught in the local minimum</a:t>
            </a:r>
          </a:p>
        </p:txBody>
      </p:sp>
      <p:sp>
        <p:nvSpPr>
          <p:cNvPr id="4" name="投影片編號版面配置區 3">
            <a:extLst>
              <a:ext uri="{FF2B5EF4-FFF2-40B4-BE49-F238E27FC236}">
                <a16:creationId xmlns:a16="http://schemas.microsoft.com/office/drawing/2014/main" id="{32CB2B07-52A5-034C-9602-46A384B60C39}"/>
              </a:ext>
            </a:extLst>
          </p:cNvPr>
          <p:cNvSpPr>
            <a:spLocks noGrp="1"/>
          </p:cNvSpPr>
          <p:nvPr>
            <p:ph type="sldNum" sz="quarter" idx="12"/>
          </p:nvPr>
        </p:nvSpPr>
        <p:spPr/>
        <p:txBody>
          <a:bodyPr/>
          <a:lstStyle/>
          <a:p>
            <a:fld id="{37D7E222-40AC-AD4D-BFFA-C06E99EC5475}" type="slidenum">
              <a:rPr kumimoji="1" lang="zh-TW" altLang="en-US" smtClean="0"/>
              <a:t>4</a:t>
            </a:fld>
            <a:endParaRPr kumimoji="1" lang="zh-TW" altLang="en-US"/>
          </a:p>
        </p:txBody>
      </p:sp>
    </p:spTree>
    <p:extLst>
      <p:ext uri="{BB962C8B-B14F-4D97-AF65-F5344CB8AC3E}">
        <p14:creationId xmlns:p14="http://schemas.microsoft.com/office/powerpoint/2010/main" val="2005333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Traffic incident detection(TID)</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82D2826-19CC-CC4D-8D38-2444CC5C9DC0}"/>
              </a:ext>
            </a:extLst>
          </p:cNvPr>
          <p:cNvSpPr>
            <a:spLocks noGrp="1"/>
          </p:cNvSpPr>
          <p:nvPr>
            <p:ph idx="1"/>
          </p:nvPr>
        </p:nvSpPr>
        <p:spPr/>
        <p:txBody>
          <a:bodyPr/>
          <a:lstStyle/>
          <a:p>
            <a:pPr>
              <a:lnSpc>
                <a:spcPct val="100000"/>
              </a:lnSpc>
            </a:pPr>
            <a:r>
              <a:rPr kumimoji="1" lang="en" altLang="zh-TW" dirty="0">
                <a:latin typeface="Times New Roman" panose="02020603050405020304" pitchFamily="18" charset="0"/>
                <a:cs typeface="Times New Roman" panose="02020603050405020304" pitchFamily="18" charset="0"/>
              </a:rPr>
              <a:t>Artificial Neural Networks (ANNs) </a:t>
            </a:r>
          </a:p>
          <a:p>
            <a:pPr marL="0" indent="0">
              <a:lnSpc>
                <a:spcPct val="100000"/>
              </a:lnSpc>
              <a:buNone/>
            </a:pPr>
            <a:r>
              <a:rPr kumimoji="1" lang="en" altLang="zh-TW" dirty="0">
                <a:latin typeface="Times New Roman" panose="02020603050405020304" pitchFamily="18" charset="0"/>
                <a:cs typeface="Times New Roman" panose="02020603050405020304" pitchFamily="18" charset="0"/>
              </a:rPr>
              <a:t> </a:t>
            </a:r>
            <a:r>
              <a:rPr kumimoji="1" lang="en" altLang="zh-TW">
                <a:latin typeface="Times New Roman" panose="02020603050405020304" pitchFamily="18" charset="0"/>
                <a:cs typeface="Times New Roman" panose="02020603050405020304" pitchFamily="18" charset="0"/>
              </a:rPr>
              <a:t>- pattern </a:t>
            </a:r>
            <a:r>
              <a:rPr kumimoji="1" lang="en" altLang="zh-TW" dirty="0">
                <a:latin typeface="Times New Roman" panose="02020603050405020304" pitchFamily="18" charset="0"/>
                <a:cs typeface="Times New Roman" panose="02020603050405020304" pitchFamily="18" charset="0"/>
              </a:rPr>
              <a:t>recognition problem </a:t>
            </a:r>
          </a:p>
          <a:p>
            <a:pPr marL="0" indent="0">
              <a:lnSpc>
                <a:spcPct val="100000"/>
              </a:lnSpc>
              <a:buNone/>
            </a:pPr>
            <a:r>
              <a:rPr kumimoji="1" lang="en" altLang="zh-TW" dirty="0">
                <a:latin typeface="Times New Roman" panose="02020603050405020304" pitchFamily="18" charset="0"/>
                <a:cs typeface="Times New Roman" panose="02020603050405020304" pitchFamily="18" charset="0"/>
              </a:rPr>
              <a:t> - no mathematical model or explicit rules. </a:t>
            </a:r>
          </a:p>
          <a:p>
            <a:pPr marL="0" indent="0">
              <a:lnSpc>
                <a:spcPct val="100000"/>
              </a:lnSpc>
              <a:buNone/>
            </a:pPr>
            <a:endParaRPr kumimoji="1" lang="en" altLang="zh-TW" dirty="0">
              <a:latin typeface="Times New Roman" panose="02020603050405020304" pitchFamily="18" charset="0"/>
              <a:cs typeface="Times New Roman" panose="02020603050405020304" pitchFamily="18" charset="0"/>
            </a:endParaRPr>
          </a:p>
          <a:p>
            <a:pPr>
              <a:lnSpc>
                <a:spcPct val="100000"/>
              </a:lnSpc>
            </a:pPr>
            <a:r>
              <a:rPr kumimoji="1" lang="en" altLang="zh-TW" dirty="0">
                <a:latin typeface="Times New Roman" panose="02020603050405020304" pitchFamily="18" charset="0"/>
                <a:cs typeface="Times New Roman" panose="02020603050405020304" pitchFamily="18" charset="0"/>
              </a:rPr>
              <a:t>deep learning algorithm</a:t>
            </a:r>
          </a:p>
          <a:p>
            <a:pPr marL="0" indent="0">
              <a:lnSpc>
                <a:spcPct val="100000"/>
              </a:lnSpc>
              <a:buNone/>
            </a:pPr>
            <a:r>
              <a:rPr kumimoji="1" lang="en" altLang="zh-TW" dirty="0">
                <a:latin typeface="Times New Roman" panose="02020603050405020304" pitchFamily="18" charset="0"/>
                <a:cs typeface="Times New Roman" panose="02020603050405020304" pitchFamily="18" charset="0"/>
              </a:rPr>
              <a:t> - represent traffic features without prior knowledge </a:t>
            </a:r>
          </a:p>
          <a:p>
            <a:pPr>
              <a:lnSpc>
                <a:spcPct val="100000"/>
              </a:lnSpc>
            </a:pPr>
            <a:endParaRPr kumimoji="1" lang="en" altLang="zh-TW" dirty="0">
              <a:latin typeface="Times New Roman" panose="02020603050405020304" pitchFamily="18" charset="0"/>
              <a:cs typeface="Times New Roman" panose="02020603050405020304" pitchFamily="18" charset="0"/>
            </a:endParaRPr>
          </a:p>
          <a:p>
            <a:pPr marL="0" indent="0">
              <a:lnSpc>
                <a:spcPct val="100000"/>
              </a:lnSpc>
              <a:buNone/>
            </a:pPr>
            <a:endParaRPr kumimoji="1" lang="en" altLang="zh-TW" dirty="0">
              <a:latin typeface="Times New Roman" panose="02020603050405020304" pitchFamily="18" charset="0"/>
              <a:cs typeface="Times New Roman" panose="02020603050405020304" pitchFamily="18" charset="0"/>
            </a:endParaRPr>
          </a:p>
          <a:p>
            <a:pPr marL="0" indent="0">
              <a:buNone/>
            </a:pPr>
            <a:endParaRPr kumimoji="1" lang="en-US" altLang="zh-TW" dirty="0"/>
          </a:p>
        </p:txBody>
      </p:sp>
      <p:sp>
        <p:nvSpPr>
          <p:cNvPr id="4" name="投影片編號版面配置區 3">
            <a:extLst>
              <a:ext uri="{FF2B5EF4-FFF2-40B4-BE49-F238E27FC236}">
                <a16:creationId xmlns:a16="http://schemas.microsoft.com/office/drawing/2014/main" id="{D7F27798-BC4C-E345-853F-AF1FE217D801}"/>
              </a:ext>
            </a:extLst>
          </p:cNvPr>
          <p:cNvSpPr>
            <a:spLocks noGrp="1"/>
          </p:cNvSpPr>
          <p:nvPr>
            <p:ph type="sldNum" sz="quarter" idx="12"/>
          </p:nvPr>
        </p:nvSpPr>
        <p:spPr/>
        <p:txBody>
          <a:bodyPr/>
          <a:lstStyle/>
          <a:p>
            <a:fld id="{37D7E222-40AC-AD4D-BFFA-C06E99EC5475}" type="slidenum">
              <a:rPr kumimoji="1" lang="zh-TW" altLang="en-US" smtClean="0"/>
              <a:t>5</a:t>
            </a:fld>
            <a:endParaRPr kumimoji="1" lang="zh-TW" altLang="en-US"/>
          </a:p>
        </p:txBody>
      </p:sp>
    </p:spTree>
    <p:extLst>
      <p:ext uri="{BB962C8B-B14F-4D97-AF65-F5344CB8AC3E}">
        <p14:creationId xmlns:p14="http://schemas.microsoft.com/office/powerpoint/2010/main" val="144282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Fuzzy deep learning</a:t>
            </a:r>
          </a:p>
        </p:txBody>
      </p:sp>
      <p:sp>
        <p:nvSpPr>
          <p:cNvPr id="3" name="內容版面配置區 2">
            <a:extLst>
              <a:ext uri="{FF2B5EF4-FFF2-40B4-BE49-F238E27FC236}">
                <a16:creationId xmlns:a16="http://schemas.microsoft.com/office/drawing/2014/main" id="{782D2826-19CC-CC4D-8D38-2444CC5C9DC0}"/>
              </a:ext>
            </a:extLst>
          </p:cNvPr>
          <p:cNvSpPr>
            <a:spLocks noGrp="1"/>
          </p:cNvSpPr>
          <p:nvPr>
            <p:ph idx="1"/>
          </p:nvPr>
        </p:nvSpPr>
        <p:spPr/>
        <p:txBody>
          <a:bodyPr>
            <a:normAutofit lnSpcReduction="10000"/>
          </a:bodyPr>
          <a:lstStyle/>
          <a:p>
            <a:pPr>
              <a:lnSpc>
                <a:spcPct val="100000"/>
              </a:lnSpc>
            </a:pPr>
            <a:r>
              <a:rPr kumimoji="1" lang="en" altLang="zh-TW" dirty="0">
                <a:latin typeface="Times New Roman" panose="02020603050405020304" pitchFamily="18" charset="0"/>
                <a:cs typeface="Times New Roman" panose="02020603050405020304" pitchFamily="18" charset="0"/>
              </a:rPr>
              <a:t>Initialize</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the parameters:</a:t>
            </a:r>
          </a:p>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 - stacked auto-encoder (SAE)</a:t>
            </a:r>
          </a:p>
          <a:p>
            <a:pPr marL="0" indent="0">
              <a:lnSpc>
                <a:spcPct val="100000"/>
              </a:lnSpc>
              <a:buNone/>
            </a:pPr>
            <a:endParaRPr kumimoji="1" lang="en-US" altLang="zh-TW" dirty="0">
              <a:latin typeface="Times New Roman" panose="02020603050405020304" pitchFamily="18" charset="0"/>
              <a:cs typeface="Times New Roman" panose="02020603050405020304" pitchFamily="18" charset="0"/>
            </a:endParaRPr>
          </a:p>
          <a:p>
            <a:pPr>
              <a:lnSpc>
                <a:spcPct val="100000"/>
              </a:lnSpc>
            </a:pPr>
            <a:r>
              <a:rPr kumimoji="1" lang="en-US" altLang="zh-TW" dirty="0">
                <a:latin typeface="Times New Roman" panose="02020603050405020304" pitchFamily="18" charset="0"/>
                <a:cs typeface="Times New Roman" panose="02020603050405020304" pitchFamily="18" charset="0"/>
              </a:rPr>
              <a:t>Adjust the parameters:</a:t>
            </a:r>
          </a:p>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 - back-propagation algorithm </a:t>
            </a:r>
          </a:p>
          <a:p>
            <a:pPr marL="0" indent="0">
              <a:lnSpc>
                <a:spcPct val="100000"/>
              </a:lnSpc>
              <a:buNone/>
            </a:pPr>
            <a:endParaRPr kumimoji="1" lang="en-US" altLang="zh-TW" dirty="0">
              <a:latin typeface="Times New Roman" panose="02020603050405020304" pitchFamily="18" charset="0"/>
              <a:cs typeface="Times New Roman" panose="02020603050405020304" pitchFamily="18" charset="0"/>
            </a:endParaRPr>
          </a:p>
          <a:p>
            <a:pPr>
              <a:lnSpc>
                <a:spcPct val="100000"/>
              </a:lnSpc>
            </a:pPr>
            <a:r>
              <a:rPr kumimoji="1" lang="en-US" altLang="zh-TW" dirty="0">
                <a:latin typeface="Times New Roman" panose="02020603050405020304" pitchFamily="18" charset="0"/>
                <a:cs typeface="Times New Roman" panose="02020603050405020304" pitchFamily="18" charset="0"/>
              </a:rPr>
              <a:t>Adaptively vary the learning parameters:</a:t>
            </a:r>
          </a:p>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 - fuzzy logic control</a:t>
            </a:r>
          </a:p>
        </p:txBody>
      </p:sp>
      <p:sp>
        <p:nvSpPr>
          <p:cNvPr id="4" name="投影片編號版面配置區 3">
            <a:extLst>
              <a:ext uri="{FF2B5EF4-FFF2-40B4-BE49-F238E27FC236}">
                <a16:creationId xmlns:a16="http://schemas.microsoft.com/office/drawing/2014/main" id="{1CF14F00-6B00-C04E-AA13-C0DA7C28883C}"/>
              </a:ext>
            </a:extLst>
          </p:cNvPr>
          <p:cNvSpPr>
            <a:spLocks noGrp="1"/>
          </p:cNvSpPr>
          <p:nvPr>
            <p:ph type="sldNum" sz="quarter" idx="12"/>
          </p:nvPr>
        </p:nvSpPr>
        <p:spPr/>
        <p:txBody>
          <a:bodyPr/>
          <a:lstStyle/>
          <a:p>
            <a:fld id="{37D7E222-40AC-AD4D-BFFA-C06E99EC5475}" type="slidenum">
              <a:rPr kumimoji="1" lang="zh-TW" altLang="en-US" smtClean="0"/>
              <a:t>6</a:t>
            </a:fld>
            <a:endParaRPr kumimoji="1" lang="zh-TW" altLang="en-US"/>
          </a:p>
        </p:txBody>
      </p:sp>
    </p:spTree>
    <p:extLst>
      <p:ext uri="{BB962C8B-B14F-4D97-AF65-F5344CB8AC3E}">
        <p14:creationId xmlns:p14="http://schemas.microsoft.com/office/powerpoint/2010/main" val="1514934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Stacked</a:t>
            </a:r>
            <a:r>
              <a:rPr kumimoji="1" lang="zh-TW" altLang="en-US" dirty="0">
                <a:latin typeface="Times New Roman" panose="02020603050405020304" pitchFamily="18" charset="0"/>
                <a:cs typeface="Times New Roman" panose="02020603050405020304" pitchFamily="18" charset="0"/>
              </a:rPr>
              <a:t> </a:t>
            </a:r>
            <a:r>
              <a:rPr kumimoji="1" lang="en" altLang="zh-TW" dirty="0">
                <a:latin typeface="Times New Roman" panose="02020603050405020304" pitchFamily="18" charset="0"/>
                <a:cs typeface="Times New Roman" panose="02020603050405020304" pitchFamily="18" charset="0"/>
              </a:rPr>
              <a:t>Auto-Encoders (SAE)</a:t>
            </a:r>
          </a:p>
        </p:txBody>
      </p:sp>
      <p:pic>
        <p:nvPicPr>
          <p:cNvPr id="5" name="內容版面配置區 4">
            <a:extLst>
              <a:ext uri="{FF2B5EF4-FFF2-40B4-BE49-F238E27FC236}">
                <a16:creationId xmlns:a16="http://schemas.microsoft.com/office/drawing/2014/main" id="{11690530-8A24-C248-9ABF-D77733BBA6D7}"/>
              </a:ext>
            </a:extLst>
          </p:cNvPr>
          <p:cNvPicPr>
            <a:picLocks noGrp="1" noChangeAspect="1"/>
          </p:cNvPicPr>
          <p:nvPr>
            <p:ph idx="1"/>
          </p:nvPr>
        </p:nvPicPr>
        <p:blipFill>
          <a:blip r:embed="rId2"/>
          <a:stretch>
            <a:fillRect/>
          </a:stretch>
        </p:blipFill>
        <p:spPr>
          <a:xfrm>
            <a:off x="838199" y="1541352"/>
            <a:ext cx="3970021" cy="3100096"/>
          </a:xfrm>
        </p:spPr>
      </p:pic>
      <mc:AlternateContent xmlns:mc="http://schemas.openxmlformats.org/markup-compatibility/2006">
        <mc:Choice xmlns:a14="http://schemas.microsoft.com/office/drawing/2010/main" Requires="a14">
          <p:sp>
            <p:nvSpPr>
              <p:cNvPr id="9" name="文字方塊 8">
                <a:extLst>
                  <a:ext uri="{FF2B5EF4-FFF2-40B4-BE49-F238E27FC236}">
                    <a16:creationId xmlns:a16="http://schemas.microsoft.com/office/drawing/2014/main" id="{5E305A31-DA4A-054D-8F3C-2BDF667D2B35}"/>
                  </a:ext>
                </a:extLst>
              </p:cNvPr>
              <p:cNvSpPr txBox="1"/>
              <p:nvPr/>
            </p:nvSpPr>
            <p:spPr>
              <a:xfrm>
                <a:off x="1724628" y="6119562"/>
                <a:ext cx="2571025" cy="391133"/>
              </a:xfrm>
              <a:prstGeom prst="rect">
                <a:avLst/>
              </a:prstGeom>
              <a:noFill/>
            </p:spPr>
            <p:txBody>
              <a:bodyPr wrap="none" lIns="0" tIns="0" rIns="0" bIns="0" rtlCol="0">
                <a:spAutoFit/>
              </a:bodyPr>
              <a:lstStyle/>
              <a:p>
                <a:r>
                  <a:rPr kumimoji="1" lang="en-US" altLang="zh-TW" dirty="0"/>
                  <a:t>E(X,Z) = </a:t>
                </a:r>
                <a14:m>
                  <m:oMath xmlns:m="http://schemas.openxmlformats.org/officeDocument/2006/math">
                    <m:f>
                      <m:fPr>
                        <m:ctrlPr>
                          <a:rPr kumimoji="1" lang="en-US" altLang="zh-TW" i="1" smtClean="0">
                            <a:latin typeface="Cambria Math" panose="02040503050406030204" pitchFamily="18" charset="0"/>
                          </a:rPr>
                        </m:ctrlPr>
                      </m:fPr>
                      <m:num>
                        <m:r>
                          <a:rPr kumimoji="1" lang="en-US" altLang="zh-TW" b="0" i="1" smtClean="0">
                            <a:latin typeface="Cambria Math" panose="02040503050406030204" pitchFamily="18" charset="0"/>
                          </a:rPr>
                          <m:t>1</m:t>
                        </m:r>
                      </m:num>
                      <m:den>
                        <m:r>
                          <a:rPr kumimoji="1" lang="en-US" altLang="zh-TW" b="0" i="1" smtClean="0">
                            <a:latin typeface="Cambria Math" panose="02040503050406030204" pitchFamily="18" charset="0"/>
                          </a:rPr>
                          <m:t>2</m:t>
                        </m:r>
                      </m:den>
                    </m:f>
                    <m:r>
                      <a:rPr kumimoji="1" lang="en-US" altLang="zh-TW" b="0" i="1" smtClean="0">
                        <a:latin typeface="Cambria Math" panose="02040503050406030204" pitchFamily="18" charset="0"/>
                      </a:rPr>
                      <m:t> </m:t>
                    </m:r>
                    <m:nary>
                      <m:naryPr>
                        <m:chr m:val="∑"/>
                        <m:ctrlPr>
                          <a:rPr kumimoji="1" lang="en-US" altLang="zh-TW" b="0" i="1" smtClean="0">
                            <a:latin typeface="Cambria Math" panose="02040503050406030204" pitchFamily="18" charset="0"/>
                          </a:rPr>
                        </m:ctrlPr>
                      </m:naryPr>
                      <m:sub>
                        <m:r>
                          <m:rPr>
                            <m:brk m:alnAt="23"/>
                          </m:rP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=1</m:t>
                        </m:r>
                      </m:sub>
                      <m:sup>
                        <m:r>
                          <a:rPr kumimoji="1" lang="en-US" altLang="zh-TW" b="0" i="1" smtClean="0">
                            <a:latin typeface="Cambria Math" panose="02040503050406030204" pitchFamily="18" charset="0"/>
                          </a:rPr>
                          <m:t>𝑛</m:t>
                        </m:r>
                      </m:sup>
                      <m:e>
                        <m:r>
                          <a:rPr kumimoji="1" lang="en-US" altLang="zh-TW" b="0" i="1" smtClean="0">
                            <a:latin typeface="Cambria Math" panose="02040503050406030204" pitchFamily="18" charset="0"/>
                          </a:rPr>
                          <m:t>|</m:t>
                        </m:r>
                        <m:d>
                          <m:dPr>
                            <m:begChr m:val="|"/>
                            <m:endChr m:val="|"/>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𝑥𝑖</m:t>
                            </m:r>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𝑧𝑖</m:t>
                            </m:r>
                            <m:r>
                              <a:rPr kumimoji="1" lang="en-US" altLang="zh-TW" b="0" i="1" baseline="30000" smtClean="0">
                                <a:latin typeface="Cambria Math" panose="02040503050406030204" pitchFamily="18" charset="0"/>
                              </a:rPr>
                              <m:t> </m:t>
                            </m:r>
                          </m:e>
                        </m:d>
                        <m:r>
                          <a:rPr kumimoji="1" lang="en-US" altLang="zh-TW" b="0" i="1" smtClean="0">
                            <a:latin typeface="Cambria Math" panose="02040503050406030204" pitchFamily="18" charset="0"/>
                          </a:rPr>
                          <m:t>|</m:t>
                        </m:r>
                        <m:r>
                          <a:rPr kumimoji="1" lang="en-US" altLang="zh-TW" b="0" i="1" baseline="30000" smtClean="0">
                            <a:latin typeface="Cambria Math" panose="02040503050406030204" pitchFamily="18" charset="0"/>
                          </a:rPr>
                          <m:t>2</m:t>
                        </m:r>
                      </m:e>
                    </m:nary>
                  </m:oMath>
                </a14:m>
                <a:endParaRPr kumimoji="1" lang="en-US" altLang="zh-TW" dirty="0"/>
              </a:p>
            </p:txBody>
          </p:sp>
        </mc:Choice>
        <mc:Fallback>
          <p:sp>
            <p:nvSpPr>
              <p:cNvPr id="9" name="文字方塊 8">
                <a:extLst>
                  <a:ext uri="{FF2B5EF4-FFF2-40B4-BE49-F238E27FC236}">
                    <a16:creationId xmlns:a16="http://schemas.microsoft.com/office/drawing/2014/main" id="{5E305A31-DA4A-054D-8F3C-2BDF667D2B35}"/>
                  </a:ext>
                </a:extLst>
              </p:cNvPr>
              <p:cNvSpPr txBox="1">
                <a:spLocks noRot="1" noChangeAspect="1" noMove="1" noResize="1" noEditPoints="1" noAdjustHandles="1" noChangeArrowheads="1" noChangeShapeType="1" noTextEdit="1"/>
              </p:cNvSpPr>
              <p:nvPr/>
            </p:nvSpPr>
            <p:spPr>
              <a:xfrm>
                <a:off x="1724628" y="6119562"/>
                <a:ext cx="2571025" cy="391133"/>
              </a:xfrm>
              <a:prstGeom prst="rect">
                <a:avLst/>
              </a:prstGeom>
              <a:blipFill>
                <a:blip r:embed="rId3"/>
                <a:stretch>
                  <a:fillRect l="-5687" t="-110938" r="-3318" b="-173438"/>
                </a:stretch>
              </a:blipFill>
            </p:spPr>
            <p:txBody>
              <a:bodyPr/>
              <a:lstStyle/>
              <a:p>
                <a:r>
                  <a:rPr lang="zh-TW" altLang="en-US">
                    <a:noFill/>
                  </a:rPr>
                  <a:t> </a:t>
                </a:r>
              </a:p>
            </p:txBody>
          </p:sp>
        </mc:Fallback>
      </mc:AlternateContent>
      <p:pic>
        <p:nvPicPr>
          <p:cNvPr id="11" name="圖片 10">
            <a:extLst>
              <a:ext uri="{FF2B5EF4-FFF2-40B4-BE49-F238E27FC236}">
                <a16:creationId xmlns:a16="http://schemas.microsoft.com/office/drawing/2014/main" id="{23BA8618-864A-2840-907F-658F433E02EE}"/>
              </a:ext>
            </a:extLst>
          </p:cNvPr>
          <p:cNvPicPr>
            <a:picLocks noChangeAspect="1"/>
          </p:cNvPicPr>
          <p:nvPr/>
        </p:nvPicPr>
        <p:blipFill>
          <a:blip r:embed="rId4"/>
          <a:stretch>
            <a:fillRect/>
          </a:stretch>
        </p:blipFill>
        <p:spPr>
          <a:xfrm>
            <a:off x="5929212" y="1382791"/>
            <a:ext cx="4592175" cy="5135208"/>
          </a:xfrm>
          <a:prstGeom prst="rect">
            <a:avLst/>
          </a:prstGeom>
        </p:spPr>
      </p:pic>
      <p:sp>
        <p:nvSpPr>
          <p:cNvPr id="3" name="投影片編號版面配置區 2">
            <a:extLst>
              <a:ext uri="{FF2B5EF4-FFF2-40B4-BE49-F238E27FC236}">
                <a16:creationId xmlns:a16="http://schemas.microsoft.com/office/drawing/2014/main" id="{C1BBF135-D9E7-7041-8C5F-5DE8E7C8C38A}"/>
              </a:ext>
            </a:extLst>
          </p:cNvPr>
          <p:cNvSpPr>
            <a:spLocks noGrp="1"/>
          </p:cNvSpPr>
          <p:nvPr>
            <p:ph type="sldNum" sz="quarter" idx="12"/>
          </p:nvPr>
        </p:nvSpPr>
        <p:spPr/>
        <p:txBody>
          <a:bodyPr/>
          <a:lstStyle/>
          <a:p>
            <a:fld id="{37D7E222-40AC-AD4D-BFFA-C06E99EC5475}" type="slidenum">
              <a:rPr kumimoji="1" lang="zh-TW" altLang="en-US" smtClean="0"/>
              <a:t>7</a:t>
            </a:fld>
            <a:endParaRPr kumimoji="1" lang="zh-TW" altLang="en-US"/>
          </a:p>
        </p:txBody>
      </p:sp>
      <p:pic>
        <p:nvPicPr>
          <p:cNvPr id="6" name="圖片 5">
            <a:extLst>
              <a:ext uri="{FF2B5EF4-FFF2-40B4-BE49-F238E27FC236}">
                <a16:creationId xmlns:a16="http://schemas.microsoft.com/office/drawing/2014/main" id="{A7FDDA2A-CD93-ACF3-F4CD-A0960CA1B72D}"/>
              </a:ext>
            </a:extLst>
          </p:cNvPr>
          <p:cNvPicPr>
            <a:picLocks noChangeAspect="1"/>
          </p:cNvPicPr>
          <p:nvPr/>
        </p:nvPicPr>
        <p:blipFill>
          <a:blip r:embed="rId5"/>
          <a:stretch>
            <a:fillRect/>
          </a:stretch>
        </p:blipFill>
        <p:spPr>
          <a:xfrm>
            <a:off x="741225" y="4560523"/>
            <a:ext cx="4833952" cy="1496893"/>
          </a:xfrm>
          <a:prstGeom prst="rect">
            <a:avLst/>
          </a:prstGeom>
        </p:spPr>
      </p:pic>
    </p:spTree>
    <p:extLst>
      <p:ext uri="{BB962C8B-B14F-4D97-AF65-F5344CB8AC3E}">
        <p14:creationId xmlns:p14="http://schemas.microsoft.com/office/powerpoint/2010/main" val="1606105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Back-Propagation Algorithm</a:t>
            </a:r>
            <a:endParaRPr kumimoji="1"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82D2826-19CC-CC4D-8D38-2444CC5C9DC0}"/>
                  </a:ext>
                </a:extLst>
              </p:cNvPr>
              <p:cNvSpPr>
                <a:spLocks noGrp="1"/>
              </p:cNvSpPr>
              <p:nvPr>
                <p:ph idx="1"/>
              </p:nvPr>
            </p:nvSpPr>
            <p:spPr/>
            <p:txBody>
              <a:bodyPr/>
              <a:lstStyle/>
              <a:p>
                <a:pPr marL="0" indent="0">
                  <a:buNone/>
                </a:pPr>
                <a:endParaRPr kumimoji="1" lang="en-US" altLang="zh-TW" i="1" dirty="0">
                  <a:latin typeface="Cambria Math" panose="02040503050406030204" pitchFamily="18" charset="0"/>
                  <a:ea typeface="Cambria Math" panose="02040503050406030204" pitchFamily="18" charset="0"/>
                </a:endParaRPr>
              </a:p>
              <a:p>
                <a:pPr marL="0" indent="0">
                  <a:buNone/>
                </a:pPr>
                <a:endParaRPr kumimoji="1" lang="en-US" altLang="zh-TW" dirty="0"/>
              </a:p>
              <a:p>
                <a:pPr marL="0" indent="0">
                  <a:buNone/>
                </a:pPr>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ea typeface="Cambria Math" panose="02040503050406030204" pitchFamily="18" charset="0"/>
                        </a:rPr>
                        <m:t>  </m:t>
                      </m:r>
                    </m:oMath>
                  </m:oMathPara>
                </a14:m>
                <a:endParaRPr kumimoji="1" lang="en-US" altLang="zh-TW" b="0" i="1" dirty="0">
                  <a:latin typeface="Cambria Math" panose="02040503050406030204" pitchFamily="18" charset="0"/>
                  <a:ea typeface="Cambria Math" panose="02040503050406030204" pitchFamily="18" charset="0"/>
                </a:endParaRPr>
              </a:p>
              <a:p>
                <a:pPr marL="0" indent="0">
                  <a:buNone/>
                </a:pPr>
                <a:r>
                  <a:rPr kumimoji="1" lang="en-US" altLang="zh-TW" dirty="0">
                    <a:ea typeface="Cambria Math" panose="02040503050406030204" pitchFamily="18" charset="0"/>
                  </a:rPr>
                  <a:t>  </a:t>
                </a:r>
                <a14:m>
                  <m:oMath xmlns:m="http://schemas.openxmlformats.org/officeDocument/2006/math">
                    <m:r>
                      <a:rPr kumimoji="1" lang="en-US" altLang="zh-TW" i="1">
                        <a:latin typeface="Cambria Math" panose="02040503050406030204" pitchFamily="18" charset="0"/>
                        <a:ea typeface="Cambria Math" panose="02040503050406030204" pitchFamily="18" charset="0"/>
                      </a:rPr>
                      <m:t>𝜂</m:t>
                    </m:r>
                    <m:r>
                      <a:rPr kumimoji="1" lang="en-US" altLang="zh-TW" b="0" i="1" smtClean="0">
                        <a:latin typeface="Cambria Math" panose="02040503050406030204" pitchFamily="18" charset="0"/>
                        <a:ea typeface="Cambria Math" panose="02040503050406030204" pitchFamily="18" charset="0"/>
                      </a:rPr>
                      <m:t> :</m:t>
                    </m:r>
                    <m:r>
                      <a:rPr kumimoji="1" lang="en-US" altLang="zh-TW" b="0" i="1" smtClean="0">
                        <a:latin typeface="Cambria Math" panose="02040503050406030204" pitchFamily="18" charset="0"/>
                        <a:ea typeface="Cambria Math" panose="02040503050406030204" pitchFamily="18" charset="0"/>
                      </a:rPr>
                      <m:t>𝑙𝑒𝑎𝑟𝑛𝑖𝑛𝑔</m:t>
                    </m:r>
                    <m:r>
                      <a:rPr kumimoji="1" lang="en-US" altLang="zh-TW" b="0" i="1" smtClean="0">
                        <a:latin typeface="Cambria Math" panose="02040503050406030204" pitchFamily="18" charset="0"/>
                        <a:ea typeface="Cambria Math" panose="02040503050406030204" pitchFamily="18" charset="0"/>
                      </a:rPr>
                      <m:t> </m:t>
                    </m:r>
                    <m:r>
                      <a:rPr kumimoji="1" lang="en-US" altLang="zh-TW" b="0" i="1" smtClean="0">
                        <a:latin typeface="Cambria Math" panose="02040503050406030204" pitchFamily="18" charset="0"/>
                        <a:ea typeface="Cambria Math" panose="02040503050406030204" pitchFamily="18" charset="0"/>
                      </a:rPr>
                      <m:t>𝑟𝑎𝑡𝑒</m:t>
                    </m:r>
                    <m:r>
                      <a:rPr kumimoji="1" lang="en-US" altLang="zh-TW" b="0" i="1" smtClean="0">
                        <a:latin typeface="Cambria Math" panose="02040503050406030204" pitchFamily="18" charset="0"/>
                        <a:ea typeface="Cambria Math" panose="02040503050406030204" pitchFamily="18" charset="0"/>
                      </a:rPr>
                      <m:t> , </m:t>
                    </m:r>
                    <m:r>
                      <a:rPr kumimoji="1" lang="en-US" altLang="zh-TW" i="1">
                        <a:latin typeface="Cambria Math" panose="02040503050406030204" pitchFamily="18" charset="0"/>
                        <a:ea typeface="Cambria Math" panose="02040503050406030204" pitchFamily="18" charset="0"/>
                      </a:rPr>
                      <m:t>𝛼</m:t>
                    </m:r>
                    <m:r>
                      <a:rPr kumimoji="1" lang="en-US" altLang="zh-TW" b="0" i="1" smtClean="0">
                        <a:latin typeface="Cambria Math" panose="02040503050406030204" pitchFamily="18" charset="0"/>
                        <a:ea typeface="Cambria Math" panose="02040503050406030204" pitchFamily="18" charset="0"/>
                      </a:rPr>
                      <m:t> :</m:t>
                    </m:r>
                    <m:r>
                      <a:rPr kumimoji="1" lang="en-US" altLang="zh-TW" b="0" i="1" smtClean="0">
                        <a:latin typeface="Cambria Math" panose="02040503050406030204" pitchFamily="18" charset="0"/>
                        <a:ea typeface="Cambria Math" panose="02040503050406030204" pitchFamily="18" charset="0"/>
                      </a:rPr>
                      <m:t>𝑚𝑜𝑚𝑒𝑛𝑡𝑢𝑚</m:t>
                    </m:r>
                    <m:r>
                      <a:rPr kumimoji="1" lang="en-US" altLang="zh-TW" b="0" i="1" smtClean="0">
                        <a:latin typeface="Cambria Math" panose="02040503050406030204" pitchFamily="18" charset="0"/>
                        <a:ea typeface="Cambria Math" panose="02040503050406030204" pitchFamily="18" charset="0"/>
                      </a:rPr>
                      <m:t> </m:t>
                    </m:r>
                    <m:r>
                      <a:rPr kumimoji="1" lang="en-US" altLang="zh-TW" b="0" i="1" smtClean="0">
                        <a:latin typeface="Cambria Math" panose="02040503050406030204" pitchFamily="18" charset="0"/>
                        <a:ea typeface="Cambria Math" panose="02040503050406030204" pitchFamily="18" charset="0"/>
                      </a:rPr>
                      <m:t>𝑓𝑎𝑐𝑡𝑜𝑟</m:t>
                    </m:r>
                  </m:oMath>
                </a14:m>
                <a:r>
                  <a:rPr kumimoji="1" lang="en-US" altLang="zh-TW" dirty="0"/>
                  <a:t> </a:t>
                </a:r>
              </a:p>
            </p:txBody>
          </p:sp>
        </mc:Choice>
        <mc:Fallback xmlns="">
          <p:sp>
            <p:nvSpPr>
              <p:cNvPr id="3" name="內容版面配置區 2">
                <a:extLst>
                  <a:ext uri="{FF2B5EF4-FFF2-40B4-BE49-F238E27FC236}">
                    <a16:creationId xmlns:a16="http://schemas.microsoft.com/office/drawing/2014/main" id="{782D2826-19CC-CC4D-8D38-2444CC5C9DC0}"/>
                  </a:ext>
                </a:extLst>
              </p:cNvPr>
              <p:cNvSpPr>
                <a:spLocks noGrp="1" noRot="1" noChangeAspect="1" noMove="1" noResize="1" noEditPoints="1" noAdjustHandles="1" noChangeArrowheads="1" noChangeShapeType="1" noTextEdit="1"/>
              </p:cNvSpPr>
              <p:nvPr>
                <p:ph idx="1"/>
              </p:nvPr>
            </p:nvSpPr>
            <p:spPr>
              <a:blipFill>
                <a:blip r:embed="rId2"/>
                <a:stretch>
                  <a:fillRect l="-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DCAD095-1ED6-1043-9A67-37F4573B2602}"/>
                  </a:ext>
                </a:extLst>
              </p:cNvPr>
              <p:cNvSpPr/>
              <p:nvPr/>
            </p:nvSpPr>
            <p:spPr>
              <a:xfrm>
                <a:off x="947290" y="1686725"/>
                <a:ext cx="5921621" cy="10604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TW" sz="2800" i="1">
                          <a:latin typeface="Cambria Math" panose="02040503050406030204" pitchFamily="18" charset="0"/>
                          <a:ea typeface="Cambria Math" panose="02040503050406030204" pitchFamily="18" charset="0"/>
                        </a:rPr>
                        <m:t>∆</m:t>
                      </m:r>
                      <m:r>
                        <a:rPr kumimoji="1" lang="en-US" altLang="zh-TW" sz="2800" i="1">
                          <a:latin typeface="Cambria Math" panose="02040503050406030204" pitchFamily="18" charset="0"/>
                          <a:ea typeface="Cambria Math" panose="02040503050406030204" pitchFamily="18" charset="0"/>
                        </a:rPr>
                        <m:t>𝑤𝑗</m:t>
                      </m:r>
                      <m:d>
                        <m:dPr>
                          <m:ctrlPr>
                            <a:rPr kumimoji="1" lang="en-US" altLang="zh-TW" sz="2800" i="1">
                              <a:latin typeface="Cambria Math" panose="02040503050406030204" pitchFamily="18" charset="0"/>
                              <a:ea typeface="Cambria Math" panose="02040503050406030204" pitchFamily="18" charset="0"/>
                            </a:rPr>
                          </m:ctrlPr>
                        </m:dPr>
                        <m:e>
                          <m:r>
                            <a:rPr kumimoji="1" lang="en-US" altLang="zh-TW" sz="2800" i="1">
                              <a:latin typeface="Cambria Math" panose="02040503050406030204" pitchFamily="18" charset="0"/>
                              <a:ea typeface="Cambria Math" panose="02040503050406030204" pitchFamily="18" charset="0"/>
                            </a:rPr>
                            <m:t>𝑡</m:t>
                          </m:r>
                          <m:r>
                            <a:rPr kumimoji="1" lang="en-US" altLang="zh-TW" sz="2800" i="1">
                              <a:latin typeface="Cambria Math" panose="02040503050406030204" pitchFamily="18" charset="0"/>
                              <a:ea typeface="Cambria Math" panose="02040503050406030204" pitchFamily="18" charset="0"/>
                            </a:rPr>
                            <m:t>+1</m:t>
                          </m:r>
                        </m:e>
                      </m:d>
                      <m:r>
                        <a:rPr kumimoji="1" lang="en-US" altLang="zh-TW" sz="2800" i="1">
                          <a:latin typeface="Cambria Math" panose="02040503050406030204" pitchFamily="18" charset="0"/>
                          <a:ea typeface="Cambria Math" panose="02040503050406030204" pitchFamily="18" charset="0"/>
                        </a:rPr>
                        <m:t>= </m:t>
                      </m:r>
                      <m:r>
                        <a:rPr kumimoji="1" lang="en-US" altLang="zh-TW" sz="2800" i="1">
                          <a:latin typeface="Cambria Math" panose="02040503050406030204" pitchFamily="18" charset="0"/>
                          <a:ea typeface="Cambria Math" panose="02040503050406030204" pitchFamily="18" charset="0"/>
                        </a:rPr>
                        <m:t>𝜂</m:t>
                      </m:r>
                      <m:d>
                        <m:dPr>
                          <m:ctrlPr>
                            <a:rPr kumimoji="1" lang="en-US" altLang="zh-TW" sz="2800" i="1">
                              <a:latin typeface="Cambria Math" panose="02040503050406030204" pitchFamily="18" charset="0"/>
                              <a:ea typeface="Cambria Math" panose="02040503050406030204" pitchFamily="18" charset="0"/>
                            </a:rPr>
                          </m:ctrlPr>
                        </m:dPr>
                        <m:e>
                          <m:f>
                            <m:fPr>
                              <m:ctrlPr>
                                <a:rPr kumimoji="1" lang="en-US" altLang="zh-TW" sz="2800" i="1">
                                  <a:latin typeface="Cambria Math" panose="02040503050406030204" pitchFamily="18" charset="0"/>
                                  <a:ea typeface="Cambria Math" panose="02040503050406030204" pitchFamily="18" charset="0"/>
                                </a:rPr>
                              </m:ctrlPr>
                            </m:fPr>
                            <m:num>
                              <m:r>
                                <a:rPr kumimoji="1" lang="en-US" altLang="zh-TW" sz="2800" i="1">
                                  <a:latin typeface="Cambria Math" panose="02040503050406030204" pitchFamily="18" charset="0"/>
                                  <a:ea typeface="Cambria Math" panose="02040503050406030204" pitchFamily="18" charset="0"/>
                                </a:rPr>
                                <m:t>𝜕</m:t>
                              </m:r>
                              <m:r>
                                <a:rPr kumimoji="1" lang="en-US" altLang="zh-TW" sz="2800" i="1">
                                  <a:latin typeface="Cambria Math" panose="02040503050406030204" pitchFamily="18" charset="0"/>
                                  <a:ea typeface="Cambria Math" panose="02040503050406030204" pitchFamily="18" charset="0"/>
                                </a:rPr>
                                <m:t>𝐸</m:t>
                              </m:r>
                              <m:d>
                                <m:dPr>
                                  <m:ctrlPr>
                                    <a:rPr kumimoji="1" lang="en-US" altLang="zh-TW" sz="2800" i="1">
                                      <a:latin typeface="Cambria Math" panose="02040503050406030204" pitchFamily="18" charset="0"/>
                                      <a:ea typeface="Cambria Math" panose="02040503050406030204" pitchFamily="18" charset="0"/>
                                    </a:rPr>
                                  </m:ctrlPr>
                                </m:dPr>
                                <m:e>
                                  <m:r>
                                    <a:rPr kumimoji="1" lang="en-US" altLang="zh-TW" sz="2800" i="1">
                                      <a:latin typeface="Cambria Math" panose="02040503050406030204" pitchFamily="18" charset="0"/>
                                      <a:ea typeface="Cambria Math" panose="02040503050406030204" pitchFamily="18" charset="0"/>
                                    </a:rPr>
                                    <m:t>𝑡</m:t>
                                  </m:r>
                                </m:e>
                              </m:d>
                            </m:num>
                            <m:den>
                              <m:r>
                                <a:rPr kumimoji="1" lang="en-US" altLang="zh-TW" sz="2800" i="1">
                                  <a:latin typeface="Cambria Math" panose="02040503050406030204" pitchFamily="18" charset="0"/>
                                  <a:ea typeface="Cambria Math" panose="02040503050406030204" pitchFamily="18" charset="0"/>
                                </a:rPr>
                                <m:t>𝜕</m:t>
                              </m:r>
                              <m:r>
                                <a:rPr kumimoji="1" lang="en-US" altLang="zh-TW" sz="2800" i="1">
                                  <a:latin typeface="Cambria Math" panose="02040503050406030204" pitchFamily="18" charset="0"/>
                                  <a:ea typeface="Cambria Math" panose="02040503050406030204" pitchFamily="18" charset="0"/>
                                </a:rPr>
                                <m:t>𝑤𝑗</m:t>
                              </m:r>
                            </m:den>
                          </m:f>
                        </m:e>
                      </m:d>
                      <m:r>
                        <a:rPr kumimoji="1" lang="en-US" altLang="zh-TW" sz="2800" i="1">
                          <a:latin typeface="Cambria Math" panose="02040503050406030204" pitchFamily="18" charset="0"/>
                          <a:ea typeface="Cambria Math" panose="02040503050406030204" pitchFamily="18" charset="0"/>
                        </a:rPr>
                        <m:t>+ </m:t>
                      </m:r>
                      <m:r>
                        <a:rPr kumimoji="1" lang="en-US" altLang="zh-TW" sz="2800" i="1">
                          <a:latin typeface="Cambria Math" panose="02040503050406030204" pitchFamily="18" charset="0"/>
                          <a:ea typeface="Cambria Math" panose="02040503050406030204" pitchFamily="18" charset="0"/>
                        </a:rPr>
                        <m:t>𝛼</m:t>
                      </m:r>
                      <m:r>
                        <a:rPr kumimoji="1" lang="en-US" altLang="zh-TW" sz="2800" i="1">
                          <a:latin typeface="Cambria Math" panose="02040503050406030204" pitchFamily="18" charset="0"/>
                          <a:ea typeface="Cambria Math" panose="02040503050406030204" pitchFamily="18" charset="0"/>
                        </a:rPr>
                        <m:t> ∆</m:t>
                      </m:r>
                      <m:r>
                        <a:rPr kumimoji="1" lang="en-US" altLang="zh-TW" sz="2800" i="1">
                          <a:latin typeface="Cambria Math" panose="02040503050406030204" pitchFamily="18" charset="0"/>
                          <a:ea typeface="Cambria Math" panose="02040503050406030204" pitchFamily="18" charset="0"/>
                        </a:rPr>
                        <m:t>𝑤𝑗</m:t>
                      </m:r>
                      <m:d>
                        <m:dPr>
                          <m:ctrlPr>
                            <a:rPr kumimoji="1" lang="en-US" altLang="zh-TW" sz="2800" i="1">
                              <a:latin typeface="Cambria Math" panose="02040503050406030204" pitchFamily="18" charset="0"/>
                              <a:ea typeface="Cambria Math" panose="02040503050406030204" pitchFamily="18" charset="0"/>
                            </a:rPr>
                          </m:ctrlPr>
                        </m:dPr>
                        <m:e>
                          <m:r>
                            <a:rPr kumimoji="1" lang="en-US" altLang="zh-TW" sz="2800" i="1">
                              <a:latin typeface="Cambria Math" panose="02040503050406030204" pitchFamily="18" charset="0"/>
                              <a:ea typeface="Cambria Math" panose="02040503050406030204" pitchFamily="18" charset="0"/>
                            </a:rPr>
                            <m:t>𝑡</m:t>
                          </m:r>
                        </m:e>
                      </m:d>
                    </m:oMath>
                  </m:oMathPara>
                </a14:m>
                <a:endParaRPr kumimoji="1" lang="en-US" altLang="zh-TW" sz="2800" i="1" dirty="0">
                  <a:latin typeface="Cambria Math" panose="02040503050406030204" pitchFamily="18" charset="0"/>
                  <a:ea typeface="Cambria Math" panose="02040503050406030204" pitchFamily="18" charset="0"/>
                </a:endParaRPr>
              </a:p>
            </p:txBody>
          </p:sp>
        </mc:Choice>
        <mc:Fallback xmlns="">
          <p:sp>
            <p:nvSpPr>
              <p:cNvPr id="4" name="矩形 3">
                <a:extLst>
                  <a:ext uri="{FF2B5EF4-FFF2-40B4-BE49-F238E27FC236}">
                    <a16:creationId xmlns:a16="http://schemas.microsoft.com/office/drawing/2014/main" id="{2DCAD095-1ED6-1043-9A67-37F4573B2602}"/>
                  </a:ext>
                </a:extLst>
              </p:cNvPr>
              <p:cNvSpPr>
                <a:spLocks noRot="1" noChangeAspect="1" noMove="1" noResize="1" noEditPoints="1" noAdjustHandles="1" noChangeArrowheads="1" noChangeShapeType="1" noTextEdit="1"/>
              </p:cNvSpPr>
              <p:nvPr/>
            </p:nvSpPr>
            <p:spPr>
              <a:xfrm>
                <a:off x="947290" y="1686725"/>
                <a:ext cx="5921621" cy="1060483"/>
              </a:xfrm>
              <a:prstGeom prst="rect">
                <a:avLst/>
              </a:prstGeom>
              <a:blipFill>
                <a:blip r:embed="rId3"/>
                <a:stretch>
                  <a:fillRect b="-59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D92981F-7453-9744-B3D2-3B9BEB77A9D0}"/>
                  </a:ext>
                </a:extLst>
              </p:cNvPr>
              <p:cNvSpPr/>
              <p:nvPr/>
            </p:nvSpPr>
            <p:spPr>
              <a:xfrm>
                <a:off x="952983" y="2699799"/>
                <a:ext cx="2892715"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TW" sz="2800" i="1">
                          <a:latin typeface="Cambria Math" panose="02040503050406030204" pitchFamily="18" charset="0"/>
                          <a:ea typeface="Cambria Math" panose="02040503050406030204" pitchFamily="18" charset="0"/>
                        </a:rPr>
                        <m:t>𝐸</m:t>
                      </m:r>
                      <m:d>
                        <m:dPr>
                          <m:ctrlPr>
                            <a:rPr kumimoji="1" lang="en-US" altLang="zh-TW" sz="2800" i="1">
                              <a:latin typeface="Cambria Math" panose="02040503050406030204" pitchFamily="18" charset="0"/>
                              <a:ea typeface="Cambria Math" panose="02040503050406030204" pitchFamily="18" charset="0"/>
                            </a:rPr>
                          </m:ctrlPr>
                        </m:dPr>
                        <m:e>
                          <m:r>
                            <a:rPr kumimoji="1" lang="en-US" altLang="zh-TW" sz="2800" i="1">
                              <a:latin typeface="Cambria Math" panose="02040503050406030204" pitchFamily="18" charset="0"/>
                              <a:ea typeface="Cambria Math" panose="02040503050406030204" pitchFamily="18" charset="0"/>
                            </a:rPr>
                            <m:t>𝑡</m:t>
                          </m:r>
                        </m:e>
                      </m:d>
                      <m:r>
                        <a:rPr kumimoji="1" lang="en-US" altLang="zh-TW" sz="2800" i="1">
                          <a:latin typeface="Cambria Math" panose="02040503050406030204" pitchFamily="18" charset="0"/>
                          <a:ea typeface="Cambria Math" panose="02040503050406030204" pitchFamily="18" charset="0"/>
                        </a:rPr>
                        <m:t>= </m:t>
                      </m:r>
                      <m:f>
                        <m:fPr>
                          <m:ctrlPr>
                            <a:rPr kumimoji="1" lang="en-US" altLang="zh-TW" sz="2800" i="1">
                              <a:latin typeface="Cambria Math" panose="02040503050406030204" pitchFamily="18" charset="0"/>
                              <a:ea typeface="Cambria Math" panose="02040503050406030204" pitchFamily="18" charset="0"/>
                            </a:rPr>
                          </m:ctrlPr>
                        </m:fPr>
                        <m:num>
                          <m:r>
                            <a:rPr kumimoji="1" lang="en-US" altLang="zh-TW" sz="2800" i="1">
                              <a:latin typeface="Cambria Math" panose="02040503050406030204" pitchFamily="18" charset="0"/>
                              <a:ea typeface="Cambria Math" panose="02040503050406030204" pitchFamily="18" charset="0"/>
                            </a:rPr>
                            <m:t>1</m:t>
                          </m:r>
                        </m:num>
                        <m:den>
                          <m:r>
                            <a:rPr kumimoji="1" lang="en-US" altLang="zh-TW" sz="2800" i="1">
                              <a:latin typeface="Cambria Math" panose="02040503050406030204" pitchFamily="18" charset="0"/>
                              <a:ea typeface="Cambria Math" panose="02040503050406030204" pitchFamily="18" charset="0"/>
                            </a:rPr>
                            <m:t>2</m:t>
                          </m:r>
                        </m:den>
                      </m:f>
                      <m:r>
                        <a:rPr kumimoji="1" lang="en-US" altLang="zh-TW" sz="2800" i="1">
                          <a:latin typeface="Cambria Math" panose="02040503050406030204" pitchFamily="18" charset="0"/>
                          <a:ea typeface="Cambria Math" panose="02040503050406030204" pitchFamily="18" charset="0"/>
                        </a:rPr>
                        <m:t> |</m:t>
                      </m:r>
                      <m:r>
                        <a:rPr kumimoji="1" lang="en-US" altLang="zh-TW" sz="2800" i="1">
                          <a:latin typeface="Cambria Math" panose="02040503050406030204" pitchFamily="18" charset="0"/>
                          <a:ea typeface="Cambria Math" panose="02040503050406030204" pitchFamily="18" charset="0"/>
                        </a:rPr>
                        <m:t>𝑒</m:t>
                      </m:r>
                      <m:r>
                        <a:rPr kumimoji="1" lang="en-US" altLang="zh-TW" sz="2800" i="1">
                          <a:latin typeface="Cambria Math" panose="02040503050406030204" pitchFamily="18" charset="0"/>
                          <a:ea typeface="Cambria Math" panose="02040503050406030204" pitchFamily="18" charset="0"/>
                        </a:rPr>
                        <m:t>(</m:t>
                      </m:r>
                      <m:r>
                        <a:rPr kumimoji="1" lang="en-US" altLang="zh-TW" sz="2800" i="1">
                          <a:latin typeface="Cambria Math" panose="02040503050406030204" pitchFamily="18" charset="0"/>
                          <a:ea typeface="Cambria Math" panose="02040503050406030204" pitchFamily="18" charset="0"/>
                        </a:rPr>
                        <m:t>𝑡</m:t>
                      </m:r>
                      <m:r>
                        <a:rPr kumimoji="1" lang="en-US" altLang="zh-TW" sz="2800" i="1">
                          <a:latin typeface="Cambria Math" panose="02040503050406030204" pitchFamily="18" charset="0"/>
                          <a:ea typeface="Cambria Math" panose="02040503050406030204" pitchFamily="18" charset="0"/>
                        </a:rPr>
                        <m:t>)|2</m:t>
                      </m:r>
                    </m:oMath>
                  </m:oMathPara>
                </a14:m>
                <a:endParaRPr kumimoji="1" lang="en-US" altLang="zh-TW" sz="2800" i="1" baseline="30000" dirty="0">
                  <a:latin typeface="Cambria Math" panose="02040503050406030204" pitchFamily="18" charset="0"/>
                  <a:ea typeface="Cambria Math" panose="02040503050406030204" pitchFamily="18" charset="0"/>
                </a:endParaRPr>
              </a:p>
            </p:txBody>
          </p:sp>
        </mc:Choice>
        <mc:Fallback xmlns="">
          <p:sp>
            <p:nvSpPr>
              <p:cNvPr id="5" name="矩形 4">
                <a:extLst>
                  <a:ext uri="{FF2B5EF4-FFF2-40B4-BE49-F238E27FC236}">
                    <a16:creationId xmlns:a16="http://schemas.microsoft.com/office/drawing/2014/main" id="{BD92981F-7453-9744-B3D2-3B9BEB77A9D0}"/>
                  </a:ext>
                </a:extLst>
              </p:cNvPr>
              <p:cNvSpPr>
                <a:spLocks noRot="1" noChangeAspect="1" noMove="1" noResize="1" noEditPoints="1" noAdjustHandles="1" noChangeArrowheads="1" noChangeShapeType="1" noTextEdit="1"/>
              </p:cNvSpPr>
              <p:nvPr/>
            </p:nvSpPr>
            <p:spPr>
              <a:xfrm>
                <a:off x="952983" y="2699799"/>
                <a:ext cx="2892715" cy="898964"/>
              </a:xfrm>
              <a:prstGeom prst="rect">
                <a:avLst/>
              </a:prstGeom>
              <a:blipFill>
                <a:blip r:embed="rId4"/>
                <a:stretch>
                  <a:fillRect b="-7042"/>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5FF02213-DBF9-0C4B-AC26-BD54DB1AA656}"/>
              </a:ext>
            </a:extLst>
          </p:cNvPr>
          <p:cNvSpPr>
            <a:spLocks noGrp="1"/>
          </p:cNvSpPr>
          <p:nvPr>
            <p:ph type="sldNum" sz="quarter" idx="12"/>
          </p:nvPr>
        </p:nvSpPr>
        <p:spPr/>
        <p:txBody>
          <a:bodyPr/>
          <a:lstStyle/>
          <a:p>
            <a:fld id="{37D7E222-40AC-AD4D-BFFA-C06E99EC5475}" type="slidenum">
              <a:rPr kumimoji="1" lang="zh-TW" altLang="en-US" smtClean="0"/>
              <a:t>8</a:t>
            </a:fld>
            <a:endParaRPr kumimoji="1" lang="zh-TW" altLang="en-US"/>
          </a:p>
        </p:txBody>
      </p:sp>
    </p:spTree>
    <p:extLst>
      <p:ext uri="{BB962C8B-B14F-4D97-AF65-F5344CB8AC3E}">
        <p14:creationId xmlns:p14="http://schemas.microsoft.com/office/powerpoint/2010/main" val="4064297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a:xfrm>
            <a:off x="838199" y="365125"/>
            <a:ext cx="10956403" cy="1325563"/>
          </a:xfrm>
        </p:spPr>
        <p:txBody>
          <a:bodyPr/>
          <a:lstStyle/>
          <a:p>
            <a:r>
              <a:rPr kumimoji="1" lang="en" altLang="zh-TW" dirty="0">
                <a:latin typeface="Times New Roman" panose="02020603050405020304" pitchFamily="18" charset="0"/>
                <a:cs typeface="Times New Roman" panose="02020603050405020304" pitchFamily="18" charset="0"/>
              </a:rPr>
              <a:t>Fuzzy Logic Controlled Deep Neural Network</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82D2826-19CC-CC4D-8D38-2444CC5C9DC0}"/>
              </a:ext>
            </a:extLst>
          </p:cNvPr>
          <p:cNvSpPr>
            <a:spLocks noGrp="1"/>
          </p:cNvSpPr>
          <p:nvPr>
            <p:ph idx="1"/>
          </p:nvPr>
        </p:nvSpPr>
        <p:spPr/>
        <p:txBody>
          <a:bodyPr/>
          <a:lstStyle/>
          <a:p>
            <a:pPr>
              <a:lnSpc>
                <a:spcPct val="100000"/>
              </a:lnSpc>
            </a:pPr>
            <a:r>
              <a:rPr kumimoji="1" lang="en" altLang="zh-TW" dirty="0">
                <a:latin typeface="Times New Roman" panose="02020603050405020304" pitchFamily="18" charset="0"/>
                <a:cs typeface="Times New Roman" panose="02020603050405020304" pitchFamily="18" charset="0"/>
              </a:rPr>
              <a:t>Consists of four components:</a:t>
            </a:r>
          </a:p>
          <a:p>
            <a:pPr marL="0" indent="0">
              <a:lnSpc>
                <a:spcPct val="100000"/>
              </a:lnSpc>
              <a:buNone/>
            </a:pP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 fuzzifier</a:t>
            </a:r>
          </a:p>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 - fuzzy rule base</a:t>
            </a:r>
          </a:p>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 - fuzzy inference process</a:t>
            </a:r>
          </a:p>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 - </a:t>
            </a:r>
            <a:r>
              <a:rPr kumimoji="1" lang="en-US" altLang="zh-TW" dirty="0" err="1">
                <a:latin typeface="Times New Roman" panose="02020603050405020304" pitchFamily="18" charset="0"/>
                <a:cs typeface="Times New Roman" panose="02020603050405020304" pitchFamily="18" charset="0"/>
              </a:rPr>
              <a:t>defuzzifier</a:t>
            </a:r>
            <a:endParaRPr kumimoji="1" lang="en-US" altLang="zh-TW" dirty="0"/>
          </a:p>
        </p:txBody>
      </p:sp>
      <p:sp>
        <p:nvSpPr>
          <p:cNvPr id="4" name="投影片編號版面配置區 3">
            <a:extLst>
              <a:ext uri="{FF2B5EF4-FFF2-40B4-BE49-F238E27FC236}">
                <a16:creationId xmlns:a16="http://schemas.microsoft.com/office/drawing/2014/main" id="{01A9B1DB-F7AA-504E-AC0E-3B2F56764875}"/>
              </a:ext>
            </a:extLst>
          </p:cNvPr>
          <p:cNvSpPr>
            <a:spLocks noGrp="1"/>
          </p:cNvSpPr>
          <p:nvPr>
            <p:ph type="sldNum" sz="quarter" idx="12"/>
          </p:nvPr>
        </p:nvSpPr>
        <p:spPr/>
        <p:txBody>
          <a:bodyPr/>
          <a:lstStyle/>
          <a:p>
            <a:fld id="{37D7E222-40AC-AD4D-BFFA-C06E99EC5475}" type="slidenum">
              <a:rPr kumimoji="1" lang="zh-TW" altLang="en-US" smtClean="0"/>
              <a:t>9</a:t>
            </a:fld>
            <a:endParaRPr kumimoji="1" lang="zh-TW" altLang="en-US"/>
          </a:p>
        </p:txBody>
      </p:sp>
    </p:spTree>
    <p:extLst>
      <p:ext uri="{BB962C8B-B14F-4D97-AF65-F5344CB8AC3E}">
        <p14:creationId xmlns:p14="http://schemas.microsoft.com/office/powerpoint/2010/main" val="3182218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a:xfrm>
            <a:off x="838199" y="365125"/>
            <a:ext cx="10956403" cy="1325563"/>
          </a:xfrm>
        </p:spPr>
        <p:txBody>
          <a:bodyPr/>
          <a:lstStyle/>
          <a:p>
            <a:r>
              <a:rPr kumimoji="1" lang="en" altLang="zh-TW" dirty="0">
                <a:latin typeface="Times New Roman" panose="02020603050405020304" pitchFamily="18" charset="0"/>
                <a:cs typeface="Times New Roman" panose="02020603050405020304" pitchFamily="18" charset="0"/>
              </a:rPr>
              <a:t>Fuzzy Logic Control System</a:t>
            </a:r>
            <a:endParaRPr kumimoji="1"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82D2826-19CC-CC4D-8D38-2444CC5C9DC0}"/>
                  </a:ext>
                </a:extLst>
              </p:cNvPr>
              <p:cNvSpPr>
                <a:spLocks noGrp="1"/>
              </p:cNvSpPr>
              <p:nvPr>
                <p:ph idx="1"/>
              </p:nvPr>
            </p:nvSpPr>
            <p:spPr/>
            <p:txBody>
              <a:bodyPr>
                <a:normAutofit fontScale="92500" lnSpcReduction="20000"/>
              </a:bodyPr>
              <a:lstStyle/>
              <a:p>
                <a:pPr>
                  <a:lnSpc>
                    <a:spcPct val="110000"/>
                  </a:lnSpc>
                </a:pPr>
                <a:r>
                  <a:rPr kumimoji="1" lang="en-US" altLang="zh-TW" dirty="0"/>
                  <a:t>Relative error (RE)</a:t>
                </a:r>
              </a:p>
              <a:p>
                <a:pPr>
                  <a:lnSpc>
                    <a:spcPct val="110000"/>
                  </a:lnSpc>
                </a:pPr>
                <a:r>
                  <a:rPr kumimoji="1" lang="en-US" altLang="zh-TW" dirty="0"/>
                  <a:t>Change in relative error (CRE)</a:t>
                </a:r>
              </a:p>
              <a:p>
                <a:pPr>
                  <a:lnSpc>
                    <a:spcPct val="110000"/>
                  </a:lnSpc>
                </a:pPr>
                <a:r>
                  <a:rPr kumimoji="1" lang="en-US" altLang="zh-TW" dirty="0"/>
                  <a:t>Sign change in error (SC)</a:t>
                </a:r>
              </a:p>
              <a:p>
                <a:pPr>
                  <a:lnSpc>
                    <a:spcPct val="110000"/>
                  </a:lnSpc>
                </a:pPr>
                <a:r>
                  <a:rPr kumimoji="1" lang="en-US" altLang="zh-TW" dirty="0"/>
                  <a:t>Cumulative sum of sign change in error(CSC)</a:t>
                </a:r>
              </a:p>
              <a:p>
                <a:pPr>
                  <a:lnSpc>
                    <a:spcPct val="110000"/>
                  </a:lnSpc>
                </a:pPr>
                <a:endParaRPr kumimoji="1" lang="en-US" altLang="zh-TW" dirty="0"/>
              </a:p>
              <a:p>
                <a:pPr>
                  <a:lnSpc>
                    <a:spcPct val="110000"/>
                  </a:lnSpc>
                </a:pPr>
                <a:r>
                  <a:rPr kumimoji="1" lang="en-US" altLang="zh-TW" dirty="0"/>
                  <a:t>Rule1:</a:t>
                </a:r>
                <a:r>
                  <a:rPr lang="en" altLang="zh-TW" dirty="0"/>
                  <a:t> IF RE is small AND CSC is less or equal to two, THEN the value of </a:t>
                </a:r>
                <a14:m>
                  <m:oMath xmlns:m="http://schemas.openxmlformats.org/officeDocument/2006/math">
                    <m:r>
                      <a:rPr lang="zh-TW" altLang="en-US" i="1" dirty="0" smtClean="0">
                        <a:latin typeface="Cambria Math" panose="02040503050406030204" pitchFamily="18" charset="0"/>
                      </a:rPr>
                      <m:t>𝜂</m:t>
                    </m:r>
                  </m:oMath>
                </a14:m>
                <a:r>
                  <a:rPr lang="zh-TW" altLang="en-US" dirty="0"/>
                  <a:t> </a:t>
                </a:r>
                <a:r>
                  <a:rPr lang="en" altLang="zh-TW" dirty="0"/>
                  <a:t>and </a:t>
                </a:r>
                <a:r>
                  <a:rPr lang="el-GR" altLang="zh-TW" dirty="0"/>
                  <a:t>α </a:t>
                </a:r>
                <a:r>
                  <a:rPr lang="en" altLang="zh-TW" dirty="0"/>
                  <a:t>should be increased. </a:t>
                </a:r>
              </a:p>
              <a:p>
                <a:pPr>
                  <a:lnSpc>
                    <a:spcPct val="110000"/>
                  </a:lnSpc>
                </a:pPr>
                <a:r>
                  <a:rPr kumimoji="1" lang="en-US" altLang="zh-TW" dirty="0"/>
                  <a:t>Rule2:</a:t>
                </a:r>
                <a:r>
                  <a:rPr lang="en" altLang="zh-TW" dirty="0"/>
                  <a:t> IF CSC is larger than three, THEN the value of the value of</a:t>
                </a:r>
                <a14:m>
                  <m:oMath xmlns:m="http://schemas.openxmlformats.org/officeDocument/2006/math">
                    <m:r>
                      <a:rPr lang="en-US" altLang="zh-TW" b="0" i="0" dirty="0" smtClean="0">
                        <a:latin typeface="Cambria Math" panose="02040503050406030204" pitchFamily="18" charset="0"/>
                      </a:rPr>
                      <m:t> </m:t>
                    </m:r>
                    <m:r>
                      <a:rPr lang="zh-TW" altLang="en-US" i="1" dirty="0">
                        <a:latin typeface="Cambria Math" panose="02040503050406030204" pitchFamily="18" charset="0"/>
                      </a:rPr>
                      <m:t>𝜂</m:t>
                    </m:r>
                  </m:oMath>
                </a14:m>
                <a:r>
                  <a:rPr lang="en" altLang="zh-TW" dirty="0"/>
                  <a:t> and </a:t>
                </a:r>
                <a:r>
                  <a:rPr lang="el-GR" altLang="zh-TW" dirty="0"/>
                  <a:t>α </a:t>
                </a:r>
                <a:r>
                  <a:rPr lang="en" altLang="zh-TW" dirty="0"/>
                  <a:t>should be decreased regardless the value of RE and CRE. </a:t>
                </a:r>
                <a:endParaRPr kumimoji="1" lang="en-US" altLang="zh-TW" dirty="0"/>
              </a:p>
              <a:p>
                <a:pPr>
                  <a:lnSpc>
                    <a:spcPct val="110000"/>
                  </a:lnSpc>
                </a:pPr>
                <a:endParaRPr kumimoji="1" lang="en-US" altLang="zh-TW" dirty="0"/>
              </a:p>
            </p:txBody>
          </p:sp>
        </mc:Choice>
        <mc:Fallback xmlns="">
          <p:sp>
            <p:nvSpPr>
              <p:cNvPr id="3" name="內容版面配置區 2">
                <a:extLst>
                  <a:ext uri="{FF2B5EF4-FFF2-40B4-BE49-F238E27FC236}">
                    <a16:creationId xmlns:a16="http://schemas.microsoft.com/office/drawing/2014/main" id="{782D2826-19CC-CC4D-8D38-2444CC5C9DC0}"/>
                  </a:ext>
                </a:extLst>
              </p:cNvPr>
              <p:cNvSpPr>
                <a:spLocks noGrp="1" noRot="1" noChangeAspect="1" noMove="1" noResize="1" noEditPoints="1" noAdjustHandles="1" noChangeArrowheads="1" noChangeShapeType="1" noTextEdit="1"/>
              </p:cNvSpPr>
              <p:nvPr>
                <p:ph idx="1"/>
              </p:nvPr>
            </p:nvSpPr>
            <p:spPr>
              <a:blipFill>
                <a:blip r:embed="rId2"/>
                <a:stretch>
                  <a:fillRect l="-844" t="-2339"/>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91CE89BD-00F6-EE4B-AFD1-50B29B8C6B51}"/>
              </a:ext>
            </a:extLst>
          </p:cNvPr>
          <p:cNvSpPr>
            <a:spLocks noGrp="1"/>
          </p:cNvSpPr>
          <p:nvPr>
            <p:ph type="sldNum" sz="quarter" idx="12"/>
          </p:nvPr>
        </p:nvSpPr>
        <p:spPr/>
        <p:txBody>
          <a:bodyPr/>
          <a:lstStyle/>
          <a:p>
            <a:fld id="{37D7E222-40AC-AD4D-BFFA-C06E99EC5475}" type="slidenum">
              <a:rPr kumimoji="1" lang="zh-TW" altLang="en-US" smtClean="0"/>
              <a:t>10</a:t>
            </a:fld>
            <a:endParaRPr kumimoji="1" lang="zh-TW" altLang="en-US"/>
          </a:p>
        </p:txBody>
      </p:sp>
    </p:spTree>
    <p:extLst>
      <p:ext uri="{BB962C8B-B14F-4D97-AF65-F5344CB8AC3E}">
        <p14:creationId xmlns:p14="http://schemas.microsoft.com/office/powerpoint/2010/main" val="300432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Experiment</a:t>
            </a:r>
          </a:p>
        </p:txBody>
      </p:sp>
      <p:pic>
        <p:nvPicPr>
          <p:cNvPr id="5" name="內容版面配置區 4">
            <a:extLst>
              <a:ext uri="{FF2B5EF4-FFF2-40B4-BE49-F238E27FC236}">
                <a16:creationId xmlns:a16="http://schemas.microsoft.com/office/drawing/2014/main" id="{FD4FC9A7-C7F4-B249-92D6-FE7AEF8557E1}"/>
              </a:ext>
            </a:extLst>
          </p:cNvPr>
          <p:cNvPicPr>
            <a:picLocks noGrp="1" noChangeAspect="1"/>
          </p:cNvPicPr>
          <p:nvPr>
            <p:ph idx="1"/>
          </p:nvPr>
        </p:nvPicPr>
        <p:blipFill>
          <a:blip r:embed="rId2"/>
          <a:stretch>
            <a:fillRect/>
          </a:stretch>
        </p:blipFill>
        <p:spPr>
          <a:xfrm>
            <a:off x="2030393" y="2997375"/>
            <a:ext cx="8522494" cy="2627921"/>
          </a:xfrm>
        </p:spPr>
      </p:pic>
      <p:sp>
        <p:nvSpPr>
          <p:cNvPr id="7" name="內容版面配置區 2">
            <a:extLst>
              <a:ext uri="{FF2B5EF4-FFF2-40B4-BE49-F238E27FC236}">
                <a16:creationId xmlns:a16="http://schemas.microsoft.com/office/drawing/2014/main" id="{73D202E9-D3A6-2B47-A66A-52CA6A66FB0B}"/>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 altLang="zh-TW" dirty="0"/>
              <a:t>determine the optimal structure of the deep network</a:t>
            </a:r>
          </a:p>
        </p:txBody>
      </p:sp>
      <p:sp>
        <p:nvSpPr>
          <p:cNvPr id="3" name="投影片編號版面配置區 2">
            <a:extLst>
              <a:ext uri="{FF2B5EF4-FFF2-40B4-BE49-F238E27FC236}">
                <a16:creationId xmlns:a16="http://schemas.microsoft.com/office/drawing/2014/main" id="{1A96492D-41C3-6D4B-8C44-17E2F04EFED7}"/>
              </a:ext>
            </a:extLst>
          </p:cNvPr>
          <p:cNvSpPr>
            <a:spLocks noGrp="1"/>
          </p:cNvSpPr>
          <p:nvPr>
            <p:ph type="sldNum" sz="quarter" idx="12"/>
          </p:nvPr>
        </p:nvSpPr>
        <p:spPr/>
        <p:txBody>
          <a:bodyPr/>
          <a:lstStyle/>
          <a:p>
            <a:fld id="{37D7E222-40AC-AD4D-BFFA-C06E99EC5475}" type="slidenum">
              <a:rPr kumimoji="1" lang="zh-TW" altLang="en-US" smtClean="0"/>
              <a:t>11</a:t>
            </a:fld>
            <a:endParaRPr kumimoji="1" lang="zh-TW" altLang="en-US"/>
          </a:p>
        </p:txBody>
      </p:sp>
    </p:spTree>
    <p:extLst>
      <p:ext uri="{BB962C8B-B14F-4D97-AF65-F5344CB8AC3E}">
        <p14:creationId xmlns:p14="http://schemas.microsoft.com/office/powerpoint/2010/main" val="2805085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Experiment</a:t>
            </a:r>
          </a:p>
        </p:txBody>
      </p:sp>
      <p:pic>
        <p:nvPicPr>
          <p:cNvPr id="9" name="圖片 8">
            <a:extLst>
              <a:ext uri="{FF2B5EF4-FFF2-40B4-BE49-F238E27FC236}">
                <a16:creationId xmlns:a16="http://schemas.microsoft.com/office/drawing/2014/main" id="{A2417A4F-FE9C-CE47-A85A-35AA9F0B94D8}"/>
              </a:ext>
            </a:extLst>
          </p:cNvPr>
          <p:cNvPicPr>
            <a:picLocks noChangeAspect="1"/>
          </p:cNvPicPr>
          <p:nvPr/>
        </p:nvPicPr>
        <p:blipFill>
          <a:blip r:embed="rId2"/>
          <a:stretch>
            <a:fillRect/>
          </a:stretch>
        </p:blipFill>
        <p:spPr>
          <a:xfrm>
            <a:off x="4451913" y="3589835"/>
            <a:ext cx="7246116" cy="2323649"/>
          </a:xfrm>
          <a:prstGeom prst="rect">
            <a:avLst/>
          </a:prstGeom>
        </p:spPr>
      </p:pic>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DECF9ED5-ABEA-DD45-9187-4A0C3C33B13F}"/>
                  </a:ext>
                </a:extLst>
              </p:cNvPr>
              <p:cNvSpPr txBox="1"/>
              <p:nvPr/>
            </p:nvSpPr>
            <p:spPr>
              <a:xfrm>
                <a:off x="1014325" y="1736200"/>
                <a:ext cx="5094343" cy="635687"/>
              </a:xfrm>
              <a:prstGeom prst="rect">
                <a:avLst/>
              </a:prstGeom>
              <a:noFill/>
            </p:spPr>
            <p:txBody>
              <a:bodyPr wrap="none" lIns="0" tIns="0" rIns="0" bIns="0" rtlCol="0">
                <a:spAutoFit/>
              </a:bodyPr>
              <a:lstStyle/>
              <a:p>
                <a14:m>
                  <m:oMath xmlns:m="http://schemas.openxmlformats.org/officeDocument/2006/math">
                    <m:r>
                      <a:rPr kumimoji="1" lang="en-US" altLang="zh-TW" sz="2600">
                        <a:latin typeface="Cambria Math" panose="02040503050406030204" pitchFamily="18" charset="0"/>
                      </a:rPr>
                      <m:t>𝐷𝑅</m:t>
                    </m:r>
                    <m:r>
                      <a:rPr kumimoji="1" lang="en-US" altLang="zh-TW" sz="2600">
                        <a:latin typeface="Cambria Math" panose="02040503050406030204" pitchFamily="18" charset="0"/>
                      </a:rPr>
                      <m:t>= </m:t>
                    </m:r>
                    <m:f>
                      <m:fPr>
                        <m:ctrlPr>
                          <a:rPr kumimoji="1" lang="en-US" altLang="zh-TW" sz="2600" i="1">
                            <a:latin typeface="Cambria Math" panose="02040503050406030204" pitchFamily="18" charset="0"/>
                          </a:rPr>
                        </m:ctrlPr>
                      </m:fPr>
                      <m:num>
                        <m:r>
                          <a:rPr kumimoji="1" lang="en-US" altLang="zh-TW" sz="2600">
                            <a:latin typeface="Cambria Math" panose="02040503050406030204" pitchFamily="18" charset="0"/>
                          </a:rPr>
                          <m:t>𝑛𝑢𝑚𝑏𝑒𝑟</m:t>
                        </m:r>
                        <m:r>
                          <a:rPr kumimoji="1" lang="en-US" altLang="zh-TW" sz="2600">
                            <a:latin typeface="Cambria Math" panose="02040503050406030204" pitchFamily="18" charset="0"/>
                          </a:rPr>
                          <m:t> </m:t>
                        </m:r>
                        <m:r>
                          <a:rPr kumimoji="1" lang="en-US" altLang="zh-TW" sz="2600">
                            <a:latin typeface="Cambria Math" panose="02040503050406030204" pitchFamily="18" charset="0"/>
                          </a:rPr>
                          <m:t>𝑜𝑓</m:t>
                        </m:r>
                        <m:r>
                          <a:rPr kumimoji="1" lang="en-US" altLang="zh-TW" sz="2600">
                            <a:latin typeface="Cambria Math" panose="02040503050406030204" pitchFamily="18" charset="0"/>
                          </a:rPr>
                          <m:t> </m:t>
                        </m:r>
                        <m:r>
                          <a:rPr kumimoji="1" lang="en-US" altLang="zh-TW" sz="2600">
                            <a:latin typeface="Cambria Math" panose="02040503050406030204" pitchFamily="18" charset="0"/>
                          </a:rPr>
                          <m:t>𝑖𝑛𝑐𝑖𝑑𝑒𝑛𝑡</m:t>
                        </m:r>
                        <m:r>
                          <a:rPr kumimoji="1" lang="en-US" altLang="zh-TW" sz="2600">
                            <a:latin typeface="Cambria Math" panose="02040503050406030204" pitchFamily="18" charset="0"/>
                          </a:rPr>
                          <m:t> </m:t>
                        </m:r>
                        <m:r>
                          <a:rPr kumimoji="1" lang="en-US" altLang="zh-TW" sz="2600">
                            <a:latin typeface="Cambria Math" panose="02040503050406030204" pitchFamily="18" charset="0"/>
                          </a:rPr>
                          <m:t>𝑑𝑒𝑡𝑒𝑐𝑡𝑒𝑑</m:t>
                        </m:r>
                      </m:num>
                      <m:den>
                        <m:r>
                          <a:rPr kumimoji="1" lang="en-US" altLang="zh-TW" sz="2600">
                            <a:latin typeface="Cambria Math" panose="02040503050406030204" pitchFamily="18" charset="0"/>
                          </a:rPr>
                          <m:t>𝑡𝑜𝑡𝑎𝑙</m:t>
                        </m:r>
                        <m:r>
                          <a:rPr kumimoji="1" lang="en-US" altLang="zh-TW" sz="2600">
                            <a:latin typeface="Cambria Math" panose="02040503050406030204" pitchFamily="18" charset="0"/>
                          </a:rPr>
                          <m:t> </m:t>
                        </m:r>
                        <m:r>
                          <a:rPr kumimoji="1" lang="en-US" altLang="zh-TW" sz="2600">
                            <a:latin typeface="Cambria Math" panose="02040503050406030204" pitchFamily="18" charset="0"/>
                          </a:rPr>
                          <m:t>𝑛𝑢𝑚𝑏𝑒𝑟</m:t>
                        </m:r>
                        <m:r>
                          <a:rPr kumimoji="1" lang="en-US" altLang="zh-TW" sz="2600">
                            <a:latin typeface="Cambria Math" panose="02040503050406030204" pitchFamily="18" charset="0"/>
                          </a:rPr>
                          <m:t> </m:t>
                        </m:r>
                        <m:r>
                          <a:rPr kumimoji="1" lang="en-US" altLang="zh-TW" sz="2600">
                            <a:latin typeface="Cambria Math" panose="02040503050406030204" pitchFamily="18" charset="0"/>
                          </a:rPr>
                          <m:t>𝑜𝑓</m:t>
                        </m:r>
                        <m:r>
                          <a:rPr kumimoji="1" lang="en-US" altLang="zh-TW" sz="2600">
                            <a:latin typeface="Cambria Math" panose="02040503050406030204" pitchFamily="18" charset="0"/>
                          </a:rPr>
                          <m:t> </m:t>
                        </m:r>
                        <m:r>
                          <a:rPr kumimoji="1" lang="en-US" altLang="zh-TW" sz="2600">
                            <a:latin typeface="Cambria Math" panose="02040503050406030204" pitchFamily="18" charset="0"/>
                          </a:rPr>
                          <m:t>𝑖𝑛𝑐𝑖𝑑𝑒𝑛𝑡</m:t>
                        </m:r>
                        <m:r>
                          <a:rPr kumimoji="1" lang="en-US" altLang="zh-TW" sz="2600">
                            <a:latin typeface="Cambria Math" panose="02040503050406030204" pitchFamily="18" charset="0"/>
                          </a:rPr>
                          <m:t> </m:t>
                        </m:r>
                        <m:r>
                          <a:rPr kumimoji="1" lang="en-US" altLang="zh-TW" sz="2600">
                            <a:latin typeface="Cambria Math" panose="02040503050406030204" pitchFamily="18" charset="0"/>
                          </a:rPr>
                          <m:t>𝑐𝑎𝑠𝑒𝑠</m:t>
                        </m:r>
                      </m:den>
                    </m:f>
                  </m:oMath>
                </a14:m>
                <a:r>
                  <a:rPr kumimoji="1" lang="en-US" altLang="zh-TW" sz="2600" dirty="0"/>
                  <a:t> *100</a:t>
                </a:r>
                <a:endParaRPr kumimoji="1" lang="zh-TW" altLang="en-US" sz="2600" dirty="0"/>
              </a:p>
            </p:txBody>
          </p:sp>
        </mc:Choice>
        <mc:Fallback xmlns="">
          <p:sp>
            <p:nvSpPr>
              <p:cNvPr id="10" name="文字方塊 9">
                <a:extLst>
                  <a:ext uri="{FF2B5EF4-FFF2-40B4-BE49-F238E27FC236}">
                    <a16:creationId xmlns:a16="http://schemas.microsoft.com/office/drawing/2014/main" id="{DECF9ED5-ABEA-DD45-9187-4A0C3C33B13F}"/>
                  </a:ext>
                </a:extLst>
              </p:cNvPr>
              <p:cNvSpPr txBox="1">
                <a:spLocks noRot="1" noChangeAspect="1" noMove="1" noResize="1" noEditPoints="1" noAdjustHandles="1" noChangeArrowheads="1" noChangeShapeType="1" noTextEdit="1"/>
              </p:cNvSpPr>
              <p:nvPr/>
            </p:nvSpPr>
            <p:spPr>
              <a:xfrm>
                <a:off x="1014325" y="1736200"/>
                <a:ext cx="5094343" cy="635687"/>
              </a:xfrm>
              <a:prstGeom prst="rect">
                <a:avLst/>
              </a:prstGeom>
              <a:blipFill>
                <a:blip r:embed="rId3"/>
                <a:stretch>
                  <a:fillRect l="-1990" t="-5882" r="-2736" b="-156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89F04F9B-26B4-9D48-84B1-5DD5685E6CED}"/>
                  </a:ext>
                </a:extLst>
              </p:cNvPr>
              <p:cNvSpPr txBox="1"/>
              <p:nvPr/>
            </p:nvSpPr>
            <p:spPr>
              <a:xfrm>
                <a:off x="1014325" y="2518523"/>
                <a:ext cx="6237157" cy="635687"/>
              </a:xfrm>
              <a:prstGeom prst="rect">
                <a:avLst/>
              </a:prstGeom>
              <a:noFill/>
            </p:spPr>
            <p:txBody>
              <a:bodyPr wrap="none" lIns="0" tIns="0" rIns="0" bIns="0" rtlCol="0">
                <a:spAutoFit/>
              </a:bodyPr>
              <a:lstStyle/>
              <a:p>
                <a:r>
                  <a:rPr kumimoji="1" lang="en-US" altLang="zh-TW" sz="2600" dirty="0"/>
                  <a:t>FA</a:t>
                </a:r>
                <a14:m>
                  <m:oMath xmlns:m="http://schemas.openxmlformats.org/officeDocument/2006/math">
                    <m:r>
                      <a:rPr kumimoji="1" lang="en-US" altLang="zh-TW" sz="2600">
                        <a:latin typeface="Cambria Math" panose="02040503050406030204" pitchFamily="18" charset="0"/>
                      </a:rPr>
                      <m:t>𝑅</m:t>
                    </m:r>
                    <m:r>
                      <a:rPr kumimoji="1" lang="en-US" altLang="zh-TW" sz="2600">
                        <a:latin typeface="Cambria Math" panose="02040503050406030204" pitchFamily="18" charset="0"/>
                      </a:rPr>
                      <m:t>= </m:t>
                    </m:r>
                    <m:f>
                      <m:fPr>
                        <m:ctrlPr>
                          <a:rPr kumimoji="1" lang="en-US" altLang="zh-TW" sz="2600" i="1">
                            <a:latin typeface="Cambria Math" panose="02040503050406030204" pitchFamily="18" charset="0"/>
                          </a:rPr>
                        </m:ctrlPr>
                      </m:fPr>
                      <m:num>
                        <m:r>
                          <a:rPr kumimoji="1" lang="en-US" altLang="zh-TW" sz="2600">
                            <a:latin typeface="Cambria Math" panose="02040503050406030204" pitchFamily="18" charset="0"/>
                          </a:rPr>
                          <m:t>𝑛𝑢𝑚𝑏𝑒𝑟</m:t>
                        </m:r>
                        <m:r>
                          <a:rPr kumimoji="1" lang="en-US" altLang="zh-TW" sz="2600">
                            <a:latin typeface="Cambria Math" panose="02040503050406030204" pitchFamily="18" charset="0"/>
                          </a:rPr>
                          <m:t> </m:t>
                        </m:r>
                        <m:r>
                          <a:rPr kumimoji="1" lang="en-US" altLang="zh-TW" sz="2600">
                            <a:latin typeface="Cambria Math" panose="02040503050406030204" pitchFamily="18" charset="0"/>
                          </a:rPr>
                          <m:t>𝑜𝑓</m:t>
                        </m:r>
                        <m:r>
                          <a:rPr kumimoji="1" lang="en-US" altLang="zh-TW" sz="2600">
                            <a:latin typeface="Cambria Math" panose="02040503050406030204" pitchFamily="18" charset="0"/>
                          </a:rPr>
                          <m:t> </m:t>
                        </m:r>
                        <m:r>
                          <a:rPr kumimoji="1" lang="en-US" altLang="zh-TW" sz="2600">
                            <a:latin typeface="Cambria Math" panose="02040503050406030204" pitchFamily="18" charset="0"/>
                          </a:rPr>
                          <m:t>𝑓𝑎𝑙𝑠𝑒</m:t>
                        </m:r>
                        <m:r>
                          <a:rPr kumimoji="1" lang="en-US" altLang="zh-TW" sz="2600">
                            <a:latin typeface="Cambria Math" panose="02040503050406030204" pitchFamily="18" charset="0"/>
                          </a:rPr>
                          <m:t> </m:t>
                        </m:r>
                        <m:r>
                          <a:rPr kumimoji="1" lang="en-US" altLang="zh-TW" sz="2600">
                            <a:latin typeface="Cambria Math" panose="02040503050406030204" pitchFamily="18" charset="0"/>
                          </a:rPr>
                          <m:t>𝑎𝑙𝑎𝑟𝑚</m:t>
                        </m:r>
                        <m:r>
                          <a:rPr kumimoji="1" lang="en-US" altLang="zh-TW" sz="2600">
                            <a:latin typeface="Cambria Math" panose="02040503050406030204" pitchFamily="18" charset="0"/>
                          </a:rPr>
                          <m:t> </m:t>
                        </m:r>
                        <m:r>
                          <a:rPr kumimoji="1" lang="en-US" altLang="zh-TW" sz="2600">
                            <a:latin typeface="Cambria Math" panose="02040503050406030204" pitchFamily="18" charset="0"/>
                          </a:rPr>
                          <m:t>𝑐𝑎𝑠𝑒𝑠</m:t>
                        </m:r>
                      </m:num>
                      <m:den>
                        <m:r>
                          <a:rPr kumimoji="1" lang="en-US" altLang="zh-TW" sz="2600">
                            <a:latin typeface="Cambria Math" panose="02040503050406030204" pitchFamily="18" charset="0"/>
                          </a:rPr>
                          <m:t>𝑡𝑜𝑡𝑎𝑙</m:t>
                        </m:r>
                        <m:r>
                          <a:rPr kumimoji="1" lang="en-US" altLang="zh-TW" sz="2600">
                            <a:latin typeface="Cambria Math" panose="02040503050406030204" pitchFamily="18" charset="0"/>
                          </a:rPr>
                          <m:t> </m:t>
                        </m:r>
                        <m:r>
                          <a:rPr kumimoji="1" lang="en-US" altLang="zh-TW" sz="2600">
                            <a:latin typeface="Cambria Math" panose="02040503050406030204" pitchFamily="18" charset="0"/>
                          </a:rPr>
                          <m:t>𝑛𝑢𝑚𝑏𝑒𝑟</m:t>
                        </m:r>
                        <m:r>
                          <a:rPr kumimoji="1" lang="en-US" altLang="zh-TW" sz="2600">
                            <a:latin typeface="Cambria Math" panose="02040503050406030204" pitchFamily="18" charset="0"/>
                          </a:rPr>
                          <m:t> </m:t>
                        </m:r>
                        <m:r>
                          <a:rPr kumimoji="1" lang="en-US" altLang="zh-TW" sz="2600">
                            <a:latin typeface="Cambria Math" panose="02040503050406030204" pitchFamily="18" charset="0"/>
                          </a:rPr>
                          <m:t>𝑜𝑓</m:t>
                        </m:r>
                        <m:r>
                          <a:rPr kumimoji="1" lang="en-US" altLang="zh-TW" sz="2600">
                            <a:latin typeface="Cambria Math" panose="02040503050406030204" pitchFamily="18" charset="0"/>
                          </a:rPr>
                          <m:t> </m:t>
                        </m:r>
                        <m:r>
                          <a:rPr kumimoji="1" lang="en-US" altLang="zh-TW" sz="2600">
                            <a:latin typeface="Cambria Math" panose="02040503050406030204" pitchFamily="18" charset="0"/>
                          </a:rPr>
                          <m:t>𝑛𝑜𝑛</m:t>
                        </m:r>
                        <m:r>
                          <a:rPr kumimoji="1" lang="en-US" altLang="zh-TW" sz="2600">
                            <a:latin typeface="Cambria Math" panose="02040503050406030204" pitchFamily="18" charset="0"/>
                          </a:rPr>
                          <m:t>−</m:t>
                        </m:r>
                        <m:r>
                          <a:rPr kumimoji="1" lang="en-US" altLang="zh-TW" sz="2600">
                            <a:latin typeface="Cambria Math" panose="02040503050406030204" pitchFamily="18" charset="0"/>
                          </a:rPr>
                          <m:t>𝑖𝑛𝑐𝑖𝑑𝑒𝑛𝑡</m:t>
                        </m:r>
                        <m:r>
                          <a:rPr kumimoji="1" lang="en-US" altLang="zh-TW" sz="2600">
                            <a:latin typeface="Cambria Math" panose="02040503050406030204" pitchFamily="18" charset="0"/>
                          </a:rPr>
                          <m:t> </m:t>
                        </m:r>
                        <m:r>
                          <a:rPr kumimoji="1" lang="en-US" altLang="zh-TW" sz="2600">
                            <a:latin typeface="Cambria Math" panose="02040503050406030204" pitchFamily="18" charset="0"/>
                          </a:rPr>
                          <m:t>𝑖𝑛𝑠𝑡𝑎𝑛𝑐𝑒𝑠</m:t>
                        </m:r>
                      </m:den>
                    </m:f>
                  </m:oMath>
                </a14:m>
                <a:r>
                  <a:rPr kumimoji="1" lang="en-US" altLang="zh-TW" sz="2600" dirty="0"/>
                  <a:t> *100</a:t>
                </a:r>
                <a:endParaRPr kumimoji="1" lang="zh-TW" altLang="en-US" sz="2600" dirty="0"/>
              </a:p>
            </p:txBody>
          </p:sp>
        </mc:Choice>
        <mc:Fallback xmlns="">
          <p:sp>
            <p:nvSpPr>
              <p:cNvPr id="11" name="文字方塊 10">
                <a:extLst>
                  <a:ext uri="{FF2B5EF4-FFF2-40B4-BE49-F238E27FC236}">
                    <a16:creationId xmlns:a16="http://schemas.microsoft.com/office/drawing/2014/main" id="{89F04F9B-26B4-9D48-84B1-5DD5685E6CED}"/>
                  </a:ext>
                </a:extLst>
              </p:cNvPr>
              <p:cNvSpPr txBox="1">
                <a:spLocks noRot="1" noChangeAspect="1" noMove="1" noResize="1" noEditPoints="1" noAdjustHandles="1" noChangeArrowheads="1" noChangeShapeType="1" noTextEdit="1"/>
              </p:cNvSpPr>
              <p:nvPr/>
            </p:nvSpPr>
            <p:spPr>
              <a:xfrm>
                <a:off x="1014325" y="2518523"/>
                <a:ext cx="6237157" cy="635687"/>
              </a:xfrm>
              <a:prstGeom prst="rect">
                <a:avLst/>
              </a:prstGeom>
              <a:blipFill>
                <a:blip r:embed="rId4"/>
                <a:stretch>
                  <a:fillRect l="-3049" t="-3922" r="-2033" b="-176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EC4973DF-6EA0-3F4A-8059-FFE9DD4FEC58}"/>
                  </a:ext>
                </a:extLst>
              </p:cNvPr>
              <p:cNvSpPr txBox="1"/>
              <p:nvPr/>
            </p:nvSpPr>
            <p:spPr>
              <a:xfrm>
                <a:off x="1014325" y="3300846"/>
                <a:ext cx="2965748" cy="577979"/>
              </a:xfrm>
              <a:prstGeom prst="rect">
                <a:avLst/>
              </a:prstGeom>
              <a:noFill/>
            </p:spPr>
            <p:txBody>
              <a:bodyPr wrap="none" lIns="0" tIns="0" rIns="0" bIns="0" rtlCol="0">
                <a:spAutoFit/>
              </a:bodyPr>
              <a:lstStyle/>
              <a:p>
                <a14:m>
                  <m:oMath xmlns:m="http://schemas.openxmlformats.org/officeDocument/2006/math">
                    <m:r>
                      <m:rPr>
                        <m:sty m:val="p"/>
                      </m:rPr>
                      <a:rPr kumimoji="1" lang="en-US" altLang="zh-TW" sz="2600">
                        <a:latin typeface="Cambria Math" panose="02040503050406030204" pitchFamily="18" charset="0"/>
                      </a:rPr>
                      <m:t>MTTD</m:t>
                    </m:r>
                    <m:r>
                      <a:rPr kumimoji="1" lang="en-US" altLang="zh-TW" sz="2600">
                        <a:latin typeface="Cambria Math" panose="02040503050406030204" pitchFamily="18" charset="0"/>
                      </a:rPr>
                      <m:t>= </m:t>
                    </m:r>
                    <m:f>
                      <m:fPr>
                        <m:ctrlPr>
                          <a:rPr kumimoji="1" lang="en-US" altLang="zh-TW" sz="2600" i="1">
                            <a:latin typeface="Cambria Math" panose="02040503050406030204" pitchFamily="18" charset="0"/>
                          </a:rPr>
                        </m:ctrlPr>
                      </m:fPr>
                      <m:num>
                        <m:r>
                          <a:rPr kumimoji="1" lang="en-US" altLang="zh-TW" sz="2600">
                            <a:latin typeface="Cambria Math" panose="02040503050406030204" pitchFamily="18" charset="0"/>
                          </a:rPr>
                          <m:t>𝑡</m:t>
                        </m:r>
                        <m:r>
                          <a:rPr kumimoji="1" lang="en-US" altLang="zh-TW" sz="2600">
                            <a:latin typeface="Cambria Math" panose="02040503050406030204" pitchFamily="18" charset="0"/>
                          </a:rPr>
                          <m:t>1+</m:t>
                        </m:r>
                        <m:r>
                          <a:rPr kumimoji="1" lang="en-US" altLang="zh-TW" sz="2600">
                            <a:latin typeface="Cambria Math" panose="02040503050406030204" pitchFamily="18" charset="0"/>
                          </a:rPr>
                          <m:t>𝑡</m:t>
                        </m:r>
                        <m:r>
                          <a:rPr kumimoji="1" lang="en-US" altLang="zh-TW" sz="2600">
                            <a:latin typeface="Cambria Math" panose="02040503050406030204" pitchFamily="18" charset="0"/>
                          </a:rPr>
                          <m:t>2+…+</m:t>
                        </m:r>
                        <m:r>
                          <a:rPr kumimoji="1" lang="en-US" altLang="zh-TW" sz="2600">
                            <a:latin typeface="Cambria Math" panose="02040503050406030204" pitchFamily="18" charset="0"/>
                          </a:rPr>
                          <m:t>𝑡𝑚</m:t>
                        </m:r>
                      </m:num>
                      <m:den>
                        <m:r>
                          <a:rPr kumimoji="1" lang="en-US" altLang="zh-TW" sz="2600">
                            <a:latin typeface="Cambria Math" panose="02040503050406030204" pitchFamily="18" charset="0"/>
                          </a:rPr>
                          <m:t>𝑚</m:t>
                        </m:r>
                      </m:den>
                    </m:f>
                  </m:oMath>
                </a14:m>
                <a:r>
                  <a:rPr kumimoji="1" lang="en-US" altLang="zh-TW" dirty="0"/>
                  <a:t> </a:t>
                </a:r>
                <a:endParaRPr kumimoji="1" lang="zh-TW" altLang="en-US" dirty="0"/>
              </a:p>
            </p:txBody>
          </p:sp>
        </mc:Choice>
        <mc:Fallback xmlns="">
          <p:sp>
            <p:nvSpPr>
              <p:cNvPr id="12" name="文字方塊 11">
                <a:extLst>
                  <a:ext uri="{FF2B5EF4-FFF2-40B4-BE49-F238E27FC236}">
                    <a16:creationId xmlns:a16="http://schemas.microsoft.com/office/drawing/2014/main" id="{EC4973DF-6EA0-3F4A-8059-FFE9DD4FEC58}"/>
                  </a:ext>
                </a:extLst>
              </p:cNvPr>
              <p:cNvSpPr txBox="1">
                <a:spLocks noRot="1" noChangeAspect="1" noMove="1" noResize="1" noEditPoints="1" noAdjustHandles="1" noChangeArrowheads="1" noChangeShapeType="1" noTextEdit="1"/>
              </p:cNvSpPr>
              <p:nvPr/>
            </p:nvSpPr>
            <p:spPr>
              <a:xfrm>
                <a:off x="1014325" y="3300846"/>
                <a:ext cx="2965748" cy="577979"/>
              </a:xfrm>
              <a:prstGeom prst="rect">
                <a:avLst/>
              </a:prstGeom>
              <a:blipFill>
                <a:blip r:embed="rId5"/>
                <a:stretch>
                  <a:fillRect l="-3419" b="-13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BFF3D277-FD0A-E346-9461-4C55F5272095}"/>
                  </a:ext>
                </a:extLst>
              </p:cNvPr>
              <p:cNvSpPr txBox="1"/>
              <p:nvPr/>
            </p:nvSpPr>
            <p:spPr>
              <a:xfrm>
                <a:off x="1014325" y="4025460"/>
                <a:ext cx="2609625" cy="580928"/>
              </a:xfrm>
              <a:prstGeom prst="rect">
                <a:avLst/>
              </a:prstGeom>
              <a:noFill/>
            </p:spPr>
            <p:txBody>
              <a:bodyPr wrap="none" lIns="0" tIns="0" rIns="0" bIns="0" rtlCol="0">
                <a:spAutoFit/>
              </a:bodyPr>
              <a:lstStyle/>
              <a:p>
                <a14:m>
                  <m:oMath xmlns:m="http://schemas.openxmlformats.org/officeDocument/2006/math">
                    <m:r>
                      <m:rPr>
                        <m:sty m:val="p"/>
                      </m:rPr>
                      <a:rPr kumimoji="1" lang="en-US" altLang="zh-TW" sz="2600">
                        <a:latin typeface="Cambria Math" panose="02040503050406030204" pitchFamily="18" charset="0"/>
                      </a:rPr>
                      <m:t>CR</m:t>
                    </m:r>
                    <m:r>
                      <a:rPr kumimoji="1" lang="en-US" altLang="zh-TW" sz="2600">
                        <a:latin typeface="Cambria Math" panose="02040503050406030204" pitchFamily="18" charset="0"/>
                      </a:rPr>
                      <m:t>= </m:t>
                    </m:r>
                    <m:f>
                      <m:fPr>
                        <m:ctrlPr>
                          <a:rPr kumimoji="1" lang="en-US" altLang="zh-TW" sz="2600" i="1">
                            <a:latin typeface="Cambria Math" panose="02040503050406030204" pitchFamily="18" charset="0"/>
                          </a:rPr>
                        </m:ctrlPr>
                      </m:fPr>
                      <m:num>
                        <m:r>
                          <a:rPr kumimoji="1" lang="en-US" altLang="zh-TW" sz="2600">
                            <a:latin typeface="Cambria Math" panose="02040503050406030204" pitchFamily="18" charset="0"/>
                          </a:rPr>
                          <m:t>𝑇𝑃</m:t>
                        </m:r>
                        <m:r>
                          <a:rPr kumimoji="1" lang="en-US" altLang="zh-TW" sz="2600">
                            <a:latin typeface="Cambria Math" panose="02040503050406030204" pitchFamily="18" charset="0"/>
                          </a:rPr>
                          <m:t>+</m:t>
                        </m:r>
                        <m:r>
                          <a:rPr kumimoji="1" lang="en-US" altLang="zh-TW" sz="2600">
                            <a:latin typeface="Cambria Math" panose="02040503050406030204" pitchFamily="18" charset="0"/>
                          </a:rPr>
                          <m:t>𝑇𝑁</m:t>
                        </m:r>
                      </m:num>
                      <m:den>
                        <m:r>
                          <a:rPr kumimoji="1" lang="en-US" altLang="zh-TW" sz="2600">
                            <a:latin typeface="Cambria Math" panose="02040503050406030204" pitchFamily="18" charset="0"/>
                          </a:rPr>
                          <m:t>𝑃</m:t>
                        </m:r>
                        <m:r>
                          <a:rPr kumimoji="1" lang="en-US" altLang="zh-TW" sz="2600">
                            <a:latin typeface="Cambria Math" panose="02040503050406030204" pitchFamily="18" charset="0"/>
                          </a:rPr>
                          <m:t>+</m:t>
                        </m:r>
                        <m:r>
                          <a:rPr kumimoji="1" lang="en-US" altLang="zh-TW" sz="2600">
                            <a:latin typeface="Cambria Math" panose="02040503050406030204" pitchFamily="18" charset="0"/>
                          </a:rPr>
                          <m:t>𝑁</m:t>
                        </m:r>
                      </m:den>
                    </m:f>
                  </m:oMath>
                </a14:m>
                <a:r>
                  <a:rPr kumimoji="1" lang="en-US" altLang="zh-TW" sz="2600" dirty="0"/>
                  <a:t> * 100 </a:t>
                </a:r>
                <a:endParaRPr kumimoji="1" lang="zh-TW" altLang="en-US" sz="2600" dirty="0"/>
              </a:p>
            </p:txBody>
          </p:sp>
        </mc:Choice>
        <mc:Fallback xmlns="">
          <p:sp>
            <p:nvSpPr>
              <p:cNvPr id="13" name="文字方塊 12">
                <a:extLst>
                  <a:ext uri="{FF2B5EF4-FFF2-40B4-BE49-F238E27FC236}">
                    <a16:creationId xmlns:a16="http://schemas.microsoft.com/office/drawing/2014/main" id="{BFF3D277-FD0A-E346-9461-4C55F5272095}"/>
                  </a:ext>
                </a:extLst>
              </p:cNvPr>
              <p:cNvSpPr txBox="1">
                <a:spLocks noRot="1" noChangeAspect="1" noMove="1" noResize="1" noEditPoints="1" noAdjustHandles="1" noChangeArrowheads="1" noChangeShapeType="1" noTextEdit="1"/>
              </p:cNvSpPr>
              <p:nvPr/>
            </p:nvSpPr>
            <p:spPr>
              <a:xfrm>
                <a:off x="1014325" y="4025460"/>
                <a:ext cx="2609625" cy="580928"/>
              </a:xfrm>
              <a:prstGeom prst="rect">
                <a:avLst/>
              </a:prstGeom>
              <a:blipFill>
                <a:blip r:embed="rId6"/>
                <a:stretch>
                  <a:fillRect l="-4369" r="-6796" b="-17021"/>
                </a:stretch>
              </a:blipFill>
            </p:spPr>
            <p:txBody>
              <a:bodyPr/>
              <a:lstStyle/>
              <a:p>
                <a:r>
                  <a:rPr lang="zh-TW" altLang="en-US">
                    <a:noFill/>
                  </a:rPr>
                  <a:t> </a:t>
                </a:r>
              </a:p>
            </p:txBody>
          </p:sp>
        </mc:Fallback>
      </mc:AlternateContent>
      <p:sp>
        <p:nvSpPr>
          <p:cNvPr id="3" name="投影片編號版面配置區 2">
            <a:extLst>
              <a:ext uri="{FF2B5EF4-FFF2-40B4-BE49-F238E27FC236}">
                <a16:creationId xmlns:a16="http://schemas.microsoft.com/office/drawing/2014/main" id="{2CC88C42-BFDC-5345-B820-79ECF2A5A156}"/>
              </a:ext>
            </a:extLst>
          </p:cNvPr>
          <p:cNvSpPr>
            <a:spLocks noGrp="1"/>
          </p:cNvSpPr>
          <p:nvPr>
            <p:ph type="sldNum" sz="quarter" idx="12"/>
          </p:nvPr>
        </p:nvSpPr>
        <p:spPr/>
        <p:txBody>
          <a:bodyPr/>
          <a:lstStyle/>
          <a:p>
            <a:fld id="{37D7E222-40AC-AD4D-BFFA-C06E99EC5475}" type="slidenum">
              <a:rPr kumimoji="1" lang="zh-TW" altLang="en-US" smtClean="0"/>
              <a:t>12</a:t>
            </a:fld>
            <a:endParaRPr kumimoji="1" lang="zh-TW" altLang="en-US"/>
          </a:p>
        </p:txBody>
      </p:sp>
    </p:spTree>
    <p:extLst>
      <p:ext uri="{BB962C8B-B14F-4D97-AF65-F5344CB8AC3E}">
        <p14:creationId xmlns:p14="http://schemas.microsoft.com/office/powerpoint/2010/main" val="77431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Experiment</a:t>
            </a:r>
          </a:p>
        </p:txBody>
      </p:sp>
      <p:pic>
        <p:nvPicPr>
          <p:cNvPr id="5" name="內容版面配置區 4">
            <a:extLst>
              <a:ext uri="{FF2B5EF4-FFF2-40B4-BE49-F238E27FC236}">
                <a16:creationId xmlns:a16="http://schemas.microsoft.com/office/drawing/2014/main" id="{98F54059-D08C-FD4D-9FCD-CC2921F77FE6}"/>
              </a:ext>
            </a:extLst>
          </p:cNvPr>
          <p:cNvPicPr>
            <a:picLocks noGrp="1" noChangeAspect="1"/>
          </p:cNvPicPr>
          <p:nvPr>
            <p:ph idx="1"/>
          </p:nvPr>
        </p:nvPicPr>
        <p:blipFill>
          <a:blip r:embed="rId2"/>
          <a:stretch>
            <a:fillRect/>
          </a:stretch>
        </p:blipFill>
        <p:spPr>
          <a:xfrm>
            <a:off x="6096000" y="3546183"/>
            <a:ext cx="6032500" cy="1651000"/>
          </a:xfrm>
        </p:spPr>
      </p:pic>
      <p:pic>
        <p:nvPicPr>
          <p:cNvPr id="7" name="圖片 6">
            <a:extLst>
              <a:ext uri="{FF2B5EF4-FFF2-40B4-BE49-F238E27FC236}">
                <a16:creationId xmlns:a16="http://schemas.microsoft.com/office/drawing/2014/main" id="{16581B74-B5B8-B846-8CFD-7E655EEF004A}"/>
              </a:ext>
            </a:extLst>
          </p:cNvPr>
          <p:cNvPicPr>
            <a:picLocks noChangeAspect="1"/>
          </p:cNvPicPr>
          <p:nvPr/>
        </p:nvPicPr>
        <p:blipFill>
          <a:blip r:embed="rId3"/>
          <a:stretch>
            <a:fillRect/>
          </a:stretch>
        </p:blipFill>
        <p:spPr>
          <a:xfrm>
            <a:off x="203200" y="2212453"/>
            <a:ext cx="5892800" cy="4076700"/>
          </a:xfrm>
          <a:prstGeom prst="rect">
            <a:avLst/>
          </a:prstGeom>
        </p:spPr>
      </p:pic>
      <p:sp>
        <p:nvSpPr>
          <p:cNvPr id="3" name="投影片編號版面配置區 2">
            <a:extLst>
              <a:ext uri="{FF2B5EF4-FFF2-40B4-BE49-F238E27FC236}">
                <a16:creationId xmlns:a16="http://schemas.microsoft.com/office/drawing/2014/main" id="{BB64A693-F6E4-9942-87C6-58A259A56F34}"/>
              </a:ext>
            </a:extLst>
          </p:cNvPr>
          <p:cNvSpPr>
            <a:spLocks noGrp="1"/>
          </p:cNvSpPr>
          <p:nvPr>
            <p:ph type="sldNum" sz="quarter" idx="12"/>
          </p:nvPr>
        </p:nvSpPr>
        <p:spPr/>
        <p:txBody>
          <a:bodyPr/>
          <a:lstStyle/>
          <a:p>
            <a:fld id="{37D7E222-40AC-AD4D-BFFA-C06E99EC5475}" type="slidenum">
              <a:rPr kumimoji="1" lang="zh-TW" altLang="en-US" smtClean="0"/>
              <a:t>13</a:t>
            </a:fld>
            <a:endParaRPr kumimoji="1" lang="zh-TW" altLang="en-US"/>
          </a:p>
        </p:txBody>
      </p:sp>
    </p:spTree>
    <p:extLst>
      <p:ext uri="{BB962C8B-B14F-4D97-AF65-F5344CB8AC3E}">
        <p14:creationId xmlns:p14="http://schemas.microsoft.com/office/powerpoint/2010/main" val="2088647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9368CD-8701-1845-A2D9-F9F5EDEB1A7C}"/>
              </a:ext>
            </a:extLst>
          </p:cNvPr>
          <p:cNvSpPr>
            <a:spLocks noGrp="1"/>
          </p:cNvSpPr>
          <p:nvPr>
            <p:ph type="title"/>
          </p:nvPr>
        </p:nvSpPr>
        <p:spPr>
          <a:xfrm>
            <a:off x="838199" y="365125"/>
            <a:ext cx="10956403" cy="1325563"/>
          </a:xfrm>
        </p:spPr>
        <p:txBody>
          <a:bodyPr/>
          <a:lstStyle/>
          <a:p>
            <a:r>
              <a:rPr kumimoji="1" lang="en-US" altLang="zh-TW" dirty="0">
                <a:latin typeface="Times New Roman" panose="02020603050405020304" pitchFamily="18" charset="0"/>
                <a:cs typeface="Times New Roman" panose="02020603050405020304" pitchFamily="18" charset="0"/>
              </a:rPr>
              <a:t>Conclusion</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82D2826-19CC-CC4D-8D38-2444CC5C9DC0}"/>
              </a:ext>
            </a:extLst>
          </p:cNvPr>
          <p:cNvSpPr>
            <a:spLocks noGrp="1"/>
          </p:cNvSpPr>
          <p:nvPr>
            <p:ph idx="1"/>
          </p:nvPr>
        </p:nvSpPr>
        <p:spPr/>
        <p:txBody>
          <a:bodyPr>
            <a:normAutofit/>
          </a:bodyPr>
          <a:lstStyle/>
          <a:p>
            <a:pPr>
              <a:lnSpc>
                <a:spcPct val="110000"/>
              </a:lnSpc>
            </a:pPr>
            <a:r>
              <a:rPr kumimoji="1" lang="en-US" altLang="zh-TW" dirty="0"/>
              <a:t>unsupervised learning algorithm to pre-train the deep network</a:t>
            </a:r>
          </a:p>
          <a:p>
            <a:pPr>
              <a:lnSpc>
                <a:spcPct val="110000"/>
              </a:lnSpc>
            </a:pPr>
            <a:r>
              <a:rPr kumimoji="1" lang="en-US" altLang="zh-TW" dirty="0"/>
              <a:t>FDNN minimize the error and reduce the training</a:t>
            </a:r>
            <a:r>
              <a:rPr kumimoji="1" lang="zh-TW" altLang="en-US" dirty="0"/>
              <a:t> </a:t>
            </a:r>
            <a:r>
              <a:rPr kumimoji="1" lang="en-US" altLang="zh-TW" dirty="0"/>
              <a:t>time by 28.19%</a:t>
            </a:r>
          </a:p>
        </p:txBody>
      </p:sp>
      <p:sp>
        <p:nvSpPr>
          <p:cNvPr id="4" name="投影片編號版面配置區 3">
            <a:extLst>
              <a:ext uri="{FF2B5EF4-FFF2-40B4-BE49-F238E27FC236}">
                <a16:creationId xmlns:a16="http://schemas.microsoft.com/office/drawing/2014/main" id="{D045F963-6BDF-EF49-B40D-758BC2265ABB}"/>
              </a:ext>
            </a:extLst>
          </p:cNvPr>
          <p:cNvSpPr>
            <a:spLocks noGrp="1"/>
          </p:cNvSpPr>
          <p:nvPr>
            <p:ph type="sldNum" sz="quarter" idx="12"/>
          </p:nvPr>
        </p:nvSpPr>
        <p:spPr/>
        <p:txBody>
          <a:bodyPr/>
          <a:lstStyle/>
          <a:p>
            <a:fld id="{37D7E222-40AC-AD4D-BFFA-C06E99EC5475}" type="slidenum">
              <a:rPr kumimoji="1" lang="zh-TW" altLang="en-US" smtClean="0"/>
              <a:t>14</a:t>
            </a:fld>
            <a:endParaRPr kumimoji="1" lang="zh-TW" altLang="en-US"/>
          </a:p>
        </p:txBody>
      </p:sp>
    </p:spTree>
    <p:extLst>
      <p:ext uri="{BB962C8B-B14F-4D97-AF65-F5344CB8AC3E}">
        <p14:creationId xmlns:p14="http://schemas.microsoft.com/office/powerpoint/2010/main" val="132951452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3724</TotalTime>
  <Words>589</Words>
  <Application>Microsoft Office PowerPoint</Application>
  <PresentationFormat>寬螢幕</PresentationFormat>
  <Paragraphs>87</Paragraphs>
  <Slides>14</Slides>
  <Notes>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Arial</vt:lpstr>
      <vt:lpstr>Calibri</vt:lpstr>
      <vt:lpstr>Calibri Light</vt:lpstr>
      <vt:lpstr>Cambria Math</vt:lpstr>
      <vt:lpstr>Times New Roman</vt:lpstr>
      <vt:lpstr>Office 佈景主題</vt:lpstr>
      <vt:lpstr>Fuzzy Deep Learning based Urban Traffic Incident Detection </vt:lpstr>
      <vt:lpstr>Abstract (1/2)</vt:lpstr>
      <vt:lpstr>Abstract (2/2)</vt:lpstr>
      <vt:lpstr>Automatic incident detection techniques</vt:lpstr>
      <vt:lpstr>Traffic incident detection(TID)</vt:lpstr>
      <vt:lpstr>Fuzzy deep learning</vt:lpstr>
      <vt:lpstr>Stacked Auto-Encoders (SAE)</vt:lpstr>
      <vt:lpstr>Back-Propagation Algorithm</vt:lpstr>
      <vt:lpstr>Fuzzy Logic Controlled Deep Neural Network</vt:lpstr>
      <vt:lpstr>Fuzzy Logic Control System</vt:lpstr>
      <vt:lpstr>Experiment</vt:lpstr>
      <vt:lpstr>Experiment</vt:lpstr>
      <vt:lpstr>Experiment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Fuzzy Deep Learning based Urban Traffic Incident Detection </dc:title>
  <dc:creator>Microsoft Office User</dc:creator>
  <cp:lastModifiedBy>M103040019</cp:lastModifiedBy>
  <cp:revision>32</cp:revision>
  <dcterms:created xsi:type="dcterms:W3CDTF">2022-05-15T13:18:58Z</dcterms:created>
  <dcterms:modified xsi:type="dcterms:W3CDTF">2022-06-07T03:49:04Z</dcterms:modified>
</cp:coreProperties>
</file>