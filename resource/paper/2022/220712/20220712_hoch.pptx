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1" r:id="rId3"/>
    <p:sldId id="258" r:id="rId4"/>
    <p:sldId id="293" r:id="rId5"/>
    <p:sldId id="332" r:id="rId6"/>
    <p:sldId id="323" r:id="rId7"/>
    <p:sldId id="319" r:id="rId8"/>
    <p:sldId id="331" r:id="rId9"/>
    <p:sldId id="320" r:id="rId10"/>
    <p:sldId id="321" r:id="rId11"/>
    <p:sldId id="348" r:id="rId12"/>
    <p:sldId id="338" r:id="rId13"/>
    <p:sldId id="347" r:id="rId14"/>
    <p:sldId id="339" r:id="rId15"/>
    <p:sldId id="340" r:id="rId16"/>
    <p:sldId id="344" r:id="rId17"/>
    <p:sldId id="341" r:id="rId18"/>
    <p:sldId id="345" r:id="rId19"/>
    <p:sldId id="343" r:id="rId20"/>
    <p:sldId id="346" r:id="rId21"/>
    <p:sldId id="335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9" autoAdjust="0"/>
    <p:restoredTop sz="92275" autoAdjust="0"/>
  </p:normalViewPr>
  <p:slideViewPr>
    <p:cSldViewPr snapToGrid="0">
      <p:cViewPr varScale="1">
        <p:scale>
          <a:sx n="64" d="100"/>
          <a:sy n="64" d="100"/>
        </p:scale>
        <p:origin x="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35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70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29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13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14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51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528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11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4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13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02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1E1DC-9B0B-4445-BE92-0FA02D7ED6E3}" type="datetimeFigureOut">
              <a:rPr lang="zh-TW" altLang="en-US" smtClean="0"/>
              <a:t>2022/7/12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42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92924" y="1101342"/>
            <a:ext cx="9806152" cy="1299561"/>
          </a:xfrm>
        </p:spPr>
        <p:txBody>
          <a:bodyPr>
            <a:normAutofit fontScale="90000"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Efﬁcient Algorithm for Computing the Longest Common Subsequence</a:t>
            </a: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Costas S. Iliopoulos, M.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Sohel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of Computing Systems 45 (2009) 355–371</a:t>
            </a: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88858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Ho</a:t>
            </a: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July 12, 2022</a:t>
            </a:r>
          </a:p>
        </p:txBody>
      </p:sp>
    </p:spTree>
    <p:extLst>
      <p:ext uri="{BB962C8B-B14F-4D97-AF65-F5344CB8AC3E}">
        <p14:creationId xmlns:p14="http://schemas.microsoft.com/office/powerpoint/2010/main" val="366250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D0E71-14AD-4E62-972C-221C5E86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239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A93AAD-D6B7-4CD4-AC92-2D3922F8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448"/>
            <a:ext cx="10515600" cy="5021427"/>
          </a:xfrm>
        </p:spPr>
        <p:txBody>
          <a:bodyPr>
            <a:normAutofit/>
          </a:bodyPr>
          <a:lstStyle/>
          <a:p>
            <a:r>
              <a:rPr lang="en-US" altLang="zh-TW" sz="3200" dirty="0"/>
              <a:t>The Longest Common Subsequence (LCS) problem is a classic and well-studied problem in computer science. The LCS problem is a common task in DNA sequence analysis with many applications to genetics and molecular biology. In this paper, we present a new and efﬁcient algorithm for solving the LCS problem for two strings. Our algorithm runs in O(R log </a:t>
            </a:r>
            <a:r>
              <a:rPr lang="en-US" altLang="zh-TW" sz="3200" dirty="0" err="1"/>
              <a:t>log</a:t>
            </a:r>
            <a:r>
              <a:rPr lang="en-US" altLang="zh-TW" sz="3200" dirty="0"/>
              <a:t> n + n) time, where R is the total number of ordered pairs of positions at which the two strings match.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67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LCS (Longest Common Subsequence)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X = CC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AGAC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Y =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AG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GT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AC</a:t>
            </a:r>
          </a:p>
          <a:p>
            <a:pPr marL="343260" indent="-3429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LCS(X, Y) =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AGAC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6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904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BE640B-A192-4493-B9E3-EA1EF8F87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518" y="1983224"/>
            <a:ext cx="10515600" cy="4351338"/>
          </a:xfrm>
        </p:spPr>
        <p:txBody>
          <a:bodyPr/>
          <a:lstStyle/>
          <a:p>
            <a:r>
              <a:rPr lang="zh-TW" altLang="en-US" dirty="0"/>
              <a:t>每個 </a:t>
            </a:r>
            <a:r>
              <a:rPr lang="en-US" altLang="zh-TW" dirty="0"/>
              <a:t>match </a:t>
            </a:r>
            <a:r>
              <a:rPr lang="zh-TW" altLang="en-US" dirty="0"/>
              <a:t>需檢查 </a:t>
            </a:r>
            <a:r>
              <a:rPr lang="en-US" altLang="zh-TW" dirty="0"/>
              <a:t>(i-1)*(j-1)</a:t>
            </a:r>
          </a:p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0241" y="365125"/>
            <a:ext cx="1051560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LCS-I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9CB3E06F-9AE3-472D-9EAF-96E9D1FFFC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6953861"/>
              </p:ext>
            </p:extLst>
          </p:nvPr>
        </p:nvGraphicFramePr>
        <p:xfrm>
          <a:off x="6675239" y="1401026"/>
          <a:ext cx="5192470" cy="4968864"/>
        </p:xfrm>
        <a:graphic>
          <a:graphicData uri="http://schemas.openxmlformats.org/drawingml/2006/table">
            <a:tbl>
              <a:tblPr firstRow="1" bandRow="1">
                <a:noFill/>
                <a:tableStyleId>{5940675A-B579-460E-94D1-54222C63F5DA}</a:tableStyleId>
              </a:tblPr>
              <a:tblGrid>
                <a:gridCol w="668604">
                  <a:extLst>
                    <a:ext uri="{9D8B030D-6E8A-4147-A177-3AD203B41FA5}">
                      <a16:colId xmlns:a16="http://schemas.microsoft.com/office/drawing/2014/main" val="3630319676"/>
                    </a:ext>
                  </a:extLst>
                </a:gridCol>
                <a:gridCol w="485279">
                  <a:extLst>
                    <a:ext uri="{9D8B030D-6E8A-4147-A177-3AD203B41FA5}">
                      <a16:colId xmlns:a16="http://schemas.microsoft.com/office/drawing/2014/main" val="2449943958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3241406068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1541813034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439975108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1149588615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2273608623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1983320277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3029482529"/>
                    </a:ext>
                  </a:extLst>
                </a:gridCol>
              </a:tblGrid>
              <a:tr h="579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TW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/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j-1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454840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/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extLst>
                  <a:ext uri="{0D108BD9-81ED-4DB2-BD59-A6C34878D82A}">
                    <a16:rowId xmlns:a16="http://schemas.microsoft.com/office/drawing/2014/main" val="2662905682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extLst>
                  <a:ext uri="{0D108BD9-81ED-4DB2-BD59-A6C34878D82A}">
                    <a16:rowId xmlns:a16="http://schemas.microsoft.com/office/drawing/2014/main" val="4229735210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extLst>
                  <a:ext uri="{0D108BD9-81ED-4DB2-BD59-A6C34878D82A}">
                    <a16:rowId xmlns:a16="http://schemas.microsoft.com/office/drawing/2014/main" val="1920045357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extLst>
                  <a:ext uri="{0D108BD9-81ED-4DB2-BD59-A6C34878D82A}">
                    <a16:rowId xmlns:a16="http://schemas.microsoft.com/office/drawing/2014/main" val="596059960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extLst>
                  <a:ext uri="{0D108BD9-81ED-4DB2-BD59-A6C34878D82A}">
                    <a16:rowId xmlns:a16="http://schemas.microsoft.com/office/drawing/2014/main" val="909335467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extLst>
                  <a:ext uri="{0D108BD9-81ED-4DB2-BD59-A6C34878D82A}">
                    <a16:rowId xmlns:a16="http://schemas.microsoft.com/office/drawing/2014/main" val="2248359388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en-US" altLang="zh-TW" sz="18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extLst>
                  <a:ext uri="{0D108BD9-81ED-4DB2-BD59-A6C34878D82A}">
                    <a16:rowId xmlns:a16="http://schemas.microsoft.com/office/drawing/2014/main" val="2147665150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extLst>
                  <a:ext uri="{0D108BD9-81ED-4DB2-BD59-A6C34878D82A}">
                    <a16:rowId xmlns:a16="http://schemas.microsoft.com/office/drawing/2014/main" val="251377310"/>
                  </a:ext>
                </a:extLst>
              </a:tr>
            </a:tbl>
          </a:graphicData>
        </a:graphic>
      </p:graphicFrame>
      <p:sp>
        <p:nvSpPr>
          <p:cNvPr id="10" name="左大括弧 9">
            <a:extLst>
              <a:ext uri="{FF2B5EF4-FFF2-40B4-BE49-F238E27FC236}">
                <a16:creationId xmlns:a16="http://schemas.microsoft.com/office/drawing/2014/main" id="{7E4FCBC9-F125-4415-B9C8-4582A921EED2}"/>
              </a:ext>
            </a:extLst>
          </p:cNvPr>
          <p:cNvSpPr/>
          <p:nvPr/>
        </p:nvSpPr>
        <p:spPr>
          <a:xfrm rot="5400000">
            <a:off x="8866910" y="331230"/>
            <a:ext cx="234795" cy="1824333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左大括弧 10">
            <a:extLst>
              <a:ext uri="{FF2B5EF4-FFF2-40B4-BE49-F238E27FC236}">
                <a16:creationId xmlns:a16="http://schemas.microsoft.com/office/drawing/2014/main" id="{E041AA99-8006-4E23-A8F2-7A391FFC24CD}"/>
              </a:ext>
            </a:extLst>
          </p:cNvPr>
          <p:cNvSpPr/>
          <p:nvPr/>
        </p:nvSpPr>
        <p:spPr>
          <a:xfrm>
            <a:off x="6359728" y="2852058"/>
            <a:ext cx="233360" cy="1713905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D483014-37A7-448F-8454-A7FB09B5A302}"/>
              </a:ext>
            </a:extLst>
          </p:cNvPr>
          <p:cNvSpPr txBox="1"/>
          <p:nvPr/>
        </p:nvSpPr>
        <p:spPr>
          <a:xfrm>
            <a:off x="5775914" y="3447400"/>
            <a:ext cx="583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i-1</a:t>
            </a:r>
            <a:endParaRPr lang="zh-TW" altLang="en-US" sz="28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67BDE73-0CC3-4788-B12B-0182BB43B674}"/>
              </a:ext>
            </a:extLst>
          </p:cNvPr>
          <p:cNvSpPr txBox="1"/>
          <p:nvPr/>
        </p:nvSpPr>
        <p:spPr>
          <a:xfrm>
            <a:off x="8718096" y="576757"/>
            <a:ext cx="1266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j-1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61278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BE640B-A192-4493-B9E3-EA1EF8F87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518" y="1983224"/>
            <a:ext cx="10515600" cy="4351338"/>
          </a:xfrm>
        </p:spPr>
        <p:txBody>
          <a:bodyPr/>
          <a:lstStyle/>
          <a:p>
            <a:r>
              <a:rPr lang="zh-TW" altLang="en-US" dirty="0"/>
              <a:t>使用 </a:t>
            </a:r>
            <a:r>
              <a:rPr lang="en-US" altLang="zh-TW" dirty="0"/>
              <a:t>n</a:t>
            </a:r>
            <a:r>
              <a:rPr lang="zh-TW" altLang="en-US" dirty="0"/>
              <a:t> 條 </a:t>
            </a:r>
            <a:r>
              <a:rPr lang="en-US" altLang="zh-TW" dirty="0" err="1"/>
              <a:t>vEB</a:t>
            </a:r>
            <a:r>
              <a:rPr lang="zh-TW" altLang="en-US" dirty="0"/>
              <a:t> 記錄每一行</a:t>
            </a:r>
            <a:endParaRPr lang="en-US" altLang="zh-TW" dirty="0"/>
          </a:p>
          <a:p>
            <a:r>
              <a:rPr lang="zh-TW" altLang="en-US" dirty="0"/>
              <a:t>每個 </a:t>
            </a:r>
            <a:r>
              <a:rPr lang="en-US" altLang="zh-TW" dirty="0"/>
              <a:t>match </a:t>
            </a:r>
            <a:r>
              <a:rPr lang="zh-TW" altLang="en-US" dirty="0"/>
              <a:t>只需檢查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(</a:t>
            </a:r>
            <a:r>
              <a:rPr lang="pt-BR" altLang="zh-TW" dirty="0"/>
              <a:t>j-1)</a:t>
            </a:r>
            <a:r>
              <a:rPr lang="zh-TW" altLang="en-US" dirty="0"/>
              <a:t>條 </a:t>
            </a:r>
            <a:r>
              <a:rPr lang="en-US" altLang="zh-TW" dirty="0" err="1"/>
              <a:t>vEB</a:t>
            </a:r>
            <a:r>
              <a:rPr lang="en-US" altLang="zh-TW" dirty="0"/>
              <a:t> </a:t>
            </a:r>
            <a:r>
              <a:rPr lang="zh-TW" altLang="en-US" dirty="0"/>
              <a:t>中的最大值</a:t>
            </a:r>
            <a:endParaRPr lang="en-US" altLang="zh-TW" dirty="0"/>
          </a:p>
          <a:p>
            <a:r>
              <a:rPr lang="zh-TW" altLang="en-US" dirty="0"/>
              <a:t>用 </a:t>
            </a:r>
            <a:r>
              <a:rPr lang="en-US" altLang="zh-TW" dirty="0"/>
              <a:t>RMQ</a:t>
            </a:r>
            <a:r>
              <a:rPr lang="zh-TW" altLang="en-US" dirty="0"/>
              <a:t> 找最大值</a:t>
            </a:r>
            <a:endParaRPr lang="en-US" altLang="zh-TW" dirty="0"/>
          </a:p>
          <a:p>
            <a:endParaRPr lang="en-US" altLang="zh-TW" baseline="30000" dirty="0"/>
          </a:p>
          <a:p>
            <a:pPr marL="0" indent="0">
              <a:buNone/>
            </a:pPr>
            <a:r>
              <a:rPr lang="en-US" altLang="zh-TW" dirty="0"/>
              <a:t>                                    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0241" y="365125"/>
            <a:ext cx="1051560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LCS-I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9CB3E06F-9AE3-472D-9EAF-96E9D1FFFC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2357204"/>
              </p:ext>
            </p:extLst>
          </p:nvPr>
        </p:nvGraphicFramePr>
        <p:xfrm>
          <a:off x="6675239" y="1401026"/>
          <a:ext cx="5192470" cy="4968864"/>
        </p:xfrm>
        <a:graphic>
          <a:graphicData uri="http://schemas.openxmlformats.org/drawingml/2006/table">
            <a:tbl>
              <a:tblPr firstRow="1" bandRow="1">
                <a:noFill/>
                <a:tableStyleId>{5940675A-B579-460E-94D1-54222C63F5DA}</a:tableStyleId>
              </a:tblPr>
              <a:tblGrid>
                <a:gridCol w="668604">
                  <a:extLst>
                    <a:ext uri="{9D8B030D-6E8A-4147-A177-3AD203B41FA5}">
                      <a16:colId xmlns:a16="http://schemas.microsoft.com/office/drawing/2014/main" val="3630319676"/>
                    </a:ext>
                  </a:extLst>
                </a:gridCol>
                <a:gridCol w="485279">
                  <a:extLst>
                    <a:ext uri="{9D8B030D-6E8A-4147-A177-3AD203B41FA5}">
                      <a16:colId xmlns:a16="http://schemas.microsoft.com/office/drawing/2014/main" val="2449943958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3241406068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1541813034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439975108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1149588615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2273608623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1983320277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3029482529"/>
                    </a:ext>
                  </a:extLst>
                </a:gridCol>
              </a:tblGrid>
              <a:tr h="579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TW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/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j-1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454840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/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905682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29735210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20045357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96059960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335467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48359388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en-US" altLang="zh-TW" sz="18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extLst>
                  <a:ext uri="{0D108BD9-81ED-4DB2-BD59-A6C34878D82A}">
                    <a16:rowId xmlns:a16="http://schemas.microsoft.com/office/drawing/2014/main" val="2147665150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extLst>
                  <a:ext uri="{0D108BD9-81ED-4DB2-BD59-A6C34878D82A}">
                    <a16:rowId xmlns:a16="http://schemas.microsoft.com/office/drawing/2014/main" val="251377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661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BE640B-A192-4493-B9E3-EA1EF8F87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241" y="1825625"/>
            <a:ext cx="10292584" cy="4825432"/>
          </a:xfrm>
        </p:spPr>
        <p:txBody>
          <a:bodyPr>
            <a:normAutofit/>
          </a:bodyPr>
          <a:lstStyle/>
          <a:p>
            <a:r>
              <a:rPr lang="en-US" altLang="zh-TW" dirty="0"/>
              <a:t>S = [7, 2, 3, 0, 5, 10, 3, 12, 18]</a:t>
            </a:r>
          </a:p>
          <a:p>
            <a:r>
              <a:rPr lang="en-US" altLang="zh-TW" dirty="0"/>
              <a:t>RMQ(1, 5) = 7</a:t>
            </a:r>
          </a:p>
          <a:p>
            <a:r>
              <a:rPr lang="en-US" altLang="zh-TW" dirty="0"/>
              <a:t>RMQ(5, 8) = 12</a:t>
            </a:r>
          </a:p>
          <a:p>
            <a:r>
              <a:rPr lang="en-US" altLang="zh-TW" dirty="0"/>
              <a:t>RMQ(8, 9) = 18</a:t>
            </a:r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en-US" altLang="zh-TW" dirty="0"/>
              <a:t>solved in O(n) pre-processing time and O(1) time per query</a:t>
            </a:r>
          </a:p>
          <a:p>
            <a:r>
              <a:rPr lang="en-US" altLang="zh-TW" dirty="0"/>
              <a:t>n </a:t>
            </a:r>
            <a:r>
              <a:rPr lang="zh-TW" altLang="en-US" dirty="0"/>
              <a:t>次 </a:t>
            </a:r>
            <a:r>
              <a:rPr lang="en-US" altLang="zh-TW" dirty="0"/>
              <a:t>RMQ pre-processing time :</a:t>
            </a:r>
            <a:r>
              <a:rPr lang="zh-TW" altLang="en-US" dirty="0"/>
              <a:t> </a:t>
            </a:r>
            <a:r>
              <a:rPr lang="en-US" altLang="zh-TW" dirty="0"/>
              <a:t>O(n</a:t>
            </a:r>
            <a:r>
              <a:rPr lang="en-US" altLang="zh-TW" baseline="30000" dirty="0"/>
              <a:t>2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                                    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0241" y="365125"/>
            <a:ext cx="10515600" cy="1325563"/>
          </a:xfrm>
        </p:spPr>
        <p:txBody>
          <a:bodyPr/>
          <a:lstStyle/>
          <a:p>
            <a:r>
              <a:rPr lang="en-US" altLang="zh-TW" dirty="0"/>
              <a:t>RMQ (Range Maxima Query Problem)</a:t>
            </a:r>
          </a:p>
        </p:txBody>
      </p:sp>
    </p:spTree>
    <p:extLst>
      <p:ext uri="{BB962C8B-B14F-4D97-AF65-F5344CB8AC3E}">
        <p14:creationId xmlns:p14="http://schemas.microsoft.com/office/powerpoint/2010/main" val="2118394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BE640B-A192-4493-B9E3-EA1EF8F87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241" y="1825625"/>
            <a:ext cx="10515600" cy="4825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Step.1: </a:t>
            </a:r>
            <a:r>
              <a:rPr lang="zh-TW" altLang="en-US" dirty="0"/>
              <a:t>找出所有 </a:t>
            </a:r>
            <a:r>
              <a:rPr lang="en-US" altLang="zh-TW" dirty="0"/>
              <a:t>match pairs    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Step.2: </a:t>
            </a:r>
            <a:r>
              <a:rPr lang="zh-TW" altLang="en-US" dirty="0"/>
              <a:t>處理每一列的 </a:t>
            </a:r>
            <a:r>
              <a:rPr lang="en-US" altLang="zh-TW" dirty="0"/>
              <a:t>match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Step.3: </a:t>
            </a:r>
            <a:r>
              <a:rPr lang="zh-TW" altLang="en-US" dirty="0"/>
              <a:t>走到新的一列時，需更新 </a:t>
            </a:r>
            <a:r>
              <a:rPr lang="en-US" altLang="zh-TW" dirty="0"/>
              <a:t>n</a:t>
            </a:r>
            <a:r>
              <a:rPr lang="zh-TW" altLang="en-US" dirty="0"/>
              <a:t> 條 </a:t>
            </a:r>
            <a:r>
              <a:rPr lang="en-US" altLang="zh-TW" dirty="0" err="1"/>
              <a:t>vEB</a:t>
            </a:r>
            <a:endParaRPr lang="en-US" altLang="zh-TW" dirty="0"/>
          </a:p>
          <a:p>
            <a:endParaRPr lang="en-US" altLang="zh-TW" dirty="0"/>
          </a:p>
          <a:p>
            <a:endParaRPr lang="pt-BR" altLang="zh-TW" dirty="0"/>
          </a:p>
          <a:p>
            <a:pPr lvl="1"/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	</a:t>
            </a:r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                                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0241" y="365125"/>
            <a:ext cx="1051560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LCS-I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10786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FFDD7A-CE83-434B-9716-17E177D01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LCS-I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356577-E246-4C55-A8ED-BF8FEAD98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Step.1: </a:t>
            </a:r>
            <a:r>
              <a:rPr lang="zh-TW" altLang="en-US" dirty="0"/>
              <a:t>找出所有 </a:t>
            </a:r>
            <a:r>
              <a:rPr lang="en-US" altLang="zh-TW" dirty="0"/>
              <a:t>match pairs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7" name="圖片 6" descr="一張含有 文字 的圖片&#10;&#10;自動產生的描述">
            <a:extLst>
              <a:ext uri="{FF2B5EF4-FFF2-40B4-BE49-F238E27FC236}">
                <a16:creationId xmlns:a16="http://schemas.microsoft.com/office/drawing/2014/main" id="{BB3FCF16-8747-48E3-89D5-594C4A9D8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760" y="2720107"/>
            <a:ext cx="6522744" cy="3896593"/>
          </a:xfrm>
          <a:prstGeom prst="rect">
            <a:avLst/>
          </a:prstGeom>
        </p:spPr>
      </p:pic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053547BC-6EEF-4F70-AC4F-C1FD2B13B318}"/>
              </a:ext>
            </a:extLst>
          </p:cNvPr>
          <p:cNvCxnSpPr/>
          <p:nvPr/>
        </p:nvCxnSpPr>
        <p:spPr>
          <a:xfrm>
            <a:off x="10010775" y="5705475"/>
            <a:ext cx="16383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846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BE640B-A192-4493-B9E3-EA1EF8F87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241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Step.2: </a:t>
            </a:r>
            <a:r>
              <a:rPr lang="zh-TW" altLang="en-US" dirty="0"/>
              <a:t>處理每一列的 </a:t>
            </a:r>
            <a:r>
              <a:rPr lang="en-US" altLang="zh-TW" dirty="0"/>
              <a:t>match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使用 </a:t>
            </a:r>
            <a:r>
              <a:rPr lang="en-US" altLang="zh-TW" dirty="0"/>
              <a:t>RMQ</a:t>
            </a:r>
            <a:r>
              <a:rPr lang="zh-TW" altLang="en-US" dirty="0"/>
              <a:t> 找到紫色範圍最大值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baseline="30000" dirty="0"/>
          </a:p>
          <a:p>
            <a:endParaRPr lang="en-US" altLang="zh-TW" baseline="30000" dirty="0"/>
          </a:p>
          <a:p>
            <a:pPr marL="0" indent="0">
              <a:buNone/>
            </a:pPr>
            <a:r>
              <a:rPr lang="en-US" altLang="zh-TW" dirty="0"/>
              <a:t>                                    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0241" y="365125"/>
            <a:ext cx="1051560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LCS-I</a:t>
            </a:r>
            <a:endParaRPr lang="en-US" altLang="zh-TW" dirty="0"/>
          </a:p>
        </p:txBody>
      </p:sp>
      <p:graphicFrame>
        <p:nvGraphicFramePr>
          <p:cNvPr id="11" name="內容版面配置區 3">
            <a:extLst>
              <a:ext uri="{FF2B5EF4-FFF2-40B4-BE49-F238E27FC236}">
                <a16:creationId xmlns:a16="http://schemas.microsoft.com/office/drawing/2014/main" id="{7A21A5A9-B811-66F7-9A18-15BFBA6067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3160581"/>
              </p:ext>
            </p:extLst>
          </p:nvPr>
        </p:nvGraphicFramePr>
        <p:xfrm>
          <a:off x="6741914" y="1671638"/>
          <a:ext cx="5192470" cy="4968864"/>
        </p:xfrm>
        <a:graphic>
          <a:graphicData uri="http://schemas.openxmlformats.org/drawingml/2006/table">
            <a:tbl>
              <a:tblPr firstRow="1" bandRow="1">
                <a:noFill/>
                <a:tableStyleId>{5940675A-B579-460E-94D1-54222C63F5DA}</a:tableStyleId>
              </a:tblPr>
              <a:tblGrid>
                <a:gridCol w="668604">
                  <a:extLst>
                    <a:ext uri="{9D8B030D-6E8A-4147-A177-3AD203B41FA5}">
                      <a16:colId xmlns:a16="http://schemas.microsoft.com/office/drawing/2014/main" val="3630319676"/>
                    </a:ext>
                  </a:extLst>
                </a:gridCol>
                <a:gridCol w="485279">
                  <a:extLst>
                    <a:ext uri="{9D8B030D-6E8A-4147-A177-3AD203B41FA5}">
                      <a16:colId xmlns:a16="http://schemas.microsoft.com/office/drawing/2014/main" val="2449943958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3241406068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1541813034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439975108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1149588615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2273608623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1983320277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3029482529"/>
                    </a:ext>
                  </a:extLst>
                </a:gridCol>
              </a:tblGrid>
              <a:tr h="579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TW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/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j-1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454840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/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905682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29735210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20045357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96059960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335467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48359388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en-US" altLang="zh-TW" sz="18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extLst>
                  <a:ext uri="{0D108BD9-81ED-4DB2-BD59-A6C34878D82A}">
                    <a16:rowId xmlns:a16="http://schemas.microsoft.com/office/drawing/2014/main" val="2147665150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extLst>
                  <a:ext uri="{0D108BD9-81ED-4DB2-BD59-A6C34878D82A}">
                    <a16:rowId xmlns:a16="http://schemas.microsoft.com/office/drawing/2014/main" val="251377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9942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BE640B-A192-4493-B9E3-EA1EF8F87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241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Step.3: </a:t>
            </a:r>
            <a:r>
              <a:rPr lang="zh-TW" altLang="en-US" dirty="0"/>
              <a:t>走到新的一列時，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        </a:t>
            </a:r>
            <a:r>
              <a:rPr lang="zh-TW" altLang="en-US" dirty="0"/>
              <a:t>需更新 </a:t>
            </a:r>
            <a:r>
              <a:rPr lang="en-US" altLang="zh-TW" dirty="0"/>
              <a:t>n</a:t>
            </a:r>
            <a:r>
              <a:rPr lang="zh-TW" altLang="en-US" dirty="0"/>
              <a:t> 條 </a:t>
            </a:r>
            <a:r>
              <a:rPr lang="en-US" altLang="zh-TW" dirty="0" err="1"/>
              <a:t>vEB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0241" y="365125"/>
            <a:ext cx="1051560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LCS-I</a:t>
            </a:r>
            <a:endParaRPr lang="en-US" altLang="zh-TW" dirty="0"/>
          </a:p>
        </p:txBody>
      </p:sp>
      <p:graphicFrame>
        <p:nvGraphicFramePr>
          <p:cNvPr id="7" name="內容版面配置區 3">
            <a:extLst>
              <a:ext uri="{FF2B5EF4-FFF2-40B4-BE49-F238E27FC236}">
                <a16:creationId xmlns:a16="http://schemas.microsoft.com/office/drawing/2014/main" id="{0A0ACE11-F647-70C2-AB7F-4BD589AF2B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4073753"/>
              </p:ext>
            </p:extLst>
          </p:nvPr>
        </p:nvGraphicFramePr>
        <p:xfrm>
          <a:off x="6741914" y="1671638"/>
          <a:ext cx="5192470" cy="4968864"/>
        </p:xfrm>
        <a:graphic>
          <a:graphicData uri="http://schemas.openxmlformats.org/drawingml/2006/table">
            <a:tbl>
              <a:tblPr firstRow="1" bandRow="1">
                <a:noFill/>
                <a:tableStyleId>{5940675A-B579-460E-94D1-54222C63F5DA}</a:tableStyleId>
              </a:tblPr>
              <a:tblGrid>
                <a:gridCol w="668604">
                  <a:extLst>
                    <a:ext uri="{9D8B030D-6E8A-4147-A177-3AD203B41FA5}">
                      <a16:colId xmlns:a16="http://schemas.microsoft.com/office/drawing/2014/main" val="3630319676"/>
                    </a:ext>
                  </a:extLst>
                </a:gridCol>
                <a:gridCol w="485279">
                  <a:extLst>
                    <a:ext uri="{9D8B030D-6E8A-4147-A177-3AD203B41FA5}">
                      <a16:colId xmlns:a16="http://schemas.microsoft.com/office/drawing/2014/main" val="2449943958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3241406068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1541813034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439975108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1149588615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2273608623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1983320277"/>
                    </a:ext>
                  </a:extLst>
                </a:gridCol>
                <a:gridCol w="576941">
                  <a:extLst>
                    <a:ext uri="{9D8B030D-6E8A-4147-A177-3AD203B41FA5}">
                      <a16:colId xmlns:a16="http://schemas.microsoft.com/office/drawing/2014/main" val="3029482529"/>
                    </a:ext>
                  </a:extLst>
                </a:gridCol>
              </a:tblGrid>
              <a:tr h="579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TW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/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j-1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8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454840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/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905682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29735210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20045357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96059960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335467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48359388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en-US" altLang="zh-TW" sz="18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extLst>
                  <a:ext uri="{0D108BD9-81ED-4DB2-BD59-A6C34878D82A}">
                    <a16:rowId xmlns:a16="http://schemas.microsoft.com/office/drawing/2014/main" val="2147665150"/>
                  </a:ext>
                </a:extLst>
              </a:tr>
              <a:tr h="5425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18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000" marR="80000" marT="40000" marB="40000" anchor="ctr"/>
                </a:tc>
                <a:extLst>
                  <a:ext uri="{0D108BD9-81ED-4DB2-BD59-A6C34878D82A}">
                    <a16:rowId xmlns:a16="http://schemas.microsoft.com/office/drawing/2014/main" val="251377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594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BE640B-A192-4493-B9E3-EA1EF8F87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241" y="1825625"/>
            <a:ext cx="10515600" cy="48254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Step.1: </a:t>
            </a:r>
            <a:r>
              <a:rPr lang="zh-TW" altLang="en-US" dirty="0"/>
              <a:t>找出所有 </a:t>
            </a:r>
            <a:r>
              <a:rPr lang="en-US" altLang="zh-TW" dirty="0"/>
              <a:t>match pairs    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Step.2: </a:t>
            </a:r>
            <a:r>
              <a:rPr lang="zh-TW" altLang="en-US" dirty="0"/>
              <a:t>處理每一列的 </a:t>
            </a:r>
            <a:r>
              <a:rPr lang="en-US" altLang="zh-TW" dirty="0"/>
              <a:t>match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Step.3: </a:t>
            </a:r>
            <a:r>
              <a:rPr lang="zh-TW" altLang="en-US" dirty="0"/>
              <a:t>走到新的一列時，需更新 </a:t>
            </a:r>
            <a:r>
              <a:rPr lang="en-US" altLang="zh-TW" dirty="0"/>
              <a:t>n</a:t>
            </a:r>
            <a:r>
              <a:rPr lang="zh-TW" altLang="en-US" dirty="0"/>
              <a:t> 條 </a:t>
            </a:r>
            <a:r>
              <a:rPr lang="en-US" altLang="zh-TW" dirty="0" err="1"/>
              <a:t>vEB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Time Complexity: O(n</a:t>
            </a:r>
            <a:r>
              <a:rPr lang="en-US" altLang="zh-TW" baseline="30000" dirty="0"/>
              <a:t>2</a:t>
            </a:r>
            <a:r>
              <a:rPr lang="en-US" altLang="zh-TW" dirty="0"/>
              <a:t> + R log </a:t>
            </a:r>
            <a:r>
              <a:rPr lang="en-US" altLang="zh-TW" dirty="0" err="1"/>
              <a:t>log</a:t>
            </a:r>
            <a:r>
              <a:rPr lang="en-US" altLang="zh-TW" dirty="0"/>
              <a:t> n)</a:t>
            </a:r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pt-BR" altLang="zh-TW" dirty="0"/>
          </a:p>
          <a:p>
            <a:pPr lvl="1"/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	</a:t>
            </a:r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                                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0241" y="365125"/>
            <a:ext cx="1051560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LCS-I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25461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C422A-F473-C232-6C1A-E8399D8E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LCS-II</a:t>
            </a:r>
            <a:endParaRPr lang="zh-TW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BA2647C-7A87-BECF-4C5E-7B791EE3EFB1}"/>
              </a:ext>
            </a:extLst>
          </p:cNvPr>
          <p:cNvGraphicFramePr>
            <a:graphicFrameLocks noGrp="1"/>
          </p:cNvGraphicFramePr>
          <p:nvPr/>
        </p:nvGraphicFramePr>
        <p:xfrm>
          <a:off x="4332489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80AFD0C-BCFA-D5A1-EA0D-56C81AEEC7D3}"/>
              </a:ext>
            </a:extLst>
          </p:cNvPr>
          <p:cNvGraphicFramePr>
            <a:graphicFrameLocks noGrp="1"/>
          </p:cNvGraphicFramePr>
          <p:nvPr/>
        </p:nvGraphicFramePr>
        <p:xfrm>
          <a:off x="315837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6B5EBB3-E846-8B09-CF40-E0D57CB2706D}"/>
              </a:ext>
            </a:extLst>
          </p:cNvPr>
          <p:cNvSpPr txBox="1"/>
          <p:nvPr/>
        </p:nvSpPr>
        <p:spPr>
          <a:xfrm>
            <a:off x="974035" y="1948069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4AFF03-594B-8D80-06CF-03459F651D0A}"/>
              </a:ext>
            </a:extLst>
          </p:cNvPr>
          <p:cNvSpPr txBox="1"/>
          <p:nvPr/>
        </p:nvSpPr>
        <p:spPr>
          <a:xfrm>
            <a:off x="4995097" y="1948932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FB808B5-FE6E-795C-917A-412F032BB8B8}"/>
              </a:ext>
            </a:extLst>
          </p:cNvPr>
          <p:cNvSpPr txBox="1"/>
          <p:nvPr/>
        </p:nvSpPr>
        <p:spPr>
          <a:xfrm>
            <a:off x="5278975" y="824395"/>
            <a:ext cx="6281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將 </a:t>
            </a:r>
            <a:r>
              <a:rPr lang="en-US" altLang="zh-TW" sz="2400" dirty="0"/>
              <a:t>RMQ </a:t>
            </a:r>
            <a:r>
              <a:rPr lang="zh-TW" altLang="en-US" sz="2400" dirty="0"/>
              <a:t>改成用 </a:t>
            </a:r>
            <a:r>
              <a:rPr lang="en-US" altLang="zh-TW" sz="2400" dirty="0" err="1"/>
              <a:t>vEB</a:t>
            </a:r>
            <a:r>
              <a:rPr lang="zh-TW" altLang="en-US" sz="2400" dirty="0"/>
              <a:t> 記錄</a:t>
            </a:r>
            <a:endParaRPr lang="en-US" altLang="zh-TW" sz="24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76B8ED9-2B85-2319-E292-8007B44BB82A}"/>
              </a:ext>
            </a:extLst>
          </p:cNvPr>
          <p:cNvSpPr txBox="1"/>
          <p:nvPr/>
        </p:nvSpPr>
        <p:spPr>
          <a:xfrm>
            <a:off x="8493816" y="2317401"/>
            <a:ext cx="179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DS_RMQ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24150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C422A-F473-C232-6C1A-E8399D8E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LCS-II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0717B8-FE9F-A3A9-D0BA-F338BCE60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9503" y="2879769"/>
            <a:ext cx="10515600" cy="37998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(0, 5) → (1, 6)</a:t>
            </a:r>
          </a:p>
          <a:p>
            <a:pPr marL="0" indent="0">
              <a:buNone/>
            </a:pPr>
            <a:endParaRPr lang="zh-TW" altLang="en-US" sz="1800" dirty="0"/>
          </a:p>
          <a:p>
            <a:pPr marL="0" indent="0">
              <a:buNone/>
            </a:pPr>
            <a:endParaRPr lang="zh-TW" altLang="en-US" sz="1800" dirty="0"/>
          </a:p>
          <a:p>
            <a:pPr marL="0" indent="0">
              <a:buNone/>
            </a:pPr>
            <a:endParaRPr lang="zh-TW" altLang="en-US" sz="1800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BA2647C-7A87-BECF-4C5E-7B791EE3EFB1}"/>
              </a:ext>
            </a:extLst>
          </p:cNvPr>
          <p:cNvGraphicFramePr>
            <a:graphicFrameLocks noGrp="1"/>
          </p:cNvGraphicFramePr>
          <p:nvPr/>
        </p:nvGraphicFramePr>
        <p:xfrm>
          <a:off x="4332489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80AFD0C-BCFA-D5A1-EA0D-56C81AEEC7D3}"/>
              </a:ext>
            </a:extLst>
          </p:cNvPr>
          <p:cNvGraphicFramePr>
            <a:graphicFrameLocks noGrp="1"/>
          </p:cNvGraphicFramePr>
          <p:nvPr/>
        </p:nvGraphicFramePr>
        <p:xfrm>
          <a:off x="315837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6B5EBB3-E846-8B09-CF40-E0D57CB2706D}"/>
              </a:ext>
            </a:extLst>
          </p:cNvPr>
          <p:cNvSpPr txBox="1"/>
          <p:nvPr/>
        </p:nvSpPr>
        <p:spPr>
          <a:xfrm>
            <a:off x="974035" y="1948069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4AFF03-594B-8D80-06CF-03459F651D0A}"/>
              </a:ext>
            </a:extLst>
          </p:cNvPr>
          <p:cNvSpPr txBox="1"/>
          <p:nvPr/>
        </p:nvSpPr>
        <p:spPr>
          <a:xfrm>
            <a:off x="4995097" y="1948932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F2C16CE-DDF5-63C5-6D93-BFA098257FD1}"/>
              </a:ext>
            </a:extLst>
          </p:cNvPr>
          <p:cNvSpPr txBox="1"/>
          <p:nvPr/>
        </p:nvSpPr>
        <p:spPr>
          <a:xfrm>
            <a:off x="5278975" y="824395"/>
            <a:ext cx="6281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/>
              <a:t>init</a:t>
            </a:r>
            <a:endParaRPr lang="zh-TW" altLang="en-US" sz="2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F1635FE-446C-652D-5E39-931373941DED}"/>
              </a:ext>
            </a:extLst>
          </p:cNvPr>
          <p:cNvSpPr txBox="1"/>
          <p:nvPr/>
        </p:nvSpPr>
        <p:spPr>
          <a:xfrm>
            <a:off x="8493816" y="2317401"/>
            <a:ext cx="179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DS_RMQ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45887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C422A-F473-C232-6C1A-E8399D8E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LCS-II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0717B8-FE9F-A3A9-D0BA-F338BCE60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9503" y="2879769"/>
            <a:ext cx="10515600" cy="37998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(0, 5) → (1, 6)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(0, 5) → (1, 6) </a:t>
            </a:r>
          </a:p>
          <a:p>
            <a:pPr marL="0" indent="0">
              <a:buNone/>
            </a:pPr>
            <a:endParaRPr lang="zh-TW" altLang="en-US" sz="1800" dirty="0"/>
          </a:p>
          <a:p>
            <a:pPr marL="0" indent="0">
              <a:buNone/>
            </a:pPr>
            <a:endParaRPr lang="zh-TW" altLang="en-US" sz="1800" dirty="0"/>
          </a:p>
          <a:p>
            <a:pPr marL="0" indent="0">
              <a:buNone/>
            </a:pPr>
            <a:endParaRPr lang="zh-TW" altLang="en-US" sz="1800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BA2647C-7A87-BECF-4C5E-7B791EE3EFB1}"/>
              </a:ext>
            </a:extLst>
          </p:cNvPr>
          <p:cNvGraphicFramePr>
            <a:graphicFrameLocks noGrp="1"/>
          </p:cNvGraphicFramePr>
          <p:nvPr/>
        </p:nvGraphicFramePr>
        <p:xfrm>
          <a:off x="4332489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80AFD0C-BCFA-D5A1-EA0D-56C81AEEC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453460"/>
              </p:ext>
            </p:extLst>
          </p:nvPr>
        </p:nvGraphicFramePr>
        <p:xfrm>
          <a:off x="315837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6B5EBB3-E846-8B09-CF40-E0D57CB2706D}"/>
              </a:ext>
            </a:extLst>
          </p:cNvPr>
          <p:cNvSpPr txBox="1"/>
          <p:nvPr/>
        </p:nvSpPr>
        <p:spPr>
          <a:xfrm>
            <a:off x="974035" y="1948069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4AFF03-594B-8D80-06CF-03459F651D0A}"/>
              </a:ext>
            </a:extLst>
          </p:cNvPr>
          <p:cNvSpPr txBox="1"/>
          <p:nvPr/>
        </p:nvSpPr>
        <p:spPr>
          <a:xfrm>
            <a:off x="4995097" y="1948932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DA8B2C1-46D5-79E6-9F86-4F99065C4FA4}"/>
              </a:ext>
            </a:extLst>
          </p:cNvPr>
          <p:cNvSpPr txBox="1"/>
          <p:nvPr/>
        </p:nvSpPr>
        <p:spPr>
          <a:xfrm>
            <a:off x="5881154" y="355672"/>
            <a:ext cx="4462669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j-1</a:t>
            </a:r>
            <a:r>
              <a:rPr lang="en-US" altLang="zh-TW" sz="1800" dirty="0"/>
              <a:t> = </a:t>
            </a:r>
            <a:r>
              <a:rPr lang="en-US" altLang="zh-TW" dirty="0"/>
              <a:t>5</a:t>
            </a:r>
            <a:endParaRPr lang="en-US" altLang="zh-TW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do nothing</a:t>
            </a:r>
            <a:endParaRPr lang="en-US" altLang="zh-TW" sz="18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35994FD-BB39-EA43-15A0-A494DFCCCD7D}"/>
              </a:ext>
            </a:extLst>
          </p:cNvPr>
          <p:cNvSpPr txBox="1"/>
          <p:nvPr/>
        </p:nvSpPr>
        <p:spPr>
          <a:xfrm>
            <a:off x="8493816" y="2317401"/>
            <a:ext cx="179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DS_RMQ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14622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C422A-F473-C232-6C1A-E8399D8E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LCS-II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0717B8-FE9F-A3A9-D0BA-F338BCE60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9503" y="2879769"/>
            <a:ext cx="10515600" cy="37998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(0, 5) → (1, 6)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(0, 5) → (1, 6)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(1, 6) </a:t>
            </a:r>
          </a:p>
          <a:p>
            <a:pPr marL="0" indent="0">
              <a:buNone/>
            </a:pPr>
            <a:endParaRPr lang="zh-TW" altLang="en-US" sz="1800" dirty="0"/>
          </a:p>
          <a:p>
            <a:pPr marL="0" indent="0">
              <a:buNone/>
            </a:pPr>
            <a:endParaRPr lang="zh-TW" altLang="en-US" sz="1800" dirty="0"/>
          </a:p>
          <a:p>
            <a:pPr marL="0" indent="0">
              <a:buNone/>
            </a:pPr>
            <a:endParaRPr lang="zh-TW" altLang="en-US" sz="1800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BA2647C-7A87-BECF-4C5E-7B791EE3EFB1}"/>
              </a:ext>
            </a:extLst>
          </p:cNvPr>
          <p:cNvGraphicFramePr>
            <a:graphicFrameLocks noGrp="1"/>
          </p:cNvGraphicFramePr>
          <p:nvPr/>
        </p:nvGraphicFramePr>
        <p:xfrm>
          <a:off x="4332489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80AFD0C-BCFA-D5A1-EA0D-56C81AEEC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054310"/>
              </p:ext>
            </p:extLst>
          </p:nvPr>
        </p:nvGraphicFramePr>
        <p:xfrm>
          <a:off x="315837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6B5EBB3-E846-8B09-CF40-E0D57CB2706D}"/>
              </a:ext>
            </a:extLst>
          </p:cNvPr>
          <p:cNvSpPr txBox="1"/>
          <p:nvPr/>
        </p:nvSpPr>
        <p:spPr>
          <a:xfrm>
            <a:off x="974035" y="1948069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4AFF03-594B-8D80-06CF-03459F651D0A}"/>
              </a:ext>
            </a:extLst>
          </p:cNvPr>
          <p:cNvSpPr txBox="1"/>
          <p:nvPr/>
        </p:nvSpPr>
        <p:spPr>
          <a:xfrm>
            <a:off x="4995097" y="1948932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06C596D-4E50-64C8-83C2-8A5F7675A4DE}"/>
              </a:ext>
            </a:extLst>
          </p:cNvPr>
          <p:cNvSpPr txBox="1"/>
          <p:nvPr/>
        </p:nvSpPr>
        <p:spPr>
          <a:xfrm>
            <a:off x="5881154" y="355672"/>
            <a:ext cx="4462669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j-1</a:t>
            </a:r>
            <a:r>
              <a:rPr lang="en-US" altLang="zh-TW" sz="1800" dirty="0"/>
              <a:t> = 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a</a:t>
            </a:r>
            <a:r>
              <a:rPr lang="en-US" altLang="zh-TW" sz="1800" dirty="0"/>
              <a:t>dd (0, 0), delete (0, 5) 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3F6E979-D18D-05FF-4D14-79EEFABB2D36}"/>
              </a:ext>
            </a:extLst>
          </p:cNvPr>
          <p:cNvSpPr txBox="1"/>
          <p:nvPr/>
        </p:nvSpPr>
        <p:spPr>
          <a:xfrm>
            <a:off x="8493816" y="2317401"/>
            <a:ext cx="179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DS_RMQ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5105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C422A-F473-C232-6C1A-E8399D8E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LCS-II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0717B8-FE9F-A3A9-D0BA-F338BCE60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9503" y="2879769"/>
            <a:ext cx="10515600" cy="37998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(0, 5) → (1, 6)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(0, 5) → (1, 6)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(1, 6) </a:t>
            </a:r>
          </a:p>
          <a:p>
            <a:pPr marL="0" indent="0">
              <a:buNone/>
            </a:pPr>
            <a:endParaRPr lang="zh-TW" altLang="en-US" sz="1800" dirty="0"/>
          </a:p>
          <a:p>
            <a:pPr marL="0" indent="0">
              <a:buNone/>
            </a:pPr>
            <a:endParaRPr lang="zh-TW" altLang="en-US" sz="1800" dirty="0"/>
          </a:p>
          <a:p>
            <a:pPr marL="0" indent="0">
              <a:buNone/>
            </a:pPr>
            <a:endParaRPr lang="zh-TW" altLang="en-US" sz="1800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BA2647C-7A87-BECF-4C5E-7B791EE3EFB1}"/>
              </a:ext>
            </a:extLst>
          </p:cNvPr>
          <p:cNvGraphicFramePr>
            <a:graphicFrameLocks noGrp="1"/>
          </p:cNvGraphicFramePr>
          <p:nvPr/>
        </p:nvGraphicFramePr>
        <p:xfrm>
          <a:off x="4332489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80AFD0C-BCFA-D5A1-EA0D-56C81AEEC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136268"/>
              </p:ext>
            </p:extLst>
          </p:nvPr>
        </p:nvGraphicFramePr>
        <p:xfrm>
          <a:off x="315837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6B5EBB3-E846-8B09-CF40-E0D57CB2706D}"/>
              </a:ext>
            </a:extLst>
          </p:cNvPr>
          <p:cNvSpPr txBox="1"/>
          <p:nvPr/>
        </p:nvSpPr>
        <p:spPr>
          <a:xfrm>
            <a:off x="974035" y="1948069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4AFF03-594B-8D80-06CF-03459F651D0A}"/>
              </a:ext>
            </a:extLst>
          </p:cNvPr>
          <p:cNvSpPr txBox="1"/>
          <p:nvPr/>
        </p:nvSpPr>
        <p:spPr>
          <a:xfrm>
            <a:off x="4995097" y="1948932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4F56EC5-4A33-6BAC-86C5-07704539D403}"/>
              </a:ext>
            </a:extLst>
          </p:cNvPr>
          <p:cNvSpPr txBox="1"/>
          <p:nvPr/>
        </p:nvSpPr>
        <p:spPr>
          <a:xfrm>
            <a:off x="8493816" y="2317401"/>
            <a:ext cx="179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DS_RMQ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00662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C422A-F473-C232-6C1A-E8399D8E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LCS-II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0717B8-FE9F-A3A9-D0BA-F338BCE60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9503" y="2879769"/>
            <a:ext cx="10515600" cy="37998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(0, 5) → (1, 6)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(0, 5) → (1, 6)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(1, 6) </a:t>
            </a:r>
            <a:r>
              <a:rPr lang="zh-TW" altLang="en-US" sz="1800" dirty="0"/>
              <a:t> </a:t>
            </a:r>
            <a:endParaRPr lang="en-US" altLang="zh-TW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(1, 1) → (2, 6)</a:t>
            </a:r>
          </a:p>
          <a:p>
            <a:pPr marL="0" indent="0">
              <a:buNone/>
            </a:pPr>
            <a:endParaRPr lang="zh-TW" altLang="en-US" sz="1800" dirty="0"/>
          </a:p>
          <a:p>
            <a:pPr marL="0" indent="0">
              <a:buNone/>
            </a:pPr>
            <a:endParaRPr lang="zh-TW" altLang="en-US" sz="1800" dirty="0"/>
          </a:p>
          <a:p>
            <a:pPr marL="0" indent="0">
              <a:buNone/>
            </a:pPr>
            <a:endParaRPr lang="zh-TW" altLang="en-US" sz="1800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BA2647C-7A87-BECF-4C5E-7B791EE3EFB1}"/>
              </a:ext>
            </a:extLst>
          </p:cNvPr>
          <p:cNvGraphicFramePr>
            <a:graphicFrameLocks noGrp="1"/>
          </p:cNvGraphicFramePr>
          <p:nvPr/>
        </p:nvGraphicFramePr>
        <p:xfrm>
          <a:off x="4332489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80AFD0C-BCFA-D5A1-EA0D-56C81AEEC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486925"/>
              </p:ext>
            </p:extLst>
          </p:nvPr>
        </p:nvGraphicFramePr>
        <p:xfrm>
          <a:off x="315837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6B5EBB3-E846-8B09-CF40-E0D57CB2706D}"/>
              </a:ext>
            </a:extLst>
          </p:cNvPr>
          <p:cNvSpPr txBox="1"/>
          <p:nvPr/>
        </p:nvSpPr>
        <p:spPr>
          <a:xfrm>
            <a:off x="974035" y="1948069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4AFF03-594B-8D80-06CF-03459F651D0A}"/>
              </a:ext>
            </a:extLst>
          </p:cNvPr>
          <p:cNvSpPr txBox="1"/>
          <p:nvPr/>
        </p:nvSpPr>
        <p:spPr>
          <a:xfrm>
            <a:off x="4995097" y="1948932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8951B41-96FC-5099-E039-AD7B2D626043}"/>
              </a:ext>
            </a:extLst>
          </p:cNvPr>
          <p:cNvSpPr txBox="1"/>
          <p:nvPr/>
        </p:nvSpPr>
        <p:spPr>
          <a:xfrm>
            <a:off x="5881154" y="355672"/>
            <a:ext cx="4462669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j</a:t>
            </a:r>
            <a:r>
              <a:rPr lang="en-US" altLang="zh-TW" sz="1800" dirty="0"/>
              <a:t> -1= </a:t>
            </a:r>
            <a:r>
              <a:rPr lang="en-US" altLang="zh-TW" dirty="0"/>
              <a:t>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r</a:t>
            </a:r>
            <a:r>
              <a:rPr lang="en-US" altLang="zh-TW" sz="1800" dirty="0"/>
              <a:t>esult = 2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a</a:t>
            </a:r>
            <a:r>
              <a:rPr lang="en-US" altLang="zh-TW" sz="1800" dirty="0"/>
              <a:t>dd (1, 1),   update (1, 6) to (2, 6) 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58693DA-4AB6-FBBA-8CE9-AE27CB11F311}"/>
              </a:ext>
            </a:extLst>
          </p:cNvPr>
          <p:cNvSpPr txBox="1"/>
          <p:nvPr/>
        </p:nvSpPr>
        <p:spPr>
          <a:xfrm>
            <a:off x="8493816" y="2317401"/>
            <a:ext cx="179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DS_RMQ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37364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C422A-F473-C232-6C1A-E8399D8E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LCS-II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0717B8-FE9F-A3A9-D0BA-F338BCE60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9503" y="2879769"/>
            <a:ext cx="10515600" cy="37998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(0, 5) → (1, 6)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(0, 5) → (1, 6)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(1, 6) </a:t>
            </a:r>
            <a:r>
              <a:rPr lang="zh-TW" altLang="en-US" sz="1800" dirty="0"/>
              <a:t> </a:t>
            </a:r>
            <a:endParaRPr lang="en-US" altLang="zh-TW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(1, 1) → (2, 6)</a:t>
            </a:r>
          </a:p>
          <a:p>
            <a:pPr marL="0" indent="0">
              <a:lnSpc>
                <a:spcPct val="150000"/>
              </a:lnSpc>
              <a:buNone/>
            </a:pPr>
            <a:endParaRPr lang="zh-TW" altLang="en-US" sz="1800" dirty="0"/>
          </a:p>
          <a:p>
            <a:pPr marL="0" indent="0">
              <a:buNone/>
            </a:pPr>
            <a:endParaRPr lang="zh-TW" altLang="en-US" sz="1800" dirty="0"/>
          </a:p>
          <a:p>
            <a:pPr marL="0" indent="0">
              <a:buNone/>
            </a:pPr>
            <a:endParaRPr lang="zh-TW" altLang="en-US" sz="1800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BA2647C-7A87-BECF-4C5E-7B791EE3EFB1}"/>
              </a:ext>
            </a:extLst>
          </p:cNvPr>
          <p:cNvGraphicFramePr>
            <a:graphicFrameLocks noGrp="1"/>
          </p:cNvGraphicFramePr>
          <p:nvPr/>
        </p:nvGraphicFramePr>
        <p:xfrm>
          <a:off x="4332489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80AFD0C-BCFA-D5A1-EA0D-56C81AEEC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544770"/>
              </p:ext>
            </p:extLst>
          </p:nvPr>
        </p:nvGraphicFramePr>
        <p:xfrm>
          <a:off x="315837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6B5EBB3-E846-8B09-CF40-E0D57CB2706D}"/>
              </a:ext>
            </a:extLst>
          </p:cNvPr>
          <p:cNvSpPr txBox="1"/>
          <p:nvPr/>
        </p:nvSpPr>
        <p:spPr>
          <a:xfrm>
            <a:off x="974035" y="1948069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4AFF03-594B-8D80-06CF-03459F651D0A}"/>
              </a:ext>
            </a:extLst>
          </p:cNvPr>
          <p:cNvSpPr txBox="1"/>
          <p:nvPr/>
        </p:nvSpPr>
        <p:spPr>
          <a:xfrm>
            <a:off x="4995097" y="1948932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85A9D21-17E9-BFD5-9675-3409AF5898F2}"/>
              </a:ext>
            </a:extLst>
          </p:cNvPr>
          <p:cNvSpPr txBox="1"/>
          <p:nvPr/>
        </p:nvSpPr>
        <p:spPr>
          <a:xfrm>
            <a:off x="8493816" y="2317401"/>
            <a:ext cx="179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DS_RMQ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92112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C422A-F473-C232-6C1A-E8399D8E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LCS-II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0717B8-FE9F-A3A9-D0BA-F338BCE60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9503" y="2879769"/>
            <a:ext cx="10515600" cy="37998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(0, 5) → (1, 6)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(0, 5) → (1, 6)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(1, 6) </a:t>
            </a:r>
            <a:r>
              <a:rPr lang="zh-TW" altLang="en-US" sz="1800" dirty="0"/>
              <a:t> </a:t>
            </a:r>
            <a:endParaRPr lang="en-US" altLang="zh-TW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(1, 1) → (2, 6)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(1, 1) → (2, 4) → (3, 6)</a:t>
            </a:r>
          </a:p>
          <a:p>
            <a:pPr marL="0" indent="0">
              <a:buNone/>
            </a:pPr>
            <a:endParaRPr lang="zh-TW" altLang="en-US" sz="1800" dirty="0"/>
          </a:p>
          <a:p>
            <a:pPr marL="0" indent="0">
              <a:buNone/>
            </a:pPr>
            <a:endParaRPr lang="zh-TW" altLang="en-US" sz="1800" dirty="0"/>
          </a:p>
          <a:p>
            <a:pPr marL="0" indent="0">
              <a:buNone/>
            </a:pPr>
            <a:endParaRPr lang="zh-TW" altLang="en-US" sz="1800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BA2647C-7A87-BECF-4C5E-7B791EE3EFB1}"/>
              </a:ext>
            </a:extLst>
          </p:cNvPr>
          <p:cNvGraphicFramePr>
            <a:graphicFrameLocks noGrp="1"/>
          </p:cNvGraphicFramePr>
          <p:nvPr/>
        </p:nvGraphicFramePr>
        <p:xfrm>
          <a:off x="4332489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80AFD0C-BCFA-D5A1-EA0D-56C81AEEC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49148"/>
              </p:ext>
            </p:extLst>
          </p:nvPr>
        </p:nvGraphicFramePr>
        <p:xfrm>
          <a:off x="315837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6B5EBB3-E846-8B09-CF40-E0D57CB2706D}"/>
              </a:ext>
            </a:extLst>
          </p:cNvPr>
          <p:cNvSpPr txBox="1"/>
          <p:nvPr/>
        </p:nvSpPr>
        <p:spPr>
          <a:xfrm>
            <a:off x="974035" y="1948069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4AFF03-594B-8D80-06CF-03459F651D0A}"/>
              </a:ext>
            </a:extLst>
          </p:cNvPr>
          <p:cNvSpPr txBox="1"/>
          <p:nvPr/>
        </p:nvSpPr>
        <p:spPr>
          <a:xfrm>
            <a:off x="4995097" y="1948932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A20F87F-64CF-A0C1-8C4B-899F8A6BF55E}"/>
              </a:ext>
            </a:extLst>
          </p:cNvPr>
          <p:cNvSpPr txBox="1"/>
          <p:nvPr/>
        </p:nvSpPr>
        <p:spPr>
          <a:xfrm>
            <a:off x="5881154" y="355672"/>
            <a:ext cx="4462669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j</a:t>
            </a:r>
            <a:r>
              <a:rPr lang="en-US" altLang="zh-TW" sz="1800" dirty="0"/>
              <a:t> -1= 4</a:t>
            </a:r>
          </a:p>
          <a:p>
            <a:pPr>
              <a:lnSpc>
                <a:spcPct val="150000"/>
              </a:lnSpc>
            </a:pPr>
            <a:r>
              <a:rPr lang="en-US" altLang="zh-TW" dirty="0"/>
              <a:t>r</a:t>
            </a:r>
            <a:r>
              <a:rPr lang="en-US" altLang="zh-TW" sz="1800" dirty="0"/>
              <a:t>esult = 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a</a:t>
            </a:r>
            <a:r>
              <a:rPr lang="en-US" altLang="zh-TW" sz="1800" dirty="0"/>
              <a:t>dd (2, 4),   update (2, 6) to (3, 6) 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CF64C0C-BCC5-4FA1-DAFC-95CE0AEF8601}"/>
              </a:ext>
            </a:extLst>
          </p:cNvPr>
          <p:cNvSpPr txBox="1"/>
          <p:nvPr/>
        </p:nvSpPr>
        <p:spPr>
          <a:xfrm>
            <a:off x="8493816" y="2317401"/>
            <a:ext cx="179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DS_RMQ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80758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C422A-F473-C232-6C1A-E8399D8E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LCS-II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0717B8-FE9F-A3A9-D0BA-F338BCE60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9503" y="2879769"/>
            <a:ext cx="10515600" cy="37998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(0, 5) → (1, 6)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(0, 5) → (1, 6)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(1, 6) </a:t>
            </a:r>
            <a:r>
              <a:rPr lang="zh-TW" altLang="en-US" sz="1800" dirty="0"/>
              <a:t> </a:t>
            </a:r>
            <a:endParaRPr lang="en-US" altLang="zh-TW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(1, 1) → (2, 6)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(1, 1) → (2, 4) → (3, 6)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(1, 1) → (2, 4) → (3, 5) → (4, 6) </a:t>
            </a:r>
            <a:endParaRPr lang="zh-TW" altLang="en-US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TW" altLang="en-US" sz="1800" dirty="0"/>
          </a:p>
          <a:p>
            <a:pPr marL="0" indent="0">
              <a:buNone/>
            </a:pPr>
            <a:endParaRPr lang="zh-TW" altLang="en-US" sz="1800" dirty="0"/>
          </a:p>
          <a:p>
            <a:pPr marL="0" indent="0">
              <a:buNone/>
            </a:pPr>
            <a:endParaRPr lang="zh-TW" altLang="en-US" sz="1800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BA2647C-7A87-BECF-4C5E-7B791EE3EFB1}"/>
              </a:ext>
            </a:extLst>
          </p:cNvPr>
          <p:cNvGraphicFramePr>
            <a:graphicFrameLocks noGrp="1"/>
          </p:cNvGraphicFramePr>
          <p:nvPr/>
        </p:nvGraphicFramePr>
        <p:xfrm>
          <a:off x="4332489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80AFD0C-BCFA-D5A1-EA0D-56C81AEEC7D3}"/>
              </a:ext>
            </a:extLst>
          </p:cNvPr>
          <p:cNvGraphicFramePr>
            <a:graphicFrameLocks noGrp="1"/>
          </p:cNvGraphicFramePr>
          <p:nvPr/>
        </p:nvGraphicFramePr>
        <p:xfrm>
          <a:off x="315837" y="2352996"/>
          <a:ext cx="3780000" cy="378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135234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84186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213434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918605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080123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28717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3496290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100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2456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3334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1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69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424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7727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6B5EBB3-E846-8B09-CF40-E0D57CB2706D}"/>
              </a:ext>
            </a:extLst>
          </p:cNvPr>
          <p:cNvSpPr txBox="1"/>
          <p:nvPr/>
        </p:nvSpPr>
        <p:spPr>
          <a:xfrm>
            <a:off x="974035" y="1948069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4AFF03-594B-8D80-06CF-03459F651D0A}"/>
              </a:ext>
            </a:extLst>
          </p:cNvPr>
          <p:cNvSpPr txBox="1"/>
          <p:nvPr/>
        </p:nvSpPr>
        <p:spPr>
          <a:xfrm>
            <a:off x="4995097" y="1948932"/>
            <a:ext cx="305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1        2       3        4       5       6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A20F87F-64CF-A0C1-8C4B-899F8A6BF55E}"/>
              </a:ext>
            </a:extLst>
          </p:cNvPr>
          <p:cNvSpPr txBox="1"/>
          <p:nvPr/>
        </p:nvSpPr>
        <p:spPr>
          <a:xfrm>
            <a:off x="5881154" y="355672"/>
            <a:ext cx="4462669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j</a:t>
            </a:r>
            <a:r>
              <a:rPr lang="en-US" altLang="zh-TW" sz="1800" dirty="0"/>
              <a:t> -1= 5</a:t>
            </a:r>
          </a:p>
          <a:p>
            <a:pPr>
              <a:lnSpc>
                <a:spcPct val="150000"/>
              </a:lnSpc>
            </a:pPr>
            <a:r>
              <a:rPr lang="en-US" altLang="zh-TW" dirty="0"/>
              <a:t>r</a:t>
            </a:r>
            <a:r>
              <a:rPr lang="en-US" altLang="zh-TW" sz="1800" dirty="0"/>
              <a:t>esult = 4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a</a:t>
            </a:r>
            <a:r>
              <a:rPr lang="en-US" altLang="zh-TW" sz="1800" dirty="0"/>
              <a:t>dd (3, </a:t>
            </a:r>
            <a:r>
              <a:rPr lang="en-US" altLang="zh-TW" dirty="0"/>
              <a:t>5</a:t>
            </a:r>
            <a:r>
              <a:rPr lang="en-US" altLang="zh-TW" sz="1800" dirty="0"/>
              <a:t>),   update (3, 6) to (4, 6) 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A28C1F1-BB10-4C2E-A75D-FA7FB74BACF9}"/>
              </a:ext>
            </a:extLst>
          </p:cNvPr>
          <p:cNvSpPr txBox="1"/>
          <p:nvPr/>
        </p:nvSpPr>
        <p:spPr>
          <a:xfrm>
            <a:off x="8493816" y="2317401"/>
            <a:ext cx="179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DS_RMQ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79978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9E2850-FAAB-261B-7804-26DC5F23F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Complexity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6FB8AC-0610-AD5D-E89E-A0B937B4C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LCS-I </a:t>
            </a:r>
            <a:r>
              <a:rPr lang="zh-TW" altLang="en-US" dirty="0"/>
              <a:t>→ </a:t>
            </a:r>
            <a:r>
              <a:rPr lang="en-US" altLang="zh-TW" dirty="0"/>
              <a:t>LCS-II</a:t>
            </a:r>
          </a:p>
          <a:p>
            <a:endParaRPr lang="en-US" altLang="zh-TW" dirty="0"/>
          </a:p>
          <a:p>
            <a:r>
              <a:rPr lang="zh-TW" altLang="en-US" dirty="0"/>
              <a:t>處理 </a:t>
            </a:r>
            <a:r>
              <a:rPr lang="pt-BR" altLang="zh-TW" dirty="0"/>
              <a:t>RMQ: O(n</a:t>
            </a:r>
            <a:r>
              <a:rPr lang="pt-BR" altLang="zh-TW" baseline="30000" dirty="0"/>
              <a:t>2</a:t>
            </a:r>
            <a:r>
              <a:rPr lang="pt-BR" altLang="zh-TW" dirty="0"/>
              <a:t>) </a:t>
            </a:r>
            <a:r>
              <a:rPr lang="zh-TW" altLang="en-US" dirty="0"/>
              <a:t>→ </a:t>
            </a:r>
            <a:r>
              <a:rPr lang="en-US" altLang="zh-TW" dirty="0"/>
              <a:t>O(R log </a:t>
            </a:r>
            <a:r>
              <a:rPr lang="en-US" altLang="zh-TW" dirty="0" err="1"/>
              <a:t>log</a:t>
            </a:r>
            <a:r>
              <a:rPr lang="en-US" altLang="zh-TW" dirty="0"/>
              <a:t> n)</a:t>
            </a:r>
          </a:p>
          <a:p>
            <a:endParaRPr lang="pt-BR" altLang="zh-TW" dirty="0"/>
          </a:p>
          <a:p>
            <a:r>
              <a:rPr lang="en-US" altLang="zh-TW" dirty="0"/>
              <a:t>Time Complexity: O(n</a:t>
            </a:r>
            <a:r>
              <a:rPr lang="en-US" altLang="zh-TW" baseline="30000" dirty="0"/>
              <a:t>2</a:t>
            </a:r>
            <a:r>
              <a:rPr lang="en-US" altLang="zh-TW" dirty="0"/>
              <a:t> + R log </a:t>
            </a:r>
            <a:r>
              <a:rPr lang="en-US" altLang="zh-TW" dirty="0" err="1"/>
              <a:t>log</a:t>
            </a:r>
            <a:r>
              <a:rPr lang="en-US" altLang="zh-TW" dirty="0"/>
              <a:t> n)</a:t>
            </a:r>
            <a:r>
              <a:rPr lang="zh-TW" altLang="en-US" dirty="0"/>
              <a:t> →  </a:t>
            </a:r>
            <a:r>
              <a:rPr lang="pt-BR" altLang="zh-TW" dirty="0"/>
              <a:t>O(R log log n)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0418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4504</TotalTime>
  <Words>1669</Words>
  <Application>Microsoft Office PowerPoint</Application>
  <PresentationFormat>寬螢幕</PresentationFormat>
  <Paragraphs>857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4" baseType="lpstr">
      <vt:lpstr>Arial</vt:lpstr>
      <vt:lpstr>Times New Roman</vt:lpstr>
      <vt:lpstr>Office 佈景主題</vt:lpstr>
      <vt:lpstr>A New Efﬁcient Algorithm for Computing the Longest Common Subsequence</vt:lpstr>
      <vt:lpstr>Abstract </vt:lpstr>
      <vt:lpstr>LCS (Longest Common Subsequence)</vt:lpstr>
      <vt:lpstr>LCS-I</vt:lpstr>
      <vt:lpstr>LCS-I</vt:lpstr>
      <vt:lpstr>RMQ (Range Maxima Query Problem)</vt:lpstr>
      <vt:lpstr>LCS-I</vt:lpstr>
      <vt:lpstr>LCS-I</vt:lpstr>
      <vt:lpstr>LCS-I</vt:lpstr>
      <vt:lpstr>LCS-I</vt:lpstr>
      <vt:lpstr>LCS-I</vt:lpstr>
      <vt:lpstr>LCS-II</vt:lpstr>
      <vt:lpstr>LCS-II</vt:lpstr>
      <vt:lpstr>LCS-II</vt:lpstr>
      <vt:lpstr>LCS-II</vt:lpstr>
      <vt:lpstr>LCS-II</vt:lpstr>
      <vt:lpstr>LCS-II</vt:lpstr>
      <vt:lpstr>LCS-II</vt:lpstr>
      <vt:lpstr>LCS-II</vt:lpstr>
      <vt:lpstr>LCS-II</vt:lpstr>
      <vt:lpstr>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M103040056</cp:lastModifiedBy>
  <cp:revision>312</cp:revision>
  <dcterms:created xsi:type="dcterms:W3CDTF">2021-01-03T09:53:04Z</dcterms:created>
  <dcterms:modified xsi:type="dcterms:W3CDTF">2022-07-12T10:21:50Z</dcterms:modified>
</cp:coreProperties>
</file>