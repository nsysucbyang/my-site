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82" r:id="rId4"/>
    <p:sldId id="283" r:id="rId5"/>
    <p:sldId id="284" r:id="rId6"/>
    <p:sldId id="286" r:id="rId7"/>
    <p:sldId id="287" r:id="rId8"/>
    <p:sldId id="288" r:id="rId9"/>
    <p:sldId id="289" r:id="rId10"/>
    <p:sldId id="290" r:id="rId11"/>
    <p:sldId id="292" r:id="rId12"/>
    <p:sldId id="304" r:id="rId13"/>
    <p:sldId id="291" r:id="rId14"/>
    <p:sldId id="285" r:id="rId15"/>
    <p:sldId id="293" r:id="rId16"/>
    <p:sldId id="294" r:id="rId17"/>
    <p:sldId id="295" r:id="rId18"/>
    <p:sldId id="296" r:id="rId19"/>
    <p:sldId id="297" r:id="rId20"/>
    <p:sldId id="298" r:id="rId21"/>
    <p:sldId id="300" r:id="rId22"/>
    <p:sldId id="302" r:id="rId23"/>
    <p:sldId id="281" r:id="rId24"/>
    <p:sldId id="299" r:id="rId2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0"/>
  </p:normalViewPr>
  <p:slideViewPr>
    <p:cSldViewPr snapToGrid="0" snapToObjects="1">
      <p:cViewPr>
        <p:scale>
          <a:sx n="104" d="100"/>
          <a:sy n="104" d="100"/>
        </p:scale>
        <p:origin x="896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45559-0BFE-4344-9B65-AF2AA4340070}" type="datetimeFigureOut">
              <a:rPr kumimoji="1" lang="zh-TW" altLang="en-US" smtClean="0"/>
              <a:t>2022/6/27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43E2FF-3FFC-0943-9A0D-A0B13F46FEC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21076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43E2FF-3FFC-0943-9A0D-A0B13F46FECA}" type="slidenum">
              <a:rPr kumimoji="1" lang="zh-TW" altLang="en-US" smtClean="0"/>
              <a:t>16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39667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9CACA6-C67C-E541-892B-44D0091E4B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1CC1734-2905-E64F-A631-54B441416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 dirty="0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52928DA-44E4-074F-8536-26603EBDA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94305-8CA1-9449-A556-67D5085A7FA1}" type="datetime1">
              <a:rPr kumimoji="1" lang="zh-TW" altLang="en-US" smtClean="0"/>
              <a:t>2022/6/27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CB0FA4-ABBE-BA4C-8404-566B691D0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36B4FD5-66AB-9441-90B5-4BBD60219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81404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70AF28-EC81-FE4B-89D9-F2E8D07FC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8F01FE-63E4-B148-8F63-BA8CC19DF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CDDCB10-D67B-2F49-9257-3F53E655A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A69C4-18F5-3B4F-9726-B61210AF53BB}" type="datetime1">
              <a:rPr kumimoji="1" lang="zh-TW" altLang="en-US" smtClean="0"/>
              <a:t>2022/6/27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E383F78-9598-D74D-9292-89EFE69D1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BD1EF3F-2214-5B47-9FDA-094F6F6F1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45AB94F7-1CE9-3B41-8002-0A2CB67662D8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39286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0EA4F2-2540-1244-B139-F15C25B79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2C54D3C-13C8-6242-8D0C-509D67681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742759-9CB6-6844-818C-D784DC9DD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1A6B9-6F66-C749-9323-08ACCB0475DF}" type="datetime1">
              <a:rPr kumimoji="1" lang="zh-TW" altLang="en-US" smtClean="0"/>
              <a:t>2022/6/27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F6B2C8-E956-014A-989F-C4986EEC9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4FE7166-F2BC-6E41-A489-D4F1F176A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98025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D5B0B7-A085-074E-8B77-3B759476B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DE2419-98D0-C748-9D81-FD99D10E8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E7429AE-8C31-D64A-9CAF-84EF9D9F81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54F1935-3D64-C547-BE1F-E5DF5E3EA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A61A4-81BF-334B-8D80-CA36701FDA35}" type="datetime1">
              <a:rPr kumimoji="1" lang="zh-TW" altLang="en-US" smtClean="0"/>
              <a:t>2022/6/27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12AB15C-9B5B-D44D-B16C-11EF813D9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5CFBA30-686E-724D-9244-E9E644067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1584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12BDD6-FE7A-F545-960D-362C66F47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7F6F60D-37BA-C242-9A1E-32FEB8CCC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9BCDA43-0B87-A645-8BE0-2EA0C0A6B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5D48957-078C-7444-A985-ACC5552F25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FEF868D-291B-394E-9BE2-D02FA1CD3C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EA16361-4974-3C4E-9136-7688A755D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A022A-5F93-5C4C-B16C-BEC73CEE6E54}" type="datetime1">
              <a:rPr kumimoji="1" lang="zh-TW" altLang="en-US" smtClean="0"/>
              <a:t>2022/6/27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56ED032-8661-E941-88E1-00C969420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B13C977-9E60-0840-8F60-2746A6806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79835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B53D1F-CD49-4A47-8161-81E7049E7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7BAD2FC-9DAA-7243-A022-A4F61BF19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25CB-9510-9341-9576-9B12ECEC775E}" type="datetime1">
              <a:rPr kumimoji="1" lang="zh-TW" altLang="en-US" smtClean="0"/>
              <a:t>2022/6/27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B08567B-6FC5-FE42-99C1-56DE3E0EA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DF5BEE7-69BC-3243-92F7-9D56CF1E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94566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472B68F-CE5E-8E42-845E-216799E93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0CE8D-F82D-A84C-87DC-2C4A6AB68E2E}" type="datetime1">
              <a:rPr kumimoji="1" lang="zh-TW" altLang="en-US" smtClean="0"/>
              <a:t>2022/6/27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AE25D5B-72BF-8541-BB27-109E74F63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4D9627B-7493-DE49-BED1-D957B96B6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5284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D33F3F-E533-ED46-B706-B8230FBE3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23F0ED-E028-4D48-ACE1-92415A0E0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9259B9D-B493-EE4A-8F83-9E517D43A3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647DBB5-D8D1-9C4B-958E-74CA3C356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C0FAD-89C5-7F43-A773-FAE777B2C9F1}" type="datetime1">
              <a:rPr kumimoji="1" lang="zh-TW" altLang="en-US" smtClean="0"/>
              <a:t>2022/6/27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DD9DD0B-97B7-7C48-9FAF-367CEFEAD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F04DAF6-0748-E746-B095-EDD0BFA0C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34485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B7AA03-AD9D-9B4F-BF9A-0D182E130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0629E92-D1EC-7541-B377-00C9F825B7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9365C22-4E8D-5446-A436-EA77B69D7F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B89063B-A0C5-524B-897E-9D14FAA16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FB9B9-8EF2-A94F-98A1-225287ED6E40}" type="datetime1">
              <a:rPr kumimoji="1" lang="zh-TW" altLang="en-US" smtClean="0"/>
              <a:t>2022/6/27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FCC9C8F-50DB-0448-BAE3-DCD747D6E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E76F315-F817-7046-B413-386F6717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16739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AAEEB8-BF61-0D4B-91E0-B11EF6EA0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92FAE11-B217-A441-BF40-6E86BC4895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718463-BF67-834B-B2DE-31F68E452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B0978-9282-A443-81EE-087251DCE16D}" type="datetime1">
              <a:rPr kumimoji="1" lang="zh-TW" altLang="en-US" smtClean="0"/>
              <a:t>2022/6/27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594982C-896E-4149-99DD-209F8E8C0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6603828-B8BB-9B4D-B2DF-DD10F4CAE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64934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35947D6-AA8E-8847-82ED-F06115AA28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F700A80-132C-4840-9A7C-C78D2A2400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617639-2B7B-124E-964F-8866AB883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08DF5-4A34-8D4B-8D26-525AA81604B2}" type="datetime1">
              <a:rPr kumimoji="1" lang="zh-TW" altLang="en-US" smtClean="0"/>
              <a:t>2022/6/27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438D0C4-A114-014D-8492-65B3EEDD1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8114EB-9F4C-BE4F-9F99-D7A2DEEC2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083713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大標題與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大標題文字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大標題文字</a:t>
            </a:r>
          </a:p>
        </p:txBody>
      </p:sp>
      <p:sp>
        <p:nvSpPr>
          <p:cNvPr id="57" name="內文層級一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396875" indent="-396875">
              <a:defRPr sz="3000"/>
            </a:lvl1pPr>
            <a:lvl2pPr marL="714375" indent="-396875">
              <a:defRPr sz="3000"/>
            </a:lvl2pPr>
            <a:lvl3pPr marL="1031875" indent="-396875">
              <a:defRPr sz="3000"/>
            </a:lvl3pPr>
            <a:lvl4pPr marL="1349375" indent="-396875">
              <a:defRPr sz="3000"/>
            </a:lvl4pPr>
            <a:lvl5pPr marL="1666875" indent="-396875">
              <a:defRPr sz="3000"/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58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030479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3116FCC-9057-794F-A6BD-9239D6867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F71D68C-1C2E-1C49-B4D5-25F62E8AE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CE1990-52AC-F546-8798-90353A039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A140CC-F999-A946-9373-08EAE304F3C9}" type="datetime1">
              <a:rPr kumimoji="1" lang="zh-TW" altLang="en-US" smtClean="0"/>
              <a:t>2022/6/27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EB22EAC-653F-C544-A1B0-BE186C1781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6F20A4-E6B9-D241-B29C-161E27408E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97430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A1336C-440D-2E43-904F-AABB45E64E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Interval Matrices with Monge Property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D611AA7-209A-4449-AB65-A25622930A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224604"/>
          </a:xfrm>
        </p:spPr>
        <p:txBody>
          <a:bodyPr>
            <a:norm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Martin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Černý</a:t>
            </a:r>
            <a:endParaRPr kumimoji="1" lang="en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Mathematics</a:t>
            </a:r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2020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Vol. 65, No. 5, pp. 619-643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F1141FC-B145-834E-9139-2A899AB73EAA}"/>
              </a:ext>
            </a:extLst>
          </p:cNvPr>
          <p:cNvSpPr txBox="1"/>
          <p:nvPr/>
        </p:nvSpPr>
        <p:spPr>
          <a:xfrm>
            <a:off x="9165265" y="5826642"/>
            <a:ext cx="24919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 Tsung-Lin Lu</a:t>
            </a:r>
          </a:p>
          <a:p>
            <a:pPr algn="r"/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kumimoji="1" lang="en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: June </a:t>
            </a:r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28, 2022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233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Abstract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generalize Monge property of real matrices for interval matrices. We define two classes of interval matrices with Monge property - in a strong and in a weak sense. We study fundamental properties of both classes. We show several different characterizations of the strong Monge property. For weak Monge property we give a polynomial characterization and several sufficient and necessary conditions. For both classes we study closure properties. We further propose a generalization of an algorithm by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Deineko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Filonenko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for a given matrix returns row and column permutations such that the permuted matrix is Monge if the permutations exist.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36690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Interval analysis</a:t>
            </a:r>
            <a:r>
              <a:rPr kumimoji="1" lang="zh-TW" altLang="en-US" dirty="0"/>
              <a:t> </a:t>
            </a:r>
            <a:r>
              <a:rPr kumimoji="1" lang="en-US" altLang="zh-TW" dirty="0"/>
              <a:t>(1/3)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2</a:t>
            </a:fld>
            <a:endParaRPr kumimoji="1" lang="zh-TW" alt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E39FBBF9-16B4-7C88-EE3C-B18357B8C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24" y="1380179"/>
            <a:ext cx="10800000" cy="167071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B212AA21-94C3-0802-A8E7-B22B0E25E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24" y="3206305"/>
            <a:ext cx="10800000" cy="1542857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AE029234-C89D-9E7E-281D-A013933563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24" y="4904570"/>
            <a:ext cx="10800000" cy="1476198"/>
          </a:xfrm>
          <a:prstGeom prst="rect">
            <a:avLst/>
          </a:prstGeom>
        </p:spPr>
      </p:pic>
      <p:graphicFrame>
        <p:nvGraphicFramePr>
          <p:cNvPr id="14" name="表格 14">
            <a:extLst>
              <a:ext uri="{FF2B5EF4-FFF2-40B4-BE49-F238E27FC236}">
                <a16:creationId xmlns:a16="http://schemas.microsoft.com/office/drawing/2014/main" id="{9579A8AA-A0EB-F39B-800F-AE0ED5DD3C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893018"/>
              </p:ext>
            </p:extLst>
          </p:nvPr>
        </p:nvGraphicFramePr>
        <p:xfrm>
          <a:off x="9980428" y="1925810"/>
          <a:ext cx="132879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4270">
                  <a:extLst>
                    <a:ext uri="{9D8B030D-6E8A-4147-A177-3AD203B41FA5}">
                      <a16:colId xmlns:a16="http://schemas.microsoft.com/office/drawing/2014/main" val="2707412763"/>
                    </a:ext>
                  </a:extLst>
                </a:gridCol>
                <a:gridCol w="664520">
                  <a:extLst>
                    <a:ext uri="{9D8B030D-6E8A-4147-A177-3AD203B41FA5}">
                      <a16:colId xmlns:a16="http://schemas.microsoft.com/office/drawing/2014/main" val="2641454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[0, 5]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0579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[0,8]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4580486"/>
                  </a:ext>
                </a:extLst>
              </a:tr>
            </a:tbl>
          </a:graphicData>
        </a:graphic>
      </p:graphicFrame>
      <p:sp>
        <p:nvSpPr>
          <p:cNvPr id="15" name="文字方塊 14">
            <a:extLst>
              <a:ext uri="{FF2B5EF4-FFF2-40B4-BE49-F238E27FC236}">
                <a16:creationId xmlns:a16="http://schemas.microsoft.com/office/drawing/2014/main" id="{64DC6B74-CC59-487A-A715-C4964DB6D4DD}"/>
              </a:ext>
            </a:extLst>
          </p:cNvPr>
          <p:cNvSpPr txBox="1"/>
          <p:nvPr/>
        </p:nvSpPr>
        <p:spPr>
          <a:xfrm>
            <a:off x="9838485" y="2653178"/>
            <a:ext cx="1704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Interval matrix</a:t>
            </a:r>
            <a:endParaRPr kumimoji="1" lang="zh-TW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795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Interval analysis (2/3)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3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D96E71E-9141-EF61-A26F-CD206426A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00" y="1548078"/>
            <a:ext cx="10800000" cy="3275829"/>
          </a:xfrm>
          <a:prstGeom prst="rect">
            <a:avLst/>
          </a:prstGeom>
        </p:spPr>
      </p:pic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AF4CC4E1-644E-2D38-47E2-5413352215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694095"/>
              </p:ext>
            </p:extLst>
          </p:nvPr>
        </p:nvGraphicFramePr>
        <p:xfrm>
          <a:off x="397270" y="5051903"/>
          <a:ext cx="1488172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2043">
                  <a:extLst>
                    <a:ext uri="{9D8B030D-6E8A-4147-A177-3AD203B41FA5}">
                      <a16:colId xmlns:a16="http://schemas.microsoft.com/office/drawing/2014/main" val="3669626065"/>
                    </a:ext>
                  </a:extLst>
                </a:gridCol>
                <a:gridCol w="372043">
                  <a:extLst>
                    <a:ext uri="{9D8B030D-6E8A-4147-A177-3AD203B41FA5}">
                      <a16:colId xmlns:a16="http://schemas.microsoft.com/office/drawing/2014/main" val="2751619411"/>
                    </a:ext>
                  </a:extLst>
                </a:gridCol>
                <a:gridCol w="372043">
                  <a:extLst>
                    <a:ext uri="{9D8B030D-6E8A-4147-A177-3AD203B41FA5}">
                      <a16:colId xmlns:a16="http://schemas.microsoft.com/office/drawing/2014/main" val="3897113677"/>
                    </a:ext>
                  </a:extLst>
                </a:gridCol>
                <a:gridCol w="372043">
                  <a:extLst>
                    <a:ext uri="{9D8B030D-6E8A-4147-A177-3AD203B41FA5}">
                      <a16:colId xmlns:a16="http://schemas.microsoft.com/office/drawing/2014/main" val="4030151054"/>
                    </a:ext>
                  </a:extLst>
                </a:gridCol>
              </a:tblGrid>
              <a:tr h="2517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e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o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e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o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8959511"/>
                  </a:ext>
                </a:extLst>
              </a:tr>
              <a:tr h="2517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o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e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o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e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2950284"/>
                  </a:ext>
                </a:extLst>
              </a:tr>
              <a:tr h="25173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e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o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e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o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4190655"/>
                  </a:ext>
                </a:extLst>
              </a:tr>
              <a:tr h="27196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o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e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o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e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2370607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B7E6AA2A-5824-CB34-6E61-9C171E66D1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901927"/>
              </p:ext>
            </p:extLst>
          </p:nvPr>
        </p:nvGraphicFramePr>
        <p:xfrm>
          <a:off x="2877415" y="5051903"/>
          <a:ext cx="1488172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2043">
                  <a:extLst>
                    <a:ext uri="{9D8B030D-6E8A-4147-A177-3AD203B41FA5}">
                      <a16:colId xmlns:a16="http://schemas.microsoft.com/office/drawing/2014/main" val="3669626065"/>
                    </a:ext>
                  </a:extLst>
                </a:gridCol>
                <a:gridCol w="372043">
                  <a:extLst>
                    <a:ext uri="{9D8B030D-6E8A-4147-A177-3AD203B41FA5}">
                      <a16:colId xmlns:a16="http://schemas.microsoft.com/office/drawing/2014/main" val="2751619411"/>
                    </a:ext>
                  </a:extLst>
                </a:gridCol>
                <a:gridCol w="372043">
                  <a:extLst>
                    <a:ext uri="{9D8B030D-6E8A-4147-A177-3AD203B41FA5}">
                      <a16:colId xmlns:a16="http://schemas.microsoft.com/office/drawing/2014/main" val="3897113677"/>
                    </a:ext>
                  </a:extLst>
                </a:gridCol>
                <a:gridCol w="372043">
                  <a:extLst>
                    <a:ext uri="{9D8B030D-6E8A-4147-A177-3AD203B41FA5}">
                      <a16:colId xmlns:a16="http://schemas.microsoft.com/office/drawing/2014/main" val="4030151054"/>
                    </a:ext>
                  </a:extLst>
                </a:gridCol>
              </a:tblGrid>
              <a:tr h="25173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959511"/>
                  </a:ext>
                </a:extLst>
              </a:tr>
              <a:tr h="25173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2950284"/>
                  </a:ext>
                </a:extLst>
              </a:tr>
              <a:tr h="25173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190655"/>
                  </a:ext>
                </a:extLst>
              </a:tr>
              <a:tr h="271966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2370607"/>
                  </a:ext>
                </a:extLst>
              </a:tr>
            </a:tbl>
          </a:graphicData>
        </a:graphic>
      </p:graphicFrame>
      <p:pic>
        <p:nvPicPr>
          <p:cNvPr id="12" name="圖片 11">
            <a:extLst>
              <a:ext uri="{FF2B5EF4-FFF2-40B4-BE49-F238E27FC236}">
                <a16:creationId xmlns:a16="http://schemas.microsoft.com/office/drawing/2014/main" id="{64744B05-D30C-3657-6C93-AC1A81D38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325" y="5136859"/>
            <a:ext cx="242188" cy="172223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80F064A8-C6DD-D860-3481-D168FCEADF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4325" y="5505822"/>
            <a:ext cx="217969" cy="180295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F2191C29-2E2E-069A-7E4A-64B736EA4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325" y="5899064"/>
            <a:ext cx="242188" cy="172223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A9481F7C-E3C9-E5F3-9D04-CC5A71E037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4325" y="6252335"/>
            <a:ext cx="217969" cy="180295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A4C69316-9F5F-ABEC-B41D-CC035F298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268" y="5136859"/>
            <a:ext cx="242188" cy="172223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F4773058-3870-2C57-144B-479306BA3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6832" y="5505822"/>
            <a:ext cx="217969" cy="180295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EBFAE883-0D6E-16BD-70BA-210F092F82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0686" y="5899064"/>
            <a:ext cx="242188" cy="172223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58DC9A3E-6D5B-D2D0-85DF-F5B8E619C8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6832" y="6252335"/>
            <a:ext cx="217969" cy="180295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DEC9D530-8109-C931-405E-E27753A38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3469" y="5505822"/>
            <a:ext cx="242188" cy="172223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DED90771-CE4B-9425-3714-13C3EC80CE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9615" y="5899064"/>
            <a:ext cx="217969" cy="180295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09926B85-46B7-301B-DD6C-F4291F68B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3469" y="6260407"/>
            <a:ext cx="242188" cy="172223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F4B1026D-034C-9073-93B4-8C28B8020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5976" y="5505822"/>
            <a:ext cx="242188" cy="172223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023ECBC8-1860-334A-158D-47AD1506DA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5976" y="5899064"/>
            <a:ext cx="217969" cy="180295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2F4F9DE3-AB8A-6440-7F79-F1D6E9E8E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5976" y="6260407"/>
            <a:ext cx="242188" cy="172223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ED9188E8-E316-91E0-8935-8CF77D5327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0906" y="5136859"/>
            <a:ext cx="217969" cy="180295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2F68B010-B533-C842-D57E-9A2B4E3AB3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850" y="5136859"/>
            <a:ext cx="217969" cy="180295"/>
          </a:xfrm>
          <a:prstGeom prst="rect">
            <a:avLst/>
          </a:prstGeom>
        </p:spPr>
      </p:pic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49A4C085-7197-F236-56FF-40D2102335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224377"/>
              </p:ext>
            </p:extLst>
          </p:nvPr>
        </p:nvGraphicFramePr>
        <p:xfrm>
          <a:off x="5274266" y="5051903"/>
          <a:ext cx="1488172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2043">
                  <a:extLst>
                    <a:ext uri="{9D8B030D-6E8A-4147-A177-3AD203B41FA5}">
                      <a16:colId xmlns:a16="http://schemas.microsoft.com/office/drawing/2014/main" val="3669626065"/>
                    </a:ext>
                  </a:extLst>
                </a:gridCol>
                <a:gridCol w="372043">
                  <a:extLst>
                    <a:ext uri="{9D8B030D-6E8A-4147-A177-3AD203B41FA5}">
                      <a16:colId xmlns:a16="http://schemas.microsoft.com/office/drawing/2014/main" val="2751619411"/>
                    </a:ext>
                  </a:extLst>
                </a:gridCol>
                <a:gridCol w="372043">
                  <a:extLst>
                    <a:ext uri="{9D8B030D-6E8A-4147-A177-3AD203B41FA5}">
                      <a16:colId xmlns:a16="http://schemas.microsoft.com/office/drawing/2014/main" val="3897113677"/>
                    </a:ext>
                  </a:extLst>
                </a:gridCol>
                <a:gridCol w="372043">
                  <a:extLst>
                    <a:ext uri="{9D8B030D-6E8A-4147-A177-3AD203B41FA5}">
                      <a16:colId xmlns:a16="http://schemas.microsoft.com/office/drawing/2014/main" val="4030151054"/>
                    </a:ext>
                  </a:extLst>
                </a:gridCol>
              </a:tblGrid>
              <a:tr h="25173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959511"/>
                  </a:ext>
                </a:extLst>
              </a:tr>
              <a:tr h="25173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2950284"/>
                  </a:ext>
                </a:extLst>
              </a:tr>
              <a:tr h="25173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190655"/>
                  </a:ext>
                </a:extLst>
              </a:tr>
              <a:tr h="271966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2370607"/>
                  </a:ext>
                </a:extLst>
              </a:tr>
            </a:tbl>
          </a:graphicData>
        </a:graphic>
      </p:graphicFrame>
      <p:pic>
        <p:nvPicPr>
          <p:cNvPr id="30" name="圖片 29">
            <a:extLst>
              <a:ext uri="{FF2B5EF4-FFF2-40B4-BE49-F238E27FC236}">
                <a16:creationId xmlns:a16="http://schemas.microsoft.com/office/drawing/2014/main" id="{51204BBC-532F-F0AB-6682-42DEAC0F0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874" y="5128787"/>
            <a:ext cx="242188" cy="172223"/>
          </a:xfrm>
          <a:prstGeom prst="rect">
            <a:avLst/>
          </a:prstGeom>
        </p:spPr>
      </p:pic>
      <p:pic>
        <p:nvPicPr>
          <p:cNvPr id="31" name="圖片 30">
            <a:extLst>
              <a:ext uri="{FF2B5EF4-FFF2-40B4-BE49-F238E27FC236}">
                <a16:creationId xmlns:a16="http://schemas.microsoft.com/office/drawing/2014/main" id="{1193B5AD-A075-FD55-209E-120833076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2874" y="5528730"/>
            <a:ext cx="217969" cy="180295"/>
          </a:xfrm>
          <a:prstGeom prst="rect">
            <a:avLst/>
          </a:prstGeom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30FED07B-F992-F166-B806-E86CD3B53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874" y="5921972"/>
            <a:ext cx="242188" cy="172223"/>
          </a:xfrm>
          <a:prstGeom prst="rect">
            <a:avLst/>
          </a:prstGeom>
        </p:spPr>
      </p:pic>
      <p:pic>
        <p:nvPicPr>
          <p:cNvPr id="33" name="圖片 32">
            <a:extLst>
              <a:ext uri="{FF2B5EF4-FFF2-40B4-BE49-F238E27FC236}">
                <a16:creationId xmlns:a16="http://schemas.microsoft.com/office/drawing/2014/main" id="{3E19C181-81CB-15F6-48A0-921062FD80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2874" y="6244263"/>
            <a:ext cx="217969" cy="180295"/>
          </a:xfrm>
          <a:prstGeom prst="rect">
            <a:avLst/>
          </a:prstGeom>
        </p:spPr>
      </p:pic>
      <p:pic>
        <p:nvPicPr>
          <p:cNvPr id="34" name="圖片 33">
            <a:extLst>
              <a:ext uri="{FF2B5EF4-FFF2-40B4-BE49-F238E27FC236}">
                <a16:creationId xmlns:a16="http://schemas.microsoft.com/office/drawing/2014/main" id="{DFC3DEB5-AB12-C76B-2C74-7FE8CEEE5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393" y="5128787"/>
            <a:ext cx="242188" cy="172223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A1511CD5-92A6-59B7-D73B-F00882BEE8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9539" y="5497750"/>
            <a:ext cx="217969" cy="180295"/>
          </a:xfrm>
          <a:prstGeom prst="rect">
            <a:avLst/>
          </a:prstGeom>
        </p:spPr>
      </p:pic>
      <p:pic>
        <p:nvPicPr>
          <p:cNvPr id="36" name="圖片 35">
            <a:extLst>
              <a:ext uri="{FF2B5EF4-FFF2-40B4-BE49-F238E27FC236}">
                <a16:creationId xmlns:a16="http://schemas.microsoft.com/office/drawing/2014/main" id="{0D20BD0F-6D2A-DD05-1C44-30F20BBD9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393" y="5890992"/>
            <a:ext cx="242188" cy="172223"/>
          </a:xfrm>
          <a:prstGeom prst="rect">
            <a:avLst/>
          </a:prstGeom>
        </p:spPr>
      </p:pic>
      <p:pic>
        <p:nvPicPr>
          <p:cNvPr id="37" name="圖片 36">
            <a:extLst>
              <a:ext uri="{FF2B5EF4-FFF2-40B4-BE49-F238E27FC236}">
                <a16:creationId xmlns:a16="http://schemas.microsoft.com/office/drawing/2014/main" id="{D97E810C-14CB-9C28-9C54-DD4BBB8D90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9539" y="6244263"/>
            <a:ext cx="217969" cy="180295"/>
          </a:xfrm>
          <a:prstGeom prst="rect">
            <a:avLst/>
          </a:prstGeom>
        </p:spPr>
      </p:pic>
      <p:pic>
        <p:nvPicPr>
          <p:cNvPr id="38" name="圖片 37">
            <a:extLst>
              <a:ext uri="{FF2B5EF4-FFF2-40B4-BE49-F238E27FC236}">
                <a16:creationId xmlns:a16="http://schemas.microsoft.com/office/drawing/2014/main" id="{270DC7FF-0D47-4234-807E-C9D927109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762" y="5497750"/>
            <a:ext cx="242188" cy="172223"/>
          </a:xfrm>
          <a:prstGeom prst="rect">
            <a:avLst/>
          </a:prstGeom>
        </p:spPr>
      </p:pic>
      <p:pic>
        <p:nvPicPr>
          <p:cNvPr id="39" name="圖片 38">
            <a:extLst>
              <a:ext uri="{FF2B5EF4-FFF2-40B4-BE49-F238E27FC236}">
                <a16:creationId xmlns:a16="http://schemas.microsoft.com/office/drawing/2014/main" id="{29E2CB0F-059C-9D92-289F-317A230779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0762" y="5890992"/>
            <a:ext cx="217969" cy="180295"/>
          </a:xfrm>
          <a:prstGeom prst="rect">
            <a:avLst/>
          </a:prstGeom>
        </p:spPr>
      </p:pic>
      <p:pic>
        <p:nvPicPr>
          <p:cNvPr id="40" name="圖片 39">
            <a:extLst>
              <a:ext uri="{FF2B5EF4-FFF2-40B4-BE49-F238E27FC236}">
                <a16:creationId xmlns:a16="http://schemas.microsoft.com/office/drawing/2014/main" id="{AC7B8A84-6059-A759-F5D9-155C76EC7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762" y="6244263"/>
            <a:ext cx="242188" cy="172223"/>
          </a:xfrm>
          <a:prstGeom prst="rect">
            <a:avLst/>
          </a:prstGeom>
        </p:spPr>
      </p:pic>
      <p:pic>
        <p:nvPicPr>
          <p:cNvPr id="41" name="圖片 40">
            <a:extLst>
              <a:ext uri="{FF2B5EF4-FFF2-40B4-BE49-F238E27FC236}">
                <a16:creationId xmlns:a16="http://schemas.microsoft.com/office/drawing/2014/main" id="{5C4139B6-3875-28CD-D257-5AB82A37E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097" y="5497750"/>
            <a:ext cx="242188" cy="172223"/>
          </a:xfrm>
          <a:prstGeom prst="rect">
            <a:avLst/>
          </a:prstGeom>
        </p:spPr>
      </p:pic>
      <p:pic>
        <p:nvPicPr>
          <p:cNvPr id="42" name="圖片 41">
            <a:extLst>
              <a:ext uri="{FF2B5EF4-FFF2-40B4-BE49-F238E27FC236}">
                <a16:creationId xmlns:a16="http://schemas.microsoft.com/office/drawing/2014/main" id="{471B3B83-84C2-3285-67D4-8C9F5A055F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0243" y="5890992"/>
            <a:ext cx="217969" cy="180295"/>
          </a:xfrm>
          <a:prstGeom prst="rect">
            <a:avLst/>
          </a:prstGeom>
        </p:spPr>
      </p:pic>
      <p:pic>
        <p:nvPicPr>
          <p:cNvPr id="43" name="圖片 42">
            <a:extLst>
              <a:ext uri="{FF2B5EF4-FFF2-40B4-BE49-F238E27FC236}">
                <a16:creationId xmlns:a16="http://schemas.microsoft.com/office/drawing/2014/main" id="{6FD056FE-78B3-1FF9-7C70-ACBE9D3A0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097" y="6244263"/>
            <a:ext cx="242188" cy="172223"/>
          </a:xfrm>
          <a:prstGeom prst="rect">
            <a:avLst/>
          </a:prstGeom>
        </p:spPr>
      </p:pic>
      <p:pic>
        <p:nvPicPr>
          <p:cNvPr id="44" name="圖片 43">
            <a:extLst>
              <a:ext uri="{FF2B5EF4-FFF2-40B4-BE49-F238E27FC236}">
                <a16:creationId xmlns:a16="http://schemas.microsoft.com/office/drawing/2014/main" id="{616D2208-252D-5101-89DC-3F3EC80E3F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0762" y="5128787"/>
            <a:ext cx="217969" cy="180295"/>
          </a:xfrm>
          <a:prstGeom prst="rect">
            <a:avLst/>
          </a:prstGeom>
        </p:spPr>
      </p:pic>
      <p:pic>
        <p:nvPicPr>
          <p:cNvPr id="45" name="圖片 44">
            <a:extLst>
              <a:ext uri="{FF2B5EF4-FFF2-40B4-BE49-F238E27FC236}">
                <a16:creationId xmlns:a16="http://schemas.microsoft.com/office/drawing/2014/main" id="{F80C7C24-DBB3-5557-24E6-86E6485FB2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0243" y="5128787"/>
            <a:ext cx="217969" cy="180295"/>
          </a:xfrm>
          <a:prstGeom prst="rect">
            <a:avLst/>
          </a:prstGeom>
        </p:spPr>
      </p:pic>
      <p:pic>
        <p:nvPicPr>
          <p:cNvPr id="46" name="圖片 45">
            <a:extLst>
              <a:ext uri="{FF2B5EF4-FFF2-40B4-BE49-F238E27FC236}">
                <a16:creationId xmlns:a16="http://schemas.microsoft.com/office/drawing/2014/main" id="{8A3972E2-048A-6CF6-0DA6-63652DC1DE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1396" y="5052338"/>
            <a:ext cx="425390" cy="256744"/>
          </a:xfrm>
          <a:prstGeom prst="rect">
            <a:avLst/>
          </a:prstGeom>
        </p:spPr>
      </p:pic>
      <p:pic>
        <p:nvPicPr>
          <p:cNvPr id="47" name="圖片 46">
            <a:extLst>
              <a:ext uri="{FF2B5EF4-FFF2-40B4-BE49-F238E27FC236}">
                <a16:creationId xmlns:a16="http://schemas.microsoft.com/office/drawing/2014/main" id="{DA9F293C-DBB0-C3F3-711F-7E751576E9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2067" y="5056457"/>
            <a:ext cx="468700" cy="260697"/>
          </a:xfrm>
          <a:prstGeom prst="rect">
            <a:avLst/>
          </a:prstGeom>
        </p:spPr>
      </p:pic>
      <p:graphicFrame>
        <p:nvGraphicFramePr>
          <p:cNvPr id="48" name="表格 14">
            <a:extLst>
              <a:ext uri="{FF2B5EF4-FFF2-40B4-BE49-F238E27FC236}">
                <a16:creationId xmlns:a16="http://schemas.microsoft.com/office/drawing/2014/main" id="{E01314B7-9C0A-8DCC-286A-4B4BF9289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280610"/>
              </p:ext>
            </p:extLst>
          </p:nvPr>
        </p:nvGraphicFramePr>
        <p:xfrm>
          <a:off x="7319814" y="5518935"/>
          <a:ext cx="132879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4270">
                  <a:extLst>
                    <a:ext uri="{9D8B030D-6E8A-4147-A177-3AD203B41FA5}">
                      <a16:colId xmlns:a16="http://schemas.microsoft.com/office/drawing/2014/main" val="2707412763"/>
                    </a:ext>
                  </a:extLst>
                </a:gridCol>
                <a:gridCol w="664520">
                  <a:extLst>
                    <a:ext uri="{9D8B030D-6E8A-4147-A177-3AD203B41FA5}">
                      <a16:colId xmlns:a16="http://schemas.microsoft.com/office/drawing/2014/main" val="2641454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[0, 5]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0579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[0,8]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4580486"/>
                  </a:ext>
                </a:extLst>
              </a:tr>
            </a:tbl>
          </a:graphicData>
        </a:graphic>
      </p:graphicFrame>
      <p:graphicFrame>
        <p:nvGraphicFramePr>
          <p:cNvPr id="49" name="表格 14">
            <a:extLst>
              <a:ext uri="{FF2B5EF4-FFF2-40B4-BE49-F238E27FC236}">
                <a16:creationId xmlns:a16="http://schemas.microsoft.com/office/drawing/2014/main" id="{D92B9B75-53BA-CF55-913E-BF37B28A68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305656"/>
              </p:ext>
            </p:extLst>
          </p:nvPr>
        </p:nvGraphicFramePr>
        <p:xfrm>
          <a:off x="8913838" y="5518935"/>
          <a:ext cx="132879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4270">
                  <a:extLst>
                    <a:ext uri="{9D8B030D-6E8A-4147-A177-3AD203B41FA5}">
                      <a16:colId xmlns:a16="http://schemas.microsoft.com/office/drawing/2014/main" val="2707412763"/>
                    </a:ext>
                  </a:extLst>
                </a:gridCol>
                <a:gridCol w="664520">
                  <a:extLst>
                    <a:ext uri="{9D8B030D-6E8A-4147-A177-3AD203B41FA5}">
                      <a16:colId xmlns:a16="http://schemas.microsoft.com/office/drawing/2014/main" val="2641454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0579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4580486"/>
                  </a:ext>
                </a:extLst>
              </a:tr>
            </a:tbl>
          </a:graphicData>
        </a:graphic>
      </p:graphicFrame>
      <p:graphicFrame>
        <p:nvGraphicFramePr>
          <p:cNvPr id="50" name="表格 14">
            <a:extLst>
              <a:ext uri="{FF2B5EF4-FFF2-40B4-BE49-F238E27FC236}">
                <a16:creationId xmlns:a16="http://schemas.microsoft.com/office/drawing/2014/main" id="{56DD2145-3FF8-7D99-87EF-8BD8482D30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418366"/>
              </p:ext>
            </p:extLst>
          </p:nvPr>
        </p:nvGraphicFramePr>
        <p:xfrm>
          <a:off x="10507863" y="5518935"/>
          <a:ext cx="132879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4270">
                  <a:extLst>
                    <a:ext uri="{9D8B030D-6E8A-4147-A177-3AD203B41FA5}">
                      <a16:colId xmlns:a16="http://schemas.microsoft.com/office/drawing/2014/main" val="2707412763"/>
                    </a:ext>
                  </a:extLst>
                </a:gridCol>
                <a:gridCol w="664520">
                  <a:extLst>
                    <a:ext uri="{9D8B030D-6E8A-4147-A177-3AD203B41FA5}">
                      <a16:colId xmlns:a16="http://schemas.microsoft.com/office/drawing/2014/main" val="2641454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0579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4580486"/>
                  </a:ext>
                </a:extLst>
              </a:tr>
            </a:tbl>
          </a:graphicData>
        </a:graphic>
      </p:graphicFrame>
      <p:pic>
        <p:nvPicPr>
          <p:cNvPr id="51" name="圖片 50">
            <a:extLst>
              <a:ext uri="{FF2B5EF4-FFF2-40B4-BE49-F238E27FC236}">
                <a16:creationId xmlns:a16="http://schemas.microsoft.com/office/drawing/2014/main" id="{51E923C6-D028-8195-46D9-610C0B818C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7863" y="5166456"/>
            <a:ext cx="425390" cy="256744"/>
          </a:xfrm>
          <a:prstGeom prst="rect">
            <a:avLst/>
          </a:prstGeom>
        </p:spPr>
      </p:pic>
      <p:pic>
        <p:nvPicPr>
          <p:cNvPr id="52" name="圖片 51">
            <a:extLst>
              <a:ext uri="{FF2B5EF4-FFF2-40B4-BE49-F238E27FC236}">
                <a16:creationId xmlns:a16="http://schemas.microsoft.com/office/drawing/2014/main" id="{479511ED-65C5-5C06-ED11-3A1FE23DF8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3838" y="5199083"/>
            <a:ext cx="468700" cy="260697"/>
          </a:xfrm>
          <a:prstGeom prst="rect">
            <a:avLst/>
          </a:prstGeom>
        </p:spPr>
      </p:pic>
      <p:pic>
        <p:nvPicPr>
          <p:cNvPr id="53" name="圖片 52">
            <a:extLst>
              <a:ext uri="{FF2B5EF4-FFF2-40B4-BE49-F238E27FC236}">
                <a16:creationId xmlns:a16="http://schemas.microsoft.com/office/drawing/2014/main" id="{CC466361-437C-44AD-B688-17CE1A73D81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1422"/>
          <a:stretch/>
        </p:blipFill>
        <p:spPr>
          <a:xfrm>
            <a:off x="7340600" y="5150468"/>
            <a:ext cx="328455" cy="26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53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0E855428-1321-B5A6-9C36-6FC2A5580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95" y="4797127"/>
            <a:ext cx="10800000" cy="1844321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Interval analysis (3/3)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4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DF2D877-D121-FF3E-DEED-FD6EFB596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895" y="3087778"/>
            <a:ext cx="10800000" cy="1672641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0FE81EEB-6BB5-DBC0-7D95-9FAD9F6793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895" y="1454758"/>
            <a:ext cx="10800000" cy="1552993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30B4BC37-57F4-B9C8-C11C-735F5A93EA82}"/>
              </a:ext>
            </a:extLst>
          </p:cNvPr>
          <p:cNvSpPr txBox="1"/>
          <p:nvPr/>
        </p:nvSpPr>
        <p:spPr>
          <a:xfrm>
            <a:off x="7525265" y="2638419"/>
            <a:ext cx="195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對角和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反對角和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D3BF37A-1AE6-9FC9-732D-49066AB6874D}"/>
              </a:ext>
            </a:extLst>
          </p:cNvPr>
          <p:cNvSpPr txBox="1"/>
          <p:nvPr/>
        </p:nvSpPr>
        <p:spPr>
          <a:xfrm>
            <a:off x="7900087" y="4347768"/>
            <a:ext cx="1436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join(∧) : min</a:t>
            </a:r>
            <a:endParaRPr kumimoji="1" lang="zh-TW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F0515F4F-1B6F-B701-51A8-C434C3D3C20F}"/>
              </a:ext>
            </a:extLst>
          </p:cNvPr>
          <p:cNvSpPr txBox="1"/>
          <p:nvPr/>
        </p:nvSpPr>
        <p:spPr>
          <a:xfrm>
            <a:off x="7900087" y="4760419"/>
            <a:ext cx="1564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meet(∨) : max</a:t>
            </a:r>
            <a:endParaRPr kumimoji="1" lang="zh-TW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9270229-BA52-B173-C805-EB92269C3E6E}"/>
              </a:ext>
            </a:extLst>
          </p:cNvPr>
          <p:cNvSpPr txBox="1"/>
          <p:nvPr/>
        </p:nvSpPr>
        <p:spPr>
          <a:xfrm>
            <a:off x="8221362" y="6123543"/>
            <a:ext cx="2042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對角和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≤ 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反對角和</a:t>
            </a:r>
          </a:p>
        </p:txBody>
      </p:sp>
    </p:spTree>
    <p:extLst>
      <p:ext uri="{BB962C8B-B14F-4D97-AF65-F5344CB8AC3E}">
        <p14:creationId xmlns:p14="http://schemas.microsoft.com/office/powerpoint/2010/main" val="1675320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Real Matrices with Monge Property (1/2)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5</a:t>
            </a:fld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6084631-8DC0-5893-D34E-658E0E95B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00" y="1422951"/>
            <a:ext cx="10800000" cy="2636496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FDD6761B-87DA-3F8F-75F8-D8F5AA5D4B04}"/>
              </a:ext>
            </a:extLst>
          </p:cNvPr>
          <p:cNvSpPr txBox="1"/>
          <p:nvPr/>
        </p:nvSpPr>
        <p:spPr>
          <a:xfrm>
            <a:off x="9599655" y="1456293"/>
            <a:ext cx="2441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Monge : 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全部都是等價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9688844D-5155-8B76-A917-8DF086820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00" y="4079353"/>
            <a:ext cx="10800000" cy="2591318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F3B4CF71-8FA0-18E3-1A9F-9261C57F24E8}"/>
              </a:ext>
            </a:extLst>
          </p:cNvPr>
          <p:cNvSpPr txBox="1"/>
          <p:nvPr/>
        </p:nvSpPr>
        <p:spPr>
          <a:xfrm>
            <a:off x="3309905" y="460348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轉置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6064B2E-458A-4FEB-0C78-0ACEF72C1B35}"/>
              </a:ext>
            </a:extLst>
          </p:cNvPr>
          <p:cNvSpPr txBox="1"/>
          <p:nvPr/>
        </p:nvSpPr>
        <p:spPr>
          <a:xfrm>
            <a:off x="4710338" y="502244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倍數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A7F15BF-568D-2846-4A3B-47B90AD16A7E}"/>
              </a:ext>
            </a:extLst>
          </p:cNvPr>
          <p:cNvSpPr txBox="1"/>
          <p:nvPr/>
        </p:nvSpPr>
        <p:spPr>
          <a:xfrm>
            <a:off x="3812414" y="545987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相加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668D7EB-9C0D-C815-F313-16DCD5709C3B}"/>
              </a:ext>
            </a:extLst>
          </p:cNvPr>
          <p:cNvSpPr txBox="1"/>
          <p:nvPr/>
        </p:nvSpPr>
        <p:spPr>
          <a:xfrm>
            <a:off x="2494360" y="629716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分解</a:t>
            </a:r>
          </a:p>
        </p:txBody>
      </p:sp>
    </p:spTree>
    <p:extLst>
      <p:ext uri="{BB962C8B-B14F-4D97-AF65-F5344CB8AC3E}">
        <p14:creationId xmlns:p14="http://schemas.microsoft.com/office/powerpoint/2010/main" val="2636540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Real Matrices with Monge Property (2/2)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6</a:t>
            </a:fld>
            <a:endParaRPr kumimoji="1" lang="zh-TW" altLang="en-US"/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6DB70E5B-6D3E-DF7A-B7BF-6088D3C7BE25}"/>
              </a:ext>
            </a:extLst>
          </p:cNvPr>
          <p:cNvGrpSpPr/>
          <p:nvPr/>
        </p:nvGrpSpPr>
        <p:grpSpPr>
          <a:xfrm>
            <a:off x="696000" y="1531213"/>
            <a:ext cx="10800000" cy="2180046"/>
            <a:chOff x="696000" y="1679497"/>
            <a:chExt cx="10800000" cy="2180046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4208A2C8-41EF-3A50-CFE3-39A2392961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6000" y="1679497"/>
              <a:ext cx="10800000" cy="2180046"/>
            </a:xfrm>
            <a:prstGeom prst="rect">
              <a:avLst/>
            </a:prstGeom>
          </p:spPr>
        </p:pic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D5666F18-B51F-5B09-F790-703B6BB5C034}"/>
                </a:ext>
              </a:extLst>
            </p:cNvPr>
            <p:cNvSpPr txBox="1"/>
            <p:nvPr/>
          </p:nvSpPr>
          <p:spPr>
            <a:xfrm>
              <a:off x="3482900" y="3490211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TW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列</a:t>
              </a: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C15F4B24-C1FD-2075-683F-54E097BA209F}"/>
                </a:ext>
              </a:extLst>
            </p:cNvPr>
            <p:cNvSpPr txBox="1"/>
            <p:nvPr/>
          </p:nvSpPr>
          <p:spPr>
            <a:xfrm>
              <a:off x="4982187" y="3490211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TW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行</a:t>
              </a: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C68A1CD1-DC05-B77F-CD13-4F6FF59F6F9C}"/>
                </a:ext>
              </a:extLst>
            </p:cNvPr>
            <p:cNvSpPr txBox="1"/>
            <p:nvPr/>
          </p:nvSpPr>
          <p:spPr>
            <a:xfrm>
              <a:off x="7062240" y="3490211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TW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左下</a:t>
              </a: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1FB21F2D-A9C3-27E7-2266-10BD30673ABF}"/>
                </a:ext>
              </a:extLst>
            </p:cNvPr>
            <p:cNvSpPr txBox="1"/>
            <p:nvPr/>
          </p:nvSpPr>
          <p:spPr>
            <a:xfrm>
              <a:off x="9148816" y="3490211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TW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右上</a:t>
              </a:r>
            </a:p>
          </p:txBody>
        </p:sp>
      </p:grpSp>
      <p:graphicFrame>
        <p:nvGraphicFramePr>
          <p:cNvPr id="13" name="表格 14">
            <a:extLst>
              <a:ext uri="{FF2B5EF4-FFF2-40B4-BE49-F238E27FC236}">
                <a16:creationId xmlns:a16="http://schemas.microsoft.com/office/drawing/2014/main" id="{37F5E317-68BB-F7E0-331B-38D07E93B1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817975"/>
              </p:ext>
            </p:extLst>
          </p:nvPr>
        </p:nvGraphicFramePr>
        <p:xfrm>
          <a:off x="1376982" y="4354045"/>
          <a:ext cx="132879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4270">
                  <a:extLst>
                    <a:ext uri="{9D8B030D-6E8A-4147-A177-3AD203B41FA5}">
                      <a16:colId xmlns:a16="http://schemas.microsoft.com/office/drawing/2014/main" val="2707412763"/>
                    </a:ext>
                  </a:extLst>
                </a:gridCol>
                <a:gridCol w="664520">
                  <a:extLst>
                    <a:ext uri="{9D8B030D-6E8A-4147-A177-3AD203B41FA5}">
                      <a16:colId xmlns:a16="http://schemas.microsoft.com/office/drawing/2014/main" val="2641454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[0, 5]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0579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[0,8]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4580486"/>
                  </a:ext>
                </a:extLst>
              </a:tr>
            </a:tbl>
          </a:graphicData>
        </a:graphic>
      </p:graphicFrame>
      <p:graphicFrame>
        <p:nvGraphicFramePr>
          <p:cNvPr id="14" name="表格 14">
            <a:extLst>
              <a:ext uri="{FF2B5EF4-FFF2-40B4-BE49-F238E27FC236}">
                <a16:creationId xmlns:a16="http://schemas.microsoft.com/office/drawing/2014/main" id="{E6AC4165-6A82-45BB-E11F-A97CF6B04A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082440"/>
              </p:ext>
            </p:extLst>
          </p:nvPr>
        </p:nvGraphicFramePr>
        <p:xfrm>
          <a:off x="4064545" y="4354045"/>
          <a:ext cx="132879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4270">
                  <a:extLst>
                    <a:ext uri="{9D8B030D-6E8A-4147-A177-3AD203B41FA5}">
                      <a16:colId xmlns:a16="http://schemas.microsoft.com/office/drawing/2014/main" val="2707412763"/>
                    </a:ext>
                  </a:extLst>
                </a:gridCol>
                <a:gridCol w="664520">
                  <a:extLst>
                    <a:ext uri="{9D8B030D-6E8A-4147-A177-3AD203B41FA5}">
                      <a16:colId xmlns:a16="http://schemas.microsoft.com/office/drawing/2014/main" val="2641454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0579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4580486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17C07E53-EDD2-3036-3D0D-DD4F729CE5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193084"/>
              </p:ext>
            </p:extLst>
          </p:nvPr>
        </p:nvGraphicFramePr>
        <p:xfrm>
          <a:off x="6702680" y="4354045"/>
          <a:ext cx="132879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4270">
                  <a:extLst>
                    <a:ext uri="{9D8B030D-6E8A-4147-A177-3AD203B41FA5}">
                      <a16:colId xmlns:a16="http://schemas.microsoft.com/office/drawing/2014/main" val="2707412763"/>
                    </a:ext>
                  </a:extLst>
                </a:gridCol>
                <a:gridCol w="664520">
                  <a:extLst>
                    <a:ext uri="{9D8B030D-6E8A-4147-A177-3AD203B41FA5}">
                      <a16:colId xmlns:a16="http://schemas.microsoft.com/office/drawing/2014/main" val="2641454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0579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4580486"/>
                  </a:ext>
                </a:extLst>
              </a:tr>
            </a:tbl>
          </a:graphicData>
        </a:graphic>
      </p:graphicFrame>
      <p:graphicFrame>
        <p:nvGraphicFramePr>
          <p:cNvPr id="16" name="表格 14">
            <a:extLst>
              <a:ext uri="{FF2B5EF4-FFF2-40B4-BE49-F238E27FC236}">
                <a16:creationId xmlns:a16="http://schemas.microsoft.com/office/drawing/2014/main" id="{5FD4448E-A177-2C8A-30F2-2FF1F54793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557037"/>
              </p:ext>
            </p:extLst>
          </p:nvPr>
        </p:nvGraphicFramePr>
        <p:xfrm>
          <a:off x="8895971" y="4354045"/>
          <a:ext cx="132879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4270">
                  <a:extLst>
                    <a:ext uri="{9D8B030D-6E8A-4147-A177-3AD203B41FA5}">
                      <a16:colId xmlns:a16="http://schemas.microsoft.com/office/drawing/2014/main" val="2707412763"/>
                    </a:ext>
                  </a:extLst>
                </a:gridCol>
                <a:gridCol w="664520">
                  <a:extLst>
                    <a:ext uri="{9D8B030D-6E8A-4147-A177-3AD203B41FA5}">
                      <a16:colId xmlns:a16="http://schemas.microsoft.com/office/drawing/2014/main" val="2641454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0579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4580486"/>
                  </a:ext>
                </a:extLst>
              </a:tr>
            </a:tbl>
          </a:graphicData>
        </a:graphic>
      </p:graphicFrame>
      <p:sp>
        <p:nvSpPr>
          <p:cNvPr id="17" name="文字方塊 16">
            <a:extLst>
              <a:ext uri="{FF2B5EF4-FFF2-40B4-BE49-F238E27FC236}">
                <a16:creationId xmlns:a16="http://schemas.microsoft.com/office/drawing/2014/main" id="{BAD80963-F628-8236-9E90-230D50FE06E5}"/>
              </a:ext>
            </a:extLst>
          </p:cNvPr>
          <p:cNvSpPr txBox="1"/>
          <p:nvPr/>
        </p:nvSpPr>
        <p:spPr>
          <a:xfrm>
            <a:off x="2901643" y="4557508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[0, 3] *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A040A177-1168-90EC-4C81-D00A653BB0F1}"/>
              </a:ext>
            </a:extLst>
          </p:cNvPr>
          <p:cNvSpPr txBox="1"/>
          <p:nvPr/>
        </p:nvSpPr>
        <p:spPr>
          <a:xfrm>
            <a:off x="5533035" y="4557508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[0, 5] *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EF26B8BB-9ACC-C950-1056-36E42891B4FD}"/>
              </a:ext>
            </a:extLst>
          </p:cNvPr>
          <p:cNvSpPr txBox="1"/>
          <p:nvPr/>
        </p:nvSpPr>
        <p:spPr>
          <a:xfrm>
            <a:off x="8164427" y="4557508"/>
            <a:ext cx="768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+ 5 *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6D2A7B3-943A-A40C-31BC-238A40CB738A}"/>
              </a:ext>
            </a:extLst>
          </p:cNvPr>
          <p:cNvSpPr txBox="1"/>
          <p:nvPr/>
        </p:nvSpPr>
        <p:spPr>
          <a:xfrm>
            <a:off x="1365353" y="3780025"/>
            <a:ext cx="2768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Example1 : Monge matrix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6FFCBB7D-F003-A613-C110-9368AB536087}"/>
              </a:ext>
            </a:extLst>
          </p:cNvPr>
          <p:cNvSpPr txBox="1"/>
          <p:nvPr/>
        </p:nvSpPr>
        <p:spPr>
          <a:xfrm>
            <a:off x="1360134" y="5304880"/>
            <a:ext cx="3147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Example2 : not Monge matrix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2" name="表格 14">
            <a:extLst>
              <a:ext uri="{FF2B5EF4-FFF2-40B4-BE49-F238E27FC236}">
                <a16:creationId xmlns:a16="http://schemas.microsoft.com/office/drawing/2014/main" id="{BF4102A7-10FE-8BF4-76ED-79B1E9FAD8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488924"/>
              </p:ext>
            </p:extLst>
          </p:nvPr>
        </p:nvGraphicFramePr>
        <p:xfrm>
          <a:off x="1376982" y="5698290"/>
          <a:ext cx="132879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4270">
                  <a:extLst>
                    <a:ext uri="{9D8B030D-6E8A-4147-A177-3AD203B41FA5}">
                      <a16:colId xmlns:a16="http://schemas.microsoft.com/office/drawing/2014/main" val="2707412763"/>
                    </a:ext>
                  </a:extLst>
                </a:gridCol>
                <a:gridCol w="664520">
                  <a:extLst>
                    <a:ext uri="{9D8B030D-6E8A-4147-A177-3AD203B41FA5}">
                      <a16:colId xmlns:a16="http://schemas.microsoft.com/office/drawing/2014/main" val="2641454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0579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4580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9709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𝕀𝕊𝕄 (1/2)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7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321C200-71A2-6028-6942-9D5633D27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00" y="1540038"/>
            <a:ext cx="10800000" cy="121798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514362EE-59D0-16AC-3004-B52B33E6F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00" y="3200301"/>
            <a:ext cx="10800000" cy="2924466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2A7A478-AC43-AFE1-8990-CACBFC4C3E7E}"/>
              </a:ext>
            </a:extLst>
          </p:cNvPr>
          <p:cNvSpPr txBox="1"/>
          <p:nvPr/>
        </p:nvSpPr>
        <p:spPr>
          <a:xfrm>
            <a:off x="6514425" y="2388687"/>
            <a:ext cx="2884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𝕀𝕊𝕄 : </a:t>
            </a:r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所有矩陣都是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Monge</a:t>
            </a:r>
            <a:endParaRPr kumimoji="1" lang="zh-TW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85B36DA7-B050-9459-F2E2-1393F3F44433}"/>
              </a:ext>
            </a:extLst>
          </p:cNvPr>
          <p:cNvCxnSpPr/>
          <p:nvPr/>
        </p:nvCxnSpPr>
        <p:spPr>
          <a:xfrm>
            <a:off x="4361935" y="2310714"/>
            <a:ext cx="61783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14F19D9-8D71-8521-F69B-24799C40ACFC}"/>
              </a:ext>
            </a:extLst>
          </p:cNvPr>
          <p:cNvSpPr txBox="1"/>
          <p:nvPr/>
        </p:nvSpPr>
        <p:spPr>
          <a:xfrm>
            <a:off x="7900087" y="4483695"/>
            <a:ext cx="1436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join(∧) : min</a:t>
            </a:r>
            <a:endParaRPr kumimoji="1" lang="zh-TW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3FE6833-6924-429D-AC05-0E7088F517D1}"/>
              </a:ext>
            </a:extLst>
          </p:cNvPr>
          <p:cNvSpPr txBox="1"/>
          <p:nvPr/>
        </p:nvSpPr>
        <p:spPr>
          <a:xfrm>
            <a:off x="7900087" y="4896346"/>
            <a:ext cx="1564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meet(∨) : max</a:t>
            </a:r>
            <a:endParaRPr kumimoji="1" lang="zh-TW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84BB2FD-A492-18B2-321E-7D726E436879}"/>
              </a:ext>
            </a:extLst>
          </p:cNvPr>
          <p:cNvSpPr txBox="1"/>
          <p:nvPr/>
        </p:nvSpPr>
        <p:spPr>
          <a:xfrm>
            <a:off x="8789772" y="5777095"/>
            <a:ext cx="2042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對角和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≤ 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反對角和</a:t>
            </a:r>
          </a:p>
        </p:txBody>
      </p:sp>
      <p:graphicFrame>
        <p:nvGraphicFramePr>
          <p:cNvPr id="16" name="表格 14">
            <a:extLst>
              <a:ext uri="{FF2B5EF4-FFF2-40B4-BE49-F238E27FC236}">
                <a16:creationId xmlns:a16="http://schemas.microsoft.com/office/drawing/2014/main" id="{C64DE39B-CDDD-E428-C030-BCE83874D6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2427108"/>
              </p:ext>
            </p:extLst>
          </p:nvPr>
        </p:nvGraphicFramePr>
        <p:xfrm>
          <a:off x="9811045" y="588435"/>
          <a:ext cx="132879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4270">
                  <a:extLst>
                    <a:ext uri="{9D8B030D-6E8A-4147-A177-3AD203B41FA5}">
                      <a16:colId xmlns:a16="http://schemas.microsoft.com/office/drawing/2014/main" val="2707412763"/>
                    </a:ext>
                  </a:extLst>
                </a:gridCol>
                <a:gridCol w="664520">
                  <a:extLst>
                    <a:ext uri="{9D8B030D-6E8A-4147-A177-3AD203B41FA5}">
                      <a16:colId xmlns:a16="http://schemas.microsoft.com/office/drawing/2014/main" val="2641454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[0, 5]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0579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[0,8]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4580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6679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𝕀𝕊𝕄 (2/2)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8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51673B7-784A-F002-DA4E-D50373324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00" y="1690688"/>
            <a:ext cx="10800000" cy="3293617"/>
          </a:xfrm>
          <a:prstGeom prst="rect">
            <a:avLst/>
          </a:prstGeom>
        </p:spPr>
      </p:pic>
      <p:graphicFrame>
        <p:nvGraphicFramePr>
          <p:cNvPr id="8" name="表格 14">
            <a:extLst>
              <a:ext uri="{FF2B5EF4-FFF2-40B4-BE49-F238E27FC236}">
                <a16:creationId xmlns:a16="http://schemas.microsoft.com/office/drawing/2014/main" id="{A37B1D42-A6FC-04A9-F208-B6AC0E3CC8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797954"/>
              </p:ext>
            </p:extLst>
          </p:nvPr>
        </p:nvGraphicFramePr>
        <p:xfrm>
          <a:off x="9106928" y="2224976"/>
          <a:ext cx="263199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7220">
                  <a:extLst>
                    <a:ext uri="{9D8B030D-6E8A-4147-A177-3AD203B41FA5}">
                      <a16:colId xmlns:a16="http://schemas.microsoft.com/office/drawing/2014/main" val="1929777895"/>
                    </a:ext>
                  </a:extLst>
                </a:gridCol>
                <a:gridCol w="877220">
                  <a:extLst>
                    <a:ext uri="{9D8B030D-6E8A-4147-A177-3AD203B41FA5}">
                      <a16:colId xmlns:a16="http://schemas.microsoft.com/office/drawing/2014/main" val="2707412763"/>
                    </a:ext>
                  </a:extLst>
                </a:gridCol>
                <a:gridCol w="877550">
                  <a:extLst>
                    <a:ext uri="{9D8B030D-6E8A-4147-A177-3AD203B41FA5}">
                      <a16:colId xmlns:a16="http://schemas.microsoft.com/office/drawing/2014/main" val="2641454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2471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[a1, </a:t>
                      </a:r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a2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b1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b2]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579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c1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c2]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[d1, </a:t>
                      </a:r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d2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4580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5416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𝕀𝕎𝕄 (1/5)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9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F21D381-D7A1-C563-6CE7-3530B9189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26" y="1435652"/>
            <a:ext cx="10800000" cy="119142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3AF89A6-530F-8C9A-EA08-8E29AFD56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26" y="2783481"/>
            <a:ext cx="10800000" cy="3660432"/>
          </a:xfrm>
          <a:prstGeom prst="rect">
            <a:avLst/>
          </a:prstGeom>
        </p:spPr>
      </p:pic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95973B42-FA97-6CD2-9208-9B6869A64302}"/>
              </a:ext>
            </a:extLst>
          </p:cNvPr>
          <p:cNvCxnSpPr>
            <a:cxnSpLocks/>
          </p:cNvCxnSpPr>
          <p:nvPr/>
        </p:nvCxnSpPr>
        <p:spPr>
          <a:xfrm>
            <a:off x="3756453" y="2199503"/>
            <a:ext cx="90204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99D0DCC-A3F6-9B86-B25A-7745B345C0DB}"/>
              </a:ext>
            </a:extLst>
          </p:cNvPr>
          <p:cNvSpPr txBox="1"/>
          <p:nvPr/>
        </p:nvSpPr>
        <p:spPr>
          <a:xfrm>
            <a:off x="7342328" y="2239787"/>
            <a:ext cx="2755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𝕀𝕎𝕄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部分矩陣是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Monge</a:t>
            </a:r>
            <a:endParaRPr kumimoji="1" lang="zh-TW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5B2989C-D7D5-D2C6-661A-A48E91F8BA69}"/>
              </a:ext>
            </a:extLst>
          </p:cNvPr>
          <p:cNvSpPr txBox="1"/>
          <p:nvPr/>
        </p:nvSpPr>
        <p:spPr>
          <a:xfrm>
            <a:off x="9620090" y="3867247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Monge</a:t>
            </a:r>
            <a:endParaRPr kumimoji="1" lang="zh-TW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11E9DA2-1041-C2B3-714C-69B099D28BEF}"/>
              </a:ext>
            </a:extLst>
          </p:cNvPr>
          <p:cNvSpPr txBox="1"/>
          <p:nvPr/>
        </p:nvSpPr>
        <p:spPr>
          <a:xfrm>
            <a:off x="9620090" y="420911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不超過上界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7A4F8F19-F782-495F-FD3E-7924C2E94EDC}"/>
              </a:ext>
            </a:extLst>
          </p:cNvPr>
          <p:cNvSpPr txBox="1"/>
          <p:nvPr/>
        </p:nvSpPr>
        <p:spPr>
          <a:xfrm>
            <a:off x="9620090" y="455098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不超過下界</a:t>
            </a:r>
          </a:p>
        </p:txBody>
      </p:sp>
    </p:spTree>
    <p:extLst>
      <p:ext uri="{BB962C8B-B14F-4D97-AF65-F5344CB8AC3E}">
        <p14:creationId xmlns:p14="http://schemas.microsoft.com/office/powerpoint/2010/main" val="2695931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𝕀𝕎𝕄 </a:t>
            </a:r>
            <a:r>
              <a:rPr kumimoji="1" lang="en-US" altLang="zh-TW" sz="2800" dirty="0"/>
              <a:t>Necessary conditions</a:t>
            </a:r>
            <a:r>
              <a:rPr kumimoji="1" lang="en-US" altLang="zh-TW" dirty="0"/>
              <a:t> (2/5)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10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0A37065-24BB-D1AD-451C-0F0720B6C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00" y="1406481"/>
            <a:ext cx="10800000" cy="167336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C684C092-1774-7883-D322-5FDA11AA1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00" y="3243431"/>
            <a:ext cx="10800000" cy="789825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65C0C7FB-947A-BB02-DAB0-B8293D129367}"/>
              </a:ext>
            </a:extLst>
          </p:cNvPr>
          <p:cNvSpPr txBox="1"/>
          <p:nvPr/>
        </p:nvSpPr>
        <p:spPr>
          <a:xfrm>
            <a:off x="11042991" y="259680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殘差</a:t>
            </a:r>
          </a:p>
        </p:txBody>
      </p:sp>
      <p:graphicFrame>
        <p:nvGraphicFramePr>
          <p:cNvPr id="13" name="表格 14">
            <a:extLst>
              <a:ext uri="{FF2B5EF4-FFF2-40B4-BE49-F238E27FC236}">
                <a16:creationId xmlns:a16="http://schemas.microsoft.com/office/drawing/2014/main" id="{9645920B-315B-B6D3-F38E-70E01D978F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5541686"/>
              </p:ext>
            </p:extLst>
          </p:nvPr>
        </p:nvGraphicFramePr>
        <p:xfrm>
          <a:off x="716633" y="4638675"/>
          <a:ext cx="4944799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8736">
                  <a:extLst>
                    <a:ext uri="{9D8B030D-6E8A-4147-A177-3AD203B41FA5}">
                      <a16:colId xmlns:a16="http://schemas.microsoft.com/office/drawing/2014/main" val="403693021"/>
                    </a:ext>
                  </a:extLst>
                </a:gridCol>
                <a:gridCol w="988736">
                  <a:extLst>
                    <a:ext uri="{9D8B030D-6E8A-4147-A177-3AD203B41FA5}">
                      <a16:colId xmlns:a16="http://schemas.microsoft.com/office/drawing/2014/main" val="2707412763"/>
                    </a:ext>
                  </a:extLst>
                </a:gridCol>
                <a:gridCol w="989109">
                  <a:extLst>
                    <a:ext uri="{9D8B030D-6E8A-4147-A177-3AD203B41FA5}">
                      <a16:colId xmlns:a16="http://schemas.microsoft.com/office/drawing/2014/main" val="2641454508"/>
                    </a:ext>
                  </a:extLst>
                </a:gridCol>
                <a:gridCol w="989109">
                  <a:extLst>
                    <a:ext uri="{9D8B030D-6E8A-4147-A177-3AD203B41FA5}">
                      <a16:colId xmlns:a16="http://schemas.microsoft.com/office/drawing/2014/main" val="2081581893"/>
                    </a:ext>
                  </a:extLst>
                </a:gridCol>
                <a:gridCol w="989109">
                  <a:extLst>
                    <a:ext uri="{9D8B030D-6E8A-4147-A177-3AD203B41FA5}">
                      <a16:colId xmlns:a16="http://schemas.microsoft.com/office/drawing/2014/main" val="30580641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4040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[3, 1000]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[10, 120]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[17, 20]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[0, 24]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579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[2, 20]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[7, 9]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[0, 12]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[17, 85]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4580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[2, 5]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[0, 6]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[10, 14]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[14, 100]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6676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[0, 1]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[3, 6]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[5, 21]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[7, 1000]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2576026"/>
                  </a:ext>
                </a:extLst>
              </a:tr>
            </a:tbl>
          </a:graphicData>
        </a:graphic>
      </p:graphicFrame>
      <p:sp>
        <p:nvSpPr>
          <p:cNvPr id="15" name="文字方塊 14">
            <a:extLst>
              <a:ext uri="{FF2B5EF4-FFF2-40B4-BE49-F238E27FC236}">
                <a16:creationId xmlns:a16="http://schemas.microsoft.com/office/drawing/2014/main" id="{F9401AF2-B6DE-A90D-C05F-11E485B1A41A}"/>
              </a:ext>
            </a:extLst>
          </p:cNvPr>
          <p:cNvSpPr txBox="1"/>
          <p:nvPr/>
        </p:nvSpPr>
        <p:spPr>
          <a:xfrm>
            <a:off x="1394145" y="4190280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: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DAC6882E-5CF2-5BDE-8A66-2486814D16B1}"/>
              </a:ext>
            </a:extLst>
          </p:cNvPr>
          <p:cNvSpPr txBox="1"/>
          <p:nvPr/>
        </p:nvSpPr>
        <p:spPr>
          <a:xfrm>
            <a:off x="6981737" y="3666933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殘差皆不為負數</a:t>
            </a:r>
          </a:p>
        </p:txBody>
      </p:sp>
      <p:graphicFrame>
        <p:nvGraphicFramePr>
          <p:cNvPr id="21" name="表格 14">
            <a:extLst>
              <a:ext uri="{FF2B5EF4-FFF2-40B4-BE49-F238E27FC236}">
                <a16:creationId xmlns:a16="http://schemas.microsoft.com/office/drawing/2014/main" id="{6A0DF399-F3E0-58BE-7596-FD2B4B85EC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66842"/>
              </p:ext>
            </p:extLst>
          </p:nvPr>
        </p:nvGraphicFramePr>
        <p:xfrm>
          <a:off x="5661431" y="4570281"/>
          <a:ext cx="5200156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9794">
                  <a:extLst>
                    <a:ext uri="{9D8B030D-6E8A-4147-A177-3AD203B41FA5}">
                      <a16:colId xmlns:a16="http://schemas.microsoft.com/office/drawing/2014/main" val="403693021"/>
                    </a:ext>
                  </a:extLst>
                </a:gridCol>
                <a:gridCol w="1299794">
                  <a:extLst>
                    <a:ext uri="{9D8B030D-6E8A-4147-A177-3AD203B41FA5}">
                      <a16:colId xmlns:a16="http://schemas.microsoft.com/office/drawing/2014/main" val="2707412763"/>
                    </a:ext>
                  </a:extLst>
                </a:gridCol>
                <a:gridCol w="1300284">
                  <a:extLst>
                    <a:ext uri="{9D8B030D-6E8A-4147-A177-3AD203B41FA5}">
                      <a16:colId xmlns:a16="http://schemas.microsoft.com/office/drawing/2014/main" val="2641454508"/>
                    </a:ext>
                  </a:extLst>
                </a:gridCol>
                <a:gridCol w="1300284">
                  <a:extLst>
                    <a:ext uri="{9D8B030D-6E8A-4147-A177-3AD203B41FA5}">
                      <a16:colId xmlns:a16="http://schemas.microsoft.com/office/drawing/2014/main" val="20815818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TW" b="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zh-TW" altLang="en-US" b="0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4040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[-997, 130]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[-108, 19]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[-105, 2]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579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[-17, 12]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[-23, 1]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[-85, 85]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4580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[-11, 2]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[-14, 15]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[-995, 104]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66766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0293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𝕀𝕎𝕄 </a:t>
            </a:r>
            <a:r>
              <a:rPr kumimoji="1" lang="en-US" altLang="zh-TW" sz="2800" dirty="0"/>
              <a:t>Necessary conditions</a:t>
            </a:r>
            <a:r>
              <a:rPr kumimoji="1" lang="en-US" altLang="zh-TW" dirty="0"/>
              <a:t> (3/5)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11</a:t>
            </a:fld>
            <a:endParaRPr kumimoji="1"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59EC0E7B-3ECC-1A05-8A6D-C6EA5EED5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00" y="1774915"/>
            <a:ext cx="10800000" cy="851952"/>
          </a:xfrm>
          <a:prstGeom prst="rect">
            <a:avLst/>
          </a:prstGeom>
        </p:spPr>
      </p:pic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C3E9CC41-CD5B-AC17-C643-C285D1784420}"/>
              </a:ext>
            </a:extLst>
          </p:cNvPr>
          <p:cNvCxnSpPr>
            <a:cxnSpLocks/>
          </p:cNvCxnSpPr>
          <p:nvPr/>
        </p:nvCxnSpPr>
        <p:spPr>
          <a:xfrm>
            <a:off x="5375188" y="2626867"/>
            <a:ext cx="415187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表格 14">
            <a:extLst>
              <a:ext uri="{FF2B5EF4-FFF2-40B4-BE49-F238E27FC236}">
                <a16:creationId xmlns:a16="http://schemas.microsoft.com/office/drawing/2014/main" id="{1A31624B-23A0-38D8-7893-E29E5AF8E5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705697"/>
              </p:ext>
            </p:extLst>
          </p:nvPr>
        </p:nvGraphicFramePr>
        <p:xfrm>
          <a:off x="1365353" y="4021506"/>
          <a:ext cx="4374511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3318">
                  <a:extLst>
                    <a:ext uri="{9D8B030D-6E8A-4147-A177-3AD203B41FA5}">
                      <a16:colId xmlns:a16="http://schemas.microsoft.com/office/drawing/2014/main" val="2707412763"/>
                    </a:ext>
                  </a:extLst>
                </a:gridCol>
                <a:gridCol w="1093731">
                  <a:extLst>
                    <a:ext uri="{9D8B030D-6E8A-4147-A177-3AD203B41FA5}">
                      <a16:colId xmlns:a16="http://schemas.microsoft.com/office/drawing/2014/main" val="2641454508"/>
                    </a:ext>
                  </a:extLst>
                </a:gridCol>
                <a:gridCol w="1093731">
                  <a:extLst>
                    <a:ext uri="{9D8B030D-6E8A-4147-A177-3AD203B41FA5}">
                      <a16:colId xmlns:a16="http://schemas.microsoft.com/office/drawing/2014/main" val="2081581893"/>
                    </a:ext>
                  </a:extLst>
                </a:gridCol>
                <a:gridCol w="1093731">
                  <a:extLst>
                    <a:ext uri="{9D8B030D-6E8A-4147-A177-3AD203B41FA5}">
                      <a16:colId xmlns:a16="http://schemas.microsoft.com/office/drawing/2014/main" val="30580641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[3, 1000]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[10, 120]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[17, 20]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[0, </a:t>
                      </a:r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0579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[2, 20]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[7, 9]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[0, </a:t>
                      </a:r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[17, 85]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4580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[2, 5]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[0, </a:t>
                      </a:r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[10, 14]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[14, 100]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6676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[0, </a:t>
                      </a:r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[3, 6]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[5, 21]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[7, 1000]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2576026"/>
                  </a:ext>
                </a:extLst>
              </a:tr>
            </a:tbl>
          </a:graphicData>
        </a:graphic>
      </p:graphicFrame>
      <p:graphicFrame>
        <p:nvGraphicFramePr>
          <p:cNvPr id="13" name="表格 14">
            <a:extLst>
              <a:ext uri="{FF2B5EF4-FFF2-40B4-BE49-F238E27FC236}">
                <a16:creationId xmlns:a16="http://schemas.microsoft.com/office/drawing/2014/main" id="{EC7CDEA2-8B19-E6A4-E0E0-9A332AC7A1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537181"/>
              </p:ext>
            </p:extLst>
          </p:nvPr>
        </p:nvGraphicFramePr>
        <p:xfrm>
          <a:off x="6322544" y="4021506"/>
          <a:ext cx="4374511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3318">
                  <a:extLst>
                    <a:ext uri="{9D8B030D-6E8A-4147-A177-3AD203B41FA5}">
                      <a16:colId xmlns:a16="http://schemas.microsoft.com/office/drawing/2014/main" val="2707412763"/>
                    </a:ext>
                  </a:extLst>
                </a:gridCol>
                <a:gridCol w="1093731">
                  <a:extLst>
                    <a:ext uri="{9D8B030D-6E8A-4147-A177-3AD203B41FA5}">
                      <a16:colId xmlns:a16="http://schemas.microsoft.com/office/drawing/2014/main" val="2641454508"/>
                    </a:ext>
                  </a:extLst>
                </a:gridCol>
                <a:gridCol w="1093731">
                  <a:extLst>
                    <a:ext uri="{9D8B030D-6E8A-4147-A177-3AD203B41FA5}">
                      <a16:colId xmlns:a16="http://schemas.microsoft.com/office/drawing/2014/main" val="2081581893"/>
                    </a:ext>
                  </a:extLst>
                </a:gridCol>
                <a:gridCol w="1093731">
                  <a:extLst>
                    <a:ext uri="{9D8B030D-6E8A-4147-A177-3AD203B41FA5}">
                      <a16:colId xmlns:a16="http://schemas.microsoft.com/office/drawing/2014/main" val="30580641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0579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4580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6676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2576026"/>
                  </a:ext>
                </a:extLst>
              </a:tr>
            </a:tbl>
          </a:graphicData>
        </a:graphic>
      </p:graphicFrame>
      <p:sp>
        <p:nvSpPr>
          <p:cNvPr id="14" name="文字方塊 13">
            <a:extLst>
              <a:ext uri="{FF2B5EF4-FFF2-40B4-BE49-F238E27FC236}">
                <a16:creationId xmlns:a16="http://schemas.microsoft.com/office/drawing/2014/main" id="{1BD0D8AC-D0AB-5FCE-EC8F-6EB21BB3A0B3}"/>
              </a:ext>
            </a:extLst>
          </p:cNvPr>
          <p:cNvSpPr txBox="1"/>
          <p:nvPr/>
        </p:nvSpPr>
        <p:spPr>
          <a:xfrm>
            <a:off x="1365353" y="3075688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: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1FD926F6-6E92-FF97-BCDD-2655262957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283" r="15943" b="52467"/>
          <a:stretch/>
        </p:blipFill>
        <p:spPr>
          <a:xfrm>
            <a:off x="6322544" y="3533318"/>
            <a:ext cx="1163595" cy="404956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C6C52F96-C2A4-DD82-1E44-FA222D968B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940" r="50138" b="52339"/>
          <a:stretch/>
        </p:blipFill>
        <p:spPr>
          <a:xfrm>
            <a:off x="1365353" y="3533348"/>
            <a:ext cx="2037881" cy="404926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36BEBB06-20F8-E2B5-0DD2-C599B686D3CE}"/>
              </a:ext>
            </a:extLst>
          </p:cNvPr>
          <p:cNvSpPr txBox="1"/>
          <p:nvPr/>
        </p:nvSpPr>
        <p:spPr>
          <a:xfrm>
            <a:off x="5375188" y="2666611"/>
            <a:ext cx="4297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和上界相等值的數列至少為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max(row, col)</a:t>
            </a:r>
            <a:endParaRPr kumimoji="1" lang="zh-TW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033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𝕀𝕎𝕄 </a:t>
            </a:r>
            <a:r>
              <a:rPr kumimoji="1" lang="en-US" altLang="zh-TW" sz="2800" dirty="0"/>
              <a:t>Sufficient conditions </a:t>
            </a:r>
            <a:r>
              <a:rPr kumimoji="1" lang="en-US" altLang="zh-TW" dirty="0"/>
              <a:t>(4/5)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12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CC92AB0-EB87-A0A9-3F90-9BD183C02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00" y="1394411"/>
            <a:ext cx="10800000" cy="113909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0B168305-FC6E-7C36-847A-61C53342B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00" y="2400127"/>
            <a:ext cx="10800000" cy="805714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86610828-B1A8-1360-06A3-3EE60AD1F2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800" y="3331954"/>
            <a:ext cx="10800000" cy="1654976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8D285399-7F00-67DF-2F41-DD824D884218}"/>
              </a:ext>
            </a:extLst>
          </p:cNvPr>
          <p:cNvSpPr txBox="1"/>
          <p:nvPr/>
        </p:nvSpPr>
        <p:spPr>
          <a:xfrm>
            <a:off x="7488194" y="1963959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每行或每列交集不為空集合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6B38F0C-FC86-42DA-269D-B2844C560E3F}"/>
              </a:ext>
            </a:extLst>
          </p:cNvPr>
          <p:cNvSpPr txBox="1"/>
          <p:nvPr/>
        </p:nvSpPr>
        <p:spPr>
          <a:xfrm>
            <a:off x="2833816" y="2836509"/>
            <a:ext cx="2375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每個元素半徑 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≥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中心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endParaRPr kumimoji="1" lang="zh-TW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F0D32F71-A959-0C83-8B6D-60F56126C2C1}"/>
              </a:ext>
            </a:extLst>
          </p:cNvPr>
          <p:cNvSpPr txBox="1"/>
          <p:nvPr/>
        </p:nvSpPr>
        <p:spPr>
          <a:xfrm>
            <a:off x="8426199" y="4267971"/>
            <a:ext cx="3299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每個元素半徑 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≥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左上角殘差和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endParaRPr kumimoji="1" lang="zh-TW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表格 14">
            <a:extLst>
              <a:ext uri="{FF2B5EF4-FFF2-40B4-BE49-F238E27FC236}">
                <a16:creationId xmlns:a16="http://schemas.microsoft.com/office/drawing/2014/main" id="{ED9B7CF1-8AB1-7D7F-62D2-85197C183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840750"/>
              </p:ext>
            </p:extLst>
          </p:nvPr>
        </p:nvGraphicFramePr>
        <p:xfrm>
          <a:off x="-657067" y="4835012"/>
          <a:ext cx="4944799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8736">
                  <a:extLst>
                    <a:ext uri="{9D8B030D-6E8A-4147-A177-3AD203B41FA5}">
                      <a16:colId xmlns:a16="http://schemas.microsoft.com/office/drawing/2014/main" val="403693021"/>
                    </a:ext>
                  </a:extLst>
                </a:gridCol>
                <a:gridCol w="988736">
                  <a:extLst>
                    <a:ext uri="{9D8B030D-6E8A-4147-A177-3AD203B41FA5}">
                      <a16:colId xmlns:a16="http://schemas.microsoft.com/office/drawing/2014/main" val="2707412763"/>
                    </a:ext>
                  </a:extLst>
                </a:gridCol>
                <a:gridCol w="989109">
                  <a:extLst>
                    <a:ext uri="{9D8B030D-6E8A-4147-A177-3AD203B41FA5}">
                      <a16:colId xmlns:a16="http://schemas.microsoft.com/office/drawing/2014/main" val="2641454508"/>
                    </a:ext>
                  </a:extLst>
                </a:gridCol>
                <a:gridCol w="989109">
                  <a:extLst>
                    <a:ext uri="{9D8B030D-6E8A-4147-A177-3AD203B41FA5}">
                      <a16:colId xmlns:a16="http://schemas.microsoft.com/office/drawing/2014/main" val="2081581893"/>
                    </a:ext>
                  </a:extLst>
                </a:gridCol>
                <a:gridCol w="989109">
                  <a:extLst>
                    <a:ext uri="{9D8B030D-6E8A-4147-A177-3AD203B41FA5}">
                      <a16:colId xmlns:a16="http://schemas.microsoft.com/office/drawing/2014/main" val="30580641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4040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[3, 1000]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[10, 120]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[17, 20]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[0, 24]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579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[2, 20]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[7, 9]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[0, 12]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[17, 85]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4580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[2, 5]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[0, 6]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[10, 14]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[14, 100]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6676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[0, 1]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[3, 6]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[5, 21]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[7, 1000]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2576026"/>
                  </a:ext>
                </a:extLst>
              </a:tr>
            </a:tbl>
          </a:graphicData>
        </a:graphic>
      </p:graphicFrame>
      <p:graphicFrame>
        <p:nvGraphicFramePr>
          <p:cNvPr id="23" name="表格 14">
            <a:extLst>
              <a:ext uri="{FF2B5EF4-FFF2-40B4-BE49-F238E27FC236}">
                <a16:creationId xmlns:a16="http://schemas.microsoft.com/office/drawing/2014/main" id="{4E3035E4-223D-BBBA-FEC6-44F43CC44F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714035"/>
              </p:ext>
            </p:extLst>
          </p:nvPr>
        </p:nvGraphicFramePr>
        <p:xfrm>
          <a:off x="4370827" y="4835012"/>
          <a:ext cx="7830138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65673">
                  <a:extLst>
                    <a:ext uri="{9D8B030D-6E8A-4147-A177-3AD203B41FA5}">
                      <a16:colId xmlns:a16="http://schemas.microsoft.com/office/drawing/2014/main" val="403693021"/>
                    </a:ext>
                  </a:extLst>
                </a:gridCol>
                <a:gridCol w="1565673">
                  <a:extLst>
                    <a:ext uri="{9D8B030D-6E8A-4147-A177-3AD203B41FA5}">
                      <a16:colId xmlns:a16="http://schemas.microsoft.com/office/drawing/2014/main" val="2707412763"/>
                    </a:ext>
                  </a:extLst>
                </a:gridCol>
                <a:gridCol w="1566264">
                  <a:extLst>
                    <a:ext uri="{9D8B030D-6E8A-4147-A177-3AD203B41FA5}">
                      <a16:colId xmlns:a16="http://schemas.microsoft.com/office/drawing/2014/main" val="2641454508"/>
                    </a:ext>
                  </a:extLst>
                </a:gridCol>
                <a:gridCol w="1566264">
                  <a:extLst>
                    <a:ext uri="{9D8B030D-6E8A-4147-A177-3AD203B41FA5}">
                      <a16:colId xmlns:a16="http://schemas.microsoft.com/office/drawing/2014/main" val="2081581893"/>
                    </a:ext>
                  </a:extLst>
                </a:gridCol>
                <a:gridCol w="1566264">
                  <a:extLst>
                    <a:ext uri="{9D8B030D-6E8A-4147-A177-3AD203B41FA5}">
                      <a16:colId xmlns:a16="http://schemas.microsoft.com/office/drawing/2014/main" val="30580641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4040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(498.5, 501.5)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(55, 65)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(1.5, 8.5)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(12, 12)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579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(9, 11)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(1, 8)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(6, 6)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(34, 51)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4580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(1.5, 3.5)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(3, 3)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(2, 12)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(43, 57)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6676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(0.5, 0.5)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(1.5, 4.5)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(8, 13)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(496.5, 503.5)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2576026"/>
                  </a:ext>
                </a:extLst>
              </a:tr>
            </a:tbl>
          </a:graphicData>
        </a:graphic>
      </p:graphicFrame>
      <p:graphicFrame>
        <p:nvGraphicFramePr>
          <p:cNvPr id="24" name="表格 17">
            <a:extLst>
              <a:ext uri="{FF2B5EF4-FFF2-40B4-BE49-F238E27FC236}">
                <a16:creationId xmlns:a16="http://schemas.microsoft.com/office/drawing/2014/main" id="{F8B34830-F5FB-0123-F94F-303F7195DD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453236"/>
              </p:ext>
            </p:extLst>
          </p:nvPr>
        </p:nvGraphicFramePr>
        <p:xfrm>
          <a:off x="4489639" y="5210932"/>
          <a:ext cx="1075600" cy="1478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5600">
                  <a:extLst>
                    <a:ext uri="{9D8B030D-6E8A-4147-A177-3AD203B41FA5}">
                      <a16:colId xmlns:a16="http://schemas.microsoft.com/office/drawing/2014/main" val="13169836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[17, 20]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3033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[17, 9]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5027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[14, 5]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1393798"/>
                  </a:ext>
                </a:extLst>
              </a:tr>
              <a:tr h="21835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[7,1]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3584984"/>
                  </a:ext>
                </a:extLst>
              </a:tr>
            </a:tbl>
          </a:graphicData>
        </a:graphic>
      </p:graphicFrame>
      <p:sp>
        <p:nvSpPr>
          <p:cNvPr id="26" name="文字方塊 25">
            <a:extLst>
              <a:ext uri="{FF2B5EF4-FFF2-40B4-BE49-F238E27FC236}">
                <a16:creationId xmlns:a16="http://schemas.microsoft.com/office/drawing/2014/main" id="{A44D3947-95F3-BB8E-A81D-A3A8ED3D7B52}"/>
              </a:ext>
            </a:extLst>
          </p:cNvPr>
          <p:cNvSpPr txBox="1"/>
          <p:nvPr/>
        </p:nvSpPr>
        <p:spPr>
          <a:xfrm>
            <a:off x="4532219" y="484268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每列交集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DA7EAF0F-31FE-0B2F-B642-FC55F7C450AC}"/>
              </a:ext>
            </a:extLst>
          </p:cNvPr>
          <p:cNvSpPr txBox="1"/>
          <p:nvPr/>
        </p:nvSpPr>
        <p:spPr>
          <a:xfrm>
            <a:off x="6851082" y="4818396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半徑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中心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1" lang="zh-TW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932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𝕀𝕎𝕄 Sufficient conditions (5/5)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13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28F9F49-7B97-20A6-4D05-CFE400A47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00" y="1564764"/>
            <a:ext cx="10800000" cy="433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315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Closure Properties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14</a:t>
            </a:fld>
            <a:endParaRPr kumimoji="1"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6DBDD993-BB1F-92ED-BF2F-4E7AD0087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00" y="5128408"/>
            <a:ext cx="10800000" cy="46139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1C13DF6F-9094-FA94-7BAD-FB9496B50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00" y="1872600"/>
            <a:ext cx="10800000" cy="822675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7905A022-E434-F3F4-B0BD-441190AC3BE8}"/>
              </a:ext>
            </a:extLst>
          </p:cNvPr>
          <p:cNvSpPr txBox="1"/>
          <p:nvPr/>
        </p:nvSpPr>
        <p:spPr>
          <a:xfrm>
            <a:off x="6794765" y="152464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正實數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72B33067-5349-947E-BDB5-DF0A497CB7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800" y="3021864"/>
            <a:ext cx="10800000" cy="177995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A372E364-6A39-0D97-879D-35D21BF6D184}"/>
              </a:ext>
            </a:extLst>
          </p:cNvPr>
          <p:cNvSpPr txBox="1"/>
          <p:nvPr/>
        </p:nvSpPr>
        <p:spPr>
          <a:xfrm>
            <a:off x="5953800" y="283719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正實數區間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ABA62C2-5F83-1106-9D60-5BF8953A62C6}"/>
              </a:ext>
            </a:extLst>
          </p:cNvPr>
          <p:cNvSpPr txBox="1"/>
          <p:nvPr/>
        </p:nvSpPr>
        <p:spPr>
          <a:xfrm>
            <a:off x="1744266" y="4759076"/>
            <a:ext cx="5234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𝛼區間除了要正實數外，半徑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中心比和殘差比有關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88013A7-4FAA-13B8-E109-D609DE1D0733}"/>
              </a:ext>
            </a:extLst>
          </p:cNvPr>
          <p:cNvSpPr txBox="1"/>
          <p:nvPr/>
        </p:nvSpPr>
        <p:spPr>
          <a:xfrm>
            <a:off x="8672385" y="550998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轉置</a:t>
            </a:r>
          </a:p>
        </p:txBody>
      </p:sp>
    </p:spTree>
    <p:extLst>
      <p:ext uri="{BB962C8B-B14F-4D97-AF65-F5344CB8AC3E}">
        <p14:creationId xmlns:p14="http://schemas.microsoft.com/office/powerpoint/2010/main" val="703070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76276ADC-B58F-CCAE-C8DA-EAE2DC1FF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405" y="4464306"/>
            <a:ext cx="10800000" cy="2062167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Closure Properties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15</a:t>
            </a:fld>
            <a:endParaRPr kumimoji="1"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E18456C-8825-8E57-F00A-A33E10CE5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405" y="1491155"/>
            <a:ext cx="10800000" cy="2956690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08E87289-D5A3-0562-63EA-714592844911}"/>
              </a:ext>
            </a:extLst>
          </p:cNvPr>
          <p:cNvSpPr txBox="1"/>
          <p:nvPr/>
        </p:nvSpPr>
        <p:spPr>
          <a:xfrm>
            <a:off x="3758021" y="175657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區間矩陣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9CE0AB67-C8CE-67DC-0590-728D921F6B07}"/>
              </a:ext>
            </a:extLst>
          </p:cNvPr>
          <p:cNvSpPr txBox="1"/>
          <p:nvPr/>
        </p:nvSpPr>
        <p:spPr>
          <a:xfrm>
            <a:off x="6205632" y="1756577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𝕀𝕎𝕄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F872C83-29CB-ACF4-074F-EF257B7F615E}"/>
              </a:ext>
            </a:extLst>
          </p:cNvPr>
          <p:cNvSpPr txBox="1"/>
          <p:nvPr/>
        </p:nvSpPr>
        <p:spPr>
          <a:xfrm>
            <a:off x="7591129" y="175657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正實數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F2552E71-D270-B110-2475-EDC994D0E41E}"/>
              </a:ext>
            </a:extLst>
          </p:cNvPr>
          <p:cNvSpPr txBox="1"/>
          <p:nvPr/>
        </p:nvSpPr>
        <p:spPr>
          <a:xfrm>
            <a:off x="8981783" y="175657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正實數區間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7551C24F-0F1A-6C1E-9BCC-FC36A12A39A5}"/>
              </a:ext>
            </a:extLst>
          </p:cNvPr>
          <p:cNvSpPr txBox="1"/>
          <p:nvPr/>
        </p:nvSpPr>
        <p:spPr>
          <a:xfrm>
            <a:off x="4064884" y="4751031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𝕀𝕊𝕄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503FB37-E58E-9CAC-82DD-3DC2316AF570}"/>
              </a:ext>
            </a:extLst>
          </p:cNvPr>
          <p:cNvSpPr txBox="1"/>
          <p:nvPr/>
        </p:nvSpPr>
        <p:spPr>
          <a:xfrm>
            <a:off x="6042933" y="4751031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𝕀𝕎𝕄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BA79E305-4E35-4812-1AE6-09B55C0A504A}"/>
              </a:ext>
            </a:extLst>
          </p:cNvPr>
          <p:cNvSpPr txBox="1"/>
          <p:nvPr/>
        </p:nvSpPr>
        <p:spPr>
          <a:xfrm>
            <a:off x="7527286" y="475103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正實數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5B42D122-7DA8-A97C-E6BD-C76CDFC46699}"/>
              </a:ext>
            </a:extLst>
          </p:cNvPr>
          <p:cNvSpPr txBox="1"/>
          <p:nvPr/>
        </p:nvSpPr>
        <p:spPr>
          <a:xfrm>
            <a:off x="8917940" y="475103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正實數區間</a:t>
            </a:r>
          </a:p>
        </p:txBody>
      </p:sp>
    </p:spTree>
    <p:extLst>
      <p:ext uri="{BB962C8B-B14F-4D97-AF65-F5344CB8AC3E}">
        <p14:creationId xmlns:p14="http://schemas.microsoft.com/office/powerpoint/2010/main" val="164377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Algorithm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16</a:t>
            </a:fld>
            <a:endParaRPr kumimoji="1"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2B6FCF8-BDED-5FC9-48A0-0E275D176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00" y="1479130"/>
            <a:ext cx="10800000" cy="78441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18D250AB-1928-D59A-6E53-17AD0E68E7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00" y="2543027"/>
            <a:ext cx="10800000" cy="279608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EB055445-0A4C-0CA4-058A-F7EE7FCC9B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035" y="5317847"/>
            <a:ext cx="10507172" cy="60831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C60A7DC8-0793-C43D-0491-27ED36607809}"/>
              </a:ext>
            </a:extLst>
          </p:cNvPr>
          <p:cNvSpPr/>
          <p:nvPr/>
        </p:nvSpPr>
        <p:spPr>
          <a:xfrm>
            <a:off x="3653481" y="1849286"/>
            <a:ext cx="85385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𝕀𝕊𝕄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closed under an operation of flipping the matrix upside down and left to right.</a:t>
            </a:r>
            <a:endParaRPr lang="en-US" altLang="zh-TW" b="1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0E28F93-9804-800C-F7C3-CEB1C7571A9B}"/>
              </a:ext>
            </a:extLst>
          </p:cNvPr>
          <p:cNvSpPr/>
          <p:nvPr/>
        </p:nvSpPr>
        <p:spPr>
          <a:xfrm>
            <a:off x="6401689" y="4961345"/>
            <a:ext cx="519620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the order of columns is ambiguous, the order of columns and rows does not really matter because all four interval entries are actually real values.</a:t>
            </a:r>
            <a:endParaRPr lang="en-US" altLang="zh-TW" b="1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表格 14">
            <a:extLst>
              <a:ext uri="{FF2B5EF4-FFF2-40B4-BE49-F238E27FC236}">
                <a16:creationId xmlns:a16="http://schemas.microsoft.com/office/drawing/2014/main" id="{AE59818D-B960-6C72-3432-210F11EC3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264696"/>
              </p:ext>
            </p:extLst>
          </p:nvPr>
        </p:nvGraphicFramePr>
        <p:xfrm>
          <a:off x="9377549" y="3152822"/>
          <a:ext cx="193614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5299">
                  <a:extLst>
                    <a:ext uri="{9D8B030D-6E8A-4147-A177-3AD203B41FA5}">
                      <a16:colId xmlns:a16="http://schemas.microsoft.com/office/drawing/2014/main" val="1422278736"/>
                    </a:ext>
                  </a:extLst>
                </a:gridCol>
                <a:gridCol w="645299">
                  <a:extLst>
                    <a:ext uri="{9D8B030D-6E8A-4147-A177-3AD203B41FA5}">
                      <a16:colId xmlns:a16="http://schemas.microsoft.com/office/drawing/2014/main" val="2707412763"/>
                    </a:ext>
                  </a:extLst>
                </a:gridCol>
                <a:gridCol w="645542">
                  <a:extLst>
                    <a:ext uri="{9D8B030D-6E8A-4147-A177-3AD203B41FA5}">
                      <a16:colId xmlns:a16="http://schemas.microsoft.com/office/drawing/2014/main" val="2641454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endParaRPr lang="zh-TW" altLang="en-US" b="1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zh-TW" altLang="en-US" b="1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7799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579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(k, </a:t>
                      </a:r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(k, </a:t>
                      </a:r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4580486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3766A209-7CD2-33DF-91C8-D35DF74C4D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6381997"/>
              </p:ext>
            </p:extLst>
          </p:nvPr>
        </p:nvGraphicFramePr>
        <p:xfrm>
          <a:off x="534234" y="3152822"/>
          <a:ext cx="193614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5299">
                  <a:extLst>
                    <a:ext uri="{9D8B030D-6E8A-4147-A177-3AD203B41FA5}">
                      <a16:colId xmlns:a16="http://schemas.microsoft.com/office/drawing/2014/main" val="1422278736"/>
                    </a:ext>
                  </a:extLst>
                </a:gridCol>
                <a:gridCol w="645299">
                  <a:extLst>
                    <a:ext uri="{9D8B030D-6E8A-4147-A177-3AD203B41FA5}">
                      <a16:colId xmlns:a16="http://schemas.microsoft.com/office/drawing/2014/main" val="2707412763"/>
                    </a:ext>
                  </a:extLst>
                </a:gridCol>
                <a:gridCol w="645542">
                  <a:extLst>
                    <a:ext uri="{9D8B030D-6E8A-4147-A177-3AD203B41FA5}">
                      <a16:colId xmlns:a16="http://schemas.microsoft.com/office/drawing/2014/main" val="2641454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zh-TW" altLang="en-US" b="1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endParaRPr lang="zh-TW" altLang="en-US" b="1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7799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579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(k, </a:t>
                      </a:r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(k,</a:t>
                      </a:r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4580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82481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Algorithm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17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399D7C4-047F-4B6F-9278-19C2F6648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00" y="1378589"/>
            <a:ext cx="10800000" cy="2881915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26B8EAFB-CF1F-2A8F-2061-F8D8065DB336}"/>
              </a:ext>
            </a:extLst>
          </p:cNvPr>
          <p:cNvSpPr/>
          <p:nvPr/>
        </p:nvSpPr>
        <p:spPr>
          <a:xfrm>
            <a:off x="971280" y="3455190"/>
            <a:ext cx="22701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第i列前b行上界和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D924606-D980-7357-07BB-00F86B4C5AB1}"/>
              </a:ext>
            </a:extLst>
          </p:cNvPr>
          <p:cNvSpPr/>
          <p:nvPr/>
        </p:nvSpPr>
        <p:spPr>
          <a:xfrm>
            <a:off x="3706242" y="3455190"/>
            <a:ext cx="22958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第i列後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行下界和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D4ADDF7-2F57-2B9D-234B-85AC9B8CFA95}"/>
              </a:ext>
            </a:extLst>
          </p:cNvPr>
          <p:cNvSpPr/>
          <p:nvPr/>
        </p:nvSpPr>
        <p:spPr>
          <a:xfrm>
            <a:off x="6096000" y="3455190"/>
            <a:ext cx="23342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③</a:t>
            </a:r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列前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行下界和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B6FFF0E-5025-08EA-7FD5-286A4BCB64E1}"/>
              </a:ext>
            </a:extLst>
          </p:cNvPr>
          <p:cNvSpPr/>
          <p:nvPr/>
        </p:nvSpPr>
        <p:spPr>
          <a:xfrm>
            <a:off x="8724900" y="3455190"/>
            <a:ext cx="23599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④</a:t>
            </a:r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列後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行上界和</a:t>
            </a:r>
          </a:p>
        </p:txBody>
      </p:sp>
      <p:graphicFrame>
        <p:nvGraphicFramePr>
          <p:cNvPr id="14" name="表格 14">
            <a:extLst>
              <a:ext uri="{FF2B5EF4-FFF2-40B4-BE49-F238E27FC236}">
                <a16:creationId xmlns:a16="http://schemas.microsoft.com/office/drawing/2014/main" id="{2625CB0B-6B12-A113-E5B7-077EC54BC5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860890"/>
              </p:ext>
            </p:extLst>
          </p:nvPr>
        </p:nvGraphicFramePr>
        <p:xfrm>
          <a:off x="6779709" y="4842184"/>
          <a:ext cx="132879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4270">
                  <a:extLst>
                    <a:ext uri="{9D8B030D-6E8A-4147-A177-3AD203B41FA5}">
                      <a16:colId xmlns:a16="http://schemas.microsoft.com/office/drawing/2014/main" val="2707412763"/>
                    </a:ext>
                  </a:extLst>
                </a:gridCol>
                <a:gridCol w="664520">
                  <a:extLst>
                    <a:ext uri="{9D8B030D-6E8A-4147-A177-3AD203B41FA5}">
                      <a16:colId xmlns:a16="http://schemas.microsoft.com/office/drawing/2014/main" val="2641454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[0, </a:t>
                      </a:r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5]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0579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,8]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0]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4580486"/>
                  </a:ext>
                </a:extLst>
              </a:tr>
            </a:tbl>
          </a:graphicData>
        </a:graphic>
      </p:graphicFrame>
      <p:sp>
        <p:nvSpPr>
          <p:cNvPr id="15" name="文字方塊 14">
            <a:extLst>
              <a:ext uri="{FF2B5EF4-FFF2-40B4-BE49-F238E27FC236}">
                <a16:creationId xmlns:a16="http://schemas.microsoft.com/office/drawing/2014/main" id="{C1203E66-87A4-6487-6695-95D82608612D}"/>
              </a:ext>
            </a:extLst>
          </p:cNvPr>
          <p:cNvSpPr txBox="1"/>
          <p:nvPr/>
        </p:nvSpPr>
        <p:spPr>
          <a:xfrm>
            <a:off x="6598360" y="4304373"/>
            <a:ext cx="1691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: </a:t>
            </a:r>
            <a:r>
              <a: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𝕀𝕊𝕄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D2C4087-4EE9-C8AB-3854-994E343DD138}"/>
              </a:ext>
            </a:extLst>
          </p:cNvPr>
          <p:cNvSpPr txBox="1"/>
          <p:nvPr/>
        </p:nvSpPr>
        <p:spPr>
          <a:xfrm>
            <a:off x="8504791" y="4889858"/>
            <a:ext cx="19656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令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b=1, B=1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1*5-1*5 ≤ 1*0-1*0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BEEA8081-30CA-2D79-3AB0-8239E918F833}"/>
              </a:ext>
            </a:extLst>
          </p:cNvPr>
          <p:cNvSpPr txBox="1"/>
          <p:nvPr/>
        </p:nvSpPr>
        <p:spPr>
          <a:xfrm>
            <a:off x="672707" y="4721168"/>
            <a:ext cx="251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B9A14555-6E69-7FC8-1F02-3434454FACD9}"/>
              </a:ext>
            </a:extLst>
          </p:cNvPr>
          <p:cNvSpPr txBox="1"/>
          <p:nvPr/>
        </p:nvSpPr>
        <p:spPr>
          <a:xfrm>
            <a:off x="674311" y="583021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34E01C5-6899-0A5E-F339-12DA5DA74998}"/>
              </a:ext>
            </a:extLst>
          </p:cNvPr>
          <p:cNvSpPr/>
          <p:nvPr/>
        </p:nvSpPr>
        <p:spPr>
          <a:xfrm>
            <a:off x="1637804" y="4103899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  <a:endParaRPr lang="zh-TW" altLang="en-US" dirty="0"/>
          </a:p>
        </p:txBody>
      </p:sp>
      <p:sp>
        <p:nvSpPr>
          <p:cNvPr id="21" name="左大括弧 20">
            <a:extLst>
              <a:ext uri="{FF2B5EF4-FFF2-40B4-BE49-F238E27FC236}">
                <a16:creationId xmlns:a16="http://schemas.microsoft.com/office/drawing/2014/main" id="{D62E5FB9-264E-B3CE-5F92-136A5806E404}"/>
              </a:ext>
            </a:extLst>
          </p:cNvPr>
          <p:cNvSpPr/>
          <p:nvPr/>
        </p:nvSpPr>
        <p:spPr>
          <a:xfrm rot="5400000">
            <a:off x="1776965" y="3992376"/>
            <a:ext cx="190032" cy="1142212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2" name="左大括弧 21">
            <a:extLst>
              <a:ext uri="{FF2B5EF4-FFF2-40B4-BE49-F238E27FC236}">
                <a16:creationId xmlns:a16="http://schemas.microsoft.com/office/drawing/2014/main" id="{7E55BBB7-1FFB-28FF-D950-11040E816E6A}"/>
              </a:ext>
            </a:extLst>
          </p:cNvPr>
          <p:cNvSpPr/>
          <p:nvPr/>
        </p:nvSpPr>
        <p:spPr>
          <a:xfrm rot="5400000">
            <a:off x="5384399" y="3952602"/>
            <a:ext cx="190032" cy="1142212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7CB33E0-48A4-844E-4222-9FC8C81AC456}"/>
              </a:ext>
            </a:extLst>
          </p:cNvPr>
          <p:cNvSpPr/>
          <p:nvPr/>
        </p:nvSpPr>
        <p:spPr>
          <a:xfrm>
            <a:off x="5248422" y="4103899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  <a:endParaRPr lang="zh-TW" altLang="en-US" dirty="0"/>
          </a:p>
        </p:txBody>
      </p:sp>
      <p:sp>
        <p:nvSpPr>
          <p:cNvPr id="24" name="左大括弧 23">
            <a:extLst>
              <a:ext uri="{FF2B5EF4-FFF2-40B4-BE49-F238E27FC236}">
                <a16:creationId xmlns:a16="http://schemas.microsoft.com/office/drawing/2014/main" id="{13EBC5B6-2E12-932C-FAE9-39C42D6123FA}"/>
              </a:ext>
            </a:extLst>
          </p:cNvPr>
          <p:cNvSpPr/>
          <p:nvPr/>
        </p:nvSpPr>
        <p:spPr>
          <a:xfrm rot="16200000">
            <a:off x="5384399" y="5794628"/>
            <a:ext cx="190032" cy="1142212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25" name="表格 17">
            <a:extLst>
              <a:ext uri="{FF2B5EF4-FFF2-40B4-BE49-F238E27FC236}">
                <a16:creationId xmlns:a16="http://schemas.microsoft.com/office/drawing/2014/main" id="{51A07563-C4E0-0746-8D96-DE3543BDBC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799352"/>
              </p:ext>
            </p:extLst>
          </p:nvPr>
        </p:nvGraphicFramePr>
        <p:xfrm>
          <a:off x="1029067" y="4717575"/>
          <a:ext cx="535435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8638">
                  <a:extLst>
                    <a:ext uri="{9D8B030D-6E8A-4147-A177-3AD203B41FA5}">
                      <a16:colId xmlns:a16="http://schemas.microsoft.com/office/drawing/2014/main" val="1370015742"/>
                    </a:ext>
                  </a:extLst>
                </a:gridCol>
                <a:gridCol w="672167">
                  <a:extLst>
                    <a:ext uri="{9D8B030D-6E8A-4147-A177-3AD203B41FA5}">
                      <a16:colId xmlns:a16="http://schemas.microsoft.com/office/drawing/2014/main" val="3496499266"/>
                    </a:ext>
                  </a:extLst>
                </a:gridCol>
                <a:gridCol w="672167">
                  <a:extLst>
                    <a:ext uri="{9D8B030D-6E8A-4147-A177-3AD203B41FA5}">
                      <a16:colId xmlns:a16="http://schemas.microsoft.com/office/drawing/2014/main" val="77953699"/>
                    </a:ext>
                  </a:extLst>
                </a:gridCol>
                <a:gridCol w="672167">
                  <a:extLst>
                    <a:ext uri="{9D8B030D-6E8A-4147-A177-3AD203B41FA5}">
                      <a16:colId xmlns:a16="http://schemas.microsoft.com/office/drawing/2014/main" val="1798496249"/>
                    </a:ext>
                  </a:extLst>
                </a:gridCol>
                <a:gridCol w="672167">
                  <a:extLst>
                    <a:ext uri="{9D8B030D-6E8A-4147-A177-3AD203B41FA5}">
                      <a16:colId xmlns:a16="http://schemas.microsoft.com/office/drawing/2014/main" val="2104288775"/>
                    </a:ext>
                  </a:extLst>
                </a:gridCol>
                <a:gridCol w="672167">
                  <a:extLst>
                    <a:ext uri="{9D8B030D-6E8A-4147-A177-3AD203B41FA5}">
                      <a16:colId xmlns:a16="http://schemas.microsoft.com/office/drawing/2014/main" val="1225043072"/>
                    </a:ext>
                  </a:extLst>
                </a:gridCol>
                <a:gridCol w="1034877">
                  <a:extLst>
                    <a:ext uri="{9D8B030D-6E8A-4147-A177-3AD203B41FA5}">
                      <a16:colId xmlns:a16="http://schemas.microsoft.com/office/drawing/2014/main" val="3227091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[a1, </a:t>
                      </a:r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a2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</a:t>
                      </a:r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</a:t>
                      </a:r>
                      <a:endParaRPr lang="zh-TW" altLang="en-US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</a:t>
                      </a: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b1</a:t>
                      </a: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b2]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8225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2744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6998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c1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c2]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</a:t>
                      </a:r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</a:t>
                      </a:r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</a:t>
                      </a:r>
                      <a:endParaRPr lang="zh-TW" altLang="en-US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[d1, </a:t>
                      </a:r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d2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1273771"/>
                  </a:ext>
                </a:extLst>
              </a:tr>
            </a:tbl>
          </a:graphicData>
        </a:graphic>
      </p:graphicFrame>
      <p:sp>
        <p:nvSpPr>
          <p:cNvPr id="26" name="左大括弧 25">
            <a:extLst>
              <a:ext uri="{FF2B5EF4-FFF2-40B4-BE49-F238E27FC236}">
                <a16:creationId xmlns:a16="http://schemas.microsoft.com/office/drawing/2014/main" id="{14277806-AFA9-F4B0-EB32-FD7E74CCE80B}"/>
              </a:ext>
            </a:extLst>
          </p:cNvPr>
          <p:cNvSpPr/>
          <p:nvPr/>
        </p:nvSpPr>
        <p:spPr>
          <a:xfrm rot="16200000">
            <a:off x="1776965" y="5800793"/>
            <a:ext cx="190032" cy="1142212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2A3A121-E87B-31D2-72CB-D3CC0B069105}"/>
              </a:ext>
            </a:extLst>
          </p:cNvPr>
          <p:cNvSpPr/>
          <p:nvPr/>
        </p:nvSpPr>
        <p:spPr>
          <a:xfrm>
            <a:off x="1637804" y="6436036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③</a:t>
            </a:r>
            <a:endParaRPr lang="zh-TW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DD414E1-AB38-C02E-EA2B-7BE6A91D6937}"/>
              </a:ext>
            </a:extLst>
          </p:cNvPr>
          <p:cNvSpPr/>
          <p:nvPr/>
        </p:nvSpPr>
        <p:spPr>
          <a:xfrm>
            <a:off x="5248422" y="6436036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④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007503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Algorithm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18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4B118F1-C8E8-F6F6-BD2C-016A1608B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12" y="3811748"/>
            <a:ext cx="10800000" cy="171883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19C2474-3E47-7644-7F79-AA29E17EA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012" y="1618172"/>
            <a:ext cx="10800000" cy="173692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70ABA262-316A-0C24-2835-6EBA3CDDE5A8}"/>
              </a:ext>
            </a:extLst>
          </p:cNvPr>
          <p:cNvSpPr/>
          <p:nvPr/>
        </p:nvSpPr>
        <p:spPr>
          <a:xfrm>
            <a:off x="8403624" y="2486635"/>
            <a:ext cx="27051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TW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的直徑 ≤ 第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的負直徑</a:t>
            </a: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7E3CC579-DD85-BBE7-1A1A-E6845CA6C8A9}"/>
              </a:ext>
            </a:extLst>
          </p:cNvPr>
          <p:cNvCxnSpPr/>
          <p:nvPr/>
        </p:nvCxnSpPr>
        <p:spPr>
          <a:xfrm>
            <a:off x="2063578" y="4559643"/>
            <a:ext cx="495506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8D12228D-0C04-D0F4-6293-C9616DC78B0D}"/>
              </a:ext>
            </a:extLst>
          </p:cNvPr>
          <p:cNvCxnSpPr>
            <a:cxnSpLocks/>
          </p:cNvCxnSpPr>
          <p:nvPr/>
        </p:nvCxnSpPr>
        <p:spPr>
          <a:xfrm>
            <a:off x="2253049" y="4996248"/>
            <a:ext cx="910075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621A612B-1999-17C3-9E8F-E1450ECD0278}"/>
              </a:ext>
            </a:extLst>
          </p:cNvPr>
          <p:cNvCxnSpPr>
            <a:cxnSpLocks/>
          </p:cNvCxnSpPr>
          <p:nvPr/>
        </p:nvCxnSpPr>
        <p:spPr>
          <a:xfrm>
            <a:off x="838200" y="5439960"/>
            <a:ext cx="485826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569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19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F16E9A5-DB7F-8A49-9FDC-7F12803E4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00" y="279000"/>
            <a:ext cx="10800000" cy="6300000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E5F6537A-945E-92DD-4D99-8D1F8E623F35}"/>
              </a:ext>
            </a:extLst>
          </p:cNvPr>
          <p:cNvSpPr txBox="1"/>
          <p:nvPr/>
        </p:nvSpPr>
        <p:spPr>
          <a:xfrm>
            <a:off x="3315729" y="2483707"/>
            <a:ext cx="3565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利用第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列，找𝛒排列（行）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FF3B24C-A1F8-5A8F-E02A-D49EA9D1FBF0}"/>
              </a:ext>
            </a:extLst>
          </p:cNvPr>
          <p:cNvSpPr txBox="1"/>
          <p:nvPr/>
        </p:nvSpPr>
        <p:spPr>
          <a:xfrm>
            <a:off x="4258963" y="4576119"/>
            <a:ext cx="3143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利用𝛒</a:t>
            </a:r>
            <a:r>
              <a:rPr kumimoji="1" lang="en-US" altLang="zh-TW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和𝛒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找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𝛅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排列（列）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F2AB529-F2C4-2BB1-20D5-7A61EC83018D}"/>
              </a:ext>
            </a:extLst>
          </p:cNvPr>
          <p:cNvSpPr txBox="1"/>
          <p:nvPr/>
        </p:nvSpPr>
        <p:spPr>
          <a:xfrm>
            <a:off x="2846617" y="6280906"/>
            <a:ext cx="4166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如果有找𝛒和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𝛅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排列，則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M(𝛅,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𝛒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∈ 𝕀𝕊𝕄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6E0CB76-A0F1-CB56-2294-C123D935881A}"/>
              </a:ext>
            </a:extLst>
          </p:cNvPr>
          <p:cNvSpPr txBox="1"/>
          <p:nvPr/>
        </p:nvSpPr>
        <p:spPr>
          <a:xfrm>
            <a:off x="8353167" y="291357"/>
            <a:ext cx="2771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solidFill>
                  <a:srgbClr val="FF0000"/>
                </a:solidFill>
              </a:rPr>
              <a:t>區間矩陣所有元素半徑</a:t>
            </a:r>
            <a:r>
              <a:rPr kumimoji="1" lang="en-US" altLang="zh-TW" b="1" dirty="0">
                <a:solidFill>
                  <a:srgbClr val="FF0000"/>
                </a:solidFill>
              </a:rPr>
              <a:t>&gt;0</a:t>
            </a:r>
            <a:endParaRPr kumimoji="1" lang="zh-TW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89212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20</a:t>
            </a:fld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D63C8BA-25B6-79F6-66B1-E6A3D67DEC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7287"/>
          <a:stretch/>
        </p:blipFill>
        <p:spPr>
          <a:xfrm>
            <a:off x="696000" y="409058"/>
            <a:ext cx="10800000" cy="6039884"/>
          </a:xfrm>
          <a:prstGeom prst="rect">
            <a:avLst/>
          </a:prstGeom>
        </p:spPr>
      </p:pic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4FD67610-9F83-0426-B01A-01D1BC74FD28}"/>
              </a:ext>
            </a:extLst>
          </p:cNvPr>
          <p:cNvCxnSpPr>
            <a:cxnSpLocks/>
          </p:cNvCxnSpPr>
          <p:nvPr/>
        </p:nvCxnSpPr>
        <p:spPr>
          <a:xfrm>
            <a:off x="4077730" y="2384854"/>
            <a:ext cx="694449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E778D962-75A4-3A37-96E0-8EACD4E1E6D8}"/>
              </a:ext>
            </a:extLst>
          </p:cNvPr>
          <p:cNvCxnSpPr>
            <a:cxnSpLocks/>
          </p:cNvCxnSpPr>
          <p:nvPr/>
        </p:nvCxnSpPr>
        <p:spPr>
          <a:xfrm>
            <a:off x="1116227" y="2821459"/>
            <a:ext cx="53957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469ABD96-1C84-17D6-3564-23A6487BF3E9}"/>
              </a:ext>
            </a:extLst>
          </p:cNvPr>
          <p:cNvSpPr txBox="1"/>
          <p:nvPr/>
        </p:nvSpPr>
        <p:spPr>
          <a:xfrm>
            <a:off x="3080951" y="4047566"/>
            <a:ext cx="2821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利用第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列，找𝛒排列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95EE56F-FFD2-B366-BE5F-7D0A4A24F931}"/>
              </a:ext>
            </a:extLst>
          </p:cNvPr>
          <p:cNvSpPr txBox="1"/>
          <p:nvPr/>
        </p:nvSpPr>
        <p:spPr>
          <a:xfrm>
            <a:off x="2977977" y="3244334"/>
            <a:ext cx="4330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先找到第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列至少有兩個行模糊組和</a:t>
            </a:r>
          </a:p>
        </p:txBody>
      </p: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CF2A302E-94F8-848C-277B-A7979F578B7A}"/>
              </a:ext>
            </a:extLst>
          </p:cNvPr>
          <p:cNvCxnSpPr>
            <a:cxnSpLocks/>
          </p:cNvCxnSpPr>
          <p:nvPr/>
        </p:nvCxnSpPr>
        <p:spPr>
          <a:xfrm>
            <a:off x="5647038" y="6046572"/>
            <a:ext cx="57067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4D6FB0E9-6309-17CA-2AD9-E8AB3741258E}"/>
              </a:ext>
            </a:extLst>
          </p:cNvPr>
          <p:cNvCxnSpPr>
            <a:cxnSpLocks/>
          </p:cNvCxnSpPr>
          <p:nvPr/>
        </p:nvCxnSpPr>
        <p:spPr>
          <a:xfrm>
            <a:off x="2298357" y="6448942"/>
            <a:ext cx="578502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557E09A8-1BE3-398B-847E-83A58652CEE6}"/>
              </a:ext>
            </a:extLst>
          </p:cNvPr>
          <p:cNvSpPr txBox="1"/>
          <p:nvPr/>
        </p:nvSpPr>
        <p:spPr>
          <a:xfrm>
            <a:off x="8875256" y="6123029"/>
            <a:ext cx="162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設定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</a:t>
            </a:r>
          </a:p>
        </p:txBody>
      </p:sp>
    </p:spTree>
    <p:extLst>
      <p:ext uri="{BB962C8B-B14F-4D97-AF65-F5344CB8AC3E}">
        <p14:creationId xmlns:p14="http://schemas.microsoft.com/office/powerpoint/2010/main" val="9702556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21</a:t>
            </a:fld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D63C8BA-25B6-79F6-66B1-E6A3D67DEC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2868"/>
          <a:stretch/>
        </p:blipFill>
        <p:spPr>
          <a:xfrm>
            <a:off x="696000" y="728817"/>
            <a:ext cx="10800000" cy="5400367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21AE7E24-0A24-01A6-01FA-7A6C6D27462C}"/>
              </a:ext>
            </a:extLst>
          </p:cNvPr>
          <p:cNvSpPr txBox="1"/>
          <p:nvPr/>
        </p:nvSpPr>
        <p:spPr>
          <a:xfrm>
            <a:off x="9473514" y="753530"/>
            <a:ext cx="2909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利用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找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𝛅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排列（列）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5036034-4C99-E50F-A0A7-5A5C2F3C4878}"/>
              </a:ext>
            </a:extLst>
          </p:cNvPr>
          <p:cNvSpPr txBox="1"/>
          <p:nvPr/>
        </p:nvSpPr>
        <p:spPr>
          <a:xfrm>
            <a:off x="6802721" y="3404286"/>
            <a:ext cx="3076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利用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𝛅</a:t>
            </a:r>
            <a:r>
              <a:rPr kumimoji="1" lang="en-US" altLang="zh-TW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𝛅</a:t>
            </a:r>
            <a:r>
              <a:rPr kumimoji="1" lang="en-US" altLang="zh-TW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找𝛑排列（行）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6424B99-F3D9-F7BD-D75B-E3C2CC8E2EA3}"/>
              </a:ext>
            </a:extLst>
          </p:cNvPr>
          <p:cNvSpPr txBox="1"/>
          <p:nvPr/>
        </p:nvSpPr>
        <p:spPr>
          <a:xfrm>
            <a:off x="2617899" y="5759851"/>
            <a:ext cx="3794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如果找到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𝛅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和𝛑，則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M(𝛅, </a:t>
            </a:r>
            <a:r>
              <a:rPr kumimoji="1"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𝛑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∈ 𝕀𝕊𝕄</a:t>
            </a:r>
            <a:endParaRPr kumimoji="1" lang="zh-TW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944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hank you for listening"/>
          <p:cNvSpPr txBox="1">
            <a:spLocks noGrp="1"/>
          </p:cNvSpPr>
          <p:nvPr>
            <p:ph type="title"/>
          </p:nvPr>
        </p:nvSpPr>
        <p:spPr>
          <a:xfrm>
            <a:off x="844550" y="2857500"/>
            <a:ext cx="10502900" cy="1143000"/>
          </a:xfrm>
          <a:prstGeom prst="rect">
            <a:avLst/>
          </a:prstGeom>
        </p:spPr>
        <p:txBody>
          <a:bodyPr/>
          <a:lstStyle/>
          <a:p>
            <a:pPr algn="ctr"/>
            <a:r>
              <a:rPr dirty="0"/>
              <a:t>Thank you for listening</a:t>
            </a:r>
          </a:p>
        </p:txBody>
      </p:sp>
      <p:sp>
        <p:nvSpPr>
          <p:cNvPr id="305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22</a:t>
            </a:fld>
            <a:endParaRPr/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Abstract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23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58822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1193</TotalTime>
  <Words>1340</Words>
  <Application>Microsoft Macintosh PowerPoint</Application>
  <PresentationFormat>寬螢幕</PresentationFormat>
  <Paragraphs>356</Paragraphs>
  <Slides>24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29" baseType="lpstr">
      <vt:lpstr>Arial</vt:lpstr>
      <vt:lpstr>Calibri</vt:lpstr>
      <vt:lpstr>Rockwell</vt:lpstr>
      <vt:lpstr>Times New Roman</vt:lpstr>
      <vt:lpstr>Office 佈景主題</vt:lpstr>
      <vt:lpstr>Interval Matrices with Monge Property</vt:lpstr>
      <vt:lpstr>Abstract</vt:lpstr>
      <vt:lpstr>Interval analysis (1/3)</vt:lpstr>
      <vt:lpstr>Interval analysis (2/3)</vt:lpstr>
      <vt:lpstr>Interval analysis (3/3)</vt:lpstr>
      <vt:lpstr>Real Matrices with Monge Property (1/2)</vt:lpstr>
      <vt:lpstr>Real Matrices with Monge Property (2/2)</vt:lpstr>
      <vt:lpstr>𝕀𝕊𝕄 (1/2)</vt:lpstr>
      <vt:lpstr>𝕀𝕊𝕄 (2/2)</vt:lpstr>
      <vt:lpstr>𝕀𝕎𝕄 (1/5)</vt:lpstr>
      <vt:lpstr>𝕀𝕎𝕄 Necessary conditions (2/5)</vt:lpstr>
      <vt:lpstr>𝕀𝕎𝕄 Necessary conditions (3/5)</vt:lpstr>
      <vt:lpstr>𝕀𝕎𝕄 Sufficient conditions (4/5)</vt:lpstr>
      <vt:lpstr>𝕀𝕎𝕄 Sufficient conditions (5/5)</vt:lpstr>
      <vt:lpstr>Closure Properties</vt:lpstr>
      <vt:lpstr>Closure Properties</vt:lpstr>
      <vt:lpstr>Algorithm</vt:lpstr>
      <vt:lpstr>Algorithm</vt:lpstr>
      <vt:lpstr>Algorithm</vt:lpstr>
      <vt:lpstr>PowerPoint 簡報</vt:lpstr>
      <vt:lpstr>PowerPoint 簡報</vt:lpstr>
      <vt:lpstr>PowerPoint 簡報</vt:lpstr>
      <vt:lpstr>Thank you for listening</vt:lpstr>
      <vt:lpstr>Abstract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Improved Algorithm for The Longest Common Subsequence Problem</dc:title>
  <dc:creator>宗霖 呂</dc:creator>
  <cp:lastModifiedBy>宗霖 呂</cp:lastModifiedBy>
  <cp:revision>22</cp:revision>
  <dcterms:created xsi:type="dcterms:W3CDTF">2021-03-28T03:57:23Z</dcterms:created>
  <dcterms:modified xsi:type="dcterms:W3CDTF">2022-06-28T10:57:46Z</dcterms:modified>
</cp:coreProperties>
</file>