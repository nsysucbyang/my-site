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1" r:id="rId3"/>
    <p:sldId id="332" r:id="rId4"/>
    <p:sldId id="350" r:id="rId5"/>
    <p:sldId id="343" r:id="rId6"/>
    <p:sldId id="344" r:id="rId7"/>
    <p:sldId id="345" r:id="rId8"/>
    <p:sldId id="346" r:id="rId9"/>
    <p:sldId id="347" r:id="rId10"/>
    <p:sldId id="348" r:id="rId11"/>
    <p:sldId id="349" r:id="rId12"/>
    <p:sldId id="351" r:id="rId13"/>
    <p:sldId id="352" r:id="rId14"/>
    <p:sldId id="353" r:id="rId15"/>
    <p:sldId id="355" r:id="rId16"/>
    <p:sldId id="341" r:id="rId17"/>
    <p:sldId id="354" r:id="rId18"/>
    <p:sldId id="356" r:id="rId19"/>
    <p:sldId id="290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21" autoAdjust="0"/>
    <p:restoredTop sz="92275" autoAdjust="0"/>
  </p:normalViewPr>
  <p:slideViewPr>
    <p:cSldViewPr snapToGrid="0">
      <p:cViewPr varScale="1">
        <p:scale>
          <a:sx n="53" d="100"/>
          <a:sy n="53" d="100"/>
        </p:scale>
        <p:origin x="799" y="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5354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470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429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2022/6/28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813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2022/6/28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614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2022/6/28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8512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2022/6/28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528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2022/6/28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11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2022/6/28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34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713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02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1E1DC-9B0B-4445-BE92-0FA02D7ED6E3}" type="datetimeFigureOut">
              <a:rPr lang="zh-TW" altLang="en-US" smtClean="0"/>
              <a:t>2022/6/28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842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33450" y="1101342"/>
            <a:ext cx="10582275" cy="1375157"/>
          </a:xfrm>
        </p:spPr>
        <p:txBody>
          <a:bodyPr>
            <a:normAutofit fontScale="90000"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substrings with k mismatches</a:t>
            </a:r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Tomas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Flouri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Emanuele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Giaquinta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Kassian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Kobert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Esko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Ukkonen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 115 (2015) 643–647</a:t>
            </a: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8883004" y="5876925"/>
            <a:ext cx="288858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Cheng-Han Ho</a:t>
            </a: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June 28, 2022</a:t>
            </a:r>
          </a:p>
        </p:txBody>
      </p:sp>
    </p:spTree>
    <p:extLst>
      <p:ext uri="{BB962C8B-B14F-4D97-AF65-F5344CB8AC3E}">
        <p14:creationId xmlns:p14="http://schemas.microsoft.com/office/powerpoint/2010/main" val="3662505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ED0E71-14AD-4E62-972C-221C5E865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82395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A93AAD-D6B7-4CD4-AC92-2D3922F8C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448"/>
            <a:ext cx="10515600" cy="5021427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longest common substring with k-mismatches problem is to ﬁnd, given two strings 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longest substring 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that the Hamming distance between 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≤ k. We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a practical O(nm) time and O(1) space solution for this problem, where n and m are the lengths of 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respectively. This algorithm can also be used to compute the matching statistics with k-mismatches of 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O(nm) time and O(m) space. Moreover, we also present a theoretical solution for the k = 1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which runs in    O(n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time, assuming m ≤ n, and uses O(m) space, improving over the existing O(nm) time and O(m) space bound of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Babenko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Starikovskaya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7678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9845"/>
            <a:ext cx="10771414" cy="1325563"/>
          </a:xfrm>
        </p:spPr>
        <p:txBody>
          <a:bodyPr>
            <a:normAutofit/>
          </a:bodyPr>
          <a:lstStyle/>
          <a:p>
            <a:r>
              <a:rPr lang="en-US" altLang="zh-TW" dirty="0"/>
              <a:t>Longest common substring with k mismatches 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2D0C3C21-46BB-43B2-AF26-26EF8F7D2E1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A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bacdacba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B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adcadba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k = 2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spc="-1" dirty="0">
                <a:solidFill>
                  <a:srgbClr val="FF0000"/>
                </a:solidFill>
                <a:latin typeface="Times New Roman" panose="02020603050405020304" pitchFamily="18" charset="0"/>
              </a:rPr>
              <a:t>ba</a:t>
            </a: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c   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pc="-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cd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TW" spc="-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pc="-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spc="-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ad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pc="-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dc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TW" spc="-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pc="-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ans</a:t>
            </a: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 = 5</a:t>
            </a:r>
            <a:endParaRPr lang="en-US" altLang="zh-TW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170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4AA30B10-D8A0-5D77-C132-15EFA43C80B9}"/>
              </a:ext>
            </a:extLst>
          </p:cNvPr>
          <p:cNvGraphicFramePr>
            <a:graphicFrameLocks noGrp="1"/>
          </p:cNvGraphicFramePr>
          <p:nvPr/>
        </p:nvGraphicFramePr>
        <p:xfrm>
          <a:off x="372832" y="3294770"/>
          <a:ext cx="11446335" cy="28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271815">
                  <a:extLst>
                    <a:ext uri="{9D8B030D-6E8A-4147-A177-3AD203B41FA5}">
                      <a16:colId xmlns:a16="http://schemas.microsoft.com/office/drawing/2014/main" val="2799190640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056416787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1663529719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91192248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334882536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101651058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005442573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438481277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025005932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</a:t>
                      </a:r>
                      <a:r>
                        <a:rPr lang="en-US" altLang="zh-TW" sz="2000" dirty="0" err="1"/>
                        <a:t>i+p</a:t>
                      </a:r>
                      <a:r>
                        <a:rPr lang="en-US" altLang="zh-TW" sz="2000" dirty="0"/>
                        <a:t>, </a:t>
                      </a:r>
                      <a:r>
                        <a:rPr lang="en-US" altLang="zh-TW" sz="2000" dirty="0" err="1"/>
                        <a:t>j+p</a:t>
                      </a:r>
                      <a:r>
                        <a:rPr lang="en-US" altLang="zh-TW" sz="2000" dirty="0"/>
                        <a:t>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init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(2, 1)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(3, 2)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(4, 3)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(5, 4)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(6, 5)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(7, 6)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(8, 7)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9972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Start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02664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p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07351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Queue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empty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empty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r>
                        <a:rPr lang="zh-TW" altLang="en-US" sz="2000" dirty="0"/>
                        <a:t> → </a:t>
                      </a: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r>
                        <a:rPr lang="zh-TW" altLang="en-US" sz="2000" dirty="0"/>
                        <a:t> → </a:t>
                      </a: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70521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Length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408646"/>
                  </a:ext>
                </a:extLst>
              </a:tr>
            </a:tbl>
          </a:graphicData>
        </a:graphic>
      </p:graphicFrame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C5F7F85-96B0-D4BD-C167-A744DADF4228}"/>
              </a:ext>
            </a:extLst>
          </p:cNvPr>
          <p:cNvSpPr txBox="1">
            <a:spLocks/>
          </p:cNvSpPr>
          <p:nvPr/>
        </p:nvSpPr>
        <p:spPr>
          <a:xfrm>
            <a:off x="838199" y="419100"/>
            <a:ext cx="10515600" cy="2638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A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bacdacba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B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adcadba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k = 2</a:t>
            </a:r>
          </a:p>
        </p:txBody>
      </p:sp>
      <p:sp>
        <p:nvSpPr>
          <p:cNvPr id="15" name="箭號: 向下 14">
            <a:extLst>
              <a:ext uri="{FF2B5EF4-FFF2-40B4-BE49-F238E27FC236}">
                <a16:creationId xmlns:a16="http://schemas.microsoft.com/office/drawing/2014/main" id="{07BD6B74-D651-E2D3-FA43-D6F0A99E73DF}"/>
              </a:ext>
            </a:extLst>
          </p:cNvPr>
          <p:cNvSpPr/>
          <p:nvPr/>
        </p:nvSpPr>
        <p:spPr>
          <a:xfrm>
            <a:off x="2076450" y="2562225"/>
            <a:ext cx="438150" cy="6000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7869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4AA30B10-D8A0-5D77-C132-15EFA43C8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969717"/>
              </p:ext>
            </p:extLst>
          </p:nvPr>
        </p:nvGraphicFramePr>
        <p:xfrm>
          <a:off x="372832" y="3294770"/>
          <a:ext cx="11446335" cy="28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271815">
                  <a:extLst>
                    <a:ext uri="{9D8B030D-6E8A-4147-A177-3AD203B41FA5}">
                      <a16:colId xmlns:a16="http://schemas.microsoft.com/office/drawing/2014/main" val="2799190640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056416787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1663529719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91192248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334882536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101651058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005442573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438481277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025005932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</a:t>
                      </a:r>
                      <a:r>
                        <a:rPr lang="en-US" altLang="zh-TW" sz="2000" dirty="0" err="1"/>
                        <a:t>i+p</a:t>
                      </a:r>
                      <a:r>
                        <a:rPr lang="en-US" altLang="zh-TW" sz="2000" dirty="0"/>
                        <a:t>, </a:t>
                      </a:r>
                      <a:r>
                        <a:rPr lang="en-US" altLang="zh-TW" sz="2000" dirty="0" err="1"/>
                        <a:t>j+p</a:t>
                      </a:r>
                      <a:r>
                        <a:rPr lang="en-US" altLang="zh-TW" sz="2000" dirty="0"/>
                        <a:t>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init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(2, 1)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(3, 2)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(4, 3)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(5, 4)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(6, 5)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(7, 6)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(8, 7)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9972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Start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02664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p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07351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Queue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empty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empty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r>
                        <a:rPr lang="zh-TW" altLang="en-US" sz="2000" dirty="0"/>
                        <a:t> → </a:t>
                      </a: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r>
                        <a:rPr lang="zh-TW" altLang="en-US" sz="2000" dirty="0"/>
                        <a:t> → </a:t>
                      </a: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70521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Length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408646"/>
                  </a:ext>
                </a:extLst>
              </a:tr>
            </a:tbl>
          </a:graphicData>
        </a:graphic>
      </p:graphicFrame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C5F7F85-96B0-D4BD-C167-A744DADF4228}"/>
              </a:ext>
            </a:extLst>
          </p:cNvPr>
          <p:cNvSpPr txBox="1">
            <a:spLocks/>
          </p:cNvSpPr>
          <p:nvPr/>
        </p:nvSpPr>
        <p:spPr>
          <a:xfrm>
            <a:off x="838199" y="419100"/>
            <a:ext cx="10515600" cy="2638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A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bacdacba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B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adcadba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k = 2</a:t>
            </a: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E8E44929-8225-5828-DD82-79F1271B85D9}"/>
              </a:ext>
            </a:extLst>
          </p:cNvPr>
          <p:cNvCxnSpPr>
            <a:cxnSpLocks/>
          </p:cNvCxnSpPr>
          <p:nvPr/>
        </p:nvCxnSpPr>
        <p:spPr>
          <a:xfrm flipH="1">
            <a:off x="2105025" y="857250"/>
            <a:ext cx="133350" cy="5524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A306563-CBFE-1BB7-D2A6-AD34B744238F}"/>
              </a:ext>
            </a:extLst>
          </p:cNvPr>
          <p:cNvSpPr txBox="1"/>
          <p:nvPr/>
        </p:nvSpPr>
        <p:spPr>
          <a:xfrm>
            <a:off x="6743700" y="440977"/>
            <a:ext cx="34861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Ans:</a:t>
            </a:r>
          </a:p>
          <a:p>
            <a:r>
              <a:rPr lang="en-US" altLang="zh-TW" sz="2800" dirty="0"/>
              <a:t>	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TW" sz="2800" spc="-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cdacba</a:t>
            </a:r>
            <a:endParaRPr lang="en-US" altLang="zh-TW" sz="2800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altLang="zh-TW" sz="2800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TW" sz="2800" spc="-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dcadba</a:t>
            </a:r>
            <a:endParaRPr lang="zh-TW" altLang="en-US" sz="2800" dirty="0"/>
          </a:p>
        </p:txBody>
      </p:sp>
      <p:sp>
        <p:nvSpPr>
          <p:cNvPr id="15" name="箭號: 向下 14">
            <a:extLst>
              <a:ext uri="{FF2B5EF4-FFF2-40B4-BE49-F238E27FC236}">
                <a16:creationId xmlns:a16="http://schemas.microsoft.com/office/drawing/2014/main" id="{07BD6B74-D651-E2D3-FA43-D6F0A99E73DF}"/>
              </a:ext>
            </a:extLst>
          </p:cNvPr>
          <p:cNvSpPr/>
          <p:nvPr/>
        </p:nvSpPr>
        <p:spPr>
          <a:xfrm>
            <a:off x="3324225" y="2562225"/>
            <a:ext cx="438150" cy="6000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1070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4AA30B10-D8A0-5D77-C132-15EFA43C80B9}"/>
              </a:ext>
            </a:extLst>
          </p:cNvPr>
          <p:cNvGraphicFramePr>
            <a:graphicFrameLocks noGrp="1"/>
          </p:cNvGraphicFramePr>
          <p:nvPr/>
        </p:nvGraphicFramePr>
        <p:xfrm>
          <a:off x="372832" y="3294770"/>
          <a:ext cx="11446335" cy="28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271815">
                  <a:extLst>
                    <a:ext uri="{9D8B030D-6E8A-4147-A177-3AD203B41FA5}">
                      <a16:colId xmlns:a16="http://schemas.microsoft.com/office/drawing/2014/main" val="2799190640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056416787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1663529719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91192248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334882536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101651058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005442573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438481277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025005932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</a:t>
                      </a:r>
                      <a:r>
                        <a:rPr lang="en-US" altLang="zh-TW" sz="2000" dirty="0" err="1"/>
                        <a:t>i+p</a:t>
                      </a:r>
                      <a:r>
                        <a:rPr lang="en-US" altLang="zh-TW" sz="2000" dirty="0"/>
                        <a:t>, </a:t>
                      </a:r>
                      <a:r>
                        <a:rPr lang="en-US" altLang="zh-TW" sz="2000" dirty="0" err="1"/>
                        <a:t>j+p</a:t>
                      </a:r>
                      <a:r>
                        <a:rPr lang="en-US" altLang="zh-TW" sz="2000" dirty="0"/>
                        <a:t>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init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(2, 1)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(3, 2)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(4, 3)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(5, 4)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(6, 5)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(7, 6)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(8, 7)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9972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Start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02664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p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07351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Queue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empty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empty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r>
                        <a:rPr lang="zh-TW" altLang="en-US" sz="2000" dirty="0"/>
                        <a:t> → </a:t>
                      </a: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r>
                        <a:rPr lang="zh-TW" altLang="en-US" sz="2000" dirty="0"/>
                        <a:t> → </a:t>
                      </a: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70521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Length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408646"/>
                  </a:ext>
                </a:extLst>
              </a:tr>
            </a:tbl>
          </a:graphicData>
        </a:graphic>
      </p:graphicFrame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C5F7F85-96B0-D4BD-C167-A744DADF4228}"/>
              </a:ext>
            </a:extLst>
          </p:cNvPr>
          <p:cNvSpPr txBox="1">
            <a:spLocks/>
          </p:cNvSpPr>
          <p:nvPr/>
        </p:nvSpPr>
        <p:spPr>
          <a:xfrm>
            <a:off x="838199" y="419100"/>
            <a:ext cx="10515600" cy="2638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A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bacdacba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B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adcadba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k = 2</a:t>
            </a: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E8E44929-8225-5828-DD82-79F1271B85D9}"/>
              </a:ext>
            </a:extLst>
          </p:cNvPr>
          <p:cNvCxnSpPr>
            <a:cxnSpLocks/>
          </p:cNvCxnSpPr>
          <p:nvPr/>
        </p:nvCxnSpPr>
        <p:spPr>
          <a:xfrm flipH="1">
            <a:off x="2247900" y="857250"/>
            <a:ext cx="133350" cy="5524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A306563-CBFE-1BB7-D2A6-AD34B744238F}"/>
              </a:ext>
            </a:extLst>
          </p:cNvPr>
          <p:cNvSpPr txBox="1"/>
          <p:nvPr/>
        </p:nvSpPr>
        <p:spPr>
          <a:xfrm>
            <a:off x="6743700" y="440977"/>
            <a:ext cx="34861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Ans:</a:t>
            </a:r>
          </a:p>
          <a:p>
            <a:r>
              <a:rPr lang="en-US" altLang="zh-TW" sz="2800" dirty="0"/>
              <a:t>	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TW" sz="2800" spc="-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ac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dacba</a:t>
            </a:r>
            <a:endParaRPr lang="en-US" altLang="zh-TW" sz="2800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altLang="zh-TW" sz="2800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TW" sz="2800" spc="-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ad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cadba</a:t>
            </a:r>
            <a:endParaRPr lang="zh-TW" altLang="en-US" sz="2800" dirty="0"/>
          </a:p>
        </p:txBody>
      </p:sp>
      <p:sp>
        <p:nvSpPr>
          <p:cNvPr id="15" name="箭號: 向下 14">
            <a:extLst>
              <a:ext uri="{FF2B5EF4-FFF2-40B4-BE49-F238E27FC236}">
                <a16:creationId xmlns:a16="http://schemas.microsoft.com/office/drawing/2014/main" id="{07BD6B74-D651-E2D3-FA43-D6F0A99E73DF}"/>
              </a:ext>
            </a:extLst>
          </p:cNvPr>
          <p:cNvSpPr/>
          <p:nvPr/>
        </p:nvSpPr>
        <p:spPr>
          <a:xfrm>
            <a:off x="4543425" y="2562225"/>
            <a:ext cx="438150" cy="6000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50137A0-9578-3D72-A904-6B069A5A5F28}"/>
              </a:ext>
            </a:extLst>
          </p:cNvPr>
          <p:cNvCxnSpPr>
            <a:cxnSpLocks/>
          </p:cNvCxnSpPr>
          <p:nvPr/>
        </p:nvCxnSpPr>
        <p:spPr>
          <a:xfrm flipH="1">
            <a:off x="2105025" y="866775"/>
            <a:ext cx="133350" cy="55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424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4AA30B10-D8A0-5D77-C132-15EFA43C80B9}"/>
              </a:ext>
            </a:extLst>
          </p:cNvPr>
          <p:cNvGraphicFramePr>
            <a:graphicFrameLocks noGrp="1"/>
          </p:cNvGraphicFramePr>
          <p:nvPr/>
        </p:nvGraphicFramePr>
        <p:xfrm>
          <a:off x="372832" y="3294770"/>
          <a:ext cx="11446335" cy="28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271815">
                  <a:extLst>
                    <a:ext uri="{9D8B030D-6E8A-4147-A177-3AD203B41FA5}">
                      <a16:colId xmlns:a16="http://schemas.microsoft.com/office/drawing/2014/main" val="2799190640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056416787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1663529719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91192248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334882536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101651058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005442573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438481277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025005932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</a:t>
                      </a:r>
                      <a:r>
                        <a:rPr lang="en-US" altLang="zh-TW" sz="2000" dirty="0" err="1"/>
                        <a:t>i+p</a:t>
                      </a:r>
                      <a:r>
                        <a:rPr lang="en-US" altLang="zh-TW" sz="2000" dirty="0"/>
                        <a:t>, </a:t>
                      </a:r>
                      <a:r>
                        <a:rPr lang="en-US" altLang="zh-TW" sz="2000" dirty="0" err="1"/>
                        <a:t>j+p</a:t>
                      </a:r>
                      <a:r>
                        <a:rPr lang="en-US" altLang="zh-TW" sz="2000" dirty="0"/>
                        <a:t>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init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(2, 1)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(3, 2)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(4, 3)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(5, 4)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(6, 5)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(7, 6)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(8, 7)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9972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Start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02664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p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07351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Queue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empty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empty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r>
                        <a:rPr lang="zh-TW" altLang="en-US" sz="2000" dirty="0"/>
                        <a:t> → </a:t>
                      </a: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r>
                        <a:rPr lang="zh-TW" altLang="en-US" sz="2000" dirty="0"/>
                        <a:t> → </a:t>
                      </a: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70521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Length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408646"/>
                  </a:ext>
                </a:extLst>
              </a:tr>
            </a:tbl>
          </a:graphicData>
        </a:graphic>
      </p:graphicFrame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C5F7F85-96B0-D4BD-C167-A744DADF4228}"/>
              </a:ext>
            </a:extLst>
          </p:cNvPr>
          <p:cNvSpPr txBox="1">
            <a:spLocks/>
          </p:cNvSpPr>
          <p:nvPr/>
        </p:nvSpPr>
        <p:spPr>
          <a:xfrm>
            <a:off x="838199" y="419100"/>
            <a:ext cx="10515600" cy="2638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A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bacdacba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B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adcadba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k = 2</a:t>
            </a: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E8E44929-8225-5828-DD82-79F1271B85D9}"/>
              </a:ext>
            </a:extLst>
          </p:cNvPr>
          <p:cNvCxnSpPr>
            <a:cxnSpLocks/>
          </p:cNvCxnSpPr>
          <p:nvPr/>
        </p:nvCxnSpPr>
        <p:spPr>
          <a:xfrm flipH="1">
            <a:off x="2428875" y="857250"/>
            <a:ext cx="133350" cy="5524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A306563-CBFE-1BB7-D2A6-AD34B744238F}"/>
              </a:ext>
            </a:extLst>
          </p:cNvPr>
          <p:cNvSpPr txBox="1"/>
          <p:nvPr/>
        </p:nvSpPr>
        <p:spPr>
          <a:xfrm>
            <a:off x="6743700" y="440977"/>
            <a:ext cx="34861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Ans:</a:t>
            </a:r>
          </a:p>
          <a:p>
            <a:r>
              <a:rPr lang="en-US" altLang="zh-TW" sz="2800" dirty="0"/>
              <a:t>	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TW" sz="2800" spc="-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acd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acba</a:t>
            </a:r>
            <a:endParaRPr lang="en-US" altLang="zh-TW" sz="2800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altLang="zh-TW" sz="2800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TW" sz="2800" spc="-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adc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adba</a:t>
            </a:r>
            <a:endParaRPr lang="zh-TW" altLang="en-US" sz="2800" dirty="0"/>
          </a:p>
        </p:txBody>
      </p:sp>
      <p:sp>
        <p:nvSpPr>
          <p:cNvPr id="15" name="箭號: 向下 14">
            <a:extLst>
              <a:ext uri="{FF2B5EF4-FFF2-40B4-BE49-F238E27FC236}">
                <a16:creationId xmlns:a16="http://schemas.microsoft.com/office/drawing/2014/main" id="{07BD6B74-D651-E2D3-FA43-D6F0A99E73DF}"/>
              </a:ext>
            </a:extLst>
          </p:cNvPr>
          <p:cNvSpPr/>
          <p:nvPr/>
        </p:nvSpPr>
        <p:spPr>
          <a:xfrm>
            <a:off x="5829300" y="2562225"/>
            <a:ext cx="438150" cy="6000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50137A0-9578-3D72-A904-6B069A5A5F28}"/>
              </a:ext>
            </a:extLst>
          </p:cNvPr>
          <p:cNvCxnSpPr>
            <a:cxnSpLocks/>
          </p:cNvCxnSpPr>
          <p:nvPr/>
        </p:nvCxnSpPr>
        <p:spPr>
          <a:xfrm flipH="1">
            <a:off x="2105025" y="866775"/>
            <a:ext cx="133350" cy="55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4E70459F-0AE3-75D7-CB17-38EDC5EC30AF}"/>
              </a:ext>
            </a:extLst>
          </p:cNvPr>
          <p:cNvCxnSpPr>
            <a:cxnSpLocks/>
          </p:cNvCxnSpPr>
          <p:nvPr/>
        </p:nvCxnSpPr>
        <p:spPr>
          <a:xfrm flipH="1">
            <a:off x="2257425" y="857250"/>
            <a:ext cx="133350" cy="55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799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4AA30B10-D8A0-5D77-C132-15EFA43C80B9}"/>
              </a:ext>
            </a:extLst>
          </p:cNvPr>
          <p:cNvGraphicFramePr>
            <a:graphicFrameLocks noGrp="1"/>
          </p:cNvGraphicFramePr>
          <p:nvPr/>
        </p:nvGraphicFramePr>
        <p:xfrm>
          <a:off x="372832" y="3294770"/>
          <a:ext cx="11446335" cy="28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271815">
                  <a:extLst>
                    <a:ext uri="{9D8B030D-6E8A-4147-A177-3AD203B41FA5}">
                      <a16:colId xmlns:a16="http://schemas.microsoft.com/office/drawing/2014/main" val="2799190640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056416787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1663529719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91192248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334882536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101651058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005442573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438481277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025005932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</a:t>
                      </a:r>
                      <a:r>
                        <a:rPr lang="en-US" altLang="zh-TW" sz="2000" dirty="0" err="1"/>
                        <a:t>i+p</a:t>
                      </a:r>
                      <a:r>
                        <a:rPr lang="en-US" altLang="zh-TW" sz="2000" dirty="0"/>
                        <a:t>, </a:t>
                      </a:r>
                      <a:r>
                        <a:rPr lang="en-US" altLang="zh-TW" sz="2000" dirty="0" err="1"/>
                        <a:t>j+p</a:t>
                      </a:r>
                      <a:r>
                        <a:rPr lang="en-US" altLang="zh-TW" sz="2000" dirty="0"/>
                        <a:t>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init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(2, 1)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(3, 2)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(4, 3)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(5, 4)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(6, 5)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(7, 6)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(8, 7)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9972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Start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02664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p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07351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Queue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empty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empty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r>
                        <a:rPr lang="zh-TW" altLang="en-US" sz="2000" dirty="0"/>
                        <a:t> → </a:t>
                      </a: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r>
                        <a:rPr lang="zh-TW" altLang="en-US" sz="2000" dirty="0"/>
                        <a:t> → </a:t>
                      </a: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70521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Length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408646"/>
                  </a:ext>
                </a:extLst>
              </a:tr>
            </a:tbl>
          </a:graphicData>
        </a:graphic>
      </p:graphicFrame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C5F7F85-96B0-D4BD-C167-A744DADF4228}"/>
              </a:ext>
            </a:extLst>
          </p:cNvPr>
          <p:cNvSpPr txBox="1">
            <a:spLocks/>
          </p:cNvSpPr>
          <p:nvPr/>
        </p:nvSpPr>
        <p:spPr>
          <a:xfrm>
            <a:off x="838199" y="419100"/>
            <a:ext cx="10515600" cy="2638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A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bacdacba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B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adcadba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k = 2</a:t>
            </a: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E8E44929-8225-5828-DD82-79F1271B85D9}"/>
              </a:ext>
            </a:extLst>
          </p:cNvPr>
          <p:cNvCxnSpPr>
            <a:cxnSpLocks/>
          </p:cNvCxnSpPr>
          <p:nvPr/>
        </p:nvCxnSpPr>
        <p:spPr>
          <a:xfrm flipH="1">
            <a:off x="2581275" y="857250"/>
            <a:ext cx="133350" cy="5524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A306563-CBFE-1BB7-D2A6-AD34B744238F}"/>
              </a:ext>
            </a:extLst>
          </p:cNvPr>
          <p:cNvSpPr txBox="1"/>
          <p:nvPr/>
        </p:nvSpPr>
        <p:spPr>
          <a:xfrm>
            <a:off x="6743700" y="440977"/>
            <a:ext cx="34861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Ans:</a:t>
            </a:r>
          </a:p>
          <a:p>
            <a:r>
              <a:rPr lang="en-US" altLang="zh-TW" sz="2800" dirty="0"/>
              <a:t>	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TW" sz="2800" spc="-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acda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cba</a:t>
            </a:r>
            <a:endParaRPr lang="en-US" altLang="zh-TW" sz="2800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altLang="zh-TW" sz="2800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TW" sz="2800" spc="-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adca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dba</a:t>
            </a:r>
            <a:endParaRPr lang="zh-TW" altLang="en-US" sz="2800" dirty="0"/>
          </a:p>
        </p:txBody>
      </p:sp>
      <p:sp>
        <p:nvSpPr>
          <p:cNvPr id="15" name="箭號: 向下 14">
            <a:extLst>
              <a:ext uri="{FF2B5EF4-FFF2-40B4-BE49-F238E27FC236}">
                <a16:creationId xmlns:a16="http://schemas.microsoft.com/office/drawing/2014/main" id="{07BD6B74-D651-E2D3-FA43-D6F0A99E73DF}"/>
              </a:ext>
            </a:extLst>
          </p:cNvPr>
          <p:cNvSpPr/>
          <p:nvPr/>
        </p:nvSpPr>
        <p:spPr>
          <a:xfrm>
            <a:off x="7124700" y="2562225"/>
            <a:ext cx="438150" cy="6000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50137A0-9578-3D72-A904-6B069A5A5F28}"/>
              </a:ext>
            </a:extLst>
          </p:cNvPr>
          <p:cNvCxnSpPr>
            <a:cxnSpLocks/>
          </p:cNvCxnSpPr>
          <p:nvPr/>
        </p:nvCxnSpPr>
        <p:spPr>
          <a:xfrm flipH="1">
            <a:off x="2105025" y="866775"/>
            <a:ext cx="133350" cy="55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4E70459F-0AE3-75D7-CB17-38EDC5EC30AF}"/>
              </a:ext>
            </a:extLst>
          </p:cNvPr>
          <p:cNvCxnSpPr>
            <a:cxnSpLocks/>
          </p:cNvCxnSpPr>
          <p:nvPr/>
        </p:nvCxnSpPr>
        <p:spPr>
          <a:xfrm flipH="1">
            <a:off x="2257425" y="866775"/>
            <a:ext cx="133350" cy="55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AEF87B95-4100-CDD0-6AA3-F10AB7B8F5DF}"/>
              </a:ext>
            </a:extLst>
          </p:cNvPr>
          <p:cNvCxnSpPr>
            <a:cxnSpLocks/>
          </p:cNvCxnSpPr>
          <p:nvPr/>
        </p:nvCxnSpPr>
        <p:spPr>
          <a:xfrm flipH="1">
            <a:off x="2409825" y="876300"/>
            <a:ext cx="133350" cy="55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260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4AA30B10-D8A0-5D77-C132-15EFA43C80B9}"/>
              </a:ext>
            </a:extLst>
          </p:cNvPr>
          <p:cNvGraphicFramePr>
            <a:graphicFrameLocks noGrp="1"/>
          </p:cNvGraphicFramePr>
          <p:nvPr/>
        </p:nvGraphicFramePr>
        <p:xfrm>
          <a:off x="372832" y="3294770"/>
          <a:ext cx="11446335" cy="28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271815">
                  <a:extLst>
                    <a:ext uri="{9D8B030D-6E8A-4147-A177-3AD203B41FA5}">
                      <a16:colId xmlns:a16="http://schemas.microsoft.com/office/drawing/2014/main" val="2799190640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056416787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1663529719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91192248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334882536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101651058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005442573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438481277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025005932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</a:t>
                      </a:r>
                      <a:r>
                        <a:rPr lang="en-US" altLang="zh-TW" sz="2000" dirty="0" err="1"/>
                        <a:t>i+p</a:t>
                      </a:r>
                      <a:r>
                        <a:rPr lang="en-US" altLang="zh-TW" sz="2000" dirty="0"/>
                        <a:t>, </a:t>
                      </a:r>
                      <a:r>
                        <a:rPr lang="en-US" altLang="zh-TW" sz="2000" dirty="0" err="1"/>
                        <a:t>j+p</a:t>
                      </a:r>
                      <a:r>
                        <a:rPr lang="en-US" altLang="zh-TW" sz="2000" dirty="0"/>
                        <a:t>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init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(2, 1)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(3, 2)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(4, 3)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(5, 4)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(6, 5)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(7, 6)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(8, 7)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9972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Start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02664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p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07351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Queue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empty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empty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r>
                        <a:rPr lang="zh-TW" altLang="en-US" sz="2000" dirty="0"/>
                        <a:t> → </a:t>
                      </a: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r>
                        <a:rPr lang="zh-TW" altLang="en-US" sz="2000" dirty="0"/>
                        <a:t> → </a:t>
                      </a: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70521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Length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408646"/>
                  </a:ext>
                </a:extLst>
              </a:tr>
            </a:tbl>
          </a:graphicData>
        </a:graphic>
      </p:graphicFrame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C5F7F85-96B0-D4BD-C167-A744DADF4228}"/>
              </a:ext>
            </a:extLst>
          </p:cNvPr>
          <p:cNvSpPr txBox="1">
            <a:spLocks/>
          </p:cNvSpPr>
          <p:nvPr/>
        </p:nvSpPr>
        <p:spPr>
          <a:xfrm>
            <a:off x="838199" y="419100"/>
            <a:ext cx="10515600" cy="2638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A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bacdacba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B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adcadba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k = 2</a:t>
            </a: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E8E44929-8225-5828-DD82-79F1271B85D9}"/>
              </a:ext>
            </a:extLst>
          </p:cNvPr>
          <p:cNvCxnSpPr>
            <a:cxnSpLocks/>
          </p:cNvCxnSpPr>
          <p:nvPr/>
        </p:nvCxnSpPr>
        <p:spPr>
          <a:xfrm flipH="1">
            <a:off x="2733675" y="847725"/>
            <a:ext cx="133350" cy="5524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A306563-CBFE-1BB7-D2A6-AD34B744238F}"/>
              </a:ext>
            </a:extLst>
          </p:cNvPr>
          <p:cNvSpPr txBox="1"/>
          <p:nvPr/>
        </p:nvSpPr>
        <p:spPr>
          <a:xfrm>
            <a:off x="6743700" y="440977"/>
            <a:ext cx="34861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Ans:</a:t>
            </a:r>
          </a:p>
          <a:p>
            <a:r>
              <a:rPr lang="en-US" altLang="zh-TW" sz="2800" dirty="0"/>
              <a:t>	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TW" sz="2800" spc="-1" dirty="0" err="1">
                <a:latin typeface="Times New Roman" panose="02020603050405020304" pitchFamily="18" charset="0"/>
              </a:rPr>
              <a:t>ac</a:t>
            </a:r>
            <a:r>
              <a:rPr lang="en-US" altLang="zh-TW" sz="2800" spc="-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dac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</a:t>
            </a:r>
            <a:endParaRPr lang="en-US" altLang="zh-TW" sz="2800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altLang="zh-TW" sz="2800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TW" sz="2800" spc="-1" dirty="0" err="1">
                <a:latin typeface="Times New Roman" panose="02020603050405020304" pitchFamily="18" charset="0"/>
              </a:rPr>
              <a:t>ad</a:t>
            </a:r>
            <a:r>
              <a:rPr lang="en-US" altLang="zh-TW" sz="2800" spc="-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cad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</a:t>
            </a:r>
            <a:endParaRPr lang="zh-TW" altLang="en-US" sz="2800" dirty="0"/>
          </a:p>
        </p:txBody>
      </p:sp>
      <p:sp>
        <p:nvSpPr>
          <p:cNvPr id="15" name="箭號: 向下 14">
            <a:extLst>
              <a:ext uri="{FF2B5EF4-FFF2-40B4-BE49-F238E27FC236}">
                <a16:creationId xmlns:a16="http://schemas.microsoft.com/office/drawing/2014/main" id="{07BD6B74-D651-E2D3-FA43-D6F0A99E73DF}"/>
              </a:ext>
            </a:extLst>
          </p:cNvPr>
          <p:cNvSpPr/>
          <p:nvPr/>
        </p:nvSpPr>
        <p:spPr>
          <a:xfrm>
            <a:off x="8420100" y="2562225"/>
            <a:ext cx="438150" cy="6000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50137A0-9578-3D72-A904-6B069A5A5F28}"/>
              </a:ext>
            </a:extLst>
          </p:cNvPr>
          <p:cNvCxnSpPr>
            <a:cxnSpLocks/>
          </p:cNvCxnSpPr>
          <p:nvPr/>
        </p:nvCxnSpPr>
        <p:spPr>
          <a:xfrm flipH="1">
            <a:off x="2105025" y="866775"/>
            <a:ext cx="133350" cy="55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4E70459F-0AE3-75D7-CB17-38EDC5EC30AF}"/>
              </a:ext>
            </a:extLst>
          </p:cNvPr>
          <p:cNvCxnSpPr>
            <a:cxnSpLocks/>
          </p:cNvCxnSpPr>
          <p:nvPr/>
        </p:nvCxnSpPr>
        <p:spPr>
          <a:xfrm flipH="1">
            <a:off x="2257425" y="866775"/>
            <a:ext cx="133350" cy="55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AEF87B95-4100-CDD0-6AA3-F10AB7B8F5DF}"/>
              </a:ext>
            </a:extLst>
          </p:cNvPr>
          <p:cNvCxnSpPr>
            <a:cxnSpLocks/>
          </p:cNvCxnSpPr>
          <p:nvPr/>
        </p:nvCxnSpPr>
        <p:spPr>
          <a:xfrm flipH="1">
            <a:off x="2409825" y="866775"/>
            <a:ext cx="133350" cy="55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5F554449-C100-3FD6-204E-B51689E6BF07}"/>
              </a:ext>
            </a:extLst>
          </p:cNvPr>
          <p:cNvCxnSpPr>
            <a:cxnSpLocks/>
          </p:cNvCxnSpPr>
          <p:nvPr/>
        </p:nvCxnSpPr>
        <p:spPr>
          <a:xfrm flipH="1">
            <a:off x="2562225" y="866775"/>
            <a:ext cx="133350" cy="55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926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4AA30B10-D8A0-5D77-C132-15EFA43C80B9}"/>
              </a:ext>
            </a:extLst>
          </p:cNvPr>
          <p:cNvGraphicFramePr>
            <a:graphicFrameLocks noGrp="1"/>
          </p:cNvGraphicFramePr>
          <p:nvPr/>
        </p:nvGraphicFramePr>
        <p:xfrm>
          <a:off x="372832" y="3294770"/>
          <a:ext cx="11446335" cy="28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271815">
                  <a:extLst>
                    <a:ext uri="{9D8B030D-6E8A-4147-A177-3AD203B41FA5}">
                      <a16:colId xmlns:a16="http://schemas.microsoft.com/office/drawing/2014/main" val="2799190640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056416787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1663529719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91192248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334882536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101651058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005442573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438481277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025005932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</a:t>
                      </a:r>
                      <a:r>
                        <a:rPr lang="en-US" altLang="zh-TW" sz="2000" dirty="0" err="1"/>
                        <a:t>i+p</a:t>
                      </a:r>
                      <a:r>
                        <a:rPr lang="en-US" altLang="zh-TW" sz="2000" dirty="0"/>
                        <a:t>, </a:t>
                      </a:r>
                      <a:r>
                        <a:rPr lang="en-US" altLang="zh-TW" sz="2000" dirty="0" err="1"/>
                        <a:t>j+p</a:t>
                      </a:r>
                      <a:r>
                        <a:rPr lang="en-US" altLang="zh-TW" sz="2000" dirty="0"/>
                        <a:t>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init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(2, 1)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(3, 2)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(4, 3)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(5, 4)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(6, 5)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(7, 6)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(8, 7)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9972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Start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02664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p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07351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Queue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empty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empty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r>
                        <a:rPr lang="zh-TW" altLang="en-US" sz="2000" dirty="0"/>
                        <a:t> → </a:t>
                      </a: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r>
                        <a:rPr lang="zh-TW" altLang="en-US" sz="2000" dirty="0"/>
                        <a:t> → </a:t>
                      </a: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70521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Length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408646"/>
                  </a:ext>
                </a:extLst>
              </a:tr>
            </a:tbl>
          </a:graphicData>
        </a:graphic>
      </p:graphicFrame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C5F7F85-96B0-D4BD-C167-A744DADF4228}"/>
              </a:ext>
            </a:extLst>
          </p:cNvPr>
          <p:cNvSpPr txBox="1">
            <a:spLocks/>
          </p:cNvSpPr>
          <p:nvPr/>
        </p:nvSpPr>
        <p:spPr>
          <a:xfrm>
            <a:off x="838199" y="419100"/>
            <a:ext cx="10515600" cy="2638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A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bacdacba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B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adcadba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k = 2</a:t>
            </a: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E8E44929-8225-5828-DD82-79F1271B85D9}"/>
              </a:ext>
            </a:extLst>
          </p:cNvPr>
          <p:cNvCxnSpPr>
            <a:cxnSpLocks/>
          </p:cNvCxnSpPr>
          <p:nvPr/>
        </p:nvCxnSpPr>
        <p:spPr>
          <a:xfrm flipH="1">
            <a:off x="2905125" y="847725"/>
            <a:ext cx="133350" cy="5524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A306563-CBFE-1BB7-D2A6-AD34B744238F}"/>
              </a:ext>
            </a:extLst>
          </p:cNvPr>
          <p:cNvSpPr txBox="1"/>
          <p:nvPr/>
        </p:nvSpPr>
        <p:spPr>
          <a:xfrm>
            <a:off x="6743700" y="440977"/>
            <a:ext cx="34861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Ans:</a:t>
            </a:r>
          </a:p>
          <a:p>
            <a:r>
              <a:rPr lang="en-US" altLang="zh-TW" sz="2800" dirty="0"/>
              <a:t>	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TW" sz="2800" spc="-1" dirty="0" err="1">
                <a:latin typeface="Times New Roman" panose="02020603050405020304" pitchFamily="18" charset="0"/>
              </a:rPr>
              <a:t>ac</a:t>
            </a:r>
            <a:r>
              <a:rPr lang="en-US" altLang="zh-TW" sz="2800" spc="-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dacb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endParaRPr lang="en-US" altLang="zh-TW" sz="2800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altLang="zh-TW" sz="2800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TW" sz="2800" spc="-1" dirty="0" err="1">
                <a:latin typeface="Times New Roman" panose="02020603050405020304" pitchFamily="18" charset="0"/>
              </a:rPr>
              <a:t>ad</a:t>
            </a:r>
            <a:r>
              <a:rPr lang="en-US" altLang="zh-TW" sz="2800" spc="-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cadb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endParaRPr lang="zh-TW" altLang="en-US" sz="2800" dirty="0"/>
          </a:p>
        </p:txBody>
      </p:sp>
      <p:sp>
        <p:nvSpPr>
          <p:cNvPr id="15" name="箭號: 向下 14">
            <a:extLst>
              <a:ext uri="{FF2B5EF4-FFF2-40B4-BE49-F238E27FC236}">
                <a16:creationId xmlns:a16="http://schemas.microsoft.com/office/drawing/2014/main" id="{07BD6B74-D651-E2D3-FA43-D6F0A99E73DF}"/>
              </a:ext>
            </a:extLst>
          </p:cNvPr>
          <p:cNvSpPr/>
          <p:nvPr/>
        </p:nvSpPr>
        <p:spPr>
          <a:xfrm>
            <a:off x="9696450" y="2562225"/>
            <a:ext cx="438150" cy="6000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50137A0-9578-3D72-A904-6B069A5A5F28}"/>
              </a:ext>
            </a:extLst>
          </p:cNvPr>
          <p:cNvCxnSpPr>
            <a:cxnSpLocks/>
          </p:cNvCxnSpPr>
          <p:nvPr/>
        </p:nvCxnSpPr>
        <p:spPr>
          <a:xfrm flipH="1">
            <a:off x="2105025" y="866775"/>
            <a:ext cx="133350" cy="55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4E70459F-0AE3-75D7-CB17-38EDC5EC30AF}"/>
              </a:ext>
            </a:extLst>
          </p:cNvPr>
          <p:cNvCxnSpPr>
            <a:cxnSpLocks/>
          </p:cNvCxnSpPr>
          <p:nvPr/>
        </p:nvCxnSpPr>
        <p:spPr>
          <a:xfrm flipH="1">
            <a:off x="2257425" y="866775"/>
            <a:ext cx="133350" cy="55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AEF87B95-4100-CDD0-6AA3-F10AB7B8F5DF}"/>
              </a:ext>
            </a:extLst>
          </p:cNvPr>
          <p:cNvCxnSpPr>
            <a:cxnSpLocks/>
          </p:cNvCxnSpPr>
          <p:nvPr/>
        </p:nvCxnSpPr>
        <p:spPr>
          <a:xfrm flipH="1">
            <a:off x="2409825" y="866775"/>
            <a:ext cx="133350" cy="55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5F554449-C100-3FD6-204E-B51689E6BF07}"/>
              </a:ext>
            </a:extLst>
          </p:cNvPr>
          <p:cNvCxnSpPr>
            <a:cxnSpLocks/>
          </p:cNvCxnSpPr>
          <p:nvPr/>
        </p:nvCxnSpPr>
        <p:spPr>
          <a:xfrm flipH="1">
            <a:off x="2562225" y="866775"/>
            <a:ext cx="133350" cy="55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4B2A5291-74A3-DD5B-31C6-6F8F5F007CAB}"/>
              </a:ext>
            </a:extLst>
          </p:cNvPr>
          <p:cNvCxnSpPr>
            <a:cxnSpLocks/>
          </p:cNvCxnSpPr>
          <p:nvPr/>
        </p:nvCxnSpPr>
        <p:spPr>
          <a:xfrm flipH="1">
            <a:off x="2743200" y="847725"/>
            <a:ext cx="133350" cy="55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7637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4AA30B10-D8A0-5D77-C132-15EFA43C80B9}"/>
              </a:ext>
            </a:extLst>
          </p:cNvPr>
          <p:cNvGraphicFramePr>
            <a:graphicFrameLocks noGrp="1"/>
          </p:cNvGraphicFramePr>
          <p:nvPr/>
        </p:nvGraphicFramePr>
        <p:xfrm>
          <a:off x="372832" y="3294770"/>
          <a:ext cx="11446335" cy="28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271815">
                  <a:extLst>
                    <a:ext uri="{9D8B030D-6E8A-4147-A177-3AD203B41FA5}">
                      <a16:colId xmlns:a16="http://schemas.microsoft.com/office/drawing/2014/main" val="2799190640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056416787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1663529719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91192248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334882536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101651058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005442573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438481277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4025005932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</a:t>
                      </a:r>
                      <a:r>
                        <a:rPr lang="en-US" altLang="zh-TW" sz="2000" dirty="0" err="1"/>
                        <a:t>i+p</a:t>
                      </a:r>
                      <a:r>
                        <a:rPr lang="en-US" altLang="zh-TW" sz="2000" dirty="0"/>
                        <a:t>, </a:t>
                      </a:r>
                      <a:r>
                        <a:rPr lang="en-US" altLang="zh-TW" sz="2000" dirty="0" err="1"/>
                        <a:t>j+p</a:t>
                      </a:r>
                      <a:r>
                        <a:rPr lang="en-US" altLang="zh-TW" sz="2000" dirty="0"/>
                        <a:t>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init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(2, 1)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(3, 2)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(4, 3)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(5, 4)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(6, 5)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(7, 6)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(8, 7)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9972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Start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02664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p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07351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Queue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empty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empty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r>
                        <a:rPr lang="zh-TW" altLang="en-US" sz="2000" dirty="0"/>
                        <a:t> → </a:t>
                      </a: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r>
                        <a:rPr lang="zh-TW" altLang="en-US" sz="2000" dirty="0"/>
                        <a:t> → </a:t>
                      </a: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70521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Length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408646"/>
                  </a:ext>
                </a:extLst>
              </a:tr>
            </a:tbl>
          </a:graphicData>
        </a:graphic>
      </p:graphicFrame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C5F7F85-96B0-D4BD-C167-A744DADF4228}"/>
              </a:ext>
            </a:extLst>
          </p:cNvPr>
          <p:cNvSpPr txBox="1">
            <a:spLocks/>
          </p:cNvSpPr>
          <p:nvPr/>
        </p:nvSpPr>
        <p:spPr>
          <a:xfrm>
            <a:off x="838199" y="419100"/>
            <a:ext cx="10515600" cy="2638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A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bacdacba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B = </a:t>
            </a: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adcadba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k = 2</a:t>
            </a: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E8E44929-8225-5828-DD82-79F1271B85D9}"/>
              </a:ext>
            </a:extLst>
          </p:cNvPr>
          <p:cNvCxnSpPr>
            <a:cxnSpLocks/>
          </p:cNvCxnSpPr>
          <p:nvPr/>
        </p:nvCxnSpPr>
        <p:spPr>
          <a:xfrm flipH="1">
            <a:off x="3095625" y="847725"/>
            <a:ext cx="133350" cy="5524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A306563-CBFE-1BB7-D2A6-AD34B744238F}"/>
              </a:ext>
            </a:extLst>
          </p:cNvPr>
          <p:cNvSpPr txBox="1"/>
          <p:nvPr/>
        </p:nvSpPr>
        <p:spPr>
          <a:xfrm>
            <a:off x="6743700" y="440977"/>
            <a:ext cx="34861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Ans:</a:t>
            </a:r>
          </a:p>
          <a:p>
            <a:r>
              <a:rPr lang="en-US" altLang="zh-TW" sz="2800" dirty="0"/>
              <a:t>	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TW" sz="2800" spc="-1" dirty="0" err="1">
                <a:latin typeface="Times New Roman" panose="02020603050405020304" pitchFamily="18" charset="0"/>
              </a:rPr>
              <a:t>ac</a:t>
            </a:r>
            <a:r>
              <a:rPr lang="en-US" altLang="zh-TW" sz="2800" spc="-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dacb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endParaRPr lang="en-US" altLang="zh-TW" sz="2800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altLang="zh-TW" sz="2800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TW" sz="2800" spc="-1" dirty="0" err="1">
                <a:latin typeface="Times New Roman" panose="02020603050405020304" pitchFamily="18" charset="0"/>
              </a:rPr>
              <a:t>ad</a:t>
            </a:r>
            <a:r>
              <a:rPr lang="en-US" altLang="zh-TW" sz="2800" spc="-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cadb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endParaRPr lang="zh-TW" altLang="en-US" sz="2800" dirty="0"/>
          </a:p>
        </p:txBody>
      </p:sp>
      <p:sp>
        <p:nvSpPr>
          <p:cNvPr id="15" name="箭號: 向下 14">
            <a:extLst>
              <a:ext uri="{FF2B5EF4-FFF2-40B4-BE49-F238E27FC236}">
                <a16:creationId xmlns:a16="http://schemas.microsoft.com/office/drawing/2014/main" id="{07BD6B74-D651-E2D3-FA43-D6F0A99E73DF}"/>
              </a:ext>
            </a:extLst>
          </p:cNvPr>
          <p:cNvSpPr/>
          <p:nvPr/>
        </p:nvSpPr>
        <p:spPr>
          <a:xfrm>
            <a:off x="10934700" y="2562225"/>
            <a:ext cx="438150" cy="6000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50137A0-9578-3D72-A904-6B069A5A5F28}"/>
              </a:ext>
            </a:extLst>
          </p:cNvPr>
          <p:cNvCxnSpPr>
            <a:cxnSpLocks/>
          </p:cNvCxnSpPr>
          <p:nvPr/>
        </p:nvCxnSpPr>
        <p:spPr>
          <a:xfrm flipH="1">
            <a:off x="2105025" y="866775"/>
            <a:ext cx="133350" cy="55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4E70459F-0AE3-75D7-CB17-38EDC5EC30AF}"/>
              </a:ext>
            </a:extLst>
          </p:cNvPr>
          <p:cNvCxnSpPr>
            <a:cxnSpLocks/>
          </p:cNvCxnSpPr>
          <p:nvPr/>
        </p:nvCxnSpPr>
        <p:spPr>
          <a:xfrm flipH="1">
            <a:off x="2257425" y="866775"/>
            <a:ext cx="133350" cy="55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AEF87B95-4100-CDD0-6AA3-F10AB7B8F5DF}"/>
              </a:ext>
            </a:extLst>
          </p:cNvPr>
          <p:cNvCxnSpPr>
            <a:cxnSpLocks/>
          </p:cNvCxnSpPr>
          <p:nvPr/>
        </p:nvCxnSpPr>
        <p:spPr>
          <a:xfrm flipH="1">
            <a:off x="2409825" y="866775"/>
            <a:ext cx="133350" cy="55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5F554449-C100-3FD6-204E-B51689E6BF07}"/>
              </a:ext>
            </a:extLst>
          </p:cNvPr>
          <p:cNvCxnSpPr>
            <a:cxnSpLocks/>
          </p:cNvCxnSpPr>
          <p:nvPr/>
        </p:nvCxnSpPr>
        <p:spPr>
          <a:xfrm flipH="1">
            <a:off x="2562225" y="866775"/>
            <a:ext cx="133350" cy="55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4B2A5291-74A3-DD5B-31C6-6F8F5F007CAB}"/>
              </a:ext>
            </a:extLst>
          </p:cNvPr>
          <p:cNvCxnSpPr>
            <a:cxnSpLocks/>
          </p:cNvCxnSpPr>
          <p:nvPr/>
        </p:nvCxnSpPr>
        <p:spPr>
          <a:xfrm flipH="1">
            <a:off x="2733675" y="847725"/>
            <a:ext cx="133350" cy="55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A47C42EF-1073-450B-741C-AB6D52046EA0}"/>
              </a:ext>
            </a:extLst>
          </p:cNvPr>
          <p:cNvCxnSpPr>
            <a:cxnSpLocks/>
          </p:cNvCxnSpPr>
          <p:nvPr/>
        </p:nvCxnSpPr>
        <p:spPr>
          <a:xfrm flipH="1">
            <a:off x="2924175" y="838200"/>
            <a:ext cx="133350" cy="55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3036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90A55F-051B-FE6B-9806-9242CEF47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79575"/>
          </a:xfrm>
        </p:spPr>
        <p:txBody>
          <a:bodyPr/>
          <a:lstStyle/>
          <a:p>
            <a:r>
              <a:rPr lang="en-US" altLang="zh-TW" dirty="0"/>
              <a:t>A = a</a:t>
            </a:r>
            <a:r>
              <a:rPr lang="en-US" altLang="zh-TW" baseline="-25000" dirty="0"/>
              <a:t>1</a:t>
            </a:r>
            <a:r>
              <a:rPr lang="zh-TW" altLang="en-US" baseline="-25000" dirty="0"/>
              <a:t> </a:t>
            </a:r>
            <a:r>
              <a:rPr lang="zh-TW" altLang="en-US" dirty="0"/>
              <a:t> </a:t>
            </a:r>
            <a:r>
              <a:rPr lang="en-US" altLang="zh-TW" dirty="0"/>
              <a:t>a</a:t>
            </a:r>
            <a:r>
              <a:rPr lang="en-US" altLang="zh-TW" baseline="-25000" dirty="0"/>
              <a:t>2 </a:t>
            </a:r>
            <a:r>
              <a:rPr lang="zh-TW" altLang="en-US" dirty="0"/>
              <a:t> </a:t>
            </a:r>
            <a:r>
              <a:rPr lang="en-US" altLang="zh-TW" dirty="0"/>
              <a:t>… </a:t>
            </a:r>
            <a:r>
              <a:rPr lang="zh-TW" altLang="en-US" dirty="0"/>
              <a:t> </a:t>
            </a:r>
            <a:r>
              <a:rPr lang="en-US" altLang="zh-TW" dirty="0"/>
              <a:t>a</a:t>
            </a:r>
            <a:r>
              <a:rPr lang="en-US" altLang="zh-TW" baseline="-25000" dirty="0"/>
              <a:t>m</a:t>
            </a:r>
          </a:p>
          <a:p>
            <a:endParaRPr lang="en-US" altLang="zh-TW" dirty="0"/>
          </a:p>
          <a:p>
            <a:r>
              <a:rPr lang="en-US" altLang="zh-TW" dirty="0"/>
              <a:t>B = b</a:t>
            </a:r>
            <a:r>
              <a:rPr lang="en-US" altLang="zh-TW" baseline="-25000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b</a:t>
            </a:r>
            <a:r>
              <a:rPr lang="en-US" altLang="zh-TW" baseline="-25000" dirty="0"/>
              <a:t>2</a:t>
            </a:r>
            <a:r>
              <a:rPr lang="zh-TW" altLang="en-US" dirty="0"/>
              <a:t>  </a:t>
            </a:r>
            <a:r>
              <a:rPr lang="en-US" altLang="zh-TW" dirty="0"/>
              <a:t>…</a:t>
            </a:r>
            <a:r>
              <a:rPr lang="zh-TW" altLang="en-US" dirty="0"/>
              <a:t>  </a:t>
            </a:r>
            <a:r>
              <a:rPr lang="en-US" altLang="zh-TW" dirty="0"/>
              <a:t>b</a:t>
            </a:r>
            <a:r>
              <a:rPr lang="en-US" altLang="zh-TW" baseline="-25000" dirty="0"/>
              <a:t>n</a:t>
            </a:r>
            <a:endParaRPr lang="zh-TW" altLang="en-US" baseline="-25000" dirty="0"/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7FB641A4-1CBC-CF16-A593-9D97076A5347}"/>
              </a:ext>
            </a:extLst>
          </p:cNvPr>
          <p:cNvCxnSpPr>
            <a:cxnSpLocks/>
          </p:cNvCxnSpPr>
          <p:nvPr/>
        </p:nvCxnSpPr>
        <p:spPr>
          <a:xfrm>
            <a:off x="1857375" y="2295525"/>
            <a:ext cx="0" cy="6191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EAF507F9-BEBE-0051-2133-C772DEBB4C5C}"/>
              </a:ext>
            </a:extLst>
          </p:cNvPr>
          <p:cNvCxnSpPr>
            <a:cxnSpLocks/>
          </p:cNvCxnSpPr>
          <p:nvPr/>
        </p:nvCxnSpPr>
        <p:spPr>
          <a:xfrm>
            <a:off x="1857375" y="2295525"/>
            <a:ext cx="371475" cy="6191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AC327F12-EC07-55E9-99D3-D7D97194B310}"/>
              </a:ext>
            </a:extLst>
          </p:cNvPr>
          <p:cNvCxnSpPr>
            <a:cxnSpLocks/>
          </p:cNvCxnSpPr>
          <p:nvPr/>
        </p:nvCxnSpPr>
        <p:spPr>
          <a:xfrm>
            <a:off x="1857374" y="2295525"/>
            <a:ext cx="676276" cy="6191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292F70D2-66EB-B796-29AF-3E39ADE2769E}"/>
              </a:ext>
            </a:extLst>
          </p:cNvPr>
          <p:cNvCxnSpPr>
            <a:cxnSpLocks/>
          </p:cNvCxnSpPr>
          <p:nvPr/>
        </p:nvCxnSpPr>
        <p:spPr>
          <a:xfrm>
            <a:off x="1857373" y="2295525"/>
            <a:ext cx="933452" cy="6191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F7B45C15-CB22-213E-6162-3653F15B66B1}"/>
              </a:ext>
            </a:extLst>
          </p:cNvPr>
          <p:cNvCxnSpPr>
            <a:cxnSpLocks/>
          </p:cNvCxnSpPr>
          <p:nvPr/>
        </p:nvCxnSpPr>
        <p:spPr>
          <a:xfrm>
            <a:off x="1857372" y="2295525"/>
            <a:ext cx="1400178" cy="6191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內容版面配置區 2">
            <a:extLst>
              <a:ext uri="{FF2B5EF4-FFF2-40B4-BE49-F238E27FC236}">
                <a16:creationId xmlns:a16="http://schemas.microsoft.com/office/drawing/2014/main" id="{BD51D163-21DD-69BF-BFBF-D6347421AA56}"/>
              </a:ext>
            </a:extLst>
          </p:cNvPr>
          <p:cNvSpPr txBox="1">
            <a:spLocks/>
          </p:cNvSpPr>
          <p:nvPr/>
        </p:nvSpPr>
        <p:spPr>
          <a:xfrm>
            <a:off x="838200" y="3981450"/>
            <a:ext cx="10515600" cy="1679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A = a</a:t>
            </a:r>
            <a:r>
              <a:rPr lang="en-US" altLang="zh-TW" baseline="-25000" dirty="0"/>
              <a:t>1</a:t>
            </a:r>
            <a:r>
              <a:rPr lang="zh-TW" altLang="en-US" baseline="-25000" dirty="0"/>
              <a:t> </a:t>
            </a:r>
            <a:r>
              <a:rPr lang="zh-TW" altLang="en-US" dirty="0"/>
              <a:t> </a:t>
            </a:r>
            <a:r>
              <a:rPr lang="en-US" altLang="zh-TW" dirty="0"/>
              <a:t>a</a:t>
            </a:r>
            <a:r>
              <a:rPr lang="en-US" altLang="zh-TW" baseline="-25000" dirty="0"/>
              <a:t>2 </a:t>
            </a:r>
            <a:r>
              <a:rPr lang="zh-TW" altLang="en-US" dirty="0"/>
              <a:t> </a:t>
            </a:r>
            <a:r>
              <a:rPr lang="en-US" altLang="zh-TW" dirty="0"/>
              <a:t>… </a:t>
            </a:r>
            <a:r>
              <a:rPr lang="zh-TW" altLang="en-US" dirty="0"/>
              <a:t> </a:t>
            </a:r>
            <a:r>
              <a:rPr lang="en-US" altLang="zh-TW" dirty="0"/>
              <a:t>a</a:t>
            </a:r>
            <a:r>
              <a:rPr lang="en-US" altLang="zh-TW" baseline="-25000" dirty="0"/>
              <a:t>m</a:t>
            </a:r>
          </a:p>
          <a:p>
            <a:endParaRPr lang="en-US" altLang="zh-TW" dirty="0"/>
          </a:p>
          <a:p>
            <a:r>
              <a:rPr lang="en-US" altLang="zh-TW" dirty="0"/>
              <a:t>B = b</a:t>
            </a:r>
            <a:r>
              <a:rPr lang="en-US" altLang="zh-TW" baseline="-25000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b</a:t>
            </a:r>
            <a:r>
              <a:rPr lang="en-US" altLang="zh-TW" baseline="-25000" dirty="0"/>
              <a:t>2</a:t>
            </a:r>
            <a:r>
              <a:rPr lang="zh-TW" altLang="en-US" dirty="0"/>
              <a:t>  </a:t>
            </a:r>
            <a:r>
              <a:rPr lang="en-US" altLang="zh-TW" dirty="0"/>
              <a:t>…</a:t>
            </a:r>
            <a:r>
              <a:rPr lang="zh-TW" altLang="en-US" dirty="0"/>
              <a:t>  </a:t>
            </a:r>
            <a:r>
              <a:rPr lang="en-US" altLang="zh-TW" dirty="0"/>
              <a:t>b</a:t>
            </a:r>
            <a:r>
              <a:rPr lang="en-US" altLang="zh-TW" baseline="-25000" dirty="0"/>
              <a:t>n</a:t>
            </a:r>
            <a:endParaRPr lang="zh-TW" altLang="en-US" baseline="-25000" dirty="0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809A5912-5EB3-F11E-1522-FF58D079C1D4}"/>
              </a:ext>
            </a:extLst>
          </p:cNvPr>
          <p:cNvCxnSpPr>
            <a:cxnSpLocks/>
          </p:cNvCxnSpPr>
          <p:nvPr/>
        </p:nvCxnSpPr>
        <p:spPr>
          <a:xfrm>
            <a:off x="1857372" y="4430712"/>
            <a:ext cx="0" cy="6191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216AFDC9-B8F3-2033-414E-5875750EF70C}"/>
              </a:ext>
            </a:extLst>
          </p:cNvPr>
          <p:cNvCxnSpPr>
            <a:cxnSpLocks/>
          </p:cNvCxnSpPr>
          <p:nvPr/>
        </p:nvCxnSpPr>
        <p:spPr>
          <a:xfrm flipH="1">
            <a:off x="1857372" y="4511674"/>
            <a:ext cx="466727" cy="5381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8DCB840F-EB33-D67D-B7EF-EC1DCB836973}"/>
              </a:ext>
            </a:extLst>
          </p:cNvPr>
          <p:cNvCxnSpPr>
            <a:cxnSpLocks/>
          </p:cNvCxnSpPr>
          <p:nvPr/>
        </p:nvCxnSpPr>
        <p:spPr>
          <a:xfrm flipH="1">
            <a:off x="1857371" y="4511674"/>
            <a:ext cx="781054" cy="5381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89AB64C5-90E5-9CAA-9CA9-0954765AE786}"/>
              </a:ext>
            </a:extLst>
          </p:cNvPr>
          <p:cNvCxnSpPr>
            <a:cxnSpLocks/>
          </p:cNvCxnSpPr>
          <p:nvPr/>
        </p:nvCxnSpPr>
        <p:spPr>
          <a:xfrm flipH="1">
            <a:off x="1852614" y="4511674"/>
            <a:ext cx="1023931" cy="5381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34BC8D5C-067F-86F7-29F2-6C1E6F3DE508}"/>
              </a:ext>
            </a:extLst>
          </p:cNvPr>
          <p:cNvCxnSpPr>
            <a:cxnSpLocks/>
          </p:cNvCxnSpPr>
          <p:nvPr/>
        </p:nvCxnSpPr>
        <p:spPr>
          <a:xfrm flipH="1">
            <a:off x="1862131" y="4511674"/>
            <a:ext cx="1395419" cy="5381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06EE0123-DE93-C437-A15E-50E27FB1AF66}"/>
              </a:ext>
            </a:extLst>
          </p:cNvPr>
          <p:cNvSpPr txBox="1"/>
          <p:nvPr/>
        </p:nvSpPr>
        <p:spPr>
          <a:xfrm>
            <a:off x="5534025" y="1690688"/>
            <a:ext cx="4800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altLang="zh-TW" sz="2800" dirty="0"/>
            </a:br>
            <a:endParaRPr lang="en-US" altLang="zh-TW" sz="2800" dirty="0"/>
          </a:p>
          <a:p>
            <a:r>
              <a:rPr lang="en-US" altLang="zh-TW" sz="2800" dirty="0"/>
              <a:t>k mismatch: O(</a:t>
            </a:r>
            <a:r>
              <a:rPr lang="en-US" altLang="zh-TW" sz="2800" dirty="0" err="1"/>
              <a:t>mn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sp>
        <p:nvSpPr>
          <p:cNvPr id="37" name="標題 1">
            <a:extLst>
              <a:ext uri="{FF2B5EF4-FFF2-40B4-BE49-F238E27FC236}">
                <a16:creationId xmlns:a16="http://schemas.microsoft.com/office/drawing/2014/main" id="{0AE59564-E473-A29E-644A-4E6C07302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064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9845"/>
            <a:ext cx="10771414" cy="1325563"/>
          </a:xfrm>
        </p:spPr>
        <p:txBody>
          <a:bodyPr>
            <a:normAutofit/>
          </a:bodyPr>
          <a:lstStyle/>
          <a:p>
            <a:r>
              <a:rPr lang="en-US" altLang="zh-TW" dirty="0"/>
              <a:t>Longest common substring with 1 mismatch 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2D0C3C21-46BB-43B2-AF26-26EF8F7D2E1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</a:rPr>
              <a:t>gcctaxx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B = </a:t>
            </a:r>
            <a:r>
              <a:rPr lang="en-US" altLang="zh-TW" dirty="0" err="1">
                <a:latin typeface="Times New Roman" panose="02020603050405020304" pitchFamily="18" charset="0"/>
              </a:rPr>
              <a:t>xgcata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k = 1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dirty="0" err="1">
                <a:latin typeface="Times New Roman" panose="02020603050405020304" pitchFamily="18" charset="0"/>
              </a:rPr>
              <a:t>gc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TW" dirty="0" err="1">
                <a:latin typeface="Times New Roman" panose="02020603050405020304" pitchFamily="18" charset="0"/>
              </a:rPr>
              <a:t>ta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dirty="0" err="1">
                <a:latin typeface="Times New Roman" panose="02020603050405020304" pitchFamily="18" charset="0"/>
              </a:rPr>
              <a:t>gc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</a:rPr>
              <a:t>ta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ans</a:t>
            </a: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 = 5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reduce to </a:t>
            </a:r>
            <a:r>
              <a:rPr lang="en-US" altLang="zh-TW" spc="-1" dirty="0">
                <a:solidFill>
                  <a:srgbClr val="FF0000"/>
                </a:solidFill>
                <a:latin typeface="Times New Roman" panose="02020603050405020304" pitchFamily="18" charset="0"/>
              </a:rPr>
              <a:t>longest k-repeats problem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966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9845"/>
            <a:ext cx="10771414" cy="1325563"/>
          </a:xfrm>
        </p:spPr>
        <p:txBody>
          <a:bodyPr>
            <a:normAutofit/>
          </a:bodyPr>
          <a:lstStyle/>
          <a:p>
            <a:r>
              <a:rPr lang="en-US" altLang="zh-TW" dirty="0"/>
              <a:t>The longest k-repeats problem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2D0C3C21-46BB-43B2-AF26-26EF8F7D2E1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>
                <a:latin typeface="Times New Roman" panose="02020603050405020304" pitchFamily="18" charset="0"/>
              </a:rPr>
              <a:t>S = </a:t>
            </a:r>
            <a:r>
              <a:rPr lang="en-US" altLang="zh-TW" dirty="0" err="1">
                <a:latin typeface="Times New Roman" panose="02020603050405020304" pitchFamily="18" charset="0"/>
              </a:rPr>
              <a:t>gcctaxxxgcata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>
                <a:latin typeface="Times New Roman" panose="02020603050405020304" pitchFamily="18" charset="0"/>
              </a:rPr>
              <a:t>k = 1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>
                <a:latin typeface="Times New Roman" panose="02020603050405020304" pitchFamily="18" charset="0"/>
              </a:rPr>
              <a:t>find: u ∗</a:t>
            </a:r>
            <a:r>
              <a:rPr lang="en-US" altLang="zh-TW" baseline="30000" dirty="0">
                <a:latin typeface="Times New Roman" panose="02020603050405020304" pitchFamily="18" charset="0"/>
              </a:rPr>
              <a:t>k</a:t>
            </a:r>
            <a:r>
              <a:rPr lang="en-US" altLang="zh-TW" dirty="0">
                <a:latin typeface="Times New Roman" panose="02020603050405020304" pitchFamily="18" charset="0"/>
              </a:rPr>
              <a:t> v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 err="1">
                <a:latin typeface="Times New Roman" panose="02020603050405020304" pitchFamily="18" charset="0"/>
              </a:rPr>
              <a:t>gc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TW" dirty="0" err="1">
                <a:latin typeface="Times New Roman" panose="02020603050405020304" pitchFamily="18" charset="0"/>
              </a:rPr>
              <a:t>ta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 err="1">
                <a:latin typeface="Times New Roman" panose="02020603050405020304" pitchFamily="18" charset="0"/>
              </a:rPr>
              <a:t>gc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</a:rPr>
              <a:t>ta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 err="1">
                <a:latin typeface="Times New Roman" panose="02020603050405020304" pitchFamily="18" charset="0"/>
              </a:rPr>
              <a:t>ans</a:t>
            </a:r>
            <a:r>
              <a:rPr lang="en-US" altLang="zh-TW" dirty="0">
                <a:latin typeface="Times New Roman" panose="02020603050405020304" pitchFamily="18" charset="0"/>
              </a:rPr>
              <a:t> = 5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71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9845"/>
            <a:ext cx="10771414" cy="1325563"/>
          </a:xfrm>
        </p:spPr>
        <p:txBody>
          <a:bodyPr>
            <a:normAutofit/>
          </a:bodyPr>
          <a:lstStyle/>
          <a:p>
            <a:r>
              <a:rPr lang="en-US" altLang="zh-TW" dirty="0"/>
              <a:t>1 mismatch                       1 repeats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2D0C3C21-46BB-43B2-AF26-26EF8F7D2E14}"/>
              </a:ext>
            </a:extLst>
          </p:cNvPr>
          <p:cNvSpPr txBox="1">
            <a:spLocks/>
          </p:cNvSpPr>
          <p:nvPr/>
        </p:nvSpPr>
        <p:spPr>
          <a:xfrm>
            <a:off x="838200" y="172623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</a:rPr>
              <a:t>gcctaxx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B = </a:t>
            </a:r>
            <a:r>
              <a:rPr lang="en-US" altLang="zh-TW" dirty="0" err="1">
                <a:latin typeface="Times New Roman" panose="02020603050405020304" pitchFamily="18" charset="0"/>
              </a:rPr>
              <a:t>xgcata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k = 1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dirty="0" err="1">
                <a:latin typeface="Times New Roman" panose="02020603050405020304" pitchFamily="18" charset="0"/>
              </a:rPr>
              <a:t>gc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TW" dirty="0" err="1">
                <a:latin typeface="Times New Roman" panose="02020603050405020304" pitchFamily="18" charset="0"/>
              </a:rPr>
              <a:t>ta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dirty="0" err="1">
                <a:latin typeface="Times New Roman" panose="02020603050405020304" pitchFamily="18" charset="0"/>
              </a:rPr>
              <a:t>gc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</a:rPr>
              <a:t>ta</a:t>
            </a: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ans</a:t>
            </a:r>
            <a:r>
              <a:rPr lang="en-US" altLang="zh-TW" spc="-1" dirty="0">
                <a:solidFill>
                  <a:srgbClr val="000000"/>
                </a:solidFill>
                <a:latin typeface="Times New Roman" panose="02020603050405020304" pitchFamily="18" charset="0"/>
              </a:rPr>
              <a:t> = 5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908812F-8DFC-19E6-AEE5-400AD521D246}"/>
              </a:ext>
            </a:extLst>
          </p:cNvPr>
          <p:cNvSpPr txBox="1">
            <a:spLocks/>
          </p:cNvSpPr>
          <p:nvPr/>
        </p:nvSpPr>
        <p:spPr>
          <a:xfrm>
            <a:off x="6712640" y="167529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>
                <a:latin typeface="Times New Roman" panose="02020603050405020304" pitchFamily="18" charset="0"/>
              </a:rPr>
              <a:t>S = </a:t>
            </a:r>
            <a:r>
              <a:rPr lang="en-US" altLang="zh-TW" dirty="0" err="1">
                <a:latin typeface="Times New Roman" panose="02020603050405020304" pitchFamily="18" charset="0"/>
              </a:rPr>
              <a:t>gcctaxxxgcata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>
                <a:latin typeface="Times New Roman" panose="02020603050405020304" pitchFamily="18" charset="0"/>
              </a:rPr>
              <a:t>k = 1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>
                <a:latin typeface="Times New Roman" panose="02020603050405020304" pitchFamily="18" charset="0"/>
              </a:rPr>
              <a:t>find: u ∗</a:t>
            </a:r>
            <a:r>
              <a:rPr lang="en-US" altLang="zh-TW" baseline="30000" dirty="0">
                <a:latin typeface="Times New Roman" panose="02020603050405020304" pitchFamily="18" charset="0"/>
              </a:rPr>
              <a:t>k</a:t>
            </a:r>
            <a:r>
              <a:rPr lang="en-US" altLang="zh-TW" dirty="0">
                <a:latin typeface="Times New Roman" panose="02020603050405020304" pitchFamily="18" charset="0"/>
              </a:rPr>
              <a:t> v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 err="1">
                <a:latin typeface="Times New Roman" panose="02020603050405020304" pitchFamily="18" charset="0"/>
              </a:rPr>
              <a:t>gc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TW" dirty="0" err="1">
                <a:latin typeface="Times New Roman" panose="02020603050405020304" pitchFamily="18" charset="0"/>
              </a:rPr>
              <a:t>ta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 err="1">
                <a:latin typeface="Times New Roman" panose="02020603050405020304" pitchFamily="18" charset="0"/>
              </a:rPr>
              <a:t>gc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</a:rPr>
              <a:t>ta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 err="1">
                <a:latin typeface="Times New Roman" panose="02020603050405020304" pitchFamily="18" charset="0"/>
              </a:rPr>
              <a:t>ans</a:t>
            </a:r>
            <a:r>
              <a:rPr lang="en-US" altLang="zh-TW" dirty="0">
                <a:latin typeface="Times New Roman" panose="02020603050405020304" pitchFamily="18" charset="0"/>
              </a:rPr>
              <a:t> = 5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660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2BE640B-A192-4493-B9E3-EA1EF8F87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241" y="5420736"/>
            <a:ext cx="10845033" cy="1437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       S = </a:t>
            </a:r>
            <a:r>
              <a:rPr lang="en-US" altLang="zh-TW" dirty="0" err="1"/>
              <a:t>gcctaxxxgcata</a:t>
            </a:r>
            <a:r>
              <a:rPr lang="en-US" altLang="zh-TW" dirty="0"/>
              <a:t>                                reverse of S = </a:t>
            </a:r>
            <a:r>
              <a:rPr lang="en-US" altLang="zh-TW" dirty="0" err="1"/>
              <a:t>atacgxxxatccg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0241" y="365125"/>
            <a:ext cx="10515600" cy="1325563"/>
          </a:xfrm>
        </p:spPr>
        <p:txBody>
          <a:bodyPr/>
          <a:lstStyle/>
          <a:p>
            <a:r>
              <a:rPr lang="en-US" altLang="zh-TW" dirty="0"/>
              <a:t>Suffix tree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0A5BF72A-C78C-5A16-C2CF-9F17CC7C7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996" y="1625728"/>
            <a:ext cx="5780942" cy="380145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5E74025F-1284-4D16-CFCA-4C39EFB90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5684" y="1516542"/>
            <a:ext cx="6317884" cy="390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692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>
            <a:extLst>
              <a:ext uri="{FF2B5EF4-FFF2-40B4-BE49-F238E27FC236}">
                <a16:creationId xmlns:a16="http://schemas.microsoft.com/office/drawing/2014/main" id="{0A5BF72A-C78C-5A16-C2CF-9F17CC7C7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996" y="-41147"/>
            <a:ext cx="5780942" cy="380145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5E74025F-1284-4D16-CFCA-4C39EFB90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5684" y="-83658"/>
            <a:ext cx="6317884" cy="3904194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2BE640B-A192-4493-B9E3-EA1EF8F87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676651"/>
            <a:ext cx="11450738" cy="32480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            S = </a:t>
            </a:r>
            <a:r>
              <a:rPr lang="en-US" altLang="zh-TW" dirty="0" err="1"/>
              <a:t>gcc</a:t>
            </a:r>
            <a:r>
              <a:rPr lang="en-US" altLang="zh-TW" dirty="0" err="1">
                <a:solidFill>
                  <a:srgbClr val="FF0000"/>
                </a:solidFill>
              </a:rPr>
              <a:t>ta</a:t>
            </a:r>
            <a:r>
              <a:rPr lang="en-US" altLang="zh-TW" dirty="0" err="1"/>
              <a:t>xxxgcata</a:t>
            </a:r>
            <a:r>
              <a:rPr lang="en-US" altLang="zh-TW" dirty="0"/>
              <a:t>                              reverse of S = </a:t>
            </a:r>
            <a:r>
              <a:rPr lang="en-US" altLang="zh-TW" dirty="0" err="1"/>
              <a:t>atacgxxx</a:t>
            </a:r>
            <a:r>
              <a:rPr lang="en-US" altLang="zh-TW" dirty="0" err="1">
                <a:solidFill>
                  <a:srgbClr val="FF0000"/>
                </a:solidFill>
              </a:rPr>
              <a:t>at</a:t>
            </a:r>
            <a:r>
              <a:rPr lang="en-US" altLang="zh-TW" dirty="0" err="1"/>
              <a:t>ccg</a:t>
            </a:r>
            <a:endParaRPr lang="en-US" altLang="zh-TW" dirty="0"/>
          </a:p>
          <a:p>
            <a:r>
              <a:rPr lang="en-US" altLang="zh-TW" dirty="0"/>
              <a:t>|S| = 13</a:t>
            </a:r>
          </a:p>
          <a:p>
            <a:r>
              <a:rPr lang="en-US" altLang="zh-TW" dirty="0"/>
              <a:t>k = 1</a:t>
            </a:r>
          </a:p>
          <a:p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</a:rPr>
              <a:t>find: u ∗</a:t>
            </a:r>
            <a:r>
              <a:rPr lang="en-US" altLang="zh-TW" baseline="30000" dirty="0">
                <a:latin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</a:rPr>
              <a:t> v</a:t>
            </a:r>
            <a:endParaRPr lang="en-US" altLang="zh-TW" dirty="0"/>
          </a:p>
          <a:p>
            <a:endParaRPr lang="zh-TW" altLang="en-US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442C3830-7D47-AB48-A187-5751EEB65D9C}"/>
              </a:ext>
            </a:extLst>
          </p:cNvPr>
          <p:cNvCxnSpPr>
            <a:cxnSpLocks/>
          </p:cNvCxnSpPr>
          <p:nvPr/>
        </p:nvCxnSpPr>
        <p:spPr>
          <a:xfrm>
            <a:off x="4227695" y="2608794"/>
            <a:ext cx="35242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F4BECA-BABB-9A3A-469A-077DE2F223E2}"/>
              </a:ext>
            </a:extLst>
          </p:cNvPr>
          <p:cNvCxnSpPr>
            <a:cxnSpLocks/>
          </p:cNvCxnSpPr>
          <p:nvPr/>
        </p:nvCxnSpPr>
        <p:spPr>
          <a:xfrm>
            <a:off x="7924800" y="3656545"/>
            <a:ext cx="35242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F9B87C7E-C85E-58D3-F211-47A95022376E}"/>
              </a:ext>
            </a:extLst>
          </p:cNvPr>
          <p:cNvSpPr txBox="1"/>
          <p:nvPr/>
        </p:nvSpPr>
        <p:spPr>
          <a:xfrm>
            <a:off x="4356283" y="4557661"/>
            <a:ext cx="59973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v = ta</a:t>
            </a:r>
          </a:p>
          <a:p>
            <a:r>
              <a:rPr lang="zh-TW" altLang="en-US" sz="2800" dirty="0"/>
              <a:t>第</a:t>
            </a:r>
            <a:r>
              <a:rPr lang="en-US" altLang="zh-TW" sz="2800" dirty="0"/>
              <a:t>4</a:t>
            </a:r>
            <a:r>
              <a:rPr lang="zh-TW" altLang="en-US" sz="2800" dirty="0"/>
              <a:t>個位置往前跳過 </a:t>
            </a:r>
            <a:r>
              <a:rPr lang="en-US" altLang="zh-TW" sz="2800" dirty="0"/>
              <a:t>k </a:t>
            </a:r>
            <a:r>
              <a:rPr lang="zh-TW" altLang="en-US" sz="2800" dirty="0"/>
              <a:t>個</a:t>
            </a:r>
            <a:r>
              <a:rPr lang="en-US" altLang="zh-TW" sz="2800" dirty="0"/>
              <a:t>: 4 – (k+1) = 2</a:t>
            </a:r>
          </a:p>
          <a:p>
            <a:r>
              <a:rPr lang="zh-TW" altLang="en-US" sz="2800" dirty="0"/>
              <a:t>反向</a:t>
            </a:r>
            <a:r>
              <a:rPr lang="en-US" altLang="zh-TW" sz="2800" dirty="0"/>
              <a:t>:</a:t>
            </a:r>
            <a:r>
              <a:rPr lang="zh-TW" altLang="en-US" sz="2800" dirty="0"/>
              <a:t> </a:t>
            </a:r>
            <a:r>
              <a:rPr lang="en-US" altLang="zh-TW" sz="2800" dirty="0"/>
              <a:t>|S|</a:t>
            </a:r>
            <a:r>
              <a:rPr lang="zh-TW" altLang="en-US" dirty="0"/>
              <a:t> </a:t>
            </a:r>
            <a:r>
              <a:rPr lang="en-US" altLang="zh-TW" sz="2800" dirty="0"/>
              <a:t>–</a:t>
            </a:r>
            <a:r>
              <a:rPr lang="zh-TW" altLang="en-US" sz="2800" dirty="0"/>
              <a:t> </a:t>
            </a:r>
            <a:r>
              <a:rPr lang="en-US" altLang="zh-TW" sz="2800" dirty="0"/>
              <a:t>2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1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12</a:t>
            </a:r>
          </a:p>
          <a:p>
            <a:r>
              <a:rPr lang="en-US" altLang="zh-TW" sz="2800" dirty="0"/>
              <a:t>u = </a:t>
            </a:r>
            <a:r>
              <a:rPr lang="en-US" altLang="zh-TW" sz="2800" dirty="0" err="1"/>
              <a:t>gc</a:t>
            </a:r>
            <a:endParaRPr lang="en-US" altLang="zh-TW" sz="2800" dirty="0"/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AD27A18B-0A4F-A7DD-2263-9D557FEF0513}"/>
              </a:ext>
            </a:extLst>
          </p:cNvPr>
          <p:cNvCxnSpPr>
            <a:cxnSpLocks/>
          </p:cNvCxnSpPr>
          <p:nvPr/>
        </p:nvCxnSpPr>
        <p:spPr>
          <a:xfrm>
            <a:off x="2457450" y="3581400"/>
            <a:ext cx="0" cy="24183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130F69E2-265D-8346-E482-21517D360E3B}"/>
              </a:ext>
            </a:extLst>
          </p:cNvPr>
          <p:cNvCxnSpPr>
            <a:cxnSpLocks/>
          </p:cNvCxnSpPr>
          <p:nvPr/>
        </p:nvCxnSpPr>
        <p:spPr>
          <a:xfrm>
            <a:off x="10715625" y="3656545"/>
            <a:ext cx="0" cy="18679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1938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>
            <a:extLst>
              <a:ext uri="{FF2B5EF4-FFF2-40B4-BE49-F238E27FC236}">
                <a16:creationId xmlns:a16="http://schemas.microsoft.com/office/drawing/2014/main" id="{0A5BF72A-C78C-5A16-C2CF-9F17CC7C7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996" y="-41147"/>
            <a:ext cx="5780942" cy="380145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5E74025F-1284-4D16-CFCA-4C39EFB90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5684" y="-83658"/>
            <a:ext cx="6317884" cy="3904194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2BE640B-A192-4493-B9E3-EA1EF8F87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676651"/>
            <a:ext cx="11450738" cy="32480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/>
              <a:t>            S = </a:t>
            </a:r>
            <a:r>
              <a:rPr lang="en-US" altLang="zh-TW" dirty="0" err="1"/>
              <a:t>gcc</a:t>
            </a:r>
            <a:r>
              <a:rPr lang="en-US" altLang="zh-TW" dirty="0" err="1">
                <a:solidFill>
                  <a:srgbClr val="FF0000"/>
                </a:solidFill>
              </a:rPr>
              <a:t>ta</a:t>
            </a:r>
            <a:r>
              <a:rPr lang="en-US" altLang="zh-TW" dirty="0" err="1"/>
              <a:t>xxxgca</a:t>
            </a:r>
            <a:r>
              <a:rPr lang="en-US" altLang="zh-TW" dirty="0" err="1">
                <a:solidFill>
                  <a:srgbClr val="FF0000"/>
                </a:solidFill>
              </a:rPr>
              <a:t>ta</a:t>
            </a:r>
            <a:r>
              <a:rPr lang="en-US" altLang="zh-TW" dirty="0"/>
              <a:t>                              reverse of S = </a:t>
            </a:r>
            <a:r>
              <a:rPr lang="en-US" altLang="zh-TW" dirty="0" err="1"/>
              <a:t>ata</a:t>
            </a:r>
            <a:r>
              <a:rPr lang="en-US" altLang="zh-TW" dirty="0" err="1">
                <a:solidFill>
                  <a:srgbClr val="FF0000"/>
                </a:solidFill>
              </a:rPr>
              <a:t>cg</a:t>
            </a:r>
            <a:r>
              <a:rPr lang="en-US" altLang="zh-TW" dirty="0" err="1"/>
              <a:t>xxxatc</a:t>
            </a:r>
            <a:r>
              <a:rPr lang="en-US" altLang="zh-TW" dirty="0" err="1">
                <a:solidFill>
                  <a:srgbClr val="FF0000"/>
                </a:solidFill>
              </a:rPr>
              <a:t>cg</a:t>
            </a:r>
            <a:endParaRPr lang="en-US" altLang="zh-TW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TW" dirty="0"/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>
                <a:latin typeface="Times New Roman" panose="02020603050405020304" pitchFamily="18" charset="0"/>
              </a:rPr>
              <a:t>u ∗</a:t>
            </a:r>
            <a:r>
              <a:rPr lang="en-US" altLang="zh-TW" baseline="30000" dirty="0">
                <a:latin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</a:rPr>
              <a:t> v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>
                <a:latin typeface="Times New Roman" panose="02020603050405020304" pitchFamily="18" charset="0"/>
              </a:rPr>
              <a:t>v: ta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>
                <a:latin typeface="Times New Roman" panose="02020603050405020304" pitchFamily="18" charset="0"/>
              </a:rPr>
              <a:t>u: </a:t>
            </a:r>
            <a:r>
              <a:rPr lang="en-US" altLang="zh-TW" dirty="0" err="1">
                <a:latin typeface="Times New Roman" panose="02020603050405020304" pitchFamily="18" charset="0"/>
              </a:rPr>
              <a:t>gc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 err="1">
                <a:latin typeface="Times New Roman" panose="02020603050405020304" pitchFamily="18" charset="0"/>
              </a:rPr>
              <a:t>ans</a:t>
            </a:r>
            <a:r>
              <a:rPr lang="en-US" altLang="zh-TW" dirty="0">
                <a:latin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</a:rPr>
              <a:t>gc</a:t>
            </a:r>
            <a:r>
              <a:rPr lang="en-US" altLang="zh-TW" dirty="0">
                <a:latin typeface="Times New Roman" panose="02020603050405020304" pitchFamily="18" charset="0"/>
              </a:rPr>
              <a:t>*ta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2A8CD970-F123-5292-B7F2-0385653A5F68}"/>
              </a:ext>
            </a:extLst>
          </p:cNvPr>
          <p:cNvCxnSpPr/>
          <p:nvPr/>
        </p:nvCxnSpPr>
        <p:spPr>
          <a:xfrm>
            <a:off x="4305300" y="2647950"/>
            <a:ext cx="75247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111F0E6-F5E3-C1BC-9C4A-5D0CD527D131}"/>
              </a:ext>
            </a:extLst>
          </p:cNvPr>
          <p:cNvCxnSpPr/>
          <p:nvPr/>
        </p:nvCxnSpPr>
        <p:spPr>
          <a:xfrm>
            <a:off x="7439025" y="3686176"/>
            <a:ext cx="75247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693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/>
          <p:cNvSpPr txBox="1">
            <a:spLocks/>
          </p:cNvSpPr>
          <p:nvPr/>
        </p:nvSpPr>
        <p:spPr>
          <a:xfrm>
            <a:off x="838200" y="1825624"/>
            <a:ext cx="10515600" cy="3720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k-repeats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O(n log n)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by S’ = 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/>
              <a:t>1 mismatch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O((n + m) log(n + m))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671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Times New Roman"/>
        <a:ea typeface="微軟正黑體"/>
        <a:cs typeface=""/>
      </a:majorFont>
      <a:minorFont>
        <a:latin typeface="Times New Roman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5885</TotalTime>
  <Words>1257</Words>
  <Application>Microsoft Office PowerPoint</Application>
  <PresentationFormat>寬螢幕</PresentationFormat>
  <Paragraphs>502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2" baseType="lpstr">
      <vt:lpstr>Arial</vt:lpstr>
      <vt:lpstr>Times New Roman</vt:lpstr>
      <vt:lpstr>Office 佈景主題</vt:lpstr>
      <vt:lpstr>Longest common substrings with k mismatches</vt:lpstr>
      <vt:lpstr>Abstract</vt:lpstr>
      <vt:lpstr>Longest common substring with k mismatches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Time complexity</vt:lpstr>
      <vt:lpstr>Longest common substring with 1 mismatch </vt:lpstr>
      <vt:lpstr>The longest k-repeats problem</vt:lpstr>
      <vt:lpstr>1 mismatch                       1 repeats</vt:lpstr>
      <vt:lpstr>Suffix tree</vt:lpstr>
      <vt:lpstr>PowerPoint 簡報</vt:lpstr>
      <vt:lpstr>PowerPoint 簡報</vt:lpstr>
      <vt:lpstr>Time 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Alex</dc:creator>
  <cp:lastModifiedBy>M103040056</cp:lastModifiedBy>
  <cp:revision>365</cp:revision>
  <dcterms:created xsi:type="dcterms:W3CDTF">2021-01-03T09:53:04Z</dcterms:created>
  <dcterms:modified xsi:type="dcterms:W3CDTF">2022-06-28T10:31:32Z</dcterms:modified>
</cp:coreProperties>
</file>