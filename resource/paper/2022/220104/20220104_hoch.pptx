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1" r:id="rId3"/>
    <p:sldId id="258" r:id="rId4"/>
    <p:sldId id="293" r:id="rId5"/>
    <p:sldId id="313" r:id="rId6"/>
    <p:sldId id="307" r:id="rId7"/>
    <p:sldId id="295" r:id="rId8"/>
    <p:sldId id="316" r:id="rId9"/>
    <p:sldId id="311" r:id="rId10"/>
    <p:sldId id="297" r:id="rId11"/>
    <p:sldId id="308" r:id="rId12"/>
    <p:sldId id="309" r:id="rId13"/>
    <p:sldId id="310" r:id="rId14"/>
    <p:sldId id="290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2275" autoAdjust="0"/>
  </p:normalViewPr>
  <p:slideViewPr>
    <p:cSldViewPr snapToGrid="0">
      <p:cViewPr varScale="1">
        <p:scale>
          <a:sx n="50" d="100"/>
          <a:sy n="50" d="100"/>
        </p:scale>
        <p:origin x="778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1E1DC-9B0B-4445-BE92-0FA02D7ED6E3}" type="datetimeFigureOut">
              <a:rPr lang="zh-TW" altLang="en-US" smtClean="0"/>
              <a:t>2022/1/2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99561"/>
          </a:xfrm>
        </p:spPr>
        <p:txBody>
          <a:bodyPr>
            <a:normAutofit fontScale="90000"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dynamic programming solution to a generalized LCS problem</a:t>
            </a: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Lei Wang,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Xiaodong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Wang, Yingjie Wu,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Daxin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Zhu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113 (2013) 723–728</a:t>
            </a:r>
          </a:p>
          <a:p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Ho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Jan. 4, 2022</a:t>
            </a:r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2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consider a generalized longest common subsequence problem, the string-excluding constrained LCS problem. For  the  two  input  sequences X  and  Y  of  lengths n and m, and a constraint string P of length r, the problem is to ﬁnd a common subsequence Z of X  and  Y  excluding  P  as  a substring and  the length of  Z  is maximized. The  problem and  its  solution  were  ﬁrst  proposed  by  Chen  and  Chao  (2011)  [1],  but   we found that their algorithm cannot solve the problem correctly. A new dynamic programming solution for the STR-EC-LCS problem is then presented in this paper. The correctness of the new algorithm is proved. The time complexity of the new algorithm is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4767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STR-EC-LCS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X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abababa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Y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aabaa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P = aa</a:t>
            </a: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LCS(X, Y)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aabaa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STR-EC-LCS(X, Y, P) = aba 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90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BE640B-A192-4493-B9E3-EA1EF8F87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 = </a:t>
            </a:r>
            <a:r>
              <a:rPr lang="en-US" altLang="zh-TW" dirty="0" err="1"/>
              <a:t>aaba</a:t>
            </a:r>
            <a:r>
              <a:rPr lang="en-US" altLang="zh-TW" dirty="0" err="1">
                <a:solidFill>
                  <a:srgbClr val="FF0000"/>
                </a:solidFill>
              </a:rPr>
              <a:t>aab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P = </a:t>
            </a:r>
            <a:r>
              <a:rPr lang="en-US" altLang="zh-TW" dirty="0" err="1">
                <a:solidFill>
                  <a:srgbClr val="FF0000"/>
                </a:solidFill>
              </a:rPr>
              <a:t>aab</a:t>
            </a:r>
            <a:r>
              <a:rPr lang="en-US" altLang="zh-TW" dirty="0" err="1"/>
              <a:t>a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σ(S) = 3</a:t>
            </a:r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                               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σ(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1278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BE640B-A192-4493-B9E3-EA1EF8F87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Z(</a:t>
            </a:r>
            <a:r>
              <a:rPr lang="en-US" altLang="zh-TW" dirty="0" err="1"/>
              <a:t>i</a:t>
            </a:r>
            <a:r>
              <a:rPr lang="en-US" altLang="zh-TW" dirty="0"/>
              <a:t>, j, k) denote  the  set  of : </a:t>
            </a:r>
          </a:p>
          <a:p>
            <a:pPr marL="0" indent="0">
              <a:buNone/>
            </a:pPr>
            <a:r>
              <a:rPr lang="en-US" altLang="zh-TW" dirty="0"/>
              <a:t>  all  LCSs  of  X [1</a:t>
            </a:r>
            <a:r>
              <a:rPr lang="zh-TW" altLang="en-US" dirty="0"/>
              <a:t> </a:t>
            </a:r>
            <a:r>
              <a:rPr lang="en-US" altLang="zh-TW" dirty="0"/>
              <a:t>: </a:t>
            </a:r>
            <a:r>
              <a:rPr lang="en-US" altLang="zh-TW" dirty="0" err="1"/>
              <a:t>i</a:t>
            </a:r>
            <a:r>
              <a:rPr lang="en-US" altLang="zh-TW" dirty="0"/>
              <a:t>]  and Y [1 : j] excluding  P  as  a  substring  </a:t>
            </a:r>
          </a:p>
          <a:p>
            <a:pPr marL="0" indent="0">
              <a:buNone/>
            </a:pPr>
            <a:r>
              <a:rPr lang="en-US" altLang="zh-TW" dirty="0"/>
              <a:t>  and σ(z)  = k  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f (</a:t>
            </a:r>
            <a:r>
              <a:rPr lang="en-US" altLang="zh-TW" dirty="0" err="1"/>
              <a:t>i</a:t>
            </a:r>
            <a:r>
              <a:rPr lang="en-US" altLang="zh-TW" dirty="0"/>
              <a:t>, j, k) : The length of an LCS in  Z(</a:t>
            </a:r>
            <a:r>
              <a:rPr lang="en-US" altLang="zh-TW" dirty="0" err="1"/>
              <a:t>i</a:t>
            </a:r>
            <a:r>
              <a:rPr lang="en-US" altLang="zh-TW" dirty="0"/>
              <a:t>, j, k)</a:t>
            </a:r>
          </a:p>
          <a:p>
            <a:pPr marL="0" indent="0">
              <a:buNone/>
            </a:pPr>
            <a:r>
              <a:rPr lang="en-US" altLang="zh-TW" dirty="0"/>
              <a:t>             </a:t>
            </a:r>
          </a:p>
          <a:p>
            <a:r>
              <a:rPr lang="en-US" altLang="zh-TW" dirty="0"/>
              <a:t>                      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f(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zh-TW" altLang="en-US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j,</a:t>
            </a:r>
            <a:r>
              <a:rPr lang="zh-TW" altLang="en-US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B248E0-DB76-47A6-8006-82CDB24B9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184" y="4931588"/>
            <a:ext cx="2884199" cy="39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9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recursive formula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8AB02F8-30A6-479A-AB37-9F5235FEA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117" y="1027906"/>
            <a:ext cx="9303766" cy="2622385"/>
          </a:xfrm>
          <a:prstGeom prst="rect">
            <a:avLst/>
          </a:prstGeom>
        </p:spPr>
      </p:pic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60F83E8-2C36-45E4-A7AE-77C97D22C218}"/>
              </a:ext>
            </a:extLst>
          </p:cNvPr>
          <p:cNvSpPr txBox="1">
            <a:spLocks/>
          </p:cNvSpPr>
          <p:nvPr/>
        </p:nvSpPr>
        <p:spPr>
          <a:xfrm>
            <a:off x="838200" y="1531702"/>
            <a:ext cx="10515600" cy="5103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P = </a:t>
            </a:r>
            <a:r>
              <a:rPr lang="en-US" altLang="zh-TW" spc="-1" dirty="0" err="1">
                <a:solidFill>
                  <a:srgbClr val="FF0000"/>
                </a:solidFill>
                <a:latin typeface="Times New Roman"/>
              </a:rPr>
              <a:t>a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aba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x</a:t>
            </a:r>
            <a:r>
              <a:rPr lang="en-US" altLang="zh-TW" spc="-1" baseline="-25000" dirty="0">
                <a:solidFill>
                  <a:srgbClr val="000000"/>
                </a:solidFill>
              </a:rPr>
              <a:t>i</a:t>
            </a:r>
            <a:r>
              <a:rPr lang="en-US" altLang="zh-TW" spc="-1" dirty="0">
                <a:solidFill>
                  <a:srgbClr val="000000"/>
                </a:solidFill>
              </a:rPr>
              <a:t> = </a:t>
            </a:r>
            <a:r>
              <a:rPr lang="en-US" altLang="zh-TW" spc="-1" dirty="0" err="1">
                <a:solidFill>
                  <a:srgbClr val="000000"/>
                </a:solidFill>
              </a:rPr>
              <a:t>y</a:t>
            </a:r>
            <a:r>
              <a:rPr lang="en-US" altLang="zh-TW" spc="-1" baseline="-25000" dirty="0" err="1">
                <a:solidFill>
                  <a:srgbClr val="000000"/>
                </a:solidFill>
              </a:rPr>
              <a:t>j</a:t>
            </a:r>
            <a:r>
              <a:rPr lang="en-US" altLang="zh-TW" spc="-1" dirty="0">
                <a:solidFill>
                  <a:srgbClr val="000000"/>
                </a:solidFill>
              </a:rPr>
              <a:t> = 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k = 1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 = 0 ,  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(-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⊕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a) = 1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 = 1 ,  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(a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⊕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a) = 2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 = 2 ,  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(aa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⊕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a) = 2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 = 3 ,  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aab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⊕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a) = 4</a:t>
            </a:r>
            <a:endParaRPr lang="en-US" altLang="zh-TW" spc="-1" dirty="0">
              <a:solidFill>
                <a:srgbClr val="000000"/>
              </a:solidFill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178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內容版面配置區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P = aa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/>
              <a:t>time cost :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dirty="0"/>
              <a:t>|</a:t>
            </a:r>
            <a:r>
              <a:rPr lang="el-GR" altLang="zh-TW" dirty="0"/>
              <a:t>Σ|)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compute 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σ(P[1 : k]⊕ch)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: O(1)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baseline="-25000" dirty="0">
              <a:latin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λ(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k, x</a:t>
            </a:r>
            <a:r>
              <a:rPr lang="en-US" altLang="zh-TW" spc="-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715B8AC7-248B-40C2-99B3-19240BA2B868}"/>
              </a:ext>
            </a:extLst>
          </p:cNvPr>
          <p:cNvGrpSpPr/>
          <p:nvPr/>
        </p:nvGrpSpPr>
        <p:grpSpPr>
          <a:xfrm>
            <a:off x="7721600" y="182255"/>
            <a:ext cx="2626360" cy="2697460"/>
            <a:chOff x="5074920" y="164485"/>
            <a:chExt cx="2626360" cy="2697460"/>
          </a:xfrm>
        </p:grpSpPr>
        <p:graphicFrame>
          <p:nvGraphicFramePr>
            <p:cNvPr id="6" name="內容版面配置區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73895909"/>
                </p:ext>
              </p:extLst>
            </p:nvPr>
          </p:nvGraphicFramePr>
          <p:xfrm>
            <a:off x="5541280" y="789305"/>
            <a:ext cx="2160000" cy="20726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20000">
                    <a:extLst>
                      <a:ext uri="{9D8B030D-6E8A-4147-A177-3AD203B41FA5}">
                        <a16:colId xmlns:a16="http://schemas.microsoft.com/office/drawing/2014/main" val="664852687"/>
                      </a:ext>
                    </a:extLst>
                  </a:gridCol>
                  <a:gridCol w="720000">
                    <a:extLst>
                      <a:ext uri="{9D8B030D-6E8A-4147-A177-3AD203B41FA5}">
                        <a16:colId xmlns:a16="http://schemas.microsoft.com/office/drawing/2014/main" val="3544101187"/>
                      </a:ext>
                    </a:extLst>
                  </a:gridCol>
                  <a:gridCol w="720000">
                    <a:extLst>
                      <a:ext uri="{9D8B030D-6E8A-4147-A177-3AD203B41FA5}">
                        <a16:colId xmlns:a16="http://schemas.microsoft.com/office/drawing/2014/main" val="97590880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algn="ctr"/>
                        <a:r>
                          <a:rPr lang="el-GR" altLang="zh-TW" sz="2800" spc="-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rPr>
                          <a:t>λ</a:t>
                        </a:r>
                        <a:endParaRPr lang="zh-TW" altLang="en-US" sz="2800" baseline="-25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80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a</a:t>
                        </a:r>
                        <a:endParaRPr lang="zh-TW" altLang="en-US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80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b</a:t>
                        </a:r>
                        <a:endParaRPr lang="zh-TW" altLang="en-US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976704747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8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0</a:t>
                        </a:r>
                        <a:endParaRPr lang="zh-TW" altLang="en-US" sz="28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80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  <a:endParaRPr lang="zh-TW" altLang="en-US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80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0</a:t>
                        </a:r>
                        <a:endParaRPr lang="zh-TW" altLang="en-US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130582955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80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  <a:endParaRPr lang="zh-TW" altLang="en-US" sz="2800" baseline="-25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80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  <a:endParaRPr lang="zh-TW" altLang="en-US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80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0</a:t>
                        </a:r>
                        <a:endParaRPr lang="zh-TW" altLang="en-US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2958303744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80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  <a:endParaRPr lang="zh-TW" altLang="en-US" sz="2800" baseline="-25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80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  <a:endParaRPr lang="zh-TW" altLang="en-US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80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  <a:endParaRPr lang="zh-TW" altLang="en-US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2620283429"/>
                    </a:ext>
                  </a:extLst>
                </a:tr>
              </a:tbl>
            </a:graphicData>
          </a:graphic>
        </p:graphicFrame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7E53D385-3CF4-4C44-BB7D-7F8D7D97F6E4}"/>
                </a:ext>
              </a:extLst>
            </p:cNvPr>
            <p:cNvSpPr txBox="1"/>
            <p:nvPr/>
          </p:nvSpPr>
          <p:spPr>
            <a:xfrm>
              <a:off x="5074920" y="1234937"/>
              <a:ext cx="5791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k</a:t>
              </a:r>
              <a:endParaRPr lang="zh-TW" altLang="en-US" sz="2800" dirty="0"/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802D58FD-3885-47B4-A05F-B7F41329117D}"/>
                </a:ext>
              </a:extLst>
            </p:cNvPr>
            <p:cNvSpPr txBox="1"/>
            <p:nvPr/>
          </p:nvSpPr>
          <p:spPr>
            <a:xfrm>
              <a:off x="6406317" y="164485"/>
              <a:ext cx="4299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x</a:t>
              </a:r>
              <a:r>
                <a:rPr lang="en-US" altLang="zh-TW" sz="2800" baseline="-25000" dirty="0"/>
                <a:t>i</a:t>
              </a:r>
              <a:endParaRPr lang="zh-TW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8532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CA511DBE-7A74-40C2-A95A-8B552E91EB6C}"/>
              </a:ext>
            </a:extLst>
          </p:cNvPr>
          <p:cNvSpPr txBox="1">
            <a:spLocks/>
          </p:cNvSpPr>
          <p:nvPr/>
        </p:nvSpPr>
        <p:spPr>
          <a:xfrm>
            <a:off x="838200" y="1200922"/>
            <a:ext cx="10515600" cy="5580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P = </a:t>
            </a:r>
            <a:r>
              <a:rPr lang="en-US" altLang="zh-TW" spc="-1" dirty="0" err="1">
                <a:solidFill>
                  <a:srgbClr val="FF0000"/>
                </a:solidFill>
                <a:latin typeface="Times New Roman"/>
              </a:rPr>
              <a:t>a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aba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x</a:t>
            </a:r>
            <a:r>
              <a:rPr lang="en-US" altLang="zh-TW" spc="-1" baseline="-25000" dirty="0">
                <a:solidFill>
                  <a:srgbClr val="000000"/>
                </a:solidFill>
              </a:rPr>
              <a:t>i</a:t>
            </a:r>
            <a:r>
              <a:rPr lang="en-US" altLang="zh-TW" spc="-1" dirty="0">
                <a:solidFill>
                  <a:srgbClr val="000000"/>
                </a:solidFill>
              </a:rPr>
              <a:t> = </a:t>
            </a:r>
            <a:r>
              <a:rPr lang="en-US" altLang="zh-TW" spc="-1" dirty="0" err="1">
                <a:solidFill>
                  <a:srgbClr val="000000"/>
                </a:solidFill>
              </a:rPr>
              <a:t>y</a:t>
            </a:r>
            <a:r>
              <a:rPr lang="en-US" altLang="zh-TW" spc="-1" baseline="-25000" dirty="0" err="1">
                <a:solidFill>
                  <a:srgbClr val="000000"/>
                </a:solidFill>
              </a:rPr>
              <a:t>j</a:t>
            </a:r>
            <a:r>
              <a:rPr lang="en-US" altLang="zh-TW" spc="-1" dirty="0">
                <a:solidFill>
                  <a:srgbClr val="000000"/>
                </a:solidFill>
              </a:rPr>
              <a:t> = 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k = 1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 = 0 ,  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(-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⊕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a) = 1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 = 1 ,  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(a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⊕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a) = 2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 = 2 ,  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(aa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⊕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a) = 2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 = 3 ,  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aab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⊕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a) = 4</a:t>
            </a:r>
            <a:endParaRPr lang="en-US" altLang="zh-TW" spc="-1" dirty="0">
              <a:solidFill>
                <a:srgbClr val="000000"/>
              </a:solidFill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update f(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j, 1)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each entry of f(</a:t>
            </a:r>
            <a:r>
              <a:rPr lang="en-US" altLang="zh-TW" dirty="0" err="1">
                <a:latin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</a:rPr>
              <a:t>, j, k) : 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O(r) </a:t>
            </a:r>
            <a:r>
              <a:rPr lang="zh-TW" altLang="en-US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O(1)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7526942-6C10-4917-BE9E-6212F84C6D93}"/>
              </a:ext>
            </a:extLst>
          </p:cNvPr>
          <p:cNvSpPr txBox="1">
            <a:spLocks/>
          </p:cNvSpPr>
          <p:nvPr/>
        </p:nvSpPr>
        <p:spPr>
          <a:xfrm>
            <a:off x="6934200" y="1162822"/>
            <a:ext cx="3780692" cy="5657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(a</a:t>
            </a:r>
            <a:r>
              <a:rPr lang="el-GR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⊕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a) = 2        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pc="-1" dirty="0">
                <a:latin typeface="Times New Roman" pitchFamily="18" charset="0"/>
                <a:cs typeface="Times New Roman" pitchFamily="18" charset="0"/>
              </a:rPr>
              <a:t>      update f(</a:t>
            </a:r>
            <a:r>
              <a:rPr lang="en-US" altLang="zh-TW" spc="-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pc="-1" dirty="0">
                <a:latin typeface="Times New Roman" pitchFamily="18" charset="0"/>
                <a:cs typeface="Times New Roman" pitchFamily="18" charset="0"/>
              </a:rPr>
              <a:t>, j, 2)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EA9EE4E-E50A-49C9-8581-00E5E063D31A}"/>
              </a:ext>
            </a:extLst>
          </p:cNvPr>
          <p:cNvSpPr txBox="1">
            <a:spLocks/>
          </p:cNvSpPr>
          <p:nvPr/>
        </p:nvSpPr>
        <p:spPr>
          <a:xfrm>
            <a:off x="838200" y="37941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We can amortize the computation of function max</a:t>
            </a:r>
            <a:r>
              <a:rPr lang="el-GR" altLang="zh-TW" dirty="0">
                <a:latin typeface="Times New Roman" panose="02020603050405020304" pitchFamily="18" charset="0"/>
              </a:rPr>
              <a:t>σ(</a:t>
            </a:r>
            <a:r>
              <a:rPr lang="en-US" altLang="zh-TW" dirty="0" err="1">
                <a:latin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</a:rPr>
              <a:t>, j, k) to each entry of f(</a:t>
            </a:r>
            <a:r>
              <a:rPr lang="en-US" altLang="zh-TW" dirty="0" err="1">
                <a:latin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</a:rPr>
              <a:t>, j, k) in the for loop on variable k</a:t>
            </a:r>
            <a:endParaRPr lang="en-US" altLang="zh-TW" baseline="-25000" dirty="0">
              <a:latin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CC20696E-D128-4879-9B7C-E6445E43B796}"/>
              </a:ext>
            </a:extLst>
          </p:cNvPr>
          <p:cNvSpPr/>
          <p:nvPr/>
        </p:nvSpPr>
        <p:spPr>
          <a:xfrm>
            <a:off x="5326464" y="3773647"/>
            <a:ext cx="740228" cy="511628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742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STR-EC-LCS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X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abababa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Y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aabaa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P = aa</a:t>
            </a: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LCS(X, Y)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aabaa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STR-EC-LCS(X, Y, P) = aba 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15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STR-EC-LCS</a:t>
            </a:r>
            <a:endParaRPr lang="zh-TW" altLang="en-US" dirty="0"/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838200" y="9717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s-ES" altLang="zh-TW" sz="2400" dirty="0"/>
              <a:t>X = abababa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s-ES" altLang="zh-TW" sz="2400" dirty="0"/>
              <a:t>Y = aabaa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s-ES" altLang="zh-TW" sz="2400" dirty="0"/>
              <a:t>P = aa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z="2400" dirty="0">
              <a:latin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55648" y="2121223"/>
            <a:ext cx="8070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0                                                      k = 1                        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995006" y="2560327"/>
            <a:ext cx="46051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f(1, 1, 1) =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+ f(0, 0, 0) =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f(1, 1, 1) = max{0, 1}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= 1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630157"/>
              </p:ext>
            </p:extLst>
          </p:nvPr>
        </p:nvGraphicFramePr>
        <p:xfrm>
          <a:off x="255648" y="2560327"/>
          <a:ext cx="4114803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829">
                  <a:extLst>
                    <a:ext uri="{9D8B030D-6E8A-4147-A177-3AD203B41FA5}">
                      <a16:colId xmlns:a16="http://schemas.microsoft.com/office/drawing/2014/main" val="3630319676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44994395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324140606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154181303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4266199047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70062155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27360862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548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9056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7352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453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0599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648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3593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6651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7731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6419CE58-C88E-44FA-AD4E-119908AA51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2128977"/>
              </p:ext>
            </p:extLst>
          </p:nvPr>
        </p:nvGraphicFramePr>
        <p:xfrm>
          <a:off x="4625327" y="2560327"/>
          <a:ext cx="4114803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829">
                  <a:extLst>
                    <a:ext uri="{9D8B030D-6E8A-4147-A177-3AD203B41FA5}">
                      <a16:colId xmlns:a16="http://schemas.microsoft.com/office/drawing/2014/main" val="3630319676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44994395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324140606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154181303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4266199047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70062155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27360862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548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9056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7352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453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0599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648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3593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6651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77310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37B1E35D-5166-4E5D-8E34-722284A2D8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4055043"/>
              </p:ext>
            </p:extLst>
          </p:nvPr>
        </p:nvGraphicFramePr>
        <p:xfrm>
          <a:off x="8740130" y="108110"/>
          <a:ext cx="21600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6648526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41011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7590880"/>
                    </a:ext>
                  </a:extLst>
                </a:gridCol>
              </a:tblGrid>
              <a:tr h="281471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800" spc="-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λ</a:t>
                      </a:r>
                      <a:endParaRPr lang="zh-TW" altLang="en-US" sz="2800" baseline="-25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70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58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baseline="-25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303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baseline="-25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283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519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STR-EC-LCS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255648" y="2121223"/>
            <a:ext cx="8070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0                                                      k = 1                        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995006" y="2372382"/>
            <a:ext cx="460519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f(2, 3, 0) =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+ f(1, 2, 0) =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f(2, 3, 0) = max{0, 1}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= 1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f(2, 3, 0) =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+ f(1, 2, 1) =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f(2, 3, 0) = max{1, 2}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= 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9017394"/>
              </p:ext>
            </p:extLst>
          </p:nvPr>
        </p:nvGraphicFramePr>
        <p:xfrm>
          <a:off x="255648" y="2560327"/>
          <a:ext cx="4114803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829">
                  <a:extLst>
                    <a:ext uri="{9D8B030D-6E8A-4147-A177-3AD203B41FA5}">
                      <a16:colId xmlns:a16="http://schemas.microsoft.com/office/drawing/2014/main" val="3630319676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44994395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324140606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154181303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4266199047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70062155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27360862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548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9056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7352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453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0599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648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3593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6651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7731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6419CE58-C88E-44FA-AD4E-119908AA51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1258120"/>
              </p:ext>
            </p:extLst>
          </p:nvPr>
        </p:nvGraphicFramePr>
        <p:xfrm>
          <a:off x="4625327" y="2560327"/>
          <a:ext cx="4114803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829">
                  <a:extLst>
                    <a:ext uri="{9D8B030D-6E8A-4147-A177-3AD203B41FA5}">
                      <a16:colId xmlns:a16="http://schemas.microsoft.com/office/drawing/2014/main" val="3630319676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44994395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324140606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154181303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4266199047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70062155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27360862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548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9056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7352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453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0599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648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3593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6651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77310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37B1E35D-5166-4E5D-8E34-722284A2D8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1923426"/>
              </p:ext>
            </p:extLst>
          </p:nvPr>
        </p:nvGraphicFramePr>
        <p:xfrm>
          <a:off x="8740130" y="108110"/>
          <a:ext cx="21600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6648526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41011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7590880"/>
                    </a:ext>
                  </a:extLst>
                </a:gridCol>
              </a:tblGrid>
              <a:tr h="281471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800" spc="-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λ</a:t>
                      </a:r>
                      <a:endParaRPr lang="zh-TW" altLang="en-US" sz="2800" baseline="-25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70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58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baseline="-25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303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baseline="-25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283429"/>
                  </a:ext>
                </a:extLst>
              </a:tr>
            </a:tbl>
          </a:graphicData>
        </a:graphic>
      </p:graphicFrame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ECE0402-D42B-486C-83C5-1BD21C79531C}"/>
              </a:ext>
            </a:extLst>
          </p:cNvPr>
          <p:cNvSpPr txBox="1">
            <a:spLocks/>
          </p:cNvSpPr>
          <p:nvPr/>
        </p:nvSpPr>
        <p:spPr>
          <a:xfrm>
            <a:off x="838200" y="9717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s-ES" altLang="zh-TW" sz="2400" dirty="0"/>
              <a:t>X = abababa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s-ES" altLang="zh-TW" sz="2400" dirty="0"/>
              <a:t>Y = aabaa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s-ES" altLang="zh-TW" sz="2400" dirty="0"/>
              <a:t>P = aa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076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255648" y="2121223"/>
            <a:ext cx="8070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0                                                      k = 1                        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995006" y="2560327"/>
            <a:ext cx="46051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f(3, 4, 1) =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+ f(2, 3, 0) = 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f(3, 4 ,1) = max{1, 3}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= 3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4258391"/>
              </p:ext>
            </p:extLst>
          </p:nvPr>
        </p:nvGraphicFramePr>
        <p:xfrm>
          <a:off x="255648" y="2560327"/>
          <a:ext cx="4114803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829">
                  <a:extLst>
                    <a:ext uri="{9D8B030D-6E8A-4147-A177-3AD203B41FA5}">
                      <a16:colId xmlns:a16="http://schemas.microsoft.com/office/drawing/2014/main" val="3630319676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44994395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324140606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154181303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4266199047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70062155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27360862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548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9056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7352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453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0599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648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3593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6651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7731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6419CE58-C88E-44FA-AD4E-119908AA51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9562526"/>
              </p:ext>
            </p:extLst>
          </p:nvPr>
        </p:nvGraphicFramePr>
        <p:xfrm>
          <a:off x="4625327" y="2560327"/>
          <a:ext cx="4114803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829">
                  <a:extLst>
                    <a:ext uri="{9D8B030D-6E8A-4147-A177-3AD203B41FA5}">
                      <a16:colId xmlns:a16="http://schemas.microsoft.com/office/drawing/2014/main" val="3630319676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44994395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324140606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154181303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4266199047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70062155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27360862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548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9056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7352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453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0599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648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3593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6651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77310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37B1E35D-5166-4E5D-8E34-722284A2D8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8187229"/>
              </p:ext>
            </p:extLst>
          </p:nvPr>
        </p:nvGraphicFramePr>
        <p:xfrm>
          <a:off x="8740130" y="108110"/>
          <a:ext cx="21600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6648526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41011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7590880"/>
                    </a:ext>
                  </a:extLst>
                </a:gridCol>
              </a:tblGrid>
              <a:tr h="281471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800" spc="-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λ</a:t>
                      </a:r>
                      <a:endParaRPr lang="zh-TW" altLang="en-US" sz="2800" baseline="-25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70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58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baseline="-25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303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baseline="-25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283429"/>
                  </a:ext>
                </a:extLst>
              </a:tr>
            </a:tbl>
          </a:graphicData>
        </a:graphic>
      </p:graphicFrame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A67C3B30-D598-4E58-B2A4-047F3F8DEA84}"/>
              </a:ext>
            </a:extLst>
          </p:cNvPr>
          <p:cNvSpPr txBox="1">
            <a:spLocks/>
          </p:cNvSpPr>
          <p:nvPr/>
        </p:nvSpPr>
        <p:spPr>
          <a:xfrm>
            <a:off x="838200" y="9717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s-ES" altLang="zh-TW" sz="2400" dirty="0"/>
              <a:t>X = abababa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s-ES" altLang="zh-TW" sz="2400" dirty="0"/>
              <a:t>Y = aabaa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s-ES" altLang="zh-TW" sz="2400" dirty="0"/>
              <a:t>P = aa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z="2400" dirty="0">
              <a:latin typeface="Times New Roman" panose="02020603050405020304" pitchFamily="18" charset="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F69FC553-0E48-454D-A443-EC23840FA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STR-EC-LCS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232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255648" y="2121223"/>
            <a:ext cx="8070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0                                                      k = 1                        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883246" y="2560327"/>
            <a:ext cx="4605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STR-EC-LCS(X, Y, P)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= aba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5362012"/>
              </p:ext>
            </p:extLst>
          </p:nvPr>
        </p:nvGraphicFramePr>
        <p:xfrm>
          <a:off x="255648" y="2560327"/>
          <a:ext cx="4114803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829">
                  <a:extLst>
                    <a:ext uri="{9D8B030D-6E8A-4147-A177-3AD203B41FA5}">
                      <a16:colId xmlns:a16="http://schemas.microsoft.com/office/drawing/2014/main" val="3630319676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44994395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324140606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154181303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4266199047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70062155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27360862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548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9056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7352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453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0599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648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3593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6651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7731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6419CE58-C88E-44FA-AD4E-119908AA51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3707470"/>
              </p:ext>
            </p:extLst>
          </p:nvPr>
        </p:nvGraphicFramePr>
        <p:xfrm>
          <a:off x="4625327" y="2560327"/>
          <a:ext cx="4114803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829">
                  <a:extLst>
                    <a:ext uri="{9D8B030D-6E8A-4147-A177-3AD203B41FA5}">
                      <a16:colId xmlns:a16="http://schemas.microsoft.com/office/drawing/2014/main" val="3630319676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44994395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3241406068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154181303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4266199047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70062155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27360862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548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9056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7352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453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0599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648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3593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6651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77310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37B1E35D-5166-4E5D-8E34-722284A2D80C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740130" y="108110"/>
          <a:ext cx="21600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6648526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41011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7590880"/>
                    </a:ext>
                  </a:extLst>
                </a:gridCol>
              </a:tblGrid>
              <a:tr h="281471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800" spc="-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λ</a:t>
                      </a:r>
                      <a:endParaRPr lang="zh-TW" altLang="en-US" sz="2800" baseline="-25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70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58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baseline="-25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303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baseline="-25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283429"/>
                  </a:ext>
                </a:extLst>
              </a:tr>
            </a:tbl>
          </a:graphicData>
        </a:graphic>
      </p:graphicFrame>
      <p:sp>
        <p:nvSpPr>
          <p:cNvPr id="14" name="標題 1">
            <a:extLst>
              <a:ext uri="{FF2B5EF4-FFF2-40B4-BE49-F238E27FC236}">
                <a16:creationId xmlns:a16="http://schemas.microsoft.com/office/drawing/2014/main" id="{0EEA0C29-957C-4896-9843-10EC5D9CD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STR-EC-LCS</a:t>
            </a:r>
            <a:endParaRPr lang="zh-TW" altLang="en-US" dirty="0"/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238A0632-A7B4-4758-B7F4-71E79D3AA5EF}"/>
              </a:ext>
            </a:extLst>
          </p:cNvPr>
          <p:cNvSpPr txBox="1">
            <a:spLocks/>
          </p:cNvSpPr>
          <p:nvPr/>
        </p:nvSpPr>
        <p:spPr>
          <a:xfrm>
            <a:off x="838200" y="9717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s-ES" altLang="zh-TW" sz="2400" dirty="0"/>
              <a:t>X = abababa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s-ES" altLang="zh-TW" sz="2400" dirty="0"/>
              <a:t>Y = aabaa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s-ES" altLang="zh-TW" sz="2400" dirty="0"/>
              <a:t>P = aa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90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838200" y="1825624"/>
            <a:ext cx="10515600" cy="3720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 time: O(r|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Σ|)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O(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nmr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67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1196</Words>
  <Application>Microsoft Office PowerPoint</Application>
  <PresentationFormat>寬螢幕</PresentationFormat>
  <Paragraphs>532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微軟正黑體</vt:lpstr>
      <vt:lpstr>新細明體</vt:lpstr>
      <vt:lpstr>Arial</vt:lpstr>
      <vt:lpstr>Times New Roman</vt:lpstr>
      <vt:lpstr>Wingdings</vt:lpstr>
      <vt:lpstr>Office 佈景主題</vt:lpstr>
      <vt:lpstr>A dynamic programming solution to a generalized LCS problem</vt:lpstr>
      <vt:lpstr>Abstract</vt:lpstr>
      <vt:lpstr>STR-EC-LCS</vt:lpstr>
      <vt:lpstr>σ(S)</vt:lpstr>
      <vt:lpstr>f(i, j, k)</vt:lpstr>
      <vt:lpstr>recursive formula</vt:lpstr>
      <vt:lpstr>λ(k, xi)</vt:lpstr>
      <vt:lpstr>PowerPoint 簡報</vt:lpstr>
      <vt:lpstr>STR-EC-LCS</vt:lpstr>
      <vt:lpstr>STR-EC-LCS</vt:lpstr>
      <vt:lpstr>STR-EC-LCS</vt:lpstr>
      <vt:lpstr>STR-EC-LCS</vt:lpstr>
      <vt:lpstr>STR-EC-LCS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USER</cp:lastModifiedBy>
  <cp:revision>187</cp:revision>
  <dcterms:created xsi:type="dcterms:W3CDTF">2021-01-03T09:53:04Z</dcterms:created>
  <dcterms:modified xsi:type="dcterms:W3CDTF">2022-01-02T08:21:16Z</dcterms:modified>
</cp:coreProperties>
</file>