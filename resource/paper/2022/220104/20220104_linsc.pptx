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99" r:id="rId2"/>
    <p:sldMasterId id="2147483738" r:id="rId3"/>
    <p:sldMasterId id="2147483712" r:id="rId4"/>
    <p:sldMasterId id="2147483674" r:id="rId5"/>
    <p:sldMasterId id="2147483725" r:id="rId6"/>
  </p:sldMasterIdLst>
  <p:notesMasterIdLst>
    <p:notesMasterId r:id="rId18"/>
  </p:notesMasterIdLst>
  <p:sldIdLst>
    <p:sldId id="256" r:id="rId7"/>
    <p:sldId id="258" r:id="rId8"/>
    <p:sldId id="266" r:id="rId9"/>
    <p:sldId id="259" r:id="rId10"/>
    <p:sldId id="261" r:id="rId11"/>
    <p:sldId id="267" r:id="rId12"/>
    <p:sldId id="268" r:id="rId13"/>
    <p:sldId id="269" r:id="rId14"/>
    <p:sldId id="270" r:id="rId15"/>
    <p:sldId id="272" r:id="rId16"/>
    <p:sldId id="271" r:id="rId1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87" autoAdjust="0"/>
    <p:restoredTop sz="94632" autoAdjust="0"/>
  </p:normalViewPr>
  <p:slideViewPr>
    <p:cSldViewPr>
      <p:cViewPr varScale="1">
        <p:scale>
          <a:sx n="65" d="100"/>
          <a:sy n="65" d="100"/>
        </p:scale>
        <p:origin x="86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5" Type="http://schemas.openxmlformats.org/officeDocument/2006/relationships/slideMaster" Target="slideMasters/slideMaster5.xml"/><Relationship Id="rId15" Type="http://schemas.openxmlformats.org/officeDocument/2006/relationships/slide" Target="slides/slide9.xml"/><Relationship Id="rId10" Type="http://schemas.openxmlformats.org/officeDocument/2006/relationships/slide" Target="slides/slide4.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r>
              <a:rPr lang="zh-TW" sz="1800" b="0" strike="noStrike" spc="-1">
                <a:solidFill>
                  <a:srgbClr val="000000"/>
                </a:solidFill>
                <a:latin typeface="Calibri"/>
              </a:rPr>
              <a:t>請按這裡移動投影片</a:t>
            </a:r>
            <a:endParaRPr lang="en-US" sz="1800" b="0" strike="noStrike" spc="-1">
              <a:solidFill>
                <a:srgbClr val="000000"/>
              </a:solidFill>
              <a:latin typeface="Calibri"/>
            </a:endParaRPr>
          </a:p>
        </p:txBody>
      </p:sp>
      <p:sp>
        <p:nvSpPr>
          <p:cNvPr id="83" name="PlaceHolder 2"/>
          <p:cNvSpPr>
            <a:spLocks noGrp="1"/>
          </p:cNvSpPr>
          <p:nvPr>
            <p:ph type="body"/>
          </p:nvPr>
        </p:nvSpPr>
        <p:spPr>
          <a:xfrm>
            <a:off x="756000" y="5078520"/>
            <a:ext cx="6047640" cy="4811040"/>
          </a:xfrm>
          <a:prstGeom prst="rect">
            <a:avLst/>
          </a:prstGeom>
        </p:spPr>
        <p:txBody>
          <a:bodyPr lIns="0" tIns="0" rIns="0" bIns="0">
            <a:noAutofit/>
          </a:bodyPr>
          <a:lstStyle/>
          <a:p>
            <a:r>
              <a:rPr lang="zh-TW" sz="2000" b="0" strike="noStrike" spc="-1">
                <a:latin typeface="Arial"/>
              </a:rPr>
              <a:t>請按這裡編輯備註格式</a:t>
            </a:r>
            <a:endParaRPr lang="en-US" sz="2000" b="0" strike="noStrike" spc="-1">
              <a:latin typeface="Arial"/>
            </a:endParaRPr>
          </a:p>
        </p:txBody>
      </p:sp>
      <p:sp>
        <p:nvSpPr>
          <p:cNvPr id="84" name="PlaceHolder 3"/>
          <p:cNvSpPr>
            <a:spLocks noGrp="1"/>
          </p:cNvSpPr>
          <p:nvPr>
            <p:ph type="hdr"/>
          </p:nvPr>
        </p:nvSpPr>
        <p:spPr>
          <a:xfrm>
            <a:off x="0" y="0"/>
            <a:ext cx="3280680" cy="534240"/>
          </a:xfrm>
          <a:prstGeom prst="rect">
            <a:avLst/>
          </a:prstGeom>
        </p:spPr>
        <p:txBody>
          <a:bodyPr lIns="0" tIns="0" rIns="0" bIns="0">
            <a:noAutofit/>
          </a:bodyPr>
          <a:lstStyle/>
          <a:p>
            <a:r>
              <a:rPr lang="en-US" sz="1400" b="0" strike="noStrike" spc="-1">
                <a:latin typeface="Times New Roman"/>
              </a:rPr>
              <a:t>&lt;頁首&gt;</a:t>
            </a:r>
          </a:p>
        </p:txBody>
      </p:sp>
      <p:sp>
        <p:nvSpPr>
          <p:cNvPr id="85"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n-US" sz="1400" b="0" strike="noStrike" spc="-1">
                <a:latin typeface="Times New Roman"/>
              </a:rPr>
              <a:t>&lt;日期/時間&gt;</a:t>
            </a:r>
          </a:p>
        </p:txBody>
      </p:sp>
      <p:sp>
        <p:nvSpPr>
          <p:cNvPr id="86"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n-US" sz="1400" b="0" strike="noStrike" spc="-1">
                <a:latin typeface="Times New Roman"/>
              </a:rPr>
              <a:t>&lt;頁尾&gt;</a:t>
            </a:r>
          </a:p>
        </p:txBody>
      </p:sp>
      <p:sp>
        <p:nvSpPr>
          <p:cNvPr id="87"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331962A5-A15B-4472-A253-73015B2EE908}" type="slidenum">
              <a:rPr lang="en-US" sz="1400" b="0" strike="noStrike" spc="-1">
                <a:latin typeface="Times New Roman"/>
              </a:rPr>
              <a:pPr algn="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8075" y="812800"/>
            <a:ext cx="5343525" cy="4008438"/>
          </a:xfrm>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idx="10"/>
          </p:nvPr>
        </p:nvSpPr>
        <p:spPr/>
        <p:txBody>
          <a:bodyPr/>
          <a:lstStyle/>
          <a:p>
            <a:pPr algn="r"/>
            <a:fld id="{331962A5-A15B-4472-A253-73015B2EE908}" type="slidenum">
              <a:rPr lang="en-US" sz="1400" b="0" strike="noStrike" spc="-1" smtClean="0">
                <a:latin typeface="Times New Roman"/>
              </a:rPr>
              <a:pPr algn="r"/>
              <a:t>3</a:t>
            </a:fld>
            <a:endParaRPr lang="en-US" sz="14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1"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5"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6"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7"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0"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1"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4"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5"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8"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3"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5"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7"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8"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按一下以編輯母片標題樣式</a:t>
            </a:r>
          </a:p>
        </p:txBody>
      </p:sp>
      <p:sp>
        <p:nvSpPr>
          <p:cNvPr id="3" name="內容版面配置區 2"/>
          <p:cNvSpPr>
            <a:spLocks noGrp="1"/>
          </p:cNvSpPr>
          <p:nvPr>
            <p:ph idx="1"/>
          </p:nvPr>
        </p:nvSpPr>
        <p:spPr/>
        <p:txBody>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1_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atin typeface="Times New Roman" pitchFamily="18" charset="0"/>
                <a:cs typeface="Times New Roman" pitchFamily="18" charset="0"/>
              </a:defRPr>
            </a:lvl1pPr>
          </a:lstStyle>
          <a:p>
            <a:r>
              <a:rPr lang="zh-TW" altLang="en-US" dirty="0"/>
              <a:t>按一下以編輯母片標題樣式</a:t>
            </a:r>
          </a:p>
        </p:txBody>
      </p:sp>
      <p:sp>
        <p:nvSpPr>
          <p:cNvPr id="3" name="內容版面配置區 2"/>
          <p:cNvSpPr>
            <a:spLocks noGrp="1"/>
          </p:cNvSpPr>
          <p:nvPr>
            <p:ph idx="1"/>
          </p:nvPr>
        </p:nvSpPr>
        <p:spPr/>
        <p:txBody>
          <a:bodyPr/>
          <a:lstStyle>
            <a:lvl1pPr>
              <a:defRPr>
                <a:latin typeface="Times New Roman" pitchFamily="18" charset="0"/>
                <a:cs typeface="Times New Roman" pitchFamily="18" charset="0"/>
              </a:defRPr>
            </a:lvl1pPr>
            <a:lvl2pPr>
              <a:defRPr>
                <a:latin typeface="Times New Roman" pitchFamily="18" charset="0"/>
                <a:cs typeface="Times New Roman" pitchFamily="18" charset="0"/>
              </a:defRPr>
            </a:lvl2pPr>
            <a:lvl3pPr>
              <a:defRPr>
                <a:latin typeface="Times New Roman" pitchFamily="18" charset="0"/>
                <a:cs typeface="Times New Roman" pitchFamily="18" charset="0"/>
              </a:defRPr>
            </a:lvl3pPr>
            <a:lvl4pPr>
              <a:defRPr>
                <a:latin typeface="Times New Roman" pitchFamily="18" charset="0"/>
                <a:cs typeface="Times New Roman" pitchFamily="18" charset="0"/>
              </a:defRPr>
            </a:lvl4pPr>
            <a:lvl5pPr>
              <a:defRPr>
                <a:latin typeface="Times New Roman" pitchFamily="18" charset="0"/>
                <a:cs typeface="Times New Roman" pitchFamily="18" charset="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2022/1/4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86EF5B75-ECF6-4BE6-A3DE-C8259B535844}" type="datetimeFigureOut">
              <a:rPr lang="zh-TW" altLang="en-US" smtClean="0"/>
              <a:pPr/>
              <a:t>2022/1/4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86EF5B75-ECF6-4BE6-A3DE-C8259B535844}" type="datetimeFigureOut">
              <a:rPr lang="zh-TW" altLang="en-US" smtClean="0"/>
              <a:pPr/>
              <a:t>2022/1/4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6EF5B75-ECF6-4BE6-A3DE-C8259B535844}" type="datetimeFigureOut">
              <a:rPr lang="zh-TW" altLang="en-US" smtClean="0"/>
              <a:pPr/>
              <a:t>2022/1/4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2022/1/4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86EF5B75-ECF6-4BE6-A3DE-C8259B535844}" type="datetimeFigureOut">
              <a:rPr lang="zh-TW" altLang="en-US" smtClean="0"/>
              <a:pPr/>
              <a:t>2022/1/4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6EF5B75-ECF6-4BE6-A3DE-C8259B535844}" type="datetimeFigureOut">
              <a:rPr lang="zh-TW" altLang="en-US" smtClean="0"/>
              <a:pPr/>
              <a:t>2022/1/4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D2404C3-9969-4EFA-96B9-1AADC38D5656}" type="slidenum">
              <a:rPr lang="zh-TW" altLang="en-US" smtClean="0"/>
              <a:pPr/>
              <a:t>‹#›</a:t>
            </a:fld>
            <a:endParaRPr lang="zh-TW"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1_標題及物件T">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2022/1/4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A551E863-67F1-4DED-9226-013F8637FBA5}" type="datetimeFigureOut">
              <a:rPr lang="zh-TW" altLang="en-US" smtClean="0"/>
              <a:pPr/>
              <a:t>2022/1/4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A551E863-67F1-4DED-9226-013F8637FBA5}" type="datetimeFigureOut">
              <a:rPr lang="zh-TW" altLang="en-US" smtClean="0"/>
              <a:pPr/>
              <a:t>2022/1/4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A551E863-67F1-4DED-9226-013F8637FBA5}" type="datetimeFigureOut">
              <a:rPr lang="zh-TW" altLang="en-US" smtClean="0"/>
              <a:pPr/>
              <a:t>2022/1/4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2022/1/4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A551E863-67F1-4DED-9226-013F8637FBA5}" type="datetimeFigureOut">
              <a:rPr lang="zh-TW" altLang="en-US" smtClean="0"/>
              <a:pPr/>
              <a:t>2022/1/4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A551E863-67F1-4DED-9226-013F8637FBA5}" type="datetimeFigureOut">
              <a:rPr lang="zh-TW" altLang="en-US" smtClean="0"/>
              <a:pPr/>
              <a:t>2022/1/4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8FAB90B-7E45-4DA0-85F8-FA0EBB18F3F7}" type="slidenum">
              <a:rPr lang="zh-TW" altLang="en-US" smtClean="0"/>
              <a:pPr/>
              <a:t>‹#›</a:t>
            </a:fld>
            <a:endParaRPr lang="zh-TW"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6" name="PlaceHolder 2"/>
          <p:cNvSpPr>
            <a:spLocks noGrp="1"/>
          </p:cNvSpPr>
          <p:nvPr>
            <p:ph type="dt"/>
          </p:nvPr>
        </p:nvSpPr>
        <p:spPr>
          <a:xfrm>
            <a:off x="457200" y="6356520"/>
            <a:ext cx="2133360" cy="364680"/>
          </a:xfrm>
          <a:prstGeom prst="rect">
            <a:avLst/>
          </a:prstGeom>
        </p:spPr>
        <p:txBody>
          <a:bodyPr anchor="ctr">
            <a:noAutofit/>
          </a:bodyPr>
          <a:lstStyle/>
          <a:p>
            <a:pPr>
              <a:lnSpc>
                <a:spcPct val="100000"/>
              </a:lnSpc>
            </a:pPr>
            <a:fld id="{BFEC21A0-76F1-4091-8A4E-3D3682A4EBBE}" type="datetime">
              <a:rPr lang="en-US" sz="1200" b="0" strike="noStrike" spc="-1">
                <a:solidFill>
                  <a:srgbClr val="8B8B8B"/>
                </a:solidFill>
                <a:latin typeface="Calibri"/>
              </a:rPr>
              <a:pPr>
                <a:lnSpc>
                  <a:spcPct val="100000"/>
                </a:lnSpc>
              </a:pPr>
              <a:t>1/4/2022</a:t>
            </a:fld>
            <a:endParaRPr lang="en-US" sz="1200" b="0" strike="noStrike" spc="-1">
              <a:latin typeface="Times New Roman"/>
            </a:endParaRPr>
          </a:p>
        </p:txBody>
      </p:sp>
      <p:sp>
        <p:nvSpPr>
          <p:cNvPr id="2" name="PlaceHolder 3"/>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3" name="PlaceHolder 4"/>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29C6C588-69D4-483A-BFC4-1F3BDC423AB1}"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
        <p:nvSpPr>
          <p:cNvPr id="4" name="PlaceHolder 5"/>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zh-TW" sz="3200" b="0" strike="noStrike" spc="-1" dirty="0">
                <a:solidFill>
                  <a:srgbClr val="000000"/>
                </a:solidFill>
                <a:latin typeface="Calibri"/>
              </a:rPr>
              <a:t>請按這裡編輯大綱文字格式</a:t>
            </a:r>
            <a:endParaRPr lang="en-US" sz="3200" b="0" strike="noStrike" spc="-1" dirty="0">
              <a:solidFill>
                <a:srgbClr val="000000"/>
              </a:solidFill>
              <a:latin typeface="Calibri"/>
            </a:endParaRPr>
          </a:p>
          <a:p>
            <a:pPr marL="864000" lvl="1" indent="-324000">
              <a:spcBef>
                <a:spcPts val="1134"/>
              </a:spcBef>
              <a:buClr>
                <a:srgbClr val="000000"/>
              </a:buClr>
              <a:buSzPct val="75000"/>
              <a:buFont typeface="Symbol" charset="2"/>
              <a:buChar char=""/>
            </a:pPr>
            <a:r>
              <a:rPr lang="zh-TW" sz="2400" b="0" strike="noStrike" spc="-1" dirty="0">
                <a:solidFill>
                  <a:srgbClr val="000000"/>
                </a:solidFill>
                <a:latin typeface="Calibri"/>
              </a:rPr>
              <a:t>第二個大綱層次</a:t>
            </a:r>
            <a:endParaRPr lang="en-US" sz="2400" b="0" strike="noStrike" spc="-1" dirty="0">
              <a:solidFill>
                <a:srgbClr val="000000"/>
              </a:solidFill>
              <a:latin typeface="Calibri"/>
            </a:endParaRPr>
          </a:p>
          <a:p>
            <a:pPr marL="1296000" lvl="2" indent="-288000">
              <a:spcBef>
                <a:spcPts val="850"/>
              </a:spcBef>
              <a:buClr>
                <a:srgbClr val="000000"/>
              </a:buClr>
              <a:buSzPct val="45000"/>
              <a:buFont typeface="Wingdings" charset="2"/>
              <a:buChar char=""/>
            </a:pPr>
            <a:r>
              <a:rPr lang="zh-TW" sz="2000" b="0" strike="noStrike" spc="-1" dirty="0">
                <a:solidFill>
                  <a:srgbClr val="000000"/>
                </a:solidFill>
                <a:latin typeface="Calibri"/>
              </a:rPr>
              <a:t>第三個大綱層次</a:t>
            </a:r>
            <a:endParaRPr lang="en-US" sz="2000" b="0" strike="noStrike" spc="-1" dirty="0">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dirty="0">
                <a:solidFill>
                  <a:srgbClr val="000000"/>
                </a:solidFill>
                <a:latin typeface="Calibri"/>
              </a:rPr>
              <a:t>第四個大綱層次</a:t>
            </a:r>
            <a:endParaRPr lang="en-US" sz="2000" b="0" strike="noStrike" spc="-1" dirty="0">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dirty="0">
                <a:solidFill>
                  <a:srgbClr val="000000"/>
                </a:solidFill>
                <a:latin typeface="Calibri"/>
              </a:rPr>
              <a:t>第五個大綱層次</a:t>
            </a:r>
            <a:endParaRPr lang="en-US" sz="2000" b="0" strike="noStrike" spc="-1" dirty="0">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dirty="0">
                <a:solidFill>
                  <a:srgbClr val="000000"/>
                </a:solidFill>
                <a:latin typeface="Calibri"/>
              </a:rPr>
              <a:t>第六個大綱層次</a:t>
            </a:r>
            <a:endParaRPr lang="en-US" sz="2000" b="0" strike="noStrike" spc="-1" dirty="0">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dirty="0">
                <a:solidFill>
                  <a:srgbClr val="000000"/>
                </a:solidFill>
                <a:latin typeface="Calibri"/>
              </a:rPr>
              <a:t>第七個大綱層次</a:t>
            </a:r>
            <a:endParaRPr lang="en-US" sz="2000" b="0" strike="noStrike" spc="-1" dirty="0">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pPr>
                <a:lnSpc>
                  <a:spcPct val="100000"/>
                </a:lnSpc>
              </a:pPr>
              <a:t>1/4/2022</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EF5B75-ECF6-4BE6-A3DE-C8259B535844}" type="datetimeFigureOut">
              <a:rPr lang="zh-TW" altLang="en-US" smtClean="0"/>
              <a:pPr/>
              <a:t>2022/1/4</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2404C3-9969-4EFA-96B9-1AADC38D5656}"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739" r:id="rId1"/>
    <p:sldLayoutId id="2147483740" r:id="rId2"/>
    <p:sldLayoutId id="214748375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pPr>
                <a:lnSpc>
                  <a:spcPct val="100000"/>
                </a:lnSpc>
              </a:pPr>
              <a:t>1/4/2022</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51E863-67F1-4DED-9226-013F8637FBA5}" type="datetimeFigureOut">
              <a:rPr lang="zh-TW" altLang="en-US" smtClean="0"/>
              <a:pPr/>
              <a:t>2022/1/4</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FAB90B-7E45-4DA0-85F8-FA0EBB18F3F7}"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751"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Shape 1"/>
          <p:cNvSpPr txBox="1"/>
          <p:nvPr/>
        </p:nvSpPr>
        <p:spPr>
          <a:xfrm>
            <a:off x="714240" y="1285920"/>
            <a:ext cx="7772040" cy="1469520"/>
          </a:xfrm>
          <a:prstGeom prst="rect">
            <a:avLst/>
          </a:prstGeom>
          <a:noFill/>
          <a:ln>
            <a:noFill/>
          </a:ln>
        </p:spPr>
        <p:txBody>
          <a:bodyPr anchor="ctr">
            <a:noAutofit/>
          </a:bodyPr>
          <a:lstStyle/>
          <a:p>
            <a:pPr algn="ctr"/>
            <a:r>
              <a:rPr lang="en-US" altLang="zh-TW" sz="3200" dirty="0">
                <a:latin typeface="Times New Roman" pitchFamily="18" charset="0"/>
                <a:cs typeface="Times New Roman" pitchFamily="18" charset="0"/>
              </a:rPr>
              <a:t>Parameterized longest previous factor</a:t>
            </a:r>
          </a:p>
        </p:txBody>
      </p:sp>
      <p:sp>
        <p:nvSpPr>
          <p:cNvPr id="89" name="TextShape 2"/>
          <p:cNvSpPr txBox="1"/>
          <p:nvPr/>
        </p:nvSpPr>
        <p:spPr>
          <a:xfrm>
            <a:off x="1214280" y="3357720"/>
            <a:ext cx="6786360" cy="2071440"/>
          </a:xfrm>
          <a:prstGeom prst="rect">
            <a:avLst/>
          </a:prstGeom>
          <a:noFill/>
          <a:ln>
            <a:noFill/>
          </a:ln>
        </p:spPr>
        <p:txBody>
          <a:bodyPr>
            <a:normAutofit/>
          </a:bodyPr>
          <a:lstStyle/>
          <a:p>
            <a:pPr algn="ctr">
              <a:spcBef>
                <a:spcPts val="479"/>
              </a:spcBef>
              <a:tabLst>
                <a:tab pos="0" algn="l"/>
              </a:tabLst>
            </a:pPr>
            <a:r>
              <a:rPr lang="it-IT" sz="2400" spc="-1" dirty="0">
                <a:solidFill>
                  <a:srgbClr val="000000"/>
                </a:solidFill>
                <a:latin typeface="Times New Roman" pitchFamily="18" charset="0"/>
                <a:cs typeface="Times New Roman" pitchFamily="18" charset="0"/>
              </a:rPr>
              <a:t>Richard Beal and Donald Adjeroh</a:t>
            </a:r>
          </a:p>
          <a:p>
            <a:pPr algn="ctr">
              <a:spcBef>
                <a:spcPts val="479"/>
              </a:spcBef>
              <a:tabLst>
                <a:tab pos="0" algn="l"/>
              </a:tabLst>
            </a:pPr>
            <a:endParaRPr lang="en-US" sz="2000" spc="-1" dirty="0">
              <a:solidFill>
                <a:srgbClr val="000000"/>
              </a:solidFill>
              <a:latin typeface="Times New Roman"/>
            </a:endParaRPr>
          </a:p>
          <a:p>
            <a:pPr algn="ctr">
              <a:spcBef>
                <a:spcPts val="479"/>
              </a:spcBef>
              <a:tabLst>
                <a:tab pos="0" algn="l"/>
              </a:tabLst>
            </a:pPr>
            <a:r>
              <a:rPr lang="fr-FR" sz="2400" spc="-1" dirty="0">
                <a:solidFill>
                  <a:srgbClr val="000000"/>
                </a:solidFill>
                <a:latin typeface="Times New Roman"/>
              </a:rPr>
              <a:t>Theoretical Computer Science</a:t>
            </a:r>
          </a:p>
          <a:p>
            <a:pPr algn="ctr">
              <a:spcBef>
                <a:spcPts val="479"/>
              </a:spcBef>
              <a:tabLst>
                <a:tab pos="0" algn="l"/>
              </a:tabLst>
            </a:pPr>
            <a:r>
              <a:rPr lang="fr-FR" sz="2400" spc="-1" dirty="0">
                <a:solidFill>
                  <a:srgbClr val="000000"/>
                </a:solidFill>
                <a:latin typeface="Times New Roman"/>
              </a:rPr>
              <a:t>Volume 437, 15 June 2012, Pages 21-34</a:t>
            </a:r>
          </a:p>
        </p:txBody>
      </p:sp>
      <p:sp>
        <p:nvSpPr>
          <p:cNvPr id="90" name="CustomShape 3"/>
          <p:cNvSpPr/>
          <p:nvPr/>
        </p:nvSpPr>
        <p:spPr>
          <a:xfrm>
            <a:off x="5786280" y="5643720"/>
            <a:ext cx="3114360" cy="1037880"/>
          </a:xfrm>
          <a:prstGeom prst="rect">
            <a:avLst/>
          </a:prstGeom>
          <a:noFill/>
          <a:ln>
            <a:noFill/>
          </a:ln>
        </p:spPr>
        <p:style>
          <a:lnRef idx="0">
            <a:scrgbClr r="0" g="0" b="0"/>
          </a:lnRef>
          <a:fillRef idx="0">
            <a:scrgbClr r="0" g="0" b="0"/>
          </a:fillRef>
          <a:effectRef idx="0">
            <a:scrgbClr r="0" g="0" b="0"/>
          </a:effectRef>
          <a:fontRef idx="minor"/>
        </p:style>
        <p:txBody>
          <a:bodyPr>
            <a:normAutofit/>
          </a:bodyPr>
          <a:lstStyle/>
          <a:p>
            <a:pPr>
              <a:lnSpc>
                <a:spcPct val="100000"/>
              </a:lnSpc>
              <a:spcBef>
                <a:spcPts val="400"/>
              </a:spcBef>
              <a:tabLst>
                <a:tab pos="0" algn="l"/>
              </a:tabLst>
            </a:pPr>
            <a:r>
              <a:rPr lang="en-US" sz="2000" b="0" strike="noStrike" spc="-1" dirty="0">
                <a:solidFill>
                  <a:srgbClr val="000000"/>
                </a:solidFill>
                <a:latin typeface="Times New Roman"/>
              </a:rPr>
              <a:t>Presenter: Shin-Cheng Lin</a:t>
            </a:r>
            <a:endParaRPr lang="en-US" sz="2000" b="0" strike="noStrike" spc="-1" dirty="0">
              <a:latin typeface="Arial"/>
            </a:endParaRPr>
          </a:p>
          <a:p>
            <a:pPr>
              <a:lnSpc>
                <a:spcPct val="100000"/>
              </a:lnSpc>
              <a:spcBef>
                <a:spcPts val="400"/>
              </a:spcBef>
              <a:tabLst>
                <a:tab pos="0" algn="l"/>
              </a:tabLst>
            </a:pPr>
            <a:r>
              <a:rPr lang="en-US" sz="2000" b="0" strike="noStrike" spc="-1" dirty="0">
                <a:solidFill>
                  <a:srgbClr val="000000"/>
                </a:solidFill>
                <a:latin typeface="Times New Roman"/>
              </a:rPr>
              <a:t>Date</a:t>
            </a:r>
            <a:r>
              <a:rPr lang="en-US" sz="2000" b="0" strike="noStrike" spc="-1">
                <a:solidFill>
                  <a:srgbClr val="000000"/>
                </a:solidFill>
                <a:latin typeface="Times New Roman"/>
              </a:rPr>
              <a:t>: </a:t>
            </a:r>
            <a:r>
              <a:rPr lang="en-US" sz="2000" spc="-1">
                <a:solidFill>
                  <a:srgbClr val="000000"/>
                </a:solidFill>
                <a:latin typeface="Times New Roman"/>
              </a:rPr>
              <a:t>Jan.</a:t>
            </a:r>
            <a:r>
              <a:rPr lang="en-US" sz="2000" b="0" strike="noStrike" spc="-1">
                <a:solidFill>
                  <a:srgbClr val="000000"/>
                </a:solidFill>
                <a:latin typeface="Times New Roman"/>
              </a:rPr>
              <a:t> </a:t>
            </a:r>
            <a:r>
              <a:rPr lang="en-US" sz="2000" b="0" strike="noStrike" spc="-1" dirty="0">
                <a:solidFill>
                  <a:srgbClr val="000000"/>
                </a:solidFill>
                <a:latin typeface="Times New Roman"/>
              </a:rPr>
              <a:t>4, 2022</a:t>
            </a:r>
            <a:endParaRPr lang="en-US" sz="2000" b="0" strike="noStrike" spc="-1" dirty="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dirty="0">
                <a:solidFill>
                  <a:srgbClr val="000000"/>
                </a:solidFill>
                <a:latin typeface="Times New Roman"/>
              </a:rPr>
              <a:t>Abstract (1/2)</a:t>
            </a:r>
            <a:endParaRPr lang="en-US" sz="4400" b="0" strike="noStrike" spc="-1" dirty="0">
              <a:solidFill>
                <a:srgbClr val="000000"/>
              </a:solidFill>
              <a:latin typeface="Calibri"/>
            </a:endParaRPr>
          </a:p>
        </p:txBody>
      </p:sp>
      <p:sp>
        <p:nvSpPr>
          <p:cNvPr id="92" name="TextShape 2"/>
          <p:cNvSpPr txBox="1"/>
          <p:nvPr/>
        </p:nvSpPr>
        <p:spPr>
          <a:xfrm>
            <a:off x="457200" y="1600200"/>
            <a:ext cx="8229240" cy="5114520"/>
          </a:xfrm>
          <a:prstGeom prst="rect">
            <a:avLst/>
          </a:prstGeom>
          <a:noFill/>
          <a:ln>
            <a:noFill/>
          </a:ln>
        </p:spPr>
        <p:txBody>
          <a:bodyPr>
            <a:noAutofit/>
          </a:bodyPr>
          <a:lstStyle/>
          <a:p>
            <a:pPr marL="343080" indent="-342720">
              <a:spcBef>
                <a:spcPts val="561"/>
              </a:spcBef>
              <a:buClr>
                <a:srgbClr val="000000"/>
              </a:buClr>
              <a:buFont typeface="Arial"/>
              <a:buChar char="•"/>
            </a:pPr>
            <a:r>
              <a:rPr lang="en-US" sz="2800" spc="-1" dirty="0">
                <a:solidFill>
                  <a:srgbClr val="000000"/>
                </a:solidFill>
                <a:latin typeface="Times New Roman"/>
              </a:rPr>
              <a:t>Given a string W, the longest previous factor (LPF) problem is to determine the maximum length of a previously occurring factor for each suffix occurring in W. The LPF problem is defined for traditional strings exclusively from the constant alphabet Σ. A parameterized string (p-string) is a string composed of symbols from a constant alphabet Σ and a parameter alphabet Π. We formulate the LPF problem in terms of p-strings by defining the parameterized longest previous factor (</a:t>
            </a:r>
            <a:r>
              <a:rPr lang="en-US" sz="2800" spc="-1" dirty="0" err="1">
                <a:solidFill>
                  <a:srgbClr val="000000"/>
                </a:solidFill>
                <a:latin typeface="Times New Roman"/>
              </a:rPr>
              <a:t>pLPF</a:t>
            </a:r>
            <a:r>
              <a:rPr lang="en-US" sz="2800" spc="-1" dirty="0">
                <a:solidFill>
                  <a:srgbClr val="000000"/>
                </a:solidFill>
                <a:latin typeface="Times New Roman"/>
              </a:rPr>
              <a:t>) problem. </a:t>
            </a:r>
            <a:endParaRPr lang="en-US" sz="28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r>
              <a:rPr lang="en-US" sz="4400" spc="-1" dirty="0">
                <a:solidFill>
                  <a:srgbClr val="000000"/>
                </a:solidFill>
                <a:latin typeface="Times New Roman"/>
              </a:rPr>
              <a:t>Abstract (2/2)</a:t>
            </a:r>
            <a:endParaRPr lang="en-US" sz="4400" spc="-1" dirty="0">
              <a:solidFill>
                <a:srgbClr val="000000"/>
              </a:solidFill>
              <a:latin typeface="Calibri"/>
            </a:endParaRPr>
          </a:p>
        </p:txBody>
      </p:sp>
      <p:sp>
        <p:nvSpPr>
          <p:cNvPr id="92" name="TextShape 2"/>
          <p:cNvSpPr txBox="1"/>
          <p:nvPr/>
        </p:nvSpPr>
        <p:spPr>
          <a:xfrm>
            <a:off x="457200" y="1600200"/>
            <a:ext cx="8229240" cy="5114520"/>
          </a:xfrm>
          <a:prstGeom prst="rect">
            <a:avLst/>
          </a:prstGeom>
          <a:noFill/>
          <a:ln>
            <a:noFill/>
          </a:ln>
        </p:spPr>
        <p:txBody>
          <a:bodyPr>
            <a:noAutofit/>
          </a:bodyPr>
          <a:lstStyle/>
          <a:p>
            <a:pPr marL="343080" indent="-342720">
              <a:spcBef>
                <a:spcPts val="561"/>
              </a:spcBef>
              <a:buClr>
                <a:srgbClr val="000000"/>
              </a:buClr>
              <a:buFont typeface="Arial"/>
              <a:buChar char="•"/>
            </a:pPr>
            <a:r>
              <a:rPr lang="en-US" sz="2800" spc="-1" dirty="0">
                <a:solidFill>
                  <a:srgbClr val="000000"/>
                </a:solidFill>
                <a:latin typeface="Times New Roman"/>
              </a:rPr>
              <a:t>Subsequently, we present an expected linear time solution to construct the parameterized longest previous factor (</a:t>
            </a:r>
            <a:r>
              <a:rPr lang="en-US" sz="2800" spc="-1" dirty="0" err="1">
                <a:solidFill>
                  <a:srgbClr val="000000"/>
                </a:solidFill>
                <a:latin typeface="Times New Roman"/>
              </a:rPr>
              <a:t>pLPF</a:t>
            </a:r>
            <a:r>
              <a:rPr lang="en-US" sz="2800" spc="-1" dirty="0">
                <a:solidFill>
                  <a:srgbClr val="000000"/>
                </a:solidFill>
                <a:latin typeface="Times New Roman"/>
              </a:rPr>
              <a:t>) array. Given our </a:t>
            </a:r>
            <a:r>
              <a:rPr lang="en-US" sz="2800" spc="-1" dirty="0" err="1">
                <a:solidFill>
                  <a:srgbClr val="000000"/>
                </a:solidFill>
                <a:latin typeface="Times New Roman"/>
              </a:rPr>
              <a:t>pLPF</a:t>
            </a:r>
            <a:r>
              <a:rPr lang="en-US" sz="2800" spc="-1" dirty="0">
                <a:solidFill>
                  <a:srgbClr val="000000"/>
                </a:solidFill>
                <a:latin typeface="Times New Roman"/>
              </a:rPr>
              <a:t> solution, we show how to construct the </a:t>
            </a:r>
            <a:r>
              <a:rPr lang="en-US" sz="2800" spc="-1" dirty="0" err="1">
                <a:solidFill>
                  <a:srgbClr val="000000"/>
                </a:solidFill>
                <a:latin typeface="Times New Roman"/>
              </a:rPr>
              <a:t>pLCP</a:t>
            </a:r>
            <a:r>
              <a:rPr lang="en-US" sz="2800" spc="-1" dirty="0">
                <a:solidFill>
                  <a:srgbClr val="000000"/>
                </a:solidFill>
                <a:latin typeface="Times New Roman"/>
              </a:rPr>
              <a:t> (parameterized longest common prefix) array with the same general algorithm. We exploit the properties of the </a:t>
            </a:r>
            <a:r>
              <a:rPr lang="en-US" sz="2800" spc="-1" dirty="0" err="1">
                <a:solidFill>
                  <a:srgbClr val="000000"/>
                </a:solidFill>
                <a:latin typeface="Times New Roman"/>
              </a:rPr>
              <a:t>pLPF</a:t>
            </a:r>
            <a:r>
              <a:rPr lang="en-US" sz="2800" spc="-1" dirty="0">
                <a:solidFill>
                  <a:srgbClr val="000000"/>
                </a:solidFill>
                <a:latin typeface="Times New Roman"/>
              </a:rPr>
              <a:t> data structure to also construct the standard LPF (longest previous factor) and LCP (longest common prefix) arrays all in linear time. Further, we provide insight into the practicality of our construction algorithms.</a:t>
            </a:r>
            <a:endParaRPr lang="en-US" sz="2800" b="0" strike="noStrike" spc="-1" dirty="0">
              <a:solidFill>
                <a:srgbClr val="000000"/>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pPr algn="l"/>
            <a:r>
              <a:rPr lang="en-US" altLang="zh-TW" dirty="0"/>
              <a:t>LPF</a:t>
            </a:r>
            <a:endParaRPr lang="zh-TW" altLang="en-US" dirty="0"/>
          </a:p>
        </p:txBody>
      </p:sp>
      <p:sp>
        <p:nvSpPr>
          <p:cNvPr id="5" name="內容版面配置區 4"/>
          <p:cNvSpPr>
            <a:spLocks noGrp="1"/>
          </p:cNvSpPr>
          <p:nvPr>
            <p:ph idx="1"/>
          </p:nvPr>
        </p:nvSpPr>
        <p:spPr/>
        <p:txBody>
          <a:bodyPr/>
          <a:lstStyle/>
          <a:p>
            <a:r>
              <a:rPr lang="en-US" altLang="zh-TW" dirty="0"/>
              <a:t>Longest Previous Factor(substring)</a:t>
            </a:r>
          </a:p>
          <a:p>
            <a:pPr lvl="1"/>
            <a:r>
              <a:rPr lang="en-US" altLang="zh-TW" dirty="0"/>
              <a:t>string </a:t>
            </a:r>
            <a:r>
              <a:rPr lang="en-US" altLang="zh-TW" dirty="0" err="1"/>
              <a:t>abbaabbbaaabab</a:t>
            </a:r>
            <a:endParaRPr lang="en-US" altLang="zh-TW" dirty="0"/>
          </a:p>
          <a:p>
            <a:pPr lvl="1"/>
            <a:r>
              <a:rPr lang="en-US" altLang="zh-TW" dirty="0"/>
              <a:t>          </a:t>
            </a:r>
            <a:r>
              <a:rPr lang="en-US" altLang="zh-TW" dirty="0" err="1"/>
              <a:t>abb</a:t>
            </a:r>
            <a:r>
              <a:rPr lang="en-US" altLang="zh-TW" dirty="0" err="1">
                <a:solidFill>
                  <a:srgbClr val="FF0000"/>
                </a:solidFill>
              </a:rPr>
              <a:t>aab</a:t>
            </a:r>
            <a:r>
              <a:rPr lang="en-US" altLang="zh-TW" dirty="0" err="1"/>
              <a:t>bba</a:t>
            </a:r>
            <a:r>
              <a:rPr lang="en-US" altLang="zh-TW" dirty="0"/>
              <a:t> </a:t>
            </a:r>
            <a:r>
              <a:rPr lang="en-US" altLang="zh-TW" dirty="0" err="1">
                <a:solidFill>
                  <a:srgbClr val="FF0000"/>
                </a:solidFill>
              </a:rPr>
              <a:t>aab</a:t>
            </a:r>
            <a:r>
              <a:rPr lang="en-US" altLang="zh-TW" dirty="0" err="1"/>
              <a:t>ab</a:t>
            </a:r>
            <a:endParaRPr lang="en-US" altLang="zh-TW" dirty="0"/>
          </a:p>
          <a:p>
            <a:pPr lvl="1"/>
            <a:r>
              <a:rPr lang="en-US" altLang="zh-TW" dirty="0"/>
              <a:t>          </a:t>
            </a:r>
            <a:r>
              <a:rPr lang="en-US" altLang="zh-TW" dirty="0" err="1"/>
              <a:t>ab</a:t>
            </a:r>
            <a:r>
              <a:rPr lang="en-US" altLang="zh-TW" dirty="0" err="1">
                <a:solidFill>
                  <a:srgbClr val="FF0000"/>
                </a:solidFill>
              </a:rPr>
              <a:t>baa</a:t>
            </a:r>
            <a:r>
              <a:rPr lang="en-US" altLang="zh-TW" dirty="0" err="1"/>
              <a:t>bb</a:t>
            </a:r>
            <a:r>
              <a:rPr lang="en-US" altLang="zh-TW" dirty="0"/>
              <a:t> </a:t>
            </a:r>
            <a:r>
              <a:rPr lang="en-US" altLang="zh-TW" dirty="0" err="1">
                <a:solidFill>
                  <a:srgbClr val="FF0000"/>
                </a:solidFill>
              </a:rPr>
              <a:t>baa</a:t>
            </a:r>
            <a:r>
              <a:rPr lang="en-US" altLang="zh-TW" dirty="0" err="1"/>
              <a:t>abab</a:t>
            </a:r>
            <a:endParaRPr lang="zh-TW"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t>SA</a:t>
            </a:r>
            <a:endParaRPr lang="zh-TW" altLang="en-US" dirty="0"/>
          </a:p>
        </p:txBody>
      </p:sp>
      <p:sp>
        <p:nvSpPr>
          <p:cNvPr id="3" name="內容版面配置區 2"/>
          <p:cNvSpPr>
            <a:spLocks noGrp="1"/>
          </p:cNvSpPr>
          <p:nvPr>
            <p:ph idx="1"/>
          </p:nvPr>
        </p:nvSpPr>
        <p:spPr/>
        <p:txBody>
          <a:bodyPr/>
          <a:lstStyle/>
          <a:p>
            <a:r>
              <a:rPr lang="en-US" altLang="zh-TW" dirty="0"/>
              <a:t>Suffix array</a:t>
            </a:r>
            <a:endParaRPr lang="zh-TW" altLang="en-US" dirty="0"/>
          </a:p>
        </p:txBody>
      </p:sp>
      <p:pic>
        <p:nvPicPr>
          <p:cNvPr id="1026" name="Picture 2"/>
          <p:cNvPicPr>
            <a:picLocks noChangeAspect="1" noChangeArrowheads="1"/>
          </p:cNvPicPr>
          <p:nvPr/>
        </p:nvPicPr>
        <p:blipFill>
          <a:blip r:embed="rId2"/>
          <a:srcRect/>
          <a:stretch>
            <a:fillRect/>
          </a:stretch>
        </p:blipFill>
        <p:spPr bwMode="auto">
          <a:xfrm>
            <a:off x="928662" y="2285991"/>
            <a:ext cx="7286676" cy="4148279"/>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t>Parameterized matching (p-match)</a:t>
            </a:r>
            <a:endParaRPr lang="zh-TW" altLang="en-US" dirty="0"/>
          </a:p>
        </p:txBody>
      </p:sp>
      <p:sp>
        <p:nvSpPr>
          <p:cNvPr id="3" name="內容版面配置區 2"/>
          <p:cNvSpPr>
            <a:spLocks noGrp="1"/>
          </p:cNvSpPr>
          <p:nvPr>
            <p:ph idx="1"/>
          </p:nvPr>
        </p:nvSpPr>
        <p:spPr/>
        <p:txBody>
          <a:bodyPr/>
          <a:lstStyle/>
          <a:p>
            <a:r>
              <a:rPr lang="el-GR" altLang="zh-TW" dirty="0"/>
              <a:t>Σ = {</a:t>
            </a:r>
            <a:r>
              <a:rPr lang="en-US" altLang="zh-TW" dirty="0"/>
              <a:t>A, B}</a:t>
            </a:r>
          </a:p>
          <a:p>
            <a:r>
              <a:rPr lang="el-GR" altLang="zh-TW" dirty="0"/>
              <a:t>Π = {</a:t>
            </a:r>
            <a:r>
              <a:rPr lang="en-US" altLang="zh-TW" dirty="0"/>
              <a:t>w, x, y, z}</a:t>
            </a:r>
          </a:p>
          <a:p>
            <a:r>
              <a:rPr lang="en-US" altLang="zh-TW" dirty="0"/>
              <a:t>S = </a:t>
            </a:r>
            <a:r>
              <a:rPr lang="en-US" altLang="zh-TW" dirty="0" err="1"/>
              <a:t>A</a:t>
            </a:r>
            <a:r>
              <a:rPr lang="en-US" altLang="zh-TW" dirty="0" err="1">
                <a:solidFill>
                  <a:schemeClr val="accent6">
                    <a:lumMod val="75000"/>
                  </a:schemeClr>
                </a:solidFill>
              </a:rPr>
              <a:t>x</a:t>
            </a:r>
            <a:r>
              <a:rPr lang="en-US" altLang="zh-TW" dirty="0" err="1"/>
              <a:t>B</a:t>
            </a:r>
            <a:r>
              <a:rPr lang="en-US" altLang="zh-TW" dirty="0" err="1">
                <a:solidFill>
                  <a:schemeClr val="tx2">
                    <a:lumMod val="60000"/>
                    <a:lumOff val="40000"/>
                  </a:schemeClr>
                </a:solidFill>
              </a:rPr>
              <a:t>y</a:t>
            </a:r>
            <a:r>
              <a:rPr lang="en-US" altLang="zh-TW" dirty="0" err="1"/>
              <a:t>AB</a:t>
            </a:r>
            <a:r>
              <a:rPr lang="en-US" altLang="zh-TW" dirty="0" err="1">
                <a:solidFill>
                  <a:schemeClr val="accent6">
                    <a:lumMod val="75000"/>
                  </a:schemeClr>
                </a:solidFill>
              </a:rPr>
              <a:t>x</a:t>
            </a:r>
            <a:r>
              <a:rPr lang="en-US" altLang="zh-TW" dirty="0" err="1">
                <a:solidFill>
                  <a:schemeClr val="tx2">
                    <a:lumMod val="60000"/>
                    <a:lumOff val="40000"/>
                  </a:schemeClr>
                </a:solidFill>
              </a:rPr>
              <a:t>y</a:t>
            </a:r>
            <a:r>
              <a:rPr lang="en-US" altLang="zh-TW" dirty="0"/>
              <a:t>$</a:t>
            </a:r>
          </a:p>
          <a:p>
            <a:r>
              <a:rPr lang="en-US" altLang="zh-TW" dirty="0"/>
              <a:t>T = </a:t>
            </a:r>
            <a:r>
              <a:rPr lang="en-US" altLang="zh-TW" dirty="0" err="1"/>
              <a:t>A</a:t>
            </a:r>
            <a:r>
              <a:rPr lang="en-US" altLang="zh-TW" dirty="0" err="1">
                <a:solidFill>
                  <a:schemeClr val="accent6">
                    <a:lumMod val="75000"/>
                  </a:schemeClr>
                </a:solidFill>
              </a:rPr>
              <a:t>w</a:t>
            </a:r>
            <a:r>
              <a:rPr lang="en-US" altLang="zh-TW" dirty="0" err="1"/>
              <a:t>B</a:t>
            </a:r>
            <a:r>
              <a:rPr lang="en-US" altLang="zh-TW" dirty="0" err="1">
                <a:solidFill>
                  <a:schemeClr val="tx2">
                    <a:lumMod val="60000"/>
                    <a:lumOff val="40000"/>
                  </a:schemeClr>
                </a:solidFill>
              </a:rPr>
              <a:t>z</a:t>
            </a:r>
            <a:r>
              <a:rPr lang="en-US" altLang="zh-TW" dirty="0" err="1"/>
              <a:t>AB</a:t>
            </a:r>
            <a:r>
              <a:rPr lang="en-US" altLang="zh-TW" dirty="0" err="1">
                <a:solidFill>
                  <a:schemeClr val="accent6">
                    <a:lumMod val="75000"/>
                  </a:schemeClr>
                </a:solidFill>
              </a:rPr>
              <a:t>w</a:t>
            </a:r>
            <a:r>
              <a:rPr lang="en-US" altLang="zh-TW" dirty="0" err="1">
                <a:solidFill>
                  <a:schemeClr val="tx2">
                    <a:lumMod val="60000"/>
                    <a:lumOff val="40000"/>
                  </a:schemeClr>
                </a:solidFill>
              </a:rPr>
              <a:t>z</a:t>
            </a:r>
            <a:r>
              <a:rPr lang="en-US" altLang="zh-TW" dirty="0"/>
              <a:t>$</a:t>
            </a:r>
          </a:p>
          <a:p>
            <a:r>
              <a:rPr lang="en-US" altLang="zh-TW" dirty="0"/>
              <a:t>U = </a:t>
            </a:r>
            <a:r>
              <a:rPr lang="en-US" altLang="zh-TW" dirty="0" err="1"/>
              <a:t>AyByAByy</a:t>
            </a:r>
            <a:r>
              <a:rPr lang="en-US" altLang="zh-TW" dirty="0"/>
              <a:t>$</a:t>
            </a:r>
            <a:endParaRPr lang="zh-TW"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t>Previous (</a:t>
            </a:r>
            <a:r>
              <a:rPr lang="en-US" altLang="zh-TW" dirty="0" err="1"/>
              <a:t>prev</a:t>
            </a:r>
            <a:r>
              <a:rPr lang="en-US" altLang="zh-TW" dirty="0"/>
              <a:t>) encoding</a:t>
            </a:r>
            <a:endParaRPr lang="zh-TW" altLang="en-US" dirty="0"/>
          </a:p>
        </p:txBody>
      </p:sp>
      <p:sp>
        <p:nvSpPr>
          <p:cNvPr id="3" name="內容版面配置區 2"/>
          <p:cNvSpPr>
            <a:spLocks noGrp="1"/>
          </p:cNvSpPr>
          <p:nvPr>
            <p:ph idx="1"/>
          </p:nvPr>
        </p:nvSpPr>
        <p:spPr/>
        <p:txBody>
          <a:bodyPr>
            <a:normAutofit/>
          </a:bodyPr>
          <a:lstStyle/>
          <a:p>
            <a:r>
              <a:rPr lang="en-US" altLang="zh-TW" dirty="0"/>
              <a:t>S           = </a:t>
            </a:r>
            <a:r>
              <a:rPr lang="en-US" altLang="zh-TW" dirty="0" err="1"/>
              <a:t>A</a:t>
            </a:r>
            <a:r>
              <a:rPr lang="en-US" altLang="zh-TW" dirty="0" err="1">
                <a:solidFill>
                  <a:schemeClr val="accent6">
                    <a:lumMod val="75000"/>
                  </a:schemeClr>
                </a:solidFill>
              </a:rPr>
              <a:t>x</a:t>
            </a:r>
            <a:r>
              <a:rPr lang="en-US" altLang="zh-TW" dirty="0" err="1"/>
              <a:t>B</a:t>
            </a:r>
            <a:r>
              <a:rPr lang="en-US" altLang="zh-TW" dirty="0" err="1">
                <a:solidFill>
                  <a:schemeClr val="tx2">
                    <a:lumMod val="60000"/>
                    <a:lumOff val="40000"/>
                  </a:schemeClr>
                </a:solidFill>
              </a:rPr>
              <a:t>y</a:t>
            </a:r>
            <a:r>
              <a:rPr lang="en-US" altLang="zh-TW" dirty="0" err="1"/>
              <a:t>AB</a:t>
            </a:r>
            <a:r>
              <a:rPr lang="en-US" altLang="zh-TW" dirty="0" err="1">
                <a:solidFill>
                  <a:schemeClr val="accent6">
                    <a:lumMod val="75000"/>
                  </a:schemeClr>
                </a:solidFill>
              </a:rPr>
              <a:t>x</a:t>
            </a:r>
            <a:r>
              <a:rPr lang="en-US" altLang="zh-TW" dirty="0" err="1">
                <a:solidFill>
                  <a:schemeClr val="tx2">
                    <a:lumMod val="60000"/>
                    <a:lumOff val="40000"/>
                  </a:schemeClr>
                </a:solidFill>
              </a:rPr>
              <a:t>y</a:t>
            </a:r>
            <a:r>
              <a:rPr lang="en-US" altLang="zh-TW" dirty="0"/>
              <a:t>$</a:t>
            </a:r>
          </a:p>
          <a:p>
            <a:r>
              <a:rPr lang="en-US" altLang="zh-TW" dirty="0" err="1"/>
              <a:t>prev</a:t>
            </a:r>
            <a:r>
              <a:rPr lang="en-US" altLang="zh-TW" dirty="0"/>
              <a:t>(S) = A0B0AB54$</a:t>
            </a:r>
          </a:p>
          <a:p>
            <a:r>
              <a:rPr lang="en-US" altLang="zh-TW" dirty="0"/>
              <a:t>T           = </a:t>
            </a:r>
            <a:r>
              <a:rPr lang="en-US" altLang="zh-TW" dirty="0" err="1"/>
              <a:t>A</a:t>
            </a:r>
            <a:r>
              <a:rPr lang="en-US" altLang="zh-TW" dirty="0" err="1">
                <a:solidFill>
                  <a:schemeClr val="accent6">
                    <a:lumMod val="75000"/>
                  </a:schemeClr>
                </a:solidFill>
              </a:rPr>
              <a:t>w</a:t>
            </a:r>
            <a:r>
              <a:rPr lang="en-US" altLang="zh-TW" dirty="0" err="1"/>
              <a:t>B</a:t>
            </a:r>
            <a:r>
              <a:rPr lang="en-US" altLang="zh-TW" dirty="0" err="1">
                <a:solidFill>
                  <a:schemeClr val="tx2">
                    <a:lumMod val="60000"/>
                    <a:lumOff val="40000"/>
                  </a:schemeClr>
                </a:solidFill>
              </a:rPr>
              <a:t>z</a:t>
            </a:r>
            <a:r>
              <a:rPr lang="en-US" altLang="zh-TW" dirty="0" err="1"/>
              <a:t>AB</a:t>
            </a:r>
            <a:r>
              <a:rPr lang="en-US" altLang="zh-TW" dirty="0" err="1">
                <a:solidFill>
                  <a:schemeClr val="accent6">
                    <a:lumMod val="75000"/>
                  </a:schemeClr>
                </a:solidFill>
              </a:rPr>
              <a:t>w</a:t>
            </a:r>
            <a:r>
              <a:rPr lang="en-US" altLang="zh-TW" dirty="0" err="1">
                <a:solidFill>
                  <a:schemeClr val="tx2">
                    <a:lumMod val="60000"/>
                    <a:lumOff val="40000"/>
                  </a:schemeClr>
                </a:solidFill>
              </a:rPr>
              <a:t>z</a:t>
            </a:r>
            <a:r>
              <a:rPr lang="en-US" altLang="zh-TW" dirty="0"/>
              <a:t>$</a:t>
            </a:r>
          </a:p>
          <a:p>
            <a:r>
              <a:rPr lang="en-US" altLang="zh-TW" dirty="0" err="1"/>
              <a:t>prev</a:t>
            </a:r>
            <a:r>
              <a:rPr lang="en-US" altLang="zh-TW" dirty="0"/>
              <a:t>(T) = A0B0AB54$</a:t>
            </a:r>
          </a:p>
          <a:p>
            <a:r>
              <a:rPr lang="en-US" altLang="zh-TW" dirty="0"/>
              <a:t>U           = </a:t>
            </a:r>
            <a:r>
              <a:rPr lang="en-US" altLang="zh-TW" dirty="0" err="1"/>
              <a:t>A</a:t>
            </a:r>
            <a:r>
              <a:rPr lang="en-US" altLang="zh-TW" dirty="0" err="1">
                <a:solidFill>
                  <a:schemeClr val="tx2">
                    <a:lumMod val="60000"/>
                    <a:lumOff val="40000"/>
                  </a:schemeClr>
                </a:solidFill>
              </a:rPr>
              <a:t>y</a:t>
            </a:r>
            <a:r>
              <a:rPr lang="en-US" altLang="zh-TW" dirty="0" err="1"/>
              <a:t>B</a:t>
            </a:r>
            <a:r>
              <a:rPr lang="en-US" altLang="zh-TW" dirty="0" err="1">
                <a:solidFill>
                  <a:schemeClr val="tx2">
                    <a:lumMod val="60000"/>
                    <a:lumOff val="40000"/>
                  </a:schemeClr>
                </a:solidFill>
              </a:rPr>
              <a:t>y</a:t>
            </a:r>
            <a:r>
              <a:rPr lang="en-US" altLang="zh-TW" dirty="0" err="1"/>
              <a:t>AB</a:t>
            </a:r>
            <a:r>
              <a:rPr lang="en-US" altLang="zh-TW" dirty="0" err="1">
                <a:solidFill>
                  <a:schemeClr val="tx2">
                    <a:lumMod val="60000"/>
                    <a:lumOff val="40000"/>
                  </a:schemeClr>
                </a:solidFill>
              </a:rPr>
              <a:t>yy</a:t>
            </a:r>
            <a:r>
              <a:rPr lang="en-US" altLang="zh-TW" dirty="0"/>
              <a:t>$</a:t>
            </a:r>
          </a:p>
          <a:p>
            <a:r>
              <a:rPr lang="en-US" altLang="zh-TW" dirty="0" err="1"/>
              <a:t>prev</a:t>
            </a:r>
            <a:r>
              <a:rPr lang="en-US" altLang="zh-TW" dirty="0"/>
              <a:t>(U) = A0B2AB31$</a:t>
            </a:r>
          </a:p>
          <a:p>
            <a:endParaRPr lang="zh-TW"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457200" y="5715016"/>
            <a:ext cx="8229600" cy="714380"/>
          </a:xfrm>
        </p:spPr>
        <p:txBody>
          <a:bodyPr/>
          <a:lstStyle/>
          <a:p>
            <a:r>
              <a:rPr lang="en-US" altLang="zh-TW" dirty="0"/>
              <a:t>T=</a:t>
            </a:r>
            <a:r>
              <a:rPr lang="en-US" altLang="zh-TW" dirty="0" err="1"/>
              <a:t>AAAwBxyyAAAzwwB</a:t>
            </a:r>
            <a:r>
              <a:rPr lang="en-US" altLang="zh-TW" dirty="0"/>
              <a:t>$</a:t>
            </a:r>
            <a:endParaRPr lang="zh-TW" altLang="en-US" dirty="0"/>
          </a:p>
        </p:txBody>
      </p:sp>
      <p:pic>
        <p:nvPicPr>
          <p:cNvPr id="2050" name="Picture 2"/>
          <p:cNvPicPr>
            <a:picLocks noChangeAspect="1" noChangeArrowheads="1"/>
          </p:cNvPicPr>
          <p:nvPr/>
        </p:nvPicPr>
        <p:blipFill>
          <a:blip r:embed="rId2"/>
          <a:srcRect/>
          <a:stretch>
            <a:fillRect/>
          </a:stretch>
        </p:blipFill>
        <p:spPr bwMode="auto">
          <a:xfrm>
            <a:off x="119063" y="500042"/>
            <a:ext cx="8905875" cy="51054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err="1"/>
              <a:t>pSA</a:t>
            </a:r>
            <a:endParaRPr lang="zh-TW" altLang="en-US" dirty="0"/>
          </a:p>
        </p:txBody>
      </p:sp>
      <p:sp>
        <p:nvSpPr>
          <p:cNvPr id="3" name="內容版面配置區 2"/>
          <p:cNvSpPr>
            <a:spLocks noGrp="1"/>
          </p:cNvSpPr>
          <p:nvPr>
            <p:ph idx="1"/>
          </p:nvPr>
        </p:nvSpPr>
        <p:spPr/>
        <p:txBody>
          <a:bodyPr/>
          <a:lstStyle/>
          <a:p>
            <a:r>
              <a:rPr lang="en-US" altLang="zh-TW" dirty="0"/>
              <a:t>T=</a:t>
            </a:r>
            <a:r>
              <a:rPr lang="en-US" altLang="zh-TW" dirty="0" err="1"/>
              <a:t>AAAwBxyyAAAzwwB</a:t>
            </a:r>
            <a:r>
              <a:rPr lang="en-US" altLang="zh-TW" dirty="0"/>
              <a:t>$</a:t>
            </a:r>
          </a:p>
          <a:p>
            <a:r>
              <a:rPr lang="en-US" altLang="zh-TW" dirty="0"/>
              <a:t>T[7…n],             </a:t>
            </a:r>
            <a:r>
              <a:rPr lang="en-US" altLang="zh-TW" dirty="0" err="1"/>
              <a:t>yyAAAzwwB</a:t>
            </a:r>
            <a:r>
              <a:rPr lang="en-US" altLang="zh-TW" dirty="0"/>
              <a:t>$</a:t>
            </a:r>
          </a:p>
          <a:p>
            <a:r>
              <a:rPr lang="en-US" altLang="zh-TW" dirty="0" err="1"/>
              <a:t>Prev</a:t>
            </a:r>
            <a:r>
              <a:rPr lang="en-US" altLang="zh-TW" dirty="0"/>
              <a:t>(T[7…n]) = 01AAA001B$</a:t>
            </a:r>
          </a:p>
          <a:p>
            <a:r>
              <a:rPr lang="en-US" altLang="zh-TW" dirty="0"/>
              <a:t>T[8…n],             </a:t>
            </a:r>
            <a:r>
              <a:rPr lang="en-US" altLang="zh-TW" dirty="0" err="1"/>
              <a:t>yAAAzwwB</a:t>
            </a:r>
            <a:r>
              <a:rPr lang="en-US" altLang="zh-TW" dirty="0"/>
              <a:t>$</a:t>
            </a:r>
            <a:endParaRPr lang="zh-TW" altLang="en-US" dirty="0"/>
          </a:p>
          <a:p>
            <a:r>
              <a:rPr lang="en-US" altLang="zh-TW" dirty="0" err="1"/>
              <a:t>Prev</a:t>
            </a:r>
            <a:r>
              <a:rPr lang="en-US" altLang="zh-TW" dirty="0"/>
              <a:t>(T[8…n]) = 0AAA001B$</a:t>
            </a:r>
            <a:endParaRPr lang="zh-TW" altLang="en-US" dirty="0"/>
          </a:p>
          <a:p>
            <a:endParaRPr lang="zh-TW"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457200" y="5715016"/>
            <a:ext cx="8229600" cy="714380"/>
          </a:xfrm>
        </p:spPr>
        <p:txBody>
          <a:bodyPr/>
          <a:lstStyle/>
          <a:p>
            <a:r>
              <a:rPr lang="en-US" altLang="zh-TW" dirty="0"/>
              <a:t>T=</a:t>
            </a:r>
            <a:r>
              <a:rPr lang="en-US" altLang="zh-TW" dirty="0" err="1"/>
              <a:t>AAAwBxyyAAAzwwB</a:t>
            </a:r>
            <a:r>
              <a:rPr lang="en-US" altLang="zh-TW" dirty="0"/>
              <a:t>$</a:t>
            </a:r>
            <a:endParaRPr lang="zh-TW" altLang="en-US" dirty="0"/>
          </a:p>
        </p:txBody>
      </p:sp>
      <p:pic>
        <p:nvPicPr>
          <p:cNvPr id="2050" name="Picture 2"/>
          <p:cNvPicPr>
            <a:picLocks noChangeAspect="1" noChangeArrowheads="1"/>
          </p:cNvPicPr>
          <p:nvPr/>
        </p:nvPicPr>
        <p:blipFill>
          <a:blip r:embed="rId2"/>
          <a:srcRect/>
          <a:stretch>
            <a:fillRect/>
          </a:stretch>
        </p:blipFill>
        <p:spPr bwMode="auto">
          <a:xfrm>
            <a:off x="119063" y="500042"/>
            <a:ext cx="8905875" cy="51054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457200" y="1714488"/>
            <a:ext cx="8229600" cy="4411675"/>
          </a:xfrm>
        </p:spPr>
        <p:txBody>
          <a:bodyPr/>
          <a:lstStyle/>
          <a:p>
            <a:r>
              <a:rPr lang="en-US" altLang="zh-TW" dirty="0" err="1"/>
              <a:t>i</a:t>
            </a:r>
            <a:r>
              <a:rPr lang="en-US" altLang="zh-TW" dirty="0"/>
              <a:t>=11, </a:t>
            </a:r>
            <a:r>
              <a:rPr lang="en-US" altLang="zh-TW" dirty="0" err="1"/>
              <a:t>pSA</a:t>
            </a:r>
            <a:r>
              <a:rPr lang="en-US" altLang="zh-TW" dirty="0"/>
              <a:t>[</a:t>
            </a:r>
            <a:r>
              <a:rPr lang="en-US" altLang="zh-TW" dirty="0" err="1"/>
              <a:t>i</a:t>
            </a:r>
            <a:r>
              <a:rPr lang="en-US" altLang="zh-TW" dirty="0"/>
              <a:t>]=10</a:t>
            </a:r>
          </a:p>
          <a:p>
            <a:r>
              <a:rPr lang="en-US" altLang="zh-TW" dirty="0"/>
              <a:t>before</a:t>
            </a:r>
            <a:r>
              <a:rPr lang="en-US" altLang="zh-TW" baseline="-25000" dirty="0"/>
              <a:t>&lt;</a:t>
            </a:r>
            <a:r>
              <a:rPr lang="en-US" altLang="zh-TW" dirty="0"/>
              <a:t>[10]=3, </a:t>
            </a:r>
            <a:r>
              <a:rPr lang="en-US" altLang="zh-TW" dirty="0" err="1"/>
              <a:t>pLPF</a:t>
            </a:r>
            <a:r>
              <a:rPr lang="en-US" altLang="zh-TW" baseline="-25000" dirty="0"/>
              <a:t>&lt;</a:t>
            </a:r>
            <a:r>
              <a:rPr lang="en-US" altLang="zh-TW" dirty="0"/>
              <a:t>[10]=1 </a:t>
            </a:r>
          </a:p>
          <a:p>
            <a:r>
              <a:rPr lang="en-US" altLang="zh-TW" dirty="0"/>
              <a:t>before</a:t>
            </a:r>
            <a:r>
              <a:rPr lang="en-US" altLang="zh-TW" baseline="-25000" dirty="0"/>
              <a:t>&gt;</a:t>
            </a:r>
            <a:r>
              <a:rPr lang="en-US" altLang="zh-TW" dirty="0"/>
              <a:t>[10]=2, </a:t>
            </a:r>
            <a:r>
              <a:rPr lang="en-US" altLang="zh-TW" dirty="0" err="1"/>
              <a:t>pLPF</a:t>
            </a:r>
            <a:r>
              <a:rPr lang="en-US" altLang="zh-TW" baseline="-25000" dirty="0"/>
              <a:t>&gt;</a:t>
            </a:r>
            <a:r>
              <a:rPr lang="en-US" altLang="zh-TW" dirty="0"/>
              <a:t>[10]=3 </a:t>
            </a:r>
          </a:p>
          <a:p>
            <a:r>
              <a:rPr lang="en-US" altLang="zh-TW" dirty="0" err="1"/>
              <a:t>pLPF</a:t>
            </a:r>
            <a:r>
              <a:rPr lang="en-US" altLang="zh-TW" dirty="0"/>
              <a:t>[10]=3</a:t>
            </a:r>
            <a:endParaRPr lang="zh-TW" altLang="en-US" dirty="0"/>
          </a:p>
        </p:txBody>
      </p:sp>
      <p:pic>
        <p:nvPicPr>
          <p:cNvPr id="3077" name="Picture 5"/>
          <p:cNvPicPr>
            <a:picLocks noChangeAspect="1" noChangeArrowheads="1"/>
          </p:cNvPicPr>
          <p:nvPr/>
        </p:nvPicPr>
        <p:blipFill>
          <a:blip r:embed="rId2"/>
          <a:srcRect/>
          <a:stretch>
            <a:fillRect/>
          </a:stretch>
        </p:blipFill>
        <p:spPr bwMode="auto">
          <a:xfrm>
            <a:off x="205696" y="419085"/>
            <a:ext cx="8732608" cy="1152527"/>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自訂設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自訂設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訂 2">
      <a:majorFont>
        <a:latin typeface="Times New Roman"/>
        <a:ea typeface="新細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12659</TotalTime>
  <Words>401</Words>
  <Application>Microsoft Office PowerPoint</Application>
  <PresentationFormat>如螢幕大小 (4:3)</PresentationFormat>
  <Paragraphs>44</Paragraphs>
  <Slides>11</Slides>
  <Notes>1</Notes>
  <HiddenSlides>0</HiddenSlides>
  <MMClips>0</MMClips>
  <ScaleCrop>false</ScaleCrop>
  <HeadingPairs>
    <vt:vector size="6" baseType="variant">
      <vt:variant>
        <vt:lpstr>使用字型</vt:lpstr>
      </vt:variant>
      <vt:variant>
        <vt:i4>5</vt:i4>
      </vt:variant>
      <vt:variant>
        <vt:lpstr>佈景主題</vt:lpstr>
      </vt:variant>
      <vt:variant>
        <vt:i4>6</vt:i4>
      </vt:variant>
      <vt:variant>
        <vt:lpstr>投影片標題</vt:lpstr>
      </vt:variant>
      <vt:variant>
        <vt:i4>11</vt:i4>
      </vt:variant>
    </vt:vector>
  </HeadingPairs>
  <TitlesOfParts>
    <vt:vector size="22" baseType="lpstr">
      <vt:lpstr>Arial</vt:lpstr>
      <vt:lpstr>Calibri</vt:lpstr>
      <vt:lpstr>Symbol</vt:lpstr>
      <vt:lpstr>Times New Roman</vt:lpstr>
      <vt:lpstr>Wingdings</vt:lpstr>
      <vt:lpstr>Office Theme</vt:lpstr>
      <vt:lpstr>2_Office Theme</vt:lpstr>
      <vt:lpstr>1_自訂設計</vt:lpstr>
      <vt:lpstr>3_Office Theme</vt:lpstr>
      <vt:lpstr>自訂設計</vt:lpstr>
      <vt:lpstr>4_Office Theme</vt:lpstr>
      <vt:lpstr>PowerPoint 簡報</vt:lpstr>
      <vt:lpstr>PowerPoint 簡報</vt:lpstr>
      <vt:lpstr>PowerPoint 簡報</vt:lpstr>
      <vt:lpstr>LPF</vt:lpstr>
      <vt:lpstr>SA</vt:lpstr>
      <vt:lpstr>Parameterized matching (p-match)</vt:lpstr>
      <vt:lpstr>Previous (prev) encoding</vt:lpstr>
      <vt:lpstr>PowerPoint 簡報</vt:lpstr>
      <vt:lpstr>pSA</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Parallel Pairwise Local Sequence Alignment Algorithm</dc:title>
  <dc:subject/>
  <dc:creator>super</dc:creator>
  <dc:description/>
  <cp:lastModifiedBy>pplab</cp:lastModifiedBy>
  <cp:revision>2539</cp:revision>
  <dcterms:created xsi:type="dcterms:W3CDTF">2020-09-11T11:13:53Z</dcterms:created>
  <dcterms:modified xsi:type="dcterms:W3CDTF">2022-01-04T10:32:35Z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vt:i4>
  </property>
  <property fmtid="{D5CDD505-2E9C-101B-9397-08002B2CF9AE}" pid="8" name="PresentationFormat">
    <vt:lpwstr>如螢幕大小 (4:3)</vt:lpwstr>
  </property>
  <property fmtid="{D5CDD505-2E9C-101B-9397-08002B2CF9AE}" pid="9" name="ScaleCrop">
    <vt:bool>false</vt:bool>
  </property>
  <property fmtid="{D5CDD505-2E9C-101B-9397-08002B2CF9AE}" pid="10" name="ShareDoc">
    <vt:bool>false</vt:bool>
  </property>
  <property fmtid="{D5CDD505-2E9C-101B-9397-08002B2CF9AE}" pid="11" name="Slides">
    <vt:i4>12</vt:i4>
  </property>
</Properties>
</file>