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9" r:id="rId4"/>
    <p:sldId id="270" r:id="rId5"/>
    <p:sldId id="280" r:id="rId6"/>
    <p:sldId id="272" r:id="rId7"/>
    <p:sldId id="273" r:id="rId8"/>
    <p:sldId id="274" r:id="rId9"/>
    <p:sldId id="275" r:id="rId10"/>
    <p:sldId id="276" r:id="rId11"/>
    <p:sldId id="277" r:id="rId12"/>
    <p:sldId id="278" r:id="rId13"/>
    <p:sldId id="279"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988"/>
  </p:normalViewPr>
  <p:slideViewPr>
    <p:cSldViewPr snapToGrid="0" snapToObjects="1">
      <p:cViewPr varScale="1">
        <p:scale>
          <a:sx n="116" d="100"/>
          <a:sy n="116" d="100"/>
        </p:scale>
        <p:origin x="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44A0F-53AC-B442-8EFC-7A28DB3B9529}" type="datetimeFigureOut">
              <a:rPr kumimoji="1" lang="zh-TW" altLang="en-US" smtClean="0"/>
              <a:t>2022/7/3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TW" altLang="en-US"/>
              <a:t>編輯母片文字樣式
第二層
第三層
第四層
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54E9E-B639-0B4A-84A6-A5CF906524A1}" type="slidenum">
              <a:rPr kumimoji="1" lang="zh-TW" altLang="en-US" smtClean="0"/>
              <a:t>‹#›</a:t>
            </a:fld>
            <a:endParaRPr kumimoji="1" lang="zh-TW" altLang="en-US"/>
          </a:p>
        </p:txBody>
      </p:sp>
    </p:spTree>
    <p:extLst>
      <p:ext uri="{BB962C8B-B14F-4D97-AF65-F5344CB8AC3E}">
        <p14:creationId xmlns:p14="http://schemas.microsoft.com/office/powerpoint/2010/main" val="3694063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69F93F-B917-2148-99D3-4F25A239E8B3}"/>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5D0110E-5AB1-264A-81C9-C95D9C582D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FB08C0B5-0946-BB45-867B-C96800C61058}"/>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4EC82D88-B718-9E43-9E8A-91B3F2623A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D85D392-0303-714B-A852-0CB9053582FA}"/>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233143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395591-31B6-AF4C-B47F-5D60084191C1}"/>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B58E4A96-5917-1745-9E86-58569B91C4D4}"/>
              </a:ext>
            </a:extLst>
          </p:cNvPr>
          <p:cNvSpPr>
            <a:spLocks noGrp="1"/>
          </p:cNvSpPr>
          <p:nvPr>
            <p:ph idx="1"/>
          </p:nvPr>
        </p:nvSpPr>
        <p:spPr/>
        <p:txBody>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E763F0F3-7119-1F4A-A614-398BE2E92021}"/>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FCF39FB1-3B31-4843-8B2D-5BB03047523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5BBB128-9746-7C4F-8251-10C87FD44B89}"/>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4269132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8FD36C-95BA-A147-AB0D-D27F1BAC34B1}"/>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47698B3-478C-8E4A-93C9-C26988972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AFE4A28F-7F62-4648-8393-6C611A617B53}"/>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05AE6BEC-15D9-3346-A4BF-8F3BDD6C35EA}"/>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7D1A54D-F128-0B41-AE8A-99EBB2AC936E}"/>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130534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C9140C-3761-614F-85A6-D73657318C0F}"/>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F61C7D11-FF90-4543-9F2D-98C00EEF55B3}"/>
              </a:ext>
            </a:extLst>
          </p:cNvPr>
          <p:cNvSpPr>
            <a:spLocks noGrp="1"/>
          </p:cNvSpPr>
          <p:nvPr>
            <p:ph sz="half" idx="1"/>
          </p:nvPr>
        </p:nvSpPr>
        <p:spPr>
          <a:xfrm>
            <a:off x="838200" y="1825625"/>
            <a:ext cx="5181600" cy="4351338"/>
          </a:xfrm>
        </p:spPr>
        <p:txBody>
          <a:body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FD28053D-C5D9-2D45-A80B-FFA8A78E5989}"/>
              </a:ext>
            </a:extLst>
          </p:cNvPr>
          <p:cNvSpPr>
            <a:spLocks noGrp="1"/>
          </p:cNvSpPr>
          <p:nvPr>
            <p:ph sz="half" idx="2"/>
          </p:nvPr>
        </p:nvSpPr>
        <p:spPr>
          <a:xfrm>
            <a:off x="6172200" y="1825625"/>
            <a:ext cx="5181600" cy="4351338"/>
          </a:xfrm>
        </p:spPr>
        <p:txBody>
          <a:body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A4689A77-66B7-A54F-9B43-69A25D1CACBC}"/>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6" name="頁尾版面配置區 5">
            <a:extLst>
              <a:ext uri="{FF2B5EF4-FFF2-40B4-BE49-F238E27FC236}">
                <a16:creationId xmlns:a16="http://schemas.microsoft.com/office/drawing/2014/main" id="{EEDF0039-8ADD-4B48-B968-6AF47699B6E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B5FE976-DFB1-584F-8F82-4B529545ADE3}"/>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2333701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CD3A80-52B7-744F-8C76-8487E2BAE94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1E8FB529-3264-B942-8AB9-5A48C17E59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798F8E43-9653-EC4B-A801-28CF4AA34804}"/>
              </a:ext>
            </a:extLst>
          </p:cNvPr>
          <p:cNvSpPr>
            <a:spLocks noGrp="1"/>
          </p:cNvSpPr>
          <p:nvPr>
            <p:ph sz="half" idx="2"/>
          </p:nvPr>
        </p:nvSpPr>
        <p:spPr>
          <a:xfrm>
            <a:off x="839788" y="2505075"/>
            <a:ext cx="5157787" cy="3684588"/>
          </a:xfrm>
        </p:spPr>
        <p:txBody>
          <a:bodyPr/>
          <a:lstStyle/>
          <a:p>
            <a:r>
              <a:rPr kumimoji="1" lang="zh-TW" altLang="en-US"/>
              <a:t>編輯母片文字樣式
第二層
第三層
第四層
第五層</a:t>
            </a:r>
          </a:p>
        </p:txBody>
      </p:sp>
      <p:sp>
        <p:nvSpPr>
          <p:cNvPr id="5" name="文字版面配置區 4">
            <a:extLst>
              <a:ext uri="{FF2B5EF4-FFF2-40B4-BE49-F238E27FC236}">
                <a16:creationId xmlns:a16="http://schemas.microsoft.com/office/drawing/2014/main" id="{C4AF263D-ED3A-C04E-B7C4-11E2BBBB3C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6" name="內容版面配置區 5">
            <a:extLst>
              <a:ext uri="{FF2B5EF4-FFF2-40B4-BE49-F238E27FC236}">
                <a16:creationId xmlns:a16="http://schemas.microsoft.com/office/drawing/2014/main" id="{973D532C-D5C6-B041-A736-7DDD00429087}"/>
              </a:ext>
            </a:extLst>
          </p:cNvPr>
          <p:cNvSpPr>
            <a:spLocks noGrp="1"/>
          </p:cNvSpPr>
          <p:nvPr>
            <p:ph sz="quarter" idx="4"/>
          </p:nvPr>
        </p:nvSpPr>
        <p:spPr>
          <a:xfrm>
            <a:off x="6172200" y="2505075"/>
            <a:ext cx="5183188" cy="3684588"/>
          </a:xfrm>
        </p:spPr>
        <p:txBody>
          <a:bodyPr/>
          <a:lstStyle/>
          <a:p>
            <a:r>
              <a:rPr kumimoji="1" lang="zh-TW" altLang="en-US"/>
              <a:t>編輯母片文字樣式
第二層
第三層
第四層
第五層</a:t>
            </a:r>
          </a:p>
        </p:txBody>
      </p:sp>
      <p:sp>
        <p:nvSpPr>
          <p:cNvPr id="7" name="日期版面配置區 6">
            <a:extLst>
              <a:ext uri="{FF2B5EF4-FFF2-40B4-BE49-F238E27FC236}">
                <a16:creationId xmlns:a16="http://schemas.microsoft.com/office/drawing/2014/main" id="{FB73BB4B-257B-7D45-9A6C-375A0F884A02}"/>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8" name="頁尾版面配置區 7">
            <a:extLst>
              <a:ext uri="{FF2B5EF4-FFF2-40B4-BE49-F238E27FC236}">
                <a16:creationId xmlns:a16="http://schemas.microsoft.com/office/drawing/2014/main" id="{81502545-E266-2244-8D90-09C3B94BFA4B}"/>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7D2084C4-F7FF-7841-9BFA-417A07FE3394}"/>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2334293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A98AF5-4D96-B844-932C-3AC66EC86585}"/>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E329BE3-809A-CB43-8DD4-275F54374948}"/>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4" name="頁尾版面配置區 3">
            <a:extLst>
              <a:ext uri="{FF2B5EF4-FFF2-40B4-BE49-F238E27FC236}">
                <a16:creationId xmlns:a16="http://schemas.microsoft.com/office/drawing/2014/main" id="{789C63F7-6D6B-704B-B2D0-54E5D8BDBCD1}"/>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278CD31-AC97-3644-863D-88ED07A0D095}"/>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414528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1734570-AADA-B749-B4FF-74361C693512}"/>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3" name="頁尾版面配置區 2">
            <a:extLst>
              <a:ext uri="{FF2B5EF4-FFF2-40B4-BE49-F238E27FC236}">
                <a16:creationId xmlns:a16="http://schemas.microsoft.com/office/drawing/2014/main" id="{CC0E42D5-27A4-5D49-BE73-28B189B50A3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8023C7C-2983-E24B-8D2F-CF115C338A4C}"/>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366470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BA487B-8A48-3240-882F-8316DB51253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17D4DEAA-3316-014D-BB1B-4EF6F5ED29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TW" altLang="en-US"/>
              <a:t>編輯母片文字樣式
第二層
第三層
第四層
第五層</a:t>
            </a:r>
          </a:p>
        </p:txBody>
      </p:sp>
      <p:sp>
        <p:nvSpPr>
          <p:cNvPr id="4" name="文字版面配置區 3">
            <a:extLst>
              <a:ext uri="{FF2B5EF4-FFF2-40B4-BE49-F238E27FC236}">
                <a16:creationId xmlns:a16="http://schemas.microsoft.com/office/drawing/2014/main" id="{E00EFC96-B042-CC4B-9452-5ACD6A915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ED1BCCB2-89C9-0849-9AB4-3815D4B22DCC}"/>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6" name="頁尾版面配置區 5">
            <a:extLst>
              <a:ext uri="{FF2B5EF4-FFF2-40B4-BE49-F238E27FC236}">
                <a16:creationId xmlns:a16="http://schemas.microsoft.com/office/drawing/2014/main" id="{D9548749-B63E-DD4D-BB03-173C3669C98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523A855-0A82-054F-90BF-3FF1430C5E21}"/>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3115094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214AA0-4312-6141-AC37-8A299CF49526}"/>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8811A60B-049B-B04E-8A09-625870809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0E47BFE1-9E97-3C40-B066-84583F95B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DE7D0082-EFBC-A445-B320-4CFA95B96A9A}"/>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6" name="頁尾版面配置區 5">
            <a:extLst>
              <a:ext uri="{FF2B5EF4-FFF2-40B4-BE49-F238E27FC236}">
                <a16:creationId xmlns:a16="http://schemas.microsoft.com/office/drawing/2014/main" id="{CA3FA9D1-9771-9B4A-9CF0-9EAE9C528A8E}"/>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CAD5076-1459-4B48-8C19-A9C9B87CC465}"/>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3944591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01FABB-09BB-844C-93FB-C2814EB23B6C}"/>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2D5D409C-0F78-7E4E-801A-D98E6321E98F}"/>
              </a:ext>
            </a:extLst>
          </p:cNvPr>
          <p:cNvSpPr>
            <a:spLocks noGrp="1"/>
          </p:cNvSpPr>
          <p:nvPr>
            <p:ph type="body" orient="vert" idx="1"/>
          </p:nvPr>
        </p:nvSpPr>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5AC2B375-4E63-FD4C-85D5-FA3640E624E2}"/>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75F348B5-95A2-7648-8C8B-BE87F06CB62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711D7FB-7186-E943-8E8F-1B55CF818F96}"/>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256739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9480EAF-85D0-F84D-9F13-05558DC7A6F9}"/>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B0D5079-092A-5C46-B8D3-39D8E4255E2D}"/>
              </a:ext>
            </a:extLst>
          </p:cNvPr>
          <p:cNvSpPr>
            <a:spLocks noGrp="1"/>
          </p:cNvSpPr>
          <p:nvPr>
            <p:ph type="body" orient="vert" idx="1"/>
          </p:nvPr>
        </p:nvSpPr>
        <p:spPr>
          <a:xfrm>
            <a:off x="838200" y="365125"/>
            <a:ext cx="7734300" cy="5811838"/>
          </a:xfrm>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A0AD8190-5625-2845-9B50-C65E85379D92}"/>
              </a:ext>
            </a:extLst>
          </p:cNvPr>
          <p:cNvSpPr>
            <a:spLocks noGrp="1"/>
          </p:cNvSpPr>
          <p:nvPr>
            <p:ph type="dt" sz="half" idx="10"/>
          </p:nvPr>
        </p:nvSpPr>
        <p:spPr/>
        <p:txBody>
          <a:body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994E887A-961E-5343-9C5C-F85FF8A005E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6B55865-2258-D743-AAD0-37351CF3E060}"/>
              </a:ext>
            </a:extLst>
          </p:cNvPr>
          <p:cNvSpPr>
            <a:spLocks noGrp="1"/>
          </p:cNvSpPr>
          <p:nvPr>
            <p:ph type="sldNum" sz="quarter" idx="12"/>
          </p:nvPr>
        </p:nvSpPr>
        <p:spPr/>
        <p:txBody>
          <a:body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2873286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33F59B1-FCF0-5143-B160-A10F0DB188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2316578-18F7-524D-A8D6-19CF1FA68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162C9D10-28D2-5A43-AF97-1EF36D9A48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C0C13B-1A08-A747-8A6E-5C8B942E871E}" type="datetimeFigureOut">
              <a:rPr kumimoji="1" lang="zh-TW" altLang="en-US" smtClean="0"/>
              <a:t>2022/7/3</a:t>
            </a:fld>
            <a:endParaRPr kumimoji="1" lang="zh-TW" altLang="en-US"/>
          </a:p>
        </p:txBody>
      </p:sp>
      <p:sp>
        <p:nvSpPr>
          <p:cNvPr id="5" name="頁尾版面配置區 4">
            <a:extLst>
              <a:ext uri="{FF2B5EF4-FFF2-40B4-BE49-F238E27FC236}">
                <a16:creationId xmlns:a16="http://schemas.microsoft.com/office/drawing/2014/main" id="{F5B7A9A0-2A1F-1544-B3A8-7320C3396D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6BA4AD9-C639-6B43-B80C-1BF8A3880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F4502F-745D-0C4B-A849-83DEFA80D93B}" type="slidenum">
              <a:rPr kumimoji="1" lang="zh-TW" altLang="en-US" smtClean="0"/>
              <a:t>‹#›</a:t>
            </a:fld>
            <a:endParaRPr kumimoji="1" lang="zh-TW" altLang="en-US"/>
          </a:p>
        </p:txBody>
      </p:sp>
    </p:spTree>
    <p:extLst>
      <p:ext uri="{BB962C8B-B14F-4D97-AF65-F5344CB8AC3E}">
        <p14:creationId xmlns:p14="http://schemas.microsoft.com/office/powerpoint/2010/main" val="938968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57EA31-932A-BD44-9439-CB5F8ECCA120}"/>
              </a:ext>
            </a:extLst>
          </p:cNvPr>
          <p:cNvSpPr>
            <a:spLocks noGrp="1"/>
          </p:cNvSpPr>
          <p:nvPr>
            <p:ph type="ctrTitle"/>
          </p:nvPr>
        </p:nvSpPr>
        <p:spPr>
          <a:xfrm>
            <a:off x="804231" y="647800"/>
            <a:ext cx="10631277" cy="2387600"/>
          </a:xfrm>
        </p:spPr>
        <p:txBody>
          <a:bodyPr>
            <a:normAutofit/>
          </a:bodyPr>
          <a:lstStyle/>
          <a:p>
            <a:r>
              <a:rPr lang="en-US" altLang="zh-TW" sz="4000" b="1" dirty="0">
                <a:latin typeface="Times New Roman"/>
                <a:ea typeface="新細明體"/>
                <a:cs typeface="Times New Roman"/>
              </a:rPr>
              <a:t>Building a Computer Mahjong Player Based on Monte Carlo Simulation and Opponent Models </a:t>
            </a:r>
          </a:p>
        </p:txBody>
      </p:sp>
      <p:sp>
        <p:nvSpPr>
          <p:cNvPr id="3" name="副標題 2">
            <a:extLst>
              <a:ext uri="{FF2B5EF4-FFF2-40B4-BE49-F238E27FC236}">
                <a16:creationId xmlns:a16="http://schemas.microsoft.com/office/drawing/2014/main" id="{8C2F74C5-1CC1-1D44-9DF3-0525645EA2DF}"/>
              </a:ext>
            </a:extLst>
          </p:cNvPr>
          <p:cNvSpPr>
            <a:spLocks noGrp="1"/>
          </p:cNvSpPr>
          <p:nvPr>
            <p:ph type="subTitle" idx="1"/>
          </p:nvPr>
        </p:nvSpPr>
        <p:spPr>
          <a:xfrm>
            <a:off x="1524000" y="3729361"/>
            <a:ext cx="9144000" cy="1655762"/>
          </a:xfrm>
        </p:spPr>
        <p:txBody>
          <a:bodyPr/>
          <a:lstStyle/>
          <a:p>
            <a:r>
              <a:rPr lang="pl-PL" altLang="zh-TW" dirty="0" err="1">
                <a:latin typeface="Times New Roman"/>
                <a:ea typeface="新細明體"/>
                <a:cs typeface="Times New Roman"/>
              </a:rPr>
              <a:t>Naoki</a:t>
            </a:r>
            <a:r>
              <a:rPr lang="pl-PL" altLang="zh-TW" dirty="0">
                <a:latin typeface="Times New Roman"/>
                <a:ea typeface="新細明體"/>
                <a:cs typeface="Times New Roman"/>
              </a:rPr>
              <a:t> </a:t>
            </a:r>
            <a:r>
              <a:rPr lang="pl-PL" altLang="zh-TW" dirty="0" err="1">
                <a:latin typeface="Times New Roman"/>
                <a:ea typeface="新細明體"/>
                <a:cs typeface="Times New Roman"/>
              </a:rPr>
              <a:t>Mizukami</a:t>
            </a:r>
            <a:r>
              <a:rPr lang="pl-PL" altLang="zh-TW" dirty="0">
                <a:latin typeface="Times New Roman"/>
                <a:ea typeface="新細明體"/>
                <a:cs typeface="Times New Roman"/>
              </a:rPr>
              <a:t> and </a:t>
            </a:r>
            <a:r>
              <a:rPr lang="pl-PL" altLang="zh-TW" dirty="0" err="1">
                <a:latin typeface="Times New Roman"/>
                <a:ea typeface="新細明體"/>
                <a:cs typeface="Times New Roman"/>
              </a:rPr>
              <a:t>Yoshimasa</a:t>
            </a:r>
            <a:r>
              <a:rPr lang="pl-PL" altLang="zh-TW" dirty="0">
                <a:latin typeface="Times New Roman"/>
                <a:ea typeface="新細明體"/>
                <a:cs typeface="Times New Roman"/>
              </a:rPr>
              <a:t> </a:t>
            </a:r>
            <a:r>
              <a:rPr lang="pl-PL" altLang="zh-TW" dirty="0" err="1">
                <a:latin typeface="Times New Roman"/>
                <a:ea typeface="新細明體"/>
                <a:cs typeface="Times New Roman"/>
              </a:rPr>
              <a:t>Tsuruoka</a:t>
            </a:r>
            <a:r>
              <a:rPr lang="pl-PL" altLang="zh-TW" dirty="0">
                <a:latin typeface="Times New Roman"/>
                <a:ea typeface="新細明體"/>
                <a:cs typeface="Times New Roman"/>
              </a:rPr>
              <a:t> </a:t>
            </a:r>
          </a:p>
          <a:p>
            <a:r>
              <a:rPr lang="en-US" altLang="zh-TW" dirty="0">
                <a:latin typeface="Times New Roman"/>
                <a:ea typeface="+mn-lt"/>
                <a:cs typeface="+mn-lt"/>
              </a:rPr>
              <a:t>2015 IEEE Conference on Computational Intelligence and Games (CIG)</a:t>
            </a:r>
          </a:p>
        </p:txBody>
      </p:sp>
      <p:sp>
        <p:nvSpPr>
          <p:cNvPr id="4" name="文字方塊 3">
            <a:extLst>
              <a:ext uri="{FF2B5EF4-FFF2-40B4-BE49-F238E27FC236}">
                <a16:creationId xmlns:a16="http://schemas.microsoft.com/office/drawing/2014/main" id="{9B3CACC7-E470-E747-A4D6-068F79D2372F}"/>
              </a:ext>
            </a:extLst>
          </p:cNvPr>
          <p:cNvSpPr txBox="1"/>
          <p:nvPr/>
        </p:nvSpPr>
        <p:spPr>
          <a:xfrm>
            <a:off x="8680829" y="5817171"/>
            <a:ext cx="3026791"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Ying-Yu Lin</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020D5C51-41C5-0443-B79B-1E0DE31ABE10}"/>
              </a:ext>
            </a:extLst>
          </p:cNvPr>
          <p:cNvSpPr txBox="1"/>
          <p:nvPr/>
        </p:nvSpPr>
        <p:spPr>
          <a:xfrm>
            <a:off x="8680828" y="6245107"/>
            <a:ext cx="2440092"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July 5, 2022</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2061275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normAutofit/>
          </a:bodyPr>
          <a:lstStyle/>
          <a:p>
            <a:r>
              <a:rPr lang="en-US" altLang="zh-TW" b="1" dirty="0">
                <a:latin typeface="Times New Roman"/>
                <a:ea typeface="+mn-lt"/>
                <a:cs typeface="+mn-lt"/>
              </a:rPr>
              <a:t>Abstract</a:t>
            </a:r>
            <a:endParaRPr lang="zh-TW" altLang="en-US" b="1" dirty="0">
              <a:latin typeface="Times New Roman"/>
              <a:ea typeface="+mn-lt"/>
              <a:cs typeface="+mn-lt"/>
            </a:endParaRPr>
          </a:p>
        </p:txBody>
      </p:sp>
      <p:sp>
        <p:nvSpPr>
          <p:cNvPr id="3" name="內容版面配置區 2">
            <a:extLst>
              <a:ext uri="{FF2B5EF4-FFF2-40B4-BE49-F238E27FC236}">
                <a16:creationId xmlns:a16="http://schemas.microsoft.com/office/drawing/2014/main" id="{C85D1A1F-82AE-0945-BF70-168DA536465C}"/>
              </a:ext>
            </a:extLst>
          </p:cNvPr>
          <p:cNvSpPr>
            <a:spLocks noGrp="1"/>
          </p:cNvSpPr>
          <p:nvPr>
            <p:ph idx="1"/>
          </p:nvPr>
        </p:nvSpPr>
        <p:spPr>
          <a:xfrm>
            <a:off x="838200" y="1484906"/>
            <a:ext cx="10515600" cy="5069711"/>
          </a:xfrm>
        </p:spPr>
        <p:txBody>
          <a:bodyPr>
            <a:normAutofit/>
          </a:bodyPr>
          <a:lstStyle/>
          <a:p>
            <a:pPr marL="0" indent="0">
              <a:buNone/>
            </a:pPr>
            <a:r>
              <a:rPr lang="en-US" altLang="zh-TW" dirty="0">
                <a:latin typeface="Times New Roman"/>
                <a:ea typeface="+mn-lt"/>
                <a:cs typeface="+mn-lt"/>
              </a:rPr>
              <a:t>Predicting opponents’ moves and hidden states is important in imperfect information games. This paper describes a method for building a Mahjong program that models opponent players and performs Monte Carlo simulation with the models. We decompose an opponent’s play into three elements, namely, waiting, winning tiles, and winning scores, and train prediction models for those elements using game records of expert human players. Opponents’ moves in the Monte Carlo simulations are determined based on the probability distributions of the opponent models. We have evaluated the playing strength of the resulting program on a popular online Mahjong site “</a:t>
            </a:r>
            <a:r>
              <a:rPr lang="en-US" altLang="zh-TW" dirty="0" err="1">
                <a:latin typeface="Times New Roman"/>
                <a:ea typeface="+mn-lt"/>
                <a:cs typeface="+mn-lt"/>
              </a:rPr>
              <a:t>Tenhou</a:t>
            </a:r>
            <a:r>
              <a:rPr lang="en-US" altLang="zh-TW" dirty="0">
                <a:latin typeface="Times New Roman"/>
                <a:ea typeface="+mn-lt"/>
                <a:cs typeface="+mn-lt"/>
              </a:rPr>
              <a:t>”. The program has achieved a rating of 1718, which is significantly higher than that of the average human player. </a:t>
            </a:r>
          </a:p>
        </p:txBody>
      </p:sp>
    </p:spTree>
    <p:extLst>
      <p:ext uri="{BB962C8B-B14F-4D97-AF65-F5344CB8AC3E}">
        <p14:creationId xmlns:p14="http://schemas.microsoft.com/office/powerpoint/2010/main" val="4215621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Mahjong</a:t>
            </a:r>
            <a:endParaRPr kumimoji="1" lang="zh-TW" altLang="en-US" b="1" dirty="0"/>
          </a:p>
        </p:txBody>
      </p:sp>
      <p:grpSp>
        <p:nvGrpSpPr>
          <p:cNvPr id="11" name="群組 10">
            <a:extLst>
              <a:ext uri="{FF2B5EF4-FFF2-40B4-BE49-F238E27FC236}">
                <a16:creationId xmlns:a16="http://schemas.microsoft.com/office/drawing/2014/main" id="{10DE232D-CB9D-EC43-86E9-BFBC867673AF}"/>
              </a:ext>
            </a:extLst>
          </p:cNvPr>
          <p:cNvGrpSpPr/>
          <p:nvPr/>
        </p:nvGrpSpPr>
        <p:grpSpPr>
          <a:xfrm>
            <a:off x="838200" y="1690688"/>
            <a:ext cx="4645030" cy="3490812"/>
            <a:chOff x="919908" y="1503193"/>
            <a:chExt cx="4645030" cy="3490812"/>
          </a:xfrm>
        </p:grpSpPr>
        <p:pic>
          <p:nvPicPr>
            <p:cNvPr id="6" name="圖片 5">
              <a:extLst>
                <a:ext uri="{FF2B5EF4-FFF2-40B4-BE49-F238E27FC236}">
                  <a16:creationId xmlns:a16="http://schemas.microsoft.com/office/drawing/2014/main" id="{77393283-782C-D044-8298-A0FBE2957914}"/>
                </a:ext>
              </a:extLst>
            </p:cNvPr>
            <p:cNvPicPr>
              <a:picLocks noChangeAspect="1"/>
            </p:cNvPicPr>
            <p:nvPr/>
          </p:nvPicPr>
          <p:blipFill rotWithShape="1">
            <a:blip r:embed="rId2"/>
            <a:srcRect l="17669" t="19116" r="45451" b="65890"/>
            <a:stretch/>
          </p:blipFill>
          <p:spPr>
            <a:xfrm>
              <a:off x="919908" y="2375896"/>
              <a:ext cx="4645030" cy="872703"/>
            </a:xfrm>
            <a:prstGeom prst="rect">
              <a:avLst/>
            </a:prstGeom>
          </p:spPr>
        </p:pic>
        <p:pic>
          <p:nvPicPr>
            <p:cNvPr id="7" name="圖片 6">
              <a:extLst>
                <a:ext uri="{FF2B5EF4-FFF2-40B4-BE49-F238E27FC236}">
                  <a16:creationId xmlns:a16="http://schemas.microsoft.com/office/drawing/2014/main" id="{C07928F4-560B-8D4E-8B53-DAB59186F033}"/>
                </a:ext>
              </a:extLst>
            </p:cNvPr>
            <p:cNvPicPr>
              <a:picLocks noChangeAspect="1"/>
            </p:cNvPicPr>
            <p:nvPr/>
          </p:nvPicPr>
          <p:blipFill rotWithShape="1">
            <a:blip r:embed="rId2"/>
            <a:srcRect l="19576" t="36811" r="43544" b="48194"/>
            <a:stretch/>
          </p:blipFill>
          <p:spPr>
            <a:xfrm>
              <a:off x="919908" y="1503193"/>
              <a:ext cx="4645030" cy="872703"/>
            </a:xfrm>
            <a:prstGeom prst="rect">
              <a:avLst/>
            </a:prstGeom>
          </p:spPr>
        </p:pic>
        <p:pic>
          <p:nvPicPr>
            <p:cNvPr id="8" name="圖片 7">
              <a:extLst>
                <a:ext uri="{FF2B5EF4-FFF2-40B4-BE49-F238E27FC236}">
                  <a16:creationId xmlns:a16="http://schemas.microsoft.com/office/drawing/2014/main" id="{A52203BC-78E3-794D-9EC5-FE07B2794DF0}"/>
                </a:ext>
              </a:extLst>
            </p:cNvPr>
            <p:cNvPicPr>
              <a:picLocks noChangeAspect="1"/>
            </p:cNvPicPr>
            <p:nvPr/>
          </p:nvPicPr>
          <p:blipFill rotWithShape="1">
            <a:blip r:embed="rId2"/>
            <a:srcRect l="22035" t="54829" r="41086" b="30176"/>
            <a:stretch/>
          </p:blipFill>
          <p:spPr>
            <a:xfrm>
              <a:off x="919908" y="3248599"/>
              <a:ext cx="4645030" cy="872703"/>
            </a:xfrm>
            <a:prstGeom prst="rect">
              <a:avLst/>
            </a:prstGeom>
          </p:spPr>
        </p:pic>
        <p:pic>
          <p:nvPicPr>
            <p:cNvPr id="9" name="圖片 8">
              <a:extLst>
                <a:ext uri="{FF2B5EF4-FFF2-40B4-BE49-F238E27FC236}">
                  <a16:creationId xmlns:a16="http://schemas.microsoft.com/office/drawing/2014/main" id="{62AE25FC-9B1B-5949-9481-3BB4512282D5}"/>
                </a:ext>
              </a:extLst>
            </p:cNvPr>
            <p:cNvPicPr>
              <a:picLocks noChangeAspect="1"/>
            </p:cNvPicPr>
            <p:nvPr/>
          </p:nvPicPr>
          <p:blipFill rotWithShape="1">
            <a:blip r:embed="rId2"/>
            <a:srcRect l="59585" t="19034" r="20746" b="65970"/>
            <a:stretch/>
          </p:blipFill>
          <p:spPr>
            <a:xfrm>
              <a:off x="3087588" y="4121302"/>
              <a:ext cx="2477350" cy="872703"/>
            </a:xfrm>
            <a:prstGeom prst="rect">
              <a:avLst/>
            </a:prstGeom>
          </p:spPr>
        </p:pic>
        <p:pic>
          <p:nvPicPr>
            <p:cNvPr id="10" name="圖片 9">
              <a:extLst>
                <a:ext uri="{FF2B5EF4-FFF2-40B4-BE49-F238E27FC236}">
                  <a16:creationId xmlns:a16="http://schemas.microsoft.com/office/drawing/2014/main" id="{E9B23109-7DEE-6C48-91B9-8B75DAE74820}"/>
                </a:ext>
              </a:extLst>
            </p:cNvPr>
            <p:cNvPicPr>
              <a:picLocks noChangeAspect="1"/>
            </p:cNvPicPr>
            <p:nvPr/>
          </p:nvPicPr>
          <p:blipFill rotWithShape="1">
            <a:blip r:embed="rId2"/>
            <a:srcRect l="63458" t="36690" r="18845" b="48315"/>
            <a:stretch/>
          </p:blipFill>
          <p:spPr>
            <a:xfrm>
              <a:off x="919908" y="4121302"/>
              <a:ext cx="2228872" cy="872703"/>
            </a:xfrm>
            <a:prstGeom prst="rect">
              <a:avLst/>
            </a:prstGeom>
          </p:spPr>
        </p:pic>
      </p:grpSp>
      <p:pic>
        <p:nvPicPr>
          <p:cNvPr id="12" name="圖片 11">
            <a:extLst>
              <a:ext uri="{FF2B5EF4-FFF2-40B4-BE49-F238E27FC236}">
                <a16:creationId xmlns:a16="http://schemas.microsoft.com/office/drawing/2014/main" id="{0A22816D-D166-A249-8538-1BFE7A3FA21F}"/>
              </a:ext>
            </a:extLst>
          </p:cNvPr>
          <p:cNvPicPr>
            <a:picLocks noChangeAspect="1"/>
          </p:cNvPicPr>
          <p:nvPr/>
        </p:nvPicPr>
        <p:blipFill rotWithShape="1">
          <a:blip r:embed="rId3"/>
          <a:srcRect l="19790" t="19145" r="19758" b="63542"/>
          <a:stretch/>
        </p:blipFill>
        <p:spPr>
          <a:xfrm>
            <a:off x="2710148" y="5550188"/>
            <a:ext cx="7370284" cy="975394"/>
          </a:xfrm>
          <a:prstGeom prst="rect">
            <a:avLst/>
          </a:prstGeom>
        </p:spPr>
      </p:pic>
      <p:pic>
        <p:nvPicPr>
          <p:cNvPr id="13" name="圖片 12">
            <a:extLst>
              <a:ext uri="{FF2B5EF4-FFF2-40B4-BE49-F238E27FC236}">
                <a16:creationId xmlns:a16="http://schemas.microsoft.com/office/drawing/2014/main" id="{D231B3CD-7407-FB4C-AA31-4446C5EAEEDA}"/>
              </a:ext>
            </a:extLst>
          </p:cNvPr>
          <p:cNvPicPr>
            <a:picLocks noChangeAspect="1"/>
          </p:cNvPicPr>
          <p:nvPr/>
        </p:nvPicPr>
        <p:blipFill rotWithShape="1">
          <a:blip r:embed="rId3"/>
          <a:srcRect l="20430" t="19145" r="66821" b="63542"/>
          <a:stretch/>
        </p:blipFill>
        <p:spPr>
          <a:xfrm>
            <a:off x="7260118" y="1956685"/>
            <a:ext cx="1554296" cy="975394"/>
          </a:xfrm>
          <a:prstGeom prst="rect">
            <a:avLst/>
          </a:prstGeom>
        </p:spPr>
      </p:pic>
      <p:pic>
        <p:nvPicPr>
          <p:cNvPr id="14" name="圖片 13">
            <a:extLst>
              <a:ext uri="{FF2B5EF4-FFF2-40B4-BE49-F238E27FC236}">
                <a16:creationId xmlns:a16="http://schemas.microsoft.com/office/drawing/2014/main" id="{B7B97A98-F91F-6C40-A563-B7D7373E1033}"/>
              </a:ext>
            </a:extLst>
          </p:cNvPr>
          <p:cNvPicPr>
            <a:picLocks noChangeAspect="1"/>
          </p:cNvPicPr>
          <p:nvPr/>
        </p:nvPicPr>
        <p:blipFill rotWithShape="1">
          <a:blip r:embed="rId3"/>
          <a:srcRect l="58480" t="19145" r="28689" b="63542"/>
          <a:stretch/>
        </p:blipFill>
        <p:spPr>
          <a:xfrm>
            <a:off x="7250017" y="3384748"/>
            <a:ext cx="1564397" cy="975394"/>
          </a:xfrm>
          <a:prstGeom prst="rect">
            <a:avLst/>
          </a:prstGeom>
        </p:spPr>
      </p:pic>
    </p:spTree>
    <p:extLst>
      <p:ext uri="{BB962C8B-B14F-4D97-AF65-F5344CB8AC3E}">
        <p14:creationId xmlns:p14="http://schemas.microsoft.com/office/powerpoint/2010/main" val="3100759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Mahjong</a:t>
            </a:r>
            <a:endParaRPr kumimoji="1" lang="zh-TW" altLang="en-US" b="1" dirty="0"/>
          </a:p>
        </p:txBody>
      </p:sp>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2782103"/>
          </a:xfrm>
        </p:spPr>
        <p:txBody>
          <a:bodyPr>
            <a:normAutofit/>
          </a:bodyPr>
          <a:lstStyle/>
          <a:p>
            <a:r>
              <a:rPr lang="en-US" altLang="zh-TW" dirty="0">
                <a:latin typeface="Times New Roman" panose="02020603050405020304" pitchFamily="18" charset="0"/>
                <a:cs typeface="Times New Roman" panose="02020603050405020304" pitchFamily="18" charset="0"/>
              </a:rPr>
              <a:t>Waiting : </a:t>
            </a:r>
            <a:r>
              <a:rPr lang="en" altLang="zh-TW" dirty="0">
                <a:latin typeface="Times New Roman" panose="02020603050405020304" pitchFamily="18" charset="0"/>
                <a:cs typeface="Times New Roman" panose="02020603050405020304" pitchFamily="18" charset="0"/>
              </a:rPr>
              <a:t>A player is waiting if his hand needs only one tile to become complete. </a:t>
            </a:r>
          </a:p>
          <a:p>
            <a:r>
              <a:rPr lang="en" altLang="zh-TW" dirty="0" err="1">
                <a:latin typeface="Times New Roman" panose="02020603050405020304" pitchFamily="18" charset="0"/>
                <a:cs typeface="Times New Roman" panose="02020603050405020304" pitchFamily="18" charset="0"/>
              </a:rPr>
              <a:t>Riichi</a:t>
            </a:r>
            <a:r>
              <a:rPr lang="en" altLang="zh-TW" dirty="0">
                <a:latin typeface="Times New Roman" panose="02020603050405020304" pitchFamily="18" charset="0"/>
                <a:cs typeface="Times New Roman" panose="02020603050405020304" pitchFamily="18" charset="0"/>
              </a:rPr>
              <a:t> : A player can declare </a:t>
            </a:r>
            <a:r>
              <a:rPr lang="en" altLang="zh-TW" dirty="0" err="1">
                <a:latin typeface="Times New Roman" panose="02020603050405020304" pitchFamily="18" charset="0"/>
                <a:cs typeface="Times New Roman" panose="02020603050405020304" pitchFamily="18" charset="0"/>
              </a:rPr>
              <a:t>riichi</a:t>
            </a:r>
            <a:r>
              <a:rPr lang="en" altLang="zh-TW" dirty="0">
                <a:latin typeface="Times New Roman" panose="02020603050405020304" pitchFamily="18" charset="0"/>
                <a:cs typeface="Times New Roman" panose="02020603050405020304" pitchFamily="18" charset="0"/>
              </a:rPr>
              <a:t> when he is waiting with no melds made by stealing. </a:t>
            </a:r>
          </a:p>
          <a:p>
            <a:r>
              <a:rPr lang="en" altLang="zh-TW" dirty="0">
                <a:latin typeface="Times New Roman" panose="02020603050405020304" pitchFamily="18" charset="0"/>
                <a:cs typeface="Times New Roman" panose="02020603050405020304" pitchFamily="18" charset="0"/>
              </a:rPr>
              <a:t>Folding : A player folds if he gives up to win and only tries to avoid discarding a winning tile for other players. </a:t>
            </a:r>
            <a:endParaRPr lang="en-US" altLang="zh-TW" dirty="0">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2503126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One-player Mahjong moves</a:t>
            </a:r>
            <a:endParaRPr kumimoji="1" lang="zh-TW" altLang="en-US" b="1" dirty="0"/>
          </a:p>
        </p:txBody>
      </p:sp>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4324522"/>
          </a:xfrm>
        </p:spPr>
        <p:txBody>
          <a:bodyPr>
            <a:normAutofit/>
          </a:bodyPr>
          <a:lstStyle/>
          <a:p>
            <a:r>
              <a:rPr lang="en" altLang="zh-TW" dirty="0">
                <a:latin typeface="Times New Roman" panose="02020603050405020304" pitchFamily="18" charset="0"/>
                <a:cs typeface="Times New Roman" panose="02020603050405020304" pitchFamily="18" charset="0"/>
              </a:rPr>
              <a:t>The goal of the player in a one-player Mahjong game is to complete his hand. </a:t>
            </a:r>
          </a:p>
          <a:p>
            <a:r>
              <a:rPr lang="en-US" altLang="zh-TW" dirty="0">
                <a:latin typeface="Times New Roman" panose="02020603050405020304" pitchFamily="18" charset="0"/>
                <a:cs typeface="Times New Roman" panose="02020603050405020304" pitchFamily="18" charset="0"/>
              </a:rPr>
              <a:t>One-player Mahjong moves </a:t>
            </a:r>
            <a:r>
              <a:rPr lang="en" altLang="zh-TW" dirty="0">
                <a:latin typeface="Times New Roman" panose="02020603050405020304" pitchFamily="18" charset="0"/>
                <a:cs typeface="Times New Roman" panose="02020603050405020304" pitchFamily="18" charset="0"/>
              </a:rPr>
              <a:t>is not a good strategy because you never make a meld by stealing. </a:t>
            </a:r>
          </a:p>
          <a:p>
            <a:r>
              <a:rPr lang="en" altLang="zh-TW" dirty="0">
                <a:latin typeface="Times New Roman" panose="02020603050405020304" pitchFamily="18" charset="0"/>
                <a:cs typeface="Times New Roman" panose="02020603050405020304" pitchFamily="18" charset="0"/>
              </a:rPr>
              <a:t>main idea is to achieve a good balance between quick completion of a hand and minimizing the expected loss from discarding a winning tile for other players. </a:t>
            </a:r>
          </a:p>
          <a:p>
            <a:endParaRPr lang="en" altLang="zh-TW" dirty="0"/>
          </a:p>
        </p:txBody>
      </p:sp>
    </p:spTree>
    <p:extLst>
      <p:ext uri="{BB962C8B-B14F-4D97-AF65-F5344CB8AC3E}">
        <p14:creationId xmlns:p14="http://schemas.microsoft.com/office/powerpoint/2010/main" val="238206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Three prediction models</a:t>
            </a:r>
            <a:endParaRPr kumimoji="1" lang="zh-TW" altLang="en-US" b="1" dirty="0"/>
          </a:p>
        </p:txBody>
      </p:sp>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4324522"/>
          </a:xfrm>
        </p:spPr>
        <p:txBody>
          <a:bodyPr>
            <a:normAutofit/>
          </a:bodyPr>
          <a:lstStyle/>
          <a:p>
            <a:r>
              <a:rPr lang="en" altLang="zh-TW" dirty="0">
                <a:latin typeface="Times New Roman" panose="02020603050405020304" pitchFamily="18" charset="0"/>
                <a:cs typeface="Times New Roman" panose="02020603050405020304" pitchFamily="18" charset="0"/>
              </a:rPr>
              <a:t>Prediction of waiting </a:t>
            </a:r>
          </a:p>
          <a:p>
            <a:r>
              <a:rPr lang="en" altLang="zh-TW" dirty="0">
                <a:latin typeface="Times New Roman" panose="02020603050405020304" pitchFamily="18" charset="0"/>
                <a:cs typeface="Times New Roman" panose="02020603050405020304" pitchFamily="18" charset="0"/>
              </a:rPr>
              <a:t>Prediction of winning tiles</a:t>
            </a:r>
          </a:p>
          <a:p>
            <a:r>
              <a:rPr lang="en" altLang="zh-TW" dirty="0">
                <a:latin typeface="Times New Roman" panose="02020603050405020304" pitchFamily="18" charset="0"/>
                <a:cs typeface="Times New Roman" panose="02020603050405020304" pitchFamily="18" charset="0"/>
              </a:rPr>
              <a:t>Prediction of scores</a:t>
            </a:r>
          </a:p>
        </p:txBody>
      </p:sp>
    </p:spTree>
    <p:extLst>
      <p:ext uri="{BB962C8B-B14F-4D97-AF65-F5344CB8AC3E}">
        <p14:creationId xmlns:p14="http://schemas.microsoft.com/office/powerpoint/2010/main" val="389383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Prediction of waiting </a:t>
            </a:r>
          </a:p>
        </p:txBody>
      </p:sp>
      <mc:AlternateContent xmlns:mc="http://schemas.openxmlformats.org/markup-compatibility/2006">
        <mc:Choice xmlns:a14="http://schemas.microsoft.com/office/drawing/2010/main" Requires="a14">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4324522"/>
              </a:xfrm>
            </p:spPr>
            <p:txBody>
              <a:bodyPr>
                <a:normAutofit/>
              </a:bodyPr>
              <a:lstStyle/>
              <a:p>
                <a:r>
                  <a:rPr lang="en" altLang="zh-TW" dirty="0">
                    <a:latin typeface="Times New Roman" panose="02020603050405020304" pitchFamily="18" charset="0"/>
                    <a:cs typeface="Times New Roman" panose="02020603050405020304" pitchFamily="18" charset="0"/>
                  </a:rPr>
                  <a:t>supervised machine learning approach </a:t>
                </a:r>
              </a:p>
              <a:p>
                <a:pPr marL="0"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Tenhou</a:t>
                </a:r>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Binary label : whether the opponent’ s hand is waiting or not</a:t>
                </a:r>
              </a:p>
              <a:p>
                <a:r>
                  <a:rPr lang="en" altLang="zh-TW" dirty="0">
                    <a:latin typeface="Times New Roman" panose="02020603050405020304" pitchFamily="18" charset="0"/>
                    <a:cs typeface="Times New Roman" panose="02020603050405020304" pitchFamily="18" charset="0"/>
                  </a:rPr>
                  <a:t>Feature vector : from the other player’ s points of view</a:t>
                </a:r>
              </a:p>
              <a:p>
                <a14:m>
                  <m:oMath xmlns:m="http://schemas.openxmlformats.org/officeDocument/2006/math">
                    <m:r>
                      <m:rPr>
                        <m:sty m:val="p"/>
                      </m:rPr>
                      <a:rPr lang="en-US" altLang="zh-TW" b="0" i="0" smtClean="0">
                        <a:latin typeface="Cambria Math" panose="02040503050406030204" pitchFamily="18" charset="0"/>
                      </a:rPr>
                      <m:t>P</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waiting</m:t>
                        </m:r>
                      </m:e>
                    </m:d>
                    <m:r>
                      <a:rPr lang="en-US" altLang="zh-TW" b="0" i="0" smtClean="0">
                        <a:latin typeface="Cambria Math" panose="02040503050406030204" pitchFamily="18" charset="0"/>
                      </a:rPr>
                      <m:t>= </m:t>
                    </m:r>
                    <m:f>
                      <m:fPr>
                        <m:ctrlPr>
                          <a:rPr lang="en-US" altLang="zh-TW" smtClean="0">
                            <a:latin typeface="Cambria Math" panose="02040503050406030204" pitchFamily="18" charset="0"/>
                          </a:rPr>
                        </m:ctrlPr>
                      </m:fPr>
                      <m:num>
                        <m:r>
                          <a:rPr lang="en-US" altLang="zh-TW" b="0" i="0" smtClean="0">
                            <a:latin typeface="Cambria Math" panose="02040503050406030204" pitchFamily="18" charset="0"/>
                          </a:rPr>
                          <m:t>1</m:t>
                        </m:r>
                      </m:num>
                      <m:den>
                        <m:r>
                          <a:rPr lang="en-US" altLang="zh-TW" b="0" i="0" smtClean="0">
                            <a:latin typeface="Cambria Math" panose="02040503050406030204" pitchFamily="18" charset="0"/>
                          </a:rPr>
                          <m:t>1+</m:t>
                        </m:r>
                        <m:r>
                          <m:rPr>
                            <m:sty m:val="p"/>
                          </m:rPr>
                          <a:rPr lang="en-US" altLang="zh-TW" b="0" i="0" smtClean="0">
                            <a:latin typeface="Cambria Math" panose="02040503050406030204" pitchFamily="18" charset="0"/>
                          </a:rPr>
                          <m:t>exp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wTxp</m:t>
                        </m:r>
                        <m:r>
                          <a:rPr lang="en-US" altLang="zh-TW" b="0" i="0" smtClean="0">
                            <a:latin typeface="Cambria Math" panose="02040503050406030204" pitchFamily="18" charset="0"/>
                          </a:rPr>
                          <m:t>)</m:t>
                        </m:r>
                      </m:den>
                    </m:f>
                  </m:oMath>
                </a14:m>
                <a:r>
                  <a:rPr lang="en" altLang="zh-TW" dirty="0">
                    <a:latin typeface="Times New Roman" panose="02020603050405020304" pitchFamily="18" charset="0"/>
                    <a:cs typeface="Times New Roman" panose="02020603050405020304" pitchFamily="18" charset="0"/>
                  </a:rPr>
                  <a:t> </a:t>
                </a:r>
              </a:p>
            </p:txBody>
          </p:sp>
        </mc:Choice>
        <mc:Fallback>
          <p:sp>
            <p:nvSpPr>
              <p:cNvPr id="20" name="內容版面配置區 2">
                <a:extLst>
                  <a:ext uri="{FF2B5EF4-FFF2-40B4-BE49-F238E27FC236}">
                    <a16:creationId xmlns:a16="http://schemas.microsoft.com/office/drawing/2014/main" id="{04667574-E899-C243-A9C9-27D205838382}"/>
                  </a:ext>
                </a:extLst>
              </p:cNvPr>
              <p:cNvSpPr>
                <a:spLocks noGrp="1" noRot="1" noChangeAspect="1" noMove="1" noResize="1" noEditPoints="1" noAdjustHandles="1" noChangeArrowheads="1" noChangeShapeType="1" noTextEdit="1"/>
              </p:cNvSpPr>
              <p:nvPr>
                <p:ph idx="1"/>
              </p:nvPr>
            </p:nvSpPr>
            <p:spPr>
              <a:xfrm>
                <a:off x="963613" y="1690688"/>
                <a:ext cx="10515600" cy="4324522"/>
              </a:xfrm>
              <a:blipFill>
                <a:blip r:embed="rId2"/>
                <a:stretch>
                  <a:fillRect l="-965" t="-2339"/>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C4F19585-7CAB-4B47-AAAA-3A610E20D2C7}"/>
              </a:ext>
            </a:extLst>
          </p:cNvPr>
          <p:cNvPicPr>
            <a:picLocks noChangeAspect="1"/>
          </p:cNvPicPr>
          <p:nvPr/>
        </p:nvPicPr>
        <p:blipFill>
          <a:blip r:embed="rId3"/>
          <a:stretch>
            <a:fillRect/>
          </a:stretch>
        </p:blipFill>
        <p:spPr>
          <a:xfrm>
            <a:off x="6364632" y="4242489"/>
            <a:ext cx="5625021" cy="2213396"/>
          </a:xfrm>
          <a:prstGeom prst="rect">
            <a:avLst/>
          </a:prstGeom>
        </p:spPr>
      </p:pic>
    </p:spTree>
    <p:extLst>
      <p:ext uri="{BB962C8B-B14F-4D97-AF65-F5344CB8AC3E}">
        <p14:creationId xmlns:p14="http://schemas.microsoft.com/office/powerpoint/2010/main" val="1356891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Prediction of winning tiles </a:t>
            </a:r>
          </a:p>
        </p:txBody>
      </p:sp>
      <mc:AlternateContent xmlns:mc="http://schemas.openxmlformats.org/markup-compatibility/2006">
        <mc:Choice xmlns:a14="http://schemas.microsoft.com/office/drawing/2010/main" Requires="a14">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4324522"/>
              </a:xfrm>
            </p:spPr>
            <p:txBody>
              <a:bodyPr>
                <a:normAutofit/>
              </a:bodyPr>
              <a:lstStyle/>
              <a:p>
                <a:r>
                  <a:rPr lang="en" altLang="zh-TW" dirty="0">
                    <a:latin typeface="Times New Roman" panose="02020603050405020304" pitchFamily="18" charset="0"/>
                    <a:cs typeface="Times New Roman" panose="02020603050405020304" pitchFamily="18" charset="0"/>
                  </a:rPr>
                  <a:t>Binary label : whether it is a winning tile or not</a:t>
                </a:r>
              </a:p>
              <a:p>
                <a:r>
                  <a:rPr lang="en" altLang="zh-TW" dirty="0">
                    <a:latin typeface="Times New Roman" panose="02020603050405020304" pitchFamily="18" charset="0"/>
                    <a:cs typeface="Times New Roman" panose="02020603050405020304" pitchFamily="18" charset="0"/>
                  </a:rPr>
                  <a:t>Feature vector : the information available to the other players</a:t>
                </a:r>
              </a:p>
              <a:p>
                <a:r>
                  <a:rPr lang="en" altLang="zh-TW" dirty="0">
                    <a:latin typeface="Times New Roman" panose="02020603050405020304" pitchFamily="18" charset="0"/>
                    <a:cs typeface="Times New Roman" panose="02020603050405020304" pitchFamily="18" charset="0"/>
                  </a:rPr>
                  <a:t>34 prediction models using logistic regression</a:t>
                </a:r>
              </a:p>
              <a:p>
                <a14:m>
                  <m:oMath xmlns:m="http://schemas.openxmlformats.org/officeDocument/2006/math">
                    <m:r>
                      <m:rPr>
                        <m:sty m:val="p"/>
                      </m:rPr>
                      <a:rPr lang="en-US" altLang="zh-TW" b="0" i="0" smtClean="0">
                        <a:latin typeface="Cambria Math" panose="02040503050406030204" pitchFamily="18" charset="0"/>
                      </a:rPr>
                      <m:t>Evaluation</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value</m:t>
                    </m:r>
                    <m:r>
                      <a:rPr lang="en-US" altLang="zh-TW" b="0" i="0" smtClean="0">
                        <a:latin typeface="Cambria Math" panose="02040503050406030204" pitchFamily="18" charset="0"/>
                      </a:rPr>
                      <m:t>= </m:t>
                    </m:r>
                    <m:nary>
                      <m:naryPr>
                        <m:chr m:val="∑"/>
                        <m:ctrlPr>
                          <a:rPr lang="en-US" altLang="zh-TW" smtClean="0">
                            <a:latin typeface="Cambria Math" panose="02040503050406030204" pitchFamily="18" charset="0"/>
                          </a:rPr>
                        </m:ctrlPr>
                      </m:naryPr>
                      <m:sub>
                        <m:r>
                          <m:rPr>
                            <m:sty m:val="p"/>
                            <m:brk m:alnAt="23"/>
                          </m:rPr>
                          <a:rPr lang="en-US" altLang="zh-TW" b="0" i="0" smtClean="0">
                            <a:latin typeface="Cambria Math" panose="02040503050406030204" pitchFamily="18" charset="0"/>
                          </a:rPr>
                          <m:t>i</m:t>
                        </m:r>
                        <m:r>
                          <a:rPr lang="en-US" altLang="zh-TW" b="0" i="0" smtClean="0">
                            <a:latin typeface="Cambria Math" panose="02040503050406030204" pitchFamily="18" charset="0"/>
                          </a:rPr>
                          <m:t>=1</m:t>
                        </m:r>
                      </m:sub>
                      <m:sup>
                        <m:r>
                          <m:rPr>
                            <m:sty m:val="p"/>
                          </m:rPr>
                          <a:rPr lang="en-US" altLang="zh-TW" b="0" i="0" smtClean="0">
                            <a:latin typeface="Cambria Math" panose="02040503050406030204" pitchFamily="18" charset="0"/>
                          </a:rPr>
                          <m:t>n</m:t>
                        </m:r>
                      </m:sup>
                      <m:e>
                        <m:f>
                          <m:fPr>
                            <m:ctrlPr>
                              <a:rPr lang="en-US" altLang="zh-TW" smtClean="0">
                                <a:latin typeface="Cambria Math" panose="02040503050406030204" pitchFamily="18" charset="0"/>
                              </a:rPr>
                            </m:ctrlPr>
                          </m:fPr>
                          <m:num>
                            <m:r>
                              <m:rPr>
                                <m:sty m:val="p"/>
                              </m:rPr>
                              <a:rPr lang="en-US" altLang="zh-TW" b="0" i="0" smtClean="0">
                                <a:latin typeface="Cambria Math" panose="02040503050406030204" pitchFamily="18" charset="0"/>
                              </a:rPr>
                              <m:t>Clear</m:t>
                            </m:r>
                            <m:r>
                              <m:rPr>
                                <m:sty m:val="p"/>
                              </m:rPr>
                              <a:rPr lang="en-US" altLang="zh-TW" b="0" i="0" baseline="-25000" smtClean="0">
                                <a:latin typeface="Cambria Math" panose="02040503050406030204" pitchFamily="18" charset="0"/>
                              </a:rPr>
                              <m:t>i</m:t>
                            </m:r>
                          </m:num>
                          <m:den>
                            <m:r>
                              <m:rPr>
                                <m:sty m:val="p"/>
                              </m:rPr>
                              <a:rPr lang="en-US" altLang="zh-TW" b="0" i="0" smtClean="0">
                                <a:latin typeface="Cambria Math" panose="02040503050406030204" pitchFamily="18" charset="0"/>
                              </a:rPr>
                              <m:t>AT</m:t>
                            </m:r>
                            <m:r>
                              <m:rPr>
                                <m:sty m:val="p"/>
                              </m:rPr>
                              <a:rPr lang="en-US" altLang="zh-TW" b="0" i="0" baseline="-25000" smtClean="0">
                                <a:latin typeface="Cambria Math" panose="02040503050406030204" pitchFamily="18" charset="0"/>
                              </a:rPr>
                              <m:t>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WTi</m:t>
                            </m:r>
                          </m:den>
                        </m:f>
                      </m:e>
                    </m:nary>
                  </m:oMath>
                </a14:m>
                <a:endParaRPr lang="en" altLang="zh-TW" dirty="0">
                  <a:latin typeface="Times New Roman" panose="02020603050405020304" pitchFamily="18" charset="0"/>
                  <a:cs typeface="Times New Roman" panose="02020603050405020304" pitchFamily="18" charset="0"/>
                </a:endParaRPr>
              </a:p>
            </p:txBody>
          </p:sp>
        </mc:Choice>
        <mc:Fallback>
          <p:sp>
            <p:nvSpPr>
              <p:cNvPr id="20" name="內容版面配置區 2">
                <a:extLst>
                  <a:ext uri="{FF2B5EF4-FFF2-40B4-BE49-F238E27FC236}">
                    <a16:creationId xmlns:a16="http://schemas.microsoft.com/office/drawing/2014/main" id="{04667574-E899-C243-A9C9-27D205838382}"/>
                  </a:ext>
                </a:extLst>
              </p:cNvPr>
              <p:cNvSpPr>
                <a:spLocks noGrp="1" noRot="1" noChangeAspect="1" noMove="1" noResize="1" noEditPoints="1" noAdjustHandles="1" noChangeArrowheads="1" noChangeShapeType="1" noTextEdit="1"/>
              </p:cNvSpPr>
              <p:nvPr>
                <p:ph idx="1"/>
              </p:nvPr>
            </p:nvSpPr>
            <p:spPr>
              <a:xfrm>
                <a:off x="963613" y="1690688"/>
                <a:ext cx="10515600" cy="4324522"/>
              </a:xfrm>
              <a:blipFill>
                <a:blip r:embed="rId2"/>
                <a:stretch>
                  <a:fillRect l="-965" t="-2339"/>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C4F19585-7CAB-4B47-AAAA-3A610E20D2C7}"/>
              </a:ext>
            </a:extLst>
          </p:cNvPr>
          <p:cNvPicPr>
            <a:picLocks noChangeAspect="1"/>
          </p:cNvPicPr>
          <p:nvPr/>
        </p:nvPicPr>
        <p:blipFill>
          <a:blip r:embed="rId3"/>
          <a:stretch>
            <a:fillRect/>
          </a:stretch>
        </p:blipFill>
        <p:spPr>
          <a:xfrm>
            <a:off x="5728779" y="4287638"/>
            <a:ext cx="5625021" cy="2189197"/>
          </a:xfrm>
          <a:prstGeom prst="rect">
            <a:avLst/>
          </a:prstGeom>
        </p:spPr>
      </p:pic>
    </p:spTree>
    <p:extLst>
      <p:ext uri="{BB962C8B-B14F-4D97-AF65-F5344CB8AC3E}">
        <p14:creationId xmlns:p14="http://schemas.microsoft.com/office/powerpoint/2010/main" val="676594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Prediction of scores</a:t>
            </a:r>
          </a:p>
        </p:txBody>
      </p:sp>
      <mc:AlternateContent xmlns:mc="http://schemas.openxmlformats.org/markup-compatibility/2006">
        <mc:Choice xmlns:a14="http://schemas.microsoft.com/office/drawing/2010/main" Requires="a14">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963613" y="1690688"/>
                <a:ext cx="10515600" cy="4324522"/>
              </a:xfrm>
            </p:spPr>
            <p:txBody>
              <a:bodyPr>
                <a:normAutofit/>
              </a:bodyPr>
              <a:lstStyle/>
              <a:p>
                <a:r>
                  <a:rPr lang="en" altLang="zh-TW" dirty="0">
                    <a:latin typeface="Times New Roman" panose="02020603050405020304" pitchFamily="18" charset="0"/>
                    <a:cs typeface="Times New Roman" panose="02020603050405020304" pitchFamily="18" charset="0"/>
                  </a:rPr>
                  <a:t>Linear regression model that predicts the natural logarithm of an actual score</a:t>
                </a:r>
              </a:p>
              <a:p>
                <a14:m>
                  <m:oMath xmlns:m="http://schemas.openxmlformats.org/officeDocument/2006/math">
                    <m:r>
                      <m:rPr>
                        <m:sty m:val="p"/>
                      </m:rPr>
                      <a:rPr lang="en-US" altLang="zh-TW" b="0" i="0" smtClean="0">
                        <a:latin typeface="Cambria Math" panose="02040503050406030204" pitchFamily="18" charset="0"/>
                      </a:rPr>
                      <m:t>Hand</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Score</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wTx</m:t>
                    </m:r>
                  </m:oMath>
                </a14:m>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Evaluate the model using mean square error between the predicted value and the actual score</a:t>
                </a:r>
              </a:p>
            </p:txBody>
          </p:sp>
        </mc:Choice>
        <mc:Fallback>
          <p:sp>
            <p:nvSpPr>
              <p:cNvPr id="20" name="內容版面配置區 2">
                <a:extLst>
                  <a:ext uri="{FF2B5EF4-FFF2-40B4-BE49-F238E27FC236}">
                    <a16:creationId xmlns:a16="http://schemas.microsoft.com/office/drawing/2014/main" id="{04667574-E899-C243-A9C9-27D205838382}"/>
                  </a:ext>
                </a:extLst>
              </p:cNvPr>
              <p:cNvSpPr>
                <a:spLocks noGrp="1" noRot="1" noChangeAspect="1" noMove="1" noResize="1" noEditPoints="1" noAdjustHandles="1" noChangeArrowheads="1" noChangeShapeType="1" noTextEdit="1"/>
              </p:cNvSpPr>
              <p:nvPr>
                <p:ph idx="1"/>
              </p:nvPr>
            </p:nvSpPr>
            <p:spPr>
              <a:xfrm>
                <a:off x="963613" y="1690688"/>
                <a:ext cx="10515600" cy="4324522"/>
              </a:xfrm>
              <a:blipFill>
                <a:blip r:embed="rId2"/>
                <a:stretch>
                  <a:fillRect l="-965" t="-2339" r="-1930"/>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C4F19585-7CAB-4B47-AAAA-3A610E20D2C7}"/>
              </a:ext>
            </a:extLst>
          </p:cNvPr>
          <p:cNvPicPr>
            <a:picLocks noChangeAspect="1"/>
          </p:cNvPicPr>
          <p:nvPr/>
        </p:nvPicPr>
        <p:blipFill>
          <a:blip r:embed="rId3"/>
          <a:stretch>
            <a:fillRect/>
          </a:stretch>
        </p:blipFill>
        <p:spPr>
          <a:xfrm>
            <a:off x="5771270" y="4296120"/>
            <a:ext cx="5540038" cy="2172233"/>
          </a:xfrm>
          <a:prstGeom prst="rect">
            <a:avLst/>
          </a:prstGeom>
        </p:spPr>
      </p:pic>
    </p:spTree>
    <p:extLst>
      <p:ext uri="{BB962C8B-B14F-4D97-AF65-F5344CB8AC3E}">
        <p14:creationId xmlns:p14="http://schemas.microsoft.com/office/powerpoint/2010/main" val="3505679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Monte Carlo moves</a:t>
            </a:r>
            <a:endParaRPr kumimoji="1" lang="zh-TW" altLang="en-US" b="1" dirty="0"/>
          </a:p>
        </p:txBody>
      </p:sp>
      <mc:AlternateContent xmlns:mc="http://schemas.openxmlformats.org/markup-compatibility/2006">
        <mc:Choice xmlns:a14="http://schemas.microsoft.com/office/drawing/2010/main" Requires="a14">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838200" y="1690688"/>
                <a:ext cx="10989688" cy="4324522"/>
              </a:xfrm>
            </p:spPr>
            <p:txBody>
              <a:bodyPr>
                <a:normAutofit/>
              </a:bodyPr>
              <a:lstStyle/>
              <a:p>
                <a14:m>
                  <m:oMath xmlns:m="http://schemas.openxmlformats.org/officeDocument/2006/math">
                    <m:r>
                      <m:rPr>
                        <m:sty m:val="p"/>
                      </m:rPr>
                      <a:rPr lang="en-US" altLang="zh-TW" b="0" i="0" smtClean="0">
                        <a:latin typeface="Cambria Math" panose="02040503050406030204" pitchFamily="18" charset="0"/>
                      </a:rPr>
                      <m:t>LP</m:t>
                    </m:r>
                    <m:r>
                      <a:rPr lang="en-US" altLang="zh-TW" b="0" i="0" smtClean="0">
                        <a:latin typeface="Cambria Math" panose="02040503050406030204" pitchFamily="18" charset="0"/>
                      </a:rPr>
                      <m:t> </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Tile</m:t>
                        </m:r>
                      </m:e>
                    </m:d>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P</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waiting</m:t>
                        </m:r>
                      </m:e>
                    </m:d>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P</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Tile</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winning</m:t>
                        </m:r>
                      </m:e>
                    </m:d>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m:rPr>
                        <m:sty m:val="p"/>
                      </m:rPr>
                      <a:rPr lang="en-US" altLang="zh-TW" b="0" i="0" smtClean="0">
                        <a:latin typeface="Cambria Math" panose="02040503050406030204" pitchFamily="18" charset="0"/>
                      </a:rPr>
                      <m:t>EL</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Tile</m:t>
                        </m:r>
                      </m:e>
                    </m:d>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LP</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Tile</m:t>
                        </m:r>
                      </m:e>
                    </m:d>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HS</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p</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Tile</m:t>
                    </m:r>
                    <m:r>
                      <a:rPr lang="en-US" altLang="zh-TW" b="0" i="0" smtClean="0">
                        <a:latin typeface="Cambria Math" panose="02040503050406030204" pitchFamily="18" charset="0"/>
                      </a:rPr>
                      <m:t>)</m:t>
                    </m:r>
                  </m:oMath>
                </a14:m>
                <a:endParaRPr lang="en" altLang="zh-TW" dirty="0">
                  <a:latin typeface="Times New Roman" panose="02020603050405020304" pitchFamily="18" charset="0"/>
                  <a:cs typeface="Times New Roman" panose="02020603050405020304" pitchFamily="18" charset="0"/>
                </a:endParaRPr>
              </a:p>
              <a:p>
                <a14:m>
                  <m:oMath xmlns:m="http://schemas.openxmlformats.org/officeDocument/2006/math">
                    <m:r>
                      <m:rPr>
                        <m:sty m:val="p"/>
                      </m:rPr>
                      <a:rPr lang="en-US" altLang="zh-TW" b="0" i="0" smtClean="0">
                        <a:latin typeface="Cambria Math" panose="02040503050406030204" pitchFamily="18" charset="0"/>
                      </a:rPr>
                      <m:t>Score</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Tile</m:t>
                        </m:r>
                      </m:e>
                    </m:d>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Sim</m:t>
                    </m:r>
                    <m:d>
                      <m:dPr>
                        <m:ctrlPr>
                          <a:rPr lang="en-US" altLang="zh-TW" smtClean="0">
                            <a:latin typeface="Cambria Math" panose="02040503050406030204" pitchFamily="18" charset="0"/>
                          </a:rPr>
                        </m:ctrlPr>
                      </m:dPr>
                      <m:e>
                        <m:r>
                          <m:rPr>
                            <m:sty m:val="p"/>
                          </m:rPr>
                          <a:rPr lang="en-US" altLang="zh-TW" b="0" i="0" smtClean="0">
                            <a:latin typeface="Cambria Math" panose="02040503050406030204" pitchFamily="18" charset="0"/>
                          </a:rPr>
                          <m:t>Tile</m:t>
                        </m:r>
                      </m:e>
                    </m:d>
                    <m:r>
                      <a:rPr lang="en-US" altLang="zh-TW" b="0" i="0" smtClean="0">
                        <a:latin typeface="Cambria Math" panose="02040503050406030204" pitchFamily="18" charset="0"/>
                      </a:rPr>
                      <m:t>∗</m:t>
                    </m:r>
                    <m:r>
                      <m:rPr>
                        <m:sty m:val="p"/>
                      </m:rPr>
                      <a:rPr lang="el-GR" altLang="zh-TW" b="0" i="0" smtClean="0">
                        <a:latin typeface="Cambria Math" panose="02040503050406030204" pitchFamily="18" charset="0"/>
                        <a:ea typeface="Cambria Math" panose="02040503050406030204" pitchFamily="18" charset="0"/>
                      </a:rPr>
                      <m:t>Π</m:t>
                    </m:r>
                    <m:d>
                      <m:dPr>
                        <m:ctrlPr>
                          <a:rPr lang="en-US" altLang="zh-TW"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1−</m:t>
                        </m:r>
                        <m:r>
                          <m:rPr>
                            <m:sty m:val="p"/>
                          </m:rPr>
                          <a:rPr lang="en-US" altLang="zh-TW" b="0" i="0" smtClean="0">
                            <a:latin typeface="Cambria Math" panose="02040503050406030204" pitchFamily="18" charset="0"/>
                            <a:ea typeface="Cambria Math" panose="02040503050406030204" pitchFamily="18" charset="0"/>
                          </a:rPr>
                          <m:t>LP</m:t>
                        </m:r>
                        <m:d>
                          <m:dPr>
                            <m:ctrlPr>
                              <a:rPr lang="en-US" altLang="zh-TW" smtClean="0">
                                <a:latin typeface="Cambria Math" panose="02040503050406030204" pitchFamily="18" charset="0"/>
                                <a:ea typeface="Cambria Math" panose="02040503050406030204" pitchFamily="18" charset="0"/>
                              </a:rPr>
                            </m:ctrlPr>
                          </m:dPr>
                          <m:e>
                            <m:r>
                              <m:rPr>
                                <m:sty m:val="p"/>
                              </m:rPr>
                              <a:rPr lang="en-US" altLang="zh-TW" b="0" i="0" smtClean="0">
                                <a:latin typeface="Cambria Math" panose="02040503050406030204" pitchFamily="18" charset="0"/>
                                <a:ea typeface="Cambria Math" panose="02040503050406030204" pitchFamily="18" charset="0"/>
                              </a:rPr>
                              <m:t>p</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Tile</m:t>
                            </m:r>
                          </m:e>
                        </m:d>
                      </m:e>
                    </m:d>
                    <m:r>
                      <a:rPr lang="en-US" altLang="zh-TW" b="0" i="0" smtClean="0">
                        <a:latin typeface="Cambria Math" panose="02040503050406030204" pitchFamily="18" charset="0"/>
                        <a:ea typeface="Cambria Math" panose="02040503050406030204" pitchFamily="18" charset="0"/>
                      </a:rPr>
                      <m:t>−</m:t>
                    </m:r>
                    <m:r>
                      <m:rPr>
                        <m:sty m:val="p"/>
                      </m:rPr>
                      <a:rPr lang="el-GR" altLang="zh-TW" b="0" i="0" smtClean="0">
                        <a:latin typeface="Cambria Math" panose="02040503050406030204" pitchFamily="18" charset="0"/>
                        <a:ea typeface="Cambria Math" panose="02040503050406030204" pitchFamily="18" charset="0"/>
                      </a:rPr>
                      <m:t>Σ</m:t>
                    </m:r>
                    <m:r>
                      <m:rPr>
                        <m:sty m:val="p"/>
                      </m:rPr>
                      <a:rPr lang="en-US" altLang="zh-TW" b="0" i="0" smtClean="0">
                        <a:latin typeface="Cambria Math" panose="02040503050406030204" pitchFamily="18" charset="0"/>
                        <a:ea typeface="Cambria Math" panose="02040503050406030204" pitchFamily="18" charset="0"/>
                      </a:rPr>
                      <m:t>EL</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p</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Tile</m:t>
                    </m:r>
                    <m:r>
                      <a:rPr lang="en-US" altLang="zh-TW" b="0" i="0" smtClean="0">
                        <a:latin typeface="Cambria Math" panose="02040503050406030204" pitchFamily="18" charset="0"/>
                        <a:ea typeface="Cambria Math" panose="02040503050406030204" pitchFamily="18" charset="0"/>
                      </a:rPr>
                      <m:t>)</m:t>
                    </m:r>
                  </m:oMath>
                </a14:m>
                <a:endParaRPr lang="en" altLang="zh-TW" dirty="0">
                  <a:latin typeface="Times New Roman" panose="02020603050405020304" pitchFamily="18" charset="0"/>
                  <a:cs typeface="Times New Roman" panose="02020603050405020304" pitchFamily="18" charset="0"/>
                </a:endParaRPr>
              </a:p>
            </p:txBody>
          </p:sp>
        </mc:Choice>
        <mc:Fallback>
          <p:sp>
            <p:nvSpPr>
              <p:cNvPr id="20" name="內容版面配置區 2">
                <a:extLst>
                  <a:ext uri="{FF2B5EF4-FFF2-40B4-BE49-F238E27FC236}">
                    <a16:creationId xmlns:a16="http://schemas.microsoft.com/office/drawing/2014/main" id="{04667574-E899-C243-A9C9-27D205838382}"/>
                  </a:ext>
                </a:extLst>
              </p:cNvPr>
              <p:cNvSpPr>
                <a:spLocks noGrp="1" noRot="1" noChangeAspect="1" noMove="1" noResize="1" noEditPoints="1" noAdjustHandles="1" noChangeArrowheads="1" noChangeShapeType="1" noTextEdit="1"/>
              </p:cNvSpPr>
              <p:nvPr>
                <p:ph idx="1"/>
              </p:nvPr>
            </p:nvSpPr>
            <p:spPr>
              <a:xfrm>
                <a:off x="838200" y="1690688"/>
                <a:ext cx="10989688" cy="4324522"/>
              </a:xfrm>
              <a:blipFill>
                <a:blip r:embed="rId2"/>
                <a:stretch>
                  <a:fillRect l="-924" t="-14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74313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Flowchart of each player</a:t>
            </a:r>
            <a:endParaRPr kumimoji="1" lang="zh-TW" altLang="en-US" b="1" dirty="0">
              <a:latin typeface="Times New Roman" panose="02020603050405020304" pitchFamily="18" charset="0"/>
              <a:cs typeface="Times New Roman" panose="02020603050405020304" pitchFamily="18" charset="0"/>
            </a:endParaRPr>
          </a:p>
        </p:txBody>
      </p:sp>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838200" y="1690688"/>
            <a:ext cx="10989688" cy="4324522"/>
          </a:xfrm>
        </p:spPr>
        <p:txBody>
          <a:bodyPr>
            <a:normAutofit/>
          </a:bodyPr>
          <a:lstStyle/>
          <a:p>
            <a:pPr marL="0" indent="0">
              <a:buNone/>
            </a:pPr>
            <a:endParaRPr lang="en"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A207A8E-AB5D-D144-83C0-A680F6546F0B}"/>
              </a:ext>
            </a:extLst>
          </p:cNvPr>
          <p:cNvPicPr>
            <a:picLocks noChangeAspect="1"/>
          </p:cNvPicPr>
          <p:nvPr/>
        </p:nvPicPr>
        <p:blipFill>
          <a:blip r:embed="rId2"/>
          <a:stretch>
            <a:fillRect/>
          </a:stretch>
        </p:blipFill>
        <p:spPr>
          <a:xfrm>
            <a:off x="2635111" y="1891161"/>
            <a:ext cx="6921778" cy="3923575"/>
          </a:xfrm>
          <a:prstGeom prst="rect">
            <a:avLst/>
          </a:prstGeom>
        </p:spPr>
      </p:pic>
    </p:spTree>
    <p:extLst>
      <p:ext uri="{BB962C8B-B14F-4D97-AF65-F5344CB8AC3E}">
        <p14:creationId xmlns:p14="http://schemas.microsoft.com/office/powerpoint/2010/main" val="1671028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normAutofit/>
          </a:bodyPr>
          <a:lstStyle/>
          <a:p>
            <a:r>
              <a:rPr lang="en-US" altLang="zh-TW" sz="4000" b="1" dirty="0">
                <a:latin typeface="Times New Roman" panose="02020603050405020304" pitchFamily="18" charset="0"/>
                <a:cs typeface="Times New Roman" panose="02020603050405020304" pitchFamily="18" charset="0"/>
              </a:rPr>
              <a:t>Switching from one-player Mahjong moves to Monte Carlo moves</a:t>
            </a:r>
            <a:endParaRPr kumimoji="1" lang="zh-TW" altLang="en-US" sz="4000" b="1" dirty="0"/>
          </a:p>
        </p:txBody>
      </p:sp>
      <mc:AlternateContent xmlns:mc="http://schemas.openxmlformats.org/markup-compatibility/2006">
        <mc:Choice xmlns:a14="http://schemas.microsoft.com/office/drawing/2010/main" Requires="a14">
          <p:sp>
            <p:nvSpPr>
              <p:cNvPr id="20" name="內容版面配置區 2">
                <a:extLst>
                  <a:ext uri="{FF2B5EF4-FFF2-40B4-BE49-F238E27FC236}">
                    <a16:creationId xmlns:a16="http://schemas.microsoft.com/office/drawing/2014/main" id="{04667574-E899-C243-A9C9-27D205838382}"/>
                  </a:ext>
                </a:extLst>
              </p:cNvPr>
              <p:cNvSpPr>
                <a:spLocks noGrp="1"/>
              </p:cNvSpPr>
              <p:nvPr>
                <p:ph idx="1"/>
              </p:nvPr>
            </p:nvSpPr>
            <p:spPr>
              <a:xfrm>
                <a:off x="838200" y="1944079"/>
                <a:ext cx="10989688" cy="4324522"/>
              </a:xfrm>
            </p:spPr>
            <p:txBody>
              <a:bodyPr>
                <a:normAutofit/>
              </a:bodyPr>
              <a:lstStyle/>
              <a:p>
                <a14:m>
                  <m:oMath xmlns:m="http://schemas.openxmlformats.org/officeDocument/2006/math">
                    <m:d>
                      <m:dPr>
                        <m:begChr m:val="{"/>
                        <m:endChr m:val=""/>
                        <m:ctrlPr>
                          <a:rPr lang="en" altLang="zh-TW" smtClean="0">
                            <a:latin typeface="Cambria Math" panose="02040503050406030204" pitchFamily="18" charset="0"/>
                          </a:rPr>
                        </m:ctrlPr>
                      </m:dPr>
                      <m:e>
                        <m:eqArr>
                          <m:eqArrPr>
                            <m:ctrlPr>
                              <a:rPr lang="en" altLang="zh-TW" smtClean="0">
                                <a:latin typeface="Cambria Math" panose="02040503050406030204" pitchFamily="18" charset="0"/>
                              </a:rPr>
                            </m:ctrlPr>
                          </m:eqArrPr>
                          <m:e>
                            <m:r>
                              <m:rPr>
                                <m:sty m:val="p"/>
                              </m:rPr>
                              <a:rPr lang="en-US" altLang="zh-TW" b="0" i="0" smtClean="0">
                                <a:latin typeface="Cambria Math" panose="02040503050406030204" pitchFamily="18" charset="0"/>
                              </a:rPr>
                              <m:t>One</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player</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Mahjong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moves</m:t>
                            </m:r>
                            <m:r>
                              <a:rPr lang="en-US" altLang="zh-TW" b="0" i="0" smtClean="0">
                                <a:latin typeface="Cambria Math" panose="02040503050406030204" pitchFamily="18" charset="0"/>
                              </a:rPr>
                              <m:t> , </m:t>
                            </m:r>
                            <m:r>
                              <m:rPr>
                                <m:sty m:val="p"/>
                              </m:rPr>
                              <a:rPr lang="en-US" altLang="zh-TW" b="0" i="0" smtClean="0">
                                <a:latin typeface="Cambria Math" panose="02040503050406030204" pitchFamily="18" charset="0"/>
                              </a:rPr>
                              <m:t>if</m:t>
                            </m:r>
                            <m:r>
                              <a:rPr lang="en-US" altLang="zh-TW" b="0" i="0" smtClean="0">
                                <a:latin typeface="Cambria Math" panose="02040503050406030204" pitchFamily="18" charset="0"/>
                              </a:rPr>
                              <m:t> (</m:t>
                            </m:r>
                            <m:f>
                              <m:fPr>
                                <m:ctrlPr>
                                  <a:rPr lang="en-US" altLang="zh-TW" smtClean="0">
                                    <a:latin typeface="Cambria Math" panose="02040503050406030204" pitchFamily="18" charset="0"/>
                                  </a:rPr>
                                </m:ctrlPr>
                              </m:fPr>
                              <m:num>
                                <m:r>
                                  <m:rPr>
                                    <m:sty m:val="p"/>
                                  </m:rPr>
                                  <a:rPr lang="el-GR" altLang="zh-TW" b="0" i="0" smtClean="0">
                                    <a:latin typeface="Cambria Math" panose="02040503050406030204" pitchFamily="18" charset="0"/>
                                    <a:ea typeface="Cambria Math" panose="02040503050406030204" pitchFamily="18" charset="0"/>
                                  </a:rPr>
                                  <m:t>Σ</m:t>
                                </m:r>
                                <m:r>
                                  <m:rPr>
                                    <m:sty m:val="p"/>
                                  </m:rPr>
                                  <a:rPr lang="en-US" altLang="zh-TW" b="0" i="0" smtClean="0">
                                    <a:latin typeface="Cambria Math" panose="02040503050406030204" pitchFamily="18" charset="0"/>
                                    <a:ea typeface="Cambria Math" panose="02040503050406030204" pitchFamily="18" charset="0"/>
                                  </a:rPr>
                                  <m:t>EL</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p</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Tile</m:t>
                                </m:r>
                                <m:r>
                                  <a:rPr lang="en-US" altLang="zh-TW" b="0" i="0" smtClean="0">
                                    <a:latin typeface="Cambria Math" panose="02040503050406030204" pitchFamily="18" charset="0"/>
                                    <a:ea typeface="Cambria Math" panose="02040503050406030204" pitchFamily="18" charset="0"/>
                                  </a:rPr>
                                  <m:t>)</m:t>
                                </m:r>
                              </m:num>
                              <m:den>
                                <m:r>
                                  <m:rPr>
                                    <m:sty m:val="p"/>
                                  </m:rPr>
                                  <a:rPr lang="en-US" altLang="zh-TW" b="0" i="0" smtClean="0">
                                    <a:latin typeface="Cambria Math" panose="02040503050406030204" pitchFamily="18" charset="0"/>
                                  </a:rPr>
                                  <m:t>fold</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value</m:t>
                                </m:r>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α</m:t>
                            </m:r>
                            <m:r>
                              <a:rPr lang="en-US" altLang="zh-TW" b="0" i="0" smtClean="0">
                                <a:latin typeface="Cambria Math" panose="02040503050406030204" pitchFamily="18" charset="0"/>
                              </a:rPr>
                              <m:t>)</m:t>
                            </m:r>
                          </m:e>
                          <m:e>
                            <m:r>
                              <m:rPr>
                                <m:sty m:val="p"/>
                              </m:rPr>
                              <a:rPr lang="en-US" altLang="zh-TW" b="0" i="0" smtClean="0">
                                <a:latin typeface="Cambria Math" panose="02040503050406030204" pitchFamily="18" charset="0"/>
                              </a:rPr>
                              <m:t>Monte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Carlo</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moves</m:t>
                            </m:r>
                            <m:r>
                              <a:rPr lang="en-US" altLang="zh-TW" b="0" i="0" smtClean="0">
                                <a:latin typeface="Cambria Math" panose="02040503050406030204" pitchFamily="18" charset="0"/>
                              </a:rPr>
                              <m:t> , </m:t>
                            </m:r>
                            <m:r>
                              <m:rPr>
                                <m:sty m:val="p"/>
                              </m:rPr>
                              <a:rPr lang="en-US" altLang="zh-TW" b="0" i="0" smtClean="0">
                                <a:latin typeface="Cambria Math" panose="02040503050406030204" pitchFamily="18" charset="0"/>
                              </a:rPr>
                              <m:t>otherwise</m:t>
                            </m:r>
                          </m:e>
                        </m:eqArr>
                      </m:e>
                    </m:d>
                  </m:oMath>
                </a14:m>
                <a:endParaRPr lang="en" altLang="zh-TW" dirty="0">
                  <a:latin typeface="Times New Roman" panose="02020603050405020304" pitchFamily="18" charset="0"/>
                  <a:cs typeface="Times New Roman" panose="02020603050405020304" pitchFamily="18" charset="0"/>
                </a:endParaRPr>
              </a:p>
            </p:txBody>
          </p:sp>
        </mc:Choice>
        <mc:Fallback>
          <p:sp>
            <p:nvSpPr>
              <p:cNvPr id="20" name="內容版面配置區 2">
                <a:extLst>
                  <a:ext uri="{FF2B5EF4-FFF2-40B4-BE49-F238E27FC236}">
                    <a16:creationId xmlns:a16="http://schemas.microsoft.com/office/drawing/2014/main" id="{04667574-E899-C243-A9C9-27D205838382}"/>
                  </a:ext>
                </a:extLst>
              </p:cNvPr>
              <p:cNvSpPr>
                <a:spLocks noGrp="1" noRot="1" noChangeAspect="1" noMove="1" noResize="1" noEditPoints="1" noAdjustHandles="1" noChangeArrowheads="1" noChangeShapeType="1" noTextEdit="1"/>
              </p:cNvSpPr>
              <p:nvPr>
                <p:ph idx="1"/>
              </p:nvPr>
            </p:nvSpPr>
            <p:spPr>
              <a:xfrm>
                <a:off x="838200" y="1944079"/>
                <a:ext cx="10989688" cy="4324522"/>
              </a:xfrm>
              <a:blipFill>
                <a:blip r:embed="rId2"/>
                <a:stretch>
                  <a:fillRect l="-20785" t="-74854" b="-3567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660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DA011-6D52-0B4C-9D7A-E709D1BB4791}"/>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Experiment</a:t>
            </a:r>
            <a:endParaRPr kumimoji="1" lang="zh-TW" altLang="en-US" b="1" dirty="0"/>
          </a:p>
        </p:txBody>
      </p:sp>
      <p:pic>
        <p:nvPicPr>
          <p:cNvPr id="4" name="內容版面配置區 3">
            <a:extLst>
              <a:ext uri="{FF2B5EF4-FFF2-40B4-BE49-F238E27FC236}">
                <a16:creationId xmlns:a16="http://schemas.microsoft.com/office/drawing/2014/main" id="{FEA55B50-A737-5C4C-B66D-D38BCBBD6003}"/>
              </a:ext>
            </a:extLst>
          </p:cNvPr>
          <p:cNvPicPr>
            <a:picLocks noGrp="1" noChangeAspect="1"/>
          </p:cNvPicPr>
          <p:nvPr>
            <p:ph idx="1"/>
          </p:nvPr>
        </p:nvPicPr>
        <p:blipFill>
          <a:blip r:embed="rId2"/>
          <a:stretch>
            <a:fillRect/>
          </a:stretch>
        </p:blipFill>
        <p:spPr>
          <a:xfrm>
            <a:off x="3166788" y="1875613"/>
            <a:ext cx="5858424" cy="2942173"/>
          </a:xfrm>
        </p:spPr>
      </p:pic>
      <p:pic>
        <p:nvPicPr>
          <p:cNvPr id="6" name="圖片 5">
            <a:extLst>
              <a:ext uri="{FF2B5EF4-FFF2-40B4-BE49-F238E27FC236}">
                <a16:creationId xmlns:a16="http://schemas.microsoft.com/office/drawing/2014/main" id="{F5C771C6-9FE6-5645-9109-BF435424B178}"/>
              </a:ext>
            </a:extLst>
          </p:cNvPr>
          <p:cNvPicPr>
            <a:picLocks noChangeAspect="1"/>
          </p:cNvPicPr>
          <p:nvPr/>
        </p:nvPicPr>
        <p:blipFill>
          <a:blip r:embed="rId3"/>
          <a:stretch>
            <a:fillRect/>
          </a:stretch>
        </p:blipFill>
        <p:spPr>
          <a:xfrm>
            <a:off x="1454150" y="5002711"/>
            <a:ext cx="9283700" cy="1143000"/>
          </a:xfrm>
          <a:prstGeom prst="rect">
            <a:avLst/>
          </a:prstGeom>
        </p:spPr>
      </p:pic>
    </p:spTree>
    <p:extLst>
      <p:ext uri="{BB962C8B-B14F-4D97-AF65-F5344CB8AC3E}">
        <p14:creationId xmlns:p14="http://schemas.microsoft.com/office/powerpoint/2010/main" val="5693240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4962</TotalTime>
  <Words>472</Words>
  <Application>Microsoft Macintosh PowerPoint</Application>
  <PresentationFormat>寬螢幕</PresentationFormat>
  <Paragraphs>43</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Arial</vt:lpstr>
      <vt:lpstr>Calibri</vt:lpstr>
      <vt:lpstr>Calibri Light</vt:lpstr>
      <vt:lpstr>Cambria Math</vt:lpstr>
      <vt:lpstr>Times New Roman</vt:lpstr>
      <vt:lpstr>Office 佈景主題</vt:lpstr>
      <vt:lpstr>Building a Computer Mahjong Player Based on Monte Carlo Simulation and Opponent Models </vt:lpstr>
      <vt:lpstr>Abstract</vt:lpstr>
      <vt:lpstr>Mahjong</vt:lpstr>
      <vt:lpstr>Mahjong</vt:lpstr>
      <vt:lpstr>One-player Mahjong moves</vt:lpstr>
      <vt:lpstr>Three prediction models</vt:lpstr>
      <vt:lpstr>Prediction of waiting </vt:lpstr>
      <vt:lpstr>Prediction of winning tiles </vt:lpstr>
      <vt:lpstr>Prediction of scores</vt:lpstr>
      <vt:lpstr>Monte Carlo moves</vt:lpstr>
      <vt:lpstr>Flowchart of each player</vt:lpstr>
      <vt:lpstr>Switching from one-player Mahjong moves to Monte Carlo moves</vt:lpstr>
      <vt:lpstr>Experiment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Human-Level Performance in Solving Double Dummy Bridge Problem</dc:title>
  <dc:creator>Microsoft Office User</dc:creator>
  <cp:lastModifiedBy>Microsoft Office User</cp:lastModifiedBy>
  <cp:revision>43</cp:revision>
  <dcterms:created xsi:type="dcterms:W3CDTF">2022-06-20T02:55:32Z</dcterms:created>
  <dcterms:modified xsi:type="dcterms:W3CDTF">2022-07-05T09:28:54Z</dcterms:modified>
</cp:coreProperties>
</file>