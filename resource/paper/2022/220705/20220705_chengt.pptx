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8" r:id="rId3"/>
    <p:sldId id="259" r:id="rId4"/>
    <p:sldId id="265" r:id="rId5"/>
    <p:sldId id="262" r:id="rId6"/>
    <p:sldId id="263" r:id="rId7"/>
    <p:sldId id="264" r:id="rId8"/>
    <p:sldId id="267" r:id="rId9"/>
    <p:sldId id="268" r:id="rId10"/>
    <p:sldId id="270" r:id="rId11"/>
    <p:sldId id="271" r:id="rId12"/>
    <p:sldId id="272" r:id="rId13"/>
    <p:sldId id="273"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2022/7/4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2022/7/4</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2022/7/4</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2022/7/4</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2022/7/4</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2022/7/4</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2022/7/4</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2022/7/4</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a:xfrm>
            <a:off x="513806" y="1122363"/>
            <a:ext cx="11164389" cy="2387600"/>
          </a:xfrm>
        </p:spPr>
        <p:txBody>
          <a:bodyPr/>
          <a:lstStyle/>
          <a:p>
            <a:r>
              <a:rPr lang="en-US" altLang="zh-TW" dirty="0">
                <a:latin typeface="Times New Roman" panose="02020603050405020304" pitchFamily="18" charset="0"/>
                <a:cs typeface="Times New Roman" panose="02020603050405020304" pitchFamily="18" charset="0"/>
              </a:rPr>
              <a:t>Efficient Pattern Matching on Binary Strings</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normAutofit/>
          </a:bodyPr>
          <a:lstStyle/>
          <a:p>
            <a:r>
              <a:rPr lang="en-US" altLang="zh-TW" dirty="0"/>
              <a:t>S.</a:t>
            </a:r>
            <a:r>
              <a:rPr lang="zh-TW" altLang="en-US" dirty="0"/>
              <a:t> </a:t>
            </a:r>
            <a:r>
              <a:rPr lang="en-US" altLang="zh-TW" dirty="0"/>
              <a:t>Faro, T. </a:t>
            </a:r>
            <a:r>
              <a:rPr lang="en-US" altLang="zh-TW" dirty="0" err="1"/>
              <a:t>Lecroq</a:t>
            </a:r>
            <a:r>
              <a:rPr lang="en-US" altLang="zh-TW" dirty="0"/>
              <a:t>,</a:t>
            </a:r>
          </a:p>
          <a:p>
            <a:r>
              <a:rPr lang="en-US" altLang="zh-TW" dirty="0"/>
              <a:t>Proceedings of the 35th International Conference on Current Trends in Theory and Practice of Computer Science, 2009</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D2AB8FE2-23CB-4533-87D5-C2F44C82D244}"/>
              </a:ext>
            </a:extLst>
          </p:cNvPr>
          <p:cNvSpPr txBox="1"/>
          <p:nvPr/>
        </p:nvSpPr>
        <p:spPr>
          <a:xfrm>
            <a:off x="9067060" y="6150114"/>
            <a:ext cx="3124940" cy="707886"/>
          </a:xfrm>
          <a:prstGeom prst="rect">
            <a:avLst/>
          </a:prstGeom>
          <a:noFill/>
        </p:spPr>
        <p:txBody>
          <a:bodyPr wrap="square" rtlCol="0">
            <a:spAutoFit/>
          </a:bodyPr>
          <a:lstStyle/>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Date: July 5, 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a:xfrm>
            <a:off x="838200" y="1825624"/>
            <a:ext cx="10515600" cy="4530725"/>
          </a:xfrm>
        </p:spPr>
        <p:txBody>
          <a:bodyPr>
            <a:normAutofit fontScale="92500" lnSpcReduction="10000"/>
          </a:bodyPr>
          <a:lstStyle/>
          <a:p>
            <a:pPr marL="0" indent="0">
              <a:buNone/>
            </a:pPr>
            <a:r>
              <a:rPr lang="en-US" altLang="zh-TW" dirty="0"/>
              <a:t>The binary string matching problem consists in ﬁnding all the occurrences of a pattern in a text where both strings are built on a binary alphabet. This is an interesting problem in computer science, since binary data are omnipresent in telecom and computer network applications. Moreover the problem ﬁnds applications also in the ﬁeld of image processing and in pattern matching on compressed texts. Recently it has been shown that adaptations of classical exact string matching algorithms are not very eﬃcient on binary data. In this paper we present two eﬃcient algorithms for the problem adapted to completely avoid any reference to bits allowing to process pattern and text byte by byte.</a:t>
            </a:r>
          </a:p>
          <a:p>
            <a:pPr marL="0" indent="0">
              <a:buNone/>
            </a:pPr>
            <a:r>
              <a:rPr lang="en-US" altLang="zh-TW" dirty="0"/>
              <a:t>Experimental results show that the new algorithms outperform existing</a:t>
            </a:r>
          </a:p>
          <a:p>
            <a:pPr marL="0" indent="0">
              <a:buNone/>
            </a:pPr>
            <a:r>
              <a:rPr lang="en-US" altLang="zh-TW" dirty="0"/>
              <a:t>solutions in most cases.</a:t>
            </a:r>
            <a:endParaRPr lang="zh-TW" altLang="en-US"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7F1A4F-6E45-C1F3-962A-A8D9C75A7704}"/>
              </a:ext>
            </a:extLst>
          </p:cNvPr>
          <p:cNvSpPr>
            <a:spLocks noGrp="1"/>
          </p:cNvSpPr>
          <p:nvPr>
            <p:ph type="title"/>
          </p:nvPr>
        </p:nvSpPr>
        <p:spPr/>
        <p:txBody>
          <a:bodyPr/>
          <a:lstStyle/>
          <a:p>
            <a:r>
              <a:rPr lang="en-US" altLang="zh-TW" dirty="0"/>
              <a:t>Binary String Matching</a:t>
            </a:r>
            <a:endParaRPr lang="zh-TW" altLang="en-US" dirty="0"/>
          </a:p>
        </p:txBody>
      </p:sp>
      <p:sp>
        <p:nvSpPr>
          <p:cNvPr id="3" name="內容版面配置區 2">
            <a:extLst>
              <a:ext uri="{FF2B5EF4-FFF2-40B4-BE49-F238E27FC236}">
                <a16:creationId xmlns:a16="http://schemas.microsoft.com/office/drawing/2014/main" id="{7E5307E8-F7EC-437B-3068-D9AD5482808F}"/>
              </a:ext>
            </a:extLst>
          </p:cNvPr>
          <p:cNvSpPr>
            <a:spLocks noGrp="1"/>
          </p:cNvSpPr>
          <p:nvPr>
            <p:ph idx="1"/>
          </p:nvPr>
        </p:nvSpPr>
        <p:spPr/>
        <p:txBody>
          <a:bodyPr/>
          <a:lstStyle/>
          <a:p>
            <a:r>
              <a:rPr lang="en-US" altLang="zh-TW" dirty="0"/>
              <a:t>t</a:t>
            </a:r>
          </a:p>
          <a:p>
            <a:pPr lvl="1"/>
            <a:r>
              <a:rPr lang="en-US" altLang="zh-TW" dirty="0"/>
              <a:t> 01100100 10</a:t>
            </a:r>
            <a:r>
              <a:rPr lang="en-US" altLang="zh-TW" dirty="0">
                <a:solidFill>
                  <a:srgbClr val="FF0000"/>
                </a:solidFill>
              </a:rPr>
              <a:t>001001</a:t>
            </a:r>
            <a:r>
              <a:rPr lang="en-US" altLang="zh-TW" dirty="0"/>
              <a:t> </a:t>
            </a:r>
            <a:r>
              <a:rPr lang="en-US" altLang="zh-TW" dirty="0">
                <a:solidFill>
                  <a:srgbClr val="FF0000"/>
                </a:solidFill>
              </a:rPr>
              <a:t>10100</a:t>
            </a:r>
            <a:r>
              <a:rPr lang="en-US" altLang="zh-TW" dirty="0"/>
              <a:t>101 00010100 1001</a:t>
            </a:r>
          </a:p>
          <a:p>
            <a:r>
              <a:rPr lang="en-US" altLang="zh-TW" dirty="0"/>
              <a:t>p </a:t>
            </a:r>
          </a:p>
          <a:p>
            <a:pPr lvl="1"/>
            <a:r>
              <a:rPr lang="en-US" altLang="zh-TW" dirty="0"/>
              <a:t> </a:t>
            </a:r>
            <a:r>
              <a:rPr lang="en-US" altLang="zh-TW" dirty="0">
                <a:solidFill>
                  <a:srgbClr val="FF0000"/>
                </a:solidFill>
              </a:rPr>
              <a:t>01001 10100</a:t>
            </a:r>
          </a:p>
          <a:p>
            <a:pPr lvl="1"/>
            <a:endParaRPr lang="en-US" altLang="zh-TW" dirty="0">
              <a:solidFill>
                <a:srgbClr val="FF0000"/>
              </a:solidFill>
            </a:endParaRPr>
          </a:p>
          <a:p>
            <a:r>
              <a:rPr lang="en-US" altLang="zh-TW" dirty="0"/>
              <a:t>Basic Concept</a:t>
            </a:r>
          </a:p>
          <a:p>
            <a:pPr lvl="1"/>
            <a:r>
              <a:rPr lang="en-US" altLang="zh-TW" dirty="0"/>
              <a:t>Divide into blocks</a:t>
            </a:r>
            <a:endParaRPr lang="zh-TW" altLang="en-US" dirty="0"/>
          </a:p>
        </p:txBody>
      </p:sp>
      <p:sp>
        <p:nvSpPr>
          <p:cNvPr id="4" name="投影片編號版面配置區 3">
            <a:extLst>
              <a:ext uri="{FF2B5EF4-FFF2-40B4-BE49-F238E27FC236}">
                <a16:creationId xmlns:a16="http://schemas.microsoft.com/office/drawing/2014/main" id="{3C7C6305-5D82-A96C-BBB7-AFDDE8ED8069}"/>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spTree>
    <p:extLst>
      <p:ext uri="{BB962C8B-B14F-4D97-AF65-F5344CB8AC3E}">
        <p14:creationId xmlns:p14="http://schemas.microsoft.com/office/powerpoint/2010/main" val="2639175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11F1EB-3B1E-E0F2-45CE-D013E89F0B97}"/>
              </a:ext>
            </a:extLst>
          </p:cNvPr>
          <p:cNvSpPr>
            <a:spLocks noGrp="1"/>
          </p:cNvSpPr>
          <p:nvPr>
            <p:ph type="title"/>
          </p:nvPr>
        </p:nvSpPr>
        <p:spPr/>
        <p:txBody>
          <a:bodyPr/>
          <a:lstStyle/>
          <a:p>
            <a:r>
              <a:rPr lang="en-US" altLang="zh-TW" dirty="0"/>
              <a:t>Preprocessing</a:t>
            </a:r>
            <a:endParaRPr lang="zh-TW" altLang="en-US" dirty="0"/>
          </a:p>
        </p:txBody>
      </p:sp>
      <p:graphicFrame>
        <p:nvGraphicFramePr>
          <p:cNvPr id="5" name="表格 5">
            <a:extLst>
              <a:ext uri="{FF2B5EF4-FFF2-40B4-BE49-F238E27FC236}">
                <a16:creationId xmlns:a16="http://schemas.microsoft.com/office/drawing/2014/main" id="{975D871D-26FD-94AC-F8D4-D36CE095E26D}"/>
              </a:ext>
            </a:extLst>
          </p:cNvPr>
          <p:cNvGraphicFramePr>
            <a:graphicFrameLocks noGrp="1"/>
          </p:cNvGraphicFramePr>
          <p:nvPr>
            <p:ph idx="1"/>
            <p:extLst>
              <p:ext uri="{D42A27DB-BD31-4B8C-83A1-F6EECF244321}">
                <p14:modId xmlns:p14="http://schemas.microsoft.com/office/powerpoint/2010/main" val="2002076243"/>
              </p:ext>
            </p:extLst>
          </p:nvPr>
        </p:nvGraphicFramePr>
        <p:xfrm>
          <a:off x="1532246" y="1966119"/>
          <a:ext cx="9127507" cy="4114800"/>
        </p:xfrm>
        <a:graphic>
          <a:graphicData uri="http://schemas.openxmlformats.org/drawingml/2006/table">
            <a:tbl>
              <a:tblPr firstRow="1" bandRow="1">
                <a:tableStyleId>{5940675A-B579-460E-94D1-54222C63F5DA}</a:tableStyleId>
              </a:tblPr>
              <a:tblGrid>
                <a:gridCol w="2086138">
                  <a:extLst>
                    <a:ext uri="{9D8B030D-6E8A-4147-A177-3AD203B41FA5}">
                      <a16:colId xmlns:a16="http://schemas.microsoft.com/office/drawing/2014/main" val="869712977"/>
                    </a:ext>
                  </a:extLst>
                </a:gridCol>
                <a:gridCol w="2086138">
                  <a:extLst>
                    <a:ext uri="{9D8B030D-6E8A-4147-A177-3AD203B41FA5}">
                      <a16:colId xmlns:a16="http://schemas.microsoft.com/office/drawing/2014/main" val="4100637796"/>
                    </a:ext>
                  </a:extLst>
                </a:gridCol>
                <a:gridCol w="2086138">
                  <a:extLst>
                    <a:ext uri="{9D8B030D-6E8A-4147-A177-3AD203B41FA5}">
                      <a16:colId xmlns:a16="http://schemas.microsoft.com/office/drawing/2014/main" val="2997659134"/>
                    </a:ext>
                  </a:extLst>
                </a:gridCol>
                <a:gridCol w="2086138">
                  <a:extLst>
                    <a:ext uri="{9D8B030D-6E8A-4147-A177-3AD203B41FA5}">
                      <a16:colId xmlns:a16="http://schemas.microsoft.com/office/drawing/2014/main" val="47737438"/>
                    </a:ext>
                  </a:extLst>
                </a:gridCol>
                <a:gridCol w="782955">
                  <a:extLst>
                    <a:ext uri="{9D8B030D-6E8A-4147-A177-3AD203B41FA5}">
                      <a16:colId xmlns:a16="http://schemas.microsoft.com/office/drawing/2014/main" val="2240535705"/>
                    </a:ext>
                  </a:extLst>
                </a:gridCol>
              </a:tblGrid>
              <a:tr h="370840">
                <a:tc>
                  <a:txBody>
                    <a:bodyPr/>
                    <a:lstStyle/>
                    <a:p>
                      <a:r>
                        <a:rPr lang="en-US" altLang="zh-TW" sz="2400" dirty="0" err="1">
                          <a:latin typeface="Times New Roman" panose="02020603050405020304" pitchFamily="18" charset="0"/>
                          <a:cs typeface="Times New Roman" panose="02020603050405020304" pitchFamily="18" charset="0"/>
                        </a:rPr>
                        <a:t>Patt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Last</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156899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0</a:t>
                      </a:r>
                    </a:p>
                  </a:txBody>
                  <a:tcPr/>
                </a:tc>
                <a:tc>
                  <a:txBody>
                    <a:bodyPr/>
                    <a:lstStyle/>
                    <a:p>
                      <a:pPr algn="r"/>
                      <a:r>
                        <a:rPr lang="en-US" altLang="zh-TW" sz="2400" dirty="0">
                          <a:latin typeface="Times New Roman" panose="02020603050405020304" pitchFamily="18" charset="0"/>
                          <a:cs typeface="Times New Roman" panose="02020603050405020304" pitchFamily="18" charset="0"/>
                        </a:rPr>
                        <a:t>01001101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00</a:t>
                      </a:r>
                      <a:r>
                        <a:rPr lang="en-US" altLang="zh-TW" sz="2400" dirty="0">
                          <a:solidFill>
                            <a:schemeClr val="accent2"/>
                          </a:solidFill>
                          <a:latin typeface="Times New Roman" panose="02020603050405020304" pitchFamily="18" charset="0"/>
                          <a:cs typeface="Times New Roman" panose="02020603050405020304" pitchFamily="18" charset="0"/>
                        </a:rPr>
                        <a:t>000000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494346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a:t>
                      </a:r>
                      <a:r>
                        <a:rPr lang="en-US" altLang="zh-TW" sz="2400" dirty="0">
                          <a:latin typeface="Times New Roman" panose="02020603050405020304" pitchFamily="18" charset="0"/>
                          <a:cs typeface="Times New Roman" panose="02020603050405020304" pitchFamily="18" charset="0"/>
                        </a:rPr>
                        <a:t>0100110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100</a:t>
                      </a:r>
                      <a:r>
                        <a:rPr lang="en-US" altLang="zh-TW" sz="2400" dirty="0">
                          <a:solidFill>
                            <a:schemeClr val="accent2"/>
                          </a:solidFill>
                          <a:latin typeface="Times New Roman" panose="02020603050405020304" pitchFamily="18" charset="0"/>
                          <a:cs typeface="Times New Roman" panose="02020603050405020304" pitchFamily="18" charset="0"/>
                        </a:rPr>
                        <a:t>00000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699097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a:t>
                      </a:r>
                      <a:r>
                        <a:rPr lang="en-US" altLang="zh-TW" sz="2400" dirty="0">
                          <a:latin typeface="Times New Roman" panose="02020603050405020304" pitchFamily="18" charset="0"/>
                          <a:cs typeface="Times New Roman" panose="02020603050405020304" pitchFamily="18" charset="0"/>
                        </a:rPr>
                        <a:t>010011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0100</a:t>
                      </a:r>
                      <a:r>
                        <a:rPr lang="en-US" altLang="zh-TW" sz="2400" dirty="0">
                          <a:solidFill>
                            <a:schemeClr val="accent2"/>
                          </a:solidFill>
                          <a:latin typeface="Times New Roman" panose="02020603050405020304" pitchFamily="18" charset="0"/>
                          <a:cs typeface="Times New Roman" panose="02020603050405020304" pitchFamily="18" charset="0"/>
                        </a:rPr>
                        <a:t>0000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73338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a:t>
                      </a:r>
                      <a:r>
                        <a:rPr lang="en-US" altLang="zh-TW" sz="2400" dirty="0">
                          <a:latin typeface="Times New Roman" panose="02020603050405020304" pitchFamily="18" charset="0"/>
                          <a:cs typeface="Times New Roman" panose="02020603050405020304" pitchFamily="18" charset="0"/>
                        </a:rPr>
                        <a:t>01001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10100</a:t>
                      </a:r>
                      <a:r>
                        <a:rPr lang="en-US" altLang="zh-TW" sz="2400" dirty="0">
                          <a:solidFill>
                            <a:schemeClr val="accent2"/>
                          </a:solidFill>
                          <a:latin typeface="Times New Roman" panose="02020603050405020304" pitchFamily="18" charset="0"/>
                          <a:cs typeface="Times New Roman" panose="02020603050405020304" pitchFamily="18" charset="0"/>
                        </a:rPr>
                        <a:t>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532279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a:t>
                      </a:r>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110100</a:t>
                      </a:r>
                      <a:r>
                        <a:rPr lang="en-US" altLang="zh-TW" sz="2400" dirty="0">
                          <a:solidFill>
                            <a:schemeClr val="accent2"/>
                          </a:solidFill>
                          <a:latin typeface="Times New Roman" panose="02020603050405020304" pitchFamily="18" charset="0"/>
                          <a:cs typeface="Times New Roman" panose="02020603050405020304" pitchFamily="18" charset="0"/>
                        </a:rPr>
                        <a:t>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63624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a:t>
                      </a:r>
                      <a:r>
                        <a:rPr lang="en-US" altLang="zh-TW" sz="2400" dirty="0">
                          <a:latin typeface="Times New Roman" panose="02020603050405020304" pitchFamily="18" charset="0"/>
                          <a:cs typeface="Times New Roman" panose="02020603050405020304" pitchFamily="18" charset="0"/>
                        </a:rPr>
                        <a:t>010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0110100</a:t>
                      </a:r>
                      <a:r>
                        <a:rPr lang="en-US" altLang="zh-TW" sz="2400" dirty="0">
                          <a:solidFill>
                            <a:schemeClr val="accent2"/>
                          </a:solidFill>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320979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000000</a:t>
                      </a:r>
                      <a:r>
                        <a:rPr lang="en-US" altLang="zh-TW" sz="2400" dirty="0">
                          <a:latin typeface="Times New Roman" panose="02020603050405020304" pitchFamily="18" charset="0"/>
                          <a:cs typeface="Times New Roman" panose="02020603050405020304" pitchFamily="18" charset="0"/>
                        </a:rPr>
                        <a:t>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00110100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4641099"/>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0000000</a:t>
                      </a: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10011010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a:t>
                      </a:r>
                      <a:r>
                        <a:rPr lang="en-US" altLang="zh-TW" sz="2400" dirty="0">
                          <a:solidFill>
                            <a:schemeClr val="accent2"/>
                          </a:solidFill>
                          <a:latin typeface="Times New Roman" panose="02020603050405020304" pitchFamily="18" charset="0"/>
                          <a:cs typeface="Times New Roman" panose="02020603050405020304" pitchFamily="18" charset="0"/>
                        </a:rPr>
                        <a:t>0000000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300573"/>
                  </a:ext>
                </a:extLst>
              </a:tr>
            </a:tbl>
          </a:graphicData>
        </a:graphic>
      </p:graphicFrame>
      <p:sp>
        <p:nvSpPr>
          <p:cNvPr id="4" name="投影片編號版面配置區 3">
            <a:extLst>
              <a:ext uri="{FF2B5EF4-FFF2-40B4-BE49-F238E27FC236}">
                <a16:creationId xmlns:a16="http://schemas.microsoft.com/office/drawing/2014/main" id="{74DD1AD7-29A9-23F3-2ED7-767466F2338E}"/>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
        <p:nvSpPr>
          <p:cNvPr id="6" name="右大括弧 5">
            <a:extLst>
              <a:ext uri="{FF2B5EF4-FFF2-40B4-BE49-F238E27FC236}">
                <a16:creationId xmlns:a16="http://schemas.microsoft.com/office/drawing/2014/main" id="{1D22DA54-2023-36EB-381B-AC19B9F9C81C}"/>
              </a:ext>
            </a:extLst>
          </p:cNvPr>
          <p:cNvSpPr/>
          <p:nvPr/>
        </p:nvSpPr>
        <p:spPr>
          <a:xfrm rot="5400000" flipV="1">
            <a:off x="4524067" y="5217864"/>
            <a:ext cx="297905" cy="207264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437B348A-E82D-5E47-4E73-38D541696B54}"/>
              </a:ext>
            </a:extLst>
          </p:cNvPr>
          <p:cNvSpPr txBox="1"/>
          <p:nvPr/>
        </p:nvSpPr>
        <p:spPr>
          <a:xfrm>
            <a:off x="3222169" y="6308079"/>
            <a:ext cx="2901699" cy="461665"/>
          </a:xfrm>
          <a:prstGeom prst="rect">
            <a:avLst/>
          </a:prstGeom>
          <a:noFill/>
        </p:spPr>
        <p:txBody>
          <a:bodyPr wrap="square" rtlCol="0">
            <a:spAutoFit/>
          </a:bodyPr>
          <a:lstStyle/>
          <a:p>
            <a:pPr algn="ctr"/>
            <a:r>
              <a:rPr lang="en-US" altLang="zh-TW" sz="2400" i="1" dirty="0">
                <a:latin typeface="Times New Roman" panose="02020603050405020304" pitchFamily="18" charset="0"/>
                <a:cs typeface="Times New Roman" panose="02020603050405020304" pitchFamily="18" charset="0"/>
              </a:rPr>
              <a:t>k</a:t>
            </a:r>
            <a:r>
              <a:rPr lang="en-US" altLang="zh-TW" sz="2400" dirty="0">
                <a:latin typeface="Times New Roman" panose="02020603050405020304" pitchFamily="18" charset="0"/>
                <a:cs typeface="Times New Roman" panose="02020603050405020304" pitchFamily="18" charset="0"/>
              </a:rPr>
              <a:t> bits per block</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A24C301-F6EC-56A4-6E96-68A8C3DE17C2}"/>
              </a:ext>
            </a:extLst>
          </p:cNvPr>
          <p:cNvSpPr txBox="1"/>
          <p:nvPr/>
        </p:nvSpPr>
        <p:spPr>
          <a:xfrm>
            <a:off x="7219407" y="6308079"/>
            <a:ext cx="3202142"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Time Complexity:</a:t>
            </a:r>
            <a:r>
              <a:rPr lang="en-US" altLang="zh-TW" sz="2400" i="1" dirty="0">
                <a:latin typeface="Times New Roman" panose="02020603050405020304" pitchFamily="18" charset="0"/>
                <a:cs typeface="Times New Roman" panose="02020603050405020304" pitchFamily="18" charset="0"/>
              </a:rPr>
              <a:t> O(m)</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7413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F18EE6-8557-40A4-8304-69ED650F8E5C}"/>
              </a:ext>
            </a:extLst>
          </p:cNvPr>
          <p:cNvSpPr>
            <a:spLocks noGrp="1"/>
          </p:cNvSpPr>
          <p:nvPr>
            <p:ph type="title"/>
          </p:nvPr>
        </p:nvSpPr>
        <p:spPr/>
        <p:txBody>
          <a:bodyPr/>
          <a:lstStyle/>
          <a:p>
            <a:r>
              <a:rPr lang="en-US" altLang="zh-TW" dirty="0"/>
              <a:t>Binary-Naive algorithm</a:t>
            </a:r>
            <a:endParaRPr lang="zh-TW" altLang="en-US" dirty="0"/>
          </a:p>
        </p:txBody>
      </p:sp>
      <p:sp>
        <p:nvSpPr>
          <p:cNvPr id="3" name="內容版面配置區 2">
            <a:extLst>
              <a:ext uri="{FF2B5EF4-FFF2-40B4-BE49-F238E27FC236}">
                <a16:creationId xmlns:a16="http://schemas.microsoft.com/office/drawing/2014/main" id="{C686ADBB-85AC-B8AA-6985-614BB83AD04E}"/>
              </a:ext>
            </a:extLst>
          </p:cNvPr>
          <p:cNvSpPr>
            <a:spLocks noGrp="1"/>
          </p:cNvSpPr>
          <p:nvPr>
            <p:ph idx="1"/>
          </p:nvPr>
        </p:nvSpPr>
        <p:spPr/>
        <p:txBody>
          <a:bodyPr/>
          <a:lstStyle/>
          <a:p>
            <a:r>
              <a:rPr lang="zh-TW" altLang="zh-TW" dirty="0"/>
              <a:t>Brute Force</a:t>
            </a:r>
            <a:r>
              <a:rPr lang="en-US" altLang="zh-TW" dirty="0"/>
              <a:t> Way</a:t>
            </a:r>
          </a:p>
        </p:txBody>
      </p:sp>
      <p:sp>
        <p:nvSpPr>
          <p:cNvPr id="4" name="投影片編號版面配置區 3">
            <a:extLst>
              <a:ext uri="{FF2B5EF4-FFF2-40B4-BE49-F238E27FC236}">
                <a16:creationId xmlns:a16="http://schemas.microsoft.com/office/drawing/2014/main" id="{7162AC66-C608-299F-8149-E02C51DA55C4}"/>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graphicFrame>
        <p:nvGraphicFramePr>
          <p:cNvPr id="5" name="表格 5">
            <a:extLst>
              <a:ext uri="{FF2B5EF4-FFF2-40B4-BE49-F238E27FC236}">
                <a16:creationId xmlns:a16="http://schemas.microsoft.com/office/drawing/2014/main" id="{CA6CEF76-DCD7-9D4D-882F-FF0F2F7811FE}"/>
              </a:ext>
            </a:extLst>
          </p:cNvPr>
          <p:cNvGraphicFramePr>
            <a:graphicFrameLocks noGrp="1"/>
          </p:cNvGraphicFramePr>
          <p:nvPr>
            <p:extLst>
              <p:ext uri="{D42A27DB-BD31-4B8C-83A1-F6EECF244321}">
                <p14:modId xmlns:p14="http://schemas.microsoft.com/office/powerpoint/2010/main" val="594816590"/>
              </p:ext>
            </p:extLst>
          </p:nvPr>
        </p:nvGraphicFramePr>
        <p:xfrm>
          <a:off x="2031997" y="3429000"/>
          <a:ext cx="8128006" cy="914400"/>
        </p:xfrm>
        <a:graphic>
          <a:graphicData uri="http://schemas.openxmlformats.org/drawingml/2006/table">
            <a:tbl>
              <a:tblPr firstRow="1" bandRow="1">
                <a:tableStyleId>{5940675A-B579-460E-94D1-54222C63F5DA}</a:tableStyleId>
              </a:tblPr>
              <a:tblGrid>
                <a:gridCol w="478118">
                  <a:extLst>
                    <a:ext uri="{9D8B030D-6E8A-4147-A177-3AD203B41FA5}">
                      <a16:colId xmlns:a16="http://schemas.microsoft.com/office/drawing/2014/main" val="2897342859"/>
                    </a:ext>
                  </a:extLst>
                </a:gridCol>
                <a:gridCol w="478118">
                  <a:extLst>
                    <a:ext uri="{9D8B030D-6E8A-4147-A177-3AD203B41FA5}">
                      <a16:colId xmlns:a16="http://schemas.microsoft.com/office/drawing/2014/main" val="3716033898"/>
                    </a:ext>
                  </a:extLst>
                </a:gridCol>
                <a:gridCol w="478118">
                  <a:extLst>
                    <a:ext uri="{9D8B030D-6E8A-4147-A177-3AD203B41FA5}">
                      <a16:colId xmlns:a16="http://schemas.microsoft.com/office/drawing/2014/main" val="1644688173"/>
                    </a:ext>
                  </a:extLst>
                </a:gridCol>
                <a:gridCol w="478118">
                  <a:extLst>
                    <a:ext uri="{9D8B030D-6E8A-4147-A177-3AD203B41FA5}">
                      <a16:colId xmlns:a16="http://schemas.microsoft.com/office/drawing/2014/main" val="273693750"/>
                    </a:ext>
                  </a:extLst>
                </a:gridCol>
                <a:gridCol w="478118">
                  <a:extLst>
                    <a:ext uri="{9D8B030D-6E8A-4147-A177-3AD203B41FA5}">
                      <a16:colId xmlns:a16="http://schemas.microsoft.com/office/drawing/2014/main" val="733776089"/>
                    </a:ext>
                  </a:extLst>
                </a:gridCol>
                <a:gridCol w="478118">
                  <a:extLst>
                    <a:ext uri="{9D8B030D-6E8A-4147-A177-3AD203B41FA5}">
                      <a16:colId xmlns:a16="http://schemas.microsoft.com/office/drawing/2014/main" val="2457859267"/>
                    </a:ext>
                  </a:extLst>
                </a:gridCol>
                <a:gridCol w="478118">
                  <a:extLst>
                    <a:ext uri="{9D8B030D-6E8A-4147-A177-3AD203B41FA5}">
                      <a16:colId xmlns:a16="http://schemas.microsoft.com/office/drawing/2014/main" val="1435731562"/>
                    </a:ext>
                  </a:extLst>
                </a:gridCol>
                <a:gridCol w="478118">
                  <a:extLst>
                    <a:ext uri="{9D8B030D-6E8A-4147-A177-3AD203B41FA5}">
                      <a16:colId xmlns:a16="http://schemas.microsoft.com/office/drawing/2014/main" val="867232245"/>
                    </a:ext>
                  </a:extLst>
                </a:gridCol>
                <a:gridCol w="478118">
                  <a:extLst>
                    <a:ext uri="{9D8B030D-6E8A-4147-A177-3AD203B41FA5}">
                      <a16:colId xmlns:a16="http://schemas.microsoft.com/office/drawing/2014/main" val="3832721318"/>
                    </a:ext>
                  </a:extLst>
                </a:gridCol>
                <a:gridCol w="478118">
                  <a:extLst>
                    <a:ext uri="{9D8B030D-6E8A-4147-A177-3AD203B41FA5}">
                      <a16:colId xmlns:a16="http://schemas.microsoft.com/office/drawing/2014/main" val="4102463825"/>
                    </a:ext>
                  </a:extLst>
                </a:gridCol>
                <a:gridCol w="478118">
                  <a:extLst>
                    <a:ext uri="{9D8B030D-6E8A-4147-A177-3AD203B41FA5}">
                      <a16:colId xmlns:a16="http://schemas.microsoft.com/office/drawing/2014/main" val="16603975"/>
                    </a:ext>
                  </a:extLst>
                </a:gridCol>
                <a:gridCol w="478118">
                  <a:extLst>
                    <a:ext uri="{9D8B030D-6E8A-4147-A177-3AD203B41FA5}">
                      <a16:colId xmlns:a16="http://schemas.microsoft.com/office/drawing/2014/main" val="1146483507"/>
                    </a:ext>
                  </a:extLst>
                </a:gridCol>
                <a:gridCol w="478118">
                  <a:extLst>
                    <a:ext uri="{9D8B030D-6E8A-4147-A177-3AD203B41FA5}">
                      <a16:colId xmlns:a16="http://schemas.microsoft.com/office/drawing/2014/main" val="1115043991"/>
                    </a:ext>
                  </a:extLst>
                </a:gridCol>
                <a:gridCol w="478118">
                  <a:extLst>
                    <a:ext uri="{9D8B030D-6E8A-4147-A177-3AD203B41FA5}">
                      <a16:colId xmlns:a16="http://schemas.microsoft.com/office/drawing/2014/main" val="2607206229"/>
                    </a:ext>
                  </a:extLst>
                </a:gridCol>
                <a:gridCol w="478118">
                  <a:extLst>
                    <a:ext uri="{9D8B030D-6E8A-4147-A177-3AD203B41FA5}">
                      <a16:colId xmlns:a16="http://schemas.microsoft.com/office/drawing/2014/main" val="1793044525"/>
                    </a:ext>
                  </a:extLst>
                </a:gridCol>
                <a:gridCol w="478118">
                  <a:extLst>
                    <a:ext uri="{9D8B030D-6E8A-4147-A177-3AD203B41FA5}">
                      <a16:colId xmlns:a16="http://schemas.microsoft.com/office/drawing/2014/main" val="901524661"/>
                    </a:ext>
                  </a:extLst>
                </a:gridCol>
                <a:gridCol w="478118">
                  <a:extLst>
                    <a:ext uri="{9D8B030D-6E8A-4147-A177-3AD203B41FA5}">
                      <a16:colId xmlns:a16="http://schemas.microsoft.com/office/drawing/2014/main" val="3801082307"/>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1222040"/>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01340"/>
                  </a:ext>
                </a:extLst>
              </a:tr>
            </a:tbl>
          </a:graphicData>
        </a:graphic>
      </p:graphicFrame>
    </p:spTree>
    <p:extLst>
      <p:ext uri="{BB962C8B-B14F-4D97-AF65-F5344CB8AC3E}">
        <p14:creationId xmlns:p14="http://schemas.microsoft.com/office/powerpoint/2010/main" val="156928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C20B0B-780A-17C0-3767-53FABAD2680C}"/>
              </a:ext>
            </a:extLst>
          </p:cNvPr>
          <p:cNvSpPr>
            <a:spLocks noGrp="1"/>
          </p:cNvSpPr>
          <p:nvPr>
            <p:ph type="title"/>
          </p:nvPr>
        </p:nvSpPr>
        <p:spPr/>
        <p:txBody>
          <a:bodyPr/>
          <a:lstStyle/>
          <a:p>
            <a:r>
              <a:rPr lang="en-US" altLang="zh-TW" dirty="0"/>
              <a:t>The Binary Hash Matching Algorithm</a:t>
            </a:r>
            <a:endParaRPr lang="zh-TW" altLang="en-US" dirty="0"/>
          </a:p>
        </p:txBody>
      </p:sp>
      <p:sp>
        <p:nvSpPr>
          <p:cNvPr id="3" name="內容版面配置區 2">
            <a:extLst>
              <a:ext uri="{FF2B5EF4-FFF2-40B4-BE49-F238E27FC236}">
                <a16:creationId xmlns:a16="http://schemas.microsoft.com/office/drawing/2014/main" id="{B24F2209-59C4-905C-3ACB-0C2ED85DFC72}"/>
              </a:ext>
            </a:extLst>
          </p:cNvPr>
          <p:cNvSpPr>
            <a:spLocks noGrp="1"/>
          </p:cNvSpPr>
          <p:nvPr>
            <p:ph idx="1"/>
          </p:nvPr>
        </p:nvSpPr>
        <p:spPr>
          <a:xfrm>
            <a:off x="838200" y="1825624"/>
            <a:ext cx="10515600" cy="4895851"/>
          </a:xfrm>
        </p:spPr>
        <p:txBody>
          <a:bodyPr>
            <a:normAutofit/>
          </a:bodyPr>
          <a:lstStyle/>
          <a:p>
            <a:r>
              <a:rPr lang="en-US" altLang="zh-TW" dirty="0"/>
              <a:t>q-Hash Algorithm</a:t>
            </a:r>
          </a:p>
          <a:p>
            <a:pPr lvl="1"/>
            <a:r>
              <a:rPr lang="en-US" altLang="zh-TW" dirty="0"/>
              <a:t>q </a:t>
            </a:r>
            <a:r>
              <a:rPr lang="el-GR" altLang="zh-TW" dirty="0">
                <a:ea typeface="標楷體" panose="03000509000000000000" pitchFamily="65" charset="-120"/>
              </a:rPr>
              <a:t>→</a:t>
            </a:r>
            <a:r>
              <a:rPr lang="en-US" altLang="zh-TW" dirty="0">
                <a:ea typeface="標楷體" panose="03000509000000000000" pitchFamily="65" charset="-120"/>
              </a:rPr>
              <a:t> </a:t>
            </a:r>
            <a:r>
              <a:rPr lang="en-US" altLang="zh-TW" i="1" dirty="0">
                <a:ea typeface="標楷體" panose="03000509000000000000" pitchFamily="65" charset="-120"/>
              </a:rPr>
              <a:t>k</a:t>
            </a:r>
            <a:endParaRPr lang="en-US" altLang="zh-TW" i="1" dirty="0"/>
          </a:p>
          <a:p>
            <a:pPr lvl="1"/>
            <a:r>
              <a:rPr lang="en-US" altLang="zh-TW" dirty="0"/>
              <a:t>Hash Function </a:t>
            </a:r>
            <a:r>
              <a:rPr lang="el-GR" altLang="zh-TW" dirty="0">
                <a:ea typeface="標楷體" panose="03000509000000000000" pitchFamily="65" charset="-120"/>
              </a:rPr>
              <a:t>→</a:t>
            </a:r>
            <a:r>
              <a:rPr lang="en-US" altLang="zh-TW" dirty="0">
                <a:ea typeface="標楷體" panose="03000509000000000000" pitchFamily="65" charset="-120"/>
              </a:rPr>
              <a:t> Numeric Value of the Blocks</a:t>
            </a:r>
          </a:p>
          <a:p>
            <a:pPr lvl="1"/>
            <a:endParaRPr lang="en-US" altLang="zh-TW" dirty="0">
              <a:ea typeface="標楷體" panose="03000509000000000000" pitchFamily="65" charset="-120"/>
            </a:endParaRPr>
          </a:p>
          <a:p>
            <a:r>
              <a:rPr lang="en-US" altLang="zh-TW" dirty="0">
                <a:ea typeface="標楷體" panose="03000509000000000000" pitchFamily="65" charset="-120"/>
              </a:rPr>
              <a:t>Compute Hash</a:t>
            </a:r>
          </a:p>
          <a:p>
            <a:pPr lvl="1"/>
            <a:r>
              <a:rPr lang="en-US" altLang="zh-TW" dirty="0">
                <a:ea typeface="標楷體" panose="03000509000000000000" pitchFamily="65" charset="-120"/>
              </a:rPr>
              <a:t>p = </a:t>
            </a:r>
            <a:r>
              <a:rPr lang="en-US" altLang="zh-TW" dirty="0"/>
              <a:t>0100110100</a:t>
            </a:r>
            <a:endParaRPr lang="en-US" altLang="zh-TW" dirty="0">
              <a:ea typeface="標楷體" panose="03000509000000000000" pitchFamily="65" charset="-120"/>
            </a:endParaRPr>
          </a:p>
          <a:p>
            <a:pPr lvl="1"/>
            <a:r>
              <a:rPr lang="en-US" altLang="zh-TW" dirty="0">
                <a:ea typeface="標楷體" panose="03000509000000000000" pitchFamily="65" charset="-120"/>
              </a:rPr>
              <a:t>Example </a:t>
            </a:r>
          </a:p>
          <a:p>
            <a:pPr lvl="2"/>
            <a:r>
              <a:rPr lang="en-US" altLang="zh-TW" dirty="0">
                <a:ea typeface="標楷體" panose="03000509000000000000" pitchFamily="65" charset="-120"/>
              </a:rPr>
              <a:t>Hs[00110100] = 0</a:t>
            </a:r>
          </a:p>
          <a:p>
            <a:pPr lvl="2"/>
            <a:r>
              <a:rPr lang="en-US" altLang="zh-TW" dirty="0">
                <a:ea typeface="標楷體" panose="03000509000000000000" pitchFamily="65" charset="-120"/>
              </a:rPr>
              <a:t>Hs[</a:t>
            </a:r>
            <a:r>
              <a:rPr lang="en-US" altLang="zh-TW" dirty="0"/>
              <a:t>10011010</a:t>
            </a:r>
            <a:r>
              <a:rPr lang="en-US" altLang="zh-TW" dirty="0">
                <a:ea typeface="標楷體" panose="03000509000000000000" pitchFamily="65" charset="-120"/>
              </a:rPr>
              <a:t>] = 1</a:t>
            </a:r>
          </a:p>
          <a:p>
            <a:pPr lvl="2"/>
            <a:r>
              <a:rPr lang="en-US" altLang="zh-TW" dirty="0">
                <a:ea typeface="標楷體" panose="03000509000000000000" pitchFamily="65" charset="-120"/>
              </a:rPr>
              <a:t>Hs[</a:t>
            </a:r>
            <a:r>
              <a:rPr lang="en-US" altLang="zh-TW" dirty="0"/>
              <a:t>01001101</a:t>
            </a:r>
            <a:r>
              <a:rPr lang="en-US" altLang="zh-TW" dirty="0">
                <a:ea typeface="標楷體" panose="03000509000000000000" pitchFamily="65" charset="-120"/>
              </a:rPr>
              <a:t>] = 2</a:t>
            </a:r>
          </a:p>
          <a:p>
            <a:pPr lvl="2"/>
            <a:r>
              <a:rPr lang="en-US" altLang="zh-TW" dirty="0">
                <a:ea typeface="標楷體" panose="03000509000000000000" pitchFamily="65" charset="-120"/>
              </a:rPr>
              <a:t>Hs[00000001] = m = 21</a:t>
            </a:r>
          </a:p>
          <a:p>
            <a:pPr lvl="1"/>
            <a:endParaRPr lang="en-US" altLang="zh-TW" dirty="0">
              <a:ea typeface="標楷體" panose="03000509000000000000" pitchFamily="65" charset="-120"/>
            </a:endParaRPr>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14FAFE30-E7DE-4324-5928-A6495DEEF547}"/>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spTree>
    <p:extLst>
      <p:ext uri="{BB962C8B-B14F-4D97-AF65-F5344CB8AC3E}">
        <p14:creationId xmlns:p14="http://schemas.microsoft.com/office/powerpoint/2010/main" val="3245838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5B17AE-8086-BE0F-B5E0-1C5254432F07}"/>
              </a:ext>
            </a:extLst>
          </p:cNvPr>
          <p:cNvSpPr>
            <a:spLocks noGrp="1"/>
          </p:cNvSpPr>
          <p:nvPr>
            <p:ph type="title"/>
          </p:nvPr>
        </p:nvSpPr>
        <p:spPr/>
        <p:txBody>
          <a:bodyPr/>
          <a:lstStyle/>
          <a:p>
            <a:r>
              <a:rPr lang="en-US" altLang="zh-TW" dirty="0"/>
              <a:t>The Binary Hash Matching Algorithm</a:t>
            </a:r>
            <a:endParaRPr lang="zh-TW" altLang="en-US" dirty="0"/>
          </a:p>
        </p:txBody>
      </p:sp>
      <p:sp>
        <p:nvSpPr>
          <p:cNvPr id="3" name="內容版面配置區 2">
            <a:extLst>
              <a:ext uri="{FF2B5EF4-FFF2-40B4-BE49-F238E27FC236}">
                <a16:creationId xmlns:a16="http://schemas.microsoft.com/office/drawing/2014/main" id="{3BBC26E0-9797-D0B4-CEA2-8CC874B183C1}"/>
              </a:ext>
            </a:extLst>
          </p:cNvPr>
          <p:cNvSpPr>
            <a:spLocks noGrp="1"/>
          </p:cNvSpPr>
          <p:nvPr>
            <p:ph idx="1"/>
          </p:nvPr>
        </p:nvSpPr>
        <p:spPr/>
        <p:txBody>
          <a:bodyPr/>
          <a:lstStyle/>
          <a:p>
            <a:r>
              <a:rPr lang="en-US" altLang="zh-TW" dirty="0"/>
              <a:t>Binary Hash Matching</a:t>
            </a:r>
          </a:p>
          <a:p>
            <a:pPr lvl="1"/>
            <a:r>
              <a:rPr lang="en-US" altLang="zh-TW" dirty="0"/>
              <a:t>t</a:t>
            </a:r>
          </a:p>
          <a:p>
            <a:pPr lvl="2"/>
            <a:r>
              <a:rPr lang="en-US" altLang="zh-TW" dirty="0"/>
              <a:t>01100100 10001001 10100101 00010100 1001</a:t>
            </a:r>
          </a:p>
          <a:p>
            <a:pPr lvl="1"/>
            <a:r>
              <a:rPr lang="en-US" altLang="zh-TW" dirty="0"/>
              <a:t>p</a:t>
            </a:r>
          </a:p>
          <a:p>
            <a:pPr lvl="2"/>
            <a:r>
              <a:rPr lang="en-US" altLang="zh-TW" dirty="0"/>
              <a:t>0100110100</a:t>
            </a:r>
          </a:p>
          <a:p>
            <a:pPr lvl="2"/>
            <a:endParaRPr lang="en-US" altLang="zh-TW" dirty="0"/>
          </a:p>
          <a:p>
            <a:pPr lvl="1"/>
            <a:r>
              <a:rPr lang="en-US" altLang="zh-TW" dirty="0"/>
              <a:t>Initialization</a:t>
            </a:r>
          </a:p>
          <a:p>
            <a:pPr lvl="2"/>
            <a:r>
              <a:rPr lang="en-US" altLang="zh-TW" dirty="0"/>
              <a:t>s = m – 1 = 9</a:t>
            </a:r>
          </a:p>
          <a:p>
            <a:pPr lvl="2"/>
            <a:r>
              <a:rPr lang="en-US" altLang="zh-TW" dirty="0"/>
              <a:t>j = 0</a:t>
            </a:r>
          </a:p>
        </p:txBody>
      </p:sp>
      <p:sp>
        <p:nvSpPr>
          <p:cNvPr id="4" name="投影片編號版面配置區 3">
            <a:extLst>
              <a:ext uri="{FF2B5EF4-FFF2-40B4-BE49-F238E27FC236}">
                <a16:creationId xmlns:a16="http://schemas.microsoft.com/office/drawing/2014/main" id="{7ABC996C-A84C-4106-164A-29D555E317CE}"/>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spTree>
    <p:extLst>
      <p:ext uri="{BB962C8B-B14F-4D97-AF65-F5344CB8AC3E}">
        <p14:creationId xmlns:p14="http://schemas.microsoft.com/office/powerpoint/2010/main" val="894232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11F1EB-3B1E-E0F2-45CE-D013E89F0B97}"/>
              </a:ext>
            </a:extLst>
          </p:cNvPr>
          <p:cNvSpPr>
            <a:spLocks noGrp="1"/>
          </p:cNvSpPr>
          <p:nvPr>
            <p:ph type="title"/>
          </p:nvPr>
        </p:nvSpPr>
        <p:spPr/>
        <p:txBody>
          <a:bodyPr/>
          <a:lstStyle/>
          <a:p>
            <a:r>
              <a:rPr lang="en-US" altLang="zh-TW" dirty="0"/>
              <a:t>Preprocessing - </a:t>
            </a:r>
            <a:r>
              <a:rPr lang="en-US" altLang="zh-TW" dirty="0">
                <a:ea typeface="標楷體" panose="03000509000000000000" pitchFamily="65" charset="-120"/>
              </a:rPr>
              <a:t>Hash</a:t>
            </a:r>
            <a:endParaRPr lang="zh-TW" altLang="en-US" dirty="0"/>
          </a:p>
        </p:txBody>
      </p:sp>
      <p:graphicFrame>
        <p:nvGraphicFramePr>
          <p:cNvPr id="5" name="表格 5">
            <a:extLst>
              <a:ext uri="{FF2B5EF4-FFF2-40B4-BE49-F238E27FC236}">
                <a16:creationId xmlns:a16="http://schemas.microsoft.com/office/drawing/2014/main" id="{975D871D-26FD-94AC-F8D4-D36CE095E26D}"/>
              </a:ext>
            </a:extLst>
          </p:cNvPr>
          <p:cNvGraphicFramePr>
            <a:graphicFrameLocks noGrp="1"/>
          </p:cNvGraphicFramePr>
          <p:nvPr>
            <p:ph idx="1"/>
          </p:nvPr>
        </p:nvGraphicFramePr>
        <p:xfrm>
          <a:off x="1532246" y="1966119"/>
          <a:ext cx="9127507" cy="4114800"/>
        </p:xfrm>
        <a:graphic>
          <a:graphicData uri="http://schemas.openxmlformats.org/drawingml/2006/table">
            <a:tbl>
              <a:tblPr firstRow="1" bandRow="1">
                <a:tableStyleId>{5940675A-B579-460E-94D1-54222C63F5DA}</a:tableStyleId>
              </a:tblPr>
              <a:tblGrid>
                <a:gridCol w="2086138">
                  <a:extLst>
                    <a:ext uri="{9D8B030D-6E8A-4147-A177-3AD203B41FA5}">
                      <a16:colId xmlns:a16="http://schemas.microsoft.com/office/drawing/2014/main" val="869712977"/>
                    </a:ext>
                  </a:extLst>
                </a:gridCol>
                <a:gridCol w="2086138">
                  <a:extLst>
                    <a:ext uri="{9D8B030D-6E8A-4147-A177-3AD203B41FA5}">
                      <a16:colId xmlns:a16="http://schemas.microsoft.com/office/drawing/2014/main" val="4100637796"/>
                    </a:ext>
                  </a:extLst>
                </a:gridCol>
                <a:gridCol w="2086138">
                  <a:extLst>
                    <a:ext uri="{9D8B030D-6E8A-4147-A177-3AD203B41FA5}">
                      <a16:colId xmlns:a16="http://schemas.microsoft.com/office/drawing/2014/main" val="2997659134"/>
                    </a:ext>
                  </a:extLst>
                </a:gridCol>
                <a:gridCol w="2086138">
                  <a:extLst>
                    <a:ext uri="{9D8B030D-6E8A-4147-A177-3AD203B41FA5}">
                      <a16:colId xmlns:a16="http://schemas.microsoft.com/office/drawing/2014/main" val="47737438"/>
                    </a:ext>
                  </a:extLst>
                </a:gridCol>
                <a:gridCol w="782955">
                  <a:extLst>
                    <a:ext uri="{9D8B030D-6E8A-4147-A177-3AD203B41FA5}">
                      <a16:colId xmlns:a16="http://schemas.microsoft.com/office/drawing/2014/main" val="2240535705"/>
                    </a:ext>
                  </a:extLst>
                </a:gridCol>
              </a:tblGrid>
              <a:tr h="370840">
                <a:tc>
                  <a:txBody>
                    <a:bodyPr/>
                    <a:lstStyle/>
                    <a:p>
                      <a:r>
                        <a:rPr lang="en-US" altLang="zh-TW" sz="2400" dirty="0" err="1">
                          <a:latin typeface="Times New Roman" panose="02020603050405020304" pitchFamily="18" charset="0"/>
                          <a:cs typeface="Times New Roman" panose="02020603050405020304" pitchFamily="18" charset="0"/>
                        </a:rPr>
                        <a:t>Patt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Last</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156899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0</a:t>
                      </a:r>
                    </a:p>
                  </a:txBody>
                  <a:tcPr/>
                </a:tc>
                <a:tc>
                  <a:txBody>
                    <a:bodyPr/>
                    <a:lstStyle/>
                    <a:p>
                      <a:pPr algn="r"/>
                      <a:r>
                        <a:rPr lang="en-US" altLang="zh-TW" sz="2400" dirty="0">
                          <a:latin typeface="Times New Roman" panose="02020603050405020304" pitchFamily="18" charset="0"/>
                          <a:cs typeface="Times New Roman" panose="02020603050405020304" pitchFamily="18" charset="0"/>
                        </a:rPr>
                        <a:t>01001101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00</a:t>
                      </a:r>
                      <a:r>
                        <a:rPr lang="en-US" altLang="zh-TW" sz="2400" dirty="0">
                          <a:solidFill>
                            <a:schemeClr val="accent2"/>
                          </a:solidFill>
                          <a:latin typeface="Times New Roman" panose="02020603050405020304" pitchFamily="18" charset="0"/>
                          <a:cs typeface="Times New Roman" panose="02020603050405020304" pitchFamily="18" charset="0"/>
                        </a:rPr>
                        <a:t>000000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494346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a:t>
                      </a:r>
                      <a:r>
                        <a:rPr lang="en-US" altLang="zh-TW" sz="2400" dirty="0">
                          <a:latin typeface="Times New Roman" panose="02020603050405020304" pitchFamily="18" charset="0"/>
                          <a:cs typeface="Times New Roman" panose="02020603050405020304" pitchFamily="18" charset="0"/>
                        </a:rPr>
                        <a:t>0100110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100</a:t>
                      </a:r>
                      <a:r>
                        <a:rPr lang="en-US" altLang="zh-TW" sz="2400" dirty="0">
                          <a:solidFill>
                            <a:schemeClr val="accent2"/>
                          </a:solidFill>
                          <a:latin typeface="Times New Roman" panose="02020603050405020304" pitchFamily="18" charset="0"/>
                          <a:cs typeface="Times New Roman" panose="02020603050405020304" pitchFamily="18" charset="0"/>
                        </a:rPr>
                        <a:t>00000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699097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a:t>
                      </a:r>
                      <a:r>
                        <a:rPr lang="en-US" altLang="zh-TW" sz="2400" dirty="0">
                          <a:latin typeface="Times New Roman" panose="02020603050405020304" pitchFamily="18" charset="0"/>
                          <a:cs typeface="Times New Roman" panose="02020603050405020304" pitchFamily="18" charset="0"/>
                        </a:rPr>
                        <a:t>010011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0100</a:t>
                      </a:r>
                      <a:r>
                        <a:rPr lang="en-US" altLang="zh-TW" sz="2400" dirty="0">
                          <a:solidFill>
                            <a:schemeClr val="accent2"/>
                          </a:solidFill>
                          <a:latin typeface="Times New Roman" panose="02020603050405020304" pitchFamily="18" charset="0"/>
                          <a:cs typeface="Times New Roman" panose="02020603050405020304" pitchFamily="18" charset="0"/>
                        </a:rPr>
                        <a:t>0000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73338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a:t>
                      </a:r>
                      <a:r>
                        <a:rPr lang="en-US" altLang="zh-TW" sz="2400" dirty="0">
                          <a:latin typeface="Times New Roman" panose="02020603050405020304" pitchFamily="18" charset="0"/>
                          <a:cs typeface="Times New Roman" panose="02020603050405020304" pitchFamily="18" charset="0"/>
                        </a:rPr>
                        <a:t>01001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10100</a:t>
                      </a:r>
                      <a:r>
                        <a:rPr lang="en-US" altLang="zh-TW" sz="2400" dirty="0">
                          <a:solidFill>
                            <a:schemeClr val="accent2"/>
                          </a:solidFill>
                          <a:latin typeface="Times New Roman" panose="02020603050405020304" pitchFamily="18" charset="0"/>
                          <a:cs typeface="Times New Roman" panose="02020603050405020304" pitchFamily="18" charset="0"/>
                        </a:rPr>
                        <a:t>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532279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a:t>
                      </a:r>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110100</a:t>
                      </a:r>
                      <a:r>
                        <a:rPr lang="en-US" altLang="zh-TW" sz="2400" dirty="0">
                          <a:solidFill>
                            <a:schemeClr val="accent2"/>
                          </a:solidFill>
                          <a:latin typeface="Times New Roman" panose="02020603050405020304" pitchFamily="18" charset="0"/>
                          <a:cs typeface="Times New Roman" panose="02020603050405020304" pitchFamily="18" charset="0"/>
                        </a:rPr>
                        <a:t>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63624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a:t>
                      </a:r>
                      <a:r>
                        <a:rPr lang="en-US" altLang="zh-TW" sz="2400" dirty="0">
                          <a:latin typeface="Times New Roman" panose="02020603050405020304" pitchFamily="18" charset="0"/>
                          <a:cs typeface="Times New Roman" panose="02020603050405020304" pitchFamily="18" charset="0"/>
                        </a:rPr>
                        <a:t>010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0110100</a:t>
                      </a:r>
                      <a:r>
                        <a:rPr lang="en-US" altLang="zh-TW" sz="2400" dirty="0">
                          <a:solidFill>
                            <a:schemeClr val="accent2"/>
                          </a:solidFill>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320979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000000</a:t>
                      </a:r>
                      <a:r>
                        <a:rPr lang="en-US" altLang="zh-TW" sz="2400" dirty="0">
                          <a:latin typeface="Times New Roman" panose="02020603050405020304" pitchFamily="18" charset="0"/>
                          <a:cs typeface="Times New Roman" panose="02020603050405020304" pitchFamily="18" charset="0"/>
                        </a:rPr>
                        <a:t>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00110100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4641099"/>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0000000</a:t>
                      </a: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10011010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a:t>
                      </a:r>
                      <a:r>
                        <a:rPr lang="en-US" altLang="zh-TW" sz="2400" dirty="0">
                          <a:solidFill>
                            <a:schemeClr val="accent2"/>
                          </a:solidFill>
                          <a:latin typeface="Times New Roman" panose="02020603050405020304" pitchFamily="18" charset="0"/>
                          <a:cs typeface="Times New Roman" panose="02020603050405020304" pitchFamily="18" charset="0"/>
                        </a:rPr>
                        <a:t>0000000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300573"/>
                  </a:ext>
                </a:extLst>
              </a:tr>
            </a:tbl>
          </a:graphicData>
        </a:graphic>
      </p:graphicFrame>
      <p:sp>
        <p:nvSpPr>
          <p:cNvPr id="4" name="投影片編號版面配置區 3">
            <a:extLst>
              <a:ext uri="{FF2B5EF4-FFF2-40B4-BE49-F238E27FC236}">
                <a16:creationId xmlns:a16="http://schemas.microsoft.com/office/drawing/2014/main" id="{74DD1AD7-29A9-23F3-2ED7-767466F2338E}"/>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Tree>
    <p:extLst>
      <p:ext uri="{BB962C8B-B14F-4D97-AF65-F5344CB8AC3E}">
        <p14:creationId xmlns:p14="http://schemas.microsoft.com/office/powerpoint/2010/main" val="3427152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EF186A-AF69-47E6-58AF-43B512DCE12B}"/>
              </a:ext>
            </a:extLst>
          </p:cNvPr>
          <p:cNvSpPr>
            <a:spLocks noGrp="1"/>
          </p:cNvSpPr>
          <p:nvPr>
            <p:ph type="title"/>
          </p:nvPr>
        </p:nvSpPr>
        <p:spPr/>
        <p:txBody>
          <a:bodyPr/>
          <a:lstStyle/>
          <a:p>
            <a:r>
              <a:rPr lang="en-US" altLang="zh-TW" dirty="0"/>
              <a:t>Binary Hash Matching</a:t>
            </a:r>
            <a:endParaRPr lang="zh-TW" altLang="en-US" dirty="0"/>
          </a:p>
        </p:txBody>
      </p:sp>
      <p:graphicFrame>
        <p:nvGraphicFramePr>
          <p:cNvPr id="5" name="表格 5">
            <a:extLst>
              <a:ext uri="{FF2B5EF4-FFF2-40B4-BE49-F238E27FC236}">
                <a16:creationId xmlns:a16="http://schemas.microsoft.com/office/drawing/2014/main" id="{E38E7687-8375-CF1A-82F7-E98113CA11E6}"/>
              </a:ext>
            </a:extLst>
          </p:cNvPr>
          <p:cNvGraphicFramePr>
            <a:graphicFrameLocks noGrp="1"/>
          </p:cNvGraphicFramePr>
          <p:nvPr>
            <p:ph idx="1"/>
            <p:extLst>
              <p:ext uri="{D42A27DB-BD31-4B8C-83A1-F6EECF244321}">
                <p14:modId xmlns:p14="http://schemas.microsoft.com/office/powerpoint/2010/main" val="3937257830"/>
              </p:ext>
            </p:extLst>
          </p:nvPr>
        </p:nvGraphicFramePr>
        <p:xfrm>
          <a:off x="838200" y="2748734"/>
          <a:ext cx="10515600" cy="2286000"/>
        </p:xfrm>
        <a:graphic>
          <a:graphicData uri="http://schemas.openxmlformats.org/drawingml/2006/table">
            <a:tbl>
              <a:tblPr firstRow="1" bandRow="1">
                <a:tableStyleId>{5940675A-B579-460E-94D1-54222C63F5DA}</a:tableStyleId>
              </a:tblPr>
              <a:tblGrid>
                <a:gridCol w="1752600">
                  <a:extLst>
                    <a:ext uri="{9D8B030D-6E8A-4147-A177-3AD203B41FA5}">
                      <a16:colId xmlns:a16="http://schemas.microsoft.com/office/drawing/2014/main" val="3425998923"/>
                    </a:ext>
                  </a:extLst>
                </a:gridCol>
                <a:gridCol w="1752600">
                  <a:extLst>
                    <a:ext uri="{9D8B030D-6E8A-4147-A177-3AD203B41FA5}">
                      <a16:colId xmlns:a16="http://schemas.microsoft.com/office/drawing/2014/main" val="3835969104"/>
                    </a:ext>
                  </a:extLst>
                </a:gridCol>
                <a:gridCol w="1752600">
                  <a:extLst>
                    <a:ext uri="{9D8B030D-6E8A-4147-A177-3AD203B41FA5}">
                      <a16:colId xmlns:a16="http://schemas.microsoft.com/office/drawing/2014/main" val="3118008484"/>
                    </a:ext>
                  </a:extLst>
                </a:gridCol>
                <a:gridCol w="1752600">
                  <a:extLst>
                    <a:ext uri="{9D8B030D-6E8A-4147-A177-3AD203B41FA5}">
                      <a16:colId xmlns:a16="http://schemas.microsoft.com/office/drawing/2014/main" val="228823565"/>
                    </a:ext>
                  </a:extLst>
                </a:gridCol>
                <a:gridCol w="1752600">
                  <a:extLst>
                    <a:ext uri="{9D8B030D-6E8A-4147-A177-3AD203B41FA5}">
                      <a16:colId xmlns:a16="http://schemas.microsoft.com/office/drawing/2014/main" val="1853260698"/>
                    </a:ext>
                  </a:extLst>
                </a:gridCol>
                <a:gridCol w="1752600">
                  <a:extLst>
                    <a:ext uri="{9D8B030D-6E8A-4147-A177-3AD203B41FA5}">
                      <a16:colId xmlns:a16="http://schemas.microsoft.com/office/drawing/2014/main" val="399757671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j</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232522385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01</a:t>
                      </a:r>
                      <a:r>
                        <a:rPr lang="en-US" altLang="zh-TW" sz="2400" dirty="0">
                          <a:solidFill>
                            <a:srgbClr val="FF0000"/>
                          </a:solidFill>
                          <a:latin typeface="Times New Roman" panose="02020603050405020304" pitchFamily="18" charset="0"/>
                          <a:cs typeface="Times New Roman" panose="02020603050405020304" pitchFamily="18" charset="0"/>
                        </a:rPr>
                        <a:t>100100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10</a:t>
                      </a:r>
                      <a:r>
                        <a:rPr lang="en-US" altLang="zh-TW" sz="2400" dirty="0">
                          <a:latin typeface="Times New Roman" panose="02020603050405020304" pitchFamily="18" charset="0"/>
                          <a:cs typeface="Times New Roman" panose="02020603050405020304" pitchFamily="18" charset="0"/>
                        </a:rPr>
                        <a:t>0</a:t>
                      </a:r>
                      <a:r>
                        <a:rPr lang="en-US" altLang="zh-TW" sz="2400" dirty="0">
                          <a:solidFill>
                            <a:srgbClr val="FF0000"/>
                          </a:solidFill>
                          <a:latin typeface="Times New Roman" panose="02020603050405020304" pitchFamily="18" charset="0"/>
                          <a:cs typeface="Times New Roman" panose="02020603050405020304" pitchFamily="18" charset="0"/>
                        </a:rPr>
                        <a:t>01001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101</a:t>
                      </a:r>
                      <a:r>
                        <a:rPr lang="en-US" altLang="zh-TW" sz="2400" dirty="0">
                          <a:latin typeface="Times New Roman" panose="02020603050405020304" pitchFamily="18" charset="0"/>
                          <a:cs typeface="Times New Roman" panose="02020603050405020304" pitchFamily="18" charset="0"/>
                        </a:rPr>
                        <a:t>00101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00010100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1001</a:t>
                      </a:r>
                    </a:p>
                  </a:txBody>
                  <a:tcPr/>
                </a:tc>
                <a:extLst>
                  <a:ext uri="{0D108BD9-81ED-4DB2-BD59-A6C34878D82A}">
                    <a16:rowId xmlns:a16="http://schemas.microsoft.com/office/drawing/2014/main" val="200645977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p[2..10]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bg1"/>
                          </a:solidFill>
                          <a:latin typeface="Times New Roman" panose="02020603050405020304" pitchFamily="18" charset="0"/>
                          <a:cs typeface="Times New Roman" panose="02020603050405020304" pitchFamily="18" charset="0"/>
                        </a:rPr>
                        <a:t>$$</a:t>
                      </a:r>
                      <a:r>
                        <a:rPr lang="en-US" altLang="zh-TW" sz="2400" dirty="0">
                          <a:solidFill>
                            <a:srgbClr val="FF0000"/>
                          </a:solidFill>
                          <a:latin typeface="Times New Roman" panose="02020603050405020304" pitchFamily="18" charset="0"/>
                          <a:cs typeface="Times New Roman" panose="02020603050405020304" pitchFamily="18" charset="0"/>
                        </a:rPr>
                        <a:t>001101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00</a:t>
                      </a:r>
                      <a:r>
                        <a:rPr lang="en-US" altLang="zh-TW" sz="2400" dirty="0">
                          <a:solidFill>
                            <a:schemeClr val="bg1"/>
                          </a:solidFill>
                          <a:latin typeface="Times New Roman" panose="02020603050405020304" pitchFamily="18" charset="0"/>
                          <a:cs typeface="Times New Roman" panose="02020603050405020304" pitchFamily="18" charset="0"/>
                        </a:rPr>
                        <a:t>$$$$$$</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9828363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p[2..10]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bg1"/>
                          </a:solidFill>
                          <a:latin typeface="Times New Roman" panose="02020603050405020304" pitchFamily="18" charset="0"/>
                          <a:cs typeface="Times New Roman" panose="02020603050405020304" pitchFamily="18" charset="0"/>
                        </a:rPr>
                        <a:t>$$$</a:t>
                      </a:r>
                      <a:r>
                        <a:rPr lang="en-US" altLang="zh-TW" sz="2400" dirty="0">
                          <a:solidFill>
                            <a:srgbClr val="FF0000"/>
                          </a:solidFill>
                          <a:latin typeface="Times New Roman" panose="02020603050405020304" pitchFamily="18" charset="0"/>
                          <a:cs typeface="Times New Roman" panose="02020603050405020304" pitchFamily="18" charset="0"/>
                        </a:rPr>
                        <a:t>00110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100</a:t>
                      </a:r>
                      <a:r>
                        <a:rPr lang="en-US" altLang="zh-TW" sz="2400" dirty="0">
                          <a:solidFill>
                            <a:schemeClr val="bg1"/>
                          </a:solidFill>
                          <a:latin typeface="Times New Roman" panose="02020603050405020304" pitchFamily="18" charset="0"/>
                          <a:cs typeface="Times New Roman" panose="02020603050405020304" pitchFamily="18" charset="0"/>
                        </a:rPr>
                        <a:t>$$$$$</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875828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solidFill>
                            <a:schemeClr val="bg1"/>
                          </a:solidFill>
                          <a:latin typeface="Times New Roman" panose="02020603050405020304" pitchFamily="18" charset="0"/>
                          <a:cs typeface="Times New Roman" panose="02020603050405020304" pitchFamily="18" charset="0"/>
                        </a:rPr>
                        <a:t>$$$</a:t>
                      </a:r>
                      <a:r>
                        <a:rPr lang="en-US" altLang="zh-TW" sz="2400" dirty="0">
                          <a:solidFill>
                            <a:srgbClr val="92D050"/>
                          </a:solidFill>
                          <a:latin typeface="Times New Roman" panose="02020603050405020304" pitchFamily="18" charset="0"/>
                          <a:cs typeface="Times New Roman" panose="02020603050405020304" pitchFamily="18" charset="0"/>
                        </a:rPr>
                        <a:t>01</a:t>
                      </a:r>
                      <a:r>
                        <a:rPr lang="en-US" altLang="zh-TW" sz="2400" dirty="0">
                          <a:solidFill>
                            <a:srgbClr val="00B050"/>
                          </a:solidFill>
                          <a:latin typeface="Times New Roman" panose="02020603050405020304" pitchFamily="18" charset="0"/>
                          <a:cs typeface="Times New Roman" panose="02020603050405020304" pitchFamily="18" charset="0"/>
                        </a:rPr>
                        <a:t>001</a:t>
                      </a:r>
                      <a:endParaRPr lang="zh-TW" altLang="en-US" sz="24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00B050"/>
                          </a:solidFill>
                          <a:latin typeface="Times New Roman" panose="02020603050405020304" pitchFamily="18" charset="0"/>
                          <a:cs typeface="Times New Roman" panose="02020603050405020304" pitchFamily="18" charset="0"/>
                        </a:rPr>
                        <a:t>10100</a:t>
                      </a:r>
                      <a:r>
                        <a:rPr lang="en-US" altLang="zh-TW" sz="2400" dirty="0">
                          <a:solidFill>
                            <a:schemeClr val="bg1"/>
                          </a:solidFill>
                          <a:latin typeface="Times New Roman" panose="02020603050405020304" pitchFamily="18" charset="0"/>
                          <a:cs typeface="Times New Roman" panose="02020603050405020304" pitchFamily="18" charset="0"/>
                        </a:rPr>
                        <a:t>$$$</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4626637"/>
                  </a:ext>
                </a:extLst>
              </a:tr>
            </a:tbl>
          </a:graphicData>
        </a:graphic>
      </p:graphicFrame>
      <p:sp>
        <p:nvSpPr>
          <p:cNvPr id="4" name="投影片編號版面配置區 3">
            <a:extLst>
              <a:ext uri="{FF2B5EF4-FFF2-40B4-BE49-F238E27FC236}">
                <a16:creationId xmlns:a16="http://schemas.microsoft.com/office/drawing/2014/main" id="{376E3C70-C9C2-30EC-5F15-A0983C367EE7}"/>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spTree>
    <p:extLst>
      <p:ext uri="{BB962C8B-B14F-4D97-AF65-F5344CB8AC3E}">
        <p14:creationId xmlns:p14="http://schemas.microsoft.com/office/powerpoint/2010/main" val="2468897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5B17AE-8086-BE0F-B5E0-1C5254432F07}"/>
              </a:ext>
            </a:extLst>
          </p:cNvPr>
          <p:cNvSpPr>
            <a:spLocks noGrp="1"/>
          </p:cNvSpPr>
          <p:nvPr>
            <p:ph type="title"/>
          </p:nvPr>
        </p:nvSpPr>
        <p:spPr/>
        <p:txBody>
          <a:bodyPr/>
          <a:lstStyle/>
          <a:p>
            <a:r>
              <a:rPr lang="en-US" altLang="zh-TW" dirty="0"/>
              <a:t>The Binary-Skip-Search Algorithm</a:t>
            </a:r>
            <a:endParaRPr lang="zh-TW" altLang="en-US" dirty="0"/>
          </a:p>
        </p:txBody>
      </p:sp>
      <p:sp>
        <p:nvSpPr>
          <p:cNvPr id="3" name="內容版面配置區 2">
            <a:extLst>
              <a:ext uri="{FF2B5EF4-FFF2-40B4-BE49-F238E27FC236}">
                <a16:creationId xmlns:a16="http://schemas.microsoft.com/office/drawing/2014/main" id="{3BBC26E0-9797-D0B4-CEA2-8CC874B183C1}"/>
              </a:ext>
            </a:extLst>
          </p:cNvPr>
          <p:cNvSpPr>
            <a:spLocks noGrp="1"/>
          </p:cNvSpPr>
          <p:nvPr>
            <p:ph idx="1"/>
          </p:nvPr>
        </p:nvSpPr>
        <p:spPr/>
        <p:txBody>
          <a:bodyPr/>
          <a:lstStyle/>
          <a:p>
            <a:r>
              <a:rPr lang="en-US" altLang="zh-TW" dirty="0"/>
              <a:t>Binary-Skip-Search</a:t>
            </a:r>
          </a:p>
          <a:p>
            <a:pPr lvl="1"/>
            <a:r>
              <a:rPr lang="en-US" altLang="zh-TW" dirty="0"/>
              <a:t>t</a:t>
            </a:r>
          </a:p>
          <a:p>
            <a:pPr lvl="2"/>
            <a:r>
              <a:rPr lang="en-US" altLang="zh-TW" dirty="0"/>
              <a:t>0110 0100 1000 1001 1010 0101 0001 0100 1001</a:t>
            </a:r>
          </a:p>
          <a:p>
            <a:pPr lvl="1"/>
            <a:r>
              <a:rPr lang="en-US" altLang="zh-TW" dirty="0"/>
              <a:t>p</a:t>
            </a:r>
          </a:p>
          <a:p>
            <a:pPr lvl="2"/>
            <a:r>
              <a:rPr lang="en-US" altLang="zh-TW" dirty="0"/>
              <a:t>0100 1101 00</a:t>
            </a:r>
          </a:p>
          <a:p>
            <a:pPr lvl="2"/>
            <a:endParaRPr lang="en-US" altLang="zh-TW" dirty="0"/>
          </a:p>
          <a:p>
            <a:pPr lvl="1"/>
            <a:r>
              <a:rPr lang="en-US" altLang="zh-TW" dirty="0"/>
              <a:t>Initialization</a:t>
            </a:r>
          </a:p>
          <a:p>
            <a:pPr lvl="2"/>
            <a:r>
              <a:rPr lang="en-US" altLang="zh-TW" dirty="0"/>
              <a:t>shift = ⌊m / k⌋ − 1</a:t>
            </a:r>
          </a:p>
        </p:txBody>
      </p:sp>
      <p:sp>
        <p:nvSpPr>
          <p:cNvPr id="4" name="投影片編號版面配置區 3">
            <a:extLst>
              <a:ext uri="{FF2B5EF4-FFF2-40B4-BE49-F238E27FC236}">
                <a16:creationId xmlns:a16="http://schemas.microsoft.com/office/drawing/2014/main" id="{7ABC996C-A84C-4106-164A-29D555E317CE}"/>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spTree>
    <p:extLst>
      <p:ext uri="{BB962C8B-B14F-4D97-AF65-F5344CB8AC3E}">
        <p14:creationId xmlns:p14="http://schemas.microsoft.com/office/powerpoint/2010/main" val="1132245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38CE57-898A-9EF4-1648-C2264267F368}"/>
              </a:ext>
            </a:extLst>
          </p:cNvPr>
          <p:cNvSpPr>
            <a:spLocks noGrp="1"/>
          </p:cNvSpPr>
          <p:nvPr>
            <p:ph type="title"/>
          </p:nvPr>
        </p:nvSpPr>
        <p:spPr/>
        <p:txBody>
          <a:bodyPr/>
          <a:lstStyle/>
          <a:p>
            <a:r>
              <a:rPr lang="en-US" altLang="zh-TW" dirty="0"/>
              <a:t>Preprocessing - Skip Table</a:t>
            </a:r>
            <a:endParaRPr lang="zh-TW" altLang="en-US" dirty="0"/>
          </a:p>
        </p:txBody>
      </p:sp>
      <p:sp>
        <p:nvSpPr>
          <p:cNvPr id="4" name="投影片編號版面配置區 3">
            <a:extLst>
              <a:ext uri="{FF2B5EF4-FFF2-40B4-BE49-F238E27FC236}">
                <a16:creationId xmlns:a16="http://schemas.microsoft.com/office/drawing/2014/main" id="{87818160-729F-CFA1-A63E-AFDDF76E7A29}"/>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graphicFrame>
        <p:nvGraphicFramePr>
          <p:cNvPr id="5" name="表格 5">
            <a:extLst>
              <a:ext uri="{FF2B5EF4-FFF2-40B4-BE49-F238E27FC236}">
                <a16:creationId xmlns:a16="http://schemas.microsoft.com/office/drawing/2014/main" id="{56C30926-5934-402F-4364-11CD2BBDC6F4}"/>
              </a:ext>
            </a:extLst>
          </p:cNvPr>
          <p:cNvGraphicFramePr>
            <a:graphicFrameLocks noGrp="1"/>
          </p:cNvGraphicFramePr>
          <p:nvPr>
            <p:ph idx="1"/>
            <p:extLst>
              <p:ext uri="{D42A27DB-BD31-4B8C-83A1-F6EECF244321}">
                <p14:modId xmlns:p14="http://schemas.microsoft.com/office/powerpoint/2010/main" val="3040975339"/>
              </p:ext>
            </p:extLst>
          </p:nvPr>
        </p:nvGraphicFramePr>
        <p:xfrm>
          <a:off x="1185222" y="2286000"/>
          <a:ext cx="9821556" cy="2286000"/>
        </p:xfrm>
        <a:graphic>
          <a:graphicData uri="http://schemas.openxmlformats.org/drawingml/2006/table">
            <a:tbl>
              <a:tblPr firstRow="1" bandRow="1">
                <a:tableStyleId>{5940675A-B579-460E-94D1-54222C63F5DA}</a:tableStyleId>
              </a:tblPr>
              <a:tblGrid>
                <a:gridCol w="1827160">
                  <a:extLst>
                    <a:ext uri="{9D8B030D-6E8A-4147-A177-3AD203B41FA5}">
                      <a16:colId xmlns:a16="http://schemas.microsoft.com/office/drawing/2014/main" val="869712977"/>
                    </a:ext>
                  </a:extLst>
                </a:gridCol>
                <a:gridCol w="1827160">
                  <a:extLst>
                    <a:ext uri="{9D8B030D-6E8A-4147-A177-3AD203B41FA5}">
                      <a16:colId xmlns:a16="http://schemas.microsoft.com/office/drawing/2014/main" val="4100637796"/>
                    </a:ext>
                  </a:extLst>
                </a:gridCol>
                <a:gridCol w="1827160">
                  <a:extLst>
                    <a:ext uri="{9D8B030D-6E8A-4147-A177-3AD203B41FA5}">
                      <a16:colId xmlns:a16="http://schemas.microsoft.com/office/drawing/2014/main" val="2997659134"/>
                    </a:ext>
                  </a:extLst>
                </a:gridCol>
                <a:gridCol w="1827160">
                  <a:extLst>
                    <a:ext uri="{9D8B030D-6E8A-4147-A177-3AD203B41FA5}">
                      <a16:colId xmlns:a16="http://schemas.microsoft.com/office/drawing/2014/main" val="47737438"/>
                    </a:ext>
                  </a:extLst>
                </a:gridCol>
                <a:gridCol w="1687777">
                  <a:extLst>
                    <a:ext uri="{9D8B030D-6E8A-4147-A177-3AD203B41FA5}">
                      <a16:colId xmlns:a16="http://schemas.microsoft.com/office/drawing/2014/main" val="663163163"/>
                    </a:ext>
                  </a:extLst>
                </a:gridCol>
                <a:gridCol w="825139">
                  <a:extLst>
                    <a:ext uri="{9D8B030D-6E8A-4147-A177-3AD203B41FA5}">
                      <a16:colId xmlns:a16="http://schemas.microsoft.com/office/drawing/2014/main" val="2240535705"/>
                    </a:ext>
                  </a:extLst>
                </a:gridCol>
              </a:tblGrid>
              <a:tr h="370840">
                <a:tc>
                  <a:txBody>
                    <a:bodyPr/>
                    <a:lstStyle/>
                    <a:p>
                      <a:r>
                        <a:rPr lang="en-US" altLang="zh-TW" sz="2400" dirty="0" err="1">
                          <a:latin typeface="Times New Roman" panose="02020603050405020304" pitchFamily="18" charset="0"/>
                          <a:cs typeface="Times New Roman" panose="02020603050405020304" pitchFamily="18" charset="0"/>
                        </a:rPr>
                        <a:t>Patt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Last</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156899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0</a:t>
                      </a:r>
                    </a:p>
                  </a:txBody>
                  <a:tcPr/>
                </a:tc>
                <a:tc>
                  <a:txBody>
                    <a:bodyPr/>
                    <a:lstStyle/>
                    <a:p>
                      <a:pPr algn="r"/>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1101</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r"/>
                      <a:r>
                        <a:rPr lang="en-US" altLang="zh-TW" sz="2400" dirty="0">
                          <a:latin typeface="Times New Roman" panose="02020603050405020304" pitchFamily="18" charset="0"/>
                          <a:cs typeface="Times New Roman" panose="02020603050405020304" pitchFamily="18" charset="0"/>
                        </a:rPr>
                        <a:t>00</a:t>
                      </a:r>
                      <a:r>
                        <a:rPr lang="en-US" altLang="zh-TW" sz="2400" dirty="0">
                          <a:solidFill>
                            <a:schemeClr val="accent2"/>
                          </a:solidFill>
                          <a:latin typeface="Times New Roman" panose="02020603050405020304" pitchFamily="18" charset="0"/>
                          <a:cs typeface="Times New Roman" panose="02020603050405020304" pitchFamily="18" charset="0"/>
                        </a:rPr>
                        <a:t>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494346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a:t>
                      </a:r>
                      <a:r>
                        <a:rPr lang="en-US" altLang="zh-TW" sz="2400" dirty="0">
                          <a:latin typeface="Times New Roman" panose="02020603050405020304" pitchFamily="18" charset="0"/>
                          <a:cs typeface="Times New Roman" panose="02020603050405020304" pitchFamily="18" charset="0"/>
                        </a:rPr>
                        <a:t>010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0110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r"/>
                      <a:r>
                        <a:rPr lang="en-US" altLang="zh-TW" sz="2400" dirty="0">
                          <a:latin typeface="Times New Roman" panose="02020603050405020304" pitchFamily="18" charset="0"/>
                          <a:cs typeface="Times New Roman" panose="02020603050405020304" pitchFamily="18" charset="0"/>
                        </a:rPr>
                        <a:t>100</a:t>
                      </a:r>
                      <a:r>
                        <a:rPr lang="en-US" altLang="zh-TW" sz="2400" dirty="0">
                          <a:solidFill>
                            <a:schemeClr val="accent2"/>
                          </a:solidFill>
                          <a:latin typeface="Times New Roman" panose="02020603050405020304" pitchFamily="18" charset="0"/>
                          <a:cs typeface="Times New Roman" panose="02020603050405020304" pitchFamily="18" charset="0"/>
                        </a:rPr>
                        <a:t>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699097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a:t>
                      </a:r>
                      <a:r>
                        <a:rPr lang="en-US" altLang="zh-TW" sz="2400" dirty="0">
                          <a:latin typeface="Times New Roman" panose="02020603050405020304" pitchFamily="18" charset="0"/>
                          <a:cs typeface="Times New Roman" panose="02020603050405020304" pitchFamily="18" charset="0"/>
                        </a:rPr>
                        <a:t>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0011</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r"/>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73338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solidFill>
                            <a:schemeClr val="accent2"/>
                          </a:solidFill>
                          <a:latin typeface="Times New Roman" panose="02020603050405020304" pitchFamily="18" charset="0"/>
                          <a:cs typeface="Times New Roman" panose="02020603050405020304" pitchFamily="18" charset="0"/>
                        </a:rPr>
                        <a:t>000</a:t>
                      </a: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r"/>
                      <a:r>
                        <a:rPr lang="en-US" altLang="zh-TW" sz="2400" dirty="0">
                          <a:latin typeface="Times New Roman" panose="02020603050405020304" pitchFamily="18" charset="0"/>
                          <a:cs typeface="Times New Roman" panose="02020603050405020304" pitchFamily="18" charset="0"/>
                        </a:rPr>
                        <a:t>1010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r"/>
                      <a:r>
                        <a:rPr lang="en-US" altLang="zh-TW" sz="2400" dirty="0">
                          <a:latin typeface="Times New Roman" panose="02020603050405020304" pitchFamily="18" charset="0"/>
                          <a:cs typeface="Times New Roman" panose="02020603050405020304" pitchFamily="18" charset="0"/>
                        </a:rPr>
                        <a:t>0</a:t>
                      </a:r>
                      <a:r>
                        <a:rPr lang="en-US" altLang="zh-TW" sz="2400" dirty="0">
                          <a:solidFill>
                            <a:schemeClr val="accent2"/>
                          </a:solidFill>
                          <a:latin typeface="Times New Roman" panose="02020603050405020304" pitchFamily="18" charset="0"/>
                          <a:cs typeface="Times New Roman" panose="02020603050405020304" pitchFamily="18" charset="0"/>
                        </a:rPr>
                        <a:t>000</a:t>
                      </a:r>
                      <a:endParaRPr lang="zh-TW" altLang="en-US" sz="2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53227906"/>
                  </a:ext>
                </a:extLst>
              </a:tr>
            </a:tbl>
          </a:graphicData>
        </a:graphic>
      </p:graphicFrame>
      <p:sp>
        <p:nvSpPr>
          <p:cNvPr id="6" name="文字方塊 5">
            <a:extLst>
              <a:ext uri="{FF2B5EF4-FFF2-40B4-BE49-F238E27FC236}">
                <a16:creationId xmlns:a16="http://schemas.microsoft.com/office/drawing/2014/main" id="{E343F8E3-F86A-28D5-57DE-B173C5348F59}"/>
              </a:ext>
            </a:extLst>
          </p:cNvPr>
          <p:cNvSpPr txBox="1"/>
          <p:nvPr/>
        </p:nvSpPr>
        <p:spPr>
          <a:xfrm>
            <a:off x="1185222" y="4864010"/>
            <a:ext cx="2901699" cy="1200329"/>
          </a:xfrm>
          <a:prstGeom prst="rect">
            <a:avLst/>
          </a:prstGeom>
          <a:noFill/>
        </p:spPr>
        <p:txBody>
          <a:bodyPr wrap="square" rtlCol="0">
            <a:spAutoFit/>
          </a:bodyPr>
          <a:lstStyle/>
          <a:p>
            <a:r>
              <a:rPr lang="en-US" altLang="zh-TW" sz="2400" dirty="0" err="1">
                <a:latin typeface="Times New Roman" panose="02020603050405020304" pitchFamily="18" charset="0"/>
                <a:cs typeface="Times New Roman" panose="02020603050405020304" pitchFamily="18" charset="0"/>
              </a:rPr>
              <a:t>S</a:t>
            </a:r>
            <a:r>
              <a:rPr lang="en-US" altLang="zh-TW" sz="2400" baseline="-25000" dirty="0" err="1">
                <a:latin typeface="Times New Roman" panose="02020603050405020304" pitchFamily="18" charset="0"/>
                <a:cs typeface="Times New Roman" panose="02020603050405020304" pitchFamily="18" charset="0"/>
              </a:rPr>
              <a:t>k</a:t>
            </a:r>
            <a:r>
              <a:rPr lang="en-US" altLang="zh-TW" sz="2400" dirty="0">
                <a:latin typeface="Times New Roman" panose="02020603050405020304" pitchFamily="18" charset="0"/>
                <a:cs typeface="Times New Roman" panose="02020603050405020304" pitchFamily="18" charset="0"/>
              </a:rPr>
              <a:t>[1101] = {(0, 1)}</a:t>
            </a:r>
          </a:p>
          <a:p>
            <a:r>
              <a:rPr lang="en-US" altLang="zh-TW" sz="2400" dirty="0" err="1">
                <a:latin typeface="Times New Roman" panose="02020603050405020304" pitchFamily="18" charset="0"/>
                <a:cs typeface="Times New Roman" panose="02020603050405020304" pitchFamily="18" charset="0"/>
              </a:rPr>
              <a:t>S</a:t>
            </a:r>
            <a:r>
              <a:rPr lang="en-US" altLang="zh-TW" sz="2400" baseline="-25000" dirty="0" err="1">
                <a:latin typeface="Times New Roman" panose="02020603050405020304" pitchFamily="18" charset="0"/>
                <a:cs typeface="Times New Roman" panose="02020603050405020304" pitchFamily="18" charset="0"/>
              </a:rPr>
              <a:t>k</a:t>
            </a:r>
            <a:r>
              <a:rPr lang="en-US" altLang="zh-TW" sz="2400" dirty="0">
                <a:latin typeface="Times New Roman" panose="02020603050405020304" pitchFamily="18" charset="0"/>
                <a:cs typeface="Times New Roman" panose="02020603050405020304" pitchFamily="18" charset="0"/>
              </a:rPr>
              <a:t>[0110] = {(1, 1)}</a:t>
            </a:r>
          </a:p>
          <a:p>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75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A9E9C-0F43-990B-226B-AAA5BFED111E}"/>
              </a:ext>
            </a:extLst>
          </p:cNvPr>
          <p:cNvSpPr>
            <a:spLocks noGrp="1"/>
          </p:cNvSpPr>
          <p:nvPr>
            <p:ph type="title"/>
          </p:nvPr>
        </p:nvSpPr>
        <p:spPr/>
        <p:txBody>
          <a:bodyPr/>
          <a:lstStyle/>
          <a:p>
            <a:r>
              <a:rPr lang="en-US" altLang="zh-TW" dirty="0"/>
              <a:t>Binary-Skip-Search</a:t>
            </a:r>
            <a:endParaRPr lang="zh-TW" altLang="en-US" dirty="0"/>
          </a:p>
        </p:txBody>
      </p:sp>
      <p:graphicFrame>
        <p:nvGraphicFramePr>
          <p:cNvPr id="5" name="表格 5">
            <a:extLst>
              <a:ext uri="{FF2B5EF4-FFF2-40B4-BE49-F238E27FC236}">
                <a16:creationId xmlns:a16="http://schemas.microsoft.com/office/drawing/2014/main" id="{A6487BD0-ACC7-C000-44A0-1F0B24B59493}"/>
              </a:ext>
            </a:extLst>
          </p:cNvPr>
          <p:cNvGraphicFramePr>
            <a:graphicFrameLocks noGrp="1"/>
          </p:cNvGraphicFramePr>
          <p:nvPr>
            <p:ph idx="1"/>
            <p:extLst>
              <p:ext uri="{D42A27DB-BD31-4B8C-83A1-F6EECF244321}">
                <p14:modId xmlns:p14="http://schemas.microsoft.com/office/powerpoint/2010/main" val="441191028"/>
              </p:ext>
            </p:extLst>
          </p:nvPr>
        </p:nvGraphicFramePr>
        <p:xfrm>
          <a:off x="838200" y="4667795"/>
          <a:ext cx="10515600" cy="1371600"/>
        </p:xfrm>
        <a:graphic>
          <a:graphicData uri="http://schemas.openxmlformats.org/drawingml/2006/table">
            <a:tbl>
              <a:tblPr firstRow="1" bandRow="1">
                <a:tableStyleId>{5940675A-B579-460E-94D1-54222C63F5DA}</a:tableStyleId>
              </a:tblPr>
              <a:tblGrid>
                <a:gridCol w="1051560">
                  <a:extLst>
                    <a:ext uri="{9D8B030D-6E8A-4147-A177-3AD203B41FA5}">
                      <a16:colId xmlns:a16="http://schemas.microsoft.com/office/drawing/2014/main" val="241708186"/>
                    </a:ext>
                  </a:extLst>
                </a:gridCol>
                <a:gridCol w="1051560">
                  <a:extLst>
                    <a:ext uri="{9D8B030D-6E8A-4147-A177-3AD203B41FA5}">
                      <a16:colId xmlns:a16="http://schemas.microsoft.com/office/drawing/2014/main" val="3210633739"/>
                    </a:ext>
                  </a:extLst>
                </a:gridCol>
                <a:gridCol w="1051560">
                  <a:extLst>
                    <a:ext uri="{9D8B030D-6E8A-4147-A177-3AD203B41FA5}">
                      <a16:colId xmlns:a16="http://schemas.microsoft.com/office/drawing/2014/main" val="2850758000"/>
                    </a:ext>
                  </a:extLst>
                </a:gridCol>
                <a:gridCol w="1051560">
                  <a:extLst>
                    <a:ext uri="{9D8B030D-6E8A-4147-A177-3AD203B41FA5}">
                      <a16:colId xmlns:a16="http://schemas.microsoft.com/office/drawing/2014/main" val="3951084213"/>
                    </a:ext>
                  </a:extLst>
                </a:gridCol>
                <a:gridCol w="1051560">
                  <a:extLst>
                    <a:ext uri="{9D8B030D-6E8A-4147-A177-3AD203B41FA5}">
                      <a16:colId xmlns:a16="http://schemas.microsoft.com/office/drawing/2014/main" val="3251450310"/>
                    </a:ext>
                  </a:extLst>
                </a:gridCol>
                <a:gridCol w="1051560">
                  <a:extLst>
                    <a:ext uri="{9D8B030D-6E8A-4147-A177-3AD203B41FA5}">
                      <a16:colId xmlns:a16="http://schemas.microsoft.com/office/drawing/2014/main" val="697398996"/>
                    </a:ext>
                  </a:extLst>
                </a:gridCol>
                <a:gridCol w="1051560">
                  <a:extLst>
                    <a:ext uri="{9D8B030D-6E8A-4147-A177-3AD203B41FA5}">
                      <a16:colId xmlns:a16="http://schemas.microsoft.com/office/drawing/2014/main" val="170873899"/>
                    </a:ext>
                  </a:extLst>
                </a:gridCol>
                <a:gridCol w="1051560">
                  <a:extLst>
                    <a:ext uri="{9D8B030D-6E8A-4147-A177-3AD203B41FA5}">
                      <a16:colId xmlns:a16="http://schemas.microsoft.com/office/drawing/2014/main" val="3920681553"/>
                    </a:ext>
                  </a:extLst>
                </a:gridCol>
                <a:gridCol w="1051560">
                  <a:extLst>
                    <a:ext uri="{9D8B030D-6E8A-4147-A177-3AD203B41FA5}">
                      <a16:colId xmlns:a16="http://schemas.microsoft.com/office/drawing/2014/main" val="2867791515"/>
                    </a:ext>
                  </a:extLst>
                </a:gridCol>
                <a:gridCol w="1051560">
                  <a:extLst>
                    <a:ext uri="{9D8B030D-6E8A-4147-A177-3AD203B41FA5}">
                      <a16:colId xmlns:a16="http://schemas.microsoft.com/office/drawing/2014/main" val="3345529493"/>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j</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887804"/>
                  </a:ext>
                </a:extLst>
              </a:tr>
              <a:tr h="370840">
                <a:tc>
                  <a:txBody>
                    <a:bodyPr/>
                    <a:lstStyle/>
                    <a:p>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0110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1000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1001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1010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0101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0001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1001</a:t>
                      </a:r>
                    </a:p>
                  </a:txBody>
                  <a:tcPr/>
                </a:tc>
                <a:extLst>
                  <a:ext uri="{0D108BD9-81ED-4DB2-BD59-A6C34878D82A}">
                    <a16:rowId xmlns:a16="http://schemas.microsoft.com/office/drawing/2014/main" val="521705254"/>
                  </a:ext>
                </a:extLst>
              </a:tr>
              <a:tr h="370840">
                <a:tc>
                  <a:txBody>
                    <a:bodyPr/>
                    <a:lstStyle/>
                    <a:p>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endParaRPr lang="zh-TW" altLang="en-US" sz="2400" dirty="0">
                        <a:latin typeface="Times New Roman" panose="02020603050405020304" pitchFamily="18" charset="0"/>
                        <a:cs typeface="Times New Roman" panose="02020603050405020304" pitchFamily="18" charset="0"/>
                      </a:endParaRPr>
                    </a:p>
                  </a:txBody>
                  <a:tcPr/>
                </a:tc>
                <a:tc>
                  <a:txBody>
                    <a:bodyPr/>
                    <a:lstStyle/>
                    <a:p>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chemeClr val="bg1"/>
                          </a:solidFill>
                          <a:latin typeface="Times New Roman" panose="02020603050405020304" pitchFamily="18" charset="0"/>
                          <a:cs typeface="Times New Roman" panose="02020603050405020304" pitchFamily="18" charset="0"/>
                        </a:rPr>
                        <a:t>$$$</a:t>
                      </a:r>
                      <a:r>
                        <a:rPr lang="en-US" altLang="zh-TW" sz="2400" dirty="0">
                          <a:solidFill>
                            <a:srgbClr val="00B050"/>
                          </a:solidFill>
                          <a:latin typeface="Times New Roman" panose="02020603050405020304" pitchFamily="18" charset="0"/>
                          <a:cs typeface="Times New Roman" panose="02020603050405020304" pitchFamily="18" charset="0"/>
                        </a:rPr>
                        <a:t>0</a:t>
                      </a:r>
                      <a:endParaRPr lang="zh-TW" altLang="en-US" sz="2400"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00B050"/>
                          </a:solidFill>
                          <a:latin typeface="Times New Roman" panose="02020603050405020304" pitchFamily="18" charset="0"/>
                          <a:cs typeface="Times New Roman" panose="02020603050405020304" pitchFamily="18" charset="0"/>
                        </a:rPr>
                        <a:t>1001</a:t>
                      </a:r>
                      <a:endParaRPr lang="zh-TW" altLang="en-US" sz="2400"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00B050"/>
                          </a:solidFill>
                          <a:latin typeface="Times New Roman" panose="02020603050405020304" pitchFamily="18" charset="0"/>
                          <a:cs typeface="Times New Roman" panose="02020603050405020304" pitchFamily="18" charset="0"/>
                        </a:rPr>
                        <a:t>1010</a:t>
                      </a:r>
                      <a:endParaRPr lang="zh-TW" altLang="en-US" sz="2400"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00B050"/>
                          </a:solidFill>
                          <a:latin typeface="Times New Roman" panose="02020603050405020304" pitchFamily="18" charset="0"/>
                          <a:cs typeface="Times New Roman" panose="02020603050405020304" pitchFamily="18" charset="0"/>
                        </a:rPr>
                        <a:t>0</a:t>
                      </a:r>
                      <a:r>
                        <a:rPr lang="en-US" altLang="zh-TW" sz="2400" dirty="0">
                          <a:solidFill>
                            <a:schemeClr val="bg1"/>
                          </a:solidFill>
                          <a:latin typeface="Times New Roman" panose="02020603050405020304" pitchFamily="18" charset="0"/>
                          <a:cs typeface="Times New Roman" panose="02020603050405020304" pitchFamily="18" charset="0"/>
                        </a:rPr>
                        <a:t>$$$</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zh-TW" altLang="en-US" sz="2400" dirty="0">
                        <a:latin typeface="Times New Roman" panose="02020603050405020304" pitchFamily="18" charset="0"/>
                        <a:cs typeface="Times New Roman" panose="02020603050405020304" pitchFamily="18" charset="0"/>
                      </a:endParaRPr>
                    </a:p>
                  </a:txBody>
                  <a:tcPr/>
                </a:tc>
                <a:tc>
                  <a:txBody>
                    <a:bodyPr/>
                    <a:lstStyle/>
                    <a:p>
                      <a:endParaRPr lang="zh-TW" altLang="en-US" sz="2400" dirty="0">
                        <a:latin typeface="Times New Roman" panose="02020603050405020304" pitchFamily="18" charset="0"/>
                        <a:cs typeface="Times New Roman" panose="02020603050405020304" pitchFamily="18" charset="0"/>
                      </a:endParaRPr>
                    </a:p>
                  </a:txBody>
                  <a:tcPr/>
                </a:tc>
                <a:tc>
                  <a:txBody>
                    <a:bodyPr/>
                    <a:lstStyle/>
                    <a:p>
                      <a:endParaRPr lang="en-US" altLang="zh-TW"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86718412"/>
                  </a:ext>
                </a:extLst>
              </a:tr>
            </a:tbl>
          </a:graphicData>
        </a:graphic>
      </p:graphicFrame>
      <p:sp>
        <p:nvSpPr>
          <p:cNvPr id="4" name="投影片編號版面配置區 3">
            <a:extLst>
              <a:ext uri="{FF2B5EF4-FFF2-40B4-BE49-F238E27FC236}">
                <a16:creationId xmlns:a16="http://schemas.microsoft.com/office/drawing/2014/main" id="{439C5EF2-B6EB-8A11-3387-6186721BAF68}"/>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graphicFrame>
        <p:nvGraphicFramePr>
          <p:cNvPr id="7" name="表格 7">
            <a:extLst>
              <a:ext uri="{FF2B5EF4-FFF2-40B4-BE49-F238E27FC236}">
                <a16:creationId xmlns:a16="http://schemas.microsoft.com/office/drawing/2014/main" id="{F8357CAF-2F5E-78C5-FA3B-2903FE1FEAE5}"/>
              </a:ext>
            </a:extLst>
          </p:cNvPr>
          <p:cNvGraphicFramePr>
            <a:graphicFrameLocks noGrp="1"/>
          </p:cNvGraphicFramePr>
          <p:nvPr>
            <p:extLst>
              <p:ext uri="{D42A27DB-BD31-4B8C-83A1-F6EECF244321}">
                <p14:modId xmlns:p14="http://schemas.microsoft.com/office/powerpoint/2010/main" val="1235717408"/>
              </p:ext>
            </p:extLst>
          </p:nvPr>
        </p:nvGraphicFramePr>
        <p:xfrm>
          <a:off x="4329248" y="1690688"/>
          <a:ext cx="3533504" cy="2743200"/>
        </p:xfrm>
        <a:graphic>
          <a:graphicData uri="http://schemas.openxmlformats.org/drawingml/2006/table">
            <a:tbl>
              <a:tblPr firstRow="1" bandRow="1">
                <a:tableStyleId>{5940675A-B579-460E-94D1-54222C63F5DA}</a:tableStyleId>
              </a:tblPr>
              <a:tblGrid>
                <a:gridCol w="1766752">
                  <a:extLst>
                    <a:ext uri="{9D8B030D-6E8A-4147-A177-3AD203B41FA5}">
                      <a16:colId xmlns:a16="http://schemas.microsoft.com/office/drawing/2014/main" val="1085654791"/>
                    </a:ext>
                  </a:extLst>
                </a:gridCol>
                <a:gridCol w="1766752">
                  <a:extLst>
                    <a:ext uri="{9D8B030D-6E8A-4147-A177-3AD203B41FA5}">
                      <a16:colId xmlns:a16="http://schemas.microsoft.com/office/drawing/2014/main" val="1748875025"/>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Block</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h)</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1517294"/>
                  </a:ext>
                </a:extLst>
              </a:tr>
              <a:tr h="370840">
                <a:tc>
                  <a:txBody>
                    <a:bodyPr/>
                    <a:lstStyle/>
                    <a:p>
                      <a:r>
                        <a:rPr lang="en-US" altLang="zh-TW" sz="2400" dirty="0">
                          <a:latin typeface="Times New Roman" panose="02020603050405020304" pitchFamily="18" charset="0"/>
                          <a:cs typeface="Times New Roman" panose="02020603050405020304" pitchFamily="18" charset="0"/>
                        </a:rPr>
                        <a:t>0011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(2, 1)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2529617"/>
                  </a:ext>
                </a:extLst>
              </a:tr>
              <a:tr h="370840">
                <a:tc>
                  <a:txBody>
                    <a:bodyPr/>
                    <a:lstStyle/>
                    <a:p>
                      <a:r>
                        <a:rPr lang="en-US" altLang="zh-TW" sz="2400" dirty="0">
                          <a:latin typeface="Times New Roman" panose="02020603050405020304" pitchFamily="18" charset="0"/>
                          <a:cs typeface="Times New Roman" panose="02020603050405020304" pitchFamily="18" charset="0"/>
                        </a:rPr>
                        <a:t>0110</a:t>
                      </a:r>
                    </a:p>
                  </a:txBody>
                  <a:tcPr/>
                </a:tc>
                <a:tc>
                  <a:txBody>
                    <a:bodyPr/>
                    <a:lstStyle/>
                    <a:p>
                      <a:r>
                        <a:rPr lang="en-US" altLang="zh-TW" sz="2400" dirty="0">
                          <a:latin typeface="Times New Roman" panose="02020603050405020304" pitchFamily="18" charset="0"/>
                          <a:cs typeface="Times New Roman" panose="02020603050405020304" pitchFamily="18" charset="0"/>
                        </a:rPr>
                        <a:t>(1, 1)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550763"/>
                  </a:ext>
                </a:extLst>
              </a:tr>
              <a:tr h="370840">
                <a:tc>
                  <a:txBody>
                    <a:bodyPr/>
                    <a:lstStyle/>
                    <a:p>
                      <a:r>
                        <a:rPr lang="en-US" altLang="zh-TW" sz="2400" dirty="0">
                          <a:latin typeface="Times New Roman" panose="02020603050405020304" pitchFamily="18" charset="0"/>
                          <a:cs typeface="Times New Roman" panose="02020603050405020304" pitchFamily="18" charset="0"/>
                        </a:rPr>
                        <a:t>1101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(0, 1)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5298810"/>
                  </a:ext>
                </a:extLst>
              </a:tr>
              <a:tr h="370840">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1010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(3, 2)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324219"/>
                  </a:ext>
                </a:extLst>
              </a:tr>
              <a:tr h="370840">
                <a:tc>
                  <a:txBody>
                    <a:bodyPr/>
                    <a:lstStyle/>
                    <a:p>
                      <a:r>
                        <a:rPr lang="en-US" altLang="zh-TW" sz="2400" dirty="0">
                          <a:latin typeface="Times New Roman" panose="02020603050405020304" pitchFamily="18" charset="0"/>
                          <a:cs typeface="Times New Roman" panose="02020603050405020304" pitchFamily="18" charset="0"/>
                        </a:rPr>
                        <a:t>0100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(2, 2)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4481229"/>
                  </a:ext>
                </a:extLst>
              </a:tr>
            </a:tbl>
          </a:graphicData>
        </a:graphic>
      </p:graphicFrame>
    </p:spTree>
    <p:extLst>
      <p:ext uri="{BB962C8B-B14F-4D97-AF65-F5344CB8AC3E}">
        <p14:creationId xmlns:p14="http://schemas.microsoft.com/office/powerpoint/2010/main" val="3089889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8E7651-F892-2396-2644-48555F608A4B}"/>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44A76687-4A93-D33A-7CBE-72FEDEDDBB0C}"/>
              </a:ext>
            </a:extLst>
          </p:cNvPr>
          <p:cNvSpPr>
            <a:spLocks noGrp="1"/>
          </p:cNvSpPr>
          <p:nvPr>
            <p:ph idx="1"/>
          </p:nvPr>
        </p:nvSpPr>
        <p:spPr>
          <a:xfrm>
            <a:off x="838200" y="1825625"/>
            <a:ext cx="7852954" cy="4667250"/>
          </a:xfrm>
        </p:spPr>
        <p:txBody>
          <a:bodyPr>
            <a:normAutofit/>
          </a:bodyPr>
          <a:lstStyle/>
          <a:p>
            <a:r>
              <a:rPr lang="en-US" altLang="zh-TW" dirty="0"/>
              <a:t>The Binary Hash Matching Algorithm</a:t>
            </a:r>
          </a:p>
          <a:p>
            <a:pPr lvl="1"/>
            <a:r>
              <a:rPr lang="en-US" altLang="zh-TW" dirty="0"/>
              <a:t>Preprocessing</a:t>
            </a:r>
          </a:p>
          <a:p>
            <a:pPr lvl="2"/>
            <a:r>
              <a:rPr lang="en-US" altLang="zh-TW" i="1" dirty="0"/>
              <a:t>O(m + k2</a:t>
            </a:r>
            <a:r>
              <a:rPr lang="en-US" altLang="zh-TW" i="1" baseline="30000" dirty="0"/>
              <a:t>k+1</a:t>
            </a:r>
            <a:r>
              <a:rPr lang="en-US" altLang="zh-TW" i="1" dirty="0"/>
              <a:t> ) </a:t>
            </a:r>
          </a:p>
          <a:p>
            <a:pPr lvl="1"/>
            <a:r>
              <a:rPr lang="en-US" altLang="zh-TW" dirty="0"/>
              <a:t>Algorithm</a:t>
            </a:r>
          </a:p>
          <a:p>
            <a:pPr lvl="2"/>
            <a:r>
              <a:rPr lang="en-US" altLang="zh-TW" i="1" dirty="0"/>
              <a:t> O(⌈m / </a:t>
            </a:r>
            <a:r>
              <a:rPr lang="en-US" altLang="zh-TW" i="1" dirty="0" err="1"/>
              <a:t>k⌉n</a:t>
            </a:r>
            <a:r>
              <a:rPr lang="en-US" altLang="zh-TW" i="1" dirty="0"/>
              <a:t>)</a:t>
            </a:r>
          </a:p>
          <a:p>
            <a:r>
              <a:rPr lang="en-US" altLang="zh-TW" dirty="0"/>
              <a:t>The Binary Skip Search Algorithm</a:t>
            </a:r>
          </a:p>
          <a:p>
            <a:pPr lvl="1"/>
            <a:r>
              <a:rPr lang="en-US" altLang="zh-TW" dirty="0"/>
              <a:t>Preprocessing</a:t>
            </a:r>
          </a:p>
          <a:p>
            <a:pPr lvl="2"/>
            <a:r>
              <a:rPr lang="en-US" altLang="zh-TW" i="1" dirty="0"/>
              <a:t>O(m + 2</a:t>
            </a:r>
            <a:r>
              <a:rPr lang="en-US" altLang="zh-TW" i="1" baseline="30000" dirty="0"/>
              <a:t>k</a:t>
            </a:r>
            <a:r>
              <a:rPr lang="en-US" altLang="zh-TW" i="1" dirty="0"/>
              <a:t>)</a:t>
            </a:r>
          </a:p>
          <a:p>
            <a:pPr lvl="1"/>
            <a:r>
              <a:rPr lang="en-US" altLang="zh-TW" dirty="0"/>
              <a:t>Algorithm</a:t>
            </a:r>
          </a:p>
          <a:p>
            <a:pPr lvl="2"/>
            <a:r>
              <a:rPr lang="en-US" altLang="zh-TW" i="1" dirty="0"/>
              <a:t>O(⌈m / </a:t>
            </a:r>
            <a:r>
              <a:rPr lang="en-US" altLang="zh-TW" i="1" dirty="0" err="1"/>
              <a:t>k⌉n</a:t>
            </a:r>
            <a:r>
              <a:rPr lang="en-US" altLang="zh-TW" i="1" dirty="0"/>
              <a:t>)</a:t>
            </a:r>
          </a:p>
          <a:p>
            <a:endParaRPr lang="zh-TW" altLang="en-US" dirty="0"/>
          </a:p>
        </p:txBody>
      </p:sp>
      <p:sp>
        <p:nvSpPr>
          <p:cNvPr id="4" name="投影片編號版面配置區 3">
            <a:extLst>
              <a:ext uri="{FF2B5EF4-FFF2-40B4-BE49-F238E27FC236}">
                <a16:creationId xmlns:a16="http://schemas.microsoft.com/office/drawing/2014/main" id="{1F3EC945-542A-68CE-CE07-FBA6E2FC3D04}"/>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spTree>
    <p:extLst>
      <p:ext uri="{BB962C8B-B14F-4D97-AF65-F5344CB8AC3E}">
        <p14:creationId xmlns:p14="http://schemas.microsoft.com/office/powerpoint/2010/main" val="290341981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4366</TotalTime>
  <Words>640</Words>
  <Application>Microsoft Office PowerPoint</Application>
  <PresentationFormat>寬螢幕</PresentationFormat>
  <Paragraphs>273</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源流明體 M</vt:lpstr>
      <vt:lpstr>Arial</vt:lpstr>
      <vt:lpstr>Calibri</vt:lpstr>
      <vt:lpstr>Times New Roman</vt:lpstr>
      <vt:lpstr>Office 佈景主題</vt:lpstr>
      <vt:lpstr>Efficient Pattern Matching on Binary Strings</vt:lpstr>
      <vt:lpstr>Abstract</vt:lpstr>
      <vt:lpstr>Binary String Matching</vt:lpstr>
      <vt:lpstr>Preprocessing</vt:lpstr>
      <vt:lpstr>Binary-Naive algorithm</vt:lpstr>
      <vt:lpstr>The Binary Hash Matching Algorithm</vt:lpstr>
      <vt:lpstr>The Binary Hash Matching Algorithm</vt:lpstr>
      <vt:lpstr>Preprocessing - Hash</vt:lpstr>
      <vt:lpstr>Binary Hash Matching</vt:lpstr>
      <vt:lpstr>The Binary-Skip-Search Algorithm</vt:lpstr>
      <vt:lpstr>Preprocessing - Skip Table</vt:lpstr>
      <vt:lpstr>Binary-Skip-Search</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619</cp:revision>
  <dcterms:created xsi:type="dcterms:W3CDTF">2022-02-13T12:00:20Z</dcterms:created>
  <dcterms:modified xsi:type="dcterms:W3CDTF">2022-07-05T07:56:01Z</dcterms:modified>
</cp:coreProperties>
</file>