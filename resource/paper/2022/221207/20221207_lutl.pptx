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4"/>
  </p:notesMasterIdLst>
  <p:sldIdLst>
    <p:sldId id="256" r:id="rId2"/>
    <p:sldId id="257" r:id="rId3"/>
    <p:sldId id="282" r:id="rId4"/>
    <p:sldId id="300" r:id="rId5"/>
    <p:sldId id="286" r:id="rId6"/>
    <p:sldId id="287" r:id="rId7"/>
    <p:sldId id="291" r:id="rId8"/>
    <p:sldId id="288" r:id="rId9"/>
    <p:sldId id="290" r:id="rId10"/>
    <p:sldId id="289" r:id="rId11"/>
    <p:sldId id="293" r:id="rId12"/>
    <p:sldId id="294" r:id="rId13"/>
    <p:sldId id="302" r:id="rId14"/>
    <p:sldId id="292" r:id="rId15"/>
    <p:sldId id="296" r:id="rId16"/>
    <p:sldId id="297" r:id="rId17"/>
    <p:sldId id="301" r:id="rId18"/>
    <p:sldId id="299" r:id="rId19"/>
    <p:sldId id="298" r:id="rId20"/>
    <p:sldId id="285" r:id="rId21"/>
    <p:sldId id="281" r:id="rId22"/>
    <p:sldId id="284"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snapToObjects="1">
      <p:cViewPr>
        <p:scale>
          <a:sx n="93" d="100"/>
          <a:sy n="93" d="100"/>
        </p:scale>
        <p:origin x="1320"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2022/12/4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2022/12/4</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2022/12/4</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2022/12/4</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2022/12/4</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2022/12/4</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2022/12/4</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2022/12/4</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blog.yucheng.me/post/kd-tree/"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1208568" y="1122363"/>
            <a:ext cx="9774865" cy="2387600"/>
          </a:xfrm>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Internet Packet Filter Management and Rectangle Geometry</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David </a:t>
            </a:r>
            <a:r>
              <a:rPr kumimoji="1" lang="en-US" altLang="zh-TW" dirty="0" err="1">
                <a:latin typeface="Times New Roman" panose="02020603050405020304" pitchFamily="18" charset="0"/>
                <a:cs typeface="Times New Roman" panose="02020603050405020304" pitchFamily="18" charset="0"/>
              </a:rPr>
              <a:t>Eppstein</a:t>
            </a:r>
            <a:r>
              <a:rPr kumimoji="1" lang="en-US" altLang="zh-TW" dirty="0">
                <a:latin typeface="Times New Roman" panose="02020603050405020304" pitchFamily="18" charset="0"/>
                <a:cs typeface="Times New Roman" panose="02020603050405020304" pitchFamily="18" charset="0"/>
              </a:rPr>
              <a:t>, S. </a:t>
            </a:r>
            <a:r>
              <a:rPr kumimoji="1" lang="en-US" altLang="zh-TW" dirty="0" err="1">
                <a:latin typeface="Times New Roman" panose="02020603050405020304" pitchFamily="18" charset="0"/>
                <a:cs typeface="Times New Roman" panose="02020603050405020304" pitchFamily="18" charset="0"/>
              </a:rPr>
              <a:t>Muthukrishnan</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12th Annual ACM-SIAM Symposium on Discrete Algorithms, Washington, D.C., USA</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pp. 827–835, 2001</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Dec. 7,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We consider rule sets for internet packet routing and filtering, where each rule consists of a range of source addresses, a range of destination addresses, a priority, and an action. A given packet should be handled by the action from the maximum priority rule that matches its source and destination. We describe new data structures for quickly finding the rule matching an incoming packet, in near-linear space, and a new algorithm for determining whether a rule set contains any conflicts, in time O(</a:t>
                </a:r>
                <a14:m>
                  <m:oMath xmlns:m="http://schemas.openxmlformats.org/officeDocument/2006/math">
                    <m:sSup>
                      <m:sSupPr>
                        <m:ctrlPr>
                          <a:rPr kumimoji="1" lang="en-US" altLang="zh-TW"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𝑛</m:t>
                        </m:r>
                      </m:e>
                      <m:sup>
                        <m:r>
                          <a:rPr kumimoji="1" lang="en-US" altLang="zh-TW" b="0" i="1" smtClean="0">
                            <a:latin typeface="Cambria Math" panose="02040503050406030204" pitchFamily="18" charset="0"/>
                            <a:cs typeface="Times New Roman" panose="02020603050405020304" pitchFamily="18" charset="0"/>
                          </a:rPr>
                          <m:t>1.5</m:t>
                        </m:r>
                      </m:sup>
                    </m:sSup>
                  </m:oMath>
                </a14:m>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blipFill>
                <a:blip r:embed="rId2"/>
                <a:stretch>
                  <a:fillRect l="-1206" t="-2326" r="-1086"/>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numCol="2">
            <a:normAutofit/>
          </a:bodyPr>
          <a:lstStyle/>
          <a:p>
            <a:r>
              <a:rPr kumimoji="1" lang="en-US" altLang="zh-TW" dirty="0">
                <a:latin typeface="Times New Roman" panose="02020603050405020304" pitchFamily="18" charset="0"/>
                <a:cs typeface="Times New Roman" panose="02020603050405020304" pitchFamily="18" charset="0"/>
              </a:rPr>
              <a:t>Packet Filter Management Problem</a:t>
            </a:r>
          </a:p>
          <a:p>
            <a:r>
              <a:rPr kumimoji="1" lang="en-US" altLang="zh-TW" dirty="0">
                <a:latin typeface="Times New Roman" panose="02020603050405020304" pitchFamily="18" charset="0"/>
                <a:cs typeface="Times New Roman" panose="02020603050405020304" pitchFamily="18" charset="0"/>
              </a:rPr>
              <a:t>Filter Conflict Detection Problem</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Two Packet Classification</a:t>
            </a:r>
          </a:p>
          <a:p>
            <a:pPr lvl="1"/>
            <a:r>
              <a:rPr kumimoji="1" lang="en-US" altLang="zh-TW" dirty="0">
                <a:latin typeface="Times New Roman" panose="02020603050405020304" pitchFamily="18" charset="0"/>
                <a:cs typeface="Times New Roman" panose="02020603050405020304" pitchFamily="18" charset="0"/>
              </a:rPr>
              <a:t>1. Persistent Interval Queries</a:t>
            </a:r>
          </a:p>
          <a:p>
            <a:pPr lvl="1"/>
            <a:r>
              <a:rPr kumimoji="1" lang="en-US" altLang="zh-TW" dirty="0">
                <a:latin typeface="Times New Roman" panose="02020603050405020304" pitchFamily="18" charset="0"/>
                <a:cs typeface="Times New Roman" panose="02020603050405020304" pitchFamily="18" charset="0"/>
              </a:rPr>
              <a:t>2. Static to Dynamic Transformation </a:t>
            </a:r>
          </a:p>
          <a:p>
            <a:r>
              <a:rPr kumimoji="1" lang="en-US" altLang="zh-TW" dirty="0">
                <a:latin typeface="Times New Roman" panose="02020603050405020304" pitchFamily="18" charset="0"/>
                <a:cs typeface="Times New Roman" panose="02020603050405020304" pitchFamily="18" charset="0"/>
              </a:rPr>
              <a:t>Filter Conflict Detection Problem</a:t>
            </a:r>
          </a:p>
          <a:p>
            <a:pPr lvl="1"/>
            <a:r>
              <a:rPr kumimoji="1" lang="en-US" altLang="zh-TW" dirty="0">
                <a:latin typeface="Times New Roman" panose="02020603050405020304" pitchFamily="18" charset="0"/>
                <a:cs typeface="Times New Roman" panose="02020603050405020304" pitchFamily="18" charset="0"/>
              </a:rPr>
              <a:t>1. Lower Envelopes, MST Verification</a:t>
            </a:r>
          </a:p>
          <a:p>
            <a:pPr lvl="1"/>
            <a:r>
              <a:rPr kumimoji="1" lang="en-US" altLang="zh-TW" dirty="0">
                <a:latin typeface="Times New Roman" panose="02020603050405020304" pitchFamily="18" charset="0"/>
                <a:cs typeface="Times New Roman" panose="02020603050405020304" pitchFamily="18" charset="0"/>
              </a:rPr>
              <a:t>2.</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Stripes</a:t>
            </a:r>
          </a:p>
          <a:p>
            <a:pPr lvl="1"/>
            <a:r>
              <a:rPr kumimoji="1" lang="en-US" altLang="zh-TW" dirty="0">
                <a:latin typeface="Times New Roman" panose="02020603050405020304" pitchFamily="18" charset="0"/>
                <a:cs typeface="Times New Roman" panose="02020603050405020304" pitchFamily="18" charset="0"/>
              </a:rPr>
              <a:t>3. KD-Tree</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Complexity</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3850919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Packet Filter Management Problem (1/2)</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pic>
        <p:nvPicPr>
          <p:cNvPr id="4" name="圖片 3">
            <a:extLst>
              <a:ext uri="{FF2B5EF4-FFF2-40B4-BE49-F238E27FC236}">
                <a16:creationId xmlns:a16="http://schemas.microsoft.com/office/drawing/2014/main" id="{F668AA4E-0A17-1069-86BD-CE40D0C3D415}"/>
              </a:ext>
            </a:extLst>
          </p:cNvPr>
          <p:cNvPicPr>
            <a:picLocks noChangeAspect="1"/>
          </p:cNvPicPr>
          <p:nvPr/>
        </p:nvPicPr>
        <p:blipFill>
          <a:blip r:embed="rId2"/>
          <a:stretch>
            <a:fillRect/>
          </a:stretch>
        </p:blipFill>
        <p:spPr>
          <a:xfrm>
            <a:off x="1104090" y="1668009"/>
            <a:ext cx="9983821" cy="4351337"/>
          </a:xfrm>
          <a:prstGeom prst="rect">
            <a:avLst/>
          </a:prstGeom>
        </p:spPr>
      </p:pic>
    </p:spTree>
    <p:extLst>
      <p:ext uri="{BB962C8B-B14F-4D97-AF65-F5344CB8AC3E}">
        <p14:creationId xmlns:p14="http://schemas.microsoft.com/office/powerpoint/2010/main" val="3911081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Packet Filter Management Problem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4" name="圖片 3">
            <a:extLst>
              <a:ext uri="{FF2B5EF4-FFF2-40B4-BE49-F238E27FC236}">
                <a16:creationId xmlns:a16="http://schemas.microsoft.com/office/drawing/2014/main" id="{65358A95-DF2E-7FE8-0D22-FF0395CBC665}"/>
              </a:ext>
            </a:extLst>
          </p:cNvPr>
          <p:cNvPicPr>
            <a:picLocks noChangeAspect="1"/>
          </p:cNvPicPr>
          <p:nvPr/>
        </p:nvPicPr>
        <p:blipFill>
          <a:blip r:embed="rId2"/>
          <a:stretch>
            <a:fillRect/>
          </a:stretch>
        </p:blipFill>
        <p:spPr>
          <a:xfrm>
            <a:off x="859464" y="1690688"/>
            <a:ext cx="4555180" cy="4722650"/>
          </a:xfrm>
          <a:prstGeom prst="rect">
            <a:avLst/>
          </a:prstGeom>
        </p:spPr>
      </p:pic>
      <p:pic>
        <p:nvPicPr>
          <p:cNvPr id="5" name="圖片 4">
            <a:extLst>
              <a:ext uri="{FF2B5EF4-FFF2-40B4-BE49-F238E27FC236}">
                <a16:creationId xmlns:a16="http://schemas.microsoft.com/office/drawing/2014/main" id="{5B9F8F72-AAF5-17BB-B750-5F453D68E910}"/>
              </a:ext>
            </a:extLst>
          </p:cNvPr>
          <p:cNvPicPr>
            <a:picLocks noChangeAspect="1"/>
          </p:cNvPicPr>
          <p:nvPr/>
        </p:nvPicPr>
        <p:blipFill>
          <a:blip r:embed="rId3"/>
          <a:stretch>
            <a:fillRect/>
          </a:stretch>
        </p:blipFill>
        <p:spPr>
          <a:xfrm>
            <a:off x="5790459" y="1771802"/>
            <a:ext cx="2570615" cy="4560422"/>
          </a:xfrm>
          <a:prstGeom prst="rect">
            <a:avLst/>
          </a:prstGeom>
        </p:spPr>
      </p:pic>
      <p:sp>
        <p:nvSpPr>
          <p:cNvPr id="8" name="文字方塊 7">
            <a:extLst>
              <a:ext uri="{FF2B5EF4-FFF2-40B4-BE49-F238E27FC236}">
                <a16:creationId xmlns:a16="http://schemas.microsoft.com/office/drawing/2014/main" id="{B8D049A4-589C-DB64-B017-0966B25B185D}"/>
              </a:ext>
            </a:extLst>
          </p:cNvPr>
          <p:cNvSpPr txBox="1"/>
          <p:nvPr/>
        </p:nvSpPr>
        <p:spPr>
          <a:xfrm>
            <a:off x="8610600" y="1771802"/>
            <a:ext cx="2362200" cy="1569660"/>
          </a:xfrm>
          <a:prstGeom prst="rect">
            <a:avLst/>
          </a:prstGeom>
          <a:noFill/>
        </p:spPr>
        <p:txBody>
          <a:bodyPr wrap="square">
            <a:spAutoFit/>
          </a:bodyPr>
          <a:lstStyle/>
          <a:p>
            <a:pPr marL="285750" indent="-285750">
              <a:buFont typeface="Arial" panose="020B0604020202020204" pitchFamily="34" charset="0"/>
              <a:buChar char="•"/>
            </a:pPr>
            <a:r>
              <a:rPr lang="en-US" altLang="zh-TW" sz="2400" dirty="0">
                <a:latin typeface="Times"/>
              </a:rPr>
              <a:t>D</a:t>
            </a:r>
            <a:r>
              <a:rPr lang="en-US" altLang="zh-TW" sz="2400" dirty="0">
                <a:effectLst/>
                <a:latin typeface="Times"/>
              </a:rPr>
              <a:t>etermine the filter of highest priority that applies to </a:t>
            </a:r>
            <a:r>
              <a:rPr lang="en-US" altLang="zh-TW" sz="2400" i="1" dirty="0">
                <a:effectLst/>
                <a:latin typeface="Times"/>
              </a:rPr>
              <a:t>P </a:t>
            </a:r>
            <a:endParaRPr lang="en-US" altLang="zh-TW" sz="2400" dirty="0"/>
          </a:p>
        </p:txBody>
      </p:sp>
    </p:spTree>
    <p:extLst>
      <p:ext uri="{BB962C8B-B14F-4D97-AF65-F5344CB8AC3E}">
        <p14:creationId xmlns:p14="http://schemas.microsoft.com/office/powerpoint/2010/main" val="3062708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Filter Conflict Detection Problem</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4" name="圖片 3">
            <a:extLst>
              <a:ext uri="{FF2B5EF4-FFF2-40B4-BE49-F238E27FC236}">
                <a16:creationId xmlns:a16="http://schemas.microsoft.com/office/drawing/2014/main" id="{CF0C8C8A-96FA-442B-5797-8E64D4D2E290}"/>
              </a:ext>
            </a:extLst>
          </p:cNvPr>
          <p:cNvPicPr>
            <a:picLocks noChangeAspect="1"/>
          </p:cNvPicPr>
          <p:nvPr/>
        </p:nvPicPr>
        <p:blipFill>
          <a:blip r:embed="rId2"/>
          <a:stretch>
            <a:fillRect/>
          </a:stretch>
        </p:blipFill>
        <p:spPr>
          <a:xfrm>
            <a:off x="2209800" y="1333185"/>
            <a:ext cx="7772400" cy="5159690"/>
          </a:xfrm>
          <a:prstGeom prst="rect">
            <a:avLst/>
          </a:prstGeom>
        </p:spPr>
      </p:pic>
      <p:sp>
        <p:nvSpPr>
          <p:cNvPr id="8" name="矩形 7">
            <a:extLst>
              <a:ext uri="{FF2B5EF4-FFF2-40B4-BE49-F238E27FC236}">
                <a16:creationId xmlns:a16="http://schemas.microsoft.com/office/drawing/2014/main" id="{91198F7D-07BC-C471-DF9D-6FE5425F16FC}"/>
              </a:ext>
            </a:extLst>
          </p:cNvPr>
          <p:cNvSpPr/>
          <p:nvPr/>
        </p:nvSpPr>
        <p:spPr>
          <a:xfrm>
            <a:off x="2977116" y="3955560"/>
            <a:ext cx="606055" cy="606055"/>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214FE104-B7A5-B38B-6847-E5BA6B57E74F}"/>
              </a:ext>
            </a:extLst>
          </p:cNvPr>
          <p:cNvSpPr/>
          <p:nvPr/>
        </p:nvSpPr>
        <p:spPr>
          <a:xfrm>
            <a:off x="4214037" y="5157989"/>
            <a:ext cx="606055" cy="606055"/>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3" name="直線箭頭接點 12">
            <a:extLst>
              <a:ext uri="{FF2B5EF4-FFF2-40B4-BE49-F238E27FC236}">
                <a16:creationId xmlns:a16="http://schemas.microsoft.com/office/drawing/2014/main" id="{F28A3632-DC3C-B32C-BE85-4B8D5BC5E1A2}"/>
              </a:ext>
            </a:extLst>
          </p:cNvPr>
          <p:cNvCxnSpPr>
            <a:cxnSpLocks/>
          </p:cNvCxnSpPr>
          <p:nvPr/>
        </p:nvCxnSpPr>
        <p:spPr>
          <a:xfrm>
            <a:off x="4788193" y="5458605"/>
            <a:ext cx="7407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2851D61E-C63E-CD50-9AFA-6CB235A19E2F}"/>
              </a:ext>
            </a:extLst>
          </p:cNvPr>
          <p:cNvSpPr txBox="1"/>
          <p:nvPr/>
        </p:nvSpPr>
        <p:spPr>
          <a:xfrm>
            <a:off x="5543106" y="4073921"/>
            <a:ext cx="94128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Conflict</a:t>
            </a:r>
            <a:endParaRPr kumimoji="1"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C07A8134-9455-554B-3D36-2920C6AE3024}"/>
              </a:ext>
            </a:extLst>
          </p:cNvPr>
          <p:cNvSpPr txBox="1"/>
          <p:nvPr/>
        </p:nvSpPr>
        <p:spPr>
          <a:xfrm>
            <a:off x="5543106" y="5273939"/>
            <a:ext cx="94128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Conflict</a:t>
            </a:r>
            <a:endParaRPr kumimoji="1"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D25FF99D-EB7D-BC34-25FA-3912D0C56345}"/>
              </a:ext>
            </a:extLst>
          </p:cNvPr>
          <p:cNvSpPr txBox="1"/>
          <p:nvPr/>
        </p:nvSpPr>
        <p:spPr>
          <a:xfrm>
            <a:off x="6665215" y="3560188"/>
            <a:ext cx="3136158" cy="2554545"/>
          </a:xfrm>
          <a:prstGeom prst="rect">
            <a:avLst/>
          </a:prstGeom>
          <a:noFill/>
        </p:spPr>
        <p:txBody>
          <a:bodyPr wrap="square">
            <a:spAutoFit/>
          </a:bodyPr>
          <a:lstStyle/>
          <a:p>
            <a:pPr marL="285750" indent="-285750" algn="just">
              <a:buFont typeface="Arial" panose="020B0604020202020204" pitchFamily="34" charset="0"/>
              <a:buChar char="•"/>
            </a:pPr>
            <a:r>
              <a:rPr lang="en-US" altLang="zh-TW" sz="2000" dirty="0">
                <a:effectLst/>
                <a:latin typeface="Times"/>
              </a:rPr>
              <a:t>Given a database </a:t>
            </a:r>
            <a:r>
              <a:rPr lang="en-US" altLang="zh-TW" sz="2000" i="1" dirty="0">
                <a:effectLst/>
                <a:latin typeface="Times"/>
              </a:rPr>
              <a:t>F </a:t>
            </a:r>
            <a:r>
              <a:rPr lang="en-US" altLang="zh-TW" sz="2000" dirty="0">
                <a:effectLst/>
                <a:latin typeface="Times"/>
              </a:rPr>
              <a:t>of filters, determine if there exists any packet </a:t>
            </a:r>
            <a:r>
              <a:rPr lang="en-US" altLang="zh-TW" sz="2000" i="1" dirty="0">
                <a:effectLst/>
                <a:latin typeface="Times"/>
              </a:rPr>
              <a:t>P </a:t>
            </a:r>
            <a:r>
              <a:rPr lang="en-US" altLang="zh-TW" sz="2000" dirty="0">
                <a:effectLst/>
                <a:latin typeface="Times"/>
              </a:rPr>
              <a:t>such that of the filters of the highest priority that apply to </a:t>
            </a:r>
            <a:r>
              <a:rPr lang="en-US" altLang="zh-TW" sz="2000" i="1" dirty="0">
                <a:effectLst/>
                <a:latin typeface="Times"/>
              </a:rPr>
              <a:t>P</a:t>
            </a:r>
            <a:r>
              <a:rPr lang="en-US" altLang="zh-TW" sz="2000" dirty="0">
                <a:effectLst/>
                <a:latin typeface="Times"/>
              </a:rPr>
              <a:t>, any two of them specify actions that conflict. </a:t>
            </a:r>
            <a:endParaRPr lang="en-US" altLang="zh-TW" sz="2000" dirty="0"/>
          </a:p>
        </p:txBody>
      </p:sp>
      <p:sp>
        <p:nvSpPr>
          <p:cNvPr id="19" name="矩形 18">
            <a:extLst>
              <a:ext uri="{FF2B5EF4-FFF2-40B4-BE49-F238E27FC236}">
                <a16:creationId xmlns:a16="http://schemas.microsoft.com/office/drawing/2014/main" id="{5A4FE511-EC6C-416A-C0C1-3C6E2172CB27}"/>
              </a:ext>
            </a:extLst>
          </p:cNvPr>
          <p:cNvSpPr/>
          <p:nvPr/>
        </p:nvSpPr>
        <p:spPr>
          <a:xfrm>
            <a:off x="4182138" y="3945175"/>
            <a:ext cx="606055" cy="606055"/>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0" name="直線箭頭接點 19">
            <a:extLst>
              <a:ext uri="{FF2B5EF4-FFF2-40B4-BE49-F238E27FC236}">
                <a16:creationId xmlns:a16="http://schemas.microsoft.com/office/drawing/2014/main" id="{A7DCA397-135C-E8EE-CEB5-24B4798108D1}"/>
              </a:ext>
            </a:extLst>
          </p:cNvPr>
          <p:cNvCxnSpPr>
            <a:cxnSpLocks/>
          </p:cNvCxnSpPr>
          <p:nvPr/>
        </p:nvCxnSpPr>
        <p:spPr>
          <a:xfrm>
            <a:off x="4802369" y="4248202"/>
            <a:ext cx="7407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A85F4565-4C6D-FDFA-ED26-A736BD55998A}"/>
              </a:ext>
            </a:extLst>
          </p:cNvPr>
          <p:cNvSpPr/>
          <p:nvPr/>
        </p:nvSpPr>
        <p:spPr>
          <a:xfrm>
            <a:off x="2972499" y="5155577"/>
            <a:ext cx="606055" cy="606055"/>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94709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T</a:t>
            </a:r>
            <a:r>
              <a:rPr kumimoji="1" lang="en-US" altLang="zh-TW" dirty="0">
                <a:latin typeface="Times New Roman" panose="02020603050405020304" pitchFamily="18" charset="0"/>
                <a:cs typeface="Times New Roman" panose="02020603050405020304" pitchFamily="18" charset="0"/>
              </a:rPr>
              <a:t>wo Packet Classification</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Our approach to solving the two packet classification relies on </a:t>
            </a:r>
            <a:r>
              <a:rPr kumimoji="1" lang="en-US" altLang="zh-TW" b="1" dirty="0">
                <a:solidFill>
                  <a:srgbClr val="FF0000"/>
                </a:solidFill>
                <a:latin typeface="Times New Roman" panose="02020603050405020304" pitchFamily="18" charset="0"/>
                <a:cs typeface="Times New Roman" panose="02020603050405020304" pitchFamily="18" charset="0"/>
              </a:rPr>
              <a:t>a standard plane-sweep approach</a:t>
            </a:r>
            <a:r>
              <a:rPr kumimoji="1" lang="en-US" altLang="zh-TW" dirty="0">
                <a:latin typeface="Times New Roman" panose="02020603050405020304" pitchFamily="18" charset="0"/>
                <a:cs typeface="Times New Roman" panose="02020603050405020304" pitchFamily="18" charset="0"/>
              </a:rPr>
              <a:t> to turn the static two-dimensional rectangle query problem into a dynamic one-dimensional problem, in which we maintain </a:t>
            </a:r>
            <a:r>
              <a:rPr kumimoji="1" lang="en-US" altLang="zh-TW" b="1" dirty="0">
                <a:solidFill>
                  <a:srgbClr val="FF0000"/>
                </a:solidFill>
                <a:latin typeface="Times New Roman" panose="02020603050405020304" pitchFamily="18" charset="0"/>
                <a:cs typeface="Times New Roman" panose="02020603050405020304" pitchFamily="18" charset="0"/>
              </a:rPr>
              <a:t>a dynamic set of intervals </a:t>
            </a:r>
            <a:r>
              <a:rPr kumimoji="1" lang="en-US" altLang="zh-TW" dirty="0">
                <a:latin typeface="Times New Roman" panose="02020603050405020304" pitchFamily="18" charset="0"/>
                <a:cs typeface="Times New Roman" panose="02020603050405020304" pitchFamily="18" charset="0"/>
              </a:rPr>
              <a:t>and must again query the maximum priority set element containing a query point. </a:t>
            </a:r>
          </a:p>
          <a:p>
            <a:r>
              <a:rPr kumimoji="1" lang="en-US" altLang="zh-TW" dirty="0">
                <a:latin typeface="Times New Roman" panose="02020603050405020304" pitchFamily="18" charset="0"/>
                <a:cs typeface="Times New Roman" panose="02020603050405020304" pitchFamily="18" charset="0"/>
              </a:rPr>
              <a:t>This one-dimensional problem must be solved persistently, so we can query previous versions of the data structure after the plane sweep has occurred. We solve this persistent one-dimensional problem using a data structure combining </a:t>
            </a:r>
            <a:r>
              <a:rPr kumimoji="1" lang="en-US" altLang="zh-TW" b="1" dirty="0">
                <a:solidFill>
                  <a:schemeClr val="accent1"/>
                </a:solidFill>
                <a:latin typeface="Times New Roman" panose="02020603050405020304" pitchFamily="18" charset="0"/>
                <a:cs typeface="Times New Roman" panose="02020603050405020304" pitchFamily="18" charset="0"/>
              </a:rPr>
              <a:t>ideas from B-trees and segment trees</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spTree>
    <p:extLst>
      <p:ext uri="{BB962C8B-B14F-4D97-AF65-F5344CB8AC3E}">
        <p14:creationId xmlns:p14="http://schemas.microsoft.com/office/powerpoint/2010/main" val="1699651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1. Persistent Interval Queries (1/2)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graphicFrame>
        <p:nvGraphicFramePr>
          <p:cNvPr id="5" name="表格 6">
            <a:extLst>
              <a:ext uri="{FF2B5EF4-FFF2-40B4-BE49-F238E27FC236}">
                <a16:creationId xmlns:a16="http://schemas.microsoft.com/office/drawing/2014/main" id="{55050E6E-3338-592F-218E-B631D043749F}"/>
              </a:ext>
            </a:extLst>
          </p:cNvPr>
          <p:cNvGraphicFramePr>
            <a:graphicFrameLocks noGrp="1"/>
          </p:cNvGraphicFramePr>
          <p:nvPr>
            <p:extLst>
              <p:ext uri="{D42A27DB-BD31-4B8C-83A1-F6EECF244321}">
                <p14:modId xmlns:p14="http://schemas.microsoft.com/office/powerpoint/2010/main" val="3009419810"/>
              </p:ext>
            </p:extLst>
          </p:nvPr>
        </p:nvGraphicFramePr>
        <p:xfrm>
          <a:off x="292121" y="2059006"/>
          <a:ext cx="8143355" cy="4297344"/>
        </p:xfrm>
        <a:graphic>
          <a:graphicData uri="http://schemas.openxmlformats.org/drawingml/2006/table">
            <a:tbl>
              <a:tblPr firstRow="1" bandRow="1">
                <a:tableStyleId>{5940675A-B579-460E-94D1-54222C63F5DA}</a:tableStyleId>
              </a:tblPr>
              <a:tblGrid>
                <a:gridCol w="1057339">
                  <a:extLst>
                    <a:ext uri="{9D8B030D-6E8A-4147-A177-3AD203B41FA5}">
                      <a16:colId xmlns:a16="http://schemas.microsoft.com/office/drawing/2014/main" val="2664166889"/>
                    </a:ext>
                  </a:extLst>
                </a:gridCol>
                <a:gridCol w="885752">
                  <a:extLst>
                    <a:ext uri="{9D8B030D-6E8A-4147-A177-3AD203B41FA5}">
                      <a16:colId xmlns:a16="http://schemas.microsoft.com/office/drawing/2014/main" val="2572146184"/>
                    </a:ext>
                  </a:extLst>
                </a:gridCol>
                <a:gridCol w="885752">
                  <a:extLst>
                    <a:ext uri="{9D8B030D-6E8A-4147-A177-3AD203B41FA5}">
                      <a16:colId xmlns:a16="http://schemas.microsoft.com/office/drawing/2014/main" val="2870606573"/>
                    </a:ext>
                  </a:extLst>
                </a:gridCol>
                <a:gridCol w="885752">
                  <a:extLst>
                    <a:ext uri="{9D8B030D-6E8A-4147-A177-3AD203B41FA5}">
                      <a16:colId xmlns:a16="http://schemas.microsoft.com/office/drawing/2014/main" val="4250438584"/>
                    </a:ext>
                  </a:extLst>
                </a:gridCol>
                <a:gridCol w="885752">
                  <a:extLst>
                    <a:ext uri="{9D8B030D-6E8A-4147-A177-3AD203B41FA5}">
                      <a16:colId xmlns:a16="http://schemas.microsoft.com/office/drawing/2014/main" val="2663656550"/>
                    </a:ext>
                  </a:extLst>
                </a:gridCol>
                <a:gridCol w="885752">
                  <a:extLst>
                    <a:ext uri="{9D8B030D-6E8A-4147-A177-3AD203B41FA5}">
                      <a16:colId xmlns:a16="http://schemas.microsoft.com/office/drawing/2014/main" val="3841063274"/>
                    </a:ext>
                  </a:extLst>
                </a:gridCol>
                <a:gridCol w="885752">
                  <a:extLst>
                    <a:ext uri="{9D8B030D-6E8A-4147-A177-3AD203B41FA5}">
                      <a16:colId xmlns:a16="http://schemas.microsoft.com/office/drawing/2014/main" val="3926491810"/>
                    </a:ext>
                  </a:extLst>
                </a:gridCol>
                <a:gridCol w="885752">
                  <a:extLst>
                    <a:ext uri="{9D8B030D-6E8A-4147-A177-3AD203B41FA5}">
                      <a16:colId xmlns:a16="http://schemas.microsoft.com/office/drawing/2014/main" val="1667491572"/>
                    </a:ext>
                  </a:extLst>
                </a:gridCol>
                <a:gridCol w="885752">
                  <a:extLst>
                    <a:ext uri="{9D8B030D-6E8A-4147-A177-3AD203B41FA5}">
                      <a16:colId xmlns:a16="http://schemas.microsoft.com/office/drawing/2014/main" val="1671655595"/>
                    </a:ext>
                  </a:extLst>
                </a:gridCol>
              </a:tblGrid>
              <a:tr h="412315">
                <a:tc>
                  <a:txBody>
                    <a:bodyPr/>
                    <a:lstStyle/>
                    <a:p>
                      <a:pPr algn="ctr"/>
                      <a:r>
                        <a:rPr lang="en-US" altLang="zh-TW" dirty="0" err="1">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extLst>
                  <a:ext uri="{0D108BD9-81ED-4DB2-BD59-A6C34878D82A}">
                    <a16:rowId xmlns:a16="http://schemas.microsoft.com/office/drawing/2014/main" val="2736952277"/>
                  </a:ext>
                </a:extLst>
              </a:tr>
              <a:tr h="412315">
                <a:tc>
                  <a:txBody>
                    <a:bodyPr/>
                    <a:lstStyle/>
                    <a:p>
                      <a:pPr algn="ctr"/>
                      <a:r>
                        <a:rPr lang="en-US" altLang="zh-TW" dirty="0">
                          <a:latin typeface="Times New Roman" panose="02020603050405020304" pitchFamily="18" charset="0"/>
                          <a:cs typeface="Times New Roman" panose="02020603050405020304" pitchFamily="18" charset="0"/>
                        </a:rPr>
                        <a:t>Block</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(8,11)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(12,15)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(16,19)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(20,23)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(24,27)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(28,31)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7775202"/>
                  </a:ext>
                </a:extLst>
              </a:tr>
              <a:tr h="1050557">
                <a:tc>
                  <a:txBody>
                    <a:bodyPr/>
                    <a:lstStyle/>
                    <a:p>
                      <a:pPr algn="ctr"/>
                      <a:r>
                        <a:rPr kumimoji="1" lang="en-US" altLang="zh-TW" dirty="0">
                          <a:latin typeface="Times New Roman" panose="02020603050405020304" pitchFamily="18" charset="0"/>
                          <a:cs typeface="Times New Roman" panose="02020603050405020304" pitchFamily="18" charset="0"/>
                        </a:rPr>
                        <a:t>opt</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2800" dirty="0">
                          <a:latin typeface="Times New Roman" panose="02020603050405020304" pitchFamily="18" charset="0"/>
                          <a:cs typeface="Times New Roman" panose="02020603050405020304" pitchFamily="18" charset="0"/>
                        </a:rPr>
                        <a:t>Pointers to the </a:t>
                      </a:r>
                      <a:r>
                        <a:rPr kumimoji="1" lang="en-US" altLang="zh-TW" sz="2800" b="1" dirty="0">
                          <a:solidFill>
                            <a:srgbClr val="FF0000"/>
                          </a:solidFill>
                          <a:latin typeface="Times New Roman" panose="02020603050405020304" pitchFamily="18" charset="0"/>
                          <a:cs typeface="Times New Roman" panose="02020603050405020304" pitchFamily="18" charset="0"/>
                        </a:rPr>
                        <a:t>maximum-priority interval </a:t>
                      </a:r>
                      <a:r>
                        <a:rPr kumimoji="1" lang="en-US" altLang="zh-TW" sz="2800" dirty="0">
                          <a:latin typeface="Times New Roman" panose="02020603050405020304" pitchFamily="18" charset="0"/>
                          <a:cs typeface="Times New Roman" panose="02020603050405020304" pitchFamily="18" charset="0"/>
                        </a:rPr>
                        <a:t>in the dynamic set that contains subinterval </a:t>
                      </a:r>
                      <a:r>
                        <a:rPr kumimoji="1" lang="en-US" altLang="zh-TW" sz="2800" dirty="0" err="1">
                          <a:latin typeface="Times New Roman" panose="02020603050405020304" pitchFamily="18" charset="0"/>
                          <a:cs typeface="Times New Roman" panose="02020603050405020304" pitchFamily="18" charset="0"/>
                        </a:rPr>
                        <a:t>i</a:t>
                      </a:r>
                      <a:r>
                        <a:rPr kumimoji="1" lang="en-US" altLang="zh-TW" sz="2800" dirty="0">
                          <a:latin typeface="Times New Roman" panose="02020603050405020304" pitchFamily="18" charset="0"/>
                          <a:cs typeface="Times New Roman" panose="02020603050405020304" pitchFamily="18" charset="0"/>
                        </a:rPr>
                        <a:t>.</a:t>
                      </a: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2396065"/>
                  </a:ext>
                </a:extLst>
              </a:tr>
              <a:tr h="1050557">
                <a:tc>
                  <a:txBody>
                    <a:bodyPr/>
                    <a:lstStyle/>
                    <a:p>
                      <a:pPr algn="ctr"/>
                      <a:r>
                        <a:rPr lang="en-US" altLang="zh-TW" dirty="0" err="1">
                          <a:latin typeface="Times New Roman" panose="02020603050405020304" pitchFamily="18" charset="0"/>
                          <a:cs typeface="Times New Roman" panose="02020603050405020304" pitchFamily="18" charset="0"/>
                        </a:rPr>
                        <a:t>pq</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2800" dirty="0">
                          <a:latin typeface="Times New Roman" panose="02020603050405020304" pitchFamily="18" charset="0"/>
                          <a:cs typeface="Times New Roman" panose="02020603050405020304" pitchFamily="18" charset="0"/>
                        </a:rPr>
                        <a:t>Pointers to </a:t>
                      </a:r>
                      <a:r>
                        <a:rPr kumimoji="1" lang="en-US" altLang="zh-TW" sz="2800" b="1" dirty="0">
                          <a:solidFill>
                            <a:srgbClr val="FF0000"/>
                          </a:solidFill>
                          <a:latin typeface="Times New Roman" panose="02020603050405020304" pitchFamily="18" charset="0"/>
                          <a:cs typeface="Times New Roman" panose="02020603050405020304" pitchFamily="18" charset="0"/>
                        </a:rPr>
                        <a:t>priority queue </a:t>
                      </a:r>
                      <a:r>
                        <a:rPr kumimoji="1" lang="en-US" altLang="zh-TW" sz="2800" dirty="0">
                          <a:latin typeface="Times New Roman" panose="02020603050405020304" pitchFamily="18" charset="0"/>
                          <a:cs typeface="Times New Roman" panose="02020603050405020304" pitchFamily="18" charset="0"/>
                        </a:rPr>
                        <a:t>data structures for the intervals containing subinterval </a:t>
                      </a:r>
                      <a:r>
                        <a:rPr kumimoji="1" lang="en-US" altLang="zh-TW" sz="2800" dirty="0" err="1">
                          <a:latin typeface="Times New Roman" panose="02020603050405020304" pitchFamily="18" charset="0"/>
                          <a:cs typeface="Times New Roman" panose="02020603050405020304" pitchFamily="18" charset="0"/>
                        </a:rPr>
                        <a:t>i</a:t>
                      </a:r>
                      <a:r>
                        <a:rPr kumimoji="1" lang="en-US" altLang="zh-TW" sz="2800" dirty="0">
                          <a:latin typeface="Times New Roman" panose="02020603050405020304" pitchFamily="18" charset="0"/>
                          <a:cs typeface="Times New Roman" panose="02020603050405020304" pitchFamily="18" charset="0"/>
                        </a:rPr>
                        <a:t>.</a:t>
                      </a:r>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579024299"/>
                  </a:ext>
                </a:extLst>
              </a:tr>
              <a:tr h="1050557">
                <a:tc>
                  <a:txBody>
                    <a:bodyPr/>
                    <a:lstStyle/>
                    <a:p>
                      <a:pPr algn="ctr"/>
                      <a:r>
                        <a:rPr lang="en-US" altLang="zh-TW" dirty="0">
                          <a:latin typeface="Times New Roman" panose="02020603050405020304" pitchFamily="18" charset="0"/>
                          <a:cs typeface="Times New Roman" panose="02020603050405020304" pitchFamily="18" charset="0"/>
                        </a:rPr>
                        <a:t>subblock</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sz="2800" dirty="0">
                          <a:latin typeface="Times New Roman" panose="02020603050405020304" pitchFamily="18" charset="0"/>
                          <a:cs typeface="Times New Roman" panose="02020603050405020304" pitchFamily="18" charset="0"/>
                        </a:rPr>
                        <a:t>Pointers to blocks representing the subset of dynamic intervals having </a:t>
                      </a:r>
                      <a:r>
                        <a:rPr kumimoji="1" lang="en-US" altLang="zh-TW" sz="2800" b="1" dirty="0">
                          <a:solidFill>
                            <a:srgbClr val="FF0000"/>
                          </a:solidFill>
                          <a:latin typeface="Times New Roman" panose="02020603050405020304" pitchFamily="18" charset="0"/>
                          <a:cs typeface="Times New Roman" panose="02020603050405020304" pitchFamily="18" charset="0"/>
                        </a:rPr>
                        <a:t>endpoints</a:t>
                      </a:r>
                      <a:r>
                        <a:rPr kumimoji="1" lang="en-US" altLang="zh-TW" sz="2800" dirty="0">
                          <a:latin typeface="Times New Roman" panose="02020603050405020304" pitchFamily="18" charset="0"/>
                          <a:cs typeface="Times New Roman" panose="02020603050405020304" pitchFamily="18" charset="0"/>
                        </a:rPr>
                        <a:t> in subinterval </a:t>
                      </a:r>
                      <a:r>
                        <a:rPr kumimoji="1" lang="en-US" altLang="zh-TW" sz="2800" dirty="0" err="1">
                          <a:latin typeface="Times New Roman" panose="02020603050405020304" pitchFamily="18" charset="0"/>
                          <a:cs typeface="Times New Roman" panose="02020603050405020304" pitchFamily="18" charset="0"/>
                        </a:rPr>
                        <a:t>i</a:t>
                      </a:r>
                      <a:r>
                        <a:rPr kumimoji="1" lang="en-US" altLang="zh-TW" sz="2800" dirty="0">
                          <a:latin typeface="Times New Roman" panose="02020603050405020304" pitchFamily="18" charset="0"/>
                          <a:cs typeface="Times New Roman" panose="02020603050405020304" pitchFamily="18" charset="0"/>
                        </a:rPr>
                        <a:t>.</a:t>
                      </a:r>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255372181"/>
                  </a:ext>
                </a:extLst>
              </a:tr>
            </a:tbl>
          </a:graphicData>
        </a:graphic>
      </p:graphicFrame>
      <p:sp>
        <p:nvSpPr>
          <p:cNvPr id="7" name="文字方塊 6">
            <a:extLst>
              <a:ext uri="{FF2B5EF4-FFF2-40B4-BE49-F238E27FC236}">
                <a16:creationId xmlns:a16="http://schemas.microsoft.com/office/drawing/2014/main" id="{B58C64FF-77C8-CF1E-D457-57EA425C17F4}"/>
              </a:ext>
            </a:extLst>
          </p:cNvPr>
          <p:cNvSpPr txBox="1"/>
          <p:nvPr/>
        </p:nvSpPr>
        <p:spPr>
          <a:xfrm>
            <a:off x="947479" y="1480159"/>
            <a:ext cx="3416320" cy="461665"/>
          </a:xfrm>
          <a:prstGeom prst="rect">
            <a:avLst/>
          </a:prstGeom>
          <a:noFill/>
        </p:spPr>
        <p:txBody>
          <a:bodyPr wrap="none" rtlCol="0">
            <a:spAutoFit/>
          </a:bodyPr>
          <a:lstStyle/>
          <a:p>
            <a:r>
              <a:rPr kumimoji="1" lang="en-US" altLang="zh-TW" sz="2400" dirty="0">
                <a:latin typeface="Times New Roman" panose="02020603050405020304" pitchFamily="18" charset="0"/>
                <a:cs typeface="Times New Roman" panose="02020603050405020304" pitchFamily="18" charset="0"/>
              </a:rPr>
              <a:t>(0,</a:t>
            </a:r>
            <a:r>
              <a:rPr kumimoji="1" lang="en-US" altLang="zh-TW" sz="2400" i="1" dirty="0">
                <a:latin typeface="Times New Roman" panose="02020603050405020304" pitchFamily="18" charset="0"/>
                <a:cs typeface="Times New Roman" panose="02020603050405020304" pitchFamily="18" charset="0"/>
              </a:rPr>
              <a:t>U</a:t>
            </a:r>
            <a:r>
              <a:rPr kumimoji="1" lang="en-US" altLang="zh-TW" sz="2400" dirty="0">
                <a:latin typeface="Times New Roman" panose="02020603050405020304" pitchFamily="18" charset="0"/>
                <a:cs typeface="Times New Roman" panose="02020603050405020304" pitchFamily="18" charset="0"/>
              </a:rPr>
              <a:t>) = (0,31) → 2</a:t>
            </a:r>
            <a:r>
              <a:rPr kumimoji="1" lang="en-US" altLang="zh-TW" sz="2400" i="1" baseline="30000" dirty="0">
                <a:latin typeface="Times New Roman" panose="02020603050405020304" pitchFamily="18" charset="0"/>
                <a:cs typeface="Times New Roman" panose="02020603050405020304" pitchFamily="18" charset="0"/>
              </a:rPr>
              <a:t>k</a:t>
            </a:r>
            <a:r>
              <a:rPr kumimoji="1" lang="en-US" altLang="zh-TW" sz="2400" dirty="0">
                <a:latin typeface="Times New Roman" panose="02020603050405020304" pitchFamily="18" charset="0"/>
                <a:cs typeface="Times New Roman" panose="02020603050405020304" pitchFamily="18" charset="0"/>
              </a:rPr>
              <a:t> bocks</a:t>
            </a:r>
            <a:endParaRPr kumimoji="1" lang="zh-TW" altLang="en-US" sz="24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B7B35F2F-E747-DCE2-10AA-0449D0E1C41D}"/>
              </a:ext>
            </a:extLst>
          </p:cNvPr>
          <p:cNvPicPr>
            <a:picLocks noChangeAspect="1"/>
          </p:cNvPicPr>
          <p:nvPr/>
        </p:nvPicPr>
        <p:blipFill rotWithShape="1">
          <a:blip r:embed="rId2"/>
          <a:srcRect l="7372" t="4314" r="15133" b="24317"/>
          <a:stretch/>
        </p:blipFill>
        <p:spPr>
          <a:xfrm>
            <a:off x="8610600" y="3038783"/>
            <a:ext cx="3530009" cy="3370521"/>
          </a:xfrm>
          <a:prstGeom prst="rect">
            <a:avLst/>
          </a:prstGeom>
        </p:spPr>
      </p:pic>
      <p:graphicFrame>
        <p:nvGraphicFramePr>
          <p:cNvPr id="11" name="表格 11">
            <a:extLst>
              <a:ext uri="{FF2B5EF4-FFF2-40B4-BE49-F238E27FC236}">
                <a16:creationId xmlns:a16="http://schemas.microsoft.com/office/drawing/2014/main" id="{C0C10D44-128F-676F-80CB-9DD30036A092}"/>
              </a:ext>
            </a:extLst>
          </p:cNvPr>
          <p:cNvGraphicFramePr>
            <a:graphicFrameLocks noGrp="1"/>
          </p:cNvGraphicFramePr>
          <p:nvPr>
            <p:extLst>
              <p:ext uri="{D42A27DB-BD31-4B8C-83A1-F6EECF244321}">
                <p14:modId xmlns:p14="http://schemas.microsoft.com/office/powerpoint/2010/main" val="546420831"/>
              </p:ext>
            </p:extLst>
          </p:nvPr>
        </p:nvGraphicFramePr>
        <p:xfrm>
          <a:off x="8760339" y="2557292"/>
          <a:ext cx="3230528" cy="365760"/>
        </p:xfrm>
        <a:graphic>
          <a:graphicData uri="http://schemas.openxmlformats.org/drawingml/2006/table">
            <a:tbl>
              <a:tblPr firstRow="1" bandRow="1">
                <a:tableStyleId>{2D5ABB26-0587-4C30-8999-92F81FD0307C}</a:tableStyleId>
              </a:tblPr>
              <a:tblGrid>
                <a:gridCol w="403816">
                  <a:extLst>
                    <a:ext uri="{9D8B030D-6E8A-4147-A177-3AD203B41FA5}">
                      <a16:colId xmlns:a16="http://schemas.microsoft.com/office/drawing/2014/main" val="1059506549"/>
                    </a:ext>
                  </a:extLst>
                </a:gridCol>
                <a:gridCol w="403816">
                  <a:extLst>
                    <a:ext uri="{9D8B030D-6E8A-4147-A177-3AD203B41FA5}">
                      <a16:colId xmlns:a16="http://schemas.microsoft.com/office/drawing/2014/main" val="3486470503"/>
                    </a:ext>
                  </a:extLst>
                </a:gridCol>
                <a:gridCol w="403816">
                  <a:extLst>
                    <a:ext uri="{9D8B030D-6E8A-4147-A177-3AD203B41FA5}">
                      <a16:colId xmlns:a16="http://schemas.microsoft.com/office/drawing/2014/main" val="1179813250"/>
                    </a:ext>
                  </a:extLst>
                </a:gridCol>
                <a:gridCol w="403816">
                  <a:extLst>
                    <a:ext uri="{9D8B030D-6E8A-4147-A177-3AD203B41FA5}">
                      <a16:colId xmlns:a16="http://schemas.microsoft.com/office/drawing/2014/main" val="1694612614"/>
                    </a:ext>
                  </a:extLst>
                </a:gridCol>
                <a:gridCol w="403816">
                  <a:extLst>
                    <a:ext uri="{9D8B030D-6E8A-4147-A177-3AD203B41FA5}">
                      <a16:colId xmlns:a16="http://schemas.microsoft.com/office/drawing/2014/main" val="242370346"/>
                    </a:ext>
                  </a:extLst>
                </a:gridCol>
                <a:gridCol w="403816">
                  <a:extLst>
                    <a:ext uri="{9D8B030D-6E8A-4147-A177-3AD203B41FA5}">
                      <a16:colId xmlns:a16="http://schemas.microsoft.com/office/drawing/2014/main" val="1545909486"/>
                    </a:ext>
                  </a:extLst>
                </a:gridCol>
                <a:gridCol w="403816">
                  <a:extLst>
                    <a:ext uri="{9D8B030D-6E8A-4147-A177-3AD203B41FA5}">
                      <a16:colId xmlns:a16="http://schemas.microsoft.com/office/drawing/2014/main" val="161041524"/>
                    </a:ext>
                  </a:extLst>
                </a:gridCol>
                <a:gridCol w="403816">
                  <a:extLst>
                    <a:ext uri="{9D8B030D-6E8A-4147-A177-3AD203B41FA5}">
                      <a16:colId xmlns:a16="http://schemas.microsoft.com/office/drawing/2014/main" val="34531871"/>
                    </a:ext>
                  </a:extLst>
                </a:gridCol>
              </a:tblGrid>
              <a:tr h="188231">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2"/>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76100841"/>
                  </a:ext>
                </a:extLst>
              </a:tr>
            </a:tbl>
          </a:graphicData>
        </a:graphic>
      </p:graphicFrame>
      <p:graphicFrame>
        <p:nvGraphicFramePr>
          <p:cNvPr id="13" name="表格 13">
            <a:extLst>
              <a:ext uri="{FF2B5EF4-FFF2-40B4-BE49-F238E27FC236}">
                <a16:creationId xmlns:a16="http://schemas.microsoft.com/office/drawing/2014/main" id="{962FF9A0-3808-399F-3645-C16668C2E6A0}"/>
              </a:ext>
            </a:extLst>
          </p:cNvPr>
          <p:cNvGraphicFramePr>
            <a:graphicFrameLocks noGrp="1"/>
          </p:cNvGraphicFramePr>
          <p:nvPr>
            <p:extLst>
              <p:ext uri="{D42A27DB-BD31-4B8C-83A1-F6EECF244321}">
                <p14:modId xmlns:p14="http://schemas.microsoft.com/office/powerpoint/2010/main" val="3019916267"/>
              </p:ext>
            </p:extLst>
          </p:nvPr>
        </p:nvGraphicFramePr>
        <p:xfrm>
          <a:off x="8719720" y="958202"/>
          <a:ext cx="3311767" cy="1483360"/>
        </p:xfrm>
        <a:graphic>
          <a:graphicData uri="http://schemas.openxmlformats.org/drawingml/2006/table">
            <a:tbl>
              <a:tblPr firstRow="1" bandRow="1">
                <a:tableStyleId>{5940675A-B579-460E-94D1-54222C63F5DA}</a:tableStyleId>
              </a:tblPr>
              <a:tblGrid>
                <a:gridCol w="1363114">
                  <a:extLst>
                    <a:ext uri="{9D8B030D-6E8A-4147-A177-3AD203B41FA5}">
                      <a16:colId xmlns:a16="http://schemas.microsoft.com/office/drawing/2014/main" val="1168887519"/>
                    </a:ext>
                  </a:extLst>
                </a:gridCol>
                <a:gridCol w="1948653">
                  <a:extLst>
                    <a:ext uri="{9D8B030D-6E8A-4147-A177-3AD203B41FA5}">
                      <a16:colId xmlns:a16="http://schemas.microsoft.com/office/drawing/2014/main" val="3571528523"/>
                    </a:ext>
                  </a:extLst>
                </a:gridCol>
              </a:tblGrid>
              <a:tr h="370840">
                <a:tc>
                  <a:txBody>
                    <a:bodyPr/>
                    <a:lstStyle/>
                    <a:p>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r>
                        <a:rPr lang="en-US" altLang="zh-TW" dirty="0"/>
                        <a:t>0</a:t>
                      </a:r>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2400208323"/>
                  </a:ext>
                </a:extLst>
              </a:tr>
              <a:tr h="370840">
                <a:tc>
                  <a:txBody>
                    <a:bodyPr/>
                    <a:lstStyle/>
                    <a:p>
                      <a:r>
                        <a:rPr lang="en-US" altLang="zh-TW" dirty="0">
                          <a:latin typeface="Times New Roman" panose="02020603050405020304" pitchFamily="18" charset="0"/>
                          <a:cs typeface="Times New Roman" panose="02020603050405020304" pitchFamily="18" charset="0"/>
                        </a:rPr>
                        <a:t>opt</a:t>
                      </a:r>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r>
                        <a:rPr lang="en-US" altLang="zh-TW" dirty="0">
                          <a:latin typeface="Times New Roman" panose="02020603050405020304" pitchFamily="18" charset="0"/>
                          <a:cs typeface="Times New Roman" panose="02020603050405020304" pitchFamily="18" charset="0"/>
                        </a:rPr>
                        <a:t>R1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9399256"/>
                  </a:ext>
                </a:extLst>
              </a:tr>
              <a:tr h="370840">
                <a:tc>
                  <a:txBody>
                    <a:bodyPr/>
                    <a:lstStyle/>
                    <a:p>
                      <a:r>
                        <a:rPr lang="en-US" altLang="zh-TW" dirty="0" err="1">
                          <a:latin typeface="Times New Roman" panose="02020603050405020304" pitchFamily="18" charset="0"/>
                          <a:cs typeface="Times New Roman" panose="02020603050405020304" pitchFamily="18" charset="0"/>
                        </a:rPr>
                        <a:t>pq</a:t>
                      </a:r>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r>
                        <a:rPr lang="en-US" altLang="zh-TW" dirty="0">
                          <a:latin typeface="Times New Roman" panose="02020603050405020304" pitchFamily="18" charset="0"/>
                          <a:cs typeface="Times New Roman" panose="02020603050405020304" pitchFamily="18" charset="0"/>
                        </a:rPr>
                        <a:t>&lt;R1, R2, R5&gt;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5207048"/>
                  </a:ext>
                </a:extLst>
              </a:tr>
              <a:tr h="370840">
                <a:tc>
                  <a:txBody>
                    <a:bodyPr/>
                    <a:lstStyle/>
                    <a:p>
                      <a:r>
                        <a:rPr lang="en-US" altLang="zh-TW" dirty="0">
                          <a:latin typeface="Times New Roman" panose="02020603050405020304" pitchFamily="18" charset="0"/>
                          <a:cs typeface="Times New Roman" panose="02020603050405020304" pitchFamily="18" charset="0"/>
                        </a:rPr>
                        <a:t>subblock</a:t>
                      </a:r>
                      <a:endParaRPr lang="zh-TW" altLang="en-US" dirty="0">
                        <a:latin typeface="Times New Roman" panose="02020603050405020304" pitchFamily="18" charset="0"/>
                        <a:cs typeface="Times New Roman" panose="02020603050405020304" pitchFamily="18" charset="0"/>
                      </a:endParaRPr>
                    </a:p>
                  </a:txBody>
                  <a:tcPr>
                    <a:solidFill>
                      <a:schemeClr val="accent2"/>
                    </a:solidFill>
                  </a:tcPr>
                </a:tc>
                <a:tc>
                  <a:txBody>
                    <a:bodyPr/>
                    <a:lstStyle/>
                    <a:p>
                      <a:r>
                        <a:rPr lang="en-US" altLang="zh-TW" dirty="0">
                          <a:latin typeface="Times New Roman" panose="02020603050405020304" pitchFamily="18" charset="0"/>
                          <a:cs typeface="Times New Roman" panose="02020603050405020304" pitchFamily="18" charset="0"/>
                        </a:rPr>
                        <a:t>(0,3)</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56564375"/>
                  </a:ext>
                </a:extLst>
              </a:tr>
            </a:tbl>
          </a:graphicData>
        </a:graphic>
      </p:graphicFrame>
    </p:spTree>
    <p:extLst>
      <p:ext uri="{BB962C8B-B14F-4D97-AF65-F5344CB8AC3E}">
        <p14:creationId xmlns:p14="http://schemas.microsoft.com/office/powerpoint/2010/main" val="290477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1. Persistent Interval Queries (2/2)</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4" name="圖片 3">
            <a:extLst>
              <a:ext uri="{FF2B5EF4-FFF2-40B4-BE49-F238E27FC236}">
                <a16:creationId xmlns:a16="http://schemas.microsoft.com/office/drawing/2014/main" id="{27F003E0-CBD2-A96C-593B-261BD11C9314}"/>
              </a:ext>
            </a:extLst>
          </p:cNvPr>
          <p:cNvPicPr>
            <a:picLocks noChangeAspect="1"/>
          </p:cNvPicPr>
          <p:nvPr/>
        </p:nvPicPr>
        <p:blipFill>
          <a:blip r:embed="rId2"/>
          <a:stretch>
            <a:fillRect/>
          </a:stretch>
        </p:blipFill>
        <p:spPr>
          <a:xfrm>
            <a:off x="944526" y="1427963"/>
            <a:ext cx="7772400" cy="1201739"/>
          </a:xfrm>
          <a:prstGeom prst="rect">
            <a:avLst/>
          </a:prstGeom>
        </p:spPr>
      </p:pic>
      <p:pic>
        <p:nvPicPr>
          <p:cNvPr id="5" name="圖片 4">
            <a:extLst>
              <a:ext uri="{FF2B5EF4-FFF2-40B4-BE49-F238E27FC236}">
                <a16:creationId xmlns:a16="http://schemas.microsoft.com/office/drawing/2014/main" id="{F6104B50-FDDF-6304-1DAE-A2B9F9748BD2}"/>
              </a:ext>
            </a:extLst>
          </p:cNvPr>
          <p:cNvPicPr>
            <a:picLocks noChangeAspect="1"/>
          </p:cNvPicPr>
          <p:nvPr/>
        </p:nvPicPr>
        <p:blipFill>
          <a:blip r:embed="rId3"/>
          <a:stretch>
            <a:fillRect/>
          </a:stretch>
        </p:blipFill>
        <p:spPr>
          <a:xfrm>
            <a:off x="1040219" y="4001294"/>
            <a:ext cx="7772400" cy="1173192"/>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4F71CDA-0FE8-6C24-E025-3F3E0B3A82ED}"/>
                  </a:ext>
                </a:extLst>
              </p:cNvPr>
              <p:cNvSpPr txBox="1"/>
              <p:nvPr/>
            </p:nvSpPr>
            <p:spPr>
              <a:xfrm>
                <a:off x="1972339" y="2716199"/>
                <a:ext cx="5716773" cy="1198598"/>
              </a:xfrm>
              <a:prstGeom prst="rect">
                <a:avLst/>
              </a:prstGeom>
              <a:noFill/>
            </p:spPr>
            <p:txBody>
              <a:bodyPr wrap="square" rtlCol="0">
                <a:spAutoFit/>
              </a:bodyPr>
              <a:lstStyle/>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檢查</a:t>
                </a:r>
                <a:r>
                  <a:rPr kumimoji="1" lang="en-US" altLang="zh-TW" sz="2000" dirty="0">
                    <a:latin typeface="Times New Roman" panose="02020603050405020304" pitchFamily="18" charset="0"/>
                    <a:cs typeface="Times New Roman" panose="02020603050405020304" pitchFamily="18" charset="0"/>
                  </a:rPr>
                  <a:t>query value </a:t>
                </a:r>
                <a:r>
                  <a:rPr kumimoji="1" lang="zh-TW" altLang="en-US" sz="2000" dirty="0">
                    <a:latin typeface="Times New Roman" panose="02020603050405020304" pitchFamily="18" charset="0"/>
                    <a:cs typeface="Times New Roman" panose="02020603050405020304" pitchFamily="18" charset="0"/>
                  </a:rPr>
                  <a:t>在哪一個</a:t>
                </a:r>
                <a:r>
                  <a:rPr kumimoji="1" lang="en-US" altLang="zh-TW" sz="2000" dirty="0">
                    <a:latin typeface="Times New Roman" panose="02020603050405020304" pitchFamily="18" charset="0"/>
                    <a:cs typeface="Times New Roman" panose="02020603050405020304" pitchFamily="18" charset="0"/>
                  </a:rPr>
                  <a:t>subblock</a:t>
                </a:r>
                <a:r>
                  <a:rPr kumimoji="1" lang="zh-TW" altLang="en-US" sz="2000" dirty="0">
                    <a:latin typeface="Times New Roman" panose="02020603050405020304" pitchFamily="18" charset="0"/>
                    <a:cs typeface="Times New Roman" panose="02020603050405020304" pitchFamily="18" charset="0"/>
                  </a:rPr>
                  <a:t>？</a:t>
                </a:r>
                <a:endParaRPr kumimoji="1" lang="en-US" altLang="zh-TW" sz="2000" dirty="0">
                  <a:latin typeface="Times New Roman" panose="02020603050405020304" pitchFamily="18" charset="0"/>
                  <a:cs typeface="Times New Roman" panose="02020603050405020304" pitchFamily="18" charset="0"/>
                </a:endParaRPr>
              </a:p>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如果在</a:t>
                </a:r>
                <a:r>
                  <a:rPr kumimoji="1" lang="en-US" altLang="zh-TW" sz="2000" dirty="0" err="1">
                    <a:latin typeface="Times New Roman" panose="02020603050405020304" pitchFamily="18" charset="0"/>
                    <a:cs typeface="Times New Roman" panose="02020603050405020304" pitchFamily="18" charset="0"/>
                  </a:rPr>
                  <a:t>i</a:t>
                </a:r>
                <a:r>
                  <a:rPr kumimoji="1" lang="zh-TW" altLang="en-US" sz="2000" dirty="0">
                    <a:latin typeface="Times New Roman" panose="02020603050405020304" pitchFamily="18" charset="0"/>
                    <a:cs typeface="Times New Roman" panose="02020603050405020304" pitchFamily="18" charset="0"/>
                  </a:rPr>
                  <a:t>，則取</a:t>
                </a:r>
                <a:r>
                  <a:rPr kumimoji="1" lang="en-US" altLang="zh-TW" sz="2000" dirty="0">
                    <a:latin typeface="Times New Roman" panose="02020603050405020304" pitchFamily="18" charset="0"/>
                    <a:cs typeface="Times New Roman" panose="02020603050405020304" pitchFamily="18" charset="0"/>
                  </a:rPr>
                  <a:t>opt[</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p>
              <a:p>
                <a:r>
                  <a:rPr kumimoji="1" lang="en-US" altLang="zh-TW" sz="2000" dirty="0">
                    <a:latin typeface="Times New Roman" panose="02020603050405020304" pitchFamily="18" charset="0"/>
                    <a:cs typeface="Times New Roman" panose="02020603050405020304" pitchFamily="18" charset="0"/>
                  </a:rPr>
                  <a:t>Time: O(2</a:t>
                </a:r>
                <a:r>
                  <a:rPr kumimoji="1" lang="en-US" altLang="zh-TW" sz="2000" i="1" baseline="30000"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sSubSup>
                              <m:sSubSupPr>
                                <m:ctrlPr>
                                  <a:rPr kumimoji="1" lang="en-US" altLang="zh-TW" sz="2000" i="1" smtClean="0">
                                    <a:latin typeface="Cambria Math" panose="02040503050406030204" pitchFamily="18" charset="0"/>
                                    <a:cs typeface="Times New Roman" panose="02020603050405020304" pitchFamily="18" charset="0"/>
                                  </a:rPr>
                                </m:ctrlPr>
                              </m:sSubSupPr>
                              <m:e>
                                <m:r>
                                  <a:rPr kumimoji="1" lang="en-US" altLang="zh-TW" sz="2000" b="0" i="1" smtClean="0">
                                    <a:latin typeface="Cambria Math" panose="02040503050406030204" pitchFamily="18" charset="0"/>
                                    <a:cs typeface="Times New Roman" panose="02020603050405020304" pitchFamily="18" charset="0"/>
                                  </a:rPr>
                                  <m:t>2</m:t>
                                </m:r>
                              </m:e>
                              <m:sub/>
                              <m:sup>
                                <m:r>
                                  <a:rPr kumimoji="1" lang="en-US" altLang="zh-TW" sz="2000" b="0" i="1" smtClean="0">
                                    <a:latin typeface="Cambria Math" panose="02040503050406030204" pitchFamily="18" charset="0"/>
                                    <a:cs typeface="Times New Roman" panose="02020603050405020304" pitchFamily="18" charset="0"/>
                                  </a:rPr>
                                  <m:t>𝑘</m:t>
                                </m:r>
                              </m:sup>
                            </m:sSubSup>
                          </m:sub>
                        </m:sSub>
                      </m:fName>
                      <m:e>
                        <m:r>
                          <a:rPr kumimoji="1" lang="en-US" altLang="zh-TW" sz="2000" b="0" i="1" smtClean="0">
                            <a:latin typeface="Cambria Math" panose="02040503050406030204" pitchFamily="18" charset="0"/>
                            <a:cs typeface="Times New Roman" panose="02020603050405020304" pitchFamily="18" charset="0"/>
                          </a:rPr>
                          <m:t>𝑈</m:t>
                        </m:r>
                      </m:e>
                    </m:func>
                  </m:oMath>
                </a14:m>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
                      <m:fPr>
                        <m:ctrlPr>
                          <a:rPr kumimoji="1" lang="en-US" altLang="zh-TW" sz="2000" i="1" smtClean="0">
                            <a:latin typeface="Cambria Math" panose="02040503050406030204" pitchFamily="18" charset="0"/>
                            <a:cs typeface="Times New Roman" panose="02020603050405020304" pitchFamily="18" charset="0"/>
                          </a:rPr>
                        </m:ctrlPr>
                      </m:fPr>
                      <m:num>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r>
                              <a:rPr kumimoji="1" lang="en-US" altLang="zh-TW" sz="2000" b="0" i="1" smtClean="0">
                                <a:latin typeface="Cambria Math" panose="02040503050406030204" pitchFamily="18" charset="0"/>
                                <a:cs typeface="Times New Roman" panose="02020603050405020304" pitchFamily="18" charset="0"/>
                              </a:rPr>
                              <m:t>𝑈</m:t>
                            </m:r>
                          </m:e>
                        </m:func>
                      </m:num>
                      <m:den>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sSup>
                              <m:sSupPr>
                                <m:ctrlPr>
                                  <a:rPr kumimoji="1" lang="en-US" altLang="zh-TW" sz="2000" i="1" smtClean="0">
                                    <a:latin typeface="Cambria Math" panose="02040503050406030204" pitchFamily="18" charset="0"/>
                                    <a:cs typeface="Times New Roman" panose="02020603050405020304" pitchFamily="18" charset="0"/>
                                  </a:rPr>
                                </m:ctrlPr>
                              </m:sSupPr>
                              <m:e>
                                <m:r>
                                  <a:rPr kumimoji="1" lang="en-US" altLang="zh-TW" sz="2000" b="0" i="1" smtClean="0">
                                    <a:latin typeface="Cambria Math" panose="02040503050406030204" pitchFamily="18" charset="0"/>
                                    <a:cs typeface="Times New Roman" panose="02020603050405020304" pitchFamily="18" charset="0"/>
                                  </a:rPr>
                                  <m:t>2</m:t>
                                </m:r>
                              </m:e>
                              <m:sup>
                                <m:r>
                                  <a:rPr kumimoji="1" lang="en-US" altLang="zh-TW" sz="2000" b="0" i="1" smtClean="0">
                                    <a:latin typeface="Cambria Math" panose="02040503050406030204" pitchFamily="18" charset="0"/>
                                    <a:cs typeface="Times New Roman" panose="02020603050405020304" pitchFamily="18" charset="0"/>
                                  </a:rPr>
                                  <m:t>𝑘</m:t>
                                </m:r>
                              </m:sup>
                            </m:sSup>
                          </m:e>
                        </m:func>
                      </m:den>
                    </m:f>
                  </m:oMath>
                </a14:m>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
                      <m:fPr>
                        <m:type m:val="skw"/>
                        <m:ctrlPr>
                          <a:rPr kumimoji="1" lang="en-US" altLang="zh-TW" sz="2000" i="1" smtClean="0">
                            <a:latin typeface="Cambria Math" panose="02040503050406030204" pitchFamily="18" charset="0"/>
                            <a:cs typeface="Times New Roman" panose="02020603050405020304" pitchFamily="18" charset="0"/>
                          </a:rPr>
                        </m:ctrlPr>
                      </m:fPr>
                      <m:num>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r>
                              <a:rPr kumimoji="1" lang="en-US" altLang="zh-TW" sz="2000" b="0" i="1" smtClean="0">
                                <a:latin typeface="Cambria Math" panose="02040503050406030204" pitchFamily="18" charset="0"/>
                                <a:cs typeface="Times New Roman" panose="02020603050405020304" pitchFamily="18" charset="0"/>
                              </a:rPr>
                              <m:t>𝑈</m:t>
                            </m:r>
                          </m:e>
                        </m:func>
                      </m:num>
                      <m:den>
                        <m:r>
                          <a:rPr kumimoji="1" lang="en-US" altLang="zh-TW" sz="2000" b="0" i="1" smtClean="0">
                            <a:latin typeface="Cambria Math" panose="02040503050406030204" pitchFamily="18" charset="0"/>
                            <a:cs typeface="Times New Roman" panose="02020603050405020304" pitchFamily="18" charset="0"/>
                          </a:rPr>
                          <m:t>𝑘</m:t>
                        </m:r>
                      </m:den>
                    </m:f>
                  </m:oMath>
                </a14:m>
                <a:r>
                  <a:rPr kumimoji="1" lang="en-US" altLang="zh-TW" sz="2000" dirty="0">
                    <a:latin typeface="Times New Roman" panose="02020603050405020304" pitchFamily="18" charset="0"/>
                    <a:cs typeface="Times New Roman" panose="02020603050405020304" pitchFamily="18" charset="0"/>
                  </a:rPr>
                  <a:t>)</a:t>
                </a:r>
                <a:endParaRPr kumimoji="1" lang="zh-TW" altLang="en-US" sz="2000" dirty="0">
                  <a:latin typeface="Times New Roman" panose="02020603050405020304" pitchFamily="18" charset="0"/>
                  <a:cs typeface="Times New Roman" panose="02020603050405020304" pitchFamily="18" charset="0"/>
                </a:endParaRPr>
              </a:p>
            </p:txBody>
          </p:sp>
        </mc:Choice>
        <mc:Fallback xmlns="">
          <p:sp>
            <p:nvSpPr>
              <p:cNvPr id="9" name="文字方塊 8">
                <a:extLst>
                  <a:ext uri="{FF2B5EF4-FFF2-40B4-BE49-F238E27FC236}">
                    <a16:creationId xmlns:a16="http://schemas.microsoft.com/office/drawing/2014/main" id="{14F71CDA-0FE8-6C24-E025-3F3E0B3A82ED}"/>
                  </a:ext>
                </a:extLst>
              </p:cNvPr>
              <p:cNvSpPr txBox="1">
                <a:spLocks noRot="1" noChangeAspect="1" noMove="1" noResize="1" noEditPoints="1" noAdjustHandles="1" noChangeArrowheads="1" noChangeShapeType="1" noTextEdit="1"/>
              </p:cNvSpPr>
              <p:nvPr/>
            </p:nvSpPr>
            <p:spPr>
              <a:xfrm>
                <a:off x="1972339" y="2716199"/>
                <a:ext cx="5716773" cy="1198598"/>
              </a:xfrm>
              <a:prstGeom prst="rect">
                <a:avLst/>
              </a:prstGeom>
              <a:blipFill>
                <a:blip r:embed="rId4"/>
                <a:stretch>
                  <a:fillRect l="-1109" t="-4211" b="-70526"/>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2785852C-D686-B8AD-0593-206012B3921B}"/>
              </a:ext>
            </a:extLst>
          </p:cNvPr>
          <p:cNvSpPr txBox="1"/>
          <p:nvPr/>
        </p:nvSpPr>
        <p:spPr>
          <a:xfrm>
            <a:off x="1972339" y="5324225"/>
            <a:ext cx="8851606" cy="707886"/>
          </a:xfrm>
          <a:prstGeom prst="rect">
            <a:avLst/>
          </a:prstGeom>
          <a:noFill/>
        </p:spPr>
        <p:txBody>
          <a:bodyPr wrap="square" rtlCol="0">
            <a:spAutoFit/>
          </a:bodyPr>
          <a:lstStyle/>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最多會新增</a:t>
            </a:r>
            <a:r>
              <a:rPr kumimoji="1" lang="en-US" altLang="zh-TW" sz="2000" dirty="0">
                <a:latin typeface="Times New Roman" panose="02020603050405020304" pitchFamily="18" charset="0"/>
                <a:cs typeface="Times New Roman" panose="02020603050405020304" pitchFamily="18" charset="0"/>
              </a:rPr>
              <a:t>O(2(log </a:t>
            </a:r>
            <a:r>
              <a:rPr kumimoji="1" lang="en-US" altLang="zh-TW" sz="2000" i="1" dirty="0">
                <a:latin typeface="Times New Roman" panose="02020603050405020304" pitchFamily="18" charset="0"/>
                <a:cs typeface="Times New Roman" panose="02020603050405020304" pitchFamily="18" charset="0"/>
              </a:rPr>
              <a:t>U</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a:t>
            </a:r>
            <a:r>
              <a:rPr kumimoji="1" lang="zh-TW" altLang="en-US" sz="2000" dirty="0">
                <a:latin typeface="Times New Roman" panose="02020603050405020304" pitchFamily="18" charset="0"/>
                <a:cs typeface="Times New Roman" panose="02020603050405020304" pitchFamily="18" charset="0"/>
              </a:rPr>
              <a:t>個</a:t>
            </a:r>
            <a:r>
              <a:rPr kumimoji="1" lang="en-US" altLang="zh-TW" sz="2000" dirty="0">
                <a:latin typeface="Times New Roman" panose="02020603050405020304" pitchFamily="18" charset="0"/>
                <a:cs typeface="Times New Roman" panose="02020603050405020304" pitchFamily="18" charset="0"/>
              </a:rPr>
              <a:t>blocks</a:t>
            </a:r>
            <a:r>
              <a:rPr kumimoji="1" lang="zh-TW" altLang="en-US" sz="2000" dirty="0">
                <a:latin typeface="Times New Roman" panose="02020603050405020304" pitchFamily="18" charset="0"/>
                <a:cs typeface="Times New Roman" panose="02020603050405020304" pitchFamily="18" charset="0"/>
              </a:rPr>
              <a:t>，故會佔用</a:t>
            </a:r>
            <a:r>
              <a:rPr kumimoji="1" lang="en-US" altLang="zh-TW" sz="2000" dirty="0">
                <a:latin typeface="Times New Roman" panose="02020603050405020304" pitchFamily="18" charset="0"/>
                <a:cs typeface="Times New Roman" panose="02020603050405020304" pitchFamily="18" charset="0"/>
              </a:rPr>
              <a:t>O(2</a:t>
            </a:r>
            <a:r>
              <a:rPr kumimoji="1" lang="en-US" altLang="zh-TW" sz="2000" i="1" baseline="30000"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(log </a:t>
            </a:r>
            <a:r>
              <a:rPr kumimoji="1" lang="en-US" altLang="zh-TW" sz="2000" i="1" dirty="0">
                <a:latin typeface="Times New Roman" panose="02020603050405020304" pitchFamily="18" charset="0"/>
                <a:cs typeface="Times New Roman" panose="02020603050405020304" pitchFamily="18" charset="0"/>
              </a:rPr>
              <a:t>U</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 space</a:t>
            </a:r>
          </a:p>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會更新</a:t>
            </a:r>
            <a:r>
              <a:rPr kumimoji="1" lang="en-US" altLang="zh-TW" sz="2000" dirty="0">
                <a:latin typeface="Times New Roman" panose="02020603050405020304" pitchFamily="18" charset="0"/>
                <a:cs typeface="Times New Roman" panose="02020603050405020304" pitchFamily="18" charset="0"/>
              </a:rPr>
              <a:t>O(2</a:t>
            </a:r>
            <a:r>
              <a:rPr kumimoji="1" lang="en-US" altLang="zh-TW" sz="2000" i="1" baseline="30000"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(log </a:t>
            </a:r>
            <a:r>
              <a:rPr kumimoji="1" lang="en-US" altLang="zh-TW" sz="2000" i="1" dirty="0">
                <a:latin typeface="Times New Roman" panose="02020603050405020304" pitchFamily="18" charset="0"/>
                <a:cs typeface="Times New Roman" panose="02020603050405020304" pitchFamily="18" charset="0"/>
              </a:rPr>
              <a:t>U</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a:t>
            </a:r>
            <a:r>
              <a:rPr kumimoji="1" lang="zh-TW" altLang="en-US" sz="2000" dirty="0">
                <a:latin typeface="Times New Roman" panose="02020603050405020304" pitchFamily="18" charset="0"/>
                <a:cs typeface="Times New Roman" panose="02020603050405020304" pitchFamily="18" charset="0"/>
              </a:rPr>
              <a:t>個</a:t>
            </a:r>
            <a:r>
              <a:rPr kumimoji="1" lang="en-US" altLang="zh-TW" sz="2000" dirty="0">
                <a:latin typeface="Times New Roman" panose="02020603050405020304" pitchFamily="18" charset="0"/>
                <a:cs typeface="Times New Roman" panose="02020603050405020304" pitchFamily="18" charset="0"/>
              </a:rPr>
              <a:t>priority queue</a:t>
            </a:r>
            <a:r>
              <a:rPr kumimoji="1" lang="zh-TW" altLang="en-US" sz="2000" dirty="0">
                <a:latin typeface="Times New Roman" panose="02020603050405020304" pitchFamily="18" charset="0"/>
                <a:cs typeface="Times New Roman" panose="02020603050405020304" pitchFamily="18" charset="0"/>
              </a:rPr>
              <a:t>，故會花</a:t>
            </a:r>
            <a:r>
              <a:rPr kumimoji="1" lang="en-US" altLang="zh-TW" sz="2000" dirty="0">
                <a:latin typeface="Times New Roman" panose="02020603050405020304" pitchFamily="18" charset="0"/>
                <a:cs typeface="Times New Roman" panose="02020603050405020304" pitchFamily="18" charset="0"/>
              </a:rPr>
              <a:t>O(log </a:t>
            </a:r>
            <a:r>
              <a:rPr kumimoji="1" lang="en-US" altLang="zh-TW" sz="2000" i="1" dirty="0">
                <a:latin typeface="Times New Roman" panose="02020603050405020304" pitchFamily="18" charset="0"/>
                <a:cs typeface="Times New Roman" panose="02020603050405020304" pitchFamily="18" charset="0"/>
              </a:rPr>
              <a:t>n </a:t>
            </a:r>
            <a:r>
              <a:rPr kumimoji="1" lang="en-US" altLang="zh-TW" sz="2000" dirty="0">
                <a:latin typeface="Times New Roman" panose="02020603050405020304" pitchFamily="18" charset="0"/>
                <a:cs typeface="Times New Roman" panose="02020603050405020304" pitchFamily="18" charset="0"/>
              </a:rPr>
              <a:t>(2</a:t>
            </a:r>
            <a:r>
              <a:rPr kumimoji="1" lang="en-US" altLang="zh-TW" sz="2000" i="1" baseline="30000"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(log </a:t>
            </a:r>
            <a:r>
              <a:rPr kumimoji="1" lang="en-US" altLang="zh-TW" sz="2000" i="1" dirty="0">
                <a:latin typeface="Times New Roman" panose="02020603050405020304" pitchFamily="18" charset="0"/>
                <a:cs typeface="Times New Roman" panose="02020603050405020304" pitchFamily="18" charset="0"/>
              </a:rPr>
              <a:t>U</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 time</a:t>
            </a:r>
            <a:endParaRPr kumimoji="1"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122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2. Static to Dynamic Transformation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C8F4D812-77DA-7D56-F366-7B82CA70111A}"/>
              </a:ext>
            </a:extLst>
          </p:cNvPr>
          <p:cNvPicPr>
            <a:picLocks noChangeAspect="1"/>
          </p:cNvPicPr>
          <p:nvPr/>
        </p:nvPicPr>
        <p:blipFill>
          <a:blip r:embed="rId2"/>
          <a:stretch>
            <a:fillRect/>
          </a:stretch>
        </p:blipFill>
        <p:spPr>
          <a:xfrm>
            <a:off x="838200" y="1690688"/>
            <a:ext cx="7772400" cy="2013942"/>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2D5BBDFB-BD68-1FFC-6902-68C2D5087748}"/>
                  </a:ext>
                </a:extLst>
              </p:cNvPr>
              <p:cNvSpPr txBox="1"/>
              <p:nvPr/>
            </p:nvSpPr>
            <p:spPr>
              <a:xfrm>
                <a:off x="967564" y="4076053"/>
                <a:ext cx="7643036" cy="1292726"/>
              </a:xfrm>
              <a:prstGeom prst="rect">
                <a:avLst/>
              </a:prstGeom>
              <a:noFill/>
            </p:spPr>
            <p:txBody>
              <a:bodyPr wrap="square" rtlCol="0">
                <a:spAutoFit/>
              </a:bodyPr>
              <a:lstStyle/>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含有</a:t>
                </a:r>
                <a:r>
                  <a:rPr kumimoji="1" lang="en-US" altLang="zh-TW" sz="2000" dirty="0">
                    <a:latin typeface="Times New Roman" panose="02020603050405020304" pitchFamily="18" charset="0"/>
                    <a:cs typeface="Times New Roman" panose="02020603050405020304" pitchFamily="18" charset="0"/>
                  </a:rPr>
                  <a:t>query</a:t>
                </a:r>
                <a:r>
                  <a:rPr kumimoji="1" lang="zh-TW" altLang="en-US" sz="2000" dirty="0">
                    <a:latin typeface="Times New Roman" panose="02020603050405020304" pitchFamily="18" charset="0"/>
                    <a:cs typeface="Times New Roman" panose="02020603050405020304" pitchFamily="18" charset="0"/>
                  </a:rPr>
                  <a:t>的最大優先區間的左端點即為</a:t>
                </a:r>
                <a:r>
                  <a:rPr kumimoji="1" lang="en-US" altLang="zh-TW" sz="2000" dirty="0">
                    <a:latin typeface="Times New Roman" panose="02020603050405020304" pitchFamily="18" charset="0"/>
                    <a:cs typeface="Times New Roman" panose="02020603050405020304" pitchFamily="18" charset="0"/>
                  </a:rPr>
                  <a:t>query</a:t>
                </a:r>
                <a:r>
                  <a:rPr kumimoji="1" lang="zh-TW" altLang="en-US" sz="2000" dirty="0">
                    <a:latin typeface="Times New Roman" panose="02020603050405020304" pitchFamily="18" charset="0"/>
                    <a:cs typeface="Times New Roman" panose="02020603050405020304" pitchFamily="18" charset="0"/>
                  </a:rPr>
                  <a:t>的前繼者</a:t>
                </a:r>
                <a:endParaRPr kumimoji="1" lang="en-US" altLang="zh-TW" sz="2000" dirty="0">
                  <a:latin typeface="Times New Roman" panose="02020603050405020304" pitchFamily="18" charset="0"/>
                  <a:cs typeface="Times New Roman" panose="02020603050405020304" pitchFamily="18" charset="0"/>
                </a:endParaRPr>
              </a:p>
              <a:p>
                <a:pPr marL="342900" indent="-342900">
                  <a:buAutoNum type="arabicPeriod"/>
                </a:pPr>
                <a:r>
                  <a:rPr kumimoji="1" lang="zh-TW" altLang="en-US" sz="2000" dirty="0">
                    <a:latin typeface="Times New Roman" panose="02020603050405020304" pitchFamily="18" charset="0"/>
                    <a:cs typeface="Times New Roman" panose="02020603050405020304" pitchFamily="18" charset="0"/>
                  </a:rPr>
                  <a:t>當</a:t>
                </a:r>
                <a:r>
                  <a:rPr kumimoji="1" lang="en-US" altLang="zh-TW" sz="2000" i="1" dirty="0">
                    <a:latin typeface="Times New Roman" panose="02020603050405020304" pitchFamily="18" charset="0"/>
                    <a:cs typeface="Times New Roman" panose="02020603050405020304" pitchFamily="18" charset="0"/>
                  </a:rPr>
                  <a:t>k</a:t>
                </a:r>
                <a:r>
                  <a:rPr kumimoji="1" lang="en-US" altLang="zh-TW" sz="2000" dirty="0">
                    <a:latin typeface="Times New Roman" panose="02020603050405020304" pitchFamily="18" charset="0"/>
                    <a:cs typeface="Times New Roman" panose="02020603050405020304" pitchFamily="18" charset="0"/>
                  </a:rPr>
                  <a:t>=log </a:t>
                </a:r>
                <a:r>
                  <a:rPr kumimoji="1" lang="en-US" altLang="zh-TW" sz="2000" i="1" dirty="0">
                    <a:latin typeface="Times New Roman" panose="02020603050405020304" pitchFamily="18" charset="0"/>
                    <a:cs typeface="Times New Roman" panose="02020603050405020304" pitchFamily="18" charset="0"/>
                  </a:rPr>
                  <a:t>x</a:t>
                </a:r>
                <a:r>
                  <a:rPr kumimoji="1"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Time: O(2</a:t>
                </a:r>
                <a:r>
                  <a:rPr kumimoji="1" lang="en-US" altLang="zh-TW" sz="2000" baseline="30000" dirty="0">
                    <a:latin typeface="Times New Roman" panose="02020603050405020304" pitchFamily="18" charset="0"/>
                    <a:cs typeface="Times New Roman" panose="02020603050405020304" pitchFamily="18" charset="0"/>
                  </a:rPr>
                  <a:t>log </a:t>
                </a:r>
                <a:r>
                  <a:rPr kumimoji="1" lang="en-US" altLang="zh-TW" sz="2000" i="1" baseline="30000" dirty="0">
                    <a:latin typeface="Times New Roman" panose="02020603050405020304" pitchFamily="18" charset="0"/>
                    <a:cs typeface="Times New Roman" panose="02020603050405020304" pitchFamily="18" charset="0"/>
                  </a:rPr>
                  <a:t>x</a:t>
                </a:r>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sSubSup>
                              <m:sSubSupPr>
                                <m:ctrlPr>
                                  <a:rPr kumimoji="1" lang="en-US" altLang="zh-TW" sz="2000" i="1" smtClean="0">
                                    <a:latin typeface="Cambria Math" panose="02040503050406030204" pitchFamily="18" charset="0"/>
                                    <a:cs typeface="Times New Roman" panose="02020603050405020304" pitchFamily="18" charset="0"/>
                                  </a:rPr>
                                </m:ctrlPr>
                              </m:sSubSupPr>
                              <m:e>
                                <m:r>
                                  <a:rPr kumimoji="1" lang="en-US" altLang="zh-TW" sz="2000" b="0" i="1" smtClean="0">
                                    <a:latin typeface="Cambria Math" panose="02040503050406030204" pitchFamily="18" charset="0"/>
                                    <a:cs typeface="Times New Roman" panose="02020603050405020304" pitchFamily="18" charset="0"/>
                                  </a:rPr>
                                  <m:t>2</m:t>
                                </m:r>
                              </m:e>
                              <m:sub/>
                              <m:sup>
                                <m:r>
                                  <m:rPr>
                                    <m:sty m:val="p"/>
                                  </m:rPr>
                                  <a:rPr kumimoji="1" lang="en-US" altLang="zh-TW" sz="2000" b="0" i="0" smtClean="0">
                                    <a:latin typeface="Cambria Math" panose="02040503050406030204" pitchFamily="18" charset="0"/>
                                    <a:cs typeface="Times New Roman" panose="02020603050405020304" pitchFamily="18" charset="0"/>
                                  </a:rPr>
                                  <m:t>log</m:t>
                                </m:r>
                                <m:r>
                                  <a:rPr kumimoji="1" lang="en-US" altLang="zh-TW" sz="2000" b="0" i="1" smtClean="0">
                                    <a:latin typeface="Cambria Math" panose="02040503050406030204" pitchFamily="18" charset="0"/>
                                    <a:cs typeface="Times New Roman" panose="02020603050405020304" pitchFamily="18" charset="0"/>
                                  </a:rPr>
                                  <m:t> </m:t>
                                </m:r>
                                <m:r>
                                  <a:rPr kumimoji="1" lang="en-US" altLang="zh-TW" sz="2000" b="0" i="1" smtClean="0">
                                    <a:latin typeface="Cambria Math" panose="02040503050406030204" pitchFamily="18" charset="0"/>
                                    <a:cs typeface="Times New Roman" panose="02020603050405020304" pitchFamily="18" charset="0"/>
                                  </a:rPr>
                                  <m:t>𝑥</m:t>
                                </m:r>
                              </m:sup>
                            </m:sSubSup>
                          </m:sub>
                        </m:sSub>
                      </m:fName>
                      <m:e>
                        <m:r>
                          <a:rPr kumimoji="1" lang="en-US" altLang="zh-TW" sz="2000" b="0" i="1" smtClean="0">
                            <a:latin typeface="Cambria Math" panose="02040503050406030204" pitchFamily="18" charset="0"/>
                            <a:cs typeface="Times New Roman" panose="02020603050405020304" pitchFamily="18" charset="0"/>
                          </a:rPr>
                          <m:t>𝑈</m:t>
                        </m:r>
                      </m:e>
                    </m:func>
                  </m:oMath>
                </a14:m>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
                      <m:fPr>
                        <m:ctrlPr>
                          <a:rPr kumimoji="1" lang="en-US" altLang="zh-TW" sz="2000" i="1" smtClean="0">
                            <a:latin typeface="Cambria Math" panose="02040503050406030204" pitchFamily="18" charset="0"/>
                            <a:cs typeface="Times New Roman" panose="02020603050405020304" pitchFamily="18" charset="0"/>
                          </a:rPr>
                        </m:ctrlPr>
                      </m:fPr>
                      <m:num>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r>
                              <a:rPr kumimoji="1" lang="en-US" altLang="zh-TW" sz="2000" b="0" i="1" smtClean="0">
                                <a:latin typeface="Cambria Math" panose="02040503050406030204" pitchFamily="18" charset="0"/>
                                <a:cs typeface="Times New Roman" panose="02020603050405020304" pitchFamily="18" charset="0"/>
                              </a:rPr>
                              <m:t>𝑈</m:t>
                            </m:r>
                          </m:e>
                        </m:func>
                      </m:num>
                      <m:den>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sSup>
                              <m:sSupPr>
                                <m:ctrlPr>
                                  <a:rPr kumimoji="1" lang="en-US" altLang="zh-TW" sz="2000" i="1" smtClean="0">
                                    <a:latin typeface="Cambria Math" panose="02040503050406030204" pitchFamily="18" charset="0"/>
                                    <a:cs typeface="Times New Roman" panose="02020603050405020304" pitchFamily="18" charset="0"/>
                                  </a:rPr>
                                </m:ctrlPr>
                              </m:sSupPr>
                              <m:e>
                                <m:r>
                                  <a:rPr kumimoji="1" lang="en-US" altLang="zh-TW" sz="2000" b="0" i="1" smtClean="0">
                                    <a:latin typeface="Cambria Math" panose="02040503050406030204" pitchFamily="18" charset="0"/>
                                    <a:cs typeface="Times New Roman" panose="02020603050405020304" pitchFamily="18" charset="0"/>
                                  </a:rPr>
                                  <m:t>2</m:t>
                                </m:r>
                              </m:e>
                              <m:sup>
                                <m:func>
                                  <m:funcPr>
                                    <m:ctrlPr>
                                      <a:rPr kumimoji="1" lang="en-US" altLang="zh-TW" sz="2000" b="0" i="1" smtClean="0">
                                        <a:latin typeface="Cambria Math" panose="02040503050406030204" pitchFamily="18" charset="0"/>
                                        <a:cs typeface="Times New Roman" panose="02020603050405020304" pitchFamily="18" charset="0"/>
                                      </a:rPr>
                                    </m:ctrlPr>
                                  </m:funcPr>
                                  <m:fName>
                                    <m:r>
                                      <m:rPr>
                                        <m:sty m:val="p"/>
                                      </m:rPr>
                                      <a:rPr kumimoji="1" lang="en-US" altLang="zh-TW" sz="2000" b="0" i="0" smtClean="0">
                                        <a:latin typeface="Cambria Math" panose="02040503050406030204" pitchFamily="18" charset="0"/>
                                        <a:cs typeface="Times New Roman" panose="02020603050405020304" pitchFamily="18" charset="0"/>
                                      </a:rPr>
                                      <m:t>log</m:t>
                                    </m:r>
                                  </m:fName>
                                  <m:e>
                                    <m:r>
                                      <a:rPr kumimoji="1" lang="en-US" altLang="zh-TW" sz="2000" b="0" i="1" smtClean="0">
                                        <a:latin typeface="Cambria Math" panose="02040503050406030204" pitchFamily="18" charset="0"/>
                                        <a:cs typeface="Times New Roman" panose="02020603050405020304" pitchFamily="18" charset="0"/>
                                      </a:rPr>
                                      <m:t>𝑥</m:t>
                                    </m:r>
                                  </m:e>
                                </m:func>
                              </m:sup>
                            </m:sSup>
                          </m:e>
                        </m:func>
                      </m:den>
                    </m:f>
                  </m:oMath>
                </a14:m>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
                      <m:fPr>
                        <m:type m:val="skw"/>
                        <m:ctrlPr>
                          <a:rPr kumimoji="1" lang="en-US" altLang="zh-TW" sz="2000" i="1" smtClean="0">
                            <a:latin typeface="Cambria Math" panose="02040503050406030204" pitchFamily="18" charset="0"/>
                            <a:cs typeface="Times New Roman" panose="02020603050405020304" pitchFamily="18" charset="0"/>
                          </a:rPr>
                        </m:ctrlPr>
                      </m:fPr>
                      <m:num>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2</m:t>
                                </m:r>
                              </m:sub>
                            </m:sSub>
                          </m:fName>
                          <m:e>
                            <m:r>
                              <a:rPr kumimoji="1" lang="en-US" altLang="zh-TW" sz="2000" b="0" i="1" smtClean="0">
                                <a:latin typeface="Cambria Math" panose="02040503050406030204" pitchFamily="18" charset="0"/>
                                <a:cs typeface="Times New Roman" panose="02020603050405020304" pitchFamily="18" charset="0"/>
                              </a:rPr>
                              <m:t>𝑈</m:t>
                            </m:r>
                          </m:e>
                        </m:func>
                      </m:num>
                      <m:den>
                        <m:func>
                          <m:funcPr>
                            <m:ctrlPr>
                              <a:rPr kumimoji="1" lang="en-US" altLang="zh-TW" sz="2000" b="0" i="1" smtClean="0">
                                <a:latin typeface="Cambria Math" panose="02040503050406030204" pitchFamily="18" charset="0"/>
                                <a:cs typeface="Times New Roman" panose="02020603050405020304" pitchFamily="18" charset="0"/>
                              </a:rPr>
                            </m:ctrlPr>
                          </m:funcPr>
                          <m:fName>
                            <m:r>
                              <m:rPr>
                                <m:sty m:val="p"/>
                              </m:rPr>
                              <a:rPr kumimoji="1" lang="en-US" altLang="zh-TW" sz="2000" b="0" i="0" smtClean="0">
                                <a:latin typeface="Cambria Math" panose="02040503050406030204" pitchFamily="18" charset="0"/>
                                <a:cs typeface="Times New Roman" panose="02020603050405020304" pitchFamily="18" charset="0"/>
                              </a:rPr>
                              <m:t>log</m:t>
                            </m:r>
                          </m:fName>
                          <m:e>
                            <m:r>
                              <a:rPr kumimoji="1" lang="en-US" altLang="zh-TW" sz="2000" b="0" i="1" smtClean="0">
                                <a:latin typeface="Cambria Math" panose="02040503050406030204" pitchFamily="18" charset="0"/>
                                <a:cs typeface="Times New Roman" panose="02020603050405020304" pitchFamily="18" charset="0"/>
                              </a:rPr>
                              <m:t>𝑥</m:t>
                            </m:r>
                          </m:e>
                        </m:func>
                      </m:den>
                    </m:f>
                  </m:oMath>
                </a14:m>
                <a:r>
                  <a:rPr kumimoji="1" lang="en-US" altLang="zh-TW" sz="2000" dirty="0">
                    <a:latin typeface="Times New Roman" panose="02020603050405020304" pitchFamily="18" charset="0"/>
                    <a:cs typeface="Times New Roman" panose="02020603050405020304" pitchFamily="18" charset="0"/>
                  </a:rPr>
                  <a:t>) = O(</a:t>
                </a:r>
                <a14:m>
                  <m:oMath xmlns:m="http://schemas.openxmlformats.org/officeDocument/2006/math">
                    <m:func>
                      <m:funcPr>
                        <m:ctrlPr>
                          <a:rPr kumimoji="1" lang="en-US" altLang="zh-TW" sz="2000" i="1" smtClean="0">
                            <a:latin typeface="Cambria Math" panose="02040503050406030204" pitchFamily="18" charset="0"/>
                            <a:cs typeface="Times New Roman" panose="02020603050405020304" pitchFamily="18" charset="0"/>
                          </a:rPr>
                        </m:ctrlPr>
                      </m:funcPr>
                      <m:fName>
                        <m:sSub>
                          <m:sSubPr>
                            <m:ctrlPr>
                              <a:rPr kumimoji="1" lang="en-US" altLang="zh-TW" sz="2000" i="1" smtClean="0">
                                <a:latin typeface="Cambria Math" panose="02040503050406030204" pitchFamily="18" charset="0"/>
                                <a:cs typeface="Times New Roman" panose="02020603050405020304" pitchFamily="18" charset="0"/>
                              </a:rPr>
                            </m:ctrlPr>
                          </m:sSubPr>
                          <m:e>
                            <m:r>
                              <m:rPr>
                                <m:sty m:val="p"/>
                              </m:rPr>
                              <a:rPr kumimoji="1" lang="en-US" altLang="zh-TW" sz="2000" i="0" smtClean="0">
                                <a:latin typeface="Cambria Math" panose="02040503050406030204" pitchFamily="18" charset="0"/>
                                <a:cs typeface="Times New Roman" panose="02020603050405020304" pitchFamily="18" charset="0"/>
                              </a:rPr>
                              <m:t>log</m:t>
                            </m:r>
                          </m:e>
                          <m:sub>
                            <m:r>
                              <a:rPr kumimoji="1" lang="en-US" altLang="zh-TW" sz="2000" b="0" i="1" smtClean="0">
                                <a:latin typeface="Cambria Math" panose="02040503050406030204" pitchFamily="18" charset="0"/>
                                <a:cs typeface="Times New Roman" panose="02020603050405020304" pitchFamily="18" charset="0"/>
                              </a:rPr>
                              <m:t>𝑥</m:t>
                            </m:r>
                          </m:sub>
                        </m:sSub>
                      </m:fName>
                      <m:e>
                        <m:r>
                          <a:rPr kumimoji="1" lang="en-US" altLang="zh-TW" sz="2000" b="0" i="1" smtClean="0">
                            <a:latin typeface="Cambria Math" panose="02040503050406030204" pitchFamily="18" charset="0"/>
                            <a:cs typeface="Times New Roman" panose="02020603050405020304" pitchFamily="18" charset="0"/>
                          </a:rPr>
                          <m:t>𝑈</m:t>
                        </m:r>
                      </m:e>
                    </m:func>
                  </m:oMath>
                </a14:m>
                <a:r>
                  <a:rPr kumimoji="1" lang="en-US" altLang="zh-TW" sz="2000" dirty="0">
                    <a:latin typeface="Times New Roman" panose="02020603050405020304" pitchFamily="18" charset="0"/>
                    <a:cs typeface="Times New Roman" panose="02020603050405020304" pitchFamily="18" charset="0"/>
                  </a:rPr>
                  <a:t>)</a:t>
                </a:r>
                <a:endParaRPr kumimoji="1" lang="zh-TW" altLang="en-US" sz="2000" dirty="0">
                  <a:latin typeface="Times New Roman" panose="02020603050405020304" pitchFamily="18" charset="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2D5BBDFB-BD68-1FFC-6902-68C2D5087748}"/>
                  </a:ext>
                </a:extLst>
              </p:cNvPr>
              <p:cNvSpPr txBox="1">
                <a:spLocks noRot="1" noChangeAspect="1" noMove="1" noResize="1" noEditPoints="1" noAdjustHandles="1" noChangeArrowheads="1" noChangeShapeType="1" noTextEdit="1"/>
              </p:cNvSpPr>
              <p:nvPr/>
            </p:nvSpPr>
            <p:spPr>
              <a:xfrm>
                <a:off x="967564" y="4076053"/>
                <a:ext cx="7643036" cy="1292726"/>
              </a:xfrm>
              <a:prstGeom prst="rect">
                <a:avLst/>
              </a:prstGeom>
              <a:blipFill>
                <a:blip r:embed="rId3"/>
                <a:stretch>
                  <a:fillRect l="-663" t="-3922" b="-7254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39632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2. Static to Dynamic Transformation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5" name="圖片 4">
            <a:extLst>
              <a:ext uri="{FF2B5EF4-FFF2-40B4-BE49-F238E27FC236}">
                <a16:creationId xmlns:a16="http://schemas.microsoft.com/office/drawing/2014/main" id="{AAD9E213-7053-1A24-4728-CC8EA4865854}"/>
              </a:ext>
            </a:extLst>
          </p:cNvPr>
          <p:cNvPicPr>
            <a:picLocks noChangeAspect="1"/>
          </p:cNvPicPr>
          <p:nvPr/>
        </p:nvPicPr>
        <p:blipFill>
          <a:blip r:embed="rId2"/>
          <a:stretch>
            <a:fillRect/>
          </a:stretch>
        </p:blipFill>
        <p:spPr>
          <a:xfrm>
            <a:off x="838200" y="1439122"/>
            <a:ext cx="7772400" cy="1953220"/>
          </a:xfrm>
          <a:prstGeom prst="rect">
            <a:avLst/>
          </a:prstGeom>
        </p:spPr>
      </p:pic>
      <p:pic>
        <p:nvPicPr>
          <p:cNvPr id="8" name="圖片 7">
            <a:extLst>
              <a:ext uri="{FF2B5EF4-FFF2-40B4-BE49-F238E27FC236}">
                <a16:creationId xmlns:a16="http://schemas.microsoft.com/office/drawing/2014/main" id="{0B6EFA00-698E-FDAE-B649-62EDFB24A5D0}"/>
              </a:ext>
            </a:extLst>
          </p:cNvPr>
          <p:cNvPicPr>
            <a:picLocks noChangeAspect="1"/>
          </p:cNvPicPr>
          <p:nvPr/>
        </p:nvPicPr>
        <p:blipFill rotWithShape="1">
          <a:blip r:embed="rId3"/>
          <a:srcRect l="7372" t="4314" r="15133" b="24317"/>
          <a:stretch/>
        </p:blipFill>
        <p:spPr>
          <a:xfrm>
            <a:off x="4972493" y="3429000"/>
            <a:ext cx="3530009" cy="3370521"/>
          </a:xfrm>
          <a:prstGeom prst="rect">
            <a:avLst/>
          </a:prstGeom>
        </p:spPr>
      </p:pic>
      <p:graphicFrame>
        <p:nvGraphicFramePr>
          <p:cNvPr id="9" name="表格 9">
            <a:extLst>
              <a:ext uri="{FF2B5EF4-FFF2-40B4-BE49-F238E27FC236}">
                <a16:creationId xmlns:a16="http://schemas.microsoft.com/office/drawing/2014/main" id="{949BB57B-D49E-EC2B-EA9A-51C349FC665C}"/>
              </a:ext>
            </a:extLst>
          </p:cNvPr>
          <p:cNvGraphicFramePr>
            <a:graphicFrameLocks noGrp="1"/>
          </p:cNvGraphicFramePr>
          <p:nvPr>
            <p:extLst>
              <p:ext uri="{D42A27DB-BD31-4B8C-83A1-F6EECF244321}">
                <p14:modId xmlns:p14="http://schemas.microsoft.com/office/powerpoint/2010/main" val="3463107639"/>
              </p:ext>
            </p:extLst>
          </p:nvPr>
        </p:nvGraphicFramePr>
        <p:xfrm>
          <a:off x="5116032" y="3559532"/>
          <a:ext cx="678712" cy="3139832"/>
        </p:xfrm>
        <a:graphic>
          <a:graphicData uri="http://schemas.openxmlformats.org/drawingml/2006/table">
            <a:tbl>
              <a:tblPr firstRow="1" bandRow="1">
                <a:tableStyleId>{5940675A-B579-460E-94D1-54222C63F5DA}</a:tableStyleId>
              </a:tblPr>
              <a:tblGrid>
                <a:gridCol w="678712">
                  <a:extLst>
                    <a:ext uri="{9D8B030D-6E8A-4147-A177-3AD203B41FA5}">
                      <a16:colId xmlns:a16="http://schemas.microsoft.com/office/drawing/2014/main" val="906354440"/>
                    </a:ext>
                  </a:extLst>
                </a:gridCol>
              </a:tblGrid>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3682188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285435606"/>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0002021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35956304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194528024"/>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489383980"/>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78421803"/>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101788305"/>
                  </a:ext>
                </a:extLst>
              </a:tr>
            </a:tbl>
          </a:graphicData>
        </a:graphic>
      </p:graphicFrame>
      <p:graphicFrame>
        <p:nvGraphicFramePr>
          <p:cNvPr id="10" name="表格 9">
            <a:extLst>
              <a:ext uri="{FF2B5EF4-FFF2-40B4-BE49-F238E27FC236}">
                <a16:creationId xmlns:a16="http://schemas.microsoft.com/office/drawing/2014/main" id="{131928E5-3EF9-7B4A-9F3B-21A48C07123B}"/>
              </a:ext>
            </a:extLst>
          </p:cNvPr>
          <p:cNvGraphicFramePr>
            <a:graphicFrameLocks noGrp="1"/>
          </p:cNvGraphicFramePr>
          <p:nvPr>
            <p:extLst>
              <p:ext uri="{D42A27DB-BD31-4B8C-83A1-F6EECF244321}">
                <p14:modId xmlns:p14="http://schemas.microsoft.com/office/powerpoint/2010/main" val="3602184523"/>
              </p:ext>
            </p:extLst>
          </p:nvPr>
        </p:nvGraphicFramePr>
        <p:xfrm>
          <a:off x="5805377" y="3559532"/>
          <a:ext cx="955158" cy="3139832"/>
        </p:xfrm>
        <a:graphic>
          <a:graphicData uri="http://schemas.openxmlformats.org/drawingml/2006/table">
            <a:tbl>
              <a:tblPr firstRow="1" bandRow="1">
                <a:tableStyleId>{5940675A-B579-460E-94D1-54222C63F5DA}</a:tableStyleId>
              </a:tblPr>
              <a:tblGrid>
                <a:gridCol w="955158">
                  <a:extLst>
                    <a:ext uri="{9D8B030D-6E8A-4147-A177-3AD203B41FA5}">
                      <a16:colId xmlns:a16="http://schemas.microsoft.com/office/drawing/2014/main" val="906354440"/>
                    </a:ext>
                  </a:extLst>
                </a:gridCol>
              </a:tblGrid>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3682188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285435606"/>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0002021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35956304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194528024"/>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489383980"/>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78421803"/>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101788305"/>
                  </a:ext>
                </a:extLst>
              </a:tr>
            </a:tbl>
          </a:graphicData>
        </a:graphic>
      </p:graphicFrame>
      <p:graphicFrame>
        <p:nvGraphicFramePr>
          <p:cNvPr id="11" name="表格 10">
            <a:extLst>
              <a:ext uri="{FF2B5EF4-FFF2-40B4-BE49-F238E27FC236}">
                <a16:creationId xmlns:a16="http://schemas.microsoft.com/office/drawing/2014/main" id="{09837B8A-D243-77F2-CB26-D22DCF736CAC}"/>
              </a:ext>
            </a:extLst>
          </p:cNvPr>
          <p:cNvGraphicFramePr>
            <a:graphicFrameLocks noGrp="1"/>
          </p:cNvGraphicFramePr>
          <p:nvPr>
            <p:extLst>
              <p:ext uri="{D42A27DB-BD31-4B8C-83A1-F6EECF244321}">
                <p14:modId xmlns:p14="http://schemas.microsoft.com/office/powerpoint/2010/main" val="1454467687"/>
              </p:ext>
            </p:extLst>
          </p:nvPr>
        </p:nvGraphicFramePr>
        <p:xfrm>
          <a:off x="6774710" y="3559532"/>
          <a:ext cx="1623237" cy="3139832"/>
        </p:xfrm>
        <a:graphic>
          <a:graphicData uri="http://schemas.openxmlformats.org/drawingml/2006/table">
            <a:tbl>
              <a:tblPr firstRow="1" bandRow="1">
                <a:tableStyleId>{5940675A-B579-460E-94D1-54222C63F5DA}</a:tableStyleId>
              </a:tblPr>
              <a:tblGrid>
                <a:gridCol w="1623237">
                  <a:extLst>
                    <a:ext uri="{9D8B030D-6E8A-4147-A177-3AD203B41FA5}">
                      <a16:colId xmlns:a16="http://schemas.microsoft.com/office/drawing/2014/main" val="906354440"/>
                    </a:ext>
                  </a:extLst>
                </a:gridCol>
              </a:tblGrid>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3682188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285435606"/>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0002021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359563041"/>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1194528024"/>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3489383980"/>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478421803"/>
                  </a:ext>
                </a:extLst>
              </a:tr>
              <a:tr h="392479">
                <a:tc>
                  <a:txBody>
                    <a:bodyPr/>
                    <a:lstStyle/>
                    <a:p>
                      <a:endParaRPr lang="zh-TW" altLang="en-US" dirty="0"/>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tcPr>
                </a:tc>
                <a:extLst>
                  <a:ext uri="{0D108BD9-81ED-4DB2-BD59-A6C34878D82A}">
                    <a16:rowId xmlns:a16="http://schemas.microsoft.com/office/drawing/2014/main" val="2101788305"/>
                  </a:ext>
                </a:extLst>
              </a:tr>
            </a:tbl>
          </a:graphicData>
        </a:graphic>
      </p:graphicFrame>
      <p:pic>
        <p:nvPicPr>
          <p:cNvPr id="12" name="圖片 11">
            <a:extLst>
              <a:ext uri="{FF2B5EF4-FFF2-40B4-BE49-F238E27FC236}">
                <a16:creationId xmlns:a16="http://schemas.microsoft.com/office/drawing/2014/main" id="{FFDD1CB7-C2DA-57D5-952C-F92CE97A77AB}"/>
              </a:ext>
            </a:extLst>
          </p:cNvPr>
          <p:cNvPicPr>
            <a:picLocks noChangeAspect="1"/>
          </p:cNvPicPr>
          <p:nvPr/>
        </p:nvPicPr>
        <p:blipFill rotWithShape="1">
          <a:blip r:embed="rId3"/>
          <a:srcRect l="7372" t="4314" r="15133" b="24317"/>
          <a:stretch/>
        </p:blipFill>
        <p:spPr>
          <a:xfrm>
            <a:off x="838200" y="3429000"/>
            <a:ext cx="3530009" cy="3370521"/>
          </a:xfrm>
          <a:prstGeom prst="rect">
            <a:avLst/>
          </a:prstGeom>
        </p:spPr>
      </p:pic>
    </p:spTree>
    <p:extLst>
      <p:ext uri="{BB962C8B-B14F-4D97-AF65-F5344CB8AC3E}">
        <p14:creationId xmlns:p14="http://schemas.microsoft.com/office/powerpoint/2010/main" val="823003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F</a:t>
            </a:r>
            <a:r>
              <a:rPr kumimoji="1" lang="en-US" altLang="zh-TW" dirty="0">
                <a:latin typeface="Times New Roman" panose="02020603050405020304" pitchFamily="18" charset="0"/>
                <a:cs typeface="Times New Roman" panose="02020603050405020304" pitchFamily="18" charset="0"/>
              </a:rPr>
              <a:t>ilter </a:t>
            </a:r>
            <a:r>
              <a:rPr kumimoji="1" lang="en-US" altLang="zh-TW" dirty="0"/>
              <a:t>C</a:t>
            </a:r>
            <a:r>
              <a:rPr kumimoji="1" lang="en-US" altLang="zh-TW" dirty="0">
                <a:latin typeface="Times New Roman" panose="02020603050405020304" pitchFamily="18" charset="0"/>
                <a:cs typeface="Times New Roman" panose="02020603050405020304" pitchFamily="18" charset="0"/>
              </a:rPr>
              <a:t>onflict Detection </a:t>
            </a:r>
            <a:r>
              <a:rPr kumimoji="1" lang="en-US" altLang="zh-TW" dirty="0"/>
              <a:t>P</a:t>
            </a:r>
            <a:r>
              <a:rPr kumimoji="1" lang="en-US" altLang="zh-TW" dirty="0">
                <a:latin typeface="Times New Roman" panose="02020603050405020304" pitchFamily="18" charset="0"/>
                <a:cs typeface="Times New Roman" panose="02020603050405020304" pitchFamily="18" charset="0"/>
              </a:rPr>
              <a:t>roblem</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algn="just"/>
            <a:r>
              <a:rPr kumimoji="1" lang="en-US" altLang="zh-TW" dirty="0">
                <a:latin typeface="Times New Roman" panose="02020603050405020304" pitchFamily="18" charset="0"/>
                <a:cs typeface="Times New Roman" panose="02020603050405020304" pitchFamily="18" charset="0"/>
              </a:rPr>
              <a:t>Our approach to the filter conflict detection problem uses </a:t>
            </a:r>
            <a:r>
              <a:rPr kumimoji="1" lang="en-US" altLang="zh-TW" b="1" dirty="0">
                <a:solidFill>
                  <a:srgbClr val="FF0000"/>
                </a:solidFill>
                <a:latin typeface="Times New Roman" panose="02020603050405020304" pitchFamily="18" charset="0"/>
                <a:cs typeface="Times New Roman" panose="02020603050405020304" pitchFamily="18" charset="0"/>
              </a:rPr>
              <a:t>a </a:t>
            </a:r>
            <a:r>
              <a:rPr kumimoji="1" lang="en-US" altLang="zh-TW" b="1" dirty="0" err="1">
                <a:solidFill>
                  <a:srgbClr val="FF0000"/>
                </a:solidFill>
                <a:latin typeface="Times New Roman" panose="02020603050405020304" pitchFamily="18" charset="0"/>
                <a:cs typeface="Times New Roman" panose="02020603050405020304" pitchFamily="18" charset="0"/>
              </a:rPr>
              <a:t>kD</a:t>
            </a:r>
            <a:r>
              <a:rPr kumimoji="1" lang="en-US" altLang="zh-TW" b="1" dirty="0">
                <a:solidFill>
                  <a:srgbClr val="FF0000"/>
                </a:solidFill>
                <a:latin typeface="Times New Roman" panose="02020603050405020304" pitchFamily="18" charset="0"/>
                <a:cs typeface="Times New Roman" panose="02020603050405020304" pitchFamily="18" charset="0"/>
              </a:rPr>
              <a:t>-tree to divide the plane into rectangular cells</a:t>
            </a:r>
            <a:r>
              <a:rPr kumimoji="1" lang="en-US" altLang="zh-TW" dirty="0">
                <a:latin typeface="Times New Roman" panose="02020603050405020304" pitchFamily="18" charset="0"/>
                <a:cs typeface="Times New Roman" panose="02020603050405020304" pitchFamily="18" charset="0"/>
              </a:rPr>
              <a:t>, not containing any rectangle vertex, so that the rectangles intersecting any cell form stripes (i.e., rectangles that are unbounded in one dimension).</a:t>
            </a:r>
          </a:p>
          <a:p>
            <a:pPr algn="just"/>
            <a:r>
              <a:rPr kumimoji="1" lang="en-US" altLang="zh-TW" dirty="0">
                <a:latin typeface="Times New Roman" panose="02020603050405020304" pitchFamily="18" charset="0"/>
                <a:cs typeface="Times New Roman" panose="02020603050405020304" pitchFamily="18" charset="0"/>
              </a:rPr>
              <a:t>The conflict detection problem can thus </a:t>
            </a:r>
            <a:r>
              <a:rPr kumimoji="1" lang="en-US" altLang="zh-TW" b="1" dirty="0">
                <a:solidFill>
                  <a:srgbClr val="FF0000"/>
                </a:solidFill>
                <a:latin typeface="Times New Roman" panose="02020603050405020304" pitchFamily="18" charset="0"/>
                <a:cs typeface="Times New Roman" panose="02020603050405020304" pitchFamily="18" charset="0"/>
              </a:rPr>
              <a:t>be reduced to determining a lower envelope of line segments</a:t>
            </a:r>
            <a:r>
              <a:rPr kumimoji="1" lang="en-US" altLang="zh-TW" dirty="0">
                <a:latin typeface="Times New Roman" panose="02020603050405020304" pitchFamily="18" charset="0"/>
                <a:cs typeface="Times New Roman" panose="02020603050405020304" pitchFamily="18" charset="0"/>
              </a:rPr>
              <a:t>, which can also be interpreted data structurally as </a:t>
            </a:r>
            <a:r>
              <a:rPr kumimoji="1" lang="en-US" altLang="zh-TW" b="1" dirty="0">
                <a:solidFill>
                  <a:schemeClr val="accent1"/>
                </a:solidFill>
                <a:latin typeface="Times New Roman" panose="02020603050405020304" pitchFamily="18" charset="0"/>
                <a:cs typeface="Times New Roman" panose="02020603050405020304" pitchFamily="18" charset="0"/>
              </a:rPr>
              <a:t>an offline priority queue problem </a:t>
            </a:r>
            <a:r>
              <a:rPr kumimoji="1" lang="en-US" altLang="zh-TW" dirty="0">
                <a:latin typeface="Times New Roman" panose="02020603050405020304" pitchFamily="18" charset="0"/>
                <a:cs typeface="Times New Roman" panose="02020603050405020304" pitchFamily="18" charset="0"/>
              </a:rPr>
              <a:t>or graph theoretically as </a:t>
            </a:r>
            <a:r>
              <a:rPr kumimoji="1" lang="en-US" altLang="zh-TW" b="1" dirty="0">
                <a:solidFill>
                  <a:schemeClr val="accent1"/>
                </a:solidFill>
                <a:latin typeface="Times New Roman" panose="02020603050405020304" pitchFamily="18" charset="0"/>
                <a:cs typeface="Times New Roman" panose="02020603050405020304" pitchFamily="18" charset="0"/>
              </a:rPr>
              <a:t>a minimum spanning tree verification problem</a:t>
            </a:r>
            <a:r>
              <a:rPr kumimoji="1" lang="en-US" altLang="zh-TW" dirty="0">
                <a:latin typeface="Times New Roman" panose="02020603050405020304" pitchFamily="18" charset="0"/>
                <a:cs typeface="Times New Roman" panose="02020603050405020304" pitchFamily="18" charset="0"/>
              </a:rPr>
              <a:t>. We solve this subproblem efficiently using </a:t>
            </a:r>
            <a:r>
              <a:rPr kumimoji="1" lang="en-US" altLang="zh-TW" b="1" dirty="0">
                <a:solidFill>
                  <a:srgbClr val="FF0000"/>
                </a:solidFill>
                <a:latin typeface="Times New Roman" panose="02020603050405020304" pitchFamily="18" charset="0"/>
                <a:cs typeface="Times New Roman" panose="02020603050405020304" pitchFamily="18" charset="0"/>
              </a:rPr>
              <a:t>a linear-time union-find data structure.</a:t>
            </a:r>
          </a:p>
          <a:p>
            <a:pPr algn="just"/>
            <a:endParaRPr kumimoji="1" lang="en-US" altLang="zh-TW" dirty="0">
              <a:latin typeface="Times New Roman" panose="02020603050405020304" pitchFamily="18" charset="0"/>
              <a:cs typeface="Times New Roman" panose="02020603050405020304" pitchFamily="18" charset="0"/>
            </a:endParaRPr>
          </a:p>
          <a:p>
            <a:pPr algn="just"/>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spTree>
    <p:extLst>
      <p:ext uri="{BB962C8B-B14F-4D97-AF65-F5344CB8AC3E}">
        <p14:creationId xmlns:p14="http://schemas.microsoft.com/office/powerpoint/2010/main" val="685650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1. Lower Envelopes, MST Verification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4" name="圖片 3">
            <a:extLst>
              <a:ext uri="{FF2B5EF4-FFF2-40B4-BE49-F238E27FC236}">
                <a16:creationId xmlns:a16="http://schemas.microsoft.com/office/drawing/2014/main" id="{C858D991-82A5-FBBD-C976-34C1C28ECA47}"/>
              </a:ext>
            </a:extLst>
          </p:cNvPr>
          <p:cNvPicPr>
            <a:picLocks noChangeAspect="1"/>
          </p:cNvPicPr>
          <p:nvPr/>
        </p:nvPicPr>
        <p:blipFill>
          <a:blip r:embed="rId2"/>
          <a:stretch>
            <a:fillRect/>
          </a:stretch>
        </p:blipFill>
        <p:spPr>
          <a:xfrm>
            <a:off x="1826141" y="1570442"/>
            <a:ext cx="8539719" cy="4401829"/>
          </a:xfrm>
          <a:prstGeom prst="rect">
            <a:avLst/>
          </a:prstGeom>
        </p:spPr>
      </p:pic>
    </p:spTree>
    <p:extLst>
      <p:ext uri="{BB962C8B-B14F-4D97-AF65-F5344CB8AC3E}">
        <p14:creationId xmlns:p14="http://schemas.microsoft.com/office/powerpoint/2010/main" val="1100901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1. Lower Envelopes, MST Verification</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5" name="圖片 4">
            <a:extLst>
              <a:ext uri="{FF2B5EF4-FFF2-40B4-BE49-F238E27FC236}">
                <a16:creationId xmlns:a16="http://schemas.microsoft.com/office/drawing/2014/main" id="{BFDB22B1-D4E2-2685-F73B-8C571119C3FF}"/>
              </a:ext>
            </a:extLst>
          </p:cNvPr>
          <p:cNvPicPr>
            <a:picLocks noChangeAspect="1"/>
          </p:cNvPicPr>
          <p:nvPr/>
        </p:nvPicPr>
        <p:blipFill>
          <a:blip r:embed="rId2"/>
          <a:stretch>
            <a:fillRect/>
          </a:stretch>
        </p:blipFill>
        <p:spPr>
          <a:xfrm>
            <a:off x="455426" y="1565686"/>
            <a:ext cx="7772400" cy="851156"/>
          </a:xfrm>
          <a:prstGeom prst="rect">
            <a:avLst/>
          </a:prstGeom>
        </p:spPr>
      </p:pic>
      <p:sp>
        <p:nvSpPr>
          <p:cNvPr id="8" name="文字方塊 7">
            <a:extLst>
              <a:ext uri="{FF2B5EF4-FFF2-40B4-BE49-F238E27FC236}">
                <a16:creationId xmlns:a16="http://schemas.microsoft.com/office/drawing/2014/main" id="{60FB3154-A9F1-B173-8EFE-8954427795BC}"/>
              </a:ext>
            </a:extLst>
          </p:cNvPr>
          <p:cNvSpPr txBox="1"/>
          <p:nvPr/>
        </p:nvSpPr>
        <p:spPr>
          <a:xfrm>
            <a:off x="455427" y="2551779"/>
            <a:ext cx="7772400" cy="2308324"/>
          </a:xfrm>
          <a:prstGeom prst="rect">
            <a:avLst/>
          </a:prstGeom>
          <a:noFill/>
        </p:spPr>
        <p:txBody>
          <a:bodyPr wrap="square" rtlCol="0">
            <a:spAutoFit/>
          </a:bodyPr>
          <a:lstStyle/>
          <a:p>
            <a:pPr marL="285750" indent="-285750" algn="just">
              <a:buFont typeface="Arial" panose="020B0604020202020204" pitchFamily="34" charset="0"/>
              <a:buChar char="•"/>
            </a:pPr>
            <a:r>
              <a:rPr kumimoji="1" lang="en-US" altLang="zh-TW" sz="2400" dirty="0">
                <a:latin typeface="Times New Roman" panose="02020603050405020304" pitchFamily="18" charset="0"/>
                <a:cs typeface="Times New Roman" panose="02020603050405020304" pitchFamily="18" charset="0"/>
              </a:rPr>
              <a:t>Given is a graph, in which the minimum spanning tree is a given path, and in which all edges have weights in the set {0, 1, . . . </a:t>
            </a:r>
            <a:r>
              <a:rPr kumimoji="1" lang="en-US" altLang="zh-TW" sz="2400" i="1" dirty="0">
                <a:latin typeface="Times New Roman" panose="02020603050405020304" pitchFamily="18" charset="0"/>
                <a:cs typeface="Times New Roman" panose="02020603050405020304" pitchFamily="18" charset="0"/>
              </a:rPr>
              <a:t>n</a:t>
            </a:r>
            <a:r>
              <a:rPr kumimoji="1" lang="en-US" altLang="zh-TW" sz="2400" dirty="0">
                <a:latin typeface="Times New Roman" panose="02020603050405020304" pitchFamily="18" charset="0"/>
                <a:cs typeface="Times New Roman" panose="02020603050405020304" pitchFamily="18" charset="0"/>
              </a:rPr>
              <a:t>−1}. </a:t>
            </a:r>
          </a:p>
          <a:p>
            <a:pPr marL="285750" indent="-285750" algn="just">
              <a:buFont typeface="Arial" panose="020B0604020202020204" pitchFamily="34" charset="0"/>
              <a:buChar char="•"/>
            </a:pPr>
            <a:r>
              <a:rPr kumimoji="1" lang="en-US" altLang="zh-TW" sz="2400" dirty="0">
                <a:latin typeface="Times New Roman" panose="02020603050405020304" pitchFamily="18" charset="0"/>
                <a:cs typeface="Times New Roman" panose="02020603050405020304" pitchFamily="18" charset="0"/>
              </a:rPr>
              <a:t>How quickly can one determine, for each edge in the path, </a:t>
            </a:r>
            <a:r>
              <a:rPr kumimoji="1" lang="en-US" altLang="zh-TW" sz="2400" b="1" dirty="0">
                <a:solidFill>
                  <a:schemeClr val="accent1"/>
                </a:solidFill>
                <a:latin typeface="Times New Roman" panose="02020603050405020304" pitchFamily="18" charset="0"/>
                <a:cs typeface="Times New Roman" panose="02020603050405020304" pitchFamily="18" charset="0"/>
              </a:rPr>
              <a:t>which edge would replace it in the MST if the path edge were deleted?</a:t>
            </a:r>
            <a:endParaRPr kumimoji="1" lang="zh-TW" altLang="en-US" sz="2400" b="1" dirty="0">
              <a:solidFill>
                <a:schemeClr val="accent1"/>
              </a:solidFill>
              <a:latin typeface="Times New Roman" panose="02020603050405020304" pitchFamily="18" charset="0"/>
              <a:cs typeface="Times New Roman" panose="02020603050405020304" pitchFamily="18" charset="0"/>
            </a:endParaRPr>
          </a:p>
        </p:txBody>
      </p:sp>
      <p:graphicFrame>
        <p:nvGraphicFramePr>
          <p:cNvPr id="7" name="表格 8">
            <a:extLst>
              <a:ext uri="{FF2B5EF4-FFF2-40B4-BE49-F238E27FC236}">
                <a16:creationId xmlns:a16="http://schemas.microsoft.com/office/drawing/2014/main" id="{A01B4A8A-8567-B047-F734-4D436CC98A2E}"/>
              </a:ext>
            </a:extLst>
          </p:cNvPr>
          <p:cNvGraphicFramePr>
            <a:graphicFrameLocks noGrp="1"/>
          </p:cNvGraphicFramePr>
          <p:nvPr>
            <p:extLst>
              <p:ext uri="{D42A27DB-BD31-4B8C-83A1-F6EECF244321}">
                <p14:modId xmlns:p14="http://schemas.microsoft.com/office/powerpoint/2010/main" val="2254626942"/>
              </p:ext>
            </p:extLst>
          </p:nvPr>
        </p:nvGraphicFramePr>
        <p:xfrm>
          <a:off x="987054" y="4995040"/>
          <a:ext cx="6870405" cy="1483360"/>
        </p:xfrm>
        <a:graphic>
          <a:graphicData uri="http://schemas.openxmlformats.org/drawingml/2006/table">
            <a:tbl>
              <a:tblPr firstRow="1" bandRow="1">
                <a:tableStyleId>{5940675A-B579-460E-94D1-54222C63F5DA}</a:tableStyleId>
              </a:tblPr>
              <a:tblGrid>
                <a:gridCol w="2523227">
                  <a:extLst>
                    <a:ext uri="{9D8B030D-6E8A-4147-A177-3AD203B41FA5}">
                      <a16:colId xmlns:a16="http://schemas.microsoft.com/office/drawing/2014/main" val="3946940148"/>
                    </a:ext>
                  </a:extLst>
                </a:gridCol>
                <a:gridCol w="4347178">
                  <a:extLst>
                    <a:ext uri="{9D8B030D-6E8A-4147-A177-3AD203B41FA5}">
                      <a16:colId xmlns:a16="http://schemas.microsoft.com/office/drawing/2014/main" val="4174423696"/>
                    </a:ext>
                  </a:extLst>
                </a:gridCol>
              </a:tblGrid>
              <a:tr h="370840">
                <a:tc>
                  <a:txBody>
                    <a:bodyPr/>
                    <a:lstStyle/>
                    <a:p>
                      <a:r>
                        <a:rPr lang="en-US" altLang="zh-TW" dirty="0">
                          <a:latin typeface="Times New Roman" panose="02020603050405020304" pitchFamily="18" charset="0"/>
                          <a:cs typeface="Times New Roman" panose="02020603050405020304" pitchFamily="18" charset="0"/>
                        </a:rPr>
                        <a:t>Lower Envelopes</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kumimoji="1" lang="en-US" altLang="zh-TW" dirty="0">
                          <a:latin typeface="Times New Roman" panose="02020603050405020304" pitchFamily="18" charset="0"/>
                          <a:cs typeface="Times New Roman" panose="02020603050405020304" pitchFamily="18" charset="0"/>
                        </a:rPr>
                        <a:t>MST Verification</a:t>
                      </a:r>
                      <a:endParaRPr lang="zh-TW" altLang="en-US"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extLst>
                  <a:ext uri="{0D108BD9-81ED-4DB2-BD59-A6C34878D82A}">
                    <a16:rowId xmlns:a16="http://schemas.microsoft.com/office/drawing/2014/main" val="2444064667"/>
                  </a:ext>
                </a:extLst>
              </a:tr>
              <a:tr h="370840">
                <a:tc>
                  <a:txBody>
                    <a:bodyPr/>
                    <a:lstStyle/>
                    <a:p>
                      <a:r>
                        <a:rPr lang="en-US" altLang="zh-TW" dirty="0">
                          <a:latin typeface="Times New Roman" panose="02020603050405020304" pitchFamily="18" charset="0"/>
                          <a:cs typeface="Times New Roman" panose="02020603050405020304" pitchFamily="18" charset="0"/>
                        </a:rPr>
                        <a:t>x of left endpoints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r>
                        <a:rPr lang="en-US" altLang="zh-TW" baseline="30000" dirty="0">
                          <a:latin typeface="Times New Roman" panose="02020603050405020304" pitchFamily="18" charset="0"/>
                          <a:cs typeface="Times New Roman" panose="02020603050405020304" pitchFamily="18" charset="0"/>
                        </a:rPr>
                        <a:t>st</a:t>
                      </a:r>
                      <a:r>
                        <a:rPr lang="en-US" altLang="zh-TW" dirty="0">
                          <a:latin typeface="Times New Roman" panose="02020603050405020304" pitchFamily="18" charset="0"/>
                          <a:cs typeface="Times New Roman" panose="02020603050405020304" pitchFamily="18" charset="0"/>
                        </a:rPr>
                        <a:t> vertex (according to the path order)</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7719252"/>
                  </a:ext>
                </a:extLst>
              </a:tr>
              <a:tr h="370840">
                <a:tc>
                  <a:txBody>
                    <a:bodyPr/>
                    <a:lstStyle/>
                    <a:p>
                      <a:r>
                        <a:rPr lang="en-US" altLang="zh-TW" dirty="0">
                          <a:latin typeface="Times New Roman" panose="02020603050405020304" pitchFamily="18" charset="0"/>
                          <a:cs typeface="Times New Roman" panose="02020603050405020304" pitchFamily="18" charset="0"/>
                        </a:rPr>
                        <a:t>x of right endpoints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r>
                        <a:rPr lang="en-US" altLang="zh-TW" baseline="30000" dirty="0">
                          <a:latin typeface="Times New Roman" panose="02020603050405020304" pitchFamily="18" charset="0"/>
                          <a:cs typeface="Times New Roman" panose="02020603050405020304" pitchFamily="18" charset="0"/>
                        </a:rPr>
                        <a:t>nd</a:t>
                      </a:r>
                      <a:r>
                        <a:rPr lang="en-US" altLang="zh-TW" dirty="0">
                          <a:latin typeface="Times New Roman" panose="02020603050405020304" pitchFamily="18" charset="0"/>
                          <a:cs typeface="Times New Roman" panose="02020603050405020304" pitchFamily="18" charset="0"/>
                        </a:rPr>
                        <a:t> vertex</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4493810"/>
                  </a:ext>
                </a:extLst>
              </a:tr>
              <a:tr h="370840">
                <a:tc>
                  <a:txBody>
                    <a:bodyPr/>
                    <a:lstStyle/>
                    <a:p>
                      <a:r>
                        <a:rPr lang="en-US" altLang="zh-TW" dirty="0">
                          <a:latin typeface="Times New Roman" panose="02020603050405020304" pitchFamily="18" charset="0"/>
                          <a:cs typeface="Times New Roman" panose="02020603050405020304" pitchFamily="18" charset="0"/>
                        </a:rPr>
                        <a:t>y of  line segments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weight of the non-MST edges in the graph</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1501732"/>
                  </a:ext>
                </a:extLst>
              </a:tr>
            </a:tbl>
          </a:graphicData>
        </a:graphic>
      </p:graphicFrame>
      <p:pic>
        <p:nvPicPr>
          <p:cNvPr id="9" name="圖片 8">
            <a:extLst>
              <a:ext uri="{FF2B5EF4-FFF2-40B4-BE49-F238E27FC236}">
                <a16:creationId xmlns:a16="http://schemas.microsoft.com/office/drawing/2014/main" id="{22A7606A-92CE-1BB7-CE87-52C29BA250E6}"/>
              </a:ext>
            </a:extLst>
          </p:cNvPr>
          <p:cNvPicPr>
            <a:picLocks noChangeAspect="1"/>
          </p:cNvPicPr>
          <p:nvPr/>
        </p:nvPicPr>
        <p:blipFill rotWithShape="1">
          <a:blip r:embed="rId3"/>
          <a:srcRect l="54565" b="15447"/>
          <a:stretch/>
        </p:blipFill>
        <p:spPr>
          <a:xfrm>
            <a:off x="8349905" y="1393968"/>
            <a:ext cx="3264587" cy="3131540"/>
          </a:xfrm>
          <a:prstGeom prst="rect">
            <a:avLst/>
          </a:prstGeom>
        </p:spPr>
      </p:pic>
      <p:pic>
        <p:nvPicPr>
          <p:cNvPr id="10" name="圖片 9">
            <a:extLst>
              <a:ext uri="{FF2B5EF4-FFF2-40B4-BE49-F238E27FC236}">
                <a16:creationId xmlns:a16="http://schemas.microsoft.com/office/drawing/2014/main" id="{36917D73-29FE-8FC9-C301-3E19BC933551}"/>
              </a:ext>
            </a:extLst>
          </p:cNvPr>
          <p:cNvPicPr>
            <a:picLocks noChangeAspect="1"/>
          </p:cNvPicPr>
          <p:nvPr/>
        </p:nvPicPr>
        <p:blipFill>
          <a:blip r:embed="rId4"/>
          <a:stretch>
            <a:fillRect/>
          </a:stretch>
        </p:blipFill>
        <p:spPr>
          <a:xfrm>
            <a:off x="8349905" y="4020942"/>
            <a:ext cx="3579825" cy="2887726"/>
          </a:xfrm>
          <a:prstGeom prst="rect">
            <a:avLst/>
          </a:prstGeom>
        </p:spPr>
      </p:pic>
    </p:spTree>
    <p:extLst>
      <p:ext uri="{BB962C8B-B14F-4D97-AF65-F5344CB8AC3E}">
        <p14:creationId xmlns:p14="http://schemas.microsoft.com/office/powerpoint/2010/main" val="214512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2. Stripes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4" name="圖片 3">
            <a:extLst>
              <a:ext uri="{FF2B5EF4-FFF2-40B4-BE49-F238E27FC236}">
                <a16:creationId xmlns:a16="http://schemas.microsoft.com/office/drawing/2014/main" id="{047FF7E5-EB76-DBB7-FD05-E4B8B20BE9E9}"/>
              </a:ext>
            </a:extLst>
          </p:cNvPr>
          <p:cNvPicPr>
            <a:picLocks noChangeAspect="1"/>
          </p:cNvPicPr>
          <p:nvPr/>
        </p:nvPicPr>
        <p:blipFill>
          <a:blip r:embed="rId2"/>
          <a:stretch>
            <a:fillRect/>
          </a:stretch>
        </p:blipFill>
        <p:spPr>
          <a:xfrm>
            <a:off x="529856" y="1825625"/>
            <a:ext cx="7772400" cy="2758869"/>
          </a:xfrm>
          <a:prstGeom prst="rect">
            <a:avLst/>
          </a:prstGeom>
        </p:spPr>
      </p:pic>
      <p:pic>
        <p:nvPicPr>
          <p:cNvPr id="5" name="圖片 4">
            <a:extLst>
              <a:ext uri="{FF2B5EF4-FFF2-40B4-BE49-F238E27FC236}">
                <a16:creationId xmlns:a16="http://schemas.microsoft.com/office/drawing/2014/main" id="{E34CEC6C-C9D9-A198-3C05-10D89DD282A6}"/>
              </a:ext>
            </a:extLst>
          </p:cNvPr>
          <p:cNvPicPr>
            <a:picLocks noChangeAspect="1"/>
          </p:cNvPicPr>
          <p:nvPr/>
        </p:nvPicPr>
        <p:blipFill rotWithShape="1">
          <a:blip r:embed="rId3"/>
          <a:srcRect t="36332" r="54446"/>
          <a:stretch/>
        </p:blipFill>
        <p:spPr>
          <a:xfrm>
            <a:off x="8507819" y="1786477"/>
            <a:ext cx="3540642" cy="3285046"/>
          </a:xfrm>
          <a:prstGeom prst="rect">
            <a:avLst/>
          </a:prstGeom>
        </p:spPr>
      </p:pic>
    </p:spTree>
    <p:extLst>
      <p:ext uri="{BB962C8B-B14F-4D97-AF65-F5344CB8AC3E}">
        <p14:creationId xmlns:p14="http://schemas.microsoft.com/office/powerpoint/2010/main" val="214215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3. KD-Tree (1/4)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3" name="圖片 2">
            <a:extLst>
              <a:ext uri="{FF2B5EF4-FFF2-40B4-BE49-F238E27FC236}">
                <a16:creationId xmlns:a16="http://schemas.microsoft.com/office/drawing/2014/main" id="{E09DF186-106E-5350-CDCB-390787C8EEAF}"/>
              </a:ext>
            </a:extLst>
          </p:cNvPr>
          <p:cNvPicPr>
            <a:picLocks noChangeAspect="1"/>
          </p:cNvPicPr>
          <p:nvPr/>
        </p:nvPicPr>
        <p:blipFill>
          <a:blip r:embed="rId2"/>
          <a:stretch>
            <a:fillRect/>
          </a:stretch>
        </p:blipFill>
        <p:spPr>
          <a:xfrm>
            <a:off x="1208903" y="1690688"/>
            <a:ext cx="10559182" cy="4037708"/>
          </a:xfrm>
          <a:prstGeom prst="rect">
            <a:avLst/>
          </a:prstGeom>
        </p:spPr>
      </p:pic>
      <p:sp>
        <p:nvSpPr>
          <p:cNvPr id="11" name="文字方塊 10">
            <a:extLst>
              <a:ext uri="{FF2B5EF4-FFF2-40B4-BE49-F238E27FC236}">
                <a16:creationId xmlns:a16="http://schemas.microsoft.com/office/drawing/2014/main" id="{E4C2F52F-A2F6-6400-9ED4-AD12E0567606}"/>
              </a:ext>
            </a:extLst>
          </p:cNvPr>
          <p:cNvSpPr txBox="1"/>
          <p:nvPr/>
        </p:nvSpPr>
        <p:spPr>
          <a:xfrm>
            <a:off x="173620" y="6483388"/>
            <a:ext cx="1035283" cy="276999"/>
          </a:xfrm>
          <a:prstGeom prst="rect">
            <a:avLst/>
          </a:prstGeom>
          <a:noFill/>
        </p:spPr>
        <p:txBody>
          <a:bodyPr wrap="none" rtlCol="0">
            <a:spAutoFit/>
          </a:bodyPr>
          <a:lstStyle/>
          <a:p>
            <a:r>
              <a:rPr kumimoji="1" lang="en-US" altLang="zh-TW" sz="1200" dirty="0">
                <a:latin typeface="Times New Roman" panose="02020603050405020304" pitchFamily="18" charset="0"/>
                <a:cs typeface="Times New Roman" panose="02020603050405020304" pitchFamily="18" charset="0"/>
                <a:hlinkClick r:id="rId3"/>
              </a:rPr>
              <a:t>KD-Tree Ref.</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765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3. KD-Tree (2/4)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pic>
        <p:nvPicPr>
          <p:cNvPr id="4" name="圖片 3">
            <a:extLst>
              <a:ext uri="{FF2B5EF4-FFF2-40B4-BE49-F238E27FC236}">
                <a16:creationId xmlns:a16="http://schemas.microsoft.com/office/drawing/2014/main" id="{431B4B47-F3C1-EFC6-5F0A-CDCD508793A7}"/>
              </a:ext>
            </a:extLst>
          </p:cNvPr>
          <p:cNvPicPr>
            <a:picLocks noChangeAspect="1"/>
          </p:cNvPicPr>
          <p:nvPr/>
        </p:nvPicPr>
        <p:blipFill rotWithShape="1">
          <a:blip r:embed="rId2"/>
          <a:srcRect l="6460" r="5784" b="54754"/>
          <a:stretch/>
        </p:blipFill>
        <p:spPr>
          <a:xfrm>
            <a:off x="1773014" y="1380948"/>
            <a:ext cx="9000000" cy="4680262"/>
          </a:xfrm>
          <a:prstGeom prst="rect">
            <a:avLst/>
          </a:prstGeom>
        </p:spPr>
      </p:pic>
      <p:pic>
        <p:nvPicPr>
          <p:cNvPr id="5" name="圖片 4">
            <a:extLst>
              <a:ext uri="{FF2B5EF4-FFF2-40B4-BE49-F238E27FC236}">
                <a16:creationId xmlns:a16="http://schemas.microsoft.com/office/drawing/2014/main" id="{A935BEEF-D69F-5673-ECEB-A64EBC8D0E5C}"/>
              </a:ext>
            </a:extLst>
          </p:cNvPr>
          <p:cNvPicPr>
            <a:picLocks noChangeAspect="1"/>
          </p:cNvPicPr>
          <p:nvPr/>
        </p:nvPicPr>
        <p:blipFill rotWithShape="1">
          <a:blip r:embed="rId2"/>
          <a:srcRect t="94028"/>
          <a:stretch/>
        </p:blipFill>
        <p:spPr>
          <a:xfrm>
            <a:off x="862381" y="6054364"/>
            <a:ext cx="10800000" cy="650540"/>
          </a:xfrm>
          <a:prstGeom prst="rect">
            <a:avLst/>
          </a:prstGeom>
        </p:spPr>
      </p:pic>
      <p:sp>
        <p:nvSpPr>
          <p:cNvPr id="7" name="文字方塊 6">
            <a:extLst>
              <a:ext uri="{FF2B5EF4-FFF2-40B4-BE49-F238E27FC236}">
                <a16:creationId xmlns:a16="http://schemas.microsoft.com/office/drawing/2014/main" id="{99DA4CF4-61B8-50CA-DC57-8D4903CEC4B1}"/>
              </a:ext>
            </a:extLst>
          </p:cNvPr>
          <p:cNvSpPr txBox="1"/>
          <p:nvPr/>
        </p:nvSpPr>
        <p:spPr>
          <a:xfrm>
            <a:off x="1773014" y="1380948"/>
            <a:ext cx="44114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a:t>
            </a:r>
            <a:endParaRPr kumimoji="1"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504753CE-BE18-380E-9E81-0A5D8C13C997}"/>
              </a:ext>
            </a:extLst>
          </p:cNvPr>
          <p:cNvSpPr txBox="1"/>
          <p:nvPr/>
        </p:nvSpPr>
        <p:spPr>
          <a:xfrm>
            <a:off x="6183770" y="1380948"/>
            <a:ext cx="45397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(b)</a:t>
            </a:r>
            <a:endParaRPr kumimoji="1"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DFADA0D-C7CC-3B4F-1B74-603E8D83DF24}"/>
              </a:ext>
            </a:extLst>
          </p:cNvPr>
          <p:cNvSpPr txBox="1"/>
          <p:nvPr/>
        </p:nvSpPr>
        <p:spPr>
          <a:xfrm>
            <a:off x="4416057" y="5811898"/>
            <a:ext cx="44114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a:t>
            </a:r>
            <a:endParaRPr kumimoji="1"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B956926E-10E2-54B5-339C-2F3110BD7D49}"/>
              </a:ext>
            </a:extLst>
          </p:cNvPr>
          <p:cNvSpPr txBox="1"/>
          <p:nvPr/>
        </p:nvSpPr>
        <p:spPr>
          <a:xfrm>
            <a:off x="6697679" y="5811898"/>
            <a:ext cx="45397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(b)</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426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3. KD-Tree (3/4)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17</a:t>
            </a:fld>
            <a:endParaRPr kumimoji="1" lang="zh-TW" altLang="en-US"/>
          </a:p>
        </p:txBody>
      </p:sp>
      <p:pic>
        <p:nvPicPr>
          <p:cNvPr id="4" name="圖片 3">
            <a:extLst>
              <a:ext uri="{FF2B5EF4-FFF2-40B4-BE49-F238E27FC236}">
                <a16:creationId xmlns:a16="http://schemas.microsoft.com/office/drawing/2014/main" id="{4A75A282-3668-A297-6ED8-C58E66BCE490}"/>
              </a:ext>
            </a:extLst>
          </p:cNvPr>
          <p:cNvPicPr>
            <a:picLocks noChangeAspect="1"/>
          </p:cNvPicPr>
          <p:nvPr/>
        </p:nvPicPr>
        <p:blipFill rotWithShape="1">
          <a:blip r:embed="rId2"/>
          <a:srcRect l="5226" t="45557" r="6424" b="11789"/>
          <a:stretch/>
        </p:blipFill>
        <p:spPr>
          <a:xfrm>
            <a:off x="1776000" y="1719027"/>
            <a:ext cx="8460000" cy="4119466"/>
          </a:xfrm>
          <a:prstGeom prst="rect">
            <a:avLst/>
          </a:prstGeom>
        </p:spPr>
      </p:pic>
      <p:pic>
        <p:nvPicPr>
          <p:cNvPr id="5" name="圖片 4">
            <a:extLst>
              <a:ext uri="{FF2B5EF4-FFF2-40B4-BE49-F238E27FC236}">
                <a16:creationId xmlns:a16="http://schemas.microsoft.com/office/drawing/2014/main" id="{CAE97680-E5F1-4A87-DC0D-54279CC6B7E8}"/>
              </a:ext>
            </a:extLst>
          </p:cNvPr>
          <p:cNvPicPr>
            <a:picLocks noChangeAspect="1"/>
          </p:cNvPicPr>
          <p:nvPr/>
        </p:nvPicPr>
        <p:blipFill rotWithShape="1">
          <a:blip r:embed="rId2"/>
          <a:srcRect t="93072" b="1"/>
          <a:stretch/>
        </p:blipFill>
        <p:spPr>
          <a:xfrm>
            <a:off x="560127" y="5761985"/>
            <a:ext cx="10800000" cy="754566"/>
          </a:xfrm>
          <a:prstGeom prst="rect">
            <a:avLst/>
          </a:prstGeom>
        </p:spPr>
      </p:pic>
      <p:sp>
        <p:nvSpPr>
          <p:cNvPr id="9" name="文字方塊 8">
            <a:extLst>
              <a:ext uri="{FF2B5EF4-FFF2-40B4-BE49-F238E27FC236}">
                <a16:creationId xmlns:a16="http://schemas.microsoft.com/office/drawing/2014/main" id="{A62C4EB9-A77C-6826-6B1D-454B1A63609C}"/>
              </a:ext>
            </a:extLst>
          </p:cNvPr>
          <p:cNvSpPr txBox="1"/>
          <p:nvPr/>
        </p:nvSpPr>
        <p:spPr>
          <a:xfrm>
            <a:off x="1773014" y="1317152"/>
            <a:ext cx="44114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(c)</a:t>
            </a:r>
            <a:endParaRPr kumimoji="1" lang="zh-TW" altLang="en-US"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1A87E792-9E9E-466B-0FEB-5DA69FDBEA5F}"/>
              </a:ext>
            </a:extLst>
          </p:cNvPr>
          <p:cNvSpPr txBox="1"/>
          <p:nvPr/>
        </p:nvSpPr>
        <p:spPr>
          <a:xfrm>
            <a:off x="6183770" y="1380948"/>
            <a:ext cx="45397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(d)</a:t>
            </a:r>
            <a:endParaRPr kumimoji="1"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6287AAD5-53DD-D329-6ED0-BA09B9635C58}"/>
              </a:ext>
            </a:extLst>
          </p:cNvPr>
          <p:cNvSpPr txBox="1"/>
          <p:nvPr/>
        </p:nvSpPr>
        <p:spPr>
          <a:xfrm>
            <a:off x="8911004" y="5625292"/>
            <a:ext cx="44114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(c)</a:t>
            </a:r>
            <a:endParaRPr kumimoji="1" lang="zh-TW" altLang="en-US"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0712DDDB-FE08-892C-26C5-8449E38DC74C}"/>
              </a:ext>
            </a:extLst>
          </p:cNvPr>
          <p:cNvSpPr txBox="1"/>
          <p:nvPr/>
        </p:nvSpPr>
        <p:spPr>
          <a:xfrm>
            <a:off x="1290170" y="6331885"/>
            <a:ext cx="45397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(d)</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542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3. KD-Tree (4/4)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18</a:t>
            </a:fld>
            <a:endParaRPr kumimoji="1" lang="zh-TW" altLang="en-US"/>
          </a:p>
        </p:txBody>
      </p:sp>
      <p:pic>
        <p:nvPicPr>
          <p:cNvPr id="7" name="圖片 6">
            <a:extLst>
              <a:ext uri="{FF2B5EF4-FFF2-40B4-BE49-F238E27FC236}">
                <a16:creationId xmlns:a16="http://schemas.microsoft.com/office/drawing/2014/main" id="{E96C8312-651D-1E19-A9F4-7FD9EAC96845}"/>
              </a:ext>
            </a:extLst>
          </p:cNvPr>
          <p:cNvPicPr>
            <a:picLocks noChangeAspect="1"/>
          </p:cNvPicPr>
          <p:nvPr/>
        </p:nvPicPr>
        <p:blipFill>
          <a:blip r:embed="rId2"/>
          <a:stretch>
            <a:fillRect/>
          </a:stretch>
        </p:blipFill>
        <p:spPr>
          <a:xfrm>
            <a:off x="221510" y="1465953"/>
            <a:ext cx="7772400" cy="787078"/>
          </a:xfrm>
          <a:prstGeom prst="rect">
            <a:avLst/>
          </a:prstGeom>
        </p:spPr>
      </p:pic>
      <p:pic>
        <p:nvPicPr>
          <p:cNvPr id="8" name="圖片 7">
            <a:extLst>
              <a:ext uri="{FF2B5EF4-FFF2-40B4-BE49-F238E27FC236}">
                <a16:creationId xmlns:a16="http://schemas.microsoft.com/office/drawing/2014/main" id="{8A768D0A-D706-C498-73B2-A06E847A639E}"/>
              </a:ext>
            </a:extLst>
          </p:cNvPr>
          <p:cNvPicPr>
            <a:picLocks noChangeAspect="1"/>
          </p:cNvPicPr>
          <p:nvPr/>
        </p:nvPicPr>
        <p:blipFill>
          <a:blip r:embed="rId3"/>
          <a:stretch>
            <a:fillRect/>
          </a:stretch>
        </p:blipFill>
        <p:spPr>
          <a:xfrm>
            <a:off x="221510" y="2695461"/>
            <a:ext cx="7772400" cy="861919"/>
          </a:xfrm>
          <a:prstGeom prst="rect">
            <a:avLst/>
          </a:prstGeom>
        </p:spPr>
      </p:pic>
      <p:pic>
        <p:nvPicPr>
          <p:cNvPr id="9" name="圖片 8">
            <a:extLst>
              <a:ext uri="{FF2B5EF4-FFF2-40B4-BE49-F238E27FC236}">
                <a16:creationId xmlns:a16="http://schemas.microsoft.com/office/drawing/2014/main" id="{A580A79E-6912-6CB4-464A-60F2A7E1B711}"/>
              </a:ext>
            </a:extLst>
          </p:cNvPr>
          <p:cNvPicPr>
            <a:picLocks noChangeAspect="1"/>
          </p:cNvPicPr>
          <p:nvPr/>
        </p:nvPicPr>
        <p:blipFill>
          <a:blip r:embed="rId4"/>
          <a:stretch>
            <a:fillRect/>
          </a:stretch>
        </p:blipFill>
        <p:spPr>
          <a:xfrm>
            <a:off x="221510" y="3999810"/>
            <a:ext cx="7772400" cy="1189652"/>
          </a:xfrm>
          <a:prstGeom prst="rect">
            <a:avLst/>
          </a:prstGeom>
        </p:spPr>
      </p:pic>
      <p:sp>
        <p:nvSpPr>
          <p:cNvPr id="3" name="文字方塊 2">
            <a:extLst>
              <a:ext uri="{FF2B5EF4-FFF2-40B4-BE49-F238E27FC236}">
                <a16:creationId xmlns:a16="http://schemas.microsoft.com/office/drawing/2014/main" id="{82DFE7D1-A2AD-08B5-98E7-F58E1DA6B0BB}"/>
              </a:ext>
            </a:extLst>
          </p:cNvPr>
          <p:cNvSpPr txBox="1"/>
          <p:nvPr/>
        </p:nvSpPr>
        <p:spPr>
          <a:xfrm>
            <a:off x="221510" y="2289580"/>
            <a:ext cx="3352200" cy="369332"/>
          </a:xfrm>
          <a:prstGeom prst="rect">
            <a:avLst/>
          </a:prstGeom>
          <a:noFill/>
        </p:spPr>
        <p:txBody>
          <a:bodyPr wrap="none" rtlCol="0">
            <a:spAutoFit/>
          </a:bodyPr>
          <a:lstStyle/>
          <a:p>
            <a:pPr marL="285750" indent="-285750">
              <a:buFont typeface="Arial" panose="020B0604020202020204" pitchFamily="34" charset="0"/>
              <a:buChar char="•"/>
            </a:pPr>
            <a:r>
              <a:rPr kumimoji="1" lang="zh-TW" altLang="en-US" dirty="0">
                <a:latin typeface="Times New Roman" panose="02020603050405020304" pitchFamily="18" charset="0"/>
                <a:cs typeface="Times New Roman" panose="02020603050405020304" pitchFamily="18" charset="0"/>
              </a:rPr>
              <a:t>因為</a:t>
            </a:r>
            <a:r>
              <a:rPr kumimoji="1" lang="en-US" altLang="zh-TW" dirty="0" err="1">
                <a:latin typeface="Times New Roman" panose="02020603050405020304" pitchFamily="18" charset="0"/>
                <a:cs typeface="Times New Roman" panose="02020603050405020304" pitchFamily="18" charset="0"/>
              </a:rPr>
              <a:t>kD</a:t>
            </a:r>
            <a:r>
              <a:rPr kumimoji="1" lang="en-US" altLang="zh-TW" dirty="0">
                <a:latin typeface="Times New Roman" panose="02020603050405020304" pitchFamily="18" charset="0"/>
                <a:cs typeface="Times New Roman" panose="02020603050405020304" pitchFamily="18" charset="0"/>
              </a:rPr>
              <a:t>-tree</a:t>
            </a:r>
            <a:r>
              <a:rPr kumimoji="1" lang="zh-TW" altLang="en-US" dirty="0">
                <a:latin typeface="Times New Roman" panose="02020603050405020304" pitchFamily="18" charset="0"/>
                <a:cs typeface="Times New Roman" panose="02020603050405020304" pitchFamily="18" charset="0"/>
              </a:rPr>
              <a:t>的層數為</a:t>
            </a:r>
            <a:r>
              <a:rPr kumimoji="1" lang="en-US" altLang="zh-TW" dirty="0">
                <a:latin typeface="Times New Roman" panose="02020603050405020304" pitchFamily="18" charset="0"/>
                <a:cs typeface="Times New Roman" panose="02020603050405020304" pitchFamily="18" charset="0"/>
              </a:rPr>
              <a:t>O(log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62BFCCBC-D1A2-0A43-7548-6F6EFFA4B726}"/>
              </a:ext>
            </a:extLst>
          </p:cNvPr>
          <p:cNvSpPr txBox="1"/>
          <p:nvPr/>
        </p:nvSpPr>
        <p:spPr>
          <a:xfrm>
            <a:off x="221510" y="3593929"/>
            <a:ext cx="8017835" cy="369332"/>
          </a:xfrm>
          <a:prstGeom prst="rect">
            <a:avLst/>
          </a:prstGeom>
          <a:noFill/>
        </p:spPr>
        <p:txBody>
          <a:bodyPr wrap="square" rtlCol="0">
            <a:spAutoFit/>
          </a:bodyPr>
          <a:lstStyle/>
          <a:p>
            <a:pPr marL="285750" indent="-285750" algn="just">
              <a:buFont typeface="Arial" panose="020B0604020202020204" pitchFamily="34" charset="0"/>
              <a:buChar char="•"/>
            </a:pPr>
            <a:r>
              <a:rPr kumimoji="1" lang="en-US" altLang="zh-TW" dirty="0">
                <a:latin typeface="Times New Roman" panose="02020603050405020304" pitchFamily="18" charset="0"/>
                <a:cs typeface="Times New Roman" panose="02020603050405020304" pitchFamily="18" charset="0"/>
              </a:rPr>
              <a:t>The bound on the number of crossed cells follows immediately from Lemma 3.3.</a:t>
            </a:r>
            <a:endParaRPr kumimoji="1"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F34F6B04-A81E-9F9B-7A37-3EAAF34D3884}"/>
              </a:ext>
            </a:extLst>
          </p:cNvPr>
          <p:cNvSpPr txBox="1"/>
          <p:nvPr/>
        </p:nvSpPr>
        <p:spPr>
          <a:xfrm>
            <a:off x="221510" y="5226011"/>
            <a:ext cx="7772400" cy="1477328"/>
          </a:xfrm>
          <a:prstGeom prst="rect">
            <a:avLst/>
          </a:prstGeom>
          <a:noFill/>
        </p:spPr>
        <p:txBody>
          <a:bodyPr wrap="square">
            <a:spAutoFit/>
          </a:bodyPr>
          <a:lstStyle/>
          <a:p>
            <a:pPr marL="285750" indent="-285750" algn="just">
              <a:buFont typeface="Arial" panose="020B0604020202020204" pitchFamily="34" charset="0"/>
              <a:buChar char="•"/>
            </a:pPr>
            <a:r>
              <a:rPr lang="en-US" altLang="zh-TW" b="1" dirty="0">
                <a:solidFill>
                  <a:srgbClr val="FF0000"/>
                </a:solidFill>
                <a:latin typeface="Times New Roman" panose="02020603050405020304" pitchFamily="18" charset="0"/>
                <a:cs typeface="Times New Roman" panose="02020603050405020304" pitchFamily="18" charset="0"/>
              </a:rPr>
              <a:t>S</a:t>
            </a:r>
            <a:r>
              <a:rPr lang="zh-TW" altLang="en-US" b="1" dirty="0">
                <a:solidFill>
                  <a:srgbClr val="FF0000"/>
                </a:solidFill>
                <a:latin typeface="Times New Roman" panose="02020603050405020304" pitchFamily="18" charset="0"/>
                <a:cs typeface="Times New Roman" panose="02020603050405020304" pitchFamily="18" charset="0"/>
              </a:rPr>
              <a:t>ince the leaf cells contain no rectangle corners, each rectangle acts like a stripe within any such cell</a:t>
            </a:r>
            <a:r>
              <a:rPr lang="zh-TW" altLang="en-US" dirty="0">
                <a:latin typeface="Times New Roman" panose="02020603050405020304" pitchFamily="18" charset="0"/>
                <a:cs typeface="Times New Roman" panose="02020603050405020304" pitchFamily="18" charset="0"/>
              </a:rPr>
              <a:t>: it extends either the full width or the full height of the cell</a:t>
            </a:r>
            <a:endParaRPr lang="en-US" altLang="zh-TW"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zh-TW" altLang="en-US" dirty="0">
                <a:latin typeface="Times New Roman" panose="02020603050405020304" pitchFamily="18" charset="0"/>
                <a:cs typeface="Times New Roman" panose="02020603050405020304" pitchFamily="18" charset="0"/>
              </a:rPr>
              <a:t>遍歷格子時執行的所有操作</a:t>
            </a:r>
            <a:r>
              <a:rPr lang="zh-TW" altLang="en-US" b="1" dirty="0">
                <a:solidFill>
                  <a:srgbClr val="FF0000"/>
                </a:solidFill>
                <a:latin typeface="Times New Roman" panose="02020603050405020304" pitchFamily="18" charset="0"/>
                <a:cs typeface="Times New Roman" panose="02020603050405020304" pitchFamily="18" charset="0"/>
              </a:rPr>
              <a:t>所花費的時間與穿過格或最大覆蓋格的矩形數量成線性關係</a:t>
            </a:r>
            <a:r>
              <a:rPr lang="zh-TW" altLang="en-US" dirty="0">
                <a:latin typeface="Times New Roman" panose="02020603050405020304" pitchFamily="18" charset="0"/>
                <a:cs typeface="Times New Roman" panose="02020603050405020304" pitchFamily="18" charset="0"/>
              </a:rPr>
              <a:t>，因此根據引理 3.4，總時間為 O(</a:t>
            </a:r>
            <a:r>
              <a:rPr lang="en-US" altLang="zh-TW" dirty="0">
                <a:latin typeface="Times New Roman" panose="02020603050405020304" pitchFamily="18" charset="0"/>
                <a:cs typeface="Times New Roman" panose="02020603050405020304" pitchFamily="18" charset="0"/>
              </a:rPr>
              <a:t>n</a:t>
            </a:r>
            <a:r>
              <a:rPr lang="en-US" altLang="zh-TW" baseline="30000" dirty="0">
                <a:latin typeface="Times New Roman" panose="02020603050405020304" pitchFamily="18" charset="0"/>
                <a:cs typeface="Times New Roman" panose="02020603050405020304" pitchFamily="18" charset="0"/>
              </a:rPr>
              <a:t>1.5</a:t>
            </a:r>
            <a:r>
              <a:rPr lang="zh-TW" altLang="en-US" dirty="0">
                <a:latin typeface="Times New Roman" panose="02020603050405020304" pitchFamily="18" charset="0"/>
                <a:cs typeface="Times New Roman" panose="02020603050405020304" pitchFamily="18" charset="0"/>
              </a:rPr>
              <a:t>)。</a:t>
            </a:r>
          </a:p>
        </p:txBody>
      </p:sp>
      <p:pic>
        <p:nvPicPr>
          <p:cNvPr id="11" name="圖片 10">
            <a:extLst>
              <a:ext uri="{FF2B5EF4-FFF2-40B4-BE49-F238E27FC236}">
                <a16:creationId xmlns:a16="http://schemas.microsoft.com/office/drawing/2014/main" id="{4AF22892-A652-0C49-5786-33522CFDE5E8}"/>
              </a:ext>
            </a:extLst>
          </p:cNvPr>
          <p:cNvPicPr>
            <a:picLocks noChangeAspect="1"/>
          </p:cNvPicPr>
          <p:nvPr/>
        </p:nvPicPr>
        <p:blipFill rotWithShape="1">
          <a:blip r:embed="rId5"/>
          <a:srcRect l="6460" t="1551" r="50386" b="54754"/>
          <a:stretch/>
        </p:blipFill>
        <p:spPr>
          <a:xfrm>
            <a:off x="8239345" y="-6221"/>
            <a:ext cx="3510307" cy="3584845"/>
          </a:xfrm>
          <a:prstGeom prst="rect">
            <a:avLst/>
          </a:prstGeom>
        </p:spPr>
      </p:pic>
      <p:pic>
        <p:nvPicPr>
          <p:cNvPr id="12" name="圖片 11">
            <a:extLst>
              <a:ext uri="{FF2B5EF4-FFF2-40B4-BE49-F238E27FC236}">
                <a16:creationId xmlns:a16="http://schemas.microsoft.com/office/drawing/2014/main" id="{C1534EE9-DF17-ABDB-F15F-DAB7A0AAB3A8}"/>
              </a:ext>
            </a:extLst>
          </p:cNvPr>
          <p:cNvPicPr>
            <a:picLocks noChangeAspect="1"/>
          </p:cNvPicPr>
          <p:nvPr/>
        </p:nvPicPr>
        <p:blipFill rotWithShape="1">
          <a:blip r:embed="rId5">
            <a:alphaModFix/>
          </a:blip>
          <a:srcRect l="6887" t="45557" r="50806" b="12902"/>
          <a:stretch/>
        </p:blipFill>
        <p:spPr>
          <a:xfrm>
            <a:off x="8308626" y="3481639"/>
            <a:ext cx="3441026" cy="3407828"/>
          </a:xfrm>
          <a:prstGeom prst="rect">
            <a:avLst/>
          </a:prstGeom>
        </p:spPr>
      </p:pic>
    </p:spTree>
    <p:extLst>
      <p:ext uri="{BB962C8B-B14F-4D97-AF65-F5344CB8AC3E}">
        <p14:creationId xmlns:p14="http://schemas.microsoft.com/office/powerpoint/2010/main" val="3412423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Complexity</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19</a:t>
            </a:fld>
            <a:endParaRPr kumimoji="1" lang="zh-TW" altLang="en-US"/>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76C383A1-FAE6-49DA-793A-B50A1A814B7F}"/>
                  </a:ext>
                </a:extLst>
              </p:cNvPr>
              <p:cNvGraphicFramePr>
                <a:graphicFrameLocks noGrp="1"/>
              </p:cNvGraphicFramePr>
              <p:nvPr>
                <p:extLst>
                  <p:ext uri="{D42A27DB-BD31-4B8C-83A1-F6EECF244321}">
                    <p14:modId xmlns:p14="http://schemas.microsoft.com/office/powerpoint/2010/main" val="282066404"/>
                  </p:ext>
                </p:extLst>
              </p:nvPr>
            </p:nvGraphicFramePr>
            <p:xfrm>
              <a:off x="1274726" y="1934209"/>
              <a:ext cx="9642549" cy="2517077"/>
            </p:xfrm>
            <a:graphic>
              <a:graphicData uri="http://schemas.openxmlformats.org/drawingml/2006/table">
                <a:tbl>
                  <a:tblPr firstRow="1" bandRow="1">
                    <a:tableStyleId>{5940675A-B579-460E-94D1-54222C63F5DA}</a:tableStyleId>
                  </a:tblPr>
                  <a:tblGrid>
                    <a:gridCol w="3214183">
                      <a:extLst>
                        <a:ext uri="{9D8B030D-6E8A-4147-A177-3AD203B41FA5}">
                          <a16:colId xmlns:a16="http://schemas.microsoft.com/office/drawing/2014/main" val="575398321"/>
                        </a:ext>
                      </a:extLst>
                    </a:gridCol>
                    <a:gridCol w="3214183">
                      <a:extLst>
                        <a:ext uri="{9D8B030D-6E8A-4147-A177-3AD203B41FA5}">
                          <a16:colId xmlns:a16="http://schemas.microsoft.com/office/drawing/2014/main" val="35305599"/>
                        </a:ext>
                      </a:extLst>
                    </a:gridCol>
                    <a:gridCol w="3214183">
                      <a:extLst>
                        <a:ext uri="{9D8B030D-6E8A-4147-A177-3AD203B41FA5}">
                          <a16:colId xmlns:a16="http://schemas.microsoft.com/office/drawing/2014/main" val="3573611017"/>
                        </a:ext>
                      </a:extLst>
                    </a:gridCol>
                  </a:tblGrid>
                  <a:tr h="370840">
                    <a:tc>
                      <a:txBody>
                        <a:bodyPr/>
                        <a:lstStyle/>
                        <a:p>
                          <a:pPr algn="ctr"/>
                          <a:r>
                            <a:rPr lang="en-US" altLang="zh-TW" sz="2800" dirty="0">
                              <a:latin typeface="Times New Roman" panose="02020603050405020304" pitchFamily="18" charset="0"/>
                              <a:cs typeface="Times New Roman" panose="02020603050405020304" pitchFamily="18" charset="0"/>
                            </a:rPr>
                            <a:t>Problem</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2800" dirty="0">
                              <a:latin typeface="Times New Roman" panose="02020603050405020304" pitchFamily="18" charset="0"/>
                              <a:cs typeface="Times New Roman" panose="02020603050405020304" pitchFamily="18" charset="0"/>
                            </a:rPr>
                            <a:t>Time</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2800" dirty="0">
                              <a:latin typeface="Times New Roman" panose="02020603050405020304" pitchFamily="18" charset="0"/>
                              <a:cs typeface="Times New Roman" panose="02020603050405020304" pitchFamily="18" charset="0"/>
                            </a:rPr>
                            <a:t>Space</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91418461"/>
                      </a:ext>
                    </a:extLst>
                  </a:tr>
                  <a:tr h="370840">
                    <a:tc rowSpan="2">
                      <a:txBody>
                        <a:bodyPr/>
                        <a:lstStyle/>
                        <a:p>
                          <a:pPr algn="ctr"/>
                          <a:r>
                            <a:rPr lang="en-US" altLang="zh-TW" sz="2800" dirty="0">
                              <a:latin typeface="Times New Roman" panose="02020603050405020304" pitchFamily="18" charset="0"/>
                              <a:cs typeface="Times New Roman" panose="02020603050405020304" pitchFamily="18" charset="0"/>
                            </a:rPr>
                            <a:t>Packet Filter Management</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func>
                                <m:funcPr>
                                  <m:ctrlPr>
                                    <a:rPr lang="en-US" altLang="zh-TW" sz="2800" i="1" smtClean="0">
                                      <a:latin typeface="Cambria Math" panose="02040503050406030204" pitchFamily="18" charset="0"/>
                                      <a:cs typeface="Times New Roman" panose="02020603050405020304" pitchFamily="18" charset="0"/>
                                    </a:rPr>
                                  </m:ctrlPr>
                                </m:funcPr>
                                <m:fName>
                                  <m:r>
                                    <m:rPr>
                                      <m:sty m:val="p"/>
                                    </m:rPr>
                                    <a:rPr lang="en-US" altLang="zh-TW" sz="2800" i="0" smtClean="0">
                                      <a:latin typeface="Cambria Math" panose="02040503050406030204" pitchFamily="18" charset="0"/>
                                      <a:cs typeface="Times New Roman" panose="02020603050405020304" pitchFamily="18" charset="0"/>
                                    </a:rPr>
                                    <m:t>log</m:t>
                                  </m:r>
                                </m:fName>
                                <m:e>
                                  <m:func>
                                    <m:funcPr>
                                      <m:ctrlPr>
                                        <a:rPr lang="en-US" altLang="zh-TW" sz="2800" i="1" smtClean="0">
                                          <a:latin typeface="Cambria Math" panose="02040503050406030204" pitchFamily="18" charset="0"/>
                                          <a:cs typeface="Times New Roman" panose="02020603050405020304" pitchFamily="18" charset="0"/>
                                        </a:rPr>
                                      </m:ctrlPr>
                                    </m:funcPr>
                                    <m:fName>
                                      <m:r>
                                        <m:rPr>
                                          <m:sty m:val="p"/>
                                        </m:rPr>
                                        <a:rPr lang="en-US" altLang="zh-TW" sz="2800" i="0" smtClean="0">
                                          <a:latin typeface="Cambria Math" panose="02040503050406030204" pitchFamily="18" charset="0"/>
                                          <a:cs typeface="Times New Roman" panose="02020603050405020304" pitchFamily="18" charset="0"/>
                                        </a:rPr>
                                        <m:t>log</m:t>
                                      </m:r>
                                    </m:fName>
                                    <m:e>
                                      <m:r>
                                        <a:rPr lang="en-US" altLang="zh-TW" sz="2800" b="0" i="1" smtClean="0">
                                          <a:latin typeface="Cambria Math" panose="02040503050406030204" pitchFamily="18" charset="0"/>
                                          <a:cs typeface="Times New Roman" panose="02020603050405020304" pitchFamily="18" charset="0"/>
                                        </a:rPr>
                                        <m:t>𝑛</m:t>
                                      </m:r>
                                    </m:e>
                                  </m:func>
                                </m:e>
                              </m:func>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800" i="1" smtClean="0">
                                      <a:latin typeface="Cambria Math" panose="02040503050406030204" pitchFamily="18" charset="0"/>
                                      <a:cs typeface="Times New Roman" panose="02020603050405020304" pitchFamily="18" charset="0"/>
                                    </a:rPr>
                                  </m:ctrlPr>
                                </m:sSupPr>
                                <m:e>
                                  <m:r>
                                    <a:rPr lang="en-US" altLang="zh-TW" sz="2800" b="0" i="1" smtClean="0">
                                      <a:latin typeface="Cambria Math" panose="02040503050406030204" pitchFamily="18" charset="0"/>
                                      <a:cs typeface="Times New Roman" panose="02020603050405020304" pitchFamily="18" charset="0"/>
                                    </a:rPr>
                                    <m:t>𝑛</m:t>
                                  </m:r>
                                </m:e>
                                <m:sup>
                                  <m:r>
                                    <a:rPr lang="en-US" altLang="zh-TW" sz="2800" b="0" i="1" smtClean="0">
                                      <a:latin typeface="Cambria Math" panose="02040503050406030204" pitchFamily="18" charset="0"/>
                                      <a:cs typeface="Times New Roman" panose="02020603050405020304" pitchFamily="18" charset="0"/>
                                    </a:rPr>
                                    <m:t>1+</m:t>
                                  </m:r>
                                  <m:r>
                                    <a:rPr lang="en-US" altLang="zh-TW" sz="2800" b="0" i="1" smtClean="0">
                                      <a:latin typeface="Cambria Math" panose="02040503050406030204" pitchFamily="18" charset="0"/>
                                      <a:cs typeface="Times New Roman" panose="02020603050405020304" pitchFamily="18" charset="0"/>
                                    </a:rPr>
                                    <m:t>𝑜</m:t>
                                  </m:r>
                                  <m:r>
                                    <a:rPr lang="en-US" altLang="zh-TW" sz="2800" b="0" i="1" smtClean="0">
                                      <a:latin typeface="Cambria Math" panose="02040503050406030204" pitchFamily="18" charset="0"/>
                                      <a:cs typeface="Times New Roman" panose="02020603050405020304" pitchFamily="18" charset="0"/>
                                    </a:rPr>
                                    <m:t>(1)</m:t>
                                  </m:r>
                                </m:sup>
                              </m:sSup>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60290221"/>
                      </a:ext>
                    </a:extLst>
                  </a:tr>
                  <a:tr h="370840">
                    <a:tc vMerge="1">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sz="2800" dirty="0">
                              <a:latin typeface="Times New Roman" panose="02020603050405020304" pitchFamily="18" charset="0"/>
                              <a:cs typeface="Times New Roman" panose="02020603050405020304" pitchFamily="18" charset="0"/>
                            </a:rPr>
                            <a:t>O(1)</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800" i="1" smtClean="0">
                                      <a:latin typeface="Cambria Math" panose="02040503050406030204" pitchFamily="18" charset="0"/>
                                      <a:cs typeface="Times New Roman" panose="02020603050405020304" pitchFamily="18" charset="0"/>
                                    </a:rPr>
                                  </m:ctrlPr>
                                </m:sSupPr>
                                <m:e>
                                  <m:r>
                                    <a:rPr lang="en-US" altLang="zh-TW" sz="2800" b="0" i="1" smtClean="0">
                                      <a:latin typeface="Cambria Math" panose="02040503050406030204" pitchFamily="18" charset="0"/>
                                      <a:cs typeface="Times New Roman" panose="02020603050405020304" pitchFamily="18" charset="0"/>
                                    </a:rPr>
                                    <m:t>𝑛</m:t>
                                  </m:r>
                                </m:e>
                                <m:sup>
                                  <m:r>
                                    <a:rPr lang="en-US" altLang="zh-TW" sz="2800" b="0" i="1" smtClean="0">
                                      <a:latin typeface="Cambria Math" panose="02040503050406030204" pitchFamily="18" charset="0"/>
                                      <a:cs typeface="Times New Roman" panose="02020603050405020304" pitchFamily="18" charset="0"/>
                                    </a:rPr>
                                    <m:t>1+</m:t>
                                  </m:r>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𝜖</m:t>
                                  </m:r>
                                </m:sup>
                              </m:sSup>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24814947"/>
                      </a:ext>
                    </a:extLst>
                  </a:tr>
                  <a:tr h="370840">
                    <a:tc>
                      <a:txBody>
                        <a:bodyPr/>
                        <a:lstStyle/>
                        <a:p>
                          <a:pPr algn="ctr"/>
                          <a:r>
                            <a:rPr lang="en-US" altLang="zh-TW" sz="2800" dirty="0">
                              <a:latin typeface="Times New Roman" panose="02020603050405020304" pitchFamily="18" charset="0"/>
                              <a:cs typeface="Times New Roman" panose="02020603050405020304" pitchFamily="18" charset="0"/>
                            </a:rPr>
                            <a:t>Filter Conflict Detection</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800" i="1" smtClean="0">
                                      <a:latin typeface="Cambria Math" panose="02040503050406030204" pitchFamily="18" charset="0"/>
                                      <a:cs typeface="Times New Roman" panose="02020603050405020304" pitchFamily="18" charset="0"/>
                                    </a:rPr>
                                  </m:ctrlPr>
                                </m:sSupPr>
                                <m:e>
                                  <m:r>
                                    <a:rPr lang="en-US" altLang="zh-TW" sz="2800" b="0" i="1" smtClean="0">
                                      <a:latin typeface="Cambria Math" panose="02040503050406030204" pitchFamily="18" charset="0"/>
                                      <a:cs typeface="Times New Roman" panose="02020603050405020304" pitchFamily="18" charset="0"/>
                                    </a:rPr>
                                    <m:t>𝑛</m:t>
                                  </m:r>
                                </m:e>
                                <m:sup>
                                  <m:r>
                                    <a:rPr lang="en-US" altLang="zh-TW" sz="2800" b="0" i="1" smtClean="0">
                                      <a:latin typeface="Cambria Math" panose="02040503050406030204" pitchFamily="18" charset="0"/>
                                      <a:cs typeface="Times New Roman" panose="02020603050405020304" pitchFamily="18" charset="0"/>
                                    </a:rPr>
                                    <m:t>3/2</m:t>
                                  </m:r>
                                </m:sup>
                              </m:sSup>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O(</a:t>
                          </a:r>
                          <a14:m>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𝑛</m:t>
                              </m:r>
                            </m:oMath>
                          </a14:m>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01672116"/>
                      </a:ext>
                    </a:extLst>
                  </a:tr>
                </a:tbl>
              </a:graphicData>
            </a:graphic>
          </p:graphicFrame>
        </mc:Choice>
        <mc:Fallback xmlns="">
          <p:graphicFrame>
            <p:nvGraphicFramePr>
              <p:cNvPr id="4" name="表格 4">
                <a:extLst>
                  <a:ext uri="{FF2B5EF4-FFF2-40B4-BE49-F238E27FC236}">
                    <a16:creationId xmlns:a16="http://schemas.microsoft.com/office/drawing/2014/main" id="{76C383A1-FAE6-49DA-793A-B50A1A814B7F}"/>
                  </a:ext>
                </a:extLst>
              </p:cNvPr>
              <p:cNvGraphicFramePr>
                <a:graphicFrameLocks noGrp="1"/>
              </p:cNvGraphicFramePr>
              <p:nvPr>
                <p:extLst>
                  <p:ext uri="{D42A27DB-BD31-4B8C-83A1-F6EECF244321}">
                    <p14:modId xmlns:p14="http://schemas.microsoft.com/office/powerpoint/2010/main" val="282066404"/>
                  </p:ext>
                </p:extLst>
              </p:nvPr>
            </p:nvGraphicFramePr>
            <p:xfrm>
              <a:off x="1274726" y="1934209"/>
              <a:ext cx="9642549" cy="2517077"/>
            </p:xfrm>
            <a:graphic>
              <a:graphicData uri="http://schemas.openxmlformats.org/drawingml/2006/table">
                <a:tbl>
                  <a:tblPr firstRow="1" bandRow="1">
                    <a:tableStyleId>{5940675A-B579-460E-94D1-54222C63F5DA}</a:tableStyleId>
                  </a:tblPr>
                  <a:tblGrid>
                    <a:gridCol w="3214183">
                      <a:extLst>
                        <a:ext uri="{9D8B030D-6E8A-4147-A177-3AD203B41FA5}">
                          <a16:colId xmlns:a16="http://schemas.microsoft.com/office/drawing/2014/main" val="575398321"/>
                        </a:ext>
                      </a:extLst>
                    </a:gridCol>
                    <a:gridCol w="3214183">
                      <a:extLst>
                        <a:ext uri="{9D8B030D-6E8A-4147-A177-3AD203B41FA5}">
                          <a16:colId xmlns:a16="http://schemas.microsoft.com/office/drawing/2014/main" val="35305599"/>
                        </a:ext>
                      </a:extLst>
                    </a:gridCol>
                    <a:gridCol w="3214183">
                      <a:extLst>
                        <a:ext uri="{9D8B030D-6E8A-4147-A177-3AD203B41FA5}">
                          <a16:colId xmlns:a16="http://schemas.microsoft.com/office/drawing/2014/main" val="3573611017"/>
                        </a:ext>
                      </a:extLst>
                    </a:gridCol>
                  </a:tblGrid>
                  <a:tr h="518160">
                    <a:tc>
                      <a:txBody>
                        <a:bodyPr/>
                        <a:lstStyle/>
                        <a:p>
                          <a:pPr algn="ctr"/>
                          <a:r>
                            <a:rPr lang="en-US" altLang="zh-TW" sz="2800" dirty="0">
                              <a:latin typeface="Times New Roman" panose="02020603050405020304" pitchFamily="18" charset="0"/>
                              <a:cs typeface="Times New Roman" panose="02020603050405020304" pitchFamily="18" charset="0"/>
                            </a:rPr>
                            <a:t>Problem</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2800" dirty="0">
                              <a:latin typeface="Times New Roman" panose="02020603050405020304" pitchFamily="18" charset="0"/>
                              <a:cs typeface="Times New Roman" panose="02020603050405020304" pitchFamily="18" charset="0"/>
                            </a:rPr>
                            <a:t>Time</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sz="2800" dirty="0">
                              <a:latin typeface="Times New Roman" panose="02020603050405020304" pitchFamily="18" charset="0"/>
                              <a:cs typeface="Times New Roman" panose="02020603050405020304" pitchFamily="18" charset="0"/>
                            </a:rPr>
                            <a:t>Space</a:t>
                          </a:r>
                          <a:endParaRPr lang="zh-TW" altLang="en-US" sz="2800"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91418461"/>
                      </a:ext>
                    </a:extLst>
                  </a:tr>
                  <a:tr h="535877">
                    <a:tc rowSpan="2">
                      <a:txBody>
                        <a:bodyPr/>
                        <a:lstStyle/>
                        <a:p>
                          <a:pPr algn="ctr"/>
                          <a:r>
                            <a:rPr lang="en-US" altLang="zh-TW" sz="2800" dirty="0">
                              <a:latin typeface="Times New Roman" panose="02020603050405020304" pitchFamily="18" charset="0"/>
                              <a:cs typeface="Times New Roman" panose="02020603050405020304" pitchFamily="18" charset="0"/>
                            </a:rPr>
                            <a:t>Packet Filter Management</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100000" t="-109524" r="-100000" b="-309524"/>
                          </a:stretch>
                        </a:blipFill>
                      </a:tcPr>
                    </a:tc>
                    <a:tc>
                      <a:txBody>
                        <a:bodyPr/>
                        <a:lstStyle/>
                        <a:p>
                          <a:endParaRPr lang="zh-TW"/>
                        </a:p>
                      </a:txBody>
                      <a:tcPr anchor="ctr">
                        <a:blipFill>
                          <a:blip r:embed="rId2"/>
                          <a:stretch>
                            <a:fillRect l="-200791" t="-109524" r="-395" b="-309524"/>
                          </a:stretch>
                        </a:blipFill>
                      </a:tcPr>
                    </a:tc>
                    <a:extLst>
                      <a:ext uri="{0D108BD9-81ED-4DB2-BD59-A6C34878D82A}">
                        <a16:rowId xmlns:a16="http://schemas.microsoft.com/office/drawing/2014/main" val="3760290221"/>
                      </a:ext>
                    </a:extLst>
                  </a:tr>
                  <a:tr h="518160">
                    <a:tc vMerge="1">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sz="2800" dirty="0">
                              <a:latin typeface="Times New Roman" panose="02020603050405020304" pitchFamily="18" charset="0"/>
                              <a:cs typeface="Times New Roman" panose="02020603050405020304" pitchFamily="18" charset="0"/>
                            </a:rPr>
                            <a:t>O(1)</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00791" t="-214634" r="-395" b="-217073"/>
                          </a:stretch>
                        </a:blipFill>
                      </a:tcPr>
                    </a:tc>
                    <a:extLst>
                      <a:ext uri="{0D108BD9-81ED-4DB2-BD59-A6C34878D82A}">
                        <a16:rowId xmlns:a16="http://schemas.microsoft.com/office/drawing/2014/main" val="1224814947"/>
                      </a:ext>
                    </a:extLst>
                  </a:tr>
                  <a:tr h="944880">
                    <a:tc>
                      <a:txBody>
                        <a:bodyPr/>
                        <a:lstStyle/>
                        <a:p>
                          <a:pPr algn="ctr"/>
                          <a:r>
                            <a:rPr lang="en-US" altLang="zh-TW" sz="2800" dirty="0">
                              <a:latin typeface="Times New Roman" panose="02020603050405020304" pitchFamily="18" charset="0"/>
                              <a:cs typeface="Times New Roman" panose="02020603050405020304" pitchFamily="18" charset="0"/>
                            </a:rPr>
                            <a:t>Filter Conflict Detection</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100000" t="-172000" r="-100000" b="-18667"/>
                          </a:stretch>
                        </a:blipFill>
                      </a:tcPr>
                    </a:tc>
                    <a:tc>
                      <a:txBody>
                        <a:bodyPr/>
                        <a:lstStyle/>
                        <a:p>
                          <a:endParaRPr lang="zh-TW"/>
                        </a:p>
                      </a:txBody>
                      <a:tcPr anchor="ctr">
                        <a:blipFill>
                          <a:blip r:embed="rId2"/>
                          <a:stretch>
                            <a:fillRect l="-200791" t="-172000" r="-395" b="-18667"/>
                          </a:stretch>
                        </a:blipFill>
                      </a:tcPr>
                    </a:tc>
                    <a:extLst>
                      <a:ext uri="{0D108BD9-81ED-4DB2-BD59-A6C34878D82A}">
                        <a16:rowId xmlns:a16="http://schemas.microsoft.com/office/drawing/2014/main" val="3501672116"/>
                      </a:ext>
                    </a:extLst>
                  </a:tr>
                </a:tbl>
              </a:graphicData>
            </a:graphic>
          </p:graphicFrame>
        </mc:Fallback>
      </mc:AlternateContent>
    </p:spTree>
    <p:extLst>
      <p:ext uri="{BB962C8B-B14F-4D97-AF65-F5344CB8AC3E}">
        <p14:creationId xmlns:p14="http://schemas.microsoft.com/office/powerpoint/2010/main" val="871262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21</a:t>
            </a:fld>
            <a:endParaRPr kumimoji="1" lang="zh-TW" altLang="en-US"/>
          </a:p>
        </p:txBody>
      </p:sp>
    </p:spTree>
    <p:extLst>
      <p:ext uri="{BB962C8B-B14F-4D97-AF65-F5344CB8AC3E}">
        <p14:creationId xmlns:p14="http://schemas.microsoft.com/office/powerpoint/2010/main" val="168073094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1497</TotalTime>
  <Words>1073</Words>
  <Application>Microsoft Macintosh PowerPoint</Application>
  <PresentationFormat>寬螢幕</PresentationFormat>
  <Paragraphs>149</Paragraphs>
  <Slides>22</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22</vt:i4>
      </vt:variant>
    </vt:vector>
  </HeadingPairs>
  <TitlesOfParts>
    <vt:vector size="29" baseType="lpstr">
      <vt:lpstr>Times</vt:lpstr>
      <vt:lpstr>Arial</vt:lpstr>
      <vt:lpstr>Calibri</vt:lpstr>
      <vt:lpstr>Cambria Math</vt:lpstr>
      <vt:lpstr>Rockwell</vt:lpstr>
      <vt:lpstr>Times New Roman</vt:lpstr>
      <vt:lpstr>Office 佈景主題</vt:lpstr>
      <vt:lpstr>Internet Packet Filter Management and Rectangle Geometry</vt:lpstr>
      <vt:lpstr>Abstract</vt:lpstr>
      <vt:lpstr>Outline</vt:lpstr>
      <vt:lpstr>Packet Filter Management Problem (1/2)</vt:lpstr>
      <vt:lpstr>Packet Filter Management Problem (2/2)</vt:lpstr>
      <vt:lpstr>Filter Conflict Detection Problem</vt:lpstr>
      <vt:lpstr>Two Packet Classification</vt:lpstr>
      <vt:lpstr>1. Persistent Interval Queries (1/2)</vt:lpstr>
      <vt:lpstr>1. Persistent Interval Queries (2/2)</vt:lpstr>
      <vt:lpstr>2. Static to Dynamic Transformation (1/2)</vt:lpstr>
      <vt:lpstr>2. Static to Dynamic Transformation (2/2)</vt:lpstr>
      <vt:lpstr>Filter Conflict Detection Problem</vt:lpstr>
      <vt:lpstr>1. Lower Envelopes, MST Verification</vt:lpstr>
      <vt:lpstr>1. Lower Envelopes, MST Verification</vt:lpstr>
      <vt:lpstr>2. Stripes</vt:lpstr>
      <vt:lpstr>3. KD-Tree (1/4)</vt:lpstr>
      <vt:lpstr>3. KD-Tree (2/4)</vt:lpstr>
      <vt:lpstr>3. KD-Tree (3/4)</vt:lpstr>
      <vt:lpstr>3. KD-Tree (4/4)</vt:lpstr>
      <vt:lpstr>Complexity</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14</cp:revision>
  <dcterms:created xsi:type="dcterms:W3CDTF">2021-03-28T03:57:23Z</dcterms:created>
  <dcterms:modified xsi:type="dcterms:W3CDTF">2022-12-04T18:02:55Z</dcterms:modified>
</cp:coreProperties>
</file>