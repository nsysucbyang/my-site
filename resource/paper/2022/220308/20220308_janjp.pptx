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535" r:id="rId2"/>
    <p:sldId id="536" r:id="rId3"/>
    <p:sldId id="657" r:id="rId4"/>
    <p:sldId id="475" r:id="rId5"/>
    <p:sldId id="477" r:id="rId6"/>
    <p:sldId id="478" r:id="rId7"/>
    <p:sldId id="479" r:id="rId8"/>
    <p:sldId id="480" r:id="rId9"/>
    <p:sldId id="476" r:id="rId10"/>
    <p:sldId id="482" r:id="rId11"/>
    <p:sldId id="481" r:id="rId12"/>
    <p:sldId id="483" r:id="rId13"/>
    <p:sldId id="484" r:id="rId14"/>
    <p:sldId id="485" r:id="rId15"/>
    <p:sldId id="486" r:id="rId16"/>
    <p:sldId id="658" r:id="rId17"/>
    <p:sldId id="659" r:id="rId18"/>
    <p:sldId id="660" r:id="rId19"/>
    <p:sldId id="661" r:id="rId20"/>
    <p:sldId id="662" r:id="rId21"/>
    <p:sldId id="663" r:id="rId22"/>
    <p:sldId id="664" r:id="rId23"/>
    <p:sldId id="665" r:id="rId24"/>
    <p:sldId id="666" r:id="rId25"/>
    <p:sldId id="667" r:id="rId26"/>
    <p:sldId id="668" r:id="rId27"/>
    <p:sldId id="669" r:id="rId28"/>
    <p:sldId id="670" r:id="rId29"/>
    <p:sldId id="671" r:id="rId30"/>
    <p:sldId id="672" r:id="rId31"/>
    <p:sldId id="687" r:id="rId32"/>
    <p:sldId id="694" r:id="rId33"/>
    <p:sldId id="673" r:id="rId34"/>
    <p:sldId id="674" r:id="rId35"/>
    <p:sldId id="675" r:id="rId36"/>
    <p:sldId id="676" r:id="rId37"/>
    <p:sldId id="677" r:id="rId38"/>
    <p:sldId id="678" r:id="rId39"/>
    <p:sldId id="679" r:id="rId40"/>
    <p:sldId id="680" r:id="rId41"/>
    <p:sldId id="681" r:id="rId42"/>
    <p:sldId id="682" r:id="rId43"/>
    <p:sldId id="683" r:id="rId44"/>
    <p:sldId id="684" r:id="rId45"/>
    <p:sldId id="685" r:id="rId46"/>
    <p:sldId id="686" r:id="rId47"/>
    <p:sldId id="695" r:id="rId48"/>
    <p:sldId id="688" r:id="rId49"/>
    <p:sldId id="689" r:id="rId50"/>
    <p:sldId id="690" r:id="rId51"/>
    <p:sldId id="691" r:id="rId52"/>
    <p:sldId id="692" r:id="rId53"/>
    <p:sldId id="693" r:id="rId54"/>
  </p:sldIdLst>
  <p:sldSz cx="9144000" cy="6858000" type="screen4x3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CC"/>
    <a:srgbClr val="FF16FF"/>
    <a:srgbClr val="FAEBD7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73300" autoAdjust="0"/>
  </p:normalViewPr>
  <p:slideViewPr>
    <p:cSldViewPr>
      <p:cViewPr varScale="1">
        <p:scale>
          <a:sx n="58" d="100"/>
          <a:sy n="58" d="100"/>
        </p:scale>
        <p:origin x="2059" y="48"/>
      </p:cViewPr>
      <p:guideLst>
        <p:guide orient="horz" pos="2160"/>
        <p:guide pos="288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EC598C-8F50-4D8A-A257-9F9A3D6EE20F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A18BCC-D1EA-4D8A-929C-D092EA2B4393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8745C38-81A3-45D4-9959-4EF52C41C41F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819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68400" y="1243013"/>
            <a:ext cx="4470400" cy="3354387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E0A4FA-366C-40B7-9E40-EFBC7A72D85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29447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1817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1936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5496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25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4210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427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3381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9720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1524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29354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09390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2862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66774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0659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34044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7597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72621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79735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58140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44562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54011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51230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717378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8249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85919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11188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06110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7130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77179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17471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01563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67180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73649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421014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4356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193613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39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8807455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30855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4327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6827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037205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1120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738394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90634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A18BCC-D1EA-4D8A-929C-D092EA2B4393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9079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D1462-57C0-4459-9390-560953396E85}" type="datetimeFigureOut">
              <a:rPr lang="zh-TW" altLang="en-US" smtClean="0"/>
              <a:pPr/>
              <a:t>2022/3/8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9265B-D561-4CD1-972E-9E84754BEC8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B6A882-00D3-47EF-9E00-5F5448FB3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4302" y="1794064"/>
            <a:ext cx="7035394" cy="649317"/>
          </a:xfrm>
        </p:spPr>
        <p:txBody>
          <a:bodyPr>
            <a:noAutofit/>
          </a:bodyPr>
          <a:lstStyle/>
          <a:p>
            <a:r>
              <a:rPr lang="en-US" altLang="zh-TW" sz="2800" dirty="0">
                <a:latin typeface="Times New Roman"/>
                <a:ea typeface="新細明體"/>
                <a:cs typeface="Times New Roman"/>
              </a:rPr>
              <a:t>SCOUT: A Simple Game-Searching Algorithm with Proven Optimal Properties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DA53B5D-3737-4D8B-A009-A9D02CAEE1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523" y="3003983"/>
            <a:ext cx="8568952" cy="425017"/>
          </a:xfrm>
        </p:spPr>
        <p:txBody>
          <a:bodyPr vert="horz" lIns="91440" tIns="45720" rIns="91440" bIns="45720" rtlCol="0" anchor="t">
            <a:noAutofit/>
          </a:bodyPr>
          <a:lstStyle/>
          <a:p>
            <a:pPr fontAlgn="ctr"/>
            <a:r>
              <a:rPr lang="en-US" altLang="zh-TW" sz="2000" dirty="0">
                <a:solidFill>
                  <a:schemeClr val="tx1"/>
                </a:solidFill>
                <a:latin typeface="Times New Roman"/>
                <a:ea typeface="新細明體"/>
                <a:cs typeface="Times New Roman"/>
              </a:rPr>
              <a:t>Judea Pearl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F2527E8-BB8F-41FB-8AF1-03DCC96BC069}"/>
              </a:ext>
            </a:extLst>
          </p:cNvPr>
          <p:cNvSpPr txBox="1"/>
          <p:nvPr/>
        </p:nvSpPr>
        <p:spPr>
          <a:xfrm>
            <a:off x="179511" y="3856937"/>
            <a:ext cx="8784976" cy="76944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TW" sz="2200" dirty="0">
                <a:latin typeface="Times New Roman"/>
                <a:ea typeface="+mn-lt"/>
                <a:cs typeface="+mn-lt"/>
              </a:rPr>
              <a:t>Association for the Advancement of Artificial Intelligence, August 18–21, 1980, Stanford, California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BC92671-3184-4146-A361-F82079153C2E}"/>
              </a:ext>
            </a:extLst>
          </p:cNvPr>
          <p:cNvSpPr txBox="1"/>
          <p:nvPr/>
        </p:nvSpPr>
        <p:spPr>
          <a:xfrm>
            <a:off x="5652120" y="5377328"/>
            <a:ext cx="31582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Jing-Ping Jan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2A0654C-2F84-4026-9FCF-04C8DF590D5F}"/>
              </a:ext>
            </a:extLst>
          </p:cNvPr>
          <p:cNvSpPr txBox="1"/>
          <p:nvPr/>
        </p:nvSpPr>
        <p:spPr>
          <a:xfrm>
            <a:off x="5652120" y="5805264"/>
            <a:ext cx="2500043" cy="461665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zh-TW"/>
            </a:defPPr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>
                <a:latin typeface="Times New Roman"/>
                <a:ea typeface="新細明體"/>
                <a:cs typeface="Times New Roman"/>
              </a:rPr>
              <a:t>Date: Mar. 8, 2022</a:t>
            </a:r>
            <a:endParaRPr lang="zh-TW" altLang="en-US" dirty="0">
              <a:latin typeface="Times New Roman"/>
              <a:ea typeface="新細明體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4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B01AB9-0651-4F6D-A93A-D571F0BAE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260648"/>
            <a:ext cx="7886700" cy="583367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02" y="1052736"/>
                <a:ext cx="9004993" cy="5347657"/>
              </a:xfrm>
            </p:spPr>
            <p:txBody>
              <a:bodyPr vert="horz" lIns="91440" tIns="45720" rIns="91440" bIns="45720" rtlCol="0" anchor="t">
                <a:noAutofit/>
              </a:bodyPr>
              <a:lstStyle/>
              <a:p>
                <a:pPr marL="0" indent="0" algn="just">
                  <a:lnSpc>
                    <a:spcPts val="3200"/>
                  </a:lnSpc>
                  <a:buNone/>
                </a:pPr>
                <a:r>
                  <a:rPr lang="en-US" sz="2200" dirty="0">
                    <a:latin typeface="Times New Roman"/>
                    <a:ea typeface="+mn-lt"/>
                    <a:cs typeface="+mn-lt"/>
                  </a:rPr>
                  <a:t>This paper describes a new algorithm for searching games which is conceptually simple, space efficient, and analytically tractable. It possesses optimal asymptotic properties and may offer practical advantages over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  <a:ea typeface="+mn-lt"/>
                        <a:cs typeface="+mn-lt"/>
                      </a:rPr>
                      <m:t>𝛼𝛽</m:t>
                    </m:r>
                  </m:oMath>
                </a14:m>
                <a:r>
                  <a:rPr lang="en-US" sz="2200" dirty="0">
                    <a:latin typeface="Times New Roman"/>
                    <a:ea typeface="+mn-lt"/>
                    <a:cs typeface="+mn-lt"/>
                  </a:rPr>
                  <a:t> for deep searches.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5E26DCC3-1991-4383-BF81-99FF895536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02" y="1052736"/>
                <a:ext cx="9004993" cy="5347657"/>
              </a:xfrm>
              <a:blipFill>
                <a:blip r:embed="rId3"/>
                <a:stretch>
                  <a:fillRect l="-880" t="-114" r="-8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73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Minimax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pic>
        <p:nvPicPr>
          <p:cNvPr id="62" name="圖片 61">
            <a:extLst>
              <a:ext uri="{FF2B5EF4-FFF2-40B4-BE49-F238E27FC236}">
                <a16:creationId xmlns:a16="http://schemas.microsoft.com/office/drawing/2014/main" id="{04DB1CF4-4E46-4A50-85C2-26BD0BE016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3537" y="1417638"/>
            <a:ext cx="5876925" cy="4648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Minimax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310125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702619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stCxn id="11" idx="5"/>
            <a:endCxn id="14" idx="0"/>
          </p:cNvCxnSpPr>
          <p:nvPr/>
        </p:nvCxnSpPr>
        <p:spPr>
          <a:xfrm>
            <a:off x="1310125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822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Minimax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310125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702619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stCxn id="11" idx="5"/>
            <a:endCxn id="14" idx="0"/>
          </p:cNvCxnSpPr>
          <p:nvPr/>
        </p:nvCxnSpPr>
        <p:spPr>
          <a:xfrm>
            <a:off x="1310125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2504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Minimax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310125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702619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stCxn id="11" idx="5"/>
            <a:endCxn id="14" idx="0"/>
          </p:cNvCxnSpPr>
          <p:nvPr/>
        </p:nvCxnSpPr>
        <p:spPr>
          <a:xfrm>
            <a:off x="1310125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332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Minimax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310125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702619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stCxn id="11" idx="5"/>
            <a:endCxn id="14" idx="0"/>
          </p:cNvCxnSpPr>
          <p:nvPr/>
        </p:nvCxnSpPr>
        <p:spPr>
          <a:xfrm>
            <a:off x="1310125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481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Minimax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310125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stCxn id="11" idx="3"/>
            <a:endCxn id="13" idx="0"/>
          </p:cNvCxnSpPr>
          <p:nvPr/>
        </p:nvCxnSpPr>
        <p:spPr>
          <a:xfrm flipH="1">
            <a:off x="702619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stCxn id="11" idx="5"/>
            <a:endCxn id="14" idx="0"/>
          </p:cNvCxnSpPr>
          <p:nvPr/>
        </p:nvCxnSpPr>
        <p:spPr>
          <a:xfrm>
            <a:off x="1310125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95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166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E4393386-302E-427E-91B5-12CBC58967CA}"/>
                  </a:ext>
                </a:extLst>
              </p:cNvPr>
              <p:cNvSpPr/>
              <p:nvPr/>
            </p:nvSpPr>
            <p:spPr>
              <a:xfrm>
                <a:off x="941349" y="3748087"/>
                <a:ext cx="864304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≥7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E4393386-302E-427E-91B5-12CBC58967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49" y="3748087"/>
                <a:ext cx="864304" cy="4320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679079" y="3622229"/>
            <a:ext cx="480892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365304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679079" y="4116863"/>
            <a:ext cx="48636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0979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E4393386-302E-427E-91B5-12CBC58967CA}"/>
                  </a:ext>
                </a:extLst>
              </p:cNvPr>
              <p:cNvSpPr/>
              <p:nvPr/>
            </p:nvSpPr>
            <p:spPr>
              <a:xfrm>
                <a:off x="941349" y="3748087"/>
                <a:ext cx="864304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≥7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橢圓 10">
                <a:extLst>
                  <a:ext uri="{FF2B5EF4-FFF2-40B4-BE49-F238E27FC236}">
                    <a16:creationId xmlns:a16="http://schemas.microsoft.com/office/drawing/2014/main" id="{E4393386-302E-427E-91B5-12CBC58967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349" y="3748087"/>
                <a:ext cx="864304" cy="4320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/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blipFill>
                <a:blip r:embed="rId5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679079" y="3622229"/>
            <a:ext cx="480892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365304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679079" y="4116863"/>
            <a:ext cx="96004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1480055" y="4858896"/>
            <a:ext cx="295028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1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FE7B26-0AC9-4441-A156-2EF30B356FB3}"/>
                  </a:ext>
                </a:extLst>
              </p:cNvPr>
              <p:cNvSpPr/>
              <p:nvPr/>
            </p:nvSpPr>
            <p:spPr>
              <a:xfrm>
                <a:off x="1943946" y="3199607"/>
                <a:ext cx="526785" cy="4226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≤7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FE7B26-0AC9-4441-A156-2EF30B356F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946" y="3199607"/>
                <a:ext cx="526785" cy="422622"/>
              </a:xfrm>
              <a:prstGeom prst="rect">
                <a:avLst/>
              </a:prstGeom>
              <a:blipFill>
                <a:blip r:embed="rId4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864304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/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blipFill>
                <a:blip r:embed="rId5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679079" y="3622229"/>
            <a:ext cx="528260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365304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679079" y="4116863"/>
            <a:ext cx="96004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1480055" y="4858896"/>
            <a:ext cx="295028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208AFEC2-11B2-48C8-A64F-8E26A49BE4B0}"/>
                  </a:ext>
                </a:extLst>
              </p:cNvPr>
              <p:cNvSpPr/>
              <p:nvPr/>
            </p:nvSpPr>
            <p:spPr>
              <a:xfrm>
                <a:off x="3055898" y="3748087"/>
                <a:ext cx="570342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≥8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208AFEC2-11B2-48C8-A64F-8E26A49BE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898" y="3748087"/>
                <a:ext cx="570342" cy="4320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207339" y="3622229"/>
            <a:ext cx="1133730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cxnSpLocks/>
            <a:stCxn id="71" idx="3"/>
            <a:endCxn id="72" idx="0"/>
          </p:cNvCxnSpPr>
          <p:nvPr/>
        </p:nvCxnSpPr>
        <p:spPr>
          <a:xfrm flipH="1">
            <a:off x="2817168" y="4116863"/>
            <a:ext cx="322255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cxnSpLocks/>
            <a:stCxn id="71" idx="5"/>
            <a:endCxn id="73" idx="0"/>
          </p:cNvCxnSpPr>
          <p:nvPr/>
        </p:nvCxnSpPr>
        <p:spPr>
          <a:xfrm>
            <a:off x="3542715" y="4116863"/>
            <a:ext cx="299549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185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FE7B26-0AC9-4441-A156-2EF30B356FB3}"/>
                  </a:ext>
                </a:extLst>
              </p:cNvPr>
              <p:cNvSpPr/>
              <p:nvPr/>
            </p:nvSpPr>
            <p:spPr>
              <a:xfrm>
                <a:off x="1943946" y="3199607"/>
                <a:ext cx="526785" cy="4226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≤7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AAFE7B26-0AC9-4441-A156-2EF30B356F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946" y="3199607"/>
                <a:ext cx="526785" cy="422622"/>
              </a:xfrm>
              <a:prstGeom prst="rect">
                <a:avLst/>
              </a:prstGeom>
              <a:blipFill>
                <a:blip r:embed="rId4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864304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/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blipFill>
                <a:blip r:embed="rId5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679079" y="3622229"/>
            <a:ext cx="528260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365304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679079" y="4116863"/>
            <a:ext cx="96004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1480055" y="4858896"/>
            <a:ext cx="295028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208AFEC2-11B2-48C8-A64F-8E26A49BE4B0}"/>
                  </a:ext>
                </a:extLst>
              </p:cNvPr>
              <p:cNvSpPr/>
              <p:nvPr/>
            </p:nvSpPr>
            <p:spPr>
              <a:xfrm>
                <a:off x="3055898" y="3748087"/>
                <a:ext cx="570342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≥8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208AFEC2-11B2-48C8-A64F-8E26A49BE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898" y="3748087"/>
                <a:ext cx="570342" cy="4320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207339" y="3622229"/>
            <a:ext cx="1133730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cxnSpLocks/>
            <a:stCxn id="71" idx="3"/>
            <a:endCxn id="72" idx="0"/>
          </p:cNvCxnSpPr>
          <p:nvPr/>
        </p:nvCxnSpPr>
        <p:spPr>
          <a:xfrm flipH="1">
            <a:off x="2817168" y="4116863"/>
            <a:ext cx="322255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259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6" y="3199607"/>
            <a:ext cx="526785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864304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/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E77E541-FA1B-45C7-9D7D-33E7C3CACF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690" y="4436274"/>
                <a:ext cx="526785" cy="422622"/>
              </a:xfrm>
              <a:prstGeom prst="rect">
                <a:avLst/>
              </a:prstGeom>
              <a:blipFill>
                <a:blip r:embed="rId4"/>
                <a:stretch>
                  <a:fillRect l="-22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679079" y="3622229"/>
            <a:ext cx="528260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365304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679079" y="4116863"/>
            <a:ext cx="96004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1480055" y="4858896"/>
            <a:ext cx="295028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208AFEC2-11B2-48C8-A64F-8E26A49BE4B0}"/>
                  </a:ext>
                </a:extLst>
              </p:cNvPr>
              <p:cNvSpPr/>
              <p:nvPr/>
            </p:nvSpPr>
            <p:spPr>
              <a:xfrm>
                <a:off x="3055898" y="3748087"/>
                <a:ext cx="570342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≥8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橢圓 70">
                <a:extLst>
                  <a:ext uri="{FF2B5EF4-FFF2-40B4-BE49-F238E27FC236}">
                    <a16:creationId xmlns:a16="http://schemas.microsoft.com/office/drawing/2014/main" id="{208AFEC2-11B2-48C8-A64F-8E26A49BE4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898" y="3748087"/>
                <a:ext cx="570342" cy="43204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207339" y="3622229"/>
            <a:ext cx="1133730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cxnSpLocks/>
            <a:stCxn id="71" idx="3"/>
            <a:endCxn id="72" idx="0"/>
          </p:cNvCxnSpPr>
          <p:nvPr/>
        </p:nvCxnSpPr>
        <p:spPr>
          <a:xfrm flipH="1">
            <a:off x="2817168" y="4116863"/>
            <a:ext cx="322255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78B2AF41-F876-4F96-B6A9-247B47BFB0CB}"/>
                  </a:ext>
                </a:extLst>
              </p:cNvPr>
              <p:cNvSpPr/>
              <p:nvPr/>
            </p:nvSpPr>
            <p:spPr>
              <a:xfrm>
                <a:off x="4140260" y="2420389"/>
                <a:ext cx="615391" cy="43204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≥7</m:t>
                      </m:r>
                    </m:oMath>
                  </m:oMathPara>
                </a14:m>
                <a:endParaRPr lang="zh-TW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橢圓 88">
                <a:extLst>
                  <a:ext uri="{FF2B5EF4-FFF2-40B4-BE49-F238E27FC236}">
                    <a16:creationId xmlns:a16="http://schemas.microsoft.com/office/drawing/2014/main" id="{78B2AF41-F876-4F96-B6A9-247B47BFB0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260" y="2420389"/>
                <a:ext cx="615391" cy="4320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cxnSpLocks/>
            <a:stCxn id="89" idx="2"/>
          </p:cNvCxnSpPr>
          <p:nvPr/>
        </p:nvCxnSpPr>
        <p:spPr>
          <a:xfrm flipH="1">
            <a:off x="2005036" y="2636413"/>
            <a:ext cx="2135224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cxnSpLocks/>
            <a:stCxn id="89" idx="6"/>
            <a:endCxn id="119" idx="0"/>
          </p:cNvCxnSpPr>
          <p:nvPr/>
        </p:nvCxnSpPr>
        <p:spPr>
          <a:xfrm>
            <a:off x="4755651" y="2636413"/>
            <a:ext cx="1740389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043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標題 1"/>
              <p:cNvSpPr>
                <a:spLocks noGrp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</p:spPr>
            <p:txBody>
              <a:bodyPr anchor="ctr">
                <a:norm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/>
                      </a:rPr>
                      <m:t>𝛼𝛽</m:t>
                    </m:r>
                  </m:oMath>
                </a14:m>
                <a:r>
                  <a:rPr lang="en-US" dirty="0">
                    <a:latin typeface="Times New Roman"/>
                    <a:cs typeface="Times New Roman"/>
                  </a:rPr>
                  <a:t> algorithm</a:t>
                </a:r>
                <a:endParaRPr lang="zh-TW" altLang="en-US" dirty="0">
                  <a:latin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2" name="標題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457200" y="274638"/>
                <a:ext cx="8229600" cy="1143000"/>
              </a:xfrm>
              <a:blipFill>
                <a:blip r:embed="rId3"/>
                <a:stretch>
                  <a:fillRect b="-904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6" y="3199607"/>
            <a:ext cx="526785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941349" y="3748087"/>
            <a:ext cx="864304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0" y="4436274"/>
            <a:ext cx="526785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679079" y="3622229"/>
            <a:ext cx="528260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365304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679079" y="4116863"/>
            <a:ext cx="96004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1480055" y="4858896"/>
            <a:ext cx="295028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570342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207339" y="3622229"/>
            <a:ext cx="1133730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cxnSpLocks/>
            <a:stCxn id="71" idx="3"/>
            <a:endCxn id="72" idx="0"/>
          </p:cNvCxnSpPr>
          <p:nvPr/>
        </p:nvCxnSpPr>
        <p:spPr>
          <a:xfrm flipH="1">
            <a:off x="2817168" y="4116863"/>
            <a:ext cx="322255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0" y="2420389"/>
            <a:ext cx="61539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9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cxnSpLocks/>
            <a:stCxn id="89" idx="2"/>
          </p:cNvCxnSpPr>
          <p:nvPr/>
        </p:nvCxnSpPr>
        <p:spPr>
          <a:xfrm flipH="1">
            <a:off x="2005036" y="2636413"/>
            <a:ext cx="2135224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cxnSpLocks/>
            <a:stCxn id="89" idx="6"/>
            <a:endCxn id="119" idx="0"/>
          </p:cNvCxnSpPr>
          <p:nvPr/>
        </p:nvCxnSpPr>
        <p:spPr>
          <a:xfrm>
            <a:off x="4755651" y="2636413"/>
            <a:ext cx="1740389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173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67" name="內容版面配置區 2">
            <a:extLst>
              <a:ext uri="{FF2B5EF4-FFF2-40B4-BE49-F238E27FC236}">
                <a16:creationId xmlns:a16="http://schemas.microsoft.com/office/drawing/2014/main" id="{B12A405D-5625-42C9-8BBB-FF4DA3642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03" y="1235705"/>
            <a:ext cx="9004993" cy="5347657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ts val="3200"/>
              </a:lnSpc>
            </a:pPr>
            <a:r>
              <a:rPr lang="en-US" sz="2200" dirty="0">
                <a:latin typeface="Times New Roman"/>
                <a:ea typeface="+mn-lt"/>
                <a:cs typeface="+mn-lt"/>
              </a:rPr>
              <a:t>TEST(S, v, &gt;)</a:t>
            </a:r>
          </a:p>
          <a:p>
            <a:pPr lvl="1" algn="just">
              <a:lnSpc>
                <a:spcPts val="32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pPr algn="just">
              <a:lnSpc>
                <a:spcPts val="3200"/>
              </a:lnSpc>
            </a:pPr>
            <a:r>
              <a:rPr lang="en-US" sz="2200" dirty="0">
                <a:latin typeface="Times New Roman"/>
                <a:ea typeface="+mn-lt"/>
                <a:cs typeface="+mn-lt"/>
              </a:rPr>
              <a:t>EVAL(S)</a:t>
            </a:r>
          </a:p>
        </p:txBody>
      </p:sp>
    </p:spTree>
    <p:extLst>
      <p:ext uri="{BB962C8B-B14F-4D97-AF65-F5344CB8AC3E}">
        <p14:creationId xmlns:p14="http://schemas.microsoft.com/office/powerpoint/2010/main" val="30830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D4DF6B-9ADF-4C15-8F3F-C4CF8963B7BF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8882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1B7B7E9D-10C6-49A1-8A71-E9A936A7F426}"/>
              </a:ext>
            </a:extLst>
          </p:cNvPr>
          <p:cNvSpPr txBox="1"/>
          <p:nvPr/>
        </p:nvSpPr>
        <p:spPr>
          <a:xfrm>
            <a:off x="3944652" y="202449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EVAL(S)=(0,13]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4E8A85C4-3DD6-4B75-B2C8-1730D6006C5D}"/>
              </a:ext>
            </a:extLst>
          </p:cNvPr>
          <p:cNvSpPr txBox="1"/>
          <p:nvPr/>
        </p:nvSpPr>
        <p:spPr>
          <a:xfrm>
            <a:off x="0" y="5589240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777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v,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E8C310AD-AAC2-45AD-AF51-41DEB8407CC7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9098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302517" y="383406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-287373" y="44629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A0F86A97-D30C-4BDA-825A-4E44DEE48BF1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9804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302517" y="383406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127512" y="445450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E4FAA043-B4B3-4378-9A64-F5D55D202BF2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5903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496084" y="381649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58B905D3-3293-40C6-9C39-D066F9A074D7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23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00CEE299-CC2D-4B11-A49B-D137E3B983B9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92737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3086712B-1862-489E-9ADA-225FDC186182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6083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5765106" y="32162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4618719" y="379284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140261" y="442296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AEE6ED3F-8CA6-4764-B182-38AEB7AD9E58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239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5765106" y="32162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4618719" y="379284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140261" y="442296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03AA5EA6-8DEE-4A2C-B835-A58716F8B7C5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6975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5765106" y="32162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4618719" y="379284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604867" y="44045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1F8D8277-F679-48C0-B225-10FB3806D927}"/>
              </a:ext>
            </a:extLst>
          </p:cNvPr>
          <p:cNvSpPr txBox="1"/>
          <p:nvPr/>
        </p:nvSpPr>
        <p:spPr>
          <a:xfrm>
            <a:off x="5442294" y="447237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281D7CC-2028-4E75-9367-DB79E514DB20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86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8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5765106" y="32162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4618719" y="379284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604867" y="44045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30B2150-43E1-4BF3-9AEB-3086AD2614DE}"/>
              </a:ext>
            </a:extLst>
          </p:cNvPr>
          <p:cNvSpPr txBox="1"/>
          <p:nvPr/>
        </p:nvSpPr>
        <p:spPr>
          <a:xfrm>
            <a:off x="5636578" y="441281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57464E9A-2F73-412B-B449-EA4D62BA43C8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61211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411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57173" y="4858896"/>
            <a:ext cx="2211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5765106" y="32162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5012178" y="376974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604867" y="44045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30B2150-43E1-4BF3-9AEB-3086AD2614DE}"/>
              </a:ext>
            </a:extLst>
          </p:cNvPr>
          <p:cNvSpPr txBox="1"/>
          <p:nvPr/>
        </p:nvSpPr>
        <p:spPr>
          <a:xfrm>
            <a:off x="5636578" y="441281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AF5C6363-0BCA-48CA-8E76-00826B8DD3F1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7486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6118979" y="3249515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5012178" y="376974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604867" y="44045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30B2150-43E1-4BF3-9AEB-3086AD2614DE}"/>
              </a:ext>
            </a:extLst>
          </p:cNvPr>
          <p:cNvSpPr txBox="1"/>
          <p:nvPr/>
        </p:nvSpPr>
        <p:spPr>
          <a:xfrm>
            <a:off x="5636578" y="441281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428FFD30-9A52-4146-A603-8FE2C27D9EF3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681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3288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8, &gt;)=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6118979" y="3249515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5012178" y="376974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604867" y="44045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30B2150-43E1-4BF3-9AEB-3086AD2614DE}"/>
              </a:ext>
            </a:extLst>
          </p:cNvPr>
          <p:cNvSpPr txBox="1"/>
          <p:nvPr/>
        </p:nvSpPr>
        <p:spPr>
          <a:xfrm>
            <a:off x="5636578" y="441281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ADB81B73-3B9F-41E1-8C08-AD450F2F1515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39780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3288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EVAL(S)=(0,8]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696079" y="325263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76599" y="380756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334891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5965AD1E-54B1-49F2-8C7D-8D17E89162F0}"/>
              </a:ext>
            </a:extLst>
          </p:cNvPr>
          <p:cNvSpPr txBox="1"/>
          <p:nvPr/>
        </p:nvSpPr>
        <p:spPr>
          <a:xfrm>
            <a:off x="1370517" y="4447662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FASLE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14B8F65B-F792-4F03-B122-E866C907BB77}"/>
              </a:ext>
            </a:extLst>
          </p:cNvPr>
          <p:cNvSpPr txBox="1"/>
          <p:nvPr/>
        </p:nvSpPr>
        <p:spPr>
          <a:xfrm>
            <a:off x="6118979" y="3249515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E5040AD2-0367-468B-AE29-52AA18890147}"/>
              </a:ext>
            </a:extLst>
          </p:cNvPr>
          <p:cNvSpPr txBox="1"/>
          <p:nvPr/>
        </p:nvSpPr>
        <p:spPr>
          <a:xfrm>
            <a:off x="5012178" y="3769740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A126E846-29D7-492F-8163-1447920A8AFE}"/>
              </a:ext>
            </a:extLst>
          </p:cNvPr>
          <p:cNvSpPr txBox="1"/>
          <p:nvPr/>
        </p:nvSpPr>
        <p:spPr>
          <a:xfrm>
            <a:off x="4604867" y="440459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530B2150-43E1-4BF3-9AEB-3086AD2614DE}"/>
              </a:ext>
            </a:extLst>
          </p:cNvPr>
          <p:cNvSpPr txBox="1"/>
          <p:nvPr/>
        </p:nvSpPr>
        <p:spPr>
          <a:xfrm>
            <a:off x="5636578" y="441281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0E8573E-B132-4DB9-8555-327F86968957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4478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v,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2841CC9E-04C7-412B-A2E2-4F3456B84317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95417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302517" y="383406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-287373" y="44629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6DAD2F53-B5F0-42AE-9D4A-EDED9A4595EB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1228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7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E206E860-5DA6-4DAE-B7E7-C6257325C1C1}"/>
              </a:ext>
            </a:extLst>
          </p:cNvPr>
          <p:cNvSpPr/>
          <p:nvPr/>
        </p:nvSpPr>
        <p:spPr>
          <a:xfrm>
            <a:off x="178901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>
            <a:extLst>
              <a:ext uri="{FF2B5EF4-FFF2-40B4-BE49-F238E27FC236}">
                <a16:creationId xmlns:a16="http://schemas.microsoft.com/office/drawing/2014/main" id="{7C8E5E83-E2B7-476E-AB3E-2EE7DCF13470}"/>
              </a:ext>
            </a:extLst>
          </p:cNvPr>
          <p:cNvCxnSpPr>
            <a:stCxn id="14" idx="2"/>
            <a:endCxn id="25" idx="0"/>
          </p:cNvCxnSpPr>
          <p:nvPr/>
        </p:nvCxnSpPr>
        <p:spPr>
          <a:xfrm>
            <a:off x="1727715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302517" y="383406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DB935C93-78D7-44F8-AD92-83A12DBBF2FA}"/>
              </a:ext>
            </a:extLst>
          </p:cNvPr>
          <p:cNvSpPr txBox="1"/>
          <p:nvPr/>
        </p:nvSpPr>
        <p:spPr>
          <a:xfrm>
            <a:off x="1073779" y="446301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D0BC8A83-9CB2-4616-8790-94E4BAF0A087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99274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3</a:t>
            </a:r>
            <a:endParaRPr lang="zh-TW" altLang="en-US" dirty="0">
              <a:solidFill>
                <a:srgbClr val="FF0000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302517" y="383406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26CAC8DD-8113-4F0E-80C3-698A0F077003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02434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橢圓 70">
            <a:extLst>
              <a:ext uri="{FF2B5EF4-FFF2-40B4-BE49-F238E27FC236}">
                <a16:creationId xmlns:a16="http://schemas.microsoft.com/office/drawing/2014/main" id="{208AFEC2-11B2-48C8-A64F-8E26A49BE4B0}"/>
              </a:ext>
            </a:extLst>
          </p:cNvPr>
          <p:cNvSpPr/>
          <p:nvPr/>
        </p:nvSpPr>
        <p:spPr>
          <a:xfrm>
            <a:off x="305589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8BF1C0D-CF35-4622-8D4D-D6832C6A8D69}"/>
              </a:ext>
            </a:extLst>
          </p:cNvPr>
          <p:cNvSpPr/>
          <p:nvPr/>
        </p:nvSpPr>
        <p:spPr>
          <a:xfrm>
            <a:off x="260114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B858F85F-EA36-47B0-A10D-02140924BA3E}"/>
              </a:ext>
            </a:extLst>
          </p:cNvPr>
          <p:cNvSpPr/>
          <p:nvPr/>
        </p:nvSpPr>
        <p:spPr>
          <a:xfrm>
            <a:off x="362624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E30C2442-EE38-4673-B343-A6E9AE34434E}"/>
              </a:ext>
            </a:extLst>
          </p:cNvPr>
          <p:cNvSpPr/>
          <p:nvPr/>
        </p:nvSpPr>
        <p:spPr>
          <a:xfrm>
            <a:off x="231810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5FEE2771-3E15-46B6-9A3A-54FBC4825E6E}"/>
              </a:ext>
            </a:extLst>
          </p:cNvPr>
          <p:cNvSpPr/>
          <p:nvPr/>
        </p:nvSpPr>
        <p:spPr>
          <a:xfrm>
            <a:off x="284754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170DF060-737F-4D34-A47D-2E6DCB1C92F6}"/>
              </a:ext>
            </a:extLst>
          </p:cNvPr>
          <p:cNvSpPr/>
          <p:nvPr/>
        </p:nvSpPr>
        <p:spPr>
          <a:xfrm>
            <a:off x="337858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2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932CDB45-675C-4915-BFE7-0AF4B040AC85}"/>
              </a:ext>
            </a:extLst>
          </p:cNvPr>
          <p:cNvSpPr/>
          <p:nvPr/>
        </p:nvSpPr>
        <p:spPr>
          <a:xfrm>
            <a:off x="3944652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759E2079-9C7D-4539-A8F5-CA6D4C20ACE4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>
            <a:off x="2159971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B750B53F-4C8A-4281-961F-5BB95E704CD0}"/>
              </a:ext>
            </a:extLst>
          </p:cNvPr>
          <p:cNvCxnSpPr>
            <a:stCxn id="71" idx="3"/>
            <a:endCxn id="72" idx="0"/>
          </p:cNvCxnSpPr>
          <p:nvPr/>
        </p:nvCxnSpPr>
        <p:spPr>
          <a:xfrm flipH="1">
            <a:off x="281716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DB0A393B-CAEF-4255-A5DC-805A619AF507}"/>
              </a:ext>
            </a:extLst>
          </p:cNvPr>
          <p:cNvCxnSpPr>
            <a:stCxn id="71" idx="5"/>
            <a:endCxn id="73" idx="0"/>
          </p:cNvCxnSpPr>
          <p:nvPr/>
        </p:nvCxnSpPr>
        <p:spPr>
          <a:xfrm>
            <a:off x="342467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>
            <a:extLst>
              <a:ext uri="{FF2B5EF4-FFF2-40B4-BE49-F238E27FC236}">
                <a16:creationId xmlns:a16="http://schemas.microsoft.com/office/drawing/2014/main" id="{49BC105A-5570-4A13-A8A9-621654F7A23F}"/>
              </a:ext>
            </a:extLst>
          </p:cNvPr>
          <p:cNvCxnSpPr>
            <a:stCxn id="72" idx="2"/>
            <a:endCxn id="74" idx="0"/>
          </p:cNvCxnSpPr>
          <p:nvPr/>
        </p:nvCxnSpPr>
        <p:spPr>
          <a:xfrm flipH="1">
            <a:off x="253413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>
            <a:extLst>
              <a:ext uri="{FF2B5EF4-FFF2-40B4-BE49-F238E27FC236}">
                <a16:creationId xmlns:a16="http://schemas.microsoft.com/office/drawing/2014/main" id="{9D95901E-84D7-494E-A53B-CF76306FA6A6}"/>
              </a:ext>
            </a:extLst>
          </p:cNvPr>
          <p:cNvCxnSpPr>
            <a:stCxn id="72" idx="2"/>
            <a:endCxn id="75" idx="0"/>
          </p:cNvCxnSpPr>
          <p:nvPr/>
        </p:nvCxnSpPr>
        <p:spPr>
          <a:xfrm>
            <a:off x="281716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>
            <a:extLst>
              <a:ext uri="{FF2B5EF4-FFF2-40B4-BE49-F238E27FC236}">
                <a16:creationId xmlns:a16="http://schemas.microsoft.com/office/drawing/2014/main" id="{15AD0B65-31DC-44B0-9498-7341C7CB3157}"/>
              </a:ext>
            </a:extLst>
          </p:cNvPr>
          <p:cNvCxnSpPr>
            <a:stCxn id="73" idx="2"/>
            <a:endCxn id="76" idx="0"/>
          </p:cNvCxnSpPr>
          <p:nvPr/>
        </p:nvCxnSpPr>
        <p:spPr>
          <a:xfrm flipH="1">
            <a:off x="359460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>
            <a:extLst>
              <a:ext uri="{FF2B5EF4-FFF2-40B4-BE49-F238E27FC236}">
                <a16:creationId xmlns:a16="http://schemas.microsoft.com/office/drawing/2014/main" id="{1DBFF15C-6722-4B20-BACF-249F83E4B750}"/>
              </a:ext>
            </a:extLst>
          </p:cNvPr>
          <p:cNvCxnSpPr>
            <a:stCxn id="73" idx="2"/>
            <a:endCxn id="77" idx="0"/>
          </p:cNvCxnSpPr>
          <p:nvPr/>
        </p:nvCxnSpPr>
        <p:spPr>
          <a:xfrm>
            <a:off x="3842264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278948" y="320278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A90503FC-25CD-47FD-8E81-DCB1FCE93BC5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2279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4" name="橢圓 123">
            <a:extLst>
              <a:ext uri="{FF2B5EF4-FFF2-40B4-BE49-F238E27FC236}">
                <a16:creationId xmlns:a16="http://schemas.microsoft.com/office/drawing/2014/main" id="{68F8C18B-12B4-459A-AB9B-09D027F4027F}"/>
              </a:ext>
            </a:extLst>
          </p:cNvPr>
          <p:cNvSpPr/>
          <p:nvPr/>
        </p:nvSpPr>
        <p:spPr>
          <a:xfrm>
            <a:off x="506906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線接點 130">
            <a:extLst>
              <a:ext uri="{FF2B5EF4-FFF2-40B4-BE49-F238E27FC236}">
                <a16:creationId xmlns:a16="http://schemas.microsoft.com/office/drawing/2014/main" id="{FE452A97-C379-49E1-8B09-B341B1FCC196}"/>
              </a:ext>
            </a:extLst>
          </p:cNvPr>
          <p:cNvCxnSpPr>
            <a:stCxn id="121" idx="2"/>
            <a:endCxn id="124" idx="0"/>
          </p:cNvCxnSpPr>
          <p:nvPr/>
        </p:nvCxnSpPr>
        <p:spPr>
          <a:xfrm>
            <a:off x="5038688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4674375" y="376987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236610" y="444944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6C5C0F94-6758-47B0-BD85-55D39C89C5AD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51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rgbClr val="FF0000"/>
                </a:solidFill>
              </a:rPr>
              <a:t>1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4674375" y="376987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568162" y="434880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493441" y="445965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33CB688F-58D9-4EEB-A7BE-C3DBD70CEA84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7031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4674375" y="376987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D243A67-65C5-4BF4-88FD-92411761984F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0324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D0B71491-4C9A-4E93-AE26-3FE3DE528195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848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F8EACF6-0CD9-4550-8AE3-DBDF865185A9}"/>
              </a:ext>
            </a:extLst>
          </p:cNvPr>
          <p:cNvSpPr txBox="1"/>
          <p:nvPr/>
        </p:nvSpPr>
        <p:spPr>
          <a:xfrm>
            <a:off x="7005393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DD0F2B7-7CE6-4A51-9575-22B3F1E81492}"/>
              </a:ext>
            </a:extLst>
          </p:cNvPr>
          <p:cNvSpPr txBox="1"/>
          <p:nvPr/>
        </p:nvSpPr>
        <p:spPr>
          <a:xfrm>
            <a:off x="6496040" y="441418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63F26E83-6088-4A6D-A54D-A4BD22218D33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9038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6" name="矩形 135">
            <a:extLst>
              <a:ext uri="{FF2B5EF4-FFF2-40B4-BE49-F238E27FC236}">
                <a16:creationId xmlns:a16="http://schemas.microsoft.com/office/drawing/2014/main" id="{9D8F4499-FD64-403B-AB29-AB690A138524}"/>
              </a:ext>
            </a:extLst>
          </p:cNvPr>
          <p:cNvSpPr/>
          <p:nvPr/>
        </p:nvSpPr>
        <p:spPr>
          <a:xfrm>
            <a:off x="7962309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9" name="橢圓 138">
            <a:extLst>
              <a:ext uri="{FF2B5EF4-FFF2-40B4-BE49-F238E27FC236}">
                <a16:creationId xmlns:a16="http://schemas.microsoft.com/office/drawing/2014/main" id="{862494EE-6253-449E-BE9B-E67716883B4E}"/>
              </a:ext>
            </a:extLst>
          </p:cNvPr>
          <p:cNvSpPr/>
          <p:nvPr/>
        </p:nvSpPr>
        <p:spPr>
          <a:xfrm>
            <a:off x="771464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0" name="橢圓 139">
            <a:extLst>
              <a:ext uri="{FF2B5EF4-FFF2-40B4-BE49-F238E27FC236}">
                <a16:creationId xmlns:a16="http://schemas.microsoft.com/office/drawing/2014/main" id="{E4D5A389-3AD8-4000-88CC-89FCADDEF75B}"/>
              </a:ext>
            </a:extLst>
          </p:cNvPr>
          <p:cNvSpPr/>
          <p:nvPr/>
        </p:nvSpPr>
        <p:spPr>
          <a:xfrm>
            <a:off x="828072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4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線接點 142">
            <a:extLst>
              <a:ext uri="{FF2B5EF4-FFF2-40B4-BE49-F238E27FC236}">
                <a16:creationId xmlns:a16="http://schemas.microsoft.com/office/drawing/2014/main" id="{115098CD-62D0-4601-8A7D-BF3D04509CC2}"/>
              </a:ext>
            </a:extLst>
          </p:cNvPr>
          <p:cNvCxnSpPr>
            <a:stCxn id="134" idx="5"/>
            <a:endCxn id="136" idx="0"/>
          </p:cNvCxnSpPr>
          <p:nvPr/>
        </p:nvCxnSpPr>
        <p:spPr>
          <a:xfrm>
            <a:off x="7760743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接點 145">
            <a:extLst>
              <a:ext uri="{FF2B5EF4-FFF2-40B4-BE49-F238E27FC236}">
                <a16:creationId xmlns:a16="http://schemas.microsoft.com/office/drawing/2014/main" id="{B3F50F9C-E444-4D50-B377-76B988CB49B7}"/>
              </a:ext>
            </a:extLst>
          </p:cNvPr>
          <p:cNvCxnSpPr>
            <a:stCxn id="136" idx="2"/>
            <a:endCxn id="139" idx="0"/>
          </p:cNvCxnSpPr>
          <p:nvPr/>
        </p:nvCxnSpPr>
        <p:spPr>
          <a:xfrm flipH="1">
            <a:off x="7930673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677FA5E0-C930-4682-A387-2667FA696975}"/>
              </a:ext>
            </a:extLst>
          </p:cNvPr>
          <p:cNvCxnSpPr>
            <a:stCxn id="136" idx="2"/>
            <a:endCxn id="140" idx="0"/>
          </p:cNvCxnSpPr>
          <p:nvPr/>
        </p:nvCxnSpPr>
        <p:spPr>
          <a:xfrm>
            <a:off x="8178333" y="4858896"/>
            <a:ext cx="318412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F8EACF6-0CD9-4550-8AE3-DBDF865185A9}"/>
              </a:ext>
            </a:extLst>
          </p:cNvPr>
          <p:cNvSpPr txBox="1"/>
          <p:nvPr/>
        </p:nvSpPr>
        <p:spPr>
          <a:xfrm>
            <a:off x="7005393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DD0F2B7-7CE6-4A51-9575-22B3F1E81492}"/>
              </a:ext>
            </a:extLst>
          </p:cNvPr>
          <p:cNvSpPr txBox="1"/>
          <p:nvPr/>
        </p:nvSpPr>
        <p:spPr>
          <a:xfrm>
            <a:off x="6763562" y="436574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58C63E61-FD26-4E36-944C-643B4A960052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0755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5786784" y="325760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F8EACF6-0CD9-4550-8AE3-DBDF865185A9}"/>
              </a:ext>
            </a:extLst>
          </p:cNvPr>
          <p:cNvSpPr txBox="1"/>
          <p:nvPr/>
        </p:nvSpPr>
        <p:spPr>
          <a:xfrm>
            <a:off x="7222561" y="377145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DD0F2B7-7CE6-4A51-9575-22B3F1E81492}"/>
              </a:ext>
            </a:extLst>
          </p:cNvPr>
          <p:cNvSpPr txBox="1"/>
          <p:nvPr/>
        </p:nvSpPr>
        <p:spPr>
          <a:xfrm>
            <a:off x="6763562" y="436574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13B50FF6-798A-4951-9556-4D6B512C7928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463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6063783" y="327360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F8EACF6-0CD9-4550-8AE3-DBDF865185A9}"/>
              </a:ext>
            </a:extLst>
          </p:cNvPr>
          <p:cNvSpPr txBox="1"/>
          <p:nvPr/>
        </p:nvSpPr>
        <p:spPr>
          <a:xfrm>
            <a:off x="7222561" y="377145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DD0F2B7-7CE6-4A51-9575-22B3F1E81492}"/>
              </a:ext>
            </a:extLst>
          </p:cNvPr>
          <p:cNvSpPr txBox="1"/>
          <p:nvPr/>
        </p:nvSpPr>
        <p:spPr>
          <a:xfrm>
            <a:off x="6763562" y="436574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A96827B3-3532-4C3B-9ABC-19ED6587FB4E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7455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260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TEST(S, 7, &gt;)=</a:t>
            </a: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6063783" y="327360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F8EACF6-0CD9-4550-8AE3-DBDF865185A9}"/>
              </a:ext>
            </a:extLst>
          </p:cNvPr>
          <p:cNvSpPr txBox="1"/>
          <p:nvPr/>
        </p:nvSpPr>
        <p:spPr>
          <a:xfrm>
            <a:off x="7222561" y="377145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DD0F2B7-7CE6-4A51-9575-22B3F1E81492}"/>
              </a:ext>
            </a:extLst>
          </p:cNvPr>
          <p:cNvSpPr txBox="1"/>
          <p:nvPr/>
        </p:nvSpPr>
        <p:spPr>
          <a:xfrm>
            <a:off x="6763562" y="436574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8F32BB25-5C2D-4206-99F2-DE817B723364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4507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latin typeface="Times New Roman"/>
                <a:cs typeface="Times New Roman"/>
              </a:rPr>
              <a:t>Scout algorithm</a:t>
            </a:r>
            <a:endParaRPr lang="zh-TW" altLang="en-US" dirty="0">
              <a:latin typeface="Times New Roman"/>
              <a:cs typeface="Times New Roman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EE64559-1197-4592-84E4-C480AE3DCB72}"/>
              </a:ext>
            </a:extLst>
          </p:cNvPr>
          <p:cNvSpPr/>
          <p:nvPr/>
        </p:nvSpPr>
        <p:spPr>
          <a:xfrm>
            <a:off x="7060415" y="837550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64BA7F-5C95-4B71-90E9-2C613AF4A00D}"/>
              </a:ext>
            </a:extLst>
          </p:cNvPr>
          <p:cNvSpPr/>
          <p:nvPr/>
        </p:nvSpPr>
        <p:spPr>
          <a:xfrm>
            <a:off x="7035107" y="142235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145F22B-B138-4926-8450-6EE110576CF5}"/>
              </a:ext>
            </a:extLst>
          </p:cNvPr>
          <p:cNvSpPr txBox="1"/>
          <p:nvPr/>
        </p:nvSpPr>
        <p:spPr>
          <a:xfrm>
            <a:off x="7492463" y="870284"/>
            <a:ext cx="16515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Player (MAX)</a:t>
            </a:r>
          </a:p>
          <a:p>
            <a:endParaRPr lang="en-US" altLang="zh-TW" dirty="0"/>
          </a:p>
          <a:p>
            <a:r>
              <a:rPr lang="en-US" altLang="zh-TW" dirty="0"/>
              <a:t>Opponent (MIN)</a:t>
            </a:r>
            <a:endParaRPr lang="zh-TW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AFE7B26-0AC9-4441-A156-2EF30B356FB3}"/>
              </a:ext>
            </a:extLst>
          </p:cNvPr>
          <p:cNvSpPr/>
          <p:nvPr/>
        </p:nvSpPr>
        <p:spPr>
          <a:xfrm>
            <a:off x="1943947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E4393386-302E-427E-91B5-12CBC58967CA}"/>
              </a:ext>
            </a:extLst>
          </p:cNvPr>
          <p:cNvSpPr/>
          <p:nvPr/>
        </p:nvSpPr>
        <p:spPr>
          <a:xfrm>
            <a:off x="1048019" y="3748087"/>
            <a:ext cx="463671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DFDDB54-1C4A-4DE7-AB8D-71CD8A5CD544}"/>
              </a:ext>
            </a:extLst>
          </p:cNvPr>
          <p:cNvSpPr/>
          <p:nvPr/>
        </p:nvSpPr>
        <p:spPr>
          <a:xfrm>
            <a:off x="486595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E77E541-FA1B-45C7-9D7D-33E7C3CACFDD}"/>
              </a:ext>
            </a:extLst>
          </p:cNvPr>
          <p:cNvSpPr/>
          <p:nvPr/>
        </p:nvSpPr>
        <p:spPr>
          <a:xfrm>
            <a:off x="1511691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260E9E3C-64FE-49FC-9F1B-8A0CD7D98D43}"/>
              </a:ext>
            </a:extLst>
          </p:cNvPr>
          <p:cNvSpPr/>
          <p:nvPr/>
        </p:nvSpPr>
        <p:spPr>
          <a:xfrm>
            <a:off x="20355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7D6A1286-06EE-4AE0-B1B9-B8534B6E13E4}"/>
              </a:ext>
            </a:extLst>
          </p:cNvPr>
          <p:cNvSpPr/>
          <p:nvPr/>
        </p:nvSpPr>
        <p:spPr>
          <a:xfrm>
            <a:off x="73299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7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ED3FDE28-7F39-4EB0-BAAD-57F9FDE79B48}"/>
              </a:ext>
            </a:extLst>
          </p:cNvPr>
          <p:cNvSpPr/>
          <p:nvPr/>
        </p:nvSpPr>
        <p:spPr>
          <a:xfrm>
            <a:off x="1264031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3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FD17C54F-C7C3-4F9A-80CB-362ACE85ED95}"/>
              </a:ext>
            </a:extLst>
          </p:cNvPr>
          <p:cNvCxnSpPr>
            <a:cxnSpLocks/>
            <a:stCxn id="10" idx="2"/>
            <a:endCxn id="11" idx="7"/>
          </p:cNvCxnSpPr>
          <p:nvPr/>
        </p:nvCxnSpPr>
        <p:spPr>
          <a:xfrm flipH="1">
            <a:off x="1443787" y="3622229"/>
            <a:ext cx="716184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2E318C91-01FD-4E79-B07F-A29D7FF027BF}"/>
              </a:ext>
            </a:extLst>
          </p:cNvPr>
          <p:cNvCxnSpPr>
            <a:cxnSpLocks/>
            <a:stCxn id="11" idx="3"/>
            <a:endCxn id="13" idx="0"/>
          </p:cNvCxnSpPr>
          <p:nvPr/>
        </p:nvCxnSpPr>
        <p:spPr>
          <a:xfrm flipH="1">
            <a:off x="702619" y="4116863"/>
            <a:ext cx="413303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74842B38-CB42-4872-A1E6-B5DFB58AE580}"/>
              </a:ext>
            </a:extLst>
          </p:cNvPr>
          <p:cNvCxnSpPr>
            <a:cxnSpLocks/>
            <a:stCxn id="11" idx="5"/>
            <a:endCxn id="14" idx="0"/>
          </p:cNvCxnSpPr>
          <p:nvPr/>
        </p:nvCxnSpPr>
        <p:spPr>
          <a:xfrm>
            <a:off x="1443787" y="4116863"/>
            <a:ext cx="283928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>
            <a:extLst>
              <a:ext uri="{FF2B5EF4-FFF2-40B4-BE49-F238E27FC236}">
                <a16:creationId xmlns:a16="http://schemas.microsoft.com/office/drawing/2014/main" id="{8D152D4B-BD9E-4A3B-AE07-470183B10EF0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 flipH="1">
            <a:off x="419583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59EBEE80-8EE0-40DC-BD81-9BF6242A031B}"/>
              </a:ext>
            </a:extLst>
          </p:cNvPr>
          <p:cNvCxnSpPr>
            <a:stCxn id="13" idx="2"/>
            <a:endCxn id="22" idx="0"/>
          </p:cNvCxnSpPr>
          <p:nvPr/>
        </p:nvCxnSpPr>
        <p:spPr>
          <a:xfrm>
            <a:off x="702619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48559DC0-083D-42A1-99A7-E7A545741736}"/>
              </a:ext>
            </a:extLst>
          </p:cNvPr>
          <p:cNvCxnSpPr>
            <a:stCxn id="14" idx="2"/>
            <a:endCxn id="23" idx="0"/>
          </p:cNvCxnSpPr>
          <p:nvPr/>
        </p:nvCxnSpPr>
        <p:spPr>
          <a:xfrm flipH="1">
            <a:off x="1480055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橢圓 88">
            <a:extLst>
              <a:ext uri="{FF2B5EF4-FFF2-40B4-BE49-F238E27FC236}">
                <a16:creationId xmlns:a16="http://schemas.microsoft.com/office/drawing/2014/main" id="{78B2AF41-F876-4F96-B6A9-247B47BFB0CB}"/>
              </a:ext>
            </a:extLst>
          </p:cNvPr>
          <p:cNvSpPr/>
          <p:nvPr/>
        </p:nvSpPr>
        <p:spPr>
          <a:xfrm>
            <a:off x="4140261" y="2420389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71F59F99-49D4-4809-88E6-16BB969A96B4}"/>
              </a:ext>
            </a:extLst>
          </p:cNvPr>
          <p:cNvSpPr/>
          <p:nvPr/>
        </p:nvSpPr>
        <p:spPr>
          <a:xfrm>
            <a:off x="6280016" y="3199607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0" name="橢圓 119">
            <a:extLst>
              <a:ext uri="{FF2B5EF4-FFF2-40B4-BE49-F238E27FC236}">
                <a16:creationId xmlns:a16="http://schemas.microsoft.com/office/drawing/2014/main" id="{B8A8644F-A8EC-4ACA-85D5-D49A659D6122}"/>
              </a:ext>
            </a:extLst>
          </p:cNvPr>
          <p:cNvSpPr/>
          <p:nvPr/>
        </p:nvSpPr>
        <p:spPr>
          <a:xfrm>
            <a:off x="5277418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E0FD8145-1239-42D1-9141-0B2BA0AA9757}"/>
              </a:ext>
            </a:extLst>
          </p:cNvPr>
          <p:cNvSpPr/>
          <p:nvPr/>
        </p:nvSpPr>
        <p:spPr>
          <a:xfrm>
            <a:off x="4822664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600D3E91-0F0C-462A-8483-8CB57917ECA8}"/>
              </a:ext>
            </a:extLst>
          </p:cNvPr>
          <p:cNvSpPr/>
          <p:nvPr/>
        </p:nvSpPr>
        <p:spPr>
          <a:xfrm>
            <a:off x="5847760" y="4436274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C43A617E-D1BE-4CDB-94DD-47EF40388A0D}"/>
              </a:ext>
            </a:extLst>
          </p:cNvPr>
          <p:cNvSpPr/>
          <p:nvPr/>
        </p:nvSpPr>
        <p:spPr>
          <a:xfrm>
            <a:off x="4539628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1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5" name="橢圓 124">
            <a:extLst>
              <a:ext uri="{FF2B5EF4-FFF2-40B4-BE49-F238E27FC236}">
                <a16:creationId xmlns:a16="http://schemas.microsoft.com/office/drawing/2014/main" id="{BF1826FF-D155-4AC0-875C-849043960B52}"/>
              </a:ext>
            </a:extLst>
          </p:cNvPr>
          <p:cNvSpPr/>
          <p:nvPr/>
        </p:nvSpPr>
        <p:spPr>
          <a:xfrm>
            <a:off x="5600100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8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26" name="橢圓 125">
            <a:extLst>
              <a:ext uri="{FF2B5EF4-FFF2-40B4-BE49-F238E27FC236}">
                <a16:creationId xmlns:a16="http://schemas.microsoft.com/office/drawing/2014/main" id="{D276B86A-51F6-487F-9FC6-8C3648E181A0}"/>
              </a:ext>
            </a:extLst>
          </p:cNvPr>
          <p:cNvSpPr/>
          <p:nvPr/>
        </p:nvSpPr>
        <p:spPr>
          <a:xfrm>
            <a:off x="6125079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82CCA92F-A6B2-4AF6-8843-CC8A8D0FE650}"/>
              </a:ext>
            </a:extLst>
          </p:cNvPr>
          <p:cNvCxnSpPr>
            <a:cxnSpLocks/>
            <a:stCxn id="119" idx="2"/>
            <a:endCxn id="120" idx="7"/>
          </p:cNvCxnSpPr>
          <p:nvPr/>
        </p:nvCxnSpPr>
        <p:spPr>
          <a:xfrm flipH="1">
            <a:off x="5646194" y="3622229"/>
            <a:ext cx="849846" cy="1891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356E594F-3D41-45AE-BF4E-3340A814E2A1}"/>
              </a:ext>
            </a:extLst>
          </p:cNvPr>
          <p:cNvCxnSpPr>
            <a:stCxn id="120" idx="3"/>
            <a:endCxn id="121" idx="0"/>
          </p:cNvCxnSpPr>
          <p:nvPr/>
        </p:nvCxnSpPr>
        <p:spPr>
          <a:xfrm flipH="1">
            <a:off x="5038688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64E50F4A-69F3-4C85-BD7A-30EE0D54CB55}"/>
              </a:ext>
            </a:extLst>
          </p:cNvPr>
          <p:cNvCxnSpPr>
            <a:stCxn id="120" idx="5"/>
            <a:endCxn id="122" idx="0"/>
          </p:cNvCxnSpPr>
          <p:nvPr/>
        </p:nvCxnSpPr>
        <p:spPr>
          <a:xfrm>
            <a:off x="5646194" y="4116863"/>
            <a:ext cx="417590" cy="3194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線接點 129">
            <a:extLst>
              <a:ext uri="{FF2B5EF4-FFF2-40B4-BE49-F238E27FC236}">
                <a16:creationId xmlns:a16="http://schemas.microsoft.com/office/drawing/2014/main" id="{8DB48705-F146-4B80-A76F-EDD5004B9981}"/>
              </a:ext>
            </a:extLst>
          </p:cNvPr>
          <p:cNvCxnSpPr>
            <a:stCxn id="121" idx="2"/>
            <a:endCxn id="123" idx="0"/>
          </p:cNvCxnSpPr>
          <p:nvPr/>
        </p:nvCxnSpPr>
        <p:spPr>
          <a:xfrm flipH="1">
            <a:off x="4755652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接點 131">
            <a:extLst>
              <a:ext uri="{FF2B5EF4-FFF2-40B4-BE49-F238E27FC236}">
                <a16:creationId xmlns:a16="http://schemas.microsoft.com/office/drawing/2014/main" id="{522406F2-2C6D-4995-8A23-EB30D06C41FF}"/>
              </a:ext>
            </a:extLst>
          </p:cNvPr>
          <p:cNvCxnSpPr>
            <a:stCxn id="122" idx="2"/>
            <a:endCxn id="125" idx="0"/>
          </p:cNvCxnSpPr>
          <p:nvPr/>
        </p:nvCxnSpPr>
        <p:spPr>
          <a:xfrm flipH="1">
            <a:off x="5816124" y="4858896"/>
            <a:ext cx="247660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接點 132">
            <a:extLst>
              <a:ext uri="{FF2B5EF4-FFF2-40B4-BE49-F238E27FC236}">
                <a16:creationId xmlns:a16="http://schemas.microsoft.com/office/drawing/2014/main" id="{6DDC27E7-6100-40D1-B490-97A5408FDA2B}"/>
              </a:ext>
            </a:extLst>
          </p:cNvPr>
          <p:cNvCxnSpPr>
            <a:stCxn id="122" idx="2"/>
            <a:endCxn id="126" idx="0"/>
          </p:cNvCxnSpPr>
          <p:nvPr/>
        </p:nvCxnSpPr>
        <p:spPr>
          <a:xfrm>
            <a:off x="6063784" y="4858896"/>
            <a:ext cx="277319" cy="1494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橢圓 133">
            <a:extLst>
              <a:ext uri="{FF2B5EF4-FFF2-40B4-BE49-F238E27FC236}">
                <a16:creationId xmlns:a16="http://schemas.microsoft.com/office/drawing/2014/main" id="{0D28AC14-B088-4AFC-860F-C136F277BA14}"/>
              </a:ext>
            </a:extLst>
          </p:cNvPr>
          <p:cNvSpPr/>
          <p:nvPr/>
        </p:nvSpPr>
        <p:spPr>
          <a:xfrm>
            <a:off x="7391967" y="3748087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115CF9D1-5381-4D19-9E88-1C9240406A90}"/>
              </a:ext>
            </a:extLst>
          </p:cNvPr>
          <p:cNvSpPr/>
          <p:nvPr/>
        </p:nvSpPr>
        <p:spPr>
          <a:xfrm>
            <a:off x="6937213" y="4369670"/>
            <a:ext cx="432048" cy="42262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7" name="橢圓 136">
            <a:extLst>
              <a:ext uri="{FF2B5EF4-FFF2-40B4-BE49-F238E27FC236}">
                <a16:creationId xmlns:a16="http://schemas.microsoft.com/office/drawing/2014/main" id="{F307B6FE-505C-488A-BB7A-160C05AAD1A9}"/>
              </a:ext>
            </a:extLst>
          </p:cNvPr>
          <p:cNvSpPr/>
          <p:nvPr/>
        </p:nvSpPr>
        <p:spPr>
          <a:xfrm>
            <a:off x="665417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38" name="橢圓 137">
            <a:extLst>
              <a:ext uri="{FF2B5EF4-FFF2-40B4-BE49-F238E27FC236}">
                <a16:creationId xmlns:a16="http://schemas.microsoft.com/office/drawing/2014/main" id="{9DC947D0-047E-4AF3-AFD2-9006438004ED}"/>
              </a:ext>
            </a:extLst>
          </p:cNvPr>
          <p:cNvSpPr/>
          <p:nvPr/>
        </p:nvSpPr>
        <p:spPr>
          <a:xfrm>
            <a:off x="7183617" y="5008315"/>
            <a:ext cx="432048" cy="43204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9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AECC03FF-20FA-4B26-9B96-464773680CB3}"/>
              </a:ext>
            </a:extLst>
          </p:cNvPr>
          <p:cNvCxnSpPr>
            <a:cxnSpLocks/>
            <a:stCxn id="119" idx="2"/>
            <a:endCxn id="134" idx="0"/>
          </p:cNvCxnSpPr>
          <p:nvPr/>
        </p:nvCxnSpPr>
        <p:spPr>
          <a:xfrm>
            <a:off x="6496040" y="3622229"/>
            <a:ext cx="1111951" cy="125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2E41516C-1DCF-4270-B52F-0643DFD41E5C}"/>
              </a:ext>
            </a:extLst>
          </p:cNvPr>
          <p:cNvCxnSpPr>
            <a:stCxn id="134" idx="3"/>
            <a:endCxn id="135" idx="0"/>
          </p:cNvCxnSpPr>
          <p:nvPr/>
        </p:nvCxnSpPr>
        <p:spPr>
          <a:xfrm flipH="1">
            <a:off x="7153237" y="4116863"/>
            <a:ext cx="302002" cy="252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線接點 143">
            <a:extLst>
              <a:ext uri="{FF2B5EF4-FFF2-40B4-BE49-F238E27FC236}">
                <a16:creationId xmlns:a16="http://schemas.microsoft.com/office/drawing/2014/main" id="{B2A759BD-BE85-4FBC-88B7-E02BD4533B42}"/>
              </a:ext>
            </a:extLst>
          </p:cNvPr>
          <p:cNvCxnSpPr>
            <a:stCxn id="135" idx="2"/>
            <a:endCxn id="137" idx="0"/>
          </p:cNvCxnSpPr>
          <p:nvPr/>
        </p:nvCxnSpPr>
        <p:spPr>
          <a:xfrm flipH="1">
            <a:off x="6870201" y="4792292"/>
            <a:ext cx="283036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E962D38A-4268-4C22-84BE-8ABD06FAE06F}"/>
              </a:ext>
            </a:extLst>
          </p:cNvPr>
          <p:cNvCxnSpPr>
            <a:stCxn id="135" idx="2"/>
            <a:endCxn id="138" idx="0"/>
          </p:cNvCxnSpPr>
          <p:nvPr/>
        </p:nvCxnSpPr>
        <p:spPr>
          <a:xfrm>
            <a:off x="7153237" y="4792292"/>
            <a:ext cx="246404" cy="2160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線接點 148">
            <a:extLst>
              <a:ext uri="{FF2B5EF4-FFF2-40B4-BE49-F238E27FC236}">
                <a16:creationId xmlns:a16="http://schemas.microsoft.com/office/drawing/2014/main" id="{3014D229-CD51-43B1-8518-D23585D825E2}"/>
              </a:ext>
            </a:extLst>
          </p:cNvPr>
          <p:cNvCxnSpPr>
            <a:stCxn id="89" idx="2"/>
          </p:cNvCxnSpPr>
          <p:nvPr/>
        </p:nvCxnSpPr>
        <p:spPr>
          <a:xfrm flipH="1">
            <a:off x="2005034" y="2636413"/>
            <a:ext cx="2135227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1C6EB01E-DBA6-4A91-ADD4-F08BB7B54987}"/>
              </a:ext>
            </a:extLst>
          </p:cNvPr>
          <p:cNvCxnSpPr>
            <a:stCxn id="89" idx="6"/>
            <a:endCxn id="119" idx="0"/>
          </p:cNvCxnSpPr>
          <p:nvPr/>
        </p:nvCxnSpPr>
        <p:spPr>
          <a:xfrm>
            <a:off x="4572309" y="2636413"/>
            <a:ext cx="1923731" cy="563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2E9A9E07-3385-4A81-A948-A33B4C367957}"/>
              </a:ext>
            </a:extLst>
          </p:cNvPr>
          <p:cNvSpPr txBox="1"/>
          <p:nvPr/>
        </p:nvSpPr>
        <p:spPr>
          <a:xfrm>
            <a:off x="3423933" y="1941579"/>
            <a:ext cx="26082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EVAL(S)=(7,8]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F8880DD2-450B-4C87-B2F1-B04BA51E0FEF}"/>
              </a:ext>
            </a:extLst>
          </p:cNvPr>
          <p:cNvSpPr txBox="1"/>
          <p:nvPr/>
        </p:nvSpPr>
        <p:spPr>
          <a:xfrm>
            <a:off x="1727715" y="323631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977AB3D1-F18D-43AB-B34D-0EB45ADD81E6}"/>
              </a:ext>
            </a:extLst>
          </p:cNvPr>
          <p:cNvSpPr txBox="1"/>
          <p:nvPr/>
        </p:nvSpPr>
        <p:spPr>
          <a:xfrm>
            <a:off x="856196" y="3794219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F3BDB61-8310-4C8B-B4B4-9CF7495A2BFD}"/>
              </a:ext>
            </a:extLst>
          </p:cNvPr>
          <p:cNvSpPr txBox="1"/>
          <p:nvPr/>
        </p:nvSpPr>
        <p:spPr>
          <a:xfrm>
            <a:off x="287808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字方塊 84">
            <a:extLst>
              <a:ext uri="{FF2B5EF4-FFF2-40B4-BE49-F238E27FC236}">
                <a16:creationId xmlns:a16="http://schemas.microsoft.com/office/drawing/2014/main" id="{922F1C68-94F9-4109-9C56-5327DC4B86E6}"/>
              </a:ext>
            </a:extLst>
          </p:cNvPr>
          <p:cNvSpPr txBox="1"/>
          <p:nvPr/>
        </p:nvSpPr>
        <p:spPr>
          <a:xfrm>
            <a:off x="1353289" y="442145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146D7942-D18D-4CC1-B46E-8AE518902652}"/>
              </a:ext>
            </a:extLst>
          </p:cNvPr>
          <p:cNvSpPr txBox="1"/>
          <p:nvPr/>
        </p:nvSpPr>
        <p:spPr>
          <a:xfrm>
            <a:off x="6063783" y="3273608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>
            <a:extLst>
              <a:ext uri="{FF2B5EF4-FFF2-40B4-BE49-F238E27FC236}">
                <a16:creationId xmlns:a16="http://schemas.microsoft.com/office/drawing/2014/main" id="{C5829C94-1C11-4C84-ABCF-EC6E33E3B94C}"/>
              </a:ext>
            </a:extLst>
          </p:cNvPr>
          <p:cNvSpPr txBox="1"/>
          <p:nvPr/>
        </p:nvSpPr>
        <p:spPr>
          <a:xfrm>
            <a:off x="5138504" y="3802987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>
            <a:extLst>
              <a:ext uri="{FF2B5EF4-FFF2-40B4-BE49-F238E27FC236}">
                <a16:creationId xmlns:a16="http://schemas.microsoft.com/office/drawing/2014/main" id="{BFD54000-011A-4C9D-ACE2-1198F7DC20C4}"/>
              </a:ext>
            </a:extLst>
          </p:cNvPr>
          <p:cNvSpPr txBox="1"/>
          <p:nvPr/>
        </p:nvSpPr>
        <p:spPr>
          <a:xfrm>
            <a:off x="4617776" y="4408521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3A52277-DCD3-47EE-A5DA-32F6B692DA71}"/>
              </a:ext>
            </a:extLst>
          </p:cNvPr>
          <p:cNvSpPr txBox="1"/>
          <p:nvPr/>
        </p:nvSpPr>
        <p:spPr>
          <a:xfrm>
            <a:off x="5643470" y="4478936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EF8EACF6-0CD9-4550-8AE3-DBDF865185A9}"/>
              </a:ext>
            </a:extLst>
          </p:cNvPr>
          <p:cNvSpPr txBox="1"/>
          <p:nvPr/>
        </p:nvSpPr>
        <p:spPr>
          <a:xfrm>
            <a:off x="7222561" y="3771454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DDD0F2B7-7CE6-4A51-9575-22B3F1E81492}"/>
              </a:ext>
            </a:extLst>
          </p:cNvPr>
          <p:cNvSpPr txBox="1"/>
          <p:nvPr/>
        </p:nvSpPr>
        <p:spPr>
          <a:xfrm>
            <a:off x="6763562" y="4365743"/>
            <a:ext cx="1850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6BE5C142-7037-45FE-A439-6535360BA738}"/>
              </a:ext>
            </a:extLst>
          </p:cNvPr>
          <p:cNvSpPr txBox="1"/>
          <p:nvPr/>
        </p:nvSpPr>
        <p:spPr>
          <a:xfrm>
            <a:off x="0" y="5606337"/>
            <a:ext cx="9144000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MAX, return TRUE as soon as one successor is found to be found to be larger than v</a:t>
            </a:r>
          </a:p>
          <a:p>
            <a:pPr lvl="1" algn="just">
              <a:lnSpc>
                <a:spcPts val="3200"/>
              </a:lnSpc>
            </a:pPr>
            <a:r>
              <a:rPr lang="en-US" altLang="zh-TW" sz="1800" dirty="0">
                <a:latin typeface="Times New Roman"/>
                <a:ea typeface="+mn-lt"/>
                <a:cs typeface="+mn-lt"/>
              </a:rPr>
              <a:t>MIN, return FALSE as soon as one successor is found to be smaller than or equal to v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5669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67016-7F76-4D83-95F9-AD1EC3BD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8" name="圖片 27">
            <a:extLst>
              <a:ext uri="{FF2B5EF4-FFF2-40B4-BE49-F238E27FC236}">
                <a16:creationId xmlns:a16="http://schemas.microsoft.com/office/drawing/2014/main" id="{C369725A-D73F-46BA-B1F8-8218D767BE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82" y="1772816"/>
            <a:ext cx="7948435" cy="445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43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67016-7F76-4D83-95F9-AD1EC3BD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0723778-F159-47FF-ABED-F7312A949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720" y="1417638"/>
            <a:ext cx="771856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74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67016-7F76-4D83-95F9-AD1EC3BD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A3785F6-347A-4B0A-8D6C-52BE96DAFA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91" y="1417638"/>
            <a:ext cx="7719417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6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67016-7F76-4D83-95F9-AD1EC3BD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A9DC011-0203-477C-B83D-886128AB4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03" y="1417638"/>
            <a:ext cx="770659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9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67016-7F76-4D83-95F9-AD1EC3BD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Kalah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6AA1B8-8C34-4B8E-9D53-8768FF3983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03" y="1422303"/>
            <a:ext cx="7706593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8617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67016-7F76-4D83-95F9-AD1EC3BDE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F0B2777-A55C-402C-A63B-9C0DF4E29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4020"/>
            <a:ext cx="9144000" cy="402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598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11614</TotalTime>
  <Words>3081</Words>
  <Application>Microsoft Office PowerPoint</Application>
  <PresentationFormat>如螢幕大小 (4:3)</PresentationFormat>
  <Paragraphs>1128</Paragraphs>
  <Slides>53</Slides>
  <Notes>47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53</vt:i4>
      </vt:variant>
    </vt:vector>
  </HeadingPairs>
  <TitlesOfParts>
    <vt:vector size="58" baseType="lpstr">
      <vt:lpstr>Arial</vt:lpstr>
      <vt:lpstr>Calibri</vt:lpstr>
      <vt:lpstr>Cambria Math</vt:lpstr>
      <vt:lpstr>Times New Roman</vt:lpstr>
      <vt:lpstr>Office 佈景主題</vt:lpstr>
      <vt:lpstr>SCOUT: A Simple Game-Searching Algorithm with Proven Optimal Properties</vt:lpstr>
      <vt:lpstr>Abstract</vt:lpstr>
      <vt:lpstr>Minimax algorithm</vt:lpstr>
      <vt:lpstr>Minimax algorithm</vt:lpstr>
      <vt:lpstr>Minimax algorithm</vt:lpstr>
      <vt:lpstr>Minimax algorithm</vt:lpstr>
      <vt:lpstr>Minimax algorithm</vt:lpstr>
      <vt:lpstr>Minimax algorithm</vt:lpstr>
      <vt:lpstr>αβ algorithm</vt:lpstr>
      <vt:lpstr>αβ algorithm</vt:lpstr>
      <vt:lpstr>αβ algorithm</vt:lpstr>
      <vt:lpstr>αβ algorithm</vt:lpstr>
      <vt:lpstr>αβ algorithm</vt:lpstr>
      <vt:lpstr>αβ algorithm</vt:lpstr>
      <vt:lpstr>αβ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Scout algorithm</vt:lpstr>
      <vt:lpstr>Kalah</vt:lpstr>
      <vt:lpstr>Kalah</vt:lpstr>
      <vt:lpstr>Kalah</vt:lpstr>
      <vt:lpstr>Kalah</vt:lpstr>
      <vt:lpstr>Kalah</vt:lpstr>
      <vt:lpstr>Experimental 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faster algorithm for finding shortest substring matches of a regular expression</dc:title>
  <dc:creator>M093040098</dc:creator>
  <cp:lastModifiedBy>M093040098</cp:lastModifiedBy>
  <cp:revision>383</cp:revision>
  <dcterms:created xsi:type="dcterms:W3CDTF">2020-10-30T08:30:28Z</dcterms:created>
  <dcterms:modified xsi:type="dcterms:W3CDTF">2022-03-08T10:23:22Z</dcterms:modified>
</cp:coreProperties>
</file>