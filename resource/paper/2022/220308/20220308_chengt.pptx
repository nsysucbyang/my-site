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59" r:id="rId4"/>
    <p:sldId id="260" r:id="rId5"/>
    <p:sldId id="261" r:id="rId6"/>
    <p:sldId id="267" r:id="rId7"/>
    <p:sldId id="278" r:id="rId8"/>
    <p:sldId id="268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62" r:id="rId24"/>
    <p:sldId id="263" r:id="rId25"/>
    <p:sldId id="286" r:id="rId26"/>
    <p:sldId id="265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66" r:id="rId35"/>
    <p:sldId id="294" r:id="rId3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1A6C-2C44-478D-971D-C6B8D23831BB}" type="datetimeFigureOut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8E3AD-4DDF-46F0-847C-9E019181D1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39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F9860-E560-416D-9431-5E47F3244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9134497-E75B-48A4-91DD-EA0D8766E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863F84-58C6-42BD-8450-BB1EF0A0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348C-36CF-493F-87A0-F09F5C79557B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432305-1513-4FF2-B137-EE8BE607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45DE15-CC67-477E-9512-252BB1C1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61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0FF7CE-2933-4750-A85D-DACE9F91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F8675F-A7F4-411C-87FE-AF53DB23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D891A1-BED0-4372-94A4-FAEA0FDB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CB8-68CC-40D0-8B95-D3C3A7ADB4E8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DB4587-43E1-4B31-85FA-4F512D06B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62905B-D2C7-4BB5-A1C0-9C466C3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源流明體 M" panose="02020500000000000000" pitchFamily="18" charset="-120"/>
                <a:ea typeface="源流明體 M" panose="02020500000000000000" pitchFamily="18" charset="-120"/>
              </a:defRPr>
            </a:lvl1pPr>
          </a:lstStyle>
          <a:p>
            <a:fld id="{4CD2C34A-D3D3-4A9B-8692-9279E332F0C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470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A837B-11EB-4BCD-BB75-016BDBC7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1CEDA6-E03F-4FC9-9AE0-3165E22F8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B5DA1D-6AE9-48E7-B940-0B03E717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9369E-9364-4DE1-B777-922645A66F1A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AA8402-DA28-4A1A-A558-D9347B92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9B33D7-3156-4125-A854-05E2F5EC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13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C2D9AB-19FC-4A41-8B16-512340B3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27EFF3-6358-445E-AB7A-1BC735609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0E9C49-7EE0-48B3-B571-72D3290F1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1A1EF6-39FE-482A-8143-781B6CB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FF31-668F-4AB9-96F0-D30DF02CF383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9D48EB-695D-48D5-972D-703BA95F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0DEBC84-B4B2-48A5-9453-4968DF60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30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64652-1B77-4696-A668-DE346840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EA96D6-19BA-4F0C-9D27-5E3C91262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D1974A-B943-4208-8541-2CC976952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423B03-A8AF-4A4A-8E8F-F37A0EC21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8F243B-B7F9-4BFF-961C-9D0B9CDCA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FF30C15-CFD8-4836-816C-2F7AD002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F927-1548-411C-9F0A-7E2338821FD2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B75EC47-F26E-4E34-8F29-34396015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0357AA1-531D-48AF-9CCE-B1E9F1D5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38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1D42C-7250-4132-82B5-5BC22B5A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A93FF5C-9744-48EF-A3FE-F6AB3634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5000-B342-4B97-BFC6-0D5CDADFA95C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01019B5-97EB-4FAA-B9E0-A8872AE7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A332F1-DF5D-4F87-97BF-68EBD8F1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90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876C78C-4473-4753-A6D0-22BA1F476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F939-D763-48D5-8B03-D0F1129A1E9E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A9D2FC-48F6-4EB8-9020-7AACF6C9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61A111-BA32-4DCC-B1B3-F6F29930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7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6626C-3788-4FAE-8B9A-B23CC278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050D94-23AF-4060-B5E4-D28F7AF29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7E624D-101B-4B1B-A033-653188284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3E474D-7185-4142-8E1A-C096A190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AF7E-03FF-47C7-BE82-6927213C9CE5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8FD9AE-93F8-4516-981E-888A3585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C235FE-7EC6-45BD-AFD3-28E23622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626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BEFEB1-3B54-45E8-9090-D0CF4FF9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CBE35E7-646E-4404-821A-D22E70E0B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357CA3-B57C-4FE1-AA0C-39A1BB09A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38B033-98F0-477A-A016-863BD32F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A15A-BC96-4FDC-81B9-0D28C6E02324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7603EF-D0A2-4BE2-BB6E-F1E74285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60FDF8-CDA0-4176-93FB-878ED2BD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22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E1F33-6DA3-4E3D-A50B-59EF3784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53AB78-8699-463C-8D35-0DAE4736C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0C9C6C-B437-4A6A-B50E-D76A9DFE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8257-1A0C-4C00-86B7-D3CBE1E4FDE3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009B86-8BAF-49D3-9FBD-AF620355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B07FA9-F3F7-4DA7-A0F4-66D3B567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16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C295D24-4D4D-472A-AB73-D1239EA9C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DB5D60-51C4-436D-BBDD-F77793327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32C48-A4E5-459A-B5AA-57D86A08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1720-F347-4FFB-ADA5-0AD2EE56A4E5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1A3D36-B64D-4E79-8824-D40005CB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CBCD96-2981-4CEB-BF02-CDF1449F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32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588B45C-60F2-4BCE-B810-D930011E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153474-8A42-4461-A925-C46F6448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84AEC-A2FC-47EE-8B0B-6CF68B838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A89E-5F59-45C6-916E-2029F486A7DF}" type="datetime1">
              <a:rPr lang="zh-TW" altLang="en-US" smtClean="0"/>
              <a:t>2022/3/8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89F9A5-C535-4FCE-9462-8748EDBDF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D0B99F-AC6F-4C56-843B-B3324F719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1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143474-6387-4BE8-A4BF-0CDEA6765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806" y="1122363"/>
            <a:ext cx="11164389" cy="2387600"/>
          </a:xfrm>
        </p:spPr>
        <p:txBody>
          <a:bodyPr/>
          <a:lstStyle/>
          <a:p>
            <a:r>
              <a:rPr lang="en-US" altLang="zh-TW" dirty="0"/>
              <a:t>Order preserving pattern matching revisited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B8BEBC-EA8D-40AC-8B6F-CE2FB945F5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Md. </a:t>
            </a:r>
            <a:r>
              <a:rPr lang="en-US" altLang="zh-TW" dirty="0" err="1"/>
              <a:t>Mahbubul</a:t>
            </a:r>
            <a:r>
              <a:rPr lang="en-US" altLang="zh-TW" dirty="0"/>
              <a:t> Hasan, A.S.M. </a:t>
            </a:r>
            <a:r>
              <a:rPr lang="en-US" altLang="zh-TW" dirty="0" err="1"/>
              <a:t>Shohidull</a:t>
            </a:r>
            <a:r>
              <a:rPr lang="en-US" altLang="zh-TW" dirty="0"/>
              <a:t> Islam, </a:t>
            </a:r>
          </a:p>
          <a:p>
            <a:r>
              <a:rPr lang="en-US" altLang="zh-TW" dirty="0"/>
              <a:t>Mohammad </a:t>
            </a:r>
            <a:r>
              <a:rPr lang="en-US" altLang="zh-TW" dirty="0" err="1"/>
              <a:t>Saifur</a:t>
            </a:r>
            <a:r>
              <a:rPr lang="en-US" altLang="zh-TW" dirty="0"/>
              <a:t> Rahman, M. </a:t>
            </a:r>
            <a:r>
              <a:rPr lang="en-US" altLang="zh-TW" dirty="0" err="1"/>
              <a:t>Sohel</a:t>
            </a:r>
            <a:r>
              <a:rPr lang="en-US" altLang="zh-TW" dirty="0"/>
              <a:t> Rahman</a:t>
            </a:r>
          </a:p>
          <a:p>
            <a:r>
              <a:rPr lang="en-US" altLang="zh-TW" dirty="0"/>
              <a:t>Pattern Recognition Letters 55 (2015), pp. 15-21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AB8FE2-23CB-4533-87D5-C2F44C82D244}"/>
              </a:ext>
            </a:extLst>
          </p:cNvPr>
          <p:cNvSpPr txBox="1"/>
          <p:nvPr/>
        </p:nvSpPr>
        <p:spPr>
          <a:xfrm>
            <a:off x="8900160" y="6211669"/>
            <a:ext cx="329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Presenter: Guan-Ting Chen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Date: Mar. </a:t>
            </a:r>
            <a:r>
              <a:rPr lang="en-US" altLang="zh-TW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8, </a:t>
            </a:r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992846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24AF41-DCC8-4BFE-B3AA-9D793E86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BE2A12-C9F0-4093-A018-44F05764C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In this paper, we study the order preserving pattern matching (OPPM) problem, which is a very recent variant of the classic pattern matching problem. We revisit this variant, present a new interesting pattern matching algorithm and for the ﬁrst time consider string regularities from this new perspective.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099A3E-11CF-4D79-A20E-36E8E58CE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723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368854-D193-45F1-A127-77E22B863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Pattern Matching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7A555ED2-142C-4B79-A54D-67788471D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5797" y="1690688"/>
            <a:ext cx="7720406" cy="4827665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B6C1EC-C9D8-42E4-9376-6868169BD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CF8A407-AA2C-43F8-8FAA-B0BF45832C53}"/>
              </a:ext>
            </a:extLst>
          </p:cNvPr>
          <p:cNvSpPr txBox="1"/>
          <p:nvPr/>
        </p:nvSpPr>
        <p:spPr>
          <a:xfrm>
            <a:off x="6783977" y="5381897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1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8B46540-AA84-4392-97AB-29702409ABE7}"/>
              </a:ext>
            </a:extLst>
          </p:cNvPr>
          <p:cNvSpPr txBox="1"/>
          <p:nvPr/>
        </p:nvSpPr>
        <p:spPr>
          <a:xfrm>
            <a:off x="7232468" y="4673594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2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70B1A80-872B-475E-B1C8-735661B3B326}"/>
              </a:ext>
            </a:extLst>
          </p:cNvPr>
          <p:cNvSpPr txBox="1"/>
          <p:nvPr/>
        </p:nvSpPr>
        <p:spPr>
          <a:xfrm>
            <a:off x="5164182" y="4473539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3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04116C1-5D3B-4EDB-A8BC-D01C4A82C97A}"/>
              </a:ext>
            </a:extLst>
          </p:cNvPr>
          <p:cNvSpPr txBox="1"/>
          <p:nvPr/>
        </p:nvSpPr>
        <p:spPr>
          <a:xfrm>
            <a:off x="4646022" y="4073429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CB21F01-EACD-4CD7-9BE8-E40F4469F3F3}"/>
              </a:ext>
            </a:extLst>
          </p:cNvPr>
          <p:cNvSpPr txBox="1"/>
          <p:nvPr/>
        </p:nvSpPr>
        <p:spPr>
          <a:xfrm>
            <a:off x="5717176" y="3823464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5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6D17A8A-C0E6-4771-8BC4-D51B4FC5D409}"/>
              </a:ext>
            </a:extLst>
          </p:cNvPr>
          <p:cNvSpPr txBox="1"/>
          <p:nvPr/>
        </p:nvSpPr>
        <p:spPr>
          <a:xfrm>
            <a:off x="6196019" y="3823464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5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FA55A45-437B-4A0D-9404-533F2C25E6E2}"/>
              </a:ext>
            </a:extLst>
          </p:cNvPr>
          <p:cNvSpPr txBox="1"/>
          <p:nvPr/>
        </p:nvSpPr>
        <p:spPr>
          <a:xfrm>
            <a:off x="7810574" y="3323303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6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111F3-50A1-4C82-9CE8-F5F227E4B8A7}"/>
              </a:ext>
            </a:extLst>
          </p:cNvPr>
          <p:cNvSpPr/>
          <p:nvPr/>
        </p:nvSpPr>
        <p:spPr>
          <a:xfrm>
            <a:off x="4458789" y="1924594"/>
            <a:ext cx="3788228" cy="41975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883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A919AE-C4B3-4D4E-9E19-FF8D2993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Z-function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91DB41-ABC2-4552-A7DD-97E0B34E9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Length of the longest substring of S that starts at position </a:t>
            </a:r>
            <a:r>
              <a:rPr lang="en-US" altLang="zh-TW" dirty="0" err="1"/>
              <a:t>i</a:t>
            </a:r>
            <a:r>
              <a:rPr lang="en-US" altLang="zh-TW" dirty="0"/>
              <a:t> and matches a prefix of S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AF699A-D447-401A-BAA6-D8F77326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6C0F4E5-CD15-4A1A-B1D1-786F17699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9134"/>
            <a:ext cx="12192000" cy="118431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F0AC9B3-C7F3-4593-A2F5-1BF2D59F469C}"/>
              </a:ext>
            </a:extLst>
          </p:cNvPr>
          <p:cNvSpPr/>
          <p:nvPr/>
        </p:nvSpPr>
        <p:spPr>
          <a:xfrm>
            <a:off x="3082834" y="3753394"/>
            <a:ext cx="1262743" cy="365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DB96A5-6974-407F-8915-5F865A372F58}"/>
              </a:ext>
            </a:extLst>
          </p:cNvPr>
          <p:cNvSpPr/>
          <p:nvPr/>
        </p:nvSpPr>
        <p:spPr>
          <a:xfrm>
            <a:off x="6953795" y="3823062"/>
            <a:ext cx="971006" cy="29609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D2F5F1-A963-40ED-82C7-6CC80DAC16AA}"/>
              </a:ext>
            </a:extLst>
          </p:cNvPr>
          <p:cNvSpPr/>
          <p:nvPr/>
        </p:nvSpPr>
        <p:spPr>
          <a:xfrm>
            <a:off x="1084217" y="3753394"/>
            <a:ext cx="1262743" cy="365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13B623-3D65-43D4-9E55-A3135E883675}"/>
              </a:ext>
            </a:extLst>
          </p:cNvPr>
          <p:cNvSpPr/>
          <p:nvPr/>
        </p:nvSpPr>
        <p:spPr>
          <a:xfrm>
            <a:off x="1084217" y="3823062"/>
            <a:ext cx="971006" cy="29169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528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FEAAC1-9A4A-449A-8A5B-E692C3D2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BE3CDA-C623-44D1-AE27-73B3B50BE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Length of the longest prefix P of </a:t>
            </a:r>
            <a:r>
              <a:rPr lang="en-US" altLang="zh-TW" dirty="0" err="1"/>
              <a:t>suffix</a:t>
            </a:r>
            <a:r>
              <a:rPr lang="en-US" altLang="zh-TW" baseline="-25000" dirty="0" err="1"/>
              <a:t>i</a:t>
            </a:r>
            <a:r>
              <a:rPr lang="en-US" altLang="zh-TW" dirty="0"/>
              <a:t>(S) such that σ (P) = σ (S[1, |P|]).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6BBA95-0AFC-4E9B-9B29-41A9263C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18495D-5F72-4D1F-9850-70AFE3CF1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53" y="3429000"/>
            <a:ext cx="6401693" cy="191479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835C379-17F2-444F-97CC-FF4AF1A9B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522" y="2865378"/>
            <a:ext cx="4324954" cy="4286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D0EBAB7-016D-4EDC-B3AD-54F1C2896595}"/>
              </a:ext>
            </a:extLst>
          </p:cNvPr>
          <p:cNvSpPr/>
          <p:nvPr/>
        </p:nvSpPr>
        <p:spPr>
          <a:xfrm>
            <a:off x="4685211" y="4110446"/>
            <a:ext cx="1271452" cy="5225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67F90D-8544-4174-85CA-34348CCB718A}"/>
              </a:ext>
            </a:extLst>
          </p:cNvPr>
          <p:cNvSpPr/>
          <p:nvPr/>
        </p:nvSpPr>
        <p:spPr>
          <a:xfrm>
            <a:off x="5460273" y="4110446"/>
            <a:ext cx="1271452" cy="52251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18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Initialization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140482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FE33B14A-63D2-4142-B417-C32A334D765C}"/>
              </a:ext>
            </a:extLst>
          </p:cNvPr>
          <p:cNvCxnSpPr>
            <a:cxnSpLocks/>
          </p:cNvCxnSpPr>
          <p:nvPr/>
        </p:nvCxnSpPr>
        <p:spPr>
          <a:xfrm>
            <a:off x="3439885" y="2882537"/>
            <a:ext cx="0" cy="60629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02696CD-7BDD-4B5D-BDC3-AF987F9E14D3}"/>
              </a:ext>
            </a:extLst>
          </p:cNvPr>
          <p:cNvCxnSpPr>
            <a:cxnSpLocks/>
          </p:cNvCxnSpPr>
          <p:nvPr/>
        </p:nvCxnSpPr>
        <p:spPr>
          <a:xfrm>
            <a:off x="4053840" y="2882537"/>
            <a:ext cx="0" cy="6062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26320EC-70AD-40B8-A0E5-58B7F948F9BD}"/>
              </a:ext>
            </a:extLst>
          </p:cNvPr>
          <p:cNvSpPr txBox="1"/>
          <p:nvPr/>
        </p:nvSpPr>
        <p:spPr>
          <a:xfrm>
            <a:off x="3252654" y="2472317"/>
            <a:ext cx="365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EDB8A7C-74A2-48CC-8CC5-8F5A7B71D46A}"/>
              </a:ext>
            </a:extLst>
          </p:cNvPr>
          <p:cNvSpPr txBox="1"/>
          <p:nvPr/>
        </p:nvSpPr>
        <p:spPr>
          <a:xfrm>
            <a:off x="3836126" y="2472316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649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err="1"/>
              <a:t>i</a:t>
            </a:r>
            <a:r>
              <a:rPr lang="en-US" altLang="zh-TW" dirty="0"/>
              <a:t> = 2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118048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FE33B14A-63D2-4142-B417-C32A334D765C}"/>
              </a:ext>
            </a:extLst>
          </p:cNvPr>
          <p:cNvCxnSpPr>
            <a:cxnSpLocks/>
          </p:cNvCxnSpPr>
          <p:nvPr/>
        </p:nvCxnSpPr>
        <p:spPr>
          <a:xfrm>
            <a:off x="3439885" y="2882537"/>
            <a:ext cx="0" cy="60629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02696CD-7BDD-4B5D-BDC3-AF987F9E14D3}"/>
              </a:ext>
            </a:extLst>
          </p:cNvPr>
          <p:cNvCxnSpPr>
            <a:cxnSpLocks/>
          </p:cNvCxnSpPr>
          <p:nvPr/>
        </p:nvCxnSpPr>
        <p:spPr>
          <a:xfrm>
            <a:off x="4053840" y="2882537"/>
            <a:ext cx="0" cy="6062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26320EC-70AD-40B8-A0E5-58B7F948F9BD}"/>
              </a:ext>
            </a:extLst>
          </p:cNvPr>
          <p:cNvSpPr txBox="1"/>
          <p:nvPr/>
        </p:nvSpPr>
        <p:spPr>
          <a:xfrm>
            <a:off x="3252654" y="2472317"/>
            <a:ext cx="365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EDB8A7C-74A2-48CC-8CC5-8F5A7B71D46A}"/>
              </a:ext>
            </a:extLst>
          </p:cNvPr>
          <p:cNvSpPr txBox="1"/>
          <p:nvPr/>
        </p:nvSpPr>
        <p:spPr>
          <a:xfrm>
            <a:off x="3836126" y="2472316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260738E-69C2-43B5-98B3-6347B5E6D610}"/>
              </a:ext>
            </a:extLst>
          </p:cNvPr>
          <p:cNvSpPr txBox="1"/>
          <p:nvPr/>
        </p:nvSpPr>
        <p:spPr>
          <a:xfrm>
            <a:off x="2031999" y="4713195"/>
            <a:ext cx="5320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+ 1))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1435E0C-F801-4E44-AC07-1765B35E4778}"/>
              </a:ext>
            </a:extLst>
          </p:cNvPr>
          <p:cNvCxnSpPr>
            <a:cxnSpLocks/>
          </p:cNvCxnSpPr>
          <p:nvPr/>
        </p:nvCxnSpPr>
        <p:spPr>
          <a:xfrm>
            <a:off x="4900744" y="2882537"/>
            <a:ext cx="0" cy="606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44A5A37-AE7F-4898-B25D-4D6C00C93608}"/>
              </a:ext>
            </a:extLst>
          </p:cNvPr>
          <p:cNvSpPr txBox="1"/>
          <p:nvPr/>
        </p:nvSpPr>
        <p:spPr>
          <a:xfrm>
            <a:off x="4706979" y="2472315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05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2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815023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FE33B14A-63D2-4142-B417-C32A334D765C}"/>
              </a:ext>
            </a:extLst>
          </p:cNvPr>
          <p:cNvCxnSpPr>
            <a:cxnSpLocks/>
          </p:cNvCxnSpPr>
          <p:nvPr/>
        </p:nvCxnSpPr>
        <p:spPr>
          <a:xfrm>
            <a:off x="3439885" y="2882537"/>
            <a:ext cx="0" cy="60629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02696CD-7BDD-4B5D-BDC3-AF987F9E14D3}"/>
              </a:ext>
            </a:extLst>
          </p:cNvPr>
          <p:cNvCxnSpPr>
            <a:cxnSpLocks/>
          </p:cNvCxnSpPr>
          <p:nvPr/>
        </p:nvCxnSpPr>
        <p:spPr>
          <a:xfrm>
            <a:off x="4053840" y="2882537"/>
            <a:ext cx="0" cy="6062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26320EC-70AD-40B8-A0E5-58B7F948F9BD}"/>
              </a:ext>
            </a:extLst>
          </p:cNvPr>
          <p:cNvSpPr txBox="1"/>
          <p:nvPr/>
        </p:nvSpPr>
        <p:spPr>
          <a:xfrm>
            <a:off x="3252654" y="2472317"/>
            <a:ext cx="365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EDB8A7C-74A2-48CC-8CC5-8F5A7B71D46A}"/>
              </a:ext>
            </a:extLst>
          </p:cNvPr>
          <p:cNvSpPr txBox="1"/>
          <p:nvPr/>
        </p:nvSpPr>
        <p:spPr>
          <a:xfrm>
            <a:off x="3836126" y="2472316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F7EB3C52-50B9-48B4-8C93-21FE36C799CE}"/>
              </a:ext>
            </a:extLst>
          </p:cNvPr>
          <p:cNvCxnSpPr>
            <a:cxnSpLocks/>
          </p:cNvCxnSpPr>
          <p:nvPr/>
        </p:nvCxnSpPr>
        <p:spPr>
          <a:xfrm>
            <a:off x="4929052" y="4637314"/>
            <a:ext cx="0" cy="606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2EA4150-013F-45A6-BEEE-159C5F68DFDF}"/>
              </a:ext>
            </a:extLst>
          </p:cNvPr>
          <p:cNvSpPr txBox="1"/>
          <p:nvPr/>
        </p:nvSpPr>
        <p:spPr>
          <a:xfrm>
            <a:off x="4711338" y="5378541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1884DD-E647-4B5D-8A01-8F74E55A7AEF}"/>
              </a:ext>
            </a:extLst>
          </p:cNvPr>
          <p:cNvSpPr/>
          <p:nvPr/>
        </p:nvSpPr>
        <p:spPr>
          <a:xfrm>
            <a:off x="3618414" y="3643811"/>
            <a:ext cx="29173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8E9591-192B-489D-A9F3-2F2FD0A5A09F}"/>
              </a:ext>
            </a:extLst>
          </p:cNvPr>
          <p:cNvSpPr/>
          <p:nvPr/>
        </p:nvSpPr>
        <p:spPr>
          <a:xfrm>
            <a:off x="4783183" y="3639346"/>
            <a:ext cx="320765" cy="46166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4F2D1D7-F47A-4AB0-A380-36B69E5BDBAF}"/>
              </a:ext>
            </a:extLst>
          </p:cNvPr>
          <p:cNvCxnSpPr>
            <a:cxnSpLocks/>
          </p:cNvCxnSpPr>
          <p:nvPr/>
        </p:nvCxnSpPr>
        <p:spPr>
          <a:xfrm>
            <a:off x="4900744" y="2882537"/>
            <a:ext cx="0" cy="606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97DA24D-D606-4BE9-8461-28A0B76E85D1}"/>
              </a:ext>
            </a:extLst>
          </p:cNvPr>
          <p:cNvSpPr txBox="1"/>
          <p:nvPr/>
        </p:nvSpPr>
        <p:spPr>
          <a:xfrm>
            <a:off x="4706979" y="2472315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474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2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024DA05A-7D3C-470C-8BEB-DAA7D33E5B63}"/>
              </a:ext>
            </a:extLst>
          </p:cNvPr>
          <p:cNvGrpSpPr/>
          <p:nvPr/>
        </p:nvGrpSpPr>
        <p:grpSpPr>
          <a:xfrm>
            <a:off x="3250473" y="2492364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E9F3764F-5ABB-4E2F-8F7D-D2BC09A841E6}"/>
              </a:ext>
            </a:extLst>
          </p:cNvPr>
          <p:cNvGrpSpPr/>
          <p:nvPr/>
        </p:nvGrpSpPr>
        <p:grpSpPr>
          <a:xfrm>
            <a:off x="3810000" y="2492363"/>
            <a:ext cx="435427" cy="1016511"/>
            <a:chOff x="3836126" y="2472316"/>
            <a:chExt cx="435427" cy="1016511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02696CD-7BDD-4B5D-BDC3-AF987F9E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EDB8A7C-74A2-48CC-8CC5-8F5A7B71D46A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2D0E379-72E6-4C53-8196-0619DA36CF8B}"/>
              </a:ext>
            </a:extLst>
          </p:cNvPr>
          <p:cNvCxnSpPr>
            <a:cxnSpLocks/>
          </p:cNvCxnSpPr>
          <p:nvPr/>
        </p:nvCxnSpPr>
        <p:spPr>
          <a:xfrm>
            <a:off x="4929052" y="4637314"/>
            <a:ext cx="0" cy="606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E51E9A3-33C5-4B52-94D9-1D1803A5E10F}"/>
              </a:ext>
            </a:extLst>
          </p:cNvPr>
          <p:cNvSpPr txBox="1"/>
          <p:nvPr/>
        </p:nvSpPr>
        <p:spPr>
          <a:xfrm>
            <a:off x="4711338" y="5378541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75F4DB-3EBD-408F-BA47-2CB266DA7DFC}"/>
              </a:ext>
            </a:extLst>
          </p:cNvPr>
          <p:cNvSpPr/>
          <p:nvPr/>
        </p:nvSpPr>
        <p:spPr>
          <a:xfrm>
            <a:off x="3618414" y="3643811"/>
            <a:ext cx="1528351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4591B3-33B1-4300-9912-0D0B2B6D3AE2}"/>
              </a:ext>
            </a:extLst>
          </p:cNvPr>
          <p:cNvSpPr/>
          <p:nvPr/>
        </p:nvSpPr>
        <p:spPr>
          <a:xfrm>
            <a:off x="4711338" y="3643810"/>
            <a:ext cx="1706879" cy="46166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A8426C0-0405-4FBF-95B7-D2B488D66324}"/>
              </a:ext>
            </a:extLst>
          </p:cNvPr>
          <p:cNvCxnSpPr>
            <a:cxnSpLocks/>
          </p:cNvCxnSpPr>
          <p:nvPr/>
        </p:nvCxnSpPr>
        <p:spPr>
          <a:xfrm>
            <a:off x="4900744" y="2882537"/>
            <a:ext cx="0" cy="606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44459DC-9416-4FCE-93C5-76DEAC9EECCE}"/>
              </a:ext>
            </a:extLst>
          </p:cNvPr>
          <p:cNvSpPr txBox="1"/>
          <p:nvPr/>
        </p:nvSpPr>
        <p:spPr>
          <a:xfrm>
            <a:off x="4706979" y="2472315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86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2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883466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024DA05A-7D3C-470C-8BEB-DAA7D33E5B63}"/>
              </a:ext>
            </a:extLst>
          </p:cNvPr>
          <p:cNvGrpSpPr/>
          <p:nvPr/>
        </p:nvGrpSpPr>
        <p:grpSpPr>
          <a:xfrm>
            <a:off x="3250473" y="2492364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E9F3764F-5ABB-4E2F-8F7D-D2BC09A841E6}"/>
              </a:ext>
            </a:extLst>
          </p:cNvPr>
          <p:cNvGrpSpPr/>
          <p:nvPr/>
        </p:nvGrpSpPr>
        <p:grpSpPr>
          <a:xfrm>
            <a:off x="3810000" y="2492363"/>
            <a:ext cx="435427" cy="1016511"/>
            <a:chOff x="3836126" y="2472316"/>
            <a:chExt cx="435427" cy="1016511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02696CD-7BDD-4B5D-BDC3-AF987F9E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EDB8A7C-74A2-48CC-8CC5-8F5A7B71D46A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E175F4DB-3EBD-408F-BA47-2CB266DA7DFC}"/>
              </a:ext>
            </a:extLst>
          </p:cNvPr>
          <p:cNvSpPr/>
          <p:nvPr/>
        </p:nvSpPr>
        <p:spPr>
          <a:xfrm>
            <a:off x="3618414" y="3643811"/>
            <a:ext cx="2660464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4591B3-33B1-4300-9912-0D0B2B6D3AE2}"/>
              </a:ext>
            </a:extLst>
          </p:cNvPr>
          <p:cNvSpPr/>
          <p:nvPr/>
        </p:nvSpPr>
        <p:spPr>
          <a:xfrm>
            <a:off x="4711338" y="3643810"/>
            <a:ext cx="2761339" cy="46166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乘號 7">
            <a:extLst>
              <a:ext uri="{FF2B5EF4-FFF2-40B4-BE49-F238E27FC236}">
                <a16:creationId xmlns:a16="http://schemas.microsoft.com/office/drawing/2014/main" id="{4DDFAA3D-88B4-462A-880A-DD2E403D997D}"/>
              </a:ext>
            </a:extLst>
          </p:cNvPr>
          <p:cNvSpPr/>
          <p:nvPr/>
        </p:nvSpPr>
        <p:spPr>
          <a:xfrm>
            <a:off x="6815439" y="2750602"/>
            <a:ext cx="936000" cy="936637"/>
          </a:xfrm>
          <a:prstGeom prst="mathMultiply">
            <a:avLst>
              <a:gd name="adj1" fmla="val 1421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21CCAF5-102B-4F32-83CC-C9F282EB42B7}"/>
              </a:ext>
            </a:extLst>
          </p:cNvPr>
          <p:cNvCxnSpPr>
            <a:cxnSpLocks/>
          </p:cNvCxnSpPr>
          <p:nvPr/>
        </p:nvCxnSpPr>
        <p:spPr>
          <a:xfrm>
            <a:off x="4900744" y="2882537"/>
            <a:ext cx="0" cy="606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83B9A9F-28D0-40DF-86BD-4B7919CB644C}"/>
              </a:ext>
            </a:extLst>
          </p:cNvPr>
          <p:cNvSpPr txBox="1"/>
          <p:nvPr/>
        </p:nvSpPr>
        <p:spPr>
          <a:xfrm>
            <a:off x="4706979" y="2472315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45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2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1CC10656-A59A-46C2-BE37-13D13FA913E9}"/>
              </a:ext>
            </a:extLst>
          </p:cNvPr>
          <p:cNvGrpSpPr/>
          <p:nvPr/>
        </p:nvGrpSpPr>
        <p:grpSpPr>
          <a:xfrm>
            <a:off x="4478380" y="2485074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4F221DE-8AAB-4641-866F-C83B41799EEE}"/>
              </a:ext>
            </a:extLst>
          </p:cNvPr>
          <p:cNvGrpSpPr/>
          <p:nvPr/>
        </p:nvGrpSpPr>
        <p:grpSpPr>
          <a:xfrm>
            <a:off x="5878285" y="2485073"/>
            <a:ext cx="435427" cy="1016511"/>
            <a:chOff x="3836126" y="2472316"/>
            <a:chExt cx="435427" cy="1016511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02696CD-7BDD-4B5D-BDC3-AF987F9E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EDB8A7C-74A2-48CC-8CC5-8F5A7B71D46A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245F9ABA-1F53-4995-A369-0A9789EEF03A}"/>
              </a:ext>
            </a:extLst>
          </p:cNvPr>
          <p:cNvSpPr txBox="1"/>
          <p:nvPr/>
        </p:nvSpPr>
        <p:spPr>
          <a:xfrm>
            <a:off x="2031999" y="4767422"/>
            <a:ext cx="259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-1 &gt;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 =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- 1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7DC7631-B08D-48AF-AF68-05C24211F644}"/>
              </a:ext>
            </a:extLst>
          </p:cNvPr>
          <p:cNvGrpSpPr/>
          <p:nvPr/>
        </p:nvGrpSpPr>
        <p:grpSpPr>
          <a:xfrm>
            <a:off x="4941021" y="2472316"/>
            <a:ext cx="435427" cy="1029268"/>
            <a:chOff x="4941021" y="2472316"/>
            <a:chExt cx="435427" cy="1029268"/>
          </a:xfrm>
        </p:grpSpPr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6E5FE565-043C-4A7E-8267-8BCCBE4D9517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39ACB223-7804-455E-AC8F-155F163D9B33}"/>
                </a:ext>
              </a:extLst>
            </p:cNvPr>
            <p:cNvSpPr txBox="1"/>
            <p:nvPr/>
          </p:nvSpPr>
          <p:spPr>
            <a:xfrm>
              <a:off x="4941021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5766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3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162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1CC10656-A59A-46C2-BE37-13D13FA913E9}"/>
              </a:ext>
            </a:extLst>
          </p:cNvPr>
          <p:cNvGrpSpPr/>
          <p:nvPr/>
        </p:nvGrpSpPr>
        <p:grpSpPr>
          <a:xfrm>
            <a:off x="4730930" y="2472317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4F221DE-8AAB-4641-866F-C83B41799EEE}"/>
              </a:ext>
            </a:extLst>
          </p:cNvPr>
          <p:cNvGrpSpPr/>
          <p:nvPr/>
        </p:nvGrpSpPr>
        <p:grpSpPr>
          <a:xfrm>
            <a:off x="6183085" y="2472316"/>
            <a:ext cx="435427" cy="1016511"/>
            <a:chOff x="3836126" y="2472316"/>
            <a:chExt cx="435427" cy="1016511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02696CD-7BDD-4B5D-BDC3-AF987F9E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EDB8A7C-74A2-48CC-8CC5-8F5A7B71D46A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245F9ABA-1F53-4995-A369-0A9789EEF03A}"/>
              </a:ext>
            </a:extLst>
          </p:cNvPr>
          <p:cNvSpPr txBox="1"/>
          <p:nvPr/>
        </p:nvSpPr>
        <p:spPr>
          <a:xfrm>
            <a:off x="2031999" y="4713195"/>
            <a:ext cx="5320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+ 1))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B1D4997-ADFE-49E3-A729-D2B02D7527B9}"/>
              </a:ext>
            </a:extLst>
          </p:cNvPr>
          <p:cNvGrpSpPr/>
          <p:nvPr/>
        </p:nvGrpSpPr>
        <p:grpSpPr>
          <a:xfrm>
            <a:off x="5528859" y="2472315"/>
            <a:ext cx="435427" cy="1036559"/>
            <a:chOff x="4936679" y="2465025"/>
            <a:chExt cx="435427" cy="1036559"/>
          </a:xfrm>
        </p:grpSpPr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A30FC9A2-7A28-4597-B490-8DD5F9B8C055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334C8CD8-D325-4C48-A022-5B42B4112F13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403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3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1CC10656-A59A-46C2-BE37-13D13FA913E9}"/>
              </a:ext>
            </a:extLst>
          </p:cNvPr>
          <p:cNvGrpSpPr/>
          <p:nvPr/>
        </p:nvGrpSpPr>
        <p:grpSpPr>
          <a:xfrm>
            <a:off x="4730930" y="2472317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31BB5EE-45FB-40A3-9EC9-61F1042F783E}"/>
              </a:ext>
            </a:extLst>
          </p:cNvPr>
          <p:cNvSpPr/>
          <p:nvPr/>
        </p:nvSpPr>
        <p:spPr>
          <a:xfrm>
            <a:off x="3618414" y="3643811"/>
            <a:ext cx="1528351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6DC9E8-BA67-4EF1-9776-D2A835E77F71}"/>
              </a:ext>
            </a:extLst>
          </p:cNvPr>
          <p:cNvSpPr/>
          <p:nvPr/>
        </p:nvSpPr>
        <p:spPr>
          <a:xfrm>
            <a:off x="5799909" y="3643810"/>
            <a:ext cx="1706879" cy="46166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乘號 18">
            <a:extLst>
              <a:ext uri="{FF2B5EF4-FFF2-40B4-BE49-F238E27FC236}">
                <a16:creationId xmlns:a16="http://schemas.microsoft.com/office/drawing/2014/main" id="{A9C75281-785E-4A60-96AB-2A129DF63C2B}"/>
              </a:ext>
            </a:extLst>
          </p:cNvPr>
          <p:cNvSpPr/>
          <p:nvPr/>
        </p:nvSpPr>
        <p:spPr>
          <a:xfrm>
            <a:off x="7147644" y="2717363"/>
            <a:ext cx="936000" cy="936637"/>
          </a:xfrm>
          <a:prstGeom prst="mathMultiply">
            <a:avLst>
              <a:gd name="adj1" fmla="val 1421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AEFD6AE4-AE30-4693-B326-A79043FA6A72}"/>
              </a:ext>
            </a:extLst>
          </p:cNvPr>
          <p:cNvGrpSpPr/>
          <p:nvPr/>
        </p:nvGrpSpPr>
        <p:grpSpPr>
          <a:xfrm>
            <a:off x="6183085" y="2472316"/>
            <a:ext cx="435427" cy="1016511"/>
            <a:chOff x="3836126" y="2472316"/>
            <a:chExt cx="435427" cy="1016511"/>
          </a:xfrm>
        </p:grpSpPr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7F932E15-9B3A-426E-B4AF-20E4BB5DEEAE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59D19F2B-6E3E-4433-A202-F901F9F057F1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8D5D7416-182A-4B7F-843B-CD03E78563C5}"/>
              </a:ext>
            </a:extLst>
          </p:cNvPr>
          <p:cNvGrpSpPr/>
          <p:nvPr/>
        </p:nvGrpSpPr>
        <p:grpSpPr>
          <a:xfrm>
            <a:off x="5528859" y="2472315"/>
            <a:ext cx="435427" cy="1036559"/>
            <a:chOff x="4936679" y="2465025"/>
            <a:chExt cx="435427" cy="1036559"/>
          </a:xfrm>
        </p:grpSpPr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CA84B3A7-768F-44CF-B44C-6603C1933E3E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92A0E02D-9849-4B79-BD85-EA5A2FF893BE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9231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3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274345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1CC10656-A59A-46C2-BE37-13D13FA913E9}"/>
              </a:ext>
            </a:extLst>
          </p:cNvPr>
          <p:cNvGrpSpPr/>
          <p:nvPr/>
        </p:nvGrpSpPr>
        <p:grpSpPr>
          <a:xfrm>
            <a:off x="4730930" y="2472317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4349018-B551-4E78-8B44-A241828E2998}"/>
              </a:ext>
            </a:extLst>
          </p:cNvPr>
          <p:cNvSpPr txBox="1"/>
          <p:nvPr/>
        </p:nvSpPr>
        <p:spPr>
          <a:xfrm>
            <a:off x="2031999" y="4767422"/>
            <a:ext cx="259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-1 &gt;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 =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- 1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1225A3DD-DA51-47E2-A1E9-F172D96334BB}"/>
              </a:ext>
            </a:extLst>
          </p:cNvPr>
          <p:cNvGrpSpPr/>
          <p:nvPr/>
        </p:nvGrpSpPr>
        <p:grpSpPr>
          <a:xfrm>
            <a:off x="6183085" y="2472316"/>
            <a:ext cx="435427" cy="1016511"/>
            <a:chOff x="3836126" y="2472316"/>
            <a:chExt cx="435427" cy="1016511"/>
          </a:xfrm>
        </p:grpSpPr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AD6074AD-63E9-4174-BD22-5E5A5C2AFC98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998D4BAB-EE59-4D1C-BD50-B69651D18D60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6F72244-2A44-4031-8E0F-9651A9198036}"/>
              </a:ext>
            </a:extLst>
          </p:cNvPr>
          <p:cNvGrpSpPr/>
          <p:nvPr/>
        </p:nvGrpSpPr>
        <p:grpSpPr>
          <a:xfrm>
            <a:off x="5528859" y="2472315"/>
            <a:ext cx="435427" cy="1036559"/>
            <a:chOff x="4936679" y="2465025"/>
            <a:chExt cx="435427" cy="1036559"/>
          </a:xfrm>
        </p:grpSpPr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09D453A-6DB7-4D84-B661-C839CAB2921A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C574CCBE-2826-4394-873F-074A9D977580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2672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4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41466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1CC10656-A59A-46C2-BE37-13D13FA913E9}"/>
              </a:ext>
            </a:extLst>
          </p:cNvPr>
          <p:cNvGrpSpPr/>
          <p:nvPr/>
        </p:nvGrpSpPr>
        <p:grpSpPr>
          <a:xfrm>
            <a:off x="4730930" y="2472317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4F221DE-8AAB-4641-866F-C83B41799EEE}"/>
              </a:ext>
            </a:extLst>
          </p:cNvPr>
          <p:cNvGrpSpPr/>
          <p:nvPr/>
        </p:nvGrpSpPr>
        <p:grpSpPr>
          <a:xfrm>
            <a:off x="5878285" y="2472316"/>
            <a:ext cx="435427" cy="1016511"/>
            <a:chOff x="3836126" y="2472316"/>
            <a:chExt cx="435427" cy="1016511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02696CD-7BDD-4B5D-BDC3-AF987F9E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EDB8A7C-74A2-48CC-8CC5-8F5A7B71D46A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E1DE7BB-0FA5-4C31-B26D-7FF619DBBF2F}"/>
              </a:ext>
            </a:extLst>
          </p:cNvPr>
          <p:cNvSpPr txBox="1"/>
          <p:nvPr/>
        </p:nvSpPr>
        <p:spPr>
          <a:xfrm>
            <a:off x="2031999" y="4713195"/>
            <a:ext cx="5320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+ 1))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1A3DC1AD-7DCE-46FB-86BC-17D1869AEDC4}"/>
              </a:ext>
            </a:extLst>
          </p:cNvPr>
          <p:cNvGrpSpPr/>
          <p:nvPr/>
        </p:nvGrpSpPr>
        <p:grpSpPr>
          <a:xfrm>
            <a:off x="7056122" y="2452268"/>
            <a:ext cx="435427" cy="1036559"/>
            <a:chOff x="4936679" y="2465025"/>
            <a:chExt cx="435427" cy="1036559"/>
          </a:xfrm>
        </p:grpSpPr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207C1D9F-98F8-4E70-8DC4-9298E38A671E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B9A0C92F-00A0-4A20-9FAC-DA48C04A6BA1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1410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4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001566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1CC10656-A59A-46C2-BE37-13D13FA913E9}"/>
              </a:ext>
            </a:extLst>
          </p:cNvPr>
          <p:cNvGrpSpPr/>
          <p:nvPr/>
        </p:nvGrpSpPr>
        <p:grpSpPr>
          <a:xfrm>
            <a:off x="4730930" y="2472317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4F221DE-8AAB-4641-866F-C83B41799EEE}"/>
              </a:ext>
            </a:extLst>
          </p:cNvPr>
          <p:cNvGrpSpPr/>
          <p:nvPr/>
        </p:nvGrpSpPr>
        <p:grpSpPr>
          <a:xfrm>
            <a:off x="5878285" y="2472316"/>
            <a:ext cx="435427" cy="1016511"/>
            <a:chOff x="3836126" y="2472316"/>
            <a:chExt cx="435427" cy="1016511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02696CD-7BDD-4B5D-BDC3-AF987F9E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EDB8A7C-74A2-48CC-8CC5-8F5A7B71D46A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6533CBF2-4F82-432B-B1EA-64F54F642B9A}"/>
              </a:ext>
            </a:extLst>
          </p:cNvPr>
          <p:cNvSpPr/>
          <p:nvPr/>
        </p:nvSpPr>
        <p:spPr>
          <a:xfrm>
            <a:off x="3618414" y="3643811"/>
            <a:ext cx="291735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E8F0E7-F570-4295-B6FF-4C2F73FD5500}"/>
              </a:ext>
            </a:extLst>
          </p:cNvPr>
          <p:cNvSpPr/>
          <p:nvPr/>
        </p:nvSpPr>
        <p:spPr>
          <a:xfrm>
            <a:off x="7073537" y="3639346"/>
            <a:ext cx="363583" cy="46166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04C62F3-2977-4E9A-A358-50B5ADDE465F}"/>
              </a:ext>
            </a:extLst>
          </p:cNvPr>
          <p:cNvCxnSpPr>
            <a:cxnSpLocks/>
          </p:cNvCxnSpPr>
          <p:nvPr/>
        </p:nvCxnSpPr>
        <p:spPr>
          <a:xfrm>
            <a:off x="7234642" y="4661750"/>
            <a:ext cx="0" cy="606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F1DE3DC-8DDF-4ACF-93E7-812D967D57A2}"/>
              </a:ext>
            </a:extLst>
          </p:cNvPr>
          <p:cNvSpPr txBox="1"/>
          <p:nvPr/>
        </p:nvSpPr>
        <p:spPr>
          <a:xfrm>
            <a:off x="7016928" y="5402977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81D71ED-7D21-4D3C-9AFC-3C417E426935}"/>
              </a:ext>
            </a:extLst>
          </p:cNvPr>
          <p:cNvGrpSpPr/>
          <p:nvPr/>
        </p:nvGrpSpPr>
        <p:grpSpPr>
          <a:xfrm>
            <a:off x="7056122" y="2452268"/>
            <a:ext cx="435427" cy="1036559"/>
            <a:chOff x="4936679" y="2465025"/>
            <a:chExt cx="435427" cy="1036559"/>
          </a:xfrm>
        </p:grpSpPr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3DACA1DF-5845-4F01-90A9-EB758026E29C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305EB393-AA34-4549-89D5-95CE8FB43735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7887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4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17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081140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1CC10656-A59A-46C2-BE37-13D13FA913E9}"/>
              </a:ext>
            </a:extLst>
          </p:cNvPr>
          <p:cNvGrpSpPr/>
          <p:nvPr/>
        </p:nvGrpSpPr>
        <p:grpSpPr>
          <a:xfrm>
            <a:off x="4730930" y="2472317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4F221DE-8AAB-4641-866F-C83B41799EEE}"/>
              </a:ext>
            </a:extLst>
          </p:cNvPr>
          <p:cNvGrpSpPr/>
          <p:nvPr/>
        </p:nvGrpSpPr>
        <p:grpSpPr>
          <a:xfrm>
            <a:off x="5878285" y="2472316"/>
            <a:ext cx="435427" cy="1016511"/>
            <a:chOff x="3836126" y="2472316"/>
            <a:chExt cx="435427" cy="1016511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02696CD-7BDD-4B5D-BDC3-AF987F9E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EDB8A7C-74A2-48CC-8CC5-8F5A7B71D46A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6533CBF2-4F82-432B-B1EA-64F54F642B9A}"/>
              </a:ext>
            </a:extLst>
          </p:cNvPr>
          <p:cNvSpPr/>
          <p:nvPr/>
        </p:nvSpPr>
        <p:spPr>
          <a:xfrm>
            <a:off x="3618415" y="3643811"/>
            <a:ext cx="1500050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E8F0E7-F570-4295-B6FF-4C2F73FD5500}"/>
              </a:ext>
            </a:extLst>
          </p:cNvPr>
          <p:cNvSpPr/>
          <p:nvPr/>
        </p:nvSpPr>
        <p:spPr>
          <a:xfrm>
            <a:off x="7073537" y="3639346"/>
            <a:ext cx="1537063" cy="46166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75F6D6B-BC51-4008-97CB-4CD170632487}"/>
              </a:ext>
            </a:extLst>
          </p:cNvPr>
          <p:cNvCxnSpPr>
            <a:cxnSpLocks/>
          </p:cNvCxnSpPr>
          <p:nvPr/>
        </p:nvCxnSpPr>
        <p:spPr>
          <a:xfrm>
            <a:off x="7234642" y="4661750"/>
            <a:ext cx="0" cy="606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2464C4F-5667-4567-B509-EAA2589C5A52}"/>
              </a:ext>
            </a:extLst>
          </p:cNvPr>
          <p:cNvSpPr txBox="1"/>
          <p:nvPr/>
        </p:nvSpPr>
        <p:spPr>
          <a:xfrm>
            <a:off x="7016928" y="5402977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9FBCA236-80FF-4FB3-88EC-F2F8817DD913}"/>
              </a:ext>
            </a:extLst>
          </p:cNvPr>
          <p:cNvGrpSpPr/>
          <p:nvPr/>
        </p:nvGrpSpPr>
        <p:grpSpPr>
          <a:xfrm>
            <a:off x="7056122" y="2452268"/>
            <a:ext cx="435427" cy="1036559"/>
            <a:chOff x="4936679" y="2465025"/>
            <a:chExt cx="435427" cy="1036559"/>
          </a:xfrm>
        </p:grpSpPr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60954F58-1367-4446-9B8B-1EDDE457E1DB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2E1D6233-67C0-41E2-821C-4A0A00AB58F9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8123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4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782637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1CC10656-A59A-46C2-BE37-13D13FA913E9}"/>
              </a:ext>
            </a:extLst>
          </p:cNvPr>
          <p:cNvGrpSpPr/>
          <p:nvPr/>
        </p:nvGrpSpPr>
        <p:grpSpPr>
          <a:xfrm>
            <a:off x="4730930" y="2472317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4F221DE-8AAB-4641-866F-C83B41799EEE}"/>
              </a:ext>
            </a:extLst>
          </p:cNvPr>
          <p:cNvGrpSpPr/>
          <p:nvPr/>
        </p:nvGrpSpPr>
        <p:grpSpPr>
          <a:xfrm>
            <a:off x="5878285" y="2472316"/>
            <a:ext cx="435427" cy="1016511"/>
            <a:chOff x="3836126" y="2472316"/>
            <a:chExt cx="435427" cy="1016511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02696CD-7BDD-4B5D-BDC3-AF987F9E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EDB8A7C-74A2-48CC-8CC5-8F5A7B71D46A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6533CBF2-4F82-432B-B1EA-64F54F642B9A}"/>
              </a:ext>
            </a:extLst>
          </p:cNvPr>
          <p:cNvSpPr/>
          <p:nvPr/>
        </p:nvSpPr>
        <p:spPr>
          <a:xfrm>
            <a:off x="3618414" y="3643811"/>
            <a:ext cx="2695297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E8F0E7-F570-4295-B6FF-4C2F73FD5500}"/>
              </a:ext>
            </a:extLst>
          </p:cNvPr>
          <p:cNvSpPr/>
          <p:nvPr/>
        </p:nvSpPr>
        <p:spPr>
          <a:xfrm>
            <a:off x="7073537" y="3639346"/>
            <a:ext cx="2695297" cy="46166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75F6D6B-BC51-4008-97CB-4CD170632487}"/>
              </a:ext>
            </a:extLst>
          </p:cNvPr>
          <p:cNvCxnSpPr>
            <a:cxnSpLocks/>
          </p:cNvCxnSpPr>
          <p:nvPr/>
        </p:nvCxnSpPr>
        <p:spPr>
          <a:xfrm>
            <a:off x="7234642" y="4661750"/>
            <a:ext cx="0" cy="606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2464C4F-5667-4567-B509-EAA2589C5A52}"/>
              </a:ext>
            </a:extLst>
          </p:cNvPr>
          <p:cNvSpPr txBox="1"/>
          <p:nvPr/>
        </p:nvSpPr>
        <p:spPr>
          <a:xfrm>
            <a:off x="7016928" y="5402977"/>
            <a:ext cx="435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3DF7437A-AD43-4327-813D-9CD17FDAF3A2}"/>
              </a:ext>
            </a:extLst>
          </p:cNvPr>
          <p:cNvGrpSpPr/>
          <p:nvPr/>
        </p:nvGrpSpPr>
        <p:grpSpPr>
          <a:xfrm>
            <a:off x="7056122" y="2452268"/>
            <a:ext cx="435427" cy="1036559"/>
            <a:chOff x="4936679" y="2465025"/>
            <a:chExt cx="435427" cy="1036559"/>
          </a:xfrm>
        </p:grpSpPr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71456F7F-AEA5-4930-A3D2-EDFFC7597F0A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B941A16-AB6B-411F-AB73-2459FE126534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4456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4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465686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1CC10656-A59A-46C2-BE37-13D13FA913E9}"/>
              </a:ext>
            </a:extLst>
          </p:cNvPr>
          <p:cNvGrpSpPr/>
          <p:nvPr/>
        </p:nvGrpSpPr>
        <p:grpSpPr>
          <a:xfrm>
            <a:off x="6766553" y="2451851"/>
            <a:ext cx="365760" cy="1016510"/>
            <a:chOff x="3252654" y="2472317"/>
            <a:chExt cx="365760" cy="1016510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FE33B14A-63D2-4142-B417-C32A334D765C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26320EC-70AD-40B8-A0E5-58B7F948F9BD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4F221DE-8AAB-4641-866F-C83B41799EEE}"/>
              </a:ext>
            </a:extLst>
          </p:cNvPr>
          <p:cNvGrpSpPr/>
          <p:nvPr/>
        </p:nvGrpSpPr>
        <p:grpSpPr>
          <a:xfrm>
            <a:off x="9309463" y="2451851"/>
            <a:ext cx="435427" cy="1016511"/>
            <a:chOff x="3836126" y="2472316"/>
            <a:chExt cx="435427" cy="1016511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02696CD-7BDD-4B5D-BDC3-AF987F9E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EDB8A7C-74A2-48CC-8CC5-8F5A7B71D46A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BDAC50D-FA61-4137-9994-20A205B25434}"/>
              </a:ext>
            </a:extLst>
          </p:cNvPr>
          <p:cNvSpPr txBox="1"/>
          <p:nvPr/>
        </p:nvSpPr>
        <p:spPr>
          <a:xfrm>
            <a:off x="2031999" y="4767422"/>
            <a:ext cx="259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-1 &gt;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 =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- 1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037FD481-5970-4803-B2CD-4DE3F67BE5F6}"/>
              </a:ext>
            </a:extLst>
          </p:cNvPr>
          <p:cNvGrpSpPr/>
          <p:nvPr/>
        </p:nvGrpSpPr>
        <p:grpSpPr>
          <a:xfrm>
            <a:off x="7246612" y="2427865"/>
            <a:ext cx="435427" cy="1036559"/>
            <a:chOff x="4936679" y="2465025"/>
            <a:chExt cx="435427" cy="1036559"/>
          </a:xfrm>
        </p:grpSpPr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9928A025-36AE-40AE-A8CA-E4A3016B10E2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5C9D4E6F-CD35-4388-BF0C-6FC885AB0640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7988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en-US" altLang="zh-TW" dirty="0"/>
              <a:t> = 5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730160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  <p:grpSp>
        <p:nvGrpSpPr>
          <p:cNvPr id="15" name="群組 14">
            <a:extLst>
              <a:ext uri="{FF2B5EF4-FFF2-40B4-BE49-F238E27FC236}">
                <a16:creationId xmlns:a16="http://schemas.microsoft.com/office/drawing/2014/main" id="{14F221DE-8AAB-4641-866F-C83B41799EEE}"/>
              </a:ext>
            </a:extLst>
          </p:cNvPr>
          <p:cNvGrpSpPr/>
          <p:nvPr/>
        </p:nvGrpSpPr>
        <p:grpSpPr>
          <a:xfrm>
            <a:off x="9309463" y="2451851"/>
            <a:ext cx="435427" cy="1016511"/>
            <a:chOff x="3836126" y="2472316"/>
            <a:chExt cx="435427" cy="1016511"/>
          </a:xfrm>
        </p:grpSpPr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02696CD-7BDD-4B5D-BDC3-AF987F9E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053840" y="2882537"/>
              <a:ext cx="0" cy="606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2EDB8A7C-74A2-48CC-8CC5-8F5A7B71D46A}"/>
                </a:ext>
              </a:extLst>
            </p:cNvPr>
            <p:cNvSpPr txBox="1"/>
            <p:nvPr/>
          </p:nvSpPr>
          <p:spPr>
            <a:xfrm>
              <a:off x="3836126" y="2472316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345495F-B160-4A01-8B18-AA49E7C7DE7B}"/>
              </a:ext>
            </a:extLst>
          </p:cNvPr>
          <p:cNvSpPr txBox="1"/>
          <p:nvPr/>
        </p:nvSpPr>
        <p:spPr>
          <a:xfrm>
            <a:off x="2031999" y="4713195"/>
            <a:ext cx="5320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+ 1))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E883AA97-41D2-418E-B937-BC0ADF8B261B}"/>
              </a:ext>
            </a:extLst>
          </p:cNvPr>
          <p:cNvGrpSpPr/>
          <p:nvPr/>
        </p:nvGrpSpPr>
        <p:grpSpPr>
          <a:xfrm>
            <a:off x="7053918" y="2451851"/>
            <a:ext cx="365760" cy="1016510"/>
            <a:chOff x="3252654" y="2472317"/>
            <a:chExt cx="365760" cy="1016510"/>
          </a:xfrm>
        </p:grpSpPr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9A49A63C-80BE-4752-8279-EF2E985DAFB2}"/>
                </a:ext>
              </a:extLst>
            </p:cNvPr>
            <p:cNvCxnSpPr>
              <a:cxnSpLocks/>
            </p:cNvCxnSpPr>
            <p:nvPr/>
          </p:nvCxnSpPr>
          <p:spPr>
            <a:xfrm>
              <a:off x="3439885" y="2882537"/>
              <a:ext cx="0" cy="60629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F2F0B97F-5D1C-464A-A216-A277E2EA969A}"/>
                </a:ext>
              </a:extLst>
            </p:cNvPr>
            <p:cNvSpPr txBox="1"/>
            <p:nvPr/>
          </p:nvSpPr>
          <p:spPr>
            <a:xfrm>
              <a:off x="3252654" y="2472317"/>
              <a:ext cx="365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061B63F6-D80B-4330-9472-95FFCD365D43}"/>
              </a:ext>
            </a:extLst>
          </p:cNvPr>
          <p:cNvGrpSpPr/>
          <p:nvPr/>
        </p:nvGrpSpPr>
        <p:grpSpPr>
          <a:xfrm>
            <a:off x="8146857" y="2427865"/>
            <a:ext cx="435427" cy="1036559"/>
            <a:chOff x="4936679" y="2465025"/>
            <a:chExt cx="435427" cy="1036559"/>
          </a:xfrm>
        </p:grpSpPr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0EBE6492-8FD7-492D-8297-4142A985492B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F9E0F0A4-2251-4C8D-B723-7F0DDA7B74E9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43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21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5E1A9D1-D896-457A-B3F4-05781241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735213"/>
              </p:ext>
            </p:extLst>
          </p:nvPr>
        </p:nvGraphicFramePr>
        <p:xfrm>
          <a:off x="2031999" y="3643811"/>
          <a:ext cx="81280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395504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99903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05994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337974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6597208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075285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183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8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85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180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E848B-7D13-4EA1-8901-BDBBB25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 Construction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4A551-CAB4-4149-8FAD-AF69A2DF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Compare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暴力法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C125FC-8F4B-40F0-AE1D-640563F1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BB1F223A-5801-4D38-9ACF-9206A2846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010702"/>
              </p:ext>
            </p:extLst>
          </p:nvPr>
        </p:nvGraphicFramePr>
        <p:xfrm>
          <a:off x="2377440" y="3025292"/>
          <a:ext cx="371856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3815366833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1847086043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1339459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8994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3017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116332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68B773E-6418-44A0-98F9-BFD1A92D7AB9}"/>
              </a:ext>
            </a:extLst>
          </p:cNvPr>
          <p:cNvSpPr txBox="1"/>
          <p:nvPr/>
        </p:nvSpPr>
        <p:spPr>
          <a:xfrm>
            <a:off x="1581332" y="3935227"/>
            <a:ext cx="728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endParaRPr lang="en-US" altLang="zh-TW" sz="2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312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1E12E4-2412-49CF-B899-2D42D337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Improvement of Modiﬁed Z-function.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14FA63-A8E1-4D08-AA16-28233389B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Prev</a:t>
            </a:r>
            <a:endParaRPr lang="en-US" altLang="zh-TW" dirty="0"/>
          </a:p>
          <a:p>
            <a:pPr lvl="1"/>
            <a:r>
              <a:rPr lang="en-US" altLang="zh-TW" dirty="0"/>
              <a:t>Predecessor</a:t>
            </a:r>
          </a:p>
          <a:p>
            <a:r>
              <a:rPr lang="en-US" altLang="zh-TW" dirty="0"/>
              <a:t>Next</a:t>
            </a:r>
          </a:p>
          <a:p>
            <a:pPr lvl="1"/>
            <a:r>
              <a:rPr lang="en-US" altLang="zh-TW" dirty="0"/>
              <a:t>Successor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242325-3638-4698-BEE1-161A0244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23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00B60DB-E360-488D-87AF-4A437F896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22893"/>
              </p:ext>
            </p:extLst>
          </p:nvPr>
        </p:nvGraphicFramePr>
        <p:xfrm>
          <a:off x="2031999" y="3819917"/>
          <a:ext cx="8128001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70919787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8461580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469990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9741791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830527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4552540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78132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225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2176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186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51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3E4336-DE7C-4B3D-ABBD-B70716BA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3A9D88-ED9D-492F-B2B4-75866A4EC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Preprocess</a:t>
            </a:r>
          </a:p>
          <a:p>
            <a:pPr lvl="1"/>
            <a:r>
              <a:rPr lang="en-US" altLang="zh-TW" dirty="0"/>
              <a:t> O(</a:t>
            </a:r>
            <a:r>
              <a:rPr lang="en-US" altLang="zh-TW" i="1" dirty="0" err="1"/>
              <a:t>n</a:t>
            </a:r>
            <a:r>
              <a:rPr lang="en-US" altLang="zh-TW" dirty="0" err="1"/>
              <a:t>log</a:t>
            </a:r>
            <a:r>
              <a:rPr lang="en-US" altLang="zh-TW" i="1" dirty="0" err="1"/>
              <a:t>n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while loop</a:t>
            </a:r>
          </a:p>
          <a:p>
            <a:pPr lvl="1"/>
            <a:r>
              <a:rPr lang="en-US" altLang="zh-TW" dirty="0"/>
              <a:t> </a:t>
            </a:r>
            <a:r>
              <a:rPr lang="en-US" altLang="zh-TW" i="1" dirty="0"/>
              <a:t>R</a:t>
            </a:r>
            <a:r>
              <a:rPr lang="en-US" altLang="zh-TW" dirty="0"/>
              <a:t> + O(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O(</a:t>
            </a:r>
            <a:r>
              <a:rPr lang="en-US" altLang="zh-TW" i="1" dirty="0" err="1"/>
              <a:t>n</a:t>
            </a:r>
            <a:r>
              <a:rPr lang="en-US" altLang="zh-TW" dirty="0" err="1"/>
              <a:t>log</a:t>
            </a:r>
            <a:r>
              <a:rPr lang="en-US" altLang="zh-TW" i="1" dirty="0" err="1"/>
              <a:t>n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19AE5C-FEB0-403E-9C85-F39F7B8D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24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8004700-26A6-4303-A1C0-3E8F90DC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624" y="966174"/>
            <a:ext cx="6076176" cy="568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93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CC6763-6D2A-4282-8462-41C3FA859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Pattern Matching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7A20F0-925A-4A47-A6F3-61FB408BA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 String </a:t>
            </a:r>
            <a:r>
              <a:rPr lang="en-US" altLang="zh-TW" i="1" dirty="0"/>
              <a:t>S</a:t>
            </a:r>
            <a:endParaRPr lang="en-US" altLang="zh-TW" dirty="0"/>
          </a:p>
          <a:p>
            <a:pPr lvl="1"/>
            <a:r>
              <a:rPr lang="en-US" altLang="zh-TW" dirty="0"/>
              <a:t>Pattern </a:t>
            </a:r>
            <a:r>
              <a:rPr lang="en-US" altLang="zh-TW" i="1" dirty="0"/>
              <a:t>P</a:t>
            </a:r>
            <a:r>
              <a:rPr lang="en-US" altLang="zh-TW" dirty="0"/>
              <a:t> + Text </a:t>
            </a:r>
            <a:r>
              <a:rPr lang="en-US" altLang="zh-TW" i="1" dirty="0"/>
              <a:t>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4FBFCB-7C49-4BA5-B44E-154F9AB8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25</a:t>
            </a:fld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181C93C-74F1-480B-AA51-7094B87DE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673460"/>
              </p:ext>
            </p:extLst>
          </p:nvPr>
        </p:nvGraphicFramePr>
        <p:xfrm>
          <a:off x="2083526" y="3841452"/>
          <a:ext cx="6966858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0062735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64675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122401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145933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983588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92418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54202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EE9FC3C-8560-4A58-AD7D-CAF880A43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48066"/>
              </p:ext>
            </p:extLst>
          </p:nvPr>
        </p:nvGraphicFramePr>
        <p:xfrm>
          <a:off x="2083526" y="3200400"/>
          <a:ext cx="3483429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0962103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132297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075959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8650358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A2670D9F-6042-4E7F-B38A-9B63E7D616D9}"/>
              </a:ext>
            </a:extLst>
          </p:cNvPr>
          <p:cNvSpPr txBox="1"/>
          <p:nvPr/>
        </p:nvSpPr>
        <p:spPr>
          <a:xfrm>
            <a:off x="1375930" y="3195935"/>
            <a:ext cx="365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08A3434-7469-4A83-942B-5473FFA37EA6}"/>
              </a:ext>
            </a:extLst>
          </p:cNvPr>
          <p:cNvSpPr txBox="1"/>
          <p:nvPr/>
        </p:nvSpPr>
        <p:spPr>
          <a:xfrm>
            <a:off x="1375930" y="3836987"/>
            <a:ext cx="365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9D27D808-F219-4F7A-90CE-9BF3D804A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028970"/>
              </p:ext>
            </p:extLst>
          </p:nvPr>
        </p:nvGraphicFramePr>
        <p:xfrm>
          <a:off x="1233715" y="4692630"/>
          <a:ext cx="972457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457">
                  <a:extLst>
                    <a:ext uri="{9D8B030D-6E8A-4147-A177-3AD203B41FA5}">
                      <a16:colId xmlns:a16="http://schemas.microsoft.com/office/drawing/2014/main" val="2577053675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721594691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2396528687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3655961163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2395338372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1167594580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2421897565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3062698387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2939715296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565794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71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974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925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5B8D6-D178-428A-A5BB-883A8EF4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Borders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9FF42-14F5-4AB1-91AB-459EBE45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Definition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10F33-878D-4D9B-8A53-B5246245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26</a:t>
            </a:fld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E81D38-6E3D-4185-AFF1-7C89A77F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029137"/>
              </p:ext>
            </p:extLst>
          </p:nvPr>
        </p:nvGraphicFramePr>
        <p:xfrm>
          <a:off x="2031999" y="3544094"/>
          <a:ext cx="8128001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78618228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93163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13012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358309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554352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420508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23061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328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8952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299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5B8D6-D178-428A-A5BB-883A8EF4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Border Array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9FF42-14F5-4AB1-91AB-459EBE45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Initialization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10F33-878D-4D9B-8A53-B5246245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27</a:t>
            </a:fld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E81D38-6E3D-4185-AFF1-7C89A77F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2114"/>
              </p:ext>
            </p:extLst>
          </p:nvPr>
        </p:nvGraphicFramePr>
        <p:xfrm>
          <a:off x="2031999" y="3132614"/>
          <a:ext cx="8128001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78618228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93163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13012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358309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554352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420508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23061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328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895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 Array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8612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704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5B8D6-D178-428A-A5BB-883A8EF4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Border Array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9FF42-14F5-4AB1-91AB-459EBE45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10F33-878D-4D9B-8A53-B5246245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28</a:t>
            </a:fld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E81D38-6E3D-4185-AFF1-7C89A77F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348922"/>
              </p:ext>
            </p:extLst>
          </p:nvPr>
        </p:nvGraphicFramePr>
        <p:xfrm>
          <a:off x="2031999" y="3132614"/>
          <a:ext cx="8128001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78618228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93163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13012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358309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554352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420508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23061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328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895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 Array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8612683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61FFBC9B-8A31-4050-B5E8-AC4C61A8F3E3}"/>
              </a:ext>
            </a:extLst>
          </p:cNvPr>
          <p:cNvGrpSpPr/>
          <p:nvPr/>
        </p:nvGrpSpPr>
        <p:grpSpPr>
          <a:xfrm>
            <a:off x="4706972" y="1961118"/>
            <a:ext cx="435427" cy="1036559"/>
            <a:chOff x="4936679" y="2465025"/>
            <a:chExt cx="435427" cy="1036559"/>
          </a:xfrm>
        </p:grpSpPr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13F16FF2-257E-45FC-8D7C-BEED089383BC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3332F7A-BA84-43BF-B451-4B09CA721D12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506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5B8D6-D178-428A-A5BB-883A8EF4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Border Array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9FF42-14F5-4AB1-91AB-459EBE45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3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10F33-878D-4D9B-8A53-B5246245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29</a:t>
            </a:fld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E81D38-6E3D-4185-AFF1-7C89A77F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465644"/>
              </p:ext>
            </p:extLst>
          </p:nvPr>
        </p:nvGraphicFramePr>
        <p:xfrm>
          <a:off x="2031999" y="3132614"/>
          <a:ext cx="8128001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78618228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93163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13012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358309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554352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420508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23061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328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895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 Array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8612683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61FFBC9B-8A31-4050-B5E8-AC4C61A8F3E3}"/>
              </a:ext>
            </a:extLst>
          </p:cNvPr>
          <p:cNvGrpSpPr/>
          <p:nvPr/>
        </p:nvGrpSpPr>
        <p:grpSpPr>
          <a:xfrm>
            <a:off x="5878285" y="1961118"/>
            <a:ext cx="435427" cy="1036559"/>
            <a:chOff x="4936679" y="2465025"/>
            <a:chExt cx="435427" cy="1036559"/>
          </a:xfrm>
        </p:grpSpPr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13F16FF2-257E-45FC-8D7C-BEED089383BC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3332F7A-BA84-43BF-B451-4B09CA721D12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3490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5B8D6-D178-428A-A5BB-883A8EF4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Border Array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9FF42-14F5-4AB1-91AB-459EBE45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4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10F33-878D-4D9B-8A53-B5246245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30</a:t>
            </a:fld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E81D38-6E3D-4185-AFF1-7C89A77F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144445"/>
              </p:ext>
            </p:extLst>
          </p:nvPr>
        </p:nvGraphicFramePr>
        <p:xfrm>
          <a:off x="2031999" y="3132614"/>
          <a:ext cx="8128001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78618228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93163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13012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358309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554352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420508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23061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328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895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 Array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612683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61FFBC9B-8A31-4050-B5E8-AC4C61A8F3E3}"/>
              </a:ext>
            </a:extLst>
          </p:cNvPr>
          <p:cNvGrpSpPr/>
          <p:nvPr/>
        </p:nvGrpSpPr>
        <p:grpSpPr>
          <a:xfrm>
            <a:off x="7027817" y="1961118"/>
            <a:ext cx="435427" cy="1036559"/>
            <a:chOff x="4936679" y="2465025"/>
            <a:chExt cx="435427" cy="1036559"/>
          </a:xfrm>
        </p:grpSpPr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13F16FF2-257E-45FC-8D7C-BEED089383BC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3332F7A-BA84-43BF-B451-4B09CA721D12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22065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5B8D6-D178-428A-A5BB-883A8EF4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Border Array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9FF42-14F5-4AB1-91AB-459EBE45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10F33-878D-4D9B-8A53-B5246245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31</a:t>
            </a:fld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E81D38-6E3D-4185-AFF1-7C89A77F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642031"/>
              </p:ext>
            </p:extLst>
          </p:nvPr>
        </p:nvGraphicFramePr>
        <p:xfrm>
          <a:off x="2031999" y="3132614"/>
          <a:ext cx="8128001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78618228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93163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13012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358309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554352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420508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23061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328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895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 Array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612683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61FFBC9B-8A31-4050-B5E8-AC4C61A8F3E3}"/>
              </a:ext>
            </a:extLst>
          </p:cNvPr>
          <p:cNvGrpSpPr/>
          <p:nvPr/>
        </p:nvGrpSpPr>
        <p:grpSpPr>
          <a:xfrm>
            <a:off x="8175173" y="1961118"/>
            <a:ext cx="435427" cy="1036559"/>
            <a:chOff x="4936679" y="2465025"/>
            <a:chExt cx="435427" cy="1036559"/>
          </a:xfrm>
        </p:grpSpPr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13F16FF2-257E-45FC-8D7C-BEED089383BC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3332F7A-BA84-43BF-B451-4B09CA721D12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4300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5B8D6-D178-428A-A5BB-883A8EF4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Border Array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9FF42-14F5-4AB1-91AB-459EBE45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10F33-878D-4D9B-8A53-B5246245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32</a:t>
            </a:fld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E81D38-6E3D-4185-AFF1-7C89A77F66A2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3132614"/>
          <a:ext cx="8128001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78618228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93163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13012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358309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554352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420508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23061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328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895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 Array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612683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61FFBC9B-8A31-4050-B5E8-AC4C61A8F3E3}"/>
              </a:ext>
            </a:extLst>
          </p:cNvPr>
          <p:cNvGrpSpPr/>
          <p:nvPr/>
        </p:nvGrpSpPr>
        <p:grpSpPr>
          <a:xfrm>
            <a:off x="9333413" y="1960840"/>
            <a:ext cx="435427" cy="1036559"/>
            <a:chOff x="4936679" y="2465025"/>
            <a:chExt cx="435427" cy="1036559"/>
          </a:xfrm>
        </p:grpSpPr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13F16FF2-257E-45FC-8D7C-BEED089383BC}"/>
                </a:ext>
              </a:extLst>
            </p:cNvPr>
            <p:cNvCxnSpPr>
              <a:cxnSpLocks/>
            </p:cNvCxnSpPr>
            <p:nvPr/>
          </p:nvCxnSpPr>
          <p:spPr>
            <a:xfrm>
              <a:off x="5158735" y="2895294"/>
              <a:ext cx="0" cy="60629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3332F7A-BA84-43BF-B451-4B09CA721D12}"/>
                </a:ext>
              </a:extLst>
            </p:cNvPr>
            <p:cNvSpPr txBox="1"/>
            <p:nvPr/>
          </p:nvSpPr>
          <p:spPr>
            <a:xfrm>
              <a:off x="4936679" y="2465025"/>
              <a:ext cx="435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7201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5B8D6-D178-428A-A5BB-883A8EF4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Border Array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9FF42-14F5-4AB1-91AB-459EBE45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Get the </a:t>
            </a:r>
            <a:r>
              <a:rPr lang="en-US" altLang="zh-TW" dirty="0">
                <a:solidFill>
                  <a:srgbClr val="FF0000"/>
                </a:solidFill>
              </a:rPr>
              <a:t>minimum</a:t>
            </a:r>
            <a:r>
              <a:rPr lang="en-US" altLang="zh-TW" dirty="0"/>
              <a:t> border that length &gt; 1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10F33-878D-4D9B-8A53-B5246245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33</a:t>
            </a:fld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E81D38-6E3D-4185-AFF1-7C89A77F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840554"/>
              </p:ext>
            </p:extLst>
          </p:nvPr>
        </p:nvGraphicFramePr>
        <p:xfrm>
          <a:off x="2031999" y="3132614"/>
          <a:ext cx="8128001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78618228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193163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13012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358309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5543526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420508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23061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328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895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 Array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612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366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C4998D-B1E2-446D-8293-2224D88A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Covers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7AA6D3-5AFD-42B7-A521-7DB35AD73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Covers</a:t>
            </a:r>
          </a:p>
          <a:p>
            <a:pPr lvl="1"/>
            <a:r>
              <a:rPr lang="en-US" altLang="zh-TW" dirty="0"/>
              <a:t>S is covered by an Order-Preserving-Representation-occurrence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Example</a:t>
            </a:r>
          </a:p>
          <a:p>
            <a:pPr lvl="1"/>
            <a:r>
              <a:rPr lang="en-US" altLang="zh-TW" dirty="0"/>
              <a:t>S = ( 1, 3, 2, 7, 5, 8, 6 )</a:t>
            </a:r>
          </a:p>
          <a:p>
            <a:pPr lvl="1"/>
            <a:r>
              <a:rPr lang="en-US" altLang="zh-TW" dirty="0"/>
              <a:t>cover C = ( 1, 3, 2 )</a:t>
            </a:r>
          </a:p>
          <a:p>
            <a:pPr lvl="2"/>
            <a:r>
              <a:rPr lang="en-US" altLang="zh-TW" dirty="0"/>
              <a:t>(1, 3, 2), (2, 7, 5), (5, 8, 6)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9592F2-FA34-4A17-8553-C5E4E3B4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5685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8DCD3-DC15-484B-A071-29970A73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Covers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151AB8-C905-4705-AC65-1D542FF00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Initialization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50AC34-B0F6-4476-8316-758E1AE3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35</a:t>
            </a:fld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F645A0D-DAB4-4C94-A99A-58B0907EE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600802"/>
              </p:ext>
            </p:extLst>
          </p:nvPr>
        </p:nvGraphicFramePr>
        <p:xfrm>
          <a:off x="1851296" y="3315494"/>
          <a:ext cx="8489408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1176">
                  <a:extLst>
                    <a:ext uri="{9D8B030D-6E8A-4147-A177-3AD203B41FA5}">
                      <a16:colId xmlns:a16="http://schemas.microsoft.com/office/drawing/2014/main" val="3412076188"/>
                    </a:ext>
                  </a:extLst>
                </a:gridCol>
                <a:gridCol w="1061176">
                  <a:extLst>
                    <a:ext uri="{9D8B030D-6E8A-4147-A177-3AD203B41FA5}">
                      <a16:colId xmlns:a16="http://schemas.microsoft.com/office/drawing/2014/main" val="3957269017"/>
                    </a:ext>
                  </a:extLst>
                </a:gridCol>
                <a:gridCol w="1061176">
                  <a:extLst>
                    <a:ext uri="{9D8B030D-6E8A-4147-A177-3AD203B41FA5}">
                      <a16:colId xmlns:a16="http://schemas.microsoft.com/office/drawing/2014/main" val="3301279958"/>
                    </a:ext>
                  </a:extLst>
                </a:gridCol>
                <a:gridCol w="1061176">
                  <a:extLst>
                    <a:ext uri="{9D8B030D-6E8A-4147-A177-3AD203B41FA5}">
                      <a16:colId xmlns:a16="http://schemas.microsoft.com/office/drawing/2014/main" val="2760563373"/>
                    </a:ext>
                  </a:extLst>
                </a:gridCol>
                <a:gridCol w="1061176">
                  <a:extLst>
                    <a:ext uri="{9D8B030D-6E8A-4147-A177-3AD203B41FA5}">
                      <a16:colId xmlns:a16="http://schemas.microsoft.com/office/drawing/2014/main" val="1105645486"/>
                    </a:ext>
                  </a:extLst>
                </a:gridCol>
                <a:gridCol w="1061176">
                  <a:extLst>
                    <a:ext uri="{9D8B030D-6E8A-4147-A177-3AD203B41FA5}">
                      <a16:colId xmlns:a16="http://schemas.microsoft.com/office/drawing/2014/main" val="2128610570"/>
                    </a:ext>
                  </a:extLst>
                </a:gridCol>
                <a:gridCol w="1061176">
                  <a:extLst>
                    <a:ext uri="{9D8B030D-6E8A-4147-A177-3AD203B41FA5}">
                      <a16:colId xmlns:a16="http://schemas.microsoft.com/office/drawing/2014/main" val="2076249003"/>
                    </a:ext>
                  </a:extLst>
                </a:gridCol>
                <a:gridCol w="1061176">
                  <a:extLst>
                    <a:ext uri="{9D8B030D-6E8A-4147-A177-3AD203B41FA5}">
                      <a16:colId xmlns:a16="http://schemas.microsoft.com/office/drawing/2014/main" val="2083145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491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066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6625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77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1213</Words>
  <Application>Microsoft Office PowerPoint</Application>
  <PresentationFormat>寬螢幕</PresentationFormat>
  <Paragraphs>633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1" baseType="lpstr">
      <vt:lpstr>源流明體 M</vt:lpstr>
      <vt:lpstr>標楷體</vt:lpstr>
      <vt:lpstr>Arial</vt:lpstr>
      <vt:lpstr>Calibri</vt:lpstr>
      <vt:lpstr>Times New Roman</vt:lpstr>
      <vt:lpstr>Office 佈景主題</vt:lpstr>
      <vt:lpstr>Order preserving pattern matching revisited</vt:lpstr>
      <vt:lpstr>Abstract</vt:lpstr>
      <vt:lpstr>Order Preserving Pattern Matching</vt:lpstr>
      <vt:lpstr>Z-function</vt:lpstr>
      <vt:lpstr>Modified Z-function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Modified Z-function Construction</vt:lpstr>
      <vt:lpstr>Improvement of Modiﬁed Z-function.</vt:lpstr>
      <vt:lpstr>Time Complexity</vt:lpstr>
      <vt:lpstr>Order Preserving Pattern Matching</vt:lpstr>
      <vt:lpstr>Order Preserving Borders</vt:lpstr>
      <vt:lpstr>Order Preserving Border Array</vt:lpstr>
      <vt:lpstr>Order Preserving Border Array</vt:lpstr>
      <vt:lpstr>Order Preserving Border Array</vt:lpstr>
      <vt:lpstr>Order Preserving Border Array</vt:lpstr>
      <vt:lpstr>Order Preserving Border Array</vt:lpstr>
      <vt:lpstr>Order Preserving Border Array</vt:lpstr>
      <vt:lpstr>Order Preserving Border Array</vt:lpstr>
      <vt:lpstr>Order Preserving Covers</vt:lpstr>
      <vt:lpstr>Order Preserving Covers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Ting B</dc:creator>
  <cp:lastModifiedBy>Ting B</cp:lastModifiedBy>
  <cp:revision>247</cp:revision>
  <dcterms:created xsi:type="dcterms:W3CDTF">2022-02-13T12:00:20Z</dcterms:created>
  <dcterms:modified xsi:type="dcterms:W3CDTF">2022-03-08T09:47:34Z</dcterms:modified>
</cp:coreProperties>
</file>