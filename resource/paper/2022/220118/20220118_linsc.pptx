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39.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s/slide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Layouts/slideLayout64.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53.xml" ContentType="application/vnd.openxmlformats-officedocument.presentationml.slideLayout+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slideLayouts/slideLayout71.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6.xml" ContentType="application/vnd.openxmlformats-officedocument.presentationml.slideMaster+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8.xml" ContentType="application/vnd.openxmlformats-officedocument.presentationml.slideLayout+xml"/>
  <Override PartName="/ppt/slideLayouts/slideLayout67.xml" ContentType="application/vnd.openxmlformats-officedocument.presentationml.slideLayout+xml"/>
  <Default Extension="png" ContentType="image/png"/>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Layouts/slideLayout65.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63.xml" ContentType="application/vnd.openxmlformats-officedocument.presentationml.slideLayout+xml"/>
  <Override PartName="/ppt/slideLayouts/slideLayout72.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ppt/slideLayouts/slideLayout70.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slides/slide8.xml" ContentType="application/vnd.openxmlformats-officedocument.presentationml.slide+xml"/>
  <Override PartName="/ppt/slideLayouts/slideLayout59.xml" ContentType="application/vnd.openxmlformats-officedocument.presentationml.slideLayout+xml"/>
  <Override PartName="/ppt/slideLayouts/slideLayout68.xml" ContentType="application/vnd.openxmlformats-officedocument.presentationml.slideLayout+xml"/>
  <Override PartName="/ppt/theme/theme7.xml" ContentType="application/vnd.openxmlformats-officedocument.them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slideLayouts/slideLayout62.xml" ContentType="application/vnd.openxmlformats-officedocument.presentationml.slideLayout+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99" r:id="rId2"/>
    <p:sldMasterId id="2147483738" r:id="rId3"/>
    <p:sldMasterId id="2147483712" r:id="rId4"/>
    <p:sldMasterId id="2147483674" r:id="rId5"/>
    <p:sldMasterId id="2147483725" r:id="rId6"/>
  </p:sldMasterIdLst>
  <p:notesMasterIdLst>
    <p:notesMasterId r:id="rId21"/>
  </p:notesMasterIdLst>
  <p:sldIdLst>
    <p:sldId id="256" r:id="rId7"/>
    <p:sldId id="258" r:id="rId8"/>
    <p:sldId id="261" r:id="rId9"/>
    <p:sldId id="267" r:id="rId10"/>
    <p:sldId id="262" r:id="rId11"/>
    <p:sldId id="268" r:id="rId12"/>
    <p:sldId id="266" r:id="rId13"/>
    <p:sldId id="264" r:id="rId14"/>
    <p:sldId id="265" r:id="rId15"/>
    <p:sldId id="269" r:id="rId16"/>
    <p:sldId id="271" r:id="rId17"/>
    <p:sldId id="270" r:id="rId18"/>
    <p:sldId id="272" r:id="rId19"/>
    <p:sldId id="273" r:id="rId20"/>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aximized">
    <p:restoredLeft sz="34587" autoAdjust="0"/>
    <p:restoredTop sz="94632" autoAdjust="0"/>
  </p:normalViewPr>
  <p:slideViewPr>
    <p:cSldViewPr>
      <p:cViewPr varScale="1">
        <p:scale>
          <a:sx n="108" d="100"/>
          <a:sy n="108" d="100"/>
        </p:scale>
        <p:origin x="-170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r>
              <a:rPr lang="zh-TW" sz="1800" b="0" strike="noStrike" spc="-1">
                <a:solidFill>
                  <a:srgbClr val="000000"/>
                </a:solidFill>
                <a:latin typeface="Calibri"/>
              </a:rPr>
              <a:t>請按這裡移動投影片</a:t>
            </a:r>
            <a:endParaRPr lang="en-US" sz="1800" b="0" strike="noStrike" spc="-1">
              <a:solidFill>
                <a:srgbClr val="000000"/>
              </a:solidFill>
              <a:latin typeface="Calibri"/>
            </a:endParaRPr>
          </a:p>
        </p:txBody>
      </p:sp>
      <p:sp>
        <p:nvSpPr>
          <p:cNvPr id="83" name="PlaceHolder 2"/>
          <p:cNvSpPr>
            <a:spLocks noGrp="1"/>
          </p:cNvSpPr>
          <p:nvPr>
            <p:ph type="body"/>
          </p:nvPr>
        </p:nvSpPr>
        <p:spPr>
          <a:xfrm>
            <a:off x="756000" y="5078520"/>
            <a:ext cx="6047640" cy="4811040"/>
          </a:xfrm>
          <a:prstGeom prst="rect">
            <a:avLst/>
          </a:prstGeom>
        </p:spPr>
        <p:txBody>
          <a:bodyPr lIns="0" tIns="0" rIns="0" bIns="0">
            <a:noAutofit/>
          </a:bodyPr>
          <a:lstStyle/>
          <a:p>
            <a:r>
              <a:rPr lang="zh-TW" sz="2000" b="0" strike="noStrike" spc="-1">
                <a:latin typeface="Arial"/>
              </a:rPr>
              <a:t>請按這裡編輯備註格式</a:t>
            </a:r>
            <a:endParaRPr lang="en-US" sz="2000" b="0" strike="noStrike" spc="-1">
              <a:latin typeface="Arial"/>
            </a:endParaRPr>
          </a:p>
        </p:txBody>
      </p:sp>
      <p:sp>
        <p:nvSpPr>
          <p:cNvPr id="84" name="PlaceHolder 3"/>
          <p:cNvSpPr>
            <a:spLocks noGrp="1"/>
          </p:cNvSpPr>
          <p:nvPr>
            <p:ph type="hdr"/>
          </p:nvPr>
        </p:nvSpPr>
        <p:spPr>
          <a:xfrm>
            <a:off x="0" y="0"/>
            <a:ext cx="3280680" cy="534240"/>
          </a:xfrm>
          <a:prstGeom prst="rect">
            <a:avLst/>
          </a:prstGeom>
        </p:spPr>
        <p:txBody>
          <a:bodyPr lIns="0" tIns="0" rIns="0" bIns="0">
            <a:noAutofit/>
          </a:bodyPr>
          <a:lstStyle/>
          <a:p>
            <a:r>
              <a:rPr lang="en-US" sz="1400" b="0" strike="noStrike" spc="-1">
                <a:latin typeface="Times New Roman"/>
              </a:rPr>
              <a:t>&lt;頁首&gt;</a:t>
            </a:r>
          </a:p>
        </p:txBody>
      </p:sp>
      <p:sp>
        <p:nvSpPr>
          <p:cNvPr id="85"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n-US" sz="1400" b="0" strike="noStrike" spc="-1">
                <a:latin typeface="Times New Roman"/>
              </a:rPr>
              <a:t>&lt;日期/時間&gt;</a:t>
            </a:r>
          </a:p>
        </p:txBody>
      </p:sp>
      <p:sp>
        <p:nvSpPr>
          <p:cNvPr id="86"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n-US" sz="1400" b="0" strike="noStrike" spc="-1">
                <a:latin typeface="Times New Roman"/>
              </a:rPr>
              <a:t>&lt;頁尾&gt;</a:t>
            </a:r>
          </a:p>
        </p:txBody>
      </p:sp>
      <p:sp>
        <p:nvSpPr>
          <p:cNvPr id="87"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331962A5-A15B-4472-A253-73015B2EE908}" type="slidenum">
              <a:rPr lang="en-US" sz="1400" b="0" strike="noStrike" spc="-1">
                <a:latin typeface="Times New Roman"/>
              </a:rPr>
              <a:pPr algn="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1"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5"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6"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7"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0"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1"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4"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5"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8"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3"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5"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7"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8"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2022/1/18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p:txBody>
          <a:body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2022/1/18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1_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atin typeface="Times New Roman" pitchFamily="18" charset="0"/>
                <a:cs typeface="Times New Roman" pitchFamily="18" charset="0"/>
              </a:defRPr>
            </a:lvl1p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p:txBody>
          <a:bodyPr/>
          <a:lstStyle>
            <a:lvl1pPr>
              <a:defRPr>
                <a:latin typeface="Times New Roman" pitchFamily="18" charset="0"/>
                <a:cs typeface="Times New Roman" pitchFamily="18" charset="0"/>
              </a:defRPr>
            </a:lvl1pPr>
            <a:lvl2pPr>
              <a:defRPr>
                <a:latin typeface="Times New Roman" pitchFamily="18" charset="0"/>
                <a:cs typeface="Times New Roman" pitchFamily="18" charset="0"/>
              </a:defRPr>
            </a:lvl2pPr>
            <a:lvl3pPr>
              <a:defRPr>
                <a:latin typeface="Times New Roman" pitchFamily="18" charset="0"/>
                <a:cs typeface="Times New Roman" pitchFamily="18" charset="0"/>
              </a:defRPr>
            </a:lvl3pPr>
            <a:lvl4pPr>
              <a:defRPr>
                <a:latin typeface="Times New Roman" pitchFamily="18" charset="0"/>
                <a:cs typeface="Times New Roman" pitchFamily="18" charset="0"/>
              </a:defRPr>
            </a:lvl4pPr>
            <a:lvl5pPr>
              <a:defRPr>
                <a:latin typeface="Times New Roman" pitchFamily="18" charset="0"/>
                <a:cs typeface="Times New Roman" pitchFamily="18" charset="0"/>
              </a:defRPr>
            </a:lvl5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2022/1/18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2022/1/18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2022/1/18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86EF5B75-ECF6-4BE6-A3DE-C8259B535844}" type="datetimeFigureOut">
              <a:rPr lang="zh-TW" altLang="en-US" smtClean="0"/>
              <a:pPr/>
              <a:t>2022/1/18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86EF5B75-ECF6-4BE6-A3DE-C8259B535844}" type="datetimeFigureOut">
              <a:rPr lang="zh-TW" altLang="en-US" smtClean="0"/>
              <a:pPr/>
              <a:t>2022/1/18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6EF5B75-ECF6-4BE6-A3DE-C8259B535844}" type="datetimeFigureOut">
              <a:rPr lang="zh-TW" altLang="en-US" smtClean="0"/>
              <a:pPr/>
              <a:t>2022/1/18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2022/1/18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2022/1/18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2022/1/18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2022/1/18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2022/1/18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2022/1/18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1_標題及物件T">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2022/1/18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2022/1/18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2022/1/18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A551E863-67F1-4DED-9226-013F8637FBA5}" type="datetimeFigureOut">
              <a:rPr lang="zh-TW" altLang="en-US" smtClean="0"/>
              <a:pPr/>
              <a:t>2022/1/18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A551E863-67F1-4DED-9226-013F8637FBA5}" type="datetimeFigureOut">
              <a:rPr lang="zh-TW" altLang="en-US" smtClean="0"/>
              <a:pPr/>
              <a:t>2022/1/18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A551E863-67F1-4DED-9226-013F8637FBA5}" type="datetimeFigureOut">
              <a:rPr lang="zh-TW" altLang="en-US" smtClean="0"/>
              <a:pPr/>
              <a:t>2022/1/18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2022/1/18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2022/1/18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2022/1/18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2022/1/18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6" name="PlaceHolder 2"/>
          <p:cNvSpPr>
            <a:spLocks noGrp="1"/>
          </p:cNvSpPr>
          <p:nvPr>
            <p:ph type="dt"/>
          </p:nvPr>
        </p:nvSpPr>
        <p:spPr>
          <a:xfrm>
            <a:off x="457200" y="6356520"/>
            <a:ext cx="2133360" cy="364680"/>
          </a:xfrm>
          <a:prstGeom prst="rect">
            <a:avLst/>
          </a:prstGeom>
        </p:spPr>
        <p:txBody>
          <a:bodyPr anchor="ctr">
            <a:noAutofit/>
          </a:bodyPr>
          <a:lstStyle/>
          <a:p>
            <a:pPr>
              <a:lnSpc>
                <a:spcPct val="100000"/>
              </a:lnSpc>
            </a:pPr>
            <a:fld id="{BFEC21A0-76F1-4091-8A4E-3D3682A4EBBE}" type="datetime">
              <a:rPr lang="en-US" sz="1200" b="0" strike="noStrike" spc="-1">
                <a:solidFill>
                  <a:srgbClr val="8B8B8B"/>
                </a:solidFill>
                <a:latin typeface="Calibri"/>
              </a:rPr>
              <a:pPr>
                <a:lnSpc>
                  <a:spcPct val="100000"/>
                </a:lnSpc>
              </a:pPr>
              <a:t>1/18/2022</a:t>
            </a:fld>
            <a:endParaRPr lang="en-US" sz="1200" b="0" strike="noStrike" spc="-1">
              <a:latin typeface="Times New Roman"/>
            </a:endParaRPr>
          </a:p>
        </p:txBody>
      </p:sp>
      <p:sp>
        <p:nvSpPr>
          <p:cNvPr id="2" name="PlaceHolder 3"/>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3" name="PlaceHolder 4"/>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29C6C588-69D4-483A-BFC4-1F3BDC423AB1}"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
        <p:nvSpPr>
          <p:cNvPr id="4" name="PlaceHolder 5"/>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zh-TW" sz="3200" b="0" strike="noStrike" spc="-1" dirty="0">
                <a:solidFill>
                  <a:srgbClr val="000000"/>
                </a:solidFill>
                <a:latin typeface="Calibri"/>
              </a:rPr>
              <a:t>請按這裡編輯大綱文字格式</a:t>
            </a:r>
            <a:endParaRPr lang="en-US" sz="3200" b="0" strike="noStrike" spc="-1" dirty="0">
              <a:solidFill>
                <a:srgbClr val="000000"/>
              </a:solidFill>
              <a:latin typeface="Calibri"/>
            </a:endParaRPr>
          </a:p>
          <a:p>
            <a:pPr marL="864000" lvl="1" indent="-324000">
              <a:spcBef>
                <a:spcPts val="1134"/>
              </a:spcBef>
              <a:buClr>
                <a:srgbClr val="000000"/>
              </a:buClr>
              <a:buSzPct val="75000"/>
              <a:buFont typeface="Symbol" charset="2"/>
              <a:buChar char=""/>
            </a:pPr>
            <a:r>
              <a:rPr lang="zh-TW" sz="2400" b="0" strike="noStrike" spc="-1" dirty="0">
                <a:solidFill>
                  <a:srgbClr val="000000"/>
                </a:solidFill>
                <a:latin typeface="Calibri"/>
              </a:rPr>
              <a:t>第二個大綱層次</a:t>
            </a:r>
            <a:endParaRPr lang="en-US" sz="2400" b="0" strike="noStrike" spc="-1" dirty="0">
              <a:solidFill>
                <a:srgbClr val="000000"/>
              </a:solidFill>
              <a:latin typeface="Calibri"/>
            </a:endParaRPr>
          </a:p>
          <a:p>
            <a:pPr marL="1296000" lvl="2" indent="-288000">
              <a:spcBef>
                <a:spcPts val="850"/>
              </a:spcBef>
              <a:buClr>
                <a:srgbClr val="000000"/>
              </a:buClr>
              <a:buSzPct val="45000"/>
              <a:buFont typeface="Wingdings" charset="2"/>
              <a:buChar char=""/>
            </a:pPr>
            <a:r>
              <a:rPr lang="zh-TW" sz="2000" b="0" strike="noStrike" spc="-1" dirty="0">
                <a:solidFill>
                  <a:srgbClr val="000000"/>
                </a:solidFill>
                <a:latin typeface="Calibri"/>
              </a:rPr>
              <a:t>第三個大綱層次</a:t>
            </a:r>
            <a:endParaRPr lang="en-US" sz="2000" b="0" strike="noStrike" spc="-1" dirty="0">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dirty="0">
                <a:solidFill>
                  <a:srgbClr val="000000"/>
                </a:solidFill>
                <a:latin typeface="Calibri"/>
              </a:rPr>
              <a:t>第四個大綱層次</a:t>
            </a:r>
            <a:endParaRPr lang="en-US" sz="2000" b="0" strike="noStrike" spc="-1" dirty="0">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dirty="0">
                <a:solidFill>
                  <a:srgbClr val="000000"/>
                </a:solidFill>
                <a:latin typeface="Calibri"/>
              </a:rPr>
              <a:t>第五個大綱層次</a:t>
            </a:r>
            <a:endParaRPr lang="en-US" sz="2000" b="0" strike="noStrike" spc="-1" dirty="0">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dirty="0">
                <a:solidFill>
                  <a:srgbClr val="000000"/>
                </a:solidFill>
                <a:latin typeface="Calibri"/>
              </a:rPr>
              <a:t>第六個大綱層次</a:t>
            </a:r>
            <a:endParaRPr lang="en-US" sz="2000" b="0" strike="noStrike" spc="-1" dirty="0">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dirty="0">
                <a:solidFill>
                  <a:srgbClr val="000000"/>
                </a:solidFill>
                <a:latin typeface="Calibri"/>
              </a:rPr>
              <a:t>第七個大綱層次</a:t>
            </a:r>
            <a:endParaRPr lang="en-US" sz="2000" b="0" strike="noStrike" spc="-1" dirty="0">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pPr>
                <a:lnSpc>
                  <a:spcPct val="100000"/>
                </a:lnSpc>
              </a:pPr>
              <a:t>1/18/2022</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EF5B75-ECF6-4BE6-A3DE-C8259B535844}" type="datetimeFigureOut">
              <a:rPr lang="zh-TW" altLang="en-US" smtClean="0"/>
              <a:pPr/>
              <a:t>2022/1/18</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2404C3-9969-4EFA-96B9-1AADC38D5656}"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739" r:id="rId1"/>
    <p:sldLayoutId id="2147483740" r:id="rId2"/>
    <p:sldLayoutId id="214748375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pPr>
                <a:lnSpc>
                  <a:spcPct val="100000"/>
                </a:lnSpc>
              </a:pPr>
              <a:t>1/18/2022</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51E863-67F1-4DED-9226-013F8637FBA5}" type="datetimeFigureOut">
              <a:rPr lang="zh-TW" altLang="en-US" smtClean="0"/>
              <a:pPr/>
              <a:t>2022/1/18</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FAB90B-7E45-4DA0-85F8-FA0EBB18F3F7}"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751"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Shape 1"/>
          <p:cNvSpPr txBox="1"/>
          <p:nvPr/>
        </p:nvSpPr>
        <p:spPr>
          <a:xfrm>
            <a:off x="714240" y="1285920"/>
            <a:ext cx="7772040" cy="1469520"/>
          </a:xfrm>
          <a:prstGeom prst="rect">
            <a:avLst/>
          </a:prstGeom>
          <a:noFill/>
          <a:ln>
            <a:noFill/>
          </a:ln>
        </p:spPr>
        <p:txBody>
          <a:bodyPr anchor="ctr">
            <a:noAutofit/>
          </a:bodyPr>
          <a:lstStyle/>
          <a:p>
            <a:pPr algn="ctr"/>
            <a:r>
              <a:rPr lang="en-US" altLang="zh-TW" sz="3200" dirty="0" smtClean="0">
                <a:latin typeface="Times New Roman" pitchFamily="18" charset="0"/>
                <a:cs typeface="Times New Roman" pitchFamily="18" charset="0"/>
              </a:rPr>
              <a:t>Direct Linear Time Construction of Parameterized Suffix and LCP Arrays for Constant Alphabets</a:t>
            </a:r>
          </a:p>
        </p:txBody>
      </p:sp>
      <p:sp>
        <p:nvSpPr>
          <p:cNvPr id="89" name="TextShape 2"/>
          <p:cNvSpPr txBox="1"/>
          <p:nvPr/>
        </p:nvSpPr>
        <p:spPr>
          <a:xfrm>
            <a:off x="1214280" y="3357720"/>
            <a:ext cx="6786360" cy="2071440"/>
          </a:xfrm>
          <a:prstGeom prst="rect">
            <a:avLst/>
          </a:prstGeom>
          <a:noFill/>
          <a:ln>
            <a:noFill/>
          </a:ln>
        </p:spPr>
        <p:txBody>
          <a:bodyPr>
            <a:normAutofit fontScale="92500" lnSpcReduction="20000"/>
          </a:bodyPr>
          <a:lstStyle/>
          <a:p>
            <a:pPr algn="ctr">
              <a:spcBef>
                <a:spcPts val="479"/>
              </a:spcBef>
              <a:tabLst>
                <a:tab pos="0" algn="l"/>
              </a:tabLst>
            </a:pPr>
            <a:r>
              <a:rPr lang="it-IT" sz="2400" spc="-1" dirty="0" smtClean="0">
                <a:solidFill>
                  <a:srgbClr val="000000"/>
                </a:solidFill>
                <a:latin typeface="Times New Roman" pitchFamily="18" charset="0"/>
                <a:cs typeface="Times New Roman" pitchFamily="18" charset="0"/>
              </a:rPr>
              <a:t>Noriki Fujisato, Yuto Nakashima, Shunsuke Inenaga, Hideo Bannai and Masayuki Takeda</a:t>
            </a:r>
          </a:p>
          <a:p>
            <a:pPr algn="ctr">
              <a:spcBef>
                <a:spcPts val="479"/>
              </a:spcBef>
              <a:tabLst>
                <a:tab pos="0" algn="l"/>
              </a:tabLst>
            </a:pPr>
            <a:endParaRPr lang="en-US" sz="2000" spc="-1" dirty="0" smtClean="0">
              <a:solidFill>
                <a:srgbClr val="000000"/>
              </a:solidFill>
              <a:latin typeface="Times New Roman"/>
            </a:endParaRPr>
          </a:p>
          <a:p>
            <a:pPr algn="ctr">
              <a:spcBef>
                <a:spcPts val="479"/>
              </a:spcBef>
              <a:tabLst>
                <a:tab pos="0" algn="l"/>
              </a:tabLst>
            </a:pPr>
            <a:r>
              <a:rPr lang="en-US" sz="2400" spc="-1" dirty="0" smtClean="0">
                <a:solidFill>
                  <a:srgbClr val="000000"/>
                </a:solidFill>
                <a:latin typeface="Times New Roman"/>
              </a:rPr>
              <a:t>26th International Symposium, SPIRE 2019: </a:t>
            </a:r>
          </a:p>
          <a:p>
            <a:pPr algn="ctr">
              <a:spcBef>
                <a:spcPts val="479"/>
              </a:spcBef>
              <a:tabLst>
                <a:tab pos="0" algn="l"/>
              </a:tabLst>
            </a:pPr>
            <a:r>
              <a:rPr lang="en-US" sz="2400" spc="-1" dirty="0" smtClean="0">
                <a:solidFill>
                  <a:srgbClr val="000000"/>
                </a:solidFill>
                <a:latin typeface="Times New Roman"/>
              </a:rPr>
              <a:t>String Processing and Information Retrieval,</a:t>
            </a:r>
          </a:p>
          <a:p>
            <a:pPr algn="ctr">
              <a:spcBef>
                <a:spcPts val="479"/>
              </a:spcBef>
              <a:tabLst>
                <a:tab pos="0" algn="l"/>
              </a:tabLst>
            </a:pPr>
            <a:r>
              <a:rPr lang="en-US" sz="2400" spc="-1" dirty="0" smtClean="0">
                <a:solidFill>
                  <a:srgbClr val="000000"/>
                </a:solidFill>
                <a:latin typeface="Times New Roman"/>
              </a:rPr>
              <a:t> Segovia, Spain, October 7–9, 2019</a:t>
            </a:r>
          </a:p>
        </p:txBody>
      </p:sp>
      <p:sp>
        <p:nvSpPr>
          <p:cNvPr id="90" name="CustomShape 3"/>
          <p:cNvSpPr/>
          <p:nvPr/>
        </p:nvSpPr>
        <p:spPr>
          <a:xfrm>
            <a:off x="5786280" y="5643720"/>
            <a:ext cx="3114360" cy="1037880"/>
          </a:xfrm>
          <a:prstGeom prst="rect">
            <a:avLst/>
          </a:prstGeom>
          <a:noFill/>
          <a:ln>
            <a:noFill/>
          </a:ln>
        </p:spPr>
        <p:style>
          <a:lnRef idx="0">
            <a:scrgbClr r="0" g="0" b="0"/>
          </a:lnRef>
          <a:fillRef idx="0">
            <a:scrgbClr r="0" g="0" b="0"/>
          </a:fillRef>
          <a:effectRef idx="0">
            <a:scrgbClr r="0" g="0" b="0"/>
          </a:effectRef>
          <a:fontRef idx="minor"/>
        </p:style>
        <p:txBody>
          <a:bodyPr>
            <a:normAutofit/>
          </a:bodyPr>
          <a:lstStyle/>
          <a:p>
            <a:pPr>
              <a:lnSpc>
                <a:spcPct val="100000"/>
              </a:lnSpc>
              <a:spcBef>
                <a:spcPts val="400"/>
              </a:spcBef>
              <a:tabLst>
                <a:tab pos="0" algn="l"/>
              </a:tabLst>
            </a:pPr>
            <a:r>
              <a:rPr lang="en-US" sz="2000" b="0" strike="noStrike" spc="-1" dirty="0">
                <a:solidFill>
                  <a:srgbClr val="000000"/>
                </a:solidFill>
                <a:latin typeface="Times New Roman"/>
              </a:rPr>
              <a:t>Presenter: Shin-Cheng Lin</a:t>
            </a:r>
            <a:endParaRPr lang="en-US" sz="2000" b="0" strike="noStrike" spc="-1" dirty="0">
              <a:latin typeface="Arial"/>
            </a:endParaRPr>
          </a:p>
          <a:p>
            <a:pPr>
              <a:lnSpc>
                <a:spcPct val="100000"/>
              </a:lnSpc>
              <a:spcBef>
                <a:spcPts val="400"/>
              </a:spcBef>
              <a:tabLst>
                <a:tab pos="0" algn="l"/>
              </a:tabLst>
            </a:pPr>
            <a:r>
              <a:rPr lang="en-US" sz="2000" b="0" strike="noStrike" spc="-1" dirty="0">
                <a:solidFill>
                  <a:srgbClr val="000000"/>
                </a:solidFill>
                <a:latin typeface="Times New Roman"/>
              </a:rPr>
              <a:t>Date: </a:t>
            </a:r>
            <a:r>
              <a:rPr lang="en-US" sz="2000" spc="-1" dirty="0" smtClean="0">
                <a:solidFill>
                  <a:srgbClr val="000000"/>
                </a:solidFill>
                <a:latin typeface="Times New Roman"/>
              </a:rPr>
              <a:t>Jan</a:t>
            </a:r>
            <a:r>
              <a:rPr lang="en-US" sz="2000" spc="-1" dirty="0" smtClean="0">
                <a:solidFill>
                  <a:srgbClr val="000000"/>
                </a:solidFill>
                <a:latin typeface="Times New Roman"/>
              </a:rPr>
              <a:t>.</a:t>
            </a:r>
            <a:r>
              <a:rPr lang="en-US" sz="2000" b="0" strike="noStrike" spc="-1" dirty="0" smtClean="0">
                <a:solidFill>
                  <a:srgbClr val="000000"/>
                </a:solidFill>
                <a:latin typeface="Times New Roman"/>
              </a:rPr>
              <a:t> </a:t>
            </a:r>
            <a:r>
              <a:rPr lang="en-US" sz="2000" b="0" strike="noStrike" spc="-1" smtClean="0">
                <a:solidFill>
                  <a:srgbClr val="000000"/>
                </a:solidFill>
                <a:latin typeface="Times New Roman"/>
              </a:rPr>
              <a:t>18, </a:t>
            </a:r>
            <a:r>
              <a:rPr lang="en-US" sz="2000" b="0" strike="noStrike" spc="-1" dirty="0" smtClean="0">
                <a:solidFill>
                  <a:srgbClr val="000000"/>
                </a:solidFill>
                <a:latin typeface="Times New Roman"/>
              </a:rPr>
              <a:t>2022</a:t>
            </a:r>
            <a:endParaRPr lang="en-US" sz="2000" b="0" strike="noStrike" spc="-1" dirty="0">
              <a:latin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dirty="0" smtClean="0">
                <a:solidFill>
                  <a:srgbClr val="000000"/>
                </a:solidFill>
                <a:latin typeface="Times New Roman"/>
              </a:rPr>
              <a:t>Abstract</a:t>
            </a:r>
            <a:endParaRPr lang="en-US" sz="4400" b="0" strike="noStrike" spc="-1" dirty="0">
              <a:solidFill>
                <a:srgbClr val="000000"/>
              </a:solidFill>
              <a:latin typeface="Calibri"/>
            </a:endParaRPr>
          </a:p>
        </p:txBody>
      </p:sp>
      <p:sp>
        <p:nvSpPr>
          <p:cNvPr id="92" name="TextShape 2"/>
          <p:cNvSpPr txBox="1"/>
          <p:nvPr/>
        </p:nvSpPr>
        <p:spPr>
          <a:xfrm>
            <a:off x="457200" y="1600200"/>
            <a:ext cx="8229240" cy="5114520"/>
          </a:xfrm>
          <a:prstGeom prst="rect">
            <a:avLst/>
          </a:prstGeom>
          <a:noFill/>
          <a:ln>
            <a:noFill/>
          </a:ln>
        </p:spPr>
        <p:txBody>
          <a:bodyPr>
            <a:noAutofit/>
          </a:bodyPr>
          <a:lstStyle/>
          <a:p>
            <a:pPr marL="343080" indent="-342720">
              <a:spcBef>
                <a:spcPts val="561"/>
              </a:spcBef>
              <a:buClr>
                <a:srgbClr val="000000"/>
              </a:buClr>
              <a:buFont typeface="Arial"/>
              <a:buChar char="•"/>
            </a:pPr>
            <a:r>
              <a:rPr lang="en-US" sz="2800" spc="-1" dirty="0" smtClean="0">
                <a:solidFill>
                  <a:srgbClr val="000000"/>
                </a:solidFill>
                <a:latin typeface="Times New Roman"/>
              </a:rPr>
              <a:t>We present the first worst-case linear time algorithm that directly computes the parameterized suffix and LCP arrays for constant sized alphabets. Previous algorithms either required quadratic time or the parameterized suffix tree to be built first. More formally, for a string over static alphabet </a:t>
            </a:r>
            <a:r>
              <a:rPr lang="el-GR" sz="2800" spc="-1" dirty="0" smtClean="0">
                <a:solidFill>
                  <a:srgbClr val="000000"/>
                </a:solidFill>
                <a:latin typeface="Times New Roman"/>
              </a:rPr>
              <a:t>Σ</a:t>
            </a:r>
            <a:r>
              <a:rPr lang="en-US" sz="2800" spc="-1" dirty="0" smtClean="0">
                <a:solidFill>
                  <a:srgbClr val="000000"/>
                </a:solidFill>
                <a:latin typeface="Times New Roman"/>
              </a:rPr>
              <a:t> and parameterized alphabet </a:t>
            </a:r>
            <a:r>
              <a:rPr lang="el-GR" sz="2800" spc="-1" dirty="0" smtClean="0">
                <a:solidFill>
                  <a:srgbClr val="000000"/>
                </a:solidFill>
                <a:latin typeface="Times New Roman"/>
              </a:rPr>
              <a:t>Π</a:t>
            </a:r>
            <a:r>
              <a:rPr lang="en-US" sz="2800" spc="-1" dirty="0" smtClean="0">
                <a:solidFill>
                  <a:srgbClr val="000000"/>
                </a:solidFill>
                <a:latin typeface="Times New Roman"/>
              </a:rPr>
              <a:t> , our algorithm runs in   O(n</a:t>
            </a:r>
            <a:r>
              <a:rPr lang="el-GR" sz="2800" spc="-1" dirty="0" smtClean="0">
                <a:solidFill>
                  <a:srgbClr val="000000"/>
                </a:solidFill>
                <a:latin typeface="Times New Roman"/>
              </a:rPr>
              <a:t>π</a:t>
            </a:r>
            <a:r>
              <a:rPr lang="en-US" sz="2800" spc="-1" dirty="0" smtClean="0">
                <a:solidFill>
                  <a:srgbClr val="000000"/>
                </a:solidFill>
                <a:latin typeface="Times New Roman"/>
              </a:rPr>
              <a:t>) time and O(n) words of space, where </a:t>
            </a:r>
            <a:r>
              <a:rPr lang="el-GR" sz="2800" spc="-1" dirty="0" smtClean="0">
                <a:solidFill>
                  <a:srgbClr val="000000"/>
                </a:solidFill>
                <a:latin typeface="Times New Roman"/>
              </a:rPr>
              <a:t>π</a:t>
            </a:r>
            <a:r>
              <a:rPr lang="en-US" sz="2800" spc="-1" dirty="0" smtClean="0">
                <a:solidFill>
                  <a:srgbClr val="000000"/>
                </a:solidFill>
                <a:latin typeface="Times New Roman"/>
              </a:rPr>
              <a:t> is the number of distinct symbols of </a:t>
            </a:r>
            <a:r>
              <a:rPr lang="el-GR" sz="2800" spc="-1" dirty="0" smtClean="0">
                <a:solidFill>
                  <a:srgbClr val="000000"/>
                </a:solidFill>
                <a:latin typeface="Times New Roman"/>
              </a:rPr>
              <a:t>Π</a:t>
            </a:r>
            <a:r>
              <a:rPr lang="en-US" sz="2800" spc="-1" dirty="0" smtClean="0">
                <a:solidFill>
                  <a:srgbClr val="000000"/>
                </a:solidFill>
                <a:latin typeface="Times New Roman"/>
              </a:rPr>
              <a:t> in the string.</a:t>
            </a:r>
            <a:endParaRPr lang="en-US" sz="2800" b="0" strike="noStrike" spc="-1" dirty="0">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SA</a:t>
            </a:r>
            <a:endParaRPr lang="zh-TW" altLang="en-US" dirty="0"/>
          </a:p>
        </p:txBody>
      </p:sp>
      <p:sp>
        <p:nvSpPr>
          <p:cNvPr id="3" name="內容版面配置區 2"/>
          <p:cNvSpPr>
            <a:spLocks noGrp="1"/>
          </p:cNvSpPr>
          <p:nvPr>
            <p:ph idx="1"/>
          </p:nvPr>
        </p:nvSpPr>
        <p:spPr/>
        <p:txBody>
          <a:bodyPr/>
          <a:lstStyle/>
          <a:p>
            <a:r>
              <a:rPr lang="en-US" altLang="zh-TW" dirty="0" smtClean="0"/>
              <a:t>Suffix array</a:t>
            </a:r>
            <a:endParaRPr lang="zh-TW" altLang="en-US" dirty="0"/>
          </a:p>
        </p:txBody>
      </p:sp>
      <p:pic>
        <p:nvPicPr>
          <p:cNvPr id="1026" name="Picture 2"/>
          <p:cNvPicPr>
            <a:picLocks noChangeAspect="1" noChangeArrowheads="1"/>
          </p:cNvPicPr>
          <p:nvPr/>
        </p:nvPicPr>
        <p:blipFill>
          <a:blip r:embed="rId2"/>
          <a:srcRect/>
          <a:stretch>
            <a:fillRect/>
          </a:stretch>
        </p:blipFill>
        <p:spPr bwMode="auto">
          <a:xfrm>
            <a:off x="928662" y="2285991"/>
            <a:ext cx="7286676" cy="4148279"/>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Parameterized matching (p-match)</a:t>
            </a:r>
            <a:endParaRPr lang="zh-TW" altLang="en-US" dirty="0"/>
          </a:p>
        </p:txBody>
      </p:sp>
      <p:sp>
        <p:nvSpPr>
          <p:cNvPr id="3" name="內容版面配置區 2"/>
          <p:cNvSpPr>
            <a:spLocks noGrp="1"/>
          </p:cNvSpPr>
          <p:nvPr>
            <p:ph idx="1"/>
          </p:nvPr>
        </p:nvSpPr>
        <p:spPr/>
        <p:txBody>
          <a:bodyPr/>
          <a:lstStyle/>
          <a:p>
            <a:r>
              <a:rPr lang="el-GR" altLang="zh-TW" dirty="0" smtClean="0"/>
              <a:t>Σ = {</a:t>
            </a:r>
            <a:r>
              <a:rPr lang="en-US" altLang="zh-TW" dirty="0" smtClean="0"/>
              <a:t>A, B}</a:t>
            </a:r>
          </a:p>
          <a:p>
            <a:r>
              <a:rPr lang="el-GR" altLang="zh-TW" dirty="0" smtClean="0"/>
              <a:t>Π = {</a:t>
            </a:r>
            <a:r>
              <a:rPr lang="en-US" altLang="zh-TW" dirty="0" smtClean="0"/>
              <a:t>w, x, y, z}</a:t>
            </a:r>
          </a:p>
          <a:p>
            <a:r>
              <a:rPr lang="en-US" altLang="zh-TW" dirty="0" smtClean="0"/>
              <a:t>S = </a:t>
            </a:r>
            <a:r>
              <a:rPr lang="en-US" altLang="zh-TW" dirty="0" err="1" smtClean="0"/>
              <a:t>A</a:t>
            </a:r>
            <a:r>
              <a:rPr lang="en-US" altLang="zh-TW" dirty="0" err="1" smtClean="0">
                <a:solidFill>
                  <a:schemeClr val="accent6">
                    <a:lumMod val="75000"/>
                  </a:schemeClr>
                </a:solidFill>
              </a:rPr>
              <a:t>x</a:t>
            </a:r>
            <a:r>
              <a:rPr lang="en-US" altLang="zh-TW" dirty="0" err="1" smtClean="0"/>
              <a:t>B</a:t>
            </a:r>
            <a:r>
              <a:rPr lang="en-US" altLang="zh-TW" dirty="0" err="1" smtClean="0">
                <a:solidFill>
                  <a:schemeClr val="tx2">
                    <a:lumMod val="60000"/>
                    <a:lumOff val="40000"/>
                  </a:schemeClr>
                </a:solidFill>
              </a:rPr>
              <a:t>y</a:t>
            </a:r>
            <a:r>
              <a:rPr lang="en-US" altLang="zh-TW" dirty="0" err="1" smtClean="0"/>
              <a:t>AB</a:t>
            </a:r>
            <a:r>
              <a:rPr lang="en-US" altLang="zh-TW" dirty="0" err="1" smtClean="0">
                <a:solidFill>
                  <a:schemeClr val="accent6">
                    <a:lumMod val="75000"/>
                  </a:schemeClr>
                </a:solidFill>
              </a:rPr>
              <a:t>x</a:t>
            </a:r>
            <a:r>
              <a:rPr lang="en-US" altLang="zh-TW" dirty="0" err="1" smtClean="0">
                <a:solidFill>
                  <a:schemeClr val="tx2">
                    <a:lumMod val="60000"/>
                    <a:lumOff val="40000"/>
                  </a:schemeClr>
                </a:solidFill>
              </a:rPr>
              <a:t>y</a:t>
            </a:r>
            <a:r>
              <a:rPr lang="en-US" altLang="zh-TW" dirty="0" smtClean="0"/>
              <a:t>$</a:t>
            </a:r>
          </a:p>
          <a:p>
            <a:r>
              <a:rPr lang="en-US" altLang="zh-TW" dirty="0" smtClean="0"/>
              <a:t>U = </a:t>
            </a:r>
            <a:r>
              <a:rPr lang="en-US" altLang="zh-TW" dirty="0" err="1" smtClean="0"/>
              <a:t>A</a:t>
            </a:r>
            <a:r>
              <a:rPr lang="en-US" altLang="zh-TW" dirty="0" err="1" smtClean="0">
                <a:solidFill>
                  <a:schemeClr val="accent6">
                    <a:lumMod val="75000"/>
                  </a:schemeClr>
                </a:solidFill>
              </a:rPr>
              <a:t>w</a:t>
            </a:r>
            <a:r>
              <a:rPr lang="en-US" altLang="zh-TW" dirty="0" err="1" smtClean="0"/>
              <a:t>B</a:t>
            </a:r>
            <a:r>
              <a:rPr lang="en-US" altLang="zh-TW" dirty="0" err="1" smtClean="0">
                <a:solidFill>
                  <a:schemeClr val="tx2">
                    <a:lumMod val="60000"/>
                    <a:lumOff val="40000"/>
                  </a:schemeClr>
                </a:solidFill>
              </a:rPr>
              <a:t>z</a:t>
            </a:r>
            <a:r>
              <a:rPr lang="en-US" altLang="zh-TW" dirty="0" err="1" smtClean="0"/>
              <a:t>AB</a:t>
            </a:r>
            <a:r>
              <a:rPr lang="en-US" altLang="zh-TW" dirty="0" err="1" smtClean="0">
                <a:solidFill>
                  <a:schemeClr val="accent6">
                    <a:lumMod val="75000"/>
                  </a:schemeClr>
                </a:solidFill>
              </a:rPr>
              <a:t>w</a:t>
            </a:r>
            <a:r>
              <a:rPr lang="en-US" altLang="zh-TW" dirty="0" err="1" smtClean="0">
                <a:solidFill>
                  <a:schemeClr val="tx2">
                    <a:lumMod val="60000"/>
                    <a:lumOff val="40000"/>
                  </a:schemeClr>
                </a:solidFill>
              </a:rPr>
              <a:t>z</a:t>
            </a:r>
            <a:r>
              <a:rPr lang="en-US" altLang="zh-TW" dirty="0" smtClean="0"/>
              <a:t>$</a:t>
            </a:r>
          </a:p>
          <a:p>
            <a:r>
              <a:rPr lang="en-US" altLang="zh-TW" dirty="0" smtClean="0"/>
              <a:t>V = </a:t>
            </a:r>
            <a:r>
              <a:rPr lang="en-US" altLang="zh-TW" dirty="0" err="1" smtClean="0"/>
              <a:t>AyByAByy</a:t>
            </a:r>
            <a:r>
              <a:rPr lang="en-US" altLang="zh-TW" dirty="0" smtClean="0"/>
              <a:t>$</a:t>
            </a:r>
            <a:endParaRPr lang="zh-TW"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Previous (</a:t>
            </a:r>
            <a:r>
              <a:rPr lang="en-US" altLang="zh-TW" dirty="0" err="1" smtClean="0"/>
              <a:t>prev</a:t>
            </a:r>
            <a:r>
              <a:rPr lang="en-US" altLang="zh-TW" dirty="0" smtClean="0"/>
              <a:t>) encoding</a:t>
            </a:r>
            <a:endParaRPr lang="zh-TW" altLang="en-US" dirty="0"/>
          </a:p>
        </p:txBody>
      </p:sp>
      <p:sp>
        <p:nvSpPr>
          <p:cNvPr id="3" name="內容版面配置區 2"/>
          <p:cNvSpPr>
            <a:spLocks noGrp="1"/>
          </p:cNvSpPr>
          <p:nvPr>
            <p:ph idx="1"/>
          </p:nvPr>
        </p:nvSpPr>
        <p:spPr/>
        <p:txBody>
          <a:bodyPr>
            <a:normAutofit/>
          </a:bodyPr>
          <a:lstStyle/>
          <a:p>
            <a:r>
              <a:rPr lang="en-US" altLang="zh-TW" dirty="0" smtClean="0"/>
              <a:t>S           = </a:t>
            </a:r>
            <a:r>
              <a:rPr lang="en-US" altLang="zh-TW" dirty="0" err="1" smtClean="0"/>
              <a:t>A</a:t>
            </a:r>
            <a:r>
              <a:rPr lang="en-US" altLang="zh-TW" dirty="0" err="1" smtClean="0">
                <a:solidFill>
                  <a:schemeClr val="accent6">
                    <a:lumMod val="75000"/>
                  </a:schemeClr>
                </a:solidFill>
              </a:rPr>
              <a:t>x</a:t>
            </a:r>
            <a:r>
              <a:rPr lang="en-US" altLang="zh-TW" dirty="0" err="1" smtClean="0"/>
              <a:t>B</a:t>
            </a:r>
            <a:r>
              <a:rPr lang="en-US" altLang="zh-TW" dirty="0" err="1" smtClean="0">
                <a:solidFill>
                  <a:schemeClr val="tx2">
                    <a:lumMod val="60000"/>
                    <a:lumOff val="40000"/>
                  </a:schemeClr>
                </a:solidFill>
              </a:rPr>
              <a:t>y</a:t>
            </a:r>
            <a:r>
              <a:rPr lang="en-US" altLang="zh-TW" dirty="0" err="1" smtClean="0"/>
              <a:t>AB</a:t>
            </a:r>
            <a:r>
              <a:rPr lang="en-US" altLang="zh-TW" dirty="0" err="1" smtClean="0">
                <a:solidFill>
                  <a:schemeClr val="accent6">
                    <a:lumMod val="75000"/>
                  </a:schemeClr>
                </a:solidFill>
              </a:rPr>
              <a:t>x</a:t>
            </a:r>
            <a:r>
              <a:rPr lang="en-US" altLang="zh-TW" dirty="0" err="1" smtClean="0">
                <a:solidFill>
                  <a:schemeClr val="tx2">
                    <a:lumMod val="60000"/>
                    <a:lumOff val="40000"/>
                  </a:schemeClr>
                </a:solidFill>
              </a:rPr>
              <a:t>y</a:t>
            </a:r>
            <a:r>
              <a:rPr lang="en-US" altLang="zh-TW" dirty="0" smtClean="0"/>
              <a:t>$</a:t>
            </a:r>
          </a:p>
          <a:p>
            <a:r>
              <a:rPr lang="en-US" altLang="zh-TW" dirty="0" err="1" smtClean="0"/>
              <a:t>prev</a:t>
            </a:r>
            <a:r>
              <a:rPr lang="en-US" altLang="zh-TW" dirty="0" smtClean="0"/>
              <a:t>(S) = A0B0AB54$</a:t>
            </a:r>
          </a:p>
          <a:p>
            <a:r>
              <a:rPr lang="en-US" altLang="zh-TW" dirty="0" smtClean="0"/>
              <a:t>U           = </a:t>
            </a:r>
            <a:r>
              <a:rPr lang="en-US" altLang="zh-TW" dirty="0" err="1" smtClean="0"/>
              <a:t>A</a:t>
            </a:r>
            <a:r>
              <a:rPr lang="en-US" altLang="zh-TW" dirty="0" err="1" smtClean="0">
                <a:solidFill>
                  <a:schemeClr val="accent6">
                    <a:lumMod val="75000"/>
                  </a:schemeClr>
                </a:solidFill>
              </a:rPr>
              <a:t>w</a:t>
            </a:r>
            <a:r>
              <a:rPr lang="en-US" altLang="zh-TW" dirty="0" err="1" smtClean="0"/>
              <a:t>B</a:t>
            </a:r>
            <a:r>
              <a:rPr lang="en-US" altLang="zh-TW" dirty="0" err="1" smtClean="0">
                <a:solidFill>
                  <a:schemeClr val="tx2">
                    <a:lumMod val="60000"/>
                    <a:lumOff val="40000"/>
                  </a:schemeClr>
                </a:solidFill>
              </a:rPr>
              <a:t>z</a:t>
            </a:r>
            <a:r>
              <a:rPr lang="en-US" altLang="zh-TW" dirty="0" err="1" smtClean="0"/>
              <a:t>AB</a:t>
            </a:r>
            <a:r>
              <a:rPr lang="en-US" altLang="zh-TW" dirty="0" err="1" smtClean="0">
                <a:solidFill>
                  <a:schemeClr val="accent6">
                    <a:lumMod val="75000"/>
                  </a:schemeClr>
                </a:solidFill>
              </a:rPr>
              <a:t>w</a:t>
            </a:r>
            <a:r>
              <a:rPr lang="en-US" altLang="zh-TW" dirty="0" err="1" smtClean="0">
                <a:solidFill>
                  <a:schemeClr val="tx2">
                    <a:lumMod val="60000"/>
                    <a:lumOff val="40000"/>
                  </a:schemeClr>
                </a:solidFill>
              </a:rPr>
              <a:t>z</a:t>
            </a:r>
            <a:r>
              <a:rPr lang="en-US" altLang="zh-TW" dirty="0" smtClean="0"/>
              <a:t>$</a:t>
            </a:r>
          </a:p>
          <a:p>
            <a:r>
              <a:rPr lang="en-US" altLang="zh-TW" dirty="0" err="1" smtClean="0"/>
              <a:t>prev</a:t>
            </a:r>
            <a:r>
              <a:rPr lang="en-US" altLang="zh-TW" dirty="0" smtClean="0"/>
              <a:t>(U) = A0B0AB54$</a:t>
            </a:r>
          </a:p>
          <a:p>
            <a:r>
              <a:rPr lang="en-US" altLang="zh-TW" dirty="0" smtClean="0"/>
              <a:t>V           = </a:t>
            </a:r>
            <a:r>
              <a:rPr lang="en-US" altLang="zh-TW" dirty="0" err="1" smtClean="0"/>
              <a:t>A</a:t>
            </a:r>
            <a:r>
              <a:rPr lang="en-US" altLang="zh-TW" dirty="0" err="1" smtClean="0">
                <a:solidFill>
                  <a:schemeClr val="tx2">
                    <a:lumMod val="60000"/>
                    <a:lumOff val="40000"/>
                  </a:schemeClr>
                </a:solidFill>
              </a:rPr>
              <a:t>y</a:t>
            </a:r>
            <a:r>
              <a:rPr lang="en-US" altLang="zh-TW" dirty="0" err="1" smtClean="0"/>
              <a:t>B</a:t>
            </a:r>
            <a:r>
              <a:rPr lang="en-US" altLang="zh-TW" dirty="0" err="1" smtClean="0">
                <a:solidFill>
                  <a:schemeClr val="tx2">
                    <a:lumMod val="60000"/>
                    <a:lumOff val="40000"/>
                  </a:schemeClr>
                </a:solidFill>
              </a:rPr>
              <a:t>y</a:t>
            </a:r>
            <a:r>
              <a:rPr lang="en-US" altLang="zh-TW" dirty="0" err="1" smtClean="0"/>
              <a:t>AB</a:t>
            </a:r>
            <a:r>
              <a:rPr lang="en-US" altLang="zh-TW" dirty="0" err="1" smtClean="0">
                <a:solidFill>
                  <a:schemeClr val="tx2">
                    <a:lumMod val="60000"/>
                    <a:lumOff val="40000"/>
                  </a:schemeClr>
                </a:solidFill>
              </a:rPr>
              <a:t>yy</a:t>
            </a:r>
            <a:r>
              <a:rPr lang="en-US" altLang="zh-TW" dirty="0" smtClean="0"/>
              <a:t>$</a:t>
            </a:r>
          </a:p>
          <a:p>
            <a:r>
              <a:rPr lang="en-US" altLang="zh-TW" dirty="0" err="1" smtClean="0"/>
              <a:t>prev</a:t>
            </a:r>
            <a:r>
              <a:rPr lang="en-US" altLang="zh-TW" dirty="0" smtClean="0"/>
              <a:t>(V) = A0B2AB31$</a:t>
            </a:r>
          </a:p>
          <a:p>
            <a:endParaRPr lang="zh-TW"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err="1" smtClean="0"/>
              <a:t>pSA</a:t>
            </a:r>
            <a:endParaRPr lang="zh-TW" altLang="en-US" dirty="0"/>
          </a:p>
        </p:txBody>
      </p:sp>
      <p:sp>
        <p:nvSpPr>
          <p:cNvPr id="3" name="內容版面配置區 2"/>
          <p:cNvSpPr>
            <a:spLocks noGrp="1"/>
          </p:cNvSpPr>
          <p:nvPr>
            <p:ph idx="1"/>
          </p:nvPr>
        </p:nvSpPr>
        <p:spPr/>
        <p:txBody>
          <a:bodyPr/>
          <a:lstStyle/>
          <a:p>
            <a:r>
              <a:rPr lang="en-US" altLang="zh-TW" dirty="0" smtClean="0"/>
              <a:t>T=</a:t>
            </a:r>
            <a:r>
              <a:rPr lang="en-US" altLang="zh-TW" dirty="0" err="1" smtClean="0"/>
              <a:t>AAAwBxyyAAAzwwB</a:t>
            </a:r>
            <a:r>
              <a:rPr lang="en-US" altLang="zh-TW" dirty="0" smtClean="0"/>
              <a:t>$</a:t>
            </a:r>
          </a:p>
          <a:p>
            <a:r>
              <a:rPr lang="en-US" altLang="zh-TW" dirty="0" smtClean="0"/>
              <a:t>T[7…n],             </a:t>
            </a:r>
            <a:r>
              <a:rPr lang="en-US" altLang="zh-TW" dirty="0" err="1" smtClean="0"/>
              <a:t>yyAAAzwwB</a:t>
            </a:r>
            <a:r>
              <a:rPr lang="en-US" altLang="zh-TW" dirty="0" smtClean="0"/>
              <a:t>$</a:t>
            </a:r>
          </a:p>
          <a:p>
            <a:r>
              <a:rPr lang="en-US" altLang="zh-TW" dirty="0" err="1" smtClean="0"/>
              <a:t>Prev</a:t>
            </a:r>
            <a:r>
              <a:rPr lang="en-US" altLang="zh-TW" dirty="0" smtClean="0"/>
              <a:t>(T[7…n]) = 01AAA001B$</a:t>
            </a:r>
          </a:p>
          <a:p>
            <a:r>
              <a:rPr lang="en-US" altLang="zh-TW" dirty="0" smtClean="0"/>
              <a:t>T[8…n],             </a:t>
            </a:r>
            <a:r>
              <a:rPr lang="en-US" altLang="zh-TW" dirty="0" err="1" smtClean="0"/>
              <a:t>yAAAzwwB</a:t>
            </a:r>
            <a:r>
              <a:rPr lang="en-US" altLang="zh-TW" dirty="0" smtClean="0"/>
              <a:t>$</a:t>
            </a:r>
            <a:endParaRPr lang="zh-TW" altLang="en-US" dirty="0" smtClean="0"/>
          </a:p>
          <a:p>
            <a:r>
              <a:rPr lang="en-US" altLang="zh-TW" dirty="0" err="1" smtClean="0"/>
              <a:t>Prev</a:t>
            </a:r>
            <a:r>
              <a:rPr lang="en-US" altLang="zh-TW" dirty="0" smtClean="0"/>
              <a:t>(T[8…n]) = 0AAA001B$</a:t>
            </a:r>
            <a:endParaRPr lang="zh-TW" altLang="en-US" dirty="0" smtClean="0"/>
          </a:p>
          <a:p>
            <a:endParaRPr lang="zh-TW"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357166"/>
            <a:ext cx="8229600" cy="6143668"/>
          </a:xfrm>
        </p:spPr>
        <p:txBody>
          <a:bodyPr>
            <a:normAutofit/>
          </a:bodyPr>
          <a:lstStyle/>
          <a:p>
            <a:r>
              <a:rPr lang="en-US" altLang="zh-TW" dirty="0" smtClean="0"/>
              <a:t>S           = </a:t>
            </a:r>
            <a:r>
              <a:rPr lang="en-US" altLang="zh-TW" dirty="0" err="1" smtClean="0"/>
              <a:t>A</a:t>
            </a:r>
            <a:r>
              <a:rPr lang="en-US" altLang="zh-TW" dirty="0" err="1" smtClean="0">
                <a:solidFill>
                  <a:schemeClr val="accent6">
                    <a:lumMod val="75000"/>
                  </a:schemeClr>
                </a:solidFill>
              </a:rPr>
              <a:t>x</a:t>
            </a:r>
            <a:r>
              <a:rPr lang="en-US" altLang="zh-TW" dirty="0" err="1" smtClean="0"/>
              <a:t>B</a:t>
            </a:r>
            <a:r>
              <a:rPr lang="en-US" altLang="zh-TW" dirty="0" err="1" smtClean="0">
                <a:solidFill>
                  <a:schemeClr val="tx2">
                    <a:lumMod val="60000"/>
                    <a:lumOff val="40000"/>
                  </a:schemeClr>
                </a:solidFill>
              </a:rPr>
              <a:t>y</a:t>
            </a:r>
            <a:r>
              <a:rPr lang="en-US" altLang="zh-TW" dirty="0" err="1" smtClean="0"/>
              <a:t>AB</a:t>
            </a:r>
            <a:r>
              <a:rPr lang="en-US" altLang="zh-TW" dirty="0" err="1" smtClean="0">
                <a:solidFill>
                  <a:schemeClr val="accent6">
                    <a:lumMod val="75000"/>
                  </a:schemeClr>
                </a:solidFill>
              </a:rPr>
              <a:t>x</a:t>
            </a:r>
            <a:r>
              <a:rPr lang="en-US" altLang="zh-TW" dirty="0" err="1" smtClean="0">
                <a:solidFill>
                  <a:schemeClr val="tx2">
                    <a:lumMod val="60000"/>
                    <a:lumOff val="40000"/>
                  </a:schemeClr>
                </a:solidFill>
              </a:rPr>
              <a:t>y</a:t>
            </a:r>
            <a:r>
              <a:rPr lang="en-US" altLang="zh-TW" dirty="0" smtClean="0"/>
              <a:t>$</a:t>
            </a:r>
          </a:p>
          <a:p>
            <a:r>
              <a:rPr lang="en-US" altLang="zh-TW" dirty="0" err="1" smtClean="0"/>
              <a:t>prev</a:t>
            </a:r>
            <a:r>
              <a:rPr lang="en-US" altLang="zh-TW" dirty="0" smtClean="0"/>
              <a:t>(S) = A0 B0 AB54$</a:t>
            </a:r>
          </a:p>
          <a:p>
            <a:r>
              <a:rPr lang="en-US" altLang="zh-TW" dirty="0" smtClean="0"/>
              <a:t>At most |</a:t>
            </a:r>
            <a:r>
              <a:rPr lang="el-GR" spc="-1" dirty="0" smtClean="0">
                <a:solidFill>
                  <a:srgbClr val="000000"/>
                </a:solidFill>
                <a:latin typeface="Times New Roman"/>
              </a:rPr>
              <a:t> Π </a:t>
            </a:r>
            <a:r>
              <a:rPr lang="en-US" altLang="zh-TW" dirty="0" smtClean="0"/>
              <a:t>| </a:t>
            </a:r>
            <a:r>
              <a:rPr lang="zh-TW" altLang="en-US" dirty="0" smtClean="0"/>
              <a:t>＋ </a:t>
            </a:r>
            <a:r>
              <a:rPr lang="en-US" altLang="zh-TW" dirty="0" smtClean="0"/>
              <a:t>1 segments</a:t>
            </a:r>
          </a:p>
          <a:p>
            <a:r>
              <a:rPr lang="en-US" altLang="zh-TW" dirty="0" err="1" smtClean="0"/>
              <a:t>C</a:t>
            </a:r>
            <a:r>
              <a:rPr lang="en-US" altLang="zh-TW" baseline="-25000" dirty="0" err="1" smtClean="0"/>
              <a:t>i,j</a:t>
            </a:r>
            <a:r>
              <a:rPr lang="en-US" altLang="zh-TW" dirty="0" smtClean="0"/>
              <a:t> </a:t>
            </a:r>
          </a:p>
          <a:p>
            <a:r>
              <a:rPr lang="en-US" altLang="zh-TW" dirty="0" smtClean="0"/>
              <a:t>C</a:t>
            </a:r>
            <a:r>
              <a:rPr lang="en-US" altLang="zh-TW" baseline="-25000" dirty="0" smtClean="0"/>
              <a:t>1,1</a:t>
            </a:r>
            <a:r>
              <a:rPr lang="en-US" altLang="zh-TW" dirty="0" smtClean="0"/>
              <a:t> = A0, C</a:t>
            </a:r>
            <a:r>
              <a:rPr lang="en-US" altLang="zh-TW" baseline="-25000" dirty="0" smtClean="0"/>
              <a:t>1,2</a:t>
            </a:r>
            <a:r>
              <a:rPr lang="en-US" altLang="zh-TW" dirty="0" smtClean="0"/>
              <a:t> = B0, C</a:t>
            </a:r>
            <a:r>
              <a:rPr lang="en-US" altLang="zh-TW" baseline="-25000" dirty="0" smtClean="0"/>
              <a:t>1,3</a:t>
            </a:r>
            <a:r>
              <a:rPr lang="en-US" altLang="zh-TW" dirty="0" smtClean="0"/>
              <a:t> = AB540 </a:t>
            </a:r>
          </a:p>
          <a:p>
            <a:r>
              <a:rPr lang="en-US" altLang="zh-TW" dirty="0" smtClean="0"/>
              <a:t>C</a:t>
            </a:r>
            <a:r>
              <a:rPr lang="en-US" altLang="zh-TW" baseline="-25000" dirty="0" smtClean="0"/>
              <a:t>2,1</a:t>
            </a:r>
            <a:r>
              <a:rPr lang="en-US" altLang="zh-TW" dirty="0" smtClean="0"/>
              <a:t> = 0, C</a:t>
            </a:r>
            <a:r>
              <a:rPr lang="en-US" altLang="zh-TW" baseline="-25000" dirty="0" smtClean="0"/>
              <a:t>2,2</a:t>
            </a:r>
            <a:r>
              <a:rPr lang="en-US" altLang="zh-TW" dirty="0" smtClean="0"/>
              <a:t> = B0, C</a:t>
            </a:r>
            <a:r>
              <a:rPr lang="en-US" altLang="zh-TW" baseline="-25000" dirty="0" smtClean="0"/>
              <a:t>2,3</a:t>
            </a:r>
            <a:r>
              <a:rPr lang="en-US" altLang="zh-TW" dirty="0" smtClean="0"/>
              <a:t> = AB540  </a:t>
            </a:r>
          </a:p>
          <a:p>
            <a:r>
              <a:rPr lang="en-US" altLang="zh-TW" dirty="0" smtClean="0"/>
              <a:t>C</a:t>
            </a:r>
            <a:r>
              <a:rPr lang="en-US" altLang="zh-TW" baseline="-25000" dirty="0" smtClean="0"/>
              <a:t>3,1</a:t>
            </a:r>
            <a:r>
              <a:rPr lang="en-US" altLang="zh-TW" dirty="0" smtClean="0"/>
              <a:t> = B0, C</a:t>
            </a:r>
            <a:r>
              <a:rPr lang="en-US" altLang="zh-TW" baseline="-25000" dirty="0" smtClean="0"/>
              <a:t>3,2</a:t>
            </a:r>
            <a:r>
              <a:rPr lang="en-US" altLang="zh-TW" dirty="0" smtClean="0"/>
              <a:t> = AB</a:t>
            </a:r>
            <a:r>
              <a:rPr lang="en-US" altLang="zh-TW" dirty="0" smtClean="0">
                <a:solidFill>
                  <a:srgbClr val="FF0000"/>
                </a:solidFill>
              </a:rPr>
              <a:t>0</a:t>
            </a:r>
            <a:r>
              <a:rPr lang="en-US" altLang="zh-TW" dirty="0" smtClean="0"/>
              <a:t>, C</a:t>
            </a:r>
            <a:r>
              <a:rPr lang="en-US" altLang="zh-TW" baseline="-25000" dirty="0" smtClean="0"/>
              <a:t>3,3</a:t>
            </a:r>
            <a:r>
              <a:rPr lang="en-US" altLang="zh-TW" dirty="0" smtClean="0"/>
              <a:t> = 40 </a:t>
            </a:r>
          </a:p>
          <a:p>
            <a:r>
              <a:rPr lang="en-US" altLang="zh-TW" dirty="0" err="1" smtClean="0"/>
              <a:t>D</a:t>
            </a:r>
            <a:r>
              <a:rPr lang="en-US" altLang="zh-TW" baseline="-25000" dirty="0" err="1" smtClean="0"/>
              <a:t>i,j</a:t>
            </a:r>
            <a:r>
              <a:rPr lang="en-US" altLang="zh-TW" dirty="0" smtClean="0"/>
              <a:t> </a:t>
            </a:r>
          </a:p>
          <a:p>
            <a:r>
              <a:rPr lang="en-US" altLang="zh-TW" dirty="0" err="1" smtClean="0"/>
              <a:t>D</a:t>
            </a:r>
            <a:r>
              <a:rPr lang="en-US" altLang="zh-TW" baseline="-25000" dirty="0" err="1" smtClean="0"/>
              <a:t>i,j</a:t>
            </a:r>
            <a:r>
              <a:rPr lang="en-US" altLang="zh-TW" dirty="0" smtClean="0"/>
              <a:t>  is rank of </a:t>
            </a:r>
            <a:r>
              <a:rPr lang="en-US" altLang="zh-TW" dirty="0" err="1" smtClean="0"/>
              <a:t>C</a:t>
            </a:r>
            <a:r>
              <a:rPr lang="en-US" altLang="zh-TW" baseline="-25000" dirty="0" err="1" smtClean="0"/>
              <a:t>i,j</a:t>
            </a:r>
            <a:r>
              <a:rPr lang="en-US" altLang="zh-TW" dirty="0" smtClean="0"/>
              <a:t> in </a:t>
            </a:r>
            <a:r>
              <a:rPr lang="en-US" altLang="zh-TW" dirty="0" err="1" smtClean="0"/>
              <a:t>C</a:t>
            </a:r>
            <a:r>
              <a:rPr lang="en-US" altLang="zh-TW" baseline="-25000" dirty="0" err="1" smtClean="0"/>
              <a:t>j</a:t>
            </a:r>
            <a:r>
              <a:rPr lang="en-US" altLang="zh-TW" dirty="0" smtClean="0"/>
              <a:t> </a:t>
            </a:r>
          </a:p>
          <a:p>
            <a:r>
              <a:rPr lang="en-US" altLang="zh-TW" dirty="0" smtClean="0"/>
              <a:t>D</a:t>
            </a:r>
            <a:r>
              <a:rPr lang="en-US" altLang="zh-TW" baseline="-25000" dirty="0" smtClean="0"/>
              <a:t>i</a:t>
            </a:r>
            <a:r>
              <a:rPr lang="en-US" altLang="zh-TW" dirty="0" smtClean="0"/>
              <a:t> = D</a:t>
            </a:r>
            <a:r>
              <a:rPr lang="en-US" altLang="zh-TW" baseline="-25000" dirty="0" smtClean="0"/>
              <a:t>i,1</a:t>
            </a:r>
            <a:r>
              <a:rPr lang="en-US" altLang="zh-TW" dirty="0" smtClean="0"/>
              <a:t> D</a:t>
            </a:r>
            <a:r>
              <a:rPr lang="en-US" altLang="zh-TW" baseline="-25000" dirty="0" smtClean="0"/>
              <a:t>i,2 </a:t>
            </a:r>
            <a:r>
              <a:rPr lang="en-US" altLang="zh-TW" dirty="0" smtClean="0"/>
              <a:t> … </a:t>
            </a:r>
            <a:r>
              <a:rPr lang="en-US" altLang="zh-TW" dirty="0" err="1" smtClean="0"/>
              <a:t>D</a:t>
            </a:r>
            <a:r>
              <a:rPr lang="en-US" altLang="zh-TW" baseline="-25000" dirty="0" err="1" smtClean="0"/>
              <a:t>i,z</a:t>
            </a:r>
            <a:endParaRPr lang="en-US" altLang="zh-TW" dirty="0" smtClean="0"/>
          </a:p>
          <a:p>
            <a:endParaRPr lang="zh-TW"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err="1" smtClean="0"/>
              <a:t>pSA</a:t>
            </a:r>
            <a:endParaRPr lang="zh-TW" altLang="en-US" dirty="0"/>
          </a:p>
        </p:txBody>
      </p:sp>
      <p:sp>
        <p:nvSpPr>
          <p:cNvPr id="3" name="內容版面配置區 2"/>
          <p:cNvSpPr>
            <a:spLocks noGrp="1"/>
          </p:cNvSpPr>
          <p:nvPr>
            <p:ph idx="1"/>
          </p:nvPr>
        </p:nvSpPr>
        <p:spPr/>
        <p:txBody>
          <a:bodyPr/>
          <a:lstStyle/>
          <a:p>
            <a:r>
              <a:rPr lang="en-US" altLang="zh-TW" dirty="0" smtClean="0"/>
              <a:t>T=</a:t>
            </a:r>
            <a:r>
              <a:rPr lang="en-US" altLang="zh-TW" dirty="0" err="1" smtClean="0"/>
              <a:t>AAAwBxyyAAAzwwB</a:t>
            </a:r>
            <a:r>
              <a:rPr lang="en-US" altLang="zh-TW" dirty="0" smtClean="0"/>
              <a:t>$</a:t>
            </a:r>
          </a:p>
          <a:p>
            <a:r>
              <a:rPr lang="en-US" altLang="zh-TW" dirty="0" smtClean="0"/>
              <a:t>T[3…n],             </a:t>
            </a:r>
            <a:r>
              <a:rPr lang="en-US" altLang="zh-TW" dirty="0" err="1" smtClean="0">
                <a:solidFill>
                  <a:srgbClr val="FF0000"/>
                </a:solidFill>
              </a:rPr>
              <a:t>A</a:t>
            </a:r>
            <a:r>
              <a:rPr lang="en-US" altLang="zh-TW" dirty="0" err="1" smtClean="0"/>
              <a:t>wBxyyAAAzwwB</a:t>
            </a:r>
            <a:r>
              <a:rPr lang="en-US" altLang="zh-TW" dirty="0" smtClean="0"/>
              <a:t>$</a:t>
            </a:r>
          </a:p>
          <a:p>
            <a:r>
              <a:rPr lang="en-US" altLang="zh-TW" dirty="0" err="1" smtClean="0"/>
              <a:t>Prev</a:t>
            </a:r>
            <a:r>
              <a:rPr lang="en-US" altLang="zh-TW" dirty="0" smtClean="0"/>
              <a:t>(T[3…n]) = A0B001AAA091B$</a:t>
            </a:r>
          </a:p>
          <a:p>
            <a:r>
              <a:rPr lang="en-US" altLang="zh-TW" dirty="0" smtClean="0"/>
              <a:t>T[4…n],             </a:t>
            </a:r>
            <a:r>
              <a:rPr lang="en-US" altLang="zh-TW" dirty="0" err="1" smtClean="0"/>
              <a:t>wBxyyAAAzwwB</a:t>
            </a:r>
            <a:r>
              <a:rPr lang="en-US" altLang="zh-TW" dirty="0" smtClean="0"/>
              <a:t>$</a:t>
            </a:r>
            <a:endParaRPr lang="zh-TW" altLang="en-US" dirty="0" smtClean="0"/>
          </a:p>
          <a:p>
            <a:r>
              <a:rPr lang="en-US" altLang="zh-TW" dirty="0" err="1" smtClean="0"/>
              <a:t>Prev</a:t>
            </a:r>
            <a:r>
              <a:rPr lang="en-US" altLang="zh-TW" dirty="0" smtClean="0"/>
              <a:t>(T[4…n]) = 0B001AAA091B$</a:t>
            </a:r>
            <a:endParaRPr lang="zh-TW" altLang="en-US" dirty="0" smtClean="0"/>
          </a:p>
          <a:p>
            <a:endParaRPr lang="zh-TW"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err="1" smtClean="0"/>
              <a:t>pSA</a:t>
            </a:r>
            <a:endParaRPr lang="zh-TW" altLang="en-US" dirty="0"/>
          </a:p>
        </p:txBody>
      </p:sp>
      <p:sp>
        <p:nvSpPr>
          <p:cNvPr id="3" name="內容版面配置區 2"/>
          <p:cNvSpPr>
            <a:spLocks noGrp="1"/>
          </p:cNvSpPr>
          <p:nvPr>
            <p:ph idx="1"/>
          </p:nvPr>
        </p:nvSpPr>
        <p:spPr/>
        <p:txBody>
          <a:bodyPr/>
          <a:lstStyle/>
          <a:p>
            <a:r>
              <a:rPr lang="en-US" altLang="zh-TW" dirty="0" smtClean="0"/>
              <a:t>T=</a:t>
            </a:r>
            <a:r>
              <a:rPr lang="en-US" altLang="zh-TW" dirty="0" err="1" smtClean="0"/>
              <a:t>AAAwBxyyAAAzwwB</a:t>
            </a:r>
            <a:r>
              <a:rPr lang="en-US" altLang="zh-TW" dirty="0" smtClean="0"/>
              <a:t>$</a:t>
            </a:r>
          </a:p>
          <a:p>
            <a:r>
              <a:rPr lang="en-US" altLang="zh-TW" dirty="0" smtClean="0"/>
              <a:t>T[4…n],             </a:t>
            </a:r>
            <a:r>
              <a:rPr lang="en-US" altLang="zh-TW" dirty="0" err="1" smtClean="0">
                <a:solidFill>
                  <a:srgbClr val="FF0000"/>
                </a:solidFill>
              </a:rPr>
              <a:t>w</a:t>
            </a:r>
            <a:r>
              <a:rPr lang="en-US" altLang="zh-TW" dirty="0" err="1" smtClean="0"/>
              <a:t>BxyyAAAzwwB</a:t>
            </a:r>
            <a:r>
              <a:rPr lang="en-US" altLang="zh-TW" dirty="0" smtClean="0"/>
              <a:t>$</a:t>
            </a:r>
          </a:p>
          <a:p>
            <a:r>
              <a:rPr lang="en-US" altLang="zh-TW" dirty="0" err="1" smtClean="0"/>
              <a:t>Prev</a:t>
            </a:r>
            <a:r>
              <a:rPr lang="en-US" altLang="zh-TW" dirty="0" smtClean="0"/>
              <a:t>(T[4…n]) = 0B001AAA091B$</a:t>
            </a:r>
          </a:p>
          <a:p>
            <a:r>
              <a:rPr lang="en-US" altLang="zh-TW" dirty="0" smtClean="0"/>
              <a:t>T[5…n],             </a:t>
            </a:r>
            <a:r>
              <a:rPr lang="en-US" altLang="zh-TW" dirty="0" err="1" smtClean="0"/>
              <a:t>BxyyAAAz</a:t>
            </a:r>
            <a:r>
              <a:rPr lang="en-US" altLang="zh-TW" dirty="0" err="1" smtClean="0">
                <a:solidFill>
                  <a:srgbClr val="FF0000"/>
                </a:solidFill>
              </a:rPr>
              <a:t>w</a:t>
            </a:r>
            <a:r>
              <a:rPr lang="en-US" altLang="zh-TW" dirty="0" err="1" smtClean="0"/>
              <a:t>wB</a:t>
            </a:r>
            <a:r>
              <a:rPr lang="en-US" altLang="zh-TW" dirty="0" smtClean="0"/>
              <a:t>$</a:t>
            </a:r>
            <a:endParaRPr lang="zh-TW" altLang="en-US" dirty="0" smtClean="0"/>
          </a:p>
          <a:p>
            <a:r>
              <a:rPr lang="en-US" altLang="zh-TW" dirty="0" err="1" smtClean="0"/>
              <a:t>Prev</a:t>
            </a:r>
            <a:r>
              <a:rPr lang="en-US" altLang="zh-TW" dirty="0" smtClean="0"/>
              <a:t>(T[5…n]) = B001AAA0</a:t>
            </a:r>
            <a:r>
              <a:rPr lang="en-US" altLang="zh-TW" dirty="0" smtClean="0">
                <a:solidFill>
                  <a:srgbClr val="FF0000"/>
                </a:solidFill>
              </a:rPr>
              <a:t>0</a:t>
            </a:r>
            <a:r>
              <a:rPr lang="en-US" altLang="zh-TW" dirty="0" smtClean="0"/>
              <a:t>1B$</a:t>
            </a:r>
            <a:endParaRPr lang="zh-TW" altLang="en-US" dirty="0" smtClean="0"/>
          </a:p>
          <a:p>
            <a:endParaRPr lang="zh-TW" altLang="en-US" dirty="0"/>
          </a:p>
        </p:txBody>
      </p:sp>
      <p:pic>
        <p:nvPicPr>
          <p:cNvPr id="1026" name="Picture 2"/>
          <p:cNvPicPr>
            <a:picLocks noChangeAspect="1" noChangeArrowheads="1"/>
          </p:cNvPicPr>
          <p:nvPr/>
        </p:nvPicPr>
        <p:blipFill>
          <a:blip r:embed="rId2"/>
          <a:srcRect/>
          <a:stretch>
            <a:fillRect/>
          </a:stretch>
        </p:blipFill>
        <p:spPr bwMode="auto">
          <a:xfrm>
            <a:off x="625059" y="4522789"/>
            <a:ext cx="7893883" cy="2090988"/>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357166"/>
            <a:ext cx="8229600" cy="6143668"/>
          </a:xfrm>
        </p:spPr>
        <p:txBody>
          <a:bodyPr>
            <a:normAutofit/>
          </a:bodyPr>
          <a:lstStyle/>
          <a:p>
            <a:r>
              <a:rPr lang="en-US" altLang="zh-TW" dirty="0" smtClean="0"/>
              <a:t>S           = </a:t>
            </a:r>
            <a:r>
              <a:rPr lang="en-US" altLang="zh-TW" dirty="0" err="1" smtClean="0"/>
              <a:t>A</a:t>
            </a:r>
            <a:r>
              <a:rPr lang="en-US" altLang="zh-TW" dirty="0" err="1" smtClean="0">
                <a:solidFill>
                  <a:schemeClr val="accent6">
                    <a:lumMod val="75000"/>
                  </a:schemeClr>
                </a:solidFill>
              </a:rPr>
              <a:t>x</a:t>
            </a:r>
            <a:r>
              <a:rPr lang="en-US" altLang="zh-TW" dirty="0" err="1" smtClean="0"/>
              <a:t>B</a:t>
            </a:r>
            <a:r>
              <a:rPr lang="en-US" altLang="zh-TW" dirty="0" err="1" smtClean="0">
                <a:solidFill>
                  <a:schemeClr val="tx2">
                    <a:lumMod val="60000"/>
                    <a:lumOff val="40000"/>
                  </a:schemeClr>
                </a:solidFill>
              </a:rPr>
              <a:t>y</a:t>
            </a:r>
            <a:r>
              <a:rPr lang="en-US" altLang="zh-TW" dirty="0" err="1" smtClean="0"/>
              <a:t>AB</a:t>
            </a:r>
            <a:r>
              <a:rPr lang="en-US" altLang="zh-TW" dirty="0" err="1" smtClean="0">
                <a:solidFill>
                  <a:schemeClr val="accent6">
                    <a:lumMod val="75000"/>
                  </a:schemeClr>
                </a:solidFill>
              </a:rPr>
              <a:t>x</a:t>
            </a:r>
            <a:r>
              <a:rPr lang="en-US" altLang="zh-TW" dirty="0" err="1" smtClean="0">
                <a:solidFill>
                  <a:schemeClr val="tx2">
                    <a:lumMod val="60000"/>
                    <a:lumOff val="40000"/>
                  </a:schemeClr>
                </a:solidFill>
              </a:rPr>
              <a:t>y</a:t>
            </a:r>
            <a:r>
              <a:rPr lang="en-US" altLang="zh-TW" dirty="0" smtClean="0"/>
              <a:t>$</a:t>
            </a:r>
          </a:p>
          <a:p>
            <a:r>
              <a:rPr lang="en-US" altLang="zh-TW" dirty="0" err="1" smtClean="0"/>
              <a:t>prev</a:t>
            </a:r>
            <a:r>
              <a:rPr lang="en-US" altLang="zh-TW" dirty="0" smtClean="0"/>
              <a:t>(S) = A0 B0 AB54$</a:t>
            </a:r>
          </a:p>
          <a:p>
            <a:r>
              <a:rPr lang="en-US" altLang="zh-TW" dirty="0" smtClean="0"/>
              <a:t>At most |</a:t>
            </a:r>
            <a:r>
              <a:rPr lang="el-GR" spc="-1" dirty="0" smtClean="0">
                <a:solidFill>
                  <a:srgbClr val="000000"/>
                </a:solidFill>
                <a:latin typeface="Times New Roman"/>
              </a:rPr>
              <a:t> Π </a:t>
            </a:r>
            <a:r>
              <a:rPr lang="en-US" altLang="zh-TW" dirty="0" smtClean="0"/>
              <a:t>| </a:t>
            </a:r>
            <a:r>
              <a:rPr lang="zh-TW" altLang="en-US" dirty="0" smtClean="0"/>
              <a:t>＋ </a:t>
            </a:r>
            <a:r>
              <a:rPr lang="en-US" altLang="zh-TW" dirty="0" smtClean="0"/>
              <a:t>1 segments</a:t>
            </a:r>
          </a:p>
          <a:p>
            <a:r>
              <a:rPr lang="en-US" altLang="zh-TW" dirty="0" err="1" smtClean="0"/>
              <a:t>C</a:t>
            </a:r>
            <a:r>
              <a:rPr lang="en-US" altLang="zh-TW" baseline="-25000" dirty="0" err="1" smtClean="0"/>
              <a:t>i,j</a:t>
            </a:r>
            <a:r>
              <a:rPr lang="en-US" altLang="zh-TW" dirty="0" smtClean="0"/>
              <a:t> </a:t>
            </a:r>
          </a:p>
          <a:p>
            <a:r>
              <a:rPr lang="en-US" altLang="zh-TW" dirty="0" smtClean="0"/>
              <a:t>C</a:t>
            </a:r>
            <a:r>
              <a:rPr lang="en-US" altLang="zh-TW" baseline="-25000" dirty="0" smtClean="0"/>
              <a:t>1,1</a:t>
            </a:r>
            <a:r>
              <a:rPr lang="en-US" altLang="zh-TW" dirty="0" smtClean="0"/>
              <a:t> = A0, C</a:t>
            </a:r>
            <a:r>
              <a:rPr lang="en-US" altLang="zh-TW" baseline="-25000" dirty="0" smtClean="0"/>
              <a:t>1,2</a:t>
            </a:r>
            <a:r>
              <a:rPr lang="en-US" altLang="zh-TW" dirty="0" smtClean="0"/>
              <a:t> = B0, C</a:t>
            </a:r>
            <a:r>
              <a:rPr lang="en-US" altLang="zh-TW" baseline="-25000" dirty="0" smtClean="0"/>
              <a:t>1,3</a:t>
            </a:r>
            <a:r>
              <a:rPr lang="en-US" altLang="zh-TW" dirty="0" smtClean="0"/>
              <a:t> = AB540 </a:t>
            </a:r>
          </a:p>
          <a:p>
            <a:r>
              <a:rPr lang="en-US" altLang="zh-TW" dirty="0" smtClean="0"/>
              <a:t>C</a:t>
            </a:r>
            <a:r>
              <a:rPr lang="en-US" altLang="zh-TW" baseline="-25000" dirty="0" smtClean="0"/>
              <a:t>2,1</a:t>
            </a:r>
            <a:r>
              <a:rPr lang="en-US" altLang="zh-TW" dirty="0" smtClean="0"/>
              <a:t> = 0, C</a:t>
            </a:r>
            <a:r>
              <a:rPr lang="en-US" altLang="zh-TW" baseline="-25000" dirty="0" smtClean="0"/>
              <a:t>2,2</a:t>
            </a:r>
            <a:r>
              <a:rPr lang="en-US" altLang="zh-TW" dirty="0" smtClean="0"/>
              <a:t> = B0, C</a:t>
            </a:r>
            <a:r>
              <a:rPr lang="en-US" altLang="zh-TW" baseline="-25000" dirty="0" smtClean="0"/>
              <a:t>2,3</a:t>
            </a:r>
            <a:r>
              <a:rPr lang="en-US" altLang="zh-TW" dirty="0" smtClean="0"/>
              <a:t> = AB540  </a:t>
            </a:r>
          </a:p>
          <a:p>
            <a:r>
              <a:rPr lang="en-US" altLang="zh-TW" dirty="0" smtClean="0"/>
              <a:t>C</a:t>
            </a:r>
            <a:r>
              <a:rPr lang="en-US" altLang="zh-TW" baseline="-25000" dirty="0" smtClean="0"/>
              <a:t>3,1</a:t>
            </a:r>
            <a:r>
              <a:rPr lang="en-US" altLang="zh-TW" dirty="0" smtClean="0"/>
              <a:t> = B0, C</a:t>
            </a:r>
            <a:r>
              <a:rPr lang="en-US" altLang="zh-TW" baseline="-25000" dirty="0" smtClean="0"/>
              <a:t>3,2</a:t>
            </a:r>
            <a:r>
              <a:rPr lang="en-US" altLang="zh-TW" dirty="0" smtClean="0"/>
              <a:t> = AB</a:t>
            </a:r>
            <a:r>
              <a:rPr lang="en-US" altLang="zh-TW" dirty="0" smtClean="0">
                <a:solidFill>
                  <a:srgbClr val="FF0000"/>
                </a:solidFill>
              </a:rPr>
              <a:t>0</a:t>
            </a:r>
            <a:r>
              <a:rPr lang="en-US" altLang="zh-TW" dirty="0" smtClean="0"/>
              <a:t>, C</a:t>
            </a:r>
            <a:r>
              <a:rPr lang="en-US" altLang="zh-TW" baseline="-25000" dirty="0" smtClean="0"/>
              <a:t>3,3</a:t>
            </a:r>
            <a:r>
              <a:rPr lang="en-US" altLang="zh-TW" dirty="0" smtClean="0"/>
              <a:t> = 40 </a:t>
            </a:r>
          </a:p>
          <a:p>
            <a:r>
              <a:rPr lang="en-US" altLang="zh-TW" dirty="0" err="1" smtClean="0"/>
              <a:t>D</a:t>
            </a:r>
            <a:r>
              <a:rPr lang="en-US" altLang="zh-TW" baseline="-25000" dirty="0" err="1" smtClean="0"/>
              <a:t>i,j</a:t>
            </a:r>
            <a:r>
              <a:rPr lang="en-US" altLang="zh-TW" dirty="0" smtClean="0"/>
              <a:t> </a:t>
            </a:r>
          </a:p>
          <a:p>
            <a:r>
              <a:rPr lang="en-US" altLang="zh-TW" dirty="0" err="1" smtClean="0"/>
              <a:t>D</a:t>
            </a:r>
            <a:r>
              <a:rPr lang="en-US" altLang="zh-TW" baseline="-25000" dirty="0" err="1" smtClean="0"/>
              <a:t>i,j</a:t>
            </a:r>
            <a:r>
              <a:rPr lang="en-US" altLang="zh-TW" dirty="0" smtClean="0"/>
              <a:t>  is rank of </a:t>
            </a:r>
            <a:r>
              <a:rPr lang="en-US" altLang="zh-TW" dirty="0" err="1" smtClean="0"/>
              <a:t>C</a:t>
            </a:r>
            <a:r>
              <a:rPr lang="en-US" altLang="zh-TW" baseline="-25000" dirty="0" err="1" smtClean="0"/>
              <a:t>i,j</a:t>
            </a:r>
            <a:r>
              <a:rPr lang="en-US" altLang="zh-TW" dirty="0" smtClean="0"/>
              <a:t> in </a:t>
            </a:r>
            <a:r>
              <a:rPr lang="en-US" altLang="zh-TW" dirty="0" err="1" smtClean="0"/>
              <a:t>C</a:t>
            </a:r>
            <a:r>
              <a:rPr lang="en-US" altLang="zh-TW" baseline="-25000" dirty="0" err="1" smtClean="0"/>
              <a:t>j</a:t>
            </a:r>
            <a:r>
              <a:rPr lang="en-US" altLang="zh-TW" dirty="0" smtClean="0"/>
              <a:t>  </a:t>
            </a:r>
          </a:p>
          <a:p>
            <a:r>
              <a:rPr lang="en-US" altLang="zh-TW" dirty="0" smtClean="0"/>
              <a:t>D</a:t>
            </a:r>
            <a:r>
              <a:rPr lang="en-US" altLang="zh-TW" baseline="-25000" dirty="0" smtClean="0"/>
              <a:t>i</a:t>
            </a:r>
            <a:r>
              <a:rPr lang="en-US" altLang="zh-TW" dirty="0" smtClean="0"/>
              <a:t> = D</a:t>
            </a:r>
            <a:r>
              <a:rPr lang="en-US" altLang="zh-TW" baseline="-25000" dirty="0" smtClean="0"/>
              <a:t>i,1</a:t>
            </a:r>
            <a:r>
              <a:rPr lang="en-US" altLang="zh-TW" dirty="0" smtClean="0"/>
              <a:t> D</a:t>
            </a:r>
            <a:r>
              <a:rPr lang="en-US" altLang="zh-TW" baseline="-25000" dirty="0" smtClean="0"/>
              <a:t>i,2 </a:t>
            </a:r>
            <a:r>
              <a:rPr lang="en-US" altLang="zh-TW" dirty="0" smtClean="0"/>
              <a:t> … </a:t>
            </a:r>
            <a:r>
              <a:rPr lang="en-US" altLang="zh-TW" dirty="0" err="1" smtClean="0"/>
              <a:t>D</a:t>
            </a:r>
            <a:r>
              <a:rPr lang="en-US" altLang="zh-TW" baseline="-25000" dirty="0" err="1" smtClean="0"/>
              <a:t>i,z</a:t>
            </a:r>
            <a:endParaRPr lang="en-US" altLang="zh-TW" dirty="0" smtClean="0"/>
          </a:p>
          <a:p>
            <a:endParaRPr lang="zh-TW"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For any j, there exists a set of strings </a:t>
            </a:r>
            <a:r>
              <a:rPr lang="en-US" altLang="zh-TW" dirty="0" err="1" smtClean="0"/>
              <a:t>S</a:t>
            </a:r>
            <a:r>
              <a:rPr lang="en-US" altLang="zh-TW" baseline="-25000" dirty="0" err="1" smtClean="0"/>
              <a:t>j</a:t>
            </a:r>
            <a:r>
              <a:rPr lang="en-US" altLang="zh-TW" dirty="0" smtClean="0"/>
              <a:t> such that </a:t>
            </a:r>
            <a:r>
              <a:rPr lang="en-US" altLang="zh-TW" dirty="0" err="1" smtClean="0"/>
              <a:t>B</a:t>
            </a:r>
            <a:r>
              <a:rPr lang="en-US" altLang="zh-TW" baseline="-25000" dirty="0" err="1" smtClean="0"/>
              <a:t>i,j</a:t>
            </a:r>
            <a:r>
              <a:rPr lang="en-US" altLang="zh-TW" dirty="0" smtClean="0"/>
              <a:t> is a suffix of some string in </a:t>
            </a:r>
            <a:r>
              <a:rPr lang="en-US" altLang="zh-TW" dirty="0" err="1" smtClean="0"/>
              <a:t>S</a:t>
            </a:r>
            <a:r>
              <a:rPr lang="en-US" altLang="zh-TW" baseline="-25000" dirty="0" err="1" smtClean="0"/>
              <a:t>j</a:t>
            </a:r>
            <a:r>
              <a:rPr lang="en-US" altLang="zh-TW" dirty="0" smtClean="0"/>
              <a:t>.</a:t>
            </a:r>
            <a:endParaRPr lang="zh-TW"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357166"/>
            <a:ext cx="8229600" cy="6143668"/>
          </a:xfrm>
        </p:spPr>
        <p:txBody>
          <a:bodyPr>
            <a:normAutofit/>
          </a:bodyPr>
          <a:lstStyle/>
          <a:p>
            <a:r>
              <a:rPr lang="en-US" altLang="zh-TW" dirty="0" err="1" smtClean="0"/>
              <a:t>prev</a:t>
            </a:r>
            <a:r>
              <a:rPr lang="en-US" altLang="zh-TW" dirty="0" smtClean="0"/>
              <a:t>(S) = A0 B0 AB54$</a:t>
            </a:r>
          </a:p>
          <a:p>
            <a:r>
              <a:rPr lang="en-US" altLang="zh-TW" dirty="0" err="1" smtClean="0"/>
              <a:t>C</a:t>
            </a:r>
            <a:r>
              <a:rPr lang="en-US" altLang="zh-TW" baseline="-25000" dirty="0" err="1" smtClean="0"/>
              <a:t>i,j</a:t>
            </a:r>
            <a:r>
              <a:rPr lang="en-US" altLang="zh-TW" dirty="0" smtClean="0"/>
              <a:t> </a:t>
            </a:r>
          </a:p>
          <a:p>
            <a:r>
              <a:rPr lang="en-US" altLang="zh-TW" dirty="0" smtClean="0"/>
              <a:t>C</a:t>
            </a:r>
            <a:r>
              <a:rPr lang="en-US" altLang="zh-TW" baseline="-25000" dirty="0" smtClean="0"/>
              <a:t>1,1</a:t>
            </a:r>
            <a:r>
              <a:rPr lang="en-US" altLang="zh-TW" dirty="0" smtClean="0"/>
              <a:t> = A0</a:t>
            </a:r>
          </a:p>
          <a:p>
            <a:r>
              <a:rPr lang="en-US" altLang="zh-TW" dirty="0" smtClean="0"/>
              <a:t>C</a:t>
            </a:r>
            <a:r>
              <a:rPr lang="en-US" altLang="zh-TW" baseline="-25000" dirty="0" smtClean="0"/>
              <a:t>2,1</a:t>
            </a:r>
            <a:r>
              <a:rPr lang="en-US" altLang="zh-TW" dirty="0" smtClean="0"/>
              <a:t> = 0</a:t>
            </a:r>
          </a:p>
          <a:p>
            <a:r>
              <a:rPr lang="en-US" altLang="zh-TW" dirty="0" smtClean="0"/>
              <a:t>C</a:t>
            </a:r>
            <a:r>
              <a:rPr lang="en-US" altLang="zh-TW" baseline="-25000" dirty="0" smtClean="0"/>
              <a:t>3,1</a:t>
            </a:r>
            <a:r>
              <a:rPr lang="en-US" altLang="zh-TW" dirty="0" smtClean="0"/>
              <a:t> = B0</a:t>
            </a:r>
          </a:p>
          <a:p>
            <a:r>
              <a:rPr lang="en-US" altLang="zh-TW" dirty="0" smtClean="0"/>
              <a:t>C</a:t>
            </a:r>
            <a:r>
              <a:rPr lang="en-US" altLang="zh-TW" baseline="-25000" dirty="0" smtClean="0"/>
              <a:t>4,1</a:t>
            </a:r>
            <a:r>
              <a:rPr lang="en-US" altLang="zh-TW" dirty="0" smtClean="0"/>
              <a:t> = 0</a:t>
            </a:r>
          </a:p>
          <a:p>
            <a:r>
              <a:rPr lang="en-US" altLang="zh-TW" dirty="0" smtClean="0"/>
              <a:t>C</a:t>
            </a:r>
            <a:r>
              <a:rPr lang="en-US" altLang="zh-TW" baseline="-25000" dirty="0" smtClean="0"/>
              <a:t>5,1</a:t>
            </a:r>
            <a:r>
              <a:rPr lang="en-US" altLang="zh-TW" dirty="0" smtClean="0"/>
              <a:t> = AB00</a:t>
            </a:r>
          </a:p>
          <a:p>
            <a:r>
              <a:rPr lang="en-US" altLang="zh-TW" dirty="0" smtClean="0"/>
              <a:t>C</a:t>
            </a:r>
            <a:r>
              <a:rPr lang="en-US" altLang="zh-TW" baseline="-25000" dirty="0" smtClean="0"/>
              <a:t>6,1</a:t>
            </a:r>
            <a:r>
              <a:rPr lang="en-US" altLang="zh-TW" dirty="0" smtClean="0"/>
              <a:t> = B00</a:t>
            </a:r>
          </a:p>
          <a:p>
            <a:endParaRPr lang="en-US" altLang="zh-TW" dirty="0" smtClean="0"/>
          </a:p>
          <a:p>
            <a:r>
              <a:rPr lang="en-US" altLang="zh-TW" dirty="0" smtClean="0"/>
              <a:t>O(n)</a:t>
            </a:r>
          </a:p>
          <a:p>
            <a:pPr>
              <a:buNone/>
            </a:pPr>
            <a:endParaRPr lang="en-US" altLang="zh-TW" dirty="0" smtClean="0"/>
          </a:p>
          <a:p>
            <a:endParaRPr lang="zh-TW"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357166"/>
            <a:ext cx="8229600" cy="6143668"/>
          </a:xfrm>
        </p:spPr>
        <p:txBody>
          <a:bodyPr>
            <a:normAutofit/>
          </a:bodyPr>
          <a:lstStyle/>
          <a:p>
            <a:r>
              <a:rPr lang="en-US" altLang="zh-TW" dirty="0" err="1" smtClean="0"/>
              <a:t>prev</a:t>
            </a:r>
            <a:r>
              <a:rPr lang="en-US" altLang="zh-TW" dirty="0" smtClean="0"/>
              <a:t>(S) = A0 B0 AB54$</a:t>
            </a:r>
          </a:p>
          <a:p>
            <a:r>
              <a:rPr lang="en-US" altLang="zh-TW" dirty="0" err="1" smtClean="0"/>
              <a:t>C</a:t>
            </a:r>
            <a:r>
              <a:rPr lang="en-US" altLang="zh-TW" baseline="-25000" dirty="0" err="1" smtClean="0"/>
              <a:t>i,j</a:t>
            </a:r>
            <a:r>
              <a:rPr lang="en-US" altLang="zh-TW" dirty="0" smtClean="0"/>
              <a:t> </a:t>
            </a:r>
          </a:p>
          <a:p>
            <a:r>
              <a:rPr lang="en-US" altLang="zh-TW" dirty="0" smtClean="0"/>
              <a:t>C</a:t>
            </a:r>
            <a:r>
              <a:rPr lang="en-US" altLang="zh-TW" baseline="-25000" dirty="0" smtClean="0"/>
              <a:t>1,3</a:t>
            </a:r>
            <a:r>
              <a:rPr lang="en-US" altLang="zh-TW" dirty="0" smtClean="0"/>
              <a:t> = AB540</a:t>
            </a:r>
            <a:r>
              <a:rPr lang="zh-TW" altLang="en-US" dirty="0" smtClean="0"/>
              <a:t>   </a:t>
            </a:r>
            <a:r>
              <a:rPr lang="en-US" altLang="zh-TW" dirty="0" smtClean="0"/>
              <a:t>(A0B0</a:t>
            </a:r>
            <a:r>
              <a:rPr lang="en-US" altLang="zh-TW" dirty="0" smtClean="0">
                <a:solidFill>
                  <a:srgbClr val="FF0000"/>
                </a:solidFill>
              </a:rPr>
              <a:t>AB54</a:t>
            </a:r>
            <a:r>
              <a:rPr lang="en-US" altLang="zh-TW" dirty="0" smtClean="0"/>
              <a:t>)</a:t>
            </a:r>
          </a:p>
          <a:p>
            <a:r>
              <a:rPr lang="en-US" altLang="zh-TW" dirty="0" smtClean="0"/>
              <a:t>C</a:t>
            </a:r>
            <a:r>
              <a:rPr lang="en-US" altLang="zh-TW" baseline="-25000" dirty="0" smtClean="0"/>
              <a:t>2,3</a:t>
            </a:r>
            <a:r>
              <a:rPr lang="en-US" altLang="zh-TW" dirty="0" smtClean="0"/>
              <a:t> = AB540</a:t>
            </a:r>
            <a:r>
              <a:rPr lang="zh-TW" altLang="en-US" dirty="0" smtClean="0"/>
              <a:t>   </a:t>
            </a:r>
            <a:r>
              <a:rPr lang="en-US" altLang="zh-TW" dirty="0" smtClean="0"/>
              <a:t>(0B0</a:t>
            </a:r>
            <a:r>
              <a:rPr lang="en-US" altLang="zh-TW" dirty="0" smtClean="0">
                <a:solidFill>
                  <a:srgbClr val="FF0000"/>
                </a:solidFill>
              </a:rPr>
              <a:t>AB54</a:t>
            </a:r>
            <a:r>
              <a:rPr lang="en-US" altLang="zh-TW" dirty="0" smtClean="0"/>
              <a:t>)</a:t>
            </a:r>
          </a:p>
          <a:p>
            <a:r>
              <a:rPr lang="en-US" altLang="zh-TW" dirty="0" smtClean="0"/>
              <a:t>C</a:t>
            </a:r>
            <a:r>
              <a:rPr lang="en-US" altLang="zh-TW" baseline="-25000" dirty="0" smtClean="0"/>
              <a:t>3,3</a:t>
            </a:r>
            <a:r>
              <a:rPr lang="en-US" altLang="zh-TW" dirty="0" smtClean="0"/>
              <a:t> = 40</a:t>
            </a:r>
            <a:r>
              <a:rPr lang="zh-TW" altLang="en-US" dirty="0" smtClean="0"/>
              <a:t>           </a:t>
            </a:r>
            <a:r>
              <a:rPr lang="en-US" altLang="zh-TW" dirty="0" smtClean="0"/>
              <a:t>(B0AB0</a:t>
            </a:r>
            <a:r>
              <a:rPr lang="en-US" altLang="zh-TW" dirty="0" smtClean="0">
                <a:solidFill>
                  <a:srgbClr val="FF0000"/>
                </a:solidFill>
              </a:rPr>
              <a:t>4</a:t>
            </a:r>
            <a:r>
              <a:rPr lang="en-US" altLang="zh-TW" dirty="0" smtClean="0"/>
              <a:t>)</a:t>
            </a:r>
          </a:p>
          <a:p>
            <a:endParaRPr lang="en-US" altLang="zh-TW" dirty="0" smtClean="0"/>
          </a:p>
          <a:p>
            <a:r>
              <a:rPr lang="en-US" altLang="zh-TW" dirty="0" smtClean="0"/>
              <a:t>O(n)</a:t>
            </a:r>
          </a:p>
          <a:p>
            <a:pPr>
              <a:buNone/>
            </a:pPr>
            <a:endParaRPr lang="en-US" altLang="zh-TW" dirty="0" smtClean="0"/>
          </a:p>
          <a:p>
            <a:endParaRPr lang="zh-TW"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457200" y="1600200"/>
            <a:ext cx="8229600" cy="4900634"/>
          </a:xfrm>
        </p:spPr>
        <p:txBody>
          <a:bodyPr>
            <a:normAutofit/>
          </a:bodyPr>
          <a:lstStyle/>
          <a:p>
            <a:r>
              <a:rPr lang="en-US" altLang="zh-TW" dirty="0" err="1" smtClean="0"/>
              <a:t>C</a:t>
            </a:r>
            <a:r>
              <a:rPr lang="en-US" altLang="zh-TW" baseline="-25000" dirty="0" err="1" smtClean="0"/>
              <a:t>i,j</a:t>
            </a:r>
            <a:r>
              <a:rPr lang="en-US" altLang="zh-TW" dirty="0" smtClean="0"/>
              <a:t> </a:t>
            </a:r>
          </a:p>
          <a:p>
            <a:r>
              <a:rPr lang="en-US" altLang="zh-TW" dirty="0" smtClean="0"/>
              <a:t>Suffix array O(n), at most |</a:t>
            </a:r>
            <a:r>
              <a:rPr lang="el-GR" spc="-1" dirty="0" smtClean="0">
                <a:solidFill>
                  <a:srgbClr val="000000"/>
                </a:solidFill>
                <a:latin typeface="Times New Roman"/>
              </a:rPr>
              <a:t> Π </a:t>
            </a:r>
            <a:r>
              <a:rPr lang="en-US" altLang="zh-TW" dirty="0" smtClean="0"/>
              <a:t>| </a:t>
            </a:r>
            <a:r>
              <a:rPr lang="zh-TW" altLang="en-US" dirty="0" smtClean="0"/>
              <a:t>＋ </a:t>
            </a:r>
            <a:r>
              <a:rPr lang="en-US" altLang="zh-TW" dirty="0" smtClean="0"/>
              <a:t>1 segments</a:t>
            </a:r>
          </a:p>
          <a:p>
            <a:r>
              <a:rPr lang="en-US" altLang="zh-TW" dirty="0" smtClean="0"/>
              <a:t>O(n</a:t>
            </a:r>
            <a:r>
              <a:rPr lang="el-GR" spc="-1" dirty="0" smtClean="0">
                <a:solidFill>
                  <a:srgbClr val="000000"/>
                </a:solidFill>
                <a:latin typeface="Times New Roman"/>
              </a:rPr>
              <a:t>π</a:t>
            </a:r>
            <a:r>
              <a:rPr lang="en-US" altLang="zh-TW" dirty="0" smtClean="0"/>
              <a:t>) </a:t>
            </a:r>
          </a:p>
          <a:p>
            <a:endParaRPr lang="en-US" altLang="zh-TW" dirty="0" smtClean="0"/>
          </a:p>
          <a:p>
            <a:r>
              <a:rPr lang="en-US" altLang="zh-TW" dirty="0" err="1" smtClean="0"/>
              <a:t>D</a:t>
            </a:r>
            <a:r>
              <a:rPr lang="en-US" altLang="zh-TW" baseline="-25000" dirty="0" err="1" smtClean="0"/>
              <a:t>i,j</a:t>
            </a:r>
            <a:r>
              <a:rPr lang="en-US" altLang="zh-TW" dirty="0" smtClean="0"/>
              <a:t> </a:t>
            </a:r>
          </a:p>
          <a:p>
            <a:r>
              <a:rPr lang="en-US" altLang="zh-TW" dirty="0" err="1" smtClean="0"/>
              <a:t>D</a:t>
            </a:r>
            <a:r>
              <a:rPr lang="en-US" altLang="zh-TW" baseline="-25000" dirty="0" err="1" smtClean="0"/>
              <a:t>i,j</a:t>
            </a:r>
            <a:r>
              <a:rPr lang="en-US" altLang="zh-TW" dirty="0" smtClean="0"/>
              <a:t>  is rank of </a:t>
            </a:r>
            <a:r>
              <a:rPr lang="en-US" altLang="zh-TW" dirty="0" err="1" smtClean="0"/>
              <a:t>C</a:t>
            </a:r>
            <a:r>
              <a:rPr lang="en-US" altLang="zh-TW" baseline="-25000" dirty="0" err="1" smtClean="0"/>
              <a:t>i,j</a:t>
            </a:r>
            <a:r>
              <a:rPr lang="en-US" altLang="zh-TW" dirty="0" smtClean="0"/>
              <a:t> in </a:t>
            </a:r>
            <a:r>
              <a:rPr lang="en-US" altLang="zh-TW" dirty="0" err="1" smtClean="0"/>
              <a:t>C</a:t>
            </a:r>
            <a:r>
              <a:rPr lang="en-US" altLang="zh-TW" baseline="-25000" dirty="0" err="1" smtClean="0"/>
              <a:t>j</a:t>
            </a:r>
            <a:r>
              <a:rPr lang="en-US" altLang="zh-TW" dirty="0" smtClean="0"/>
              <a:t>  </a:t>
            </a:r>
          </a:p>
          <a:p>
            <a:r>
              <a:rPr lang="en-US" altLang="zh-TW" dirty="0" smtClean="0"/>
              <a:t>D</a:t>
            </a:r>
            <a:r>
              <a:rPr lang="en-US" altLang="zh-TW" baseline="-25000" dirty="0" smtClean="0"/>
              <a:t>i</a:t>
            </a:r>
            <a:r>
              <a:rPr lang="en-US" altLang="zh-TW" dirty="0" smtClean="0"/>
              <a:t> = D</a:t>
            </a:r>
            <a:r>
              <a:rPr lang="en-US" altLang="zh-TW" baseline="-25000" dirty="0" smtClean="0"/>
              <a:t>i,1</a:t>
            </a:r>
            <a:r>
              <a:rPr lang="en-US" altLang="zh-TW" dirty="0" smtClean="0"/>
              <a:t> D</a:t>
            </a:r>
            <a:r>
              <a:rPr lang="en-US" altLang="zh-TW" baseline="-25000" dirty="0" smtClean="0"/>
              <a:t>i,2 </a:t>
            </a:r>
            <a:r>
              <a:rPr lang="en-US" altLang="zh-TW" dirty="0" smtClean="0"/>
              <a:t> … </a:t>
            </a:r>
            <a:r>
              <a:rPr lang="en-US" altLang="zh-TW" dirty="0" err="1" smtClean="0"/>
              <a:t>D</a:t>
            </a:r>
            <a:r>
              <a:rPr lang="en-US" altLang="zh-TW" baseline="-25000" dirty="0" err="1" smtClean="0"/>
              <a:t>i,z</a:t>
            </a:r>
            <a:endParaRPr lang="en-US" altLang="zh-TW" dirty="0" smtClean="0"/>
          </a:p>
          <a:p>
            <a:r>
              <a:rPr lang="en-US" altLang="zh-TW" dirty="0" smtClean="0"/>
              <a:t>z at most |</a:t>
            </a:r>
            <a:r>
              <a:rPr lang="el-GR" spc="-1" dirty="0" smtClean="0">
                <a:solidFill>
                  <a:srgbClr val="000000"/>
                </a:solidFill>
                <a:latin typeface="Times New Roman"/>
              </a:rPr>
              <a:t> Π </a:t>
            </a:r>
            <a:r>
              <a:rPr lang="en-US" altLang="zh-TW" dirty="0" smtClean="0"/>
              <a:t>|, radix sort =&gt; O(n</a:t>
            </a:r>
            <a:r>
              <a:rPr lang="el-GR" spc="-1" dirty="0" smtClean="0">
                <a:solidFill>
                  <a:srgbClr val="000000"/>
                </a:solidFill>
                <a:latin typeface="Times New Roman"/>
              </a:rPr>
              <a:t>π</a:t>
            </a:r>
            <a:r>
              <a:rPr lang="en-US" altLang="zh-TW" dirty="0" smtClean="0"/>
              <a:t>)</a:t>
            </a:r>
          </a:p>
          <a:p>
            <a:endParaRPr lang="zh-TW"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自訂設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自訂設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訂 2">
      <a:majorFont>
        <a:latin typeface="Times New Roman"/>
        <a:ea typeface="新細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12938</TotalTime>
  <Words>498</Words>
  <Application>LibreOffice/6.4.6.2$Windows_X86_64 LibreOffice_project/0ce51a4fd21bff07a5c061082cc82c5ed232f115</Application>
  <PresentationFormat>如螢幕大小 (4:3)</PresentationFormat>
  <Paragraphs>89</Paragraphs>
  <Slides>14</Slides>
  <Notes>0</Notes>
  <HiddenSlides>0</HiddenSlides>
  <MMClips>0</MMClips>
  <ScaleCrop>false</ScaleCrop>
  <HeadingPairs>
    <vt:vector size="4" baseType="variant">
      <vt:variant>
        <vt:lpstr>佈景主題</vt:lpstr>
      </vt:variant>
      <vt:variant>
        <vt:i4>6</vt:i4>
      </vt:variant>
      <vt:variant>
        <vt:lpstr>投影片標題</vt:lpstr>
      </vt:variant>
      <vt:variant>
        <vt:i4>14</vt:i4>
      </vt:variant>
    </vt:vector>
  </HeadingPairs>
  <TitlesOfParts>
    <vt:vector size="20" baseType="lpstr">
      <vt:lpstr>Office Theme</vt:lpstr>
      <vt:lpstr>2_Office Theme</vt:lpstr>
      <vt:lpstr>1_自訂設計</vt:lpstr>
      <vt:lpstr>3_Office Theme</vt:lpstr>
      <vt:lpstr>自訂設計</vt:lpstr>
      <vt:lpstr>4_Office Theme</vt:lpstr>
      <vt:lpstr>投影片 1</vt:lpstr>
      <vt:lpstr>投影片 2</vt:lpstr>
      <vt:lpstr>SA</vt:lpstr>
      <vt:lpstr>Parameterized matching (p-match)</vt:lpstr>
      <vt:lpstr>Previous (prev) encoding</vt:lpstr>
      <vt:lpstr>pSA</vt:lpstr>
      <vt:lpstr>投影片 7</vt:lpstr>
      <vt:lpstr>pSA</vt:lpstr>
      <vt:lpstr>pSA</vt:lpstr>
      <vt:lpstr>投影片 10</vt:lpstr>
      <vt:lpstr>投影片 11</vt:lpstr>
      <vt:lpstr>投影片 12</vt:lpstr>
      <vt:lpstr>投影片 13</vt:lpstr>
      <vt:lpstr>投影片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Parallel Pairwise Local Sequence Alignment Algorithm</dc:title>
  <dc:subject/>
  <dc:creator>super</dc:creator>
  <dc:description/>
  <cp:lastModifiedBy>super</cp:lastModifiedBy>
  <cp:revision>2575</cp:revision>
  <dcterms:created xsi:type="dcterms:W3CDTF">2020-09-11T11:13:53Z</dcterms:created>
  <dcterms:modified xsi:type="dcterms:W3CDTF">2022-01-18T02:38:24Z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vt:i4>
  </property>
  <property fmtid="{D5CDD505-2E9C-101B-9397-08002B2CF9AE}" pid="8" name="PresentationFormat">
    <vt:lpwstr>如螢幕大小 (4:3)</vt:lpwstr>
  </property>
  <property fmtid="{D5CDD505-2E9C-101B-9397-08002B2CF9AE}" pid="9" name="ScaleCrop">
    <vt:bool>false</vt:bool>
  </property>
  <property fmtid="{D5CDD505-2E9C-101B-9397-08002B2CF9AE}" pid="10" name="ShareDoc">
    <vt:bool>false</vt:bool>
  </property>
  <property fmtid="{D5CDD505-2E9C-101B-9397-08002B2CF9AE}" pid="11" name="Slides">
    <vt:i4>12</vt:i4>
  </property>
</Properties>
</file>