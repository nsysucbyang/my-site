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988"/>
  </p:normalViewPr>
  <p:slideViewPr>
    <p:cSldViewPr snapToGrid="0" snapToObjects="1">
      <p:cViewPr varScale="1">
        <p:scale>
          <a:sx n="111" d="100"/>
          <a:sy n="111" d="100"/>
        </p:scale>
        <p:origin x="4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44A0F-53AC-B442-8EFC-7A28DB3B9529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54E9E-B639-0B4A-84A6-A5CF906524A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94063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9F93F-B917-2148-99D3-4F25A239E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D0110E-5AB1-264A-81C9-C95D9C582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08C0B5-0946-BB45-867B-C96800C6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C82D88-B718-9E43-9E8A-91B3F2623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85D392-0303-714B-A852-0CB90535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3143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395591-31B6-AF4C-B47F-5D600841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8E4A96-5917-1745-9E86-58569B91C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63F0F3-7119-1F4A-A614-398BE2E92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39FB1-3B31-4843-8B2D-5BB03047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BBB128-9746-7C4F-8251-10C87FD4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6913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8FD36C-95BA-A147-AB0D-D27F1BAC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7698B3-478C-8E4A-93C9-C26988972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E4A28F-7F62-4648-8393-6C611A617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AE6BEC-15D9-3346-A4BF-8F3BDD6C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D1A54D-F128-0B41-AE8A-99EBB2AC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0534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C9140C-3761-614F-85A6-D7365731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1C7D11-FF90-4543-9F2D-98C00EEF5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28053D-C5D9-2D45-A80B-FFA8A78E5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4689A77-66B7-A54F-9B43-69A25D1C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DF0039-8ADD-4B48-B968-6AF47699B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5FE976-DFB1-584F-8F82-4B529545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3370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CD3A80-52B7-744F-8C76-8487E2BA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8FB529-3264-B942-8AB9-5A48C17E5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98F8E43-9653-EC4B-A801-28CF4AA34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4AF263D-ED3A-C04E-B7C4-11E2BBBB3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73D532C-D5C6-B041-A736-7DDD00429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B73BB4B-257B-7D45-9A6C-375A0F88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1502545-E266-2244-8D90-09C3B94BF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D2084C4-F7FF-7841-9BFA-417A07FE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3429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A98AF5-4D96-B844-932C-3AC66EC8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E329BE3-809A-CB43-8DD4-275F5437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89C63F7-6D6B-704B-B2D0-54E5D8BD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78CD31-AC97-3644-863D-88ED07A0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52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1734570-AADA-B749-B4FF-74361C69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C0E42D5-27A4-5D49-BE73-28B189B5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023C7C-2983-E24B-8D2F-CF115C33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4703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A487B-8A48-3240-882F-8316DB51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D4DEAA-3316-014D-BB1B-4EF6F5ED2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0EFC96-B042-CC4B-9452-5ACD6A915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1BCCB2-89C9-0849-9AB4-3815D4B2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9548749-B63E-DD4D-BB03-173C3669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23A855-0A82-054F-90BF-3FF1430C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1509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214AA0-4312-6141-AC37-8A299CF4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811A60B-049B-B04E-8A09-625870809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E47BFE1-9E97-3C40-B066-84583F95B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7D0082-EFBC-A445-B320-4CFA95B9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A3FA9D1-9771-9B4A-9CF0-9EAE9C52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AD5076-1459-4B48-8C19-A9C9B87C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459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01FABB-09BB-844C-93FB-C2814EB23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D5D409C-0F78-7E4E-801A-D98E6321E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C2B375-4E63-FD4C-85D5-FA3640E6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F348B5-95A2-7648-8C8B-BE87F06C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11D7FB-7186-E943-8E8F-1B55CF818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673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9480EAF-85D0-F84D-9F13-05558DC7A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0D5079-092A-5C46-B8D3-39D8E4255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AD8190-5625-2845-9B50-C65E8537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4E887A-961E-5343-9C5C-F85FF8A0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B55865-2258-D743-AAD0-37351CF3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328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33F59B1-FCF0-5143-B160-A10F0DB1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316578-18F7-524D-A8D6-19CF1FA68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2C9D10-28D2-5A43-AF97-1EF36D9A4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0C13B-1A08-A747-8A6E-5C8B942E871E}" type="datetimeFigureOut">
              <a:rPr kumimoji="1" lang="zh-TW" altLang="en-US" smtClean="0"/>
              <a:t>2022/6/20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B7A9A0-2A1F-1544-B3A8-7320C33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BA4AD9-C639-6B43-B80C-1BF8A3880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4502F-745D-0C4B-A849-83DEFA80D9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3896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57EA31-932A-BD44-9439-CB5F8ECCA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780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/>
                <a:ea typeface="新細明體"/>
                <a:cs typeface="Times New Roman"/>
              </a:rPr>
              <a:t>Towards Human-Level Performance in Solving Double Dummy Bridge Problem</a:t>
            </a:r>
            <a:endParaRPr kumimoji="1" lang="zh-TW" altLang="en-US" sz="4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2F74C5-1CC1-1D44-9DF3-0525645EA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9361"/>
            <a:ext cx="9144000" cy="1655762"/>
          </a:xfrm>
        </p:spPr>
        <p:txBody>
          <a:bodyPr/>
          <a:lstStyle/>
          <a:p>
            <a:r>
              <a:rPr lang="pl-PL" altLang="zh-TW" dirty="0">
                <a:latin typeface="Times New Roman"/>
                <a:ea typeface="新細明體"/>
                <a:cs typeface="Times New Roman"/>
              </a:rPr>
              <a:t>Szymon Kowalik and Jacek </a:t>
            </a:r>
            <a:r>
              <a:rPr lang="pl-PL" altLang="zh-TW" dirty="0" err="1">
                <a:latin typeface="Times New Roman"/>
                <a:ea typeface="新細明體"/>
                <a:cs typeface="Times New Roman"/>
              </a:rPr>
              <a:t>Mańdziuk</a:t>
            </a:r>
            <a:endParaRPr lang="en-US" altLang="zh-TW" dirty="0">
              <a:latin typeface="Times New Roman"/>
              <a:ea typeface="新細明體"/>
              <a:cs typeface="Times New Roman"/>
            </a:endParaRPr>
          </a:p>
          <a:p>
            <a:r>
              <a:rPr lang="en-US" altLang="zh-TW" dirty="0">
                <a:latin typeface="Times New Roman"/>
                <a:ea typeface="+mn-lt"/>
                <a:cs typeface="+mn-lt"/>
              </a:rPr>
              <a:t>28th International Conference, ICONIP 2021, Sanur, Bali, Indonesia, December 8–12, 2021, Proceedings, Part I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B3CACC7-E470-E747-A4D6-068F79D2372F}"/>
              </a:ext>
            </a:extLst>
          </p:cNvPr>
          <p:cNvSpPr txBox="1"/>
          <p:nvPr/>
        </p:nvSpPr>
        <p:spPr>
          <a:xfrm>
            <a:off x="8680829" y="5817171"/>
            <a:ext cx="3026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Ying-Yu Lin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20D5C51-41C5-0443-B79B-1E0DE31ABE10}"/>
              </a:ext>
            </a:extLst>
          </p:cNvPr>
          <p:cNvSpPr txBox="1"/>
          <p:nvPr/>
        </p:nvSpPr>
        <p:spPr>
          <a:xfrm>
            <a:off x="8680828" y="6245107"/>
            <a:ext cx="264527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/>
                <a:ea typeface="新細明體"/>
                <a:cs typeface="Times New Roman"/>
              </a:rPr>
              <a:t>Date: June 21, 2022</a:t>
            </a:r>
            <a:endParaRPr lang="zh-TW" altLang="en-US" dirty="0">
              <a:latin typeface="Times New Roman"/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127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Abstract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5D1A1F-82AE-0945-BF70-168DA5364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008"/>
            <a:ext cx="10515600" cy="50697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/>
                <a:ea typeface="+mn-lt"/>
                <a:cs typeface="+mn-lt"/>
              </a:rPr>
              <a:t>Double Dummy Bridge Problem (DDBP) is a hard classification problem that consists in estimating the number of tricks to be taken by N-S pair during a bridge game. In this paper we propose a new approach to DDBP which utilizes convolutional neural networks (CNNs) and a dedicated matrix representation of the problem, suitable for the CNN application. Following previous studies on the application of neural networks to DDBP, we take a knowledge-free approach, i.e. the CNN models are trained with no use of any expert knowledge or explicitly indicated bridge rules. As a result, two models are derived: a baseline CNN model and its ensemble refinement. The results are compared with two former neural network approaches, showing significant superiority of the CNN-based solution.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5621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Abstract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5D1A1F-82AE-0945-BF70-168DA5364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008"/>
            <a:ext cx="10515600" cy="5069711"/>
          </a:xfrm>
        </p:spPr>
        <p:txBody>
          <a:bodyPr>
            <a:normAutofit/>
          </a:bodyPr>
          <a:lstStyle/>
          <a:p>
            <a:pPr marL="0" indent="0" algn="just">
              <a:lnSpc>
                <a:spcPts val="3200"/>
              </a:lnSpc>
              <a:buNone/>
            </a:pPr>
            <a:r>
              <a:rPr lang="en-US" altLang="zh-TW" dirty="0">
                <a:latin typeface="Times New Roman"/>
                <a:ea typeface="+mn-lt"/>
                <a:cs typeface="+mn-lt"/>
              </a:rPr>
              <a:t>Depending on the type DDBP deal, i.e. trump or notrump, our approach either outperforms or is slightly inferior to the outcomes of human bridge grandmasters solving DDBP. This state-of-the-art performance is complemented in the paper with an analysis of the internal structure (weight patterns) of the trained CNNs, which partly explains the underlying classification process.</a:t>
            </a:r>
          </a:p>
        </p:txBody>
      </p:sp>
    </p:spTree>
    <p:extLst>
      <p:ext uri="{BB962C8B-B14F-4D97-AF65-F5344CB8AC3E}">
        <p14:creationId xmlns:p14="http://schemas.microsoft.com/office/powerpoint/2010/main" val="342895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kumimoji="1" lang="zh-TW" altLang="en-US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C1ACCF5-2339-D640-AD86-2B793BD4D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071" y="1690688"/>
            <a:ext cx="5566870" cy="391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59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endParaRPr kumimoji="1" lang="zh-TW" altLang="en-US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14FDA32-4430-1F4D-823C-3FB45E37B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85" y="1406064"/>
            <a:ext cx="10001515" cy="524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68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endParaRPr kumimoji="1" lang="zh-TW" altLang="en-US" b="1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0B7F3E19-14CE-7A41-A721-672E3AF789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889" y="1605652"/>
            <a:ext cx="7680270" cy="4794206"/>
          </a:xfrm>
        </p:spPr>
      </p:pic>
    </p:spTree>
    <p:extLst>
      <p:ext uri="{BB962C8B-B14F-4D97-AF65-F5344CB8AC3E}">
        <p14:creationId xmlns:p14="http://schemas.microsoft.com/office/powerpoint/2010/main" val="2206759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endParaRPr kumimoji="1" lang="zh-TW" altLang="en-US" b="1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056D4412-58A9-7F42-8178-1219D04BBE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0031988"/>
              </p:ext>
            </p:extLst>
          </p:nvPr>
        </p:nvGraphicFramePr>
        <p:xfrm>
          <a:off x="1865783" y="2801289"/>
          <a:ext cx="9153316" cy="2609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2942">
                  <a:extLst>
                    <a:ext uri="{9D8B030D-6E8A-4147-A177-3AD203B41FA5}">
                      <a16:colId xmlns:a16="http://schemas.microsoft.com/office/drawing/2014/main" val="3952528916"/>
                    </a:ext>
                  </a:extLst>
                </a:gridCol>
                <a:gridCol w="2405187">
                  <a:extLst>
                    <a:ext uri="{9D8B030D-6E8A-4147-A177-3AD203B41FA5}">
                      <a16:colId xmlns:a16="http://schemas.microsoft.com/office/drawing/2014/main" val="954914287"/>
                    </a:ext>
                  </a:extLst>
                </a:gridCol>
                <a:gridCol w="2405187">
                  <a:extLst>
                    <a:ext uri="{9D8B030D-6E8A-4147-A177-3AD203B41FA5}">
                      <a16:colId xmlns:a16="http://schemas.microsoft.com/office/drawing/2014/main" val="3380141156"/>
                    </a:ext>
                  </a:extLst>
                </a:gridCol>
              </a:tblGrid>
              <a:tr h="538169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37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Acc2|Acc1|Acc0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Acc2|Acc1|Acc0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06940"/>
                  </a:ext>
                </a:extLst>
              </a:tr>
              <a:tr h="538169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Multiplayer Perceptron(MLP)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97.34|84.31|37.80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99.88|96.48|53.11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283710"/>
                  </a:ext>
                </a:extLst>
              </a:tr>
              <a:tr h="538169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Autoencoder(AE-MLP)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96.63|86.18|41.73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99.72|95.33|51.28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000794"/>
                  </a:ext>
                </a:extLst>
              </a:tr>
              <a:tr h="538169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grandmasters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94.74|88.30|73.68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88.34|81.63|53.06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534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22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representation of a deal</a:t>
            </a:r>
            <a:endParaRPr kumimoji="1" lang="zh-TW" altLang="en-US" b="1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B570191-A8FE-AC44-8D86-62946100B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150103"/>
              </p:ext>
            </p:extLst>
          </p:nvPr>
        </p:nvGraphicFramePr>
        <p:xfrm>
          <a:off x="4486478" y="1472020"/>
          <a:ext cx="68673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523">
                  <a:extLst>
                    <a:ext uri="{9D8B030D-6E8A-4147-A177-3AD203B41FA5}">
                      <a16:colId xmlns:a16="http://schemas.microsoft.com/office/drawing/2014/main" val="3683363980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3460345863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169152165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3928387437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1230187602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2851119979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2867618882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3581082296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855315441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2086267039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4125026679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2231082888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278841592"/>
                    </a:ext>
                  </a:extLst>
                </a:gridCol>
                <a:gridCol w="490523">
                  <a:extLst>
                    <a:ext uri="{9D8B030D-6E8A-4147-A177-3AD203B41FA5}">
                      <a16:colId xmlns:a16="http://schemas.microsoft.com/office/drawing/2014/main" val="348590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226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♠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73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263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6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♣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1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371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♠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0.38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0.62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0.85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59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0.23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0.38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0.85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0.92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271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0.08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0.15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0.23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00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♣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0.23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0.46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0.85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98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♠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0.38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0.62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0.85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32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0.23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0.38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0.85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0.92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030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0.08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0.15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0.23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997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♣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0.23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0.46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0.85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0</a:t>
                      </a:r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525586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F8882126-1F4D-464F-A24B-9172613A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67" y="2479756"/>
            <a:ext cx="3912243" cy="274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81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CNN-Based DDBP Solver</a:t>
            </a:r>
            <a:endParaRPr kumimoji="1" lang="zh-TW" altLang="en-US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BD95F20-DB59-3048-BE35-7E33A7C52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943" y="2768242"/>
            <a:ext cx="11092114" cy="245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8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CNN-Based DDBP Solver</a:t>
            </a:r>
            <a:endParaRPr kumimoji="1" lang="zh-TW" altLang="en-US" b="1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B87F3279-CDDA-824C-B93D-61610589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749308"/>
              </p:ext>
            </p:extLst>
          </p:nvPr>
        </p:nvGraphicFramePr>
        <p:xfrm>
          <a:off x="2387587" y="1690688"/>
          <a:ext cx="7416825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275">
                  <a:extLst>
                    <a:ext uri="{9D8B030D-6E8A-4147-A177-3AD203B41FA5}">
                      <a16:colId xmlns:a16="http://schemas.microsoft.com/office/drawing/2014/main" val="470068864"/>
                    </a:ext>
                  </a:extLst>
                </a:gridCol>
                <a:gridCol w="2472275">
                  <a:extLst>
                    <a:ext uri="{9D8B030D-6E8A-4147-A177-3AD203B41FA5}">
                      <a16:colId xmlns:a16="http://schemas.microsoft.com/office/drawing/2014/main" val="1805576538"/>
                    </a:ext>
                  </a:extLst>
                </a:gridCol>
                <a:gridCol w="2472275">
                  <a:extLst>
                    <a:ext uri="{9D8B030D-6E8A-4147-A177-3AD203B41FA5}">
                      <a16:colId xmlns:a16="http://schemas.microsoft.com/office/drawing/2014/main" val="347064439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Hyperparameter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8721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45350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Convolutional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3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 of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93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Filter sizes in successive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(12x13), (12x13), (2x3), (2x3)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(12x13), (12x13), (2x3)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47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 of filters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3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Activation function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SELU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8316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Fully connected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22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 of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and output layer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77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 of neurons in successive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52, 52, 26, 26, 14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52, 52, 52, 52, 14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546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Activation function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ELU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Softplus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660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632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endParaRPr kumimoji="1" lang="zh-TW" altLang="en-US" b="1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7419C87-D355-6049-B8C2-0312DEB98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355644"/>
              </p:ext>
            </p:extLst>
          </p:nvPr>
        </p:nvGraphicFramePr>
        <p:xfrm>
          <a:off x="1685763" y="2912383"/>
          <a:ext cx="8820473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479">
                  <a:extLst>
                    <a:ext uri="{9D8B030D-6E8A-4147-A177-3AD203B41FA5}">
                      <a16:colId xmlns:a16="http://schemas.microsoft.com/office/drawing/2014/main" val="2846939656"/>
                    </a:ext>
                  </a:extLst>
                </a:gridCol>
                <a:gridCol w="2789497">
                  <a:extLst>
                    <a:ext uri="{9D8B030D-6E8A-4147-A177-3AD203B41FA5}">
                      <a16:colId xmlns:a16="http://schemas.microsoft.com/office/drawing/2014/main" val="2672714552"/>
                    </a:ext>
                  </a:extLst>
                </a:gridCol>
                <a:gridCol w="2789497">
                  <a:extLst>
                    <a:ext uri="{9D8B030D-6E8A-4147-A177-3AD203B41FA5}">
                      <a16:colId xmlns:a16="http://schemas.microsoft.com/office/drawing/2014/main" val="189187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752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98.03|93.17|57.24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99.89|97.84|58.42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68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deviation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00.18|00.44|00.89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00.02|00.21|00.90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838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96.63|86.18|41.73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99.88|96.48|53.11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12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583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endParaRPr kumimoji="1" lang="zh-TW" altLang="en-US" b="1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C44F30-485F-2742-9719-0CB3A4794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23239"/>
              </p:ext>
            </p:extLst>
          </p:nvPr>
        </p:nvGraphicFramePr>
        <p:xfrm>
          <a:off x="1878359" y="1573964"/>
          <a:ext cx="8435281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552">
                  <a:extLst>
                    <a:ext uri="{9D8B030D-6E8A-4147-A177-3AD203B41FA5}">
                      <a16:colId xmlns:a16="http://schemas.microsoft.com/office/drawing/2014/main" val="2894031882"/>
                    </a:ext>
                  </a:extLst>
                </a:gridCol>
                <a:gridCol w="1394965">
                  <a:extLst>
                    <a:ext uri="{9D8B030D-6E8A-4147-A177-3AD203B41FA5}">
                      <a16:colId xmlns:a16="http://schemas.microsoft.com/office/drawing/2014/main" val="2832444657"/>
                    </a:ext>
                  </a:extLst>
                </a:gridCol>
                <a:gridCol w="2507382">
                  <a:extLst>
                    <a:ext uri="{9D8B030D-6E8A-4147-A177-3AD203B41FA5}">
                      <a16:colId xmlns:a16="http://schemas.microsoft.com/office/drawing/2014/main" val="2873751818"/>
                    </a:ext>
                  </a:extLst>
                </a:gridCol>
                <a:gridCol w="2507382">
                  <a:extLst>
                    <a:ext uri="{9D8B030D-6E8A-4147-A177-3AD203B41FA5}">
                      <a16:colId xmlns:a16="http://schemas.microsoft.com/office/drawing/2014/main" val="205774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Voting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83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98.55|95.16|63.46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99.93|98.79|63.62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1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98.61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95.39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|64.13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99.94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98.83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63.83</a:t>
                      </a:r>
                      <a:endParaRPr lang="zh-TW" altLang="en-US" sz="2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9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98.08|93.68|58.40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99.91|98.27|60.37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07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98.15|94.03|59.08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99.91|98.38|60.87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50182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98.03|93.17|57.24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99.89|97.84|58.42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4177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96.63|86.18|41.73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99.88|96.48|53.11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679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grandmasters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94.74|88.30|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73.68</a:t>
                      </a:r>
                      <a:endParaRPr lang="zh-TW" altLang="en-US" sz="2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88.34|81.63|53.06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88483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EB14DA3-03F3-934E-ADC1-E99754D4976A}"/>
                  </a:ext>
                </a:extLst>
              </p:cNvPr>
              <p:cNvSpPr txBox="1"/>
              <p:nvPr/>
            </p:nvSpPr>
            <p:spPr>
              <a:xfrm>
                <a:off x="838200" y="5531368"/>
                <a:ext cx="947543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set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 :</a:t>
                </a:r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Model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)…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Bagging : Model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Model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Model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)… </a:t>
                </a:r>
                <a:endParaRPr lang="zh-TW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EB14DA3-03F3-934E-ADC1-E99754D49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31368"/>
                <a:ext cx="9475439" cy="923330"/>
              </a:xfrm>
              <a:prstGeom prst="rect">
                <a:avLst/>
              </a:prstGeom>
              <a:blipFill>
                <a:blip r:embed="rId2"/>
                <a:stretch>
                  <a:fillRect l="-535" t="-2740" b="-95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478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DA011-6D52-0B4C-9D7A-E709D1B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endParaRPr kumimoji="1" lang="zh-TW" altLang="en-US" b="1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A111932-72A9-0B4D-9BF6-68049C758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954296"/>
              </p:ext>
            </p:extLst>
          </p:nvPr>
        </p:nvGraphicFramePr>
        <p:xfrm>
          <a:off x="1878359" y="1573964"/>
          <a:ext cx="8435281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552">
                  <a:extLst>
                    <a:ext uri="{9D8B030D-6E8A-4147-A177-3AD203B41FA5}">
                      <a16:colId xmlns:a16="http://schemas.microsoft.com/office/drawing/2014/main" val="2894031882"/>
                    </a:ext>
                  </a:extLst>
                </a:gridCol>
                <a:gridCol w="1394965">
                  <a:extLst>
                    <a:ext uri="{9D8B030D-6E8A-4147-A177-3AD203B41FA5}">
                      <a16:colId xmlns:a16="http://schemas.microsoft.com/office/drawing/2014/main" val="2832444657"/>
                    </a:ext>
                  </a:extLst>
                </a:gridCol>
                <a:gridCol w="2507382">
                  <a:extLst>
                    <a:ext uri="{9D8B030D-6E8A-4147-A177-3AD203B41FA5}">
                      <a16:colId xmlns:a16="http://schemas.microsoft.com/office/drawing/2014/main" val="2873751818"/>
                    </a:ext>
                  </a:extLst>
                </a:gridCol>
                <a:gridCol w="2507382">
                  <a:extLst>
                    <a:ext uri="{9D8B030D-6E8A-4147-A177-3AD203B41FA5}">
                      <a16:colId xmlns:a16="http://schemas.microsoft.com/office/drawing/2014/main" val="205774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Voting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83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98.55|95.16|63.46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99.93|98.79|63.62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1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98.61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95.39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|64.13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99.94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98.83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63.83</a:t>
                      </a:r>
                      <a:endParaRPr lang="zh-TW" altLang="en-US" sz="2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9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98.08|93.68|58.40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99.91|98.27|60.37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07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98.15|94.03|59.08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99.91|98.38|60.87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50182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98.03|93.17|57.24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99.89|97.84|58.42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4177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96.63|86.18|41.73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99.88|96.48|53.11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679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grandmasters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94.74|88.30|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73.68</a:t>
                      </a:r>
                      <a:endParaRPr lang="zh-TW" altLang="en-US" sz="2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88.34|81.63|53.06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88483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14405293-991D-4146-965A-E0BCA2EA2E17}"/>
              </a:ext>
            </a:extLst>
          </p:cNvPr>
          <p:cNvSpPr txBox="1"/>
          <p:nvPr/>
        </p:nvSpPr>
        <p:spPr>
          <a:xfrm>
            <a:off x="838200" y="5465109"/>
            <a:ext cx="10643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voting: Where each individual model votes for the class and the ensemble result is determined by a majority vote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voting: Involving the summation of probabilities assigned to each class by individual classifiers – the highest sum becomes the ensemble outcome.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86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1921</TotalTime>
  <Words>762</Words>
  <Application>Microsoft Macintosh PowerPoint</Application>
  <PresentationFormat>寬螢幕</PresentationFormat>
  <Paragraphs>313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Towards Human-Level Performance in Solving Double Dummy Bridge Problem</vt:lpstr>
      <vt:lpstr>Abstract</vt:lpstr>
      <vt:lpstr>Abstract</vt:lpstr>
      <vt:lpstr>Problem</vt:lpstr>
      <vt:lpstr>Previous</vt:lpstr>
      <vt:lpstr>Previous</vt:lpstr>
      <vt:lpstr>Previous</vt:lpstr>
      <vt:lpstr>Current representation of a deal</vt:lpstr>
      <vt:lpstr>Baseline CNN-Based DDBP Solver</vt:lpstr>
      <vt:lpstr>Baseline CNN-Based DDBP Solver</vt:lpstr>
      <vt:lpstr>Experimental</vt:lpstr>
      <vt:lpstr>Experimental</vt:lpstr>
      <vt:lpstr>Experimental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Human-Level Performance in Solving Double Dummy Bridge Problem</dc:title>
  <dc:creator>Microsoft Office User</dc:creator>
  <cp:lastModifiedBy>Microsoft Office User</cp:lastModifiedBy>
  <cp:revision>8</cp:revision>
  <dcterms:created xsi:type="dcterms:W3CDTF">2022-06-20T02:55:32Z</dcterms:created>
  <dcterms:modified xsi:type="dcterms:W3CDTF">2022-06-21T10:57:26Z</dcterms:modified>
</cp:coreProperties>
</file>