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65" r:id="rId3"/>
    <p:sldId id="286" r:id="rId4"/>
    <p:sldId id="270" r:id="rId5"/>
    <p:sldId id="267" r:id="rId6"/>
    <p:sldId id="274" r:id="rId7"/>
    <p:sldId id="287" r:id="rId8"/>
    <p:sldId id="288" r:id="rId9"/>
    <p:sldId id="268" r:id="rId10"/>
    <p:sldId id="272" r:id="rId11"/>
    <p:sldId id="271" r:id="rId12"/>
    <p:sldId id="273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99"/>
  </p:normalViewPr>
  <p:slideViewPr>
    <p:cSldViewPr snapToGrid="0" snapToObjects="1">
      <p:cViewPr varScale="1">
        <p:scale>
          <a:sx n="103" d="100"/>
          <a:sy n="103" d="100"/>
        </p:scale>
        <p:origin x="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24C55-26A1-874E-99DA-7C56E5E915FF}" type="datetimeFigureOut">
              <a:rPr kumimoji="1" lang="zh-TW" altLang="en-US" smtClean="0"/>
              <a:t>2022/9/5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237D2-5069-F342-82B4-7559A2C664E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39039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237D2-5069-F342-82B4-7559A2C664E2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39060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237D2-5069-F342-82B4-7559A2C664E2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63115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237D2-5069-F342-82B4-7559A2C664E2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27802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237D2-5069-F342-82B4-7559A2C664E2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25519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E3B692-342E-4841-9292-0A6C60244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E2D26A2-B9B7-C54F-B8B2-4837269A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7844F5-4E50-EB41-995C-C1F2E7CC3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56D-078D-C348-A6F9-F2CCE296B1EB}" type="datetimeFigureOut">
              <a:rPr kumimoji="1" lang="zh-TW" altLang="en-US" smtClean="0"/>
              <a:t>2022/9/5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EAF3E0-7326-054B-AFCB-4AF495E1C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8EBB7C-3814-EA49-A6B5-DC4A553E9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ABE10-AF9C-A041-8284-1FD1930DE08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2030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BBE62A-85B2-0842-9E30-0DAD400C9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C95982-F0BB-8F47-A2D4-F635C1B87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ED76FA-9E04-2547-B585-97D131750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56D-078D-C348-A6F9-F2CCE296B1EB}" type="datetimeFigureOut">
              <a:rPr kumimoji="1" lang="zh-TW" altLang="en-US" smtClean="0"/>
              <a:t>2022/9/5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5CFD59-59B1-C54B-8648-ACABC5B54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52CCC6-C287-8D4D-8888-6A2EACC4B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ABE10-AF9C-A041-8284-1FD1930DE08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4402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617BBF-7D6D-3548-A159-E00454462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29F971-B8A4-5E47-8E69-29B67D900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F911AB-3348-194A-AB55-5119A087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56D-078D-C348-A6F9-F2CCE296B1EB}" type="datetimeFigureOut">
              <a:rPr kumimoji="1" lang="zh-TW" altLang="en-US" smtClean="0"/>
              <a:t>2022/9/5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C9F18B-D398-B248-AB91-BBB28FA85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9760D9-5B73-9648-9442-6021A60B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ABE10-AF9C-A041-8284-1FD1930DE08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81425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A186C-FB71-8B4B-B3FE-452CD8D37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8292AD-4E03-2A48-AB0A-AA8560D9FB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88F837A-0AD8-0346-BE3F-6E61FD7C3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414E2C-D4C9-CF4F-A76B-F23C70AD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56D-078D-C348-A6F9-F2CCE296B1EB}" type="datetimeFigureOut">
              <a:rPr kumimoji="1" lang="zh-TW" altLang="en-US" smtClean="0"/>
              <a:t>2022/9/5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36223E1-781A-2546-9B2C-2E721DE46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CC21BC1-167F-E044-AEF2-78C9C9960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ABE10-AF9C-A041-8284-1FD1930DE08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17668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5DFB1F-E51D-E345-AA3F-EDF150156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230E7F-BAC0-DD41-B772-C39E40062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3AAC73-3EFF-6F44-B375-BB4E47917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541FDFC-6085-474B-8689-901EF9E6F4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D389F2D-D53E-BE46-A907-9884D2DDF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A6DE211-2BF0-364A-807D-FB17B5967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56D-078D-C348-A6F9-F2CCE296B1EB}" type="datetimeFigureOut">
              <a:rPr kumimoji="1" lang="zh-TW" altLang="en-US" smtClean="0"/>
              <a:t>2022/9/5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003278C-8C8B-9949-8865-E5BAEE8D2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056075F-95E7-A64F-904A-0E9CAC076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ABE10-AF9C-A041-8284-1FD1930DE08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3626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81B960-0B2F-C740-B46A-35F0FFDFB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1477BE-AC80-7643-BD01-90E2E6556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56D-078D-C348-A6F9-F2CCE296B1EB}" type="datetimeFigureOut">
              <a:rPr kumimoji="1" lang="zh-TW" altLang="en-US" smtClean="0"/>
              <a:t>2022/9/5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1C326E4-440F-6A46-B928-D50C7F957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8489490-3DA8-0740-A194-234C968DE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ABE10-AF9C-A041-8284-1FD1930DE08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47653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6A61AB5-B6D3-5349-A866-041EEC66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56D-078D-C348-A6F9-F2CCE296B1EB}" type="datetimeFigureOut">
              <a:rPr kumimoji="1" lang="zh-TW" altLang="en-US" smtClean="0"/>
              <a:t>2022/9/5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9DC85F2-BEB7-B647-AE57-105D17E16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6DD087-C64D-F54B-82A1-67B98A3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ABE10-AF9C-A041-8284-1FD1930DE08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50510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5B1BFE-929C-9A47-84A6-DB7465748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5F05BF-355C-924B-9FF0-2381A30DD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65AC1D8-D4F6-6341-A8B9-EB40D88D7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E15CB35-7732-C14E-A964-7F47F401D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56D-078D-C348-A6F9-F2CCE296B1EB}" type="datetimeFigureOut">
              <a:rPr kumimoji="1" lang="zh-TW" altLang="en-US" smtClean="0"/>
              <a:t>2022/9/5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B125692-7A82-5F44-837F-159731C9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0F6AB37-1FC4-544F-8CAA-36B8271F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ABE10-AF9C-A041-8284-1FD1930DE08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35342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C3CB7F-86DE-7B46-A84A-B976CFB62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C213186-C698-A94B-A65C-5EF0AD76A5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9E1ABCA-3D08-DE40-917A-DC153DCAC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6A0F66-82C7-4D4E-8DDF-6FAF1A4AE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56D-078D-C348-A6F9-F2CCE296B1EB}" type="datetimeFigureOut">
              <a:rPr kumimoji="1" lang="zh-TW" altLang="en-US" smtClean="0"/>
              <a:t>2022/9/5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2D60030-3585-0C4E-A983-44268AF03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2EAB98-2CFF-7846-81A2-66C46B82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ABE10-AF9C-A041-8284-1FD1930DE08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7245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4314D2-2FE7-E742-A499-547C96381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B29A66-E33E-2242-9252-9AE368E00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B60306-40A3-A14E-99A7-A332E7E6F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56D-078D-C348-A6F9-F2CCE296B1EB}" type="datetimeFigureOut">
              <a:rPr kumimoji="1" lang="zh-TW" altLang="en-US" smtClean="0"/>
              <a:t>2022/9/5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24A3A9-4E70-274C-BE61-BDBFE55CD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E56BB79-E2A3-A74F-90F1-F780707FE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ABE10-AF9C-A041-8284-1FD1930DE08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4983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40597B6-5DE3-AB43-9AE4-34D45C84E7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6561897-AE1D-4340-96CD-385E93146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3CC217-E1A2-9B40-9270-744906E95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56D-078D-C348-A6F9-F2CCE296B1EB}" type="datetimeFigureOut">
              <a:rPr kumimoji="1" lang="zh-TW" altLang="en-US" smtClean="0"/>
              <a:t>2022/9/5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3721D9-7041-004C-9907-5E63A7D8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DB9F49-4C0E-3649-9256-8D801093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ABE10-AF9C-A041-8284-1FD1930DE08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6671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25F3B41-53AA-424A-8931-7A0E6F52A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D2D003-EF9D-824A-8193-900BA960C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9C89972-24E8-F041-BEA6-DB1CAE17F7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5056D-078D-C348-A6F9-F2CCE296B1EB}" type="datetimeFigureOut">
              <a:rPr kumimoji="1" lang="zh-TW" altLang="en-US" smtClean="0"/>
              <a:t>2022/9/5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A1CD51-A6DA-1A45-B0B3-CA61ADDA7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019665-510E-5543-BD19-B16E2E385E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ABE10-AF9C-A041-8284-1FD1930DE08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0829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5C7C8A-452E-D943-890A-99D101A85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zh-TW" sz="4800" dirty="0">
                <a:latin typeface="Times" pitchFamily="2" charset="0"/>
              </a:rPr>
              <a:t>GIB: Steps Toward an Expert-Level Bridge-Playing Program</a:t>
            </a:r>
            <a:endParaRPr kumimoji="1" lang="zh-TW" altLang="en-US" sz="4800" dirty="0">
              <a:latin typeface="Times" pitchFamily="2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9CE59C-0A7C-3340-9871-01BB9F00CC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" altLang="zh-TW" dirty="0">
                <a:latin typeface="Times" pitchFamily="2" charset="0"/>
              </a:rPr>
              <a:t>Matthew L. Ginsberg</a:t>
            </a:r>
          </a:p>
          <a:p>
            <a:pPr>
              <a:lnSpc>
                <a:spcPct val="100000"/>
              </a:lnSpc>
            </a:pPr>
            <a:br>
              <a:rPr lang="en" altLang="zh-TW" dirty="0">
                <a:latin typeface="Times" pitchFamily="2" charset="0"/>
              </a:rPr>
            </a:br>
            <a:r>
              <a:rPr lang="en" altLang="zh-TW" i="1" dirty="0">
                <a:latin typeface="Times" pitchFamily="2" charset="0"/>
              </a:rPr>
              <a:t>IJCAI</a:t>
            </a:r>
            <a:r>
              <a:rPr lang="en" altLang="zh-TW" dirty="0">
                <a:latin typeface="Times" pitchFamily="2" charset="0"/>
              </a:rPr>
              <a:t>. 1999. p. 584-593.</a:t>
            </a:r>
            <a:endParaRPr lang="en" altLang="zh-TW" sz="2000" dirty="0">
              <a:latin typeface="Times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6ED1160-6DCB-BA45-A8E3-C0A533D93526}"/>
              </a:ext>
            </a:extLst>
          </p:cNvPr>
          <p:cNvSpPr txBox="1"/>
          <p:nvPr/>
        </p:nvSpPr>
        <p:spPr>
          <a:xfrm>
            <a:off x="9461868" y="5993027"/>
            <a:ext cx="2412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" pitchFamily="2" charset="0"/>
              </a:rPr>
              <a:t>Presenter: Yun-An Chen</a:t>
            </a:r>
          </a:p>
          <a:p>
            <a:r>
              <a:rPr kumimoji="1" lang="en-US" altLang="zh-TW" dirty="0">
                <a:latin typeface="Times" pitchFamily="2" charset="0"/>
              </a:rPr>
              <a:t>Date: Sept. 6, 2022</a:t>
            </a:r>
            <a:endParaRPr kumimoji="1" lang="zh-TW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27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dirty="0">
                <a:latin typeface="Times" pitchFamily="2" charset="0"/>
              </a:rPr>
              <a:t>Abstract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09F5D7-A24C-7540-ADEE-E8D83623F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" altLang="zh-TW" sz="2400" dirty="0">
                <a:latin typeface="Times" pitchFamily="2" charset="0"/>
              </a:rPr>
              <a:t>This paper describes GIB, the first bridge-playing program to approach the level of a human expert. (GIB finished twelfth in a hand-picked field of thirty-four experts at an invitational event at the 1998 World Bridge Championships.) We give a basic overview of the algorithms used, describe their strengths and weaknesses, and present the results of experiments comparing GIB to both human opponents</a:t>
            </a:r>
            <a:r>
              <a:rPr lang="zh-TW" altLang="en-US" sz="2400" dirty="0">
                <a:latin typeface="Times" pitchFamily="2" charset="0"/>
              </a:rPr>
              <a:t> </a:t>
            </a:r>
            <a:r>
              <a:rPr lang="en" altLang="zh-TW" sz="2400" dirty="0">
                <a:latin typeface="Times" pitchFamily="2" charset="0"/>
              </a:rPr>
              <a:t>and other programs.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9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dirty="0">
                <a:latin typeface="Times" pitchFamily="2" charset="0"/>
              </a:rPr>
              <a:t>Card play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09F5D7-A24C-7540-ADEE-E8D83623F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" altLang="zh-TW" dirty="0">
                    <a:latin typeface="Times" pitchFamily="2" charset="0"/>
                  </a:rPr>
                  <a:t>Algorithm 1(</a:t>
                </a:r>
                <a:r>
                  <a:rPr lang="en" altLang="zh-TW" b="1" dirty="0">
                    <a:latin typeface="Times" pitchFamily="2" charset="0"/>
                  </a:rPr>
                  <a:t>Monte Carlo card selection</a:t>
                </a:r>
                <a:r>
                  <a:rPr lang="en" altLang="zh-TW" dirty="0">
                    <a:latin typeface="Times" pitchFamily="2" charset="0"/>
                  </a:rPr>
                  <a:t>): </a:t>
                </a:r>
                <a:r>
                  <a:rPr lang="en" altLang="zh-TW" sz="2000" dirty="0">
                    <a:latin typeface="Times" pitchFamily="2" charset="0"/>
                  </a:rPr>
                  <a:t>To select a move from a candidate set M of such moves.</a:t>
                </a:r>
              </a:p>
              <a:p>
                <a:endParaRPr lang="en" altLang="zh-TW" sz="2400" dirty="0">
                  <a:latin typeface="Times" pitchFamily="2" charset="0"/>
                </a:endParaRPr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" altLang="zh-TW" sz="2400" dirty="0">
                    <a:latin typeface="Times" pitchFamily="2" charset="0"/>
                  </a:rPr>
                  <a:t>Construct a set D of deals consistent with both the bidding and play of the deal thus far. </a:t>
                </a:r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" altLang="zh-TW" sz="2400" dirty="0">
                    <a:latin typeface="Times" pitchFamily="2" charset="0"/>
                  </a:rPr>
                  <a:t>For each move m ∈ M and each deal d ∈ D, evaluate the double dummy result of making the move m in the deal d. Denote the score obtained by making this move s(m, d).</a:t>
                </a:r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" altLang="zh-TW" sz="2400" dirty="0">
                    <a:latin typeface="Times" pitchFamily="2" charset="0"/>
                  </a:rPr>
                  <a:t>Return that m for which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" altLang="zh-TW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" altLang="zh-TW" sz="2400" dirty="0" smtClean="0">
                            <a:latin typeface="Times" pitchFamily="2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" altLang="zh-TW" sz="2400" dirty="0" smtClean="0">
                            <a:latin typeface="Times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" altLang="zh-TW" sz="2400" dirty="0" smtClean="0">
                            <a:latin typeface="Times" pitchFamily="2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" altLang="zh-TW" sz="2400" dirty="0" smtClean="0">
                            <a:latin typeface="Times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" altLang="zh-TW" sz="2400" dirty="0" smtClean="0">
                            <a:latin typeface="Times" pitchFamily="2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" altLang="zh-TW" sz="2400" dirty="0" smtClean="0">
                            <a:latin typeface="Times" pitchFamily="2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" altLang="zh-TW" sz="2400" dirty="0">
                    <a:latin typeface="Times" pitchFamily="2" charset="0"/>
                  </a:rPr>
                  <a:t> is maximal.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09F5D7-A24C-7540-ADEE-E8D83623F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035" b="-7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05471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dirty="0">
                <a:latin typeface="Times" pitchFamily="2" charset="0"/>
              </a:rPr>
              <a:t>Card play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09F5D7-A24C-7540-ADEE-E8D83623F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" altLang="zh-TW" dirty="0">
                    <a:latin typeface="Times" pitchFamily="2" charset="0"/>
                  </a:rPr>
                  <a:t>GIB uses its existing analyses to identify mistakes that the opponents might make.</a:t>
                </a:r>
              </a:p>
              <a:p>
                <a:pPr marL="0" indent="0">
                  <a:buNone/>
                </a:pPr>
                <a:endParaRPr lang="en-US" altLang="zh-TW" sz="2400" i="1" dirty="0">
                  <a:latin typeface="Times" pitchFamily="2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" altLang="zh-TW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" altLang="zh-TW" sz="2400" dirty="0" smtClean="0">
                            <a:latin typeface="Times" pitchFamily="2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" altLang="zh-TW" sz="2400" dirty="0" smtClean="0">
                            <a:latin typeface="Times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" altLang="zh-TW" sz="2400" dirty="0" smtClean="0">
                            <a:latin typeface="Times" pitchFamily="2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" altLang="zh-TW" sz="2400" dirty="0" smtClean="0">
                            <a:latin typeface="Times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" altLang="zh-TW" sz="2400" dirty="0" smtClean="0">
                            <a:latin typeface="Times" pitchFamily="2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" altLang="zh-TW" sz="2400" dirty="0" smtClean="0">
                            <a:latin typeface="Times" pitchFamily="2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" altLang="zh-TW" sz="2400" dirty="0">
                    <a:latin typeface="Times" pitchFamily="2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" altLang="zh-TW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" altLang="zh-TW" sz="2400" dirty="0">
                            <a:latin typeface="Times" pitchFamily="2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" altLang="zh-TW" sz="2400" dirty="0">
                            <a:latin typeface="Times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" altLang="zh-TW" sz="2400" dirty="0">
                            <a:latin typeface="Times" pitchFamily="2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" altLang="zh-TW" sz="2400" dirty="0">
                            <a:latin typeface="Times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" altLang="zh-TW" sz="2400" dirty="0">
                            <a:latin typeface="Times" pitchFamily="2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" altLang="zh-TW" sz="2400" dirty="0">
                            <a:latin typeface="Times" pitchFamily="2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" altLang="zh-TW" sz="2400" dirty="0">
                    <a:latin typeface="Times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09F5D7-A24C-7540-ADEE-E8D83623F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584" t="-20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4</a:t>
            </a:fld>
            <a:endParaRPr kumimoji="1" lang="zh-TW" altLang="en-US" dirty="0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7E511775-D59C-C245-A5DC-0113D799A4D0}"/>
              </a:ext>
            </a:extLst>
          </p:cNvPr>
          <p:cNvGrpSpPr/>
          <p:nvPr/>
        </p:nvGrpSpPr>
        <p:grpSpPr>
          <a:xfrm>
            <a:off x="5833482" y="3063428"/>
            <a:ext cx="4825367" cy="2588934"/>
            <a:chOff x="7893140" y="5149491"/>
            <a:chExt cx="2146806" cy="1109503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9CE8102-9760-9541-8CF6-FC778C829886}"/>
                </a:ext>
              </a:extLst>
            </p:cNvPr>
            <p:cNvSpPr/>
            <p:nvPr/>
          </p:nvSpPr>
          <p:spPr>
            <a:xfrm>
              <a:off x="9128297" y="5149491"/>
              <a:ext cx="765669" cy="716537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ECAAB748-93BE-3F4D-B5D3-CE95A70703EF}"/>
                </a:ext>
              </a:extLst>
            </p:cNvPr>
            <p:cNvGrpSpPr/>
            <p:nvPr/>
          </p:nvGrpSpPr>
          <p:grpSpPr>
            <a:xfrm>
              <a:off x="9389110" y="5927061"/>
              <a:ext cx="650836" cy="331933"/>
              <a:chOff x="8340279" y="5327247"/>
              <a:chExt cx="806707" cy="410145"/>
            </a:xfrm>
          </p:grpSpPr>
          <p:pic>
            <p:nvPicPr>
              <p:cNvPr id="7" name="圖形 6" descr="黑桃牌組 以實心填滿">
                <a:extLst>
                  <a:ext uri="{FF2B5EF4-FFF2-40B4-BE49-F238E27FC236}">
                    <a16:creationId xmlns:a16="http://schemas.microsoft.com/office/drawing/2014/main" id="{8C726A44-3E11-B344-B9B4-B378AA5AB7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340279" y="5327247"/>
                <a:ext cx="263052" cy="263051"/>
              </a:xfrm>
              <a:prstGeom prst="rect">
                <a:avLst/>
              </a:prstGeom>
            </p:spPr>
          </p:pic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F372AA5-EC2B-3348-8AE7-9691E6396985}"/>
                  </a:ext>
                </a:extLst>
              </p:cNvPr>
              <p:cNvSpPr txBox="1"/>
              <p:nvPr/>
            </p:nvSpPr>
            <p:spPr>
              <a:xfrm>
                <a:off x="8553366" y="5363298"/>
                <a:ext cx="593620" cy="374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>
                    <a:latin typeface="Times" pitchFamily="2" charset="0"/>
                  </a:rPr>
                  <a:t>5     </a:t>
                </a:r>
              </a:p>
              <a:p>
                <a:r>
                  <a:rPr kumimoji="1" lang="en-US" altLang="zh-TW" dirty="0">
                    <a:latin typeface="Times" pitchFamily="2" charset="0"/>
                  </a:rPr>
                  <a:t>(GIB)</a:t>
                </a:r>
                <a:endParaRPr kumimoji="1" lang="zh-TW" altLang="en-US" dirty="0">
                  <a:latin typeface="Times" pitchFamily="2" charset="0"/>
                </a:endParaRPr>
              </a:p>
            </p:txBody>
          </p:sp>
        </p:grp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E540FE25-D09F-494B-AB3D-7CB474EDE81A}"/>
                </a:ext>
              </a:extLst>
            </p:cNvPr>
            <p:cNvGrpSpPr/>
            <p:nvPr/>
          </p:nvGrpSpPr>
          <p:grpSpPr>
            <a:xfrm>
              <a:off x="8748043" y="5338948"/>
              <a:ext cx="430532" cy="222806"/>
              <a:chOff x="8453493" y="5400430"/>
              <a:chExt cx="533640" cy="275303"/>
            </a:xfrm>
          </p:grpSpPr>
          <p:pic>
            <p:nvPicPr>
              <p:cNvPr id="12" name="圖形 11" descr="黑桃牌組 以實心填滿">
                <a:extLst>
                  <a:ext uri="{FF2B5EF4-FFF2-40B4-BE49-F238E27FC236}">
                    <a16:creationId xmlns:a16="http://schemas.microsoft.com/office/drawing/2014/main" id="{E74C7DCE-11FD-FA46-9930-6A7E2CE5EC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453493" y="5400430"/>
                <a:ext cx="275302" cy="275303"/>
              </a:xfrm>
              <a:prstGeom prst="rect">
                <a:avLst/>
              </a:prstGeom>
            </p:spPr>
          </p:pic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782B79C-B12D-4943-98D5-746D8541B744}"/>
                  </a:ext>
                </a:extLst>
              </p:cNvPr>
              <p:cNvSpPr txBox="1"/>
              <p:nvPr/>
            </p:nvSpPr>
            <p:spPr>
              <a:xfrm>
                <a:off x="8659678" y="5453230"/>
                <a:ext cx="327455" cy="213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>
                    <a:latin typeface="Times" pitchFamily="2" charset="0"/>
                  </a:rPr>
                  <a:t>K</a:t>
                </a:r>
                <a:endParaRPr kumimoji="1" lang="zh-TW" altLang="en-US" dirty="0">
                  <a:latin typeface="Times" pitchFamily="2" charset="0"/>
                </a:endParaRPr>
              </a:p>
            </p:txBody>
          </p:sp>
        </p:grp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5C1B5757-5A07-AF4B-99D3-C65949AE1D61}"/>
                </a:ext>
              </a:extLst>
            </p:cNvPr>
            <p:cNvSpPr txBox="1"/>
            <p:nvPr/>
          </p:nvSpPr>
          <p:spPr>
            <a:xfrm>
              <a:off x="7893140" y="5712661"/>
              <a:ext cx="1220387" cy="158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chemeClr val="accent6">
                      <a:lumMod val="50000"/>
                    </a:schemeClr>
                  </a:solidFill>
                  <a:latin typeface="Times" pitchFamily="2" charset="0"/>
                </a:rPr>
                <a:t>80% that west holds the SK</a:t>
              </a:r>
              <a:endParaRPr kumimoji="1" lang="zh-TW" altLang="en-US" dirty="0">
                <a:solidFill>
                  <a:schemeClr val="accent6">
                    <a:lumMod val="50000"/>
                  </a:schemeClr>
                </a:solidFill>
                <a:latin typeface="Times" pitchFamily="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D521B90-C9FA-B44E-A75A-A2BA31C51ED7}"/>
                  </a:ext>
                </a:extLst>
              </p:cNvPr>
              <p:cNvSpPr txBox="1"/>
              <p:nvPr/>
            </p:nvSpPr>
            <p:spPr>
              <a:xfrm>
                <a:off x="1303884" y="4173230"/>
                <a:ext cx="3302343" cy="369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" altLang="zh-TW" sz="1800" dirty="0">
                    <a:latin typeface="Times" pitchFamily="2" charset="0"/>
                  </a:rPr>
                  <a:t>: the weight assigned to deal d.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D521B90-C9FA-B44E-A75A-A2BA31C51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884" y="4173230"/>
                <a:ext cx="3302343" cy="369331"/>
              </a:xfrm>
              <a:prstGeom prst="rect">
                <a:avLst/>
              </a:prstGeom>
              <a:blipFill>
                <a:blip r:embed="rId5"/>
                <a:stretch>
                  <a:fillRect t="-6667" r="-1149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7314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dirty="0">
                <a:latin typeface="Times" pitchFamily="2" charset="0"/>
              </a:rPr>
              <a:t>Bidding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09F5D7-A24C-7540-ADEE-E8D83623F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" altLang="zh-TW" dirty="0">
                    <a:latin typeface="Times" pitchFamily="2" charset="0"/>
                  </a:rPr>
                  <a:t>Algorithm 2: </a:t>
                </a:r>
                <a:r>
                  <a:rPr lang="en" altLang="zh-TW" sz="2000" dirty="0">
                    <a:latin typeface="Times" pitchFamily="2" charset="0"/>
                  </a:rPr>
                  <a:t>To select a bid from a candidate set B, given a database Z that suggests bids in various situations.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" altLang="zh-TW" sz="2400" dirty="0">
                  <a:latin typeface="Times" pitchFamily="2" charset="0"/>
                </a:endParaRPr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" altLang="zh-TW" sz="2400" dirty="0">
                    <a:latin typeface="Times" pitchFamily="2" charset="0"/>
                  </a:rPr>
                  <a:t>Construct a set D of deals consistent with the bidding thus far.</a:t>
                </a:r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" altLang="zh-TW" sz="2400" dirty="0">
                    <a:latin typeface="Times" pitchFamily="2" charset="0"/>
                  </a:rPr>
                  <a:t>For each bid b ∈ B and each deal d ∈ D, </a:t>
                </a:r>
                <a:r>
                  <a:rPr lang="en" altLang="zh-TW" sz="2400" dirty="0">
                    <a:solidFill>
                      <a:srgbClr val="C00000"/>
                    </a:solidFill>
                    <a:latin typeface="Times" pitchFamily="2" charset="0"/>
                  </a:rPr>
                  <a:t>use the database Z to project how the auction will continue if the bid b is made</a:t>
                </a:r>
                <a:r>
                  <a:rPr lang="en" altLang="zh-TW" sz="2400" dirty="0">
                    <a:solidFill>
                      <a:schemeClr val="accent6">
                        <a:lumMod val="50000"/>
                      </a:schemeClr>
                    </a:solidFill>
                    <a:latin typeface="Times" pitchFamily="2" charset="0"/>
                  </a:rPr>
                  <a:t>.</a:t>
                </a:r>
                <a:r>
                  <a:rPr lang="en" altLang="zh-TW" sz="2400" dirty="0">
                    <a:latin typeface="Times" pitchFamily="2" charset="0"/>
                  </a:rPr>
                  <a:t> (If no bid is suggested by the database, the player in question is assumed to pass.) Compute the double dummy result of the eventual contract, denoting it s(b, d).</a:t>
                </a:r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" altLang="zh-TW" sz="2400" dirty="0">
                    <a:latin typeface="Times" pitchFamily="2" charset="0"/>
                  </a:rPr>
                  <a:t>Return that b for which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" altLang="zh-TW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" altLang="zh-TW" sz="2400" dirty="0">
                            <a:latin typeface="Times" pitchFamily="2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" altLang="zh-TW" sz="2400" dirty="0">
                            <a:latin typeface="Times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" pitchFamily="2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" altLang="zh-TW" sz="2400" dirty="0">
                            <a:latin typeface="Times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" altLang="zh-TW" sz="2400" dirty="0">
                            <a:latin typeface="Times" pitchFamily="2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" altLang="zh-TW" sz="2400" dirty="0">
                            <a:latin typeface="Times" pitchFamily="2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" altLang="zh-TW" sz="2400" dirty="0">
                    <a:latin typeface="Times" pitchFamily="2" charset="0"/>
                  </a:rPr>
                  <a:t> is maximal.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09F5D7-A24C-7540-ADEE-E8D83623F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453" r="-1568" b="-98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40636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C6BEC6B-5C77-412D-B45A-5B0F46F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09F5D7-A24C-7540-ADEE-E8D83623F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47128"/>
            <a:ext cx="10515600" cy="42726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" altLang="zh-TW" dirty="0">
                <a:latin typeface="Times" pitchFamily="2" charset="0"/>
              </a:rPr>
              <a:t>Dataset of deals: the bidding and play of the deal.</a:t>
            </a:r>
            <a:endParaRPr lang="en" altLang="zh-TW" sz="2400" dirty="0">
              <a:latin typeface="Times" pitchFamily="2" charset="0"/>
            </a:endParaRPr>
          </a:p>
          <a:p>
            <a:pPr marL="0" indent="0">
              <a:buNone/>
            </a:pPr>
            <a:endParaRPr lang="en" altLang="zh-TW" dirty="0">
              <a:latin typeface="Times" pitchFamily="2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8576A9E-682B-FF4F-BC47-3B60B8BD2C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273" t="5935" r="2" b="6643"/>
          <a:stretch/>
        </p:blipFill>
        <p:spPr>
          <a:xfrm>
            <a:off x="7594238" y="2893621"/>
            <a:ext cx="3378562" cy="261459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1303F21-0339-114F-A835-EDFAC68AEBBB}" type="slidenum">
              <a:rPr kumimoji="1" lang="zh-TW" altLang="en-US" smtClean="0"/>
              <a:pPr>
                <a:spcAft>
                  <a:spcPts val="600"/>
                </a:spcAft>
              </a:pPr>
              <a:t>6</a:t>
            </a:fld>
            <a:endParaRPr kumimoji="1"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ABBD7C9-AD9B-324C-B810-DD2AA18B93D0}"/>
              </a:ext>
            </a:extLst>
          </p:cNvPr>
          <p:cNvSpPr txBox="1"/>
          <p:nvPr/>
        </p:nvSpPr>
        <p:spPr>
          <a:xfrm>
            <a:off x="838199" y="2775594"/>
            <a:ext cx="610076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TW" sz="2400" dirty="0">
                <a:latin typeface="Times" pitchFamily="2" charset="0"/>
              </a:rPr>
              <a:t>Simplify </a:t>
            </a:r>
            <a:r>
              <a:rPr lang="en" altLang="zh-TW" sz="2400" dirty="0">
                <a:solidFill>
                  <a:schemeClr val="accent6">
                    <a:lumMod val="50000"/>
                  </a:schemeClr>
                </a:solidFill>
                <a:latin typeface="Times" pitchFamily="2" charset="0"/>
              </a:rPr>
              <a:t>the auction</a:t>
            </a:r>
            <a:r>
              <a:rPr lang="en" altLang="zh-TW" sz="2400" dirty="0">
                <a:latin typeface="Times" pitchFamily="2" charset="0"/>
              </a:rPr>
              <a:t> as observed, building constraints describing each of the hands.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TW" sz="2400" dirty="0">
              <a:latin typeface="Time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TW" sz="2400" dirty="0">
                <a:solidFill>
                  <a:schemeClr val="accent6">
                    <a:lumMod val="50000"/>
                  </a:schemeClr>
                </a:solidFill>
                <a:latin typeface="Times" pitchFamily="2" charset="0"/>
              </a:rPr>
              <a:t>Deal hands </a:t>
            </a:r>
            <a:r>
              <a:rPr lang="en" altLang="zh-TW" sz="2400" dirty="0">
                <a:latin typeface="Times" pitchFamily="2" charset="0"/>
              </a:rPr>
              <a:t>consistent with the constraints using a deal generator.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TW" sz="2400" dirty="0">
              <a:latin typeface="Time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TW" sz="2400" dirty="0">
                <a:latin typeface="Times" pitchFamily="2" charset="0"/>
              </a:rPr>
              <a:t>Test this set of deals to </a:t>
            </a:r>
            <a:r>
              <a:rPr lang="en" altLang="zh-TW" sz="2400" dirty="0">
                <a:solidFill>
                  <a:schemeClr val="accent6">
                    <a:lumMod val="50000"/>
                  </a:schemeClr>
                </a:solidFill>
                <a:latin typeface="Times" pitchFamily="2" charset="0"/>
              </a:rPr>
              <a:t>remove elements that do not satisfy the remaining constraints</a:t>
            </a:r>
            <a:r>
              <a:rPr lang="en" altLang="zh-TW" sz="2400" dirty="0">
                <a:latin typeface="Times" pitchFamily="2" charset="0"/>
              </a:rPr>
              <a:t>.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8484DE78-7D6C-414A-A301-A0C12FD0C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" altLang="zh-TW" dirty="0">
                <a:latin typeface="Times" pitchFamily="2" charset="0"/>
              </a:rPr>
              <a:t>Dataset of deals</a:t>
            </a:r>
            <a:endParaRPr kumimoji="1" lang="zh-TW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335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09F5D7-A24C-7540-ADEE-E8D83623F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47128"/>
            <a:ext cx="10515600" cy="4272681"/>
          </a:xfrm>
        </p:spPr>
        <p:txBody>
          <a:bodyPr>
            <a:noAutofit/>
          </a:bodyPr>
          <a:lstStyle/>
          <a:p>
            <a:r>
              <a:rPr lang="en" altLang="zh-TW" dirty="0">
                <a:latin typeface="Times" pitchFamily="2" charset="0"/>
              </a:rPr>
              <a:t>GIB’s database is built using a derivative of the </a:t>
            </a:r>
            <a:r>
              <a:rPr lang="en" altLang="zh-TW" dirty="0">
                <a:solidFill>
                  <a:schemeClr val="accent6">
                    <a:lumMod val="50000"/>
                  </a:schemeClr>
                </a:solidFill>
                <a:latin typeface="Times" pitchFamily="2" charset="0"/>
              </a:rPr>
              <a:t>Meadowlark language</a:t>
            </a:r>
            <a:r>
              <a:rPr lang="en" altLang="zh-TW" dirty="0">
                <a:latin typeface="Times" pitchFamily="2" charset="0"/>
              </a:rPr>
              <a:t>, and includes about 3000 rules.</a:t>
            </a:r>
          </a:p>
          <a:p>
            <a:r>
              <a:rPr lang="en" altLang="zh-TW" dirty="0">
                <a:latin typeface="Times" pitchFamily="2" charset="0"/>
              </a:rPr>
              <a:t>Meadowlark has two main systems: SAYC and 2/1.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1303F21-0339-114F-A835-EDFAC68AEBBB}" type="slidenum">
              <a:rPr kumimoji="1" lang="zh-TW" altLang="en-US" smtClean="0"/>
              <a:pPr>
                <a:spcAft>
                  <a:spcPts val="600"/>
                </a:spcAft>
              </a:pPr>
              <a:t>7</a:t>
            </a:fld>
            <a:endParaRPr kumimoji="1" lang="zh-TW" altLang="en-US"/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8484DE78-7D6C-414A-A301-A0C12FD0C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" altLang="zh-TW" dirty="0">
                <a:latin typeface="Times" pitchFamily="2" charset="0"/>
              </a:rPr>
              <a:t>Bidding database Z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909D809-E497-1444-BEE9-2A0987119470}"/>
              </a:ext>
            </a:extLst>
          </p:cNvPr>
          <p:cNvSpPr txBox="1"/>
          <p:nvPr/>
        </p:nvSpPr>
        <p:spPr>
          <a:xfrm>
            <a:off x="362798" y="6308079"/>
            <a:ext cx="61007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b="0" i="0" u="none" strike="noStrike" dirty="0">
                <a:solidFill>
                  <a:srgbClr val="222222"/>
                </a:solidFill>
                <a:effectLst/>
                <a:latin typeface="Times" pitchFamily="2" charset="0"/>
              </a:rPr>
              <a:t>Ginsberg, M. L. (2001). GIB: Imperfect information in a computationally challenging game. </a:t>
            </a:r>
            <a:r>
              <a:rPr lang="en" altLang="zh-TW" sz="1200" b="0" i="1" u="none" strike="noStrike" dirty="0">
                <a:solidFill>
                  <a:srgbClr val="222222"/>
                </a:solidFill>
                <a:effectLst/>
                <a:latin typeface="Times" pitchFamily="2" charset="0"/>
              </a:rPr>
              <a:t>Journal of Artificial Intelligence Research</a:t>
            </a:r>
            <a:r>
              <a:rPr lang="en" altLang="zh-TW" sz="1200" b="0" i="0" u="none" strike="noStrike" dirty="0">
                <a:solidFill>
                  <a:srgbClr val="222222"/>
                </a:solidFill>
                <a:effectLst/>
                <a:latin typeface="Times" pitchFamily="2" charset="0"/>
              </a:rPr>
              <a:t>, </a:t>
            </a:r>
            <a:r>
              <a:rPr lang="en" altLang="zh-TW" sz="1200" b="0" i="1" u="none" strike="noStrike" dirty="0">
                <a:solidFill>
                  <a:srgbClr val="222222"/>
                </a:solidFill>
                <a:effectLst/>
                <a:latin typeface="Times" pitchFamily="2" charset="0"/>
              </a:rPr>
              <a:t>14</a:t>
            </a:r>
            <a:r>
              <a:rPr lang="en" altLang="zh-TW" sz="1200" b="0" i="0" u="none" strike="noStrike" dirty="0">
                <a:solidFill>
                  <a:srgbClr val="222222"/>
                </a:solidFill>
                <a:effectLst/>
                <a:latin typeface="Times" pitchFamily="2" charset="0"/>
              </a:rPr>
              <a:t>, 303-358.</a:t>
            </a:r>
            <a:endParaRPr lang="zh-TW" altLang="en-US" sz="1200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56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09F5D7-A24C-7540-ADEE-E8D83623F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47128"/>
            <a:ext cx="10515600" cy="42726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" altLang="zh-TW" dirty="0">
                <a:latin typeface="Times" pitchFamily="2" charset="0"/>
              </a:rPr>
              <a:t>1. The next bid is selected from a prioritized list of available bids that match the description of the hand.</a:t>
            </a:r>
          </a:p>
          <a:p>
            <a:pPr marL="0" indent="0">
              <a:buNone/>
            </a:pPr>
            <a:r>
              <a:rPr lang="en" altLang="zh-TW" dirty="0">
                <a:latin typeface="Times" pitchFamily="2" charset="0"/>
              </a:rPr>
              <a:t>	</a:t>
            </a:r>
            <a:r>
              <a:rPr lang="en" altLang="zh-TW" sz="2000" dirty="0">
                <a:latin typeface="Times" pitchFamily="2" charset="0"/>
              </a:rPr>
              <a:t>1H-4C would be a higher priority bid than 1NT forcing.</a:t>
            </a:r>
          </a:p>
          <a:p>
            <a:pPr marL="0" indent="0">
              <a:buNone/>
            </a:pPr>
            <a:endParaRPr lang="en" altLang="zh-TW" sz="2000" dirty="0">
              <a:latin typeface="Times" pitchFamily="2" charset="0"/>
            </a:endParaRPr>
          </a:p>
          <a:p>
            <a:pPr marL="0" indent="0">
              <a:buNone/>
            </a:pPr>
            <a:r>
              <a:rPr lang="en" altLang="zh-TW" dirty="0">
                <a:latin typeface="Times" pitchFamily="2" charset="0"/>
              </a:rPr>
              <a:t>2. Use a hand evaluator for all four hands, then generate hands matching the </a:t>
            </a:r>
            <a:r>
              <a:rPr lang="en" altLang="zh-TW">
                <a:latin typeface="Times" pitchFamily="2" charset="0"/>
              </a:rPr>
              <a:t>bidding, get </a:t>
            </a:r>
            <a:r>
              <a:rPr lang="en" altLang="zh-TW" dirty="0">
                <a:latin typeface="Times" pitchFamily="2" charset="0"/>
              </a:rPr>
              <a:t>the scores based on what the evaluator says can be made for the bid being considered, and use the accumulated best bid. </a:t>
            </a:r>
          </a:p>
          <a:p>
            <a:pPr marL="0" indent="0">
              <a:buNone/>
            </a:pPr>
            <a:endParaRPr lang="en" altLang="zh-TW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1303F21-0339-114F-A835-EDFAC68AEBBB}" type="slidenum">
              <a:rPr kumimoji="1" lang="zh-TW" altLang="en-US" smtClean="0"/>
              <a:pPr>
                <a:spcAft>
                  <a:spcPts val="600"/>
                </a:spcAft>
              </a:pPr>
              <a:t>8</a:t>
            </a:fld>
            <a:endParaRPr kumimoji="1" lang="zh-TW" altLang="en-US"/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8484DE78-7D6C-414A-A301-A0C12FD0C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" altLang="zh-TW" dirty="0">
                <a:latin typeface="Times" pitchFamily="2" charset="0"/>
              </a:rPr>
              <a:t>Meadowlark language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41A89B7-72B1-4E47-B97D-76688F609CE9}"/>
              </a:ext>
            </a:extLst>
          </p:cNvPr>
          <p:cNvSpPr txBox="1"/>
          <p:nvPr/>
        </p:nvSpPr>
        <p:spPr>
          <a:xfrm>
            <a:off x="362798" y="6308079"/>
            <a:ext cx="61007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b="0" i="0" u="none" strike="noStrike" dirty="0">
                <a:solidFill>
                  <a:srgbClr val="222222"/>
                </a:solidFill>
                <a:effectLst/>
                <a:latin typeface="Times" pitchFamily="2" charset="0"/>
              </a:rPr>
              <a:t>Ginsberg, M. L. (2001). GIB: Imperfect information in a computationally challenging game. </a:t>
            </a:r>
            <a:r>
              <a:rPr lang="en" altLang="zh-TW" sz="1200" b="0" i="1" u="none" strike="noStrike" dirty="0">
                <a:solidFill>
                  <a:srgbClr val="222222"/>
                </a:solidFill>
                <a:effectLst/>
                <a:latin typeface="Times" pitchFamily="2" charset="0"/>
              </a:rPr>
              <a:t>Journal of Artificial Intelligence Research</a:t>
            </a:r>
            <a:r>
              <a:rPr lang="en" altLang="zh-TW" sz="1200" b="0" i="0" u="none" strike="noStrike" dirty="0">
                <a:solidFill>
                  <a:srgbClr val="222222"/>
                </a:solidFill>
                <a:effectLst/>
                <a:latin typeface="Times" pitchFamily="2" charset="0"/>
              </a:rPr>
              <a:t>, </a:t>
            </a:r>
            <a:r>
              <a:rPr lang="en" altLang="zh-TW" sz="1200" b="0" i="1" u="none" strike="noStrike" dirty="0">
                <a:solidFill>
                  <a:srgbClr val="222222"/>
                </a:solidFill>
                <a:effectLst/>
                <a:latin typeface="Times" pitchFamily="2" charset="0"/>
              </a:rPr>
              <a:t>14</a:t>
            </a:r>
            <a:r>
              <a:rPr lang="en" altLang="zh-TW" sz="1200" b="0" i="0" u="none" strike="noStrike" dirty="0">
                <a:solidFill>
                  <a:srgbClr val="222222"/>
                </a:solidFill>
                <a:effectLst/>
                <a:latin typeface="Times" pitchFamily="2" charset="0"/>
              </a:rPr>
              <a:t>, 303-358.</a:t>
            </a:r>
            <a:endParaRPr lang="zh-TW" altLang="en-US" sz="1200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463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dirty="0">
                <a:latin typeface="Times" pitchFamily="2" charset="0"/>
              </a:rPr>
              <a:t>GIB’s performance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9</a:t>
            </a:fld>
            <a:endParaRPr kumimoji="1"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47969D4-97CE-9D45-9039-1F8552DE9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" altLang="zh-TW" dirty="0">
                <a:latin typeface="Times" pitchFamily="2" charset="0"/>
              </a:rPr>
              <a:t>Use </a:t>
            </a:r>
            <a:r>
              <a:rPr lang="en" altLang="zh-TW" b="1" dirty="0">
                <a:latin typeface="Times" pitchFamily="2" charset="0"/>
              </a:rPr>
              <a:t>Bridge Master (BM) </a:t>
            </a:r>
            <a:r>
              <a:rPr lang="en" altLang="zh-TW" dirty="0">
                <a:latin typeface="Times" pitchFamily="2" charset="0"/>
              </a:rPr>
              <a:t>to evaluate the strength of GIB’s play.</a:t>
            </a:r>
          </a:p>
          <a:p>
            <a:pPr marL="0" indent="0">
              <a:buNone/>
            </a:pPr>
            <a:endParaRPr lang="zh-TW" altLang="en-US" dirty="0">
              <a:latin typeface="Times" pitchFamily="2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9412E94-3851-D849-89C4-C12C73A1D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003" y="2829988"/>
            <a:ext cx="3414715" cy="2975197"/>
          </a:xfrm>
          <a:prstGeom prst="rect">
            <a:avLst/>
          </a:prstGeom>
        </p:spPr>
      </p:pic>
      <p:grpSp>
        <p:nvGrpSpPr>
          <p:cNvPr id="13" name="群組 12">
            <a:extLst>
              <a:ext uri="{FF2B5EF4-FFF2-40B4-BE49-F238E27FC236}">
                <a16:creationId xmlns:a16="http://schemas.microsoft.com/office/drawing/2014/main" id="{63450B97-F0D1-434A-BD4A-797CE368293F}"/>
              </a:ext>
            </a:extLst>
          </p:cNvPr>
          <p:cNvGrpSpPr/>
          <p:nvPr/>
        </p:nvGrpSpPr>
        <p:grpSpPr>
          <a:xfrm>
            <a:off x="1000126" y="2738676"/>
            <a:ext cx="6458795" cy="3157822"/>
            <a:chOff x="1014414" y="2552932"/>
            <a:chExt cx="6458795" cy="3157822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8CF96618-BF23-D24C-90BE-7EEA971F96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3514"/>
            <a:stretch/>
          </p:blipFill>
          <p:spPr>
            <a:xfrm>
              <a:off x="1014414" y="2552932"/>
              <a:ext cx="2782724" cy="3157822"/>
            </a:xfrm>
            <a:prstGeom prst="rect">
              <a:avLst/>
            </a:prstGeom>
          </p:spPr>
        </p:pic>
        <p:pic>
          <p:nvPicPr>
            <p:cNvPr id="12" name="圖片 11" descr="一張含有 文字, 室外, 螢幕擷取畫面, 停車 的圖片&#10;&#10;自動產生的描述">
              <a:extLst>
                <a:ext uri="{FF2B5EF4-FFF2-40B4-BE49-F238E27FC236}">
                  <a16:creationId xmlns:a16="http://schemas.microsoft.com/office/drawing/2014/main" id="{8283F7ED-C54F-A347-B103-8BA4958F9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97136" y="2552932"/>
              <a:ext cx="3676073" cy="31578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0305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dirty="0">
                <a:latin typeface="Times" pitchFamily="2" charset="0"/>
              </a:rPr>
              <a:t>GIB’s performance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10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066CCBE7-7B95-0040-979C-8A60716461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798" y="1822901"/>
            <a:ext cx="5652061" cy="3893001"/>
          </a:xfr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8594741-612B-3B4E-B7DC-2F1B89543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577" y="1877778"/>
            <a:ext cx="5655021" cy="397033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6C3B2A-3B5B-EA42-9C4D-1E6A33A67664}"/>
              </a:ext>
            </a:extLst>
          </p:cNvPr>
          <p:cNvSpPr txBox="1"/>
          <p:nvPr/>
        </p:nvSpPr>
        <p:spPr>
          <a:xfrm>
            <a:off x="362798" y="6308079"/>
            <a:ext cx="61007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b="0" i="0" u="none" strike="noStrike" dirty="0">
                <a:solidFill>
                  <a:srgbClr val="222222"/>
                </a:solidFill>
                <a:effectLst/>
                <a:latin typeface="Times" pitchFamily="2" charset="0"/>
              </a:rPr>
              <a:t>Ginsberg, M. L. (2001). GIB: Imperfect information in a computationally challenging game. </a:t>
            </a:r>
            <a:r>
              <a:rPr lang="en" altLang="zh-TW" sz="1200" b="0" i="1" u="none" strike="noStrike" dirty="0">
                <a:solidFill>
                  <a:srgbClr val="222222"/>
                </a:solidFill>
                <a:effectLst/>
                <a:latin typeface="Times" pitchFamily="2" charset="0"/>
              </a:rPr>
              <a:t>Journal of Artificial Intelligence Research</a:t>
            </a:r>
            <a:r>
              <a:rPr lang="en" altLang="zh-TW" sz="1200" b="0" i="0" u="none" strike="noStrike" dirty="0">
                <a:solidFill>
                  <a:srgbClr val="222222"/>
                </a:solidFill>
                <a:effectLst/>
                <a:latin typeface="Times" pitchFamily="2" charset="0"/>
              </a:rPr>
              <a:t>, </a:t>
            </a:r>
            <a:r>
              <a:rPr lang="en" altLang="zh-TW" sz="1200" b="0" i="1" u="none" strike="noStrike" dirty="0">
                <a:solidFill>
                  <a:srgbClr val="222222"/>
                </a:solidFill>
                <a:effectLst/>
                <a:latin typeface="Times" pitchFamily="2" charset="0"/>
              </a:rPr>
              <a:t>14</a:t>
            </a:r>
            <a:r>
              <a:rPr lang="en" altLang="zh-TW" sz="1200" b="0" i="0" u="none" strike="noStrike" dirty="0">
                <a:solidFill>
                  <a:srgbClr val="222222"/>
                </a:solidFill>
                <a:effectLst/>
                <a:latin typeface="Times" pitchFamily="2" charset="0"/>
              </a:rPr>
              <a:t>, 303-358.</a:t>
            </a:r>
            <a:endParaRPr lang="zh-TW" altLang="en-US" sz="1200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616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" altLang="zh-TW" dirty="0">
                <a:latin typeface="Times" pitchFamily="2" charset="0"/>
              </a:rPr>
              <a:t>GIB compared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11</a:t>
            </a:fld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8D2F7EC-0456-7949-BDB8-F94232EAB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" altLang="zh-TW" b="1" dirty="0">
                <a:latin typeface="Times" pitchFamily="2" charset="0"/>
              </a:rPr>
              <a:t>Other programs:</a:t>
            </a:r>
          </a:p>
          <a:p>
            <a:pPr marL="0" indent="0">
              <a:buNone/>
            </a:pPr>
            <a:r>
              <a:rPr lang="en" altLang="zh-TW" dirty="0">
                <a:latin typeface="Times" pitchFamily="2" charset="0"/>
              </a:rPr>
              <a:t>GIB participated in the 1998 World Computer Bridge Championships, along with six other computer programs, including Bridge Baron.</a:t>
            </a:r>
          </a:p>
          <a:p>
            <a:pPr marL="0" indent="0">
              <a:buNone/>
            </a:pPr>
            <a:endParaRPr lang="en" altLang="zh-TW" dirty="0">
              <a:latin typeface="Times" pitchFamily="2" charset="0"/>
            </a:endParaRPr>
          </a:p>
          <a:p>
            <a:r>
              <a:rPr lang="en" altLang="zh-TW" dirty="0">
                <a:latin typeface="Times" pitchFamily="2" charset="0"/>
              </a:rPr>
              <a:t>GIB won every match it played in the round robin, accumulating 95 out of a possible 120 victory points.</a:t>
            </a:r>
          </a:p>
          <a:p>
            <a:r>
              <a:rPr lang="en-US" altLang="zh-TW" dirty="0">
                <a:latin typeface="Times" pitchFamily="2" charset="0"/>
              </a:rPr>
              <a:t>In the knockout phase, it beat Bridge Baron by 84 IMPS over 48 deals.</a:t>
            </a:r>
          </a:p>
          <a:p>
            <a:r>
              <a:rPr lang="en-US" altLang="zh-TW" dirty="0">
                <a:latin typeface="Times" pitchFamily="2" charset="0"/>
              </a:rPr>
              <a:t>In the finals, it beat Q-Plus Bridge by 63 IMPS over 64 deals.</a:t>
            </a:r>
          </a:p>
        </p:txBody>
      </p:sp>
    </p:spTree>
    <p:extLst>
      <p:ext uri="{BB962C8B-B14F-4D97-AF65-F5344CB8AC3E}">
        <p14:creationId xmlns:p14="http://schemas.microsoft.com/office/powerpoint/2010/main" val="3780018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" altLang="zh-TW" dirty="0">
                <a:latin typeface="Times" pitchFamily="2" charset="0"/>
              </a:rPr>
              <a:t>GIB compared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12</a:t>
            </a:fld>
            <a:endParaRPr kumimoji="1"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8D2F7EC-0456-7949-BDB8-F94232EAB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" altLang="zh-TW" b="1" dirty="0">
                <a:latin typeface="Times" pitchFamily="2" charset="0"/>
              </a:rPr>
              <a:t>Human:</a:t>
            </a:r>
          </a:p>
          <a:p>
            <a:pPr marL="0" indent="0">
              <a:buNone/>
            </a:pPr>
            <a:endParaRPr lang="en" altLang="zh-TW" dirty="0">
              <a:latin typeface="Times" pitchFamily="2" charset="0"/>
            </a:endParaRPr>
          </a:p>
          <a:p>
            <a:r>
              <a:rPr lang="en" altLang="zh-TW" dirty="0">
                <a:latin typeface="Times" pitchFamily="2" charset="0"/>
              </a:rPr>
              <a:t>GIB played 14 deal against human world champions Zia Mahmood and Michael Rosenberg, losing by a total of 6.4 IMPS.</a:t>
            </a:r>
          </a:p>
          <a:p>
            <a:r>
              <a:rPr lang="en" altLang="zh-TW" dirty="0">
                <a:latin typeface="Times" pitchFamily="2" charset="0"/>
              </a:rPr>
              <a:t>GIB played thousands of deals against human opponents of various levels on </a:t>
            </a:r>
            <a:r>
              <a:rPr lang="en" altLang="zh-TW" dirty="0" err="1">
                <a:latin typeface="Times" pitchFamily="2" charset="0"/>
              </a:rPr>
              <a:t>OKBridge</a:t>
            </a:r>
            <a:r>
              <a:rPr lang="en" altLang="zh-TW" dirty="0">
                <a:latin typeface="Times" pitchFamily="2" charset="0"/>
              </a:rPr>
              <a:t>, it was losing at the rate of 0.2 IMPs/deal. </a:t>
            </a:r>
          </a:p>
          <a:p>
            <a:pPr marL="0" indent="0">
              <a:buNone/>
            </a:pPr>
            <a:endParaRPr lang="zh-TW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57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3738</TotalTime>
  <Words>768</Words>
  <Application>Microsoft Macintosh PowerPoint</Application>
  <PresentationFormat>寬螢幕</PresentationFormat>
  <Paragraphs>77</Paragraphs>
  <Slides>12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</vt:lpstr>
      <vt:lpstr>Office 佈景主題</vt:lpstr>
      <vt:lpstr>GIB: Steps Toward an Expert-Level Bridge-Playing Program</vt:lpstr>
      <vt:lpstr>Abstract</vt:lpstr>
      <vt:lpstr>Card play</vt:lpstr>
      <vt:lpstr>Card play</vt:lpstr>
      <vt:lpstr>Bidding</vt:lpstr>
      <vt:lpstr>Dataset of deals</vt:lpstr>
      <vt:lpstr>Bidding database Z</vt:lpstr>
      <vt:lpstr>Meadowlark language</vt:lpstr>
      <vt:lpstr>GIB’s performance</vt:lpstr>
      <vt:lpstr>GIB’s performance</vt:lpstr>
      <vt:lpstr>GIB compared</vt:lpstr>
      <vt:lpstr>GIB compared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GIB: Steps Toward an Expert-Level Bridge-Playing Program</dc:title>
  <dc:creator>D096050007</dc:creator>
  <cp:lastModifiedBy>D096050007</cp:lastModifiedBy>
  <cp:revision>212</cp:revision>
  <dcterms:created xsi:type="dcterms:W3CDTF">2022-08-27T07:55:11Z</dcterms:created>
  <dcterms:modified xsi:type="dcterms:W3CDTF">2022-09-05T14:05:33Z</dcterms:modified>
</cp:coreProperties>
</file>