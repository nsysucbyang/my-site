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57" r:id="rId4"/>
    <p:sldId id="259" r:id="rId5"/>
    <p:sldId id="260" r:id="rId6"/>
    <p:sldId id="268" r:id="rId7"/>
    <p:sldId id="261" r:id="rId8"/>
    <p:sldId id="262" r:id="rId9"/>
    <p:sldId id="263" r:id="rId10"/>
    <p:sldId id="269" r:id="rId11"/>
    <p:sldId id="264" r:id="rId12"/>
    <p:sldId id="265" r:id="rId13"/>
    <p:sldId id="267" r:id="rId14"/>
    <p:sldId id="270" r:id="rId15"/>
    <p:sldId id="266"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647" autoAdjust="0"/>
  </p:normalViewPr>
  <p:slideViewPr>
    <p:cSldViewPr snapToGrid="0">
      <p:cViewPr varScale="1">
        <p:scale>
          <a:sx n="88" d="100"/>
          <a:sy n="88" d="100"/>
        </p:scale>
        <p:origin x="147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36.43264" units="1/cm"/>
          <inkml:channelProperty channel="Y" name="resolution" value="36.48649" units="1/cm"/>
          <inkml:channelProperty channel="T" name="resolution" value="1" units="1/dev"/>
        </inkml:channelProperties>
      </inkml:inkSource>
      <inkml:timestamp xml:id="ts0" timeString="2022-09-01T03:51:27.267"/>
    </inkml:context>
    <inkml:brush xml:id="br0">
      <inkml:brushProperty name="width" value="0.05292" units="cm"/>
      <inkml:brushProperty name="height" value="0.05292" units="cm"/>
      <inkml:brushProperty name="color" value="#FF0000"/>
    </inkml:brush>
  </inkml:definitions>
  <inkml:trace contextRef="#ctx0" brushRef="#br0">17057 13935 0,'-18'0'31,"18"17"-16,-17 1 1,-1 0 0,18-1-1,-18 36 1,18-35-16,0-1 16,0 19-1,0-19 1,0 19-1,0-19 1,18 1 0,-18 0-1,18-18 17,-1 17-17,1-17 1,-1 0-1,19 0 1,34 0 0,-17 0-1,-18 0 1,1-17 0,-19-36-1,-17 17 1,0-34-1,0 17 1,0 18 0,0 17-1,0 0 17,0 1-17,0-1 1,-17 0-1,-1 18 1,0-17 0,-17 17-1,18 0 1,-1 0 0,0 0-1,1 0 16,-1 0 1,0 0-17,1 0 1,-1 0 15,0 0 0</inkml:trace>
  <inkml:trace contextRef="#ctx0" brushRef="#br0" timeOffset="1711.51">18309 13829 0,'0'18'16,"0"-1"0,-17 1-1,17 17 1,0 18-1,0-35-15,0 17 16,-18 53 0,0-35-1,18-35 1,0 17 0,0-17-1,0 17 1,0-17-1,0-1 1,0 1 0,0 17-1,0-17 17,0-1-17,0 19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6D34A-238D-4485-A40B-F87E86E9258E}" type="datetimeFigureOut">
              <a:rPr lang="zh-TW" altLang="en-US" smtClean="0"/>
              <a:t>2022/9/5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F64390-0ED7-4C75-BFE1-36BE5D3D4367}" type="slidenum">
              <a:rPr lang="zh-TW" altLang="en-US" smtClean="0"/>
              <a:t>‹#›</a:t>
            </a:fld>
            <a:endParaRPr lang="zh-TW" altLang="en-US"/>
          </a:p>
        </p:txBody>
      </p:sp>
    </p:spTree>
    <p:extLst>
      <p:ext uri="{BB962C8B-B14F-4D97-AF65-F5344CB8AC3E}">
        <p14:creationId xmlns:p14="http://schemas.microsoft.com/office/powerpoint/2010/main" val="299655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latin typeface="Times New Roman" panose="02020603050405020304" pitchFamily="18" charset="0"/>
                <a:cs typeface="Times New Roman" panose="02020603050405020304" pitchFamily="18" charset="0"/>
              </a:rPr>
              <a:t>Paradigm</a:t>
            </a:r>
            <a:r>
              <a:rPr lang="zh-TW" altLang="en-US" dirty="0">
                <a:latin typeface="Times New Roman" panose="02020603050405020304" pitchFamily="18" charset="0"/>
                <a:cs typeface="Times New Roman" panose="02020603050405020304" pitchFamily="18" charset="0"/>
              </a:rPr>
              <a:t> 示範</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Viable</a:t>
            </a:r>
            <a:r>
              <a:rPr lang="zh-TW" altLang="en-US" dirty="0">
                <a:latin typeface="Times New Roman" panose="02020603050405020304" pitchFamily="18" charset="0"/>
                <a:cs typeface="Times New Roman" panose="02020603050405020304" pitchFamily="18" charset="0"/>
              </a:rPr>
              <a:t> 可行的</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Orchestration</a:t>
            </a:r>
            <a:r>
              <a:rPr lang="zh-TW" altLang="en-US" dirty="0">
                <a:latin typeface="Times New Roman" panose="02020603050405020304" pitchFamily="18" charset="0"/>
                <a:cs typeface="Times New Roman" panose="02020603050405020304" pitchFamily="18" charset="0"/>
              </a:rPr>
              <a:t> 編排</a:t>
            </a:r>
            <a:endParaRPr lang="zh-TW" altLang="en-US" dirty="0"/>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2</a:t>
            </a:fld>
            <a:endParaRPr lang="zh-TW" altLang="en-US"/>
          </a:p>
        </p:txBody>
      </p:sp>
    </p:spTree>
    <p:extLst>
      <p:ext uri="{BB962C8B-B14F-4D97-AF65-F5344CB8AC3E}">
        <p14:creationId xmlns:p14="http://schemas.microsoft.com/office/powerpoint/2010/main" val="177225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把所有</a:t>
            </a:r>
            <a:r>
              <a:rPr lang="en-US" altLang="zh-TW" dirty="0"/>
              <a:t>task</a:t>
            </a:r>
            <a:r>
              <a:rPr lang="zh-TW" altLang="en-US" dirty="0"/>
              <a:t>放在</a:t>
            </a:r>
            <a:r>
              <a:rPr lang="en-US" altLang="zh-TW" dirty="0"/>
              <a:t>computation sum</a:t>
            </a:r>
            <a:r>
              <a:rPr lang="zh-TW" altLang="en-US" dirty="0"/>
              <a:t>最小的</a:t>
            </a:r>
            <a:r>
              <a:rPr lang="en-US" altLang="zh-TW" dirty="0"/>
              <a:t>processor</a:t>
            </a:r>
            <a:r>
              <a:rPr lang="zh-TW" altLang="en-US" dirty="0"/>
              <a:t>上</a:t>
            </a:r>
          </a:p>
        </p:txBody>
      </p:sp>
      <p:sp>
        <p:nvSpPr>
          <p:cNvPr id="4" name="投影片編號版面配置區 3"/>
          <p:cNvSpPr>
            <a:spLocks noGrp="1"/>
          </p:cNvSpPr>
          <p:nvPr>
            <p:ph type="sldNum" sz="quarter" idx="5"/>
          </p:nvPr>
        </p:nvSpPr>
        <p:spPr/>
        <p:txBody>
          <a:bodyPr/>
          <a:lstStyle/>
          <a:p>
            <a:fld id="{1FF64390-0ED7-4C75-BFE1-36BE5D3D4367}" type="slidenum">
              <a:rPr lang="zh-TW" altLang="en-US" smtClean="0"/>
              <a:t>14</a:t>
            </a:fld>
            <a:endParaRPr lang="zh-TW" altLang="en-US"/>
          </a:p>
        </p:txBody>
      </p:sp>
    </p:spTree>
    <p:extLst>
      <p:ext uri="{BB962C8B-B14F-4D97-AF65-F5344CB8AC3E}">
        <p14:creationId xmlns:p14="http://schemas.microsoft.com/office/powerpoint/2010/main" val="209161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04ABE8-C94B-E18D-858B-D5BD0B4579DF}"/>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CA81801-27CB-33FE-9BBB-35B4A8F852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8ADB085-0E96-5673-674A-BC4F57676851}"/>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5" name="頁尾版面配置區 4">
            <a:extLst>
              <a:ext uri="{FF2B5EF4-FFF2-40B4-BE49-F238E27FC236}">
                <a16:creationId xmlns:a16="http://schemas.microsoft.com/office/drawing/2014/main" id="{1831A456-1F52-86D4-BFE3-76ABE85BB60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DF849C-9AC1-D660-80F3-CABBA22CD5CE}"/>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43482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899BAC-4486-BEF7-ED50-76C27F54AF1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F2E3A36-69DA-7675-1A1B-4D2E591884A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821D62-ACEA-785E-4FFC-8E12E75126CD}"/>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5" name="頁尾版面配置區 4">
            <a:extLst>
              <a:ext uri="{FF2B5EF4-FFF2-40B4-BE49-F238E27FC236}">
                <a16:creationId xmlns:a16="http://schemas.microsoft.com/office/drawing/2014/main" id="{4841D5E2-D6EE-E68D-93EB-CCA47810EF9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311382C-634C-3346-3E34-C9DBDEC86A59}"/>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14877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4DA36C7-53F1-0E07-AE4C-737515EF722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7A0F2F28-0C20-E02F-D9F5-F925DC3A0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33F3457-6D4B-1B0D-B443-1D535B4D6AA4}"/>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5" name="頁尾版面配置區 4">
            <a:extLst>
              <a:ext uri="{FF2B5EF4-FFF2-40B4-BE49-F238E27FC236}">
                <a16:creationId xmlns:a16="http://schemas.microsoft.com/office/drawing/2014/main" id="{299A57AC-C319-CF75-1669-B27D371A82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D198BE-D8B1-8E13-013A-C67E3615DDB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913099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91C669-6150-BD36-BB37-4BEF5D5EBF5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063AE35-8B3A-D343-2183-BAB81EFC27CE}"/>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0271FDD-84FF-945B-DE66-2BCCF0B2DCF2}"/>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42860B6-9AB1-02DB-31C2-8D48D592E298}"/>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6" name="頁尾版面配置區 5">
            <a:extLst>
              <a:ext uri="{FF2B5EF4-FFF2-40B4-BE49-F238E27FC236}">
                <a16:creationId xmlns:a16="http://schemas.microsoft.com/office/drawing/2014/main" id="{FE995E2A-3CD8-8A87-DC71-C38BF7D4A07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32CE0F6-D5BF-132D-C7DF-40A33A4BBF24}"/>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77462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4C8182-EBB8-EE7D-8C08-A13FEBAE9C5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8CEE536-50FA-581D-B2BE-81FD97BA9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2F668FA-86CB-DA15-AB1A-E311480B8067}"/>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85881DE1-F36F-92A4-FC1C-8AEA2099AA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32B3EA3-970C-61D2-A1B8-E1EDEE49C77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96277DE-52AE-290B-5D6D-2B1FBCEC6DA4}"/>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8" name="頁尾版面配置區 7">
            <a:extLst>
              <a:ext uri="{FF2B5EF4-FFF2-40B4-BE49-F238E27FC236}">
                <a16:creationId xmlns:a16="http://schemas.microsoft.com/office/drawing/2014/main" id="{59E9EE01-71CA-9575-4F3B-5E4014D35FE2}"/>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A9CFD94-812A-F5B7-A452-671C0AE9E59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777047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4B7F7-64B8-FFE6-EA23-1CA37B4DAA5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4F139E3A-2C6B-C838-82DD-2046F3CB9E37}"/>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4" name="頁尾版面配置區 3">
            <a:extLst>
              <a:ext uri="{FF2B5EF4-FFF2-40B4-BE49-F238E27FC236}">
                <a16:creationId xmlns:a16="http://schemas.microsoft.com/office/drawing/2014/main" id="{98A57213-0BE3-60B7-E7B6-8C1ECA997C52}"/>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B1CA4A1-5503-DFDB-78CE-BB6301F635B5}"/>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141699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90E34BB-6EB1-BAD1-FC6D-EE971E88AAF6}"/>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3" name="頁尾版面配置區 2">
            <a:extLst>
              <a:ext uri="{FF2B5EF4-FFF2-40B4-BE49-F238E27FC236}">
                <a16:creationId xmlns:a16="http://schemas.microsoft.com/office/drawing/2014/main" id="{4E6D17BE-E03F-39BD-6867-426E8BA17001}"/>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6860872-9876-819D-901A-979413381FF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935264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F21EDC-93FA-CEEC-2DC0-296C8A5DF63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E4966D3-0321-9530-3BBE-6A172CD7E2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853AC8E-357E-B12C-959A-68FC689CBF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921B7E-E740-F038-426B-5A80531C4364}"/>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6" name="頁尾版面配置區 5">
            <a:extLst>
              <a:ext uri="{FF2B5EF4-FFF2-40B4-BE49-F238E27FC236}">
                <a16:creationId xmlns:a16="http://schemas.microsoft.com/office/drawing/2014/main" id="{2499217B-E73E-A066-AFAB-3DB571E2F13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773783-7C44-3528-705C-820CBFB9237A}"/>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77087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305790-6942-CB7A-4284-94709472C62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42F9CDC-8A00-5D70-4208-2928A6442F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39506B2-7081-438F-73C0-5F1938250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4FB9D4E-3F43-D3BC-24A8-B5EA2B4379ED}"/>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6" name="頁尾版面配置區 5">
            <a:extLst>
              <a:ext uri="{FF2B5EF4-FFF2-40B4-BE49-F238E27FC236}">
                <a16:creationId xmlns:a16="http://schemas.microsoft.com/office/drawing/2014/main" id="{B72AE023-8F09-3BE0-F98C-7478FB82901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AA4E2CE-60C0-A2D3-7563-D84C7AD366F7}"/>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91916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0DE12D-8D14-DE93-59D0-3BFA90F41DF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0B086A79-EF8D-9ED3-294A-0EDB04DF910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0D790C4-7B71-165D-CED5-B5A3CC60F375}"/>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5" name="頁尾版面配置區 4">
            <a:extLst>
              <a:ext uri="{FF2B5EF4-FFF2-40B4-BE49-F238E27FC236}">
                <a16:creationId xmlns:a16="http://schemas.microsoft.com/office/drawing/2014/main" id="{01022FF6-BD27-B989-BD6E-04A8E6F7E5E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16AB840-CA5F-FE7D-F5B2-A2A94306FCD6}"/>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530010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EB9134E-AF1E-B42A-2102-7665CE0D6380}"/>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90DAC8B-1A34-5904-7632-9E9B2121BA8A}"/>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1E19192-D5C1-DC8D-BAE0-86BDD62952DF}"/>
              </a:ext>
            </a:extLst>
          </p:cNvPr>
          <p:cNvSpPr>
            <a:spLocks noGrp="1"/>
          </p:cNvSpPr>
          <p:nvPr>
            <p:ph type="dt" sz="half" idx="10"/>
          </p:nvPr>
        </p:nvSpPr>
        <p:spPr/>
        <p:txBody>
          <a:bodyPr/>
          <a:lstStyle/>
          <a:p>
            <a:fld id="{CC033F32-0F6C-4691-9822-F43EC9D63E1A}" type="datetimeFigureOut">
              <a:rPr lang="zh-TW" altLang="en-US" smtClean="0"/>
              <a:t>2022/9/5</a:t>
            </a:fld>
            <a:endParaRPr lang="zh-TW" altLang="en-US"/>
          </a:p>
        </p:txBody>
      </p:sp>
      <p:sp>
        <p:nvSpPr>
          <p:cNvPr id="5" name="頁尾版面配置區 4">
            <a:extLst>
              <a:ext uri="{FF2B5EF4-FFF2-40B4-BE49-F238E27FC236}">
                <a16:creationId xmlns:a16="http://schemas.microsoft.com/office/drawing/2014/main" id="{F9947EDF-FE6F-BF6C-D0EB-476DA14D7A2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75C11C2-33BA-4948-8EB8-C09F19D6E30F}"/>
              </a:ext>
            </a:extLst>
          </p:cNvPr>
          <p:cNvSpPr>
            <a:spLocks noGrp="1"/>
          </p:cNvSpPr>
          <p:nvPr>
            <p:ph type="sldNum" sz="quarter" idx="12"/>
          </p:nvPr>
        </p:nvSpPr>
        <p:spPr/>
        <p:txBody>
          <a:body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2886665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01C5B211-6D25-144F-AF56-36672E6CFB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2C0595F-6EF9-4A8A-CE24-F423A32581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073B7A-3877-B4D7-EC9E-AD672F206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33F32-0F6C-4691-9822-F43EC9D63E1A}" type="datetimeFigureOut">
              <a:rPr lang="zh-TW" altLang="en-US" smtClean="0"/>
              <a:t>2022/9/5</a:t>
            </a:fld>
            <a:endParaRPr lang="zh-TW" altLang="en-US"/>
          </a:p>
        </p:txBody>
      </p:sp>
      <p:sp>
        <p:nvSpPr>
          <p:cNvPr id="5" name="頁尾版面配置區 4">
            <a:extLst>
              <a:ext uri="{FF2B5EF4-FFF2-40B4-BE49-F238E27FC236}">
                <a16:creationId xmlns:a16="http://schemas.microsoft.com/office/drawing/2014/main" id="{1A50C37F-EF86-75C0-3D9C-8A5C9D823D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03F84A5E-DB06-195D-E20D-1A9F0FEE1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DDDBD-C5B1-411B-AB10-6930BC639719}" type="slidenum">
              <a:rPr lang="zh-TW" altLang="en-US" smtClean="0"/>
              <a:t>‹#›</a:t>
            </a:fld>
            <a:endParaRPr lang="zh-TW" altLang="en-US"/>
          </a:p>
        </p:txBody>
      </p:sp>
    </p:spTree>
    <p:extLst>
      <p:ext uri="{BB962C8B-B14F-4D97-AF65-F5344CB8AC3E}">
        <p14:creationId xmlns:p14="http://schemas.microsoft.com/office/powerpoint/2010/main" val="3528470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7390EC-3505-4614-AC8B-E5220F3B9165}"/>
              </a:ext>
            </a:extLst>
          </p:cNvPr>
          <p:cNvSpPr>
            <a:spLocks noGrp="1"/>
          </p:cNvSpPr>
          <p:nvPr>
            <p:ph type="ctrTitle"/>
          </p:nvPr>
        </p:nvSpPr>
        <p:spPr/>
        <p:txBody>
          <a:bodyPr>
            <a:noAutofit/>
          </a:bodyPr>
          <a:lstStyle/>
          <a:p>
            <a:r>
              <a:rPr lang="en-US" altLang="zh-TW" sz="4400" dirty="0">
                <a:latin typeface="Times New Roman" panose="02020603050405020304" pitchFamily="18" charset="0"/>
                <a:cs typeface="Times New Roman" panose="02020603050405020304" pitchFamily="18" charset="0"/>
              </a:rPr>
              <a:t>A Hybrid Heuristic-Genetic Algorithm with Adaptive Parameters for Static Task Scheduling in Heterogeneous Computing System</a:t>
            </a:r>
            <a:endParaRPr lang="zh-TW" altLang="en-US" sz="4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C88D9F7-F986-E365-FDC2-C6659A6332D8}"/>
              </a:ext>
            </a:extLst>
          </p:cNvPr>
          <p:cNvSpPr>
            <a:spLocks noGrp="1"/>
          </p:cNvSpPr>
          <p:nvPr>
            <p:ph type="subTitle" idx="1"/>
          </p:nvPr>
        </p:nvSpPr>
        <p:spPr/>
        <p:txBody>
          <a:bodyPr/>
          <a:lstStyle/>
          <a:p>
            <a:r>
              <a:rPr lang="en-US" altLang="zh-TW" dirty="0">
                <a:latin typeface="Times New Roman" panose="02020603050405020304" pitchFamily="18" charset="0"/>
                <a:cs typeface="Times New Roman" panose="02020603050405020304" pitchFamily="18" charset="0"/>
              </a:rPr>
              <a:t>Shan Ding, </a:t>
            </a:r>
            <a:r>
              <a:rPr lang="en-US" altLang="zh-TW" dirty="0" err="1">
                <a:latin typeface="Times New Roman" panose="02020603050405020304" pitchFamily="18" charset="0"/>
                <a:cs typeface="Times New Roman" panose="02020603050405020304" pitchFamily="18" charset="0"/>
              </a:rPr>
              <a:t>Jinhui</a:t>
            </a:r>
            <a:r>
              <a:rPr lang="en-US" altLang="zh-TW" dirty="0">
                <a:latin typeface="Times New Roman" panose="02020603050405020304" pitchFamily="18" charset="0"/>
                <a:cs typeface="Times New Roman" panose="02020603050405020304" pitchFamily="18" charset="0"/>
              </a:rPr>
              <a:t> Wu, </a:t>
            </a:r>
            <a:r>
              <a:rPr lang="en-US" altLang="zh-TW" dirty="0" err="1">
                <a:latin typeface="Times New Roman" panose="02020603050405020304" pitchFamily="18" charset="0"/>
                <a:cs typeface="Times New Roman" panose="02020603050405020304" pitchFamily="18" charset="0"/>
              </a:rPr>
              <a:t>Guoqi</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Xie</a:t>
            </a:r>
            <a:r>
              <a:rPr lang="en-US" altLang="zh-TW" dirty="0">
                <a:latin typeface="Times New Roman" panose="02020603050405020304" pitchFamily="18" charset="0"/>
                <a:cs typeface="Times New Roman" panose="02020603050405020304" pitchFamily="18" charset="0"/>
              </a:rPr>
              <a:t> and Gang Zeng</a:t>
            </a:r>
          </a:p>
          <a:p>
            <a:r>
              <a:rPr lang="en-US" altLang="zh-TW" sz="2400" dirty="0">
                <a:latin typeface="Times New Roman" panose="02020603050405020304" pitchFamily="18" charset="0"/>
                <a:cs typeface="Times New Roman" panose="02020603050405020304" pitchFamily="18" charset="0"/>
              </a:rPr>
              <a:t>2017 IEEE </a:t>
            </a:r>
            <a:r>
              <a:rPr lang="en-US" altLang="zh-TW" sz="2400" dirty="0" err="1">
                <a:latin typeface="Times New Roman" panose="02020603050405020304" pitchFamily="18" charset="0"/>
                <a:cs typeface="Times New Roman" panose="02020603050405020304" pitchFamily="18" charset="0"/>
              </a:rPr>
              <a:t>Trustcom</a:t>
            </a:r>
            <a:r>
              <a:rPr lang="en-US" altLang="zh-TW" sz="2400" dirty="0">
                <a:latin typeface="Times New Roman" panose="02020603050405020304" pitchFamily="18" charset="0"/>
                <a:cs typeface="Times New Roman" panose="02020603050405020304" pitchFamily="18" charset="0"/>
              </a:rPr>
              <a:t>/</a:t>
            </a:r>
            <a:r>
              <a:rPr lang="en-US" altLang="zh-TW" sz="2400" dirty="0" err="1">
                <a:latin typeface="Times New Roman" panose="02020603050405020304" pitchFamily="18" charset="0"/>
                <a:cs typeface="Times New Roman" panose="02020603050405020304" pitchFamily="18" charset="0"/>
              </a:rPr>
              <a:t>BigDataSE</a:t>
            </a:r>
            <a:r>
              <a:rPr lang="en-US" altLang="zh-TW" sz="2400" dirty="0">
                <a:latin typeface="Times New Roman" panose="02020603050405020304" pitchFamily="18" charset="0"/>
                <a:cs typeface="Times New Roman" panose="02020603050405020304" pitchFamily="18" charset="0"/>
              </a:rPr>
              <a:t>/ICESS</a:t>
            </a:r>
            <a:endParaRPr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0B04478-59CB-DCC3-9EC8-DF5AE437110D}"/>
              </a:ext>
            </a:extLst>
          </p:cNvPr>
          <p:cNvSpPr txBox="1"/>
          <p:nvPr/>
        </p:nvSpPr>
        <p:spPr>
          <a:xfrm>
            <a:off x="8489576" y="5531224"/>
            <a:ext cx="3397624" cy="646331"/>
          </a:xfrm>
          <a:prstGeom prst="rect">
            <a:avLst/>
          </a:prstGeom>
          <a:noFill/>
        </p:spPr>
        <p:txBody>
          <a:bodyPr wrap="square" rtlCol="0">
            <a:spAutoFit/>
          </a:bodyPr>
          <a:lstStyle/>
          <a:p>
            <a:pPr rtl="0">
              <a:spcBef>
                <a:spcPts val="0"/>
              </a:spcBef>
              <a:spcAft>
                <a:spcPts val="0"/>
              </a:spcAft>
            </a:pP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Presenter: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Chih-Hsuan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altLang="zh-TW" sz="1800" b="0" i="0" u="none" strike="noStrike" dirty="0" err="1">
                <a:solidFill>
                  <a:srgbClr val="000000"/>
                </a:solidFill>
                <a:effectLst/>
                <a:latin typeface="Times New Roman" panose="02020603050405020304" pitchFamily="18" charset="0"/>
                <a:cs typeface="Times New Roman" panose="02020603050405020304" pitchFamily="18" charset="0"/>
              </a:rPr>
              <a:t>Chien</a:t>
            </a:r>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altLang="zh-TW" b="0" dirty="0">
              <a:effectLst/>
              <a:latin typeface="Times New Roman" panose="02020603050405020304" pitchFamily="18" charset="0"/>
              <a:cs typeface="Times New Roman" panose="02020603050405020304" pitchFamily="18" charset="0"/>
            </a:endParaRPr>
          </a:p>
          <a:p>
            <a:r>
              <a:rPr lang="en-US" altLang="zh-TW" sz="1800" b="0" i="0" u="none" strike="noStrike" dirty="0">
                <a:solidFill>
                  <a:srgbClr val="000000"/>
                </a:solidFill>
                <a:effectLst/>
                <a:latin typeface="Times New Roman" panose="02020603050405020304" pitchFamily="18" charset="0"/>
                <a:cs typeface="Times New Roman" panose="02020603050405020304" pitchFamily="18" charset="0"/>
              </a:rPr>
              <a:t>Date: Sept. 6, 2022</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02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AA023B-D9C9-363E-0730-DE94BC6B2AD2}"/>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p>
        </p:txBody>
      </p:sp>
      <p:sp>
        <p:nvSpPr>
          <p:cNvPr id="3" name="內容版面配置區 2">
            <a:extLst>
              <a:ext uri="{FF2B5EF4-FFF2-40B4-BE49-F238E27FC236}">
                <a16:creationId xmlns:a16="http://schemas.microsoft.com/office/drawing/2014/main" id="{AD20B566-6CC0-DA0E-6E4E-CF625178FFC2}"/>
              </a:ext>
            </a:extLst>
          </p:cNvPr>
          <p:cNvSpPr>
            <a:spLocks noGrp="1"/>
          </p:cNvSpPr>
          <p:nvPr>
            <p:ph idx="1"/>
          </p:nvPr>
        </p:nvSpPr>
        <p:spPr/>
        <p:txBody>
          <a:bodyPr>
            <a:noAutofit/>
          </a:bodyPr>
          <a:lstStyle/>
          <a:p>
            <a:pPr marL="0" indent="0">
              <a:buNone/>
            </a:pPr>
            <a:r>
              <a:rPr lang="en-US" altLang="zh-TW" dirty="0"/>
              <a:t>Task scheduling is critical for obtaining a high performance schedule in heterogeneous computing systems (HCS) and searching an optimal scheduling solution has been shown to be NP-complete. In this paper, a hybrid </a:t>
            </a:r>
            <a:r>
              <a:rPr lang="en-US" altLang="zh-TW" dirty="0" err="1"/>
              <a:t>heuristicgenetic</a:t>
            </a:r>
            <a:r>
              <a:rPr lang="en-US" altLang="zh-TW" dirty="0"/>
              <a:t> algorithm with adaptive parameter (HGAAP) is proposed by combining a heuristic scheduling algorithm and a genetic algorithm. An existing common heuristic scheduling algorithm is utilized for generating the initial generation to speed up the convergence rate of HGAAP. The parameters of crossover probability and mutation probability are adaptive according to the current evolution status to promote the evolution and find better solution.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739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36979C-CA4D-7A66-7CD0-EADF8C546F76}"/>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p>
        </p:txBody>
      </p:sp>
      <p:sp>
        <p:nvSpPr>
          <p:cNvPr id="3" name="內容版面配置區 2">
            <a:extLst>
              <a:ext uri="{FF2B5EF4-FFF2-40B4-BE49-F238E27FC236}">
                <a16:creationId xmlns:a16="http://schemas.microsoft.com/office/drawing/2014/main" id="{15458660-DDC9-CFEA-36B1-2389DF33C0E3}"/>
              </a:ext>
            </a:extLst>
          </p:cNvPr>
          <p:cNvSpPr>
            <a:spLocks noGrp="1"/>
          </p:cNvSpPr>
          <p:nvPr>
            <p:ph idx="1"/>
          </p:nvPr>
        </p:nvSpPr>
        <p:spPr/>
        <p:txBody>
          <a:bodyPr/>
          <a:lstStyle/>
          <a:p>
            <a:pPr marL="0" indent="0">
              <a:buNone/>
            </a:pPr>
            <a:r>
              <a:rPr lang="en-US" altLang="zh-TW" dirty="0"/>
              <a:t>Moreover, the redundant individuals in each generation are removed to keep the diversity of population during the iteration. The experimental results on randomly generated task sets validated that our algorithm can obtain better scheduling results than existing algorithms.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997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C27621-421A-9549-2360-1CC7AE07FEB5}"/>
              </a:ext>
            </a:extLst>
          </p:cNvPr>
          <p:cNvSpPr>
            <a:spLocks noGrp="1"/>
          </p:cNvSpPr>
          <p:nvPr>
            <p:ph type="title"/>
          </p:nvPr>
        </p:nvSpPr>
        <p:spPr/>
        <p:txBody>
          <a:bodyPr/>
          <a:lstStyle/>
          <a:p>
            <a:r>
              <a:rPr lang="en-US" altLang="zh-TW" dirty="0"/>
              <a:t>Heterogeneous Computing</a:t>
            </a:r>
            <a:endParaRPr lang="zh-TW" altLang="en-US" dirty="0"/>
          </a:p>
        </p:txBody>
      </p:sp>
      <p:pic>
        <p:nvPicPr>
          <p:cNvPr id="5" name="內容版面配置區 4">
            <a:extLst>
              <a:ext uri="{FF2B5EF4-FFF2-40B4-BE49-F238E27FC236}">
                <a16:creationId xmlns:a16="http://schemas.microsoft.com/office/drawing/2014/main" id="{0FF4DEC6-6B55-7122-6835-9E407E44A886}"/>
              </a:ext>
            </a:extLst>
          </p:cNvPr>
          <p:cNvPicPr>
            <a:picLocks noGrp="1" noChangeAspect="1"/>
          </p:cNvPicPr>
          <p:nvPr>
            <p:ph idx="1"/>
          </p:nvPr>
        </p:nvPicPr>
        <p:blipFill>
          <a:blip r:embed="rId2"/>
          <a:stretch>
            <a:fillRect/>
          </a:stretch>
        </p:blipFill>
        <p:spPr>
          <a:xfrm>
            <a:off x="1502229" y="1690688"/>
            <a:ext cx="5660858" cy="4232539"/>
          </a:xfrm>
        </p:spPr>
      </p:pic>
    </p:spTree>
    <p:extLst>
      <p:ext uri="{BB962C8B-B14F-4D97-AF65-F5344CB8AC3E}">
        <p14:creationId xmlns:p14="http://schemas.microsoft.com/office/powerpoint/2010/main" val="3633912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5F6A46-BF53-A597-7BDF-8940C1891A12}"/>
              </a:ext>
            </a:extLst>
          </p:cNvPr>
          <p:cNvSpPr>
            <a:spLocks noGrp="1"/>
          </p:cNvSpPr>
          <p:nvPr>
            <p:ph type="title"/>
          </p:nvPr>
        </p:nvSpPr>
        <p:spPr/>
        <p:txBody>
          <a:bodyPr/>
          <a:lstStyle/>
          <a:p>
            <a:r>
              <a:rPr lang="en-US" altLang="zh-TW" dirty="0"/>
              <a:t>Encode</a:t>
            </a:r>
            <a:endParaRPr lang="zh-TW" altLang="en-US" dirty="0"/>
          </a:p>
        </p:txBody>
      </p:sp>
      <p:pic>
        <p:nvPicPr>
          <p:cNvPr id="5" name="內容版面配置區 4">
            <a:extLst>
              <a:ext uri="{FF2B5EF4-FFF2-40B4-BE49-F238E27FC236}">
                <a16:creationId xmlns:a16="http://schemas.microsoft.com/office/drawing/2014/main" id="{AF24D1D5-06AE-D3F0-0EC9-B2AC41512EF7}"/>
              </a:ext>
            </a:extLst>
          </p:cNvPr>
          <p:cNvPicPr>
            <a:picLocks noGrp="1" noChangeAspect="1"/>
          </p:cNvPicPr>
          <p:nvPr>
            <p:ph idx="1"/>
          </p:nvPr>
        </p:nvPicPr>
        <p:blipFill>
          <a:blip r:embed="rId2"/>
          <a:stretch>
            <a:fillRect/>
          </a:stretch>
        </p:blipFill>
        <p:spPr>
          <a:xfrm>
            <a:off x="1785258" y="1308648"/>
            <a:ext cx="6476612" cy="5184227"/>
          </a:xfrm>
        </p:spPr>
      </p:pic>
    </p:spTree>
    <p:extLst>
      <p:ext uri="{BB962C8B-B14F-4D97-AF65-F5344CB8AC3E}">
        <p14:creationId xmlns:p14="http://schemas.microsoft.com/office/powerpoint/2010/main" val="1279740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B939C8-6FAC-3403-6088-2E43AD710BBE}"/>
              </a:ext>
            </a:extLst>
          </p:cNvPr>
          <p:cNvSpPr>
            <a:spLocks noGrp="1"/>
          </p:cNvSpPr>
          <p:nvPr>
            <p:ph type="title"/>
          </p:nvPr>
        </p:nvSpPr>
        <p:spPr/>
        <p:txBody>
          <a:bodyPr/>
          <a:lstStyle/>
          <a:p>
            <a:r>
              <a:rPr lang="en-US" altLang="zh-TW" dirty="0" err="1"/>
              <a:t>Initialiazation</a:t>
            </a:r>
            <a:endParaRPr lang="zh-TW" altLang="en-US" dirty="0"/>
          </a:p>
        </p:txBody>
      </p:sp>
      <p:sp>
        <p:nvSpPr>
          <p:cNvPr id="3" name="內容版面配置區 2">
            <a:extLst>
              <a:ext uri="{FF2B5EF4-FFF2-40B4-BE49-F238E27FC236}">
                <a16:creationId xmlns:a16="http://schemas.microsoft.com/office/drawing/2014/main" id="{E401AC76-0262-9963-B274-A7FEB40406E7}"/>
              </a:ext>
            </a:extLst>
          </p:cNvPr>
          <p:cNvSpPr>
            <a:spLocks noGrp="1"/>
          </p:cNvSpPr>
          <p:nvPr>
            <p:ph idx="1"/>
          </p:nvPr>
        </p:nvSpPr>
        <p:spPr/>
        <p:txBody>
          <a:bodyPr/>
          <a:lstStyle/>
          <a:p>
            <a:r>
              <a:rPr lang="en-US" altLang="zh-TW" dirty="0"/>
              <a:t>Random-generated and HEFT</a:t>
            </a:r>
            <a:endParaRPr lang="zh-TW" altLang="en-US" dirty="0"/>
          </a:p>
        </p:txBody>
      </p:sp>
    </p:spTree>
    <p:extLst>
      <p:ext uri="{BB962C8B-B14F-4D97-AF65-F5344CB8AC3E}">
        <p14:creationId xmlns:p14="http://schemas.microsoft.com/office/powerpoint/2010/main" val="94658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01705A-50DD-6A2A-F021-714C7ABD8BAC}"/>
              </a:ext>
            </a:extLst>
          </p:cNvPr>
          <p:cNvSpPr>
            <a:spLocks noGrp="1"/>
          </p:cNvSpPr>
          <p:nvPr>
            <p:ph type="title"/>
          </p:nvPr>
        </p:nvSpPr>
        <p:spPr/>
        <p:txBody>
          <a:bodyPr/>
          <a:lstStyle/>
          <a:p>
            <a:r>
              <a:rPr lang="en-US" altLang="zh-TW" dirty="0"/>
              <a:t>fitness</a:t>
            </a:r>
            <a:endParaRPr lang="zh-TW" altLang="en-US" dirty="0"/>
          </a:p>
        </p:txBody>
      </p:sp>
      <p:sp>
        <p:nvSpPr>
          <p:cNvPr id="3" name="內容版面配置區 2">
            <a:extLst>
              <a:ext uri="{FF2B5EF4-FFF2-40B4-BE49-F238E27FC236}">
                <a16:creationId xmlns:a16="http://schemas.microsoft.com/office/drawing/2014/main" id="{595A9F8D-AEEC-62E6-2E95-D804C462C155}"/>
              </a:ext>
            </a:extLst>
          </p:cNvPr>
          <p:cNvSpPr>
            <a:spLocks noGrp="1"/>
          </p:cNvSpPr>
          <p:nvPr>
            <p:ph idx="1"/>
          </p:nvPr>
        </p:nvSpPr>
        <p:spPr/>
        <p:txBody>
          <a:bodyPr/>
          <a:lstStyle/>
          <a:p>
            <a:r>
              <a:rPr lang="en-US" altLang="zh-TW" dirty="0"/>
              <a:t>1/</a:t>
            </a:r>
            <a:r>
              <a:rPr lang="en-US" altLang="zh-TW" dirty="0" err="1"/>
              <a:t>makespan</a:t>
            </a:r>
            <a:endParaRPr lang="zh-TW" altLang="en-US" dirty="0"/>
          </a:p>
        </p:txBody>
      </p:sp>
    </p:spTree>
    <p:extLst>
      <p:ext uri="{BB962C8B-B14F-4D97-AF65-F5344CB8AC3E}">
        <p14:creationId xmlns:p14="http://schemas.microsoft.com/office/powerpoint/2010/main" val="1525718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10D71C-F7F9-84F0-10D3-02532C04AB92}"/>
              </a:ext>
            </a:extLst>
          </p:cNvPr>
          <p:cNvSpPr>
            <a:spLocks noGrp="1"/>
          </p:cNvSpPr>
          <p:nvPr>
            <p:ph type="title"/>
          </p:nvPr>
        </p:nvSpPr>
        <p:spPr/>
        <p:txBody>
          <a:bodyPr/>
          <a:lstStyle/>
          <a:p>
            <a:r>
              <a:rPr lang="en-US" altLang="zh-TW" dirty="0"/>
              <a:t>Selection</a:t>
            </a:r>
            <a:endParaRPr lang="zh-TW" altLang="en-US" dirty="0"/>
          </a:p>
        </p:txBody>
      </p:sp>
      <p:sp>
        <p:nvSpPr>
          <p:cNvPr id="3" name="內容版面配置區 2">
            <a:extLst>
              <a:ext uri="{FF2B5EF4-FFF2-40B4-BE49-F238E27FC236}">
                <a16:creationId xmlns:a16="http://schemas.microsoft.com/office/drawing/2014/main" id="{0C4FBCCF-ED29-FF33-05AF-AAAFF18AC5B7}"/>
              </a:ext>
            </a:extLst>
          </p:cNvPr>
          <p:cNvSpPr>
            <a:spLocks noGrp="1"/>
          </p:cNvSpPr>
          <p:nvPr>
            <p:ph idx="1"/>
          </p:nvPr>
        </p:nvSpPr>
        <p:spPr/>
        <p:txBody>
          <a:bodyPr/>
          <a:lstStyle/>
          <a:p>
            <a:r>
              <a:rPr lang="en-US" altLang="zh-TW" dirty="0"/>
              <a:t>10% chromosomes with the highest fitness values are selected as the elitism set.</a:t>
            </a:r>
          </a:p>
          <a:p>
            <a:endParaRPr lang="zh-TW" altLang="en-US" dirty="0"/>
          </a:p>
        </p:txBody>
      </p:sp>
    </p:spTree>
    <p:extLst>
      <p:ext uri="{BB962C8B-B14F-4D97-AF65-F5344CB8AC3E}">
        <p14:creationId xmlns:p14="http://schemas.microsoft.com/office/powerpoint/2010/main" val="2751356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47FB98-6E33-924E-9868-761E7B29880A}"/>
              </a:ext>
            </a:extLst>
          </p:cNvPr>
          <p:cNvSpPr>
            <a:spLocks noGrp="1"/>
          </p:cNvSpPr>
          <p:nvPr>
            <p:ph type="title"/>
          </p:nvPr>
        </p:nvSpPr>
        <p:spPr/>
        <p:txBody>
          <a:bodyPr/>
          <a:lstStyle/>
          <a:p>
            <a:r>
              <a:rPr lang="en-US" altLang="zh-TW" dirty="0"/>
              <a:t>Crossover</a:t>
            </a:r>
            <a:endParaRPr lang="zh-TW" altLang="en-US" dirty="0"/>
          </a:p>
        </p:txBody>
      </p:sp>
      <p:pic>
        <p:nvPicPr>
          <p:cNvPr id="5" name="內容版面配置區 4">
            <a:extLst>
              <a:ext uri="{FF2B5EF4-FFF2-40B4-BE49-F238E27FC236}">
                <a16:creationId xmlns:a16="http://schemas.microsoft.com/office/drawing/2014/main" id="{447EE7C2-1329-E407-4A8C-B9A0CEBF02B4}"/>
              </a:ext>
            </a:extLst>
          </p:cNvPr>
          <p:cNvPicPr>
            <a:picLocks noGrp="1" noChangeAspect="1"/>
          </p:cNvPicPr>
          <p:nvPr>
            <p:ph idx="1"/>
          </p:nvPr>
        </p:nvPicPr>
        <p:blipFill>
          <a:blip r:embed="rId2"/>
          <a:stretch>
            <a:fillRect/>
          </a:stretch>
        </p:blipFill>
        <p:spPr>
          <a:xfrm>
            <a:off x="1312784" y="1840957"/>
            <a:ext cx="5697616" cy="3794263"/>
          </a:xfrm>
        </p:spPr>
      </p:pic>
      <mc:AlternateContent xmlns:mc="http://schemas.openxmlformats.org/markup-compatibility/2006" xmlns:p14="http://schemas.microsoft.com/office/powerpoint/2010/main">
        <mc:Choice Requires="p14">
          <p:contentPart p14:bwMode="auto" r:id="rId3">
            <p14:nvContentPartPr>
              <p14:cNvPr id="6" name="筆跡 5">
                <a:extLst>
                  <a:ext uri="{FF2B5EF4-FFF2-40B4-BE49-F238E27FC236}">
                    <a16:creationId xmlns:a16="http://schemas.microsoft.com/office/drawing/2014/main" id="{4FABCC76-E8C2-9F20-3E33-308EBE3CBE3B}"/>
                  </a:ext>
                </a:extLst>
              </p14:cNvPr>
              <p14:cNvContentPartPr/>
              <p14:nvPr/>
            </p14:nvContentPartPr>
            <p14:xfrm>
              <a:off x="6114960" y="4978440"/>
              <a:ext cx="476640" cy="216360"/>
            </p14:xfrm>
          </p:contentPart>
        </mc:Choice>
        <mc:Fallback xmlns="">
          <p:pic>
            <p:nvPicPr>
              <p:cNvPr id="6" name="筆跡 5">
                <a:extLst>
                  <a:ext uri="{FF2B5EF4-FFF2-40B4-BE49-F238E27FC236}">
                    <a16:creationId xmlns:a16="http://schemas.microsoft.com/office/drawing/2014/main" id="{4FABCC76-E8C2-9F20-3E33-308EBE3CBE3B}"/>
                  </a:ext>
                </a:extLst>
              </p:cNvPr>
              <p:cNvPicPr/>
              <p:nvPr/>
            </p:nvPicPr>
            <p:blipFill>
              <a:blip r:embed="rId4"/>
              <a:stretch>
                <a:fillRect/>
              </a:stretch>
            </p:blipFill>
            <p:spPr>
              <a:xfrm>
                <a:off x="6105600" y="4969080"/>
                <a:ext cx="495360" cy="235080"/>
              </a:xfrm>
              <a:prstGeom prst="rect">
                <a:avLst/>
              </a:prstGeom>
            </p:spPr>
          </p:pic>
        </mc:Fallback>
      </mc:AlternateContent>
    </p:spTree>
    <p:extLst>
      <p:ext uri="{BB962C8B-B14F-4D97-AF65-F5344CB8AC3E}">
        <p14:creationId xmlns:p14="http://schemas.microsoft.com/office/powerpoint/2010/main" val="215426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9DEC78-39D8-171E-88D3-2EA2C755485D}"/>
              </a:ext>
            </a:extLst>
          </p:cNvPr>
          <p:cNvSpPr>
            <a:spLocks noGrp="1"/>
          </p:cNvSpPr>
          <p:nvPr>
            <p:ph type="title"/>
          </p:nvPr>
        </p:nvSpPr>
        <p:spPr/>
        <p:txBody>
          <a:bodyPr/>
          <a:lstStyle/>
          <a:p>
            <a:r>
              <a:rPr lang="en-US" altLang="zh-TW" dirty="0"/>
              <a:t>Mutation</a:t>
            </a:r>
            <a:endParaRPr lang="zh-TW" altLang="en-US" dirty="0"/>
          </a:p>
        </p:txBody>
      </p:sp>
      <p:sp>
        <p:nvSpPr>
          <p:cNvPr id="3" name="內容版面配置區 2">
            <a:extLst>
              <a:ext uri="{FF2B5EF4-FFF2-40B4-BE49-F238E27FC236}">
                <a16:creationId xmlns:a16="http://schemas.microsoft.com/office/drawing/2014/main" id="{81715CE0-B8D7-7DCB-195D-7856B79581AF}"/>
              </a:ext>
            </a:extLst>
          </p:cNvPr>
          <p:cNvSpPr>
            <a:spLocks noGrp="1"/>
          </p:cNvSpPr>
          <p:nvPr>
            <p:ph idx="1"/>
          </p:nvPr>
        </p:nvSpPr>
        <p:spPr/>
        <p:txBody>
          <a:bodyPr/>
          <a:lstStyle/>
          <a:p>
            <a:r>
              <a:rPr lang="en-US" altLang="zh-TW" dirty="0"/>
              <a:t>Exchange the position of two task</a:t>
            </a:r>
            <a:endParaRPr lang="zh-TW" altLang="en-US" dirty="0"/>
          </a:p>
        </p:txBody>
      </p:sp>
    </p:spTree>
    <p:extLst>
      <p:ext uri="{BB962C8B-B14F-4D97-AF65-F5344CB8AC3E}">
        <p14:creationId xmlns:p14="http://schemas.microsoft.com/office/powerpoint/2010/main" val="2865745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74944E-1DF0-B790-3994-79FCDCAD7D02}"/>
              </a:ext>
            </a:extLst>
          </p:cNvPr>
          <p:cNvSpPr>
            <a:spLocks noGrp="1"/>
          </p:cNvSpPr>
          <p:nvPr>
            <p:ph type="title"/>
          </p:nvPr>
        </p:nvSpPr>
        <p:spPr/>
        <p:txBody>
          <a:bodyPr/>
          <a:lstStyle/>
          <a:p>
            <a:r>
              <a:rPr lang="en-US" altLang="zh-TW" dirty="0"/>
              <a:t>Deleting the Redundant Chromosomes</a:t>
            </a:r>
            <a:endParaRPr lang="zh-TW" altLang="en-US" dirty="0"/>
          </a:p>
        </p:txBody>
      </p:sp>
      <p:sp>
        <p:nvSpPr>
          <p:cNvPr id="3" name="內容版面配置區 2">
            <a:extLst>
              <a:ext uri="{FF2B5EF4-FFF2-40B4-BE49-F238E27FC236}">
                <a16:creationId xmlns:a16="http://schemas.microsoft.com/office/drawing/2014/main" id="{8F03FC41-10C6-08A0-7B2D-ED945534CF86}"/>
              </a:ext>
            </a:extLst>
          </p:cNvPr>
          <p:cNvSpPr>
            <a:spLocks noGrp="1"/>
          </p:cNvSpPr>
          <p:nvPr>
            <p:ph idx="1"/>
          </p:nvPr>
        </p:nvSpPr>
        <p:spPr/>
        <p:txBody>
          <a:bodyPr/>
          <a:lstStyle/>
          <a:p>
            <a:r>
              <a:rPr lang="zh-TW" altLang="en-US" dirty="0"/>
              <a:t>重複的解，只保留一個，其他做</a:t>
            </a:r>
            <a:r>
              <a:rPr lang="en-US" altLang="zh-TW" dirty="0"/>
              <a:t>mutation</a:t>
            </a:r>
            <a:r>
              <a:rPr lang="zh-TW" altLang="en-US" dirty="0"/>
              <a:t>產生新的解</a:t>
            </a:r>
          </a:p>
        </p:txBody>
      </p:sp>
    </p:spTree>
    <p:extLst>
      <p:ext uri="{BB962C8B-B14F-4D97-AF65-F5344CB8AC3E}">
        <p14:creationId xmlns:p14="http://schemas.microsoft.com/office/powerpoint/2010/main" val="283760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32C0DE-FEB8-3EB2-7E46-D384026EF3C5}"/>
              </a:ext>
            </a:extLst>
          </p:cNvPr>
          <p:cNvSpPr>
            <a:spLocks noGrp="1"/>
          </p:cNvSpPr>
          <p:nvPr>
            <p:ph type="title"/>
          </p:nvPr>
        </p:nvSpPr>
        <p:spPr/>
        <p:txBody>
          <a:bodyPr/>
          <a:lstStyle/>
          <a:p>
            <a:r>
              <a:rPr lang="en-US" altLang="zh-TW" dirty="0"/>
              <a:t>Parameters Adaptation</a:t>
            </a:r>
            <a:endParaRPr lang="zh-TW" altLang="en-US" dirty="0"/>
          </a:p>
        </p:txBody>
      </p:sp>
      <p:sp>
        <p:nvSpPr>
          <p:cNvPr id="3" name="內容版面配置區 2">
            <a:extLst>
              <a:ext uri="{FF2B5EF4-FFF2-40B4-BE49-F238E27FC236}">
                <a16:creationId xmlns:a16="http://schemas.microsoft.com/office/drawing/2014/main" id="{10A7307E-C9C9-554F-CBF2-BBA2F236A7E5}"/>
              </a:ext>
            </a:extLst>
          </p:cNvPr>
          <p:cNvSpPr>
            <a:spLocks noGrp="1"/>
          </p:cNvSpPr>
          <p:nvPr>
            <p:ph idx="1"/>
          </p:nvPr>
        </p:nvSpPr>
        <p:spPr/>
        <p:txBody>
          <a:bodyPr/>
          <a:lstStyle/>
          <a:p>
            <a:r>
              <a:rPr lang="en-US" altLang="zh-TW" dirty="0" err="1"/>
              <a:t>Initial:crossover</a:t>
            </a:r>
            <a:r>
              <a:rPr lang="en-US" altLang="zh-TW" dirty="0"/>
              <a:t> rate=5% mutation rate=10%</a:t>
            </a:r>
          </a:p>
          <a:p>
            <a:r>
              <a:rPr lang="en-US" altLang="zh-TW" dirty="0"/>
              <a:t>If cannot </a:t>
            </a:r>
            <a:r>
              <a:rPr lang="en-US" altLang="zh-TW" dirty="0" err="1"/>
              <a:t>envolve</a:t>
            </a:r>
            <a:r>
              <a:rPr lang="en-US" altLang="zh-TW" dirty="0"/>
              <a:t> in next n iteration =&gt; mutation  rate +10%.</a:t>
            </a:r>
          </a:p>
          <a:p>
            <a:r>
              <a:rPr lang="en-US" altLang="zh-TW" dirty="0"/>
              <a:t>If mutation rate =100%   =&gt; mutation  rate =10%, crossover rate +5%</a:t>
            </a:r>
          </a:p>
          <a:p>
            <a:r>
              <a:rPr lang="en-US" altLang="zh-TW" dirty="0" err="1"/>
              <a:t>Termination:crossover</a:t>
            </a:r>
            <a:r>
              <a:rPr lang="en-US" altLang="zh-TW" dirty="0"/>
              <a:t> rate and mutation rate are both 100%</a:t>
            </a:r>
          </a:p>
          <a:p>
            <a:endParaRPr lang="zh-TW" altLang="en-US" dirty="0"/>
          </a:p>
        </p:txBody>
      </p:sp>
    </p:spTree>
    <p:extLst>
      <p:ext uri="{BB962C8B-B14F-4D97-AF65-F5344CB8AC3E}">
        <p14:creationId xmlns:p14="http://schemas.microsoft.com/office/powerpoint/2010/main" val="2604097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5D1BE3-32E8-1F9E-80BA-86D647384993}"/>
              </a:ext>
            </a:extLst>
          </p:cNvPr>
          <p:cNvSpPr>
            <a:spLocks noGrp="1"/>
          </p:cNvSpPr>
          <p:nvPr>
            <p:ph type="title"/>
          </p:nvPr>
        </p:nvSpPr>
        <p:spPr/>
        <p:txBody>
          <a:bodyPr/>
          <a:lstStyle/>
          <a:p>
            <a:r>
              <a:rPr lang="en-US" altLang="zh-TW" dirty="0"/>
              <a:t>Experiment</a:t>
            </a:r>
            <a:endParaRPr lang="zh-TW" altLang="en-US" dirty="0"/>
          </a:p>
        </p:txBody>
      </p:sp>
      <p:sp>
        <p:nvSpPr>
          <p:cNvPr id="3" name="內容版面配置區 2">
            <a:extLst>
              <a:ext uri="{FF2B5EF4-FFF2-40B4-BE49-F238E27FC236}">
                <a16:creationId xmlns:a16="http://schemas.microsoft.com/office/drawing/2014/main" id="{A346C63A-B6FE-E2C8-47E2-A30CA822DA2A}"/>
              </a:ext>
            </a:extLst>
          </p:cNvPr>
          <p:cNvSpPr>
            <a:spLocks noGrp="1"/>
          </p:cNvSpPr>
          <p:nvPr>
            <p:ph idx="1"/>
          </p:nvPr>
        </p:nvSpPr>
        <p:spPr/>
        <p:txBody>
          <a:bodyPr/>
          <a:lstStyle/>
          <a:p>
            <a:r>
              <a:rPr lang="en-US" altLang="zh-TW" dirty="0"/>
              <a:t>100 DAGs are randomly selected from the generated DAG set and are used to tune HGAAP and find out the best parameters</a:t>
            </a:r>
          </a:p>
          <a:p>
            <a:r>
              <a:rPr lang="en-US" altLang="zh-TW" dirty="0"/>
              <a:t>Best n=7,population=17</a:t>
            </a:r>
            <a:endParaRPr lang="zh-TW" altLang="en-US" dirty="0"/>
          </a:p>
        </p:txBody>
      </p:sp>
    </p:spTree>
    <p:extLst>
      <p:ext uri="{BB962C8B-B14F-4D97-AF65-F5344CB8AC3E}">
        <p14:creationId xmlns:p14="http://schemas.microsoft.com/office/powerpoint/2010/main" val="3407113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F124C5-C475-0F32-30E8-1D2ABD662EBF}"/>
              </a:ext>
            </a:extLst>
          </p:cNvPr>
          <p:cNvSpPr>
            <a:spLocks noGrp="1"/>
          </p:cNvSpPr>
          <p:nvPr>
            <p:ph type="title"/>
          </p:nvPr>
        </p:nvSpPr>
        <p:spPr/>
        <p:txBody>
          <a:bodyPr/>
          <a:lstStyle/>
          <a:p>
            <a:r>
              <a:rPr lang="en-US" altLang="zh-TW" dirty="0"/>
              <a:t>Experiment</a:t>
            </a:r>
            <a:endParaRPr lang="zh-TW" altLang="en-US" dirty="0"/>
          </a:p>
        </p:txBody>
      </p:sp>
      <p:pic>
        <p:nvPicPr>
          <p:cNvPr id="5" name="內容版面配置區 4">
            <a:extLst>
              <a:ext uri="{FF2B5EF4-FFF2-40B4-BE49-F238E27FC236}">
                <a16:creationId xmlns:a16="http://schemas.microsoft.com/office/drawing/2014/main" id="{588754D7-99A7-0ECE-59C0-A09207B1B768}"/>
              </a:ext>
            </a:extLst>
          </p:cNvPr>
          <p:cNvPicPr>
            <a:picLocks noGrp="1" noChangeAspect="1"/>
          </p:cNvPicPr>
          <p:nvPr>
            <p:ph idx="1"/>
          </p:nvPr>
        </p:nvPicPr>
        <p:blipFill>
          <a:blip r:embed="rId3"/>
          <a:stretch>
            <a:fillRect/>
          </a:stretch>
        </p:blipFill>
        <p:spPr>
          <a:xfrm>
            <a:off x="254974" y="2299001"/>
            <a:ext cx="3663883" cy="889143"/>
          </a:xfrm>
        </p:spPr>
      </p:pic>
      <p:pic>
        <p:nvPicPr>
          <p:cNvPr id="7" name="圖片 6">
            <a:extLst>
              <a:ext uri="{FF2B5EF4-FFF2-40B4-BE49-F238E27FC236}">
                <a16:creationId xmlns:a16="http://schemas.microsoft.com/office/drawing/2014/main" id="{4C3865A6-F77D-A16F-42C6-BD1B96DFB63F}"/>
              </a:ext>
            </a:extLst>
          </p:cNvPr>
          <p:cNvPicPr>
            <a:picLocks noChangeAspect="1"/>
          </p:cNvPicPr>
          <p:nvPr/>
        </p:nvPicPr>
        <p:blipFill>
          <a:blip r:embed="rId4"/>
          <a:stretch>
            <a:fillRect/>
          </a:stretch>
        </p:blipFill>
        <p:spPr>
          <a:xfrm>
            <a:off x="838200" y="3796457"/>
            <a:ext cx="3580802" cy="734139"/>
          </a:xfrm>
          <a:prstGeom prst="rect">
            <a:avLst/>
          </a:prstGeom>
        </p:spPr>
      </p:pic>
    </p:spTree>
    <p:extLst>
      <p:ext uri="{BB962C8B-B14F-4D97-AF65-F5344CB8AC3E}">
        <p14:creationId xmlns:p14="http://schemas.microsoft.com/office/powerpoint/2010/main" val="2478206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F4EE60-4EA1-62D9-9142-EE16058D05EF}"/>
              </a:ext>
            </a:extLst>
          </p:cNvPr>
          <p:cNvSpPr>
            <a:spLocks noGrp="1"/>
          </p:cNvSpPr>
          <p:nvPr>
            <p:ph type="title"/>
          </p:nvPr>
        </p:nvSpPr>
        <p:spPr/>
        <p:txBody>
          <a:bodyPr/>
          <a:lstStyle/>
          <a:p>
            <a:r>
              <a:rPr lang="en-US" altLang="zh-TW" dirty="0"/>
              <a:t>Experiment</a:t>
            </a:r>
            <a:endParaRPr lang="zh-TW" altLang="en-US" dirty="0"/>
          </a:p>
        </p:txBody>
      </p:sp>
      <p:pic>
        <p:nvPicPr>
          <p:cNvPr id="5" name="內容版面配置區 4">
            <a:extLst>
              <a:ext uri="{FF2B5EF4-FFF2-40B4-BE49-F238E27FC236}">
                <a16:creationId xmlns:a16="http://schemas.microsoft.com/office/drawing/2014/main" id="{801D2315-B780-362C-A5C9-4BCC6D130C23}"/>
              </a:ext>
            </a:extLst>
          </p:cNvPr>
          <p:cNvPicPr>
            <a:picLocks noGrp="1" noChangeAspect="1"/>
          </p:cNvPicPr>
          <p:nvPr>
            <p:ph idx="1"/>
          </p:nvPr>
        </p:nvPicPr>
        <p:blipFill>
          <a:blip r:embed="rId2"/>
          <a:stretch>
            <a:fillRect/>
          </a:stretch>
        </p:blipFill>
        <p:spPr>
          <a:xfrm>
            <a:off x="432402" y="1878428"/>
            <a:ext cx="5979284" cy="4614447"/>
          </a:xfrm>
        </p:spPr>
      </p:pic>
      <p:pic>
        <p:nvPicPr>
          <p:cNvPr id="7" name="圖片 6">
            <a:extLst>
              <a:ext uri="{FF2B5EF4-FFF2-40B4-BE49-F238E27FC236}">
                <a16:creationId xmlns:a16="http://schemas.microsoft.com/office/drawing/2014/main" id="{00A3BA1A-584B-353D-CE93-7D350E570245}"/>
              </a:ext>
            </a:extLst>
          </p:cNvPr>
          <p:cNvPicPr>
            <a:picLocks noChangeAspect="1"/>
          </p:cNvPicPr>
          <p:nvPr/>
        </p:nvPicPr>
        <p:blipFill>
          <a:blip r:embed="rId3"/>
          <a:stretch>
            <a:fillRect/>
          </a:stretch>
        </p:blipFill>
        <p:spPr>
          <a:xfrm>
            <a:off x="6731026" y="2530742"/>
            <a:ext cx="4853010" cy="3282229"/>
          </a:xfrm>
          <a:prstGeom prst="rect">
            <a:avLst/>
          </a:prstGeom>
        </p:spPr>
      </p:pic>
    </p:spTree>
    <p:extLst>
      <p:ext uri="{BB962C8B-B14F-4D97-AF65-F5344CB8AC3E}">
        <p14:creationId xmlns:p14="http://schemas.microsoft.com/office/powerpoint/2010/main" val="270287888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6842</TotalTime>
  <Words>359</Words>
  <Application>Microsoft Office PowerPoint</Application>
  <PresentationFormat>寬螢幕</PresentationFormat>
  <Paragraphs>38</Paragraphs>
  <Slides>15</Slides>
  <Notes>2</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15</vt:i4>
      </vt:variant>
    </vt:vector>
  </HeadingPairs>
  <TitlesOfParts>
    <vt:vector size="20" baseType="lpstr">
      <vt:lpstr>Arial</vt:lpstr>
      <vt:lpstr>Calibri</vt:lpstr>
      <vt:lpstr>Calibri Light</vt:lpstr>
      <vt:lpstr>Times New Roman</vt:lpstr>
      <vt:lpstr>Office 佈景主題</vt:lpstr>
      <vt:lpstr>A Hybrid Heuristic-Genetic Algorithm with Adaptive Parameters for Static Task Scheduling in Heterogeneous Computing System</vt:lpstr>
      <vt:lpstr>Abstract (1/2)</vt:lpstr>
      <vt:lpstr>Abstract (2/2)</vt:lpstr>
      <vt:lpstr>Heterogeneous Computing</vt:lpstr>
      <vt:lpstr>Encode</vt:lpstr>
      <vt:lpstr>Initialiazation</vt:lpstr>
      <vt:lpstr>fitness</vt:lpstr>
      <vt:lpstr>Selection</vt:lpstr>
      <vt:lpstr>Crossover</vt:lpstr>
      <vt:lpstr>Mutation</vt:lpstr>
      <vt:lpstr>Deleting the Redundant Chromosomes</vt:lpstr>
      <vt:lpstr>Parameters Adaptation</vt:lpstr>
      <vt:lpstr>Experiment</vt:lpstr>
      <vt:lpstr>Experiment</vt:lpstr>
      <vt:lpstr>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Cost-Effective Deadline-Constrained Dynamic Scheduling Algorithm for Scientific Workflows in a Cloud Environment</dc:title>
  <dc:creator>志軒 簡</dc:creator>
  <cp:lastModifiedBy>M103040069</cp:lastModifiedBy>
  <cp:revision>21</cp:revision>
  <dcterms:created xsi:type="dcterms:W3CDTF">2022-06-30T13:07:17Z</dcterms:created>
  <dcterms:modified xsi:type="dcterms:W3CDTF">2022-09-06T10:23:06Z</dcterms:modified>
</cp:coreProperties>
</file>