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5" r:id="rId8"/>
    <p:sldId id="268" r:id="rId9"/>
    <p:sldId id="270" r:id="rId10"/>
    <p:sldId id="264" r:id="rId11"/>
    <p:sldId id="266" r:id="rId12"/>
    <p:sldId id="267" r:id="rId13"/>
    <p:sldId id="259" r:id="rId14"/>
    <p:sldId id="269"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1" autoAdjust="0"/>
    <p:restoredTop sz="94660"/>
  </p:normalViewPr>
  <p:slideViewPr>
    <p:cSldViewPr snapToGrid="0">
      <p:cViewPr varScale="1">
        <p:scale>
          <a:sx n="87" d="100"/>
          <a:sy n="87" d="100"/>
        </p:scale>
        <p:origin x="90"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ACCF3D-EB90-4C37-B9FB-B6E7D9BD224A}"/>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03AC6A97-A701-4D20-AC51-8EE9DF3E0E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4575A55-1004-44E1-B5AB-14D7C3851CEB}"/>
              </a:ext>
            </a:extLst>
          </p:cNvPr>
          <p:cNvSpPr>
            <a:spLocks noGrp="1"/>
          </p:cNvSpPr>
          <p:nvPr>
            <p:ph type="dt" sz="half" idx="10"/>
          </p:nvPr>
        </p:nvSpPr>
        <p:spPr/>
        <p:txBody>
          <a:bodyPr/>
          <a:lstStyle/>
          <a:p>
            <a:fld id="{43FCBD26-6EFA-4DE5-91A1-DAAA57BA2C2D}" type="datetimeFigureOut">
              <a:rPr lang="zh-TW" altLang="en-US" smtClean="0"/>
              <a:t>2022/5/25</a:t>
            </a:fld>
            <a:endParaRPr lang="zh-TW" altLang="en-US"/>
          </a:p>
        </p:txBody>
      </p:sp>
      <p:sp>
        <p:nvSpPr>
          <p:cNvPr id="5" name="頁尾版面配置區 4">
            <a:extLst>
              <a:ext uri="{FF2B5EF4-FFF2-40B4-BE49-F238E27FC236}">
                <a16:creationId xmlns:a16="http://schemas.microsoft.com/office/drawing/2014/main" id="{9D5BCA24-A71D-43CB-ACFE-56126C4E2FA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E13E47B-8FE6-4DF1-952E-D7B80C64AC55}"/>
              </a:ext>
            </a:extLst>
          </p:cNvPr>
          <p:cNvSpPr>
            <a:spLocks noGrp="1"/>
          </p:cNvSpPr>
          <p:nvPr>
            <p:ph type="sldNum" sz="quarter" idx="12"/>
          </p:nvPr>
        </p:nvSpPr>
        <p:spPr/>
        <p:txBody>
          <a:bodyPr/>
          <a:lstStyle/>
          <a:p>
            <a:fld id="{FCC7C092-628A-42F4-9378-41D1924336C8}" type="slidenum">
              <a:rPr lang="zh-TW" altLang="en-US" smtClean="0"/>
              <a:t>‹#›</a:t>
            </a:fld>
            <a:endParaRPr lang="zh-TW" altLang="en-US"/>
          </a:p>
        </p:txBody>
      </p:sp>
    </p:spTree>
    <p:extLst>
      <p:ext uri="{BB962C8B-B14F-4D97-AF65-F5344CB8AC3E}">
        <p14:creationId xmlns:p14="http://schemas.microsoft.com/office/powerpoint/2010/main" val="1228374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0B2C0B-F726-43C3-8C18-6669A2615115}"/>
              </a:ext>
            </a:extLst>
          </p:cNvPr>
          <p:cNvSpPr>
            <a:spLocks noGrp="1"/>
          </p:cNvSpPr>
          <p:nvPr>
            <p:ph type="title" hasCustomPrompt="1"/>
          </p:nvPr>
        </p:nvSpPr>
        <p:spPr/>
        <p:txBody>
          <a:bodyPr>
            <a:normAutofit/>
          </a:bodyPr>
          <a:lstStyle>
            <a:lvl1pPr>
              <a:defRPr sz="3600">
                <a:latin typeface="Times New Roman" panose="02020603050405020304" pitchFamily="18" charset="0"/>
                <a:cs typeface="Times New Roman" panose="02020603050405020304" pitchFamily="18" charset="0"/>
              </a:defRPr>
            </a:lvl1pPr>
          </a:lstStyle>
          <a:p>
            <a:r>
              <a:rPr lang="en-US" altLang="zh-TW" dirty="0" err="1"/>
              <a:t>aaa</a:t>
            </a:r>
            <a:endParaRPr lang="zh-TW" altLang="en-US" dirty="0"/>
          </a:p>
        </p:txBody>
      </p:sp>
      <p:sp>
        <p:nvSpPr>
          <p:cNvPr id="3" name="內容版面配置區 2">
            <a:extLst>
              <a:ext uri="{FF2B5EF4-FFF2-40B4-BE49-F238E27FC236}">
                <a16:creationId xmlns:a16="http://schemas.microsoft.com/office/drawing/2014/main" id="{64FA37B2-E325-482A-A016-4D5542CCF182}"/>
              </a:ext>
            </a:extLst>
          </p:cNvPr>
          <p:cNvSpPr>
            <a:spLocks noGrp="1"/>
          </p:cNvSpPr>
          <p:nvPr>
            <p:ph idx="1" hasCustomPrompt="1"/>
          </p:nvPr>
        </p:nvSpPr>
        <p:spPr/>
        <p:txBody>
          <a:bodyPr/>
          <a:lstStyle>
            <a:lvl1pPr>
              <a:defRPr>
                <a:latin typeface="Times New Roman" panose="02020603050405020304" pitchFamily="18" charset="0"/>
                <a:cs typeface="Times New Roman" panose="02020603050405020304" pitchFamily="18" charset="0"/>
              </a:defRPr>
            </a:lvl1pPr>
          </a:lstStyle>
          <a:p>
            <a:pPr lvl="0"/>
            <a:r>
              <a:rPr lang="en-US" altLang="zh-TW" dirty="0" err="1"/>
              <a:t>aaa</a:t>
            </a:r>
            <a:endParaRPr lang="en-US" altLang="zh-TW" dirty="0"/>
          </a:p>
          <a:p>
            <a:pPr lvl="0"/>
            <a:endParaRPr lang="zh-TW" altLang="en-US" dirty="0"/>
          </a:p>
        </p:txBody>
      </p:sp>
      <p:sp>
        <p:nvSpPr>
          <p:cNvPr id="4" name="日期版面配置區 3">
            <a:extLst>
              <a:ext uri="{FF2B5EF4-FFF2-40B4-BE49-F238E27FC236}">
                <a16:creationId xmlns:a16="http://schemas.microsoft.com/office/drawing/2014/main" id="{BA508FEE-B476-4E05-84B4-9B24DE5056DF}"/>
              </a:ext>
            </a:extLst>
          </p:cNvPr>
          <p:cNvSpPr>
            <a:spLocks noGrp="1"/>
          </p:cNvSpPr>
          <p:nvPr>
            <p:ph type="dt" sz="half" idx="10"/>
          </p:nvPr>
        </p:nvSpPr>
        <p:spPr/>
        <p:txBody>
          <a:bodyPr/>
          <a:lstStyle/>
          <a:p>
            <a:fld id="{43FCBD26-6EFA-4DE5-91A1-DAAA57BA2C2D}" type="datetimeFigureOut">
              <a:rPr lang="zh-TW" altLang="en-US" smtClean="0"/>
              <a:t>2022/5/25</a:t>
            </a:fld>
            <a:endParaRPr lang="zh-TW" altLang="en-US"/>
          </a:p>
        </p:txBody>
      </p:sp>
      <p:sp>
        <p:nvSpPr>
          <p:cNvPr id="5" name="頁尾版面配置區 4">
            <a:extLst>
              <a:ext uri="{FF2B5EF4-FFF2-40B4-BE49-F238E27FC236}">
                <a16:creationId xmlns:a16="http://schemas.microsoft.com/office/drawing/2014/main" id="{7FBAF9D0-C458-49E7-BD7A-7F5D56B1E55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4F2BE39-7254-4C3A-B00B-E1E6C74A9251}"/>
              </a:ext>
            </a:extLst>
          </p:cNvPr>
          <p:cNvSpPr>
            <a:spLocks noGrp="1"/>
          </p:cNvSpPr>
          <p:nvPr>
            <p:ph type="sldNum" sz="quarter" idx="12"/>
          </p:nvPr>
        </p:nvSpPr>
        <p:spPr/>
        <p:txBody>
          <a:bodyPr/>
          <a:lstStyle/>
          <a:p>
            <a:fld id="{FCC7C092-628A-42F4-9378-41D1924336C8}" type="slidenum">
              <a:rPr lang="zh-TW" altLang="en-US" smtClean="0"/>
              <a:t>‹#›</a:t>
            </a:fld>
            <a:endParaRPr lang="zh-TW" altLang="en-US"/>
          </a:p>
        </p:txBody>
      </p:sp>
    </p:spTree>
    <p:extLst>
      <p:ext uri="{BB962C8B-B14F-4D97-AF65-F5344CB8AC3E}">
        <p14:creationId xmlns:p14="http://schemas.microsoft.com/office/powerpoint/2010/main" val="3285669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71C7CE-128F-46E6-912E-315F62DA391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9F69EE6-3877-4397-839C-B9EEE94302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0CE21E7-C266-4882-8B85-B08677176B21}"/>
              </a:ext>
            </a:extLst>
          </p:cNvPr>
          <p:cNvSpPr>
            <a:spLocks noGrp="1"/>
          </p:cNvSpPr>
          <p:nvPr>
            <p:ph type="dt" sz="half" idx="10"/>
          </p:nvPr>
        </p:nvSpPr>
        <p:spPr/>
        <p:txBody>
          <a:bodyPr/>
          <a:lstStyle/>
          <a:p>
            <a:fld id="{43FCBD26-6EFA-4DE5-91A1-DAAA57BA2C2D}" type="datetimeFigureOut">
              <a:rPr lang="zh-TW" altLang="en-US" smtClean="0"/>
              <a:t>2022/5/25</a:t>
            </a:fld>
            <a:endParaRPr lang="zh-TW" altLang="en-US"/>
          </a:p>
        </p:txBody>
      </p:sp>
      <p:sp>
        <p:nvSpPr>
          <p:cNvPr id="5" name="頁尾版面配置區 4">
            <a:extLst>
              <a:ext uri="{FF2B5EF4-FFF2-40B4-BE49-F238E27FC236}">
                <a16:creationId xmlns:a16="http://schemas.microsoft.com/office/drawing/2014/main" id="{27B778F3-463C-4CED-B195-7AFBD2BAD47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F07EE77-165D-4E7A-9AA8-4F8A9CA39C4A}"/>
              </a:ext>
            </a:extLst>
          </p:cNvPr>
          <p:cNvSpPr>
            <a:spLocks noGrp="1"/>
          </p:cNvSpPr>
          <p:nvPr>
            <p:ph type="sldNum" sz="quarter" idx="12"/>
          </p:nvPr>
        </p:nvSpPr>
        <p:spPr/>
        <p:txBody>
          <a:bodyPr/>
          <a:lstStyle/>
          <a:p>
            <a:fld id="{FCC7C092-628A-42F4-9378-41D1924336C8}" type="slidenum">
              <a:rPr lang="zh-TW" altLang="en-US" smtClean="0"/>
              <a:t>‹#›</a:t>
            </a:fld>
            <a:endParaRPr lang="zh-TW" altLang="en-US"/>
          </a:p>
        </p:txBody>
      </p:sp>
    </p:spTree>
    <p:extLst>
      <p:ext uri="{BB962C8B-B14F-4D97-AF65-F5344CB8AC3E}">
        <p14:creationId xmlns:p14="http://schemas.microsoft.com/office/powerpoint/2010/main" val="4086223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B9762-FD37-4ED1-BBE2-D32539402E1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1B99D7C-B46F-40C8-9939-278CCDD1EF5E}"/>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457BFBF0-15F7-4068-8263-079B4BBDBCF4}"/>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258EC96-126C-491E-8E61-8920AE7B9A51}"/>
              </a:ext>
            </a:extLst>
          </p:cNvPr>
          <p:cNvSpPr>
            <a:spLocks noGrp="1"/>
          </p:cNvSpPr>
          <p:nvPr>
            <p:ph type="dt" sz="half" idx="10"/>
          </p:nvPr>
        </p:nvSpPr>
        <p:spPr/>
        <p:txBody>
          <a:bodyPr/>
          <a:lstStyle/>
          <a:p>
            <a:fld id="{43FCBD26-6EFA-4DE5-91A1-DAAA57BA2C2D}" type="datetimeFigureOut">
              <a:rPr lang="zh-TW" altLang="en-US" smtClean="0"/>
              <a:t>2022/5/25</a:t>
            </a:fld>
            <a:endParaRPr lang="zh-TW" altLang="en-US"/>
          </a:p>
        </p:txBody>
      </p:sp>
      <p:sp>
        <p:nvSpPr>
          <p:cNvPr id="6" name="頁尾版面配置區 5">
            <a:extLst>
              <a:ext uri="{FF2B5EF4-FFF2-40B4-BE49-F238E27FC236}">
                <a16:creationId xmlns:a16="http://schemas.microsoft.com/office/drawing/2014/main" id="{39EBFDC8-11D2-45E1-B65B-3F88C93B4F2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A505C0-8592-4E85-A837-446ADF2FCA39}"/>
              </a:ext>
            </a:extLst>
          </p:cNvPr>
          <p:cNvSpPr>
            <a:spLocks noGrp="1"/>
          </p:cNvSpPr>
          <p:nvPr>
            <p:ph type="sldNum" sz="quarter" idx="12"/>
          </p:nvPr>
        </p:nvSpPr>
        <p:spPr/>
        <p:txBody>
          <a:bodyPr/>
          <a:lstStyle/>
          <a:p>
            <a:fld id="{FCC7C092-628A-42F4-9378-41D1924336C8}" type="slidenum">
              <a:rPr lang="zh-TW" altLang="en-US" smtClean="0"/>
              <a:t>‹#›</a:t>
            </a:fld>
            <a:endParaRPr lang="zh-TW" altLang="en-US"/>
          </a:p>
        </p:txBody>
      </p:sp>
    </p:spTree>
    <p:extLst>
      <p:ext uri="{BB962C8B-B14F-4D97-AF65-F5344CB8AC3E}">
        <p14:creationId xmlns:p14="http://schemas.microsoft.com/office/powerpoint/2010/main" val="1439660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639968-0E35-480C-8061-6C02D614B254}"/>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501149B-AC25-4599-9CEC-237B5795CC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D9E450B-7D2C-48D7-B25C-77E45E539DE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A8CF4CAC-6AC5-40ED-ACE3-999B9F9744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706DC57C-1666-48A7-ABA2-73B6CA500B6D}"/>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58B20529-C3DC-4217-85A6-D79F3CD2423C}"/>
              </a:ext>
            </a:extLst>
          </p:cNvPr>
          <p:cNvSpPr>
            <a:spLocks noGrp="1"/>
          </p:cNvSpPr>
          <p:nvPr>
            <p:ph type="dt" sz="half" idx="10"/>
          </p:nvPr>
        </p:nvSpPr>
        <p:spPr/>
        <p:txBody>
          <a:bodyPr/>
          <a:lstStyle/>
          <a:p>
            <a:fld id="{43FCBD26-6EFA-4DE5-91A1-DAAA57BA2C2D}" type="datetimeFigureOut">
              <a:rPr lang="zh-TW" altLang="en-US" smtClean="0"/>
              <a:t>2022/5/25</a:t>
            </a:fld>
            <a:endParaRPr lang="zh-TW" altLang="en-US"/>
          </a:p>
        </p:txBody>
      </p:sp>
      <p:sp>
        <p:nvSpPr>
          <p:cNvPr id="8" name="頁尾版面配置區 7">
            <a:extLst>
              <a:ext uri="{FF2B5EF4-FFF2-40B4-BE49-F238E27FC236}">
                <a16:creationId xmlns:a16="http://schemas.microsoft.com/office/drawing/2014/main" id="{6337033A-5F50-4859-A8B1-09154EC8616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60B1CA8E-BBE2-4FEA-8B45-79A957B6F543}"/>
              </a:ext>
            </a:extLst>
          </p:cNvPr>
          <p:cNvSpPr>
            <a:spLocks noGrp="1"/>
          </p:cNvSpPr>
          <p:nvPr>
            <p:ph type="sldNum" sz="quarter" idx="12"/>
          </p:nvPr>
        </p:nvSpPr>
        <p:spPr/>
        <p:txBody>
          <a:bodyPr/>
          <a:lstStyle/>
          <a:p>
            <a:fld id="{FCC7C092-628A-42F4-9378-41D1924336C8}" type="slidenum">
              <a:rPr lang="zh-TW" altLang="en-US" smtClean="0"/>
              <a:t>‹#›</a:t>
            </a:fld>
            <a:endParaRPr lang="zh-TW" altLang="en-US"/>
          </a:p>
        </p:txBody>
      </p:sp>
    </p:spTree>
    <p:extLst>
      <p:ext uri="{BB962C8B-B14F-4D97-AF65-F5344CB8AC3E}">
        <p14:creationId xmlns:p14="http://schemas.microsoft.com/office/powerpoint/2010/main" val="2928558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428797-23B8-4C76-905F-66641A9DE92B}"/>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318ED533-FA72-457F-B6B1-2029EBE4F098}"/>
              </a:ext>
            </a:extLst>
          </p:cNvPr>
          <p:cNvSpPr>
            <a:spLocks noGrp="1"/>
          </p:cNvSpPr>
          <p:nvPr>
            <p:ph type="dt" sz="half" idx="10"/>
          </p:nvPr>
        </p:nvSpPr>
        <p:spPr/>
        <p:txBody>
          <a:bodyPr/>
          <a:lstStyle/>
          <a:p>
            <a:fld id="{43FCBD26-6EFA-4DE5-91A1-DAAA57BA2C2D}" type="datetimeFigureOut">
              <a:rPr lang="zh-TW" altLang="en-US" smtClean="0"/>
              <a:t>2022/5/25</a:t>
            </a:fld>
            <a:endParaRPr lang="zh-TW" altLang="en-US"/>
          </a:p>
        </p:txBody>
      </p:sp>
      <p:sp>
        <p:nvSpPr>
          <p:cNvPr id="4" name="頁尾版面配置區 3">
            <a:extLst>
              <a:ext uri="{FF2B5EF4-FFF2-40B4-BE49-F238E27FC236}">
                <a16:creationId xmlns:a16="http://schemas.microsoft.com/office/drawing/2014/main" id="{001A797A-1BC9-4927-8699-08DBF435D8B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875491B-7027-44CB-B62E-AD6EF3250CC0}"/>
              </a:ext>
            </a:extLst>
          </p:cNvPr>
          <p:cNvSpPr>
            <a:spLocks noGrp="1"/>
          </p:cNvSpPr>
          <p:nvPr>
            <p:ph type="sldNum" sz="quarter" idx="12"/>
          </p:nvPr>
        </p:nvSpPr>
        <p:spPr/>
        <p:txBody>
          <a:bodyPr/>
          <a:lstStyle/>
          <a:p>
            <a:fld id="{FCC7C092-628A-42F4-9378-41D1924336C8}" type="slidenum">
              <a:rPr lang="zh-TW" altLang="en-US" smtClean="0"/>
              <a:t>‹#›</a:t>
            </a:fld>
            <a:endParaRPr lang="zh-TW" altLang="en-US"/>
          </a:p>
        </p:txBody>
      </p:sp>
    </p:spTree>
    <p:extLst>
      <p:ext uri="{BB962C8B-B14F-4D97-AF65-F5344CB8AC3E}">
        <p14:creationId xmlns:p14="http://schemas.microsoft.com/office/powerpoint/2010/main" val="1559915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2712314-4D83-49C4-A212-42A1CD63D940}"/>
              </a:ext>
            </a:extLst>
          </p:cNvPr>
          <p:cNvSpPr>
            <a:spLocks noGrp="1"/>
          </p:cNvSpPr>
          <p:nvPr>
            <p:ph type="dt" sz="half" idx="10"/>
          </p:nvPr>
        </p:nvSpPr>
        <p:spPr/>
        <p:txBody>
          <a:bodyPr/>
          <a:lstStyle/>
          <a:p>
            <a:fld id="{43FCBD26-6EFA-4DE5-91A1-DAAA57BA2C2D}" type="datetimeFigureOut">
              <a:rPr lang="zh-TW" altLang="en-US" smtClean="0"/>
              <a:t>2022/5/25</a:t>
            </a:fld>
            <a:endParaRPr lang="zh-TW" altLang="en-US"/>
          </a:p>
        </p:txBody>
      </p:sp>
      <p:sp>
        <p:nvSpPr>
          <p:cNvPr id="3" name="頁尾版面配置區 2">
            <a:extLst>
              <a:ext uri="{FF2B5EF4-FFF2-40B4-BE49-F238E27FC236}">
                <a16:creationId xmlns:a16="http://schemas.microsoft.com/office/drawing/2014/main" id="{6CFA52DF-B482-4FC8-8C33-5B230E2DA429}"/>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F3ED70F-4070-4560-939B-23E30D8B1001}"/>
              </a:ext>
            </a:extLst>
          </p:cNvPr>
          <p:cNvSpPr>
            <a:spLocks noGrp="1"/>
          </p:cNvSpPr>
          <p:nvPr>
            <p:ph type="sldNum" sz="quarter" idx="12"/>
          </p:nvPr>
        </p:nvSpPr>
        <p:spPr/>
        <p:txBody>
          <a:bodyPr/>
          <a:lstStyle/>
          <a:p>
            <a:fld id="{FCC7C092-628A-42F4-9378-41D1924336C8}" type="slidenum">
              <a:rPr lang="zh-TW" altLang="en-US" smtClean="0"/>
              <a:t>‹#›</a:t>
            </a:fld>
            <a:endParaRPr lang="zh-TW" altLang="en-US"/>
          </a:p>
        </p:txBody>
      </p:sp>
    </p:spTree>
    <p:extLst>
      <p:ext uri="{BB962C8B-B14F-4D97-AF65-F5344CB8AC3E}">
        <p14:creationId xmlns:p14="http://schemas.microsoft.com/office/powerpoint/2010/main" val="1970571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D98AEB-5989-4F0B-86FD-D6117282BC1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F9854245-B8CC-4B53-B706-3691BD219C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4D05334E-B015-440B-8A2E-A0857164CC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F2ED045E-7BF2-43EB-A28D-D5E18B1D9D46}"/>
              </a:ext>
            </a:extLst>
          </p:cNvPr>
          <p:cNvSpPr>
            <a:spLocks noGrp="1"/>
          </p:cNvSpPr>
          <p:nvPr>
            <p:ph type="dt" sz="half" idx="10"/>
          </p:nvPr>
        </p:nvSpPr>
        <p:spPr/>
        <p:txBody>
          <a:bodyPr/>
          <a:lstStyle/>
          <a:p>
            <a:fld id="{43FCBD26-6EFA-4DE5-91A1-DAAA57BA2C2D}" type="datetimeFigureOut">
              <a:rPr lang="zh-TW" altLang="en-US" smtClean="0"/>
              <a:t>2022/5/25</a:t>
            </a:fld>
            <a:endParaRPr lang="zh-TW" altLang="en-US"/>
          </a:p>
        </p:txBody>
      </p:sp>
      <p:sp>
        <p:nvSpPr>
          <p:cNvPr id="6" name="頁尾版面配置區 5">
            <a:extLst>
              <a:ext uri="{FF2B5EF4-FFF2-40B4-BE49-F238E27FC236}">
                <a16:creationId xmlns:a16="http://schemas.microsoft.com/office/drawing/2014/main" id="{DB41AF78-5C4E-4B22-A75B-29085EFE67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60D9883-DF0C-45D8-AF67-59063FFB2335}"/>
              </a:ext>
            </a:extLst>
          </p:cNvPr>
          <p:cNvSpPr>
            <a:spLocks noGrp="1"/>
          </p:cNvSpPr>
          <p:nvPr>
            <p:ph type="sldNum" sz="quarter" idx="12"/>
          </p:nvPr>
        </p:nvSpPr>
        <p:spPr/>
        <p:txBody>
          <a:bodyPr/>
          <a:lstStyle/>
          <a:p>
            <a:fld id="{FCC7C092-628A-42F4-9378-41D1924336C8}" type="slidenum">
              <a:rPr lang="zh-TW" altLang="en-US" smtClean="0"/>
              <a:t>‹#›</a:t>
            </a:fld>
            <a:endParaRPr lang="zh-TW" altLang="en-US"/>
          </a:p>
        </p:txBody>
      </p:sp>
    </p:spTree>
    <p:extLst>
      <p:ext uri="{BB962C8B-B14F-4D97-AF65-F5344CB8AC3E}">
        <p14:creationId xmlns:p14="http://schemas.microsoft.com/office/powerpoint/2010/main" val="3183829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B8C83C-1CE0-4917-9C9B-2908A9EF512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8731426-5AB3-40A0-8250-D26D2369CE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6ADCA33-E1FF-4D04-A002-D3AD000C6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35E168C-81FE-4B9A-9E1E-6E9786ABF9E1}"/>
              </a:ext>
            </a:extLst>
          </p:cNvPr>
          <p:cNvSpPr>
            <a:spLocks noGrp="1"/>
          </p:cNvSpPr>
          <p:nvPr>
            <p:ph type="dt" sz="half" idx="10"/>
          </p:nvPr>
        </p:nvSpPr>
        <p:spPr/>
        <p:txBody>
          <a:bodyPr/>
          <a:lstStyle/>
          <a:p>
            <a:fld id="{43FCBD26-6EFA-4DE5-91A1-DAAA57BA2C2D}" type="datetimeFigureOut">
              <a:rPr lang="zh-TW" altLang="en-US" smtClean="0"/>
              <a:t>2022/5/25</a:t>
            </a:fld>
            <a:endParaRPr lang="zh-TW" altLang="en-US"/>
          </a:p>
        </p:txBody>
      </p:sp>
      <p:sp>
        <p:nvSpPr>
          <p:cNvPr id="6" name="頁尾版面配置區 5">
            <a:extLst>
              <a:ext uri="{FF2B5EF4-FFF2-40B4-BE49-F238E27FC236}">
                <a16:creationId xmlns:a16="http://schemas.microsoft.com/office/drawing/2014/main" id="{0D61BD13-3990-4D5C-99B5-5374546A67C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CEF082E-0171-4E37-884F-FF30442E85F5}"/>
              </a:ext>
            </a:extLst>
          </p:cNvPr>
          <p:cNvSpPr>
            <a:spLocks noGrp="1"/>
          </p:cNvSpPr>
          <p:nvPr>
            <p:ph type="sldNum" sz="quarter" idx="12"/>
          </p:nvPr>
        </p:nvSpPr>
        <p:spPr/>
        <p:txBody>
          <a:bodyPr/>
          <a:lstStyle/>
          <a:p>
            <a:fld id="{FCC7C092-628A-42F4-9378-41D1924336C8}" type="slidenum">
              <a:rPr lang="zh-TW" altLang="en-US" smtClean="0"/>
              <a:t>‹#›</a:t>
            </a:fld>
            <a:endParaRPr lang="zh-TW" altLang="en-US"/>
          </a:p>
        </p:txBody>
      </p:sp>
    </p:spTree>
    <p:extLst>
      <p:ext uri="{BB962C8B-B14F-4D97-AF65-F5344CB8AC3E}">
        <p14:creationId xmlns:p14="http://schemas.microsoft.com/office/powerpoint/2010/main" val="1137396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AD4010-F835-401E-9E63-6119CA0F6CF1}"/>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7E31C5A-D78D-4253-9452-C286B83A334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0FCDEDF-19E3-4291-84B6-08EE92B96696}"/>
              </a:ext>
            </a:extLst>
          </p:cNvPr>
          <p:cNvSpPr>
            <a:spLocks noGrp="1"/>
          </p:cNvSpPr>
          <p:nvPr>
            <p:ph type="dt" sz="half" idx="10"/>
          </p:nvPr>
        </p:nvSpPr>
        <p:spPr/>
        <p:txBody>
          <a:bodyPr/>
          <a:lstStyle/>
          <a:p>
            <a:fld id="{43FCBD26-6EFA-4DE5-91A1-DAAA57BA2C2D}" type="datetimeFigureOut">
              <a:rPr lang="zh-TW" altLang="en-US" smtClean="0"/>
              <a:t>2022/5/25</a:t>
            </a:fld>
            <a:endParaRPr lang="zh-TW" altLang="en-US"/>
          </a:p>
        </p:txBody>
      </p:sp>
      <p:sp>
        <p:nvSpPr>
          <p:cNvPr id="5" name="頁尾版面配置區 4">
            <a:extLst>
              <a:ext uri="{FF2B5EF4-FFF2-40B4-BE49-F238E27FC236}">
                <a16:creationId xmlns:a16="http://schemas.microsoft.com/office/drawing/2014/main" id="{9CE99B85-8093-45FE-87DE-9A90535D607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FAA893E-C168-4EFD-AC8D-A24A97B0BBFC}"/>
              </a:ext>
            </a:extLst>
          </p:cNvPr>
          <p:cNvSpPr>
            <a:spLocks noGrp="1"/>
          </p:cNvSpPr>
          <p:nvPr>
            <p:ph type="sldNum" sz="quarter" idx="12"/>
          </p:nvPr>
        </p:nvSpPr>
        <p:spPr/>
        <p:txBody>
          <a:bodyPr/>
          <a:lstStyle/>
          <a:p>
            <a:fld id="{FCC7C092-628A-42F4-9378-41D1924336C8}" type="slidenum">
              <a:rPr lang="zh-TW" altLang="en-US" smtClean="0"/>
              <a:t>‹#›</a:t>
            </a:fld>
            <a:endParaRPr lang="zh-TW" altLang="en-US"/>
          </a:p>
        </p:txBody>
      </p:sp>
    </p:spTree>
    <p:extLst>
      <p:ext uri="{BB962C8B-B14F-4D97-AF65-F5344CB8AC3E}">
        <p14:creationId xmlns:p14="http://schemas.microsoft.com/office/powerpoint/2010/main" val="2397705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ED974A6-25DC-4E70-82D1-61A6155475C9}"/>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88B03A79-9E7C-49F9-9CAF-3A00AEBA5F24}"/>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04D18F1-C320-47C3-BC38-D0D87CE54F27}"/>
              </a:ext>
            </a:extLst>
          </p:cNvPr>
          <p:cNvSpPr>
            <a:spLocks noGrp="1"/>
          </p:cNvSpPr>
          <p:nvPr>
            <p:ph type="dt" sz="half" idx="10"/>
          </p:nvPr>
        </p:nvSpPr>
        <p:spPr/>
        <p:txBody>
          <a:bodyPr/>
          <a:lstStyle/>
          <a:p>
            <a:fld id="{43FCBD26-6EFA-4DE5-91A1-DAAA57BA2C2D}" type="datetimeFigureOut">
              <a:rPr lang="zh-TW" altLang="en-US" smtClean="0"/>
              <a:t>2022/5/25</a:t>
            </a:fld>
            <a:endParaRPr lang="zh-TW" altLang="en-US"/>
          </a:p>
        </p:txBody>
      </p:sp>
      <p:sp>
        <p:nvSpPr>
          <p:cNvPr id="5" name="頁尾版面配置區 4">
            <a:extLst>
              <a:ext uri="{FF2B5EF4-FFF2-40B4-BE49-F238E27FC236}">
                <a16:creationId xmlns:a16="http://schemas.microsoft.com/office/drawing/2014/main" id="{4ECBEF4A-AD31-4890-B1A1-B94113CD78A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5727B13-E154-4F29-9C9F-4D4FF525FD65}"/>
              </a:ext>
            </a:extLst>
          </p:cNvPr>
          <p:cNvSpPr>
            <a:spLocks noGrp="1"/>
          </p:cNvSpPr>
          <p:nvPr>
            <p:ph type="sldNum" sz="quarter" idx="12"/>
          </p:nvPr>
        </p:nvSpPr>
        <p:spPr/>
        <p:txBody>
          <a:bodyPr/>
          <a:lstStyle/>
          <a:p>
            <a:fld id="{FCC7C092-628A-42F4-9378-41D1924336C8}" type="slidenum">
              <a:rPr lang="zh-TW" altLang="en-US" smtClean="0"/>
              <a:t>‹#›</a:t>
            </a:fld>
            <a:endParaRPr lang="zh-TW" altLang="en-US"/>
          </a:p>
        </p:txBody>
      </p:sp>
    </p:spTree>
    <p:extLst>
      <p:ext uri="{BB962C8B-B14F-4D97-AF65-F5344CB8AC3E}">
        <p14:creationId xmlns:p14="http://schemas.microsoft.com/office/powerpoint/2010/main" val="2529876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2E9F20C1-9626-424F-B40D-7857AD5FAD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39FE9DF-298E-42F6-982F-322F47CE91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2C7D495-99E7-4E03-A058-8C60E587E5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FCBD26-6EFA-4DE5-91A1-DAAA57BA2C2D}" type="datetimeFigureOut">
              <a:rPr lang="zh-TW" altLang="en-US" smtClean="0"/>
              <a:t>2022/5/25</a:t>
            </a:fld>
            <a:endParaRPr lang="zh-TW" altLang="en-US"/>
          </a:p>
        </p:txBody>
      </p:sp>
      <p:sp>
        <p:nvSpPr>
          <p:cNvPr id="5" name="頁尾版面配置區 4">
            <a:extLst>
              <a:ext uri="{FF2B5EF4-FFF2-40B4-BE49-F238E27FC236}">
                <a16:creationId xmlns:a16="http://schemas.microsoft.com/office/drawing/2014/main" id="{4992491D-31AB-4767-B68B-5EAF8D0304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46C82389-75F1-4BA9-AE00-AA5A80374A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C7C092-628A-42F4-9378-41D1924336C8}" type="slidenum">
              <a:rPr lang="zh-TW" altLang="en-US" smtClean="0"/>
              <a:t>‹#›</a:t>
            </a:fld>
            <a:endParaRPr lang="zh-TW" altLang="en-US"/>
          </a:p>
        </p:txBody>
      </p:sp>
    </p:spTree>
    <p:extLst>
      <p:ext uri="{BB962C8B-B14F-4D97-AF65-F5344CB8AC3E}">
        <p14:creationId xmlns:p14="http://schemas.microsoft.com/office/powerpoint/2010/main" val="2094285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492865-9A9F-43E8-9DBE-0DA288C1B89C}"/>
              </a:ext>
            </a:extLst>
          </p:cNvPr>
          <p:cNvSpPr>
            <a:spLocks noGrp="1"/>
          </p:cNvSpPr>
          <p:nvPr>
            <p:ph type="ctrTitle"/>
          </p:nvPr>
        </p:nvSpPr>
        <p:spPr/>
        <p:txBody>
          <a:bodyPr>
            <a:normAutofit/>
          </a:bodyPr>
          <a:lstStyle/>
          <a:p>
            <a:r>
              <a:rPr lang="en-US" altLang="zh-TW" sz="4800" dirty="0">
                <a:latin typeface="Times New Roman" panose="02020603050405020304" pitchFamily="18" charset="0"/>
                <a:cs typeface="Times New Roman" panose="02020603050405020304" pitchFamily="18" charset="0"/>
              </a:rPr>
              <a:t>Task scheduling for heterogeneous computing systems</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C91E1EAD-093A-407B-B3E4-A0F729C1A115}"/>
              </a:ext>
            </a:extLst>
          </p:cNvPr>
          <p:cNvSpPr>
            <a:spLocks noGrp="1"/>
          </p:cNvSpPr>
          <p:nvPr>
            <p:ph type="subTitle" idx="1"/>
          </p:nvPr>
        </p:nvSpPr>
        <p:spPr/>
        <p:txBody>
          <a:bodyPr>
            <a:normAutofit lnSpcReduction="10000"/>
          </a:bodyPr>
          <a:lstStyle/>
          <a:p>
            <a:endParaRPr lang="en-US" altLang="zh-TW" dirty="0"/>
          </a:p>
          <a:p>
            <a:endParaRPr lang="en-US" altLang="zh-TW" dirty="0"/>
          </a:p>
          <a:p>
            <a:r>
              <a:rPr lang="en-US" altLang="zh-TW" dirty="0" err="1">
                <a:latin typeface="Times New Roman" panose="02020603050405020304" pitchFamily="18" charset="0"/>
                <a:cs typeface="Times New Roman" panose="02020603050405020304" pitchFamily="18" charset="0"/>
              </a:rPr>
              <a:t>Shaikhah</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AlEbrahim</a:t>
            </a:r>
            <a:r>
              <a:rPr lang="en-US" altLang="zh-TW" dirty="0">
                <a:latin typeface="Times New Roman" panose="02020603050405020304" pitchFamily="18" charset="0"/>
                <a:cs typeface="Times New Roman" panose="02020603050405020304" pitchFamily="18" charset="0"/>
              </a:rPr>
              <a:t> , Imtiaz Ahmad</a:t>
            </a:r>
          </a:p>
          <a:p>
            <a:r>
              <a:rPr lang="en-US" altLang="zh-TW" b="0" dirty="0">
                <a:effectLst/>
                <a:latin typeface="Times New Roman" panose="02020603050405020304" pitchFamily="18" charset="0"/>
                <a:cs typeface="Times New Roman" panose="02020603050405020304" pitchFamily="18" charset="0"/>
              </a:rPr>
              <a:t>The Journal of Supercomputing</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A0893321-5974-44E0-9C89-B45F9610D5A4}"/>
              </a:ext>
            </a:extLst>
          </p:cNvPr>
          <p:cNvSpPr txBox="1"/>
          <p:nvPr/>
        </p:nvSpPr>
        <p:spPr>
          <a:xfrm>
            <a:off x="9249508" y="5257800"/>
            <a:ext cx="2486690" cy="646331"/>
          </a:xfrm>
          <a:prstGeom prst="rect">
            <a:avLst/>
          </a:prstGeom>
          <a:noFill/>
        </p:spPr>
        <p:txBody>
          <a:bodyPr wrap="square" rtlCol="0">
            <a:spAutoFit/>
          </a:bodyPr>
          <a:lstStyle/>
          <a:p>
            <a:r>
              <a:rPr lang="en-US" altLang="zh-TW" dirty="0"/>
              <a:t>Date: May. 26, 2022</a:t>
            </a:r>
          </a:p>
          <a:p>
            <a:r>
              <a:rPr lang="en-US" altLang="zh-TW" dirty="0"/>
              <a:t>Presenter: </a:t>
            </a:r>
            <a:r>
              <a:rPr lang="en-US" altLang="zh-TW" dirty="0" err="1"/>
              <a:t>Jue</a:t>
            </a:r>
            <a:r>
              <a:rPr lang="en-US" altLang="zh-TW" dirty="0"/>
              <a:t>-Jun Wu</a:t>
            </a:r>
            <a:endParaRPr lang="zh-TW" altLang="en-US" dirty="0"/>
          </a:p>
        </p:txBody>
      </p:sp>
    </p:spTree>
    <p:extLst>
      <p:ext uri="{BB962C8B-B14F-4D97-AF65-F5344CB8AC3E}">
        <p14:creationId xmlns:p14="http://schemas.microsoft.com/office/powerpoint/2010/main" val="3713312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C6A26B-1A20-4493-9DA2-07ADAEBB4A9F}"/>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62FF4F41-0503-4ECF-BD53-CFFCC3F4D5BF}"/>
              </a:ext>
            </a:extLst>
          </p:cNvPr>
          <p:cNvSpPr>
            <a:spLocks noGrp="1"/>
          </p:cNvSpPr>
          <p:nvPr>
            <p:ph idx="1"/>
          </p:nvPr>
        </p:nvSpPr>
        <p:spPr>
          <a:xfrm>
            <a:off x="673768" y="1251284"/>
            <a:ext cx="10680032" cy="4925679"/>
          </a:xfrm>
        </p:spPr>
        <p:txBody>
          <a:bodyPr>
            <a:normAutofit/>
          </a:bodyPr>
          <a:lstStyle/>
          <a:p>
            <a:pPr marL="0" indent="0">
              <a:buNone/>
            </a:pPr>
            <a:r>
              <a:rPr lang="en-US" altLang="zh-TW" sz="2400" b="0" i="0" dirty="0">
                <a:solidFill>
                  <a:srgbClr val="333333"/>
                </a:solidFill>
                <a:effectLst/>
              </a:rPr>
              <a:t>	</a:t>
            </a:r>
            <a:r>
              <a:rPr lang="en-US" altLang="zh-TW" sz="2400" b="0" i="0" dirty="0">
                <a:effectLst/>
              </a:rPr>
              <a:t>Efficient scheduling of tasks in heterogeneous computing systems is of primary importance for high-performance execution of programs. The programs are to be considered as multiple sequences of tasks that are presented as directed acyclic graphs (DAG). Each task has its own execution timeline that incorporates into multiple processors. Moreover, each edge on the graph represents constraints between the sequenced tasks. In this paper, we propose a new list–scheduling algorithm that schedules the tasks represented in the DAG to the processor that best minimizes the total execution time by taking into consideration the restriction of crossover between processors. This objective will be achieved in two major phases: (a) computing priorities of each task that will be executed, and (b) selecting the processor that will handle each task. The first phase, priorities computation, focuses on finding the best execution sequence that minimizes the </a:t>
            </a:r>
            <a:r>
              <a:rPr lang="en-US" altLang="zh-TW" sz="2400" b="0" i="0" dirty="0" err="1">
                <a:effectLst/>
              </a:rPr>
              <a:t>makespan</a:t>
            </a:r>
            <a:r>
              <a:rPr lang="en-US" altLang="zh-TW" sz="2400" b="0" i="0" dirty="0">
                <a:effectLst/>
              </a:rPr>
              <a:t> of the overall execution. In list-scheduling algorithm, the quality of the solution is very sensitive to the priority assigned to the tasks. </a:t>
            </a:r>
            <a:endParaRPr lang="zh-TW" altLang="en-US" sz="2400" dirty="0"/>
          </a:p>
        </p:txBody>
      </p:sp>
    </p:spTree>
    <p:extLst>
      <p:ext uri="{BB962C8B-B14F-4D97-AF65-F5344CB8AC3E}">
        <p14:creationId xmlns:p14="http://schemas.microsoft.com/office/powerpoint/2010/main" val="3575296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C62890-55FE-4061-A870-5231F9029CCD}"/>
              </a:ext>
            </a:extLst>
          </p:cNvPr>
          <p:cNvSpPr>
            <a:spLocks noGrp="1"/>
          </p:cNvSpPr>
          <p:nvPr>
            <p:ph type="title"/>
          </p:nvPr>
        </p:nvSpPr>
        <p:spPr>
          <a:xfrm>
            <a:off x="838200" y="178773"/>
            <a:ext cx="10515600" cy="1325563"/>
          </a:xfrm>
        </p:spPr>
        <p:txBody>
          <a:bodyPr/>
          <a:lstStyle/>
          <a:p>
            <a:endParaRPr lang="zh-TW" altLang="en-US" dirty="0"/>
          </a:p>
        </p:txBody>
      </p:sp>
      <p:sp>
        <p:nvSpPr>
          <p:cNvPr id="3" name="內容版面配置區 2">
            <a:extLst>
              <a:ext uri="{FF2B5EF4-FFF2-40B4-BE49-F238E27FC236}">
                <a16:creationId xmlns:a16="http://schemas.microsoft.com/office/drawing/2014/main" id="{5A693ECB-0A60-4C75-AD63-241746CF92D8}"/>
              </a:ext>
            </a:extLst>
          </p:cNvPr>
          <p:cNvSpPr>
            <a:spLocks noGrp="1"/>
          </p:cNvSpPr>
          <p:nvPr>
            <p:ph idx="1"/>
          </p:nvPr>
        </p:nvSpPr>
        <p:spPr>
          <a:xfrm>
            <a:off x="838200" y="1504336"/>
            <a:ext cx="10515600" cy="5353664"/>
          </a:xfrm>
        </p:spPr>
        <p:txBody>
          <a:bodyPr>
            <a:normAutofit/>
          </a:bodyPr>
          <a:lstStyle/>
          <a:p>
            <a:pPr marL="0" indent="0">
              <a:buNone/>
            </a:pPr>
            <a:r>
              <a:rPr lang="en-US" altLang="zh-TW" b="0" i="0" dirty="0">
                <a:solidFill>
                  <a:srgbClr val="333333"/>
                </a:solidFill>
                <a:effectLst/>
              </a:rPr>
              <a:t>	</a:t>
            </a:r>
            <a:r>
              <a:rPr lang="en-US" altLang="zh-TW" sz="2400" b="0" i="0" dirty="0">
                <a:effectLst/>
              </a:rPr>
              <a:t>Therefore, in this paper, we include an enhanced calculation of weight that is used in the ranking equation for determining the priority of tasks. The second phase, processor selection, primarily focuses on allocating a processor that is a best fit for each task to be executed. In this paper, we enhance the processor selection by introducing a randomized decision mechanism based on a threshold which decides whether the task be assigned to the processor with the lowest execution time or to the processor that produces the lowest finish time. This mechanism considers a balanced combination of the local and global optimal results to explore the search space efficiently to optimize the overall </a:t>
            </a:r>
            <a:r>
              <a:rPr lang="en-US" altLang="zh-TW" sz="2400" b="0" i="0" dirty="0" err="1">
                <a:effectLst/>
              </a:rPr>
              <a:t>makespan</a:t>
            </a:r>
            <a:r>
              <a:rPr lang="en-US" altLang="zh-TW" sz="2400" b="0" i="0" dirty="0">
                <a:effectLst/>
              </a:rPr>
              <a:t>. The proposed algorithm is evaluated on different randomly generated DAGs, and results are compared with the well-known existing approaches to show the effectiveness of the proposed algorithm in reducing the </a:t>
            </a:r>
            <a:r>
              <a:rPr lang="en-US" altLang="zh-TW" sz="2400" b="0" i="0" dirty="0" err="1">
                <a:effectLst/>
              </a:rPr>
              <a:t>makespan</a:t>
            </a:r>
            <a:r>
              <a:rPr lang="en-US" altLang="zh-TW" sz="2400" b="0" i="0" dirty="0">
                <a:effectLst/>
              </a:rPr>
              <a:t> of execution. The experiment’s results show improvement in the </a:t>
            </a:r>
            <a:r>
              <a:rPr lang="en-US" altLang="zh-TW" sz="2400" b="0" i="0" dirty="0" err="1">
                <a:effectLst/>
              </a:rPr>
              <a:t>makespan</a:t>
            </a:r>
            <a:r>
              <a:rPr lang="en-US" altLang="zh-TW" sz="2400" b="0" i="0" dirty="0">
                <a:effectLst/>
              </a:rPr>
              <a:t> that reaches up to 6–7%.</a:t>
            </a:r>
            <a:endParaRPr lang="zh-TW" altLang="en-US" sz="2400" dirty="0"/>
          </a:p>
        </p:txBody>
      </p:sp>
    </p:spTree>
    <p:extLst>
      <p:ext uri="{BB962C8B-B14F-4D97-AF65-F5344CB8AC3E}">
        <p14:creationId xmlns:p14="http://schemas.microsoft.com/office/powerpoint/2010/main" val="470196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22A508-D720-4375-8986-6B4F1916F9BC}"/>
              </a:ext>
            </a:extLst>
          </p:cNvPr>
          <p:cNvSpPr>
            <a:spLocks noGrp="1"/>
          </p:cNvSpPr>
          <p:nvPr>
            <p:ph type="title"/>
          </p:nvPr>
        </p:nvSpPr>
        <p:spPr/>
        <p:txBody>
          <a:bodyPr/>
          <a:lstStyle/>
          <a:p>
            <a:endParaRPr lang="zh-TW" altLang="en-US"/>
          </a:p>
        </p:txBody>
      </p:sp>
      <p:pic>
        <p:nvPicPr>
          <p:cNvPr id="5" name="圖片 4">
            <a:extLst>
              <a:ext uri="{FF2B5EF4-FFF2-40B4-BE49-F238E27FC236}">
                <a16:creationId xmlns:a16="http://schemas.microsoft.com/office/drawing/2014/main" id="{CC552F50-6CBC-1D71-20D6-1B281D0776B5}"/>
              </a:ext>
            </a:extLst>
          </p:cNvPr>
          <p:cNvPicPr>
            <a:picLocks noChangeAspect="1"/>
          </p:cNvPicPr>
          <p:nvPr/>
        </p:nvPicPr>
        <p:blipFill>
          <a:blip r:embed="rId2"/>
          <a:stretch>
            <a:fillRect/>
          </a:stretch>
        </p:blipFill>
        <p:spPr>
          <a:xfrm>
            <a:off x="1150343" y="860517"/>
            <a:ext cx="4239803" cy="4201948"/>
          </a:xfrm>
          <a:prstGeom prst="rect">
            <a:avLst/>
          </a:prstGeom>
        </p:spPr>
      </p:pic>
      <p:pic>
        <p:nvPicPr>
          <p:cNvPr id="7" name="圖片 6">
            <a:extLst>
              <a:ext uri="{FF2B5EF4-FFF2-40B4-BE49-F238E27FC236}">
                <a16:creationId xmlns:a16="http://schemas.microsoft.com/office/drawing/2014/main" id="{0B1E9DC7-9815-54C8-1AB5-9C4A394CA01C}"/>
              </a:ext>
            </a:extLst>
          </p:cNvPr>
          <p:cNvPicPr>
            <a:picLocks noChangeAspect="1"/>
          </p:cNvPicPr>
          <p:nvPr/>
        </p:nvPicPr>
        <p:blipFill>
          <a:blip r:embed="rId3"/>
          <a:stretch>
            <a:fillRect/>
          </a:stretch>
        </p:blipFill>
        <p:spPr>
          <a:xfrm>
            <a:off x="7251032" y="681037"/>
            <a:ext cx="3416968" cy="4560909"/>
          </a:xfrm>
          <a:prstGeom prst="rect">
            <a:avLst/>
          </a:prstGeom>
        </p:spPr>
      </p:pic>
      <p:sp>
        <p:nvSpPr>
          <p:cNvPr id="13" name="內容版面配置區 12">
            <a:extLst>
              <a:ext uri="{FF2B5EF4-FFF2-40B4-BE49-F238E27FC236}">
                <a16:creationId xmlns:a16="http://schemas.microsoft.com/office/drawing/2014/main" id="{6EA1E1C1-7E37-7CF0-A8F6-04B6A6B98E05}"/>
              </a:ext>
            </a:extLst>
          </p:cNvPr>
          <p:cNvSpPr>
            <a:spLocks noGrp="1"/>
          </p:cNvSpPr>
          <p:nvPr>
            <p:ph idx="1"/>
          </p:nvPr>
        </p:nvSpPr>
        <p:spPr/>
        <p:txBody>
          <a:bodyPr/>
          <a:lstStyle/>
          <a:p>
            <a:endParaRPr lang="zh-TW" altLang="en-US" dirty="0"/>
          </a:p>
        </p:txBody>
      </p:sp>
    </p:spTree>
    <p:extLst>
      <p:ext uri="{BB962C8B-B14F-4D97-AF65-F5344CB8AC3E}">
        <p14:creationId xmlns:p14="http://schemas.microsoft.com/office/powerpoint/2010/main" val="2232207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C1B993-B599-4874-BBD3-10074528D4D7}"/>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AB50E275-E883-4B29-BB48-109E7B858C44}"/>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54D10FD4-0943-7264-4955-28A1C497EDA0}"/>
              </a:ext>
            </a:extLst>
          </p:cNvPr>
          <p:cNvPicPr>
            <a:picLocks noChangeAspect="1"/>
          </p:cNvPicPr>
          <p:nvPr/>
        </p:nvPicPr>
        <p:blipFill>
          <a:blip r:embed="rId2"/>
          <a:stretch>
            <a:fillRect/>
          </a:stretch>
        </p:blipFill>
        <p:spPr>
          <a:xfrm>
            <a:off x="4749861" y="3497262"/>
            <a:ext cx="7302378" cy="3265140"/>
          </a:xfrm>
          <a:prstGeom prst="rect">
            <a:avLst/>
          </a:prstGeom>
        </p:spPr>
      </p:pic>
      <p:pic>
        <p:nvPicPr>
          <p:cNvPr id="6" name="內容版面配置區 10">
            <a:extLst>
              <a:ext uri="{FF2B5EF4-FFF2-40B4-BE49-F238E27FC236}">
                <a16:creationId xmlns:a16="http://schemas.microsoft.com/office/drawing/2014/main" id="{94D83496-03C7-407A-2979-F3623360B12F}"/>
              </a:ext>
            </a:extLst>
          </p:cNvPr>
          <p:cNvPicPr>
            <a:picLocks noChangeAspect="1"/>
          </p:cNvPicPr>
          <p:nvPr/>
        </p:nvPicPr>
        <p:blipFill>
          <a:blip r:embed="rId3"/>
          <a:stretch>
            <a:fillRect/>
          </a:stretch>
        </p:blipFill>
        <p:spPr>
          <a:xfrm>
            <a:off x="295225" y="153987"/>
            <a:ext cx="6405942" cy="3343275"/>
          </a:xfrm>
          <a:prstGeom prst="rect">
            <a:avLst/>
          </a:prstGeom>
        </p:spPr>
      </p:pic>
      <p:pic>
        <p:nvPicPr>
          <p:cNvPr id="7" name="圖片 6">
            <a:extLst>
              <a:ext uri="{FF2B5EF4-FFF2-40B4-BE49-F238E27FC236}">
                <a16:creationId xmlns:a16="http://schemas.microsoft.com/office/drawing/2014/main" id="{6DAB9C31-0D40-971B-B22A-E5D1610A0CA1}"/>
              </a:ext>
            </a:extLst>
          </p:cNvPr>
          <p:cNvPicPr>
            <a:picLocks noChangeAspect="1"/>
          </p:cNvPicPr>
          <p:nvPr/>
        </p:nvPicPr>
        <p:blipFill>
          <a:blip r:embed="rId4"/>
          <a:stretch>
            <a:fillRect/>
          </a:stretch>
        </p:blipFill>
        <p:spPr>
          <a:xfrm>
            <a:off x="449970" y="6100457"/>
            <a:ext cx="4237087" cy="603556"/>
          </a:xfrm>
          <a:prstGeom prst="rect">
            <a:avLst/>
          </a:prstGeom>
        </p:spPr>
      </p:pic>
      <p:pic>
        <p:nvPicPr>
          <p:cNvPr id="8" name="圖片 7">
            <a:extLst>
              <a:ext uri="{FF2B5EF4-FFF2-40B4-BE49-F238E27FC236}">
                <a16:creationId xmlns:a16="http://schemas.microsoft.com/office/drawing/2014/main" id="{146650E6-C622-39B8-38F4-94E4D113C7B6}"/>
              </a:ext>
            </a:extLst>
          </p:cNvPr>
          <p:cNvPicPr>
            <a:picLocks noChangeAspect="1"/>
          </p:cNvPicPr>
          <p:nvPr/>
        </p:nvPicPr>
        <p:blipFill>
          <a:blip r:embed="rId5"/>
          <a:stretch>
            <a:fillRect/>
          </a:stretch>
        </p:blipFill>
        <p:spPr>
          <a:xfrm>
            <a:off x="7216118" y="354311"/>
            <a:ext cx="4836121" cy="568027"/>
          </a:xfrm>
          <a:prstGeom prst="rect">
            <a:avLst/>
          </a:prstGeom>
        </p:spPr>
      </p:pic>
    </p:spTree>
    <p:extLst>
      <p:ext uri="{BB962C8B-B14F-4D97-AF65-F5344CB8AC3E}">
        <p14:creationId xmlns:p14="http://schemas.microsoft.com/office/powerpoint/2010/main" val="1096797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203BAF-81F4-4374-5807-D10E9561C8C0}"/>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4133D31A-2918-2281-D1B4-A654E77C7669}"/>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400E9137-C878-12AD-1CD0-4688DEA5D8A9}"/>
              </a:ext>
            </a:extLst>
          </p:cNvPr>
          <p:cNvPicPr>
            <a:picLocks noChangeAspect="1"/>
          </p:cNvPicPr>
          <p:nvPr/>
        </p:nvPicPr>
        <p:blipFill>
          <a:blip r:embed="rId2"/>
          <a:stretch>
            <a:fillRect/>
          </a:stretch>
        </p:blipFill>
        <p:spPr>
          <a:xfrm>
            <a:off x="1068705" y="3960605"/>
            <a:ext cx="3638550" cy="800100"/>
          </a:xfrm>
          <a:prstGeom prst="rect">
            <a:avLst/>
          </a:prstGeom>
        </p:spPr>
      </p:pic>
      <p:pic>
        <p:nvPicPr>
          <p:cNvPr id="7" name="圖片 6">
            <a:extLst>
              <a:ext uri="{FF2B5EF4-FFF2-40B4-BE49-F238E27FC236}">
                <a16:creationId xmlns:a16="http://schemas.microsoft.com/office/drawing/2014/main" id="{96FC4045-E5C3-099D-098E-CEE2717BC2EB}"/>
              </a:ext>
            </a:extLst>
          </p:cNvPr>
          <p:cNvPicPr>
            <a:picLocks noChangeAspect="1"/>
          </p:cNvPicPr>
          <p:nvPr/>
        </p:nvPicPr>
        <p:blipFill>
          <a:blip r:embed="rId3"/>
          <a:stretch>
            <a:fillRect/>
          </a:stretch>
        </p:blipFill>
        <p:spPr>
          <a:xfrm>
            <a:off x="838200" y="2765282"/>
            <a:ext cx="7738110" cy="800100"/>
          </a:xfrm>
          <a:prstGeom prst="rect">
            <a:avLst/>
          </a:prstGeom>
        </p:spPr>
      </p:pic>
      <p:pic>
        <p:nvPicPr>
          <p:cNvPr id="8" name="圖片 7">
            <a:extLst>
              <a:ext uri="{FF2B5EF4-FFF2-40B4-BE49-F238E27FC236}">
                <a16:creationId xmlns:a16="http://schemas.microsoft.com/office/drawing/2014/main" id="{41AC1201-F1E2-F57F-37B6-31EA24267288}"/>
              </a:ext>
            </a:extLst>
          </p:cNvPr>
          <p:cNvPicPr>
            <a:picLocks noChangeAspect="1"/>
          </p:cNvPicPr>
          <p:nvPr/>
        </p:nvPicPr>
        <p:blipFill>
          <a:blip r:embed="rId4"/>
          <a:stretch>
            <a:fillRect/>
          </a:stretch>
        </p:blipFill>
        <p:spPr>
          <a:xfrm>
            <a:off x="838200" y="1612292"/>
            <a:ext cx="6941234" cy="815283"/>
          </a:xfrm>
          <a:prstGeom prst="rect">
            <a:avLst/>
          </a:prstGeom>
        </p:spPr>
      </p:pic>
    </p:spTree>
    <p:extLst>
      <p:ext uri="{BB962C8B-B14F-4D97-AF65-F5344CB8AC3E}">
        <p14:creationId xmlns:p14="http://schemas.microsoft.com/office/powerpoint/2010/main" val="661848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203BAF-81F4-4374-5807-D10E9561C8C0}"/>
              </a:ext>
            </a:extLst>
          </p:cNvPr>
          <p:cNvSpPr>
            <a:spLocks noGrp="1"/>
          </p:cNvSpPr>
          <p:nvPr>
            <p:ph type="title"/>
          </p:nvPr>
        </p:nvSpPr>
        <p:spPr/>
        <p:txBody>
          <a:bodyPr/>
          <a:lstStyle/>
          <a:p>
            <a:endParaRPr lang="zh-TW" altLang="en-US"/>
          </a:p>
        </p:txBody>
      </p:sp>
      <p:pic>
        <p:nvPicPr>
          <p:cNvPr id="6" name="內容版面配置區 5">
            <a:extLst>
              <a:ext uri="{FF2B5EF4-FFF2-40B4-BE49-F238E27FC236}">
                <a16:creationId xmlns:a16="http://schemas.microsoft.com/office/drawing/2014/main" id="{C4E0F120-7E9C-21F1-690F-CB1946F38245}"/>
              </a:ext>
            </a:extLst>
          </p:cNvPr>
          <p:cNvPicPr>
            <a:picLocks noGrp="1" noChangeAspect="1"/>
          </p:cNvPicPr>
          <p:nvPr>
            <p:ph idx="1"/>
          </p:nvPr>
        </p:nvPicPr>
        <p:blipFill>
          <a:blip r:embed="rId2"/>
          <a:stretch>
            <a:fillRect/>
          </a:stretch>
        </p:blipFill>
        <p:spPr>
          <a:xfrm>
            <a:off x="8088923" y="4639976"/>
            <a:ext cx="3619500" cy="914400"/>
          </a:xfrm>
        </p:spPr>
      </p:pic>
      <p:pic>
        <p:nvPicPr>
          <p:cNvPr id="5" name="圖片 4">
            <a:extLst>
              <a:ext uri="{FF2B5EF4-FFF2-40B4-BE49-F238E27FC236}">
                <a16:creationId xmlns:a16="http://schemas.microsoft.com/office/drawing/2014/main" id="{400E9137-C878-12AD-1CD0-4688DEA5D8A9}"/>
              </a:ext>
            </a:extLst>
          </p:cNvPr>
          <p:cNvPicPr>
            <a:picLocks noChangeAspect="1"/>
          </p:cNvPicPr>
          <p:nvPr/>
        </p:nvPicPr>
        <p:blipFill>
          <a:blip r:embed="rId3"/>
          <a:stretch>
            <a:fillRect/>
          </a:stretch>
        </p:blipFill>
        <p:spPr>
          <a:xfrm>
            <a:off x="1068705" y="3960605"/>
            <a:ext cx="3638550" cy="800100"/>
          </a:xfrm>
          <a:prstGeom prst="rect">
            <a:avLst/>
          </a:prstGeom>
        </p:spPr>
      </p:pic>
      <p:pic>
        <p:nvPicPr>
          <p:cNvPr id="7" name="圖片 6">
            <a:extLst>
              <a:ext uri="{FF2B5EF4-FFF2-40B4-BE49-F238E27FC236}">
                <a16:creationId xmlns:a16="http://schemas.microsoft.com/office/drawing/2014/main" id="{96FC4045-E5C3-099D-098E-CEE2717BC2EB}"/>
              </a:ext>
            </a:extLst>
          </p:cNvPr>
          <p:cNvPicPr>
            <a:picLocks noChangeAspect="1"/>
          </p:cNvPicPr>
          <p:nvPr/>
        </p:nvPicPr>
        <p:blipFill>
          <a:blip r:embed="rId4"/>
          <a:stretch>
            <a:fillRect/>
          </a:stretch>
        </p:blipFill>
        <p:spPr>
          <a:xfrm>
            <a:off x="838200" y="2765282"/>
            <a:ext cx="7738110" cy="800100"/>
          </a:xfrm>
          <a:prstGeom prst="rect">
            <a:avLst/>
          </a:prstGeom>
        </p:spPr>
      </p:pic>
      <p:pic>
        <p:nvPicPr>
          <p:cNvPr id="8" name="圖片 7">
            <a:extLst>
              <a:ext uri="{FF2B5EF4-FFF2-40B4-BE49-F238E27FC236}">
                <a16:creationId xmlns:a16="http://schemas.microsoft.com/office/drawing/2014/main" id="{41AC1201-F1E2-F57F-37B6-31EA24267288}"/>
              </a:ext>
            </a:extLst>
          </p:cNvPr>
          <p:cNvPicPr>
            <a:picLocks noChangeAspect="1"/>
          </p:cNvPicPr>
          <p:nvPr/>
        </p:nvPicPr>
        <p:blipFill>
          <a:blip r:embed="rId5"/>
          <a:stretch>
            <a:fillRect/>
          </a:stretch>
        </p:blipFill>
        <p:spPr>
          <a:xfrm>
            <a:off x="838200" y="1612292"/>
            <a:ext cx="6941234" cy="815283"/>
          </a:xfrm>
          <a:prstGeom prst="rect">
            <a:avLst/>
          </a:prstGeom>
        </p:spPr>
      </p:pic>
      <p:pic>
        <p:nvPicPr>
          <p:cNvPr id="10" name="圖片 9">
            <a:extLst>
              <a:ext uri="{FF2B5EF4-FFF2-40B4-BE49-F238E27FC236}">
                <a16:creationId xmlns:a16="http://schemas.microsoft.com/office/drawing/2014/main" id="{B672C6D8-D4F3-D4D4-D927-CA039ED66671}"/>
              </a:ext>
            </a:extLst>
          </p:cNvPr>
          <p:cNvPicPr>
            <a:picLocks noChangeAspect="1"/>
          </p:cNvPicPr>
          <p:nvPr/>
        </p:nvPicPr>
        <p:blipFill>
          <a:blip r:embed="rId6"/>
          <a:stretch>
            <a:fillRect/>
          </a:stretch>
        </p:blipFill>
        <p:spPr>
          <a:xfrm>
            <a:off x="1068705" y="5245708"/>
            <a:ext cx="4876800" cy="828675"/>
          </a:xfrm>
          <a:prstGeom prst="rect">
            <a:avLst/>
          </a:prstGeom>
        </p:spPr>
      </p:pic>
    </p:spTree>
    <p:extLst>
      <p:ext uri="{BB962C8B-B14F-4D97-AF65-F5344CB8AC3E}">
        <p14:creationId xmlns:p14="http://schemas.microsoft.com/office/powerpoint/2010/main" val="145331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CC552F50-6CBC-1D71-20D6-1B281D0776B5}"/>
              </a:ext>
            </a:extLst>
          </p:cNvPr>
          <p:cNvPicPr>
            <a:picLocks noChangeAspect="1"/>
          </p:cNvPicPr>
          <p:nvPr/>
        </p:nvPicPr>
        <p:blipFill>
          <a:blip r:embed="rId2"/>
          <a:stretch>
            <a:fillRect/>
          </a:stretch>
        </p:blipFill>
        <p:spPr>
          <a:xfrm>
            <a:off x="9339504" y="1134737"/>
            <a:ext cx="2852496" cy="2827028"/>
          </a:xfrm>
          <a:prstGeom prst="rect">
            <a:avLst/>
          </a:prstGeom>
        </p:spPr>
      </p:pic>
      <p:pic>
        <p:nvPicPr>
          <p:cNvPr id="7" name="圖片 6">
            <a:extLst>
              <a:ext uri="{FF2B5EF4-FFF2-40B4-BE49-F238E27FC236}">
                <a16:creationId xmlns:a16="http://schemas.microsoft.com/office/drawing/2014/main" id="{0B1E9DC7-9815-54C8-1AB5-9C4A394CA01C}"/>
              </a:ext>
            </a:extLst>
          </p:cNvPr>
          <p:cNvPicPr>
            <a:picLocks noChangeAspect="1"/>
          </p:cNvPicPr>
          <p:nvPr/>
        </p:nvPicPr>
        <p:blipFill>
          <a:blip r:embed="rId3"/>
          <a:stretch>
            <a:fillRect/>
          </a:stretch>
        </p:blipFill>
        <p:spPr>
          <a:xfrm>
            <a:off x="9947899" y="3961765"/>
            <a:ext cx="2244101" cy="2995387"/>
          </a:xfrm>
          <a:prstGeom prst="rect">
            <a:avLst/>
          </a:prstGeom>
        </p:spPr>
      </p:pic>
      <mc:AlternateContent xmlns:mc="http://schemas.openxmlformats.org/markup-compatibility/2006">
        <mc:Choice xmlns:a14="http://schemas.microsoft.com/office/drawing/2010/main" Requires="a14">
          <p:graphicFrame>
            <p:nvGraphicFramePr>
              <p:cNvPr id="3" name="表格 3">
                <a:extLst>
                  <a:ext uri="{FF2B5EF4-FFF2-40B4-BE49-F238E27FC236}">
                    <a16:creationId xmlns:a16="http://schemas.microsoft.com/office/drawing/2014/main" id="{6B2EBBF1-4E59-DBCA-FBD3-7EB1238F8241}"/>
                  </a:ext>
                </a:extLst>
              </p:cNvPr>
              <p:cNvGraphicFramePr>
                <a:graphicFrameLocks noGrp="1"/>
              </p:cNvGraphicFramePr>
              <p:nvPr>
                <p:extLst>
                  <p:ext uri="{D42A27DB-BD31-4B8C-83A1-F6EECF244321}">
                    <p14:modId xmlns:p14="http://schemas.microsoft.com/office/powerpoint/2010/main" val="906170984"/>
                  </p:ext>
                </p:extLst>
              </p:nvPr>
            </p:nvGraphicFramePr>
            <p:xfrm>
              <a:off x="221718" y="548467"/>
              <a:ext cx="6994330" cy="6265482"/>
            </p:xfrm>
            <a:graphic>
              <a:graphicData uri="http://schemas.openxmlformats.org/drawingml/2006/table">
                <a:tbl>
                  <a:tblPr firstRow="1" bandRow="1">
                    <a:tableStyleId>{5C22544A-7EE6-4342-B048-85BDC9FD1C3A}</a:tableStyleId>
                  </a:tblPr>
                  <a:tblGrid>
                    <a:gridCol w="630464">
                      <a:extLst>
                        <a:ext uri="{9D8B030D-6E8A-4147-A177-3AD203B41FA5}">
                          <a16:colId xmlns:a16="http://schemas.microsoft.com/office/drawing/2014/main" val="4092738546"/>
                        </a:ext>
                      </a:extLst>
                    </a:gridCol>
                    <a:gridCol w="4314729">
                      <a:extLst>
                        <a:ext uri="{9D8B030D-6E8A-4147-A177-3AD203B41FA5}">
                          <a16:colId xmlns:a16="http://schemas.microsoft.com/office/drawing/2014/main" val="678947849"/>
                        </a:ext>
                      </a:extLst>
                    </a:gridCol>
                    <a:gridCol w="716096">
                      <a:extLst>
                        <a:ext uri="{9D8B030D-6E8A-4147-A177-3AD203B41FA5}">
                          <a16:colId xmlns:a16="http://schemas.microsoft.com/office/drawing/2014/main" val="4289086683"/>
                        </a:ext>
                      </a:extLst>
                    </a:gridCol>
                    <a:gridCol w="661012">
                      <a:extLst>
                        <a:ext uri="{9D8B030D-6E8A-4147-A177-3AD203B41FA5}">
                          <a16:colId xmlns:a16="http://schemas.microsoft.com/office/drawing/2014/main" val="4043104326"/>
                        </a:ext>
                      </a:extLst>
                    </a:gridCol>
                    <a:gridCol w="672029">
                      <a:extLst>
                        <a:ext uri="{9D8B030D-6E8A-4147-A177-3AD203B41FA5}">
                          <a16:colId xmlns:a16="http://schemas.microsoft.com/office/drawing/2014/main" val="732334124"/>
                        </a:ext>
                      </a:extLst>
                    </a:gridCol>
                  </a:tblGrid>
                  <a:tr h="370840">
                    <a:tc>
                      <a:txBody>
                        <a:bodyPr/>
                        <a:lstStyle/>
                        <a:p>
                          <a:r>
                            <a:rPr lang="en-US" altLang="zh-TW" sz="1600" b="0" i="0" dirty="0">
                              <a:solidFill>
                                <a:schemeClr val="tx1"/>
                              </a:solidFill>
                            </a:rPr>
                            <a:t>Tasks</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Para xmlns:m="http://schemas.openxmlformats.org/officeDocument/2006/math">
                              <m:oMathParaPr>
                                <m:jc m:val="centerGroup"/>
                              </m:oMathParaPr>
                              <m:oMath xmlns:m="http://schemas.openxmlformats.org/officeDocument/2006/math">
                                <m:sSub>
                                  <m:sSubPr>
                                    <m:ctrlPr>
                                      <a:rPr lang="en-US" altLang="zh-TW" sz="1600" b="0" i="1" smtClean="0">
                                        <a:solidFill>
                                          <a:schemeClr val="tx1"/>
                                        </a:solidFill>
                                        <a:latin typeface="Cambria Math" panose="02040503050406030204" pitchFamily="18" charset="0"/>
                                      </a:rPr>
                                    </m:ctrlPr>
                                  </m:sSubPr>
                                  <m:e>
                                    <m:r>
                                      <m:rPr>
                                        <m:sty m:val="p"/>
                                      </m:rPr>
                                      <a:rPr lang="en-US" altLang="zh-TW" sz="1600" b="0" i="1" smtClean="0">
                                        <a:solidFill>
                                          <a:schemeClr val="tx1"/>
                                        </a:solidFill>
                                        <a:latin typeface="Cambria Math" panose="02040503050406030204" pitchFamily="18" charset="0"/>
                                      </a:rPr>
                                      <m:t>R</m:t>
                                    </m:r>
                                    <m:r>
                                      <a:rPr lang="en-US" altLang="zh-TW" sz="1600" b="0" i="1" smtClean="0">
                                        <a:solidFill>
                                          <a:schemeClr val="tx1"/>
                                        </a:solidFill>
                                        <a:latin typeface="Cambria Math" panose="02040503050406030204" pitchFamily="18" charset="0"/>
                                      </a:rPr>
                                      <m:t>𝑎𝑛𝑘</m:t>
                                    </m:r>
                                  </m:e>
                                  <m:sub>
                                    <m:r>
                                      <a:rPr lang="en-US" altLang="zh-TW" sz="1600" b="0" i="1" smtClean="0">
                                        <a:solidFill>
                                          <a:schemeClr val="tx1"/>
                                        </a:solidFill>
                                        <a:latin typeface="Cambria Math" panose="02040503050406030204" pitchFamily="18" charset="0"/>
                                      </a:rPr>
                                      <m:t>𝑝𝑟𝑜𝑝𝑜𝑠𝑒𝑑</m:t>
                                    </m:r>
                                  </m:sub>
                                </m:sSub>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rPr>
                            <a:t>processor</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EST</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EFT</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4116512"/>
                      </a:ext>
                    </a:extLst>
                  </a:tr>
                  <a:tr h="370840">
                    <a:tc>
                      <a:txBody>
                        <a:bodyPr/>
                        <a:lstStyle/>
                        <a:p>
                          <a:r>
                            <a:rPr lang="en-US" altLang="zh-TW" sz="1600" b="0" i="0" dirty="0">
                              <a:solidFill>
                                <a:schemeClr val="tx1"/>
                              </a:solidFill>
                            </a:rPr>
                            <a:t>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171−125</m:t>
                                    </m:r>
                                  </m:num>
                                  <m:den>
                                    <m:r>
                                      <a:rPr lang="en-US" altLang="zh-TW" sz="1600" b="0" i="1" smtClean="0">
                                        <a:solidFill>
                                          <a:schemeClr val="tx1"/>
                                        </a:solidFill>
                                        <a:latin typeface="Cambria Math" panose="02040503050406030204" pitchFamily="18" charset="0"/>
                                      </a:rPr>
                                      <m:t>171/25</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13+149</m:t>
                                        </m:r>
                                      </m:e>
                                    </m:d>
                                  </m:e>
                                </m:func>
                                <m:r>
                                  <a:rPr lang="en-US" altLang="zh-TW" sz="1600" b="0" i="1" smtClean="0">
                                    <a:solidFill>
                                      <a:schemeClr val="tx1"/>
                                    </a:solidFill>
                                    <a:latin typeface="Cambria Math" panose="02040503050406030204" pitchFamily="18" charset="0"/>
                                  </a:rPr>
                                  <m:t>=195.5</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125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8933509"/>
                      </a:ext>
                    </a:extLst>
                  </a:tr>
                  <a:tr h="370840">
                    <a:tc>
                      <a:txBody>
                        <a:bodyPr/>
                        <a:lstStyle/>
                        <a:p>
                          <a:r>
                            <a:rPr lang="en-US" altLang="zh-TW" sz="1600" b="0" i="0" dirty="0">
                              <a:solidFill>
                                <a:schemeClr val="tx1"/>
                              </a:solidFill>
                            </a:rPr>
                            <a:t>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184−120</m:t>
                                    </m:r>
                                  </m:num>
                                  <m:den>
                                    <m:r>
                                      <a:rPr lang="en-US" altLang="zh-TW" sz="1600" b="0" i="1" smtClean="0">
                                        <a:solidFill>
                                          <a:schemeClr val="tx1"/>
                                        </a:solidFill>
                                        <a:latin typeface="Cambria Math" panose="02040503050406030204" pitchFamily="18" charset="0"/>
                                      </a:rPr>
                                      <m:t>184/120</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57+50.5</m:t>
                                        </m:r>
                                      </m:e>
                                    </m:d>
                                  </m:e>
                                </m:func>
                                <m:r>
                                  <a:rPr lang="en-US" altLang="zh-TW" sz="1600" b="0" i="1" smtClean="0">
                                    <a:solidFill>
                                      <a:schemeClr val="tx1"/>
                                    </a:solidFill>
                                    <a:latin typeface="Cambria Math" panose="02040503050406030204" pitchFamily="18" charset="0"/>
                                  </a:rPr>
                                  <m:t>=149</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138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258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8932598"/>
                      </a:ext>
                    </a:extLst>
                  </a:tr>
                  <a:tr h="370840">
                    <a:tc>
                      <a:txBody>
                        <a:bodyPr/>
                        <a:lstStyle/>
                        <a:p>
                          <a:r>
                            <a:rPr lang="en-US" altLang="zh-TW" sz="1600" b="0" i="0" dirty="0">
                              <a:solidFill>
                                <a:schemeClr val="tx1"/>
                              </a:solidFill>
                            </a:rPr>
                            <a:t>t4</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192−145</m:t>
                                    </m:r>
                                  </m:num>
                                  <m:den>
                                    <m:r>
                                      <a:rPr lang="en-US" altLang="zh-TW" sz="1600" b="0" i="1" smtClean="0">
                                        <a:solidFill>
                                          <a:schemeClr val="tx1"/>
                                        </a:solidFill>
                                        <a:latin typeface="Cambria Math" panose="02040503050406030204" pitchFamily="18" charset="0"/>
                                      </a:rPr>
                                      <m:t>192/145</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11+73</m:t>
                                        </m:r>
                                      </m:e>
                                    </m:d>
                                  </m:e>
                                </m:func>
                                <m:r>
                                  <a:rPr lang="en-US" altLang="zh-TW" sz="1600" b="0" i="1" smtClean="0">
                                    <a:solidFill>
                                      <a:schemeClr val="tx1"/>
                                    </a:solidFill>
                                    <a:latin typeface="Cambria Math" panose="02040503050406030204" pitchFamily="18" charset="0"/>
                                  </a:rPr>
                                  <m:t>=119</m:t>
                                </m:r>
                                <m:r>
                                  <a:rPr lang="en-US" altLang="zh-TW" sz="1600" b="0" i="1" smtClean="0">
                                    <a:solidFill>
                                      <a:schemeClr val="tx1"/>
                                    </a:solidFill>
                                    <a:latin typeface="Cambria Math" panose="02040503050406030204" pitchFamily="18" charset="0"/>
                                  </a:rPr>
                                  <m:t>.5</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highlight>
                                <a:srgbClr val="FFFF00"/>
                              </a:highlight>
                            </a:rPr>
                            <a:t>1</a:t>
                          </a:r>
                          <a:endParaRPr lang="zh-TW" altLang="en-US" sz="1600" b="0" i="0" dirty="0">
                            <a:solidFill>
                              <a:schemeClr val="tx1"/>
                            </a:solidFill>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258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403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278969"/>
                      </a:ext>
                    </a:extLst>
                  </a:tr>
                  <a:tr h="370840">
                    <a:tc>
                      <a:txBody>
                        <a:bodyPr/>
                        <a:lstStyle/>
                        <a:p>
                          <a:r>
                            <a:rPr lang="en-US" altLang="zh-TW" sz="1600" b="0" i="0" dirty="0">
                              <a:solidFill>
                                <a:schemeClr val="tx1"/>
                              </a:solidFill>
                            </a:rPr>
                            <a:t>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133−114</m:t>
                                    </m:r>
                                  </m:num>
                                  <m:den>
                                    <m:r>
                                      <a:rPr lang="en-US" altLang="zh-TW" sz="1600" b="0" i="1" smtClean="0">
                                        <a:solidFill>
                                          <a:schemeClr val="tx1"/>
                                        </a:solidFill>
                                        <a:latin typeface="Cambria Math" panose="02040503050406030204" pitchFamily="18" charset="0"/>
                                      </a:rPr>
                                      <m:t>133/114</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30+50.5</m:t>
                                        </m:r>
                                      </m:e>
                                    </m:d>
                                  </m:e>
                                </m:func>
                                <m:r>
                                  <a:rPr lang="en-US" altLang="zh-TW" sz="1600" b="0" i="1" smtClean="0">
                                    <a:solidFill>
                                      <a:schemeClr val="tx1"/>
                                    </a:solidFill>
                                    <a:latin typeface="Cambria Math" panose="02040503050406030204" pitchFamily="18" charset="0"/>
                                  </a:rPr>
                                  <m:t>=97</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125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239</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60291"/>
                      </a:ext>
                    </a:extLst>
                  </a:tr>
                  <a:tr h="370840">
                    <a:tc>
                      <a:txBody>
                        <a:bodyPr/>
                        <a:lstStyle/>
                        <a:p>
                          <a:r>
                            <a:rPr lang="en-US" altLang="zh-TW" sz="1600" b="0" i="0" dirty="0">
                              <a:solidFill>
                                <a:schemeClr val="tx1"/>
                              </a:solidFill>
                            </a:rPr>
                            <a:t>t6</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152−10</m:t>
                                    </m:r>
                                  </m:num>
                                  <m:den>
                                    <m:r>
                                      <a:rPr lang="en-US" altLang="zh-TW" sz="1600" b="0" i="1" smtClean="0">
                                        <a:solidFill>
                                          <a:schemeClr val="tx1"/>
                                        </a:solidFill>
                                        <a:latin typeface="Cambria Math" panose="02040503050406030204" pitchFamily="18" charset="0"/>
                                      </a:rPr>
                                      <m:t>152/10</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5+73</m:t>
                                        </m:r>
                                      </m:e>
                                    </m:d>
                                  </m:e>
                                </m:func>
                                <m:r>
                                  <a:rPr lang="en-US" altLang="zh-TW" sz="1600" b="0" i="1" smtClean="0">
                                    <a:solidFill>
                                      <a:schemeClr val="tx1"/>
                                    </a:solidFill>
                                    <a:latin typeface="Cambria Math" panose="02040503050406030204" pitchFamily="18" charset="0"/>
                                  </a:rPr>
                                  <m:t>=8</m:t>
                                </m:r>
                                <m:r>
                                  <a:rPr lang="en-US" altLang="zh-TW" sz="1600" b="0" i="1" smtClean="0">
                                    <a:solidFill>
                                      <a:schemeClr val="tx1"/>
                                    </a:solidFill>
                                    <a:latin typeface="Cambria Math" panose="02040503050406030204" pitchFamily="18" charset="0"/>
                                  </a:rPr>
                                  <m:t>7</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403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413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1979598"/>
                      </a:ext>
                    </a:extLst>
                  </a:tr>
                  <a:tr h="370840">
                    <a:tc>
                      <a:txBody>
                        <a:bodyPr/>
                        <a:lstStyle/>
                        <a:p>
                          <a:r>
                            <a:rPr lang="en-US" altLang="zh-TW" sz="1600" b="0" i="0" dirty="0">
                              <a:solidFill>
                                <a:schemeClr val="tx1"/>
                              </a:solidFill>
                            </a:rPr>
                            <a:t>t8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126−50</m:t>
                                    </m:r>
                                  </m:num>
                                  <m:den>
                                    <m:r>
                                      <a:rPr lang="en-US" altLang="zh-TW" sz="1600" b="0" i="1" smtClean="0">
                                        <a:solidFill>
                                          <a:schemeClr val="tx1"/>
                                        </a:solidFill>
                                        <a:latin typeface="Cambria Math" panose="02040503050406030204" pitchFamily="18" charset="0"/>
                                      </a:rPr>
                                      <m:t>126/50</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42+0.5</m:t>
                                        </m:r>
                                      </m:e>
                                    </m:d>
                                  </m:e>
                                </m:func>
                                <m:r>
                                  <a:rPr lang="en-US" altLang="zh-TW" sz="1600" b="0" i="1" smtClean="0">
                                    <a:solidFill>
                                      <a:schemeClr val="tx1"/>
                                    </a:solidFill>
                                    <a:latin typeface="Cambria Math" panose="02040503050406030204" pitchFamily="18" charset="0"/>
                                  </a:rPr>
                                  <m:t>=73</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413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463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3658964"/>
                      </a:ext>
                    </a:extLst>
                  </a:tr>
                  <a:tr h="370840">
                    <a:tc>
                      <a:txBody>
                        <a:bodyPr/>
                        <a:lstStyle/>
                        <a:p>
                          <a:r>
                            <a:rPr lang="en-US" altLang="zh-TW" sz="1600" b="0" i="0" dirty="0">
                              <a:solidFill>
                                <a:schemeClr val="tx1"/>
                              </a:solidFill>
                            </a:rPr>
                            <a:t>t3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131−26</m:t>
                                    </m:r>
                                  </m:num>
                                  <m:den>
                                    <m:r>
                                      <a:rPr lang="en-US" altLang="zh-TW" sz="1600" b="0" i="1" smtClean="0">
                                        <a:solidFill>
                                          <a:schemeClr val="tx1"/>
                                        </a:solidFill>
                                        <a:latin typeface="Cambria Math" panose="02040503050406030204" pitchFamily="18" charset="0"/>
                                      </a:rPr>
                                      <m:t>131/26</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16+32</m:t>
                                        </m:r>
                                      </m:e>
                                    </m:d>
                                  </m:e>
                                </m:func>
                                <m:r>
                                  <a:rPr lang="en-US" altLang="zh-TW" sz="1600" b="0" i="1" smtClean="0">
                                    <a:solidFill>
                                      <a:schemeClr val="tx1"/>
                                    </a:solidFill>
                                    <a:latin typeface="Cambria Math" panose="02040503050406030204" pitchFamily="18" charset="0"/>
                                  </a:rPr>
                                  <m:t>=68.5</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238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370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853666"/>
                      </a:ext>
                    </a:extLst>
                  </a:tr>
                  <a:tr h="370840">
                    <a:tc>
                      <a:txBody>
                        <a:bodyPr/>
                        <a:lstStyle/>
                        <a:p>
                          <a:r>
                            <a:rPr lang="en-US" altLang="zh-TW" sz="1600" b="0" i="0" dirty="0">
                              <a:solidFill>
                                <a:schemeClr val="tx1"/>
                              </a:solidFill>
                            </a:rPr>
                            <a:t>t9</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191−65</m:t>
                                    </m:r>
                                  </m:num>
                                  <m:den>
                                    <m:r>
                                      <a:rPr lang="en-US" altLang="zh-TW" sz="1600" b="0" i="1" smtClean="0">
                                        <a:solidFill>
                                          <a:schemeClr val="tx1"/>
                                        </a:solidFill>
                                        <a:latin typeface="Cambria Math" panose="02040503050406030204" pitchFamily="18" charset="0"/>
                                      </a:rPr>
                                      <m:t>191/65</m:t>
                                    </m:r>
                                  </m:den>
                                </m:f>
                                <m:r>
                                  <a:rPr lang="en-US" altLang="zh-TW" sz="1600" b="0" i="1" smtClean="0">
                                    <a:solidFill>
                                      <a:schemeClr val="tx1"/>
                                    </a:solidFill>
                                    <a:latin typeface="Cambria Math" panose="02040503050406030204" pitchFamily="18" charset="0"/>
                                  </a:rPr>
                                  <m:t>+</m:t>
                                </m:r>
                                <m:r>
                                  <m:rPr>
                                    <m:sty m:val="p"/>
                                  </m:rPr>
                                  <a:rPr lang="en-US" altLang="zh-TW" sz="1600" b="0" i="0" smtClean="0">
                                    <a:solidFill>
                                      <a:schemeClr val="tx1"/>
                                    </a:solidFill>
                                    <a:latin typeface="Cambria Math" panose="02040503050406030204" pitchFamily="18" charset="0"/>
                                  </a:rPr>
                                  <m:t>max</m:t>
                                </m:r>
                                <m:r>
                                  <a:rPr lang="en-US" altLang="zh-TW" sz="1600" b="0" i="1" smtClean="0">
                                    <a:solidFill>
                                      <a:schemeClr val="tx1"/>
                                    </a:solidFill>
                                    <a:latin typeface="Cambria Math" panose="02040503050406030204" pitchFamily="18" charset="0"/>
                                  </a:rPr>
                                  <m:t>⁡{7+0.5}</m:t>
                                </m:r>
                                <m:r>
                                  <m:rPr>
                                    <m:nor/>
                                  </m:rPr>
                                  <a:rPr lang="en-US" altLang="zh-TW" sz="1600" b="0" i="0" dirty="0">
                                    <a:solidFill>
                                      <a:schemeClr val="tx1"/>
                                    </a:solidFill>
                                  </a:rPr>
                                  <m:t>=50.5</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410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475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281632"/>
                      </a:ext>
                    </a:extLst>
                  </a:tr>
                  <a:tr h="370840">
                    <a:tc>
                      <a:txBody>
                        <a:bodyPr/>
                        <a:lstStyle/>
                        <a:p>
                          <a:r>
                            <a:rPr lang="en-US" altLang="zh-TW" sz="1600" b="0" i="0" dirty="0">
                              <a:solidFill>
                                <a:schemeClr val="tx1"/>
                              </a:solidFill>
                            </a:rPr>
                            <a:t>t7</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114−30</m:t>
                                    </m:r>
                                  </m:num>
                                  <m:den>
                                    <m:r>
                                      <a:rPr lang="en-US" altLang="zh-TW" sz="1600" b="0" i="1" smtClean="0">
                                        <a:solidFill>
                                          <a:schemeClr val="tx1"/>
                                        </a:solidFill>
                                        <a:latin typeface="Cambria Math" panose="02040503050406030204" pitchFamily="18" charset="0"/>
                                      </a:rPr>
                                      <m:t>114/30</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9+0.5</m:t>
                                        </m:r>
                                      </m:e>
                                    </m:d>
                                  </m:e>
                                </m:func>
                                <m:r>
                                  <a:rPr lang="en-US" altLang="zh-TW" sz="1600" b="0" i="1" smtClean="0">
                                    <a:solidFill>
                                      <a:schemeClr val="tx1"/>
                                    </a:solidFill>
                                    <a:latin typeface="Cambria Math" panose="02040503050406030204" pitchFamily="18" charset="0"/>
                                  </a:rPr>
                                  <m:t>=32</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475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505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2824035"/>
                      </a:ext>
                    </a:extLst>
                  </a:tr>
                  <a:tr h="370840">
                    <a:tc>
                      <a:txBody>
                        <a:bodyPr/>
                        <a:lstStyle/>
                        <a:p>
                          <a:r>
                            <a:rPr lang="en-US" altLang="zh-TW" sz="1600" b="0" i="0" dirty="0">
                              <a:solidFill>
                                <a:schemeClr val="tx1"/>
                              </a:solidFill>
                            </a:rPr>
                            <a:t>t10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3−2</m:t>
                                  </m:r>
                                </m:num>
                                <m:den>
                                  <m:r>
                                    <a:rPr lang="en-US" altLang="zh-TW" sz="1600" b="0" i="1" smtClean="0">
                                      <a:solidFill>
                                        <a:schemeClr val="tx1"/>
                                      </a:solidFill>
                                      <a:latin typeface="Cambria Math" panose="02040503050406030204" pitchFamily="18" charset="0"/>
                                    </a:rPr>
                                    <m:t>3/2</m:t>
                                  </m:r>
                                </m:den>
                              </m:f>
                            </m:oMath>
                          </a14:m>
                          <a:r>
                            <a:rPr lang="zh-TW" altLang="en-US" sz="1600" b="0" i="0" dirty="0">
                              <a:solidFill>
                                <a:schemeClr val="tx1"/>
                              </a:solidFill>
                            </a:rPr>
                            <a:t> </a:t>
                          </a:r>
                          <a:r>
                            <a:rPr lang="en-US" altLang="zh-TW" sz="1600" b="0" i="0" dirty="0">
                              <a:solidFill>
                                <a:schemeClr val="tx1"/>
                              </a:solidFill>
                            </a:rPr>
                            <a:t>=0.6</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505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507</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594893"/>
                      </a:ext>
                    </a:extLst>
                  </a:tr>
                </a:tbl>
              </a:graphicData>
            </a:graphic>
          </p:graphicFrame>
        </mc:Choice>
        <mc:Fallback>
          <p:graphicFrame>
            <p:nvGraphicFramePr>
              <p:cNvPr id="3" name="表格 3">
                <a:extLst>
                  <a:ext uri="{FF2B5EF4-FFF2-40B4-BE49-F238E27FC236}">
                    <a16:creationId xmlns:a16="http://schemas.microsoft.com/office/drawing/2014/main" id="{6B2EBBF1-4E59-DBCA-FBD3-7EB1238F8241}"/>
                  </a:ext>
                </a:extLst>
              </p:cNvPr>
              <p:cNvGraphicFramePr>
                <a:graphicFrameLocks noGrp="1"/>
              </p:cNvGraphicFramePr>
              <p:nvPr>
                <p:extLst>
                  <p:ext uri="{D42A27DB-BD31-4B8C-83A1-F6EECF244321}">
                    <p14:modId xmlns:p14="http://schemas.microsoft.com/office/powerpoint/2010/main" val="906170984"/>
                  </p:ext>
                </p:extLst>
              </p:nvPr>
            </p:nvGraphicFramePr>
            <p:xfrm>
              <a:off x="221718" y="548467"/>
              <a:ext cx="6994330" cy="6265482"/>
            </p:xfrm>
            <a:graphic>
              <a:graphicData uri="http://schemas.openxmlformats.org/drawingml/2006/table">
                <a:tbl>
                  <a:tblPr firstRow="1" bandRow="1">
                    <a:tableStyleId>{5C22544A-7EE6-4342-B048-85BDC9FD1C3A}</a:tableStyleId>
                  </a:tblPr>
                  <a:tblGrid>
                    <a:gridCol w="630464">
                      <a:extLst>
                        <a:ext uri="{9D8B030D-6E8A-4147-A177-3AD203B41FA5}">
                          <a16:colId xmlns:a16="http://schemas.microsoft.com/office/drawing/2014/main" val="4092738546"/>
                        </a:ext>
                      </a:extLst>
                    </a:gridCol>
                    <a:gridCol w="4314729">
                      <a:extLst>
                        <a:ext uri="{9D8B030D-6E8A-4147-A177-3AD203B41FA5}">
                          <a16:colId xmlns:a16="http://schemas.microsoft.com/office/drawing/2014/main" val="678947849"/>
                        </a:ext>
                      </a:extLst>
                    </a:gridCol>
                    <a:gridCol w="716096">
                      <a:extLst>
                        <a:ext uri="{9D8B030D-6E8A-4147-A177-3AD203B41FA5}">
                          <a16:colId xmlns:a16="http://schemas.microsoft.com/office/drawing/2014/main" val="4289086683"/>
                        </a:ext>
                      </a:extLst>
                    </a:gridCol>
                    <a:gridCol w="661012">
                      <a:extLst>
                        <a:ext uri="{9D8B030D-6E8A-4147-A177-3AD203B41FA5}">
                          <a16:colId xmlns:a16="http://schemas.microsoft.com/office/drawing/2014/main" val="4043104326"/>
                        </a:ext>
                      </a:extLst>
                    </a:gridCol>
                    <a:gridCol w="672029">
                      <a:extLst>
                        <a:ext uri="{9D8B030D-6E8A-4147-A177-3AD203B41FA5}">
                          <a16:colId xmlns:a16="http://schemas.microsoft.com/office/drawing/2014/main" val="732334124"/>
                        </a:ext>
                      </a:extLst>
                    </a:gridCol>
                  </a:tblGrid>
                  <a:tr h="457200">
                    <a:tc>
                      <a:txBody>
                        <a:bodyPr/>
                        <a:lstStyle/>
                        <a:p>
                          <a:r>
                            <a:rPr lang="en-US" altLang="zh-TW" sz="1600" b="0" i="0" dirty="0">
                              <a:solidFill>
                                <a:schemeClr val="tx1"/>
                              </a:solidFill>
                            </a:rPr>
                            <a:t>Tasks</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669" t="-2667" r="-47673" b="-1277333"/>
                          </a:stretch>
                        </a:blipFill>
                      </a:tcPr>
                    </a:tc>
                    <a:tc>
                      <a:txBody>
                        <a:bodyPr/>
                        <a:lstStyle/>
                        <a:p>
                          <a:r>
                            <a:rPr lang="en-US" altLang="zh-TW" sz="1200" b="0" i="0" dirty="0">
                              <a:solidFill>
                                <a:schemeClr val="tx1"/>
                              </a:solidFill>
                            </a:rPr>
                            <a:t>processor</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EST</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EFT</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4116512"/>
                      </a:ext>
                    </a:extLst>
                  </a:tr>
                  <a:tr h="595630">
                    <a:tc>
                      <a:txBody>
                        <a:bodyPr/>
                        <a:lstStyle/>
                        <a:p>
                          <a:r>
                            <a:rPr lang="en-US" altLang="zh-TW" sz="1600" b="0" i="0" dirty="0">
                              <a:solidFill>
                                <a:schemeClr val="tx1"/>
                              </a:solidFill>
                            </a:rPr>
                            <a:t>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669" t="-78571" r="-47673" b="-877551"/>
                          </a:stretch>
                        </a:blip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125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8933509"/>
                      </a:ext>
                    </a:extLst>
                  </a:tr>
                  <a:tr h="590677">
                    <a:tc>
                      <a:txBody>
                        <a:bodyPr/>
                        <a:lstStyle/>
                        <a:p>
                          <a:r>
                            <a:rPr lang="en-US" altLang="zh-TW" sz="1600" b="0" i="0" dirty="0">
                              <a:solidFill>
                                <a:schemeClr val="tx1"/>
                              </a:solidFill>
                            </a:rPr>
                            <a:t>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669" t="-180412" r="-47673" b="-786598"/>
                          </a:stretch>
                        </a:blipFill>
                      </a:tcPr>
                    </a:tc>
                    <a:tc>
                      <a:txBody>
                        <a:bodyPr/>
                        <a:lstStyle/>
                        <a:p>
                          <a:r>
                            <a:rPr lang="en-US" altLang="zh-TW" sz="1600" b="0" i="0" dirty="0">
                              <a:solidFill>
                                <a:schemeClr val="tx1"/>
                              </a:solidFill>
                            </a:rPr>
                            <a: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138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258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8932598"/>
                      </a:ext>
                    </a:extLst>
                  </a:tr>
                  <a:tr h="595630">
                    <a:tc>
                      <a:txBody>
                        <a:bodyPr/>
                        <a:lstStyle/>
                        <a:p>
                          <a:r>
                            <a:rPr lang="en-US" altLang="zh-TW" sz="1600" b="0" i="0" dirty="0">
                              <a:solidFill>
                                <a:schemeClr val="tx1"/>
                              </a:solidFill>
                            </a:rPr>
                            <a:t>t4</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669" t="-277551" r="-47673" b="-678571"/>
                          </a:stretch>
                        </a:blipFill>
                      </a:tcPr>
                    </a:tc>
                    <a:tc>
                      <a:txBody>
                        <a:bodyPr/>
                        <a:lstStyle/>
                        <a:p>
                          <a:r>
                            <a:rPr lang="en-US" altLang="zh-TW" sz="1600" b="0" i="0" dirty="0">
                              <a:solidFill>
                                <a:schemeClr val="tx1"/>
                              </a:solidFill>
                              <a:highlight>
                                <a:srgbClr val="FFFF00"/>
                              </a:highlight>
                            </a:rPr>
                            <a:t>1</a:t>
                          </a:r>
                          <a:endParaRPr lang="zh-TW" altLang="en-US" sz="1600" b="0" i="0" dirty="0">
                            <a:solidFill>
                              <a:schemeClr val="tx1"/>
                            </a:solidFill>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258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403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278969"/>
                      </a:ext>
                    </a:extLst>
                  </a:tr>
                  <a:tr h="590677">
                    <a:tc>
                      <a:txBody>
                        <a:bodyPr/>
                        <a:lstStyle/>
                        <a:p>
                          <a:r>
                            <a:rPr lang="en-US" altLang="zh-TW" sz="1600" b="0" i="0" dirty="0">
                              <a:solidFill>
                                <a:schemeClr val="tx1"/>
                              </a:solidFill>
                            </a:rPr>
                            <a:t>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669" t="-381443" r="-47673" b="-585567"/>
                          </a:stretch>
                        </a:blip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125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239</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60291"/>
                      </a:ext>
                    </a:extLst>
                  </a:tr>
                  <a:tr h="595630">
                    <a:tc>
                      <a:txBody>
                        <a:bodyPr/>
                        <a:lstStyle/>
                        <a:p>
                          <a:r>
                            <a:rPr lang="en-US" altLang="zh-TW" sz="1600" b="0" i="0" dirty="0">
                              <a:solidFill>
                                <a:schemeClr val="tx1"/>
                              </a:solidFill>
                            </a:rPr>
                            <a:t>t6</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669" t="-476531" r="-47673" b="-479592"/>
                          </a:stretch>
                        </a:blipFill>
                      </a:tcPr>
                    </a:tc>
                    <a:tc>
                      <a:txBody>
                        <a:bodyPr/>
                        <a:lstStyle/>
                        <a:p>
                          <a:r>
                            <a:rPr lang="en-US" altLang="zh-TW" sz="1600" b="0" i="0" dirty="0">
                              <a:solidFill>
                                <a:schemeClr val="tx1"/>
                              </a:solidFill>
                            </a:rPr>
                            <a: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403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413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1979598"/>
                      </a:ext>
                    </a:extLst>
                  </a:tr>
                  <a:tr h="595630">
                    <a:tc>
                      <a:txBody>
                        <a:bodyPr/>
                        <a:lstStyle/>
                        <a:p>
                          <a:r>
                            <a:rPr lang="en-US" altLang="zh-TW" sz="1600" b="0" i="0" dirty="0">
                              <a:solidFill>
                                <a:schemeClr val="tx1"/>
                              </a:solidFill>
                            </a:rPr>
                            <a:t>t8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669" t="-582474" r="-47673" b="-384536"/>
                          </a:stretch>
                        </a:blipFill>
                      </a:tcPr>
                    </a:tc>
                    <a:tc>
                      <a:txBody>
                        <a:bodyPr/>
                        <a:lstStyle/>
                        <a:p>
                          <a:r>
                            <a:rPr lang="en-US" altLang="zh-TW" sz="1600" b="0" i="0" dirty="0">
                              <a:solidFill>
                                <a:schemeClr val="tx1"/>
                              </a:solidFill>
                            </a:rPr>
                            <a: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413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463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3658964"/>
                      </a:ext>
                    </a:extLst>
                  </a:tr>
                  <a:tr h="590677">
                    <a:tc>
                      <a:txBody>
                        <a:bodyPr/>
                        <a:lstStyle/>
                        <a:p>
                          <a:r>
                            <a:rPr lang="en-US" altLang="zh-TW" sz="1600" b="0" i="0" dirty="0">
                              <a:solidFill>
                                <a:schemeClr val="tx1"/>
                              </a:solidFill>
                            </a:rPr>
                            <a:t>t3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669" t="-682474" r="-47673" b="-284536"/>
                          </a:stretch>
                        </a:blip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238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370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853666"/>
                      </a:ext>
                    </a:extLst>
                  </a:tr>
                  <a:tr h="595630">
                    <a:tc>
                      <a:txBody>
                        <a:bodyPr/>
                        <a:lstStyle/>
                        <a:p>
                          <a:r>
                            <a:rPr lang="en-US" altLang="zh-TW" sz="1600" b="0" i="0" dirty="0">
                              <a:solidFill>
                                <a:schemeClr val="tx1"/>
                              </a:solidFill>
                            </a:rPr>
                            <a:t>t9</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669" t="-774490" r="-47673" b="-181633"/>
                          </a:stretch>
                        </a:blip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410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475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281632"/>
                      </a:ext>
                    </a:extLst>
                  </a:tr>
                  <a:tr h="590677">
                    <a:tc>
                      <a:txBody>
                        <a:bodyPr/>
                        <a:lstStyle/>
                        <a:p>
                          <a:r>
                            <a:rPr lang="en-US" altLang="zh-TW" sz="1600" b="0" i="0" dirty="0">
                              <a:solidFill>
                                <a:schemeClr val="tx1"/>
                              </a:solidFill>
                            </a:rPr>
                            <a:t>t7</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669" t="-883505" r="-47673" b="-83505"/>
                          </a:stretch>
                        </a:blip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475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505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2824035"/>
                      </a:ext>
                    </a:extLst>
                  </a:tr>
                  <a:tr h="467424">
                    <a:tc>
                      <a:txBody>
                        <a:bodyPr/>
                        <a:lstStyle/>
                        <a:p>
                          <a:r>
                            <a:rPr lang="en-US" altLang="zh-TW" sz="1600" b="0" i="0" dirty="0">
                              <a:solidFill>
                                <a:schemeClr val="tx1"/>
                              </a:solidFill>
                            </a:rPr>
                            <a:t>t10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669" t="-1238961" r="-47673" b="-5195"/>
                          </a:stretch>
                        </a:blip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505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507</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594893"/>
                      </a:ext>
                    </a:extLst>
                  </a:tr>
                </a:tbl>
              </a:graphicData>
            </a:graphic>
          </p:graphicFrame>
        </mc:Fallback>
      </mc:AlternateContent>
      <p:pic>
        <p:nvPicPr>
          <p:cNvPr id="8" name="圖片 7">
            <a:extLst>
              <a:ext uri="{FF2B5EF4-FFF2-40B4-BE49-F238E27FC236}">
                <a16:creationId xmlns:a16="http://schemas.microsoft.com/office/drawing/2014/main" id="{060F1469-0F21-F280-BC3B-F2259B482F3C}"/>
              </a:ext>
            </a:extLst>
          </p:cNvPr>
          <p:cNvPicPr>
            <a:picLocks noChangeAspect="1"/>
          </p:cNvPicPr>
          <p:nvPr/>
        </p:nvPicPr>
        <p:blipFill>
          <a:blip r:embed="rId5"/>
          <a:stretch>
            <a:fillRect/>
          </a:stretch>
        </p:blipFill>
        <p:spPr>
          <a:xfrm>
            <a:off x="6929611" y="4350"/>
            <a:ext cx="5262389" cy="544117"/>
          </a:xfrm>
          <a:prstGeom prst="rect">
            <a:avLst/>
          </a:prstGeom>
        </p:spPr>
      </p:pic>
      <p:pic>
        <p:nvPicPr>
          <p:cNvPr id="9" name="圖片 8">
            <a:extLst>
              <a:ext uri="{FF2B5EF4-FFF2-40B4-BE49-F238E27FC236}">
                <a16:creationId xmlns:a16="http://schemas.microsoft.com/office/drawing/2014/main" id="{8ABC98D2-CC72-F007-D169-F0EB7814888E}"/>
              </a:ext>
            </a:extLst>
          </p:cNvPr>
          <p:cNvPicPr>
            <a:picLocks noChangeAspect="1"/>
          </p:cNvPicPr>
          <p:nvPr/>
        </p:nvPicPr>
        <p:blipFill>
          <a:blip r:embed="rId6"/>
          <a:stretch>
            <a:fillRect/>
          </a:stretch>
        </p:blipFill>
        <p:spPr>
          <a:xfrm>
            <a:off x="9527754" y="595834"/>
            <a:ext cx="2563836" cy="563775"/>
          </a:xfrm>
          <a:prstGeom prst="rect">
            <a:avLst/>
          </a:prstGeom>
        </p:spPr>
      </p:pic>
    </p:spTree>
    <p:extLst>
      <p:ext uri="{BB962C8B-B14F-4D97-AF65-F5344CB8AC3E}">
        <p14:creationId xmlns:p14="http://schemas.microsoft.com/office/powerpoint/2010/main" val="1658646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CC552F50-6CBC-1D71-20D6-1B281D0776B5}"/>
              </a:ext>
            </a:extLst>
          </p:cNvPr>
          <p:cNvPicPr>
            <a:picLocks noChangeAspect="1"/>
          </p:cNvPicPr>
          <p:nvPr/>
        </p:nvPicPr>
        <p:blipFill>
          <a:blip r:embed="rId2"/>
          <a:stretch>
            <a:fillRect/>
          </a:stretch>
        </p:blipFill>
        <p:spPr>
          <a:xfrm>
            <a:off x="9339504" y="1134737"/>
            <a:ext cx="2852496" cy="2827028"/>
          </a:xfrm>
          <a:prstGeom prst="rect">
            <a:avLst/>
          </a:prstGeom>
        </p:spPr>
      </p:pic>
      <p:pic>
        <p:nvPicPr>
          <p:cNvPr id="7" name="圖片 6">
            <a:extLst>
              <a:ext uri="{FF2B5EF4-FFF2-40B4-BE49-F238E27FC236}">
                <a16:creationId xmlns:a16="http://schemas.microsoft.com/office/drawing/2014/main" id="{0B1E9DC7-9815-54C8-1AB5-9C4A394CA01C}"/>
              </a:ext>
            </a:extLst>
          </p:cNvPr>
          <p:cNvPicPr>
            <a:picLocks noChangeAspect="1"/>
          </p:cNvPicPr>
          <p:nvPr/>
        </p:nvPicPr>
        <p:blipFill>
          <a:blip r:embed="rId3"/>
          <a:stretch>
            <a:fillRect/>
          </a:stretch>
        </p:blipFill>
        <p:spPr>
          <a:xfrm>
            <a:off x="9947899" y="3961765"/>
            <a:ext cx="2244101" cy="2995387"/>
          </a:xfrm>
          <a:prstGeom prst="rect">
            <a:avLst/>
          </a:prstGeom>
        </p:spPr>
      </p:pic>
      <mc:AlternateContent xmlns:mc="http://schemas.openxmlformats.org/markup-compatibility/2006">
        <mc:Choice xmlns:a14="http://schemas.microsoft.com/office/drawing/2010/main" Requires="a14">
          <p:graphicFrame>
            <p:nvGraphicFramePr>
              <p:cNvPr id="3" name="表格 3">
                <a:extLst>
                  <a:ext uri="{FF2B5EF4-FFF2-40B4-BE49-F238E27FC236}">
                    <a16:creationId xmlns:a16="http://schemas.microsoft.com/office/drawing/2014/main" id="{6B2EBBF1-4E59-DBCA-FBD3-7EB1238F8241}"/>
                  </a:ext>
                </a:extLst>
              </p:cNvPr>
              <p:cNvGraphicFramePr>
                <a:graphicFrameLocks noGrp="1"/>
              </p:cNvGraphicFramePr>
              <p:nvPr>
                <p:extLst>
                  <p:ext uri="{D42A27DB-BD31-4B8C-83A1-F6EECF244321}">
                    <p14:modId xmlns:p14="http://schemas.microsoft.com/office/powerpoint/2010/main" val="3964108655"/>
                  </p:ext>
                </p:extLst>
              </p:nvPr>
            </p:nvGraphicFramePr>
            <p:xfrm>
              <a:off x="95375" y="366687"/>
              <a:ext cx="6994330" cy="6265482"/>
            </p:xfrm>
            <a:graphic>
              <a:graphicData uri="http://schemas.openxmlformats.org/drawingml/2006/table">
                <a:tbl>
                  <a:tblPr firstRow="1" bandRow="1">
                    <a:tableStyleId>{5C22544A-7EE6-4342-B048-85BDC9FD1C3A}</a:tableStyleId>
                  </a:tblPr>
                  <a:tblGrid>
                    <a:gridCol w="630464">
                      <a:extLst>
                        <a:ext uri="{9D8B030D-6E8A-4147-A177-3AD203B41FA5}">
                          <a16:colId xmlns:a16="http://schemas.microsoft.com/office/drawing/2014/main" val="4092738546"/>
                        </a:ext>
                      </a:extLst>
                    </a:gridCol>
                    <a:gridCol w="4314729">
                      <a:extLst>
                        <a:ext uri="{9D8B030D-6E8A-4147-A177-3AD203B41FA5}">
                          <a16:colId xmlns:a16="http://schemas.microsoft.com/office/drawing/2014/main" val="678947849"/>
                        </a:ext>
                      </a:extLst>
                    </a:gridCol>
                    <a:gridCol w="716096">
                      <a:extLst>
                        <a:ext uri="{9D8B030D-6E8A-4147-A177-3AD203B41FA5}">
                          <a16:colId xmlns:a16="http://schemas.microsoft.com/office/drawing/2014/main" val="4289086683"/>
                        </a:ext>
                      </a:extLst>
                    </a:gridCol>
                    <a:gridCol w="661012">
                      <a:extLst>
                        <a:ext uri="{9D8B030D-6E8A-4147-A177-3AD203B41FA5}">
                          <a16:colId xmlns:a16="http://schemas.microsoft.com/office/drawing/2014/main" val="4043104326"/>
                        </a:ext>
                      </a:extLst>
                    </a:gridCol>
                    <a:gridCol w="672029">
                      <a:extLst>
                        <a:ext uri="{9D8B030D-6E8A-4147-A177-3AD203B41FA5}">
                          <a16:colId xmlns:a16="http://schemas.microsoft.com/office/drawing/2014/main" val="732334124"/>
                        </a:ext>
                      </a:extLst>
                    </a:gridCol>
                  </a:tblGrid>
                  <a:tr h="370840">
                    <a:tc>
                      <a:txBody>
                        <a:bodyPr/>
                        <a:lstStyle/>
                        <a:p>
                          <a:r>
                            <a:rPr lang="en-US" altLang="zh-TW" sz="1600" b="0" i="0" dirty="0">
                              <a:solidFill>
                                <a:schemeClr val="tx1"/>
                              </a:solidFill>
                            </a:rPr>
                            <a:t>Tasks</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600" b="0" i="1" smtClean="0">
                                        <a:solidFill>
                                          <a:schemeClr val="tx1"/>
                                        </a:solidFill>
                                        <a:latin typeface="Cambria Math" panose="02040503050406030204" pitchFamily="18" charset="0"/>
                                      </a:rPr>
                                    </m:ctrlPr>
                                  </m:sSubPr>
                                  <m:e>
                                    <m:r>
                                      <m:rPr>
                                        <m:sty m:val="p"/>
                                      </m:rPr>
                                      <a:rPr lang="en-US" altLang="zh-TW" sz="1600" b="0" i="1" smtClean="0">
                                        <a:solidFill>
                                          <a:schemeClr val="tx1"/>
                                        </a:solidFill>
                                        <a:latin typeface="Cambria Math" panose="02040503050406030204" pitchFamily="18" charset="0"/>
                                      </a:rPr>
                                      <m:t>R</m:t>
                                    </m:r>
                                    <m:r>
                                      <a:rPr lang="en-US" altLang="zh-TW" sz="1600" b="0" i="1" smtClean="0">
                                        <a:solidFill>
                                          <a:schemeClr val="tx1"/>
                                        </a:solidFill>
                                        <a:latin typeface="Cambria Math" panose="02040503050406030204" pitchFamily="18" charset="0"/>
                                      </a:rPr>
                                      <m:t>𝑎𝑛𝑘</m:t>
                                    </m:r>
                                  </m:e>
                                  <m:sub>
                                    <m:r>
                                      <a:rPr lang="en-US" altLang="zh-TW" sz="1600" b="0" i="1" smtClean="0">
                                        <a:solidFill>
                                          <a:schemeClr val="tx1"/>
                                        </a:solidFill>
                                        <a:latin typeface="Cambria Math" panose="02040503050406030204" pitchFamily="18" charset="0"/>
                                      </a:rPr>
                                      <m:t>𝑝𝑟𝑜𝑝𝑜𝑠𝑒𝑑</m:t>
                                    </m:r>
                                  </m:sub>
                                </m:sSub>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rPr>
                            <a:t>processor</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EST</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EFT</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4116512"/>
                      </a:ext>
                    </a:extLst>
                  </a:tr>
                  <a:tr h="370840">
                    <a:tc>
                      <a:txBody>
                        <a:bodyPr/>
                        <a:lstStyle/>
                        <a:p>
                          <a:r>
                            <a:rPr lang="en-US" altLang="zh-TW" sz="1600" b="0" i="0" dirty="0">
                              <a:solidFill>
                                <a:schemeClr val="tx1"/>
                              </a:solidFill>
                            </a:rPr>
                            <a:t>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171−125</m:t>
                                    </m:r>
                                  </m:num>
                                  <m:den>
                                    <m:r>
                                      <a:rPr lang="en-US" altLang="zh-TW" sz="1600" b="0" i="1" smtClean="0">
                                        <a:solidFill>
                                          <a:schemeClr val="tx1"/>
                                        </a:solidFill>
                                        <a:latin typeface="Cambria Math" panose="02040503050406030204" pitchFamily="18" charset="0"/>
                                      </a:rPr>
                                      <m:t>171/25</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13+149</m:t>
                                        </m:r>
                                      </m:e>
                                    </m:d>
                                  </m:e>
                                </m:func>
                                <m:r>
                                  <a:rPr lang="en-US" altLang="zh-TW" sz="1600" b="0" i="1" smtClean="0">
                                    <a:solidFill>
                                      <a:schemeClr val="tx1"/>
                                    </a:solidFill>
                                    <a:latin typeface="Cambria Math" panose="02040503050406030204" pitchFamily="18" charset="0"/>
                                  </a:rPr>
                                  <m:t>=195.5</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125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8933509"/>
                      </a:ext>
                    </a:extLst>
                  </a:tr>
                  <a:tr h="370840">
                    <a:tc>
                      <a:txBody>
                        <a:bodyPr/>
                        <a:lstStyle/>
                        <a:p>
                          <a:r>
                            <a:rPr lang="en-US" altLang="zh-TW" sz="1600" b="0" i="0" dirty="0">
                              <a:solidFill>
                                <a:schemeClr val="tx1"/>
                              </a:solidFill>
                            </a:rPr>
                            <a:t>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184−120</m:t>
                                    </m:r>
                                  </m:num>
                                  <m:den>
                                    <m:r>
                                      <a:rPr lang="en-US" altLang="zh-TW" sz="1600" b="0" i="1" smtClean="0">
                                        <a:solidFill>
                                          <a:schemeClr val="tx1"/>
                                        </a:solidFill>
                                        <a:latin typeface="Cambria Math" panose="02040503050406030204" pitchFamily="18" charset="0"/>
                                      </a:rPr>
                                      <m:t>184/120</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57+50.5</m:t>
                                        </m:r>
                                      </m:e>
                                    </m:d>
                                  </m:e>
                                </m:func>
                                <m:r>
                                  <a:rPr lang="en-US" altLang="zh-TW" sz="1600" b="0" i="1" smtClean="0">
                                    <a:solidFill>
                                      <a:schemeClr val="tx1"/>
                                    </a:solidFill>
                                    <a:latin typeface="Cambria Math" panose="02040503050406030204" pitchFamily="18" charset="0"/>
                                  </a:rPr>
                                  <m:t>=149</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138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258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8932598"/>
                      </a:ext>
                    </a:extLst>
                  </a:tr>
                  <a:tr h="370840">
                    <a:tc>
                      <a:txBody>
                        <a:bodyPr/>
                        <a:lstStyle/>
                        <a:p>
                          <a:r>
                            <a:rPr lang="en-US" altLang="zh-TW" sz="1600" b="0" i="0" dirty="0">
                              <a:solidFill>
                                <a:schemeClr val="tx1"/>
                              </a:solidFill>
                            </a:rPr>
                            <a:t>t4</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192−145</m:t>
                                    </m:r>
                                  </m:num>
                                  <m:den>
                                    <m:r>
                                      <a:rPr lang="en-US" altLang="zh-TW" sz="1600" b="0" i="1" smtClean="0">
                                        <a:solidFill>
                                          <a:schemeClr val="tx1"/>
                                        </a:solidFill>
                                        <a:latin typeface="Cambria Math" panose="02040503050406030204" pitchFamily="18" charset="0"/>
                                      </a:rPr>
                                      <m:t>192/145</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11+73</m:t>
                                        </m:r>
                                      </m:e>
                                    </m:d>
                                  </m:e>
                                </m:func>
                                <m:r>
                                  <a:rPr lang="en-US" altLang="zh-TW" sz="1600" b="0" i="1" smtClean="0">
                                    <a:solidFill>
                                      <a:schemeClr val="tx1"/>
                                    </a:solidFill>
                                    <a:latin typeface="Cambria Math" panose="02040503050406030204" pitchFamily="18" charset="0"/>
                                  </a:rPr>
                                  <m:t>=119.5</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258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403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278969"/>
                      </a:ext>
                    </a:extLst>
                  </a:tr>
                  <a:tr h="370840">
                    <a:tc>
                      <a:txBody>
                        <a:bodyPr/>
                        <a:lstStyle/>
                        <a:p>
                          <a:r>
                            <a:rPr lang="en-US" altLang="zh-TW" sz="1600" b="0" i="0" dirty="0">
                              <a:solidFill>
                                <a:schemeClr val="tx1"/>
                              </a:solidFill>
                            </a:rPr>
                            <a:t>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133−114</m:t>
                                    </m:r>
                                  </m:num>
                                  <m:den>
                                    <m:r>
                                      <a:rPr lang="en-US" altLang="zh-TW" sz="1600" b="0" i="1" smtClean="0">
                                        <a:solidFill>
                                          <a:schemeClr val="tx1"/>
                                        </a:solidFill>
                                        <a:latin typeface="Cambria Math" panose="02040503050406030204" pitchFamily="18" charset="0"/>
                                      </a:rPr>
                                      <m:t>133/114</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30+50.5</m:t>
                                        </m:r>
                                      </m:e>
                                    </m:d>
                                  </m:e>
                                </m:func>
                                <m:r>
                                  <a:rPr lang="en-US" altLang="zh-TW" sz="1600" b="0" i="1" smtClean="0">
                                    <a:solidFill>
                                      <a:schemeClr val="tx1"/>
                                    </a:solidFill>
                                    <a:latin typeface="Cambria Math" panose="02040503050406030204" pitchFamily="18" charset="0"/>
                                  </a:rPr>
                                  <m:t>=97</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125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239</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60291"/>
                      </a:ext>
                    </a:extLst>
                  </a:tr>
                  <a:tr h="370840">
                    <a:tc>
                      <a:txBody>
                        <a:bodyPr/>
                        <a:lstStyle/>
                        <a:p>
                          <a:r>
                            <a:rPr lang="en-US" altLang="zh-TW" sz="1600" b="0" i="0" dirty="0">
                              <a:solidFill>
                                <a:schemeClr val="tx1"/>
                              </a:solidFill>
                            </a:rPr>
                            <a:t>t6</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152−10</m:t>
                                    </m:r>
                                  </m:num>
                                  <m:den>
                                    <m:r>
                                      <a:rPr lang="en-US" altLang="zh-TW" sz="1600" b="0" i="1" smtClean="0">
                                        <a:solidFill>
                                          <a:schemeClr val="tx1"/>
                                        </a:solidFill>
                                        <a:latin typeface="Cambria Math" panose="02040503050406030204" pitchFamily="18" charset="0"/>
                                      </a:rPr>
                                      <m:t>152/10</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5+73</m:t>
                                        </m:r>
                                      </m:e>
                                    </m:d>
                                  </m:e>
                                </m:func>
                                <m:r>
                                  <a:rPr lang="en-US" altLang="zh-TW" sz="1600" b="0" i="1" smtClean="0">
                                    <a:solidFill>
                                      <a:schemeClr val="tx1"/>
                                    </a:solidFill>
                                    <a:latin typeface="Cambria Math" panose="02040503050406030204" pitchFamily="18" charset="0"/>
                                  </a:rPr>
                                  <m:t>=87</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403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413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1979598"/>
                      </a:ext>
                    </a:extLst>
                  </a:tr>
                  <a:tr h="370840">
                    <a:tc>
                      <a:txBody>
                        <a:bodyPr/>
                        <a:lstStyle/>
                        <a:p>
                          <a:r>
                            <a:rPr lang="en-US" altLang="zh-TW" sz="1600" b="0" i="0" dirty="0">
                              <a:solidFill>
                                <a:schemeClr val="tx1"/>
                              </a:solidFill>
                            </a:rPr>
                            <a:t>t8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126−50</m:t>
                                    </m:r>
                                  </m:num>
                                  <m:den>
                                    <m:r>
                                      <a:rPr lang="en-US" altLang="zh-TW" sz="1600" b="0" i="1" smtClean="0">
                                        <a:solidFill>
                                          <a:schemeClr val="tx1"/>
                                        </a:solidFill>
                                        <a:latin typeface="Cambria Math" panose="02040503050406030204" pitchFamily="18" charset="0"/>
                                      </a:rPr>
                                      <m:t>126/50</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42+0.5</m:t>
                                        </m:r>
                                      </m:e>
                                    </m:d>
                                  </m:e>
                                </m:func>
                                <m:r>
                                  <a:rPr lang="en-US" altLang="zh-TW" sz="1600" b="0" i="1" smtClean="0">
                                    <a:solidFill>
                                      <a:schemeClr val="tx1"/>
                                    </a:solidFill>
                                    <a:latin typeface="Cambria Math" panose="02040503050406030204" pitchFamily="18" charset="0"/>
                                  </a:rPr>
                                  <m:t>=73</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413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463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3658964"/>
                      </a:ext>
                    </a:extLst>
                  </a:tr>
                  <a:tr h="370840">
                    <a:tc>
                      <a:txBody>
                        <a:bodyPr/>
                        <a:lstStyle/>
                        <a:p>
                          <a:r>
                            <a:rPr lang="en-US" altLang="zh-TW" sz="1600" b="0" i="0" dirty="0">
                              <a:solidFill>
                                <a:schemeClr val="tx1"/>
                              </a:solidFill>
                            </a:rPr>
                            <a:t>t3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131−26</m:t>
                                    </m:r>
                                  </m:num>
                                  <m:den>
                                    <m:r>
                                      <a:rPr lang="en-US" altLang="zh-TW" sz="1600" b="0" i="1" smtClean="0">
                                        <a:solidFill>
                                          <a:schemeClr val="tx1"/>
                                        </a:solidFill>
                                        <a:latin typeface="Cambria Math" panose="02040503050406030204" pitchFamily="18" charset="0"/>
                                      </a:rPr>
                                      <m:t>131/26</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16+32</m:t>
                                        </m:r>
                                      </m:e>
                                    </m:d>
                                  </m:e>
                                </m:func>
                                <m:r>
                                  <a:rPr lang="en-US" altLang="zh-TW" sz="1600" b="0" i="1" smtClean="0">
                                    <a:solidFill>
                                      <a:schemeClr val="tx1"/>
                                    </a:solidFill>
                                    <a:latin typeface="Cambria Math" panose="02040503050406030204" pitchFamily="18" charset="0"/>
                                  </a:rPr>
                                  <m:t>=68.5</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highlight>
                                <a:srgbClr val="FFFF00"/>
                              </a:highlight>
                            </a:rPr>
                            <a:t>2</a:t>
                          </a:r>
                          <a:endParaRPr lang="zh-TW" altLang="en-US" sz="1600" b="0" i="0" dirty="0">
                            <a:solidFill>
                              <a:schemeClr val="tx1"/>
                            </a:solidFill>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238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370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853666"/>
                      </a:ext>
                    </a:extLst>
                  </a:tr>
                  <a:tr h="370840">
                    <a:tc>
                      <a:txBody>
                        <a:bodyPr/>
                        <a:lstStyle/>
                        <a:p>
                          <a:r>
                            <a:rPr lang="en-US" altLang="zh-TW" sz="1600" b="0" i="0" dirty="0">
                              <a:solidFill>
                                <a:schemeClr val="tx1"/>
                              </a:solidFill>
                            </a:rPr>
                            <a:t>t9</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191−65</m:t>
                                    </m:r>
                                  </m:num>
                                  <m:den>
                                    <m:r>
                                      <a:rPr lang="en-US" altLang="zh-TW" sz="1600" b="0" i="1" smtClean="0">
                                        <a:solidFill>
                                          <a:schemeClr val="tx1"/>
                                        </a:solidFill>
                                        <a:latin typeface="Cambria Math" panose="02040503050406030204" pitchFamily="18" charset="0"/>
                                      </a:rPr>
                                      <m:t>191/65</m:t>
                                    </m:r>
                                  </m:den>
                                </m:f>
                                <m:r>
                                  <a:rPr lang="en-US" altLang="zh-TW" sz="1600" b="0" i="1" smtClean="0">
                                    <a:solidFill>
                                      <a:schemeClr val="tx1"/>
                                    </a:solidFill>
                                    <a:latin typeface="Cambria Math" panose="02040503050406030204" pitchFamily="18" charset="0"/>
                                  </a:rPr>
                                  <m:t>+</m:t>
                                </m:r>
                                <m:r>
                                  <m:rPr>
                                    <m:sty m:val="p"/>
                                  </m:rPr>
                                  <a:rPr lang="en-US" altLang="zh-TW" sz="1600" b="0" i="0" smtClean="0">
                                    <a:solidFill>
                                      <a:schemeClr val="tx1"/>
                                    </a:solidFill>
                                    <a:latin typeface="Cambria Math" panose="02040503050406030204" pitchFamily="18" charset="0"/>
                                  </a:rPr>
                                  <m:t>max</m:t>
                                </m:r>
                                <m:r>
                                  <a:rPr lang="en-US" altLang="zh-TW" sz="1600" b="0" i="1" smtClean="0">
                                    <a:solidFill>
                                      <a:schemeClr val="tx1"/>
                                    </a:solidFill>
                                    <a:latin typeface="Cambria Math" panose="02040503050406030204" pitchFamily="18" charset="0"/>
                                  </a:rPr>
                                  <m:t>⁡{7+0.5}</m:t>
                                </m:r>
                                <m:r>
                                  <m:rPr>
                                    <m:nor/>
                                  </m:rPr>
                                  <a:rPr lang="en-US" altLang="zh-TW" sz="1600" b="0" i="0" dirty="0">
                                    <a:solidFill>
                                      <a:schemeClr val="tx1"/>
                                    </a:solidFill>
                                  </a:rPr>
                                  <m:t>=50.5</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410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475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281632"/>
                      </a:ext>
                    </a:extLst>
                  </a:tr>
                  <a:tr h="370840">
                    <a:tc>
                      <a:txBody>
                        <a:bodyPr/>
                        <a:lstStyle/>
                        <a:p>
                          <a:r>
                            <a:rPr lang="en-US" altLang="zh-TW" sz="1600" b="0" i="0" dirty="0">
                              <a:solidFill>
                                <a:schemeClr val="tx1"/>
                              </a:solidFill>
                            </a:rPr>
                            <a:t>t7</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114−30</m:t>
                                    </m:r>
                                  </m:num>
                                  <m:den>
                                    <m:r>
                                      <a:rPr lang="en-US" altLang="zh-TW" sz="1600" b="0" i="1" smtClean="0">
                                        <a:solidFill>
                                          <a:schemeClr val="tx1"/>
                                        </a:solidFill>
                                        <a:latin typeface="Cambria Math" panose="02040503050406030204" pitchFamily="18" charset="0"/>
                                      </a:rPr>
                                      <m:t>114/30</m:t>
                                    </m:r>
                                  </m:den>
                                </m:f>
                                <m:r>
                                  <a:rPr lang="en-US" altLang="zh-TW" sz="1600" b="0" i="1" smtClean="0">
                                    <a:solidFill>
                                      <a:schemeClr val="tx1"/>
                                    </a:solidFill>
                                    <a:latin typeface="Cambria Math" panose="02040503050406030204" pitchFamily="18" charset="0"/>
                                  </a:rPr>
                                  <m:t>+</m:t>
                                </m:r>
                                <m:func>
                                  <m:funcPr>
                                    <m:ctrlPr>
                                      <a:rPr lang="en-US" altLang="zh-TW" sz="1600" b="0" i="1" smtClean="0">
                                        <a:solidFill>
                                          <a:schemeClr val="tx1"/>
                                        </a:solidFill>
                                        <a:latin typeface="Cambria Math" panose="02040503050406030204" pitchFamily="18" charset="0"/>
                                      </a:rPr>
                                    </m:ctrlPr>
                                  </m:funcPr>
                                  <m:fName>
                                    <m:r>
                                      <m:rPr>
                                        <m:sty m:val="p"/>
                                      </m:rPr>
                                      <a:rPr lang="en-US" altLang="zh-TW" sz="1600" b="0" i="0" smtClean="0">
                                        <a:solidFill>
                                          <a:schemeClr val="tx1"/>
                                        </a:solidFill>
                                        <a:latin typeface="Cambria Math" panose="02040503050406030204" pitchFamily="18" charset="0"/>
                                      </a:rPr>
                                      <m:t>max</m:t>
                                    </m:r>
                                  </m:fName>
                                  <m:e>
                                    <m:d>
                                      <m:dPr>
                                        <m:begChr m:val="{"/>
                                        <m:endChr m:val="}"/>
                                        <m:ctrlPr>
                                          <a:rPr lang="en-US" altLang="zh-TW" sz="1600" b="0" i="1" smtClean="0">
                                            <a:solidFill>
                                              <a:schemeClr val="tx1"/>
                                            </a:solidFill>
                                            <a:latin typeface="Cambria Math" panose="02040503050406030204" pitchFamily="18" charset="0"/>
                                          </a:rPr>
                                        </m:ctrlPr>
                                      </m:dPr>
                                      <m:e>
                                        <m:r>
                                          <a:rPr lang="en-US" altLang="zh-TW" sz="1600" b="0" i="1" smtClean="0">
                                            <a:solidFill>
                                              <a:schemeClr val="tx1"/>
                                            </a:solidFill>
                                            <a:latin typeface="Cambria Math" panose="02040503050406030204" pitchFamily="18" charset="0"/>
                                          </a:rPr>
                                          <m:t>9+0.5</m:t>
                                        </m:r>
                                      </m:e>
                                    </m:d>
                                  </m:e>
                                </m:func>
                                <m:r>
                                  <a:rPr lang="en-US" altLang="zh-TW" sz="1600" b="0" i="1" smtClean="0">
                                    <a:solidFill>
                                      <a:schemeClr val="tx1"/>
                                    </a:solidFill>
                                    <a:latin typeface="Cambria Math" panose="02040503050406030204" pitchFamily="18" charset="0"/>
                                  </a:rPr>
                                  <m:t>=32</m:t>
                                </m:r>
                              </m:oMath>
                            </m:oMathPara>
                          </a14:m>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475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505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2824035"/>
                      </a:ext>
                    </a:extLst>
                  </a:tr>
                  <a:tr h="370840">
                    <a:tc>
                      <a:txBody>
                        <a:bodyPr/>
                        <a:lstStyle/>
                        <a:p>
                          <a:r>
                            <a:rPr lang="en-US" altLang="zh-TW" sz="1600" b="0" i="0" dirty="0">
                              <a:solidFill>
                                <a:schemeClr val="tx1"/>
                              </a:solidFill>
                            </a:rPr>
                            <a:t>t10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f>
                                <m:fPr>
                                  <m:ctrlPr>
                                    <a:rPr lang="en-US" altLang="zh-TW" sz="1600" b="0" i="1" smtClean="0">
                                      <a:solidFill>
                                        <a:schemeClr val="tx1"/>
                                      </a:solidFill>
                                      <a:latin typeface="Cambria Math" panose="02040503050406030204" pitchFamily="18" charset="0"/>
                                    </a:rPr>
                                  </m:ctrlPr>
                                </m:fPr>
                                <m:num>
                                  <m:r>
                                    <a:rPr lang="en-US" altLang="zh-TW" sz="1600" b="0" i="1" smtClean="0">
                                      <a:solidFill>
                                        <a:schemeClr val="tx1"/>
                                      </a:solidFill>
                                      <a:latin typeface="Cambria Math" panose="02040503050406030204" pitchFamily="18" charset="0"/>
                                    </a:rPr>
                                    <m:t>3−2</m:t>
                                  </m:r>
                                </m:num>
                                <m:den>
                                  <m:r>
                                    <a:rPr lang="en-US" altLang="zh-TW" sz="1600" b="0" i="1" smtClean="0">
                                      <a:solidFill>
                                        <a:schemeClr val="tx1"/>
                                      </a:solidFill>
                                      <a:latin typeface="Cambria Math" panose="02040503050406030204" pitchFamily="18" charset="0"/>
                                    </a:rPr>
                                    <m:t>3/2</m:t>
                                  </m:r>
                                </m:den>
                              </m:f>
                            </m:oMath>
                          </a14:m>
                          <a:r>
                            <a:rPr lang="zh-TW" altLang="en-US" sz="1600" b="0" i="0" dirty="0">
                              <a:solidFill>
                                <a:schemeClr val="tx1"/>
                              </a:solidFill>
                            </a:rPr>
                            <a:t> </a:t>
                          </a:r>
                          <a:r>
                            <a:rPr lang="en-US" altLang="zh-TW" sz="1600" b="0" i="0" dirty="0">
                              <a:solidFill>
                                <a:schemeClr val="tx1"/>
                              </a:solidFill>
                            </a:rPr>
                            <a:t>=0.6</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505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507</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594893"/>
                      </a:ext>
                    </a:extLst>
                  </a:tr>
                </a:tbl>
              </a:graphicData>
            </a:graphic>
          </p:graphicFrame>
        </mc:Choice>
        <mc:Fallback>
          <p:graphicFrame>
            <p:nvGraphicFramePr>
              <p:cNvPr id="3" name="表格 3">
                <a:extLst>
                  <a:ext uri="{FF2B5EF4-FFF2-40B4-BE49-F238E27FC236}">
                    <a16:creationId xmlns:a16="http://schemas.microsoft.com/office/drawing/2014/main" id="{6B2EBBF1-4E59-DBCA-FBD3-7EB1238F8241}"/>
                  </a:ext>
                </a:extLst>
              </p:cNvPr>
              <p:cNvGraphicFramePr>
                <a:graphicFrameLocks noGrp="1"/>
              </p:cNvGraphicFramePr>
              <p:nvPr>
                <p:extLst>
                  <p:ext uri="{D42A27DB-BD31-4B8C-83A1-F6EECF244321}">
                    <p14:modId xmlns:p14="http://schemas.microsoft.com/office/powerpoint/2010/main" val="3964108655"/>
                  </p:ext>
                </p:extLst>
              </p:nvPr>
            </p:nvGraphicFramePr>
            <p:xfrm>
              <a:off x="95375" y="366687"/>
              <a:ext cx="6994330" cy="6265482"/>
            </p:xfrm>
            <a:graphic>
              <a:graphicData uri="http://schemas.openxmlformats.org/drawingml/2006/table">
                <a:tbl>
                  <a:tblPr firstRow="1" bandRow="1">
                    <a:tableStyleId>{5C22544A-7EE6-4342-B048-85BDC9FD1C3A}</a:tableStyleId>
                  </a:tblPr>
                  <a:tblGrid>
                    <a:gridCol w="630464">
                      <a:extLst>
                        <a:ext uri="{9D8B030D-6E8A-4147-A177-3AD203B41FA5}">
                          <a16:colId xmlns:a16="http://schemas.microsoft.com/office/drawing/2014/main" val="4092738546"/>
                        </a:ext>
                      </a:extLst>
                    </a:gridCol>
                    <a:gridCol w="4314729">
                      <a:extLst>
                        <a:ext uri="{9D8B030D-6E8A-4147-A177-3AD203B41FA5}">
                          <a16:colId xmlns:a16="http://schemas.microsoft.com/office/drawing/2014/main" val="678947849"/>
                        </a:ext>
                      </a:extLst>
                    </a:gridCol>
                    <a:gridCol w="716096">
                      <a:extLst>
                        <a:ext uri="{9D8B030D-6E8A-4147-A177-3AD203B41FA5}">
                          <a16:colId xmlns:a16="http://schemas.microsoft.com/office/drawing/2014/main" val="4289086683"/>
                        </a:ext>
                      </a:extLst>
                    </a:gridCol>
                    <a:gridCol w="661012">
                      <a:extLst>
                        <a:ext uri="{9D8B030D-6E8A-4147-A177-3AD203B41FA5}">
                          <a16:colId xmlns:a16="http://schemas.microsoft.com/office/drawing/2014/main" val="4043104326"/>
                        </a:ext>
                      </a:extLst>
                    </a:gridCol>
                    <a:gridCol w="672029">
                      <a:extLst>
                        <a:ext uri="{9D8B030D-6E8A-4147-A177-3AD203B41FA5}">
                          <a16:colId xmlns:a16="http://schemas.microsoft.com/office/drawing/2014/main" val="732334124"/>
                        </a:ext>
                      </a:extLst>
                    </a:gridCol>
                  </a:tblGrid>
                  <a:tr h="457200">
                    <a:tc>
                      <a:txBody>
                        <a:bodyPr/>
                        <a:lstStyle/>
                        <a:p>
                          <a:r>
                            <a:rPr lang="en-US" altLang="zh-TW" sz="1600" b="0" i="0" dirty="0">
                              <a:solidFill>
                                <a:schemeClr val="tx1"/>
                              </a:solidFill>
                            </a:rPr>
                            <a:t>Tasks</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831" t="-4000" r="-47881" b="-1276000"/>
                          </a:stretch>
                        </a:blipFill>
                      </a:tcPr>
                    </a:tc>
                    <a:tc>
                      <a:txBody>
                        <a:bodyPr/>
                        <a:lstStyle/>
                        <a:p>
                          <a:r>
                            <a:rPr lang="en-US" altLang="zh-TW" sz="1200" b="0" i="0" dirty="0">
                              <a:solidFill>
                                <a:schemeClr val="tx1"/>
                              </a:solidFill>
                            </a:rPr>
                            <a:t>processor</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EST</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EFT</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4116512"/>
                      </a:ext>
                    </a:extLst>
                  </a:tr>
                  <a:tr h="595630">
                    <a:tc>
                      <a:txBody>
                        <a:bodyPr/>
                        <a:lstStyle/>
                        <a:p>
                          <a:r>
                            <a:rPr lang="en-US" altLang="zh-TW" sz="1600" b="0" i="0" dirty="0">
                              <a:solidFill>
                                <a:schemeClr val="tx1"/>
                              </a:solidFill>
                            </a:rPr>
                            <a:t>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831" t="-79592" r="-47881" b="-876531"/>
                          </a:stretch>
                        </a:blip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125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8933509"/>
                      </a:ext>
                    </a:extLst>
                  </a:tr>
                  <a:tr h="590677">
                    <a:tc>
                      <a:txBody>
                        <a:bodyPr/>
                        <a:lstStyle/>
                        <a:p>
                          <a:r>
                            <a:rPr lang="en-US" altLang="zh-TW" sz="1600" b="0" i="0" dirty="0">
                              <a:solidFill>
                                <a:schemeClr val="tx1"/>
                              </a:solidFill>
                            </a:rPr>
                            <a:t>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831" t="-181443" r="-47881" b="-785567"/>
                          </a:stretch>
                        </a:blipFill>
                      </a:tcPr>
                    </a:tc>
                    <a:tc>
                      <a:txBody>
                        <a:bodyPr/>
                        <a:lstStyle/>
                        <a:p>
                          <a:r>
                            <a:rPr lang="en-US" altLang="zh-TW" sz="1600" b="0" i="0" dirty="0">
                              <a:solidFill>
                                <a:schemeClr val="tx1"/>
                              </a:solidFill>
                            </a:rPr>
                            <a: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138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258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8932598"/>
                      </a:ext>
                    </a:extLst>
                  </a:tr>
                  <a:tr h="595630">
                    <a:tc>
                      <a:txBody>
                        <a:bodyPr/>
                        <a:lstStyle/>
                        <a:p>
                          <a:r>
                            <a:rPr lang="en-US" altLang="zh-TW" sz="1600" b="0" i="0" dirty="0">
                              <a:solidFill>
                                <a:schemeClr val="tx1"/>
                              </a:solidFill>
                            </a:rPr>
                            <a:t>t4</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831" t="-281443" r="-47881" b="-685567"/>
                          </a:stretch>
                        </a:blipFill>
                      </a:tcPr>
                    </a:tc>
                    <a:tc>
                      <a:txBody>
                        <a:bodyPr/>
                        <a:lstStyle/>
                        <a:p>
                          <a:r>
                            <a:rPr lang="en-US" altLang="zh-TW" sz="1600" b="0" i="0" dirty="0">
                              <a:solidFill>
                                <a:schemeClr val="tx1"/>
                              </a:solidFill>
                            </a:rPr>
                            <a: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258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403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278969"/>
                      </a:ext>
                    </a:extLst>
                  </a:tr>
                  <a:tr h="590677">
                    <a:tc>
                      <a:txBody>
                        <a:bodyPr/>
                        <a:lstStyle/>
                        <a:p>
                          <a:r>
                            <a:rPr lang="en-US" altLang="zh-TW" sz="1600" b="0" i="0" dirty="0">
                              <a:solidFill>
                                <a:schemeClr val="tx1"/>
                              </a:solidFill>
                            </a:rPr>
                            <a:t>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831" t="-381443" r="-47881" b="-585567"/>
                          </a:stretch>
                        </a:blip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125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239</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60291"/>
                      </a:ext>
                    </a:extLst>
                  </a:tr>
                  <a:tr h="595630">
                    <a:tc>
                      <a:txBody>
                        <a:bodyPr/>
                        <a:lstStyle/>
                        <a:p>
                          <a:r>
                            <a:rPr lang="en-US" altLang="zh-TW" sz="1600" b="0" i="0" dirty="0">
                              <a:solidFill>
                                <a:schemeClr val="tx1"/>
                              </a:solidFill>
                            </a:rPr>
                            <a:t>t6</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831" t="-476531" r="-47881" b="-479592"/>
                          </a:stretch>
                        </a:blipFill>
                      </a:tcPr>
                    </a:tc>
                    <a:tc>
                      <a:txBody>
                        <a:bodyPr/>
                        <a:lstStyle/>
                        <a:p>
                          <a:r>
                            <a:rPr lang="en-US" altLang="zh-TW" sz="1600" b="0" i="0" dirty="0">
                              <a:solidFill>
                                <a:schemeClr val="tx1"/>
                              </a:solidFill>
                            </a:rPr>
                            <a: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403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413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1979598"/>
                      </a:ext>
                    </a:extLst>
                  </a:tr>
                  <a:tr h="595630">
                    <a:tc>
                      <a:txBody>
                        <a:bodyPr/>
                        <a:lstStyle/>
                        <a:p>
                          <a:r>
                            <a:rPr lang="en-US" altLang="zh-TW" sz="1600" b="0" i="0" dirty="0">
                              <a:solidFill>
                                <a:schemeClr val="tx1"/>
                              </a:solidFill>
                            </a:rPr>
                            <a:t>t8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831" t="-576531" r="-47881" b="-379592"/>
                          </a:stretch>
                        </a:blipFill>
                      </a:tcPr>
                    </a:tc>
                    <a:tc>
                      <a:txBody>
                        <a:bodyPr/>
                        <a:lstStyle/>
                        <a:p>
                          <a:r>
                            <a:rPr lang="en-US" altLang="zh-TW" sz="1600" b="0" i="0" dirty="0">
                              <a:solidFill>
                                <a:schemeClr val="tx1"/>
                              </a:solidFill>
                            </a:rPr>
                            <a:t>1</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413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463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3658964"/>
                      </a:ext>
                    </a:extLst>
                  </a:tr>
                  <a:tr h="590677">
                    <a:tc>
                      <a:txBody>
                        <a:bodyPr/>
                        <a:lstStyle/>
                        <a:p>
                          <a:r>
                            <a:rPr lang="en-US" altLang="zh-TW" sz="1600" b="0" i="0" dirty="0">
                              <a:solidFill>
                                <a:schemeClr val="tx1"/>
                              </a:solidFill>
                            </a:rPr>
                            <a:t>t3</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831" t="-683505" r="-47881" b="-283505"/>
                          </a:stretch>
                        </a:blipFill>
                      </a:tcPr>
                    </a:tc>
                    <a:tc>
                      <a:txBody>
                        <a:bodyPr/>
                        <a:lstStyle/>
                        <a:p>
                          <a:r>
                            <a:rPr lang="en-US" altLang="zh-TW" sz="1600" b="0" i="0" dirty="0">
                              <a:solidFill>
                                <a:schemeClr val="tx1"/>
                              </a:solidFill>
                              <a:highlight>
                                <a:srgbClr val="FFFF00"/>
                              </a:highlight>
                            </a:rPr>
                            <a:t>2</a:t>
                          </a:r>
                          <a:endParaRPr lang="zh-TW" altLang="en-US" sz="1600" b="0" i="0" dirty="0">
                            <a:solidFill>
                              <a:schemeClr val="tx1"/>
                            </a:solidFill>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238</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370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853666"/>
                      </a:ext>
                    </a:extLst>
                  </a:tr>
                  <a:tr h="595630">
                    <a:tc>
                      <a:txBody>
                        <a:bodyPr/>
                        <a:lstStyle/>
                        <a:p>
                          <a:r>
                            <a:rPr lang="en-US" altLang="zh-TW" sz="1600" b="0" i="0" dirty="0">
                              <a:solidFill>
                                <a:schemeClr val="tx1"/>
                              </a:solidFill>
                            </a:rPr>
                            <a:t>t9</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831" t="-783505" r="-47881" b="-183505"/>
                          </a:stretch>
                        </a:blip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410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475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281632"/>
                      </a:ext>
                    </a:extLst>
                  </a:tr>
                  <a:tr h="590677">
                    <a:tc>
                      <a:txBody>
                        <a:bodyPr/>
                        <a:lstStyle/>
                        <a:p>
                          <a:r>
                            <a:rPr lang="en-US" altLang="zh-TW" sz="1600" b="0" i="0" dirty="0">
                              <a:solidFill>
                                <a:schemeClr val="tx1"/>
                              </a:solidFill>
                            </a:rPr>
                            <a:t>t7</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831" t="-883505" r="-47881" b="-83505"/>
                          </a:stretch>
                        </a:blip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475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505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2824035"/>
                      </a:ext>
                    </a:extLst>
                  </a:tr>
                  <a:tr h="467424">
                    <a:tc>
                      <a:txBody>
                        <a:bodyPr/>
                        <a:lstStyle/>
                        <a:p>
                          <a:r>
                            <a:rPr lang="en-US" altLang="zh-TW" sz="1600" b="0" i="0" dirty="0">
                              <a:solidFill>
                                <a:schemeClr val="tx1"/>
                              </a:solidFill>
                            </a:rPr>
                            <a:t>t10</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831" t="-1238961" r="-47881" b="-5195"/>
                          </a:stretch>
                        </a:blipFill>
                      </a:tcPr>
                    </a:tc>
                    <a:tc>
                      <a:txBody>
                        <a:bodyPr/>
                        <a:lstStyle/>
                        <a:p>
                          <a:r>
                            <a:rPr lang="en-US" altLang="zh-TW" sz="1600" b="0" i="0" dirty="0">
                              <a:solidFill>
                                <a:schemeClr val="tx1"/>
                              </a:solidFill>
                            </a:rPr>
                            <a:t>2</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505</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i="0" dirty="0">
                              <a:solidFill>
                                <a:schemeClr val="tx1"/>
                              </a:solidFill>
                            </a:rPr>
                            <a:t>507</a:t>
                          </a:r>
                          <a:endParaRPr lang="zh-TW" altLang="en-US" sz="16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594893"/>
                      </a:ext>
                    </a:extLst>
                  </a:tr>
                </a:tbl>
              </a:graphicData>
            </a:graphic>
          </p:graphicFrame>
        </mc:Fallback>
      </mc:AlternateContent>
      <p:pic>
        <p:nvPicPr>
          <p:cNvPr id="10" name="內容版面配置區 5">
            <a:extLst>
              <a:ext uri="{FF2B5EF4-FFF2-40B4-BE49-F238E27FC236}">
                <a16:creationId xmlns:a16="http://schemas.microsoft.com/office/drawing/2014/main" id="{F640D59F-ACD2-AA04-C145-AB980C8BDC88}"/>
              </a:ext>
            </a:extLst>
          </p:cNvPr>
          <p:cNvPicPr>
            <a:picLocks noGrp="1" noChangeAspect="1"/>
          </p:cNvPicPr>
          <p:nvPr>
            <p:ph idx="1"/>
          </p:nvPr>
        </p:nvPicPr>
        <p:blipFill>
          <a:blip r:embed="rId5"/>
          <a:stretch>
            <a:fillRect/>
          </a:stretch>
        </p:blipFill>
        <p:spPr>
          <a:xfrm>
            <a:off x="9527441" y="648575"/>
            <a:ext cx="2569184" cy="649057"/>
          </a:xfrm>
        </p:spPr>
      </p:pic>
      <p:pic>
        <p:nvPicPr>
          <p:cNvPr id="11" name="圖片 10">
            <a:extLst>
              <a:ext uri="{FF2B5EF4-FFF2-40B4-BE49-F238E27FC236}">
                <a16:creationId xmlns:a16="http://schemas.microsoft.com/office/drawing/2014/main" id="{17EA84F1-C8F1-6142-01A2-ADBADC67C178}"/>
              </a:ext>
            </a:extLst>
          </p:cNvPr>
          <p:cNvPicPr>
            <a:picLocks noChangeAspect="1"/>
          </p:cNvPicPr>
          <p:nvPr/>
        </p:nvPicPr>
        <p:blipFill>
          <a:blip r:embed="rId6"/>
          <a:stretch>
            <a:fillRect/>
          </a:stretch>
        </p:blipFill>
        <p:spPr>
          <a:xfrm>
            <a:off x="9432067" y="132202"/>
            <a:ext cx="2759933" cy="468973"/>
          </a:xfrm>
          <a:prstGeom prst="rect">
            <a:avLst/>
          </a:prstGeom>
        </p:spPr>
      </p:pic>
      <p:pic>
        <p:nvPicPr>
          <p:cNvPr id="12" name="圖片 11">
            <a:extLst>
              <a:ext uri="{FF2B5EF4-FFF2-40B4-BE49-F238E27FC236}">
                <a16:creationId xmlns:a16="http://schemas.microsoft.com/office/drawing/2014/main" id="{3D85B41D-9F5A-711A-599C-D2434B9FAE83}"/>
              </a:ext>
            </a:extLst>
          </p:cNvPr>
          <p:cNvPicPr>
            <a:picLocks noChangeAspect="1"/>
          </p:cNvPicPr>
          <p:nvPr/>
        </p:nvPicPr>
        <p:blipFill>
          <a:blip r:embed="rId7"/>
          <a:stretch>
            <a:fillRect/>
          </a:stretch>
        </p:blipFill>
        <p:spPr>
          <a:xfrm>
            <a:off x="6868231" y="84800"/>
            <a:ext cx="2563836" cy="563775"/>
          </a:xfrm>
          <a:prstGeom prst="rect">
            <a:avLst/>
          </a:prstGeom>
        </p:spPr>
      </p:pic>
      <mc:AlternateContent xmlns:mc="http://schemas.openxmlformats.org/markup-compatibility/2006">
        <mc:Choice xmlns:a14="http://schemas.microsoft.com/office/drawing/2010/main" Requires="a14">
          <p:sp>
            <p:nvSpPr>
              <p:cNvPr id="2" name="文字方塊 1">
                <a:extLst>
                  <a:ext uri="{FF2B5EF4-FFF2-40B4-BE49-F238E27FC236}">
                    <a16:creationId xmlns:a16="http://schemas.microsoft.com/office/drawing/2014/main" id="{5A452152-DC4F-1317-1048-5F61D21DFECC}"/>
                  </a:ext>
                </a:extLst>
              </p:cNvPr>
              <p:cNvSpPr txBox="1"/>
              <p:nvPr/>
            </p:nvSpPr>
            <p:spPr>
              <a:xfrm>
                <a:off x="7263045" y="1831194"/>
                <a:ext cx="2852496" cy="3113416"/>
              </a:xfrm>
              <a:prstGeom prst="rect">
                <a:avLst/>
              </a:prstGeom>
              <a:noFill/>
            </p:spPr>
            <p:txBody>
              <a:bodyPr wrap="square" rtlCol="0">
                <a:spAutoFit/>
              </a:bodyPr>
              <a:lstStyle/>
              <a:p>
                <a:r>
                  <a:rPr lang="en-US" altLang="zh-TW" dirty="0"/>
                  <a:t>EST(t3,p1)=463</a:t>
                </a:r>
              </a:p>
              <a:p>
                <a:r>
                  <a:rPr lang="en-US" altLang="zh-TW" dirty="0"/>
                  <a:t>EFT(t3,p1)=489</a:t>
                </a:r>
              </a:p>
              <a:p>
                <a:endParaRPr lang="en-US" altLang="zh-TW" dirty="0"/>
              </a:p>
              <a:p>
                <a:r>
                  <a:rPr lang="en-US" altLang="zh-TW" dirty="0"/>
                  <a:t>EST(t3,p1)=239</a:t>
                </a:r>
              </a:p>
              <a:p>
                <a:r>
                  <a:rPr lang="en-US" altLang="zh-TW" dirty="0"/>
                  <a:t>ETS(ts,p2)=370</a:t>
                </a:r>
              </a:p>
              <a:p>
                <a:endParaRPr lang="en-US" altLang="zh-TW" dirty="0"/>
              </a:p>
              <a:p>
                <a:r>
                  <a:rPr lang="en-US" altLang="zh-TW" dirty="0" err="1"/>
                  <a:t>Cross_Threshold</a:t>
                </a:r>
                <a:endParaRPr lang="en-US" altLang="zh-TW" dirty="0"/>
              </a:p>
              <a:p>
                <a:r>
                  <a:rPr lang="en-US" altLang="zh-TW" dirty="0"/>
                  <a:t>=</a:t>
                </a: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21</m:t>
                        </m:r>
                      </m:num>
                      <m:den>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489−370</m:t>
                            </m:r>
                          </m:num>
                          <m:den>
                            <m:r>
                              <a:rPr lang="en-US" altLang="zh-TW" b="0" i="1" smtClean="0">
                                <a:latin typeface="Cambria Math" panose="02040503050406030204" pitchFamily="18" charset="0"/>
                              </a:rPr>
                              <m:t>489/370</m:t>
                            </m:r>
                          </m:den>
                        </m:f>
                      </m:den>
                    </m:f>
                    <m:r>
                      <a:rPr lang="en-US" altLang="zh-TW" b="0" i="0" smtClean="0">
                        <a:latin typeface="Cambria Math" panose="02040503050406030204" pitchFamily="18" charset="0"/>
                      </a:rPr>
                      <m:t>=</m:t>
                    </m:r>
                    <m:f>
                      <m:fPr>
                        <m:ctrlPr>
                          <a:rPr lang="en-US" altLang="zh-TW" i="1" dirty="0" smtClean="0">
                            <a:latin typeface="Cambria Math" panose="02040503050406030204" pitchFamily="18" charset="0"/>
                          </a:rPr>
                        </m:ctrlPr>
                      </m:fPr>
                      <m:num>
                        <m:r>
                          <a:rPr lang="en-US" altLang="zh-TW" b="0" i="1" dirty="0" smtClean="0">
                            <a:latin typeface="Cambria Math" panose="02040503050406030204" pitchFamily="18" charset="0"/>
                          </a:rPr>
                          <m:t>21</m:t>
                        </m:r>
                      </m:num>
                      <m:den>
                        <m:r>
                          <a:rPr lang="en-US" altLang="zh-TW" b="0" i="1" dirty="0" smtClean="0">
                            <a:latin typeface="Cambria Math" panose="02040503050406030204" pitchFamily="18" charset="0"/>
                          </a:rPr>
                          <m:t>90</m:t>
                        </m:r>
                      </m:den>
                    </m:f>
                    <m:r>
                      <a:rPr lang="en-US" altLang="zh-TW" b="0" i="1" dirty="0" smtClean="0">
                        <a:latin typeface="Cambria Math" panose="02040503050406030204" pitchFamily="18" charset="0"/>
                      </a:rPr>
                      <m:t>=0.23</m:t>
                    </m:r>
                  </m:oMath>
                </a14:m>
                <a:endParaRPr lang="en-US" altLang="zh-TW" dirty="0"/>
              </a:p>
              <a:p>
                <a:endParaRPr lang="en-US" altLang="zh-TW" dirty="0"/>
              </a:p>
              <a:p>
                <a:endParaRPr lang="zh-TW" altLang="en-US" dirty="0"/>
              </a:p>
            </p:txBody>
          </p:sp>
        </mc:Choice>
        <mc:Fallback>
          <p:sp>
            <p:nvSpPr>
              <p:cNvPr id="2" name="文字方塊 1">
                <a:extLst>
                  <a:ext uri="{FF2B5EF4-FFF2-40B4-BE49-F238E27FC236}">
                    <a16:creationId xmlns:a16="http://schemas.microsoft.com/office/drawing/2014/main" id="{5A452152-DC4F-1317-1048-5F61D21DFECC}"/>
                  </a:ext>
                </a:extLst>
              </p:cNvPr>
              <p:cNvSpPr txBox="1">
                <a:spLocks noRot="1" noChangeAspect="1" noMove="1" noResize="1" noEditPoints="1" noAdjustHandles="1" noChangeArrowheads="1" noChangeShapeType="1" noTextEdit="1"/>
              </p:cNvSpPr>
              <p:nvPr/>
            </p:nvSpPr>
            <p:spPr>
              <a:xfrm>
                <a:off x="7263045" y="1831194"/>
                <a:ext cx="2852496" cy="3113416"/>
              </a:xfrm>
              <a:prstGeom prst="rect">
                <a:avLst/>
              </a:prstGeom>
              <a:blipFill>
                <a:blip r:embed="rId8"/>
                <a:stretch>
                  <a:fillRect l="-1709" t="-97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90224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C45044-EF50-86D9-310A-3DF0E7705F2F}"/>
              </a:ext>
            </a:extLst>
          </p:cNvPr>
          <p:cNvSpPr>
            <a:spLocks noGrp="1"/>
          </p:cNvSpPr>
          <p:nvPr>
            <p:ph type="title"/>
          </p:nvPr>
        </p:nvSpPr>
        <p:spPr/>
        <p:txBody>
          <a:bodyPr/>
          <a:lstStyle/>
          <a:p>
            <a:r>
              <a:rPr lang="en-US" altLang="zh-TW" dirty="0"/>
              <a:t>Experimental</a:t>
            </a:r>
            <a:endParaRPr lang="zh-TW" altLang="en-US" dirty="0"/>
          </a:p>
        </p:txBody>
      </p:sp>
      <p:sp>
        <p:nvSpPr>
          <p:cNvPr id="3" name="內容版面配置區 2">
            <a:extLst>
              <a:ext uri="{FF2B5EF4-FFF2-40B4-BE49-F238E27FC236}">
                <a16:creationId xmlns:a16="http://schemas.microsoft.com/office/drawing/2014/main" id="{6DAE7FB4-620E-D8CF-68C5-A2AD3114A0D6}"/>
              </a:ext>
            </a:extLst>
          </p:cNvPr>
          <p:cNvSpPr>
            <a:spLocks noGrp="1"/>
          </p:cNvSpPr>
          <p:nvPr>
            <p:ph idx="1"/>
          </p:nvPr>
        </p:nvSpPr>
        <p:spPr/>
        <p:txBody>
          <a:bodyPr/>
          <a:lstStyle/>
          <a:p>
            <a:pPr marL="0" indent="0">
              <a:buNone/>
            </a:pPr>
            <a:r>
              <a:rPr lang="en-US" altLang="zh-TW" dirty="0"/>
              <a:t>Number of tasks (n) = {10, 50, 100, 200, 500} </a:t>
            </a:r>
          </a:p>
          <a:p>
            <a:pPr marL="0" indent="0">
              <a:buNone/>
            </a:pPr>
            <a:r>
              <a:rPr lang="en-US" altLang="zh-TW" dirty="0"/>
              <a:t>Graph shape (FAT) = {0.1, 0.5, 1, 5, 10} </a:t>
            </a:r>
          </a:p>
          <a:p>
            <a:pPr marL="0" indent="0">
              <a:buNone/>
            </a:pPr>
            <a:r>
              <a:rPr lang="en-US" altLang="zh-TW" dirty="0"/>
              <a:t>Computation to Communication Ratio (CCR) = {0.1, 5, 10} </a:t>
            </a:r>
          </a:p>
          <a:p>
            <a:pPr marL="0" indent="0">
              <a:buNone/>
            </a:pPr>
            <a:r>
              <a:rPr lang="en-US" altLang="zh-TW" dirty="0"/>
              <a:t> Density = {0.5} </a:t>
            </a:r>
          </a:p>
          <a:p>
            <a:pPr marL="0" indent="0">
              <a:buNone/>
            </a:pPr>
            <a:r>
              <a:rPr lang="en-US" altLang="zh-TW" dirty="0"/>
              <a:t>Jump = {5}</a:t>
            </a:r>
            <a:endParaRPr lang="zh-TW" altLang="en-US" dirty="0"/>
          </a:p>
        </p:txBody>
      </p:sp>
    </p:spTree>
    <p:extLst>
      <p:ext uri="{BB962C8B-B14F-4D97-AF65-F5344CB8AC3E}">
        <p14:creationId xmlns:p14="http://schemas.microsoft.com/office/powerpoint/2010/main" val="28569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1FDE04-0AAA-8E4E-646F-341DBF43E4ED}"/>
              </a:ext>
            </a:extLst>
          </p:cNvPr>
          <p:cNvSpPr>
            <a:spLocks noGrp="1"/>
          </p:cNvSpPr>
          <p:nvPr>
            <p:ph type="title"/>
          </p:nvPr>
        </p:nvSpPr>
        <p:spPr/>
        <p:txBody>
          <a:bodyPr/>
          <a:lstStyle/>
          <a:p>
            <a:r>
              <a:rPr lang="en-US" altLang="zh-TW" dirty="0"/>
              <a:t>Results</a:t>
            </a:r>
            <a:endParaRPr lang="zh-TW" altLang="en-US" dirty="0"/>
          </a:p>
        </p:txBody>
      </p:sp>
      <p:pic>
        <p:nvPicPr>
          <p:cNvPr id="7" name="內容版面配置區 6">
            <a:extLst>
              <a:ext uri="{FF2B5EF4-FFF2-40B4-BE49-F238E27FC236}">
                <a16:creationId xmlns:a16="http://schemas.microsoft.com/office/drawing/2014/main" id="{D47C8530-E283-FC45-70B4-21E6FCA86E1A}"/>
              </a:ext>
            </a:extLst>
          </p:cNvPr>
          <p:cNvPicPr>
            <a:picLocks noGrp="1" noChangeAspect="1"/>
          </p:cNvPicPr>
          <p:nvPr>
            <p:ph idx="1"/>
          </p:nvPr>
        </p:nvPicPr>
        <p:blipFill>
          <a:blip r:embed="rId2"/>
          <a:stretch>
            <a:fillRect/>
          </a:stretch>
        </p:blipFill>
        <p:spPr>
          <a:xfrm>
            <a:off x="6333362" y="2205211"/>
            <a:ext cx="5582653" cy="3228802"/>
          </a:xfrm>
        </p:spPr>
      </p:pic>
      <p:pic>
        <p:nvPicPr>
          <p:cNvPr id="9" name="圖片 8">
            <a:extLst>
              <a:ext uri="{FF2B5EF4-FFF2-40B4-BE49-F238E27FC236}">
                <a16:creationId xmlns:a16="http://schemas.microsoft.com/office/drawing/2014/main" id="{50A33189-A408-08A2-DFA3-B7E758DBD36A}"/>
              </a:ext>
            </a:extLst>
          </p:cNvPr>
          <p:cNvPicPr>
            <a:picLocks noChangeAspect="1"/>
          </p:cNvPicPr>
          <p:nvPr/>
        </p:nvPicPr>
        <p:blipFill>
          <a:blip r:embed="rId3"/>
          <a:stretch>
            <a:fillRect/>
          </a:stretch>
        </p:blipFill>
        <p:spPr>
          <a:xfrm>
            <a:off x="127585" y="2213811"/>
            <a:ext cx="5858637" cy="3220202"/>
          </a:xfrm>
          <a:prstGeom prst="rect">
            <a:avLst/>
          </a:prstGeom>
        </p:spPr>
      </p:pic>
    </p:spTree>
    <p:extLst>
      <p:ext uri="{BB962C8B-B14F-4D97-AF65-F5344CB8AC3E}">
        <p14:creationId xmlns:p14="http://schemas.microsoft.com/office/powerpoint/2010/main" val="279582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6891BE-0911-E1F3-8146-E9B849C7C186}"/>
              </a:ext>
            </a:extLst>
          </p:cNvPr>
          <p:cNvSpPr>
            <a:spLocks noGrp="1"/>
          </p:cNvSpPr>
          <p:nvPr>
            <p:ph type="title"/>
          </p:nvPr>
        </p:nvSpPr>
        <p:spPr/>
        <p:txBody>
          <a:bodyPr/>
          <a:lstStyle/>
          <a:p>
            <a:endParaRPr lang="zh-TW" altLang="en-US"/>
          </a:p>
        </p:txBody>
      </p:sp>
      <p:pic>
        <p:nvPicPr>
          <p:cNvPr id="7" name="內容版面配置區 6">
            <a:extLst>
              <a:ext uri="{FF2B5EF4-FFF2-40B4-BE49-F238E27FC236}">
                <a16:creationId xmlns:a16="http://schemas.microsoft.com/office/drawing/2014/main" id="{A2B4F3DE-1D84-E27E-4D35-7FB3CBDED2D2}"/>
              </a:ext>
            </a:extLst>
          </p:cNvPr>
          <p:cNvPicPr>
            <a:picLocks noGrp="1" noChangeAspect="1"/>
          </p:cNvPicPr>
          <p:nvPr>
            <p:ph idx="1"/>
          </p:nvPr>
        </p:nvPicPr>
        <p:blipFill>
          <a:blip r:embed="rId2"/>
          <a:stretch>
            <a:fillRect/>
          </a:stretch>
        </p:blipFill>
        <p:spPr>
          <a:xfrm>
            <a:off x="2794506" y="365125"/>
            <a:ext cx="5361729" cy="3308615"/>
          </a:xfrm>
        </p:spPr>
      </p:pic>
      <p:pic>
        <p:nvPicPr>
          <p:cNvPr id="5" name="圖片 4">
            <a:extLst>
              <a:ext uri="{FF2B5EF4-FFF2-40B4-BE49-F238E27FC236}">
                <a16:creationId xmlns:a16="http://schemas.microsoft.com/office/drawing/2014/main" id="{7EFA7490-3BE7-A298-BA59-6CD92F129F14}"/>
              </a:ext>
            </a:extLst>
          </p:cNvPr>
          <p:cNvPicPr>
            <a:picLocks noChangeAspect="1"/>
          </p:cNvPicPr>
          <p:nvPr/>
        </p:nvPicPr>
        <p:blipFill>
          <a:blip r:embed="rId3"/>
          <a:stretch>
            <a:fillRect/>
          </a:stretch>
        </p:blipFill>
        <p:spPr>
          <a:xfrm>
            <a:off x="1159042" y="3673740"/>
            <a:ext cx="9274342" cy="2950927"/>
          </a:xfrm>
          <a:prstGeom prst="rect">
            <a:avLst/>
          </a:prstGeom>
        </p:spPr>
      </p:pic>
    </p:spTree>
    <p:extLst>
      <p:ext uri="{BB962C8B-B14F-4D97-AF65-F5344CB8AC3E}">
        <p14:creationId xmlns:p14="http://schemas.microsoft.com/office/powerpoint/2010/main" val="4063966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DF8A9B-A056-4F1C-A4D4-67F2CCC6A868}"/>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9FCAD6B6-947A-4B5B-A22F-C8B5F4C38171}"/>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196491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A8122F-8EBB-23ED-DD96-8FE3D29411FD}"/>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4EB9F659-7B8A-CAF8-C01B-387DB4D98B11}"/>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125857359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680</TotalTime>
  <Words>678</Words>
  <Application>Microsoft Office PowerPoint</Application>
  <PresentationFormat>寬螢幕</PresentationFormat>
  <Paragraphs>135</Paragraphs>
  <Slides>14</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14</vt:i4>
      </vt:variant>
    </vt:vector>
  </HeadingPairs>
  <TitlesOfParts>
    <vt:vector size="20" baseType="lpstr">
      <vt:lpstr>Arial</vt:lpstr>
      <vt:lpstr>Calibri</vt:lpstr>
      <vt:lpstr>Calibri Light</vt:lpstr>
      <vt:lpstr>Cambria Math</vt:lpstr>
      <vt:lpstr>Times New Roman</vt:lpstr>
      <vt:lpstr>Office 佈景主題</vt:lpstr>
      <vt:lpstr>Task scheduling for heterogeneous computing systems</vt:lpstr>
      <vt:lpstr>Abstract</vt:lpstr>
      <vt:lpstr>PowerPoint 簡報</vt:lpstr>
      <vt:lpstr>PowerPoint 簡報</vt:lpstr>
      <vt:lpstr>PowerPoint 簡報</vt:lpstr>
      <vt:lpstr>PowerPoint 簡報</vt:lpstr>
      <vt:lpstr>PowerPoint 簡報</vt:lpstr>
      <vt:lpstr>PowerPoint 簡報</vt:lpstr>
      <vt:lpstr>PowerPoint 簡報</vt:lpstr>
      <vt:lpstr>Experimental</vt:lpstr>
      <vt:lpstr>Results</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scheduling for heterogeneous computing systems</dc:title>
  <dc:creator>jj wu</dc:creator>
  <cp:lastModifiedBy>jj wu</cp:lastModifiedBy>
  <cp:revision>5</cp:revision>
  <dcterms:created xsi:type="dcterms:W3CDTF">2022-05-16T08:13:21Z</dcterms:created>
  <dcterms:modified xsi:type="dcterms:W3CDTF">2022-05-25T10:42:30Z</dcterms:modified>
</cp:coreProperties>
</file>