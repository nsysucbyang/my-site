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22"/>
  </p:notesMasterIdLst>
  <p:sldIdLst>
    <p:sldId id="256" r:id="rId2"/>
    <p:sldId id="257" r:id="rId3"/>
    <p:sldId id="299" r:id="rId4"/>
    <p:sldId id="282" r:id="rId5"/>
    <p:sldId id="283" r:id="rId6"/>
    <p:sldId id="291" r:id="rId7"/>
    <p:sldId id="292" r:id="rId8"/>
    <p:sldId id="301" r:id="rId9"/>
    <p:sldId id="290" r:id="rId10"/>
    <p:sldId id="293" r:id="rId11"/>
    <p:sldId id="302" r:id="rId12"/>
    <p:sldId id="304" r:id="rId13"/>
    <p:sldId id="305" r:id="rId14"/>
    <p:sldId id="296" r:id="rId15"/>
    <p:sldId id="298" r:id="rId16"/>
    <p:sldId id="295" r:id="rId17"/>
    <p:sldId id="281" r:id="rId18"/>
    <p:sldId id="300" r:id="rId19"/>
    <p:sldId id="303" r:id="rId20"/>
    <p:sldId id="306" r:id="rId2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77"/>
    <p:restoredTop sz="95679"/>
  </p:normalViewPr>
  <p:slideViewPr>
    <p:cSldViewPr snapToGrid="0" snapToObjects="1">
      <p:cViewPr varScale="1">
        <p:scale>
          <a:sx n="121" d="100"/>
          <a:sy n="121" d="100"/>
        </p:scale>
        <p:origin x="21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45559-0BFE-4344-9B65-AF2AA4340070}" type="datetimeFigureOut">
              <a:rPr kumimoji="1" lang="zh-TW" altLang="en-US" smtClean="0"/>
              <a:t>2022/5/25</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43E2FF-3FFC-0943-9A0D-A0B13F46FECA}" type="slidenum">
              <a:rPr kumimoji="1" lang="zh-TW" altLang="en-US" smtClean="0"/>
              <a:t>‹#›</a:t>
            </a:fld>
            <a:endParaRPr kumimoji="1" lang="zh-TW" altLang="en-US"/>
          </a:p>
        </p:txBody>
      </p:sp>
    </p:spTree>
    <p:extLst>
      <p:ext uri="{BB962C8B-B14F-4D97-AF65-F5344CB8AC3E}">
        <p14:creationId xmlns:p14="http://schemas.microsoft.com/office/powerpoint/2010/main" val="312107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9CACA6-C67C-E541-892B-44D0091E4B35}"/>
              </a:ext>
            </a:extLst>
          </p:cNvPr>
          <p:cNvSpPr>
            <a:spLocks noGrp="1"/>
          </p:cNvSpPr>
          <p:nvPr>
            <p:ph type="ctrTitle"/>
          </p:nvPr>
        </p:nvSpPr>
        <p:spPr>
          <a:xfrm>
            <a:off x="1524000" y="1122363"/>
            <a:ext cx="9144000" cy="2387600"/>
          </a:xfrm>
        </p:spPr>
        <p:txBody>
          <a:bodyPr anchor="b"/>
          <a:lstStyle>
            <a:lvl1pPr algn="ctr">
              <a:defRPr sz="6000">
                <a:latin typeface="Times New Roman" panose="02020603050405020304" pitchFamily="18" charset="0"/>
                <a:cs typeface="Times New Roman" panose="02020603050405020304" pitchFamily="18" charset="0"/>
              </a:defRPr>
            </a:lvl1pPr>
          </a:lstStyle>
          <a:p>
            <a:r>
              <a:rPr kumimoji="1" lang="zh-TW" altLang="en-US" dirty="0"/>
              <a:t>按一下以編輯母片標題樣式</a:t>
            </a:r>
          </a:p>
        </p:txBody>
      </p:sp>
      <p:sp>
        <p:nvSpPr>
          <p:cNvPr id="3" name="副標題 2">
            <a:extLst>
              <a:ext uri="{FF2B5EF4-FFF2-40B4-BE49-F238E27FC236}">
                <a16:creationId xmlns:a16="http://schemas.microsoft.com/office/drawing/2014/main" id="{11CC1734-2905-E64F-A631-54B441416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dirty="0"/>
              <a:t>按一下以編輯母片子標題樣式</a:t>
            </a:r>
          </a:p>
        </p:txBody>
      </p:sp>
      <p:sp>
        <p:nvSpPr>
          <p:cNvPr id="4" name="日期版面配置區 3">
            <a:extLst>
              <a:ext uri="{FF2B5EF4-FFF2-40B4-BE49-F238E27FC236}">
                <a16:creationId xmlns:a16="http://schemas.microsoft.com/office/drawing/2014/main" id="{E52928DA-44E4-074F-8536-26603EBDA3A5}"/>
              </a:ext>
            </a:extLst>
          </p:cNvPr>
          <p:cNvSpPr>
            <a:spLocks noGrp="1"/>
          </p:cNvSpPr>
          <p:nvPr>
            <p:ph type="dt" sz="half" idx="10"/>
          </p:nvPr>
        </p:nvSpPr>
        <p:spPr/>
        <p:txBody>
          <a:bodyPr/>
          <a:lstStyle/>
          <a:p>
            <a:fld id="{F8D94305-8CA1-9449-A556-67D5085A7FA1}" type="datetime1">
              <a:rPr kumimoji="1" lang="zh-TW" altLang="en-US" smtClean="0"/>
              <a:t>2022/5/25</a:t>
            </a:fld>
            <a:endParaRPr kumimoji="1" lang="zh-TW" altLang="en-US"/>
          </a:p>
        </p:txBody>
      </p:sp>
      <p:sp>
        <p:nvSpPr>
          <p:cNvPr id="5" name="頁尾版面配置區 4">
            <a:extLst>
              <a:ext uri="{FF2B5EF4-FFF2-40B4-BE49-F238E27FC236}">
                <a16:creationId xmlns:a16="http://schemas.microsoft.com/office/drawing/2014/main" id="{FCCB0FA4-ABBE-BA4C-8404-566B691D00D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36B4FD5-66AB-9441-90B5-4BBD60219EE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3481404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70AF28-EC81-FE4B-89D9-F2E8D07FC024}"/>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7F8F01FE-63E4-B148-8F63-BA8CC19DF1BE}"/>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CDDCB10-D67B-2F49-9257-3F53E655A9C1}"/>
              </a:ext>
            </a:extLst>
          </p:cNvPr>
          <p:cNvSpPr>
            <a:spLocks noGrp="1"/>
          </p:cNvSpPr>
          <p:nvPr>
            <p:ph type="dt" sz="half" idx="10"/>
          </p:nvPr>
        </p:nvSpPr>
        <p:spPr/>
        <p:txBody>
          <a:bodyPr/>
          <a:lstStyle/>
          <a:p>
            <a:fld id="{045A69C4-18F5-3B4F-9726-B61210AF53BB}" type="datetime1">
              <a:rPr kumimoji="1" lang="zh-TW" altLang="en-US" smtClean="0"/>
              <a:t>2022/5/25</a:t>
            </a:fld>
            <a:endParaRPr kumimoji="1" lang="zh-TW" altLang="en-US"/>
          </a:p>
        </p:txBody>
      </p:sp>
      <p:sp>
        <p:nvSpPr>
          <p:cNvPr id="5" name="頁尾版面配置區 4">
            <a:extLst>
              <a:ext uri="{FF2B5EF4-FFF2-40B4-BE49-F238E27FC236}">
                <a16:creationId xmlns:a16="http://schemas.microsoft.com/office/drawing/2014/main" id="{FE383F78-9598-D74D-9292-89EFE69D19A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ABD1EF3F-2214-5B47-9FDA-094F6F6F1A36}"/>
              </a:ext>
            </a:extLst>
          </p:cNvPr>
          <p:cNvSpPr>
            <a:spLocks noGrp="1"/>
          </p:cNvSpPr>
          <p:nvPr>
            <p:ph type="sldNum" sz="quarter" idx="12"/>
          </p:nvPr>
        </p:nvSpPr>
        <p:spPr/>
        <p:txBody>
          <a:bodyPr/>
          <a:lstStyle>
            <a:lvl1pPr>
              <a:defRPr sz="1600">
                <a:solidFill>
                  <a:schemeClr val="tx1">
                    <a:lumMod val="50000"/>
                    <a:lumOff val="50000"/>
                  </a:schemeClr>
                </a:solidFill>
                <a:latin typeface="Times New Roman" panose="02020603050405020304" pitchFamily="18" charset="0"/>
                <a:cs typeface="Times New Roman" panose="02020603050405020304" pitchFamily="18" charset="0"/>
              </a:defRPr>
            </a:lvl1pPr>
          </a:lstStyle>
          <a:p>
            <a:fld id="{45AB94F7-1CE9-3B41-8002-0A2CB67662D8}" type="slidenum">
              <a:rPr kumimoji="1" lang="zh-TW" altLang="en-US" smtClean="0"/>
              <a:pPr/>
              <a:t>‹#›</a:t>
            </a:fld>
            <a:endParaRPr kumimoji="1" lang="zh-TW" altLang="en-US" dirty="0"/>
          </a:p>
        </p:txBody>
      </p:sp>
    </p:spTree>
    <p:extLst>
      <p:ext uri="{BB962C8B-B14F-4D97-AF65-F5344CB8AC3E}">
        <p14:creationId xmlns:p14="http://schemas.microsoft.com/office/powerpoint/2010/main" val="2339286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0EA4F2-2540-1244-B139-F15C25B79C46}"/>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C2C54D3C-13C8-6242-8D0C-509D676810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59742759-9CB6-6844-818C-D784DC9DDBEB}"/>
              </a:ext>
            </a:extLst>
          </p:cNvPr>
          <p:cNvSpPr>
            <a:spLocks noGrp="1"/>
          </p:cNvSpPr>
          <p:nvPr>
            <p:ph type="dt" sz="half" idx="10"/>
          </p:nvPr>
        </p:nvSpPr>
        <p:spPr/>
        <p:txBody>
          <a:bodyPr/>
          <a:lstStyle/>
          <a:p>
            <a:fld id="{3C11A6B9-6F66-C749-9323-08ACCB0475DF}" type="datetime1">
              <a:rPr kumimoji="1" lang="zh-TW" altLang="en-US" smtClean="0"/>
              <a:t>2022/5/25</a:t>
            </a:fld>
            <a:endParaRPr kumimoji="1" lang="zh-TW" altLang="en-US"/>
          </a:p>
        </p:txBody>
      </p:sp>
      <p:sp>
        <p:nvSpPr>
          <p:cNvPr id="5" name="頁尾版面配置區 4">
            <a:extLst>
              <a:ext uri="{FF2B5EF4-FFF2-40B4-BE49-F238E27FC236}">
                <a16:creationId xmlns:a16="http://schemas.microsoft.com/office/drawing/2014/main" id="{BAF6B2C8-E956-014A-989F-C4986EEC9705}"/>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4FE7166-F2BC-6E41-A489-D4F1F176A0D3}"/>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98025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D5B0B7-A085-074E-8B77-3B759476B83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0DE2419-98D0-C748-9D81-FD99D10E893D}"/>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9E7429AE-8C31-D64A-9CAF-84EF9D9F81FB}"/>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54F1935-3D64-C547-BE1F-E5DF5E3EAE39}"/>
              </a:ext>
            </a:extLst>
          </p:cNvPr>
          <p:cNvSpPr>
            <a:spLocks noGrp="1"/>
          </p:cNvSpPr>
          <p:nvPr>
            <p:ph type="dt" sz="half" idx="10"/>
          </p:nvPr>
        </p:nvSpPr>
        <p:spPr/>
        <p:txBody>
          <a:bodyPr/>
          <a:lstStyle/>
          <a:p>
            <a:fld id="{0D2A61A4-81BF-334B-8D80-CA36701FDA35}" type="datetime1">
              <a:rPr kumimoji="1" lang="zh-TW" altLang="en-US" smtClean="0"/>
              <a:t>2022/5/25</a:t>
            </a:fld>
            <a:endParaRPr kumimoji="1" lang="zh-TW" altLang="en-US"/>
          </a:p>
        </p:txBody>
      </p:sp>
      <p:sp>
        <p:nvSpPr>
          <p:cNvPr id="6" name="頁尾版面配置區 5">
            <a:extLst>
              <a:ext uri="{FF2B5EF4-FFF2-40B4-BE49-F238E27FC236}">
                <a16:creationId xmlns:a16="http://schemas.microsoft.com/office/drawing/2014/main" id="{712AB15C-9B5B-D44D-B16C-11EF813D9F62}"/>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25CFBA30-686E-724D-9244-E9E6440670B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01584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12BDD6-FE7A-F545-960D-362C66F47353}"/>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07F6F60D-37BA-C242-9A1E-32FEB8CCCA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E9BCDA43-0B87-A645-8BE0-2EA0C0A6B13B}"/>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05D48957-078C-7444-A985-ACC5552F25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4FEF868D-291B-394E-9BE2-D02FA1CD3C3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1EA16361-4974-3C4E-9136-7688A755DDEC}"/>
              </a:ext>
            </a:extLst>
          </p:cNvPr>
          <p:cNvSpPr>
            <a:spLocks noGrp="1"/>
          </p:cNvSpPr>
          <p:nvPr>
            <p:ph type="dt" sz="half" idx="10"/>
          </p:nvPr>
        </p:nvSpPr>
        <p:spPr/>
        <p:txBody>
          <a:bodyPr/>
          <a:lstStyle/>
          <a:p>
            <a:fld id="{8C8A022A-5F93-5C4C-B16C-BEC73CEE6E54}" type="datetime1">
              <a:rPr kumimoji="1" lang="zh-TW" altLang="en-US" smtClean="0"/>
              <a:t>2022/5/25</a:t>
            </a:fld>
            <a:endParaRPr kumimoji="1" lang="zh-TW" altLang="en-US"/>
          </a:p>
        </p:txBody>
      </p:sp>
      <p:sp>
        <p:nvSpPr>
          <p:cNvPr id="8" name="頁尾版面配置區 7">
            <a:extLst>
              <a:ext uri="{FF2B5EF4-FFF2-40B4-BE49-F238E27FC236}">
                <a16:creationId xmlns:a16="http://schemas.microsoft.com/office/drawing/2014/main" id="{556ED032-8661-E941-88E1-00C96942095D}"/>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FB13C977-9E60-0840-8F60-2746A6806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779835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B53D1F-CD49-4A47-8161-81E7049E7774}"/>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97BAD2FC-9DAA-7243-A022-A4F61BF19E06}"/>
              </a:ext>
            </a:extLst>
          </p:cNvPr>
          <p:cNvSpPr>
            <a:spLocks noGrp="1"/>
          </p:cNvSpPr>
          <p:nvPr>
            <p:ph type="dt" sz="half" idx="10"/>
          </p:nvPr>
        </p:nvSpPr>
        <p:spPr/>
        <p:txBody>
          <a:bodyPr/>
          <a:lstStyle/>
          <a:p>
            <a:fld id="{12C925CB-9510-9341-9576-9B12ECEC775E}" type="datetime1">
              <a:rPr kumimoji="1" lang="zh-TW" altLang="en-US" smtClean="0"/>
              <a:t>2022/5/25</a:t>
            </a:fld>
            <a:endParaRPr kumimoji="1" lang="zh-TW" altLang="en-US"/>
          </a:p>
        </p:txBody>
      </p:sp>
      <p:sp>
        <p:nvSpPr>
          <p:cNvPr id="4" name="頁尾版面配置區 3">
            <a:extLst>
              <a:ext uri="{FF2B5EF4-FFF2-40B4-BE49-F238E27FC236}">
                <a16:creationId xmlns:a16="http://schemas.microsoft.com/office/drawing/2014/main" id="{FB08567B-6FC5-FE42-99C1-56DE3E0EA82A}"/>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EDF5BEE7-69BC-3243-92F7-9D56CF1E4E0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994566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C472B68F-CE5E-8E42-845E-216799E9332B}"/>
              </a:ext>
            </a:extLst>
          </p:cNvPr>
          <p:cNvSpPr>
            <a:spLocks noGrp="1"/>
          </p:cNvSpPr>
          <p:nvPr>
            <p:ph type="dt" sz="half" idx="10"/>
          </p:nvPr>
        </p:nvSpPr>
        <p:spPr/>
        <p:txBody>
          <a:bodyPr/>
          <a:lstStyle/>
          <a:p>
            <a:fld id="{9FC0CE8D-F82D-A84C-87DC-2C4A6AB68E2E}" type="datetime1">
              <a:rPr kumimoji="1" lang="zh-TW" altLang="en-US" smtClean="0"/>
              <a:t>2022/5/25</a:t>
            </a:fld>
            <a:endParaRPr kumimoji="1" lang="zh-TW" altLang="en-US"/>
          </a:p>
        </p:txBody>
      </p:sp>
      <p:sp>
        <p:nvSpPr>
          <p:cNvPr id="3" name="頁尾版面配置區 2">
            <a:extLst>
              <a:ext uri="{FF2B5EF4-FFF2-40B4-BE49-F238E27FC236}">
                <a16:creationId xmlns:a16="http://schemas.microsoft.com/office/drawing/2014/main" id="{0AE25D5B-72BF-8541-BB27-109E74F63A4A}"/>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A4D9627B-7493-DE49-BED1-D957B96B65C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05284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D33F3F-E533-ED46-B706-B8230FBE3629}"/>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923F0ED-E028-4D48-ACE1-92415A0E02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F9259B9D-B493-EE4A-8F83-9E517D43A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B647DBB5-D8D1-9C4B-958E-74CA3C356597}"/>
              </a:ext>
            </a:extLst>
          </p:cNvPr>
          <p:cNvSpPr>
            <a:spLocks noGrp="1"/>
          </p:cNvSpPr>
          <p:nvPr>
            <p:ph type="dt" sz="half" idx="10"/>
          </p:nvPr>
        </p:nvSpPr>
        <p:spPr/>
        <p:txBody>
          <a:bodyPr/>
          <a:lstStyle/>
          <a:p>
            <a:fld id="{358C0FAD-89C5-7F43-A773-FAE777B2C9F1}" type="datetime1">
              <a:rPr kumimoji="1" lang="zh-TW" altLang="en-US" smtClean="0"/>
              <a:t>2022/5/25</a:t>
            </a:fld>
            <a:endParaRPr kumimoji="1" lang="zh-TW" altLang="en-US"/>
          </a:p>
        </p:txBody>
      </p:sp>
      <p:sp>
        <p:nvSpPr>
          <p:cNvPr id="6" name="頁尾版面配置區 5">
            <a:extLst>
              <a:ext uri="{FF2B5EF4-FFF2-40B4-BE49-F238E27FC236}">
                <a16:creationId xmlns:a16="http://schemas.microsoft.com/office/drawing/2014/main" id="{2DD9DD0B-97B7-7C48-9FAF-367CEFEAD76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1F04DAF6-0748-E746-B095-EDD0BFA0C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234485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B7AA03-AD9D-9B4F-BF9A-0D182E130373}"/>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40629E92-D1EC-7541-B377-00C9F825B7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49365C22-4E8D-5446-A436-EA77B69D7F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B89063B-A0C5-524B-897E-9D14FAA16A3A}"/>
              </a:ext>
            </a:extLst>
          </p:cNvPr>
          <p:cNvSpPr>
            <a:spLocks noGrp="1"/>
          </p:cNvSpPr>
          <p:nvPr>
            <p:ph type="dt" sz="half" idx="10"/>
          </p:nvPr>
        </p:nvSpPr>
        <p:spPr/>
        <p:txBody>
          <a:bodyPr/>
          <a:lstStyle/>
          <a:p>
            <a:fld id="{C6BFB9B9-8EF2-A94F-98A1-225287ED6E40}" type="datetime1">
              <a:rPr kumimoji="1" lang="zh-TW" altLang="en-US" smtClean="0"/>
              <a:t>2022/5/25</a:t>
            </a:fld>
            <a:endParaRPr kumimoji="1" lang="zh-TW" altLang="en-US"/>
          </a:p>
        </p:txBody>
      </p:sp>
      <p:sp>
        <p:nvSpPr>
          <p:cNvPr id="6" name="頁尾版面配置區 5">
            <a:extLst>
              <a:ext uri="{FF2B5EF4-FFF2-40B4-BE49-F238E27FC236}">
                <a16:creationId xmlns:a16="http://schemas.microsoft.com/office/drawing/2014/main" id="{DFCC9C8F-50DB-0448-BAE3-DCD747D6EB24}"/>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8E76F315-F817-7046-B413-386F671772BC}"/>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16739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AAEEB8-BF61-0D4B-91E0-B11EF6EA06A8}"/>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B92FAE11-B217-A441-BF40-6E86BC48954F}"/>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6718463-BF67-834B-B2DE-31F68E4528C2}"/>
              </a:ext>
            </a:extLst>
          </p:cNvPr>
          <p:cNvSpPr>
            <a:spLocks noGrp="1"/>
          </p:cNvSpPr>
          <p:nvPr>
            <p:ph type="dt" sz="half" idx="10"/>
          </p:nvPr>
        </p:nvSpPr>
        <p:spPr/>
        <p:txBody>
          <a:bodyPr/>
          <a:lstStyle/>
          <a:p>
            <a:fld id="{238B0978-9282-A443-81EE-087251DCE16D}" type="datetime1">
              <a:rPr kumimoji="1" lang="zh-TW" altLang="en-US" smtClean="0"/>
              <a:t>2022/5/25</a:t>
            </a:fld>
            <a:endParaRPr kumimoji="1" lang="zh-TW" altLang="en-US"/>
          </a:p>
        </p:txBody>
      </p:sp>
      <p:sp>
        <p:nvSpPr>
          <p:cNvPr id="5" name="頁尾版面配置區 4">
            <a:extLst>
              <a:ext uri="{FF2B5EF4-FFF2-40B4-BE49-F238E27FC236}">
                <a16:creationId xmlns:a16="http://schemas.microsoft.com/office/drawing/2014/main" id="{F594982C-896E-4149-99DD-209F8E8C0071}"/>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603828-B8BB-9B4D-B2DF-DD10F4CAE81A}"/>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64934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535947D6-AA8E-8847-82ED-F06115AA28F2}"/>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F700A80-132C-4840-9A7C-C78D2A2400F3}"/>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A617639-2B7B-124E-964F-8866AB88322E}"/>
              </a:ext>
            </a:extLst>
          </p:cNvPr>
          <p:cNvSpPr>
            <a:spLocks noGrp="1"/>
          </p:cNvSpPr>
          <p:nvPr>
            <p:ph type="dt" sz="half" idx="10"/>
          </p:nvPr>
        </p:nvSpPr>
        <p:spPr/>
        <p:txBody>
          <a:bodyPr/>
          <a:lstStyle/>
          <a:p>
            <a:fld id="{22108DF5-4A34-8D4B-8D26-525AA81604B2}" type="datetime1">
              <a:rPr kumimoji="1" lang="zh-TW" altLang="en-US" smtClean="0"/>
              <a:t>2022/5/25</a:t>
            </a:fld>
            <a:endParaRPr kumimoji="1" lang="zh-TW" altLang="en-US"/>
          </a:p>
        </p:txBody>
      </p:sp>
      <p:sp>
        <p:nvSpPr>
          <p:cNvPr id="5" name="頁尾版面配置區 4">
            <a:extLst>
              <a:ext uri="{FF2B5EF4-FFF2-40B4-BE49-F238E27FC236}">
                <a16:creationId xmlns:a16="http://schemas.microsoft.com/office/drawing/2014/main" id="{0438D0C4-A114-014D-8492-65B3EEDD1784}"/>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418114EB-9F4C-BE4F-9F99-D7A2DEEC2A60}"/>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608371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大標題與項目符號">
    <p:spTree>
      <p:nvGrpSpPr>
        <p:cNvPr id="1" name=""/>
        <p:cNvGrpSpPr/>
        <p:nvPr/>
      </p:nvGrpSpPr>
      <p:grpSpPr>
        <a:xfrm>
          <a:off x="0" y="0"/>
          <a:ext cx="0" cy="0"/>
          <a:chOff x="0" y="0"/>
          <a:chExt cx="0" cy="0"/>
        </a:xfrm>
      </p:grpSpPr>
      <p:sp>
        <p:nvSpPr>
          <p:cNvPr id="56" name="大標題文字"/>
          <p:cNvSpPr txBox="1">
            <a:spLocks noGrp="1"/>
          </p:cNvSpPr>
          <p:nvPr>
            <p:ph type="title"/>
          </p:nvPr>
        </p:nvSpPr>
        <p:spPr>
          <a:prstGeom prst="rect">
            <a:avLst/>
          </a:prstGeom>
        </p:spPr>
        <p:txBody>
          <a:bodyPr/>
          <a:lstStyle/>
          <a:p>
            <a:r>
              <a:t>大標題文字</a:t>
            </a:r>
          </a:p>
        </p:txBody>
      </p:sp>
      <p:sp>
        <p:nvSpPr>
          <p:cNvPr id="57" name="內文層級一…"/>
          <p:cNvSpPr txBox="1">
            <a:spLocks noGrp="1"/>
          </p:cNvSpPr>
          <p:nvPr>
            <p:ph type="body" idx="1"/>
          </p:nvPr>
        </p:nvSpPr>
        <p:spPr>
          <a:prstGeom prst="rect">
            <a:avLst/>
          </a:prstGeom>
        </p:spPr>
        <p:txBody>
          <a:bodyPr/>
          <a:lstStyle>
            <a:lvl1pPr marL="396875" indent="-396875">
              <a:defRPr sz="3000"/>
            </a:lvl1pPr>
            <a:lvl2pPr marL="714375" indent="-396875">
              <a:defRPr sz="3000"/>
            </a:lvl2pPr>
            <a:lvl3pPr marL="1031875" indent="-396875">
              <a:defRPr sz="3000"/>
            </a:lvl3pPr>
            <a:lvl4pPr marL="1349375" indent="-396875">
              <a:defRPr sz="3000"/>
            </a:lvl4pPr>
            <a:lvl5pPr marL="1666875" indent="-396875">
              <a:defRPr sz="3000"/>
            </a:lvl5pPr>
          </a:lstStyle>
          <a:p>
            <a:r>
              <a:t>內文層級一</a:t>
            </a:r>
          </a:p>
          <a:p>
            <a:pPr lvl="1"/>
            <a:r>
              <a:t>內文層級二</a:t>
            </a:r>
          </a:p>
          <a:p>
            <a:pPr lvl="2"/>
            <a:r>
              <a:t>內文層級三</a:t>
            </a:r>
          </a:p>
          <a:p>
            <a:pPr lvl="3"/>
            <a:r>
              <a:t>內文層級四</a:t>
            </a:r>
          </a:p>
          <a:p>
            <a:pPr lvl="4"/>
            <a:r>
              <a:t>內文層級五</a:t>
            </a:r>
          </a:p>
        </p:txBody>
      </p:sp>
      <p:sp>
        <p:nvSpPr>
          <p:cNvPr id="58"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0030479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3116FCC-9057-794F-A6BD-9239D6867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dirty="0"/>
              <a:t>按一下以編輯母片標題樣式</a:t>
            </a:r>
          </a:p>
        </p:txBody>
      </p:sp>
      <p:sp>
        <p:nvSpPr>
          <p:cNvPr id="3" name="文字版面配置區 2">
            <a:extLst>
              <a:ext uri="{FF2B5EF4-FFF2-40B4-BE49-F238E27FC236}">
                <a16:creationId xmlns:a16="http://schemas.microsoft.com/office/drawing/2014/main" id="{0F71D68C-1C2E-1C49-B4D5-25F62E8AE2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dirty="0"/>
              <a:t>按一下以編輯母片文字樣式</a:t>
            </a:r>
          </a:p>
          <a:p>
            <a:pPr lvl="1"/>
            <a:r>
              <a:rPr kumimoji="1" lang="zh-TW" altLang="en-US" dirty="0"/>
              <a:t>第二層</a:t>
            </a:r>
          </a:p>
          <a:p>
            <a:pPr lvl="2"/>
            <a:r>
              <a:rPr kumimoji="1" lang="zh-TW" altLang="en-US" dirty="0"/>
              <a:t>第三層</a:t>
            </a:r>
          </a:p>
          <a:p>
            <a:pPr lvl="3"/>
            <a:r>
              <a:rPr kumimoji="1" lang="zh-TW" altLang="en-US" dirty="0"/>
              <a:t>第四層</a:t>
            </a:r>
          </a:p>
          <a:p>
            <a:pPr lvl="4"/>
            <a:r>
              <a:rPr kumimoji="1" lang="zh-TW" altLang="en-US" dirty="0"/>
              <a:t>第五層</a:t>
            </a:r>
          </a:p>
        </p:txBody>
      </p:sp>
      <p:sp>
        <p:nvSpPr>
          <p:cNvPr id="4" name="日期版面配置區 3">
            <a:extLst>
              <a:ext uri="{FF2B5EF4-FFF2-40B4-BE49-F238E27FC236}">
                <a16:creationId xmlns:a16="http://schemas.microsoft.com/office/drawing/2014/main" id="{6ECE1990-52AC-F546-8798-90353A0395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A140CC-F999-A946-9373-08EAE304F3C9}" type="datetime1">
              <a:rPr kumimoji="1" lang="zh-TW" altLang="en-US" smtClean="0"/>
              <a:t>2022/5/25</a:t>
            </a:fld>
            <a:endParaRPr kumimoji="1" lang="zh-TW" altLang="en-US"/>
          </a:p>
        </p:txBody>
      </p:sp>
      <p:sp>
        <p:nvSpPr>
          <p:cNvPr id="5" name="頁尾版面配置區 4">
            <a:extLst>
              <a:ext uri="{FF2B5EF4-FFF2-40B4-BE49-F238E27FC236}">
                <a16:creationId xmlns:a16="http://schemas.microsoft.com/office/drawing/2014/main" id="{3EB22EAC-653F-C544-A1B0-BE186C1781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126F20A4-E6B9-D241-B29C-161E27408E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97430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7.png"/><Relationship Id="rId10" Type="http://schemas.openxmlformats.org/officeDocument/2006/relationships/image" Target="../media/image15.png"/><Relationship Id="rId4" Type="http://schemas.openxmlformats.org/officeDocument/2006/relationships/image" Target="../media/image10.png"/><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A1336C-440D-2E43-904F-AABB45E64E1E}"/>
              </a:ext>
            </a:extLst>
          </p:cNvPr>
          <p:cNvSpPr>
            <a:spLocks noGrp="1"/>
          </p:cNvSpPr>
          <p:nvPr>
            <p:ph type="ctrTitle"/>
          </p:nvPr>
        </p:nvSpPr>
        <p:spPr>
          <a:xfrm>
            <a:off x="997075" y="813442"/>
            <a:ext cx="10197851" cy="2387600"/>
          </a:xfrm>
        </p:spPr>
        <p:txBody>
          <a:bodyPr>
            <a:normAutofit fontScale="90000"/>
          </a:bodyPr>
          <a:lstStyle/>
          <a:p>
            <a:r>
              <a:rPr kumimoji="1" lang="en-US" altLang="zh-TW" dirty="0"/>
              <a:t>Semi-Local Longest Common Subsequences in </a:t>
            </a:r>
            <a:r>
              <a:rPr kumimoji="1" lang="en-US" altLang="zh-TW" dirty="0" err="1"/>
              <a:t>Subquadratic</a:t>
            </a:r>
            <a:r>
              <a:rPr kumimoji="1" lang="en-US" altLang="zh-TW" dirty="0"/>
              <a:t> Time</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FD611AA7-209A-4449-AB65-A25622930A66}"/>
              </a:ext>
            </a:extLst>
          </p:cNvPr>
          <p:cNvSpPr>
            <a:spLocks noGrp="1"/>
          </p:cNvSpPr>
          <p:nvPr>
            <p:ph type="subTitle" idx="1"/>
          </p:nvPr>
        </p:nvSpPr>
        <p:spPr>
          <a:xfrm>
            <a:off x="1524000" y="3602038"/>
            <a:ext cx="9144000" cy="2224604"/>
          </a:xfrm>
        </p:spPr>
        <p:txBody>
          <a:bodyPr>
            <a:normAutofit/>
          </a:bodyPr>
          <a:lstStyle/>
          <a:p>
            <a:r>
              <a:rPr kumimoji="1" lang="en-US" altLang="zh-TW" dirty="0">
                <a:latin typeface="Times New Roman" panose="02020603050405020304" pitchFamily="18" charset="0"/>
                <a:cs typeface="Times New Roman" panose="02020603050405020304" pitchFamily="18" charset="0"/>
              </a:rPr>
              <a:t>Alexander </a:t>
            </a:r>
            <a:r>
              <a:rPr kumimoji="1" lang="en-US" altLang="zh-TW" dirty="0" err="1">
                <a:latin typeface="Times New Roman" panose="02020603050405020304" pitchFamily="18" charset="0"/>
                <a:cs typeface="Times New Roman" panose="02020603050405020304" pitchFamily="18" charset="0"/>
              </a:rPr>
              <a:t>Tiskin</a:t>
            </a:r>
            <a:endParaRPr kumimoji="1" lang="en-US"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Journal of Discrete Algorithms</a:t>
            </a:r>
            <a:r>
              <a:rPr kumimoji="1" lang="en" altLang="zh-TW" dirty="0">
                <a:latin typeface="Times New Roman" panose="02020603050405020304" pitchFamily="18" charset="0"/>
                <a:cs typeface="Times New Roman" panose="02020603050405020304" pitchFamily="18" charset="0"/>
              </a:rPr>
              <a:t>, 2008</a:t>
            </a:r>
          </a:p>
          <a:p>
            <a:r>
              <a:rPr kumimoji="1" lang="en" altLang="zh-TW" dirty="0">
                <a:latin typeface="Times New Roman" panose="02020603050405020304" pitchFamily="18" charset="0"/>
                <a:cs typeface="Times New Roman" panose="02020603050405020304" pitchFamily="18" charset="0"/>
              </a:rPr>
              <a:t>Volume 6</a:t>
            </a:r>
            <a:r>
              <a:rPr lang="en-US" altLang="zh-TW" dirty="0">
                <a:latin typeface="Times New Roman" panose="02020603050405020304" pitchFamily="18" charset="0"/>
                <a:cs typeface="Times New Roman" panose="02020603050405020304" pitchFamily="18" charset="0"/>
              </a:rPr>
              <a:t> , Issue 4</a:t>
            </a:r>
            <a:r>
              <a:rPr kumimoji="1" lang="en" altLang="zh-TW" dirty="0">
                <a:latin typeface="Times New Roman" panose="02020603050405020304" pitchFamily="18" charset="0"/>
                <a:cs typeface="Times New Roman" panose="02020603050405020304" pitchFamily="18" charset="0"/>
              </a:rPr>
              <a:t>, pp. 570-581</a:t>
            </a:r>
            <a:endParaRPr kumimoji="1"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BF1141FC-B145-834E-9139-2A899AB73EAA}"/>
              </a:ext>
            </a:extLst>
          </p:cNvPr>
          <p:cNvSpPr txBox="1"/>
          <p:nvPr/>
        </p:nvSpPr>
        <p:spPr>
          <a:xfrm>
            <a:off x="9165265" y="5826642"/>
            <a:ext cx="2491964" cy="646331"/>
          </a:xfrm>
          <a:prstGeom prst="rect">
            <a:avLst/>
          </a:prstGeom>
          <a:noFill/>
        </p:spPr>
        <p:txBody>
          <a:bodyPr wrap="none" rtlCol="0">
            <a:spAutoFit/>
          </a:bodyPr>
          <a:lstStyle/>
          <a:p>
            <a:pPr algn="r"/>
            <a:r>
              <a:rPr kumimoji="1" lang="en" altLang="zh-TW" dirty="0">
                <a:latin typeface="Times New Roman" panose="02020603050405020304" pitchFamily="18" charset="0"/>
                <a:cs typeface="Times New Roman" panose="02020603050405020304" pitchFamily="18" charset="0"/>
              </a:rPr>
              <a:t>Presenter:  Tsung-Lin Lu</a:t>
            </a:r>
          </a:p>
          <a:p>
            <a:pPr algn="r"/>
            <a:r>
              <a:rPr kumimoji="1" lang="en" altLang="zh-TW" dirty="0">
                <a:latin typeface="Times New Roman" panose="02020603050405020304" pitchFamily="18" charset="0"/>
                <a:cs typeface="Times New Roman" panose="02020603050405020304" pitchFamily="18" charset="0"/>
              </a:rPr>
              <a:t>Date: May 18, 2022</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5233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458097"/>
                <a:ext cx="10515600" cy="5034778"/>
              </a:xfrm>
            </p:spPr>
            <p:txBody>
              <a:bodyPr>
                <a:noAutofit/>
              </a:bodyPr>
              <a:lstStyle/>
              <a:p>
                <a:pPr marL="0" indent="0" algn="just">
                  <a:lnSpc>
                    <a:spcPct val="150000"/>
                  </a:lnSpc>
                  <a:buNone/>
                </a:pPr>
                <a:r>
                  <a:rPr lang="en-US" altLang="zh-TW" sz="2000" dirty="0">
                    <a:latin typeface="Times New Roman" panose="02020603050405020304" pitchFamily="18" charset="0"/>
                    <a:cs typeface="Times New Roman" panose="02020603050405020304" pitchFamily="18" charset="0"/>
                  </a:rPr>
                  <a:t>For two strings </a:t>
                </a:r>
                <a14:m>
                  <m:oMath xmlns:m="http://schemas.openxmlformats.org/officeDocument/2006/math">
                    <m:r>
                      <a:rPr lang="en-US" altLang="zh-TW" sz="2000" i="1" dirty="0">
                        <a:latin typeface="Cambria Math" panose="02040503050406030204" pitchFamily="18" charset="0"/>
                        <a:cs typeface="Times New Roman" panose="02020603050405020304" pitchFamily="18" charset="0"/>
                      </a:rPr>
                      <m:t>𝑎</m:t>
                    </m:r>
                  </m:oMath>
                </a14:m>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000" i="1" dirty="0">
                        <a:latin typeface="Cambria Math" panose="02040503050406030204" pitchFamily="18" charset="0"/>
                        <a:cs typeface="Times New Roman" panose="02020603050405020304" pitchFamily="18" charset="0"/>
                      </a:rPr>
                      <m:t>𝑏</m:t>
                    </m:r>
                  </m:oMath>
                </a14:m>
                <a:r>
                  <a:rPr lang="en-US" altLang="zh-TW" sz="2000" dirty="0">
                    <a:latin typeface="Times New Roman" panose="02020603050405020304" pitchFamily="18" charset="0"/>
                    <a:cs typeface="Times New Roman" panose="02020603050405020304" pitchFamily="18" charset="0"/>
                  </a:rPr>
                  <a:t> of lengths </a:t>
                </a:r>
                <a14:m>
                  <m:oMath xmlns:m="http://schemas.openxmlformats.org/officeDocument/2006/math">
                    <m:r>
                      <a:rPr lang="en-US" altLang="zh-TW" sz="2000" i="1" dirty="0">
                        <a:latin typeface="Cambria Math" panose="02040503050406030204" pitchFamily="18" charset="0"/>
                        <a:cs typeface="Times New Roman" panose="02020603050405020304" pitchFamily="18" charset="0"/>
                      </a:rPr>
                      <m:t>𝑚</m:t>
                    </m:r>
                  </m:oMath>
                </a14:m>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000" i="1" dirty="0">
                        <a:latin typeface="Cambria Math" panose="02040503050406030204" pitchFamily="18" charset="0"/>
                        <a:cs typeface="Times New Roman" panose="02020603050405020304" pitchFamily="18" charset="0"/>
                      </a:rPr>
                      <m:t>𝑛</m:t>
                    </m:r>
                  </m:oMath>
                </a14:m>
                <a:r>
                  <a:rPr lang="en-US" altLang="zh-TW" sz="2000" dirty="0">
                    <a:latin typeface="Times New Roman" panose="02020603050405020304" pitchFamily="18" charset="0"/>
                    <a:cs typeface="Times New Roman" panose="02020603050405020304" pitchFamily="18" charset="0"/>
                  </a:rPr>
                  <a:t>, respectively, the longest common subsequence(LCS) problem consists in comparing </a:t>
                </a:r>
                <a14:m>
                  <m:oMath xmlns:m="http://schemas.openxmlformats.org/officeDocument/2006/math">
                    <m:r>
                      <a:rPr lang="en-US" altLang="zh-TW" sz="2000" i="1" dirty="0">
                        <a:latin typeface="Cambria Math" panose="02040503050406030204" pitchFamily="18" charset="0"/>
                        <a:cs typeface="Times New Roman" panose="02020603050405020304" pitchFamily="18" charset="0"/>
                      </a:rPr>
                      <m:t>𝑎</m:t>
                    </m:r>
                  </m:oMath>
                </a14:m>
                <a:r>
                  <a:rPr lang="en-US" altLang="zh-TW" sz="2000" dirty="0">
                    <a:latin typeface="Times New Roman" panose="02020603050405020304" pitchFamily="18" charset="0"/>
                    <a:cs typeface="Times New Roman" panose="02020603050405020304" pitchFamily="18" charset="0"/>
                  </a:rPr>
                  <a:t> and </a:t>
                </a:r>
                <a14:m>
                  <m:oMath xmlns:m="http://schemas.openxmlformats.org/officeDocument/2006/math">
                    <m:r>
                      <a:rPr lang="en-US" altLang="zh-TW" sz="2000" i="1" dirty="0">
                        <a:latin typeface="Cambria Math" panose="02040503050406030204" pitchFamily="18" charset="0"/>
                        <a:cs typeface="Times New Roman" panose="02020603050405020304" pitchFamily="18" charset="0"/>
                      </a:rPr>
                      <m:t>𝑏</m:t>
                    </m:r>
                  </m:oMath>
                </a14:m>
                <a:r>
                  <a:rPr lang="en-US" altLang="zh-TW" sz="2000" dirty="0">
                    <a:latin typeface="Times New Roman" panose="02020603050405020304" pitchFamily="18" charset="0"/>
                    <a:cs typeface="Times New Roman" panose="02020603050405020304" pitchFamily="18" charset="0"/>
                  </a:rPr>
                  <a:t> by computing the length of their LCS. In this paper, we define a </a:t>
                </a:r>
                <a:r>
                  <a:rPr lang="en-US" altLang="zh-TW" sz="2000" dirty="0" err="1">
                    <a:latin typeface="Times New Roman" panose="02020603050405020304" pitchFamily="18" charset="0"/>
                    <a:cs typeface="Times New Roman" panose="02020603050405020304" pitchFamily="18" charset="0"/>
                  </a:rPr>
                  <a:t>generalisation</a:t>
                </a:r>
                <a:r>
                  <a:rPr lang="en-US" altLang="zh-TW" sz="2000" dirty="0">
                    <a:latin typeface="Times New Roman" panose="02020603050405020304" pitchFamily="18" charset="0"/>
                    <a:cs typeface="Times New Roman" panose="02020603050405020304" pitchFamily="18" charset="0"/>
                  </a:rPr>
                  <a:t>, called “</a:t>
                </a:r>
                <a:r>
                  <a:rPr lang="en-US" altLang="zh-TW" sz="2000" b="1" dirty="0">
                    <a:latin typeface="Times New Roman" panose="02020603050405020304" pitchFamily="18" charset="0"/>
                    <a:cs typeface="Times New Roman" panose="02020603050405020304" pitchFamily="18" charset="0"/>
                  </a:rPr>
                  <a:t>the all semi-local LCS problem</a:t>
                </a:r>
                <a:r>
                  <a:rPr lang="en-US" altLang="zh-TW" sz="2000" dirty="0">
                    <a:latin typeface="Times New Roman" panose="02020603050405020304" pitchFamily="18" charset="0"/>
                    <a:cs typeface="Times New Roman" panose="02020603050405020304" pitchFamily="18" charset="0"/>
                  </a:rPr>
                  <a:t>”, where each string is compared against all substrings of the other string, and all prefixes of each string are compared against all suffixes of the other string. An explicit representation of the output lengths is of size </a:t>
                </a:r>
                <a14:m>
                  <m:oMath xmlns:m="http://schemas.openxmlformats.org/officeDocument/2006/math">
                    <m:r>
                      <m:rPr>
                        <m:sty m:val="p"/>
                      </m:rPr>
                      <a:rPr lang="el-GR" altLang="zh-TW" sz="2000" i="1" dirty="0">
                        <a:latin typeface="Cambria Math" panose="02040503050406030204" pitchFamily="18" charset="0"/>
                        <a:ea typeface="Cambria Math" panose="02040503050406030204" pitchFamily="18" charset="0"/>
                        <a:cs typeface="Times New Roman" panose="02020603050405020304" pitchFamily="18" charset="0"/>
                      </a:rPr>
                      <m:t>Θ</m:t>
                    </m:r>
                    <m:r>
                      <a:rPr lang="en-US" altLang="zh-TW" sz="2000" i="1" dirty="0">
                        <a:latin typeface="Cambria Math" panose="02040503050406030204" pitchFamily="18" charset="0"/>
                        <a:cs typeface="Times New Roman" panose="02020603050405020304" pitchFamily="18" charset="0"/>
                      </a:rPr>
                      <m:t>(</m:t>
                    </m:r>
                    <m:sSup>
                      <m:sSupPr>
                        <m:ctrlPr>
                          <a:rPr lang="en-US" altLang="zh-TW" sz="2000" i="1" dirty="0">
                            <a:latin typeface="Cambria Math" panose="02040503050406030204" pitchFamily="18" charset="0"/>
                            <a:cs typeface="Times New Roman" panose="02020603050405020304" pitchFamily="18" charset="0"/>
                          </a:rPr>
                        </m:ctrlPr>
                      </m:sSupPr>
                      <m:e>
                        <m:r>
                          <a:rPr lang="en-US" altLang="zh-TW" sz="2000" i="1" dirty="0">
                            <a:latin typeface="Cambria Math" panose="02040503050406030204" pitchFamily="18" charset="0"/>
                            <a:cs typeface="Times New Roman" panose="02020603050405020304" pitchFamily="18" charset="0"/>
                          </a:rPr>
                          <m:t>(</m:t>
                        </m:r>
                        <m:r>
                          <a:rPr lang="en-US" altLang="zh-TW" sz="2000" i="1" dirty="0">
                            <a:latin typeface="Cambria Math" panose="02040503050406030204" pitchFamily="18" charset="0"/>
                            <a:cs typeface="Times New Roman" panose="02020603050405020304" pitchFamily="18" charset="0"/>
                          </a:rPr>
                          <m:t>𝑚</m:t>
                        </m:r>
                        <m:r>
                          <a:rPr lang="en-US" altLang="zh-TW" sz="2000" i="1" dirty="0">
                            <a:latin typeface="Cambria Math" panose="02040503050406030204" pitchFamily="18" charset="0"/>
                            <a:cs typeface="Times New Roman" panose="02020603050405020304" pitchFamily="18" charset="0"/>
                          </a:rPr>
                          <m:t>+</m:t>
                        </m:r>
                        <m:r>
                          <a:rPr lang="en-US" altLang="zh-TW" sz="2000" i="1" dirty="0">
                            <a:latin typeface="Cambria Math" panose="02040503050406030204" pitchFamily="18" charset="0"/>
                            <a:cs typeface="Times New Roman" panose="02020603050405020304" pitchFamily="18" charset="0"/>
                          </a:rPr>
                          <m:t>𝑛</m:t>
                        </m:r>
                        <m:r>
                          <a:rPr lang="en-US" altLang="zh-TW" sz="2000" i="1" dirty="0">
                            <a:latin typeface="Cambria Math" panose="02040503050406030204" pitchFamily="18" charset="0"/>
                            <a:cs typeface="Times New Roman" panose="02020603050405020304" pitchFamily="18" charset="0"/>
                          </a:rPr>
                          <m:t>)</m:t>
                        </m:r>
                      </m:e>
                      <m:sup>
                        <m:r>
                          <a:rPr lang="en-US" altLang="zh-TW" sz="2000" i="1" dirty="0">
                            <a:latin typeface="Cambria Math" panose="02040503050406030204" pitchFamily="18" charset="0"/>
                            <a:cs typeface="Times New Roman" panose="02020603050405020304" pitchFamily="18" charset="0"/>
                          </a:rPr>
                          <m:t>2</m:t>
                        </m:r>
                      </m:sup>
                    </m:sSup>
                    <m:r>
                      <a:rPr lang="en-US" altLang="zh-TW" sz="2000" i="1" dirty="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 We show that the output can be represented implicitly by a geometric data structure of size </a:t>
                </a:r>
                <a14:m>
                  <m:oMath xmlns:m="http://schemas.openxmlformats.org/officeDocument/2006/math">
                    <m:r>
                      <a:rPr lang="en-US" altLang="zh-TW" sz="2000" b="1" i="1" dirty="0">
                        <a:latin typeface="Cambria Math" panose="02040503050406030204" pitchFamily="18" charset="0"/>
                        <a:cs typeface="Times New Roman" panose="02020603050405020304" pitchFamily="18" charset="0"/>
                      </a:rPr>
                      <m:t>𝑶</m:t>
                    </m:r>
                    <m:r>
                      <a:rPr lang="en-US" altLang="zh-TW" sz="2000" b="1" i="1" dirty="0">
                        <a:latin typeface="Cambria Math" panose="02040503050406030204" pitchFamily="18" charset="0"/>
                        <a:cs typeface="Times New Roman" panose="02020603050405020304" pitchFamily="18" charset="0"/>
                      </a:rPr>
                      <m:t>(</m:t>
                    </m:r>
                    <m:r>
                      <a:rPr lang="en-US" altLang="zh-TW" sz="2000" b="1" i="1" dirty="0" err="1">
                        <a:latin typeface="Cambria Math" panose="02040503050406030204" pitchFamily="18" charset="0"/>
                        <a:cs typeface="Times New Roman" panose="02020603050405020304" pitchFamily="18" charset="0"/>
                      </a:rPr>
                      <m:t>𝒎</m:t>
                    </m:r>
                    <m:r>
                      <a:rPr lang="en-US" altLang="zh-TW" sz="2000" b="1" i="1" dirty="0" err="1">
                        <a:latin typeface="Cambria Math" panose="02040503050406030204" pitchFamily="18" charset="0"/>
                        <a:cs typeface="Times New Roman" panose="02020603050405020304" pitchFamily="18" charset="0"/>
                      </a:rPr>
                      <m:t>+</m:t>
                    </m:r>
                    <m:r>
                      <a:rPr lang="en-US" altLang="zh-TW" sz="2000" b="1" i="1" dirty="0" err="1">
                        <a:latin typeface="Cambria Math" panose="02040503050406030204" pitchFamily="18" charset="0"/>
                        <a:cs typeface="Times New Roman" panose="02020603050405020304" pitchFamily="18" charset="0"/>
                      </a:rPr>
                      <m:t>𝒏</m:t>
                    </m:r>
                    <m:r>
                      <a:rPr lang="en-US" altLang="zh-TW" sz="2000" b="1" i="1" dirty="0">
                        <a:latin typeface="Cambria Math" panose="02040503050406030204" pitchFamily="18" charset="0"/>
                        <a:cs typeface="Times New Roman" panose="02020603050405020304" pitchFamily="18" charset="0"/>
                      </a:rPr>
                      <m:t>)</m:t>
                    </m:r>
                  </m:oMath>
                </a14:m>
                <a:r>
                  <a:rPr lang="en-US" altLang="zh-TW" sz="2000" b="1"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allowing efficient queries of the individual output lengths. We also develop the first all semi-local LCS algorithm, running in time </a:t>
                </a:r>
                <a14:m>
                  <m:oMath xmlns:m="http://schemas.openxmlformats.org/officeDocument/2006/math">
                    <m:r>
                      <a:rPr lang="en-US" altLang="zh-TW" sz="2000" b="1" i="1" dirty="0">
                        <a:latin typeface="Cambria Math" panose="02040503050406030204" pitchFamily="18" charset="0"/>
                        <a:cs typeface="Times New Roman" panose="02020603050405020304" pitchFamily="18" charset="0"/>
                      </a:rPr>
                      <m:t>𝒐</m:t>
                    </m:r>
                    <m:r>
                      <a:rPr lang="en-US" altLang="zh-TW" sz="2000" b="1" i="1" dirty="0">
                        <a:latin typeface="Cambria Math" panose="02040503050406030204" pitchFamily="18" charset="0"/>
                        <a:cs typeface="Times New Roman" panose="02020603050405020304" pitchFamily="18" charset="0"/>
                      </a:rPr>
                      <m:t>(</m:t>
                    </m:r>
                    <m:r>
                      <a:rPr lang="en-US" altLang="zh-TW" sz="2000" b="1" i="1" dirty="0" err="1">
                        <a:latin typeface="Cambria Math" panose="02040503050406030204" pitchFamily="18" charset="0"/>
                        <a:cs typeface="Times New Roman" panose="02020603050405020304" pitchFamily="18" charset="0"/>
                      </a:rPr>
                      <m:t>𝒎𝒏</m:t>
                    </m:r>
                    <m:r>
                      <a:rPr lang="en-US" altLang="zh-TW" sz="2000" b="1" i="1" dirty="0">
                        <a:latin typeface="Cambria Math" panose="02040503050406030204" pitchFamily="18" charset="0"/>
                        <a:cs typeface="Times New Roman" panose="02020603050405020304" pitchFamily="18" charset="0"/>
                      </a:rPr>
                      <m:t>)</m:t>
                    </m:r>
                  </m:oMath>
                </a14:m>
                <a:r>
                  <a:rPr lang="en-US" altLang="zh-TW" sz="2000" b="1"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where m and n are reasonably close. Compared to a number of previous results, our approach presents an improvement in algorithm functionality, output representation efficiency, and/or running time.</a:t>
                </a:r>
              </a:p>
            </p:txBody>
          </p:sp>
        </mc:Choice>
        <mc:Fallback xmlns="">
          <p:sp>
            <p:nvSpPr>
              <p:cNvPr id="3" name="內容版面配置區 2">
                <a:extLst>
                  <a:ext uri="{FF2B5EF4-FFF2-40B4-BE49-F238E27FC236}">
                    <a16:creationId xmlns:a16="http://schemas.microsoft.com/office/drawing/2014/main" id="{98C395C6-3EBC-4D47-9C22-52A1E36DD1C0}"/>
                  </a:ext>
                </a:extLst>
              </p:cNvPr>
              <p:cNvSpPr>
                <a:spLocks noGrp="1" noRot="1" noChangeAspect="1" noMove="1" noResize="1" noEditPoints="1" noAdjustHandles="1" noChangeArrowheads="1" noChangeShapeType="1" noTextEdit="1"/>
              </p:cNvSpPr>
              <p:nvPr>
                <p:ph idx="1"/>
              </p:nvPr>
            </p:nvSpPr>
            <p:spPr>
              <a:xfrm>
                <a:off x="838200" y="1458097"/>
                <a:ext cx="10515600" cy="5034778"/>
              </a:xfrm>
              <a:blipFill>
                <a:blip r:embed="rId2"/>
                <a:stretch>
                  <a:fillRect l="-724" r="-603"/>
                </a:stretch>
              </a:blipFill>
            </p:spPr>
            <p:txBody>
              <a:bodyPr/>
              <a:lstStyle/>
              <a:p>
                <a:r>
                  <a:rPr lang="zh-TW" altLang="en-US">
                    <a:noFill/>
                  </a:rPr>
                  <a:t> </a:t>
                </a:r>
              </a:p>
            </p:txBody>
          </p:sp>
        </mc:Fallback>
      </mc:AlternateContent>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a:t>
            </a:fld>
            <a:endParaRPr kumimoji="1" lang="zh-TW" altLang="en-US"/>
          </a:p>
        </p:txBody>
      </p:sp>
    </p:spTree>
    <p:extLst>
      <p:ext uri="{BB962C8B-B14F-4D97-AF65-F5344CB8AC3E}">
        <p14:creationId xmlns:p14="http://schemas.microsoft.com/office/powerpoint/2010/main" val="736690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Outline</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825625"/>
            <a:ext cx="5712912" cy="4351338"/>
          </a:xfrm>
        </p:spPr>
        <p:txBody>
          <a:bodyPr/>
          <a:lstStyle/>
          <a:p>
            <a:r>
              <a:rPr kumimoji="1" lang="en-US" altLang="zh-TW" dirty="0">
                <a:latin typeface="Times New Roman" panose="02020603050405020304" pitchFamily="18" charset="0"/>
                <a:cs typeface="Times New Roman" panose="02020603050405020304" pitchFamily="18" charset="0"/>
              </a:rPr>
              <a:t>Semi-Local LCS Problem</a:t>
            </a:r>
          </a:p>
          <a:p>
            <a:r>
              <a:rPr kumimoji="1" lang="en-US" altLang="zh-TW" dirty="0">
                <a:latin typeface="Times New Roman" panose="02020603050405020304" pitchFamily="18" charset="0"/>
                <a:cs typeface="Times New Roman" panose="02020603050405020304" pitchFamily="18" charset="0"/>
              </a:rPr>
              <a:t>Extended Highest-Score Matrix</a:t>
            </a:r>
          </a:p>
          <a:p>
            <a:r>
              <a:rPr kumimoji="1" lang="en-US" altLang="zh-TW" dirty="0">
                <a:latin typeface="Times New Roman" panose="02020603050405020304" pitchFamily="18" charset="0"/>
                <a:cs typeface="Times New Roman" panose="02020603050405020304" pitchFamily="18" charset="0"/>
              </a:rPr>
              <a:t>Critical Point</a:t>
            </a:r>
          </a:p>
          <a:p>
            <a:r>
              <a:rPr kumimoji="1" lang="en-US" altLang="zh-TW" dirty="0">
                <a:latin typeface="Times New Roman" panose="02020603050405020304" pitchFamily="18" charset="0"/>
                <a:cs typeface="Times New Roman" panose="02020603050405020304" pitchFamily="18" charset="0"/>
              </a:rPr>
              <a:t>Concatenation of </a:t>
            </a:r>
            <a:r>
              <a:rPr kumimoji="1" lang="en-US" altLang="zh-TW" i="1" dirty="0">
                <a:latin typeface="Times New Roman" panose="02020603050405020304" pitchFamily="18" charset="0"/>
                <a:cs typeface="Times New Roman" panose="02020603050405020304" pitchFamily="18" charset="0"/>
              </a:rPr>
              <a:t>A</a:t>
            </a:r>
            <a:r>
              <a:rPr kumimoji="1" lang="en-US" altLang="zh-TW" dirty="0">
                <a:latin typeface="Times New Roman" panose="02020603050405020304" pitchFamily="18" charset="0"/>
                <a:cs typeface="Times New Roman" panose="02020603050405020304" pitchFamily="18" charset="0"/>
              </a:rPr>
              <a:t> And </a:t>
            </a:r>
            <a:r>
              <a:rPr kumimoji="1" lang="en-US" altLang="zh-TW" i="1" dirty="0">
                <a:latin typeface="Times New Roman" panose="02020603050405020304" pitchFamily="18" charset="0"/>
                <a:cs typeface="Times New Roman" panose="02020603050405020304" pitchFamily="18" charset="0"/>
              </a:rPr>
              <a:t>B</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Algorithm1: Divide And Conquer</a:t>
            </a:r>
          </a:p>
          <a:p>
            <a:r>
              <a:rPr kumimoji="1" lang="en-US" altLang="zh-TW" dirty="0">
                <a:latin typeface="Times New Roman" panose="02020603050405020304" pitchFamily="18" charset="0"/>
                <a:cs typeface="Times New Roman" panose="02020603050405020304" pitchFamily="18" charset="0"/>
              </a:rPr>
              <a:t>Algorithm2: Iteration</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2</a:t>
            </a:fld>
            <a:endParaRPr kumimoji="1" lang="zh-TW" altLang="en-US"/>
          </a:p>
        </p:txBody>
      </p:sp>
      <p:sp>
        <p:nvSpPr>
          <p:cNvPr id="7" name="內容版面配置區 2">
            <a:extLst>
              <a:ext uri="{FF2B5EF4-FFF2-40B4-BE49-F238E27FC236}">
                <a16:creationId xmlns:a16="http://schemas.microsoft.com/office/drawing/2014/main" id="{8A8937D3-A634-D593-7A36-423DFAA03223}"/>
              </a:ext>
            </a:extLst>
          </p:cNvPr>
          <p:cNvSpPr txBox="1">
            <a:spLocks/>
          </p:cNvSpPr>
          <p:nvPr/>
        </p:nvSpPr>
        <p:spPr>
          <a:xfrm>
            <a:off x="6135665" y="1825625"/>
            <a:ext cx="571291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kumimoji="1" lang="en-US" altLang="zh-TW" dirty="0">
                <a:latin typeface="Times New Roman" panose="02020603050405020304" pitchFamily="18" charset="0"/>
                <a:cs typeface="Times New Roman" panose="02020603050405020304" pitchFamily="18" charset="0"/>
              </a:rPr>
              <a:t>2020/11/10 </a:t>
            </a:r>
            <a:r>
              <a:rPr kumimoji="1" lang="zh-TW" altLang="en-US" dirty="0">
                <a:latin typeface="Times New Roman" panose="02020603050405020304" pitchFamily="18" charset="0"/>
                <a:cs typeface="Times New Roman" panose="02020603050405020304" pitchFamily="18" charset="0"/>
              </a:rPr>
              <a:t>李紹瑄學姊報告過一次</a:t>
            </a:r>
            <a:endParaRPr kumimoji="1" lang="en-US" altLang="zh-TW" dirty="0">
              <a:latin typeface="Times New Roman" panose="02020603050405020304" pitchFamily="18" charset="0"/>
              <a:cs typeface="Times New Roman" panose="02020603050405020304" pitchFamily="18" charset="0"/>
            </a:endParaRPr>
          </a:p>
          <a:p>
            <a:pPr algn="just"/>
            <a:r>
              <a:rPr kumimoji="1" lang="en-US" altLang="zh-TW" dirty="0">
                <a:latin typeface="Times New Roman" panose="02020603050405020304" pitchFamily="18" charset="0"/>
                <a:cs typeface="Times New Roman" panose="02020603050405020304" pitchFamily="18" charset="0"/>
              </a:rPr>
              <a:t>Critical Point</a:t>
            </a:r>
            <a:r>
              <a:rPr kumimoji="1" lang="zh-TW" altLang="en-US" dirty="0">
                <a:latin typeface="Times New Roman" panose="02020603050405020304" pitchFamily="18" charset="0"/>
                <a:cs typeface="Times New Roman" panose="02020603050405020304" pitchFamily="18" charset="0"/>
              </a:rPr>
              <a:t>和</a:t>
            </a:r>
            <a:r>
              <a:rPr kumimoji="1" lang="en-US" altLang="zh-TW" dirty="0">
                <a:latin typeface="Times New Roman" panose="02020603050405020304" pitchFamily="18" charset="0"/>
                <a:cs typeface="Times New Roman" panose="02020603050405020304" pitchFamily="18" charset="0"/>
              </a:rPr>
              <a:t>Monge</a:t>
            </a:r>
            <a:r>
              <a:rPr kumimoji="1" lang="zh-TW" altLang="en-US" dirty="0">
                <a:latin typeface="Times New Roman" panose="02020603050405020304" pitchFamily="18" charset="0"/>
                <a:cs typeface="Times New Roman" panose="02020603050405020304" pitchFamily="18" charset="0"/>
              </a:rPr>
              <a:t>的關係</a:t>
            </a:r>
            <a:endParaRPr kumimoji="1" lang="en-US" altLang="zh-TW" dirty="0">
              <a:latin typeface="Times New Roman" panose="02020603050405020304" pitchFamily="18" charset="0"/>
              <a:cs typeface="Times New Roman" panose="02020603050405020304" pitchFamily="18" charset="0"/>
            </a:endParaRPr>
          </a:p>
          <a:p>
            <a:pPr algn="just"/>
            <a:r>
              <a:rPr kumimoji="1" lang="zh-TW" altLang="en-US" dirty="0">
                <a:latin typeface="Times New Roman" panose="02020603050405020304" pitchFamily="18" charset="0"/>
                <a:cs typeface="Times New Roman" panose="02020603050405020304" pitchFamily="18" charset="0"/>
              </a:rPr>
              <a:t>這篇將</a:t>
            </a:r>
            <a:r>
              <a:rPr kumimoji="1" lang="en-US" altLang="zh-TW" dirty="0">
                <a:latin typeface="Times New Roman" panose="02020603050405020304" pitchFamily="18" charset="0"/>
                <a:cs typeface="Times New Roman" panose="02020603050405020304" pitchFamily="18" charset="0"/>
              </a:rPr>
              <a:t>All substring-string</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LCS</a:t>
            </a:r>
            <a:r>
              <a:rPr kumimoji="1" lang="zh-TW" altLang="en-US" dirty="0">
                <a:latin typeface="Times New Roman" panose="02020603050405020304" pitchFamily="18" charset="0"/>
                <a:cs typeface="Times New Roman" panose="02020603050405020304" pitchFamily="18" charset="0"/>
              </a:rPr>
              <a:t>更廣義化</a:t>
            </a:r>
            <a:endParaRPr kumimoji="1"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9030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Semi-Local LCS Problem (1/2)</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933893" y="1690688"/>
            <a:ext cx="10515600" cy="4351338"/>
          </a:xfrm>
          <a:ln>
            <a:noFill/>
          </a:ln>
        </p:spPr>
        <p:txBody>
          <a:bodyPr/>
          <a:lstStyle/>
          <a:p>
            <a:r>
              <a:rPr kumimoji="1" lang="en-US" altLang="zh-TW" dirty="0">
                <a:latin typeface="Times New Roman" panose="02020603050405020304" pitchFamily="18" charset="0"/>
                <a:cs typeface="Times New Roman" panose="02020603050405020304" pitchFamily="18" charset="0"/>
              </a:rPr>
              <a:t>The all </a:t>
            </a:r>
            <a:r>
              <a:rPr kumimoji="1" lang="en-US" altLang="zh-TW" b="1" dirty="0">
                <a:solidFill>
                  <a:schemeClr val="accent2"/>
                </a:solidFill>
                <a:latin typeface="Times New Roman" panose="02020603050405020304" pitchFamily="18" charset="0"/>
                <a:cs typeface="Times New Roman" panose="02020603050405020304" pitchFamily="18" charset="0"/>
              </a:rPr>
              <a:t>string–substring </a:t>
            </a:r>
            <a:r>
              <a:rPr kumimoji="1" lang="en-US" altLang="zh-TW" dirty="0">
                <a:latin typeface="Times New Roman" panose="02020603050405020304" pitchFamily="18" charset="0"/>
                <a:cs typeface="Times New Roman" panose="02020603050405020304" pitchFamily="18" charset="0"/>
              </a:rPr>
              <a:t>LCS problem: a against every substring of b</a:t>
            </a:r>
          </a:p>
          <a:p>
            <a:r>
              <a:rPr kumimoji="1" lang="en-US" altLang="zh-TW" dirty="0">
                <a:latin typeface="Times New Roman" panose="02020603050405020304" pitchFamily="18" charset="0"/>
                <a:cs typeface="Times New Roman" panose="02020603050405020304" pitchFamily="18" charset="0"/>
              </a:rPr>
              <a:t>The all </a:t>
            </a:r>
            <a:r>
              <a:rPr kumimoji="1" lang="en-US" altLang="zh-TW" b="1" dirty="0">
                <a:solidFill>
                  <a:schemeClr val="accent5"/>
                </a:solidFill>
                <a:latin typeface="Times New Roman" panose="02020603050405020304" pitchFamily="18" charset="0"/>
                <a:cs typeface="Times New Roman" panose="02020603050405020304" pitchFamily="18" charset="0"/>
              </a:rPr>
              <a:t>prefix–suffix </a:t>
            </a:r>
            <a:r>
              <a:rPr kumimoji="1" lang="en-US" altLang="zh-TW" dirty="0">
                <a:latin typeface="Times New Roman" panose="02020603050405020304" pitchFamily="18" charset="0"/>
                <a:cs typeface="Times New Roman" panose="02020603050405020304" pitchFamily="18" charset="0"/>
              </a:rPr>
              <a:t>LCS problem: every prefix of a against every suffix of b</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3</a:t>
            </a:fld>
            <a:endParaRPr kumimoji="1" lang="zh-TW" altLang="en-US"/>
          </a:p>
        </p:txBody>
      </p:sp>
      <p:pic>
        <p:nvPicPr>
          <p:cNvPr id="5" name="圖片 4">
            <a:extLst>
              <a:ext uri="{FF2B5EF4-FFF2-40B4-BE49-F238E27FC236}">
                <a16:creationId xmlns:a16="http://schemas.microsoft.com/office/drawing/2014/main" id="{AC6F0D46-A4FF-3A85-9C31-1AF003F3CE5F}"/>
              </a:ext>
            </a:extLst>
          </p:cNvPr>
          <p:cNvPicPr>
            <a:picLocks noChangeAspect="1"/>
          </p:cNvPicPr>
          <p:nvPr/>
        </p:nvPicPr>
        <p:blipFill>
          <a:blip r:embed="rId2"/>
          <a:stretch>
            <a:fillRect/>
          </a:stretch>
        </p:blipFill>
        <p:spPr>
          <a:xfrm>
            <a:off x="2846640" y="2670566"/>
            <a:ext cx="5938140" cy="3758511"/>
          </a:xfrm>
          <a:prstGeom prst="rect">
            <a:avLst/>
          </a:prstGeom>
        </p:spPr>
      </p:pic>
      <p:sp>
        <p:nvSpPr>
          <p:cNvPr id="4" name="文字方塊 3">
            <a:extLst>
              <a:ext uri="{FF2B5EF4-FFF2-40B4-BE49-F238E27FC236}">
                <a16:creationId xmlns:a16="http://schemas.microsoft.com/office/drawing/2014/main" id="{DC6AA0C8-BEDB-BFB6-6172-865C47368588}"/>
              </a:ext>
            </a:extLst>
          </p:cNvPr>
          <p:cNvSpPr txBox="1"/>
          <p:nvPr/>
        </p:nvSpPr>
        <p:spPr>
          <a:xfrm>
            <a:off x="3258922" y="6286943"/>
            <a:ext cx="5307928"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(a) An alignment DAG. </a:t>
            </a:r>
            <a:r>
              <a:rPr kumimoji="1" lang="en-US" altLang="zh-TW" i="1" dirty="0">
                <a:latin typeface="Times New Roman" panose="02020603050405020304" pitchFamily="18" charset="0"/>
                <a:cs typeface="Times New Roman" panose="02020603050405020304" pitchFamily="18" charset="0"/>
              </a:rPr>
              <a:t>A</a:t>
            </a:r>
            <a:r>
              <a:rPr kumimoji="1"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baabcbca</a:t>
            </a:r>
            <a:r>
              <a:rPr kumimoji="1" lang="en-US" altLang="zh-TW" dirty="0">
                <a:latin typeface="Times New Roman" panose="02020603050405020304" pitchFamily="18" charset="0"/>
                <a:cs typeface="Times New Roman" panose="02020603050405020304" pitchFamily="18" charset="0"/>
              </a:rPr>
              <a:t>, </a:t>
            </a:r>
            <a:r>
              <a:rPr kumimoji="1" lang="en-US" altLang="zh-TW" i="1" dirty="0">
                <a:latin typeface="Times New Roman" panose="02020603050405020304" pitchFamily="18" charset="0"/>
                <a:cs typeface="Times New Roman" panose="02020603050405020304" pitchFamily="18" charset="0"/>
              </a:rPr>
              <a:t>B</a:t>
            </a:r>
            <a:r>
              <a:rPr kumimoji="1"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baabcabcabaca</a:t>
            </a:r>
            <a:endParaRPr lang="en-US" altLang="zh-TW" dirty="0">
              <a:latin typeface="Times New Roman" panose="02020603050405020304" pitchFamily="18" charset="0"/>
              <a:cs typeface="Times New Roman" panose="02020603050405020304" pitchFamily="18" charset="0"/>
            </a:endParaRPr>
          </a:p>
        </p:txBody>
      </p:sp>
      <p:cxnSp>
        <p:nvCxnSpPr>
          <p:cNvPr id="9" name="直線接點 8">
            <a:extLst>
              <a:ext uri="{FF2B5EF4-FFF2-40B4-BE49-F238E27FC236}">
                <a16:creationId xmlns:a16="http://schemas.microsoft.com/office/drawing/2014/main" id="{4ECB5060-8F65-F58F-84C0-951B73D95F18}"/>
              </a:ext>
            </a:extLst>
          </p:cNvPr>
          <p:cNvCxnSpPr/>
          <p:nvPr/>
        </p:nvCxnSpPr>
        <p:spPr>
          <a:xfrm>
            <a:off x="4975412" y="3089701"/>
            <a:ext cx="412376" cy="0"/>
          </a:xfrm>
          <a:prstGeom prst="line">
            <a:avLst/>
          </a:prstGeom>
          <a:ln w="7620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0" name="直線接點 9">
            <a:extLst>
              <a:ext uri="{FF2B5EF4-FFF2-40B4-BE49-F238E27FC236}">
                <a16:creationId xmlns:a16="http://schemas.microsoft.com/office/drawing/2014/main" id="{1551403C-4A04-6B11-027E-B463F72C2749}"/>
              </a:ext>
            </a:extLst>
          </p:cNvPr>
          <p:cNvCxnSpPr/>
          <p:nvPr/>
        </p:nvCxnSpPr>
        <p:spPr>
          <a:xfrm>
            <a:off x="6526306" y="5044007"/>
            <a:ext cx="412376" cy="0"/>
          </a:xfrm>
          <a:prstGeom prst="line">
            <a:avLst/>
          </a:prstGeom>
          <a:ln w="7620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1" name="直線接點 10">
            <a:extLst>
              <a:ext uri="{FF2B5EF4-FFF2-40B4-BE49-F238E27FC236}">
                <a16:creationId xmlns:a16="http://schemas.microsoft.com/office/drawing/2014/main" id="{46993338-0FBF-1E29-E97D-542B8AB8860B}"/>
              </a:ext>
            </a:extLst>
          </p:cNvPr>
          <p:cNvCxnSpPr>
            <a:cxnSpLocks/>
          </p:cNvCxnSpPr>
          <p:nvPr/>
        </p:nvCxnSpPr>
        <p:spPr>
          <a:xfrm>
            <a:off x="5387788" y="3089701"/>
            <a:ext cx="0" cy="389965"/>
          </a:xfrm>
          <a:prstGeom prst="line">
            <a:avLst/>
          </a:prstGeom>
          <a:ln w="7620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2" name="直線接點 11">
            <a:extLst>
              <a:ext uri="{FF2B5EF4-FFF2-40B4-BE49-F238E27FC236}">
                <a16:creationId xmlns:a16="http://schemas.microsoft.com/office/drawing/2014/main" id="{9047CAD8-E2D0-7340-9F85-EBCA9B679FFD}"/>
              </a:ext>
            </a:extLst>
          </p:cNvPr>
          <p:cNvCxnSpPr>
            <a:cxnSpLocks/>
          </p:cNvCxnSpPr>
          <p:nvPr/>
        </p:nvCxnSpPr>
        <p:spPr>
          <a:xfrm>
            <a:off x="5773271" y="3842736"/>
            <a:ext cx="0" cy="389965"/>
          </a:xfrm>
          <a:prstGeom prst="line">
            <a:avLst/>
          </a:prstGeom>
          <a:ln w="7620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3" name="直線接點 12">
            <a:extLst>
              <a:ext uri="{FF2B5EF4-FFF2-40B4-BE49-F238E27FC236}">
                <a16:creationId xmlns:a16="http://schemas.microsoft.com/office/drawing/2014/main" id="{7ACBB553-3780-AA64-C769-3E4F44EAF2DB}"/>
              </a:ext>
            </a:extLst>
          </p:cNvPr>
          <p:cNvCxnSpPr>
            <a:cxnSpLocks/>
          </p:cNvCxnSpPr>
          <p:nvPr/>
        </p:nvCxnSpPr>
        <p:spPr>
          <a:xfrm>
            <a:off x="7342094" y="5429489"/>
            <a:ext cx="0" cy="389965"/>
          </a:xfrm>
          <a:prstGeom prst="line">
            <a:avLst/>
          </a:prstGeom>
          <a:ln w="7620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4" name="直線接點 13">
            <a:extLst>
              <a:ext uri="{FF2B5EF4-FFF2-40B4-BE49-F238E27FC236}">
                <a16:creationId xmlns:a16="http://schemas.microsoft.com/office/drawing/2014/main" id="{91873BFB-252A-370A-7D43-1509B300C66B}"/>
              </a:ext>
            </a:extLst>
          </p:cNvPr>
          <p:cNvCxnSpPr>
            <a:cxnSpLocks/>
          </p:cNvCxnSpPr>
          <p:nvPr/>
        </p:nvCxnSpPr>
        <p:spPr>
          <a:xfrm>
            <a:off x="5387788" y="3479666"/>
            <a:ext cx="385483" cy="389965"/>
          </a:xfrm>
          <a:prstGeom prst="line">
            <a:avLst/>
          </a:prstGeom>
          <a:ln w="7620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5" name="直線接點 14">
            <a:extLst>
              <a:ext uri="{FF2B5EF4-FFF2-40B4-BE49-F238E27FC236}">
                <a16:creationId xmlns:a16="http://schemas.microsoft.com/office/drawing/2014/main" id="{CCF12258-1A8A-0DBE-26AD-8895F3959160}"/>
              </a:ext>
            </a:extLst>
          </p:cNvPr>
          <p:cNvCxnSpPr>
            <a:cxnSpLocks/>
          </p:cNvCxnSpPr>
          <p:nvPr/>
        </p:nvCxnSpPr>
        <p:spPr>
          <a:xfrm>
            <a:off x="5728447" y="4232701"/>
            <a:ext cx="427921" cy="424382"/>
          </a:xfrm>
          <a:prstGeom prst="line">
            <a:avLst/>
          </a:prstGeom>
          <a:ln w="7620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6" name="直線接點 15">
            <a:extLst>
              <a:ext uri="{FF2B5EF4-FFF2-40B4-BE49-F238E27FC236}">
                <a16:creationId xmlns:a16="http://schemas.microsoft.com/office/drawing/2014/main" id="{8AEE139A-7AC4-77BD-7608-17B4A6171494}"/>
              </a:ext>
            </a:extLst>
          </p:cNvPr>
          <p:cNvCxnSpPr>
            <a:cxnSpLocks/>
          </p:cNvCxnSpPr>
          <p:nvPr/>
        </p:nvCxnSpPr>
        <p:spPr>
          <a:xfrm>
            <a:off x="6156368" y="4680937"/>
            <a:ext cx="385483" cy="363070"/>
          </a:xfrm>
          <a:prstGeom prst="line">
            <a:avLst/>
          </a:prstGeom>
          <a:ln w="7620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7" name="直線接點 16">
            <a:extLst>
              <a:ext uri="{FF2B5EF4-FFF2-40B4-BE49-F238E27FC236}">
                <a16:creationId xmlns:a16="http://schemas.microsoft.com/office/drawing/2014/main" id="{34C37EE3-D812-2C83-2E24-69745CA99FD4}"/>
              </a:ext>
            </a:extLst>
          </p:cNvPr>
          <p:cNvCxnSpPr>
            <a:cxnSpLocks/>
          </p:cNvCxnSpPr>
          <p:nvPr/>
        </p:nvCxnSpPr>
        <p:spPr>
          <a:xfrm>
            <a:off x="6938682" y="5066419"/>
            <a:ext cx="385483" cy="363070"/>
          </a:xfrm>
          <a:prstGeom prst="line">
            <a:avLst/>
          </a:prstGeom>
          <a:ln w="7620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8" name="直線接點 17">
            <a:extLst>
              <a:ext uri="{FF2B5EF4-FFF2-40B4-BE49-F238E27FC236}">
                <a16:creationId xmlns:a16="http://schemas.microsoft.com/office/drawing/2014/main" id="{0F64BE21-70F4-058C-1A7A-C135C72C128A}"/>
              </a:ext>
            </a:extLst>
          </p:cNvPr>
          <p:cNvCxnSpPr>
            <a:cxnSpLocks/>
          </p:cNvCxnSpPr>
          <p:nvPr/>
        </p:nvCxnSpPr>
        <p:spPr>
          <a:xfrm>
            <a:off x="7315200" y="5787044"/>
            <a:ext cx="421341" cy="449269"/>
          </a:xfrm>
          <a:prstGeom prst="line">
            <a:avLst/>
          </a:prstGeom>
          <a:ln w="7620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9" name="直線接點 18">
            <a:extLst>
              <a:ext uri="{FF2B5EF4-FFF2-40B4-BE49-F238E27FC236}">
                <a16:creationId xmlns:a16="http://schemas.microsoft.com/office/drawing/2014/main" id="{1544EC2E-5052-C919-EAA8-6259DB9010B4}"/>
              </a:ext>
            </a:extLst>
          </p:cNvPr>
          <p:cNvCxnSpPr>
            <a:cxnSpLocks/>
          </p:cNvCxnSpPr>
          <p:nvPr/>
        </p:nvCxnSpPr>
        <p:spPr>
          <a:xfrm>
            <a:off x="3395942" y="4260541"/>
            <a:ext cx="385483" cy="389965"/>
          </a:xfrm>
          <a:prstGeom prst="line">
            <a:avLst/>
          </a:prstGeom>
          <a:ln w="76200">
            <a:solidFill>
              <a:schemeClr val="accent5"/>
            </a:solidFill>
          </a:ln>
        </p:spPr>
        <p:style>
          <a:lnRef idx="1">
            <a:schemeClr val="accent6"/>
          </a:lnRef>
          <a:fillRef idx="0">
            <a:schemeClr val="accent6"/>
          </a:fillRef>
          <a:effectRef idx="0">
            <a:schemeClr val="accent6"/>
          </a:effectRef>
          <a:fontRef idx="minor">
            <a:schemeClr val="tx1"/>
          </a:fontRef>
        </p:style>
      </p:cxnSp>
      <p:cxnSp>
        <p:nvCxnSpPr>
          <p:cNvPr id="20" name="直線接點 19">
            <a:extLst>
              <a:ext uri="{FF2B5EF4-FFF2-40B4-BE49-F238E27FC236}">
                <a16:creationId xmlns:a16="http://schemas.microsoft.com/office/drawing/2014/main" id="{B30E428D-6F24-8709-30A9-D19E8B114EA5}"/>
              </a:ext>
            </a:extLst>
          </p:cNvPr>
          <p:cNvCxnSpPr>
            <a:cxnSpLocks/>
          </p:cNvCxnSpPr>
          <p:nvPr/>
        </p:nvCxnSpPr>
        <p:spPr>
          <a:xfrm>
            <a:off x="4606178" y="5050156"/>
            <a:ext cx="385483" cy="389965"/>
          </a:xfrm>
          <a:prstGeom prst="line">
            <a:avLst/>
          </a:prstGeom>
          <a:ln w="76200">
            <a:solidFill>
              <a:schemeClr val="accent5"/>
            </a:solidFill>
          </a:ln>
        </p:spPr>
        <p:style>
          <a:lnRef idx="1">
            <a:schemeClr val="accent6"/>
          </a:lnRef>
          <a:fillRef idx="0">
            <a:schemeClr val="accent6"/>
          </a:fillRef>
          <a:effectRef idx="0">
            <a:schemeClr val="accent6"/>
          </a:effectRef>
          <a:fontRef idx="minor">
            <a:schemeClr val="tx1"/>
          </a:fontRef>
        </p:style>
      </p:cxnSp>
      <p:cxnSp>
        <p:nvCxnSpPr>
          <p:cNvPr id="21" name="直線接點 20">
            <a:extLst>
              <a:ext uri="{FF2B5EF4-FFF2-40B4-BE49-F238E27FC236}">
                <a16:creationId xmlns:a16="http://schemas.microsoft.com/office/drawing/2014/main" id="{3E372DC1-B46B-CBBD-B501-4543DA1D25A3}"/>
              </a:ext>
            </a:extLst>
          </p:cNvPr>
          <p:cNvCxnSpPr>
            <a:cxnSpLocks/>
          </p:cNvCxnSpPr>
          <p:nvPr/>
        </p:nvCxnSpPr>
        <p:spPr>
          <a:xfrm>
            <a:off x="4991659" y="5433884"/>
            <a:ext cx="385483" cy="389965"/>
          </a:xfrm>
          <a:prstGeom prst="line">
            <a:avLst/>
          </a:prstGeom>
          <a:ln w="76200">
            <a:solidFill>
              <a:schemeClr val="accent5"/>
            </a:solidFill>
          </a:ln>
        </p:spPr>
        <p:style>
          <a:lnRef idx="1">
            <a:schemeClr val="accent6"/>
          </a:lnRef>
          <a:fillRef idx="0">
            <a:schemeClr val="accent6"/>
          </a:fillRef>
          <a:effectRef idx="0">
            <a:schemeClr val="accent6"/>
          </a:effectRef>
          <a:fontRef idx="minor">
            <a:schemeClr val="tx1"/>
          </a:fontRef>
        </p:style>
      </p:cxnSp>
      <p:cxnSp>
        <p:nvCxnSpPr>
          <p:cNvPr id="22" name="直線接點 21">
            <a:extLst>
              <a:ext uri="{FF2B5EF4-FFF2-40B4-BE49-F238E27FC236}">
                <a16:creationId xmlns:a16="http://schemas.microsoft.com/office/drawing/2014/main" id="{A1E6F31D-DC05-046A-3166-FA1009DB9475}"/>
              </a:ext>
            </a:extLst>
          </p:cNvPr>
          <p:cNvCxnSpPr>
            <a:cxnSpLocks/>
          </p:cNvCxnSpPr>
          <p:nvPr/>
        </p:nvCxnSpPr>
        <p:spPr>
          <a:xfrm>
            <a:off x="3781425" y="4650506"/>
            <a:ext cx="0" cy="426545"/>
          </a:xfrm>
          <a:prstGeom prst="line">
            <a:avLst/>
          </a:prstGeom>
          <a:ln w="76200">
            <a:solidFill>
              <a:schemeClr val="accent5"/>
            </a:solidFill>
          </a:ln>
        </p:spPr>
        <p:style>
          <a:lnRef idx="1">
            <a:schemeClr val="accent6"/>
          </a:lnRef>
          <a:fillRef idx="0">
            <a:schemeClr val="accent6"/>
          </a:fillRef>
          <a:effectRef idx="0">
            <a:schemeClr val="accent6"/>
          </a:effectRef>
          <a:fontRef idx="minor">
            <a:schemeClr val="tx1"/>
          </a:fontRef>
        </p:style>
      </p:cxnSp>
      <p:cxnSp>
        <p:nvCxnSpPr>
          <p:cNvPr id="23" name="直線接點 22">
            <a:extLst>
              <a:ext uri="{FF2B5EF4-FFF2-40B4-BE49-F238E27FC236}">
                <a16:creationId xmlns:a16="http://schemas.microsoft.com/office/drawing/2014/main" id="{40DB17D5-0D05-8858-27CA-FFB35BDA5936}"/>
              </a:ext>
            </a:extLst>
          </p:cNvPr>
          <p:cNvCxnSpPr>
            <a:cxnSpLocks/>
          </p:cNvCxnSpPr>
          <p:nvPr/>
        </p:nvCxnSpPr>
        <p:spPr>
          <a:xfrm>
            <a:off x="5387788" y="5797676"/>
            <a:ext cx="0" cy="426545"/>
          </a:xfrm>
          <a:prstGeom prst="line">
            <a:avLst/>
          </a:prstGeom>
          <a:ln w="76200">
            <a:solidFill>
              <a:schemeClr val="accent5"/>
            </a:solidFill>
          </a:ln>
        </p:spPr>
        <p:style>
          <a:lnRef idx="1">
            <a:schemeClr val="accent6"/>
          </a:lnRef>
          <a:fillRef idx="0">
            <a:schemeClr val="accent6"/>
          </a:fillRef>
          <a:effectRef idx="0">
            <a:schemeClr val="accent6"/>
          </a:effectRef>
          <a:fontRef idx="minor">
            <a:schemeClr val="tx1"/>
          </a:fontRef>
        </p:style>
      </p:cxnSp>
      <p:cxnSp>
        <p:nvCxnSpPr>
          <p:cNvPr id="24" name="直線接點 23">
            <a:extLst>
              <a:ext uri="{FF2B5EF4-FFF2-40B4-BE49-F238E27FC236}">
                <a16:creationId xmlns:a16="http://schemas.microsoft.com/office/drawing/2014/main" id="{723C38DB-F7DB-1A74-4236-C14AE83B5E99}"/>
              </a:ext>
            </a:extLst>
          </p:cNvPr>
          <p:cNvCxnSpPr>
            <a:cxnSpLocks/>
          </p:cNvCxnSpPr>
          <p:nvPr/>
        </p:nvCxnSpPr>
        <p:spPr>
          <a:xfrm>
            <a:off x="3781425" y="5077051"/>
            <a:ext cx="824753" cy="0"/>
          </a:xfrm>
          <a:prstGeom prst="line">
            <a:avLst/>
          </a:prstGeom>
          <a:ln w="76200">
            <a:solidFill>
              <a:schemeClr val="accent5"/>
            </a:solidFill>
          </a:ln>
        </p:spPr>
        <p:style>
          <a:lnRef idx="1">
            <a:schemeClr val="accent6"/>
          </a:lnRef>
          <a:fillRef idx="0">
            <a:schemeClr val="accent6"/>
          </a:fillRef>
          <a:effectRef idx="0">
            <a:schemeClr val="accent6"/>
          </a:effectRef>
          <a:fontRef idx="minor">
            <a:schemeClr val="tx1"/>
          </a:fontRef>
        </p:style>
      </p:cxnSp>
      <p:sp>
        <p:nvSpPr>
          <p:cNvPr id="25" name="矩形 24">
            <a:extLst>
              <a:ext uri="{FF2B5EF4-FFF2-40B4-BE49-F238E27FC236}">
                <a16:creationId xmlns:a16="http://schemas.microsoft.com/office/drawing/2014/main" id="{D89C032A-FEC7-054D-B3DD-1C0CF1153BC1}"/>
              </a:ext>
            </a:extLst>
          </p:cNvPr>
          <p:cNvSpPr/>
          <p:nvPr/>
        </p:nvSpPr>
        <p:spPr>
          <a:xfrm>
            <a:off x="2899805" y="2720369"/>
            <a:ext cx="603050" cy="369332"/>
          </a:xfrm>
          <a:prstGeom prst="rect">
            <a:avLst/>
          </a:prstGeom>
        </p:spPr>
        <p:txBody>
          <a:bodyPr wrap="none">
            <a:spAutoFit/>
          </a:bodyPr>
          <a:lstStyle/>
          <a:p>
            <a:r>
              <a:rPr lang="en-US" altLang="zh-TW" b="1" dirty="0">
                <a:solidFill>
                  <a:srgbClr val="000000"/>
                </a:solidFill>
                <a:latin typeface="Menlo" panose="020B0609030804020204" pitchFamily="49" charset="0"/>
              </a:rPr>
              <a:t>A\B</a:t>
            </a:r>
            <a:endParaRPr lang="en-US" altLang="zh-TW"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123049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Semi-Local LCS Problem (2/2)</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4</a:t>
            </a:fld>
            <a:endParaRPr kumimoji="1" lang="zh-TW" altLang="en-US"/>
          </a:p>
        </p:txBody>
      </p:sp>
      <p:pic>
        <p:nvPicPr>
          <p:cNvPr id="5" name="圖片 4">
            <a:extLst>
              <a:ext uri="{FF2B5EF4-FFF2-40B4-BE49-F238E27FC236}">
                <a16:creationId xmlns:a16="http://schemas.microsoft.com/office/drawing/2014/main" id="{1731FD04-7138-5004-4AA9-643063EC329E}"/>
              </a:ext>
            </a:extLst>
          </p:cNvPr>
          <p:cNvPicPr>
            <a:picLocks noChangeAspect="1"/>
          </p:cNvPicPr>
          <p:nvPr/>
        </p:nvPicPr>
        <p:blipFill>
          <a:blip r:embed="rId2"/>
          <a:stretch>
            <a:fillRect/>
          </a:stretch>
        </p:blipFill>
        <p:spPr>
          <a:xfrm>
            <a:off x="3904423" y="1297363"/>
            <a:ext cx="5411823" cy="1695520"/>
          </a:xfrm>
          <a:prstGeom prst="rect">
            <a:avLst/>
          </a:prstGeom>
        </p:spPr>
      </p:pic>
      <p:graphicFrame>
        <p:nvGraphicFramePr>
          <p:cNvPr id="8" name="表格 6">
            <a:extLst>
              <a:ext uri="{FF2B5EF4-FFF2-40B4-BE49-F238E27FC236}">
                <a16:creationId xmlns:a16="http://schemas.microsoft.com/office/drawing/2014/main" id="{EA7F7974-D0E8-D985-5FCA-8AFD0D505E73}"/>
              </a:ext>
            </a:extLst>
          </p:cNvPr>
          <p:cNvGraphicFramePr>
            <a:graphicFrameLocks noGrp="1"/>
          </p:cNvGraphicFramePr>
          <p:nvPr>
            <p:extLst>
              <p:ext uri="{D42A27DB-BD31-4B8C-83A1-F6EECF244321}">
                <p14:modId xmlns:p14="http://schemas.microsoft.com/office/powerpoint/2010/main" val="1348581198"/>
              </p:ext>
            </p:extLst>
          </p:nvPr>
        </p:nvGraphicFramePr>
        <p:xfrm>
          <a:off x="1966693" y="3271222"/>
          <a:ext cx="7871010" cy="3330480"/>
        </p:xfrm>
        <a:graphic>
          <a:graphicData uri="http://schemas.openxmlformats.org/drawingml/2006/table">
            <a:tbl>
              <a:tblPr firstRow="1" bandRow="1">
                <a:tableStyleId>{5940675A-B579-460E-94D1-54222C63F5DA}</a:tableStyleId>
              </a:tblPr>
              <a:tblGrid>
                <a:gridCol w="787101">
                  <a:extLst>
                    <a:ext uri="{9D8B030D-6E8A-4147-A177-3AD203B41FA5}">
                      <a16:colId xmlns:a16="http://schemas.microsoft.com/office/drawing/2014/main" val="3582644406"/>
                    </a:ext>
                  </a:extLst>
                </a:gridCol>
                <a:gridCol w="787101">
                  <a:extLst>
                    <a:ext uri="{9D8B030D-6E8A-4147-A177-3AD203B41FA5}">
                      <a16:colId xmlns:a16="http://schemas.microsoft.com/office/drawing/2014/main" val="3432789961"/>
                    </a:ext>
                  </a:extLst>
                </a:gridCol>
                <a:gridCol w="787101">
                  <a:extLst>
                    <a:ext uri="{9D8B030D-6E8A-4147-A177-3AD203B41FA5}">
                      <a16:colId xmlns:a16="http://schemas.microsoft.com/office/drawing/2014/main" val="1175871002"/>
                    </a:ext>
                  </a:extLst>
                </a:gridCol>
                <a:gridCol w="787101">
                  <a:extLst>
                    <a:ext uri="{9D8B030D-6E8A-4147-A177-3AD203B41FA5}">
                      <a16:colId xmlns:a16="http://schemas.microsoft.com/office/drawing/2014/main" val="10503038"/>
                    </a:ext>
                  </a:extLst>
                </a:gridCol>
                <a:gridCol w="787101">
                  <a:extLst>
                    <a:ext uri="{9D8B030D-6E8A-4147-A177-3AD203B41FA5}">
                      <a16:colId xmlns:a16="http://schemas.microsoft.com/office/drawing/2014/main" val="1546427624"/>
                    </a:ext>
                  </a:extLst>
                </a:gridCol>
                <a:gridCol w="787101">
                  <a:extLst>
                    <a:ext uri="{9D8B030D-6E8A-4147-A177-3AD203B41FA5}">
                      <a16:colId xmlns:a16="http://schemas.microsoft.com/office/drawing/2014/main" val="1933916000"/>
                    </a:ext>
                  </a:extLst>
                </a:gridCol>
                <a:gridCol w="787101">
                  <a:extLst>
                    <a:ext uri="{9D8B030D-6E8A-4147-A177-3AD203B41FA5}">
                      <a16:colId xmlns:a16="http://schemas.microsoft.com/office/drawing/2014/main" val="2453387150"/>
                    </a:ext>
                  </a:extLst>
                </a:gridCol>
                <a:gridCol w="787101">
                  <a:extLst>
                    <a:ext uri="{9D8B030D-6E8A-4147-A177-3AD203B41FA5}">
                      <a16:colId xmlns:a16="http://schemas.microsoft.com/office/drawing/2014/main" val="3151185847"/>
                    </a:ext>
                  </a:extLst>
                </a:gridCol>
                <a:gridCol w="787101">
                  <a:extLst>
                    <a:ext uri="{9D8B030D-6E8A-4147-A177-3AD203B41FA5}">
                      <a16:colId xmlns:a16="http://schemas.microsoft.com/office/drawing/2014/main" val="4161002384"/>
                    </a:ext>
                  </a:extLst>
                </a:gridCol>
                <a:gridCol w="787101">
                  <a:extLst>
                    <a:ext uri="{9D8B030D-6E8A-4147-A177-3AD203B41FA5}">
                      <a16:colId xmlns:a16="http://schemas.microsoft.com/office/drawing/2014/main" val="2294325834"/>
                    </a:ext>
                  </a:extLst>
                </a:gridCol>
              </a:tblGrid>
              <a:tr h="55508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extLst>
                  <a:ext uri="{0D108BD9-81ED-4DB2-BD59-A6C34878D82A}">
                    <a16:rowId xmlns:a16="http://schemas.microsoft.com/office/drawing/2014/main" val="1316579863"/>
                  </a:ext>
                </a:extLst>
              </a:tr>
              <a:tr h="55508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tc>
                <a:tc>
                  <a:txBody>
                    <a:bodyPr/>
                    <a:lstStyle/>
                    <a:p>
                      <a:endParaRPr lang="zh-TW" altLang="en-US" dirty="0"/>
                    </a:p>
                  </a:txBody>
                  <a:tcPr>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tcPr>
                </a:tc>
                <a:tc>
                  <a:txBody>
                    <a:bodyPr/>
                    <a:lstStyle/>
                    <a:p>
                      <a:endParaRPr lang="zh-TW" altLang="en-US" dirty="0"/>
                    </a:p>
                  </a:txBody>
                  <a:tcPr/>
                </a:tc>
                <a:tc>
                  <a:txBody>
                    <a:bodyPr/>
                    <a:lstStyle/>
                    <a:p>
                      <a:endParaRPr lang="zh-TW" altLang="en-US"/>
                    </a:p>
                  </a:txBody>
                  <a:tcPr>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extLst>
                  <a:ext uri="{0D108BD9-81ED-4DB2-BD59-A6C34878D82A}">
                    <a16:rowId xmlns:a16="http://schemas.microsoft.com/office/drawing/2014/main" val="3334404971"/>
                  </a:ext>
                </a:extLst>
              </a:tr>
              <a:tr h="555080">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lnR w="12700" cap="flat" cmpd="sng" algn="ctr">
                      <a:solidFill>
                        <a:schemeClr val="tx1"/>
                      </a:solidFill>
                      <a:prstDash val="solid"/>
                      <a:round/>
                      <a:headEnd type="none" w="med" len="med"/>
                      <a:tailEnd type="none" w="med" len="med"/>
                    </a:lnR>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endParaRPr lang="zh-TW" altLang="en-US" dirty="0"/>
                    </a:p>
                  </a:txBody>
                  <a:tcPr>
                    <a:lnL w="12700" cap="flat" cmpd="sng" algn="ctr">
                      <a:solidFill>
                        <a:schemeClr val="tx1"/>
                      </a:solidFill>
                      <a:prstDash val="solid"/>
                      <a:round/>
                      <a:headEnd type="none" w="med" len="med"/>
                      <a:tailEnd type="none" w="med" len="med"/>
                    </a:lnL>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extLst>
                  <a:ext uri="{0D108BD9-81ED-4DB2-BD59-A6C34878D82A}">
                    <a16:rowId xmlns:a16="http://schemas.microsoft.com/office/drawing/2014/main" val="256436498"/>
                  </a:ext>
                </a:extLst>
              </a:tr>
              <a:tr h="555080">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tc>
                <a:tc>
                  <a:txBody>
                    <a:bodyPr/>
                    <a:lstStyle/>
                    <a:p>
                      <a:endParaRPr lang="zh-TW" altLang="en-US" dirty="0"/>
                    </a:p>
                  </a:txBody>
                  <a:tcPr>
                    <a:lnT w="12700" cap="flat" cmpd="sng" algn="ctr">
                      <a:solidFill>
                        <a:schemeClr val="tx1"/>
                      </a:solidFill>
                      <a:prstDash val="solid"/>
                      <a:round/>
                      <a:headEnd type="none" w="med" len="med"/>
                      <a:tailEnd type="none" w="med" len="med"/>
                    </a:lnT>
                    <a:lnTlToBr w="12700" cap="flat" cmpd="sng" algn="ctr">
                      <a:solidFill>
                        <a:schemeClr val="tx1"/>
                      </a:solidFill>
                      <a:prstDash val="solid"/>
                      <a:round/>
                      <a:headEnd type="none" w="med" len="med"/>
                      <a:tailEnd type="none" w="med" len="med"/>
                    </a:lnTlToBr>
                  </a:tcPr>
                </a:tc>
                <a:tc>
                  <a:txBody>
                    <a:bodyPr/>
                    <a:lstStyle/>
                    <a:p>
                      <a:endParaRPr lang="zh-TW" altLang="en-US"/>
                    </a:p>
                  </a:txBody>
                  <a:tcPr/>
                </a:tc>
                <a:tc>
                  <a:txBody>
                    <a:bodyPr/>
                    <a:lstStyle/>
                    <a:p>
                      <a:endParaRPr lang="zh-TW" altLang="en-US" dirty="0"/>
                    </a:p>
                  </a:txBody>
                  <a:tcPr>
                    <a:lnT w="12700" cap="flat" cmpd="sng" algn="ctr">
                      <a:solidFill>
                        <a:schemeClr val="tx1"/>
                      </a:solidFill>
                      <a:prstDash val="solid"/>
                      <a:round/>
                      <a:headEnd type="none" w="med" len="med"/>
                      <a:tailEnd type="none" w="med" len="med"/>
                    </a:lnT>
                    <a:lnTlToBr w="12700" cap="flat" cmpd="sng" algn="ctr">
                      <a:solidFill>
                        <a:schemeClr val="tx1"/>
                      </a:solidFill>
                      <a:prstDash val="solid"/>
                      <a:round/>
                      <a:headEnd type="none" w="med" len="med"/>
                      <a:tailEnd type="none" w="med" len="med"/>
                    </a:lnTlToBr>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extLst>
                  <a:ext uri="{0D108BD9-81ED-4DB2-BD59-A6C34878D82A}">
                    <a16:rowId xmlns:a16="http://schemas.microsoft.com/office/drawing/2014/main" val="796255170"/>
                  </a:ext>
                </a:extLst>
              </a:tr>
              <a:tr h="555080">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extLst>
                  <a:ext uri="{0D108BD9-81ED-4DB2-BD59-A6C34878D82A}">
                    <a16:rowId xmlns:a16="http://schemas.microsoft.com/office/drawing/2014/main" val="3422463479"/>
                  </a:ext>
                </a:extLst>
              </a:tr>
              <a:tr h="555080">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tc>
                <a:tc>
                  <a:txBody>
                    <a:bodyPr/>
                    <a:lstStyle/>
                    <a:p>
                      <a:endParaRPr lang="zh-TW" altLang="en-US"/>
                    </a:p>
                  </a:txBody>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a:p>
                  </a:txBody>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ltLang="en-US" dirty="0"/>
                    </a:p>
                  </a:txBody>
                  <a:tcPr>
                    <a:lnTlToBr w="12700" cap="flat" cmpd="sng" algn="ctr">
                      <a:solidFill>
                        <a:schemeClr val="tx1"/>
                      </a:solidFill>
                      <a:prstDash val="solid"/>
                      <a:round/>
                      <a:headEnd type="none" w="med" len="med"/>
                      <a:tailEnd type="none" w="med" len="med"/>
                    </a:lnTlToBr>
                  </a:tcPr>
                </a:tc>
                <a:extLst>
                  <a:ext uri="{0D108BD9-81ED-4DB2-BD59-A6C34878D82A}">
                    <a16:rowId xmlns:a16="http://schemas.microsoft.com/office/drawing/2014/main" val="1864631501"/>
                  </a:ext>
                </a:extLst>
              </a:tr>
            </a:tbl>
          </a:graphicData>
        </a:graphic>
      </p:graphicFrame>
      <p:sp>
        <p:nvSpPr>
          <p:cNvPr id="9" name="矩形 8">
            <a:extLst>
              <a:ext uri="{FF2B5EF4-FFF2-40B4-BE49-F238E27FC236}">
                <a16:creationId xmlns:a16="http://schemas.microsoft.com/office/drawing/2014/main" id="{119543B8-39A8-C67B-2581-B650ABA90E4B}"/>
              </a:ext>
            </a:extLst>
          </p:cNvPr>
          <p:cNvSpPr/>
          <p:nvPr/>
        </p:nvSpPr>
        <p:spPr>
          <a:xfrm>
            <a:off x="4298576" y="3271221"/>
            <a:ext cx="3151095" cy="3330479"/>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id="{3CF745A3-6C94-B953-3E5E-54E672AC5EDF}"/>
              </a:ext>
            </a:extLst>
          </p:cNvPr>
          <p:cNvSpPr txBox="1"/>
          <p:nvPr/>
        </p:nvSpPr>
        <p:spPr>
          <a:xfrm>
            <a:off x="797860" y="4656286"/>
            <a:ext cx="397866" cy="461665"/>
          </a:xfrm>
          <a:prstGeom prst="rect">
            <a:avLst/>
          </a:prstGeom>
          <a:noFill/>
        </p:spPr>
        <p:txBody>
          <a:bodyPr wrap="none" rtlCol="0">
            <a:spAutoFit/>
          </a:bodyPr>
          <a:lstStyle/>
          <a:p>
            <a:r>
              <a:rPr lang="en-US" altLang="zh-TW" sz="2400" dirty="0"/>
              <a:t>…</a:t>
            </a:r>
            <a:endParaRPr lang="zh-TW" altLang="en-US" sz="2400" dirty="0"/>
          </a:p>
        </p:txBody>
      </p:sp>
      <p:sp>
        <p:nvSpPr>
          <p:cNvPr id="11" name="文字方塊 10">
            <a:extLst>
              <a:ext uri="{FF2B5EF4-FFF2-40B4-BE49-F238E27FC236}">
                <a16:creationId xmlns:a16="http://schemas.microsoft.com/office/drawing/2014/main" id="{1F431592-8D4B-AE7B-1948-E9E4CCFCBEB7}"/>
              </a:ext>
            </a:extLst>
          </p:cNvPr>
          <p:cNvSpPr txBox="1"/>
          <p:nvPr/>
        </p:nvSpPr>
        <p:spPr>
          <a:xfrm>
            <a:off x="10479742" y="4656286"/>
            <a:ext cx="397866" cy="461665"/>
          </a:xfrm>
          <a:prstGeom prst="rect">
            <a:avLst/>
          </a:prstGeom>
          <a:noFill/>
        </p:spPr>
        <p:txBody>
          <a:bodyPr wrap="none" rtlCol="0">
            <a:spAutoFit/>
          </a:bodyPr>
          <a:lstStyle/>
          <a:p>
            <a:r>
              <a:rPr lang="en-US" altLang="zh-TW" sz="2400" dirty="0"/>
              <a:t>…</a:t>
            </a:r>
            <a:endParaRPr lang="zh-TW" altLang="en-US" sz="2400" dirty="0"/>
          </a:p>
        </p:txBody>
      </p:sp>
      <p:sp>
        <p:nvSpPr>
          <p:cNvPr id="12" name="文字方塊 11">
            <a:extLst>
              <a:ext uri="{FF2B5EF4-FFF2-40B4-BE49-F238E27FC236}">
                <a16:creationId xmlns:a16="http://schemas.microsoft.com/office/drawing/2014/main" id="{56510EF7-E5A9-411D-4D80-5C6F6BAEE456}"/>
              </a:ext>
            </a:extLst>
          </p:cNvPr>
          <p:cNvSpPr txBox="1"/>
          <p:nvPr/>
        </p:nvSpPr>
        <p:spPr>
          <a:xfrm>
            <a:off x="4143726" y="2901887"/>
            <a:ext cx="309700"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0</a:t>
            </a:r>
            <a:endParaRPr kumimoji="1" lang="zh-TW" altLang="en-US"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5F6B0747-88B1-17E8-1204-A75ABDE74968}"/>
              </a:ext>
            </a:extLst>
          </p:cNvPr>
          <p:cNvSpPr txBox="1"/>
          <p:nvPr/>
        </p:nvSpPr>
        <p:spPr>
          <a:xfrm>
            <a:off x="7294821" y="2901887"/>
            <a:ext cx="300082"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n</a:t>
            </a:r>
            <a:endParaRPr kumimoji="1" lang="zh-TW" altLang="en-US" dirty="0">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BF06506A-98EC-B69D-DEF5-F63146D6CA79}"/>
              </a:ext>
            </a:extLst>
          </p:cNvPr>
          <p:cNvSpPr txBox="1"/>
          <p:nvPr/>
        </p:nvSpPr>
        <p:spPr>
          <a:xfrm>
            <a:off x="10397990" y="2901887"/>
            <a:ext cx="479618"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a:t>
            </a:r>
            <a:endParaRPr kumimoji="1" lang="zh-TW" altLang="en-US" dirty="0">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7EC351C5-E311-4735-4536-967E5411C6AA}"/>
              </a:ext>
            </a:extLst>
          </p:cNvPr>
          <p:cNvSpPr txBox="1"/>
          <p:nvPr/>
        </p:nvSpPr>
        <p:spPr>
          <a:xfrm>
            <a:off x="797860" y="2901887"/>
            <a:ext cx="426720"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a:t>
            </a:r>
            <a:endParaRPr kumimoji="1" lang="zh-TW" altLang="en-US" dirty="0">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BC320597-3A2D-0B6F-DB34-C8BEF6E09722}"/>
              </a:ext>
            </a:extLst>
          </p:cNvPr>
          <p:cNvSpPr txBox="1"/>
          <p:nvPr/>
        </p:nvSpPr>
        <p:spPr>
          <a:xfrm>
            <a:off x="1955291" y="1262149"/>
            <a:ext cx="2498135" cy="2120004"/>
          </a:xfrm>
          <a:prstGeom prst="rect">
            <a:avLst/>
          </a:prstGeom>
          <a:noFill/>
        </p:spPr>
        <p:txBody>
          <a:bodyPr wrap="square" rtlCol="0">
            <a:spAutoFit/>
          </a:bodyPr>
          <a:lstStyle/>
          <a:p>
            <a:pPr marL="342900" indent="-342900">
              <a:lnSpc>
                <a:spcPct val="150000"/>
              </a:lnSpc>
              <a:buAutoNum type="arabicPeriod"/>
            </a:pPr>
            <a:r>
              <a:rPr kumimoji="1" lang="en-US" altLang="zh-TW" b="1" dirty="0">
                <a:solidFill>
                  <a:schemeClr val="accent6"/>
                </a:solidFill>
                <a:latin typeface="Times New Roman" panose="02020603050405020304" pitchFamily="18" charset="0"/>
                <a:cs typeface="Times New Roman" panose="02020603050405020304" pitchFamily="18" charset="0"/>
              </a:rPr>
              <a:t>string </a:t>
            </a:r>
            <a:r>
              <a:rPr kumimoji="1" lang="en-US" altLang="zh-TW" b="1" dirty="0">
                <a:latin typeface="Times New Roman" panose="02020603050405020304" pitchFamily="18" charset="0"/>
                <a:cs typeface="Times New Roman" panose="02020603050405020304" pitchFamily="18" charset="0"/>
              </a:rPr>
              <a:t>-</a:t>
            </a:r>
            <a:r>
              <a:rPr kumimoji="1" lang="en-US" altLang="zh-TW" b="1" dirty="0">
                <a:solidFill>
                  <a:schemeClr val="accent6"/>
                </a:solidFill>
                <a:latin typeface="Times New Roman" panose="02020603050405020304" pitchFamily="18" charset="0"/>
                <a:cs typeface="Times New Roman" panose="02020603050405020304" pitchFamily="18" charset="0"/>
              </a:rPr>
              <a:t> </a:t>
            </a:r>
            <a:r>
              <a:rPr kumimoji="1" lang="en-US" altLang="zh-TW" b="1" dirty="0">
                <a:solidFill>
                  <a:srgbClr val="FF0000"/>
                </a:solidFill>
                <a:latin typeface="Times New Roman" panose="02020603050405020304" pitchFamily="18" charset="0"/>
                <a:cs typeface="Times New Roman" panose="02020603050405020304" pitchFamily="18" charset="0"/>
              </a:rPr>
              <a:t>substring</a:t>
            </a:r>
          </a:p>
          <a:p>
            <a:pPr marL="342900" indent="-342900">
              <a:lnSpc>
                <a:spcPct val="150000"/>
              </a:lnSpc>
              <a:buFontTx/>
              <a:buAutoNum type="arabicPeriod"/>
            </a:pPr>
            <a:r>
              <a:rPr kumimoji="1" lang="en-US" altLang="zh-TW" b="1" dirty="0">
                <a:solidFill>
                  <a:schemeClr val="accent2"/>
                </a:solidFill>
                <a:latin typeface="Times New Roman" panose="02020603050405020304" pitchFamily="18" charset="0"/>
                <a:cs typeface="Times New Roman" panose="02020603050405020304" pitchFamily="18" charset="0"/>
              </a:rPr>
              <a:t>suffix</a:t>
            </a:r>
            <a:r>
              <a:rPr kumimoji="1" lang="en-US" altLang="zh-TW" b="1" dirty="0">
                <a:latin typeface="Times New Roman" panose="02020603050405020304" pitchFamily="18" charset="0"/>
                <a:cs typeface="Times New Roman" panose="02020603050405020304" pitchFamily="18" charset="0"/>
              </a:rPr>
              <a:t>-</a:t>
            </a:r>
            <a:r>
              <a:rPr kumimoji="1" lang="en-US" altLang="zh-TW" b="1" dirty="0">
                <a:solidFill>
                  <a:schemeClr val="accent2"/>
                </a:solidFill>
                <a:latin typeface="Times New Roman" panose="02020603050405020304" pitchFamily="18" charset="0"/>
                <a:cs typeface="Times New Roman" panose="02020603050405020304" pitchFamily="18" charset="0"/>
              </a:rPr>
              <a:t> </a:t>
            </a:r>
            <a:r>
              <a:rPr kumimoji="1" lang="en-US" altLang="zh-TW" b="1" dirty="0">
                <a:solidFill>
                  <a:srgbClr val="FF0000"/>
                </a:solidFill>
                <a:latin typeface="Times New Roman" panose="02020603050405020304" pitchFamily="18" charset="0"/>
                <a:cs typeface="Times New Roman" panose="02020603050405020304" pitchFamily="18" charset="0"/>
              </a:rPr>
              <a:t>prefix</a:t>
            </a:r>
          </a:p>
          <a:p>
            <a:pPr marL="342900" indent="-342900">
              <a:lnSpc>
                <a:spcPct val="150000"/>
              </a:lnSpc>
              <a:buFontTx/>
              <a:buAutoNum type="arabicPeriod"/>
            </a:pPr>
            <a:r>
              <a:rPr kumimoji="1" lang="en-US" altLang="zh-TW" b="1" dirty="0">
                <a:solidFill>
                  <a:schemeClr val="accent6"/>
                </a:solidFill>
                <a:latin typeface="Times New Roman" panose="02020603050405020304" pitchFamily="18" charset="0"/>
                <a:cs typeface="Times New Roman" panose="02020603050405020304" pitchFamily="18" charset="0"/>
              </a:rPr>
              <a:t>prefix</a:t>
            </a:r>
            <a:r>
              <a:rPr kumimoji="1" lang="en-US" altLang="zh-TW" b="1" dirty="0">
                <a:latin typeface="Times New Roman" panose="02020603050405020304" pitchFamily="18" charset="0"/>
                <a:cs typeface="Times New Roman" panose="02020603050405020304" pitchFamily="18" charset="0"/>
              </a:rPr>
              <a:t> - </a:t>
            </a:r>
            <a:r>
              <a:rPr kumimoji="1" lang="en-US" altLang="zh-TW" b="1" dirty="0">
                <a:solidFill>
                  <a:schemeClr val="accent1"/>
                </a:solidFill>
                <a:latin typeface="Times New Roman" panose="02020603050405020304" pitchFamily="18" charset="0"/>
                <a:cs typeface="Times New Roman" panose="02020603050405020304" pitchFamily="18" charset="0"/>
              </a:rPr>
              <a:t>suffix</a:t>
            </a:r>
          </a:p>
          <a:p>
            <a:pPr marL="342900" indent="-342900">
              <a:lnSpc>
                <a:spcPct val="150000"/>
              </a:lnSpc>
              <a:buFontTx/>
              <a:buAutoNum type="arabicPeriod"/>
            </a:pPr>
            <a:r>
              <a:rPr kumimoji="1" lang="en-US" altLang="zh-TW" b="1" dirty="0">
                <a:solidFill>
                  <a:schemeClr val="accent2"/>
                </a:solidFill>
                <a:latin typeface="Times New Roman" panose="02020603050405020304" pitchFamily="18" charset="0"/>
                <a:cs typeface="Times New Roman" panose="02020603050405020304" pitchFamily="18" charset="0"/>
              </a:rPr>
              <a:t>substring</a:t>
            </a:r>
            <a:r>
              <a:rPr kumimoji="1" lang="en-US" altLang="zh-TW" b="1" dirty="0">
                <a:latin typeface="Times New Roman" panose="02020603050405020304" pitchFamily="18" charset="0"/>
                <a:cs typeface="Times New Roman" panose="02020603050405020304" pitchFamily="18" charset="0"/>
              </a:rPr>
              <a:t> - </a:t>
            </a:r>
            <a:r>
              <a:rPr kumimoji="1" lang="en-US" altLang="zh-TW" b="1" dirty="0">
                <a:solidFill>
                  <a:schemeClr val="accent1"/>
                </a:solidFill>
                <a:latin typeface="Times New Roman" panose="02020603050405020304" pitchFamily="18" charset="0"/>
                <a:cs typeface="Times New Roman" panose="02020603050405020304" pitchFamily="18" charset="0"/>
              </a:rPr>
              <a:t>string</a:t>
            </a:r>
          </a:p>
          <a:p>
            <a:pPr marL="342900" indent="-342900">
              <a:lnSpc>
                <a:spcPct val="150000"/>
              </a:lnSpc>
              <a:buAutoNum type="arabicPeriod"/>
            </a:pPr>
            <a:endParaRPr kumimoji="1" lang="zh-TW" altLang="en-US" b="1" dirty="0">
              <a:latin typeface="Times New Roman" panose="02020603050405020304" pitchFamily="18" charset="0"/>
              <a:cs typeface="Times New Roman" panose="02020603050405020304" pitchFamily="18" charset="0"/>
            </a:endParaRPr>
          </a:p>
        </p:txBody>
      </p:sp>
      <p:sp>
        <p:nvSpPr>
          <p:cNvPr id="17" name="橢圓 16">
            <a:extLst>
              <a:ext uri="{FF2B5EF4-FFF2-40B4-BE49-F238E27FC236}">
                <a16:creationId xmlns:a16="http://schemas.microsoft.com/office/drawing/2014/main" id="{8FCB42A6-A790-767A-3271-94C6F31603C8}"/>
              </a:ext>
            </a:extLst>
          </p:cNvPr>
          <p:cNvSpPr/>
          <p:nvPr/>
        </p:nvSpPr>
        <p:spPr>
          <a:xfrm>
            <a:off x="4204447" y="4297765"/>
            <a:ext cx="197224" cy="188258"/>
          </a:xfrm>
          <a:prstGeom prst="ellipse">
            <a:avLst/>
          </a:prstGeom>
          <a:solidFill>
            <a:schemeClr val="accent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8" name="橢圓 17">
            <a:extLst>
              <a:ext uri="{FF2B5EF4-FFF2-40B4-BE49-F238E27FC236}">
                <a16:creationId xmlns:a16="http://schemas.microsoft.com/office/drawing/2014/main" id="{0BF4A96B-AD17-048A-A243-272E79B975D6}"/>
              </a:ext>
            </a:extLst>
          </p:cNvPr>
          <p:cNvSpPr/>
          <p:nvPr/>
        </p:nvSpPr>
        <p:spPr>
          <a:xfrm>
            <a:off x="5786082" y="6515415"/>
            <a:ext cx="197224" cy="188258"/>
          </a:xfrm>
          <a:prstGeom prst="ellipse">
            <a:avLst/>
          </a:prstGeom>
          <a:solidFill>
            <a:srgbClr val="FF00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9" name="橢圓 18">
            <a:extLst>
              <a:ext uri="{FF2B5EF4-FFF2-40B4-BE49-F238E27FC236}">
                <a16:creationId xmlns:a16="http://schemas.microsoft.com/office/drawing/2014/main" id="{33BBB5E1-BCF9-EDD5-AA3F-439FAB75A0E1}"/>
              </a:ext>
            </a:extLst>
          </p:cNvPr>
          <p:cNvSpPr/>
          <p:nvPr/>
        </p:nvSpPr>
        <p:spPr>
          <a:xfrm>
            <a:off x="7349674" y="4855763"/>
            <a:ext cx="197224" cy="188258"/>
          </a:xfrm>
          <a:prstGeom prst="ellipse">
            <a:avLst/>
          </a:prstGeom>
          <a:solidFill>
            <a:schemeClr val="accent5"/>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0" name="橢圓 19">
            <a:extLst>
              <a:ext uri="{FF2B5EF4-FFF2-40B4-BE49-F238E27FC236}">
                <a16:creationId xmlns:a16="http://schemas.microsoft.com/office/drawing/2014/main" id="{78E2FEB5-5E43-3A0E-1351-1DD891734DC5}"/>
              </a:ext>
            </a:extLst>
          </p:cNvPr>
          <p:cNvSpPr/>
          <p:nvPr/>
        </p:nvSpPr>
        <p:spPr>
          <a:xfrm>
            <a:off x="5012713" y="3198356"/>
            <a:ext cx="197224" cy="188258"/>
          </a:xfrm>
          <a:prstGeom prst="ellipse">
            <a:avLst/>
          </a:prstGeom>
          <a:solidFill>
            <a:schemeClr val="accent6"/>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1" name="橢圓 20">
            <a:extLst>
              <a:ext uri="{FF2B5EF4-FFF2-40B4-BE49-F238E27FC236}">
                <a16:creationId xmlns:a16="http://schemas.microsoft.com/office/drawing/2014/main" id="{083C98BE-75DA-B07D-3C21-5A7D4CA54D68}"/>
              </a:ext>
            </a:extLst>
          </p:cNvPr>
          <p:cNvSpPr/>
          <p:nvPr/>
        </p:nvSpPr>
        <p:spPr>
          <a:xfrm>
            <a:off x="2654246" y="3153107"/>
            <a:ext cx="197224" cy="188258"/>
          </a:xfrm>
          <a:prstGeom prst="ellipse">
            <a:avLst/>
          </a:prstGeom>
          <a:solidFill>
            <a:schemeClr val="accent2"/>
          </a:solidFill>
          <a:ln>
            <a:solidFill>
              <a:schemeClr val="accent4"/>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22" name="橢圓 21">
            <a:extLst>
              <a:ext uri="{FF2B5EF4-FFF2-40B4-BE49-F238E27FC236}">
                <a16:creationId xmlns:a16="http://schemas.microsoft.com/office/drawing/2014/main" id="{BE4869D0-5E48-7F68-4A60-F212A9CE8F4E}"/>
              </a:ext>
            </a:extLst>
          </p:cNvPr>
          <p:cNvSpPr/>
          <p:nvPr/>
        </p:nvSpPr>
        <p:spPr>
          <a:xfrm>
            <a:off x="9721886" y="6508705"/>
            <a:ext cx="197224" cy="188258"/>
          </a:xfrm>
          <a:prstGeom prst="ellipse">
            <a:avLst/>
          </a:prstGeom>
          <a:solidFill>
            <a:schemeClr val="accent1"/>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23" name="矩形 22">
            <a:extLst>
              <a:ext uri="{FF2B5EF4-FFF2-40B4-BE49-F238E27FC236}">
                <a16:creationId xmlns:a16="http://schemas.microsoft.com/office/drawing/2014/main" id="{0FB4932B-44B0-4959-09ED-7EC14B8F31B4}"/>
              </a:ext>
            </a:extLst>
          </p:cNvPr>
          <p:cNvSpPr/>
          <p:nvPr/>
        </p:nvSpPr>
        <p:spPr>
          <a:xfrm>
            <a:off x="132993" y="6000300"/>
            <a:ext cx="1901291" cy="646331"/>
          </a:xfrm>
          <a:prstGeom prst="rect">
            <a:avLst/>
          </a:prstGeom>
        </p:spPr>
        <p:txBody>
          <a:bodyPr wrap="square">
            <a:spAutoFit/>
          </a:bodyPr>
          <a:lstStyle/>
          <a:p>
            <a:r>
              <a:rPr lang="en-US" altLang="zh-TW" dirty="0">
                <a:solidFill>
                  <a:srgbClr val="000000"/>
                </a:solidFill>
                <a:latin typeface="Times New Roman" panose="02020603050405020304" pitchFamily="18" charset="0"/>
                <a:cs typeface="Times New Roman" panose="02020603050405020304" pitchFamily="18" charset="0"/>
              </a:rPr>
              <a:t>(a) An extended alignment DAG</a:t>
            </a:r>
            <a:endParaRPr lang="en-US" altLang="zh-TW" dirty="0">
              <a:solidFill>
                <a:srgbClr val="000000"/>
              </a:solidFill>
              <a:effectLst/>
              <a:latin typeface="Times New Roman" panose="02020603050405020304" pitchFamily="18" charset="0"/>
              <a:cs typeface="Times New Roman" panose="02020603050405020304" pitchFamily="18" charset="0"/>
            </a:endParaRPr>
          </a:p>
        </p:txBody>
      </p:sp>
      <p:sp>
        <p:nvSpPr>
          <p:cNvPr id="25" name="矩形 24">
            <a:extLst>
              <a:ext uri="{FF2B5EF4-FFF2-40B4-BE49-F238E27FC236}">
                <a16:creationId xmlns:a16="http://schemas.microsoft.com/office/drawing/2014/main" id="{6952B6D0-72AA-B139-DCF4-D4D75BF9CEBE}"/>
              </a:ext>
            </a:extLst>
          </p:cNvPr>
          <p:cNvSpPr/>
          <p:nvPr/>
        </p:nvSpPr>
        <p:spPr>
          <a:xfrm>
            <a:off x="8210571" y="778195"/>
            <a:ext cx="3022630" cy="1200329"/>
          </a:xfrm>
          <a:prstGeom prst="rect">
            <a:avLst/>
          </a:prstGeom>
        </p:spPr>
        <p:txBody>
          <a:bodyPr wrap="square">
            <a:spAutoFit/>
          </a:bodyPr>
          <a:lstStyle/>
          <a:p>
            <a:pPr algn="just"/>
            <a:r>
              <a:rPr lang="en-US" altLang="zh-TW" dirty="0">
                <a:solidFill>
                  <a:srgbClr val="000000"/>
                </a:solidFill>
                <a:latin typeface="Times" pitchFamily="2" charset="0"/>
              </a:rPr>
              <a:t>By using </a:t>
            </a:r>
            <a:r>
              <a:rPr lang="en-US" altLang="zh-TW" dirty="0">
                <a:solidFill>
                  <a:srgbClr val="000000"/>
                </a:solidFill>
                <a:latin typeface="Times New Roman" panose="02020603050405020304" pitchFamily="18" charset="0"/>
                <a:cs typeface="Times New Roman" panose="02020603050405020304" pitchFamily="18" charset="0"/>
              </a:rPr>
              <a:t>the</a:t>
            </a:r>
            <a:r>
              <a:rPr lang="en-US" altLang="zh-TW" dirty="0">
                <a:solidFill>
                  <a:srgbClr val="000000"/>
                </a:solidFill>
                <a:latin typeface="Times" pitchFamily="2" charset="0"/>
              </a:rPr>
              <a:t> extended alignment DAG representation, the four path types</a:t>
            </a:r>
            <a:r>
              <a:rPr lang="en-US" altLang="zh-TW" dirty="0">
                <a:solidFill>
                  <a:srgbClr val="000051"/>
                </a:solidFill>
                <a:latin typeface="Times" pitchFamily="2" charset="0"/>
              </a:rPr>
              <a:t> </a:t>
            </a:r>
            <a:r>
              <a:rPr lang="en-US" altLang="zh-TW" dirty="0">
                <a:solidFill>
                  <a:srgbClr val="000000"/>
                </a:solidFill>
                <a:latin typeface="Times" pitchFamily="2" charset="0"/>
              </a:rPr>
              <a:t>can be reduced to a single type.</a:t>
            </a:r>
            <a:endParaRPr lang="en-US" altLang="zh-TW" dirty="0">
              <a:solidFill>
                <a:srgbClr val="000000"/>
              </a:solidFill>
              <a:effectLst/>
              <a:latin typeface="Times" pitchFamily="2" charset="0"/>
            </a:endParaRPr>
          </a:p>
        </p:txBody>
      </p:sp>
    </p:spTree>
    <p:extLst>
      <p:ext uri="{BB962C8B-B14F-4D97-AF65-F5344CB8AC3E}">
        <p14:creationId xmlns:p14="http://schemas.microsoft.com/office/powerpoint/2010/main" val="2351219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lang="en-US" altLang="zh-TW" dirty="0"/>
              <a:t>Extended Highest-Score Matrix</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5</a:t>
            </a:fld>
            <a:endParaRPr kumimoji="1" lang="zh-TW" altLang="en-US"/>
          </a:p>
        </p:txBody>
      </p:sp>
      <p:pic>
        <p:nvPicPr>
          <p:cNvPr id="7" name="圖片 6">
            <a:extLst>
              <a:ext uri="{FF2B5EF4-FFF2-40B4-BE49-F238E27FC236}">
                <a16:creationId xmlns:a16="http://schemas.microsoft.com/office/drawing/2014/main" id="{9B7BDE3A-187A-A359-FE13-C6C39CC2EF37}"/>
              </a:ext>
            </a:extLst>
          </p:cNvPr>
          <p:cNvPicPr>
            <a:picLocks noChangeAspect="1"/>
          </p:cNvPicPr>
          <p:nvPr/>
        </p:nvPicPr>
        <p:blipFill>
          <a:blip r:embed="rId2"/>
          <a:stretch>
            <a:fillRect/>
          </a:stretch>
        </p:blipFill>
        <p:spPr>
          <a:xfrm>
            <a:off x="838200" y="1602711"/>
            <a:ext cx="6426200" cy="1993900"/>
          </a:xfrm>
          <a:prstGeom prst="rect">
            <a:avLst/>
          </a:prstGeom>
        </p:spPr>
      </p:pic>
      <p:pic>
        <p:nvPicPr>
          <p:cNvPr id="8" name="圖片 7">
            <a:extLst>
              <a:ext uri="{FF2B5EF4-FFF2-40B4-BE49-F238E27FC236}">
                <a16:creationId xmlns:a16="http://schemas.microsoft.com/office/drawing/2014/main" id="{8C0C66D7-11AF-9355-EF35-12881A8E291C}"/>
              </a:ext>
            </a:extLst>
          </p:cNvPr>
          <p:cNvPicPr>
            <a:picLocks noChangeAspect="1"/>
          </p:cNvPicPr>
          <p:nvPr/>
        </p:nvPicPr>
        <p:blipFill>
          <a:blip r:embed="rId3"/>
          <a:stretch>
            <a:fillRect/>
          </a:stretch>
        </p:blipFill>
        <p:spPr>
          <a:xfrm>
            <a:off x="838200" y="3981450"/>
            <a:ext cx="6515100" cy="2095500"/>
          </a:xfrm>
          <a:prstGeom prst="rect">
            <a:avLst/>
          </a:prstGeom>
        </p:spPr>
      </p:pic>
      <p:sp>
        <p:nvSpPr>
          <p:cNvPr id="11" name="矩形 10">
            <a:extLst>
              <a:ext uri="{FF2B5EF4-FFF2-40B4-BE49-F238E27FC236}">
                <a16:creationId xmlns:a16="http://schemas.microsoft.com/office/drawing/2014/main" id="{61A864C7-7242-0886-1FE5-8FD077C73795}"/>
              </a:ext>
            </a:extLst>
          </p:cNvPr>
          <p:cNvSpPr/>
          <p:nvPr/>
        </p:nvSpPr>
        <p:spPr>
          <a:xfrm>
            <a:off x="7575697" y="2378296"/>
            <a:ext cx="4616303" cy="3046988"/>
          </a:xfrm>
          <a:prstGeom prst="rect">
            <a:avLst/>
          </a:prstGeom>
        </p:spPr>
        <p:txBody>
          <a:bodyPr wrap="square">
            <a:spAutoFit/>
          </a:bodyPr>
          <a:lstStyle/>
          <a:p>
            <a:r>
              <a:rPr lang="en-US" altLang="zh-TW" sz="1200" b="1" dirty="0">
                <a:solidFill>
                  <a:srgbClr val="000000"/>
                </a:solidFill>
                <a:latin typeface="Menlo" panose="020B0609030804020204" pitchFamily="49" charset="0"/>
              </a:rPr>
              <a:t>Highest-Score Matrix :</a:t>
            </a:r>
            <a:endParaRPr lang="en-US" altLang="zh-TW" sz="1200" dirty="0">
              <a:solidFill>
                <a:srgbClr val="000000"/>
              </a:solidFill>
              <a:latin typeface="Menlo" panose="020B0609030804020204" pitchFamily="49" charset="0"/>
            </a:endParaRPr>
          </a:p>
          <a:p>
            <a:r>
              <a:rPr lang="en-US" altLang="zh-TW" sz="1200" b="1" dirty="0" err="1">
                <a:solidFill>
                  <a:srgbClr val="000000"/>
                </a:solidFill>
                <a:latin typeface="Menlo" panose="020B0609030804020204" pitchFamily="49" charset="0"/>
              </a:rPr>
              <a:t>i</a:t>
            </a:r>
            <a:r>
              <a:rPr lang="en-US" altLang="zh-TW" sz="1200" b="1" dirty="0">
                <a:solidFill>
                  <a:srgbClr val="000000"/>
                </a:solidFill>
                <a:latin typeface="Menlo" panose="020B0609030804020204" pitchFamily="49" charset="0"/>
              </a:rPr>
              <a:t>\j 0  1  2  3  4  5  6  7  8  9 10 11 12 13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0  0  1  2  3  4  5  6  6  7  8  8  8  8  8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1  0  0  1  2  3  4  5  5  6  7  7  7  7  7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2  </a:t>
            </a:r>
            <a:r>
              <a:rPr lang="en-US" altLang="zh-TW" sz="1200" b="1" dirty="0">
                <a:solidFill>
                  <a:schemeClr val="accent6"/>
                </a:solidFill>
                <a:latin typeface="Menlo" panose="020B0609030804020204" pitchFamily="49" charset="0"/>
              </a:rPr>
              <a:t>0  0  0  1  2  3  4  4  5  6  6  </a:t>
            </a:r>
            <a:r>
              <a:rPr lang="en-US" altLang="zh-TW" sz="1200" b="1" dirty="0">
                <a:solidFill>
                  <a:schemeClr val="accent2"/>
                </a:solidFill>
                <a:latin typeface="Menlo" panose="020B0609030804020204" pitchFamily="49" charset="0"/>
              </a:rPr>
              <a:t>6  6  7 </a:t>
            </a:r>
            <a:endParaRPr lang="en-US" altLang="zh-TW" sz="1200" dirty="0">
              <a:solidFill>
                <a:schemeClr val="accent2"/>
              </a:solidFill>
              <a:latin typeface="Menlo" panose="020B0609030804020204" pitchFamily="49" charset="0"/>
            </a:endParaRPr>
          </a:p>
          <a:p>
            <a:r>
              <a:rPr lang="en-US" altLang="zh-TW" sz="1200" b="1" dirty="0">
                <a:solidFill>
                  <a:schemeClr val="accent6"/>
                </a:solidFill>
                <a:latin typeface="Menlo" panose="020B0609030804020204" pitchFamily="49" charset="0"/>
              </a:rPr>
              <a:t> </a:t>
            </a:r>
            <a:r>
              <a:rPr lang="en-US" altLang="zh-TW" sz="1200" b="1" dirty="0">
                <a:latin typeface="Menlo" panose="020B0609030804020204" pitchFamily="49" charset="0"/>
              </a:rPr>
              <a:t>3</a:t>
            </a:r>
            <a:r>
              <a:rPr lang="en-US" altLang="zh-TW" sz="1200" b="1" dirty="0">
                <a:solidFill>
                  <a:schemeClr val="accent6"/>
                </a:solidFill>
                <a:latin typeface="Menlo" panose="020B0609030804020204" pitchFamily="49" charset="0"/>
              </a:rPr>
              <a:t>  0  0  0  0  1  2  3  3  4  5  5  </a:t>
            </a:r>
            <a:r>
              <a:rPr lang="en-US" altLang="zh-TW" sz="1200" b="1" dirty="0">
                <a:solidFill>
                  <a:schemeClr val="accent2"/>
                </a:solidFill>
                <a:latin typeface="Menlo" panose="020B0609030804020204" pitchFamily="49" charset="0"/>
              </a:rPr>
              <a:t>6  6  7 </a:t>
            </a:r>
          </a:p>
          <a:p>
            <a:r>
              <a:rPr lang="en-US" altLang="zh-TW" sz="1200" b="1" dirty="0">
                <a:solidFill>
                  <a:srgbClr val="000000"/>
                </a:solidFill>
                <a:latin typeface="Menlo" panose="020B0609030804020204" pitchFamily="49" charset="0"/>
              </a:rPr>
              <a:t> </a:t>
            </a:r>
            <a:r>
              <a:rPr lang="en-US" altLang="zh-TW" sz="1200" b="1" dirty="0">
                <a:latin typeface="Menlo" panose="020B0609030804020204" pitchFamily="49" charset="0"/>
              </a:rPr>
              <a:t>4 </a:t>
            </a:r>
            <a:r>
              <a:rPr lang="en-US" altLang="zh-TW" sz="1200" b="1" dirty="0">
                <a:solidFill>
                  <a:schemeClr val="accent6"/>
                </a:solidFill>
                <a:latin typeface="Menlo" panose="020B0609030804020204" pitchFamily="49" charset="0"/>
              </a:rPr>
              <a:t> </a:t>
            </a:r>
            <a:r>
              <a:rPr lang="en-US" altLang="zh-TW" sz="1200" b="1" dirty="0">
                <a:latin typeface="Menlo" panose="020B0609030804020204" pitchFamily="49" charset="0"/>
              </a:rPr>
              <a:t>0  0  0  0  0  1  2  2  3  4  4  5  5  6 </a:t>
            </a:r>
            <a:endParaRPr lang="en-US" altLang="zh-TW" sz="1200" dirty="0">
              <a:latin typeface="Menlo" panose="020B0609030804020204" pitchFamily="49" charset="0"/>
            </a:endParaRPr>
          </a:p>
          <a:p>
            <a:r>
              <a:rPr lang="en-US" altLang="zh-TW" sz="1200" b="1" dirty="0">
                <a:solidFill>
                  <a:srgbClr val="000000"/>
                </a:solidFill>
                <a:latin typeface="Menlo" panose="020B0609030804020204" pitchFamily="49" charset="0"/>
              </a:rPr>
              <a:t> 5  0  0  0  0  0  0  1  2  3  4  </a:t>
            </a:r>
            <a:r>
              <a:rPr lang="en-US" altLang="zh-TW" sz="1200" b="1" dirty="0">
                <a:solidFill>
                  <a:srgbClr val="FF0000"/>
                </a:solidFill>
                <a:latin typeface="Menlo" panose="020B0609030804020204" pitchFamily="49" charset="0"/>
              </a:rPr>
              <a:t>4  5</a:t>
            </a:r>
            <a:r>
              <a:rPr lang="en-US" altLang="zh-TW" sz="1200" b="1" dirty="0">
                <a:solidFill>
                  <a:srgbClr val="000000"/>
                </a:solidFill>
                <a:latin typeface="Menlo" panose="020B0609030804020204" pitchFamily="49" charset="0"/>
              </a:rPr>
              <a:t>  5  6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6  0  0  0  0  0  0  0  1  2  3  </a:t>
            </a:r>
            <a:r>
              <a:rPr lang="en-US" altLang="zh-TW" sz="1200" b="1" dirty="0">
                <a:solidFill>
                  <a:srgbClr val="FF0000"/>
                </a:solidFill>
                <a:latin typeface="Menlo" panose="020B0609030804020204" pitchFamily="49" charset="0"/>
              </a:rPr>
              <a:t>3  4  </a:t>
            </a:r>
            <a:r>
              <a:rPr lang="en-US" altLang="zh-TW" sz="1200" b="1" dirty="0">
                <a:solidFill>
                  <a:srgbClr val="000000"/>
                </a:solidFill>
                <a:latin typeface="Menlo" panose="020B0609030804020204" pitchFamily="49" charset="0"/>
              </a:rPr>
              <a:t>4  5 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7  0  0  0  0  0  0  0  0  1  2  2  3  3  4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8  0  0  0  0  0  0  0  0  0  1  2  3  3  4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9  0  0  0  0  0  0  0  0  0  0  1  2  3  4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10  0  0  0  0  0  0  0  0  0  0  0  1  2  3 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11  0  0  0  0  0  0  0  0  0  0  0  0  1  2 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12  0  0  0  0  0  0  0  0  0  0  0  0  0  1 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13  0  0  0  0  0  0  0  0  0  0  0  0  0  0</a:t>
            </a:r>
            <a:endParaRPr lang="en-US" altLang="zh-TW" sz="1200" dirty="0">
              <a:solidFill>
                <a:srgbClr val="000000"/>
              </a:solidFill>
              <a:latin typeface="Menlo" panose="020B0609030804020204" pitchFamily="49" charset="0"/>
            </a:endParaRPr>
          </a:p>
        </p:txBody>
      </p:sp>
      <p:sp>
        <p:nvSpPr>
          <p:cNvPr id="12" name="矩形 11">
            <a:extLst>
              <a:ext uri="{FF2B5EF4-FFF2-40B4-BE49-F238E27FC236}">
                <a16:creationId xmlns:a16="http://schemas.microsoft.com/office/drawing/2014/main" id="{61E4B943-65EF-F9A0-4430-9F538681E326}"/>
              </a:ext>
            </a:extLst>
          </p:cNvPr>
          <p:cNvSpPr/>
          <p:nvPr/>
        </p:nvSpPr>
        <p:spPr>
          <a:xfrm>
            <a:off x="7575697" y="1602711"/>
            <a:ext cx="2353340" cy="584775"/>
          </a:xfrm>
          <a:prstGeom prst="rect">
            <a:avLst/>
          </a:prstGeom>
        </p:spPr>
        <p:txBody>
          <a:bodyPr wrap="square">
            <a:spAutoFit/>
          </a:bodyPr>
          <a:lstStyle/>
          <a:p>
            <a:r>
              <a:rPr lang="en-US" altLang="zh-TW" sz="1600" b="1" dirty="0">
                <a:solidFill>
                  <a:srgbClr val="000000"/>
                </a:solidFill>
                <a:latin typeface="Menlo" panose="020B0609030804020204" pitchFamily="49" charset="0"/>
              </a:rPr>
              <a:t>A : </a:t>
            </a:r>
            <a:r>
              <a:rPr lang="en-US" altLang="zh-TW" sz="1600" b="1" dirty="0" err="1">
                <a:solidFill>
                  <a:srgbClr val="000000"/>
                </a:solidFill>
                <a:latin typeface="Menlo" panose="020B0609030804020204" pitchFamily="49" charset="0"/>
              </a:rPr>
              <a:t>baabcbca</a:t>
            </a:r>
            <a:endParaRPr lang="en-US" altLang="zh-TW" sz="1600" dirty="0">
              <a:solidFill>
                <a:srgbClr val="000000"/>
              </a:solidFill>
              <a:latin typeface="Menlo" panose="020B0609030804020204" pitchFamily="49" charset="0"/>
            </a:endParaRPr>
          </a:p>
          <a:p>
            <a:r>
              <a:rPr lang="en-US" altLang="zh-TW" sz="1600" b="1" dirty="0">
                <a:solidFill>
                  <a:srgbClr val="000000"/>
                </a:solidFill>
                <a:latin typeface="Menlo" panose="020B0609030804020204" pitchFamily="49" charset="0"/>
              </a:rPr>
              <a:t>B : </a:t>
            </a:r>
            <a:r>
              <a:rPr lang="en-US" altLang="zh-TW" sz="1600" b="1" dirty="0" err="1">
                <a:solidFill>
                  <a:srgbClr val="000000"/>
                </a:solidFill>
                <a:latin typeface="Menlo" panose="020B0609030804020204" pitchFamily="49" charset="0"/>
              </a:rPr>
              <a:t>baabcabcabaca</a:t>
            </a:r>
            <a:endParaRPr lang="en-US" altLang="zh-TW" sz="1600" dirty="0">
              <a:solidFill>
                <a:srgbClr val="000000"/>
              </a:solidFill>
              <a:latin typeface="Menlo" panose="020B0609030804020204" pitchFamily="49" charset="0"/>
            </a:endParaRPr>
          </a:p>
        </p:txBody>
      </p:sp>
      <p:sp>
        <p:nvSpPr>
          <p:cNvPr id="13" name="橢圓 12">
            <a:extLst>
              <a:ext uri="{FF2B5EF4-FFF2-40B4-BE49-F238E27FC236}">
                <a16:creationId xmlns:a16="http://schemas.microsoft.com/office/drawing/2014/main" id="{8B3252B4-1477-652B-6366-0E7DA20DF449}"/>
              </a:ext>
            </a:extLst>
          </p:cNvPr>
          <p:cNvSpPr/>
          <p:nvPr/>
        </p:nvSpPr>
        <p:spPr>
          <a:xfrm>
            <a:off x="1201478" y="4572001"/>
            <a:ext cx="170121" cy="170121"/>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 name="橢圓 13">
            <a:extLst>
              <a:ext uri="{FF2B5EF4-FFF2-40B4-BE49-F238E27FC236}">
                <a16:creationId xmlns:a16="http://schemas.microsoft.com/office/drawing/2014/main" id="{F7D2309C-2D3C-4440-5F15-B0273073562C}"/>
              </a:ext>
            </a:extLst>
          </p:cNvPr>
          <p:cNvSpPr/>
          <p:nvPr/>
        </p:nvSpPr>
        <p:spPr>
          <a:xfrm>
            <a:off x="1201477" y="5022112"/>
            <a:ext cx="170121" cy="170121"/>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文字方塊 14">
            <a:extLst>
              <a:ext uri="{FF2B5EF4-FFF2-40B4-BE49-F238E27FC236}">
                <a16:creationId xmlns:a16="http://schemas.microsoft.com/office/drawing/2014/main" id="{C3005865-F972-06B1-F6BE-1A4BE75B94F6}"/>
              </a:ext>
            </a:extLst>
          </p:cNvPr>
          <p:cNvSpPr txBox="1"/>
          <p:nvPr/>
        </p:nvSpPr>
        <p:spPr>
          <a:xfrm>
            <a:off x="3306726" y="2075527"/>
            <a:ext cx="915635" cy="369332"/>
          </a:xfrm>
          <a:prstGeom prst="rect">
            <a:avLst/>
          </a:prstGeom>
          <a:noFill/>
        </p:spPr>
        <p:txBody>
          <a:bodyPr wrap="none" rtlCol="0">
            <a:spAutoFit/>
          </a:bodyPr>
          <a:lstStyle/>
          <a:p>
            <a:r>
              <a:rPr kumimoji="1" lang="zh-TW" altLang="en-US" dirty="0">
                <a:solidFill>
                  <a:srgbClr val="FF0000"/>
                </a:solidFill>
              </a:rPr>
              <a:t>下</a:t>
            </a:r>
            <a:r>
              <a:rPr kumimoji="1" lang="en-US" altLang="zh-TW" dirty="0">
                <a:solidFill>
                  <a:srgbClr val="FF0000"/>
                </a:solidFill>
              </a:rPr>
              <a:t> ≤ </a:t>
            </a:r>
            <a:r>
              <a:rPr kumimoji="1" lang="zh-TW" altLang="en-US" dirty="0">
                <a:solidFill>
                  <a:srgbClr val="FF0000"/>
                </a:solidFill>
              </a:rPr>
              <a:t>上</a:t>
            </a:r>
          </a:p>
        </p:txBody>
      </p:sp>
      <p:sp>
        <p:nvSpPr>
          <p:cNvPr id="16" name="文字方塊 15">
            <a:extLst>
              <a:ext uri="{FF2B5EF4-FFF2-40B4-BE49-F238E27FC236}">
                <a16:creationId xmlns:a16="http://schemas.microsoft.com/office/drawing/2014/main" id="{B1175E9E-EBD9-FF36-A7BA-68689A369A72}"/>
              </a:ext>
            </a:extLst>
          </p:cNvPr>
          <p:cNvSpPr txBox="1"/>
          <p:nvPr/>
        </p:nvSpPr>
        <p:spPr>
          <a:xfrm>
            <a:off x="3306726" y="2414995"/>
            <a:ext cx="915635" cy="369332"/>
          </a:xfrm>
          <a:prstGeom prst="rect">
            <a:avLst/>
          </a:prstGeom>
          <a:noFill/>
        </p:spPr>
        <p:txBody>
          <a:bodyPr wrap="none" rtlCol="0">
            <a:spAutoFit/>
          </a:bodyPr>
          <a:lstStyle/>
          <a:p>
            <a:r>
              <a:rPr kumimoji="1" lang="zh-TW" altLang="en-US" dirty="0">
                <a:solidFill>
                  <a:srgbClr val="FF0000"/>
                </a:solidFill>
              </a:rPr>
              <a:t>左</a:t>
            </a:r>
            <a:r>
              <a:rPr kumimoji="1" lang="en-US" altLang="zh-TW" dirty="0">
                <a:solidFill>
                  <a:srgbClr val="FF0000"/>
                </a:solidFill>
              </a:rPr>
              <a:t> ≤ </a:t>
            </a:r>
            <a:r>
              <a:rPr kumimoji="1" lang="zh-TW" altLang="en-US" dirty="0">
                <a:solidFill>
                  <a:srgbClr val="FF0000"/>
                </a:solidFill>
              </a:rPr>
              <a:t>右</a:t>
            </a:r>
          </a:p>
        </p:txBody>
      </p:sp>
      <p:sp>
        <p:nvSpPr>
          <p:cNvPr id="17" name="橢圓 16">
            <a:extLst>
              <a:ext uri="{FF2B5EF4-FFF2-40B4-BE49-F238E27FC236}">
                <a16:creationId xmlns:a16="http://schemas.microsoft.com/office/drawing/2014/main" id="{0CF3F491-89F1-8EA7-C32A-D0A8434D8C1E}"/>
              </a:ext>
            </a:extLst>
          </p:cNvPr>
          <p:cNvSpPr/>
          <p:nvPr/>
        </p:nvSpPr>
        <p:spPr>
          <a:xfrm>
            <a:off x="1201477" y="2926612"/>
            <a:ext cx="170121" cy="17012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矩形 17">
            <a:extLst>
              <a:ext uri="{FF2B5EF4-FFF2-40B4-BE49-F238E27FC236}">
                <a16:creationId xmlns:a16="http://schemas.microsoft.com/office/drawing/2014/main" id="{E8A3CF52-3573-8C1D-4AB7-8BCF83879A23}"/>
              </a:ext>
            </a:extLst>
          </p:cNvPr>
          <p:cNvSpPr/>
          <p:nvPr/>
        </p:nvSpPr>
        <p:spPr>
          <a:xfrm>
            <a:off x="10744200" y="3119593"/>
            <a:ext cx="452494" cy="412277"/>
          </a:xfrm>
          <a:prstGeom prst="rect">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1915530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Critical Point (1/2)</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6</a:t>
            </a:fld>
            <a:endParaRPr kumimoji="1" lang="zh-TW" altLang="en-US"/>
          </a:p>
        </p:txBody>
      </p:sp>
      <p:pic>
        <p:nvPicPr>
          <p:cNvPr id="5" name="圖片 4">
            <a:extLst>
              <a:ext uri="{FF2B5EF4-FFF2-40B4-BE49-F238E27FC236}">
                <a16:creationId xmlns:a16="http://schemas.microsoft.com/office/drawing/2014/main" id="{B07700BB-23DE-AD1C-7DB5-FCC96FA2EECF}"/>
              </a:ext>
            </a:extLst>
          </p:cNvPr>
          <p:cNvPicPr>
            <a:picLocks noChangeAspect="1"/>
          </p:cNvPicPr>
          <p:nvPr/>
        </p:nvPicPr>
        <p:blipFill>
          <a:blip r:embed="rId2"/>
          <a:stretch>
            <a:fillRect/>
          </a:stretch>
        </p:blipFill>
        <p:spPr>
          <a:xfrm>
            <a:off x="755329" y="1817188"/>
            <a:ext cx="6417554" cy="4721724"/>
          </a:xfrm>
          <a:prstGeom prst="rect">
            <a:avLst/>
          </a:prstGeom>
        </p:spPr>
      </p:pic>
      <p:sp>
        <p:nvSpPr>
          <p:cNvPr id="8" name="矩形 7">
            <a:extLst>
              <a:ext uri="{FF2B5EF4-FFF2-40B4-BE49-F238E27FC236}">
                <a16:creationId xmlns:a16="http://schemas.microsoft.com/office/drawing/2014/main" id="{23D78A78-4F4D-9D0B-FEEC-33972189C9B6}"/>
              </a:ext>
            </a:extLst>
          </p:cNvPr>
          <p:cNvSpPr/>
          <p:nvPr/>
        </p:nvSpPr>
        <p:spPr>
          <a:xfrm>
            <a:off x="7172882" y="3013382"/>
            <a:ext cx="4458587" cy="3046988"/>
          </a:xfrm>
          <a:prstGeom prst="rect">
            <a:avLst/>
          </a:prstGeom>
        </p:spPr>
        <p:txBody>
          <a:bodyPr wrap="square">
            <a:spAutoFit/>
          </a:bodyPr>
          <a:lstStyle/>
          <a:p>
            <a:r>
              <a:rPr lang="en-US" altLang="zh-TW" sz="1200" b="1" dirty="0">
                <a:solidFill>
                  <a:srgbClr val="000000"/>
                </a:solidFill>
                <a:latin typeface="Menlo" panose="020B0609030804020204" pitchFamily="49" charset="0"/>
              </a:rPr>
              <a:t>Density Matrix (D) :</a:t>
            </a:r>
            <a:r>
              <a:rPr lang="zh-TW" altLang="en-US" sz="1200" b="1" dirty="0">
                <a:solidFill>
                  <a:srgbClr val="000000"/>
                </a:solidFill>
                <a:latin typeface="Menlo" panose="020B0609030804020204" pitchFamily="49" charset="0"/>
              </a:rPr>
              <a:t> （</a:t>
            </a:r>
            <a:r>
              <a:rPr lang="zh-TW" altLang="en-US" sz="1200" b="1" dirty="0">
                <a:solidFill>
                  <a:schemeClr val="accent5"/>
                </a:solidFill>
                <a:latin typeface="Menlo" panose="020B0609030804020204" pitchFamily="49" charset="0"/>
              </a:rPr>
              <a:t>對角和</a:t>
            </a:r>
            <a:r>
              <a:rPr lang="en-US" altLang="zh-TW" sz="1200" b="1" dirty="0">
                <a:solidFill>
                  <a:schemeClr val="accent5"/>
                </a:solidFill>
                <a:latin typeface="Menlo" panose="020B0609030804020204" pitchFamily="49" charset="0"/>
              </a:rPr>
              <a:t>-</a:t>
            </a:r>
            <a:r>
              <a:rPr lang="zh-TW" altLang="en-US" sz="1200" b="1" dirty="0">
                <a:solidFill>
                  <a:schemeClr val="accent5"/>
                </a:solidFill>
                <a:latin typeface="Menlo" panose="020B0609030804020204" pitchFamily="49" charset="0"/>
              </a:rPr>
              <a:t>反對角和</a:t>
            </a:r>
            <a:r>
              <a:rPr lang="zh-TW" altLang="en-US" sz="1200" b="1" dirty="0">
                <a:solidFill>
                  <a:srgbClr val="000000"/>
                </a:solidFill>
                <a:latin typeface="Menlo" panose="020B0609030804020204" pitchFamily="49" charset="0"/>
              </a:rPr>
              <a:t>）</a:t>
            </a:r>
            <a:endParaRPr lang="en-US" altLang="zh-TW" sz="1200" dirty="0">
              <a:solidFill>
                <a:srgbClr val="000000"/>
              </a:solidFill>
              <a:latin typeface="Menlo" panose="020B0609030804020204" pitchFamily="49" charset="0"/>
            </a:endParaRPr>
          </a:p>
          <a:p>
            <a:r>
              <a:rPr lang="en-US" altLang="zh-TW" sz="1200" b="1" dirty="0" err="1">
                <a:solidFill>
                  <a:srgbClr val="000000"/>
                </a:solidFill>
                <a:latin typeface="Menlo" panose="020B0609030804020204" pitchFamily="49" charset="0"/>
              </a:rPr>
              <a:t>i</a:t>
            </a:r>
            <a:r>
              <a:rPr lang="en-US" altLang="zh-TW" sz="1200" b="1" dirty="0">
                <a:solidFill>
                  <a:srgbClr val="000000"/>
                </a:solidFill>
                <a:latin typeface="Menlo" panose="020B0609030804020204" pitchFamily="49" charset="0"/>
              </a:rPr>
              <a:t>\k 0  1  2  3  4  5  6  7  8  9 10 11 12 13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0  0  1  2  3  4  5  6  6  7  8  8  8  8  8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1  0  ∞  0  0  0  0  0  0  0  0  0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2  0  0  ∞  0  0  0  0  0  0  0  0  0  0  </a:t>
            </a:r>
            <a:r>
              <a:rPr lang="en-US" altLang="zh-TW" sz="1200" b="1" dirty="0">
                <a:solidFill>
                  <a:srgbClr val="FF0000"/>
                </a:solidFill>
                <a:latin typeface="Menlo" panose="020B0609030804020204" pitchFamily="49" charset="0"/>
              </a:rPr>
              <a:t>1</a:t>
            </a:r>
            <a:r>
              <a:rPr lang="en-US" altLang="zh-TW" sz="1200" b="1" dirty="0">
                <a:solidFill>
                  <a:srgbClr val="000000"/>
                </a:solidFill>
                <a:latin typeface="Menlo" panose="020B0609030804020204" pitchFamily="49" charset="0"/>
              </a:rPr>
              <a:t>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3  0  0  0  ∞  0  0  0  0  0  0  0  </a:t>
            </a:r>
            <a:r>
              <a:rPr lang="en-US" altLang="zh-TW" sz="1200" b="1" dirty="0">
                <a:solidFill>
                  <a:srgbClr val="FF0000"/>
                </a:solidFill>
                <a:latin typeface="Menlo" panose="020B0609030804020204" pitchFamily="49" charset="0"/>
              </a:rPr>
              <a:t>1</a:t>
            </a:r>
            <a:r>
              <a:rPr lang="en-US" altLang="zh-TW" sz="1200" b="1" dirty="0">
                <a:solidFill>
                  <a:srgbClr val="000000"/>
                </a:solidFill>
                <a:latin typeface="Menlo" panose="020B0609030804020204" pitchFamily="49" charset="0"/>
              </a:rPr>
              <a:t>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4  0  0  0  0  ∞  0  0  0  0  0  0 </a:t>
            </a:r>
            <a:r>
              <a:rPr lang="en-US" altLang="zh-TW" sz="1200" b="1" dirty="0">
                <a:solidFill>
                  <a:schemeClr val="accent6"/>
                </a:solidFill>
                <a:highlight>
                  <a:srgbClr val="FFFF00"/>
                </a:highlight>
                <a:latin typeface="Menlo" panose="020B0609030804020204" pitchFamily="49" charset="0"/>
              </a:rPr>
              <a:t> 0</a:t>
            </a:r>
            <a:r>
              <a:rPr lang="en-US" altLang="zh-TW" sz="1200" b="1" dirty="0">
                <a:solidFill>
                  <a:schemeClr val="accent6"/>
                </a:solidFill>
                <a:latin typeface="Menlo" panose="020B0609030804020204" pitchFamily="49" charset="0"/>
              </a:rPr>
              <a:t>  </a:t>
            </a:r>
            <a:r>
              <a:rPr lang="en-US" altLang="zh-TW" sz="1200" b="1" dirty="0">
                <a:solidFill>
                  <a:srgbClr val="000000"/>
                </a:solidFill>
                <a:latin typeface="Menlo" panose="020B0609030804020204" pitchFamily="49" charset="0"/>
              </a:rPr>
              <a:t>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5  0  0  0  0  0  ∞  0  </a:t>
            </a:r>
            <a:r>
              <a:rPr lang="en-US" altLang="zh-TW" sz="1200" b="1" dirty="0">
                <a:solidFill>
                  <a:srgbClr val="FF0000"/>
                </a:solidFill>
                <a:latin typeface="Menlo" panose="020B0609030804020204" pitchFamily="49" charset="0"/>
              </a:rPr>
              <a:t>1</a:t>
            </a:r>
            <a:r>
              <a:rPr lang="en-US" altLang="zh-TW" sz="1200" b="1" dirty="0">
                <a:solidFill>
                  <a:srgbClr val="000000"/>
                </a:solidFill>
                <a:latin typeface="Menlo" panose="020B0609030804020204" pitchFamily="49" charset="0"/>
              </a:rPr>
              <a:t>  0  0  0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6  0  0  0  0  0  0  ∞  0  0  0  0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7  0  0  0  0  0  0  0  ∞  0  0  0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8  0  0  0  0  0  0  0  0  ∞  0  </a:t>
            </a:r>
            <a:r>
              <a:rPr lang="en-US" altLang="zh-TW" sz="1200" b="1" dirty="0">
                <a:solidFill>
                  <a:srgbClr val="FF0000"/>
                </a:solidFill>
                <a:latin typeface="Menlo" panose="020B0609030804020204" pitchFamily="49" charset="0"/>
              </a:rPr>
              <a:t>1</a:t>
            </a:r>
            <a:r>
              <a:rPr lang="en-US" altLang="zh-TW" sz="1200" b="1" dirty="0">
                <a:solidFill>
                  <a:srgbClr val="000000"/>
                </a:solidFill>
                <a:latin typeface="Menlo" panose="020B0609030804020204" pitchFamily="49" charset="0"/>
              </a:rPr>
              <a:t>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9  0  0  0  0  0  0  0  0  0  ∞  0  0  </a:t>
            </a:r>
            <a:r>
              <a:rPr lang="en-US" altLang="zh-TW" sz="1200" b="1" dirty="0">
                <a:solidFill>
                  <a:srgbClr val="FF0000"/>
                </a:solidFill>
                <a:latin typeface="Menlo" panose="020B0609030804020204" pitchFamily="49" charset="0"/>
              </a:rPr>
              <a:t>1</a:t>
            </a:r>
            <a:r>
              <a:rPr lang="en-US" altLang="zh-TW" sz="1200" b="1" dirty="0">
                <a:solidFill>
                  <a:srgbClr val="000000"/>
                </a:solidFill>
                <a:latin typeface="Menlo" panose="020B0609030804020204" pitchFamily="49" charset="0"/>
              </a:rPr>
              <a:t>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10  0  0  0  0  0  0  0  0  0  0  ∞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11  0  0  0  0  0  0  0  0  0  0  0  ∞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12  0  0  0  0  0  0  0  0  0  0  0  0  ∞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13  0  0  0  0  0  0  0  0  0  0  0  0  0  ∞ </a:t>
            </a:r>
            <a:endParaRPr lang="en-US" altLang="zh-TW" sz="1200" dirty="0">
              <a:solidFill>
                <a:srgbClr val="000000"/>
              </a:solidFill>
              <a:latin typeface="Menlo" panose="020B0609030804020204" pitchFamily="49" charset="0"/>
            </a:endParaRPr>
          </a:p>
        </p:txBody>
      </p:sp>
      <p:sp>
        <p:nvSpPr>
          <p:cNvPr id="9" name="矩形 8">
            <a:extLst>
              <a:ext uri="{FF2B5EF4-FFF2-40B4-BE49-F238E27FC236}">
                <a16:creationId xmlns:a16="http://schemas.microsoft.com/office/drawing/2014/main" id="{1FF09BDF-6708-2BDE-B55D-231F2947D5A1}"/>
              </a:ext>
            </a:extLst>
          </p:cNvPr>
          <p:cNvSpPr/>
          <p:nvPr/>
        </p:nvSpPr>
        <p:spPr>
          <a:xfrm>
            <a:off x="7172883" y="47953"/>
            <a:ext cx="4458587" cy="3046988"/>
          </a:xfrm>
          <a:prstGeom prst="rect">
            <a:avLst/>
          </a:prstGeom>
        </p:spPr>
        <p:txBody>
          <a:bodyPr wrap="square">
            <a:spAutoFit/>
          </a:bodyPr>
          <a:lstStyle/>
          <a:p>
            <a:r>
              <a:rPr lang="en-US" altLang="zh-TW" sz="1200" b="1" dirty="0">
                <a:solidFill>
                  <a:srgbClr val="000000"/>
                </a:solidFill>
                <a:latin typeface="Menlo" panose="020B0609030804020204" pitchFamily="49" charset="0"/>
              </a:rPr>
              <a:t>Highest-Score Matrix (A):</a:t>
            </a:r>
            <a:endParaRPr lang="en-US" altLang="zh-TW" sz="1200" dirty="0">
              <a:solidFill>
                <a:srgbClr val="000000"/>
              </a:solidFill>
              <a:latin typeface="Menlo" panose="020B0609030804020204" pitchFamily="49" charset="0"/>
            </a:endParaRPr>
          </a:p>
          <a:p>
            <a:r>
              <a:rPr lang="en-US" altLang="zh-TW" sz="1200" b="1" dirty="0" err="1">
                <a:solidFill>
                  <a:srgbClr val="000000"/>
                </a:solidFill>
                <a:latin typeface="Menlo" panose="020B0609030804020204" pitchFamily="49" charset="0"/>
              </a:rPr>
              <a:t>i</a:t>
            </a:r>
            <a:r>
              <a:rPr lang="en-US" altLang="zh-TW" sz="1200" b="1" dirty="0">
                <a:solidFill>
                  <a:srgbClr val="000000"/>
                </a:solidFill>
                <a:latin typeface="Menlo" panose="020B0609030804020204" pitchFamily="49" charset="0"/>
              </a:rPr>
              <a:t>\j 0  1  2  3  4  5  6  7  8  9 10 11 12 13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0  0  1  2  3  4  5  6  6  7  8  8  8  8  8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1  0  0  1  2  3  4  5  5  6  7  7  7  </a:t>
            </a:r>
            <a:r>
              <a:rPr lang="en-US" altLang="zh-TW" sz="1200" b="1" dirty="0">
                <a:solidFill>
                  <a:srgbClr val="FF0000"/>
                </a:solidFill>
                <a:latin typeface="Menlo" panose="020B0609030804020204" pitchFamily="49" charset="0"/>
              </a:rPr>
              <a:t>7  7</a:t>
            </a:r>
            <a:r>
              <a:rPr lang="en-US" altLang="zh-TW" sz="1200" b="1" dirty="0">
                <a:solidFill>
                  <a:srgbClr val="000000"/>
                </a:solidFill>
                <a:latin typeface="Menlo" panose="020B0609030804020204" pitchFamily="49" charset="0"/>
              </a:rPr>
              <a:t>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2  0  0  0  1  2  3  4  4  5  6  </a:t>
            </a:r>
            <a:r>
              <a:rPr lang="en-US" altLang="zh-TW" sz="1200" b="1" dirty="0">
                <a:solidFill>
                  <a:srgbClr val="FF0000"/>
                </a:solidFill>
                <a:latin typeface="Menlo" panose="020B0609030804020204" pitchFamily="49" charset="0"/>
              </a:rPr>
              <a:t>6  6</a:t>
            </a:r>
            <a:r>
              <a:rPr lang="en-US" altLang="zh-TW" sz="1200" b="1" dirty="0">
                <a:solidFill>
                  <a:srgbClr val="000000"/>
                </a:solidFill>
                <a:latin typeface="Menlo" panose="020B0609030804020204" pitchFamily="49" charset="0"/>
              </a:rPr>
              <a:t>  </a:t>
            </a:r>
            <a:r>
              <a:rPr lang="en-US" altLang="zh-TW" sz="1200" b="1" dirty="0">
                <a:solidFill>
                  <a:srgbClr val="FF0000"/>
                </a:solidFill>
                <a:latin typeface="Menlo" panose="020B0609030804020204" pitchFamily="49" charset="0"/>
              </a:rPr>
              <a:t>6  7</a:t>
            </a:r>
            <a:r>
              <a:rPr lang="en-US" altLang="zh-TW" sz="1200" b="1" dirty="0">
                <a:solidFill>
                  <a:srgbClr val="000000"/>
                </a:solidFill>
                <a:latin typeface="Menlo" panose="020B0609030804020204" pitchFamily="49" charset="0"/>
              </a:rPr>
              <a:t>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3  0  0  0  0  1  2  3  3  4  5  </a:t>
            </a:r>
            <a:r>
              <a:rPr lang="en-US" altLang="zh-TW" sz="1200" b="1" dirty="0">
                <a:solidFill>
                  <a:srgbClr val="FF0000"/>
                </a:solidFill>
                <a:latin typeface="Menlo" panose="020B0609030804020204" pitchFamily="49" charset="0"/>
              </a:rPr>
              <a:t>5  6  </a:t>
            </a:r>
            <a:r>
              <a:rPr lang="en-US" altLang="zh-TW" sz="1200" b="1" dirty="0">
                <a:solidFill>
                  <a:srgbClr val="000000"/>
                </a:solidFill>
                <a:latin typeface="Menlo" panose="020B0609030804020204" pitchFamily="49" charset="0"/>
              </a:rPr>
              <a:t>6  7 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4  0  0  0  0  0  1  </a:t>
            </a:r>
            <a:r>
              <a:rPr lang="en-US" altLang="zh-TW" sz="1200" b="1" dirty="0">
                <a:solidFill>
                  <a:srgbClr val="FF0000"/>
                </a:solidFill>
                <a:latin typeface="Menlo" panose="020B0609030804020204" pitchFamily="49" charset="0"/>
              </a:rPr>
              <a:t>2  2  </a:t>
            </a:r>
            <a:r>
              <a:rPr lang="en-US" altLang="zh-TW" sz="1200" b="1" dirty="0">
                <a:solidFill>
                  <a:srgbClr val="000000"/>
                </a:solidFill>
                <a:latin typeface="Menlo" panose="020B0609030804020204" pitchFamily="49" charset="0"/>
              </a:rPr>
              <a:t>3  4  4 </a:t>
            </a:r>
            <a:r>
              <a:rPr lang="en-US" altLang="zh-TW" sz="1200" b="1" dirty="0">
                <a:solidFill>
                  <a:srgbClr val="000000"/>
                </a:solidFill>
                <a:highlight>
                  <a:srgbClr val="FFFF00"/>
                </a:highlight>
                <a:latin typeface="Menlo" panose="020B0609030804020204" pitchFamily="49" charset="0"/>
              </a:rPr>
              <a:t> </a:t>
            </a:r>
            <a:r>
              <a:rPr lang="en-US" altLang="zh-TW" sz="1200" dirty="0">
                <a:solidFill>
                  <a:schemeClr val="accent6"/>
                </a:solidFill>
                <a:highlight>
                  <a:srgbClr val="FFFF00"/>
                </a:highlight>
                <a:latin typeface="Menlo" panose="020B0609030804020204" pitchFamily="49" charset="0"/>
              </a:rPr>
              <a:t>5</a:t>
            </a:r>
            <a:r>
              <a:rPr lang="en-US" altLang="zh-TW" sz="1200" b="1" dirty="0">
                <a:solidFill>
                  <a:srgbClr val="000000"/>
                </a:solidFill>
                <a:latin typeface="Menlo" panose="020B0609030804020204" pitchFamily="49" charset="0"/>
              </a:rPr>
              <a:t>  5  6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5  0  0  0  0  0  0  </a:t>
            </a:r>
            <a:r>
              <a:rPr lang="en-US" altLang="zh-TW" sz="1200" b="1" dirty="0">
                <a:solidFill>
                  <a:srgbClr val="FF0000"/>
                </a:solidFill>
                <a:latin typeface="Menlo" panose="020B0609030804020204" pitchFamily="49" charset="0"/>
              </a:rPr>
              <a:t>1  2  </a:t>
            </a:r>
            <a:r>
              <a:rPr lang="en-US" altLang="zh-TW" sz="1200" b="1" dirty="0">
                <a:solidFill>
                  <a:srgbClr val="000000"/>
                </a:solidFill>
                <a:latin typeface="Menlo" panose="020B0609030804020204" pitchFamily="49" charset="0"/>
              </a:rPr>
              <a:t>3  4  4  5  5  6 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6  0  0  0  0  0  0  0  1  2  3  3  4  4  5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7  0  0  0  0  0  0  0  0  1  </a:t>
            </a:r>
            <a:r>
              <a:rPr lang="en-US" altLang="zh-TW" sz="1200" b="1" dirty="0">
                <a:solidFill>
                  <a:srgbClr val="FF0000"/>
                </a:solidFill>
                <a:latin typeface="Menlo" panose="020B0609030804020204" pitchFamily="49" charset="0"/>
              </a:rPr>
              <a:t>2  2</a:t>
            </a:r>
            <a:r>
              <a:rPr lang="en-US" altLang="zh-TW" sz="1200" b="1" dirty="0">
                <a:solidFill>
                  <a:srgbClr val="000000"/>
                </a:solidFill>
                <a:latin typeface="Menlo" panose="020B0609030804020204" pitchFamily="49" charset="0"/>
              </a:rPr>
              <a:t>  3  3  4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8  0  0  0  0  0  0  0  0  0  </a:t>
            </a:r>
            <a:r>
              <a:rPr lang="en-US" altLang="zh-TW" sz="1200" b="1" dirty="0">
                <a:solidFill>
                  <a:srgbClr val="FF0000"/>
                </a:solidFill>
                <a:latin typeface="Menlo" panose="020B0609030804020204" pitchFamily="49" charset="0"/>
              </a:rPr>
              <a:t>1  2  </a:t>
            </a:r>
            <a:r>
              <a:rPr lang="en-US" altLang="zh-TW" sz="1200" b="1" dirty="0">
                <a:solidFill>
                  <a:srgbClr val="000000"/>
                </a:solidFill>
                <a:latin typeface="Menlo" panose="020B0609030804020204" pitchFamily="49" charset="0"/>
              </a:rPr>
              <a:t>3  3  4 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9  0  0  0  0  0  0  0  0  0  0  1  </a:t>
            </a:r>
            <a:r>
              <a:rPr lang="en-US" altLang="zh-TW" sz="1200" b="1" dirty="0">
                <a:solidFill>
                  <a:srgbClr val="FF0000"/>
                </a:solidFill>
                <a:latin typeface="Menlo" panose="020B0609030804020204" pitchFamily="49" charset="0"/>
              </a:rPr>
              <a:t>2  3  </a:t>
            </a:r>
            <a:r>
              <a:rPr lang="en-US" altLang="zh-TW" sz="1200" b="1" dirty="0">
                <a:solidFill>
                  <a:srgbClr val="000000"/>
                </a:solidFill>
                <a:latin typeface="Menlo" panose="020B0609030804020204" pitchFamily="49" charset="0"/>
              </a:rPr>
              <a:t>4 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10  0  0  0  0  0  0  0  0  0  0  0  </a:t>
            </a:r>
            <a:r>
              <a:rPr lang="en-US" altLang="zh-TW" sz="1200" b="1" dirty="0">
                <a:solidFill>
                  <a:srgbClr val="FF0000"/>
                </a:solidFill>
                <a:latin typeface="Menlo" panose="020B0609030804020204" pitchFamily="49" charset="0"/>
              </a:rPr>
              <a:t>1  2</a:t>
            </a:r>
            <a:r>
              <a:rPr lang="en-US" altLang="zh-TW" sz="1200" b="1" dirty="0">
                <a:solidFill>
                  <a:srgbClr val="000000"/>
                </a:solidFill>
                <a:latin typeface="Menlo" panose="020B0609030804020204" pitchFamily="49" charset="0"/>
              </a:rPr>
              <a:t>  3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11  0  0  0  0  0  0  0  0  0  0  0  0  1  2 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12  0  0  0  0  0  0  0  0  0  0  0  0  0  1 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13  0  0  0  0  0  0  0  0  0  0  0  0  0  0</a:t>
            </a:r>
            <a:endParaRPr lang="en-US" altLang="zh-TW" sz="1200" dirty="0">
              <a:solidFill>
                <a:srgbClr val="000000"/>
              </a:solidFill>
              <a:latin typeface="Menlo" panose="020B0609030804020204" pitchFamily="49" charset="0"/>
            </a:endParaRPr>
          </a:p>
        </p:txBody>
      </p:sp>
      <p:sp>
        <p:nvSpPr>
          <p:cNvPr id="11" name="矩形 10">
            <a:extLst>
              <a:ext uri="{FF2B5EF4-FFF2-40B4-BE49-F238E27FC236}">
                <a16:creationId xmlns:a16="http://schemas.microsoft.com/office/drawing/2014/main" id="{4732D8A1-E19C-0D07-1A6E-3A006F47E4B0}"/>
              </a:ext>
            </a:extLst>
          </p:cNvPr>
          <p:cNvSpPr/>
          <p:nvPr/>
        </p:nvSpPr>
        <p:spPr>
          <a:xfrm>
            <a:off x="1419448" y="1422665"/>
            <a:ext cx="4205176" cy="338554"/>
          </a:xfrm>
          <a:prstGeom prst="rect">
            <a:avLst/>
          </a:prstGeom>
        </p:spPr>
        <p:txBody>
          <a:bodyPr wrap="square">
            <a:spAutoFit/>
          </a:bodyPr>
          <a:lstStyle/>
          <a:p>
            <a:r>
              <a:rPr lang="en-US" altLang="zh-TW" sz="1600" b="1" dirty="0">
                <a:solidFill>
                  <a:srgbClr val="000000"/>
                </a:solidFill>
                <a:latin typeface="Menlo" panose="020B0609030804020204" pitchFamily="49" charset="0"/>
              </a:rPr>
              <a:t>A : </a:t>
            </a:r>
            <a:r>
              <a:rPr lang="en-US" altLang="zh-TW" sz="1600" b="1" dirty="0" err="1">
                <a:solidFill>
                  <a:srgbClr val="000000"/>
                </a:solidFill>
                <a:latin typeface="Menlo" panose="020B0609030804020204" pitchFamily="49" charset="0"/>
              </a:rPr>
              <a:t>baabcbca</a:t>
            </a:r>
            <a:r>
              <a:rPr lang="en-US" altLang="zh-TW" sz="1600" b="1" dirty="0">
                <a:solidFill>
                  <a:srgbClr val="000000"/>
                </a:solidFill>
                <a:latin typeface="Menlo" panose="020B0609030804020204" pitchFamily="49" charset="0"/>
              </a:rPr>
              <a:t>,</a:t>
            </a:r>
            <a:r>
              <a:rPr lang="en-US" altLang="zh-TW" sz="1600" dirty="0">
                <a:solidFill>
                  <a:srgbClr val="000000"/>
                </a:solidFill>
                <a:latin typeface="Menlo" panose="020B0609030804020204" pitchFamily="49" charset="0"/>
              </a:rPr>
              <a:t> </a:t>
            </a:r>
            <a:r>
              <a:rPr lang="en-US" altLang="zh-TW" sz="1600" b="1" dirty="0">
                <a:solidFill>
                  <a:srgbClr val="000000"/>
                </a:solidFill>
                <a:latin typeface="Menlo" panose="020B0609030804020204" pitchFamily="49" charset="0"/>
              </a:rPr>
              <a:t>B : </a:t>
            </a:r>
            <a:r>
              <a:rPr lang="en-US" altLang="zh-TW" sz="1600" b="1" dirty="0" err="1">
                <a:solidFill>
                  <a:srgbClr val="000000"/>
                </a:solidFill>
                <a:latin typeface="Menlo" panose="020B0609030804020204" pitchFamily="49" charset="0"/>
              </a:rPr>
              <a:t>baabcabcabaca</a:t>
            </a:r>
            <a:endParaRPr lang="en-US" altLang="zh-TW" sz="1600" dirty="0">
              <a:solidFill>
                <a:srgbClr val="000000"/>
              </a:solidFill>
              <a:latin typeface="Menlo" panose="020B0609030804020204" pitchFamily="49" charset="0"/>
            </a:endParaRPr>
          </a:p>
        </p:txBody>
      </p:sp>
      <p:pic>
        <p:nvPicPr>
          <p:cNvPr id="14" name="圖片 13">
            <a:extLst>
              <a:ext uri="{FF2B5EF4-FFF2-40B4-BE49-F238E27FC236}">
                <a16:creationId xmlns:a16="http://schemas.microsoft.com/office/drawing/2014/main" id="{F618C99C-BAA7-575A-48C4-DE51119F6793}"/>
              </a:ext>
            </a:extLst>
          </p:cNvPr>
          <p:cNvPicPr>
            <a:picLocks noChangeAspect="1"/>
          </p:cNvPicPr>
          <p:nvPr/>
        </p:nvPicPr>
        <p:blipFill rotWithShape="1">
          <a:blip r:embed="rId3"/>
          <a:srcRect l="13958" t="49600" r="1494" b="6195"/>
          <a:stretch/>
        </p:blipFill>
        <p:spPr>
          <a:xfrm>
            <a:off x="1234307" y="6402498"/>
            <a:ext cx="3202174" cy="385222"/>
          </a:xfrm>
          <a:prstGeom prst="rect">
            <a:avLst/>
          </a:prstGeom>
        </p:spPr>
      </p:pic>
      <p:sp>
        <p:nvSpPr>
          <p:cNvPr id="15" name="矩形 14">
            <a:extLst>
              <a:ext uri="{FF2B5EF4-FFF2-40B4-BE49-F238E27FC236}">
                <a16:creationId xmlns:a16="http://schemas.microsoft.com/office/drawing/2014/main" id="{D8725556-52C7-D12E-A5DC-EE40372B2589}"/>
              </a:ext>
            </a:extLst>
          </p:cNvPr>
          <p:cNvSpPr/>
          <p:nvPr/>
        </p:nvSpPr>
        <p:spPr>
          <a:xfrm>
            <a:off x="932782" y="1854766"/>
            <a:ext cx="603050" cy="369332"/>
          </a:xfrm>
          <a:prstGeom prst="rect">
            <a:avLst/>
          </a:prstGeom>
        </p:spPr>
        <p:txBody>
          <a:bodyPr wrap="none">
            <a:spAutoFit/>
          </a:bodyPr>
          <a:lstStyle/>
          <a:p>
            <a:r>
              <a:rPr lang="en-US" altLang="zh-TW" b="1" dirty="0">
                <a:solidFill>
                  <a:srgbClr val="000000"/>
                </a:solidFill>
                <a:latin typeface="Menlo" panose="020B0609030804020204" pitchFamily="49" charset="0"/>
              </a:rPr>
              <a:t>A\B</a:t>
            </a:r>
            <a:endParaRPr lang="en-US" altLang="zh-TW" dirty="0">
              <a:solidFill>
                <a:srgbClr val="000000"/>
              </a:solidFill>
              <a:effectLst/>
              <a:latin typeface="Menlo" panose="020B0609030804020204" pitchFamily="49" charset="0"/>
            </a:endParaRPr>
          </a:p>
        </p:txBody>
      </p:sp>
      <p:sp>
        <p:nvSpPr>
          <p:cNvPr id="16" name="矩形 15">
            <a:extLst>
              <a:ext uri="{FF2B5EF4-FFF2-40B4-BE49-F238E27FC236}">
                <a16:creationId xmlns:a16="http://schemas.microsoft.com/office/drawing/2014/main" id="{89624051-7FE6-2A74-34CE-ED11F10D78D7}"/>
              </a:ext>
            </a:extLst>
          </p:cNvPr>
          <p:cNvSpPr/>
          <p:nvPr/>
        </p:nvSpPr>
        <p:spPr>
          <a:xfrm>
            <a:off x="7172880" y="6074012"/>
            <a:ext cx="4180919" cy="646331"/>
          </a:xfrm>
          <a:prstGeom prst="rect">
            <a:avLst/>
          </a:prstGeom>
        </p:spPr>
        <p:txBody>
          <a:bodyPr wrap="square">
            <a:spAutoFit/>
          </a:bodyPr>
          <a:lstStyle/>
          <a:p>
            <a:r>
              <a:rPr lang="en-US" altLang="zh-TW" sz="1200" b="1" dirty="0">
                <a:solidFill>
                  <a:srgbClr val="000000"/>
                </a:solidFill>
                <a:latin typeface="Menlo" panose="020B0609030804020204" pitchFamily="49" charset="0"/>
              </a:rPr>
              <a:t>Linear s-table (implicit representation)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1  2  3  4  5  6  7  8  9 10 11 12 13 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13 11  ∞  7  ∞  ∞ 10 12  ∞  ∞  ∞  ∞</a:t>
            </a:r>
            <a:endParaRPr lang="en-US" altLang="zh-TW" sz="1200" dirty="0">
              <a:solidFill>
                <a:srgbClr val="000000"/>
              </a:solidFill>
              <a:effectLst/>
              <a:latin typeface="Menlo" panose="020B0609030804020204" pitchFamily="49" charset="0"/>
            </a:endParaRPr>
          </a:p>
        </p:txBody>
      </p:sp>
      <p:cxnSp>
        <p:nvCxnSpPr>
          <p:cNvPr id="18" name="直線接點 17">
            <a:extLst>
              <a:ext uri="{FF2B5EF4-FFF2-40B4-BE49-F238E27FC236}">
                <a16:creationId xmlns:a16="http://schemas.microsoft.com/office/drawing/2014/main" id="{B14F1525-C730-4463-539E-EA5F0E015727}"/>
              </a:ext>
            </a:extLst>
          </p:cNvPr>
          <p:cNvCxnSpPr/>
          <p:nvPr/>
        </p:nvCxnSpPr>
        <p:spPr>
          <a:xfrm>
            <a:off x="3131820" y="1965960"/>
            <a:ext cx="0" cy="3840480"/>
          </a:xfrm>
          <a:prstGeom prst="line">
            <a:avLst/>
          </a:prstGeom>
          <a:ln w="76200">
            <a:solidFill>
              <a:schemeClr val="accent6"/>
            </a:solidFill>
          </a:ln>
        </p:spPr>
        <p:style>
          <a:lnRef idx="3">
            <a:schemeClr val="accent2"/>
          </a:lnRef>
          <a:fillRef idx="0">
            <a:schemeClr val="accent2"/>
          </a:fillRef>
          <a:effectRef idx="2">
            <a:schemeClr val="accent2"/>
          </a:effectRef>
          <a:fontRef idx="minor">
            <a:schemeClr val="tx1"/>
          </a:fontRef>
        </p:style>
      </p:cxnSp>
      <p:cxnSp>
        <p:nvCxnSpPr>
          <p:cNvPr id="19" name="直線接點 18">
            <a:extLst>
              <a:ext uri="{FF2B5EF4-FFF2-40B4-BE49-F238E27FC236}">
                <a16:creationId xmlns:a16="http://schemas.microsoft.com/office/drawing/2014/main" id="{2B8995E2-DD92-C5E7-33E1-AE17B0C57FB9}"/>
              </a:ext>
            </a:extLst>
          </p:cNvPr>
          <p:cNvCxnSpPr/>
          <p:nvPr/>
        </p:nvCxnSpPr>
        <p:spPr>
          <a:xfrm>
            <a:off x="6096000" y="1965960"/>
            <a:ext cx="0" cy="3840480"/>
          </a:xfrm>
          <a:prstGeom prst="line">
            <a:avLst/>
          </a:prstGeom>
          <a:ln w="76200">
            <a:solidFill>
              <a:schemeClr val="accent6"/>
            </a:solidFill>
          </a:ln>
        </p:spPr>
        <p:style>
          <a:lnRef idx="3">
            <a:schemeClr val="accent2"/>
          </a:lnRef>
          <a:fillRef idx="0">
            <a:schemeClr val="accent2"/>
          </a:fillRef>
          <a:effectRef idx="2">
            <a:schemeClr val="accent2"/>
          </a:effectRef>
          <a:fontRef idx="minor">
            <a:schemeClr val="tx1"/>
          </a:fontRef>
        </p:style>
      </p:cxnSp>
      <p:sp>
        <p:nvSpPr>
          <p:cNvPr id="20" name="文字方塊 19">
            <a:extLst>
              <a:ext uri="{FF2B5EF4-FFF2-40B4-BE49-F238E27FC236}">
                <a16:creationId xmlns:a16="http://schemas.microsoft.com/office/drawing/2014/main" id="{987EB0C1-D3FD-E319-BBF4-F4A42D8DD60D}"/>
              </a:ext>
            </a:extLst>
          </p:cNvPr>
          <p:cNvSpPr txBox="1"/>
          <p:nvPr/>
        </p:nvSpPr>
        <p:spPr>
          <a:xfrm>
            <a:off x="2976970" y="5755900"/>
            <a:ext cx="309700" cy="369332"/>
          </a:xfrm>
          <a:prstGeom prst="rect">
            <a:avLst/>
          </a:prstGeom>
          <a:noFill/>
        </p:spPr>
        <p:txBody>
          <a:bodyPr wrap="none" rtlCol="0">
            <a:spAutoFit/>
          </a:bodyPr>
          <a:lstStyle/>
          <a:p>
            <a:r>
              <a:rPr kumimoji="1" lang="en-US" altLang="zh-TW" b="1" dirty="0">
                <a:solidFill>
                  <a:schemeClr val="accent6"/>
                </a:solidFill>
                <a:latin typeface="Times New Roman" panose="02020603050405020304" pitchFamily="18" charset="0"/>
                <a:cs typeface="Times New Roman" panose="02020603050405020304" pitchFamily="18" charset="0"/>
              </a:rPr>
              <a:t>4</a:t>
            </a:r>
            <a:endParaRPr kumimoji="1" lang="zh-TW" altLang="en-US" b="1" dirty="0">
              <a:solidFill>
                <a:schemeClr val="accent6"/>
              </a:solidFill>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DFCC57DB-A907-FBA3-3DCC-CE292D23EC23}"/>
              </a:ext>
            </a:extLst>
          </p:cNvPr>
          <p:cNvSpPr txBox="1"/>
          <p:nvPr/>
        </p:nvSpPr>
        <p:spPr>
          <a:xfrm>
            <a:off x="5930183" y="5755900"/>
            <a:ext cx="402739" cy="369332"/>
          </a:xfrm>
          <a:prstGeom prst="rect">
            <a:avLst/>
          </a:prstGeom>
          <a:noFill/>
        </p:spPr>
        <p:txBody>
          <a:bodyPr wrap="none" rtlCol="0">
            <a:spAutoFit/>
          </a:bodyPr>
          <a:lstStyle/>
          <a:p>
            <a:r>
              <a:rPr kumimoji="1" lang="en-US" altLang="zh-TW" b="1" dirty="0">
                <a:solidFill>
                  <a:schemeClr val="accent6"/>
                </a:solidFill>
                <a:latin typeface="Times New Roman" panose="02020603050405020304" pitchFamily="18" charset="0"/>
                <a:cs typeface="Times New Roman" panose="02020603050405020304" pitchFamily="18" charset="0"/>
              </a:rPr>
              <a:t>11</a:t>
            </a:r>
            <a:endParaRPr kumimoji="1" lang="zh-TW" altLang="en-US" b="1" dirty="0">
              <a:solidFill>
                <a:schemeClr val="accent6"/>
              </a:solidFill>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14AEF5CB-FC5F-AA27-831A-6439AA09AEF2}"/>
              </a:ext>
            </a:extLst>
          </p:cNvPr>
          <p:cNvSpPr txBox="1"/>
          <p:nvPr/>
        </p:nvSpPr>
        <p:spPr>
          <a:xfrm>
            <a:off x="4331597" y="6376420"/>
            <a:ext cx="2421304" cy="369332"/>
          </a:xfrm>
          <a:prstGeom prst="rect">
            <a:avLst/>
          </a:prstGeom>
          <a:noFill/>
        </p:spPr>
        <p:txBody>
          <a:bodyPr wrap="none" rtlCol="0">
            <a:spAutoFit/>
          </a:bodyPr>
          <a:lstStyle/>
          <a:p>
            <a:r>
              <a:rPr kumimoji="1" lang="en-US" altLang="zh-TW" b="1" dirty="0">
                <a:solidFill>
                  <a:schemeClr val="accent6"/>
                </a:solidFill>
                <a:latin typeface="Times New Roman" panose="02020603050405020304" pitchFamily="18" charset="0"/>
                <a:cs typeface="Times New Roman" panose="02020603050405020304" pitchFamily="18" charset="0"/>
              </a:rPr>
              <a:t>A(4,11) </a:t>
            </a:r>
            <a:r>
              <a:rPr kumimoji="1" lang="en-US" altLang="zh-TW" dirty="0">
                <a:latin typeface="Times New Roman" panose="02020603050405020304" pitchFamily="18" charset="0"/>
                <a:cs typeface="Times New Roman" panose="02020603050405020304" pitchFamily="18" charset="0"/>
              </a:rPr>
              <a:t>= 11 – 4 – 2 = 5</a:t>
            </a:r>
            <a:endParaRPr kumimoji="1" lang="zh-TW" altLang="en-US" dirty="0">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F2728D4C-65CD-20FC-7470-0DFC0EBCD5AF}"/>
              </a:ext>
            </a:extLst>
          </p:cNvPr>
          <p:cNvSpPr/>
          <p:nvPr/>
        </p:nvSpPr>
        <p:spPr>
          <a:xfrm>
            <a:off x="8954263" y="1187669"/>
            <a:ext cx="1850372" cy="203466"/>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1417891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Critical Point (1/2)</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7</a:t>
            </a:fld>
            <a:endParaRPr kumimoji="1" lang="zh-TW" altLang="en-US"/>
          </a:p>
        </p:txBody>
      </p:sp>
      <p:pic>
        <p:nvPicPr>
          <p:cNvPr id="5" name="圖片 4">
            <a:extLst>
              <a:ext uri="{FF2B5EF4-FFF2-40B4-BE49-F238E27FC236}">
                <a16:creationId xmlns:a16="http://schemas.microsoft.com/office/drawing/2014/main" id="{B07700BB-23DE-AD1C-7DB5-FCC96FA2EECF}"/>
              </a:ext>
            </a:extLst>
          </p:cNvPr>
          <p:cNvPicPr>
            <a:picLocks noChangeAspect="1"/>
          </p:cNvPicPr>
          <p:nvPr/>
        </p:nvPicPr>
        <p:blipFill>
          <a:blip r:embed="rId2"/>
          <a:stretch>
            <a:fillRect/>
          </a:stretch>
        </p:blipFill>
        <p:spPr>
          <a:xfrm>
            <a:off x="755329" y="1817188"/>
            <a:ext cx="6417554" cy="4721724"/>
          </a:xfrm>
          <a:prstGeom prst="rect">
            <a:avLst/>
          </a:prstGeom>
        </p:spPr>
      </p:pic>
      <p:sp>
        <p:nvSpPr>
          <p:cNvPr id="8" name="矩形 7">
            <a:extLst>
              <a:ext uri="{FF2B5EF4-FFF2-40B4-BE49-F238E27FC236}">
                <a16:creationId xmlns:a16="http://schemas.microsoft.com/office/drawing/2014/main" id="{23D78A78-4F4D-9D0B-FEEC-33972189C9B6}"/>
              </a:ext>
            </a:extLst>
          </p:cNvPr>
          <p:cNvSpPr/>
          <p:nvPr/>
        </p:nvSpPr>
        <p:spPr>
          <a:xfrm>
            <a:off x="7172882" y="3013382"/>
            <a:ext cx="4458587" cy="3046988"/>
          </a:xfrm>
          <a:prstGeom prst="rect">
            <a:avLst/>
          </a:prstGeom>
        </p:spPr>
        <p:txBody>
          <a:bodyPr wrap="square">
            <a:spAutoFit/>
          </a:bodyPr>
          <a:lstStyle/>
          <a:p>
            <a:r>
              <a:rPr lang="en-US" altLang="zh-TW" sz="1200" b="1" dirty="0">
                <a:solidFill>
                  <a:srgbClr val="000000"/>
                </a:solidFill>
                <a:latin typeface="Menlo" panose="020B0609030804020204" pitchFamily="49" charset="0"/>
              </a:rPr>
              <a:t>Density Matrix (D) :</a:t>
            </a:r>
            <a:r>
              <a:rPr lang="zh-TW" altLang="en-US" sz="1200" b="1" dirty="0">
                <a:solidFill>
                  <a:srgbClr val="000000"/>
                </a:solidFill>
                <a:latin typeface="Menlo" panose="020B0609030804020204" pitchFamily="49" charset="0"/>
              </a:rPr>
              <a:t> （</a:t>
            </a:r>
            <a:r>
              <a:rPr lang="zh-TW" altLang="en-US" sz="1200" b="1" dirty="0">
                <a:solidFill>
                  <a:schemeClr val="accent5"/>
                </a:solidFill>
                <a:latin typeface="Menlo" panose="020B0609030804020204" pitchFamily="49" charset="0"/>
              </a:rPr>
              <a:t>對角和</a:t>
            </a:r>
            <a:r>
              <a:rPr lang="en-US" altLang="zh-TW" sz="1200" b="1" dirty="0">
                <a:solidFill>
                  <a:schemeClr val="accent5"/>
                </a:solidFill>
                <a:latin typeface="Menlo" panose="020B0609030804020204" pitchFamily="49" charset="0"/>
              </a:rPr>
              <a:t>-</a:t>
            </a:r>
            <a:r>
              <a:rPr lang="zh-TW" altLang="en-US" sz="1200" b="1" dirty="0">
                <a:solidFill>
                  <a:schemeClr val="accent5"/>
                </a:solidFill>
                <a:latin typeface="Menlo" panose="020B0609030804020204" pitchFamily="49" charset="0"/>
              </a:rPr>
              <a:t>反對角和</a:t>
            </a:r>
            <a:r>
              <a:rPr lang="zh-TW" altLang="en-US" sz="1200" b="1" dirty="0">
                <a:solidFill>
                  <a:srgbClr val="000000"/>
                </a:solidFill>
                <a:latin typeface="Menlo" panose="020B0609030804020204" pitchFamily="49" charset="0"/>
              </a:rPr>
              <a:t>）</a:t>
            </a:r>
            <a:endParaRPr lang="en-US" altLang="zh-TW" sz="1200" dirty="0">
              <a:solidFill>
                <a:srgbClr val="000000"/>
              </a:solidFill>
              <a:latin typeface="Menlo" panose="020B0609030804020204" pitchFamily="49" charset="0"/>
            </a:endParaRPr>
          </a:p>
          <a:p>
            <a:r>
              <a:rPr lang="en-US" altLang="zh-TW" sz="1200" b="1" dirty="0" err="1">
                <a:solidFill>
                  <a:srgbClr val="000000"/>
                </a:solidFill>
                <a:latin typeface="Menlo" panose="020B0609030804020204" pitchFamily="49" charset="0"/>
              </a:rPr>
              <a:t>i</a:t>
            </a:r>
            <a:r>
              <a:rPr lang="en-US" altLang="zh-TW" sz="1200" b="1" dirty="0">
                <a:solidFill>
                  <a:srgbClr val="000000"/>
                </a:solidFill>
                <a:latin typeface="Menlo" panose="020B0609030804020204" pitchFamily="49" charset="0"/>
              </a:rPr>
              <a:t>\k 0  1  2  3  4  5  6  7  8  9 10 11 12 13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0  0  1  2  3  4  5  6  6  7  8  8  8  8  8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1  0  ∞  0  0  0  0  0  0  0  0  0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2  0  0  ∞  0  0  0  0  0  0  0  0  0  0  </a:t>
            </a:r>
            <a:r>
              <a:rPr lang="en-US" altLang="zh-TW" sz="1200" b="1" dirty="0">
                <a:solidFill>
                  <a:srgbClr val="FF0000"/>
                </a:solidFill>
                <a:latin typeface="Menlo" panose="020B0609030804020204" pitchFamily="49" charset="0"/>
              </a:rPr>
              <a:t>1</a:t>
            </a:r>
            <a:r>
              <a:rPr lang="en-US" altLang="zh-TW" sz="1200" b="1" dirty="0">
                <a:solidFill>
                  <a:srgbClr val="000000"/>
                </a:solidFill>
                <a:latin typeface="Menlo" panose="020B0609030804020204" pitchFamily="49" charset="0"/>
              </a:rPr>
              <a:t>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3  0  0  0  ∞  0  0  0  0  0  0  0  </a:t>
            </a:r>
            <a:r>
              <a:rPr lang="en-US" altLang="zh-TW" sz="1200" b="1" dirty="0">
                <a:solidFill>
                  <a:srgbClr val="FF0000"/>
                </a:solidFill>
                <a:latin typeface="Menlo" panose="020B0609030804020204" pitchFamily="49" charset="0"/>
              </a:rPr>
              <a:t>1</a:t>
            </a:r>
            <a:r>
              <a:rPr lang="en-US" altLang="zh-TW" sz="1200" b="1" dirty="0">
                <a:solidFill>
                  <a:srgbClr val="000000"/>
                </a:solidFill>
                <a:latin typeface="Menlo" panose="020B0609030804020204" pitchFamily="49" charset="0"/>
              </a:rPr>
              <a:t>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4  0  0  0  0  ∞  0  0  0  0  0  0 </a:t>
            </a:r>
            <a:r>
              <a:rPr lang="en-US" altLang="zh-TW" sz="1200" b="1" dirty="0">
                <a:solidFill>
                  <a:schemeClr val="accent6"/>
                </a:solidFill>
                <a:highlight>
                  <a:srgbClr val="FFFF00"/>
                </a:highlight>
                <a:latin typeface="Menlo" panose="020B0609030804020204" pitchFamily="49" charset="0"/>
              </a:rPr>
              <a:t> 0</a:t>
            </a:r>
            <a:r>
              <a:rPr lang="en-US" altLang="zh-TW" sz="1200" b="1" dirty="0">
                <a:solidFill>
                  <a:schemeClr val="accent6"/>
                </a:solidFill>
                <a:latin typeface="Menlo" panose="020B0609030804020204" pitchFamily="49" charset="0"/>
              </a:rPr>
              <a:t>  </a:t>
            </a:r>
            <a:r>
              <a:rPr lang="en-US" altLang="zh-TW" sz="1200" b="1" dirty="0">
                <a:solidFill>
                  <a:srgbClr val="000000"/>
                </a:solidFill>
                <a:latin typeface="Menlo" panose="020B0609030804020204" pitchFamily="49" charset="0"/>
              </a:rPr>
              <a:t>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5  0  0  0  0  0  ∞  0  </a:t>
            </a:r>
            <a:r>
              <a:rPr lang="en-US" altLang="zh-TW" sz="1200" b="1" dirty="0">
                <a:solidFill>
                  <a:srgbClr val="FF0000"/>
                </a:solidFill>
                <a:latin typeface="Menlo" panose="020B0609030804020204" pitchFamily="49" charset="0"/>
              </a:rPr>
              <a:t>1</a:t>
            </a:r>
            <a:r>
              <a:rPr lang="en-US" altLang="zh-TW" sz="1200" b="1" dirty="0">
                <a:solidFill>
                  <a:srgbClr val="000000"/>
                </a:solidFill>
                <a:latin typeface="Menlo" panose="020B0609030804020204" pitchFamily="49" charset="0"/>
              </a:rPr>
              <a:t>  0  0  0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6  0  0  0  0  0  0  ∞  0  0  0  0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7  0  0  0  0  0  0  0  ∞  0  0  0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8  0  0  0  0  0  0  0  0  ∞  0  </a:t>
            </a:r>
            <a:r>
              <a:rPr lang="en-US" altLang="zh-TW" sz="1200" b="1" dirty="0">
                <a:solidFill>
                  <a:srgbClr val="FF0000"/>
                </a:solidFill>
                <a:latin typeface="Menlo" panose="020B0609030804020204" pitchFamily="49" charset="0"/>
              </a:rPr>
              <a:t>1</a:t>
            </a:r>
            <a:r>
              <a:rPr lang="en-US" altLang="zh-TW" sz="1200" b="1" dirty="0">
                <a:solidFill>
                  <a:srgbClr val="000000"/>
                </a:solidFill>
                <a:latin typeface="Menlo" panose="020B0609030804020204" pitchFamily="49" charset="0"/>
              </a:rPr>
              <a:t>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9  0  0  0  0  0  0  0  0  0  ∞  0  0  </a:t>
            </a:r>
            <a:r>
              <a:rPr lang="en-US" altLang="zh-TW" sz="1200" b="1" dirty="0">
                <a:solidFill>
                  <a:srgbClr val="FF0000"/>
                </a:solidFill>
                <a:latin typeface="Menlo" panose="020B0609030804020204" pitchFamily="49" charset="0"/>
              </a:rPr>
              <a:t>1</a:t>
            </a:r>
            <a:r>
              <a:rPr lang="en-US" altLang="zh-TW" sz="1200" b="1" dirty="0">
                <a:solidFill>
                  <a:srgbClr val="000000"/>
                </a:solidFill>
                <a:latin typeface="Menlo" panose="020B0609030804020204" pitchFamily="49" charset="0"/>
              </a:rPr>
              <a:t>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10  0  0  0  0  0  0  0  0  0  0  ∞  0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11  0  0  0  0  0  0  0  0  0  0  0  ∞  0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12  0  0  0  0  0  0  0  0  0  0  0  0  ∞  0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13  0  0  0  0  0  0  0  0  0  0  0  0  0  ∞ </a:t>
            </a:r>
            <a:endParaRPr lang="en-US" altLang="zh-TW" sz="1200" dirty="0">
              <a:solidFill>
                <a:srgbClr val="000000"/>
              </a:solidFill>
              <a:latin typeface="Menlo" panose="020B0609030804020204" pitchFamily="49" charset="0"/>
            </a:endParaRPr>
          </a:p>
        </p:txBody>
      </p:sp>
      <p:sp>
        <p:nvSpPr>
          <p:cNvPr id="9" name="矩形 8">
            <a:extLst>
              <a:ext uri="{FF2B5EF4-FFF2-40B4-BE49-F238E27FC236}">
                <a16:creationId xmlns:a16="http://schemas.microsoft.com/office/drawing/2014/main" id="{1FF09BDF-6708-2BDE-B55D-231F2947D5A1}"/>
              </a:ext>
            </a:extLst>
          </p:cNvPr>
          <p:cNvSpPr/>
          <p:nvPr/>
        </p:nvSpPr>
        <p:spPr>
          <a:xfrm>
            <a:off x="7172883" y="47953"/>
            <a:ext cx="4458587" cy="3046988"/>
          </a:xfrm>
          <a:prstGeom prst="rect">
            <a:avLst/>
          </a:prstGeom>
        </p:spPr>
        <p:txBody>
          <a:bodyPr wrap="square">
            <a:spAutoFit/>
          </a:bodyPr>
          <a:lstStyle/>
          <a:p>
            <a:r>
              <a:rPr lang="en-US" altLang="zh-TW" sz="1200" b="1" dirty="0">
                <a:latin typeface="Menlo" panose="020B0609030804020204" pitchFamily="49" charset="0"/>
                <a:ea typeface="Menlo" panose="020B0609030804020204" pitchFamily="49" charset="0"/>
                <a:cs typeface="Menlo" panose="020B0609030804020204" pitchFamily="49" charset="0"/>
              </a:rPr>
              <a:t>CG horizontal difference (</a:t>
            </a:r>
            <a:r>
              <a:rPr lang="en-US" altLang="zh-TW" sz="1200" b="1" dirty="0" err="1">
                <a:latin typeface="Menlo" panose="020B0609030804020204" pitchFamily="49" charset="0"/>
                <a:ea typeface="Menlo" panose="020B0609030804020204" pitchFamily="49" charset="0"/>
                <a:cs typeface="Menlo" panose="020B0609030804020204" pitchFamily="49" charset="0"/>
              </a:rPr>
              <a:t>HDiff</a:t>
            </a:r>
            <a:r>
              <a:rPr lang="en-US" altLang="zh-TW" sz="1200" b="1" dirty="0">
                <a:latin typeface="Menlo" panose="020B0609030804020204" pitchFamily="49" charset="0"/>
                <a:ea typeface="Menlo" panose="020B0609030804020204" pitchFamily="49" charset="0"/>
                <a:cs typeface="Menlo" panose="020B0609030804020204" pitchFamily="49" charset="0"/>
              </a:rPr>
              <a:t>) : l = 8</a:t>
            </a:r>
          </a:p>
          <a:p>
            <a:r>
              <a:rPr lang="en-US" altLang="zh-TW" sz="1200" b="1" dirty="0" err="1">
                <a:latin typeface="Menlo" panose="020B0609030804020204" pitchFamily="49" charset="0"/>
                <a:ea typeface="Menlo" panose="020B0609030804020204" pitchFamily="49" charset="0"/>
                <a:cs typeface="Menlo" panose="020B0609030804020204" pitchFamily="49" charset="0"/>
              </a:rPr>
              <a:t>i</a:t>
            </a:r>
            <a:r>
              <a:rPr lang="en-US" altLang="zh-TW" sz="1200" b="1" dirty="0">
                <a:latin typeface="Menlo" panose="020B0609030804020204" pitchFamily="49" charset="0"/>
                <a:ea typeface="Menlo" panose="020B0609030804020204" pitchFamily="49" charset="0"/>
                <a:cs typeface="Menlo" panose="020B0609030804020204" pitchFamily="49" charset="0"/>
              </a:rPr>
              <a:t>\j 0  1  2  3  4  5  6  7  8  9 10 11 12 13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 0  0  1  1  1  1  1  1  0  1  1  0  0  0  0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 1  0  0  1  1  1  1  1  0  1  1  0  0  0  0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 2  0  0  0  1  1  1  1  0  1  1  0  0  0  1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 3  0  0  0  0  1  1  1  0  1  1  0  1  0  1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 4  0  0  0  0  0  1  1  0  1  1  0 </a:t>
            </a:r>
            <a:r>
              <a:rPr lang="en-US" altLang="zh-TW" sz="1200" b="1" dirty="0">
                <a:highlight>
                  <a:srgbClr val="FFFF00"/>
                </a:highlight>
                <a:latin typeface="Menlo" panose="020B0609030804020204" pitchFamily="49" charset="0"/>
                <a:ea typeface="Menlo" panose="020B0609030804020204" pitchFamily="49" charset="0"/>
                <a:cs typeface="Menlo" panose="020B0609030804020204" pitchFamily="49" charset="0"/>
              </a:rPr>
              <a:t> </a:t>
            </a:r>
            <a:r>
              <a:rPr lang="en-US" altLang="zh-TW" sz="1200" b="1" dirty="0">
                <a:solidFill>
                  <a:schemeClr val="accent6"/>
                </a:solidFill>
                <a:highlight>
                  <a:srgbClr val="FFFF00"/>
                </a:highlight>
                <a:latin typeface="Menlo" panose="020B0609030804020204" pitchFamily="49" charset="0"/>
                <a:ea typeface="Menlo" panose="020B0609030804020204" pitchFamily="49" charset="0"/>
                <a:cs typeface="Menlo" panose="020B0609030804020204" pitchFamily="49" charset="0"/>
              </a:rPr>
              <a:t>1</a:t>
            </a:r>
            <a:r>
              <a:rPr lang="en-US" altLang="zh-TW" sz="1200" b="1" dirty="0">
                <a:latin typeface="Menlo" panose="020B0609030804020204" pitchFamily="49" charset="0"/>
                <a:ea typeface="Menlo" panose="020B0609030804020204" pitchFamily="49" charset="0"/>
                <a:cs typeface="Menlo" panose="020B0609030804020204" pitchFamily="49" charset="0"/>
              </a:rPr>
              <a:t>  0  1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 5  0  0  0  0  0  0  1  1  1  1  0  1  0  1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 6  0  0  0  0  0  0  0  1  1  1  0  1  0  1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 7  0  0  0  0  0  0  0  0  1  1  0  1  0  1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 8  0  0  0  0  0  0  0  0  0  1  1  1  0  1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 9  0  0  0  0  0  0  0  0  0  0  1  1  1  1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10  0  0  0  0  0  0  0  0  0  0  0  1  1  1 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11  0  0  0  0  0  0  0  0  0  0  0  0  1  1 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12  0  0  0  0  0  0  0  0  0  0  0  0  0  1 </a:t>
            </a:r>
            <a:endParaRPr lang="en-US" altLang="zh-TW" sz="1200" dirty="0">
              <a:latin typeface="Menlo" panose="020B0609030804020204" pitchFamily="49" charset="0"/>
              <a:ea typeface="Menlo" panose="020B0609030804020204" pitchFamily="49" charset="0"/>
              <a:cs typeface="Menlo" panose="020B0609030804020204" pitchFamily="49" charset="0"/>
            </a:endParaRPr>
          </a:p>
          <a:p>
            <a:r>
              <a:rPr lang="en-US" altLang="zh-TW" sz="1200" b="1" dirty="0">
                <a:latin typeface="Menlo" panose="020B0609030804020204" pitchFamily="49" charset="0"/>
                <a:ea typeface="Menlo" panose="020B0609030804020204" pitchFamily="49" charset="0"/>
                <a:cs typeface="Menlo" panose="020B0609030804020204" pitchFamily="49" charset="0"/>
              </a:rPr>
              <a:t>13  0  0  0  0  0  0  0  0  0  0  0  0  0  0 </a:t>
            </a:r>
            <a:endParaRPr lang="en-US" altLang="zh-TW" sz="1200" dirty="0">
              <a:latin typeface="Menlo" panose="020B0609030804020204" pitchFamily="49" charset="0"/>
              <a:ea typeface="Menlo" panose="020B0609030804020204" pitchFamily="49" charset="0"/>
              <a:cs typeface="Menlo" panose="020B0609030804020204" pitchFamily="49" charset="0"/>
            </a:endParaRPr>
          </a:p>
        </p:txBody>
      </p:sp>
      <p:sp>
        <p:nvSpPr>
          <p:cNvPr id="11" name="矩形 10">
            <a:extLst>
              <a:ext uri="{FF2B5EF4-FFF2-40B4-BE49-F238E27FC236}">
                <a16:creationId xmlns:a16="http://schemas.microsoft.com/office/drawing/2014/main" id="{4732D8A1-E19C-0D07-1A6E-3A006F47E4B0}"/>
              </a:ext>
            </a:extLst>
          </p:cNvPr>
          <p:cNvSpPr/>
          <p:nvPr/>
        </p:nvSpPr>
        <p:spPr>
          <a:xfrm>
            <a:off x="1419448" y="1422665"/>
            <a:ext cx="4205176" cy="338554"/>
          </a:xfrm>
          <a:prstGeom prst="rect">
            <a:avLst/>
          </a:prstGeom>
        </p:spPr>
        <p:txBody>
          <a:bodyPr wrap="square">
            <a:spAutoFit/>
          </a:bodyPr>
          <a:lstStyle/>
          <a:p>
            <a:r>
              <a:rPr lang="en-US" altLang="zh-TW" sz="1600" b="1" dirty="0">
                <a:solidFill>
                  <a:srgbClr val="000000"/>
                </a:solidFill>
                <a:latin typeface="Menlo" panose="020B0609030804020204" pitchFamily="49" charset="0"/>
              </a:rPr>
              <a:t>A : </a:t>
            </a:r>
            <a:r>
              <a:rPr lang="en-US" altLang="zh-TW" sz="1600" b="1" dirty="0" err="1">
                <a:solidFill>
                  <a:srgbClr val="000000"/>
                </a:solidFill>
                <a:latin typeface="Menlo" panose="020B0609030804020204" pitchFamily="49" charset="0"/>
              </a:rPr>
              <a:t>baabcbca</a:t>
            </a:r>
            <a:r>
              <a:rPr lang="en-US" altLang="zh-TW" sz="1600" b="1" dirty="0">
                <a:solidFill>
                  <a:srgbClr val="000000"/>
                </a:solidFill>
                <a:latin typeface="Menlo" panose="020B0609030804020204" pitchFamily="49" charset="0"/>
              </a:rPr>
              <a:t>,</a:t>
            </a:r>
            <a:r>
              <a:rPr lang="en-US" altLang="zh-TW" sz="1600" dirty="0">
                <a:solidFill>
                  <a:srgbClr val="000000"/>
                </a:solidFill>
                <a:latin typeface="Menlo" panose="020B0609030804020204" pitchFamily="49" charset="0"/>
              </a:rPr>
              <a:t> </a:t>
            </a:r>
            <a:r>
              <a:rPr lang="en-US" altLang="zh-TW" sz="1600" b="1" dirty="0">
                <a:solidFill>
                  <a:srgbClr val="000000"/>
                </a:solidFill>
                <a:latin typeface="Menlo" panose="020B0609030804020204" pitchFamily="49" charset="0"/>
              </a:rPr>
              <a:t>B : </a:t>
            </a:r>
            <a:r>
              <a:rPr lang="en-US" altLang="zh-TW" sz="1600" b="1" dirty="0" err="1">
                <a:solidFill>
                  <a:srgbClr val="000000"/>
                </a:solidFill>
                <a:latin typeface="Menlo" panose="020B0609030804020204" pitchFamily="49" charset="0"/>
              </a:rPr>
              <a:t>baabcabcabaca</a:t>
            </a:r>
            <a:endParaRPr lang="en-US" altLang="zh-TW" sz="1600" dirty="0">
              <a:solidFill>
                <a:srgbClr val="000000"/>
              </a:solidFill>
              <a:latin typeface="Menlo" panose="020B0609030804020204" pitchFamily="49" charset="0"/>
            </a:endParaRPr>
          </a:p>
        </p:txBody>
      </p:sp>
      <p:pic>
        <p:nvPicPr>
          <p:cNvPr id="14" name="圖片 13">
            <a:extLst>
              <a:ext uri="{FF2B5EF4-FFF2-40B4-BE49-F238E27FC236}">
                <a16:creationId xmlns:a16="http://schemas.microsoft.com/office/drawing/2014/main" id="{F618C99C-BAA7-575A-48C4-DE51119F6793}"/>
              </a:ext>
            </a:extLst>
          </p:cNvPr>
          <p:cNvPicPr>
            <a:picLocks noChangeAspect="1"/>
          </p:cNvPicPr>
          <p:nvPr/>
        </p:nvPicPr>
        <p:blipFill rotWithShape="1">
          <a:blip r:embed="rId3"/>
          <a:srcRect l="13958" t="49600" r="1494" b="6195"/>
          <a:stretch/>
        </p:blipFill>
        <p:spPr>
          <a:xfrm>
            <a:off x="1234307" y="6402498"/>
            <a:ext cx="3202174" cy="385222"/>
          </a:xfrm>
          <a:prstGeom prst="rect">
            <a:avLst/>
          </a:prstGeom>
        </p:spPr>
      </p:pic>
      <p:sp>
        <p:nvSpPr>
          <p:cNvPr id="15" name="矩形 14">
            <a:extLst>
              <a:ext uri="{FF2B5EF4-FFF2-40B4-BE49-F238E27FC236}">
                <a16:creationId xmlns:a16="http://schemas.microsoft.com/office/drawing/2014/main" id="{D8725556-52C7-D12E-A5DC-EE40372B2589}"/>
              </a:ext>
            </a:extLst>
          </p:cNvPr>
          <p:cNvSpPr/>
          <p:nvPr/>
        </p:nvSpPr>
        <p:spPr>
          <a:xfrm>
            <a:off x="932782" y="1854766"/>
            <a:ext cx="603050" cy="369332"/>
          </a:xfrm>
          <a:prstGeom prst="rect">
            <a:avLst/>
          </a:prstGeom>
        </p:spPr>
        <p:txBody>
          <a:bodyPr wrap="none">
            <a:spAutoFit/>
          </a:bodyPr>
          <a:lstStyle/>
          <a:p>
            <a:r>
              <a:rPr lang="en-US" altLang="zh-TW" b="1" dirty="0">
                <a:solidFill>
                  <a:srgbClr val="000000"/>
                </a:solidFill>
                <a:latin typeface="Menlo" panose="020B0609030804020204" pitchFamily="49" charset="0"/>
              </a:rPr>
              <a:t>A\B</a:t>
            </a:r>
            <a:endParaRPr lang="en-US" altLang="zh-TW" dirty="0">
              <a:solidFill>
                <a:srgbClr val="000000"/>
              </a:solidFill>
              <a:effectLst/>
              <a:latin typeface="Menlo" panose="020B0609030804020204" pitchFamily="49" charset="0"/>
            </a:endParaRPr>
          </a:p>
        </p:txBody>
      </p:sp>
      <p:sp>
        <p:nvSpPr>
          <p:cNvPr id="16" name="矩形 15">
            <a:extLst>
              <a:ext uri="{FF2B5EF4-FFF2-40B4-BE49-F238E27FC236}">
                <a16:creationId xmlns:a16="http://schemas.microsoft.com/office/drawing/2014/main" id="{89624051-7FE6-2A74-34CE-ED11F10D78D7}"/>
              </a:ext>
            </a:extLst>
          </p:cNvPr>
          <p:cNvSpPr/>
          <p:nvPr/>
        </p:nvSpPr>
        <p:spPr>
          <a:xfrm>
            <a:off x="7172880" y="6074012"/>
            <a:ext cx="4180919" cy="646331"/>
          </a:xfrm>
          <a:prstGeom prst="rect">
            <a:avLst/>
          </a:prstGeom>
        </p:spPr>
        <p:txBody>
          <a:bodyPr wrap="square">
            <a:spAutoFit/>
          </a:bodyPr>
          <a:lstStyle/>
          <a:p>
            <a:r>
              <a:rPr lang="en-US" altLang="zh-TW" sz="1200" b="1" dirty="0">
                <a:solidFill>
                  <a:srgbClr val="000000"/>
                </a:solidFill>
                <a:latin typeface="Menlo" panose="020B0609030804020204" pitchFamily="49" charset="0"/>
              </a:rPr>
              <a:t>Linear s-table (implicit representation)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1  2  3  4  5  6  7  8  9 10 11 12 13 </a:t>
            </a:r>
            <a:endParaRPr lang="en-US" altLang="zh-TW" sz="1200" dirty="0">
              <a:solidFill>
                <a:srgbClr val="000000"/>
              </a:solidFill>
              <a:latin typeface="Menlo" panose="020B0609030804020204" pitchFamily="49" charset="0"/>
            </a:endParaRPr>
          </a:p>
          <a:p>
            <a:r>
              <a:rPr lang="en-US" altLang="zh-TW" sz="1200" b="1" dirty="0">
                <a:solidFill>
                  <a:srgbClr val="000000"/>
                </a:solidFill>
                <a:latin typeface="Menlo" panose="020B0609030804020204" pitchFamily="49" charset="0"/>
              </a:rPr>
              <a:t>∞ 13 11  ∞  7  ∞  ∞ 10 12  ∞  ∞  ∞  ∞</a:t>
            </a:r>
            <a:endParaRPr lang="en-US" altLang="zh-TW" sz="1200" dirty="0">
              <a:solidFill>
                <a:srgbClr val="000000"/>
              </a:solidFill>
              <a:effectLst/>
              <a:latin typeface="Menlo" panose="020B0609030804020204" pitchFamily="49" charset="0"/>
            </a:endParaRPr>
          </a:p>
        </p:txBody>
      </p:sp>
      <p:cxnSp>
        <p:nvCxnSpPr>
          <p:cNvPr id="18" name="直線接點 17">
            <a:extLst>
              <a:ext uri="{FF2B5EF4-FFF2-40B4-BE49-F238E27FC236}">
                <a16:creationId xmlns:a16="http://schemas.microsoft.com/office/drawing/2014/main" id="{B14F1525-C730-4463-539E-EA5F0E015727}"/>
              </a:ext>
            </a:extLst>
          </p:cNvPr>
          <p:cNvCxnSpPr/>
          <p:nvPr/>
        </p:nvCxnSpPr>
        <p:spPr>
          <a:xfrm>
            <a:off x="3131820" y="1965960"/>
            <a:ext cx="0" cy="3840480"/>
          </a:xfrm>
          <a:prstGeom prst="line">
            <a:avLst/>
          </a:prstGeom>
          <a:ln w="76200">
            <a:solidFill>
              <a:schemeClr val="accent6"/>
            </a:solidFill>
          </a:ln>
        </p:spPr>
        <p:style>
          <a:lnRef idx="3">
            <a:schemeClr val="accent2"/>
          </a:lnRef>
          <a:fillRef idx="0">
            <a:schemeClr val="accent2"/>
          </a:fillRef>
          <a:effectRef idx="2">
            <a:schemeClr val="accent2"/>
          </a:effectRef>
          <a:fontRef idx="minor">
            <a:schemeClr val="tx1"/>
          </a:fontRef>
        </p:style>
      </p:cxnSp>
      <p:cxnSp>
        <p:nvCxnSpPr>
          <p:cNvPr id="19" name="直線接點 18">
            <a:extLst>
              <a:ext uri="{FF2B5EF4-FFF2-40B4-BE49-F238E27FC236}">
                <a16:creationId xmlns:a16="http://schemas.microsoft.com/office/drawing/2014/main" id="{2B8995E2-DD92-C5E7-33E1-AE17B0C57FB9}"/>
              </a:ext>
            </a:extLst>
          </p:cNvPr>
          <p:cNvCxnSpPr/>
          <p:nvPr/>
        </p:nvCxnSpPr>
        <p:spPr>
          <a:xfrm>
            <a:off x="6096000" y="1965960"/>
            <a:ext cx="0" cy="3840480"/>
          </a:xfrm>
          <a:prstGeom prst="line">
            <a:avLst/>
          </a:prstGeom>
          <a:ln w="76200">
            <a:solidFill>
              <a:schemeClr val="accent6"/>
            </a:solidFill>
          </a:ln>
        </p:spPr>
        <p:style>
          <a:lnRef idx="3">
            <a:schemeClr val="accent2"/>
          </a:lnRef>
          <a:fillRef idx="0">
            <a:schemeClr val="accent2"/>
          </a:fillRef>
          <a:effectRef idx="2">
            <a:schemeClr val="accent2"/>
          </a:effectRef>
          <a:fontRef idx="minor">
            <a:schemeClr val="tx1"/>
          </a:fontRef>
        </p:style>
      </p:cxnSp>
      <p:sp>
        <p:nvSpPr>
          <p:cNvPr id="20" name="文字方塊 19">
            <a:extLst>
              <a:ext uri="{FF2B5EF4-FFF2-40B4-BE49-F238E27FC236}">
                <a16:creationId xmlns:a16="http://schemas.microsoft.com/office/drawing/2014/main" id="{987EB0C1-D3FD-E319-BBF4-F4A42D8DD60D}"/>
              </a:ext>
            </a:extLst>
          </p:cNvPr>
          <p:cNvSpPr txBox="1"/>
          <p:nvPr/>
        </p:nvSpPr>
        <p:spPr>
          <a:xfrm>
            <a:off x="2976970" y="5755900"/>
            <a:ext cx="309700" cy="369332"/>
          </a:xfrm>
          <a:prstGeom prst="rect">
            <a:avLst/>
          </a:prstGeom>
          <a:noFill/>
        </p:spPr>
        <p:txBody>
          <a:bodyPr wrap="none" rtlCol="0">
            <a:spAutoFit/>
          </a:bodyPr>
          <a:lstStyle/>
          <a:p>
            <a:r>
              <a:rPr kumimoji="1" lang="en-US" altLang="zh-TW" b="1" dirty="0">
                <a:solidFill>
                  <a:schemeClr val="accent6"/>
                </a:solidFill>
                <a:latin typeface="Times New Roman" panose="02020603050405020304" pitchFamily="18" charset="0"/>
                <a:cs typeface="Times New Roman" panose="02020603050405020304" pitchFamily="18" charset="0"/>
              </a:rPr>
              <a:t>4</a:t>
            </a:r>
            <a:endParaRPr kumimoji="1" lang="zh-TW" altLang="en-US" b="1" dirty="0">
              <a:solidFill>
                <a:schemeClr val="accent6"/>
              </a:solidFill>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DFCC57DB-A907-FBA3-3DCC-CE292D23EC23}"/>
              </a:ext>
            </a:extLst>
          </p:cNvPr>
          <p:cNvSpPr txBox="1"/>
          <p:nvPr/>
        </p:nvSpPr>
        <p:spPr>
          <a:xfrm>
            <a:off x="5930183" y="5755900"/>
            <a:ext cx="402739" cy="369332"/>
          </a:xfrm>
          <a:prstGeom prst="rect">
            <a:avLst/>
          </a:prstGeom>
          <a:noFill/>
        </p:spPr>
        <p:txBody>
          <a:bodyPr wrap="none" rtlCol="0">
            <a:spAutoFit/>
          </a:bodyPr>
          <a:lstStyle/>
          <a:p>
            <a:r>
              <a:rPr kumimoji="1" lang="en-US" altLang="zh-TW" b="1" dirty="0">
                <a:solidFill>
                  <a:schemeClr val="accent6"/>
                </a:solidFill>
                <a:latin typeface="Times New Roman" panose="02020603050405020304" pitchFamily="18" charset="0"/>
                <a:cs typeface="Times New Roman" panose="02020603050405020304" pitchFamily="18" charset="0"/>
              </a:rPr>
              <a:t>11</a:t>
            </a:r>
            <a:endParaRPr kumimoji="1" lang="zh-TW" altLang="en-US" b="1" dirty="0">
              <a:solidFill>
                <a:schemeClr val="accent6"/>
              </a:solidFill>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14AEF5CB-FC5F-AA27-831A-6439AA09AEF2}"/>
              </a:ext>
            </a:extLst>
          </p:cNvPr>
          <p:cNvSpPr txBox="1"/>
          <p:nvPr/>
        </p:nvSpPr>
        <p:spPr>
          <a:xfrm>
            <a:off x="4331597" y="6376420"/>
            <a:ext cx="2421304" cy="369332"/>
          </a:xfrm>
          <a:prstGeom prst="rect">
            <a:avLst/>
          </a:prstGeom>
          <a:noFill/>
        </p:spPr>
        <p:txBody>
          <a:bodyPr wrap="none" rtlCol="0">
            <a:spAutoFit/>
          </a:bodyPr>
          <a:lstStyle/>
          <a:p>
            <a:r>
              <a:rPr kumimoji="1" lang="en-US" altLang="zh-TW" b="1" dirty="0">
                <a:solidFill>
                  <a:schemeClr val="accent6"/>
                </a:solidFill>
                <a:latin typeface="Times New Roman" panose="02020603050405020304" pitchFamily="18" charset="0"/>
                <a:cs typeface="Times New Roman" panose="02020603050405020304" pitchFamily="18" charset="0"/>
              </a:rPr>
              <a:t>A(4,11) </a:t>
            </a:r>
            <a:r>
              <a:rPr kumimoji="1" lang="en-US" altLang="zh-TW" dirty="0">
                <a:latin typeface="Times New Roman" panose="02020603050405020304" pitchFamily="18" charset="0"/>
                <a:cs typeface="Times New Roman" panose="02020603050405020304" pitchFamily="18" charset="0"/>
              </a:rPr>
              <a:t>= 11 – 4 – 2 = 5</a:t>
            </a:r>
            <a:endParaRPr kumimoji="1" lang="zh-TW" altLang="en-US" dirty="0">
              <a:latin typeface="Times New Roman" panose="02020603050405020304" pitchFamily="18" charset="0"/>
              <a:cs typeface="Times New Roman" panose="02020603050405020304" pitchFamily="18" charset="0"/>
            </a:endParaRPr>
          </a:p>
        </p:txBody>
      </p:sp>
      <p:sp>
        <p:nvSpPr>
          <p:cNvPr id="3" name="文字方塊 2">
            <a:extLst>
              <a:ext uri="{FF2B5EF4-FFF2-40B4-BE49-F238E27FC236}">
                <a16:creationId xmlns:a16="http://schemas.microsoft.com/office/drawing/2014/main" id="{107BE672-263C-7C0B-3EC5-4D6977E22CA5}"/>
              </a:ext>
            </a:extLst>
          </p:cNvPr>
          <p:cNvSpPr txBox="1"/>
          <p:nvPr/>
        </p:nvSpPr>
        <p:spPr>
          <a:xfrm>
            <a:off x="5488879" y="186345"/>
            <a:ext cx="1684004" cy="646331"/>
          </a:xfrm>
          <a:prstGeom prst="rect">
            <a:avLst/>
          </a:prstGeom>
          <a:noFill/>
        </p:spPr>
        <p:txBody>
          <a:bodyPr wrap="square" rtlCol="0">
            <a:spAutoFit/>
          </a:bodyPr>
          <a:lstStyle/>
          <a:p>
            <a:r>
              <a:rPr kumimoji="1" lang="en-US" altLang="zh-TW" dirty="0">
                <a:solidFill>
                  <a:srgbClr val="00B050"/>
                </a:solidFill>
                <a:latin typeface="Times New Roman" panose="02020603050405020304" pitchFamily="18" charset="0"/>
                <a:cs typeface="Times New Roman" panose="02020603050405020304" pitchFamily="18" charset="0"/>
              </a:rPr>
              <a:t>d</a:t>
            </a:r>
            <a:r>
              <a:rPr kumimoji="1" lang="zh-TW" altLang="en-US" dirty="0">
                <a:solidFill>
                  <a:srgbClr val="00B050"/>
                </a:solidFill>
                <a:latin typeface="Times New Roman" panose="02020603050405020304" pitchFamily="18" charset="0"/>
                <a:cs typeface="Times New Roman" panose="02020603050405020304" pitchFamily="18" charset="0"/>
              </a:rPr>
              <a:t>相當於</a:t>
            </a:r>
            <a:r>
              <a:rPr kumimoji="1" lang="en-US" altLang="zh-TW" dirty="0" err="1">
                <a:solidFill>
                  <a:srgbClr val="00B050"/>
                </a:solidFill>
                <a:latin typeface="Times New Roman" panose="02020603050405020304" pitchFamily="18" charset="0"/>
                <a:cs typeface="Times New Roman" panose="02020603050405020304" pitchFamily="18" charset="0"/>
              </a:rPr>
              <a:t>HDiff</a:t>
            </a:r>
            <a:r>
              <a:rPr kumimoji="1" lang="zh-TW" altLang="en-US" dirty="0">
                <a:solidFill>
                  <a:srgbClr val="00B050"/>
                </a:solidFill>
                <a:latin typeface="Times New Roman" panose="02020603050405020304" pitchFamily="18" charset="0"/>
                <a:cs typeface="Times New Roman" panose="02020603050405020304" pitchFamily="18" charset="0"/>
              </a:rPr>
              <a:t>中，左邊</a:t>
            </a:r>
            <a:r>
              <a:rPr kumimoji="1" lang="en-US" altLang="zh-TW" dirty="0">
                <a:solidFill>
                  <a:srgbClr val="00B050"/>
                </a:solidFill>
                <a:latin typeface="Times New Roman" panose="02020603050405020304" pitchFamily="18" charset="0"/>
                <a:cs typeface="Times New Roman" panose="02020603050405020304" pitchFamily="18" charset="0"/>
              </a:rPr>
              <a:t>0</a:t>
            </a:r>
            <a:r>
              <a:rPr kumimoji="1" lang="zh-TW" altLang="en-US" dirty="0">
                <a:solidFill>
                  <a:srgbClr val="00B050"/>
                </a:solidFill>
                <a:latin typeface="Times New Roman" panose="02020603050405020304" pitchFamily="18" charset="0"/>
                <a:cs typeface="Times New Roman" panose="02020603050405020304" pitchFamily="18" charset="0"/>
              </a:rPr>
              <a:t>個數</a:t>
            </a:r>
          </a:p>
        </p:txBody>
      </p:sp>
      <p:sp>
        <p:nvSpPr>
          <p:cNvPr id="4" name="矩形 3">
            <a:extLst>
              <a:ext uri="{FF2B5EF4-FFF2-40B4-BE49-F238E27FC236}">
                <a16:creationId xmlns:a16="http://schemas.microsoft.com/office/drawing/2014/main" id="{D13664BD-4C4C-56E7-9D07-DA4B1F843A34}"/>
              </a:ext>
            </a:extLst>
          </p:cNvPr>
          <p:cNvSpPr/>
          <p:nvPr/>
        </p:nvSpPr>
        <p:spPr>
          <a:xfrm>
            <a:off x="8954263" y="1187669"/>
            <a:ext cx="1850372" cy="203466"/>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662821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Critical Point (2/2)</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8</a:t>
            </a:fld>
            <a:endParaRPr kumimoji="1" lang="zh-TW" altLang="en-US"/>
          </a:p>
        </p:txBody>
      </p:sp>
      <p:pic>
        <p:nvPicPr>
          <p:cNvPr id="7" name="圖片 6">
            <a:extLst>
              <a:ext uri="{FF2B5EF4-FFF2-40B4-BE49-F238E27FC236}">
                <a16:creationId xmlns:a16="http://schemas.microsoft.com/office/drawing/2014/main" id="{AFAC9DB6-4580-85FE-D901-EEDAAF7D26F7}"/>
              </a:ext>
            </a:extLst>
          </p:cNvPr>
          <p:cNvPicPr>
            <a:picLocks noChangeAspect="1"/>
          </p:cNvPicPr>
          <p:nvPr/>
        </p:nvPicPr>
        <p:blipFill>
          <a:blip r:embed="rId2"/>
          <a:stretch>
            <a:fillRect/>
          </a:stretch>
        </p:blipFill>
        <p:spPr>
          <a:xfrm>
            <a:off x="455426" y="1555769"/>
            <a:ext cx="7675432" cy="888205"/>
          </a:xfrm>
          <a:prstGeom prst="rect">
            <a:avLst/>
          </a:prstGeom>
        </p:spPr>
      </p:pic>
      <p:pic>
        <p:nvPicPr>
          <p:cNvPr id="8" name="圖片 7">
            <a:extLst>
              <a:ext uri="{FF2B5EF4-FFF2-40B4-BE49-F238E27FC236}">
                <a16:creationId xmlns:a16="http://schemas.microsoft.com/office/drawing/2014/main" id="{048B74F7-254B-C55D-B0BF-33E0DF8DB895}"/>
              </a:ext>
            </a:extLst>
          </p:cNvPr>
          <p:cNvPicPr>
            <a:picLocks noChangeAspect="1"/>
          </p:cNvPicPr>
          <p:nvPr/>
        </p:nvPicPr>
        <p:blipFill>
          <a:blip r:embed="rId3"/>
          <a:stretch>
            <a:fillRect/>
          </a:stretch>
        </p:blipFill>
        <p:spPr>
          <a:xfrm>
            <a:off x="455426" y="2394525"/>
            <a:ext cx="11630460" cy="569792"/>
          </a:xfrm>
          <a:prstGeom prst="rect">
            <a:avLst/>
          </a:prstGeom>
        </p:spPr>
      </p:pic>
      <p:pic>
        <p:nvPicPr>
          <p:cNvPr id="9" name="圖片 8">
            <a:extLst>
              <a:ext uri="{FF2B5EF4-FFF2-40B4-BE49-F238E27FC236}">
                <a16:creationId xmlns:a16="http://schemas.microsoft.com/office/drawing/2014/main" id="{5B9CA581-31EA-F404-D2F0-A15692F01007}"/>
              </a:ext>
            </a:extLst>
          </p:cNvPr>
          <p:cNvPicPr>
            <a:picLocks noChangeAspect="1"/>
          </p:cNvPicPr>
          <p:nvPr/>
        </p:nvPicPr>
        <p:blipFill>
          <a:blip r:embed="rId4"/>
          <a:stretch>
            <a:fillRect/>
          </a:stretch>
        </p:blipFill>
        <p:spPr>
          <a:xfrm>
            <a:off x="455426" y="2991979"/>
            <a:ext cx="6736952" cy="485999"/>
          </a:xfrm>
          <a:prstGeom prst="rect">
            <a:avLst/>
          </a:prstGeom>
        </p:spPr>
      </p:pic>
      <p:pic>
        <p:nvPicPr>
          <p:cNvPr id="10" name="圖片 9">
            <a:extLst>
              <a:ext uri="{FF2B5EF4-FFF2-40B4-BE49-F238E27FC236}">
                <a16:creationId xmlns:a16="http://schemas.microsoft.com/office/drawing/2014/main" id="{C3A5E79C-9E44-28DF-2CDB-9D7F5E85252A}"/>
              </a:ext>
            </a:extLst>
          </p:cNvPr>
          <p:cNvPicPr>
            <a:picLocks noChangeAspect="1"/>
          </p:cNvPicPr>
          <p:nvPr/>
        </p:nvPicPr>
        <p:blipFill>
          <a:blip r:embed="rId5"/>
          <a:stretch>
            <a:fillRect/>
          </a:stretch>
        </p:blipFill>
        <p:spPr>
          <a:xfrm>
            <a:off x="455426" y="3525935"/>
            <a:ext cx="3787438" cy="871446"/>
          </a:xfrm>
          <a:prstGeom prst="rect">
            <a:avLst/>
          </a:prstGeom>
        </p:spPr>
      </p:pic>
      <p:pic>
        <p:nvPicPr>
          <p:cNvPr id="11" name="圖片 10">
            <a:extLst>
              <a:ext uri="{FF2B5EF4-FFF2-40B4-BE49-F238E27FC236}">
                <a16:creationId xmlns:a16="http://schemas.microsoft.com/office/drawing/2014/main" id="{FA7DDDAA-56D1-66A4-5C49-30FBF6A272F7}"/>
              </a:ext>
            </a:extLst>
          </p:cNvPr>
          <p:cNvPicPr>
            <a:picLocks noChangeAspect="1"/>
          </p:cNvPicPr>
          <p:nvPr/>
        </p:nvPicPr>
        <p:blipFill>
          <a:blip r:embed="rId6"/>
          <a:stretch>
            <a:fillRect/>
          </a:stretch>
        </p:blipFill>
        <p:spPr>
          <a:xfrm>
            <a:off x="455425" y="4351989"/>
            <a:ext cx="9435079" cy="435723"/>
          </a:xfrm>
          <a:prstGeom prst="rect">
            <a:avLst/>
          </a:prstGeom>
        </p:spPr>
      </p:pic>
      <p:pic>
        <p:nvPicPr>
          <p:cNvPr id="12" name="圖片 11">
            <a:extLst>
              <a:ext uri="{FF2B5EF4-FFF2-40B4-BE49-F238E27FC236}">
                <a16:creationId xmlns:a16="http://schemas.microsoft.com/office/drawing/2014/main" id="{7B747CC3-257C-E75B-C26B-7F530F59B110}"/>
              </a:ext>
            </a:extLst>
          </p:cNvPr>
          <p:cNvPicPr>
            <a:picLocks noChangeAspect="1"/>
          </p:cNvPicPr>
          <p:nvPr/>
        </p:nvPicPr>
        <p:blipFill>
          <a:blip r:embed="rId7"/>
          <a:stretch>
            <a:fillRect/>
          </a:stretch>
        </p:blipFill>
        <p:spPr>
          <a:xfrm>
            <a:off x="455426" y="4847845"/>
            <a:ext cx="7809504" cy="452482"/>
          </a:xfrm>
          <a:prstGeom prst="rect">
            <a:avLst/>
          </a:prstGeom>
        </p:spPr>
      </p:pic>
      <p:pic>
        <p:nvPicPr>
          <p:cNvPr id="13" name="圖片 12">
            <a:extLst>
              <a:ext uri="{FF2B5EF4-FFF2-40B4-BE49-F238E27FC236}">
                <a16:creationId xmlns:a16="http://schemas.microsoft.com/office/drawing/2014/main" id="{BAFC723D-EFA0-677D-B479-4B2DCE801318}"/>
              </a:ext>
            </a:extLst>
          </p:cNvPr>
          <p:cNvPicPr>
            <a:picLocks noChangeAspect="1"/>
          </p:cNvPicPr>
          <p:nvPr/>
        </p:nvPicPr>
        <p:blipFill>
          <a:blip r:embed="rId8"/>
          <a:stretch>
            <a:fillRect/>
          </a:stretch>
        </p:blipFill>
        <p:spPr>
          <a:xfrm>
            <a:off x="455426" y="5356400"/>
            <a:ext cx="6083366" cy="402206"/>
          </a:xfrm>
          <a:prstGeom prst="rect">
            <a:avLst/>
          </a:prstGeom>
        </p:spPr>
      </p:pic>
      <p:pic>
        <p:nvPicPr>
          <p:cNvPr id="14" name="圖片 13">
            <a:extLst>
              <a:ext uri="{FF2B5EF4-FFF2-40B4-BE49-F238E27FC236}">
                <a16:creationId xmlns:a16="http://schemas.microsoft.com/office/drawing/2014/main" id="{BEA994BC-303F-31FB-E54A-19E1D0577E53}"/>
              </a:ext>
            </a:extLst>
          </p:cNvPr>
          <p:cNvPicPr>
            <a:picLocks noChangeAspect="1"/>
          </p:cNvPicPr>
          <p:nvPr/>
        </p:nvPicPr>
        <p:blipFill>
          <a:blip r:embed="rId9"/>
          <a:stretch>
            <a:fillRect/>
          </a:stretch>
        </p:blipFill>
        <p:spPr>
          <a:xfrm>
            <a:off x="410976" y="5826854"/>
            <a:ext cx="6854258" cy="435723"/>
          </a:xfrm>
          <a:prstGeom prst="rect">
            <a:avLst/>
          </a:prstGeom>
        </p:spPr>
      </p:pic>
      <p:sp>
        <p:nvSpPr>
          <p:cNvPr id="16" name="文字方塊 15">
            <a:extLst>
              <a:ext uri="{FF2B5EF4-FFF2-40B4-BE49-F238E27FC236}">
                <a16:creationId xmlns:a16="http://schemas.microsoft.com/office/drawing/2014/main" id="{8AA6209F-8B02-8296-4860-A22DB1237666}"/>
              </a:ext>
            </a:extLst>
          </p:cNvPr>
          <p:cNvSpPr txBox="1"/>
          <p:nvPr/>
        </p:nvSpPr>
        <p:spPr>
          <a:xfrm>
            <a:off x="7551979" y="2015192"/>
            <a:ext cx="4358886" cy="369332"/>
          </a:xfrm>
          <a:prstGeom prst="rect">
            <a:avLst/>
          </a:prstGeom>
          <a:noFill/>
        </p:spPr>
        <p:txBody>
          <a:bodyPr wrap="none" rtlCol="0">
            <a:spAutoFit/>
          </a:bodyPr>
          <a:lstStyle/>
          <a:p>
            <a:r>
              <a:rPr kumimoji="1" lang="en-US" altLang="zh-TW" dirty="0">
                <a:solidFill>
                  <a:srgbClr val="FF0000"/>
                </a:solidFill>
                <a:latin typeface="Times New Roman" panose="02020603050405020304" pitchFamily="18" charset="0"/>
                <a:cs typeface="Times New Roman" panose="02020603050405020304" pitchFamily="18" charset="0"/>
              </a:rPr>
              <a:t>Critical point </a:t>
            </a:r>
            <a:r>
              <a:rPr kumimoji="1" lang="zh-TW" altLang="en-US" dirty="0">
                <a:solidFill>
                  <a:srgbClr val="FF0000"/>
                </a:solidFill>
                <a:latin typeface="Times New Roman" panose="02020603050405020304" pitchFamily="18" charset="0"/>
                <a:cs typeface="Times New Roman" panose="02020603050405020304" pitchFamily="18" charset="0"/>
              </a:rPr>
              <a:t>即為</a:t>
            </a:r>
            <a:r>
              <a:rPr kumimoji="1" lang="en-US" altLang="zh-TW" dirty="0">
                <a:solidFill>
                  <a:srgbClr val="FF0000"/>
                </a:solidFill>
                <a:latin typeface="Times New Roman" panose="02020603050405020304" pitchFamily="18" charset="0"/>
                <a:cs typeface="Times New Roman" panose="02020603050405020304" pitchFamily="18" charset="0"/>
              </a:rPr>
              <a:t>Density</a:t>
            </a:r>
            <a:r>
              <a:rPr kumimoji="1" lang="zh-TW" altLang="en-US" dirty="0">
                <a:solidFill>
                  <a:srgbClr val="FF0000"/>
                </a:solidFill>
                <a:latin typeface="Times New Roman" panose="02020603050405020304" pitchFamily="18" charset="0"/>
                <a:cs typeface="Times New Roman" panose="02020603050405020304" pitchFamily="18" charset="0"/>
              </a:rPr>
              <a:t> </a:t>
            </a:r>
            <a:r>
              <a:rPr kumimoji="1" lang="en-US" altLang="zh-TW" dirty="0">
                <a:solidFill>
                  <a:srgbClr val="FF0000"/>
                </a:solidFill>
                <a:latin typeface="Times New Roman" panose="02020603050405020304" pitchFamily="18" charset="0"/>
                <a:cs typeface="Times New Roman" panose="02020603050405020304" pitchFamily="18" charset="0"/>
              </a:rPr>
              <a:t>matrix</a:t>
            </a:r>
            <a:r>
              <a:rPr kumimoji="1" lang="zh-TW" altLang="en-US" dirty="0">
                <a:solidFill>
                  <a:srgbClr val="FF0000"/>
                </a:solidFill>
                <a:latin typeface="Times New Roman" panose="02020603050405020304" pitchFamily="18" charset="0"/>
                <a:cs typeface="Times New Roman" panose="02020603050405020304" pitchFamily="18" charset="0"/>
              </a:rPr>
              <a:t>為</a:t>
            </a:r>
            <a:r>
              <a:rPr kumimoji="1" lang="en-US" altLang="zh-TW" dirty="0">
                <a:solidFill>
                  <a:srgbClr val="FF0000"/>
                </a:solidFill>
                <a:latin typeface="Times New Roman" panose="02020603050405020304" pitchFamily="18" charset="0"/>
                <a:cs typeface="Times New Roman" panose="02020603050405020304" pitchFamily="18" charset="0"/>
              </a:rPr>
              <a:t>1</a:t>
            </a:r>
            <a:r>
              <a:rPr kumimoji="1" lang="zh-TW" altLang="en-US" dirty="0">
                <a:solidFill>
                  <a:srgbClr val="FF0000"/>
                </a:solidFill>
                <a:latin typeface="Times New Roman" panose="02020603050405020304" pitchFamily="18" charset="0"/>
                <a:cs typeface="Times New Roman" panose="02020603050405020304" pitchFamily="18" charset="0"/>
              </a:rPr>
              <a:t>的位置</a:t>
            </a:r>
          </a:p>
        </p:txBody>
      </p:sp>
      <p:graphicFrame>
        <p:nvGraphicFramePr>
          <p:cNvPr id="17" name="表格 17">
            <a:extLst>
              <a:ext uri="{FF2B5EF4-FFF2-40B4-BE49-F238E27FC236}">
                <a16:creationId xmlns:a16="http://schemas.microsoft.com/office/drawing/2014/main" id="{463DEA98-4C6D-2680-9D81-FC3FCC66650B}"/>
              </a:ext>
            </a:extLst>
          </p:cNvPr>
          <p:cNvGraphicFramePr>
            <a:graphicFrameLocks noGrp="1"/>
          </p:cNvGraphicFramePr>
          <p:nvPr>
            <p:extLst>
              <p:ext uri="{D42A27DB-BD31-4B8C-83A1-F6EECF244321}">
                <p14:modId xmlns:p14="http://schemas.microsoft.com/office/powerpoint/2010/main" val="3095018642"/>
              </p:ext>
            </p:extLst>
          </p:nvPr>
        </p:nvGraphicFramePr>
        <p:xfrm>
          <a:off x="8130858" y="697424"/>
          <a:ext cx="2117652" cy="1112520"/>
        </p:xfrm>
        <a:graphic>
          <a:graphicData uri="http://schemas.openxmlformats.org/drawingml/2006/table">
            <a:tbl>
              <a:tblPr firstRow="1" bandRow="1">
                <a:tableStyleId>{5940675A-B579-460E-94D1-54222C63F5DA}</a:tableStyleId>
              </a:tblPr>
              <a:tblGrid>
                <a:gridCol w="705884">
                  <a:extLst>
                    <a:ext uri="{9D8B030D-6E8A-4147-A177-3AD203B41FA5}">
                      <a16:colId xmlns:a16="http://schemas.microsoft.com/office/drawing/2014/main" val="132495782"/>
                    </a:ext>
                  </a:extLst>
                </a:gridCol>
                <a:gridCol w="705884">
                  <a:extLst>
                    <a:ext uri="{9D8B030D-6E8A-4147-A177-3AD203B41FA5}">
                      <a16:colId xmlns:a16="http://schemas.microsoft.com/office/drawing/2014/main" val="1362840722"/>
                    </a:ext>
                  </a:extLst>
                </a:gridCol>
                <a:gridCol w="705884">
                  <a:extLst>
                    <a:ext uri="{9D8B030D-6E8A-4147-A177-3AD203B41FA5}">
                      <a16:colId xmlns:a16="http://schemas.microsoft.com/office/drawing/2014/main" val="3049373327"/>
                    </a:ext>
                  </a:extLst>
                </a:gridCol>
              </a:tblGrid>
              <a:tr h="370840">
                <a:tc>
                  <a:txBody>
                    <a:bodyPr/>
                    <a:lstStyle/>
                    <a:p>
                      <a:pPr algn="ct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\j</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j-1/2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40000"/>
                        <a:lumOff val="6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j+1/2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40000"/>
                        <a:lumOff val="60000"/>
                      </a:schemeClr>
                    </a:solidFill>
                  </a:tcPr>
                </a:tc>
                <a:extLst>
                  <a:ext uri="{0D108BD9-81ED-4DB2-BD59-A6C34878D82A}">
                    <a16:rowId xmlns:a16="http://schemas.microsoft.com/office/drawing/2014/main" val="2072468198"/>
                  </a:ext>
                </a:extLst>
              </a:tr>
              <a:tr h="370840">
                <a:tc>
                  <a:txBody>
                    <a:bodyPr/>
                    <a:lstStyle/>
                    <a:p>
                      <a:pPr algn="ctr"/>
                      <a:r>
                        <a:rPr lang="en-US" altLang="zh-TW" dirty="0">
                          <a:latin typeface="Times New Roman" panose="02020603050405020304" pitchFamily="18" charset="0"/>
                          <a:cs typeface="Times New Roman" panose="02020603050405020304" pitchFamily="18" charset="0"/>
                        </a:rPr>
                        <a:t>i-1/2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40000"/>
                        <a:lumOff val="6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x</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x</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04879804"/>
                  </a:ext>
                </a:extLst>
              </a:tr>
              <a:tr h="370840">
                <a:tc>
                  <a:txBody>
                    <a:bodyPr/>
                    <a:lstStyle/>
                    <a:p>
                      <a:pPr algn="ctr"/>
                      <a:r>
                        <a:rPr lang="en-US" altLang="zh-TW" dirty="0">
                          <a:latin typeface="Times New Roman" panose="02020603050405020304" pitchFamily="18" charset="0"/>
                          <a:cs typeface="Times New Roman" panose="02020603050405020304" pitchFamily="18" charset="0"/>
                        </a:rPr>
                        <a:t>i+1/2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40000"/>
                        <a:lumOff val="6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x-1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x</a:t>
                      </a:r>
                      <a:endParaRPr lang="zh-TW" altLang="en-US" dirty="0">
                        <a:solidFill>
                          <a:srgbClr val="FF0000"/>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34103376"/>
                  </a:ext>
                </a:extLst>
              </a:tr>
            </a:tbl>
          </a:graphicData>
        </a:graphic>
      </p:graphicFrame>
      <p:sp>
        <p:nvSpPr>
          <p:cNvPr id="18" name="文字方塊 17">
            <a:extLst>
              <a:ext uri="{FF2B5EF4-FFF2-40B4-BE49-F238E27FC236}">
                <a16:creationId xmlns:a16="http://schemas.microsoft.com/office/drawing/2014/main" id="{E0A56736-A4D1-6033-3378-B6CA487618BF}"/>
              </a:ext>
            </a:extLst>
          </p:cNvPr>
          <p:cNvSpPr txBox="1"/>
          <p:nvPr/>
        </p:nvSpPr>
        <p:spPr>
          <a:xfrm>
            <a:off x="10248510" y="1466088"/>
            <a:ext cx="1728358"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a:t>
            </a:r>
            <a:r>
              <a:rPr kumimoji="1" lang="en-US" altLang="zh-TW" dirty="0" err="1">
                <a:latin typeface="Times New Roman" panose="02020603050405020304" pitchFamily="18" charset="0"/>
                <a:cs typeface="Times New Roman" panose="02020603050405020304" pitchFamily="18" charset="0"/>
              </a:rPr>
              <a:t>x+x</a:t>
            </a:r>
            <a:r>
              <a:rPr kumimoji="1" lang="en-US" altLang="zh-TW" dirty="0">
                <a:latin typeface="Times New Roman" panose="02020603050405020304" pitchFamily="18" charset="0"/>
                <a:cs typeface="Times New Roman" panose="02020603050405020304" pitchFamily="18" charset="0"/>
              </a:rPr>
              <a:t>)-(x+x-1)=1</a:t>
            </a:r>
            <a:endParaRPr kumimoji="1" lang="zh-TW" altLang="en-US" dirty="0">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3C81F93A-2D65-683F-9356-4674D188A5B4}"/>
              </a:ext>
            </a:extLst>
          </p:cNvPr>
          <p:cNvSpPr txBox="1"/>
          <p:nvPr/>
        </p:nvSpPr>
        <p:spPr>
          <a:xfrm>
            <a:off x="1552336" y="2663233"/>
            <a:ext cx="3499676" cy="369332"/>
          </a:xfrm>
          <a:prstGeom prst="rect">
            <a:avLst/>
          </a:prstGeom>
          <a:noFill/>
        </p:spPr>
        <p:txBody>
          <a:bodyPr wrap="none" rtlCol="0">
            <a:spAutoFit/>
          </a:bodyPr>
          <a:lstStyle/>
          <a:p>
            <a:r>
              <a:rPr kumimoji="1" lang="zh-TW" altLang="en-US" dirty="0">
                <a:solidFill>
                  <a:srgbClr val="FF0000"/>
                </a:solidFill>
                <a:latin typeface="Times New Roman" panose="02020603050405020304" pitchFamily="18" charset="0"/>
                <a:cs typeface="Times New Roman" panose="02020603050405020304" pitchFamily="18" charset="0"/>
              </a:rPr>
              <a:t>每列</a:t>
            </a:r>
            <a:r>
              <a:rPr kumimoji="1" lang="en-US" altLang="zh-TW" dirty="0">
                <a:solidFill>
                  <a:srgbClr val="FF0000"/>
                </a:solidFill>
                <a:latin typeface="Times New Roman" panose="02020603050405020304" pitchFamily="18" charset="0"/>
                <a:cs typeface="Times New Roman" panose="02020603050405020304" pitchFamily="18" charset="0"/>
              </a:rPr>
              <a:t>/</a:t>
            </a:r>
            <a:r>
              <a:rPr kumimoji="1" lang="zh-TW" altLang="en-US" dirty="0">
                <a:solidFill>
                  <a:srgbClr val="FF0000"/>
                </a:solidFill>
                <a:latin typeface="Times New Roman" panose="02020603050405020304" pitchFamily="18" charset="0"/>
                <a:cs typeface="Times New Roman" panose="02020603050405020304" pitchFamily="18" charset="0"/>
              </a:rPr>
              <a:t>行只會存在一個</a:t>
            </a:r>
            <a:r>
              <a:rPr kumimoji="1" lang="en-US" altLang="zh-TW" dirty="0">
                <a:solidFill>
                  <a:srgbClr val="FF0000"/>
                </a:solidFill>
                <a:latin typeface="Times New Roman" panose="02020603050405020304" pitchFamily="18" charset="0"/>
                <a:cs typeface="Times New Roman" panose="02020603050405020304" pitchFamily="18" charset="0"/>
              </a:rPr>
              <a:t>critical point</a:t>
            </a:r>
            <a:endParaRPr kumimoji="1" lang="zh-TW" altLang="en-US" dirty="0">
              <a:solidFill>
                <a:srgbClr val="FF0000"/>
              </a:solidFill>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B98ED4C9-C92D-77DE-D9C1-7E4FE0EC205D}"/>
              </a:ext>
            </a:extLst>
          </p:cNvPr>
          <p:cNvSpPr txBox="1"/>
          <p:nvPr/>
        </p:nvSpPr>
        <p:spPr>
          <a:xfrm>
            <a:off x="7192378" y="3017909"/>
            <a:ext cx="2262158" cy="369332"/>
          </a:xfrm>
          <a:prstGeom prst="rect">
            <a:avLst/>
          </a:prstGeom>
          <a:noFill/>
        </p:spPr>
        <p:txBody>
          <a:bodyPr wrap="none" rtlCol="0">
            <a:spAutoFit/>
          </a:bodyPr>
          <a:lstStyle/>
          <a:p>
            <a:r>
              <a:rPr kumimoji="1" lang="zh-TW" altLang="en-US" dirty="0">
                <a:solidFill>
                  <a:srgbClr val="FF0000"/>
                </a:solidFill>
                <a:latin typeface="Times New Roman" panose="02020603050405020304" pitchFamily="18" charset="0"/>
                <a:cs typeface="Times New Roman" panose="02020603050405020304" pitchFamily="18" charset="0"/>
              </a:rPr>
              <a:t>點會支配左下方的點</a:t>
            </a:r>
          </a:p>
        </p:txBody>
      </p:sp>
      <p:pic>
        <p:nvPicPr>
          <p:cNvPr id="22" name="圖片 21">
            <a:extLst>
              <a:ext uri="{FF2B5EF4-FFF2-40B4-BE49-F238E27FC236}">
                <a16:creationId xmlns:a16="http://schemas.microsoft.com/office/drawing/2014/main" id="{3457BF2F-3B14-FC92-2144-99EE8250C61F}"/>
              </a:ext>
            </a:extLst>
          </p:cNvPr>
          <p:cNvPicPr>
            <a:picLocks noChangeAspect="1"/>
          </p:cNvPicPr>
          <p:nvPr/>
        </p:nvPicPr>
        <p:blipFill>
          <a:blip r:embed="rId10"/>
          <a:stretch>
            <a:fillRect/>
          </a:stretch>
        </p:blipFill>
        <p:spPr>
          <a:xfrm>
            <a:off x="2701956" y="3565963"/>
            <a:ext cx="3568700" cy="342900"/>
          </a:xfrm>
          <a:prstGeom prst="rect">
            <a:avLst/>
          </a:prstGeom>
        </p:spPr>
      </p:pic>
      <p:sp>
        <p:nvSpPr>
          <p:cNvPr id="23" name="文字方塊 22">
            <a:extLst>
              <a:ext uri="{FF2B5EF4-FFF2-40B4-BE49-F238E27FC236}">
                <a16:creationId xmlns:a16="http://schemas.microsoft.com/office/drawing/2014/main" id="{1F155394-3CFA-E264-581D-4B4E183DA8E2}"/>
              </a:ext>
            </a:extLst>
          </p:cNvPr>
          <p:cNvSpPr txBox="1"/>
          <p:nvPr/>
        </p:nvSpPr>
        <p:spPr>
          <a:xfrm>
            <a:off x="6348442" y="3520278"/>
            <a:ext cx="3629520" cy="369332"/>
          </a:xfrm>
          <a:prstGeom prst="rect">
            <a:avLst/>
          </a:prstGeom>
          <a:noFill/>
        </p:spPr>
        <p:txBody>
          <a:bodyPr wrap="none" rtlCol="0">
            <a:spAutoFit/>
          </a:bodyPr>
          <a:lstStyle/>
          <a:p>
            <a:r>
              <a:rPr kumimoji="1" lang="en-US" altLang="zh-TW" dirty="0" err="1">
                <a:solidFill>
                  <a:srgbClr val="FF0000"/>
                </a:solidFill>
                <a:latin typeface="Times New Roman" panose="02020603050405020304" pitchFamily="18" charset="0"/>
                <a:cs typeface="Times New Roman" panose="02020603050405020304" pitchFamily="18" charset="0"/>
              </a:rPr>
              <a:t>d</a:t>
            </a:r>
            <a:r>
              <a:rPr kumimoji="1" lang="en-US" altLang="zh-TW" baseline="-25000" dirty="0" err="1">
                <a:solidFill>
                  <a:srgbClr val="FF0000"/>
                </a:solidFill>
                <a:latin typeface="Times New Roman" panose="02020603050405020304" pitchFamily="18" charset="0"/>
                <a:cs typeface="Times New Roman" panose="02020603050405020304" pitchFamily="18" charset="0"/>
              </a:rPr>
              <a:t>A</a:t>
            </a:r>
            <a:r>
              <a:rPr kumimoji="1" lang="en-US" altLang="zh-TW" dirty="0">
                <a:solidFill>
                  <a:srgbClr val="FF0000"/>
                </a:solidFill>
                <a:latin typeface="Times New Roman" panose="02020603050405020304" pitchFamily="18" charset="0"/>
                <a:cs typeface="Times New Roman" panose="02020603050405020304" pitchFamily="18" charset="0"/>
              </a:rPr>
              <a:t>(i</a:t>
            </a:r>
            <a:r>
              <a:rPr kumimoji="1" lang="en-US" altLang="zh-TW" baseline="-25000" dirty="0">
                <a:solidFill>
                  <a:srgbClr val="FF0000"/>
                </a:solidFill>
                <a:latin typeface="Times New Roman" panose="02020603050405020304" pitchFamily="18" charset="0"/>
                <a:cs typeface="Times New Roman" panose="02020603050405020304" pitchFamily="18" charset="0"/>
              </a:rPr>
              <a:t>0</a:t>
            </a:r>
            <a:r>
              <a:rPr kumimoji="1" lang="en-US" altLang="zh-TW" dirty="0">
                <a:solidFill>
                  <a:srgbClr val="FF0000"/>
                </a:solidFill>
                <a:latin typeface="Times New Roman" panose="02020603050405020304" pitchFamily="18" charset="0"/>
                <a:cs typeface="Times New Roman" panose="02020603050405020304" pitchFamily="18" charset="0"/>
              </a:rPr>
              <a:t>, j</a:t>
            </a:r>
            <a:r>
              <a:rPr kumimoji="1" lang="en-US" altLang="zh-TW" baseline="-25000" dirty="0">
                <a:solidFill>
                  <a:srgbClr val="FF0000"/>
                </a:solidFill>
                <a:latin typeface="Times New Roman" panose="02020603050405020304" pitchFamily="18" charset="0"/>
                <a:cs typeface="Times New Roman" panose="02020603050405020304" pitchFamily="18" charset="0"/>
              </a:rPr>
              <a:t>0</a:t>
            </a:r>
            <a:r>
              <a:rPr kumimoji="1" lang="en-US" altLang="zh-TW" dirty="0">
                <a:solidFill>
                  <a:srgbClr val="FF0000"/>
                </a:solidFill>
                <a:latin typeface="Times New Roman" panose="02020603050405020304" pitchFamily="18" charset="0"/>
                <a:cs typeface="Times New Roman" panose="02020603050405020304" pitchFamily="18" charset="0"/>
              </a:rPr>
              <a:t>)</a:t>
            </a:r>
            <a:r>
              <a:rPr kumimoji="1" lang="zh-TW" altLang="en-US" dirty="0">
                <a:solidFill>
                  <a:srgbClr val="FF0000"/>
                </a:solidFill>
                <a:latin typeface="Times New Roman" panose="02020603050405020304" pitchFamily="18" charset="0"/>
                <a:cs typeface="Times New Roman" panose="02020603050405020304" pitchFamily="18" charset="0"/>
              </a:rPr>
              <a:t>為</a:t>
            </a:r>
            <a:r>
              <a:rPr kumimoji="1" lang="en-US" altLang="zh-TW" dirty="0">
                <a:solidFill>
                  <a:srgbClr val="FF0000"/>
                </a:solidFill>
                <a:latin typeface="Times New Roman" panose="02020603050405020304" pitchFamily="18" charset="0"/>
                <a:cs typeface="Times New Roman" panose="02020603050405020304" pitchFamily="18" charset="0"/>
              </a:rPr>
              <a:t>(i</a:t>
            </a:r>
            <a:r>
              <a:rPr kumimoji="1" lang="en-US" altLang="zh-TW" baseline="-25000" dirty="0">
                <a:solidFill>
                  <a:srgbClr val="FF0000"/>
                </a:solidFill>
                <a:latin typeface="Times New Roman" panose="02020603050405020304" pitchFamily="18" charset="0"/>
                <a:cs typeface="Times New Roman" panose="02020603050405020304" pitchFamily="18" charset="0"/>
              </a:rPr>
              <a:t>0</a:t>
            </a:r>
            <a:r>
              <a:rPr kumimoji="1" lang="en-US" altLang="zh-TW" dirty="0">
                <a:solidFill>
                  <a:srgbClr val="FF0000"/>
                </a:solidFill>
                <a:latin typeface="Times New Roman" panose="02020603050405020304" pitchFamily="18" charset="0"/>
                <a:cs typeface="Times New Roman" panose="02020603050405020304" pitchFamily="18" charset="0"/>
              </a:rPr>
              <a:t>. j</a:t>
            </a:r>
            <a:r>
              <a:rPr kumimoji="1" lang="en-US" altLang="zh-TW" baseline="-25000" dirty="0">
                <a:solidFill>
                  <a:srgbClr val="FF0000"/>
                </a:solidFill>
                <a:latin typeface="Times New Roman" panose="02020603050405020304" pitchFamily="18" charset="0"/>
                <a:cs typeface="Times New Roman" panose="02020603050405020304" pitchFamily="18" charset="0"/>
              </a:rPr>
              <a:t>0</a:t>
            </a:r>
            <a:r>
              <a:rPr kumimoji="1" lang="en-US" altLang="zh-TW" dirty="0">
                <a:solidFill>
                  <a:srgbClr val="FF0000"/>
                </a:solidFill>
                <a:latin typeface="Times New Roman" panose="02020603050405020304" pitchFamily="18" charset="0"/>
                <a:cs typeface="Times New Roman" panose="02020603050405020304" pitchFamily="18" charset="0"/>
              </a:rPr>
              <a:t>)</a:t>
            </a:r>
            <a:r>
              <a:rPr kumimoji="1" lang="zh-TW" altLang="en-US" dirty="0">
                <a:solidFill>
                  <a:srgbClr val="FF0000"/>
                </a:solidFill>
                <a:latin typeface="Times New Roman" panose="02020603050405020304" pitchFamily="18" charset="0"/>
                <a:cs typeface="Times New Roman" panose="02020603050405020304" pitchFamily="18" charset="0"/>
              </a:rPr>
              <a:t>所支配的所有點數</a:t>
            </a:r>
          </a:p>
        </p:txBody>
      </p:sp>
      <p:sp>
        <p:nvSpPr>
          <p:cNvPr id="25" name="文字方塊 24">
            <a:extLst>
              <a:ext uri="{FF2B5EF4-FFF2-40B4-BE49-F238E27FC236}">
                <a16:creationId xmlns:a16="http://schemas.microsoft.com/office/drawing/2014/main" id="{39517E6C-81B2-E677-A2D4-819138002CFB}"/>
              </a:ext>
            </a:extLst>
          </p:cNvPr>
          <p:cNvSpPr txBox="1"/>
          <p:nvPr/>
        </p:nvSpPr>
        <p:spPr>
          <a:xfrm>
            <a:off x="3986502" y="3896117"/>
            <a:ext cx="4278428" cy="369332"/>
          </a:xfrm>
          <a:prstGeom prst="rect">
            <a:avLst/>
          </a:prstGeom>
          <a:noFill/>
        </p:spPr>
        <p:txBody>
          <a:bodyPr wrap="square" rtlCol="0">
            <a:spAutoFit/>
          </a:bodyPr>
          <a:lstStyle/>
          <a:p>
            <a:r>
              <a:rPr kumimoji="1" lang="en-US" altLang="zh-TW" dirty="0" err="1">
                <a:solidFill>
                  <a:srgbClr val="FF0000"/>
                </a:solidFill>
                <a:latin typeface="Times New Roman" panose="02020603050405020304" pitchFamily="18" charset="0"/>
                <a:cs typeface="Times New Roman" panose="02020603050405020304" pitchFamily="18" charset="0"/>
              </a:rPr>
              <a:t>d</a:t>
            </a:r>
            <a:r>
              <a:rPr kumimoji="1" lang="en-US" altLang="zh-TW" baseline="-25000" dirty="0" err="1">
                <a:solidFill>
                  <a:srgbClr val="FF0000"/>
                </a:solidFill>
                <a:latin typeface="Times New Roman" panose="02020603050405020304" pitchFamily="18" charset="0"/>
                <a:cs typeface="Times New Roman" panose="02020603050405020304" pitchFamily="18" charset="0"/>
              </a:rPr>
              <a:t>A</a:t>
            </a:r>
            <a:r>
              <a:rPr kumimoji="1" lang="en-US" altLang="zh-TW" dirty="0">
                <a:solidFill>
                  <a:srgbClr val="FF0000"/>
                </a:solidFill>
                <a:latin typeface="Times New Roman" panose="02020603050405020304" pitchFamily="18" charset="0"/>
                <a:cs typeface="Times New Roman" panose="02020603050405020304" pitchFamily="18" charset="0"/>
              </a:rPr>
              <a:t> -&gt; A</a:t>
            </a:r>
            <a:r>
              <a:rPr kumimoji="1" lang="zh-TW" altLang="en-US" dirty="0">
                <a:solidFill>
                  <a:srgbClr val="FF0000"/>
                </a:solidFill>
                <a:latin typeface="Times New Roman" panose="02020603050405020304" pitchFamily="18" charset="0"/>
                <a:cs typeface="Times New Roman" panose="02020603050405020304" pitchFamily="18" charset="0"/>
              </a:rPr>
              <a:t>，有</a:t>
            </a:r>
            <a:r>
              <a:rPr kumimoji="1" lang="en-US" altLang="zh-TW" dirty="0">
                <a:solidFill>
                  <a:srgbClr val="FF0000"/>
                </a:solidFill>
                <a:latin typeface="Times New Roman" panose="02020603050405020304" pitchFamily="18" charset="0"/>
                <a:cs typeface="Times New Roman" panose="02020603050405020304" pitchFamily="18" charset="0"/>
              </a:rPr>
              <a:t>critical point</a:t>
            </a:r>
            <a:r>
              <a:rPr kumimoji="1" lang="zh-TW" altLang="en-US" dirty="0">
                <a:solidFill>
                  <a:srgbClr val="FF0000"/>
                </a:solidFill>
                <a:latin typeface="Times New Roman" panose="02020603050405020304" pitchFamily="18" charset="0"/>
                <a:cs typeface="Times New Roman" panose="02020603050405020304" pitchFamily="18" charset="0"/>
              </a:rPr>
              <a:t>的地方就無法</a:t>
            </a:r>
            <a:r>
              <a:rPr kumimoji="1" lang="en-US" altLang="zh-TW" dirty="0">
                <a:solidFill>
                  <a:srgbClr val="FF0000"/>
                </a:solidFill>
                <a:latin typeface="Times New Roman" panose="02020603050405020304" pitchFamily="18" charset="0"/>
                <a:cs typeface="Times New Roman" panose="02020603050405020304" pitchFamily="18" charset="0"/>
              </a:rPr>
              <a:t>+1</a:t>
            </a:r>
            <a:endParaRPr kumimoji="1" lang="zh-TW" altLang="en-US" dirty="0">
              <a:solidFill>
                <a:srgbClr val="FF0000"/>
              </a:solidFill>
              <a:latin typeface="Times New Roman" panose="02020603050405020304" pitchFamily="18" charset="0"/>
              <a:cs typeface="Times New Roman" panose="02020603050405020304" pitchFamily="18" charset="0"/>
            </a:endParaRPr>
          </a:p>
        </p:txBody>
      </p:sp>
      <p:sp>
        <p:nvSpPr>
          <p:cNvPr id="26" name="文字方塊 25">
            <a:extLst>
              <a:ext uri="{FF2B5EF4-FFF2-40B4-BE49-F238E27FC236}">
                <a16:creationId xmlns:a16="http://schemas.microsoft.com/office/drawing/2014/main" id="{52CBA4FB-C43F-9D76-39F4-1FBA42CFDB6A}"/>
              </a:ext>
            </a:extLst>
          </p:cNvPr>
          <p:cNvSpPr txBox="1"/>
          <p:nvPr/>
        </p:nvSpPr>
        <p:spPr>
          <a:xfrm>
            <a:off x="9874858" y="4379158"/>
            <a:ext cx="2262158" cy="369332"/>
          </a:xfrm>
          <a:prstGeom prst="rect">
            <a:avLst/>
          </a:prstGeom>
          <a:noFill/>
        </p:spPr>
        <p:txBody>
          <a:bodyPr wrap="none" rtlCol="0">
            <a:spAutoFit/>
          </a:bodyPr>
          <a:lstStyle/>
          <a:p>
            <a:r>
              <a:rPr kumimoji="1" lang="zh-TW" altLang="en-US" dirty="0">
                <a:solidFill>
                  <a:srgbClr val="FF0000"/>
                </a:solidFill>
                <a:latin typeface="Times New Roman" panose="02020603050405020304" pitchFamily="18" charset="0"/>
                <a:cs typeface="Times New Roman" panose="02020603050405020304" pitchFamily="18" charset="0"/>
              </a:rPr>
              <a:t>超界的點是不重要的</a:t>
            </a:r>
          </a:p>
        </p:txBody>
      </p:sp>
      <p:sp>
        <p:nvSpPr>
          <p:cNvPr id="27" name="文字方塊 26">
            <a:extLst>
              <a:ext uri="{FF2B5EF4-FFF2-40B4-BE49-F238E27FC236}">
                <a16:creationId xmlns:a16="http://schemas.microsoft.com/office/drawing/2014/main" id="{85A0E6BA-5900-21DB-3456-98664881C659}"/>
              </a:ext>
            </a:extLst>
          </p:cNvPr>
          <p:cNvSpPr txBox="1"/>
          <p:nvPr/>
        </p:nvSpPr>
        <p:spPr>
          <a:xfrm>
            <a:off x="8264930" y="4889420"/>
            <a:ext cx="3217547" cy="369332"/>
          </a:xfrm>
          <a:prstGeom prst="rect">
            <a:avLst/>
          </a:prstGeom>
          <a:noFill/>
        </p:spPr>
        <p:txBody>
          <a:bodyPr wrap="none" rtlCol="0">
            <a:spAutoFit/>
          </a:bodyPr>
          <a:lstStyle/>
          <a:p>
            <a:r>
              <a:rPr kumimoji="1" lang="zh-TW" altLang="en-US" dirty="0">
                <a:solidFill>
                  <a:srgbClr val="FF0000"/>
                </a:solidFill>
                <a:latin typeface="Times New Roman" panose="02020603050405020304" pitchFamily="18" charset="0"/>
                <a:cs typeface="Times New Roman" panose="02020603050405020304" pitchFamily="18" charset="0"/>
              </a:rPr>
              <a:t>界內的點是重要的 </a:t>
            </a:r>
            <a:r>
              <a:rPr kumimoji="1" lang="en-US" altLang="zh-TW" dirty="0">
                <a:solidFill>
                  <a:srgbClr val="FF0000"/>
                </a:solidFill>
                <a:latin typeface="Times New Roman" panose="02020603050405020304" pitchFamily="18" charset="0"/>
                <a:cs typeface="Times New Roman" panose="02020603050405020304" pitchFamily="18" charset="0"/>
              </a:rPr>
              <a:t>(non-trivial)</a:t>
            </a:r>
            <a:endParaRPr kumimoji="1" lang="zh-TW" altLang="en-US" dirty="0">
              <a:solidFill>
                <a:srgbClr val="FF0000"/>
              </a:solidFill>
              <a:latin typeface="Times New Roman" panose="02020603050405020304" pitchFamily="18" charset="0"/>
              <a:cs typeface="Times New Roman" panose="02020603050405020304" pitchFamily="18" charset="0"/>
            </a:endParaRPr>
          </a:p>
        </p:txBody>
      </p:sp>
      <p:sp>
        <p:nvSpPr>
          <p:cNvPr id="28" name="文字方塊 27">
            <a:extLst>
              <a:ext uri="{FF2B5EF4-FFF2-40B4-BE49-F238E27FC236}">
                <a16:creationId xmlns:a16="http://schemas.microsoft.com/office/drawing/2014/main" id="{F07FEB09-5633-8CCC-3D79-E38FF1753403}"/>
              </a:ext>
            </a:extLst>
          </p:cNvPr>
          <p:cNvSpPr txBox="1"/>
          <p:nvPr/>
        </p:nvSpPr>
        <p:spPr>
          <a:xfrm>
            <a:off x="6454137" y="5321689"/>
            <a:ext cx="2610010" cy="369332"/>
          </a:xfrm>
          <a:prstGeom prst="rect">
            <a:avLst/>
          </a:prstGeom>
          <a:noFill/>
        </p:spPr>
        <p:txBody>
          <a:bodyPr wrap="none" rtlCol="0">
            <a:spAutoFit/>
          </a:bodyPr>
          <a:lstStyle/>
          <a:p>
            <a:r>
              <a:rPr kumimoji="1" lang="zh-TW" altLang="en-US" dirty="0">
                <a:solidFill>
                  <a:srgbClr val="FF0000"/>
                </a:solidFill>
                <a:latin typeface="Times New Roman" panose="02020603050405020304" pitchFamily="18" charset="0"/>
                <a:cs typeface="Times New Roman" panose="02020603050405020304" pitchFamily="18" charset="0"/>
              </a:rPr>
              <a:t>重要的點只會有</a:t>
            </a:r>
            <a:r>
              <a:rPr kumimoji="1" lang="en-US" altLang="zh-TW" dirty="0">
                <a:solidFill>
                  <a:srgbClr val="FF0000"/>
                </a:solidFill>
                <a:latin typeface="Times New Roman" panose="02020603050405020304" pitchFamily="18" charset="0"/>
                <a:cs typeface="Times New Roman" panose="02020603050405020304" pitchFamily="18" charset="0"/>
              </a:rPr>
              <a:t>(</a:t>
            </a:r>
            <a:r>
              <a:rPr kumimoji="1" lang="en-US" altLang="zh-TW" dirty="0" err="1">
                <a:solidFill>
                  <a:srgbClr val="FF0000"/>
                </a:solidFill>
                <a:latin typeface="Times New Roman" panose="02020603050405020304" pitchFamily="18" charset="0"/>
                <a:cs typeface="Times New Roman" panose="02020603050405020304" pitchFamily="18" charset="0"/>
              </a:rPr>
              <a:t>m+n</a:t>
            </a:r>
            <a:r>
              <a:rPr kumimoji="1" lang="en-US" altLang="zh-TW" dirty="0">
                <a:solidFill>
                  <a:srgbClr val="FF0000"/>
                </a:solidFill>
                <a:latin typeface="Times New Roman" panose="02020603050405020304" pitchFamily="18" charset="0"/>
                <a:cs typeface="Times New Roman" panose="02020603050405020304" pitchFamily="18" charset="0"/>
              </a:rPr>
              <a:t>)</a:t>
            </a:r>
            <a:r>
              <a:rPr kumimoji="1" lang="zh-TW" altLang="en-US" dirty="0">
                <a:solidFill>
                  <a:srgbClr val="FF0000"/>
                </a:solidFill>
                <a:latin typeface="Times New Roman" panose="02020603050405020304" pitchFamily="18" charset="0"/>
                <a:cs typeface="Times New Roman" panose="02020603050405020304" pitchFamily="18" charset="0"/>
              </a:rPr>
              <a:t>個</a:t>
            </a:r>
          </a:p>
        </p:txBody>
      </p:sp>
      <p:sp>
        <p:nvSpPr>
          <p:cNvPr id="29" name="文字方塊 28">
            <a:extLst>
              <a:ext uri="{FF2B5EF4-FFF2-40B4-BE49-F238E27FC236}">
                <a16:creationId xmlns:a16="http://schemas.microsoft.com/office/drawing/2014/main" id="{C8A16D7A-669F-56F5-34F3-2E6149273450}"/>
              </a:ext>
            </a:extLst>
          </p:cNvPr>
          <p:cNvSpPr txBox="1"/>
          <p:nvPr/>
        </p:nvSpPr>
        <p:spPr>
          <a:xfrm>
            <a:off x="7192378" y="5826854"/>
            <a:ext cx="2698126" cy="369332"/>
          </a:xfrm>
          <a:prstGeom prst="rect">
            <a:avLst/>
          </a:prstGeom>
          <a:noFill/>
        </p:spPr>
        <p:txBody>
          <a:bodyPr wrap="square" rtlCol="0">
            <a:spAutoFit/>
          </a:bodyPr>
          <a:lstStyle/>
          <a:p>
            <a:r>
              <a:rPr kumimoji="1" lang="en-US" altLang="zh-TW" dirty="0">
                <a:solidFill>
                  <a:srgbClr val="FF0000"/>
                </a:solidFill>
                <a:latin typeface="Times New Roman" panose="02020603050405020304" pitchFamily="18" charset="0"/>
                <a:cs typeface="Times New Roman" panose="02020603050405020304" pitchFamily="18" charset="0"/>
              </a:rPr>
              <a:t>Critical point</a:t>
            </a:r>
            <a:r>
              <a:rPr kumimoji="1" lang="zh-TW" altLang="en-US" dirty="0">
                <a:solidFill>
                  <a:srgbClr val="FF0000"/>
                </a:solidFill>
                <a:latin typeface="Times New Roman" panose="02020603050405020304" pitchFamily="18" charset="0"/>
                <a:cs typeface="Times New Roman" panose="02020603050405020304" pitchFamily="18" charset="0"/>
              </a:rPr>
              <a:t>的對稱轉換</a:t>
            </a:r>
          </a:p>
        </p:txBody>
      </p:sp>
    </p:spTree>
    <p:extLst>
      <p:ext uri="{BB962C8B-B14F-4D97-AF65-F5344CB8AC3E}">
        <p14:creationId xmlns:p14="http://schemas.microsoft.com/office/powerpoint/2010/main" val="2097813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Concatenation of </a:t>
            </a:r>
            <a:r>
              <a:rPr kumimoji="1" lang="en-US" altLang="zh-TW" i="1" dirty="0"/>
              <a:t>A</a:t>
            </a:r>
            <a:r>
              <a:rPr kumimoji="1" lang="en-US" altLang="zh-TW" dirty="0"/>
              <a:t> And </a:t>
            </a:r>
            <a:r>
              <a:rPr kumimoji="1" lang="en-US" altLang="zh-TW" i="1" dirty="0"/>
              <a:t>B</a:t>
            </a:r>
            <a:endParaRPr kumimoji="1" lang="zh-TW" altLang="en-US" i="1"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9</a:t>
            </a:fld>
            <a:endParaRPr kumimoji="1" lang="zh-TW" altLang="en-US"/>
          </a:p>
        </p:txBody>
      </p:sp>
      <p:pic>
        <p:nvPicPr>
          <p:cNvPr id="7" name="圖片 6">
            <a:extLst>
              <a:ext uri="{FF2B5EF4-FFF2-40B4-BE49-F238E27FC236}">
                <a16:creationId xmlns:a16="http://schemas.microsoft.com/office/drawing/2014/main" id="{B4098F10-E6CB-447B-FB06-B9D96F3220E8}"/>
              </a:ext>
            </a:extLst>
          </p:cNvPr>
          <p:cNvPicPr>
            <a:picLocks noChangeAspect="1"/>
          </p:cNvPicPr>
          <p:nvPr/>
        </p:nvPicPr>
        <p:blipFill>
          <a:blip r:embed="rId2"/>
          <a:stretch>
            <a:fillRect/>
          </a:stretch>
        </p:blipFill>
        <p:spPr>
          <a:xfrm>
            <a:off x="782970" y="1371600"/>
            <a:ext cx="10540781" cy="826128"/>
          </a:xfrm>
          <a:prstGeom prst="rect">
            <a:avLst/>
          </a:prstGeom>
        </p:spPr>
      </p:pic>
      <p:pic>
        <p:nvPicPr>
          <p:cNvPr id="8" name="圖片 7">
            <a:extLst>
              <a:ext uri="{FF2B5EF4-FFF2-40B4-BE49-F238E27FC236}">
                <a16:creationId xmlns:a16="http://schemas.microsoft.com/office/drawing/2014/main" id="{F8F2DEED-B2CA-632D-DBCA-690883F6E3B9}"/>
              </a:ext>
            </a:extLst>
          </p:cNvPr>
          <p:cNvPicPr>
            <a:picLocks noChangeAspect="1"/>
          </p:cNvPicPr>
          <p:nvPr/>
        </p:nvPicPr>
        <p:blipFill>
          <a:blip r:embed="rId3"/>
          <a:stretch>
            <a:fillRect/>
          </a:stretch>
        </p:blipFill>
        <p:spPr>
          <a:xfrm>
            <a:off x="782970" y="2645933"/>
            <a:ext cx="10494882" cy="1040309"/>
          </a:xfrm>
          <a:prstGeom prst="rect">
            <a:avLst/>
          </a:prstGeom>
        </p:spPr>
      </p:pic>
      <p:sp>
        <p:nvSpPr>
          <p:cNvPr id="13" name="文字方塊 12">
            <a:extLst>
              <a:ext uri="{FF2B5EF4-FFF2-40B4-BE49-F238E27FC236}">
                <a16:creationId xmlns:a16="http://schemas.microsoft.com/office/drawing/2014/main" id="{7F327B36-5637-57A0-4FFA-2513904D3414}"/>
              </a:ext>
            </a:extLst>
          </p:cNvPr>
          <p:cNvSpPr txBox="1"/>
          <p:nvPr/>
        </p:nvSpPr>
        <p:spPr>
          <a:xfrm>
            <a:off x="838200" y="2129167"/>
            <a:ext cx="8111516" cy="369332"/>
          </a:xfrm>
          <a:prstGeom prst="rect">
            <a:avLst/>
          </a:prstGeom>
          <a:noFill/>
        </p:spPr>
        <p:txBody>
          <a:bodyPr wrap="none" rtlCol="0">
            <a:spAutoFit/>
          </a:bodyPr>
          <a:lstStyle/>
          <a:p>
            <a:r>
              <a:rPr kumimoji="1" lang="zh-TW" altLang="en-US" dirty="0">
                <a:solidFill>
                  <a:srgbClr val="FF0000"/>
                </a:solidFill>
                <a:latin typeface="Times New Roman" panose="02020603050405020304" pitchFamily="18" charset="0"/>
                <a:cs typeface="Times New Roman" panose="02020603050405020304" pitchFamily="18" charset="0"/>
              </a:rPr>
              <a:t>使用</a:t>
            </a:r>
            <a:r>
              <a:rPr lang="en-US" altLang="zh-TW" dirty="0">
                <a:solidFill>
                  <a:srgbClr val="FF0000"/>
                </a:solidFill>
                <a:latin typeface="Times New Roman" panose="02020603050405020304" pitchFamily="18" charset="0"/>
                <a:cs typeface="Times New Roman" panose="02020603050405020304" pitchFamily="18" charset="0"/>
              </a:rPr>
              <a:t>Alves</a:t>
            </a:r>
            <a:r>
              <a:rPr kumimoji="1" lang="zh-TW" altLang="en-US" dirty="0">
                <a:solidFill>
                  <a:srgbClr val="FF0000"/>
                </a:solidFill>
                <a:latin typeface="Times New Roman" panose="02020603050405020304" pitchFamily="18" charset="0"/>
                <a:cs typeface="Times New Roman" panose="02020603050405020304" pitchFamily="18" charset="0"/>
              </a:rPr>
              <a:t> </a:t>
            </a:r>
            <a:r>
              <a:rPr kumimoji="1" lang="en-US" altLang="zh-TW" i="1" dirty="0">
                <a:solidFill>
                  <a:srgbClr val="FF0000"/>
                </a:solidFill>
                <a:latin typeface="Times New Roman" panose="02020603050405020304" pitchFamily="18" charset="0"/>
                <a:cs typeface="Times New Roman" panose="02020603050405020304" pitchFamily="18" charset="0"/>
              </a:rPr>
              <a:t>et. al </a:t>
            </a:r>
            <a:r>
              <a:rPr kumimoji="1" lang="en-US" altLang="zh-TW" dirty="0">
                <a:solidFill>
                  <a:srgbClr val="FF0000"/>
                </a:solidFill>
                <a:latin typeface="Times New Roman" panose="02020603050405020304" pitchFamily="18" charset="0"/>
                <a:cs typeface="Times New Roman" panose="02020603050405020304" pitchFamily="18" charset="0"/>
              </a:rPr>
              <a:t>(2008)</a:t>
            </a:r>
            <a:r>
              <a:rPr kumimoji="1" lang="zh-TW" altLang="en-US" dirty="0">
                <a:solidFill>
                  <a:srgbClr val="FF0000"/>
                </a:solidFill>
                <a:latin typeface="Times New Roman" panose="02020603050405020304" pitchFamily="18" charset="0"/>
                <a:cs typeface="Times New Roman" panose="02020603050405020304" pitchFamily="18" charset="0"/>
              </a:rPr>
              <a:t>的方法（</a:t>
            </a:r>
            <a:r>
              <a:rPr kumimoji="1" lang="en-US" altLang="zh-TW" dirty="0">
                <a:solidFill>
                  <a:srgbClr val="FF0000"/>
                </a:solidFill>
                <a:latin typeface="Times New Roman" panose="02020603050405020304" pitchFamily="18" charset="0"/>
                <a:cs typeface="Times New Roman" panose="02020603050405020304" pitchFamily="18" charset="0"/>
              </a:rPr>
              <a:t>s-table</a:t>
            </a:r>
            <a:r>
              <a:rPr kumimoji="1" lang="zh-TW" altLang="en-US" dirty="0">
                <a:solidFill>
                  <a:srgbClr val="FF0000"/>
                </a:solidFill>
                <a:latin typeface="Times New Roman" panose="02020603050405020304" pitchFamily="18" charset="0"/>
                <a:cs typeface="Times New Roman" panose="02020603050405020304" pitchFamily="18" charset="0"/>
              </a:rPr>
              <a:t>的作者）將</a:t>
            </a:r>
            <a:r>
              <a:rPr kumimoji="1" lang="en-US" altLang="zh-TW" dirty="0">
                <a:solidFill>
                  <a:srgbClr val="FF0000"/>
                </a:solidFill>
                <a:latin typeface="Times New Roman" panose="02020603050405020304" pitchFamily="18" charset="0"/>
                <a:cs typeface="Times New Roman" panose="02020603050405020304" pitchFamily="18" charset="0"/>
              </a:rPr>
              <a:t>A</a:t>
            </a:r>
            <a:r>
              <a:rPr kumimoji="1" lang="zh-TW" altLang="en-US" dirty="0">
                <a:solidFill>
                  <a:srgbClr val="FF0000"/>
                </a:solidFill>
                <a:latin typeface="Times New Roman" panose="02020603050405020304" pitchFamily="18" charset="0"/>
                <a:cs typeface="Times New Roman" panose="02020603050405020304" pitchFamily="18" charset="0"/>
              </a:rPr>
              <a:t>和</a:t>
            </a:r>
            <a:r>
              <a:rPr kumimoji="1" lang="en-US" altLang="zh-TW" dirty="0">
                <a:solidFill>
                  <a:srgbClr val="FF0000"/>
                </a:solidFill>
                <a:latin typeface="Times New Roman" panose="02020603050405020304" pitchFamily="18" charset="0"/>
                <a:cs typeface="Times New Roman" panose="02020603050405020304" pitchFamily="18" charset="0"/>
              </a:rPr>
              <a:t>B</a:t>
            </a:r>
            <a:r>
              <a:rPr kumimoji="1" lang="zh-TW" altLang="en-US" dirty="0">
                <a:solidFill>
                  <a:srgbClr val="FF0000"/>
                </a:solidFill>
                <a:latin typeface="Times New Roman" panose="02020603050405020304" pitchFamily="18" charset="0"/>
                <a:cs typeface="Times New Roman" panose="02020603050405020304" pitchFamily="18" charset="0"/>
              </a:rPr>
              <a:t>串接成</a:t>
            </a:r>
            <a:r>
              <a:rPr kumimoji="1" lang="en-US" altLang="zh-TW" dirty="0">
                <a:solidFill>
                  <a:srgbClr val="FF0000"/>
                </a:solidFill>
                <a:latin typeface="Times New Roman" panose="02020603050405020304" pitchFamily="18" charset="0"/>
                <a:cs typeface="Times New Roman" panose="02020603050405020304" pitchFamily="18" charset="0"/>
              </a:rPr>
              <a:t>C</a:t>
            </a:r>
            <a:r>
              <a:rPr kumimoji="1" lang="zh-TW" altLang="en-US" dirty="0">
                <a:solidFill>
                  <a:srgbClr val="FF0000"/>
                </a:solidFill>
                <a:latin typeface="Times New Roman" panose="02020603050405020304" pitchFamily="18" charset="0"/>
                <a:cs typeface="Times New Roman" panose="02020603050405020304" pitchFamily="18" charset="0"/>
              </a:rPr>
              <a:t>，需花</a:t>
            </a:r>
            <a:r>
              <a:rPr kumimoji="1" lang="en-US" altLang="zh-TW" dirty="0">
                <a:solidFill>
                  <a:srgbClr val="FF0000"/>
                </a:solidFill>
                <a:latin typeface="Times New Roman" panose="02020603050405020304" pitchFamily="18" charset="0"/>
                <a:cs typeface="Times New Roman" panose="02020603050405020304" pitchFamily="18" charset="0"/>
              </a:rPr>
              <a:t>O(</a:t>
            </a:r>
            <a:r>
              <a:rPr kumimoji="1" lang="en-US" altLang="zh-TW" dirty="0" err="1">
                <a:solidFill>
                  <a:srgbClr val="FF0000"/>
                </a:solidFill>
                <a:latin typeface="Times New Roman" panose="02020603050405020304" pitchFamily="18" charset="0"/>
                <a:cs typeface="Times New Roman" panose="02020603050405020304" pitchFamily="18" charset="0"/>
              </a:rPr>
              <a:t>M+mn</a:t>
            </a:r>
            <a:r>
              <a:rPr kumimoji="1" lang="en-US" altLang="zh-TW" dirty="0">
                <a:solidFill>
                  <a:srgbClr val="FF0000"/>
                </a:solidFill>
                <a:latin typeface="Times New Roman" panose="02020603050405020304" pitchFamily="18" charset="0"/>
                <a:cs typeface="Times New Roman" panose="02020603050405020304" pitchFamily="18" charset="0"/>
              </a:rPr>
              <a:t>)</a:t>
            </a:r>
            <a:endParaRPr lang="en-US" altLang="zh-TW" dirty="0">
              <a:solidFill>
                <a:srgbClr val="FF0000"/>
              </a:solidFill>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291390E3-F235-0C67-F9B1-E4B5FB92C0B2}"/>
              </a:ext>
            </a:extLst>
          </p:cNvPr>
          <p:cNvSpPr txBox="1"/>
          <p:nvPr/>
        </p:nvSpPr>
        <p:spPr>
          <a:xfrm>
            <a:off x="7289260" y="2959335"/>
            <a:ext cx="3988592" cy="369332"/>
          </a:xfrm>
          <a:prstGeom prst="rect">
            <a:avLst/>
          </a:prstGeom>
          <a:noFill/>
        </p:spPr>
        <p:txBody>
          <a:bodyPr wrap="none" rtlCol="0">
            <a:spAutoFit/>
          </a:bodyPr>
          <a:lstStyle/>
          <a:p>
            <a:r>
              <a:rPr lang="zh-TW" altLang="en-US" dirty="0">
                <a:solidFill>
                  <a:srgbClr val="FF0000"/>
                </a:solidFill>
                <a:latin typeface="Times New Roman" panose="02020603050405020304" pitchFamily="18" charset="0"/>
                <a:cs typeface="Times New Roman" panose="02020603050405020304" pitchFamily="18" charset="0"/>
              </a:rPr>
              <a:t>利用</a:t>
            </a:r>
            <a:r>
              <a:rPr lang="en-US" altLang="zh-TW" dirty="0">
                <a:solidFill>
                  <a:srgbClr val="FF0000"/>
                </a:solidFill>
                <a:latin typeface="Times New Roman" panose="02020603050405020304" pitchFamily="18" charset="0"/>
                <a:cs typeface="Times New Roman" panose="02020603050405020304" pitchFamily="18" charset="0"/>
              </a:rPr>
              <a:t>(min,+)-product</a:t>
            </a:r>
            <a:r>
              <a:rPr lang="zh-TW" altLang="en-US" dirty="0">
                <a:solidFill>
                  <a:srgbClr val="FF0000"/>
                </a:solidFill>
                <a:latin typeface="Times New Roman" panose="02020603050405020304" pitchFamily="18" charset="0"/>
                <a:cs typeface="Times New Roman" panose="02020603050405020304" pitchFamily="18" charset="0"/>
              </a:rPr>
              <a:t>，將</a:t>
            </a:r>
            <a:r>
              <a:rPr kumimoji="1" lang="en-US" altLang="zh-TW" dirty="0">
                <a:solidFill>
                  <a:srgbClr val="FF0000"/>
                </a:solidFill>
                <a:latin typeface="Times New Roman" panose="02020603050405020304" pitchFamily="18" charset="0"/>
                <a:cs typeface="Times New Roman" panose="02020603050405020304" pitchFamily="18" charset="0"/>
              </a:rPr>
              <a:t>A</a:t>
            </a:r>
            <a:r>
              <a:rPr kumimoji="1" lang="zh-TW" altLang="en-US" dirty="0">
                <a:solidFill>
                  <a:srgbClr val="FF0000"/>
                </a:solidFill>
                <a:latin typeface="Times New Roman" panose="02020603050405020304" pitchFamily="18" charset="0"/>
                <a:cs typeface="Times New Roman" panose="02020603050405020304" pitchFamily="18" charset="0"/>
              </a:rPr>
              <a:t>和</a:t>
            </a:r>
            <a:r>
              <a:rPr kumimoji="1" lang="en-US" altLang="zh-TW" dirty="0">
                <a:solidFill>
                  <a:srgbClr val="FF0000"/>
                </a:solidFill>
                <a:latin typeface="Times New Roman" panose="02020603050405020304" pitchFamily="18" charset="0"/>
                <a:cs typeface="Times New Roman" panose="02020603050405020304" pitchFamily="18" charset="0"/>
              </a:rPr>
              <a:t>B</a:t>
            </a:r>
            <a:r>
              <a:rPr kumimoji="1" lang="zh-TW" altLang="en-US" dirty="0">
                <a:solidFill>
                  <a:srgbClr val="FF0000"/>
                </a:solidFill>
                <a:latin typeface="Times New Roman" panose="02020603050405020304" pitchFamily="18" charset="0"/>
                <a:cs typeface="Times New Roman" panose="02020603050405020304" pitchFamily="18" charset="0"/>
              </a:rPr>
              <a:t>串接成</a:t>
            </a:r>
            <a:r>
              <a:rPr kumimoji="1" lang="en-US" altLang="zh-TW" dirty="0">
                <a:solidFill>
                  <a:srgbClr val="FF0000"/>
                </a:solidFill>
                <a:latin typeface="Times New Roman" panose="02020603050405020304" pitchFamily="18" charset="0"/>
                <a:cs typeface="Times New Roman" panose="02020603050405020304" pitchFamily="18" charset="0"/>
              </a:rPr>
              <a:t>C</a:t>
            </a:r>
            <a:endParaRPr lang="en-US" altLang="zh-TW" dirty="0">
              <a:solidFill>
                <a:srgbClr val="FF0000"/>
              </a:solidFill>
              <a:latin typeface="Times New Roman" panose="02020603050405020304" pitchFamily="18" charset="0"/>
              <a:cs typeface="Times New Roman" panose="02020603050405020304" pitchFamily="18" charset="0"/>
            </a:endParaRPr>
          </a:p>
        </p:txBody>
      </p:sp>
      <p:pic>
        <p:nvPicPr>
          <p:cNvPr id="16" name="圖片 15">
            <a:extLst>
              <a:ext uri="{FF2B5EF4-FFF2-40B4-BE49-F238E27FC236}">
                <a16:creationId xmlns:a16="http://schemas.microsoft.com/office/drawing/2014/main" id="{29F01FF7-2248-D3CD-AA03-07E3DA25663C}"/>
              </a:ext>
            </a:extLst>
          </p:cNvPr>
          <p:cNvPicPr>
            <a:picLocks noChangeAspect="1"/>
          </p:cNvPicPr>
          <p:nvPr/>
        </p:nvPicPr>
        <p:blipFill>
          <a:blip r:embed="rId4"/>
          <a:stretch>
            <a:fillRect/>
          </a:stretch>
        </p:blipFill>
        <p:spPr>
          <a:xfrm>
            <a:off x="6743347" y="3686242"/>
            <a:ext cx="5295900" cy="2781300"/>
          </a:xfrm>
          <a:prstGeom prst="rect">
            <a:avLst/>
          </a:prstGeom>
        </p:spPr>
      </p:pic>
      <p:sp>
        <p:nvSpPr>
          <p:cNvPr id="17" name="矩形 16">
            <a:extLst>
              <a:ext uri="{FF2B5EF4-FFF2-40B4-BE49-F238E27FC236}">
                <a16:creationId xmlns:a16="http://schemas.microsoft.com/office/drawing/2014/main" id="{A6BE413A-9905-37EC-C602-947AAF05C6A7}"/>
              </a:ext>
            </a:extLst>
          </p:cNvPr>
          <p:cNvSpPr/>
          <p:nvPr/>
        </p:nvSpPr>
        <p:spPr>
          <a:xfrm>
            <a:off x="5488055" y="3244334"/>
            <a:ext cx="1254061" cy="369332"/>
          </a:xfrm>
          <a:prstGeom prst="rect">
            <a:avLst/>
          </a:prstGeom>
        </p:spPr>
        <p:txBody>
          <a:bodyPr wrap="none">
            <a:spAutoFit/>
          </a:bodyPr>
          <a:lstStyle/>
          <a:p>
            <a:r>
              <a:rPr lang="en-US" altLang="zh-TW" dirty="0">
                <a:solidFill>
                  <a:srgbClr val="FF0000"/>
                </a:solidFill>
                <a:latin typeface="Times" pitchFamily="2" charset="0"/>
              </a:rPr>
              <a:t>A </a:t>
            </a:r>
            <a:r>
              <a:rPr lang="en-US" altLang="zh-TW" dirty="0">
                <a:solidFill>
                  <a:srgbClr val="FF0000"/>
                </a:solidFill>
                <a:latin typeface="Helvetica" pitchFamily="2" charset="0"/>
              </a:rPr>
              <a:t>⊙ </a:t>
            </a:r>
            <a:r>
              <a:rPr lang="en-US" altLang="zh-TW" dirty="0">
                <a:solidFill>
                  <a:srgbClr val="FF0000"/>
                </a:solidFill>
                <a:latin typeface="Times" pitchFamily="2" charset="0"/>
              </a:rPr>
              <a:t>B </a:t>
            </a:r>
            <a:r>
              <a:rPr lang="en-US" altLang="zh-TW" dirty="0">
                <a:solidFill>
                  <a:srgbClr val="FF0000"/>
                </a:solidFill>
                <a:latin typeface="Helvetica" pitchFamily="2" charset="0"/>
              </a:rPr>
              <a:t>= </a:t>
            </a:r>
            <a:r>
              <a:rPr lang="en-US" altLang="zh-TW" dirty="0">
                <a:solidFill>
                  <a:srgbClr val="FF0000"/>
                </a:solidFill>
                <a:latin typeface="Times" pitchFamily="2" charset="0"/>
              </a:rPr>
              <a:t>C</a:t>
            </a:r>
            <a:endParaRPr lang="en-US" altLang="zh-TW" dirty="0">
              <a:solidFill>
                <a:srgbClr val="FF0000"/>
              </a:solidFill>
              <a:effectLst/>
              <a:latin typeface="Times" pitchFamily="2" charset="0"/>
            </a:endParaRPr>
          </a:p>
        </p:txBody>
      </p:sp>
      <p:sp>
        <p:nvSpPr>
          <p:cNvPr id="19" name="矩形 18">
            <a:extLst>
              <a:ext uri="{FF2B5EF4-FFF2-40B4-BE49-F238E27FC236}">
                <a16:creationId xmlns:a16="http://schemas.microsoft.com/office/drawing/2014/main" id="{197BE836-5F44-7B2F-EBA7-C83A163293E1}"/>
              </a:ext>
            </a:extLst>
          </p:cNvPr>
          <p:cNvSpPr/>
          <p:nvPr/>
        </p:nvSpPr>
        <p:spPr>
          <a:xfrm>
            <a:off x="782970" y="3833676"/>
            <a:ext cx="5188172" cy="1323439"/>
          </a:xfrm>
          <a:prstGeom prst="rect">
            <a:avLst/>
          </a:prstGeom>
        </p:spPr>
        <p:txBody>
          <a:bodyPr wrap="square">
            <a:spAutoFit/>
          </a:bodyPr>
          <a:lstStyle/>
          <a:p>
            <a:pPr marL="285750" indent="-285750">
              <a:buFont typeface="Arial" panose="020B0604020202020204" pitchFamily="34" charset="0"/>
              <a:buChar char="•"/>
            </a:pPr>
            <a:r>
              <a:rPr lang="en-US" altLang="zh-TW" sz="2000" dirty="0">
                <a:solidFill>
                  <a:srgbClr val="000000"/>
                </a:solidFill>
                <a:latin typeface="Times" pitchFamily="2" charset="0"/>
              </a:rPr>
              <a:t>Highest-score matrix multiplication</a:t>
            </a:r>
          </a:p>
          <a:p>
            <a:pPr marL="742950" lvl="1" indent="-285750">
              <a:buFont typeface="Arial" panose="020B0604020202020204" pitchFamily="34" charset="0"/>
              <a:buChar char="•"/>
            </a:pPr>
            <a:r>
              <a:rPr lang="en-US" altLang="zh-TW" sz="2000" dirty="0" err="1">
                <a:solidFill>
                  <a:srgbClr val="000000"/>
                </a:solidFill>
                <a:latin typeface="Times" pitchFamily="2" charset="0"/>
              </a:rPr>
              <a:t>Naived</a:t>
            </a:r>
            <a:r>
              <a:rPr lang="en-US" altLang="zh-TW" sz="2000" dirty="0">
                <a:solidFill>
                  <a:srgbClr val="000000"/>
                </a:solidFill>
                <a:latin typeface="Times" pitchFamily="2" charset="0"/>
              </a:rPr>
              <a:t>: O((</a:t>
            </a:r>
            <a:r>
              <a:rPr lang="en-US" altLang="zh-TW" sz="2000" dirty="0" err="1">
                <a:solidFill>
                  <a:srgbClr val="000000"/>
                </a:solidFill>
                <a:latin typeface="Times" pitchFamily="2" charset="0"/>
              </a:rPr>
              <a:t>M+n</a:t>
            </a:r>
            <a:r>
              <a:rPr lang="en-US" altLang="zh-TW" sz="2000" dirty="0">
                <a:solidFill>
                  <a:srgbClr val="000000"/>
                </a:solidFill>
                <a:latin typeface="Times" pitchFamily="2" charset="0"/>
              </a:rPr>
              <a:t>)</a:t>
            </a:r>
            <a:r>
              <a:rPr lang="en-US" altLang="zh-TW" sz="2000" baseline="30000" dirty="0">
                <a:solidFill>
                  <a:srgbClr val="000000"/>
                </a:solidFill>
                <a:latin typeface="Times" pitchFamily="2" charset="0"/>
              </a:rPr>
              <a:t>3</a:t>
            </a:r>
            <a:r>
              <a:rPr lang="en-US" altLang="zh-TW" sz="2000" dirty="0">
                <a:solidFill>
                  <a:srgbClr val="000000"/>
                </a:solidFill>
                <a:latin typeface="Times" pitchFamily="2" charset="0"/>
              </a:rPr>
              <a:t>) by </a:t>
            </a:r>
            <a:r>
              <a:rPr lang="en-US" altLang="zh-TW" sz="2000" b="1" dirty="0">
                <a:solidFill>
                  <a:srgbClr val="FF0000"/>
                </a:solidFill>
                <a:latin typeface="Times" pitchFamily="2" charset="0"/>
              </a:rPr>
              <a:t>(max,+)-semiring</a:t>
            </a:r>
          </a:p>
          <a:p>
            <a:pPr marL="742950" lvl="1" indent="-285750">
              <a:buFont typeface="Arial" panose="020B0604020202020204" pitchFamily="34" charset="0"/>
              <a:buChar char="•"/>
            </a:pPr>
            <a:r>
              <a:rPr lang="en-US" altLang="zh-TW" sz="2000" dirty="0">
                <a:solidFill>
                  <a:srgbClr val="000000"/>
                </a:solidFill>
                <a:latin typeface="Times" pitchFamily="2" charset="0"/>
              </a:rPr>
              <a:t>Using Monge property: O((</a:t>
            </a:r>
            <a:r>
              <a:rPr lang="en-US" altLang="zh-TW" sz="2000" dirty="0" err="1">
                <a:solidFill>
                  <a:srgbClr val="000000"/>
                </a:solidFill>
                <a:latin typeface="Times" pitchFamily="2" charset="0"/>
              </a:rPr>
              <a:t>M+n</a:t>
            </a:r>
            <a:r>
              <a:rPr lang="en-US" altLang="zh-TW" sz="2000" dirty="0">
                <a:solidFill>
                  <a:srgbClr val="000000"/>
                </a:solidFill>
                <a:latin typeface="Times" pitchFamily="2" charset="0"/>
              </a:rPr>
              <a:t>)</a:t>
            </a:r>
            <a:r>
              <a:rPr lang="en-US" altLang="zh-TW" sz="2000" baseline="30000" dirty="0">
                <a:solidFill>
                  <a:srgbClr val="000000"/>
                </a:solidFill>
                <a:latin typeface="Times" pitchFamily="2" charset="0"/>
              </a:rPr>
              <a:t>2</a:t>
            </a:r>
            <a:r>
              <a:rPr lang="en-US" altLang="zh-TW" sz="2000" dirty="0">
                <a:solidFill>
                  <a:srgbClr val="000000"/>
                </a:solidFill>
                <a:latin typeface="Times" pitchFamily="2" charset="0"/>
              </a:rPr>
              <a:t>)</a:t>
            </a:r>
          </a:p>
          <a:p>
            <a:pPr marL="742950" lvl="1" indent="-285750">
              <a:buFont typeface="Arial" panose="020B0604020202020204" pitchFamily="34" charset="0"/>
              <a:buChar char="•"/>
            </a:pPr>
            <a:r>
              <a:rPr lang="en-US" altLang="zh-TW" sz="2000" dirty="0">
                <a:solidFill>
                  <a:srgbClr val="000000"/>
                </a:solidFill>
                <a:latin typeface="Times" pitchFamily="2" charset="0"/>
              </a:rPr>
              <a:t>This paper: O(n</a:t>
            </a:r>
            <a:r>
              <a:rPr lang="en-US" altLang="zh-TW" sz="2000" baseline="30000" dirty="0">
                <a:solidFill>
                  <a:srgbClr val="000000"/>
                </a:solidFill>
                <a:latin typeface="Times" pitchFamily="2" charset="0"/>
              </a:rPr>
              <a:t>1.5</a:t>
            </a:r>
            <a:r>
              <a:rPr lang="en-US" altLang="zh-TW" sz="2000" dirty="0">
                <a:solidFill>
                  <a:srgbClr val="000000"/>
                </a:solidFill>
                <a:latin typeface="Times" pitchFamily="2" charset="0"/>
              </a:rPr>
              <a:t>)</a:t>
            </a:r>
          </a:p>
        </p:txBody>
      </p:sp>
    </p:spTree>
    <p:extLst>
      <p:ext uri="{BB962C8B-B14F-4D97-AF65-F5344CB8AC3E}">
        <p14:creationId xmlns:p14="http://schemas.microsoft.com/office/powerpoint/2010/main" val="3752278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10</a:t>
            </a:fld>
            <a:endParaRPr kumimoji="1" lang="zh-TW" altLang="en-US"/>
          </a:p>
        </p:txBody>
      </p:sp>
      <p:sp>
        <p:nvSpPr>
          <p:cNvPr id="4" name="矩形 3">
            <a:extLst>
              <a:ext uri="{FF2B5EF4-FFF2-40B4-BE49-F238E27FC236}">
                <a16:creationId xmlns:a16="http://schemas.microsoft.com/office/drawing/2014/main" id="{BE809E3E-CA6F-3774-A8C5-1D0ECF745D04}"/>
              </a:ext>
            </a:extLst>
          </p:cNvPr>
          <p:cNvSpPr/>
          <p:nvPr/>
        </p:nvSpPr>
        <p:spPr>
          <a:xfrm>
            <a:off x="8232351" y="3624820"/>
            <a:ext cx="3678716" cy="2708434"/>
          </a:xfrm>
          <a:prstGeom prst="rect">
            <a:avLst/>
          </a:prstGeom>
        </p:spPr>
        <p:txBody>
          <a:bodyPr wrap="square">
            <a:spAutoFit/>
          </a:bodyPr>
          <a:lstStyle/>
          <a:p>
            <a:r>
              <a:rPr lang="en-US" altLang="zh-TW" sz="1000" b="1" dirty="0">
                <a:solidFill>
                  <a:srgbClr val="000000"/>
                </a:solidFill>
                <a:latin typeface="Menlo" panose="020B0609030804020204" pitchFamily="49" charset="0"/>
              </a:rPr>
              <a:t>A : </a:t>
            </a:r>
            <a:r>
              <a:rPr lang="en-US" altLang="zh-TW" sz="1000" b="1" dirty="0" err="1">
                <a:solidFill>
                  <a:srgbClr val="000000"/>
                </a:solidFill>
                <a:latin typeface="Menlo" panose="020B0609030804020204" pitchFamily="49" charset="0"/>
              </a:rPr>
              <a:t>baabcbca</a:t>
            </a:r>
            <a:r>
              <a:rPr lang="en-US" altLang="zh-TW" sz="1000" b="1" dirty="0">
                <a:solidFill>
                  <a:srgbClr val="000000"/>
                </a:solidFill>
                <a:latin typeface="Menlo" panose="020B0609030804020204" pitchFamily="49" charset="0"/>
              </a:rPr>
              <a:t>, B : </a:t>
            </a:r>
            <a:r>
              <a:rPr lang="en-US" altLang="zh-TW" sz="1000" b="1" dirty="0" err="1">
                <a:solidFill>
                  <a:srgbClr val="000000"/>
                </a:solidFill>
                <a:latin typeface="Menlo" panose="020B0609030804020204" pitchFamily="49" charset="0"/>
              </a:rPr>
              <a:t>baabcabcabaca</a:t>
            </a:r>
            <a:endParaRPr lang="en-US" altLang="zh-TW" sz="1000" b="1"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Score3</a:t>
            </a:r>
          </a:p>
          <a:p>
            <a:r>
              <a:rPr lang="en-US" altLang="zh-TW" sz="1000" b="1" dirty="0" err="1">
                <a:solidFill>
                  <a:srgbClr val="000000"/>
                </a:solidFill>
                <a:latin typeface="Menlo" panose="020B0609030804020204" pitchFamily="49" charset="0"/>
              </a:rPr>
              <a:t>i</a:t>
            </a:r>
            <a:r>
              <a:rPr lang="en-US" altLang="zh-TW" sz="1000" b="1" dirty="0">
                <a:solidFill>
                  <a:srgbClr val="000000"/>
                </a:solidFill>
                <a:latin typeface="Menlo" panose="020B0609030804020204" pitchFamily="49" charset="0"/>
              </a:rPr>
              <a:t>\k 0  1  2  3  4  5  6  7  8  9 10 11 12 13 </a:t>
            </a:r>
          </a:p>
          <a:p>
            <a:r>
              <a:rPr lang="en-US" altLang="zh-TW" sz="1000" b="1" dirty="0">
                <a:solidFill>
                  <a:srgbClr val="000000"/>
                </a:solidFill>
                <a:latin typeface="Menlo" panose="020B0609030804020204" pitchFamily="49" charset="0"/>
              </a:rPr>
              <a:t> 0  0  1  2  3  4  5  6  6  7  8  8  8  8  8 </a:t>
            </a:r>
          </a:p>
          <a:p>
            <a:r>
              <a:rPr lang="en-US" altLang="zh-TW" sz="1000" b="1" dirty="0">
                <a:solidFill>
                  <a:srgbClr val="000000"/>
                </a:solidFill>
                <a:latin typeface="Menlo" panose="020B0609030804020204" pitchFamily="49" charset="0"/>
              </a:rPr>
              <a:t> 1  0  0  1  2  3  4  5  5  6  7  7  7  7  7 </a:t>
            </a:r>
          </a:p>
          <a:p>
            <a:r>
              <a:rPr lang="en-US" altLang="zh-TW" sz="1000" b="1" dirty="0">
                <a:solidFill>
                  <a:srgbClr val="000000"/>
                </a:solidFill>
                <a:latin typeface="Menlo" panose="020B0609030804020204" pitchFamily="49" charset="0"/>
              </a:rPr>
              <a:t> 2  0  0  0  1  2  3  4  4  5  6  6  6  6  7 </a:t>
            </a:r>
          </a:p>
          <a:p>
            <a:r>
              <a:rPr lang="en-US" altLang="zh-TW" sz="1000" b="1" dirty="0">
                <a:solidFill>
                  <a:srgbClr val="000000"/>
                </a:solidFill>
                <a:latin typeface="Menlo" panose="020B0609030804020204" pitchFamily="49" charset="0"/>
              </a:rPr>
              <a:t> 3  0  0  0  0  1  2  3  3  4  5  5  6  6  7 </a:t>
            </a:r>
          </a:p>
          <a:p>
            <a:r>
              <a:rPr lang="en-US" altLang="zh-TW" sz="1000" b="1" dirty="0">
                <a:solidFill>
                  <a:srgbClr val="000000"/>
                </a:solidFill>
                <a:latin typeface="Menlo" panose="020B0609030804020204" pitchFamily="49" charset="0"/>
              </a:rPr>
              <a:t> 4  0  0  0  0  0  1  2  2  3  4  4  5  5  6 </a:t>
            </a:r>
          </a:p>
          <a:p>
            <a:r>
              <a:rPr lang="en-US" altLang="zh-TW" sz="1000" b="1" dirty="0">
                <a:solidFill>
                  <a:srgbClr val="000000"/>
                </a:solidFill>
                <a:latin typeface="Menlo" panose="020B0609030804020204" pitchFamily="49" charset="0"/>
              </a:rPr>
              <a:t> 5  0  0  0  0  0  0  1  2  3  4  4  5  5  6 </a:t>
            </a:r>
          </a:p>
          <a:p>
            <a:r>
              <a:rPr lang="en-US" altLang="zh-TW" sz="1000" b="1" dirty="0">
                <a:solidFill>
                  <a:srgbClr val="000000"/>
                </a:solidFill>
                <a:latin typeface="Menlo" panose="020B0609030804020204" pitchFamily="49" charset="0"/>
              </a:rPr>
              <a:t> 6  0  0  0  0  0  0  0  1  2  3  3  4  4  5 </a:t>
            </a:r>
          </a:p>
          <a:p>
            <a:r>
              <a:rPr lang="en-US" altLang="zh-TW" sz="1000" b="1" dirty="0">
                <a:solidFill>
                  <a:srgbClr val="000000"/>
                </a:solidFill>
                <a:latin typeface="Menlo" panose="020B0609030804020204" pitchFamily="49" charset="0"/>
              </a:rPr>
              <a:t> 7  0  0  0  0  0  0  0  0  1  2  2  3  3  4 </a:t>
            </a:r>
          </a:p>
          <a:p>
            <a:r>
              <a:rPr lang="en-US" altLang="zh-TW" sz="1000" b="1" dirty="0">
                <a:solidFill>
                  <a:srgbClr val="000000"/>
                </a:solidFill>
                <a:latin typeface="Menlo" panose="020B0609030804020204" pitchFamily="49" charset="0"/>
              </a:rPr>
              <a:t> 8  0  0  0  0  0  0  0  0  0  1  2  3  3  4 </a:t>
            </a:r>
          </a:p>
          <a:p>
            <a:r>
              <a:rPr lang="en-US" altLang="zh-TW" sz="1000" b="1" dirty="0">
                <a:solidFill>
                  <a:srgbClr val="000000"/>
                </a:solidFill>
                <a:latin typeface="Menlo" panose="020B0609030804020204" pitchFamily="49" charset="0"/>
              </a:rPr>
              <a:t> 9  0  0  0  0  0  0  0  0  0  0  1  2  3  4 </a:t>
            </a:r>
          </a:p>
          <a:p>
            <a:r>
              <a:rPr lang="en-US" altLang="zh-TW" sz="1000" b="1" dirty="0">
                <a:solidFill>
                  <a:srgbClr val="000000"/>
                </a:solidFill>
                <a:latin typeface="Menlo" panose="020B0609030804020204" pitchFamily="49" charset="0"/>
              </a:rPr>
              <a:t>10  0  0  0  0  0  0  0  0  0  0  0  1  2  3 </a:t>
            </a:r>
          </a:p>
          <a:p>
            <a:r>
              <a:rPr lang="en-US" altLang="zh-TW" sz="1000" b="1" dirty="0">
                <a:solidFill>
                  <a:srgbClr val="000000"/>
                </a:solidFill>
                <a:latin typeface="Menlo" panose="020B0609030804020204" pitchFamily="49" charset="0"/>
              </a:rPr>
              <a:t>11  0  0  0  0  0  0  0  0  0  0  0  0  1  2 </a:t>
            </a:r>
          </a:p>
          <a:p>
            <a:r>
              <a:rPr lang="en-US" altLang="zh-TW" sz="1000" b="1" dirty="0">
                <a:solidFill>
                  <a:srgbClr val="000000"/>
                </a:solidFill>
                <a:latin typeface="Menlo" panose="020B0609030804020204" pitchFamily="49" charset="0"/>
              </a:rPr>
              <a:t>12  0  0  0  0  0  0  0  0  0  0  0  0  0  1 </a:t>
            </a:r>
          </a:p>
          <a:p>
            <a:r>
              <a:rPr lang="en-US" altLang="zh-TW" sz="1000" b="1" dirty="0">
                <a:solidFill>
                  <a:srgbClr val="000000"/>
                </a:solidFill>
                <a:latin typeface="Menlo" panose="020B0609030804020204" pitchFamily="49" charset="0"/>
              </a:rPr>
              <a:t>13  0  0  0  0  0  0  0  0  0  0  0  0  0  0</a:t>
            </a:r>
            <a:endParaRPr lang="zh-TW" altLang="en-US" sz="1000" dirty="0">
              <a:solidFill>
                <a:srgbClr val="000000"/>
              </a:solidFill>
              <a:effectLst/>
              <a:latin typeface="Menlo" panose="020B0609030804020204" pitchFamily="49" charset="0"/>
            </a:endParaRPr>
          </a:p>
        </p:txBody>
      </p:sp>
      <p:sp>
        <p:nvSpPr>
          <p:cNvPr id="5" name="矩形 4">
            <a:extLst>
              <a:ext uri="{FF2B5EF4-FFF2-40B4-BE49-F238E27FC236}">
                <a16:creationId xmlns:a16="http://schemas.microsoft.com/office/drawing/2014/main" id="{907B3915-64BE-45D3-92BE-70BCF17821E2}"/>
              </a:ext>
            </a:extLst>
          </p:cNvPr>
          <p:cNvSpPr/>
          <p:nvPr/>
        </p:nvSpPr>
        <p:spPr>
          <a:xfrm>
            <a:off x="4361291" y="3778709"/>
            <a:ext cx="3678716" cy="2554545"/>
          </a:xfrm>
          <a:prstGeom prst="rect">
            <a:avLst/>
          </a:prstGeom>
        </p:spPr>
        <p:txBody>
          <a:bodyPr wrap="square">
            <a:spAutoFit/>
          </a:bodyPr>
          <a:lstStyle/>
          <a:p>
            <a:r>
              <a:rPr lang="en-US" altLang="zh-TW" sz="1000" b="1" dirty="0">
                <a:solidFill>
                  <a:srgbClr val="FF0000"/>
                </a:solidFill>
                <a:latin typeface="Menlo" panose="020B0609030804020204" pitchFamily="49" charset="0"/>
                <a:ea typeface="Menlo" panose="020B0609030804020204" pitchFamily="49" charset="0"/>
                <a:cs typeface="Menlo" panose="020B0609030804020204" pitchFamily="49" charset="0"/>
              </a:rPr>
              <a:t>Score1 ⊙</a:t>
            </a:r>
            <a:r>
              <a:rPr lang="en-US" altLang="zh-TW" sz="1000" b="1" baseline="-25000" dirty="0">
                <a:solidFill>
                  <a:srgbClr val="FF0000"/>
                </a:solidFill>
                <a:latin typeface="Menlo" panose="020B0609030804020204" pitchFamily="49" charset="0"/>
                <a:ea typeface="Menlo" panose="020B0609030804020204" pitchFamily="49" charset="0"/>
                <a:cs typeface="Menlo" panose="020B0609030804020204" pitchFamily="49" charset="0"/>
              </a:rPr>
              <a:t>max</a:t>
            </a:r>
            <a:r>
              <a:rPr lang="en-US" altLang="zh-TW" sz="1000" b="1" dirty="0">
                <a:solidFill>
                  <a:srgbClr val="FF0000"/>
                </a:solidFill>
                <a:latin typeface="Menlo" panose="020B0609030804020204" pitchFamily="49" charset="0"/>
                <a:ea typeface="Menlo" panose="020B0609030804020204" pitchFamily="49" charset="0"/>
                <a:cs typeface="Menlo" panose="020B0609030804020204" pitchFamily="49" charset="0"/>
              </a:rPr>
              <a:t> Score2 = Score3 :</a:t>
            </a:r>
          </a:p>
          <a:p>
            <a:r>
              <a:rPr lang="en-US" altLang="zh-TW" sz="1000" b="1" dirty="0" err="1">
                <a:solidFill>
                  <a:srgbClr val="000000"/>
                </a:solidFill>
                <a:latin typeface="Menlo" panose="020B0609030804020204" pitchFamily="49" charset="0"/>
              </a:rPr>
              <a:t>i</a:t>
            </a:r>
            <a:r>
              <a:rPr lang="en-US" altLang="zh-TW" sz="1000" b="1" dirty="0">
                <a:solidFill>
                  <a:srgbClr val="000000"/>
                </a:solidFill>
                <a:latin typeface="Menlo" panose="020B0609030804020204" pitchFamily="49" charset="0"/>
              </a:rPr>
              <a:t>\k 0  1  2  3  4  5  6  7  8  9 10 11 12 13 </a:t>
            </a:r>
          </a:p>
          <a:p>
            <a:r>
              <a:rPr lang="en-US" altLang="zh-TW" sz="1000" b="1" dirty="0">
                <a:solidFill>
                  <a:srgbClr val="000000"/>
                </a:solidFill>
                <a:latin typeface="Menlo" panose="020B0609030804020204" pitchFamily="49" charset="0"/>
              </a:rPr>
              <a:t> 0  0  1  2  3  4  5  6  6  7  8  8  8  8  8 </a:t>
            </a:r>
          </a:p>
          <a:p>
            <a:r>
              <a:rPr lang="en-US" altLang="zh-TW" sz="1000" b="1" dirty="0">
                <a:solidFill>
                  <a:srgbClr val="000000"/>
                </a:solidFill>
                <a:latin typeface="Menlo" panose="020B0609030804020204" pitchFamily="49" charset="0"/>
              </a:rPr>
              <a:t> 1  0  0  1  2  3  4  5  5  6  7  7  7  7  7 </a:t>
            </a:r>
          </a:p>
          <a:p>
            <a:r>
              <a:rPr lang="en-US" altLang="zh-TW" sz="1000" b="1" dirty="0">
                <a:solidFill>
                  <a:srgbClr val="000000"/>
                </a:solidFill>
                <a:latin typeface="Menlo" panose="020B0609030804020204" pitchFamily="49" charset="0"/>
              </a:rPr>
              <a:t> 2  0  0  0  1  2  3  4  4  5  6  6  6  6  7 </a:t>
            </a:r>
          </a:p>
          <a:p>
            <a:r>
              <a:rPr lang="en-US" altLang="zh-TW" sz="1000" b="1" dirty="0">
                <a:solidFill>
                  <a:srgbClr val="000000"/>
                </a:solidFill>
                <a:latin typeface="Menlo" panose="020B0609030804020204" pitchFamily="49" charset="0"/>
              </a:rPr>
              <a:t> 3  0  0  0  0  1  2  3  3  4  5  5  6  6  7 </a:t>
            </a:r>
          </a:p>
          <a:p>
            <a:r>
              <a:rPr lang="en-US" altLang="zh-TW" sz="1000" b="1" dirty="0">
                <a:solidFill>
                  <a:srgbClr val="000000"/>
                </a:solidFill>
                <a:latin typeface="Menlo" panose="020B0609030804020204" pitchFamily="49" charset="0"/>
              </a:rPr>
              <a:t> 4  0  0  0  0  0  1  2  2  3  4  4  5  5  6 </a:t>
            </a:r>
          </a:p>
          <a:p>
            <a:r>
              <a:rPr lang="en-US" altLang="zh-TW" sz="1000" b="1" dirty="0">
                <a:solidFill>
                  <a:srgbClr val="000000"/>
                </a:solidFill>
                <a:latin typeface="Menlo" panose="020B0609030804020204" pitchFamily="49" charset="0"/>
              </a:rPr>
              <a:t> 5  0  0  0  0  0  0  1  2  3  4  4  5  5  6 </a:t>
            </a:r>
          </a:p>
          <a:p>
            <a:r>
              <a:rPr lang="en-US" altLang="zh-TW" sz="1000" b="1" dirty="0">
                <a:solidFill>
                  <a:srgbClr val="000000"/>
                </a:solidFill>
                <a:latin typeface="Menlo" panose="020B0609030804020204" pitchFamily="49" charset="0"/>
              </a:rPr>
              <a:t> 6  0  0  0  0  0  0  0  1  2  3  3  4  4  5 </a:t>
            </a:r>
          </a:p>
          <a:p>
            <a:r>
              <a:rPr lang="en-US" altLang="zh-TW" sz="1000" b="1" dirty="0">
                <a:solidFill>
                  <a:srgbClr val="000000"/>
                </a:solidFill>
                <a:latin typeface="Menlo" panose="020B0609030804020204" pitchFamily="49" charset="0"/>
              </a:rPr>
              <a:t> 7  0  0  0  0  0  0  0  0  1  2  2  3  3  4 </a:t>
            </a:r>
          </a:p>
          <a:p>
            <a:r>
              <a:rPr lang="en-US" altLang="zh-TW" sz="1000" b="1" dirty="0">
                <a:solidFill>
                  <a:srgbClr val="000000"/>
                </a:solidFill>
                <a:latin typeface="Menlo" panose="020B0609030804020204" pitchFamily="49" charset="0"/>
              </a:rPr>
              <a:t> 8  0  0  0  0  0  0  0  0  0  1  2  3  3  4 </a:t>
            </a:r>
          </a:p>
          <a:p>
            <a:r>
              <a:rPr lang="en-US" altLang="zh-TW" sz="1000" b="1" dirty="0">
                <a:solidFill>
                  <a:srgbClr val="000000"/>
                </a:solidFill>
                <a:latin typeface="Menlo" panose="020B0609030804020204" pitchFamily="49" charset="0"/>
              </a:rPr>
              <a:t> 9  0  0  0  0  0  0  0  0  0  0  1  2  3  4 </a:t>
            </a:r>
          </a:p>
          <a:p>
            <a:r>
              <a:rPr lang="en-US" altLang="zh-TW" sz="1000" b="1" dirty="0">
                <a:solidFill>
                  <a:srgbClr val="000000"/>
                </a:solidFill>
                <a:latin typeface="Menlo" panose="020B0609030804020204" pitchFamily="49" charset="0"/>
              </a:rPr>
              <a:t>10  0  0  0  0  0  0  0  0  0  0  0  1  2  3 </a:t>
            </a:r>
          </a:p>
          <a:p>
            <a:r>
              <a:rPr lang="en-US" altLang="zh-TW" sz="1000" b="1" dirty="0">
                <a:solidFill>
                  <a:srgbClr val="000000"/>
                </a:solidFill>
                <a:latin typeface="Menlo" panose="020B0609030804020204" pitchFamily="49" charset="0"/>
              </a:rPr>
              <a:t>11  0  0  0  0  0  0  0  0  0  0  0  0  1  2 </a:t>
            </a:r>
          </a:p>
          <a:p>
            <a:r>
              <a:rPr lang="en-US" altLang="zh-TW" sz="1000" b="1" dirty="0">
                <a:solidFill>
                  <a:srgbClr val="000000"/>
                </a:solidFill>
                <a:latin typeface="Menlo" panose="020B0609030804020204" pitchFamily="49" charset="0"/>
              </a:rPr>
              <a:t>12  0  0  0  0  0  0  0  0  0  0  0  0  0  1 </a:t>
            </a:r>
          </a:p>
          <a:p>
            <a:r>
              <a:rPr lang="en-US" altLang="zh-TW" sz="1000" b="1" dirty="0">
                <a:solidFill>
                  <a:srgbClr val="000000"/>
                </a:solidFill>
                <a:latin typeface="Menlo" panose="020B0609030804020204" pitchFamily="49" charset="0"/>
              </a:rPr>
              <a:t>13  0  0  0  0  0  0  0  0  0  0  0  0  0  0</a:t>
            </a:r>
            <a:endParaRPr lang="en-US" altLang="zh-TW" sz="1000" dirty="0">
              <a:solidFill>
                <a:srgbClr val="000000"/>
              </a:solidFill>
              <a:effectLst/>
              <a:latin typeface="Menlo" panose="020B0609030804020204" pitchFamily="49" charset="0"/>
            </a:endParaRPr>
          </a:p>
        </p:txBody>
      </p:sp>
      <p:sp>
        <p:nvSpPr>
          <p:cNvPr id="7" name="矩形 6">
            <a:extLst>
              <a:ext uri="{FF2B5EF4-FFF2-40B4-BE49-F238E27FC236}">
                <a16:creationId xmlns:a16="http://schemas.microsoft.com/office/drawing/2014/main" id="{D1F57F8D-7518-EEE7-1E15-E45FEE8419BB}"/>
              </a:ext>
            </a:extLst>
          </p:cNvPr>
          <p:cNvSpPr/>
          <p:nvPr/>
        </p:nvSpPr>
        <p:spPr>
          <a:xfrm>
            <a:off x="8340671" y="627393"/>
            <a:ext cx="2612833" cy="646331"/>
          </a:xfrm>
          <a:prstGeom prst="rect">
            <a:avLst/>
          </a:prstGeom>
        </p:spPr>
        <p:txBody>
          <a:bodyPr wrap="square">
            <a:spAutoFit/>
          </a:bodyPr>
          <a:lstStyle/>
          <a:p>
            <a:r>
              <a:rPr lang="en-US" altLang="zh-TW" b="1" dirty="0">
                <a:solidFill>
                  <a:srgbClr val="000000"/>
                </a:solidFill>
                <a:latin typeface="Menlo" panose="020B0609030804020204" pitchFamily="49" charset="0"/>
              </a:rPr>
              <a:t>A : </a:t>
            </a:r>
            <a:r>
              <a:rPr lang="en-US" altLang="zh-TW" b="1" dirty="0" err="1">
                <a:solidFill>
                  <a:srgbClr val="000000"/>
                </a:solidFill>
                <a:latin typeface="Menlo" panose="020B0609030804020204" pitchFamily="49" charset="0"/>
              </a:rPr>
              <a:t>baabcbca</a:t>
            </a:r>
            <a:endParaRPr lang="en-US" altLang="zh-TW" dirty="0">
              <a:solidFill>
                <a:srgbClr val="000000"/>
              </a:solidFill>
              <a:latin typeface="Menlo" panose="020B0609030804020204" pitchFamily="49" charset="0"/>
            </a:endParaRPr>
          </a:p>
          <a:p>
            <a:r>
              <a:rPr lang="en-US" altLang="zh-TW" b="1" dirty="0">
                <a:solidFill>
                  <a:srgbClr val="000000"/>
                </a:solidFill>
                <a:latin typeface="Menlo" panose="020B0609030804020204" pitchFamily="49" charset="0"/>
              </a:rPr>
              <a:t>B : </a:t>
            </a:r>
            <a:r>
              <a:rPr lang="en-US" altLang="zh-TW" b="1" dirty="0" err="1">
                <a:solidFill>
                  <a:srgbClr val="000000"/>
                </a:solidFill>
                <a:latin typeface="Menlo" panose="020B0609030804020204" pitchFamily="49" charset="0"/>
              </a:rPr>
              <a:t>baabcabcabaca</a:t>
            </a:r>
            <a:endParaRPr lang="en-US" altLang="zh-TW" dirty="0">
              <a:solidFill>
                <a:srgbClr val="000000"/>
              </a:solidFill>
              <a:latin typeface="Menlo" panose="020B0609030804020204" pitchFamily="49" charset="0"/>
            </a:endParaRPr>
          </a:p>
        </p:txBody>
      </p:sp>
      <p:sp>
        <p:nvSpPr>
          <p:cNvPr id="12" name="矩形 11">
            <a:extLst>
              <a:ext uri="{FF2B5EF4-FFF2-40B4-BE49-F238E27FC236}">
                <a16:creationId xmlns:a16="http://schemas.microsoft.com/office/drawing/2014/main" id="{247A23F7-EA30-CE2D-3058-0E3518EE31A8}"/>
              </a:ext>
            </a:extLst>
          </p:cNvPr>
          <p:cNvSpPr/>
          <p:nvPr/>
        </p:nvSpPr>
        <p:spPr>
          <a:xfrm>
            <a:off x="381911" y="627393"/>
            <a:ext cx="3780617" cy="2708434"/>
          </a:xfrm>
          <a:prstGeom prst="rect">
            <a:avLst/>
          </a:prstGeom>
        </p:spPr>
        <p:txBody>
          <a:bodyPr wrap="square">
            <a:spAutoFit/>
          </a:bodyPr>
          <a:lstStyle/>
          <a:p>
            <a:r>
              <a:rPr lang="en-US" altLang="zh-TW" sz="1000" b="1" dirty="0">
                <a:solidFill>
                  <a:srgbClr val="000000"/>
                </a:solidFill>
                <a:latin typeface="Menlo" panose="020B0609030804020204" pitchFamily="49" charset="0"/>
              </a:rPr>
              <a:t>A : </a:t>
            </a:r>
            <a:r>
              <a:rPr lang="en-US" altLang="zh-TW" sz="1000" b="1" dirty="0" err="1">
                <a:solidFill>
                  <a:srgbClr val="000000"/>
                </a:solidFill>
                <a:latin typeface="Menlo" panose="020B0609030804020204" pitchFamily="49" charset="0"/>
              </a:rPr>
              <a:t>baab</a:t>
            </a:r>
            <a:r>
              <a:rPr lang="en-US" altLang="zh-TW" sz="1000" b="1" dirty="0">
                <a:solidFill>
                  <a:srgbClr val="000000"/>
                </a:solidFill>
                <a:latin typeface="Menlo" panose="020B0609030804020204" pitchFamily="49" charset="0"/>
              </a:rPr>
              <a:t>, B : </a:t>
            </a:r>
            <a:r>
              <a:rPr lang="en-US" altLang="zh-TW" sz="1000" b="1" dirty="0" err="1">
                <a:solidFill>
                  <a:srgbClr val="000000"/>
                </a:solidFill>
                <a:latin typeface="Menlo" panose="020B0609030804020204" pitchFamily="49" charset="0"/>
              </a:rPr>
              <a:t>baabcabcabaca</a:t>
            </a:r>
            <a:endParaRPr lang="en-US" altLang="zh-TW" sz="1000" b="1"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Score1 :</a:t>
            </a:r>
            <a:endParaRPr lang="en-US" altLang="zh-TW" sz="1000" dirty="0">
              <a:solidFill>
                <a:srgbClr val="000000"/>
              </a:solidFill>
              <a:latin typeface="Menlo" panose="020B0609030804020204" pitchFamily="49" charset="0"/>
            </a:endParaRPr>
          </a:p>
          <a:p>
            <a:r>
              <a:rPr lang="en-US" altLang="zh-TW" sz="1000" b="1" dirty="0" err="1">
                <a:solidFill>
                  <a:srgbClr val="000000"/>
                </a:solidFill>
                <a:latin typeface="Menlo" panose="020B0609030804020204" pitchFamily="49" charset="0"/>
              </a:rPr>
              <a:t>i</a:t>
            </a:r>
            <a:r>
              <a:rPr lang="en-US" altLang="zh-TW" sz="1000" b="1" dirty="0">
                <a:solidFill>
                  <a:srgbClr val="000000"/>
                </a:solidFill>
                <a:latin typeface="Menlo" panose="020B0609030804020204" pitchFamily="49" charset="0"/>
              </a:rPr>
              <a:t>\j 0  1  2  3  4  5  6  7  8  9 10 11 12 13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0  0  1  2  3  4  4  4  4  4  4  4  4  4  4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1  0  0  1  2  3  3  3  3  3  3  4  4  4  4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2  0  0  0  1  2  2  2  3  3  3  4  4  4  4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3  0  0  0  0  1  1  2  3  3  3  4  4  4  4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4  0  0  0  0  0  0  1  2  2  2  3  3  3  3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5  0  0  0  0  0  0  1  2  2  2  3  3  3  3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6  0  0  0  0  0  0  0  1  1  2  3  3  3  3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7  0  0  0  0  0  0  0  0  0  1  2  2  2  3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8  0  0  0  0  0  0  0  0  0  1  2  2  2  3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9  0  0  0  0  0  0  0  0  0  0  1  2  2  3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10  0  0  0  0  0  0  0  0  0  0  0  1  1  2 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11  0  0  0  0  0  0  0  0  0  0  0  0  0  1 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12  0  0  0  0  0  0  0  0  0  0  0  0  0  1 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13  0  0  0  0  0  0  0  0  0  0  0  0  0  0</a:t>
            </a:r>
            <a:endParaRPr lang="en-US" altLang="zh-TW" sz="1000" dirty="0">
              <a:solidFill>
                <a:srgbClr val="000000"/>
              </a:solidFill>
              <a:effectLst/>
              <a:latin typeface="Menlo" panose="020B0609030804020204" pitchFamily="49" charset="0"/>
            </a:endParaRPr>
          </a:p>
        </p:txBody>
      </p:sp>
      <p:sp>
        <p:nvSpPr>
          <p:cNvPr id="13" name="矩形 12">
            <a:extLst>
              <a:ext uri="{FF2B5EF4-FFF2-40B4-BE49-F238E27FC236}">
                <a16:creationId xmlns:a16="http://schemas.microsoft.com/office/drawing/2014/main" id="{FA346BFA-BC01-E2EE-4EA5-AD3A792B02AC}"/>
              </a:ext>
            </a:extLst>
          </p:cNvPr>
          <p:cNvSpPr/>
          <p:nvPr/>
        </p:nvSpPr>
        <p:spPr>
          <a:xfrm>
            <a:off x="4361291" y="627393"/>
            <a:ext cx="3780617" cy="2708434"/>
          </a:xfrm>
          <a:prstGeom prst="rect">
            <a:avLst/>
          </a:prstGeom>
        </p:spPr>
        <p:txBody>
          <a:bodyPr wrap="square">
            <a:spAutoFit/>
          </a:bodyPr>
          <a:lstStyle/>
          <a:p>
            <a:r>
              <a:rPr lang="en-US" altLang="zh-TW" sz="1000" b="1" dirty="0">
                <a:solidFill>
                  <a:srgbClr val="000000"/>
                </a:solidFill>
                <a:latin typeface="Menlo" panose="020B0609030804020204" pitchFamily="49" charset="0"/>
              </a:rPr>
              <a:t>A : </a:t>
            </a:r>
            <a:r>
              <a:rPr lang="en-US" altLang="zh-TW" sz="1000" b="1" dirty="0" err="1">
                <a:solidFill>
                  <a:srgbClr val="000000"/>
                </a:solidFill>
                <a:latin typeface="Menlo" panose="020B0609030804020204" pitchFamily="49" charset="0"/>
              </a:rPr>
              <a:t>cbca</a:t>
            </a:r>
            <a:r>
              <a:rPr lang="en-US" altLang="zh-TW" sz="1000" b="1" dirty="0">
                <a:solidFill>
                  <a:srgbClr val="000000"/>
                </a:solidFill>
                <a:latin typeface="Menlo" panose="020B0609030804020204" pitchFamily="49" charset="0"/>
              </a:rPr>
              <a:t>, B : </a:t>
            </a:r>
            <a:r>
              <a:rPr lang="en-US" altLang="zh-TW" sz="1000" b="1" dirty="0" err="1">
                <a:solidFill>
                  <a:srgbClr val="000000"/>
                </a:solidFill>
                <a:latin typeface="Menlo" panose="020B0609030804020204" pitchFamily="49" charset="0"/>
              </a:rPr>
              <a:t>baabcabcabaca</a:t>
            </a:r>
            <a:endParaRPr lang="en-US" altLang="zh-TW" sz="1000" b="1"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Score2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j\k 0  1  2  3  4  5  6  7  8  9 10 11 12 13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0  0  1  2  2  2  2  3  3  3  4  4  4  4  4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1  0  0  1  1  1  2  3  3  3  4  4  4  4  4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2  0  0  0  1  1  2  3  3  3  4  4  4  4  4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3  0  0  0  0  1  2  3  3  3  4  4  4  4  4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4  0  0  0  0  0  1  2  2  3  4  4  4  4  4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5  0  0  0  0  0  0  1  1  2  3  3  3  3  4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6  0  0  0  0  0  0  0  1  2  3  3  3  3  4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7  0  0  0  0  0  0  0  0  1  2  2  3  3  4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8  0  0  0  0  0  0  0  0  0  1  1  2  2  3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 9  0  0  0  0  0  0  0  0  0  0  1  2  2  3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10  0  0  0  0  0  0  0  0  0  0  0  1  1  2 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11  0  0  0  0  0  0  0  0  0  0  0  0  1  2 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12  0  0  0  0  0  0  0  0  0  0  0  0  0  1 </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13  0  0  0  0  0  0  0  0  0  0  0  0  0  0</a:t>
            </a:r>
            <a:endParaRPr lang="en-US" altLang="zh-TW" sz="1000" dirty="0">
              <a:solidFill>
                <a:srgbClr val="000000"/>
              </a:solidFill>
              <a:effectLst/>
              <a:latin typeface="Menlo" panose="020B0609030804020204" pitchFamily="49" charset="0"/>
            </a:endParaRPr>
          </a:p>
        </p:txBody>
      </p:sp>
      <p:sp>
        <p:nvSpPr>
          <p:cNvPr id="14" name="矩形 13">
            <a:extLst>
              <a:ext uri="{FF2B5EF4-FFF2-40B4-BE49-F238E27FC236}">
                <a16:creationId xmlns:a16="http://schemas.microsoft.com/office/drawing/2014/main" id="{328C079E-B66B-0B2C-57B8-02CD8FB76537}"/>
              </a:ext>
            </a:extLst>
          </p:cNvPr>
          <p:cNvSpPr/>
          <p:nvPr/>
        </p:nvSpPr>
        <p:spPr>
          <a:xfrm>
            <a:off x="381911" y="3778709"/>
            <a:ext cx="3787036" cy="2554545"/>
          </a:xfrm>
          <a:prstGeom prst="rect">
            <a:avLst/>
          </a:prstGeom>
        </p:spPr>
        <p:txBody>
          <a:bodyPr wrap="square">
            <a:spAutoFit/>
          </a:bodyPr>
          <a:lstStyle/>
          <a:p>
            <a:r>
              <a:rPr lang="en-US" altLang="zh-TW" sz="1000" b="1" dirty="0">
                <a:solidFill>
                  <a:srgbClr val="000000"/>
                </a:solidFill>
                <a:latin typeface="Menlo" panose="020B0609030804020204" pitchFamily="49" charset="0"/>
              </a:rPr>
              <a:t>Score1</a:t>
            </a:r>
            <a:r>
              <a:rPr lang="en-US" altLang="zh-TW" sz="1000" b="1" dirty="0">
                <a:latin typeface="Menlo" panose="020B0609030804020204" pitchFamily="49" charset="0"/>
                <a:ea typeface="Menlo" panose="020B0609030804020204" pitchFamily="49" charset="0"/>
                <a:cs typeface="Menlo" panose="020B0609030804020204" pitchFamily="49" charset="0"/>
              </a:rPr>
              <a:t> ⊙</a:t>
            </a:r>
            <a:r>
              <a:rPr lang="en-US" altLang="zh-TW" sz="1000" b="1" baseline="-25000" dirty="0">
                <a:latin typeface="Menlo" panose="020B0609030804020204" pitchFamily="49" charset="0"/>
                <a:ea typeface="Menlo" panose="020B0609030804020204" pitchFamily="49" charset="0"/>
                <a:cs typeface="Menlo" panose="020B0609030804020204" pitchFamily="49" charset="0"/>
              </a:rPr>
              <a:t>min</a:t>
            </a:r>
            <a:r>
              <a:rPr lang="en-US" altLang="zh-TW" sz="1000" b="1" dirty="0">
                <a:latin typeface="Menlo" panose="020B0609030804020204" pitchFamily="49" charset="0"/>
                <a:ea typeface="Menlo" panose="020B0609030804020204" pitchFamily="49" charset="0"/>
                <a:cs typeface="Menlo" panose="020B0609030804020204" pitchFamily="49" charset="0"/>
              </a:rPr>
              <a:t> </a:t>
            </a:r>
            <a:r>
              <a:rPr lang="en-US" altLang="zh-TW" sz="1000" b="1" dirty="0">
                <a:solidFill>
                  <a:srgbClr val="000000"/>
                </a:solidFill>
                <a:latin typeface="Menlo" panose="020B0609030804020204" pitchFamily="49" charset="0"/>
              </a:rPr>
              <a:t>Score2</a:t>
            </a:r>
            <a:r>
              <a:rPr lang="en-US" altLang="zh-TW" sz="1000" b="1" dirty="0">
                <a:latin typeface="Menlo" panose="020B0609030804020204" pitchFamily="49" charset="0"/>
                <a:ea typeface="Menlo" panose="020B0609030804020204" pitchFamily="49" charset="0"/>
                <a:cs typeface="Menlo" panose="020B0609030804020204" pitchFamily="49" charset="0"/>
              </a:rPr>
              <a:t> ≠ </a:t>
            </a:r>
            <a:r>
              <a:rPr lang="en-US" altLang="zh-TW" sz="1000" b="1" dirty="0">
                <a:solidFill>
                  <a:srgbClr val="000000"/>
                </a:solidFill>
                <a:latin typeface="Menlo" panose="020B0609030804020204" pitchFamily="49" charset="0"/>
              </a:rPr>
              <a:t>Score3 </a:t>
            </a:r>
            <a:r>
              <a:rPr lang="en-US" altLang="zh-TW" sz="1000" b="1" dirty="0">
                <a:latin typeface="Menlo" panose="020B0609030804020204" pitchFamily="49" charset="0"/>
                <a:ea typeface="Menlo" panose="020B0609030804020204" pitchFamily="49" charset="0"/>
                <a:cs typeface="Menlo" panose="020B0609030804020204" pitchFamily="49" charset="0"/>
              </a:rPr>
              <a:t>:</a:t>
            </a:r>
            <a:endParaRPr lang="en-US" altLang="zh-TW" sz="1000" b="1" dirty="0">
              <a:latin typeface="Menlo" panose="020B0609030804020204" pitchFamily="49" charset="0"/>
            </a:endParaRPr>
          </a:p>
          <a:p>
            <a:r>
              <a:rPr lang="en-US" altLang="zh-TW" sz="1000" b="1" dirty="0" err="1">
                <a:solidFill>
                  <a:srgbClr val="000000"/>
                </a:solidFill>
                <a:latin typeface="Menlo" panose="020B0609030804020204" pitchFamily="49" charset="0"/>
              </a:rPr>
              <a:t>i</a:t>
            </a:r>
            <a:r>
              <a:rPr lang="en-US" altLang="zh-TW" sz="1000" b="1" dirty="0">
                <a:solidFill>
                  <a:srgbClr val="000000"/>
                </a:solidFill>
                <a:latin typeface="Menlo" panose="020B0609030804020204" pitchFamily="49" charset="0"/>
              </a:rPr>
              <a:t>\k</a:t>
            </a:r>
            <a:r>
              <a:rPr lang="zh-TW" altLang="en-US" sz="1000" b="1" dirty="0">
                <a:solidFill>
                  <a:srgbClr val="000000"/>
                </a:solidFill>
                <a:latin typeface="Menlo" panose="020B0609030804020204" pitchFamily="49" charset="0"/>
              </a:rPr>
              <a:t> </a:t>
            </a:r>
            <a:r>
              <a:rPr lang="en-US" altLang="zh-TW" sz="1000" b="1" dirty="0">
                <a:solidFill>
                  <a:srgbClr val="000000"/>
                </a:solidFill>
                <a:latin typeface="Menlo" panose="020B0609030804020204" pitchFamily="49" charset="0"/>
              </a:rPr>
              <a:t>0  1  2  3  4  5  6  7  8  9 10 11 12 13 </a:t>
            </a:r>
            <a:endParaRPr lang="zh-TW" altLang="en-US" sz="1000" dirty="0">
              <a:solidFill>
                <a:srgbClr val="000000"/>
              </a:solidFill>
              <a:latin typeface="Menlo" panose="020B0609030804020204" pitchFamily="49" charset="0"/>
            </a:endParaRPr>
          </a:p>
          <a:p>
            <a:r>
              <a:rPr lang="zh-TW" altLang="en-US" sz="1000" b="1" dirty="0">
                <a:solidFill>
                  <a:srgbClr val="000000"/>
                </a:solidFill>
                <a:latin typeface="Menlo" panose="020B0609030804020204" pitchFamily="49" charset="0"/>
              </a:rPr>
              <a:t> </a:t>
            </a:r>
            <a:r>
              <a:rPr lang="en-US" altLang="zh-TW" sz="1000" b="1" dirty="0">
                <a:solidFill>
                  <a:srgbClr val="000000"/>
                </a:solidFill>
                <a:latin typeface="Menlo" panose="020B0609030804020204" pitchFamily="49" charset="0"/>
              </a:rPr>
              <a:t>0  0  1  2  2  2  2  3  3  3  4  4  4  4  4 </a:t>
            </a:r>
            <a:endParaRPr lang="zh-TW" altLang="en-US" sz="1000" dirty="0">
              <a:solidFill>
                <a:srgbClr val="000000"/>
              </a:solidFill>
              <a:latin typeface="Menlo" panose="020B0609030804020204" pitchFamily="49" charset="0"/>
            </a:endParaRPr>
          </a:p>
          <a:p>
            <a:r>
              <a:rPr lang="zh-TW" altLang="en-US" sz="1000" b="1" dirty="0">
                <a:solidFill>
                  <a:srgbClr val="000000"/>
                </a:solidFill>
                <a:latin typeface="Menlo" panose="020B0609030804020204" pitchFamily="49" charset="0"/>
              </a:rPr>
              <a:t> </a:t>
            </a:r>
            <a:r>
              <a:rPr lang="en-US" altLang="zh-TW" sz="1000" b="1" dirty="0">
                <a:solidFill>
                  <a:srgbClr val="000000"/>
                </a:solidFill>
                <a:latin typeface="Menlo" panose="020B0609030804020204" pitchFamily="49" charset="0"/>
              </a:rPr>
              <a:t>1  ∞  0  1  1  1  2  3  3  3  3  4  4  4  4 </a:t>
            </a:r>
            <a:endParaRPr lang="zh-TW" altLang="en-US" sz="1000" dirty="0">
              <a:solidFill>
                <a:srgbClr val="000000"/>
              </a:solidFill>
              <a:latin typeface="Menlo" panose="020B0609030804020204" pitchFamily="49" charset="0"/>
            </a:endParaRPr>
          </a:p>
          <a:p>
            <a:r>
              <a:rPr lang="zh-TW" altLang="en-US" sz="1000" b="1" dirty="0">
                <a:solidFill>
                  <a:srgbClr val="000000"/>
                </a:solidFill>
                <a:latin typeface="Menlo" panose="020B0609030804020204" pitchFamily="49" charset="0"/>
              </a:rPr>
              <a:t> </a:t>
            </a:r>
            <a:r>
              <a:rPr lang="en-US" altLang="zh-TW" sz="1000" b="1" dirty="0">
                <a:solidFill>
                  <a:srgbClr val="000000"/>
                </a:solidFill>
                <a:latin typeface="Menlo" panose="020B0609030804020204" pitchFamily="49" charset="0"/>
              </a:rPr>
              <a:t>2  ∞  ∞  0  1  1  2  2  3  3  3  4  4  4  4 </a:t>
            </a:r>
            <a:endParaRPr lang="zh-TW" altLang="en-US" sz="1000" dirty="0">
              <a:solidFill>
                <a:srgbClr val="000000"/>
              </a:solidFill>
              <a:latin typeface="Menlo" panose="020B0609030804020204" pitchFamily="49" charset="0"/>
            </a:endParaRPr>
          </a:p>
          <a:p>
            <a:r>
              <a:rPr lang="zh-TW" altLang="en-US" sz="1000" b="1" dirty="0">
                <a:solidFill>
                  <a:srgbClr val="000000"/>
                </a:solidFill>
                <a:latin typeface="Menlo" panose="020B0609030804020204" pitchFamily="49" charset="0"/>
              </a:rPr>
              <a:t> </a:t>
            </a:r>
            <a:r>
              <a:rPr lang="en-US" altLang="zh-TW" sz="1000" b="1" dirty="0">
                <a:solidFill>
                  <a:srgbClr val="000000"/>
                </a:solidFill>
                <a:latin typeface="Menlo" panose="020B0609030804020204" pitchFamily="49" charset="0"/>
              </a:rPr>
              <a:t>3  ∞  ∞  ∞  0  1  1  2  2  3  3  4  4  4  4 </a:t>
            </a:r>
            <a:endParaRPr lang="zh-TW" altLang="en-US" sz="1000" dirty="0">
              <a:solidFill>
                <a:srgbClr val="000000"/>
              </a:solidFill>
              <a:latin typeface="Menlo" panose="020B0609030804020204" pitchFamily="49" charset="0"/>
            </a:endParaRPr>
          </a:p>
          <a:p>
            <a:r>
              <a:rPr lang="zh-TW" altLang="en-US" sz="1000" b="1" dirty="0">
                <a:solidFill>
                  <a:srgbClr val="000000"/>
                </a:solidFill>
                <a:latin typeface="Menlo" panose="020B0609030804020204" pitchFamily="49" charset="0"/>
              </a:rPr>
              <a:t> </a:t>
            </a:r>
            <a:r>
              <a:rPr lang="en-US" altLang="zh-TW" sz="1000" b="1" dirty="0">
                <a:solidFill>
                  <a:srgbClr val="000000"/>
                </a:solidFill>
                <a:latin typeface="Menlo" panose="020B0609030804020204" pitchFamily="49" charset="0"/>
              </a:rPr>
              <a:t>4  ∞  ∞  ∞  ∞  0  0  1  1  2  2  3  3  3  3 </a:t>
            </a:r>
            <a:endParaRPr lang="zh-TW" altLang="en-US" sz="1000" dirty="0">
              <a:solidFill>
                <a:srgbClr val="000000"/>
              </a:solidFill>
              <a:latin typeface="Menlo" panose="020B0609030804020204" pitchFamily="49" charset="0"/>
            </a:endParaRPr>
          </a:p>
          <a:p>
            <a:r>
              <a:rPr lang="zh-TW" altLang="en-US" sz="1000" b="1" dirty="0">
                <a:solidFill>
                  <a:srgbClr val="000000"/>
                </a:solidFill>
                <a:latin typeface="Menlo" panose="020B0609030804020204" pitchFamily="49" charset="0"/>
              </a:rPr>
              <a:t> </a:t>
            </a:r>
            <a:r>
              <a:rPr lang="en-US" altLang="zh-TW" sz="1000" b="1" dirty="0">
                <a:solidFill>
                  <a:srgbClr val="000000"/>
                </a:solidFill>
                <a:latin typeface="Menlo" panose="020B0609030804020204" pitchFamily="49" charset="0"/>
              </a:rPr>
              <a:t>5  ∞  ∞  ∞  ∞  ∞  0  1  1  2  2  3  3  3  3 </a:t>
            </a:r>
            <a:endParaRPr lang="zh-TW" altLang="en-US" sz="1000" dirty="0">
              <a:solidFill>
                <a:srgbClr val="000000"/>
              </a:solidFill>
              <a:latin typeface="Menlo" panose="020B0609030804020204" pitchFamily="49" charset="0"/>
            </a:endParaRPr>
          </a:p>
          <a:p>
            <a:r>
              <a:rPr lang="zh-TW" altLang="en-US" sz="1000" b="1" dirty="0">
                <a:solidFill>
                  <a:srgbClr val="000000"/>
                </a:solidFill>
                <a:latin typeface="Menlo" panose="020B0609030804020204" pitchFamily="49" charset="0"/>
              </a:rPr>
              <a:t> </a:t>
            </a:r>
            <a:r>
              <a:rPr lang="en-US" altLang="zh-TW" sz="1000" b="1" dirty="0">
                <a:solidFill>
                  <a:srgbClr val="000000"/>
                </a:solidFill>
                <a:latin typeface="Menlo" panose="020B0609030804020204" pitchFamily="49" charset="0"/>
              </a:rPr>
              <a:t>6  ∞  ∞  ∞  ∞  ∞  ∞  0  1  1  2  2  3  3  3 </a:t>
            </a:r>
            <a:endParaRPr lang="zh-TW" altLang="en-US" sz="1000" dirty="0">
              <a:solidFill>
                <a:srgbClr val="000000"/>
              </a:solidFill>
              <a:latin typeface="Menlo" panose="020B0609030804020204" pitchFamily="49" charset="0"/>
            </a:endParaRPr>
          </a:p>
          <a:p>
            <a:r>
              <a:rPr lang="zh-TW" altLang="en-US" sz="1000" b="1" dirty="0">
                <a:solidFill>
                  <a:srgbClr val="000000"/>
                </a:solidFill>
                <a:latin typeface="Menlo" panose="020B0609030804020204" pitchFamily="49" charset="0"/>
              </a:rPr>
              <a:t> </a:t>
            </a:r>
            <a:r>
              <a:rPr lang="en-US" altLang="zh-TW" sz="1000" b="1" dirty="0">
                <a:solidFill>
                  <a:srgbClr val="000000"/>
                </a:solidFill>
                <a:latin typeface="Menlo" panose="020B0609030804020204" pitchFamily="49" charset="0"/>
              </a:rPr>
              <a:t>7  ∞  ∞  ∞  ∞  ∞  ∞  ∞  0  0  1  1  2  2  3 </a:t>
            </a:r>
            <a:endParaRPr lang="zh-TW" altLang="en-US" sz="1000" dirty="0">
              <a:solidFill>
                <a:srgbClr val="000000"/>
              </a:solidFill>
              <a:latin typeface="Menlo" panose="020B0609030804020204" pitchFamily="49" charset="0"/>
            </a:endParaRPr>
          </a:p>
          <a:p>
            <a:r>
              <a:rPr lang="zh-TW" altLang="en-US" sz="1000" b="1" dirty="0">
                <a:solidFill>
                  <a:srgbClr val="000000"/>
                </a:solidFill>
                <a:latin typeface="Menlo" panose="020B0609030804020204" pitchFamily="49" charset="0"/>
              </a:rPr>
              <a:t> </a:t>
            </a:r>
            <a:r>
              <a:rPr lang="en-US" altLang="zh-TW" sz="1000" b="1" dirty="0">
                <a:solidFill>
                  <a:srgbClr val="000000"/>
                </a:solidFill>
                <a:latin typeface="Menlo" panose="020B0609030804020204" pitchFamily="49" charset="0"/>
              </a:rPr>
              <a:t>8  ∞  ∞  ∞  ∞  ∞  ∞  ∞  ∞  0  1  1  2  2  3 </a:t>
            </a:r>
            <a:endParaRPr lang="zh-TW" altLang="en-US" sz="1000" dirty="0">
              <a:solidFill>
                <a:srgbClr val="000000"/>
              </a:solidFill>
              <a:latin typeface="Menlo" panose="020B0609030804020204" pitchFamily="49" charset="0"/>
            </a:endParaRPr>
          </a:p>
          <a:p>
            <a:r>
              <a:rPr lang="zh-TW" altLang="en-US" sz="1000" b="1" dirty="0">
                <a:solidFill>
                  <a:srgbClr val="000000"/>
                </a:solidFill>
                <a:latin typeface="Menlo" panose="020B0609030804020204" pitchFamily="49" charset="0"/>
              </a:rPr>
              <a:t> </a:t>
            </a:r>
            <a:r>
              <a:rPr lang="en-US" altLang="zh-TW" sz="1000" b="1" dirty="0">
                <a:solidFill>
                  <a:srgbClr val="000000"/>
                </a:solidFill>
                <a:latin typeface="Menlo" panose="020B0609030804020204" pitchFamily="49" charset="0"/>
              </a:rPr>
              <a:t>9  ∞  ∞  ∞  ∞  ∞  ∞  ∞  ∞  ∞  0  1  2  2  3 </a:t>
            </a:r>
            <a:endParaRPr lang="zh-TW" altLang="en-US"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10  ∞  ∞  ∞  ∞  ∞  ∞  ∞  ∞  ∞  ∞  0  1  1  2 </a:t>
            </a:r>
            <a:endParaRPr lang="zh-TW" altLang="en-US"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11  ∞  ∞  ∞  ∞  ∞  ∞  ∞  ∞  ∞  ∞  ∞  0  0  1 </a:t>
            </a:r>
            <a:endParaRPr lang="zh-TW" altLang="en-US"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12  ∞  ∞  ∞  ∞  ∞  ∞  ∞  ∞  ∞  ∞  ∞  ∞  0  1 </a:t>
            </a:r>
            <a:endParaRPr lang="zh-TW" altLang="en-US"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13  ∞  ∞  ∞  ∞  ∞  ∞  ∞  ∞  ∞  ∞  ∞  ∞  ∞  0</a:t>
            </a:r>
            <a:endParaRPr lang="zh-TW" altLang="en-US" sz="1000" dirty="0">
              <a:solidFill>
                <a:srgbClr val="000000"/>
              </a:solidFill>
              <a:effectLst/>
              <a:latin typeface="Menlo" panose="020B0609030804020204" pitchFamily="49" charset="0"/>
            </a:endParaRPr>
          </a:p>
        </p:txBody>
      </p:sp>
      <p:sp>
        <p:nvSpPr>
          <p:cNvPr id="16" name="文字方塊 15">
            <a:extLst>
              <a:ext uri="{FF2B5EF4-FFF2-40B4-BE49-F238E27FC236}">
                <a16:creationId xmlns:a16="http://schemas.microsoft.com/office/drawing/2014/main" id="{C97D13B2-4667-A354-D427-C16C20F1308C}"/>
              </a:ext>
            </a:extLst>
          </p:cNvPr>
          <p:cNvSpPr txBox="1"/>
          <p:nvPr/>
        </p:nvSpPr>
        <p:spPr>
          <a:xfrm>
            <a:off x="8177353" y="1409777"/>
            <a:ext cx="3544594" cy="1754326"/>
          </a:xfrm>
          <a:prstGeom prst="rect">
            <a:avLst/>
          </a:prstGeom>
          <a:noFill/>
        </p:spPr>
        <p:txBody>
          <a:bodyPr wrap="square" rtlCol="0">
            <a:spAutoFit/>
          </a:bodyPr>
          <a:lstStyle/>
          <a:p>
            <a:pPr marL="342900" indent="-342900">
              <a:buFont typeface="Arial" panose="020B0604020202020204" pitchFamily="34" charset="0"/>
              <a:buChar char="•"/>
            </a:pPr>
            <a:r>
              <a:rPr lang="zh-TW" altLang="en-US" dirty="0">
                <a:latin typeface="+mn-ea"/>
                <a:cs typeface="Times New Roman" panose="02020603050405020304" pitchFamily="18" charset="0"/>
              </a:rPr>
              <a:t>對於</a:t>
            </a:r>
            <a:r>
              <a:rPr lang="en-US" altLang="zh-TW" dirty="0">
                <a:latin typeface="Times New Roman" panose="02020603050405020304" pitchFamily="18" charset="0"/>
                <a:cs typeface="Times New Roman" panose="02020603050405020304" pitchFamily="18" charset="0"/>
              </a:rPr>
              <a:t>Score matrix</a:t>
            </a:r>
            <a:r>
              <a:rPr lang="zh-TW" altLang="en-US" dirty="0">
                <a:latin typeface="+mn-ea"/>
                <a:cs typeface="Times New Roman" panose="02020603050405020304" pitchFamily="18" charset="0"/>
              </a:rPr>
              <a:t>來說：</a:t>
            </a:r>
            <a:endParaRPr lang="en-US" altLang="zh-TW" dirty="0">
              <a:latin typeface="+mn-ea"/>
              <a:cs typeface="Times New Roman" panose="02020603050405020304" pitchFamily="18" charset="0"/>
            </a:endParaRPr>
          </a:p>
          <a:p>
            <a:pPr marL="285750" indent="-285750">
              <a:buFont typeface="Arial" panose="020B0604020202020204" pitchFamily="34" charset="0"/>
              <a:buChar char="•"/>
            </a:pPr>
            <a:r>
              <a:rPr lang="en-US" altLang="zh-TW" b="1" dirty="0">
                <a:solidFill>
                  <a:srgbClr val="000000"/>
                </a:solidFill>
                <a:latin typeface="Times New Roman" panose="02020603050405020304" pitchFamily="18" charset="0"/>
                <a:cs typeface="Times New Roman" panose="02020603050405020304" pitchFamily="18" charset="0"/>
              </a:rPr>
              <a:t>Score1</a:t>
            </a:r>
            <a:r>
              <a:rPr lang="en-US" altLang="zh-TW" b="1" dirty="0">
                <a:latin typeface="Times New Roman" panose="02020603050405020304" pitchFamily="18" charset="0"/>
                <a:ea typeface="Menlo" panose="020B0609030804020204" pitchFamily="49" charset="0"/>
                <a:cs typeface="Times New Roman" panose="02020603050405020304" pitchFamily="18" charset="0"/>
              </a:rPr>
              <a:t> ⊙</a:t>
            </a:r>
            <a:r>
              <a:rPr lang="en-US" altLang="zh-TW" b="1" baseline="-25000" dirty="0">
                <a:latin typeface="Times New Roman" panose="02020603050405020304" pitchFamily="18" charset="0"/>
                <a:ea typeface="Menlo" panose="020B0609030804020204" pitchFamily="49" charset="0"/>
                <a:cs typeface="Times New Roman" panose="02020603050405020304" pitchFamily="18" charset="0"/>
              </a:rPr>
              <a:t>min</a:t>
            </a:r>
            <a:r>
              <a:rPr lang="en-US" altLang="zh-TW" b="1" dirty="0">
                <a:latin typeface="Times New Roman" panose="02020603050405020304" pitchFamily="18" charset="0"/>
                <a:ea typeface="Menlo" panose="020B0609030804020204" pitchFamily="49" charset="0"/>
                <a:cs typeface="Times New Roman" panose="02020603050405020304" pitchFamily="18" charset="0"/>
              </a:rPr>
              <a:t> </a:t>
            </a:r>
            <a:r>
              <a:rPr lang="en-US" altLang="zh-TW" b="1" dirty="0">
                <a:solidFill>
                  <a:srgbClr val="000000"/>
                </a:solidFill>
                <a:latin typeface="Times New Roman" panose="02020603050405020304" pitchFamily="18" charset="0"/>
                <a:cs typeface="Times New Roman" panose="02020603050405020304" pitchFamily="18" charset="0"/>
              </a:rPr>
              <a:t>Score2</a:t>
            </a:r>
            <a:r>
              <a:rPr lang="en-US" altLang="zh-TW" b="1" dirty="0">
                <a:latin typeface="Times New Roman" panose="02020603050405020304" pitchFamily="18" charset="0"/>
                <a:ea typeface="Menlo" panose="020B0609030804020204" pitchFamily="49" charset="0"/>
                <a:cs typeface="Times New Roman" panose="02020603050405020304" pitchFamily="18" charset="0"/>
              </a:rPr>
              <a:t> ≠ </a:t>
            </a:r>
            <a:r>
              <a:rPr lang="en-US" altLang="zh-TW" b="1" dirty="0">
                <a:solidFill>
                  <a:srgbClr val="000000"/>
                </a:solidFill>
                <a:latin typeface="Times New Roman" panose="02020603050405020304" pitchFamily="18" charset="0"/>
                <a:cs typeface="Times New Roman" panose="02020603050405020304" pitchFamily="18" charset="0"/>
              </a:rPr>
              <a:t>Score3</a:t>
            </a:r>
            <a:endParaRPr lang="en-US" altLang="zh-TW" b="1" dirty="0">
              <a:solidFill>
                <a:srgbClr val="000000"/>
              </a:solidFill>
              <a:latin typeface="Times New Roman" panose="02020603050405020304" pitchFamily="18" charset="0"/>
              <a:ea typeface="Menlo" panose="020B0609030804020204" pitchFamily="49" charset="0"/>
              <a:cs typeface="Times New Roman" panose="02020603050405020304" pitchFamily="18" charset="0"/>
            </a:endParaRPr>
          </a:p>
          <a:p>
            <a:pPr marL="285750" indent="-285750">
              <a:buFont typeface="Arial" panose="020B0604020202020204" pitchFamily="34" charset="0"/>
              <a:buChar char="•"/>
            </a:pPr>
            <a:r>
              <a:rPr lang="en-US" altLang="zh-TW" b="1" dirty="0">
                <a:solidFill>
                  <a:srgbClr val="FF0000"/>
                </a:solidFill>
                <a:latin typeface="Times New Roman" panose="02020603050405020304" pitchFamily="18" charset="0"/>
                <a:ea typeface="Menlo" panose="020B0609030804020204" pitchFamily="49" charset="0"/>
                <a:cs typeface="Times New Roman" panose="02020603050405020304" pitchFamily="18" charset="0"/>
              </a:rPr>
              <a:t>Score1 ⊙</a:t>
            </a:r>
            <a:r>
              <a:rPr lang="en-US" altLang="zh-TW" b="1" baseline="-25000" dirty="0">
                <a:solidFill>
                  <a:srgbClr val="FF0000"/>
                </a:solidFill>
                <a:latin typeface="Times New Roman" panose="02020603050405020304" pitchFamily="18" charset="0"/>
                <a:ea typeface="Menlo" panose="020B0609030804020204" pitchFamily="49" charset="0"/>
                <a:cs typeface="Times New Roman" panose="02020603050405020304" pitchFamily="18" charset="0"/>
              </a:rPr>
              <a:t>max</a:t>
            </a:r>
            <a:r>
              <a:rPr lang="en-US" altLang="zh-TW" b="1" dirty="0">
                <a:solidFill>
                  <a:srgbClr val="FF0000"/>
                </a:solidFill>
                <a:latin typeface="Times New Roman" panose="02020603050405020304" pitchFamily="18" charset="0"/>
                <a:ea typeface="Menlo" panose="020B0609030804020204" pitchFamily="49" charset="0"/>
                <a:cs typeface="Times New Roman" panose="02020603050405020304" pitchFamily="18" charset="0"/>
              </a:rPr>
              <a:t> Score2 = Score3</a:t>
            </a:r>
          </a:p>
          <a:p>
            <a:pPr marL="285750" indent="-285750">
              <a:buFont typeface="Arial" panose="020B0604020202020204" pitchFamily="34" charset="0"/>
              <a:buChar char="•"/>
            </a:pPr>
            <a:r>
              <a:rPr lang="en-US" altLang="zh-TW" b="1" dirty="0">
                <a:latin typeface="Times New Roman" panose="02020603050405020304" pitchFamily="18" charset="0"/>
                <a:ea typeface="Menlo" panose="020B0609030804020204" pitchFamily="49" charset="0"/>
                <a:cs typeface="Times New Roman" panose="02020603050405020304" pitchFamily="18" charset="0"/>
              </a:rPr>
              <a:t>Score1 ⊙</a:t>
            </a:r>
            <a:r>
              <a:rPr lang="en-US" altLang="zh-TW" b="1" baseline="-25000" dirty="0">
                <a:latin typeface="Times New Roman" panose="02020603050405020304" pitchFamily="18" charset="0"/>
                <a:ea typeface="Menlo" panose="020B0609030804020204" pitchFamily="49" charset="0"/>
                <a:cs typeface="Times New Roman" panose="02020603050405020304" pitchFamily="18" charset="0"/>
              </a:rPr>
              <a:t>max</a:t>
            </a:r>
            <a:r>
              <a:rPr lang="en-US" altLang="zh-TW" b="1" dirty="0">
                <a:latin typeface="Times New Roman" panose="02020603050405020304" pitchFamily="18" charset="0"/>
                <a:ea typeface="Menlo" panose="020B0609030804020204" pitchFamily="49" charset="0"/>
                <a:cs typeface="Times New Roman" panose="02020603050405020304" pitchFamily="18" charset="0"/>
              </a:rPr>
              <a:t> Score2</a:t>
            </a:r>
          </a:p>
          <a:p>
            <a:pPr marL="285750" indent="-285750">
              <a:buFont typeface="Arial" panose="020B0604020202020204" pitchFamily="34" charset="0"/>
              <a:buChar char="•"/>
            </a:pPr>
            <a:r>
              <a:rPr lang="en-US" altLang="zh-TW" b="1" dirty="0">
                <a:latin typeface="Times New Roman" panose="02020603050405020304" pitchFamily="18" charset="0"/>
                <a:ea typeface="Menlo" panose="020B0609030804020204" pitchFamily="49" charset="0"/>
                <a:cs typeface="Times New Roman" panose="02020603050405020304" pitchFamily="18" charset="0"/>
              </a:rPr>
              <a:t>max(S1[</a:t>
            </a:r>
            <a:r>
              <a:rPr lang="en-US" altLang="zh-TW" b="1" dirty="0" err="1">
                <a:latin typeface="Times New Roman" panose="02020603050405020304" pitchFamily="18" charset="0"/>
                <a:ea typeface="Menlo" panose="020B0609030804020204" pitchFamily="49" charset="0"/>
                <a:cs typeface="Times New Roman" panose="02020603050405020304" pitchFamily="18" charset="0"/>
              </a:rPr>
              <a:t>i</a:t>
            </a:r>
            <a:r>
              <a:rPr lang="en-US" altLang="zh-TW" b="1" dirty="0">
                <a:latin typeface="Times New Roman" panose="02020603050405020304" pitchFamily="18" charset="0"/>
                <a:ea typeface="Menlo" panose="020B0609030804020204" pitchFamily="49" charset="0"/>
                <a:cs typeface="Times New Roman" panose="02020603050405020304" pitchFamily="18" charset="0"/>
              </a:rPr>
              <a:t>, j] + S2[</a:t>
            </a:r>
            <a:r>
              <a:rPr lang="en-US" altLang="zh-TW" b="1" dirty="0" err="1">
                <a:latin typeface="Times New Roman" panose="02020603050405020304" pitchFamily="18" charset="0"/>
                <a:ea typeface="Menlo" panose="020B0609030804020204" pitchFamily="49" charset="0"/>
                <a:cs typeface="Times New Roman" panose="02020603050405020304" pitchFamily="18" charset="0"/>
              </a:rPr>
              <a:t>j,k</a:t>
            </a:r>
            <a:r>
              <a:rPr lang="en-US" altLang="zh-TW" b="1" dirty="0">
                <a:latin typeface="Times New Roman" panose="02020603050405020304" pitchFamily="18" charset="0"/>
                <a:ea typeface="Menlo" panose="020B0609030804020204" pitchFamily="49" charset="0"/>
                <a:cs typeface="Times New Roman" panose="02020603050405020304" pitchFamily="18" charset="0"/>
              </a:rPr>
              <a:t>]) = max(</a:t>
            </a:r>
            <a:r>
              <a:rPr lang="en-US" altLang="zh-TW" b="1" dirty="0">
                <a:solidFill>
                  <a:srgbClr val="FF0000"/>
                </a:solidFill>
                <a:latin typeface="Times New Roman" panose="02020603050405020304" pitchFamily="18" charset="0"/>
                <a:ea typeface="Menlo" panose="020B0609030804020204" pitchFamily="49" charset="0"/>
                <a:cs typeface="Times New Roman" panose="02020603050405020304" pitchFamily="18" charset="0"/>
              </a:rPr>
              <a:t>B[</a:t>
            </a:r>
            <a:r>
              <a:rPr lang="en-US" altLang="zh-TW" b="1" dirty="0" err="1">
                <a:solidFill>
                  <a:srgbClr val="FF0000"/>
                </a:solidFill>
                <a:latin typeface="Times New Roman" panose="02020603050405020304" pitchFamily="18" charset="0"/>
                <a:ea typeface="Menlo" panose="020B0609030804020204" pitchFamily="49" charset="0"/>
                <a:cs typeface="Times New Roman" panose="02020603050405020304" pitchFamily="18" charset="0"/>
              </a:rPr>
              <a:t>i</a:t>
            </a:r>
            <a:r>
              <a:rPr lang="en-US" altLang="zh-TW" b="1" dirty="0">
                <a:solidFill>
                  <a:srgbClr val="FF0000"/>
                </a:solidFill>
                <a:latin typeface="Times New Roman" panose="02020603050405020304" pitchFamily="18" charset="0"/>
                <a:ea typeface="Menlo" panose="020B0609030804020204" pitchFamily="49" charset="0"/>
                <a:cs typeface="Times New Roman" panose="02020603050405020304" pitchFamily="18" charset="0"/>
              </a:rPr>
              <a:t>..j]+B[</a:t>
            </a:r>
            <a:r>
              <a:rPr lang="en-US" altLang="zh-TW" b="1" dirty="0" err="1">
                <a:solidFill>
                  <a:srgbClr val="FF0000"/>
                </a:solidFill>
                <a:latin typeface="Times New Roman" panose="02020603050405020304" pitchFamily="18" charset="0"/>
                <a:ea typeface="Menlo" panose="020B0609030804020204" pitchFamily="49" charset="0"/>
                <a:cs typeface="Times New Roman" panose="02020603050405020304" pitchFamily="18" charset="0"/>
              </a:rPr>
              <a:t>j..k</a:t>
            </a:r>
            <a:r>
              <a:rPr lang="en-US" altLang="zh-TW" b="1" dirty="0">
                <a:solidFill>
                  <a:srgbClr val="FF0000"/>
                </a:solidFill>
                <a:latin typeface="Times New Roman" panose="02020603050405020304" pitchFamily="18" charset="0"/>
                <a:ea typeface="Menlo" panose="020B0609030804020204" pitchFamily="49" charset="0"/>
                <a:cs typeface="Times New Roman" panose="02020603050405020304" pitchFamily="18" charset="0"/>
              </a:rPr>
              <a:t>]</a:t>
            </a:r>
            <a:r>
              <a:rPr lang="en-US" altLang="zh-TW" b="1" dirty="0">
                <a:latin typeface="Times New Roman" panose="02020603050405020304" pitchFamily="18" charset="0"/>
                <a:ea typeface="Menlo" panose="020B0609030804020204" pitchFamily="49" charset="0"/>
                <a:cs typeface="Times New Roman" panose="02020603050405020304" pitchFamily="18" charset="0"/>
              </a:rPr>
              <a:t>)</a:t>
            </a:r>
          </a:p>
        </p:txBody>
      </p:sp>
    </p:spTree>
    <p:extLst>
      <p:ext uri="{BB962C8B-B14F-4D97-AF65-F5344CB8AC3E}">
        <p14:creationId xmlns:p14="http://schemas.microsoft.com/office/powerpoint/2010/main" val="1855848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11</a:t>
            </a:fld>
            <a:endParaRPr kumimoji="1" lang="zh-TW" altLang="en-US"/>
          </a:p>
        </p:txBody>
      </p:sp>
      <p:sp>
        <p:nvSpPr>
          <p:cNvPr id="4" name="矩形 3">
            <a:extLst>
              <a:ext uri="{FF2B5EF4-FFF2-40B4-BE49-F238E27FC236}">
                <a16:creationId xmlns:a16="http://schemas.microsoft.com/office/drawing/2014/main" id="{BE809E3E-CA6F-3774-A8C5-1D0ECF745D04}"/>
              </a:ext>
            </a:extLst>
          </p:cNvPr>
          <p:cNvSpPr/>
          <p:nvPr/>
        </p:nvSpPr>
        <p:spPr>
          <a:xfrm>
            <a:off x="8232351" y="3624820"/>
            <a:ext cx="3678716" cy="2708434"/>
          </a:xfrm>
          <a:prstGeom prst="rect">
            <a:avLst/>
          </a:prstGeom>
        </p:spPr>
        <p:txBody>
          <a:bodyPr wrap="square">
            <a:spAutoFit/>
          </a:bodyPr>
          <a:lstStyle/>
          <a:p>
            <a:r>
              <a:rPr lang="en-US" altLang="zh-TW" sz="1000" b="1" dirty="0">
                <a:solidFill>
                  <a:srgbClr val="000000"/>
                </a:solidFill>
                <a:latin typeface="Menlo" panose="020B0609030804020204" pitchFamily="49" charset="0"/>
              </a:rPr>
              <a:t>A : </a:t>
            </a:r>
            <a:r>
              <a:rPr lang="en-US" altLang="zh-TW" sz="1000" b="1" dirty="0" err="1">
                <a:solidFill>
                  <a:srgbClr val="000000"/>
                </a:solidFill>
                <a:latin typeface="Menlo" panose="020B0609030804020204" pitchFamily="49" charset="0"/>
              </a:rPr>
              <a:t>baabcbca</a:t>
            </a:r>
            <a:r>
              <a:rPr lang="en-US" altLang="zh-TW" sz="1000" b="1" dirty="0">
                <a:solidFill>
                  <a:srgbClr val="000000"/>
                </a:solidFill>
                <a:latin typeface="Menlo" panose="020B0609030804020204" pitchFamily="49" charset="0"/>
              </a:rPr>
              <a:t>, B : </a:t>
            </a:r>
            <a:r>
              <a:rPr lang="en-US" altLang="zh-TW" sz="1000" b="1" dirty="0" err="1">
                <a:solidFill>
                  <a:srgbClr val="000000"/>
                </a:solidFill>
                <a:latin typeface="Menlo" panose="020B0609030804020204" pitchFamily="49" charset="0"/>
              </a:rPr>
              <a:t>baabcabcabaca</a:t>
            </a:r>
            <a:endParaRPr lang="en-US" altLang="zh-TW" sz="1000" b="1"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Density3 :</a:t>
            </a:r>
          </a:p>
          <a:p>
            <a:r>
              <a:rPr lang="en-US" altLang="zh-TW" sz="1000" b="1" dirty="0" err="1">
                <a:solidFill>
                  <a:srgbClr val="000000"/>
                </a:solidFill>
                <a:latin typeface="Menlo" panose="020B0609030804020204" pitchFamily="49" charset="0"/>
              </a:rPr>
              <a:t>i</a:t>
            </a:r>
            <a:r>
              <a:rPr lang="en-US" altLang="zh-TW" sz="1000" b="1" dirty="0">
                <a:solidFill>
                  <a:srgbClr val="000000"/>
                </a:solidFill>
                <a:latin typeface="Menlo" panose="020B0609030804020204" pitchFamily="49" charset="0"/>
              </a:rPr>
              <a:t>\k 0  1  2  3  4  5  6  7  8  9 10 11 12 13 </a:t>
            </a:r>
          </a:p>
          <a:p>
            <a:r>
              <a:rPr lang="en-US" altLang="zh-TW" sz="1000" b="1" dirty="0">
                <a:solidFill>
                  <a:srgbClr val="000000"/>
                </a:solidFill>
                <a:latin typeface="Menlo" panose="020B0609030804020204" pitchFamily="49" charset="0"/>
              </a:rPr>
              <a:t> 0  0  0  0  0  0  0  0  0  0  0  0  0  0  0 </a:t>
            </a:r>
          </a:p>
          <a:p>
            <a:r>
              <a:rPr lang="en-US" altLang="zh-TW" sz="1000" b="1" dirty="0">
                <a:solidFill>
                  <a:srgbClr val="000000"/>
                </a:solidFill>
                <a:latin typeface="Menlo" panose="020B0609030804020204" pitchFamily="49" charset="0"/>
              </a:rPr>
              <a:t> 1  0  0  0  0  0  0  0  0  0  0  0  0  0  0 </a:t>
            </a:r>
          </a:p>
          <a:p>
            <a:r>
              <a:rPr lang="en-US" altLang="zh-TW" sz="1000" b="1" dirty="0">
                <a:solidFill>
                  <a:srgbClr val="000000"/>
                </a:solidFill>
                <a:latin typeface="Menlo" panose="020B0609030804020204" pitchFamily="49" charset="0"/>
              </a:rPr>
              <a:t> 2  0  0  0  0  0  0  0  0  0  0  0  0  0  1 </a:t>
            </a:r>
          </a:p>
          <a:p>
            <a:r>
              <a:rPr lang="en-US" altLang="zh-TW" sz="1000" b="1" dirty="0">
                <a:solidFill>
                  <a:srgbClr val="000000"/>
                </a:solidFill>
                <a:latin typeface="Menlo" panose="020B0609030804020204" pitchFamily="49" charset="0"/>
              </a:rPr>
              <a:t> 3  0  0  0  0  0  0  0  0  0  0  0  1  0  0 </a:t>
            </a:r>
          </a:p>
          <a:p>
            <a:r>
              <a:rPr lang="en-US" altLang="zh-TW" sz="1000" b="1" dirty="0">
                <a:solidFill>
                  <a:srgbClr val="000000"/>
                </a:solidFill>
                <a:latin typeface="Menlo" panose="020B0609030804020204" pitchFamily="49" charset="0"/>
              </a:rPr>
              <a:t> 4  0  0  0  0  0  0  0  0  0  0  0  0  0  0 </a:t>
            </a:r>
          </a:p>
          <a:p>
            <a:r>
              <a:rPr lang="en-US" altLang="zh-TW" sz="1000" b="1" dirty="0">
                <a:solidFill>
                  <a:srgbClr val="000000"/>
                </a:solidFill>
                <a:latin typeface="Menlo" panose="020B0609030804020204" pitchFamily="49" charset="0"/>
              </a:rPr>
              <a:t> 5  0  0  0  0  0  0  0  1  0  0  0  0  0  0 </a:t>
            </a:r>
          </a:p>
          <a:p>
            <a:r>
              <a:rPr lang="en-US" altLang="zh-TW" sz="1000" b="1" dirty="0">
                <a:solidFill>
                  <a:srgbClr val="000000"/>
                </a:solidFill>
                <a:latin typeface="Menlo" panose="020B0609030804020204" pitchFamily="49" charset="0"/>
              </a:rPr>
              <a:t> 6  0  0  0  0  0  0  0  0  0  0  0  0  0  0 </a:t>
            </a:r>
          </a:p>
          <a:p>
            <a:r>
              <a:rPr lang="en-US" altLang="zh-TW" sz="1000" b="1" dirty="0">
                <a:solidFill>
                  <a:srgbClr val="000000"/>
                </a:solidFill>
                <a:latin typeface="Menlo" panose="020B0609030804020204" pitchFamily="49" charset="0"/>
              </a:rPr>
              <a:t> 7  0  0  0  0  0  0  0  0  0  0  0  0  0  0 </a:t>
            </a:r>
          </a:p>
          <a:p>
            <a:r>
              <a:rPr lang="en-US" altLang="zh-TW" sz="1000" b="1" dirty="0">
                <a:solidFill>
                  <a:srgbClr val="000000"/>
                </a:solidFill>
                <a:latin typeface="Menlo" panose="020B0609030804020204" pitchFamily="49" charset="0"/>
              </a:rPr>
              <a:t> 8  0  0  0  0  0  0  0  0  0  0  1  0  0  0 </a:t>
            </a:r>
          </a:p>
          <a:p>
            <a:r>
              <a:rPr lang="en-US" altLang="zh-TW" sz="1000" b="1" dirty="0">
                <a:solidFill>
                  <a:srgbClr val="000000"/>
                </a:solidFill>
                <a:latin typeface="Menlo" panose="020B0609030804020204" pitchFamily="49" charset="0"/>
              </a:rPr>
              <a:t> 9  0  0  0  0  0  0  0  0  0  0  0  0  1  0 </a:t>
            </a:r>
          </a:p>
          <a:p>
            <a:r>
              <a:rPr lang="en-US" altLang="zh-TW" sz="1000" b="1" dirty="0">
                <a:solidFill>
                  <a:srgbClr val="000000"/>
                </a:solidFill>
                <a:latin typeface="Menlo" panose="020B0609030804020204" pitchFamily="49" charset="0"/>
              </a:rPr>
              <a:t>10  0  0  0  0  0  0  0  0  0  0  0  0  0  0 </a:t>
            </a:r>
          </a:p>
          <a:p>
            <a:r>
              <a:rPr lang="en-US" altLang="zh-TW" sz="1000" b="1" dirty="0">
                <a:solidFill>
                  <a:srgbClr val="000000"/>
                </a:solidFill>
                <a:latin typeface="Menlo" panose="020B0609030804020204" pitchFamily="49" charset="0"/>
              </a:rPr>
              <a:t>11  0  0  0  0  0  0  0  0  0  0  0  0  0  0 </a:t>
            </a:r>
          </a:p>
          <a:p>
            <a:r>
              <a:rPr lang="en-US" altLang="zh-TW" sz="1000" b="1" dirty="0">
                <a:solidFill>
                  <a:srgbClr val="000000"/>
                </a:solidFill>
                <a:latin typeface="Menlo" panose="020B0609030804020204" pitchFamily="49" charset="0"/>
              </a:rPr>
              <a:t>12  0  0  0  0  0  0  0  0  0  0  0  0  0  0 </a:t>
            </a:r>
          </a:p>
          <a:p>
            <a:r>
              <a:rPr lang="en-US" altLang="zh-TW" sz="1000" b="1" dirty="0">
                <a:solidFill>
                  <a:srgbClr val="000000"/>
                </a:solidFill>
                <a:latin typeface="Menlo" panose="020B0609030804020204" pitchFamily="49" charset="0"/>
              </a:rPr>
              <a:t>13  0  0  0  0  0  0  0  0  0  0  0  0  0  0</a:t>
            </a:r>
            <a:endParaRPr lang="zh-TW" altLang="en-US" sz="1000" dirty="0">
              <a:solidFill>
                <a:srgbClr val="000000"/>
              </a:solidFill>
              <a:effectLst/>
              <a:latin typeface="Menlo" panose="020B0609030804020204" pitchFamily="49" charset="0"/>
            </a:endParaRPr>
          </a:p>
        </p:txBody>
      </p:sp>
      <p:sp>
        <p:nvSpPr>
          <p:cNvPr id="5" name="矩形 4">
            <a:extLst>
              <a:ext uri="{FF2B5EF4-FFF2-40B4-BE49-F238E27FC236}">
                <a16:creationId xmlns:a16="http://schemas.microsoft.com/office/drawing/2014/main" id="{907B3915-64BE-45D3-92BE-70BCF17821E2}"/>
              </a:ext>
            </a:extLst>
          </p:cNvPr>
          <p:cNvSpPr/>
          <p:nvPr/>
        </p:nvSpPr>
        <p:spPr>
          <a:xfrm>
            <a:off x="4361291" y="3778709"/>
            <a:ext cx="3678716" cy="2554545"/>
          </a:xfrm>
          <a:prstGeom prst="rect">
            <a:avLst/>
          </a:prstGeom>
        </p:spPr>
        <p:txBody>
          <a:bodyPr wrap="square">
            <a:spAutoFit/>
          </a:bodyPr>
          <a:lstStyle/>
          <a:p>
            <a:r>
              <a:rPr lang="en-US" altLang="zh-TW" sz="1000" b="1" dirty="0">
                <a:solidFill>
                  <a:srgbClr val="000000"/>
                </a:solidFill>
                <a:latin typeface="Menlo" panose="020B0609030804020204" pitchFamily="49" charset="0"/>
              </a:rPr>
              <a:t>Density1</a:t>
            </a:r>
            <a:r>
              <a:rPr lang="en-US" altLang="zh-TW" sz="1000" b="1" dirty="0">
                <a:latin typeface="Menlo" panose="020B0609030804020204" pitchFamily="49" charset="0"/>
                <a:ea typeface="Menlo" panose="020B0609030804020204" pitchFamily="49" charset="0"/>
                <a:cs typeface="Menlo" panose="020B0609030804020204" pitchFamily="49" charset="0"/>
              </a:rPr>
              <a:t> ⊙</a:t>
            </a:r>
            <a:r>
              <a:rPr lang="en-US" altLang="zh-TW" sz="1000" b="1" baseline="-25000" dirty="0">
                <a:latin typeface="Menlo" panose="020B0609030804020204" pitchFamily="49" charset="0"/>
                <a:ea typeface="Menlo" panose="020B0609030804020204" pitchFamily="49" charset="0"/>
                <a:cs typeface="Menlo" panose="020B0609030804020204" pitchFamily="49" charset="0"/>
              </a:rPr>
              <a:t>max</a:t>
            </a:r>
            <a:r>
              <a:rPr lang="en-US" altLang="zh-TW" sz="1000" b="1" dirty="0">
                <a:latin typeface="Menlo" panose="020B0609030804020204" pitchFamily="49" charset="0"/>
                <a:ea typeface="Menlo" panose="020B0609030804020204" pitchFamily="49" charset="0"/>
                <a:cs typeface="Menlo" panose="020B0609030804020204" pitchFamily="49" charset="0"/>
              </a:rPr>
              <a:t> </a:t>
            </a:r>
            <a:r>
              <a:rPr lang="en-US" altLang="zh-TW" sz="1000" b="1" dirty="0">
                <a:solidFill>
                  <a:srgbClr val="000000"/>
                </a:solidFill>
                <a:latin typeface="Menlo" panose="020B0609030804020204" pitchFamily="49" charset="0"/>
              </a:rPr>
              <a:t>Density2</a:t>
            </a:r>
            <a:r>
              <a:rPr lang="en-US" altLang="zh-TW" sz="1000" b="1" dirty="0">
                <a:latin typeface="Menlo" panose="020B0609030804020204" pitchFamily="49" charset="0"/>
                <a:ea typeface="Menlo" panose="020B0609030804020204" pitchFamily="49" charset="0"/>
                <a:cs typeface="Menlo" panose="020B0609030804020204" pitchFamily="49" charset="0"/>
              </a:rPr>
              <a:t> ≠ </a:t>
            </a:r>
            <a:r>
              <a:rPr lang="en-US" altLang="zh-TW" sz="1000" b="1" dirty="0">
                <a:solidFill>
                  <a:srgbClr val="000000"/>
                </a:solidFill>
                <a:latin typeface="Menlo" panose="020B0609030804020204" pitchFamily="49" charset="0"/>
              </a:rPr>
              <a:t>Density3 </a:t>
            </a:r>
            <a:r>
              <a:rPr lang="en-US" altLang="zh-TW" sz="1000" b="1" dirty="0">
                <a:latin typeface="Menlo" panose="020B0609030804020204" pitchFamily="49" charset="0"/>
                <a:ea typeface="Menlo" panose="020B0609030804020204" pitchFamily="49" charset="0"/>
                <a:cs typeface="Menlo" panose="020B0609030804020204" pitchFamily="49" charset="0"/>
              </a:rPr>
              <a:t>:</a:t>
            </a:r>
            <a:endParaRPr lang="en-US" altLang="zh-TW" sz="1000" b="1" dirty="0">
              <a:latin typeface="Menlo" panose="020B0609030804020204" pitchFamily="49" charset="0"/>
            </a:endParaRPr>
          </a:p>
          <a:p>
            <a:r>
              <a:rPr lang="en-US" altLang="zh-TW" sz="1000" b="1" dirty="0" err="1">
                <a:solidFill>
                  <a:srgbClr val="000000"/>
                </a:solidFill>
                <a:latin typeface="Menlo" panose="020B0609030804020204" pitchFamily="49" charset="0"/>
              </a:rPr>
              <a:t>i</a:t>
            </a:r>
            <a:r>
              <a:rPr lang="en-US" altLang="zh-TW" sz="1000" b="1" dirty="0">
                <a:solidFill>
                  <a:srgbClr val="000000"/>
                </a:solidFill>
                <a:latin typeface="Menlo" panose="020B0609030804020204" pitchFamily="49" charset="0"/>
              </a:rPr>
              <a:t>\k 0  1  2  3  4  5  6  7  8  9 10 11 12 13 </a:t>
            </a:r>
          </a:p>
          <a:p>
            <a:r>
              <a:rPr lang="en-US" altLang="zh-TW" sz="1000" b="1" dirty="0">
                <a:solidFill>
                  <a:srgbClr val="000000"/>
                </a:solidFill>
                <a:latin typeface="Menlo" panose="020B0609030804020204" pitchFamily="49" charset="0"/>
              </a:rPr>
              <a:t> 0  0  0  0  1  1  1  0  1  1  0  1  1  1  1 </a:t>
            </a:r>
          </a:p>
          <a:p>
            <a:r>
              <a:rPr lang="en-US" altLang="zh-TW" sz="1000" b="1" dirty="0">
                <a:solidFill>
                  <a:srgbClr val="000000"/>
                </a:solidFill>
                <a:latin typeface="Menlo" panose="020B0609030804020204" pitchFamily="49" charset="0"/>
              </a:rPr>
              <a:t> 1  0  0  0  1  1  1  0  1  1  0  1  1  1  1 </a:t>
            </a:r>
          </a:p>
          <a:p>
            <a:r>
              <a:rPr lang="en-US" altLang="zh-TW" sz="1000" b="1" dirty="0">
                <a:solidFill>
                  <a:srgbClr val="000000"/>
                </a:solidFill>
                <a:latin typeface="Menlo" panose="020B0609030804020204" pitchFamily="49" charset="0"/>
              </a:rPr>
              <a:t> 2  0  0  0  1  1  0  0  1  1  1  1  2  1  1 </a:t>
            </a:r>
          </a:p>
          <a:p>
            <a:r>
              <a:rPr lang="en-US" altLang="zh-TW" sz="1000" b="1" dirty="0">
                <a:solidFill>
                  <a:srgbClr val="000000"/>
                </a:solidFill>
                <a:latin typeface="Menlo" panose="020B0609030804020204" pitchFamily="49" charset="0"/>
              </a:rPr>
              <a:t> 3  0  0  0  0  1  0  1  2  1  1  1  1  1  1 </a:t>
            </a:r>
          </a:p>
          <a:p>
            <a:r>
              <a:rPr lang="en-US" altLang="zh-TW" sz="1000" b="1" dirty="0">
                <a:solidFill>
                  <a:srgbClr val="000000"/>
                </a:solidFill>
                <a:latin typeface="Menlo" panose="020B0609030804020204" pitchFamily="49" charset="0"/>
              </a:rPr>
              <a:t> 4  0  0  0  0  0  0  0  1  1  0  1  1  1  1 </a:t>
            </a:r>
          </a:p>
          <a:p>
            <a:r>
              <a:rPr lang="en-US" altLang="zh-TW" sz="1000" b="1" dirty="0">
                <a:solidFill>
                  <a:srgbClr val="000000"/>
                </a:solidFill>
                <a:latin typeface="Menlo" panose="020B0609030804020204" pitchFamily="49" charset="0"/>
              </a:rPr>
              <a:t> 5  0  0  0  0  0  0  0  1  0  0  1  1  1  1 </a:t>
            </a:r>
          </a:p>
          <a:p>
            <a:r>
              <a:rPr lang="en-US" altLang="zh-TW" sz="1000" b="1" dirty="0">
                <a:solidFill>
                  <a:srgbClr val="000000"/>
                </a:solidFill>
                <a:latin typeface="Menlo" panose="020B0609030804020204" pitchFamily="49" charset="0"/>
              </a:rPr>
              <a:t> 6  0  0  0  0  0  0  0  1  0  1  2  1  1  1 </a:t>
            </a:r>
          </a:p>
          <a:p>
            <a:r>
              <a:rPr lang="en-US" altLang="zh-TW" sz="1000" b="1" dirty="0">
                <a:solidFill>
                  <a:srgbClr val="000000"/>
                </a:solidFill>
                <a:latin typeface="Menlo" panose="020B0609030804020204" pitchFamily="49" charset="0"/>
              </a:rPr>
              <a:t> 7  0  0  0  0  0  0  0  0  0  0  1  1  1  1 </a:t>
            </a:r>
          </a:p>
          <a:p>
            <a:r>
              <a:rPr lang="en-US" altLang="zh-TW" sz="1000" b="1" dirty="0">
                <a:solidFill>
                  <a:srgbClr val="000000"/>
                </a:solidFill>
                <a:latin typeface="Menlo" panose="020B0609030804020204" pitchFamily="49" charset="0"/>
              </a:rPr>
              <a:t> 8  0  0  0  0  0  0  0  0  0  0  1  0  1  0 </a:t>
            </a:r>
          </a:p>
          <a:p>
            <a:r>
              <a:rPr lang="en-US" altLang="zh-TW" sz="1000" b="1" dirty="0">
                <a:solidFill>
                  <a:srgbClr val="000000"/>
                </a:solidFill>
                <a:latin typeface="Menlo" panose="020B0609030804020204" pitchFamily="49" charset="0"/>
              </a:rPr>
              <a:t> 9  0  0  0  0  0  0  0  0  0  0  1  1  2  1 </a:t>
            </a:r>
          </a:p>
          <a:p>
            <a:r>
              <a:rPr lang="en-US" altLang="zh-TW" sz="1000" b="1" dirty="0">
                <a:solidFill>
                  <a:srgbClr val="000000"/>
                </a:solidFill>
                <a:latin typeface="Menlo" panose="020B0609030804020204" pitchFamily="49" charset="0"/>
              </a:rPr>
              <a:t>10  0  0  0  0  0  0  0  0  0  0  0  0  1  0 </a:t>
            </a:r>
          </a:p>
          <a:p>
            <a:r>
              <a:rPr lang="en-US" altLang="zh-TW" sz="1000" b="1" dirty="0">
                <a:solidFill>
                  <a:srgbClr val="000000"/>
                </a:solidFill>
                <a:latin typeface="Menlo" panose="020B0609030804020204" pitchFamily="49" charset="0"/>
              </a:rPr>
              <a:t>11  0  0  0  0  0  0  0  0  0  0  0  0  1  0 </a:t>
            </a:r>
          </a:p>
          <a:p>
            <a:r>
              <a:rPr lang="en-US" altLang="zh-TW" sz="1000" b="1" dirty="0">
                <a:solidFill>
                  <a:srgbClr val="000000"/>
                </a:solidFill>
                <a:latin typeface="Menlo" panose="020B0609030804020204" pitchFamily="49" charset="0"/>
              </a:rPr>
              <a:t>12  0  0  0  0  0  0  0  0  0  0  0  0  0  0 </a:t>
            </a:r>
          </a:p>
          <a:p>
            <a:r>
              <a:rPr lang="en-US" altLang="zh-TW" sz="1000" b="1" dirty="0">
                <a:solidFill>
                  <a:srgbClr val="000000"/>
                </a:solidFill>
                <a:latin typeface="Menlo" panose="020B0609030804020204" pitchFamily="49" charset="0"/>
              </a:rPr>
              <a:t>13  0  0  0  0  0  0  0  0  0  0  0  0  0  0</a:t>
            </a:r>
            <a:endParaRPr lang="en-US" altLang="zh-TW" sz="1000" dirty="0">
              <a:solidFill>
                <a:srgbClr val="000000"/>
              </a:solidFill>
              <a:effectLst/>
              <a:latin typeface="Menlo" panose="020B0609030804020204" pitchFamily="49" charset="0"/>
            </a:endParaRPr>
          </a:p>
        </p:txBody>
      </p:sp>
      <p:sp>
        <p:nvSpPr>
          <p:cNvPr id="7" name="矩形 6">
            <a:extLst>
              <a:ext uri="{FF2B5EF4-FFF2-40B4-BE49-F238E27FC236}">
                <a16:creationId xmlns:a16="http://schemas.microsoft.com/office/drawing/2014/main" id="{D1F57F8D-7518-EEE7-1E15-E45FEE8419BB}"/>
              </a:ext>
            </a:extLst>
          </p:cNvPr>
          <p:cNvSpPr/>
          <p:nvPr/>
        </p:nvSpPr>
        <p:spPr>
          <a:xfrm>
            <a:off x="8340671" y="627393"/>
            <a:ext cx="2612833" cy="646331"/>
          </a:xfrm>
          <a:prstGeom prst="rect">
            <a:avLst/>
          </a:prstGeom>
        </p:spPr>
        <p:txBody>
          <a:bodyPr wrap="square">
            <a:spAutoFit/>
          </a:bodyPr>
          <a:lstStyle/>
          <a:p>
            <a:r>
              <a:rPr lang="en-US" altLang="zh-TW" b="1" dirty="0">
                <a:solidFill>
                  <a:srgbClr val="000000"/>
                </a:solidFill>
                <a:latin typeface="Menlo" panose="020B0609030804020204" pitchFamily="49" charset="0"/>
              </a:rPr>
              <a:t>A : </a:t>
            </a:r>
            <a:r>
              <a:rPr lang="en-US" altLang="zh-TW" b="1" dirty="0" err="1">
                <a:solidFill>
                  <a:srgbClr val="000000"/>
                </a:solidFill>
                <a:latin typeface="Menlo" panose="020B0609030804020204" pitchFamily="49" charset="0"/>
              </a:rPr>
              <a:t>baabcbca</a:t>
            </a:r>
            <a:endParaRPr lang="en-US" altLang="zh-TW" dirty="0">
              <a:solidFill>
                <a:srgbClr val="000000"/>
              </a:solidFill>
              <a:latin typeface="Menlo" panose="020B0609030804020204" pitchFamily="49" charset="0"/>
            </a:endParaRPr>
          </a:p>
          <a:p>
            <a:r>
              <a:rPr lang="en-US" altLang="zh-TW" b="1" dirty="0">
                <a:solidFill>
                  <a:srgbClr val="000000"/>
                </a:solidFill>
                <a:latin typeface="Menlo" panose="020B0609030804020204" pitchFamily="49" charset="0"/>
              </a:rPr>
              <a:t>B : </a:t>
            </a:r>
            <a:r>
              <a:rPr lang="en-US" altLang="zh-TW" b="1" dirty="0" err="1">
                <a:solidFill>
                  <a:srgbClr val="000000"/>
                </a:solidFill>
                <a:latin typeface="Menlo" panose="020B0609030804020204" pitchFamily="49" charset="0"/>
              </a:rPr>
              <a:t>baabcabcabaca</a:t>
            </a:r>
            <a:endParaRPr lang="en-US" altLang="zh-TW" dirty="0">
              <a:solidFill>
                <a:srgbClr val="000000"/>
              </a:solidFill>
              <a:latin typeface="Menlo" panose="020B0609030804020204" pitchFamily="49" charset="0"/>
            </a:endParaRPr>
          </a:p>
        </p:txBody>
      </p:sp>
      <p:sp>
        <p:nvSpPr>
          <p:cNvPr id="12" name="矩形 11">
            <a:extLst>
              <a:ext uri="{FF2B5EF4-FFF2-40B4-BE49-F238E27FC236}">
                <a16:creationId xmlns:a16="http://schemas.microsoft.com/office/drawing/2014/main" id="{247A23F7-EA30-CE2D-3058-0E3518EE31A8}"/>
              </a:ext>
            </a:extLst>
          </p:cNvPr>
          <p:cNvSpPr/>
          <p:nvPr/>
        </p:nvSpPr>
        <p:spPr>
          <a:xfrm>
            <a:off x="381911" y="627393"/>
            <a:ext cx="3780617" cy="2708434"/>
          </a:xfrm>
          <a:prstGeom prst="rect">
            <a:avLst/>
          </a:prstGeom>
        </p:spPr>
        <p:txBody>
          <a:bodyPr wrap="square">
            <a:spAutoFit/>
          </a:bodyPr>
          <a:lstStyle/>
          <a:p>
            <a:r>
              <a:rPr lang="en-US" altLang="zh-TW" sz="1000" b="1" dirty="0">
                <a:solidFill>
                  <a:srgbClr val="000000"/>
                </a:solidFill>
                <a:latin typeface="Menlo" panose="020B0609030804020204" pitchFamily="49" charset="0"/>
              </a:rPr>
              <a:t>A : </a:t>
            </a:r>
            <a:r>
              <a:rPr lang="en-US" altLang="zh-TW" sz="1000" b="1" dirty="0" err="1">
                <a:solidFill>
                  <a:srgbClr val="000000"/>
                </a:solidFill>
                <a:latin typeface="Menlo" panose="020B0609030804020204" pitchFamily="49" charset="0"/>
              </a:rPr>
              <a:t>baab</a:t>
            </a:r>
            <a:r>
              <a:rPr lang="en-US" altLang="zh-TW" sz="1000" b="1" dirty="0">
                <a:solidFill>
                  <a:srgbClr val="000000"/>
                </a:solidFill>
                <a:latin typeface="Menlo" panose="020B0609030804020204" pitchFamily="49" charset="0"/>
              </a:rPr>
              <a:t>, B : </a:t>
            </a:r>
            <a:r>
              <a:rPr lang="en-US" altLang="zh-TW" sz="1000" b="1" dirty="0" err="1">
                <a:solidFill>
                  <a:srgbClr val="000000"/>
                </a:solidFill>
                <a:latin typeface="Menlo" panose="020B0609030804020204" pitchFamily="49" charset="0"/>
              </a:rPr>
              <a:t>baabcabcabaca</a:t>
            </a:r>
            <a:endParaRPr lang="en-US" altLang="zh-TW" sz="1000" b="1"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Density1 :</a:t>
            </a:r>
            <a:endParaRPr lang="en-US" altLang="zh-TW" sz="1000" dirty="0">
              <a:solidFill>
                <a:srgbClr val="000000"/>
              </a:solidFill>
              <a:latin typeface="Menlo" panose="020B0609030804020204" pitchFamily="49" charset="0"/>
            </a:endParaRPr>
          </a:p>
          <a:p>
            <a:r>
              <a:rPr lang="en-US" altLang="zh-TW" sz="1000" b="1" dirty="0" err="1">
                <a:solidFill>
                  <a:srgbClr val="000000"/>
                </a:solidFill>
                <a:latin typeface="Menlo" panose="020B0609030804020204" pitchFamily="49" charset="0"/>
              </a:rPr>
              <a:t>i</a:t>
            </a:r>
            <a:r>
              <a:rPr lang="en-US" altLang="zh-TW" sz="1000" b="1" dirty="0">
                <a:solidFill>
                  <a:srgbClr val="000000"/>
                </a:solidFill>
                <a:latin typeface="Menlo" panose="020B0609030804020204" pitchFamily="49" charset="0"/>
              </a:rPr>
              <a:t>\j 0  1  2  3  4  5  6  7  8  9 10 11 12 13 </a:t>
            </a:r>
          </a:p>
          <a:p>
            <a:r>
              <a:rPr lang="en-US" altLang="zh-TW" sz="1000" b="1" dirty="0">
                <a:solidFill>
                  <a:srgbClr val="000000"/>
                </a:solidFill>
                <a:latin typeface="Menlo" panose="020B0609030804020204" pitchFamily="49" charset="0"/>
              </a:rPr>
              <a:t> 0  0  0  0  0  0  0  0  0  0  0  0  0  0  0 </a:t>
            </a:r>
          </a:p>
          <a:p>
            <a:r>
              <a:rPr lang="en-US" altLang="zh-TW" sz="1000" b="1" dirty="0">
                <a:solidFill>
                  <a:srgbClr val="000000"/>
                </a:solidFill>
                <a:latin typeface="Menlo" panose="020B0609030804020204" pitchFamily="49" charset="0"/>
              </a:rPr>
              <a:t> 1  0  0  0  0  0  0  0  0  0  0  1  0  0  0 </a:t>
            </a:r>
          </a:p>
          <a:p>
            <a:r>
              <a:rPr lang="en-US" altLang="zh-TW" sz="1000" b="1" dirty="0">
                <a:solidFill>
                  <a:srgbClr val="000000"/>
                </a:solidFill>
                <a:latin typeface="Menlo" panose="020B0609030804020204" pitchFamily="49" charset="0"/>
              </a:rPr>
              <a:t> 2  0  0  0  0  0  0  0  1  0  0  0  0  0  0 </a:t>
            </a:r>
          </a:p>
          <a:p>
            <a:r>
              <a:rPr lang="en-US" altLang="zh-TW" sz="1000" b="1" dirty="0">
                <a:solidFill>
                  <a:srgbClr val="000000"/>
                </a:solidFill>
                <a:latin typeface="Menlo" panose="020B0609030804020204" pitchFamily="49" charset="0"/>
              </a:rPr>
              <a:t> 3  0  0  0  0  0  0  1  0  0  0  0  0  0  0 </a:t>
            </a:r>
          </a:p>
          <a:p>
            <a:r>
              <a:rPr lang="en-US" altLang="zh-TW" sz="1000" b="1" dirty="0">
                <a:solidFill>
                  <a:srgbClr val="000000"/>
                </a:solidFill>
                <a:latin typeface="Menlo" panose="020B0609030804020204" pitchFamily="49" charset="0"/>
              </a:rPr>
              <a:t> 4  0  0  0  0  0  0  0  0  0  0  0  0  0  0 </a:t>
            </a:r>
          </a:p>
          <a:p>
            <a:r>
              <a:rPr lang="en-US" altLang="zh-TW" sz="1000" b="1" dirty="0">
                <a:solidFill>
                  <a:srgbClr val="000000"/>
                </a:solidFill>
                <a:latin typeface="Menlo" panose="020B0609030804020204" pitchFamily="49" charset="0"/>
              </a:rPr>
              <a:t> 5  0  0  0  0  0  0  0  0  0  0  0  0  0  0 </a:t>
            </a:r>
          </a:p>
          <a:p>
            <a:r>
              <a:rPr lang="en-US" altLang="zh-TW" sz="1000" b="1" dirty="0">
                <a:solidFill>
                  <a:srgbClr val="000000"/>
                </a:solidFill>
                <a:latin typeface="Menlo" panose="020B0609030804020204" pitchFamily="49" charset="0"/>
              </a:rPr>
              <a:t> 6  0  0  0  0  0  0  0  0  0  1  0  0  0  0 </a:t>
            </a:r>
          </a:p>
          <a:p>
            <a:r>
              <a:rPr lang="en-US" altLang="zh-TW" sz="1000" b="1" dirty="0">
                <a:solidFill>
                  <a:srgbClr val="000000"/>
                </a:solidFill>
                <a:latin typeface="Menlo" panose="020B0609030804020204" pitchFamily="49" charset="0"/>
              </a:rPr>
              <a:t> 7  0  0  0  0  0  0  0  0  0  0  0  0  0  1 </a:t>
            </a:r>
          </a:p>
          <a:p>
            <a:r>
              <a:rPr lang="en-US" altLang="zh-TW" sz="1000" b="1" dirty="0">
                <a:solidFill>
                  <a:srgbClr val="000000"/>
                </a:solidFill>
                <a:latin typeface="Menlo" panose="020B0609030804020204" pitchFamily="49" charset="0"/>
              </a:rPr>
              <a:t> 8  0  0  0  0  0  0  0  0  0  0  0  0  0  0 </a:t>
            </a:r>
          </a:p>
          <a:p>
            <a:r>
              <a:rPr lang="en-US" altLang="zh-TW" sz="1000" b="1" dirty="0">
                <a:solidFill>
                  <a:srgbClr val="000000"/>
                </a:solidFill>
                <a:latin typeface="Menlo" panose="020B0609030804020204" pitchFamily="49" charset="0"/>
              </a:rPr>
              <a:t> 9  0  0  0  0  0  0  0  0  0  0  0  1  0  0 </a:t>
            </a:r>
          </a:p>
          <a:p>
            <a:r>
              <a:rPr lang="en-US" altLang="zh-TW" sz="1000" b="1" dirty="0">
                <a:solidFill>
                  <a:srgbClr val="000000"/>
                </a:solidFill>
                <a:latin typeface="Menlo" panose="020B0609030804020204" pitchFamily="49" charset="0"/>
              </a:rPr>
              <a:t>10  0  0  0  0  0  0  0  0  0  0  0  0  0  0 </a:t>
            </a:r>
          </a:p>
          <a:p>
            <a:r>
              <a:rPr lang="en-US" altLang="zh-TW" sz="1000" b="1" dirty="0">
                <a:solidFill>
                  <a:srgbClr val="000000"/>
                </a:solidFill>
                <a:latin typeface="Menlo" panose="020B0609030804020204" pitchFamily="49" charset="0"/>
              </a:rPr>
              <a:t>11  0  0  0  0  0  0  0  0  0  0  0  0  0  0 </a:t>
            </a:r>
          </a:p>
          <a:p>
            <a:r>
              <a:rPr lang="en-US" altLang="zh-TW" sz="1000" b="1" dirty="0">
                <a:solidFill>
                  <a:srgbClr val="000000"/>
                </a:solidFill>
                <a:latin typeface="Menlo" panose="020B0609030804020204" pitchFamily="49" charset="0"/>
              </a:rPr>
              <a:t>12  0  0  0  0  0  0  0  0  0  0  0  0  0  0 </a:t>
            </a:r>
          </a:p>
          <a:p>
            <a:r>
              <a:rPr lang="en-US" altLang="zh-TW" sz="1000" b="1" dirty="0">
                <a:solidFill>
                  <a:srgbClr val="000000"/>
                </a:solidFill>
                <a:latin typeface="Menlo" panose="020B0609030804020204" pitchFamily="49" charset="0"/>
              </a:rPr>
              <a:t>13  0  0  0  0  0  0  0  0  0  0  0  0  0  0</a:t>
            </a:r>
            <a:endParaRPr lang="en-US" altLang="zh-TW" sz="1000" dirty="0">
              <a:solidFill>
                <a:srgbClr val="000000"/>
              </a:solidFill>
              <a:effectLst/>
              <a:latin typeface="Menlo" panose="020B0609030804020204" pitchFamily="49" charset="0"/>
            </a:endParaRPr>
          </a:p>
        </p:txBody>
      </p:sp>
      <p:sp>
        <p:nvSpPr>
          <p:cNvPr id="13" name="矩形 12">
            <a:extLst>
              <a:ext uri="{FF2B5EF4-FFF2-40B4-BE49-F238E27FC236}">
                <a16:creationId xmlns:a16="http://schemas.microsoft.com/office/drawing/2014/main" id="{FA346BFA-BC01-E2EE-4EA5-AD3A792B02AC}"/>
              </a:ext>
            </a:extLst>
          </p:cNvPr>
          <p:cNvSpPr/>
          <p:nvPr/>
        </p:nvSpPr>
        <p:spPr>
          <a:xfrm>
            <a:off x="4361291" y="627393"/>
            <a:ext cx="3780617" cy="2708434"/>
          </a:xfrm>
          <a:prstGeom prst="rect">
            <a:avLst/>
          </a:prstGeom>
        </p:spPr>
        <p:txBody>
          <a:bodyPr wrap="square">
            <a:spAutoFit/>
          </a:bodyPr>
          <a:lstStyle/>
          <a:p>
            <a:r>
              <a:rPr lang="en-US" altLang="zh-TW" sz="1000" b="1" dirty="0">
                <a:solidFill>
                  <a:srgbClr val="000000"/>
                </a:solidFill>
                <a:latin typeface="Menlo" panose="020B0609030804020204" pitchFamily="49" charset="0"/>
              </a:rPr>
              <a:t>A : </a:t>
            </a:r>
            <a:r>
              <a:rPr lang="en-US" altLang="zh-TW" sz="1000" b="1" dirty="0" err="1">
                <a:solidFill>
                  <a:srgbClr val="000000"/>
                </a:solidFill>
                <a:latin typeface="Menlo" panose="020B0609030804020204" pitchFamily="49" charset="0"/>
              </a:rPr>
              <a:t>cbca</a:t>
            </a:r>
            <a:r>
              <a:rPr lang="en-US" altLang="zh-TW" sz="1000" b="1" dirty="0">
                <a:solidFill>
                  <a:srgbClr val="000000"/>
                </a:solidFill>
                <a:latin typeface="Menlo" panose="020B0609030804020204" pitchFamily="49" charset="0"/>
              </a:rPr>
              <a:t>, B : </a:t>
            </a:r>
            <a:r>
              <a:rPr lang="en-US" altLang="zh-TW" sz="1000" b="1" dirty="0" err="1">
                <a:solidFill>
                  <a:srgbClr val="000000"/>
                </a:solidFill>
                <a:latin typeface="Menlo" panose="020B0609030804020204" pitchFamily="49" charset="0"/>
              </a:rPr>
              <a:t>baabcabcabaca</a:t>
            </a:r>
            <a:endParaRPr lang="en-US" altLang="zh-TW" sz="1000" b="1"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Density2 :</a:t>
            </a:r>
          </a:p>
          <a:p>
            <a:r>
              <a:rPr lang="en-US" altLang="zh-TW" sz="1000" b="1" dirty="0">
                <a:solidFill>
                  <a:srgbClr val="000000"/>
                </a:solidFill>
                <a:latin typeface="Menlo" panose="020B0609030804020204" pitchFamily="49" charset="0"/>
              </a:rPr>
              <a:t>j\k 0  1  2  3  4  5  6  7  8  9 10 11 12 13 </a:t>
            </a:r>
          </a:p>
          <a:p>
            <a:r>
              <a:rPr lang="en-US" altLang="zh-TW" sz="1000" b="1" dirty="0">
                <a:solidFill>
                  <a:srgbClr val="000000"/>
                </a:solidFill>
                <a:latin typeface="Menlo" panose="020B0609030804020204" pitchFamily="49" charset="0"/>
              </a:rPr>
              <a:t> 0  0  0  0  0  0  0  0  0  0  0  0  0  0  0 </a:t>
            </a:r>
          </a:p>
          <a:p>
            <a:r>
              <a:rPr lang="en-US" altLang="zh-TW" sz="1000" b="1" dirty="0">
                <a:solidFill>
                  <a:srgbClr val="000000"/>
                </a:solidFill>
                <a:latin typeface="Menlo" panose="020B0609030804020204" pitchFamily="49" charset="0"/>
              </a:rPr>
              <a:t> 1  0  0  0  0  0  1  0  0  0  0  0  0  0  0 </a:t>
            </a:r>
          </a:p>
          <a:p>
            <a:r>
              <a:rPr lang="en-US" altLang="zh-TW" sz="1000" b="1" dirty="0">
                <a:solidFill>
                  <a:srgbClr val="000000"/>
                </a:solidFill>
                <a:latin typeface="Menlo" panose="020B0609030804020204" pitchFamily="49" charset="0"/>
              </a:rPr>
              <a:t> 2  0  0  0  1  0  0  0  0  0  0  0  0  0  0 </a:t>
            </a:r>
          </a:p>
          <a:p>
            <a:r>
              <a:rPr lang="en-US" altLang="zh-TW" sz="1000" b="1" dirty="0">
                <a:solidFill>
                  <a:srgbClr val="000000"/>
                </a:solidFill>
                <a:latin typeface="Menlo" panose="020B0609030804020204" pitchFamily="49" charset="0"/>
              </a:rPr>
              <a:t> 3  0  0  0  0  1  0  0  0  0  0  0  0  0  0 </a:t>
            </a:r>
          </a:p>
          <a:p>
            <a:r>
              <a:rPr lang="en-US" altLang="zh-TW" sz="1000" b="1" dirty="0">
                <a:solidFill>
                  <a:srgbClr val="000000"/>
                </a:solidFill>
                <a:latin typeface="Menlo" panose="020B0609030804020204" pitchFamily="49" charset="0"/>
              </a:rPr>
              <a:t> 4  0  0  0  0  0  0  0  0  1  0  0  0  0  0 </a:t>
            </a:r>
          </a:p>
          <a:p>
            <a:r>
              <a:rPr lang="en-US" altLang="zh-TW" sz="1000" b="1" dirty="0">
                <a:solidFill>
                  <a:srgbClr val="000000"/>
                </a:solidFill>
                <a:latin typeface="Menlo" panose="020B0609030804020204" pitchFamily="49" charset="0"/>
              </a:rPr>
              <a:t> 5  0  0  0  0  0  0  0  0  0  0  0  0  0  1 </a:t>
            </a:r>
          </a:p>
          <a:p>
            <a:r>
              <a:rPr lang="en-US" altLang="zh-TW" sz="1000" b="1" dirty="0">
                <a:solidFill>
                  <a:srgbClr val="000000"/>
                </a:solidFill>
                <a:latin typeface="Menlo" panose="020B0609030804020204" pitchFamily="49" charset="0"/>
              </a:rPr>
              <a:t> 6  0  0  0  0  0  0  0  1  0  0  0  0  0  0 </a:t>
            </a:r>
          </a:p>
          <a:p>
            <a:r>
              <a:rPr lang="en-US" altLang="zh-TW" sz="1000" b="1" dirty="0">
                <a:solidFill>
                  <a:srgbClr val="000000"/>
                </a:solidFill>
                <a:latin typeface="Menlo" panose="020B0609030804020204" pitchFamily="49" charset="0"/>
              </a:rPr>
              <a:t> 7  0  0  0  0  0  0  0  0  0  0  0  1  0  0 </a:t>
            </a:r>
          </a:p>
          <a:p>
            <a:r>
              <a:rPr lang="en-US" altLang="zh-TW" sz="1000" b="1" dirty="0">
                <a:solidFill>
                  <a:srgbClr val="000000"/>
                </a:solidFill>
                <a:latin typeface="Menlo" panose="020B0609030804020204" pitchFamily="49" charset="0"/>
              </a:rPr>
              <a:t> 8  0  0  0  0  0  0  0  0  0  0  0  0  0  0 </a:t>
            </a:r>
          </a:p>
          <a:p>
            <a:r>
              <a:rPr lang="en-US" altLang="zh-TW" sz="1000" b="1" dirty="0">
                <a:solidFill>
                  <a:srgbClr val="000000"/>
                </a:solidFill>
                <a:latin typeface="Menlo" panose="020B0609030804020204" pitchFamily="49" charset="0"/>
              </a:rPr>
              <a:t> 9  0  0  0  0  0  0  0  0  0  0  1  0  0  0 </a:t>
            </a:r>
          </a:p>
          <a:p>
            <a:r>
              <a:rPr lang="en-US" altLang="zh-TW" sz="1000" b="1" dirty="0">
                <a:solidFill>
                  <a:srgbClr val="000000"/>
                </a:solidFill>
                <a:latin typeface="Menlo" panose="020B0609030804020204" pitchFamily="49" charset="0"/>
              </a:rPr>
              <a:t>10  0  0  0  0  0  0  0  0  0  0  0  0  0  0 </a:t>
            </a:r>
          </a:p>
          <a:p>
            <a:r>
              <a:rPr lang="en-US" altLang="zh-TW" sz="1000" b="1" dirty="0">
                <a:solidFill>
                  <a:srgbClr val="000000"/>
                </a:solidFill>
                <a:latin typeface="Menlo" panose="020B0609030804020204" pitchFamily="49" charset="0"/>
              </a:rPr>
              <a:t>11  0  0  0  0  0  0  0  0  0  0  0  0  1  0 </a:t>
            </a:r>
          </a:p>
          <a:p>
            <a:r>
              <a:rPr lang="en-US" altLang="zh-TW" sz="1000" b="1" dirty="0">
                <a:solidFill>
                  <a:srgbClr val="000000"/>
                </a:solidFill>
                <a:latin typeface="Menlo" panose="020B0609030804020204" pitchFamily="49" charset="0"/>
              </a:rPr>
              <a:t>12  0  0  0  0  0  0  0  0  0  0  0  0  0  0 </a:t>
            </a:r>
          </a:p>
          <a:p>
            <a:r>
              <a:rPr lang="en-US" altLang="zh-TW" sz="1000" b="1" dirty="0">
                <a:solidFill>
                  <a:srgbClr val="000000"/>
                </a:solidFill>
                <a:latin typeface="Menlo" panose="020B0609030804020204" pitchFamily="49" charset="0"/>
              </a:rPr>
              <a:t>13  0  0  0  0  0  0  0  0  0  0  0  0  0  0</a:t>
            </a:r>
            <a:endParaRPr lang="en-US" altLang="zh-TW" sz="1000" dirty="0">
              <a:solidFill>
                <a:srgbClr val="000000"/>
              </a:solidFill>
              <a:effectLst/>
              <a:latin typeface="Menlo" panose="020B0609030804020204" pitchFamily="49" charset="0"/>
            </a:endParaRPr>
          </a:p>
        </p:txBody>
      </p:sp>
      <p:sp>
        <p:nvSpPr>
          <p:cNvPr id="14" name="矩形 13">
            <a:extLst>
              <a:ext uri="{FF2B5EF4-FFF2-40B4-BE49-F238E27FC236}">
                <a16:creationId xmlns:a16="http://schemas.microsoft.com/office/drawing/2014/main" id="{328C079E-B66B-0B2C-57B8-02CD8FB76537}"/>
              </a:ext>
            </a:extLst>
          </p:cNvPr>
          <p:cNvSpPr/>
          <p:nvPr/>
        </p:nvSpPr>
        <p:spPr>
          <a:xfrm>
            <a:off x="381911" y="3778709"/>
            <a:ext cx="3787036" cy="2554545"/>
          </a:xfrm>
          <a:prstGeom prst="rect">
            <a:avLst/>
          </a:prstGeom>
        </p:spPr>
        <p:txBody>
          <a:bodyPr wrap="square">
            <a:spAutoFit/>
          </a:bodyPr>
          <a:lstStyle/>
          <a:p>
            <a:r>
              <a:rPr lang="en-US" altLang="zh-TW" sz="1000" b="1" dirty="0">
                <a:solidFill>
                  <a:srgbClr val="000000"/>
                </a:solidFill>
                <a:latin typeface="Menlo" panose="020B0609030804020204" pitchFamily="49" charset="0"/>
              </a:rPr>
              <a:t>Density1</a:t>
            </a:r>
            <a:r>
              <a:rPr lang="en-US" altLang="zh-TW" sz="1000" b="1" dirty="0">
                <a:latin typeface="Menlo" panose="020B0609030804020204" pitchFamily="49" charset="0"/>
                <a:ea typeface="Menlo" panose="020B0609030804020204" pitchFamily="49" charset="0"/>
                <a:cs typeface="Menlo" panose="020B0609030804020204" pitchFamily="49" charset="0"/>
              </a:rPr>
              <a:t> ⊙</a:t>
            </a:r>
            <a:r>
              <a:rPr lang="en-US" altLang="zh-TW" sz="1000" b="1" baseline="-25000" dirty="0">
                <a:latin typeface="Menlo" panose="020B0609030804020204" pitchFamily="49" charset="0"/>
                <a:ea typeface="Menlo" panose="020B0609030804020204" pitchFamily="49" charset="0"/>
                <a:cs typeface="Menlo" panose="020B0609030804020204" pitchFamily="49" charset="0"/>
              </a:rPr>
              <a:t>min</a:t>
            </a:r>
            <a:r>
              <a:rPr lang="en-US" altLang="zh-TW" sz="1000" b="1" dirty="0">
                <a:latin typeface="Menlo" panose="020B0609030804020204" pitchFamily="49" charset="0"/>
                <a:ea typeface="Menlo" panose="020B0609030804020204" pitchFamily="49" charset="0"/>
                <a:cs typeface="Menlo" panose="020B0609030804020204" pitchFamily="49" charset="0"/>
              </a:rPr>
              <a:t> </a:t>
            </a:r>
            <a:r>
              <a:rPr lang="en-US" altLang="zh-TW" sz="1000" b="1" dirty="0">
                <a:solidFill>
                  <a:srgbClr val="000000"/>
                </a:solidFill>
                <a:latin typeface="Menlo" panose="020B0609030804020204" pitchFamily="49" charset="0"/>
              </a:rPr>
              <a:t>Density2</a:t>
            </a:r>
            <a:r>
              <a:rPr lang="en-US" altLang="zh-TW" sz="1000" b="1" dirty="0">
                <a:latin typeface="Menlo" panose="020B0609030804020204" pitchFamily="49" charset="0"/>
                <a:ea typeface="Menlo" panose="020B0609030804020204" pitchFamily="49" charset="0"/>
                <a:cs typeface="Menlo" panose="020B0609030804020204" pitchFamily="49" charset="0"/>
              </a:rPr>
              <a:t> ≠ </a:t>
            </a:r>
            <a:r>
              <a:rPr lang="en-US" altLang="zh-TW" sz="1000" b="1" dirty="0">
                <a:solidFill>
                  <a:srgbClr val="000000"/>
                </a:solidFill>
                <a:latin typeface="Menlo" panose="020B0609030804020204" pitchFamily="49" charset="0"/>
              </a:rPr>
              <a:t>Density3 </a:t>
            </a:r>
            <a:r>
              <a:rPr lang="en-US" altLang="zh-TW" sz="1000" b="1" dirty="0">
                <a:latin typeface="Menlo" panose="020B0609030804020204" pitchFamily="49" charset="0"/>
                <a:ea typeface="Menlo" panose="020B0609030804020204" pitchFamily="49" charset="0"/>
                <a:cs typeface="Menlo" panose="020B0609030804020204" pitchFamily="49" charset="0"/>
              </a:rPr>
              <a:t>:</a:t>
            </a:r>
            <a:endParaRPr lang="en-US" altLang="zh-TW" sz="1000" b="1" dirty="0">
              <a:latin typeface="Menlo" panose="020B0609030804020204" pitchFamily="49" charset="0"/>
            </a:endParaRPr>
          </a:p>
          <a:p>
            <a:r>
              <a:rPr lang="en-US" altLang="zh-TW" sz="1000" b="1" dirty="0" err="1">
                <a:solidFill>
                  <a:srgbClr val="000000"/>
                </a:solidFill>
                <a:latin typeface="Menlo" panose="020B0609030804020204" pitchFamily="49" charset="0"/>
              </a:rPr>
              <a:t>i</a:t>
            </a:r>
            <a:r>
              <a:rPr lang="en-US" altLang="zh-TW" sz="1000" b="1" dirty="0">
                <a:solidFill>
                  <a:srgbClr val="000000"/>
                </a:solidFill>
                <a:latin typeface="Menlo" panose="020B0609030804020204" pitchFamily="49" charset="0"/>
              </a:rPr>
              <a:t>\k 0  1  2  3  4  5  6  7  8  9 10 11 12 13 </a:t>
            </a:r>
          </a:p>
          <a:p>
            <a:r>
              <a:rPr lang="en-US" altLang="zh-TW" sz="1000" b="1" dirty="0">
                <a:solidFill>
                  <a:srgbClr val="000000"/>
                </a:solidFill>
                <a:latin typeface="Menlo" panose="020B0609030804020204" pitchFamily="49" charset="0"/>
              </a:rPr>
              <a:t> 0  0  0  0  0  0  0  0  0  0  0  0  0  0  0 </a:t>
            </a:r>
          </a:p>
          <a:p>
            <a:r>
              <a:rPr lang="en-US" altLang="zh-TW" sz="1000" b="1" dirty="0">
                <a:solidFill>
                  <a:srgbClr val="000000"/>
                </a:solidFill>
                <a:latin typeface="Menlo" panose="020B0609030804020204" pitchFamily="49" charset="0"/>
              </a:rPr>
              <a:t> 1  ∞  0  0  0  0  0  0  0  0  0  0  0  0  0 </a:t>
            </a:r>
          </a:p>
          <a:p>
            <a:r>
              <a:rPr lang="en-US" altLang="zh-TW" sz="1000" b="1" dirty="0">
                <a:solidFill>
                  <a:srgbClr val="000000"/>
                </a:solidFill>
                <a:latin typeface="Menlo" panose="020B0609030804020204" pitchFamily="49" charset="0"/>
              </a:rPr>
              <a:t> 2  ∞  ∞  0  0  0  0  0  0  0  0  0  0  0  0 </a:t>
            </a:r>
          </a:p>
          <a:p>
            <a:r>
              <a:rPr lang="en-US" altLang="zh-TW" sz="1000" b="1" dirty="0">
                <a:solidFill>
                  <a:srgbClr val="000000"/>
                </a:solidFill>
                <a:latin typeface="Menlo" panose="020B0609030804020204" pitchFamily="49" charset="0"/>
              </a:rPr>
              <a:t> 3  ∞  ∞  ∞  0  0  0  0  0  0  0  0  0  0  0 </a:t>
            </a:r>
          </a:p>
          <a:p>
            <a:r>
              <a:rPr lang="en-US" altLang="zh-TW" sz="1000" b="1" dirty="0">
                <a:solidFill>
                  <a:srgbClr val="000000"/>
                </a:solidFill>
                <a:latin typeface="Menlo" panose="020B0609030804020204" pitchFamily="49" charset="0"/>
              </a:rPr>
              <a:t> 4  ∞  ∞  ∞  ∞  0  0  0  0  0  0  0  0  0  0 </a:t>
            </a:r>
          </a:p>
          <a:p>
            <a:r>
              <a:rPr lang="en-US" altLang="zh-TW" sz="1000" b="1" dirty="0">
                <a:solidFill>
                  <a:srgbClr val="000000"/>
                </a:solidFill>
                <a:latin typeface="Menlo" panose="020B0609030804020204" pitchFamily="49" charset="0"/>
              </a:rPr>
              <a:t> 5  ∞  ∞  ∞  ∞  ∞  0  0  0  0  0  0  0  0  0 </a:t>
            </a:r>
          </a:p>
          <a:p>
            <a:r>
              <a:rPr lang="en-US" altLang="zh-TW" sz="1000" b="1" dirty="0">
                <a:solidFill>
                  <a:srgbClr val="000000"/>
                </a:solidFill>
                <a:latin typeface="Menlo" panose="020B0609030804020204" pitchFamily="49" charset="0"/>
              </a:rPr>
              <a:t> 6  ∞  ∞  ∞  ∞  ∞  ∞  0  0  0  0  0  0  0  0 </a:t>
            </a:r>
          </a:p>
          <a:p>
            <a:r>
              <a:rPr lang="en-US" altLang="zh-TW" sz="1000" b="1" dirty="0">
                <a:solidFill>
                  <a:srgbClr val="000000"/>
                </a:solidFill>
                <a:latin typeface="Menlo" panose="020B0609030804020204" pitchFamily="49" charset="0"/>
              </a:rPr>
              <a:t> 7  ∞  ∞  ∞  ∞  ∞  ∞  ∞  0  0  0  0  0  0  0 </a:t>
            </a:r>
          </a:p>
          <a:p>
            <a:r>
              <a:rPr lang="en-US" altLang="zh-TW" sz="1000" b="1" dirty="0">
                <a:solidFill>
                  <a:srgbClr val="000000"/>
                </a:solidFill>
                <a:latin typeface="Menlo" panose="020B0609030804020204" pitchFamily="49" charset="0"/>
              </a:rPr>
              <a:t> 8  ∞  ∞  ∞  ∞  ∞  ∞  ∞  ∞  0  0  0  0  0  0 </a:t>
            </a:r>
          </a:p>
          <a:p>
            <a:r>
              <a:rPr lang="en-US" altLang="zh-TW" sz="1000" b="1" dirty="0">
                <a:solidFill>
                  <a:srgbClr val="000000"/>
                </a:solidFill>
                <a:latin typeface="Menlo" panose="020B0609030804020204" pitchFamily="49" charset="0"/>
              </a:rPr>
              <a:t> 9  ∞  ∞  ∞  ∞  ∞  ∞  ∞  ∞  ∞  0  0  0  0  0 </a:t>
            </a:r>
          </a:p>
          <a:p>
            <a:r>
              <a:rPr lang="en-US" altLang="zh-TW" sz="1000" b="1" dirty="0">
                <a:solidFill>
                  <a:srgbClr val="000000"/>
                </a:solidFill>
                <a:latin typeface="Menlo" panose="020B0609030804020204" pitchFamily="49" charset="0"/>
              </a:rPr>
              <a:t>10  ∞  ∞  ∞  ∞  ∞  ∞  ∞  ∞  ∞  ∞  0  0  0  0 </a:t>
            </a:r>
          </a:p>
          <a:p>
            <a:r>
              <a:rPr lang="en-US" altLang="zh-TW" sz="1000" b="1" dirty="0">
                <a:solidFill>
                  <a:srgbClr val="000000"/>
                </a:solidFill>
                <a:latin typeface="Menlo" panose="020B0609030804020204" pitchFamily="49" charset="0"/>
              </a:rPr>
              <a:t>11  ∞  ∞  ∞  ∞  ∞  ∞  ∞  ∞  ∞  ∞  ∞  0  0  0 </a:t>
            </a:r>
          </a:p>
          <a:p>
            <a:r>
              <a:rPr lang="en-US" altLang="zh-TW" sz="1000" b="1" dirty="0">
                <a:solidFill>
                  <a:srgbClr val="000000"/>
                </a:solidFill>
                <a:latin typeface="Menlo" panose="020B0609030804020204" pitchFamily="49" charset="0"/>
              </a:rPr>
              <a:t>12  ∞  ∞  ∞  ∞  ∞  ∞  ∞  ∞  ∞  ∞  ∞  ∞  0  0 </a:t>
            </a:r>
          </a:p>
          <a:p>
            <a:r>
              <a:rPr lang="en-US" altLang="zh-TW" sz="1000" b="1" dirty="0">
                <a:solidFill>
                  <a:srgbClr val="000000"/>
                </a:solidFill>
                <a:latin typeface="Menlo" panose="020B0609030804020204" pitchFamily="49" charset="0"/>
              </a:rPr>
              <a:t>13  ∞  ∞  ∞  ∞  ∞  ∞  ∞  ∞  ∞  ∞  ∞  ∞  ∞  0</a:t>
            </a:r>
            <a:endParaRPr lang="zh-TW" altLang="en-US" sz="1000" dirty="0">
              <a:solidFill>
                <a:srgbClr val="000000"/>
              </a:solidFill>
              <a:effectLst/>
              <a:latin typeface="Menlo" panose="020B0609030804020204" pitchFamily="49" charset="0"/>
            </a:endParaRPr>
          </a:p>
        </p:txBody>
      </p:sp>
      <p:sp>
        <p:nvSpPr>
          <p:cNvPr id="16" name="文字方塊 15">
            <a:extLst>
              <a:ext uri="{FF2B5EF4-FFF2-40B4-BE49-F238E27FC236}">
                <a16:creationId xmlns:a16="http://schemas.microsoft.com/office/drawing/2014/main" id="{C97D13B2-4667-A354-D427-C16C20F1308C}"/>
              </a:ext>
            </a:extLst>
          </p:cNvPr>
          <p:cNvSpPr txBox="1"/>
          <p:nvPr/>
        </p:nvSpPr>
        <p:spPr>
          <a:xfrm>
            <a:off x="8177353" y="1409777"/>
            <a:ext cx="4054315" cy="923330"/>
          </a:xfrm>
          <a:prstGeom prst="rect">
            <a:avLst/>
          </a:prstGeom>
          <a:noFill/>
        </p:spPr>
        <p:txBody>
          <a:bodyPr wrap="none" rtlCol="0">
            <a:spAutoFit/>
          </a:bodyPr>
          <a:lstStyle/>
          <a:p>
            <a:pPr marL="342900" indent="-342900">
              <a:buFont typeface="Arial" panose="020B0604020202020204" pitchFamily="34" charset="0"/>
              <a:buChar char="•"/>
            </a:pPr>
            <a:r>
              <a:rPr lang="zh-TW" altLang="en-US" dirty="0">
                <a:latin typeface="Times New Roman" panose="02020603050405020304" pitchFamily="18" charset="0"/>
                <a:cs typeface="Times New Roman" panose="02020603050405020304" pitchFamily="18" charset="0"/>
              </a:rPr>
              <a:t>對於</a:t>
            </a:r>
            <a:r>
              <a:rPr lang="en-US" altLang="zh-TW" dirty="0">
                <a:latin typeface="Times New Roman" panose="02020603050405020304" pitchFamily="18" charset="0"/>
                <a:cs typeface="Times New Roman" panose="02020603050405020304" pitchFamily="18" charset="0"/>
              </a:rPr>
              <a:t>Density matrix</a:t>
            </a:r>
            <a:r>
              <a:rPr lang="zh-TW" altLang="en-US" dirty="0">
                <a:latin typeface="Times New Roman" panose="02020603050405020304" pitchFamily="18" charset="0"/>
                <a:cs typeface="Times New Roman" panose="02020603050405020304" pitchFamily="18" charset="0"/>
              </a:rPr>
              <a:t>來說：</a:t>
            </a:r>
            <a:endParaRPr lang="en-US" altLang="zh-TW"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TW" b="1" dirty="0">
                <a:solidFill>
                  <a:srgbClr val="000000"/>
                </a:solidFill>
                <a:latin typeface="Times New Roman" panose="02020603050405020304" pitchFamily="18" charset="0"/>
                <a:cs typeface="Times New Roman" panose="02020603050405020304" pitchFamily="18" charset="0"/>
              </a:rPr>
              <a:t>Density1</a:t>
            </a:r>
            <a:r>
              <a:rPr lang="en-US" altLang="zh-TW" b="1" dirty="0">
                <a:latin typeface="Times New Roman" panose="02020603050405020304" pitchFamily="18" charset="0"/>
                <a:ea typeface="Menlo" panose="020B0609030804020204" pitchFamily="49" charset="0"/>
                <a:cs typeface="Times New Roman" panose="02020603050405020304" pitchFamily="18" charset="0"/>
              </a:rPr>
              <a:t> ⊙</a:t>
            </a:r>
            <a:r>
              <a:rPr lang="en-US" altLang="zh-TW" b="1" baseline="-25000" dirty="0">
                <a:latin typeface="Times New Roman" panose="02020603050405020304" pitchFamily="18" charset="0"/>
                <a:ea typeface="Menlo" panose="020B0609030804020204" pitchFamily="49" charset="0"/>
                <a:cs typeface="Times New Roman" panose="02020603050405020304" pitchFamily="18" charset="0"/>
              </a:rPr>
              <a:t>min</a:t>
            </a:r>
            <a:r>
              <a:rPr lang="en-US" altLang="zh-TW" b="1" dirty="0">
                <a:latin typeface="Times New Roman" panose="02020603050405020304" pitchFamily="18" charset="0"/>
                <a:ea typeface="Menlo" panose="020B0609030804020204" pitchFamily="49" charset="0"/>
                <a:cs typeface="Times New Roman" panose="02020603050405020304" pitchFamily="18" charset="0"/>
              </a:rPr>
              <a:t> </a:t>
            </a:r>
            <a:r>
              <a:rPr lang="en-US" altLang="zh-TW" b="1" dirty="0">
                <a:solidFill>
                  <a:srgbClr val="000000"/>
                </a:solidFill>
                <a:latin typeface="Times New Roman" panose="02020603050405020304" pitchFamily="18" charset="0"/>
                <a:cs typeface="Times New Roman" panose="02020603050405020304" pitchFamily="18" charset="0"/>
              </a:rPr>
              <a:t>Density2</a:t>
            </a:r>
            <a:r>
              <a:rPr lang="en-US" altLang="zh-TW" b="1" dirty="0">
                <a:latin typeface="Times New Roman" panose="02020603050405020304" pitchFamily="18" charset="0"/>
                <a:ea typeface="Menlo" panose="020B0609030804020204" pitchFamily="49" charset="0"/>
                <a:cs typeface="Times New Roman" panose="02020603050405020304" pitchFamily="18" charset="0"/>
              </a:rPr>
              <a:t> ≠ </a:t>
            </a:r>
            <a:r>
              <a:rPr lang="en-US" altLang="zh-TW" b="1" dirty="0">
                <a:solidFill>
                  <a:srgbClr val="000000"/>
                </a:solidFill>
                <a:latin typeface="Times New Roman" panose="02020603050405020304" pitchFamily="18" charset="0"/>
                <a:cs typeface="Times New Roman" panose="02020603050405020304" pitchFamily="18" charset="0"/>
              </a:rPr>
              <a:t>Density3</a:t>
            </a:r>
            <a:endParaRPr lang="en-US" altLang="zh-TW"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TW" b="1" dirty="0">
                <a:solidFill>
                  <a:srgbClr val="000000"/>
                </a:solidFill>
                <a:latin typeface="Times New Roman" panose="02020603050405020304" pitchFamily="18" charset="0"/>
                <a:cs typeface="Times New Roman" panose="02020603050405020304" pitchFamily="18" charset="0"/>
              </a:rPr>
              <a:t>Density1</a:t>
            </a:r>
            <a:r>
              <a:rPr lang="en-US" altLang="zh-TW" b="1" dirty="0">
                <a:latin typeface="Times New Roman" panose="02020603050405020304" pitchFamily="18" charset="0"/>
                <a:ea typeface="Menlo" panose="020B0609030804020204" pitchFamily="49" charset="0"/>
                <a:cs typeface="Times New Roman" panose="02020603050405020304" pitchFamily="18" charset="0"/>
              </a:rPr>
              <a:t> ⊙</a:t>
            </a:r>
            <a:r>
              <a:rPr lang="en-US" altLang="zh-TW" b="1" baseline="-25000" dirty="0">
                <a:latin typeface="Times New Roman" panose="02020603050405020304" pitchFamily="18" charset="0"/>
                <a:ea typeface="Menlo" panose="020B0609030804020204" pitchFamily="49" charset="0"/>
                <a:cs typeface="Times New Roman" panose="02020603050405020304" pitchFamily="18" charset="0"/>
              </a:rPr>
              <a:t>max</a:t>
            </a:r>
            <a:r>
              <a:rPr lang="en-US" altLang="zh-TW" b="1" dirty="0">
                <a:latin typeface="Times New Roman" panose="02020603050405020304" pitchFamily="18" charset="0"/>
                <a:ea typeface="Menlo" panose="020B0609030804020204" pitchFamily="49" charset="0"/>
                <a:cs typeface="Times New Roman" panose="02020603050405020304" pitchFamily="18" charset="0"/>
              </a:rPr>
              <a:t> </a:t>
            </a:r>
            <a:r>
              <a:rPr lang="en-US" altLang="zh-TW" b="1" dirty="0">
                <a:solidFill>
                  <a:srgbClr val="000000"/>
                </a:solidFill>
                <a:latin typeface="Times New Roman" panose="02020603050405020304" pitchFamily="18" charset="0"/>
                <a:cs typeface="Times New Roman" panose="02020603050405020304" pitchFamily="18" charset="0"/>
              </a:rPr>
              <a:t>Density2</a:t>
            </a:r>
            <a:r>
              <a:rPr lang="en-US" altLang="zh-TW" b="1" dirty="0">
                <a:latin typeface="Times New Roman" panose="02020603050405020304" pitchFamily="18" charset="0"/>
                <a:ea typeface="Menlo" panose="020B0609030804020204" pitchFamily="49" charset="0"/>
                <a:cs typeface="Times New Roman" panose="02020603050405020304" pitchFamily="18" charset="0"/>
              </a:rPr>
              <a:t> ≠ </a:t>
            </a:r>
            <a:r>
              <a:rPr lang="en-US" altLang="zh-TW" b="1" dirty="0">
                <a:solidFill>
                  <a:srgbClr val="000000"/>
                </a:solidFill>
                <a:latin typeface="Times New Roman" panose="02020603050405020304" pitchFamily="18" charset="0"/>
                <a:cs typeface="Times New Roman" panose="02020603050405020304" pitchFamily="18" charset="0"/>
              </a:rPr>
              <a:t>Density3</a:t>
            </a:r>
            <a:endParaRPr lang="en-US" altLang="zh-TW"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5112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12</a:t>
            </a:fld>
            <a:endParaRPr kumimoji="1" lang="zh-TW" altLang="en-US"/>
          </a:p>
        </p:txBody>
      </p:sp>
      <p:sp>
        <p:nvSpPr>
          <p:cNvPr id="4" name="矩形 3">
            <a:extLst>
              <a:ext uri="{FF2B5EF4-FFF2-40B4-BE49-F238E27FC236}">
                <a16:creationId xmlns:a16="http://schemas.microsoft.com/office/drawing/2014/main" id="{BE809E3E-CA6F-3774-A8C5-1D0ECF745D04}"/>
              </a:ext>
            </a:extLst>
          </p:cNvPr>
          <p:cNvSpPr/>
          <p:nvPr/>
        </p:nvSpPr>
        <p:spPr>
          <a:xfrm>
            <a:off x="8232351" y="3624820"/>
            <a:ext cx="3678716" cy="2708434"/>
          </a:xfrm>
          <a:prstGeom prst="rect">
            <a:avLst/>
          </a:prstGeom>
        </p:spPr>
        <p:txBody>
          <a:bodyPr wrap="square">
            <a:spAutoFit/>
          </a:bodyPr>
          <a:lstStyle/>
          <a:p>
            <a:r>
              <a:rPr lang="en-US" altLang="zh-TW" sz="1000" b="1" dirty="0">
                <a:solidFill>
                  <a:srgbClr val="000000"/>
                </a:solidFill>
                <a:latin typeface="Menlo" panose="020B0609030804020204" pitchFamily="49" charset="0"/>
              </a:rPr>
              <a:t>A : </a:t>
            </a:r>
            <a:r>
              <a:rPr lang="en-US" altLang="zh-TW" sz="1000" b="1" dirty="0" err="1">
                <a:solidFill>
                  <a:srgbClr val="000000"/>
                </a:solidFill>
                <a:latin typeface="Menlo" panose="020B0609030804020204" pitchFamily="49" charset="0"/>
              </a:rPr>
              <a:t>baabcbca</a:t>
            </a:r>
            <a:r>
              <a:rPr lang="en-US" altLang="zh-TW" sz="1000" b="1" dirty="0">
                <a:solidFill>
                  <a:srgbClr val="000000"/>
                </a:solidFill>
                <a:latin typeface="Menlo" panose="020B0609030804020204" pitchFamily="49" charset="0"/>
              </a:rPr>
              <a:t>, B : </a:t>
            </a:r>
            <a:r>
              <a:rPr lang="en-US" altLang="zh-TW" sz="1000" b="1" dirty="0" err="1">
                <a:solidFill>
                  <a:srgbClr val="000000"/>
                </a:solidFill>
                <a:latin typeface="Menlo" panose="020B0609030804020204" pitchFamily="49" charset="0"/>
              </a:rPr>
              <a:t>baabcabcabaca</a:t>
            </a:r>
            <a:endParaRPr lang="en-US" altLang="zh-TW" sz="1000" b="1"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d3 : </a:t>
            </a:r>
            <a:r>
              <a:rPr lang="zh-TW" altLang="en-US" sz="1000" b="1" dirty="0">
                <a:solidFill>
                  <a:srgbClr val="000000"/>
                </a:solidFill>
                <a:latin typeface="Menlo" panose="020B0609030804020204" pitchFamily="49" charset="0"/>
              </a:rPr>
              <a:t>（錯誤的）</a:t>
            </a:r>
            <a:endParaRPr lang="en-US" altLang="zh-TW" sz="1000" b="1" dirty="0">
              <a:solidFill>
                <a:srgbClr val="000000"/>
              </a:solidFill>
              <a:latin typeface="Menlo" panose="020B0609030804020204" pitchFamily="49" charset="0"/>
            </a:endParaRPr>
          </a:p>
          <a:p>
            <a:r>
              <a:rPr lang="en-US" altLang="zh-TW" sz="1000" b="1" dirty="0" err="1">
                <a:solidFill>
                  <a:srgbClr val="000000"/>
                </a:solidFill>
                <a:latin typeface="Menlo" panose="020B0609030804020204" pitchFamily="49" charset="0"/>
              </a:rPr>
              <a:t>i</a:t>
            </a:r>
            <a:r>
              <a:rPr lang="en-US" altLang="zh-TW" sz="1000" b="1" dirty="0">
                <a:solidFill>
                  <a:srgbClr val="000000"/>
                </a:solidFill>
                <a:latin typeface="Menlo" panose="020B0609030804020204" pitchFamily="49" charset="0"/>
              </a:rPr>
              <a:t>\k 0  1  2  3  4  5  6  7  8  9 10 11 12 13 </a:t>
            </a:r>
          </a:p>
          <a:p>
            <a:r>
              <a:rPr lang="en-US" altLang="zh-TW" sz="1000" b="1" dirty="0">
                <a:solidFill>
                  <a:srgbClr val="000000"/>
                </a:solidFill>
                <a:latin typeface="Menlo" panose="020B0609030804020204" pitchFamily="49" charset="0"/>
              </a:rPr>
              <a:t> 0  0  0  0  0  0  0  0  0  0  0  0  0  0  0 </a:t>
            </a:r>
          </a:p>
          <a:p>
            <a:r>
              <a:rPr lang="en-US" altLang="zh-TW" sz="1000" b="1" dirty="0">
                <a:solidFill>
                  <a:srgbClr val="000000"/>
                </a:solidFill>
                <a:latin typeface="Menlo" panose="020B0609030804020204" pitchFamily="49" charset="0"/>
              </a:rPr>
              <a:t> 1  0  0  0  0  0  0  0  1  1  1  2  3  4  5 </a:t>
            </a:r>
          </a:p>
          <a:p>
            <a:r>
              <a:rPr lang="en-US" altLang="zh-TW" sz="1000" b="1" dirty="0">
                <a:solidFill>
                  <a:srgbClr val="000000"/>
                </a:solidFill>
                <a:latin typeface="Menlo" panose="020B0609030804020204" pitchFamily="49" charset="0"/>
              </a:rPr>
              <a:t> 2  0  0  0  0  0  0  0  1  1  1  2  3  4  </a:t>
            </a:r>
            <a:r>
              <a:rPr lang="en-US" altLang="zh-TW" sz="1000" b="1" dirty="0">
                <a:solidFill>
                  <a:schemeClr val="accent2"/>
                </a:solidFill>
                <a:latin typeface="Menlo" panose="020B0609030804020204" pitchFamily="49" charset="0"/>
              </a:rPr>
              <a:t>5</a:t>
            </a:r>
            <a:r>
              <a:rPr lang="en-US" altLang="zh-TW" sz="1000" b="1" dirty="0">
                <a:solidFill>
                  <a:srgbClr val="000000"/>
                </a:solidFill>
                <a:latin typeface="Menlo" panose="020B0609030804020204" pitchFamily="49" charset="0"/>
              </a:rPr>
              <a:t> </a:t>
            </a:r>
          </a:p>
          <a:p>
            <a:r>
              <a:rPr lang="en-US" altLang="zh-TW" sz="1000" b="1" dirty="0">
                <a:solidFill>
                  <a:srgbClr val="000000"/>
                </a:solidFill>
                <a:latin typeface="Menlo" panose="020B0609030804020204" pitchFamily="49" charset="0"/>
              </a:rPr>
              <a:t> 3  0  0  0  0  0  0  0  1  1  1  2  </a:t>
            </a:r>
            <a:r>
              <a:rPr lang="en-US" altLang="zh-TW" sz="1000" b="1" dirty="0">
                <a:solidFill>
                  <a:schemeClr val="accent2"/>
                </a:solidFill>
                <a:latin typeface="Menlo" panose="020B0609030804020204" pitchFamily="49" charset="0"/>
              </a:rPr>
              <a:t>3</a:t>
            </a:r>
            <a:r>
              <a:rPr lang="en-US" altLang="zh-TW" sz="1000" b="1" dirty="0">
                <a:solidFill>
                  <a:srgbClr val="000000"/>
                </a:solidFill>
                <a:latin typeface="Menlo" panose="020B0609030804020204" pitchFamily="49" charset="0"/>
              </a:rPr>
              <a:t>  4  4 </a:t>
            </a:r>
          </a:p>
          <a:p>
            <a:r>
              <a:rPr lang="en-US" altLang="zh-TW" sz="1000" b="1" dirty="0">
                <a:solidFill>
                  <a:srgbClr val="000000"/>
                </a:solidFill>
                <a:latin typeface="Menlo" panose="020B0609030804020204" pitchFamily="49" charset="0"/>
              </a:rPr>
              <a:t> 4  0  0  0  0  0  0  0  1  1  1  2  2  3  3 </a:t>
            </a:r>
          </a:p>
          <a:p>
            <a:r>
              <a:rPr lang="en-US" altLang="zh-TW" sz="1000" b="1" dirty="0">
                <a:solidFill>
                  <a:srgbClr val="000000"/>
                </a:solidFill>
                <a:latin typeface="Menlo" panose="020B0609030804020204" pitchFamily="49" charset="0"/>
              </a:rPr>
              <a:t> 5  0  0  0  0  0  0  0 </a:t>
            </a:r>
            <a:r>
              <a:rPr lang="en-US" altLang="zh-TW" sz="1000" b="1" dirty="0">
                <a:solidFill>
                  <a:schemeClr val="accent2"/>
                </a:solidFill>
                <a:latin typeface="Menlo" panose="020B0609030804020204" pitchFamily="49" charset="0"/>
              </a:rPr>
              <a:t> 1  </a:t>
            </a:r>
            <a:r>
              <a:rPr lang="en-US" altLang="zh-TW" sz="1000" b="1" dirty="0">
                <a:solidFill>
                  <a:srgbClr val="000000"/>
                </a:solidFill>
                <a:latin typeface="Menlo" panose="020B0609030804020204" pitchFamily="49" charset="0"/>
              </a:rPr>
              <a:t>1  1  2  2  3  3 </a:t>
            </a:r>
          </a:p>
          <a:p>
            <a:r>
              <a:rPr lang="en-US" altLang="zh-TW" sz="1000" b="1" dirty="0">
                <a:solidFill>
                  <a:srgbClr val="000000"/>
                </a:solidFill>
                <a:latin typeface="Menlo" panose="020B0609030804020204" pitchFamily="49" charset="0"/>
              </a:rPr>
              <a:t> 6  0  0  0  0  0  0  0  0  0  0  1  1  2  2 </a:t>
            </a:r>
          </a:p>
          <a:p>
            <a:r>
              <a:rPr lang="en-US" altLang="zh-TW" sz="1000" b="1" dirty="0">
                <a:solidFill>
                  <a:srgbClr val="000000"/>
                </a:solidFill>
                <a:latin typeface="Menlo" panose="020B0609030804020204" pitchFamily="49" charset="0"/>
              </a:rPr>
              <a:t> 7  0  0  0  0  0  0  0  0  0  0  1  1  2  2 </a:t>
            </a:r>
          </a:p>
          <a:p>
            <a:r>
              <a:rPr lang="en-US" altLang="zh-TW" sz="1000" b="1" dirty="0">
                <a:solidFill>
                  <a:srgbClr val="000000"/>
                </a:solidFill>
                <a:latin typeface="Menlo" panose="020B0609030804020204" pitchFamily="49" charset="0"/>
              </a:rPr>
              <a:t> 8  0  0  0  0  0  0  0  0  0  0  </a:t>
            </a:r>
            <a:r>
              <a:rPr lang="en-US" altLang="zh-TW" sz="1000" b="1" dirty="0">
                <a:solidFill>
                  <a:schemeClr val="accent2"/>
                </a:solidFill>
                <a:latin typeface="Menlo" panose="020B0609030804020204" pitchFamily="49" charset="0"/>
              </a:rPr>
              <a:t>1</a:t>
            </a:r>
            <a:r>
              <a:rPr lang="en-US" altLang="zh-TW" sz="1000" b="1" dirty="0">
                <a:solidFill>
                  <a:srgbClr val="000000"/>
                </a:solidFill>
                <a:latin typeface="Menlo" panose="020B0609030804020204" pitchFamily="49" charset="0"/>
              </a:rPr>
              <a:t>  1  2  2 </a:t>
            </a:r>
          </a:p>
          <a:p>
            <a:r>
              <a:rPr lang="en-US" altLang="zh-TW" sz="1000" b="1" dirty="0">
                <a:solidFill>
                  <a:srgbClr val="000000"/>
                </a:solidFill>
                <a:latin typeface="Menlo" panose="020B0609030804020204" pitchFamily="49" charset="0"/>
              </a:rPr>
              <a:t> 9  0  0  0  0  0  0  0  0  0  0  0  0  </a:t>
            </a:r>
            <a:r>
              <a:rPr lang="en-US" altLang="zh-TW" sz="1000" b="1" dirty="0">
                <a:solidFill>
                  <a:schemeClr val="accent2"/>
                </a:solidFill>
                <a:latin typeface="Menlo" panose="020B0609030804020204" pitchFamily="49" charset="0"/>
              </a:rPr>
              <a:t>1</a:t>
            </a:r>
            <a:r>
              <a:rPr lang="en-US" altLang="zh-TW" sz="1000" b="1" dirty="0">
                <a:solidFill>
                  <a:srgbClr val="000000"/>
                </a:solidFill>
                <a:latin typeface="Menlo" panose="020B0609030804020204" pitchFamily="49" charset="0"/>
              </a:rPr>
              <a:t>  1 </a:t>
            </a:r>
          </a:p>
          <a:p>
            <a:r>
              <a:rPr lang="en-US" altLang="zh-TW" sz="1000" b="1" dirty="0">
                <a:solidFill>
                  <a:srgbClr val="000000"/>
                </a:solidFill>
                <a:latin typeface="Menlo" panose="020B0609030804020204" pitchFamily="49" charset="0"/>
              </a:rPr>
              <a:t>10  0  0  0  0  0  0  0  0  0  0  0  0  0  0 </a:t>
            </a:r>
          </a:p>
          <a:p>
            <a:r>
              <a:rPr lang="en-US" altLang="zh-TW" sz="1000" b="1" dirty="0">
                <a:solidFill>
                  <a:srgbClr val="000000"/>
                </a:solidFill>
                <a:latin typeface="Menlo" panose="020B0609030804020204" pitchFamily="49" charset="0"/>
              </a:rPr>
              <a:t>11  0  0  0  0  0  0  0  0  0  0  0  0  0  0 </a:t>
            </a:r>
          </a:p>
          <a:p>
            <a:r>
              <a:rPr lang="en-US" altLang="zh-TW" sz="1000" b="1" dirty="0">
                <a:solidFill>
                  <a:srgbClr val="000000"/>
                </a:solidFill>
                <a:latin typeface="Menlo" panose="020B0609030804020204" pitchFamily="49" charset="0"/>
              </a:rPr>
              <a:t>12  0  0  0  0  0  0  0  0  0  0  0  0  0  0 </a:t>
            </a:r>
          </a:p>
          <a:p>
            <a:r>
              <a:rPr lang="en-US" altLang="zh-TW" sz="1000" b="1" dirty="0">
                <a:solidFill>
                  <a:srgbClr val="000000"/>
                </a:solidFill>
                <a:latin typeface="Menlo" panose="020B0609030804020204" pitchFamily="49" charset="0"/>
              </a:rPr>
              <a:t>13  0  0  0  0  0  0  0  0  0  0  0  0  0  0</a:t>
            </a:r>
            <a:endParaRPr lang="zh-TW" altLang="en-US" sz="1000" dirty="0">
              <a:solidFill>
                <a:srgbClr val="000000"/>
              </a:solidFill>
              <a:effectLst/>
              <a:latin typeface="Menlo" panose="020B0609030804020204" pitchFamily="49" charset="0"/>
            </a:endParaRPr>
          </a:p>
        </p:txBody>
      </p:sp>
      <p:sp>
        <p:nvSpPr>
          <p:cNvPr id="5" name="矩形 4">
            <a:extLst>
              <a:ext uri="{FF2B5EF4-FFF2-40B4-BE49-F238E27FC236}">
                <a16:creationId xmlns:a16="http://schemas.microsoft.com/office/drawing/2014/main" id="{907B3915-64BE-45D3-92BE-70BCF17821E2}"/>
              </a:ext>
            </a:extLst>
          </p:cNvPr>
          <p:cNvSpPr/>
          <p:nvPr/>
        </p:nvSpPr>
        <p:spPr>
          <a:xfrm>
            <a:off x="4361291" y="3778709"/>
            <a:ext cx="3678716" cy="2554545"/>
          </a:xfrm>
          <a:prstGeom prst="rect">
            <a:avLst/>
          </a:prstGeom>
        </p:spPr>
        <p:txBody>
          <a:bodyPr wrap="square">
            <a:spAutoFit/>
          </a:bodyPr>
          <a:lstStyle/>
          <a:p>
            <a:r>
              <a:rPr lang="en-US" altLang="zh-TW" sz="1000" b="1" dirty="0">
                <a:latin typeface="Menlo" panose="020B0609030804020204" pitchFamily="49" charset="0"/>
                <a:ea typeface="Menlo" panose="020B0609030804020204" pitchFamily="49" charset="0"/>
                <a:cs typeface="Menlo" panose="020B0609030804020204" pitchFamily="49" charset="0"/>
              </a:rPr>
              <a:t>d1 ⊙</a:t>
            </a:r>
            <a:r>
              <a:rPr lang="en-US" altLang="zh-TW" sz="1000" b="1" baseline="-25000" dirty="0">
                <a:latin typeface="Menlo" panose="020B0609030804020204" pitchFamily="49" charset="0"/>
                <a:ea typeface="Menlo" panose="020B0609030804020204" pitchFamily="49" charset="0"/>
                <a:cs typeface="Menlo" panose="020B0609030804020204" pitchFamily="49" charset="0"/>
              </a:rPr>
              <a:t>max</a:t>
            </a:r>
            <a:r>
              <a:rPr lang="en-US" altLang="zh-TW" sz="1000" b="1" dirty="0">
                <a:latin typeface="Menlo" panose="020B0609030804020204" pitchFamily="49" charset="0"/>
                <a:ea typeface="Menlo" panose="020B0609030804020204" pitchFamily="49" charset="0"/>
                <a:cs typeface="Menlo" panose="020B0609030804020204" pitchFamily="49" charset="0"/>
              </a:rPr>
              <a:t> d2 ≠ d3 :</a:t>
            </a:r>
            <a:endParaRPr lang="en-US" altLang="zh-TW" sz="1000" b="1" dirty="0">
              <a:latin typeface="Menlo" panose="020B0609030804020204" pitchFamily="49" charset="0"/>
            </a:endParaRPr>
          </a:p>
          <a:p>
            <a:r>
              <a:rPr lang="en-US" altLang="zh-TW" sz="1000" b="1" dirty="0" err="1">
                <a:solidFill>
                  <a:srgbClr val="000000"/>
                </a:solidFill>
                <a:latin typeface="Menlo" panose="020B0609030804020204" pitchFamily="49" charset="0"/>
              </a:rPr>
              <a:t>i</a:t>
            </a:r>
            <a:r>
              <a:rPr lang="en-US" altLang="zh-TW" sz="1000" b="1" dirty="0">
                <a:solidFill>
                  <a:srgbClr val="000000"/>
                </a:solidFill>
                <a:latin typeface="Menlo" panose="020B0609030804020204" pitchFamily="49" charset="0"/>
              </a:rPr>
              <a:t>\k 0  1  2  3  4  5  6  7  8  9 10 11 12 13 </a:t>
            </a:r>
          </a:p>
          <a:p>
            <a:r>
              <a:rPr lang="en-US" altLang="zh-TW" sz="1000" b="1" dirty="0">
                <a:solidFill>
                  <a:srgbClr val="000000"/>
                </a:solidFill>
                <a:latin typeface="Menlo" panose="020B0609030804020204" pitchFamily="49" charset="0"/>
              </a:rPr>
              <a:t> 0  0  0  0  1  2  3  3  4  5  5  6  7  8  9 </a:t>
            </a:r>
          </a:p>
          <a:p>
            <a:r>
              <a:rPr lang="en-US" altLang="zh-TW" sz="1000" b="1" dirty="0">
                <a:solidFill>
                  <a:srgbClr val="000000"/>
                </a:solidFill>
                <a:latin typeface="Menlo" panose="020B0609030804020204" pitchFamily="49" charset="0"/>
              </a:rPr>
              <a:t> 1  0  0  0  1  2  3  3  4  5  5  6  7  8  9 </a:t>
            </a:r>
          </a:p>
          <a:p>
            <a:r>
              <a:rPr lang="en-US" altLang="zh-TW" sz="1000" b="1" dirty="0">
                <a:solidFill>
                  <a:srgbClr val="000000"/>
                </a:solidFill>
                <a:latin typeface="Menlo" panose="020B0609030804020204" pitchFamily="49" charset="0"/>
              </a:rPr>
              <a:t> 2  0  0  0  1  2  2  2  3  4  4  5  6  7  8 </a:t>
            </a:r>
          </a:p>
          <a:p>
            <a:r>
              <a:rPr lang="en-US" altLang="zh-TW" sz="1000" b="1" dirty="0">
                <a:solidFill>
                  <a:srgbClr val="000000"/>
                </a:solidFill>
                <a:latin typeface="Menlo" panose="020B0609030804020204" pitchFamily="49" charset="0"/>
              </a:rPr>
              <a:t> 3  0  0  0  0  1  1  1  2  3  3  4  5  6  7 </a:t>
            </a:r>
          </a:p>
          <a:p>
            <a:r>
              <a:rPr lang="en-US" altLang="zh-TW" sz="1000" b="1" dirty="0">
                <a:solidFill>
                  <a:srgbClr val="000000"/>
                </a:solidFill>
                <a:latin typeface="Menlo" panose="020B0609030804020204" pitchFamily="49" charset="0"/>
              </a:rPr>
              <a:t> 4  0  0  0  0  0  0  0  1  2  2  3  4  5  6 </a:t>
            </a:r>
          </a:p>
          <a:p>
            <a:r>
              <a:rPr lang="en-US" altLang="zh-TW" sz="1000" b="1" dirty="0">
                <a:solidFill>
                  <a:srgbClr val="000000"/>
                </a:solidFill>
                <a:latin typeface="Menlo" panose="020B0609030804020204" pitchFamily="49" charset="0"/>
              </a:rPr>
              <a:t> 5  0  0  0  0  0  0  0  1  1  1  2  3  4  5 </a:t>
            </a:r>
          </a:p>
          <a:p>
            <a:r>
              <a:rPr lang="en-US" altLang="zh-TW" sz="1000" b="1" dirty="0">
                <a:solidFill>
                  <a:srgbClr val="000000"/>
                </a:solidFill>
                <a:latin typeface="Menlo" panose="020B0609030804020204" pitchFamily="49" charset="0"/>
              </a:rPr>
              <a:t> 6  0  0  0  0  0  0  0  1  1  1  2  3  4  4 </a:t>
            </a:r>
          </a:p>
          <a:p>
            <a:r>
              <a:rPr lang="en-US" altLang="zh-TW" sz="1000" b="1" dirty="0">
                <a:solidFill>
                  <a:srgbClr val="000000"/>
                </a:solidFill>
                <a:latin typeface="Menlo" panose="020B0609030804020204" pitchFamily="49" charset="0"/>
              </a:rPr>
              <a:t> 7  0  0  0  0  0  0  0  0  0  0  1  2  3  3 </a:t>
            </a:r>
          </a:p>
          <a:p>
            <a:r>
              <a:rPr lang="en-US" altLang="zh-TW" sz="1000" b="1" dirty="0">
                <a:solidFill>
                  <a:srgbClr val="000000"/>
                </a:solidFill>
                <a:latin typeface="Menlo" panose="020B0609030804020204" pitchFamily="49" charset="0"/>
              </a:rPr>
              <a:t> 8  0  0  0  0  0  0  0  0  0  0  1  1  2  2 </a:t>
            </a:r>
          </a:p>
          <a:p>
            <a:r>
              <a:rPr lang="en-US" altLang="zh-TW" sz="1000" b="1" dirty="0">
                <a:solidFill>
                  <a:srgbClr val="000000"/>
                </a:solidFill>
                <a:latin typeface="Menlo" panose="020B0609030804020204" pitchFamily="49" charset="0"/>
              </a:rPr>
              <a:t> 9  0  0  0  0  0  0  0  0  0  0  1  1  2  2 </a:t>
            </a:r>
          </a:p>
          <a:p>
            <a:r>
              <a:rPr lang="en-US" altLang="zh-TW" sz="1000" b="1" dirty="0">
                <a:solidFill>
                  <a:srgbClr val="000000"/>
                </a:solidFill>
                <a:latin typeface="Menlo" panose="020B0609030804020204" pitchFamily="49" charset="0"/>
              </a:rPr>
              <a:t>10  0  0  0  0  0  0  0  0  0  0  0  0  1  1 </a:t>
            </a:r>
          </a:p>
          <a:p>
            <a:r>
              <a:rPr lang="en-US" altLang="zh-TW" sz="1000" b="1" dirty="0">
                <a:solidFill>
                  <a:srgbClr val="000000"/>
                </a:solidFill>
                <a:latin typeface="Menlo" panose="020B0609030804020204" pitchFamily="49" charset="0"/>
              </a:rPr>
              <a:t>11  0  0  0  0  0  0  0  0  0  0  0  0  1  1 </a:t>
            </a:r>
          </a:p>
          <a:p>
            <a:r>
              <a:rPr lang="en-US" altLang="zh-TW" sz="1000" b="1" dirty="0">
                <a:solidFill>
                  <a:srgbClr val="000000"/>
                </a:solidFill>
                <a:latin typeface="Menlo" panose="020B0609030804020204" pitchFamily="49" charset="0"/>
              </a:rPr>
              <a:t>12  0  0  0  0  0  0  0  0  0  0  0  0  0  0 </a:t>
            </a:r>
          </a:p>
          <a:p>
            <a:r>
              <a:rPr lang="en-US" altLang="zh-TW" sz="1000" b="1" dirty="0">
                <a:solidFill>
                  <a:srgbClr val="000000"/>
                </a:solidFill>
                <a:latin typeface="Menlo" panose="020B0609030804020204" pitchFamily="49" charset="0"/>
              </a:rPr>
              <a:t>13  0  0  0  0  0  0  0  0  0  0  0  0  0  0</a:t>
            </a:r>
            <a:endParaRPr lang="en-US" altLang="zh-TW" sz="1000" dirty="0">
              <a:solidFill>
                <a:srgbClr val="000000"/>
              </a:solidFill>
              <a:effectLst/>
              <a:latin typeface="Menlo" panose="020B0609030804020204" pitchFamily="49" charset="0"/>
            </a:endParaRPr>
          </a:p>
        </p:txBody>
      </p:sp>
      <p:sp>
        <p:nvSpPr>
          <p:cNvPr id="7" name="矩形 6">
            <a:extLst>
              <a:ext uri="{FF2B5EF4-FFF2-40B4-BE49-F238E27FC236}">
                <a16:creationId xmlns:a16="http://schemas.microsoft.com/office/drawing/2014/main" id="{D1F57F8D-7518-EEE7-1E15-E45FEE8419BB}"/>
              </a:ext>
            </a:extLst>
          </p:cNvPr>
          <p:cNvSpPr/>
          <p:nvPr/>
        </p:nvSpPr>
        <p:spPr>
          <a:xfrm>
            <a:off x="8340671" y="627393"/>
            <a:ext cx="2612833" cy="646331"/>
          </a:xfrm>
          <a:prstGeom prst="rect">
            <a:avLst/>
          </a:prstGeom>
        </p:spPr>
        <p:txBody>
          <a:bodyPr wrap="square">
            <a:spAutoFit/>
          </a:bodyPr>
          <a:lstStyle/>
          <a:p>
            <a:r>
              <a:rPr lang="en-US" altLang="zh-TW" b="1" dirty="0">
                <a:solidFill>
                  <a:srgbClr val="000000"/>
                </a:solidFill>
                <a:latin typeface="Menlo" panose="020B0609030804020204" pitchFamily="49" charset="0"/>
              </a:rPr>
              <a:t>A : </a:t>
            </a:r>
            <a:r>
              <a:rPr lang="en-US" altLang="zh-TW" b="1" dirty="0" err="1">
                <a:solidFill>
                  <a:srgbClr val="000000"/>
                </a:solidFill>
                <a:latin typeface="Menlo" panose="020B0609030804020204" pitchFamily="49" charset="0"/>
              </a:rPr>
              <a:t>baabcbca</a:t>
            </a:r>
            <a:endParaRPr lang="en-US" altLang="zh-TW" dirty="0">
              <a:solidFill>
                <a:srgbClr val="000000"/>
              </a:solidFill>
              <a:latin typeface="Menlo" panose="020B0609030804020204" pitchFamily="49" charset="0"/>
            </a:endParaRPr>
          </a:p>
          <a:p>
            <a:r>
              <a:rPr lang="en-US" altLang="zh-TW" b="1" dirty="0">
                <a:solidFill>
                  <a:srgbClr val="000000"/>
                </a:solidFill>
                <a:latin typeface="Menlo" panose="020B0609030804020204" pitchFamily="49" charset="0"/>
              </a:rPr>
              <a:t>B : </a:t>
            </a:r>
            <a:r>
              <a:rPr lang="en-US" altLang="zh-TW" b="1" dirty="0" err="1">
                <a:solidFill>
                  <a:srgbClr val="000000"/>
                </a:solidFill>
                <a:latin typeface="Menlo" panose="020B0609030804020204" pitchFamily="49" charset="0"/>
              </a:rPr>
              <a:t>baabcabcabaca</a:t>
            </a:r>
            <a:endParaRPr lang="en-US" altLang="zh-TW" dirty="0">
              <a:solidFill>
                <a:srgbClr val="000000"/>
              </a:solidFill>
              <a:latin typeface="Menlo" panose="020B0609030804020204" pitchFamily="49" charset="0"/>
            </a:endParaRPr>
          </a:p>
        </p:txBody>
      </p:sp>
      <p:sp>
        <p:nvSpPr>
          <p:cNvPr id="12" name="矩形 11">
            <a:extLst>
              <a:ext uri="{FF2B5EF4-FFF2-40B4-BE49-F238E27FC236}">
                <a16:creationId xmlns:a16="http://schemas.microsoft.com/office/drawing/2014/main" id="{247A23F7-EA30-CE2D-3058-0E3518EE31A8}"/>
              </a:ext>
            </a:extLst>
          </p:cNvPr>
          <p:cNvSpPr/>
          <p:nvPr/>
        </p:nvSpPr>
        <p:spPr>
          <a:xfrm>
            <a:off x="381911" y="627393"/>
            <a:ext cx="3780617" cy="2708434"/>
          </a:xfrm>
          <a:prstGeom prst="rect">
            <a:avLst/>
          </a:prstGeom>
        </p:spPr>
        <p:txBody>
          <a:bodyPr wrap="square">
            <a:spAutoFit/>
          </a:bodyPr>
          <a:lstStyle/>
          <a:p>
            <a:r>
              <a:rPr lang="en-US" altLang="zh-TW" sz="1000" b="1" dirty="0">
                <a:solidFill>
                  <a:srgbClr val="000000"/>
                </a:solidFill>
                <a:latin typeface="Menlo" panose="020B0609030804020204" pitchFamily="49" charset="0"/>
              </a:rPr>
              <a:t>A : </a:t>
            </a:r>
            <a:r>
              <a:rPr lang="en-US" altLang="zh-TW" sz="1000" b="1" dirty="0" err="1">
                <a:solidFill>
                  <a:srgbClr val="000000"/>
                </a:solidFill>
                <a:latin typeface="Menlo" panose="020B0609030804020204" pitchFamily="49" charset="0"/>
              </a:rPr>
              <a:t>baab</a:t>
            </a:r>
            <a:r>
              <a:rPr lang="en-US" altLang="zh-TW" sz="1000" b="1" dirty="0">
                <a:solidFill>
                  <a:srgbClr val="000000"/>
                </a:solidFill>
                <a:latin typeface="Menlo" panose="020B0609030804020204" pitchFamily="49" charset="0"/>
              </a:rPr>
              <a:t>, B : </a:t>
            </a:r>
            <a:r>
              <a:rPr lang="en-US" altLang="zh-TW" sz="1000" b="1" dirty="0" err="1">
                <a:solidFill>
                  <a:srgbClr val="000000"/>
                </a:solidFill>
                <a:latin typeface="Menlo" panose="020B0609030804020204" pitchFamily="49" charset="0"/>
              </a:rPr>
              <a:t>baabcabcabaca</a:t>
            </a:r>
            <a:endParaRPr lang="en-US" altLang="zh-TW" sz="1000"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d1 : </a:t>
            </a:r>
          </a:p>
          <a:p>
            <a:r>
              <a:rPr lang="en-US" altLang="zh-TW" sz="1000" b="1" dirty="0" err="1">
                <a:solidFill>
                  <a:srgbClr val="000000"/>
                </a:solidFill>
                <a:latin typeface="Menlo" panose="020B0609030804020204" pitchFamily="49" charset="0"/>
              </a:rPr>
              <a:t>i</a:t>
            </a:r>
            <a:r>
              <a:rPr lang="en-US" altLang="zh-TW" sz="1000" b="1" dirty="0">
                <a:solidFill>
                  <a:srgbClr val="000000"/>
                </a:solidFill>
                <a:latin typeface="Menlo" panose="020B0609030804020204" pitchFamily="49" charset="0"/>
              </a:rPr>
              <a:t>\j 0  1  2  3  4  5  6  7  8  9 10 11 12 13 </a:t>
            </a:r>
          </a:p>
          <a:p>
            <a:r>
              <a:rPr lang="en-US" altLang="zh-TW" sz="1000" b="1" dirty="0">
                <a:solidFill>
                  <a:srgbClr val="000000"/>
                </a:solidFill>
                <a:latin typeface="Menlo" panose="020B0609030804020204" pitchFamily="49" charset="0"/>
              </a:rPr>
              <a:t> 0  0  0  0  0  0  0  0  0  0  0  0  0  0  0 </a:t>
            </a:r>
          </a:p>
          <a:p>
            <a:r>
              <a:rPr lang="en-US" altLang="zh-TW" sz="1000" b="1" dirty="0">
                <a:solidFill>
                  <a:srgbClr val="000000"/>
                </a:solidFill>
                <a:latin typeface="Menlo" panose="020B0609030804020204" pitchFamily="49" charset="0"/>
              </a:rPr>
              <a:t> 1  0  0  0  0  0  0  1  2  2  3  </a:t>
            </a:r>
            <a:r>
              <a:rPr lang="en-US" altLang="zh-TW" sz="1000" b="1" dirty="0">
                <a:solidFill>
                  <a:schemeClr val="accent2"/>
                </a:solidFill>
                <a:latin typeface="Menlo" panose="020B0609030804020204" pitchFamily="49" charset="0"/>
              </a:rPr>
              <a:t>4</a:t>
            </a:r>
            <a:r>
              <a:rPr lang="en-US" altLang="zh-TW" sz="1000" b="1" dirty="0">
                <a:solidFill>
                  <a:srgbClr val="000000"/>
                </a:solidFill>
                <a:latin typeface="Menlo" panose="020B0609030804020204" pitchFamily="49" charset="0"/>
              </a:rPr>
              <a:t>  5  5  6 </a:t>
            </a:r>
          </a:p>
          <a:p>
            <a:r>
              <a:rPr lang="en-US" altLang="zh-TW" sz="1000" b="1" dirty="0">
                <a:solidFill>
                  <a:srgbClr val="000000"/>
                </a:solidFill>
                <a:latin typeface="Menlo" panose="020B0609030804020204" pitchFamily="49" charset="0"/>
              </a:rPr>
              <a:t> 2  0  0  0  0  0  0  1  </a:t>
            </a:r>
            <a:r>
              <a:rPr lang="en-US" altLang="zh-TW" sz="1000" b="1" dirty="0">
                <a:solidFill>
                  <a:schemeClr val="accent2"/>
                </a:solidFill>
                <a:latin typeface="Menlo" panose="020B0609030804020204" pitchFamily="49" charset="0"/>
              </a:rPr>
              <a:t>2</a:t>
            </a:r>
            <a:r>
              <a:rPr lang="en-US" altLang="zh-TW" sz="1000" b="1" dirty="0">
                <a:solidFill>
                  <a:srgbClr val="000000"/>
                </a:solidFill>
                <a:latin typeface="Menlo" panose="020B0609030804020204" pitchFamily="49" charset="0"/>
              </a:rPr>
              <a:t>  2  3  3  4  4  5 </a:t>
            </a:r>
          </a:p>
          <a:p>
            <a:r>
              <a:rPr lang="en-US" altLang="zh-TW" sz="1000" b="1" dirty="0">
                <a:solidFill>
                  <a:srgbClr val="000000"/>
                </a:solidFill>
                <a:latin typeface="Menlo" panose="020B0609030804020204" pitchFamily="49" charset="0"/>
              </a:rPr>
              <a:t> 3  0  0  0  0  0  0  </a:t>
            </a:r>
            <a:r>
              <a:rPr lang="en-US" altLang="zh-TW" sz="1000" b="1" dirty="0">
                <a:solidFill>
                  <a:schemeClr val="accent2"/>
                </a:solidFill>
                <a:latin typeface="Menlo" panose="020B0609030804020204" pitchFamily="49" charset="0"/>
              </a:rPr>
              <a:t>1</a:t>
            </a:r>
            <a:r>
              <a:rPr lang="en-US" altLang="zh-TW" sz="1000" b="1" dirty="0">
                <a:solidFill>
                  <a:srgbClr val="000000"/>
                </a:solidFill>
                <a:latin typeface="Menlo" panose="020B0609030804020204" pitchFamily="49" charset="0"/>
              </a:rPr>
              <a:t>  1  1  2  2  3  3  4 </a:t>
            </a:r>
          </a:p>
          <a:p>
            <a:r>
              <a:rPr lang="en-US" altLang="zh-TW" sz="1000" b="1" dirty="0">
                <a:solidFill>
                  <a:srgbClr val="000000"/>
                </a:solidFill>
                <a:latin typeface="Menlo" panose="020B0609030804020204" pitchFamily="49" charset="0"/>
              </a:rPr>
              <a:t> 4  0  0  0  0  0  0  0  0  0  1  1  2  2  3 </a:t>
            </a:r>
          </a:p>
          <a:p>
            <a:r>
              <a:rPr lang="en-US" altLang="zh-TW" sz="1000" b="1" dirty="0">
                <a:solidFill>
                  <a:srgbClr val="000000"/>
                </a:solidFill>
                <a:latin typeface="Menlo" panose="020B0609030804020204" pitchFamily="49" charset="0"/>
              </a:rPr>
              <a:t> 5  0  0  0  0  0  0  0  0  0  1  1  2  2  3 </a:t>
            </a:r>
          </a:p>
          <a:p>
            <a:r>
              <a:rPr lang="en-US" altLang="zh-TW" sz="1000" b="1" dirty="0">
                <a:solidFill>
                  <a:srgbClr val="000000"/>
                </a:solidFill>
                <a:latin typeface="Menlo" panose="020B0609030804020204" pitchFamily="49" charset="0"/>
              </a:rPr>
              <a:t> 6  0  0  0  0  0  0  0  0  0  </a:t>
            </a:r>
            <a:r>
              <a:rPr lang="en-US" altLang="zh-TW" sz="1000" b="1" dirty="0">
                <a:solidFill>
                  <a:schemeClr val="accent2"/>
                </a:solidFill>
                <a:latin typeface="Menlo" panose="020B0609030804020204" pitchFamily="49" charset="0"/>
              </a:rPr>
              <a:t>1</a:t>
            </a:r>
            <a:r>
              <a:rPr lang="en-US" altLang="zh-TW" sz="1000" b="1" dirty="0">
                <a:solidFill>
                  <a:srgbClr val="000000"/>
                </a:solidFill>
                <a:latin typeface="Menlo" panose="020B0609030804020204" pitchFamily="49" charset="0"/>
              </a:rPr>
              <a:t>  1  2  2  3 </a:t>
            </a:r>
          </a:p>
          <a:p>
            <a:r>
              <a:rPr lang="en-US" altLang="zh-TW" sz="1000" b="1" dirty="0">
                <a:solidFill>
                  <a:srgbClr val="000000"/>
                </a:solidFill>
                <a:latin typeface="Menlo" panose="020B0609030804020204" pitchFamily="49" charset="0"/>
              </a:rPr>
              <a:t> 7  0  0  0  0  0  0  0  0  0  0  0  1  1  </a:t>
            </a:r>
            <a:r>
              <a:rPr lang="en-US" altLang="zh-TW" sz="1000" b="1" dirty="0">
                <a:solidFill>
                  <a:schemeClr val="accent2"/>
                </a:solidFill>
                <a:latin typeface="Menlo" panose="020B0609030804020204" pitchFamily="49" charset="0"/>
              </a:rPr>
              <a:t>2</a:t>
            </a:r>
            <a:r>
              <a:rPr lang="en-US" altLang="zh-TW" sz="1000" b="1" dirty="0">
                <a:solidFill>
                  <a:srgbClr val="000000"/>
                </a:solidFill>
                <a:latin typeface="Menlo" panose="020B0609030804020204" pitchFamily="49" charset="0"/>
              </a:rPr>
              <a:t> </a:t>
            </a:r>
          </a:p>
          <a:p>
            <a:r>
              <a:rPr lang="en-US" altLang="zh-TW" sz="1000" b="1" dirty="0">
                <a:solidFill>
                  <a:srgbClr val="000000"/>
                </a:solidFill>
                <a:latin typeface="Menlo" panose="020B0609030804020204" pitchFamily="49" charset="0"/>
              </a:rPr>
              <a:t> 8  0  0  0  0  0  0  0  0  0  0  0  1  1  1 </a:t>
            </a:r>
          </a:p>
          <a:p>
            <a:r>
              <a:rPr lang="en-US" altLang="zh-TW" sz="1000" b="1" dirty="0">
                <a:solidFill>
                  <a:srgbClr val="000000"/>
                </a:solidFill>
                <a:latin typeface="Menlo" panose="020B0609030804020204" pitchFamily="49" charset="0"/>
              </a:rPr>
              <a:t> 9  0  0  0  0  0  0  0  0  0  0  0  </a:t>
            </a:r>
            <a:r>
              <a:rPr lang="en-US" altLang="zh-TW" sz="1000" b="1" dirty="0">
                <a:solidFill>
                  <a:schemeClr val="accent2"/>
                </a:solidFill>
                <a:latin typeface="Menlo" panose="020B0609030804020204" pitchFamily="49" charset="0"/>
              </a:rPr>
              <a:t>1</a:t>
            </a:r>
            <a:r>
              <a:rPr lang="en-US" altLang="zh-TW" sz="1000" b="1" dirty="0">
                <a:solidFill>
                  <a:srgbClr val="000000"/>
                </a:solidFill>
                <a:latin typeface="Menlo" panose="020B0609030804020204" pitchFamily="49" charset="0"/>
              </a:rPr>
              <a:t>  1  1 </a:t>
            </a:r>
          </a:p>
          <a:p>
            <a:r>
              <a:rPr lang="en-US" altLang="zh-TW" sz="1000" b="1" dirty="0">
                <a:solidFill>
                  <a:srgbClr val="000000"/>
                </a:solidFill>
                <a:latin typeface="Menlo" panose="020B0609030804020204" pitchFamily="49" charset="0"/>
              </a:rPr>
              <a:t>10  0  0  0  0  0  0  0  0  0  0  0  0  0  0 </a:t>
            </a:r>
          </a:p>
          <a:p>
            <a:r>
              <a:rPr lang="en-US" altLang="zh-TW" sz="1000" b="1" dirty="0">
                <a:solidFill>
                  <a:srgbClr val="000000"/>
                </a:solidFill>
                <a:latin typeface="Menlo" panose="020B0609030804020204" pitchFamily="49" charset="0"/>
              </a:rPr>
              <a:t>11  0  0  0  0  0  0  0  0  0  0  0  0  0  0 </a:t>
            </a:r>
          </a:p>
          <a:p>
            <a:r>
              <a:rPr lang="en-US" altLang="zh-TW" sz="1000" b="1" dirty="0">
                <a:solidFill>
                  <a:srgbClr val="000000"/>
                </a:solidFill>
                <a:latin typeface="Menlo" panose="020B0609030804020204" pitchFamily="49" charset="0"/>
              </a:rPr>
              <a:t>12  0  0  0  0  0  0  0  0  0  0  0  0  0  0 </a:t>
            </a:r>
          </a:p>
          <a:p>
            <a:r>
              <a:rPr lang="en-US" altLang="zh-TW" sz="1000" b="1" dirty="0">
                <a:solidFill>
                  <a:srgbClr val="000000"/>
                </a:solidFill>
                <a:latin typeface="Menlo" panose="020B0609030804020204" pitchFamily="49" charset="0"/>
              </a:rPr>
              <a:t>13  0  0  0  0  0  0  0  0  0  0  0  0  0  0</a:t>
            </a:r>
            <a:endParaRPr lang="en-US" altLang="zh-TW" sz="1000" dirty="0">
              <a:solidFill>
                <a:srgbClr val="000000"/>
              </a:solidFill>
              <a:effectLst/>
              <a:latin typeface="Menlo" panose="020B0609030804020204" pitchFamily="49" charset="0"/>
            </a:endParaRPr>
          </a:p>
        </p:txBody>
      </p:sp>
      <p:sp>
        <p:nvSpPr>
          <p:cNvPr id="13" name="矩形 12">
            <a:extLst>
              <a:ext uri="{FF2B5EF4-FFF2-40B4-BE49-F238E27FC236}">
                <a16:creationId xmlns:a16="http://schemas.microsoft.com/office/drawing/2014/main" id="{FA346BFA-BC01-E2EE-4EA5-AD3A792B02AC}"/>
              </a:ext>
            </a:extLst>
          </p:cNvPr>
          <p:cNvSpPr/>
          <p:nvPr/>
        </p:nvSpPr>
        <p:spPr>
          <a:xfrm>
            <a:off x="4361291" y="627393"/>
            <a:ext cx="3780617" cy="2708434"/>
          </a:xfrm>
          <a:prstGeom prst="rect">
            <a:avLst/>
          </a:prstGeom>
        </p:spPr>
        <p:txBody>
          <a:bodyPr wrap="square">
            <a:spAutoFit/>
          </a:bodyPr>
          <a:lstStyle/>
          <a:p>
            <a:r>
              <a:rPr lang="en-US" altLang="zh-TW" sz="1000" b="1" dirty="0">
                <a:solidFill>
                  <a:srgbClr val="000000"/>
                </a:solidFill>
                <a:latin typeface="Menlo" panose="020B0609030804020204" pitchFamily="49" charset="0"/>
              </a:rPr>
              <a:t>A : </a:t>
            </a:r>
            <a:r>
              <a:rPr lang="en-US" altLang="zh-TW" sz="1000" b="1" dirty="0" err="1">
                <a:solidFill>
                  <a:srgbClr val="000000"/>
                </a:solidFill>
                <a:latin typeface="Menlo" panose="020B0609030804020204" pitchFamily="49" charset="0"/>
              </a:rPr>
              <a:t>cbca</a:t>
            </a:r>
            <a:r>
              <a:rPr lang="en-US" altLang="zh-TW" sz="1000" b="1" dirty="0">
                <a:solidFill>
                  <a:srgbClr val="000000"/>
                </a:solidFill>
                <a:latin typeface="Menlo" panose="020B0609030804020204" pitchFamily="49" charset="0"/>
              </a:rPr>
              <a:t>, B : </a:t>
            </a:r>
            <a:r>
              <a:rPr lang="en-US" altLang="zh-TW" sz="1000" b="1" dirty="0" err="1">
                <a:solidFill>
                  <a:srgbClr val="000000"/>
                </a:solidFill>
                <a:latin typeface="Menlo" panose="020B0609030804020204" pitchFamily="49" charset="0"/>
              </a:rPr>
              <a:t>baabcabcabaca</a:t>
            </a:r>
            <a:endParaRPr lang="en-US" altLang="zh-TW" sz="1000" b="1" dirty="0">
              <a:solidFill>
                <a:srgbClr val="000000"/>
              </a:solidFill>
              <a:latin typeface="Menlo" panose="020B0609030804020204" pitchFamily="49" charset="0"/>
            </a:endParaRPr>
          </a:p>
          <a:p>
            <a:r>
              <a:rPr lang="en-US" altLang="zh-TW" sz="1000" b="1" dirty="0">
                <a:solidFill>
                  <a:srgbClr val="000000"/>
                </a:solidFill>
                <a:latin typeface="Menlo" panose="020B0609030804020204" pitchFamily="49" charset="0"/>
              </a:rPr>
              <a:t>d2 : </a:t>
            </a:r>
          </a:p>
          <a:p>
            <a:r>
              <a:rPr lang="en-US" altLang="zh-TW" sz="1000" b="1" dirty="0" err="1">
                <a:solidFill>
                  <a:srgbClr val="000000"/>
                </a:solidFill>
                <a:latin typeface="Menlo" panose="020B0609030804020204" pitchFamily="49" charset="0"/>
              </a:rPr>
              <a:t>i</a:t>
            </a:r>
            <a:r>
              <a:rPr lang="en-US" altLang="zh-TW" sz="1000" b="1" dirty="0">
                <a:solidFill>
                  <a:srgbClr val="000000"/>
                </a:solidFill>
                <a:latin typeface="Menlo" panose="020B0609030804020204" pitchFamily="49" charset="0"/>
              </a:rPr>
              <a:t>\j 0  1  2  3  4  5  6  7  8  9 10 11 12 13 </a:t>
            </a:r>
          </a:p>
          <a:p>
            <a:r>
              <a:rPr lang="en-US" altLang="zh-TW" sz="1000" b="1" dirty="0">
                <a:solidFill>
                  <a:srgbClr val="000000"/>
                </a:solidFill>
                <a:latin typeface="Menlo" panose="020B0609030804020204" pitchFamily="49" charset="0"/>
              </a:rPr>
              <a:t> 0  0  0  0  0  0  0  0  0  0  0  0  0  0  0 </a:t>
            </a:r>
          </a:p>
          <a:p>
            <a:r>
              <a:rPr lang="en-US" altLang="zh-TW" sz="1000" b="1" dirty="0">
                <a:solidFill>
                  <a:srgbClr val="000000"/>
                </a:solidFill>
                <a:latin typeface="Menlo" panose="020B0609030804020204" pitchFamily="49" charset="0"/>
              </a:rPr>
              <a:t> 1  0  0  0  1  2  </a:t>
            </a:r>
            <a:r>
              <a:rPr lang="en-US" altLang="zh-TW" sz="1000" b="1" dirty="0">
                <a:solidFill>
                  <a:schemeClr val="accent2"/>
                </a:solidFill>
                <a:latin typeface="Menlo" panose="020B0609030804020204" pitchFamily="49" charset="0"/>
              </a:rPr>
              <a:t>3</a:t>
            </a:r>
            <a:r>
              <a:rPr lang="en-US" altLang="zh-TW" sz="1000" b="1" dirty="0">
                <a:solidFill>
                  <a:srgbClr val="000000"/>
                </a:solidFill>
                <a:latin typeface="Menlo" panose="020B0609030804020204" pitchFamily="49" charset="0"/>
              </a:rPr>
              <a:t>  3  4  5  5  6  7  8  9 </a:t>
            </a:r>
          </a:p>
          <a:p>
            <a:r>
              <a:rPr lang="en-US" altLang="zh-TW" sz="1000" b="1" dirty="0">
                <a:solidFill>
                  <a:srgbClr val="000000"/>
                </a:solidFill>
                <a:latin typeface="Menlo" panose="020B0609030804020204" pitchFamily="49" charset="0"/>
              </a:rPr>
              <a:t> 2  0  0  0  </a:t>
            </a:r>
            <a:r>
              <a:rPr lang="en-US" altLang="zh-TW" sz="1000" b="1" dirty="0">
                <a:solidFill>
                  <a:schemeClr val="accent2"/>
                </a:solidFill>
                <a:latin typeface="Menlo" panose="020B0609030804020204" pitchFamily="49" charset="0"/>
              </a:rPr>
              <a:t>1</a:t>
            </a:r>
            <a:r>
              <a:rPr lang="en-US" altLang="zh-TW" sz="1000" b="1" dirty="0">
                <a:solidFill>
                  <a:srgbClr val="000000"/>
                </a:solidFill>
                <a:latin typeface="Menlo" panose="020B0609030804020204" pitchFamily="49" charset="0"/>
              </a:rPr>
              <a:t>  2  2  2  3  4  4  5  6  7  8 </a:t>
            </a:r>
          </a:p>
          <a:p>
            <a:r>
              <a:rPr lang="en-US" altLang="zh-TW" sz="1000" b="1" dirty="0">
                <a:solidFill>
                  <a:srgbClr val="000000"/>
                </a:solidFill>
                <a:latin typeface="Menlo" panose="020B0609030804020204" pitchFamily="49" charset="0"/>
              </a:rPr>
              <a:t> 3  0  0  0  0  </a:t>
            </a:r>
            <a:r>
              <a:rPr lang="en-US" altLang="zh-TW" sz="1000" b="1" dirty="0">
                <a:solidFill>
                  <a:schemeClr val="accent2"/>
                </a:solidFill>
                <a:latin typeface="Menlo" panose="020B0609030804020204" pitchFamily="49" charset="0"/>
              </a:rPr>
              <a:t>1</a:t>
            </a:r>
            <a:r>
              <a:rPr lang="en-US" altLang="zh-TW" sz="1000" b="1" dirty="0">
                <a:solidFill>
                  <a:srgbClr val="000000"/>
                </a:solidFill>
                <a:latin typeface="Menlo" panose="020B0609030804020204" pitchFamily="49" charset="0"/>
              </a:rPr>
              <a:t>  1  1  2  3  3  4  5  6  7 </a:t>
            </a:r>
          </a:p>
          <a:p>
            <a:r>
              <a:rPr lang="en-US" altLang="zh-TW" sz="1000" b="1" dirty="0">
                <a:solidFill>
                  <a:srgbClr val="000000"/>
                </a:solidFill>
                <a:latin typeface="Menlo" panose="020B0609030804020204" pitchFamily="49" charset="0"/>
              </a:rPr>
              <a:t> 4  0  0  0  0  0  0  0  1  </a:t>
            </a:r>
            <a:r>
              <a:rPr lang="en-US" altLang="zh-TW" sz="1000" b="1" dirty="0">
                <a:solidFill>
                  <a:schemeClr val="accent2"/>
                </a:solidFill>
                <a:latin typeface="Menlo" panose="020B0609030804020204" pitchFamily="49" charset="0"/>
              </a:rPr>
              <a:t>2</a:t>
            </a:r>
            <a:r>
              <a:rPr lang="en-US" altLang="zh-TW" sz="1000" b="1" dirty="0">
                <a:solidFill>
                  <a:srgbClr val="000000"/>
                </a:solidFill>
                <a:latin typeface="Menlo" panose="020B0609030804020204" pitchFamily="49" charset="0"/>
              </a:rPr>
              <a:t>  2  3  4  5  6 </a:t>
            </a:r>
          </a:p>
          <a:p>
            <a:r>
              <a:rPr lang="en-US" altLang="zh-TW" sz="1000" b="1" dirty="0">
                <a:solidFill>
                  <a:srgbClr val="000000"/>
                </a:solidFill>
                <a:latin typeface="Menlo" panose="020B0609030804020204" pitchFamily="49" charset="0"/>
              </a:rPr>
              <a:t> 5  0  0  0  0  0  0  0  1  1  1  2  3  4  </a:t>
            </a:r>
            <a:r>
              <a:rPr lang="en-US" altLang="zh-TW" sz="1000" b="1" dirty="0">
                <a:solidFill>
                  <a:schemeClr val="accent2"/>
                </a:solidFill>
                <a:latin typeface="Menlo" panose="020B0609030804020204" pitchFamily="49" charset="0"/>
              </a:rPr>
              <a:t>5</a:t>
            </a:r>
            <a:r>
              <a:rPr lang="en-US" altLang="zh-TW" sz="1000" b="1" dirty="0">
                <a:solidFill>
                  <a:srgbClr val="000000"/>
                </a:solidFill>
                <a:latin typeface="Menlo" panose="020B0609030804020204" pitchFamily="49" charset="0"/>
              </a:rPr>
              <a:t> </a:t>
            </a:r>
          </a:p>
          <a:p>
            <a:r>
              <a:rPr lang="en-US" altLang="zh-TW" sz="1000" b="1" dirty="0">
                <a:solidFill>
                  <a:srgbClr val="000000"/>
                </a:solidFill>
                <a:latin typeface="Menlo" panose="020B0609030804020204" pitchFamily="49" charset="0"/>
              </a:rPr>
              <a:t> 6  0  0  0  0  0  0  0  </a:t>
            </a:r>
            <a:r>
              <a:rPr lang="en-US" altLang="zh-TW" sz="1000" b="1" dirty="0">
                <a:solidFill>
                  <a:schemeClr val="accent2"/>
                </a:solidFill>
                <a:latin typeface="Menlo" panose="020B0609030804020204" pitchFamily="49" charset="0"/>
              </a:rPr>
              <a:t>1</a:t>
            </a:r>
            <a:r>
              <a:rPr lang="en-US" altLang="zh-TW" sz="1000" b="1" dirty="0">
                <a:solidFill>
                  <a:srgbClr val="000000"/>
                </a:solidFill>
                <a:latin typeface="Menlo" panose="020B0609030804020204" pitchFamily="49" charset="0"/>
              </a:rPr>
              <a:t>  1  1  2  3  4  4 </a:t>
            </a:r>
          </a:p>
          <a:p>
            <a:r>
              <a:rPr lang="en-US" altLang="zh-TW" sz="1000" b="1" dirty="0">
                <a:solidFill>
                  <a:srgbClr val="000000"/>
                </a:solidFill>
                <a:latin typeface="Menlo" panose="020B0609030804020204" pitchFamily="49" charset="0"/>
              </a:rPr>
              <a:t> 7  0  0  0  0  0  0  0  0  0  0  1  </a:t>
            </a:r>
            <a:r>
              <a:rPr lang="en-US" altLang="zh-TW" sz="1000" b="1" dirty="0">
                <a:solidFill>
                  <a:schemeClr val="accent2"/>
                </a:solidFill>
                <a:latin typeface="Menlo" panose="020B0609030804020204" pitchFamily="49" charset="0"/>
              </a:rPr>
              <a:t>2</a:t>
            </a:r>
            <a:r>
              <a:rPr lang="en-US" altLang="zh-TW" sz="1000" b="1" dirty="0">
                <a:solidFill>
                  <a:srgbClr val="000000"/>
                </a:solidFill>
                <a:latin typeface="Menlo" panose="020B0609030804020204" pitchFamily="49" charset="0"/>
              </a:rPr>
              <a:t>  3  3 </a:t>
            </a:r>
          </a:p>
          <a:p>
            <a:r>
              <a:rPr lang="en-US" altLang="zh-TW" sz="1000" b="1" dirty="0">
                <a:solidFill>
                  <a:srgbClr val="000000"/>
                </a:solidFill>
                <a:latin typeface="Menlo" panose="020B0609030804020204" pitchFamily="49" charset="0"/>
              </a:rPr>
              <a:t> 8  0  0  0  0  0  0  0  0  0  0  1  1  2  2 </a:t>
            </a:r>
          </a:p>
          <a:p>
            <a:r>
              <a:rPr lang="en-US" altLang="zh-TW" sz="1000" b="1" dirty="0">
                <a:solidFill>
                  <a:srgbClr val="000000"/>
                </a:solidFill>
                <a:latin typeface="Menlo" panose="020B0609030804020204" pitchFamily="49" charset="0"/>
              </a:rPr>
              <a:t> 9  0  0  0  0  0  0  0  0  0  0  </a:t>
            </a:r>
            <a:r>
              <a:rPr lang="en-US" altLang="zh-TW" sz="1000" b="1" dirty="0">
                <a:solidFill>
                  <a:schemeClr val="accent2"/>
                </a:solidFill>
                <a:latin typeface="Menlo" panose="020B0609030804020204" pitchFamily="49" charset="0"/>
              </a:rPr>
              <a:t>1</a:t>
            </a:r>
            <a:r>
              <a:rPr lang="en-US" altLang="zh-TW" sz="1000" b="1" dirty="0">
                <a:solidFill>
                  <a:srgbClr val="000000"/>
                </a:solidFill>
                <a:latin typeface="Menlo" panose="020B0609030804020204" pitchFamily="49" charset="0"/>
              </a:rPr>
              <a:t>  1  2  2 </a:t>
            </a:r>
          </a:p>
          <a:p>
            <a:r>
              <a:rPr lang="en-US" altLang="zh-TW" sz="1000" b="1" dirty="0">
                <a:solidFill>
                  <a:srgbClr val="000000"/>
                </a:solidFill>
                <a:latin typeface="Menlo" panose="020B0609030804020204" pitchFamily="49" charset="0"/>
              </a:rPr>
              <a:t>10  0  0  0  0  0  0  0  0  0  0  0  0  1  1 </a:t>
            </a:r>
          </a:p>
          <a:p>
            <a:r>
              <a:rPr lang="en-US" altLang="zh-TW" sz="1000" b="1" dirty="0">
                <a:solidFill>
                  <a:srgbClr val="000000"/>
                </a:solidFill>
                <a:latin typeface="Menlo" panose="020B0609030804020204" pitchFamily="49" charset="0"/>
              </a:rPr>
              <a:t>11  0  0  0  0  0  0  0  0  0  0  0  0  </a:t>
            </a:r>
            <a:r>
              <a:rPr lang="en-US" altLang="zh-TW" sz="1000" b="1" dirty="0">
                <a:solidFill>
                  <a:schemeClr val="accent2"/>
                </a:solidFill>
                <a:latin typeface="Menlo" panose="020B0609030804020204" pitchFamily="49" charset="0"/>
              </a:rPr>
              <a:t>1</a:t>
            </a:r>
            <a:r>
              <a:rPr lang="en-US" altLang="zh-TW" sz="1000" b="1" dirty="0">
                <a:solidFill>
                  <a:srgbClr val="000000"/>
                </a:solidFill>
                <a:latin typeface="Menlo" panose="020B0609030804020204" pitchFamily="49" charset="0"/>
              </a:rPr>
              <a:t>  1 </a:t>
            </a:r>
          </a:p>
          <a:p>
            <a:r>
              <a:rPr lang="en-US" altLang="zh-TW" sz="1000" b="1" dirty="0">
                <a:solidFill>
                  <a:srgbClr val="000000"/>
                </a:solidFill>
                <a:latin typeface="Menlo" panose="020B0609030804020204" pitchFamily="49" charset="0"/>
              </a:rPr>
              <a:t>12  0  0  0  0  0  0  0  0  0  0  0  0  0  0 </a:t>
            </a:r>
          </a:p>
          <a:p>
            <a:r>
              <a:rPr lang="en-US" altLang="zh-TW" sz="1000" b="1" dirty="0">
                <a:solidFill>
                  <a:srgbClr val="000000"/>
                </a:solidFill>
                <a:latin typeface="Menlo" panose="020B0609030804020204" pitchFamily="49" charset="0"/>
              </a:rPr>
              <a:t>13  0  0  0  0  0  0  0  0  0  0  0  0  0  0</a:t>
            </a:r>
            <a:endParaRPr lang="en-US" altLang="zh-TW" sz="1000" dirty="0">
              <a:solidFill>
                <a:srgbClr val="000000"/>
              </a:solidFill>
              <a:effectLst/>
              <a:latin typeface="Menlo" panose="020B0609030804020204" pitchFamily="49" charset="0"/>
            </a:endParaRPr>
          </a:p>
        </p:txBody>
      </p:sp>
      <p:sp>
        <p:nvSpPr>
          <p:cNvPr id="14" name="矩形 13">
            <a:extLst>
              <a:ext uri="{FF2B5EF4-FFF2-40B4-BE49-F238E27FC236}">
                <a16:creationId xmlns:a16="http://schemas.microsoft.com/office/drawing/2014/main" id="{328C079E-B66B-0B2C-57B8-02CD8FB76537}"/>
              </a:ext>
            </a:extLst>
          </p:cNvPr>
          <p:cNvSpPr/>
          <p:nvPr/>
        </p:nvSpPr>
        <p:spPr>
          <a:xfrm>
            <a:off x="381911" y="3778709"/>
            <a:ext cx="3787036" cy="2554545"/>
          </a:xfrm>
          <a:prstGeom prst="rect">
            <a:avLst/>
          </a:prstGeom>
        </p:spPr>
        <p:txBody>
          <a:bodyPr wrap="square">
            <a:spAutoFit/>
          </a:bodyPr>
          <a:lstStyle/>
          <a:p>
            <a:r>
              <a:rPr lang="en-US" altLang="zh-TW" sz="1000" b="1" dirty="0">
                <a:solidFill>
                  <a:srgbClr val="FF0000"/>
                </a:solidFill>
                <a:latin typeface="Menlo" panose="020B0609030804020204" pitchFamily="49" charset="0"/>
                <a:ea typeface="Menlo" panose="020B0609030804020204" pitchFamily="49" charset="0"/>
                <a:cs typeface="Menlo" panose="020B0609030804020204" pitchFamily="49" charset="0"/>
              </a:rPr>
              <a:t>d1 ⊙</a:t>
            </a:r>
            <a:r>
              <a:rPr lang="en-US" altLang="zh-TW" sz="1000" b="1" baseline="-25000" dirty="0">
                <a:solidFill>
                  <a:srgbClr val="FF0000"/>
                </a:solidFill>
                <a:latin typeface="Menlo" panose="020B0609030804020204" pitchFamily="49" charset="0"/>
                <a:ea typeface="Menlo" panose="020B0609030804020204" pitchFamily="49" charset="0"/>
                <a:cs typeface="Menlo" panose="020B0609030804020204" pitchFamily="49" charset="0"/>
              </a:rPr>
              <a:t>min</a:t>
            </a:r>
            <a:r>
              <a:rPr lang="en-US" altLang="zh-TW" sz="1000" b="1" dirty="0">
                <a:solidFill>
                  <a:srgbClr val="FF0000"/>
                </a:solidFill>
                <a:latin typeface="Menlo" panose="020B0609030804020204" pitchFamily="49" charset="0"/>
                <a:ea typeface="Menlo" panose="020B0609030804020204" pitchFamily="49" charset="0"/>
                <a:cs typeface="Menlo" panose="020B0609030804020204" pitchFamily="49" charset="0"/>
              </a:rPr>
              <a:t> d2 = d3</a:t>
            </a:r>
            <a:r>
              <a:rPr lang="en-US" altLang="zh-TW" sz="1000" b="1" dirty="0">
                <a:latin typeface="Menlo" panose="020B0609030804020204" pitchFamily="49" charset="0"/>
                <a:ea typeface="Menlo" panose="020B0609030804020204" pitchFamily="49" charset="0"/>
                <a:cs typeface="Menlo" panose="020B0609030804020204" pitchFamily="49" charset="0"/>
              </a:rPr>
              <a:t> : </a:t>
            </a:r>
            <a:r>
              <a:rPr lang="zh-TW" altLang="en-US" sz="1000" b="1" dirty="0">
                <a:latin typeface="Menlo" panose="020B0609030804020204" pitchFamily="49" charset="0"/>
                <a:ea typeface="Menlo" panose="020B0609030804020204" pitchFamily="49" charset="0"/>
                <a:cs typeface="Menlo" panose="020B0609030804020204" pitchFamily="49" charset="0"/>
              </a:rPr>
              <a:t>（正確的）</a:t>
            </a:r>
            <a:endParaRPr lang="en-US" altLang="zh-TW" sz="1000" b="1" dirty="0">
              <a:latin typeface="Menlo" panose="020B0609030804020204" pitchFamily="49" charset="0"/>
            </a:endParaRPr>
          </a:p>
          <a:p>
            <a:r>
              <a:rPr lang="en-US" altLang="zh-TW" sz="1000" b="1" dirty="0" err="1">
                <a:solidFill>
                  <a:srgbClr val="000000"/>
                </a:solidFill>
                <a:latin typeface="Menlo" panose="020B0609030804020204" pitchFamily="49" charset="0"/>
              </a:rPr>
              <a:t>i</a:t>
            </a:r>
            <a:r>
              <a:rPr lang="en-US" altLang="zh-TW" sz="1000" b="1" dirty="0">
                <a:solidFill>
                  <a:srgbClr val="000000"/>
                </a:solidFill>
                <a:latin typeface="Menlo" panose="020B0609030804020204" pitchFamily="49" charset="0"/>
              </a:rPr>
              <a:t>\k 0  1  2  3  4  5  6  7  8  9 10 11 12 13 </a:t>
            </a:r>
          </a:p>
          <a:p>
            <a:r>
              <a:rPr lang="en-US" altLang="zh-TW" sz="1000" b="1" dirty="0">
                <a:solidFill>
                  <a:srgbClr val="000000"/>
                </a:solidFill>
                <a:latin typeface="Menlo" panose="020B0609030804020204" pitchFamily="49" charset="0"/>
              </a:rPr>
              <a:t> 0  0  0  0  0  0  0  0  0  0  0  0  0  0  0 </a:t>
            </a:r>
          </a:p>
          <a:p>
            <a:r>
              <a:rPr lang="en-US" altLang="zh-TW" sz="1000" b="1" dirty="0">
                <a:solidFill>
                  <a:srgbClr val="000000"/>
                </a:solidFill>
                <a:latin typeface="Menlo" panose="020B0609030804020204" pitchFamily="49" charset="0"/>
              </a:rPr>
              <a:t> 1  ∞  0  0  0  0  0  0  1  1  1  2  3  4  4 </a:t>
            </a:r>
          </a:p>
          <a:p>
            <a:r>
              <a:rPr lang="en-US" altLang="zh-TW" sz="1000" b="1" dirty="0">
                <a:solidFill>
                  <a:srgbClr val="000000"/>
                </a:solidFill>
                <a:latin typeface="Menlo" panose="020B0609030804020204" pitchFamily="49" charset="0"/>
              </a:rPr>
              <a:t> 2  ∞  ∞  0  0  0  0  0  1  1  1  2  3  4  4 </a:t>
            </a:r>
          </a:p>
          <a:p>
            <a:r>
              <a:rPr lang="en-US" altLang="zh-TW" sz="1000" b="1" dirty="0">
                <a:solidFill>
                  <a:srgbClr val="000000"/>
                </a:solidFill>
                <a:latin typeface="Menlo" panose="020B0609030804020204" pitchFamily="49" charset="0"/>
              </a:rPr>
              <a:t> 3  ∞  ∞  ∞  0  0  0  0  1  1  1  2  2  3  3 </a:t>
            </a:r>
          </a:p>
          <a:p>
            <a:r>
              <a:rPr lang="en-US" altLang="zh-TW" sz="1000" b="1" dirty="0">
                <a:solidFill>
                  <a:srgbClr val="000000"/>
                </a:solidFill>
                <a:latin typeface="Menlo" panose="020B0609030804020204" pitchFamily="49" charset="0"/>
              </a:rPr>
              <a:t> 4  ∞  ∞  ∞  ∞  0  0  0  0  0  0  1  1  2  2 </a:t>
            </a:r>
          </a:p>
          <a:p>
            <a:r>
              <a:rPr lang="en-US" altLang="zh-TW" sz="1000" b="1" dirty="0">
                <a:solidFill>
                  <a:srgbClr val="000000"/>
                </a:solidFill>
                <a:latin typeface="Menlo" panose="020B0609030804020204" pitchFamily="49" charset="0"/>
              </a:rPr>
              <a:t> 5  ∞  ∞  ∞  ∞  ∞  0  0  0  0  0  1  1  2  2 </a:t>
            </a:r>
          </a:p>
          <a:p>
            <a:r>
              <a:rPr lang="en-US" altLang="zh-TW" sz="1000" b="1" dirty="0">
                <a:solidFill>
                  <a:srgbClr val="000000"/>
                </a:solidFill>
                <a:latin typeface="Menlo" panose="020B0609030804020204" pitchFamily="49" charset="0"/>
              </a:rPr>
              <a:t> 6  ∞  ∞  ∞  ∞  ∞  ∞  0  0  0  0  1  1  2  2 </a:t>
            </a:r>
          </a:p>
          <a:p>
            <a:r>
              <a:rPr lang="en-US" altLang="zh-TW" sz="1000" b="1" dirty="0">
                <a:solidFill>
                  <a:srgbClr val="000000"/>
                </a:solidFill>
                <a:latin typeface="Menlo" panose="020B0609030804020204" pitchFamily="49" charset="0"/>
              </a:rPr>
              <a:t> 7  ∞  ∞  ∞  ∞  ∞  ∞  ∞  0  0  0  0  0  1  1 </a:t>
            </a:r>
          </a:p>
          <a:p>
            <a:r>
              <a:rPr lang="en-US" altLang="zh-TW" sz="1000" b="1" dirty="0">
                <a:solidFill>
                  <a:srgbClr val="000000"/>
                </a:solidFill>
                <a:latin typeface="Menlo" panose="020B0609030804020204" pitchFamily="49" charset="0"/>
              </a:rPr>
              <a:t> 8  ∞  ∞  ∞  ∞  ∞  ∞  ∞  ∞  0  0  0  0  1  1 </a:t>
            </a:r>
          </a:p>
          <a:p>
            <a:r>
              <a:rPr lang="en-US" altLang="zh-TW" sz="1000" b="1" dirty="0">
                <a:solidFill>
                  <a:srgbClr val="000000"/>
                </a:solidFill>
                <a:latin typeface="Menlo" panose="020B0609030804020204" pitchFamily="49" charset="0"/>
              </a:rPr>
              <a:t> 9  ∞  ∞  ∞  ∞  ∞  ∞  ∞  ∞  ∞  0  0  0  1  1 </a:t>
            </a:r>
          </a:p>
          <a:p>
            <a:r>
              <a:rPr lang="en-US" altLang="zh-TW" sz="1000" b="1" dirty="0">
                <a:solidFill>
                  <a:srgbClr val="000000"/>
                </a:solidFill>
                <a:latin typeface="Menlo" panose="020B0609030804020204" pitchFamily="49" charset="0"/>
              </a:rPr>
              <a:t>10  ∞  ∞  ∞  ∞  ∞  ∞  ∞  ∞  ∞  ∞  0  0  0  0 </a:t>
            </a:r>
          </a:p>
          <a:p>
            <a:r>
              <a:rPr lang="en-US" altLang="zh-TW" sz="1000" b="1" dirty="0">
                <a:solidFill>
                  <a:srgbClr val="000000"/>
                </a:solidFill>
                <a:latin typeface="Menlo" panose="020B0609030804020204" pitchFamily="49" charset="0"/>
              </a:rPr>
              <a:t>11  ∞  ∞  ∞  ∞  ∞  ∞  ∞  ∞  ∞  ∞  ∞  0  0  0 </a:t>
            </a:r>
          </a:p>
          <a:p>
            <a:r>
              <a:rPr lang="en-US" altLang="zh-TW" sz="1000" b="1" dirty="0">
                <a:solidFill>
                  <a:srgbClr val="000000"/>
                </a:solidFill>
                <a:latin typeface="Menlo" panose="020B0609030804020204" pitchFamily="49" charset="0"/>
              </a:rPr>
              <a:t>12  ∞  ∞  ∞  ∞  ∞  ∞  ∞  ∞  ∞  ∞  ∞  ∞  0  0 </a:t>
            </a:r>
          </a:p>
          <a:p>
            <a:r>
              <a:rPr lang="en-US" altLang="zh-TW" sz="1000" b="1" dirty="0">
                <a:solidFill>
                  <a:srgbClr val="000000"/>
                </a:solidFill>
                <a:latin typeface="Menlo" panose="020B0609030804020204" pitchFamily="49" charset="0"/>
              </a:rPr>
              <a:t>13  ∞  ∞  ∞  ∞  ∞  ∞  ∞  ∞  ∞  ∞  ∞  ∞  ∞  0</a:t>
            </a:r>
            <a:endParaRPr lang="zh-TW" altLang="en-US" sz="1000" dirty="0">
              <a:solidFill>
                <a:srgbClr val="000000"/>
              </a:solidFill>
              <a:effectLst/>
              <a:latin typeface="Menlo" panose="020B0609030804020204" pitchFamily="49" charset="0"/>
            </a:endParaRPr>
          </a:p>
        </p:txBody>
      </p:sp>
      <p:sp>
        <p:nvSpPr>
          <p:cNvPr id="16" name="文字方塊 15">
            <a:extLst>
              <a:ext uri="{FF2B5EF4-FFF2-40B4-BE49-F238E27FC236}">
                <a16:creationId xmlns:a16="http://schemas.microsoft.com/office/drawing/2014/main" id="{C97D13B2-4667-A354-D427-C16C20F1308C}"/>
              </a:ext>
            </a:extLst>
          </p:cNvPr>
          <p:cNvSpPr txBox="1"/>
          <p:nvPr/>
        </p:nvSpPr>
        <p:spPr>
          <a:xfrm>
            <a:off x="8177353" y="1409777"/>
            <a:ext cx="2460930" cy="923330"/>
          </a:xfrm>
          <a:prstGeom prst="rect">
            <a:avLst/>
          </a:prstGeom>
          <a:noFill/>
        </p:spPr>
        <p:txBody>
          <a:bodyPr wrap="none" rtlCol="0">
            <a:spAutoFit/>
          </a:bodyPr>
          <a:lstStyle/>
          <a:p>
            <a:pPr marL="342900" indent="-342900">
              <a:buFont typeface="Arial" panose="020B0604020202020204" pitchFamily="34" charset="0"/>
              <a:buChar char="•"/>
            </a:pPr>
            <a:r>
              <a:rPr lang="zh-TW" altLang="en-US" dirty="0">
                <a:latin typeface="Times New Roman" panose="02020603050405020304" pitchFamily="18" charset="0"/>
                <a:cs typeface="Times New Roman" panose="02020603050405020304" pitchFamily="18" charset="0"/>
              </a:rPr>
              <a:t>對於</a:t>
            </a:r>
            <a:r>
              <a:rPr lang="en-US" altLang="zh-TW" dirty="0">
                <a:latin typeface="Times New Roman" panose="02020603050405020304" pitchFamily="18" charset="0"/>
                <a:cs typeface="Times New Roman" panose="02020603050405020304" pitchFamily="18" charset="0"/>
              </a:rPr>
              <a:t>d matrix</a:t>
            </a:r>
            <a:r>
              <a:rPr lang="zh-TW" altLang="en-US" dirty="0">
                <a:latin typeface="Times New Roman" panose="02020603050405020304" pitchFamily="18" charset="0"/>
                <a:cs typeface="Times New Roman" panose="02020603050405020304" pitchFamily="18" charset="0"/>
              </a:rPr>
              <a:t>來說：</a:t>
            </a:r>
            <a:endParaRPr lang="en-US" altLang="zh-TW"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TW" b="1" dirty="0">
                <a:solidFill>
                  <a:srgbClr val="FF0000"/>
                </a:solidFill>
                <a:latin typeface="Times New Roman" panose="02020603050405020304" pitchFamily="18" charset="0"/>
                <a:ea typeface="Menlo" panose="020B0609030804020204" pitchFamily="49" charset="0"/>
                <a:cs typeface="Times New Roman" panose="02020603050405020304" pitchFamily="18" charset="0"/>
              </a:rPr>
              <a:t>d1 ⊙</a:t>
            </a:r>
            <a:r>
              <a:rPr lang="en-US" altLang="zh-TW" b="1" baseline="-25000" dirty="0">
                <a:solidFill>
                  <a:srgbClr val="FF0000"/>
                </a:solidFill>
                <a:latin typeface="Times New Roman" panose="02020603050405020304" pitchFamily="18" charset="0"/>
                <a:ea typeface="Menlo" panose="020B0609030804020204" pitchFamily="49" charset="0"/>
                <a:cs typeface="Times New Roman" panose="02020603050405020304" pitchFamily="18" charset="0"/>
              </a:rPr>
              <a:t>min</a:t>
            </a:r>
            <a:r>
              <a:rPr lang="en-US" altLang="zh-TW" b="1" dirty="0">
                <a:solidFill>
                  <a:srgbClr val="FF0000"/>
                </a:solidFill>
                <a:latin typeface="Times New Roman" panose="02020603050405020304" pitchFamily="18" charset="0"/>
                <a:ea typeface="Menlo" panose="020B0609030804020204" pitchFamily="49" charset="0"/>
                <a:cs typeface="Times New Roman" panose="02020603050405020304" pitchFamily="18" charset="0"/>
              </a:rPr>
              <a:t> d2 = d3</a:t>
            </a:r>
            <a:endParaRPr lang="en-US" altLang="zh-TW" b="1" dirty="0">
              <a:solidFill>
                <a:srgbClr val="FF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TW" b="1" dirty="0">
                <a:latin typeface="Times New Roman" panose="02020603050405020304" pitchFamily="18" charset="0"/>
                <a:ea typeface="Menlo" panose="020B0609030804020204" pitchFamily="49" charset="0"/>
                <a:cs typeface="Times New Roman" panose="02020603050405020304" pitchFamily="18" charset="0"/>
              </a:rPr>
              <a:t>d1 ⊙</a:t>
            </a:r>
            <a:r>
              <a:rPr lang="en-US" altLang="zh-TW" b="1" baseline="-25000" dirty="0">
                <a:latin typeface="Times New Roman" panose="02020603050405020304" pitchFamily="18" charset="0"/>
                <a:ea typeface="Menlo" panose="020B0609030804020204" pitchFamily="49" charset="0"/>
                <a:cs typeface="Times New Roman" panose="02020603050405020304" pitchFamily="18" charset="0"/>
              </a:rPr>
              <a:t>max</a:t>
            </a:r>
            <a:r>
              <a:rPr lang="en-US" altLang="zh-TW" b="1" dirty="0">
                <a:latin typeface="Times New Roman" panose="02020603050405020304" pitchFamily="18" charset="0"/>
                <a:ea typeface="Menlo" panose="020B0609030804020204" pitchFamily="49" charset="0"/>
                <a:cs typeface="Times New Roman" panose="02020603050405020304" pitchFamily="18" charset="0"/>
              </a:rPr>
              <a:t> d2 ≠ d3</a:t>
            </a:r>
            <a:endParaRPr lang="en-US" altLang="zh-TW"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2584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normAutofit/>
          </a:bodyPr>
          <a:lstStyle/>
          <a:p>
            <a:r>
              <a:rPr kumimoji="1" lang="en-US" altLang="zh-TW" dirty="0"/>
              <a:t>Algorithm1: Divide And Conquer (1/2)</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13</a:t>
            </a:fld>
            <a:endParaRPr kumimoji="1" lang="zh-TW" altLang="en-US"/>
          </a:p>
        </p:txBody>
      </p:sp>
      <p:pic>
        <p:nvPicPr>
          <p:cNvPr id="9" name="圖片 8">
            <a:extLst>
              <a:ext uri="{FF2B5EF4-FFF2-40B4-BE49-F238E27FC236}">
                <a16:creationId xmlns:a16="http://schemas.microsoft.com/office/drawing/2014/main" id="{CDB999E7-F19B-DCD8-B4E6-789289893CD7}"/>
              </a:ext>
            </a:extLst>
          </p:cNvPr>
          <p:cNvPicPr>
            <a:picLocks noChangeAspect="1"/>
          </p:cNvPicPr>
          <p:nvPr/>
        </p:nvPicPr>
        <p:blipFill>
          <a:blip r:embed="rId2"/>
          <a:stretch>
            <a:fillRect/>
          </a:stretch>
        </p:blipFill>
        <p:spPr>
          <a:xfrm>
            <a:off x="782971" y="1505556"/>
            <a:ext cx="8712200" cy="647700"/>
          </a:xfrm>
          <a:prstGeom prst="rect">
            <a:avLst/>
          </a:prstGeom>
        </p:spPr>
      </p:pic>
      <p:pic>
        <p:nvPicPr>
          <p:cNvPr id="3" name="圖片 2">
            <a:extLst>
              <a:ext uri="{FF2B5EF4-FFF2-40B4-BE49-F238E27FC236}">
                <a16:creationId xmlns:a16="http://schemas.microsoft.com/office/drawing/2014/main" id="{D18C92AF-14A9-D49A-A934-116571865380}"/>
              </a:ext>
            </a:extLst>
          </p:cNvPr>
          <p:cNvPicPr>
            <a:picLocks noChangeAspect="1"/>
          </p:cNvPicPr>
          <p:nvPr/>
        </p:nvPicPr>
        <p:blipFill>
          <a:blip r:embed="rId3"/>
          <a:stretch>
            <a:fillRect/>
          </a:stretch>
        </p:blipFill>
        <p:spPr>
          <a:xfrm>
            <a:off x="1360557" y="3426511"/>
            <a:ext cx="5892800" cy="342900"/>
          </a:xfrm>
          <a:prstGeom prst="rect">
            <a:avLst/>
          </a:prstGeom>
        </p:spPr>
      </p:pic>
      <p:pic>
        <p:nvPicPr>
          <p:cNvPr id="4" name="圖片 3">
            <a:extLst>
              <a:ext uri="{FF2B5EF4-FFF2-40B4-BE49-F238E27FC236}">
                <a16:creationId xmlns:a16="http://schemas.microsoft.com/office/drawing/2014/main" id="{D7D787E8-98F7-3694-C53D-F310AEB8AD4E}"/>
              </a:ext>
            </a:extLst>
          </p:cNvPr>
          <p:cNvPicPr>
            <a:picLocks noChangeAspect="1"/>
          </p:cNvPicPr>
          <p:nvPr/>
        </p:nvPicPr>
        <p:blipFill>
          <a:blip r:embed="rId4"/>
          <a:stretch>
            <a:fillRect/>
          </a:stretch>
        </p:blipFill>
        <p:spPr>
          <a:xfrm>
            <a:off x="1360557" y="3880101"/>
            <a:ext cx="3708400" cy="685800"/>
          </a:xfrm>
          <a:prstGeom prst="rect">
            <a:avLst/>
          </a:prstGeom>
        </p:spPr>
      </p:pic>
      <p:pic>
        <p:nvPicPr>
          <p:cNvPr id="5" name="圖片 4">
            <a:extLst>
              <a:ext uri="{FF2B5EF4-FFF2-40B4-BE49-F238E27FC236}">
                <a16:creationId xmlns:a16="http://schemas.microsoft.com/office/drawing/2014/main" id="{E00665F3-6E24-767B-D194-046251846F96}"/>
              </a:ext>
            </a:extLst>
          </p:cNvPr>
          <p:cNvPicPr>
            <a:picLocks noChangeAspect="1"/>
          </p:cNvPicPr>
          <p:nvPr/>
        </p:nvPicPr>
        <p:blipFill>
          <a:blip r:embed="rId5"/>
          <a:stretch>
            <a:fillRect/>
          </a:stretch>
        </p:blipFill>
        <p:spPr>
          <a:xfrm>
            <a:off x="1360556" y="4817639"/>
            <a:ext cx="4292600" cy="1397000"/>
          </a:xfrm>
          <a:prstGeom prst="rect">
            <a:avLst/>
          </a:prstGeom>
        </p:spPr>
      </p:pic>
      <p:pic>
        <p:nvPicPr>
          <p:cNvPr id="12" name="圖片 11">
            <a:extLst>
              <a:ext uri="{FF2B5EF4-FFF2-40B4-BE49-F238E27FC236}">
                <a16:creationId xmlns:a16="http://schemas.microsoft.com/office/drawing/2014/main" id="{8314FAD9-9C86-54D9-D77B-17EFDEC82DE1}"/>
              </a:ext>
            </a:extLst>
          </p:cNvPr>
          <p:cNvPicPr>
            <a:picLocks noChangeAspect="1"/>
          </p:cNvPicPr>
          <p:nvPr/>
        </p:nvPicPr>
        <p:blipFill>
          <a:blip r:embed="rId6"/>
          <a:stretch>
            <a:fillRect/>
          </a:stretch>
        </p:blipFill>
        <p:spPr>
          <a:xfrm>
            <a:off x="1360555" y="2797526"/>
            <a:ext cx="4191000" cy="495300"/>
          </a:xfrm>
          <a:prstGeom prst="rect">
            <a:avLst/>
          </a:prstGeom>
        </p:spPr>
      </p:pic>
      <p:sp>
        <p:nvSpPr>
          <p:cNvPr id="13" name="矩形 12">
            <a:extLst>
              <a:ext uri="{FF2B5EF4-FFF2-40B4-BE49-F238E27FC236}">
                <a16:creationId xmlns:a16="http://schemas.microsoft.com/office/drawing/2014/main" id="{4F596022-6351-F3D0-E6F6-D4A3979B4E23}"/>
              </a:ext>
            </a:extLst>
          </p:cNvPr>
          <p:cNvSpPr/>
          <p:nvPr/>
        </p:nvSpPr>
        <p:spPr>
          <a:xfrm>
            <a:off x="5571435" y="2722018"/>
            <a:ext cx="1522789" cy="369332"/>
          </a:xfrm>
          <a:prstGeom prst="rect">
            <a:avLst/>
          </a:prstGeom>
        </p:spPr>
        <p:txBody>
          <a:bodyPr wrap="none">
            <a:spAutoFit/>
          </a:bodyPr>
          <a:lstStyle/>
          <a:p>
            <a:r>
              <a:rPr lang="en-US" altLang="zh-TW" dirty="0" err="1">
                <a:solidFill>
                  <a:srgbClr val="FF0000"/>
                </a:solidFill>
                <a:latin typeface="Times" pitchFamily="2" charset="0"/>
              </a:rPr>
              <a:t>d</a:t>
            </a:r>
            <a:r>
              <a:rPr lang="en-US" altLang="zh-TW" baseline="-25000" dirty="0" err="1">
                <a:solidFill>
                  <a:srgbClr val="FF0000"/>
                </a:solidFill>
                <a:latin typeface="Times" pitchFamily="2" charset="0"/>
              </a:rPr>
              <a:t>A</a:t>
            </a:r>
            <a:r>
              <a:rPr lang="en-US" altLang="zh-TW" dirty="0">
                <a:solidFill>
                  <a:srgbClr val="FF0000"/>
                </a:solidFill>
                <a:latin typeface="Times" pitchFamily="2" charset="0"/>
              </a:rPr>
              <a:t> </a:t>
            </a:r>
            <a:r>
              <a:rPr lang="en-US" altLang="zh-TW" dirty="0">
                <a:solidFill>
                  <a:srgbClr val="FF0000"/>
                </a:solidFill>
                <a:latin typeface="Helvetica" pitchFamily="2" charset="0"/>
              </a:rPr>
              <a:t>⊙ d</a:t>
            </a:r>
            <a:r>
              <a:rPr lang="en-US" altLang="zh-TW" baseline="-25000" dirty="0">
                <a:solidFill>
                  <a:srgbClr val="FF0000"/>
                </a:solidFill>
                <a:latin typeface="Times" pitchFamily="2" charset="0"/>
              </a:rPr>
              <a:t>B</a:t>
            </a:r>
            <a:r>
              <a:rPr lang="en-US" altLang="zh-TW" dirty="0">
                <a:solidFill>
                  <a:srgbClr val="FF0000"/>
                </a:solidFill>
                <a:latin typeface="Times" pitchFamily="2" charset="0"/>
              </a:rPr>
              <a:t> </a:t>
            </a:r>
            <a:r>
              <a:rPr lang="en-US" altLang="zh-TW" dirty="0">
                <a:solidFill>
                  <a:srgbClr val="FF0000"/>
                </a:solidFill>
                <a:latin typeface="Helvetica" pitchFamily="2" charset="0"/>
              </a:rPr>
              <a:t>= </a:t>
            </a:r>
            <a:r>
              <a:rPr lang="en-US" altLang="zh-TW" dirty="0" err="1">
                <a:solidFill>
                  <a:srgbClr val="FF0000"/>
                </a:solidFill>
                <a:latin typeface="Helvetica" pitchFamily="2" charset="0"/>
              </a:rPr>
              <a:t>d</a:t>
            </a:r>
            <a:r>
              <a:rPr lang="en-US" altLang="zh-TW" baseline="-25000" dirty="0" err="1">
                <a:solidFill>
                  <a:srgbClr val="FF0000"/>
                </a:solidFill>
                <a:latin typeface="Times" pitchFamily="2" charset="0"/>
              </a:rPr>
              <a:t>C</a:t>
            </a:r>
            <a:endParaRPr lang="en-US" altLang="zh-TW" baseline="-25000" dirty="0">
              <a:solidFill>
                <a:srgbClr val="FF0000"/>
              </a:solidFill>
              <a:effectLst/>
              <a:latin typeface="Times" pitchFamily="2" charset="0"/>
            </a:endParaRPr>
          </a:p>
        </p:txBody>
      </p:sp>
      <p:cxnSp>
        <p:nvCxnSpPr>
          <p:cNvPr id="15" name="直線接點 14">
            <a:extLst>
              <a:ext uri="{FF2B5EF4-FFF2-40B4-BE49-F238E27FC236}">
                <a16:creationId xmlns:a16="http://schemas.microsoft.com/office/drawing/2014/main" id="{3BA0B126-8973-9018-8851-1047238A337B}"/>
              </a:ext>
            </a:extLst>
          </p:cNvPr>
          <p:cNvCxnSpPr/>
          <p:nvPr/>
        </p:nvCxnSpPr>
        <p:spPr>
          <a:xfrm>
            <a:off x="1360557" y="3263009"/>
            <a:ext cx="5733667" cy="0"/>
          </a:xfrm>
          <a:prstGeom prst="line">
            <a:avLst/>
          </a:prstGeom>
        </p:spPr>
        <p:style>
          <a:lnRef idx="3">
            <a:schemeClr val="dk1"/>
          </a:lnRef>
          <a:fillRef idx="0">
            <a:schemeClr val="dk1"/>
          </a:fillRef>
          <a:effectRef idx="2">
            <a:schemeClr val="dk1"/>
          </a:effectRef>
          <a:fontRef idx="minor">
            <a:schemeClr val="tx1"/>
          </a:fontRef>
        </p:style>
      </p:cxnSp>
      <p:graphicFrame>
        <p:nvGraphicFramePr>
          <p:cNvPr id="16" name="表格 16">
            <a:extLst>
              <a:ext uri="{FF2B5EF4-FFF2-40B4-BE49-F238E27FC236}">
                <a16:creationId xmlns:a16="http://schemas.microsoft.com/office/drawing/2014/main" id="{162C6FE9-7C63-4F75-5FA0-891ED760FD69}"/>
              </a:ext>
            </a:extLst>
          </p:cNvPr>
          <p:cNvGraphicFramePr>
            <a:graphicFrameLocks noGrp="1"/>
          </p:cNvGraphicFramePr>
          <p:nvPr>
            <p:extLst>
              <p:ext uri="{D42A27DB-BD31-4B8C-83A1-F6EECF244321}">
                <p14:modId xmlns:p14="http://schemas.microsoft.com/office/powerpoint/2010/main" val="1106510530"/>
              </p:ext>
            </p:extLst>
          </p:nvPr>
        </p:nvGraphicFramePr>
        <p:xfrm>
          <a:off x="7335079" y="2087428"/>
          <a:ext cx="2848416" cy="1097280"/>
        </p:xfrm>
        <a:graphic>
          <a:graphicData uri="http://schemas.openxmlformats.org/drawingml/2006/table">
            <a:tbl>
              <a:tblPr firstRow="1" bandRow="1">
                <a:tableStyleId>{5940675A-B579-460E-94D1-54222C63F5DA}</a:tableStyleId>
              </a:tblPr>
              <a:tblGrid>
                <a:gridCol w="712104">
                  <a:extLst>
                    <a:ext uri="{9D8B030D-6E8A-4147-A177-3AD203B41FA5}">
                      <a16:colId xmlns:a16="http://schemas.microsoft.com/office/drawing/2014/main" val="4140956450"/>
                    </a:ext>
                  </a:extLst>
                </a:gridCol>
                <a:gridCol w="712104">
                  <a:extLst>
                    <a:ext uri="{9D8B030D-6E8A-4147-A177-3AD203B41FA5}">
                      <a16:colId xmlns:a16="http://schemas.microsoft.com/office/drawing/2014/main" val="2484653756"/>
                    </a:ext>
                  </a:extLst>
                </a:gridCol>
                <a:gridCol w="712104">
                  <a:extLst>
                    <a:ext uri="{9D8B030D-6E8A-4147-A177-3AD203B41FA5}">
                      <a16:colId xmlns:a16="http://schemas.microsoft.com/office/drawing/2014/main" val="850732065"/>
                    </a:ext>
                  </a:extLst>
                </a:gridCol>
                <a:gridCol w="712104">
                  <a:extLst>
                    <a:ext uri="{9D8B030D-6E8A-4147-A177-3AD203B41FA5}">
                      <a16:colId xmlns:a16="http://schemas.microsoft.com/office/drawing/2014/main" val="3267296549"/>
                    </a:ext>
                  </a:extLst>
                </a:gridCol>
              </a:tblGrid>
              <a:tr h="337913">
                <a:tc>
                  <a:txBody>
                    <a:bodyPr/>
                    <a:lstStyle/>
                    <a:p>
                      <a:pPr algn="ctr"/>
                      <a:r>
                        <a:rPr lang="en-US" altLang="zh-TW" dirty="0">
                          <a:latin typeface="Times New Roman" panose="02020603050405020304" pitchFamily="18" charset="0"/>
                          <a:cs typeface="Times New Roman" panose="02020603050405020304" pitchFamily="18" charset="0"/>
                        </a:rPr>
                        <a:t>i</a:t>
                      </a:r>
                      <a:r>
                        <a:rPr lang="en-US" altLang="zh-TW" baseline="-25000" dirty="0">
                          <a:latin typeface="Times New Roman" panose="02020603050405020304" pitchFamily="18" charset="0"/>
                          <a:cs typeface="Times New Roman" panose="02020603050405020304" pitchFamily="18" charset="0"/>
                        </a:rPr>
                        <a:t>0</a:t>
                      </a:r>
                      <a:r>
                        <a:rPr lang="en-US" altLang="zh-TW" dirty="0">
                          <a:latin typeface="Times New Roman" panose="02020603050405020304" pitchFamily="18" charset="0"/>
                          <a:cs typeface="Times New Roman" panose="02020603050405020304" pitchFamily="18" charset="0"/>
                        </a:rPr>
                        <a:t>-h</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i</a:t>
                      </a:r>
                      <a:r>
                        <a:rPr lang="en-US" altLang="zh-TW" baseline="-25000" dirty="0">
                          <a:latin typeface="Times New Roman" panose="02020603050405020304" pitchFamily="18" charset="0"/>
                          <a:cs typeface="Times New Roman" panose="02020603050405020304" pitchFamily="18" charset="0"/>
                        </a:rPr>
                        <a:t>0</a:t>
                      </a:r>
                      <a:endParaRPr lang="zh-TW" altLang="en-US" baseline="-25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19011959"/>
                  </a:ext>
                </a:extLst>
              </a:tr>
              <a:tr h="337913">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12620599"/>
                  </a:ext>
                </a:extLst>
              </a:tr>
              <a:tr h="337913">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k</a:t>
                      </a:r>
                      <a:r>
                        <a:rPr lang="en-US" altLang="zh-TW" baseline="-25000" dirty="0">
                          <a:latin typeface="Times New Roman" panose="02020603050405020304" pitchFamily="18" charset="0"/>
                          <a:cs typeface="Times New Roman" panose="02020603050405020304" pitchFamily="18" charset="0"/>
                        </a:rPr>
                        <a:t>0</a:t>
                      </a:r>
                      <a:endParaRPr lang="zh-TW" altLang="en-US"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k</a:t>
                      </a:r>
                      <a:r>
                        <a:rPr lang="en-US" altLang="zh-TW" baseline="-25000" dirty="0">
                          <a:latin typeface="Times New Roman" panose="02020603050405020304" pitchFamily="18" charset="0"/>
                          <a:cs typeface="Times New Roman" panose="02020603050405020304" pitchFamily="18" charset="0"/>
                        </a:rPr>
                        <a:t>0</a:t>
                      </a:r>
                      <a:r>
                        <a:rPr lang="en-US" altLang="zh-TW" dirty="0">
                          <a:latin typeface="Times New Roman" panose="02020603050405020304" pitchFamily="18" charset="0"/>
                          <a:cs typeface="Times New Roman" panose="02020603050405020304" pitchFamily="18" charset="0"/>
                        </a:rPr>
                        <a:t>+h</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19996339"/>
                  </a:ext>
                </a:extLst>
              </a:tr>
            </a:tbl>
          </a:graphicData>
        </a:graphic>
      </p:graphicFrame>
      <p:sp>
        <p:nvSpPr>
          <p:cNvPr id="17" name="矩形 16">
            <a:extLst>
              <a:ext uri="{FF2B5EF4-FFF2-40B4-BE49-F238E27FC236}">
                <a16:creationId xmlns:a16="http://schemas.microsoft.com/office/drawing/2014/main" id="{5DD63617-52EA-7EEE-6A25-45197F9171D7}"/>
              </a:ext>
            </a:extLst>
          </p:cNvPr>
          <p:cNvSpPr/>
          <p:nvPr/>
        </p:nvSpPr>
        <p:spPr>
          <a:xfrm>
            <a:off x="7335079" y="3208805"/>
            <a:ext cx="3564835" cy="646331"/>
          </a:xfrm>
          <a:prstGeom prst="rect">
            <a:avLst/>
          </a:prstGeom>
        </p:spPr>
        <p:txBody>
          <a:bodyPr wrap="square">
            <a:spAutoFit/>
          </a:bodyPr>
          <a:lstStyle/>
          <a:p>
            <a:r>
              <a:rPr lang="el-GR" altLang="zh-TW" dirty="0">
                <a:solidFill>
                  <a:srgbClr val="000000"/>
                </a:solidFill>
                <a:latin typeface="Times New Roman" panose="02020603050405020304" pitchFamily="18" charset="0"/>
                <a:cs typeface="Times New Roman" panose="02020603050405020304" pitchFamily="18" charset="0"/>
              </a:rPr>
              <a:t>δ</a:t>
            </a:r>
            <a:r>
              <a:rPr lang="en-US" altLang="zh-TW" baseline="-25000" dirty="0">
                <a:solidFill>
                  <a:srgbClr val="000000"/>
                </a:solidFill>
                <a:latin typeface="Times New Roman" panose="02020603050405020304" pitchFamily="18" charset="0"/>
                <a:cs typeface="Times New Roman" panose="02020603050405020304" pitchFamily="18" charset="0"/>
              </a:rPr>
              <a:t>A</a:t>
            </a:r>
            <a:r>
              <a:rPr lang="en-US" altLang="zh-TW" dirty="0">
                <a:solidFill>
                  <a:srgbClr val="000000"/>
                </a:solidFill>
                <a:latin typeface="Times New Roman" panose="02020603050405020304" pitchFamily="18" charset="0"/>
                <a:cs typeface="Times New Roman" panose="02020603050405020304" pitchFamily="18" charset="0"/>
              </a:rPr>
              <a:t>(j) denote the number of relevant </a:t>
            </a:r>
            <a:r>
              <a:rPr lang="en-US" altLang="zh-TW" dirty="0" err="1">
                <a:solidFill>
                  <a:srgbClr val="000000"/>
                </a:solidFill>
                <a:latin typeface="Times New Roman" panose="02020603050405020304" pitchFamily="18" charset="0"/>
                <a:cs typeface="Times New Roman" panose="02020603050405020304" pitchFamily="18" charset="0"/>
              </a:rPr>
              <a:t>nonzeros</a:t>
            </a:r>
            <a:r>
              <a:rPr lang="en-US" altLang="zh-TW" dirty="0">
                <a:solidFill>
                  <a:srgbClr val="000000"/>
                </a:solidFill>
                <a:latin typeface="Times New Roman" panose="02020603050405020304" pitchFamily="18" charset="0"/>
                <a:cs typeface="Times New Roman" panose="02020603050405020304" pitchFamily="18" charset="0"/>
              </a:rPr>
              <a:t> of D</a:t>
            </a:r>
            <a:r>
              <a:rPr lang="en-US" altLang="zh-TW" baseline="-25000" dirty="0">
                <a:solidFill>
                  <a:srgbClr val="000000"/>
                </a:solidFill>
                <a:latin typeface="Times New Roman" panose="02020603050405020304" pitchFamily="18" charset="0"/>
                <a:cs typeface="Times New Roman" panose="02020603050405020304" pitchFamily="18" charset="0"/>
              </a:rPr>
              <a:t>A</a:t>
            </a:r>
            <a:r>
              <a:rPr lang="en-US" altLang="zh-TW" dirty="0">
                <a:solidFill>
                  <a:srgbClr val="000000"/>
                </a:solidFill>
                <a:latin typeface="Times New Roman" panose="02020603050405020304" pitchFamily="18" charset="0"/>
                <a:cs typeface="Times New Roman" panose="02020603050405020304" pitchFamily="18" charset="0"/>
              </a:rPr>
              <a:t> in ⟨i</a:t>
            </a:r>
            <a:r>
              <a:rPr lang="en-US" altLang="zh-TW" baseline="-25000" dirty="0">
                <a:solidFill>
                  <a:srgbClr val="000000"/>
                </a:solidFill>
                <a:latin typeface="Times New Roman" panose="02020603050405020304" pitchFamily="18" charset="0"/>
                <a:cs typeface="Times New Roman" panose="02020603050405020304" pitchFamily="18" charset="0"/>
              </a:rPr>
              <a:t>0</a:t>
            </a:r>
            <a:r>
              <a:rPr lang="en-US" altLang="zh-TW" dirty="0">
                <a:solidFill>
                  <a:srgbClr val="000000"/>
                </a:solidFill>
                <a:latin typeface="Times New Roman" panose="02020603050405020304" pitchFamily="18" charset="0"/>
                <a:cs typeface="Times New Roman" panose="02020603050405020304" pitchFamily="18" charset="0"/>
              </a:rPr>
              <a:t>−h:i</a:t>
            </a:r>
            <a:r>
              <a:rPr lang="en-US" altLang="zh-TW" baseline="-25000" dirty="0">
                <a:solidFill>
                  <a:srgbClr val="000000"/>
                </a:solidFill>
                <a:latin typeface="Times New Roman" panose="02020603050405020304" pitchFamily="18" charset="0"/>
                <a:cs typeface="Times New Roman" panose="02020603050405020304" pitchFamily="18" charset="0"/>
              </a:rPr>
              <a:t>0</a:t>
            </a:r>
            <a:r>
              <a:rPr lang="en-US" altLang="zh-TW" dirty="0">
                <a:solidFill>
                  <a:srgbClr val="000000"/>
                </a:solidFill>
                <a:latin typeface="Times New Roman" panose="02020603050405020304" pitchFamily="18" charset="0"/>
                <a:cs typeface="Times New Roman" panose="02020603050405020304" pitchFamily="18" charset="0"/>
              </a:rPr>
              <a:t>⟩×⟨0: j⟩</a:t>
            </a:r>
            <a:endParaRPr lang="en-US" altLang="zh-TW" dirty="0">
              <a:solidFill>
                <a:srgbClr val="000000"/>
              </a:solidFill>
              <a:effectLst/>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2E8A78A3-863E-F107-2540-71D1128E0F64}"/>
              </a:ext>
            </a:extLst>
          </p:cNvPr>
          <p:cNvSpPr/>
          <p:nvPr/>
        </p:nvSpPr>
        <p:spPr>
          <a:xfrm>
            <a:off x="5178328" y="3827882"/>
            <a:ext cx="1245854" cy="369332"/>
          </a:xfrm>
          <a:prstGeom prst="rect">
            <a:avLst/>
          </a:prstGeom>
        </p:spPr>
        <p:txBody>
          <a:bodyPr wrap="none">
            <a:spAutoFit/>
          </a:bodyPr>
          <a:lstStyle/>
          <a:p>
            <a:r>
              <a:rPr lang="en-US" altLang="zh-TW" i="1" dirty="0">
                <a:solidFill>
                  <a:srgbClr val="000000"/>
                </a:solidFill>
                <a:latin typeface="Times New Roman" panose="02020603050405020304" pitchFamily="18" charset="0"/>
                <a:cs typeface="Times New Roman" panose="02020603050405020304" pitchFamily="18" charset="0"/>
              </a:rPr>
              <a:t>d</a:t>
            </a:r>
            <a:r>
              <a:rPr lang="en-US" altLang="zh-TW" dirty="0">
                <a:solidFill>
                  <a:srgbClr val="000000"/>
                </a:solidFill>
                <a:latin typeface="Times New Roman" panose="02020603050405020304" pitchFamily="18" charset="0"/>
                <a:cs typeface="Times New Roman" panose="02020603050405020304" pitchFamily="18" charset="0"/>
              </a:rPr>
              <a:t> ∈ [−</a:t>
            </a:r>
            <a:r>
              <a:rPr lang="en-US" altLang="zh-TW" i="1" dirty="0">
                <a:solidFill>
                  <a:srgbClr val="000000"/>
                </a:solidFill>
                <a:latin typeface="Times New Roman" panose="02020603050405020304" pitchFamily="18" charset="0"/>
                <a:cs typeface="Times New Roman" panose="02020603050405020304" pitchFamily="18" charset="0"/>
              </a:rPr>
              <a:t>h</a:t>
            </a:r>
            <a:r>
              <a:rPr lang="en-US" altLang="zh-TW" dirty="0">
                <a:solidFill>
                  <a:srgbClr val="000000"/>
                </a:solidFill>
                <a:latin typeface="Times New Roman" panose="02020603050405020304" pitchFamily="18" charset="0"/>
                <a:cs typeface="Times New Roman" panose="02020603050405020304" pitchFamily="18" charset="0"/>
              </a:rPr>
              <a:t> : </a:t>
            </a:r>
            <a:r>
              <a:rPr lang="en-US" altLang="zh-TW" i="1" dirty="0">
                <a:solidFill>
                  <a:srgbClr val="000000"/>
                </a:solidFill>
                <a:latin typeface="Times New Roman" panose="02020603050405020304" pitchFamily="18" charset="0"/>
                <a:cs typeface="Times New Roman" panose="02020603050405020304" pitchFamily="18" charset="0"/>
              </a:rPr>
              <a:t>h</a:t>
            </a:r>
            <a:r>
              <a:rPr lang="en-US" altLang="zh-TW" dirty="0">
                <a:solidFill>
                  <a:srgbClr val="000000"/>
                </a:solidFill>
                <a:latin typeface="Times New Roman" panose="02020603050405020304" pitchFamily="18" charset="0"/>
                <a:cs typeface="Times New Roman" panose="02020603050405020304" pitchFamily="18" charset="0"/>
              </a:rPr>
              <a:t>]</a:t>
            </a:r>
            <a:endParaRPr lang="en-US" altLang="zh-TW" dirty="0">
              <a:solidFill>
                <a:srgbClr val="000000"/>
              </a:solidFill>
              <a:effectLst/>
              <a:latin typeface="Times New Roman" panose="02020603050405020304" pitchFamily="18" charset="0"/>
              <a:cs typeface="Times New Roman" panose="02020603050405020304" pitchFamily="18" charset="0"/>
            </a:endParaRPr>
          </a:p>
        </p:txBody>
      </p:sp>
      <p:cxnSp>
        <p:nvCxnSpPr>
          <p:cNvPr id="19" name="直線接點 18">
            <a:extLst>
              <a:ext uri="{FF2B5EF4-FFF2-40B4-BE49-F238E27FC236}">
                <a16:creationId xmlns:a16="http://schemas.microsoft.com/office/drawing/2014/main" id="{1DF9F12C-8C55-9C4C-63D6-FA8A0C29324A}"/>
              </a:ext>
            </a:extLst>
          </p:cNvPr>
          <p:cNvCxnSpPr/>
          <p:nvPr/>
        </p:nvCxnSpPr>
        <p:spPr>
          <a:xfrm>
            <a:off x="1360556" y="4665291"/>
            <a:ext cx="5733667" cy="0"/>
          </a:xfrm>
          <a:prstGeom prst="line">
            <a:avLst/>
          </a:prstGeom>
        </p:spPr>
        <p:style>
          <a:lnRef idx="3">
            <a:schemeClr val="dk1"/>
          </a:lnRef>
          <a:fillRef idx="0">
            <a:schemeClr val="dk1"/>
          </a:fillRef>
          <a:effectRef idx="2">
            <a:schemeClr val="dk1"/>
          </a:effectRef>
          <a:fontRef idx="minor">
            <a:schemeClr val="tx1"/>
          </a:fontRef>
        </p:style>
      </p:cxnSp>
      <p:sp>
        <p:nvSpPr>
          <p:cNvPr id="20" name="文字方塊 19">
            <a:extLst>
              <a:ext uri="{FF2B5EF4-FFF2-40B4-BE49-F238E27FC236}">
                <a16:creationId xmlns:a16="http://schemas.microsoft.com/office/drawing/2014/main" id="{CF791BFD-EAA7-3DF7-F01F-36BEE6EFB9C7}"/>
              </a:ext>
            </a:extLst>
          </p:cNvPr>
          <p:cNvSpPr txBox="1"/>
          <p:nvPr/>
        </p:nvSpPr>
        <p:spPr>
          <a:xfrm>
            <a:off x="4659377" y="4723762"/>
            <a:ext cx="2593980" cy="369332"/>
          </a:xfrm>
          <a:prstGeom prst="rect">
            <a:avLst/>
          </a:prstGeom>
          <a:noFill/>
        </p:spPr>
        <p:txBody>
          <a:bodyPr wrap="none" rtlCol="0">
            <a:spAutoFit/>
          </a:bodyPr>
          <a:lstStyle/>
          <a:p>
            <a:r>
              <a:rPr kumimoji="1" lang="zh-TW" altLang="en-US" dirty="0">
                <a:solidFill>
                  <a:srgbClr val="FF0000"/>
                </a:solidFill>
              </a:rPr>
              <a:t>利用</a:t>
            </a:r>
            <a:r>
              <a:rPr kumimoji="1" lang="en-US" altLang="zh-TW" dirty="0">
                <a:solidFill>
                  <a:srgbClr val="FF0000"/>
                </a:solidFill>
              </a:rPr>
              <a:t>∆</a:t>
            </a:r>
            <a:r>
              <a:rPr kumimoji="1" lang="en-US" altLang="zh-TW" baseline="-25000" dirty="0">
                <a:solidFill>
                  <a:srgbClr val="FF0000"/>
                </a:solidFill>
              </a:rPr>
              <a:t>A</a:t>
            </a:r>
            <a:r>
              <a:rPr kumimoji="1" lang="zh-TW" altLang="en-US" dirty="0">
                <a:solidFill>
                  <a:srgbClr val="FF0000"/>
                </a:solidFill>
              </a:rPr>
              <a:t>、</a:t>
            </a:r>
            <a:r>
              <a:rPr kumimoji="1" lang="en-US" altLang="zh-TW" dirty="0">
                <a:solidFill>
                  <a:srgbClr val="FF0000"/>
                </a:solidFill>
              </a:rPr>
              <a:t> ∆ </a:t>
            </a:r>
            <a:r>
              <a:rPr lang="en-US" altLang="zh-TW" baseline="-25000" dirty="0">
                <a:solidFill>
                  <a:srgbClr val="FF0000"/>
                </a:solidFill>
              </a:rPr>
              <a:t>B</a:t>
            </a:r>
            <a:r>
              <a:rPr kumimoji="1" lang="zh-TW" altLang="en-US" dirty="0">
                <a:solidFill>
                  <a:srgbClr val="FF0000"/>
                </a:solidFill>
              </a:rPr>
              <a:t>、</a:t>
            </a:r>
            <a:r>
              <a:rPr kumimoji="1" lang="en-US" altLang="zh-TW" dirty="0">
                <a:solidFill>
                  <a:srgbClr val="FF0000"/>
                </a:solidFill>
              </a:rPr>
              <a:t>M</a:t>
            </a:r>
            <a:r>
              <a:rPr kumimoji="1" lang="zh-TW" altLang="en-US" dirty="0">
                <a:solidFill>
                  <a:srgbClr val="FF0000"/>
                </a:solidFill>
              </a:rPr>
              <a:t>更新</a:t>
            </a:r>
            <a:r>
              <a:rPr kumimoji="1" lang="en-US" altLang="zh-TW" dirty="0">
                <a:solidFill>
                  <a:srgbClr val="FF0000"/>
                </a:solidFill>
              </a:rPr>
              <a:t>d</a:t>
            </a:r>
            <a:r>
              <a:rPr kumimoji="1" lang="en-US" altLang="zh-TW" baseline="-25000" dirty="0">
                <a:solidFill>
                  <a:srgbClr val="FF0000"/>
                </a:solidFill>
              </a:rPr>
              <a:t>c</a:t>
            </a:r>
            <a:endParaRPr kumimoji="1" lang="zh-TW" altLang="en-US" baseline="-25000" dirty="0">
              <a:solidFill>
                <a:srgbClr val="FF0000"/>
              </a:solidFill>
            </a:endParaRPr>
          </a:p>
        </p:txBody>
      </p:sp>
      <p:sp>
        <p:nvSpPr>
          <p:cNvPr id="21" name="矩形 20">
            <a:extLst>
              <a:ext uri="{FF2B5EF4-FFF2-40B4-BE49-F238E27FC236}">
                <a16:creationId xmlns:a16="http://schemas.microsoft.com/office/drawing/2014/main" id="{3EEC1229-31D8-DC9C-BCA1-4B845AD99B8A}"/>
              </a:ext>
            </a:extLst>
          </p:cNvPr>
          <p:cNvSpPr/>
          <p:nvPr/>
        </p:nvSpPr>
        <p:spPr>
          <a:xfrm>
            <a:off x="1360555" y="2141615"/>
            <a:ext cx="6093793" cy="646331"/>
          </a:xfrm>
          <a:prstGeom prst="rect">
            <a:avLst/>
          </a:prstGeom>
        </p:spPr>
        <p:txBody>
          <a:bodyPr wrap="square">
            <a:spAutoFit/>
          </a:bodyPr>
          <a:lstStyle/>
          <a:p>
            <a:r>
              <a:rPr lang="en-US" altLang="zh-TW" dirty="0">
                <a:solidFill>
                  <a:srgbClr val="000000"/>
                </a:solidFill>
                <a:latin typeface="Times New Roman" panose="02020603050405020304" pitchFamily="18" charset="0"/>
                <a:cs typeface="Times New Roman" panose="02020603050405020304" pitchFamily="18" charset="0"/>
              </a:rPr>
              <a:t>We proceed by partitioning the square index pair range ⟨0 : n⟩</a:t>
            </a:r>
            <a:r>
              <a:rPr lang="en-US" altLang="zh-TW" baseline="30000" dirty="0">
                <a:solidFill>
                  <a:srgbClr val="000000"/>
                </a:solidFill>
                <a:latin typeface="Times New Roman" panose="02020603050405020304" pitchFamily="18" charset="0"/>
                <a:cs typeface="Times New Roman" panose="02020603050405020304" pitchFamily="18" charset="0"/>
              </a:rPr>
              <a:t>2</a:t>
            </a:r>
            <a:r>
              <a:rPr lang="en-US" altLang="zh-TW" dirty="0">
                <a:solidFill>
                  <a:srgbClr val="000000"/>
                </a:solidFill>
                <a:latin typeface="Times New Roman" panose="02020603050405020304" pitchFamily="18" charset="0"/>
                <a:cs typeface="Times New Roman" panose="02020603050405020304" pitchFamily="18" charset="0"/>
              </a:rPr>
              <a:t> recursively into regular half-sized square blocks.</a:t>
            </a:r>
            <a:endParaRPr lang="en-US" altLang="zh-TW" dirty="0">
              <a:solidFill>
                <a:srgbClr val="000000"/>
              </a:solidFill>
              <a:effectLst/>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05CB088D-90C8-EC2E-3380-C39601BCA97F}"/>
              </a:ext>
            </a:extLst>
          </p:cNvPr>
          <p:cNvSpPr/>
          <p:nvPr/>
        </p:nvSpPr>
        <p:spPr>
          <a:xfrm>
            <a:off x="7422431" y="4005018"/>
            <a:ext cx="4405134" cy="646331"/>
          </a:xfrm>
          <a:prstGeom prst="rect">
            <a:avLst/>
          </a:prstGeom>
        </p:spPr>
        <p:txBody>
          <a:bodyPr wrap="square">
            <a:spAutoFit/>
          </a:bodyPr>
          <a:lstStyle/>
          <a:p>
            <a:pPr marL="285750" indent="-285750">
              <a:buFont typeface="Arial" panose="020B0604020202020204" pitchFamily="34" charset="0"/>
              <a:buChar char="•"/>
            </a:pPr>
            <a:r>
              <a:rPr lang="en-US" altLang="zh-TW" dirty="0">
                <a:solidFill>
                  <a:srgbClr val="000000"/>
                </a:solidFill>
                <a:latin typeface="Times New Roman" panose="02020603050405020304" pitchFamily="18" charset="0"/>
                <a:cs typeface="Times New Roman" panose="02020603050405020304" pitchFamily="18" charset="0"/>
              </a:rPr>
              <a:t>Recursion tree : max degree 4, height </a:t>
            </a:r>
            <a:r>
              <a:rPr lang="en-US" altLang="zh-TW" dirty="0" err="1">
                <a:solidFill>
                  <a:srgbClr val="000000"/>
                </a:solidFill>
                <a:latin typeface="Times New Roman" panose="02020603050405020304" pitchFamily="18" charset="0"/>
                <a:cs typeface="Times New Roman" panose="02020603050405020304" pitchFamily="18" charset="0"/>
              </a:rPr>
              <a:t>logn</a:t>
            </a:r>
            <a:r>
              <a:rPr lang="en-US" altLang="zh-TW" dirty="0">
                <a:solidFill>
                  <a:srgbClr val="000000"/>
                </a:solidFill>
                <a:latin typeface="Times New Roman" panose="02020603050405020304" pitchFamily="18" charset="0"/>
                <a:cs typeface="Times New Roman" panose="02020603050405020304" pitchFamily="18" charset="0"/>
              </a:rPr>
              <a:t>, and n leaves</a:t>
            </a:r>
          </a:p>
        </p:txBody>
      </p:sp>
      <p:sp>
        <p:nvSpPr>
          <p:cNvPr id="23" name="文字方塊 22">
            <a:extLst>
              <a:ext uri="{FF2B5EF4-FFF2-40B4-BE49-F238E27FC236}">
                <a16:creationId xmlns:a16="http://schemas.microsoft.com/office/drawing/2014/main" id="{ED7F11DC-FFC9-6091-8108-F97E896D8A13}"/>
              </a:ext>
            </a:extLst>
          </p:cNvPr>
          <p:cNvSpPr txBox="1"/>
          <p:nvPr/>
        </p:nvSpPr>
        <p:spPr>
          <a:xfrm>
            <a:off x="7422431" y="4651734"/>
            <a:ext cx="540469"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Top</a:t>
            </a:r>
            <a:endParaRPr kumimoji="1" lang="zh-TW" altLang="en-US" dirty="0">
              <a:latin typeface="Times New Roman" panose="02020603050405020304" pitchFamily="18" charset="0"/>
              <a:cs typeface="Times New Roman" panose="02020603050405020304" pitchFamily="18" charset="0"/>
            </a:endParaRPr>
          </a:p>
        </p:txBody>
      </p:sp>
      <p:sp>
        <p:nvSpPr>
          <p:cNvPr id="26" name="文字方塊 25">
            <a:extLst>
              <a:ext uri="{FF2B5EF4-FFF2-40B4-BE49-F238E27FC236}">
                <a16:creationId xmlns:a16="http://schemas.microsoft.com/office/drawing/2014/main" id="{804BE3E1-F45B-7EED-9ED0-54D20176D974}"/>
              </a:ext>
            </a:extLst>
          </p:cNvPr>
          <p:cNvSpPr txBox="1"/>
          <p:nvPr/>
        </p:nvSpPr>
        <p:spPr>
          <a:xfrm>
            <a:off x="7422431" y="5351658"/>
            <a:ext cx="1653017"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Middle (</a:t>
            </a:r>
            <a:r>
              <a:rPr kumimoji="1" lang="en-US" altLang="zh-TW" dirty="0" err="1">
                <a:latin typeface="Times New Roman" panose="02020603050405020304" pitchFamily="18" charset="0"/>
                <a:cs typeface="Times New Roman" panose="02020603050405020304" pitchFamily="18" charset="0"/>
              </a:rPr>
              <a:t>logn</a:t>
            </a:r>
            <a:r>
              <a:rPr kumimoji="1" lang="en-US" altLang="zh-TW" dirty="0">
                <a:latin typeface="Times New Roman" panose="02020603050405020304" pitchFamily="18" charset="0"/>
                <a:cs typeface="Times New Roman" panose="02020603050405020304" pitchFamily="18" charset="0"/>
              </a:rPr>
              <a:t>/2)</a:t>
            </a:r>
            <a:endParaRPr kumimoji="1" lang="zh-TW" altLang="en-US" dirty="0">
              <a:latin typeface="Times New Roman" panose="02020603050405020304" pitchFamily="18" charset="0"/>
              <a:cs typeface="Times New Roman" panose="02020603050405020304" pitchFamily="18" charset="0"/>
            </a:endParaRPr>
          </a:p>
        </p:txBody>
      </p:sp>
      <p:sp>
        <p:nvSpPr>
          <p:cNvPr id="27" name="文字方塊 26">
            <a:extLst>
              <a:ext uri="{FF2B5EF4-FFF2-40B4-BE49-F238E27FC236}">
                <a16:creationId xmlns:a16="http://schemas.microsoft.com/office/drawing/2014/main" id="{40DDD58A-85D3-171D-6CA1-C8405D20ADD4}"/>
              </a:ext>
            </a:extLst>
          </p:cNvPr>
          <p:cNvSpPr txBox="1"/>
          <p:nvPr/>
        </p:nvSpPr>
        <p:spPr>
          <a:xfrm>
            <a:off x="7422431" y="6071463"/>
            <a:ext cx="1499128"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Bottom (</a:t>
            </a:r>
            <a:r>
              <a:rPr kumimoji="1" lang="en-US" altLang="zh-TW" dirty="0" err="1">
                <a:latin typeface="Times New Roman" panose="02020603050405020304" pitchFamily="18" charset="0"/>
                <a:cs typeface="Times New Roman" panose="02020603050405020304" pitchFamily="18" charset="0"/>
              </a:rPr>
              <a:t>logn</a:t>
            </a:r>
            <a:r>
              <a:rPr kumimoji="1" lang="en-US" altLang="zh-TW" dirty="0">
                <a:latin typeface="Times New Roman" panose="02020603050405020304" pitchFamily="18" charset="0"/>
                <a:cs typeface="Times New Roman" panose="02020603050405020304" pitchFamily="18" charset="0"/>
              </a:rPr>
              <a:t>)</a:t>
            </a:r>
            <a:endParaRPr kumimoji="1" lang="zh-TW" altLang="en-US" dirty="0">
              <a:latin typeface="Times New Roman" panose="02020603050405020304" pitchFamily="18" charset="0"/>
              <a:cs typeface="Times New Roman" panose="02020603050405020304" pitchFamily="18" charset="0"/>
            </a:endParaRPr>
          </a:p>
        </p:txBody>
      </p:sp>
      <p:sp>
        <p:nvSpPr>
          <p:cNvPr id="28" name="文字方塊 27">
            <a:extLst>
              <a:ext uri="{FF2B5EF4-FFF2-40B4-BE49-F238E27FC236}">
                <a16:creationId xmlns:a16="http://schemas.microsoft.com/office/drawing/2014/main" id="{7F6E0540-13B6-0FB3-01DA-95DE39A14696}"/>
              </a:ext>
            </a:extLst>
          </p:cNvPr>
          <p:cNvSpPr txBox="1"/>
          <p:nvPr/>
        </p:nvSpPr>
        <p:spPr>
          <a:xfrm>
            <a:off x="8139934" y="4891889"/>
            <a:ext cx="3060261"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Nodes ×4, Work per node ÷2</a:t>
            </a:r>
            <a:endParaRPr kumimoji="1" lang="zh-TW" altLang="en-US" dirty="0">
              <a:latin typeface="Times New Roman" panose="02020603050405020304" pitchFamily="18" charset="0"/>
              <a:cs typeface="Times New Roman" panose="02020603050405020304" pitchFamily="18" charset="0"/>
            </a:endParaRPr>
          </a:p>
        </p:txBody>
      </p:sp>
      <p:sp>
        <p:nvSpPr>
          <p:cNvPr id="29" name="文字方塊 28">
            <a:extLst>
              <a:ext uri="{FF2B5EF4-FFF2-40B4-BE49-F238E27FC236}">
                <a16:creationId xmlns:a16="http://schemas.microsoft.com/office/drawing/2014/main" id="{E03D7409-BFBD-D451-59B6-D1CC2346C321}"/>
              </a:ext>
            </a:extLst>
          </p:cNvPr>
          <p:cNvSpPr txBox="1"/>
          <p:nvPr/>
        </p:nvSpPr>
        <p:spPr>
          <a:xfrm>
            <a:off x="8139934" y="5783686"/>
            <a:ext cx="1955151"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Work per node ÷2</a:t>
            </a:r>
            <a:endParaRPr kumimoji="1" lang="zh-TW" altLang="en-US" dirty="0">
              <a:latin typeface="Times New Roman" panose="02020603050405020304" pitchFamily="18" charset="0"/>
              <a:cs typeface="Times New Roman" panose="02020603050405020304" pitchFamily="18" charset="0"/>
            </a:endParaRPr>
          </a:p>
        </p:txBody>
      </p:sp>
      <p:sp>
        <p:nvSpPr>
          <p:cNvPr id="30" name="文字方塊 29">
            <a:extLst>
              <a:ext uri="{FF2B5EF4-FFF2-40B4-BE49-F238E27FC236}">
                <a16:creationId xmlns:a16="http://schemas.microsoft.com/office/drawing/2014/main" id="{9D87FAE9-6D06-2A81-94D4-121F8A2E6A23}"/>
              </a:ext>
            </a:extLst>
          </p:cNvPr>
          <p:cNvSpPr txBox="1"/>
          <p:nvPr/>
        </p:nvSpPr>
        <p:spPr>
          <a:xfrm>
            <a:off x="9320660" y="5352558"/>
            <a:ext cx="2010487" cy="369332"/>
          </a:xfrm>
          <a:prstGeom prst="rect">
            <a:avLst/>
          </a:prstGeom>
          <a:noFill/>
        </p:spPr>
        <p:txBody>
          <a:bodyPr wrap="none" rtlCol="0">
            <a:spAutoFit/>
          </a:bodyPr>
          <a:lstStyle/>
          <a:p>
            <a:r>
              <a:rPr kumimoji="1" lang="en-US" altLang="zh-TW" b="1" dirty="0">
                <a:latin typeface="Times New Roman" panose="02020603050405020304" pitchFamily="18" charset="0"/>
                <a:cs typeface="Times New Roman" panose="02020603050405020304" pitchFamily="18" charset="0"/>
              </a:rPr>
              <a:t>O(n)/2</a:t>
            </a:r>
            <a:r>
              <a:rPr kumimoji="1" lang="en-US" altLang="zh-TW" b="1" baseline="30000" dirty="0">
                <a:latin typeface="Times New Roman" panose="02020603050405020304" pitchFamily="18" charset="0"/>
                <a:cs typeface="Times New Roman" panose="02020603050405020304" pitchFamily="18" charset="0"/>
              </a:rPr>
              <a:t>logn/2</a:t>
            </a:r>
            <a:r>
              <a:rPr kumimoji="1" lang="en-US" altLang="zh-TW" b="1" dirty="0">
                <a:latin typeface="Times New Roman" panose="02020603050405020304" pitchFamily="18" charset="0"/>
                <a:cs typeface="Times New Roman" panose="02020603050405020304" pitchFamily="18" charset="0"/>
              </a:rPr>
              <a:t>=O(n</a:t>
            </a:r>
            <a:r>
              <a:rPr kumimoji="1" lang="en-US" altLang="zh-TW" b="1" baseline="30000" dirty="0">
                <a:latin typeface="Times New Roman" panose="02020603050405020304" pitchFamily="18" charset="0"/>
                <a:cs typeface="Times New Roman" panose="02020603050405020304" pitchFamily="18" charset="0"/>
              </a:rPr>
              <a:t>0.5</a:t>
            </a:r>
            <a:r>
              <a:rPr kumimoji="1" lang="en-US" altLang="zh-TW" b="1" dirty="0">
                <a:latin typeface="Times New Roman" panose="02020603050405020304" pitchFamily="18" charset="0"/>
                <a:cs typeface="Times New Roman" panose="02020603050405020304" pitchFamily="18" charset="0"/>
              </a:rPr>
              <a:t>)</a:t>
            </a:r>
            <a:endParaRPr kumimoji="1" lang="zh-TW" altLang="en-US" b="1" baseline="30000" dirty="0">
              <a:latin typeface="Times New Roman" panose="02020603050405020304" pitchFamily="18" charset="0"/>
              <a:cs typeface="Times New Roman" panose="02020603050405020304" pitchFamily="18" charset="0"/>
            </a:endParaRPr>
          </a:p>
        </p:txBody>
      </p:sp>
      <p:sp>
        <p:nvSpPr>
          <p:cNvPr id="31" name="文字方塊 30">
            <a:extLst>
              <a:ext uri="{FF2B5EF4-FFF2-40B4-BE49-F238E27FC236}">
                <a16:creationId xmlns:a16="http://schemas.microsoft.com/office/drawing/2014/main" id="{6E5DA96C-F0F4-46F3-0512-1E3AD9F36B23}"/>
              </a:ext>
            </a:extLst>
          </p:cNvPr>
          <p:cNvSpPr txBox="1"/>
          <p:nvPr/>
        </p:nvSpPr>
        <p:spPr>
          <a:xfrm>
            <a:off x="9320659" y="6139136"/>
            <a:ext cx="2733441" cy="369332"/>
          </a:xfrm>
          <a:prstGeom prst="rect">
            <a:avLst/>
          </a:prstGeom>
          <a:noFill/>
        </p:spPr>
        <p:txBody>
          <a:bodyPr wrap="none" rtlCol="0">
            <a:spAutoFit/>
          </a:bodyPr>
          <a:lstStyle/>
          <a:p>
            <a:r>
              <a:rPr kumimoji="1" lang="en-US" altLang="zh-TW" b="1" dirty="0">
                <a:latin typeface="Times New Roman" panose="02020603050405020304" pitchFamily="18" charset="0"/>
                <a:cs typeface="Times New Roman" panose="02020603050405020304" pitchFamily="18" charset="0"/>
              </a:rPr>
              <a:t>Overall: n * O(n)=O(n</a:t>
            </a:r>
            <a:r>
              <a:rPr kumimoji="1" lang="en-US" altLang="zh-TW" b="1" baseline="30000" dirty="0">
                <a:latin typeface="Times New Roman" panose="02020603050405020304" pitchFamily="18" charset="0"/>
                <a:cs typeface="Times New Roman" panose="02020603050405020304" pitchFamily="18" charset="0"/>
              </a:rPr>
              <a:t>1.5</a:t>
            </a:r>
            <a:r>
              <a:rPr kumimoji="1" lang="en-US" altLang="zh-TW" b="1" dirty="0">
                <a:latin typeface="Times New Roman" panose="02020603050405020304" pitchFamily="18" charset="0"/>
                <a:cs typeface="Times New Roman" panose="02020603050405020304" pitchFamily="18" charset="0"/>
              </a:rPr>
              <a:t>)</a:t>
            </a:r>
            <a:endParaRPr kumimoji="1" lang="zh-TW" altLang="en-US" b="1" baseline="30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859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Algorithm1: Divide And Conquer (2/2)</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14</a:t>
            </a:fld>
            <a:endParaRPr kumimoji="1" lang="zh-TW" altLang="en-US"/>
          </a:p>
        </p:txBody>
      </p:sp>
      <p:pic>
        <p:nvPicPr>
          <p:cNvPr id="10" name="圖片 9">
            <a:extLst>
              <a:ext uri="{FF2B5EF4-FFF2-40B4-BE49-F238E27FC236}">
                <a16:creationId xmlns:a16="http://schemas.microsoft.com/office/drawing/2014/main" id="{2A092AB3-34B0-EC49-68D2-42DB5A3C7D84}"/>
              </a:ext>
            </a:extLst>
          </p:cNvPr>
          <p:cNvPicPr>
            <a:picLocks noChangeAspect="1"/>
          </p:cNvPicPr>
          <p:nvPr/>
        </p:nvPicPr>
        <p:blipFill>
          <a:blip r:embed="rId2"/>
          <a:stretch>
            <a:fillRect/>
          </a:stretch>
        </p:blipFill>
        <p:spPr>
          <a:xfrm>
            <a:off x="838200" y="1690688"/>
            <a:ext cx="6718300" cy="1854200"/>
          </a:xfrm>
          <a:prstGeom prst="rect">
            <a:avLst/>
          </a:prstGeom>
        </p:spPr>
      </p:pic>
      <p:pic>
        <p:nvPicPr>
          <p:cNvPr id="11" name="圖片 10">
            <a:extLst>
              <a:ext uri="{FF2B5EF4-FFF2-40B4-BE49-F238E27FC236}">
                <a16:creationId xmlns:a16="http://schemas.microsoft.com/office/drawing/2014/main" id="{BB878D23-F641-CB9D-C727-2EB1046FCEBB}"/>
              </a:ext>
            </a:extLst>
          </p:cNvPr>
          <p:cNvPicPr>
            <a:picLocks noChangeAspect="1"/>
          </p:cNvPicPr>
          <p:nvPr/>
        </p:nvPicPr>
        <p:blipFill>
          <a:blip r:embed="rId3"/>
          <a:stretch>
            <a:fillRect/>
          </a:stretch>
        </p:blipFill>
        <p:spPr>
          <a:xfrm>
            <a:off x="838200" y="3596918"/>
            <a:ext cx="8712200" cy="495300"/>
          </a:xfrm>
          <a:prstGeom prst="rect">
            <a:avLst/>
          </a:prstGeom>
        </p:spPr>
      </p:pic>
      <p:sp>
        <p:nvSpPr>
          <p:cNvPr id="3" name="文字方塊 2">
            <a:extLst>
              <a:ext uri="{FF2B5EF4-FFF2-40B4-BE49-F238E27FC236}">
                <a16:creationId xmlns:a16="http://schemas.microsoft.com/office/drawing/2014/main" id="{53BE51AA-E772-A28F-EC7C-902E1266579C}"/>
              </a:ext>
            </a:extLst>
          </p:cNvPr>
          <p:cNvSpPr txBox="1"/>
          <p:nvPr/>
        </p:nvSpPr>
        <p:spPr>
          <a:xfrm>
            <a:off x="7556500" y="1638658"/>
            <a:ext cx="1800493" cy="369332"/>
          </a:xfrm>
          <a:prstGeom prst="rect">
            <a:avLst/>
          </a:prstGeom>
          <a:noFill/>
        </p:spPr>
        <p:txBody>
          <a:bodyPr wrap="none" rtlCol="0">
            <a:spAutoFit/>
          </a:bodyPr>
          <a:lstStyle/>
          <a:p>
            <a:r>
              <a:rPr kumimoji="1" lang="zh-TW" altLang="en-US" dirty="0">
                <a:solidFill>
                  <a:srgbClr val="FF0000"/>
                </a:solidFill>
              </a:rPr>
              <a:t>更新超界的部分</a:t>
            </a:r>
          </a:p>
        </p:txBody>
      </p:sp>
      <p:graphicFrame>
        <p:nvGraphicFramePr>
          <p:cNvPr id="16" name="表格 16">
            <a:extLst>
              <a:ext uri="{FF2B5EF4-FFF2-40B4-BE49-F238E27FC236}">
                <a16:creationId xmlns:a16="http://schemas.microsoft.com/office/drawing/2014/main" id="{C984CF31-5EC4-5536-1C8B-92B694B34EA8}"/>
              </a:ext>
            </a:extLst>
          </p:cNvPr>
          <p:cNvGraphicFramePr>
            <a:graphicFrameLocks noGrp="1"/>
          </p:cNvGraphicFramePr>
          <p:nvPr>
            <p:extLst>
              <p:ext uri="{D42A27DB-BD31-4B8C-83A1-F6EECF244321}">
                <p14:modId xmlns:p14="http://schemas.microsoft.com/office/powerpoint/2010/main" val="3058609316"/>
              </p:ext>
            </p:extLst>
          </p:nvPr>
        </p:nvGraphicFramePr>
        <p:xfrm>
          <a:off x="1022931" y="4565610"/>
          <a:ext cx="8127999" cy="1112520"/>
        </p:xfrm>
        <a:graphic>
          <a:graphicData uri="http://schemas.openxmlformats.org/drawingml/2006/table">
            <a:tbl>
              <a:tblPr firstRow="1" bandRow="1">
                <a:tableStyleId>{5940675A-B579-460E-94D1-54222C63F5DA}</a:tableStyleId>
              </a:tblPr>
              <a:tblGrid>
                <a:gridCol w="2835413">
                  <a:extLst>
                    <a:ext uri="{9D8B030D-6E8A-4147-A177-3AD203B41FA5}">
                      <a16:colId xmlns:a16="http://schemas.microsoft.com/office/drawing/2014/main" val="4059780603"/>
                    </a:ext>
                  </a:extLst>
                </a:gridCol>
                <a:gridCol w="3846443">
                  <a:extLst>
                    <a:ext uri="{9D8B030D-6E8A-4147-A177-3AD203B41FA5}">
                      <a16:colId xmlns:a16="http://schemas.microsoft.com/office/drawing/2014/main" val="652284725"/>
                    </a:ext>
                  </a:extLst>
                </a:gridCol>
                <a:gridCol w="1446143">
                  <a:extLst>
                    <a:ext uri="{9D8B030D-6E8A-4147-A177-3AD203B41FA5}">
                      <a16:colId xmlns:a16="http://schemas.microsoft.com/office/drawing/2014/main" val="276858282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TW" dirty="0">
                          <a:latin typeface="Times New Roman" panose="02020603050405020304" pitchFamily="18" charset="0"/>
                          <a:cs typeface="Times New Roman" panose="02020603050405020304" pitchFamily="18" charset="0"/>
                        </a:rPr>
                        <a:t>Time complexity</a:t>
                      </a:r>
                      <a:endParaRPr kumimoji="1" lang="zh-TW" altLang="en-US" dirty="0">
                        <a:latin typeface="Times New Roman" panose="02020603050405020304" pitchFamily="18" charset="0"/>
                        <a:cs typeface="Times New Roman" panose="02020603050405020304" pitchFamily="18" charset="0"/>
                      </a:endParaRPr>
                    </a:p>
                  </a:txBody>
                  <a:tcPr>
                    <a:solidFill>
                      <a:schemeClr val="accent4">
                        <a:lumMod val="40000"/>
                        <a:lumOff val="6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Detail</a:t>
                      </a:r>
                      <a:endParaRPr lang="zh-TW" altLang="en-US" dirty="0">
                        <a:latin typeface="Times New Roman" panose="02020603050405020304" pitchFamily="18" charset="0"/>
                        <a:cs typeface="Times New Roman" panose="02020603050405020304" pitchFamily="18" charset="0"/>
                      </a:endParaRPr>
                    </a:p>
                  </a:txBody>
                  <a:tcPr>
                    <a:solidFill>
                      <a:schemeClr val="accent4">
                        <a:lumMod val="40000"/>
                        <a:lumOff val="6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Overall</a:t>
                      </a:r>
                      <a:endParaRPr lang="zh-TW" altLang="en-US" dirty="0">
                        <a:latin typeface="Times New Roman" panose="02020603050405020304" pitchFamily="18" charset="0"/>
                        <a:cs typeface="Times New Roman" panose="02020603050405020304" pitchFamily="18" charset="0"/>
                      </a:endParaRPr>
                    </a:p>
                  </a:txBody>
                  <a:tcPr>
                    <a:solidFill>
                      <a:schemeClr val="accent4">
                        <a:lumMod val="40000"/>
                        <a:lumOff val="60000"/>
                      </a:schemeClr>
                    </a:solidFill>
                  </a:tcPr>
                </a:tc>
                <a:extLst>
                  <a:ext uri="{0D108BD9-81ED-4DB2-BD59-A6C34878D82A}">
                    <a16:rowId xmlns:a16="http://schemas.microsoft.com/office/drawing/2014/main" val="3116575847"/>
                  </a:ext>
                </a:extLst>
              </a:tr>
              <a:tr h="370840">
                <a:tc>
                  <a:txBody>
                    <a:bodyPr/>
                    <a:lstStyle/>
                    <a:p>
                      <a:pPr algn="ctr"/>
                      <a:r>
                        <a:rPr lang="en-US" altLang="zh-TW" dirty="0">
                          <a:latin typeface="Times New Roman" panose="02020603050405020304" pitchFamily="18" charset="0"/>
                          <a:cs typeface="Times New Roman" panose="02020603050405020304" pitchFamily="18" charset="0"/>
                        </a:rPr>
                        <a:t>Top log(m/n) levels</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log(m/n) * O(n) + (m/n) * O(n</a:t>
                      </a:r>
                      <a:r>
                        <a:rPr lang="en-US" altLang="zh-TW" baseline="30000" dirty="0">
                          <a:latin typeface="Times New Roman" panose="02020603050405020304" pitchFamily="18" charset="0"/>
                          <a:cs typeface="Times New Roman" panose="02020603050405020304" pitchFamily="18" charset="0"/>
                        </a:rPr>
                        <a:t>0.5</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O(</a:t>
                      </a:r>
                      <a:r>
                        <a:rPr lang="en-US" altLang="zh-TW" dirty="0" err="1">
                          <a:latin typeface="Times New Roman" panose="02020603050405020304" pitchFamily="18" charset="0"/>
                          <a:cs typeface="Times New Roman" panose="02020603050405020304" pitchFamily="18" charset="0"/>
                        </a:rPr>
                        <a:t>mn</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31152156"/>
                  </a:ext>
                </a:extLst>
              </a:tr>
              <a:tr h="370840">
                <a:tc>
                  <a:txBody>
                    <a:bodyPr/>
                    <a:lstStyle/>
                    <a:p>
                      <a:pPr algn="ctr"/>
                      <a:r>
                        <a:rPr lang="en-US" altLang="zh-TW" dirty="0">
                          <a:latin typeface="Times New Roman" panose="02020603050405020304" pitchFamily="18" charset="0"/>
                          <a:cs typeface="Times New Roman" panose="02020603050405020304" pitchFamily="18" charset="0"/>
                        </a:rPr>
                        <a:t>Remaining 2logn levels </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O(</a:t>
                      </a:r>
                      <a:r>
                        <a:rPr lang="en-US" altLang="zh-TW" dirty="0" err="1">
                          <a:latin typeface="Times New Roman" panose="02020603050405020304" pitchFamily="18" charset="0"/>
                          <a:cs typeface="Times New Roman" panose="02020603050405020304" pitchFamily="18" charset="0"/>
                        </a:rPr>
                        <a:t>mn</a:t>
                      </a:r>
                      <a:r>
                        <a:rPr lang="en-US" altLang="zh-TW" dirty="0">
                          <a:latin typeface="Times New Roman" panose="02020603050405020304" pitchFamily="18" charset="0"/>
                          <a:cs typeface="Times New Roman" panose="02020603050405020304" pitchFamily="18" charset="0"/>
                        </a:rPr>
                        <a:t>) * O(1)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O(</a:t>
                      </a:r>
                      <a:r>
                        <a:rPr lang="en-US" altLang="zh-TW" dirty="0" err="1">
                          <a:latin typeface="Times New Roman" panose="02020603050405020304" pitchFamily="18" charset="0"/>
                          <a:cs typeface="Times New Roman" panose="02020603050405020304" pitchFamily="18" charset="0"/>
                        </a:rPr>
                        <a:t>mn</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36461621"/>
                  </a:ext>
                </a:extLst>
              </a:tr>
            </a:tbl>
          </a:graphicData>
        </a:graphic>
      </p:graphicFrame>
      <p:sp>
        <p:nvSpPr>
          <p:cNvPr id="4" name="文字方塊 3">
            <a:extLst>
              <a:ext uri="{FF2B5EF4-FFF2-40B4-BE49-F238E27FC236}">
                <a16:creationId xmlns:a16="http://schemas.microsoft.com/office/drawing/2014/main" id="{5E34BC20-F745-762A-569D-A707371E78BF}"/>
              </a:ext>
            </a:extLst>
          </p:cNvPr>
          <p:cNvSpPr txBox="1"/>
          <p:nvPr/>
        </p:nvSpPr>
        <p:spPr>
          <a:xfrm>
            <a:off x="1269187" y="5782190"/>
            <a:ext cx="7850226" cy="369332"/>
          </a:xfrm>
          <a:prstGeom prst="rect">
            <a:avLst/>
          </a:prstGeom>
          <a:noFill/>
        </p:spPr>
        <p:txBody>
          <a:bodyPr wrap="none" rtlCol="0">
            <a:spAutoFit/>
          </a:bodyPr>
          <a:lstStyle/>
          <a:p>
            <a:r>
              <a:rPr kumimoji="1" lang="zh-TW" altLang="en-US" dirty="0">
                <a:solidFill>
                  <a:srgbClr val="FF0000"/>
                </a:solidFill>
              </a:rPr>
              <a:t>會分兩層可能是因為，當達到邊界條件時（長度</a:t>
            </a:r>
            <a:r>
              <a:rPr kumimoji="1" lang="en-US" altLang="zh-TW" dirty="0">
                <a:solidFill>
                  <a:srgbClr val="FF0000"/>
                </a:solidFill>
              </a:rPr>
              <a:t>=1</a:t>
            </a:r>
            <a:r>
              <a:rPr kumimoji="1" lang="zh-TW" altLang="en-US" dirty="0">
                <a:solidFill>
                  <a:srgbClr val="FF0000"/>
                </a:solidFill>
              </a:rPr>
              <a:t>），就直接使用暴力法！</a:t>
            </a:r>
          </a:p>
        </p:txBody>
      </p:sp>
    </p:spTree>
    <p:extLst>
      <p:ext uri="{BB962C8B-B14F-4D97-AF65-F5344CB8AC3E}">
        <p14:creationId xmlns:p14="http://schemas.microsoft.com/office/powerpoint/2010/main" val="4271431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Algorithm2: Iteration</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Initialized as a shifted identity matrix: </a:t>
            </a:r>
          </a:p>
          <a:p>
            <a:pPr lvl="1"/>
            <a:r>
              <a:rPr kumimoji="1" lang="en-US" altLang="zh-TW" i="1" dirty="0">
                <a:latin typeface="Times New Roman" panose="02020603050405020304" pitchFamily="18" charset="0"/>
                <a:cs typeface="Times New Roman" panose="02020603050405020304" pitchFamily="18" charset="0"/>
              </a:rPr>
              <a:t>D</a:t>
            </a:r>
            <a:r>
              <a:rPr kumimoji="1" lang="en-US" altLang="zh-TW" dirty="0">
                <a:latin typeface="Times New Roman" panose="02020603050405020304" pitchFamily="18" charset="0"/>
                <a:cs typeface="Times New Roman" panose="02020603050405020304" pitchFamily="18" charset="0"/>
              </a:rPr>
              <a:t>(</a:t>
            </a:r>
            <a:r>
              <a:rPr kumimoji="1" lang="en-US" altLang="zh-TW" i="1"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a:t>
            </a:r>
            <a:r>
              <a:rPr kumimoji="1" lang="en-US" altLang="zh-TW" i="1" dirty="0">
                <a:latin typeface="Times New Roman" panose="02020603050405020304" pitchFamily="18" charset="0"/>
                <a:cs typeface="Times New Roman" panose="02020603050405020304" pitchFamily="18" charset="0"/>
              </a:rPr>
              <a:t>j</a:t>
            </a:r>
            <a:r>
              <a:rPr kumimoji="1" lang="en-US" altLang="zh-TW" dirty="0">
                <a:latin typeface="Times New Roman" panose="02020603050405020304" pitchFamily="18" charset="0"/>
                <a:cs typeface="Times New Roman" panose="02020603050405020304" pitchFamily="18" charset="0"/>
              </a:rPr>
              <a:t>) = </a:t>
            </a:r>
            <a:r>
              <a:rPr kumimoji="1" lang="en-US" altLang="zh-TW" i="1" dirty="0">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a:t>
            </a:r>
            <a:r>
              <a:rPr kumimoji="1" lang="en-US" altLang="zh-TW" i="1"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a:t>
            </a:r>
            <a:r>
              <a:rPr kumimoji="1" lang="en-US" altLang="zh-TW" i="1" dirty="0">
                <a:latin typeface="Times New Roman" panose="02020603050405020304" pitchFamily="18" charset="0"/>
                <a:cs typeface="Times New Roman" panose="02020603050405020304" pitchFamily="18" charset="0"/>
              </a:rPr>
              <a:t>j − m</a:t>
            </a:r>
            <a:r>
              <a:rPr kumimoji="1" lang="en-US" altLang="zh-TW" dirty="0">
                <a:latin typeface="Times New Roman" panose="02020603050405020304" pitchFamily="18" charset="0"/>
                <a:cs typeface="Times New Roman" panose="02020603050405020304" pitchFamily="18" charset="0"/>
              </a:rPr>
              <a:t>) for all </a:t>
            </a:r>
            <a:r>
              <a:rPr kumimoji="1" lang="en-US" altLang="zh-TW" i="1"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a:t>
            </a:r>
            <a:r>
              <a:rPr kumimoji="1" lang="en-US" altLang="zh-TW" i="1" dirty="0">
                <a:latin typeface="Times New Roman" panose="02020603050405020304" pitchFamily="18" charset="0"/>
                <a:cs typeface="Times New Roman" panose="02020603050405020304" pitchFamily="18" charset="0"/>
              </a:rPr>
              <a:t>j</a:t>
            </a:r>
            <a:r>
              <a:rPr kumimoji="1" lang="en-US" altLang="zh-TW" dirty="0">
                <a:latin typeface="Times New Roman" panose="02020603050405020304" pitchFamily="18" charset="0"/>
                <a:cs typeface="Times New Roman" panose="02020603050405020304" pitchFamily="18" charset="0"/>
              </a:rPr>
              <a:t> ∈ ⟨−∞ : +∞⟩</a:t>
            </a:r>
          </a:p>
          <a:p>
            <a:r>
              <a:rPr kumimoji="1" lang="en-US" altLang="zh-TW" dirty="0">
                <a:latin typeface="Times New Roman" panose="02020603050405020304" pitchFamily="18" charset="0"/>
                <a:cs typeface="Times New Roman" panose="02020603050405020304" pitchFamily="18" charset="0"/>
              </a:rPr>
              <a:t>Perform a sequence of incremental transformations and scan the DAG from top to bottom and from left to right</a:t>
            </a:r>
          </a:p>
          <a:p>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15</a:t>
            </a:fld>
            <a:endParaRPr kumimoji="1" lang="zh-TW" altLang="en-US"/>
          </a:p>
        </p:txBody>
      </p:sp>
      <p:pic>
        <p:nvPicPr>
          <p:cNvPr id="7" name="圖片 6">
            <a:extLst>
              <a:ext uri="{FF2B5EF4-FFF2-40B4-BE49-F238E27FC236}">
                <a16:creationId xmlns:a16="http://schemas.microsoft.com/office/drawing/2014/main" id="{EB778AB5-4AAD-2982-5F7D-28148561065C}"/>
              </a:ext>
            </a:extLst>
          </p:cNvPr>
          <p:cNvPicPr>
            <a:picLocks noChangeAspect="1"/>
          </p:cNvPicPr>
          <p:nvPr/>
        </p:nvPicPr>
        <p:blipFill>
          <a:blip r:embed="rId2"/>
          <a:stretch>
            <a:fillRect/>
          </a:stretch>
        </p:blipFill>
        <p:spPr>
          <a:xfrm>
            <a:off x="1182755" y="4934511"/>
            <a:ext cx="8532745" cy="1333241"/>
          </a:xfrm>
          <a:prstGeom prst="rect">
            <a:avLst/>
          </a:prstGeom>
        </p:spPr>
      </p:pic>
      <p:sp>
        <p:nvSpPr>
          <p:cNvPr id="8" name="矩形 7">
            <a:extLst>
              <a:ext uri="{FF2B5EF4-FFF2-40B4-BE49-F238E27FC236}">
                <a16:creationId xmlns:a16="http://schemas.microsoft.com/office/drawing/2014/main" id="{468140AA-29EB-C2F1-73FE-E224E9C4A0EF}"/>
              </a:ext>
            </a:extLst>
          </p:cNvPr>
          <p:cNvSpPr/>
          <p:nvPr/>
        </p:nvSpPr>
        <p:spPr>
          <a:xfrm>
            <a:off x="1182755" y="3588536"/>
            <a:ext cx="8014251" cy="1323439"/>
          </a:xfrm>
          <a:prstGeom prst="rect">
            <a:avLst/>
          </a:prstGeom>
        </p:spPr>
        <p:txBody>
          <a:bodyPr wrap="square">
            <a:spAutoFit/>
          </a:bodyPr>
          <a:lstStyle/>
          <a:p>
            <a:r>
              <a:rPr lang="en-US" altLang="zh-TW" sz="2000" dirty="0">
                <a:solidFill>
                  <a:srgbClr val="000000"/>
                </a:solidFill>
                <a:latin typeface="Times New Roman" panose="02020603050405020304" pitchFamily="18" charset="0"/>
                <a:cs typeface="Times New Roman" panose="02020603050405020304" pitchFamily="18" charset="0"/>
              </a:rPr>
              <a:t>Let </a:t>
            </a:r>
            <a:r>
              <a:rPr lang="en-US" altLang="zh-TW" sz="2000" i="1" dirty="0">
                <a:solidFill>
                  <a:srgbClr val="000000"/>
                </a:solidFill>
                <a:latin typeface="Times New Roman" panose="02020603050405020304" pitchFamily="18" charset="0"/>
                <a:cs typeface="Times New Roman" panose="02020603050405020304" pitchFamily="18" charset="0"/>
              </a:rPr>
              <a:t>D</a:t>
            </a:r>
            <a:r>
              <a:rPr lang="en-US" altLang="zh-TW" sz="2000" dirty="0">
                <a:solidFill>
                  <a:srgbClr val="000000"/>
                </a:solidFill>
                <a:latin typeface="Times New Roman" panose="02020603050405020304" pitchFamily="18" charset="0"/>
                <a:cs typeface="Times New Roman" panose="02020603050405020304" pitchFamily="18" charset="0"/>
              </a:rPr>
              <a:t> be the implicit highest-score matrix</a:t>
            </a:r>
          </a:p>
          <a:p>
            <a:r>
              <a:rPr lang="en-US" altLang="zh-TW" sz="2000" dirty="0">
                <a:solidFill>
                  <a:srgbClr val="000000"/>
                </a:solidFill>
                <a:latin typeface="Times New Roman" panose="02020603050405020304" pitchFamily="18" charset="0"/>
                <a:cs typeface="Times New Roman" panose="02020603050405020304" pitchFamily="18" charset="0"/>
              </a:rPr>
              <a:t>       </a:t>
            </a:r>
            <a:r>
              <a:rPr lang="en-US" altLang="zh-TW" sz="2000" i="1" dirty="0">
                <a:solidFill>
                  <a:srgbClr val="000000"/>
                </a:solidFill>
                <a:latin typeface="Times New Roman" panose="02020603050405020304" pitchFamily="18" charset="0"/>
                <a:cs typeface="Times New Roman" panose="02020603050405020304" pitchFamily="18" charset="0"/>
              </a:rPr>
              <a:t>l</a:t>
            </a:r>
            <a:r>
              <a:rPr lang="en-US" altLang="zh-TW" sz="2000" dirty="0">
                <a:solidFill>
                  <a:srgbClr val="000000"/>
                </a:solidFill>
                <a:latin typeface="Times New Roman" panose="02020603050405020304" pitchFamily="18" charset="0"/>
                <a:cs typeface="Times New Roman" panose="02020603050405020304" pitchFamily="18" charset="0"/>
              </a:rPr>
              <a:t>, </a:t>
            </a:r>
            <a:r>
              <a:rPr lang="en-US" altLang="zh-TW" sz="2000" i="1" dirty="0" err="1">
                <a:solidFill>
                  <a:srgbClr val="000000"/>
                </a:solidFill>
                <a:latin typeface="Times New Roman" panose="02020603050405020304" pitchFamily="18" charset="0"/>
                <a:cs typeface="Times New Roman" panose="02020603050405020304" pitchFamily="18" charset="0"/>
              </a:rPr>
              <a:t>i</a:t>
            </a:r>
            <a:r>
              <a:rPr lang="en-US" altLang="zh-TW" sz="2000" dirty="0">
                <a:solidFill>
                  <a:srgbClr val="000000"/>
                </a:solidFill>
                <a:latin typeface="Times New Roman" panose="02020603050405020304" pitchFamily="18" charset="0"/>
                <a:cs typeface="Times New Roman" panose="02020603050405020304" pitchFamily="18" charset="0"/>
              </a:rPr>
              <a:t> ∈ [1 : n]</a:t>
            </a:r>
          </a:p>
          <a:p>
            <a:r>
              <a:rPr lang="en-US" altLang="zh-TW" sz="2000" i="1" dirty="0">
                <a:solidFill>
                  <a:srgbClr val="000000"/>
                </a:solidFill>
                <a:latin typeface="Times New Roman" panose="02020603050405020304" pitchFamily="18" charset="0"/>
                <a:cs typeface="Times New Roman" panose="02020603050405020304" pitchFamily="18" charset="0"/>
              </a:rPr>
              <a:t>       j</a:t>
            </a:r>
            <a:r>
              <a:rPr lang="en-US" altLang="zh-TW" sz="2000" baseline="-25000" dirty="0">
                <a:solidFill>
                  <a:srgbClr val="000000"/>
                </a:solidFill>
                <a:latin typeface="Times New Roman" panose="02020603050405020304" pitchFamily="18" charset="0"/>
                <a:cs typeface="Times New Roman" panose="02020603050405020304" pitchFamily="18" charset="0"/>
              </a:rPr>
              <a:t>0</a:t>
            </a:r>
            <a:r>
              <a:rPr lang="en-US" altLang="zh-TW" sz="2000" dirty="0">
                <a:solidFill>
                  <a:srgbClr val="000000"/>
                </a:solidFill>
                <a:latin typeface="Times New Roman" panose="02020603050405020304" pitchFamily="18" charset="0"/>
                <a:cs typeface="Times New Roman" panose="02020603050405020304" pitchFamily="18" charset="0"/>
              </a:rPr>
              <a:t> = </a:t>
            </a:r>
            <a:r>
              <a:rPr lang="en-US" altLang="zh-TW" sz="2000" i="1" dirty="0" err="1">
                <a:solidFill>
                  <a:srgbClr val="000000"/>
                </a:solidFill>
                <a:latin typeface="Times New Roman" panose="02020603050405020304" pitchFamily="18" charset="0"/>
                <a:cs typeface="Times New Roman" panose="02020603050405020304" pitchFamily="18" charset="0"/>
              </a:rPr>
              <a:t>i</a:t>
            </a:r>
            <a:r>
              <a:rPr lang="en-US" altLang="zh-TW" sz="2000" dirty="0">
                <a:solidFill>
                  <a:srgbClr val="000000"/>
                </a:solidFill>
                <a:latin typeface="Times New Roman" panose="02020603050405020304" pitchFamily="18" charset="0"/>
                <a:cs typeface="Times New Roman" panose="02020603050405020304" pitchFamily="18" charset="0"/>
              </a:rPr>
              <a:t> + </a:t>
            </a:r>
            <a:r>
              <a:rPr lang="en-US" altLang="zh-TW" sz="2000" i="1" dirty="0">
                <a:solidFill>
                  <a:srgbClr val="000000"/>
                </a:solidFill>
                <a:latin typeface="Times New Roman" panose="02020603050405020304" pitchFamily="18" charset="0"/>
                <a:cs typeface="Times New Roman" panose="02020603050405020304" pitchFamily="18" charset="0"/>
              </a:rPr>
              <a:t>m</a:t>
            </a:r>
            <a:r>
              <a:rPr lang="en-US" altLang="zh-TW" sz="2000" dirty="0">
                <a:solidFill>
                  <a:srgbClr val="000000"/>
                </a:solidFill>
                <a:latin typeface="Times New Roman" panose="02020603050405020304" pitchFamily="18" charset="0"/>
                <a:cs typeface="Times New Roman" panose="02020603050405020304" pitchFamily="18" charset="0"/>
              </a:rPr>
              <a:t> - </a:t>
            </a:r>
            <a:r>
              <a:rPr lang="en-US" altLang="zh-TW" sz="2000" i="1" dirty="0">
                <a:solidFill>
                  <a:srgbClr val="000000"/>
                </a:solidFill>
                <a:latin typeface="Times New Roman" panose="02020603050405020304" pitchFamily="18" charset="0"/>
                <a:cs typeface="Times New Roman" panose="02020603050405020304" pitchFamily="18" charset="0"/>
              </a:rPr>
              <a:t>l</a:t>
            </a:r>
            <a:r>
              <a:rPr lang="en-US" altLang="zh-TW" sz="2000" dirty="0">
                <a:solidFill>
                  <a:srgbClr val="000000"/>
                </a:solidFill>
                <a:latin typeface="Times New Roman" panose="02020603050405020304" pitchFamily="18" charset="0"/>
                <a:cs typeface="Times New Roman" panose="02020603050405020304" pitchFamily="18" charset="0"/>
              </a:rPr>
              <a:t> - 1/2 and </a:t>
            </a:r>
            <a:r>
              <a:rPr lang="en-US" altLang="zh-TW" sz="2000" i="1" dirty="0">
                <a:solidFill>
                  <a:srgbClr val="000000"/>
                </a:solidFill>
                <a:latin typeface="Times New Roman" panose="02020603050405020304" pitchFamily="18" charset="0"/>
                <a:cs typeface="Times New Roman" panose="02020603050405020304" pitchFamily="18" charset="0"/>
              </a:rPr>
              <a:t>j</a:t>
            </a:r>
            <a:r>
              <a:rPr lang="en-US" altLang="zh-TW" sz="2000" baseline="-25000" dirty="0">
                <a:solidFill>
                  <a:srgbClr val="000000"/>
                </a:solidFill>
                <a:latin typeface="Times New Roman" panose="02020603050405020304" pitchFamily="18" charset="0"/>
                <a:cs typeface="Times New Roman" panose="02020603050405020304" pitchFamily="18" charset="0"/>
              </a:rPr>
              <a:t>1</a:t>
            </a:r>
            <a:r>
              <a:rPr lang="en-US" altLang="zh-TW" sz="2000" dirty="0">
                <a:solidFill>
                  <a:srgbClr val="000000"/>
                </a:solidFill>
                <a:latin typeface="Times New Roman" panose="02020603050405020304" pitchFamily="18" charset="0"/>
                <a:cs typeface="Times New Roman" panose="02020603050405020304" pitchFamily="18" charset="0"/>
              </a:rPr>
              <a:t> = </a:t>
            </a:r>
            <a:r>
              <a:rPr lang="en-US" altLang="zh-TW" sz="2000" i="1" dirty="0" err="1">
                <a:solidFill>
                  <a:srgbClr val="000000"/>
                </a:solidFill>
                <a:latin typeface="Times New Roman" panose="02020603050405020304" pitchFamily="18" charset="0"/>
                <a:cs typeface="Times New Roman" panose="02020603050405020304" pitchFamily="18" charset="0"/>
              </a:rPr>
              <a:t>i</a:t>
            </a:r>
            <a:r>
              <a:rPr lang="en-US" altLang="zh-TW" sz="2000" dirty="0">
                <a:solidFill>
                  <a:srgbClr val="000000"/>
                </a:solidFill>
                <a:latin typeface="Times New Roman" panose="02020603050405020304" pitchFamily="18" charset="0"/>
                <a:cs typeface="Times New Roman" panose="02020603050405020304" pitchFamily="18" charset="0"/>
              </a:rPr>
              <a:t> + </a:t>
            </a:r>
            <a:r>
              <a:rPr lang="en-US" altLang="zh-TW" sz="2000" i="1" dirty="0">
                <a:solidFill>
                  <a:srgbClr val="000000"/>
                </a:solidFill>
                <a:latin typeface="Times New Roman" panose="02020603050405020304" pitchFamily="18" charset="0"/>
                <a:cs typeface="Times New Roman" panose="02020603050405020304" pitchFamily="18" charset="0"/>
              </a:rPr>
              <a:t>m</a:t>
            </a:r>
            <a:r>
              <a:rPr lang="en-US" altLang="zh-TW" sz="2000" dirty="0">
                <a:solidFill>
                  <a:srgbClr val="000000"/>
                </a:solidFill>
                <a:latin typeface="Times New Roman" panose="02020603050405020304" pitchFamily="18" charset="0"/>
                <a:cs typeface="Times New Roman" panose="02020603050405020304" pitchFamily="18" charset="0"/>
              </a:rPr>
              <a:t> - l + 1/2</a:t>
            </a:r>
          </a:p>
          <a:p>
            <a:r>
              <a:rPr lang="en-US" altLang="zh-TW" sz="2000" dirty="0">
                <a:solidFill>
                  <a:srgbClr val="000000"/>
                </a:solidFill>
                <a:latin typeface="Times New Roman" panose="02020603050405020304" pitchFamily="18" charset="0"/>
                <a:cs typeface="Times New Roman" panose="02020603050405020304" pitchFamily="18" charset="0"/>
              </a:rPr>
              <a:t>       </a:t>
            </a:r>
            <a:r>
              <a:rPr lang="en-US" altLang="zh-TW" sz="2000" i="1" dirty="0">
                <a:solidFill>
                  <a:srgbClr val="000000"/>
                </a:solidFill>
                <a:latin typeface="Times New Roman" panose="02020603050405020304" pitchFamily="18" charset="0"/>
                <a:cs typeface="Times New Roman" panose="02020603050405020304" pitchFamily="18" charset="0"/>
              </a:rPr>
              <a:t>i</a:t>
            </a:r>
            <a:r>
              <a:rPr lang="en-US" altLang="zh-TW" sz="2000" baseline="-25000" dirty="0">
                <a:solidFill>
                  <a:srgbClr val="000000"/>
                </a:solidFill>
                <a:latin typeface="Times New Roman" panose="02020603050405020304" pitchFamily="18" charset="0"/>
                <a:cs typeface="Times New Roman" panose="02020603050405020304" pitchFamily="18" charset="0"/>
              </a:rPr>
              <a:t>0</a:t>
            </a:r>
            <a:r>
              <a:rPr lang="en-US" altLang="zh-TW" sz="2000" dirty="0">
                <a:solidFill>
                  <a:srgbClr val="000000"/>
                </a:solidFill>
                <a:latin typeface="Times New Roman" panose="02020603050405020304" pitchFamily="18" charset="0"/>
                <a:cs typeface="Times New Roman" panose="02020603050405020304" pitchFamily="18" charset="0"/>
              </a:rPr>
              <a:t>, </a:t>
            </a:r>
            <a:r>
              <a:rPr lang="en-US" altLang="zh-TW" sz="2000" i="1" dirty="0">
                <a:solidFill>
                  <a:srgbClr val="000000"/>
                </a:solidFill>
                <a:latin typeface="Times New Roman" panose="02020603050405020304" pitchFamily="18" charset="0"/>
                <a:cs typeface="Times New Roman" panose="02020603050405020304" pitchFamily="18" charset="0"/>
              </a:rPr>
              <a:t>i</a:t>
            </a:r>
            <a:r>
              <a:rPr lang="en-US" altLang="zh-TW" sz="2000" baseline="-25000" dirty="0">
                <a:solidFill>
                  <a:srgbClr val="000000"/>
                </a:solidFill>
                <a:latin typeface="Times New Roman" panose="02020603050405020304" pitchFamily="18" charset="0"/>
                <a:cs typeface="Times New Roman" panose="02020603050405020304" pitchFamily="18" charset="0"/>
              </a:rPr>
              <a:t>1</a:t>
            </a:r>
            <a:r>
              <a:rPr lang="en-US" altLang="zh-TW" sz="2000" dirty="0">
                <a:solidFill>
                  <a:srgbClr val="000000"/>
                </a:solidFill>
                <a:latin typeface="Times New Roman" panose="02020603050405020304" pitchFamily="18" charset="0"/>
                <a:cs typeface="Times New Roman" panose="02020603050405020304" pitchFamily="18" charset="0"/>
              </a:rPr>
              <a:t> ∈ ⟨−</a:t>
            </a:r>
            <a:r>
              <a:rPr lang="en-US" altLang="zh-TW" sz="2000" i="1" dirty="0">
                <a:solidFill>
                  <a:srgbClr val="000000"/>
                </a:solidFill>
                <a:latin typeface="Times New Roman" panose="02020603050405020304" pitchFamily="18" charset="0"/>
                <a:cs typeface="Times New Roman" panose="02020603050405020304" pitchFamily="18" charset="0"/>
              </a:rPr>
              <a:t>m</a:t>
            </a:r>
            <a:r>
              <a:rPr lang="en-US" altLang="zh-TW" sz="2000" dirty="0">
                <a:solidFill>
                  <a:srgbClr val="000000"/>
                </a:solidFill>
                <a:latin typeface="Times New Roman" panose="02020603050405020304" pitchFamily="18" charset="0"/>
                <a:cs typeface="Times New Roman" panose="02020603050405020304" pitchFamily="18" charset="0"/>
              </a:rPr>
              <a:t> : </a:t>
            </a:r>
            <a:r>
              <a:rPr lang="en-US" altLang="zh-TW" sz="2000" i="1" dirty="0">
                <a:solidFill>
                  <a:srgbClr val="000000"/>
                </a:solidFill>
                <a:latin typeface="Times New Roman" panose="02020603050405020304" pitchFamily="18" charset="0"/>
                <a:cs typeface="Times New Roman" panose="02020603050405020304" pitchFamily="18" charset="0"/>
              </a:rPr>
              <a:t>m </a:t>
            </a:r>
            <a:r>
              <a:rPr lang="en-US" altLang="zh-TW" sz="2000" dirty="0">
                <a:solidFill>
                  <a:srgbClr val="000000"/>
                </a:solidFill>
                <a:latin typeface="Times New Roman" panose="02020603050405020304" pitchFamily="18" charset="0"/>
                <a:cs typeface="Times New Roman" panose="02020603050405020304" pitchFamily="18" charset="0"/>
              </a:rPr>
              <a:t>+ </a:t>
            </a:r>
            <a:r>
              <a:rPr lang="en-US" altLang="zh-TW" sz="2000" i="1" dirty="0">
                <a:solidFill>
                  <a:srgbClr val="000000"/>
                </a:solidFill>
                <a:latin typeface="Times New Roman" panose="02020603050405020304" pitchFamily="18" charset="0"/>
                <a:cs typeface="Times New Roman" panose="02020603050405020304" pitchFamily="18" charset="0"/>
              </a:rPr>
              <a:t>n</a:t>
            </a:r>
            <a:r>
              <a:rPr lang="en-US" altLang="zh-TW" sz="2000" dirty="0">
                <a:solidFill>
                  <a:srgbClr val="000000"/>
                </a:solidFill>
                <a:latin typeface="Times New Roman" panose="02020603050405020304" pitchFamily="18" charset="0"/>
                <a:cs typeface="Times New Roman" panose="02020603050405020304" pitchFamily="18" charset="0"/>
              </a:rPr>
              <a:t>⟩ (</a:t>
            </a:r>
            <a:r>
              <a:rPr lang="en-US" altLang="zh-TW" sz="2000" i="1" dirty="0">
                <a:solidFill>
                  <a:srgbClr val="000000"/>
                </a:solidFill>
                <a:latin typeface="Times New Roman" panose="02020603050405020304" pitchFamily="18" charset="0"/>
                <a:cs typeface="Times New Roman" panose="02020603050405020304" pitchFamily="18" charset="0"/>
              </a:rPr>
              <a:t>i</a:t>
            </a:r>
            <a:r>
              <a:rPr lang="en-US" altLang="zh-TW" sz="2000" baseline="-25000" dirty="0">
                <a:solidFill>
                  <a:srgbClr val="000000"/>
                </a:solidFill>
                <a:latin typeface="Times New Roman" panose="02020603050405020304" pitchFamily="18" charset="0"/>
                <a:cs typeface="Times New Roman" panose="02020603050405020304" pitchFamily="18" charset="0"/>
              </a:rPr>
              <a:t>0</a:t>
            </a:r>
            <a:r>
              <a:rPr lang="en-US" altLang="zh-TW" sz="2000" dirty="0">
                <a:solidFill>
                  <a:srgbClr val="000000"/>
                </a:solidFill>
                <a:latin typeface="Times New Roman" panose="02020603050405020304" pitchFamily="18" charset="0"/>
                <a:cs typeface="Times New Roman" panose="02020603050405020304" pitchFamily="18" charset="0"/>
              </a:rPr>
              <a:t>, </a:t>
            </a:r>
            <a:r>
              <a:rPr lang="en-US" altLang="zh-TW" sz="2000" i="1" dirty="0">
                <a:solidFill>
                  <a:srgbClr val="000000"/>
                </a:solidFill>
                <a:latin typeface="Times New Roman" panose="02020603050405020304" pitchFamily="18" charset="0"/>
                <a:cs typeface="Times New Roman" panose="02020603050405020304" pitchFamily="18" charset="0"/>
              </a:rPr>
              <a:t>i</a:t>
            </a:r>
            <a:r>
              <a:rPr lang="en-US" altLang="zh-TW" sz="2000" baseline="-25000" dirty="0">
                <a:solidFill>
                  <a:srgbClr val="000000"/>
                </a:solidFill>
                <a:latin typeface="Times New Roman" panose="02020603050405020304" pitchFamily="18" charset="0"/>
                <a:cs typeface="Times New Roman" panose="02020603050405020304" pitchFamily="18" charset="0"/>
              </a:rPr>
              <a:t>1</a:t>
            </a:r>
            <a:r>
              <a:rPr lang="en-US" altLang="zh-TW" sz="2000" dirty="0">
                <a:solidFill>
                  <a:srgbClr val="000000"/>
                </a:solidFill>
                <a:latin typeface="Times New Roman" panose="02020603050405020304" pitchFamily="18" charset="0"/>
                <a:cs typeface="Times New Roman" panose="02020603050405020304" pitchFamily="18" charset="0"/>
              </a:rPr>
              <a:t> </a:t>
            </a:r>
            <a:r>
              <a:rPr lang="zh-TW" altLang="en-US" sz="2000" dirty="0">
                <a:solidFill>
                  <a:srgbClr val="000000"/>
                </a:solidFill>
                <a:latin typeface="Times New Roman" panose="02020603050405020304" pitchFamily="18" charset="0"/>
                <a:cs typeface="Times New Roman" panose="02020603050405020304" pitchFamily="18" charset="0"/>
              </a:rPr>
              <a:t>分別為</a:t>
            </a:r>
            <a:r>
              <a:rPr lang="en-US" altLang="zh-TW" sz="2000" i="1" dirty="0">
                <a:solidFill>
                  <a:srgbClr val="000000"/>
                </a:solidFill>
                <a:latin typeface="Times New Roman" panose="02020603050405020304" pitchFamily="18" charset="0"/>
                <a:cs typeface="Times New Roman" panose="02020603050405020304" pitchFamily="18" charset="0"/>
              </a:rPr>
              <a:t>j</a:t>
            </a:r>
            <a:r>
              <a:rPr lang="en-US" altLang="zh-TW" sz="2000" baseline="-25000" dirty="0">
                <a:solidFill>
                  <a:srgbClr val="000000"/>
                </a:solidFill>
                <a:latin typeface="Times New Roman" panose="02020603050405020304" pitchFamily="18" charset="0"/>
                <a:cs typeface="Times New Roman" panose="02020603050405020304" pitchFamily="18" charset="0"/>
              </a:rPr>
              <a:t>0</a:t>
            </a:r>
            <a:r>
              <a:rPr lang="zh-TW" altLang="en-US" sz="2000" dirty="0">
                <a:solidFill>
                  <a:srgbClr val="000000"/>
                </a:solidFill>
                <a:latin typeface="Times New Roman" panose="02020603050405020304" pitchFamily="18" charset="0"/>
                <a:cs typeface="Times New Roman" panose="02020603050405020304" pitchFamily="18" charset="0"/>
              </a:rPr>
              <a:t>和</a:t>
            </a:r>
            <a:r>
              <a:rPr lang="en-US" altLang="zh-TW" sz="2000" i="1" dirty="0">
                <a:solidFill>
                  <a:srgbClr val="000000"/>
                </a:solidFill>
                <a:latin typeface="Times New Roman" panose="02020603050405020304" pitchFamily="18" charset="0"/>
                <a:cs typeface="Times New Roman" panose="02020603050405020304" pitchFamily="18" charset="0"/>
              </a:rPr>
              <a:t>j</a:t>
            </a:r>
            <a:r>
              <a:rPr lang="en-US" altLang="zh-TW" sz="2000" baseline="-25000" dirty="0">
                <a:solidFill>
                  <a:srgbClr val="000000"/>
                </a:solidFill>
                <a:latin typeface="Times New Roman" panose="02020603050405020304" pitchFamily="18" charset="0"/>
                <a:cs typeface="Times New Roman" panose="02020603050405020304" pitchFamily="18" charset="0"/>
              </a:rPr>
              <a:t>1</a:t>
            </a:r>
            <a:r>
              <a:rPr lang="zh-TW" altLang="en-US" sz="2000" dirty="0">
                <a:solidFill>
                  <a:srgbClr val="000000"/>
                </a:solidFill>
                <a:latin typeface="Times New Roman" panose="02020603050405020304" pitchFamily="18" charset="0"/>
                <a:cs typeface="Times New Roman" panose="02020603050405020304" pitchFamily="18" charset="0"/>
              </a:rPr>
              <a:t>非零值的列索引</a:t>
            </a:r>
            <a:r>
              <a:rPr lang="en-US" altLang="zh-TW" sz="2000" dirty="0">
                <a:solidFill>
                  <a:srgbClr val="000000"/>
                </a:solidFill>
                <a:latin typeface="Times New Roman" panose="02020603050405020304" pitchFamily="18" charset="0"/>
                <a:cs typeface="Times New Roman" panose="02020603050405020304" pitchFamily="18" charset="0"/>
              </a:rPr>
              <a:t>)</a:t>
            </a:r>
            <a:endParaRPr lang="en-US" altLang="zh-TW" sz="2000" dirty="0">
              <a:solidFill>
                <a:srgbClr val="000000"/>
              </a:solidFill>
              <a:effectLst/>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DF2554A6-4539-7260-7F1B-E0EE75D6EE22}"/>
              </a:ext>
            </a:extLst>
          </p:cNvPr>
          <p:cNvSpPr txBox="1"/>
          <p:nvPr/>
        </p:nvSpPr>
        <p:spPr>
          <a:xfrm>
            <a:off x="838200" y="6379826"/>
            <a:ext cx="7684091" cy="276999"/>
          </a:xfrm>
          <a:prstGeom prst="rect">
            <a:avLst/>
          </a:prstGeom>
          <a:noFill/>
        </p:spPr>
        <p:txBody>
          <a:bodyPr wrap="none" rtlCol="0">
            <a:spAutoFit/>
          </a:bodyPr>
          <a:lstStyle/>
          <a:p>
            <a:r>
              <a:rPr kumimoji="1" lang="en-US" altLang="zh-TW" sz="1200" dirty="0" err="1">
                <a:latin typeface="Times New Roman" panose="02020603050405020304" pitchFamily="18" charset="0"/>
                <a:cs typeface="Times New Roman" panose="02020603050405020304" pitchFamily="18" charset="0"/>
              </a:rPr>
              <a:t>Tiskin</a:t>
            </a:r>
            <a:r>
              <a:rPr kumimoji="1" lang="en-US" altLang="zh-TW" sz="1200" dirty="0">
                <a:latin typeface="Times New Roman" panose="02020603050405020304" pitchFamily="18" charset="0"/>
                <a:cs typeface="Times New Roman" panose="02020603050405020304" pitchFamily="18" charset="0"/>
              </a:rPr>
              <a:t>, A. Semi-local String Comparison: Algorithmic Techniques and Applications. </a:t>
            </a:r>
            <a:r>
              <a:rPr kumimoji="1" lang="en-US" altLang="zh-TW" sz="1200" dirty="0" err="1">
                <a:latin typeface="Times New Roman" panose="02020603050405020304" pitchFamily="18" charset="0"/>
                <a:cs typeface="Times New Roman" panose="02020603050405020304" pitchFamily="18" charset="0"/>
              </a:rPr>
              <a:t>Math.comput.sci</a:t>
            </a:r>
            <a:r>
              <a:rPr kumimoji="1" lang="en-US" altLang="zh-TW" sz="1200" dirty="0">
                <a:latin typeface="Times New Roman" panose="02020603050405020304" pitchFamily="18" charset="0"/>
                <a:cs typeface="Times New Roman" panose="02020603050405020304" pitchFamily="18" charset="0"/>
              </a:rPr>
              <a:t>. 1, 571–603 (2008)</a:t>
            </a:r>
            <a:endParaRPr kumimoji="1" lang="zh-TW" alt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6845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Thank you for listening"/>
          <p:cNvSpPr txBox="1">
            <a:spLocks noGrp="1"/>
          </p:cNvSpPr>
          <p:nvPr>
            <p:ph type="title"/>
          </p:nvPr>
        </p:nvSpPr>
        <p:spPr>
          <a:xfrm>
            <a:off x="844550" y="2857500"/>
            <a:ext cx="10502900" cy="1143000"/>
          </a:xfrm>
          <a:prstGeom prst="rect">
            <a:avLst/>
          </a:prstGeom>
        </p:spPr>
        <p:txBody>
          <a:bodyPr/>
          <a:lstStyle/>
          <a:p>
            <a:pPr algn="ctr"/>
            <a:r>
              <a:rPr dirty="0"/>
              <a:t>Thank you for listening</a:t>
            </a:r>
          </a:p>
        </p:txBody>
      </p:sp>
      <p:sp>
        <p:nvSpPr>
          <p:cNvPr id="305" name="幻燈片編號"/>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16</a:t>
            </a:fld>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2022/05/18 </a:t>
            </a:r>
            <a:r>
              <a:rPr kumimoji="1" lang="zh-TW" altLang="en-US" dirty="0"/>
              <a:t>老師回饋</a:t>
            </a:r>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2452351"/>
            <a:ext cx="10515600" cy="3724612"/>
          </a:xfrm>
        </p:spPr>
        <p:txBody>
          <a:bodyPr/>
          <a:lstStyle/>
          <a:p>
            <a:r>
              <a:rPr kumimoji="1" lang="zh-TW" altLang="en-US" dirty="0">
                <a:latin typeface="Times New Roman" panose="02020603050405020304" pitchFamily="18" charset="0"/>
                <a:cs typeface="Times New Roman" panose="02020603050405020304" pitchFamily="18" charset="0"/>
              </a:rPr>
              <a:t>定義</a:t>
            </a:r>
            <a:r>
              <a:rPr kumimoji="1" lang="en-US" altLang="zh-TW" dirty="0">
                <a:latin typeface="Times New Roman" panose="02020603050405020304" pitchFamily="18" charset="0"/>
                <a:cs typeface="Times New Roman" panose="02020603050405020304" pitchFamily="18" charset="0"/>
              </a:rPr>
              <a:t>17</a:t>
            </a:r>
            <a:r>
              <a:rPr kumimoji="1" lang="zh-TW" altLang="en-US" dirty="0">
                <a:latin typeface="Times New Roman" panose="02020603050405020304" pitchFamily="18" charset="0"/>
                <a:cs typeface="Times New Roman" panose="02020603050405020304" pitchFamily="18" charset="0"/>
              </a:rPr>
              <a:t>的矩陣乘法：</a:t>
            </a:r>
            <a:endParaRPr kumimoji="1" lang="en-US" altLang="zh-TW" dirty="0">
              <a:latin typeface="Times New Roman" panose="02020603050405020304" pitchFamily="18" charset="0"/>
              <a:cs typeface="Times New Roman" panose="02020603050405020304" pitchFamily="18" charset="0"/>
            </a:endParaRPr>
          </a:p>
          <a:p>
            <a:pPr lvl="1"/>
            <a:r>
              <a:rPr kumimoji="1" lang="zh-TW" altLang="en-US" dirty="0">
                <a:latin typeface="Times New Roman" panose="02020603050405020304" pitchFamily="18" charset="0"/>
                <a:cs typeface="Times New Roman" panose="02020603050405020304" pitchFamily="18" charset="0"/>
              </a:rPr>
              <a:t>下三角形是沒意義的值，因此這些值不應該被考慮進最小值中</a:t>
            </a:r>
            <a:endParaRPr kumimoji="1" lang="en-US" altLang="zh-TW" dirty="0">
              <a:latin typeface="Times New Roman" panose="02020603050405020304" pitchFamily="18" charset="0"/>
              <a:cs typeface="Times New Roman" panose="02020603050405020304" pitchFamily="18" charset="0"/>
            </a:endParaRPr>
          </a:p>
          <a:p>
            <a:pPr lvl="1"/>
            <a:r>
              <a:rPr kumimoji="1" lang="en-US" altLang="zh-TW" dirty="0">
                <a:latin typeface="Times New Roman" panose="02020603050405020304" pitchFamily="18" charset="0"/>
                <a:cs typeface="Times New Roman" panose="02020603050405020304" pitchFamily="18" charset="0"/>
              </a:rPr>
              <a:t>(min,+)-product</a:t>
            </a:r>
            <a:r>
              <a:rPr kumimoji="1" lang="zh-TW" altLang="en-US" dirty="0">
                <a:latin typeface="Times New Roman" panose="02020603050405020304" pitchFamily="18" charset="0"/>
                <a:cs typeface="Times New Roman" panose="02020603050405020304" pitchFamily="18" charset="0"/>
              </a:rPr>
              <a:t>應該為</a:t>
            </a:r>
            <a:r>
              <a:rPr kumimoji="1" lang="en-US" altLang="zh-TW" dirty="0">
                <a:latin typeface="Times New Roman" panose="02020603050405020304" pitchFamily="18" charset="0"/>
                <a:cs typeface="Times New Roman" panose="02020603050405020304" pitchFamily="18" charset="0"/>
              </a:rPr>
              <a:t>(max,+)-product</a:t>
            </a:r>
          </a:p>
          <a:p>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17</a:t>
            </a:fld>
            <a:endParaRPr kumimoji="1" lang="zh-TW" altLang="en-US"/>
          </a:p>
        </p:txBody>
      </p:sp>
      <p:pic>
        <p:nvPicPr>
          <p:cNvPr id="5" name="圖片 4">
            <a:extLst>
              <a:ext uri="{FF2B5EF4-FFF2-40B4-BE49-F238E27FC236}">
                <a16:creationId xmlns:a16="http://schemas.microsoft.com/office/drawing/2014/main" id="{632ADA53-A9D0-CA53-9ADA-0C6CD6302964}"/>
              </a:ext>
            </a:extLst>
          </p:cNvPr>
          <p:cNvPicPr>
            <a:picLocks noChangeAspect="1"/>
          </p:cNvPicPr>
          <p:nvPr/>
        </p:nvPicPr>
        <p:blipFill>
          <a:blip r:embed="rId2"/>
          <a:stretch>
            <a:fillRect/>
          </a:stretch>
        </p:blipFill>
        <p:spPr>
          <a:xfrm>
            <a:off x="838200" y="1412042"/>
            <a:ext cx="10494882" cy="1040309"/>
          </a:xfrm>
          <a:prstGeom prst="rect">
            <a:avLst/>
          </a:prstGeom>
        </p:spPr>
      </p:pic>
    </p:spTree>
    <p:extLst>
      <p:ext uri="{BB962C8B-B14F-4D97-AF65-F5344CB8AC3E}">
        <p14:creationId xmlns:p14="http://schemas.microsoft.com/office/powerpoint/2010/main" val="3689008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2022/05/25 </a:t>
            </a:r>
            <a:r>
              <a:rPr kumimoji="1" lang="zh-TW" altLang="en-US" dirty="0"/>
              <a:t>老師回饋</a:t>
            </a:r>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825625"/>
            <a:ext cx="10515600" cy="2798927"/>
          </a:xfrm>
        </p:spPr>
        <p:txBody>
          <a:bodyPr>
            <a:normAutofit/>
          </a:bodyPr>
          <a:lstStyle/>
          <a:p>
            <a:r>
              <a:rPr kumimoji="1" lang="en-US" altLang="zh-TW" dirty="0" err="1">
                <a:latin typeface="Times New Roman" panose="02020603050405020304" pitchFamily="18" charset="0"/>
                <a:cs typeface="Times New Roman" panose="02020603050405020304" pitchFamily="18" charset="0"/>
              </a:rPr>
              <a:t>Score</a:t>
            </a:r>
            <a:r>
              <a:rPr kumimoji="1" lang="en-US" altLang="zh-TW" baseline="-25000" dirty="0" err="1">
                <a:latin typeface="Times New Roman" panose="02020603050405020304" pitchFamily="18" charset="0"/>
                <a:cs typeface="Times New Roman" panose="02020603050405020304" pitchFamily="18" charset="0"/>
              </a:rPr>
              <a:t>A</a:t>
            </a:r>
            <a:r>
              <a:rPr kumimoji="1" lang="en-US" altLang="zh-TW" dirty="0">
                <a:latin typeface="Times New Roman" panose="02020603050405020304" pitchFamily="18" charset="0"/>
                <a:cs typeface="Times New Roman" panose="02020603050405020304" pitchFamily="18" charset="0"/>
              </a:rPr>
              <a:t> &lt;-&gt; </a:t>
            </a:r>
            <a:r>
              <a:rPr kumimoji="1" lang="en-US" altLang="zh-TW" dirty="0" err="1">
                <a:latin typeface="Times New Roman" panose="02020603050405020304" pitchFamily="18" charset="0"/>
                <a:cs typeface="Times New Roman" panose="02020603050405020304" pitchFamily="18" charset="0"/>
              </a:rPr>
              <a:t>d</a:t>
            </a:r>
            <a:r>
              <a:rPr kumimoji="1" lang="en-US" altLang="zh-TW" baseline="-25000" dirty="0" err="1">
                <a:latin typeface="Times New Roman" panose="02020603050405020304" pitchFamily="18" charset="0"/>
                <a:cs typeface="Times New Roman" panose="02020603050405020304" pitchFamily="18" charset="0"/>
              </a:rPr>
              <a:t>A</a:t>
            </a:r>
            <a:r>
              <a:rPr kumimoji="1" lang="en-US" altLang="zh-TW" dirty="0">
                <a:latin typeface="Times New Roman" panose="02020603050405020304" pitchFamily="18" charset="0"/>
                <a:cs typeface="Times New Roman" panose="02020603050405020304" pitchFamily="18" charset="0"/>
              </a:rPr>
              <a:t> (the number of dominated</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critical points)</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(max, +) product</a:t>
            </a:r>
            <a:r>
              <a:rPr kumimoji="1" lang="en-US" altLang="zh-TW" sz="1800" dirty="0">
                <a:latin typeface="Times New Roman" panose="02020603050405020304" pitchFamily="18" charset="0"/>
                <a:cs typeface="Times New Roman" panose="02020603050405020304" pitchFamily="18" charset="0"/>
              </a:rPr>
              <a:t>[</a:t>
            </a:r>
            <a:r>
              <a:rPr kumimoji="1" lang="en-US" altLang="zh-TW" sz="1800" dirty="0">
                <a:latin typeface="Times New Roman" panose="02020603050405020304" pitchFamily="18" charset="0"/>
                <a:cs typeface="Times New Roman" panose="02020603050405020304" pitchFamily="18" charset="0"/>
                <a:hlinkClick r:id="rId2" action="ppaction://hlinksldjump"/>
              </a:rPr>
              <a:t>p10</a:t>
            </a:r>
            <a:r>
              <a:rPr kumimoji="1" lang="en-US" altLang="zh-TW" sz="1800" dirty="0">
                <a:latin typeface="Times New Roman" panose="02020603050405020304" pitchFamily="18" charset="0"/>
                <a:cs typeface="Times New Roman" panose="02020603050405020304" pitchFamily="18" charset="0"/>
              </a:rPr>
              <a:t>]</a:t>
            </a:r>
            <a:r>
              <a:rPr kumimoji="1" lang="zh-TW" altLang="en-US" dirty="0">
                <a:latin typeface="Times New Roman" panose="02020603050405020304" pitchFamily="18" charset="0"/>
                <a:cs typeface="Times New Roman" panose="02020603050405020304" pitchFamily="18" charset="0"/>
              </a:rPr>
              <a:t>：</a:t>
            </a:r>
            <a:r>
              <a:rPr lang="en-US" altLang="zh-TW" b="1" dirty="0" err="1">
                <a:solidFill>
                  <a:srgbClr val="FF0000"/>
                </a:solidFill>
                <a:latin typeface="Times New Roman" panose="02020603050405020304" pitchFamily="18" charset="0"/>
                <a:ea typeface="Menlo" panose="020B0609030804020204" pitchFamily="49" charset="0"/>
                <a:cs typeface="Times New Roman" panose="02020603050405020304" pitchFamily="18" charset="0"/>
              </a:rPr>
              <a:t>Score</a:t>
            </a:r>
            <a:r>
              <a:rPr lang="en-US" altLang="zh-TW" b="1" baseline="-25000" dirty="0" err="1">
                <a:solidFill>
                  <a:srgbClr val="FF0000"/>
                </a:solidFill>
                <a:latin typeface="Times New Roman" panose="02020603050405020304" pitchFamily="18" charset="0"/>
                <a:ea typeface="Menlo" panose="020B0609030804020204" pitchFamily="49" charset="0"/>
                <a:cs typeface="Times New Roman" panose="02020603050405020304" pitchFamily="18" charset="0"/>
              </a:rPr>
              <a:t>A</a:t>
            </a:r>
            <a:r>
              <a:rPr lang="en-US" altLang="zh-TW" b="1" dirty="0">
                <a:solidFill>
                  <a:srgbClr val="FF0000"/>
                </a:solidFill>
                <a:latin typeface="Times New Roman" panose="02020603050405020304" pitchFamily="18" charset="0"/>
                <a:ea typeface="Menlo" panose="020B0609030804020204" pitchFamily="49" charset="0"/>
                <a:cs typeface="Times New Roman" panose="02020603050405020304" pitchFamily="18" charset="0"/>
              </a:rPr>
              <a:t> ⊙</a:t>
            </a:r>
            <a:r>
              <a:rPr lang="en-US" altLang="zh-TW" b="1" baseline="-25000" dirty="0">
                <a:solidFill>
                  <a:srgbClr val="FF0000"/>
                </a:solidFill>
                <a:latin typeface="Times New Roman" panose="02020603050405020304" pitchFamily="18" charset="0"/>
                <a:ea typeface="Menlo" panose="020B0609030804020204" pitchFamily="49" charset="0"/>
                <a:cs typeface="Times New Roman" panose="02020603050405020304" pitchFamily="18" charset="0"/>
              </a:rPr>
              <a:t>max</a:t>
            </a:r>
            <a:r>
              <a:rPr lang="en-US" altLang="zh-TW" b="1" dirty="0">
                <a:solidFill>
                  <a:srgbClr val="FF0000"/>
                </a:solidFill>
                <a:latin typeface="Times New Roman" panose="02020603050405020304" pitchFamily="18" charset="0"/>
                <a:ea typeface="Menlo" panose="020B0609030804020204" pitchFamily="49" charset="0"/>
                <a:cs typeface="Times New Roman" panose="02020603050405020304" pitchFamily="18" charset="0"/>
              </a:rPr>
              <a:t> </a:t>
            </a:r>
            <a:r>
              <a:rPr lang="en-US" altLang="zh-TW" b="1" dirty="0" err="1">
                <a:solidFill>
                  <a:srgbClr val="FF0000"/>
                </a:solidFill>
                <a:latin typeface="Times New Roman" panose="02020603050405020304" pitchFamily="18" charset="0"/>
                <a:ea typeface="Menlo" panose="020B0609030804020204" pitchFamily="49" charset="0"/>
                <a:cs typeface="Times New Roman" panose="02020603050405020304" pitchFamily="18" charset="0"/>
              </a:rPr>
              <a:t>Score</a:t>
            </a:r>
            <a:r>
              <a:rPr lang="en-US" altLang="zh-TW" b="1" baseline="-25000" dirty="0" err="1">
                <a:solidFill>
                  <a:srgbClr val="FF0000"/>
                </a:solidFill>
                <a:latin typeface="Times New Roman" panose="02020603050405020304" pitchFamily="18" charset="0"/>
                <a:ea typeface="Menlo" panose="020B0609030804020204" pitchFamily="49" charset="0"/>
                <a:cs typeface="Times New Roman" panose="02020603050405020304" pitchFamily="18" charset="0"/>
              </a:rPr>
              <a:t>B</a:t>
            </a:r>
            <a:r>
              <a:rPr lang="en-US" altLang="zh-TW" b="1" dirty="0">
                <a:solidFill>
                  <a:srgbClr val="FF0000"/>
                </a:solidFill>
                <a:latin typeface="Times New Roman" panose="02020603050405020304" pitchFamily="18" charset="0"/>
                <a:ea typeface="Menlo" panose="020B0609030804020204" pitchFamily="49" charset="0"/>
                <a:cs typeface="Times New Roman" panose="02020603050405020304" pitchFamily="18" charset="0"/>
              </a:rPr>
              <a:t> = </a:t>
            </a:r>
            <a:r>
              <a:rPr lang="en-US" altLang="zh-TW" b="1" dirty="0" err="1">
                <a:solidFill>
                  <a:srgbClr val="FF0000"/>
                </a:solidFill>
                <a:latin typeface="Times New Roman" panose="02020603050405020304" pitchFamily="18" charset="0"/>
                <a:ea typeface="Menlo" panose="020B0609030804020204" pitchFamily="49" charset="0"/>
                <a:cs typeface="Times New Roman" panose="02020603050405020304" pitchFamily="18" charset="0"/>
              </a:rPr>
              <a:t>Score</a:t>
            </a:r>
            <a:r>
              <a:rPr lang="en-US" altLang="zh-TW" b="1" baseline="-25000" dirty="0" err="1">
                <a:solidFill>
                  <a:srgbClr val="FF0000"/>
                </a:solidFill>
                <a:latin typeface="Times New Roman" panose="02020603050405020304" pitchFamily="18" charset="0"/>
                <a:ea typeface="Menlo" panose="020B0609030804020204" pitchFamily="49" charset="0"/>
                <a:cs typeface="Times New Roman" panose="02020603050405020304" pitchFamily="18" charset="0"/>
              </a:rPr>
              <a:t>C</a:t>
            </a:r>
            <a:endParaRPr lang="en-US" altLang="zh-TW" b="1" baseline="-25000" dirty="0">
              <a:solidFill>
                <a:srgbClr val="FF0000"/>
              </a:solidFill>
              <a:latin typeface="Times New Roman" panose="02020603050405020304" pitchFamily="18" charset="0"/>
              <a:ea typeface="Menlo" panose="020B0609030804020204" pitchFamily="49"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max(S</a:t>
            </a:r>
            <a:r>
              <a:rPr kumimoji="1" lang="en-US" altLang="zh-TW" baseline="-25000" dirty="0">
                <a:latin typeface="Times New Roman" panose="02020603050405020304" pitchFamily="18" charset="0"/>
                <a:cs typeface="Times New Roman" panose="02020603050405020304" pitchFamily="18" charset="0"/>
              </a:rPr>
              <a:t>A</a:t>
            </a:r>
            <a:r>
              <a:rPr kumimoji="1" lang="en-US" altLang="zh-TW" dirty="0">
                <a:latin typeface="Times New Roman" panose="02020603050405020304" pitchFamily="18" charset="0"/>
                <a:cs typeface="Times New Roman" panose="02020603050405020304" pitchFamily="18" charset="0"/>
              </a:rPr>
              <a:t>[</a:t>
            </a:r>
            <a:r>
              <a:rPr kumimoji="1" lang="en-US" altLang="zh-TW"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j] + S</a:t>
            </a:r>
            <a:r>
              <a:rPr kumimoji="1" lang="en-US" altLang="zh-TW" baseline="-25000" dirty="0">
                <a:latin typeface="Times New Roman" panose="02020603050405020304" pitchFamily="18" charset="0"/>
                <a:cs typeface="Times New Roman" panose="02020603050405020304" pitchFamily="18" charset="0"/>
              </a:rPr>
              <a:t>B</a:t>
            </a:r>
            <a:r>
              <a:rPr kumimoji="1" lang="en-US" altLang="zh-TW" dirty="0">
                <a:latin typeface="Times New Roman" panose="02020603050405020304" pitchFamily="18" charset="0"/>
                <a:cs typeface="Times New Roman" panose="02020603050405020304" pitchFamily="18" charset="0"/>
              </a:rPr>
              <a:t>[</a:t>
            </a:r>
            <a:r>
              <a:rPr kumimoji="1" lang="en-US" altLang="zh-TW" dirty="0" err="1">
                <a:latin typeface="Times New Roman" panose="02020603050405020304" pitchFamily="18" charset="0"/>
                <a:cs typeface="Times New Roman" panose="02020603050405020304" pitchFamily="18" charset="0"/>
              </a:rPr>
              <a:t>j,k</a:t>
            </a:r>
            <a:r>
              <a:rPr kumimoji="1" lang="en-US" altLang="zh-TW" dirty="0">
                <a:latin typeface="Times New Roman" panose="02020603050405020304" pitchFamily="18" charset="0"/>
                <a:cs typeface="Times New Roman" panose="02020603050405020304" pitchFamily="18" charset="0"/>
              </a:rPr>
              <a:t>]) = max(B[</a:t>
            </a:r>
            <a:r>
              <a:rPr kumimoji="1" lang="en-US" altLang="zh-TW"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..j]+B[</a:t>
            </a:r>
            <a:r>
              <a:rPr kumimoji="1" lang="en-US" altLang="zh-TW" dirty="0" err="1">
                <a:latin typeface="Times New Roman" panose="02020603050405020304" pitchFamily="18" charset="0"/>
                <a:cs typeface="Times New Roman" panose="02020603050405020304" pitchFamily="18" charset="0"/>
              </a:rPr>
              <a:t>j..k</a:t>
            </a:r>
            <a:r>
              <a:rPr kumimoji="1" lang="en-US" altLang="zh-TW" dirty="0">
                <a:latin typeface="Times New Roman" panose="02020603050405020304" pitchFamily="18" charset="0"/>
                <a:cs typeface="Times New Roman" panose="02020603050405020304" pitchFamily="18" charset="0"/>
              </a:rPr>
              <a:t>])</a:t>
            </a:r>
          </a:p>
          <a:p>
            <a:r>
              <a:rPr kumimoji="1" lang="en-US" altLang="zh-TW" dirty="0">
                <a:latin typeface="Times New Roman" panose="02020603050405020304" pitchFamily="18" charset="0"/>
                <a:cs typeface="Times New Roman" panose="02020603050405020304" pitchFamily="18" charset="0"/>
              </a:rPr>
              <a:t>(min, +) product</a:t>
            </a:r>
            <a:r>
              <a:rPr kumimoji="1" lang="en-US" altLang="zh-TW" sz="1800" dirty="0">
                <a:latin typeface="Times New Roman" panose="02020603050405020304" pitchFamily="18" charset="0"/>
                <a:cs typeface="Times New Roman" panose="02020603050405020304" pitchFamily="18" charset="0"/>
              </a:rPr>
              <a:t>[</a:t>
            </a:r>
            <a:r>
              <a:rPr kumimoji="1" lang="en-US" altLang="zh-TW" sz="1800" dirty="0">
                <a:latin typeface="Times New Roman" panose="02020603050405020304" pitchFamily="18" charset="0"/>
                <a:cs typeface="Times New Roman" panose="02020603050405020304" pitchFamily="18" charset="0"/>
                <a:hlinkClick r:id="rId3" action="ppaction://hlinksldjump"/>
              </a:rPr>
              <a:t>p12</a:t>
            </a:r>
            <a:r>
              <a:rPr kumimoji="1" lang="en-US" altLang="zh-TW" sz="1800" dirty="0">
                <a:latin typeface="Times New Roman" panose="02020603050405020304" pitchFamily="18" charset="0"/>
                <a:cs typeface="Times New Roman" panose="02020603050405020304" pitchFamily="18" charset="0"/>
              </a:rPr>
              <a:t>]</a:t>
            </a:r>
            <a:r>
              <a:rPr kumimoji="1" lang="zh-TW" altLang="en-US" dirty="0">
                <a:latin typeface="Times New Roman" panose="02020603050405020304" pitchFamily="18" charset="0"/>
                <a:cs typeface="Times New Roman" panose="02020603050405020304" pitchFamily="18" charset="0"/>
              </a:rPr>
              <a:t>：</a:t>
            </a:r>
            <a:r>
              <a:rPr lang="en-US" altLang="zh-TW" b="1" dirty="0">
                <a:solidFill>
                  <a:srgbClr val="FF0000"/>
                </a:solidFill>
                <a:latin typeface="Times New Roman" panose="02020603050405020304" pitchFamily="18" charset="0"/>
                <a:ea typeface="Menlo" panose="020B0609030804020204" pitchFamily="49" charset="0"/>
                <a:cs typeface="Times New Roman" panose="02020603050405020304" pitchFamily="18" charset="0"/>
              </a:rPr>
              <a:t>d</a:t>
            </a:r>
            <a:r>
              <a:rPr lang="en-US" altLang="zh-TW" b="1" baseline="-25000" dirty="0">
                <a:solidFill>
                  <a:srgbClr val="FF0000"/>
                </a:solidFill>
                <a:latin typeface="Times New Roman" panose="02020603050405020304" pitchFamily="18" charset="0"/>
                <a:ea typeface="Menlo" panose="020B0609030804020204" pitchFamily="49" charset="0"/>
                <a:cs typeface="Times New Roman" panose="02020603050405020304" pitchFamily="18" charset="0"/>
              </a:rPr>
              <a:t>1</a:t>
            </a:r>
            <a:r>
              <a:rPr lang="en-US" altLang="zh-TW" b="1" dirty="0">
                <a:solidFill>
                  <a:srgbClr val="FF0000"/>
                </a:solidFill>
                <a:latin typeface="Times New Roman" panose="02020603050405020304" pitchFamily="18" charset="0"/>
                <a:ea typeface="Menlo" panose="020B0609030804020204" pitchFamily="49" charset="0"/>
                <a:cs typeface="Times New Roman" panose="02020603050405020304" pitchFamily="18" charset="0"/>
              </a:rPr>
              <a:t> ⊙</a:t>
            </a:r>
            <a:r>
              <a:rPr lang="en-US" altLang="zh-TW" b="1" baseline="-25000" dirty="0">
                <a:solidFill>
                  <a:srgbClr val="FF0000"/>
                </a:solidFill>
                <a:latin typeface="Times New Roman" panose="02020603050405020304" pitchFamily="18" charset="0"/>
                <a:ea typeface="Menlo" panose="020B0609030804020204" pitchFamily="49" charset="0"/>
                <a:cs typeface="Times New Roman" panose="02020603050405020304" pitchFamily="18" charset="0"/>
              </a:rPr>
              <a:t>min</a:t>
            </a:r>
            <a:r>
              <a:rPr lang="en-US" altLang="zh-TW" b="1" dirty="0">
                <a:solidFill>
                  <a:srgbClr val="FF0000"/>
                </a:solidFill>
                <a:latin typeface="Times New Roman" panose="02020603050405020304" pitchFamily="18" charset="0"/>
                <a:ea typeface="Menlo" panose="020B0609030804020204" pitchFamily="49" charset="0"/>
                <a:cs typeface="Times New Roman" panose="02020603050405020304" pitchFamily="18" charset="0"/>
              </a:rPr>
              <a:t> d</a:t>
            </a:r>
            <a:r>
              <a:rPr lang="en-US" altLang="zh-TW" b="1" baseline="-25000" dirty="0">
                <a:solidFill>
                  <a:srgbClr val="FF0000"/>
                </a:solidFill>
                <a:latin typeface="Times New Roman" panose="02020603050405020304" pitchFamily="18" charset="0"/>
                <a:ea typeface="Menlo" panose="020B0609030804020204" pitchFamily="49" charset="0"/>
                <a:cs typeface="Times New Roman" panose="02020603050405020304" pitchFamily="18" charset="0"/>
              </a:rPr>
              <a:t>2</a:t>
            </a:r>
            <a:r>
              <a:rPr lang="en-US" altLang="zh-TW" b="1" dirty="0">
                <a:solidFill>
                  <a:srgbClr val="FF0000"/>
                </a:solidFill>
                <a:latin typeface="Times New Roman" panose="02020603050405020304" pitchFamily="18" charset="0"/>
                <a:ea typeface="Menlo" panose="020B0609030804020204" pitchFamily="49" charset="0"/>
                <a:cs typeface="Times New Roman" panose="02020603050405020304" pitchFamily="18" charset="0"/>
              </a:rPr>
              <a:t> = d</a:t>
            </a:r>
            <a:r>
              <a:rPr lang="en-US" altLang="zh-TW" b="1" baseline="-25000" dirty="0">
                <a:solidFill>
                  <a:srgbClr val="FF0000"/>
                </a:solidFill>
                <a:latin typeface="Times New Roman" panose="02020603050405020304" pitchFamily="18" charset="0"/>
                <a:ea typeface="Menlo" panose="020B0609030804020204" pitchFamily="49" charset="0"/>
                <a:cs typeface="Times New Roman" panose="02020603050405020304" pitchFamily="18" charset="0"/>
              </a:rPr>
              <a:t>3</a:t>
            </a:r>
            <a:endParaRPr kumimoji="1" lang="en-US" altLang="zh-TW" dirty="0">
              <a:latin typeface="Times New Roman" panose="02020603050405020304" pitchFamily="18" charset="0"/>
              <a:cs typeface="Times New Roman" panose="02020603050405020304" pitchFamily="18" charset="0"/>
            </a:endParaRPr>
          </a:p>
          <a:p>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18</a:t>
            </a:fld>
            <a:endParaRPr kumimoji="1" lang="zh-TW" altLang="en-US"/>
          </a:p>
        </p:txBody>
      </p:sp>
      <p:pic>
        <p:nvPicPr>
          <p:cNvPr id="5" name="圖片 4">
            <a:extLst>
              <a:ext uri="{FF2B5EF4-FFF2-40B4-BE49-F238E27FC236}">
                <a16:creationId xmlns:a16="http://schemas.microsoft.com/office/drawing/2014/main" id="{88D4E21F-CEC7-9674-CFA0-629EC5E947F1}"/>
              </a:ext>
            </a:extLst>
          </p:cNvPr>
          <p:cNvPicPr>
            <a:picLocks noChangeAspect="1"/>
          </p:cNvPicPr>
          <p:nvPr/>
        </p:nvPicPr>
        <p:blipFill rotWithShape="1">
          <a:blip r:embed="rId4"/>
          <a:srcRect l="13958" t="49600" r="1494" b="6195"/>
          <a:stretch/>
        </p:blipFill>
        <p:spPr>
          <a:xfrm>
            <a:off x="1013590" y="2408567"/>
            <a:ext cx="3202174" cy="385222"/>
          </a:xfrm>
          <a:prstGeom prst="rect">
            <a:avLst/>
          </a:prstGeom>
        </p:spPr>
      </p:pic>
      <p:sp>
        <p:nvSpPr>
          <p:cNvPr id="4" name="矩形 3">
            <a:extLst>
              <a:ext uri="{FF2B5EF4-FFF2-40B4-BE49-F238E27FC236}">
                <a16:creationId xmlns:a16="http://schemas.microsoft.com/office/drawing/2014/main" id="{EB18D361-971F-0A65-0F23-F9E2A0DAEC24}"/>
              </a:ext>
            </a:extLst>
          </p:cNvPr>
          <p:cNvSpPr/>
          <p:nvPr/>
        </p:nvSpPr>
        <p:spPr>
          <a:xfrm>
            <a:off x="1013590" y="4567121"/>
            <a:ext cx="4189031" cy="1938992"/>
          </a:xfrm>
          <a:prstGeom prst="rect">
            <a:avLst/>
          </a:prstGeom>
        </p:spPr>
        <p:txBody>
          <a:bodyPr wrap="square">
            <a:spAutoFit/>
          </a:bodyPr>
          <a:lstStyle/>
          <a:p>
            <a:r>
              <a:rPr kumimoji="1" lang="en-US" altLang="zh-TW" sz="2000" dirty="0">
                <a:latin typeface="Times New Roman" panose="02020603050405020304" pitchFamily="18" charset="0"/>
                <a:cs typeface="Times New Roman" panose="02020603050405020304" pitchFamily="18" charset="0"/>
              </a:rPr>
              <a:t>   max(S</a:t>
            </a:r>
            <a:r>
              <a:rPr kumimoji="1" lang="en-US" altLang="zh-TW" sz="2000" baseline="-25000" dirty="0">
                <a:latin typeface="Times New Roman" panose="02020603050405020304" pitchFamily="18" charset="0"/>
                <a:cs typeface="Times New Roman" panose="02020603050405020304" pitchFamily="18" charset="0"/>
              </a:rPr>
              <a:t>A</a:t>
            </a:r>
            <a:r>
              <a:rPr kumimoji="1" lang="en-US" altLang="zh-TW" sz="2000" dirty="0">
                <a:latin typeface="Times New Roman" panose="02020603050405020304" pitchFamily="18" charset="0"/>
                <a:cs typeface="Times New Roman" panose="02020603050405020304" pitchFamily="18" charset="0"/>
              </a:rPr>
              <a:t>[</a:t>
            </a:r>
            <a:r>
              <a:rPr kumimoji="1" lang="en-US" altLang="zh-TW" sz="2000" dirty="0" err="1">
                <a:latin typeface="Times New Roman" panose="02020603050405020304" pitchFamily="18" charset="0"/>
                <a:cs typeface="Times New Roman" panose="02020603050405020304" pitchFamily="18" charset="0"/>
              </a:rPr>
              <a:t>i</a:t>
            </a:r>
            <a:r>
              <a:rPr kumimoji="1" lang="en-US" altLang="zh-TW" sz="2000" dirty="0">
                <a:latin typeface="Times New Roman" panose="02020603050405020304" pitchFamily="18" charset="0"/>
                <a:cs typeface="Times New Roman" panose="02020603050405020304" pitchFamily="18" charset="0"/>
              </a:rPr>
              <a:t>, j] + S</a:t>
            </a:r>
            <a:r>
              <a:rPr kumimoji="1" lang="en-US" altLang="zh-TW" sz="2000" baseline="-25000" dirty="0">
                <a:latin typeface="Times New Roman" panose="02020603050405020304" pitchFamily="18" charset="0"/>
                <a:cs typeface="Times New Roman" panose="02020603050405020304" pitchFamily="18" charset="0"/>
              </a:rPr>
              <a:t>B</a:t>
            </a:r>
            <a:r>
              <a:rPr kumimoji="1" lang="en-US" altLang="zh-TW" sz="2000" dirty="0">
                <a:latin typeface="Times New Roman" panose="02020603050405020304" pitchFamily="18" charset="0"/>
                <a:cs typeface="Times New Roman" panose="02020603050405020304" pitchFamily="18" charset="0"/>
              </a:rPr>
              <a:t>[j, k])</a:t>
            </a:r>
          </a:p>
          <a:p>
            <a:r>
              <a:rPr kumimoji="1" lang="en-US" altLang="zh-TW" sz="2000" dirty="0">
                <a:latin typeface="Times New Roman" panose="02020603050405020304" pitchFamily="18" charset="0"/>
                <a:cs typeface="Times New Roman" panose="02020603050405020304" pitchFamily="18" charset="0"/>
              </a:rPr>
              <a:t>= max((j-</a:t>
            </a:r>
            <a:r>
              <a:rPr kumimoji="1" lang="en-US" altLang="zh-TW" sz="2000" dirty="0" err="1">
                <a:latin typeface="Times New Roman" panose="02020603050405020304" pitchFamily="18" charset="0"/>
                <a:cs typeface="Times New Roman" panose="02020603050405020304" pitchFamily="18" charset="0"/>
              </a:rPr>
              <a:t>i</a:t>
            </a:r>
            <a:r>
              <a:rPr kumimoji="1" lang="en-US" altLang="zh-TW" sz="2000" dirty="0">
                <a:latin typeface="Times New Roman" panose="02020603050405020304" pitchFamily="18" charset="0"/>
                <a:cs typeface="Times New Roman" panose="02020603050405020304" pitchFamily="18" charset="0"/>
              </a:rPr>
              <a:t>-</a:t>
            </a:r>
            <a:r>
              <a:rPr kumimoji="1" lang="en-US" altLang="zh-TW" sz="2000" dirty="0" err="1">
                <a:latin typeface="Times New Roman" panose="02020603050405020304" pitchFamily="18" charset="0"/>
                <a:cs typeface="Times New Roman" panose="02020603050405020304" pitchFamily="18" charset="0"/>
              </a:rPr>
              <a:t>d</a:t>
            </a:r>
            <a:r>
              <a:rPr kumimoji="1" lang="en-US" altLang="zh-TW" sz="2000" baseline="-25000" dirty="0" err="1">
                <a:latin typeface="Times New Roman" panose="02020603050405020304" pitchFamily="18" charset="0"/>
                <a:cs typeface="Times New Roman" panose="02020603050405020304" pitchFamily="18" charset="0"/>
              </a:rPr>
              <a:t>A</a:t>
            </a:r>
            <a:r>
              <a:rPr kumimoji="1" lang="en-US" altLang="zh-TW" sz="2000" dirty="0">
                <a:latin typeface="Times New Roman" panose="02020603050405020304" pitchFamily="18" charset="0"/>
                <a:cs typeface="Times New Roman" panose="02020603050405020304" pitchFamily="18" charset="0"/>
              </a:rPr>
              <a:t>[</a:t>
            </a:r>
            <a:r>
              <a:rPr kumimoji="1" lang="en-US" altLang="zh-TW" sz="2000" dirty="0" err="1">
                <a:latin typeface="Times New Roman" panose="02020603050405020304" pitchFamily="18" charset="0"/>
                <a:cs typeface="Times New Roman" panose="02020603050405020304" pitchFamily="18" charset="0"/>
              </a:rPr>
              <a:t>i</a:t>
            </a:r>
            <a:r>
              <a:rPr kumimoji="1" lang="en-US" altLang="zh-TW" sz="2000" dirty="0">
                <a:latin typeface="Times New Roman" panose="02020603050405020304" pitchFamily="18" charset="0"/>
                <a:cs typeface="Times New Roman" panose="02020603050405020304" pitchFamily="18" charset="0"/>
              </a:rPr>
              <a:t>, j]) + (k-j-d</a:t>
            </a:r>
            <a:r>
              <a:rPr kumimoji="1" lang="en-US" altLang="zh-TW" sz="2000" baseline="-25000" dirty="0">
                <a:latin typeface="Times New Roman" panose="02020603050405020304" pitchFamily="18" charset="0"/>
                <a:cs typeface="Times New Roman" panose="02020603050405020304" pitchFamily="18" charset="0"/>
              </a:rPr>
              <a:t>B</a:t>
            </a:r>
            <a:r>
              <a:rPr kumimoji="1" lang="en-US" altLang="zh-TW" sz="2000" dirty="0">
                <a:latin typeface="Times New Roman" panose="02020603050405020304" pitchFamily="18" charset="0"/>
                <a:cs typeface="Times New Roman" panose="02020603050405020304" pitchFamily="18" charset="0"/>
              </a:rPr>
              <a:t>[j, k]))</a:t>
            </a:r>
          </a:p>
          <a:p>
            <a:r>
              <a:rPr kumimoji="1" lang="en-US" altLang="zh-TW" sz="2000" dirty="0">
                <a:latin typeface="Times New Roman" panose="02020603050405020304" pitchFamily="18" charset="0"/>
                <a:cs typeface="Times New Roman" panose="02020603050405020304" pitchFamily="18" charset="0"/>
              </a:rPr>
              <a:t>= max(k-</a:t>
            </a:r>
            <a:r>
              <a:rPr kumimoji="1" lang="en-US" altLang="zh-TW" sz="2000" dirty="0" err="1">
                <a:latin typeface="Times New Roman" panose="02020603050405020304" pitchFamily="18" charset="0"/>
                <a:cs typeface="Times New Roman" panose="02020603050405020304" pitchFamily="18" charset="0"/>
              </a:rPr>
              <a:t>i</a:t>
            </a:r>
            <a:r>
              <a:rPr kumimoji="1" lang="en-US" altLang="zh-TW" sz="2000" dirty="0">
                <a:latin typeface="Times New Roman" panose="02020603050405020304" pitchFamily="18" charset="0"/>
                <a:cs typeface="Times New Roman" panose="02020603050405020304" pitchFamily="18" charset="0"/>
              </a:rPr>
              <a:t>-(</a:t>
            </a:r>
            <a:r>
              <a:rPr kumimoji="1" lang="en-US" altLang="zh-TW" sz="2000" dirty="0" err="1">
                <a:latin typeface="Times New Roman" panose="02020603050405020304" pitchFamily="18" charset="0"/>
                <a:cs typeface="Times New Roman" panose="02020603050405020304" pitchFamily="18" charset="0"/>
              </a:rPr>
              <a:t>d</a:t>
            </a:r>
            <a:r>
              <a:rPr kumimoji="1" lang="en-US" altLang="zh-TW" sz="2000" baseline="-25000" dirty="0" err="1">
                <a:latin typeface="Times New Roman" panose="02020603050405020304" pitchFamily="18" charset="0"/>
                <a:cs typeface="Times New Roman" panose="02020603050405020304" pitchFamily="18" charset="0"/>
              </a:rPr>
              <a:t>A</a:t>
            </a:r>
            <a:r>
              <a:rPr kumimoji="1" lang="en-US" altLang="zh-TW" sz="2000" dirty="0">
                <a:latin typeface="Times New Roman" panose="02020603050405020304" pitchFamily="18" charset="0"/>
                <a:cs typeface="Times New Roman" panose="02020603050405020304" pitchFamily="18" charset="0"/>
              </a:rPr>
              <a:t>[</a:t>
            </a:r>
            <a:r>
              <a:rPr kumimoji="1" lang="en-US" altLang="zh-TW" sz="2000" dirty="0" err="1">
                <a:latin typeface="Times New Roman" panose="02020603050405020304" pitchFamily="18" charset="0"/>
                <a:cs typeface="Times New Roman" panose="02020603050405020304" pitchFamily="18" charset="0"/>
              </a:rPr>
              <a:t>i</a:t>
            </a:r>
            <a:r>
              <a:rPr kumimoji="1" lang="en-US" altLang="zh-TW" sz="2000" dirty="0">
                <a:latin typeface="Times New Roman" panose="02020603050405020304" pitchFamily="18" charset="0"/>
                <a:cs typeface="Times New Roman" panose="02020603050405020304" pitchFamily="18" charset="0"/>
              </a:rPr>
              <a:t>, j] + d</a:t>
            </a:r>
            <a:r>
              <a:rPr kumimoji="1" lang="en-US" altLang="zh-TW" sz="2000" baseline="-25000" dirty="0">
                <a:latin typeface="Times New Roman" panose="02020603050405020304" pitchFamily="18" charset="0"/>
                <a:cs typeface="Times New Roman" panose="02020603050405020304" pitchFamily="18" charset="0"/>
              </a:rPr>
              <a:t>B</a:t>
            </a:r>
            <a:r>
              <a:rPr kumimoji="1" lang="en-US" altLang="zh-TW" sz="2000" dirty="0">
                <a:latin typeface="Times New Roman" panose="02020603050405020304" pitchFamily="18" charset="0"/>
                <a:cs typeface="Times New Roman" panose="02020603050405020304" pitchFamily="18" charset="0"/>
              </a:rPr>
              <a:t>[j, k]))</a:t>
            </a:r>
          </a:p>
          <a:p>
            <a:r>
              <a:rPr kumimoji="1" lang="en-US" altLang="zh-TW" sz="2000" dirty="0">
                <a:latin typeface="Times New Roman" panose="02020603050405020304" pitchFamily="18" charset="0"/>
                <a:cs typeface="Times New Roman" panose="02020603050405020304" pitchFamily="18" charset="0"/>
              </a:rPr>
              <a:t>= k-</a:t>
            </a:r>
            <a:r>
              <a:rPr kumimoji="1" lang="en-US" altLang="zh-TW" sz="2000" dirty="0" err="1">
                <a:latin typeface="Times New Roman" panose="02020603050405020304" pitchFamily="18" charset="0"/>
                <a:cs typeface="Times New Roman" panose="02020603050405020304" pitchFamily="18" charset="0"/>
              </a:rPr>
              <a:t>i</a:t>
            </a:r>
            <a:r>
              <a:rPr kumimoji="1" lang="en-US" altLang="zh-TW" sz="2000" dirty="0">
                <a:latin typeface="Times New Roman" panose="02020603050405020304" pitchFamily="18" charset="0"/>
                <a:cs typeface="Times New Roman" panose="02020603050405020304" pitchFamily="18" charset="0"/>
              </a:rPr>
              <a:t> + max(-(</a:t>
            </a:r>
            <a:r>
              <a:rPr kumimoji="1" lang="en-US" altLang="zh-TW" sz="2000" dirty="0" err="1">
                <a:latin typeface="Times New Roman" panose="02020603050405020304" pitchFamily="18" charset="0"/>
                <a:cs typeface="Times New Roman" panose="02020603050405020304" pitchFamily="18" charset="0"/>
              </a:rPr>
              <a:t>d</a:t>
            </a:r>
            <a:r>
              <a:rPr kumimoji="1" lang="en-US" altLang="zh-TW" sz="2000" baseline="-25000" dirty="0" err="1">
                <a:latin typeface="Times New Roman" panose="02020603050405020304" pitchFamily="18" charset="0"/>
                <a:cs typeface="Times New Roman" panose="02020603050405020304" pitchFamily="18" charset="0"/>
              </a:rPr>
              <a:t>A</a:t>
            </a:r>
            <a:r>
              <a:rPr kumimoji="1" lang="en-US" altLang="zh-TW" sz="2000" dirty="0">
                <a:latin typeface="Times New Roman" panose="02020603050405020304" pitchFamily="18" charset="0"/>
                <a:cs typeface="Times New Roman" panose="02020603050405020304" pitchFamily="18" charset="0"/>
              </a:rPr>
              <a:t>[</a:t>
            </a:r>
            <a:r>
              <a:rPr kumimoji="1" lang="en-US" altLang="zh-TW" sz="2000" dirty="0" err="1">
                <a:latin typeface="Times New Roman" panose="02020603050405020304" pitchFamily="18" charset="0"/>
                <a:cs typeface="Times New Roman" panose="02020603050405020304" pitchFamily="18" charset="0"/>
              </a:rPr>
              <a:t>i</a:t>
            </a:r>
            <a:r>
              <a:rPr kumimoji="1" lang="en-US" altLang="zh-TW" sz="2000" dirty="0">
                <a:latin typeface="Times New Roman" panose="02020603050405020304" pitchFamily="18" charset="0"/>
                <a:cs typeface="Times New Roman" panose="02020603050405020304" pitchFamily="18" charset="0"/>
              </a:rPr>
              <a:t>, j] + d</a:t>
            </a:r>
            <a:r>
              <a:rPr kumimoji="1" lang="en-US" altLang="zh-TW" sz="2000" baseline="-25000" dirty="0">
                <a:latin typeface="Times New Roman" panose="02020603050405020304" pitchFamily="18" charset="0"/>
                <a:cs typeface="Times New Roman" panose="02020603050405020304" pitchFamily="18" charset="0"/>
              </a:rPr>
              <a:t>B</a:t>
            </a:r>
            <a:r>
              <a:rPr kumimoji="1" lang="en-US" altLang="zh-TW" sz="2000" dirty="0">
                <a:latin typeface="Times New Roman" panose="02020603050405020304" pitchFamily="18" charset="0"/>
                <a:cs typeface="Times New Roman" panose="02020603050405020304" pitchFamily="18" charset="0"/>
              </a:rPr>
              <a:t>[j, k]))</a:t>
            </a:r>
          </a:p>
          <a:p>
            <a:r>
              <a:rPr kumimoji="1" lang="en-US" altLang="zh-TW" sz="2000" dirty="0">
                <a:latin typeface="Times New Roman" panose="02020603050405020304" pitchFamily="18" charset="0"/>
                <a:cs typeface="Times New Roman" panose="02020603050405020304" pitchFamily="18" charset="0"/>
              </a:rPr>
              <a:t>= k-</a:t>
            </a:r>
            <a:r>
              <a:rPr kumimoji="1" lang="en-US" altLang="zh-TW" sz="2000" dirty="0" err="1">
                <a:latin typeface="Times New Roman" panose="02020603050405020304" pitchFamily="18" charset="0"/>
                <a:cs typeface="Times New Roman" panose="02020603050405020304" pitchFamily="18" charset="0"/>
              </a:rPr>
              <a:t>i</a:t>
            </a:r>
            <a:r>
              <a:rPr kumimoji="1" lang="en-US" altLang="zh-TW" sz="2000" dirty="0">
                <a:latin typeface="Times New Roman" panose="02020603050405020304" pitchFamily="18" charset="0"/>
                <a:cs typeface="Times New Roman" panose="02020603050405020304" pitchFamily="18" charset="0"/>
              </a:rPr>
              <a:t> - </a:t>
            </a:r>
            <a:r>
              <a:rPr kumimoji="1" lang="en-US" altLang="zh-TW" sz="2000" dirty="0">
                <a:solidFill>
                  <a:srgbClr val="FF0000"/>
                </a:solidFill>
                <a:latin typeface="Times New Roman" panose="02020603050405020304" pitchFamily="18" charset="0"/>
                <a:cs typeface="Times New Roman" panose="02020603050405020304" pitchFamily="18" charset="0"/>
              </a:rPr>
              <a:t>min(</a:t>
            </a:r>
            <a:r>
              <a:rPr kumimoji="1" lang="en-US" altLang="zh-TW" sz="2000" dirty="0" err="1">
                <a:solidFill>
                  <a:srgbClr val="FF0000"/>
                </a:solidFill>
                <a:latin typeface="Times New Roman" panose="02020603050405020304" pitchFamily="18" charset="0"/>
                <a:cs typeface="Times New Roman" panose="02020603050405020304" pitchFamily="18" charset="0"/>
              </a:rPr>
              <a:t>d</a:t>
            </a:r>
            <a:r>
              <a:rPr kumimoji="1" lang="en-US" altLang="zh-TW" sz="2000" baseline="-25000" dirty="0" err="1">
                <a:solidFill>
                  <a:srgbClr val="FF0000"/>
                </a:solidFill>
                <a:latin typeface="Times New Roman" panose="02020603050405020304" pitchFamily="18" charset="0"/>
                <a:cs typeface="Times New Roman" panose="02020603050405020304" pitchFamily="18" charset="0"/>
              </a:rPr>
              <a:t>A</a:t>
            </a:r>
            <a:r>
              <a:rPr kumimoji="1" lang="en-US" altLang="zh-TW" sz="2000" dirty="0">
                <a:solidFill>
                  <a:srgbClr val="FF0000"/>
                </a:solidFill>
                <a:latin typeface="Times New Roman" panose="02020603050405020304" pitchFamily="18" charset="0"/>
                <a:cs typeface="Times New Roman" panose="02020603050405020304" pitchFamily="18" charset="0"/>
              </a:rPr>
              <a:t>[</a:t>
            </a:r>
            <a:r>
              <a:rPr kumimoji="1" lang="en-US" altLang="zh-TW" sz="2000" dirty="0" err="1">
                <a:solidFill>
                  <a:srgbClr val="FF0000"/>
                </a:solidFill>
                <a:latin typeface="Times New Roman" panose="02020603050405020304" pitchFamily="18" charset="0"/>
                <a:cs typeface="Times New Roman" panose="02020603050405020304" pitchFamily="18" charset="0"/>
              </a:rPr>
              <a:t>i</a:t>
            </a:r>
            <a:r>
              <a:rPr kumimoji="1" lang="en-US" altLang="zh-TW" sz="2000" dirty="0">
                <a:solidFill>
                  <a:srgbClr val="FF0000"/>
                </a:solidFill>
                <a:latin typeface="Times New Roman" panose="02020603050405020304" pitchFamily="18" charset="0"/>
                <a:cs typeface="Times New Roman" panose="02020603050405020304" pitchFamily="18" charset="0"/>
              </a:rPr>
              <a:t>, j] + d</a:t>
            </a:r>
            <a:r>
              <a:rPr kumimoji="1" lang="en-US" altLang="zh-TW" sz="2000" baseline="-25000" dirty="0">
                <a:solidFill>
                  <a:srgbClr val="FF0000"/>
                </a:solidFill>
                <a:latin typeface="Times New Roman" panose="02020603050405020304" pitchFamily="18" charset="0"/>
                <a:cs typeface="Times New Roman" panose="02020603050405020304" pitchFamily="18" charset="0"/>
              </a:rPr>
              <a:t>B</a:t>
            </a:r>
            <a:r>
              <a:rPr kumimoji="1" lang="en-US" altLang="zh-TW" sz="2000" dirty="0">
                <a:solidFill>
                  <a:srgbClr val="FF0000"/>
                </a:solidFill>
                <a:latin typeface="Times New Roman" panose="02020603050405020304" pitchFamily="18" charset="0"/>
                <a:cs typeface="Times New Roman" panose="02020603050405020304" pitchFamily="18" charset="0"/>
              </a:rPr>
              <a:t>[j, k])</a:t>
            </a:r>
          </a:p>
          <a:p>
            <a:r>
              <a:rPr kumimoji="1" lang="en-US" altLang="zh-TW" sz="2000" dirty="0">
                <a:latin typeface="Times New Roman" panose="02020603050405020304" pitchFamily="18" charset="0"/>
                <a:cs typeface="Times New Roman" panose="02020603050405020304" pitchFamily="18" charset="0"/>
              </a:rPr>
              <a:t>= k-</a:t>
            </a:r>
            <a:r>
              <a:rPr kumimoji="1" lang="en-US" altLang="zh-TW" sz="2000" dirty="0" err="1">
                <a:latin typeface="Times New Roman" panose="02020603050405020304" pitchFamily="18" charset="0"/>
                <a:cs typeface="Times New Roman" panose="02020603050405020304" pitchFamily="18" charset="0"/>
              </a:rPr>
              <a:t>i</a:t>
            </a:r>
            <a:r>
              <a:rPr kumimoji="1" lang="en-US" altLang="zh-TW" sz="2000" dirty="0">
                <a:latin typeface="Times New Roman" panose="02020603050405020304" pitchFamily="18" charset="0"/>
                <a:cs typeface="Times New Roman" panose="02020603050405020304" pitchFamily="18" charset="0"/>
              </a:rPr>
              <a:t> - </a:t>
            </a:r>
            <a:r>
              <a:rPr kumimoji="1" lang="en-US" altLang="zh-TW" sz="2000" dirty="0" err="1">
                <a:solidFill>
                  <a:srgbClr val="FF0000"/>
                </a:solidFill>
                <a:latin typeface="Times New Roman" panose="02020603050405020304" pitchFamily="18" charset="0"/>
                <a:cs typeface="Times New Roman" panose="02020603050405020304" pitchFamily="18" charset="0"/>
              </a:rPr>
              <a:t>d</a:t>
            </a:r>
            <a:r>
              <a:rPr kumimoji="1" lang="en-US" altLang="zh-TW" sz="2000" baseline="-25000" dirty="0" err="1">
                <a:solidFill>
                  <a:srgbClr val="FF0000"/>
                </a:solidFill>
                <a:latin typeface="Times New Roman" panose="02020603050405020304" pitchFamily="18" charset="0"/>
                <a:cs typeface="Times New Roman" panose="02020603050405020304" pitchFamily="18" charset="0"/>
              </a:rPr>
              <a:t>C</a:t>
            </a:r>
            <a:r>
              <a:rPr kumimoji="1" lang="en-US" altLang="zh-TW" sz="2000" dirty="0">
                <a:solidFill>
                  <a:srgbClr val="FF0000"/>
                </a:solidFill>
                <a:latin typeface="Times New Roman" panose="02020603050405020304" pitchFamily="18" charset="0"/>
                <a:cs typeface="Times New Roman" panose="02020603050405020304" pitchFamily="18" charset="0"/>
              </a:rPr>
              <a:t>[</a:t>
            </a:r>
            <a:r>
              <a:rPr kumimoji="1" lang="en-US" altLang="zh-TW" sz="2000" dirty="0" err="1">
                <a:solidFill>
                  <a:srgbClr val="FF0000"/>
                </a:solidFill>
                <a:latin typeface="Times New Roman" panose="02020603050405020304" pitchFamily="18" charset="0"/>
                <a:cs typeface="Times New Roman" panose="02020603050405020304" pitchFamily="18" charset="0"/>
              </a:rPr>
              <a:t>i</a:t>
            </a:r>
            <a:r>
              <a:rPr kumimoji="1" lang="en-US" altLang="zh-TW" sz="2000" dirty="0">
                <a:solidFill>
                  <a:srgbClr val="FF0000"/>
                </a:solidFill>
                <a:latin typeface="Times New Roman" panose="02020603050405020304" pitchFamily="18" charset="0"/>
                <a:cs typeface="Times New Roman" panose="02020603050405020304" pitchFamily="18" charset="0"/>
              </a:rPr>
              <a:t>, k]</a:t>
            </a:r>
          </a:p>
        </p:txBody>
      </p:sp>
    </p:spTree>
    <p:extLst>
      <p:ext uri="{BB962C8B-B14F-4D97-AF65-F5344CB8AC3E}">
        <p14:creationId xmlns:p14="http://schemas.microsoft.com/office/powerpoint/2010/main" val="12735780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s</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19</a:t>
            </a:fld>
            <a:endParaRPr kumimoji="1" lang="zh-TW" altLang="en-US"/>
          </a:p>
        </p:txBody>
      </p:sp>
    </p:spTree>
    <p:extLst>
      <p:ext uri="{BB962C8B-B14F-4D97-AF65-F5344CB8AC3E}">
        <p14:creationId xmlns:p14="http://schemas.microsoft.com/office/powerpoint/2010/main" val="113036606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4808</TotalTime>
  <Words>6371</Words>
  <Application>Microsoft Macintosh PowerPoint</Application>
  <PresentationFormat>寬螢幕</PresentationFormat>
  <Paragraphs>519</Paragraphs>
  <Slides>20</Slides>
  <Notes>0</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20</vt:i4>
      </vt:variant>
    </vt:vector>
  </HeadingPairs>
  <TitlesOfParts>
    <vt:vector size="30" baseType="lpstr">
      <vt:lpstr>標楷體</vt:lpstr>
      <vt:lpstr>Arial</vt:lpstr>
      <vt:lpstr>Calibri</vt:lpstr>
      <vt:lpstr>Cambria Math</vt:lpstr>
      <vt:lpstr>Helvetica</vt:lpstr>
      <vt:lpstr>Menlo</vt:lpstr>
      <vt:lpstr>Rockwell</vt:lpstr>
      <vt:lpstr>Times</vt:lpstr>
      <vt:lpstr>Times New Roman</vt:lpstr>
      <vt:lpstr>Office 佈景主題</vt:lpstr>
      <vt:lpstr>Semi-Local Longest Common Subsequences in Subquadratic Time</vt:lpstr>
      <vt:lpstr>Abstract</vt:lpstr>
      <vt:lpstr>Outline</vt:lpstr>
      <vt:lpstr>Semi-Local LCS Problem (1/2)</vt:lpstr>
      <vt:lpstr>Semi-Local LCS Problem (2/2)</vt:lpstr>
      <vt:lpstr>Extended Highest-Score Matrix</vt:lpstr>
      <vt:lpstr>Critical Point (1/2)</vt:lpstr>
      <vt:lpstr>Critical Point (1/2)</vt:lpstr>
      <vt:lpstr>Critical Point (2/2)</vt:lpstr>
      <vt:lpstr>Concatenation of A And B</vt:lpstr>
      <vt:lpstr>PowerPoint 簡報</vt:lpstr>
      <vt:lpstr>PowerPoint 簡報</vt:lpstr>
      <vt:lpstr>PowerPoint 簡報</vt:lpstr>
      <vt:lpstr>Algorithm1: Divide And Conquer (1/2)</vt:lpstr>
      <vt:lpstr>Algorithm1: Divide And Conquer (2/2)</vt:lpstr>
      <vt:lpstr>Algorithm2: Iteration</vt:lpstr>
      <vt:lpstr>Thank you for listening</vt:lpstr>
      <vt:lpstr>2022/05/18 老師回饋</vt:lpstr>
      <vt:lpstr>2022/05/25 老師回饋</vt:lpstr>
      <vt:lpstr>Abstract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Improved Algorithm for The Longest Common Subsequence Problem</dc:title>
  <dc:creator>宗霖 呂</dc:creator>
  <cp:lastModifiedBy>宗霖 呂</cp:lastModifiedBy>
  <cp:revision>40</cp:revision>
  <dcterms:created xsi:type="dcterms:W3CDTF">2021-03-28T03:57:23Z</dcterms:created>
  <dcterms:modified xsi:type="dcterms:W3CDTF">2022-05-25T14:41:49Z</dcterms:modified>
</cp:coreProperties>
</file>