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01937-8BB3-48EF-AC9A-45E5CDDB0005}" v="16" dt="2022-05-18T12:26:24.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7AB712-81FE-4EA5-845A-E352D31592F7}" type="datetimeFigureOut">
              <a:rPr lang="zh-TW" altLang="en-US" smtClean="0"/>
              <a:t>2022/5/25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46B08-874D-4BC0-8CD4-7FF60CC9FCF2}" type="slidenum">
              <a:rPr lang="zh-TW" altLang="en-US" smtClean="0"/>
              <a:t>‹#›</a:t>
            </a:fld>
            <a:endParaRPr lang="zh-TW" altLang="en-US"/>
          </a:p>
        </p:txBody>
      </p:sp>
    </p:spTree>
    <p:extLst>
      <p:ext uri="{BB962C8B-B14F-4D97-AF65-F5344CB8AC3E}">
        <p14:creationId xmlns:p14="http://schemas.microsoft.com/office/powerpoint/2010/main" val="1557806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將解空間分成好幾個區域，看哪個區域比較值得被搜尋就去搜尋他</a:t>
            </a:r>
          </a:p>
        </p:txBody>
      </p:sp>
      <p:sp>
        <p:nvSpPr>
          <p:cNvPr id="4" name="投影片編號版面配置區 3"/>
          <p:cNvSpPr>
            <a:spLocks noGrp="1"/>
          </p:cNvSpPr>
          <p:nvPr>
            <p:ph type="sldNum" sz="quarter" idx="5"/>
          </p:nvPr>
        </p:nvSpPr>
        <p:spPr/>
        <p:txBody>
          <a:bodyPr/>
          <a:lstStyle/>
          <a:p>
            <a:fld id="{44446B08-874D-4BC0-8CD4-7FF60CC9FCF2}" type="slidenum">
              <a:rPr lang="zh-TW" altLang="en-US" smtClean="0"/>
              <a:t>3</a:t>
            </a:fld>
            <a:endParaRPr lang="zh-TW" altLang="en-US"/>
          </a:p>
        </p:txBody>
      </p:sp>
    </p:spTree>
    <p:extLst>
      <p:ext uri="{BB962C8B-B14F-4D97-AF65-F5344CB8AC3E}">
        <p14:creationId xmlns:p14="http://schemas.microsoft.com/office/powerpoint/2010/main" val="4069435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4446B08-874D-4BC0-8CD4-7FF60CC9FCF2}" type="slidenum">
              <a:rPr lang="zh-TW" altLang="en-US" smtClean="0"/>
              <a:t>4</a:t>
            </a:fld>
            <a:endParaRPr lang="zh-TW" altLang="en-US"/>
          </a:p>
        </p:txBody>
      </p:sp>
    </p:spTree>
    <p:extLst>
      <p:ext uri="{BB962C8B-B14F-4D97-AF65-F5344CB8AC3E}">
        <p14:creationId xmlns:p14="http://schemas.microsoft.com/office/powerpoint/2010/main" val="42073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初始化</a:t>
            </a:r>
          </a:p>
        </p:txBody>
      </p:sp>
      <p:sp>
        <p:nvSpPr>
          <p:cNvPr id="4" name="投影片編號版面配置區 3"/>
          <p:cNvSpPr>
            <a:spLocks noGrp="1"/>
          </p:cNvSpPr>
          <p:nvPr>
            <p:ph type="sldNum" sz="quarter" idx="5"/>
          </p:nvPr>
        </p:nvSpPr>
        <p:spPr/>
        <p:txBody>
          <a:bodyPr/>
          <a:lstStyle/>
          <a:p>
            <a:fld id="{44446B08-874D-4BC0-8CD4-7FF60CC9FCF2}" type="slidenum">
              <a:rPr lang="zh-TW" altLang="en-US" smtClean="0"/>
              <a:t>5</a:t>
            </a:fld>
            <a:endParaRPr lang="zh-TW" altLang="en-US"/>
          </a:p>
        </p:txBody>
      </p:sp>
    </p:spTree>
    <p:extLst>
      <p:ext uri="{BB962C8B-B14F-4D97-AF65-F5344CB8AC3E}">
        <p14:creationId xmlns:p14="http://schemas.microsoft.com/office/powerpoint/2010/main" val="195152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24AD01-6C4E-CD43-59B9-191FF6C3817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A9F97D4-C739-03A6-CEDE-64C1156F96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04195C3-D406-8C21-B008-A84BDE220258}"/>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6B136569-1782-49D4-EAD3-A924679E86B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1B6AF66-85C4-9B74-78DB-BC5A72E13F88}"/>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674825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287A0E-FB24-E69E-6AA6-2E552FE47DB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60AF586-3EF1-B425-308D-4425EBCC0E3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ED34C50-D5E7-77E7-0F83-8954D896EA9C}"/>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B1551804-C125-A6B7-0911-AAD637A37B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807250-F83B-FE35-EE4F-EA2D03D73A62}"/>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172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2BAAA1-533F-0E70-6A9E-21B2BD8CFCA7}"/>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20D9AAC-32C2-EACE-44D3-28F0AEA0A6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8798659-BD82-78DD-CA70-D24610A58214}"/>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2088649E-FDA1-C9F8-0BC2-554A44A2F0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EC7DEB-EC69-2CCB-8C9D-F164D3FBC11A}"/>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57604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F6EA4A-F170-6DC7-6BD5-B1D683F0AA8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E4558ED-3F9C-C596-4731-72032DDB576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A0C550B-A8B5-307A-A49B-DD57F1CD0B0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B061DC4-BF49-B328-B0AB-E1771CA89251}"/>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C578D803-FB47-ED1D-FBE9-6663ECD5B9B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C89578D-0583-9F87-9A43-D2E2C4105EA2}"/>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552146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8E8A90-91EE-43CA-0863-37867EDB7CB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79DC4E2-7AA8-2B42-1154-87B7B57C0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040946-965E-1832-8CCF-01F316EE84CB}"/>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E9B817A-1B20-B349-FC01-5064A02A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30C960C1-DF61-FF43-361A-80DE241CA3E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6602C77-75B3-0C49-B5FC-FE9C03C6EE6A}"/>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8" name="頁尾版面配置區 7">
            <a:extLst>
              <a:ext uri="{FF2B5EF4-FFF2-40B4-BE49-F238E27FC236}">
                <a16:creationId xmlns:a16="http://schemas.microsoft.com/office/drawing/2014/main" id="{90ED0BA1-2DBB-C0FD-0C1A-C5492DB5498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295D52E-444D-274A-4528-19F49AD44DA8}"/>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700244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733DC6-2D1C-EDCA-BD17-AB6A56BACC6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65DC8625-C802-534C-74AB-1B994332F7A0}"/>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4" name="頁尾版面配置區 3">
            <a:extLst>
              <a:ext uri="{FF2B5EF4-FFF2-40B4-BE49-F238E27FC236}">
                <a16:creationId xmlns:a16="http://schemas.microsoft.com/office/drawing/2014/main" id="{BCF066EF-559B-F8F5-893B-C28C23D8663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F368837-CC76-C789-50A6-84195EB9F227}"/>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2057648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683E123-E353-1E05-A33A-C8CE41927432}"/>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3" name="頁尾版面配置區 2">
            <a:extLst>
              <a:ext uri="{FF2B5EF4-FFF2-40B4-BE49-F238E27FC236}">
                <a16:creationId xmlns:a16="http://schemas.microsoft.com/office/drawing/2014/main" id="{BD8C2395-3234-6BE6-040D-89D65F095FF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0E739792-3966-08E9-7B7A-2CB71FDEA7A7}"/>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6367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EC0636-950E-AF10-8902-7435CE26295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203EAC2-C605-6522-1251-698001184E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1F5A4E9-DDAB-E611-D3E2-AD64F8FF2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9559658-4303-D9E8-F27E-E2280AAA396B}"/>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C10DFCBD-02E0-C4BF-21CE-77367AF1C85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903BAB7-1786-F455-340B-C195760D1674}"/>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3999651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FB223D-CDED-D0B4-7704-5EE4ADBAB08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2D86745-0D14-56B1-D38F-CA366B9125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66DD82C-DAC4-85F1-720D-AF6D369A5E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2B811AB-C1D0-5388-125B-0EAA7C476984}"/>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6" name="頁尾版面配置區 5">
            <a:extLst>
              <a:ext uri="{FF2B5EF4-FFF2-40B4-BE49-F238E27FC236}">
                <a16:creationId xmlns:a16="http://schemas.microsoft.com/office/drawing/2014/main" id="{CF2594BA-B6B8-E521-B564-1EC2671A156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30FB9F8-CB98-A4F2-A37E-C2325D676D74}"/>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759309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0848AA-8E09-A924-4E31-C547AEC2B2D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FD65DB0-1918-620B-369F-51B22142D41A}"/>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3560B7-6C10-C332-FA56-E20B2539F74F}"/>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6107EF43-29AF-5D55-92FC-98FE3767A9B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806631D-34AF-3F70-6FCC-93B6F33C08BF}"/>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666976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540DEFE-8D13-CC0F-521C-CF86829312F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C37476E-CF08-B21D-919C-5A1F3DD78C6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8FA9756-95D5-6316-0514-66D863FE3899}"/>
              </a:ext>
            </a:extLst>
          </p:cNvPr>
          <p:cNvSpPr>
            <a:spLocks noGrp="1"/>
          </p:cNvSpPr>
          <p:nvPr>
            <p:ph type="dt" sz="half" idx="10"/>
          </p:nvPr>
        </p:nvSpPr>
        <p:spPr/>
        <p:txBody>
          <a:body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E2A535FB-8329-E96A-DA70-E4E45EC72D8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CBAF262-D80D-68E6-8A10-0CF76A4BE236}"/>
              </a:ext>
            </a:extLst>
          </p:cNvPr>
          <p:cNvSpPr>
            <a:spLocks noGrp="1"/>
          </p:cNvSpPr>
          <p:nvPr>
            <p:ph type="sldNum" sz="quarter" idx="12"/>
          </p:nvPr>
        </p:nvSpPr>
        <p:spPr/>
        <p:txBody>
          <a:body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38955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363A143-5A72-335B-DA00-3416DFCE5F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F9EE99E-4904-04F2-8C69-BC4AC4C8C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FB80B91-2415-13C9-B1E7-CC672E4E5F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EFBED-222C-4DD7-8B18-4B4290B57B1E}" type="datetimeFigureOut">
              <a:rPr lang="zh-TW" altLang="en-US" smtClean="0"/>
              <a:t>2022/5/25</a:t>
            </a:fld>
            <a:endParaRPr lang="zh-TW" altLang="en-US"/>
          </a:p>
        </p:txBody>
      </p:sp>
      <p:sp>
        <p:nvSpPr>
          <p:cNvPr id="5" name="頁尾版面配置區 4">
            <a:extLst>
              <a:ext uri="{FF2B5EF4-FFF2-40B4-BE49-F238E27FC236}">
                <a16:creationId xmlns:a16="http://schemas.microsoft.com/office/drawing/2014/main" id="{B7B9DDCF-9F8C-F6B7-FF0B-133FACEF69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1DE0664-3014-FD55-7E13-6D75B23347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456E19-70F5-4A0C-B67E-6DB59E376F28}" type="slidenum">
              <a:rPr lang="zh-TW" altLang="en-US" smtClean="0"/>
              <a:t>‹#›</a:t>
            </a:fld>
            <a:endParaRPr lang="zh-TW" altLang="en-US"/>
          </a:p>
        </p:txBody>
      </p:sp>
    </p:spTree>
    <p:extLst>
      <p:ext uri="{BB962C8B-B14F-4D97-AF65-F5344CB8AC3E}">
        <p14:creationId xmlns:p14="http://schemas.microsoft.com/office/powerpoint/2010/main" val="1064950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tmp"/><Relationship Id="rId7" Type="http://schemas.openxmlformats.org/officeDocument/2006/relationships/image" Target="../media/image9.png"/><Relationship Id="rId2" Type="http://schemas.openxmlformats.org/officeDocument/2006/relationships/image" Target="../media/image4.tmp"/><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tmp"/><Relationship Id="rId4" Type="http://schemas.openxmlformats.org/officeDocument/2006/relationships/image" Target="../media/image6.tmp"/></Relationships>
</file>

<file path=ppt/slides/_rels/slide8.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946367-6E44-4762-A500-E413C00E92B7}"/>
              </a:ext>
            </a:extLst>
          </p:cNvPr>
          <p:cNvSpPr>
            <a:spLocks noGrp="1"/>
          </p:cNvSpPr>
          <p:nvPr>
            <p:ph type="ctrTitle"/>
          </p:nvPr>
        </p:nvSpPr>
        <p:spPr/>
        <p:txBody>
          <a:bodyPr>
            <a:normAutofit/>
          </a:bodyPr>
          <a:lstStyle/>
          <a:p>
            <a:r>
              <a:rPr lang="en-US" altLang="zh-TW" sz="4800" dirty="0">
                <a:latin typeface="Times New Roman" panose="02020603050405020304" pitchFamily="18" charset="0"/>
                <a:cs typeface="Times New Roman" panose="02020603050405020304" pitchFamily="18" charset="0"/>
              </a:rPr>
              <a:t>Search Economics: A Solution Space and Computing Resource Aware Search Method</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1C17997-59FA-4F48-B06E-B6360F51DC19}"/>
              </a:ext>
            </a:extLst>
          </p:cNvPr>
          <p:cNvSpPr>
            <a:spLocks noGrp="1"/>
          </p:cNvSpPr>
          <p:nvPr>
            <p:ph type="subTitle" idx="1"/>
          </p:nvPr>
        </p:nvSpPr>
        <p:spPr/>
        <p:txBody>
          <a:bodyPr/>
          <a:lstStyle/>
          <a:p>
            <a:r>
              <a:rPr lang="en-US" altLang="zh-TW" dirty="0"/>
              <a:t>Chun-Wei Tsai</a:t>
            </a:r>
          </a:p>
          <a:p>
            <a:r>
              <a:rPr lang="en-US" altLang="zh-TW" dirty="0"/>
              <a:t>2015 IEEE International Conference on Systems, Man, and Cybernetics</a:t>
            </a:r>
            <a:endParaRPr lang="zh-TW" altLang="en-US" dirty="0"/>
          </a:p>
        </p:txBody>
      </p:sp>
      <p:sp>
        <p:nvSpPr>
          <p:cNvPr id="5" name="文字方塊 4">
            <a:extLst>
              <a:ext uri="{FF2B5EF4-FFF2-40B4-BE49-F238E27FC236}">
                <a16:creationId xmlns:a16="http://schemas.microsoft.com/office/drawing/2014/main" id="{96A7EF8C-82B9-44ED-BF24-9CDF4D897762}"/>
              </a:ext>
            </a:extLst>
          </p:cNvPr>
          <p:cNvSpPr txBox="1"/>
          <p:nvPr/>
        </p:nvSpPr>
        <p:spPr>
          <a:xfrm>
            <a:off x="9207623" y="5903650"/>
            <a:ext cx="292075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resenter:</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Chih-Hsuan Chien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Date:</a:t>
            </a:r>
            <a:r>
              <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May</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altLang="zh-TW" dirty="0">
                <a:solidFill>
                  <a:prstClr val="black"/>
                </a:solidFill>
                <a:latin typeface="Times New Roman" panose="02020603050405020304" pitchFamily="18" charset="0"/>
                <a:ea typeface="新細明體" panose="02020500000000000000" pitchFamily="18" charset="-120"/>
                <a:cs typeface="Times New Roman" panose="02020603050405020304" pitchFamily="18" charset="0"/>
              </a:rPr>
              <a:t>25</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2</a:t>
            </a:r>
            <a:endPar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08134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3C44BC-50AD-8EB6-1968-858BA05C1B5B}"/>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65EBF319-DA67-F011-4D5C-7F3B964CF568}"/>
              </a:ext>
            </a:extLst>
          </p:cNvPr>
          <p:cNvSpPr>
            <a:spLocks noGrp="1"/>
          </p:cNvSpPr>
          <p:nvPr>
            <p:ph idx="1"/>
          </p:nvPr>
        </p:nvSpPr>
        <p:spPr/>
        <p:txBody>
          <a:bodyPr>
            <a:normAutofit fontScale="85000" lnSpcReduction="20000"/>
          </a:bodyPr>
          <a:lstStyle/>
          <a:p>
            <a:r>
              <a:rPr lang="en-US" altLang="zh-TW" dirty="0">
                <a:latin typeface="Times New Roman" panose="02020603050405020304" pitchFamily="18" charset="0"/>
                <a:cs typeface="Times New Roman" panose="02020603050405020304" pitchFamily="18" charset="0"/>
              </a:rPr>
              <a:t>Although most metaheuristic algorithms claimed that they have a chance to find the optimal solution if given sufficient computation time. In fact, a metaheuristic algorithm may search the same region or particular solutions for a long time when the search process is approaching the convergence state. The question that arises now is, how to invest the limited computing resource to search for the “solutions on the right region” instead of wasting time to search for the irrelevant solutions. This paper introduces a new metaheuristic algorithm, called search economics (SE), for solving optimization problems. The basic idea of the SE is to depict the solution space based on the solutions that have been checked by the search algorithm and use the information of solution space to search for the solution on the convergence process. Based on these concepts, the investment of a search process will be more meaningful and thus not easy to fall into local optimum at the early iterations. The experimental results show that the proposed algorithm can provide a result that is significantly better than those provided by state-of-the-art metaheuristic algorithms in terms of the quality.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819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035CF5-AF57-1699-FA57-B6E7EF44E1CB}"/>
              </a:ext>
            </a:extLst>
          </p:cNvPr>
          <p:cNvSpPr>
            <a:spLocks noGrp="1"/>
          </p:cNvSpPr>
          <p:nvPr>
            <p:ph type="title"/>
          </p:nvPr>
        </p:nvSpPr>
        <p:spPr/>
        <p:txBody>
          <a:bodyPr/>
          <a:lstStyle/>
          <a:p>
            <a:r>
              <a:rPr lang="en-US" altLang="zh-TW" dirty="0"/>
              <a:t>Concept</a:t>
            </a:r>
            <a:endParaRPr lang="zh-TW" altLang="en-US" dirty="0"/>
          </a:p>
        </p:txBody>
      </p:sp>
      <p:pic>
        <p:nvPicPr>
          <p:cNvPr id="5" name="內容版面配置區 4">
            <a:extLst>
              <a:ext uri="{FF2B5EF4-FFF2-40B4-BE49-F238E27FC236}">
                <a16:creationId xmlns:a16="http://schemas.microsoft.com/office/drawing/2014/main" id="{AEFB55A0-4E54-3DE5-BFD3-EB1ED7FB768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52985" y="2441997"/>
            <a:ext cx="7554379" cy="2905530"/>
          </a:xfrm>
        </p:spPr>
      </p:pic>
    </p:spTree>
    <p:extLst>
      <p:ext uri="{BB962C8B-B14F-4D97-AF65-F5344CB8AC3E}">
        <p14:creationId xmlns:p14="http://schemas.microsoft.com/office/powerpoint/2010/main" val="4138307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FB5489-F4D1-284A-C221-E14A07D2598A}"/>
              </a:ext>
            </a:extLst>
          </p:cNvPr>
          <p:cNvSpPr>
            <a:spLocks noGrp="1"/>
          </p:cNvSpPr>
          <p:nvPr>
            <p:ph type="title"/>
          </p:nvPr>
        </p:nvSpPr>
        <p:spPr/>
        <p:txBody>
          <a:bodyPr/>
          <a:lstStyle/>
          <a:p>
            <a:r>
              <a:rPr lang="en-US" altLang="zh-TW" dirty="0"/>
              <a:t>Algorithm</a:t>
            </a:r>
            <a:endParaRPr lang="zh-TW" altLang="en-US" dirty="0"/>
          </a:p>
        </p:txBody>
      </p:sp>
      <p:sp>
        <p:nvSpPr>
          <p:cNvPr id="3" name="內容版面配置區 2">
            <a:extLst>
              <a:ext uri="{FF2B5EF4-FFF2-40B4-BE49-F238E27FC236}">
                <a16:creationId xmlns:a16="http://schemas.microsoft.com/office/drawing/2014/main" id="{2E115F80-9BE3-14E4-1655-DF6045AB97C8}"/>
              </a:ext>
            </a:extLst>
          </p:cNvPr>
          <p:cNvSpPr>
            <a:spLocks noGrp="1"/>
          </p:cNvSpPr>
          <p:nvPr>
            <p:ph idx="1"/>
          </p:nvPr>
        </p:nvSpPr>
        <p:spPr/>
        <p:txBody>
          <a:bodyPr/>
          <a:lstStyle/>
          <a:p>
            <a:r>
              <a:rPr lang="en-US" altLang="zh-TW" dirty="0"/>
              <a:t>Resource Arrangement</a:t>
            </a:r>
          </a:p>
          <a:p>
            <a:r>
              <a:rPr lang="en-US" altLang="zh-TW" dirty="0"/>
              <a:t>Vision Search </a:t>
            </a:r>
          </a:p>
          <a:p>
            <a:r>
              <a:rPr lang="en-US" altLang="zh-TW" dirty="0"/>
              <a:t>Marketing Research</a:t>
            </a:r>
            <a:endParaRPr lang="zh-TW" altLang="en-US" dirty="0"/>
          </a:p>
        </p:txBody>
      </p:sp>
    </p:spTree>
    <p:extLst>
      <p:ext uri="{BB962C8B-B14F-4D97-AF65-F5344CB8AC3E}">
        <p14:creationId xmlns:p14="http://schemas.microsoft.com/office/powerpoint/2010/main" val="2995633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A526A3-4F98-FC7E-2913-49ADDDDBC95F}"/>
              </a:ext>
            </a:extLst>
          </p:cNvPr>
          <p:cNvSpPr>
            <a:spLocks noGrp="1"/>
          </p:cNvSpPr>
          <p:nvPr>
            <p:ph type="title"/>
          </p:nvPr>
        </p:nvSpPr>
        <p:spPr/>
        <p:txBody>
          <a:bodyPr/>
          <a:lstStyle/>
          <a:p>
            <a:r>
              <a:rPr lang="en-US" altLang="zh-TW" dirty="0"/>
              <a:t>Resource arrangement</a:t>
            </a:r>
            <a:endParaRPr lang="zh-TW" altLang="en-US" dirty="0"/>
          </a:p>
        </p:txBody>
      </p:sp>
      <p:sp>
        <p:nvSpPr>
          <p:cNvPr id="3" name="內容版面配置區 2">
            <a:extLst>
              <a:ext uri="{FF2B5EF4-FFF2-40B4-BE49-F238E27FC236}">
                <a16:creationId xmlns:a16="http://schemas.microsoft.com/office/drawing/2014/main" id="{AE0AF162-0AC1-8060-0A44-910FDF2575F9}"/>
              </a:ext>
            </a:extLst>
          </p:cNvPr>
          <p:cNvSpPr>
            <a:spLocks noGrp="1"/>
          </p:cNvSpPr>
          <p:nvPr>
            <p:ph idx="1"/>
          </p:nvPr>
        </p:nvSpPr>
        <p:spPr/>
        <p:txBody>
          <a:bodyPr/>
          <a:lstStyle/>
          <a:p>
            <a:r>
              <a:rPr lang="en-US" altLang="zh-TW" dirty="0"/>
              <a:t>h regions</a:t>
            </a:r>
          </a:p>
          <a:p>
            <a:r>
              <a:rPr lang="en-US" altLang="zh-TW" dirty="0"/>
              <a:t>w possible goods</a:t>
            </a:r>
          </a:p>
          <a:p>
            <a:r>
              <a:rPr lang="en-US" altLang="zh-TW" dirty="0"/>
              <a:t>n searchers</a:t>
            </a:r>
            <a:endParaRPr lang="zh-TW" altLang="en-US" dirty="0"/>
          </a:p>
        </p:txBody>
      </p:sp>
      <p:pic>
        <p:nvPicPr>
          <p:cNvPr id="5" name="圖片 4" descr="一張含有 文字 的圖片&#10;&#10;自動產生的描述">
            <a:extLst>
              <a:ext uri="{FF2B5EF4-FFF2-40B4-BE49-F238E27FC236}">
                <a16:creationId xmlns:a16="http://schemas.microsoft.com/office/drawing/2014/main" id="{01B1D028-2E85-3249-C789-C2277508FA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1022" y="1825625"/>
            <a:ext cx="5134692" cy="2772162"/>
          </a:xfrm>
          <a:prstGeom prst="rect">
            <a:avLst/>
          </a:prstGeom>
        </p:spPr>
      </p:pic>
      <p:pic>
        <p:nvPicPr>
          <p:cNvPr id="4" name="圖片 3">
            <a:extLst>
              <a:ext uri="{FF2B5EF4-FFF2-40B4-BE49-F238E27FC236}">
                <a16:creationId xmlns:a16="http://schemas.microsoft.com/office/drawing/2014/main" id="{F27004AE-ACDD-CB8D-9EBB-2AFD4B50D833}"/>
              </a:ext>
            </a:extLst>
          </p:cNvPr>
          <p:cNvPicPr>
            <a:picLocks noChangeAspect="1"/>
          </p:cNvPicPr>
          <p:nvPr/>
        </p:nvPicPr>
        <p:blipFill>
          <a:blip r:embed="rId4"/>
          <a:stretch>
            <a:fillRect/>
          </a:stretch>
        </p:blipFill>
        <p:spPr>
          <a:xfrm>
            <a:off x="515676" y="4112595"/>
            <a:ext cx="4932802" cy="1895088"/>
          </a:xfrm>
          <a:prstGeom prst="rect">
            <a:avLst/>
          </a:prstGeom>
        </p:spPr>
      </p:pic>
    </p:spTree>
    <p:extLst>
      <p:ext uri="{BB962C8B-B14F-4D97-AF65-F5344CB8AC3E}">
        <p14:creationId xmlns:p14="http://schemas.microsoft.com/office/powerpoint/2010/main" val="1177974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57605C-7479-976B-522B-3D9D38C0CD36}"/>
              </a:ext>
            </a:extLst>
          </p:cNvPr>
          <p:cNvSpPr>
            <a:spLocks noGrp="1"/>
          </p:cNvSpPr>
          <p:nvPr>
            <p:ph type="title"/>
          </p:nvPr>
        </p:nvSpPr>
        <p:spPr/>
        <p:txBody>
          <a:bodyPr/>
          <a:lstStyle/>
          <a:p>
            <a:r>
              <a:rPr lang="en-US" altLang="zh-TW" dirty="0"/>
              <a:t>Vision search</a:t>
            </a:r>
            <a:endParaRPr lang="zh-TW" altLang="en-US" dirty="0"/>
          </a:p>
        </p:txBody>
      </p:sp>
      <p:sp>
        <p:nvSpPr>
          <p:cNvPr id="3" name="內容版面配置區 2">
            <a:extLst>
              <a:ext uri="{FF2B5EF4-FFF2-40B4-BE49-F238E27FC236}">
                <a16:creationId xmlns:a16="http://schemas.microsoft.com/office/drawing/2014/main" id="{F5C4AACA-27E0-C49E-5E80-EA75E93794BB}"/>
              </a:ext>
            </a:extLst>
          </p:cNvPr>
          <p:cNvSpPr>
            <a:spLocks noGrp="1"/>
          </p:cNvSpPr>
          <p:nvPr>
            <p:ph idx="1"/>
          </p:nvPr>
        </p:nvSpPr>
        <p:spPr/>
        <p:txBody>
          <a:bodyPr/>
          <a:lstStyle/>
          <a:p>
            <a:r>
              <a:rPr lang="en-US" altLang="zh-TW" dirty="0"/>
              <a:t>Transit(</a:t>
            </a:r>
            <a:r>
              <a:rPr lang="en-US" altLang="zh-TW" dirty="0" err="1"/>
              <a:t>crossover,mutation</a:t>
            </a:r>
            <a:r>
              <a:rPr lang="en-US" altLang="zh-TW" dirty="0"/>
              <a:t>)</a:t>
            </a:r>
          </a:p>
          <a:p>
            <a:r>
              <a:rPr lang="en-US" altLang="zh-TW" dirty="0"/>
              <a:t>Evaluate</a:t>
            </a:r>
          </a:p>
          <a:p>
            <a:r>
              <a:rPr lang="en-US" altLang="zh-TW" dirty="0"/>
              <a:t>Determine</a:t>
            </a:r>
            <a:endParaRPr lang="zh-TW" altLang="en-US" dirty="0"/>
          </a:p>
        </p:txBody>
      </p:sp>
    </p:spTree>
    <p:extLst>
      <p:ext uri="{BB962C8B-B14F-4D97-AF65-F5344CB8AC3E}">
        <p14:creationId xmlns:p14="http://schemas.microsoft.com/office/powerpoint/2010/main" val="1411393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923782-1F50-538C-CE4E-0E7F1FEB40A3}"/>
              </a:ext>
            </a:extLst>
          </p:cNvPr>
          <p:cNvSpPr>
            <a:spLocks noGrp="1"/>
          </p:cNvSpPr>
          <p:nvPr>
            <p:ph type="title"/>
          </p:nvPr>
        </p:nvSpPr>
        <p:spPr/>
        <p:txBody>
          <a:bodyPr/>
          <a:lstStyle/>
          <a:p>
            <a:r>
              <a:rPr lang="en-US" altLang="zh-TW" dirty="0"/>
              <a:t>Evaluate</a:t>
            </a:r>
            <a:endParaRPr lang="zh-TW" altLang="en-US" dirty="0"/>
          </a:p>
        </p:txBody>
      </p:sp>
      <p:pic>
        <p:nvPicPr>
          <p:cNvPr id="11" name="圖片 10" descr="一張含有 文字, 時鐘, 手錶 的圖片&#10;&#10;自動產生的描述">
            <a:extLst>
              <a:ext uri="{FF2B5EF4-FFF2-40B4-BE49-F238E27FC236}">
                <a16:creationId xmlns:a16="http://schemas.microsoft.com/office/drawing/2014/main" id="{3994CF58-77F2-C54A-4048-286CD628ED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764567"/>
            <a:ext cx="2244341" cy="670723"/>
          </a:xfrm>
          <a:prstGeom prst="rect">
            <a:avLst/>
          </a:prstGeom>
        </p:spPr>
      </p:pic>
      <p:pic>
        <p:nvPicPr>
          <p:cNvPr id="13" name="圖片 12" descr="一張含有 文字, 天線 的圖片&#10;&#10;自動產生的描述">
            <a:extLst>
              <a:ext uri="{FF2B5EF4-FFF2-40B4-BE49-F238E27FC236}">
                <a16:creationId xmlns:a16="http://schemas.microsoft.com/office/drawing/2014/main" id="{7AFFA7B8-D650-AF13-DEFC-A50FE7014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960518"/>
            <a:ext cx="1543265" cy="1457528"/>
          </a:xfrm>
          <a:prstGeom prst="rect">
            <a:avLst/>
          </a:prstGeom>
        </p:spPr>
      </p:pic>
      <p:pic>
        <p:nvPicPr>
          <p:cNvPr id="15" name="圖片 14" descr="一張含有 文字 的圖片&#10;&#10;自動產生的描述">
            <a:extLst>
              <a:ext uri="{FF2B5EF4-FFF2-40B4-BE49-F238E27FC236}">
                <a16:creationId xmlns:a16="http://schemas.microsoft.com/office/drawing/2014/main" id="{25C8C4ED-6940-91AA-8B47-93B4004D13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1005" y="3036728"/>
            <a:ext cx="3610479" cy="1305107"/>
          </a:xfrm>
          <a:prstGeom prst="rect">
            <a:avLst/>
          </a:prstGeom>
        </p:spPr>
      </p:pic>
      <p:pic>
        <p:nvPicPr>
          <p:cNvPr id="17" name="圖片 16" descr="一張含有 文字 的圖片&#10;&#10;自動產生的描述">
            <a:extLst>
              <a:ext uri="{FF2B5EF4-FFF2-40B4-BE49-F238E27FC236}">
                <a16:creationId xmlns:a16="http://schemas.microsoft.com/office/drawing/2014/main" id="{24DC0ED1-9C32-DCE4-8F15-6195A86CFD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4742" y="2899869"/>
            <a:ext cx="3639058" cy="1686160"/>
          </a:xfrm>
          <a:prstGeom prst="rect">
            <a:avLst/>
          </a:prstGeom>
        </p:spPr>
      </p:pic>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909D4C24-174E-3F47-F8F0-563D37028B78}"/>
                  </a:ext>
                </a:extLst>
              </p:cNvPr>
              <p:cNvSpPr txBox="1"/>
              <p:nvPr/>
            </p:nvSpPr>
            <p:spPr>
              <a:xfrm>
                <a:off x="75414" y="4779390"/>
                <a:ext cx="3280528" cy="612604"/>
              </a:xfrm>
              <a:prstGeom prst="rect">
                <a:avLst/>
              </a:prstGeom>
              <a:noFill/>
            </p:spPr>
            <p:txBody>
              <a:bodyPr wrap="square" rtlCol="0">
                <a:spAutoFit/>
              </a:bodyPr>
              <a:lstStyle/>
              <a:p>
                <a:r>
                  <a:rPr lang="en-US" altLang="zh-TW" dirty="0"/>
                  <a:t>=</a:t>
                </a:r>
                <a14:m>
                  <m:oMath xmlns:m="http://schemas.openxmlformats.org/officeDocument/2006/math">
                    <m:f>
                      <m:fPr>
                        <m:ctrlPr>
                          <a:rPr lang="zh-TW" altLang="en-US"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這個區域多久沒被找過</m:t>
                        </m:r>
                      </m:num>
                      <m:den>
                        <m:r>
                          <a:rPr lang="zh-TW" altLang="en-US" i="1" smtClean="0">
                            <a:solidFill>
                              <a:schemeClr val="tx1"/>
                            </a:solidFill>
                            <a:latin typeface="Cambria Math" panose="02040503050406030204" pitchFamily="18" charset="0"/>
                          </a:rPr>
                          <m:t>這個區域被找過的次數</m:t>
                        </m:r>
                      </m:den>
                    </m:f>
                  </m:oMath>
                </a14:m>
                <a:endParaRPr lang="zh-TW" altLang="en-US" dirty="0"/>
              </a:p>
            </p:txBody>
          </p:sp>
        </mc:Choice>
        <mc:Fallback>
          <p:sp>
            <p:nvSpPr>
              <p:cNvPr id="3" name="文字方塊 2">
                <a:extLst>
                  <a:ext uri="{FF2B5EF4-FFF2-40B4-BE49-F238E27FC236}">
                    <a16:creationId xmlns:a16="http://schemas.microsoft.com/office/drawing/2014/main" id="{909D4C24-174E-3F47-F8F0-563D37028B78}"/>
                  </a:ext>
                </a:extLst>
              </p:cNvPr>
              <p:cNvSpPr txBox="1">
                <a:spLocks noRot="1" noChangeAspect="1" noMove="1" noResize="1" noEditPoints="1" noAdjustHandles="1" noChangeArrowheads="1" noChangeShapeType="1" noTextEdit="1"/>
              </p:cNvSpPr>
              <p:nvPr/>
            </p:nvSpPr>
            <p:spPr>
              <a:xfrm>
                <a:off x="75414" y="4779390"/>
                <a:ext cx="3280528" cy="612604"/>
              </a:xfrm>
              <a:prstGeom prst="rect">
                <a:avLst/>
              </a:prstGeom>
              <a:blipFill>
                <a:blip r:embed="rId6"/>
                <a:stretch>
                  <a:fillRect l="-14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F99842A6-3572-EDBE-8C31-C970D6A94072}"/>
                  </a:ext>
                </a:extLst>
              </p:cNvPr>
              <p:cNvSpPr txBox="1"/>
              <p:nvPr/>
            </p:nvSpPr>
            <p:spPr>
              <a:xfrm>
                <a:off x="3695307" y="4721271"/>
                <a:ext cx="3610479" cy="6731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f>
                        <m:fPr>
                          <m:ctrlPr>
                            <a:rPr lang="zh-TW" altLang="en-US"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這個區域</m:t>
                          </m:r>
                          <m:r>
                            <a:rPr lang="zh-TW" altLang="en-US" i="1">
                              <a:latin typeface="Cambria Math" panose="02040503050406030204" pitchFamily="18" charset="0"/>
                            </a:rPr>
                            <m:t>的</m:t>
                          </m:r>
                          <m:r>
                            <m:rPr>
                              <m:sty m:val="p"/>
                            </m:rPr>
                            <a:rPr lang="en-US" altLang="zh-TW" i="1">
                              <a:latin typeface="Cambria Math" panose="02040503050406030204" pitchFamily="18" charset="0"/>
                            </a:rPr>
                            <m:t>fitness</m:t>
                          </m:r>
                          <m:r>
                            <a:rPr lang="zh-TW" altLang="en-US" i="1">
                              <a:latin typeface="Cambria Math" panose="02040503050406030204" pitchFamily="18" charset="0"/>
                            </a:rPr>
                            <m:t>和</m:t>
                          </m:r>
                        </m:num>
                        <m:den>
                          <m:r>
                            <a:rPr lang="zh-TW" altLang="en-US" i="1" smtClean="0">
                              <a:solidFill>
                                <a:schemeClr val="tx1"/>
                              </a:solidFill>
                              <a:latin typeface="Cambria Math" panose="02040503050406030204" pitchFamily="18" charset="0"/>
                            </a:rPr>
                            <m:t>這個區域</m:t>
                          </m:r>
                          <m:r>
                            <a:rPr lang="zh-TW" altLang="en-US" i="1">
                              <a:latin typeface="Cambria Math" panose="02040503050406030204" pitchFamily="18" charset="0"/>
                            </a:rPr>
                            <m:t>解的數量</m:t>
                          </m:r>
                        </m:den>
                      </m:f>
                    </m:oMath>
                  </m:oMathPara>
                </a14:m>
                <a:endParaRPr lang="zh-TW" altLang="en-US" dirty="0"/>
              </a:p>
            </p:txBody>
          </p:sp>
        </mc:Choice>
        <mc:Fallback xmlns="">
          <p:sp>
            <p:nvSpPr>
              <p:cNvPr id="4" name="文字方塊 3">
                <a:extLst>
                  <a:ext uri="{FF2B5EF4-FFF2-40B4-BE49-F238E27FC236}">
                    <a16:creationId xmlns:a16="http://schemas.microsoft.com/office/drawing/2014/main" id="{F99842A6-3572-EDBE-8C31-C970D6A94072}"/>
                  </a:ext>
                </a:extLst>
              </p:cNvPr>
              <p:cNvSpPr txBox="1">
                <a:spLocks noRot="1" noChangeAspect="1" noMove="1" noResize="1" noEditPoints="1" noAdjustHandles="1" noChangeArrowheads="1" noChangeShapeType="1" noTextEdit="1"/>
              </p:cNvSpPr>
              <p:nvPr/>
            </p:nvSpPr>
            <p:spPr>
              <a:xfrm>
                <a:off x="3695307" y="4721271"/>
                <a:ext cx="3610479" cy="673198"/>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C5939B8-8F7E-A37B-6056-8C57013CD5EB}"/>
                  </a:ext>
                </a:extLst>
              </p:cNvPr>
              <p:cNvSpPr txBox="1"/>
              <p:nvPr/>
            </p:nvSpPr>
            <p:spPr>
              <a:xfrm>
                <a:off x="8477528" y="4740125"/>
                <a:ext cx="3639058" cy="606576"/>
              </a:xfrm>
              <a:prstGeom prst="rect">
                <a:avLst/>
              </a:prstGeom>
              <a:noFill/>
            </p:spPr>
            <p:txBody>
              <a:bodyPr wrap="square" rtlCol="0">
                <a:spAutoFit/>
              </a:bodyPr>
              <a:lstStyle/>
              <a:p>
                <a:r>
                  <a:rPr lang="en-US" altLang="zh-TW" dirty="0"/>
                  <a:t>=</a:t>
                </a:r>
                <a:r>
                  <a:rPr lang="zh-TW" altLang="en-US" dirty="0">
                    <a:solidFill>
                      <a:schemeClr val="tx1"/>
                    </a:solidFill>
                  </a:rPr>
                  <a:t> </a:t>
                </a:r>
                <a14:m>
                  <m:oMath xmlns:m="http://schemas.openxmlformats.org/officeDocument/2006/math">
                    <m:f>
                      <m:fPr>
                        <m:ctrlPr>
                          <a:rPr lang="zh-TW" altLang="en-US" i="1" smtClean="0">
                            <a:solidFill>
                              <a:schemeClr val="tx1"/>
                            </a:solidFill>
                            <a:latin typeface="Cambria Math" panose="02040503050406030204" pitchFamily="18" charset="0"/>
                          </a:rPr>
                        </m:ctrlPr>
                      </m:fPr>
                      <m:num>
                        <m:r>
                          <a:rPr lang="zh-TW" altLang="en-US" i="1">
                            <a:solidFill>
                              <a:schemeClr val="tx1"/>
                            </a:solidFill>
                            <a:latin typeface="Cambria Math" panose="02040503050406030204" pitchFamily="18" charset="0"/>
                          </a:rPr>
                          <m:t>這個區域</m:t>
                        </m:r>
                        <m:r>
                          <a:rPr lang="zh-TW" altLang="en-US" i="1">
                            <a:latin typeface="Cambria Math" panose="02040503050406030204" pitchFamily="18" charset="0"/>
                          </a:rPr>
                          <m:t>最好的</m:t>
                        </m:r>
                        <m:r>
                          <m:rPr>
                            <m:sty m:val="p"/>
                          </m:rPr>
                          <a:rPr lang="en-US" altLang="zh-TW" i="1">
                            <a:latin typeface="Cambria Math" panose="02040503050406030204" pitchFamily="18" charset="0"/>
                          </a:rPr>
                          <m:t>fitness</m:t>
                        </m:r>
                      </m:num>
                      <m:den>
                        <m:r>
                          <a:rPr lang="zh-TW" altLang="en-US" i="1">
                            <a:solidFill>
                              <a:schemeClr val="tx1"/>
                            </a:solidFill>
                            <a:latin typeface="Cambria Math" panose="02040503050406030204" pitchFamily="18" charset="0"/>
                          </a:rPr>
                          <m:t>所有區域最好的</m:t>
                        </m:r>
                        <m:r>
                          <m:rPr>
                            <m:sty m:val="p"/>
                          </m:rPr>
                          <a:rPr lang="en-US" altLang="zh-TW" i="1">
                            <a:solidFill>
                              <a:schemeClr val="tx1"/>
                            </a:solidFill>
                            <a:latin typeface="Cambria Math" panose="02040503050406030204" pitchFamily="18" charset="0"/>
                          </a:rPr>
                          <m:t>fitness</m:t>
                        </m:r>
                        <m:r>
                          <a:rPr lang="zh-TW" altLang="en-US" i="1">
                            <a:solidFill>
                              <a:schemeClr val="tx1"/>
                            </a:solidFill>
                            <a:latin typeface="Cambria Math" panose="02040503050406030204" pitchFamily="18" charset="0"/>
                          </a:rPr>
                          <m:t>和</m:t>
                        </m:r>
                      </m:den>
                    </m:f>
                  </m:oMath>
                </a14:m>
                <a:endParaRPr lang="zh-TW" altLang="en-US" dirty="0"/>
              </a:p>
            </p:txBody>
          </p:sp>
        </mc:Choice>
        <mc:Fallback xmlns="">
          <p:sp>
            <p:nvSpPr>
              <p:cNvPr id="5" name="文字方塊 4">
                <a:extLst>
                  <a:ext uri="{FF2B5EF4-FFF2-40B4-BE49-F238E27FC236}">
                    <a16:creationId xmlns:a16="http://schemas.microsoft.com/office/drawing/2014/main" id="{EC5939B8-8F7E-A37B-6056-8C57013CD5EB}"/>
                  </a:ext>
                </a:extLst>
              </p:cNvPr>
              <p:cNvSpPr txBox="1">
                <a:spLocks noRot="1" noChangeAspect="1" noMove="1" noResize="1" noEditPoints="1" noAdjustHandles="1" noChangeArrowheads="1" noChangeShapeType="1" noTextEdit="1"/>
              </p:cNvSpPr>
              <p:nvPr/>
            </p:nvSpPr>
            <p:spPr>
              <a:xfrm>
                <a:off x="8477528" y="4740125"/>
                <a:ext cx="3639058" cy="606576"/>
              </a:xfrm>
              <a:prstGeom prst="rect">
                <a:avLst/>
              </a:prstGeom>
              <a:blipFill>
                <a:blip r:embed="rId8"/>
                <a:stretch>
                  <a:fillRect l="-15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0670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9F578C-0DA0-843F-EB3E-4C1926F3783F}"/>
              </a:ext>
            </a:extLst>
          </p:cNvPr>
          <p:cNvSpPr>
            <a:spLocks noGrp="1"/>
          </p:cNvSpPr>
          <p:nvPr>
            <p:ph type="title"/>
          </p:nvPr>
        </p:nvSpPr>
        <p:spPr/>
        <p:txBody>
          <a:bodyPr/>
          <a:lstStyle/>
          <a:p>
            <a:r>
              <a:rPr lang="en-US" altLang="zh-TW" dirty="0"/>
              <a:t>Marketing Research</a:t>
            </a:r>
            <a:endParaRPr lang="zh-TW" altLang="en-US" dirty="0"/>
          </a:p>
        </p:txBody>
      </p:sp>
      <p:sp>
        <p:nvSpPr>
          <p:cNvPr id="3" name="內容版面配置區 2">
            <a:extLst>
              <a:ext uri="{FF2B5EF4-FFF2-40B4-BE49-F238E27FC236}">
                <a16:creationId xmlns:a16="http://schemas.microsoft.com/office/drawing/2014/main" id="{59DD0704-973F-B5AC-6064-00D05B850D77}"/>
              </a:ext>
            </a:extLst>
          </p:cNvPr>
          <p:cNvSpPr>
            <a:spLocks noGrp="1"/>
          </p:cNvSpPr>
          <p:nvPr>
            <p:ph idx="1"/>
          </p:nvPr>
        </p:nvSpPr>
        <p:spPr/>
        <p:txBody>
          <a:bodyPr/>
          <a:lstStyle/>
          <a:p>
            <a:r>
              <a:rPr lang="en-US" altLang="zh-TW" dirty="0"/>
              <a:t>Update information</a:t>
            </a:r>
            <a:endParaRPr lang="zh-TW" altLang="en-US" dirty="0"/>
          </a:p>
        </p:txBody>
      </p:sp>
      <p:pic>
        <p:nvPicPr>
          <p:cNvPr id="5" name="圖片 4" descr="一張含有 文字 的圖片&#10;&#10;自動產生的描述">
            <a:extLst>
              <a:ext uri="{FF2B5EF4-FFF2-40B4-BE49-F238E27FC236}">
                <a16:creationId xmlns:a16="http://schemas.microsoft.com/office/drawing/2014/main" id="{9A847385-8C64-B956-80D0-79FBB3BE3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375" y="4001294"/>
            <a:ext cx="7278116" cy="2048161"/>
          </a:xfrm>
          <a:prstGeom prst="rect">
            <a:avLst/>
          </a:prstGeom>
        </p:spPr>
      </p:pic>
    </p:spTree>
    <p:extLst>
      <p:ext uri="{BB962C8B-B14F-4D97-AF65-F5344CB8AC3E}">
        <p14:creationId xmlns:p14="http://schemas.microsoft.com/office/powerpoint/2010/main" val="2318172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EC9148-6E82-E757-D62C-40A5A4C78412}"/>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92F7A2D2-81EB-B23B-D766-136F2CE3F6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33614" y="-65146"/>
            <a:ext cx="6075700" cy="6893063"/>
          </a:xfrm>
        </p:spPr>
      </p:pic>
    </p:spTree>
    <p:extLst>
      <p:ext uri="{BB962C8B-B14F-4D97-AF65-F5344CB8AC3E}">
        <p14:creationId xmlns:p14="http://schemas.microsoft.com/office/powerpoint/2010/main" val="239759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F532B1-2D11-FAC7-F9A2-96F488E1D739}"/>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descr="一張含有 桌 的圖片&#10;&#10;自動產生的描述">
            <a:extLst>
              <a:ext uri="{FF2B5EF4-FFF2-40B4-BE49-F238E27FC236}">
                <a16:creationId xmlns:a16="http://schemas.microsoft.com/office/drawing/2014/main" id="{88CD175F-FAA1-B367-7AFB-6FAEA4E537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0380" y="2462531"/>
            <a:ext cx="6885253" cy="2258759"/>
          </a:xfrm>
        </p:spPr>
      </p:pic>
      <p:sp>
        <p:nvSpPr>
          <p:cNvPr id="3" name="文字方塊 2">
            <a:extLst>
              <a:ext uri="{FF2B5EF4-FFF2-40B4-BE49-F238E27FC236}">
                <a16:creationId xmlns:a16="http://schemas.microsoft.com/office/drawing/2014/main" id="{85BEACD1-02FA-BEAA-6D56-8EB944BB6C88}"/>
              </a:ext>
            </a:extLst>
          </p:cNvPr>
          <p:cNvSpPr txBox="1"/>
          <p:nvPr/>
        </p:nvSpPr>
        <p:spPr>
          <a:xfrm>
            <a:off x="2211355" y="5206482"/>
            <a:ext cx="5281127" cy="369332"/>
          </a:xfrm>
          <a:prstGeom prst="rect">
            <a:avLst/>
          </a:prstGeom>
          <a:noFill/>
        </p:spPr>
        <p:txBody>
          <a:bodyPr wrap="square" rtlCol="0">
            <a:spAutoFit/>
          </a:bodyPr>
          <a:lstStyle/>
          <a:p>
            <a:r>
              <a:rPr lang="en-US" altLang="zh-TW"/>
              <a:t>Ex:01011</a:t>
            </a:r>
          </a:p>
        </p:txBody>
      </p:sp>
    </p:spTree>
    <p:extLst>
      <p:ext uri="{BB962C8B-B14F-4D97-AF65-F5344CB8AC3E}">
        <p14:creationId xmlns:p14="http://schemas.microsoft.com/office/powerpoint/2010/main" val="331299447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308</Words>
  <Application>Microsoft Office PowerPoint</Application>
  <PresentationFormat>寬螢幕</PresentationFormat>
  <Paragraphs>33</Paragraphs>
  <Slides>10</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Arial</vt:lpstr>
      <vt:lpstr>Calibri</vt:lpstr>
      <vt:lpstr>Calibri Light</vt:lpstr>
      <vt:lpstr>Cambria Math</vt:lpstr>
      <vt:lpstr>Times New Roman</vt:lpstr>
      <vt:lpstr>Office 佈景主題</vt:lpstr>
      <vt:lpstr>Search Economics: A Solution Space and Computing Resource Aware Search Method</vt:lpstr>
      <vt:lpstr>Abstract</vt:lpstr>
      <vt:lpstr>Concept</vt:lpstr>
      <vt:lpstr>Algorithm</vt:lpstr>
      <vt:lpstr>Resource arrangement</vt:lpstr>
      <vt:lpstr>Vision search</vt:lpstr>
      <vt:lpstr>Evaluate</vt:lpstr>
      <vt:lpstr>Marketing Research</vt:lpstr>
      <vt:lpstr>PowerPoint 簡報</vt:lpstr>
      <vt:lpstr>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Economics: A Solution Space and Computing Resource Aware Search Method</dc:title>
  <dc:creator>M103040069</dc:creator>
  <cp:lastModifiedBy>M103040069</cp:lastModifiedBy>
  <cp:revision>5</cp:revision>
  <dcterms:created xsi:type="dcterms:W3CDTF">2022-05-18T11:15:07Z</dcterms:created>
  <dcterms:modified xsi:type="dcterms:W3CDTF">2022-05-25T12:49:46Z</dcterms:modified>
</cp:coreProperties>
</file>