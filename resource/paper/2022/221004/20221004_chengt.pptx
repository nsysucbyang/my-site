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5" r:id="rId5"/>
    <p:sldId id="260" r:id="rId6"/>
    <p:sldId id="261" r:id="rId7"/>
    <p:sldId id="262" r:id="rId8"/>
    <p:sldId id="263" r:id="rId9"/>
    <p:sldId id="266" r:id="rId10"/>
    <p:sldId id="264" r:id="rId11"/>
    <p:sldId id="267" r:id="rId12"/>
    <p:sldId id="268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2C5DE3-8A69-422A-8D06-B19AD13B4F45}" v="55" dt="2022-10-03T08:29:11.259"/>
    <p1510:client id="{5BBA1952-8398-45E0-9531-DF66C7CDF446}" v="5" dt="2022-10-03T13:35:56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ng B" userId="8a6456424c5e7c38" providerId="LiveId" clId="{322C5DE3-8A69-422A-8D06-B19AD13B4F45}"/>
    <pc:docChg chg="undo custSel addSld modSld">
      <pc:chgData name="Ting B" userId="8a6456424c5e7c38" providerId="LiveId" clId="{322C5DE3-8A69-422A-8D06-B19AD13B4F45}" dt="2022-10-03T08:30:36.278" v="977"/>
      <pc:docMkLst>
        <pc:docMk/>
      </pc:docMkLst>
      <pc:sldChg chg="modSp mod">
        <pc:chgData name="Ting B" userId="8a6456424c5e7c38" providerId="LiveId" clId="{322C5DE3-8A69-422A-8D06-B19AD13B4F45}" dt="2022-10-03T08:12:23.262" v="257" actId="2711"/>
        <pc:sldMkLst>
          <pc:docMk/>
          <pc:sldMk cId="1721130842" sldId="263"/>
        </pc:sldMkLst>
        <pc:spChg chg="mod">
          <ac:chgData name="Ting B" userId="8a6456424c5e7c38" providerId="LiveId" clId="{322C5DE3-8A69-422A-8D06-B19AD13B4F45}" dt="2022-10-03T08:12:23.262" v="257" actId="2711"/>
          <ac:spMkLst>
            <pc:docMk/>
            <pc:sldMk cId="1721130842" sldId="263"/>
            <ac:spMk id="3" creationId="{67488E49-222C-A797-C89A-52465DA3D45E}"/>
          </ac:spMkLst>
        </pc:spChg>
      </pc:sldChg>
      <pc:sldChg chg="addSp modSp mod">
        <pc:chgData name="Ting B" userId="8a6456424c5e7c38" providerId="LiveId" clId="{322C5DE3-8A69-422A-8D06-B19AD13B4F45}" dt="2022-10-03T08:23:18.789" v="565" actId="20577"/>
        <pc:sldMkLst>
          <pc:docMk/>
          <pc:sldMk cId="2549230487" sldId="264"/>
        </pc:sldMkLst>
        <pc:spChg chg="mod">
          <ac:chgData name="Ting B" userId="8a6456424c5e7c38" providerId="LiveId" clId="{322C5DE3-8A69-422A-8D06-B19AD13B4F45}" dt="2022-10-03T08:23:18.789" v="565" actId="20577"/>
          <ac:spMkLst>
            <pc:docMk/>
            <pc:sldMk cId="2549230487" sldId="264"/>
            <ac:spMk id="3" creationId="{CE419E45-1C1B-D42A-8E24-F6C948142BE7}"/>
          </ac:spMkLst>
        </pc:spChg>
        <pc:graphicFrameChg chg="add mod modGraphic">
          <ac:chgData name="Ting B" userId="8a6456424c5e7c38" providerId="LiveId" clId="{322C5DE3-8A69-422A-8D06-B19AD13B4F45}" dt="2022-10-03T08:22:59.440" v="517" actId="207"/>
          <ac:graphicFrameMkLst>
            <pc:docMk/>
            <pc:sldMk cId="2549230487" sldId="264"/>
            <ac:graphicFrameMk id="5" creationId="{06832F44-322D-0C4D-3462-46AA0C95B4E8}"/>
          </ac:graphicFrameMkLst>
        </pc:graphicFrameChg>
      </pc:sldChg>
      <pc:sldChg chg="modSp new mod">
        <pc:chgData name="Ting B" userId="8a6456424c5e7c38" providerId="LiveId" clId="{322C5DE3-8A69-422A-8D06-B19AD13B4F45}" dt="2022-10-03T08:14:33.056" v="386" actId="2711"/>
        <pc:sldMkLst>
          <pc:docMk/>
          <pc:sldMk cId="3947317524" sldId="266"/>
        </pc:sldMkLst>
        <pc:spChg chg="mod">
          <ac:chgData name="Ting B" userId="8a6456424c5e7c38" providerId="LiveId" clId="{322C5DE3-8A69-422A-8D06-B19AD13B4F45}" dt="2022-10-03T08:12:03.782" v="255" actId="20577"/>
          <ac:spMkLst>
            <pc:docMk/>
            <pc:sldMk cId="3947317524" sldId="266"/>
            <ac:spMk id="2" creationId="{C7C2D7B1-6964-1712-B3D2-757BAD573FE2}"/>
          </ac:spMkLst>
        </pc:spChg>
        <pc:spChg chg="mod">
          <ac:chgData name="Ting B" userId="8a6456424c5e7c38" providerId="LiveId" clId="{322C5DE3-8A69-422A-8D06-B19AD13B4F45}" dt="2022-10-03T08:14:33.056" v="386" actId="2711"/>
          <ac:spMkLst>
            <pc:docMk/>
            <pc:sldMk cId="3947317524" sldId="266"/>
            <ac:spMk id="3" creationId="{2DFEF5CE-1F3B-D83A-2258-EA2D4EE00ABE}"/>
          </ac:spMkLst>
        </pc:spChg>
      </pc:sldChg>
      <pc:sldChg chg="addSp delSp modSp new mod">
        <pc:chgData name="Ting B" userId="8a6456424c5e7c38" providerId="LiveId" clId="{322C5DE3-8A69-422A-8D06-B19AD13B4F45}" dt="2022-10-03T08:30:17.640" v="975" actId="1076"/>
        <pc:sldMkLst>
          <pc:docMk/>
          <pc:sldMk cId="3498862633" sldId="267"/>
        </pc:sldMkLst>
        <pc:spChg chg="mod">
          <ac:chgData name="Ting B" userId="8a6456424c5e7c38" providerId="LiveId" clId="{322C5DE3-8A69-422A-8D06-B19AD13B4F45}" dt="2022-10-03T08:23:35.792" v="600" actId="20577"/>
          <ac:spMkLst>
            <pc:docMk/>
            <pc:sldMk cId="3498862633" sldId="267"/>
            <ac:spMk id="2" creationId="{02F46478-6E32-3CF2-D00B-58955A4A5C4D}"/>
          </ac:spMkLst>
        </pc:spChg>
        <pc:spChg chg="del mod">
          <ac:chgData name="Ting B" userId="8a6456424c5e7c38" providerId="LiveId" clId="{322C5DE3-8A69-422A-8D06-B19AD13B4F45}" dt="2022-10-03T08:27:03.625" v="746" actId="3680"/>
          <ac:spMkLst>
            <pc:docMk/>
            <pc:sldMk cId="3498862633" sldId="267"/>
            <ac:spMk id="3" creationId="{3A691176-4BA5-2B56-4AA1-E801497205A3}"/>
          </ac:spMkLst>
        </pc:spChg>
        <pc:spChg chg="add mod">
          <ac:chgData name="Ting B" userId="8a6456424c5e7c38" providerId="LiveId" clId="{322C5DE3-8A69-422A-8D06-B19AD13B4F45}" dt="2022-10-03T08:30:17.640" v="975" actId="1076"/>
          <ac:spMkLst>
            <pc:docMk/>
            <pc:sldMk cId="3498862633" sldId="267"/>
            <ac:spMk id="6" creationId="{0B4AA169-1882-3782-FD0C-75FD949594DD}"/>
          </ac:spMkLst>
        </pc:spChg>
        <pc:graphicFrameChg chg="add mod ord modGraphic">
          <ac:chgData name="Ting B" userId="8a6456424c5e7c38" providerId="LiveId" clId="{322C5DE3-8A69-422A-8D06-B19AD13B4F45}" dt="2022-10-03T08:29:04.589" v="888" actId="1076"/>
          <ac:graphicFrameMkLst>
            <pc:docMk/>
            <pc:sldMk cId="3498862633" sldId="267"/>
            <ac:graphicFrameMk id="5" creationId="{74400893-89F0-E980-9948-563BE572D95A}"/>
          </ac:graphicFrameMkLst>
        </pc:graphicFrameChg>
      </pc:sldChg>
      <pc:sldChg chg="modSp new mod">
        <pc:chgData name="Ting B" userId="8a6456424c5e7c38" providerId="LiveId" clId="{322C5DE3-8A69-422A-8D06-B19AD13B4F45}" dt="2022-10-03T08:30:36.278" v="977"/>
        <pc:sldMkLst>
          <pc:docMk/>
          <pc:sldMk cId="2149616836" sldId="268"/>
        </pc:sldMkLst>
        <pc:spChg chg="mod">
          <ac:chgData name="Ting B" userId="8a6456424c5e7c38" providerId="LiveId" clId="{322C5DE3-8A69-422A-8D06-B19AD13B4F45}" dt="2022-10-03T08:30:36.278" v="977"/>
          <ac:spMkLst>
            <pc:docMk/>
            <pc:sldMk cId="2149616836" sldId="268"/>
            <ac:spMk id="2" creationId="{BED1D2BB-9E0A-CBAC-C3AF-4620FE983093}"/>
          </ac:spMkLst>
        </pc:spChg>
      </pc:sldChg>
    </pc:docChg>
  </pc:docChgLst>
  <pc:docChgLst>
    <pc:chgData name="Ting B" userId="8a6456424c5e7c38" providerId="LiveId" clId="{5BBA1952-8398-45E0-9531-DF66C7CDF446}"/>
    <pc:docChg chg="undo custSel modSld">
      <pc:chgData name="Ting B" userId="8a6456424c5e7c38" providerId="LiveId" clId="{5BBA1952-8398-45E0-9531-DF66C7CDF446}" dt="2022-10-03T13:40:04.347" v="333" actId="14100"/>
      <pc:docMkLst>
        <pc:docMk/>
      </pc:docMkLst>
      <pc:sldChg chg="addSp modSp mod">
        <pc:chgData name="Ting B" userId="8a6456424c5e7c38" providerId="LiveId" clId="{5BBA1952-8398-45E0-9531-DF66C7CDF446}" dt="2022-10-03T13:25:44.868" v="89" actId="14100"/>
        <pc:sldMkLst>
          <pc:docMk/>
          <pc:sldMk cId="3498862633" sldId="267"/>
        </pc:sldMkLst>
        <pc:spChg chg="add mod">
          <ac:chgData name="Ting B" userId="8a6456424c5e7c38" providerId="LiveId" clId="{5BBA1952-8398-45E0-9531-DF66C7CDF446}" dt="2022-10-03T13:25:44.868" v="89" actId="14100"/>
          <ac:spMkLst>
            <pc:docMk/>
            <pc:sldMk cId="3498862633" sldId="267"/>
            <ac:spMk id="3" creationId="{BBD05824-C34C-BBC2-31BD-078BEA02D7A9}"/>
          </ac:spMkLst>
        </pc:spChg>
      </pc:sldChg>
      <pc:sldChg chg="addSp delSp modSp mod">
        <pc:chgData name="Ting B" userId="8a6456424c5e7c38" providerId="LiveId" clId="{5BBA1952-8398-45E0-9531-DF66C7CDF446}" dt="2022-10-03T13:40:04.347" v="333" actId="14100"/>
        <pc:sldMkLst>
          <pc:docMk/>
          <pc:sldMk cId="2149616836" sldId="268"/>
        </pc:sldMkLst>
        <pc:spChg chg="del mod">
          <ac:chgData name="Ting B" userId="8a6456424c5e7c38" providerId="LiveId" clId="{5BBA1952-8398-45E0-9531-DF66C7CDF446}" dt="2022-10-03T13:29:04.084" v="207"/>
          <ac:spMkLst>
            <pc:docMk/>
            <pc:sldMk cId="2149616836" sldId="268"/>
            <ac:spMk id="3" creationId="{EF837BBB-9AF8-7E43-3204-B3D5A3850D1D}"/>
          </ac:spMkLst>
        </pc:spChg>
        <pc:spChg chg="add del mod">
          <ac:chgData name="Ting B" userId="8a6456424c5e7c38" providerId="LiveId" clId="{5BBA1952-8398-45E0-9531-DF66C7CDF446}" dt="2022-10-03T13:36:19.871" v="295" actId="478"/>
          <ac:spMkLst>
            <pc:docMk/>
            <pc:sldMk cId="2149616836" sldId="268"/>
            <ac:spMk id="7" creationId="{A671394F-755B-D95C-0EE3-2053CEF4A33D}"/>
          </ac:spMkLst>
        </pc:spChg>
        <pc:spChg chg="add mod">
          <ac:chgData name="Ting B" userId="8a6456424c5e7c38" providerId="LiveId" clId="{5BBA1952-8398-45E0-9531-DF66C7CDF446}" dt="2022-10-03T13:39:45.953" v="327" actId="122"/>
          <ac:spMkLst>
            <pc:docMk/>
            <pc:sldMk cId="2149616836" sldId="268"/>
            <ac:spMk id="9" creationId="{E10445F8-520A-6C29-163F-9B818D4490A1}"/>
          </ac:spMkLst>
        </pc:spChg>
        <pc:spChg chg="add mod">
          <ac:chgData name="Ting B" userId="8a6456424c5e7c38" providerId="LiveId" clId="{5BBA1952-8398-45E0-9531-DF66C7CDF446}" dt="2022-10-03T13:40:04.347" v="333" actId="14100"/>
          <ac:spMkLst>
            <pc:docMk/>
            <pc:sldMk cId="2149616836" sldId="268"/>
            <ac:spMk id="10" creationId="{09D71057-F925-C317-52DC-2AD20887B021}"/>
          </ac:spMkLst>
        </pc:spChg>
        <pc:graphicFrameChg chg="add del mod modGraphic">
          <ac:chgData name="Ting B" userId="8a6456424c5e7c38" providerId="LiveId" clId="{5BBA1952-8398-45E0-9531-DF66C7CDF446}" dt="2022-10-03T13:29:03.371" v="206" actId="21"/>
          <ac:graphicFrameMkLst>
            <pc:docMk/>
            <pc:sldMk cId="2149616836" sldId="268"/>
            <ac:graphicFrameMk id="5" creationId="{15E32CA6-E33F-550B-B058-16A8AC710C4F}"/>
          </ac:graphicFrameMkLst>
        </pc:graphicFrameChg>
        <pc:graphicFrameChg chg="add mod modGraphic">
          <ac:chgData name="Ting B" userId="8a6456424c5e7c38" providerId="LiveId" clId="{5BBA1952-8398-45E0-9531-DF66C7CDF446}" dt="2022-10-03T13:32:56.224" v="244" actId="207"/>
          <ac:graphicFrameMkLst>
            <pc:docMk/>
            <pc:sldMk cId="2149616836" sldId="268"/>
            <ac:graphicFrameMk id="6" creationId="{AB16D813-74B3-3DE2-AACB-24B3350EF028}"/>
          </ac:graphicFrameMkLst>
        </pc:graphicFrameChg>
        <pc:graphicFrameChg chg="add mod modGraphic">
          <ac:chgData name="Ting B" userId="8a6456424c5e7c38" providerId="LiveId" clId="{5BBA1952-8398-45E0-9531-DF66C7CDF446}" dt="2022-10-03T13:39:41.266" v="325" actId="1076"/>
          <ac:graphicFrameMkLst>
            <pc:docMk/>
            <pc:sldMk cId="2149616836" sldId="268"/>
            <ac:graphicFrameMk id="8" creationId="{7B852DF5-343B-5A21-2885-86227377774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71A6C-2C44-478D-971D-C6B8D23831BB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8E3AD-4DDF-46F0-847C-9E019181D1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39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F9860-E560-416D-9431-5E47F3244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9134497-E75B-48A4-91DD-EA0D8766E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863F84-58C6-42BD-8450-BB1EF0A0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348C-36CF-493F-87A0-F09F5C79557B}" type="datetime1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432305-1513-4FF2-B137-EE8BE607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45DE15-CC67-477E-9512-252BB1C1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61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0FF7CE-2933-4750-A85D-DACE9F91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F8675F-A7F4-411C-87FE-AF53DB23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D891A1-BED0-4372-94A4-FAEA0FDB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CB8-68CC-40D0-8B95-D3C3A7ADB4E8}" type="datetime1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DB4587-43E1-4B31-85FA-4F512D06B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62905B-D2C7-4BB5-A1C0-9C466C3C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源流明體 M" panose="02020500000000000000" pitchFamily="18" charset="-120"/>
                <a:ea typeface="源流明體 M" panose="02020500000000000000" pitchFamily="18" charset="-120"/>
              </a:defRPr>
            </a:lvl1pPr>
          </a:lstStyle>
          <a:p>
            <a:fld id="{4CD2C34A-D3D3-4A9B-8692-9279E332F0C9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4709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CA837B-11EB-4BCD-BB75-016BDBC72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1CEDA6-E03F-4FC9-9AE0-3165E22F8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B5DA1D-6AE9-48E7-B940-0B03E717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9369E-9364-4DE1-B777-922645A66F1A}" type="datetime1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AA8402-DA28-4A1A-A558-D9347B92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9B33D7-3156-4125-A854-05E2F5EC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13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C2D9AB-19FC-4A41-8B16-512340B33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27EFF3-6358-445E-AB7A-1BC735609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0E9C49-7EE0-48B3-B571-72D3290F1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1A1EF6-39FE-482A-8143-781B6CB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1FF31-668F-4AB9-96F0-D30DF02CF383}" type="datetime1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89D48EB-695D-48D5-972D-703BA95F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0DEBC84-B4B2-48A5-9453-4968DF60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30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64652-1B77-4696-A668-DE346840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EA96D6-19BA-4F0C-9D27-5E3C91262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D1974A-B943-4208-8541-2CC976952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F423B03-A8AF-4A4A-8E8F-F37A0EC21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68F243B-B7F9-4BFF-961C-9D0B9CDCA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FF30C15-CFD8-4836-816C-2F7AD002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F927-1548-411C-9F0A-7E2338821FD2}" type="datetime1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B75EC47-F26E-4E34-8F29-34396015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0357AA1-531D-48AF-9CCE-B1E9F1D5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38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1D42C-7250-4132-82B5-5BC22B5A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A93FF5C-9744-48EF-A3FE-F6AB3634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5000-B342-4B97-BFC6-0D5CDADFA95C}" type="datetime1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01019B5-97EB-4FAA-B9E0-A8872AE7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A332F1-DF5D-4F87-97BF-68EBD8F1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90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876C78C-4473-4753-A6D0-22BA1F476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F939-D763-48D5-8B03-D0F1129A1E9E}" type="datetime1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0A9D2FC-48F6-4EB8-9020-7AACF6C9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61A111-BA32-4DCC-B1B3-F6F29930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07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96626C-3788-4FAE-8B9A-B23CC278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050D94-23AF-4060-B5E4-D28F7AF29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7E624D-101B-4B1B-A033-653188284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3E474D-7185-4142-8E1A-C096A190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AF7E-03FF-47C7-BE82-6927213C9CE5}" type="datetime1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8FD9AE-93F8-4516-981E-888A3585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C235FE-7EC6-45BD-AFD3-28E23622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626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BEFEB1-3B54-45E8-9090-D0CF4FF9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CBE35E7-646E-4404-821A-D22E70E0B0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357CA3-B57C-4FE1-AA0C-39A1BB09A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38B033-98F0-477A-A016-863BD32FF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A15A-BC96-4FDC-81B9-0D28C6E02324}" type="datetime1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7603EF-D0A2-4BE2-BB6E-F1E742856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60FDF8-CDA0-4176-93FB-878ED2BD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22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CE1F33-6DA3-4E3D-A50B-59EF3784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53AB78-8699-463C-8D35-0DAE4736C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0C9C6C-B437-4A6A-B50E-D76A9DFE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8257-1A0C-4C00-86B7-D3CBE1E4FDE3}" type="datetime1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009B86-8BAF-49D3-9FBD-AF620355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B07FA9-F3F7-4DA7-A0F4-66D3B567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4161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C295D24-4D4D-472A-AB73-D1239EA9C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DB5D60-51C4-436D-BBDD-F77793327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632C48-A4E5-459A-B5AA-57D86A08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1720-F347-4FFB-ADA5-0AD2EE56A4E5}" type="datetime1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1A3D36-B64D-4E79-8824-D40005CB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CBCD96-2981-4CEB-BF02-CDF1449F8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32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588B45C-60F2-4BCE-B810-D930011E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153474-8A42-4461-A925-C46F64482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84AEC-A2FC-47EE-8B0B-6CF68B838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0A89E-5F59-45C6-916E-2029F486A7DF}" type="datetime1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89F9A5-C535-4FCE-9462-8748EDBDF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D0B99F-AC6F-4C56-843B-B3324F719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1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143474-6387-4BE8-A4BF-0CDEA67657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Fast Computation of a Longest Increasing Subsequence and Application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B8BEBC-EA8D-40AC-8B6F-CE2FB945F5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M. </a:t>
            </a:r>
            <a:r>
              <a:rPr lang="en-US" altLang="zh-TW" dirty="0" err="1"/>
              <a:t>Crochemore</a:t>
            </a:r>
            <a:r>
              <a:rPr lang="en-US" altLang="zh-TW" dirty="0"/>
              <a:t>, E. </a:t>
            </a:r>
            <a:r>
              <a:rPr lang="en-US" altLang="zh-TW" dirty="0" err="1"/>
              <a:t>Porat</a:t>
            </a:r>
            <a:r>
              <a:rPr lang="en-US" altLang="zh-TW" dirty="0"/>
              <a:t>, </a:t>
            </a:r>
          </a:p>
          <a:p>
            <a:r>
              <a:rPr lang="en-US" altLang="zh-TW" dirty="0"/>
              <a:t>Information and Computation, Vol. 208, 2010, pp. 1054~1059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AB8FE2-23CB-4533-87D5-C2F44C82D244}"/>
              </a:ext>
            </a:extLst>
          </p:cNvPr>
          <p:cNvSpPr txBox="1"/>
          <p:nvPr/>
        </p:nvSpPr>
        <p:spPr>
          <a:xfrm>
            <a:off x="9474926" y="6211669"/>
            <a:ext cx="2717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Presenter: Guan-Ting Chen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Date: Oct. 4, 2022</a:t>
            </a:r>
          </a:p>
        </p:txBody>
      </p:sp>
    </p:spTree>
    <p:extLst>
      <p:ext uri="{BB962C8B-B14F-4D97-AF65-F5344CB8AC3E}">
        <p14:creationId xmlns:p14="http://schemas.microsoft.com/office/powerpoint/2010/main" val="992846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24AF41-DCC8-4BFE-B3AA-9D793E86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FBE2A12-C9F0-4093-A018-44F05764C4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3"/>
                <a:ext cx="10515600" cy="42268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/>
                  <a:t>We consider the complexity of computing a longest increasing subsequence (LIS) </a:t>
                </a:r>
                <a:r>
                  <a:rPr lang="en-US" altLang="zh-TW" sz="2400" dirty="0" err="1"/>
                  <a:t>parameterised</a:t>
                </a:r>
                <a:r>
                  <a:rPr lang="en-US" altLang="zh-TW" sz="2400" dirty="0"/>
                  <a:t> by the length of the output. Namely, we show that the maximal length k of an increasing subsequence of a 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permutation</a:t>
                </a:r>
                <a:r>
                  <a:rPr lang="en-US" altLang="zh-TW" sz="2400" dirty="0"/>
                  <a:t> of the set of integers { 1 , 2 , . . . , n } can be computed in time O (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m:rPr>
                        <m:sty m:val="p"/>
                      </m:rPr>
                      <a:rPr lang="en-US" altLang="zh-TW" sz="2400" i="1" dirty="0" err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) in the RAM model, improving the previous 30-year bound of O (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400" dirty="0"/>
                  <a:t> ) .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The algorithm also improves on the previous O (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m:rPr>
                        <m:sty m:val="p"/>
                      </m:rPr>
                      <a:rPr lang="en-US" altLang="zh-TW" sz="2400" i="1" dirty="0" err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) bound. The optimality of the new bound is an open question.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Reducing the computation of a longest common subsequence (LCS) between two strings to an LIS computation leads to a simple O (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m:rPr>
                        <m:sty m:val="p"/>
                      </m:rPr>
                      <a:rPr lang="en-US" altLang="zh-TW" sz="2400" i="1" dirty="0" err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)-time algorithm for two sequences having r pairs of matching symbols and an LCS of length k.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FBE2A12-C9F0-4093-A018-44F05764C4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3"/>
                <a:ext cx="10515600" cy="4226833"/>
              </a:xfrm>
              <a:blipFill>
                <a:blip r:embed="rId2"/>
                <a:stretch>
                  <a:fillRect l="-928" t="-2017" r="-11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099A3E-11CF-4D79-A20E-36E8E58CE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7236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FDA657-4306-86D8-0F71-0B64EB592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Longest Increasing </a:t>
            </a:r>
            <a:r>
              <a:rPr lang="en-US" altLang="zh-TW" dirty="0"/>
              <a:t>Subsequence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354675-3B95-E29F-8F03-84EC28BD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graphicFrame>
        <p:nvGraphicFramePr>
          <p:cNvPr id="9" name="內容版面配置區 8">
            <a:extLst>
              <a:ext uri="{FF2B5EF4-FFF2-40B4-BE49-F238E27FC236}">
                <a16:creationId xmlns:a16="http://schemas.microsoft.com/office/drawing/2014/main" id="{D3C49D1D-94A6-8265-6847-58C7EDB16C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310642"/>
              </p:ext>
            </p:extLst>
          </p:nvPr>
        </p:nvGraphicFramePr>
        <p:xfrm>
          <a:off x="2032000" y="1534795"/>
          <a:ext cx="8128000" cy="5186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056593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271676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53213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337607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05394391"/>
                    </a:ext>
                  </a:extLst>
                </a:gridCol>
              </a:tblGrid>
              <a:tr h="350429"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217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00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90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739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13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68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413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682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17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769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30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293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511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658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212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BDC0E7-18E8-C374-2291-4DD4C1B43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Sort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4457C3-96AA-07B2-2CA5-3E8D6E35C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Radix Sort</a:t>
            </a:r>
          </a:p>
          <a:p>
            <a:pPr lvl="1"/>
            <a:r>
              <a:rPr lang="en-US" altLang="zh-TW" dirty="0"/>
              <a:t>{12, 8, 9, 1, 11, 6, 7, 2, 10, 4, 5, 3}</a:t>
            </a:r>
          </a:p>
          <a:p>
            <a:pPr marL="457200" lvl="1" indent="0">
              <a:buNone/>
            </a:pPr>
            <a:endParaRPr lang="en-US" altLang="zh-TW" dirty="0"/>
          </a:p>
          <a:p>
            <a:pPr lvl="1"/>
            <a:r>
              <a:rPr lang="en-US" altLang="zh-TW" dirty="0"/>
              <a:t>Pair ?</a:t>
            </a:r>
          </a:p>
          <a:p>
            <a:pPr lvl="2"/>
            <a:r>
              <a:rPr lang="en-US" altLang="zh-TW" dirty="0"/>
              <a:t>{(1, 12), (1, 8), (1, 9), (1, 1),</a:t>
            </a:r>
            <a:br>
              <a:rPr lang="en-US" altLang="zh-TW" dirty="0"/>
            </a:br>
            <a:r>
              <a:rPr lang="en-US" altLang="zh-TW" dirty="0"/>
              <a:t>  (2, 11), (2, 6), (2, 7), (2, 2),</a:t>
            </a:r>
            <a:br>
              <a:rPr lang="en-US" altLang="zh-TW" dirty="0"/>
            </a:br>
            <a:r>
              <a:rPr lang="en-US" altLang="zh-TW" dirty="0"/>
              <a:t>  (3, 10), (3, 4), (3, 5), (3, 3)}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6BE4C2-5D7C-2973-13C3-5DCB7DBA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8566E61F-B212-F46C-9B16-9C723AB6C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395181"/>
              </p:ext>
            </p:extLst>
          </p:nvPr>
        </p:nvGraphicFramePr>
        <p:xfrm>
          <a:off x="6979194" y="1623854"/>
          <a:ext cx="3262812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7604">
                  <a:extLst>
                    <a:ext uri="{9D8B030D-6E8A-4147-A177-3AD203B41FA5}">
                      <a16:colId xmlns:a16="http://schemas.microsoft.com/office/drawing/2014/main" val="397750981"/>
                    </a:ext>
                  </a:extLst>
                </a:gridCol>
                <a:gridCol w="1087604">
                  <a:extLst>
                    <a:ext uri="{9D8B030D-6E8A-4147-A177-3AD203B41FA5}">
                      <a16:colId xmlns:a16="http://schemas.microsoft.com/office/drawing/2014/main" val="545240167"/>
                    </a:ext>
                  </a:extLst>
                </a:gridCol>
                <a:gridCol w="1087604">
                  <a:extLst>
                    <a:ext uri="{9D8B030D-6E8A-4147-A177-3AD203B41FA5}">
                      <a16:colId xmlns:a16="http://schemas.microsoft.com/office/drawing/2014/main" val="2990026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37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602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664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10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1743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7575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767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885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9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18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434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73552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4E25F1FE-83C9-D1DA-89F8-DE3682FE045A}"/>
              </a:ext>
            </a:extLst>
          </p:cNvPr>
          <p:cNvSpPr/>
          <p:nvPr/>
        </p:nvSpPr>
        <p:spPr>
          <a:xfrm>
            <a:off x="7515499" y="1623854"/>
            <a:ext cx="148044" cy="47548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7213F0-1A02-8793-31AB-67316A613AD8}"/>
              </a:ext>
            </a:extLst>
          </p:cNvPr>
          <p:cNvSpPr/>
          <p:nvPr/>
        </p:nvSpPr>
        <p:spPr>
          <a:xfrm>
            <a:off x="8471265" y="1616710"/>
            <a:ext cx="148044" cy="47548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9056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B85049-029F-F1CF-203B-1EB214E6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9EFC9C-B1C4-F631-BA4E-A4C75E5B8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Split S into blocks</a:t>
            </a:r>
          </a:p>
          <a:p>
            <a:pPr lvl="1"/>
            <a:r>
              <a:rPr lang="en-US" altLang="zh-TW" dirty="0"/>
              <a:t>{(12, 8, 9, 1), (11, 6, 7, 2), (10, 4, 5, 3)}</a:t>
            </a:r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dirty="0"/>
              <a:t>Sort the blocks</a:t>
            </a:r>
          </a:p>
          <a:p>
            <a:pPr lvl="1"/>
            <a:r>
              <a:rPr lang="en-US" altLang="zh-TW" dirty="0"/>
              <a:t>{(1, 8, 9, 12),</a:t>
            </a:r>
            <a:r>
              <a:rPr lang="zh-TW" altLang="en-US" dirty="0"/>
              <a:t> </a:t>
            </a:r>
            <a:r>
              <a:rPr lang="en-US" altLang="zh-TW" dirty="0"/>
              <a:t>(2,</a:t>
            </a:r>
            <a:r>
              <a:rPr lang="zh-TW" altLang="en-US" dirty="0"/>
              <a:t> </a:t>
            </a:r>
            <a:r>
              <a:rPr lang="en-US" altLang="zh-TW" dirty="0"/>
              <a:t>6,</a:t>
            </a:r>
            <a:r>
              <a:rPr lang="zh-TW" altLang="en-US" dirty="0"/>
              <a:t> </a:t>
            </a:r>
            <a:r>
              <a:rPr lang="en-US" altLang="zh-TW" dirty="0"/>
              <a:t>7,</a:t>
            </a:r>
            <a:r>
              <a:rPr lang="zh-TW" altLang="en-US" dirty="0"/>
              <a:t> </a:t>
            </a:r>
            <a:r>
              <a:rPr lang="en-US" altLang="zh-TW" dirty="0"/>
              <a:t>11),</a:t>
            </a:r>
            <a:r>
              <a:rPr lang="zh-TW" altLang="en-US" dirty="0"/>
              <a:t> </a:t>
            </a:r>
            <a:r>
              <a:rPr lang="en-US" altLang="zh-TW" dirty="0"/>
              <a:t>(3,</a:t>
            </a:r>
            <a:r>
              <a:rPr lang="zh-TW" altLang="en-US" dirty="0"/>
              <a:t> </a:t>
            </a:r>
            <a:r>
              <a:rPr lang="en-US" altLang="zh-TW" dirty="0"/>
              <a:t>4,</a:t>
            </a:r>
            <a:r>
              <a:rPr lang="zh-TW" altLang="en-US" dirty="0"/>
              <a:t> </a:t>
            </a:r>
            <a:r>
              <a:rPr lang="en-US" altLang="zh-TW" dirty="0"/>
              <a:t>5,</a:t>
            </a:r>
            <a:r>
              <a:rPr lang="zh-TW" altLang="en-US" dirty="0"/>
              <a:t> </a:t>
            </a:r>
            <a:r>
              <a:rPr lang="en-US" altLang="zh-TW" dirty="0"/>
              <a:t>10)}</a:t>
            </a:r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dirty="0"/>
              <a:t>Process the blocks one by one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F8084F-91AA-A933-89D4-173291319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2051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FB58FE-E66C-E48B-655B-9FD2E763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Processing a block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60ACAB-ADE1-F44D-C50B-4C522F4D1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30725"/>
          </a:xfrm>
        </p:spPr>
        <p:txBody>
          <a:bodyPr>
            <a:normAutofit/>
          </a:bodyPr>
          <a:lstStyle/>
          <a:p>
            <a:r>
              <a:rPr lang="en-US" altLang="zh-TW" dirty="0"/>
              <a:t>Assign a key to elements</a:t>
            </a:r>
          </a:p>
          <a:p>
            <a:pPr lvl="1"/>
            <a:r>
              <a:rPr lang="en-US" altLang="zh-TW" dirty="0"/>
              <a:t>(12, 8, 9, 1) → (d, b, c, a)</a:t>
            </a:r>
          </a:p>
          <a:p>
            <a:r>
              <a:rPr lang="en-US" altLang="zh-TW" dirty="0"/>
              <a:t>Get B</a:t>
            </a:r>
          </a:p>
          <a:p>
            <a:pPr lvl="1"/>
            <a:r>
              <a:rPr lang="en-US" altLang="zh-TW" dirty="0"/>
              <a:t>(a, c) → (1, 9)</a:t>
            </a:r>
          </a:p>
          <a:p>
            <a:r>
              <a:rPr lang="en-US" altLang="zh-TW" dirty="0"/>
              <a:t>Merge B with next blocks</a:t>
            </a:r>
          </a:p>
          <a:p>
            <a:pPr lvl="1"/>
            <a:r>
              <a:rPr lang="en-US" altLang="zh-TW" dirty="0"/>
              <a:t>Reassign B</a:t>
            </a:r>
          </a:p>
          <a:p>
            <a:pPr lvl="2"/>
            <a:r>
              <a:rPr lang="en-US" altLang="zh-TW" dirty="0"/>
              <a:t>(1, 9) + (11, 6, 7, 2) → (1, 2, 6, 7, 9, 11) → (a, b, c, d, e, f)</a:t>
            </a:r>
          </a:p>
          <a:p>
            <a:pPr lvl="2"/>
            <a:r>
              <a:rPr lang="en-US" altLang="zh-TW" dirty="0"/>
              <a:t>(1, 9) → (a, e), (11, 6, 7, 2) → (f, c, d, b)</a:t>
            </a:r>
          </a:p>
          <a:p>
            <a:pPr lvl="1"/>
            <a:r>
              <a:rPr lang="en-US" altLang="zh-TW" dirty="0"/>
              <a:t>Update B</a:t>
            </a:r>
          </a:p>
          <a:p>
            <a:pPr lvl="2"/>
            <a:r>
              <a:rPr lang="en-US" altLang="zh-TW" dirty="0"/>
              <a:t>(a, b, d) → (1, 2, 7)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9174CD-C7E0-E15B-B96B-A15D1913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6155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048B8A-F0F6-96BD-D2F1-E03B3E6B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Processing a block (cont.)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A0CDE7-0658-3C97-BEAE-692C93D14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Merge B with next blocks</a:t>
            </a:r>
          </a:p>
          <a:p>
            <a:pPr lvl="1"/>
            <a:r>
              <a:rPr lang="en-US" altLang="zh-TW" dirty="0"/>
              <a:t>Reassign B</a:t>
            </a:r>
          </a:p>
          <a:p>
            <a:pPr lvl="2"/>
            <a:r>
              <a:rPr lang="en-US" altLang="zh-TW" dirty="0"/>
              <a:t>(1, 2, 7) → (a, b, f), (10, 4, 5, 3) → (g, d, e, c)</a:t>
            </a:r>
          </a:p>
          <a:p>
            <a:pPr lvl="1"/>
            <a:r>
              <a:rPr lang="en-US" altLang="zh-TW" dirty="0"/>
              <a:t>Update B</a:t>
            </a:r>
          </a:p>
          <a:p>
            <a:pPr lvl="2"/>
            <a:r>
              <a:rPr lang="en-US" altLang="zh-TW" dirty="0"/>
              <a:t>(a, b, c, e) →  </a:t>
            </a:r>
            <a:r>
              <a:rPr lang="en-US" altLang="zh-TW" dirty="0">
                <a:solidFill>
                  <a:srgbClr val="FF0000"/>
                </a:solidFill>
              </a:rPr>
              <a:t>(1, 2, 3, 5)</a:t>
            </a:r>
          </a:p>
          <a:p>
            <a:pPr lvl="2"/>
            <a:endParaRPr lang="en-US" altLang="zh-TW" dirty="0"/>
          </a:p>
          <a:p>
            <a:r>
              <a:rPr lang="en-US" altLang="zh-TW" dirty="0"/>
              <a:t>LIS Length: 4</a:t>
            </a:r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45C573-6419-D693-5730-8708B302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71706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3E4D3F-658E-93DE-3F11-B90375077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Size of the blocks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7488E49-222C-A797-C89A-52465DA3D4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>
                    <a:latin typeface="Cambria Math" panose="02040503050406030204" pitchFamily="18" charset="0"/>
                  </a:rPr>
                  <a:t>不斷執行上述演算法，</a:t>
                </a:r>
                <a:r>
                  <a:rPr lang="zh-TW" altLang="en-US" dirty="0"/>
                  <a:t>直到 </a:t>
                </a:r>
                <a:r>
                  <a:rPr lang="en-US" altLang="zh-TW" dirty="0"/>
                  <a:t>B 的 size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便終止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 4</m:t>
                    </m:r>
                  </m:oMath>
                </a14:m>
                <a:endParaRPr lang="en-US" altLang="zh-TW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𝑙𝑜𝑔</m:t>
                        </m:r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 dirty="0" err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p>
                    </m:sSubSup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7488E49-222C-A797-C89A-52465DA3D4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A6BA09-D4DA-1C75-970C-43AF0C9D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1130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2D7B1-6964-1712-B3D2-757BAD57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DFEF5CE-1F3B-D83A-2258-EA2D4EE00A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)</m:t>
                            </m:r>
                          </m:e>
                        </m:func>
                      </m:e>
                    </m:func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Permutation</a:t>
                </a:r>
              </a:p>
              <a:p>
                <a:pPr lvl="2"/>
                <a:r>
                  <a:rPr lang="en-US" altLang="zh-TW" dirty="0"/>
                  <a:t>Radix Sort</a:t>
                </a:r>
              </a:p>
              <a:p>
                <a:pPr lvl="2"/>
                <a:r>
                  <a:rPr lang="en-US" altLang="zh-TW" dirty="0"/>
                  <a:t>van </a:t>
                </a:r>
                <a:r>
                  <a:rPr lang="en-US" altLang="zh-TW" dirty="0" err="1"/>
                  <a:t>Emde</a:t>
                </a:r>
                <a:r>
                  <a:rPr lang="en-US" altLang="zh-TW" dirty="0"/>
                  <a:t> Boas trees</a:t>
                </a:r>
              </a:p>
              <a:p>
                <a:pPr lvl="1"/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DFEF5CE-1F3B-D83A-2258-EA2D4EE00A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B783E6-7F02-A87D-A858-6F8CC255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7317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E46E34-8330-2FA4-C66D-324B53F3A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Longest Common Subsequence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419E45-1C1B-D42A-8E24-F6C948142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 algn="ctr">
              <a:buNone/>
            </a:pPr>
            <a:r>
              <a:rPr lang="en-US" altLang="zh-TW" dirty="0"/>
              <a:t>p(x[1]) = p(a) = (5, 2, 1)</a:t>
            </a:r>
          </a:p>
          <a:p>
            <a:pPr marL="0" indent="0" algn="ctr">
              <a:buNone/>
            </a:pPr>
            <a:r>
              <a:rPr lang="en-US" altLang="zh-TW" dirty="0"/>
              <a:t>p(x[2]) = p(b) = (4, 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287C79-8977-5F07-18C8-70022D183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6832F44-322D-0C4D-3462-46AA0C95B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176820"/>
              </p:ext>
            </p:extLst>
          </p:nvPr>
        </p:nvGraphicFramePr>
        <p:xfrm>
          <a:off x="2031999" y="2651919"/>
          <a:ext cx="8128002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8310152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9345062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55867154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38156335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7905806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32550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8695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0219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313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230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F46478-6E32-3CF2-D00B-58955A4A5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Longest Common Subsequence (cont.)</a:t>
            </a:r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4400893-89F0-E980-9948-563BE572D9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739843"/>
              </p:ext>
            </p:extLst>
          </p:nvPr>
        </p:nvGraphicFramePr>
        <p:xfrm>
          <a:off x="838200" y="3563815"/>
          <a:ext cx="105156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98492059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87472984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4764375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986941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4088220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0208886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S(x, y)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p(x[1])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p(x[2])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p(x[3])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p(x[4])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p(x[5])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9950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5, 2, 1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4, 3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5, 2, 1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4, 3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5, 2, 1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9703222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28CF3E-5ED3-926D-F3FC-397599EA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4AA169-1882-3782-FD0C-75FD949594DD}"/>
              </a:ext>
            </a:extLst>
          </p:cNvPr>
          <p:cNvSpPr txBox="1"/>
          <p:nvPr/>
        </p:nvSpPr>
        <p:spPr>
          <a:xfrm>
            <a:off x="4169545" y="4580878"/>
            <a:ext cx="3852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LCS(x, y) = LIS(S(x, y))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BD05824-C34C-BBC2-31BD-078BEA02D7A9}"/>
              </a:ext>
            </a:extLst>
          </p:cNvPr>
          <p:cNvSpPr txBox="1"/>
          <p:nvPr/>
        </p:nvSpPr>
        <p:spPr>
          <a:xfrm>
            <a:off x="838201" y="2059747"/>
            <a:ext cx="2427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 b a b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a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862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D1D2BB-9E0A-CBAC-C3AF-4620FE98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Longest Common Subsequence (cont.)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A2FDBD-E135-B505-85AE-4FC5441D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AB16D813-74B3-3DE2-AACB-24B3350EF0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6170427"/>
              </p:ext>
            </p:extLst>
          </p:nvPr>
        </p:nvGraphicFramePr>
        <p:xfrm>
          <a:off x="439782" y="2516618"/>
          <a:ext cx="11312434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031">
                  <a:extLst>
                    <a:ext uri="{9D8B030D-6E8A-4147-A177-3AD203B41FA5}">
                      <a16:colId xmlns:a16="http://schemas.microsoft.com/office/drawing/2014/main" val="1021386333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603952726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1769322468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618594380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3897035506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3707256073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177584248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3598596549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841852278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2471204953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887070492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3039020350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855249913"/>
                    </a:ext>
                  </a:extLst>
                </a:gridCol>
                <a:gridCol w="808031">
                  <a:extLst>
                    <a:ext uri="{9D8B030D-6E8A-4147-A177-3AD203B41FA5}">
                      <a16:colId xmlns:a16="http://schemas.microsoft.com/office/drawing/2014/main" val="401093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S(x, y)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(5, 3)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(2, 3)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(4, 2)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(2, 2)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(3, 1)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(5, 1)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(1, 1)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569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966909"/>
                  </a:ext>
                </a:extLst>
              </a:tr>
            </a:tbl>
          </a:graphicData>
        </a:graphic>
      </p:graphicFrame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B852DF5-343B-5A21-2885-862273777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382232"/>
              </p:ext>
            </p:extLst>
          </p:nvPr>
        </p:nvGraphicFramePr>
        <p:xfrm>
          <a:off x="3395979" y="5120641"/>
          <a:ext cx="540004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10">
                  <a:extLst>
                    <a:ext uri="{9D8B030D-6E8A-4147-A177-3AD203B41FA5}">
                      <a16:colId xmlns:a16="http://schemas.microsoft.com/office/drawing/2014/main" val="1265708078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85322607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3371866955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698990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51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(1, 1)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(4, 3)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545537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E10445F8-520A-6C29-163F-9B818D4490A1}"/>
              </a:ext>
            </a:extLst>
          </p:cNvPr>
          <p:cNvSpPr txBox="1"/>
          <p:nvPr/>
        </p:nvSpPr>
        <p:spPr>
          <a:xfrm>
            <a:off x="4882242" y="4261913"/>
            <a:ext cx="2427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號: 上彎 9">
            <a:extLst>
              <a:ext uri="{FF2B5EF4-FFF2-40B4-BE49-F238E27FC236}">
                <a16:creationId xmlns:a16="http://schemas.microsoft.com/office/drawing/2014/main" id="{09D71057-F925-C317-52DC-2AD20887B021}"/>
              </a:ext>
            </a:extLst>
          </p:cNvPr>
          <p:cNvSpPr/>
          <p:nvPr/>
        </p:nvSpPr>
        <p:spPr>
          <a:xfrm rot="5400000">
            <a:off x="1083128" y="3277690"/>
            <a:ext cx="1987729" cy="2290353"/>
          </a:xfrm>
          <a:prstGeom prst="bentUpArrow">
            <a:avLst>
              <a:gd name="adj1" fmla="val 17428"/>
              <a:gd name="adj2" fmla="val 14042"/>
              <a:gd name="adj3" fmla="val 3018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9616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991</Words>
  <Application>Microsoft Office PowerPoint</Application>
  <PresentationFormat>寬螢幕</PresentationFormat>
  <Paragraphs>230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源流明體 M</vt:lpstr>
      <vt:lpstr>Arial</vt:lpstr>
      <vt:lpstr>Calibri</vt:lpstr>
      <vt:lpstr>Cambria Math</vt:lpstr>
      <vt:lpstr>Times New Roman</vt:lpstr>
      <vt:lpstr>Office 佈景主題</vt:lpstr>
      <vt:lpstr>Fast Computation of a Longest Increasing Subsequence and Application</vt:lpstr>
      <vt:lpstr>Abstract</vt:lpstr>
      <vt:lpstr>Longest Increasing Subsequence</vt:lpstr>
      <vt:lpstr>Sort</vt:lpstr>
      <vt:lpstr>Algorithm</vt:lpstr>
      <vt:lpstr>Processing a block</vt:lpstr>
      <vt:lpstr>Processing a block (cont.)</vt:lpstr>
      <vt:lpstr>Size of the blocks</vt:lpstr>
      <vt:lpstr>Time Complexity</vt:lpstr>
      <vt:lpstr>Longest Common Subsequence</vt:lpstr>
      <vt:lpstr>Longest Common Subsequence (cont.)</vt:lpstr>
      <vt:lpstr>Longest Common Subsequence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Ting B</dc:creator>
  <cp:lastModifiedBy>pplab</cp:lastModifiedBy>
  <cp:revision>227</cp:revision>
  <dcterms:created xsi:type="dcterms:W3CDTF">2022-02-13T12:00:20Z</dcterms:created>
  <dcterms:modified xsi:type="dcterms:W3CDTF">2022-10-04T11:31:07Z</dcterms:modified>
</cp:coreProperties>
</file>