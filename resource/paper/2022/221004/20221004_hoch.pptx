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1" r:id="rId3"/>
    <p:sldId id="350" r:id="rId4"/>
    <p:sldId id="352" r:id="rId5"/>
    <p:sldId id="355" r:id="rId6"/>
    <p:sldId id="358" r:id="rId7"/>
    <p:sldId id="357" r:id="rId8"/>
    <p:sldId id="359" r:id="rId9"/>
    <p:sldId id="363" r:id="rId10"/>
    <p:sldId id="361" r:id="rId11"/>
    <p:sldId id="360" r:id="rId12"/>
    <p:sldId id="36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2275" autoAdjust="0"/>
  </p:normalViewPr>
  <p:slideViewPr>
    <p:cSldViewPr snapToGrid="0">
      <p:cViewPr varScale="1">
        <p:scale>
          <a:sx n="67" d="100"/>
          <a:sy n="67" d="100"/>
        </p:scale>
        <p:origin x="5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E1DC-9B0B-4445-BE92-0FA02D7ED6E3}" type="datetimeFigureOut">
              <a:rPr lang="zh-TW" altLang="en-US" smtClean="0"/>
              <a:t>2022/10/4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92924" y="1101342"/>
            <a:ext cx="9806152" cy="1299561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Longest Previous Factor in linear time and applications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it-IT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Maxime Crochemore, Lucian Ilie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106 (2008) 75–80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8885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Oct. </a:t>
            </a: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4,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7520"/>
            <a:ext cx="10515600" cy="4745355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We give two optimal linear-time algorithms for computing the Longest Previous Factor (LPF) array corresponding to a string w. For any position </a:t>
            </a:r>
            <a:r>
              <a:rPr lang="en-US" altLang="zh-TW" sz="3200" dirty="0" err="1"/>
              <a:t>i</a:t>
            </a:r>
            <a:r>
              <a:rPr lang="en-US" altLang="zh-TW" sz="3200" dirty="0"/>
              <a:t> in w, LPF[</a:t>
            </a:r>
            <a:r>
              <a:rPr lang="en-US" altLang="zh-TW" sz="3200" dirty="0" err="1"/>
              <a:t>i</a:t>
            </a:r>
            <a:r>
              <a:rPr lang="en-US" altLang="zh-TW" sz="3200" dirty="0"/>
              <a:t>] gives the length of the longest factor of w starting at position </a:t>
            </a:r>
            <a:r>
              <a:rPr lang="en-US" altLang="zh-TW" sz="3200" dirty="0" err="1"/>
              <a:t>i</a:t>
            </a:r>
            <a:r>
              <a:rPr lang="en-US" altLang="zh-TW" sz="3200" dirty="0"/>
              <a:t> that occurs previously in w. Several properties and applications of LPF are investigated. They include computing the Lempel–Ziv factorization of a string and detecting all repetitions (runs) in a string in linear time independently of the integer alphabet size.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LPF (Longest Previous Factor)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US" altLang="zh-TW" dirty="0"/>
          </a:p>
          <a:p>
            <a:r>
              <a:rPr lang="en-US" altLang="zh-TW" dirty="0"/>
              <a:t>W = </a:t>
            </a:r>
            <a:r>
              <a:rPr lang="en-US" altLang="zh-TW" dirty="0" err="1"/>
              <a:t>abbaabbbaaaabab</a:t>
            </a:r>
            <a:endParaRPr lang="zh-TW" altLang="en-US" dirty="0"/>
          </a:p>
        </p:txBody>
      </p: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2F2F0770-0DFE-E4AC-4CF8-866AE9C59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181833"/>
              </p:ext>
            </p:extLst>
          </p:nvPr>
        </p:nvGraphicFramePr>
        <p:xfrm>
          <a:off x="327975" y="4604393"/>
          <a:ext cx="11536050" cy="157257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69070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2307505867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886355715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4061749657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3489246607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4120234317"/>
                    </a:ext>
                  </a:extLst>
                </a:gridCol>
              </a:tblGrid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w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LPF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83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Longest Previous Factor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Algorithm-1: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用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Suffix Array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Algorithm-2:</a:t>
            </a:r>
            <a:r>
              <a:rPr lang="zh-TW" altLang="en-US" spc="-1" dirty="0">
                <a:solidFill>
                  <a:srgbClr val="FF0000"/>
                </a:solidFill>
                <a:latin typeface="Times New Roman"/>
              </a:rPr>
              <a:t> </a:t>
            </a:r>
            <a:r>
              <a:rPr lang="zh-TW" altLang="en-US" spc="-1" dirty="0">
                <a:latin typeface="Times New Roman"/>
              </a:rPr>
              <a:t>用 </a:t>
            </a:r>
            <a:r>
              <a:rPr lang="en-US" altLang="zh-TW" spc="-1" dirty="0">
                <a:latin typeface="Times New Roman"/>
              </a:rPr>
              <a:t>LCP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latin typeface="Times New Roman"/>
            </a:endParaRPr>
          </a:p>
          <a:p>
            <a:pPr marL="360" indent="0">
              <a:spcBef>
                <a:spcPts val="561"/>
              </a:spcBef>
              <a:buClr>
                <a:srgbClr val="000000"/>
              </a:buClr>
              <a:buNone/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4616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A5A1F1-9D22-29BE-3FAF-0BE23A1F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Array (1/3)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403746-298B-6D00-7B7B-8A9A54F8B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W = </a:t>
            </a:r>
            <a:r>
              <a:rPr lang="en-US" altLang="zh-TW" dirty="0" err="1"/>
              <a:t>abbaabbbaaabab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SA[0] = </a:t>
            </a:r>
            <a:r>
              <a:rPr lang="en-US" altLang="zh-TW" dirty="0" err="1"/>
              <a:t>abbaabbbaaabab</a:t>
            </a:r>
            <a:r>
              <a:rPr lang="en-US" altLang="zh-TW" dirty="0"/>
              <a:t>               SA[7] = </a:t>
            </a:r>
            <a:r>
              <a:rPr lang="en-US" altLang="zh-TW" dirty="0" err="1"/>
              <a:t>baaabab</a:t>
            </a:r>
            <a:endParaRPr lang="en-US" altLang="zh-TW" dirty="0"/>
          </a:p>
          <a:p>
            <a:r>
              <a:rPr lang="en-US" altLang="zh-TW" dirty="0"/>
              <a:t>SA[1] = </a:t>
            </a:r>
            <a:r>
              <a:rPr lang="en-US" altLang="zh-TW" dirty="0" err="1"/>
              <a:t>bbaabbbaaabab</a:t>
            </a:r>
            <a:r>
              <a:rPr lang="en-US" altLang="zh-TW" dirty="0"/>
              <a:t>                 SA[8] = </a:t>
            </a:r>
            <a:r>
              <a:rPr lang="en-US" altLang="zh-TW" dirty="0" err="1"/>
              <a:t>aaabab</a:t>
            </a:r>
            <a:endParaRPr lang="en-US" altLang="zh-TW" dirty="0"/>
          </a:p>
          <a:p>
            <a:r>
              <a:rPr lang="en-US" altLang="zh-TW" dirty="0"/>
              <a:t>SA[2] = </a:t>
            </a:r>
            <a:r>
              <a:rPr lang="en-US" altLang="zh-TW" dirty="0" err="1"/>
              <a:t>baabbbaaabab</a:t>
            </a:r>
            <a:r>
              <a:rPr lang="en-US" altLang="zh-TW" dirty="0"/>
              <a:t>                   SA[9] = </a:t>
            </a:r>
            <a:r>
              <a:rPr lang="en-US" altLang="zh-TW" dirty="0" err="1"/>
              <a:t>aabab</a:t>
            </a:r>
            <a:endParaRPr lang="en-US" altLang="zh-TW" dirty="0"/>
          </a:p>
          <a:p>
            <a:r>
              <a:rPr lang="en-US" altLang="zh-TW" dirty="0"/>
              <a:t>SA[3] = </a:t>
            </a:r>
            <a:r>
              <a:rPr lang="en-US" altLang="zh-TW" dirty="0" err="1"/>
              <a:t>aabbbaaabab</a:t>
            </a:r>
            <a:r>
              <a:rPr lang="en-US" altLang="zh-TW" dirty="0"/>
              <a:t>                     SA[10] = baba</a:t>
            </a:r>
          </a:p>
          <a:p>
            <a:r>
              <a:rPr lang="en-US" altLang="zh-TW" dirty="0"/>
              <a:t>SA[4] = </a:t>
            </a:r>
            <a:r>
              <a:rPr lang="en-US" altLang="zh-TW" dirty="0" err="1"/>
              <a:t>abbbaaabab</a:t>
            </a:r>
            <a:r>
              <a:rPr lang="en-US" altLang="zh-TW" dirty="0"/>
              <a:t>                       SA[11] = </a:t>
            </a:r>
            <a:r>
              <a:rPr lang="en-US" altLang="zh-TW" dirty="0" err="1"/>
              <a:t>bab</a:t>
            </a:r>
            <a:endParaRPr lang="en-US" altLang="zh-TW" dirty="0"/>
          </a:p>
          <a:p>
            <a:r>
              <a:rPr lang="en-US" altLang="zh-TW" dirty="0"/>
              <a:t>SA[5] = </a:t>
            </a:r>
            <a:r>
              <a:rPr lang="en-US" altLang="zh-TW" dirty="0" err="1"/>
              <a:t>bbbaaabab</a:t>
            </a:r>
            <a:r>
              <a:rPr lang="en-US" altLang="zh-TW" dirty="0"/>
              <a:t>                         SA[12] = ab</a:t>
            </a:r>
          </a:p>
          <a:p>
            <a:r>
              <a:rPr lang="en-US" altLang="zh-TW" dirty="0"/>
              <a:t>SA[6] = </a:t>
            </a:r>
            <a:r>
              <a:rPr lang="en-US" altLang="zh-TW" dirty="0" err="1"/>
              <a:t>bbaaabab</a:t>
            </a:r>
            <a:r>
              <a:rPr lang="en-US" altLang="zh-TW" dirty="0"/>
              <a:t>                           SA[13] = b</a:t>
            </a:r>
            <a:endParaRPr lang="zh-TW" altLang="en-US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5266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A5A1F1-9D22-29BE-3FAF-0BE23A1F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Array (2/3)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403746-298B-6D00-7B7B-8A9A54F8B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altLang="zh-TW" dirty="0"/>
              <a:t>W = </a:t>
            </a:r>
            <a:r>
              <a:rPr lang="en-US" altLang="zh-TW" dirty="0" err="1"/>
              <a:t>abbaabbbaaabab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根據</a:t>
            </a:r>
            <a:r>
              <a:rPr lang="zh-TW" alt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字典序</a:t>
            </a:r>
            <a:r>
              <a:rPr lang="zh-TW" altLang="en-US" dirty="0"/>
              <a:t>排序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0369C28E-28A7-DBBD-AC90-7689C31C6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023" y="1027906"/>
            <a:ext cx="5962752" cy="53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00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AD184F-6DD2-69C8-73A2-8F388AC6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Suffix Array (3/3)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9312D6-979F-D2CE-DDA1-7105C2931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000D871C-F5C0-31C6-1932-EE257F5DB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439" y="1568075"/>
            <a:ext cx="8956836" cy="503192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EDD17C5-8F5F-B27D-1F2E-A68159B8110D}"/>
              </a:ext>
            </a:extLst>
          </p:cNvPr>
          <p:cNvSpPr/>
          <p:nvPr/>
        </p:nvSpPr>
        <p:spPr>
          <a:xfrm>
            <a:off x="7953375" y="1333500"/>
            <a:ext cx="3933825" cy="53816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617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BC658D-1BB6-3D44-271E-2581AA794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LPF property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F9799-D315-0D77-F212-7473FA650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LPF[</a:t>
            </a:r>
            <a:r>
              <a:rPr lang="en-US" altLang="zh-TW" dirty="0" err="1"/>
              <a:t>i</a:t>
            </a:r>
            <a:r>
              <a:rPr lang="en-US" altLang="zh-TW" dirty="0"/>
              <a:t>] </a:t>
            </a:r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≧ </a:t>
            </a:r>
            <a:r>
              <a:rPr lang="en-US" altLang="zh-TW" dirty="0"/>
              <a:t>LPF[i-1] -1 </a:t>
            </a:r>
            <a:endParaRPr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42E631AC-5C6F-2F92-1442-485522E57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439764"/>
              </p:ext>
            </p:extLst>
          </p:nvPr>
        </p:nvGraphicFramePr>
        <p:xfrm>
          <a:off x="327975" y="4604393"/>
          <a:ext cx="11536050" cy="157257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69070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2307505867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886355715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4061749657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3489246607"/>
                    </a:ext>
                  </a:extLst>
                </a:gridCol>
                <a:gridCol w="769070">
                  <a:extLst>
                    <a:ext uri="{9D8B030D-6E8A-4147-A177-3AD203B41FA5}">
                      <a16:colId xmlns:a16="http://schemas.microsoft.com/office/drawing/2014/main" val="4120234317"/>
                    </a:ext>
                  </a:extLst>
                </a:gridCol>
              </a:tblGrid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w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5241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LPF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885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表格 4">
            <a:extLst>
              <a:ext uri="{FF2B5EF4-FFF2-40B4-BE49-F238E27FC236}">
                <a16:creationId xmlns:a16="http://schemas.microsoft.com/office/drawing/2014/main" id="{CE33C2A9-1C05-5C3C-BBD3-5A277B719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577561"/>
              </p:ext>
            </p:extLst>
          </p:nvPr>
        </p:nvGraphicFramePr>
        <p:xfrm>
          <a:off x="1146000" y="4440014"/>
          <a:ext cx="9900000" cy="2286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28000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30750586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8635571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06174965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8924660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12023431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W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LPF</a:t>
                      </a:r>
                      <a:r>
                        <a:rPr lang="en-US" altLang="zh-TW" sz="2400" b="0" baseline="-25000" dirty="0"/>
                        <a:t>&lt;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40657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LPF</a:t>
                      </a:r>
                      <a:r>
                        <a:rPr lang="en-US" altLang="zh-TW" sz="2400" b="0" baseline="-25000" dirty="0"/>
                        <a:t>&gt;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LPF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0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701567"/>
                  </a:ext>
                </a:extLst>
              </a:tr>
            </a:tbl>
          </a:graphicData>
        </a:graphic>
      </p:graphicFrame>
      <p:pic>
        <p:nvPicPr>
          <p:cNvPr id="4" name="圖片 3" descr="一張含有 桌 的圖片&#10;&#10;自動產生的描述">
            <a:extLst>
              <a:ext uri="{FF2B5EF4-FFF2-40B4-BE49-F238E27FC236}">
                <a16:creationId xmlns:a16="http://schemas.microsoft.com/office/drawing/2014/main" id="{8342DE1C-0AB4-1E62-411D-BB664D5BD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044" y="0"/>
            <a:ext cx="7332506" cy="4440014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8E3FCC58-4F29-276A-87F1-D047A2ED0FD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pc="-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Algorithm-1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068ED53A-BFBD-B892-EDD1-18ABE8184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TW" dirty="0"/>
              <a:t>LPF[</a:t>
            </a:r>
            <a:r>
              <a:rPr lang="en-US" altLang="zh-TW" dirty="0" err="1"/>
              <a:t>i</a:t>
            </a:r>
            <a:r>
              <a:rPr lang="en-US" altLang="zh-TW" dirty="0"/>
              <a:t>] </a:t>
            </a:r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≧ </a:t>
            </a:r>
            <a:r>
              <a:rPr lang="en-US" altLang="zh-TW" dirty="0"/>
              <a:t>LPF[i-1] -1 </a:t>
            </a:r>
          </a:p>
          <a:p>
            <a:endParaRPr lang="en-US" altLang="zh-TW" dirty="0"/>
          </a:p>
          <a:p>
            <a:r>
              <a:rPr lang="en-US" altLang="zh-TW" dirty="0"/>
              <a:t>LPF</a:t>
            </a:r>
            <a:r>
              <a:rPr lang="en-US" altLang="zh-TW" baseline="-25000" dirty="0"/>
              <a:t>&lt;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 </a:t>
            </a:r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≧ </a:t>
            </a:r>
            <a:r>
              <a:rPr lang="en-US" altLang="zh-TW" dirty="0"/>
              <a:t>LPF</a:t>
            </a:r>
            <a:r>
              <a:rPr lang="en-US" altLang="zh-TW" baseline="-25000" dirty="0"/>
              <a:t>&lt;</a:t>
            </a:r>
            <a:r>
              <a:rPr lang="en-US" altLang="zh-TW" dirty="0"/>
              <a:t>[i-1] -1 </a:t>
            </a:r>
          </a:p>
          <a:p>
            <a:r>
              <a:rPr lang="en-US" altLang="zh-TW" dirty="0"/>
              <a:t>LPF</a:t>
            </a:r>
            <a:r>
              <a:rPr lang="en-US" altLang="zh-TW" baseline="-25000" dirty="0"/>
              <a:t>&gt;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 </a:t>
            </a:r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≧ </a:t>
            </a:r>
            <a:r>
              <a:rPr lang="en-US" altLang="zh-TW" dirty="0"/>
              <a:t>LPF</a:t>
            </a:r>
            <a:r>
              <a:rPr lang="en-US" altLang="zh-TW" baseline="-25000" dirty="0"/>
              <a:t>&gt;</a:t>
            </a:r>
            <a:r>
              <a:rPr lang="en-US" altLang="zh-TW" dirty="0"/>
              <a:t>[i-1] -1 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30302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3F5634-763C-B2BF-2F40-849BFADC6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75"/>
            <a:ext cx="10515600" cy="1325563"/>
          </a:xfrm>
        </p:spPr>
        <p:txBody>
          <a:bodyPr/>
          <a:lstStyle/>
          <a:p>
            <a:r>
              <a:rPr lang="en-US" altLang="zh-TW" dirty="0"/>
              <a:t>LCP (Longest Common Preﬁx)</a:t>
            </a:r>
            <a:endParaRPr lang="zh-TW" altLang="en-US" dirty="0"/>
          </a:p>
        </p:txBody>
      </p:sp>
      <p:pic>
        <p:nvPicPr>
          <p:cNvPr id="4" name="圖片 3" descr="一張含有 桌 的圖片&#10;&#10;自動產生的描述">
            <a:extLst>
              <a:ext uri="{FF2B5EF4-FFF2-40B4-BE49-F238E27FC236}">
                <a16:creationId xmlns:a16="http://schemas.microsoft.com/office/drawing/2014/main" id="{4107EB4C-D431-0539-60CC-30121711B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624" y="1361281"/>
            <a:ext cx="5962752" cy="53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Algorithm-2</a:t>
            </a:r>
          </a:p>
        </p:txBody>
      </p:sp>
      <p:pic>
        <p:nvPicPr>
          <p:cNvPr id="4" name="圖片 3" descr="一張含有 刻度, 裝置 的圖片&#10;&#10;自動產生的描述">
            <a:extLst>
              <a:ext uri="{FF2B5EF4-FFF2-40B4-BE49-F238E27FC236}">
                <a16:creationId xmlns:a16="http://schemas.microsoft.com/office/drawing/2014/main" id="{F727BC59-58A9-4F5D-4FE0-B010C015B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5" y="338993"/>
            <a:ext cx="6141420" cy="6370513"/>
          </a:xfrm>
          <a:prstGeom prst="rect">
            <a:avLst/>
          </a:prstGeom>
        </p:spPr>
      </p:pic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DEDBB85D-A969-0860-60B4-87311B2E0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4" y="1589501"/>
            <a:ext cx="4552951" cy="506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5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Longest Previous Factor</a:t>
            </a:r>
            <a:endParaRPr lang="en-US" altLang="zh-TW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Algorithm-1: </a:t>
            </a:r>
            <a:r>
              <a:rPr lang="zh-TW" altLang="en-US" spc="-1" dirty="0">
                <a:solidFill>
                  <a:srgbClr val="000000"/>
                </a:solidFill>
                <a:latin typeface="Times New Roman"/>
              </a:rPr>
              <a:t>用 </a:t>
            </a:r>
            <a:r>
              <a:rPr lang="en-US" altLang="zh-TW" spc="-1" dirty="0">
                <a:solidFill>
                  <a:srgbClr val="000000"/>
                </a:solidFill>
                <a:latin typeface="Times New Roman"/>
              </a:rPr>
              <a:t>Suffix Array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FF0000"/>
                </a:solidFill>
                <a:latin typeface="Times New Roman"/>
              </a:rPr>
              <a:t>Algorithm-2:</a:t>
            </a:r>
            <a:r>
              <a:rPr lang="zh-TW" altLang="en-US" spc="-1" dirty="0">
                <a:solidFill>
                  <a:srgbClr val="FF0000"/>
                </a:solidFill>
                <a:latin typeface="Times New Roman"/>
              </a:rPr>
              <a:t> </a:t>
            </a:r>
            <a:r>
              <a:rPr lang="zh-TW" altLang="en-US" spc="-1" dirty="0">
                <a:latin typeface="Times New Roman"/>
              </a:rPr>
              <a:t>用 </a:t>
            </a:r>
            <a:r>
              <a:rPr lang="en-US" altLang="zh-TW" spc="-1" dirty="0">
                <a:latin typeface="Times New Roman"/>
              </a:rPr>
              <a:t>LCP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latin typeface="Times New Roman"/>
            </a:endParaRP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r>
              <a:rPr lang="en-US" altLang="zh-TW" spc="-1" dirty="0">
                <a:solidFill>
                  <a:srgbClr val="0070C0"/>
                </a:solidFill>
                <a:latin typeface="Times New Roman"/>
              </a:rPr>
              <a:t>Linear time</a:t>
            </a:r>
          </a:p>
          <a:p>
            <a:pPr marL="457560" indent="-457200">
              <a:spcBef>
                <a:spcPts val="561"/>
              </a:spcBef>
              <a:buClr>
                <a:srgbClr val="000000"/>
              </a:buClr>
            </a:pPr>
            <a:endParaRPr lang="en-US" altLang="zh-TW" spc="-1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0017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9717</TotalTime>
  <Words>493</Words>
  <Application>Microsoft Office PowerPoint</Application>
  <PresentationFormat>寬螢幕</PresentationFormat>
  <Paragraphs>213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arial</vt:lpstr>
      <vt:lpstr>Times New Roman</vt:lpstr>
      <vt:lpstr>Office 佈景主題</vt:lpstr>
      <vt:lpstr>Computing Longest Previous Factor in linear time and applications</vt:lpstr>
      <vt:lpstr>Abstract </vt:lpstr>
      <vt:lpstr>LPF (Longest Previous Factor)</vt:lpstr>
      <vt:lpstr>Computing Longest Previous Factor</vt:lpstr>
      <vt:lpstr>Suffix Array (1/3)</vt:lpstr>
      <vt:lpstr>Suffix Array (2/3)</vt:lpstr>
      <vt:lpstr>Suffix Array (3/3)</vt:lpstr>
      <vt:lpstr>LPF property</vt:lpstr>
      <vt:lpstr>PowerPoint 簡報</vt:lpstr>
      <vt:lpstr>LCP (Longest Common Preﬁx)</vt:lpstr>
      <vt:lpstr>Algorithm-2</vt:lpstr>
      <vt:lpstr>Computing Longest Previous Factor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M103040056</cp:lastModifiedBy>
  <cp:revision>383</cp:revision>
  <dcterms:created xsi:type="dcterms:W3CDTF">2021-01-03T09:53:04Z</dcterms:created>
  <dcterms:modified xsi:type="dcterms:W3CDTF">2022-10-04T10:14:44Z</dcterms:modified>
</cp:coreProperties>
</file>