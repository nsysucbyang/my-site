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61" r:id="rId4"/>
    <p:sldId id="258" r:id="rId5"/>
    <p:sldId id="259" r:id="rId6"/>
    <p:sldId id="262" r:id="rId7"/>
    <p:sldId id="260" r:id="rId8"/>
    <p:sldId id="268" r:id="rId9"/>
    <p:sldId id="263" r:id="rId10"/>
    <p:sldId id="264" r:id="rId11"/>
    <p:sldId id="265" r:id="rId12"/>
    <p:sldId id="266" r:id="rId13"/>
    <p:sldId id="267"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0" d="100"/>
          <a:sy n="80" d="100"/>
        </p:scale>
        <p:origin x="1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66985-46BF-42FB-AD40-49C16806D024}" type="datetimeFigureOut">
              <a:rPr lang="zh-TW" altLang="en-US" smtClean="0"/>
              <a:t>2022/10/4</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24E4FC-E66B-47B1-A31B-893BB74DD974}" type="slidenum">
              <a:rPr lang="zh-TW" altLang="en-US" smtClean="0"/>
              <a:t>‹#›</a:t>
            </a:fld>
            <a:endParaRPr lang="zh-TW" altLang="en-US"/>
          </a:p>
        </p:txBody>
      </p:sp>
    </p:spTree>
    <p:extLst>
      <p:ext uri="{BB962C8B-B14F-4D97-AF65-F5344CB8AC3E}">
        <p14:creationId xmlns:p14="http://schemas.microsoft.com/office/powerpoint/2010/main" val="3002248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1BE46001-2D2A-435A-B063-E53FE0C0D33F}" type="datetime1">
              <a:rPr lang="zh-TW" altLang="en-US" smtClean="0"/>
              <a:t>2022/10/4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83A2B26-6EC0-4D87-9C67-EBCC853E3F19}" type="slidenum">
              <a:rPr lang="zh-TW" altLang="en-US" smtClean="0"/>
              <a:t>‹#›</a:t>
            </a:fld>
            <a:endParaRPr lang="zh-TW" altLang="en-US"/>
          </a:p>
        </p:txBody>
      </p:sp>
    </p:spTree>
    <p:extLst>
      <p:ext uri="{BB962C8B-B14F-4D97-AF65-F5344CB8AC3E}">
        <p14:creationId xmlns:p14="http://schemas.microsoft.com/office/powerpoint/2010/main" val="2043413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5D20A02-4E20-45AB-9E1E-B1547418B257}" type="datetime1">
              <a:rPr lang="zh-TW" altLang="en-US" smtClean="0"/>
              <a:t>2022/10/4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83A2B26-6EC0-4D87-9C67-EBCC853E3F19}" type="slidenum">
              <a:rPr lang="zh-TW" altLang="en-US" smtClean="0"/>
              <a:t>‹#›</a:t>
            </a:fld>
            <a:endParaRPr lang="zh-TW" altLang="en-US"/>
          </a:p>
        </p:txBody>
      </p:sp>
    </p:spTree>
    <p:extLst>
      <p:ext uri="{BB962C8B-B14F-4D97-AF65-F5344CB8AC3E}">
        <p14:creationId xmlns:p14="http://schemas.microsoft.com/office/powerpoint/2010/main" val="3787156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編輯母片文字樣式</a:t>
            </a:r>
          </a:p>
        </p:txBody>
      </p:sp>
      <p:sp>
        <p:nvSpPr>
          <p:cNvPr id="4" name="日期版面配置區 3"/>
          <p:cNvSpPr>
            <a:spLocks noGrp="1"/>
          </p:cNvSpPr>
          <p:nvPr>
            <p:ph type="dt" sz="half" idx="10"/>
          </p:nvPr>
        </p:nvSpPr>
        <p:spPr/>
        <p:txBody>
          <a:bodyPr/>
          <a:lstStyle/>
          <a:p>
            <a:fld id="{14E721E3-7E6A-4485-A055-E6629B64002D}" type="datetime1">
              <a:rPr lang="zh-TW" altLang="en-US" smtClean="0"/>
              <a:t>2022/10/4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83A2B26-6EC0-4D87-9C67-EBCC853E3F19}" type="slidenum">
              <a:rPr lang="zh-TW" altLang="en-US" smtClean="0"/>
              <a:t>‹#›</a:t>
            </a:fld>
            <a:endParaRPr lang="zh-TW" altLang="en-US"/>
          </a:p>
        </p:txBody>
      </p:sp>
    </p:spTree>
    <p:extLst>
      <p:ext uri="{BB962C8B-B14F-4D97-AF65-F5344CB8AC3E}">
        <p14:creationId xmlns:p14="http://schemas.microsoft.com/office/powerpoint/2010/main" val="470684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2DFA5E72-8EE2-48A1-B47F-5A39E2E6C009}" type="datetime1">
              <a:rPr lang="zh-TW" altLang="en-US" smtClean="0"/>
              <a:t>2022/10/4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83A2B26-6EC0-4D87-9C67-EBCC853E3F19}" type="slidenum">
              <a:rPr lang="zh-TW" altLang="en-US" smtClean="0"/>
              <a:t>‹#›</a:t>
            </a:fld>
            <a:endParaRPr lang="zh-TW" altLang="en-US"/>
          </a:p>
        </p:txBody>
      </p:sp>
    </p:spTree>
    <p:extLst>
      <p:ext uri="{BB962C8B-B14F-4D97-AF65-F5344CB8AC3E}">
        <p14:creationId xmlns:p14="http://schemas.microsoft.com/office/powerpoint/2010/main" val="770752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3FCBB3F-3F06-472C-AC8B-59EC7E450618}" type="datetime1">
              <a:rPr lang="zh-TW" altLang="en-US" smtClean="0"/>
              <a:t>2022/10/4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083A2B26-6EC0-4D87-9C67-EBCC853E3F19}" type="slidenum">
              <a:rPr lang="zh-TW" altLang="en-US" smtClean="0"/>
              <a:t>‹#›</a:t>
            </a:fld>
            <a:endParaRPr lang="zh-TW" altLang="en-US"/>
          </a:p>
        </p:txBody>
      </p:sp>
    </p:spTree>
    <p:extLst>
      <p:ext uri="{BB962C8B-B14F-4D97-AF65-F5344CB8AC3E}">
        <p14:creationId xmlns:p14="http://schemas.microsoft.com/office/powerpoint/2010/main" val="855687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5BA2A02-58B1-49B7-B2B6-E89EB681EA55}" type="datetime1">
              <a:rPr lang="zh-TW" altLang="en-US" smtClean="0"/>
              <a:t>2022/10/4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083A2B26-6EC0-4D87-9C67-EBCC853E3F19}" type="slidenum">
              <a:rPr lang="zh-TW" altLang="en-US" smtClean="0"/>
              <a:t>‹#›</a:t>
            </a:fld>
            <a:endParaRPr lang="zh-TW" altLang="en-US"/>
          </a:p>
        </p:txBody>
      </p:sp>
    </p:spTree>
    <p:extLst>
      <p:ext uri="{BB962C8B-B14F-4D97-AF65-F5344CB8AC3E}">
        <p14:creationId xmlns:p14="http://schemas.microsoft.com/office/powerpoint/2010/main" val="3457916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37A58DD3-04E1-452F-B67C-E2A8E8D92E7B}" type="datetime1">
              <a:rPr lang="zh-TW" altLang="en-US" smtClean="0"/>
              <a:t>2022/10/4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083A2B26-6EC0-4D87-9C67-EBCC853E3F19}" type="slidenum">
              <a:rPr lang="zh-TW" altLang="en-US" smtClean="0"/>
              <a:t>‹#›</a:t>
            </a:fld>
            <a:endParaRPr lang="zh-TW" altLang="en-US"/>
          </a:p>
        </p:txBody>
      </p:sp>
    </p:spTree>
    <p:extLst>
      <p:ext uri="{BB962C8B-B14F-4D97-AF65-F5344CB8AC3E}">
        <p14:creationId xmlns:p14="http://schemas.microsoft.com/office/powerpoint/2010/main" val="682337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編輯母片文字樣式</a:t>
            </a:r>
          </a:p>
        </p:txBody>
      </p:sp>
      <p:sp>
        <p:nvSpPr>
          <p:cNvPr id="5" name="日期版面配置區 4"/>
          <p:cNvSpPr>
            <a:spLocks noGrp="1"/>
          </p:cNvSpPr>
          <p:nvPr>
            <p:ph type="dt" sz="half" idx="10"/>
          </p:nvPr>
        </p:nvSpPr>
        <p:spPr/>
        <p:txBody>
          <a:bodyPr/>
          <a:lstStyle/>
          <a:p>
            <a:fld id="{4BEF71EA-A327-4042-9B89-9202A558B9B8}" type="datetime1">
              <a:rPr lang="zh-TW" altLang="en-US" smtClean="0"/>
              <a:t>2022/10/4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83A2B26-6EC0-4D87-9C67-EBCC853E3F19}" type="slidenum">
              <a:rPr lang="zh-TW" altLang="en-US" smtClean="0"/>
              <a:t>‹#›</a:t>
            </a:fld>
            <a:endParaRPr lang="zh-TW" altLang="en-US"/>
          </a:p>
        </p:txBody>
      </p:sp>
    </p:spTree>
    <p:extLst>
      <p:ext uri="{BB962C8B-B14F-4D97-AF65-F5344CB8AC3E}">
        <p14:creationId xmlns:p14="http://schemas.microsoft.com/office/powerpoint/2010/main" val="3258351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編輯母片文字樣式</a:t>
            </a:r>
          </a:p>
        </p:txBody>
      </p:sp>
      <p:sp>
        <p:nvSpPr>
          <p:cNvPr id="5" name="日期版面配置區 4"/>
          <p:cNvSpPr>
            <a:spLocks noGrp="1"/>
          </p:cNvSpPr>
          <p:nvPr>
            <p:ph type="dt" sz="half" idx="10"/>
          </p:nvPr>
        </p:nvSpPr>
        <p:spPr/>
        <p:txBody>
          <a:bodyPr/>
          <a:lstStyle/>
          <a:p>
            <a:fld id="{012BB72A-94DF-481F-A4E6-15F37812D3DD}" type="datetime1">
              <a:rPr lang="zh-TW" altLang="en-US" smtClean="0"/>
              <a:t>2022/10/4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83A2B26-6EC0-4D87-9C67-EBCC853E3F19}" type="slidenum">
              <a:rPr lang="zh-TW" altLang="en-US" smtClean="0"/>
              <a:t>‹#›</a:t>
            </a:fld>
            <a:endParaRPr lang="zh-TW" altLang="en-US"/>
          </a:p>
        </p:txBody>
      </p:sp>
    </p:spTree>
    <p:extLst>
      <p:ext uri="{BB962C8B-B14F-4D97-AF65-F5344CB8AC3E}">
        <p14:creationId xmlns:p14="http://schemas.microsoft.com/office/powerpoint/2010/main" val="3655892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6A128FB-B3AB-49EE-9CEA-4B588CC4FB03}" type="datetime1">
              <a:rPr lang="zh-TW" altLang="en-US" smtClean="0"/>
              <a:t>2022/10/4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83A2B26-6EC0-4D87-9C67-EBCC853E3F19}" type="slidenum">
              <a:rPr lang="zh-TW" altLang="en-US" smtClean="0"/>
              <a:t>‹#›</a:t>
            </a:fld>
            <a:endParaRPr lang="zh-TW" altLang="en-US"/>
          </a:p>
        </p:txBody>
      </p:sp>
    </p:spTree>
    <p:extLst>
      <p:ext uri="{BB962C8B-B14F-4D97-AF65-F5344CB8AC3E}">
        <p14:creationId xmlns:p14="http://schemas.microsoft.com/office/powerpoint/2010/main" val="1820001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673EA7C-8695-4BC6-8ED0-C6A59749323A}" type="datetime1">
              <a:rPr lang="zh-TW" altLang="en-US" smtClean="0"/>
              <a:t>2022/10/4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83A2B26-6EC0-4D87-9C67-EBCC853E3F19}" type="slidenum">
              <a:rPr lang="zh-TW" altLang="en-US" smtClean="0"/>
              <a:t>‹#›</a:t>
            </a:fld>
            <a:endParaRPr lang="zh-TW" altLang="en-US"/>
          </a:p>
        </p:txBody>
      </p:sp>
    </p:spTree>
    <p:extLst>
      <p:ext uri="{BB962C8B-B14F-4D97-AF65-F5344CB8AC3E}">
        <p14:creationId xmlns:p14="http://schemas.microsoft.com/office/powerpoint/2010/main" val="2896405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49A88E-7114-4D10-963D-EB86E191FCEB}" type="datetime1">
              <a:rPr lang="zh-TW" altLang="en-US" smtClean="0"/>
              <a:t>2022/10/4</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3A2B26-6EC0-4D87-9C67-EBCC853E3F19}" type="slidenum">
              <a:rPr lang="zh-TW" altLang="en-US" smtClean="0"/>
              <a:t>‹#›</a:t>
            </a:fld>
            <a:endParaRPr lang="zh-TW" altLang="en-US"/>
          </a:p>
        </p:txBody>
      </p:sp>
    </p:spTree>
    <p:extLst>
      <p:ext uri="{BB962C8B-B14F-4D97-AF65-F5344CB8AC3E}">
        <p14:creationId xmlns:p14="http://schemas.microsoft.com/office/powerpoint/2010/main" val="14118311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smtClean="0">
                <a:latin typeface="Times New Roman" panose="02020603050405020304" pitchFamily="18" charset="0"/>
                <a:cs typeface="Times New Roman" panose="02020603050405020304" pitchFamily="18" charset="0"/>
              </a:rPr>
              <a:t>A Novel String Matching Algorithm and Comparison with KMP Algorithm</a:t>
            </a:r>
            <a:endParaRPr lang="zh-TW" altLang="en-US"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524000" y="3832626"/>
            <a:ext cx="9144000" cy="898400"/>
          </a:xfrm>
        </p:spPr>
        <p:txBody>
          <a:bodyPr/>
          <a:lstStyle/>
          <a:p>
            <a:r>
              <a:rPr lang="en-US" altLang="zh-TW" dirty="0" smtClean="0">
                <a:latin typeface="Times New Roman" panose="02020603050405020304" pitchFamily="18" charset="0"/>
                <a:cs typeface="Times New Roman" panose="02020603050405020304" pitchFamily="18" charset="0"/>
              </a:rPr>
              <a:t>International Journal of Computer Applications (0975 – 8887) Volume 179 – No.3, December 2017</a:t>
            </a:r>
            <a:endParaRPr lang="zh-TW" altLang="en-US" dirty="0">
              <a:latin typeface="Times New Roman" panose="02020603050405020304" pitchFamily="18" charset="0"/>
              <a:cs typeface="Times New Roman" panose="02020603050405020304" pitchFamily="18" charset="0"/>
            </a:endParaRPr>
          </a:p>
        </p:txBody>
      </p:sp>
      <p:sp>
        <p:nvSpPr>
          <p:cNvPr id="4" name="文字方塊 3"/>
          <p:cNvSpPr txBox="1"/>
          <p:nvPr/>
        </p:nvSpPr>
        <p:spPr>
          <a:xfrm>
            <a:off x="7609398" y="4939849"/>
            <a:ext cx="4063119" cy="1107996"/>
          </a:xfrm>
          <a:prstGeom prst="rect">
            <a:avLst/>
          </a:prstGeom>
          <a:noFill/>
        </p:spPr>
        <p:txBody>
          <a:bodyPr wrap="square" rtlCol="0">
            <a:spAutoFit/>
          </a:bodyPr>
          <a:lstStyle/>
          <a:p>
            <a:r>
              <a:rPr lang="en-US" altLang="zh-TW" sz="2400" dirty="0" smtClean="0">
                <a:latin typeface="Times New Roman" panose="02020603050405020304" pitchFamily="18" charset="0"/>
                <a:cs typeface="Times New Roman" panose="02020603050405020304" pitchFamily="18" charset="0"/>
              </a:rPr>
              <a:t>Presenter: ZHI-CHENG</a:t>
            </a:r>
            <a:r>
              <a:rPr lang="zh-TW" altLang="en-US" sz="2400" dirty="0" smtClean="0">
                <a:latin typeface="Times New Roman" panose="02020603050405020304" pitchFamily="18" charset="0"/>
                <a:cs typeface="Times New Roman" panose="02020603050405020304" pitchFamily="18" charset="0"/>
              </a:rPr>
              <a:t> </a:t>
            </a:r>
            <a:r>
              <a:rPr lang="en-US" altLang="zh-TW" sz="2400" dirty="0" smtClean="0">
                <a:latin typeface="Times New Roman" panose="02020603050405020304" pitchFamily="18" charset="0"/>
                <a:cs typeface="Times New Roman" panose="02020603050405020304" pitchFamily="18" charset="0"/>
              </a:rPr>
              <a:t>SHEN</a:t>
            </a:r>
          </a:p>
          <a:p>
            <a:r>
              <a:rPr lang="en-US" altLang="zh-TW" sz="2400" dirty="0" smtClean="0">
                <a:latin typeface="Times New Roman" panose="02020603050405020304" pitchFamily="18" charset="0"/>
                <a:cs typeface="Times New Roman" panose="02020603050405020304" pitchFamily="18" charset="0"/>
              </a:rPr>
              <a:t>Date: Oct.04 , 2022</a:t>
            </a:r>
          </a:p>
          <a:p>
            <a:endParaRPr lang="zh-TW" altLang="en-US" dirty="0"/>
          </a:p>
        </p:txBody>
      </p:sp>
      <p:sp>
        <p:nvSpPr>
          <p:cNvPr id="5" name="投影片編號版面配置區 4"/>
          <p:cNvSpPr>
            <a:spLocks noGrp="1"/>
          </p:cNvSpPr>
          <p:nvPr>
            <p:ph type="sldNum" sz="quarter" idx="12"/>
          </p:nvPr>
        </p:nvSpPr>
        <p:spPr/>
        <p:txBody>
          <a:bodyPr/>
          <a:lstStyle/>
          <a:p>
            <a:fld id="{083A2B26-6EC0-4D87-9C67-EBCC853E3F19}" type="slidenum">
              <a:rPr lang="zh-TW" altLang="en-US" smtClean="0"/>
              <a:t>1</a:t>
            </a:fld>
            <a:endParaRPr lang="zh-TW" altLang="en-US"/>
          </a:p>
        </p:txBody>
      </p:sp>
    </p:spTree>
    <p:extLst>
      <p:ext uri="{BB962C8B-B14F-4D97-AF65-F5344CB8AC3E}">
        <p14:creationId xmlns:p14="http://schemas.microsoft.com/office/powerpoint/2010/main" val="40065952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Abstract</a:t>
            </a:r>
            <a:endParaRPr lang="zh-TW" altLang="en-US" dirty="0"/>
          </a:p>
        </p:txBody>
      </p:sp>
      <p:sp>
        <p:nvSpPr>
          <p:cNvPr id="3" name="內容版面配置區 2"/>
          <p:cNvSpPr>
            <a:spLocks noGrp="1"/>
          </p:cNvSpPr>
          <p:nvPr>
            <p:ph idx="1"/>
          </p:nvPr>
        </p:nvSpPr>
        <p:spPr/>
        <p:txBody>
          <a:bodyPr>
            <a:normAutofit/>
          </a:bodyPr>
          <a:lstStyle/>
          <a:p>
            <a:pPr marL="0" indent="0">
              <a:buNone/>
            </a:pPr>
            <a:r>
              <a:rPr lang="en-US" altLang="zh-TW" dirty="0" smtClean="0">
                <a:latin typeface="Times New Roman" panose="02020603050405020304" pitchFamily="18" charset="0"/>
                <a:cs typeface="Times New Roman" panose="02020603050405020304" pitchFamily="18" charset="0"/>
              </a:rPr>
              <a:t>In today’s world, we need fast algorithm with minimum errors for solving the problems. Pattern matching method is a real time problem. There exist different types of data in web application problems, for example, text files, image files, audio files and video files searching. For searching different types of data search engine is required and every search algorithm are used by every search engine for handling different types of data. This paper provides a modified version of KMP algorithm for text matching. This algorithm is implemented in C language and has been checked with arbitrary input arrangement of length 10,100,1000,5000,10000. The results reflect that the performance of modified KMP algorithms is better than that of KMP algorithm. </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83A2B26-6EC0-4D87-9C67-EBCC853E3F19}" type="slidenum">
              <a:rPr lang="zh-TW" altLang="en-US" smtClean="0"/>
              <a:t>2</a:t>
            </a:fld>
            <a:endParaRPr lang="zh-TW" altLang="en-US"/>
          </a:p>
        </p:txBody>
      </p:sp>
    </p:spTree>
    <p:extLst>
      <p:ext uri="{BB962C8B-B14F-4D97-AF65-F5344CB8AC3E}">
        <p14:creationId xmlns:p14="http://schemas.microsoft.com/office/powerpoint/2010/main" val="24941546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Naive String Matching Algorithm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Text:      </a:t>
            </a:r>
            <a:r>
              <a:rPr lang="en-US" altLang="zh-TW" dirty="0" err="1" smtClean="0">
                <a:latin typeface="Times New Roman" panose="02020603050405020304" pitchFamily="18" charset="0"/>
                <a:cs typeface="Times New Roman" panose="02020603050405020304" pitchFamily="18" charset="0"/>
              </a:rPr>
              <a:t>abcabcabcabcacab</a:t>
            </a:r>
            <a:r>
              <a:rPr lang="en-US" altLang="zh-TW" dirty="0" smtClean="0">
                <a:latin typeface="Times New Roman" panose="02020603050405020304" pitchFamily="18" charset="0"/>
                <a:cs typeface="Times New Roman" panose="02020603050405020304" pitchFamily="18" charset="0"/>
              </a:rPr>
              <a:t> </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Pattern:  </a:t>
            </a:r>
            <a:r>
              <a:rPr lang="en-US" altLang="zh-TW" dirty="0" err="1" smtClean="0">
                <a:latin typeface="Times New Roman" panose="02020603050405020304" pitchFamily="18" charset="0"/>
                <a:cs typeface="Times New Roman" panose="02020603050405020304" pitchFamily="18" charset="0"/>
              </a:rPr>
              <a:t>abcabcacab</a:t>
            </a:r>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Time complexity: O(m*n)</a:t>
            </a:r>
          </a:p>
          <a:p>
            <a:pPr marL="0" indent="0">
              <a:buNone/>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m: length of text</a:t>
            </a:r>
          </a:p>
          <a:p>
            <a:pPr marL="0" indent="0">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n</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length of pattern</a:t>
            </a:r>
          </a:p>
          <a:p>
            <a:pPr marL="0" indent="0">
              <a:buNone/>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zh-TW" altLang="en-US" dirty="0"/>
          </a:p>
        </p:txBody>
      </p:sp>
      <p:sp>
        <p:nvSpPr>
          <p:cNvPr id="4" name="投影片編號版面配置區 3"/>
          <p:cNvSpPr>
            <a:spLocks noGrp="1"/>
          </p:cNvSpPr>
          <p:nvPr>
            <p:ph type="sldNum" sz="quarter" idx="12"/>
          </p:nvPr>
        </p:nvSpPr>
        <p:spPr/>
        <p:txBody>
          <a:bodyPr/>
          <a:lstStyle/>
          <a:p>
            <a:fld id="{083A2B26-6EC0-4D87-9C67-EBCC853E3F19}" type="slidenum">
              <a:rPr lang="zh-TW" altLang="en-US" smtClean="0"/>
              <a:t>3</a:t>
            </a:fld>
            <a:endParaRPr lang="zh-TW" altLang="en-US"/>
          </a:p>
        </p:txBody>
      </p:sp>
    </p:spTree>
    <p:extLst>
      <p:ext uri="{BB962C8B-B14F-4D97-AF65-F5344CB8AC3E}">
        <p14:creationId xmlns:p14="http://schemas.microsoft.com/office/powerpoint/2010/main" val="12333511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Prefix and Suffix                           </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575594"/>
            <a:ext cx="10515600" cy="4895850"/>
          </a:xfrm>
        </p:spPr>
        <p:txBody>
          <a:bodyPr>
            <a:normAutofit lnSpcReduction="10000"/>
          </a:bodyPr>
          <a:lstStyle/>
          <a:p>
            <a:pPr marL="0" indent="0">
              <a:buNone/>
            </a:pPr>
            <a:r>
              <a:rPr lang="en-US" altLang="zh-TW" dirty="0" smtClean="0">
                <a:latin typeface="Times New Roman" panose="02020603050405020304" pitchFamily="18" charset="0"/>
                <a:cs typeface="Times New Roman" panose="02020603050405020304" pitchFamily="18" charset="0"/>
              </a:rPr>
              <a:t>Ex. </a:t>
            </a:r>
            <a:r>
              <a:rPr lang="en-US" altLang="zh-TW" dirty="0" err="1" smtClean="0">
                <a:latin typeface="Times New Roman" panose="02020603050405020304" pitchFamily="18" charset="0"/>
                <a:cs typeface="Times New Roman" panose="02020603050405020304" pitchFamily="18" charset="0"/>
              </a:rPr>
              <a:t>abcabcacab</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err="1" smtClean="0">
                <a:latin typeface="Times New Roman" panose="02020603050405020304" pitchFamily="18" charset="0"/>
                <a:cs typeface="Times New Roman" panose="02020603050405020304" pitchFamily="18" charset="0"/>
              </a:rPr>
              <a:t>Prefix:a</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Suffix:b</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           ab                               </a:t>
            </a:r>
            <a:r>
              <a:rPr lang="en-US" altLang="zh-TW" dirty="0" err="1" smtClean="0">
                <a:latin typeface="Times New Roman" panose="02020603050405020304" pitchFamily="18" charset="0"/>
                <a:cs typeface="Times New Roman" panose="02020603050405020304" pitchFamily="18" charset="0"/>
              </a:rPr>
              <a:t>ab</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abc</a:t>
            </a:r>
            <a:r>
              <a:rPr lang="en-US" altLang="zh-TW" dirty="0" smtClean="0">
                <a:latin typeface="Times New Roman" panose="02020603050405020304" pitchFamily="18" charset="0"/>
                <a:cs typeface="Times New Roman" panose="02020603050405020304" pitchFamily="18" charset="0"/>
              </a:rPr>
              <a:t>                             cab</a:t>
            </a:r>
          </a:p>
          <a:p>
            <a:pPr marL="0" indent="0">
              <a:buNone/>
            </a:pP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abca</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acab</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abcab</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cacab</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abcabc</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bcacab</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abcabca</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abcacab</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abcabcac</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cabcacab</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abcabcaca</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bcabcacab</a:t>
            </a:r>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83A2B26-6EC0-4D87-9C67-EBCC853E3F19}" type="slidenum">
              <a:rPr lang="zh-TW" altLang="en-US" smtClean="0"/>
              <a:t>4</a:t>
            </a:fld>
            <a:endParaRPr lang="zh-TW" altLang="en-US"/>
          </a:p>
        </p:txBody>
      </p:sp>
    </p:spTree>
    <p:extLst>
      <p:ext uri="{BB962C8B-B14F-4D97-AF65-F5344CB8AC3E}">
        <p14:creationId xmlns:p14="http://schemas.microsoft.com/office/powerpoint/2010/main" val="5786956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Longest Proper Prefix Which Is Also Suffix</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以下簡稱為</a:t>
            </a:r>
            <a:r>
              <a:rPr lang="en-US" altLang="zh-TW" dirty="0" smtClean="0">
                <a:latin typeface="Times New Roman" panose="02020603050405020304" pitchFamily="18" charset="0"/>
                <a:cs typeface="Times New Roman" panose="02020603050405020304" pitchFamily="18" charset="0"/>
              </a:rPr>
              <a:t>LPS</a:t>
            </a: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Ex. </a:t>
            </a:r>
            <a:r>
              <a:rPr lang="en-US" altLang="zh-TW" dirty="0" err="1">
                <a:latin typeface="Times New Roman" panose="02020603050405020304" pitchFamily="18" charset="0"/>
                <a:cs typeface="Times New Roman" panose="02020603050405020304" pitchFamily="18" charset="0"/>
              </a:rPr>
              <a:t>a</a:t>
            </a:r>
            <a:r>
              <a:rPr lang="en-US" altLang="zh-TW" dirty="0" err="1" smtClean="0">
                <a:latin typeface="Times New Roman" panose="02020603050405020304" pitchFamily="18" charset="0"/>
                <a:cs typeface="Times New Roman" panose="02020603050405020304" pitchFamily="18" charset="0"/>
              </a:rPr>
              <a:t>bcabcacab</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LPS = ab</a:t>
            </a:r>
          </a:p>
          <a:p>
            <a:pPr marL="0" indent="0">
              <a:buNone/>
            </a:pPr>
            <a:endParaRPr lang="zh-TW" altLang="en-US" dirty="0"/>
          </a:p>
        </p:txBody>
      </p:sp>
      <p:sp>
        <p:nvSpPr>
          <p:cNvPr id="4" name="投影片編號版面配置區 3"/>
          <p:cNvSpPr>
            <a:spLocks noGrp="1"/>
          </p:cNvSpPr>
          <p:nvPr>
            <p:ph type="sldNum" sz="quarter" idx="12"/>
          </p:nvPr>
        </p:nvSpPr>
        <p:spPr/>
        <p:txBody>
          <a:bodyPr/>
          <a:lstStyle/>
          <a:p>
            <a:fld id="{083A2B26-6EC0-4D87-9C67-EBCC853E3F19}" type="slidenum">
              <a:rPr lang="zh-TW" altLang="en-US" smtClean="0"/>
              <a:t>5</a:t>
            </a:fld>
            <a:endParaRPr lang="zh-TW" altLang="en-US"/>
          </a:p>
        </p:txBody>
      </p:sp>
    </p:spTree>
    <p:extLst>
      <p:ext uri="{BB962C8B-B14F-4D97-AF65-F5344CB8AC3E}">
        <p14:creationId xmlns:p14="http://schemas.microsoft.com/office/powerpoint/2010/main" val="587133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33320"/>
            <a:ext cx="10515600" cy="1325563"/>
          </a:xfrm>
        </p:spPr>
        <p:txBody>
          <a:bodyPr/>
          <a:lstStyle/>
          <a:p>
            <a:r>
              <a:rPr lang="en-US" altLang="zh-TW" dirty="0" err="1" smtClean="0">
                <a:latin typeface="Times New Roman" panose="02020603050405020304" pitchFamily="18" charset="0"/>
                <a:cs typeface="Times New Roman" panose="02020603050405020304" pitchFamily="18" charset="0"/>
              </a:rPr>
              <a:t>ComputeLPSarray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Also known as: prefix table , failure function , next table…</a:t>
            </a: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index</a:t>
            </a:r>
            <a:r>
              <a:rPr lang="en-US" altLang="zh-TW" dirty="0">
                <a:latin typeface="Times New Roman" panose="02020603050405020304" pitchFamily="18" charset="0"/>
                <a:cs typeface="Times New Roman" panose="02020603050405020304" pitchFamily="18" charset="0"/>
              </a:rPr>
              <a:t>: 0 1 2 3 4 5 6 7 8 9</a:t>
            </a:r>
          </a:p>
          <a:p>
            <a:pPr marL="0" indent="0">
              <a:buNone/>
            </a:pPr>
            <a:r>
              <a:rPr lang="en-US" altLang="zh-TW" dirty="0">
                <a:latin typeface="Times New Roman" panose="02020603050405020304" pitchFamily="18" charset="0"/>
                <a:cs typeface="Times New Roman" panose="02020603050405020304" pitchFamily="18" charset="0"/>
              </a:rPr>
              <a:t>P     = </a:t>
            </a:r>
            <a:r>
              <a:rPr lang="en-US" altLang="zh-TW" sz="3100" dirty="0">
                <a:latin typeface="Times New Roman" panose="02020603050405020304" pitchFamily="18" charset="0"/>
                <a:cs typeface="Times New Roman" panose="02020603050405020304" pitchFamily="18" charset="0"/>
              </a:rPr>
              <a:t>a b c a b c a c a b</a:t>
            </a:r>
          </a:p>
          <a:p>
            <a:pPr marL="0" indent="0">
              <a:buNone/>
            </a:pPr>
            <a:r>
              <a:rPr lang="en-US" altLang="zh-TW" dirty="0" smtClean="0">
                <a:latin typeface="Times New Roman" panose="02020603050405020304" pitchFamily="18" charset="0"/>
                <a:cs typeface="Times New Roman" panose="02020603050405020304" pitchFamily="18" charset="0"/>
              </a:rPr>
              <a:t>C[]  = </a:t>
            </a:r>
            <a:r>
              <a:rPr lang="en-US" altLang="zh-TW" sz="3000" dirty="0" smtClean="0">
                <a:latin typeface="Times New Roman" panose="02020603050405020304" pitchFamily="18" charset="0"/>
                <a:cs typeface="Times New Roman" panose="02020603050405020304" pitchFamily="18" charset="0"/>
              </a:rPr>
              <a:t>0 0 0 1 2 3</a:t>
            </a:r>
            <a:r>
              <a:rPr lang="zh-TW" altLang="en-US" sz="3000" dirty="0" smtClean="0">
                <a:latin typeface="Times New Roman" panose="02020603050405020304" pitchFamily="18" charset="0"/>
                <a:cs typeface="Times New Roman" panose="02020603050405020304" pitchFamily="18" charset="0"/>
              </a:rPr>
              <a:t> </a:t>
            </a:r>
            <a:r>
              <a:rPr lang="en-US" altLang="zh-TW" sz="3000" dirty="0">
                <a:latin typeface="Times New Roman" panose="02020603050405020304" pitchFamily="18" charset="0"/>
                <a:cs typeface="Times New Roman" panose="02020603050405020304" pitchFamily="18" charset="0"/>
              </a:rPr>
              <a:t>4 0 1 2</a:t>
            </a:r>
            <a:endParaRPr lang="zh-TW" altLang="en-US" sz="3000" dirty="0">
              <a:latin typeface="Times New Roman" panose="02020603050405020304" pitchFamily="18" charset="0"/>
              <a:cs typeface="Times New Roman" panose="02020603050405020304" pitchFamily="18" charset="0"/>
            </a:endParaRPr>
          </a:p>
          <a:p>
            <a:pPr marL="0" indent="0">
              <a:buNone/>
            </a:pPr>
            <a:endParaRPr lang="zh-TW" altLang="en-US" sz="3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83A2B26-6EC0-4D87-9C67-EBCC853E3F19}" type="slidenum">
              <a:rPr lang="zh-TW" altLang="en-US" smtClean="0"/>
              <a:t>6</a:t>
            </a:fld>
            <a:endParaRPr lang="zh-TW" altLang="en-US"/>
          </a:p>
        </p:txBody>
      </p:sp>
    </p:spTree>
    <p:extLst>
      <p:ext uri="{BB962C8B-B14F-4D97-AF65-F5344CB8AC3E}">
        <p14:creationId xmlns:p14="http://schemas.microsoft.com/office/powerpoint/2010/main" val="5527339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KMP </a:t>
            </a:r>
            <a:r>
              <a:rPr lang="en-US" altLang="zh-TW" dirty="0">
                <a:latin typeface="Times New Roman" panose="02020603050405020304" pitchFamily="18" charset="0"/>
                <a:cs typeface="Times New Roman" panose="02020603050405020304" pitchFamily="18" charset="0"/>
              </a:rPr>
              <a:t>String Matching Algorithm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sz="half"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Text:      </a:t>
            </a:r>
            <a:r>
              <a:rPr lang="en-US" altLang="zh-TW" dirty="0" err="1">
                <a:latin typeface="Times New Roman" panose="02020603050405020304" pitchFamily="18" charset="0"/>
                <a:cs typeface="Times New Roman" panose="02020603050405020304" pitchFamily="18" charset="0"/>
              </a:rPr>
              <a:t>abcabcabcabcacab</a:t>
            </a:r>
            <a:r>
              <a:rPr lang="en-US" altLang="zh-TW" dirty="0">
                <a:latin typeface="Times New Roman" panose="02020603050405020304" pitchFamily="18" charset="0"/>
                <a:cs typeface="Times New Roman" panose="02020603050405020304" pitchFamily="18" charset="0"/>
              </a:rPr>
              <a:t> </a:t>
            </a:r>
          </a:p>
          <a:p>
            <a:pPr marL="0" indent="0">
              <a:buNone/>
            </a:pPr>
            <a:r>
              <a:rPr lang="en-US" altLang="zh-TW" dirty="0">
                <a:latin typeface="Times New Roman" panose="02020603050405020304" pitchFamily="18" charset="0"/>
                <a:cs typeface="Times New Roman" panose="02020603050405020304" pitchFamily="18" charset="0"/>
              </a:rPr>
              <a:t>Pattern:  </a:t>
            </a:r>
            <a:r>
              <a:rPr lang="en-US" altLang="zh-TW" dirty="0" err="1" smtClean="0">
                <a:latin typeface="Times New Roman" panose="02020603050405020304" pitchFamily="18" charset="0"/>
                <a:cs typeface="Times New Roman" panose="02020603050405020304" pitchFamily="18" charset="0"/>
              </a:rPr>
              <a:t>abcabcacab</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C[]  </a:t>
            </a:r>
            <a:r>
              <a:rPr lang="en-US" altLang="zh-TW" dirty="0" smtClean="0">
                <a:latin typeface="Times New Roman" panose="02020603050405020304" pitchFamily="18" charset="0"/>
                <a:cs typeface="Times New Roman" panose="02020603050405020304" pitchFamily="18" charset="0"/>
              </a:rPr>
              <a:t>=    0001234012</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sz="3200" dirty="0" err="1">
                <a:latin typeface="Times New Roman" panose="02020603050405020304" pitchFamily="18" charset="0"/>
                <a:cs typeface="Times New Roman" panose="02020603050405020304" pitchFamily="18" charset="0"/>
              </a:rPr>
              <a:t>abcabcabcabcacab</a:t>
            </a:r>
            <a:r>
              <a:rPr lang="en-US" altLang="zh-TW" sz="3200" dirty="0">
                <a:latin typeface="Times New Roman" panose="02020603050405020304" pitchFamily="18" charset="0"/>
                <a:cs typeface="Times New Roman" panose="02020603050405020304" pitchFamily="18" charset="0"/>
              </a:rPr>
              <a:t> </a:t>
            </a:r>
          </a:p>
          <a:p>
            <a:pPr marL="0" indent="0">
              <a:buNone/>
            </a:pPr>
            <a:r>
              <a:rPr lang="en-US" altLang="zh-TW" sz="3200" dirty="0" err="1">
                <a:latin typeface="Times New Roman" panose="02020603050405020304" pitchFamily="18" charset="0"/>
                <a:cs typeface="Times New Roman" panose="02020603050405020304" pitchFamily="18" charset="0"/>
              </a:rPr>
              <a:t>a</a:t>
            </a:r>
            <a:r>
              <a:rPr lang="en-US" altLang="zh-TW" sz="3200" dirty="0" err="1" smtClean="0">
                <a:latin typeface="Times New Roman" panose="02020603050405020304" pitchFamily="18" charset="0"/>
                <a:cs typeface="Times New Roman" panose="02020603050405020304" pitchFamily="18" charset="0"/>
              </a:rPr>
              <a:t>bcabcac</a:t>
            </a:r>
            <a:endParaRPr lang="en-US" altLang="zh-TW" sz="3200" dirty="0">
              <a:latin typeface="Times New Roman" panose="02020603050405020304" pitchFamily="18" charset="0"/>
              <a:cs typeface="Times New Roman" panose="02020603050405020304" pitchFamily="18" charset="0"/>
            </a:endParaRPr>
          </a:p>
          <a:p>
            <a:pPr marL="0" indent="0">
              <a:buNone/>
            </a:pPr>
            <a:r>
              <a:rPr lang="en-US" altLang="zh-TW" sz="3200" dirty="0" smtClean="0">
                <a:latin typeface="Times New Roman" panose="02020603050405020304" pitchFamily="18" charset="0"/>
                <a:cs typeface="Times New Roman" panose="02020603050405020304" pitchFamily="18" charset="0"/>
              </a:rPr>
              <a:t>      </a:t>
            </a:r>
            <a:r>
              <a:rPr lang="en-US" altLang="zh-TW" sz="3200" dirty="0" err="1" smtClean="0">
                <a:latin typeface="Times New Roman" panose="02020603050405020304" pitchFamily="18" charset="0"/>
                <a:cs typeface="Times New Roman" panose="02020603050405020304" pitchFamily="18" charset="0"/>
              </a:rPr>
              <a:t>abcabcac</a:t>
            </a:r>
            <a:endParaRPr lang="en-US" altLang="zh-TW" sz="3200" dirty="0" smtClean="0">
              <a:latin typeface="Times New Roman" panose="02020603050405020304" pitchFamily="18" charset="0"/>
              <a:cs typeface="Times New Roman" panose="02020603050405020304" pitchFamily="18" charset="0"/>
            </a:endParaRPr>
          </a:p>
          <a:p>
            <a:pPr marL="0" indent="0">
              <a:buNone/>
            </a:pPr>
            <a:r>
              <a:rPr lang="en-US" altLang="zh-TW" sz="3200" dirty="0">
                <a:latin typeface="Times New Roman" panose="02020603050405020304" pitchFamily="18" charset="0"/>
                <a:cs typeface="Times New Roman" panose="02020603050405020304" pitchFamily="18" charset="0"/>
              </a:rPr>
              <a:t> </a:t>
            </a:r>
            <a:r>
              <a:rPr lang="en-US" altLang="zh-TW" sz="3200" dirty="0" smtClean="0">
                <a:latin typeface="Times New Roman" panose="02020603050405020304" pitchFamily="18" charset="0"/>
                <a:cs typeface="Times New Roman" panose="02020603050405020304" pitchFamily="18" charset="0"/>
              </a:rPr>
              <a:t>           </a:t>
            </a:r>
            <a:r>
              <a:rPr lang="en-US" altLang="zh-TW" sz="3200" dirty="0" err="1" smtClean="0">
                <a:latin typeface="Times New Roman" panose="02020603050405020304" pitchFamily="18" charset="0"/>
                <a:cs typeface="Times New Roman" panose="02020603050405020304" pitchFamily="18" charset="0"/>
              </a:rPr>
              <a:t>abcabcacab</a:t>
            </a:r>
            <a:r>
              <a:rPr lang="en-US" altLang="zh-TW" sz="3200" dirty="0" smtClean="0">
                <a:latin typeface="Times New Roman" panose="02020603050405020304" pitchFamily="18" charset="0"/>
                <a:cs typeface="Times New Roman" panose="02020603050405020304" pitchFamily="18" charset="0"/>
              </a:rPr>
              <a:t>            </a:t>
            </a:r>
            <a:endParaRPr lang="en-US" altLang="zh-TW" sz="3200" dirty="0">
              <a:latin typeface="Times New Roman" panose="02020603050405020304" pitchFamily="18" charset="0"/>
              <a:cs typeface="Times New Roman" panose="02020603050405020304" pitchFamily="18" charset="0"/>
            </a:endParaRPr>
          </a:p>
        </p:txBody>
      </p:sp>
      <p:sp>
        <p:nvSpPr>
          <p:cNvPr id="7" name="內容版面配置區 6"/>
          <p:cNvSpPr>
            <a:spLocks noGrp="1"/>
          </p:cNvSpPr>
          <p:nvPr>
            <p:ph sz="half" idx="2"/>
          </p:nvPr>
        </p:nvSpPr>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Time complexity: O(</a:t>
            </a:r>
            <a:r>
              <a:rPr lang="en-US" altLang="zh-TW" dirty="0" err="1" smtClean="0">
                <a:latin typeface="Times New Roman" panose="02020603050405020304" pitchFamily="18" charset="0"/>
                <a:cs typeface="Times New Roman" panose="02020603050405020304" pitchFamily="18" charset="0"/>
              </a:rPr>
              <a:t>m+n</a:t>
            </a:r>
            <a:r>
              <a:rPr lang="en-US" altLang="zh-TW" dirty="0" smtClean="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m: length of text</a:t>
            </a:r>
          </a:p>
          <a:p>
            <a:pPr marL="0" indent="0">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n: length of pattern</a:t>
            </a:r>
          </a:p>
          <a:p>
            <a:pPr marL="0" indent="0">
              <a:buNone/>
            </a:pPr>
            <a:endParaRPr lang="zh-TW" altLang="en-US" dirty="0"/>
          </a:p>
        </p:txBody>
      </p:sp>
      <p:sp>
        <p:nvSpPr>
          <p:cNvPr id="4" name="投影片編號版面配置區 3"/>
          <p:cNvSpPr>
            <a:spLocks noGrp="1"/>
          </p:cNvSpPr>
          <p:nvPr>
            <p:ph type="sldNum" sz="quarter" idx="12"/>
          </p:nvPr>
        </p:nvSpPr>
        <p:spPr/>
        <p:txBody>
          <a:bodyPr/>
          <a:lstStyle/>
          <a:p>
            <a:fld id="{083A2B26-6EC0-4D87-9C67-EBCC853E3F19}" type="slidenum">
              <a:rPr lang="zh-TW" altLang="en-US" smtClean="0"/>
              <a:t>7</a:t>
            </a:fld>
            <a:endParaRPr lang="zh-TW" altLang="en-US"/>
          </a:p>
        </p:txBody>
      </p:sp>
      <p:sp>
        <p:nvSpPr>
          <p:cNvPr id="5" name="Rectangle 1"/>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TW" altLang="zh-TW"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54332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How to Compute LPS Array</a:t>
            </a:r>
            <a:endParaRPr lang="zh-TW" altLang="en-US" dirty="0"/>
          </a:p>
        </p:txBody>
      </p:sp>
      <p:sp>
        <p:nvSpPr>
          <p:cNvPr id="7" name="內容版面配置區 6"/>
          <p:cNvSpPr>
            <a:spLocks noGrp="1"/>
          </p:cNvSpPr>
          <p:nvPr>
            <p:ph idx="1"/>
          </p:nvPr>
        </p:nvSpPr>
        <p:spPr/>
        <p:txBody>
          <a:bodyPr/>
          <a:lstStyle/>
          <a:p>
            <a:pPr marL="0" indent="0">
              <a:buNone/>
            </a:pPr>
            <a:endParaRPr lang="en-US" altLang="zh-TW" dirty="0" smtClean="0"/>
          </a:p>
          <a:p>
            <a:pPr marL="0" indent="0">
              <a:buNone/>
            </a:pPr>
            <a:endParaRPr lang="en-US" altLang="zh-TW" dirty="0"/>
          </a:p>
          <a:p>
            <a:pPr marL="0" indent="0">
              <a:buNone/>
            </a:pPr>
            <a:r>
              <a:rPr lang="en-US" altLang="zh-TW" dirty="0">
                <a:latin typeface="Times New Roman" panose="02020603050405020304" pitchFamily="18" charset="0"/>
                <a:cs typeface="Times New Roman" panose="02020603050405020304" pitchFamily="18" charset="0"/>
              </a:rPr>
              <a:t>P     = a b c a b c a c a </a:t>
            </a:r>
            <a:r>
              <a:rPr lang="en-US" altLang="zh-TW" dirty="0" smtClean="0">
                <a:latin typeface="Times New Roman" panose="02020603050405020304" pitchFamily="18" charset="0"/>
                <a:cs typeface="Times New Roman" panose="02020603050405020304" pitchFamily="18" charset="0"/>
              </a:rPr>
              <a:t>b</a:t>
            </a:r>
          </a:p>
          <a:p>
            <a:pPr marL="0" indent="0">
              <a:buNone/>
            </a:pPr>
            <a:r>
              <a:rPr lang="en-US" altLang="zh-TW" dirty="0" smtClean="0">
                <a:latin typeface="Times New Roman" panose="02020603050405020304" pitchFamily="18" charset="0"/>
                <a:cs typeface="Times New Roman" panose="02020603050405020304" pitchFamily="18" charset="0"/>
              </a:rPr>
              <a:t>C[]  =</a:t>
            </a:r>
            <a:endParaRPr lang="zh-TW" altLang="en-US" dirty="0"/>
          </a:p>
        </p:txBody>
      </p:sp>
      <p:sp>
        <p:nvSpPr>
          <p:cNvPr id="5" name="投影片編號版面配置區 4"/>
          <p:cNvSpPr>
            <a:spLocks noGrp="1"/>
          </p:cNvSpPr>
          <p:nvPr>
            <p:ph type="sldNum" sz="quarter" idx="12"/>
          </p:nvPr>
        </p:nvSpPr>
        <p:spPr/>
        <p:txBody>
          <a:bodyPr/>
          <a:lstStyle/>
          <a:p>
            <a:fld id="{083A2B26-6EC0-4D87-9C67-EBCC853E3F19}" type="slidenum">
              <a:rPr lang="zh-TW" altLang="en-US" smtClean="0"/>
              <a:t>8</a:t>
            </a:fld>
            <a:endParaRPr lang="zh-TW" altLang="en-US"/>
          </a:p>
        </p:txBody>
      </p:sp>
    </p:spTree>
    <p:extLst>
      <p:ext uri="{BB962C8B-B14F-4D97-AF65-F5344CB8AC3E}">
        <p14:creationId xmlns:p14="http://schemas.microsoft.com/office/powerpoint/2010/main" val="14669945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62001" y="0"/>
            <a:ext cx="10515600" cy="986597"/>
          </a:xfrm>
        </p:spPr>
        <p:txBody>
          <a:bodyPr/>
          <a:lstStyle/>
          <a:p>
            <a:r>
              <a:rPr lang="en-US" altLang="zh-TW" dirty="0">
                <a:latin typeface="Times New Roman" panose="02020603050405020304" pitchFamily="18" charset="0"/>
                <a:cs typeface="Times New Roman" panose="02020603050405020304" pitchFamily="18" charset="0"/>
              </a:rPr>
              <a:t>NEW MODIFIED KMP ALGORITHM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sz="half" idx="1"/>
          </p:nvPr>
        </p:nvSpPr>
        <p:spPr>
          <a:xfrm>
            <a:off x="1" y="1272210"/>
            <a:ext cx="6019800" cy="5239908"/>
          </a:xfrm>
        </p:spPr>
        <p:txBody>
          <a:bodyPr>
            <a:normAutofit fontScale="92500" lnSpcReduction="10000"/>
          </a:bodyPr>
          <a:lstStyle/>
          <a:p>
            <a:pPr marL="0" indent="0">
              <a:buNone/>
            </a:pPr>
            <a:r>
              <a:rPr lang="en-US" altLang="zh-TW" sz="2400" dirty="0" err="1">
                <a:latin typeface="Times New Roman" panose="02020603050405020304" pitchFamily="18" charset="0"/>
                <a:cs typeface="Times New Roman" panose="02020603050405020304" pitchFamily="18" charset="0"/>
              </a:rPr>
              <a:t>KMPsearch</a:t>
            </a:r>
            <a:r>
              <a:rPr lang="en-US" altLang="zh-TW" sz="2400" dirty="0">
                <a:latin typeface="Times New Roman" panose="02020603050405020304" pitchFamily="18" charset="0"/>
                <a:cs typeface="Times New Roman" panose="02020603050405020304" pitchFamily="18" charset="0"/>
              </a:rPr>
              <a:t>(P, T) </a:t>
            </a:r>
            <a:r>
              <a:rPr lang="en-US" altLang="zh-TW" sz="2400" dirty="0" smtClean="0">
                <a:latin typeface="Times New Roman" panose="02020603050405020304" pitchFamily="18" charset="0"/>
                <a:cs typeface="Times New Roman" panose="02020603050405020304" pitchFamily="18" charset="0"/>
              </a:rPr>
              <a:t>                                           </a:t>
            </a:r>
          </a:p>
          <a:p>
            <a:pPr marL="0" indent="0">
              <a:buNone/>
            </a:pPr>
            <a:r>
              <a:rPr lang="en-US" altLang="zh-TW" sz="2400" dirty="0" smtClean="0">
                <a:latin typeface="Times New Roman" panose="02020603050405020304" pitchFamily="18" charset="0"/>
                <a:cs typeface="Times New Roman" panose="02020603050405020304" pitchFamily="18" charset="0"/>
              </a:rPr>
              <a:t>1. m </a:t>
            </a:r>
            <a:r>
              <a:rPr lang="en-US" altLang="zh-TW" sz="2400" dirty="0">
                <a:latin typeface="Times New Roman" panose="02020603050405020304" pitchFamily="18" charset="0"/>
                <a:cs typeface="Times New Roman" panose="02020603050405020304" pitchFamily="18" charset="0"/>
              </a:rPr>
              <a:t>−&gt; Pattern </a:t>
            </a:r>
            <a:endParaRPr lang="en-US" altLang="zh-TW" sz="2400" dirty="0" smtClean="0">
              <a:latin typeface="Times New Roman" panose="02020603050405020304" pitchFamily="18" charset="0"/>
              <a:cs typeface="Times New Roman" panose="02020603050405020304" pitchFamily="18" charset="0"/>
            </a:endParaRPr>
          </a:p>
          <a:p>
            <a:pPr marL="0" indent="0">
              <a:buNone/>
            </a:pPr>
            <a:r>
              <a:rPr lang="en-US" altLang="zh-TW" sz="2400" dirty="0" smtClean="0">
                <a:latin typeface="Times New Roman" panose="02020603050405020304" pitchFamily="18" charset="0"/>
                <a:cs typeface="Times New Roman" panose="02020603050405020304" pitchFamily="18" charset="0"/>
              </a:rPr>
              <a:t>2</a:t>
            </a:r>
            <a:r>
              <a:rPr lang="en-US" altLang="zh-TW" sz="2400" dirty="0">
                <a:latin typeface="Times New Roman" panose="02020603050405020304" pitchFamily="18" charset="0"/>
                <a:cs typeface="Times New Roman" panose="02020603050405020304" pitchFamily="18" charset="0"/>
              </a:rPr>
              <a:t>. n −&gt; Text </a:t>
            </a:r>
            <a:endParaRPr lang="en-US" altLang="zh-TW" sz="2400" dirty="0" smtClean="0">
              <a:latin typeface="Times New Roman" panose="02020603050405020304" pitchFamily="18" charset="0"/>
              <a:cs typeface="Times New Roman" panose="02020603050405020304" pitchFamily="18" charset="0"/>
            </a:endParaRPr>
          </a:p>
          <a:p>
            <a:pPr marL="0" indent="0">
              <a:buNone/>
            </a:pPr>
            <a:r>
              <a:rPr lang="en-US" altLang="zh-TW" sz="2400" dirty="0" smtClean="0">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int</a:t>
            </a:r>
            <a:r>
              <a:rPr lang="en-US" altLang="zh-TW" sz="2400" dirty="0">
                <a:latin typeface="Times New Roman" panose="02020603050405020304" pitchFamily="18" charset="0"/>
                <a:cs typeface="Times New Roman" panose="02020603050405020304" pitchFamily="18" charset="0"/>
              </a:rPr>
              <a:t> c[] </a:t>
            </a:r>
            <a:endParaRPr lang="en-US" altLang="zh-TW" sz="2400" dirty="0" smtClean="0">
              <a:latin typeface="Times New Roman" panose="02020603050405020304" pitchFamily="18" charset="0"/>
              <a:cs typeface="Times New Roman" panose="02020603050405020304" pitchFamily="18" charset="0"/>
            </a:endParaRPr>
          </a:p>
          <a:p>
            <a:pPr marL="0" indent="0">
              <a:buNone/>
            </a:pPr>
            <a:r>
              <a:rPr lang="en-US" altLang="zh-TW" sz="2400" dirty="0" smtClean="0">
                <a:latin typeface="Times New Roman" panose="02020603050405020304" pitchFamily="18" charset="0"/>
                <a:cs typeface="Times New Roman" panose="02020603050405020304" pitchFamily="18" charset="0"/>
              </a:rPr>
              <a:t>4</a:t>
            </a:r>
            <a:r>
              <a:rPr lang="en-US" altLang="zh-TW" sz="2400" dirty="0">
                <a:latin typeface="Times New Roman" panose="02020603050405020304" pitchFamily="18" charset="0"/>
                <a:cs typeface="Times New Roman" panose="02020603050405020304" pitchFamily="18" charset="0"/>
              </a:rPr>
              <a:t>. j = 0 </a:t>
            </a:r>
            <a:endParaRPr lang="en-US" altLang="zh-TW" sz="2400" dirty="0" smtClean="0">
              <a:latin typeface="Times New Roman" panose="02020603050405020304" pitchFamily="18" charset="0"/>
              <a:cs typeface="Times New Roman" panose="02020603050405020304" pitchFamily="18" charset="0"/>
            </a:endParaRPr>
          </a:p>
          <a:p>
            <a:pPr marL="0" indent="0">
              <a:buNone/>
            </a:pPr>
            <a:r>
              <a:rPr lang="en-US" altLang="zh-TW" sz="2400" dirty="0" smtClean="0">
                <a:latin typeface="Times New Roman" panose="02020603050405020304" pitchFamily="18" charset="0"/>
                <a:cs typeface="Times New Roman" panose="02020603050405020304" pitchFamily="18" charset="0"/>
              </a:rPr>
              <a:t>5</a:t>
            </a:r>
            <a:r>
              <a:rPr lang="en-US" altLang="zh-TW" sz="2400" dirty="0">
                <a:latin typeface="Times New Roman" panose="02020603050405020304" pitchFamily="18" charset="0"/>
                <a:cs typeface="Times New Roman" panose="02020603050405020304" pitchFamily="18" charset="0"/>
              </a:rPr>
              <a:t>. COMPUTELPSARRAY(PAT, M, C</a:t>
            </a:r>
            <a:r>
              <a:rPr lang="en-US" altLang="zh-TW" sz="2400" dirty="0" smtClean="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6. </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 0 </a:t>
            </a:r>
            <a:endParaRPr lang="en-US" altLang="zh-TW" sz="2400" dirty="0" smtClean="0">
              <a:latin typeface="Times New Roman" panose="02020603050405020304" pitchFamily="18" charset="0"/>
              <a:cs typeface="Times New Roman" panose="02020603050405020304" pitchFamily="18" charset="0"/>
            </a:endParaRPr>
          </a:p>
          <a:p>
            <a:pPr marL="0" indent="0">
              <a:buNone/>
            </a:pPr>
            <a:r>
              <a:rPr lang="en-US" altLang="zh-TW" sz="2400" dirty="0" smtClean="0">
                <a:latin typeface="Times New Roman" panose="02020603050405020304" pitchFamily="18" charset="0"/>
                <a:cs typeface="Times New Roman" panose="02020603050405020304" pitchFamily="18" charset="0"/>
              </a:rPr>
              <a:t>7</a:t>
            </a:r>
            <a:r>
              <a:rPr lang="en-US" altLang="zh-TW" sz="2400" dirty="0">
                <a:latin typeface="Times New Roman" panose="02020603050405020304" pitchFamily="18" charset="0"/>
                <a:cs typeface="Times New Roman" panose="02020603050405020304" pitchFamily="18" charset="0"/>
              </a:rPr>
              <a:t>. while(</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&lt; n) </a:t>
            </a:r>
            <a:endParaRPr lang="en-US" altLang="zh-TW" sz="2400" dirty="0" smtClean="0">
              <a:latin typeface="Times New Roman" panose="02020603050405020304" pitchFamily="18" charset="0"/>
              <a:cs typeface="Times New Roman" panose="02020603050405020304" pitchFamily="18" charset="0"/>
            </a:endParaRPr>
          </a:p>
          <a:p>
            <a:pPr marL="0" indent="0">
              <a:buNone/>
            </a:pPr>
            <a:r>
              <a:rPr lang="en-US" altLang="zh-TW" sz="2400" dirty="0" smtClean="0">
                <a:latin typeface="Times New Roman" panose="02020603050405020304" pitchFamily="18" charset="0"/>
                <a:cs typeface="Times New Roman" panose="02020603050405020304" pitchFamily="18" charset="0"/>
              </a:rPr>
              <a:t>8</a:t>
            </a:r>
            <a:r>
              <a:rPr lang="en-US" altLang="zh-TW" sz="2400" dirty="0">
                <a:latin typeface="Times New Roman" panose="02020603050405020304" pitchFamily="18" charset="0"/>
                <a:cs typeface="Times New Roman" panose="02020603050405020304" pitchFamily="18" charset="0"/>
              </a:rPr>
              <a:t>. if(pat[j] == txt[</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a:t>
            </a:r>
            <a:endParaRPr lang="en-US" altLang="zh-TW" sz="2400" dirty="0" smtClean="0">
              <a:latin typeface="Times New Roman" panose="02020603050405020304" pitchFamily="18" charset="0"/>
              <a:cs typeface="Times New Roman" panose="02020603050405020304" pitchFamily="18" charset="0"/>
            </a:endParaRPr>
          </a:p>
          <a:p>
            <a:pPr marL="0" indent="0">
              <a:buNone/>
            </a:pPr>
            <a:r>
              <a:rPr lang="en-US" altLang="zh-TW" sz="2400" dirty="0" smtClean="0">
                <a:latin typeface="Times New Roman" panose="02020603050405020304" pitchFamily="18" charset="0"/>
                <a:cs typeface="Times New Roman" panose="02020603050405020304" pitchFamily="18" charset="0"/>
              </a:rPr>
              <a:t>9</a:t>
            </a:r>
            <a:r>
              <a:rPr lang="en-US" altLang="zh-TW" sz="2400" dirty="0">
                <a:latin typeface="Times New Roman" panose="02020603050405020304" pitchFamily="18" charset="0"/>
                <a:cs typeface="Times New Roman" panose="02020603050405020304" pitchFamily="18" charset="0"/>
              </a:rPr>
              <a:t>. j + + </a:t>
            </a:r>
            <a:endParaRPr lang="en-US" altLang="zh-TW" sz="2400" dirty="0" smtClean="0">
              <a:latin typeface="Times New Roman" panose="02020603050405020304" pitchFamily="18" charset="0"/>
              <a:cs typeface="Times New Roman" panose="02020603050405020304" pitchFamily="18" charset="0"/>
            </a:endParaRPr>
          </a:p>
          <a:p>
            <a:pPr marL="0" indent="0">
              <a:buNone/>
            </a:pPr>
            <a:r>
              <a:rPr lang="en-US" altLang="zh-TW" sz="2400" dirty="0" smtClean="0">
                <a:latin typeface="Times New Roman" panose="02020603050405020304" pitchFamily="18" charset="0"/>
                <a:cs typeface="Times New Roman" panose="02020603050405020304" pitchFamily="18" charset="0"/>
              </a:rPr>
              <a:t>10</a:t>
            </a:r>
            <a:r>
              <a:rPr lang="en-US" altLang="zh-TW"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 + </a:t>
            </a:r>
            <a:endParaRPr lang="en-US" altLang="zh-TW" sz="2400" dirty="0" smtClean="0">
              <a:latin typeface="Times New Roman" panose="02020603050405020304" pitchFamily="18" charset="0"/>
              <a:cs typeface="Times New Roman" panose="02020603050405020304" pitchFamily="18" charset="0"/>
            </a:endParaRPr>
          </a:p>
          <a:p>
            <a:pPr marL="0" indent="0">
              <a:buNone/>
            </a:pPr>
            <a:r>
              <a:rPr lang="en-US" altLang="zh-TW" sz="2400" dirty="0" smtClean="0">
                <a:latin typeface="Times New Roman" panose="02020603050405020304" pitchFamily="18" charset="0"/>
                <a:cs typeface="Times New Roman" panose="02020603050405020304" pitchFamily="18" charset="0"/>
              </a:rPr>
              <a:t>11</a:t>
            </a:r>
            <a:r>
              <a:rPr lang="en-US" altLang="zh-TW" sz="2400" dirty="0">
                <a:latin typeface="Times New Roman" panose="02020603050405020304" pitchFamily="18" charset="0"/>
                <a:cs typeface="Times New Roman" panose="02020603050405020304" pitchFamily="18" charset="0"/>
              </a:rPr>
              <a:t>. if(j == m) </a:t>
            </a:r>
            <a:endParaRPr lang="en-US" altLang="zh-TW" sz="2400" dirty="0" smtClean="0">
              <a:latin typeface="Times New Roman" panose="02020603050405020304" pitchFamily="18" charset="0"/>
              <a:cs typeface="Times New Roman" panose="02020603050405020304" pitchFamily="18" charset="0"/>
            </a:endParaRPr>
          </a:p>
          <a:p>
            <a:pPr marL="0" indent="0">
              <a:buNone/>
            </a:pPr>
            <a:r>
              <a:rPr lang="en-US" altLang="zh-TW" sz="2400" dirty="0" smtClean="0">
                <a:latin typeface="Times New Roman" panose="02020603050405020304" pitchFamily="18" charset="0"/>
                <a:cs typeface="Times New Roman" panose="02020603050405020304" pitchFamily="18" charset="0"/>
              </a:rPr>
              <a:t>12</a:t>
            </a:r>
            <a:r>
              <a:rPr lang="en-US" altLang="zh-TW"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printf</a:t>
            </a:r>
            <a:r>
              <a:rPr lang="en-US" altLang="zh-TW" sz="2400" dirty="0">
                <a:latin typeface="Times New Roman" panose="02020603050405020304" pitchFamily="18" charset="0"/>
                <a:cs typeface="Times New Roman" panose="02020603050405020304" pitchFamily="18" charset="0"/>
              </a:rPr>
              <a:t>(“found pattern at index %d”, </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 j)</a:t>
            </a:r>
            <a:endParaRPr lang="zh-TW" altLang="en-US" sz="2400" dirty="0">
              <a:latin typeface="Times New Roman" panose="02020603050405020304" pitchFamily="18" charset="0"/>
              <a:cs typeface="Times New Roman" panose="02020603050405020304" pitchFamily="18" charset="0"/>
            </a:endParaRPr>
          </a:p>
        </p:txBody>
      </p:sp>
      <p:sp>
        <p:nvSpPr>
          <p:cNvPr id="5" name="內容版面配置區 4"/>
          <p:cNvSpPr>
            <a:spLocks noGrp="1"/>
          </p:cNvSpPr>
          <p:nvPr>
            <p:ph sz="half" idx="2"/>
          </p:nvPr>
        </p:nvSpPr>
        <p:spPr>
          <a:xfrm>
            <a:off x="6172199" y="1272209"/>
            <a:ext cx="5940287" cy="4904754"/>
          </a:xfrm>
        </p:spPr>
        <p:txBody>
          <a:bodyPr>
            <a:normAutofit fontScale="92500" lnSpcReduction="10000"/>
          </a:bodyPr>
          <a:lstStyle/>
          <a:p>
            <a:pPr marL="0" indent="0">
              <a:buNone/>
            </a:pPr>
            <a:r>
              <a:rPr lang="en-US" altLang="zh-TW" dirty="0">
                <a:latin typeface="Times New Roman" panose="02020603050405020304" pitchFamily="18" charset="0"/>
                <a:cs typeface="Times New Roman" panose="02020603050405020304" pitchFamily="18" charset="0"/>
              </a:rPr>
              <a:t>13. j = c[j − 1] </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14</a:t>
            </a:r>
            <a:r>
              <a:rPr lang="en-US" altLang="zh-TW" dirty="0">
                <a:latin typeface="Times New Roman" panose="02020603050405020304" pitchFamily="18" charset="0"/>
                <a:cs typeface="Times New Roman" panose="02020603050405020304" pitchFamily="18" charset="0"/>
              </a:rPr>
              <a:t>. else if(</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&lt; n&amp;&amp; pat[j]! = txt[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15</a:t>
            </a:r>
            <a:r>
              <a:rPr lang="en-US" altLang="zh-TW" dirty="0">
                <a:latin typeface="Times New Roman" panose="02020603050405020304" pitchFamily="18" charset="0"/>
                <a:cs typeface="Times New Roman" panose="02020603050405020304" pitchFamily="18" charset="0"/>
              </a:rPr>
              <a:t>. if(j! = 0) </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16</a:t>
            </a:r>
            <a:r>
              <a:rPr lang="en-US" altLang="zh-TW" dirty="0">
                <a:latin typeface="Times New Roman" panose="02020603050405020304" pitchFamily="18" charset="0"/>
                <a:cs typeface="Times New Roman" panose="02020603050405020304" pitchFamily="18" charset="0"/>
              </a:rPr>
              <a:t>. j = c[j − 1]; </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17</a:t>
            </a:r>
            <a:r>
              <a:rPr lang="en-US" altLang="zh-TW" dirty="0">
                <a:latin typeface="Times New Roman" panose="02020603050405020304" pitchFamily="18" charset="0"/>
                <a:cs typeface="Times New Roman" panose="02020603050405020304" pitchFamily="18" charset="0"/>
              </a:rPr>
              <a:t>. else </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18</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+ 1;</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83A2B26-6EC0-4D87-9C67-EBCC853E3F19}" type="slidenum">
              <a:rPr lang="zh-TW" altLang="en-US" smtClean="0"/>
              <a:t>9</a:t>
            </a:fld>
            <a:endParaRPr lang="zh-TW" altLang="en-US"/>
          </a:p>
        </p:txBody>
      </p:sp>
    </p:spTree>
    <p:extLst>
      <p:ext uri="{BB962C8B-B14F-4D97-AF65-F5344CB8AC3E}">
        <p14:creationId xmlns:p14="http://schemas.microsoft.com/office/powerpoint/2010/main" val="29587307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78879"/>
            <a:ext cx="10515600" cy="883230"/>
          </a:xfrm>
        </p:spPr>
        <p:txBody>
          <a:bodyPr/>
          <a:lstStyle/>
          <a:p>
            <a:r>
              <a:rPr lang="en-US" altLang="zh-TW" dirty="0" err="1" smtClean="0">
                <a:latin typeface="Times New Roman" panose="02020603050405020304" pitchFamily="18" charset="0"/>
                <a:cs typeface="Times New Roman" panose="02020603050405020304" pitchFamily="18" charset="0"/>
              </a:rPr>
              <a:t>ComputeLPSarray</a:t>
            </a:r>
            <a:r>
              <a:rPr lang="en-US" altLang="zh-TW" dirty="0" smtClean="0">
                <a:latin typeface="Times New Roman" panose="02020603050405020304" pitchFamily="18" charset="0"/>
                <a:cs typeface="Times New Roman" panose="02020603050405020304" pitchFamily="18" charset="0"/>
              </a:rPr>
              <a:t>(PAT,M,C)</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sz="half" idx="1"/>
          </p:nvPr>
        </p:nvSpPr>
        <p:spPr>
          <a:xfrm>
            <a:off x="838200" y="850790"/>
            <a:ext cx="5181600" cy="5931673"/>
          </a:xfrm>
        </p:spPr>
        <p:txBody>
          <a:bodyPr>
            <a:normAutofit/>
          </a:bodyPr>
          <a:lstStyle/>
          <a:p>
            <a:pPr marL="0" indent="0">
              <a:buNone/>
            </a:pPr>
            <a:r>
              <a:rPr lang="en-US" altLang="zh-TW" sz="2600" dirty="0" smtClean="0">
                <a:latin typeface="Times New Roman" panose="02020603050405020304" pitchFamily="18" charset="0"/>
                <a:cs typeface="Times New Roman" panose="02020603050405020304" pitchFamily="18" charset="0"/>
              </a:rPr>
              <a:t>1. m </a:t>
            </a:r>
            <a:r>
              <a:rPr lang="en-US" altLang="zh-TW" sz="2600" dirty="0">
                <a:latin typeface="Times New Roman" panose="02020603050405020304" pitchFamily="18" charset="0"/>
                <a:cs typeface="Times New Roman" panose="02020603050405020304" pitchFamily="18" charset="0"/>
              </a:rPr>
              <a:t>= p. length </a:t>
            </a:r>
            <a:endParaRPr lang="en-US" altLang="zh-TW" sz="2600" dirty="0" smtClean="0">
              <a:latin typeface="Times New Roman" panose="02020603050405020304" pitchFamily="18" charset="0"/>
              <a:cs typeface="Times New Roman" panose="02020603050405020304" pitchFamily="18" charset="0"/>
            </a:endParaRPr>
          </a:p>
          <a:p>
            <a:pPr marL="0" indent="0">
              <a:buNone/>
            </a:pPr>
            <a:r>
              <a:rPr lang="en-US" altLang="zh-TW" sz="2600" dirty="0" smtClean="0">
                <a:latin typeface="Times New Roman" panose="02020603050405020304" pitchFamily="18" charset="0"/>
                <a:cs typeface="Times New Roman" panose="02020603050405020304" pitchFamily="18" charset="0"/>
              </a:rPr>
              <a:t>2</a:t>
            </a:r>
            <a:r>
              <a:rPr lang="en-US" altLang="zh-TW" sz="2600" dirty="0">
                <a:latin typeface="Times New Roman" panose="02020603050405020304" pitchFamily="18" charset="0"/>
                <a:cs typeface="Times New Roman" panose="02020603050405020304" pitchFamily="18" charset="0"/>
              </a:rPr>
              <a:t>. </a:t>
            </a:r>
            <a:r>
              <a:rPr lang="zh-TW" altLang="en-US" sz="2600" dirty="0">
                <a:latin typeface="Times New Roman" panose="02020603050405020304" pitchFamily="18" charset="0"/>
                <a:cs typeface="Times New Roman" panose="02020603050405020304" pitchFamily="18" charset="0"/>
              </a:rPr>
              <a:t>𝑙𝑒𝑡 𝑐</a:t>
            </a:r>
            <a:r>
              <a:rPr lang="en-US" altLang="zh-TW" sz="2600" dirty="0">
                <a:latin typeface="Times New Roman" panose="02020603050405020304" pitchFamily="18" charset="0"/>
                <a:cs typeface="Times New Roman" panose="02020603050405020304" pitchFamily="18" charset="0"/>
              </a:rPr>
              <a:t>[1 … </a:t>
            </a:r>
            <a:r>
              <a:rPr lang="zh-TW" altLang="en-US" sz="2600" dirty="0">
                <a:latin typeface="Times New Roman" panose="02020603050405020304" pitchFamily="18" charset="0"/>
                <a:cs typeface="Times New Roman" panose="02020603050405020304" pitchFamily="18" charset="0"/>
              </a:rPr>
              <a:t>𝑚</a:t>
            </a:r>
            <a:r>
              <a:rPr lang="en-US" altLang="zh-TW" sz="2600" dirty="0">
                <a:latin typeface="Times New Roman" panose="02020603050405020304" pitchFamily="18" charset="0"/>
                <a:cs typeface="Times New Roman" panose="02020603050405020304" pitchFamily="18" charset="0"/>
              </a:rPr>
              <a:t>] </a:t>
            </a:r>
            <a:r>
              <a:rPr lang="zh-TW" altLang="en-US" sz="2600" dirty="0">
                <a:latin typeface="Times New Roman" panose="02020603050405020304" pitchFamily="18" charset="0"/>
                <a:cs typeface="Times New Roman" panose="02020603050405020304" pitchFamily="18" charset="0"/>
              </a:rPr>
              <a:t>𝑏𝑒 𝑎 𝑛𝑒𝑤 𝑎𝑟𝑟𝑎𝑦 </a:t>
            </a:r>
            <a:endParaRPr lang="en-US" altLang="zh-TW" sz="2600" dirty="0" smtClean="0">
              <a:latin typeface="Times New Roman" panose="02020603050405020304" pitchFamily="18" charset="0"/>
              <a:cs typeface="Times New Roman" panose="02020603050405020304" pitchFamily="18" charset="0"/>
            </a:endParaRPr>
          </a:p>
          <a:p>
            <a:pPr marL="0" indent="0">
              <a:buNone/>
            </a:pPr>
            <a:r>
              <a:rPr lang="en-US" altLang="zh-TW" sz="2600" dirty="0" smtClean="0">
                <a:latin typeface="Times New Roman" panose="02020603050405020304" pitchFamily="18" charset="0"/>
                <a:cs typeface="Times New Roman" panose="02020603050405020304" pitchFamily="18" charset="0"/>
              </a:rPr>
              <a:t>3</a:t>
            </a:r>
            <a:r>
              <a:rPr lang="en-US" altLang="zh-TW" sz="2600" dirty="0">
                <a:latin typeface="Times New Roman" panose="02020603050405020304" pitchFamily="18" charset="0"/>
                <a:cs typeface="Times New Roman" panose="02020603050405020304" pitchFamily="18" charset="0"/>
              </a:rPr>
              <a:t>. </a:t>
            </a:r>
            <a:r>
              <a:rPr lang="zh-TW" altLang="en-US" sz="2600" dirty="0">
                <a:latin typeface="Times New Roman" panose="02020603050405020304" pitchFamily="18" charset="0"/>
                <a:cs typeface="Times New Roman" panose="02020603050405020304" pitchFamily="18" charset="0"/>
              </a:rPr>
              <a:t>𝑗 </a:t>
            </a:r>
            <a:r>
              <a:rPr lang="en-US" altLang="zh-TW" sz="2600" dirty="0">
                <a:latin typeface="Times New Roman" panose="02020603050405020304" pitchFamily="18" charset="0"/>
                <a:cs typeface="Times New Roman" panose="02020603050405020304" pitchFamily="18" charset="0"/>
              </a:rPr>
              <a:t>= 0, </a:t>
            </a:r>
            <a:r>
              <a:rPr lang="zh-TW" altLang="en-US" sz="2600" dirty="0">
                <a:latin typeface="Times New Roman" panose="02020603050405020304" pitchFamily="18" charset="0"/>
                <a:cs typeface="Times New Roman" panose="02020603050405020304" pitchFamily="18" charset="0"/>
              </a:rPr>
              <a:t>𝑖 </a:t>
            </a:r>
            <a:r>
              <a:rPr lang="en-US" altLang="zh-TW" sz="2600" dirty="0">
                <a:latin typeface="Times New Roman" panose="02020603050405020304" pitchFamily="18" charset="0"/>
                <a:cs typeface="Times New Roman" panose="02020603050405020304" pitchFamily="18" charset="0"/>
              </a:rPr>
              <a:t>= </a:t>
            </a:r>
            <a:r>
              <a:rPr lang="zh-TW" altLang="en-US" sz="2600" dirty="0">
                <a:latin typeface="Times New Roman" panose="02020603050405020304" pitchFamily="18" charset="0"/>
                <a:cs typeface="Times New Roman" panose="02020603050405020304" pitchFamily="18" charset="0"/>
              </a:rPr>
              <a:t>𝑗 </a:t>
            </a:r>
            <a:r>
              <a:rPr lang="en-US" altLang="zh-TW" sz="2600" dirty="0">
                <a:latin typeface="Times New Roman" panose="02020603050405020304" pitchFamily="18" charset="0"/>
                <a:cs typeface="Times New Roman" panose="02020603050405020304" pitchFamily="18" charset="0"/>
              </a:rPr>
              <a:t>+ 1, </a:t>
            </a:r>
            <a:r>
              <a:rPr lang="zh-TW" altLang="en-US" sz="2600" dirty="0">
                <a:latin typeface="Times New Roman" panose="02020603050405020304" pitchFamily="18" charset="0"/>
                <a:cs typeface="Times New Roman" panose="02020603050405020304" pitchFamily="18" charset="0"/>
              </a:rPr>
              <a:t>𝑐</a:t>
            </a:r>
            <a:r>
              <a:rPr lang="en-US" altLang="zh-TW" sz="2600" dirty="0">
                <a:latin typeface="Times New Roman" panose="02020603050405020304" pitchFamily="18" charset="0"/>
                <a:cs typeface="Times New Roman" panose="02020603050405020304" pitchFamily="18" charset="0"/>
              </a:rPr>
              <a:t>[0] = 0 </a:t>
            </a:r>
            <a:endParaRPr lang="en-US" altLang="zh-TW" sz="2600" dirty="0" smtClean="0">
              <a:latin typeface="Times New Roman" panose="02020603050405020304" pitchFamily="18" charset="0"/>
              <a:cs typeface="Times New Roman" panose="02020603050405020304" pitchFamily="18" charset="0"/>
            </a:endParaRPr>
          </a:p>
          <a:p>
            <a:pPr marL="0" indent="0">
              <a:buNone/>
            </a:pPr>
            <a:r>
              <a:rPr lang="en-US" altLang="zh-TW" sz="2600" dirty="0" smtClean="0">
                <a:latin typeface="Times New Roman" panose="02020603050405020304" pitchFamily="18" charset="0"/>
                <a:cs typeface="Times New Roman" panose="02020603050405020304" pitchFamily="18" charset="0"/>
              </a:rPr>
              <a:t>4</a:t>
            </a:r>
            <a:r>
              <a:rPr lang="en-US" altLang="zh-TW" sz="2600" dirty="0">
                <a:latin typeface="Times New Roman" panose="02020603050405020304" pitchFamily="18" charset="0"/>
                <a:cs typeface="Times New Roman" panose="02020603050405020304" pitchFamily="18" charset="0"/>
              </a:rPr>
              <a:t>. </a:t>
            </a:r>
            <a:r>
              <a:rPr lang="zh-TW" altLang="en-US" sz="2600" dirty="0" smtClean="0">
                <a:latin typeface="Times New Roman" panose="02020603050405020304" pitchFamily="18" charset="0"/>
                <a:cs typeface="Times New Roman" panose="02020603050405020304" pitchFamily="18" charset="0"/>
              </a:rPr>
              <a:t>𝑤</a:t>
            </a:r>
            <a:r>
              <a:rPr lang="en-US" altLang="zh-TW" sz="2600" dirty="0" smtClean="0">
                <a:latin typeface="Times New Roman" panose="02020603050405020304" pitchFamily="18" charset="0"/>
                <a:cs typeface="Times New Roman" panose="02020603050405020304" pitchFamily="18" charset="0"/>
              </a:rPr>
              <a:t>h</a:t>
            </a:r>
            <a:r>
              <a:rPr lang="zh-TW" altLang="en-US" sz="2600" dirty="0" smtClean="0">
                <a:latin typeface="Times New Roman" panose="02020603050405020304" pitchFamily="18" charset="0"/>
                <a:cs typeface="Times New Roman" panose="02020603050405020304" pitchFamily="18" charset="0"/>
              </a:rPr>
              <a:t>𝑖</a:t>
            </a:r>
            <a:r>
              <a:rPr lang="zh-TW" altLang="en-US" sz="2600" dirty="0">
                <a:latin typeface="Times New Roman" panose="02020603050405020304" pitchFamily="18" charset="0"/>
                <a:cs typeface="Times New Roman" panose="02020603050405020304" pitchFamily="18" charset="0"/>
              </a:rPr>
              <a:t>𝑙𝑒</a:t>
            </a:r>
            <a:r>
              <a:rPr lang="en-US" altLang="zh-TW" sz="2600" dirty="0">
                <a:latin typeface="Times New Roman" panose="02020603050405020304" pitchFamily="18" charset="0"/>
                <a:cs typeface="Times New Roman" panose="02020603050405020304" pitchFamily="18" charset="0"/>
              </a:rPr>
              <a:t>(</a:t>
            </a:r>
            <a:r>
              <a:rPr lang="zh-TW" altLang="en-US" sz="2600" dirty="0">
                <a:latin typeface="Times New Roman" panose="02020603050405020304" pitchFamily="18" charset="0"/>
                <a:cs typeface="Times New Roman" panose="02020603050405020304" pitchFamily="18" charset="0"/>
              </a:rPr>
              <a:t>𝑖 </a:t>
            </a:r>
            <a:r>
              <a:rPr lang="en-US" altLang="zh-TW" sz="2600" dirty="0">
                <a:latin typeface="Times New Roman" panose="02020603050405020304" pitchFamily="18" charset="0"/>
                <a:cs typeface="Times New Roman" panose="02020603050405020304" pitchFamily="18" charset="0"/>
              </a:rPr>
              <a:t>&lt; </a:t>
            </a:r>
            <a:r>
              <a:rPr lang="zh-TW" altLang="en-US" sz="2600" dirty="0">
                <a:latin typeface="Times New Roman" panose="02020603050405020304" pitchFamily="18" charset="0"/>
                <a:cs typeface="Times New Roman" panose="02020603050405020304" pitchFamily="18" charset="0"/>
              </a:rPr>
              <a:t>𝑚 − </a:t>
            </a:r>
            <a:r>
              <a:rPr lang="en-US" altLang="zh-TW" sz="2600" dirty="0">
                <a:latin typeface="Times New Roman" panose="02020603050405020304" pitchFamily="18" charset="0"/>
                <a:cs typeface="Times New Roman" panose="02020603050405020304" pitchFamily="18" charset="0"/>
              </a:rPr>
              <a:t>1</a:t>
            </a:r>
            <a:r>
              <a:rPr lang="en-US" altLang="zh-TW" sz="2600" dirty="0" smtClean="0">
                <a:latin typeface="Times New Roman" panose="02020603050405020304" pitchFamily="18" charset="0"/>
                <a:cs typeface="Times New Roman" panose="02020603050405020304" pitchFamily="18" charset="0"/>
              </a:rPr>
              <a:t>)</a:t>
            </a:r>
          </a:p>
          <a:p>
            <a:pPr marL="0" indent="0">
              <a:buNone/>
            </a:pPr>
            <a:r>
              <a:rPr lang="en-US" altLang="zh-TW" sz="2600" dirty="0">
                <a:latin typeface="Times New Roman" panose="02020603050405020304" pitchFamily="18" charset="0"/>
                <a:cs typeface="Times New Roman" panose="02020603050405020304" pitchFamily="18" charset="0"/>
              </a:rPr>
              <a:t> </a:t>
            </a:r>
            <a:r>
              <a:rPr lang="en-US" altLang="zh-TW" sz="2600" dirty="0" smtClean="0">
                <a:latin typeface="Times New Roman" panose="02020603050405020304" pitchFamily="18" charset="0"/>
                <a:cs typeface="Times New Roman" panose="02020603050405020304" pitchFamily="18" charset="0"/>
              </a:rPr>
              <a:t>   {</a:t>
            </a:r>
          </a:p>
          <a:p>
            <a:pPr marL="0" indent="0">
              <a:buNone/>
            </a:pPr>
            <a:r>
              <a:rPr lang="en-US" altLang="zh-TW" sz="2600" dirty="0">
                <a:latin typeface="Times New Roman" panose="02020603050405020304" pitchFamily="18" charset="0"/>
                <a:cs typeface="Times New Roman" panose="02020603050405020304" pitchFamily="18" charset="0"/>
              </a:rPr>
              <a:t> </a:t>
            </a:r>
            <a:r>
              <a:rPr lang="en-US" altLang="zh-TW" sz="2600" dirty="0" smtClean="0">
                <a:latin typeface="Times New Roman" panose="02020603050405020304" pitchFamily="18" charset="0"/>
                <a:cs typeface="Times New Roman" panose="02020603050405020304" pitchFamily="18" charset="0"/>
              </a:rPr>
              <a:t>      while(p[</a:t>
            </a:r>
            <a:r>
              <a:rPr lang="en-US" altLang="zh-TW" sz="2600" dirty="0" err="1" smtClean="0">
                <a:latin typeface="Times New Roman" panose="02020603050405020304" pitchFamily="18" charset="0"/>
                <a:cs typeface="Times New Roman" panose="02020603050405020304" pitchFamily="18" charset="0"/>
              </a:rPr>
              <a:t>i</a:t>
            </a:r>
            <a:r>
              <a:rPr lang="en-US" altLang="zh-TW" sz="2600" dirty="0" smtClean="0">
                <a:latin typeface="Times New Roman" panose="02020603050405020304" pitchFamily="18" charset="0"/>
                <a:cs typeface="Times New Roman" panose="02020603050405020304" pitchFamily="18" charset="0"/>
              </a:rPr>
              <a:t>]!=p[j])</a:t>
            </a:r>
          </a:p>
          <a:p>
            <a:pPr marL="0" indent="0">
              <a:buNone/>
            </a:pPr>
            <a:r>
              <a:rPr lang="en-US" altLang="zh-TW" sz="2600" dirty="0">
                <a:latin typeface="Times New Roman" panose="02020603050405020304" pitchFamily="18" charset="0"/>
                <a:cs typeface="Times New Roman" panose="02020603050405020304" pitchFamily="18" charset="0"/>
              </a:rPr>
              <a:t> </a:t>
            </a:r>
            <a:r>
              <a:rPr lang="en-US" altLang="zh-TW" sz="2600" dirty="0" smtClean="0">
                <a:latin typeface="Times New Roman" panose="02020603050405020304" pitchFamily="18" charset="0"/>
                <a:cs typeface="Times New Roman" panose="02020603050405020304" pitchFamily="18" charset="0"/>
              </a:rPr>
              <a:t>      { c[</a:t>
            </a:r>
            <a:r>
              <a:rPr lang="en-US" altLang="zh-TW" sz="2600" dirty="0" err="1" smtClean="0">
                <a:latin typeface="Times New Roman" panose="02020603050405020304" pitchFamily="18" charset="0"/>
                <a:cs typeface="Times New Roman" panose="02020603050405020304" pitchFamily="18" charset="0"/>
              </a:rPr>
              <a:t>i</a:t>
            </a:r>
            <a:r>
              <a:rPr lang="en-US" altLang="zh-TW" sz="2600" dirty="0" smtClean="0">
                <a:latin typeface="Times New Roman" panose="02020603050405020304" pitchFamily="18" charset="0"/>
                <a:cs typeface="Times New Roman" panose="02020603050405020304" pitchFamily="18" charset="0"/>
              </a:rPr>
              <a:t>] = 0; </a:t>
            </a:r>
            <a:r>
              <a:rPr lang="en-US" altLang="zh-TW" sz="2600" dirty="0" err="1" smtClean="0">
                <a:latin typeface="Times New Roman" panose="02020603050405020304" pitchFamily="18" charset="0"/>
                <a:cs typeface="Times New Roman" panose="02020603050405020304" pitchFamily="18" charset="0"/>
              </a:rPr>
              <a:t>i</a:t>
            </a:r>
            <a:r>
              <a:rPr lang="en-US" altLang="zh-TW" sz="2600" dirty="0" smtClean="0">
                <a:latin typeface="Times New Roman" panose="02020603050405020304" pitchFamily="18" charset="0"/>
                <a:cs typeface="Times New Roman" panose="02020603050405020304" pitchFamily="18" charset="0"/>
              </a:rPr>
              <a:t>++; }</a:t>
            </a:r>
          </a:p>
          <a:p>
            <a:pPr marL="0" indent="0">
              <a:buNone/>
            </a:pPr>
            <a:r>
              <a:rPr lang="en-US" altLang="zh-TW" sz="2600" dirty="0">
                <a:latin typeface="Times New Roman" panose="02020603050405020304" pitchFamily="18" charset="0"/>
                <a:cs typeface="Times New Roman" panose="02020603050405020304" pitchFamily="18" charset="0"/>
              </a:rPr>
              <a:t> </a:t>
            </a:r>
            <a:r>
              <a:rPr lang="en-US" altLang="zh-TW" sz="2600" dirty="0" smtClean="0">
                <a:latin typeface="Times New Roman" panose="02020603050405020304" pitchFamily="18" charset="0"/>
                <a:cs typeface="Times New Roman" panose="02020603050405020304" pitchFamily="18" charset="0"/>
              </a:rPr>
              <a:t>      if(p[</a:t>
            </a:r>
            <a:r>
              <a:rPr lang="en-US" altLang="zh-TW" sz="2600" dirty="0" err="1" smtClean="0">
                <a:latin typeface="Times New Roman" panose="02020603050405020304" pitchFamily="18" charset="0"/>
                <a:cs typeface="Times New Roman" panose="02020603050405020304" pitchFamily="18" charset="0"/>
              </a:rPr>
              <a:t>i</a:t>
            </a:r>
            <a:r>
              <a:rPr lang="en-US" altLang="zh-TW" sz="2600" dirty="0" smtClean="0">
                <a:latin typeface="Times New Roman" panose="02020603050405020304" pitchFamily="18" charset="0"/>
                <a:cs typeface="Times New Roman" panose="02020603050405020304" pitchFamily="18" charset="0"/>
              </a:rPr>
              <a:t>] == p[j])</a:t>
            </a:r>
          </a:p>
          <a:p>
            <a:pPr marL="0" indent="0">
              <a:buNone/>
            </a:pPr>
            <a:r>
              <a:rPr lang="en-US" altLang="zh-TW" sz="2600" dirty="0">
                <a:latin typeface="Times New Roman" panose="02020603050405020304" pitchFamily="18" charset="0"/>
                <a:cs typeface="Times New Roman" panose="02020603050405020304" pitchFamily="18" charset="0"/>
              </a:rPr>
              <a:t> </a:t>
            </a:r>
            <a:r>
              <a:rPr lang="en-US" altLang="zh-TW" sz="2600" dirty="0" smtClean="0">
                <a:latin typeface="Times New Roman" panose="02020603050405020304" pitchFamily="18" charset="0"/>
                <a:cs typeface="Times New Roman" panose="02020603050405020304" pitchFamily="18" charset="0"/>
              </a:rPr>
              <a:t>      {c[</a:t>
            </a:r>
            <a:r>
              <a:rPr lang="en-US" altLang="zh-TW" sz="2600" dirty="0" err="1" smtClean="0">
                <a:latin typeface="Times New Roman" panose="02020603050405020304" pitchFamily="18" charset="0"/>
                <a:cs typeface="Times New Roman" panose="02020603050405020304" pitchFamily="18" charset="0"/>
              </a:rPr>
              <a:t>i</a:t>
            </a:r>
            <a:r>
              <a:rPr lang="en-US" altLang="zh-TW" sz="2600" dirty="0" smtClean="0">
                <a:latin typeface="Times New Roman" panose="02020603050405020304" pitchFamily="18" charset="0"/>
                <a:cs typeface="Times New Roman" panose="02020603050405020304" pitchFamily="18" charset="0"/>
              </a:rPr>
              <a:t>] = j+1; </a:t>
            </a:r>
            <a:r>
              <a:rPr lang="en-US" altLang="zh-TW" sz="2600" dirty="0" err="1" smtClean="0">
                <a:latin typeface="Times New Roman" panose="02020603050405020304" pitchFamily="18" charset="0"/>
                <a:cs typeface="Times New Roman" panose="02020603050405020304" pitchFamily="18" charset="0"/>
              </a:rPr>
              <a:t>i</a:t>
            </a:r>
            <a:r>
              <a:rPr lang="en-US" altLang="zh-TW" sz="2600" dirty="0" smtClean="0">
                <a:latin typeface="Times New Roman" panose="02020603050405020304" pitchFamily="18" charset="0"/>
                <a:cs typeface="Times New Roman" panose="02020603050405020304" pitchFamily="18" charset="0"/>
              </a:rPr>
              <a:t>++; </a:t>
            </a:r>
            <a:r>
              <a:rPr lang="en-US" altLang="zh-TW" sz="2600" dirty="0" err="1" smtClean="0">
                <a:latin typeface="Times New Roman" panose="02020603050405020304" pitchFamily="18" charset="0"/>
                <a:cs typeface="Times New Roman" panose="02020603050405020304" pitchFamily="18" charset="0"/>
              </a:rPr>
              <a:t>j++</a:t>
            </a:r>
            <a:r>
              <a:rPr lang="en-US" altLang="zh-TW" sz="2600" dirty="0" smtClean="0">
                <a:latin typeface="Times New Roman" panose="02020603050405020304" pitchFamily="18" charset="0"/>
                <a:cs typeface="Times New Roman" panose="02020603050405020304" pitchFamily="18" charset="0"/>
              </a:rPr>
              <a:t>;}</a:t>
            </a:r>
          </a:p>
          <a:p>
            <a:pPr marL="0" indent="0">
              <a:buNone/>
            </a:pPr>
            <a:r>
              <a:rPr lang="en-US" altLang="zh-TW" sz="2600" dirty="0">
                <a:latin typeface="Times New Roman" panose="02020603050405020304" pitchFamily="18" charset="0"/>
                <a:cs typeface="Times New Roman" panose="02020603050405020304" pitchFamily="18" charset="0"/>
              </a:rPr>
              <a:t> </a:t>
            </a:r>
            <a:r>
              <a:rPr lang="en-US" altLang="zh-TW" sz="2600" dirty="0" smtClean="0">
                <a:latin typeface="Times New Roman" panose="02020603050405020304" pitchFamily="18" charset="0"/>
                <a:cs typeface="Times New Roman" panose="02020603050405020304" pitchFamily="18" charset="0"/>
              </a:rPr>
              <a:t>    }          </a:t>
            </a:r>
          </a:p>
          <a:p>
            <a:pPr marL="0" indent="0">
              <a:buNone/>
            </a:pPr>
            <a:r>
              <a:rPr lang="en-US" altLang="zh-TW" sz="2600" dirty="0">
                <a:latin typeface="Times New Roman" panose="02020603050405020304" pitchFamily="18" charset="0"/>
                <a:cs typeface="Times New Roman" panose="02020603050405020304" pitchFamily="18" charset="0"/>
              </a:rPr>
              <a:t> </a:t>
            </a:r>
            <a:r>
              <a:rPr lang="en-US" altLang="zh-TW" sz="2600" dirty="0" smtClean="0">
                <a:latin typeface="Times New Roman" panose="02020603050405020304" pitchFamily="18" charset="0"/>
                <a:cs typeface="Times New Roman" panose="02020603050405020304" pitchFamily="18" charset="0"/>
              </a:rPr>
              <a:t>   </a:t>
            </a:r>
            <a:endParaRPr lang="zh-TW" altLang="en-US" sz="2600" dirty="0">
              <a:latin typeface="Times New Roman" panose="02020603050405020304" pitchFamily="18" charset="0"/>
              <a:cs typeface="Times New Roman" panose="02020603050405020304" pitchFamily="18" charset="0"/>
            </a:endParaRPr>
          </a:p>
        </p:txBody>
      </p:sp>
      <p:sp>
        <p:nvSpPr>
          <p:cNvPr id="4" name="內容版面配置區 3"/>
          <p:cNvSpPr>
            <a:spLocks noGrp="1"/>
          </p:cNvSpPr>
          <p:nvPr>
            <p:ph sz="half" idx="2"/>
          </p:nvPr>
        </p:nvSpPr>
        <p:spPr>
          <a:xfrm>
            <a:off x="6172200" y="850790"/>
            <a:ext cx="5181600" cy="5931673"/>
          </a:xfrm>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5.while(</a:t>
            </a:r>
            <a:r>
              <a:rPr lang="en-US" altLang="zh-TW" dirty="0" err="1" smtClean="0">
                <a:latin typeface="Times New Roman" panose="02020603050405020304" pitchFamily="18" charset="0"/>
                <a:cs typeface="Times New Roman" panose="02020603050405020304" pitchFamily="18" charset="0"/>
              </a:rPr>
              <a:t>i</a:t>
            </a:r>
            <a:r>
              <a:rPr lang="en-US" altLang="zh-TW" dirty="0" smtClean="0">
                <a:latin typeface="Times New Roman" panose="02020603050405020304" pitchFamily="18" charset="0"/>
                <a:cs typeface="Times New Roman" panose="02020603050405020304" pitchFamily="18" charset="0"/>
              </a:rPr>
              <a:t> == m-1)</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   {</a:t>
            </a:r>
          </a:p>
          <a:p>
            <a:pPr marL="0" indent="0">
              <a:buNone/>
            </a:pP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int</a:t>
            </a:r>
            <a:r>
              <a:rPr lang="en-US" altLang="zh-TW" dirty="0" smtClean="0">
                <a:latin typeface="Times New Roman" panose="02020603050405020304" pitchFamily="18" charset="0"/>
                <a:cs typeface="Times New Roman" panose="02020603050405020304" pitchFamily="18" charset="0"/>
              </a:rPr>
              <a:t> k;</a:t>
            </a:r>
          </a:p>
          <a:p>
            <a:pPr marL="0" indent="0">
              <a:buNone/>
            </a:pP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while(p[</a:t>
            </a:r>
            <a:r>
              <a:rPr lang="en-US" altLang="zh-TW" dirty="0" err="1" smtClean="0">
                <a:latin typeface="Times New Roman" panose="02020603050405020304" pitchFamily="18" charset="0"/>
                <a:cs typeface="Times New Roman" panose="02020603050405020304" pitchFamily="18" charset="0"/>
              </a:rPr>
              <a:t>i</a:t>
            </a:r>
            <a:r>
              <a:rPr lang="en-US" altLang="zh-TW" dirty="0" smtClean="0">
                <a:latin typeface="Times New Roman" panose="02020603050405020304" pitchFamily="18" charset="0"/>
                <a:cs typeface="Times New Roman" panose="02020603050405020304" pitchFamily="18" charset="0"/>
              </a:rPr>
              <a:t>] != p[j])</a:t>
            </a:r>
          </a:p>
          <a:p>
            <a:pPr marL="0" indent="0">
              <a:buNone/>
            </a:pP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{k = c[i-1]; j = c[k];}</a:t>
            </a:r>
          </a:p>
          <a:p>
            <a:pPr marL="0" indent="0">
              <a:buNone/>
            </a:pP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if(p[</a:t>
            </a:r>
            <a:r>
              <a:rPr lang="en-US" altLang="zh-TW" dirty="0" err="1" smtClean="0">
                <a:latin typeface="Times New Roman" panose="02020603050405020304" pitchFamily="18" charset="0"/>
                <a:cs typeface="Times New Roman" panose="02020603050405020304" pitchFamily="18" charset="0"/>
              </a:rPr>
              <a:t>i</a:t>
            </a:r>
            <a:r>
              <a:rPr lang="en-US" altLang="zh-TW" dirty="0" smtClean="0">
                <a:latin typeface="Times New Roman" panose="02020603050405020304" pitchFamily="18" charset="0"/>
                <a:cs typeface="Times New Roman" panose="02020603050405020304" pitchFamily="18" charset="0"/>
              </a:rPr>
              <a:t>] == p[j])</a:t>
            </a:r>
          </a:p>
          <a:p>
            <a:pPr marL="0" indent="0">
              <a:buNone/>
            </a:pP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{j = j + 1; c[</a:t>
            </a:r>
            <a:r>
              <a:rPr lang="en-US" altLang="zh-TW" dirty="0" err="1" smtClean="0">
                <a:latin typeface="Times New Roman" panose="02020603050405020304" pitchFamily="18" charset="0"/>
                <a:cs typeface="Times New Roman" panose="02020603050405020304" pitchFamily="18" charset="0"/>
              </a:rPr>
              <a:t>i</a:t>
            </a:r>
            <a:r>
              <a:rPr lang="en-US" altLang="zh-TW" dirty="0" smtClean="0">
                <a:latin typeface="Times New Roman" panose="02020603050405020304" pitchFamily="18" charset="0"/>
                <a:cs typeface="Times New Roman" panose="02020603050405020304" pitchFamily="18" charset="0"/>
              </a:rPr>
              <a:t>] = j;}</a:t>
            </a:r>
          </a:p>
          <a:p>
            <a:pPr marL="0" indent="0">
              <a:buNone/>
            </a:pP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a:t>
            </a:r>
          </a:p>
          <a:p>
            <a:pPr marL="0" indent="0">
              <a:buNone/>
            </a:pP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return c;</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083A2B26-6EC0-4D87-9C67-EBCC853E3F19}" type="slidenum">
              <a:rPr lang="zh-TW" altLang="en-US" smtClean="0"/>
              <a:t>10</a:t>
            </a:fld>
            <a:endParaRPr lang="zh-TW" altLang="en-US"/>
          </a:p>
        </p:txBody>
      </p:sp>
    </p:spTree>
    <p:extLst>
      <p:ext uri="{BB962C8B-B14F-4D97-AF65-F5344CB8AC3E}">
        <p14:creationId xmlns:p14="http://schemas.microsoft.com/office/powerpoint/2010/main" val="41958400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Modified KMP</a:t>
            </a:r>
            <a:endParaRPr lang="zh-TW" altLang="en-US" dirty="0">
              <a:latin typeface="Times New Roman" panose="02020603050405020304" pitchFamily="18" charset="0"/>
              <a:cs typeface="Times New Roman" panose="02020603050405020304" pitchFamily="18" charset="0"/>
            </a:endParaRPr>
          </a:p>
        </p:txBody>
      </p:sp>
      <p:sp>
        <p:nvSpPr>
          <p:cNvPr id="7" name="內容版面配置區 6"/>
          <p:cNvSpPr>
            <a:spLocks noGrp="1"/>
          </p:cNvSpPr>
          <p:nvPr>
            <p:ph sz="half"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Pattern: </a:t>
            </a:r>
            <a:r>
              <a:rPr lang="en-US" altLang="zh-TW" dirty="0" err="1" smtClean="0">
                <a:latin typeface="Times New Roman" panose="02020603050405020304" pitchFamily="18" charset="0"/>
                <a:cs typeface="Times New Roman" panose="02020603050405020304" pitchFamily="18" charset="0"/>
              </a:rPr>
              <a:t>abcdabca</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m</a:t>
            </a:r>
            <a:r>
              <a:rPr lang="en-US" altLang="zh-TW" dirty="0" smtClean="0">
                <a:latin typeface="Times New Roman" panose="02020603050405020304" pitchFamily="18" charset="0"/>
                <a:cs typeface="Times New Roman" panose="02020603050405020304" pitchFamily="18" charset="0"/>
              </a:rPr>
              <a:t> = 8</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P    =  a </a:t>
            </a:r>
            <a:r>
              <a:rPr lang="en-US" altLang="zh-TW" dirty="0" smtClean="0">
                <a:latin typeface="Times New Roman" panose="02020603050405020304" pitchFamily="18" charset="0"/>
                <a:cs typeface="Times New Roman" panose="02020603050405020304" pitchFamily="18" charset="0"/>
              </a:rPr>
              <a:t>b c d a b c </a:t>
            </a:r>
            <a:r>
              <a:rPr lang="en-US" altLang="zh-TW" dirty="0" smtClean="0">
                <a:latin typeface="Times New Roman" panose="02020603050405020304" pitchFamily="18" charset="0"/>
                <a:cs typeface="Times New Roman" panose="02020603050405020304" pitchFamily="18" charset="0"/>
              </a:rPr>
              <a:t>a</a:t>
            </a:r>
          </a:p>
          <a:p>
            <a:pPr marL="0" indent="0">
              <a:buNone/>
            </a:pPr>
            <a:r>
              <a:rPr lang="en-US" altLang="zh-TW" dirty="0" smtClean="0">
                <a:latin typeface="Times New Roman" panose="02020603050405020304" pitchFamily="18" charset="0"/>
                <a:cs typeface="Times New Roman" panose="02020603050405020304" pitchFamily="18" charset="0"/>
              </a:rPr>
              <a:t>C[] = </a:t>
            </a:r>
            <a:endParaRPr lang="en-US" altLang="zh-TW" dirty="0">
              <a:latin typeface="Times New Roman" panose="02020603050405020304" pitchFamily="18" charset="0"/>
              <a:cs typeface="Times New Roman" panose="02020603050405020304" pitchFamily="18" charset="0"/>
            </a:endParaRPr>
          </a:p>
          <a:p>
            <a:pPr marL="0" indent="0">
              <a:buNone/>
            </a:pPr>
            <a:endParaRPr lang="zh-TW" altLang="en-US" dirty="0">
              <a:latin typeface="Times New Roman" panose="02020603050405020304" pitchFamily="18" charset="0"/>
              <a:cs typeface="Times New Roman" panose="02020603050405020304" pitchFamily="18" charset="0"/>
            </a:endParaRPr>
          </a:p>
        </p:txBody>
      </p:sp>
      <p:sp>
        <p:nvSpPr>
          <p:cNvPr id="10" name="內容版面配置區 9"/>
          <p:cNvSpPr>
            <a:spLocks noGrp="1"/>
          </p:cNvSpPr>
          <p:nvPr>
            <p:ph sz="half" idx="2"/>
          </p:nvPr>
        </p:nvSpPr>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Pattern: </a:t>
            </a:r>
            <a:r>
              <a:rPr lang="en-US" altLang="zh-TW" dirty="0" err="1" smtClean="0">
                <a:latin typeface="Times New Roman" panose="02020603050405020304" pitchFamily="18" charset="0"/>
                <a:cs typeface="Times New Roman" panose="02020603050405020304" pitchFamily="18" charset="0"/>
              </a:rPr>
              <a:t>abcabcacab</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m</a:t>
            </a:r>
            <a:r>
              <a:rPr lang="en-US" altLang="zh-TW"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10</a:t>
            </a:r>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P     =  a </a:t>
            </a:r>
            <a:r>
              <a:rPr lang="en-US" altLang="zh-TW" dirty="0" smtClean="0">
                <a:latin typeface="Times New Roman" panose="02020603050405020304" pitchFamily="18" charset="0"/>
                <a:cs typeface="Times New Roman" panose="02020603050405020304" pitchFamily="18" charset="0"/>
              </a:rPr>
              <a:t>b c a b c a </a:t>
            </a:r>
            <a:r>
              <a:rPr lang="en-US" altLang="zh-TW" dirty="0" smtClean="0">
                <a:latin typeface="Times New Roman" panose="02020603050405020304" pitchFamily="18" charset="0"/>
                <a:cs typeface="Times New Roman" panose="02020603050405020304" pitchFamily="18" charset="0"/>
              </a:rPr>
              <a:t>c a b</a:t>
            </a:r>
            <a:r>
              <a:rPr lang="en-US" altLang="zh-TW" dirty="0" smtClean="0">
                <a:latin typeface="Times New Roman" panose="02020603050405020304" pitchFamily="18" charset="0"/>
                <a:cs typeface="Times New Roman" panose="02020603050405020304" pitchFamily="18" charset="0"/>
              </a:rPr>
              <a:t> </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C[]  = </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083A2B26-6EC0-4D87-9C67-EBCC853E3F19}" type="slidenum">
              <a:rPr lang="zh-TW" altLang="en-US" smtClean="0"/>
              <a:t>11</a:t>
            </a:fld>
            <a:endParaRPr lang="zh-TW" altLang="en-US" dirty="0"/>
          </a:p>
        </p:txBody>
      </p:sp>
    </p:spTree>
    <p:extLst>
      <p:ext uri="{BB962C8B-B14F-4D97-AF65-F5344CB8AC3E}">
        <p14:creationId xmlns:p14="http://schemas.microsoft.com/office/powerpoint/2010/main" val="35859271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pros</a:t>
            </a:r>
            <a:endParaRPr lang="zh-TW" altLang="en-US" dirty="0">
              <a:latin typeface="Times New Roman" panose="02020603050405020304" pitchFamily="18" charset="0"/>
              <a:cs typeface="Times New Roman" panose="02020603050405020304" pitchFamily="18" charset="0"/>
            </a:endParaRPr>
          </a:p>
        </p:txBody>
      </p:sp>
      <p:sp>
        <p:nvSpPr>
          <p:cNvPr id="9" name="內容版面配置區 8"/>
          <p:cNvSpPr>
            <a:spLocks noGrp="1"/>
          </p:cNvSpPr>
          <p:nvPr>
            <p:ph idx="1"/>
          </p:nvPr>
        </p:nvSpPr>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  In </a:t>
            </a:r>
            <a:r>
              <a:rPr lang="en-US" altLang="zh-TW" dirty="0">
                <a:latin typeface="Times New Roman" panose="02020603050405020304" pitchFamily="18" charset="0"/>
                <a:cs typeface="Times New Roman" panose="02020603050405020304" pitchFamily="18" charset="0"/>
              </a:rPr>
              <a:t>the modified compute prefix function, we have used two while loops rather than using the nested if else that is decreasing the time complexity of the algorithm and making our algorithm more efficient.</a:t>
            </a:r>
            <a:endParaRPr lang="zh-TW" altLang="en-US" dirty="0">
              <a:latin typeface="Times New Roman" panose="02020603050405020304" pitchFamily="18" charset="0"/>
              <a:cs typeface="Times New Roman" panose="02020603050405020304" pitchFamily="18" charset="0"/>
            </a:endParaRPr>
          </a:p>
        </p:txBody>
      </p:sp>
      <p:sp>
        <p:nvSpPr>
          <p:cNvPr id="7" name="投影片編號版面配置區 6"/>
          <p:cNvSpPr>
            <a:spLocks noGrp="1"/>
          </p:cNvSpPr>
          <p:nvPr>
            <p:ph type="sldNum" sz="quarter" idx="12"/>
          </p:nvPr>
        </p:nvSpPr>
        <p:spPr/>
        <p:txBody>
          <a:bodyPr/>
          <a:lstStyle/>
          <a:p>
            <a:fld id="{083A2B26-6EC0-4D87-9C67-EBCC853E3F19}" type="slidenum">
              <a:rPr lang="zh-TW" altLang="en-US" smtClean="0"/>
              <a:t>12</a:t>
            </a:fld>
            <a:endParaRPr lang="zh-TW" altLang="en-US"/>
          </a:p>
        </p:txBody>
      </p:sp>
    </p:spTree>
    <p:extLst>
      <p:ext uri="{BB962C8B-B14F-4D97-AF65-F5344CB8AC3E}">
        <p14:creationId xmlns:p14="http://schemas.microsoft.com/office/powerpoint/2010/main" val="28501932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Thanks~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endParaRPr lang="zh-TW" altLang="en-US" dirty="0"/>
          </a:p>
        </p:txBody>
      </p:sp>
      <p:sp>
        <p:nvSpPr>
          <p:cNvPr id="4" name="投影片編號版面配置區 3"/>
          <p:cNvSpPr>
            <a:spLocks noGrp="1"/>
          </p:cNvSpPr>
          <p:nvPr>
            <p:ph type="sldNum" sz="quarter" idx="12"/>
          </p:nvPr>
        </p:nvSpPr>
        <p:spPr/>
        <p:txBody>
          <a:bodyPr/>
          <a:lstStyle/>
          <a:p>
            <a:fld id="{083A2B26-6EC0-4D87-9C67-EBCC853E3F19}" type="slidenum">
              <a:rPr lang="zh-TW" altLang="en-US" smtClean="0"/>
              <a:t>13</a:t>
            </a:fld>
            <a:endParaRPr lang="zh-TW" altLang="en-US"/>
          </a:p>
        </p:txBody>
      </p:sp>
    </p:spTree>
    <p:extLst>
      <p:ext uri="{BB962C8B-B14F-4D97-AF65-F5344CB8AC3E}">
        <p14:creationId xmlns:p14="http://schemas.microsoft.com/office/powerpoint/2010/main" val="6862683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499</TotalTime>
  <Words>735</Words>
  <Application>Microsoft Office PowerPoint</Application>
  <PresentationFormat>寬螢幕</PresentationFormat>
  <Paragraphs>120</Paragraphs>
  <Slides>13</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13</vt:i4>
      </vt:variant>
    </vt:vector>
  </HeadingPairs>
  <TitlesOfParts>
    <vt:vector size="20" baseType="lpstr">
      <vt:lpstr>新細明體</vt:lpstr>
      <vt:lpstr>標楷體</vt:lpstr>
      <vt:lpstr>Arial</vt:lpstr>
      <vt:lpstr>Calibri</vt:lpstr>
      <vt:lpstr>Calibri Light</vt:lpstr>
      <vt:lpstr>Times New Roman</vt:lpstr>
      <vt:lpstr>Office 佈景主題</vt:lpstr>
      <vt:lpstr>A Novel String Matching Algorithm and Comparison with KMP Algorithm</vt:lpstr>
      <vt:lpstr>Abstract</vt:lpstr>
      <vt:lpstr>Naive String Matching Algorithm</vt:lpstr>
      <vt:lpstr>Prefix and Suffix                           </vt:lpstr>
      <vt:lpstr>Longest Proper Prefix Which Is Also Suffix</vt:lpstr>
      <vt:lpstr>ComputeLPSarray</vt:lpstr>
      <vt:lpstr>KMP String Matching Algorithm</vt:lpstr>
      <vt:lpstr>How to Compute LPS Array</vt:lpstr>
      <vt:lpstr>NEW MODIFIED KMP ALGORITHM</vt:lpstr>
      <vt:lpstr>ComputeLPSarray(PAT,M,C)</vt:lpstr>
      <vt:lpstr>Modified KMP</vt:lpstr>
      <vt:lpstr>pros</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Novel String Matching Algorithm and Comparison with KMP Algorithm</dc:title>
  <dc:creator>沈之承</dc:creator>
  <cp:lastModifiedBy>沈之承</cp:lastModifiedBy>
  <cp:revision>22</cp:revision>
  <dcterms:created xsi:type="dcterms:W3CDTF">2022-09-28T16:07:01Z</dcterms:created>
  <dcterms:modified xsi:type="dcterms:W3CDTF">2022-10-04T11:49:52Z</dcterms:modified>
</cp:coreProperties>
</file>